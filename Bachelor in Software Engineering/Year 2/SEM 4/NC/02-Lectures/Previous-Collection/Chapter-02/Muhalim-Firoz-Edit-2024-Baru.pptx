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Lst>
  <p:sldSz cy="6858000" cx="12192000"/>
  <p:notesSz cx="6858000" cy="9144000"/>
  <p:embeddedFontLst>
    <p:embeddedFont>
      <p:font typeface="Arial Narrow"/>
      <p:regular r:id="rId145"/>
      <p:bold r:id="rId146"/>
      <p:italic r:id="rId147"/>
      <p:boldItalic r:id="rId148"/>
    </p:embeddedFont>
    <p:embeddedFont>
      <p:font typeface="Tahoma"/>
      <p:regular r:id="rId149"/>
      <p:bold r:id="rId150"/>
    </p:embeddedFont>
    <p:embeddedFont>
      <p:font typeface="Noto Sans Symbols"/>
      <p:regular r:id="rId151"/>
      <p:bold r:id="rId152"/>
    </p:embeddedFont>
    <p:embeddedFont>
      <p:font typeface="Gill Sans"/>
      <p:regular r:id="rId153"/>
      <p:bold r:id="rId1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104">
          <p15:clr>
            <a:srgbClr val="A4A3A4"/>
          </p15:clr>
        </p15:guide>
        <p15:guide id="2" pos="576">
          <p15:clr>
            <a:srgbClr val="A4A3A4"/>
          </p15:clr>
        </p15:guide>
      </p15:sldGuideLst>
    </p:ext>
    <p:ext uri="GoogleSlidesCustomDataVersion2">
      <go:slidesCustomData xmlns:go="http://customooxmlschemas.google.com/" r:id="rId155" roundtripDataSignature="AMtx7mh+JKwkKc+I/UkdwW7Eg5GSa8GF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104" orient="horz"/>
        <p:guide pos="57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font" Target="fonts/Tahoma-bold.fntdata"/><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font" Target="fonts/Tahoma-regular.fntdata"/><Relationship Id="rId4" Type="http://schemas.openxmlformats.org/officeDocument/2006/relationships/slideMaster" Target="slideMasters/slideMaster1.xml"/><Relationship Id="rId148" Type="http://schemas.openxmlformats.org/officeDocument/2006/relationships/font" Target="fonts/ArialNarrow-boldItalic.fntdata"/><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font" Target="fonts/ArialNarrow-italic.fntdata"/><Relationship Id="rId6" Type="http://schemas.openxmlformats.org/officeDocument/2006/relationships/slide" Target="slides/slide1.xml"/><Relationship Id="rId146" Type="http://schemas.openxmlformats.org/officeDocument/2006/relationships/font" Target="fonts/ArialNarrow-bold.fntdata"/><Relationship Id="rId7" Type="http://schemas.openxmlformats.org/officeDocument/2006/relationships/slide" Target="slides/slide2.xml"/><Relationship Id="rId145" Type="http://schemas.openxmlformats.org/officeDocument/2006/relationships/font" Target="fonts/ArialNarrow-regular.fntdata"/><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154" Type="http://schemas.openxmlformats.org/officeDocument/2006/relationships/font" Target="fonts/GillSans-bold.fntdata"/><Relationship Id="rId58" Type="http://schemas.openxmlformats.org/officeDocument/2006/relationships/slide" Target="slides/slide53.xml"/><Relationship Id="rId153" Type="http://schemas.openxmlformats.org/officeDocument/2006/relationships/font" Target="fonts/GillSans-regular.fntdata"/><Relationship Id="rId152" Type="http://schemas.openxmlformats.org/officeDocument/2006/relationships/font" Target="fonts/NotoSansSymbols-bold.fntdata"/><Relationship Id="rId151" Type="http://schemas.openxmlformats.org/officeDocument/2006/relationships/font" Target="fonts/NotoSansSymbols-regular.fntdata"/><Relationship Id="rId155" Type="http://customschemas.google.com/relationships/presentationmetadata" Target="meta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8.0  (April 2020)</a:t>
            </a:r>
            <a:endParaRPr/>
          </a:p>
          <a:p>
            <a:pPr indent="-171450" lvl="0" marL="171450" rtl="0" algn="l">
              <a:spcBef>
                <a:spcPts val="0"/>
              </a:spcBef>
              <a:spcAft>
                <a:spcPts val="0"/>
              </a:spcAft>
              <a:buClr>
                <a:schemeClr val="dk1"/>
              </a:buClr>
              <a:buSzPts val="1200"/>
              <a:buFont typeface="Arial"/>
              <a:buChar char="•"/>
            </a:pPr>
            <a:r>
              <a:rPr lang="en-US"/>
              <a:t>All slides reformatted for 16:9 aspect ratio</a:t>
            </a:r>
            <a:endParaRPr/>
          </a:p>
          <a:p>
            <a:pPr indent="-171450" lvl="0" marL="171450" rtl="0" algn="l">
              <a:spcBef>
                <a:spcPts val="0"/>
              </a:spcBef>
              <a:spcAft>
                <a:spcPts val="0"/>
              </a:spcAft>
              <a:buClr>
                <a:schemeClr val="dk1"/>
              </a:buClr>
              <a:buSzPts val="1200"/>
              <a:buFont typeface="Arial"/>
              <a:buChar char="•"/>
            </a:pPr>
            <a:r>
              <a:rPr lang="en-US"/>
              <a:t>All slides updated to 8</a:t>
            </a:r>
            <a:r>
              <a:rPr baseline="30000" lang="en-US"/>
              <a:t>th</a:t>
            </a:r>
            <a:r>
              <a:rPr lang="en-US"/>
              <a:t> edition material</a:t>
            </a:r>
            <a:endParaRPr/>
          </a:p>
          <a:p>
            <a:pPr indent="-171450" lvl="0" marL="171450" rtl="0" algn="l">
              <a:spcBef>
                <a:spcPts val="0"/>
              </a:spcBef>
              <a:spcAft>
                <a:spcPts val="0"/>
              </a:spcAft>
              <a:buClr>
                <a:schemeClr val="dk1"/>
              </a:buClr>
              <a:buSzPts val="1200"/>
              <a:buFont typeface="Arial"/>
              <a:buChar char="•"/>
            </a:pPr>
            <a:r>
              <a:rPr lang="en-US"/>
              <a:t>Use of Calibri font, rather that Gill Sans MT</a:t>
            </a:r>
            <a:endParaRPr/>
          </a:p>
          <a:p>
            <a:pPr indent="-171450" lvl="0" marL="171450" rtl="0" algn="l">
              <a:spcBef>
                <a:spcPts val="0"/>
              </a:spcBef>
              <a:spcAft>
                <a:spcPts val="0"/>
              </a:spcAft>
              <a:buClr>
                <a:schemeClr val="dk1"/>
              </a:buClr>
              <a:buSzPts val="1200"/>
              <a:buFont typeface="Arial"/>
              <a:buChar char="•"/>
            </a:pPr>
            <a:r>
              <a:rPr lang="en-US"/>
              <a:t>Add LOTS more animation throughout</a:t>
            </a:r>
            <a:endParaRPr/>
          </a:p>
        </p:txBody>
      </p:sp>
      <p:sp>
        <p:nvSpPr>
          <p:cNvPr id="50" name="Google Shape;5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3" name="Google Shape;61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In a </a:t>
            </a:r>
            <a:r>
              <a:rPr b="1" lang="en-US"/>
              <a:t>client-server architecture</a:t>
            </a:r>
            <a:r>
              <a:rPr lang="en-US"/>
              <a:t>, there is an always-on host, called the </a:t>
            </a:r>
            <a:r>
              <a:rPr i="1" lang="en-US"/>
              <a:t>server</a:t>
            </a:r>
            <a:r>
              <a:rPr lang="en-US"/>
              <a:t>, which services requests from many other hosts, called </a:t>
            </a:r>
            <a:r>
              <a:rPr i="1" lang="en-US"/>
              <a:t>clients</a:t>
            </a:r>
            <a:r>
              <a:rPr lang="en-US"/>
              <a:t>. A classic example is the Web application for which an always-on Web server services requests from browsers running on client hosts. When a Web server receives a request for an object from a client host, it responds by sending the requested object to the client host. Note that with the client-server architecture, clients do not directly communicate with each other; for example, in the Web application, two browsers do not directly communicate. Another characteristic of the client-server architecture is that the server has a fixed, well-known address, called an IP address (which we’ll discuss soon). Because the server has a fixed, well-known address, and because the server is always on, a client can always contact the server by sending a packet to the server’s IP address. Some of the better-known applications with a client-server architecture include the Web, FTP, Telnet, and e-mail </a:t>
            </a:r>
            <a:endParaRPr/>
          </a:p>
          <a:p>
            <a:pPr indent="0" lvl="0" marL="0" rtl="0" algn="l">
              <a:spcBef>
                <a:spcPts val="0"/>
              </a:spcBef>
              <a:spcAft>
                <a:spcPts val="0"/>
              </a:spcAft>
              <a:buNone/>
            </a:pPr>
            <a:r>
              <a:t/>
            </a:r>
            <a:endParaRPr/>
          </a:p>
        </p:txBody>
      </p:sp>
      <p:sp>
        <p:nvSpPr>
          <p:cNvPr id="624" name="Google Shape;62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0" name="Google Shape;111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a </a:t>
            </a:r>
            <a:r>
              <a:rPr b="1" lang="en-US"/>
              <a:t>client-server architecture</a:t>
            </a:r>
            <a:r>
              <a:rPr lang="en-US"/>
              <a:t>, there is an always-on host, called the </a:t>
            </a:r>
            <a:r>
              <a:rPr i="1" lang="en-US"/>
              <a:t>server</a:t>
            </a:r>
            <a:r>
              <a:rPr lang="en-US"/>
              <a:t>, which services requests from many other hosts, called </a:t>
            </a:r>
            <a:r>
              <a:rPr i="1" lang="en-US"/>
              <a:t>clients</a:t>
            </a:r>
            <a:r>
              <a:rPr lang="en-US"/>
              <a:t>. A classic example is the Web application for which an always-on Web server services requests from browsers running on client hosts. When a Web server receives a request for an object from a client host, it responds by sending the requested object to the client host. Note that with the client-server architecture, clients do not directly communicate with each other; for example, in the Web application, two browsers do not directly communicate. Another characteristic of the client-server architecture is that the server has a fixed, well-known address, called an IP address (which we’ll discuss soon). Because the server has a fixed, well-known address, and because the server is always on, a client can always contact the server by sending a packet to the server’s IP address. Some of the better-known applications with a client-server architecture include the Web, FTP, Telnet, and e-mail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Often in a client-server application, a single-server host is incapable of keep- ing up with all the requests from clients. For example, a popular social-networking site can quickly become overwhelmed if it has only one server handling all of its requests. For this reason, a </a:t>
            </a:r>
            <a:r>
              <a:rPr b="1" lang="en-US"/>
              <a:t>data center</a:t>
            </a:r>
            <a:r>
              <a:rPr lang="en-US"/>
              <a:t>, housing a large number of hosts, is often used to create a powerful virtual server. The most popular Internet services—such as search engines (e.g., Google, Bing, Baidu), Internet commerce (e.g., Amazon, eBay, Alibaba), Web-based e-mail (e.g., Gmail and Yahoo Mail), social networking (e.g., Facebook, Instagram, Twitter, and WeChat)—employ one or more data centers.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Google has 30 to 50 data centers distributed around the world, which collectively handle search, YouTube, Gmail, and other services. A data center can have hundreds of thousands of servers, which must be powered and maintained. Additionally, the service providers must pay recurring interconnection and bandwidth costs for sending data from their data centers.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11" name="Google Shape;111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8" name="Google Shape;112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a </a:t>
            </a:r>
            <a:r>
              <a:rPr b="1" lang="en-US"/>
              <a:t>P2P architecture</a:t>
            </a:r>
            <a:r>
              <a:rPr lang="en-US"/>
              <a:t>, there is minimal (or no) reliance on dedicated servers in data centers. Instead the application exploits direct communication between pairs of intermittently connected hosts, called </a:t>
            </a:r>
            <a:r>
              <a:rPr i="1" lang="en-US"/>
              <a:t>peers</a:t>
            </a:r>
            <a:r>
              <a:rPr lang="en-US"/>
              <a:t>. The peers are not owned by the service provider, but are instead desktops and laptops controlled by users, with most of the peers residing in homes, universities, and offices. Because the peers communicate without passing through a dedicated server, the architecture is called peer-to-peer. Many of today’s most popular and traffic-intensive applications are based on P2P architectures. These applications include file sharing (e.g., BitTorrent), peer-assisted download acceleration (e.g., Xunlei), and Internet telephony and video conference (e.g., Skype).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Often in a client-server application, a single-server host is incapable of keep- ing up with all the requests from clients. For example, a popular social-networking site can quickly become overwhelmed if it has only one server handling all of its requests. For this reason, a </a:t>
            </a:r>
            <a:r>
              <a:rPr b="1" lang="en-US"/>
              <a:t>data center</a:t>
            </a:r>
            <a:r>
              <a:rPr lang="en-US"/>
              <a:t>, housing a large number of hosts, is often used to create a powerful virtual server. The most popular Internet services—such as search engines (e.g., Google, Bing, Baidu), Internet commerce (e.g., Amazon, eBay, Alibaba), Web-based e-mail (e.g., Gmail and Yahoo Mail), social networking (e.g., Facebook, Instagram, Twitter, and WeChat)—employ one or more data centers. As discussed in Section 1.3.3, Google has 30 to 50 data centers distributed around the world, which collectively handle search, YouTube, Gmail, and other services. A data center can have hundreds of thousands of servers, which must be powered and maintained. Additionally, the service providers must pay recurring interconnection and bandwidth costs for sending data from their data centers. </a:t>
            </a:r>
            <a:endParaRPr/>
          </a:p>
        </p:txBody>
      </p:sp>
      <p:sp>
        <p:nvSpPr>
          <p:cNvPr id="1129" name="Google Shape;112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5" name="Shape 1615"/>
        <p:cNvGrpSpPr/>
        <p:nvPr/>
      </p:nvGrpSpPr>
      <p:grpSpPr>
        <a:xfrm>
          <a:off x="0" y="0"/>
          <a:ext cx="0" cy="0"/>
          <a:chOff x="0" y="0"/>
          <a:chExt cx="0" cy="0"/>
        </a:xfrm>
      </p:grpSpPr>
      <p:sp>
        <p:nvSpPr>
          <p:cNvPr id="1616" name="Google Shape;161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7" name="Google Shape;161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Processes on two different end systems communicate with each other by exchanging </a:t>
            </a:r>
            <a:r>
              <a:rPr b="1" lang="en-US"/>
              <a:t>messages </a:t>
            </a:r>
            <a:r>
              <a:rPr lang="en-US"/>
              <a:t>across the computer network. A sending process creates and sends messages into the network; a receiving process receives these messages and possibly responds by sending messages back.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Web application a client browser process exchanges messages with a Web server process. In a P2P file-sharing system, a file is transferred from a process in one peer to a process in another peer. For each pair of communicating processes, we typically label one of the two processes as the </a:t>
            </a:r>
            <a:r>
              <a:rPr b="1" lang="en-US"/>
              <a:t>client </a:t>
            </a:r>
            <a:r>
              <a:rPr lang="en-US"/>
              <a:t>and the other process as the </a:t>
            </a:r>
            <a:r>
              <a:rPr b="1" lang="en-US"/>
              <a:t>server</a:t>
            </a:r>
            <a:r>
              <a:rPr lang="en-US"/>
              <a:t>. With the Web, a browser is a client process and a Web server is a server process. With P2P file sharing, the peer that is downloading the file is labeled as the client, and the peer that is uploading the file is labeled as the server.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18" name="Google Shape;161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7" name="Shape 1627"/>
        <p:cNvGrpSpPr/>
        <p:nvPr/>
      </p:nvGrpSpPr>
      <p:grpSpPr>
        <a:xfrm>
          <a:off x="0" y="0"/>
          <a:ext cx="0" cy="0"/>
          <a:chOff x="0" y="0"/>
          <a:chExt cx="0" cy="0"/>
        </a:xfrm>
      </p:grpSpPr>
      <p:sp>
        <p:nvSpPr>
          <p:cNvPr id="1628" name="Google Shape;162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9" name="Google Shape;162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process sends messages into, and receives messages from, the network through a software interface called a </a:t>
            </a:r>
            <a:r>
              <a:rPr b="1" lang="en-US"/>
              <a:t>socket</a:t>
            </a: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30" name="Google Shape;163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8" name="Shape 1688"/>
        <p:cNvGrpSpPr/>
        <p:nvPr/>
      </p:nvGrpSpPr>
      <p:grpSpPr>
        <a:xfrm>
          <a:off x="0" y="0"/>
          <a:ext cx="0" cy="0"/>
          <a:chOff x="0" y="0"/>
          <a:chExt cx="0" cy="0"/>
        </a:xfrm>
      </p:grpSpPr>
      <p:sp>
        <p:nvSpPr>
          <p:cNvPr id="1689" name="Google Shape;1689;p1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0" name="Google Shape;169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process sends messages into, and receives messages from, the network through a software interface called a </a:t>
            </a:r>
            <a:r>
              <a:rPr b="1" lang="en-US"/>
              <a:t>socket</a:t>
            </a:r>
            <a:r>
              <a:rPr lang="en-US"/>
              <a:t>. </a:t>
            </a:r>
            <a:endParaRPr/>
          </a:p>
          <a:p>
            <a:pPr indent="0" lvl="0" marL="0" rtl="0" algn="l">
              <a:spcBef>
                <a:spcPts val="0"/>
              </a:spcBef>
              <a:spcAft>
                <a:spcPts val="0"/>
              </a:spcAft>
              <a:buNone/>
            </a:pPr>
            <a:r>
              <a:t/>
            </a:r>
            <a:endParaRPr/>
          </a:p>
        </p:txBody>
      </p:sp>
      <p:sp>
        <p:nvSpPr>
          <p:cNvPr id="1691" name="Google Shape;169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1" name="Google Shape;170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In the Internet, the host is identified by its </a:t>
            </a:r>
            <a:r>
              <a:rPr b="1" lang="en-US"/>
              <a:t>IP address</a:t>
            </a:r>
            <a:r>
              <a:rPr lang="en-US"/>
              <a:t>. We’ll discuss IP addresses in great detail in Chapter 4. For now, all we need to know is that an IP address is a 32-bit quantity that we can think of as uniquely identifying the host. In addition to knowing the address of the host to which a message is destined, the sending process must also identify the receiving process (more specifically, the receiving socket) running in the host. This information is needed because in general a host could be running many network applications. A destination </a:t>
            </a:r>
            <a:r>
              <a:rPr b="1" lang="en-US"/>
              <a:t>port number </a:t>
            </a:r>
            <a:r>
              <a:rPr lang="en-US"/>
              <a:t>serves this purpose. Popular applications have been assigned specific port numbers. For example, a Web server is identified by port number 80. A mail server process (using the SMTP proto- col) is identified by port number 25. A list of well-known port numbers for all Inter- net standard protocols can be found at www.iana.org. We’ll examine port numbers in detail in Chapter 3.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702" name="Google Shape;170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9" name="Shape 1709"/>
        <p:cNvGrpSpPr/>
        <p:nvPr/>
      </p:nvGrpSpPr>
      <p:grpSpPr>
        <a:xfrm>
          <a:off x="0" y="0"/>
          <a:ext cx="0" cy="0"/>
          <a:chOff x="0" y="0"/>
          <a:chExt cx="0" cy="0"/>
        </a:xfrm>
      </p:grpSpPr>
      <p:sp>
        <p:nvSpPr>
          <p:cNvPr id="1710" name="Google Shape;171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1" name="Google Shape;171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2" name="Google Shape;171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0" name="Google Shape;172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1" name="Google Shape;172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9" name="Shape 1729"/>
        <p:cNvGrpSpPr/>
        <p:nvPr/>
      </p:nvGrpSpPr>
      <p:grpSpPr>
        <a:xfrm>
          <a:off x="0" y="0"/>
          <a:ext cx="0" cy="0"/>
          <a:chOff x="0" y="0"/>
          <a:chExt cx="0" cy="0"/>
        </a:xfrm>
      </p:grpSpPr>
      <p:sp>
        <p:nvSpPr>
          <p:cNvPr id="1730" name="Google Shape;173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1" name="Google Shape;173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2" name="Google Shape;173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7" name="Shape 1747"/>
        <p:cNvGrpSpPr/>
        <p:nvPr/>
      </p:nvGrpSpPr>
      <p:grpSpPr>
        <a:xfrm>
          <a:off x="0" y="0"/>
          <a:ext cx="0" cy="0"/>
          <a:chOff x="0" y="0"/>
          <a:chExt cx="0" cy="0"/>
        </a:xfrm>
      </p:grpSpPr>
      <p:sp>
        <p:nvSpPr>
          <p:cNvPr id="1748" name="Google Shape;174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9" name="Google Shape;174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It is important to distinguish between network applications and application-layer protocols. An application-layer protocol is only one piece of a network application (albeit, a very important piece of the application from our point of view!). Let’s look at a couple of examples. The Web is a client-server application that allows users to obtain documents from Web servers on demand. The Web application consists of many components, including a standard for document formats (that is, HTML), Web browsers (for example, Firefox and Microsoft Internet Explorer), Web servers (for example, Apache and Microsoft servers), and an application-layer protocol. The Web’s application-layer protocol, HTTP, defines the format and sequence of mes- sages exchanged between browser and Web server. Thus, HTTP is only one piece (albeit, an important piece) of the Web application. As another example, an Internet e-mail application also has many components, including mail servers that house user mailboxes; mail clients (such as Microsoft Outlook) that allow users to read and create messages; a standard for defining the structure of an e-mail message; and application-layer protocols that define how messages are passed between servers, how messages are passed between servers and mail clients, and how the contents of message headers are to be interpreted. The principal application-layer protocol for electronic mail is SMTP (Simple Mail Transfer Protocol) [RFC 5321]. Thus, e-mail’s principal application-layer protocol, SMTP, is only one piece (albeit an important piece) of the e-mail application.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750" name="Google Shape;175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9" name="Google Shape;175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0" name="Google Shape;176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4" name="Shape 1774"/>
        <p:cNvGrpSpPr/>
        <p:nvPr/>
      </p:nvGrpSpPr>
      <p:grpSpPr>
        <a:xfrm>
          <a:off x="0" y="0"/>
          <a:ext cx="0" cy="0"/>
          <a:chOff x="0" y="0"/>
          <a:chExt cx="0" cy="0"/>
        </a:xfrm>
      </p:grpSpPr>
      <p:sp>
        <p:nvSpPr>
          <p:cNvPr id="1775" name="Google Shape;177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6" name="Google Shape;177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7" name="Google Shape;177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5" name="Google Shape;178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6" name="Google Shape;178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3" name="Shape 1793"/>
        <p:cNvGrpSpPr/>
        <p:nvPr/>
      </p:nvGrpSpPr>
      <p:grpSpPr>
        <a:xfrm>
          <a:off x="0" y="0"/>
          <a:ext cx="0" cy="0"/>
          <a:chOff x="0" y="0"/>
          <a:chExt cx="0" cy="0"/>
        </a:xfrm>
      </p:grpSpPr>
      <p:sp>
        <p:nvSpPr>
          <p:cNvPr id="1794" name="Google Shape;179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5" name="Google Shape;179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6" name="Google Shape;179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9" name="Shape 1809"/>
        <p:cNvGrpSpPr/>
        <p:nvPr/>
      </p:nvGrpSpPr>
      <p:grpSpPr>
        <a:xfrm>
          <a:off x="0" y="0"/>
          <a:ext cx="0" cy="0"/>
          <a:chOff x="0" y="0"/>
          <a:chExt cx="0" cy="0"/>
        </a:xfrm>
      </p:grpSpPr>
      <p:sp>
        <p:nvSpPr>
          <p:cNvPr id="1810" name="Google Shape;181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1" name="Google Shape;181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2" name="Google Shape;181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9" name="Shape 1869"/>
        <p:cNvGrpSpPr/>
        <p:nvPr/>
      </p:nvGrpSpPr>
      <p:grpSpPr>
        <a:xfrm>
          <a:off x="0" y="0"/>
          <a:ext cx="0" cy="0"/>
          <a:chOff x="0" y="0"/>
          <a:chExt cx="0" cy="0"/>
        </a:xfrm>
      </p:grpSpPr>
      <p:sp>
        <p:nvSpPr>
          <p:cNvPr id="1870" name="Google Shape;1870;p2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1" name="Google Shape;187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75000"/>
              </a:lnSpc>
              <a:spcBef>
                <a:spcPts val="0"/>
              </a:spcBef>
              <a:spcAft>
                <a:spcPts val="0"/>
              </a:spcAft>
              <a:buClr>
                <a:srgbClr val="CC0000"/>
              </a:buClr>
              <a:buSzPts val="1200"/>
              <a:buFont typeface="Noto Sans Symbols"/>
              <a:buNone/>
            </a:pPr>
            <a:r>
              <a:rPr lang="en-US">
                <a:solidFill>
                  <a:srgbClr val="CC0000"/>
                </a:solidFill>
                <a:latin typeface="Gill Sans"/>
                <a:ea typeface="Gill Sans"/>
                <a:cs typeface="Gill Sans"/>
                <a:sym typeface="Gill Sans"/>
              </a:rPr>
              <a:t>HTTP: hypertext transfer protocol</a:t>
            </a:r>
            <a:endParaRPr/>
          </a:p>
          <a:p>
            <a:pPr indent="0" lvl="0" marL="0" rtl="0" algn="l">
              <a:lnSpc>
                <a:spcPct val="75000"/>
              </a:lnSpc>
              <a:spcBef>
                <a:spcPts val="0"/>
              </a:spcBef>
              <a:spcAft>
                <a:spcPts val="0"/>
              </a:spcAft>
              <a:buNone/>
            </a:pPr>
            <a:r>
              <a:rPr lang="en-US" sz="1100">
                <a:latin typeface="Gill Sans"/>
                <a:ea typeface="Gill Sans"/>
                <a:cs typeface="Gill Sans"/>
                <a:sym typeface="Gill Sans"/>
              </a:rPr>
              <a:t>HTTP defines how Web clients request Web pages from Web servers and how servers transfer Web pages to clients.</a:t>
            </a:r>
            <a:endParaRPr/>
          </a:p>
          <a:p>
            <a:pPr indent="0" lvl="0" marL="0" rtl="0" algn="l">
              <a:lnSpc>
                <a:spcPct val="75000"/>
              </a:lnSpc>
              <a:spcBef>
                <a:spcPts val="0"/>
              </a:spcBef>
              <a:spcAft>
                <a:spcPts val="0"/>
              </a:spcAft>
              <a:buNone/>
            </a:pPr>
            <a:r>
              <a:rPr lang="en-US">
                <a:latin typeface="Gill Sans"/>
                <a:ea typeface="Gill Sans"/>
                <a:cs typeface="Gill Sans"/>
                <a:sym typeface="Gill Sans"/>
              </a:rPr>
              <a:t>When a user requests a Web page (for example, clicks on a hyperlink), the browser sends HTTP request messages for the objects in the page to the server. </a:t>
            </a:r>
            <a:endParaRPr/>
          </a:p>
          <a:p>
            <a:pPr indent="0" lvl="0" marL="0" rtl="0" algn="l">
              <a:lnSpc>
                <a:spcPct val="75000"/>
              </a:lnSpc>
              <a:spcBef>
                <a:spcPts val="0"/>
              </a:spcBef>
              <a:spcAft>
                <a:spcPts val="0"/>
              </a:spcAft>
              <a:buNone/>
            </a:pPr>
            <a:r>
              <a:rPr lang="en-US">
                <a:latin typeface="Gill Sans"/>
                <a:ea typeface="Gill Sans"/>
                <a:cs typeface="Gill Sans"/>
                <a:sym typeface="Gill Sans"/>
              </a:rPr>
              <a:t>The server receives the requests and responds with HTTP response messages that contain the objects.</a:t>
            </a:r>
            <a:endParaRPr/>
          </a:p>
        </p:txBody>
      </p:sp>
      <p:sp>
        <p:nvSpPr>
          <p:cNvPr id="1872" name="Google Shape;187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0" name="Shape 1880"/>
        <p:cNvGrpSpPr/>
        <p:nvPr/>
      </p:nvGrpSpPr>
      <p:grpSpPr>
        <a:xfrm>
          <a:off x="0" y="0"/>
          <a:ext cx="0" cy="0"/>
          <a:chOff x="0" y="0"/>
          <a:chExt cx="0" cy="0"/>
        </a:xfrm>
      </p:grpSpPr>
      <p:sp>
        <p:nvSpPr>
          <p:cNvPr id="1881" name="Google Shape;188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2" name="Google Shape;188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It is important to note that the server sends requested files to clients without storing any state information about the client. If a particular client asks for the same object twice in a period of a few seconds, the server does not respond by saying that it just served the object to the client; instead, the server resends the object, as it has completely forgotten what it did earlier. Because an HTTP server maintains no infor-ation about the clients, HTTP is said to be a </a:t>
            </a:r>
            <a:r>
              <a:rPr b="1" lang="en-US" sz="1200">
                <a:solidFill>
                  <a:schemeClr val="dk1"/>
                </a:solidFill>
                <a:latin typeface="Times New Roman"/>
                <a:ea typeface="Times New Roman"/>
                <a:cs typeface="Times New Roman"/>
                <a:sym typeface="Times New Roman"/>
              </a:rPr>
              <a:t>stateless protocol</a:t>
            </a:r>
            <a:r>
              <a:rPr lang="en-US" sz="1200">
                <a:solidFill>
                  <a:schemeClr val="dk1"/>
                </a:solidFill>
                <a:latin typeface="Times New Roman"/>
                <a:ea typeface="Times New Roman"/>
                <a:cs typeface="Times New Roman"/>
                <a:sym typeface="Times New Roman"/>
              </a:rPr>
              <a:t>. We also remark that the Web uses the client-server application architecture. A Web server is always on, with a fixed IP address, and it services requests from potentially millions of different browsers.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883" name="Google Shape;188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6" name="Google Shape;189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In many Internet applications, the client and server communicate for an extended period of time, with the client making a series of requests and the server responding to each of the requests. Depending on the application and on how the applica- tion is being used, the series of requests may be made back-to-back, periodically at regular intervals, or intermittently. When this client-server interaction is taking place over TCP, the application developer needs to make an important decision—should each request/response pair be sent over a </a:t>
            </a:r>
            <a:r>
              <a:rPr i="1" lang="en-US" sz="1200">
                <a:solidFill>
                  <a:schemeClr val="dk1"/>
                </a:solidFill>
                <a:latin typeface="Times New Roman"/>
                <a:ea typeface="Times New Roman"/>
                <a:cs typeface="Times New Roman"/>
                <a:sym typeface="Times New Roman"/>
              </a:rPr>
              <a:t>separate </a:t>
            </a:r>
            <a:r>
              <a:rPr lang="en-US" sz="1200">
                <a:solidFill>
                  <a:schemeClr val="dk1"/>
                </a:solidFill>
                <a:latin typeface="Times New Roman"/>
                <a:ea typeface="Times New Roman"/>
                <a:cs typeface="Times New Roman"/>
                <a:sym typeface="Times New Roman"/>
              </a:rPr>
              <a:t>TCP connection, or should all of the requests and their corresponding responses be sent over the </a:t>
            </a:r>
            <a:r>
              <a:rPr i="1" lang="en-US" sz="1200">
                <a:solidFill>
                  <a:schemeClr val="dk1"/>
                </a:solidFill>
                <a:latin typeface="Times New Roman"/>
                <a:ea typeface="Times New Roman"/>
                <a:cs typeface="Times New Roman"/>
                <a:sym typeface="Times New Roman"/>
              </a:rPr>
              <a:t>same </a:t>
            </a:r>
            <a:r>
              <a:rPr lang="en-US" sz="1200">
                <a:solidFill>
                  <a:schemeClr val="dk1"/>
                </a:solidFill>
                <a:latin typeface="Times New Roman"/>
                <a:ea typeface="Times New Roman"/>
                <a:cs typeface="Times New Roman"/>
                <a:sym typeface="Times New Roman"/>
              </a:rPr>
              <a:t>TCP connection? In the former approach, the application is said to use </a:t>
            </a:r>
            <a:r>
              <a:rPr b="1" lang="en-US" sz="1200">
                <a:solidFill>
                  <a:schemeClr val="dk1"/>
                </a:solidFill>
                <a:latin typeface="Times New Roman"/>
                <a:ea typeface="Times New Roman"/>
                <a:cs typeface="Times New Roman"/>
                <a:sym typeface="Times New Roman"/>
              </a:rPr>
              <a:t>non-persistent connections</a:t>
            </a:r>
            <a:r>
              <a:rPr lang="en-US" sz="1200">
                <a:solidFill>
                  <a:schemeClr val="dk1"/>
                </a:solidFill>
                <a:latin typeface="Times New Roman"/>
                <a:ea typeface="Times New Roman"/>
                <a:cs typeface="Times New Roman"/>
                <a:sym typeface="Times New Roman"/>
              </a:rPr>
              <a:t>; and in the latter approach, </a:t>
            </a:r>
            <a:r>
              <a:rPr b="1" lang="en-US" sz="1200">
                <a:solidFill>
                  <a:schemeClr val="dk1"/>
                </a:solidFill>
                <a:latin typeface="Times New Roman"/>
                <a:ea typeface="Times New Roman"/>
                <a:cs typeface="Times New Roman"/>
                <a:sym typeface="Times New Roman"/>
              </a:rPr>
              <a:t>persistent connections</a:t>
            </a:r>
            <a:r>
              <a:rPr lang="en-US" sz="1200">
                <a:solidFill>
                  <a:schemeClr val="dk1"/>
                </a:solidFill>
                <a:latin typeface="Times New Roman"/>
                <a:ea typeface="Times New Roman"/>
                <a:cs typeface="Times New Roman"/>
                <a:sym typeface="Times New Roman"/>
              </a:rPr>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897" name="Google Shape;189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3" name="Shape 1903"/>
        <p:cNvGrpSpPr/>
        <p:nvPr/>
      </p:nvGrpSpPr>
      <p:grpSpPr>
        <a:xfrm>
          <a:off x="0" y="0"/>
          <a:ext cx="0" cy="0"/>
          <a:chOff x="0" y="0"/>
          <a:chExt cx="0" cy="0"/>
        </a:xfrm>
      </p:grpSpPr>
      <p:sp>
        <p:nvSpPr>
          <p:cNvPr id="1904" name="Google Shape;190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5" name="Google Shape;190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6" name="Google Shape;190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0" name="Shape 1960"/>
        <p:cNvGrpSpPr/>
        <p:nvPr/>
      </p:nvGrpSpPr>
      <p:grpSpPr>
        <a:xfrm>
          <a:off x="0" y="0"/>
          <a:ext cx="0" cy="0"/>
          <a:chOff x="0" y="0"/>
          <a:chExt cx="0" cy="0"/>
        </a:xfrm>
      </p:grpSpPr>
      <p:sp>
        <p:nvSpPr>
          <p:cNvPr id="1961" name="Google Shape;196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2" name="Google Shape;196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3" name="Google Shape;196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3" name="Shape 2013"/>
        <p:cNvGrpSpPr/>
        <p:nvPr/>
      </p:nvGrpSpPr>
      <p:grpSpPr>
        <a:xfrm>
          <a:off x="0" y="0"/>
          <a:ext cx="0" cy="0"/>
          <a:chOff x="0" y="0"/>
          <a:chExt cx="0" cy="0"/>
        </a:xfrm>
      </p:grpSpPr>
      <p:sp>
        <p:nvSpPr>
          <p:cNvPr id="2014" name="Google Shape;201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5" name="Google Shape;201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6" name="Google Shape;201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9" name="Shape 2079"/>
        <p:cNvGrpSpPr/>
        <p:nvPr/>
      </p:nvGrpSpPr>
      <p:grpSpPr>
        <a:xfrm>
          <a:off x="0" y="0"/>
          <a:ext cx="0" cy="0"/>
          <a:chOff x="0" y="0"/>
          <a:chExt cx="0" cy="0"/>
        </a:xfrm>
      </p:grpSpPr>
      <p:sp>
        <p:nvSpPr>
          <p:cNvPr id="2080" name="Google Shape;208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1" name="Google Shape;208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2" name="Google Shape;208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8" name="Shape 2088"/>
        <p:cNvGrpSpPr/>
        <p:nvPr/>
      </p:nvGrpSpPr>
      <p:grpSpPr>
        <a:xfrm>
          <a:off x="0" y="0"/>
          <a:ext cx="0" cy="0"/>
          <a:chOff x="0" y="0"/>
          <a:chExt cx="0" cy="0"/>
        </a:xfrm>
      </p:grpSpPr>
      <p:sp>
        <p:nvSpPr>
          <p:cNvPr id="2089" name="Google Shape;208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0" name="Google Shape;209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1" name="Google Shape;209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9" name="Shape 2109"/>
        <p:cNvGrpSpPr/>
        <p:nvPr/>
      </p:nvGrpSpPr>
      <p:grpSpPr>
        <a:xfrm>
          <a:off x="0" y="0"/>
          <a:ext cx="0" cy="0"/>
          <a:chOff x="0" y="0"/>
          <a:chExt cx="0" cy="0"/>
        </a:xfrm>
      </p:grpSpPr>
      <p:sp>
        <p:nvSpPr>
          <p:cNvPr id="2110" name="Google Shape;211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1" name="Google Shape;211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2" name="Google Shape;211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1" name="Shape 2181"/>
        <p:cNvGrpSpPr/>
        <p:nvPr/>
      </p:nvGrpSpPr>
      <p:grpSpPr>
        <a:xfrm>
          <a:off x="0" y="0"/>
          <a:ext cx="0" cy="0"/>
          <a:chOff x="0" y="0"/>
          <a:chExt cx="0" cy="0"/>
        </a:xfrm>
      </p:grpSpPr>
      <p:sp>
        <p:nvSpPr>
          <p:cNvPr id="2182" name="Google Shape;218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3" name="Google Shape;218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4" name="Google Shape;218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3" name="Shape 2193"/>
        <p:cNvGrpSpPr/>
        <p:nvPr/>
      </p:nvGrpSpPr>
      <p:grpSpPr>
        <a:xfrm>
          <a:off x="0" y="0"/>
          <a:ext cx="0" cy="0"/>
          <a:chOff x="0" y="0"/>
          <a:chExt cx="0" cy="0"/>
        </a:xfrm>
      </p:grpSpPr>
      <p:sp>
        <p:nvSpPr>
          <p:cNvPr id="2194" name="Google Shape;219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5" name="Google Shape;219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6" name="Google Shape;2196;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8" name="Shape 2208"/>
        <p:cNvGrpSpPr/>
        <p:nvPr/>
      </p:nvGrpSpPr>
      <p:grpSpPr>
        <a:xfrm>
          <a:off x="0" y="0"/>
          <a:ext cx="0" cy="0"/>
          <a:chOff x="0" y="0"/>
          <a:chExt cx="0" cy="0"/>
        </a:xfrm>
      </p:grpSpPr>
      <p:sp>
        <p:nvSpPr>
          <p:cNvPr id="2209" name="Google Shape;220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0" name="Google Shape;221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1" name="Google Shape;2211;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7" name="Shape 2217"/>
        <p:cNvGrpSpPr/>
        <p:nvPr/>
      </p:nvGrpSpPr>
      <p:grpSpPr>
        <a:xfrm>
          <a:off x="0" y="0"/>
          <a:ext cx="0" cy="0"/>
          <a:chOff x="0" y="0"/>
          <a:chExt cx="0" cy="0"/>
        </a:xfrm>
      </p:grpSpPr>
      <p:sp>
        <p:nvSpPr>
          <p:cNvPr id="2218" name="Google Shape;221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9" name="Google Shape;221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0" name="Google Shape;2220;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4" name="Shape 2234"/>
        <p:cNvGrpSpPr/>
        <p:nvPr/>
      </p:nvGrpSpPr>
      <p:grpSpPr>
        <a:xfrm>
          <a:off x="0" y="0"/>
          <a:ext cx="0" cy="0"/>
          <a:chOff x="0" y="0"/>
          <a:chExt cx="0" cy="0"/>
        </a:xfrm>
      </p:grpSpPr>
      <p:sp>
        <p:nvSpPr>
          <p:cNvPr id="2235" name="Google Shape;223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6" name="Google Shape;2236;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t>
            </a:r>
            <a:endParaRPr/>
          </a:p>
        </p:txBody>
      </p:sp>
      <p:sp>
        <p:nvSpPr>
          <p:cNvPr id="2237" name="Google Shape;2237;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8" name="Shape 2328"/>
        <p:cNvGrpSpPr/>
        <p:nvPr/>
      </p:nvGrpSpPr>
      <p:grpSpPr>
        <a:xfrm>
          <a:off x="0" y="0"/>
          <a:ext cx="0" cy="0"/>
          <a:chOff x="0" y="0"/>
          <a:chExt cx="0" cy="0"/>
        </a:xfrm>
      </p:grpSpPr>
      <p:sp>
        <p:nvSpPr>
          <p:cNvPr id="2329" name="Google Shape;232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0" name="Google Shape;233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t>
            </a:r>
            <a:endParaRPr/>
          </a:p>
        </p:txBody>
      </p:sp>
      <p:sp>
        <p:nvSpPr>
          <p:cNvPr id="2331" name="Google Shape;2331;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7" name="Shape 2337"/>
        <p:cNvGrpSpPr/>
        <p:nvPr/>
      </p:nvGrpSpPr>
      <p:grpSpPr>
        <a:xfrm>
          <a:off x="0" y="0"/>
          <a:ext cx="0" cy="0"/>
          <a:chOff x="0" y="0"/>
          <a:chExt cx="0" cy="0"/>
        </a:xfrm>
      </p:grpSpPr>
      <p:sp>
        <p:nvSpPr>
          <p:cNvPr id="2338" name="Google Shape;233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9" name="Google Shape;2339;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t>
            </a:r>
            <a:endParaRPr/>
          </a:p>
        </p:txBody>
      </p:sp>
      <p:sp>
        <p:nvSpPr>
          <p:cNvPr id="2340" name="Google Shape;2340;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2" name="Shape 2432"/>
        <p:cNvGrpSpPr/>
        <p:nvPr/>
      </p:nvGrpSpPr>
      <p:grpSpPr>
        <a:xfrm>
          <a:off x="0" y="0"/>
          <a:ext cx="0" cy="0"/>
          <a:chOff x="0" y="0"/>
          <a:chExt cx="0" cy="0"/>
        </a:xfrm>
      </p:grpSpPr>
      <p:sp>
        <p:nvSpPr>
          <p:cNvPr id="2433" name="Google Shape;2433;p4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4" name="Google Shape;2434;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5" name="Google Shape;2435;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3" name="Shape 2443"/>
        <p:cNvGrpSpPr/>
        <p:nvPr/>
      </p:nvGrpSpPr>
      <p:grpSpPr>
        <a:xfrm>
          <a:off x="0" y="0"/>
          <a:ext cx="0" cy="0"/>
          <a:chOff x="0" y="0"/>
          <a:chExt cx="0" cy="0"/>
        </a:xfrm>
      </p:grpSpPr>
      <p:sp>
        <p:nvSpPr>
          <p:cNvPr id="2444" name="Google Shape;244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5" name="Google Shape;2445;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t>
            </a:r>
            <a:endParaRPr/>
          </a:p>
        </p:txBody>
      </p:sp>
      <p:sp>
        <p:nvSpPr>
          <p:cNvPr id="2446" name="Google Shape;2446;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4" name="Shape 2454"/>
        <p:cNvGrpSpPr/>
        <p:nvPr/>
      </p:nvGrpSpPr>
      <p:grpSpPr>
        <a:xfrm>
          <a:off x="0" y="0"/>
          <a:ext cx="0" cy="0"/>
          <a:chOff x="0" y="0"/>
          <a:chExt cx="0" cy="0"/>
        </a:xfrm>
      </p:grpSpPr>
      <p:sp>
        <p:nvSpPr>
          <p:cNvPr id="2455" name="Google Shape;2455;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6" name="Google Shape;2456;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The browser establishes a TCP connection to the Web cache and sends an HTTP request for the object to the Web cache. </a:t>
            </a:r>
            <a:endParaRPr/>
          </a:p>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The Web cache checks to see if it has a copy of the object stored locally. If it does, the Web cache returns the object within an HTTP response message to the client browser. </a:t>
            </a:r>
            <a:endParaRPr/>
          </a:p>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If the Web cache does not have the object, the Web cache opens a TCP connec- tion to the origin server, that is, to www.someschool.edu. The Web cache then sends an HTTP request for the object into the cache-to-server TCP connec- tion. After receiving this request, the origin server sends the object within an HTTP response to the Web cache. </a:t>
            </a:r>
            <a:endParaRPr/>
          </a:p>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When the Web cache receives the object, it stores a copy in its local storage and sends a copy, within an HTTP response message, to the client browser (over the existing TCP connection between the client browser and the Web cache). </a:t>
            </a:r>
            <a:endParaRPr/>
          </a:p>
        </p:txBody>
      </p:sp>
      <p:sp>
        <p:nvSpPr>
          <p:cNvPr id="2457" name="Google Shape;2457;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2" name="Shape 2592"/>
        <p:cNvGrpSpPr/>
        <p:nvPr/>
      </p:nvGrpSpPr>
      <p:grpSpPr>
        <a:xfrm>
          <a:off x="0" y="0"/>
          <a:ext cx="0" cy="0"/>
          <a:chOff x="0" y="0"/>
          <a:chExt cx="0" cy="0"/>
        </a:xfrm>
      </p:grpSpPr>
      <p:sp>
        <p:nvSpPr>
          <p:cNvPr id="2593" name="Google Shape;259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4" name="Google Shape;2594;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 poor content providers – like in real-estate, location is everything.  servers want to be close to clients.</a:t>
            </a:r>
            <a:endParaRPr/>
          </a:p>
        </p:txBody>
      </p:sp>
      <p:sp>
        <p:nvSpPr>
          <p:cNvPr id="2595" name="Google Shape;2595;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1" name="Shape 2601"/>
        <p:cNvGrpSpPr/>
        <p:nvPr/>
      </p:nvGrpSpPr>
      <p:grpSpPr>
        <a:xfrm>
          <a:off x="0" y="0"/>
          <a:ext cx="0" cy="0"/>
          <a:chOff x="0" y="0"/>
          <a:chExt cx="0" cy="0"/>
        </a:xfrm>
      </p:grpSpPr>
      <p:sp>
        <p:nvSpPr>
          <p:cNvPr id="2602" name="Google Shape;2602;p4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3" name="Google Shape;2603;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4" name="Google Shape;2604;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7" name="Shape 2857"/>
        <p:cNvGrpSpPr/>
        <p:nvPr/>
      </p:nvGrpSpPr>
      <p:grpSpPr>
        <a:xfrm>
          <a:off x="0" y="0"/>
          <a:ext cx="0" cy="0"/>
          <a:chOff x="0" y="0"/>
          <a:chExt cx="0" cy="0"/>
        </a:xfrm>
      </p:grpSpPr>
      <p:sp>
        <p:nvSpPr>
          <p:cNvPr id="2858" name="Google Shape;2858;p4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9" name="Google Shape;285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0" name="Google Shape;286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5" name="Shape 3115"/>
        <p:cNvGrpSpPr/>
        <p:nvPr/>
      </p:nvGrpSpPr>
      <p:grpSpPr>
        <a:xfrm>
          <a:off x="0" y="0"/>
          <a:ext cx="0" cy="0"/>
          <a:chOff x="0" y="0"/>
          <a:chExt cx="0" cy="0"/>
        </a:xfrm>
      </p:grpSpPr>
      <p:sp>
        <p:nvSpPr>
          <p:cNvPr id="3116" name="Google Shape;3116;p4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7" name="Google Shape;3117;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8" name="Google Shape;3118;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2" name="Shape 3372"/>
        <p:cNvGrpSpPr/>
        <p:nvPr/>
      </p:nvGrpSpPr>
      <p:grpSpPr>
        <a:xfrm>
          <a:off x="0" y="0"/>
          <a:ext cx="0" cy="0"/>
          <a:chOff x="0" y="0"/>
          <a:chExt cx="0" cy="0"/>
        </a:xfrm>
      </p:grpSpPr>
      <p:sp>
        <p:nvSpPr>
          <p:cNvPr id="3373" name="Google Shape;3373;p4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4" name="Google Shape;3374;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5" name="Google Shape;3375;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1" name="Shape 3631"/>
        <p:cNvGrpSpPr/>
        <p:nvPr/>
      </p:nvGrpSpPr>
      <p:grpSpPr>
        <a:xfrm>
          <a:off x="0" y="0"/>
          <a:ext cx="0" cy="0"/>
          <a:chOff x="0" y="0"/>
          <a:chExt cx="0" cy="0"/>
        </a:xfrm>
      </p:grpSpPr>
      <p:sp>
        <p:nvSpPr>
          <p:cNvPr id="3632" name="Google Shape;363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3" name="Google Shape;3633;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why minutes (recall earlier delay versus arrival rate curve from Chapter 1)</a:t>
            </a:r>
            <a:endParaRPr/>
          </a:p>
        </p:txBody>
      </p:sp>
      <p:sp>
        <p:nvSpPr>
          <p:cNvPr id="3634" name="Google Shape;3634;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8" name="Shape 3848"/>
        <p:cNvGrpSpPr/>
        <p:nvPr/>
      </p:nvGrpSpPr>
      <p:grpSpPr>
        <a:xfrm>
          <a:off x="0" y="0"/>
          <a:ext cx="0" cy="0"/>
          <a:chOff x="0" y="0"/>
          <a:chExt cx="0" cy="0"/>
        </a:xfrm>
      </p:grpSpPr>
      <p:sp>
        <p:nvSpPr>
          <p:cNvPr id="3849" name="Google Shape;384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0" name="Google Shape;385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t>
            </a:r>
            <a:endParaRPr/>
          </a:p>
        </p:txBody>
      </p:sp>
      <p:sp>
        <p:nvSpPr>
          <p:cNvPr id="3851" name="Google Shape;3851;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1" name="Shape 4081"/>
        <p:cNvGrpSpPr/>
        <p:nvPr/>
      </p:nvGrpSpPr>
      <p:grpSpPr>
        <a:xfrm>
          <a:off x="0" y="0"/>
          <a:ext cx="0" cy="0"/>
          <a:chOff x="0" y="0"/>
          <a:chExt cx="0" cy="0"/>
        </a:xfrm>
      </p:grpSpPr>
      <p:sp>
        <p:nvSpPr>
          <p:cNvPr id="4082" name="Google Shape;408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3" name="Google Shape;4083;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t>
            </a:r>
            <a:endParaRPr/>
          </a:p>
        </p:txBody>
      </p:sp>
      <p:sp>
        <p:nvSpPr>
          <p:cNvPr id="4084" name="Google Shape;4084;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6" name="Shape 4336"/>
        <p:cNvGrpSpPr/>
        <p:nvPr/>
      </p:nvGrpSpPr>
      <p:grpSpPr>
        <a:xfrm>
          <a:off x="0" y="0"/>
          <a:ext cx="0" cy="0"/>
          <a:chOff x="0" y="0"/>
          <a:chExt cx="0" cy="0"/>
        </a:xfrm>
      </p:grpSpPr>
      <p:sp>
        <p:nvSpPr>
          <p:cNvPr id="4337" name="Google Shape;433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8" name="Google Shape;4338;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t>
            </a:r>
            <a:endParaRPr/>
          </a:p>
        </p:txBody>
      </p:sp>
      <p:sp>
        <p:nvSpPr>
          <p:cNvPr id="4339" name="Google Shape;4339;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1" name="Shape 4591"/>
        <p:cNvGrpSpPr/>
        <p:nvPr/>
      </p:nvGrpSpPr>
      <p:grpSpPr>
        <a:xfrm>
          <a:off x="0" y="0"/>
          <a:ext cx="0" cy="0"/>
          <a:chOff x="0" y="0"/>
          <a:chExt cx="0" cy="0"/>
        </a:xfrm>
      </p:grpSpPr>
      <p:sp>
        <p:nvSpPr>
          <p:cNvPr id="4592" name="Google Shape;4592;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3" name="Google Shape;4593;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2" name="Shape 4602"/>
        <p:cNvGrpSpPr/>
        <p:nvPr/>
      </p:nvGrpSpPr>
      <p:grpSpPr>
        <a:xfrm>
          <a:off x="0" y="0"/>
          <a:ext cx="0" cy="0"/>
          <a:chOff x="0" y="0"/>
          <a:chExt cx="0" cy="0"/>
        </a:xfrm>
      </p:grpSpPr>
      <p:sp>
        <p:nvSpPr>
          <p:cNvPr id="4603" name="Google Shape;4603;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4" name="Google Shape;4604;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t>
            </a:r>
            <a:endParaRPr/>
          </a:p>
        </p:txBody>
      </p:sp>
      <p:sp>
        <p:nvSpPr>
          <p:cNvPr id="4605" name="Google Shape;4605;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2" name="Shape 4662"/>
        <p:cNvGrpSpPr/>
        <p:nvPr/>
      </p:nvGrpSpPr>
      <p:grpSpPr>
        <a:xfrm>
          <a:off x="0" y="0"/>
          <a:ext cx="0" cy="0"/>
          <a:chOff x="0" y="0"/>
          <a:chExt cx="0" cy="0"/>
        </a:xfrm>
      </p:grpSpPr>
      <p:sp>
        <p:nvSpPr>
          <p:cNvPr id="4663" name="Google Shape;4663;p5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64" name="Google Shape;4664;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5" name="Google Shape;4665;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2" name="Shape 4722"/>
        <p:cNvGrpSpPr/>
        <p:nvPr/>
      </p:nvGrpSpPr>
      <p:grpSpPr>
        <a:xfrm>
          <a:off x="0" y="0"/>
          <a:ext cx="0" cy="0"/>
          <a:chOff x="0" y="0"/>
          <a:chExt cx="0" cy="0"/>
        </a:xfrm>
      </p:grpSpPr>
      <p:sp>
        <p:nvSpPr>
          <p:cNvPr id="4723" name="Google Shape;4723;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4" name="Google Shape;4724;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t>
            </a:r>
            <a:endParaRPr/>
          </a:p>
        </p:txBody>
      </p:sp>
      <p:sp>
        <p:nvSpPr>
          <p:cNvPr id="4725" name="Google Shape;4725;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1" name="Shape 4731"/>
        <p:cNvGrpSpPr/>
        <p:nvPr/>
      </p:nvGrpSpPr>
      <p:grpSpPr>
        <a:xfrm>
          <a:off x="0" y="0"/>
          <a:ext cx="0" cy="0"/>
          <a:chOff x="0" y="0"/>
          <a:chExt cx="0" cy="0"/>
        </a:xfrm>
      </p:grpSpPr>
      <p:sp>
        <p:nvSpPr>
          <p:cNvPr id="4732" name="Google Shape;4732;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3" name="Google Shape;4733;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t>
            </a:r>
            <a:endParaRPr/>
          </a:p>
        </p:txBody>
      </p:sp>
      <p:sp>
        <p:nvSpPr>
          <p:cNvPr id="4734" name="Google Shape;4734;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0" name="Shape 4740"/>
        <p:cNvGrpSpPr/>
        <p:nvPr/>
      </p:nvGrpSpPr>
      <p:grpSpPr>
        <a:xfrm>
          <a:off x="0" y="0"/>
          <a:ext cx="0" cy="0"/>
          <a:chOff x="0" y="0"/>
          <a:chExt cx="0" cy="0"/>
        </a:xfrm>
      </p:grpSpPr>
      <p:sp>
        <p:nvSpPr>
          <p:cNvPr id="4741" name="Google Shape;4741;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2" name="Google Shape;4742;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t>
            </a:r>
            <a:endParaRPr/>
          </a:p>
        </p:txBody>
      </p:sp>
      <p:sp>
        <p:nvSpPr>
          <p:cNvPr id="4743" name="Google Shape;4743;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5" name="Shape 4835"/>
        <p:cNvGrpSpPr/>
        <p:nvPr/>
      </p:nvGrpSpPr>
      <p:grpSpPr>
        <a:xfrm>
          <a:off x="0" y="0"/>
          <a:ext cx="0" cy="0"/>
          <a:chOff x="0" y="0"/>
          <a:chExt cx="0" cy="0"/>
        </a:xfrm>
      </p:grpSpPr>
      <p:sp>
        <p:nvSpPr>
          <p:cNvPr id="4836" name="Google Shape;4836;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7" name="Google Shape;4837;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shortest job first: decreased average delay!</a:t>
            </a:r>
            <a:endParaRPr/>
          </a:p>
        </p:txBody>
      </p:sp>
      <p:sp>
        <p:nvSpPr>
          <p:cNvPr id="4838" name="Google Shape;4838;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6" name="Shape 4956"/>
        <p:cNvGrpSpPr/>
        <p:nvPr/>
      </p:nvGrpSpPr>
      <p:grpSpPr>
        <a:xfrm>
          <a:off x="0" y="0"/>
          <a:ext cx="0" cy="0"/>
          <a:chOff x="0" y="0"/>
          <a:chExt cx="0" cy="0"/>
        </a:xfrm>
      </p:grpSpPr>
      <p:sp>
        <p:nvSpPr>
          <p:cNvPr id="4957" name="Google Shape;4957;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8" name="Google Shape;4958;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t>
            </a:r>
            <a:endParaRPr/>
          </a:p>
        </p:txBody>
      </p:sp>
      <p:sp>
        <p:nvSpPr>
          <p:cNvPr id="4959" name="Google Shape;4959;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5" name="Shape 4965"/>
        <p:cNvGrpSpPr/>
        <p:nvPr/>
      </p:nvGrpSpPr>
      <p:grpSpPr>
        <a:xfrm>
          <a:off x="0" y="0"/>
          <a:ext cx="0" cy="0"/>
          <a:chOff x="0" y="0"/>
          <a:chExt cx="0" cy="0"/>
        </a:xfrm>
      </p:grpSpPr>
      <p:sp>
        <p:nvSpPr>
          <p:cNvPr id="4966" name="Google Shape;4966;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7" name="Google Shape;4967;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8" name="Google Shape;4968;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5" name="Shape 4975"/>
        <p:cNvGrpSpPr/>
        <p:nvPr/>
      </p:nvGrpSpPr>
      <p:grpSpPr>
        <a:xfrm>
          <a:off x="0" y="0"/>
          <a:ext cx="0" cy="0"/>
          <a:chOff x="0" y="0"/>
          <a:chExt cx="0" cy="0"/>
        </a:xfrm>
      </p:grpSpPr>
      <p:sp>
        <p:nvSpPr>
          <p:cNvPr id="4976" name="Google Shape;4976;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7" name="Google Shape;4977;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8" name="Google Shape;4978;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3" name="Shape 5193"/>
        <p:cNvGrpSpPr/>
        <p:nvPr/>
      </p:nvGrpSpPr>
      <p:grpSpPr>
        <a:xfrm>
          <a:off x="0" y="0"/>
          <a:ext cx="0" cy="0"/>
          <a:chOff x="0" y="0"/>
          <a:chExt cx="0" cy="0"/>
        </a:xfrm>
      </p:grpSpPr>
      <p:sp>
        <p:nvSpPr>
          <p:cNvPr id="5194" name="Google Shape;5194;p6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95" name="Google Shape;5195;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6" name="Google Shape;5196;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4" name="Shape 5204"/>
        <p:cNvGrpSpPr/>
        <p:nvPr/>
      </p:nvGrpSpPr>
      <p:grpSpPr>
        <a:xfrm>
          <a:off x="0" y="0"/>
          <a:ext cx="0" cy="0"/>
          <a:chOff x="0" y="0"/>
          <a:chExt cx="0" cy="0"/>
        </a:xfrm>
      </p:grpSpPr>
      <p:sp>
        <p:nvSpPr>
          <p:cNvPr id="5205" name="Google Shape;520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6" name="Google Shape;5206;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7" name="Google Shape;5207;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2" name="Shape 5422"/>
        <p:cNvGrpSpPr/>
        <p:nvPr/>
      </p:nvGrpSpPr>
      <p:grpSpPr>
        <a:xfrm>
          <a:off x="0" y="0"/>
          <a:ext cx="0" cy="0"/>
          <a:chOff x="0" y="0"/>
          <a:chExt cx="0" cy="0"/>
        </a:xfrm>
      </p:grpSpPr>
      <p:sp>
        <p:nvSpPr>
          <p:cNvPr id="5423" name="Google Shape;5423;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4" name="Google Shape;5424;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5" name="Google Shape;5425;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0" name="Shape 5430"/>
        <p:cNvGrpSpPr/>
        <p:nvPr/>
      </p:nvGrpSpPr>
      <p:grpSpPr>
        <a:xfrm>
          <a:off x="0" y="0"/>
          <a:ext cx="0" cy="0"/>
          <a:chOff x="0" y="0"/>
          <a:chExt cx="0" cy="0"/>
        </a:xfrm>
      </p:grpSpPr>
      <p:sp>
        <p:nvSpPr>
          <p:cNvPr id="5431" name="Google Shape;5431;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2" name="Google Shape;5432;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3" name="Google Shape;5433;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6" name="Shape 5566"/>
        <p:cNvGrpSpPr/>
        <p:nvPr/>
      </p:nvGrpSpPr>
      <p:grpSpPr>
        <a:xfrm>
          <a:off x="0" y="0"/>
          <a:ext cx="0" cy="0"/>
          <a:chOff x="0" y="0"/>
          <a:chExt cx="0" cy="0"/>
        </a:xfrm>
      </p:grpSpPr>
      <p:sp>
        <p:nvSpPr>
          <p:cNvPr id="5567" name="Google Shape;5567;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8" name="Google Shape;5568;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9" name="Google Shape;5569;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4" name="Shape 5574"/>
        <p:cNvGrpSpPr/>
        <p:nvPr/>
      </p:nvGrpSpPr>
      <p:grpSpPr>
        <a:xfrm>
          <a:off x="0" y="0"/>
          <a:ext cx="0" cy="0"/>
          <a:chOff x="0" y="0"/>
          <a:chExt cx="0" cy="0"/>
        </a:xfrm>
      </p:grpSpPr>
      <p:sp>
        <p:nvSpPr>
          <p:cNvPr id="5575" name="Google Shape;5575;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6" name="Google Shape;5576;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To do this, issue </a:t>
            </a:r>
            <a:endParaRPr/>
          </a:p>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telnet serverName 25 </a:t>
            </a:r>
            <a:endParaRPr/>
          </a:p>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where serverName is the name of a local mail server. When you do this, you are simply establishing a TCP connection between your local host and the mail server. After typing this line, you should immediately receive the 220 reply from the server. Then issue the SMTP commands HELO, MAIL FROM, RCPT TO, DATA, CRLF.CRLF, and QUIT at the appropriate times. </a:t>
            </a:r>
            <a:endParaRPr/>
          </a:p>
        </p:txBody>
      </p:sp>
      <p:sp>
        <p:nvSpPr>
          <p:cNvPr id="5577" name="Google Shape;5577;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2" name="Shape 5582"/>
        <p:cNvGrpSpPr/>
        <p:nvPr/>
      </p:nvGrpSpPr>
      <p:grpSpPr>
        <a:xfrm>
          <a:off x="0" y="0"/>
          <a:ext cx="0" cy="0"/>
          <a:chOff x="0" y="0"/>
          <a:chExt cx="0" cy="0"/>
        </a:xfrm>
      </p:grpSpPr>
      <p:sp>
        <p:nvSpPr>
          <p:cNvPr id="5583" name="Google Shape;5583;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4" name="Google Shape;5584;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	HTTP is mainly a </a:t>
            </a:r>
            <a:r>
              <a:rPr b="1" lang="en-US" sz="1200">
                <a:solidFill>
                  <a:schemeClr val="dk1"/>
                </a:solidFill>
                <a:latin typeface="Times New Roman"/>
                <a:ea typeface="Times New Roman"/>
                <a:cs typeface="Times New Roman"/>
                <a:sym typeface="Times New Roman"/>
              </a:rPr>
              <a:t>pull protocol</a:t>
            </a:r>
            <a:r>
              <a:rPr lang="en-US" sz="1200">
                <a:solidFill>
                  <a:schemeClr val="dk1"/>
                </a:solidFill>
                <a:latin typeface="Times New Roman"/>
                <a:ea typeface="Times New Roman"/>
                <a:cs typeface="Times New Roman"/>
                <a:sym typeface="Times New Roman"/>
              </a:rPr>
              <a:t>—someone loads information on a Web server and users use HTTP to pull the information from the server at their convenience. In particular, the TCP connection is initiated by the machine that wants to receive the file. </a:t>
            </a:r>
            <a:endParaRPr/>
          </a:p>
          <a:p>
            <a:pPr indent="0" lvl="0" marL="0" marR="0" rtl="0" algn="l">
              <a:lnSpc>
                <a:spcPct val="100000"/>
              </a:lnSpc>
              <a:spcBef>
                <a:spcPts val="360"/>
              </a:spcBef>
              <a:spcAft>
                <a:spcPts val="0"/>
              </a:spcAft>
              <a:buClr>
                <a:schemeClr val="dk1"/>
              </a:buClr>
              <a:buSzPts val="1200"/>
              <a:buFont typeface="Calibri"/>
              <a:buNone/>
            </a:pPr>
            <a:r>
              <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SMTP is primarily a </a:t>
            </a:r>
            <a:r>
              <a:rPr b="1" lang="en-US" sz="1200">
                <a:solidFill>
                  <a:schemeClr val="dk1"/>
                </a:solidFill>
                <a:latin typeface="Times New Roman"/>
                <a:ea typeface="Times New Roman"/>
                <a:cs typeface="Times New Roman"/>
                <a:sym typeface="Times New Roman"/>
              </a:rPr>
              <a:t>push protocol</a:t>
            </a:r>
            <a:r>
              <a:rPr lang="en-US" sz="1200">
                <a:solidFill>
                  <a:schemeClr val="dk1"/>
                </a:solidFill>
                <a:latin typeface="Times New Roman"/>
                <a:ea typeface="Times New Roman"/>
                <a:cs typeface="Times New Roman"/>
                <a:sym typeface="Times New Roman"/>
              </a:rPr>
              <a:t>—the sending mail server pushes the file to the receiving mail server. In particular, the TCP connection is initiated by the machine that wants to send the file </a:t>
            </a:r>
            <a:endParaRPr/>
          </a:p>
          <a:p>
            <a:pPr indent="0" lvl="0" marL="0" marR="0" rtl="0" algn="l">
              <a:lnSpc>
                <a:spcPct val="100000"/>
              </a:lnSpc>
              <a:spcBef>
                <a:spcPts val="360"/>
              </a:spcBef>
              <a:spcAft>
                <a:spcPts val="0"/>
              </a:spcAft>
              <a:buClr>
                <a:schemeClr val="dk1"/>
              </a:buClr>
              <a:buSzPts val="1200"/>
              <a:buFont typeface="Calibri"/>
              <a:buNone/>
            </a:pPr>
            <a:r>
              <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A second difference, which we alluded to earlier, is that SMTP requires each message, including the body of each message, to be in 7-bit ASCII format. If the message contains characters that are not 7-bit ASCII (for example, French characters with accents) or contains binary data (such as an image file), then the message has to be encoded into 7-bit ASCII. HTTP data does not impose this restriction. </a:t>
            </a:r>
            <a:endParaRPr/>
          </a:p>
          <a:p>
            <a:pPr indent="0" lvl="0" marL="0" marR="0" rtl="0" algn="l">
              <a:lnSpc>
                <a:spcPct val="100000"/>
              </a:lnSpc>
              <a:spcBef>
                <a:spcPts val="360"/>
              </a:spcBef>
              <a:spcAft>
                <a:spcPts val="0"/>
              </a:spcAft>
              <a:buClr>
                <a:schemeClr val="dk1"/>
              </a:buClr>
              <a:buSzPts val="1200"/>
              <a:buFont typeface="Calibri"/>
              <a:buNone/>
            </a:pPr>
            <a:r>
              <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A third important difference concerns how a document consisting of text and images (along with possibly other media types) is handled </a:t>
            </a:r>
            <a:endParaRPr/>
          </a:p>
        </p:txBody>
      </p:sp>
      <p:sp>
        <p:nvSpPr>
          <p:cNvPr id="5585" name="Google Shape;5585;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1" name="Shape 5591"/>
        <p:cNvGrpSpPr/>
        <p:nvPr/>
      </p:nvGrpSpPr>
      <p:grpSpPr>
        <a:xfrm>
          <a:off x="0" y="0"/>
          <a:ext cx="0" cy="0"/>
          <a:chOff x="0" y="0"/>
          <a:chExt cx="0" cy="0"/>
        </a:xfrm>
      </p:grpSpPr>
      <p:sp>
        <p:nvSpPr>
          <p:cNvPr id="5592" name="Google Shape;5592;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3" name="Google Shape;5593;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4" name="Google Shape;5594;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6" name="Shape 5606"/>
        <p:cNvGrpSpPr/>
        <p:nvPr/>
      </p:nvGrpSpPr>
      <p:grpSpPr>
        <a:xfrm>
          <a:off x="0" y="0"/>
          <a:ext cx="0" cy="0"/>
          <a:chOff x="0" y="0"/>
          <a:chExt cx="0" cy="0"/>
        </a:xfrm>
      </p:grpSpPr>
      <p:sp>
        <p:nvSpPr>
          <p:cNvPr id="5607" name="Google Shape;5607;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8" name="Google Shape;5608;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9" name="Google Shape;5609;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6" name="Shape 5736"/>
        <p:cNvGrpSpPr/>
        <p:nvPr/>
      </p:nvGrpSpPr>
      <p:grpSpPr>
        <a:xfrm>
          <a:off x="0" y="0"/>
          <a:ext cx="0" cy="0"/>
          <a:chOff x="0" y="0"/>
          <a:chExt cx="0" cy="0"/>
        </a:xfrm>
      </p:grpSpPr>
      <p:sp>
        <p:nvSpPr>
          <p:cNvPr id="5737" name="Google Shape;5737;p7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38" name="Google Shape;5738;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Alice’s user agent uses SMTP to push the e-mail message into her mail server, then Alice’s mail server uses SMTP (as an SMTP client) to relay the e-mail message to Bob’s mail server. Why the two-step procedure? Primarily because without relaying through Alice’s mail server, Alice’s user agent doesn’t have any recourse to an unreachable destination </a:t>
            </a:r>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mail server. By having Alice first deposit the e-mail in her own mail server, Alice’s mail server can repeatedly try to send the message to Bob’s mail server, say every 30 minutes, until Bob’s mail server becomes operational. (And if Alice’s mail server is down, then she has the recourse of complaining to her system administrator!) The SMTP RFC defines how the SMTP commands can be used to relay a message across multiple SMTP servers. </a:t>
            </a:r>
            <a:endParaRPr/>
          </a:p>
          <a:p>
            <a:pPr indent="0" lvl="0" marL="0" marR="0" rtl="0" algn="l">
              <a:lnSpc>
                <a:spcPct val="100000"/>
              </a:lnSpc>
              <a:spcBef>
                <a:spcPts val="360"/>
              </a:spcBef>
              <a:spcAft>
                <a:spcPts val="0"/>
              </a:spcAft>
              <a:buClr>
                <a:schemeClr val="dk1"/>
              </a:buClr>
              <a:buSzPts val="1200"/>
              <a:buFont typeface="Calibri"/>
              <a:buNone/>
            </a:pPr>
            <a:r>
              <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But there is still one missing piece to the puzzle! How does a recipient like Bob, running a user agent on his local PC, obtain his messages, which are sitting in a mail server within Bob’s ISP? Note that Bob’s user agent can’t use SMTP to obtain the messages because obtaining the messages is a pull operation, whereas SMTP is a push protocol. The puzzle is completed by introducing a special mail access protocol that transfers messages from Bob’s mail server to his local PC. There are currently a number of popular mail access protocols, including </a:t>
            </a:r>
            <a:r>
              <a:rPr b="1" lang="en-US" sz="1200">
                <a:solidFill>
                  <a:schemeClr val="dk1"/>
                </a:solidFill>
                <a:latin typeface="Times New Roman"/>
                <a:ea typeface="Times New Roman"/>
                <a:cs typeface="Times New Roman"/>
                <a:sym typeface="Times New Roman"/>
              </a:rPr>
              <a:t>Post Office Protocol—Version 3 (POP3), Internet Mail Access Protocol (IMAP)</a:t>
            </a:r>
            <a:r>
              <a:rPr lang="en-US" sz="1200">
                <a:solidFill>
                  <a:schemeClr val="dk1"/>
                </a:solidFill>
                <a:latin typeface="Times New Roman"/>
                <a:ea typeface="Times New Roman"/>
                <a:cs typeface="Times New Roman"/>
                <a:sym typeface="Times New Roman"/>
              </a:rPr>
              <a:t>, and HTTP. </a:t>
            </a:r>
            <a:endParaRPr/>
          </a:p>
          <a:p>
            <a:pPr indent="0" lvl="0" marL="0" marR="0" rtl="0" algn="l">
              <a:lnSpc>
                <a:spcPct val="100000"/>
              </a:lnSpc>
              <a:spcBef>
                <a:spcPts val="360"/>
              </a:spcBef>
              <a:spcAft>
                <a:spcPts val="0"/>
              </a:spcAft>
              <a:buClr>
                <a:schemeClr val="dk1"/>
              </a:buClr>
              <a:buSzPts val="1200"/>
              <a:buFont typeface="Calibri"/>
              <a:buNone/>
            </a:pPr>
            <a:r>
              <a:t/>
            </a:r>
            <a:endParaRPr/>
          </a:p>
          <a:p>
            <a:pPr indent="0" lvl="0" marL="0" rtl="0" algn="l">
              <a:spcBef>
                <a:spcPts val="0"/>
              </a:spcBef>
              <a:spcAft>
                <a:spcPts val="0"/>
              </a:spcAft>
              <a:buNone/>
            </a:pPr>
            <a:r>
              <a:rPr lang="en-US"/>
              <a:t>	</a:t>
            </a:r>
            <a:endParaRPr/>
          </a:p>
        </p:txBody>
      </p:sp>
      <p:sp>
        <p:nvSpPr>
          <p:cNvPr id="5739" name="Google Shape;5739;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7" name="Shape 5747"/>
        <p:cNvGrpSpPr/>
        <p:nvPr/>
      </p:nvGrpSpPr>
      <p:grpSpPr>
        <a:xfrm>
          <a:off x="0" y="0"/>
          <a:ext cx="0" cy="0"/>
          <a:chOff x="0" y="0"/>
          <a:chExt cx="0" cy="0"/>
        </a:xfrm>
      </p:grpSpPr>
      <p:sp>
        <p:nvSpPr>
          <p:cNvPr id="5748" name="Google Shape;5748;p7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49" name="Google Shape;5749;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0" name="Google Shape;5750;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3" name="Shape 5763"/>
        <p:cNvGrpSpPr/>
        <p:nvPr/>
      </p:nvGrpSpPr>
      <p:grpSpPr>
        <a:xfrm>
          <a:off x="0" y="0"/>
          <a:ext cx="0" cy="0"/>
          <a:chOff x="0" y="0"/>
          <a:chExt cx="0" cy="0"/>
        </a:xfrm>
      </p:grpSpPr>
      <p:sp>
        <p:nvSpPr>
          <p:cNvPr id="5764" name="Google Shape;5764;p7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5" name="Google Shape;5765;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6" name="Google Shape;5766;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4" name="Shape 5774"/>
        <p:cNvGrpSpPr/>
        <p:nvPr/>
      </p:nvGrpSpPr>
      <p:grpSpPr>
        <a:xfrm>
          <a:off x="0" y="0"/>
          <a:ext cx="0" cy="0"/>
          <a:chOff x="0" y="0"/>
          <a:chExt cx="0" cy="0"/>
        </a:xfrm>
      </p:grpSpPr>
      <p:sp>
        <p:nvSpPr>
          <p:cNvPr id="5775" name="Google Shape;5775;p7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76" name="Google Shape;5776;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7" name="Google Shape;5777;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6" name="Shape 5786"/>
        <p:cNvGrpSpPr/>
        <p:nvPr/>
      </p:nvGrpSpPr>
      <p:grpSpPr>
        <a:xfrm>
          <a:off x="0" y="0"/>
          <a:ext cx="0" cy="0"/>
          <a:chOff x="0" y="0"/>
          <a:chExt cx="0" cy="0"/>
        </a:xfrm>
      </p:grpSpPr>
      <p:sp>
        <p:nvSpPr>
          <p:cNvPr id="5787" name="Google Shape;5787;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8" name="Google Shape;5788;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9" name="Google Shape;5789;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6" name="Shape 5796"/>
        <p:cNvGrpSpPr/>
        <p:nvPr/>
      </p:nvGrpSpPr>
      <p:grpSpPr>
        <a:xfrm>
          <a:off x="0" y="0"/>
          <a:ext cx="0" cy="0"/>
          <a:chOff x="0" y="0"/>
          <a:chExt cx="0" cy="0"/>
        </a:xfrm>
      </p:grpSpPr>
      <p:sp>
        <p:nvSpPr>
          <p:cNvPr id="5797" name="Google Shape;5797;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8" name="Google Shape;5798;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9" name="Google Shape;5799;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5" name="Shape 5805"/>
        <p:cNvGrpSpPr/>
        <p:nvPr/>
      </p:nvGrpSpPr>
      <p:grpSpPr>
        <a:xfrm>
          <a:off x="0" y="0"/>
          <a:ext cx="0" cy="0"/>
          <a:chOff x="0" y="0"/>
          <a:chExt cx="0" cy="0"/>
        </a:xfrm>
      </p:grpSpPr>
      <p:sp>
        <p:nvSpPr>
          <p:cNvPr id="5806" name="Google Shape;5806;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7" name="Google Shape;5807;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imes New Roman"/>
              <a:buNone/>
            </a:pPr>
            <a:r>
              <a:rPr b="1" lang="en-US" sz="1200">
                <a:solidFill>
                  <a:schemeClr val="dk1"/>
                </a:solidFill>
                <a:latin typeface="Times New Roman"/>
                <a:ea typeface="Times New Roman"/>
                <a:cs typeface="Times New Roman"/>
                <a:sym typeface="Times New Roman"/>
              </a:rPr>
              <a:t>Host aliasing. </a:t>
            </a:r>
            <a:r>
              <a:rPr lang="en-US" sz="1200">
                <a:solidFill>
                  <a:schemeClr val="dk1"/>
                </a:solidFill>
                <a:latin typeface="Times New Roman"/>
                <a:ea typeface="Times New Roman"/>
                <a:cs typeface="Times New Roman"/>
                <a:sym typeface="Times New Roman"/>
              </a:rPr>
              <a:t>A host with a complicated hostname can have one or more alias names. For example, a hostname such as relay1.west-coast .enterprise.com could have, say, two aliases such as enterprise.com and www.enterprise.com. In this case, the hostname relay1 .west-coast.enterprise.com is said to be a </a:t>
            </a:r>
            <a:r>
              <a:rPr b="1" lang="en-US" sz="1200">
                <a:solidFill>
                  <a:schemeClr val="dk1"/>
                </a:solidFill>
                <a:latin typeface="Times New Roman"/>
                <a:ea typeface="Times New Roman"/>
                <a:cs typeface="Times New Roman"/>
                <a:sym typeface="Times New Roman"/>
              </a:rPr>
              <a:t>canonical hostname</a:t>
            </a:r>
            <a:r>
              <a:rPr lang="en-US" sz="1200">
                <a:solidFill>
                  <a:schemeClr val="dk1"/>
                </a:solidFill>
                <a:latin typeface="Times New Roman"/>
                <a:ea typeface="Times New Roman"/>
                <a:cs typeface="Times New Roman"/>
                <a:sym typeface="Times New Roman"/>
              </a:rPr>
              <a:t>. Alias hostnames, when present, are typically more mnemonic than canonical host- names. DNS can be invoked by an application to obtain the canonical hostname for a supplied alias hostname as well as the IP address of the host. </a:t>
            </a:r>
            <a:endParaRPr/>
          </a:p>
          <a:p>
            <a:pPr indent="0" lvl="0" marL="0" marR="0" rtl="0" algn="l">
              <a:lnSpc>
                <a:spcPct val="100000"/>
              </a:lnSpc>
              <a:spcBef>
                <a:spcPts val="360"/>
              </a:spcBef>
              <a:spcAft>
                <a:spcPts val="0"/>
              </a:spcAft>
              <a:buClr>
                <a:schemeClr val="dk1"/>
              </a:buClr>
              <a:buSzPts val="1200"/>
              <a:buFont typeface="Calibri"/>
              <a:buNone/>
            </a:pPr>
            <a:r>
              <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chemeClr val="dk1"/>
              </a:buClr>
              <a:buSzPts val="1200"/>
              <a:buFont typeface="Times New Roman"/>
              <a:buNone/>
            </a:pPr>
            <a:r>
              <a:rPr b="1" lang="en-US" sz="1200">
                <a:solidFill>
                  <a:schemeClr val="dk1"/>
                </a:solidFill>
                <a:latin typeface="Times New Roman"/>
                <a:ea typeface="Times New Roman"/>
                <a:cs typeface="Times New Roman"/>
                <a:sym typeface="Times New Roman"/>
              </a:rPr>
              <a:t>Mail server aliasing. </a:t>
            </a:r>
            <a:r>
              <a:rPr lang="en-US" sz="1200">
                <a:solidFill>
                  <a:schemeClr val="dk1"/>
                </a:solidFill>
                <a:latin typeface="Times New Roman"/>
                <a:ea typeface="Times New Roman"/>
                <a:cs typeface="Times New Roman"/>
                <a:sym typeface="Times New Roman"/>
              </a:rPr>
              <a:t>For obvious reasons, it is highly desirable that e-mail addresses be mnemonic. For example, if Bob has an account with Yahoo Mail, Bob’s e-mail address might be as simple as bob@yahoo.mail. However, the hostname of the Yahoo mail server is more complicated and much less mnemonic than simply yahoo.com (for example, the canonical hostname might be some- thing like relay1.west-coast.yahoo.com). DNS can be invoked by a mail application to obtain the canonical hostname for a supplied alias hostname as well as the IP address of the host. In fact, the MX record (see below) permits a company’s mail server and Web server to have identical (aliased) hostnames; for example, a company’s Web server and mail server can both be called enter- prise.com. </a:t>
            </a:r>
            <a:endParaRPr/>
          </a:p>
          <a:p>
            <a:pPr indent="0" lvl="0" marL="0" marR="0" rtl="0" algn="l">
              <a:lnSpc>
                <a:spcPct val="100000"/>
              </a:lnSpc>
              <a:spcBef>
                <a:spcPts val="360"/>
              </a:spcBef>
              <a:spcAft>
                <a:spcPts val="0"/>
              </a:spcAft>
              <a:buClr>
                <a:schemeClr val="dk1"/>
              </a:buClr>
              <a:buSzPts val="1200"/>
              <a:buFont typeface="Calibri"/>
              <a:buNone/>
            </a:pPr>
            <a:r>
              <a:t/>
            </a:r>
            <a:endParaRPr/>
          </a:p>
          <a:p>
            <a:pPr indent="0" lvl="0" marL="0" marR="0" rtl="0" algn="l">
              <a:lnSpc>
                <a:spcPct val="100000"/>
              </a:lnSpc>
              <a:spcBef>
                <a:spcPts val="360"/>
              </a:spcBef>
              <a:spcAft>
                <a:spcPts val="0"/>
              </a:spcAft>
              <a:buClr>
                <a:schemeClr val="dk1"/>
              </a:buClr>
              <a:buSzPts val="1200"/>
              <a:buFont typeface="Times New Roman"/>
              <a:buNone/>
            </a:pPr>
            <a:r>
              <a:rPr b="1" lang="en-US" sz="1200">
                <a:solidFill>
                  <a:schemeClr val="dk1"/>
                </a:solidFill>
                <a:latin typeface="Times New Roman"/>
                <a:ea typeface="Times New Roman"/>
                <a:cs typeface="Times New Roman"/>
                <a:sym typeface="Times New Roman"/>
              </a:rPr>
              <a:t>Load distribution. </a:t>
            </a:r>
            <a:r>
              <a:rPr lang="en-US" sz="1200">
                <a:solidFill>
                  <a:schemeClr val="dk1"/>
                </a:solidFill>
                <a:latin typeface="Times New Roman"/>
                <a:ea typeface="Times New Roman"/>
                <a:cs typeface="Times New Roman"/>
                <a:sym typeface="Times New Roman"/>
              </a:rPr>
              <a:t>DNS is also used to perform load distribution among repli- cated servers, such as replicated Web servers. Busy sites, such as cnn.com, are replicated over multiple servers, with each server running on a different end system and each having a different IP address. For replicated Web servers, a </a:t>
            </a:r>
            <a:r>
              <a:rPr i="1" lang="en-US" sz="1200">
                <a:solidFill>
                  <a:schemeClr val="dk1"/>
                </a:solidFill>
                <a:latin typeface="Times New Roman"/>
                <a:ea typeface="Times New Roman"/>
                <a:cs typeface="Times New Roman"/>
                <a:sym typeface="Times New Roman"/>
              </a:rPr>
              <a:t>set </a:t>
            </a:r>
            <a:r>
              <a:rPr lang="en-US" sz="1200">
                <a:solidFill>
                  <a:schemeClr val="dk1"/>
                </a:solidFill>
                <a:latin typeface="Times New Roman"/>
                <a:ea typeface="Times New Roman"/>
                <a:cs typeface="Times New Roman"/>
                <a:sym typeface="Times New Roman"/>
              </a:rPr>
              <a:t>of IP addresses is thus associated with one canonical hostname. The DNS database con- tains this set of IP addresses. When clients make a DNS query for a name mapped to a set of addresses, the server responds with the entire set of IP addresses, but rotates the ordering of the addresses within each reply. Because a client typically sends its HTTP request message to the IP address that is listed first in the set, DNS rotation distributes the traffic among the replicated servers. DNS rotation is also used for e-mail so that multiple mail servers can have the same alias name. Also, content distribution companies such as Akamai have used DNS in more sophisti-cated ways [Dilley 2002] to provide Web content distribution </a:t>
            </a:r>
            <a:endParaRPr/>
          </a:p>
          <a:p>
            <a:pPr indent="0" lvl="0" marL="0" marR="0" rtl="0" algn="l">
              <a:lnSpc>
                <a:spcPct val="100000"/>
              </a:lnSpc>
              <a:spcBef>
                <a:spcPts val="360"/>
              </a:spcBef>
              <a:spcAft>
                <a:spcPts val="0"/>
              </a:spcAft>
              <a:buClr>
                <a:schemeClr val="dk1"/>
              </a:buClr>
              <a:buSzPts val="1200"/>
              <a:buFont typeface="Calibri"/>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808" name="Google Shape;5808;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5" name="Shape 5815"/>
        <p:cNvGrpSpPr/>
        <p:nvPr/>
      </p:nvGrpSpPr>
      <p:grpSpPr>
        <a:xfrm>
          <a:off x="0" y="0"/>
          <a:ext cx="0" cy="0"/>
          <a:chOff x="0" y="0"/>
          <a:chExt cx="0" cy="0"/>
        </a:xfrm>
      </p:grpSpPr>
      <p:sp>
        <p:nvSpPr>
          <p:cNvPr id="5816" name="Google Shape;5816;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7" name="Google Shape;5817;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8" name="Google Shape;5818;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0" name="Shape 5850"/>
        <p:cNvGrpSpPr/>
        <p:nvPr/>
      </p:nvGrpSpPr>
      <p:grpSpPr>
        <a:xfrm>
          <a:off x="0" y="0"/>
          <a:ext cx="0" cy="0"/>
          <a:chOff x="0" y="0"/>
          <a:chExt cx="0" cy="0"/>
        </a:xfrm>
      </p:grpSpPr>
      <p:sp>
        <p:nvSpPr>
          <p:cNvPr id="5851" name="Google Shape;5851;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2" name="Google Shape;5852;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3" name="Google Shape;5853;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0" name="Shape 5860"/>
        <p:cNvGrpSpPr/>
        <p:nvPr/>
      </p:nvGrpSpPr>
      <p:grpSpPr>
        <a:xfrm>
          <a:off x="0" y="0"/>
          <a:ext cx="0" cy="0"/>
          <a:chOff x="0" y="0"/>
          <a:chExt cx="0" cy="0"/>
        </a:xfrm>
      </p:grpSpPr>
      <p:sp>
        <p:nvSpPr>
          <p:cNvPr id="5861" name="Google Shape;5861;p8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62" name="Google Shape;5862;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3" name="Google Shape;5863;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7" name="Shape 5887"/>
        <p:cNvGrpSpPr/>
        <p:nvPr/>
      </p:nvGrpSpPr>
      <p:grpSpPr>
        <a:xfrm>
          <a:off x="0" y="0"/>
          <a:ext cx="0" cy="0"/>
          <a:chOff x="0" y="0"/>
          <a:chExt cx="0" cy="0"/>
        </a:xfrm>
      </p:grpSpPr>
      <p:sp>
        <p:nvSpPr>
          <p:cNvPr id="5888" name="Google Shape;5888;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9" name="Google Shape;5889;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0" name="Google Shape;5890;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5" name="Shape 5895"/>
        <p:cNvGrpSpPr/>
        <p:nvPr/>
      </p:nvGrpSpPr>
      <p:grpSpPr>
        <a:xfrm>
          <a:off x="0" y="0"/>
          <a:ext cx="0" cy="0"/>
          <a:chOff x="0" y="0"/>
          <a:chExt cx="0" cy="0"/>
        </a:xfrm>
      </p:grpSpPr>
      <p:sp>
        <p:nvSpPr>
          <p:cNvPr id="5896" name="Google Shape;5896;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7" name="Google Shape;5897;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8" name="Google Shape;5898;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3" name="Shape 5903"/>
        <p:cNvGrpSpPr/>
        <p:nvPr/>
      </p:nvGrpSpPr>
      <p:grpSpPr>
        <a:xfrm>
          <a:off x="0" y="0"/>
          <a:ext cx="0" cy="0"/>
          <a:chOff x="0" y="0"/>
          <a:chExt cx="0" cy="0"/>
        </a:xfrm>
      </p:grpSpPr>
      <p:sp>
        <p:nvSpPr>
          <p:cNvPr id="5904" name="Google Shape;5904;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5" name="Google Shape;5905;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6" name="Google Shape;5906;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4" name="Shape 6074"/>
        <p:cNvGrpSpPr/>
        <p:nvPr/>
      </p:nvGrpSpPr>
      <p:grpSpPr>
        <a:xfrm>
          <a:off x="0" y="0"/>
          <a:ext cx="0" cy="0"/>
          <a:chOff x="0" y="0"/>
          <a:chExt cx="0" cy="0"/>
        </a:xfrm>
      </p:grpSpPr>
      <p:sp>
        <p:nvSpPr>
          <p:cNvPr id="6075" name="Google Shape;6075;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76" name="Google Shape;6076;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7" name="Google Shape;6077;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5" name="Shape 6245"/>
        <p:cNvGrpSpPr/>
        <p:nvPr/>
      </p:nvGrpSpPr>
      <p:grpSpPr>
        <a:xfrm>
          <a:off x="0" y="0"/>
          <a:ext cx="0" cy="0"/>
          <a:chOff x="0" y="0"/>
          <a:chExt cx="0" cy="0"/>
        </a:xfrm>
      </p:grpSpPr>
      <p:sp>
        <p:nvSpPr>
          <p:cNvPr id="6246" name="Google Shape;6246;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7" name="Google Shape;6247;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8" name="Google Shape;6248;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3" name="Shape 6253"/>
        <p:cNvGrpSpPr/>
        <p:nvPr/>
      </p:nvGrpSpPr>
      <p:grpSpPr>
        <a:xfrm>
          <a:off x="0" y="0"/>
          <a:ext cx="0" cy="0"/>
          <a:chOff x="0" y="0"/>
          <a:chExt cx="0" cy="0"/>
        </a:xfrm>
      </p:grpSpPr>
      <p:sp>
        <p:nvSpPr>
          <p:cNvPr id="6254" name="Google Shape;6254;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5" name="Google Shape;6255;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6" name="Google Shape;6256;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6" name="Shape 6266"/>
        <p:cNvGrpSpPr/>
        <p:nvPr/>
      </p:nvGrpSpPr>
      <p:grpSpPr>
        <a:xfrm>
          <a:off x="0" y="0"/>
          <a:ext cx="0" cy="0"/>
          <a:chOff x="0" y="0"/>
          <a:chExt cx="0" cy="0"/>
        </a:xfrm>
      </p:grpSpPr>
      <p:sp>
        <p:nvSpPr>
          <p:cNvPr id="6267" name="Google Shape;6267;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8" name="Google Shape;6268;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9" name="Google Shape;6269;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5" name="Shape 6305"/>
        <p:cNvGrpSpPr/>
        <p:nvPr/>
      </p:nvGrpSpPr>
      <p:grpSpPr>
        <a:xfrm>
          <a:off x="0" y="0"/>
          <a:ext cx="0" cy="0"/>
          <a:chOff x="0" y="0"/>
          <a:chExt cx="0" cy="0"/>
        </a:xfrm>
      </p:grpSpPr>
      <p:sp>
        <p:nvSpPr>
          <p:cNvPr id="6306" name="Google Shape;6306;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7" name="Google Shape;6307;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8" name="Google Shape;6308;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9" name="Shape 6349"/>
        <p:cNvGrpSpPr/>
        <p:nvPr/>
      </p:nvGrpSpPr>
      <p:grpSpPr>
        <a:xfrm>
          <a:off x="0" y="0"/>
          <a:ext cx="0" cy="0"/>
          <a:chOff x="0" y="0"/>
          <a:chExt cx="0" cy="0"/>
        </a:xfrm>
      </p:grpSpPr>
      <p:sp>
        <p:nvSpPr>
          <p:cNvPr id="6350" name="Google Shape;6350;p8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51" name="Google Shape;6351;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52" name="Google Shape;6352;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0" name="Shape 6360"/>
        <p:cNvGrpSpPr/>
        <p:nvPr/>
      </p:nvGrpSpPr>
      <p:grpSpPr>
        <a:xfrm>
          <a:off x="0" y="0"/>
          <a:ext cx="0" cy="0"/>
          <a:chOff x="0" y="0"/>
          <a:chExt cx="0" cy="0"/>
        </a:xfrm>
      </p:grpSpPr>
      <p:sp>
        <p:nvSpPr>
          <p:cNvPr id="6361" name="Google Shape;6361;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2" name="Google Shape;6362;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3" name="Google Shape;6363;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8" name="Shape 6368"/>
        <p:cNvGrpSpPr/>
        <p:nvPr/>
      </p:nvGrpSpPr>
      <p:grpSpPr>
        <a:xfrm>
          <a:off x="0" y="0"/>
          <a:ext cx="0" cy="0"/>
          <a:chOff x="0" y="0"/>
          <a:chExt cx="0" cy="0"/>
        </a:xfrm>
      </p:grpSpPr>
      <p:sp>
        <p:nvSpPr>
          <p:cNvPr id="6369" name="Google Shape;6369;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0" name="Google Shape;6370;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1" name="Google Shape;6371;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0" name="Shape 6380"/>
        <p:cNvGrpSpPr/>
        <p:nvPr/>
      </p:nvGrpSpPr>
      <p:grpSpPr>
        <a:xfrm>
          <a:off x="0" y="0"/>
          <a:ext cx="0" cy="0"/>
          <a:chOff x="0" y="0"/>
          <a:chExt cx="0" cy="0"/>
        </a:xfrm>
      </p:grpSpPr>
      <p:sp>
        <p:nvSpPr>
          <p:cNvPr id="6381" name="Google Shape;6381;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2" name="Google Shape;6382;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3" name="Google Shape;6383;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0" name="Shape 6390"/>
        <p:cNvGrpSpPr/>
        <p:nvPr/>
      </p:nvGrpSpPr>
      <p:grpSpPr>
        <a:xfrm>
          <a:off x="0" y="0"/>
          <a:ext cx="0" cy="0"/>
          <a:chOff x="0" y="0"/>
          <a:chExt cx="0" cy="0"/>
        </a:xfrm>
      </p:grpSpPr>
      <p:sp>
        <p:nvSpPr>
          <p:cNvPr id="6391" name="Google Shape;6391;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2" name="Google Shape;6392;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3" name="Google Shape;6393;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9" name="Shape 6879"/>
        <p:cNvGrpSpPr/>
        <p:nvPr/>
      </p:nvGrpSpPr>
      <p:grpSpPr>
        <a:xfrm>
          <a:off x="0" y="0"/>
          <a:ext cx="0" cy="0"/>
          <a:chOff x="0" y="0"/>
          <a:chExt cx="0" cy="0"/>
        </a:xfrm>
      </p:grpSpPr>
      <p:sp>
        <p:nvSpPr>
          <p:cNvPr id="6880" name="Google Shape;6880;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1" name="Google Shape;6881;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82" name="Google Shape;6882;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2" name="Shape 6962"/>
        <p:cNvGrpSpPr/>
        <p:nvPr/>
      </p:nvGrpSpPr>
      <p:grpSpPr>
        <a:xfrm>
          <a:off x="0" y="0"/>
          <a:ext cx="0" cy="0"/>
          <a:chOff x="0" y="0"/>
          <a:chExt cx="0" cy="0"/>
        </a:xfrm>
      </p:grpSpPr>
      <p:sp>
        <p:nvSpPr>
          <p:cNvPr id="6963" name="Google Shape;6963;p9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64" name="Google Shape;6964;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65" name="Google Shape;6965;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3" name="Shape 6973"/>
        <p:cNvGrpSpPr/>
        <p:nvPr/>
      </p:nvGrpSpPr>
      <p:grpSpPr>
        <a:xfrm>
          <a:off x="0" y="0"/>
          <a:ext cx="0" cy="0"/>
          <a:chOff x="0" y="0"/>
          <a:chExt cx="0" cy="0"/>
        </a:xfrm>
      </p:grpSpPr>
      <p:sp>
        <p:nvSpPr>
          <p:cNvPr id="6974" name="Google Shape;6974;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5" name="Google Shape;6975;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6" name="Google Shape;6976;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0" name="Shape 7050"/>
        <p:cNvGrpSpPr/>
        <p:nvPr/>
      </p:nvGrpSpPr>
      <p:grpSpPr>
        <a:xfrm>
          <a:off x="0" y="0"/>
          <a:ext cx="0" cy="0"/>
          <a:chOff x="0" y="0"/>
          <a:chExt cx="0" cy="0"/>
        </a:xfrm>
      </p:grpSpPr>
      <p:sp>
        <p:nvSpPr>
          <p:cNvPr id="7051" name="Google Shape;7051;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2" name="Google Shape;7052;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53" name="Google Shape;7053;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1" name="Shape 7131"/>
        <p:cNvGrpSpPr/>
        <p:nvPr/>
      </p:nvGrpSpPr>
      <p:grpSpPr>
        <a:xfrm>
          <a:off x="0" y="0"/>
          <a:ext cx="0" cy="0"/>
          <a:chOff x="0" y="0"/>
          <a:chExt cx="0" cy="0"/>
        </a:xfrm>
      </p:grpSpPr>
      <p:sp>
        <p:nvSpPr>
          <p:cNvPr id="7132" name="Google Shape;7132;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3" name="Google Shape;7133;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34" name="Google Shape;7134;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0" name="Shape 7140"/>
        <p:cNvGrpSpPr/>
        <p:nvPr/>
      </p:nvGrpSpPr>
      <p:grpSpPr>
        <a:xfrm>
          <a:off x="0" y="0"/>
          <a:ext cx="0" cy="0"/>
          <a:chOff x="0" y="0"/>
          <a:chExt cx="0" cy="0"/>
        </a:xfrm>
      </p:grpSpPr>
      <p:sp>
        <p:nvSpPr>
          <p:cNvPr id="7141" name="Google Shape;7141;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42" name="Google Shape;7142;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6" name="Shape 7146"/>
        <p:cNvGrpSpPr/>
        <p:nvPr/>
      </p:nvGrpSpPr>
      <p:grpSpPr>
        <a:xfrm>
          <a:off x="0" y="0"/>
          <a:ext cx="0" cy="0"/>
          <a:chOff x="0" y="0"/>
          <a:chExt cx="0" cy="0"/>
        </a:xfrm>
      </p:grpSpPr>
      <p:sp>
        <p:nvSpPr>
          <p:cNvPr id="7147" name="Google Shape;7147;p10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48" name="Google Shape;7148;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49" name="Google Shape;7149;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8" name="Shape 7158"/>
        <p:cNvGrpSpPr/>
        <p:nvPr/>
      </p:nvGrpSpPr>
      <p:grpSpPr>
        <a:xfrm>
          <a:off x="0" y="0"/>
          <a:ext cx="0" cy="0"/>
          <a:chOff x="0" y="0"/>
          <a:chExt cx="0" cy="0"/>
        </a:xfrm>
      </p:grpSpPr>
      <p:sp>
        <p:nvSpPr>
          <p:cNvPr id="7159" name="Google Shape;7159;p10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60" name="Google Shape;7160;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1" name="Google Shape;7161;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9" name="Shape 7179"/>
        <p:cNvGrpSpPr/>
        <p:nvPr/>
      </p:nvGrpSpPr>
      <p:grpSpPr>
        <a:xfrm>
          <a:off x="0" y="0"/>
          <a:ext cx="0" cy="0"/>
          <a:chOff x="0" y="0"/>
          <a:chExt cx="0" cy="0"/>
        </a:xfrm>
      </p:grpSpPr>
      <p:sp>
        <p:nvSpPr>
          <p:cNvPr id="7180" name="Google Shape;7180;p10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81" name="Google Shape;7181;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82" name="Google Shape;7182;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8" name="Shape 7218"/>
        <p:cNvGrpSpPr/>
        <p:nvPr/>
      </p:nvGrpSpPr>
      <p:grpSpPr>
        <a:xfrm>
          <a:off x="0" y="0"/>
          <a:ext cx="0" cy="0"/>
          <a:chOff x="0" y="0"/>
          <a:chExt cx="0" cy="0"/>
        </a:xfrm>
      </p:grpSpPr>
      <p:sp>
        <p:nvSpPr>
          <p:cNvPr id="7219" name="Google Shape;7219;p10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20" name="Google Shape;7220;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1" name="Google Shape;7221;p1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3" name="Shape 7263"/>
        <p:cNvGrpSpPr/>
        <p:nvPr/>
      </p:nvGrpSpPr>
      <p:grpSpPr>
        <a:xfrm>
          <a:off x="0" y="0"/>
          <a:ext cx="0" cy="0"/>
          <a:chOff x="0" y="0"/>
          <a:chExt cx="0" cy="0"/>
        </a:xfrm>
      </p:grpSpPr>
      <p:sp>
        <p:nvSpPr>
          <p:cNvPr id="7264" name="Google Shape;7264;p10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65" name="Google Shape;7265;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6" name="Google Shape;7266;p1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6" name="Shape 7276"/>
        <p:cNvGrpSpPr/>
        <p:nvPr/>
      </p:nvGrpSpPr>
      <p:grpSpPr>
        <a:xfrm>
          <a:off x="0" y="0"/>
          <a:ext cx="0" cy="0"/>
          <a:chOff x="0" y="0"/>
          <a:chExt cx="0" cy="0"/>
        </a:xfrm>
      </p:grpSpPr>
      <p:sp>
        <p:nvSpPr>
          <p:cNvPr id="7277" name="Google Shape;7277;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8" name="Google Shape;7278;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9" name="Google Shape;7279;p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7" name="Shape 7367"/>
        <p:cNvGrpSpPr/>
        <p:nvPr/>
      </p:nvGrpSpPr>
      <p:grpSpPr>
        <a:xfrm>
          <a:off x="0" y="0"/>
          <a:ext cx="0" cy="0"/>
          <a:chOff x="0" y="0"/>
          <a:chExt cx="0" cy="0"/>
        </a:xfrm>
      </p:grpSpPr>
      <p:sp>
        <p:nvSpPr>
          <p:cNvPr id="7368" name="Google Shape;7368;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9" name="Google Shape;7369;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0" name="Google Shape;7370;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3" name="Shape 7453"/>
        <p:cNvGrpSpPr/>
        <p:nvPr/>
      </p:nvGrpSpPr>
      <p:grpSpPr>
        <a:xfrm>
          <a:off x="0" y="0"/>
          <a:ext cx="0" cy="0"/>
          <a:chOff x="0" y="0"/>
          <a:chExt cx="0" cy="0"/>
        </a:xfrm>
      </p:grpSpPr>
      <p:sp>
        <p:nvSpPr>
          <p:cNvPr id="7454" name="Google Shape;7454;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5" name="Google Shape;7455;p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56" name="Google Shape;7456;p1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2" name="Shape 7462"/>
        <p:cNvGrpSpPr/>
        <p:nvPr/>
      </p:nvGrpSpPr>
      <p:grpSpPr>
        <a:xfrm>
          <a:off x="0" y="0"/>
          <a:ext cx="0" cy="0"/>
          <a:chOff x="0" y="0"/>
          <a:chExt cx="0" cy="0"/>
        </a:xfrm>
      </p:grpSpPr>
      <p:sp>
        <p:nvSpPr>
          <p:cNvPr id="7463" name="Google Shape;7463;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64" name="Google Shape;7464;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65" name="Google Shape;7465;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8" name="Shape 7518"/>
        <p:cNvGrpSpPr/>
        <p:nvPr/>
      </p:nvGrpSpPr>
      <p:grpSpPr>
        <a:xfrm>
          <a:off x="0" y="0"/>
          <a:ext cx="0" cy="0"/>
          <a:chOff x="0" y="0"/>
          <a:chExt cx="0" cy="0"/>
        </a:xfrm>
      </p:grpSpPr>
      <p:sp>
        <p:nvSpPr>
          <p:cNvPr id="7519" name="Google Shape;7519;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0" name="Google Shape;7520;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21" name="Google Shape;7521;p1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8" name="Shape 7528"/>
        <p:cNvGrpSpPr/>
        <p:nvPr/>
      </p:nvGrpSpPr>
      <p:grpSpPr>
        <a:xfrm>
          <a:off x="0" y="0"/>
          <a:ext cx="0" cy="0"/>
          <a:chOff x="0" y="0"/>
          <a:chExt cx="0" cy="0"/>
        </a:xfrm>
      </p:grpSpPr>
      <p:sp>
        <p:nvSpPr>
          <p:cNvPr id="7529" name="Google Shape;7529;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30" name="Google Shape;7530;p1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31" name="Google Shape;7531;p1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3" name="Shape 7543"/>
        <p:cNvGrpSpPr/>
        <p:nvPr/>
      </p:nvGrpSpPr>
      <p:grpSpPr>
        <a:xfrm>
          <a:off x="0" y="0"/>
          <a:ext cx="0" cy="0"/>
          <a:chOff x="0" y="0"/>
          <a:chExt cx="0" cy="0"/>
        </a:xfrm>
      </p:grpSpPr>
      <p:sp>
        <p:nvSpPr>
          <p:cNvPr id="7544" name="Google Shape;7544;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5" name="Google Shape;7545;p1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6" name="Google Shape;7546;p1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3" name="Shape 7563"/>
        <p:cNvGrpSpPr/>
        <p:nvPr/>
      </p:nvGrpSpPr>
      <p:grpSpPr>
        <a:xfrm>
          <a:off x="0" y="0"/>
          <a:ext cx="0" cy="0"/>
          <a:chOff x="0" y="0"/>
          <a:chExt cx="0" cy="0"/>
        </a:xfrm>
      </p:grpSpPr>
      <p:sp>
        <p:nvSpPr>
          <p:cNvPr id="7564" name="Google Shape;7564;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5" name="Google Shape;7565;p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6" name="Google Shape;7566;p1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3" name="Shape 7583"/>
        <p:cNvGrpSpPr/>
        <p:nvPr/>
      </p:nvGrpSpPr>
      <p:grpSpPr>
        <a:xfrm>
          <a:off x="0" y="0"/>
          <a:ext cx="0" cy="0"/>
          <a:chOff x="0" y="0"/>
          <a:chExt cx="0" cy="0"/>
        </a:xfrm>
      </p:grpSpPr>
      <p:sp>
        <p:nvSpPr>
          <p:cNvPr id="7584" name="Google Shape;7584;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5" name="Google Shape;7585;p1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6" name="Google Shape;7586;p1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5" name="Shape 7645"/>
        <p:cNvGrpSpPr/>
        <p:nvPr/>
      </p:nvGrpSpPr>
      <p:grpSpPr>
        <a:xfrm>
          <a:off x="0" y="0"/>
          <a:ext cx="0" cy="0"/>
          <a:chOff x="0" y="0"/>
          <a:chExt cx="0" cy="0"/>
        </a:xfrm>
      </p:grpSpPr>
      <p:sp>
        <p:nvSpPr>
          <p:cNvPr id="7646" name="Google Shape;7646;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47" name="Google Shape;7647;p1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8" name="Google Shape;7648;p1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3" name="Shape 7843"/>
        <p:cNvGrpSpPr/>
        <p:nvPr/>
      </p:nvGrpSpPr>
      <p:grpSpPr>
        <a:xfrm>
          <a:off x="0" y="0"/>
          <a:ext cx="0" cy="0"/>
          <a:chOff x="0" y="0"/>
          <a:chExt cx="0" cy="0"/>
        </a:xfrm>
      </p:grpSpPr>
      <p:sp>
        <p:nvSpPr>
          <p:cNvPr id="7844" name="Google Shape;7844;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5" name="Google Shape;7845;p1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46" name="Google Shape;7846;p1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3" name="Shape 7853"/>
        <p:cNvGrpSpPr/>
        <p:nvPr/>
      </p:nvGrpSpPr>
      <p:grpSpPr>
        <a:xfrm>
          <a:off x="0" y="0"/>
          <a:ext cx="0" cy="0"/>
          <a:chOff x="0" y="0"/>
          <a:chExt cx="0" cy="0"/>
        </a:xfrm>
      </p:grpSpPr>
      <p:sp>
        <p:nvSpPr>
          <p:cNvPr id="7854" name="Google Shape;7854;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5" name="Google Shape;7855;p1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56" name="Google Shape;7856;p1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9" name="Shape 7999"/>
        <p:cNvGrpSpPr/>
        <p:nvPr/>
      </p:nvGrpSpPr>
      <p:grpSpPr>
        <a:xfrm>
          <a:off x="0" y="0"/>
          <a:ext cx="0" cy="0"/>
          <a:chOff x="0" y="0"/>
          <a:chExt cx="0" cy="0"/>
        </a:xfrm>
      </p:grpSpPr>
      <p:sp>
        <p:nvSpPr>
          <p:cNvPr id="8000" name="Google Shape;8000;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01" name="Google Shape;8001;p1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2" name="Google Shape;8002;p1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9" name="Shape 8059"/>
        <p:cNvGrpSpPr/>
        <p:nvPr/>
      </p:nvGrpSpPr>
      <p:grpSpPr>
        <a:xfrm>
          <a:off x="0" y="0"/>
          <a:ext cx="0" cy="0"/>
          <a:chOff x="0" y="0"/>
          <a:chExt cx="0" cy="0"/>
        </a:xfrm>
      </p:grpSpPr>
      <p:sp>
        <p:nvSpPr>
          <p:cNvPr id="8060" name="Google Shape;8060;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1" name="Google Shape;8061;p1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62" name="Google Shape;8062;p1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1" name="Shape 8121"/>
        <p:cNvGrpSpPr/>
        <p:nvPr/>
      </p:nvGrpSpPr>
      <p:grpSpPr>
        <a:xfrm>
          <a:off x="0" y="0"/>
          <a:ext cx="0" cy="0"/>
          <a:chOff x="0" y="0"/>
          <a:chExt cx="0" cy="0"/>
        </a:xfrm>
      </p:grpSpPr>
      <p:sp>
        <p:nvSpPr>
          <p:cNvPr id="8122" name="Google Shape;8122;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23" name="Google Shape;8123;p1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24" name="Google Shape;8124;p1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0" name="Shape 8130"/>
        <p:cNvGrpSpPr/>
        <p:nvPr/>
      </p:nvGrpSpPr>
      <p:grpSpPr>
        <a:xfrm>
          <a:off x="0" y="0"/>
          <a:ext cx="0" cy="0"/>
          <a:chOff x="0" y="0"/>
          <a:chExt cx="0" cy="0"/>
        </a:xfrm>
      </p:grpSpPr>
      <p:sp>
        <p:nvSpPr>
          <p:cNvPr id="8131" name="Google Shape;8131;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2" name="Google Shape;8132;p1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33" name="Google Shape;8133;p1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2" name="Shape 8142"/>
        <p:cNvGrpSpPr/>
        <p:nvPr/>
      </p:nvGrpSpPr>
      <p:grpSpPr>
        <a:xfrm>
          <a:off x="0" y="0"/>
          <a:ext cx="0" cy="0"/>
          <a:chOff x="0" y="0"/>
          <a:chExt cx="0" cy="0"/>
        </a:xfrm>
      </p:grpSpPr>
      <p:sp>
        <p:nvSpPr>
          <p:cNvPr id="8143" name="Google Shape;8143;p121:notes"/>
          <p:cNvSpPr txBox="1"/>
          <p:nvPr/>
        </p:nvSpPr>
        <p:spPr>
          <a:xfrm>
            <a:off x="4144963" y="9121775"/>
            <a:ext cx="3170237" cy="479425"/>
          </a:xfrm>
          <a:prstGeom prst="rect">
            <a:avLst/>
          </a:prstGeom>
          <a:noFill/>
          <a:ln>
            <a:noFill/>
          </a:ln>
        </p:spPr>
        <p:txBody>
          <a:bodyPr anchorCtr="0" anchor="b" bIns="48325" lIns="96625" spcFirstLastPara="1" rIns="96625"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300" u="none" cap="none" strike="noStrike">
              <a:solidFill>
                <a:srgbClr val="000000"/>
              </a:solidFill>
              <a:latin typeface="Times New Roman"/>
              <a:ea typeface="Times New Roman"/>
              <a:cs typeface="Times New Roman"/>
              <a:sym typeface="Times New Roman"/>
            </a:endParaRPr>
          </a:p>
        </p:txBody>
      </p:sp>
      <p:sp>
        <p:nvSpPr>
          <p:cNvPr id="8144" name="Google Shape;8144;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5" name="Google Shape;8145;p1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Akamai: 100,000+ servers in 1000+ clusters in 1000+ networks in 70+ countries serving trillions of requests a day.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many people use Netflix?</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6" name="Shape 8816"/>
        <p:cNvGrpSpPr/>
        <p:nvPr/>
      </p:nvGrpSpPr>
      <p:grpSpPr>
        <a:xfrm>
          <a:off x="0" y="0"/>
          <a:ext cx="0" cy="0"/>
          <a:chOff x="0" y="0"/>
          <a:chExt cx="0" cy="0"/>
        </a:xfrm>
      </p:grpSpPr>
      <p:sp>
        <p:nvSpPr>
          <p:cNvPr id="8817" name="Google Shape;8817;p122:notes"/>
          <p:cNvSpPr txBox="1"/>
          <p:nvPr/>
        </p:nvSpPr>
        <p:spPr>
          <a:xfrm>
            <a:off x="4144963" y="9121775"/>
            <a:ext cx="3170237" cy="479425"/>
          </a:xfrm>
          <a:prstGeom prst="rect">
            <a:avLst/>
          </a:prstGeom>
          <a:noFill/>
          <a:ln>
            <a:noFill/>
          </a:ln>
        </p:spPr>
        <p:txBody>
          <a:bodyPr anchorCtr="0" anchor="b" bIns="48325" lIns="96625" spcFirstLastPara="1" rIns="96625" wrap="square" tIns="48325">
            <a:noAutofit/>
          </a:bodyPr>
          <a:lstStyle/>
          <a:p>
            <a:pPr indent="0" lvl="0" marL="0" marR="0" rtl="0" algn="r">
              <a:spcBef>
                <a:spcPts val="0"/>
              </a:spcBef>
              <a:spcAft>
                <a:spcPts val="0"/>
              </a:spcAft>
              <a:buClr>
                <a:srgbClr val="000000"/>
              </a:buClr>
              <a:buSzPts val="1300"/>
              <a:buFont typeface="Times New Roman"/>
              <a:buNone/>
            </a:pPr>
            <a:fld id="{00000000-1234-1234-1234-123412341234}" type="slidenum">
              <a:rPr lang="en-US" sz="1300">
                <a:solidFill>
                  <a:srgbClr val="000000"/>
                </a:solidFill>
                <a:latin typeface="Times New Roman"/>
                <a:ea typeface="Times New Roman"/>
                <a:cs typeface="Times New Roman"/>
                <a:sym typeface="Times New Roman"/>
              </a:rPr>
              <a:t>‹#›</a:t>
            </a:fld>
            <a:endParaRPr sz="1300">
              <a:solidFill>
                <a:srgbClr val="000000"/>
              </a:solidFill>
              <a:latin typeface="Times New Roman"/>
              <a:ea typeface="Times New Roman"/>
              <a:cs typeface="Times New Roman"/>
              <a:sym typeface="Times New Roman"/>
            </a:endParaRPr>
          </a:p>
        </p:txBody>
      </p:sp>
      <p:sp>
        <p:nvSpPr>
          <p:cNvPr id="8818" name="Google Shape;8818;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19" name="Google Shape;8819;p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peak load: 7million viewers, 2 Tbytes via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6" name="Shape 9846"/>
        <p:cNvGrpSpPr/>
        <p:nvPr/>
      </p:nvGrpSpPr>
      <p:grpSpPr>
        <a:xfrm>
          <a:off x="0" y="0"/>
          <a:ext cx="0" cy="0"/>
          <a:chOff x="0" y="0"/>
          <a:chExt cx="0" cy="0"/>
        </a:xfrm>
      </p:grpSpPr>
      <p:sp>
        <p:nvSpPr>
          <p:cNvPr id="9847" name="Google Shape;9847;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8" name="Google Shape;9848;p1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49" name="Google Shape;9849;p1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0" name="Shape 10060"/>
        <p:cNvGrpSpPr/>
        <p:nvPr/>
      </p:nvGrpSpPr>
      <p:grpSpPr>
        <a:xfrm>
          <a:off x="0" y="0"/>
          <a:ext cx="0" cy="0"/>
          <a:chOff x="0" y="0"/>
          <a:chExt cx="0" cy="0"/>
        </a:xfrm>
      </p:grpSpPr>
      <p:sp>
        <p:nvSpPr>
          <p:cNvPr id="10061" name="Google Shape;10061;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62" name="Google Shape;10062;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63" name="Google Shape;10063;p1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1" name="Shape 10341"/>
        <p:cNvGrpSpPr/>
        <p:nvPr/>
      </p:nvGrpSpPr>
      <p:grpSpPr>
        <a:xfrm>
          <a:off x="0" y="0"/>
          <a:ext cx="0" cy="0"/>
          <a:chOff x="0" y="0"/>
          <a:chExt cx="0" cy="0"/>
        </a:xfrm>
      </p:grpSpPr>
      <p:sp>
        <p:nvSpPr>
          <p:cNvPr id="10342" name="Google Shape;10342;p1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
        <p:nvSpPr>
          <p:cNvPr id="10343" name="Google Shape;10343;p12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44" name="Google Shape;10344;p1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3" name="Shape 10353"/>
        <p:cNvGrpSpPr/>
        <p:nvPr/>
      </p:nvGrpSpPr>
      <p:grpSpPr>
        <a:xfrm>
          <a:off x="0" y="0"/>
          <a:ext cx="0" cy="0"/>
          <a:chOff x="0" y="0"/>
          <a:chExt cx="0" cy="0"/>
        </a:xfrm>
      </p:grpSpPr>
      <p:sp>
        <p:nvSpPr>
          <p:cNvPr id="10354" name="Google Shape;10354;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55" name="Google Shape;10355;p1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56" name="Google Shape;10356;p1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3" name="Shape 10363"/>
        <p:cNvGrpSpPr/>
        <p:nvPr/>
      </p:nvGrpSpPr>
      <p:grpSpPr>
        <a:xfrm>
          <a:off x="0" y="0"/>
          <a:ext cx="0" cy="0"/>
          <a:chOff x="0" y="0"/>
          <a:chExt cx="0" cy="0"/>
        </a:xfrm>
      </p:grpSpPr>
      <p:sp>
        <p:nvSpPr>
          <p:cNvPr id="10364" name="Google Shape;10364;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65" name="Google Shape;10365;p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66" name="Google Shape;10366;p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4" name="Shape 10424"/>
        <p:cNvGrpSpPr/>
        <p:nvPr/>
      </p:nvGrpSpPr>
      <p:grpSpPr>
        <a:xfrm>
          <a:off x="0" y="0"/>
          <a:ext cx="0" cy="0"/>
          <a:chOff x="0" y="0"/>
          <a:chExt cx="0" cy="0"/>
        </a:xfrm>
      </p:grpSpPr>
      <p:sp>
        <p:nvSpPr>
          <p:cNvPr id="10425" name="Google Shape;10425;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26" name="Google Shape;10426;p1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27" name="Google Shape;10427;p1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3" name="Shape 10433"/>
        <p:cNvGrpSpPr/>
        <p:nvPr/>
      </p:nvGrpSpPr>
      <p:grpSpPr>
        <a:xfrm>
          <a:off x="0" y="0"/>
          <a:ext cx="0" cy="0"/>
          <a:chOff x="0" y="0"/>
          <a:chExt cx="0" cy="0"/>
        </a:xfrm>
      </p:grpSpPr>
      <p:sp>
        <p:nvSpPr>
          <p:cNvPr id="10434" name="Google Shape;10434;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35" name="Google Shape;10435;p1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36" name="Google Shape;10436;p1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1" name="Shape 10441"/>
        <p:cNvGrpSpPr/>
        <p:nvPr/>
      </p:nvGrpSpPr>
      <p:grpSpPr>
        <a:xfrm>
          <a:off x="0" y="0"/>
          <a:ext cx="0" cy="0"/>
          <a:chOff x="0" y="0"/>
          <a:chExt cx="0" cy="0"/>
        </a:xfrm>
      </p:grpSpPr>
      <p:sp>
        <p:nvSpPr>
          <p:cNvPr id="10442" name="Google Shape;10442;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43" name="Google Shape;10443;p1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44" name="Google Shape;10444;p1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9" name="Shape 10509"/>
        <p:cNvGrpSpPr/>
        <p:nvPr/>
      </p:nvGrpSpPr>
      <p:grpSpPr>
        <a:xfrm>
          <a:off x="0" y="0"/>
          <a:ext cx="0" cy="0"/>
          <a:chOff x="0" y="0"/>
          <a:chExt cx="0" cy="0"/>
        </a:xfrm>
      </p:grpSpPr>
      <p:sp>
        <p:nvSpPr>
          <p:cNvPr id="10510" name="Google Shape;10510;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11" name="Google Shape;10511;p1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12" name="Google Shape;10512;p1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7" name="Shape 10537"/>
        <p:cNvGrpSpPr/>
        <p:nvPr/>
      </p:nvGrpSpPr>
      <p:grpSpPr>
        <a:xfrm>
          <a:off x="0" y="0"/>
          <a:ext cx="0" cy="0"/>
          <a:chOff x="0" y="0"/>
          <a:chExt cx="0" cy="0"/>
        </a:xfrm>
      </p:grpSpPr>
      <p:sp>
        <p:nvSpPr>
          <p:cNvPr id="10538" name="Google Shape;10538;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39" name="Google Shape;10539;p1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40" name="Google Shape;10540;p1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1" name="Shape 10561"/>
        <p:cNvGrpSpPr/>
        <p:nvPr/>
      </p:nvGrpSpPr>
      <p:grpSpPr>
        <a:xfrm>
          <a:off x="0" y="0"/>
          <a:ext cx="0" cy="0"/>
          <a:chOff x="0" y="0"/>
          <a:chExt cx="0" cy="0"/>
        </a:xfrm>
      </p:grpSpPr>
      <p:sp>
        <p:nvSpPr>
          <p:cNvPr id="10562" name="Google Shape;10562;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63" name="Google Shape;10563;p1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64" name="Google Shape;10564;p1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6" name="Shape 10576"/>
        <p:cNvGrpSpPr/>
        <p:nvPr/>
      </p:nvGrpSpPr>
      <p:grpSpPr>
        <a:xfrm>
          <a:off x="0" y="0"/>
          <a:ext cx="0" cy="0"/>
          <a:chOff x="0" y="0"/>
          <a:chExt cx="0" cy="0"/>
        </a:xfrm>
      </p:grpSpPr>
      <p:sp>
        <p:nvSpPr>
          <p:cNvPr id="10577" name="Google Shape;10577;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78" name="Google Shape;10578;p1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79" name="Google Shape;10579;p1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5" name="Shape 10655"/>
        <p:cNvGrpSpPr/>
        <p:nvPr/>
      </p:nvGrpSpPr>
      <p:grpSpPr>
        <a:xfrm>
          <a:off x="0" y="0"/>
          <a:ext cx="0" cy="0"/>
          <a:chOff x="0" y="0"/>
          <a:chExt cx="0" cy="0"/>
        </a:xfrm>
      </p:grpSpPr>
      <p:sp>
        <p:nvSpPr>
          <p:cNvPr id="10656" name="Google Shape;10656;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57" name="Google Shape;10657;p1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58" name="Google Shape;10658;p1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1" name="Shape 10671"/>
        <p:cNvGrpSpPr/>
        <p:nvPr/>
      </p:nvGrpSpPr>
      <p:grpSpPr>
        <a:xfrm>
          <a:off x="0" y="0"/>
          <a:ext cx="0" cy="0"/>
          <a:chOff x="0" y="0"/>
          <a:chExt cx="0" cy="0"/>
        </a:xfrm>
      </p:grpSpPr>
      <p:sp>
        <p:nvSpPr>
          <p:cNvPr id="10672" name="Google Shape;10672;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73" name="Google Shape;10673;p1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74" name="Google Shape;10674;p1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8" name="Shape 10698"/>
        <p:cNvGrpSpPr/>
        <p:nvPr/>
      </p:nvGrpSpPr>
      <p:grpSpPr>
        <a:xfrm>
          <a:off x="0" y="0"/>
          <a:ext cx="0" cy="0"/>
          <a:chOff x="0" y="0"/>
          <a:chExt cx="0" cy="0"/>
        </a:xfrm>
      </p:grpSpPr>
      <p:sp>
        <p:nvSpPr>
          <p:cNvPr id="10699" name="Google Shape;10699;p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00" name="Google Shape;10700;p1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01" name="Google Shape;10701;p1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8" name="Shape 10708"/>
        <p:cNvGrpSpPr/>
        <p:nvPr/>
      </p:nvGrpSpPr>
      <p:grpSpPr>
        <a:xfrm>
          <a:off x="0" y="0"/>
          <a:ext cx="0" cy="0"/>
          <a:chOff x="0" y="0"/>
          <a:chExt cx="0" cy="0"/>
        </a:xfrm>
      </p:grpSpPr>
      <p:sp>
        <p:nvSpPr>
          <p:cNvPr id="10709" name="Google Shape;10709;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10" name="Google Shape;10710;p1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11" name="Google Shape;10711;p1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8" name="Shape 10718"/>
        <p:cNvGrpSpPr/>
        <p:nvPr/>
      </p:nvGrpSpPr>
      <p:grpSpPr>
        <a:xfrm>
          <a:off x="0" y="0"/>
          <a:ext cx="0" cy="0"/>
          <a:chOff x="0" y="0"/>
          <a:chExt cx="0" cy="0"/>
        </a:xfrm>
      </p:grpSpPr>
      <p:sp>
        <p:nvSpPr>
          <p:cNvPr id="10719" name="Google Shape;10719;p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20" name="Google Shape;10720;p1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7.01 (January 2020)</a:t>
            </a:r>
            <a:endParaRPr/>
          </a:p>
          <a:p>
            <a:pPr indent="-171450" lvl="0" marL="171450" rtl="0" algn="l">
              <a:spcBef>
                <a:spcPts val="0"/>
              </a:spcBef>
              <a:spcAft>
                <a:spcPts val="0"/>
              </a:spcAft>
              <a:buClr>
                <a:schemeClr val="dk1"/>
              </a:buClr>
              <a:buSzPts val="1200"/>
              <a:buFont typeface="Arial"/>
              <a:buChar char="•"/>
            </a:pPr>
            <a:r>
              <a:rPr lang="en-US"/>
              <a:t>All slides reformatted for 16:9 aspect ratio</a:t>
            </a:r>
            <a:endParaRPr/>
          </a:p>
          <a:p>
            <a:pPr indent="-171450" lvl="0" marL="171450" rtl="0" algn="l">
              <a:spcBef>
                <a:spcPts val="0"/>
              </a:spcBef>
              <a:spcAft>
                <a:spcPts val="0"/>
              </a:spcAft>
              <a:buClr>
                <a:schemeClr val="dk1"/>
              </a:buClr>
              <a:buSzPts val="1200"/>
              <a:buFont typeface="Arial"/>
              <a:buChar char="•"/>
            </a:pPr>
            <a:r>
              <a:rPr lang="en-US"/>
              <a:t>Use of Calibri font, rather that Gill Sans MT</a:t>
            </a:r>
            <a:endParaRPr/>
          </a:p>
          <a:p>
            <a:pPr indent="-171450" lvl="0" marL="171450" rtl="0" algn="l">
              <a:spcBef>
                <a:spcPts val="0"/>
              </a:spcBef>
              <a:spcAft>
                <a:spcPts val="0"/>
              </a:spcAft>
              <a:buClr>
                <a:schemeClr val="dk1"/>
              </a:buClr>
              <a:buSzPts val="1200"/>
              <a:buFont typeface="Arial"/>
              <a:buChar char="•"/>
            </a:pPr>
            <a:r>
              <a:rPr lang="en-US"/>
              <a:t>Updated slide content for 2020 link technologies and applications</a:t>
            </a:r>
            <a:endParaRPr/>
          </a:p>
          <a:p>
            <a:pPr indent="-171450" lvl="0" marL="171450" rtl="0" algn="l">
              <a:spcBef>
                <a:spcPts val="0"/>
              </a:spcBef>
              <a:spcAft>
                <a:spcPts val="0"/>
              </a:spcAft>
              <a:buClr>
                <a:schemeClr val="dk1"/>
              </a:buClr>
              <a:buSzPts val="1200"/>
              <a:buFont typeface="Arial"/>
              <a:buChar char="•"/>
            </a:pPr>
            <a:r>
              <a:rPr lang="en-US"/>
              <a:t>Add more animation throughout</a:t>
            </a:r>
            <a:endParaRPr/>
          </a:p>
          <a:p>
            <a:pPr indent="-171450" lvl="0" marL="171450" rtl="0" algn="l">
              <a:spcBef>
                <a:spcPts val="0"/>
              </a:spcBef>
              <a:spcAft>
                <a:spcPts val="0"/>
              </a:spcAft>
              <a:buClr>
                <a:schemeClr val="dk1"/>
              </a:buClr>
              <a:buSzPts val="1200"/>
              <a:buFont typeface="Arial"/>
              <a:buChar char="•"/>
            </a:pPr>
            <a:r>
              <a:rPr lang="en-US"/>
              <a:t>New Master slide </a:t>
            </a:r>
            <a:endParaRPr/>
          </a:p>
        </p:txBody>
      </p:sp>
      <p:sp>
        <p:nvSpPr>
          <p:cNvPr id="10721" name="Google Shape;10721;p1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14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14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4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4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143"/>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14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Text" type="objAndTx">
  <p:cSld name="OBJECT_AND_TEXT">
    <p:spTree>
      <p:nvGrpSpPr>
        <p:cNvPr id="25" name="Shape 25"/>
        <p:cNvGrpSpPr/>
        <p:nvPr/>
      </p:nvGrpSpPr>
      <p:grpSpPr>
        <a:xfrm>
          <a:off x="0" y="0"/>
          <a:ext cx="0" cy="0"/>
          <a:chOff x="0" y="0"/>
          <a:chExt cx="0" cy="0"/>
        </a:xfrm>
      </p:grpSpPr>
      <p:sp>
        <p:nvSpPr>
          <p:cNvPr id="26" name="Google Shape;26;p144"/>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44"/>
          <p:cNvSpPr txBox="1"/>
          <p:nvPr>
            <p:ph idx="1" type="body"/>
          </p:nvPr>
        </p:nvSpPr>
        <p:spPr>
          <a:xfrm>
            <a:off x="711200" y="1600200"/>
            <a:ext cx="5080000" cy="4648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44"/>
          <p:cNvSpPr txBox="1"/>
          <p:nvPr>
            <p:ph idx="2" type="body"/>
          </p:nvPr>
        </p:nvSpPr>
        <p:spPr>
          <a:xfrm>
            <a:off x="5994400" y="1600200"/>
            <a:ext cx="5080000" cy="4648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4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14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1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100">
                <a:solidFill>
                  <a:srgbClr val="7F7F7F"/>
                </a:solidFill>
                <a:latin typeface="Calibri"/>
                <a:ea typeface="Calibri"/>
                <a:cs typeface="Calibri"/>
                <a:sym typeface="Calibri"/>
              </a:defRPr>
            </a:lvl1pPr>
            <a:lvl2pPr indent="0" lvl="1" marL="0" marR="0" algn="r">
              <a:spcBef>
                <a:spcPts val="0"/>
              </a:spcBef>
              <a:buNone/>
              <a:defRPr sz="1100">
                <a:solidFill>
                  <a:srgbClr val="7F7F7F"/>
                </a:solidFill>
                <a:latin typeface="Calibri"/>
                <a:ea typeface="Calibri"/>
                <a:cs typeface="Calibri"/>
                <a:sym typeface="Calibri"/>
              </a:defRPr>
            </a:lvl2pPr>
            <a:lvl3pPr indent="0" lvl="2" marL="0" marR="0" algn="r">
              <a:spcBef>
                <a:spcPts val="0"/>
              </a:spcBef>
              <a:buNone/>
              <a:defRPr sz="1100">
                <a:solidFill>
                  <a:srgbClr val="7F7F7F"/>
                </a:solidFill>
                <a:latin typeface="Calibri"/>
                <a:ea typeface="Calibri"/>
                <a:cs typeface="Calibri"/>
                <a:sym typeface="Calibri"/>
              </a:defRPr>
            </a:lvl3pPr>
            <a:lvl4pPr indent="0" lvl="3" marL="0" marR="0" algn="r">
              <a:spcBef>
                <a:spcPts val="0"/>
              </a:spcBef>
              <a:buNone/>
              <a:defRPr sz="1100">
                <a:solidFill>
                  <a:srgbClr val="7F7F7F"/>
                </a:solidFill>
                <a:latin typeface="Calibri"/>
                <a:ea typeface="Calibri"/>
                <a:cs typeface="Calibri"/>
                <a:sym typeface="Calibri"/>
              </a:defRPr>
            </a:lvl4pPr>
            <a:lvl5pPr indent="0" lvl="4" marL="0" marR="0" algn="r">
              <a:spcBef>
                <a:spcPts val="0"/>
              </a:spcBef>
              <a:buNone/>
              <a:defRPr sz="1100">
                <a:solidFill>
                  <a:srgbClr val="7F7F7F"/>
                </a:solidFill>
                <a:latin typeface="Calibri"/>
                <a:ea typeface="Calibri"/>
                <a:cs typeface="Calibri"/>
                <a:sym typeface="Calibri"/>
              </a:defRPr>
            </a:lvl5pPr>
            <a:lvl6pPr indent="0" lvl="5" marL="0" marR="0" algn="r">
              <a:spcBef>
                <a:spcPts val="0"/>
              </a:spcBef>
              <a:buNone/>
              <a:defRPr sz="1100">
                <a:solidFill>
                  <a:srgbClr val="7F7F7F"/>
                </a:solidFill>
                <a:latin typeface="Calibri"/>
                <a:ea typeface="Calibri"/>
                <a:cs typeface="Calibri"/>
                <a:sym typeface="Calibri"/>
              </a:defRPr>
            </a:lvl6pPr>
            <a:lvl7pPr indent="0" lvl="6" marL="0" marR="0" algn="r">
              <a:spcBef>
                <a:spcPts val="0"/>
              </a:spcBef>
              <a:buNone/>
              <a:defRPr sz="1100">
                <a:solidFill>
                  <a:srgbClr val="7F7F7F"/>
                </a:solidFill>
                <a:latin typeface="Calibri"/>
                <a:ea typeface="Calibri"/>
                <a:cs typeface="Calibri"/>
                <a:sym typeface="Calibri"/>
              </a:defRPr>
            </a:lvl7pPr>
            <a:lvl8pPr indent="0" lvl="7" marL="0" marR="0" algn="r">
              <a:spcBef>
                <a:spcPts val="0"/>
              </a:spcBef>
              <a:buNone/>
              <a:defRPr sz="1100">
                <a:solidFill>
                  <a:srgbClr val="7F7F7F"/>
                </a:solidFill>
                <a:latin typeface="Calibri"/>
                <a:ea typeface="Calibri"/>
                <a:cs typeface="Calibri"/>
                <a:sym typeface="Calibri"/>
              </a:defRPr>
            </a:lvl8pPr>
            <a:lvl9pPr indent="0" lvl="8" marL="0" marR="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2" name="Shape 32"/>
        <p:cNvGrpSpPr/>
        <p:nvPr/>
      </p:nvGrpSpPr>
      <p:grpSpPr>
        <a:xfrm>
          <a:off x="0" y="0"/>
          <a:ext cx="0" cy="0"/>
          <a:chOff x="0" y="0"/>
          <a:chExt cx="0" cy="0"/>
        </a:xfrm>
      </p:grpSpPr>
      <p:sp>
        <p:nvSpPr>
          <p:cNvPr id="33" name="Google Shape;33;p145"/>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45"/>
          <p:cNvSpPr txBox="1"/>
          <p:nvPr>
            <p:ph idx="1" type="body"/>
          </p:nvPr>
        </p:nvSpPr>
        <p:spPr>
          <a:xfrm>
            <a:off x="711200" y="1600200"/>
            <a:ext cx="5080000" cy="4648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45"/>
          <p:cNvSpPr txBox="1"/>
          <p:nvPr>
            <p:ph idx="2" type="body"/>
          </p:nvPr>
        </p:nvSpPr>
        <p:spPr>
          <a:xfrm>
            <a:off x="5994400" y="1600200"/>
            <a:ext cx="5080000" cy="4648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45"/>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14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1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100">
                <a:solidFill>
                  <a:srgbClr val="7F7F7F"/>
                </a:solidFill>
                <a:latin typeface="Calibri"/>
                <a:ea typeface="Calibri"/>
                <a:cs typeface="Calibri"/>
                <a:sym typeface="Calibri"/>
              </a:defRPr>
            </a:lvl1pPr>
            <a:lvl2pPr indent="0" lvl="1" marL="0" marR="0" algn="r">
              <a:spcBef>
                <a:spcPts val="0"/>
              </a:spcBef>
              <a:buNone/>
              <a:defRPr sz="1100">
                <a:solidFill>
                  <a:srgbClr val="7F7F7F"/>
                </a:solidFill>
                <a:latin typeface="Calibri"/>
                <a:ea typeface="Calibri"/>
                <a:cs typeface="Calibri"/>
                <a:sym typeface="Calibri"/>
              </a:defRPr>
            </a:lvl2pPr>
            <a:lvl3pPr indent="0" lvl="2" marL="0" marR="0" algn="r">
              <a:spcBef>
                <a:spcPts val="0"/>
              </a:spcBef>
              <a:buNone/>
              <a:defRPr sz="1100">
                <a:solidFill>
                  <a:srgbClr val="7F7F7F"/>
                </a:solidFill>
                <a:latin typeface="Calibri"/>
                <a:ea typeface="Calibri"/>
                <a:cs typeface="Calibri"/>
                <a:sym typeface="Calibri"/>
              </a:defRPr>
            </a:lvl3pPr>
            <a:lvl4pPr indent="0" lvl="3" marL="0" marR="0" algn="r">
              <a:spcBef>
                <a:spcPts val="0"/>
              </a:spcBef>
              <a:buNone/>
              <a:defRPr sz="1100">
                <a:solidFill>
                  <a:srgbClr val="7F7F7F"/>
                </a:solidFill>
                <a:latin typeface="Calibri"/>
                <a:ea typeface="Calibri"/>
                <a:cs typeface="Calibri"/>
                <a:sym typeface="Calibri"/>
              </a:defRPr>
            </a:lvl4pPr>
            <a:lvl5pPr indent="0" lvl="4" marL="0" marR="0" algn="r">
              <a:spcBef>
                <a:spcPts val="0"/>
              </a:spcBef>
              <a:buNone/>
              <a:defRPr sz="1100">
                <a:solidFill>
                  <a:srgbClr val="7F7F7F"/>
                </a:solidFill>
                <a:latin typeface="Calibri"/>
                <a:ea typeface="Calibri"/>
                <a:cs typeface="Calibri"/>
                <a:sym typeface="Calibri"/>
              </a:defRPr>
            </a:lvl5pPr>
            <a:lvl6pPr indent="0" lvl="5" marL="0" marR="0" algn="r">
              <a:spcBef>
                <a:spcPts val="0"/>
              </a:spcBef>
              <a:buNone/>
              <a:defRPr sz="1100">
                <a:solidFill>
                  <a:srgbClr val="7F7F7F"/>
                </a:solidFill>
                <a:latin typeface="Calibri"/>
                <a:ea typeface="Calibri"/>
                <a:cs typeface="Calibri"/>
                <a:sym typeface="Calibri"/>
              </a:defRPr>
            </a:lvl6pPr>
            <a:lvl7pPr indent="0" lvl="6" marL="0" marR="0" algn="r">
              <a:spcBef>
                <a:spcPts val="0"/>
              </a:spcBef>
              <a:buNone/>
              <a:defRPr sz="1100">
                <a:solidFill>
                  <a:srgbClr val="7F7F7F"/>
                </a:solidFill>
                <a:latin typeface="Calibri"/>
                <a:ea typeface="Calibri"/>
                <a:cs typeface="Calibri"/>
                <a:sym typeface="Calibri"/>
              </a:defRPr>
            </a:lvl7pPr>
            <a:lvl8pPr indent="0" lvl="7" marL="0" marR="0" algn="r">
              <a:spcBef>
                <a:spcPts val="0"/>
              </a:spcBef>
              <a:buNone/>
              <a:defRPr sz="1100">
                <a:solidFill>
                  <a:srgbClr val="7F7F7F"/>
                </a:solidFill>
                <a:latin typeface="Calibri"/>
                <a:ea typeface="Calibri"/>
                <a:cs typeface="Calibri"/>
                <a:sym typeface="Calibri"/>
              </a:defRPr>
            </a:lvl8pPr>
            <a:lvl9pPr indent="0" lvl="8" marL="0" marR="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p146"/>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14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1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100">
                <a:solidFill>
                  <a:srgbClr val="7F7F7F"/>
                </a:solidFill>
                <a:latin typeface="Calibri"/>
                <a:ea typeface="Calibri"/>
                <a:cs typeface="Calibri"/>
                <a:sym typeface="Calibri"/>
              </a:defRPr>
            </a:lvl1pPr>
            <a:lvl2pPr indent="0" lvl="1" marL="0" marR="0" algn="r">
              <a:spcBef>
                <a:spcPts val="0"/>
              </a:spcBef>
              <a:buNone/>
              <a:defRPr sz="1100">
                <a:solidFill>
                  <a:srgbClr val="7F7F7F"/>
                </a:solidFill>
                <a:latin typeface="Calibri"/>
                <a:ea typeface="Calibri"/>
                <a:cs typeface="Calibri"/>
                <a:sym typeface="Calibri"/>
              </a:defRPr>
            </a:lvl2pPr>
            <a:lvl3pPr indent="0" lvl="2" marL="0" marR="0" algn="r">
              <a:spcBef>
                <a:spcPts val="0"/>
              </a:spcBef>
              <a:buNone/>
              <a:defRPr sz="1100">
                <a:solidFill>
                  <a:srgbClr val="7F7F7F"/>
                </a:solidFill>
                <a:latin typeface="Calibri"/>
                <a:ea typeface="Calibri"/>
                <a:cs typeface="Calibri"/>
                <a:sym typeface="Calibri"/>
              </a:defRPr>
            </a:lvl3pPr>
            <a:lvl4pPr indent="0" lvl="3" marL="0" marR="0" algn="r">
              <a:spcBef>
                <a:spcPts val="0"/>
              </a:spcBef>
              <a:buNone/>
              <a:defRPr sz="1100">
                <a:solidFill>
                  <a:srgbClr val="7F7F7F"/>
                </a:solidFill>
                <a:latin typeface="Calibri"/>
                <a:ea typeface="Calibri"/>
                <a:cs typeface="Calibri"/>
                <a:sym typeface="Calibri"/>
              </a:defRPr>
            </a:lvl4pPr>
            <a:lvl5pPr indent="0" lvl="4" marL="0" marR="0" algn="r">
              <a:spcBef>
                <a:spcPts val="0"/>
              </a:spcBef>
              <a:buNone/>
              <a:defRPr sz="1100">
                <a:solidFill>
                  <a:srgbClr val="7F7F7F"/>
                </a:solidFill>
                <a:latin typeface="Calibri"/>
                <a:ea typeface="Calibri"/>
                <a:cs typeface="Calibri"/>
                <a:sym typeface="Calibri"/>
              </a:defRPr>
            </a:lvl5pPr>
            <a:lvl6pPr indent="0" lvl="5" marL="0" marR="0" algn="r">
              <a:spcBef>
                <a:spcPts val="0"/>
              </a:spcBef>
              <a:buNone/>
              <a:defRPr sz="1100">
                <a:solidFill>
                  <a:srgbClr val="7F7F7F"/>
                </a:solidFill>
                <a:latin typeface="Calibri"/>
                <a:ea typeface="Calibri"/>
                <a:cs typeface="Calibri"/>
                <a:sym typeface="Calibri"/>
              </a:defRPr>
            </a:lvl6pPr>
            <a:lvl7pPr indent="0" lvl="6" marL="0" marR="0" algn="r">
              <a:spcBef>
                <a:spcPts val="0"/>
              </a:spcBef>
              <a:buNone/>
              <a:defRPr sz="1100">
                <a:solidFill>
                  <a:srgbClr val="7F7F7F"/>
                </a:solidFill>
                <a:latin typeface="Calibri"/>
                <a:ea typeface="Calibri"/>
                <a:cs typeface="Calibri"/>
                <a:sym typeface="Calibri"/>
              </a:defRPr>
            </a:lvl7pPr>
            <a:lvl8pPr indent="0" lvl="7" marL="0" marR="0" algn="r">
              <a:spcBef>
                <a:spcPts val="0"/>
              </a:spcBef>
              <a:buNone/>
              <a:defRPr sz="1100">
                <a:solidFill>
                  <a:srgbClr val="7F7F7F"/>
                </a:solidFill>
                <a:latin typeface="Calibri"/>
                <a:ea typeface="Calibri"/>
                <a:cs typeface="Calibri"/>
                <a:sym typeface="Calibri"/>
              </a:defRPr>
            </a:lvl8pPr>
            <a:lvl9pPr indent="0" lvl="8" marL="0" marR="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3" name="Shape 43"/>
        <p:cNvGrpSpPr/>
        <p:nvPr/>
      </p:nvGrpSpPr>
      <p:grpSpPr>
        <a:xfrm>
          <a:off x="0" y="0"/>
          <a:ext cx="0" cy="0"/>
          <a:chOff x="0" y="0"/>
          <a:chExt cx="0" cy="0"/>
        </a:xfrm>
      </p:grpSpPr>
      <p:sp>
        <p:nvSpPr>
          <p:cNvPr id="44" name="Google Shape;44;p14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4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6" name="Google Shape;46;p1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400"/>
              <a:buFont typeface="Calibri"/>
              <a:buNone/>
              <a:defRPr b="1" i="0" sz="44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5.png"/><Relationship Id="rId4" Type="http://schemas.openxmlformats.org/officeDocument/2006/relationships/image" Target="../media/image40.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20" Type="http://schemas.openxmlformats.org/officeDocument/2006/relationships/image" Target="../media/image28.png"/><Relationship Id="rId11" Type="http://schemas.openxmlformats.org/officeDocument/2006/relationships/image" Target="../media/image12.png"/><Relationship Id="rId22" Type="http://schemas.openxmlformats.org/officeDocument/2006/relationships/image" Target="../media/image50.png"/><Relationship Id="rId10" Type="http://schemas.openxmlformats.org/officeDocument/2006/relationships/image" Target="../media/image13.png"/><Relationship Id="rId21" Type="http://schemas.openxmlformats.org/officeDocument/2006/relationships/image" Target="../media/image20.png"/><Relationship Id="rId13" Type="http://schemas.openxmlformats.org/officeDocument/2006/relationships/image" Target="../media/image10.png"/><Relationship Id="rId12" Type="http://schemas.openxmlformats.org/officeDocument/2006/relationships/image" Target="../media/image11.png"/><Relationship Id="rId23" Type="http://schemas.openxmlformats.org/officeDocument/2006/relationships/image" Target="../media/image47.png"/><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3.png"/><Relationship Id="rId15" Type="http://schemas.openxmlformats.org/officeDocument/2006/relationships/image" Target="../media/image42.png"/><Relationship Id="rId14" Type="http://schemas.openxmlformats.org/officeDocument/2006/relationships/image" Target="../media/image6.png"/><Relationship Id="rId17" Type="http://schemas.openxmlformats.org/officeDocument/2006/relationships/image" Target="../media/image16.png"/><Relationship Id="rId16" Type="http://schemas.openxmlformats.org/officeDocument/2006/relationships/image" Target="../media/image19.png"/><Relationship Id="rId5" Type="http://schemas.openxmlformats.org/officeDocument/2006/relationships/image" Target="../media/image14.png"/><Relationship Id="rId19" Type="http://schemas.openxmlformats.org/officeDocument/2006/relationships/image" Target="../media/image36.png"/><Relationship Id="rId6" Type="http://schemas.openxmlformats.org/officeDocument/2006/relationships/image" Target="../media/image17.png"/><Relationship Id="rId18" Type="http://schemas.openxmlformats.org/officeDocument/2006/relationships/image" Target="../media/image21.png"/><Relationship Id="rId7" Type="http://schemas.openxmlformats.org/officeDocument/2006/relationships/image" Target="../media/image8.png"/><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5.png"/></Relationships>
</file>

<file path=ppt/slides/_rels/slide8.xml.rels><?xml version="1.0" encoding="UTF-8" standalone="yes"?><Relationships xmlns="http://schemas.openxmlformats.org/package/2006/relationships"><Relationship Id="rId20" Type="http://schemas.openxmlformats.org/officeDocument/2006/relationships/image" Target="../media/image28.png"/><Relationship Id="rId11" Type="http://schemas.openxmlformats.org/officeDocument/2006/relationships/image" Target="../media/image12.png"/><Relationship Id="rId22" Type="http://schemas.openxmlformats.org/officeDocument/2006/relationships/image" Target="../media/image50.png"/><Relationship Id="rId10" Type="http://schemas.openxmlformats.org/officeDocument/2006/relationships/image" Target="../media/image13.png"/><Relationship Id="rId21" Type="http://schemas.openxmlformats.org/officeDocument/2006/relationships/image" Target="../media/image20.png"/><Relationship Id="rId13" Type="http://schemas.openxmlformats.org/officeDocument/2006/relationships/image" Target="../media/image10.png"/><Relationship Id="rId12" Type="http://schemas.openxmlformats.org/officeDocument/2006/relationships/image" Target="../media/image11.png"/><Relationship Id="rId23" Type="http://schemas.openxmlformats.org/officeDocument/2006/relationships/image" Target="../media/image47.png"/><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3.png"/><Relationship Id="rId15" Type="http://schemas.openxmlformats.org/officeDocument/2006/relationships/image" Target="../media/image42.png"/><Relationship Id="rId14" Type="http://schemas.openxmlformats.org/officeDocument/2006/relationships/image" Target="../media/image6.png"/><Relationship Id="rId17" Type="http://schemas.openxmlformats.org/officeDocument/2006/relationships/image" Target="../media/image16.png"/><Relationship Id="rId16" Type="http://schemas.openxmlformats.org/officeDocument/2006/relationships/image" Target="../media/image19.png"/><Relationship Id="rId5" Type="http://schemas.openxmlformats.org/officeDocument/2006/relationships/image" Target="../media/image14.png"/><Relationship Id="rId19" Type="http://schemas.openxmlformats.org/officeDocument/2006/relationships/image" Target="../media/image36.png"/><Relationship Id="rId6" Type="http://schemas.openxmlformats.org/officeDocument/2006/relationships/image" Target="../media/image17.png"/><Relationship Id="rId18" Type="http://schemas.openxmlformats.org/officeDocument/2006/relationships/image" Target="../media/image21.png"/><Relationship Id="rId7" Type="http://schemas.openxmlformats.org/officeDocument/2006/relationships/image" Target="../media/image8.png"/><Relationship Id="rId8"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5.png"/><Relationship Id="rId4" Type="http://schemas.openxmlformats.org/officeDocument/2006/relationships/image" Target="../media/image57.jpg"/><Relationship Id="rId5" Type="http://schemas.openxmlformats.org/officeDocument/2006/relationships/image" Target="../media/image49.png"/><Relationship Id="rId6" Type="http://schemas.openxmlformats.org/officeDocument/2006/relationships/image" Target="../media/image60.png"/><Relationship Id="rId7" Type="http://schemas.openxmlformats.org/officeDocument/2006/relationships/image" Target="../media/image7.png"/></Relationships>
</file>

<file path=ppt/slides/_rels/slide10.xml.rels><?xml version="1.0" encoding="UTF-8" standalone="yes"?><Relationships xmlns="http://schemas.openxmlformats.org/package/2006/relationships"><Relationship Id="rId20" Type="http://schemas.openxmlformats.org/officeDocument/2006/relationships/image" Target="../media/image50.png"/><Relationship Id="rId11" Type="http://schemas.openxmlformats.org/officeDocument/2006/relationships/image" Target="../media/image11.png"/><Relationship Id="rId22" Type="http://schemas.openxmlformats.org/officeDocument/2006/relationships/image" Target="../media/image12.png"/><Relationship Id="rId10" Type="http://schemas.openxmlformats.org/officeDocument/2006/relationships/image" Target="../media/image13.png"/><Relationship Id="rId21" Type="http://schemas.openxmlformats.org/officeDocument/2006/relationships/image" Target="../media/image47.png"/><Relationship Id="rId13" Type="http://schemas.openxmlformats.org/officeDocument/2006/relationships/image" Target="../media/image6.png"/><Relationship Id="rId12" Type="http://schemas.openxmlformats.org/officeDocument/2006/relationships/image" Target="../media/image10.png"/><Relationship Id="rId23" Type="http://schemas.openxmlformats.org/officeDocument/2006/relationships/image" Target="../media/image42.png"/><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3.png"/><Relationship Id="rId15" Type="http://schemas.openxmlformats.org/officeDocument/2006/relationships/image" Target="../media/image16.png"/><Relationship Id="rId14" Type="http://schemas.openxmlformats.org/officeDocument/2006/relationships/image" Target="../media/image19.png"/><Relationship Id="rId17" Type="http://schemas.openxmlformats.org/officeDocument/2006/relationships/image" Target="../media/image36.png"/><Relationship Id="rId16" Type="http://schemas.openxmlformats.org/officeDocument/2006/relationships/image" Target="../media/image21.png"/><Relationship Id="rId5" Type="http://schemas.openxmlformats.org/officeDocument/2006/relationships/image" Target="../media/image14.png"/><Relationship Id="rId19" Type="http://schemas.openxmlformats.org/officeDocument/2006/relationships/image" Target="../media/image20.png"/><Relationship Id="rId6" Type="http://schemas.openxmlformats.org/officeDocument/2006/relationships/image" Target="../media/image17.png"/><Relationship Id="rId18" Type="http://schemas.openxmlformats.org/officeDocument/2006/relationships/image" Target="../media/image28.png"/><Relationship Id="rId7" Type="http://schemas.openxmlformats.org/officeDocument/2006/relationships/image" Target="../media/image8.png"/><Relationship Id="rId8"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4.pn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5.png"/><Relationship Id="rId4" Type="http://schemas.openxmlformats.org/officeDocument/2006/relationships/image" Target="../media/image63.png"/><Relationship Id="rId5"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2.png"/><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5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5.png"/><Relationship Id="rId4" Type="http://schemas.openxmlformats.org/officeDocument/2006/relationships/image" Target="../media/image64.png"/><Relationship Id="rId5"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2.png"/><Relationship Id="rId4" Type="http://schemas.openxmlformats.org/officeDocument/2006/relationships/image" Target="../media/image5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5.png"/><Relationship Id="rId4" Type="http://schemas.openxmlformats.org/officeDocument/2006/relationships/image" Target="../media/image6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35.png"/><Relationship Id="rId4" Type="http://schemas.openxmlformats.org/officeDocument/2006/relationships/image" Target="../media/image6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66.png"/><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image" Target="../media/image35.png"/><Relationship Id="rId4" Type="http://schemas.openxmlformats.org/officeDocument/2006/relationships/image" Target="../media/image6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6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6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6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6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68.png"/><Relationship Id="rId4" Type="http://schemas.openxmlformats.org/officeDocument/2006/relationships/image" Target="../media/image3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5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5.png"/><Relationship Id="rId4" Type="http://schemas.openxmlformats.org/officeDocument/2006/relationships/image" Target="../media/image52.png"/><Relationship Id="rId9" Type="http://schemas.openxmlformats.org/officeDocument/2006/relationships/image" Target="../media/image7.png"/><Relationship Id="rId5" Type="http://schemas.openxmlformats.org/officeDocument/2006/relationships/image" Target="../media/image67.png"/><Relationship Id="rId6" Type="http://schemas.openxmlformats.org/officeDocument/2006/relationships/image" Target="../media/image71.png"/><Relationship Id="rId7" Type="http://schemas.openxmlformats.org/officeDocument/2006/relationships/image" Target="../media/image69.png"/><Relationship Id="rId8" Type="http://schemas.openxmlformats.org/officeDocument/2006/relationships/image" Target="../media/image7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5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5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35.png"/><Relationship Id="rId4" Type="http://schemas.openxmlformats.org/officeDocument/2006/relationships/image" Target="../media/image77.png"/><Relationship Id="rId5" Type="http://schemas.openxmlformats.org/officeDocument/2006/relationships/image" Target="../media/image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5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52.png"/><Relationship Id="rId4" Type="http://schemas.openxmlformats.org/officeDocument/2006/relationships/image" Target="../media/image74.png"/><Relationship Id="rId5" Type="http://schemas.openxmlformats.org/officeDocument/2006/relationships/image" Target="../media/image7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74.png"/><Relationship Id="rId4" Type="http://schemas.openxmlformats.org/officeDocument/2006/relationships/image" Target="../media/image72.png"/><Relationship Id="rId5" Type="http://schemas.openxmlformats.org/officeDocument/2006/relationships/image" Target="../media/image5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35.png"/><Relationship Id="rId4" Type="http://schemas.openxmlformats.org/officeDocument/2006/relationships/image" Target="../media/image76.png"/><Relationship Id="rId5" Type="http://schemas.openxmlformats.org/officeDocument/2006/relationships/image" Target="../media/image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3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3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35.png"/><Relationship Id="rId4" Type="http://schemas.openxmlformats.org/officeDocument/2006/relationships/image" Target="../media/image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7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79.png"/><Relationship Id="rId4" Type="http://schemas.openxmlformats.org/officeDocument/2006/relationships/image" Target="../media/image3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5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5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35.png"/><Relationship Id="rId4" Type="http://schemas.openxmlformats.org/officeDocument/2006/relationships/image" Target="../media/image80.png"/><Relationship Id="rId5" Type="http://schemas.openxmlformats.org/officeDocument/2006/relationships/image" Target="../media/image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1.jpg"/></Relationships>
</file>

<file path=ppt/slides/_rels/slide93.xml.rels><?xml version="1.0" encoding="UTF-8" standalone="yes"?><Relationships xmlns="http://schemas.openxmlformats.org/package/2006/relationships"><Relationship Id="rId20" Type="http://schemas.openxmlformats.org/officeDocument/2006/relationships/image" Target="../media/image50.png"/><Relationship Id="rId11" Type="http://schemas.openxmlformats.org/officeDocument/2006/relationships/image" Target="../media/image11.png"/><Relationship Id="rId22" Type="http://schemas.openxmlformats.org/officeDocument/2006/relationships/image" Target="../media/image12.png"/><Relationship Id="rId10" Type="http://schemas.openxmlformats.org/officeDocument/2006/relationships/image" Target="../media/image13.png"/><Relationship Id="rId21" Type="http://schemas.openxmlformats.org/officeDocument/2006/relationships/image" Target="../media/image47.png"/><Relationship Id="rId13" Type="http://schemas.openxmlformats.org/officeDocument/2006/relationships/image" Target="../media/image6.png"/><Relationship Id="rId12" Type="http://schemas.openxmlformats.org/officeDocument/2006/relationships/image" Target="../media/image10.png"/><Relationship Id="rId23" Type="http://schemas.openxmlformats.org/officeDocument/2006/relationships/image" Target="../media/image42.png"/><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3.png"/><Relationship Id="rId15" Type="http://schemas.openxmlformats.org/officeDocument/2006/relationships/image" Target="../media/image16.png"/><Relationship Id="rId14" Type="http://schemas.openxmlformats.org/officeDocument/2006/relationships/image" Target="../media/image19.png"/><Relationship Id="rId17" Type="http://schemas.openxmlformats.org/officeDocument/2006/relationships/image" Target="../media/image36.png"/><Relationship Id="rId16" Type="http://schemas.openxmlformats.org/officeDocument/2006/relationships/image" Target="../media/image21.png"/><Relationship Id="rId5" Type="http://schemas.openxmlformats.org/officeDocument/2006/relationships/image" Target="../media/image14.png"/><Relationship Id="rId19" Type="http://schemas.openxmlformats.org/officeDocument/2006/relationships/image" Target="../media/image20.png"/><Relationship Id="rId6" Type="http://schemas.openxmlformats.org/officeDocument/2006/relationships/image" Target="../media/image17.png"/><Relationship Id="rId18" Type="http://schemas.openxmlformats.org/officeDocument/2006/relationships/image" Target="../media/image28.png"/><Relationship Id="rId7" Type="http://schemas.openxmlformats.org/officeDocument/2006/relationships/image" Target="../media/image8.png"/><Relationship Id="rId8" Type="http://schemas.openxmlformats.org/officeDocument/2006/relationships/image" Target="../media/image1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5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35.png"/><Relationship Id="rId4" Type="http://schemas.openxmlformats.org/officeDocument/2006/relationships/image" Target="../media/image86.png"/><Relationship Id="rId5" Type="http://schemas.openxmlformats.org/officeDocument/2006/relationships/image" Target="../media/image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5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5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8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8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95.png"/><Relationship Id="rId4" Type="http://schemas.openxmlformats.org/officeDocument/2006/relationships/image" Target="../media/image35.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88.png"/><Relationship Id="rId4" Type="http://schemas.openxmlformats.org/officeDocument/2006/relationships/image" Target="../media/image87.png"/><Relationship Id="rId5" Type="http://schemas.openxmlformats.org/officeDocument/2006/relationships/image" Target="../media/image91.png"/><Relationship Id="rId6" Type="http://schemas.openxmlformats.org/officeDocument/2006/relationships/image" Target="../media/image35.png"/></Relationships>
</file>

<file path=ppt/slides/_rels/slide102.xml.rels><?xml version="1.0" encoding="UTF-8" standalone="yes"?><Relationships xmlns="http://schemas.openxmlformats.org/package/2006/relationships"><Relationship Id="rId10" Type="http://schemas.openxmlformats.org/officeDocument/2006/relationships/image" Target="../media/image91.png"/><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92.png"/><Relationship Id="rId4" Type="http://schemas.openxmlformats.org/officeDocument/2006/relationships/image" Target="../media/image84.png"/><Relationship Id="rId9" Type="http://schemas.openxmlformats.org/officeDocument/2006/relationships/image" Target="../media/image88.png"/><Relationship Id="rId5" Type="http://schemas.openxmlformats.org/officeDocument/2006/relationships/image" Target="../media/image104.png"/><Relationship Id="rId6" Type="http://schemas.openxmlformats.org/officeDocument/2006/relationships/image" Target="../media/image97.png"/><Relationship Id="rId7" Type="http://schemas.openxmlformats.org/officeDocument/2006/relationships/image" Target="../media/image96.png"/><Relationship Id="rId8" Type="http://schemas.openxmlformats.org/officeDocument/2006/relationships/image" Target="../media/image85.png"/></Relationships>
</file>

<file path=ppt/slides/_rels/slide103.xml.rels><?xml version="1.0" encoding="UTF-8" standalone="yes"?><Relationships xmlns="http://schemas.openxmlformats.org/package/2006/relationships"><Relationship Id="rId10" Type="http://schemas.openxmlformats.org/officeDocument/2006/relationships/image" Target="../media/image91.png"/><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92.png"/><Relationship Id="rId4" Type="http://schemas.openxmlformats.org/officeDocument/2006/relationships/image" Target="../media/image84.png"/><Relationship Id="rId9" Type="http://schemas.openxmlformats.org/officeDocument/2006/relationships/image" Target="../media/image110.png"/><Relationship Id="rId5" Type="http://schemas.openxmlformats.org/officeDocument/2006/relationships/image" Target="../media/image104.png"/><Relationship Id="rId6" Type="http://schemas.openxmlformats.org/officeDocument/2006/relationships/image" Target="../media/image87.png"/><Relationship Id="rId7" Type="http://schemas.openxmlformats.org/officeDocument/2006/relationships/image" Target="../media/image102.png"/><Relationship Id="rId8" Type="http://schemas.openxmlformats.org/officeDocument/2006/relationships/image" Target="../media/image11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112.png"/><Relationship Id="rId4" Type="http://schemas.openxmlformats.org/officeDocument/2006/relationships/image" Target="../media/image3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74.png"/><Relationship Id="rId4" Type="http://schemas.openxmlformats.org/officeDocument/2006/relationships/image" Target="../media/image52.png"/><Relationship Id="rId5" Type="http://schemas.openxmlformats.org/officeDocument/2006/relationships/image" Target="../media/image9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74.png"/><Relationship Id="rId4" Type="http://schemas.openxmlformats.org/officeDocument/2006/relationships/image" Target="../media/image99.png"/><Relationship Id="rId5" Type="http://schemas.openxmlformats.org/officeDocument/2006/relationships/image" Target="../media/image11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74.png"/><Relationship Id="rId4" Type="http://schemas.openxmlformats.org/officeDocument/2006/relationships/image" Target="../media/image72.png"/><Relationship Id="rId5" Type="http://schemas.openxmlformats.org/officeDocument/2006/relationships/image" Target="../media/image5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103.png"/><Relationship Id="rId4" Type="http://schemas.openxmlformats.org/officeDocument/2006/relationships/image" Target="../media/image101.png"/><Relationship Id="rId5" Type="http://schemas.openxmlformats.org/officeDocument/2006/relationships/image" Target="../media/image107.png"/><Relationship Id="rId6" Type="http://schemas.openxmlformats.org/officeDocument/2006/relationships/image" Target="../media/image109.png"/><Relationship Id="rId7" Type="http://schemas.openxmlformats.org/officeDocument/2006/relationships/image" Target="../media/image12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120.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120.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108.png"/><Relationship Id="rId4" Type="http://schemas.openxmlformats.org/officeDocument/2006/relationships/image" Target="../media/image129.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108.png"/><Relationship Id="rId4" Type="http://schemas.openxmlformats.org/officeDocument/2006/relationships/image" Target="../media/image129.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114.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108.png"/><Relationship Id="rId4" Type="http://schemas.openxmlformats.org/officeDocument/2006/relationships/image" Target="../media/image129.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108.png"/><Relationship Id="rId4" Type="http://schemas.openxmlformats.org/officeDocument/2006/relationships/image" Target="../media/image129.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115.png"/><Relationship Id="rId4" Type="http://schemas.openxmlformats.org/officeDocument/2006/relationships/image" Target="../media/image125.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116.png"/><Relationship Id="rId4" Type="http://schemas.openxmlformats.org/officeDocument/2006/relationships/image" Target="../media/image118.png"/><Relationship Id="rId5" Type="http://schemas.openxmlformats.org/officeDocument/2006/relationships/image" Target="../media/image123.png"/><Relationship Id="rId6" Type="http://schemas.openxmlformats.org/officeDocument/2006/relationships/image" Target="../media/image127.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116.png"/><Relationship Id="rId4" Type="http://schemas.openxmlformats.org/officeDocument/2006/relationships/image" Target="../media/image118.png"/><Relationship Id="rId5" Type="http://schemas.openxmlformats.org/officeDocument/2006/relationships/image" Target="../media/image12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52.png"/><Relationship Id="rId4" Type="http://schemas.openxmlformats.org/officeDocument/2006/relationships/image" Target="../media/image7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52.png"/><Relationship Id="rId4" Type="http://schemas.openxmlformats.org/officeDocument/2006/relationships/image" Target="../media/image7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35.png"/><Relationship Id="rId4" Type="http://schemas.openxmlformats.org/officeDocument/2006/relationships/image" Target="../media/image128.png"/><Relationship Id="rId5" Type="http://schemas.openxmlformats.org/officeDocument/2006/relationships/image" Target="../media/image7.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5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5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5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
          <p:cNvSpPr/>
          <p:nvPr/>
        </p:nvSpPr>
        <p:spPr>
          <a:xfrm>
            <a:off x="1325035" y="561975"/>
            <a:ext cx="5378450" cy="172402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Chapter 2</a:t>
            </a:r>
            <a:br>
              <a:rPr b="1" i="0" lang="en-US" sz="6000" u="none" cap="none" strike="noStrike">
                <a:solidFill>
                  <a:srgbClr val="000099"/>
                </a:solidFill>
                <a:latin typeface="Calibri"/>
                <a:ea typeface="Calibri"/>
                <a:cs typeface="Calibri"/>
                <a:sym typeface="Calibri"/>
              </a:rPr>
            </a:br>
            <a:r>
              <a:rPr b="1" i="0" lang="en-US" sz="5400" u="none" cap="none" strike="noStrike">
                <a:solidFill>
                  <a:srgbClr val="000099"/>
                </a:solidFill>
                <a:latin typeface="Calibri"/>
                <a:ea typeface="Calibri"/>
                <a:cs typeface="Calibri"/>
                <a:sym typeface="Calibri"/>
              </a:rPr>
              <a:t>Application Layer</a:t>
            </a:r>
            <a:endParaRPr/>
          </a:p>
        </p:txBody>
      </p:sp>
      <p:sp>
        <p:nvSpPr>
          <p:cNvPr id="53" name="Google Shape;53;p1"/>
          <p:cNvSpPr txBox="1"/>
          <p:nvPr/>
        </p:nvSpPr>
        <p:spPr>
          <a:xfrm>
            <a:off x="1350014" y="2647662"/>
            <a:ext cx="5378450" cy="16296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 note on the use of these PowerPoint slides:</a:t>
            </a:r>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We’re making these slides freely available to all (faculty, students, readers). They’re in PowerPoint form so you see the animations; and can add, modify, and delete slides  (including this one) and slide content to suit your needs. They obviously represent a </a:t>
            </a:r>
            <a:r>
              <a:rPr b="0" i="1" lang="en-US" sz="1400" u="none" cap="none" strike="noStrike">
                <a:solidFill>
                  <a:schemeClr val="dk1"/>
                </a:solidFill>
                <a:latin typeface="Calibri"/>
                <a:ea typeface="Calibri"/>
                <a:cs typeface="Calibri"/>
                <a:sym typeface="Calibri"/>
              </a:rPr>
              <a:t>lot</a:t>
            </a:r>
            <a:r>
              <a:rPr b="0" i="0" lang="en-US" sz="1400" u="none" cap="none" strike="noStrike">
                <a:solidFill>
                  <a:schemeClr val="dk1"/>
                </a:solidFill>
                <a:latin typeface="Calibri"/>
                <a:ea typeface="Calibri"/>
                <a:cs typeface="Calibri"/>
                <a:sym typeface="Calibri"/>
              </a:rPr>
              <a:t> of work on our part. In return for use, we only ask the following:</a:t>
            </a:r>
            <a:endParaRPr/>
          </a:p>
          <a:p>
            <a:pPr indent="0" lvl="0" marL="0" marR="0" rtl="0" algn="l">
              <a:lnSpc>
                <a:spcPct val="85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54" name="Google Shape;54;p1"/>
          <p:cNvSpPr txBox="1"/>
          <p:nvPr/>
        </p:nvSpPr>
        <p:spPr>
          <a:xfrm>
            <a:off x="1325035" y="3894603"/>
            <a:ext cx="5378450" cy="2636171"/>
          </a:xfrm>
          <a:prstGeom prst="rect">
            <a:avLst/>
          </a:prstGeom>
          <a:noFill/>
          <a:ln>
            <a:noFill/>
          </a:ln>
        </p:spPr>
        <p:txBody>
          <a:bodyPr anchorCtr="0" anchor="t" bIns="45700" lIns="91425" spcFirstLastPara="1" rIns="91425" wrap="square" tIns="45700">
            <a:spAutoFit/>
          </a:bodyPr>
          <a:lstStyle/>
          <a:p>
            <a:pPr indent="-173038" lvl="0" marL="173038" marR="0" rtl="0" algn="l">
              <a:lnSpc>
                <a:spcPct val="85000"/>
              </a:lnSpc>
              <a:spcBef>
                <a:spcPts val="0"/>
              </a:spcBef>
              <a:spcAft>
                <a:spcPts val="0"/>
              </a:spcAft>
              <a:buNone/>
            </a:pPr>
            <a:r>
              <a:t/>
            </a:r>
            <a:endParaRPr b="0" i="0" sz="1400" u="none" cap="none" strike="noStrike">
              <a:solidFill>
                <a:schemeClr val="dk1"/>
              </a:solidFill>
              <a:latin typeface="Gill Sans"/>
              <a:ea typeface="Gill Sans"/>
              <a:cs typeface="Gill Sans"/>
              <a:sym typeface="Gill Sans"/>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use these slides (e.g., in a class) that you mention their source (after all, we’d like people to use our book!)</a:t>
            </a:r>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post any slides on a www site, that you note that they are adapted from (or perhaps identical to) our slides, and note our copyright of this material.</a:t>
            </a:r>
            <a:endParaRPr/>
          </a:p>
          <a:p>
            <a:pPr indent="-173038" lvl="0" marL="173038"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For a revision history, see the slide note for this page. </a:t>
            </a:r>
            <a:endParaRPr/>
          </a:p>
          <a:p>
            <a:pPr indent="0" lvl="0" marL="15875"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Thanks and enjoy!  JFK/KWR</a:t>
            </a:r>
            <a:endParaRPr/>
          </a:p>
          <a:p>
            <a:pPr indent="-173038" lvl="0" marL="173038" marR="0" rtl="0" algn="l">
              <a:lnSpc>
                <a:spcPct val="85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All material copyright 1996-2020</a:t>
            </a:r>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J.F Kurose and K.W. Ross, All Rights Reserved</a:t>
            </a:r>
            <a:endParaRPr b="0" i="0" sz="1200" u="none" cap="none" strike="noStrike">
              <a:solidFill>
                <a:schemeClr val="dk1"/>
              </a:solidFill>
              <a:latin typeface="Calibri"/>
              <a:ea typeface="Calibri"/>
              <a:cs typeface="Calibri"/>
              <a:sym typeface="Calibri"/>
            </a:endParaRPr>
          </a:p>
        </p:txBody>
      </p:sp>
      <p:sp>
        <p:nvSpPr>
          <p:cNvPr id="55" name="Google Shape;55;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56" name="Google Shape;56;p1"/>
          <p:cNvSpPr/>
          <p:nvPr/>
        </p:nvSpPr>
        <p:spPr>
          <a:xfrm>
            <a:off x="7981312" y="4289908"/>
            <a:ext cx="3981504"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1" lang="en-US" sz="2800" u="none" cap="none" strike="noStrike">
                <a:solidFill>
                  <a:srgbClr val="0000A3"/>
                </a:solidFill>
                <a:latin typeface="Calibri"/>
                <a:ea typeface="Calibri"/>
                <a:cs typeface="Calibri"/>
                <a:sym typeface="Calibri"/>
              </a:rPr>
              <a:t>Computer Networking: A Top-Down Approach </a:t>
            </a:r>
            <a:br>
              <a:rPr b="0" i="0" lang="en-US" sz="2800" u="none" cap="none" strike="noStrike">
                <a:solidFill>
                  <a:srgbClr val="008000"/>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8</a:t>
            </a:r>
            <a:r>
              <a:rPr b="0" baseline="30000" i="0" lang="en-US" sz="1800" u="none" cap="none" strike="noStrike">
                <a:solidFill>
                  <a:schemeClr val="dk1"/>
                </a:solidFill>
                <a:latin typeface="Calibri"/>
                <a:ea typeface="Calibri"/>
                <a:cs typeface="Calibri"/>
                <a:sym typeface="Calibri"/>
              </a:rPr>
              <a:t>th</a:t>
            </a:r>
            <a:r>
              <a:rPr b="0" i="0" lang="en-US" sz="1800" u="none" cap="none" strike="noStrike">
                <a:solidFill>
                  <a:schemeClr val="dk1"/>
                </a:solidFill>
                <a:latin typeface="Calibri"/>
                <a:ea typeface="Calibri"/>
                <a:cs typeface="Calibri"/>
                <a:sym typeface="Calibri"/>
              </a:rPr>
              <a:t> edition     n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Jim Kurose, Keith Ross</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Pearson, 2020</a:t>
            </a:r>
            <a:endParaRPr b="0" i="0" sz="2000" u="none" cap="none" strike="noStrike">
              <a:solidFill>
                <a:schemeClr val="dk1"/>
              </a:solidFill>
              <a:latin typeface="Calibri"/>
              <a:ea typeface="Calibri"/>
              <a:cs typeface="Calibri"/>
              <a:sym typeface="Calibri"/>
            </a:endParaRPr>
          </a:p>
        </p:txBody>
      </p:sp>
      <p:pic>
        <p:nvPicPr>
          <p:cNvPr descr="A picture containing outdoor, water, bridge, building&#10;&#10;Description automatically generated" id="57" name="Google Shape;57;p1"/>
          <p:cNvPicPr preferRelativeResize="0"/>
          <p:nvPr/>
        </p:nvPicPr>
        <p:blipFill rotWithShape="1">
          <a:blip r:embed="rId3">
            <a:alphaModFix/>
          </a:blip>
          <a:srcRect b="0" l="0" r="0" t="0"/>
          <a:stretch/>
        </p:blipFill>
        <p:spPr>
          <a:xfrm>
            <a:off x="8135257" y="887185"/>
            <a:ext cx="3040743" cy="38009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Application layer: overview</a:t>
            </a:r>
            <a:endParaRPr sz="4400"/>
          </a:p>
        </p:txBody>
      </p:sp>
      <p:sp>
        <p:nvSpPr>
          <p:cNvPr id="64" name="Google Shape;64;p2"/>
          <p:cNvSpPr txBox="1"/>
          <p:nvPr/>
        </p:nvSpPr>
        <p:spPr>
          <a:xfrm>
            <a:off x="809242" y="1870563"/>
            <a:ext cx="5309184" cy="4351338"/>
          </a:xfrm>
          <a:prstGeom prst="rect">
            <a:avLst/>
          </a:prstGeom>
          <a:noFill/>
          <a:ln>
            <a:noFill/>
          </a:ln>
        </p:spPr>
        <p:txBody>
          <a:bodyPr anchorCtr="0" anchor="t" bIns="45700" lIns="91425" spcFirstLastPara="1" rIns="91425" wrap="square" tIns="45700">
            <a:noAutofit/>
          </a:bodyPr>
          <a:lstStyle/>
          <a:p>
            <a:pPr indent="-401638" lvl="0" marL="40163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C0000"/>
                </a:solidFill>
                <a:latin typeface="Calibri"/>
                <a:ea typeface="Calibri"/>
                <a:cs typeface="Calibri"/>
                <a:sym typeface="Calibri"/>
              </a:rPr>
              <a:t>Principles of network applications</a:t>
            </a:r>
            <a:endParaRPr/>
          </a:p>
          <a:p>
            <a:pPr indent="-401638" lvl="0" marL="40163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Web and HTTP</a:t>
            </a:r>
            <a:endParaRPr/>
          </a:p>
          <a:p>
            <a:pPr indent="-401638" lvl="0" marL="40163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E-mail, SMTP, IMAP</a:t>
            </a:r>
            <a:endParaRPr/>
          </a:p>
          <a:p>
            <a:pPr indent="-401638" lvl="0" marL="40163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The Domain Name System DNS</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chemeClr val="dk1"/>
              </a:solidFill>
              <a:latin typeface="Calibri"/>
              <a:ea typeface="Calibri"/>
              <a:cs typeface="Calibri"/>
              <a:sym typeface="Calibri"/>
            </a:endParaRPr>
          </a:p>
        </p:txBody>
      </p:sp>
      <p:sp>
        <p:nvSpPr>
          <p:cNvPr id="65" name="Google Shape;65;p2"/>
          <p:cNvSpPr txBox="1"/>
          <p:nvPr/>
        </p:nvSpPr>
        <p:spPr>
          <a:xfrm>
            <a:off x="6557554" y="1029493"/>
            <a:ext cx="5405262" cy="4799013"/>
          </a:xfrm>
          <a:prstGeom prst="rect">
            <a:avLst/>
          </a:prstGeom>
          <a:noFill/>
          <a:ln>
            <a:noFill/>
          </a:ln>
        </p:spPr>
        <p:txBody>
          <a:bodyPr anchorCtr="0" anchor="t" bIns="45700" lIns="91425" spcFirstLastPara="1" rIns="91425" wrap="square" tIns="45700">
            <a:normAutofit/>
          </a:bodyPr>
          <a:lstStyle/>
          <a:p>
            <a:pPr indent="-349250" lvl="0" marL="3492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P2P applications</a:t>
            </a:r>
            <a:endParaRPr/>
          </a:p>
          <a:p>
            <a:pPr indent="-349250" lvl="0" marL="3492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video streaming and content distribution networks</a:t>
            </a:r>
            <a:endParaRPr/>
          </a:p>
          <a:p>
            <a:pPr indent="-349250" lvl="0" marL="3492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socket programming with UDP and TCP (Syllabus not covered)</a:t>
            </a:r>
            <a:endParaRPr/>
          </a:p>
          <a:p>
            <a:pPr indent="-2222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chemeClr val="dk1"/>
              </a:solidFill>
              <a:latin typeface="Calibri"/>
              <a:ea typeface="Calibri"/>
              <a:cs typeface="Calibri"/>
              <a:sym typeface="Calibri"/>
            </a:endParaRPr>
          </a:p>
        </p:txBody>
      </p:sp>
      <p:sp>
        <p:nvSpPr>
          <p:cNvPr id="66" name="Google Shape;66;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pic>
        <p:nvPicPr>
          <p:cNvPr descr="Kurose&amp;Ross 8th edition photo" id="67" name="Google Shape;67;p2"/>
          <p:cNvPicPr preferRelativeResize="0"/>
          <p:nvPr/>
        </p:nvPicPr>
        <p:blipFill rotWithShape="1">
          <a:blip r:embed="rId3">
            <a:alphaModFix/>
          </a:blip>
          <a:srcRect b="0" l="0" r="0" t="0"/>
          <a:stretch/>
        </p:blipFill>
        <p:spPr>
          <a:xfrm>
            <a:off x="6957391" y="4125913"/>
            <a:ext cx="3087757" cy="231581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Application </a:t>
            </a:r>
            <a:r>
              <a:rPr lang="en-US"/>
              <a:t>l</a:t>
            </a:r>
            <a:r>
              <a:rPr lang="en-US" sz="4400"/>
              <a:t>ayer: overview</a:t>
            </a:r>
            <a:endParaRPr sz="4400"/>
          </a:p>
        </p:txBody>
      </p:sp>
      <p:sp>
        <p:nvSpPr>
          <p:cNvPr id="74" name="Google Shape;74;p3"/>
          <p:cNvSpPr txBox="1"/>
          <p:nvPr/>
        </p:nvSpPr>
        <p:spPr>
          <a:xfrm>
            <a:off x="747307" y="1406319"/>
            <a:ext cx="5309184" cy="4351338"/>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Our goals: </a:t>
            </a:r>
            <a:endParaRPr/>
          </a:p>
          <a:p>
            <a:pPr indent="-346075"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conceptual </a:t>
            </a:r>
            <a:r>
              <a:rPr b="0" i="1" lang="en-US" sz="3200" u="none" cap="none" strike="noStrike">
                <a:solidFill>
                  <a:schemeClr val="dk1"/>
                </a:solidFill>
                <a:latin typeface="Calibri"/>
                <a:ea typeface="Calibri"/>
                <a:cs typeface="Calibri"/>
                <a:sym typeface="Calibri"/>
              </a:rPr>
              <a:t>and</a:t>
            </a:r>
            <a:r>
              <a:rPr b="0" i="0" lang="en-US" sz="3200" u="none" cap="none" strike="noStrike">
                <a:solidFill>
                  <a:schemeClr val="dk1"/>
                </a:solidFill>
                <a:latin typeface="Calibri"/>
                <a:ea typeface="Calibri"/>
                <a:cs typeface="Calibri"/>
                <a:sym typeface="Calibri"/>
              </a:rPr>
              <a:t> implementation aspects of application-layer protocols</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chemeClr val="dk1"/>
                </a:solidFill>
                <a:latin typeface="Calibri"/>
                <a:ea typeface="Calibri"/>
                <a:cs typeface="Calibri"/>
                <a:sym typeface="Calibri"/>
              </a:rPr>
              <a:t>transport-layer service models</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chemeClr val="dk1"/>
                </a:solidFill>
                <a:latin typeface="Calibri"/>
                <a:ea typeface="Calibri"/>
                <a:cs typeface="Calibri"/>
                <a:sym typeface="Calibri"/>
              </a:rPr>
              <a:t>client-server paradigm</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chemeClr val="dk1"/>
                </a:solidFill>
                <a:latin typeface="Calibri"/>
                <a:ea typeface="Calibri"/>
                <a:cs typeface="Calibri"/>
                <a:sym typeface="Calibri"/>
              </a:rPr>
              <a:t>peer-to-peer paradigm</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chemeClr val="dk1"/>
                </a:solidFill>
                <a:latin typeface="Calibri"/>
                <a:ea typeface="Calibri"/>
                <a:cs typeface="Calibri"/>
                <a:sym typeface="Calibri"/>
              </a:rPr>
              <a:t>content distribution networks</a:t>
            </a:r>
            <a:endParaRPr b="0" i="0" sz="2800" u="none" cap="none" strike="noStrike">
              <a:solidFill>
                <a:schemeClr val="dk1"/>
              </a:solidFill>
              <a:latin typeface="Calibri"/>
              <a:ea typeface="Calibri"/>
              <a:cs typeface="Calibri"/>
              <a:sym typeface="Calibri"/>
            </a:endParaRPr>
          </a:p>
          <a:p>
            <a:pPr indent="0" lvl="0" marL="352425" marR="0" rtl="0" algn="l">
              <a:lnSpc>
                <a:spcPct val="90000"/>
              </a:lnSpc>
              <a:spcBef>
                <a:spcPts val="1000"/>
              </a:spcBef>
              <a:spcAft>
                <a:spcPts val="0"/>
              </a:spcAft>
              <a:buClr>
                <a:srgbClr val="0000A3"/>
              </a:buClr>
              <a:buSzPts val="3600"/>
              <a:buFont typeface="Noto Sans Symbols"/>
              <a:buNone/>
            </a:pPr>
            <a:r>
              <a:t/>
            </a:r>
            <a:endParaRPr b="0" i="0" sz="3600" u="none" cap="none" strike="noStrike">
              <a:solidFill>
                <a:schemeClr val="dk1"/>
              </a:solidFill>
              <a:latin typeface="Calibri"/>
              <a:ea typeface="Calibri"/>
              <a:cs typeface="Calibri"/>
              <a:sym typeface="Calibri"/>
            </a:endParaRPr>
          </a:p>
        </p:txBody>
      </p:sp>
      <p:sp>
        <p:nvSpPr>
          <p:cNvPr id="75" name="Google Shape;75;p3"/>
          <p:cNvSpPr txBox="1"/>
          <p:nvPr/>
        </p:nvSpPr>
        <p:spPr>
          <a:xfrm>
            <a:off x="6516985" y="1399497"/>
            <a:ext cx="5405262" cy="4799013"/>
          </a:xfrm>
          <a:prstGeom prst="rect">
            <a:avLst/>
          </a:prstGeom>
          <a:noFill/>
          <a:ln>
            <a:noFill/>
          </a:ln>
        </p:spPr>
        <p:txBody>
          <a:bodyPr anchorCtr="0" anchor="t" bIns="45700" lIns="91425" spcFirstLastPara="1" rIns="91425" wrap="square" tIns="45700">
            <a:normAutofit/>
          </a:bodyPr>
          <a:lstStyle/>
          <a:p>
            <a:pPr indent="-349250" lvl="0" marL="3492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learn about protocols by examining popular application-layer protocols</a:t>
            </a:r>
            <a:endParaRPr/>
          </a:p>
          <a:p>
            <a:pPr indent="-349250" lvl="1" marL="692150"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HTTP</a:t>
            </a:r>
            <a:endParaRPr/>
          </a:p>
          <a:p>
            <a:pPr indent="-349250" lvl="1" marL="692150"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FTP</a:t>
            </a:r>
            <a:endParaRPr/>
          </a:p>
          <a:p>
            <a:pPr indent="-349250" lvl="1" marL="692150"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SMTP, IMAP, POP3</a:t>
            </a:r>
            <a:endParaRPr/>
          </a:p>
          <a:p>
            <a:pPr indent="-349250" lvl="1" marL="692150"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DNS</a:t>
            </a:r>
            <a:endParaRPr/>
          </a:p>
          <a:p>
            <a:pPr indent="-349250" lvl="0" marL="3492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programming network applications</a:t>
            </a:r>
            <a:endParaRPr/>
          </a:p>
          <a:p>
            <a:pPr indent="-349250" lvl="1" marL="692150"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socket API</a:t>
            </a:r>
            <a:endParaRPr b="0" i="0" sz="2000" u="none" cap="none" strike="noStrike">
              <a:solidFill>
                <a:schemeClr val="dk1"/>
              </a:solidFill>
              <a:latin typeface="Calibri"/>
              <a:ea typeface="Calibri"/>
              <a:cs typeface="Calibri"/>
              <a:sym typeface="Calibri"/>
            </a:endParaRPr>
          </a:p>
        </p:txBody>
      </p:sp>
      <p:sp>
        <p:nvSpPr>
          <p:cNvPr id="76" name="Google Shape;76;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Some </a:t>
            </a:r>
            <a:r>
              <a:rPr lang="en-US"/>
              <a:t>n</a:t>
            </a:r>
            <a:r>
              <a:rPr lang="en-US" sz="4400"/>
              <a:t>etwork apps</a:t>
            </a:r>
            <a:endParaRPr sz="4400"/>
          </a:p>
        </p:txBody>
      </p:sp>
      <p:sp>
        <p:nvSpPr>
          <p:cNvPr id="83" name="Google Shape;83;p4"/>
          <p:cNvSpPr txBox="1"/>
          <p:nvPr/>
        </p:nvSpPr>
        <p:spPr>
          <a:xfrm>
            <a:off x="914400" y="1456928"/>
            <a:ext cx="5309184" cy="4351338"/>
          </a:xfrm>
          <a:prstGeom prst="rect">
            <a:avLst/>
          </a:prstGeom>
          <a:noFill/>
          <a:ln>
            <a:noFill/>
          </a:ln>
        </p:spPr>
        <p:txBody>
          <a:bodyPr anchorCtr="0" anchor="t" bIns="45700" lIns="91425" spcFirstLastPara="1" rIns="91425" wrap="square" tIns="45700">
            <a:noAutofit/>
          </a:bodyPr>
          <a:lstStyle/>
          <a:p>
            <a:pPr indent="-331788" lvl="0" marL="346075" marR="0" rtl="0" algn="l">
              <a:lnSpc>
                <a:spcPct val="90000"/>
              </a:lnSpc>
              <a:spcBef>
                <a:spcPts val="0"/>
              </a:spcBef>
              <a:spcAft>
                <a:spcPts val="0"/>
              </a:spcAft>
              <a:buClr>
                <a:srgbClr val="0000A8"/>
              </a:buClr>
              <a:buSzPts val="3200"/>
              <a:buFont typeface="Noto Sans Symbols"/>
              <a:buChar char="▪"/>
            </a:pPr>
            <a:r>
              <a:rPr b="0" i="0" lang="en-US" sz="3200" u="none" cap="none" strike="noStrike">
                <a:solidFill>
                  <a:schemeClr val="dk1"/>
                </a:solidFill>
                <a:latin typeface="Calibri"/>
                <a:ea typeface="Calibri"/>
                <a:cs typeface="Calibri"/>
                <a:sym typeface="Calibri"/>
              </a:rPr>
              <a:t>social networking</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chemeClr val="dk1"/>
                </a:solidFill>
                <a:latin typeface="Calibri"/>
                <a:ea typeface="Calibri"/>
                <a:cs typeface="Calibri"/>
                <a:sym typeface="Calibri"/>
              </a:rPr>
              <a:t>Web</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chemeClr val="dk1"/>
                </a:solidFill>
                <a:latin typeface="Calibri"/>
                <a:ea typeface="Calibri"/>
                <a:cs typeface="Calibri"/>
                <a:sym typeface="Calibri"/>
              </a:rPr>
              <a:t>text messaging</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chemeClr val="dk1"/>
                </a:solidFill>
                <a:latin typeface="Calibri"/>
                <a:ea typeface="Calibri"/>
                <a:cs typeface="Calibri"/>
                <a:sym typeface="Calibri"/>
              </a:rPr>
              <a:t>e-mail</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chemeClr val="dk1"/>
                </a:solidFill>
                <a:latin typeface="Calibri"/>
                <a:ea typeface="Calibri"/>
                <a:cs typeface="Calibri"/>
                <a:sym typeface="Calibri"/>
              </a:rPr>
              <a:t>multi-user network games</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chemeClr val="dk1"/>
                </a:solidFill>
                <a:latin typeface="Calibri"/>
                <a:ea typeface="Calibri"/>
                <a:cs typeface="Calibri"/>
                <a:sym typeface="Calibri"/>
              </a:rPr>
              <a:t>streaming stored video (YouTube, Hulu, Netflix) </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chemeClr val="dk1"/>
                </a:solidFill>
                <a:latin typeface="Calibri"/>
                <a:ea typeface="Calibri"/>
                <a:cs typeface="Calibri"/>
                <a:sym typeface="Calibri"/>
              </a:rPr>
              <a:t>P2P file sharing</a:t>
            </a:r>
            <a:endParaRPr/>
          </a:p>
          <a:p>
            <a:pPr indent="0" lvl="0" marL="352425" marR="0" rtl="0" algn="l">
              <a:lnSpc>
                <a:spcPct val="90000"/>
              </a:lnSpc>
              <a:spcBef>
                <a:spcPts val="1000"/>
              </a:spcBef>
              <a:spcAft>
                <a:spcPts val="0"/>
              </a:spcAft>
              <a:buClr>
                <a:srgbClr val="0000A3"/>
              </a:buClr>
              <a:buSzPts val="3600"/>
              <a:buFont typeface="Noto Sans Symbols"/>
              <a:buNone/>
            </a:pPr>
            <a:r>
              <a:t/>
            </a:r>
            <a:endParaRPr b="0" i="0" sz="3600" u="none" cap="none" strike="noStrike">
              <a:solidFill>
                <a:schemeClr val="dk1"/>
              </a:solidFill>
              <a:latin typeface="Calibri"/>
              <a:ea typeface="Calibri"/>
              <a:cs typeface="Calibri"/>
              <a:sym typeface="Calibri"/>
            </a:endParaRPr>
          </a:p>
        </p:txBody>
      </p:sp>
      <p:sp>
        <p:nvSpPr>
          <p:cNvPr id="84" name="Google Shape;8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85" name="Google Shape;85;p4"/>
          <p:cNvSpPr txBox="1"/>
          <p:nvPr/>
        </p:nvSpPr>
        <p:spPr>
          <a:xfrm>
            <a:off x="6468101" y="1456928"/>
            <a:ext cx="5309184" cy="4351338"/>
          </a:xfrm>
          <a:prstGeom prst="rect">
            <a:avLst/>
          </a:prstGeom>
          <a:noFill/>
          <a:ln>
            <a:noFill/>
          </a:ln>
        </p:spPr>
        <p:txBody>
          <a:bodyPr anchorCtr="0" anchor="t" bIns="45700" lIns="91425" spcFirstLastPara="1" rIns="91425" wrap="square" tIns="45700">
            <a:noAutofit/>
          </a:bodyPr>
          <a:lstStyle/>
          <a:p>
            <a:pPr indent="-331788" lvl="0" marL="346075" marR="0" rtl="0" algn="l">
              <a:lnSpc>
                <a:spcPct val="90000"/>
              </a:lnSpc>
              <a:spcBef>
                <a:spcPts val="0"/>
              </a:spcBef>
              <a:spcAft>
                <a:spcPts val="0"/>
              </a:spcAft>
              <a:buClr>
                <a:srgbClr val="0000A8"/>
              </a:buClr>
              <a:buSzPts val="3200"/>
              <a:buFont typeface="Noto Sans Symbols"/>
              <a:buChar char="▪"/>
            </a:pPr>
            <a:r>
              <a:rPr b="0" i="0" lang="en-US" sz="3200" u="none" cap="none" strike="noStrike">
                <a:solidFill>
                  <a:schemeClr val="dk1"/>
                </a:solidFill>
                <a:latin typeface="Calibri"/>
                <a:ea typeface="Calibri"/>
                <a:cs typeface="Calibri"/>
                <a:sym typeface="Calibri"/>
              </a:rPr>
              <a:t>voice over IP (e.g., Skype)</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chemeClr val="dk1"/>
                </a:solidFill>
                <a:latin typeface="Calibri"/>
                <a:ea typeface="Calibri"/>
                <a:cs typeface="Calibri"/>
                <a:sym typeface="Calibri"/>
              </a:rPr>
              <a:t>real-time video conferencing</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chemeClr val="dk1"/>
                </a:solidFill>
                <a:latin typeface="Calibri"/>
                <a:ea typeface="Calibri"/>
                <a:cs typeface="Calibri"/>
                <a:sym typeface="Calibri"/>
              </a:rPr>
              <a:t>Internet search</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chemeClr val="dk1"/>
                </a:solidFill>
                <a:latin typeface="Calibri"/>
                <a:ea typeface="Calibri"/>
                <a:cs typeface="Calibri"/>
                <a:sym typeface="Calibri"/>
              </a:rPr>
              <a:t>remote login</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chemeClr val="dk1"/>
                </a:solidFill>
                <a:latin typeface="Calibri"/>
                <a:ea typeface="Calibri"/>
                <a:cs typeface="Calibri"/>
                <a:sym typeface="Calibri"/>
              </a:rPr>
              <a:t>…</a:t>
            </a:r>
            <a:endParaRPr/>
          </a:p>
          <a:p>
            <a:pPr indent="0" lvl="0" marL="14287" marR="0" rtl="0" algn="l">
              <a:lnSpc>
                <a:spcPct val="90000"/>
              </a:lnSpc>
              <a:spcBef>
                <a:spcPts val="1000"/>
              </a:spcBef>
              <a:spcAft>
                <a:spcPts val="0"/>
              </a:spcAft>
              <a:buClr>
                <a:srgbClr val="0000A8"/>
              </a:buClr>
              <a:buSzPts val="3600"/>
              <a:buFont typeface="Noto Sans Symbols"/>
              <a:buNone/>
            </a:pPr>
            <a:r>
              <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5"/>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b="0" i="0" lang="en-US" sz="1200" u="none" cap="none" strike="noStrike">
                <a:solidFill>
                  <a:schemeClr val="dk1"/>
                </a:solidFill>
                <a:latin typeface="Tahoma"/>
                <a:ea typeface="Tahoma"/>
                <a:cs typeface="Tahoma"/>
                <a:sym typeface="Tahoma"/>
              </a:rPr>
              <a:t>Application Layer</a:t>
            </a:r>
            <a:endParaRPr b="0" i="0" sz="1200" u="none" cap="none" strike="noStrike">
              <a:solidFill>
                <a:schemeClr val="dk1"/>
              </a:solidFill>
              <a:latin typeface="Tahoma"/>
              <a:ea typeface="Tahoma"/>
              <a:cs typeface="Tahoma"/>
              <a:sym typeface="Tahoma"/>
            </a:endParaRPr>
          </a:p>
        </p:txBody>
      </p:sp>
      <p:sp>
        <p:nvSpPr>
          <p:cNvPr id="92" name="Google Shape;92;p5"/>
          <p:cNvSpPr txBox="1"/>
          <p:nvPr>
            <p:ph idx="12" type="sldNum"/>
          </p:nvPr>
        </p:nvSpPr>
        <p:spPr>
          <a:xfrm>
            <a:off x="11323639"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0" i="0" lang="en-US" sz="1200" u="none" cap="none" strike="noStrike">
                <a:solidFill>
                  <a:schemeClr val="dk1"/>
                </a:solidFill>
                <a:latin typeface="Tahoma"/>
                <a:ea typeface="Tahoma"/>
                <a:cs typeface="Tahoma"/>
                <a:sym typeface="Tahoma"/>
              </a:rPr>
              <a:t>2-</a:t>
            </a: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pic>
        <p:nvPicPr>
          <p:cNvPr descr="underline_base" id="93" name="Google Shape;93;p5"/>
          <p:cNvPicPr preferRelativeResize="0"/>
          <p:nvPr/>
        </p:nvPicPr>
        <p:blipFill rotWithShape="1">
          <a:blip r:embed="rId3">
            <a:alphaModFix/>
          </a:blip>
          <a:srcRect b="0" l="0" r="0" t="0"/>
          <a:stretch/>
        </p:blipFill>
        <p:spPr>
          <a:xfrm>
            <a:off x="2135188" y="1025525"/>
            <a:ext cx="4570412" cy="173038"/>
          </a:xfrm>
          <a:prstGeom prst="rect">
            <a:avLst/>
          </a:prstGeom>
          <a:noFill/>
          <a:ln>
            <a:noFill/>
          </a:ln>
        </p:spPr>
      </p:pic>
      <p:sp>
        <p:nvSpPr>
          <p:cNvPr id="94" name="Google Shape;94;p5"/>
          <p:cNvSpPr txBox="1"/>
          <p:nvPr>
            <p:ph type="title"/>
          </p:nvPr>
        </p:nvSpPr>
        <p:spPr>
          <a:xfrm>
            <a:off x="2057400" y="195263"/>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Gill Sans"/>
              <a:buNone/>
            </a:pPr>
            <a:r>
              <a:rPr lang="en-US" sz="3200">
                <a:latin typeface="Gill Sans"/>
                <a:ea typeface="Gill Sans"/>
                <a:cs typeface="Gill Sans"/>
                <a:sym typeface="Gill Sans"/>
              </a:rPr>
              <a:t>Confining application software to the end systems </a:t>
            </a:r>
            <a:endParaRPr/>
          </a:p>
        </p:txBody>
      </p:sp>
      <p:pic>
        <p:nvPicPr>
          <p:cNvPr id="95" name="Google Shape;95;p5"/>
          <p:cNvPicPr preferRelativeResize="0"/>
          <p:nvPr/>
        </p:nvPicPr>
        <p:blipFill rotWithShape="1">
          <a:blip r:embed="rId4">
            <a:alphaModFix/>
          </a:blip>
          <a:srcRect b="0" l="0" r="0" t="0"/>
          <a:stretch/>
        </p:blipFill>
        <p:spPr>
          <a:xfrm>
            <a:off x="2684463" y="1225550"/>
            <a:ext cx="4724400" cy="5437188"/>
          </a:xfrm>
          <a:prstGeom prst="rect">
            <a:avLst/>
          </a:prstGeom>
          <a:noFill/>
          <a:ln>
            <a:noFill/>
          </a:ln>
        </p:spPr>
      </p:pic>
      <p:pic>
        <p:nvPicPr>
          <p:cNvPr descr="Puzzle with solid fill" id="96" name="Google Shape;96;p5"/>
          <p:cNvPicPr preferRelativeResize="0"/>
          <p:nvPr>
            <p:ph idx="2" type="body"/>
          </p:nvPr>
        </p:nvPicPr>
        <p:blipFill rotWithShape="1">
          <a:blip r:embed="rId5">
            <a:alphaModFix/>
          </a:blip>
          <a:srcRect b="0" l="0" r="0" t="0"/>
          <a:stretch/>
        </p:blipFill>
        <p:spPr>
          <a:xfrm>
            <a:off x="9328150" y="423864"/>
            <a:ext cx="579438" cy="57943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6"/>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 name="Google Shape;103;p6"/>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4" name="Google Shape;104;p6"/>
          <p:cNvGrpSpPr/>
          <p:nvPr/>
        </p:nvGrpSpPr>
        <p:grpSpPr>
          <a:xfrm>
            <a:off x="7205350" y="3289251"/>
            <a:ext cx="1458912" cy="933450"/>
            <a:chOff x="2889" y="1631"/>
            <a:chExt cx="980" cy="743"/>
          </a:xfrm>
        </p:grpSpPr>
        <p:sp>
          <p:nvSpPr>
            <p:cNvPr id="105" name="Google Shape;105;p6"/>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106" name="Google Shape;106;p6"/>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sz="2400" u="none">
                <a:solidFill>
                  <a:srgbClr val="00CCFF"/>
                </a:solidFill>
                <a:latin typeface="Arial"/>
                <a:ea typeface="Arial"/>
                <a:cs typeface="Arial"/>
                <a:sym typeface="Arial"/>
              </a:endParaRPr>
            </a:p>
          </p:txBody>
        </p:sp>
      </p:grpSp>
      <p:sp>
        <p:nvSpPr>
          <p:cNvPr id="107" name="Google Shape;107;p6"/>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6"/>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lang="en-US" sz="1400" u="none">
                <a:solidFill>
                  <a:schemeClr val="dk1"/>
                </a:solidFill>
                <a:latin typeface="Calibri"/>
                <a:ea typeface="Calibri"/>
                <a:cs typeface="Calibri"/>
                <a:sym typeface="Calibri"/>
              </a:rPr>
              <a:t>mobile network</a:t>
            </a:r>
            <a:endParaRPr/>
          </a:p>
        </p:txBody>
      </p:sp>
      <p:sp>
        <p:nvSpPr>
          <p:cNvPr id="109" name="Google Shape;109;p6"/>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b="0" lang="en-US" sz="1400" u="none">
                <a:solidFill>
                  <a:schemeClr val="dk1"/>
                </a:solidFill>
                <a:latin typeface="Calibri"/>
                <a:ea typeface="Calibri"/>
                <a:cs typeface="Calibri"/>
                <a:sym typeface="Calibri"/>
              </a:rPr>
              <a:t>home network</a:t>
            </a:r>
            <a:endParaRPr/>
          </a:p>
        </p:txBody>
      </p:sp>
      <p:sp>
        <p:nvSpPr>
          <p:cNvPr id="110" name="Google Shape;110;p6"/>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b="0" lang="en-US" sz="1400" u="none">
                <a:solidFill>
                  <a:schemeClr val="dk1"/>
                </a:solidFill>
                <a:latin typeface="Calibri"/>
                <a:ea typeface="Calibri"/>
                <a:cs typeface="Calibri"/>
                <a:sym typeface="Calibri"/>
              </a:rPr>
              <a:t>enterprise</a:t>
            </a:r>
            <a:endParaRPr/>
          </a:p>
          <a:p>
            <a:pPr indent="0" lvl="0" marL="0" marR="0" rtl="0" algn="l">
              <a:lnSpc>
                <a:spcPct val="80000"/>
              </a:lnSpc>
              <a:spcBef>
                <a:spcPts val="0"/>
              </a:spcBef>
              <a:spcAft>
                <a:spcPts val="0"/>
              </a:spcAft>
              <a:buClr>
                <a:schemeClr val="dk1"/>
              </a:buClr>
              <a:buSzPts val="1400"/>
              <a:buFont typeface="Noto Sans Symbols"/>
              <a:buNone/>
            </a:pPr>
            <a:r>
              <a:rPr b="0" lang="en-US" sz="1400" u="none">
                <a:solidFill>
                  <a:schemeClr val="dk1"/>
                </a:solidFill>
                <a:latin typeface="Calibri"/>
                <a:ea typeface="Calibri"/>
                <a:cs typeface="Calibri"/>
                <a:sym typeface="Calibri"/>
              </a:rPr>
              <a:t>          network</a:t>
            </a:r>
            <a:endParaRPr/>
          </a:p>
        </p:txBody>
      </p:sp>
      <p:sp>
        <p:nvSpPr>
          <p:cNvPr id="111" name="Google Shape;111;p6"/>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2" name="Google Shape;112;p6"/>
          <p:cNvGrpSpPr/>
          <p:nvPr/>
        </p:nvGrpSpPr>
        <p:grpSpPr>
          <a:xfrm>
            <a:off x="10837700" y="3928050"/>
            <a:ext cx="687393" cy="721548"/>
            <a:chOff x="5203089" y="1751190"/>
            <a:chExt cx="858331" cy="662414"/>
          </a:xfrm>
        </p:grpSpPr>
        <p:sp>
          <p:nvSpPr>
            <p:cNvPr id="113" name="Google Shape;113;p6"/>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6"/>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15" name="Google Shape;115;p6"/>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16" name="Google Shape;116;p6"/>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17" name="Google Shape;117;p6"/>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18" name="Google Shape;118;p6"/>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19" name="Google Shape;119;p6"/>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20" name="Google Shape;120;p6"/>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21" name="Google Shape;121;p6"/>
          <p:cNvGrpSpPr/>
          <p:nvPr/>
        </p:nvGrpSpPr>
        <p:grpSpPr>
          <a:xfrm>
            <a:off x="10771171" y="3194171"/>
            <a:ext cx="594613" cy="648336"/>
            <a:chOff x="5203089" y="1751190"/>
            <a:chExt cx="858331" cy="662414"/>
          </a:xfrm>
        </p:grpSpPr>
        <p:sp>
          <p:nvSpPr>
            <p:cNvPr id="122" name="Google Shape;122;p6"/>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 name="Google Shape;123;p6"/>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24" name="Google Shape;124;p6"/>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25" name="Google Shape;125;p6"/>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26" name="Google Shape;126;p6"/>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27" name="Google Shape;127;p6"/>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28" name="Google Shape;128;p6"/>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29" name="Google Shape;129;p6"/>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30" name="Google Shape;130;p6"/>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 name="Google Shape;131;p6"/>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a:p>
        </p:txBody>
      </p:sp>
      <p:sp>
        <p:nvSpPr>
          <p:cNvPr id="132" name="Google Shape;132;p6"/>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 name="Google Shape;133;p6"/>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a:p>
        </p:txBody>
      </p:sp>
      <p:sp>
        <p:nvSpPr>
          <p:cNvPr id="134" name="Google Shape;134;p6"/>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a:p>
        </p:txBody>
      </p:sp>
      <p:sp>
        <p:nvSpPr>
          <p:cNvPr id="135" name="Google Shape;135;p6"/>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cxnSp>
        <p:nvCxnSpPr>
          <p:cNvPr id="136" name="Google Shape;136;p6"/>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137" name="Google Shape;137;p6"/>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138" name="Google Shape;138;p6"/>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39" name="Google Shape;139;p6"/>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40" name="Google Shape;140;p6"/>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41" name="Google Shape;141;p6"/>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42" name="Google Shape;142;p6"/>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43" name="Google Shape;143;p6"/>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44" name="Google Shape;144;p6"/>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45" name="Google Shape;145;p6"/>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46" name="Google Shape;146;p6"/>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47" name="Google Shape;147;p6"/>
          <p:cNvGrpSpPr/>
          <p:nvPr/>
        </p:nvGrpSpPr>
        <p:grpSpPr>
          <a:xfrm>
            <a:off x="7562238" y="2127325"/>
            <a:ext cx="3578867" cy="3640284"/>
            <a:chOff x="7562238" y="2127325"/>
            <a:chExt cx="3578867" cy="3640284"/>
          </a:xfrm>
        </p:grpSpPr>
        <p:grpSp>
          <p:nvGrpSpPr>
            <p:cNvPr id="148" name="Google Shape;148;p6"/>
            <p:cNvGrpSpPr/>
            <p:nvPr/>
          </p:nvGrpSpPr>
          <p:grpSpPr>
            <a:xfrm>
              <a:off x="7857253" y="2127325"/>
              <a:ext cx="3283852" cy="3640284"/>
              <a:chOff x="7881336" y="2104198"/>
              <a:chExt cx="3283852" cy="3640284"/>
            </a:xfrm>
          </p:grpSpPr>
          <p:cxnSp>
            <p:nvCxnSpPr>
              <p:cNvPr id="149" name="Google Shape;149;p6"/>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50" name="Google Shape;150;p6"/>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51" name="Google Shape;151;p6"/>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52" name="Google Shape;152;p6"/>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53" name="Google Shape;153;p6"/>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54" name="Google Shape;154;p6"/>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55" name="Google Shape;155;p6"/>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56" name="Google Shape;156;p6"/>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57" name="Google Shape;157;p6"/>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58" name="Google Shape;158;p6"/>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59" name="Google Shape;159;p6"/>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60" name="Google Shape;160;p6"/>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61" name="Google Shape;161;p6"/>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162" name="Google Shape;162;p6"/>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163" name="Google Shape;163;p6"/>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64" name="Google Shape;164;p6"/>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65" name="Google Shape;165;p6"/>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66" name="Google Shape;166;p6"/>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67" name="Google Shape;167;p6"/>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68" name="Google Shape;168;p6"/>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69" name="Google Shape;169;p6"/>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70" name="Google Shape;170;p6"/>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71" name="Google Shape;171;p6"/>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72" name="Google Shape;172;p6"/>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173" name="Google Shape;173;p6"/>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74" name="Google Shape;174;p6"/>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75" name="Google Shape;175;p6"/>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76" name="Google Shape;176;p6"/>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cxnSp>
        <p:nvCxnSpPr>
          <p:cNvPr id="177" name="Google Shape;177;p6"/>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78" name="Google Shape;178;p6"/>
          <p:cNvGrpSpPr/>
          <p:nvPr/>
        </p:nvGrpSpPr>
        <p:grpSpPr>
          <a:xfrm>
            <a:off x="8050698" y="2309376"/>
            <a:ext cx="298450" cy="464008"/>
            <a:chOff x="3130" y="3288"/>
            <a:chExt cx="410" cy="742"/>
          </a:xfrm>
        </p:grpSpPr>
        <p:cxnSp>
          <p:nvCxnSpPr>
            <p:cNvPr id="179" name="Google Shape;179;p6"/>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80" name="Google Shape;180;p6"/>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81" name="Google Shape;181;p6"/>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82" name="Google Shape;182;p6"/>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83" name="Google Shape;183;p6"/>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84" name="Google Shape;184;p6"/>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85" name="Google Shape;185;p6"/>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86" name="Google Shape;186;p6"/>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87" name="Google Shape;187;p6"/>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88" name="Google Shape;188;p6"/>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89" name="Google Shape;189;p6"/>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90" name="Google Shape;190;p6"/>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91" name="Google Shape;191;p6"/>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92" name="Google Shape;192;p6"/>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93" name="Google Shape;193;p6"/>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194" name="Google Shape;194;p6"/>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195" name="Google Shape;195;p6"/>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196" name="Google Shape;196;p6"/>
          <p:cNvGrpSpPr/>
          <p:nvPr/>
        </p:nvGrpSpPr>
        <p:grpSpPr>
          <a:xfrm>
            <a:off x="9783558" y="4989983"/>
            <a:ext cx="393760" cy="218578"/>
            <a:chOff x="7493876" y="2774731"/>
            <a:chExt cx="1481958" cy="894622"/>
          </a:xfrm>
        </p:grpSpPr>
        <p:sp>
          <p:nvSpPr>
            <p:cNvPr id="197" name="Google Shape;197;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98" name="Google Shape;198;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99" name="Google Shape;199;p6"/>
            <p:cNvGrpSpPr/>
            <p:nvPr/>
          </p:nvGrpSpPr>
          <p:grpSpPr>
            <a:xfrm>
              <a:off x="7713663" y="2848339"/>
              <a:ext cx="1042107" cy="425543"/>
              <a:chOff x="7786941" y="2884917"/>
              <a:chExt cx="897649" cy="353919"/>
            </a:xfrm>
          </p:grpSpPr>
          <p:sp>
            <p:nvSpPr>
              <p:cNvPr id="200" name="Google Shape;200;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 name="Google Shape;201;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 name="Google Shape;203;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04" name="Google Shape;204;p6"/>
          <p:cNvGrpSpPr/>
          <p:nvPr/>
        </p:nvGrpSpPr>
        <p:grpSpPr>
          <a:xfrm>
            <a:off x="9849365" y="5339037"/>
            <a:ext cx="309740" cy="190838"/>
            <a:chOff x="3668110" y="2448910"/>
            <a:chExt cx="3794234" cy="2165130"/>
          </a:xfrm>
        </p:grpSpPr>
        <p:sp>
          <p:nvSpPr>
            <p:cNvPr id="205" name="Google Shape;205;p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7" name="Google Shape;207;p6"/>
            <p:cNvGrpSpPr/>
            <p:nvPr/>
          </p:nvGrpSpPr>
          <p:grpSpPr>
            <a:xfrm>
              <a:off x="3941378" y="2603243"/>
              <a:ext cx="3202061" cy="1066110"/>
              <a:chOff x="7939341" y="3037317"/>
              <a:chExt cx="897649" cy="353919"/>
            </a:xfrm>
          </p:grpSpPr>
          <p:sp>
            <p:nvSpPr>
              <p:cNvPr id="208" name="Google Shape;208;p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9" name="Google Shape;209;p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 name="Google Shape;210;p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1" name="Google Shape;211;p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12" name="Google Shape;212;p6"/>
          <p:cNvGrpSpPr/>
          <p:nvPr/>
        </p:nvGrpSpPr>
        <p:grpSpPr>
          <a:xfrm>
            <a:off x="8676619" y="4967420"/>
            <a:ext cx="393760" cy="218578"/>
            <a:chOff x="7493876" y="2774731"/>
            <a:chExt cx="1481958" cy="894622"/>
          </a:xfrm>
        </p:grpSpPr>
        <p:sp>
          <p:nvSpPr>
            <p:cNvPr id="213" name="Google Shape;213;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14" name="Google Shape;214;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15" name="Google Shape;215;p6"/>
            <p:cNvGrpSpPr/>
            <p:nvPr/>
          </p:nvGrpSpPr>
          <p:grpSpPr>
            <a:xfrm>
              <a:off x="7713663" y="2848339"/>
              <a:ext cx="1042107" cy="425543"/>
              <a:chOff x="7786941" y="2884917"/>
              <a:chExt cx="897649" cy="353919"/>
            </a:xfrm>
          </p:grpSpPr>
          <p:sp>
            <p:nvSpPr>
              <p:cNvPr id="216" name="Google Shape;216;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 name="Google Shape;217;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 name="Google Shape;218;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9" name="Google Shape;219;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0" name="Google Shape;220;p6"/>
          <p:cNvGrpSpPr/>
          <p:nvPr/>
        </p:nvGrpSpPr>
        <p:grpSpPr>
          <a:xfrm>
            <a:off x="8311520" y="5194433"/>
            <a:ext cx="309740" cy="190838"/>
            <a:chOff x="3668110" y="2448910"/>
            <a:chExt cx="3794234" cy="2165130"/>
          </a:xfrm>
        </p:grpSpPr>
        <p:sp>
          <p:nvSpPr>
            <p:cNvPr id="221" name="Google Shape;221;p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 name="Google Shape;222;p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23" name="Google Shape;223;p6"/>
            <p:cNvGrpSpPr/>
            <p:nvPr/>
          </p:nvGrpSpPr>
          <p:grpSpPr>
            <a:xfrm>
              <a:off x="3941378" y="2603243"/>
              <a:ext cx="3202061" cy="1066110"/>
              <a:chOff x="7939341" y="3037317"/>
              <a:chExt cx="897649" cy="353919"/>
            </a:xfrm>
          </p:grpSpPr>
          <p:sp>
            <p:nvSpPr>
              <p:cNvPr id="224" name="Google Shape;224;p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 name="Google Shape;226;p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 name="Google Shape;227;p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8" name="Google Shape;228;p6"/>
          <p:cNvGrpSpPr/>
          <p:nvPr/>
        </p:nvGrpSpPr>
        <p:grpSpPr>
          <a:xfrm>
            <a:off x="8439827" y="2812309"/>
            <a:ext cx="353678" cy="168275"/>
            <a:chOff x="7493876" y="2774731"/>
            <a:chExt cx="1481958" cy="894622"/>
          </a:xfrm>
        </p:grpSpPr>
        <p:sp>
          <p:nvSpPr>
            <p:cNvPr id="229" name="Google Shape;229;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30" name="Google Shape;230;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31" name="Google Shape;231;p6"/>
            <p:cNvGrpSpPr/>
            <p:nvPr/>
          </p:nvGrpSpPr>
          <p:grpSpPr>
            <a:xfrm>
              <a:off x="7713663" y="2848339"/>
              <a:ext cx="1042107" cy="425543"/>
              <a:chOff x="7786941" y="2884917"/>
              <a:chExt cx="897649" cy="353919"/>
            </a:xfrm>
          </p:grpSpPr>
          <p:sp>
            <p:nvSpPr>
              <p:cNvPr id="232" name="Google Shape;232;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3" name="Google Shape;233;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36" name="Google Shape;236;p6"/>
          <p:cNvGrpSpPr/>
          <p:nvPr/>
        </p:nvGrpSpPr>
        <p:grpSpPr>
          <a:xfrm>
            <a:off x="8050070" y="3965994"/>
            <a:ext cx="354986" cy="175668"/>
            <a:chOff x="7493876" y="2774731"/>
            <a:chExt cx="1481958" cy="894622"/>
          </a:xfrm>
        </p:grpSpPr>
        <p:sp>
          <p:nvSpPr>
            <p:cNvPr id="237" name="Google Shape;237;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38" name="Google Shape;238;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39" name="Google Shape;239;p6"/>
            <p:cNvGrpSpPr/>
            <p:nvPr/>
          </p:nvGrpSpPr>
          <p:grpSpPr>
            <a:xfrm>
              <a:off x="7713663" y="2848339"/>
              <a:ext cx="1042107" cy="425543"/>
              <a:chOff x="7786941" y="2884917"/>
              <a:chExt cx="897649" cy="353919"/>
            </a:xfrm>
          </p:grpSpPr>
          <p:sp>
            <p:nvSpPr>
              <p:cNvPr id="240" name="Google Shape;240;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1" name="Google Shape;241;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2" name="Google Shape;242;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 name="Google Shape;243;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44" name="Google Shape;244;p6"/>
          <p:cNvGrpSpPr/>
          <p:nvPr/>
        </p:nvGrpSpPr>
        <p:grpSpPr>
          <a:xfrm>
            <a:off x="10884085" y="3601365"/>
            <a:ext cx="170989" cy="97052"/>
            <a:chOff x="7493876" y="2774731"/>
            <a:chExt cx="1481958" cy="894622"/>
          </a:xfrm>
        </p:grpSpPr>
        <p:sp>
          <p:nvSpPr>
            <p:cNvPr id="245" name="Google Shape;245;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46" name="Google Shape;246;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47" name="Google Shape;247;p6"/>
            <p:cNvGrpSpPr/>
            <p:nvPr/>
          </p:nvGrpSpPr>
          <p:grpSpPr>
            <a:xfrm>
              <a:off x="7713663" y="2848339"/>
              <a:ext cx="1042107" cy="425543"/>
              <a:chOff x="7786941" y="2884917"/>
              <a:chExt cx="897649" cy="353919"/>
            </a:xfrm>
          </p:grpSpPr>
          <p:sp>
            <p:nvSpPr>
              <p:cNvPr id="248" name="Google Shape;248;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 name="Google Shape;249;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 name="Google Shape;250;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1" name="Google Shape;251;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52" name="Google Shape;252;p6"/>
          <p:cNvGrpSpPr/>
          <p:nvPr/>
        </p:nvGrpSpPr>
        <p:grpSpPr>
          <a:xfrm>
            <a:off x="10410609" y="3496138"/>
            <a:ext cx="353678" cy="198344"/>
            <a:chOff x="7493876" y="2774731"/>
            <a:chExt cx="1481958" cy="894622"/>
          </a:xfrm>
        </p:grpSpPr>
        <p:sp>
          <p:nvSpPr>
            <p:cNvPr id="253" name="Google Shape;253;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54" name="Google Shape;254;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55" name="Google Shape;255;p6"/>
            <p:cNvGrpSpPr/>
            <p:nvPr/>
          </p:nvGrpSpPr>
          <p:grpSpPr>
            <a:xfrm>
              <a:off x="7713663" y="2848339"/>
              <a:ext cx="1042107" cy="425543"/>
              <a:chOff x="7786941" y="2884917"/>
              <a:chExt cx="897649" cy="353919"/>
            </a:xfrm>
          </p:grpSpPr>
          <p:sp>
            <p:nvSpPr>
              <p:cNvPr id="256" name="Google Shape;256;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 name="Google Shape;257;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 name="Google Shape;258;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60" name="Google Shape;260;p6"/>
          <p:cNvGrpSpPr/>
          <p:nvPr/>
        </p:nvGrpSpPr>
        <p:grpSpPr>
          <a:xfrm>
            <a:off x="9948724" y="2202292"/>
            <a:ext cx="353678" cy="198344"/>
            <a:chOff x="7493876" y="2774731"/>
            <a:chExt cx="1481958" cy="894622"/>
          </a:xfrm>
        </p:grpSpPr>
        <p:sp>
          <p:nvSpPr>
            <p:cNvPr id="261" name="Google Shape;261;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62" name="Google Shape;262;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63" name="Google Shape;263;p6"/>
            <p:cNvGrpSpPr/>
            <p:nvPr/>
          </p:nvGrpSpPr>
          <p:grpSpPr>
            <a:xfrm>
              <a:off x="7713663" y="2848339"/>
              <a:ext cx="1042107" cy="425543"/>
              <a:chOff x="7786941" y="2884917"/>
              <a:chExt cx="897649" cy="353919"/>
            </a:xfrm>
          </p:grpSpPr>
          <p:sp>
            <p:nvSpPr>
              <p:cNvPr id="264" name="Google Shape;264;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 name="Google Shape;265;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 name="Google Shape;266;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 name="Google Shape;267;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68" name="Google Shape;268;p6"/>
          <p:cNvGrpSpPr/>
          <p:nvPr/>
        </p:nvGrpSpPr>
        <p:grpSpPr>
          <a:xfrm>
            <a:off x="10527214" y="2613367"/>
            <a:ext cx="353678" cy="198344"/>
            <a:chOff x="7493876" y="2774731"/>
            <a:chExt cx="1481958" cy="894622"/>
          </a:xfrm>
        </p:grpSpPr>
        <p:sp>
          <p:nvSpPr>
            <p:cNvPr id="269" name="Google Shape;269;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70" name="Google Shape;270;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71" name="Google Shape;271;p6"/>
            <p:cNvGrpSpPr/>
            <p:nvPr/>
          </p:nvGrpSpPr>
          <p:grpSpPr>
            <a:xfrm>
              <a:off x="7713663" y="2848339"/>
              <a:ext cx="1042107" cy="425543"/>
              <a:chOff x="7786941" y="2884917"/>
              <a:chExt cx="897649" cy="353919"/>
            </a:xfrm>
          </p:grpSpPr>
          <p:sp>
            <p:nvSpPr>
              <p:cNvPr id="272" name="Google Shape;272;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 name="Google Shape;273;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 name="Google Shape;274;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 name="Google Shape;275;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76" name="Google Shape;276;p6"/>
          <p:cNvGrpSpPr/>
          <p:nvPr/>
        </p:nvGrpSpPr>
        <p:grpSpPr>
          <a:xfrm>
            <a:off x="10643825" y="2107963"/>
            <a:ext cx="353678" cy="198344"/>
            <a:chOff x="7493876" y="2774731"/>
            <a:chExt cx="1481958" cy="894622"/>
          </a:xfrm>
        </p:grpSpPr>
        <p:sp>
          <p:nvSpPr>
            <p:cNvPr id="277" name="Google Shape;277;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78" name="Google Shape;278;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79" name="Google Shape;279;p6"/>
            <p:cNvGrpSpPr/>
            <p:nvPr/>
          </p:nvGrpSpPr>
          <p:grpSpPr>
            <a:xfrm>
              <a:off x="7713663" y="2848339"/>
              <a:ext cx="1042107" cy="425543"/>
              <a:chOff x="7786941" y="2884917"/>
              <a:chExt cx="897649" cy="353919"/>
            </a:xfrm>
          </p:grpSpPr>
          <p:sp>
            <p:nvSpPr>
              <p:cNvPr id="280" name="Google Shape;280;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 name="Google Shape;281;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84" name="Google Shape;284;p6"/>
          <p:cNvGrpSpPr/>
          <p:nvPr/>
        </p:nvGrpSpPr>
        <p:grpSpPr>
          <a:xfrm>
            <a:off x="9098788" y="3956624"/>
            <a:ext cx="367224" cy="240304"/>
            <a:chOff x="7493876" y="2774731"/>
            <a:chExt cx="1481958" cy="894622"/>
          </a:xfrm>
        </p:grpSpPr>
        <p:sp>
          <p:nvSpPr>
            <p:cNvPr id="285" name="Google Shape;285;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86" name="Google Shape;286;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87" name="Google Shape;287;p6"/>
            <p:cNvGrpSpPr/>
            <p:nvPr/>
          </p:nvGrpSpPr>
          <p:grpSpPr>
            <a:xfrm>
              <a:off x="7713663" y="2848339"/>
              <a:ext cx="1042107" cy="425543"/>
              <a:chOff x="7786941" y="2884917"/>
              <a:chExt cx="897649" cy="353919"/>
            </a:xfrm>
          </p:grpSpPr>
          <p:sp>
            <p:nvSpPr>
              <p:cNvPr id="288" name="Google Shape;288;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9" name="Google Shape;289;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0" name="Google Shape;290;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 name="Google Shape;291;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92" name="Google Shape;292;p6"/>
          <p:cNvGrpSpPr/>
          <p:nvPr/>
        </p:nvGrpSpPr>
        <p:grpSpPr>
          <a:xfrm>
            <a:off x="9980126" y="2661565"/>
            <a:ext cx="353678" cy="198344"/>
            <a:chOff x="7493876" y="2774731"/>
            <a:chExt cx="1481958" cy="894622"/>
          </a:xfrm>
        </p:grpSpPr>
        <p:sp>
          <p:nvSpPr>
            <p:cNvPr id="293" name="Google Shape;293;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94" name="Google Shape;294;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95" name="Google Shape;295;p6"/>
            <p:cNvGrpSpPr/>
            <p:nvPr/>
          </p:nvGrpSpPr>
          <p:grpSpPr>
            <a:xfrm>
              <a:off x="7713663" y="2848339"/>
              <a:ext cx="1042107" cy="425543"/>
              <a:chOff x="7786941" y="2884917"/>
              <a:chExt cx="897649" cy="353919"/>
            </a:xfrm>
          </p:grpSpPr>
          <p:sp>
            <p:nvSpPr>
              <p:cNvPr id="296" name="Google Shape;296;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 name="Google Shape;297;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8" name="Google Shape;298;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 name="Google Shape;299;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00" name="Google Shape;300;p6"/>
          <p:cNvGrpSpPr/>
          <p:nvPr/>
        </p:nvGrpSpPr>
        <p:grpSpPr>
          <a:xfrm>
            <a:off x="9497138" y="3394032"/>
            <a:ext cx="367224" cy="240304"/>
            <a:chOff x="7493876" y="2774731"/>
            <a:chExt cx="1481958" cy="894622"/>
          </a:xfrm>
        </p:grpSpPr>
        <p:sp>
          <p:nvSpPr>
            <p:cNvPr id="301" name="Google Shape;301;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02" name="Google Shape;302;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03" name="Google Shape;303;p6"/>
            <p:cNvGrpSpPr/>
            <p:nvPr/>
          </p:nvGrpSpPr>
          <p:grpSpPr>
            <a:xfrm>
              <a:off x="7713663" y="2848339"/>
              <a:ext cx="1042107" cy="425543"/>
              <a:chOff x="7786941" y="2884917"/>
              <a:chExt cx="897649" cy="353919"/>
            </a:xfrm>
          </p:grpSpPr>
          <p:sp>
            <p:nvSpPr>
              <p:cNvPr id="304" name="Google Shape;304;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 name="Google Shape;305;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 name="Google Shape;306;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 name="Google Shape;307;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08" name="Google Shape;308;p6"/>
          <p:cNvGrpSpPr/>
          <p:nvPr/>
        </p:nvGrpSpPr>
        <p:grpSpPr>
          <a:xfrm>
            <a:off x="9601554" y="3999763"/>
            <a:ext cx="367224" cy="240304"/>
            <a:chOff x="7493876" y="2774731"/>
            <a:chExt cx="1481958" cy="894622"/>
          </a:xfrm>
        </p:grpSpPr>
        <p:sp>
          <p:nvSpPr>
            <p:cNvPr id="309" name="Google Shape;309;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10" name="Google Shape;310;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11" name="Google Shape;311;p6"/>
            <p:cNvGrpSpPr/>
            <p:nvPr/>
          </p:nvGrpSpPr>
          <p:grpSpPr>
            <a:xfrm>
              <a:off x="7713663" y="2848339"/>
              <a:ext cx="1042107" cy="425543"/>
              <a:chOff x="7786941" y="2884917"/>
              <a:chExt cx="897649" cy="353919"/>
            </a:xfrm>
          </p:grpSpPr>
          <p:sp>
            <p:nvSpPr>
              <p:cNvPr id="312" name="Google Shape;312;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3" name="Google Shape;313;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5" name="Google Shape;315;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16" name="Google Shape;316;p6"/>
          <p:cNvGrpSpPr/>
          <p:nvPr/>
        </p:nvGrpSpPr>
        <p:grpSpPr>
          <a:xfrm>
            <a:off x="10375259" y="3992325"/>
            <a:ext cx="353678" cy="198344"/>
            <a:chOff x="7493876" y="2774731"/>
            <a:chExt cx="1481958" cy="894622"/>
          </a:xfrm>
        </p:grpSpPr>
        <p:sp>
          <p:nvSpPr>
            <p:cNvPr id="317" name="Google Shape;317;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18" name="Google Shape;318;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19" name="Google Shape;319;p6"/>
            <p:cNvGrpSpPr/>
            <p:nvPr/>
          </p:nvGrpSpPr>
          <p:grpSpPr>
            <a:xfrm>
              <a:off x="7713663" y="2848339"/>
              <a:ext cx="1042107" cy="425543"/>
              <a:chOff x="7786941" y="2884917"/>
              <a:chExt cx="897649" cy="353919"/>
            </a:xfrm>
          </p:grpSpPr>
          <p:sp>
            <p:nvSpPr>
              <p:cNvPr id="320" name="Google Shape;320;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1" name="Google Shape;321;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2" name="Google Shape;322;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3" name="Google Shape;323;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24" name="Google Shape;324;p6"/>
          <p:cNvGrpSpPr/>
          <p:nvPr/>
        </p:nvGrpSpPr>
        <p:grpSpPr>
          <a:xfrm>
            <a:off x="9247893" y="4775686"/>
            <a:ext cx="393760" cy="218578"/>
            <a:chOff x="7493876" y="2774731"/>
            <a:chExt cx="1481958" cy="894622"/>
          </a:xfrm>
        </p:grpSpPr>
        <p:sp>
          <p:nvSpPr>
            <p:cNvPr id="325" name="Google Shape;325;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26" name="Google Shape;326;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27" name="Google Shape;327;p6"/>
            <p:cNvGrpSpPr/>
            <p:nvPr/>
          </p:nvGrpSpPr>
          <p:grpSpPr>
            <a:xfrm>
              <a:off x="7713663" y="2848339"/>
              <a:ext cx="1042107" cy="425543"/>
              <a:chOff x="7786941" y="2884917"/>
              <a:chExt cx="897649" cy="353919"/>
            </a:xfrm>
          </p:grpSpPr>
          <p:sp>
            <p:nvSpPr>
              <p:cNvPr id="328" name="Google Shape;328;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9" name="Google Shape;329;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 name="Google Shape;330;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1" name="Google Shape;331;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32" name="Google Shape;332;p6"/>
          <p:cNvGrpSpPr/>
          <p:nvPr/>
        </p:nvGrpSpPr>
        <p:grpSpPr>
          <a:xfrm>
            <a:off x="10925982" y="4369125"/>
            <a:ext cx="228295" cy="120400"/>
            <a:chOff x="7493876" y="2774731"/>
            <a:chExt cx="1481958" cy="894622"/>
          </a:xfrm>
        </p:grpSpPr>
        <p:sp>
          <p:nvSpPr>
            <p:cNvPr id="333" name="Google Shape;333;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34" name="Google Shape;334;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35" name="Google Shape;335;p6"/>
            <p:cNvGrpSpPr/>
            <p:nvPr/>
          </p:nvGrpSpPr>
          <p:grpSpPr>
            <a:xfrm>
              <a:off x="7713663" y="2848339"/>
              <a:ext cx="1042107" cy="425543"/>
              <a:chOff x="7786941" y="2884917"/>
              <a:chExt cx="897649" cy="353919"/>
            </a:xfrm>
          </p:grpSpPr>
          <p:sp>
            <p:nvSpPr>
              <p:cNvPr id="336" name="Google Shape;336;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 name="Google Shape;337;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8" name="Google Shape;338;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9" name="Google Shape;339;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40" name="Google Shape;340;p6"/>
          <p:cNvGrpSpPr/>
          <p:nvPr/>
        </p:nvGrpSpPr>
        <p:grpSpPr>
          <a:xfrm>
            <a:off x="7439074" y="2356613"/>
            <a:ext cx="534987" cy="414882"/>
            <a:chOff x="7432700" y="2327293"/>
            <a:chExt cx="534987" cy="414882"/>
          </a:xfrm>
        </p:grpSpPr>
        <p:pic>
          <p:nvPicPr>
            <p:cNvPr descr="antenna_stylized" id="341" name="Google Shape;341;p6"/>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342" name="Google Shape;342;p6"/>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343" name="Google Shape;343;p6"/>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344" name="Google Shape;344;p6"/>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345" name="Google Shape;345;p6"/>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6"/>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6"/>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6"/>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6"/>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6"/>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51" name="Google Shape;351;p6"/>
            <p:cNvGrpSpPr/>
            <p:nvPr/>
          </p:nvGrpSpPr>
          <p:grpSpPr>
            <a:xfrm>
              <a:off x="7594735" y="2642220"/>
              <a:ext cx="98740" cy="36846"/>
              <a:chOff x="1740" y="2642"/>
              <a:chExt cx="752" cy="327"/>
            </a:xfrm>
          </p:grpSpPr>
          <p:sp>
            <p:nvSpPr>
              <p:cNvPr id="352" name="Google Shape;352;p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8" name="Google Shape;358;p6"/>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6"/>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6"/>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6"/>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6"/>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6"/>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64" name="Google Shape;364;p6"/>
          <p:cNvGrpSpPr/>
          <p:nvPr/>
        </p:nvGrpSpPr>
        <p:grpSpPr>
          <a:xfrm>
            <a:off x="8637781" y="2319727"/>
            <a:ext cx="530702" cy="478009"/>
            <a:chOff x="8631407" y="2290407"/>
            <a:chExt cx="530702" cy="478009"/>
          </a:xfrm>
        </p:grpSpPr>
        <p:pic>
          <p:nvPicPr>
            <p:cNvPr descr="light2.png" id="365" name="Google Shape;365;p6"/>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366" name="Google Shape;366;p6"/>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367" name="Google Shape;367;p6"/>
          <p:cNvGrpSpPr/>
          <p:nvPr/>
        </p:nvGrpSpPr>
        <p:grpSpPr>
          <a:xfrm>
            <a:off x="8499539" y="2059124"/>
            <a:ext cx="849312" cy="226109"/>
            <a:chOff x="8493165" y="2029804"/>
            <a:chExt cx="849312" cy="226109"/>
          </a:xfrm>
        </p:grpSpPr>
        <p:pic>
          <p:nvPicPr>
            <p:cNvPr descr="car_icon_small" id="368" name="Google Shape;368;p6"/>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369" name="Google Shape;369;p6"/>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370" name="Google Shape;370;p6"/>
          <p:cNvGrpSpPr/>
          <p:nvPr/>
        </p:nvGrpSpPr>
        <p:grpSpPr>
          <a:xfrm>
            <a:off x="7493518" y="3325424"/>
            <a:ext cx="857739" cy="583764"/>
            <a:chOff x="7487144" y="3296104"/>
            <a:chExt cx="857739" cy="583764"/>
          </a:xfrm>
        </p:grpSpPr>
        <p:grpSp>
          <p:nvGrpSpPr>
            <p:cNvPr id="371" name="Google Shape;371;p6"/>
            <p:cNvGrpSpPr/>
            <p:nvPr/>
          </p:nvGrpSpPr>
          <p:grpSpPr>
            <a:xfrm>
              <a:off x="7487144" y="3389820"/>
              <a:ext cx="350807" cy="310034"/>
              <a:chOff x="7487144" y="3389820"/>
              <a:chExt cx="350807" cy="310034"/>
            </a:xfrm>
          </p:grpSpPr>
          <p:pic>
            <p:nvPicPr>
              <p:cNvPr descr="antenna_stylized" id="372" name="Google Shape;372;p6"/>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373" name="Google Shape;373;p6"/>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374" name="Google Shape;374;p6"/>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375" name="Google Shape;375;p6"/>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376" name="Google Shape;376;p6"/>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6"/>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6"/>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6"/>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6"/>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6"/>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82" name="Google Shape;382;p6"/>
              <p:cNvGrpSpPr/>
              <p:nvPr/>
            </p:nvGrpSpPr>
            <p:grpSpPr>
              <a:xfrm>
                <a:off x="7593395" y="3625649"/>
                <a:ext cx="64747" cy="27592"/>
                <a:chOff x="1740" y="2642"/>
                <a:chExt cx="752" cy="327"/>
              </a:xfrm>
            </p:grpSpPr>
            <p:sp>
              <p:nvSpPr>
                <p:cNvPr id="383" name="Google Shape;383;p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9" name="Google Shape;389;p6"/>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6"/>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6"/>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6"/>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6"/>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6"/>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95" name="Google Shape;395;p6"/>
            <p:cNvGrpSpPr/>
            <p:nvPr/>
          </p:nvGrpSpPr>
          <p:grpSpPr>
            <a:xfrm flipH="1">
              <a:off x="7985622" y="3537823"/>
              <a:ext cx="359261" cy="342045"/>
              <a:chOff x="2839" y="3501"/>
              <a:chExt cx="755" cy="803"/>
            </a:xfrm>
          </p:grpSpPr>
          <p:pic>
            <p:nvPicPr>
              <p:cNvPr descr="desktop_computer_stylized_medium" id="396" name="Google Shape;396;p6"/>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397" name="Google Shape;397;p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98" name="Google Shape;398;p6"/>
            <p:cNvGrpSpPr/>
            <p:nvPr/>
          </p:nvGrpSpPr>
          <p:grpSpPr>
            <a:xfrm>
              <a:off x="7797061" y="3296104"/>
              <a:ext cx="347997" cy="396620"/>
              <a:chOff x="7797061" y="3296104"/>
              <a:chExt cx="347997" cy="396620"/>
            </a:xfrm>
          </p:grpSpPr>
          <p:pic>
            <p:nvPicPr>
              <p:cNvPr descr="fridge2.png" id="399" name="Google Shape;399;p6"/>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400" name="Google Shape;400;p6"/>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401" name="Google Shape;401;p6"/>
          <p:cNvGrpSpPr/>
          <p:nvPr/>
        </p:nvGrpSpPr>
        <p:grpSpPr>
          <a:xfrm>
            <a:off x="11064947" y="3428485"/>
            <a:ext cx="518448" cy="1212242"/>
            <a:chOff x="11058573" y="3399165"/>
            <a:chExt cx="518448" cy="1212242"/>
          </a:xfrm>
        </p:grpSpPr>
        <p:grpSp>
          <p:nvGrpSpPr>
            <p:cNvPr id="402" name="Google Shape;402;p6"/>
            <p:cNvGrpSpPr/>
            <p:nvPr/>
          </p:nvGrpSpPr>
          <p:grpSpPr>
            <a:xfrm>
              <a:off x="11087182" y="4159591"/>
              <a:ext cx="489839" cy="451816"/>
              <a:chOff x="5103720" y="2693365"/>
              <a:chExt cx="611650" cy="414788"/>
            </a:xfrm>
          </p:grpSpPr>
          <p:cxnSp>
            <p:nvCxnSpPr>
              <p:cNvPr id="403" name="Google Shape;403;p6"/>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404" name="Google Shape;404;p6"/>
              <p:cNvGrpSpPr/>
              <p:nvPr/>
            </p:nvGrpSpPr>
            <p:grpSpPr>
              <a:xfrm>
                <a:off x="5275406" y="2693365"/>
                <a:ext cx="439964" cy="414788"/>
                <a:chOff x="5275406" y="2711455"/>
                <a:chExt cx="452949" cy="405518"/>
              </a:xfrm>
            </p:grpSpPr>
            <p:pic>
              <p:nvPicPr>
                <p:cNvPr descr="server_rack.png" id="405" name="Google Shape;405;p6"/>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406" name="Google Shape;406;p6"/>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407" name="Google Shape;407;p6"/>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408" name="Google Shape;408;p6"/>
            <p:cNvGrpSpPr/>
            <p:nvPr/>
          </p:nvGrpSpPr>
          <p:grpSpPr>
            <a:xfrm>
              <a:off x="11058573" y="3399165"/>
              <a:ext cx="423724" cy="405973"/>
              <a:chOff x="5103720" y="2693365"/>
              <a:chExt cx="611650" cy="414788"/>
            </a:xfrm>
          </p:grpSpPr>
          <p:cxnSp>
            <p:nvCxnSpPr>
              <p:cNvPr id="409" name="Google Shape;409;p6"/>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410" name="Google Shape;410;p6"/>
              <p:cNvGrpSpPr/>
              <p:nvPr/>
            </p:nvGrpSpPr>
            <p:grpSpPr>
              <a:xfrm>
                <a:off x="5275406" y="2693365"/>
                <a:ext cx="439964" cy="414788"/>
                <a:chOff x="5275406" y="2711455"/>
                <a:chExt cx="452949" cy="405518"/>
              </a:xfrm>
            </p:grpSpPr>
            <p:pic>
              <p:nvPicPr>
                <p:cNvPr descr="server_rack.png" id="411" name="Google Shape;411;p6"/>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412" name="Google Shape;412;p6"/>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413" name="Google Shape;413;p6"/>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414" name="Google Shape;414;p6"/>
          <p:cNvGrpSpPr/>
          <p:nvPr/>
        </p:nvGrpSpPr>
        <p:grpSpPr>
          <a:xfrm>
            <a:off x="10288915" y="5273951"/>
            <a:ext cx="177192" cy="330833"/>
            <a:chOff x="4140" y="429"/>
            <a:chExt cx="1425" cy="2396"/>
          </a:xfrm>
        </p:grpSpPr>
        <p:sp>
          <p:nvSpPr>
            <p:cNvPr id="415" name="Google Shape;415;p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6"/>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17" name="Google Shape;417;p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6"/>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420" name="Google Shape;420;p6"/>
            <p:cNvGrpSpPr/>
            <p:nvPr/>
          </p:nvGrpSpPr>
          <p:grpSpPr>
            <a:xfrm>
              <a:off x="4748" y="666"/>
              <a:ext cx="578" cy="150"/>
              <a:chOff x="613" y="2566"/>
              <a:chExt cx="721" cy="144"/>
            </a:xfrm>
          </p:grpSpPr>
          <p:sp>
            <p:nvSpPr>
              <p:cNvPr id="421" name="Google Shape;421;p6"/>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22" name="Google Shape;422;p6"/>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423" name="Google Shape;423;p6"/>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424" name="Google Shape;424;p6"/>
            <p:cNvGrpSpPr/>
            <p:nvPr/>
          </p:nvGrpSpPr>
          <p:grpSpPr>
            <a:xfrm>
              <a:off x="4748" y="990"/>
              <a:ext cx="578" cy="134"/>
              <a:chOff x="615" y="2564"/>
              <a:chExt cx="721" cy="139"/>
            </a:xfrm>
          </p:grpSpPr>
          <p:sp>
            <p:nvSpPr>
              <p:cNvPr id="425" name="Google Shape;425;p6"/>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26" name="Google Shape;426;p6"/>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427" name="Google Shape;427;p6"/>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28" name="Google Shape;428;p6"/>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429" name="Google Shape;429;p6"/>
            <p:cNvGrpSpPr/>
            <p:nvPr/>
          </p:nvGrpSpPr>
          <p:grpSpPr>
            <a:xfrm>
              <a:off x="4738" y="1647"/>
              <a:ext cx="578" cy="135"/>
              <a:chOff x="618" y="2586"/>
              <a:chExt cx="720" cy="124"/>
            </a:xfrm>
          </p:grpSpPr>
          <p:sp>
            <p:nvSpPr>
              <p:cNvPr id="430" name="Google Shape;430;p6"/>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31" name="Google Shape;431;p6"/>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432" name="Google Shape;432;p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33" name="Google Shape;433;p6"/>
            <p:cNvGrpSpPr/>
            <p:nvPr/>
          </p:nvGrpSpPr>
          <p:grpSpPr>
            <a:xfrm>
              <a:off x="4738" y="1330"/>
              <a:ext cx="588" cy="134"/>
              <a:chOff x="613" y="2571"/>
              <a:chExt cx="732" cy="134"/>
            </a:xfrm>
          </p:grpSpPr>
          <p:sp>
            <p:nvSpPr>
              <p:cNvPr id="434" name="Google Shape;434;p6"/>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35" name="Google Shape;435;p6"/>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436" name="Google Shape;436;p6"/>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37" name="Google Shape;437;p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6"/>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40" name="Google Shape;440;p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6"/>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42" name="Google Shape;442;p6"/>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43" name="Google Shape;443;p6"/>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44" name="Google Shape;444;p6"/>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sz="1800" u="none">
                <a:solidFill>
                  <a:srgbClr val="FF0000"/>
                </a:solidFill>
                <a:latin typeface="Arial"/>
                <a:ea typeface="Arial"/>
                <a:cs typeface="Arial"/>
                <a:sym typeface="Arial"/>
              </a:endParaRPr>
            </a:p>
          </p:txBody>
        </p:sp>
        <p:sp>
          <p:nvSpPr>
            <p:cNvPr id="445" name="Google Shape;445;p6"/>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46" name="Google Shape;446;p6"/>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grpSp>
        <p:nvGrpSpPr>
          <p:cNvPr id="447" name="Google Shape;447;p6"/>
          <p:cNvGrpSpPr/>
          <p:nvPr/>
        </p:nvGrpSpPr>
        <p:grpSpPr>
          <a:xfrm flipH="1">
            <a:off x="7980855" y="4900161"/>
            <a:ext cx="345630" cy="320302"/>
            <a:chOff x="2839" y="3501"/>
            <a:chExt cx="755" cy="803"/>
          </a:xfrm>
        </p:grpSpPr>
        <p:pic>
          <p:nvPicPr>
            <p:cNvPr descr="desktop_computer_stylized_medium" id="448" name="Google Shape;448;p6"/>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49" name="Google Shape;449;p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50" name="Google Shape;450;p6"/>
          <p:cNvGrpSpPr/>
          <p:nvPr/>
        </p:nvGrpSpPr>
        <p:grpSpPr>
          <a:xfrm>
            <a:off x="9201681" y="5852809"/>
            <a:ext cx="310186" cy="312008"/>
            <a:chOff x="877" y="1008"/>
            <a:chExt cx="2747" cy="2626"/>
          </a:xfrm>
        </p:grpSpPr>
        <p:pic>
          <p:nvPicPr>
            <p:cNvPr descr="antenna_stylized" id="451" name="Google Shape;451;p6"/>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52" name="Google Shape;452;p6"/>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53" name="Google Shape;453;p6"/>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454" name="Google Shape;454;p6"/>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55" name="Google Shape;455;p6"/>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6"/>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6"/>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6"/>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6"/>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6"/>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61" name="Google Shape;461;p6"/>
            <p:cNvGrpSpPr/>
            <p:nvPr/>
          </p:nvGrpSpPr>
          <p:grpSpPr>
            <a:xfrm>
              <a:off x="1709" y="3008"/>
              <a:ext cx="507" cy="234"/>
              <a:chOff x="1740" y="2642"/>
              <a:chExt cx="752" cy="327"/>
            </a:xfrm>
          </p:grpSpPr>
          <p:sp>
            <p:nvSpPr>
              <p:cNvPr id="462" name="Google Shape;462;p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8" name="Google Shape;468;p6"/>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6"/>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6"/>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6"/>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6"/>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6"/>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74" name="Google Shape;474;p6"/>
          <p:cNvGrpSpPr/>
          <p:nvPr/>
        </p:nvGrpSpPr>
        <p:grpSpPr>
          <a:xfrm flipH="1">
            <a:off x="8153909" y="5504657"/>
            <a:ext cx="345630" cy="320302"/>
            <a:chOff x="2839" y="3501"/>
            <a:chExt cx="755" cy="803"/>
          </a:xfrm>
        </p:grpSpPr>
        <p:pic>
          <p:nvPicPr>
            <p:cNvPr descr="desktop_computer_stylized_medium" id="475" name="Google Shape;475;p6"/>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76" name="Google Shape;476;p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77" name="Google Shape;477;p6"/>
          <p:cNvGrpSpPr/>
          <p:nvPr/>
        </p:nvGrpSpPr>
        <p:grpSpPr>
          <a:xfrm flipH="1">
            <a:off x="8552134" y="5526130"/>
            <a:ext cx="345630" cy="320302"/>
            <a:chOff x="2839" y="3501"/>
            <a:chExt cx="755" cy="803"/>
          </a:xfrm>
        </p:grpSpPr>
        <p:pic>
          <p:nvPicPr>
            <p:cNvPr descr="desktop_computer_stylized_medium" id="478" name="Google Shape;478;p6"/>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79" name="Google Shape;479;p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80" name="Google Shape;480;p6"/>
          <p:cNvGrpSpPr/>
          <p:nvPr/>
        </p:nvGrpSpPr>
        <p:grpSpPr>
          <a:xfrm>
            <a:off x="9534746" y="5795138"/>
            <a:ext cx="319264" cy="256836"/>
            <a:chOff x="877" y="1008"/>
            <a:chExt cx="2747" cy="2626"/>
          </a:xfrm>
        </p:grpSpPr>
        <p:pic>
          <p:nvPicPr>
            <p:cNvPr descr="antenna_stylized" id="481" name="Google Shape;481;p6"/>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82" name="Google Shape;482;p6"/>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83" name="Google Shape;483;p6"/>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484" name="Google Shape;484;p6"/>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85" name="Google Shape;485;p6"/>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6"/>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6"/>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6"/>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6"/>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6"/>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91" name="Google Shape;491;p6"/>
            <p:cNvGrpSpPr/>
            <p:nvPr/>
          </p:nvGrpSpPr>
          <p:grpSpPr>
            <a:xfrm>
              <a:off x="1709" y="3008"/>
              <a:ext cx="507" cy="234"/>
              <a:chOff x="1740" y="2642"/>
              <a:chExt cx="752" cy="327"/>
            </a:xfrm>
          </p:grpSpPr>
          <p:sp>
            <p:nvSpPr>
              <p:cNvPr id="492" name="Google Shape;492;p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8" name="Google Shape;498;p6"/>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6"/>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6"/>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6"/>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6"/>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6"/>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4" name="Google Shape;504;p6"/>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6"/>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6"/>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6"/>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508" name="Google Shape;508;p6"/>
          <p:cNvGrpSpPr/>
          <p:nvPr/>
        </p:nvGrpSpPr>
        <p:grpSpPr>
          <a:xfrm>
            <a:off x="10091053" y="5670891"/>
            <a:ext cx="69517" cy="21877"/>
            <a:chOff x="613" y="2566"/>
            <a:chExt cx="721" cy="144"/>
          </a:xfrm>
        </p:grpSpPr>
        <p:sp>
          <p:nvSpPr>
            <p:cNvPr id="509" name="Google Shape;509;p6"/>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10" name="Google Shape;510;p6"/>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511" name="Google Shape;511;p6"/>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512" name="Google Shape;512;p6"/>
          <p:cNvGrpSpPr/>
          <p:nvPr/>
        </p:nvGrpSpPr>
        <p:grpSpPr>
          <a:xfrm>
            <a:off x="10091005" y="5718110"/>
            <a:ext cx="69517" cy="19515"/>
            <a:chOff x="615" y="2564"/>
            <a:chExt cx="721" cy="139"/>
          </a:xfrm>
        </p:grpSpPr>
        <p:sp>
          <p:nvSpPr>
            <p:cNvPr id="513" name="Google Shape;513;p6"/>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14" name="Google Shape;514;p6"/>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515" name="Google Shape;515;p6"/>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16" name="Google Shape;516;p6"/>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517" name="Google Shape;517;p6"/>
          <p:cNvGrpSpPr/>
          <p:nvPr/>
        </p:nvGrpSpPr>
        <p:grpSpPr>
          <a:xfrm>
            <a:off x="10089851" y="5813708"/>
            <a:ext cx="69541" cy="19618"/>
            <a:chOff x="618" y="2586"/>
            <a:chExt cx="720" cy="124"/>
          </a:xfrm>
        </p:grpSpPr>
        <p:sp>
          <p:nvSpPr>
            <p:cNvPr id="518" name="Google Shape;518;p6"/>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19" name="Google Shape;519;p6"/>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520" name="Google Shape;520;p6"/>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21" name="Google Shape;521;p6"/>
          <p:cNvGrpSpPr/>
          <p:nvPr/>
        </p:nvGrpSpPr>
        <p:grpSpPr>
          <a:xfrm>
            <a:off x="10089849" y="5767606"/>
            <a:ext cx="70700" cy="19515"/>
            <a:chOff x="613" y="2571"/>
            <a:chExt cx="732" cy="134"/>
          </a:xfrm>
        </p:grpSpPr>
        <p:sp>
          <p:nvSpPr>
            <p:cNvPr id="522" name="Google Shape;522;p6"/>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23" name="Google Shape;523;p6"/>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524" name="Google Shape;524;p6"/>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25" name="Google Shape;525;p6"/>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6"/>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6"/>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28" name="Google Shape;528;p6"/>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6"/>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30" name="Google Shape;530;p6"/>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31" name="Google Shape;531;p6"/>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32" name="Google Shape;532;p6"/>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sz="1800" u="none">
              <a:solidFill>
                <a:srgbClr val="FF0000"/>
              </a:solidFill>
              <a:latin typeface="Arial"/>
              <a:ea typeface="Arial"/>
              <a:cs typeface="Arial"/>
              <a:sym typeface="Arial"/>
            </a:endParaRPr>
          </a:p>
        </p:txBody>
      </p:sp>
      <p:sp>
        <p:nvSpPr>
          <p:cNvPr id="533" name="Google Shape;533;p6"/>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34" name="Google Shape;534;p6"/>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35" name="Google Shape;535;p6"/>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36" name="Google Shape;536;p6"/>
          <p:cNvGrpSpPr/>
          <p:nvPr/>
        </p:nvGrpSpPr>
        <p:grpSpPr>
          <a:xfrm>
            <a:off x="7680324" y="1814171"/>
            <a:ext cx="2755429" cy="4250670"/>
            <a:chOff x="7680324" y="1814171"/>
            <a:chExt cx="2755429" cy="4250670"/>
          </a:xfrm>
        </p:grpSpPr>
        <p:grpSp>
          <p:nvGrpSpPr>
            <p:cNvPr id="537" name="Google Shape;537;p6"/>
            <p:cNvGrpSpPr/>
            <p:nvPr/>
          </p:nvGrpSpPr>
          <p:grpSpPr>
            <a:xfrm>
              <a:off x="7750224" y="1859725"/>
              <a:ext cx="415925" cy="385763"/>
              <a:chOff x="2751" y="1851"/>
              <a:chExt cx="462" cy="478"/>
            </a:xfrm>
          </p:grpSpPr>
          <p:pic>
            <p:nvPicPr>
              <p:cNvPr descr="iphone_stylized_small" id="538" name="Google Shape;538;p6"/>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539" name="Google Shape;539;p6"/>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540" name="Google Shape;540;p6"/>
            <p:cNvGrpSpPr/>
            <p:nvPr/>
          </p:nvGrpSpPr>
          <p:grpSpPr>
            <a:xfrm flipH="1">
              <a:off x="7773981" y="5281060"/>
              <a:ext cx="345630" cy="320302"/>
              <a:chOff x="2839" y="3501"/>
              <a:chExt cx="755" cy="803"/>
            </a:xfrm>
          </p:grpSpPr>
          <p:pic>
            <p:nvPicPr>
              <p:cNvPr descr="desktop_computer_stylized_medium" id="541" name="Google Shape;541;p6"/>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542" name="Google Shape;542;p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3" name="Google Shape;543;p6"/>
            <p:cNvSpPr/>
            <p:nvPr/>
          </p:nvSpPr>
          <p:spPr>
            <a:xfrm>
              <a:off x="7689254" y="516084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4" name="Google Shape;544;p6"/>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5" name="Google Shape;545;p6"/>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546" name="Google Shape;546;p6"/>
          <p:cNvGrpSpPr/>
          <p:nvPr/>
        </p:nvGrpSpPr>
        <p:grpSpPr>
          <a:xfrm>
            <a:off x="8005845" y="1168489"/>
            <a:ext cx="1065213" cy="965200"/>
            <a:chOff x="4047" y="420"/>
            <a:chExt cx="671" cy="608"/>
          </a:xfrm>
        </p:grpSpPr>
        <p:sp>
          <p:nvSpPr>
            <p:cNvPr id="547" name="Google Shape;547;p6"/>
            <p:cNvSpPr/>
            <p:nvPr/>
          </p:nvSpPr>
          <p:spPr>
            <a:xfrm>
              <a:off x="4266" y="420"/>
              <a:ext cx="426" cy="489"/>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2400" u="none">
                <a:solidFill>
                  <a:schemeClr val="dk1"/>
                </a:solidFill>
                <a:latin typeface="Arial"/>
                <a:ea typeface="Arial"/>
                <a:cs typeface="Arial"/>
                <a:sym typeface="Arial"/>
              </a:endParaRPr>
            </a:p>
          </p:txBody>
        </p:sp>
        <p:sp>
          <p:nvSpPr>
            <p:cNvPr id="548" name="Google Shape;548;p6"/>
            <p:cNvSpPr/>
            <p:nvPr/>
          </p:nvSpPr>
          <p:spPr>
            <a:xfrm>
              <a:off x="4245" y="435"/>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2400" u="none">
                <a:solidFill>
                  <a:schemeClr val="dk1"/>
                </a:solidFill>
                <a:latin typeface="Arial"/>
                <a:ea typeface="Arial"/>
                <a:cs typeface="Arial"/>
                <a:sym typeface="Arial"/>
              </a:endParaRPr>
            </a:p>
          </p:txBody>
        </p:sp>
        <p:sp>
          <p:nvSpPr>
            <p:cNvPr id="549" name="Google Shape;549;p6"/>
            <p:cNvSpPr/>
            <p:nvPr/>
          </p:nvSpPr>
          <p:spPr>
            <a:xfrm>
              <a:off x="4251" y="438"/>
              <a:ext cx="426" cy="126"/>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2400" u="none">
                <a:solidFill>
                  <a:schemeClr val="dk1"/>
                </a:solidFill>
                <a:latin typeface="Arial"/>
                <a:ea typeface="Arial"/>
                <a:cs typeface="Arial"/>
                <a:sym typeface="Arial"/>
              </a:endParaRPr>
            </a:p>
          </p:txBody>
        </p:sp>
        <p:sp>
          <p:nvSpPr>
            <p:cNvPr id="550" name="Google Shape;550;p6"/>
            <p:cNvSpPr txBox="1"/>
            <p:nvPr/>
          </p:nvSpPr>
          <p:spPr>
            <a:xfrm>
              <a:off x="4205" y="421"/>
              <a:ext cx="513" cy="5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1000"/>
                <a:buFont typeface="Arial"/>
                <a:buNone/>
              </a:pPr>
              <a:r>
                <a:rPr b="0" lang="en-US" sz="1000" u="none">
                  <a:solidFill>
                    <a:schemeClr val="lt1"/>
                  </a:solidFill>
                  <a:latin typeface="Arial"/>
                  <a:ea typeface="Arial"/>
                  <a:cs typeface="Arial"/>
                  <a:sym typeface="Arial"/>
                </a:rPr>
                <a:t>application</a:t>
              </a:r>
              <a:endParaRPr b="0" sz="1000" u="none">
                <a:solidFill>
                  <a:schemeClr val="dk1"/>
                </a:solidFill>
                <a:latin typeface="Arial"/>
                <a:ea typeface="Arial"/>
                <a:cs typeface="Arial"/>
                <a:sym typeface="Arial"/>
              </a:endParaRPr>
            </a:p>
            <a:p>
              <a:pPr indent="0" lvl="0" marL="0" marR="0" rtl="0" algn="ctr">
                <a:spcBef>
                  <a:spcPts val="0"/>
                </a:spcBef>
                <a:spcAft>
                  <a:spcPts val="0"/>
                </a:spcAft>
                <a:buClr>
                  <a:schemeClr val="dk1"/>
                </a:buClr>
                <a:buSzPts val="1000"/>
                <a:buFont typeface="Arial"/>
                <a:buNone/>
              </a:pPr>
              <a:r>
                <a:rPr b="0" lang="en-US" sz="1000" u="none">
                  <a:solidFill>
                    <a:schemeClr val="dk1"/>
                  </a:solidFill>
                  <a:latin typeface="Arial"/>
                  <a:ea typeface="Arial"/>
                  <a:cs typeface="Arial"/>
                  <a:sym typeface="Arial"/>
                </a:rPr>
                <a:t>transport</a:t>
              </a:r>
              <a:endParaRPr/>
            </a:p>
            <a:p>
              <a:pPr indent="0" lvl="0" marL="0" marR="0" rtl="0" algn="ctr">
                <a:spcBef>
                  <a:spcPts val="0"/>
                </a:spcBef>
                <a:spcAft>
                  <a:spcPts val="0"/>
                </a:spcAft>
                <a:buClr>
                  <a:schemeClr val="dk1"/>
                </a:buClr>
                <a:buSzPts val="1000"/>
                <a:buFont typeface="Arial"/>
                <a:buNone/>
              </a:pPr>
              <a:r>
                <a:rPr b="0" lang="en-US" sz="1000" u="none">
                  <a:solidFill>
                    <a:schemeClr val="dk1"/>
                  </a:solidFill>
                  <a:latin typeface="Arial"/>
                  <a:ea typeface="Arial"/>
                  <a:cs typeface="Arial"/>
                  <a:sym typeface="Arial"/>
                </a:rPr>
                <a:t>network</a:t>
              </a:r>
              <a:endParaRPr/>
            </a:p>
            <a:p>
              <a:pPr indent="0" lvl="0" marL="0" marR="0" rtl="0" algn="ctr">
                <a:spcBef>
                  <a:spcPts val="0"/>
                </a:spcBef>
                <a:spcAft>
                  <a:spcPts val="0"/>
                </a:spcAft>
                <a:buClr>
                  <a:schemeClr val="dk1"/>
                </a:buClr>
                <a:buSzPts val="1000"/>
                <a:buFont typeface="Arial"/>
                <a:buNone/>
              </a:pPr>
              <a:r>
                <a:rPr b="0" lang="en-US" sz="1000" u="none">
                  <a:solidFill>
                    <a:schemeClr val="dk1"/>
                  </a:solidFill>
                  <a:latin typeface="Arial"/>
                  <a:ea typeface="Arial"/>
                  <a:cs typeface="Arial"/>
                  <a:sym typeface="Arial"/>
                </a:rPr>
                <a:t>data link</a:t>
              </a:r>
              <a:endParaRPr/>
            </a:p>
            <a:p>
              <a:pPr indent="0" lvl="0" marL="0" marR="0" rtl="0" algn="ctr">
                <a:spcBef>
                  <a:spcPts val="0"/>
                </a:spcBef>
                <a:spcAft>
                  <a:spcPts val="0"/>
                </a:spcAft>
                <a:buClr>
                  <a:schemeClr val="dk1"/>
                </a:buClr>
                <a:buSzPts val="1000"/>
                <a:buFont typeface="Arial"/>
                <a:buNone/>
              </a:pPr>
              <a:r>
                <a:rPr b="0" lang="en-US" sz="1000" u="none">
                  <a:solidFill>
                    <a:schemeClr val="dk1"/>
                  </a:solidFill>
                  <a:latin typeface="Arial"/>
                  <a:ea typeface="Arial"/>
                  <a:cs typeface="Arial"/>
                  <a:sym typeface="Arial"/>
                </a:rPr>
                <a:t>physical</a:t>
              </a:r>
              <a:endParaRPr b="0" sz="2400" u="none">
                <a:solidFill>
                  <a:schemeClr val="dk1"/>
                </a:solidFill>
                <a:latin typeface="Arial"/>
                <a:ea typeface="Arial"/>
                <a:cs typeface="Arial"/>
                <a:sym typeface="Arial"/>
              </a:endParaRPr>
            </a:p>
          </p:txBody>
        </p:sp>
        <p:cxnSp>
          <p:nvCxnSpPr>
            <p:cNvPr id="551" name="Google Shape;551;p6"/>
            <p:cNvCxnSpPr/>
            <p:nvPr/>
          </p:nvCxnSpPr>
          <p:spPr>
            <a:xfrm>
              <a:off x="4245" y="651"/>
              <a:ext cx="435" cy="3"/>
            </a:xfrm>
            <a:prstGeom prst="straightConnector1">
              <a:avLst/>
            </a:prstGeom>
            <a:noFill/>
            <a:ln cap="flat" cmpd="sng" w="12700">
              <a:solidFill>
                <a:schemeClr val="dk1"/>
              </a:solidFill>
              <a:prstDash val="solid"/>
              <a:round/>
              <a:headEnd len="med" w="med" type="none"/>
              <a:tailEnd len="med" w="med" type="none"/>
            </a:ln>
          </p:spPr>
        </p:cxnSp>
        <p:cxnSp>
          <p:nvCxnSpPr>
            <p:cNvPr id="552" name="Google Shape;552;p6"/>
            <p:cNvCxnSpPr/>
            <p:nvPr/>
          </p:nvCxnSpPr>
          <p:spPr>
            <a:xfrm>
              <a:off x="4251" y="738"/>
              <a:ext cx="435" cy="3"/>
            </a:xfrm>
            <a:prstGeom prst="straightConnector1">
              <a:avLst/>
            </a:prstGeom>
            <a:noFill/>
            <a:ln cap="flat" cmpd="sng" w="12700">
              <a:solidFill>
                <a:schemeClr val="dk1"/>
              </a:solidFill>
              <a:prstDash val="solid"/>
              <a:round/>
              <a:headEnd len="med" w="med" type="none"/>
              <a:tailEnd len="med" w="med" type="none"/>
            </a:ln>
          </p:spPr>
        </p:cxnSp>
        <p:cxnSp>
          <p:nvCxnSpPr>
            <p:cNvPr id="553" name="Google Shape;553;p6"/>
            <p:cNvCxnSpPr/>
            <p:nvPr/>
          </p:nvCxnSpPr>
          <p:spPr>
            <a:xfrm>
              <a:off x="4251" y="825"/>
              <a:ext cx="435" cy="3"/>
            </a:xfrm>
            <a:prstGeom prst="straightConnector1">
              <a:avLst/>
            </a:prstGeom>
            <a:noFill/>
            <a:ln cap="flat" cmpd="sng" w="12700">
              <a:solidFill>
                <a:schemeClr val="dk1"/>
              </a:solidFill>
              <a:prstDash val="solid"/>
              <a:round/>
              <a:headEnd len="med" w="med" type="none"/>
              <a:tailEnd len="med" w="med" type="none"/>
            </a:ln>
          </p:spPr>
        </p:cxnSp>
        <p:sp>
          <p:nvSpPr>
            <p:cNvPr id="554" name="Google Shape;554;p6"/>
            <p:cNvSpPr/>
            <p:nvPr/>
          </p:nvSpPr>
          <p:spPr>
            <a:xfrm>
              <a:off x="4047" y="434"/>
              <a:ext cx="192" cy="594"/>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55" name="Google Shape;555;p6"/>
          <p:cNvGrpSpPr/>
          <p:nvPr/>
        </p:nvGrpSpPr>
        <p:grpSpPr>
          <a:xfrm>
            <a:off x="10104523" y="4743539"/>
            <a:ext cx="1050926" cy="974725"/>
            <a:chOff x="4047" y="414"/>
            <a:chExt cx="662" cy="614"/>
          </a:xfrm>
        </p:grpSpPr>
        <p:sp>
          <p:nvSpPr>
            <p:cNvPr id="556" name="Google Shape;556;p6"/>
            <p:cNvSpPr/>
            <p:nvPr/>
          </p:nvSpPr>
          <p:spPr>
            <a:xfrm>
              <a:off x="4266" y="420"/>
              <a:ext cx="426" cy="489"/>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2400" u="none">
                <a:solidFill>
                  <a:schemeClr val="dk1"/>
                </a:solidFill>
                <a:latin typeface="Arial"/>
                <a:ea typeface="Arial"/>
                <a:cs typeface="Arial"/>
                <a:sym typeface="Arial"/>
              </a:endParaRPr>
            </a:p>
          </p:txBody>
        </p:sp>
        <p:sp>
          <p:nvSpPr>
            <p:cNvPr id="557" name="Google Shape;557;p6"/>
            <p:cNvSpPr/>
            <p:nvPr/>
          </p:nvSpPr>
          <p:spPr>
            <a:xfrm>
              <a:off x="4245" y="435"/>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2400" u="none">
                <a:solidFill>
                  <a:schemeClr val="dk1"/>
                </a:solidFill>
                <a:latin typeface="Arial"/>
                <a:ea typeface="Arial"/>
                <a:cs typeface="Arial"/>
                <a:sym typeface="Arial"/>
              </a:endParaRPr>
            </a:p>
          </p:txBody>
        </p:sp>
        <p:sp>
          <p:nvSpPr>
            <p:cNvPr id="558" name="Google Shape;558;p6"/>
            <p:cNvSpPr/>
            <p:nvPr/>
          </p:nvSpPr>
          <p:spPr>
            <a:xfrm>
              <a:off x="4251" y="438"/>
              <a:ext cx="426" cy="126"/>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2400" u="none">
                <a:solidFill>
                  <a:schemeClr val="dk1"/>
                </a:solidFill>
                <a:latin typeface="Arial"/>
                <a:ea typeface="Arial"/>
                <a:cs typeface="Arial"/>
                <a:sym typeface="Arial"/>
              </a:endParaRPr>
            </a:p>
          </p:txBody>
        </p:sp>
        <p:sp>
          <p:nvSpPr>
            <p:cNvPr id="559" name="Google Shape;559;p6"/>
            <p:cNvSpPr txBox="1"/>
            <p:nvPr/>
          </p:nvSpPr>
          <p:spPr>
            <a:xfrm>
              <a:off x="4196" y="414"/>
              <a:ext cx="513" cy="5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1000"/>
                <a:buFont typeface="Arial"/>
                <a:buNone/>
              </a:pPr>
              <a:r>
                <a:rPr b="0" lang="en-US" sz="1000" u="none">
                  <a:solidFill>
                    <a:schemeClr val="lt1"/>
                  </a:solidFill>
                  <a:latin typeface="Arial"/>
                  <a:ea typeface="Arial"/>
                  <a:cs typeface="Arial"/>
                  <a:sym typeface="Arial"/>
                </a:rPr>
                <a:t>application</a:t>
              </a:r>
              <a:endParaRPr b="0" sz="1000" u="none">
                <a:solidFill>
                  <a:schemeClr val="dk1"/>
                </a:solidFill>
                <a:latin typeface="Arial"/>
                <a:ea typeface="Arial"/>
                <a:cs typeface="Arial"/>
                <a:sym typeface="Arial"/>
              </a:endParaRPr>
            </a:p>
            <a:p>
              <a:pPr indent="0" lvl="0" marL="0" marR="0" rtl="0" algn="ctr">
                <a:spcBef>
                  <a:spcPts val="0"/>
                </a:spcBef>
                <a:spcAft>
                  <a:spcPts val="0"/>
                </a:spcAft>
                <a:buClr>
                  <a:schemeClr val="dk1"/>
                </a:buClr>
                <a:buSzPts val="1000"/>
                <a:buFont typeface="Arial"/>
                <a:buNone/>
              </a:pPr>
              <a:r>
                <a:rPr b="0" lang="en-US" sz="1000" u="none">
                  <a:solidFill>
                    <a:schemeClr val="dk1"/>
                  </a:solidFill>
                  <a:latin typeface="Arial"/>
                  <a:ea typeface="Arial"/>
                  <a:cs typeface="Arial"/>
                  <a:sym typeface="Arial"/>
                </a:rPr>
                <a:t>transport</a:t>
              </a:r>
              <a:endParaRPr/>
            </a:p>
            <a:p>
              <a:pPr indent="0" lvl="0" marL="0" marR="0" rtl="0" algn="ctr">
                <a:spcBef>
                  <a:spcPts val="0"/>
                </a:spcBef>
                <a:spcAft>
                  <a:spcPts val="0"/>
                </a:spcAft>
                <a:buClr>
                  <a:schemeClr val="dk1"/>
                </a:buClr>
                <a:buSzPts val="1000"/>
                <a:buFont typeface="Arial"/>
                <a:buNone/>
              </a:pPr>
              <a:r>
                <a:rPr b="0" lang="en-US" sz="1000" u="none">
                  <a:solidFill>
                    <a:schemeClr val="dk1"/>
                  </a:solidFill>
                  <a:latin typeface="Arial"/>
                  <a:ea typeface="Arial"/>
                  <a:cs typeface="Arial"/>
                  <a:sym typeface="Arial"/>
                </a:rPr>
                <a:t>network</a:t>
              </a:r>
              <a:endParaRPr/>
            </a:p>
            <a:p>
              <a:pPr indent="0" lvl="0" marL="0" marR="0" rtl="0" algn="ctr">
                <a:spcBef>
                  <a:spcPts val="0"/>
                </a:spcBef>
                <a:spcAft>
                  <a:spcPts val="0"/>
                </a:spcAft>
                <a:buClr>
                  <a:schemeClr val="dk1"/>
                </a:buClr>
                <a:buSzPts val="1000"/>
                <a:buFont typeface="Arial"/>
                <a:buNone/>
              </a:pPr>
              <a:r>
                <a:rPr b="0" lang="en-US" sz="1000" u="none">
                  <a:solidFill>
                    <a:schemeClr val="dk1"/>
                  </a:solidFill>
                  <a:latin typeface="Arial"/>
                  <a:ea typeface="Arial"/>
                  <a:cs typeface="Arial"/>
                  <a:sym typeface="Arial"/>
                </a:rPr>
                <a:t>data link</a:t>
              </a:r>
              <a:endParaRPr/>
            </a:p>
            <a:p>
              <a:pPr indent="0" lvl="0" marL="0" marR="0" rtl="0" algn="ctr">
                <a:spcBef>
                  <a:spcPts val="0"/>
                </a:spcBef>
                <a:spcAft>
                  <a:spcPts val="0"/>
                </a:spcAft>
                <a:buClr>
                  <a:schemeClr val="dk1"/>
                </a:buClr>
                <a:buSzPts val="1000"/>
                <a:buFont typeface="Arial"/>
                <a:buNone/>
              </a:pPr>
              <a:r>
                <a:rPr b="0" lang="en-US" sz="1000" u="none">
                  <a:solidFill>
                    <a:schemeClr val="dk1"/>
                  </a:solidFill>
                  <a:latin typeface="Arial"/>
                  <a:ea typeface="Arial"/>
                  <a:cs typeface="Arial"/>
                  <a:sym typeface="Arial"/>
                </a:rPr>
                <a:t>physical</a:t>
              </a:r>
              <a:endParaRPr b="0" sz="2400" u="none">
                <a:solidFill>
                  <a:schemeClr val="dk1"/>
                </a:solidFill>
                <a:latin typeface="Arial"/>
                <a:ea typeface="Arial"/>
                <a:cs typeface="Arial"/>
                <a:sym typeface="Arial"/>
              </a:endParaRPr>
            </a:p>
          </p:txBody>
        </p:sp>
        <p:cxnSp>
          <p:nvCxnSpPr>
            <p:cNvPr id="560" name="Google Shape;560;p6"/>
            <p:cNvCxnSpPr/>
            <p:nvPr/>
          </p:nvCxnSpPr>
          <p:spPr>
            <a:xfrm>
              <a:off x="4245" y="651"/>
              <a:ext cx="435" cy="3"/>
            </a:xfrm>
            <a:prstGeom prst="straightConnector1">
              <a:avLst/>
            </a:prstGeom>
            <a:noFill/>
            <a:ln cap="flat" cmpd="sng" w="12700">
              <a:solidFill>
                <a:schemeClr val="dk1"/>
              </a:solidFill>
              <a:prstDash val="solid"/>
              <a:round/>
              <a:headEnd len="med" w="med" type="none"/>
              <a:tailEnd len="med" w="med" type="none"/>
            </a:ln>
          </p:spPr>
        </p:cxnSp>
        <p:cxnSp>
          <p:nvCxnSpPr>
            <p:cNvPr id="561" name="Google Shape;561;p6"/>
            <p:cNvCxnSpPr/>
            <p:nvPr/>
          </p:nvCxnSpPr>
          <p:spPr>
            <a:xfrm>
              <a:off x="4251" y="738"/>
              <a:ext cx="435" cy="3"/>
            </a:xfrm>
            <a:prstGeom prst="straightConnector1">
              <a:avLst/>
            </a:prstGeom>
            <a:noFill/>
            <a:ln cap="flat" cmpd="sng" w="12700">
              <a:solidFill>
                <a:schemeClr val="dk1"/>
              </a:solidFill>
              <a:prstDash val="solid"/>
              <a:round/>
              <a:headEnd len="med" w="med" type="none"/>
              <a:tailEnd len="med" w="med" type="none"/>
            </a:ln>
          </p:spPr>
        </p:cxnSp>
        <p:cxnSp>
          <p:nvCxnSpPr>
            <p:cNvPr id="562" name="Google Shape;562;p6"/>
            <p:cNvCxnSpPr/>
            <p:nvPr/>
          </p:nvCxnSpPr>
          <p:spPr>
            <a:xfrm>
              <a:off x="4251" y="825"/>
              <a:ext cx="435" cy="3"/>
            </a:xfrm>
            <a:prstGeom prst="straightConnector1">
              <a:avLst/>
            </a:prstGeom>
            <a:noFill/>
            <a:ln cap="flat" cmpd="sng" w="12700">
              <a:solidFill>
                <a:schemeClr val="dk1"/>
              </a:solidFill>
              <a:prstDash val="solid"/>
              <a:round/>
              <a:headEnd len="med" w="med" type="none"/>
              <a:tailEnd len="med" w="med" type="none"/>
            </a:ln>
          </p:spPr>
        </p:cxnSp>
        <p:sp>
          <p:nvSpPr>
            <p:cNvPr id="563" name="Google Shape;563;p6"/>
            <p:cNvSpPr/>
            <p:nvPr/>
          </p:nvSpPr>
          <p:spPr>
            <a:xfrm>
              <a:off x="4047" y="434"/>
              <a:ext cx="192" cy="594"/>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64" name="Google Shape;564;p6"/>
          <p:cNvGrpSpPr/>
          <p:nvPr/>
        </p:nvGrpSpPr>
        <p:grpSpPr>
          <a:xfrm>
            <a:off x="7962986" y="4374557"/>
            <a:ext cx="1060451" cy="965200"/>
            <a:chOff x="4047" y="420"/>
            <a:chExt cx="668" cy="608"/>
          </a:xfrm>
        </p:grpSpPr>
        <p:sp>
          <p:nvSpPr>
            <p:cNvPr id="565" name="Google Shape;565;p6"/>
            <p:cNvSpPr/>
            <p:nvPr/>
          </p:nvSpPr>
          <p:spPr>
            <a:xfrm>
              <a:off x="4266" y="420"/>
              <a:ext cx="426" cy="489"/>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2400" u="none">
                <a:solidFill>
                  <a:schemeClr val="dk1"/>
                </a:solidFill>
                <a:latin typeface="Arial"/>
                <a:ea typeface="Arial"/>
                <a:cs typeface="Arial"/>
                <a:sym typeface="Arial"/>
              </a:endParaRPr>
            </a:p>
          </p:txBody>
        </p:sp>
        <p:sp>
          <p:nvSpPr>
            <p:cNvPr id="566" name="Google Shape;566;p6"/>
            <p:cNvSpPr/>
            <p:nvPr/>
          </p:nvSpPr>
          <p:spPr>
            <a:xfrm>
              <a:off x="4245" y="435"/>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2400" u="none">
                <a:solidFill>
                  <a:schemeClr val="dk1"/>
                </a:solidFill>
                <a:latin typeface="Arial"/>
                <a:ea typeface="Arial"/>
                <a:cs typeface="Arial"/>
                <a:sym typeface="Arial"/>
              </a:endParaRPr>
            </a:p>
          </p:txBody>
        </p:sp>
        <p:sp>
          <p:nvSpPr>
            <p:cNvPr id="567" name="Google Shape;567;p6"/>
            <p:cNvSpPr/>
            <p:nvPr/>
          </p:nvSpPr>
          <p:spPr>
            <a:xfrm>
              <a:off x="4251" y="438"/>
              <a:ext cx="426" cy="126"/>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2400" u="none">
                <a:solidFill>
                  <a:schemeClr val="dk1"/>
                </a:solidFill>
                <a:latin typeface="Arial"/>
                <a:ea typeface="Arial"/>
                <a:cs typeface="Arial"/>
                <a:sym typeface="Arial"/>
              </a:endParaRPr>
            </a:p>
          </p:txBody>
        </p:sp>
        <p:sp>
          <p:nvSpPr>
            <p:cNvPr id="568" name="Google Shape;568;p6"/>
            <p:cNvSpPr txBox="1"/>
            <p:nvPr/>
          </p:nvSpPr>
          <p:spPr>
            <a:xfrm>
              <a:off x="4202" y="423"/>
              <a:ext cx="513" cy="5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1000"/>
                <a:buFont typeface="Arial"/>
                <a:buNone/>
              </a:pPr>
              <a:r>
                <a:rPr b="0" lang="en-US" sz="1000" u="none">
                  <a:solidFill>
                    <a:schemeClr val="lt1"/>
                  </a:solidFill>
                  <a:latin typeface="Arial"/>
                  <a:ea typeface="Arial"/>
                  <a:cs typeface="Arial"/>
                  <a:sym typeface="Arial"/>
                </a:rPr>
                <a:t>application</a:t>
              </a:r>
              <a:endParaRPr b="0" sz="1000" u="none">
                <a:solidFill>
                  <a:schemeClr val="dk1"/>
                </a:solidFill>
                <a:latin typeface="Arial"/>
                <a:ea typeface="Arial"/>
                <a:cs typeface="Arial"/>
                <a:sym typeface="Arial"/>
              </a:endParaRPr>
            </a:p>
            <a:p>
              <a:pPr indent="0" lvl="0" marL="0" marR="0" rtl="0" algn="ctr">
                <a:spcBef>
                  <a:spcPts val="0"/>
                </a:spcBef>
                <a:spcAft>
                  <a:spcPts val="0"/>
                </a:spcAft>
                <a:buClr>
                  <a:schemeClr val="dk1"/>
                </a:buClr>
                <a:buSzPts val="1000"/>
                <a:buFont typeface="Arial"/>
                <a:buNone/>
              </a:pPr>
              <a:r>
                <a:rPr b="0" lang="en-US" sz="1000" u="none">
                  <a:solidFill>
                    <a:schemeClr val="dk1"/>
                  </a:solidFill>
                  <a:latin typeface="Arial"/>
                  <a:ea typeface="Arial"/>
                  <a:cs typeface="Arial"/>
                  <a:sym typeface="Arial"/>
                </a:rPr>
                <a:t>transport</a:t>
              </a:r>
              <a:endParaRPr/>
            </a:p>
            <a:p>
              <a:pPr indent="0" lvl="0" marL="0" marR="0" rtl="0" algn="ctr">
                <a:spcBef>
                  <a:spcPts val="0"/>
                </a:spcBef>
                <a:spcAft>
                  <a:spcPts val="0"/>
                </a:spcAft>
                <a:buClr>
                  <a:schemeClr val="dk1"/>
                </a:buClr>
                <a:buSzPts val="1000"/>
                <a:buFont typeface="Arial"/>
                <a:buNone/>
              </a:pPr>
              <a:r>
                <a:rPr b="0" lang="en-US" sz="1000" u="none">
                  <a:solidFill>
                    <a:schemeClr val="dk1"/>
                  </a:solidFill>
                  <a:latin typeface="Arial"/>
                  <a:ea typeface="Arial"/>
                  <a:cs typeface="Arial"/>
                  <a:sym typeface="Arial"/>
                </a:rPr>
                <a:t>network</a:t>
              </a:r>
              <a:endParaRPr/>
            </a:p>
            <a:p>
              <a:pPr indent="0" lvl="0" marL="0" marR="0" rtl="0" algn="ctr">
                <a:spcBef>
                  <a:spcPts val="0"/>
                </a:spcBef>
                <a:spcAft>
                  <a:spcPts val="0"/>
                </a:spcAft>
                <a:buClr>
                  <a:schemeClr val="dk1"/>
                </a:buClr>
                <a:buSzPts val="1000"/>
                <a:buFont typeface="Arial"/>
                <a:buNone/>
              </a:pPr>
              <a:r>
                <a:rPr b="0" lang="en-US" sz="1000" u="none">
                  <a:solidFill>
                    <a:schemeClr val="dk1"/>
                  </a:solidFill>
                  <a:latin typeface="Arial"/>
                  <a:ea typeface="Arial"/>
                  <a:cs typeface="Arial"/>
                  <a:sym typeface="Arial"/>
                </a:rPr>
                <a:t>data link</a:t>
              </a:r>
              <a:endParaRPr/>
            </a:p>
            <a:p>
              <a:pPr indent="0" lvl="0" marL="0" marR="0" rtl="0" algn="ctr">
                <a:spcBef>
                  <a:spcPts val="0"/>
                </a:spcBef>
                <a:spcAft>
                  <a:spcPts val="0"/>
                </a:spcAft>
                <a:buClr>
                  <a:schemeClr val="dk1"/>
                </a:buClr>
                <a:buSzPts val="1000"/>
                <a:buFont typeface="Arial"/>
                <a:buNone/>
              </a:pPr>
              <a:r>
                <a:rPr b="0" lang="en-US" sz="1000" u="none">
                  <a:solidFill>
                    <a:schemeClr val="dk1"/>
                  </a:solidFill>
                  <a:latin typeface="Arial"/>
                  <a:ea typeface="Arial"/>
                  <a:cs typeface="Arial"/>
                  <a:sym typeface="Arial"/>
                </a:rPr>
                <a:t>physical</a:t>
              </a:r>
              <a:endParaRPr b="0" sz="2400" u="none">
                <a:solidFill>
                  <a:schemeClr val="dk1"/>
                </a:solidFill>
                <a:latin typeface="Arial"/>
                <a:ea typeface="Arial"/>
                <a:cs typeface="Arial"/>
                <a:sym typeface="Arial"/>
              </a:endParaRPr>
            </a:p>
          </p:txBody>
        </p:sp>
        <p:cxnSp>
          <p:nvCxnSpPr>
            <p:cNvPr id="569" name="Google Shape;569;p6"/>
            <p:cNvCxnSpPr/>
            <p:nvPr/>
          </p:nvCxnSpPr>
          <p:spPr>
            <a:xfrm>
              <a:off x="4245" y="651"/>
              <a:ext cx="435" cy="3"/>
            </a:xfrm>
            <a:prstGeom prst="straightConnector1">
              <a:avLst/>
            </a:prstGeom>
            <a:noFill/>
            <a:ln cap="flat" cmpd="sng" w="12700">
              <a:solidFill>
                <a:schemeClr val="dk1"/>
              </a:solidFill>
              <a:prstDash val="solid"/>
              <a:round/>
              <a:headEnd len="med" w="med" type="none"/>
              <a:tailEnd len="med" w="med" type="none"/>
            </a:ln>
          </p:spPr>
        </p:cxnSp>
        <p:cxnSp>
          <p:nvCxnSpPr>
            <p:cNvPr id="570" name="Google Shape;570;p6"/>
            <p:cNvCxnSpPr/>
            <p:nvPr/>
          </p:nvCxnSpPr>
          <p:spPr>
            <a:xfrm>
              <a:off x="4251" y="738"/>
              <a:ext cx="435" cy="3"/>
            </a:xfrm>
            <a:prstGeom prst="straightConnector1">
              <a:avLst/>
            </a:prstGeom>
            <a:noFill/>
            <a:ln cap="flat" cmpd="sng" w="12700">
              <a:solidFill>
                <a:schemeClr val="dk1"/>
              </a:solidFill>
              <a:prstDash val="solid"/>
              <a:round/>
              <a:headEnd len="med" w="med" type="none"/>
              <a:tailEnd len="med" w="med" type="none"/>
            </a:ln>
          </p:spPr>
        </p:cxnSp>
        <p:cxnSp>
          <p:nvCxnSpPr>
            <p:cNvPr id="571" name="Google Shape;571;p6"/>
            <p:cNvCxnSpPr/>
            <p:nvPr/>
          </p:nvCxnSpPr>
          <p:spPr>
            <a:xfrm>
              <a:off x="4251" y="825"/>
              <a:ext cx="435" cy="3"/>
            </a:xfrm>
            <a:prstGeom prst="straightConnector1">
              <a:avLst/>
            </a:prstGeom>
            <a:noFill/>
            <a:ln cap="flat" cmpd="sng" w="12700">
              <a:solidFill>
                <a:schemeClr val="dk1"/>
              </a:solidFill>
              <a:prstDash val="solid"/>
              <a:round/>
              <a:headEnd len="med" w="med" type="none"/>
              <a:tailEnd len="med" w="med" type="none"/>
            </a:ln>
          </p:spPr>
        </p:cxnSp>
        <p:sp>
          <p:nvSpPr>
            <p:cNvPr id="572" name="Google Shape;572;p6"/>
            <p:cNvSpPr/>
            <p:nvPr/>
          </p:nvSpPr>
          <p:spPr>
            <a:xfrm>
              <a:off x="4047" y="434"/>
              <a:ext cx="192" cy="594"/>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573" name="Google Shape;573;p6"/>
          <p:cNvCxnSpPr/>
          <p:nvPr/>
        </p:nvCxnSpPr>
        <p:spPr>
          <a:xfrm>
            <a:off x="8998030" y="4451439"/>
            <a:ext cx="1290637" cy="541337"/>
          </a:xfrm>
          <a:prstGeom prst="straightConnector1">
            <a:avLst/>
          </a:prstGeom>
          <a:noFill/>
          <a:ln cap="flat" cmpd="sng" w="76200">
            <a:solidFill>
              <a:srgbClr val="CC0000"/>
            </a:solidFill>
            <a:prstDash val="solid"/>
            <a:round/>
            <a:headEnd len="med" w="med" type="triangle"/>
            <a:tailEnd len="med" w="med" type="triangle"/>
          </a:ln>
        </p:spPr>
      </p:cxnSp>
      <p:cxnSp>
        <p:nvCxnSpPr>
          <p:cNvPr id="574" name="Google Shape;574;p6"/>
          <p:cNvCxnSpPr/>
          <p:nvPr/>
        </p:nvCxnSpPr>
        <p:spPr>
          <a:xfrm>
            <a:off x="9093280" y="1325651"/>
            <a:ext cx="1700212" cy="3386138"/>
          </a:xfrm>
          <a:prstGeom prst="straightConnector1">
            <a:avLst/>
          </a:prstGeom>
          <a:noFill/>
          <a:ln cap="flat" cmpd="sng" w="76200">
            <a:solidFill>
              <a:srgbClr val="CC0000"/>
            </a:solidFill>
            <a:prstDash val="solid"/>
            <a:round/>
            <a:headEnd len="med" w="med" type="triangle"/>
            <a:tailEnd len="med" w="med" type="triangle"/>
          </a:ln>
        </p:spPr>
      </p:cxnSp>
      <p:sp>
        <p:nvSpPr>
          <p:cNvPr id="575" name="Google Shape;575;p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Creating a network </a:t>
            </a:r>
            <a:r>
              <a:rPr lang="en-US"/>
              <a:t>a</a:t>
            </a:r>
            <a:r>
              <a:rPr lang="en-US" sz="4400"/>
              <a:t>pp</a:t>
            </a:r>
            <a:endParaRPr sz="4400"/>
          </a:p>
        </p:txBody>
      </p:sp>
      <p:sp>
        <p:nvSpPr>
          <p:cNvPr id="576" name="Google Shape;576;p6"/>
          <p:cNvSpPr txBox="1"/>
          <p:nvPr/>
        </p:nvSpPr>
        <p:spPr>
          <a:xfrm>
            <a:off x="889178" y="1334086"/>
            <a:ext cx="5309184" cy="4974698"/>
          </a:xfrm>
          <a:prstGeom prst="rect">
            <a:avLst/>
          </a:prstGeom>
          <a:noFill/>
          <a:ln>
            <a:noFill/>
          </a:ln>
        </p:spPr>
        <p:txBody>
          <a:bodyPr anchorCtr="0" anchor="t" bIns="45700" lIns="91425" spcFirstLastPara="1" rIns="91425" wrap="square" tIns="45700">
            <a:noAutofit/>
          </a:bodyPr>
          <a:lstStyle/>
          <a:p>
            <a:pPr indent="0" lvl="0" marL="14287" marR="0" rtl="0" algn="l">
              <a:lnSpc>
                <a:spcPct val="90000"/>
              </a:lnSpc>
              <a:spcBef>
                <a:spcPts val="0"/>
              </a:spcBef>
              <a:spcAft>
                <a:spcPts val="0"/>
              </a:spcAft>
              <a:buClr>
                <a:srgbClr val="0000A8"/>
              </a:buClr>
              <a:buSzPts val="2800"/>
              <a:buFont typeface="Noto Sans Symbols"/>
              <a:buNone/>
            </a:pPr>
            <a:r>
              <a:rPr b="0" lang="en-US" sz="2800" u="none">
                <a:solidFill>
                  <a:srgbClr val="C00000"/>
                </a:solidFill>
                <a:latin typeface="Calibri"/>
                <a:ea typeface="Calibri"/>
                <a:cs typeface="Calibri"/>
                <a:sym typeface="Calibri"/>
              </a:rPr>
              <a:t>write programs that:</a:t>
            </a:r>
            <a:endParaRPr/>
          </a:p>
          <a:p>
            <a:pPr indent="-231775" lvl="0" marL="346075" marR="0" rtl="0" algn="l">
              <a:lnSpc>
                <a:spcPct val="90000"/>
              </a:lnSpc>
              <a:spcBef>
                <a:spcPts val="1000"/>
              </a:spcBef>
              <a:spcAft>
                <a:spcPts val="0"/>
              </a:spcAft>
              <a:buClr>
                <a:srgbClr val="0000A3"/>
              </a:buClr>
              <a:buSzPts val="2400"/>
              <a:buFont typeface="Noto Sans Symbols"/>
              <a:buChar char="▪"/>
            </a:pPr>
            <a:r>
              <a:rPr b="0" lang="en-US" sz="2400" u="none">
                <a:solidFill>
                  <a:schemeClr val="dk1"/>
                </a:solidFill>
                <a:latin typeface="Calibri"/>
                <a:ea typeface="Calibri"/>
                <a:cs typeface="Calibri"/>
                <a:sym typeface="Calibri"/>
              </a:rPr>
              <a:t>run on (different) end systems</a:t>
            </a:r>
            <a:endParaRPr/>
          </a:p>
          <a:p>
            <a:pPr indent="-231775" lvl="0" marL="346075" marR="0" rtl="0" algn="l">
              <a:lnSpc>
                <a:spcPct val="90000"/>
              </a:lnSpc>
              <a:spcBef>
                <a:spcPts val="1000"/>
              </a:spcBef>
              <a:spcAft>
                <a:spcPts val="0"/>
              </a:spcAft>
              <a:buClr>
                <a:srgbClr val="0000A3"/>
              </a:buClr>
              <a:buSzPts val="2400"/>
              <a:buFont typeface="Noto Sans Symbols"/>
              <a:buChar char="▪"/>
            </a:pPr>
            <a:r>
              <a:rPr b="0" lang="en-US" sz="2400" u="none">
                <a:solidFill>
                  <a:schemeClr val="dk1"/>
                </a:solidFill>
                <a:latin typeface="Calibri"/>
                <a:ea typeface="Calibri"/>
                <a:cs typeface="Calibri"/>
                <a:sym typeface="Calibri"/>
              </a:rPr>
              <a:t>communicate over network</a:t>
            </a:r>
            <a:endParaRPr/>
          </a:p>
          <a:p>
            <a:pPr indent="-231775" lvl="0" marL="346075" marR="0" rtl="0" algn="l">
              <a:lnSpc>
                <a:spcPct val="90000"/>
              </a:lnSpc>
              <a:spcBef>
                <a:spcPts val="1000"/>
              </a:spcBef>
              <a:spcAft>
                <a:spcPts val="0"/>
              </a:spcAft>
              <a:buClr>
                <a:srgbClr val="0000A3"/>
              </a:buClr>
              <a:buSzPts val="2400"/>
              <a:buFont typeface="Noto Sans Symbols"/>
              <a:buChar char="▪"/>
            </a:pPr>
            <a:r>
              <a:rPr b="0" lang="en-US" sz="2400" u="none">
                <a:solidFill>
                  <a:schemeClr val="dk1"/>
                </a:solidFill>
                <a:latin typeface="Calibri"/>
                <a:ea typeface="Calibri"/>
                <a:cs typeface="Calibri"/>
                <a:sym typeface="Calibri"/>
              </a:rPr>
              <a:t>e.g., web server software communicates with browser software</a:t>
            </a:r>
            <a:endParaRPr/>
          </a:p>
          <a:p>
            <a:pPr indent="0" lvl="0" marL="14287" marR="0" rtl="0" algn="l">
              <a:lnSpc>
                <a:spcPct val="90000"/>
              </a:lnSpc>
              <a:spcBef>
                <a:spcPts val="1000"/>
              </a:spcBef>
              <a:spcAft>
                <a:spcPts val="0"/>
              </a:spcAft>
              <a:buClr>
                <a:srgbClr val="0000A8"/>
              </a:buClr>
              <a:buSzPts val="2800"/>
              <a:buFont typeface="Noto Sans Symbols"/>
              <a:buNone/>
            </a:pPr>
            <a:r>
              <a:rPr b="0" lang="en-US" sz="2800" u="none">
                <a:solidFill>
                  <a:srgbClr val="C00000"/>
                </a:solidFill>
                <a:latin typeface="Calibri"/>
                <a:ea typeface="Calibri"/>
                <a:cs typeface="Calibri"/>
                <a:sym typeface="Calibri"/>
              </a:rPr>
              <a:t>no need to write software for network-core devices</a:t>
            </a:r>
            <a:endParaRPr/>
          </a:p>
          <a:p>
            <a:pPr indent="-231775" lvl="0" marL="346075" marR="0" rtl="0" algn="l">
              <a:lnSpc>
                <a:spcPct val="90000"/>
              </a:lnSpc>
              <a:spcBef>
                <a:spcPts val="1000"/>
              </a:spcBef>
              <a:spcAft>
                <a:spcPts val="0"/>
              </a:spcAft>
              <a:buClr>
                <a:srgbClr val="0000A3"/>
              </a:buClr>
              <a:buSzPts val="2400"/>
              <a:buFont typeface="Noto Sans Symbols"/>
              <a:buChar char="▪"/>
            </a:pPr>
            <a:r>
              <a:rPr b="0" lang="en-US" sz="2400" u="none">
                <a:solidFill>
                  <a:schemeClr val="dk1"/>
                </a:solidFill>
                <a:latin typeface="Calibri"/>
                <a:ea typeface="Calibri"/>
                <a:cs typeface="Calibri"/>
                <a:sym typeface="Calibri"/>
              </a:rPr>
              <a:t>network-core devices do not run user applications </a:t>
            </a:r>
            <a:endParaRPr/>
          </a:p>
          <a:p>
            <a:pPr indent="-231775" lvl="0" marL="346075" marR="0" rtl="0" algn="l">
              <a:lnSpc>
                <a:spcPct val="90000"/>
              </a:lnSpc>
              <a:spcBef>
                <a:spcPts val="1000"/>
              </a:spcBef>
              <a:spcAft>
                <a:spcPts val="0"/>
              </a:spcAft>
              <a:buClr>
                <a:srgbClr val="0000A3"/>
              </a:buClr>
              <a:buSzPts val="2400"/>
              <a:buFont typeface="Noto Sans Symbols"/>
              <a:buChar char="▪"/>
            </a:pPr>
            <a:r>
              <a:rPr b="0" lang="en-US" sz="2400" u="none">
                <a:solidFill>
                  <a:schemeClr val="dk1"/>
                </a:solidFill>
                <a:latin typeface="Calibri"/>
                <a:ea typeface="Calibri"/>
                <a:cs typeface="Calibri"/>
                <a:sym typeface="Calibri"/>
              </a:rPr>
              <a:t>applications on end systems  allows for rapid app development, propagation</a:t>
            </a:r>
            <a:endParaRPr/>
          </a:p>
          <a:p>
            <a:pPr indent="-19050" lvl="0" marL="352425" marR="0" rtl="0" algn="l">
              <a:lnSpc>
                <a:spcPct val="90000"/>
              </a:lnSpc>
              <a:spcBef>
                <a:spcPts val="1000"/>
              </a:spcBef>
              <a:spcAft>
                <a:spcPts val="0"/>
              </a:spcAft>
              <a:buClr>
                <a:srgbClr val="0000A3"/>
              </a:buClr>
              <a:buSzPts val="3200"/>
              <a:buFont typeface="Noto Sans Symbols"/>
              <a:buNone/>
            </a:pPr>
            <a:r>
              <a:t/>
            </a:r>
            <a:endParaRPr b="0" sz="3200" u="none">
              <a:solidFill>
                <a:schemeClr val="dk1"/>
              </a:solidFill>
              <a:latin typeface="Calibri"/>
              <a:ea typeface="Calibri"/>
              <a:cs typeface="Calibri"/>
              <a:sym typeface="Calibri"/>
            </a:endParaRPr>
          </a:p>
        </p:txBody>
      </p:sp>
      <p:grpSp>
        <p:nvGrpSpPr>
          <p:cNvPr id="577" name="Google Shape;577;p6"/>
          <p:cNvGrpSpPr/>
          <p:nvPr/>
        </p:nvGrpSpPr>
        <p:grpSpPr>
          <a:xfrm>
            <a:off x="10002508" y="5616400"/>
            <a:ext cx="214974" cy="403920"/>
            <a:chOff x="4140" y="429"/>
            <a:chExt cx="1425" cy="2396"/>
          </a:xfrm>
        </p:grpSpPr>
        <p:sp>
          <p:nvSpPr>
            <p:cNvPr id="578" name="Google Shape;578;p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6"/>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80" name="Google Shape;580;p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6"/>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583" name="Google Shape;583;p6"/>
            <p:cNvGrpSpPr/>
            <p:nvPr/>
          </p:nvGrpSpPr>
          <p:grpSpPr>
            <a:xfrm>
              <a:off x="4748" y="666"/>
              <a:ext cx="578" cy="150"/>
              <a:chOff x="613" y="2566"/>
              <a:chExt cx="721" cy="144"/>
            </a:xfrm>
          </p:grpSpPr>
          <p:sp>
            <p:nvSpPr>
              <p:cNvPr id="584" name="Google Shape;584;p6"/>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85" name="Google Shape;585;p6"/>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586" name="Google Shape;586;p6"/>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587" name="Google Shape;587;p6"/>
            <p:cNvGrpSpPr/>
            <p:nvPr/>
          </p:nvGrpSpPr>
          <p:grpSpPr>
            <a:xfrm>
              <a:off x="4748" y="990"/>
              <a:ext cx="578" cy="134"/>
              <a:chOff x="615" y="2564"/>
              <a:chExt cx="721" cy="139"/>
            </a:xfrm>
          </p:grpSpPr>
          <p:sp>
            <p:nvSpPr>
              <p:cNvPr id="588" name="Google Shape;588;p6"/>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89" name="Google Shape;589;p6"/>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590" name="Google Shape;590;p6"/>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91" name="Google Shape;591;p6"/>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592" name="Google Shape;592;p6"/>
            <p:cNvGrpSpPr/>
            <p:nvPr/>
          </p:nvGrpSpPr>
          <p:grpSpPr>
            <a:xfrm>
              <a:off x="4738" y="1647"/>
              <a:ext cx="578" cy="135"/>
              <a:chOff x="618" y="2586"/>
              <a:chExt cx="720" cy="124"/>
            </a:xfrm>
          </p:grpSpPr>
          <p:sp>
            <p:nvSpPr>
              <p:cNvPr id="593" name="Google Shape;593;p6"/>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94" name="Google Shape;594;p6"/>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595" name="Google Shape;595;p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96" name="Google Shape;596;p6"/>
            <p:cNvGrpSpPr/>
            <p:nvPr/>
          </p:nvGrpSpPr>
          <p:grpSpPr>
            <a:xfrm>
              <a:off x="4738" y="1330"/>
              <a:ext cx="588" cy="134"/>
              <a:chOff x="613" y="2571"/>
              <a:chExt cx="732" cy="134"/>
            </a:xfrm>
          </p:grpSpPr>
          <p:sp>
            <p:nvSpPr>
              <p:cNvPr id="597" name="Google Shape;597;p6"/>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598" name="Google Shape;598;p6"/>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599" name="Google Shape;599;p6"/>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600" name="Google Shape;600;p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6"/>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603" name="Google Shape;603;p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4" name="Google Shape;604;p6"/>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605" name="Google Shape;605;p6"/>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606" name="Google Shape;606;p6"/>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607" name="Google Shape;607;p6"/>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sz="1800" u="none">
                <a:solidFill>
                  <a:srgbClr val="FF0000"/>
                </a:solidFill>
                <a:latin typeface="Arial"/>
                <a:ea typeface="Arial"/>
                <a:cs typeface="Arial"/>
                <a:sym typeface="Arial"/>
              </a:endParaRPr>
            </a:p>
          </p:txBody>
        </p:sp>
        <p:sp>
          <p:nvSpPr>
            <p:cNvPr id="608" name="Google Shape;608;p6"/>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609" name="Google Shape;609;p6"/>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610" name="Google Shape;610;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500"/>
                                        <p:tgtEl>
                                          <p:spTgt spid="5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500"/>
                                        <p:tgtEl>
                                          <p:spTgt spid="546"/>
                                        </p:tgtEl>
                                      </p:cBhvr>
                                    </p:animEffect>
                                  </p:childTnLst>
                                </p:cTn>
                              </p:par>
                              <p:par>
                                <p:cTn fill="hold" nodeType="with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500"/>
                                        <p:tgtEl>
                                          <p:spTgt spid="555"/>
                                        </p:tgtEl>
                                      </p:cBhvr>
                                    </p:animEffect>
                                  </p:childTnLst>
                                </p:cTn>
                              </p:par>
                              <p:par>
                                <p:cTn fill="hold" nodeType="with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500"/>
                                        <p:tgtEl>
                                          <p:spTgt spid="5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500"/>
                                        <p:tgtEl>
                                          <p:spTgt spid="574"/>
                                        </p:tgtEl>
                                      </p:cBhvr>
                                    </p:animEffect>
                                  </p:childTnLst>
                                </p:cTn>
                              </p:par>
                              <p:par>
                                <p:cTn fill="hold" nodeType="with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500"/>
                                        <p:tgtEl>
                                          <p:spTgt spid="5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7"/>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Application Layer</a:t>
            </a:r>
            <a:endParaRPr sz="1200">
              <a:solidFill>
                <a:schemeClr val="dk1"/>
              </a:solidFill>
              <a:latin typeface="Tahoma"/>
              <a:ea typeface="Tahoma"/>
              <a:cs typeface="Tahoma"/>
              <a:sym typeface="Tahoma"/>
            </a:endParaRPr>
          </a:p>
        </p:txBody>
      </p:sp>
      <p:sp>
        <p:nvSpPr>
          <p:cNvPr id="617" name="Google Shape;617;p7"/>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618" name="Google Shape;618;p7"/>
          <p:cNvPicPr preferRelativeResize="0"/>
          <p:nvPr/>
        </p:nvPicPr>
        <p:blipFill rotWithShape="1">
          <a:blip r:embed="rId3">
            <a:alphaModFix/>
          </a:blip>
          <a:srcRect b="0" l="0" r="0" t="0"/>
          <a:stretch/>
        </p:blipFill>
        <p:spPr>
          <a:xfrm>
            <a:off x="1984376" y="960439"/>
            <a:ext cx="5942013" cy="173037"/>
          </a:xfrm>
          <a:prstGeom prst="rect">
            <a:avLst/>
          </a:prstGeom>
          <a:noFill/>
          <a:ln>
            <a:noFill/>
          </a:ln>
        </p:spPr>
      </p:pic>
      <p:sp>
        <p:nvSpPr>
          <p:cNvPr id="619" name="Google Shape;619;p7"/>
          <p:cNvSpPr txBox="1"/>
          <p:nvPr>
            <p:ph type="title"/>
          </p:nvPr>
        </p:nvSpPr>
        <p:spPr>
          <a:xfrm>
            <a:off x="1968500" y="207964"/>
            <a:ext cx="9581816" cy="10302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Gill Sans"/>
              <a:buNone/>
            </a:pPr>
            <a:r>
              <a:rPr lang="en-US">
                <a:latin typeface="Gill Sans"/>
                <a:ea typeface="Gill Sans"/>
                <a:cs typeface="Gill Sans"/>
                <a:sym typeface="Gill Sans"/>
              </a:rPr>
              <a:t>Application architecture/paradigm</a:t>
            </a:r>
            <a:endParaRPr/>
          </a:p>
        </p:txBody>
      </p:sp>
      <p:sp>
        <p:nvSpPr>
          <p:cNvPr id="620" name="Google Shape;620;p7"/>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Font typeface="Noto Sans Symbols"/>
              <a:buNone/>
            </a:pPr>
            <a:r>
              <a:rPr lang="en-US" sz="3200">
                <a:solidFill>
                  <a:srgbClr val="000099"/>
                </a:solidFill>
                <a:latin typeface="Gill Sans"/>
                <a:ea typeface="Gill Sans"/>
                <a:cs typeface="Gill Sans"/>
                <a:sym typeface="Gill Sans"/>
              </a:rPr>
              <a:t>possible structure of architectures/paradigms:</a:t>
            </a:r>
            <a:endParaRPr/>
          </a:p>
          <a:p>
            <a:pPr indent="-222250" lvl="0" marL="352425" rtl="0" algn="l">
              <a:lnSpc>
                <a:spcPct val="90000"/>
              </a:lnSpc>
              <a:spcBef>
                <a:spcPts val="1000"/>
              </a:spcBef>
              <a:spcAft>
                <a:spcPts val="0"/>
              </a:spcAft>
              <a:buSzPts val="3200"/>
              <a:buChar char="▪"/>
            </a:pPr>
            <a:r>
              <a:rPr lang="en-US" sz="3200">
                <a:latin typeface="Gill Sans"/>
                <a:ea typeface="Gill Sans"/>
                <a:cs typeface="Gill Sans"/>
                <a:sym typeface="Gill Sans"/>
              </a:rPr>
              <a:t>client-server</a:t>
            </a:r>
            <a:endParaRPr/>
          </a:p>
          <a:p>
            <a:pPr indent="-222250" lvl="0" marL="352425" rtl="0" algn="l">
              <a:lnSpc>
                <a:spcPct val="90000"/>
              </a:lnSpc>
              <a:spcBef>
                <a:spcPts val="1000"/>
              </a:spcBef>
              <a:spcAft>
                <a:spcPts val="0"/>
              </a:spcAft>
              <a:buSzPts val="3200"/>
              <a:buChar char="▪"/>
            </a:pPr>
            <a:r>
              <a:rPr lang="en-US" sz="3200">
                <a:latin typeface="Gill Sans"/>
                <a:ea typeface="Gill Sans"/>
                <a:cs typeface="Gill Sans"/>
                <a:sym typeface="Gill Sans"/>
              </a:rPr>
              <a:t>peer-to-peer (P2P)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8"/>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7" name="Google Shape;627;p8"/>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28" name="Google Shape;628;p8"/>
          <p:cNvGrpSpPr/>
          <p:nvPr/>
        </p:nvGrpSpPr>
        <p:grpSpPr>
          <a:xfrm>
            <a:off x="7205350" y="3289251"/>
            <a:ext cx="1458912" cy="933450"/>
            <a:chOff x="2889" y="1631"/>
            <a:chExt cx="980" cy="743"/>
          </a:xfrm>
        </p:grpSpPr>
        <p:sp>
          <p:nvSpPr>
            <p:cNvPr id="629" name="Google Shape;629;p8"/>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30" name="Google Shape;630;p8"/>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grpSp>
      <p:sp>
        <p:nvSpPr>
          <p:cNvPr id="631" name="Google Shape;631;p8"/>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8"/>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a:p>
        </p:txBody>
      </p:sp>
      <p:sp>
        <p:nvSpPr>
          <p:cNvPr id="633" name="Google Shape;633;p8"/>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a:p>
        </p:txBody>
      </p:sp>
      <p:sp>
        <p:nvSpPr>
          <p:cNvPr id="634" name="Google Shape;634;p8"/>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a:p>
        </p:txBody>
      </p:sp>
      <p:sp>
        <p:nvSpPr>
          <p:cNvPr id="635" name="Google Shape;635;p8"/>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636" name="Google Shape;636;p8"/>
          <p:cNvGrpSpPr/>
          <p:nvPr/>
        </p:nvGrpSpPr>
        <p:grpSpPr>
          <a:xfrm>
            <a:off x="10837700" y="3928050"/>
            <a:ext cx="687393" cy="721548"/>
            <a:chOff x="5203089" y="1751190"/>
            <a:chExt cx="858331" cy="662414"/>
          </a:xfrm>
        </p:grpSpPr>
        <p:sp>
          <p:nvSpPr>
            <p:cNvPr id="637" name="Google Shape;637;p8"/>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8" name="Google Shape;638;p8"/>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639" name="Google Shape;639;p8"/>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640" name="Google Shape;640;p8"/>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641" name="Google Shape;641;p8"/>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642" name="Google Shape;642;p8"/>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643" name="Google Shape;643;p8"/>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644" name="Google Shape;644;p8"/>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645" name="Google Shape;645;p8"/>
          <p:cNvGrpSpPr/>
          <p:nvPr/>
        </p:nvGrpSpPr>
        <p:grpSpPr>
          <a:xfrm>
            <a:off x="10771171" y="3194171"/>
            <a:ext cx="594613" cy="648336"/>
            <a:chOff x="5203089" y="1751190"/>
            <a:chExt cx="858331" cy="662414"/>
          </a:xfrm>
        </p:grpSpPr>
        <p:sp>
          <p:nvSpPr>
            <p:cNvPr id="646" name="Google Shape;646;p8"/>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7" name="Google Shape;647;p8"/>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648" name="Google Shape;648;p8"/>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649" name="Google Shape;649;p8"/>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650" name="Google Shape;650;p8"/>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651" name="Google Shape;651;p8"/>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652" name="Google Shape;652;p8"/>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653" name="Google Shape;653;p8"/>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654" name="Google Shape;654;p8"/>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5" name="Google Shape;655;p8"/>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a:p>
        </p:txBody>
      </p:sp>
      <p:sp>
        <p:nvSpPr>
          <p:cNvPr id="656" name="Google Shape;656;p8"/>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7" name="Google Shape;657;p8"/>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a:p>
        </p:txBody>
      </p:sp>
      <p:sp>
        <p:nvSpPr>
          <p:cNvPr id="658" name="Google Shape;658;p8"/>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a:p>
        </p:txBody>
      </p:sp>
      <p:sp>
        <p:nvSpPr>
          <p:cNvPr id="659" name="Google Shape;659;p8"/>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cxnSp>
        <p:nvCxnSpPr>
          <p:cNvPr id="660" name="Google Shape;660;p8"/>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661" name="Google Shape;661;p8"/>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662" name="Google Shape;662;p8"/>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663" name="Google Shape;663;p8"/>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664" name="Google Shape;664;p8"/>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665" name="Google Shape;665;p8"/>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666" name="Google Shape;666;p8"/>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667" name="Google Shape;667;p8"/>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668" name="Google Shape;668;p8"/>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669" name="Google Shape;669;p8"/>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670" name="Google Shape;670;p8"/>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671" name="Google Shape;671;p8"/>
          <p:cNvGrpSpPr/>
          <p:nvPr/>
        </p:nvGrpSpPr>
        <p:grpSpPr>
          <a:xfrm>
            <a:off x="7562238" y="2127325"/>
            <a:ext cx="3578867" cy="3640284"/>
            <a:chOff x="7562238" y="2127325"/>
            <a:chExt cx="3578867" cy="3640284"/>
          </a:xfrm>
        </p:grpSpPr>
        <p:grpSp>
          <p:nvGrpSpPr>
            <p:cNvPr id="672" name="Google Shape;672;p8"/>
            <p:cNvGrpSpPr/>
            <p:nvPr/>
          </p:nvGrpSpPr>
          <p:grpSpPr>
            <a:xfrm>
              <a:off x="7857253" y="2127325"/>
              <a:ext cx="3283852" cy="3640284"/>
              <a:chOff x="7881336" y="2104198"/>
              <a:chExt cx="3283852" cy="3640284"/>
            </a:xfrm>
          </p:grpSpPr>
          <p:cxnSp>
            <p:nvCxnSpPr>
              <p:cNvPr id="673" name="Google Shape;673;p8"/>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674" name="Google Shape;674;p8"/>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675" name="Google Shape;675;p8"/>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676" name="Google Shape;676;p8"/>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677" name="Google Shape;677;p8"/>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678" name="Google Shape;678;p8"/>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679" name="Google Shape;679;p8"/>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680" name="Google Shape;680;p8"/>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681" name="Google Shape;681;p8"/>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682" name="Google Shape;682;p8"/>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683" name="Google Shape;683;p8"/>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684" name="Google Shape;684;p8"/>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685" name="Google Shape;685;p8"/>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686" name="Google Shape;686;p8"/>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687" name="Google Shape;687;p8"/>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688" name="Google Shape;688;p8"/>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689" name="Google Shape;689;p8"/>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690" name="Google Shape;690;p8"/>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691" name="Google Shape;691;p8"/>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692" name="Google Shape;692;p8"/>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693" name="Google Shape;693;p8"/>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694" name="Google Shape;694;p8"/>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695" name="Google Shape;695;p8"/>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696" name="Google Shape;696;p8"/>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697" name="Google Shape;697;p8"/>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698" name="Google Shape;698;p8"/>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699" name="Google Shape;699;p8"/>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700" name="Google Shape;700;p8"/>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cxnSp>
        <p:nvCxnSpPr>
          <p:cNvPr id="701" name="Google Shape;701;p8"/>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702" name="Google Shape;702;p8"/>
          <p:cNvGrpSpPr/>
          <p:nvPr/>
        </p:nvGrpSpPr>
        <p:grpSpPr>
          <a:xfrm>
            <a:off x="8050698" y="2309376"/>
            <a:ext cx="298450" cy="464008"/>
            <a:chOff x="3130" y="3288"/>
            <a:chExt cx="410" cy="742"/>
          </a:xfrm>
        </p:grpSpPr>
        <p:cxnSp>
          <p:nvCxnSpPr>
            <p:cNvPr id="703" name="Google Shape;703;p8"/>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704" name="Google Shape;704;p8"/>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705" name="Google Shape;705;p8"/>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706" name="Google Shape;706;p8"/>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707" name="Google Shape;707;p8"/>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708" name="Google Shape;708;p8"/>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709" name="Google Shape;709;p8"/>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710" name="Google Shape;710;p8"/>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711" name="Google Shape;711;p8"/>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712" name="Google Shape;712;p8"/>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713" name="Google Shape;713;p8"/>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714" name="Google Shape;714;p8"/>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715" name="Google Shape;715;p8"/>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716" name="Google Shape;716;p8"/>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717" name="Google Shape;717;p8"/>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718" name="Google Shape;718;p8"/>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719" name="Google Shape;719;p8"/>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720" name="Google Shape;720;p8"/>
          <p:cNvGrpSpPr/>
          <p:nvPr/>
        </p:nvGrpSpPr>
        <p:grpSpPr>
          <a:xfrm>
            <a:off x="9783558" y="4989983"/>
            <a:ext cx="393760" cy="218578"/>
            <a:chOff x="7493876" y="2774731"/>
            <a:chExt cx="1481958" cy="894622"/>
          </a:xfrm>
        </p:grpSpPr>
        <p:sp>
          <p:nvSpPr>
            <p:cNvPr id="721" name="Google Shape;721;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22" name="Google Shape;722;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23" name="Google Shape;723;p8"/>
            <p:cNvGrpSpPr/>
            <p:nvPr/>
          </p:nvGrpSpPr>
          <p:grpSpPr>
            <a:xfrm>
              <a:off x="7713663" y="2848339"/>
              <a:ext cx="1042107" cy="425543"/>
              <a:chOff x="7786941" y="2884917"/>
              <a:chExt cx="897649" cy="353919"/>
            </a:xfrm>
          </p:grpSpPr>
          <p:sp>
            <p:nvSpPr>
              <p:cNvPr id="724" name="Google Shape;724;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5" name="Google Shape;725;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6" name="Google Shape;726;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7" name="Google Shape;727;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28" name="Google Shape;728;p8"/>
          <p:cNvGrpSpPr/>
          <p:nvPr/>
        </p:nvGrpSpPr>
        <p:grpSpPr>
          <a:xfrm>
            <a:off x="9849365" y="5339037"/>
            <a:ext cx="309740" cy="190838"/>
            <a:chOff x="3668110" y="2448910"/>
            <a:chExt cx="3794234" cy="2165130"/>
          </a:xfrm>
        </p:grpSpPr>
        <p:sp>
          <p:nvSpPr>
            <p:cNvPr id="729" name="Google Shape;729;p8"/>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0" name="Google Shape;730;p8"/>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731" name="Google Shape;731;p8"/>
            <p:cNvGrpSpPr/>
            <p:nvPr/>
          </p:nvGrpSpPr>
          <p:grpSpPr>
            <a:xfrm>
              <a:off x="3941378" y="2603243"/>
              <a:ext cx="3202061" cy="1066110"/>
              <a:chOff x="7939341" y="3037317"/>
              <a:chExt cx="897649" cy="353919"/>
            </a:xfrm>
          </p:grpSpPr>
          <p:sp>
            <p:nvSpPr>
              <p:cNvPr id="732" name="Google Shape;732;p8"/>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3" name="Google Shape;733;p8"/>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4" name="Google Shape;734;p8"/>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5" name="Google Shape;735;p8"/>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36" name="Google Shape;736;p8"/>
          <p:cNvGrpSpPr/>
          <p:nvPr/>
        </p:nvGrpSpPr>
        <p:grpSpPr>
          <a:xfrm>
            <a:off x="8676619" y="4967420"/>
            <a:ext cx="393760" cy="218578"/>
            <a:chOff x="7493876" y="2774731"/>
            <a:chExt cx="1481958" cy="894622"/>
          </a:xfrm>
        </p:grpSpPr>
        <p:sp>
          <p:nvSpPr>
            <p:cNvPr id="737" name="Google Shape;737;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38" name="Google Shape;738;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39" name="Google Shape;739;p8"/>
            <p:cNvGrpSpPr/>
            <p:nvPr/>
          </p:nvGrpSpPr>
          <p:grpSpPr>
            <a:xfrm>
              <a:off x="7713663" y="2848339"/>
              <a:ext cx="1042107" cy="425543"/>
              <a:chOff x="7786941" y="2884917"/>
              <a:chExt cx="897649" cy="353919"/>
            </a:xfrm>
          </p:grpSpPr>
          <p:sp>
            <p:nvSpPr>
              <p:cNvPr id="740" name="Google Shape;740;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1" name="Google Shape;741;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2" name="Google Shape;742;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3" name="Google Shape;743;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44" name="Google Shape;744;p8"/>
          <p:cNvGrpSpPr/>
          <p:nvPr/>
        </p:nvGrpSpPr>
        <p:grpSpPr>
          <a:xfrm>
            <a:off x="8311520" y="5194433"/>
            <a:ext cx="309740" cy="190838"/>
            <a:chOff x="3668110" y="2448910"/>
            <a:chExt cx="3794234" cy="2165130"/>
          </a:xfrm>
        </p:grpSpPr>
        <p:sp>
          <p:nvSpPr>
            <p:cNvPr id="745" name="Google Shape;745;p8"/>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6" name="Google Shape;746;p8"/>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747" name="Google Shape;747;p8"/>
            <p:cNvGrpSpPr/>
            <p:nvPr/>
          </p:nvGrpSpPr>
          <p:grpSpPr>
            <a:xfrm>
              <a:off x="3941378" y="2603243"/>
              <a:ext cx="3202061" cy="1066110"/>
              <a:chOff x="7939341" y="3037317"/>
              <a:chExt cx="897649" cy="353919"/>
            </a:xfrm>
          </p:grpSpPr>
          <p:sp>
            <p:nvSpPr>
              <p:cNvPr id="748" name="Google Shape;748;p8"/>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9" name="Google Shape;749;p8"/>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0" name="Google Shape;750;p8"/>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1" name="Google Shape;751;p8"/>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52" name="Google Shape;752;p8"/>
          <p:cNvGrpSpPr/>
          <p:nvPr/>
        </p:nvGrpSpPr>
        <p:grpSpPr>
          <a:xfrm>
            <a:off x="8439827" y="2812309"/>
            <a:ext cx="353678" cy="168275"/>
            <a:chOff x="7493876" y="2774731"/>
            <a:chExt cx="1481958" cy="894622"/>
          </a:xfrm>
        </p:grpSpPr>
        <p:sp>
          <p:nvSpPr>
            <p:cNvPr id="753" name="Google Shape;753;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54" name="Google Shape;754;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55" name="Google Shape;755;p8"/>
            <p:cNvGrpSpPr/>
            <p:nvPr/>
          </p:nvGrpSpPr>
          <p:grpSpPr>
            <a:xfrm>
              <a:off x="7713663" y="2848339"/>
              <a:ext cx="1042107" cy="425543"/>
              <a:chOff x="7786941" y="2884917"/>
              <a:chExt cx="897649" cy="353919"/>
            </a:xfrm>
          </p:grpSpPr>
          <p:sp>
            <p:nvSpPr>
              <p:cNvPr id="756" name="Google Shape;756;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7" name="Google Shape;757;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8" name="Google Shape;758;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9" name="Google Shape;759;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60" name="Google Shape;760;p8"/>
          <p:cNvGrpSpPr/>
          <p:nvPr/>
        </p:nvGrpSpPr>
        <p:grpSpPr>
          <a:xfrm>
            <a:off x="8050070" y="3965994"/>
            <a:ext cx="354986" cy="175668"/>
            <a:chOff x="7493876" y="2774731"/>
            <a:chExt cx="1481958" cy="894622"/>
          </a:xfrm>
        </p:grpSpPr>
        <p:sp>
          <p:nvSpPr>
            <p:cNvPr id="761" name="Google Shape;761;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62" name="Google Shape;762;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63" name="Google Shape;763;p8"/>
            <p:cNvGrpSpPr/>
            <p:nvPr/>
          </p:nvGrpSpPr>
          <p:grpSpPr>
            <a:xfrm>
              <a:off x="7713663" y="2848339"/>
              <a:ext cx="1042107" cy="425543"/>
              <a:chOff x="7786941" y="2884917"/>
              <a:chExt cx="897649" cy="353919"/>
            </a:xfrm>
          </p:grpSpPr>
          <p:sp>
            <p:nvSpPr>
              <p:cNvPr id="764" name="Google Shape;764;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5" name="Google Shape;765;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6" name="Google Shape;766;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7" name="Google Shape;767;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68" name="Google Shape;768;p8"/>
          <p:cNvGrpSpPr/>
          <p:nvPr/>
        </p:nvGrpSpPr>
        <p:grpSpPr>
          <a:xfrm>
            <a:off x="10884085" y="3601365"/>
            <a:ext cx="170989" cy="97052"/>
            <a:chOff x="7493876" y="2774731"/>
            <a:chExt cx="1481958" cy="894622"/>
          </a:xfrm>
        </p:grpSpPr>
        <p:sp>
          <p:nvSpPr>
            <p:cNvPr id="769" name="Google Shape;769;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70" name="Google Shape;770;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71" name="Google Shape;771;p8"/>
            <p:cNvGrpSpPr/>
            <p:nvPr/>
          </p:nvGrpSpPr>
          <p:grpSpPr>
            <a:xfrm>
              <a:off x="7713663" y="2848339"/>
              <a:ext cx="1042107" cy="425543"/>
              <a:chOff x="7786941" y="2884917"/>
              <a:chExt cx="897649" cy="353919"/>
            </a:xfrm>
          </p:grpSpPr>
          <p:sp>
            <p:nvSpPr>
              <p:cNvPr id="772" name="Google Shape;772;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3" name="Google Shape;773;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4" name="Google Shape;774;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5" name="Google Shape;775;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76" name="Google Shape;776;p8"/>
          <p:cNvGrpSpPr/>
          <p:nvPr/>
        </p:nvGrpSpPr>
        <p:grpSpPr>
          <a:xfrm>
            <a:off x="10410609" y="3496138"/>
            <a:ext cx="353678" cy="198344"/>
            <a:chOff x="7493876" y="2774731"/>
            <a:chExt cx="1481958" cy="894622"/>
          </a:xfrm>
        </p:grpSpPr>
        <p:sp>
          <p:nvSpPr>
            <p:cNvPr id="777" name="Google Shape;777;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78" name="Google Shape;778;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79" name="Google Shape;779;p8"/>
            <p:cNvGrpSpPr/>
            <p:nvPr/>
          </p:nvGrpSpPr>
          <p:grpSpPr>
            <a:xfrm>
              <a:off x="7713663" y="2848339"/>
              <a:ext cx="1042107" cy="425543"/>
              <a:chOff x="7786941" y="2884917"/>
              <a:chExt cx="897649" cy="353919"/>
            </a:xfrm>
          </p:grpSpPr>
          <p:sp>
            <p:nvSpPr>
              <p:cNvPr id="780" name="Google Shape;780;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1" name="Google Shape;781;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2" name="Google Shape;782;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3" name="Google Shape;783;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84" name="Google Shape;784;p8"/>
          <p:cNvGrpSpPr/>
          <p:nvPr/>
        </p:nvGrpSpPr>
        <p:grpSpPr>
          <a:xfrm>
            <a:off x="9948724" y="2202292"/>
            <a:ext cx="353678" cy="198344"/>
            <a:chOff x="7493876" y="2774731"/>
            <a:chExt cx="1481958" cy="894622"/>
          </a:xfrm>
        </p:grpSpPr>
        <p:sp>
          <p:nvSpPr>
            <p:cNvPr id="785" name="Google Shape;785;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86" name="Google Shape;786;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87" name="Google Shape;787;p8"/>
            <p:cNvGrpSpPr/>
            <p:nvPr/>
          </p:nvGrpSpPr>
          <p:grpSpPr>
            <a:xfrm>
              <a:off x="7713663" y="2848339"/>
              <a:ext cx="1042107" cy="425543"/>
              <a:chOff x="7786941" y="2884917"/>
              <a:chExt cx="897649" cy="353919"/>
            </a:xfrm>
          </p:grpSpPr>
          <p:sp>
            <p:nvSpPr>
              <p:cNvPr id="788" name="Google Shape;788;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9" name="Google Shape;789;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0" name="Google Shape;790;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1" name="Google Shape;791;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92" name="Google Shape;792;p8"/>
          <p:cNvGrpSpPr/>
          <p:nvPr/>
        </p:nvGrpSpPr>
        <p:grpSpPr>
          <a:xfrm>
            <a:off x="10527214" y="2613367"/>
            <a:ext cx="353678" cy="198344"/>
            <a:chOff x="7493876" y="2774731"/>
            <a:chExt cx="1481958" cy="894622"/>
          </a:xfrm>
        </p:grpSpPr>
        <p:sp>
          <p:nvSpPr>
            <p:cNvPr id="793" name="Google Shape;793;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94" name="Google Shape;794;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95" name="Google Shape;795;p8"/>
            <p:cNvGrpSpPr/>
            <p:nvPr/>
          </p:nvGrpSpPr>
          <p:grpSpPr>
            <a:xfrm>
              <a:off x="7713663" y="2848339"/>
              <a:ext cx="1042107" cy="425543"/>
              <a:chOff x="7786941" y="2884917"/>
              <a:chExt cx="897649" cy="353919"/>
            </a:xfrm>
          </p:grpSpPr>
          <p:sp>
            <p:nvSpPr>
              <p:cNvPr id="796" name="Google Shape;796;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7" name="Google Shape;797;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8" name="Google Shape;798;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9" name="Google Shape;799;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800" name="Google Shape;800;p8"/>
          <p:cNvGrpSpPr/>
          <p:nvPr/>
        </p:nvGrpSpPr>
        <p:grpSpPr>
          <a:xfrm>
            <a:off x="10643825" y="2107963"/>
            <a:ext cx="353678" cy="198344"/>
            <a:chOff x="7493876" y="2774731"/>
            <a:chExt cx="1481958" cy="894622"/>
          </a:xfrm>
        </p:grpSpPr>
        <p:sp>
          <p:nvSpPr>
            <p:cNvPr id="801" name="Google Shape;801;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02" name="Google Shape;802;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03" name="Google Shape;803;p8"/>
            <p:cNvGrpSpPr/>
            <p:nvPr/>
          </p:nvGrpSpPr>
          <p:grpSpPr>
            <a:xfrm>
              <a:off x="7713663" y="2848339"/>
              <a:ext cx="1042107" cy="425543"/>
              <a:chOff x="7786941" y="2884917"/>
              <a:chExt cx="897649" cy="353919"/>
            </a:xfrm>
          </p:grpSpPr>
          <p:sp>
            <p:nvSpPr>
              <p:cNvPr id="804" name="Google Shape;804;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5" name="Google Shape;805;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6" name="Google Shape;806;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7" name="Google Shape;807;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808" name="Google Shape;808;p8"/>
          <p:cNvGrpSpPr/>
          <p:nvPr/>
        </p:nvGrpSpPr>
        <p:grpSpPr>
          <a:xfrm>
            <a:off x="9098788" y="3956624"/>
            <a:ext cx="367224" cy="240304"/>
            <a:chOff x="7493876" y="2774731"/>
            <a:chExt cx="1481958" cy="894622"/>
          </a:xfrm>
        </p:grpSpPr>
        <p:sp>
          <p:nvSpPr>
            <p:cNvPr id="809" name="Google Shape;809;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10" name="Google Shape;810;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11" name="Google Shape;811;p8"/>
            <p:cNvGrpSpPr/>
            <p:nvPr/>
          </p:nvGrpSpPr>
          <p:grpSpPr>
            <a:xfrm>
              <a:off x="7713663" y="2848339"/>
              <a:ext cx="1042107" cy="425543"/>
              <a:chOff x="7786941" y="2884917"/>
              <a:chExt cx="897649" cy="353919"/>
            </a:xfrm>
          </p:grpSpPr>
          <p:sp>
            <p:nvSpPr>
              <p:cNvPr id="812" name="Google Shape;812;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3" name="Google Shape;813;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4" name="Google Shape;814;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5" name="Google Shape;815;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816" name="Google Shape;816;p8"/>
          <p:cNvGrpSpPr/>
          <p:nvPr/>
        </p:nvGrpSpPr>
        <p:grpSpPr>
          <a:xfrm>
            <a:off x="9980126" y="2661565"/>
            <a:ext cx="353678" cy="198344"/>
            <a:chOff x="7493876" y="2774731"/>
            <a:chExt cx="1481958" cy="894622"/>
          </a:xfrm>
        </p:grpSpPr>
        <p:sp>
          <p:nvSpPr>
            <p:cNvPr id="817" name="Google Shape;817;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18" name="Google Shape;818;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19" name="Google Shape;819;p8"/>
            <p:cNvGrpSpPr/>
            <p:nvPr/>
          </p:nvGrpSpPr>
          <p:grpSpPr>
            <a:xfrm>
              <a:off x="7713663" y="2848339"/>
              <a:ext cx="1042107" cy="425543"/>
              <a:chOff x="7786941" y="2884917"/>
              <a:chExt cx="897649" cy="353919"/>
            </a:xfrm>
          </p:grpSpPr>
          <p:sp>
            <p:nvSpPr>
              <p:cNvPr id="820" name="Google Shape;820;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1" name="Google Shape;821;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2" name="Google Shape;822;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3" name="Google Shape;823;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824" name="Google Shape;824;p8"/>
          <p:cNvGrpSpPr/>
          <p:nvPr/>
        </p:nvGrpSpPr>
        <p:grpSpPr>
          <a:xfrm>
            <a:off x="9497138" y="3394032"/>
            <a:ext cx="367224" cy="240304"/>
            <a:chOff x="7493876" y="2774731"/>
            <a:chExt cx="1481958" cy="894622"/>
          </a:xfrm>
        </p:grpSpPr>
        <p:sp>
          <p:nvSpPr>
            <p:cNvPr id="825" name="Google Shape;825;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26" name="Google Shape;826;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27" name="Google Shape;827;p8"/>
            <p:cNvGrpSpPr/>
            <p:nvPr/>
          </p:nvGrpSpPr>
          <p:grpSpPr>
            <a:xfrm>
              <a:off x="7713663" y="2848339"/>
              <a:ext cx="1042107" cy="425543"/>
              <a:chOff x="7786941" y="2884917"/>
              <a:chExt cx="897649" cy="353919"/>
            </a:xfrm>
          </p:grpSpPr>
          <p:sp>
            <p:nvSpPr>
              <p:cNvPr id="828" name="Google Shape;828;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9" name="Google Shape;829;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0" name="Google Shape;830;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1" name="Google Shape;831;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832" name="Google Shape;832;p8"/>
          <p:cNvGrpSpPr/>
          <p:nvPr/>
        </p:nvGrpSpPr>
        <p:grpSpPr>
          <a:xfrm>
            <a:off x="9601554" y="3999763"/>
            <a:ext cx="367224" cy="240304"/>
            <a:chOff x="7493876" y="2774731"/>
            <a:chExt cx="1481958" cy="894622"/>
          </a:xfrm>
        </p:grpSpPr>
        <p:sp>
          <p:nvSpPr>
            <p:cNvPr id="833" name="Google Shape;833;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34" name="Google Shape;834;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35" name="Google Shape;835;p8"/>
            <p:cNvGrpSpPr/>
            <p:nvPr/>
          </p:nvGrpSpPr>
          <p:grpSpPr>
            <a:xfrm>
              <a:off x="7713663" y="2848339"/>
              <a:ext cx="1042107" cy="425543"/>
              <a:chOff x="7786941" y="2884917"/>
              <a:chExt cx="897649" cy="353919"/>
            </a:xfrm>
          </p:grpSpPr>
          <p:sp>
            <p:nvSpPr>
              <p:cNvPr id="836" name="Google Shape;836;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7" name="Google Shape;837;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8" name="Google Shape;838;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9" name="Google Shape;839;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840" name="Google Shape;840;p8"/>
          <p:cNvGrpSpPr/>
          <p:nvPr/>
        </p:nvGrpSpPr>
        <p:grpSpPr>
          <a:xfrm>
            <a:off x="10375259" y="3992325"/>
            <a:ext cx="353678" cy="198344"/>
            <a:chOff x="7493876" y="2774731"/>
            <a:chExt cx="1481958" cy="894622"/>
          </a:xfrm>
        </p:grpSpPr>
        <p:sp>
          <p:nvSpPr>
            <p:cNvPr id="841" name="Google Shape;841;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42" name="Google Shape;842;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43" name="Google Shape;843;p8"/>
            <p:cNvGrpSpPr/>
            <p:nvPr/>
          </p:nvGrpSpPr>
          <p:grpSpPr>
            <a:xfrm>
              <a:off x="7713663" y="2848339"/>
              <a:ext cx="1042107" cy="425543"/>
              <a:chOff x="7786941" y="2884917"/>
              <a:chExt cx="897649" cy="353919"/>
            </a:xfrm>
          </p:grpSpPr>
          <p:sp>
            <p:nvSpPr>
              <p:cNvPr id="844" name="Google Shape;844;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5" name="Google Shape;845;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6" name="Google Shape;846;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7" name="Google Shape;847;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848" name="Google Shape;848;p8"/>
          <p:cNvGrpSpPr/>
          <p:nvPr/>
        </p:nvGrpSpPr>
        <p:grpSpPr>
          <a:xfrm>
            <a:off x="9247893" y="4775686"/>
            <a:ext cx="393760" cy="218578"/>
            <a:chOff x="7493876" y="2774731"/>
            <a:chExt cx="1481958" cy="894622"/>
          </a:xfrm>
        </p:grpSpPr>
        <p:sp>
          <p:nvSpPr>
            <p:cNvPr id="849" name="Google Shape;849;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50" name="Google Shape;850;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51" name="Google Shape;851;p8"/>
            <p:cNvGrpSpPr/>
            <p:nvPr/>
          </p:nvGrpSpPr>
          <p:grpSpPr>
            <a:xfrm>
              <a:off x="7713663" y="2848339"/>
              <a:ext cx="1042107" cy="425543"/>
              <a:chOff x="7786941" y="2884917"/>
              <a:chExt cx="897649" cy="353919"/>
            </a:xfrm>
          </p:grpSpPr>
          <p:sp>
            <p:nvSpPr>
              <p:cNvPr id="852" name="Google Shape;852;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3" name="Google Shape;853;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4" name="Google Shape;854;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5" name="Google Shape;855;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856" name="Google Shape;856;p8"/>
          <p:cNvGrpSpPr/>
          <p:nvPr/>
        </p:nvGrpSpPr>
        <p:grpSpPr>
          <a:xfrm>
            <a:off x="10925982" y="4369125"/>
            <a:ext cx="228295" cy="120400"/>
            <a:chOff x="7493876" y="2774731"/>
            <a:chExt cx="1481958" cy="894622"/>
          </a:xfrm>
        </p:grpSpPr>
        <p:sp>
          <p:nvSpPr>
            <p:cNvPr id="857" name="Google Shape;857;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58" name="Google Shape;858;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59" name="Google Shape;859;p8"/>
            <p:cNvGrpSpPr/>
            <p:nvPr/>
          </p:nvGrpSpPr>
          <p:grpSpPr>
            <a:xfrm>
              <a:off x="7713663" y="2848339"/>
              <a:ext cx="1042107" cy="425543"/>
              <a:chOff x="7786941" y="2884917"/>
              <a:chExt cx="897649" cy="353919"/>
            </a:xfrm>
          </p:grpSpPr>
          <p:sp>
            <p:nvSpPr>
              <p:cNvPr id="860" name="Google Shape;860;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1" name="Google Shape;861;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2" name="Google Shape;862;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3" name="Google Shape;863;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864" name="Google Shape;864;p8"/>
          <p:cNvGrpSpPr/>
          <p:nvPr/>
        </p:nvGrpSpPr>
        <p:grpSpPr>
          <a:xfrm>
            <a:off x="7439074" y="2356613"/>
            <a:ext cx="534987" cy="414882"/>
            <a:chOff x="7432700" y="2327293"/>
            <a:chExt cx="534987" cy="414882"/>
          </a:xfrm>
        </p:grpSpPr>
        <p:pic>
          <p:nvPicPr>
            <p:cNvPr descr="antenna_stylized" id="865" name="Google Shape;865;p8"/>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866" name="Google Shape;866;p8"/>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867" name="Google Shape;867;p8"/>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868" name="Google Shape;868;p8"/>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869" name="Google Shape;869;p8"/>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0" name="Google Shape;870;p8"/>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1" name="Google Shape;871;p8"/>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2" name="Google Shape;872;p8"/>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3" name="Google Shape;873;p8"/>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4" name="Google Shape;874;p8"/>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75" name="Google Shape;875;p8"/>
            <p:cNvGrpSpPr/>
            <p:nvPr/>
          </p:nvGrpSpPr>
          <p:grpSpPr>
            <a:xfrm>
              <a:off x="7594735" y="2642220"/>
              <a:ext cx="98740" cy="36846"/>
              <a:chOff x="1740" y="2642"/>
              <a:chExt cx="752" cy="327"/>
            </a:xfrm>
          </p:grpSpPr>
          <p:sp>
            <p:nvSpPr>
              <p:cNvPr id="876" name="Google Shape;876;p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7" name="Google Shape;877;p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8" name="Google Shape;878;p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9" name="Google Shape;879;p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0" name="Google Shape;880;p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1" name="Google Shape;881;p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82" name="Google Shape;882;p8"/>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3" name="Google Shape;883;p8"/>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4" name="Google Shape;884;p8"/>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5" name="Google Shape;885;p8"/>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6" name="Google Shape;886;p8"/>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7" name="Google Shape;887;p8"/>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88" name="Google Shape;888;p8"/>
          <p:cNvGrpSpPr/>
          <p:nvPr/>
        </p:nvGrpSpPr>
        <p:grpSpPr>
          <a:xfrm>
            <a:off x="8637781" y="2319727"/>
            <a:ext cx="530702" cy="478009"/>
            <a:chOff x="8631407" y="2290407"/>
            <a:chExt cx="530702" cy="478009"/>
          </a:xfrm>
        </p:grpSpPr>
        <p:pic>
          <p:nvPicPr>
            <p:cNvPr descr="light2.png" id="889" name="Google Shape;889;p8"/>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890" name="Google Shape;890;p8"/>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891" name="Google Shape;891;p8"/>
          <p:cNvGrpSpPr/>
          <p:nvPr/>
        </p:nvGrpSpPr>
        <p:grpSpPr>
          <a:xfrm>
            <a:off x="8499539" y="2059124"/>
            <a:ext cx="849312" cy="226109"/>
            <a:chOff x="8493165" y="2029804"/>
            <a:chExt cx="849312" cy="226109"/>
          </a:xfrm>
        </p:grpSpPr>
        <p:pic>
          <p:nvPicPr>
            <p:cNvPr descr="car_icon_small" id="892" name="Google Shape;892;p8"/>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893" name="Google Shape;893;p8"/>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894" name="Google Shape;894;p8"/>
          <p:cNvGrpSpPr/>
          <p:nvPr/>
        </p:nvGrpSpPr>
        <p:grpSpPr>
          <a:xfrm>
            <a:off x="7493518" y="3325424"/>
            <a:ext cx="857739" cy="583764"/>
            <a:chOff x="7487144" y="3296104"/>
            <a:chExt cx="857739" cy="583764"/>
          </a:xfrm>
        </p:grpSpPr>
        <p:grpSp>
          <p:nvGrpSpPr>
            <p:cNvPr id="895" name="Google Shape;895;p8"/>
            <p:cNvGrpSpPr/>
            <p:nvPr/>
          </p:nvGrpSpPr>
          <p:grpSpPr>
            <a:xfrm>
              <a:off x="7487144" y="3389820"/>
              <a:ext cx="350807" cy="310034"/>
              <a:chOff x="7487144" y="3389820"/>
              <a:chExt cx="350807" cy="310034"/>
            </a:xfrm>
          </p:grpSpPr>
          <p:pic>
            <p:nvPicPr>
              <p:cNvPr descr="antenna_stylized" id="896" name="Google Shape;896;p8"/>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897" name="Google Shape;897;p8"/>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898" name="Google Shape;898;p8"/>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899" name="Google Shape;899;p8"/>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900" name="Google Shape;900;p8"/>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1" name="Google Shape;901;p8"/>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2" name="Google Shape;902;p8"/>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3" name="Google Shape;903;p8"/>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4" name="Google Shape;904;p8"/>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5" name="Google Shape;905;p8"/>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06" name="Google Shape;906;p8"/>
              <p:cNvGrpSpPr/>
              <p:nvPr/>
            </p:nvGrpSpPr>
            <p:grpSpPr>
              <a:xfrm>
                <a:off x="7593395" y="3625649"/>
                <a:ext cx="64747" cy="27592"/>
                <a:chOff x="1740" y="2642"/>
                <a:chExt cx="752" cy="327"/>
              </a:xfrm>
            </p:grpSpPr>
            <p:sp>
              <p:nvSpPr>
                <p:cNvPr id="907" name="Google Shape;907;p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8" name="Google Shape;908;p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9" name="Google Shape;909;p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0" name="Google Shape;910;p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1" name="Google Shape;911;p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2" name="Google Shape;912;p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13" name="Google Shape;913;p8"/>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4" name="Google Shape;914;p8"/>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5" name="Google Shape;915;p8"/>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6" name="Google Shape;916;p8"/>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7" name="Google Shape;917;p8"/>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8" name="Google Shape;918;p8"/>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19" name="Google Shape;919;p8"/>
            <p:cNvGrpSpPr/>
            <p:nvPr/>
          </p:nvGrpSpPr>
          <p:grpSpPr>
            <a:xfrm flipH="1">
              <a:off x="7985622" y="3537823"/>
              <a:ext cx="359261" cy="342045"/>
              <a:chOff x="2839" y="3501"/>
              <a:chExt cx="755" cy="803"/>
            </a:xfrm>
          </p:grpSpPr>
          <p:pic>
            <p:nvPicPr>
              <p:cNvPr descr="desktop_computer_stylized_medium" id="920" name="Google Shape;920;p8"/>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921" name="Google Shape;921;p8"/>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22" name="Google Shape;922;p8"/>
            <p:cNvGrpSpPr/>
            <p:nvPr/>
          </p:nvGrpSpPr>
          <p:grpSpPr>
            <a:xfrm>
              <a:off x="7797061" y="3296104"/>
              <a:ext cx="347997" cy="396620"/>
              <a:chOff x="7797061" y="3296104"/>
              <a:chExt cx="347997" cy="396620"/>
            </a:xfrm>
          </p:grpSpPr>
          <p:pic>
            <p:nvPicPr>
              <p:cNvPr descr="fridge2.png" id="923" name="Google Shape;923;p8"/>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924" name="Google Shape;924;p8"/>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925" name="Google Shape;925;p8"/>
          <p:cNvGrpSpPr/>
          <p:nvPr/>
        </p:nvGrpSpPr>
        <p:grpSpPr>
          <a:xfrm>
            <a:off x="11064947" y="3428485"/>
            <a:ext cx="518448" cy="1212242"/>
            <a:chOff x="11058573" y="3399165"/>
            <a:chExt cx="518448" cy="1212242"/>
          </a:xfrm>
        </p:grpSpPr>
        <p:grpSp>
          <p:nvGrpSpPr>
            <p:cNvPr id="926" name="Google Shape;926;p8"/>
            <p:cNvGrpSpPr/>
            <p:nvPr/>
          </p:nvGrpSpPr>
          <p:grpSpPr>
            <a:xfrm>
              <a:off x="11087182" y="4159591"/>
              <a:ext cx="489839" cy="451816"/>
              <a:chOff x="5103720" y="2693365"/>
              <a:chExt cx="611650" cy="414788"/>
            </a:xfrm>
          </p:grpSpPr>
          <p:cxnSp>
            <p:nvCxnSpPr>
              <p:cNvPr id="927" name="Google Shape;927;p8"/>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928" name="Google Shape;928;p8"/>
              <p:cNvGrpSpPr/>
              <p:nvPr/>
            </p:nvGrpSpPr>
            <p:grpSpPr>
              <a:xfrm>
                <a:off x="5275406" y="2693365"/>
                <a:ext cx="439964" cy="414788"/>
                <a:chOff x="5275406" y="2711455"/>
                <a:chExt cx="452949" cy="405518"/>
              </a:xfrm>
            </p:grpSpPr>
            <p:pic>
              <p:nvPicPr>
                <p:cNvPr descr="server_rack.png" id="929" name="Google Shape;929;p8"/>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930" name="Google Shape;930;p8"/>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931" name="Google Shape;931;p8"/>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932" name="Google Shape;932;p8"/>
            <p:cNvGrpSpPr/>
            <p:nvPr/>
          </p:nvGrpSpPr>
          <p:grpSpPr>
            <a:xfrm>
              <a:off x="11058573" y="3399165"/>
              <a:ext cx="423724" cy="405973"/>
              <a:chOff x="5103720" y="2693365"/>
              <a:chExt cx="611650" cy="414788"/>
            </a:xfrm>
          </p:grpSpPr>
          <p:cxnSp>
            <p:nvCxnSpPr>
              <p:cNvPr id="933" name="Google Shape;933;p8"/>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934" name="Google Shape;934;p8"/>
              <p:cNvGrpSpPr/>
              <p:nvPr/>
            </p:nvGrpSpPr>
            <p:grpSpPr>
              <a:xfrm>
                <a:off x="5275406" y="2693365"/>
                <a:ext cx="439964" cy="414788"/>
                <a:chOff x="5275406" y="2711455"/>
                <a:chExt cx="452949" cy="405518"/>
              </a:xfrm>
            </p:grpSpPr>
            <p:pic>
              <p:nvPicPr>
                <p:cNvPr descr="server_rack.png" id="935" name="Google Shape;935;p8"/>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936" name="Google Shape;936;p8"/>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937" name="Google Shape;937;p8"/>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938" name="Google Shape;938;p8"/>
          <p:cNvGrpSpPr/>
          <p:nvPr/>
        </p:nvGrpSpPr>
        <p:grpSpPr>
          <a:xfrm>
            <a:off x="10288915" y="5273951"/>
            <a:ext cx="177192" cy="330833"/>
            <a:chOff x="4140" y="429"/>
            <a:chExt cx="1425" cy="2396"/>
          </a:xfrm>
        </p:grpSpPr>
        <p:sp>
          <p:nvSpPr>
            <p:cNvPr id="939" name="Google Shape;939;p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0" name="Google Shape;940;p8"/>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41" name="Google Shape;941;p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2" name="Google Shape;942;p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3" name="Google Shape;943;p8"/>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944" name="Google Shape;944;p8"/>
            <p:cNvGrpSpPr/>
            <p:nvPr/>
          </p:nvGrpSpPr>
          <p:grpSpPr>
            <a:xfrm>
              <a:off x="4748" y="666"/>
              <a:ext cx="578" cy="150"/>
              <a:chOff x="613" y="2566"/>
              <a:chExt cx="721" cy="144"/>
            </a:xfrm>
          </p:grpSpPr>
          <p:sp>
            <p:nvSpPr>
              <p:cNvPr id="945" name="Google Shape;945;p8"/>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46" name="Google Shape;946;p8"/>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947" name="Google Shape;947;p8"/>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948" name="Google Shape;948;p8"/>
            <p:cNvGrpSpPr/>
            <p:nvPr/>
          </p:nvGrpSpPr>
          <p:grpSpPr>
            <a:xfrm>
              <a:off x="4748" y="990"/>
              <a:ext cx="578" cy="134"/>
              <a:chOff x="615" y="2564"/>
              <a:chExt cx="721" cy="139"/>
            </a:xfrm>
          </p:grpSpPr>
          <p:sp>
            <p:nvSpPr>
              <p:cNvPr id="949" name="Google Shape;949;p8"/>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50" name="Google Shape;950;p8"/>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951" name="Google Shape;951;p8"/>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52" name="Google Shape;952;p8"/>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953" name="Google Shape;953;p8"/>
            <p:cNvGrpSpPr/>
            <p:nvPr/>
          </p:nvGrpSpPr>
          <p:grpSpPr>
            <a:xfrm>
              <a:off x="4738" y="1647"/>
              <a:ext cx="578" cy="135"/>
              <a:chOff x="618" y="2586"/>
              <a:chExt cx="720" cy="124"/>
            </a:xfrm>
          </p:grpSpPr>
          <p:sp>
            <p:nvSpPr>
              <p:cNvPr id="954" name="Google Shape;954;p8"/>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55" name="Google Shape;955;p8"/>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956" name="Google Shape;956;p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57" name="Google Shape;957;p8"/>
            <p:cNvGrpSpPr/>
            <p:nvPr/>
          </p:nvGrpSpPr>
          <p:grpSpPr>
            <a:xfrm>
              <a:off x="4738" y="1330"/>
              <a:ext cx="588" cy="134"/>
              <a:chOff x="613" y="2571"/>
              <a:chExt cx="732" cy="134"/>
            </a:xfrm>
          </p:grpSpPr>
          <p:sp>
            <p:nvSpPr>
              <p:cNvPr id="958" name="Google Shape;958;p8"/>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59" name="Google Shape;959;p8"/>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960" name="Google Shape;960;p8"/>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61" name="Google Shape;961;p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2" name="Google Shape;962;p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3" name="Google Shape;963;p8"/>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64" name="Google Shape;964;p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5" name="Google Shape;965;p8"/>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66" name="Google Shape;966;p8"/>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67" name="Google Shape;967;p8"/>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68" name="Google Shape;968;p8"/>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969" name="Google Shape;969;p8"/>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70" name="Google Shape;970;p8"/>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971" name="Google Shape;971;p8"/>
          <p:cNvGrpSpPr/>
          <p:nvPr/>
        </p:nvGrpSpPr>
        <p:grpSpPr>
          <a:xfrm flipH="1">
            <a:off x="7980855" y="4900161"/>
            <a:ext cx="345630" cy="320302"/>
            <a:chOff x="2839" y="3501"/>
            <a:chExt cx="755" cy="803"/>
          </a:xfrm>
        </p:grpSpPr>
        <p:pic>
          <p:nvPicPr>
            <p:cNvPr descr="desktop_computer_stylized_medium" id="972" name="Google Shape;972;p8"/>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973" name="Google Shape;973;p8"/>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74" name="Google Shape;974;p8"/>
          <p:cNvGrpSpPr/>
          <p:nvPr/>
        </p:nvGrpSpPr>
        <p:grpSpPr>
          <a:xfrm>
            <a:off x="9201681" y="5852809"/>
            <a:ext cx="310186" cy="312008"/>
            <a:chOff x="877" y="1008"/>
            <a:chExt cx="2747" cy="2626"/>
          </a:xfrm>
        </p:grpSpPr>
        <p:pic>
          <p:nvPicPr>
            <p:cNvPr descr="antenna_stylized" id="975" name="Google Shape;975;p8"/>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976" name="Google Shape;976;p8"/>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977" name="Google Shape;977;p8"/>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978" name="Google Shape;978;p8"/>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979" name="Google Shape;979;p8"/>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0" name="Google Shape;980;p8"/>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1" name="Google Shape;981;p8"/>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2" name="Google Shape;982;p8"/>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3" name="Google Shape;983;p8"/>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4" name="Google Shape;984;p8"/>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85" name="Google Shape;985;p8"/>
            <p:cNvGrpSpPr/>
            <p:nvPr/>
          </p:nvGrpSpPr>
          <p:grpSpPr>
            <a:xfrm>
              <a:off x="1709" y="3008"/>
              <a:ext cx="507" cy="234"/>
              <a:chOff x="1740" y="2642"/>
              <a:chExt cx="752" cy="327"/>
            </a:xfrm>
          </p:grpSpPr>
          <p:sp>
            <p:nvSpPr>
              <p:cNvPr id="986" name="Google Shape;986;p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7" name="Google Shape;987;p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8" name="Google Shape;988;p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9" name="Google Shape;989;p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0" name="Google Shape;990;p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1" name="Google Shape;991;p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92" name="Google Shape;992;p8"/>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3" name="Google Shape;993;p8"/>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4" name="Google Shape;994;p8"/>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5" name="Google Shape;995;p8"/>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6" name="Google Shape;996;p8"/>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7" name="Google Shape;997;p8"/>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98" name="Google Shape;998;p8"/>
          <p:cNvGrpSpPr/>
          <p:nvPr/>
        </p:nvGrpSpPr>
        <p:grpSpPr>
          <a:xfrm flipH="1">
            <a:off x="8153909" y="5504657"/>
            <a:ext cx="345630" cy="320302"/>
            <a:chOff x="2839" y="3501"/>
            <a:chExt cx="755" cy="803"/>
          </a:xfrm>
        </p:grpSpPr>
        <p:pic>
          <p:nvPicPr>
            <p:cNvPr descr="desktop_computer_stylized_medium" id="999" name="Google Shape;999;p8"/>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000" name="Google Shape;1000;p8"/>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01" name="Google Shape;1001;p8"/>
          <p:cNvGrpSpPr/>
          <p:nvPr/>
        </p:nvGrpSpPr>
        <p:grpSpPr>
          <a:xfrm flipH="1">
            <a:off x="8552134" y="5526130"/>
            <a:ext cx="345630" cy="320302"/>
            <a:chOff x="2839" y="3501"/>
            <a:chExt cx="755" cy="803"/>
          </a:xfrm>
        </p:grpSpPr>
        <p:pic>
          <p:nvPicPr>
            <p:cNvPr descr="desktop_computer_stylized_medium" id="1002" name="Google Shape;1002;p8"/>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003" name="Google Shape;1003;p8"/>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04" name="Google Shape;1004;p8"/>
          <p:cNvGrpSpPr/>
          <p:nvPr/>
        </p:nvGrpSpPr>
        <p:grpSpPr>
          <a:xfrm>
            <a:off x="9534746" y="5795138"/>
            <a:ext cx="319264" cy="256836"/>
            <a:chOff x="877" y="1008"/>
            <a:chExt cx="2747" cy="2626"/>
          </a:xfrm>
        </p:grpSpPr>
        <p:pic>
          <p:nvPicPr>
            <p:cNvPr descr="antenna_stylized" id="1005" name="Google Shape;1005;p8"/>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1006" name="Google Shape;1006;p8"/>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1007" name="Google Shape;1007;p8"/>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008" name="Google Shape;1008;p8"/>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1009" name="Google Shape;1009;p8"/>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0" name="Google Shape;1010;p8"/>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1" name="Google Shape;1011;p8"/>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2" name="Google Shape;1012;p8"/>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3" name="Google Shape;1013;p8"/>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4" name="Google Shape;1014;p8"/>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15" name="Google Shape;1015;p8"/>
            <p:cNvGrpSpPr/>
            <p:nvPr/>
          </p:nvGrpSpPr>
          <p:grpSpPr>
            <a:xfrm>
              <a:off x="1709" y="3008"/>
              <a:ext cx="507" cy="234"/>
              <a:chOff x="1740" y="2642"/>
              <a:chExt cx="752" cy="327"/>
            </a:xfrm>
          </p:grpSpPr>
          <p:sp>
            <p:nvSpPr>
              <p:cNvPr id="1016" name="Google Shape;1016;p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7" name="Google Shape;1017;p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8" name="Google Shape;1018;p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9" name="Google Shape;1019;p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0" name="Google Shape;1020;p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1" name="Google Shape;1021;p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22" name="Google Shape;1022;p8"/>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3" name="Google Shape;1023;p8"/>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4" name="Google Shape;1024;p8"/>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5" name="Google Shape;1025;p8"/>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6" name="Google Shape;1026;p8"/>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7" name="Google Shape;1027;p8"/>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28" name="Google Shape;1028;p8"/>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9" name="Google Shape;1029;p8"/>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0" name="Google Shape;1030;p8"/>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1" name="Google Shape;1031;p8"/>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032" name="Google Shape;1032;p8"/>
          <p:cNvGrpSpPr/>
          <p:nvPr/>
        </p:nvGrpSpPr>
        <p:grpSpPr>
          <a:xfrm>
            <a:off x="10091053" y="5670891"/>
            <a:ext cx="69517" cy="21877"/>
            <a:chOff x="613" y="2566"/>
            <a:chExt cx="721" cy="144"/>
          </a:xfrm>
        </p:grpSpPr>
        <p:sp>
          <p:nvSpPr>
            <p:cNvPr id="1033" name="Google Shape;1033;p8"/>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34" name="Google Shape;1034;p8"/>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035" name="Google Shape;1035;p8"/>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036" name="Google Shape;1036;p8"/>
          <p:cNvGrpSpPr/>
          <p:nvPr/>
        </p:nvGrpSpPr>
        <p:grpSpPr>
          <a:xfrm>
            <a:off x="10091005" y="5718110"/>
            <a:ext cx="69517" cy="19515"/>
            <a:chOff x="615" y="2564"/>
            <a:chExt cx="721" cy="139"/>
          </a:xfrm>
        </p:grpSpPr>
        <p:sp>
          <p:nvSpPr>
            <p:cNvPr id="1037" name="Google Shape;1037;p8"/>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38" name="Google Shape;1038;p8"/>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039" name="Google Shape;1039;p8"/>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40" name="Google Shape;1040;p8"/>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041" name="Google Shape;1041;p8"/>
          <p:cNvGrpSpPr/>
          <p:nvPr/>
        </p:nvGrpSpPr>
        <p:grpSpPr>
          <a:xfrm>
            <a:off x="10089851" y="5813708"/>
            <a:ext cx="69541" cy="19618"/>
            <a:chOff x="618" y="2586"/>
            <a:chExt cx="720" cy="124"/>
          </a:xfrm>
        </p:grpSpPr>
        <p:sp>
          <p:nvSpPr>
            <p:cNvPr id="1042" name="Google Shape;1042;p8"/>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43" name="Google Shape;1043;p8"/>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044" name="Google Shape;1044;p8"/>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45" name="Google Shape;1045;p8"/>
          <p:cNvGrpSpPr/>
          <p:nvPr/>
        </p:nvGrpSpPr>
        <p:grpSpPr>
          <a:xfrm>
            <a:off x="10089849" y="5767606"/>
            <a:ext cx="70700" cy="19515"/>
            <a:chOff x="613" y="2571"/>
            <a:chExt cx="732" cy="134"/>
          </a:xfrm>
        </p:grpSpPr>
        <p:sp>
          <p:nvSpPr>
            <p:cNvPr id="1046" name="Google Shape;1046;p8"/>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47" name="Google Shape;1047;p8"/>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048" name="Google Shape;1048;p8"/>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49" name="Google Shape;1049;p8"/>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0" name="Google Shape;1050;p8"/>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1" name="Google Shape;1051;p8"/>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52" name="Google Shape;1052;p8"/>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3" name="Google Shape;1053;p8"/>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54" name="Google Shape;1054;p8"/>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55" name="Google Shape;1055;p8"/>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56" name="Google Shape;1056;p8"/>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1057" name="Google Shape;1057;p8"/>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58" name="Google Shape;1058;p8"/>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59" name="Google Shape;1059;p8"/>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060" name="Google Shape;1060;p8"/>
          <p:cNvGrpSpPr/>
          <p:nvPr/>
        </p:nvGrpSpPr>
        <p:grpSpPr>
          <a:xfrm>
            <a:off x="7680324" y="1814171"/>
            <a:ext cx="2755429" cy="4250670"/>
            <a:chOff x="7680324" y="1814171"/>
            <a:chExt cx="2755429" cy="4250670"/>
          </a:xfrm>
        </p:grpSpPr>
        <p:grpSp>
          <p:nvGrpSpPr>
            <p:cNvPr id="1061" name="Google Shape;1061;p8"/>
            <p:cNvGrpSpPr/>
            <p:nvPr/>
          </p:nvGrpSpPr>
          <p:grpSpPr>
            <a:xfrm>
              <a:off x="7750224" y="1859725"/>
              <a:ext cx="415925" cy="385763"/>
              <a:chOff x="2751" y="1851"/>
              <a:chExt cx="462" cy="478"/>
            </a:xfrm>
          </p:grpSpPr>
          <p:pic>
            <p:nvPicPr>
              <p:cNvPr descr="iphone_stylized_small" id="1062" name="Google Shape;1062;p8"/>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1063" name="Google Shape;1063;p8"/>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1064" name="Google Shape;1064;p8"/>
            <p:cNvGrpSpPr/>
            <p:nvPr/>
          </p:nvGrpSpPr>
          <p:grpSpPr>
            <a:xfrm flipH="1">
              <a:off x="7773981" y="5281060"/>
              <a:ext cx="345630" cy="320302"/>
              <a:chOff x="2839" y="3501"/>
              <a:chExt cx="755" cy="803"/>
            </a:xfrm>
          </p:grpSpPr>
          <p:pic>
            <p:nvPicPr>
              <p:cNvPr descr="desktop_computer_stylized_medium" id="1065" name="Google Shape;1065;p8"/>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066" name="Google Shape;1066;p8"/>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67" name="Google Shape;1067;p8"/>
            <p:cNvSpPr/>
            <p:nvPr/>
          </p:nvSpPr>
          <p:spPr>
            <a:xfrm>
              <a:off x="7689254" y="516084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8" name="Google Shape;1068;p8"/>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9" name="Google Shape;1069;p8"/>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cxnSp>
        <p:nvCxnSpPr>
          <p:cNvPr id="1070" name="Google Shape;1070;p8"/>
          <p:cNvCxnSpPr/>
          <p:nvPr/>
        </p:nvCxnSpPr>
        <p:spPr>
          <a:xfrm>
            <a:off x="7959044" y="2342382"/>
            <a:ext cx="7403" cy="2772905"/>
          </a:xfrm>
          <a:prstGeom prst="straightConnector1">
            <a:avLst/>
          </a:prstGeom>
          <a:noFill/>
          <a:ln cap="flat" cmpd="sng" w="76200">
            <a:solidFill>
              <a:srgbClr val="CC0000"/>
            </a:solidFill>
            <a:prstDash val="solid"/>
            <a:round/>
            <a:headEnd len="med" w="med" type="triangle"/>
            <a:tailEnd len="med" w="med" type="triangle"/>
          </a:ln>
        </p:spPr>
      </p:cxnSp>
      <p:cxnSp>
        <p:nvCxnSpPr>
          <p:cNvPr id="1071" name="Google Shape;1071;p8"/>
          <p:cNvCxnSpPr/>
          <p:nvPr/>
        </p:nvCxnSpPr>
        <p:spPr>
          <a:xfrm>
            <a:off x="8370450" y="2297968"/>
            <a:ext cx="1700212" cy="3386138"/>
          </a:xfrm>
          <a:prstGeom prst="straightConnector1">
            <a:avLst/>
          </a:prstGeom>
          <a:noFill/>
          <a:ln cap="flat" cmpd="sng" w="76200">
            <a:solidFill>
              <a:srgbClr val="CC0000"/>
            </a:solidFill>
            <a:prstDash val="solid"/>
            <a:round/>
            <a:headEnd len="med" w="med" type="triangle"/>
            <a:tailEnd len="med" w="med" type="triangle"/>
          </a:ln>
        </p:spPr>
      </p:cxnSp>
      <p:sp>
        <p:nvSpPr>
          <p:cNvPr id="1072" name="Google Shape;1072;p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Client-server architecture/</a:t>
            </a:r>
            <a:r>
              <a:rPr lang="en-US"/>
              <a:t>p</a:t>
            </a:r>
            <a:r>
              <a:rPr lang="en-US" sz="4400"/>
              <a:t>aradigm</a:t>
            </a:r>
            <a:endParaRPr sz="4400"/>
          </a:p>
        </p:txBody>
      </p:sp>
      <p:sp>
        <p:nvSpPr>
          <p:cNvPr id="1073" name="Google Shape;1073;p8"/>
          <p:cNvSpPr txBox="1"/>
          <p:nvPr/>
        </p:nvSpPr>
        <p:spPr>
          <a:xfrm>
            <a:off x="889178" y="1260346"/>
            <a:ext cx="5968498" cy="4974698"/>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server: </a:t>
            </a:r>
            <a:endParaRPr/>
          </a:p>
          <a:p>
            <a:pPr indent="-233362" lvl="0" marL="4667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always-on host</a:t>
            </a:r>
            <a:endParaRPr/>
          </a:p>
          <a:p>
            <a:pPr indent="-233362" lvl="0" marL="4667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permanent IP address</a:t>
            </a:r>
            <a:endParaRPr/>
          </a:p>
          <a:p>
            <a:pPr indent="-233362" lvl="0" marL="4667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often in data centers, for scaling</a:t>
            </a:r>
            <a:endParaRPr/>
          </a:p>
          <a:p>
            <a:pPr indent="-222250" lvl="0" marL="352425" marR="0" rtl="0" algn="l">
              <a:lnSpc>
                <a:spcPct val="90000"/>
              </a:lnSpc>
              <a:spcBef>
                <a:spcPts val="210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clients:</a:t>
            </a:r>
            <a:endParaRPr/>
          </a:p>
          <a:p>
            <a:pPr indent="-233362" lvl="0" marL="4667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contact, communicate with server</a:t>
            </a:r>
            <a:endParaRPr/>
          </a:p>
          <a:p>
            <a:pPr indent="-233362" lvl="0" marL="4667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may be intermittently connected</a:t>
            </a:r>
            <a:endParaRPr/>
          </a:p>
          <a:p>
            <a:pPr indent="-233362" lvl="0" marL="4667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may have dynamic IP addresses</a:t>
            </a:r>
            <a:endParaRPr/>
          </a:p>
          <a:p>
            <a:pPr indent="-233362" lvl="0" marL="4667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do </a:t>
            </a:r>
            <a:r>
              <a:rPr i="1" lang="en-US" sz="2800">
                <a:solidFill>
                  <a:schemeClr val="dk1"/>
                </a:solidFill>
                <a:latin typeface="Calibri"/>
                <a:ea typeface="Calibri"/>
                <a:cs typeface="Calibri"/>
                <a:sym typeface="Calibri"/>
              </a:rPr>
              <a:t>not</a:t>
            </a:r>
            <a:r>
              <a:rPr lang="en-US" sz="2800">
                <a:solidFill>
                  <a:schemeClr val="dk1"/>
                </a:solidFill>
                <a:latin typeface="Calibri"/>
                <a:ea typeface="Calibri"/>
                <a:cs typeface="Calibri"/>
                <a:sym typeface="Calibri"/>
              </a:rPr>
              <a:t> communicate directly with each other</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examples: HTTP, IMAP, FTP</a:t>
            </a:r>
            <a:endParaRPr/>
          </a:p>
        </p:txBody>
      </p:sp>
      <p:grpSp>
        <p:nvGrpSpPr>
          <p:cNvPr id="1074" name="Google Shape;1074;p8"/>
          <p:cNvGrpSpPr/>
          <p:nvPr/>
        </p:nvGrpSpPr>
        <p:grpSpPr>
          <a:xfrm>
            <a:off x="10002508" y="5616400"/>
            <a:ext cx="214974" cy="403920"/>
            <a:chOff x="4140" y="429"/>
            <a:chExt cx="1425" cy="2396"/>
          </a:xfrm>
        </p:grpSpPr>
        <p:sp>
          <p:nvSpPr>
            <p:cNvPr id="1075" name="Google Shape;1075;p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6" name="Google Shape;1076;p8"/>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77" name="Google Shape;1077;p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8" name="Google Shape;1078;p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9" name="Google Shape;1079;p8"/>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080" name="Google Shape;1080;p8"/>
            <p:cNvGrpSpPr/>
            <p:nvPr/>
          </p:nvGrpSpPr>
          <p:grpSpPr>
            <a:xfrm>
              <a:off x="4748" y="666"/>
              <a:ext cx="578" cy="150"/>
              <a:chOff x="613" y="2566"/>
              <a:chExt cx="721" cy="144"/>
            </a:xfrm>
          </p:grpSpPr>
          <p:sp>
            <p:nvSpPr>
              <p:cNvPr id="1081" name="Google Shape;1081;p8"/>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82" name="Google Shape;1082;p8"/>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083" name="Google Shape;1083;p8"/>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084" name="Google Shape;1084;p8"/>
            <p:cNvGrpSpPr/>
            <p:nvPr/>
          </p:nvGrpSpPr>
          <p:grpSpPr>
            <a:xfrm>
              <a:off x="4748" y="990"/>
              <a:ext cx="578" cy="134"/>
              <a:chOff x="615" y="2564"/>
              <a:chExt cx="721" cy="139"/>
            </a:xfrm>
          </p:grpSpPr>
          <p:sp>
            <p:nvSpPr>
              <p:cNvPr id="1085" name="Google Shape;1085;p8"/>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86" name="Google Shape;1086;p8"/>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087" name="Google Shape;1087;p8"/>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88" name="Google Shape;1088;p8"/>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089" name="Google Shape;1089;p8"/>
            <p:cNvGrpSpPr/>
            <p:nvPr/>
          </p:nvGrpSpPr>
          <p:grpSpPr>
            <a:xfrm>
              <a:off x="4738" y="1647"/>
              <a:ext cx="578" cy="135"/>
              <a:chOff x="618" y="2586"/>
              <a:chExt cx="720" cy="124"/>
            </a:xfrm>
          </p:grpSpPr>
          <p:sp>
            <p:nvSpPr>
              <p:cNvPr id="1090" name="Google Shape;1090;p8"/>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91" name="Google Shape;1091;p8"/>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092" name="Google Shape;1092;p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93" name="Google Shape;1093;p8"/>
            <p:cNvGrpSpPr/>
            <p:nvPr/>
          </p:nvGrpSpPr>
          <p:grpSpPr>
            <a:xfrm>
              <a:off x="4738" y="1330"/>
              <a:ext cx="588" cy="134"/>
              <a:chOff x="613" y="2571"/>
              <a:chExt cx="732" cy="134"/>
            </a:xfrm>
          </p:grpSpPr>
          <p:sp>
            <p:nvSpPr>
              <p:cNvPr id="1094" name="Google Shape;1094;p8"/>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95" name="Google Shape;1095;p8"/>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096" name="Google Shape;1096;p8"/>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97" name="Google Shape;1097;p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8" name="Google Shape;1098;p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9" name="Google Shape;1099;p8"/>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100" name="Google Shape;1100;p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1" name="Google Shape;1101;p8"/>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102" name="Google Shape;1102;p8"/>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103" name="Google Shape;1103;p8"/>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104" name="Google Shape;1104;p8"/>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1105" name="Google Shape;1105;p8"/>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106" name="Google Shape;1106;p8"/>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107" name="Google Shape;1107;p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9"/>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Application Layer</a:t>
            </a:r>
            <a:endParaRPr/>
          </a:p>
        </p:txBody>
      </p:sp>
      <p:sp>
        <p:nvSpPr>
          <p:cNvPr id="1114" name="Google Shape;1114;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115" name="Google Shape;1115;p9"/>
          <p:cNvSpPr txBox="1"/>
          <p:nvPr>
            <p:ph type="title"/>
          </p:nvPr>
        </p:nvSpPr>
        <p:spPr>
          <a:xfrm>
            <a:off x="1890713" y="184150"/>
            <a:ext cx="9483140" cy="85248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Gill Sans"/>
              <a:buNone/>
            </a:pPr>
            <a:r>
              <a:rPr lang="en-US">
                <a:latin typeface="Gill Sans"/>
                <a:ea typeface="Gill Sans"/>
                <a:cs typeface="Gill Sans"/>
                <a:sym typeface="Gill Sans"/>
              </a:rPr>
              <a:t>Client-server architecture/paradigm</a:t>
            </a:r>
            <a:endParaRPr/>
          </a:p>
        </p:txBody>
      </p:sp>
      <p:sp>
        <p:nvSpPr>
          <p:cNvPr id="1116" name="Google Shape;1116;p9"/>
          <p:cNvSpPr txBox="1"/>
          <p:nvPr>
            <p:ph idx="2" type="body"/>
          </p:nvPr>
        </p:nvSpPr>
        <p:spPr>
          <a:xfrm>
            <a:off x="6276976" y="1416050"/>
            <a:ext cx="4143375" cy="4648200"/>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2800"/>
              <a:buFont typeface="Noto Sans Symbols"/>
              <a:buNone/>
            </a:pPr>
            <a:r>
              <a:rPr lang="en-US">
                <a:solidFill>
                  <a:srgbClr val="CC0000"/>
                </a:solidFill>
                <a:latin typeface="Gill Sans"/>
                <a:ea typeface="Gill Sans"/>
                <a:cs typeface="Gill Sans"/>
                <a:sym typeface="Gill Sans"/>
              </a:rPr>
              <a:t>Data center: </a:t>
            </a:r>
            <a:endParaRPr/>
          </a:p>
          <a:p>
            <a:pPr indent="-222250" lvl="0" marL="352425" rtl="0" algn="l">
              <a:lnSpc>
                <a:spcPct val="90000"/>
              </a:lnSpc>
              <a:spcBef>
                <a:spcPts val="1000"/>
              </a:spcBef>
              <a:spcAft>
                <a:spcPts val="0"/>
              </a:spcAft>
              <a:buSzPts val="2800"/>
              <a:buChar char="▪"/>
            </a:pPr>
            <a:r>
              <a:rPr lang="en-US">
                <a:latin typeface="Gill Sans"/>
                <a:ea typeface="Gill Sans"/>
                <a:cs typeface="Gill Sans"/>
                <a:sym typeface="Gill Sans"/>
              </a:rPr>
              <a:t>housing a large number of hosts</a:t>
            </a:r>
            <a:endParaRPr/>
          </a:p>
          <a:p>
            <a:pPr indent="-222250" lvl="0" marL="352425" rtl="0" algn="l">
              <a:lnSpc>
                <a:spcPct val="90000"/>
              </a:lnSpc>
              <a:spcBef>
                <a:spcPts val="1000"/>
              </a:spcBef>
              <a:spcAft>
                <a:spcPts val="0"/>
              </a:spcAft>
              <a:buSzPts val="2800"/>
              <a:buChar char="▪"/>
            </a:pPr>
            <a:r>
              <a:rPr lang="en-US">
                <a:latin typeface="Gill Sans"/>
                <a:ea typeface="Gill Sans"/>
                <a:cs typeface="Gill Sans"/>
                <a:sym typeface="Gill Sans"/>
              </a:rPr>
              <a:t>create a powerful virtual server</a:t>
            </a:r>
            <a:endParaRPr/>
          </a:p>
          <a:p>
            <a:pPr indent="-222250" lvl="0" marL="352425" rtl="0" algn="l">
              <a:lnSpc>
                <a:spcPct val="90000"/>
              </a:lnSpc>
              <a:spcBef>
                <a:spcPts val="1000"/>
              </a:spcBef>
              <a:spcAft>
                <a:spcPts val="0"/>
              </a:spcAft>
              <a:buSzPts val="2800"/>
              <a:buChar char="▪"/>
            </a:pPr>
            <a:r>
              <a:rPr lang="en-US">
                <a:latin typeface="Gill Sans"/>
                <a:ea typeface="Gill Sans"/>
                <a:cs typeface="Gill Sans"/>
                <a:sym typeface="Gill Sans"/>
              </a:rPr>
              <a:t>popular Internet services employ one or more data centers</a:t>
            </a:r>
            <a:endParaRPr/>
          </a:p>
          <a:p>
            <a:pPr indent="-222250" lvl="0" marL="352425" rtl="0" algn="l">
              <a:lnSpc>
                <a:spcPct val="90000"/>
              </a:lnSpc>
              <a:spcBef>
                <a:spcPts val="1000"/>
              </a:spcBef>
              <a:spcAft>
                <a:spcPts val="0"/>
              </a:spcAft>
              <a:buSzPts val="2800"/>
              <a:buChar char="▪"/>
            </a:pPr>
            <a:r>
              <a:rPr lang="en-US">
                <a:latin typeface="Gill Sans"/>
                <a:ea typeface="Gill Sans"/>
                <a:cs typeface="Gill Sans"/>
                <a:sym typeface="Gill Sans"/>
              </a:rPr>
              <a:t>A data center can have hundreds of thousands of servers</a:t>
            </a:r>
            <a:endParaRPr/>
          </a:p>
        </p:txBody>
      </p:sp>
      <p:pic>
        <p:nvPicPr>
          <p:cNvPr descr="underline_base" id="1117" name="Google Shape;1117;p9"/>
          <p:cNvPicPr preferRelativeResize="0"/>
          <p:nvPr/>
        </p:nvPicPr>
        <p:blipFill rotWithShape="1">
          <a:blip r:embed="rId3">
            <a:alphaModFix/>
          </a:blip>
          <a:srcRect b="0" l="0" r="0" t="0"/>
          <a:stretch/>
        </p:blipFill>
        <p:spPr>
          <a:xfrm>
            <a:off x="1892300" y="842964"/>
            <a:ext cx="6057900" cy="155575"/>
          </a:xfrm>
          <a:prstGeom prst="rect">
            <a:avLst/>
          </a:prstGeom>
          <a:noFill/>
          <a:ln>
            <a:noFill/>
          </a:ln>
        </p:spPr>
      </p:pic>
      <p:pic>
        <p:nvPicPr>
          <p:cNvPr descr="Tiffani Bova on Twitter: &quot;Global market share of search engines, 2019.  Google: 88.4% Bing: 4.8% Yahoo: 3.1% Baidu: 0.66% — @statcounter… &quot;" id="1118" name="Google Shape;1118;p9"/>
          <p:cNvPicPr preferRelativeResize="0"/>
          <p:nvPr/>
        </p:nvPicPr>
        <p:blipFill rotWithShape="1">
          <a:blip r:embed="rId4">
            <a:alphaModFix/>
          </a:blip>
          <a:srcRect b="0" l="0" r="0" t="0"/>
          <a:stretch/>
        </p:blipFill>
        <p:spPr>
          <a:xfrm>
            <a:off x="2282826" y="1322389"/>
            <a:ext cx="1770063" cy="1487487"/>
          </a:xfrm>
          <a:prstGeom prst="rect">
            <a:avLst/>
          </a:prstGeom>
          <a:noFill/>
          <a:ln>
            <a:noFill/>
          </a:ln>
        </p:spPr>
      </p:pic>
      <p:pic>
        <p:nvPicPr>
          <p:cNvPr descr="ebay alibaba and amazon products - Home | Facebook" id="1119" name="Google Shape;1119;p9"/>
          <p:cNvPicPr preferRelativeResize="0"/>
          <p:nvPr/>
        </p:nvPicPr>
        <p:blipFill rotWithShape="1">
          <a:blip r:embed="rId5">
            <a:alphaModFix/>
          </a:blip>
          <a:srcRect b="0" l="0" r="0" t="0"/>
          <a:stretch/>
        </p:blipFill>
        <p:spPr>
          <a:xfrm>
            <a:off x="3584575" y="3233739"/>
            <a:ext cx="2362200" cy="1095375"/>
          </a:xfrm>
          <a:prstGeom prst="rect">
            <a:avLst/>
          </a:prstGeom>
          <a:noFill/>
          <a:ln>
            <a:noFill/>
          </a:ln>
        </p:spPr>
      </p:pic>
      <p:pic>
        <p:nvPicPr>
          <p:cNvPr descr="FOMO Photo Booth (live Facebook/WhatsApp/WeChat/Twitter/Instagram/DSLR  printing supported) (by FOMO Digital Pte Ltd)" id="1120" name="Google Shape;1120;p9"/>
          <p:cNvPicPr preferRelativeResize="0"/>
          <p:nvPr/>
        </p:nvPicPr>
        <p:blipFill rotWithShape="1">
          <a:blip r:embed="rId6">
            <a:alphaModFix/>
          </a:blip>
          <a:srcRect b="0" l="0" r="0" t="0"/>
          <a:stretch/>
        </p:blipFill>
        <p:spPr>
          <a:xfrm>
            <a:off x="1755775" y="4152900"/>
            <a:ext cx="2546350" cy="2546350"/>
          </a:xfrm>
          <a:prstGeom prst="rect">
            <a:avLst/>
          </a:prstGeom>
          <a:noFill/>
          <a:ln>
            <a:noFill/>
          </a:ln>
        </p:spPr>
      </p:pic>
      <p:sp>
        <p:nvSpPr>
          <p:cNvPr id="1121" name="Google Shape;1121;p9"/>
          <p:cNvSpPr txBox="1"/>
          <p:nvPr/>
        </p:nvSpPr>
        <p:spPr>
          <a:xfrm>
            <a:off x="3846514" y="1695450"/>
            <a:ext cx="183832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90099"/>
                </a:solidFill>
                <a:latin typeface="Arial"/>
                <a:ea typeface="Arial"/>
                <a:cs typeface="Arial"/>
                <a:sym typeface="Arial"/>
              </a:rPr>
              <a:t>Search engine</a:t>
            </a:r>
            <a:endParaRPr/>
          </a:p>
        </p:txBody>
      </p:sp>
      <p:sp>
        <p:nvSpPr>
          <p:cNvPr id="1122" name="Google Shape;1122;p9"/>
          <p:cNvSpPr txBox="1"/>
          <p:nvPr/>
        </p:nvSpPr>
        <p:spPr>
          <a:xfrm>
            <a:off x="2271714" y="3278189"/>
            <a:ext cx="1608137" cy="708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90099"/>
                </a:solidFill>
                <a:latin typeface="Arial"/>
                <a:ea typeface="Arial"/>
                <a:cs typeface="Arial"/>
                <a:sym typeface="Arial"/>
              </a:rPr>
              <a:t>Internet </a:t>
            </a:r>
            <a:endParaRPr/>
          </a:p>
          <a:p>
            <a:pPr indent="0" lvl="0" marL="0" marR="0" rtl="0" algn="l">
              <a:spcBef>
                <a:spcPts val="0"/>
              </a:spcBef>
              <a:spcAft>
                <a:spcPts val="0"/>
              </a:spcAft>
              <a:buNone/>
            </a:pPr>
            <a:r>
              <a:rPr lang="en-US" sz="2000">
                <a:solidFill>
                  <a:srgbClr val="090099"/>
                </a:solidFill>
                <a:latin typeface="Arial"/>
                <a:ea typeface="Arial"/>
                <a:cs typeface="Arial"/>
                <a:sym typeface="Arial"/>
              </a:rPr>
              <a:t>e-commerce</a:t>
            </a:r>
            <a:endParaRPr/>
          </a:p>
        </p:txBody>
      </p:sp>
      <p:sp>
        <p:nvSpPr>
          <p:cNvPr id="1123" name="Google Shape;1123;p9"/>
          <p:cNvSpPr txBox="1"/>
          <p:nvPr/>
        </p:nvSpPr>
        <p:spPr>
          <a:xfrm>
            <a:off x="3973514" y="5211764"/>
            <a:ext cx="1425575" cy="708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90099"/>
                </a:solidFill>
                <a:latin typeface="Arial"/>
                <a:ea typeface="Arial"/>
                <a:cs typeface="Arial"/>
                <a:sym typeface="Arial"/>
              </a:rPr>
              <a:t>Social </a:t>
            </a:r>
            <a:endParaRPr/>
          </a:p>
          <a:p>
            <a:pPr indent="0" lvl="0" marL="0" marR="0" rtl="0" algn="l">
              <a:spcBef>
                <a:spcPts val="0"/>
              </a:spcBef>
              <a:spcAft>
                <a:spcPts val="0"/>
              </a:spcAft>
              <a:buNone/>
            </a:pPr>
            <a:r>
              <a:rPr lang="en-US" sz="2000">
                <a:solidFill>
                  <a:srgbClr val="090099"/>
                </a:solidFill>
                <a:latin typeface="Arial"/>
                <a:ea typeface="Arial"/>
                <a:cs typeface="Arial"/>
                <a:sym typeface="Arial"/>
              </a:rPr>
              <a:t>networking</a:t>
            </a:r>
            <a:endParaRPr/>
          </a:p>
        </p:txBody>
      </p:sp>
      <p:sp>
        <p:nvSpPr>
          <p:cNvPr id="1124" name="Google Shape;1124;p9"/>
          <p:cNvSpPr/>
          <p:nvPr/>
        </p:nvSpPr>
        <p:spPr>
          <a:xfrm>
            <a:off x="2771776" y="5165726"/>
            <a:ext cx="601663" cy="461963"/>
          </a:xfrm>
          <a:prstGeom prst="rect">
            <a:avLst/>
          </a:prstGeom>
          <a:solidFill>
            <a:schemeClr val="lt1"/>
          </a:solid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accent2"/>
              </a:buClr>
              <a:buSzPts val="2040"/>
              <a:buFont typeface="Arial"/>
              <a:buNone/>
            </a:pPr>
            <a:r>
              <a:t/>
            </a:r>
            <a:endParaRPr sz="2400">
              <a:solidFill>
                <a:schemeClr val="dk1"/>
              </a:solidFill>
              <a:latin typeface="Comic Sans MS"/>
              <a:ea typeface="Comic Sans MS"/>
              <a:cs typeface="Comic Sans MS"/>
              <a:sym typeface="Comic Sans MS"/>
            </a:endParaRPr>
          </a:p>
        </p:txBody>
      </p:sp>
      <p:pic>
        <p:nvPicPr>
          <p:cNvPr descr="Puzzle with solid fill" id="1125" name="Google Shape;1125;p9"/>
          <p:cNvPicPr preferRelativeResize="0"/>
          <p:nvPr/>
        </p:nvPicPr>
        <p:blipFill rotWithShape="1">
          <a:blip r:embed="rId7">
            <a:alphaModFix/>
          </a:blip>
          <a:srcRect b="0" l="0" r="0" t="0"/>
          <a:stretch/>
        </p:blipFill>
        <p:spPr>
          <a:xfrm>
            <a:off x="10794415" y="977692"/>
            <a:ext cx="579438" cy="57943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10"/>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2" name="Google Shape;1132;p10"/>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3" name="Google Shape;1133;p10"/>
          <p:cNvSpPr/>
          <p:nvPr/>
        </p:nvSpPr>
        <p:spPr>
          <a:xfrm>
            <a:off x="7439074" y="3553079"/>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134" name="Google Shape;1134;p10"/>
          <p:cNvSpPr/>
          <p:nvPr/>
        </p:nvSpPr>
        <p:spPr>
          <a:xfrm>
            <a:off x="7205350" y="3289251"/>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sp>
        <p:nvSpPr>
          <p:cNvPr id="1135" name="Google Shape;1135;p10"/>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6" name="Google Shape;1136;p10"/>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a:p>
        </p:txBody>
      </p:sp>
      <p:sp>
        <p:nvSpPr>
          <p:cNvPr id="1137" name="Google Shape;1137;p10"/>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a:p>
        </p:txBody>
      </p:sp>
      <p:sp>
        <p:nvSpPr>
          <p:cNvPr id="1138" name="Google Shape;1138;p10"/>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a:p>
        </p:txBody>
      </p:sp>
      <p:sp>
        <p:nvSpPr>
          <p:cNvPr id="1139" name="Google Shape;1139;p10"/>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40" name="Google Shape;1140;p10"/>
          <p:cNvGrpSpPr/>
          <p:nvPr/>
        </p:nvGrpSpPr>
        <p:grpSpPr>
          <a:xfrm>
            <a:off x="10837700" y="3928050"/>
            <a:ext cx="687393" cy="721548"/>
            <a:chOff x="5203089" y="1751190"/>
            <a:chExt cx="858331" cy="662414"/>
          </a:xfrm>
        </p:grpSpPr>
        <p:sp>
          <p:nvSpPr>
            <p:cNvPr id="1141" name="Google Shape;1141;p10"/>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2" name="Google Shape;1142;p10"/>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143" name="Google Shape;1143;p10"/>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144" name="Google Shape;1144;p10"/>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145" name="Google Shape;1145;p10"/>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146" name="Google Shape;1146;p10"/>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147" name="Google Shape;1147;p10"/>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148" name="Google Shape;1148;p10"/>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149" name="Google Shape;1149;p10"/>
          <p:cNvGrpSpPr/>
          <p:nvPr/>
        </p:nvGrpSpPr>
        <p:grpSpPr>
          <a:xfrm>
            <a:off x="10771171" y="3194171"/>
            <a:ext cx="594613" cy="648336"/>
            <a:chOff x="5203089" y="1751190"/>
            <a:chExt cx="858331" cy="662414"/>
          </a:xfrm>
        </p:grpSpPr>
        <p:sp>
          <p:nvSpPr>
            <p:cNvPr id="1150" name="Google Shape;1150;p10"/>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1" name="Google Shape;1151;p10"/>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152" name="Google Shape;1152;p10"/>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153" name="Google Shape;1153;p10"/>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154" name="Google Shape;1154;p10"/>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155" name="Google Shape;1155;p10"/>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156" name="Google Shape;1156;p10"/>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157" name="Google Shape;1157;p10"/>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158" name="Google Shape;1158;p10"/>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9" name="Google Shape;1159;p10"/>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a:p>
        </p:txBody>
      </p:sp>
      <p:sp>
        <p:nvSpPr>
          <p:cNvPr id="1160" name="Google Shape;1160;p10"/>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1" name="Google Shape;1161;p10"/>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a:p>
        </p:txBody>
      </p:sp>
      <p:sp>
        <p:nvSpPr>
          <p:cNvPr id="1162" name="Google Shape;1162;p10"/>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a:p>
        </p:txBody>
      </p:sp>
      <p:sp>
        <p:nvSpPr>
          <p:cNvPr id="1163" name="Google Shape;1163;p10"/>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cxnSp>
        <p:nvCxnSpPr>
          <p:cNvPr id="1164" name="Google Shape;1164;p10"/>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1165" name="Google Shape;1165;p10"/>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1166" name="Google Shape;1166;p10"/>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167" name="Google Shape;1167;p10"/>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168" name="Google Shape;1168;p10"/>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169" name="Google Shape;1169;p10"/>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170" name="Google Shape;1170;p10"/>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171" name="Google Shape;1171;p10"/>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172" name="Google Shape;1172;p10"/>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173" name="Google Shape;1173;p10"/>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174" name="Google Shape;1174;p10"/>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175" name="Google Shape;1175;p10"/>
          <p:cNvGrpSpPr/>
          <p:nvPr/>
        </p:nvGrpSpPr>
        <p:grpSpPr>
          <a:xfrm>
            <a:off x="7562238" y="2127325"/>
            <a:ext cx="3578867" cy="3640284"/>
            <a:chOff x="7562238" y="2127325"/>
            <a:chExt cx="3578867" cy="3640284"/>
          </a:xfrm>
        </p:grpSpPr>
        <p:grpSp>
          <p:nvGrpSpPr>
            <p:cNvPr id="1176" name="Google Shape;1176;p10"/>
            <p:cNvGrpSpPr/>
            <p:nvPr/>
          </p:nvGrpSpPr>
          <p:grpSpPr>
            <a:xfrm>
              <a:off x="7857253" y="2127325"/>
              <a:ext cx="3283852" cy="3640284"/>
              <a:chOff x="7881336" y="2104198"/>
              <a:chExt cx="3283852" cy="3640284"/>
            </a:xfrm>
          </p:grpSpPr>
          <p:cxnSp>
            <p:nvCxnSpPr>
              <p:cNvPr id="1177" name="Google Shape;1177;p10"/>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178" name="Google Shape;1178;p10"/>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179" name="Google Shape;1179;p10"/>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180" name="Google Shape;1180;p10"/>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181" name="Google Shape;1181;p10"/>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182" name="Google Shape;1182;p10"/>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183" name="Google Shape;1183;p10"/>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184" name="Google Shape;1184;p10"/>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185" name="Google Shape;1185;p10"/>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186" name="Google Shape;1186;p10"/>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187" name="Google Shape;1187;p10"/>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188" name="Google Shape;1188;p10"/>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189" name="Google Shape;1189;p10"/>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1190" name="Google Shape;1190;p10"/>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1191" name="Google Shape;1191;p10"/>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192" name="Google Shape;1192;p10"/>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193" name="Google Shape;1193;p10"/>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194" name="Google Shape;1194;p10"/>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195" name="Google Shape;1195;p10"/>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196" name="Google Shape;1196;p10"/>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197" name="Google Shape;1197;p10"/>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198" name="Google Shape;1198;p10"/>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199" name="Google Shape;1199;p10"/>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200" name="Google Shape;1200;p10"/>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1201" name="Google Shape;1201;p10"/>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202" name="Google Shape;1202;p10"/>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203" name="Google Shape;1203;p10"/>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204" name="Google Shape;1204;p10"/>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cxnSp>
        <p:nvCxnSpPr>
          <p:cNvPr id="1205" name="Google Shape;1205;p10"/>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206" name="Google Shape;1206;p10"/>
          <p:cNvGrpSpPr/>
          <p:nvPr/>
        </p:nvGrpSpPr>
        <p:grpSpPr>
          <a:xfrm>
            <a:off x="8050698" y="2309376"/>
            <a:ext cx="298450" cy="464008"/>
            <a:chOff x="3130" y="3288"/>
            <a:chExt cx="410" cy="742"/>
          </a:xfrm>
        </p:grpSpPr>
        <p:cxnSp>
          <p:nvCxnSpPr>
            <p:cNvPr id="1207" name="Google Shape;1207;p10"/>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208" name="Google Shape;1208;p10"/>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209" name="Google Shape;1209;p10"/>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210" name="Google Shape;1210;p10"/>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211" name="Google Shape;1211;p10"/>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212" name="Google Shape;1212;p10"/>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213" name="Google Shape;1213;p10"/>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214" name="Google Shape;1214;p10"/>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215" name="Google Shape;1215;p10"/>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216" name="Google Shape;1216;p10"/>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217" name="Google Shape;1217;p10"/>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218" name="Google Shape;1218;p10"/>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219" name="Google Shape;1219;p10"/>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220" name="Google Shape;1220;p10"/>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221" name="Google Shape;1221;p10"/>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1222" name="Google Shape;1222;p10"/>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1223" name="Google Shape;1223;p10"/>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1224" name="Google Shape;1224;p10"/>
          <p:cNvGrpSpPr/>
          <p:nvPr/>
        </p:nvGrpSpPr>
        <p:grpSpPr>
          <a:xfrm>
            <a:off x="9783558" y="4989983"/>
            <a:ext cx="393760" cy="218578"/>
            <a:chOff x="7493876" y="2774731"/>
            <a:chExt cx="1481958" cy="894622"/>
          </a:xfrm>
        </p:grpSpPr>
        <p:sp>
          <p:nvSpPr>
            <p:cNvPr id="1225" name="Google Shape;1225;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226" name="Google Shape;1226;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227" name="Google Shape;1227;p10"/>
            <p:cNvGrpSpPr/>
            <p:nvPr/>
          </p:nvGrpSpPr>
          <p:grpSpPr>
            <a:xfrm>
              <a:off x="7713663" y="2848339"/>
              <a:ext cx="1042107" cy="425543"/>
              <a:chOff x="7786941" y="2884917"/>
              <a:chExt cx="897649" cy="353919"/>
            </a:xfrm>
          </p:grpSpPr>
          <p:sp>
            <p:nvSpPr>
              <p:cNvPr id="1228" name="Google Shape;1228;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9" name="Google Shape;1229;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0" name="Google Shape;1230;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1" name="Google Shape;1231;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32" name="Google Shape;1232;p10"/>
          <p:cNvGrpSpPr/>
          <p:nvPr/>
        </p:nvGrpSpPr>
        <p:grpSpPr>
          <a:xfrm>
            <a:off x="9849365" y="5339037"/>
            <a:ext cx="309740" cy="190838"/>
            <a:chOff x="3668110" y="2448910"/>
            <a:chExt cx="3794234" cy="2165130"/>
          </a:xfrm>
        </p:grpSpPr>
        <p:sp>
          <p:nvSpPr>
            <p:cNvPr id="1233" name="Google Shape;1233;p10"/>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4" name="Google Shape;1234;p10"/>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235" name="Google Shape;1235;p10"/>
            <p:cNvGrpSpPr/>
            <p:nvPr/>
          </p:nvGrpSpPr>
          <p:grpSpPr>
            <a:xfrm>
              <a:off x="3941378" y="2603243"/>
              <a:ext cx="3202061" cy="1066110"/>
              <a:chOff x="7939341" y="3037317"/>
              <a:chExt cx="897649" cy="353919"/>
            </a:xfrm>
          </p:grpSpPr>
          <p:sp>
            <p:nvSpPr>
              <p:cNvPr id="1236" name="Google Shape;1236;p10"/>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7" name="Google Shape;1237;p10"/>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8" name="Google Shape;1238;p10"/>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9" name="Google Shape;1239;p10"/>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40" name="Google Shape;1240;p10"/>
          <p:cNvGrpSpPr/>
          <p:nvPr/>
        </p:nvGrpSpPr>
        <p:grpSpPr>
          <a:xfrm>
            <a:off x="8676619" y="4967420"/>
            <a:ext cx="393760" cy="218578"/>
            <a:chOff x="7493876" y="2774731"/>
            <a:chExt cx="1481958" cy="894622"/>
          </a:xfrm>
        </p:grpSpPr>
        <p:sp>
          <p:nvSpPr>
            <p:cNvPr id="1241" name="Google Shape;1241;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242" name="Google Shape;1242;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243" name="Google Shape;1243;p10"/>
            <p:cNvGrpSpPr/>
            <p:nvPr/>
          </p:nvGrpSpPr>
          <p:grpSpPr>
            <a:xfrm>
              <a:off x="7713663" y="2848339"/>
              <a:ext cx="1042107" cy="425543"/>
              <a:chOff x="7786941" y="2884917"/>
              <a:chExt cx="897649" cy="353919"/>
            </a:xfrm>
          </p:grpSpPr>
          <p:sp>
            <p:nvSpPr>
              <p:cNvPr id="1244" name="Google Shape;1244;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5" name="Google Shape;1245;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6" name="Google Shape;1246;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7" name="Google Shape;1247;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48" name="Google Shape;1248;p10"/>
          <p:cNvGrpSpPr/>
          <p:nvPr/>
        </p:nvGrpSpPr>
        <p:grpSpPr>
          <a:xfrm>
            <a:off x="8311520" y="5194433"/>
            <a:ext cx="309740" cy="190838"/>
            <a:chOff x="3668110" y="2448910"/>
            <a:chExt cx="3794234" cy="2165130"/>
          </a:xfrm>
        </p:grpSpPr>
        <p:sp>
          <p:nvSpPr>
            <p:cNvPr id="1249" name="Google Shape;1249;p10"/>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0" name="Google Shape;1250;p10"/>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251" name="Google Shape;1251;p10"/>
            <p:cNvGrpSpPr/>
            <p:nvPr/>
          </p:nvGrpSpPr>
          <p:grpSpPr>
            <a:xfrm>
              <a:off x="3941378" y="2603243"/>
              <a:ext cx="3202061" cy="1066110"/>
              <a:chOff x="7939341" y="3037317"/>
              <a:chExt cx="897649" cy="353919"/>
            </a:xfrm>
          </p:grpSpPr>
          <p:sp>
            <p:nvSpPr>
              <p:cNvPr id="1252" name="Google Shape;1252;p10"/>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3" name="Google Shape;1253;p10"/>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4" name="Google Shape;1254;p10"/>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5" name="Google Shape;1255;p10"/>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56" name="Google Shape;1256;p10"/>
          <p:cNvGrpSpPr/>
          <p:nvPr/>
        </p:nvGrpSpPr>
        <p:grpSpPr>
          <a:xfrm>
            <a:off x="8439827" y="2812309"/>
            <a:ext cx="353678" cy="168275"/>
            <a:chOff x="7493876" y="2774731"/>
            <a:chExt cx="1481958" cy="894622"/>
          </a:xfrm>
        </p:grpSpPr>
        <p:sp>
          <p:nvSpPr>
            <p:cNvPr id="1257" name="Google Shape;1257;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258" name="Google Shape;1258;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259" name="Google Shape;1259;p10"/>
            <p:cNvGrpSpPr/>
            <p:nvPr/>
          </p:nvGrpSpPr>
          <p:grpSpPr>
            <a:xfrm>
              <a:off x="7713663" y="2848339"/>
              <a:ext cx="1042107" cy="425543"/>
              <a:chOff x="7786941" y="2884917"/>
              <a:chExt cx="897649" cy="353919"/>
            </a:xfrm>
          </p:grpSpPr>
          <p:sp>
            <p:nvSpPr>
              <p:cNvPr id="1260" name="Google Shape;1260;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1" name="Google Shape;1261;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2" name="Google Shape;1262;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3" name="Google Shape;1263;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64" name="Google Shape;1264;p10"/>
          <p:cNvGrpSpPr/>
          <p:nvPr/>
        </p:nvGrpSpPr>
        <p:grpSpPr>
          <a:xfrm>
            <a:off x="8050070" y="3965994"/>
            <a:ext cx="354986" cy="175668"/>
            <a:chOff x="7493876" y="2774731"/>
            <a:chExt cx="1481958" cy="894622"/>
          </a:xfrm>
        </p:grpSpPr>
        <p:sp>
          <p:nvSpPr>
            <p:cNvPr id="1265" name="Google Shape;1265;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266" name="Google Shape;1266;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267" name="Google Shape;1267;p10"/>
            <p:cNvGrpSpPr/>
            <p:nvPr/>
          </p:nvGrpSpPr>
          <p:grpSpPr>
            <a:xfrm>
              <a:off x="7713663" y="2848339"/>
              <a:ext cx="1042107" cy="425543"/>
              <a:chOff x="7786941" y="2884917"/>
              <a:chExt cx="897649" cy="353919"/>
            </a:xfrm>
          </p:grpSpPr>
          <p:sp>
            <p:nvSpPr>
              <p:cNvPr id="1268" name="Google Shape;1268;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9" name="Google Shape;1269;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0" name="Google Shape;1270;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1" name="Google Shape;1271;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72" name="Google Shape;1272;p10"/>
          <p:cNvGrpSpPr/>
          <p:nvPr/>
        </p:nvGrpSpPr>
        <p:grpSpPr>
          <a:xfrm>
            <a:off x="10884085" y="3601365"/>
            <a:ext cx="170989" cy="97052"/>
            <a:chOff x="7493876" y="2774731"/>
            <a:chExt cx="1481958" cy="894622"/>
          </a:xfrm>
        </p:grpSpPr>
        <p:sp>
          <p:nvSpPr>
            <p:cNvPr id="1273" name="Google Shape;1273;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274" name="Google Shape;1274;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275" name="Google Shape;1275;p10"/>
            <p:cNvGrpSpPr/>
            <p:nvPr/>
          </p:nvGrpSpPr>
          <p:grpSpPr>
            <a:xfrm>
              <a:off x="7713663" y="2848339"/>
              <a:ext cx="1042107" cy="425543"/>
              <a:chOff x="7786941" y="2884917"/>
              <a:chExt cx="897649" cy="353919"/>
            </a:xfrm>
          </p:grpSpPr>
          <p:sp>
            <p:nvSpPr>
              <p:cNvPr id="1276" name="Google Shape;1276;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7" name="Google Shape;1277;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8" name="Google Shape;1278;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9" name="Google Shape;1279;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80" name="Google Shape;1280;p10"/>
          <p:cNvGrpSpPr/>
          <p:nvPr/>
        </p:nvGrpSpPr>
        <p:grpSpPr>
          <a:xfrm>
            <a:off x="10410609" y="3496138"/>
            <a:ext cx="353678" cy="198344"/>
            <a:chOff x="7493876" y="2774731"/>
            <a:chExt cx="1481958" cy="894622"/>
          </a:xfrm>
        </p:grpSpPr>
        <p:sp>
          <p:nvSpPr>
            <p:cNvPr id="1281" name="Google Shape;1281;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282" name="Google Shape;1282;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283" name="Google Shape;1283;p10"/>
            <p:cNvGrpSpPr/>
            <p:nvPr/>
          </p:nvGrpSpPr>
          <p:grpSpPr>
            <a:xfrm>
              <a:off x="7713663" y="2848339"/>
              <a:ext cx="1042107" cy="425543"/>
              <a:chOff x="7786941" y="2884917"/>
              <a:chExt cx="897649" cy="353919"/>
            </a:xfrm>
          </p:grpSpPr>
          <p:sp>
            <p:nvSpPr>
              <p:cNvPr id="1284" name="Google Shape;1284;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5" name="Google Shape;1285;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6" name="Google Shape;1286;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7" name="Google Shape;1287;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88" name="Google Shape;1288;p10"/>
          <p:cNvGrpSpPr/>
          <p:nvPr/>
        </p:nvGrpSpPr>
        <p:grpSpPr>
          <a:xfrm>
            <a:off x="9948724" y="2202292"/>
            <a:ext cx="353678" cy="198344"/>
            <a:chOff x="7493876" y="2774731"/>
            <a:chExt cx="1481958" cy="894622"/>
          </a:xfrm>
        </p:grpSpPr>
        <p:sp>
          <p:nvSpPr>
            <p:cNvPr id="1289" name="Google Shape;1289;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290" name="Google Shape;1290;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291" name="Google Shape;1291;p10"/>
            <p:cNvGrpSpPr/>
            <p:nvPr/>
          </p:nvGrpSpPr>
          <p:grpSpPr>
            <a:xfrm>
              <a:off x="7713663" y="2848339"/>
              <a:ext cx="1042107" cy="425543"/>
              <a:chOff x="7786941" y="2884917"/>
              <a:chExt cx="897649" cy="353919"/>
            </a:xfrm>
          </p:grpSpPr>
          <p:sp>
            <p:nvSpPr>
              <p:cNvPr id="1292" name="Google Shape;1292;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3" name="Google Shape;1293;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4" name="Google Shape;1294;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5" name="Google Shape;1295;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96" name="Google Shape;1296;p10"/>
          <p:cNvGrpSpPr/>
          <p:nvPr/>
        </p:nvGrpSpPr>
        <p:grpSpPr>
          <a:xfrm>
            <a:off x="10527214" y="2613367"/>
            <a:ext cx="353678" cy="198344"/>
            <a:chOff x="7493876" y="2774731"/>
            <a:chExt cx="1481958" cy="894622"/>
          </a:xfrm>
        </p:grpSpPr>
        <p:sp>
          <p:nvSpPr>
            <p:cNvPr id="1297" name="Google Shape;1297;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298" name="Google Shape;1298;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299" name="Google Shape;1299;p10"/>
            <p:cNvGrpSpPr/>
            <p:nvPr/>
          </p:nvGrpSpPr>
          <p:grpSpPr>
            <a:xfrm>
              <a:off x="7713663" y="2848339"/>
              <a:ext cx="1042107" cy="425543"/>
              <a:chOff x="7786941" y="2884917"/>
              <a:chExt cx="897649" cy="353919"/>
            </a:xfrm>
          </p:grpSpPr>
          <p:sp>
            <p:nvSpPr>
              <p:cNvPr id="1300" name="Google Shape;1300;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1" name="Google Shape;1301;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2" name="Google Shape;1302;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3" name="Google Shape;1303;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304" name="Google Shape;1304;p10"/>
          <p:cNvGrpSpPr/>
          <p:nvPr/>
        </p:nvGrpSpPr>
        <p:grpSpPr>
          <a:xfrm>
            <a:off x="10643825" y="2107963"/>
            <a:ext cx="353678" cy="198344"/>
            <a:chOff x="7493876" y="2774731"/>
            <a:chExt cx="1481958" cy="894622"/>
          </a:xfrm>
        </p:grpSpPr>
        <p:sp>
          <p:nvSpPr>
            <p:cNvPr id="1305" name="Google Shape;1305;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306" name="Google Shape;1306;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307" name="Google Shape;1307;p10"/>
            <p:cNvGrpSpPr/>
            <p:nvPr/>
          </p:nvGrpSpPr>
          <p:grpSpPr>
            <a:xfrm>
              <a:off x="7713663" y="2848339"/>
              <a:ext cx="1042107" cy="425543"/>
              <a:chOff x="7786941" y="2884917"/>
              <a:chExt cx="897649" cy="353919"/>
            </a:xfrm>
          </p:grpSpPr>
          <p:sp>
            <p:nvSpPr>
              <p:cNvPr id="1308" name="Google Shape;1308;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9" name="Google Shape;1309;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0" name="Google Shape;1310;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1" name="Google Shape;1311;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312" name="Google Shape;1312;p10"/>
          <p:cNvGrpSpPr/>
          <p:nvPr/>
        </p:nvGrpSpPr>
        <p:grpSpPr>
          <a:xfrm>
            <a:off x="9098788" y="3956624"/>
            <a:ext cx="367224" cy="240304"/>
            <a:chOff x="7493876" y="2774731"/>
            <a:chExt cx="1481958" cy="894622"/>
          </a:xfrm>
        </p:grpSpPr>
        <p:sp>
          <p:nvSpPr>
            <p:cNvPr id="1313" name="Google Shape;1313;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314" name="Google Shape;1314;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315" name="Google Shape;1315;p10"/>
            <p:cNvGrpSpPr/>
            <p:nvPr/>
          </p:nvGrpSpPr>
          <p:grpSpPr>
            <a:xfrm>
              <a:off x="7713663" y="2848339"/>
              <a:ext cx="1042107" cy="425543"/>
              <a:chOff x="7786941" y="2884917"/>
              <a:chExt cx="897649" cy="353919"/>
            </a:xfrm>
          </p:grpSpPr>
          <p:sp>
            <p:nvSpPr>
              <p:cNvPr id="1316" name="Google Shape;1316;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7" name="Google Shape;1317;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8" name="Google Shape;1318;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9" name="Google Shape;1319;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320" name="Google Shape;1320;p10"/>
          <p:cNvGrpSpPr/>
          <p:nvPr/>
        </p:nvGrpSpPr>
        <p:grpSpPr>
          <a:xfrm>
            <a:off x="9980126" y="2661565"/>
            <a:ext cx="353678" cy="198344"/>
            <a:chOff x="7493876" y="2774731"/>
            <a:chExt cx="1481958" cy="894622"/>
          </a:xfrm>
        </p:grpSpPr>
        <p:sp>
          <p:nvSpPr>
            <p:cNvPr id="1321" name="Google Shape;1321;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322" name="Google Shape;1322;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323" name="Google Shape;1323;p10"/>
            <p:cNvGrpSpPr/>
            <p:nvPr/>
          </p:nvGrpSpPr>
          <p:grpSpPr>
            <a:xfrm>
              <a:off x="7713663" y="2848339"/>
              <a:ext cx="1042107" cy="425543"/>
              <a:chOff x="7786941" y="2884917"/>
              <a:chExt cx="897649" cy="353919"/>
            </a:xfrm>
          </p:grpSpPr>
          <p:sp>
            <p:nvSpPr>
              <p:cNvPr id="1324" name="Google Shape;1324;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5" name="Google Shape;1325;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6" name="Google Shape;1326;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7" name="Google Shape;1327;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328" name="Google Shape;1328;p10"/>
          <p:cNvGrpSpPr/>
          <p:nvPr/>
        </p:nvGrpSpPr>
        <p:grpSpPr>
          <a:xfrm>
            <a:off x="9497138" y="3394032"/>
            <a:ext cx="367224" cy="240304"/>
            <a:chOff x="7493876" y="2774731"/>
            <a:chExt cx="1481958" cy="894622"/>
          </a:xfrm>
        </p:grpSpPr>
        <p:sp>
          <p:nvSpPr>
            <p:cNvPr id="1329" name="Google Shape;1329;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330" name="Google Shape;1330;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331" name="Google Shape;1331;p10"/>
            <p:cNvGrpSpPr/>
            <p:nvPr/>
          </p:nvGrpSpPr>
          <p:grpSpPr>
            <a:xfrm>
              <a:off x="7713663" y="2848339"/>
              <a:ext cx="1042107" cy="425543"/>
              <a:chOff x="7786941" y="2884917"/>
              <a:chExt cx="897649" cy="353919"/>
            </a:xfrm>
          </p:grpSpPr>
          <p:sp>
            <p:nvSpPr>
              <p:cNvPr id="1332" name="Google Shape;1332;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3" name="Google Shape;1333;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4" name="Google Shape;1334;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5" name="Google Shape;1335;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336" name="Google Shape;1336;p10"/>
          <p:cNvGrpSpPr/>
          <p:nvPr/>
        </p:nvGrpSpPr>
        <p:grpSpPr>
          <a:xfrm>
            <a:off x="9601554" y="3999763"/>
            <a:ext cx="367224" cy="240304"/>
            <a:chOff x="7493876" y="2774731"/>
            <a:chExt cx="1481958" cy="894622"/>
          </a:xfrm>
        </p:grpSpPr>
        <p:sp>
          <p:nvSpPr>
            <p:cNvPr id="1337" name="Google Shape;1337;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338" name="Google Shape;1338;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339" name="Google Shape;1339;p10"/>
            <p:cNvGrpSpPr/>
            <p:nvPr/>
          </p:nvGrpSpPr>
          <p:grpSpPr>
            <a:xfrm>
              <a:off x="7713663" y="2848339"/>
              <a:ext cx="1042107" cy="425543"/>
              <a:chOff x="7786941" y="2884917"/>
              <a:chExt cx="897649" cy="353919"/>
            </a:xfrm>
          </p:grpSpPr>
          <p:sp>
            <p:nvSpPr>
              <p:cNvPr id="1340" name="Google Shape;1340;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1" name="Google Shape;1341;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2" name="Google Shape;1342;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3" name="Google Shape;1343;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344" name="Google Shape;1344;p10"/>
          <p:cNvGrpSpPr/>
          <p:nvPr/>
        </p:nvGrpSpPr>
        <p:grpSpPr>
          <a:xfrm>
            <a:off x="10375259" y="3992325"/>
            <a:ext cx="353678" cy="198344"/>
            <a:chOff x="7493876" y="2774731"/>
            <a:chExt cx="1481958" cy="894622"/>
          </a:xfrm>
        </p:grpSpPr>
        <p:sp>
          <p:nvSpPr>
            <p:cNvPr id="1345" name="Google Shape;1345;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346" name="Google Shape;1346;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347" name="Google Shape;1347;p10"/>
            <p:cNvGrpSpPr/>
            <p:nvPr/>
          </p:nvGrpSpPr>
          <p:grpSpPr>
            <a:xfrm>
              <a:off x="7713663" y="2848339"/>
              <a:ext cx="1042107" cy="425543"/>
              <a:chOff x="7786941" y="2884917"/>
              <a:chExt cx="897649" cy="353919"/>
            </a:xfrm>
          </p:grpSpPr>
          <p:sp>
            <p:nvSpPr>
              <p:cNvPr id="1348" name="Google Shape;1348;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9" name="Google Shape;1349;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0" name="Google Shape;1350;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1" name="Google Shape;1351;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352" name="Google Shape;1352;p10"/>
          <p:cNvGrpSpPr/>
          <p:nvPr/>
        </p:nvGrpSpPr>
        <p:grpSpPr>
          <a:xfrm>
            <a:off x="9247893" y="4775686"/>
            <a:ext cx="393760" cy="218578"/>
            <a:chOff x="7493876" y="2774731"/>
            <a:chExt cx="1481958" cy="894622"/>
          </a:xfrm>
        </p:grpSpPr>
        <p:sp>
          <p:nvSpPr>
            <p:cNvPr id="1353" name="Google Shape;1353;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354" name="Google Shape;1354;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355" name="Google Shape;1355;p10"/>
            <p:cNvGrpSpPr/>
            <p:nvPr/>
          </p:nvGrpSpPr>
          <p:grpSpPr>
            <a:xfrm>
              <a:off x="7713663" y="2848339"/>
              <a:ext cx="1042107" cy="425543"/>
              <a:chOff x="7786941" y="2884917"/>
              <a:chExt cx="897649" cy="353919"/>
            </a:xfrm>
          </p:grpSpPr>
          <p:sp>
            <p:nvSpPr>
              <p:cNvPr id="1356" name="Google Shape;1356;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7" name="Google Shape;1357;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8" name="Google Shape;1358;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9" name="Google Shape;1359;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360" name="Google Shape;1360;p10"/>
          <p:cNvGrpSpPr/>
          <p:nvPr/>
        </p:nvGrpSpPr>
        <p:grpSpPr>
          <a:xfrm>
            <a:off x="10925982" y="4369125"/>
            <a:ext cx="228295" cy="120400"/>
            <a:chOff x="7493876" y="2774731"/>
            <a:chExt cx="1481958" cy="894622"/>
          </a:xfrm>
        </p:grpSpPr>
        <p:sp>
          <p:nvSpPr>
            <p:cNvPr id="1361" name="Google Shape;1361;p1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362" name="Google Shape;1362;p1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363" name="Google Shape;1363;p10"/>
            <p:cNvGrpSpPr/>
            <p:nvPr/>
          </p:nvGrpSpPr>
          <p:grpSpPr>
            <a:xfrm>
              <a:off x="7713663" y="2848339"/>
              <a:ext cx="1042107" cy="425543"/>
              <a:chOff x="7786941" y="2884917"/>
              <a:chExt cx="897649" cy="353919"/>
            </a:xfrm>
          </p:grpSpPr>
          <p:sp>
            <p:nvSpPr>
              <p:cNvPr id="1364" name="Google Shape;1364;p1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5" name="Google Shape;1365;p1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6" name="Google Shape;1366;p1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7" name="Google Shape;1367;p1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368" name="Google Shape;1368;p10"/>
          <p:cNvGrpSpPr/>
          <p:nvPr/>
        </p:nvGrpSpPr>
        <p:grpSpPr>
          <a:xfrm>
            <a:off x="7439074" y="2356613"/>
            <a:ext cx="534987" cy="414882"/>
            <a:chOff x="7432700" y="2327293"/>
            <a:chExt cx="534987" cy="414882"/>
          </a:xfrm>
        </p:grpSpPr>
        <p:pic>
          <p:nvPicPr>
            <p:cNvPr descr="antenna_stylized" id="1369" name="Google Shape;1369;p10"/>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1370" name="Google Shape;1370;p10"/>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1371" name="Google Shape;1371;p10"/>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372" name="Google Shape;1372;p10"/>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1373" name="Google Shape;1373;p10"/>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4" name="Google Shape;1374;p10"/>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5" name="Google Shape;1375;p10"/>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6" name="Google Shape;1376;p10"/>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7" name="Google Shape;1377;p10"/>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8" name="Google Shape;1378;p10"/>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379" name="Google Shape;1379;p10"/>
            <p:cNvGrpSpPr/>
            <p:nvPr/>
          </p:nvGrpSpPr>
          <p:grpSpPr>
            <a:xfrm>
              <a:off x="7594735" y="2642220"/>
              <a:ext cx="98740" cy="36846"/>
              <a:chOff x="1740" y="2642"/>
              <a:chExt cx="752" cy="327"/>
            </a:xfrm>
          </p:grpSpPr>
          <p:sp>
            <p:nvSpPr>
              <p:cNvPr id="1380" name="Google Shape;1380;p1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1" name="Google Shape;1381;p1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2" name="Google Shape;1382;p1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3" name="Google Shape;1383;p1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4" name="Google Shape;1384;p1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5" name="Google Shape;1385;p1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86" name="Google Shape;1386;p10"/>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7" name="Google Shape;1387;p10"/>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8" name="Google Shape;1388;p10"/>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9" name="Google Shape;1389;p10"/>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0" name="Google Shape;1390;p10"/>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1" name="Google Shape;1391;p10"/>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92" name="Google Shape;1392;p10"/>
          <p:cNvGrpSpPr/>
          <p:nvPr/>
        </p:nvGrpSpPr>
        <p:grpSpPr>
          <a:xfrm>
            <a:off x="8637781" y="2319727"/>
            <a:ext cx="530702" cy="478009"/>
            <a:chOff x="8631407" y="2290407"/>
            <a:chExt cx="530702" cy="478009"/>
          </a:xfrm>
        </p:grpSpPr>
        <p:pic>
          <p:nvPicPr>
            <p:cNvPr descr="light2.png" id="1393" name="Google Shape;1393;p10"/>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1394" name="Google Shape;1394;p10"/>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1395" name="Google Shape;1395;p10"/>
          <p:cNvGrpSpPr/>
          <p:nvPr/>
        </p:nvGrpSpPr>
        <p:grpSpPr>
          <a:xfrm>
            <a:off x="7493518" y="3419140"/>
            <a:ext cx="350807" cy="310034"/>
            <a:chOff x="7487144" y="3389820"/>
            <a:chExt cx="350807" cy="310034"/>
          </a:xfrm>
        </p:grpSpPr>
        <p:pic>
          <p:nvPicPr>
            <p:cNvPr descr="antenna_stylized" id="1396" name="Google Shape;1396;p10"/>
            <p:cNvPicPr preferRelativeResize="0"/>
            <p:nvPr/>
          </p:nvPicPr>
          <p:blipFill rotWithShape="1">
            <a:blip r:embed="rId11">
              <a:alphaModFix/>
            </a:blip>
            <a:srcRect b="0" l="0" r="0" t="0"/>
            <a:stretch/>
          </p:blipFill>
          <p:spPr>
            <a:xfrm>
              <a:off x="7487144" y="3389820"/>
              <a:ext cx="347997" cy="167557"/>
            </a:xfrm>
            <a:prstGeom prst="rect">
              <a:avLst/>
            </a:prstGeom>
            <a:noFill/>
            <a:ln>
              <a:noFill/>
            </a:ln>
          </p:spPr>
        </p:pic>
        <p:pic>
          <p:nvPicPr>
            <p:cNvPr descr="laptop_keyboard" id="1397" name="Google Shape;1397;p10"/>
            <p:cNvPicPr preferRelativeResize="0"/>
            <p:nvPr/>
          </p:nvPicPr>
          <p:blipFill rotWithShape="1">
            <a:blip r:embed="rId12">
              <a:alphaModFix/>
            </a:blip>
            <a:srcRect b="0" l="0" r="0" t="0"/>
            <a:stretch/>
          </p:blipFill>
          <p:spPr>
            <a:xfrm flipH="1" rot="109064">
              <a:off x="7504001" y="3575889"/>
              <a:ext cx="286699" cy="119448"/>
            </a:xfrm>
            <a:prstGeom prst="rect">
              <a:avLst/>
            </a:prstGeom>
            <a:noFill/>
            <a:ln>
              <a:noFill/>
            </a:ln>
          </p:spPr>
        </p:pic>
        <p:sp>
          <p:nvSpPr>
            <p:cNvPr id="1398" name="Google Shape;1398;p10"/>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399" name="Google Shape;1399;p10"/>
            <p:cNvPicPr preferRelativeResize="0"/>
            <p:nvPr/>
          </p:nvPicPr>
          <p:blipFill rotWithShape="1">
            <a:blip r:embed="rId13">
              <a:alphaModFix/>
            </a:blip>
            <a:srcRect b="0" l="0" r="0" t="0"/>
            <a:stretch/>
          </p:blipFill>
          <p:spPr>
            <a:xfrm>
              <a:off x="7610380" y="3463988"/>
              <a:ext cx="209692" cy="141851"/>
            </a:xfrm>
            <a:prstGeom prst="rect">
              <a:avLst/>
            </a:prstGeom>
            <a:noFill/>
            <a:ln>
              <a:noFill/>
            </a:ln>
          </p:spPr>
        </p:pic>
        <p:sp>
          <p:nvSpPr>
            <p:cNvPr id="1400" name="Google Shape;1400;p10"/>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1" name="Google Shape;1401;p10"/>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2" name="Google Shape;1402;p10"/>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3" name="Google Shape;1403;p10"/>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4" name="Google Shape;1404;p10"/>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5" name="Google Shape;1405;p10"/>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06" name="Google Shape;1406;p10"/>
            <p:cNvGrpSpPr/>
            <p:nvPr/>
          </p:nvGrpSpPr>
          <p:grpSpPr>
            <a:xfrm>
              <a:off x="7593395" y="3625649"/>
              <a:ext cx="64747" cy="27592"/>
              <a:chOff x="1740" y="2642"/>
              <a:chExt cx="752" cy="327"/>
            </a:xfrm>
          </p:grpSpPr>
          <p:sp>
            <p:nvSpPr>
              <p:cNvPr id="1407" name="Google Shape;1407;p1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8" name="Google Shape;1408;p1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9" name="Google Shape;1409;p1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0" name="Google Shape;1410;p1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1" name="Google Shape;1411;p1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2" name="Google Shape;1412;p1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13" name="Google Shape;1413;p10"/>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4" name="Google Shape;1414;p10"/>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5" name="Google Shape;1415;p10"/>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6" name="Google Shape;1416;p10"/>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7" name="Google Shape;1417;p10"/>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8" name="Google Shape;1418;p10"/>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19" name="Google Shape;1419;p10"/>
          <p:cNvGrpSpPr/>
          <p:nvPr/>
        </p:nvGrpSpPr>
        <p:grpSpPr>
          <a:xfrm>
            <a:off x="7803435" y="3325424"/>
            <a:ext cx="347997" cy="396620"/>
            <a:chOff x="7797061" y="3296104"/>
            <a:chExt cx="347997" cy="396620"/>
          </a:xfrm>
        </p:grpSpPr>
        <p:pic>
          <p:nvPicPr>
            <p:cNvPr descr="fridge2.png" id="1420" name="Google Shape;1420;p10"/>
            <p:cNvPicPr preferRelativeResize="0"/>
            <p:nvPr/>
          </p:nvPicPr>
          <p:blipFill rotWithShape="1">
            <a:blip r:embed="rId14">
              <a:alphaModFix/>
            </a:blip>
            <a:srcRect b="0" l="0" r="0" t="0"/>
            <a:stretch/>
          </p:blipFill>
          <p:spPr>
            <a:xfrm>
              <a:off x="7896825" y="3355697"/>
              <a:ext cx="189578" cy="337027"/>
            </a:xfrm>
            <a:prstGeom prst="rect">
              <a:avLst/>
            </a:prstGeom>
            <a:noFill/>
            <a:ln>
              <a:noFill/>
            </a:ln>
          </p:spPr>
        </p:pic>
        <p:pic>
          <p:nvPicPr>
            <p:cNvPr descr="antenna_stylized" id="1421" name="Google Shape;1421;p10"/>
            <p:cNvPicPr preferRelativeResize="0"/>
            <p:nvPr/>
          </p:nvPicPr>
          <p:blipFill rotWithShape="1">
            <a:blip r:embed="rId11">
              <a:alphaModFix/>
            </a:blip>
            <a:srcRect b="0" l="0" r="0" t="0"/>
            <a:stretch/>
          </p:blipFill>
          <p:spPr>
            <a:xfrm>
              <a:off x="7797061" y="3296104"/>
              <a:ext cx="347997" cy="167557"/>
            </a:xfrm>
            <a:prstGeom prst="rect">
              <a:avLst/>
            </a:prstGeom>
            <a:noFill/>
            <a:ln>
              <a:noFill/>
            </a:ln>
          </p:spPr>
        </p:pic>
      </p:grpSp>
      <p:grpSp>
        <p:nvGrpSpPr>
          <p:cNvPr id="1422" name="Google Shape;1422;p10"/>
          <p:cNvGrpSpPr/>
          <p:nvPr/>
        </p:nvGrpSpPr>
        <p:grpSpPr>
          <a:xfrm>
            <a:off x="11064947" y="3428485"/>
            <a:ext cx="518448" cy="1212242"/>
            <a:chOff x="11058573" y="3399165"/>
            <a:chExt cx="518448" cy="1212242"/>
          </a:xfrm>
        </p:grpSpPr>
        <p:grpSp>
          <p:nvGrpSpPr>
            <p:cNvPr id="1423" name="Google Shape;1423;p10"/>
            <p:cNvGrpSpPr/>
            <p:nvPr/>
          </p:nvGrpSpPr>
          <p:grpSpPr>
            <a:xfrm>
              <a:off x="11087182" y="4159591"/>
              <a:ext cx="489839" cy="451816"/>
              <a:chOff x="5103720" y="2693365"/>
              <a:chExt cx="611650" cy="414788"/>
            </a:xfrm>
          </p:grpSpPr>
          <p:cxnSp>
            <p:nvCxnSpPr>
              <p:cNvPr id="1424" name="Google Shape;1424;p10"/>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425" name="Google Shape;1425;p10"/>
              <p:cNvGrpSpPr/>
              <p:nvPr/>
            </p:nvGrpSpPr>
            <p:grpSpPr>
              <a:xfrm>
                <a:off x="5275406" y="2693365"/>
                <a:ext cx="439964" cy="414788"/>
                <a:chOff x="5275406" y="2711455"/>
                <a:chExt cx="452949" cy="405518"/>
              </a:xfrm>
            </p:grpSpPr>
            <p:pic>
              <p:nvPicPr>
                <p:cNvPr descr="server_rack.png" id="1426" name="Google Shape;1426;p10"/>
                <p:cNvPicPr preferRelativeResize="0"/>
                <p:nvPr/>
              </p:nvPicPr>
              <p:blipFill rotWithShape="1">
                <a:blip r:embed="rId15">
                  <a:alphaModFix/>
                </a:blip>
                <a:srcRect b="0" l="0" r="0" t="0"/>
                <a:stretch/>
              </p:blipFill>
              <p:spPr>
                <a:xfrm>
                  <a:off x="5537367" y="2770786"/>
                  <a:ext cx="190988" cy="313366"/>
                </a:xfrm>
                <a:prstGeom prst="rect">
                  <a:avLst/>
                </a:prstGeom>
                <a:noFill/>
                <a:ln>
                  <a:noFill/>
                </a:ln>
              </p:spPr>
            </p:pic>
            <p:pic>
              <p:nvPicPr>
                <p:cNvPr descr="server_rack.png" id="1427" name="Google Shape;1427;p10"/>
                <p:cNvPicPr preferRelativeResize="0"/>
                <p:nvPr/>
              </p:nvPicPr>
              <p:blipFill rotWithShape="1">
                <a:blip r:embed="rId15">
                  <a:alphaModFix/>
                </a:blip>
                <a:srcRect b="0" l="0" r="0" t="0"/>
                <a:stretch/>
              </p:blipFill>
              <p:spPr>
                <a:xfrm>
                  <a:off x="5275406" y="2764002"/>
                  <a:ext cx="190988" cy="313366"/>
                </a:xfrm>
                <a:prstGeom prst="rect">
                  <a:avLst/>
                </a:prstGeom>
                <a:noFill/>
                <a:ln>
                  <a:noFill/>
                </a:ln>
              </p:spPr>
            </p:pic>
            <p:pic>
              <p:nvPicPr>
                <p:cNvPr descr="server_rack.png" id="1428" name="Google Shape;1428;p10"/>
                <p:cNvPicPr preferRelativeResize="0"/>
                <p:nvPr/>
              </p:nvPicPr>
              <p:blipFill rotWithShape="1">
                <a:blip r:embed="rId15">
                  <a:alphaModFix/>
                </a:blip>
                <a:srcRect b="0" l="0" r="0" t="0"/>
                <a:stretch/>
              </p:blipFill>
              <p:spPr>
                <a:xfrm>
                  <a:off x="5385676" y="2711455"/>
                  <a:ext cx="247152" cy="405518"/>
                </a:xfrm>
                <a:prstGeom prst="rect">
                  <a:avLst/>
                </a:prstGeom>
                <a:noFill/>
                <a:ln>
                  <a:noFill/>
                </a:ln>
              </p:spPr>
            </p:pic>
          </p:grpSp>
        </p:grpSp>
        <p:grpSp>
          <p:nvGrpSpPr>
            <p:cNvPr id="1429" name="Google Shape;1429;p10"/>
            <p:cNvGrpSpPr/>
            <p:nvPr/>
          </p:nvGrpSpPr>
          <p:grpSpPr>
            <a:xfrm>
              <a:off x="11058573" y="3399165"/>
              <a:ext cx="423724" cy="405973"/>
              <a:chOff x="5103720" y="2693365"/>
              <a:chExt cx="611650" cy="414788"/>
            </a:xfrm>
          </p:grpSpPr>
          <p:cxnSp>
            <p:nvCxnSpPr>
              <p:cNvPr id="1430" name="Google Shape;1430;p10"/>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431" name="Google Shape;1431;p10"/>
              <p:cNvGrpSpPr/>
              <p:nvPr/>
            </p:nvGrpSpPr>
            <p:grpSpPr>
              <a:xfrm>
                <a:off x="5275406" y="2693365"/>
                <a:ext cx="439964" cy="414788"/>
                <a:chOff x="5275406" y="2711455"/>
                <a:chExt cx="452949" cy="405518"/>
              </a:xfrm>
            </p:grpSpPr>
            <p:pic>
              <p:nvPicPr>
                <p:cNvPr descr="server_rack.png" id="1432" name="Google Shape;1432;p10"/>
                <p:cNvPicPr preferRelativeResize="0"/>
                <p:nvPr/>
              </p:nvPicPr>
              <p:blipFill rotWithShape="1">
                <a:blip r:embed="rId15">
                  <a:alphaModFix/>
                </a:blip>
                <a:srcRect b="0" l="0" r="0" t="0"/>
                <a:stretch/>
              </p:blipFill>
              <p:spPr>
                <a:xfrm>
                  <a:off x="5537367" y="2770786"/>
                  <a:ext cx="190988" cy="313366"/>
                </a:xfrm>
                <a:prstGeom prst="rect">
                  <a:avLst/>
                </a:prstGeom>
                <a:noFill/>
                <a:ln>
                  <a:noFill/>
                </a:ln>
              </p:spPr>
            </p:pic>
            <p:pic>
              <p:nvPicPr>
                <p:cNvPr descr="server_rack.png" id="1433" name="Google Shape;1433;p10"/>
                <p:cNvPicPr preferRelativeResize="0"/>
                <p:nvPr/>
              </p:nvPicPr>
              <p:blipFill rotWithShape="1">
                <a:blip r:embed="rId15">
                  <a:alphaModFix/>
                </a:blip>
                <a:srcRect b="0" l="0" r="0" t="0"/>
                <a:stretch/>
              </p:blipFill>
              <p:spPr>
                <a:xfrm>
                  <a:off x="5275406" y="2764002"/>
                  <a:ext cx="190988" cy="313366"/>
                </a:xfrm>
                <a:prstGeom prst="rect">
                  <a:avLst/>
                </a:prstGeom>
                <a:noFill/>
                <a:ln>
                  <a:noFill/>
                </a:ln>
              </p:spPr>
            </p:pic>
            <p:pic>
              <p:nvPicPr>
                <p:cNvPr descr="server_rack.png" id="1434" name="Google Shape;1434;p10"/>
                <p:cNvPicPr preferRelativeResize="0"/>
                <p:nvPr/>
              </p:nvPicPr>
              <p:blipFill rotWithShape="1">
                <a:blip r:embed="rId15">
                  <a:alphaModFix/>
                </a:blip>
                <a:srcRect b="0" l="0" r="0" t="0"/>
                <a:stretch/>
              </p:blipFill>
              <p:spPr>
                <a:xfrm>
                  <a:off x="5385676" y="2711455"/>
                  <a:ext cx="247152" cy="405518"/>
                </a:xfrm>
                <a:prstGeom prst="rect">
                  <a:avLst/>
                </a:prstGeom>
                <a:noFill/>
                <a:ln>
                  <a:noFill/>
                </a:ln>
              </p:spPr>
            </p:pic>
          </p:grpSp>
        </p:grpSp>
      </p:grpSp>
      <p:grpSp>
        <p:nvGrpSpPr>
          <p:cNvPr id="1435" name="Google Shape;1435;p10"/>
          <p:cNvGrpSpPr/>
          <p:nvPr/>
        </p:nvGrpSpPr>
        <p:grpSpPr>
          <a:xfrm>
            <a:off x="10288915" y="5273951"/>
            <a:ext cx="177192" cy="330833"/>
            <a:chOff x="4140" y="429"/>
            <a:chExt cx="1425" cy="2396"/>
          </a:xfrm>
        </p:grpSpPr>
        <p:sp>
          <p:nvSpPr>
            <p:cNvPr id="1436" name="Google Shape;1436;p1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7" name="Google Shape;1437;p10"/>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38" name="Google Shape;1438;p1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9" name="Google Shape;1439;p1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0" name="Google Shape;1440;p10"/>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441" name="Google Shape;1441;p10"/>
            <p:cNvGrpSpPr/>
            <p:nvPr/>
          </p:nvGrpSpPr>
          <p:grpSpPr>
            <a:xfrm>
              <a:off x="4748" y="666"/>
              <a:ext cx="578" cy="150"/>
              <a:chOff x="613" y="2566"/>
              <a:chExt cx="721" cy="144"/>
            </a:xfrm>
          </p:grpSpPr>
          <p:sp>
            <p:nvSpPr>
              <p:cNvPr id="1442" name="Google Shape;1442;p10"/>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43" name="Google Shape;1443;p10"/>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444" name="Google Shape;1444;p10"/>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445" name="Google Shape;1445;p10"/>
            <p:cNvGrpSpPr/>
            <p:nvPr/>
          </p:nvGrpSpPr>
          <p:grpSpPr>
            <a:xfrm>
              <a:off x="4748" y="990"/>
              <a:ext cx="578" cy="134"/>
              <a:chOff x="615" y="2564"/>
              <a:chExt cx="721" cy="139"/>
            </a:xfrm>
          </p:grpSpPr>
          <p:sp>
            <p:nvSpPr>
              <p:cNvPr id="1446" name="Google Shape;1446;p10"/>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47" name="Google Shape;1447;p10"/>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448" name="Google Shape;1448;p10"/>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49" name="Google Shape;1449;p10"/>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450" name="Google Shape;1450;p10"/>
            <p:cNvGrpSpPr/>
            <p:nvPr/>
          </p:nvGrpSpPr>
          <p:grpSpPr>
            <a:xfrm>
              <a:off x="4738" y="1647"/>
              <a:ext cx="578" cy="135"/>
              <a:chOff x="618" y="2586"/>
              <a:chExt cx="720" cy="124"/>
            </a:xfrm>
          </p:grpSpPr>
          <p:sp>
            <p:nvSpPr>
              <p:cNvPr id="1451" name="Google Shape;1451;p10"/>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52" name="Google Shape;1452;p10"/>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453" name="Google Shape;1453;p1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54" name="Google Shape;1454;p10"/>
            <p:cNvGrpSpPr/>
            <p:nvPr/>
          </p:nvGrpSpPr>
          <p:grpSpPr>
            <a:xfrm>
              <a:off x="4738" y="1330"/>
              <a:ext cx="588" cy="134"/>
              <a:chOff x="613" y="2571"/>
              <a:chExt cx="732" cy="134"/>
            </a:xfrm>
          </p:grpSpPr>
          <p:sp>
            <p:nvSpPr>
              <p:cNvPr id="1455" name="Google Shape;1455;p10"/>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56" name="Google Shape;1456;p10"/>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457" name="Google Shape;1457;p10"/>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58" name="Google Shape;1458;p1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9" name="Google Shape;1459;p1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0" name="Google Shape;1460;p10"/>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61" name="Google Shape;1461;p1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2" name="Google Shape;1462;p10"/>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63" name="Google Shape;1463;p10"/>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64" name="Google Shape;1464;p10"/>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65" name="Google Shape;1465;p10"/>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1466" name="Google Shape;1466;p10"/>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67" name="Google Shape;1467;p10"/>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1468" name="Google Shape;1468;p10"/>
          <p:cNvGrpSpPr/>
          <p:nvPr/>
        </p:nvGrpSpPr>
        <p:grpSpPr>
          <a:xfrm flipH="1">
            <a:off x="7980855" y="4900161"/>
            <a:ext cx="345630" cy="320302"/>
            <a:chOff x="2839" y="3501"/>
            <a:chExt cx="755" cy="803"/>
          </a:xfrm>
        </p:grpSpPr>
        <p:pic>
          <p:nvPicPr>
            <p:cNvPr descr="desktop_computer_stylized_medium" id="1469" name="Google Shape;1469;p10"/>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1470" name="Google Shape;1470;p1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71" name="Google Shape;1471;p10"/>
          <p:cNvGrpSpPr/>
          <p:nvPr/>
        </p:nvGrpSpPr>
        <p:grpSpPr>
          <a:xfrm flipH="1">
            <a:off x="8153909" y="5504657"/>
            <a:ext cx="345630" cy="320302"/>
            <a:chOff x="2839" y="3501"/>
            <a:chExt cx="755" cy="803"/>
          </a:xfrm>
        </p:grpSpPr>
        <p:pic>
          <p:nvPicPr>
            <p:cNvPr descr="desktop_computer_stylized_medium" id="1472" name="Google Shape;1472;p10"/>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1473" name="Google Shape;1473;p1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74" name="Google Shape;1474;p10"/>
          <p:cNvGrpSpPr/>
          <p:nvPr/>
        </p:nvGrpSpPr>
        <p:grpSpPr>
          <a:xfrm flipH="1">
            <a:off x="8552134" y="5526130"/>
            <a:ext cx="345630" cy="320302"/>
            <a:chOff x="2839" y="3501"/>
            <a:chExt cx="755" cy="803"/>
          </a:xfrm>
        </p:grpSpPr>
        <p:pic>
          <p:nvPicPr>
            <p:cNvPr descr="desktop_computer_stylized_medium" id="1475" name="Google Shape;1475;p10"/>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1476" name="Google Shape;1476;p1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77" name="Google Shape;1477;p10"/>
          <p:cNvGrpSpPr/>
          <p:nvPr/>
        </p:nvGrpSpPr>
        <p:grpSpPr>
          <a:xfrm>
            <a:off x="9534746" y="5795138"/>
            <a:ext cx="319264" cy="256836"/>
            <a:chOff x="877" y="1008"/>
            <a:chExt cx="2747" cy="2626"/>
          </a:xfrm>
        </p:grpSpPr>
        <p:pic>
          <p:nvPicPr>
            <p:cNvPr descr="antenna_stylized" id="1478" name="Google Shape;1478;p10"/>
            <p:cNvPicPr preferRelativeResize="0"/>
            <p:nvPr/>
          </p:nvPicPr>
          <p:blipFill rotWithShape="1">
            <a:blip r:embed="rId17">
              <a:alphaModFix/>
            </a:blip>
            <a:srcRect b="0" l="0" r="0" t="0"/>
            <a:stretch/>
          </p:blipFill>
          <p:spPr>
            <a:xfrm>
              <a:off x="877" y="1008"/>
              <a:ext cx="2725" cy="1421"/>
            </a:xfrm>
            <a:prstGeom prst="rect">
              <a:avLst/>
            </a:prstGeom>
            <a:noFill/>
            <a:ln>
              <a:noFill/>
            </a:ln>
          </p:spPr>
        </p:pic>
        <p:pic>
          <p:nvPicPr>
            <p:cNvPr descr="laptop_keyboard" id="1479" name="Google Shape;1479;p10"/>
            <p:cNvPicPr preferRelativeResize="0"/>
            <p:nvPr/>
          </p:nvPicPr>
          <p:blipFill rotWithShape="1">
            <a:blip r:embed="rId18">
              <a:alphaModFix/>
            </a:blip>
            <a:srcRect b="0" l="0" r="0" t="0"/>
            <a:stretch/>
          </p:blipFill>
          <p:spPr>
            <a:xfrm flipH="1" rot="109064">
              <a:off x="1009" y="2586"/>
              <a:ext cx="2245" cy="1013"/>
            </a:xfrm>
            <a:prstGeom prst="rect">
              <a:avLst/>
            </a:prstGeom>
            <a:noFill/>
            <a:ln>
              <a:noFill/>
            </a:ln>
          </p:spPr>
        </p:pic>
        <p:sp>
          <p:nvSpPr>
            <p:cNvPr id="1480" name="Google Shape;1480;p10"/>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481" name="Google Shape;1481;p10"/>
            <p:cNvPicPr preferRelativeResize="0"/>
            <p:nvPr/>
          </p:nvPicPr>
          <p:blipFill rotWithShape="1">
            <a:blip r:embed="rId19">
              <a:alphaModFix/>
            </a:blip>
            <a:srcRect b="0" l="0" r="0" t="0"/>
            <a:stretch/>
          </p:blipFill>
          <p:spPr>
            <a:xfrm>
              <a:off x="1842" y="1637"/>
              <a:ext cx="1642" cy="1203"/>
            </a:xfrm>
            <a:prstGeom prst="rect">
              <a:avLst/>
            </a:prstGeom>
            <a:noFill/>
            <a:ln>
              <a:noFill/>
            </a:ln>
          </p:spPr>
        </p:pic>
        <p:sp>
          <p:nvSpPr>
            <p:cNvPr id="1482" name="Google Shape;1482;p10"/>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3" name="Google Shape;1483;p10"/>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4" name="Google Shape;1484;p10"/>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5" name="Google Shape;1485;p10"/>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6" name="Google Shape;1486;p10"/>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7" name="Google Shape;1487;p10"/>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88" name="Google Shape;1488;p10"/>
            <p:cNvGrpSpPr/>
            <p:nvPr/>
          </p:nvGrpSpPr>
          <p:grpSpPr>
            <a:xfrm>
              <a:off x="1709" y="3008"/>
              <a:ext cx="507" cy="234"/>
              <a:chOff x="1740" y="2642"/>
              <a:chExt cx="752" cy="327"/>
            </a:xfrm>
          </p:grpSpPr>
          <p:sp>
            <p:nvSpPr>
              <p:cNvPr id="1489" name="Google Shape;1489;p1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0" name="Google Shape;1490;p1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1" name="Google Shape;1491;p1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2" name="Google Shape;1492;p1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3" name="Google Shape;1493;p1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4" name="Google Shape;1494;p1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95" name="Google Shape;1495;p10"/>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6" name="Google Shape;1496;p10"/>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7" name="Google Shape;1497;p10"/>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8" name="Google Shape;1498;p10"/>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9" name="Google Shape;1499;p10"/>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0" name="Google Shape;1500;p10"/>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01" name="Google Shape;1501;p10"/>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2" name="Google Shape;1502;p10"/>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3" name="Google Shape;1503;p10"/>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4" name="Google Shape;1504;p10"/>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505" name="Google Shape;1505;p10"/>
          <p:cNvGrpSpPr/>
          <p:nvPr/>
        </p:nvGrpSpPr>
        <p:grpSpPr>
          <a:xfrm>
            <a:off x="10091053" y="5670891"/>
            <a:ext cx="69517" cy="21877"/>
            <a:chOff x="613" y="2566"/>
            <a:chExt cx="721" cy="144"/>
          </a:xfrm>
        </p:grpSpPr>
        <p:sp>
          <p:nvSpPr>
            <p:cNvPr id="1506" name="Google Shape;1506;p10"/>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07" name="Google Shape;1507;p10"/>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508" name="Google Shape;1508;p10"/>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509" name="Google Shape;1509;p10"/>
          <p:cNvGrpSpPr/>
          <p:nvPr/>
        </p:nvGrpSpPr>
        <p:grpSpPr>
          <a:xfrm>
            <a:off x="10091005" y="5718110"/>
            <a:ext cx="69517" cy="19515"/>
            <a:chOff x="615" y="2564"/>
            <a:chExt cx="721" cy="139"/>
          </a:xfrm>
        </p:grpSpPr>
        <p:sp>
          <p:nvSpPr>
            <p:cNvPr id="1510" name="Google Shape;1510;p10"/>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11" name="Google Shape;1511;p10"/>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512" name="Google Shape;1512;p10"/>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13" name="Google Shape;1513;p10"/>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514" name="Google Shape;1514;p10"/>
          <p:cNvGrpSpPr/>
          <p:nvPr/>
        </p:nvGrpSpPr>
        <p:grpSpPr>
          <a:xfrm>
            <a:off x="10089851" y="5813708"/>
            <a:ext cx="69541" cy="19618"/>
            <a:chOff x="618" y="2586"/>
            <a:chExt cx="720" cy="124"/>
          </a:xfrm>
        </p:grpSpPr>
        <p:sp>
          <p:nvSpPr>
            <p:cNvPr id="1515" name="Google Shape;1515;p10"/>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16" name="Google Shape;1516;p10"/>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517" name="Google Shape;1517;p10"/>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518" name="Google Shape;1518;p10"/>
          <p:cNvGrpSpPr/>
          <p:nvPr/>
        </p:nvGrpSpPr>
        <p:grpSpPr>
          <a:xfrm>
            <a:off x="10089849" y="5767606"/>
            <a:ext cx="70700" cy="19515"/>
            <a:chOff x="613" y="2571"/>
            <a:chExt cx="732" cy="134"/>
          </a:xfrm>
        </p:grpSpPr>
        <p:sp>
          <p:nvSpPr>
            <p:cNvPr id="1519" name="Google Shape;1519;p10"/>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20" name="Google Shape;1520;p10"/>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521" name="Google Shape;1521;p10"/>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22" name="Google Shape;1522;p10"/>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3" name="Google Shape;1523;p10"/>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4" name="Google Shape;1524;p10"/>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25" name="Google Shape;1525;p10"/>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6" name="Google Shape;1526;p10"/>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27" name="Google Shape;1527;p10"/>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28" name="Google Shape;1528;p10"/>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29" name="Google Shape;1529;p10"/>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1530" name="Google Shape;1530;p10"/>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31" name="Google Shape;1531;p10"/>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32" name="Google Shape;1532;p1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Peer-peer </a:t>
            </a:r>
            <a:r>
              <a:rPr lang="en-US"/>
              <a:t>a</a:t>
            </a:r>
            <a:r>
              <a:rPr lang="en-US" sz="4400"/>
              <a:t>rchitecture/paradigm</a:t>
            </a:r>
            <a:endParaRPr sz="4400"/>
          </a:p>
        </p:txBody>
      </p:sp>
      <p:sp>
        <p:nvSpPr>
          <p:cNvPr id="1533" name="Google Shape;1533;p10"/>
          <p:cNvSpPr txBox="1"/>
          <p:nvPr/>
        </p:nvSpPr>
        <p:spPr>
          <a:xfrm>
            <a:off x="889178" y="1260346"/>
            <a:ext cx="5968498" cy="4974698"/>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i="1" lang="en-US" sz="2800">
                <a:solidFill>
                  <a:schemeClr val="dk1"/>
                </a:solidFill>
                <a:latin typeface="Calibri"/>
                <a:ea typeface="Calibri"/>
                <a:cs typeface="Calibri"/>
                <a:sym typeface="Calibri"/>
              </a:rPr>
              <a:t>no</a:t>
            </a:r>
            <a:r>
              <a:rPr lang="en-US" sz="2800">
                <a:solidFill>
                  <a:schemeClr val="dk1"/>
                </a:solidFill>
                <a:latin typeface="Calibri"/>
                <a:ea typeface="Calibri"/>
                <a:cs typeface="Calibri"/>
                <a:sym typeface="Calibri"/>
              </a:rPr>
              <a:t> always-on server</a:t>
            </a:r>
            <a:endParaRPr/>
          </a:p>
          <a:p>
            <a:pPr indent="-222250" lvl="0" marL="3524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arbitrary end systems directly communicate</a:t>
            </a:r>
            <a:endParaRPr/>
          </a:p>
          <a:p>
            <a:pPr indent="-222250" lvl="0" marL="3524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peers request service from other peers, provide service in return to other peers</a:t>
            </a:r>
            <a:endParaRPr/>
          </a:p>
          <a:p>
            <a:pPr indent="-231775" lvl="1" marL="695325" marR="0" rtl="0" algn="l">
              <a:lnSpc>
                <a:spcPct val="90000"/>
              </a:lnSpc>
              <a:spcBef>
                <a:spcPts val="500"/>
              </a:spcBef>
              <a:spcAft>
                <a:spcPts val="0"/>
              </a:spcAft>
              <a:buClr>
                <a:srgbClr val="0000A8"/>
              </a:buClr>
              <a:buSzPts val="2400"/>
              <a:buFont typeface="Arial"/>
              <a:buChar char="•"/>
            </a:pPr>
            <a:r>
              <a:rPr b="0" i="1" lang="en-US" sz="2400" u="none" cap="none" strike="noStrike">
                <a:solidFill>
                  <a:srgbClr val="CC0000"/>
                </a:solidFill>
                <a:latin typeface="Calibri"/>
                <a:ea typeface="Calibri"/>
                <a:cs typeface="Calibri"/>
                <a:sym typeface="Calibri"/>
              </a:rPr>
              <a:t>self scalability</a:t>
            </a:r>
            <a:r>
              <a:rPr b="0" i="0" lang="en-US" sz="2400" u="none" cap="none" strike="noStrike">
                <a:solidFill>
                  <a:srgbClr val="CC0000"/>
                </a:solidFill>
                <a:latin typeface="Calibri"/>
                <a:ea typeface="Calibri"/>
                <a:cs typeface="Calibri"/>
                <a:sym typeface="Calibri"/>
              </a:rPr>
              <a:t> – new peers bring new service capacity, as well as new service demands</a:t>
            </a:r>
            <a:endParaRPr/>
          </a:p>
          <a:p>
            <a:pPr indent="-222250" lvl="0" marL="3524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peers are intermittently connected and change IP addresses</a:t>
            </a:r>
            <a:endParaRPr/>
          </a:p>
          <a:p>
            <a:pPr indent="-231775" lvl="1" marL="695325" marR="0" rtl="0" algn="l">
              <a:lnSpc>
                <a:spcPct val="90000"/>
              </a:lnSpc>
              <a:spcBef>
                <a:spcPts val="4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complex management</a:t>
            </a:r>
            <a:endParaRPr/>
          </a:p>
          <a:p>
            <a:pPr indent="-222250" lvl="0" marL="3524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example: P2P file sharing</a:t>
            </a:r>
            <a:endParaRPr/>
          </a:p>
        </p:txBody>
      </p:sp>
      <p:grpSp>
        <p:nvGrpSpPr>
          <p:cNvPr id="1534" name="Google Shape;1534;p10"/>
          <p:cNvGrpSpPr/>
          <p:nvPr/>
        </p:nvGrpSpPr>
        <p:grpSpPr>
          <a:xfrm>
            <a:off x="10002508" y="5616400"/>
            <a:ext cx="214974" cy="403920"/>
            <a:chOff x="4140" y="429"/>
            <a:chExt cx="1425" cy="2396"/>
          </a:xfrm>
        </p:grpSpPr>
        <p:sp>
          <p:nvSpPr>
            <p:cNvPr id="1535" name="Google Shape;1535;p1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6" name="Google Shape;1536;p10"/>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37" name="Google Shape;1537;p1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8" name="Google Shape;1538;p1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9" name="Google Shape;1539;p10"/>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540" name="Google Shape;1540;p10"/>
            <p:cNvGrpSpPr/>
            <p:nvPr/>
          </p:nvGrpSpPr>
          <p:grpSpPr>
            <a:xfrm>
              <a:off x="4748" y="666"/>
              <a:ext cx="578" cy="150"/>
              <a:chOff x="613" y="2566"/>
              <a:chExt cx="721" cy="144"/>
            </a:xfrm>
          </p:grpSpPr>
          <p:sp>
            <p:nvSpPr>
              <p:cNvPr id="1541" name="Google Shape;1541;p10"/>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42" name="Google Shape;1542;p10"/>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543" name="Google Shape;1543;p10"/>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544" name="Google Shape;1544;p10"/>
            <p:cNvGrpSpPr/>
            <p:nvPr/>
          </p:nvGrpSpPr>
          <p:grpSpPr>
            <a:xfrm>
              <a:off x="4748" y="990"/>
              <a:ext cx="578" cy="134"/>
              <a:chOff x="615" y="2564"/>
              <a:chExt cx="721" cy="139"/>
            </a:xfrm>
          </p:grpSpPr>
          <p:sp>
            <p:nvSpPr>
              <p:cNvPr id="1545" name="Google Shape;1545;p10"/>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46" name="Google Shape;1546;p10"/>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547" name="Google Shape;1547;p10"/>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48" name="Google Shape;1548;p10"/>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549" name="Google Shape;1549;p10"/>
            <p:cNvGrpSpPr/>
            <p:nvPr/>
          </p:nvGrpSpPr>
          <p:grpSpPr>
            <a:xfrm>
              <a:off x="4738" y="1647"/>
              <a:ext cx="578" cy="135"/>
              <a:chOff x="618" y="2586"/>
              <a:chExt cx="720" cy="124"/>
            </a:xfrm>
          </p:grpSpPr>
          <p:sp>
            <p:nvSpPr>
              <p:cNvPr id="1550" name="Google Shape;1550;p10"/>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51" name="Google Shape;1551;p10"/>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552" name="Google Shape;1552;p1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553" name="Google Shape;1553;p10"/>
            <p:cNvGrpSpPr/>
            <p:nvPr/>
          </p:nvGrpSpPr>
          <p:grpSpPr>
            <a:xfrm>
              <a:off x="4738" y="1330"/>
              <a:ext cx="588" cy="134"/>
              <a:chOff x="613" y="2571"/>
              <a:chExt cx="732" cy="134"/>
            </a:xfrm>
          </p:grpSpPr>
          <p:sp>
            <p:nvSpPr>
              <p:cNvPr id="1554" name="Google Shape;1554;p10"/>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55" name="Google Shape;1555;p10"/>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556" name="Google Shape;1556;p10"/>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57" name="Google Shape;1557;p1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8" name="Google Shape;1558;p1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9" name="Google Shape;1559;p10"/>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60" name="Google Shape;1560;p1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1" name="Google Shape;1561;p10"/>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62" name="Google Shape;1562;p10"/>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63" name="Google Shape;1563;p10"/>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64" name="Google Shape;1564;p10"/>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1565" name="Google Shape;1565;p10"/>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66" name="Google Shape;1566;p10"/>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567" name="Google Shape;1567;p10"/>
          <p:cNvSpPr/>
          <p:nvPr/>
        </p:nvSpPr>
        <p:spPr>
          <a:xfrm>
            <a:off x="6747501" y="1488461"/>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568" name="Google Shape;1568;p10"/>
          <p:cNvGrpSpPr/>
          <p:nvPr/>
        </p:nvGrpSpPr>
        <p:grpSpPr>
          <a:xfrm>
            <a:off x="7680324" y="1814171"/>
            <a:ext cx="1991221" cy="4482411"/>
            <a:chOff x="7680324" y="1814171"/>
            <a:chExt cx="1991221" cy="4482411"/>
          </a:xfrm>
        </p:grpSpPr>
        <p:sp>
          <p:nvSpPr>
            <p:cNvPr id="1569" name="Google Shape;1569;p10"/>
            <p:cNvSpPr/>
            <p:nvPr/>
          </p:nvSpPr>
          <p:spPr>
            <a:xfrm>
              <a:off x="7689254" y="516084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0" name="Google Shape;1570;p10"/>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571" name="Google Shape;1571;p10"/>
            <p:cNvCxnSpPr/>
            <p:nvPr/>
          </p:nvCxnSpPr>
          <p:spPr>
            <a:xfrm flipH="1">
              <a:off x="8353326" y="2438326"/>
              <a:ext cx="498897" cy="1114752"/>
            </a:xfrm>
            <a:prstGeom prst="straightConnector1">
              <a:avLst/>
            </a:prstGeom>
            <a:noFill/>
            <a:ln cap="flat" cmpd="sng" w="76200">
              <a:solidFill>
                <a:srgbClr val="CC0000"/>
              </a:solidFill>
              <a:prstDash val="solid"/>
              <a:round/>
              <a:headEnd len="med" w="med" type="triangle"/>
              <a:tailEnd len="med" w="med" type="triangle"/>
            </a:ln>
          </p:spPr>
        </p:cxnSp>
        <p:cxnSp>
          <p:nvCxnSpPr>
            <p:cNvPr id="1572" name="Google Shape;1572;p10"/>
            <p:cNvCxnSpPr/>
            <p:nvPr/>
          </p:nvCxnSpPr>
          <p:spPr>
            <a:xfrm>
              <a:off x="7971176" y="2321758"/>
              <a:ext cx="1187" cy="2793530"/>
            </a:xfrm>
            <a:prstGeom prst="straightConnector1">
              <a:avLst/>
            </a:prstGeom>
            <a:noFill/>
            <a:ln cap="flat" cmpd="sng" w="76200">
              <a:solidFill>
                <a:srgbClr val="CC0000"/>
              </a:solidFill>
              <a:prstDash val="solid"/>
              <a:round/>
              <a:headEnd len="med" w="med" type="triangle"/>
              <a:tailEnd len="med" w="med" type="triangle"/>
            </a:ln>
          </p:spPr>
        </p:cxnSp>
        <p:sp>
          <p:nvSpPr>
            <p:cNvPr id="1573" name="Google Shape;1573;p10"/>
            <p:cNvSpPr/>
            <p:nvPr/>
          </p:nvSpPr>
          <p:spPr>
            <a:xfrm>
              <a:off x="8703904" y="1943418"/>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4" name="Google Shape;1574;p10"/>
            <p:cNvSpPr/>
            <p:nvPr/>
          </p:nvSpPr>
          <p:spPr>
            <a:xfrm>
              <a:off x="8013358" y="3440898"/>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5" name="Google Shape;1575;p10"/>
            <p:cNvSpPr/>
            <p:nvPr/>
          </p:nvSpPr>
          <p:spPr>
            <a:xfrm>
              <a:off x="9059242" y="5786513"/>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576" name="Google Shape;1576;p10"/>
            <p:cNvCxnSpPr/>
            <p:nvPr/>
          </p:nvCxnSpPr>
          <p:spPr>
            <a:xfrm>
              <a:off x="9143664" y="2462348"/>
              <a:ext cx="228982" cy="3299611"/>
            </a:xfrm>
            <a:prstGeom prst="straightConnector1">
              <a:avLst/>
            </a:prstGeom>
            <a:noFill/>
            <a:ln cap="flat" cmpd="sng" w="76200">
              <a:solidFill>
                <a:srgbClr val="CC0000"/>
              </a:solidFill>
              <a:prstDash val="solid"/>
              <a:round/>
              <a:headEnd len="med" w="med" type="triangle"/>
              <a:tailEnd len="med" w="med" type="triangle"/>
            </a:ln>
          </p:spPr>
        </p:cxnSp>
        <p:cxnSp>
          <p:nvCxnSpPr>
            <p:cNvPr id="1577" name="Google Shape;1577;p10"/>
            <p:cNvCxnSpPr/>
            <p:nvPr/>
          </p:nvCxnSpPr>
          <p:spPr>
            <a:xfrm>
              <a:off x="8485044" y="3911282"/>
              <a:ext cx="764880" cy="1866664"/>
            </a:xfrm>
            <a:prstGeom prst="straightConnector1">
              <a:avLst/>
            </a:prstGeom>
            <a:noFill/>
            <a:ln cap="flat" cmpd="sng" w="76200">
              <a:solidFill>
                <a:srgbClr val="CC0000"/>
              </a:solidFill>
              <a:prstDash val="solid"/>
              <a:round/>
              <a:headEnd len="med" w="med" type="triangle"/>
              <a:tailEnd len="med" w="med" type="triangle"/>
            </a:ln>
          </p:spPr>
        </p:cxnSp>
      </p:grpSp>
      <p:grpSp>
        <p:nvGrpSpPr>
          <p:cNvPr id="1578" name="Google Shape;1578;p10"/>
          <p:cNvGrpSpPr/>
          <p:nvPr/>
        </p:nvGrpSpPr>
        <p:grpSpPr>
          <a:xfrm>
            <a:off x="7750224" y="1859725"/>
            <a:ext cx="415925" cy="385763"/>
            <a:chOff x="2751" y="1851"/>
            <a:chExt cx="462" cy="478"/>
          </a:xfrm>
        </p:grpSpPr>
        <p:pic>
          <p:nvPicPr>
            <p:cNvPr descr="iphone_stylized_small" id="1579" name="Google Shape;1579;p10"/>
            <p:cNvPicPr preferRelativeResize="0"/>
            <p:nvPr/>
          </p:nvPicPr>
          <p:blipFill rotWithShape="1">
            <a:blip r:embed="rId20">
              <a:alphaModFix/>
            </a:blip>
            <a:srcRect b="0" l="0" r="0" t="0"/>
            <a:stretch/>
          </p:blipFill>
          <p:spPr>
            <a:xfrm>
              <a:off x="2928" y="1922"/>
              <a:ext cx="152" cy="407"/>
            </a:xfrm>
            <a:prstGeom prst="rect">
              <a:avLst/>
            </a:prstGeom>
            <a:noFill/>
            <a:ln>
              <a:noFill/>
            </a:ln>
          </p:spPr>
        </p:pic>
        <p:pic>
          <p:nvPicPr>
            <p:cNvPr descr="antenna_radiation_stylized" id="1580" name="Google Shape;1580;p10"/>
            <p:cNvPicPr preferRelativeResize="0"/>
            <p:nvPr/>
          </p:nvPicPr>
          <p:blipFill rotWithShape="1">
            <a:blip r:embed="rId21">
              <a:alphaModFix/>
            </a:blip>
            <a:srcRect b="0" l="0" r="0" t="0"/>
            <a:stretch/>
          </p:blipFill>
          <p:spPr>
            <a:xfrm>
              <a:off x="2751" y="1851"/>
              <a:ext cx="462" cy="110"/>
            </a:xfrm>
            <a:prstGeom prst="rect">
              <a:avLst/>
            </a:prstGeom>
            <a:noFill/>
            <a:ln>
              <a:noFill/>
            </a:ln>
          </p:spPr>
        </p:pic>
      </p:grpSp>
      <p:grpSp>
        <p:nvGrpSpPr>
          <p:cNvPr id="1581" name="Google Shape;1581;p10"/>
          <p:cNvGrpSpPr/>
          <p:nvPr/>
        </p:nvGrpSpPr>
        <p:grpSpPr>
          <a:xfrm>
            <a:off x="8499539" y="2059124"/>
            <a:ext cx="849312" cy="226109"/>
            <a:chOff x="8493165" y="2029804"/>
            <a:chExt cx="849312" cy="226109"/>
          </a:xfrm>
        </p:grpSpPr>
        <p:pic>
          <p:nvPicPr>
            <p:cNvPr descr="car_icon_small" id="1582" name="Google Shape;1582;p10"/>
            <p:cNvPicPr preferRelativeResize="0"/>
            <p:nvPr/>
          </p:nvPicPr>
          <p:blipFill rotWithShape="1">
            <a:blip r:embed="rId22">
              <a:alphaModFix/>
            </a:blip>
            <a:srcRect b="0" l="0" r="0" t="0"/>
            <a:stretch/>
          </p:blipFill>
          <p:spPr>
            <a:xfrm>
              <a:off x="8493165" y="2087638"/>
              <a:ext cx="849312" cy="168275"/>
            </a:xfrm>
            <a:prstGeom prst="rect">
              <a:avLst/>
            </a:prstGeom>
            <a:noFill/>
            <a:ln>
              <a:noFill/>
            </a:ln>
          </p:spPr>
        </p:pic>
        <p:pic>
          <p:nvPicPr>
            <p:cNvPr descr="antenna_stylized" id="1583" name="Google Shape;1583;p10"/>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1584" name="Google Shape;1584;p10"/>
          <p:cNvGrpSpPr/>
          <p:nvPr/>
        </p:nvGrpSpPr>
        <p:grpSpPr>
          <a:xfrm flipH="1">
            <a:off x="7991996" y="3567143"/>
            <a:ext cx="359261" cy="342045"/>
            <a:chOff x="2839" y="3501"/>
            <a:chExt cx="755" cy="803"/>
          </a:xfrm>
        </p:grpSpPr>
        <p:pic>
          <p:nvPicPr>
            <p:cNvPr descr="desktop_computer_stylized_medium" id="1585" name="Google Shape;1585;p10"/>
            <p:cNvPicPr preferRelativeResize="0"/>
            <p:nvPr/>
          </p:nvPicPr>
          <p:blipFill rotWithShape="1">
            <a:blip r:embed="rId23">
              <a:alphaModFix/>
            </a:blip>
            <a:srcRect b="0" l="0" r="0" t="0"/>
            <a:stretch/>
          </p:blipFill>
          <p:spPr>
            <a:xfrm>
              <a:off x="2839" y="3501"/>
              <a:ext cx="755" cy="803"/>
            </a:xfrm>
            <a:prstGeom prst="rect">
              <a:avLst/>
            </a:prstGeom>
            <a:noFill/>
            <a:ln>
              <a:noFill/>
            </a:ln>
          </p:spPr>
        </p:pic>
        <p:sp>
          <p:nvSpPr>
            <p:cNvPr id="1586" name="Google Shape;1586;p1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87" name="Google Shape;1587;p10"/>
          <p:cNvGrpSpPr/>
          <p:nvPr/>
        </p:nvGrpSpPr>
        <p:grpSpPr>
          <a:xfrm flipH="1">
            <a:off x="7773981" y="5281060"/>
            <a:ext cx="345630" cy="320302"/>
            <a:chOff x="2839" y="3501"/>
            <a:chExt cx="755" cy="803"/>
          </a:xfrm>
        </p:grpSpPr>
        <p:pic>
          <p:nvPicPr>
            <p:cNvPr descr="desktop_computer_stylized_medium" id="1588" name="Google Shape;1588;p10"/>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1589" name="Google Shape;1589;p1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90" name="Google Shape;1590;p10"/>
          <p:cNvGrpSpPr/>
          <p:nvPr/>
        </p:nvGrpSpPr>
        <p:grpSpPr>
          <a:xfrm>
            <a:off x="9201681" y="5852809"/>
            <a:ext cx="310186" cy="312008"/>
            <a:chOff x="877" y="1008"/>
            <a:chExt cx="2747" cy="2626"/>
          </a:xfrm>
        </p:grpSpPr>
        <p:pic>
          <p:nvPicPr>
            <p:cNvPr descr="antenna_stylized" id="1591" name="Google Shape;1591;p10"/>
            <p:cNvPicPr preferRelativeResize="0"/>
            <p:nvPr/>
          </p:nvPicPr>
          <p:blipFill rotWithShape="1">
            <a:blip r:embed="rId17">
              <a:alphaModFix/>
            </a:blip>
            <a:srcRect b="0" l="0" r="0" t="0"/>
            <a:stretch/>
          </p:blipFill>
          <p:spPr>
            <a:xfrm>
              <a:off x="877" y="1008"/>
              <a:ext cx="2725" cy="1421"/>
            </a:xfrm>
            <a:prstGeom prst="rect">
              <a:avLst/>
            </a:prstGeom>
            <a:noFill/>
            <a:ln>
              <a:noFill/>
            </a:ln>
          </p:spPr>
        </p:pic>
        <p:pic>
          <p:nvPicPr>
            <p:cNvPr descr="laptop_keyboard" id="1592" name="Google Shape;1592;p10"/>
            <p:cNvPicPr preferRelativeResize="0"/>
            <p:nvPr/>
          </p:nvPicPr>
          <p:blipFill rotWithShape="1">
            <a:blip r:embed="rId18">
              <a:alphaModFix/>
            </a:blip>
            <a:srcRect b="0" l="0" r="0" t="0"/>
            <a:stretch/>
          </p:blipFill>
          <p:spPr>
            <a:xfrm flipH="1" rot="109064">
              <a:off x="1009" y="2586"/>
              <a:ext cx="2245" cy="1013"/>
            </a:xfrm>
            <a:prstGeom prst="rect">
              <a:avLst/>
            </a:prstGeom>
            <a:noFill/>
            <a:ln>
              <a:noFill/>
            </a:ln>
          </p:spPr>
        </p:pic>
        <p:sp>
          <p:nvSpPr>
            <p:cNvPr id="1593" name="Google Shape;1593;p10"/>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594" name="Google Shape;1594;p10"/>
            <p:cNvPicPr preferRelativeResize="0"/>
            <p:nvPr/>
          </p:nvPicPr>
          <p:blipFill rotWithShape="1">
            <a:blip r:embed="rId19">
              <a:alphaModFix/>
            </a:blip>
            <a:srcRect b="0" l="0" r="0" t="0"/>
            <a:stretch/>
          </p:blipFill>
          <p:spPr>
            <a:xfrm>
              <a:off x="1842" y="1637"/>
              <a:ext cx="1642" cy="1203"/>
            </a:xfrm>
            <a:prstGeom prst="rect">
              <a:avLst/>
            </a:prstGeom>
            <a:noFill/>
            <a:ln>
              <a:noFill/>
            </a:ln>
          </p:spPr>
        </p:pic>
        <p:sp>
          <p:nvSpPr>
            <p:cNvPr id="1595" name="Google Shape;1595;p10"/>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6" name="Google Shape;1596;p10"/>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7" name="Google Shape;1597;p10"/>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8" name="Google Shape;1598;p10"/>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9" name="Google Shape;1599;p10"/>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0" name="Google Shape;1600;p10"/>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601" name="Google Shape;1601;p10"/>
            <p:cNvGrpSpPr/>
            <p:nvPr/>
          </p:nvGrpSpPr>
          <p:grpSpPr>
            <a:xfrm>
              <a:off x="1709" y="3008"/>
              <a:ext cx="507" cy="234"/>
              <a:chOff x="1740" y="2642"/>
              <a:chExt cx="752" cy="327"/>
            </a:xfrm>
          </p:grpSpPr>
          <p:sp>
            <p:nvSpPr>
              <p:cNvPr id="1602" name="Google Shape;1602;p1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3" name="Google Shape;1603;p1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4" name="Google Shape;1604;p1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5" name="Google Shape;1605;p1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6" name="Google Shape;1606;p1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7" name="Google Shape;1607;p1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08" name="Google Shape;1608;p10"/>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9" name="Google Shape;1609;p10"/>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0" name="Google Shape;1610;p10"/>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1" name="Google Shape;1611;p10"/>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2" name="Google Shape;1612;p10"/>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3" name="Google Shape;1613;p10"/>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14" name="Google Shape;1614;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9" name="Shape 1619"/>
        <p:cNvGrpSpPr/>
        <p:nvPr/>
      </p:nvGrpSpPr>
      <p:grpSpPr>
        <a:xfrm>
          <a:off x="0" y="0"/>
          <a:ext cx="0" cy="0"/>
          <a:chOff x="0" y="0"/>
          <a:chExt cx="0" cy="0"/>
        </a:xfrm>
      </p:grpSpPr>
      <p:sp>
        <p:nvSpPr>
          <p:cNvPr id="1620" name="Google Shape;1620;p1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Processes communicating</a:t>
            </a:r>
            <a:endParaRPr sz="4400"/>
          </a:p>
        </p:txBody>
      </p:sp>
      <p:sp>
        <p:nvSpPr>
          <p:cNvPr id="1621" name="Google Shape;1621;p11"/>
          <p:cNvSpPr txBox="1"/>
          <p:nvPr/>
        </p:nvSpPr>
        <p:spPr>
          <a:xfrm>
            <a:off x="606042" y="1565977"/>
            <a:ext cx="5309184" cy="4351338"/>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process:</a:t>
            </a:r>
            <a:r>
              <a:rPr lang="en-US" sz="3200">
                <a:solidFill>
                  <a:schemeClr val="dk1"/>
                </a:solidFill>
                <a:latin typeface="Calibri"/>
                <a:ea typeface="Calibri"/>
                <a:cs typeface="Calibri"/>
                <a:sym typeface="Calibri"/>
              </a:rPr>
              <a:t> program running within a host</a:t>
            </a:r>
            <a:endParaRPr/>
          </a:p>
          <a:p>
            <a:pPr indent="-222250" lvl="0" marL="35242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within same host, two processes communicate using  </a:t>
            </a:r>
            <a:r>
              <a:rPr lang="en-US" sz="3200">
                <a:solidFill>
                  <a:srgbClr val="CC0000"/>
                </a:solidFill>
                <a:latin typeface="Calibri"/>
                <a:ea typeface="Calibri"/>
                <a:cs typeface="Calibri"/>
                <a:sym typeface="Calibri"/>
              </a:rPr>
              <a:t>inter-process communication</a:t>
            </a:r>
            <a:r>
              <a:rPr lang="en-US" sz="3200">
                <a:solidFill>
                  <a:schemeClr val="dk1"/>
                </a:solidFill>
                <a:latin typeface="Calibri"/>
                <a:ea typeface="Calibri"/>
                <a:cs typeface="Calibri"/>
                <a:sym typeface="Calibri"/>
              </a:rPr>
              <a:t> (defined by OS)</a:t>
            </a:r>
            <a:endParaRPr/>
          </a:p>
          <a:p>
            <a:pPr indent="-222250" lvl="0" marL="35242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processes in different hosts communicate by exchanging </a:t>
            </a:r>
            <a:r>
              <a:rPr lang="en-US" sz="3200">
                <a:solidFill>
                  <a:srgbClr val="CC0000"/>
                </a:solidFill>
                <a:latin typeface="Calibri"/>
                <a:ea typeface="Calibri"/>
                <a:cs typeface="Calibri"/>
                <a:sym typeface="Calibri"/>
              </a:rPr>
              <a:t>messages</a:t>
            </a:r>
            <a:endParaRPr/>
          </a:p>
          <a:p>
            <a:pPr indent="0" lvl="0" marL="352425" marR="0" rtl="0" algn="l">
              <a:lnSpc>
                <a:spcPct val="90000"/>
              </a:lnSpc>
              <a:spcBef>
                <a:spcPts val="1000"/>
              </a:spcBef>
              <a:spcAft>
                <a:spcPts val="0"/>
              </a:spcAft>
              <a:buClr>
                <a:srgbClr val="0000A3"/>
              </a:buClr>
              <a:buSzPts val="3600"/>
              <a:buFont typeface="Noto Sans Symbols"/>
              <a:buNone/>
            </a:pPr>
            <a:r>
              <a:t/>
            </a:r>
            <a:endParaRPr sz="3600">
              <a:solidFill>
                <a:schemeClr val="dk1"/>
              </a:solidFill>
              <a:latin typeface="Calibri"/>
              <a:ea typeface="Calibri"/>
              <a:cs typeface="Calibri"/>
              <a:sym typeface="Calibri"/>
            </a:endParaRPr>
          </a:p>
        </p:txBody>
      </p:sp>
      <p:sp>
        <p:nvSpPr>
          <p:cNvPr id="1622" name="Google Shape;1622;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623" name="Google Shape;1623;p11"/>
          <p:cNvSpPr txBox="1"/>
          <p:nvPr/>
        </p:nvSpPr>
        <p:spPr>
          <a:xfrm>
            <a:off x="7025603" y="2022695"/>
            <a:ext cx="3989387" cy="2033587"/>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i="1" lang="en-US" sz="2800">
                <a:solidFill>
                  <a:srgbClr val="CC0000"/>
                </a:solidFill>
                <a:latin typeface="Calibri"/>
                <a:ea typeface="Calibri"/>
                <a:cs typeface="Calibri"/>
                <a:sym typeface="Calibri"/>
              </a:rPr>
              <a:t>client process:</a:t>
            </a:r>
            <a:r>
              <a:rPr lang="en-US" sz="2800">
                <a:solidFill>
                  <a:schemeClr val="dk1"/>
                </a:solidFill>
                <a:latin typeface="Calibri"/>
                <a:ea typeface="Calibri"/>
                <a:cs typeface="Calibri"/>
                <a:sym typeface="Calibri"/>
              </a:rPr>
              <a:t> </a:t>
            </a:r>
            <a:r>
              <a:rPr lang="en-US" sz="2400">
                <a:solidFill>
                  <a:schemeClr val="dk1"/>
                </a:solidFill>
                <a:latin typeface="Calibri"/>
                <a:ea typeface="Calibri"/>
                <a:cs typeface="Calibri"/>
                <a:sym typeface="Calibri"/>
              </a:rPr>
              <a:t>process that initiates communication</a:t>
            </a:r>
            <a:endParaRPr/>
          </a:p>
          <a:p>
            <a:pPr indent="-222250" lvl="0" marL="352425" marR="0" rtl="0" algn="l">
              <a:lnSpc>
                <a:spcPct val="90000"/>
              </a:lnSpc>
              <a:spcBef>
                <a:spcPts val="400"/>
              </a:spcBef>
              <a:spcAft>
                <a:spcPts val="0"/>
              </a:spcAft>
              <a:buClr>
                <a:srgbClr val="0000A3"/>
              </a:buClr>
              <a:buSzPts val="2800"/>
              <a:buFont typeface="Noto Sans Symbols"/>
              <a:buNone/>
            </a:pPr>
            <a:r>
              <a:rPr i="1" lang="en-US" sz="2800">
                <a:solidFill>
                  <a:srgbClr val="CC0000"/>
                </a:solidFill>
                <a:latin typeface="Calibri"/>
                <a:ea typeface="Calibri"/>
                <a:cs typeface="Calibri"/>
                <a:sym typeface="Calibri"/>
              </a:rPr>
              <a:t>server process:</a:t>
            </a:r>
            <a:r>
              <a:rPr lang="en-US" sz="2800">
                <a:solidFill>
                  <a:schemeClr val="dk1"/>
                </a:solidFill>
                <a:latin typeface="Calibri"/>
                <a:ea typeface="Calibri"/>
                <a:cs typeface="Calibri"/>
                <a:sym typeface="Calibri"/>
              </a:rPr>
              <a:t> </a:t>
            </a:r>
            <a:r>
              <a:rPr lang="en-US" sz="2400">
                <a:solidFill>
                  <a:schemeClr val="dk1"/>
                </a:solidFill>
                <a:latin typeface="Calibri"/>
                <a:ea typeface="Calibri"/>
                <a:cs typeface="Calibri"/>
                <a:sym typeface="Calibri"/>
              </a:rPr>
              <a:t>process that waits to be contacted</a:t>
            </a:r>
            <a:endParaRPr sz="2800">
              <a:solidFill>
                <a:schemeClr val="dk1"/>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
        <p:nvSpPr>
          <p:cNvPr id="1624" name="Google Shape;1624;p11"/>
          <p:cNvSpPr/>
          <p:nvPr/>
        </p:nvSpPr>
        <p:spPr>
          <a:xfrm>
            <a:off x="6915273" y="4263451"/>
            <a:ext cx="3989387" cy="1839913"/>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note: applications with P2P architectures have client processes &amp; server processes</a:t>
            </a:r>
            <a:endParaRPr/>
          </a:p>
        </p:txBody>
      </p:sp>
      <p:sp>
        <p:nvSpPr>
          <p:cNvPr id="1625" name="Google Shape;1625;p11"/>
          <p:cNvSpPr/>
          <p:nvPr/>
        </p:nvSpPr>
        <p:spPr>
          <a:xfrm>
            <a:off x="6974010" y="1786951"/>
            <a:ext cx="4092575" cy="2062163"/>
          </a:xfrm>
          <a:prstGeom prst="rect">
            <a:avLst/>
          </a:prstGeom>
          <a:noFill/>
          <a:ln cap="flat" cmpd="sng" w="2857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626" name="Google Shape;1626;p11"/>
          <p:cNvSpPr txBox="1"/>
          <p:nvPr/>
        </p:nvSpPr>
        <p:spPr>
          <a:xfrm>
            <a:off x="7094660" y="1488501"/>
            <a:ext cx="2325688" cy="519113"/>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800">
                <a:solidFill>
                  <a:schemeClr val="dk1"/>
                </a:solidFill>
                <a:latin typeface="Calibri"/>
                <a:ea typeface="Calibri"/>
                <a:cs typeface="Calibri"/>
                <a:sym typeface="Calibri"/>
              </a:rPr>
              <a:t>clients, servers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sp>
        <p:nvSpPr>
          <p:cNvPr id="1632" name="Google Shape;1632;p1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Sockets</a:t>
            </a:r>
            <a:endParaRPr sz="4400"/>
          </a:p>
        </p:txBody>
      </p:sp>
      <p:sp>
        <p:nvSpPr>
          <p:cNvPr id="1633" name="Google Shape;1633;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634" name="Google Shape;1634;p12"/>
          <p:cNvSpPr txBox="1"/>
          <p:nvPr/>
        </p:nvSpPr>
        <p:spPr>
          <a:xfrm>
            <a:off x="798691" y="1183986"/>
            <a:ext cx="10965041" cy="23288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process sends/receives messages to/from its </a:t>
            </a:r>
            <a:r>
              <a:rPr lang="en-US" sz="2800">
                <a:solidFill>
                  <a:srgbClr val="CC0000"/>
                </a:solidFill>
                <a:latin typeface="Calibri"/>
                <a:ea typeface="Calibri"/>
                <a:cs typeface="Calibri"/>
                <a:sym typeface="Calibri"/>
              </a:rPr>
              <a:t>socket</a:t>
            </a:r>
            <a:endParaRPr/>
          </a:p>
          <a:p>
            <a:pPr indent="-342900" lvl="0" marL="342900" marR="0" rtl="0" algn="l">
              <a:lnSpc>
                <a:spcPct val="85000"/>
              </a:lnSpc>
              <a:spcBef>
                <a:spcPts val="56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socket analogous to door</a:t>
            </a:r>
            <a:endParaRPr/>
          </a:p>
          <a:p>
            <a:pPr indent="-285750" lvl="1" marL="742950" marR="0" rtl="0" algn="l">
              <a:lnSpc>
                <a:spcPct val="85000"/>
              </a:lnSpc>
              <a:spcBef>
                <a:spcPts val="560"/>
              </a:spcBef>
              <a:spcAft>
                <a:spcPts val="0"/>
              </a:spcAft>
              <a:buClr>
                <a:srgbClr val="000099"/>
              </a:buClr>
              <a:buSzPts val="2800"/>
              <a:buFont typeface="Arial"/>
              <a:buChar char="•"/>
            </a:pPr>
            <a:r>
              <a:rPr b="0" i="0" lang="en-US" sz="2800" u="none" cap="none" strike="noStrike">
                <a:solidFill>
                  <a:schemeClr val="dk1"/>
                </a:solidFill>
                <a:latin typeface="Calibri"/>
                <a:ea typeface="Calibri"/>
                <a:cs typeface="Calibri"/>
                <a:sym typeface="Calibri"/>
              </a:rPr>
              <a:t>sending process shoves message out door</a:t>
            </a:r>
            <a:endParaRPr/>
          </a:p>
          <a:p>
            <a:pPr indent="-285750" lvl="1" marL="742950" marR="0" rtl="0" algn="l">
              <a:lnSpc>
                <a:spcPct val="85000"/>
              </a:lnSpc>
              <a:spcBef>
                <a:spcPts val="560"/>
              </a:spcBef>
              <a:spcAft>
                <a:spcPts val="0"/>
              </a:spcAft>
              <a:buClr>
                <a:srgbClr val="000099"/>
              </a:buClr>
              <a:buSzPts val="2800"/>
              <a:buFont typeface="Arial"/>
              <a:buChar char="•"/>
            </a:pPr>
            <a:r>
              <a:rPr b="0" i="0" lang="en-US" sz="2800" u="none" cap="none" strike="noStrike">
                <a:solidFill>
                  <a:schemeClr val="dk1"/>
                </a:solidFill>
                <a:latin typeface="Calibri"/>
                <a:ea typeface="Calibri"/>
                <a:cs typeface="Calibri"/>
                <a:sym typeface="Calibri"/>
              </a:rPr>
              <a:t>sending process relies on transport infrastructure on other side of door to deliver message to socket at receiving process</a:t>
            </a:r>
            <a:endParaRPr/>
          </a:p>
          <a:p>
            <a:pPr indent="-285750" lvl="1" marL="742950" marR="0" rtl="0" algn="l">
              <a:lnSpc>
                <a:spcPct val="85000"/>
              </a:lnSpc>
              <a:spcBef>
                <a:spcPts val="560"/>
              </a:spcBef>
              <a:spcAft>
                <a:spcPts val="0"/>
              </a:spcAft>
              <a:buClr>
                <a:srgbClr val="000099"/>
              </a:buClr>
              <a:buSzPts val="2800"/>
              <a:buFont typeface="Arial"/>
              <a:buChar char="•"/>
            </a:pPr>
            <a:r>
              <a:rPr b="0" i="0" lang="en-US" sz="2800" u="none" cap="none" strike="noStrike">
                <a:solidFill>
                  <a:schemeClr val="dk1"/>
                </a:solidFill>
                <a:latin typeface="Calibri"/>
                <a:ea typeface="Calibri"/>
                <a:cs typeface="Calibri"/>
                <a:sym typeface="Calibri"/>
              </a:rPr>
              <a:t>two sockets involved: one on each side</a:t>
            </a:r>
            <a:endParaRPr/>
          </a:p>
        </p:txBody>
      </p:sp>
      <p:sp>
        <p:nvSpPr>
          <p:cNvPr id="1635" name="Google Shape;1635;p12"/>
          <p:cNvSpPr/>
          <p:nvPr/>
        </p:nvSpPr>
        <p:spPr>
          <a:xfrm>
            <a:off x="8482481" y="4098352"/>
            <a:ext cx="736600" cy="1998662"/>
          </a:xfrm>
          <a:custGeom>
            <a:rect b="b" l="l" r="r" t="t"/>
            <a:pathLst>
              <a:path extrusionOk="0" h="1259" w="464">
                <a:moveTo>
                  <a:pt x="464" y="1060"/>
                </a:moveTo>
                <a:lnTo>
                  <a:pt x="0" y="0"/>
                </a:lnTo>
                <a:lnTo>
                  <a:pt x="6" y="1258"/>
                </a:lnTo>
                <a:lnTo>
                  <a:pt x="382" y="1259"/>
                </a:lnTo>
                <a:lnTo>
                  <a:pt x="464" y="1060"/>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636" name="Google Shape;1636;p12"/>
          <p:cNvSpPr/>
          <p:nvPr/>
        </p:nvSpPr>
        <p:spPr>
          <a:xfrm>
            <a:off x="5167781" y="5395339"/>
            <a:ext cx="1808162" cy="1031875"/>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CC"/>
              </a:buClr>
              <a:buSzPts val="1700"/>
              <a:buFont typeface="Arial"/>
              <a:buNone/>
            </a:pPr>
            <a:r>
              <a:t/>
            </a:r>
            <a:endParaRPr sz="2000">
              <a:solidFill>
                <a:srgbClr val="000000"/>
              </a:solidFill>
              <a:latin typeface="Arial"/>
              <a:ea typeface="Arial"/>
              <a:cs typeface="Arial"/>
              <a:sym typeface="Arial"/>
            </a:endParaRPr>
          </a:p>
        </p:txBody>
      </p:sp>
      <p:sp>
        <p:nvSpPr>
          <p:cNvPr id="1637" name="Google Shape;1637;p12"/>
          <p:cNvSpPr txBox="1"/>
          <p:nvPr/>
        </p:nvSpPr>
        <p:spPr>
          <a:xfrm>
            <a:off x="5605931" y="5527102"/>
            <a:ext cx="87471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Internet</a:t>
            </a:r>
            <a:endParaRPr/>
          </a:p>
        </p:txBody>
      </p:sp>
      <p:cxnSp>
        <p:nvCxnSpPr>
          <p:cNvPr id="1638" name="Google Shape;1638;p12"/>
          <p:cNvCxnSpPr/>
          <p:nvPr/>
        </p:nvCxnSpPr>
        <p:spPr>
          <a:xfrm>
            <a:off x="4926481" y="5938264"/>
            <a:ext cx="2211387" cy="0"/>
          </a:xfrm>
          <a:prstGeom prst="straightConnector1">
            <a:avLst/>
          </a:prstGeom>
          <a:noFill/>
          <a:ln cap="flat" cmpd="sng" w="9525">
            <a:solidFill>
              <a:srgbClr val="000000"/>
            </a:solidFill>
            <a:prstDash val="solid"/>
            <a:round/>
            <a:headEnd len="med" w="med" type="triangle"/>
            <a:tailEnd len="med" w="med" type="triangle"/>
          </a:ln>
        </p:spPr>
      </p:cxnSp>
      <p:sp>
        <p:nvSpPr>
          <p:cNvPr id="1639" name="Google Shape;1639;p12"/>
          <p:cNvSpPr txBox="1"/>
          <p:nvPr/>
        </p:nvSpPr>
        <p:spPr>
          <a:xfrm>
            <a:off x="8947618" y="5163564"/>
            <a:ext cx="1063625" cy="82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controlled</a:t>
            </a:r>
            <a:endParaRPr/>
          </a:p>
          <a:p>
            <a:pPr indent="0" lvl="0" marL="0" marR="0" rtl="0" algn="l">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by OS</a:t>
            </a:r>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rgbClr val="CC0000"/>
              </a:solidFill>
              <a:latin typeface="Times New Roman"/>
              <a:ea typeface="Times New Roman"/>
              <a:cs typeface="Times New Roman"/>
              <a:sym typeface="Times New Roman"/>
            </a:endParaRPr>
          </a:p>
        </p:txBody>
      </p:sp>
      <p:sp>
        <p:nvSpPr>
          <p:cNvPr id="1640" name="Google Shape;1640;p12"/>
          <p:cNvSpPr txBox="1"/>
          <p:nvPr/>
        </p:nvSpPr>
        <p:spPr>
          <a:xfrm>
            <a:off x="8925393" y="4263452"/>
            <a:ext cx="1470025" cy="533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controlled by</a:t>
            </a:r>
            <a:endParaRPr/>
          </a:p>
          <a:p>
            <a:pPr indent="0" lvl="0" marL="0" marR="0" rtl="0" algn="l">
              <a:lnSpc>
                <a:spcPct val="9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app developer</a:t>
            </a:r>
            <a:endParaRPr/>
          </a:p>
        </p:txBody>
      </p:sp>
      <p:sp>
        <p:nvSpPr>
          <p:cNvPr id="1641" name="Google Shape;1641;p12"/>
          <p:cNvSpPr/>
          <p:nvPr/>
        </p:nvSpPr>
        <p:spPr>
          <a:xfrm>
            <a:off x="2742081" y="4161852"/>
            <a:ext cx="758825" cy="1997075"/>
          </a:xfrm>
          <a:custGeom>
            <a:rect b="b" l="l" r="r" t="t"/>
            <a:pathLst>
              <a:path extrusionOk="0" h="1258" w="478">
                <a:moveTo>
                  <a:pt x="0" y="1040"/>
                </a:moveTo>
                <a:lnTo>
                  <a:pt x="478" y="0"/>
                </a:lnTo>
                <a:lnTo>
                  <a:pt x="472" y="1258"/>
                </a:lnTo>
                <a:lnTo>
                  <a:pt x="41" y="1246"/>
                </a:lnTo>
                <a:lnTo>
                  <a:pt x="0" y="1040"/>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642" name="Google Shape;1642;p12"/>
          <p:cNvSpPr/>
          <p:nvPr/>
        </p:nvSpPr>
        <p:spPr>
          <a:xfrm>
            <a:off x="3545356" y="411740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43" name="Google Shape;1643;p12"/>
          <p:cNvSpPr/>
          <p:nvPr/>
        </p:nvSpPr>
        <p:spPr>
          <a:xfrm>
            <a:off x="3507256" y="417137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644" name="Google Shape;1644;p12"/>
          <p:cNvCxnSpPr/>
          <p:nvPr/>
        </p:nvCxnSpPr>
        <p:spPr>
          <a:xfrm>
            <a:off x="3516781" y="493178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45" name="Google Shape;1645;p12"/>
          <p:cNvSpPr txBox="1"/>
          <p:nvPr/>
        </p:nvSpPr>
        <p:spPr>
          <a:xfrm>
            <a:off x="3473918" y="491432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transport</a:t>
            </a:r>
            <a:endParaRPr/>
          </a:p>
        </p:txBody>
      </p:sp>
      <p:cxnSp>
        <p:nvCxnSpPr>
          <p:cNvPr id="1646" name="Google Shape;1646;p12"/>
          <p:cNvCxnSpPr/>
          <p:nvPr/>
        </p:nvCxnSpPr>
        <p:spPr>
          <a:xfrm>
            <a:off x="3524718" y="525246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47" name="Google Shape;1647;p12"/>
          <p:cNvCxnSpPr/>
          <p:nvPr/>
        </p:nvCxnSpPr>
        <p:spPr>
          <a:xfrm>
            <a:off x="3510431" y="556202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48" name="Google Shape;1648;p12"/>
          <p:cNvCxnSpPr/>
          <p:nvPr/>
        </p:nvCxnSpPr>
        <p:spPr>
          <a:xfrm>
            <a:off x="3510431" y="584777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49" name="Google Shape;1649;p12"/>
          <p:cNvSpPr txBox="1"/>
          <p:nvPr/>
        </p:nvSpPr>
        <p:spPr>
          <a:xfrm>
            <a:off x="3508843" y="416185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000000"/>
                </a:solidFill>
                <a:latin typeface="Tahoma"/>
                <a:ea typeface="Tahoma"/>
                <a:cs typeface="Tahoma"/>
                <a:sym typeface="Tahoma"/>
              </a:rPr>
              <a:t>application</a:t>
            </a:r>
            <a:endParaRPr/>
          </a:p>
        </p:txBody>
      </p:sp>
      <p:sp>
        <p:nvSpPr>
          <p:cNvPr id="1650" name="Google Shape;1650;p12"/>
          <p:cNvSpPr txBox="1"/>
          <p:nvPr/>
        </p:nvSpPr>
        <p:spPr>
          <a:xfrm>
            <a:off x="3464393" y="581920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physical</a:t>
            </a:r>
            <a:endParaRPr/>
          </a:p>
        </p:txBody>
      </p:sp>
      <p:sp>
        <p:nvSpPr>
          <p:cNvPr id="1651" name="Google Shape;1651;p12"/>
          <p:cNvSpPr txBox="1"/>
          <p:nvPr/>
        </p:nvSpPr>
        <p:spPr>
          <a:xfrm>
            <a:off x="3483443" y="553345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link</a:t>
            </a:r>
            <a:endParaRPr/>
          </a:p>
        </p:txBody>
      </p:sp>
      <p:sp>
        <p:nvSpPr>
          <p:cNvPr id="1652" name="Google Shape;1652;p12"/>
          <p:cNvSpPr txBox="1"/>
          <p:nvPr/>
        </p:nvSpPr>
        <p:spPr>
          <a:xfrm>
            <a:off x="3473918" y="523817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network</a:t>
            </a:r>
            <a:endParaRPr/>
          </a:p>
        </p:txBody>
      </p:sp>
      <p:sp>
        <p:nvSpPr>
          <p:cNvPr id="1653" name="Google Shape;1653;p12"/>
          <p:cNvSpPr/>
          <p:nvPr/>
        </p:nvSpPr>
        <p:spPr>
          <a:xfrm>
            <a:off x="3642193" y="4436489"/>
            <a:ext cx="990600"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1654" name="Google Shape;1654;p12"/>
          <p:cNvGrpSpPr/>
          <p:nvPr/>
        </p:nvGrpSpPr>
        <p:grpSpPr>
          <a:xfrm>
            <a:off x="3889843" y="4796852"/>
            <a:ext cx="546100" cy="225425"/>
            <a:chOff x="1287" y="2524"/>
            <a:chExt cx="260" cy="100"/>
          </a:xfrm>
        </p:grpSpPr>
        <p:sp>
          <p:nvSpPr>
            <p:cNvPr id="1655" name="Google Shape;1655;p12"/>
            <p:cNvSpPr/>
            <p:nvPr/>
          </p:nvSpPr>
          <p:spPr>
            <a:xfrm>
              <a:off x="1287" y="2524"/>
              <a:ext cx="260" cy="100"/>
            </a:xfrm>
            <a:prstGeom prst="rect">
              <a:avLst/>
            </a:prstGeom>
            <a:solidFill>
              <a:srgbClr val="C96B72"/>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656" name="Google Shape;1656;p12"/>
            <p:cNvSpPr/>
            <p:nvPr/>
          </p:nvSpPr>
          <p:spPr>
            <a:xfrm>
              <a:off x="1338" y="2537"/>
              <a:ext cx="156" cy="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657" name="Google Shape;1657;p12"/>
            <p:cNvSpPr/>
            <p:nvPr/>
          </p:nvSpPr>
          <p:spPr>
            <a:xfrm>
              <a:off x="1503" y="2582"/>
              <a:ext cx="27"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658" name="Google Shape;1658;p12"/>
            <p:cNvSpPr/>
            <p:nvPr/>
          </p:nvSpPr>
          <p:spPr>
            <a:xfrm>
              <a:off x="1298" y="2583"/>
              <a:ext cx="26"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659" name="Google Shape;1659;p12"/>
          <p:cNvSpPr/>
          <p:nvPr/>
        </p:nvSpPr>
        <p:spPr>
          <a:xfrm>
            <a:off x="7207718" y="4088827"/>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60" name="Google Shape;1660;p12"/>
          <p:cNvSpPr/>
          <p:nvPr/>
        </p:nvSpPr>
        <p:spPr>
          <a:xfrm>
            <a:off x="7169618" y="4142802"/>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661" name="Google Shape;1661;p12"/>
          <p:cNvCxnSpPr/>
          <p:nvPr/>
        </p:nvCxnSpPr>
        <p:spPr>
          <a:xfrm>
            <a:off x="7179143" y="490321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62" name="Google Shape;1662;p12"/>
          <p:cNvSpPr txBox="1"/>
          <p:nvPr/>
        </p:nvSpPr>
        <p:spPr>
          <a:xfrm>
            <a:off x="7136281" y="488575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transport</a:t>
            </a:r>
            <a:endParaRPr/>
          </a:p>
        </p:txBody>
      </p:sp>
      <p:cxnSp>
        <p:nvCxnSpPr>
          <p:cNvPr id="1663" name="Google Shape;1663;p12"/>
          <p:cNvCxnSpPr/>
          <p:nvPr/>
        </p:nvCxnSpPr>
        <p:spPr>
          <a:xfrm>
            <a:off x="7187081" y="5223889"/>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64" name="Google Shape;1664;p12"/>
          <p:cNvCxnSpPr/>
          <p:nvPr/>
        </p:nvCxnSpPr>
        <p:spPr>
          <a:xfrm>
            <a:off x="7172793" y="553345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65" name="Google Shape;1665;p12"/>
          <p:cNvCxnSpPr/>
          <p:nvPr/>
        </p:nvCxnSpPr>
        <p:spPr>
          <a:xfrm>
            <a:off x="7172793" y="5819202"/>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66" name="Google Shape;1666;p12"/>
          <p:cNvSpPr txBox="1"/>
          <p:nvPr/>
        </p:nvSpPr>
        <p:spPr>
          <a:xfrm>
            <a:off x="7171206" y="413327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000000"/>
                </a:solidFill>
                <a:latin typeface="Tahoma"/>
                <a:ea typeface="Tahoma"/>
                <a:cs typeface="Tahoma"/>
                <a:sym typeface="Tahoma"/>
              </a:rPr>
              <a:t>application</a:t>
            </a:r>
            <a:endParaRPr/>
          </a:p>
        </p:txBody>
      </p:sp>
      <p:sp>
        <p:nvSpPr>
          <p:cNvPr id="1667" name="Google Shape;1667;p12"/>
          <p:cNvSpPr txBox="1"/>
          <p:nvPr/>
        </p:nvSpPr>
        <p:spPr>
          <a:xfrm>
            <a:off x="7126756" y="579062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physical</a:t>
            </a:r>
            <a:endParaRPr/>
          </a:p>
        </p:txBody>
      </p:sp>
      <p:sp>
        <p:nvSpPr>
          <p:cNvPr id="1668" name="Google Shape;1668;p12"/>
          <p:cNvSpPr txBox="1"/>
          <p:nvPr/>
        </p:nvSpPr>
        <p:spPr>
          <a:xfrm>
            <a:off x="7145806" y="550487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link</a:t>
            </a:r>
            <a:endParaRPr/>
          </a:p>
        </p:txBody>
      </p:sp>
      <p:sp>
        <p:nvSpPr>
          <p:cNvPr id="1669" name="Google Shape;1669;p12"/>
          <p:cNvSpPr txBox="1"/>
          <p:nvPr/>
        </p:nvSpPr>
        <p:spPr>
          <a:xfrm>
            <a:off x="7136281" y="520960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network</a:t>
            </a:r>
            <a:endParaRPr/>
          </a:p>
        </p:txBody>
      </p:sp>
      <p:sp>
        <p:nvSpPr>
          <p:cNvPr id="1670" name="Google Shape;1670;p12"/>
          <p:cNvSpPr/>
          <p:nvPr/>
        </p:nvSpPr>
        <p:spPr>
          <a:xfrm>
            <a:off x="7304556" y="4407914"/>
            <a:ext cx="990600"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1671" name="Google Shape;1671;p12"/>
          <p:cNvGrpSpPr/>
          <p:nvPr/>
        </p:nvGrpSpPr>
        <p:grpSpPr>
          <a:xfrm>
            <a:off x="7552206" y="4768277"/>
            <a:ext cx="546100" cy="225425"/>
            <a:chOff x="1287" y="2524"/>
            <a:chExt cx="260" cy="100"/>
          </a:xfrm>
        </p:grpSpPr>
        <p:sp>
          <p:nvSpPr>
            <p:cNvPr id="1672" name="Google Shape;1672;p12"/>
            <p:cNvSpPr/>
            <p:nvPr/>
          </p:nvSpPr>
          <p:spPr>
            <a:xfrm>
              <a:off x="1287" y="2524"/>
              <a:ext cx="260" cy="100"/>
            </a:xfrm>
            <a:prstGeom prst="rect">
              <a:avLst/>
            </a:prstGeom>
            <a:solidFill>
              <a:srgbClr val="C96B7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673" name="Google Shape;1673;p12"/>
            <p:cNvSpPr/>
            <p:nvPr/>
          </p:nvSpPr>
          <p:spPr>
            <a:xfrm>
              <a:off x="1338" y="2537"/>
              <a:ext cx="156" cy="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674" name="Google Shape;1674;p12"/>
            <p:cNvSpPr/>
            <p:nvPr/>
          </p:nvSpPr>
          <p:spPr>
            <a:xfrm>
              <a:off x="1503" y="2582"/>
              <a:ext cx="27"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675" name="Google Shape;1675;p12"/>
            <p:cNvSpPr/>
            <p:nvPr/>
          </p:nvSpPr>
          <p:spPr>
            <a:xfrm>
              <a:off x="1298" y="2583"/>
              <a:ext cx="26"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cxnSp>
        <p:nvCxnSpPr>
          <p:cNvPr id="1676" name="Google Shape;1676;p12"/>
          <p:cNvCxnSpPr/>
          <p:nvPr/>
        </p:nvCxnSpPr>
        <p:spPr>
          <a:xfrm rot="10800000">
            <a:off x="8361831" y="4539677"/>
            <a:ext cx="609600" cy="0"/>
          </a:xfrm>
          <a:prstGeom prst="straightConnector1">
            <a:avLst/>
          </a:prstGeom>
          <a:noFill/>
          <a:ln cap="flat" cmpd="sng" w="19050">
            <a:solidFill>
              <a:srgbClr val="CC0000"/>
            </a:solidFill>
            <a:prstDash val="solid"/>
            <a:round/>
            <a:headEnd len="med" w="med" type="none"/>
            <a:tailEnd len="med" w="med" type="none"/>
          </a:ln>
        </p:spPr>
      </p:cxnSp>
      <p:cxnSp>
        <p:nvCxnSpPr>
          <p:cNvPr id="1677" name="Google Shape;1677;p12"/>
          <p:cNvCxnSpPr/>
          <p:nvPr/>
        </p:nvCxnSpPr>
        <p:spPr>
          <a:xfrm>
            <a:off x="8587256" y="4965127"/>
            <a:ext cx="0" cy="1022350"/>
          </a:xfrm>
          <a:prstGeom prst="straightConnector1">
            <a:avLst/>
          </a:prstGeom>
          <a:noFill/>
          <a:ln cap="flat" cmpd="sng" w="19050">
            <a:solidFill>
              <a:srgbClr val="CC0000"/>
            </a:solidFill>
            <a:prstDash val="solid"/>
            <a:round/>
            <a:headEnd len="med" w="med" type="none"/>
            <a:tailEnd len="med" w="med" type="none"/>
          </a:ln>
        </p:spPr>
      </p:cxnSp>
      <p:cxnSp>
        <p:nvCxnSpPr>
          <p:cNvPr id="1678" name="Google Shape;1678;p12"/>
          <p:cNvCxnSpPr/>
          <p:nvPr/>
        </p:nvCxnSpPr>
        <p:spPr>
          <a:xfrm rot="10800000">
            <a:off x="8611068" y="5465189"/>
            <a:ext cx="609600" cy="0"/>
          </a:xfrm>
          <a:prstGeom prst="straightConnector1">
            <a:avLst/>
          </a:prstGeom>
          <a:noFill/>
          <a:ln cap="flat" cmpd="sng" w="19050">
            <a:solidFill>
              <a:srgbClr val="CC0000"/>
            </a:solidFill>
            <a:prstDash val="solid"/>
            <a:round/>
            <a:headEnd len="med" w="med" type="none"/>
            <a:tailEnd len="med" w="med" type="none"/>
          </a:ln>
        </p:spPr>
      </p:cxnSp>
      <p:sp>
        <p:nvSpPr>
          <p:cNvPr id="1679" name="Google Shape;1679;p12"/>
          <p:cNvSpPr txBox="1"/>
          <p:nvPr/>
        </p:nvSpPr>
        <p:spPr>
          <a:xfrm>
            <a:off x="5524968" y="4220589"/>
            <a:ext cx="917575" cy="36671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socket</a:t>
            </a:r>
            <a:endParaRPr/>
          </a:p>
        </p:txBody>
      </p:sp>
      <p:cxnSp>
        <p:nvCxnSpPr>
          <p:cNvPr id="1680" name="Google Shape;1680;p12"/>
          <p:cNvCxnSpPr/>
          <p:nvPr/>
        </p:nvCxnSpPr>
        <p:spPr>
          <a:xfrm flipH="1" rot="10800000">
            <a:off x="4528018" y="4420614"/>
            <a:ext cx="968375" cy="434975"/>
          </a:xfrm>
          <a:prstGeom prst="straightConnector1">
            <a:avLst/>
          </a:prstGeom>
          <a:noFill/>
          <a:ln cap="flat" cmpd="sng" w="19050">
            <a:solidFill>
              <a:srgbClr val="CC0000"/>
            </a:solidFill>
            <a:prstDash val="solid"/>
            <a:round/>
            <a:headEnd len="med" w="med" type="none"/>
            <a:tailEnd len="med" w="med" type="none"/>
          </a:ln>
        </p:spPr>
      </p:cxnSp>
      <p:cxnSp>
        <p:nvCxnSpPr>
          <p:cNvPr id="1681" name="Google Shape;1681;p12"/>
          <p:cNvCxnSpPr/>
          <p:nvPr/>
        </p:nvCxnSpPr>
        <p:spPr>
          <a:xfrm rot="10800000">
            <a:off x="6463181" y="4409502"/>
            <a:ext cx="968375" cy="434975"/>
          </a:xfrm>
          <a:prstGeom prst="straightConnector1">
            <a:avLst/>
          </a:prstGeom>
          <a:noFill/>
          <a:ln cap="flat" cmpd="sng" w="19050">
            <a:solidFill>
              <a:srgbClr val="CC0000"/>
            </a:solidFill>
            <a:prstDash val="solid"/>
            <a:round/>
            <a:headEnd len="med" w="med" type="none"/>
            <a:tailEnd len="med" w="med" type="none"/>
          </a:ln>
        </p:spPr>
      </p:cxnSp>
      <p:grpSp>
        <p:nvGrpSpPr>
          <p:cNvPr id="1682" name="Google Shape;1682;p12"/>
          <p:cNvGrpSpPr/>
          <p:nvPr/>
        </p:nvGrpSpPr>
        <p:grpSpPr>
          <a:xfrm>
            <a:off x="2318218" y="5474714"/>
            <a:ext cx="719138" cy="773113"/>
            <a:chOff x="-44" y="1473"/>
            <a:chExt cx="981" cy="1105"/>
          </a:xfrm>
        </p:grpSpPr>
        <p:pic>
          <p:nvPicPr>
            <p:cNvPr descr="desktop_computer_stylized_medium" id="1683" name="Google Shape;1683;p1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84" name="Google Shape;1684;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1685" name="Google Shape;1685;p12"/>
          <p:cNvGrpSpPr/>
          <p:nvPr/>
        </p:nvGrpSpPr>
        <p:grpSpPr>
          <a:xfrm flipH="1">
            <a:off x="9014293" y="5669977"/>
            <a:ext cx="719138" cy="773112"/>
            <a:chOff x="-44" y="1473"/>
            <a:chExt cx="981" cy="1105"/>
          </a:xfrm>
        </p:grpSpPr>
        <p:pic>
          <p:nvPicPr>
            <p:cNvPr descr="desktop_computer_stylized_medium" id="1686" name="Google Shape;1686;p1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87" name="Google Shape;1687;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2" name="Shape 1692"/>
        <p:cNvGrpSpPr/>
        <p:nvPr/>
      </p:nvGrpSpPr>
      <p:grpSpPr>
        <a:xfrm>
          <a:off x="0" y="0"/>
          <a:ext cx="0" cy="0"/>
          <a:chOff x="0" y="0"/>
          <a:chExt cx="0" cy="0"/>
        </a:xfrm>
      </p:grpSpPr>
      <p:sp>
        <p:nvSpPr>
          <p:cNvPr id="1693" name="Google Shape;1693;p1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Application Layer</a:t>
            </a:r>
            <a:endParaRPr/>
          </a:p>
        </p:txBody>
      </p:sp>
      <p:sp>
        <p:nvSpPr>
          <p:cNvPr id="1694" name="Google Shape;1694;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695" name="Google Shape;1695;p13"/>
          <p:cNvSpPr txBox="1"/>
          <p:nvPr>
            <p:ph type="title"/>
          </p:nvPr>
        </p:nvSpPr>
        <p:spPr>
          <a:xfrm>
            <a:off x="1924050" y="123825"/>
            <a:ext cx="8077200" cy="896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2800"/>
              <a:buFont typeface="Gill Sans"/>
              <a:buNone/>
            </a:pPr>
            <a:r>
              <a:rPr lang="en-US" sz="2800">
                <a:latin typeface="Gill Sans"/>
                <a:ea typeface="Gill Sans"/>
                <a:cs typeface="Gill Sans"/>
                <a:sym typeface="Gill Sans"/>
              </a:rPr>
              <a:t>Application processes, sockets, and underlying transport protocol</a:t>
            </a:r>
            <a:endParaRPr/>
          </a:p>
        </p:txBody>
      </p:sp>
      <p:pic>
        <p:nvPicPr>
          <p:cNvPr descr="underline_base" id="1696" name="Google Shape;1696;p13"/>
          <p:cNvPicPr preferRelativeResize="0"/>
          <p:nvPr/>
        </p:nvPicPr>
        <p:blipFill rotWithShape="1">
          <a:blip r:embed="rId3">
            <a:alphaModFix/>
          </a:blip>
          <a:srcRect b="0" l="0" r="0" t="0"/>
          <a:stretch/>
        </p:blipFill>
        <p:spPr>
          <a:xfrm>
            <a:off x="1979613" y="915989"/>
            <a:ext cx="1916112" cy="173037"/>
          </a:xfrm>
          <a:prstGeom prst="rect">
            <a:avLst/>
          </a:prstGeom>
          <a:noFill/>
          <a:ln>
            <a:noFill/>
          </a:ln>
        </p:spPr>
      </p:pic>
      <p:pic>
        <p:nvPicPr>
          <p:cNvPr id="1697" name="Google Shape;1697;p13"/>
          <p:cNvPicPr preferRelativeResize="0"/>
          <p:nvPr/>
        </p:nvPicPr>
        <p:blipFill rotWithShape="1">
          <a:blip r:embed="rId4">
            <a:alphaModFix/>
          </a:blip>
          <a:srcRect b="0" l="0" r="0" t="0"/>
          <a:stretch/>
        </p:blipFill>
        <p:spPr>
          <a:xfrm>
            <a:off x="1619250" y="1352550"/>
            <a:ext cx="8953500" cy="4152900"/>
          </a:xfrm>
          <a:prstGeom prst="rect">
            <a:avLst/>
          </a:prstGeom>
          <a:noFill/>
          <a:ln>
            <a:noFill/>
          </a:ln>
        </p:spPr>
      </p:pic>
      <p:pic>
        <p:nvPicPr>
          <p:cNvPr descr="Puzzle with solid fill" id="1698" name="Google Shape;1698;p13"/>
          <p:cNvPicPr preferRelativeResize="0"/>
          <p:nvPr/>
        </p:nvPicPr>
        <p:blipFill rotWithShape="1">
          <a:blip r:embed="rId5">
            <a:alphaModFix/>
          </a:blip>
          <a:srcRect b="0" l="0" r="0" t="0"/>
          <a:stretch/>
        </p:blipFill>
        <p:spPr>
          <a:xfrm>
            <a:off x="10755897" y="423070"/>
            <a:ext cx="579438" cy="5794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3" name="Shape 1703"/>
        <p:cNvGrpSpPr/>
        <p:nvPr/>
      </p:nvGrpSpPr>
      <p:grpSpPr>
        <a:xfrm>
          <a:off x="0" y="0"/>
          <a:ext cx="0" cy="0"/>
          <a:chOff x="0" y="0"/>
          <a:chExt cx="0" cy="0"/>
        </a:xfrm>
      </p:grpSpPr>
      <p:sp>
        <p:nvSpPr>
          <p:cNvPr id="1704" name="Google Shape;1704;p1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Addressing processes</a:t>
            </a:r>
            <a:endParaRPr sz="4400"/>
          </a:p>
        </p:txBody>
      </p:sp>
      <p:sp>
        <p:nvSpPr>
          <p:cNvPr id="1705" name="Google Shape;1705;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706" name="Google Shape;1706;p14"/>
          <p:cNvSpPr txBox="1"/>
          <p:nvPr/>
        </p:nvSpPr>
        <p:spPr>
          <a:xfrm>
            <a:off x="695101" y="1464896"/>
            <a:ext cx="4964479"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to receive messages, process  must have </a:t>
            </a:r>
            <a:r>
              <a:rPr i="1" lang="en-US" sz="2800">
                <a:solidFill>
                  <a:srgbClr val="CC0000"/>
                </a:solidFill>
                <a:latin typeface="Calibri"/>
                <a:ea typeface="Calibri"/>
                <a:cs typeface="Calibri"/>
                <a:sym typeface="Calibri"/>
              </a:rPr>
              <a:t>identifier</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host device has unique 32-bit IP address</a:t>
            </a:r>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u="sng">
                <a:solidFill>
                  <a:srgbClr val="CC0000"/>
                </a:solidFill>
                <a:latin typeface="Calibri"/>
                <a:ea typeface="Calibri"/>
                <a:cs typeface="Calibri"/>
                <a:sym typeface="Calibri"/>
              </a:rPr>
              <a:t>Q:</a:t>
            </a:r>
            <a:r>
              <a:rPr lang="en-US" sz="2800">
                <a:solidFill>
                  <a:schemeClr val="dk1"/>
                </a:solidFill>
                <a:latin typeface="Calibri"/>
                <a:ea typeface="Calibri"/>
                <a:cs typeface="Calibri"/>
                <a:sym typeface="Calibri"/>
              </a:rPr>
              <a:t> does  IP address of host on which process runs suffice for identifying the process?</a:t>
            </a:r>
            <a:endParaRPr/>
          </a:p>
        </p:txBody>
      </p:sp>
      <p:sp>
        <p:nvSpPr>
          <p:cNvPr id="1707" name="Google Shape;1707;p14"/>
          <p:cNvSpPr txBox="1"/>
          <p:nvPr/>
        </p:nvSpPr>
        <p:spPr>
          <a:xfrm>
            <a:off x="6056491" y="1464896"/>
            <a:ext cx="5573224" cy="5218112"/>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identifier</a:t>
            </a:r>
            <a:r>
              <a:rPr lang="en-US" sz="2800">
                <a:solidFill>
                  <a:srgbClr val="FF0000"/>
                </a:solidFill>
                <a:latin typeface="Calibri"/>
                <a:ea typeface="Calibri"/>
                <a:cs typeface="Calibri"/>
                <a:sym typeface="Calibri"/>
              </a:rPr>
              <a:t> </a:t>
            </a:r>
            <a:r>
              <a:rPr lang="en-US" sz="2800">
                <a:solidFill>
                  <a:schemeClr val="dk1"/>
                </a:solidFill>
                <a:latin typeface="Calibri"/>
                <a:ea typeface="Calibri"/>
                <a:cs typeface="Calibri"/>
                <a:sym typeface="Calibri"/>
              </a:rPr>
              <a:t>includes both </a:t>
            </a:r>
            <a:r>
              <a:rPr lang="en-US" sz="2800">
                <a:solidFill>
                  <a:srgbClr val="CC0000"/>
                </a:solidFill>
                <a:latin typeface="Calibri"/>
                <a:ea typeface="Calibri"/>
                <a:cs typeface="Calibri"/>
                <a:sym typeface="Calibri"/>
              </a:rPr>
              <a:t>IP address</a:t>
            </a:r>
            <a:r>
              <a:rPr lang="en-US" sz="2800">
                <a:solidFill>
                  <a:schemeClr val="dk1"/>
                </a:solidFill>
                <a:latin typeface="Calibri"/>
                <a:ea typeface="Calibri"/>
                <a:cs typeface="Calibri"/>
                <a:sym typeface="Calibri"/>
              </a:rPr>
              <a:t> and </a:t>
            </a:r>
            <a:r>
              <a:rPr lang="en-US" sz="2800">
                <a:solidFill>
                  <a:srgbClr val="CC0000"/>
                </a:solidFill>
                <a:latin typeface="Calibri"/>
                <a:ea typeface="Calibri"/>
                <a:cs typeface="Calibri"/>
                <a:sym typeface="Calibri"/>
              </a:rPr>
              <a:t>port numbers</a:t>
            </a:r>
            <a:r>
              <a:rPr lang="en-US" sz="2800">
                <a:solidFill>
                  <a:schemeClr val="dk1"/>
                </a:solidFill>
                <a:latin typeface="Calibri"/>
                <a:ea typeface="Calibri"/>
                <a:cs typeface="Calibri"/>
                <a:sym typeface="Calibri"/>
              </a:rPr>
              <a:t> associated with process on host.</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example port numbers: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HTTP server: 80</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mail server: 25</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to send HTTP message to gaia.cs.umass.edu web server: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CC0000"/>
                </a:solidFill>
                <a:latin typeface="Calibri"/>
                <a:ea typeface="Calibri"/>
                <a:cs typeface="Calibri"/>
                <a:sym typeface="Calibri"/>
              </a:rPr>
              <a:t>IP address:</a:t>
            </a:r>
            <a:r>
              <a:rPr b="0" i="0" lang="en-US" sz="2400" u="none" cap="none" strike="noStrike">
                <a:solidFill>
                  <a:schemeClr val="accent2"/>
                </a:solidFill>
                <a:latin typeface="Calibri"/>
                <a:ea typeface="Calibri"/>
                <a:cs typeface="Calibri"/>
                <a:sym typeface="Calibri"/>
              </a:rPr>
              <a:t> </a:t>
            </a:r>
            <a:r>
              <a:rPr b="0" i="0" lang="en-US" sz="2400" u="none" cap="none" strike="noStrike">
                <a:solidFill>
                  <a:schemeClr val="dk1"/>
                </a:solidFill>
                <a:latin typeface="Calibri"/>
                <a:ea typeface="Calibri"/>
                <a:cs typeface="Calibri"/>
                <a:sym typeface="Calibri"/>
              </a:rPr>
              <a:t>128.119.245.12</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CC0000"/>
                </a:solidFill>
                <a:latin typeface="Calibri"/>
                <a:ea typeface="Calibri"/>
                <a:cs typeface="Calibri"/>
                <a:sym typeface="Calibri"/>
              </a:rPr>
              <a:t>port number:</a:t>
            </a:r>
            <a:r>
              <a:rPr b="0" i="0" lang="en-US" sz="2400" u="none" cap="none" strike="noStrike">
                <a:solidFill>
                  <a:schemeClr val="accent2"/>
                </a:solidFill>
                <a:latin typeface="Calibri"/>
                <a:ea typeface="Calibri"/>
                <a:cs typeface="Calibri"/>
                <a:sym typeface="Calibri"/>
              </a:rPr>
              <a:t> </a:t>
            </a:r>
            <a:r>
              <a:rPr b="0" i="0" lang="en-US" sz="2400" u="none" cap="none" strike="noStrike">
                <a:solidFill>
                  <a:schemeClr val="dk1"/>
                </a:solidFill>
                <a:latin typeface="Calibri"/>
                <a:ea typeface="Calibri"/>
                <a:cs typeface="Calibri"/>
                <a:sym typeface="Calibri"/>
              </a:rPr>
              <a:t>80</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more shortly…</a:t>
            </a:r>
            <a:endParaRPr/>
          </a:p>
        </p:txBody>
      </p:sp>
      <p:sp>
        <p:nvSpPr>
          <p:cNvPr id="1708" name="Google Shape;1708;p14"/>
          <p:cNvSpPr/>
          <p:nvPr/>
        </p:nvSpPr>
        <p:spPr>
          <a:xfrm>
            <a:off x="562285" y="4507034"/>
            <a:ext cx="4314515" cy="1066800"/>
          </a:xfrm>
          <a:prstGeom prst="rect">
            <a:avLst/>
          </a:prstGeom>
          <a:noFill/>
          <a:ln>
            <a:noFill/>
          </a:ln>
        </p:spPr>
        <p:txBody>
          <a:bodyPr anchorCtr="0" anchor="t" bIns="45700" lIns="91425" spcFirstLastPara="1" rIns="91425" wrap="square" tIns="45700">
            <a:noAutofit/>
          </a:bodyPr>
          <a:lstStyle/>
          <a:p>
            <a:pPr indent="-285750" lvl="1" marL="742950" marR="0" rtl="0" algn="l">
              <a:lnSpc>
                <a:spcPct val="85000"/>
              </a:lnSpc>
              <a:spcBef>
                <a:spcPts val="0"/>
              </a:spcBef>
              <a:spcAft>
                <a:spcPts val="0"/>
              </a:spcAft>
              <a:buClr>
                <a:srgbClr val="000099"/>
              </a:buClr>
              <a:buSzPts val="2800"/>
              <a:buFont typeface="Noto Sans Symbols"/>
              <a:buChar char="▪"/>
            </a:pPr>
            <a:r>
              <a:rPr b="0" i="1" lang="en-US" sz="2800" u="sng" cap="none" strike="noStrike">
                <a:solidFill>
                  <a:srgbClr val="CC0000"/>
                </a:solidFill>
                <a:latin typeface="Calibri"/>
                <a:ea typeface="Calibri"/>
                <a:cs typeface="Calibri"/>
                <a:sym typeface="Calibri"/>
              </a:rPr>
              <a:t>A:</a:t>
            </a:r>
            <a:r>
              <a:rPr b="0" i="0" lang="en-US" sz="2800" u="none" cap="none" strike="noStrike">
                <a:solidFill>
                  <a:schemeClr val="dk1"/>
                </a:solidFill>
                <a:latin typeface="Calibri"/>
                <a:ea typeface="Calibri"/>
                <a:cs typeface="Calibri"/>
                <a:sym typeface="Calibri"/>
              </a:rPr>
              <a:t> no, </a:t>
            </a:r>
            <a:r>
              <a:rPr b="0" i="1" lang="en-US" sz="2800" u="none" cap="none" strike="noStrike">
                <a:solidFill>
                  <a:schemeClr val="dk1"/>
                </a:solidFill>
                <a:latin typeface="Calibri"/>
                <a:ea typeface="Calibri"/>
                <a:cs typeface="Calibri"/>
                <a:sym typeface="Calibri"/>
              </a:rPr>
              <a:t>many</a:t>
            </a:r>
            <a:r>
              <a:rPr b="0" i="0" lang="en-US" sz="2800" u="none" cap="none" strike="noStrike">
                <a:solidFill>
                  <a:schemeClr val="dk1"/>
                </a:solidFill>
                <a:latin typeface="Calibri"/>
                <a:ea typeface="Calibri"/>
                <a:cs typeface="Calibri"/>
                <a:sym typeface="Calibri"/>
              </a:rPr>
              <a:t> processes can be running on same host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8">
                                            <p:txEl>
                                              <p:pRg end="0" st="0"/>
                                            </p:txEl>
                                          </p:spTgt>
                                        </p:tgtEl>
                                        <p:attrNameLst>
                                          <p:attrName>style.visibility</p:attrName>
                                        </p:attrNameLst>
                                      </p:cBhvr>
                                      <p:to>
                                        <p:strVal val="visible"/>
                                      </p:to>
                                    </p:set>
                                    <p:animEffect filter="fade" transition="in">
                                      <p:cBhvr>
                                        <p:cTn dur="500"/>
                                        <p:tgtEl>
                                          <p:spTgt spid="17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7"/>
                                        </p:tgtEl>
                                        <p:attrNameLst>
                                          <p:attrName>style.visibility</p:attrName>
                                        </p:attrNameLst>
                                      </p:cBhvr>
                                      <p:to>
                                        <p:strVal val="visible"/>
                                      </p:to>
                                    </p:set>
                                    <p:animEffect filter="fade" transition="in">
                                      <p:cBhvr>
                                        <p:cTn dur="500"/>
                                        <p:tgtEl>
                                          <p:spTgt spid="1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3" name="Shape 1713"/>
        <p:cNvGrpSpPr/>
        <p:nvPr/>
      </p:nvGrpSpPr>
      <p:grpSpPr>
        <a:xfrm>
          <a:off x="0" y="0"/>
          <a:ext cx="0" cy="0"/>
          <a:chOff x="0" y="0"/>
          <a:chExt cx="0" cy="0"/>
        </a:xfrm>
      </p:grpSpPr>
      <p:sp>
        <p:nvSpPr>
          <p:cNvPr id="1714" name="Google Shape;1714;p15"/>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An application-layer </a:t>
            </a:r>
            <a:r>
              <a:rPr lang="en-US"/>
              <a:t>p</a:t>
            </a:r>
            <a:r>
              <a:rPr lang="en-US" sz="4400"/>
              <a:t>rotocol </a:t>
            </a:r>
            <a:r>
              <a:rPr lang="en-US"/>
              <a:t>d</a:t>
            </a:r>
            <a:r>
              <a:rPr lang="en-US" sz="4400"/>
              <a:t>efines:</a:t>
            </a:r>
            <a:endParaRPr sz="4400"/>
          </a:p>
        </p:txBody>
      </p:sp>
      <p:sp>
        <p:nvSpPr>
          <p:cNvPr id="1715" name="Google Shape;1715;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716" name="Google Shape;1716;p15"/>
          <p:cNvSpPr txBox="1"/>
          <p:nvPr/>
        </p:nvSpPr>
        <p:spPr>
          <a:xfrm>
            <a:off x="759182" y="1464838"/>
            <a:ext cx="5297309"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lang="en-US" sz="2800">
                <a:solidFill>
                  <a:srgbClr val="C00000"/>
                </a:solidFill>
                <a:latin typeface="Calibri"/>
                <a:ea typeface="Calibri"/>
                <a:cs typeface="Calibri"/>
                <a:sym typeface="Calibri"/>
              </a:rPr>
              <a:t>types of messages exchanged,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e.g., request, response </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rgbClr val="C00000"/>
                </a:solidFill>
                <a:latin typeface="Calibri"/>
                <a:ea typeface="Calibri"/>
                <a:cs typeface="Calibri"/>
                <a:sym typeface="Calibri"/>
              </a:rPr>
              <a:t>message syntax:</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what fields in messages &amp; how fields are delineated</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rgbClr val="C00000"/>
                </a:solidFill>
                <a:latin typeface="Calibri"/>
                <a:ea typeface="Calibri"/>
                <a:cs typeface="Calibri"/>
                <a:sym typeface="Calibri"/>
              </a:rPr>
              <a:t>message semantics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meaning of information in fields</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rgbClr val="C00000"/>
                </a:solidFill>
                <a:latin typeface="Calibri"/>
                <a:ea typeface="Calibri"/>
                <a:cs typeface="Calibri"/>
                <a:sym typeface="Calibri"/>
              </a:rPr>
              <a:t>rules</a:t>
            </a:r>
            <a:r>
              <a:rPr lang="en-US" sz="2800">
                <a:solidFill>
                  <a:schemeClr val="dk1"/>
                </a:solidFill>
                <a:latin typeface="Calibri"/>
                <a:ea typeface="Calibri"/>
                <a:cs typeface="Calibri"/>
                <a:sym typeface="Calibri"/>
              </a:rPr>
              <a:t> for when and how processes send &amp; respond to messages</a:t>
            </a:r>
            <a:endParaRPr/>
          </a:p>
        </p:txBody>
      </p:sp>
      <p:sp>
        <p:nvSpPr>
          <p:cNvPr id="1717" name="Google Shape;1717;p15"/>
          <p:cNvSpPr txBox="1"/>
          <p:nvPr/>
        </p:nvSpPr>
        <p:spPr>
          <a:xfrm>
            <a:off x="6555631" y="1474670"/>
            <a:ext cx="4758660"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rgbClr val="C00000"/>
                </a:solidFill>
                <a:latin typeface="Calibri"/>
                <a:ea typeface="Calibri"/>
                <a:cs typeface="Calibri"/>
                <a:sym typeface="Calibri"/>
              </a:rPr>
              <a:t>open protocols:</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defined in RFCs, everyone has access to protocol definition</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allows for interoperability</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e.g., HTTP, SMTP</a:t>
            </a:r>
            <a:endParaRPr/>
          </a:p>
          <a:p>
            <a:pPr indent="-222250" lvl="0" marL="352425" marR="0" rtl="0" algn="l">
              <a:lnSpc>
                <a:spcPct val="90000"/>
              </a:lnSpc>
              <a:spcBef>
                <a:spcPts val="1000"/>
              </a:spcBef>
              <a:spcAft>
                <a:spcPts val="0"/>
              </a:spcAft>
              <a:buClr>
                <a:srgbClr val="0000A3"/>
              </a:buClr>
              <a:buSzPts val="2800"/>
              <a:buFont typeface="Noto Sans Symbols"/>
              <a:buNone/>
            </a:pPr>
            <a:r>
              <a:rPr lang="en-US" sz="2800">
                <a:solidFill>
                  <a:srgbClr val="C00000"/>
                </a:solidFill>
                <a:latin typeface="Calibri"/>
                <a:ea typeface="Calibri"/>
                <a:cs typeface="Calibri"/>
                <a:sym typeface="Calibri"/>
              </a:rPr>
              <a:t>proprietary protocols:</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e.g., Skype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7"/>
                                        </p:tgtEl>
                                        <p:attrNameLst>
                                          <p:attrName>style.visibility</p:attrName>
                                        </p:attrNameLst>
                                      </p:cBhvr>
                                      <p:to>
                                        <p:strVal val="visible"/>
                                      </p:to>
                                    </p:set>
                                    <p:animEffect filter="fade" transition="in">
                                      <p:cBhvr>
                                        <p:cTn dur="500"/>
                                        <p:tgtEl>
                                          <p:spTgt spid="17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2" name="Shape 1722"/>
        <p:cNvGrpSpPr/>
        <p:nvPr/>
      </p:nvGrpSpPr>
      <p:grpSpPr>
        <a:xfrm>
          <a:off x="0" y="0"/>
          <a:ext cx="0" cy="0"/>
          <a:chOff x="0" y="0"/>
          <a:chExt cx="0" cy="0"/>
        </a:xfrm>
      </p:grpSpPr>
      <p:sp>
        <p:nvSpPr>
          <p:cNvPr id="1723" name="Google Shape;1723;p1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What </a:t>
            </a:r>
            <a:r>
              <a:rPr lang="en-US"/>
              <a:t>t</a:t>
            </a:r>
            <a:r>
              <a:rPr lang="en-US" sz="4400"/>
              <a:t>ransport </a:t>
            </a:r>
            <a:r>
              <a:rPr lang="en-US"/>
              <a:t>s</a:t>
            </a:r>
            <a:r>
              <a:rPr lang="en-US" sz="4400"/>
              <a:t>ervice does an </a:t>
            </a:r>
            <a:r>
              <a:rPr lang="en-US"/>
              <a:t>a</a:t>
            </a:r>
            <a:r>
              <a:rPr lang="en-US" sz="4400"/>
              <a:t>pp need?</a:t>
            </a:r>
            <a:endParaRPr sz="4400"/>
          </a:p>
        </p:txBody>
      </p:sp>
      <p:sp>
        <p:nvSpPr>
          <p:cNvPr id="1724" name="Google Shape;1724;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725" name="Google Shape;1725;p16"/>
          <p:cNvSpPr txBox="1"/>
          <p:nvPr/>
        </p:nvSpPr>
        <p:spPr>
          <a:xfrm>
            <a:off x="676025" y="1406872"/>
            <a:ext cx="4972505" cy="2797175"/>
          </a:xfrm>
          <a:prstGeom prst="rect">
            <a:avLst/>
          </a:prstGeom>
          <a:noFill/>
          <a:ln>
            <a:noFill/>
          </a:ln>
        </p:spPr>
        <p:txBody>
          <a:bodyPr anchorCtr="0" anchor="t" bIns="45700" lIns="91425" spcFirstLastPara="1" rIns="91425" wrap="square" tIns="45700">
            <a:noAutofit/>
          </a:bodyPr>
          <a:lstStyle/>
          <a:p>
            <a:pPr indent="-219075" lvl="0" marL="233363"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data integrity</a:t>
            </a:r>
            <a:endParaRPr/>
          </a:p>
          <a:p>
            <a:pPr indent="-219075" lvl="0" marL="233363" marR="0" rtl="0" algn="l">
              <a:lnSpc>
                <a:spcPct val="90000"/>
              </a:lnSpc>
              <a:spcBef>
                <a:spcPts val="6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some apps (e.g., file transfer, web transactions) require 100% reliable data transfer</a:t>
            </a:r>
            <a:r>
              <a:rPr lang="en-US" sz="3200">
                <a:solidFill>
                  <a:schemeClr val="dk1"/>
                </a:solidFill>
                <a:latin typeface="Calibri"/>
                <a:ea typeface="Calibri"/>
                <a:cs typeface="Calibri"/>
                <a:sym typeface="Calibri"/>
              </a:rPr>
              <a:t> </a:t>
            </a:r>
            <a:endParaRPr/>
          </a:p>
          <a:p>
            <a:pPr indent="-233363" lvl="0" marL="233363" marR="0" rtl="0" algn="l">
              <a:lnSpc>
                <a:spcPct val="90000"/>
              </a:lnSpc>
              <a:spcBef>
                <a:spcPts val="6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other apps (e.g., audio) can tolerate some loss</a:t>
            </a:r>
            <a:endParaRPr/>
          </a:p>
          <a:p>
            <a:pPr indent="-19050" lvl="0" marL="352425" marR="0" rtl="0" algn="l">
              <a:lnSpc>
                <a:spcPct val="90000"/>
              </a:lnSpc>
              <a:spcBef>
                <a:spcPts val="600"/>
              </a:spcBef>
              <a:spcAft>
                <a:spcPts val="0"/>
              </a:spcAft>
              <a:buClr>
                <a:srgbClr val="0000A3"/>
              </a:buClr>
              <a:buSzPts val="3200"/>
              <a:buFont typeface="Noto Sans Symbols"/>
              <a:buNone/>
            </a:pPr>
            <a:r>
              <a:t/>
            </a:r>
            <a:endParaRPr sz="3200">
              <a:solidFill>
                <a:schemeClr val="dk1"/>
              </a:solidFill>
              <a:latin typeface="Calibri"/>
              <a:ea typeface="Calibri"/>
              <a:cs typeface="Calibri"/>
              <a:sym typeface="Calibri"/>
            </a:endParaRPr>
          </a:p>
        </p:txBody>
      </p:sp>
      <p:sp>
        <p:nvSpPr>
          <p:cNvPr id="1726" name="Google Shape;1726;p16"/>
          <p:cNvSpPr txBox="1"/>
          <p:nvPr/>
        </p:nvSpPr>
        <p:spPr>
          <a:xfrm>
            <a:off x="544999" y="4365808"/>
            <a:ext cx="5572612" cy="2443163"/>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timing</a:t>
            </a:r>
            <a:endParaRPr/>
          </a:p>
          <a:p>
            <a:pPr indent="-222250" lvl="0" marL="352425" marR="0" rtl="0" algn="l">
              <a:lnSpc>
                <a:spcPct val="90000"/>
              </a:lnSpc>
              <a:spcBef>
                <a:spcPts val="6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some apps (e.g., Internet telephony, interactive games) require low delay to be “effective”</a:t>
            </a:r>
            <a:endParaRPr sz="2800">
              <a:solidFill>
                <a:schemeClr val="dk1"/>
              </a:solidFill>
              <a:latin typeface="Calibri"/>
              <a:ea typeface="Calibri"/>
              <a:cs typeface="Calibri"/>
              <a:sym typeface="Calibri"/>
            </a:endParaRPr>
          </a:p>
        </p:txBody>
      </p:sp>
      <p:sp>
        <p:nvSpPr>
          <p:cNvPr id="1727" name="Google Shape;1727;p16"/>
          <p:cNvSpPr/>
          <p:nvPr/>
        </p:nvSpPr>
        <p:spPr>
          <a:xfrm>
            <a:off x="6586691" y="1377376"/>
            <a:ext cx="4972505" cy="33623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None/>
            </a:pPr>
            <a:r>
              <a:rPr lang="en-US" sz="3200">
                <a:solidFill>
                  <a:srgbClr val="CC0000"/>
                </a:solidFill>
                <a:latin typeface="Calibri"/>
                <a:ea typeface="Calibri"/>
                <a:cs typeface="Calibri"/>
                <a:sym typeface="Calibri"/>
              </a:rPr>
              <a:t>throughput</a:t>
            </a:r>
            <a:endParaRPr/>
          </a:p>
          <a:p>
            <a:pPr indent="-342900" lvl="0" marL="342900" marR="0" rtl="0" algn="l">
              <a:lnSpc>
                <a:spcPct val="90000"/>
              </a:lnSpc>
              <a:spcBef>
                <a:spcPts val="60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some apps (e.g., multimedia) require minimum amount of throughput to be “effective”</a:t>
            </a:r>
            <a:endParaRPr/>
          </a:p>
          <a:p>
            <a:pPr indent="-342900" lvl="0" marL="342900" marR="0" rtl="0" algn="l">
              <a:lnSpc>
                <a:spcPct val="90000"/>
              </a:lnSpc>
              <a:spcBef>
                <a:spcPts val="60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other apps (“elastic apps”) make use of whatever throughput they get </a:t>
            </a:r>
            <a:endParaRPr sz="2800">
              <a:solidFill>
                <a:schemeClr val="dk1"/>
              </a:solidFill>
              <a:latin typeface="Calibri"/>
              <a:ea typeface="Calibri"/>
              <a:cs typeface="Calibri"/>
              <a:sym typeface="Calibri"/>
            </a:endParaRPr>
          </a:p>
        </p:txBody>
      </p:sp>
      <p:sp>
        <p:nvSpPr>
          <p:cNvPr id="1728" name="Google Shape;1728;p16"/>
          <p:cNvSpPr/>
          <p:nvPr/>
        </p:nvSpPr>
        <p:spPr>
          <a:xfrm>
            <a:off x="6640666" y="4830189"/>
            <a:ext cx="4533593" cy="12715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None/>
            </a:pPr>
            <a:r>
              <a:rPr lang="en-US" sz="3200">
                <a:solidFill>
                  <a:srgbClr val="CC0000"/>
                </a:solidFill>
                <a:latin typeface="Calibri"/>
                <a:ea typeface="Calibri"/>
                <a:cs typeface="Calibri"/>
                <a:sym typeface="Calibri"/>
              </a:rPr>
              <a:t>security</a:t>
            </a:r>
            <a:endParaRPr/>
          </a:p>
          <a:p>
            <a:pPr indent="-342900" lvl="0" marL="342900" marR="0" rtl="0" algn="l">
              <a:lnSpc>
                <a:spcPct val="90000"/>
              </a:lnSpc>
              <a:spcBef>
                <a:spcPts val="60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encryption, data integrity,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6">
                                            <p:txEl>
                                              <p:pRg end="0" st="0"/>
                                            </p:txEl>
                                          </p:spTgt>
                                        </p:tgtEl>
                                        <p:attrNameLst>
                                          <p:attrName>style.visibility</p:attrName>
                                        </p:attrNameLst>
                                      </p:cBhvr>
                                      <p:to>
                                        <p:strVal val="visible"/>
                                      </p:to>
                                    </p:set>
                                    <p:animEffect filter="fade" transition="in">
                                      <p:cBhvr>
                                        <p:cTn dur="500"/>
                                        <p:tgtEl>
                                          <p:spTgt spid="172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6">
                                            <p:txEl>
                                              <p:pRg end="1" st="1"/>
                                            </p:txEl>
                                          </p:spTgt>
                                        </p:tgtEl>
                                        <p:attrNameLst>
                                          <p:attrName>style.visibility</p:attrName>
                                        </p:attrNameLst>
                                      </p:cBhvr>
                                      <p:to>
                                        <p:strVal val="visible"/>
                                      </p:to>
                                    </p:set>
                                    <p:animEffect filter="fade" transition="in">
                                      <p:cBhvr>
                                        <p:cTn dur="500"/>
                                        <p:tgtEl>
                                          <p:spTgt spid="172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7"/>
                                        </p:tgtEl>
                                        <p:attrNameLst>
                                          <p:attrName>style.visibility</p:attrName>
                                        </p:attrNameLst>
                                      </p:cBhvr>
                                      <p:to>
                                        <p:strVal val="visible"/>
                                      </p:to>
                                    </p:set>
                                    <p:animEffect filter="fade" transition="in">
                                      <p:cBhvr>
                                        <p:cTn dur="500"/>
                                        <p:tgtEl>
                                          <p:spTgt spid="17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8">
                                            <p:txEl>
                                              <p:pRg end="0" st="0"/>
                                            </p:txEl>
                                          </p:spTgt>
                                        </p:tgtEl>
                                        <p:attrNameLst>
                                          <p:attrName>style.visibility</p:attrName>
                                        </p:attrNameLst>
                                      </p:cBhvr>
                                      <p:to>
                                        <p:strVal val="visible"/>
                                      </p:to>
                                    </p:set>
                                    <p:animEffect filter="fade" transition="in">
                                      <p:cBhvr>
                                        <p:cTn dur="500"/>
                                        <p:tgtEl>
                                          <p:spTgt spid="17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8">
                                            <p:txEl>
                                              <p:pRg end="1" st="1"/>
                                            </p:txEl>
                                          </p:spTgt>
                                        </p:tgtEl>
                                        <p:attrNameLst>
                                          <p:attrName>style.visibility</p:attrName>
                                        </p:attrNameLst>
                                      </p:cBhvr>
                                      <p:to>
                                        <p:strVal val="visible"/>
                                      </p:to>
                                    </p:set>
                                    <p:animEffect filter="fade" transition="in">
                                      <p:cBhvr>
                                        <p:cTn dur="500"/>
                                        <p:tgtEl>
                                          <p:spTgt spid="172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3" name="Shape 1733"/>
        <p:cNvGrpSpPr/>
        <p:nvPr/>
      </p:nvGrpSpPr>
      <p:grpSpPr>
        <a:xfrm>
          <a:off x="0" y="0"/>
          <a:ext cx="0" cy="0"/>
          <a:chOff x="0" y="0"/>
          <a:chExt cx="0" cy="0"/>
        </a:xfrm>
      </p:grpSpPr>
      <p:sp>
        <p:nvSpPr>
          <p:cNvPr id="1734" name="Google Shape;1734;p17"/>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a:t>
            </a:r>
            <a:r>
              <a:rPr lang="en-US"/>
              <a:t>s</a:t>
            </a:r>
            <a:r>
              <a:rPr lang="en-US" sz="4400"/>
              <a:t>ervice </a:t>
            </a:r>
            <a:r>
              <a:rPr lang="en-US"/>
              <a:t>r</a:t>
            </a:r>
            <a:r>
              <a:rPr lang="en-US" sz="4400"/>
              <a:t>equirements: common apps</a:t>
            </a:r>
            <a:endParaRPr sz="4400"/>
          </a:p>
        </p:txBody>
      </p:sp>
      <p:sp>
        <p:nvSpPr>
          <p:cNvPr id="1735" name="Google Shape;1735;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736" name="Google Shape;1736;p17"/>
          <p:cNvSpPr txBox="1"/>
          <p:nvPr/>
        </p:nvSpPr>
        <p:spPr>
          <a:xfrm>
            <a:off x="114330" y="1536174"/>
            <a:ext cx="3479735" cy="472219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2800"/>
              <a:buFont typeface="Calibri"/>
              <a:buNone/>
            </a:pPr>
            <a:r>
              <a:rPr b="1" lang="en-US" sz="2800">
                <a:solidFill>
                  <a:schemeClr val="dk1"/>
                </a:solidFill>
                <a:latin typeface="Calibri"/>
                <a:ea typeface="Calibri"/>
                <a:cs typeface="Calibri"/>
                <a:sym typeface="Calibri"/>
              </a:rPr>
              <a:t>application</a:t>
            </a:r>
            <a:endParaRPr sz="2800">
              <a:solidFill>
                <a:schemeClr val="dk1"/>
              </a:solidFill>
              <a:latin typeface="Calibri"/>
              <a:ea typeface="Calibri"/>
              <a:cs typeface="Calibri"/>
              <a:sym typeface="Calibri"/>
            </a:endParaRPr>
          </a:p>
          <a:p>
            <a:pPr indent="0" lvl="0" marL="0" marR="0" rtl="0" algn="r">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file transfer/download</a:t>
            </a:r>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e-mail</a:t>
            </a:r>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Web documents</a:t>
            </a:r>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real-time audio/video</a:t>
            </a:r>
            <a:endParaRPr/>
          </a:p>
          <a:p>
            <a:pPr indent="0" lvl="0" marL="0" marR="0" rtl="0" algn="r">
              <a:lnSpc>
                <a:spcPct val="110000"/>
              </a:lnSpc>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streaming audio/video</a:t>
            </a:r>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interactive games</a:t>
            </a:r>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text messaging</a:t>
            </a:r>
            <a:endParaRPr sz="3200">
              <a:solidFill>
                <a:schemeClr val="dk1"/>
              </a:solidFill>
              <a:latin typeface="Calibri"/>
              <a:ea typeface="Calibri"/>
              <a:cs typeface="Calibri"/>
              <a:sym typeface="Calibri"/>
            </a:endParaRPr>
          </a:p>
        </p:txBody>
      </p:sp>
      <p:sp>
        <p:nvSpPr>
          <p:cNvPr id="1737" name="Google Shape;1737;p17"/>
          <p:cNvSpPr txBox="1"/>
          <p:nvPr/>
        </p:nvSpPr>
        <p:spPr>
          <a:xfrm>
            <a:off x="3947968" y="1539349"/>
            <a:ext cx="2009076" cy="47221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Calibri"/>
              <a:buNone/>
            </a:pPr>
            <a:r>
              <a:rPr b="1" lang="en-US" sz="2800">
                <a:solidFill>
                  <a:schemeClr val="dk1"/>
                </a:solidFill>
                <a:latin typeface="Calibri"/>
                <a:ea typeface="Calibri"/>
                <a:cs typeface="Calibri"/>
                <a:sym typeface="Calibri"/>
              </a:rPr>
              <a:t>data loss</a:t>
            </a:r>
            <a:endParaRPr sz="2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no loss</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no loss</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no loss</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loss-tolerant</a:t>
            </a:r>
            <a:endParaRPr/>
          </a:p>
          <a:p>
            <a:pPr indent="0" lvl="0" marL="0" marR="0" rtl="0" algn="l">
              <a:lnSpc>
                <a:spcPct val="110000"/>
              </a:lnSpc>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loss-tolerant</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loss-tolerant</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no loss</a:t>
            </a:r>
            <a:endParaRPr sz="3200">
              <a:solidFill>
                <a:schemeClr val="dk1"/>
              </a:solidFill>
              <a:latin typeface="Calibri"/>
              <a:ea typeface="Calibri"/>
              <a:cs typeface="Calibri"/>
              <a:sym typeface="Calibri"/>
            </a:endParaRPr>
          </a:p>
        </p:txBody>
      </p:sp>
      <p:sp>
        <p:nvSpPr>
          <p:cNvPr id="1738" name="Google Shape;1738;p17"/>
          <p:cNvSpPr txBox="1"/>
          <p:nvPr/>
        </p:nvSpPr>
        <p:spPr>
          <a:xfrm>
            <a:off x="5991692" y="1537762"/>
            <a:ext cx="3025344" cy="47221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Calibri"/>
              <a:buNone/>
            </a:pPr>
            <a:r>
              <a:rPr b="1" lang="en-US" sz="2800">
                <a:solidFill>
                  <a:schemeClr val="dk1"/>
                </a:solidFill>
                <a:latin typeface="Calibri"/>
                <a:ea typeface="Calibri"/>
                <a:cs typeface="Calibri"/>
                <a:sym typeface="Calibri"/>
              </a:rPr>
              <a:t>throughput</a:t>
            </a:r>
            <a:endParaRPr/>
          </a:p>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elastic</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elastic</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elastic</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audio: </a:t>
            </a:r>
            <a:r>
              <a:rPr lang="en-US" sz="2400">
                <a:solidFill>
                  <a:schemeClr val="dk1"/>
                </a:solidFill>
                <a:latin typeface="Calibri"/>
                <a:ea typeface="Calibri"/>
                <a:cs typeface="Calibri"/>
                <a:sym typeface="Calibri"/>
              </a:rPr>
              <a:t>5Kbps-1Mbps</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video:</a:t>
            </a:r>
            <a:r>
              <a:rPr lang="en-US" sz="2400">
                <a:solidFill>
                  <a:schemeClr val="dk1"/>
                </a:solidFill>
                <a:latin typeface="Calibri"/>
                <a:ea typeface="Calibri"/>
                <a:cs typeface="Calibri"/>
                <a:sym typeface="Calibri"/>
              </a:rPr>
              <a:t>10Kbps-5Mbps</a:t>
            </a:r>
            <a:endParaRPr sz="28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same as above </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Kbps+</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elastic</a:t>
            </a:r>
            <a:endParaRPr/>
          </a:p>
        </p:txBody>
      </p:sp>
      <p:sp>
        <p:nvSpPr>
          <p:cNvPr id="1739" name="Google Shape;1739;p17"/>
          <p:cNvSpPr txBox="1"/>
          <p:nvPr/>
        </p:nvSpPr>
        <p:spPr>
          <a:xfrm>
            <a:off x="9439064" y="1585760"/>
            <a:ext cx="2936433" cy="47221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Calibri"/>
              <a:buNone/>
            </a:pPr>
            <a:r>
              <a:rPr b="1" lang="en-US" sz="2800">
                <a:solidFill>
                  <a:schemeClr val="dk1"/>
                </a:solidFill>
                <a:latin typeface="Calibri"/>
                <a:ea typeface="Calibri"/>
                <a:cs typeface="Calibri"/>
                <a:sym typeface="Calibri"/>
              </a:rPr>
              <a:t>time sensitive?</a:t>
            </a:r>
            <a:endParaRPr sz="2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no</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no</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no</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yes, 10’s msec</a:t>
            </a:r>
            <a:endParaRPr sz="28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yes, few secs</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yes, 10’s msec</a:t>
            </a:r>
            <a:endParaRPr sz="28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yes and no</a:t>
            </a:r>
            <a:endParaRPr/>
          </a:p>
        </p:txBody>
      </p:sp>
      <p:cxnSp>
        <p:nvCxnSpPr>
          <p:cNvPr id="1740" name="Google Shape;1740;p17"/>
          <p:cNvCxnSpPr/>
          <p:nvPr/>
        </p:nvCxnSpPr>
        <p:spPr>
          <a:xfrm>
            <a:off x="1931843" y="2115070"/>
            <a:ext cx="9382448" cy="0"/>
          </a:xfrm>
          <a:prstGeom prst="straightConnector1">
            <a:avLst/>
          </a:prstGeom>
          <a:noFill/>
          <a:ln cap="flat" cmpd="sng" w="31750">
            <a:solidFill>
              <a:srgbClr val="0000A8"/>
            </a:solidFill>
            <a:prstDash val="solid"/>
            <a:miter lim="800000"/>
            <a:headEnd len="sm" w="sm" type="none"/>
            <a:tailEnd len="sm" w="sm" type="none"/>
          </a:ln>
        </p:spPr>
      </p:cxnSp>
      <p:cxnSp>
        <p:nvCxnSpPr>
          <p:cNvPr id="1741" name="Google Shape;1741;p17"/>
          <p:cNvCxnSpPr/>
          <p:nvPr/>
        </p:nvCxnSpPr>
        <p:spPr>
          <a:xfrm>
            <a:off x="1939865" y="2900516"/>
            <a:ext cx="9382448" cy="0"/>
          </a:xfrm>
          <a:prstGeom prst="straightConnector1">
            <a:avLst/>
          </a:prstGeom>
          <a:noFill/>
          <a:ln cap="flat" cmpd="sng" w="15875">
            <a:solidFill>
              <a:srgbClr val="BFBFBF"/>
            </a:solidFill>
            <a:prstDash val="solid"/>
            <a:miter lim="800000"/>
            <a:headEnd len="sm" w="sm" type="none"/>
            <a:tailEnd len="sm" w="sm" type="none"/>
          </a:ln>
        </p:spPr>
      </p:cxnSp>
      <p:cxnSp>
        <p:nvCxnSpPr>
          <p:cNvPr id="1742" name="Google Shape;1742;p17"/>
          <p:cNvCxnSpPr/>
          <p:nvPr/>
        </p:nvCxnSpPr>
        <p:spPr>
          <a:xfrm>
            <a:off x="1939865" y="3426882"/>
            <a:ext cx="9382448" cy="0"/>
          </a:xfrm>
          <a:prstGeom prst="straightConnector1">
            <a:avLst/>
          </a:prstGeom>
          <a:noFill/>
          <a:ln cap="flat" cmpd="sng" w="15875">
            <a:solidFill>
              <a:srgbClr val="BFBFBF"/>
            </a:solidFill>
            <a:prstDash val="solid"/>
            <a:miter lim="800000"/>
            <a:headEnd len="sm" w="sm" type="none"/>
            <a:tailEnd len="sm" w="sm" type="none"/>
          </a:ln>
        </p:spPr>
      </p:cxnSp>
      <p:cxnSp>
        <p:nvCxnSpPr>
          <p:cNvPr id="1743" name="Google Shape;1743;p17"/>
          <p:cNvCxnSpPr/>
          <p:nvPr/>
        </p:nvCxnSpPr>
        <p:spPr>
          <a:xfrm>
            <a:off x="1939865" y="3871968"/>
            <a:ext cx="9382448" cy="0"/>
          </a:xfrm>
          <a:prstGeom prst="straightConnector1">
            <a:avLst/>
          </a:prstGeom>
          <a:noFill/>
          <a:ln cap="flat" cmpd="sng" w="15875">
            <a:solidFill>
              <a:srgbClr val="BFBFBF"/>
            </a:solidFill>
            <a:prstDash val="solid"/>
            <a:miter lim="800000"/>
            <a:headEnd len="sm" w="sm" type="none"/>
            <a:tailEnd len="sm" w="sm" type="none"/>
          </a:ln>
        </p:spPr>
      </p:cxnSp>
      <p:cxnSp>
        <p:nvCxnSpPr>
          <p:cNvPr id="1744" name="Google Shape;1744;p17"/>
          <p:cNvCxnSpPr/>
          <p:nvPr/>
        </p:nvCxnSpPr>
        <p:spPr>
          <a:xfrm>
            <a:off x="1943100" y="4810618"/>
            <a:ext cx="9382448" cy="0"/>
          </a:xfrm>
          <a:prstGeom prst="straightConnector1">
            <a:avLst/>
          </a:prstGeom>
          <a:noFill/>
          <a:ln cap="flat" cmpd="sng" w="15875">
            <a:solidFill>
              <a:srgbClr val="BFBFBF"/>
            </a:solidFill>
            <a:prstDash val="solid"/>
            <a:miter lim="800000"/>
            <a:headEnd len="sm" w="sm" type="none"/>
            <a:tailEnd len="sm" w="sm" type="none"/>
          </a:ln>
        </p:spPr>
      </p:cxnSp>
      <p:cxnSp>
        <p:nvCxnSpPr>
          <p:cNvPr id="1745" name="Google Shape;1745;p17"/>
          <p:cNvCxnSpPr/>
          <p:nvPr/>
        </p:nvCxnSpPr>
        <p:spPr>
          <a:xfrm>
            <a:off x="1943876" y="5263991"/>
            <a:ext cx="9382448" cy="0"/>
          </a:xfrm>
          <a:prstGeom prst="straightConnector1">
            <a:avLst/>
          </a:prstGeom>
          <a:noFill/>
          <a:ln cap="flat" cmpd="sng" w="15875">
            <a:solidFill>
              <a:srgbClr val="BFBFBF"/>
            </a:solidFill>
            <a:prstDash val="solid"/>
            <a:miter lim="800000"/>
            <a:headEnd len="sm" w="sm" type="none"/>
            <a:tailEnd len="sm" w="sm" type="none"/>
          </a:ln>
        </p:spPr>
      </p:cxnSp>
      <p:cxnSp>
        <p:nvCxnSpPr>
          <p:cNvPr id="1746" name="Google Shape;1746;p17"/>
          <p:cNvCxnSpPr/>
          <p:nvPr/>
        </p:nvCxnSpPr>
        <p:spPr>
          <a:xfrm>
            <a:off x="1943876" y="5745521"/>
            <a:ext cx="9382448" cy="0"/>
          </a:xfrm>
          <a:prstGeom prst="straightConnector1">
            <a:avLst/>
          </a:prstGeom>
          <a:noFill/>
          <a:ln cap="flat" cmpd="sng" w="15875">
            <a:solidFill>
              <a:srgbClr val="BFBFBF"/>
            </a:solidFill>
            <a:prstDash val="solid"/>
            <a:miter lim="800000"/>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1" name="Shape 1751"/>
        <p:cNvGrpSpPr/>
        <p:nvPr/>
      </p:nvGrpSpPr>
      <p:grpSpPr>
        <a:xfrm>
          <a:off x="0" y="0"/>
          <a:ext cx="0" cy="0"/>
          <a:chOff x="0" y="0"/>
          <a:chExt cx="0" cy="0"/>
        </a:xfrm>
      </p:grpSpPr>
      <p:sp>
        <p:nvSpPr>
          <p:cNvPr id="1752" name="Google Shape;1752;p1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a:t>
            </a:r>
            <a:r>
              <a:rPr lang="en-US"/>
              <a:t>t</a:t>
            </a:r>
            <a:r>
              <a:rPr lang="en-US" sz="4400"/>
              <a:t>ransport protocols services</a:t>
            </a:r>
            <a:endParaRPr sz="4400"/>
          </a:p>
        </p:txBody>
      </p:sp>
      <p:sp>
        <p:nvSpPr>
          <p:cNvPr id="1753" name="Google Shape;1753;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754" name="Google Shape;1754;p18"/>
          <p:cNvSpPr txBox="1"/>
          <p:nvPr/>
        </p:nvSpPr>
        <p:spPr>
          <a:xfrm>
            <a:off x="753320" y="1383910"/>
            <a:ext cx="6016137" cy="49530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rgbClr val="000099"/>
                </a:solidFill>
                <a:latin typeface="Calibri"/>
                <a:ea typeface="Calibri"/>
                <a:cs typeface="Calibri"/>
                <a:sym typeface="Calibri"/>
              </a:rPr>
              <a:t>TCP service:</a:t>
            </a:r>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reliable transport</a:t>
            </a:r>
            <a:r>
              <a:rPr i="1" lang="en-US" sz="2800">
                <a:solidFill>
                  <a:schemeClr val="accent2"/>
                </a:solidFill>
                <a:latin typeface="Calibri"/>
                <a:ea typeface="Calibri"/>
                <a:cs typeface="Calibri"/>
                <a:sym typeface="Calibri"/>
              </a:rPr>
              <a:t> </a:t>
            </a:r>
            <a:r>
              <a:rPr lang="en-US" sz="2800">
                <a:solidFill>
                  <a:schemeClr val="dk1"/>
                </a:solidFill>
                <a:latin typeface="Calibri"/>
                <a:ea typeface="Calibri"/>
                <a:cs typeface="Calibri"/>
                <a:sym typeface="Calibri"/>
              </a:rPr>
              <a:t>between sending and receiving process</a:t>
            </a:r>
            <a:endParaRPr sz="2800">
              <a:solidFill>
                <a:schemeClr val="accent2"/>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flow control:</a:t>
            </a:r>
            <a:r>
              <a:rPr lang="en-US" sz="2800">
                <a:solidFill>
                  <a:schemeClr val="dk1"/>
                </a:solidFill>
                <a:latin typeface="Calibri"/>
                <a:ea typeface="Calibri"/>
                <a:cs typeface="Calibri"/>
                <a:sym typeface="Calibri"/>
              </a:rPr>
              <a:t> sender won’t overwhelm receiver </a:t>
            </a:r>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congestion control:</a:t>
            </a:r>
            <a:r>
              <a:rPr lang="en-US" sz="2800">
                <a:solidFill>
                  <a:schemeClr val="dk1"/>
                </a:solidFill>
                <a:latin typeface="Calibri"/>
                <a:ea typeface="Calibri"/>
                <a:cs typeface="Calibri"/>
                <a:sym typeface="Calibri"/>
              </a:rPr>
              <a:t> throttle sender when network overloaded</a:t>
            </a:r>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does not provide:</a:t>
            </a:r>
            <a:r>
              <a:rPr lang="en-US" sz="2800">
                <a:solidFill>
                  <a:schemeClr val="dk1"/>
                </a:solidFill>
                <a:latin typeface="Calibri"/>
                <a:ea typeface="Calibri"/>
                <a:cs typeface="Calibri"/>
                <a:sym typeface="Calibri"/>
              </a:rPr>
              <a:t> timing, minimum throughput guarantee, security</a:t>
            </a:r>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connection-oriented:</a:t>
            </a:r>
            <a:r>
              <a:rPr lang="en-US" sz="2800">
                <a:solidFill>
                  <a:schemeClr val="dk1"/>
                </a:solidFill>
                <a:latin typeface="Calibri"/>
                <a:ea typeface="Calibri"/>
                <a:cs typeface="Calibri"/>
                <a:sym typeface="Calibri"/>
              </a:rPr>
              <a:t> setup required between client and server processes</a:t>
            </a:r>
            <a:endParaRPr/>
          </a:p>
          <a:p>
            <a:pPr indent="-44450" lvl="0" marL="352425" marR="0" rtl="0" algn="l">
              <a:lnSpc>
                <a:spcPct val="75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
        <p:nvSpPr>
          <p:cNvPr id="1755" name="Google Shape;1755;p18"/>
          <p:cNvSpPr txBox="1"/>
          <p:nvPr/>
        </p:nvSpPr>
        <p:spPr>
          <a:xfrm>
            <a:off x="6924091" y="1395634"/>
            <a:ext cx="5038725"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rgbClr val="000099"/>
                </a:solidFill>
                <a:latin typeface="Calibri"/>
                <a:ea typeface="Calibri"/>
                <a:cs typeface="Calibri"/>
                <a:sym typeface="Calibri"/>
              </a:rPr>
              <a:t>UDP service:</a:t>
            </a:r>
            <a:endParaRPr/>
          </a:p>
          <a:p>
            <a:pPr indent="-233363" lvl="0" marL="233363"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unreliable data transfer</a:t>
            </a:r>
            <a:r>
              <a:rPr lang="en-US" sz="2800">
                <a:solidFill>
                  <a:schemeClr val="dk1"/>
                </a:solidFill>
                <a:latin typeface="Calibri"/>
                <a:ea typeface="Calibri"/>
                <a:cs typeface="Calibri"/>
                <a:sym typeface="Calibri"/>
              </a:rPr>
              <a:t> between sending and receiving process</a:t>
            </a:r>
            <a:endParaRPr/>
          </a:p>
          <a:p>
            <a:pPr indent="-233363" lvl="0" marL="233363"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does not provide:</a:t>
            </a:r>
            <a:r>
              <a:rPr lang="en-US" sz="2800">
                <a:solidFill>
                  <a:schemeClr val="dk1"/>
                </a:solidFill>
                <a:latin typeface="Calibri"/>
                <a:ea typeface="Calibri"/>
                <a:cs typeface="Calibri"/>
                <a:sym typeface="Calibri"/>
              </a:rPr>
              <a:t> reliability, flow control, congestion control, timing, throughput guarantee, security, or connection setup.</a:t>
            </a:r>
            <a:endParaRPr/>
          </a:p>
        </p:txBody>
      </p:sp>
      <p:sp>
        <p:nvSpPr>
          <p:cNvPr id="1756" name="Google Shape;1756;p18"/>
          <p:cNvSpPr txBox="1"/>
          <p:nvPr/>
        </p:nvSpPr>
        <p:spPr>
          <a:xfrm>
            <a:off x="7316721" y="5388865"/>
            <a:ext cx="3651156" cy="1259644"/>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u="sng">
                <a:solidFill>
                  <a:srgbClr val="CC0000"/>
                </a:solidFill>
                <a:latin typeface="Calibri"/>
                <a:ea typeface="Calibri"/>
                <a:cs typeface="Calibri"/>
                <a:sym typeface="Calibri"/>
              </a:rPr>
              <a:t>Q:</a:t>
            </a:r>
            <a:r>
              <a:rPr lang="en-US" sz="2800">
                <a:solidFill>
                  <a:schemeClr val="dk1"/>
                </a:solidFill>
                <a:latin typeface="Calibri"/>
                <a:ea typeface="Calibri"/>
                <a:cs typeface="Calibri"/>
                <a:sym typeface="Calibri"/>
              </a:rPr>
              <a:t> why bother?  </a:t>
            </a:r>
            <a:r>
              <a:rPr i="1" lang="en-US" sz="2800">
                <a:solidFill>
                  <a:schemeClr val="dk1"/>
                </a:solidFill>
                <a:latin typeface="Calibri"/>
                <a:ea typeface="Calibri"/>
                <a:cs typeface="Calibri"/>
                <a:sym typeface="Calibri"/>
              </a:rPr>
              <a:t>Why</a:t>
            </a:r>
            <a:r>
              <a:rPr lang="en-US" sz="2800">
                <a:solidFill>
                  <a:schemeClr val="dk1"/>
                </a:solidFill>
                <a:latin typeface="Calibri"/>
                <a:ea typeface="Calibri"/>
                <a:cs typeface="Calibri"/>
                <a:sym typeface="Calibri"/>
              </a:rPr>
              <a:t> is there a UDP?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1" name="Shape 1761"/>
        <p:cNvGrpSpPr/>
        <p:nvPr/>
      </p:nvGrpSpPr>
      <p:grpSpPr>
        <a:xfrm>
          <a:off x="0" y="0"/>
          <a:ext cx="0" cy="0"/>
          <a:chOff x="0" y="0"/>
          <a:chExt cx="0" cy="0"/>
        </a:xfrm>
      </p:grpSpPr>
      <p:sp>
        <p:nvSpPr>
          <p:cNvPr id="1762" name="Google Shape;1762;p1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400"/>
              <a:t>Internet </a:t>
            </a:r>
            <a:r>
              <a:rPr lang="en-US"/>
              <a:t>application</a:t>
            </a:r>
            <a:r>
              <a:rPr lang="en-US" sz="4400"/>
              <a:t> transport protocols services</a:t>
            </a:r>
            <a:endParaRPr sz="4400"/>
          </a:p>
        </p:txBody>
      </p:sp>
      <p:sp>
        <p:nvSpPr>
          <p:cNvPr id="1763" name="Google Shape;1763;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764" name="Google Shape;1764;p19"/>
          <p:cNvSpPr txBox="1"/>
          <p:nvPr/>
        </p:nvSpPr>
        <p:spPr>
          <a:xfrm>
            <a:off x="114330" y="1536174"/>
            <a:ext cx="3479735" cy="424821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2800"/>
              <a:buFont typeface="Calibri"/>
              <a:buNone/>
            </a:pPr>
            <a:r>
              <a:rPr b="1" lang="en-US" sz="2800">
                <a:solidFill>
                  <a:schemeClr val="dk1"/>
                </a:solidFill>
                <a:latin typeface="Calibri"/>
                <a:ea typeface="Calibri"/>
                <a:cs typeface="Calibri"/>
                <a:sym typeface="Calibri"/>
              </a:rPr>
              <a:t>application</a:t>
            </a:r>
            <a:endParaRPr sz="2800">
              <a:solidFill>
                <a:schemeClr val="dk1"/>
              </a:solidFill>
              <a:latin typeface="Calibri"/>
              <a:ea typeface="Calibri"/>
              <a:cs typeface="Calibri"/>
              <a:sym typeface="Calibri"/>
            </a:endParaRPr>
          </a:p>
          <a:p>
            <a:pPr indent="0" lvl="0" marL="0" marR="0" rtl="0" algn="r">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file transfer/download</a:t>
            </a:r>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e-mail</a:t>
            </a:r>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Web documents</a:t>
            </a:r>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Internet telephony</a:t>
            </a:r>
            <a:endParaRPr/>
          </a:p>
          <a:p>
            <a:pPr indent="0" lvl="0" marL="0" marR="0" rtl="0" algn="r">
              <a:lnSpc>
                <a:spcPct val="110000"/>
              </a:lnSpc>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streaming audio/video</a:t>
            </a:r>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interactive games</a:t>
            </a:r>
            <a:endParaRPr/>
          </a:p>
        </p:txBody>
      </p:sp>
      <p:cxnSp>
        <p:nvCxnSpPr>
          <p:cNvPr id="1765" name="Google Shape;1765;p19"/>
          <p:cNvCxnSpPr/>
          <p:nvPr/>
        </p:nvCxnSpPr>
        <p:spPr>
          <a:xfrm>
            <a:off x="1931843" y="2115070"/>
            <a:ext cx="9382448" cy="0"/>
          </a:xfrm>
          <a:prstGeom prst="straightConnector1">
            <a:avLst/>
          </a:prstGeom>
          <a:noFill/>
          <a:ln cap="flat" cmpd="sng" w="31750">
            <a:solidFill>
              <a:srgbClr val="0000A8"/>
            </a:solidFill>
            <a:prstDash val="solid"/>
            <a:miter lim="800000"/>
            <a:headEnd len="sm" w="sm" type="none"/>
            <a:tailEnd len="sm" w="sm" type="none"/>
          </a:ln>
        </p:spPr>
      </p:cxnSp>
      <p:cxnSp>
        <p:nvCxnSpPr>
          <p:cNvPr id="1766" name="Google Shape;1766;p19"/>
          <p:cNvCxnSpPr/>
          <p:nvPr/>
        </p:nvCxnSpPr>
        <p:spPr>
          <a:xfrm>
            <a:off x="1939865" y="2900516"/>
            <a:ext cx="9382448" cy="0"/>
          </a:xfrm>
          <a:prstGeom prst="straightConnector1">
            <a:avLst/>
          </a:prstGeom>
          <a:noFill/>
          <a:ln cap="flat" cmpd="sng" w="15875">
            <a:solidFill>
              <a:srgbClr val="BFBFBF"/>
            </a:solidFill>
            <a:prstDash val="solid"/>
            <a:miter lim="800000"/>
            <a:headEnd len="sm" w="sm" type="none"/>
            <a:tailEnd len="sm" w="sm" type="none"/>
          </a:ln>
        </p:spPr>
      </p:cxnSp>
      <p:cxnSp>
        <p:nvCxnSpPr>
          <p:cNvPr id="1767" name="Google Shape;1767;p19"/>
          <p:cNvCxnSpPr/>
          <p:nvPr/>
        </p:nvCxnSpPr>
        <p:spPr>
          <a:xfrm>
            <a:off x="1939865" y="3426882"/>
            <a:ext cx="9382448" cy="0"/>
          </a:xfrm>
          <a:prstGeom prst="straightConnector1">
            <a:avLst/>
          </a:prstGeom>
          <a:noFill/>
          <a:ln cap="flat" cmpd="sng" w="15875">
            <a:solidFill>
              <a:srgbClr val="BFBFBF"/>
            </a:solidFill>
            <a:prstDash val="solid"/>
            <a:miter lim="800000"/>
            <a:headEnd len="sm" w="sm" type="none"/>
            <a:tailEnd len="sm" w="sm" type="none"/>
          </a:ln>
        </p:spPr>
      </p:cxnSp>
      <p:cxnSp>
        <p:nvCxnSpPr>
          <p:cNvPr id="1768" name="Google Shape;1768;p19"/>
          <p:cNvCxnSpPr/>
          <p:nvPr/>
        </p:nvCxnSpPr>
        <p:spPr>
          <a:xfrm>
            <a:off x="1939865" y="3871968"/>
            <a:ext cx="9382448" cy="0"/>
          </a:xfrm>
          <a:prstGeom prst="straightConnector1">
            <a:avLst/>
          </a:prstGeom>
          <a:noFill/>
          <a:ln cap="flat" cmpd="sng" w="15875">
            <a:solidFill>
              <a:srgbClr val="BFBFBF"/>
            </a:solidFill>
            <a:prstDash val="solid"/>
            <a:miter lim="800000"/>
            <a:headEnd len="sm" w="sm" type="none"/>
            <a:tailEnd len="sm" w="sm" type="none"/>
          </a:ln>
        </p:spPr>
      </p:cxnSp>
      <p:cxnSp>
        <p:nvCxnSpPr>
          <p:cNvPr id="1769" name="Google Shape;1769;p19"/>
          <p:cNvCxnSpPr/>
          <p:nvPr/>
        </p:nvCxnSpPr>
        <p:spPr>
          <a:xfrm>
            <a:off x="1943100" y="4810618"/>
            <a:ext cx="9382448" cy="0"/>
          </a:xfrm>
          <a:prstGeom prst="straightConnector1">
            <a:avLst/>
          </a:prstGeom>
          <a:noFill/>
          <a:ln cap="flat" cmpd="sng" w="15875">
            <a:solidFill>
              <a:srgbClr val="BFBFBF"/>
            </a:solidFill>
            <a:prstDash val="solid"/>
            <a:miter lim="800000"/>
            <a:headEnd len="sm" w="sm" type="none"/>
            <a:tailEnd len="sm" w="sm" type="none"/>
          </a:ln>
        </p:spPr>
      </p:cxnSp>
      <p:cxnSp>
        <p:nvCxnSpPr>
          <p:cNvPr id="1770" name="Google Shape;1770;p19"/>
          <p:cNvCxnSpPr/>
          <p:nvPr/>
        </p:nvCxnSpPr>
        <p:spPr>
          <a:xfrm>
            <a:off x="1943876" y="5263991"/>
            <a:ext cx="9382448" cy="0"/>
          </a:xfrm>
          <a:prstGeom prst="straightConnector1">
            <a:avLst/>
          </a:prstGeom>
          <a:noFill/>
          <a:ln cap="flat" cmpd="sng" w="15875">
            <a:solidFill>
              <a:srgbClr val="BFBFBF"/>
            </a:solidFill>
            <a:prstDash val="solid"/>
            <a:miter lim="800000"/>
            <a:headEnd len="sm" w="sm" type="none"/>
            <a:tailEnd len="sm" w="sm" type="none"/>
          </a:ln>
        </p:spPr>
      </p:cxnSp>
      <p:cxnSp>
        <p:nvCxnSpPr>
          <p:cNvPr id="1771" name="Google Shape;1771;p19"/>
          <p:cNvCxnSpPr/>
          <p:nvPr/>
        </p:nvCxnSpPr>
        <p:spPr>
          <a:xfrm>
            <a:off x="1943876" y="5745521"/>
            <a:ext cx="9382448" cy="0"/>
          </a:xfrm>
          <a:prstGeom prst="straightConnector1">
            <a:avLst/>
          </a:prstGeom>
          <a:noFill/>
          <a:ln cap="flat" cmpd="sng" w="15875">
            <a:solidFill>
              <a:srgbClr val="BFBFBF"/>
            </a:solidFill>
            <a:prstDash val="solid"/>
            <a:miter lim="800000"/>
            <a:headEnd len="sm" w="sm" type="none"/>
            <a:tailEnd len="sm" w="sm" type="none"/>
          </a:ln>
        </p:spPr>
      </p:cxnSp>
      <p:sp>
        <p:nvSpPr>
          <p:cNvPr id="1772" name="Google Shape;1772;p19"/>
          <p:cNvSpPr txBox="1"/>
          <p:nvPr/>
        </p:nvSpPr>
        <p:spPr>
          <a:xfrm>
            <a:off x="4375021" y="1113609"/>
            <a:ext cx="4019427" cy="51530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Calibri"/>
              <a:buNone/>
            </a:pPr>
            <a:r>
              <a:rPr b="1" lang="en-US" sz="2800">
                <a:solidFill>
                  <a:schemeClr val="dk1"/>
                </a:solidFill>
                <a:latin typeface="Calibri"/>
                <a:ea typeface="Calibri"/>
                <a:cs typeface="Calibri"/>
                <a:sym typeface="Calibri"/>
              </a:rPr>
              <a:t>application</a:t>
            </a:r>
            <a:endParaRPr/>
          </a:p>
          <a:p>
            <a:pPr indent="0" lvl="0" marL="0" marR="0" rtl="0" algn="l">
              <a:spcBef>
                <a:spcPts val="0"/>
              </a:spcBef>
              <a:spcAft>
                <a:spcPts val="0"/>
              </a:spcAft>
              <a:buClr>
                <a:schemeClr val="dk1"/>
              </a:buClr>
              <a:buSzPts val="2800"/>
              <a:buFont typeface="Calibri"/>
              <a:buNone/>
            </a:pPr>
            <a:r>
              <a:rPr b="1" lang="en-US" sz="2800">
                <a:solidFill>
                  <a:schemeClr val="dk1"/>
                </a:solidFill>
                <a:latin typeface="Calibri"/>
                <a:ea typeface="Calibri"/>
                <a:cs typeface="Calibri"/>
                <a:sym typeface="Calibri"/>
              </a:rPr>
              <a:t>layer protocol</a:t>
            </a:r>
            <a:endParaRPr sz="2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FTP [RFC 959]</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SMTP [RFC 5321]</a:t>
            </a:r>
            <a:endParaRPr/>
          </a:p>
          <a:p>
            <a:pPr indent="0" lvl="0" marL="0" marR="0" rtl="0" algn="l">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HTTP 1.1 [RFC 7320]</a:t>
            </a:r>
            <a:endParaRPr/>
          </a:p>
          <a:p>
            <a:pPr indent="0" lvl="0" marL="0" marR="0" rtl="0" algn="l">
              <a:lnSpc>
                <a:spcPct val="110000"/>
              </a:lnSpc>
              <a:spcBef>
                <a:spcPts val="0"/>
              </a:spcBef>
              <a:spcAft>
                <a:spcPts val="0"/>
              </a:spcAft>
              <a:buNone/>
            </a:pPr>
            <a:r>
              <a:rPr lang="en-US" sz="2800">
                <a:solidFill>
                  <a:schemeClr val="dk1"/>
                </a:solidFill>
                <a:latin typeface="Calibri"/>
                <a:ea typeface="Calibri"/>
                <a:cs typeface="Calibri"/>
                <a:sym typeface="Calibri"/>
              </a:rPr>
              <a:t>SIP [RFC 3261], RTP [RFC 3550], or proprietary HTTP [RFC 7320], DASH</a:t>
            </a:r>
            <a:endParaRPr/>
          </a:p>
          <a:p>
            <a:pPr indent="0" lvl="0" marL="0" marR="0" rtl="0" algn="l">
              <a:lnSpc>
                <a:spcPct val="110000"/>
              </a:lnSpc>
              <a:spcBef>
                <a:spcPts val="0"/>
              </a:spcBef>
              <a:spcAft>
                <a:spcPts val="0"/>
              </a:spcAft>
              <a:buNone/>
            </a:pPr>
            <a:r>
              <a:rPr lang="en-US" sz="2800">
                <a:solidFill>
                  <a:schemeClr val="dk1"/>
                </a:solidFill>
                <a:latin typeface="Calibri"/>
                <a:ea typeface="Calibri"/>
                <a:cs typeface="Calibri"/>
                <a:sym typeface="Calibri"/>
              </a:rPr>
              <a:t>WOW, FPS (proprietary) </a:t>
            </a:r>
            <a:br>
              <a:rPr lang="en-US" sz="2800">
                <a:solidFill>
                  <a:schemeClr val="dk1"/>
                </a:solidFill>
                <a:latin typeface="Calibri"/>
                <a:ea typeface="Calibri"/>
                <a:cs typeface="Calibri"/>
                <a:sym typeface="Calibri"/>
              </a:rPr>
            </a:br>
            <a:endParaRPr sz="2800">
              <a:solidFill>
                <a:schemeClr val="dk1"/>
              </a:solidFill>
              <a:latin typeface="Calibri"/>
              <a:ea typeface="Calibri"/>
              <a:cs typeface="Calibri"/>
              <a:sym typeface="Calibri"/>
            </a:endParaRPr>
          </a:p>
        </p:txBody>
      </p:sp>
      <p:sp>
        <p:nvSpPr>
          <p:cNvPr id="1773" name="Google Shape;1773;p19"/>
          <p:cNvSpPr txBox="1"/>
          <p:nvPr/>
        </p:nvSpPr>
        <p:spPr>
          <a:xfrm>
            <a:off x="8407541" y="1566040"/>
            <a:ext cx="2914772" cy="424821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2800"/>
              <a:buFont typeface="Calibri"/>
              <a:buNone/>
            </a:pPr>
            <a:r>
              <a:rPr b="1" lang="en-US" sz="2800">
                <a:solidFill>
                  <a:schemeClr val="dk1"/>
                </a:solidFill>
                <a:latin typeface="Calibri"/>
                <a:ea typeface="Calibri"/>
                <a:cs typeface="Calibri"/>
                <a:sym typeface="Calibri"/>
              </a:rPr>
              <a:t>transport protocol</a:t>
            </a:r>
            <a:endParaRPr sz="2800">
              <a:solidFill>
                <a:schemeClr val="dk1"/>
              </a:solidFill>
              <a:latin typeface="Calibri"/>
              <a:ea typeface="Calibri"/>
              <a:cs typeface="Calibri"/>
              <a:sym typeface="Calibri"/>
            </a:endParaRPr>
          </a:p>
          <a:p>
            <a:pPr indent="0" lvl="0" marL="0" marR="0" rtl="0" algn="r">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TCP</a:t>
            </a:r>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TCP</a:t>
            </a:r>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TCP</a:t>
            </a:r>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TCP or UDP</a:t>
            </a:r>
            <a:endParaRPr/>
          </a:p>
          <a:p>
            <a:pPr indent="0" lvl="0" marL="0" marR="0" rtl="0" algn="r">
              <a:lnSpc>
                <a:spcPct val="110000"/>
              </a:lnSpc>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TCP</a:t>
            </a:r>
            <a:endParaRPr/>
          </a:p>
          <a:p>
            <a:pPr indent="0" lvl="0" marL="0" marR="0" rtl="0" algn="r">
              <a:lnSpc>
                <a:spcPct val="11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UDP or TCP</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8" name="Shape 1778"/>
        <p:cNvGrpSpPr/>
        <p:nvPr/>
      </p:nvGrpSpPr>
      <p:grpSpPr>
        <a:xfrm>
          <a:off x="0" y="0"/>
          <a:ext cx="0" cy="0"/>
          <a:chOff x="0" y="0"/>
          <a:chExt cx="0" cy="0"/>
        </a:xfrm>
      </p:grpSpPr>
      <p:sp>
        <p:nvSpPr>
          <p:cNvPr id="1779" name="Google Shape;1779;p2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8"/>
              </a:buClr>
              <a:buSzPts val="4400"/>
              <a:buFont typeface="Calibri"/>
              <a:buNone/>
            </a:pPr>
            <a:r>
              <a:rPr lang="en-US" sz="4400">
                <a:solidFill>
                  <a:srgbClr val="0000A8"/>
                </a:solidFill>
              </a:rPr>
              <a:t>Securing TCP</a:t>
            </a:r>
            <a:endParaRPr sz="4400">
              <a:solidFill>
                <a:srgbClr val="0000A8"/>
              </a:solidFill>
            </a:endParaRPr>
          </a:p>
        </p:txBody>
      </p:sp>
      <p:sp>
        <p:nvSpPr>
          <p:cNvPr id="1780" name="Google Shape;1780;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781" name="Google Shape;1781;p20"/>
          <p:cNvSpPr txBox="1"/>
          <p:nvPr/>
        </p:nvSpPr>
        <p:spPr>
          <a:xfrm>
            <a:off x="753320" y="1383910"/>
            <a:ext cx="5957195" cy="4953000"/>
          </a:xfrm>
          <a:prstGeom prst="rect">
            <a:avLst/>
          </a:prstGeom>
          <a:noFill/>
          <a:ln>
            <a:noFill/>
          </a:ln>
        </p:spPr>
        <p:txBody>
          <a:bodyPr anchorCtr="0" anchor="t" bIns="45700" lIns="91425" spcFirstLastPara="1" rIns="91425" wrap="square" tIns="45700">
            <a:noAutofit/>
          </a:bodyPr>
          <a:lstStyle/>
          <a:p>
            <a:pPr indent="-330200" lvl="0" marL="352425" marR="0" rtl="0" algn="l">
              <a:lnSpc>
                <a:spcPct val="90000"/>
              </a:lnSpc>
              <a:spcBef>
                <a:spcPts val="0"/>
              </a:spcBef>
              <a:spcAft>
                <a:spcPts val="0"/>
              </a:spcAft>
              <a:buClr>
                <a:srgbClr val="0000A3"/>
              </a:buClr>
              <a:buSzPts val="3200"/>
              <a:buFont typeface="Noto Sans Symbols"/>
              <a:buNone/>
            </a:pPr>
            <a:r>
              <a:rPr lang="en-US" sz="3200">
                <a:solidFill>
                  <a:srgbClr val="C00000"/>
                </a:solidFill>
                <a:latin typeface="Calibri"/>
                <a:ea typeface="Calibri"/>
                <a:cs typeface="Calibri"/>
                <a:sym typeface="Calibri"/>
              </a:rPr>
              <a:t>TCP &amp; UDP sockets:</a:t>
            </a:r>
            <a:endParaRPr/>
          </a:p>
          <a:p>
            <a:pPr indent="-219075" lvl="0" marL="349250" marR="0" rtl="0" algn="l">
              <a:lnSpc>
                <a:spcPct val="90000"/>
              </a:lnSpc>
              <a:spcBef>
                <a:spcPts val="400"/>
              </a:spcBef>
              <a:spcAft>
                <a:spcPts val="0"/>
              </a:spcAft>
              <a:buClr>
                <a:srgbClr val="0000A8"/>
              </a:buClr>
              <a:buSzPts val="2800"/>
              <a:buFont typeface="Noto Sans Symbols"/>
              <a:buChar char="▪"/>
            </a:pPr>
            <a:r>
              <a:rPr lang="en-US" sz="2800">
                <a:solidFill>
                  <a:schemeClr val="dk1"/>
                </a:solidFill>
                <a:latin typeface="Calibri"/>
                <a:ea typeface="Calibri"/>
                <a:cs typeface="Calibri"/>
                <a:sym typeface="Calibri"/>
              </a:rPr>
              <a:t>no encryption</a:t>
            </a:r>
            <a:endParaRPr/>
          </a:p>
          <a:p>
            <a:pPr indent="-219075" lvl="0" marL="349250" marR="0" rtl="0" algn="l">
              <a:lnSpc>
                <a:spcPct val="90000"/>
              </a:lnSpc>
              <a:spcBef>
                <a:spcPts val="400"/>
              </a:spcBef>
              <a:spcAft>
                <a:spcPts val="0"/>
              </a:spcAft>
              <a:buClr>
                <a:srgbClr val="0000A8"/>
              </a:buClr>
              <a:buSzPts val="2800"/>
              <a:buFont typeface="Noto Sans Symbols"/>
              <a:buChar char="▪"/>
            </a:pPr>
            <a:r>
              <a:rPr lang="en-US" sz="2800">
                <a:solidFill>
                  <a:schemeClr val="dk1"/>
                </a:solidFill>
                <a:latin typeface="Calibri"/>
                <a:ea typeface="Calibri"/>
                <a:cs typeface="Calibri"/>
                <a:sym typeface="Calibri"/>
              </a:rPr>
              <a:t>cleartext passwords sent into socket traverse Internet  in cleartext (!)</a:t>
            </a:r>
            <a:endParaRPr/>
          </a:p>
          <a:p>
            <a:pPr indent="0" lvl="0" marL="0" marR="0" rtl="0" algn="l">
              <a:lnSpc>
                <a:spcPct val="90000"/>
              </a:lnSpc>
              <a:spcBef>
                <a:spcPts val="1000"/>
              </a:spcBef>
              <a:spcAft>
                <a:spcPts val="0"/>
              </a:spcAft>
              <a:buClr>
                <a:srgbClr val="0000A3"/>
              </a:buClr>
              <a:buSzPts val="3200"/>
              <a:buFont typeface="Noto Sans Symbols"/>
              <a:buNone/>
            </a:pPr>
            <a:r>
              <a:rPr lang="en-US" sz="3200">
                <a:solidFill>
                  <a:srgbClr val="C00000"/>
                </a:solidFill>
                <a:latin typeface="Calibri"/>
                <a:ea typeface="Calibri"/>
                <a:cs typeface="Calibri"/>
                <a:sym typeface="Calibri"/>
              </a:rPr>
              <a:t>Transport Layer Security </a:t>
            </a:r>
            <a:r>
              <a:rPr lang="en-US" sz="3200">
                <a:solidFill>
                  <a:srgbClr val="0000A3"/>
                </a:solidFill>
                <a:latin typeface="Calibri"/>
                <a:ea typeface="Calibri"/>
                <a:cs typeface="Calibri"/>
                <a:sym typeface="Calibri"/>
              </a:rPr>
              <a:t>(TLS/SSL) </a:t>
            </a:r>
            <a:endParaRPr/>
          </a:p>
          <a:p>
            <a:pPr indent="-219075" lvl="0" marL="349250"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provides encrypted TCP connections</a:t>
            </a:r>
            <a:endParaRPr/>
          </a:p>
          <a:p>
            <a:pPr indent="-219075" lvl="0" marL="349250"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data integrity</a:t>
            </a:r>
            <a:endParaRPr/>
          </a:p>
          <a:p>
            <a:pPr indent="-219075" lvl="0" marL="349250"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end-point authenticatio</a:t>
            </a:r>
            <a:r>
              <a:rPr lang="en-US" sz="3200">
                <a:solidFill>
                  <a:schemeClr val="dk1"/>
                </a:solidFill>
                <a:latin typeface="Calibri"/>
                <a:ea typeface="Calibri"/>
                <a:cs typeface="Calibri"/>
                <a:sym typeface="Calibri"/>
              </a:rPr>
              <a:t>n</a:t>
            </a:r>
            <a:endParaRPr sz="2800">
              <a:solidFill>
                <a:schemeClr val="dk1"/>
              </a:solidFill>
              <a:latin typeface="Calibri"/>
              <a:ea typeface="Calibri"/>
              <a:cs typeface="Calibri"/>
              <a:sym typeface="Calibri"/>
            </a:endParaRPr>
          </a:p>
        </p:txBody>
      </p:sp>
      <p:sp>
        <p:nvSpPr>
          <p:cNvPr id="1782" name="Google Shape;1782;p20"/>
          <p:cNvSpPr txBox="1"/>
          <p:nvPr/>
        </p:nvSpPr>
        <p:spPr>
          <a:xfrm>
            <a:off x="7115815" y="1395634"/>
            <a:ext cx="4514589" cy="4648200"/>
          </a:xfrm>
          <a:prstGeom prst="rect">
            <a:avLst/>
          </a:prstGeom>
          <a:noFill/>
          <a:ln>
            <a:noFill/>
          </a:ln>
        </p:spPr>
        <p:txBody>
          <a:bodyPr anchorCtr="0" anchor="t" bIns="45700" lIns="91425" spcFirstLastPara="1" rIns="91425" wrap="square" tIns="45700">
            <a:noAutofit/>
          </a:bodyPr>
          <a:lstStyle/>
          <a:p>
            <a:pPr indent="0" lvl="0" marL="22225" marR="0" rtl="0" algn="l">
              <a:lnSpc>
                <a:spcPct val="90000"/>
              </a:lnSpc>
              <a:spcBef>
                <a:spcPts val="0"/>
              </a:spcBef>
              <a:spcAft>
                <a:spcPts val="0"/>
              </a:spcAft>
              <a:buClr>
                <a:srgbClr val="0000A3"/>
              </a:buClr>
              <a:buSzPts val="3200"/>
              <a:buFont typeface="Noto Sans Symbols"/>
              <a:buNone/>
            </a:pPr>
            <a:r>
              <a:rPr lang="en-US" sz="3200">
                <a:solidFill>
                  <a:srgbClr val="22228B"/>
                </a:solidFill>
                <a:latin typeface="Calibri"/>
                <a:ea typeface="Calibri"/>
                <a:cs typeface="Calibri"/>
                <a:sym typeface="Calibri"/>
              </a:rPr>
              <a:t>TLS/SSL implemented in application layer</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apps use TLS/SSL libraries, that use TCP in turn</a:t>
            </a:r>
            <a:endParaRPr/>
          </a:p>
          <a:p>
            <a:pPr indent="0" lvl="0" marL="22225" marR="0" rtl="0" algn="l">
              <a:lnSpc>
                <a:spcPct val="90000"/>
              </a:lnSpc>
              <a:spcBef>
                <a:spcPts val="1000"/>
              </a:spcBef>
              <a:spcAft>
                <a:spcPts val="0"/>
              </a:spcAft>
              <a:buClr>
                <a:srgbClr val="0000A3"/>
              </a:buClr>
              <a:buSzPts val="3200"/>
              <a:buFont typeface="Noto Sans Symbols"/>
              <a:buNone/>
            </a:pPr>
            <a:r>
              <a:rPr lang="en-US" sz="3200">
                <a:solidFill>
                  <a:srgbClr val="22228B"/>
                </a:solidFill>
                <a:latin typeface="Calibri"/>
                <a:ea typeface="Calibri"/>
                <a:cs typeface="Calibri"/>
                <a:sym typeface="Calibri"/>
              </a:rPr>
              <a:t>TLS/SSL socket API</a:t>
            </a:r>
            <a:endParaRPr/>
          </a:p>
          <a:p>
            <a:pPr indent="-233363" lvl="1" marL="233363"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cleartext sent into socket  traverse Internet  </a:t>
            </a:r>
            <a:r>
              <a:rPr b="0" i="1" lang="en-US" sz="2800" u="none" cap="none" strike="noStrike">
                <a:solidFill>
                  <a:schemeClr val="dk1"/>
                </a:solidFill>
                <a:latin typeface="Calibri"/>
                <a:ea typeface="Calibri"/>
                <a:cs typeface="Calibri"/>
                <a:sym typeface="Calibri"/>
              </a:rPr>
              <a:t>encrypted</a:t>
            </a:r>
            <a:r>
              <a:rPr b="0" i="0" lang="en-US" sz="2800" u="none" cap="none" strike="noStrike">
                <a:solidFill>
                  <a:schemeClr val="dk1"/>
                </a:solidFill>
                <a:latin typeface="Calibri"/>
                <a:ea typeface="Calibri"/>
                <a:cs typeface="Calibri"/>
                <a:sym typeface="Calibri"/>
              </a:rPr>
              <a:t> </a:t>
            </a:r>
            <a:endParaRPr/>
          </a:p>
          <a:p>
            <a:pPr indent="-233363" lvl="1" marL="233363"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see Chapter 8</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7" name="Shape 1787"/>
        <p:cNvGrpSpPr/>
        <p:nvPr/>
      </p:nvGrpSpPr>
      <p:grpSpPr>
        <a:xfrm>
          <a:off x="0" y="0"/>
          <a:ext cx="0" cy="0"/>
          <a:chOff x="0" y="0"/>
          <a:chExt cx="0" cy="0"/>
        </a:xfrm>
      </p:grpSpPr>
      <p:sp>
        <p:nvSpPr>
          <p:cNvPr id="1788" name="Google Shape;1788;p2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Application layer: overview</a:t>
            </a:r>
            <a:endParaRPr/>
          </a:p>
        </p:txBody>
      </p:sp>
      <p:sp>
        <p:nvSpPr>
          <p:cNvPr id="1789" name="Google Shape;1789;p21"/>
          <p:cNvSpPr txBox="1"/>
          <p:nvPr/>
        </p:nvSpPr>
        <p:spPr>
          <a:xfrm>
            <a:off x="809242" y="1870563"/>
            <a:ext cx="5309184" cy="4351338"/>
          </a:xfrm>
          <a:prstGeom prst="rect">
            <a:avLst/>
          </a:prstGeom>
          <a:noFill/>
          <a:ln>
            <a:noFill/>
          </a:ln>
        </p:spPr>
        <p:txBody>
          <a:bodyPr anchorCtr="0" anchor="t" bIns="45700" lIns="91425" spcFirstLastPara="1" rIns="91425" wrap="square" tIns="45700">
            <a:noAutofit/>
          </a:bodyPr>
          <a:lstStyle/>
          <a:p>
            <a:pPr indent="-401638" lvl="0" marL="401638" marR="0" rtl="0" algn="l">
              <a:lnSpc>
                <a:spcPct val="90000"/>
              </a:lnSpc>
              <a:spcBef>
                <a:spcPts val="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Principles of network applications</a:t>
            </a:r>
            <a:endParaRPr/>
          </a:p>
          <a:p>
            <a:pPr indent="-401638" lvl="0" marL="401638"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Web and HTTP</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E-mail, SMTP, IMAP</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The Domain Name System DNS</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
        <p:nvSpPr>
          <p:cNvPr id="1790" name="Google Shape;1790;p21"/>
          <p:cNvSpPr txBox="1"/>
          <p:nvPr/>
        </p:nvSpPr>
        <p:spPr>
          <a:xfrm>
            <a:off x="6557554" y="1422888"/>
            <a:ext cx="5405262" cy="4799013"/>
          </a:xfrm>
          <a:prstGeom prst="rect">
            <a:avLst/>
          </a:prstGeom>
          <a:noFill/>
          <a:ln>
            <a:noFill/>
          </a:ln>
        </p:spPr>
        <p:txBody>
          <a:bodyPr anchorCtr="0" anchor="t" bIns="45700" lIns="91425" spcFirstLastPara="1" rIns="91425" wrap="square" tIns="45700">
            <a:normAutofit/>
          </a:bodyPr>
          <a:lstStyle/>
          <a:p>
            <a:pPr indent="-349250" lvl="0" marL="349250" marR="0" rtl="0" algn="l">
              <a:lnSpc>
                <a:spcPct val="90000"/>
              </a:lnSpc>
              <a:spcBef>
                <a:spcPts val="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P2P applications</a:t>
            </a:r>
            <a:endParaRPr/>
          </a:p>
          <a:p>
            <a:pPr indent="-349250" lvl="0" marL="349250"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video streaming and content distribution networks</a:t>
            </a:r>
            <a:endParaRPr/>
          </a:p>
          <a:p>
            <a:pPr indent="-349250" lvl="0" marL="349250"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socket programming with UDP and TCP</a:t>
            </a:r>
            <a:endParaRPr/>
          </a:p>
          <a:p>
            <a:pPr indent="-222250" lvl="0" marL="352425" marR="0" rtl="0" algn="l">
              <a:lnSpc>
                <a:spcPct val="90000"/>
              </a:lnSpc>
              <a:spcBef>
                <a:spcPts val="1000"/>
              </a:spcBef>
              <a:spcAft>
                <a:spcPts val="0"/>
              </a:spcAft>
              <a:buClr>
                <a:srgbClr val="0000A3"/>
              </a:buClr>
              <a:buSzPts val="2400"/>
              <a:buFont typeface="Noto Sans Symbols"/>
              <a:buNone/>
            </a:pPr>
            <a:r>
              <a:t/>
            </a:r>
            <a:endParaRPr sz="2400">
              <a:solidFill>
                <a:schemeClr val="dk1"/>
              </a:solidFill>
              <a:latin typeface="Calibri"/>
              <a:ea typeface="Calibri"/>
              <a:cs typeface="Calibri"/>
              <a:sym typeface="Calibri"/>
            </a:endParaRPr>
          </a:p>
        </p:txBody>
      </p:sp>
      <p:sp>
        <p:nvSpPr>
          <p:cNvPr id="1791" name="Google Shape;1791;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pic>
        <p:nvPicPr>
          <p:cNvPr descr="Kurose&amp;Ross 8th edition photo" id="1792" name="Google Shape;1792;p21"/>
          <p:cNvPicPr preferRelativeResize="0"/>
          <p:nvPr/>
        </p:nvPicPr>
        <p:blipFill rotWithShape="1">
          <a:blip r:embed="rId3">
            <a:alphaModFix/>
          </a:blip>
          <a:srcRect b="0" l="0" r="0" t="0"/>
          <a:stretch/>
        </p:blipFill>
        <p:spPr>
          <a:xfrm>
            <a:off x="6957391" y="4125913"/>
            <a:ext cx="3087757" cy="231581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7" name="Shape 1797"/>
        <p:cNvGrpSpPr/>
        <p:nvPr/>
      </p:nvGrpSpPr>
      <p:grpSpPr>
        <a:xfrm>
          <a:off x="0" y="0"/>
          <a:ext cx="0" cy="0"/>
          <a:chOff x="0" y="0"/>
          <a:chExt cx="0" cy="0"/>
        </a:xfrm>
      </p:grpSpPr>
      <p:sp>
        <p:nvSpPr>
          <p:cNvPr id="1798" name="Google Shape;1798;p22"/>
          <p:cNvSpPr txBox="1"/>
          <p:nvPr>
            <p:ph type="title"/>
          </p:nvPr>
        </p:nvSpPr>
        <p:spPr>
          <a:xfrm>
            <a:off x="798691" y="43000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Web and HTTP</a:t>
            </a:r>
            <a:endParaRPr sz="4400"/>
          </a:p>
        </p:txBody>
      </p:sp>
      <p:sp>
        <p:nvSpPr>
          <p:cNvPr id="1799" name="Google Shape;1799;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800" name="Google Shape;1800;p22"/>
          <p:cNvSpPr txBox="1"/>
          <p:nvPr/>
        </p:nvSpPr>
        <p:spPr>
          <a:xfrm>
            <a:off x="669395" y="1559756"/>
            <a:ext cx="10774192"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chemeClr val="dk1"/>
                </a:solidFill>
                <a:latin typeface="Calibri"/>
                <a:ea typeface="Calibri"/>
                <a:cs typeface="Calibri"/>
                <a:sym typeface="Calibri"/>
              </a:rPr>
              <a:t>First, a quick review…</a:t>
            </a:r>
            <a:endParaRPr/>
          </a:p>
          <a:p>
            <a:pPr indent="-330200" lvl="0" marL="46037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web page consists of </a:t>
            </a:r>
            <a:r>
              <a:rPr i="1" lang="en-US" sz="3200">
                <a:solidFill>
                  <a:srgbClr val="C00000"/>
                </a:solidFill>
                <a:latin typeface="Calibri"/>
                <a:ea typeface="Calibri"/>
                <a:cs typeface="Calibri"/>
                <a:sym typeface="Calibri"/>
              </a:rPr>
              <a:t>objects, </a:t>
            </a:r>
            <a:r>
              <a:rPr lang="en-US" sz="3200">
                <a:solidFill>
                  <a:schemeClr val="dk1"/>
                </a:solidFill>
                <a:latin typeface="Calibri"/>
                <a:ea typeface="Calibri"/>
                <a:cs typeface="Calibri"/>
                <a:sym typeface="Calibri"/>
              </a:rPr>
              <a:t>each of</a:t>
            </a:r>
            <a:r>
              <a:rPr i="1" lang="en-US" sz="3200">
                <a:solidFill>
                  <a:srgbClr val="C00000"/>
                </a:solidFill>
                <a:latin typeface="Calibri"/>
                <a:ea typeface="Calibri"/>
                <a:cs typeface="Calibri"/>
                <a:sym typeface="Calibri"/>
              </a:rPr>
              <a:t> </a:t>
            </a:r>
            <a:r>
              <a:rPr lang="en-US" sz="3200">
                <a:solidFill>
                  <a:schemeClr val="dk1"/>
                </a:solidFill>
                <a:latin typeface="Calibri"/>
                <a:ea typeface="Calibri"/>
                <a:cs typeface="Calibri"/>
                <a:sym typeface="Calibri"/>
              </a:rPr>
              <a:t>which can be stored on different Web servers</a:t>
            </a:r>
            <a:endParaRPr/>
          </a:p>
          <a:p>
            <a:pPr indent="-330200" lvl="0" marL="46037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object can be HTML file, JPEG image, Java applet, audio file,…</a:t>
            </a:r>
            <a:endParaRPr/>
          </a:p>
          <a:p>
            <a:pPr indent="-330200" lvl="0" marL="46037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web page consists of </a:t>
            </a:r>
            <a:r>
              <a:rPr i="1" lang="en-US" sz="3200">
                <a:solidFill>
                  <a:srgbClr val="CC0000"/>
                </a:solidFill>
                <a:latin typeface="Calibri"/>
                <a:ea typeface="Calibri"/>
                <a:cs typeface="Calibri"/>
                <a:sym typeface="Calibri"/>
              </a:rPr>
              <a:t>base HTML-file</a:t>
            </a:r>
            <a:r>
              <a:rPr lang="en-US" sz="3200">
                <a:solidFill>
                  <a:schemeClr val="dk1"/>
                </a:solidFill>
                <a:latin typeface="Calibri"/>
                <a:ea typeface="Calibri"/>
                <a:cs typeface="Calibri"/>
                <a:sym typeface="Calibri"/>
              </a:rPr>
              <a:t> which includes </a:t>
            </a:r>
            <a:r>
              <a:rPr i="1" lang="en-US" sz="3200">
                <a:solidFill>
                  <a:srgbClr val="CC0000"/>
                </a:solidFill>
                <a:latin typeface="Calibri"/>
                <a:ea typeface="Calibri"/>
                <a:cs typeface="Calibri"/>
                <a:sym typeface="Calibri"/>
              </a:rPr>
              <a:t>several referenced objects, each </a:t>
            </a:r>
            <a:r>
              <a:rPr lang="en-US" sz="3200">
                <a:solidFill>
                  <a:schemeClr val="dk1"/>
                </a:solidFill>
                <a:latin typeface="Calibri"/>
                <a:ea typeface="Calibri"/>
                <a:cs typeface="Calibri"/>
                <a:sym typeface="Calibri"/>
              </a:rPr>
              <a:t>addressable by a </a:t>
            </a:r>
            <a:r>
              <a:rPr i="1" lang="en-US" sz="3200">
                <a:solidFill>
                  <a:srgbClr val="CC0000"/>
                </a:solidFill>
                <a:latin typeface="Calibri"/>
                <a:ea typeface="Calibri"/>
                <a:cs typeface="Calibri"/>
                <a:sym typeface="Calibri"/>
              </a:rPr>
              <a:t>URL, </a:t>
            </a:r>
            <a:r>
              <a:rPr lang="en-US" sz="3200">
                <a:solidFill>
                  <a:schemeClr val="dk1"/>
                </a:solidFill>
                <a:latin typeface="Calibri"/>
                <a:ea typeface="Calibri"/>
                <a:cs typeface="Calibri"/>
                <a:sym typeface="Calibri"/>
              </a:rPr>
              <a:t>e.g.,</a:t>
            </a:r>
            <a:endParaRPr/>
          </a:p>
          <a:p>
            <a:pPr indent="-2222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grpSp>
        <p:nvGrpSpPr>
          <p:cNvPr id="1801" name="Google Shape;1801;p22"/>
          <p:cNvGrpSpPr/>
          <p:nvPr/>
        </p:nvGrpSpPr>
        <p:grpSpPr>
          <a:xfrm>
            <a:off x="2463366" y="4853073"/>
            <a:ext cx="6835775" cy="1144588"/>
            <a:chOff x="788" y="2955"/>
            <a:chExt cx="4306" cy="721"/>
          </a:xfrm>
        </p:grpSpPr>
        <p:sp>
          <p:nvSpPr>
            <p:cNvPr id="1802" name="Google Shape;1802;p22"/>
            <p:cNvSpPr txBox="1"/>
            <p:nvPr/>
          </p:nvSpPr>
          <p:spPr>
            <a:xfrm>
              <a:off x="788" y="2955"/>
              <a:ext cx="4188"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Courier New"/>
                <a:buNone/>
              </a:pPr>
              <a:r>
                <a:rPr lang="en-US" sz="2400">
                  <a:solidFill>
                    <a:schemeClr val="dk1"/>
                  </a:solidFill>
                  <a:latin typeface="Courier New"/>
                  <a:ea typeface="Courier New"/>
                  <a:cs typeface="Courier New"/>
                  <a:sym typeface="Courier New"/>
                </a:rPr>
                <a:t>www.someschool.edu/someDept/pic.gif</a:t>
              </a:r>
              <a:endParaRPr sz="2400">
                <a:solidFill>
                  <a:schemeClr val="dk1"/>
                </a:solidFill>
                <a:latin typeface="Courier New"/>
                <a:ea typeface="Courier New"/>
                <a:cs typeface="Courier New"/>
                <a:sym typeface="Courier New"/>
              </a:endParaRPr>
            </a:p>
          </p:txBody>
        </p:sp>
        <p:sp>
          <p:nvSpPr>
            <p:cNvPr id="1803" name="Google Shape;1803;p22"/>
            <p:cNvSpPr/>
            <p:nvPr/>
          </p:nvSpPr>
          <p:spPr>
            <a:xfrm rot="-5400000">
              <a:off x="1821" y="2281"/>
              <a:ext cx="57" cy="2083"/>
            </a:xfrm>
            <a:prstGeom prst="leftBrace">
              <a:avLst>
                <a:gd fmla="val 304532"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22"/>
            <p:cNvSpPr txBox="1"/>
            <p:nvPr/>
          </p:nvSpPr>
          <p:spPr>
            <a:xfrm>
              <a:off x="838" y="3288"/>
              <a:ext cx="1981" cy="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1805" name="Google Shape;1805;p22"/>
            <p:cNvSpPr/>
            <p:nvPr/>
          </p:nvSpPr>
          <p:spPr>
            <a:xfrm rot="-5400000">
              <a:off x="4024" y="2277"/>
              <a:ext cx="57" cy="2083"/>
            </a:xfrm>
            <a:prstGeom prst="leftBrace">
              <a:avLst>
                <a:gd fmla="val 304532"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2"/>
            <p:cNvSpPr txBox="1"/>
            <p:nvPr/>
          </p:nvSpPr>
          <p:spPr>
            <a:xfrm>
              <a:off x="3038" y="3288"/>
              <a:ext cx="1981" cy="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1807" name="Google Shape;1807;p22"/>
            <p:cNvSpPr txBox="1"/>
            <p:nvPr/>
          </p:nvSpPr>
          <p:spPr>
            <a:xfrm>
              <a:off x="1389" y="3388"/>
              <a:ext cx="101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host name</a:t>
              </a:r>
              <a:endParaRPr/>
            </a:p>
          </p:txBody>
        </p:sp>
        <p:sp>
          <p:nvSpPr>
            <p:cNvPr id="1808" name="Google Shape;1808;p22"/>
            <p:cNvSpPr txBox="1"/>
            <p:nvPr/>
          </p:nvSpPr>
          <p:spPr>
            <a:xfrm>
              <a:off x="3485" y="3338"/>
              <a:ext cx="102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path</a:t>
              </a:r>
              <a:r>
                <a:rPr lang="en-US" sz="2400">
                  <a:solidFill>
                    <a:schemeClr val="dk1"/>
                  </a:solidFill>
                  <a:latin typeface="Comic Sans MS"/>
                  <a:ea typeface="Comic Sans MS"/>
                  <a:cs typeface="Comic Sans MS"/>
                  <a:sym typeface="Comic Sans MS"/>
                </a:rPr>
                <a:t> </a:t>
              </a:r>
              <a:r>
                <a:rPr lang="en-US" sz="2400">
                  <a:solidFill>
                    <a:schemeClr val="dk1"/>
                  </a:solidFill>
                  <a:latin typeface="Arial"/>
                  <a:ea typeface="Arial"/>
                  <a:cs typeface="Arial"/>
                  <a:sym typeface="Arial"/>
                </a:rPr>
                <a:t>name</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3" name="Shape 1813"/>
        <p:cNvGrpSpPr/>
        <p:nvPr/>
      </p:nvGrpSpPr>
      <p:grpSpPr>
        <a:xfrm>
          <a:off x="0" y="0"/>
          <a:ext cx="0" cy="0"/>
          <a:chOff x="0" y="0"/>
          <a:chExt cx="0" cy="0"/>
        </a:xfrm>
      </p:grpSpPr>
      <p:sp>
        <p:nvSpPr>
          <p:cNvPr id="1814" name="Google Shape;1814;p23"/>
          <p:cNvSpPr txBox="1"/>
          <p:nvPr>
            <p:ph type="title"/>
          </p:nvPr>
        </p:nvSpPr>
        <p:spPr>
          <a:xfrm>
            <a:off x="798691" y="43000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HTTP overview</a:t>
            </a:r>
            <a:endParaRPr sz="4400"/>
          </a:p>
        </p:txBody>
      </p:sp>
      <p:sp>
        <p:nvSpPr>
          <p:cNvPr id="1815" name="Google Shape;1815;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816" name="Google Shape;1816;p23"/>
          <p:cNvSpPr txBox="1"/>
          <p:nvPr/>
        </p:nvSpPr>
        <p:spPr>
          <a:xfrm>
            <a:off x="791849" y="1608374"/>
            <a:ext cx="5988172"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75000"/>
              </a:lnSpc>
              <a:spcBef>
                <a:spcPts val="0"/>
              </a:spcBef>
              <a:spcAft>
                <a:spcPts val="0"/>
              </a:spcAft>
              <a:buClr>
                <a:srgbClr val="000099"/>
              </a:buClr>
              <a:buSzPts val="3200"/>
              <a:buFont typeface="Noto Sans Symbols"/>
              <a:buNone/>
            </a:pPr>
            <a:r>
              <a:rPr lang="en-US" sz="3200">
                <a:solidFill>
                  <a:srgbClr val="CC0000"/>
                </a:solidFill>
                <a:latin typeface="Calibri"/>
                <a:ea typeface="Calibri"/>
                <a:cs typeface="Calibri"/>
                <a:sym typeface="Calibri"/>
              </a:rPr>
              <a:t>HTTP: hypertext transfer protocol</a:t>
            </a:r>
            <a:endParaRPr/>
          </a:p>
          <a:p>
            <a:pPr indent="-342900" lvl="0" marL="342900" marR="0" rtl="0" algn="l">
              <a:lnSpc>
                <a:spcPct val="75000"/>
              </a:lnSpc>
              <a:spcBef>
                <a:spcPts val="640"/>
              </a:spcBef>
              <a:spcAft>
                <a:spcPts val="0"/>
              </a:spcAft>
              <a:buClr>
                <a:srgbClr val="000099"/>
              </a:buClr>
              <a:buSzPts val="3200"/>
              <a:buFont typeface="Noto Sans Symbols"/>
              <a:buChar char="▪"/>
            </a:pPr>
            <a:r>
              <a:rPr lang="en-US" sz="3200">
                <a:solidFill>
                  <a:schemeClr val="dk1"/>
                </a:solidFill>
                <a:latin typeface="Calibri"/>
                <a:ea typeface="Calibri"/>
                <a:cs typeface="Calibri"/>
                <a:sym typeface="Calibri"/>
              </a:rPr>
              <a:t>Web’s application layer protocol</a:t>
            </a:r>
            <a:endParaRPr/>
          </a:p>
          <a:p>
            <a:pPr indent="-342900" lvl="0" marL="342900" marR="0" rtl="0" algn="l">
              <a:lnSpc>
                <a:spcPct val="75000"/>
              </a:lnSpc>
              <a:spcBef>
                <a:spcPts val="640"/>
              </a:spcBef>
              <a:spcAft>
                <a:spcPts val="0"/>
              </a:spcAft>
              <a:buClr>
                <a:srgbClr val="000099"/>
              </a:buClr>
              <a:buSzPts val="3200"/>
              <a:buFont typeface="Noto Sans Symbols"/>
              <a:buChar char="▪"/>
            </a:pPr>
            <a:r>
              <a:rPr lang="en-US" sz="3200">
                <a:solidFill>
                  <a:schemeClr val="dk1"/>
                </a:solidFill>
                <a:latin typeface="Calibri"/>
                <a:ea typeface="Calibri"/>
                <a:cs typeface="Calibri"/>
                <a:sym typeface="Calibri"/>
              </a:rPr>
              <a:t>client/server model:</a:t>
            </a:r>
            <a:endParaRPr/>
          </a:p>
          <a:p>
            <a:pPr indent="-228600" lvl="1" marL="685800" marR="0" rtl="0" algn="l">
              <a:lnSpc>
                <a:spcPct val="90000"/>
              </a:lnSpc>
              <a:spcBef>
                <a:spcPts val="560"/>
              </a:spcBef>
              <a:spcAft>
                <a:spcPts val="0"/>
              </a:spcAft>
              <a:buClr>
                <a:srgbClr val="000099"/>
              </a:buClr>
              <a:buSzPts val="2800"/>
              <a:buFont typeface="Arial"/>
              <a:buChar char="•"/>
            </a:pPr>
            <a:r>
              <a:rPr b="0" i="1" lang="en-US" sz="2800" u="none" cap="none" strike="noStrike">
                <a:solidFill>
                  <a:srgbClr val="CC0000"/>
                </a:solidFill>
                <a:latin typeface="Calibri"/>
                <a:ea typeface="Calibri"/>
                <a:cs typeface="Calibri"/>
                <a:sym typeface="Calibri"/>
              </a:rPr>
              <a:t>client</a:t>
            </a:r>
            <a:r>
              <a:rPr b="0" i="1" lang="en-US" sz="2800" u="none" cap="none" strike="noStrike">
                <a:solidFill>
                  <a:srgbClr val="FF0000"/>
                </a:solidFill>
                <a:latin typeface="Calibri"/>
                <a:ea typeface="Calibri"/>
                <a:cs typeface="Calibri"/>
                <a:sym typeface="Calibri"/>
              </a:rPr>
              <a:t>:</a:t>
            </a:r>
            <a:r>
              <a:rPr b="0" i="0" lang="en-US" sz="2800" u="none" cap="none" strike="noStrike">
                <a:solidFill>
                  <a:schemeClr val="dk1"/>
                </a:solidFill>
                <a:latin typeface="Calibri"/>
                <a:ea typeface="Calibri"/>
                <a:cs typeface="Calibri"/>
                <a:sym typeface="Calibri"/>
              </a:rPr>
              <a:t> browser that requests, receives, (using HTTP protocol) and “displays” Web objects </a:t>
            </a:r>
            <a:endParaRPr/>
          </a:p>
          <a:p>
            <a:pPr indent="-228600" lvl="1" marL="685800" marR="0" rtl="0" algn="l">
              <a:lnSpc>
                <a:spcPct val="90000"/>
              </a:lnSpc>
              <a:spcBef>
                <a:spcPts val="560"/>
              </a:spcBef>
              <a:spcAft>
                <a:spcPts val="0"/>
              </a:spcAft>
              <a:buClr>
                <a:srgbClr val="000099"/>
              </a:buClr>
              <a:buSzPts val="2800"/>
              <a:buFont typeface="Arial"/>
              <a:buChar char="•"/>
            </a:pPr>
            <a:r>
              <a:rPr b="0" i="1" lang="en-US" sz="2800" u="none" cap="none" strike="noStrike">
                <a:solidFill>
                  <a:srgbClr val="CC0000"/>
                </a:solidFill>
                <a:latin typeface="Calibri"/>
                <a:ea typeface="Calibri"/>
                <a:cs typeface="Calibri"/>
                <a:sym typeface="Calibri"/>
              </a:rPr>
              <a:t>server:</a:t>
            </a:r>
            <a:r>
              <a:rPr b="0" i="0" lang="en-US" sz="2800" u="none" cap="none" strike="noStrike">
                <a:solidFill>
                  <a:schemeClr val="dk1"/>
                </a:solidFill>
                <a:latin typeface="Calibri"/>
                <a:ea typeface="Calibri"/>
                <a:cs typeface="Calibri"/>
                <a:sym typeface="Calibri"/>
              </a:rPr>
              <a:t> Web server sends (using HTTP protocol) objects in response to requests</a:t>
            </a:r>
            <a:endParaRPr/>
          </a:p>
          <a:p>
            <a:pPr indent="-342900" lvl="0" marL="342900" marR="0" rtl="0" algn="l">
              <a:lnSpc>
                <a:spcPct val="75000"/>
              </a:lnSpc>
              <a:spcBef>
                <a:spcPts val="640"/>
              </a:spcBef>
              <a:spcAft>
                <a:spcPts val="0"/>
              </a:spcAft>
              <a:buClr>
                <a:srgbClr val="000099"/>
              </a:buClr>
              <a:buSzPts val="3200"/>
              <a:buFont typeface="Noto Sans Symbols"/>
              <a:buNone/>
            </a:pPr>
            <a:r>
              <a:t/>
            </a:r>
            <a:endParaRPr sz="3200">
              <a:solidFill>
                <a:schemeClr val="dk1"/>
              </a:solidFill>
              <a:latin typeface="Calibri"/>
              <a:ea typeface="Calibri"/>
              <a:cs typeface="Calibri"/>
              <a:sym typeface="Calibri"/>
            </a:endParaRPr>
          </a:p>
        </p:txBody>
      </p:sp>
      <p:sp>
        <p:nvSpPr>
          <p:cNvPr id="1817" name="Google Shape;1817;p23"/>
          <p:cNvSpPr txBox="1"/>
          <p:nvPr/>
        </p:nvSpPr>
        <p:spPr>
          <a:xfrm>
            <a:off x="6584832" y="2687077"/>
            <a:ext cx="2270564" cy="6463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PC running</a:t>
            </a:r>
            <a:endParaRPr/>
          </a:p>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Firefox browser</a:t>
            </a:r>
            <a:endParaRPr b="0" i="0" sz="3200" u="none" cap="none" strike="noStrike">
              <a:solidFill>
                <a:srgbClr val="000000"/>
              </a:solidFill>
              <a:latin typeface="Calibri"/>
              <a:ea typeface="Calibri"/>
              <a:cs typeface="Calibri"/>
              <a:sym typeface="Calibri"/>
            </a:endParaRPr>
          </a:p>
        </p:txBody>
      </p:sp>
      <p:sp>
        <p:nvSpPr>
          <p:cNvPr id="1818" name="Google Shape;1818;p23"/>
          <p:cNvSpPr txBox="1"/>
          <p:nvPr/>
        </p:nvSpPr>
        <p:spPr>
          <a:xfrm>
            <a:off x="9655810" y="4162625"/>
            <a:ext cx="2414547" cy="9233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server running</a:t>
            </a:r>
            <a:endParaRPr/>
          </a:p>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Apache Web</a:t>
            </a:r>
            <a:endParaRPr/>
          </a:p>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server</a:t>
            </a:r>
            <a:endParaRPr b="0" i="0" sz="3200" u="none" cap="none" strike="noStrike">
              <a:solidFill>
                <a:srgbClr val="000000"/>
              </a:solidFill>
              <a:latin typeface="Calibri"/>
              <a:ea typeface="Calibri"/>
              <a:cs typeface="Calibri"/>
              <a:sym typeface="Calibri"/>
            </a:endParaRPr>
          </a:p>
        </p:txBody>
      </p:sp>
      <p:sp>
        <p:nvSpPr>
          <p:cNvPr id="1819" name="Google Shape;1819;p23"/>
          <p:cNvSpPr txBox="1"/>
          <p:nvPr/>
        </p:nvSpPr>
        <p:spPr>
          <a:xfrm>
            <a:off x="7046475" y="5472455"/>
            <a:ext cx="2210665" cy="6463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iPhone running</a:t>
            </a:r>
            <a:endParaRPr/>
          </a:p>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Safari browser</a:t>
            </a:r>
            <a:endParaRPr b="0" i="0" sz="3200" u="none" cap="none" strike="noStrike">
              <a:solidFill>
                <a:srgbClr val="000000"/>
              </a:solidFill>
              <a:latin typeface="Calibri"/>
              <a:ea typeface="Calibri"/>
              <a:cs typeface="Calibri"/>
              <a:sym typeface="Calibri"/>
            </a:endParaRPr>
          </a:p>
        </p:txBody>
      </p:sp>
      <p:grpSp>
        <p:nvGrpSpPr>
          <p:cNvPr id="1820" name="Google Shape;1820;p23"/>
          <p:cNvGrpSpPr/>
          <p:nvPr/>
        </p:nvGrpSpPr>
        <p:grpSpPr>
          <a:xfrm>
            <a:off x="8129954" y="2271493"/>
            <a:ext cx="2101850" cy="1065774"/>
            <a:chOff x="3640" y="1271"/>
            <a:chExt cx="1324" cy="671"/>
          </a:xfrm>
        </p:grpSpPr>
        <p:cxnSp>
          <p:nvCxnSpPr>
            <p:cNvPr id="1821" name="Google Shape;1821;p23"/>
            <p:cNvCxnSpPr/>
            <p:nvPr/>
          </p:nvCxnSpPr>
          <p:spPr>
            <a:xfrm>
              <a:off x="3640" y="1346"/>
              <a:ext cx="1324" cy="596"/>
            </a:xfrm>
            <a:prstGeom prst="straightConnector1">
              <a:avLst/>
            </a:prstGeom>
            <a:noFill/>
            <a:ln cap="flat" cmpd="sng" w="28575">
              <a:solidFill>
                <a:srgbClr val="CC0000"/>
              </a:solidFill>
              <a:prstDash val="solid"/>
              <a:round/>
              <a:headEnd len="med" w="med" type="none"/>
              <a:tailEnd len="med" w="med" type="triangle"/>
            </a:ln>
          </p:spPr>
        </p:cxnSp>
        <p:sp>
          <p:nvSpPr>
            <p:cNvPr id="1822" name="Google Shape;1822;p23"/>
            <p:cNvSpPr txBox="1"/>
            <p:nvPr/>
          </p:nvSpPr>
          <p:spPr>
            <a:xfrm rot="1422049">
              <a:off x="3860" y="1445"/>
              <a:ext cx="91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HTTP request</a:t>
              </a:r>
              <a:endParaRPr b="0" i="0" sz="2400" u="none" cap="none" strike="noStrike">
                <a:solidFill>
                  <a:srgbClr val="CC0000"/>
                </a:solidFill>
                <a:latin typeface="Arial"/>
                <a:ea typeface="Arial"/>
                <a:cs typeface="Arial"/>
                <a:sym typeface="Arial"/>
              </a:endParaRPr>
            </a:p>
          </p:txBody>
        </p:sp>
      </p:grpSp>
      <p:grpSp>
        <p:nvGrpSpPr>
          <p:cNvPr id="1823" name="Google Shape;1823;p23"/>
          <p:cNvGrpSpPr/>
          <p:nvPr/>
        </p:nvGrpSpPr>
        <p:grpSpPr>
          <a:xfrm>
            <a:off x="8241079" y="2599080"/>
            <a:ext cx="1971675" cy="1138193"/>
            <a:chOff x="4141" y="394"/>
            <a:chExt cx="1242" cy="717"/>
          </a:xfrm>
        </p:grpSpPr>
        <p:cxnSp>
          <p:nvCxnSpPr>
            <p:cNvPr id="1824" name="Google Shape;1824;p23"/>
            <p:cNvCxnSpPr/>
            <p:nvPr/>
          </p:nvCxnSpPr>
          <p:spPr>
            <a:xfrm rot="10800000">
              <a:off x="4141" y="394"/>
              <a:ext cx="1242" cy="570"/>
            </a:xfrm>
            <a:prstGeom prst="straightConnector1">
              <a:avLst/>
            </a:prstGeom>
            <a:noFill/>
            <a:ln cap="flat" cmpd="sng" w="28575">
              <a:solidFill>
                <a:srgbClr val="CC0000"/>
              </a:solidFill>
              <a:prstDash val="solid"/>
              <a:round/>
              <a:headEnd len="med" w="med" type="none"/>
              <a:tailEnd len="med" w="med" type="triangle"/>
            </a:ln>
          </p:spPr>
        </p:cxnSp>
        <p:sp>
          <p:nvSpPr>
            <p:cNvPr id="1825" name="Google Shape;1825;p23"/>
            <p:cNvSpPr txBox="1"/>
            <p:nvPr/>
          </p:nvSpPr>
          <p:spPr>
            <a:xfrm rot="1411598">
              <a:off x="4304" y="706"/>
              <a:ext cx="101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HTTP response</a:t>
              </a:r>
              <a:endParaRPr b="0" i="0" sz="2400" u="none" cap="none" strike="noStrike">
                <a:solidFill>
                  <a:srgbClr val="CC0000"/>
                </a:solidFill>
                <a:latin typeface="Arial"/>
                <a:ea typeface="Arial"/>
                <a:cs typeface="Arial"/>
                <a:sym typeface="Arial"/>
              </a:endParaRPr>
            </a:p>
          </p:txBody>
        </p:sp>
      </p:grpSp>
      <p:grpSp>
        <p:nvGrpSpPr>
          <p:cNvPr id="1826" name="Google Shape;1826;p23"/>
          <p:cNvGrpSpPr/>
          <p:nvPr/>
        </p:nvGrpSpPr>
        <p:grpSpPr>
          <a:xfrm rot="-3183056">
            <a:off x="8058342" y="3789190"/>
            <a:ext cx="2101850" cy="1065774"/>
            <a:chOff x="3640" y="1271"/>
            <a:chExt cx="1324" cy="671"/>
          </a:xfrm>
        </p:grpSpPr>
        <p:cxnSp>
          <p:nvCxnSpPr>
            <p:cNvPr id="1827" name="Google Shape;1827;p23"/>
            <p:cNvCxnSpPr/>
            <p:nvPr/>
          </p:nvCxnSpPr>
          <p:spPr>
            <a:xfrm>
              <a:off x="3640" y="1346"/>
              <a:ext cx="1324" cy="596"/>
            </a:xfrm>
            <a:prstGeom prst="straightConnector1">
              <a:avLst/>
            </a:prstGeom>
            <a:noFill/>
            <a:ln cap="flat" cmpd="sng" w="28575">
              <a:solidFill>
                <a:srgbClr val="CC0000"/>
              </a:solidFill>
              <a:prstDash val="solid"/>
              <a:round/>
              <a:headEnd len="med" w="med" type="none"/>
              <a:tailEnd len="med" w="med" type="triangle"/>
            </a:ln>
          </p:spPr>
        </p:cxnSp>
        <p:sp>
          <p:nvSpPr>
            <p:cNvPr id="1828" name="Google Shape;1828;p23"/>
            <p:cNvSpPr txBox="1"/>
            <p:nvPr/>
          </p:nvSpPr>
          <p:spPr>
            <a:xfrm rot="1422049">
              <a:off x="3860" y="1445"/>
              <a:ext cx="91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HTTP request</a:t>
              </a:r>
              <a:endParaRPr b="0" i="0" sz="2400" u="none" cap="none" strike="noStrike">
                <a:solidFill>
                  <a:srgbClr val="CC0000"/>
                </a:solidFill>
                <a:latin typeface="Arial"/>
                <a:ea typeface="Arial"/>
                <a:cs typeface="Arial"/>
                <a:sym typeface="Arial"/>
              </a:endParaRPr>
            </a:p>
          </p:txBody>
        </p:sp>
      </p:grpSp>
      <p:grpSp>
        <p:nvGrpSpPr>
          <p:cNvPr id="1829" name="Google Shape;1829;p23"/>
          <p:cNvGrpSpPr/>
          <p:nvPr/>
        </p:nvGrpSpPr>
        <p:grpSpPr>
          <a:xfrm rot="-3264937">
            <a:off x="8247053" y="4075892"/>
            <a:ext cx="1971675" cy="1138193"/>
            <a:chOff x="4141" y="394"/>
            <a:chExt cx="1242" cy="717"/>
          </a:xfrm>
        </p:grpSpPr>
        <p:cxnSp>
          <p:nvCxnSpPr>
            <p:cNvPr id="1830" name="Google Shape;1830;p23"/>
            <p:cNvCxnSpPr/>
            <p:nvPr/>
          </p:nvCxnSpPr>
          <p:spPr>
            <a:xfrm rot="10800000">
              <a:off x="4141" y="394"/>
              <a:ext cx="1242" cy="570"/>
            </a:xfrm>
            <a:prstGeom prst="straightConnector1">
              <a:avLst/>
            </a:prstGeom>
            <a:noFill/>
            <a:ln cap="flat" cmpd="sng" w="28575">
              <a:solidFill>
                <a:srgbClr val="CC0000"/>
              </a:solidFill>
              <a:prstDash val="solid"/>
              <a:round/>
              <a:headEnd len="med" w="med" type="none"/>
              <a:tailEnd len="med" w="med" type="triangle"/>
            </a:ln>
          </p:spPr>
        </p:cxnSp>
        <p:sp>
          <p:nvSpPr>
            <p:cNvPr id="1831" name="Google Shape;1831;p23"/>
            <p:cNvSpPr txBox="1"/>
            <p:nvPr/>
          </p:nvSpPr>
          <p:spPr>
            <a:xfrm rot="1411598">
              <a:off x="4304" y="706"/>
              <a:ext cx="101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HTTP response</a:t>
              </a:r>
              <a:endParaRPr b="0" i="0" sz="2400" u="none" cap="none" strike="noStrike">
                <a:solidFill>
                  <a:srgbClr val="CC0000"/>
                </a:solidFill>
                <a:latin typeface="Arial"/>
                <a:ea typeface="Arial"/>
                <a:cs typeface="Arial"/>
                <a:sym typeface="Arial"/>
              </a:endParaRPr>
            </a:p>
          </p:txBody>
        </p:sp>
      </p:grpSp>
      <p:pic>
        <p:nvPicPr>
          <p:cNvPr descr="iphone_stylized_small" id="1832" name="Google Shape;1832;p23"/>
          <p:cNvPicPr preferRelativeResize="0"/>
          <p:nvPr/>
        </p:nvPicPr>
        <p:blipFill rotWithShape="1">
          <a:blip r:embed="rId3">
            <a:alphaModFix/>
          </a:blip>
          <a:srcRect b="0" l="0" r="0" t="0"/>
          <a:stretch/>
        </p:blipFill>
        <p:spPr>
          <a:xfrm>
            <a:off x="7644179" y="4540592"/>
            <a:ext cx="382588" cy="917575"/>
          </a:xfrm>
          <a:prstGeom prst="rect">
            <a:avLst/>
          </a:prstGeom>
          <a:noFill/>
          <a:ln>
            <a:noFill/>
          </a:ln>
        </p:spPr>
      </p:pic>
      <p:grpSp>
        <p:nvGrpSpPr>
          <p:cNvPr id="1833" name="Google Shape;1833;p23"/>
          <p:cNvGrpSpPr/>
          <p:nvPr/>
        </p:nvGrpSpPr>
        <p:grpSpPr>
          <a:xfrm>
            <a:off x="7109192" y="1722780"/>
            <a:ext cx="1066800" cy="1079500"/>
            <a:chOff x="-44" y="1473"/>
            <a:chExt cx="981" cy="1105"/>
          </a:xfrm>
        </p:grpSpPr>
        <p:pic>
          <p:nvPicPr>
            <p:cNvPr descr="desktop_computer_stylized_medium" id="1834" name="Google Shape;1834;p23"/>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1835" name="Google Shape;1835;p2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1836" name="Google Shape;1836;p23"/>
          <p:cNvGrpSpPr/>
          <p:nvPr/>
        </p:nvGrpSpPr>
        <p:grpSpPr>
          <a:xfrm>
            <a:off x="10230217" y="2888005"/>
            <a:ext cx="695325" cy="1282700"/>
            <a:chOff x="4140" y="429"/>
            <a:chExt cx="1425" cy="2396"/>
          </a:xfrm>
        </p:grpSpPr>
        <p:sp>
          <p:nvSpPr>
            <p:cNvPr id="1837" name="Google Shape;1837;p2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38" name="Google Shape;1838;p23"/>
            <p:cNvSpPr/>
            <p:nvPr/>
          </p:nvSpPr>
          <p:spPr>
            <a:xfrm>
              <a:off x="4205" y="429"/>
              <a:ext cx="1048"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39" name="Google Shape;1839;p2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40" name="Google Shape;1840;p2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41" name="Google Shape;1841;p23"/>
            <p:cNvSpPr/>
            <p:nvPr/>
          </p:nvSpPr>
          <p:spPr>
            <a:xfrm>
              <a:off x="4212" y="693"/>
              <a:ext cx="595"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1842" name="Google Shape;1842;p23"/>
            <p:cNvGrpSpPr/>
            <p:nvPr/>
          </p:nvGrpSpPr>
          <p:grpSpPr>
            <a:xfrm>
              <a:off x="4748" y="669"/>
              <a:ext cx="583" cy="140"/>
              <a:chOff x="613" y="2569"/>
              <a:chExt cx="727" cy="134"/>
            </a:xfrm>
          </p:grpSpPr>
          <p:sp>
            <p:nvSpPr>
              <p:cNvPr id="1843" name="Google Shape;1843;p23"/>
              <p:cNvSpPr/>
              <p:nvPr/>
            </p:nvSpPr>
            <p:spPr>
              <a:xfrm>
                <a:off x="613" y="2569"/>
                <a:ext cx="727"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44" name="Google Shape;1844;p23"/>
              <p:cNvSpPr/>
              <p:nvPr/>
            </p:nvSpPr>
            <p:spPr>
              <a:xfrm>
                <a:off x="629" y="2586"/>
                <a:ext cx="694"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845" name="Google Shape;1845;p23"/>
            <p:cNvSpPr/>
            <p:nvPr/>
          </p:nvSpPr>
          <p:spPr>
            <a:xfrm>
              <a:off x="4225" y="1019"/>
              <a:ext cx="595"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1846" name="Google Shape;1846;p23"/>
            <p:cNvGrpSpPr/>
            <p:nvPr/>
          </p:nvGrpSpPr>
          <p:grpSpPr>
            <a:xfrm>
              <a:off x="4749" y="995"/>
              <a:ext cx="579" cy="133"/>
              <a:chOff x="616" y="2569"/>
              <a:chExt cx="723" cy="138"/>
            </a:xfrm>
          </p:grpSpPr>
          <p:sp>
            <p:nvSpPr>
              <p:cNvPr id="1847" name="Google Shape;1847;p23"/>
              <p:cNvSpPr/>
              <p:nvPr/>
            </p:nvSpPr>
            <p:spPr>
              <a:xfrm>
                <a:off x="616" y="2569"/>
                <a:ext cx="723"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48" name="Google Shape;1848;p23"/>
              <p:cNvSpPr/>
              <p:nvPr/>
            </p:nvSpPr>
            <p:spPr>
              <a:xfrm>
                <a:off x="632" y="2588"/>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849" name="Google Shape;1849;p23"/>
            <p:cNvSpPr/>
            <p:nvPr/>
          </p:nvSpPr>
          <p:spPr>
            <a:xfrm>
              <a:off x="4218" y="1357"/>
              <a:ext cx="595"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50" name="Google Shape;1850;p23"/>
            <p:cNvSpPr/>
            <p:nvPr/>
          </p:nvSpPr>
          <p:spPr>
            <a:xfrm>
              <a:off x="4228" y="1654"/>
              <a:ext cx="595"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1851" name="Google Shape;1851;p23"/>
            <p:cNvGrpSpPr/>
            <p:nvPr/>
          </p:nvGrpSpPr>
          <p:grpSpPr>
            <a:xfrm>
              <a:off x="4735" y="1627"/>
              <a:ext cx="582" cy="151"/>
              <a:chOff x="614" y="2568"/>
              <a:chExt cx="725" cy="139"/>
            </a:xfrm>
          </p:grpSpPr>
          <p:sp>
            <p:nvSpPr>
              <p:cNvPr id="1852" name="Google Shape;1852;p23"/>
              <p:cNvSpPr/>
              <p:nvPr/>
            </p:nvSpPr>
            <p:spPr>
              <a:xfrm>
                <a:off x="614" y="2568"/>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53" name="Google Shape;1853;p23"/>
              <p:cNvSpPr/>
              <p:nvPr/>
            </p:nvSpPr>
            <p:spPr>
              <a:xfrm>
                <a:off x="631" y="2584"/>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854" name="Google Shape;1854;p2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1855" name="Google Shape;1855;p23"/>
            <p:cNvGrpSpPr/>
            <p:nvPr/>
          </p:nvGrpSpPr>
          <p:grpSpPr>
            <a:xfrm>
              <a:off x="4739" y="1327"/>
              <a:ext cx="582" cy="139"/>
              <a:chOff x="614" y="2568"/>
              <a:chExt cx="725" cy="139"/>
            </a:xfrm>
          </p:grpSpPr>
          <p:sp>
            <p:nvSpPr>
              <p:cNvPr id="1856" name="Google Shape;1856;p23"/>
              <p:cNvSpPr/>
              <p:nvPr/>
            </p:nvSpPr>
            <p:spPr>
              <a:xfrm>
                <a:off x="614" y="2568"/>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57" name="Google Shape;1857;p23"/>
              <p:cNvSpPr/>
              <p:nvPr/>
            </p:nvSpPr>
            <p:spPr>
              <a:xfrm>
                <a:off x="630" y="2583"/>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858" name="Google Shape;1858;p23"/>
            <p:cNvSpPr/>
            <p:nvPr/>
          </p:nvSpPr>
          <p:spPr>
            <a:xfrm>
              <a:off x="5249" y="432"/>
              <a:ext cx="68"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59" name="Google Shape;1859;p2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60" name="Google Shape;1860;p2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61" name="Google Shape;1861;p23"/>
            <p:cNvSpPr/>
            <p:nvPr/>
          </p:nvSpPr>
          <p:spPr>
            <a:xfrm>
              <a:off x="5516" y="2611"/>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62" name="Google Shape;1862;p2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63" name="Google Shape;1863;p23"/>
            <p:cNvSpPr/>
            <p:nvPr/>
          </p:nvSpPr>
          <p:spPr>
            <a:xfrm>
              <a:off x="4140" y="2677"/>
              <a:ext cx="1201"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64" name="Google Shape;1864;p23"/>
            <p:cNvSpPr/>
            <p:nvPr/>
          </p:nvSpPr>
          <p:spPr>
            <a:xfrm>
              <a:off x="4205" y="2712"/>
              <a:ext cx="1070" cy="80"/>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65" name="Google Shape;1865;p23"/>
            <p:cNvSpPr/>
            <p:nvPr/>
          </p:nvSpPr>
          <p:spPr>
            <a:xfrm>
              <a:off x="4309" y="2383"/>
              <a:ext cx="156"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66" name="Google Shape;1866;p23"/>
            <p:cNvSpPr/>
            <p:nvPr/>
          </p:nvSpPr>
          <p:spPr>
            <a:xfrm>
              <a:off x="4485" y="2383"/>
              <a:ext cx="163"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1867" name="Google Shape;1867;p23"/>
            <p:cNvSpPr/>
            <p:nvPr/>
          </p:nvSpPr>
          <p:spPr>
            <a:xfrm>
              <a:off x="4661" y="2380"/>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868" name="Google Shape;1868;p23"/>
            <p:cNvSpPr/>
            <p:nvPr/>
          </p:nvSpPr>
          <p:spPr>
            <a:xfrm>
              <a:off x="5061" y="1835"/>
              <a:ext cx="88" cy="762"/>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0"/>
                                        </p:tgtEl>
                                        <p:attrNameLst>
                                          <p:attrName>style.visibility</p:attrName>
                                        </p:attrNameLst>
                                      </p:cBhvr>
                                      <p:to>
                                        <p:strVal val="visible"/>
                                      </p:to>
                                    </p:set>
                                    <p:animEffect filter="fade" transition="in">
                                      <p:cBhvr>
                                        <p:cTn dur="500"/>
                                        <p:tgtEl>
                                          <p:spTgt spid="18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823"/>
                                        </p:tgtEl>
                                        <p:attrNameLst>
                                          <p:attrName>style.visibility</p:attrName>
                                        </p:attrNameLst>
                                      </p:cBhvr>
                                      <p:to>
                                        <p:strVal val="visible"/>
                                      </p:to>
                                    </p:set>
                                    <p:animEffect filter="fade" transition="in">
                                      <p:cBhvr>
                                        <p:cTn dur="500"/>
                                        <p:tgtEl>
                                          <p:spTgt spid="18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6"/>
                                        </p:tgtEl>
                                        <p:attrNameLst>
                                          <p:attrName>style.visibility</p:attrName>
                                        </p:attrNameLst>
                                      </p:cBhvr>
                                      <p:to>
                                        <p:strVal val="visible"/>
                                      </p:to>
                                    </p:set>
                                    <p:animEffect filter="fade" transition="in">
                                      <p:cBhvr>
                                        <p:cTn dur="500"/>
                                        <p:tgtEl>
                                          <p:spTgt spid="182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829"/>
                                        </p:tgtEl>
                                        <p:attrNameLst>
                                          <p:attrName>style.visibility</p:attrName>
                                        </p:attrNameLst>
                                      </p:cBhvr>
                                      <p:to>
                                        <p:strVal val="visible"/>
                                      </p:to>
                                    </p:set>
                                    <p:animEffect filter="fade" transition="in">
                                      <p:cBhvr>
                                        <p:cTn dur="500"/>
                                        <p:tgtEl>
                                          <p:spTgt spid="18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3" name="Shape 1873"/>
        <p:cNvGrpSpPr/>
        <p:nvPr/>
      </p:nvGrpSpPr>
      <p:grpSpPr>
        <a:xfrm>
          <a:off x="0" y="0"/>
          <a:ext cx="0" cy="0"/>
          <a:chOff x="0" y="0"/>
          <a:chExt cx="0" cy="0"/>
        </a:xfrm>
      </p:grpSpPr>
      <p:sp>
        <p:nvSpPr>
          <p:cNvPr id="1874" name="Google Shape;1874;p24"/>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Application Layer</a:t>
            </a:r>
            <a:endParaRPr sz="1200">
              <a:solidFill>
                <a:schemeClr val="dk1"/>
              </a:solidFill>
              <a:latin typeface="Tahoma"/>
              <a:ea typeface="Tahoma"/>
              <a:cs typeface="Tahoma"/>
              <a:sym typeface="Tahoma"/>
            </a:endParaRPr>
          </a:p>
        </p:txBody>
      </p:sp>
      <p:sp>
        <p:nvSpPr>
          <p:cNvPr id="1875" name="Google Shape;1875;p24"/>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876" name="Google Shape;1876;p24"/>
          <p:cNvSpPr txBox="1"/>
          <p:nvPr>
            <p:ph type="title"/>
          </p:nvPr>
        </p:nvSpPr>
        <p:spPr>
          <a:xfrm>
            <a:off x="2057400" y="309564"/>
            <a:ext cx="7772400" cy="79533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Gill Sans"/>
              <a:buNone/>
            </a:pPr>
            <a:r>
              <a:rPr lang="en-US" sz="4000">
                <a:latin typeface="Gill Sans"/>
                <a:ea typeface="Gill Sans"/>
                <a:cs typeface="Gill Sans"/>
                <a:sym typeface="Gill Sans"/>
              </a:rPr>
              <a:t>HTTP request-response behavior </a:t>
            </a:r>
            <a:endParaRPr>
              <a:latin typeface="Gill Sans"/>
              <a:ea typeface="Gill Sans"/>
              <a:cs typeface="Gill Sans"/>
              <a:sym typeface="Gill Sans"/>
            </a:endParaRPr>
          </a:p>
        </p:txBody>
      </p:sp>
      <p:pic>
        <p:nvPicPr>
          <p:cNvPr descr="underline_base" id="1877" name="Google Shape;1877;p24"/>
          <p:cNvPicPr preferRelativeResize="0"/>
          <p:nvPr/>
        </p:nvPicPr>
        <p:blipFill rotWithShape="1">
          <a:blip r:embed="rId3">
            <a:alphaModFix/>
          </a:blip>
          <a:srcRect b="0" l="0" r="0" t="0"/>
          <a:stretch/>
        </p:blipFill>
        <p:spPr>
          <a:xfrm>
            <a:off x="2144713" y="919163"/>
            <a:ext cx="3340100" cy="169862"/>
          </a:xfrm>
          <a:prstGeom prst="rect">
            <a:avLst/>
          </a:prstGeom>
          <a:noFill/>
          <a:ln>
            <a:noFill/>
          </a:ln>
        </p:spPr>
      </p:pic>
      <p:pic>
        <p:nvPicPr>
          <p:cNvPr id="1878" name="Google Shape;1878;p24"/>
          <p:cNvPicPr preferRelativeResize="0"/>
          <p:nvPr/>
        </p:nvPicPr>
        <p:blipFill rotWithShape="1">
          <a:blip r:embed="rId4">
            <a:alphaModFix/>
          </a:blip>
          <a:srcRect b="0" l="0" r="0" t="0"/>
          <a:stretch/>
        </p:blipFill>
        <p:spPr>
          <a:xfrm>
            <a:off x="3011357" y="1522213"/>
            <a:ext cx="6169286" cy="4394843"/>
          </a:xfrm>
          <a:prstGeom prst="rect">
            <a:avLst/>
          </a:prstGeom>
          <a:noFill/>
          <a:ln>
            <a:noFill/>
          </a:ln>
        </p:spPr>
      </p:pic>
      <p:pic>
        <p:nvPicPr>
          <p:cNvPr descr="Puzzle with solid fill" id="1879" name="Google Shape;1879;p24"/>
          <p:cNvPicPr preferRelativeResize="0"/>
          <p:nvPr/>
        </p:nvPicPr>
        <p:blipFill rotWithShape="1">
          <a:blip r:embed="rId5">
            <a:alphaModFix/>
          </a:blip>
          <a:srcRect b="0" l="0" r="0" t="0"/>
          <a:stretch/>
        </p:blipFill>
        <p:spPr>
          <a:xfrm>
            <a:off x="9328150" y="423864"/>
            <a:ext cx="579438" cy="57943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4" name="Shape 1884"/>
        <p:cNvGrpSpPr/>
        <p:nvPr/>
      </p:nvGrpSpPr>
      <p:grpSpPr>
        <a:xfrm>
          <a:off x="0" y="0"/>
          <a:ext cx="0" cy="0"/>
          <a:chOff x="0" y="0"/>
          <a:chExt cx="0" cy="0"/>
        </a:xfrm>
      </p:grpSpPr>
      <p:sp>
        <p:nvSpPr>
          <p:cNvPr id="1885" name="Google Shape;1885;p25"/>
          <p:cNvSpPr txBox="1"/>
          <p:nvPr>
            <p:ph type="title"/>
          </p:nvPr>
        </p:nvSpPr>
        <p:spPr>
          <a:xfrm>
            <a:off x="798691" y="43000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HTTP overview (continued)</a:t>
            </a:r>
            <a:endParaRPr sz="4400"/>
          </a:p>
        </p:txBody>
      </p:sp>
      <p:sp>
        <p:nvSpPr>
          <p:cNvPr id="1886" name="Google Shape;1886;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887" name="Google Shape;1887;p25"/>
          <p:cNvSpPr/>
          <p:nvPr/>
        </p:nvSpPr>
        <p:spPr>
          <a:xfrm>
            <a:off x="10186403" y="3383184"/>
            <a:ext cx="828675" cy="2952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CC"/>
              </a:buClr>
              <a:buSzPts val="2380"/>
              <a:buFont typeface="Arial"/>
              <a:buNone/>
            </a:pPr>
            <a:r>
              <a:t/>
            </a:r>
            <a:endParaRPr sz="2800">
              <a:solidFill>
                <a:srgbClr val="000000"/>
              </a:solidFill>
              <a:latin typeface="Calibri"/>
              <a:ea typeface="Calibri"/>
              <a:cs typeface="Calibri"/>
              <a:sym typeface="Calibri"/>
            </a:endParaRPr>
          </a:p>
        </p:txBody>
      </p:sp>
      <p:sp>
        <p:nvSpPr>
          <p:cNvPr id="1888" name="Google Shape;1888;p25"/>
          <p:cNvSpPr txBox="1"/>
          <p:nvPr/>
        </p:nvSpPr>
        <p:spPr>
          <a:xfrm>
            <a:off x="947614" y="1548630"/>
            <a:ext cx="5551487"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3200"/>
              <a:buFont typeface="Noto Sans Symbols"/>
              <a:buNone/>
            </a:pPr>
            <a:r>
              <a:rPr i="1" lang="en-US" sz="3200">
                <a:solidFill>
                  <a:srgbClr val="CC0000"/>
                </a:solidFill>
                <a:latin typeface="Calibri"/>
                <a:ea typeface="Calibri"/>
                <a:cs typeface="Calibri"/>
                <a:sym typeface="Calibri"/>
              </a:rPr>
              <a:t>HTTP uses TCP:</a:t>
            </a:r>
            <a:endParaRPr/>
          </a:p>
          <a:p>
            <a:pPr indent="-233363" lvl="0" marL="233363" marR="0" rtl="0" algn="l">
              <a:lnSpc>
                <a:spcPct val="90000"/>
              </a:lnSpc>
              <a:spcBef>
                <a:spcPts val="56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client initiates TCP connection (creates socket) to server,  port 80</a:t>
            </a:r>
            <a:endParaRPr/>
          </a:p>
          <a:p>
            <a:pPr indent="-233363" lvl="0" marL="233363" marR="0" rtl="0" algn="l">
              <a:lnSpc>
                <a:spcPct val="90000"/>
              </a:lnSpc>
              <a:spcBef>
                <a:spcPts val="56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server accepts TCP connection from client</a:t>
            </a:r>
            <a:endParaRPr/>
          </a:p>
          <a:p>
            <a:pPr indent="-233363" lvl="0" marL="233363" marR="0" rtl="0" algn="l">
              <a:lnSpc>
                <a:spcPct val="90000"/>
              </a:lnSpc>
              <a:spcBef>
                <a:spcPts val="56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HTTP messages (application-layer protocol messages) exchanged between browser (HTTP client) and Web server (HTTP server)</a:t>
            </a:r>
            <a:endParaRPr/>
          </a:p>
          <a:p>
            <a:pPr indent="-233363" lvl="0" marL="233363" marR="0" rtl="0" algn="l">
              <a:lnSpc>
                <a:spcPct val="90000"/>
              </a:lnSpc>
              <a:spcBef>
                <a:spcPts val="56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TCP connection closed</a:t>
            </a:r>
            <a:endParaRPr/>
          </a:p>
        </p:txBody>
      </p:sp>
      <p:sp>
        <p:nvSpPr>
          <p:cNvPr id="1889" name="Google Shape;1889;p25"/>
          <p:cNvSpPr txBox="1"/>
          <p:nvPr/>
        </p:nvSpPr>
        <p:spPr>
          <a:xfrm>
            <a:off x="6909801" y="1582098"/>
            <a:ext cx="5053013" cy="1705189"/>
          </a:xfrm>
          <a:prstGeom prst="rect">
            <a:avLst/>
          </a:prstGeom>
          <a:noFill/>
          <a:ln>
            <a:noFill/>
          </a:ln>
        </p:spPr>
        <p:txBody>
          <a:bodyPr anchorCtr="0" anchor="t" bIns="45700" lIns="91425" spcFirstLastPara="1" rIns="91425" wrap="square" tIns="45700">
            <a:noAutofit/>
          </a:bodyPr>
          <a:lstStyle/>
          <a:p>
            <a:pPr indent="-342900" lvl="0" marL="342900" marR="0" rtl="0" algn="l">
              <a:lnSpc>
                <a:spcPct val="75000"/>
              </a:lnSpc>
              <a:spcBef>
                <a:spcPts val="0"/>
              </a:spcBef>
              <a:spcAft>
                <a:spcPts val="0"/>
              </a:spcAft>
              <a:buClr>
                <a:srgbClr val="000099"/>
              </a:buClr>
              <a:buSzPts val="3200"/>
              <a:buFont typeface="Noto Sans Symbols"/>
              <a:buNone/>
            </a:pPr>
            <a:r>
              <a:rPr i="1" lang="en-US" sz="3200">
                <a:solidFill>
                  <a:srgbClr val="CC0000"/>
                </a:solidFill>
                <a:latin typeface="Calibri"/>
                <a:ea typeface="Calibri"/>
                <a:cs typeface="Calibri"/>
                <a:sym typeface="Calibri"/>
              </a:rPr>
              <a:t>HTTP is “stateless”</a:t>
            </a:r>
            <a:endParaRPr i="1" sz="3200">
              <a:solidFill>
                <a:srgbClr val="CC0000"/>
              </a:solidFill>
              <a:latin typeface="Calibri"/>
              <a:ea typeface="Calibri"/>
              <a:cs typeface="Calibri"/>
              <a:sym typeface="Calibri"/>
            </a:endParaRPr>
          </a:p>
          <a:p>
            <a:pPr indent="-342900" lvl="0" marL="342900" marR="0" rtl="0" algn="l">
              <a:lnSpc>
                <a:spcPct val="90000"/>
              </a:lnSpc>
              <a:spcBef>
                <a:spcPts val="56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server maintains</a:t>
            </a:r>
            <a:r>
              <a:rPr i="1" lang="en-US" sz="2800">
                <a:solidFill>
                  <a:schemeClr val="dk1"/>
                </a:solidFill>
                <a:latin typeface="Calibri"/>
                <a:ea typeface="Calibri"/>
                <a:cs typeface="Calibri"/>
                <a:sym typeface="Calibri"/>
              </a:rPr>
              <a:t> no </a:t>
            </a:r>
            <a:r>
              <a:rPr lang="en-US" sz="2800">
                <a:solidFill>
                  <a:schemeClr val="dk1"/>
                </a:solidFill>
                <a:latin typeface="Calibri"/>
                <a:ea typeface="Calibri"/>
                <a:cs typeface="Calibri"/>
                <a:sym typeface="Calibri"/>
              </a:rPr>
              <a:t>information about past client requests</a:t>
            </a:r>
            <a:endParaRPr/>
          </a:p>
        </p:txBody>
      </p:sp>
      <p:sp>
        <p:nvSpPr>
          <p:cNvPr id="1890" name="Google Shape;1890;p25"/>
          <p:cNvSpPr/>
          <p:nvPr/>
        </p:nvSpPr>
        <p:spPr>
          <a:xfrm>
            <a:off x="6909802" y="3449212"/>
            <a:ext cx="5053013" cy="2847974"/>
          </a:xfrm>
          <a:prstGeom prst="rect">
            <a:avLst/>
          </a:prstGeom>
          <a:solidFill>
            <a:srgbClr val="FFFFFF"/>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3333CC"/>
              </a:buClr>
              <a:buSzPts val="2380"/>
              <a:buFont typeface="Arial"/>
              <a:buNone/>
            </a:pPr>
            <a:r>
              <a:t/>
            </a:r>
            <a:endParaRPr sz="2800">
              <a:solidFill>
                <a:srgbClr val="000000"/>
              </a:solidFill>
              <a:latin typeface="Calibri"/>
              <a:ea typeface="Calibri"/>
              <a:cs typeface="Calibri"/>
              <a:sym typeface="Calibri"/>
            </a:endParaRPr>
          </a:p>
        </p:txBody>
      </p:sp>
      <p:sp>
        <p:nvSpPr>
          <p:cNvPr id="1891" name="Google Shape;1891;p25"/>
          <p:cNvSpPr/>
          <p:nvPr/>
        </p:nvSpPr>
        <p:spPr>
          <a:xfrm>
            <a:off x="9795878" y="3287287"/>
            <a:ext cx="828675" cy="2952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CC"/>
              </a:buClr>
              <a:buSzPts val="2380"/>
              <a:buFont typeface="Arial"/>
              <a:buNone/>
            </a:pPr>
            <a:r>
              <a:t/>
            </a:r>
            <a:endParaRPr sz="2800">
              <a:solidFill>
                <a:srgbClr val="000000"/>
              </a:solidFill>
              <a:latin typeface="Calibri"/>
              <a:ea typeface="Calibri"/>
              <a:cs typeface="Calibri"/>
              <a:sym typeface="Calibri"/>
            </a:endParaRPr>
          </a:p>
        </p:txBody>
      </p:sp>
      <p:sp>
        <p:nvSpPr>
          <p:cNvPr id="1892" name="Google Shape;1892;p25"/>
          <p:cNvSpPr/>
          <p:nvPr/>
        </p:nvSpPr>
        <p:spPr>
          <a:xfrm>
            <a:off x="7138987" y="3609628"/>
            <a:ext cx="5053013" cy="28479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3333CC"/>
              </a:buClr>
              <a:buSzPts val="2380"/>
              <a:buFont typeface="Arial"/>
              <a:buNone/>
            </a:pPr>
            <a:r>
              <a:rPr lang="en-US" sz="2800">
                <a:solidFill>
                  <a:srgbClr val="000099"/>
                </a:solidFill>
                <a:latin typeface="Calibri"/>
                <a:ea typeface="Calibri"/>
                <a:cs typeface="Calibri"/>
                <a:sym typeface="Calibri"/>
              </a:rPr>
              <a:t>protocols that maintain “state” are complex!</a:t>
            </a:r>
            <a:endParaRPr/>
          </a:p>
          <a:p>
            <a:pPr indent="-342900" lvl="0" marL="342900" marR="0" rtl="0" algn="l">
              <a:lnSpc>
                <a:spcPct val="90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past history (state) must be maintained</a:t>
            </a:r>
            <a:endParaRPr/>
          </a:p>
          <a:p>
            <a:pPr indent="-342900" lvl="0" marL="342900" marR="0" rtl="0" algn="l">
              <a:lnSpc>
                <a:spcPct val="90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if server/client crashes, their views of “state” may be inconsistent, must be reconciled</a:t>
            </a:r>
            <a:endParaRPr/>
          </a:p>
          <a:p>
            <a:pPr indent="-213359" lvl="0" marL="342900" marR="0" rtl="0" algn="l">
              <a:spcBef>
                <a:spcPts val="480"/>
              </a:spcBef>
              <a:spcAft>
                <a:spcPts val="0"/>
              </a:spcAft>
              <a:buClr>
                <a:srgbClr val="3333CC"/>
              </a:buClr>
              <a:buSzPts val="2040"/>
              <a:buFont typeface="Arial"/>
              <a:buNone/>
            </a:pPr>
            <a:r>
              <a:t/>
            </a:r>
            <a:endParaRPr sz="2400">
              <a:solidFill>
                <a:srgbClr val="000000"/>
              </a:solidFill>
              <a:latin typeface="Calibri"/>
              <a:ea typeface="Calibri"/>
              <a:cs typeface="Calibri"/>
              <a:sym typeface="Calibri"/>
            </a:endParaRPr>
          </a:p>
        </p:txBody>
      </p:sp>
      <p:sp>
        <p:nvSpPr>
          <p:cNvPr id="1893" name="Google Shape;1893;p25"/>
          <p:cNvSpPr txBox="1"/>
          <p:nvPr/>
        </p:nvSpPr>
        <p:spPr>
          <a:xfrm>
            <a:off x="9716532" y="3209500"/>
            <a:ext cx="94609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800">
                <a:solidFill>
                  <a:srgbClr val="CC0000"/>
                </a:solidFill>
                <a:latin typeface="Calibri"/>
                <a:ea typeface="Calibri"/>
                <a:cs typeface="Calibri"/>
                <a:sym typeface="Calibri"/>
              </a:rPr>
              <a:t>aside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8" name="Shape 1898"/>
        <p:cNvGrpSpPr/>
        <p:nvPr/>
      </p:nvGrpSpPr>
      <p:grpSpPr>
        <a:xfrm>
          <a:off x="0" y="0"/>
          <a:ext cx="0" cy="0"/>
          <a:chOff x="0" y="0"/>
          <a:chExt cx="0" cy="0"/>
        </a:xfrm>
      </p:grpSpPr>
      <p:sp>
        <p:nvSpPr>
          <p:cNvPr id="1899" name="Google Shape;1899;p26"/>
          <p:cNvSpPr txBox="1"/>
          <p:nvPr>
            <p:ph type="title"/>
          </p:nvPr>
        </p:nvSpPr>
        <p:spPr>
          <a:xfrm>
            <a:off x="798691" y="43000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HTTP connections: two types</a:t>
            </a:r>
            <a:endParaRPr sz="4400"/>
          </a:p>
        </p:txBody>
      </p:sp>
      <p:sp>
        <p:nvSpPr>
          <p:cNvPr id="1900" name="Google Shape;1900;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901" name="Google Shape;1901;p26"/>
          <p:cNvSpPr txBox="1"/>
          <p:nvPr/>
        </p:nvSpPr>
        <p:spPr>
          <a:xfrm>
            <a:off x="798690" y="1543086"/>
            <a:ext cx="5039401"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Non-persistent HTTP</a:t>
            </a:r>
            <a:endParaRPr/>
          </a:p>
          <a:p>
            <a:pPr indent="-514350" lvl="0" marL="644525" marR="0" rtl="0" algn="l">
              <a:lnSpc>
                <a:spcPct val="90000"/>
              </a:lnSpc>
              <a:spcBef>
                <a:spcPts val="1000"/>
              </a:spcBef>
              <a:spcAft>
                <a:spcPts val="0"/>
              </a:spcAft>
              <a:buClr>
                <a:srgbClr val="0000A3"/>
              </a:buClr>
              <a:buSzPts val="3200"/>
              <a:buFont typeface="Calibri"/>
              <a:buAutoNum type="arabicPeriod"/>
            </a:pPr>
            <a:r>
              <a:rPr lang="en-US" sz="3200">
                <a:solidFill>
                  <a:schemeClr val="dk1"/>
                </a:solidFill>
                <a:latin typeface="Calibri"/>
                <a:ea typeface="Calibri"/>
                <a:cs typeface="Calibri"/>
                <a:sym typeface="Calibri"/>
              </a:rPr>
              <a:t>TCP connection opened</a:t>
            </a:r>
            <a:endParaRPr/>
          </a:p>
          <a:p>
            <a:pPr indent="-514350" lvl="0" marL="644525" marR="0" rtl="0" algn="l">
              <a:lnSpc>
                <a:spcPct val="90000"/>
              </a:lnSpc>
              <a:spcBef>
                <a:spcPts val="1000"/>
              </a:spcBef>
              <a:spcAft>
                <a:spcPts val="0"/>
              </a:spcAft>
              <a:buClr>
                <a:srgbClr val="0000A3"/>
              </a:buClr>
              <a:buSzPts val="3200"/>
              <a:buFont typeface="Calibri"/>
              <a:buAutoNum type="arabicPeriod"/>
            </a:pPr>
            <a:r>
              <a:rPr lang="en-US" sz="3200">
                <a:solidFill>
                  <a:schemeClr val="dk1"/>
                </a:solidFill>
                <a:latin typeface="Calibri"/>
                <a:ea typeface="Calibri"/>
                <a:cs typeface="Calibri"/>
                <a:sym typeface="Calibri"/>
              </a:rPr>
              <a:t>at most one object sent over TCP connection</a:t>
            </a:r>
            <a:endParaRPr/>
          </a:p>
          <a:p>
            <a:pPr indent="-514350" lvl="0" marL="644525" marR="0" rtl="0" algn="l">
              <a:lnSpc>
                <a:spcPct val="90000"/>
              </a:lnSpc>
              <a:spcBef>
                <a:spcPts val="1000"/>
              </a:spcBef>
              <a:spcAft>
                <a:spcPts val="0"/>
              </a:spcAft>
              <a:buClr>
                <a:srgbClr val="0000A3"/>
              </a:buClr>
              <a:buSzPts val="3200"/>
              <a:buFont typeface="Calibri"/>
              <a:buAutoNum type="arabicPeriod"/>
            </a:pPr>
            <a:r>
              <a:rPr lang="en-US" sz="3200">
                <a:solidFill>
                  <a:schemeClr val="dk1"/>
                </a:solidFill>
                <a:latin typeface="Calibri"/>
                <a:ea typeface="Calibri"/>
                <a:cs typeface="Calibri"/>
                <a:sym typeface="Calibri"/>
              </a:rPr>
              <a:t>TCP connection closed</a:t>
            </a:r>
            <a:endParaRPr/>
          </a:p>
          <a:p>
            <a:pPr indent="0" lvl="0" marL="130175" marR="0" rtl="0" algn="l">
              <a:lnSpc>
                <a:spcPct val="90000"/>
              </a:lnSpc>
              <a:spcBef>
                <a:spcPts val="2200"/>
              </a:spcBef>
              <a:spcAft>
                <a:spcPts val="0"/>
              </a:spcAft>
              <a:buClr>
                <a:srgbClr val="0000A3"/>
              </a:buClr>
              <a:buSzPts val="3200"/>
              <a:buFont typeface="Noto Sans Symbols"/>
              <a:buNone/>
            </a:pPr>
            <a:r>
              <a:rPr lang="en-US" sz="3200">
                <a:solidFill>
                  <a:schemeClr val="dk1"/>
                </a:solidFill>
                <a:latin typeface="Calibri"/>
                <a:ea typeface="Calibri"/>
                <a:cs typeface="Calibri"/>
                <a:sym typeface="Calibri"/>
              </a:rPr>
              <a:t>downloading multiple objects required multiple connections</a:t>
            </a:r>
            <a:endParaRPr/>
          </a:p>
          <a:p>
            <a:pPr indent="-2222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
        <p:nvSpPr>
          <p:cNvPr id="1902" name="Google Shape;1902;p26"/>
          <p:cNvSpPr txBox="1"/>
          <p:nvPr/>
        </p:nvSpPr>
        <p:spPr>
          <a:xfrm>
            <a:off x="6781215" y="1543086"/>
            <a:ext cx="5039401"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Persistent HTTP</a:t>
            </a:r>
            <a:endParaRPr/>
          </a:p>
          <a:p>
            <a:pPr indent="-222250" lvl="0" marL="35242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TCP connection opened to a server</a:t>
            </a:r>
            <a:endParaRPr/>
          </a:p>
          <a:p>
            <a:pPr indent="-222250" lvl="0" marL="35242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multiple objects can be sent over </a:t>
            </a:r>
            <a:r>
              <a:rPr i="1" lang="en-US" sz="3200">
                <a:solidFill>
                  <a:schemeClr val="dk1"/>
                </a:solidFill>
                <a:latin typeface="Calibri"/>
                <a:ea typeface="Calibri"/>
                <a:cs typeface="Calibri"/>
                <a:sym typeface="Calibri"/>
              </a:rPr>
              <a:t>single</a:t>
            </a:r>
            <a:r>
              <a:rPr lang="en-US" sz="3200">
                <a:solidFill>
                  <a:schemeClr val="dk1"/>
                </a:solidFill>
                <a:latin typeface="Calibri"/>
                <a:ea typeface="Calibri"/>
                <a:cs typeface="Calibri"/>
                <a:sym typeface="Calibri"/>
              </a:rPr>
              <a:t> TCP connection between client, and that server</a:t>
            </a:r>
            <a:endParaRPr/>
          </a:p>
          <a:p>
            <a:pPr indent="-222250" lvl="0" marL="35242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TCP connection closed</a:t>
            </a:r>
            <a:endParaRPr/>
          </a:p>
          <a:p>
            <a:pPr indent="-19050" lvl="0" marL="352425" marR="0" rtl="0" algn="l">
              <a:lnSpc>
                <a:spcPct val="90000"/>
              </a:lnSpc>
              <a:spcBef>
                <a:spcPts val="1000"/>
              </a:spcBef>
              <a:spcAft>
                <a:spcPts val="0"/>
              </a:spcAft>
              <a:buClr>
                <a:srgbClr val="0000A3"/>
              </a:buClr>
              <a:buSzPts val="3200"/>
              <a:buFont typeface="Noto Sans Symbols"/>
              <a:buNone/>
            </a:pPr>
            <a:r>
              <a:t/>
            </a:r>
            <a:endParaRPr sz="3200">
              <a:solidFill>
                <a:schemeClr val="dk1"/>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7" name="Shape 1907"/>
        <p:cNvGrpSpPr/>
        <p:nvPr/>
      </p:nvGrpSpPr>
      <p:grpSpPr>
        <a:xfrm>
          <a:off x="0" y="0"/>
          <a:ext cx="0" cy="0"/>
          <a:chOff x="0" y="0"/>
          <a:chExt cx="0" cy="0"/>
        </a:xfrm>
      </p:grpSpPr>
      <p:sp>
        <p:nvSpPr>
          <p:cNvPr id="1908" name="Google Shape;1908;p27"/>
          <p:cNvSpPr txBox="1"/>
          <p:nvPr>
            <p:ph type="title"/>
          </p:nvPr>
        </p:nvSpPr>
        <p:spPr>
          <a:xfrm>
            <a:off x="798691" y="43000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Non-persistent HTTP: example</a:t>
            </a:r>
            <a:endParaRPr sz="4400"/>
          </a:p>
        </p:txBody>
      </p:sp>
      <p:sp>
        <p:nvSpPr>
          <p:cNvPr id="1909" name="Google Shape;1909;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cxnSp>
        <p:nvCxnSpPr>
          <p:cNvPr id="1910" name="Google Shape;1910;p27"/>
          <p:cNvCxnSpPr/>
          <p:nvPr/>
        </p:nvCxnSpPr>
        <p:spPr>
          <a:xfrm>
            <a:off x="798691" y="2868166"/>
            <a:ext cx="10658" cy="3480471"/>
          </a:xfrm>
          <a:prstGeom prst="straightConnector1">
            <a:avLst/>
          </a:prstGeom>
          <a:noFill/>
          <a:ln cap="flat" cmpd="sng" w="19050">
            <a:solidFill>
              <a:srgbClr val="A5A5A5"/>
            </a:solidFill>
            <a:prstDash val="solid"/>
            <a:round/>
            <a:headEnd len="med" w="med" type="none"/>
            <a:tailEnd len="med" w="med" type="triangle"/>
          </a:ln>
        </p:spPr>
      </p:cxnSp>
      <p:sp>
        <p:nvSpPr>
          <p:cNvPr id="1911" name="Google Shape;1911;p27"/>
          <p:cNvSpPr/>
          <p:nvPr/>
        </p:nvSpPr>
        <p:spPr>
          <a:xfrm>
            <a:off x="490358" y="5641558"/>
            <a:ext cx="657225" cy="2952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12" name="Google Shape;1912;p27"/>
          <p:cNvSpPr txBox="1"/>
          <p:nvPr/>
        </p:nvSpPr>
        <p:spPr>
          <a:xfrm>
            <a:off x="809349" y="1351435"/>
            <a:ext cx="7942262" cy="466725"/>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User enters URL:</a:t>
            </a:r>
            <a:endParaRPr/>
          </a:p>
        </p:txBody>
      </p:sp>
      <p:sp>
        <p:nvSpPr>
          <p:cNvPr id="1913" name="Google Shape;1913;p27"/>
          <p:cNvSpPr txBox="1"/>
          <p:nvPr/>
        </p:nvSpPr>
        <p:spPr>
          <a:xfrm>
            <a:off x="944384" y="2447251"/>
            <a:ext cx="4850242" cy="19050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400"/>
              <a:buFont typeface="Noto Sans Symbols"/>
              <a:buNone/>
            </a:pPr>
            <a:r>
              <a:rPr lang="en-US" sz="2400">
                <a:solidFill>
                  <a:srgbClr val="CC0000"/>
                </a:solidFill>
                <a:latin typeface="Calibri"/>
                <a:ea typeface="Calibri"/>
                <a:cs typeface="Calibri"/>
                <a:sym typeface="Calibri"/>
              </a:rPr>
              <a:t>1a</a:t>
            </a:r>
            <a:r>
              <a:rPr lang="en-US" sz="2400">
                <a:solidFill>
                  <a:srgbClr val="FF0000"/>
                </a:solidFill>
                <a:latin typeface="Calibri"/>
                <a:ea typeface="Calibri"/>
                <a:cs typeface="Calibri"/>
                <a:sym typeface="Calibri"/>
              </a:rPr>
              <a:t>.</a:t>
            </a:r>
            <a:r>
              <a:rPr lang="en-US" sz="2400">
                <a:solidFill>
                  <a:schemeClr val="dk1"/>
                </a:solidFill>
                <a:latin typeface="Calibri"/>
                <a:ea typeface="Calibri"/>
                <a:cs typeface="Calibri"/>
                <a:sym typeface="Calibri"/>
              </a:rPr>
              <a:t> HTTP client initiates TCP connection to HTTP server (process) at </a:t>
            </a:r>
            <a:r>
              <a:rPr lang="en-US" sz="2000">
                <a:solidFill>
                  <a:schemeClr val="dk1"/>
                </a:solidFill>
                <a:latin typeface="Calibri"/>
                <a:ea typeface="Calibri"/>
                <a:cs typeface="Calibri"/>
                <a:sym typeface="Calibri"/>
              </a:rPr>
              <a:t>www.someSchool.edu </a:t>
            </a:r>
            <a:r>
              <a:rPr lang="en-US" sz="2400">
                <a:solidFill>
                  <a:schemeClr val="dk1"/>
                </a:solidFill>
                <a:latin typeface="Calibri"/>
                <a:ea typeface="Calibri"/>
                <a:cs typeface="Calibri"/>
                <a:sym typeface="Calibri"/>
              </a:rPr>
              <a:t>on port 80</a:t>
            </a:r>
            <a:endParaRPr/>
          </a:p>
        </p:txBody>
      </p:sp>
      <p:sp>
        <p:nvSpPr>
          <p:cNvPr id="1914" name="Google Shape;1914;p27"/>
          <p:cNvSpPr/>
          <p:nvPr/>
        </p:nvSpPr>
        <p:spPr>
          <a:xfrm>
            <a:off x="1172983" y="4077834"/>
            <a:ext cx="4216535" cy="1076325"/>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2400">
                <a:solidFill>
                  <a:srgbClr val="CC0000"/>
                </a:solidFill>
                <a:latin typeface="Calibri"/>
                <a:ea typeface="Calibri"/>
                <a:cs typeface="Calibri"/>
                <a:sym typeface="Calibri"/>
              </a:rPr>
              <a:t>2</a:t>
            </a:r>
            <a:r>
              <a:rPr lang="en-US" sz="2400">
                <a:solidFill>
                  <a:srgbClr val="FF0000"/>
                </a:solidFill>
                <a:latin typeface="Calibri"/>
                <a:ea typeface="Calibri"/>
                <a:cs typeface="Calibri"/>
                <a:sym typeface="Calibri"/>
              </a:rPr>
              <a:t>.</a:t>
            </a:r>
            <a:r>
              <a:rPr lang="en-US" sz="2400">
                <a:solidFill>
                  <a:schemeClr val="dk1"/>
                </a:solidFill>
                <a:latin typeface="Calibri"/>
                <a:ea typeface="Calibri"/>
                <a:cs typeface="Calibri"/>
                <a:sym typeface="Calibri"/>
              </a:rPr>
              <a:t> HTTP client sends HTTP </a:t>
            </a:r>
            <a:r>
              <a:rPr i="1" lang="en-US" sz="2400">
                <a:solidFill>
                  <a:srgbClr val="000099"/>
                </a:solidFill>
                <a:latin typeface="Calibri"/>
                <a:ea typeface="Calibri"/>
                <a:cs typeface="Calibri"/>
                <a:sym typeface="Calibri"/>
              </a:rPr>
              <a:t>request message</a:t>
            </a:r>
            <a:r>
              <a:rPr lang="en-US" sz="2400">
                <a:solidFill>
                  <a:schemeClr val="dk1"/>
                </a:solidFill>
                <a:latin typeface="Calibri"/>
                <a:ea typeface="Calibri"/>
                <a:cs typeface="Calibri"/>
                <a:sym typeface="Calibri"/>
              </a:rPr>
              <a:t> (containing URL) into TCP connection socket. Message indicates that client wants object </a:t>
            </a:r>
            <a:r>
              <a:rPr lang="en-US" sz="2000">
                <a:solidFill>
                  <a:schemeClr val="dk1"/>
                </a:solidFill>
                <a:latin typeface="Calibri"/>
                <a:ea typeface="Calibri"/>
                <a:cs typeface="Calibri"/>
                <a:sym typeface="Calibri"/>
              </a:rPr>
              <a:t>someDepartment/home.index</a:t>
            </a:r>
            <a:endParaRPr sz="2400">
              <a:solidFill>
                <a:schemeClr val="dk1"/>
              </a:solidFill>
              <a:latin typeface="Calibri"/>
              <a:ea typeface="Calibri"/>
              <a:cs typeface="Calibri"/>
              <a:sym typeface="Calibri"/>
            </a:endParaRPr>
          </a:p>
        </p:txBody>
      </p:sp>
      <p:sp>
        <p:nvSpPr>
          <p:cNvPr id="1915" name="Google Shape;1915;p27"/>
          <p:cNvSpPr/>
          <p:nvPr/>
        </p:nvSpPr>
        <p:spPr>
          <a:xfrm>
            <a:off x="6717018" y="2733157"/>
            <a:ext cx="5389528" cy="150495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2400">
                <a:solidFill>
                  <a:srgbClr val="CC0000"/>
                </a:solidFill>
                <a:latin typeface="Calibri"/>
                <a:ea typeface="Calibri"/>
                <a:cs typeface="Calibri"/>
                <a:sym typeface="Calibri"/>
              </a:rPr>
              <a:t>1b</a:t>
            </a:r>
            <a:r>
              <a:rPr lang="en-US" sz="2400">
                <a:solidFill>
                  <a:srgbClr val="FF0000"/>
                </a:solidFill>
                <a:latin typeface="Calibri"/>
                <a:ea typeface="Calibri"/>
                <a:cs typeface="Calibri"/>
                <a:sym typeface="Calibri"/>
              </a:rPr>
              <a:t>.</a:t>
            </a:r>
            <a:r>
              <a:rPr lang="en-US" sz="2400">
                <a:solidFill>
                  <a:schemeClr val="dk1"/>
                </a:solidFill>
                <a:latin typeface="Calibri"/>
                <a:ea typeface="Calibri"/>
                <a:cs typeface="Calibri"/>
                <a:sym typeface="Calibri"/>
              </a:rPr>
              <a:t> HTTP server at host </a:t>
            </a:r>
            <a:r>
              <a:rPr lang="en-US" sz="2000">
                <a:solidFill>
                  <a:schemeClr val="dk1"/>
                </a:solidFill>
                <a:latin typeface="Calibri"/>
                <a:ea typeface="Calibri"/>
                <a:cs typeface="Calibri"/>
                <a:sym typeface="Calibri"/>
              </a:rPr>
              <a:t>www.someSchool.edu </a:t>
            </a:r>
            <a:r>
              <a:rPr lang="en-US" sz="2400">
                <a:solidFill>
                  <a:schemeClr val="dk1"/>
                </a:solidFill>
                <a:latin typeface="Calibri"/>
                <a:ea typeface="Calibri"/>
                <a:cs typeface="Calibri"/>
                <a:sym typeface="Calibri"/>
              </a:rPr>
              <a:t>waiting for TCP connection at port 80  “accepts” connection, notifying client</a:t>
            </a:r>
            <a:endParaRPr sz="2400">
              <a:solidFill>
                <a:schemeClr val="dk1"/>
              </a:solidFill>
              <a:latin typeface="Calibri"/>
              <a:ea typeface="Calibri"/>
              <a:cs typeface="Calibri"/>
              <a:sym typeface="Calibri"/>
            </a:endParaRPr>
          </a:p>
        </p:txBody>
      </p:sp>
      <p:sp>
        <p:nvSpPr>
          <p:cNvPr id="1916" name="Google Shape;1916;p27"/>
          <p:cNvSpPr/>
          <p:nvPr/>
        </p:nvSpPr>
        <p:spPr>
          <a:xfrm>
            <a:off x="6843976" y="4739906"/>
            <a:ext cx="5394870" cy="1800225"/>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2400">
                <a:solidFill>
                  <a:srgbClr val="CC0000"/>
                </a:solidFill>
                <a:latin typeface="Calibri"/>
                <a:ea typeface="Calibri"/>
                <a:cs typeface="Calibri"/>
                <a:sym typeface="Calibri"/>
              </a:rPr>
              <a:t>3</a:t>
            </a:r>
            <a:r>
              <a:rPr lang="en-US" sz="2000">
                <a:solidFill>
                  <a:srgbClr val="FF0000"/>
                </a:solidFill>
                <a:latin typeface="Calibri"/>
                <a:ea typeface="Calibri"/>
                <a:cs typeface="Calibri"/>
                <a:sym typeface="Calibri"/>
              </a:rPr>
              <a:t>.</a:t>
            </a:r>
            <a:r>
              <a:rPr lang="en-US" sz="2000">
                <a:solidFill>
                  <a:schemeClr val="dk1"/>
                </a:solidFill>
                <a:latin typeface="Calibri"/>
                <a:ea typeface="Calibri"/>
                <a:cs typeface="Calibri"/>
                <a:sym typeface="Calibri"/>
              </a:rPr>
              <a:t> </a:t>
            </a:r>
            <a:r>
              <a:rPr lang="en-US" sz="2400">
                <a:solidFill>
                  <a:schemeClr val="dk1"/>
                </a:solidFill>
                <a:latin typeface="Calibri"/>
                <a:ea typeface="Calibri"/>
                <a:cs typeface="Calibri"/>
                <a:sym typeface="Calibri"/>
              </a:rPr>
              <a:t>HTTP server receives request message, forms </a:t>
            </a:r>
            <a:r>
              <a:rPr i="1" lang="en-US" sz="2400">
                <a:solidFill>
                  <a:srgbClr val="000099"/>
                </a:solidFill>
                <a:latin typeface="Calibri"/>
                <a:ea typeface="Calibri"/>
                <a:cs typeface="Calibri"/>
                <a:sym typeface="Calibri"/>
              </a:rPr>
              <a:t>response message</a:t>
            </a:r>
            <a:r>
              <a:rPr lang="en-US" sz="2400">
                <a:solidFill>
                  <a:schemeClr val="dk1"/>
                </a:solidFill>
                <a:latin typeface="Calibri"/>
                <a:ea typeface="Calibri"/>
                <a:cs typeface="Calibri"/>
                <a:sym typeface="Calibri"/>
              </a:rPr>
              <a:t> containing requested object, and sends message into its socket</a:t>
            </a:r>
            <a:endParaRPr sz="2000">
              <a:solidFill>
                <a:schemeClr val="dk1"/>
              </a:solidFill>
              <a:latin typeface="Calibri"/>
              <a:ea typeface="Calibri"/>
              <a:cs typeface="Calibri"/>
              <a:sym typeface="Calibri"/>
            </a:endParaRPr>
          </a:p>
        </p:txBody>
      </p:sp>
      <p:cxnSp>
        <p:nvCxnSpPr>
          <p:cNvPr id="1917" name="Google Shape;1917;p27"/>
          <p:cNvCxnSpPr/>
          <p:nvPr/>
        </p:nvCxnSpPr>
        <p:spPr>
          <a:xfrm>
            <a:off x="5102530" y="4961816"/>
            <a:ext cx="1800180" cy="601955"/>
          </a:xfrm>
          <a:prstGeom prst="straightConnector1">
            <a:avLst/>
          </a:prstGeom>
          <a:noFill/>
          <a:ln cap="flat" cmpd="sng" w="38100">
            <a:solidFill>
              <a:srgbClr val="CC0000"/>
            </a:solidFill>
            <a:prstDash val="solid"/>
            <a:round/>
            <a:headEnd len="med" w="med" type="none"/>
            <a:tailEnd len="med" w="med" type="triangle"/>
          </a:ln>
        </p:spPr>
      </p:cxnSp>
      <p:cxnSp>
        <p:nvCxnSpPr>
          <p:cNvPr id="1918" name="Google Shape;1918;p27"/>
          <p:cNvCxnSpPr/>
          <p:nvPr/>
        </p:nvCxnSpPr>
        <p:spPr>
          <a:xfrm flipH="1">
            <a:off x="5389517" y="5671992"/>
            <a:ext cx="1410287" cy="891868"/>
          </a:xfrm>
          <a:prstGeom prst="straightConnector1">
            <a:avLst/>
          </a:prstGeom>
          <a:noFill/>
          <a:ln cap="flat" cmpd="sng" w="38100">
            <a:solidFill>
              <a:srgbClr val="CC0000"/>
            </a:solidFill>
            <a:prstDash val="solid"/>
            <a:round/>
            <a:headEnd len="med" w="med" type="none"/>
            <a:tailEnd len="med" w="med" type="triangle"/>
          </a:ln>
        </p:spPr>
      </p:cxnSp>
      <p:sp>
        <p:nvSpPr>
          <p:cNvPr id="1919" name="Google Shape;1919;p27"/>
          <p:cNvSpPr txBox="1"/>
          <p:nvPr/>
        </p:nvSpPr>
        <p:spPr>
          <a:xfrm>
            <a:off x="499883" y="5563771"/>
            <a:ext cx="673100" cy="406400"/>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rgbClr val="A5A5A5"/>
              </a:buClr>
              <a:buSzPts val="2000"/>
              <a:buFont typeface="Calibri"/>
              <a:buNone/>
            </a:pPr>
            <a:r>
              <a:rPr lang="en-US" sz="2000">
                <a:solidFill>
                  <a:srgbClr val="A5A5A5"/>
                </a:solidFill>
                <a:latin typeface="Calibri"/>
                <a:ea typeface="Calibri"/>
                <a:cs typeface="Calibri"/>
                <a:sym typeface="Calibri"/>
              </a:rPr>
              <a:t>time</a:t>
            </a:r>
            <a:endParaRPr/>
          </a:p>
        </p:txBody>
      </p:sp>
      <p:cxnSp>
        <p:nvCxnSpPr>
          <p:cNvPr id="1920" name="Google Shape;1920;p27"/>
          <p:cNvCxnSpPr/>
          <p:nvPr/>
        </p:nvCxnSpPr>
        <p:spPr>
          <a:xfrm>
            <a:off x="5156851" y="2779258"/>
            <a:ext cx="1551025" cy="523875"/>
          </a:xfrm>
          <a:prstGeom prst="straightConnector1">
            <a:avLst/>
          </a:prstGeom>
          <a:noFill/>
          <a:ln cap="flat" cmpd="sng" w="38100">
            <a:solidFill>
              <a:srgbClr val="CC0000"/>
            </a:solidFill>
            <a:prstDash val="solid"/>
            <a:round/>
            <a:headEnd len="med" w="med" type="none"/>
            <a:tailEnd len="med" w="med" type="triangle"/>
          </a:ln>
        </p:spPr>
      </p:cxnSp>
      <p:cxnSp>
        <p:nvCxnSpPr>
          <p:cNvPr id="1921" name="Google Shape;1921;p27"/>
          <p:cNvCxnSpPr/>
          <p:nvPr/>
        </p:nvCxnSpPr>
        <p:spPr>
          <a:xfrm flipH="1">
            <a:off x="5102530" y="3366635"/>
            <a:ext cx="1551026" cy="1006986"/>
          </a:xfrm>
          <a:prstGeom prst="straightConnector1">
            <a:avLst/>
          </a:prstGeom>
          <a:noFill/>
          <a:ln cap="flat" cmpd="sng" w="38100">
            <a:solidFill>
              <a:srgbClr val="CC0000"/>
            </a:solidFill>
            <a:prstDash val="solid"/>
            <a:round/>
            <a:headEnd len="med" w="med" type="none"/>
            <a:tailEnd len="med" w="med" type="triangle"/>
          </a:ln>
        </p:spPr>
      </p:cxnSp>
      <p:sp>
        <p:nvSpPr>
          <p:cNvPr id="1922" name="Google Shape;1922;p27"/>
          <p:cNvSpPr txBox="1"/>
          <p:nvPr/>
        </p:nvSpPr>
        <p:spPr>
          <a:xfrm>
            <a:off x="4677390" y="1660654"/>
            <a:ext cx="6378408"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(containing text, references to 10 jpeg images)</a:t>
            </a:r>
            <a:endParaRPr sz="2800">
              <a:solidFill>
                <a:schemeClr val="dk1"/>
              </a:solidFill>
              <a:latin typeface="Calibri"/>
              <a:ea typeface="Calibri"/>
              <a:cs typeface="Calibri"/>
              <a:sym typeface="Calibri"/>
            </a:endParaRPr>
          </a:p>
        </p:txBody>
      </p:sp>
      <p:sp>
        <p:nvSpPr>
          <p:cNvPr id="1923" name="Google Shape;1923;p27"/>
          <p:cNvSpPr/>
          <p:nvPr/>
        </p:nvSpPr>
        <p:spPr>
          <a:xfrm>
            <a:off x="3508021" y="1414937"/>
            <a:ext cx="7942263" cy="466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300"/>
              <a:buFont typeface="Noto Sans Symbols"/>
              <a:buNone/>
            </a:pPr>
            <a:r>
              <a:rPr b="1" lang="en-US" sz="2000">
                <a:solidFill>
                  <a:schemeClr val="dk1"/>
                </a:solidFill>
                <a:latin typeface="Courier New"/>
                <a:ea typeface="Courier New"/>
                <a:cs typeface="Courier New"/>
                <a:sym typeface="Courier New"/>
              </a:rPr>
              <a:t>www.someSchool.edu/someDepartment/home.index</a:t>
            </a:r>
            <a:endParaRPr b="1" sz="2000">
              <a:solidFill>
                <a:schemeClr val="dk1"/>
              </a:solidFill>
              <a:latin typeface="Courier New"/>
              <a:ea typeface="Courier New"/>
              <a:cs typeface="Courier New"/>
              <a:sym typeface="Courier New"/>
            </a:endParaRPr>
          </a:p>
        </p:txBody>
      </p:sp>
      <p:grpSp>
        <p:nvGrpSpPr>
          <p:cNvPr id="1924" name="Google Shape;1924;p27"/>
          <p:cNvGrpSpPr/>
          <p:nvPr/>
        </p:nvGrpSpPr>
        <p:grpSpPr>
          <a:xfrm>
            <a:off x="371687" y="2060763"/>
            <a:ext cx="784845" cy="730423"/>
            <a:chOff x="-44" y="1473"/>
            <a:chExt cx="981" cy="1105"/>
          </a:xfrm>
        </p:grpSpPr>
        <p:pic>
          <p:nvPicPr>
            <p:cNvPr descr="desktop_computer_stylized_medium" id="1925" name="Google Shape;1925;p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926" name="Google Shape;1926;p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1927" name="Google Shape;1927;p27"/>
          <p:cNvGrpSpPr/>
          <p:nvPr/>
        </p:nvGrpSpPr>
        <p:grpSpPr>
          <a:xfrm>
            <a:off x="6367322" y="2347016"/>
            <a:ext cx="286234" cy="640019"/>
            <a:chOff x="4140" y="429"/>
            <a:chExt cx="1425" cy="2396"/>
          </a:xfrm>
        </p:grpSpPr>
        <p:sp>
          <p:nvSpPr>
            <p:cNvPr id="1928" name="Google Shape;1928;p2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29" name="Google Shape;1929;p27"/>
            <p:cNvSpPr/>
            <p:nvPr/>
          </p:nvSpPr>
          <p:spPr>
            <a:xfrm>
              <a:off x="4205" y="429"/>
              <a:ext cx="1048"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30" name="Google Shape;1930;p2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31" name="Google Shape;1931;p2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32" name="Google Shape;1932;p27"/>
            <p:cNvSpPr/>
            <p:nvPr/>
          </p:nvSpPr>
          <p:spPr>
            <a:xfrm>
              <a:off x="4212" y="693"/>
              <a:ext cx="595"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1933" name="Google Shape;1933;p27"/>
            <p:cNvGrpSpPr/>
            <p:nvPr/>
          </p:nvGrpSpPr>
          <p:grpSpPr>
            <a:xfrm>
              <a:off x="4748" y="669"/>
              <a:ext cx="583" cy="140"/>
              <a:chOff x="613" y="2569"/>
              <a:chExt cx="727" cy="134"/>
            </a:xfrm>
          </p:grpSpPr>
          <p:sp>
            <p:nvSpPr>
              <p:cNvPr id="1934" name="Google Shape;1934;p27"/>
              <p:cNvSpPr/>
              <p:nvPr/>
            </p:nvSpPr>
            <p:spPr>
              <a:xfrm>
                <a:off x="613" y="2569"/>
                <a:ext cx="727"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35" name="Google Shape;1935;p27"/>
              <p:cNvSpPr/>
              <p:nvPr/>
            </p:nvSpPr>
            <p:spPr>
              <a:xfrm>
                <a:off x="629" y="2586"/>
                <a:ext cx="694"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936" name="Google Shape;1936;p27"/>
            <p:cNvSpPr/>
            <p:nvPr/>
          </p:nvSpPr>
          <p:spPr>
            <a:xfrm>
              <a:off x="4225" y="1019"/>
              <a:ext cx="595"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1937" name="Google Shape;1937;p27"/>
            <p:cNvGrpSpPr/>
            <p:nvPr/>
          </p:nvGrpSpPr>
          <p:grpSpPr>
            <a:xfrm>
              <a:off x="4749" y="995"/>
              <a:ext cx="579" cy="133"/>
              <a:chOff x="616" y="2569"/>
              <a:chExt cx="723" cy="138"/>
            </a:xfrm>
          </p:grpSpPr>
          <p:sp>
            <p:nvSpPr>
              <p:cNvPr id="1938" name="Google Shape;1938;p27"/>
              <p:cNvSpPr/>
              <p:nvPr/>
            </p:nvSpPr>
            <p:spPr>
              <a:xfrm>
                <a:off x="616" y="2569"/>
                <a:ext cx="723"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39" name="Google Shape;1939;p27"/>
              <p:cNvSpPr/>
              <p:nvPr/>
            </p:nvSpPr>
            <p:spPr>
              <a:xfrm>
                <a:off x="632" y="2588"/>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940" name="Google Shape;1940;p27"/>
            <p:cNvSpPr/>
            <p:nvPr/>
          </p:nvSpPr>
          <p:spPr>
            <a:xfrm>
              <a:off x="4218" y="1357"/>
              <a:ext cx="595"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41" name="Google Shape;1941;p27"/>
            <p:cNvSpPr/>
            <p:nvPr/>
          </p:nvSpPr>
          <p:spPr>
            <a:xfrm>
              <a:off x="4228" y="1654"/>
              <a:ext cx="595"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1942" name="Google Shape;1942;p27"/>
            <p:cNvGrpSpPr/>
            <p:nvPr/>
          </p:nvGrpSpPr>
          <p:grpSpPr>
            <a:xfrm>
              <a:off x="4735" y="1627"/>
              <a:ext cx="582" cy="151"/>
              <a:chOff x="614" y="2568"/>
              <a:chExt cx="725" cy="139"/>
            </a:xfrm>
          </p:grpSpPr>
          <p:sp>
            <p:nvSpPr>
              <p:cNvPr id="1943" name="Google Shape;1943;p27"/>
              <p:cNvSpPr/>
              <p:nvPr/>
            </p:nvSpPr>
            <p:spPr>
              <a:xfrm>
                <a:off x="614" y="2568"/>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44" name="Google Shape;1944;p27"/>
              <p:cNvSpPr/>
              <p:nvPr/>
            </p:nvSpPr>
            <p:spPr>
              <a:xfrm>
                <a:off x="631" y="2584"/>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945" name="Google Shape;1945;p2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1946" name="Google Shape;1946;p27"/>
            <p:cNvGrpSpPr/>
            <p:nvPr/>
          </p:nvGrpSpPr>
          <p:grpSpPr>
            <a:xfrm>
              <a:off x="4739" y="1327"/>
              <a:ext cx="582" cy="139"/>
              <a:chOff x="614" y="2568"/>
              <a:chExt cx="725" cy="139"/>
            </a:xfrm>
          </p:grpSpPr>
          <p:sp>
            <p:nvSpPr>
              <p:cNvPr id="1947" name="Google Shape;1947;p27"/>
              <p:cNvSpPr/>
              <p:nvPr/>
            </p:nvSpPr>
            <p:spPr>
              <a:xfrm>
                <a:off x="614" y="2568"/>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48" name="Google Shape;1948;p27"/>
              <p:cNvSpPr/>
              <p:nvPr/>
            </p:nvSpPr>
            <p:spPr>
              <a:xfrm>
                <a:off x="630" y="2583"/>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949" name="Google Shape;1949;p27"/>
            <p:cNvSpPr/>
            <p:nvPr/>
          </p:nvSpPr>
          <p:spPr>
            <a:xfrm>
              <a:off x="5249" y="432"/>
              <a:ext cx="68"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50" name="Google Shape;1950;p2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51" name="Google Shape;1951;p2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52" name="Google Shape;1952;p27"/>
            <p:cNvSpPr/>
            <p:nvPr/>
          </p:nvSpPr>
          <p:spPr>
            <a:xfrm>
              <a:off x="5516" y="2611"/>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53" name="Google Shape;1953;p2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54" name="Google Shape;1954;p27"/>
            <p:cNvSpPr/>
            <p:nvPr/>
          </p:nvSpPr>
          <p:spPr>
            <a:xfrm>
              <a:off x="4140" y="2677"/>
              <a:ext cx="1201"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55" name="Google Shape;1955;p27"/>
            <p:cNvSpPr/>
            <p:nvPr/>
          </p:nvSpPr>
          <p:spPr>
            <a:xfrm>
              <a:off x="4205" y="2712"/>
              <a:ext cx="1070" cy="80"/>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56" name="Google Shape;1956;p27"/>
            <p:cNvSpPr/>
            <p:nvPr/>
          </p:nvSpPr>
          <p:spPr>
            <a:xfrm>
              <a:off x="4309" y="2383"/>
              <a:ext cx="156"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57" name="Google Shape;1957;p27"/>
            <p:cNvSpPr/>
            <p:nvPr/>
          </p:nvSpPr>
          <p:spPr>
            <a:xfrm>
              <a:off x="4485" y="2383"/>
              <a:ext cx="163"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1958" name="Google Shape;1958;p27"/>
            <p:cNvSpPr/>
            <p:nvPr/>
          </p:nvSpPr>
          <p:spPr>
            <a:xfrm>
              <a:off x="4661" y="2380"/>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59" name="Google Shape;1959;p27"/>
            <p:cNvSpPr/>
            <p:nvPr/>
          </p:nvSpPr>
          <p:spPr>
            <a:xfrm>
              <a:off x="5061" y="1835"/>
              <a:ext cx="88" cy="762"/>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3">
                                            <p:txEl>
                                              <p:pRg end="0" st="0"/>
                                            </p:txEl>
                                          </p:spTgt>
                                        </p:tgtEl>
                                        <p:attrNameLst>
                                          <p:attrName>style.visibility</p:attrName>
                                        </p:attrNameLst>
                                      </p:cBhvr>
                                      <p:to>
                                        <p:strVal val="visible"/>
                                      </p:to>
                                    </p:set>
                                    <p:animEffect filter="fade" transition="in">
                                      <p:cBhvr>
                                        <p:cTn dur="500"/>
                                        <p:tgtEl>
                                          <p:spTgt spid="1913">
                                            <p:txEl>
                                              <p:pRg end="0" st="0"/>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20"/>
                                        </p:tgtEl>
                                        <p:attrNameLst>
                                          <p:attrName>style.visibility</p:attrName>
                                        </p:attrNameLst>
                                      </p:cBhvr>
                                      <p:to>
                                        <p:strVal val="visible"/>
                                      </p:to>
                                    </p:set>
                                    <p:animEffect filter="fade" transition="in">
                                      <p:cBhvr>
                                        <p:cTn dur="500"/>
                                        <p:tgtEl>
                                          <p:spTgt spid="192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15"/>
                                        </p:tgtEl>
                                        <p:attrNameLst>
                                          <p:attrName>style.visibility</p:attrName>
                                        </p:attrNameLst>
                                      </p:cBhvr>
                                      <p:to>
                                        <p:strVal val="visible"/>
                                      </p:to>
                                    </p:set>
                                    <p:animEffect filter="fade" transition="in">
                                      <p:cBhvr>
                                        <p:cTn dur="500"/>
                                        <p:tgtEl>
                                          <p:spTgt spid="191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21"/>
                                        </p:tgtEl>
                                        <p:attrNameLst>
                                          <p:attrName>style.visibility</p:attrName>
                                        </p:attrNameLst>
                                      </p:cBhvr>
                                      <p:to>
                                        <p:strVal val="visible"/>
                                      </p:to>
                                    </p:set>
                                    <p:animEffect filter="fade" transition="in">
                                      <p:cBhvr>
                                        <p:cTn dur="500"/>
                                        <p:tgtEl>
                                          <p:spTgt spid="19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4"/>
                                        </p:tgtEl>
                                        <p:attrNameLst>
                                          <p:attrName>style.visibility</p:attrName>
                                        </p:attrNameLst>
                                      </p:cBhvr>
                                      <p:to>
                                        <p:strVal val="visible"/>
                                      </p:to>
                                    </p:set>
                                    <p:animEffect filter="fade" transition="in">
                                      <p:cBhvr>
                                        <p:cTn dur="500"/>
                                        <p:tgtEl>
                                          <p:spTgt spid="191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17"/>
                                        </p:tgtEl>
                                        <p:attrNameLst>
                                          <p:attrName>style.visibility</p:attrName>
                                        </p:attrNameLst>
                                      </p:cBhvr>
                                      <p:to>
                                        <p:strVal val="visible"/>
                                      </p:to>
                                    </p:set>
                                    <p:animEffect filter="fade" transition="in">
                                      <p:cBhvr>
                                        <p:cTn dur="500"/>
                                        <p:tgtEl>
                                          <p:spTgt spid="19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16"/>
                                        </p:tgtEl>
                                        <p:attrNameLst>
                                          <p:attrName>style.visibility</p:attrName>
                                        </p:attrNameLst>
                                      </p:cBhvr>
                                      <p:to>
                                        <p:strVal val="visible"/>
                                      </p:to>
                                    </p:set>
                                    <p:animEffect filter="fade" transition="in">
                                      <p:cBhvr>
                                        <p:cTn dur="500"/>
                                        <p:tgtEl>
                                          <p:spTgt spid="191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18"/>
                                        </p:tgtEl>
                                        <p:attrNameLst>
                                          <p:attrName>style.visibility</p:attrName>
                                        </p:attrNameLst>
                                      </p:cBhvr>
                                      <p:to>
                                        <p:strVal val="visible"/>
                                      </p:to>
                                    </p:set>
                                    <p:animEffect filter="fade" transition="in">
                                      <p:cBhvr>
                                        <p:cTn dur="500"/>
                                        <p:tgtEl>
                                          <p:spTgt spid="19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4" name="Shape 1964"/>
        <p:cNvGrpSpPr/>
        <p:nvPr/>
      </p:nvGrpSpPr>
      <p:grpSpPr>
        <a:xfrm>
          <a:off x="0" y="0"/>
          <a:ext cx="0" cy="0"/>
          <a:chOff x="0" y="0"/>
          <a:chExt cx="0" cy="0"/>
        </a:xfrm>
      </p:grpSpPr>
      <p:sp>
        <p:nvSpPr>
          <p:cNvPr id="1965" name="Google Shape;1965;p28"/>
          <p:cNvSpPr txBox="1"/>
          <p:nvPr>
            <p:ph type="title"/>
          </p:nvPr>
        </p:nvSpPr>
        <p:spPr>
          <a:xfrm>
            <a:off x="798691" y="43000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Non-persistent HTTP: example (cont.)</a:t>
            </a:r>
            <a:endParaRPr sz="4400"/>
          </a:p>
        </p:txBody>
      </p:sp>
      <p:sp>
        <p:nvSpPr>
          <p:cNvPr id="1966" name="Google Shape;1966;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967" name="Google Shape;1967;p28"/>
          <p:cNvSpPr txBox="1"/>
          <p:nvPr/>
        </p:nvSpPr>
        <p:spPr>
          <a:xfrm>
            <a:off x="809349" y="1351435"/>
            <a:ext cx="7942262" cy="466725"/>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User enters URL:</a:t>
            </a:r>
            <a:endParaRPr/>
          </a:p>
        </p:txBody>
      </p:sp>
      <p:sp>
        <p:nvSpPr>
          <p:cNvPr id="1968" name="Google Shape;1968;p28"/>
          <p:cNvSpPr txBox="1"/>
          <p:nvPr/>
        </p:nvSpPr>
        <p:spPr>
          <a:xfrm>
            <a:off x="4677390" y="1660654"/>
            <a:ext cx="6378408"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(containing text, references to 10 jpeg images)</a:t>
            </a:r>
            <a:endParaRPr sz="2800">
              <a:solidFill>
                <a:schemeClr val="dk1"/>
              </a:solidFill>
              <a:latin typeface="Calibri"/>
              <a:ea typeface="Calibri"/>
              <a:cs typeface="Calibri"/>
              <a:sym typeface="Calibri"/>
            </a:endParaRPr>
          </a:p>
        </p:txBody>
      </p:sp>
      <p:sp>
        <p:nvSpPr>
          <p:cNvPr id="1969" name="Google Shape;1969;p28"/>
          <p:cNvSpPr/>
          <p:nvPr/>
        </p:nvSpPr>
        <p:spPr>
          <a:xfrm>
            <a:off x="3508021" y="1414937"/>
            <a:ext cx="7942263" cy="466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300"/>
              <a:buFont typeface="Noto Sans Symbols"/>
              <a:buNone/>
            </a:pPr>
            <a:r>
              <a:rPr b="1" lang="en-US" sz="2000">
                <a:solidFill>
                  <a:schemeClr val="dk1"/>
                </a:solidFill>
                <a:latin typeface="Courier New"/>
                <a:ea typeface="Courier New"/>
                <a:cs typeface="Courier New"/>
                <a:sym typeface="Courier New"/>
              </a:rPr>
              <a:t>www.someSchool.edu/someDepartment/home.index</a:t>
            </a:r>
            <a:endParaRPr b="1" sz="2000">
              <a:solidFill>
                <a:schemeClr val="dk1"/>
              </a:solidFill>
              <a:latin typeface="Courier New"/>
              <a:ea typeface="Courier New"/>
              <a:cs typeface="Courier New"/>
              <a:sym typeface="Courier New"/>
            </a:endParaRPr>
          </a:p>
        </p:txBody>
      </p:sp>
      <p:grpSp>
        <p:nvGrpSpPr>
          <p:cNvPr id="1970" name="Google Shape;1970;p28"/>
          <p:cNvGrpSpPr/>
          <p:nvPr/>
        </p:nvGrpSpPr>
        <p:grpSpPr>
          <a:xfrm>
            <a:off x="371687" y="2060763"/>
            <a:ext cx="784845" cy="730423"/>
            <a:chOff x="-44" y="1473"/>
            <a:chExt cx="981" cy="1105"/>
          </a:xfrm>
        </p:grpSpPr>
        <p:pic>
          <p:nvPicPr>
            <p:cNvPr descr="desktop_computer_stylized_medium" id="1971" name="Google Shape;1971;p2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972" name="Google Shape;1972;p2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1973" name="Google Shape;1973;p28"/>
          <p:cNvGrpSpPr/>
          <p:nvPr/>
        </p:nvGrpSpPr>
        <p:grpSpPr>
          <a:xfrm>
            <a:off x="6367322" y="2347016"/>
            <a:ext cx="286234" cy="640019"/>
            <a:chOff x="4140" y="429"/>
            <a:chExt cx="1425" cy="2396"/>
          </a:xfrm>
        </p:grpSpPr>
        <p:sp>
          <p:nvSpPr>
            <p:cNvPr id="1974" name="Google Shape;1974;p2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75" name="Google Shape;1975;p28"/>
            <p:cNvSpPr/>
            <p:nvPr/>
          </p:nvSpPr>
          <p:spPr>
            <a:xfrm>
              <a:off x="4205" y="429"/>
              <a:ext cx="1048"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76" name="Google Shape;1976;p2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77" name="Google Shape;1977;p2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78" name="Google Shape;1978;p28"/>
            <p:cNvSpPr/>
            <p:nvPr/>
          </p:nvSpPr>
          <p:spPr>
            <a:xfrm>
              <a:off x="4212" y="693"/>
              <a:ext cx="595"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1979" name="Google Shape;1979;p28"/>
            <p:cNvGrpSpPr/>
            <p:nvPr/>
          </p:nvGrpSpPr>
          <p:grpSpPr>
            <a:xfrm>
              <a:off x="4748" y="669"/>
              <a:ext cx="583" cy="140"/>
              <a:chOff x="613" y="2569"/>
              <a:chExt cx="727" cy="134"/>
            </a:xfrm>
          </p:grpSpPr>
          <p:sp>
            <p:nvSpPr>
              <p:cNvPr id="1980" name="Google Shape;1980;p28"/>
              <p:cNvSpPr/>
              <p:nvPr/>
            </p:nvSpPr>
            <p:spPr>
              <a:xfrm>
                <a:off x="613" y="2569"/>
                <a:ext cx="727"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81" name="Google Shape;1981;p28"/>
              <p:cNvSpPr/>
              <p:nvPr/>
            </p:nvSpPr>
            <p:spPr>
              <a:xfrm>
                <a:off x="629" y="2586"/>
                <a:ext cx="694"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982" name="Google Shape;1982;p28"/>
            <p:cNvSpPr/>
            <p:nvPr/>
          </p:nvSpPr>
          <p:spPr>
            <a:xfrm>
              <a:off x="4225" y="1019"/>
              <a:ext cx="595"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1983" name="Google Shape;1983;p28"/>
            <p:cNvGrpSpPr/>
            <p:nvPr/>
          </p:nvGrpSpPr>
          <p:grpSpPr>
            <a:xfrm>
              <a:off x="4749" y="995"/>
              <a:ext cx="579" cy="133"/>
              <a:chOff x="616" y="2569"/>
              <a:chExt cx="723" cy="138"/>
            </a:xfrm>
          </p:grpSpPr>
          <p:sp>
            <p:nvSpPr>
              <p:cNvPr id="1984" name="Google Shape;1984;p28"/>
              <p:cNvSpPr/>
              <p:nvPr/>
            </p:nvSpPr>
            <p:spPr>
              <a:xfrm>
                <a:off x="616" y="2569"/>
                <a:ext cx="723"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85" name="Google Shape;1985;p28"/>
              <p:cNvSpPr/>
              <p:nvPr/>
            </p:nvSpPr>
            <p:spPr>
              <a:xfrm>
                <a:off x="632" y="2588"/>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986" name="Google Shape;1986;p28"/>
            <p:cNvSpPr/>
            <p:nvPr/>
          </p:nvSpPr>
          <p:spPr>
            <a:xfrm>
              <a:off x="4218" y="1357"/>
              <a:ext cx="595"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87" name="Google Shape;1987;p28"/>
            <p:cNvSpPr/>
            <p:nvPr/>
          </p:nvSpPr>
          <p:spPr>
            <a:xfrm>
              <a:off x="4228" y="1654"/>
              <a:ext cx="595"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1988" name="Google Shape;1988;p28"/>
            <p:cNvGrpSpPr/>
            <p:nvPr/>
          </p:nvGrpSpPr>
          <p:grpSpPr>
            <a:xfrm>
              <a:off x="4735" y="1627"/>
              <a:ext cx="582" cy="151"/>
              <a:chOff x="614" y="2568"/>
              <a:chExt cx="725" cy="139"/>
            </a:xfrm>
          </p:grpSpPr>
          <p:sp>
            <p:nvSpPr>
              <p:cNvPr id="1989" name="Google Shape;1989;p28"/>
              <p:cNvSpPr/>
              <p:nvPr/>
            </p:nvSpPr>
            <p:spPr>
              <a:xfrm>
                <a:off x="614" y="2568"/>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90" name="Google Shape;1990;p28"/>
              <p:cNvSpPr/>
              <p:nvPr/>
            </p:nvSpPr>
            <p:spPr>
              <a:xfrm>
                <a:off x="631" y="2584"/>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991" name="Google Shape;1991;p2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1992" name="Google Shape;1992;p28"/>
            <p:cNvGrpSpPr/>
            <p:nvPr/>
          </p:nvGrpSpPr>
          <p:grpSpPr>
            <a:xfrm>
              <a:off x="4739" y="1327"/>
              <a:ext cx="582" cy="139"/>
              <a:chOff x="614" y="2568"/>
              <a:chExt cx="725" cy="139"/>
            </a:xfrm>
          </p:grpSpPr>
          <p:sp>
            <p:nvSpPr>
              <p:cNvPr id="1993" name="Google Shape;1993;p28"/>
              <p:cNvSpPr/>
              <p:nvPr/>
            </p:nvSpPr>
            <p:spPr>
              <a:xfrm>
                <a:off x="614" y="2568"/>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94" name="Google Shape;1994;p28"/>
              <p:cNvSpPr/>
              <p:nvPr/>
            </p:nvSpPr>
            <p:spPr>
              <a:xfrm>
                <a:off x="630" y="2583"/>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995" name="Google Shape;1995;p28"/>
            <p:cNvSpPr/>
            <p:nvPr/>
          </p:nvSpPr>
          <p:spPr>
            <a:xfrm>
              <a:off x="5249" y="432"/>
              <a:ext cx="68"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96" name="Google Shape;1996;p2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97" name="Google Shape;1997;p2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98" name="Google Shape;1998;p28"/>
            <p:cNvSpPr/>
            <p:nvPr/>
          </p:nvSpPr>
          <p:spPr>
            <a:xfrm>
              <a:off x="5516" y="2611"/>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999" name="Google Shape;1999;p2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2000" name="Google Shape;2000;p28"/>
            <p:cNvSpPr/>
            <p:nvPr/>
          </p:nvSpPr>
          <p:spPr>
            <a:xfrm>
              <a:off x="4140" y="2677"/>
              <a:ext cx="1201"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2001" name="Google Shape;2001;p28"/>
            <p:cNvSpPr/>
            <p:nvPr/>
          </p:nvSpPr>
          <p:spPr>
            <a:xfrm>
              <a:off x="4205" y="2712"/>
              <a:ext cx="1070" cy="80"/>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2002" name="Google Shape;2002;p28"/>
            <p:cNvSpPr/>
            <p:nvPr/>
          </p:nvSpPr>
          <p:spPr>
            <a:xfrm>
              <a:off x="4309" y="2383"/>
              <a:ext cx="156"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2003" name="Google Shape;2003;p28"/>
            <p:cNvSpPr/>
            <p:nvPr/>
          </p:nvSpPr>
          <p:spPr>
            <a:xfrm>
              <a:off x="4485" y="2383"/>
              <a:ext cx="163"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2004" name="Google Shape;2004;p28"/>
            <p:cNvSpPr/>
            <p:nvPr/>
          </p:nvSpPr>
          <p:spPr>
            <a:xfrm>
              <a:off x="4661" y="2380"/>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2005" name="Google Shape;2005;p28"/>
            <p:cNvSpPr/>
            <p:nvPr/>
          </p:nvSpPr>
          <p:spPr>
            <a:xfrm>
              <a:off x="5061" y="1835"/>
              <a:ext cx="88" cy="762"/>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2006" name="Google Shape;2006;p28"/>
          <p:cNvSpPr txBox="1"/>
          <p:nvPr/>
        </p:nvSpPr>
        <p:spPr>
          <a:xfrm>
            <a:off x="798691" y="3200188"/>
            <a:ext cx="5085273" cy="2010122"/>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5</a:t>
            </a:r>
            <a:r>
              <a:rPr lang="en-US" sz="2400">
                <a:solidFill>
                  <a:srgbClr val="CC0000"/>
                </a:solidFill>
                <a:latin typeface="Calibri"/>
                <a:ea typeface="Calibri"/>
                <a:cs typeface="Calibri"/>
                <a:sym typeface="Calibri"/>
              </a:rPr>
              <a:t>.</a:t>
            </a:r>
            <a:r>
              <a:rPr lang="en-US" sz="2400">
                <a:solidFill>
                  <a:schemeClr val="dk1"/>
                </a:solidFill>
                <a:latin typeface="Calibri"/>
                <a:ea typeface="Calibri"/>
                <a:cs typeface="Calibri"/>
                <a:sym typeface="Calibri"/>
              </a:rPr>
              <a:t> HTTP client receives response message containing html file, displays html.  Parsing html file, finds 10 referenced jpeg  objects</a:t>
            </a:r>
            <a:endParaRPr sz="2800">
              <a:solidFill>
                <a:schemeClr val="dk1"/>
              </a:solidFill>
              <a:latin typeface="Calibri"/>
              <a:ea typeface="Calibri"/>
              <a:cs typeface="Calibri"/>
              <a:sym typeface="Calibri"/>
            </a:endParaRPr>
          </a:p>
        </p:txBody>
      </p:sp>
      <p:sp>
        <p:nvSpPr>
          <p:cNvPr id="2007" name="Google Shape;2007;p28"/>
          <p:cNvSpPr/>
          <p:nvPr/>
        </p:nvSpPr>
        <p:spPr>
          <a:xfrm>
            <a:off x="970480" y="4851930"/>
            <a:ext cx="3810000" cy="66675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2400">
                <a:solidFill>
                  <a:srgbClr val="CC0000"/>
                </a:solidFill>
                <a:latin typeface="Calibri"/>
                <a:ea typeface="Calibri"/>
                <a:cs typeface="Calibri"/>
                <a:sym typeface="Calibri"/>
              </a:rPr>
              <a:t>6.</a:t>
            </a:r>
            <a:r>
              <a:rPr lang="en-US" sz="2400">
                <a:solidFill>
                  <a:schemeClr val="dk1"/>
                </a:solidFill>
                <a:latin typeface="Calibri"/>
                <a:ea typeface="Calibri"/>
                <a:cs typeface="Calibri"/>
                <a:sym typeface="Calibri"/>
              </a:rPr>
              <a:t> Steps 1-5 repeated for each of 10 jpeg objects</a:t>
            </a:r>
            <a:endParaRPr/>
          </a:p>
        </p:txBody>
      </p:sp>
      <p:sp>
        <p:nvSpPr>
          <p:cNvPr id="2008" name="Google Shape;2008;p28"/>
          <p:cNvSpPr/>
          <p:nvPr/>
        </p:nvSpPr>
        <p:spPr>
          <a:xfrm>
            <a:off x="6706580" y="2782360"/>
            <a:ext cx="3810000" cy="733425"/>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2400">
                <a:solidFill>
                  <a:srgbClr val="CC0000"/>
                </a:solidFill>
                <a:latin typeface="Calibri"/>
                <a:ea typeface="Calibri"/>
                <a:cs typeface="Calibri"/>
                <a:sym typeface="Calibri"/>
              </a:rPr>
              <a:t>4.</a:t>
            </a:r>
            <a:r>
              <a:rPr lang="en-US" sz="2400">
                <a:solidFill>
                  <a:schemeClr val="dk1"/>
                </a:solidFill>
                <a:latin typeface="Calibri"/>
                <a:ea typeface="Calibri"/>
                <a:cs typeface="Calibri"/>
                <a:sym typeface="Calibri"/>
              </a:rPr>
              <a:t> HTTP server closes TCP connection. </a:t>
            </a:r>
            <a:endParaRPr/>
          </a:p>
        </p:txBody>
      </p:sp>
      <p:cxnSp>
        <p:nvCxnSpPr>
          <p:cNvPr id="2009" name="Google Shape;2009;p28"/>
          <p:cNvCxnSpPr/>
          <p:nvPr/>
        </p:nvCxnSpPr>
        <p:spPr>
          <a:xfrm flipH="1">
            <a:off x="5587465" y="3200187"/>
            <a:ext cx="1095375" cy="523875"/>
          </a:xfrm>
          <a:prstGeom prst="straightConnector1">
            <a:avLst/>
          </a:prstGeom>
          <a:noFill/>
          <a:ln cap="flat" cmpd="sng" w="38100">
            <a:solidFill>
              <a:srgbClr val="CC0000"/>
            </a:solidFill>
            <a:prstDash val="solid"/>
            <a:round/>
            <a:headEnd len="med" w="med" type="none"/>
            <a:tailEnd len="med" w="med" type="triangle"/>
          </a:ln>
        </p:spPr>
      </p:cxnSp>
      <p:cxnSp>
        <p:nvCxnSpPr>
          <p:cNvPr id="2010" name="Google Shape;2010;p28"/>
          <p:cNvCxnSpPr/>
          <p:nvPr/>
        </p:nvCxnSpPr>
        <p:spPr>
          <a:xfrm>
            <a:off x="798691" y="2868166"/>
            <a:ext cx="10658" cy="3480471"/>
          </a:xfrm>
          <a:prstGeom prst="straightConnector1">
            <a:avLst/>
          </a:prstGeom>
          <a:noFill/>
          <a:ln cap="flat" cmpd="sng" w="19050">
            <a:solidFill>
              <a:srgbClr val="A5A5A5"/>
            </a:solidFill>
            <a:prstDash val="solid"/>
            <a:round/>
            <a:headEnd len="med" w="med" type="none"/>
            <a:tailEnd len="med" w="med" type="triangle"/>
          </a:ln>
        </p:spPr>
      </p:cxnSp>
      <p:sp>
        <p:nvSpPr>
          <p:cNvPr id="2011" name="Google Shape;2011;p28"/>
          <p:cNvSpPr/>
          <p:nvPr/>
        </p:nvSpPr>
        <p:spPr>
          <a:xfrm>
            <a:off x="490358" y="5641558"/>
            <a:ext cx="657225" cy="2952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12" name="Google Shape;2012;p28"/>
          <p:cNvSpPr txBox="1"/>
          <p:nvPr/>
        </p:nvSpPr>
        <p:spPr>
          <a:xfrm>
            <a:off x="499883" y="5563771"/>
            <a:ext cx="673100" cy="406400"/>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rgbClr val="A5A5A5"/>
              </a:buClr>
              <a:buSzPts val="2000"/>
              <a:buFont typeface="Calibri"/>
              <a:buNone/>
            </a:pPr>
            <a:r>
              <a:rPr lang="en-US" sz="2000">
                <a:solidFill>
                  <a:srgbClr val="A5A5A5"/>
                </a:solidFill>
                <a:latin typeface="Calibri"/>
                <a:ea typeface="Calibri"/>
                <a:cs typeface="Calibri"/>
                <a:sym typeface="Calibri"/>
              </a:rPr>
              <a:t>time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8"/>
                                        </p:tgtEl>
                                        <p:attrNameLst>
                                          <p:attrName>style.visibility</p:attrName>
                                        </p:attrNameLst>
                                      </p:cBhvr>
                                      <p:to>
                                        <p:strVal val="visible"/>
                                      </p:to>
                                    </p:set>
                                    <p:animEffect filter="fade" transition="in">
                                      <p:cBhvr>
                                        <p:cTn dur="500"/>
                                        <p:tgtEl>
                                          <p:spTgt spid="200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09"/>
                                        </p:tgtEl>
                                        <p:attrNameLst>
                                          <p:attrName>style.visibility</p:attrName>
                                        </p:attrNameLst>
                                      </p:cBhvr>
                                      <p:to>
                                        <p:strVal val="visible"/>
                                      </p:to>
                                    </p:set>
                                    <p:animEffect filter="fade" transition="in">
                                      <p:cBhvr>
                                        <p:cTn dur="500"/>
                                        <p:tgtEl>
                                          <p:spTgt spid="200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06">
                                            <p:txEl>
                                              <p:pRg end="0" st="0"/>
                                            </p:txEl>
                                          </p:spTgt>
                                        </p:tgtEl>
                                        <p:attrNameLst>
                                          <p:attrName>style.visibility</p:attrName>
                                        </p:attrNameLst>
                                      </p:cBhvr>
                                      <p:to>
                                        <p:strVal val="visible"/>
                                      </p:to>
                                    </p:set>
                                    <p:animEffect filter="fade" transition="in">
                                      <p:cBhvr>
                                        <p:cTn dur="500"/>
                                        <p:tgtEl>
                                          <p:spTgt spid="20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7">
                                            <p:txEl>
                                              <p:pRg end="0" st="0"/>
                                            </p:txEl>
                                          </p:spTgt>
                                        </p:tgtEl>
                                        <p:attrNameLst>
                                          <p:attrName>style.visibility</p:attrName>
                                        </p:attrNameLst>
                                      </p:cBhvr>
                                      <p:to>
                                        <p:strVal val="visible"/>
                                      </p:to>
                                    </p:set>
                                    <p:animEffect filter="fade" transition="in">
                                      <p:cBhvr>
                                        <p:cTn dur="500"/>
                                        <p:tgtEl>
                                          <p:spTgt spid="200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7" name="Shape 2017"/>
        <p:cNvGrpSpPr/>
        <p:nvPr/>
      </p:nvGrpSpPr>
      <p:grpSpPr>
        <a:xfrm>
          <a:off x="0" y="0"/>
          <a:ext cx="0" cy="0"/>
          <a:chOff x="0" y="0"/>
          <a:chExt cx="0" cy="0"/>
        </a:xfrm>
      </p:grpSpPr>
      <p:sp>
        <p:nvSpPr>
          <p:cNvPr id="2018" name="Google Shape;2018;p29"/>
          <p:cNvSpPr txBox="1"/>
          <p:nvPr>
            <p:ph type="title"/>
          </p:nvPr>
        </p:nvSpPr>
        <p:spPr>
          <a:xfrm>
            <a:off x="798691" y="43000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Non-persistent HTTP: response time</a:t>
            </a:r>
            <a:endParaRPr sz="4400"/>
          </a:p>
        </p:txBody>
      </p:sp>
      <p:sp>
        <p:nvSpPr>
          <p:cNvPr id="2019" name="Google Shape;2019;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2020" name="Google Shape;2020;p29"/>
          <p:cNvSpPr txBox="1"/>
          <p:nvPr/>
        </p:nvSpPr>
        <p:spPr>
          <a:xfrm>
            <a:off x="649307" y="1636150"/>
            <a:ext cx="5683502" cy="3337334"/>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RTT (definition):</a:t>
            </a:r>
            <a:r>
              <a:rPr lang="en-US" sz="2800">
                <a:solidFill>
                  <a:schemeClr val="dk1"/>
                </a:solidFill>
                <a:latin typeface="Calibri"/>
                <a:ea typeface="Calibri"/>
                <a:cs typeface="Calibri"/>
                <a:sym typeface="Calibri"/>
              </a:rPr>
              <a:t> time for a small packet to travel from client to server and back</a:t>
            </a:r>
            <a:endParaRPr/>
          </a:p>
          <a:p>
            <a:pPr indent="-222250" lvl="0" marL="352425" marR="0" rtl="0" algn="l">
              <a:lnSpc>
                <a:spcPct val="90000"/>
              </a:lnSpc>
              <a:spcBef>
                <a:spcPts val="100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HTTP response time (per object):</a:t>
            </a:r>
            <a:endParaRPr/>
          </a:p>
          <a:p>
            <a:pPr indent="-215900" lvl="0" marL="460375" marR="0" rtl="0" algn="l">
              <a:lnSpc>
                <a:spcPct val="90000"/>
              </a:lnSpc>
              <a:spcBef>
                <a:spcPts val="4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one RTT to initiate TCP connection</a:t>
            </a:r>
            <a:endParaRPr/>
          </a:p>
          <a:p>
            <a:pPr indent="-215900" lvl="0" marL="460375" marR="0" rtl="0" algn="l">
              <a:lnSpc>
                <a:spcPct val="90000"/>
              </a:lnSpc>
              <a:spcBef>
                <a:spcPts val="4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one RTT for HTTP request and first few bytes of HTTP response to return</a:t>
            </a:r>
            <a:endParaRPr/>
          </a:p>
          <a:p>
            <a:pPr indent="-215900" lvl="0" marL="460375" marR="0" rtl="0" algn="l">
              <a:lnSpc>
                <a:spcPct val="90000"/>
              </a:lnSpc>
              <a:spcBef>
                <a:spcPts val="4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object/file transmission time</a:t>
            </a:r>
            <a:endParaRPr/>
          </a:p>
          <a:p>
            <a:pPr indent="-222250" lvl="0" marL="352425" marR="0" rtl="0" algn="l">
              <a:lnSpc>
                <a:spcPct val="90000"/>
              </a:lnSpc>
              <a:spcBef>
                <a:spcPts val="1000"/>
              </a:spcBef>
              <a:spcAft>
                <a:spcPts val="0"/>
              </a:spcAft>
              <a:buClr>
                <a:srgbClr val="0000A3"/>
              </a:buClr>
              <a:buSzPts val="2400"/>
              <a:buFont typeface="Noto Sans Symbols"/>
              <a:buNone/>
            </a:pPr>
            <a:r>
              <a:t/>
            </a:r>
            <a:endParaRPr sz="2400">
              <a:solidFill>
                <a:schemeClr val="dk1"/>
              </a:solidFill>
              <a:latin typeface="Calibri"/>
              <a:ea typeface="Calibri"/>
              <a:cs typeface="Calibri"/>
              <a:sym typeface="Calibri"/>
            </a:endParaRPr>
          </a:p>
        </p:txBody>
      </p:sp>
      <p:cxnSp>
        <p:nvCxnSpPr>
          <p:cNvPr id="2021" name="Google Shape;2021;p29"/>
          <p:cNvCxnSpPr/>
          <p:nvPr/>
        </p:nvCxnSpPr>
        <p:spPr>
          <a:xfrm>
            <a:off x="8197229" y="2671284"/>
            <a:ext cx="0" cy="2832100"/>
          </a:xfrm>
          <a:prstGeom prst="straightConnector1">
            <a:avLst/>
          </a:prstGeom>
          <a:noFill/>
          <a:ln cap="flat" cmpd="sng" w="9525">
            <a:solidFill>
              <a:srgbClr val="FF0000"/>
            </a:solidFill>
            <a:prstDash val="dot"/>
            <a:round/>
            <a:headEnd len="med" w="med" type="none"/>
            <a:tailEnd len="med" w="med" type="triangle"/>
          </a:ln>
        </p:spPr>
      </p:cxnSp>
      <p:cxnSp>
        <p:nvCxnSpPr>
          <p:cNvPr id="2022" name="Google Shape;2022;p29"/>
          <p:cNvCxnSpPr/>
          <p:nvPr/>
        </p:nvCxnSpPr>
        <p:spPr>
          <a:xfrm>
            <a:off x="9887916" y="2664934"/>
            <a:ext cx="0" cy="2881312"/>
          </a:xfrm>
          <a:prstGeom prst="straightConnector1">
            <a:avLst/>
          </a:prstGeom>
          <a:noFill/>
          <a:ln cap="flat" cmpd="sng" w="9525">
            <a:solidFill>
              <a:srgbClr val="FF0000"/>
            </a:solidFill>
            <a:prstDash val="dot"/>
            <a:round/>
            <a:headEnd len="med" w="med" type="none"/>
            <a:tailEnd len="med" w="med" type="triangle"/>
          </a:ln>
        </p:spPr>
      </p:cxnSp>
      <p:cxnSp>
        <p:nvCxnSpPr>
          <p:cNvPr id="2023" name="Google Shape;2023;p29"/>
          <p:cNvCxnSpPr/>
          <p:nvPr/>
        </p:nvCxnSpPr>
        <p:spPr>
          <a:xfrm>
            <a:off x="8211516" y="2903059"/>
            <a:ext cx="1684338" cy="390525"/>
          </a:xfrm>
          <a:prstGeom prst="straightConnector1">
            <a:avLst/>
          </a:prstGeom>
          <a:noFill/>
          <a:ln cap="flat" cmpd="sng" w="9525">
            <a:solidFill>
              <a:schemeClr val="dk1"/>
            </a:solidFill>
            <a:prstDash val="solid"/>
            <a:round/>
            <a:headEnd len="med" w="med" type="none"/>
            <a:tailEnd len="med" w="med" type="triangle"/>
          </a:ln>
        </p:spPr>
      </p:cxnSp>
      <p:cxnSp>
        <p:nvCxnSpPr>
          <p:cNvPr id="2024" name="Google Shape;2024;p29"/>
          <p:cNvCxnSpPr/>
          <p:nvPr/>
        </p:nvCxnSpPr>
        <p:spPr>
          <a:xfrm flipH="1">
            <a:off x="8197229" y="3341209"/>
            <a:ext cx="1673225" cy="403225"/>
          </a:xfrm>
          <a:prstGeom prst="straightConnector1">
            <a:avLst/>
          </a:prstGeom>
          <a:noFill/>
          <a:ln cap="flat" cmpd="sng" w="9525">
            <a:solidFill>
              <a:schemeClr val="dk1"/>
            </a:solidFill>
            <a:prstDash val="solid"/>
            <a:round/>
            <a:headEnd len="med" w="med" type="none"/>
            <a:tailEnd len="med" w="med" type="triangle"/>
          </a:ln>
        </p:spPr>
      </p:cxnSp>
      <p:cxnSp>
        <p:nvCxnSpPr>
          <p:cNvPr id="2025" name="Google Shape;2025;p29"/>
          <p:cNvCxnSpPr/>
          <p:nvPr/>
        </p:nvCxnSpPr>
        <p:spPr>
          <a:xfrm>
            <a:off x="8205166" y="3849209"/>
            <a:ext cx="1684338" cy="390525"/>
          </a:xfrm>
          <a:prstGeom prst="straightConnector1">
            <a:avLst/>
          </a:prstGeom>
          <a:noFill/>
          <a:ln cap="flat" cmpd="sng" w="9525">
            <a:solidFill>
              <a:schemeClr val="dk1"/>
            </a:solidFill>
            <a:prstDash val="solid"/>
            <a:round/>
            <a:headEnd len="med" w="med" type="none"/>
            <a:tailEnd len="med" w="med" type="triangle"/>
          </a:ln>
        </p:spPr>
      </p:cxnSp>
      <p:sp>
        <p:nvSpPr>
          <p:cNvPr id="2026" name="Google Shape;2026;p29"/>
          <p:cNvSpPr/>
          <p:nvPr/>
        </p:nvSpPr>
        <p:spPr>
          <a:xfrm>
            <a:off x="9903942" y="4249143"/>
            <a:ext cx="99857" cy="161739"/>
          </a:xfrm>
          <a:prstGeom prst="rightBrace">
            <a:avLst>
              <a:gd fmla="val 20390"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027" name="Google Shape;2027;p29"/>
          <p:cNvSpPr txBox="1"/>
          <p:nvPr/>
        </p:nvSpPr>
        <p:spPr>
          <a:xfrm>
            <a:off x="9997454" y="3944459"/>
            <a:ext cx="1123577" cy="879472"/>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lang="en-US" sz="2000">
                <a:solidFill>
                  <a:srgbClr val="CC0000"/>
                </a:solidFill>
                <a:latin typeface="Calibri"/>
                <a:ea typeface="Calibri"/>
                <a:cs typeface="Calibri"/>
                <a:sym typeface="Calibri"/>
              </a:rPr>
              <a:t>time to </a:t>
            </a:r>
            <a:endParaRPr/>
          </a:p>
          <a:p>
            <a:pPr indent="0" lvl="0" marL="0" marR="0" rtl="0" algn="l">
              <a:lnSpc>
                <a:spcPct val="85000"/>
              </a:lnSpc>
              <a:spcBef>
                <a:spcPts val="0"/>
              </a:spcBef>
              <a:spcAft>
                <a:spcPts val="0"/>
              </a:spcAft>
              <a:buClr>
                <a:srgbClr val="CC0000"/>
              </a:buClr>
              <a:buSzPts val="2000"/>
              <a:buFont typeface="Calibri"/>
              <a:buNone/>
            </a:pPr>
            <a:r>
              <a:rPr lang="en-US" sz="2000">
                <a:solidFill>
                  <a:srgbClr val="CC0000"/>
                </a:solidFill>
                <a:latin typeface="Calibri"/>
                <a:ea typeface="Calibri"/>
                <a:cs typeface="Calibri"/>
                <a:sym typeface="Calibri"/>
              </a:rPr>
              <a:t>transmit </a:t>
            </a:r>
            <a:endParaRPr/>
          </a:p>
          <a:p>
            <a:pPr indent="0" lvl="0" marL="0" marR="0" rtl="0" algn="l">
              <a:lnSpc>
                <a:spcPct val="85000"/>
              </a:lnSpc>
              <a:spcBef>
                <a:spcPts val="0"/>
              </a:spcBef>
              <a:spcAft>
                <a:spcPts val="0"/>
              </a:spcAft>
              <a:buClr>
                <a:srgbClr val="CC0000"/>
              </a:buClr>
              <a:buSzPts val="2000"/>
              <a:buFont typeface="Calibri"/>
              <a:buNone/>
            </a:pPr>
            <a:r>
              <a:rPr lang="en-US" sz="2000">
                <a:solidFill>
                  <a:srgbClr val="CC0000"/>
                </a:solidFill>
                <a:latin typeface="Calibri"/>
                <a:ea typeface="Calibri"/>
                <a:cs typeface="Calibri"/>
                <a:sym typeface="Calibri"/>
              </a:rPr>
              <a:t>file</a:t>
            </a:r>
            <a:endParaRPr/>
          </a:p>
        </p:txBody>
      </p:sp>
      <p:cxnSp>
        <p:nvCxnSpPr>
          <p:cNvPr id="2028" name="Google Shape;2028;p29"/>
          <p:cNvCxnSpPr/>
          <p:nvPr/>
        </p:nvCxnSpPr>
        <p:spPr>
          <a:xfrm>
            <a:off x="7806704" y="2877659"/>
            <a:ext cx="390525" cy="1587"/>
          </a:xfrm>
          <a:prstGeom prst="straightConnector1">
            <a:avLst/>
          </a:prstGeom>
          <a:noFill/>
          <a:ln cap="flat" cmpd="sng" w="9525">
            <a:solidFill>
              <a:schemeClr val="dk1"/>
            </a:solidFill>
            <a:prstDash val="solid"/>
            <a:round/>
            <a:headEnd len="med" w="med" type="none"/>
            <a:tailEnd len="med" w="med" type="none"/>
          </a:ln>
        </p:spPr>
      </p:cxnSp>
      <p:sp>
        <p:nvSpPr>
          <p:cNvPr id="2029" name="Google Shape;2029;p29"/>
          <p:cNvSpPr txBox="1"/>
          <p:nvPr/>
        </p:nvSpPr>
        <p:spPr>
          <a:xfrm>
            <a:off x="6516660" y="2563010"/>
            <a:ext cx="1363707" cy="61786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lang="en-US" sz="2000">
                <a:solidFill>
                  <a:srgbClr val="CC0000"/>
                </a:solidFill>
                <a:latin typeface="Calibri"/>
                <a:ea typeface="Calibri"/>
                <a:cs typeface="Calibri"/>
                <a:sym typeface="Calibri"/>
              </a:rPr>
              <a:t>initiate TCP</a:t>
            </a:r>
            <a:endParaRPr/>
          </a:p>
          <a:p>
            <a:pPr indent="0" lvl="0" marL="0" marR="0" rtl="0" algn="l">
              <a:lnSpc>
                <a:spcPct val="85000"/>
              </a:lnSpc>
              <a:spcBef>
                <a:spcPts val="0"/>
              </a:spcBef>
              <a:spcAft>
                <a:spcPts val="0"/>
              </a:spcAft>
              <a:buClr>
                <a:srgbClr val="CC0000"/>
              </a:buClr>
              <a:buSzPts val="2000"/>
              <a:buFont typeface="Calibri"/>
              <a:buNone/>
            </a:pPr>
            <a:r>
              <a:rPr lang="en-US" sz="2000">
                <a:solidFill>
                  <a:srgbClr val="CC0000"/>
                </a:solidFill>
                <a:latin typeface="Calibri"/>
                <a:ea typeface="Calibri"/>
                <a:cs typeface="Calibri"/>
                <a:sym typeface="Calibri"/>
              </a:rPr>
              <a:t>connection</a:t>
            </a:r>
            <a:endParaRPr/>
          </a:p>
        </p:txBody>
      </p:sp>
      <p:sp>
        <p:nvSpPr>
          <p:cNvPr id="2030" name="Google Shape;2030;p29"/>
          <p:cNvSpPr/>
          <p:nvPr/>
        </p:nvSpPr>
        <p:spPr>
          <a:xfrm>
            <a:off x="7941641" y="2928459"/>
            <a:ext cx="128588" cy="803275"/>
          </a:xfrm>
          <a:prstGeom prst="leftBrace">
            <a:avLst>
              <a:gd fmla="val 52057"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3200">
              <a:solidFill>
                <a:schemeClr val="dk1"/>
              </a:solidFill>
              <a:latin typeface="Calibri"/>
              <a:ea typeface="Calibri"/>
              <a:cs typeface="Calibri"/>
              <a:sym typeface="Calibri"/>
            </a:endParaRPr>
          </a:p>
        </p:txBody>
      </p:sp>
      <p:sp>
        <p:nvSpPr>
          <p:cNvPr id="2031" name="Google Shape;2031;p29"/>
          <p:cNvSpPr txBox="1"/>
          <p:nvPr/>
        </p:nvSpPr>
        <p:spPr>
          <a:xfrm>
            <a:off x="7459041" y="3139596"/>
            <a:ext cx="575222" cy="35625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RTT</a:t>
            </a:r>
            <a:endParaRPr/>
          </a:p>
        </p:txBody>
      </p:sp>
      <p:cxnSp>
        <p:nvCxnSpPr>
          <p:cNvPr id="2032" name="Google Shape;2032;p29"/>
          <p:cNvCxnSpPr/>
          <p:nvPr/>
        </p:nvCxnSpPr>
        <p:spPr>
          <a:xfrm>
            <a:off x="7855916" y="3782534"/>
            <a:ext cx="354013" cy="0"/>
          </a:xfrm>
          <a:prstGeom prst="straightConnector1">
            <a:avLst/>
          </a:prstGeom>
          <a:noFill/>
          <a:ln cap="flat" cmpd="sng" w="9525">
            <a:solidFill>
              <a:schemeClr val="dk1"/>
            </a:solidFill>
            <a:prstDash val="solid"/>
            <a:round/>
            <a:headEnd len="med" w="med" type="none"/>
            <a:tailEnd len="med" w="med" type="none"/>
          </a:ln>
        </p:spPr>
      </p:cxnSp>
      <p:sp>
        <p:nvSpPr>
          <p:cNvPr id="2033" name="Google Shape;2033;p29"/>
          <p:cNvSpPr txBox="1"/>
          <p:nvPr/>
        </p:nvSpPr>
        <p:spPr>
          <a:xfrm>
            <a:off x="6493113" y="3589815"/>
            <a:ext cx="1969956" cy="35625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lang="en-US" sz="2000">
                <a:solidFill>
                  <a:srgbClr val="CC0000"/>
                </a:solidFill>
                <a:latin typeface="Calibri"/>
                <a:ea typeface="Calibri"/>
                <a:cs typeface="Calibri"/>
                <a:sym typeface="Calibri"/>
              </a:rPr>
              <a:t>request file</a:t>
            </a:r>
            <a:endParaRPr/>
          </a:p>
        </p:txBody>
      </p:sp>
      <p:sp>
        <p:nvSpPr>
          <p:cNvPr id="2034" name="Google Shape;2034;p29"/>
          <p:cNvSpPr/>
          <p:nvPr/>
        </p:nvSpPr>
        <p:spPr>
          <a:xfrm>
            <a:off x="7947991" y="3838096"/>
            <a:ext cx="128588" cy="803275"/>
          </a:xfrm>
          <a:prstGeom prst="leftBrace">
            <a:avLst>
              <a:gd fmla="val 52057"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3200">
              <a:solidFill>
                <a:schemeClr val="dk1"/>
              </a:solidFill>
              <a:latin typeface="Calibri"/>
              <a:ea typeface="Calibri"/>
              <a:cs typeface="Calibri"/>
              <a:sym typeface="Calibri"/>
            </a:endParaRPr>
          </a:p>
        </p:txBody>
      </p:sp>
      <p:sp>
        <p:nvSpPr>
          <p:cNvPr id="2035" name="Google Shape;2035;p29"/>
          <p:cNvSpPr txBox="1"/>
          <p:nvPr/>
        </p:nvSpPr>
        <p:spPr>
          <a:xfrm>
            <a:off x="7478091" y="4061934"/>
            <a:ext cx="575222" cy="35625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RTT</a:t>
            </a:r>
            <a:endParaRPr/>
          </a:p>
        </p:txBody>
      </p:sp>
      <p:cxnSp>
        <p:nvCxnSpPr>
          <p:cNvPr id="2036" name="Google Shape;2036;p29"/>
          <p:cNvCxnSpPr/>
          <p:nvPr/>
        </p:nvCxnSpPr>
        <p:spPr>
          <a:xfrm flipH="1">
            <a:off x="7818988" y="4805006"/>
            <a:ext cx="361323" cy="2238"/>
          </a:xfrm>
          <a:prstGeom prst="straightConnector1">
            <a:avLst/>
          </a:prstGeom>
          <a:noFill/>
          <a:ln cap="flat" cmpd="sng" w="9525">
            <a:solidFill>
              <a:schemeClr val="dk1"/>
            </a:solidFill>
            <a:prstDash val="solid"/>
            <a:round/>
            <a:headEnd len="med" w="med" type="none"/>
            <a:tailEnd len="med" w="med" type="none"/>
          </a:ln>
        </p:spPr>
      </p:cxnSp>
      <p:sp>
        <p:nvSpPr>
          <p:cNvPr id="2037" name="Google Shape;2037;p29"/>
          <p:cNvSpPr txBox="1"/>
          <p:nvPr/>
        </p:nvSpPr>
        <p:spPr>
          <a:xfrm>
            <a:off x="6405684" y="4617233"/>
            <a:ext cx="1647627" cy="35625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lang="en-US" sz="2000">
                <a:solidFill>
                  <a:srgbClr val="CC0000"/>
                </a:solidFill>
                <a:latin typeface="Calibri"/>
                <a:ea typeface="Calibri"/>
                <a:cs typeface="Calibri"/>
                <a:sym typeface="Calibri"/>
              </a:rPr>
              <a:t>file received</a:t>
            </a:r>
            <a:endParaRPr/>
          </a:p>
        </p:txBody>
      </p:sp>
      <p:sp>
        <p:nvSpPr>
          <p:cNvPr id="2038" name="Google Shape;2038;p29"/>
          <p:cNvSpPr txBox="1"/>
          <p:nvPr/>
        </p:nvSpPr>
        <p:spPr>
          <a:xfrm>
            <a:off x="7971804" y="5517671"/>
            <a:ext cx="663964" cy="35625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time</a:t>
            </a:r>
            <a:endParaRPr/>
          </a:p>
        </p:txBody>
      </p:sp>
      <p:sp>
        <p:nvSpPr>
          <p:cNvPr id="2039" name="Google Shape;2039;p29"/>
          <p:cNvSpPr txBox="1"/>
          <p:nvPr/>
        </p:nvSpPr>
        <p:spPr>
          <a:xfrm>
            <a:off x="9649791" y="5500209"/>
            <a:ext cx="66396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time</a:t>
            </a:r>
            <a:endParaRPr/>
          </a:p>
        </p:txBody>
      </p:sp>
      <p:grpSp>
        <p:nvGrpSpPr>
          <p:cNvPr id="2040" name="Google Shape;2040;p29"/>
          <p:cNvGrpSpPr/>
          <p:nvPr/>
        </p:nvGrpSpPr>
        <p:grpSpPr>
          <a:xfrm>
            <a:off x="9687891" y="1898171"/>
            <a:ext cx="423863" cy="684213"/>
            <a:chOff x="4140" y="429"/>
            <a:chExt cx="1425" cy="2396"/>
          </a:xfrm>
        </p:grpSpPr>
        <p:sp>
          <p:nvSpPr>
            <p:cNvPr id="2041" name="Google Shape;2041;p2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42" name="Google Shape;2042;p29"/>
            <p:cNvSpPr/>
            <p:nvPr/>
          </p:nvSpPr>
          <p:spPr>
            <a:xfrm>
              <a:off x="4204" y="429"/>
              <a:ext cx="1051"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043" name="Google Shape;2043;p2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44" name="Google Shape;2044;p2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45" name="Google Shape;2045;p29"/>
            <p:cNvSpPr/>
            <p:nvPr/>
          </p:nvSpPr>
          <p:spPr>
            <a:xfrm>
              <a:off x="4209" y="690"/>
              <a:ext cx="598"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nvGrpSpPr>
            <p:cNvPr id="2046" name="Google Shape;2046;p29"/>
            <p:cNvGrpSpPr/>
            <p:nvPr/>
          </p:nvGrpSpPr>
          <p:grpSpPr>
            <a:xfrm>
              <a:off x="4748" y="668"/>
              <a:ext cx="582" cy="145"/>
              <a:chOff x="613" y="2568"/>
              <a:chExt cx="726" cy="139"/>
            </a:xfrm>
          </p:grpSpPr>
          <p:sp>
            <p:nvSpPr>
              <p:cNvPr id="2047" name="Google Shape;2047;p29"/>
              <p:cNvSpPr/>
              <p:nvPr/>
            </p:nvSpPr>
            <p:spPr>
              <a:xfrm>
                <a:off x="613" y="2568"/>
                <a:ext cx="726"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048" name="Google Shape;2048;p29"/>
              <p:cNvSpPr/>
              <p:nvPr/>
            </p:nvSpPr>
            <p:spPr>
              <a:xfrm>
                <a:off x="627" y="2584"/>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2049" name="Google Shape;2049;p29"/>
            <p:cNvSpPr/>
            <p:nvPr/>
          </p:nvSpPr>
          <p:spPr>
            <a:xfrm>
              <a:off x="4225" y="1018"/>
              <a:ext cx="592"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nvGrpSpPr>
            <p:cNvPr id="2050" name="Google Shape;2050;p29"/>
            <p:cNvGrpSpPr/>
            <p:nvPr/>
          </p:nvGrpSpPr>
          <p:grpSpPr>
            <a:xfrm>
              <a:off x="4749" y="996"/>
              <a:ext cx="582" cy="133"/>
              <a:chOff x="616" y="2570"/>
              <a:chExt cx="726" cy="138"/>
            </a:xfrm>
          </p:grpSpPr>
          <p:sp>
            <p:nvSpPr>
              <p:cNvPr id="2051" name="Google Shape;2051;p29"/>
              <p:cNvSpPr/>
              <p:nvPr/>
            </p:nvSpPr>
            <p:spPr>
              <a:xfrm>
                <a:off x="616" y="2570"/>
                <a:ext cx="726"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052" name="Google Shape;2052;p29"/>
              <p:cNvSpPr/>
              <p:nvPr/>
            </p:nvSpPr>
            <p:spPr>
              <a:xfrm>
                <a:off x="629" y="2587"/>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2053" name="Google Shape;2053;p29"/>
            <p:cNvSpPr/>
            <p:nvPr/>
          </p:nvSpPr>
          <p:spPr>
            <a:xfrm>
              <a:off x="4215" y="1357"/>
              <a:ext cx="598"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054" name="Google Shape;2054;p29"/>
            <p:cNvSpPr/>
            <p:nvPr/>
          </p:nvSpPr>
          <p:spPr>
            <a:xfrm>
              <a:off x="4225" y="1658"/>
              <a:ext cx="598"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nvGrpSpPr>
            <p:cNvPr id="2055" name="Google Shape;2055;p29"/>
            <p:cNvGrpSpPr/>
            <p:nvPr/>
          </p:nvGrpSpPr>
          <p:grpSpPr>
            <a:xfrm>
              <a:off x="4733" y="1641"/>
              <a:ext cx="587" cy="139"/>
              <a:chOff x="611" y="2581"/>
              <a:chExt cx="731" cy="128"/>
            </a:xfrm>
          </p:grpSpPr>
          <p:sp>
            <p:nvSpPr>
              <p:cNvPr id="2056" name="Google Shape;2056;p29"/>
              <p:cNvSpPr/>
              <p:nvPr/>
            </p:nvSpPr>
            <p:spPr>
              <a:xfrm>
                <a:off x="611" y="2581"/>
                <a:ext cx="731" cy="12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057" name="Google Shape;2057;p29"/>
              <p:cNvSpPr/>
              <p:nvPr/>
            </p:nvSpPr>
            <p:spPr>
              <a:xfrm>
                <a:off x="624" y="2586"/>
                <a:ext cx="698"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2058" name="Google Shape;2058;p2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2059" name="Google Shape;2059;p29"/>
            <p:cNvGrpSpPr/>
            <p:nvPr/>
          </p:nvGrpSpPr>
          <p:grpSpPr>
            <a:xfrm>
              <a:off x="4737" y="1335"/>
              <a:ext cx="582" cy="139"/>
              <a:chOff x="612" y="2576"/>
              <a:chExt cx="725" cy="139"/>
            </a:xfrm>
          </p:grpSpPr>
          <p:sp>
            <p:nvSpPr>
              <p:cNvPr id="2060" name="Google Shape;2060;p29"/>
              <p:cNvSpPr/>
              <p:nvPr/>
            </p:nvSpPr>
            <p:spPr>
              <a:xfrm>
                <a:off x="612" y="2576"/>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061" name="Google Shape;2061;p29"/>
              <p:cNvSpPr/>
              <p:nvPr/>
            </p:nvSpPr>
            <p:spPr>
              <a:xfrm>
                <a:off x="626" y="2587"/>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2062" name="Google Shape;2062;p29"/>
            <p:cNvSpPr/>
            <p:nvPr/>
          </p:nvSpPr>
          <p:spPr>
            <a:xfrm>
              <a:off x="5250" y="429"/>
              <a:ext cx="69"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063" name="Google Shape;2063;p2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64" name="Google Shape;2064;p2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65" name="Google Shape;2065;p29"/>
            <p:cNvSpPr/>
            <p:nvPr/>
          </p:nvSpPr>
          <p:spPr>
            <a:xfrm>
              <a:off x="5517" y="2614"/>
              <a:ext cx="48"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066" name="Google Shape;2066;p2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67" name="Google Shape;2067;p29"/>
            <p:cNvSpPr/>
            <p:nvPr/>
          </p:nvSpPr>
          <p:spPr>
            <a:xfrm>
              <a:off x="4140" y="2680"/>
              <a:ext cx="1201"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068" name="Google Shape;2068;p29"/>
            <p:cNvSpPr/>
            <p:nvPr/>
          </p:nvSpPr>
          <p:spPr>
            <a:xfrm>
              <a:off x="4204" y="2708"/>
              <a:ext cx="1073"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069" name="Google Shape;2069;p29"/>
            <p:cNvSpPr/>
            <p:nvPr/>
          </p:nvSpPr>
          <p:spPr>
            <a:xfrm>
              <a:off x="4305" y="2380"/>
              <a:ext cx="160"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070" name="Google Shape;2070;p29"/>
            <p:cNvSpPr/>
            <p:nvPr/>
          </p:nvSpPr>
          <p:spPr>
            <a:xfrm>
              <a:off x="4487" y="2386"/>
              <a:ext cx="160" cy="13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FF0000"/>
                </a:solidFill>
                <a:latin typeface="Calibri"/>
                <a:ea typeface="Calibri"/>
                <a:cs typeface="Calibri"/>
                <a:sym typeface="Calibri"/>
              </a:endParaRPr>
            </a:p>
          </p:txBody>
        </p:sp>
        <p:sp>
          <p:nvSpPr>
            <p:cNvPr id="2071" name="Google Shape;2071;p29"/>
            <p:cNvSpPr/>
            <p:nvPr/>
          </p:nvSpPr>
          <p:spPr>
            <a:xfrm>
              <a:off x="4663" y="2380"/>
              <a:ext cx="155"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072" name="Google Shape;2072;p29"/>
            <p:cNvSpPr/>
            <p:nvPr/>
          </p:nvSpPr>
          <p:spPr>
            <a:xfrm>
              <a:off x="5063" y="1835"/>
              <a:ext cx="85"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grpSp>
        <p:nvGrpSpPr>
          <p:cNvPr id="2073" name="Google Shape;2073;p29"/>
          <p:cNvGrpSpPr/>
          <p:nvPr/>
        </p:nvGrpSpPr>
        <p:grpSpPr>
          <a:xfrm>
            <a:off x="7686054" y="1920396"/>
            <a:ext cx="698500" cy="709613"/>
            <a:chOff x="-44" y="1473"/>
            <a:chExt cx="981" cy="1105"/>
          </a:xfrm>
        </p:grpSpPr>
        <p:pic>
          <p:nvPicPr>
            <p:cNvPr descr="desktop_computer_stylized_medium" id="2074" name="Google Shape;2074;p2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075" name="Google Shape;2075;p2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2076" name="Google Shape;2076;p29"/>
          <p:cNvSpPr/>
          <p:nvPr/>
        </p:nvSpPr>
        <p:spPr>
          <a:xfrm>
            <a:off x="8188984" y="4246818"/>
            <a:ext cx="1700270" cy="558188"/>
          </a:xfrm>
          <a:custGeom>
            <a:rect b="b" l="l" r="r" t="t"/>
            <a:pathLst>
              <a:path extrusionOk="0" h="558188" w="1700270">
                <a:moveTo>
                  <a:pt x="0" y="389262"/>
                </a:moveTo>
                <a:lnTo>
                  <a:pt x="1700270" y="0"/>
                </a:lnTo>
                <a:lnTo>
                  <a:pt x="1696598" y="176269"/>
                </a:lnTo>
                <a:lnTo>
                  <a:pt x="7344" y="558188"/>
                </a:lnTo>
                <a:lnTo>
                  <a:pt x="0" y="389262"/>
                </a:lnTo>
                <a:close/>
              </a:path>
            </a:pathLst>
          </a:custGeom>
          <a:solidFill>
            <a:srgbClr val="0000A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7" name="Google Shape;2077;p29"/>
          <p:cNvSpPr/>
          <p:nvPr/>
        </p:nvSpPr>
        <p:spPr>
          <a:xfrm rot="10800000">
            <a:off x="8069711" y="4643267"/>
            <a:ext cx="99857" cy="161739"/>
          </a:xfrm>
          <a:prstGeom prst="rightBrace">
            <a:avLst>
              <a:gd fmla="val 20390"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078" name="Google Shape;2078;p29"/>
          <p:cNvSpPr txBox="1"/>
          <p:nvPr/>
        </p:nvSpPr>
        <p:spPr>
          <a:xfrm>
            <a:off x="1056514" y="5919854"/>
            <a:ext cx="9257241"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400">
                <a:solidFill>
                  <a:schemeClr val="dk1"/>
                </a:solidFill>
                <a:latin typeface="Calibri"/>
                <a:ea typeface="Calibri"/>
                <a:cs typeface="Calibri"/>
                <a:sym typeface="Calibri"/>
              </a:rPr>
              <a:t>Non-persistent HTTP response time =  2RTT+ file transmission  time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3" name="Shape 2083"/>
        <p:cNvGrpSpPr/>
        <p:nvPr/>
      </p:nvGrpSpPr>
      <p:grpSpPr>
        <a:xfrm>
          <a:off x="0" y="0"/>
          <a:ext cx="0" cy="0"/>
          <a:chOff x="0" y="0"/>
          <a:chExt cx="0" cy="0"/>
        </a:xfrm>
      </p:grpSpPr>
      <p:sp>
        <p:nvSpPr>
          <p:cNvPr id="2084" name="Google Shape;2084;p30"/>
          <p:cNvSpPr txBox="1"/>
          <p:nvPr>
            <p:ph type="title"/>
          </p:nvPr>
        </p:nvSpPr>
        <p:spPr>
          <a:xfrm>
            <a:off x="798691" y="43000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Persistent HTTP </a:t>
            </a:r>
            <a:r>
              <a:rPr lang="en-US" sz="3200"/>
              <a:t>(HTTP 1.1)</a:t>
            </a:r>
            <a:endParaRPr sz="4400"/>
          </a:p>
        </p:txBody>
      </p:sp>
      <p:sp>
        <p:nvSpPr>
          <p:cNvPr id="2085" name="Google Shape;2085;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2086" name="Google Shape;2086;p30"/>
          <p:cNvSpPr txBox="1"/>
          <p:nvPr/>
        </p:nvSpPr>
        <p:spPr>
          <a:xfrm>
            <a:off x="798691" y="1401764"/>
            <a:ext cx="5165547" cy="4648200"/>
          </a:xfrm>
          <a:prstGeom prst="rect">
            <a:avLst/>
          </a:prstGeom>
          <a:noFill/>
          <a:ln>
            <a:noFill/>
          </a:ln>
        </p:spPr>
        <p:txBody>
          <a:bodyPr anchorCtr="0" anchor="t" bIns="45700" lIns="91425" spcFirstLastPara="1" rIns="91425" wrap="square" tIns="45700">
            <a:noAutofit/>
          </a:bodyPr>
          <a:lstStyle/>
          <a:p>
            <a:pPr indent="-215900" lvl="0" marL="230188"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Non-persistent HTTP issues:</a:t>
            </a:r>
            <a:endParaRPr/>
          </a:p>
          <a:p>
            <a:pPr indent="-217487" lvl="0" marL="3460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requires 2 RTTs per object</a:t>
            </a:r>
            <a:endParaRPr/>
          </a:p>
          <a:p>
            <a:pPr indent="-217487" lvl="0" marL="3460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OS overhead for </a:t>
            </a:r>
            <a:r>
              <a:rPr i="1" lang="en-US" sz="2800">
                <a:solidFill>
                  <a:schemeClr val="dk1"/>
                </a:solidFill>
                <a:latin typeface="Calibri"/>
                <a:ea typeface="Calibri"/>
                <a:cs typeface="Calibri"/>
                <a:sym typeface="Calibri"/>
              </a:rPr>
              <a:t>each</a:t>
            </a:r>
            <a:r>
              <a:rPr lang="en-US" sz="2800">
                <a:solidFill>
                  <a:schemeClr val="dk1"/>
                </a:solidFill>
                <a:latin typeface="Calibri"/>
                <a:ea typeface="Calibri"/>
                <a:cs typeface="Calibri"/>
                <a:sym typeface="Calibri"/>
              </a:rPr>
              <a:t> TCP connection</a:t>
            </a:r>
            <a:endParaRPr/>
          </a:p>
          <a:p>
            <a:pPr indent="-217487" lvl="0" marL="3460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browsers often open multiple parallel TCP connections to fetch referenced objects in parallel</a:t>
            </a:r>
            <a:endParaRPr/>
          </a:p>
          <a:p>
            <a:pPr indent="-222250" lvl="0" marL="352425" marR="0" rtl="0" algn="l">
              <a:lnSpc>
                <a:spcPct val="90000"/>
              </a:lnSpc>
              <a:spcBef>
                <a:spcPts val="1000"/>
              </a:spcBef>
              <a:spcAft>
                <a:spcPts val="0"/>
              </a:spcAft>
              <a:buClr>
                <a:srgbClr val="0000A3"/>
              </a:buClr>
              <a:buSzPts val="2400"/>
              <a:buFont typeface="Noto Sans Symbols"/>
              <a:buNone/>
            </a:pPr>
            <a:r>
              <a:t/>
            </a:r>
            <a:endParaRPr sz="2400">
              <a:solidFill>
                <a:schemeClr val="dk1"/>
              </a:solidFill>
              <a:latin typeface="Calibri"/>
              <a:ea typeface="Calibri"/>
              <a:cs typeface="Calibri"/>
              <a:sym typeface="Calibri"/>
            </a:endParaRPr>
          </a:p>
          <a:p>
            <a:pPr indent="-95250" lvl="0" marL="352425" marR="0" rtl="0" algn="l">
              <a:lnSpc>
                <a:spcPct val="90000"/>
              </a:lnSpc>
              <a:spcBef>
                <a:spcPts val="1000"/>
              </a:spcBef>
              <a:spcAft>
                <a:spcPts val="0"/>
              </a:spcAft>
              <a:buClr>
                <a:srgbClr val="0000A3"/>
              </a:buClr>
              <a:buSzPts val="2000"/>
              <a:buFont typeface="Noto Sans Symbols"/>
              <a:buNone/>
            </a:pPr>
            <a:r>
              <a:t/>
            </a:r>
            <a:endParaRPr sz="2000">
              <a:solidFill>
                <a:schemeClr val="dk1"/>
              </a:solidFill>
              <a:latin typeface="Calibri"/>
              <a:ea typeface="Calibri"/>
              <a:cs typeface="Calibri"/>
              <a:sym typeface="Calibri"/>
            </a:endParaRPr>
          </a:p>
          <a:p>
            <a:pPr indent="-95250" lvl="0" marL="352425" marR="0" rtl="0" algn="l">
              <a:lnSpc>
                <a:spcPct val="90000"/>
              </a:lnSpc>
              <a:spcBef>
                <a:spcPts val="1000"/>
              </a:spcBef>
              <a:spcAft>
                <a:spcPts val="0"/>
              </a:spcAft>
              <a:buClr>
                <a:srgbClr val="0000A3"/>
              </a:buClr>
              <a:buSzPts val="2000"/>
              <a:buFont typeface="Noto Sans Symbols"/>
              <a:buNone/>
            </a:pPr>
            <a:r>
              <a:t/>
            </a:r>
            <a:endParaRPr sz="2000">
              <a:solidFill>
                <a:schemeClr val="dk1"/>
              </a:solidFill>
              <a:latin typeface="Calibri"/>
              <a:ea typeface="Calibri"/>
              <a:cs typeface="Calibri"/>
              <a:sym typeface="Calibri"/>
            </a:endParaRPr>
          </a:p>
        </p:txBody>
      </p:sp>
      <p:sp>
        <p:nvSpPr>
          <p:cNvPr id="2087" name="Google Shape;2087;p30"/>
          <p:cNvSpPr txBox="1"/>
          <p:nvPr/>
        </p:nvSpPr>
        <p:spPr>
          <a:xfrm>
            <a:off x="6227762" y="1414463"/>
            <a:ext cx="5735053" cy="4648200"/>
          </a:xfrm>
          <a:prstGeom prst="rect">
            <a:avLst/>
          </a:prstGeom>
          <a:noFill/>
          <a:ln>
            <a:noFill/>
          </a:ln>
        </p:spPr>
        <p:txBody>
          <a:bodyPr anchorCtr="0" anchor="t" bIns="45700" lIns="91425" spcFirstLastPara="1" rIns="91425" wrap="square" tIns="45700">
            <a:noAutofit/>
          </a:bodyPr>
          <a:lstStyle/>
          <a:p>
            <a:pPr indent="-215900" lvl="0" marL="230188"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Persistent  HTTP </a:t>
            </a:r>
            <a:r>
              <a:rPr i="1" lang="en-US" sz="2400">
                <a:solidFill>
                  <a:srgbClr val="CC0000"/>
                </a:solidFill>
                <a:latin typeface="Calibri"/>
                <a:ea typeface="Calibri"/>
                <a:cs typeface="Calibri"/>
                <a:sym typeface="Calibri"/>
              </a:rPr>
              <a:t>(HTTP1.1):</a:t>
            </a:r>
            <a:endParaRPr i="1" sz="3200">
              <a:solidFill>
                <a:srgbClr val="CC0000"/>
              </a:solidFill>
              <a:latin typeface="Calibri"/>
              <a:ea typeface="Calibri"/>
              <a:cs typeface="Calibri"/>
              <a:sym typeface="Calibri"/>
            </a:endParaRPr>
          </a:p>
          <a:p>
            <a:pPr indent="-217487" lvl="0" marL="3460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server leaves connection open after sending response</a:t>
            </a:r>
            <a:endParaRPr/>
          </a:p>
          <a:p>
            <a:pPr indent="-217487" lvl="0" marL="3460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subsequent HTTP messages  between same client/server sent over open connection</a:t>
            </a:r>
            <a:endParaRPr/>
          </a:p>
          <a:p>
            <a:pPr indent="-217487" lvl="0" marL="3460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client sends requests as soon as it encounters a referenced object</a:t>
            </a:r>
            <a:endParaRPr/>
          </a:p>
          <a:p>
            <a:pPr indent="-217487" lvl="0" marL="3460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as little as one RTT for all the referenced objects (cutting response time in half)</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7"/>
                                        </p:tgtEl>
                                        <p:attrNameLst>
                                          <p:attrName>style.visibility</p:attrName>
                                        </p:attrNameLst>
                                      </p:cBhvr>
                                      <p:to>
                                        <p:strVal val="visible"/>
                                      </p:to>
                                    </p:set>
                                    <p:animEffect filter="fade" transition="in">
                                      <p:cBhvr>
                                        <p:cTn dur="500"/>
                                        <p:tgtEl>
                                          <p:spTgt spid="20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2" name="Shape 2092"/>
        <p:cNvGrpSpPr/>
        <p:nvPr/>
      </p:nvGrpSpPr>
      <p:grpSpPr>
        <a:xfrm>
          <a:off x="0" y="0"/>
          <a:ext cx="0" cy="0"/>
          <a:chOff x="0" y="0"/>
          <a:chExt cx="0" cy="0"/>
        </a:xfrm>
      </p:grpSpPr>
      <p:sp>
        <p:nvSpPr>
          <p:cNvPr id="2093" name="Google Shape;2093;p31"/>
          <p:cNvSpPr txBox="1"/>
          <p:nvPr>
            <p:ph type="title"/>
          </p:nvPr>
        </p:nvSpPr>
        <p:spPr>
          <a:xfrm>
            <a:off x="798691" y="43000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HTTP request </a:t>
            </a:r>
            <a:r>
              <a:rPr lang="en-US"/>
              <a:t>m</a:t>
            </a:r>
            <a:r>
              <a:rPr lang="en-US" sz="4400"/>
              <a:t>essage</a:t>
            </a:r>
            <a:endParaRPr sz="4400"/>
          </a:p>
        </p:txBody>
      </p:sp>
      <p:sp>
        <p:nvSpPr>
          <p:cNvPr id="2094" name="Google Shape;2094;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2095" name="Google Shape;2095;p31"/>
          <p:cNvSpPr txBox="1"/>
          <p:nvPr/>
        </p:nvSpPr>
        <p:spPr>
          <a:xfrm>
            <a:off x="533400" y="1444625"/>
            <a:ext cx="11658600" cy="1429204"/>
          </a:xfrm>
          <a:prstGeom prst="rect">
            <a:avLst/>
          </a:prstGeom>
          <a:noFill/>
          <a:ln>
            <a:noFill/>
          </a:ln>
        </p:spPr>
        <p:txBody>
          <a:bodyPr anchorCtr="0" anchor="t" bIns="45700" lIns="91425" spcFirstLastPara="1" rIns="91425" wrap="square" tIns="45700">
            <a:noAutofit/>
          </a:bodyPr>
          <a:lstStyle/>
          <a:p>
            <a:pPr indent="-233363" lvl="0" marL="233363"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two types of HTTP messages: </a:t>
            </a:r>
            <a:r>
              <a:rPr i="1" lang="en-US" sz="2800">
                <a:solidFill>
                  <a:srgbClr val="CC0000"/>
                </a:solidFill>
                <a:latin typeface="Calibri"/>
                <a:ea typeface="Calibri"/>
                <a:cs typeface="Calibri"/>
                <a:sym typeface="Calibri"/>
              </a:rPr>
              <a:t>request</a:t>
            </a:r>
            <a:r>
              <a:rPr lang="en-US" sz="2800">
                <a:solidFill>
                  <a:srgbClr val="CC0000"/>
                </a:solidFill>
                <a:latin typeface="Calibri"/>
                <a:ea typeface="Calibri"/>
                <a:cs typeface="Calibri"/>
                <a:sym typeface="Calibri"/>
              </a:rPr>
              <a:t>, </a:t>
            </a:r>
            <a:r>
              <a:rPr i="1" lang="en-US" sz="2800">
                <a:solidFill>
                  <a:srgbClr val="CC0000"/>
                </a:solidFill>
                <a:latin typeface="Calibri"/>
                <a:ea typeface="Calibri"/>
                <a:cs typeface="Calibri"/>
                <a:sym typeface="Calibri"/>
              </a:rPr>
              <a:t>response</a:t>
            </a:r>
            <a:endParaRPr/>
          </a:p>
          <a:p>
            <a:pPr indent="-233363" lvl="0" marL="233363" marR="0" rtl="0" algn="l">
              <a:lnSpc>
                <a:spcPct val="90000"/>
              </a:lnSpc>
              <a:spcBef>
                <a:spcPts val="1000"/>
              </a:spcBef>
              <a:spcAft>
                <a:spcPts val="0"/>
              </a:spcAft>
              <a:buClr>
                <a:srgbClr val="0000A3"/>
              </a:buClr>
              <a:buSzPts val="2800"/>
              <a:buFont typeface="Noto Sans Symbols"/>
              <a:buChar char="▪"/>
            </a:pPr>
            <a:r>
              <a:rPr lang="en-US" sz="2800">
                <a:solidFill>
                  <a:srgbClr val="CC0000"/>
                </a:solidFill>
                <a:latin typeface="Calibri"/>
                <a:ea typeface="Calibri"/>
                <a:cs typeface="Calibri"/>
                <a:sym typeface="Calibri"/>
              </a:rPr>
              <a:t>HTTP request message:</a:t>
            </a:r>
            <a:endParaRPr/>
          </a:p>
          <a:p>
            <a:pPr indent="-228600" lvl="1" marL="685800"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ASCII (human-readable format)</a:t>
            </a:r>
            <a:endParaRPr b="0" i="0" sz="2400" u="none" cap="none" strike="noStrike">
              <a:solidFill>
                <a:schemeClr val="accent2"/>
              </a:solidFill>
              <a:latin typeface="Calibri"/>
              <a:ea typeface="Calibri"/>
              <a:cs typeface="Calibri"/>
              <a:sym typeface="Calibri"/>
            </a:endParaRPr>
          </a:p>
        </p:txBody>
      </p:sp>
      <p:grpSp>
        <p:nvGrpSpPr>
          <p:cNvPr id="2096" name="Google Shape;2096;p31"/>
          <p:cNvGrpSpPr/>
          <p:nvPr/>
        </p:nvGrpSpPr>
        <p:grpSpPr>
          <a:xfrm>
            <a:off x="304572" y="2554061"/>
            <a:ext cx="10054299" cy="4140199"/>
            <a:chOff x="304572" y="2554061"/>
            <a:chExt cx="10054299" cy="4140199"/>
          </a:xfrm>
        </p:grpSpPr>
        <p:sp>
          <p:nvSpPr>
            <p:cNvPr id="2097" name="Google Shape;2097;p31"/>
            <p:cNvSpPr txBox="1"/>
            <p:nvPr/>
          </p:nvSpPr>
          <p:spPr>
            <a:xfrm>
              <a:off x="304572" y="3050979"/>
              <a:ext cx="3163155"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2400"/>
                <a:buFont typeface="Calibri"/>
                <a:buNone/>
              </a:pPr>
              <a:r>
                <a:rPr lang="en-US" sz="2400">
                  <a:solidFill>
                    <a:srgbClr val="000099"/>
                  </a:solidFill>
                  <a:latin typeface="Calibri"/>
                  <a:ea typeface="Calibri"/>
                  <a:cs typeface="Calibri"/>
                  <a:sym typeface="Calibri"/>
                </a:rPr>
                <a:t>request line (GET, POST, </a:t>
              </a:r>
              <a:endParaRPr/>
            </a:p>
            <a:p>
              <a:pPr indent="0" lvl="0" marL="0" marR="0" rtl="0" algn="l">
                <a:spcBef>
                  <a:spcPts val="0"/>
                </a:spcBef>
                <a:spcAft>
                  <a:spcPts val="0"/>
                </a:spcAft>
                <a:buClr>
                  <a:srgbClr val="000099"/>
                </a:buClr>
                <a:buSzPts val="2400"/>
                <a:buFont typeface="Calibri"/>
                <a:buNone/>
              </a:pPr>
              <a:r>
                <a:rPr lang="en-US" sz="2400">
                  <a:solidFill>
                    <a:srgbClr val="000099"/>
                  </a:solidFill>
                  <a:latin typeface="Calibri"/>
                  <a:ea typeface="Calibri"/>
                  <a:cs typeface="Calibri"/>
                  <a:sym typeface="Calibri"/>
                </a:rPr>
                <a:t>HEAD commands)</a:t>
              </a:r>
              <a:endParaRPr sz="2800">
                <a:solidFill>
                  <a:srgbClr val="000099"/>
                </a:solidFill>
                <a:latin typeface="Calibri"/>
                <a:ea typeface="Calibri"/>
                <a:cs typeface="Calibri"/>
                <a:sym typeface="Calibri"/>
              </a:endParaRPr>
            </a:p>
          </p:txBody>
        </p:sp>
        <p:sp>
          <p:nvSpPr>
            <p:cNvPr id="2098" name="Google Shape;2098;p31"/>
            <p:cNvSpPr/>
            <p:nvPr/>
          </p:nvSpPr>
          <p:spPr>
            <a:xfrm>
              <a:off x="3966709" y="3625624"/>
              <a:ext cx="149225" cy="1957387"/>
            </a:xfrm>
            <a:custGeom>
              <a:rect b="b" l="l" r="r" t="t"/>
              <a:pathLst>
                <a:path extrusionOk="0" h="924" w="150">
                  <a:moveTo>
                    <a:pt x="122" y="6"/>
                  </a:moveTo>
                  <a:lnTo>
                    <a:pt x="0" y="0"/>
                  </a:lnTo>
                  <a:lnTo>
                    <a:pt x="0" y="924"/>
                  </a:lnTo>
                  <a:lnTo>
                    <a:pt x="150" y="918"/>
                  </a:lnTo>
                </a:path>
              </a:pathLst>
            </a:custGeom>
            <a:noFill/>
            <a:ln cap="flat" cmpd="sng" w="19050">
              <a:solidFill>
                <a:srgbClr val="000099"/>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9" name="Google Shape;2099;p31"/>
            <p:cNvSpPr txBox="1"/>
            <p:nvPr/>
          </p:nvSpPr>
          <p:spPr>
            <a:xfrm>
              <a:off x="2833669" y="4143149"/>
              <a:ext cx="1071127" cy="8309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rgbClr val="000099"/>
                </a:buClr>
                <a:buSzPts val="2400"/>
                <a:buFont typeface="Calibri"/>
                <a:buNone/>
              </a:pPr>
              <a:r>
                <a:rPr lang="en-US" sz="2400">
                  <a:solidFill>
                    <a:srgbClr val="000099"/>
                  </a:solidFill>
                  <a:latin typeface="Calibri"/>
                  <a:ea typeface="Calibri"/>
                  <a:cs typeface="Calibri"/>
                  <a:sym typeface="Calibri"/>
                </a:rPr>
                <a:t>header</a:t>
              </a:r>
              <a:endParaRPr/>
            </a:p>
            <a:p>
              <a:pPr indent="0" lvl="0" marL="0" marR="0" rtl="0" algn="r">
                <a:spcBef>
                  <a:spcPts val="0"/>
                </a:spcBef>
                <a:spcAft>
                  <a:spcPts val="0"/>
                </a:spcAft>
                <a:buClr>
                  <a:srgbClr val="000099"/>
                </a:buClr>
                <a:buSzPts val="2400"/>
                <a:buFont typeface="Calibri"/>
                <a:buNone/>
              </a:pPr>
              <a:r>
                <a:rPr lang="en-US" sz="2400">
                  <a:solidFill>
                    <a:srgbClr val="000099"/>
                  </a:solidFill>
                  <a:latin typeface="Calibri"/>
                  <a:ea typeface="Calibri"/>
                  <a:cs typeface="Calibri"/>
                  <a:sym typeface="Calibri"/>
                </a:rPr>
                <a:t> lines</a:t>
              </a:r>
              <a:endParaRPr sz="2800">
                <a:solidFill>
                  <a:srgbClr val="000099"/>
                </a:solidFill>
                <a:latin typeface="Calibri"/>
                <a:ea typeface="Calibri"/>
                <a:cs typeface="Calibri"/>
                <a:sym typeface="Calibri"/>
              </a:endParaRPr>
            </a:p>
          </p:txBody>
        </p:sp>
        <p:cxnSp>
          <p:nvCxnSpPr>
            <p:cNvPr id="2100" name="Google Shape;2100;p31"/>
            <p:cNvCxnSpPr/>
            <p:nvPr/>
          </p:nvCxnSpPr>
          <p:spPr>
            <a:xfrm>
              <a:off x="3499984" y="5710011"/>
              <a:ext cx="511175" cy="0"/>
            </a:xfrm>
            <a:prstGeom prst="straightConnector1">
              <a:avLst/>
            </a:prstGeom>
            <a:noFill/>
            <a:ln cap="flat" cmpd="sng" w="19050">
              <a:solidFill>
                <a:srgbClr val="000099"/>
              </a:solidFill>
              <a:prstDash val="solid"/>
              <a:round/>
              <a:headEnd len="med" w="med" type="none"/>
              <a:tailEnd len="med" w="med" type="triangle"/>
            </a:ln>
          </p:spPr>
        </p:cxnSp>
        <p:sp>
          <p:nvSpPr>
            <p:cNvPr id="2101" name="Google Shape;2101;p31"/>
            <p:cNvSpPr txBox="1"/>
            <p:nvPr/>
          </p:nvSpPr>
          <p:spPr>
            <a:xfrm>
              <a:off x="743905" y="5548787"/>
              <a:ext cx="2771636" cy="9233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99"/>
                </a:buClr>
                <a:buSzPts val="2000"/>
                <a:buFont typeface="Calibri"/>
                <a:buNone/>
              </a:pPr>
              <a:r>
                <a:rPr lang="en-US" sz="2000">
                  <a:solidFill>
                    <a:srgbClr val="000099"/>
                  </a:solidFill>
                  <a:latin typeface="Calibri"/>
                  <a:ea typeface="Calibri"/>
                  <a:cs typeface="Calibri"/>
                  <a:sym typeface="Calibri"/>
                </a:rPr>
                <a:t>carriage return, line feed at start of line indicates end of header lines</a:t>
              </a:r>
              <a:endParaRPr sz="2400">
                <a:solidFill>
                  <a:srgbClr val="000099"/>
                </a:solidFill>
                <a:latin typeface="Calibri"/>
                <a:ea typeface="Calibri"/>
                <a:cs typeface="Calibri"/>
                <a:sym typeface="Calibri"/>
              </a:endParaRPr>
            </a:p>
          </p:txBody>
        </p:sp>
        <p:sp>
          <p:nvSpPr>
            <p:cNvPr id="2102" name="Google Shape;2102;p31"/>
            <p:cNvSpPr txBox="1"/>
            <p:nvPr/>
          </p:nvSpPr>
          <p:spPr>
            <a:xfrm>
              <a:off x="4000046" y="3323999"/>
              <a:ext cx="6140450" cy="2589212"/>
            </a:xfrm>
            <a:prstGeom prst="rect">
              <a:avLst/>
            </a:prstGeom>
            <a:noFill/>
            <a:ln>
              <a:noFill/>
            </a:ln>
          </p:spPr>
          <p:txBody>
            <a:bodyPr anchorCtr="0" anchor="t" bIns="45700" lIns="91425" spcFirstLastPara="1" rIns="91425" wrap="square" tIns="45700">
              <a:spAutoFit/>
            </a:bodyPr>
            <a:lstStyle/>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GET /index.html HTTP/1.1\r\n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Host: www-net.cs.umass.edu\r\n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User-Agent: Firefox/3.6.10\r\n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Accept: text/html,application/xhtml+xml\r\n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Accept-Language: en-us,en;q=0.5\r\n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Accept-Encoding: gzip,deflate\r\n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Accept-Charset: ISO-8859-1,utf-8;q=0.7\r\n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Keep-Alive: 115\r\n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Connection: keep-alive\r\n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\r\n</a:t>
              </a:r>
              <a:endParaRPr/>
            </a:p>
          </p:txBody>
        </p:sp>
        <p:cxnSp>
          <p:nvCxnSpPr>
            <p:cNvPr id="2103" name="Google Shape;2103;p31"/>
            <p:cNvCxnSpPr/>
            <p:nvPr/>
          </p:nvCxnSpPr>
          <p:spPr>
            <a:xfrm flipH="1">
              <a:off x="7524296" y="2841399"/>
              <a:ext cx="166688" cy="514350"/>
            </a:xfrm>
            <a:prstGeom prst="straightConnector1">
              <a:avLst/>
            </a:prstGeom>
            <a:noFill/>
            <a:ln cap="flat" cmpd="sng" w="9525">
              <a:solidFill>
                <a:srgbClr val="000099"/>
              </a:solidFill>
              <a:prstDash val="solid"/>
              <a:round/>
              <a:headEnd len="med" w="med" type="none"/>
              <a:tailEnd len="med" w="med" type="triangle"/>
            </a:ln>
          </p:spPr>
        </p:cxnSp>
        <p:sp>
          <p:nvSpPr>
            <p:cNvPr id="2104" name="Google Shape;2104;p31"/>
            <p:cNvSpPr txBox="1"/>
            <p:nvPr/>
          </p:nvSpPr>
          <p:spPr>
            <a:xfrm>
              <a:off x="7575096" y="2554061"/>
              <a:ext cx="2783775" cy="40011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Calibri"/>
                  <a:ea typeface="Calibri"/>
                  <a:cs typeface="Calibri"/>
                  <a:sym typeface="Calibri"/>
                </a:rPr>
                <a:t>carriage return character</a:t>
              </a:r>
              <a:endParaRPr/>
            </a:p>
          </p:txBody>
        </p:sp>
        <p:sp>
          <p:nvSpPr>
            <p:cNvPr id="2105" name="Google Shape;2105;p31"/>
            <p:cNvSpPr txBox="1"/>
            <p:nvPr/>
          </p:nvSpPr>
          <p:spPr>
            <a:xfrm>
              <a:off x="7727496" y="2850924"/>
              <a:ext cx="2149306" cy="40011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Calibri"/>
                  <a:ea typeface="Calibri"/>
                  <a:cs typeface="Calibri"/>
                  <a:sym typeface="Calibri"/>
                </a:rPr>
                <a:t>line-feed character</a:t>
              </a:r>
              <a:endParaRPr/>
            </a:p>
          </p:txBody>
        </p:sp>
        <p:cxnSp>
          <p:nvCxnSpPr>
            <p:cNvPr id="2106" name="Google Shape;2106;p31"/>
            <p:cNvCxnSpPr/>
            <p:nvPr/>
          </p:nvCxnSpPr>
          <p:spPr>
            <a:xfrm flipH="1">
              <a:off x="7805284" y="3150961"/>
              <a:ext cx="80962" cy="252413"/>
            </a:xfrm>
            <a:prstGeom prst="straightConnector1">
              <a:avLst/>
            </a:prstGeom>
            <a:noFill/>
            <a:ln cap="flat" cmpd="sng" w="9525">
              <a:solidFill>
                <a:srgbClr val="000099"/>
              </a:solidFill>
              <a:prstDash val="solid"/>
              <a:round/>
              <a:headEnd len="med" w="med" type="none"/>
              <a:tailEnd len="med" w="med" type="triangle"/>
            </a:ln>
          </p:spPr>
        </p:cxnSp>
        <p:cxnSp>
          <p:nvCxnSpPr>
            <p:cNvPr id="2107" name="Google Shape;2107;p31"/>
            <p:cNvCxnSpPr/>
            <p:nvPr/>
          </p:nvCxnSpPr>
          <p:spPr>
            <a:xfrm>
              <a:off x="2558822" y="3471412"/>
              <a:ext cx="1436915" cy="0"/>
            </a:xfrm>
            <a:prstGeom prst="straightConnector1">
              <a:avLst/>
            </a:prstGeom>
            <a:noFill/>
            <a:ln cap="flat" cmpd="sng" w="19050">
              <a:solidFill>
                <a:srgbClr val="0000A8"/>
              </a:solidFill>
              <a:prstDash val="solid"/>
              <a:miter lim="800000"/>
              <a:headEnd len="sm" w="sm" type="none"/>
              <a:tailEnd len="med" w="med" type="triangle"/>
            </a:ln>
          </p:spPr>
        </p:cxnSp>
        <p:sp>
          <p:nvSpPr>
            <p:cNvPr id="2108" name="Google Shape;2108;p31"/>
            <p:cNvSpPr txBox="1"/>
            <p:nvPr/>
          </p:nvSpPr>
          <p:spPr>
            <a:xfrm>
              <a:off x="4000046" y="6171973"/>
              <a:ext cx="4506913" cy="5222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 Check out the online interactive exercises for more examples: h</a:t>
              </a:r>
              <a:r>
                <a:rPr lang="en-US" sz="1200">
                  <a:solidFill>
                    <a:schemeClr val="dk1"/>
                  </a:solidFill>
                  <a:latin typeface="Arial"/>
                  <a:ea typeface="Arial"/>
                  <a:cs typeface="Arial"/>
                  <a:sym typeface="Arial"/>
                </a:rPr>
                <a:t>ttp://gaia.cs.umass.edu/kurose_ross/interactive/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6"/>
                                        </p:tgtEl>
                                        <p:attrNameLst>
                                          <p:attrName>style.visibility</p:attrName>
                                        </p:attrNameLst>
                                      </p:cBhvr>
                                      <p:to>
                                        <p:strVal val="visible"/>
                                      </p:to>
                                    </p:set>
                                    <p:animEffect filter="fade" transition="in">
                                      <p:cBhvr>
                                        <p:cTn dur="500"/>
                                        <p:tgtEl>
                                          <p:spTgt spid="20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3" name="Shape 2113"/>
        <p:cNvGrpSpPr/>
        <p:nvPr/>
      </p:nvGrpSpPr>
      <p:grpSpPr>
        <a:xfrm>
          <a:off x="0" y="0"/>
          <a:ext cx="0" cy="0"/>
          <a:chOff x="0" y="0"/>
          <a:chExt cx="0" cy="0"/>
        </a:xfrm>
      </p:grpSpPr>
      <p:sp>
        <p:nvSpPr>
          <p:cNvPr id="2114" name="Google Shape;2114;p32"/>
          <p:cNvSpPr txBox="1"/>
          <p:nvPr>
            <p:ph type="title"/>
          </p:nvPr>
        </p:nvSpPr>
        <p:spPr>
          <a:xfrm>
            <a:off x="798691" y="43000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HTTP request message: general format</a:t>
            </a:r>
            <a:endParaRPr sz="4400"/>
          </a:p>
        </p:txBody>
      </p:sp>
      <p:sp>
        <p:nvSpPr>
          <p:cNvPr id="2115" name="Google Shape;2115;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2116" name="Google Shape;2116;p32"/>
          <p:cNvSpPr txBox="1"/>
          <p:nvPr/>
        </p:nvSpPr>
        <p:spPr>
          <a:xfrm>
            <a:off x="8704472" y="1752600"/>
            <a:ext cx="1030287" cy="641350"/>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lnSpc>
                <a:spcPct val="90000"/>
              </a:lnSpc>
              <a:spcBef>
                <a:spcPts val="0"/>
              </a:spcBef>
              <a:spcAft>
                <a:spcPts val="0"/>
              </a:spcAft>
              <a:buNone/>
            </a:pPr>
            <a:r>
              <a:rPr lang="en-US" sz="2000">
                <a:solidFill>
                  <a:srgbClr val="CC0000"/>
                </a:solidFill>
                <a:latin typeface="Arial"/>
                <a:ea typeface="Arial"/>
                <a:cs typeface="Arial"/>
                <a:sym typeface="Arial"/>
              </a:rPr>
              <a:t>request</a:t>
            </a:r>
            <a:endParaRPr/>
          </a:p>
          <a:p>
            <a:pPr indent="-342900" lvl="0" marL="342900" marR="0" rtl="0" algn="l">
              <a:lnSpc>
                <a:spcPct val="90000"/>
              </a:lnSpc>
              <a:spcBef>
                <a:spcPts val="0"/>
              </a:spcBef>
              <a:spcAft>
                <a:spcPts val="0"/>
              </a:spcAft>
              <a:buNone/>
            </a:pPr>
            <a:r>
              <a:rPr lang="en-US" sz="2000">
                <a:solidFill>
                  <a:srgbClr val="CC0000"/>
                </a:solidFill>
                <a:latin typeface="Arial"/>
                <a:ea typeface="Arial"/>
                <a:cs typeface="Arial"/>
                <a:sym typeface="Arial"/>
              </a:rPr>
              <a:t>line</a:t>
            </a:r>
            <a:endParaRPr/>
          </a:p>
        </p:txBody>
      </p:sp>
      <p:sp>
        <p:nvSpPr>
          <p:cNvPr id="2117" name="Google Shape;2117;p32"/>
          <p:cNvSpPr txBox="1"/>
          <p:nvPr/>
        </p:nvSpPr>
        <p:spPr>
          <a:xfrm>
            <a:off x="8699709" y="2768600"/>
            <a:ext cx="974725" cy="641350"/>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lnSpc>
                <a:spcPct val="90000"/>
              </a:lnSpc>
              <a:spcBef>
                <a:spcPts val="0"/>
              </a:spcBef>
              <a:spcAft>
                <a:spcPts val="0"/>
              </a:spcAft>
              <a:buNone/>
            </a:pPr>
            <a:r>
              <a:rPr lang="en-US" sz="2000">
                <a:solidFill>
                  <a:srgbClr val="CC0000"/>
                </a:solidFill>
                <a:latin typeface="Arial"/>
                <a:ea typeface="Arial"/>
                <a:cs typeface="Arial"/>
                <a:sym typeface="Arial"/>
              </a:rPr>
              <a:t>header</a:t>
            </a:r>
            <a:endParaRPr/>
          </a:p>
          <a:p>
            <a:pPr indent="-342900" lvl="0" marL="342900" marR="0" rtl="0" algn="l">
              <a:lnSpc>
                <a:spcPct val="90000"/>
              </a:lnSpc>
              <a:spcBef>
                <a:spcPts val="0"/>
              </a:spcBef>
              <a:spcAft>
                <a:spcPts val="0"/>
              </a:spcAft>
              <a:buNone/>
            </a:pPr>
            <a:r>
              <a:rPr lang="en-US" sz="2000">
                <a:solidFill>
                  <a:srgbClr val="CC0000"/>
                </a:solidFill>
                <a:latin typeface="Arial"/>
                <a:ea typeface="Arial"/>
                <a:cs typeface="Arial"/>
                <a:sym typeface="Arial"/>
              </a:rPr>
              <a:t>lines</a:t>
            </a:r>
            <a:endParaRPr/>
          </a:p>
        </p:txBody>
      </p:sp>
      <p:sp>
        <p:nvSpPr>
          <p:cNvPr id="2118" name="Google Shape;2118;p32"/>
          <p:cNvSpPr/>
          <p:nvPr/>
        </p:nvSpPr>
        <p:spPr>
          <a:xfrm>
            <a:off x="8315534" y="2338387"/>
            <a:ext cx="346075" cy="181927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2119" name="Google Shape;2119;p32"/>
          <p:cNvSpPr/>
          <p:nvPr/>
        </p:nvSpPr>
        <p:spPr>
          <a:xfrm>
            <a:off x="8182184" y="2287587"/>
            <a:ext cx="290513" cy="201771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2120" name="Google Shape;2120;p32"/>
          <p:cNvSpPr/>
          <p:nvPr/>
        </p:nvSpPr>
        <p:spPr>
          <a:xfrm>
            <a:off x="8550484" y="4394200"/>
            <a:ext cx="712788" cy="12160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2121" name="Google Shape;2121;p32"/>
          <p:cNvSpPr txBox="1"/>
          <p:nvPr/>
        </p:nvSpPr>
        <p:spPr>
          <a:xfrm>
            <a:off x="8701297" y="4959350"/>
            <a:ext cx="735012" cy="366712"/>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lnSpc>
                <a:spcPct val="90000"/>
              </a:lnSpc>
              <a:spcBef>
                <a:spcPts val="0"/>
              </a:spcBef>
              <a:spcAft>
                <a:spcPts val="0"/>
              </a:spcAft>
              <a:buNone/>
            </a:pPr>
            <a:r>
              <a:rPr lang="en-US" sz="2000">
                <a:solidFill>
                  <a:srgbClr val="CC0000"/>
                </a:solidFill>
                <a:latin typeface="Arial"/>
                <a:ea typeface="Arial"/>
                <a:cs typeface="Arial"/>
                <a:sym typeface="Arial"/>
              </a:rPr>
              <a:t>body</a:t>
            </a:r>
            <a:endParaRPr/>
          </a:p>
        </p:txBody>
      </p:sp>
      <p:sp>
        <p:nvSpPr>
          <p:cNvPr id="2122" name="Google Shape;2122;p32"/>
          <p:cNvSpPr/>
          <p:nvPr/>
        </p:nvSpPr>
        <p:spPr>
          <a:xfrm>
            <a:off x="2879934" y="1789112"/>
            <a:ext cx="5638800" cy="446088"/>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cxnSp>
        <p:nvCxnSpPr>
          <p:cNvPr id="2123" name="Google Shape;2123;p32"/>
          <p:cNvCxnSpPr/>
          <p:nvPr/>
        </p:nvCxnSpPr>
        <p:spPr>
          <a:xfrm>
            <a:off x="4188034" y="1792287"/>
            <a:ext cx="0" cy="438150"/>
          </a:xfrm>
          <a:prstGeom prst="straightConnector1">
            <a:avLst/>
          </a:prstGeom>
          <a:noFill/>
          <a:ln cap="flat" cmpd="sng" w="19050">
            <a:solidFill>
              <a:schemeClr val="dk1"/>
            </a:solidFill>
            <a:prstDash val="solid"/>
            <a:round/>
            <a:headEnd len="med" w="med" type="none"/>
            <a:tailEnd len="med" w="med" type="none"/>
          </a:ln>
        </p:spPr>
      </p:cxnSp>
      <p:cxnSp>
        <p:nvCxnSpPr>
          <p:cNvPr id="2124" name="Google Shape;2124;p32"/>
          <p:cNvCxnSpPr/>
          <p:nvPr/>
        </p:nvCxnSpPr>
        <p:spPr>
          <a:xfrm>
            <a:off x="4632534" y="1792287"/>
            <a:ext cx="0" cy="438150"/>
          </a:xfrm>
          <a:prstGeom prst="straightConnector1">
            <a:avLst/>
          </a:prstGeom>
          <a:noFill/>
          <a:ln cap="flat" cmpd="sng" w="19050">
            <a:solidFill>
              <a:schemeClr val="dk1"/>
            </a:solidFill>
            <a:prstDash val="solid"/>
            <a:round/>
            <a:headEnd len="med" w="med" type="none"/>
            <a:tailEnd len="med" w="med" type="none"/>
          </a:ln>
        </p:spPr>
      </p:cxnSp>
      <p:cxnSp>
        <p:nvCxnSpPr>
          <p:cNvPr id="2125" name="Google Shape;2125;p32"/>
          <p:cNvCxnSpPr/>
          <p:nvPr/>
        </p:nvCxnSpPr>
        <p:spPr>
          <a:xfrm>
            <a:off x="5940634" y="1792287"/>
            <a:ext cx="0" cy="438150"/>
          </a:xfrm>
          <a:prstGeom prst="straightConnector1">
            <a:avLst/>
          </a:prstGeom>
          <a:noFill/>
          <a:ln cap="flat" cmpd="sng" w="19050">
            <a:solidFill>
              <a:schemeClr val="dk1"/>
            </a:solidFill>
            <a:prstDash val="solid"/>
            <a:round/>
            <a:headEnd len="med" w="med" type="none"/>
            <a:tailEnd len="med" w="med" type="none"/>
          </a:ln>
        </p:spPr>
      </p:cxnSp>
      <p:cxnSp>
        <p:nvCxnSpPr>
          <p:cNvPr id="2126" name="Google Shape;2126;p32"/>
          <p:cNvCxnSpPr/>
          <p:nvPr/>
        </p:nvCxnSpPr>
        <p:spPr>
          <a:xfrm>
            <a:off x="6366084" y="1785937"/>
            <a:ext cx="0" cy="438150"/>
          </a:xfrm>
          <a:prstGeom prst="straightConnector1">
            <a:avLst/>
          </a:prstGeom>
          <a:noFill/>
          <a:ln cap="flat" cmpd="sng" w="19050">
            <a:solidFill>
              <a:schemeClr val="dk1"/>
            </a:solidFill>
            <a:prstDash val="solid"/>
            <a:round/>
            <a:headEnd len="med" w="med" type="none"/>
            <a:tailEnd len="med" w="med" type="none"/>
          </a:ln>
        </p:spPr>
      </p:cxnSp>
      <p:cxnSp>
        <p:nvCxnSpPr>
          <p:cNvPr id="2127" name="Google Shape;2127;p32"/>
          <p:cNvCxnSpPr/>
          <p:nvPr/>
        </p:nvCxnSpPr>
        <p:spPr>
          <a:xfrm>
            <a:off x="7667834" y="1792287"/>
            <a:ext cx="0" cy="438150"/>
          </a:xfrm>
          <a:prstGeom prst="straightConnector1">
            <a:avLst/>
          </a:prstGeom>
          <a:noFill/>
          <a:ln cap="flat" cmpd="sng" w="19050">
            <a:solidFill>
              <a:schemeClr val="dk1"/>
            </a:solidFill>
            <a:prstDash val="solid"/>
            <a:round/>
            <a:headEnd len="med" w="med" type="none"/>
            <a:tailEnd len="med" w="med" type="none"/>
          </a:ln>
        </p:spPr>
      </p:cxnSp>
      <p:cxnSp>
        <p:nvCxnSpPr>
          <p:cNvPr id="2128" name="Google Shape;2128;p32"/>
          <p:cNvCxnSpPr/>
          <p:nvPr/>
        </p:nvCxnSpPr>
        <p:spPr>
          <a:xfrm>
            <a:off x="8105984" y="1792287"/>
            <a:ext cx="0" cy="438150"/>
          </a:xfrm>
          <a:prstGeom prst="straightConnector1">
            <a:avLst/>
          </a:prstGeom>
          <a:noFill/>
          <a:ln cap="flat" cmpd="sng" w="19050">
            <a:solidFill>
              <a:schemeClr val="dk1"/>
            </a:solidFill>
            <a:prstDash val="solid"/>
            <a:round/>
            <a:headEnd len="med" w="med" type="none"/>
            <a:tailEnd len="med" w="med" type="none"/>
          </a:ln>
        </p:spPr>
      </p:cxnSp>
      <p:sp>
        <p:nvSpPr>
          <p:cNvPr id="2129" name="Google Shape;2129;p32"/>
          <p:cNvSpPr txBox="1"/>
          <p:nvPr/>
        </p:nvSpPr>
        <p:spPr>
          <a:xfrm>
            <a:off x="3003759" y="1816100"/>
            <a:ext cx="1030288" cy="396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rgbClr val="000099"/>
                </a:solidFill>
                <a:latin typeface="Arial"/>
                <a:ea typeface="Arial"/>
                <a:cs typeface="Arial"/>
                <a:sym typeface="Arial"/>
              </a:rPr>
              <a:t>method</a:t>
            </a:r>
            <a:endParaRPr/>
          </a:p>
        </p:txBody>
      </p:sp>
      <p:sp>
        <p:nvSpPr>
          <p:cNvPr id="2130" name="Google Shape;2130;p32"/>
          <p:cNvSpPr txBox="1"/>
          <p:nvPr/>
        </p:nvSpPr>
        <p:spPr>
          <a:xfrm>
            <a:off x="4165809" y="1797050"/>
            <a:ext cx="452438" cy="396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sp</a:t>
            </a:r>
            <a:endParaRPr/>
          </a:p>
        </p:txBody>
      </p:sp>
      <p:sp>
        <p:nvSpPr>
          <p:cNvPr id="2131" name="Google Shape;2131;p32"/>
          <p:cNvSpPr txBox="1"/>
          <p:nvPr/>
        </p:nvSpPr>
        <p:spPr>
          <a:xfrm>
            <a:off x="5931109" y="1803400"/>
            <a:ext cx="452438" cy="396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sp</a:t>
            </a:r>
            <a:endParaRPr/>
          </a:p>
        </p:txBody>
      </p:sp>
      <p:sp>
        <p:nvSpPr>
          <p:cNvPr id="2132" name="Google Shape;2132;p32"/>
          <p:cNvSpPr txBox="1"/>
          <p:nvPr/>
        </p:nvSpPr>
        <p:spPr>
          <a:xfrm>
            <a:off x="7683709" y="1809750"/>
            <a:ext cx="403225" cy="4000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cr</a:t>
            </a:r>
            <a:endParaRPr/>
          </a:p>
        </p:txBody>
      </p:sp>
      <p:sp>
        <p:nvSpPr>
          <p:cNvPr id="2133" name="Google Shape;2133;p32"/>
          <p:cNvSpPr txBox="1"/>
          <p:nvPr/>
        </p:nvSpPr>
        <p:spPr>
          <a:xfrm>
            <a:off x="8153609" y="1820862"/>
            <a:ext cx="311150" cy="396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lf</a:t>
            </a:r>
            <a:endParaRPr/>
          </a:p>
        </p:txBody>
      </p:sp>
      <p:sp>
        <p:nvSpPr>
          <p:cNvPr id="2134" name="Google Shape;2134;p32"/>
          <p:cNvSpPr txBox="1"/>
          <p:nvPr/>
        </p:nvSpPr>
        <p:spPr>
          <a:xfrm>
            <a:off x="6521659" y="1803400"/>
            <a:ext cx="1003300" cy="396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rgbClr val="000099"/>
                </a:solidFill>
                <a:latin typeface="Arial"/>
                <a:ea typeface="Arial"/>
                <a:cs typeface="Arial"/>
                <a:sym typeface="Arial"/>
              </a:rPr>
              <a:t>version</a:t>
            </a:r>
            <a:endParaRPr/>
          </a:p>
        </p:txBody>
      </p:sp>
      <p:sp>
        <p:nvSpPr>
          <p:cNvPr id="2135" name="Google Shape;2135;p32"/>
          <p:cNvSpPr txBox="1"/>
          <p:nvPr/>
        </p:nvSpPr>
        <p:spPr>
          <a:xfrm>
            <a:off x="4896059" y="1816100"/>
            <a:ext cx="693738" cy="396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rgbClr val="000099"/>
                </a:solidFill>
                <a:latin typeface="Arial"/>
                <a:ea typeface="Arial"/>
                <a:cs typeface="Arial"/>
                <a:sym typeface="Arial"/>
              </a:rPr>
              <a:t>URL</a:t>
            </a:r>
            <a:endParaRPr/>
          </a:p>
        </p:txBody>
      </p:sp>
      <p:grpSp>
        <p:nvGrpSpPr>
          <p:cNvPr id="2136" name="Google Shape;2136;p32"/>
          <p:cNvGrpSpPr/>
          <p:nvPr/>
        </p:nvGrpSpPr>
        <p:grpSpPr>
          <a:xfrm>
            <a:off x="2879934" y="2233612"/>
            <a:ext cx="4565650" cy="446088"/>
            <a:chOff x="192" y="1894"/>
            <a:chExt cx="2876" cy="281"/>
          </a:xfrm>
        </p:grpSpPr>
        <p:sp>
          <p:nvSpPr>
            <p:cNvPr id="2137" name="Google Shape;2137;p32"/>
            <p:cNvSpPr/>
            <p:nvPr/>
          </p:nvSpPr>
          <p:spPr>
            <a:xfrm>
              <a:off x="192" y="1894"/>
              <a:ext cx="2876" cy="281"/>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cxnSp>
          <p:nvCxnSpPr>
            <p:cNvPr id="2138" name="Google Shape;2138;p32"/>
            <p:cNvCxnSpPr/>
            <p:nvPr/>
          </p:nvCxnSpPr>
          <p:spPr>
            <a:xfrm>
              <a:off x="1700" y="1896"/>
              <a:ext cx="0" cy="276"/>
            </a:xfrm>
            <a:prstGeom prst="straightConnector1">
              <a:avLst/>
            </a:prstGeom>
            <a:noFill/>
            <a:ln cap="flat" cmpd="sng" w="19050">
              <a:solidFill>
                <a:schemeClr val="dk1"/>
              </a:solidFill>
              <a:prstDash val="solid"/>
              <a:round/>
              <a:headEnd len="med" w="med" type="none"/>
              <a:tailEnd len="med" w="med" type="none"/>
            </a:ln>
          </p:spPr>
        </p:cxnSp>
        <p:cxnSp>
          <p:nvCxnSpPr>
            <p:cNvPr id="2139" name="Google Shape;2139;p32"/>
            <p:cNvCxnSpPr/>
            <p:nvPr/>
          </p:nvCxnSpPr>
          <p:spPr>
            <a:xfrm>
              <a:off x="1832" y="1896"/>
              <a:ext cx="0" cy="276"/>
            </a:xfrm>
            <a:prstGeom prst="straightConnector1">
              <a:avLst/>
            </a:prstGeom>
            <a:noFill/>
            <a:ln cap="flat" cmpd="sng" w="19050">
              <a:solidFill>
                <a:schemeClr val="dk1"/>
              </a:solidFill>
              <a:prstDash val="solid"/>
              <a:round/>
              <a:headEnd len="med" w="med" type="none"/>
              <a:tailEnd len="med" w="med" type="none"/>
            </a:ln>
          </p:spPr>
        </p:cxnSp>
        <p:cxnSp>
          <p:nvCxnSpPr>
            <p:cNvPr id="2140" name="Google Shape;2140;p32"/>
            <p:cNvCxnSpPr/>
            <p:nvPr/>
          </p:nvCxnSpPr>
          <p:spPr>
            <a:xfrm>
              <a:off x="2528" y="1896"/>
              <a:ext cx="0" cy="276"/>
            </a:xfrm>
            <a:prstGeom prst="straightConnector1">
              <a:avLst/>
            </a:prstGeom>
            <a:noFill/>
            <a:ln cap="flat" cmpd="sng" w="19050">
              <a:solidFill>
                <a:schemeClr val="dk1"/>
              </a:solidFill>
              <a:prstDash val="solid"/>
              <a:round/>
              <a:headEnd len="med" w="med" type="none"/>
              <a:tailEnd len="med" w="med" type="none"/>
            </a:ln>
          </p:spPr>
        </p:cxnSp>
        <p:cxnSp>
          <p:nvCxnSpPr>
            <p:cNvPr id="2141" name="Google Shape;2141;p32"/>
            <p:cNvCxnSpPr/>
            <p:nvPr/>
          </p:nvCxnSpPr>
          <p:spPr>
            <a:xfrm>
              <a:off x="2804" y="1896"/>
              <a:ext cx="0" cy="276"/>
            </a:xfrm>
            <a:prstGeom prst="straightConnector1">
              <a:avLst/>
            </a:prstGeom>
            <a:noFill/>
            <a:ln cap="flat" cmpd="sng" w="19050">
              <a:solidFill>
                <a:schemeClr val="dk1"/>
              </a:solidFill>
              <a:prstDash val="solid"/>
              <a:round/>
              <a:headEnd len="med" w="med" type="none"/>
              <a:tailEnd len="med" w="med" type="none"/>
            </a:ln>
          </p:spPr>
        </p:cxnSp>
        <p:sp>
          <p:nvSpPr>
            <p:cNvPr id="2142" name="Google Shape;2142;p32"/>
            <p:cNvSpPr txBox="1"/>
            <p:nvPr/>
          </p:nvSpPr>
          <p:spPr>
            <a:xfrm>
              <a:off x="2538" y="1907"/>
              <a:ext cx="254" cy="25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cr</a:t>
              </a:r>
              <a:endParaRPr/>
            </a:p>
          </p:txBody>
        </p:sp>
        <p:sp>
          <p:nvSpPr>
            <p:cNvPr id="2143" name="Google Shape;2143;p32"/>
            <p:cNvSpPr txBox="1"/>
            <p:nvPr/>
          </p:nvSpPr>
          <p:spPr>
            <a:xfrm>
              <a:off x="2834" y="1914"/>
              <a:ext cx="196"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lf</a:t>
              </a:r>
              <a:endParaRPr/>
            </a:p>
          </p:txBody>
        </p:sp>
        <p:sp>
          <p:nvSpPr>
            <p:cNvPr id="2144" name="Google Shape;2144;p32"/>
            <p:cNvSpPr txBox="1"/>
            <p:nvPr/>
          </p:nvSpPr>
          <p:spPr>
            <a:xfrm>
              <a:off x="1922" y="1895"/>
              <a:ext cx="499"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rgbClr val="000099"/>
                  </a:solidFill>
                  <a:latin typeface="Arial"/>
                  <a:ea typeface="Arial"/>
                  <a:cs typeface="Arial"/>
                  <a:sym typeface="Arial"/>
                </a:rPr>
                <a:t>value</a:t>
              </a:r>
              <a:endParaRPr/>
            </a:p>
          </p:txBody>
        </p:sp>
        <p:sp>
          <p:nvSpPr>
            <p:cNvPr id="2145" name="Google Shape;2145;p32"/>
            <p:cNvSpPr txBox="1"/>
            <p:nvPr/>
          </p:nvSpPr>
          <p:spPr>
            <a:xfrm>
              <a:off x="246" y="1903"/>
              <a:ext cx="1396"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rgbClr val="000099"/>
                  </a:solidFill>
                  <a:latin typeface="Arial"/>
                  <a:ea typeface="Arial"/>
                  <a:cs typeface="Arial"/>
                  <a:sym typeface="Arial"/>
                </a:rPr>
                <a:t>header field name</a:t>
              </a:r>
              <a:endParaRPr/>
            </a:p>
          </p:txBody>
        </p:sp>
      </p:grpSp>
      <p:grpSp>
        <p:nvGrpSpPr>
          <p:cNvPr id="2146" name="Google Shape;2146;p32"/>
          <p:cNvGrpSpPr/>
          <p:nvPr/>
        </p:nvGrpSpPr>
        <p:grpSpPr>
          <a:xfrm>
            <a:off x="2876759" y="3709987"/>
            <a:ext cx="4565650" cy="446088"/>
            <a:chOff x="192" y="1894"/>
            <a:chExt cx="2876" cy="281"/>
          </a:xfrm>
        </p:grpSpPr>
        <p:sp>
          <p:nvSpPr>
            <p:cNvPr id="2147" name="Google Shape;2147;p32"/>
            <p:cNvSpPr/>
            <p:nvPr/>
          </p:nvSpPr>
          <p:spPr>
            <a:xfrm>
              <a:off x="192" y="1894"/>
              <a:ext cx="2876" cy="281"/>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cxnSp>
          <p:nvCxnSpPr>
            <p:cNvPr id="2148" name="Google Shape;2148;p32"/>
            <p:cNvCxnSpPr/>
            <p:nvPr/>
          </p:nvCxnSpPr>
          <p:spPr>
            <a:xfrm>
              <a:off x="1700" y="1896"/>
              <a:ext cx="0" cy="276"/>
            </a:xfrm>
            <a:prstGeom prst="straightConnector1">
              <a:avLst/>
            </a:prstGeom>
            <a:noFill/>
            <a:ln cap="flat" cmpd="sng" w="19050">
              <a:solidFill>
                <a:schemeClr val="dk1"/>
              </a:solidFill>
              <a:prstDash val="solid"/>
              <a:round/>
              <a:headEnd len="med" w="med" type="none"/>
              <a:tailEnd len="med" w="med" type="none"/>
            </a:ln>
          </p:spPr>
        </p:cxnSp>
        <p:cxnSp>
          <p:nvCxnSpPr>
            <p:cNvPr id="2149" name="Google Shape;2149;p32"/>
            <p:cNvCxnSpPr/>
            <p:nvPr/>
          </p:nvCxnSpPr>
          <p:spPr>
            <a:xfrm>
              <a:off x="1832" y="1896"/>
              <a:ext cx="0" cy="276"/>
            </a:xfrm>
            <a:prstGeom prst="straightConnector1">
              <a:avLst/>
            </a:prstGeom>
            <a:noFill/>
            <a:ln cap="flat" cmpd="sng" w="19050">
              <a:solidFill>
                <a:schemeClr val="dk1"/>
              </a:solidFill>
              <a:prstDash val="solid"/>
              <a:round/>
              <a:headEnd len="med" w="med" type="none"/>
              <a:tailEnd len="med" w="med" type="none"/>
            </a:ln>
          </p:spPr>
        </p:cxnSp>
        <p:cxnSp>
          <p:nvCxnSpPr>
            <p:cNvPr id="2150" name="Google Shape;2150;p32"/>
            <p:cNvCxnSpPr/>
            <p:nvPr/>
          </p:nvCxnSpPr>
          <p:spPr>
            <a:xfrm>
              <a:off x="2528" y="1896"/>
              <a:ext cx="0" cy="276"/>
            </a:xfrm>
            <a:prstGeom prst="straightConnector1">
              <a:avLst/>
            </a:prstGeom>
            <a:noFill/>
            <a:ln cap="flat" cmpd="sng" w="19050">
              <a:solidFill>
                <a:schemeClr val="dk1"/>
              </a:solidFill>
              <a:prstDash val="solid"/>
              <a:round/>
              <a:headEnd len="med" w="med" type="none"/>
              <a:tailEnd len="med" w="med" type="none"/>
            </a:ln>
          </p:spPr>
        </p:cxnSp>
        <p:cxnSp>
          <p:nvCxnSpPr>
            <p:cNvPr id="2151" name="Google Shape;2151;p32"/>
            <p:cNvCxnSpPr/>
            <p:nvPr/>
          </p:nvCxnSpPr>
          <p:spPr>
            <a:xfrm>
              <a:off x="2804" y="1896"/>
              <a:ext cx="0" cy="276"/>
            </a:xfrm>
            <a:prstGeom prst="straightConnector1">
              <a:avLst/>
            </a:prstGeom>
            <a:noFill/>
            <a:ln cap="flat" cmpd="sng" w="19050">
              <a:solidFill>
                <a:schemeClr val="dk1"/>
              </a:solidFill>
              <a:prstDash val="solid"/>
              <a:round/>
              <a:headEnd len="med" w="med" type="none"/>
              <a:tailEnd len="med" w="med" type="none"/>
            </a:ln>
          </p:spPr>
        </p:cxnSp>
        <p:sp>
          <p:nvSpPr>
            <p:cNvPr id="2152" name="Google Shape;2152;p32"/>
            <p:cNvSpPr txBox="1"/>
            <p:nvPr/>
          </p:nvSpPr>
          <p:spPr>
            <a:xfrm>
              <a:off x="2538" y="1907"/>
              <a:ext cx="254" cy="25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cr</a:t>
              </a:r>
              <a:endParaRPr/>
            </a:p>
          </p:txBody>
        </p:sp>
        <p:sp>
          <p:nvSpPr>
            <p:cNvPr id="2153" name="Google Shape;2153;p32"/>
            <p:cNvSpPr txBox="1"/>
            <p:nvPr/>
          </p:nvSpPr>
          <p:spPr>
            <a:xfrm>
              <a:off x="2834" y="1914"/>
              <a:ext cx="196"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lf</a:t>
              </a:r>
              <a:endParaRPr/>
            </a:p>
          </p:txBody>
        </p:sp>
        <p:sp>
          <p:nvSpPr>
            <p:cNvPr id="2154" name="Google Shape;2154;p32"/>
            <p:cNvSpPr txBox="1"/>
            <p:nvPr/>
          </p:nvSpPr>
          <p:spPr>
            <a:xfrm>
              <a:off x="1922" y="1895"/>
              <a:ext cx="499"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rgbClr val="000099"/>
                  </a:solidFill>
                  <a:latin typeface="Arial"/>
                  <a:ea typeface="Arial"/>
                  <a:cs typeface="Arial"/>
                  <a:sym typeface="Arial"/>
                </a:rPr>
                <a:t>value</a:t>
              </a:r>
              <a:endParaRPr/>
            </a:p>
          </p:txBody>
        </p:sp>
        <p:sp>
          <p:nvSpPr>
            <p:cNvPr id="2155" name="Google Shape;2155;p32"/>
            <p:cNvSpPr txBox="1"/>
            <p:nvPr/>
          </p:nvSpPr>
          <p:spPr>
            <a:xfrm>
              <a:off x="246" y="1903"/>
              <a:ext cx="1396"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rgbClr val="000099"/>
                  </a:solidFill>
                  <a:latin typeface="Arial"/>
                  <a:ea typeface="Arial"/>
                  <a:cs typeface="Arial"/>
                  <a:sym typeface="Arial"/>
                </a:rPr>
                <a:t>header field name</a:t>
              </a:r>
              <a:endParaRPr/>
            </a:p>
          </p:txBody>
        </p:sp>
      </p:grpSp>
      <p:cxnSp>
        <p:nvCxnSpPr>
          <p:cNvPr id="2156" name="Google Shape;2156;p32"/>
          <p:cNvCxnSpPr/>
          <p:nvPr/>
        </p:nvCxnSpPr>
        <p:spPr>
          <a:xfrm>
            <a:off x="2879934" y="2681287"/>
            <a:ext cx="0" cy="1041400"/>
          </a:xfrm>
          <a:prstGeom prst="straightConnector1">
            <a:avLst/>
          </a:prstGeom>
          <a:noFill/>
          <a:ln cap="flat" cmpd="sng" w="19050">
            <a:solidFill>
              <a:schemeClr val="dk1"/>
            </a:solidFill>
            <a:prstDash val="solid"/>
            <a:round/>
            <a:headEnd len="med" w="med" type="none"/>
            <a:tailEnd len="med" w="med" type="none"/>
          </a:ln>
        </p:spPr>
      </p:cxnSp>
      <p:grpSp>
        <p:nvGrpSpPr>
          <p:cNvPr id="2157" name="Google Shape;2157;p32"/>
          <p:cNvGrpSpPr/>
          <p:nvPr/>
        </p:nvGrpSpPr>
        <p:grpSpPr>
          <a:xfrm>
            <a:off x="2711659" y="2905125"/>
            <a:ext cx="331788" cy="461962"/>
            <a:chOff x="462" y="1727"/>
            <a:chExt cx="209" cy="291"/>
          </a:xfrm>
        </p:grpSpPr>
        <p:sp>
          <p:nvSpPr>
            <p:cNvPr id="2158" name="Google Shape;2158;p32"/>
            <p:cNvSpPr/>
            <p:nvPr/>
          </p:nvSpPr>
          <p:spPr>
            <a:xfrm>
              <a:off x="534" y="1854"/>
              <a:ext cx="56" cy="5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2159" name="Google Shape;2159;p32"/>
            <p:cNvSpPr txBox="1"/>
            <p:nvPr/>
          </p:nvSpPr>
          <p:spPr>
            <a:xfrm>
              <a:off x="462" y="1727"/>
              <a:ext cx="209"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a:t>
              </a:r>
              <a:endParaRPr/>
            </a:p>
          </p:txBody>
        </p:sp>
        <p:sp>
          <p:nvSpPr>
            <p:cNvPr id="2160" name="Google Shape;2160;p32"/>
            <p:cNvSpPr txBox="1"/>
            <p:nvPr/>
          </p:nvSpPr>
          <p:spPr>
            <a:xfrm>
              <a:off x="462" y="1768"/>
              <a:ext cx="209"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a:t>
              </a:r>
              <a:endParaRPr/>
            </a:p>
          </p:txBody>
        </p:sp>
      </p:grpSp>
      <p:cxnSp>
        <p:nvCxnSpPr>
          <p:cNvPr id="2161" name="Google Shape;2161;p32"/>
          <p:cNvCxnSpPr/>
          <p:nvPr/>
        </p:nvCxnSpPr>
        <p:spPr>
          <a:xfrm>
            <a:off x="7443997" y="2668587"/>
            <a:ext cx="0" cy="1041400"/>
          </a:xfrm>
          <a:prstGeom prst="straightConnector1">
            <a:avLst/>
          </a:prstGeom>
          <a:noFill/>
          <a:ln cap="flat" cmpd="sng" w="19050">
            <a:solidFill>
              <a:schemeClr val="dk1"/>
            </a:solidFill>
            <a:prstDash val="solid"/>
            <a:round/>
            <a:headEnd len="med" w="med" type="none"/>
            <a:tailEnd len="med" w="med" type="none"/>
          </a:ln>
        </p:spPr>
      </p:cxnSp>
      <p:grpSp>
        <p:nvGrpSpPr>
          <p:cNvPr id="2162" name="Google Shape;2162;p32"/>
          <p:cNvGrpSpPr/>
          <p:nvPr/>
        </p:nvGrpSpPr>
        <p:grpSpPr>
          <a:xfrm>
            <a:off x="7275722" y="2892425"/>
            <a:ext cx="331787" cy="461962"/>
            <a:chOff x="462" y="1727"/>
            <a:chExt cx="209" cy="291"/>
          </a:xfrm>
        </p:grpSpPr>
        <p:sp>
          <p:nvSpPr>
            <p:cNvPr id="2163" name="Google Shape;2163;p32"/>
            <p:cNvSpPr/>
            <p:nvPr/>
          </p:nvSpPr>
          <p:spPr>
            <a:xfrm>
              <a:off x="534" y="1854"/>
              <a:ext cx="56" cy="5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2164" name="Google Shape;2164;p32"/>
            <p:cNvSpPr txBox="1"/>
            <p:nvPr/>
          </p:nvSpPr>
          <p:spPr>
            <a:xfrm>
              <a:off x="462" y="1727"/>
              <a:ext cx="209"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a:t>
              </a:r>
              <a:endParaRPr/>
            </a:p>
          </p:txBody>
        </p:sp>
        <p:sp>
          <p:nvSpPr>
            <p:cNvPr id="2165" name="Google Shape;2165;p32"/>
            <p:cNvSpPr txBox="1"/>
            <p:nvPr/>
          </p:nvSpPr>
          <p:spPr>
            <a:xfrm>
              <a:off x="462" y="1768"/>
              <a:ext cx="209"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a:t>
              </a:r>
              <a:endParaRPr/>
            </a:p>
          </p:txBody>
        </p:sp>
      </p:grpSp>
      <p:grpSp>
        <p:nvGrpSpPr>
          <p:cNvPr id="2166" name="Google Shape;2166;p32"/>
          <p:cNvGrpSpPr/>
          <p:nvPr/>
        </p:nvGrpSpPr>
        <p:grpSpPr>
          <a:xfrm>
            <a:off x="2875172" y="4156075"/>
            <a:ext cx="963612" cy="446087"/>
            <a:chOff x="3105" y="2650"/>
            <a:chExt cx="607" cy="281"/>
          </a:xfrm>
        </p:grpSpPr>
        <p:sp>
          <p:nvSpPr>
            <p:cNvPr id="2167" name="Google Shape;2167;p32"/>
            <p:cNvSpPr/>
            <p:nvPr/>
          </p:nvSpPr>
          <p:spPr>
            <a:xfrm>
              <a:off x="3105" y="2650"/>
              <a:ext cx="607" cy="281"/>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cxnSp>
          <p:nvCxnSpPr>
            <p:cNvPr id="2168" name="Google Shape;2168;p32"/>
            <p:cNvCxnSpPr/>
            <p:nvPr/>
          </p:nvCxnSpPr>
          <p:spPr>
            <a:xfrm>
              <a:off x="3406" y="2652"/>
              <a:ext cx="0" cy="276"/>
            </a:xfrm>
            <a:prstGeom prst="straightConnector1">
              <a:avLst/>
            </a:prstGeom>
            <a:noFill/>
            <a:ln cap="flat" cmpd="sng" w="19050">
              <a:solidFill>
                <a:schemeClr val="dk1"/>
              </a:solidFill>
              <a:prstDash val="solid"/>
              <a:round/>
              <a:headEnd len="med" w="med" type="none"/>
              <a:tailEnd len="med" w="med" type="none"/>
            </a:ln>
          </p:spPr>
        </p:cxnSp>
        <p:sp>
          <p:nvSpPr>
            <p:cNvPr id="2169" name="Google Shape;2169;p32"/>
            <p:cNvSpPr txBox="1"/>
            <p:nvPr/>
          </p:nvSpPr>
          <p:spPr>
            <a:xfrm>
              <a:off x="3140" y="2663"/>
              <a:ext cx="254" cy="25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cr</a:t>
              </a:r>
              <a:endParaRPr/>
            </a:p>
          </p:txBody>
        </p:sp>
        <p:sp>
          <p:nvSpPr>
            <p:cNvPr id="2170" name="Google Shape;2170;p32"/>
            <p:cNvSpPr txBox="1"/>
            <p:nvPr/>
          </p:nvSpPr>
          <p:spPr>
            <a:xfrm>
              <a:off x="3436" y="2670"/>
              <a:ext cx="196"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lf</a:t>
              </a:r>
              <a:endParaRPr/>
            </a:p>
          </p:txBody>
        </p:sp>
      </p:grpSp>
      <p:sp>
        <p:nvSpPr>
          <p:cNvPr id="2171" name="Google Shape;2171;p32"/>
          <p:cNvSpPr/>
          <p:nvPr/>
        </p:nvSpPr>
        <p:spPr>
          <a:xfrm>
            <a:off x="2875172" y="4603750"/>
            <a:ext cx="5170487" cy="1120775"/>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2172" name="Google Shape;2172;p32"/>
          <p:cNvSpPr txBox="1"/>
          <p:nvPr/>
        </p:nvSpPr>
        <p:spPr>
          <a:xfrm>
            <a:off x="4811922" y="4927600"/>
            <a:ext cx="1411287" cy="396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rgbClr val="000099"/>
                </a:solidFill>
                <a:latin typeface="Arial"/>
                <a:ea typeface="Arial"/>
                <a:cs typeface="Arial"/>
                <a:sym typeface="Arial"/>
              </a:rPr>
              <a:t>entity body</a:t>
            </a:r>
            <a:endParaRPr/>
          </a:p>
        </p:txBody>
      </p:sp>
      <p:grpSp>
        <p:nvGrpSpPr>
          <p:cNvPr id="2173" name="Google Shape;2173;p32"/>
          <p:cNvGrpSpPr/>
          <p:nvPr/>
        </p:nvGrpSpPr>
        <p:grpSpPr>
          <a:xfrm>
            <a:off x="2711659" y="4941887"/>
            <a:ext cx="331788" cy="461963"/>
            <a:chOff x="462" y="1727"/>
            <a:chExt cx="209" cy="291"/>
          </a:xfrm>
        </p:grpSpPr>
        <p:sp>
          <p:nvSpPr>
            <p:cNvPr id="2174" name="Google Shape;2174;p32"/>
            <p:cNvSpPr/>
            <p:nvPr/>
          </p:nvSpPr>
          <p:spPr>
            <a:xfrm>
              <a:off x="534" y="1854"/>
              <a:ext cx="56" cy="5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2175" name="Google Shape;2175;p32"/>
            <p:cNvSpPr txBox="1"/>
            <p:nvPr/>
          </p:nvSpPr>
          <p:spPr>
            <a:xfrm>
              <a:off x="462" y="1727"/>
              <a:ext cx="209"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a:t>
              </a:r>
              <a:endParaRPr/>
            </a:p>
          </p:txBody>
        </p:sp>
        <p:sp>
          <p:nvSpPr>
            <p:cNvPr id="2176" name="Google Shape;2176;p32"/>
            <p:cNvSpPr txBox="1"/>
            <p:nvPr/>
          </p:nvSpPr>
          <p:spPr>
            <a:xfrm>
              <a:off x="462" y="1768"/>
              <a:ext cx="209"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a:t>
              </a:r>
              <a:endParaRPr/>
            </a:p>
          </p:txBody>
        </p:sp>
      </p:grpSp>
      <p:grpSp>
        <p:nvGrpSpPr>
          <p:cNvPr id="2177" name="Google Shape;2177;p32"/>
          <p:cNvGrpSpPr/>
          <p:nvPr/>
        </p:nvGrpSpPr>
        <p:grpSpPr>
          <a:xfrm>
            <a:off x="7871034" y="4932362"/>
            <a:ext cx="331788" cy="461963"/>
            <a:chOff x="462" y="1727"/>
            <a:chExt cx="209" cy="291"/>
          </a:xfrm>
        </p:grpSpPr>
        <p:sp>
          <p:nvSpPr>
            <p:cNvPr id="2178" name="Google Shape;2178;p32"/>
            <p:cNvSpPr/>
            <p:nvPr/>
          </p:nvSpPr>
          <p:spPr>
            <a:xfrm>
              <a:off x="534" y="1854"/>
              <a:ext cx="56" cy="5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2179" name="Google Shape;2179;p32"/>
            <p:cNvSpPr txBox="1"/>
            <p:nvPr/>
          </p:nvSpPr>
          <p:spPr>
            <a:xfrm>
              <a:off x="462" y="1727"/>
              <a:ext cx="209"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a:t>
              </a:r>
              <a:endParaRPr/>
            </a:p>
          </p:txBody>
        </p:sp>
        <p:sp>
          <p:nvSpPr>
            <p:cNvPr id="2180" name="Google Shape;2180;p32"/>
            <p:cNvSpPr txBox="1"/>
            <p:nvPr/>
          </p:nvSpPr>
          <p:spPr>
            <a:xfrm>
              <a:off x="462" y="1768"/>
              <a:ext cx="209"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a:t>
              </a: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5" name="Shape 2185"/>
        <p:cNvGrpSpPr/>
        <p:nvPr/>
      </p:nvGrpSpPr>
      <p:grpSpPr>
        <a:xfrm>
          <a:off x="0" y="0"/>
          <a:ext cx="0" cy="0"/>
          <a:chOff x="0" y="0"/>
          <a:chExt cx="0" cy="0"/>
        </a:xfrm>
      </p:grpSpPr>
      <p:sp>
        <p:nvSpPr>
          <p:cNvPr id="2186" name="Google Shape;2186;p33"/>
          <p:cNvSpPr txBox="1"/>
          <p:nvPr>
            <p:ph type="title"/>
          </p:nvPr>
        </p:nvSpPr>
        <p:spPr>
          <a:xfrm>
            <a:off x="798691" y="43000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Other HTTP request </a:t>
            </a:r>
            <a:r>
              <a:rPr lang="en-US"/>
              <a:t>m</a:t>
            </a:r>
            <a:r>
              <a:rPr lang="en-US" sz="4400"/>
              <a:t>essages</a:t>
            </a:r>
            <a:endParaRPr sz="4400"/>
          </a:p>
        </p:txBody>
      </p:sp>
      <p:sp>
        <p:nvSpPr>
          <p:cNvPr id="2187" name="Google Shape;2187;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2188" name="Google Shape;2188;p33"/>
          <p:cNvSpPr txBox="1"/>
          <p:nvPr/>
        </p:nvSpPr>
        <p:spPr>
          <a:xfrm>
            <a:off x="685573" y="1727394"/>
            <a:ext cx="4684713" cy="1701606"/>
          </a:xfrm>
          <a:prstGeom prst="rect">
            <a:avLst/>
          </a:prstGeom>
          <a:noFill/>
          <a:ln>
            <a:noFill/>
          </a:ln>
        </p:spPr>
        <p:txBody>
          <a:bodyPr anchorCtr="0" anchor="t" bIns="45700" lIns="91425" spcFirstLastPara="1" rIns="91425" wrap="square" tIns="45700">
            <a:noAutofit/>
          </a:bodyPr>
          <a:lstStyle/>
          <a:p>
            <a:pPr indent="0" lvl="0" marL="14288" marR="0" rtl="0" algn="l">
              <a:lnSpc>
                <a:spcPct val="90000"/>
              </a:lnSpc>
              <a:spcBef>
                <a:spcPts val="0"/>
              </a:spcBef>
              <a:spcAft>
                <a:spcPts val="0"/>
              </a:spcAft>
              <a:buClr>
                <a:srgbClr val="0000A3"/>
              </a:buClr>
              <a:buSzPts val="2800"/>
              <a:buFont typeface="Noto Sans Symbols"/>
              <a:buNone/>
            </a:pPr>
            <a:r>
              <a:rPr lang="en-US" sz="2800" u="sng">
                <a:solidFill>
                  <a:srgbClr val="CC0000"/>
                </a:solidFill>
                <a:latin typeface="Calibri"/>
                <a:ea typeface="Calibri"/>
                <a:cs typeface="Calibri"/>
                <a:sym typeface="Calibri"/>
              </a:rPr>
              <a:t>POST method:</a:t>
            </a:r>
            <a:endParaRPr/>
          </a:p>
          <a:p>
            <a:pPr indent="-233363" lvl="0" marL="233363" marR="0" rtl="0" algn="l">
              <a:lnSpc>
                <a:spcPct val="90000"/>
              </a:lnSpc>
              <a:spcBef>
                <a:spcPts val="4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web page often includes form input</a:t>
            </a:r>
            <a:endParaRPr/>
          </a:p>
          <a:p>
            <a:pPr indent="-233363" lvl="0" marL="233363" marR="0" rtl="0" algn="l">
              <a:lnSpc>
                <a:spcPct val="90000"/>
              </a:lnSpc>
              <a:spcBef>
                <a:spcPts val="4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user input sent from client to server in entity body of HTTP POST request message</a:t>
            </a:r>
            <a:endParaRPr/>
          </a:p>
        </p:txBody>
      </p:sp>
      <p:sp>
        <p:nvSpPr>
          <p:cNvPr id="2189" name="Google Shape;2189;p33"/>
          <p:cNvSpPr txBox="1"/>
          <p:nvPr/>
        </p:nvSpPr>
        <p:spPr>
          <a:xfrm>
            <a:off x="685573" y="4466964"/>
            <a:ext cx="5541055" cy="1701606"/>
          </a:xfrm>
          <a:prstGeom prst="rect">
            <a:avLst/>
          </a:prstGeom>
          <a:noFill/>
          <a:ln>
            <a:noFill/>
          </a:ln>
        </p:spPr>
        <p:txBody>
          <a:bodyPr anchorCtr="0" anchor="t" bIns="45700" lIns="91425" spcFirstLastPara="1" rIns="91425" wrap="square" tIns="45700">
            <a:noAutofit/>
          </a:bodyPr>
          <a:lstStyle/>
          <a:p>
            <a:pPr indent="0" lvl="0" marL="14288" marR="0" rtl="0" algn="l">
              <a:lnSpc>
                <a:spcPct val="90000"/>
              </a:lnSpc>
              <a:spcBef>
                <a:spcPts val="0"/>
              </a:spcBef>
              <a:spcAft>
                <a:spcPts val="0"/>
              </a:spcAft>
              <a:buClr>
                <a:srgbClr val="0000A3"/>
              </a:buClr>
              <a:buSzPts val="2800"/>
              <a:buFont typeface="Noto Sans Symbols"/>
              <a:buNone/>
            </a:pPr>
            <a:r>
              <a:rPr lang="en-US" sz="2800" u="sng">
                <a:solidFill>
                  <a:srgbClr val="CC0000"/>
                </a:solidFill>
                <a:latin typeface="Calibri"/>
                <a:ea typeface="Calibri"/>
                <a:cs typeface="Calibri"/>
                <a:sym typeface="Calibri"/>
              </a:rPr>
              <a:t>GET method </a:t>
            </a:r>
            <a:r>
              <a:rPr lang="en-US" sz="2400">
                <a:solidFill>
                  <a:schemeClr val="dk1"/>
                </a:solidFill>
                <a:latin typeface="Calibri"/>
                <a:ea typeface="Calibri"/>
                <a:cs typeface="Calibri"/>
                <a:sym typeface="Calibri"/>
              </a:rPr>
              <a:t>(for sending data to server):</a:t>
            </a:r>
            <a:endParaRPr sz="2800">
              <a:solidFill>
                <a:schemeClr val="dk1"/>
              </a:solidFill>
              <a:latin typeface="Calibri"/>
              <a:ea typeface="Calibri"/>
              <a:cs typeface="Calibri"/>
              <a:sym typeface="Calibri"/>
            </a:endParaRPr>
          </a:p>
          <a:p>
            <a:pPr indent="-233363" lvl="0" marL="233363" marR="0" rtl="0" algn="l">
              <a:lnSpc>
                <a:spcPct val="90000"/>
              </a:lnSpc>
              <a:spcBef>
                <a:spcPts val="10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include user data in URL field of HTTP GET request message (following a ‘?’):</a:t>
            </a:r>
            <a:endParaRPr/>
          </a:p>
        </p:txBody>
      </p:sp>
      <p:sp>
        <p:nvSpPr>
          <p:cNvPr id="2190" name="Google Shape;2190;p33"/>
          <p:cNvSpPr txBox="1"/>
          <p:nvPr/>
        </p:nvSpPr>
        <p:spPr>
          <a:xfrm>
            <a:off x="798692" y="5806133"/>
            <a:ext cx="62801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ourier New"/>
              <a:buNone/>
            </a:pPr>
            <a:r>
              <a:rPr b="1" lang="en-US" sz="1800">
                <a:solidFill>
                  <a:schemeClr val="dk1"/>
                </a:solidFill>
                <a:latin typeface="Courier New"/>
                <a:ea typeface="Courier New"/>
                <a:cs typeface="Courier New"/>
                <a:sym typeface="Courier New"/>
              </a:rPr>
              <a:t>www.somesite.com/animalsearch?monkeys&amp;banana</a:t>
            </a:r>
            <a:endParaRPr b="1" sz="1800">
              <a:solidFill>
                <a:schemeClr val="dk1"/>
              </a:solidFill>
              <a:latin typeface="Courier New"/>
              <a:ea typeface="Courier New"/>
              <a:cs typeface="Courier New"/>
              <a:sym typeface="Courier New"/>
            </a:endParaRPr>
          </a:p>
        </p:txBody>
      </p:sp>
      <p:sp>
        <p:nvSpPr>
          <p:cNvPr id="2191" name="Google Shape;2191;p33"/>
          <p:cNvSpPr txBox="1"/>
          <p:nvPr/>
        </p:nvSpPr>
        <p:spPr>
          <a:xfrm>
            <a:off x="6991758" y="1752600"/>
            <a:ext cx="4684713" cy="1701606"/>
          </a:xfrm>
          <a:prstGeom prst="rect">
            <a:avLst/>
          </a:prstGeom>
          <a:noFill/>
          <a:ln>
            <a:noFill/>
          </a:ln>
        </p:spPr>
        <p:txBody>
          <a:bodyPr anchorCtr="0" anchor="t" bIns="45700" lIns="91425" spcFirstLastPara="1" rIns="91425" wrap="square" tIns="45700">
            <a:noAutofit/>
          </a:bodyPr>
          <a:lstStyle/>
          <a:p>
            <a:pPr indent="0" lvl="0" marL="14288" marR="0" rtl="0" algn="l">
              <a:lnSpc>
                <a:spcPct val="90000"/>
              </a:lnSpc>
              <a:spcBef>
                <a:spcPts val="0"/>
              </a:spcBef>
              <a:spcAft>
                <a:spcPts val="0"/>
              </a:spcAft>
              <a:buClr>
                <a:srgbClr val="0000A3"/>
              </a:buClr>
              <a:buSzPts val="2800"/>
              <a:buFont typeface="Noto Sans Symbols"/>
              <a:buNone/>
            </a:pPr>
            <a:r>
              <a:rPr lang="en-US" sz="2800" u="sng">
                <a:solidFill>
                  <a:srgbClr val="CC0000"/>
                </a:solidFill>
                <a:latin typeface="Calibri"/>
                <a:ea typeface="Calibri"/>
                <a:cs typeface="Calibri"/>
                <a:sym typeface="Calibri"/>
              </a:rPr>
              <a:t>HEAD method:</a:t>
            </a:r>
            <a:endParaRPr/>
          </a:p>
          <a:p>
            <a:pPr indent="-233363" lvl="0" marL="233363" marR="0" rtl="0" algn="l">
              <a:lnSpc>
                <a:spcPct val="90000"/>
              </a:lnSpc>
              <a:spcBef>
                <a:spcPts val="4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requests headers (only) that would be returned</a:t>
            </a:r>
            <a:r>
              <a:rPr i="1" lang="en-US" sz="2400">
                <a:solidFill>
                  <a:schemeClr val="dk1"/>
                </a:solidFill>
                <a:latin typeface="Calibri"/>
                <a:ea typeface="Calibri"/>
                <a:cs typeface="Calibri"/>
                <a:sym typeface="Calibri"/>
              </a:rPr>
              <a:t> if </a:t>
            </a:r>
            <a:r>
              <a:rPr lang="en-US" sz="2400">
                <a:solidFill>
                  <a:schemeClr val="dk1"/>
                </a:solidFill>
                <a:latin typeface="Calibri"/>
                <a:ea typeface="Calibri"/>
                <a:cs typeface="Calibri"/>
                <a:sym typeface="Calibri"/>
              </a:rPr>
              <a:t>specified URL were requested  with an HTTP GET method. </a:t>
            </a:r>
            <a:endParaRPr/>
          </a:p>
        </p:txBody>
      </p:sp>
      <p:sp>
        <p:nvSpPr>
          <p:cNvPr id="2192" name="Google Shape;2192;p33"/>
          <p:cNvSpPr txBox="1"/>
          <p:nvPr/>
        </p:nvSpPr>
        <p:spPr>
          <a:xfrm>
            <a:off x="6993371" y="3839527"/>
            <a:ext cx="4684713" cy="1701606"/>
          </a:xfrm>
          <a:prstGeom prst="rect">
            <a:avLst/>
          </a:prstGeom>
          <a:noFill/>
          <a:ln>
            <a:noFill/>
          </a:ln>
        </p:spPr>
        <p:txBody>
          <a:bodyPr anchorCtr="0" anchor="t" bIns="45700" lIns="91425" spcFirstLastPara="1" rIns="91425" wrap="square" tIns="45700">
            <a:noAutofit/>
          </a:bodyPr>
          <a:lstStyle/>
          <a:p>
            <a:pPr indent="0" lvl="0" marL="14288" marR="0" rtl="0" algn="l">
              <a:lnSpc>
                <a:spcPct val="90000"/>
              </a:lnSpc>
              <a:spcBef>
                <a:spcPts val="0"/>
              </a:spcBef>
              <a:spcAft>
                <a:spcPts val="0"/>
              </a:spcAft>
              <a:buClr>
                <a:srgbClr val="0000A3"/>
              </a:buClr>
              <a:buSzPts val="2800"/>
              <a:buFont typeface="Noto Sans Symbols"/>
              <a:buNone/>
            </a:pPr>
            <a:r>
              <a:rPr lang="en-US" sz="2800" u="sng">
                <a:solidFill>
                  <a:srgbClr val="CC0000"/>
                </a:solidFill>
                <a:latin typeface="Calibri"/>
                <a:ea typeface="Calibri"/>
                <a:cs typeface="Calibri"/>
                <a:sym typeface="Calibri"/>
              </a:rPr>
              <a:t>PUT method:</a:t>
            </a:r>
            <a:endParaRPr/>
          </a:p>
          <a:p>
            <a:pPr indent="-233363" lvl="0" marL="233363" marR="0" rtl="0" algn="l">
              <a:lnSpc>
                <a:spcPct val="90000"/>
              </a:lnSpc>
              <a:spcBef>
                <a:spcPts val="4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uploads new file (object) to server</a:t>
            </a:r>
            <a:endParaRPr/>
          </a:p>
          <a:p>
            <a:pPr indent="-233363" lvl="0" marL="233363" marR="0" rtl="0" algn="l">
              <a:lnSpc>
                <a:spcPct val="90000"/>
              </a:lnSpc>
              <a:spcBef>
                <a:spcPts val="4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completely replaces file that exists at specified URL with content in entity body of POST HTTP request message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2"/>
                                        </p:tgtEl>
                                        <p:attrNameLst>
                                          <p:attrName>style.visibility</p:attrName>
                                        </p:attrNameLst>
                                      </p:cBhvr>
                                      <p:to>
                                        <p:strVal val="visible"/>
                                      </p:to>
                                    </p:set>
                                    <p:animEffect filter="fade" transition="in">
                                      <p:cBhvr>
                                        <p:cTn dur="500"/>
                                        <p:tgtEl>
                                          <p:spTgt spid="2192"/>
                                        </p:tgtEl>
                                      </p:cBhvr>
                                    </p:animEffect>
                                  </p:childTnLst>
                                </p:cTn>
                              </p:par>
                              <p:par>
                                <p:cTn fill="hold" nodeType="withEffect" presetClass="entr" presetID="10" presetSubtype="0">
                                  <p:stCondLst>
                                    <p:cond delay="0"/>
                                  </p:stCondLst>
                                  <p:childTnLst>
                                    <p:set>
                                      <p:cBhvr>
                                        <p:cTn dur="1" fill="hold">
                                          <p:stCondLst>
                                            <p:cond delay="0"/>
                                          </p:stCondLst>
                                        </p:cTn>
                                        <p:tgtEl>
                                          <p:spTgt spid="2191"/>
                                        </p:tgtEl>
                                        <p:attrNameLst>
                                          <p:attrName>style.visibility</p:attrName>
                                        </p:attrNameLst>
                                      </p:cBhvr>
                                      <p:to>
                                        <p:strVal val="visible"/>
                                      </p:to>
                                    </p:set>
                                    <p:animEffect filter="fade" transition="in">
                                      <p:cBhvr>
                                        <p:cTn dur="500"/>
                                        <p:tgtEl>
                                          <p:spTgt spid="2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7" name="Shape 2197"/>
        <p:cNvGrpSpPr/>
        <p:nvPr/>
      </p:nvGrpSpPr>
      <p:grpSpPr>
        <a:xfrm>
          <a:off x="0" y="0"/>
          <a:ext cx="0" cy="0"/>
          <a:chOff x="0" y="0"/>
          <a:chExt cx="0" cy="0"/>
        </a:xfrm>
      </p:grpSpPr>
      <p:sp>
        <p:nvSpPr>
          <p:cNvPr id="2198" name="Google Shape;2198;p34"/>
          <p:cNvSpPr txBox="1"/>
          <p:nvPr>
            <p:ph type="title"/>
          </p:nvPr>
        </p:nvSpPr>
        <p:spPr>
          <a:xfrm>
            <a:off x="798691" y="43000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HTTP response </a:t>
            </a:r>
            <a:r>
              <a:rPr lang="en-US"/>
              <a:t>m</a:t>
            </a:r>
            <a:r>
              <a:rPr lang="en-US" sz="4400"/>
              <a:t>essage</a:t>
            </a:r>
            <a:endParaRPr sz="4400"/>
          </a:p>
        </p:txBody>
      </p:sp>
      <p:sp>
        <p:nvSpPr>
          <p:cNvPr id="2199" name="Google Shape;2199;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2200" name="Google Shape;2200;p34"/>
          <p:cNvSpPr txBox="1"/>
          <p:nvPr/>
        </p:nvSpPr>
        <p:spPr>
          <a:xfrm>
            <a:off x="889630" y="1555730"/>
            <a:ext cx="405611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A3"/>
              </a:buClr>
              <a:buSzPts val="2400"/>
              <a:buFont typeface="Calibri"/>
              <a:buNone/>
            </a:pPr>
            <a:r>
              <a:rPr lang="en-US" sz="2400">
                <a:solidFill>
                  <a:srgbClr val="0000A3"/>
                </a:solidFill>
                <a:latin typeface="Calibri"/>
                <a:ea typeface="Calibri"/>
                <a:cs typeface="Calibri"/>
                <a:sym typeface="Calibri"/>
              </a:rPr>
              <a:t>status line (protocol</a:t>
            </a:r>
            <a:endParaRPr/>
          </a:p>
          <a:p>
            <a:pPr indent="0" lvl="0" marL="0" marR="0" rtl="0" algn="l">
              <a:spcBef>
                <a:spcPts val="0"/>
              </a:spcBef>
              <a:spcAft>
                <a:spcPts val="0"/>
              </a:spcAft>
              <a:buClr>
                <a:srgbClr val="0000A3"/>
              </a:buClr>
              <a:buSzPts val="2400"/>
              <a:buFont typeface="Calibri"/>
              <a:buNone/>
            </a:pPr>
            <a:r>
              <a:rPr lang="en-US" sz="2400">
                <a:solidFill>
                  <a:srgbClr val="0000A3"/>
                </a:solidFill>
                <a:latin typeface="Calibri"/>
                <a:ea typeface="Calibri"/>
                <a:cs typeface="Calibri"/>
                <a:sym typeface="Calibri"/>
              </a:rPr>
              <a:t>status code status phrase)</a:t>
            </a:r>
            <a:endParaRPr sz="2800">
              <a:solidFill>
                <a:srgbClr val="0000A3"/>
              </a:solidFill>
              <a:latin typeface="Calibri"/>
              <a:ea typeface="Calibri"/>
              <a:cs typeface="Calibri"/>
              <a:sym typeface="Calibri"/>
            </a:endParaRPr>
          </a:p>
        </p:txBody>
      </p:sp>
      <p:sp>
        <p:nvSpPr>
          <p:cNvPr id="2201" name="Google Shape;2201;p34"/>
          <p:cNvSpPr/>
          <p:nvPr/>
        </p:nvSpPr>
        <p:spPr>
          <a:xfrm>
            <a:off x="4945743" y="1971229"/>
            <a:ext cx="257175" cy="2941638"/>
          </a:xfrm>
          <a:custGeom>
            <a:rect b="b" l="l" r="r" t="t"/>
            <a:pathLst>
              <a:path extrusionOk="0" h="1428" w="162">
                <a:moveTo>
                  <a:pt x="132" y="9"/>
                </a:moveTo>
                <a:lnTo>
                  <a:pt x="0" y="0"/>
                </a:lnTo>
                <a:lnTo>
                  <a:pt x="0" y="1428"/>
                </a:lnTo>
                <a:lnTo>
                  <a:pt x="162" y="1425"/>
                </a:lnTo>
              </a:path>
            </a:pathLst>
          </a:custGeom>
          <a:noFill/>
          <a:ln cap="flat" cmpd="sng" w="19050">
            <a:solidFill>
              <a:srgbClr val="0000A3"/>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2" name="Google Shape;2202;p34"/>
          <p:cNvSpPr txBox="1"/>
          <p:nvPr/>
        </p:nvSpPr>
        <p:spPr>
          <a:xfrm>
            <a:off x="3685704" y="2952304"/>
            <a:ext cx="1071127" cy="8309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rgbClr val="0000A3"/>
              </a:buClr>
              <a:buSzPts val="2400"/>
              <a:buFont typeface="Calibri"/>
              <a:buNone/>
            </a:pPr>
            <a:r>
              <a:rPr lang="en-US" sz="2400">
                <a:solidFill>
                  <a:srgbClr val="0000A3"/>
                </a:solidFill>
                <a:latin typeface="Calibri"/>
                <a:ea typeface="Calibri"/>
                <a:cs typeface="Calibri"/>
                <a:sym typeface="Calibri"/>
              </a:rPr>
              <a:t>header</a:t>
            </a:r>
            <a:endParaRPr/>
          </a:p>
          <a:p>
            <a:pPr indent="0" lvl="0" marL="0" marR="0" rtl="0" algn="r">
              <a:spcBef>
                <a:spcPts val="0"/>
              </a:spcBef>
              <a:spcAft>
                <a:spcPts val="0"/>
              </a:spcAft>
              <a:buClr>
                <a:srgbClr val="0000A3"/>
              </a:buClr>
              <a:buSzPts val="2400"/>
              <a:buFont typeface="Calibri"/>
              <a:buNone/>
            </a:pPr>
            <a:r>
              <a:rPr lang="en-US" sz="2400">
                <a:solidFill>
                  <a:srgbClr val="0000A3"/>
                </a:solidFill>
                <a:latin typeface="Calibri"/>
                <a:ea typeface="Calibri"/>
                <a:cs typeface="Calibri"/>
                <a:sym typeface="Calibri"/>
              </a:rPr>
              <a:t> lines</a:t>
            </a:r>
            <a:endParaRPr sz="2800">
              <a:solidFill>
                <a:srgbClr val="0000A3"/>
              </a:solidFill>
              <a:latin typeface="Calibri"/>
              <a:ea typeface="Calibri"/>
              <a:cs typeface="Calibri"/>
              <a:sym typeface="Calibri"/>
            </a:endParaRPr>
          </a:p>
        </p:txBody>
      </p:sp>
      <p:sp>
        <p:nvSpPr>
          <p:cNvPr id="2203" name="Google Shape;2203;p34"/>
          <p:cNvSpPr txBox="1"/>
          <p:nvPr/>
        </p:nvSpPr>
        <p:spPr>
          <a:xfrm>
            <a:off x="779412" y="4803102"/>
            <a:ext cx="360288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A3"/>
              </a:buClr>
              <a:buSzPts val="2400"/>
              <a:buFont typeface="Calibri"/>
              <a:buNone/>
            </a:pPr>
            <a:r>
              <a:rPr lang="en-US" sz="2400">
                <a:solidFill>
                  <a:srgbClr val="0000A3"/>
                </a:solidFill>
                <a:latin typeface="Calibri"/>
                <a:ea typeface="Calibri"/>
                <a:cs typeface="Calibri"/>
                <a:sym typeface="Calibri"/>
              </a:rPr>
              <a:t>data, e.g.,  requested</a:t>
            </a:r>
            <a:endParaRPr/>
          </a:p>
          <a:p>
            <a:pPr indent="0" lvl="0" marL="0" marR="0" rtl="0" algn="l">
              <a:spcBef>
                <a:spcPts val="0"/>
              </a:spcBef>
              <a:spcAft>
                <a:spcPts val="0"/>
              </a:spcAft>
              <a:buClr>
                <a:srgbClr val="0000A3"/>
              </a:buClr>
              <a:buSzPts val="2400"/>
              <a:buFont typeface="Calibri"/>
              <a:buNone/>
            </a:pPr>
            <a:r>
              <a:rPr lang="en-US" sz="2400">
                <a:solidFill>
                  <a:srgbClr val="0000A3"/>
                </a:solidFill>
                <a:latin typeface="Calibri"/>
                <a:ea typeface="Calibri"/>
                <a:cs typeface="Calibri"/>
                <a:sym typeface="Calibri"/>
              </a:rPr>
              <a:t>HTML file</a:t>
            </a:r>
            <a:endParaRPr sz="2800">
              <a:solidFill>
                <a:srgbClr val="0000A3"/>
              </a:solidFill>
              <a:latin typeface="Calibri"/>
              <a:ea typeface="Calibri"/>
              <a:cs typeface="Calibri"/>
              <a:sym typeface="Calibri"/>
            </a:endParaRPr>
          </a:p>
        </p:txBody>
      </p:sp>
      <p:sp>
        <p:nvSpPr>
          <p:cNvPr id="2204" name="Google Shape;2204;p34"/>
          <p:cNvSpPr/>
          <p:nvPr/>
        </p:nvSpPr>
        <p:spPr>
          <a:xfrm>
            <a:off x="5131481" y="1710879"/>
            <a:ext cx="6311900" cy="3559175"/>
          </a:xfrm>
          <a:prstGeom prst="rect">
            <a:avLst/>
          </a:prstGeom>
          <a:noFill/>
          <a:ln>
            <a:noFill/>
          </a:ln>
        </p:spPr>
        <p:txBody>
          <a:bodyPr anchorCtr="0" anchor="t" bIns="45700" lIns="91425" spcFirstLastPara="1" rIns="91425" wrap="square" tIns="45700">
            <a:spAutoFit/>
          </a:bodyPr>
          <a:lstStyle/>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HTTP/1.1 200 OK\r\n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Date: Sun, 26 Sep 2010 20:09:20 GMT\r\n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Server: Apache/2.0.52 (CentOS)\r\n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Last-Modified: Tue, 30 Oct 2007 17:00:02 GMT\r\n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ETag: "17dc6-a5c-bf716880"\r\n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Accept-Ranges: bytes\r\n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Content-Length: 2652\r\n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Keep-Alive: timeout=10, max=100\r\n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Connection: Keep-Alive\r\n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Content-Type: text/html; charset=ISO-8859-1\r\n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\r\n</a:t>
            </a:r>
            <a:endParaRPr/>
          </a:p>
          <a:p>
            <a:pPr indent="-342900" lvl="0" marL="342900" marR="0" rtl="0" algn="l">
              <a:lnSpc>
                <a:spcPct val="90000"/>
              </a:lnSpc>
              <a:spcBef>
                <a:spcPts val="0"/>
              </a:spcBef>
              <a:spcAft>
                <a:spcPts val="0"/>
              </a:spcAft>
              <a:buNone/>
            </a:pPr>
            <a:r>
              <a:rPr b="1" lang="en-US" sz="1800">
                <a:solidFill>
                  <a:schemeClr val="dk1"/>
                </a:solidFill>
                <a:latin typeface="Courier New"/>
                <a:ea typeface="Courier New"/>
                <a:cs typeface="Courier New"/>
                <a:sym typeface="Courier New"/>
              </a:rPr>
              <a:t>data data data data data ... </a:t>
            </a:r>
            <a:endParaRPr b="1" sz="1800">
              <a:solidFill>
                <a:schemeClr val="dk1"/>
              </a:solidFill>
              <a:latin typeface="Courier New"/>
              <a:ea typeface="Courier New"/>
              <a:cs typeface="Courier New"/>
              <a:sym typeface="Courier New"/>
            </a:endParaRPr>
          </a:p>
        </p:txBody>
      </p:sp>
      <p:cxnSp>
        <p:nvCxnSpPr>
          <p:cNvPr id="2205" name="Google Shape;2205;p34"/>
          <p:cNvCxnSpPr/>
          <p:nvPr/>
        </p:nvCxnSpPr>
        <p:spPr>
          <a:xfrm>
            <a:off x="3593872" y="1845820"/>
            <a:ext cx="1436915" cy="0"/>
          </a:xfrm>
          <a:prstGeom prst="straightConnector1">
            <a:avLst/>
          </a:prstGeom>
          <a:noFill/>
          <a:ln cap="flat" cmpd="sng" w="19050">
            <a:solidFill>
              <a:srgbClr val="0000A8"/>
            </a:solidFill>
            <a:prstDash val="solid"/>
            <a:miter lim="800000"/>
            <a:headEnd len="sm" w="sm" type="none"/>
            <a:tailEnd len="med" w="med" type="triangle"/>
          </a:ln>
        </p:spPr>
      </p:cxnSp>
      <p:cxnSp>
        <p:nvCxnSpPr>
          <p:cNvPr id="2206" name="Google Shape;2206;p34"/>
          <p:cNvCxnSpPr/>
          <p:nvPr/>
        </p:nvCxnSpPr>
        <p:spPr>
          <a:xfrm>
            <a:off x="3593872" y="5046220"/>
            <a:ext cx="1436915" cy="0"/>
          </a:xfrm>
          <a:prstGeom prst="straightConnector1">
            <a:avLst/>
          </a:prstGeom>
          <a:noFill/>
          <a:ln cap="flat" cmpd="sng" w="19050">
            <a:solidFill>
              <a:srgbClr val="0000A8"/>
            </a:solidFill>
            <a:prstDash val="solid"/>
            <a:miter lim="800000"/>
            <a:headEnd len="sm" w="sm" type="none"/>
            <a:tailEnd len="med" w="med" type="triangle"/>
          </a:ln>
        </p:spPr>
      </p:cxnSp>
      <p:sp>
        <p:nvSpPr>
          <p:cNvPr id="2207" name="Google Shape;2207;p34"/>
          <p:cNvSpPr txBox="1"/>
          <p:nvPr/>
        </p:nvSpPr>
        <p:spPr>
          <a:xfrm>
            <a:off x="889630" y="6155251"/>
            <a:ext cx="952137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 Check out the online interactive exercises for more examples: h</a:t>
            </a:r>
            <a:r>
              <a:rPr lang="en-US" sz="1200">
                <a:solidFill>
                  <a:schemeClr val="dk1"/>
                </a:solidFill>
                <a:latin typeface="Arial"/>
                <a:ea typeface="Arial"/>
                <a:cs typeface="Arial"/>
                <a:sym typeface="Arial"/>
              </a:rPr>
              <a:t>ttp://gaia.cs.umass.edu/kurose_ross/interactive/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2" name="Shape 2212"/>
        <p:cNvGrpSpPr/>
        <p:nvPr/>
      </p:nvGrpSpPr>
      <p:grpSpPr>
        <a:xfrm>
          <a:off x="0" y="0"/>
          <a:ext cx="0" cy="0"/>
          <a:chOff x="0" y="0"/>
          <a:chExt cx="0" cy="0"/>
        </a:xfrm>
      </p:grpSpPr>
      <p:sp>
        <p:nvSpPr>
          <p:cNvPr id="2213" name="Google Shape;2213;p35"/>
          <p:cNvSpPr txBox="1"/>
          <p:nvPr>
            <p:ph type="title"/>
          </p:nvPr>
        </p:nvSpPr>
        <p:spPr>
          <a:xfrm>
            <a:off x="798691" y="43000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HTTP response </a:t>
            </a:r>
            <a:r>
              <a:rPr lang="en-US"/>
              <a:t>s</a:t>
            </a:r>
            <a:r>
              <a:rPr lang="en-US" sz="4400"/>
              <a:t>tatus </a:t>
            </a:r>
            <a:r>
              <a:rPr lang="en-US"/>
              <a:t>c</a:t>
            </a:r>
            <a:r>
              <a:rPr lang="en-US" sz="4400"/>
              <a:t>odes</a:t>
            </a:r>
            <a:endParaRPr sz="4400"/>
          </a:p>
        </p:txBody>
      </p:sp>
      <p:sp>
        <p:nvSpPr>
          <p:cNvPr id="2214" name="Google Shape;2214;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2215" name="Google Shape;2215;p35"/>
          <p:cNvSpPr txBox="1"/>
          <p:nvPr/>
        </p:nvSpPr>
        <p:spPr>
          <a:xfrm>
            <a:off x="1179871" y="2274314"/>
            <a:ext cx="10678300" cy="4168775"/>
          </a:xfrm>
          <a:prstGeom prst="rect">
            <a:avLst/>
          </a:prstGeom>
          <a:noFill/>
          <a:ln>
            <a:noFill/>
          </a:ln>
        </p:spPr>
        <p:txBody>
          <a:bodyPr anchorCtr="0" anchor="t" bIns="45700" lIns="91425" spcFirstLastPara="1" rIns="91425" wrap="square" tIns="45700">
            <a:noAutofit/>
          </a:bodyPr>
          <a:lstStyle/>
          <a:p>
            <a:pPr indent="-222250" lvl="0" marL="352425" marR="0" rtl="0" algn="l">
              <a:lnSpc>
                <a:spcPct val="95000"/>
              </a:lnSpc>
              <a:spcBef>
                <a:spcPts val="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200 OK</a:t>
            </a:r>
            <a:endParaRPr/>
          </a:p>
          <a:p>
            <a:pPr indent="-231775" lvl="1" marL="695325" marR="0" rtl="0" algn="l">
              <a:lnSpc>
                <a:spcPct val="95000"/>
              </a:lnSpc>
              <a:spcBef>
                <a:spcPts val="4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request succeeded, requested object later in this message</a:t>
            </a:r>
            <a:endParaRPr/>
          </a:p>
          <a:p>
            <a:pPr indent="-222250" lvl="0" marL="352425" marR="0" rtl="0" algn="l">
              <a:lnSpc>
                <a:spcPct val="95000"/>
              </a:lnSpc>
              <a:spcBef>
                <a:spcPts val="40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301 Moved Permanently</a:t>
            </a:r>
            <a:endParaRPr/>
          </a:p>
          <a:p>
            <a:pPr indent="-231775" lvl="1" marL="695325" marR="0" rtl="0" algn="l">
              <a:lnSpc>
                <a:spcPct val="95000"/>
              </a:lnSpc>
              <a:spcBef>
                <a:spcPts val="4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requested object moved, new location specified later in this message (in Location: field)</a:t>
            </a:r>
            <a:endParaRPr/>
          </a:p>
          <a:p>
            <a:pPr indent="-222250" lvl="0" marL="352425" marR="0" rtl="0" algn="l">
              <a:lnSpc>
                <a:spcPct val="95000"/>
              </a:lnSpc>
              <a:spcBef>
                <a:spcPts val="40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400 Bad Request</a:t>
            </a:r>
            <a:endParaRPr/>
          </a:p>
          <a:p>
            <a:pPr indent="-231775" lvl="1" marL="695325" marR="0" rtl="0" algn="l">
              <a:lnSpc>
                <a:spcPct val="95000"/>
              </a:lnSpc>
              <a:spcBef>
                <a:spcPts val="4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request msg not understood by server</a:t>
            </a:r>
            <a:endParaRPr/>
          </a:p>
          <a:p>
            <a:pPr indent="-222250" lvl="0" marL="352425" marR="0" rtl="0" algn="l">
              <a:lnSpc>
                <a:spcPct val="95000"/>
              </a:lnSpc>
              <a:spcBef>
                <a:spcPts val="40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404 Not Found</a:t>
            </a:r>
            <a:endParaRPr/>
          </a:p>
          <a:p>
            <a:pPr indent="-231775" lvl="1" marL="695325" marR="0" rtl="0" algn="l">
              <a:lnSpc>
                <a:spcPct val="95000"/>
              </a:lnSpc>
              <a:spcBef>
                <a:spcPts val="4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requested document not found on this server</a:t>
            </a:r>
            <a:endParaRPr/>
          </a:p>
          <a:p>
            <a:pPr indent="-222250" lvl="0" marL="352425" marR="0" rtl="0" algn="l">
              <a:lnSpc>
                <a:spcPct val="95000"/>
              </a:lnSpc>
              <a:spcBef>
                <a:spcPts val="40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505 HTTP Version Not Supported</a:t>
            </a:r>
            <a:endParaRPr/>
          </a:p>
        </p:txBody>
      </p:sp>
      <p:sp>
        <p:nvSpPr>
          <p:cNvPr id="2216" name="Google Shape;2216;p35"/>
          <p:cNvSpPr/>
          <p:nvPr/>
        </p:nvSpPr>
        <p:spPr>
          <a:xfrm>
            <a:off x="798691" y="1325562"/>
            <a:ext cx="10856280" cy="514350"/>
          </a:xfrm>
          <a:prstGeom prst="rect">
            <a:avLst/>
          </a:prstGeom>
          <a:noFill/>
          <a:ln>
            <a:noFill/>
          </a:ln>
        </p:spPr>
        <p:txBody>
          <a:bodyPr anchorCtr="0" anchor="t" bIns="45700" lIns="91425" spcFirstLastPara="1" rIns="91425" wrap="square" tIns="45700">
            <a:noAutofit/>
          </a:bodyPr>
          <a:lstStyle/>
          <a:p>
            <a:pPr indent="-350838" lvl="0" marL="350838" marR="0" rtl="0" algn="l">
              <a:lnSpc>
                <a:spcPct val="90000"/>
              </a:lnSpc>
              <a:spcBef>
                <a:spcPts val="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status code appears in 1st line in server-to-client response message.</a:t>
            </a:r>
            <a:endParaRPr/>
          </a:p>
          <a:p>
            <a:pPr indent="-350838" lvl="0" marL="350838" marR="0" rtl="0" algn="l">
              <a:spcBef>
                <a:spcPts val="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some sample codes</a:t>
            </a:r>
            <a:r>
              <a:rPr lang="en-US" sz="2400">
                <a:solidFill>
                  <a:schemeClr val="dk1"/>
                </a:solidFill>
                <a:latin typeface="Calibri"/>
                <a:ea typeface="Calibri"/>
                <a:cs typeface="Calibri"/>
                <a:sym typeface="Calibri"/>
              </a:rPr>
              <a: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1" name="Shape 2221"/>
        <p:cNvGrpSpPr/>
        <p:nvPr/>
      </p:nvGrpSpPr>
      <p:grpSpPr>
        <a:xfrm>
          <a:off x="0" y="0"/>
          <a:ext cx="0" cy="0"/>
          <a:chOff x="0" y="0"/>
          <a:chExt cx="0" cy="0"/>
        </a:xfrm>
      </p:grpSpPr>
      <p:sp>
        <p:nvSpPr>
          <p:cNvPr id="2222" name="Google Shape;2222;p36"/>
          <p:cNvSpPr txBox="1"/>
          <p:nvPr>
            <p:ph type="title"/>
          </p:nvPr>
        </p:nvSpPr>
        <p:spPr>
          <a:xfrm>
            <a:off x="798691" y="37987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Trying out HTTP (client side) for yourself</a:t>
            </a:r>
            <a:endParaRPr sz="4400"/>
          </a:p>
        </p:txBody>
      </p:sp>
      <p:sp>
        <p:nvSpPr>
          <p:cNvPr id="2223" name="Google Shape;2223;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2224" name="Google Shape;2224;p36"/>
          <p:cNvSpPr txBox="1"/>
          <p:nvPr/>
        </p:nvSpPr>
        <p:spPr>
          <a:xfrm>
            <a:off x="579438" y="1474924"/>
            <a:ext cx="8096250" cy="466725"/>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1. Telnet to your favorite Web server:</a:t>
            </a:r>
            <a:endParaRPr/>
          </a:p>
          <a:p>
            <a:pPr indent="-228600" lvl="2" marL="1143000" marR="0" rtl="0" algn="l">
              <a:lnSpc>
                <a:spcPct val="90000"/>
              </a:lnSpc>
              <a:spcBef>
                <a:spcPts val="50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5" name="Google Shape;2225;p36"/>
          <p:cNvSpPr txBox="1"/>
          <p:nvPr/>
        </p:nvSpPr>
        <p:spPr>
          <a:xfrm>
            <a:off x="5718629" y="1884363"/>
            <a:ext cx="6244187" cy="140038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0000A3"/>
              </a:buClr>
              <a:buSzPts val="2000"/>
              <a:buFont typeface="Noto Sans Symbols"/>
              <a:buChar char="▪"/>
            </a:pPr>
            <a:r>
              <a:rPr lang="en-US" sz="2000">
                <a:solidFill>
                  <a:schemeClr val="dk1"/>
                </a:solidFill>
                <a:latin typeface="Calibri"/>
                <a:ea typeface="Calibri"/>
                <a:cs typeface="Calibri"/>
                <a:sym typeface="Calibri"/>
              </a:rPr>
              <a:t>opens TCP connection to port 80 (default HTTP server port)  at gaia.cs.umass. edu.</a:t>
            </a:r>
            <a:endParaRPr/>
          </a:p>
          <a:p>
            <a:pPr indent="-285750" lvl="0" marL="285750" marR="0" rtl="0" algn="l">
              <a:spcBef>
                <a:spcPts val="600"/>
              </a:spcBef>
              <a:spcAft>
                <a:spcPts val="0"/>
              </a:spcAft>
              <a:buClr>
                <a:srgbClr val="0000A3"/>
              </a:buClr>
              <a:buSzPts val="2000"/>
              <a:buFont typeface="Noto Sans Symbols"/>
              <a:buChar char="▪"/>
            </a:pPr>
            <a:r>
              <a:rPr lang="en-US" sz="2000">
                <a:solidFill>
                  <a:schemeClr val="dk1"/>
                </a:solidFill>
                <a:latin typeface="Calibri"/>
                <a:ea typeface="Calibri"/>
                <a:cs typeface="Calibri"/>
                <a:sym typeface="Calibri"/>
              </a:rPr>
              <a:t>anything typed in will be sent  to port 80 at gaia.cs.umass.edu</a:t>
            </a:r>
            <a:endParaRPr sz="2800">
              <a:solidFill>
                <a:schemeClr val="dk1"/>
              </a:solidFill>
              <a:latin typeface="Calibri"/>
              <a:ea typeface="Calibri"/>
              <a:cs typeface="Calibri"/>
              <a:sym typeface="Calibri"/>
            </a:endParaRPr>
          </a:p>
        </p:txBody>
      </p:sp>
      <p:sp>
        <p:nvSpPr>
          <p:cNvPr id="2226" name="Google Shape;2226;p36"/>
          <p:cNvSpPr txBox="1"/>
          <p:nvPr/>
        </p:nvSpPr>
        <p:spPr>
          <a:xfrm>
            <a:off x="1124351" y="1998799"/>
            <a:ext cx="43396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CC0000"/>
              </a:buClr>
              <a:buSzPts val="2000"/>
              <a:buFont typeface="Courier New"/>
              <a:buNone/>
            </a:pPr>
            <a:r>
              <a:rPr b="1" lang="en-US" sz="2000">
                <a:solidFill>
                  <a:srgbClr val="CC0000"/>
                </a:solidFill>
                <a:latin typeface="Courier New"/>
                <a:ea typeface="Courier New"/>
                <a:cs typeface="Courier New"/>
                <a:sym typeface="Courier New"/>
              </a:rPr>
              <a:t>telnet gaia.cs.umass.edu 80</a:t>
            </a:r>
            <a:endParaRPr sz="3200">
              <a:solidFill>
                <a:srgbClr val="CC0000"/>
              </a:solidFill>
              <a:latin typeface="Arial"/>
              <a:ea typeface="Arial"/>
              <a:cs typeface="Arial"/>
              <a:sym typeface="Arial"/>
            </a:endParaRPr>
          </a:p>
        </p:txBody>
      </p:sp>
      <p:grpSp>
        <p:nvGrpSpPr>
          <p:cNvPr id="2227" name="Google Shape;2227;p36"/>
          <p:cNvGrpSpPr/>
          <p:nvPr/>
        </p:nvGrpSpPr>
        <p:grpSpPr>
          <a:xfrm>
            <a:off x="711200" y="5286696"/>
            <a:ext cx="8289126" cy="996484"/>
            <a:chOff x="711200" y="5286696"/>
            <a:chExt cx="8289126" cy="996484"/>
          </a:xfrm>
        </p:grpSpPr>
        <p:sp>
          <p:nvSpPr>
            <p:cNvPr id="2228" name="Google Shape;2228;p36"/>
            <p:cNvSpPr/>
            <p:nvPr/>
          </p:nvSpPr>
          <p:spPr>
            <a:xfrm>
              <a:off x="711200" y="5286696"/>
              <a:ext cx="8096250" cy="466725"/>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2800">
                  <a:solidFill>
                    <a:schemeClr val="dk1"/>
                  </a:solidFill>
                  <a:latin typeface="Calibri"/>
                  <a:ea typeface="Calibri"/>
                  <a:cs typeface="Calibri"/>
                  <a:sym typeface="Calibri"/>
                </a:rPr>
                <a:t>3. look at response message sent by HTTP server!</a:t>
              </a:r>
              <a:endParaRPr/>
            </a:p>
          </p:txBody>
        </p:sp>
        <p:sp>
          <p:nvSpPr>
            <p:cNvPr id="2229" name="Google Shape;2229;p36"/>
            <p:cNvSpPr txBox="1"/>
            <p:nvPr/>
          </p:nvSpPr>
          <p:spPr>
            <a:xfrm>
              <a:off x="1066295" y="5821515"/>
              <a:ext cx="7934031"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400">
                  <a:solidFill>
                    <a:schemeClr val="dk1"/>
                  </a:solidFill>
                  <a:latin typeface="Calibri"/>
                  <a:ea typeface="Calibri"/>
                  <a:cs typeface="Calibri"/>
                  <a:sym typeface="Calibri"/>
                </a:rPr>
                <a:t>(or use Wireshark to look at captured HTTP request/response)</a:t>
              </a:r>
              <a:endParaRPr/>
            </a:p>
          </p:txBody>
        </p:sp>
      </p:grpSp>
      <p:grpSp>
        <p:nvGrpSpPr>
          <p:cNvPr id="2230" name="Google Shape;2230;p36"/>
          <p:cNvGrpSpPr/>
          <p:nvPr/>
        </p:nvGrpSpPr>
        <p:grpSpPr>
          <a:xfrm>
            <a:off x="727530" y="3145663"/>
            <a:ext cx="11243449" cy="2045073"/>
            <a:chOff x="727530" y="3145663"/>
            <a:chExt cx="11243449" cy="2045073"/>
          </a:xfrm>
        </p:grpSpPr>
        <p:sp>
          <p:nvSpPr>
            <p:cNvPr id="2231" name="Google Shape;2231;p36"/>
            <p:cNvSpPr/>
            <p:nvPr/>
          </p:nvSpPr>
          <p:spPr>
            <a:xfrm>
              <a:off x="727530" y="3145663"/>
              <a:ext cx="8096250" cy="466725"/>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2800">
                  <a:solidFill>
                    <a:schemeClr val="dk1"/>
                  </a:solidFill>
                  <a:latin typeface="Calibri"/>
                  <a:ea typeface="Calibri"/>
                  <a:cs typeface="Calibri"/>
                  <a:sym typeface="Calibri"/>
                </a:rPr>
                <a:t>2. type in a GET HTTP request:</a:t>
              </a:r>
              <a:endParaRPr/>
            </a:p>
            <a:p>
              <a:pPr indent="-228600" lvl="2" marL="1143000" marR="0" rtl="0" algn="l">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2232" name="Google Shape;2232;p36"/>
            <p:cNvSpPr txBox="1"/>
            <p:nvPr/>
          </p:nvSpPr>
          <p:spPr>
            <a:xfrm>
              <a:off x="1258273" y="3748006"/>
              <a:ext cx="7417415"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C0000"/>
                </a:buClr>
                <a:buSzPts val="2000"/>
                <a:buFont typeface="Courier New"/>
                <a:buNone/>
              </a:pPr>
              <a:r>
                <a:rPr b="1" lang="en-US" sz="2000">
                  <a:solidFill>
                    <a:srgbClr val="CC0000"/>
                  </a:solidFill>
                  <a:latin typeface="Courier New"/>
                  <a:ea typeface="Courier New"/>
                  <a:cs typeface="Courier New"/>
                  <a:sym typeface="Courier New"/>
                </a:rPr>
                <a:t>GET /kurose_ross/interactive/index.php HTTP/1.1</a:t>
              </a:r>
              <a:endParaRPr/>
            </a:p>
            <a:p>
              <a:pPr indent="0" lvl="0" marL="0" marR="0" rtl="0" algn="l">
                <a:spcBef>
                  <a:spcPts val="0"/>
                </a:spcBef>
                <a:spcAft>
                  <a:spcPts val="0"/>
                </a:spcAft>
                <a:buClr>
                  <a:srgbClr val="CC0000"/>
                </a:buClr>
                <a:buSzPts val="2000"/>
                <a:buFont typeface="Courier New"/>
                <a:buNone/>
              </a:pPr>
              <a:r>
                <a:rPr b="1" lang="en-US" sz="2000">
                  <a:solidFill>
                    <a:srgbClr val="CC0000"/>
                  </a:solidFill>
                  <a:latin typeface="Courier New"/>
                  <a:ea typeface="Courier New"/>
                  <a:cs typeface="Courier New"/>
                  <a:sym typeface="Courier New"/>
                </a:rPr>
                <a:t>Host: gaia.cs.umass.edu</a:t>
              </a:r>
              <a:endParaRPr b="1" sz="2000">
                <a:solidFill>
                  <a:srgbClr val="CC0000"/>
                </a:solidFill>
                <a:latin typeface="Courier New"/>
                <a:ea typeface="Courier New"/>
                <a:cs typeface="Courier New"/>
                <a:sym typeface="Courier New"/>
              </a:endParaRPr>
            </a:p>
          </p:txBody>
        </p:sp>
        <p:sp>
          <p:nvSpPr>
            <p:cNvPr id="2233" name="Google Shape;2233;p36"/>
            <p:cNvSpPr txBox="1"/>
            <p:nvPr/>
          </p:nvSpPr>
          <p:spPr>
            <a:xfrm>
              <a:off x="5726792" y="4175073"/>
              <a:ext cx="6244187" cy="101566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0000A3"/>
                </a:buClr>
                <a:buSzPts val="2000"/>
                <a:buFont typeface="Noto Sans Symbols"/>
                <a:buChar char="▪"/>
              </a:pPr>
              <a:r>
                <a:rPr lang="en-US" sz="2000">
                  <a:solidFill>
                    <a:schemeClr val="dk1"/>
                  </a:solidFill>
                  <a:latin typeface="Calibri"/>
                  <a:ea typeface="Calibri"/>
                  <a:cs typeface="Calibri"/>
                  <a:sym typeface="Calibri"/>
                </a:rPr>
                <a:t>by typing this in (hit carriage return twice), you send this minimal (but complete)  GET request to HTTP server</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0"/>
                                        </p:tgtEl>
                                        <p:attrNameLst>
                                          <p:attrName>style.visibility</p:attrName>
                                        </p:attrNameLst>
                                      </p:cBhvr>
                                      <p:to>
                                        <p:strVal val="visible"/>
                                      </p:to>
                                    </p:set>
                                    <p:animEffect filter="fade" transition="in">
                                      <p:cBhvr>
                                        <p:cTn dur="500"/>
                                        <p:tgtEl>
                                          <p:spTgt spid="2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7"/>
                                        </p:tgtEl>
                                        <p:attrNameLst>
                                          <p:attrName>style.visibility</p:attrName>
                                        </p:attrNameLst>
                                      </p:cBhvr>
                                      <p:to>
                                        <p:strVal val="visible"/>
                                      </p:to>
                                    </p:set>
                                    <p:animEffect filter="fade" transition="in">
                                      <p:cBhvr>
                                        <p:cTn dur="500"/>
                                        <p:tgtEl>
                                          <p:spTgt spid="2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8" name="Shape 2238"/>
        <p:cNvGrpSpPr/>
        <p:nvPr/>
      </p:nvGrpSpPr>
      <p:grpSpPr>
        <a:xfrm>
          <a:off x="0" y="0"/>
          <a:ext cx="0" cy="0"/>
          <a:chOff x="0" y="0"/>
          <a:chExt cx="0" cy="0"/>
        </a:xfrm>
      </p:grpSpPr>
      <p:sp>
        <p:nvSpPr>
          <p:cNvPr id="2239" name="Google Shape;2239;p37"/>
          <p:cNvSpPr txBox="1"/>
          <p:nvPr>
            <p:ph type="title"/>
          </p:nvPr>
        </p:nvSpPr>
        <p:spPr>
          <a:xfrm>
            <a:off x="798691" y="37987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Maintaining user/server state: cookies</a:t>
            </a:r>
            <a:endParaRPr sz="4400"/>
          </a:p>
        </p:txBody>
      </p:sp>
      <p:sp>
        <p:nvSpPr>
          <p:cNvPr id="2240" name="Google Shape;2240;p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2241" name="Google Shape;2241;p37"/>
          <p:cNvSpPr txBox="1"/>
          <p:nvPr/>
        </p:nvSpPr>
        <p:spPr>
          <a:xfrm>
            <a:off x="751523" y="1368109"/>
            <a:ext cx="5877880" cy="2734129"/>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lang="en-US" sz="3200">
                <a:solidFill>
                  <a:schemeClr val="dk1"/>
                </a:solidFill>
                <a:latin typeface="Calibri"/>
                <a:ea typeface="Calibri"/>
                <a:cs typeface="Calibri"/>
                <a:sym typeface="Calibri"/>
              </a:rPr>
              <a:t>Recall:  HTTP GET/response interaction is </a:t>
            </a:r>
            <a:r>
              <a:rPr i="1" lang="en-US" sz="3200">
                <a:solidFill>
                  <a:srgbClr val="C00000"/>
                </a:solidFill>
                <a:latin typeface="Calibri"/>
                <a:ea typeface="Calibri"/>
                <a:cs typeface="Calibri"/>
                <a:sym typeface="Calibri"/>
              </a:rPr>
              <a:t>stateless</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no notion of multi-step exchanges of HTTP messages to complete a Web “transaction”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no need for client/server to track “state” of multi-step exchange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all HTTP requests are independent of each other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no need for client/server to “recover” from a partially-completed-but-never-completely-completed transaction</a:t>
            </a:r>
            <a:endParaRPr/>
          </a:p>
        </p:txBody>
      </p:sp>
      <p:sp>
        <p:nvSpPr>
          <p:cNvPr id="2242" name="Google Shape;2242;p37"/>
          <p:cNvSpPr txBox="1"/>
          <p:nvPr/>
        </p:nvSpPr>
        <p:spPr>
          <a:xfrm>
            <a:off x="7777183" y="1266045"/>
            <a:ext cx="334734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A3"/>
                </a:solidFill>
                <a:latin typeface="Calibri"/>
                <a:ea typeface="Calibri"/>
                <a:cs typeface="Calibri"/>
                <a:sym typeface="Calibri"/>
              </a:rPr>
              <a:t>a stateful protocol: </a:t>
            </a:r>
            <a:r>
              <a:rPr lang="en-US" sz="1800">
                <a:solidFill>
                  <a:schemeClr val="dk1"/>
                </a:solidFill>
                <a:latin typeface="Calibri"/>
                <a:ea typeface="Calibri"/>
                <a:cs typeface="Calibri"/>
                <a:sym typeface="Calibri"/>
              </a:rPr>
              <a:t>client makes two changes to X, or none at all</a:t>
            </a:r>
            <a:endParaRPr/>
          </a:p>
        </p:txBody>
      </p:sp>
      <p:cxnSp>
        <p:nvCxnSpPr>
          <p:cNvPr id="2243" name="Google Shape;2243;p37"/>
          <p:cNvCxnSpPr/>
          <p:nvPr/>
        </p:nvCxnSpPr>
        <p:spPr>
          <a:xfrm>
            <a:off x="8211743" y="2818375"/>
            <a:ext cx="0" cy="2832100"/>
          </a:xfrm>
          <a:prstGeom prst="straightConnector1">
            <a:avLst/>
          </a:prstGeom>
          <a:noFill/>
          <a:ln cap="flat" cmpd="sng" w="9525">
            <a:solidFill>
              <a:srgbClr val="FF0000"/>
            </a:solidFill>
            <a:prstDash val="dot"/>
            <a:round/>
            <a:headEnd len="med" w="med" type="none"/>
            <a:tailEnd len="med" w="med" type="triangle"/>
          </a:ln>
        </p:spPr>
      </p:cxnSp>
      <p:cxnSp>
        <p:nvCxnSpPr>
          <p:cNvPr id="2244" name="Google Shape;2244;p37"/>
          <p:cNvCxnSpPr/>
          <p:nvPr/>
        </p:nvCxnSpPr>
        <p:spPr>
          <a:xfrm>
            <a:off x="9902430" y="2812025"/>
            <a:ext cx="0" cy="2881312"/>
          </a:xfrm>
          <a:prstGeom prst="straightConnector1">
            <a:avLst/>
          </a:prstGeom>
          <a:noFill/>
          <a:ln cap="flat" cmpd="sng" w="9525">
            <a:solidFill>
              <a:srgbClr val="FF0000"/>
            </a:solidFill>
            <a:prstDash val="dot"/>
            <a:round/>
            <a:headEnd len="med" w="med" type="none"/>
            <a:tailEnd len="med" w="med" type="triangle"/>
          </a:ln>
        </p:spPr>
      </p:cxnSp>
      <p:sp>
        <p:nvSpPr>
          <p:cNvPr id="2245" name="Google Shape;2245;p37"/>
          <p:cNvSpPr txBox="1"/>
          <p:nvPr/>
        </p:nvSpPr>
        <p:spPr>
          <a:xfrm>
            <a:off x="7986318" y="5664762"/>
            <a:ext cx="519694" cy="276999"/>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A5A5A5"/>
              </a:buClr>
              <a:buSzPts val="1400"/>
              <a:buFont typeface="Calibri"/>
              <a:buNone/>
            </a:pPr>
            <a:r>
              <a:rPr lang="en-US" sz="1400">
                <a:solidFill>
                  <a:srgbClr val="A5A5A5"/>
                </a:solidFill>
                <a:latin typeface="Calibri"/>
                <a:ea typeface="Calibri"/>
                <a:cs typeface="Calibri"/>
                <a:sym typeface="Calibri"/>
              </a:rPr>
              <a:t>time</a:t>
            </a:r>
            <a:endParaRPr/>
          </a:p>
        </p:txBody>
      </p:sp>
      <p:sp>
        <p:nvSpPr>
          <p:cNvPr id="2246" name="Google Shape;2246;p37"/>
          <p:cNvSpPr txBox="1"/>
          <p:nvPr/>
        </p:nvSpPr>
        <p:spPr>
          <a:xfrm>
            <a:off x="9664305" y="5647300"/>
            <a:ext cx="51969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A5A5A5"/>
              </a:buClr>
              <a:buSzPts val="1400"/>
              <a:buFont typeface="Calibri"/>
              <a:buNone/>
            </a:pPr>
            <a:r>
              <a:rPr lang="en-US" sz="1400">
                <a:solidFill>
                  <a:srgbClr val="A5A5A5"/>
                </a:solidFill>
                <a:latin typeface="Calibri"/>
                <a:ea typeface="Calibri"/>
                <a:cs typeface="Calibri"/>
                <a:sym typeface="Calibri"/>
              </a:rPr>
              <a:t>time</a:t>
            </a:r>
            <a:endParaRPr/>
          </a:p>
        </p:txBody>
      </p:sp>
      <p:grpSp>
        <p:nvGrpSpPr>
          <p:cNvPr id="2247" name="Google Shape;2247;p37"/>
          <p:cNvGrpSpPr/>
          <p:nvPr/>
        </p:nvGrpSpPr>
        <p:grpSpPr>
          <a:xfrm>
            <a:off x="9702405" y="2045262"/>
            <a:ext cx="423863" cy="684213"/>
            <a:chOff x="4140" y="429"/>
            <a:chExt cx="1425" cy="2396"/>
          </a:xfrm>
        </p:grpSpPr>
        <p:sp>
          <p:nvSpPr>
            <p:cNvPr id="2248" name="Google Shape;2248;p3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49" name="Google Shape;2249;p37"/>
            <p:cNvSpPr/>
            <p:nvPr/>
          </p:nvSpPr>
          <p:spPr>
            <a:xfrm>
              <a:off x="4204" y="429"/>
              <a:ext cx="1051"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50" name="Google Shape;2250;p3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51" name="Google Shape;2251;p3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52" name="Google Shape;2252;p37"/>
            <p:cNvSpPr/>
            <p:nvPr/>
          </p:nvSpPr>
          <p:spPr>
            <a:xfrm>
              <a:off x="4209" y="690"/>
              <a:ext cx="598"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nvGrpSpPr>
            <p:cNvPr id="2253" name="Google Shape;2253;p37"/>
            <p:cNvGrpSpPr/>
            <p:nvPr/>
          </p:nvGrpSpPr>
          <p:grpSpPr>
            <a:xfrm>
              <a:off x="4748" y="668"/>
              <a:ext cx="582" cy="145"/>
              <a:chOff x="613" y="2568"/>
              <a:chExt cx="726" cy="139"/>
            </a:xfrm>
          </p:grpSpPr>
          <p:sp>
            <p:nvSpPr>
              <p:cNvPr id="2254" name="Google Shape;2254;p37"/>
              <p:cNvSpPr/>
              <p:nvPr/>
            </p:nvSpPr>
            <p:spPr>
              <a:xfrm>
                <a:off x="613" y="2568"/>
                <a:ext cx="726"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55" name="Google Shape;2255;p37"/>
              <p:cNvSpPr/>
              <p:nvPr/>
            </p:nvSpPr>
            <p:spPr>
              <a:xfrm>
                <a:off x="627" y="2584"/>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2256" name="Google Shape;2256;p37"/>
            <p:cNvSpPr/>
            <p:nvPr/>
          </p:nvSpPr>
          <p:spPr>
            <a:xfrm>
              <a:off x="4225" y="1018"/>
              <a:ext cx="592"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nvGrpSpPr>
            <p:cNvPr id="2257" name="Google Shape;2257;p37"/>
            <p:cNvGrpSpPr/>
            <p:nvPr/>
          </p:nvGrpSpPr>
          <p:grpSpPr>
            <a:xfrm>
              <a:off x="4749" y="996"/>
              <a:ext cx="582" cy="133"/>
              <a:chOff x="616" y="2570"/>
              <a:chExt cx="726" cy="138"/>
            </a:xfrm>
          </p:grpSpPr>
          <p:sp>
            <p:nvSpPr>
              <p:cNvPr id="2258" name="Google Shape;2258;p37"/>
              <p:cNvSpPr/>
              <p:nvPr/>
            </p:nvSpPr>
            <p:spPr>
              <a:xfrm>
                <a:off x="616" y="2570"/>
                <a:ext cx="726"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59" name="Google Shape;2259;p37"/>
              <p:cNvSpPr/>
              <p:nvPr/>
            </p:nvSpPr>
            <p:spPr>
              <a:xfrm>
                <a:off x="629" y="2587"/>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2260" name="Google Shape;2260;p37"/>
            <p:cNvSpPr/>
            <p:nvPr/>
          </p:nvSpPr>
          <p:spPr>
            <a:xfrm>
              <a:off x="4215" y="1357"/>
              <a:ext cx="598"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61" name="Google Shape;2261;p37"/>
            <p:cNvSpPr/>
            <p:nvPr/>
          </p:nvSpPr>
          <p:spPr>
            <a:xfrm>
              <a:off x="4225" y="1658"/>
              <a:ext cx="598"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nvGrpSpPr>
            <p:cNvPr id="2262" name="Google Shape;2262;p37"/>
            <p:cNvGrpSpPr/>
            <p:nvPr/>
          </p:nvGrpSpPr>
          <p:grpSpPr>
            <a:xfrm>
              <a:off x="4733" y="1641"/>
              <a:ext cx="587" cy="139"/>
              <a:chOff x="611" y="2581"/>
              <a:chExt cx="731" cy="128"/>
            </a:xfrm>
          </p:grpSpPr>
          <p:sp>
            <p:nvSpPr>
              <p:cNvPr id="2263" name="Google Shape;2263;p37"/>
              <p:cNvSpPr/>
              <p:nvPr/>
            </p:nvSpPr>
            <p:spPr>
              <a:xfrm>
                <a:off x="611" y="2581"/>
                <a:ext cx="731" cy="12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64" name="Google Shape;2264;p37"/>
              <p:cNvSpPr/>
              <p:nvPr/>
            </p:nvSpPr>
            <p:spPr>
              <a:xfrm>
                <a:off x="624" y="2586"/>
                <a:ext cx="698"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2265" name="Google Shape;2265;p3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2266" name="Google Shape;2266;p37"/>
            <p:cNvGrpSpPr/>
            <p:nvPr/>
          </p:nvGrpSpPr>
          <p:grpSpPr>
            <a:xfrm>
              <a:off x="4737" y="1335"/>
              <a:ext cx="582" cy="139"/>
              <a:chOff x="612" y="2576"/>
              <a:chExt cx="725" cy="139"/>
            </a:xfrm>
          </p:grpSpPr>
          <p:sp>
            <p:nvSpPr>
              <p:cNvPr id="2267" name="Google Shape;2267;p37"/>
              <p:cNvSpPr/>
              <p:nvPr/>
            </p:nvSpPr>
            <p:spPr>
              <a:xfrm>
                <a:off x="612" y="2576"/>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68" name="Google Shape;2268;p37"/>
              <p:cNvSpPr/>
              <p:nvPr/>
            </p:nvSpPr>
            <p:spPr>
              <a:xfrm>
                <a:off x="626" y="2587"/>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2269" name="Google Shape;2269;p37"/>
            <p:cNvSpPr/>
            <p:nvPr/>
          </p:nvSpPr>
          <p:spPr>
            <a:xfrm>
              <a:off x="5250" y="429"/>
              <a:ext cx="69"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70" name="Google Shape;2270;p3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71" name="Google Shape;2271;p3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72" name="Google Shape;2272;p37"/>
            <p:cNvSpPr/>
            <p:nvPr/>
          </p:nvSpPr>
          <p:spPr>
            <a:xfrm>
              <a:off x="5517" y="2614"/>
              <a:ext cx="48"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73" name="Google Shape;2273;p3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74" name="Google Shape;2274;p37"/>
            <p:cNvSpPr/>
            <p:nvPr/>
          </p:nvSpPr>
          <p:spPr>
            <a:xfrm>
              <a:off x="4140" y="2680"/>
              <a:ext cx="1201"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75" name="Google Shape;2275;p37"/>
            <p:cNvSpPr/>
            <p:nvPr/>
          </p:nvSpPr>
          <p:spPr>
            <a:xfrm>
              <a:off x="4204" y="2708"/>
              <a:ext cx="1073"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76" name="Google Shape;2276;p37"/>
            <p:cNvSpPr/>
            <p:nvPr/>
          </p:nvSpPr>
          <p:spPr>
            <a:xfrm>
              <a:off x="4305" y="2380"/>
              <a:ext cx="160"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77" name="Google Shape;2277;p37"/>
            <p:cNvSpPr/>
            <p:nvPr/>
          </p:nvSpPr>
          <p:spPr>
            <a:xfrm>
              <a:off x="4487" y="2386"/>
              <a:ext cx="160" cy="13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FF0000"/>
                </a:solidFill>
                <a:latin typeface="Calibri"/>
                <a:ea typeface="Calibri"/>
                <a:cs typeface="Calibri"/>
                <a:sym typeface="Calibri"/>
              </a:endParaRPr>
            </a:p>
          </p:txBody>
        </p:sp>
        <p:sp>
          <p:nvSpPr>
            <p:cNvPr id="2278" name="Google Shape;2278;p37"/>
            <p:cNvSpPr/>
            <p:nvPr/>
          </p:nvSpPr>
          <p:spPr>
            <a:xfrm>
              <a:off x="4663" y="2380"/>
              <a:ext cx="155"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79" name="Google Shape;2279;p37"/>
            <p:cNvSpPr/>
            <p:nvPr/>
          </p:nvSpPr>
          <p:spPr>
            <a:xfrm>
              <a:off x="5063" y="1835"/>
              <a:ext cx="85"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grpSp>
        <p:nvGrpSpPr>
          <p:cNvPr id="2280" name="Google Shape;2280;p37"/>
          <p:cNvGrpSpPr/>
          <p:nvPr/>
        </p:nvGrpSpPr>
        <p:grpSpPr>
          <a:xfrm>
            <a:off x="7700568" y="2067487"/>
            <a:ext cx="698500" cy="709613"/>
            <a:chOff x="-44" y="1473"/>
            <a:chExt cx="981" cy="1105"/>
          </a:xfrm>
        </p:grpSpPr>
        <p:pic>
          <p:nvPicPr>
            <p:cNvPr descr="desktop_computer_stylized_medium" id="2281" name="Google Shape;2281;p3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282" name="Google Shape;2282;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2283" name="Google Shape;2283;p37"/>
          <p:cNvGrpSpPr/>
          <p:nvPr/>
        </p:nvGrpSpPr>
        <p:grpSpPr>
          <a:xfrm>
            <a:off x="8211743" y="3940852"/>
            <a:ext cx="1673225" cy="370769"/>
            <a:chOff x="8211743" y="3940852"/>
            <a:chExt cx="1673225" cy="370769"/>
          </a:xfrm>
        </p:grpSpPr>
        <p:cxnSp>
          <p:nvCxnSpPr>
            <p:cNvPr id="2284" name="Google Shape;2284;p37"/>
            <p:cNvCxnSpPr/>
            <p:nvPr/>
          </p:nvCxnSpPr>
          <p:spPr>
            <a:xfrm flipH="1">
              <a:off x="8211743" y="3942941"/>
              <a:ext cx="1673225" cy="242211"/>
            </a:xfrm>
            <a:prstGeom prst="straightConnector1">
              <a:avLst/>
            </a:prstGeom>
            <a:noFill/>
            <a:ln cap="flat" cmpd="sng" w="9525">
              <a:solidFill>
                <a:schemeClr val="dk1"/>
              </a:solidFill>
              <a:prstDash val="solid"/>
              <a:round/>
              <a:headEnd len="med" w="med" type="none"/>
              <a:tailEnd len="med" w="med" type="triangle"/>
            </a:ln>
          </p:spPr>
        </p:cxnSp>
        <p:sp>
          <p:nvSpPr>
            <p:cNvPr id="2285" name="Google Shape;2285;p37"/>
            <p:cNvSpPr txBox="1"/>
            <p:nvPr/>
          </p:nvSpPr>
          <p:spPr>
            <a:xfrm rot="-493963">
              <a:off x="9382305" y="3972348"/>
              <a:ext cx="46205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OK</a:t>
              </a:r>
              <a:endParaRPr i="1" sz="1400">
                <a:solidFill>
                  <a:schemeClr val="dk1"/>
                </a:solidFill>
                <a:latin typeface="Calibri"/>
                <a:ea typeface="Calibri"/>
                <a:cs typeface="Calibri"/>
                <a:sym typeface="Calibri"/>
              </a:endParaRPr>
            </a:p>
          </p:txBody>
        </p:sp>
      </p:grpSp>
      <p:grpSp>
        <p:nvGrpSpPr>
          <p:cNvPr id="2286" name="Google Shape;2286;p37"/>
          <p:cNvGrpSpPr/>
          <p:nvPr/>
        </p:nvGrpSpPr>
        <p:grpSpPr>
          <a:xfrm>
            <a:off x="8220565" y="4622751"/>
            <a:ext cx="1673225" cy="370769"/>
            <a:chOff x="8220565" y="4622751"/>
            <a:chExt cx="1673225" cy="370769"/>
          </a:xfrm>
        </p:grpSpPr>
        <p:cxnSp>
          <p:nvCxnSpPr>
            <p:cNvPr id="2287" name="Google Shape;2287;p37"/>
            <p:cNvCxnSpPr/>
            <p:nvPr/>
          </p:nvCxnSpPr>
          <p:spPr>
            <a:xfrm flipH="1">
              <a:off x="8220565" y="4655320"/>
              <a:ext cx="1673225" cy="242211"/>
            </a:xfrm>
            <a:prstGeom prst="straightConnector1">
              <a:avLst/>
            </a:prstGeom>
            <a:noFill/>
            <a:ln cap="flat" cmpd="sng" w="9525">
              <a:solidFill>
                <a:schemeClr val="dk1"/>
              </a:solidFill>
              <a:prstDash val="solid"/>
              <a:round/>
              <a:headEnd len="med" w="med" type="none"/>
              <a:tailEnd len="med" w="med" type="triangle"/>
            </a:ln>
          </p:spPr>
        </p:cxnSp>
        <p:sp>
          <p:nvSpPr>
            <p:cNvPr id="2288" name="Google Shape;2288;p37"/>
            <p:cNvSpPr txBox="1"/>
            <p:nvPr/>
          </p:nvSpPr>
          <p:spPr>
            <a:xfrm rot="-493963">
              <a:off x="9360647" y="4654247"/>
              <a:ext cx="46205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OK</a:t>
              </a:r>
              <a:endParaRPr i="1" sz="1400">
                <a:solidFill>
                  <a:schemeClr val="dk1"/>
                </a:solidFill>
                <a:latin typeface="Calibri"/>
                <a:ea typeface="Calibri"/>
                <a:cs typeface="Calibri"/>
                <a:sym typeface="Calibri"/>
              </a:endParaRPr>
            </a:p>
          </p:txBody>
        </p:sp>
      </p:grpSp>
      <p:grpSp>
        <p:nvGrpSpPr>
          <p:cNvPr id="2289" name="Google Shape;2289;p37"/>
          <p:cNvGrpSpPr/>
          <p:nvPr/>
        </p:nvGrpSpPr>
        <p:grpSpPr>
          <a:xfrm>
            <a:off x="8226030" y="4807288"/>
            <a:ext cx="1684338" cy="455443"/>
            <a:chOff x="8226030" y="4807288"/>
            <a:chExt cx="1684338" cy="455443"/>
          </a:xfrm>
        </p:grpSpPr>
        <p:cxnSp>
          <p:nvCxnSpPr>
            <p:cNvPr id="2290" name="Google Shape;2290;p37"/>
            <p:cNvCxnSpPr/>
            <p:nvPr/>
          </p:nvCxnSpPr>
          <p:spPr>
            <a:xfrm>
              <a:off x="8226030" y="4990711"/>
              <a:ext cx="1684338" cy="234582"/>
            </a:xfrm>
            <a:prstGeom prst="straightConnector1">
              <a:avLst/>
            </a:prstGeom>
            <a:noFill/>
            <a:ln cap="flat" cmpd="sng" w="9525">
              <a:solidFill>
                <a:schemeClr val="dk1"/>
              </a:solidFill>
              <a:prstDash val="solid"/>
              <a:round/>
              <a:headEnd len="med" w="med" type="none"/>
              <a:tailEnd len="med" w="med" type="triangle"/>
            </a:ln>
          </p:spPr>
        </p:cxnSp>
        <p:sp>
          <p:nvSpPr>
            <p:cNvPr id="2291" name="Google Shape;2291;p37"/>
            <p:cNvSpPr txBox="1"/>
            <p:nvPr/>
          </p:nvSpPr>
          <p:spPr>
            <a:xfrm rot="460210">
              <a:off x="8601378" y="4881121"/>
              <a:ext cx="112698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unlock </a:t>
              </a:r>
              <a:r>
                <a:rPr i="1" lang="en-US" sz="1400">
                  <a:solidFill>
                    <a:schemeClr val="dk1"/>
                  </a:solidFill>
                  <a:latin typeface="Calibri"/>
                  <a:ea typeface="Calibri"/>
                  <a:cs typeface="Calibri"/>
                  <a:sym typeface="Calibri"/>
                </a:rPr>
                <a:t>X</a:t>
              </a:r>
              <a:endParaRPr/>
            </a:p>
          </p:txBody>
        </p:sp>
      </p:grpSp>
      <p:grpSp>
        <p:nvGrpSpPr>
          <p:cNvPr id="2292" name="Google Shape;2292;p37"/>
          <p:cNvGrpSpPr/>
          <p:nvPr/>
        </p:nvGrpSpPr>
        <p:grpSpPr>
          <a:xfrm>
            <a:off x="8211743" y="5251311"/>
            <a:ext cx="1673225" cy="370769"/>
            <a:chOff x="8211743" y="5251311"/>
            <a:chExt cx="1673225" cy="370769"/>
          </a:xfrm>
        </p:grpSpPr>
        <p:cxnSp>
          <p:nvCxnSpPr>
            <p:cNvPr id="2293" name="Google Shape;2293;p37"/>
            <p:cNvCxnSpPr/>
            <p:nvPr/>
          </p:nvCxnSpPr>
          <p:spPr>
            <a:xfrm flipH="1">
              <a:off x="8211743" y="5253900"/>
              <a:ext cx="1673225" cy="242211"/>
            </a:xfrm>
            <a:prstGeom prst="straightConnector1">
              <a:avLst/>
            </a:prstGeom>
            <a:noFill/>
            <a:ln cap="flat" cmpd="sng" w="9525">
              <a:solidFill>
                <a:schemeClr val="dk1"/>
              </a:solidFill>
              <a:prstDash val="solid"/>
              <a:round/>
              <a:headEnd len="med" w="med" type="none"/>
              <a:tailEnd len="med" w="med" type="triangle"/>
            </a:ln>
          </p:spPr>
        </p:cxnSp>
        <p:sp>
          <p:nvSpPr>
            <p:cNvPr id="2294" name="Google Shape;2294;p37"/>
            <p:cNvSpPr txBox="1"/>
            <p:nvPr/>
          </p:nvSpPr>
          <p:spPr>
            <a:xfrm rot="-493963">
              <a:off x="9373746" y="5282807"/>
              <a:ext cx="46205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OK</a:t>
              </a:r>
              <a:endParaRPr i="1" sz="1400">
                <a:solidFill>
                  <a:schemeClr val="dk1"/>
                </a:solidFill>
                <a:latin typeface="Calibri"/>
                <a:ea typeface="Calibri"/>
                <a:cs typeface="Calibri"/>
                <a:sym typeface="Calibri"/>
              </a:endParaRPr>
            </a:p>
          </p:txBody>
        </p:sp>
      </p:grpSp>
      <p:grpSp>
        <p:nvGrpSpPr>
          <p:cNvPr id="2295" name="Google Shape;2295;p37"/>
          <p:cNvGrpSpPr/>
          <p:nvPr/>
        </p:nvGrpSpPr>
        <p:grpSpPr>
          <a:xfrm>
            <a:off x="8226030" y="3488161"/>
            <a:ext cx="1710811" cy="482930"/>
            <a:chOff x="8226030" y="3488161"/>
            <a:chExt cx="1710811" cy="482930"/>
          </a:xfrm>
        </p:grpSpPr>
        <p:cxnSp>
          <p:nvCxnSpPr>
            <p:cNvPr id="2296" name="Google Shape;2296;p37"/>
            <p:cNvCxnSpPr/>
            <p:nvPr/>
          </p:nvCxnSpPr>
          <p:spPr>
            <a:xfrm>
              <a:off x="8226030" y="3679752"/>
              <a:ext cx="1684338" cy="234582"/>
            </a:xfrm>
            <a:prstGeom prst="straightConnector1">
              <a:avLst/>
            </a:prstGeom>
            <a:noFill/>
            <a:ln cap="flat" cmpd="sng" w="9525">
              <a:solidFill>
                <a:schemeClr val="dk1"/>
              </a:solidFill>
              <a:prstDash val="solid"/>
              <a:round/>
              <a:headEnd len="med" w="med" type="none"/>
              <a:tailEnd len="med" w="med" type="triangle"/>
            </a:ln>
          </p:spPr>
        </p:cxnSp>
        <p:sp>
          <p:nvSpPr>
            <p:cNvPr id="2297" name="Google Shape;2297;p37"/>
            <p:cNvSpPr txBox="1"/>
            <p:nvPr/>
          </p:nvSpPr>
          <p:spPr>
            <a:xfrm rot="460210">
              <a:off x="8589335" y="3575737"/>
              <a:ext cx="133292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update </a:t>
              </a:r>
              <a:r>
                <a:rPr i="1" lang="en-US" sz="1400">
                  <a:solidFill>
                    <a:schemeClr val="dk1"/>
                  </a:solidFill>
                  <a:latin typeface="Calibri"/>
                  <a:ea typeface="Calibri"/>
                  <a:cs typeface="Calibri"/>
                  <a:sym typeface="Calibri"/>
                </a:rPr>
                <a:t>X      X’</a:t>
              </a:r>
              <a:endParaRPr/>
            </a:p>
          </p:txBody>
        </p:sp>
        <p:cxnSp>
          <p:nvCxnSpPr>
            <p:cNvPr id="2298" name="Google Shape;2298;p37"/>
            <p:cNvCxnSpPr/>
            <p:nvPr/>
          </p:nvCxnSpPr>
          <p:spPr>
            <a:xfrm rot="10800000">
              <a:off x="9331367" y="3750644"/>
              <a:ext cx="221806" cy="28115"/>
            </a:xfrm>
            <a:prstGeom prst="straightConnector1">
              <a:avLst/>
            </a:prstGeom>
            <a:noFill/>
            <a:ln cap="flat" cmpd="sng" w="12700">
              <a:solidFill>
                <a:schemeClr val="dk1"/>
              </a:solidFill>
              <a:prstDash val="solid"/>
              <a:miter lim="800000"/>
              <a:headEnd len="sm" w="sm" type="none"/>
              <a:tailEnd len="med" w="med" type="triangle"/>
            </a:ln>
          </p:spPr>
        </p:cxnSp>
      </p:grpSp>
      <p:grpSp>
        <p:nvGrpSpPr>
          <p:cNvPr id="2299" name="Google Shape;2299;p37"/>
          <p:cNvGrpSpPr/>
          <p:nvPr/>
        </p:nvGrpSpPr>
        <p:grpSpPr>
          <a:xfrm>
            <a:off x="8234852" y="4177252"/>
            <a:ext cx="1684338" cy="472801"/>
            <a:chOff x="8234852" y="4177252"/>
            <a:chExt cx="1684338" cy="472801"/>
          </a:xfrm>
        </p:grpSpPr>
        <p:cxnSp>
          <p:nvCxnSpPr>
            <p:cNvPr id="2300" name="Google Shape;2300;p37"/>
            <p:cNvCxnSpPr/>
            <p:nvPr/>
          </p:nvCxnSpPr>
          <p:spPr>
            <a:xfrm>
              <a:off x="8234852" y="4392131"/>
              <a:ext cx="1684338" cy="234582"/>
            </a:xfrm>
            <a:prstGeom prst="straightConnector1">
              <a:avLst/>
            </a:prstGeom>
            <a:noFill/>
            <a:ln cap="flat" cmpd="sng" w="9525">
              <a:solidFill>
                <a:schemeClr val="dk1"/>
              </a:solidFill>
              <a:prstDash val="solid"/>
              <a:round/>
              <a:headEnd len="med" w="med" type="none"/>
              <a:tailEnd len="med" w="med" type="triangle"/>
            </a:ln>
          </p:spPr>
        </p:cxnSp>
        <p:sp>
          <p:nvSpPr>
            <p:cNvPr id="2301" name="Google Shape;2301;p37"/>
            <p:cNvSpPr txBox="1"/>
            <p:nvPr/>
          </p:nvSpPr>
          <p:spPr>
            <a:xfrm rot="460210">
              <a:off x="8600615" y="4259764"/>
              <a:ext cx="125704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update </a:t>
              </a:r>
              <a:r>
                <a:rPr i="1" lang="en-US" sz="1400">
                  <a:solidFill>
                    <a:schemeClr val="dk1"/>
                  </a:solidFill>
                  <a:latin typeface="Calibri"/>
                  <a:ea typeface="Calibri"/>
                  <a:cs typeface="Calibri"/>
                  <a:sym typeface="Calibri"/>
                </a:rPr>
                <a:t>X      X’’</a:t>
              </a:r>
              <a:endParaRPr/>
            </a:p>
          </p:txBody>
        </p:sp>
        <p:cxnSp>
          <p:nvCxnSpPr>
            <p:cNvPr id="2302" name="Google Shape;2302;p37"/>
            <p:cNvCxnSpPr/>
            <p:nvPr/>
          </p:nvCxnSpPr>
          <p:spPr>
            <a:xfrm rot="10800000">
              <a:off x="9339955" y="4436145"/>
              <a:ext cx="221806" cy="28115"/>
            </a:xfrm>
            <a:prstGeom prst="straightConnector1">
              <a:avLst/>
            </a:prstGeom>
            <a:noFill/>
            <a:ln cap="flat" cmpd="sng" w="12700">
              <a:solidFill>
                <a:schemeClr val="dk1"/>
              </a:solidFill>
              <a:prstDash val="solid"/>
              <a:miter lim="800000"/>
              <a:headEnd len="sm" w="sm" type="none"/>
              <a:tailEnd len="med" w="med" type="triangle"/>
            </a:ln>
          </p:spPr>
        </p:cxnSp>
      </p:grpSp>
      <p:grpSp>
        <p:nvGrpSpPr>
          <p:cNvPr id="2303" name="Google Shape;2303;p37"/>
          <p:cNvGrpSpPr/>
          <p:nvPr/>
        </p:nvGrpSpPr>
        <p:grpSpPr>
          <a:xfrm>
            <a:off x="8226030" y="2717763"/>
            <a:ext cx="1684338" cy="513330"/>
            <a:chOff x="8226030" y="2717763"/>
            <a:chExt cx="1684338" cy="513330"/>
          </a:xfrm>
        </p:grpSpPr>
        <p:sp>
          <p:nvSpPr>
            <p:cNvPr id="2304" name="Google Shape;2304;p37"/>
            <p:cNvSpPr txBox="1"/>
            <p:nvPr/>
          </p:nvSpPr>
          <p:spPr>
            <a:xfrm rot="460210">
              <a:off x="8283881" y="2820539"/>
              <a:ext cx="156069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lock data record </a:t>
              </a:r>
              <a:r>
                <a:rPr i="1" lang="en-US" sz="1400">
                  <a:solidFill>
                    <a:schemeClr val="dk1"/>
                  </a:solidFill>
                  <a:latin typeface="Calibri"/>
                  <a:ea typeface="Calibri"/>
                  <a:cs typeface="Calibri"/>
                  <a:sym typeface="Calibri"/>
                </a:rPr>
                <a:t>X</a:t>
              </a:r>
              <a:endParaRPr/>
            </a:p>
          </p:txBody>
        </p:sp>
        <p:cxnSp>
          <p:nvCxnSpPr>
            <p:cNvPr id="2305" name="Google Shape;2305;p37"/>
            <p:cNvCxnSpPr/>
            <p:nvPr/>
          </p:nvCxnSpPr>
          <p:spPr>
            <a:xfrm>
              <a:off x="8226030" y="2948551"/>
              <a:ext cx="1684338" cy="234582"/>
            </a:xfrm>
            <a:prstGeom prst="straightConnector1">
              <a:avLst/>
            </a:prstGeom>
            <a:noFill/>
            <a:ln cap="flat" cmpd="sng" w="9525">
              <a:solidFill>
                <a:schemeClr val="dk1"/>
              </a:solidFill>
              <a:prstDash val="solid"/>
              <a:round/>
              <a:headEnd len="med" w="med" type="none"/>
              <a:tailEnd len="med" w="med" type="triangle"/>
            </a:ln>
          </p:spPr>
        </p:cxnSp>
      </p:grpSp>
      <p:grpSp>
        <p:nvGrpSpPr>
          <p:cNvPr id="2306" name="Google Shape;2306;p37"/>
          <p:cNvGrpSpPr/>
          <p:nvPr/>
        </p:nvGrpSpPr>
        <p:grpSpPr>
          <a:xfrm>
            <a:off x="8211743" y="3198739"/>
            <a:ext cx="1673225" cy="370769"/>
            <a:chOff x="8211743" y="3198739"/>
            <a:chExt cx="1673225" cy="370769"/>
          </a:xfrm>
        </p:grpSpPr>
        <p:cxnSp>
          <p:nvCxnSpPr>
            <p:cNvPr id="2307" name="Google Shape;2307;p37"/>
            <p:cNvCxnSpPr/>
            <p:nvPr/>
          </p:nvCxnSpPr>
          <p:spPr>
            <a:xfrm flipH="1">
              <a:off x="8211743" y="3211740"/>
              <a:ext cx="1673225" cy="242211"/>
            </a:xfrm>
            <a:prstGeom prst="straightConnector1">
              <a:avLst/>
            </a:prstGeom>
            <a:noFill/>
            <a:ln cap="flat" cmpd="sng" w="9525">
              <a:solidFill>
                <a:schemeClr val="dk1"/>
              </a:solidFill>
              <a:prstDash val="solid"/>
              <a:round/>
              <a:headEnd len="med" w="med" type="none"/>
              <a:tailEnd len="med" w="med" type="triangle"/>
            </a:ln>
          </p:spPr>
        </p:cxnSp>
        <p:sp>
          <p:nvSpPr>
            <p:cNvPr id="2308" name="Google Shape;2308;p37"/>
            <p:cNvSpPr txBox="1"/>
            <p:nvPr/>
          </p:nvSpPr>
          <p:spPr>
            <a:xfrm rot="-493963">
              <a:off x="9368027" y="3230235"/>
              <a:ext cx="46205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OK</a:t>
              </a:r>
              <a:endParaRPr i="1" sz="1400">
                <a:solidFill>
                  <a:schemeClr val="dk1"/>
                </a:solidFill>
                <a:latin typeface="Calibri"/>
                <a:ea typeface="Calibri"/>
                <a:cs typeface="Calibri"/>
                <a:sym typeface="Calibri"/>
              </a:endParaRPr>
            </a:p>
          </p:txBody>
        </p:sp>
      </p:grpSp>
      <p:grpSp>
        <p:nvGrpSpPr>
          <p:cNvPr id="2309" name="Google Shape;2309;p37"/>
          <p:cNvGrpSpPr/>
          <p:nvPr/>
        </p:nvGrpSpPr>
        <p:grpSpPr>
          <a:xfrm>
            <a:off x="10136156" y="2957082"/>
            <a:ext cx="522425" cy="400110"/>
            <a:chOff x="10136156" y="2957082"/>
            <a:chExt cx="522425" cy="400110"/>
          </a:xfrm>
        </p:grpSpPr>
        <p:sp>
          <p:nvSpPr>
            <p:cNvPr id="2310" name="Google Shape;2310;p37"/>
            <p:cNvSpPr/>
            <p:nvPr/>
          </p:nvSpPr>
          <p:spPr>
            <a:xfrm>
              <a:off x="10138333" y="2957082"/>
              <a:ext cx="510086" cy="400110"/>
            </a:xfrm>
            <a:prstGeom prst="can">
              <a:avLst>
                <a:gd fmla="val 31004" name="adj"/>
              </a:avLst>
            </a:prstGeom>
            <a:gradFill>
              <a:gsLst>
                <a:gs pos="0">
                  <a:srgbClr val="2E75B5"/>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sp>
          <p:nvSpPr>
            <p:cNvPr id="2311" name="Google Shape;2311;p37"/>
            <p:cNvSpPr txBox="1"/>
            <p:nvPr/>
          </p:nvSpPr>
          <p:spPr>
            <a:xfrm>
              <a:off x="10364121" y="3049415"/>
              <a:ext cx="29446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chemeClr val="dk1"/>
                  </a:solidFill>
                  <a:latin typeface="Calibri"/>
                  <a:ea typeface="Calibri"/>
                  <a:cs typeface="Calibri"/>
                  <a:sym typeface="Calibri"/>
                </a:rPr>
                <a:t>X</a:t>
              </a:r>
              <a:endParaRPr/>
            </a:p>
          </p:txBody>
        </p:sp>
        <p:pic>
          <p:nvPicPr>
            <p:cNvPr id="2312" name="Google Shape;2312;p37"/>
            <p:cNvPicPr preferRelativeResize="0"/>
            <p:nvPr/>
          </p:nvPicPr>
          <p:blipFill rotWithShape="1">
            <a:blip r:embed="rId4">
              <a:alphaModFix/>
            </a:blip>
            <a:srcRect b="0" l="0" r="0" t="0"/>
            <a:stretch/>
          </p:blipFill>
          <p:spPr>
            <a:xfrm>
              <a:off x="10136156" y="2995160"/>
              <a:ext cx="307778" cy="307778"/>
            </a:xfrm>
            <a:prstGeom prst="rect">
              <a:avLst/>
            </a:prstGeom>
            <a:noFill/>
            <a:ln>
              <a:noFill/>
            </a:ln>
          </p:spPr>
        </p:pic>
      </p:grpSp>
      <p:sp>
        <p:nvSpPr>
          <p:cNvPr id="2313" name="Google Shape;2313;p37"/>
          <p:cNvSpPr/>
          <p:nvPr/>
        </p:nvSpPr>
        <p:spPr>
          <a:xfrm>
            <a:off x="10157378" y="2195369"/>
            <a:ext cx="510086" cy="400110"/>
          </a:xfrm>
          <a:prstGeom prst="can">
            <a:avLst>
              <a:gd fmla="val 31004" name="adj"/>
            </a:avLst>
          </a:prstGeom>
          <a:gradFill>
            <a:gsLst>
              <a:gs pos="0">
                <a:srgbClr val="2E75B5"/>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sp>
        <p:nvSpPr>
          <p:cNvPr id="2314" name="Google Shape;2314;p37"/>
          <p:cNvSpPr txBox="1"/>
          <p:nvPr/>
        </p:nvSpPr>
        <p:spPr>
          <a:xfrm>
            <a:off x="10383166" y="2287702"/>
            <a:ext cx="29446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chemeClr val="dk1"/>
                </a:solidFill>
                <a:latin typeface="Calibri"/>
                <a:ea typeface="Calibri"/>
                <a:cs typeface="Calibri"/>
                <a:sym typeface="Calibri"/>
              </a:rPr>
              <a:t>X</a:t>
            </a:r>
            <a:endParaRPr/>
          </a:p>
        </p:txBody>
      </p:sp>
      <p:grpSp>
        <p:nvGrpSpPr>
          <p:cNvPr id="2315" name="Google Shape;2315;p37"/>
          <p:cNvGrpSpPr/>
          <p:nvPr/>
        </p:nvGrpSpPr>
        <p:grpSpPr>
          <a:xfrm>
            <a:off x="10132163" y="3702128"/>
            <a:ext cx="592569" cy="400110"/>
            <a:chOff x="10136156" y="2957082"/>
            <a:chExt cx="592569" cy="400110"/>
          </a:xfrm>
        </p:grpSpPr>
        <p:sp>
          <p:nvSpPr>
            <p:cNvPr id="2316" name="Google Shape;2316;p37"/>
            <p:cNvSpPr/>
            <p:nvPr/>
          </p:nvSpPr>
          <p:spPr>
            <a:xfrm>
              <a:off x="10138333" y="2957082"/>
              <a:ext cx="510086" cy="400110"/>
            </a:xfrm>
            <a:prstGeom prst="can">
              <a:avLst>
                <a:gd fmla="val 31004" name="adj"/>
              </a:avLst>
            </a:prstGeom>
            <a:gradFill>
              <a:gsLst>
                <a:gs pos="0">
                  <a:srgbClr val="2E75B5"/>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sp>
          <p:nvSpPr>
            <p:cNvPr id="2317" name="Google Shape;2317;p37"/>
            <p:cNvSpPr txBox="1"/>
            <p:nvPr/>
          </p:nvSpPr>
          <p:spPr>
            <a:xfrm>
              <a:off x="10364121" y="3049415"/>
              <a:ext cx="36460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chemeClr val="dk1"/>
                  </a:solidFill>
                  <a:latin typeface="Calibri"/>
                  <a:ea typeface="Calibri"/>
                  <a:cs typeface="Calibri"/>
                  <a:sym typeface="Calibri"/>
                </a:rPr>
                <a:t>X’</a:t>
              </a:r>
              <a:endParaRPr/>
            </a:p>
          </p:txBody>
        </p:sp>
        <p:pic>
          <p:nvPicPr>
            <p:cNvPr id="2318" name="Google Shape;2318;p37"/>
            <p:cNvPicPr preferRelativeResize="0"/>
            <p:nvPr/>
          </p:nvPicPr>
          <p:blipFill rotWithShape="1">
            <a:blip r:embed="rId4">
              <a:alphaModFix/>
            </a:blip>
            <a:srcRect b="0" l="0" r="0" t="0"/>
            <a:stretch/>
          </p:blipFill>
          <p:spPr>
            <a:xfrm>
              <a:off x="10136156" y="2995160"/>
              <a:ext cx="307778" cy="307778"/>
            </a:xfrm>
            <a:prstGeom prst="rect">
              <a:avLst/>
            </a:prstGeom>
            <a:noFill/>
            <a:ln>
              <a:noFill/>
            </a:ln>
          </p:spPr>
        </p:pic>
      </p:grpSp>
      <p:grpSp>
        <p:nvGrpSpPr>
          <p:cNvPr id="2319" name="Google Shape;2319;p37"/>
          <p:cNvGrpSpPr/>
          <p:nvPr/>
        </p:nvGrpSpPr>
        <p:grpSpPr>
          <a:xfrm>
            <a:off x="10128170" y="4447174"/>
            <a:ext cx="592569" cy="400110"/>
            <a:chOff x="10136156" y="2957082"/>
            <a:chExt cx="592569" cy="400110"/>
          </a:xfrm>
        </p:grpSpPr>
        <p:sp>
          <p:nvSpPr>
            <p:cNvPr id="2320" name="Google Shape;2320;p37"/>
            <p:cNvSpPr/>
            <p:nvPr/>
          </p:nvSpPr>
          <p:spPr>
            <a:xfrm>
              <a:off x="10138333" y="2957082"/>
              <a:ext cx="510086" cy="400110"/>
            </a:xfrm>
            <a:prstGeom prst="can">
              <a:avLst>
                <a:gd fmla="val 31004" name="adj"/>
              </a:avLst>
            </a:prstGeom>
            <a:gradFill>
              <a:gsLst>
                <a:gs pos="0">
                  <a:srgbClr val="2E75B5"/>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sp>
          <p:nvSpPr>
            <p:cNvPr id="2321" name="Google Shape;2321;p37"/>
            <p:cNvSpPr txBox="1"/>
            <p:nvPr/>
          </p:nvSpPr>
          <p:spPr>
            <a:xfrm>
              <a:off x="10364121" y="3049415"/>
              <a:ext cx="36460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chemeClr val="dk1"/>
                  </a:solidFill>
                  <a:latin typeface="Calibri"/>
                  <a:ea typeface="Calibri"/>
                  <a:cs typeface="Calibri"/>
                  <a:sym typeface="Calibri"/>
                </a:rPr>
                <a:t>X’’</a:t>
              </a:r>
              <a:endParaRPr/>
            </a:p>
          </p:txBody>
        </p:sp>
        <p:pic>
          <p:nvPicPr>
            <p:cNvPr id="2322" name="Google Shape;2322;p37"/>
            <p:cNvPicPr preferRelativeResize="0"/>
            <p:nvPr/>
          </p:nvPicPr>
          <p:blipFill rotWithShape="1">
            <a:blip r:embed="rId4">
              <a:alphaModFix/>
            </a:blip>
            <a:srcRect b="0" l="0" r="0" t="0"/>
            <a:stretch/>
          </p:blipFill>
          <p:spPr>
            <a:xfrm>
              <a:off x="10136156" y="2995160"/>
              <a:ext cx="307778" cy="307778"/>
            </a:xfrm>
            <a:prstGeom prst="rect">
              <a:avLst/>
            </a:prstGeom>
            <a:noFill/>
            <a:ln>
              <a:noFill/>
            </a:ln>
          </p:spPr>
        </p:pic>
      </p:grpSp>
      <p:grpSp>
        <p:nvGrpSpPr>
          <p:cNvPr id="2323" name="Google Shape;2323;p37"/>
          <p:cNvGrpSpPr/>
          <p:nvPr/>
        </p:nvGrpSpPr>
        <p:grpSpPr>
          <a:xfrm>
            <a:off x="10126354" y="5192220"/>
            <a:ext cx="726072" cy="400110"/>
            <a:chOff x="10138333" y="2957082"/>
            <a:chExt cx="726072" cy="400110"/>
          </a:xfrm>
        </p:grpSpPr>
        <p:sp>
          <p:nvSpPr>
            <p:cNvPr id="2324" name="Google Shape;2324;p37"/>
            <p:cNvSpPr/>
            <p:nvPr/>
          </p:nvSpPr>
          <p:spPr>
            <a:xfrm>
              <a:off x="10138333" y="2957082"/>
              <a:ext cx="510086" cy="400110"/>
            </a:xfrm>
            <a:prstGeom prst="can">
              <a:avLst>
                <a:gd fmla="val 31004" name="adj"/>
              </a:avLst>
            </a:prstGeom>
            <a:gradFill>
              <a:gsLst>
                <a:gs pos="0">
                  <a:srgbClr val="2E75B5"/>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sp>
          <p:nvSpPr>
            <p:cNvPr id="2325" name="Google Shape;2325;p37"/>
            <p:cNvSpPr txBox="1"/>
            <p:nvPr/>
          </p:nvSpPr>
          <p:spPr>
            <a:xfrm>
              <a:off x="10364121" y="3049415"/>
              <a:ext cx="50028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chemeClr val="dk1"/>
                  </a:solidFill>
                  <a:latin typeface="Calibri"/>
                  <a:ea typeface="Calibri"/>
                  <a:cs typeface="Calibri"/>
                  <a:sym typeface="Calibri"/>
                </a:rPr>
                <a:t>X’’</a:t>
              </a:r>
              <a:endParaRPr/>
            </a:p>
          </p:txBody>
        </p:sp>
      </p:grpSp>
      <p:sp>
        <p:nvSpPr>
          <p:cNvPr id="2326" name="Google Shape;2326;p37"/>
          <p:cNvSpPr txBox="1"/>
          <p:nvPr/>
        </p:nvSpPr>
        <p:spPr>
          <a:xfrm>
            <a:off x="7895870" y="4140346"/>
            <a:ext cx="41429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0000A3"/>
                </a:solidFill>
                <a:latin typeface="Calibri"/>
                <a:ea typeface="Calibri"/>
                <a:cs typeface="Calibri"/>
                <a:sym typeface="Calibri"/>
              </a:rPr>
              <a:t>t’</a:t>
            </a:r>
            <a:endParaRPr i="1" sz="1600">
              <a:solidFill>
                <a:schemeClr val="dk1"/>
              </a:solidFill>
              <a:latin typeface="Calibri"/>
              <a:ea typeface="Calibri"/>
              <a:cs typeface="Calibri"/>
              <a:sym typeface="Calibri"/>
            </a:endParaRPr>
          </a:p>
        </p:txBody>
      </p:sp>
      <p:sp>
        <p:nvSpPr>
          <p:cNvPr id="2327" name="Google Shape;2327;p37"/>
          <p:cNvSpPr txBox="1"/>
          <p:nvPr/>
        </p:nvSpPr>
        <p:spPr>
          <a:xfrm>
            <a:off x="7384517" y="5969340"/>
            <a:ext cx="411550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Q: </a:t>
            </a:r>
            <a:r>
              <a:rPr lang="en-US" sz="1600">
                <a:solidFill>
                  <a:schemeClr val="dk1"/>
                </a:solidFill>
                <a:latin typeface="Calibri"/>
                <a:ea typeface="Calibri"/>
                <a:cs typeface="Calibri"/>
                <a:sym typeface="Calibri"/>
              </a:rPr>
              <a:t>what happens if network connection or client crashes at </a:t>
            </a:r>
            <a:r>
              <a:rPr i="1" lang="en-US" sz="1600">
                <a:solidFill>
                  <a:schemeClr val="dk1"/>
                </a:solidFill>
                <a:latin typeface="Calibri"/>
                <a:ea typeface="Calibri"/>
                <a:cs typeface="Calibri"/>
                <a:sym typeface="Calibri"/>
              </a:rPr>
              <a:t>t’ </a:t>
            </a:r>
            <a:r>
              <a:rPr lang="en-US" sz="1600">
                <a:solidFill>
                  <a:schemeClr val="dk1"/>
                </a:solidFill>
                <a:latin typeface="Calibri"/>
                <a:ea typeface="Calibri"/>
                <a:cs typeface="Calibri"/>
                <a:sym typeface="Calibri"/>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3"/>
                                        </p:tgtEl>
                                        <p:attrNameLst>
                                          <p:attrName>style.visibility</p:attrName>
                                        </p:attrNameLst>
                                      </p:cBhvr>
                                      <p:to>
                                        <p:strVal val="visible"/>
                                      </p:to>
                                    </p:set>
                                    <p:animEffect filter="fade" transition="in">
                                      <p:cBhvr>
                                        <p:cTn dur="500"/>
                                        <p:tgtEl>
                                          <p:spTgt spid="230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09"/>
                                        </p:tgtEl>
                                        <p:attrNameLst>
                                          <p:attrName>style.visibility</p:attrName>
                                        </p:attrNameLst>
                                      </p:cBhvr>
                                      <p:to>
                                        <p:strVal val="visible"/>
                                      </p:to>
                                    </p:set>
                                    <p:animEffect filter="fade" transition="in">
                                      <p:cBhvr>
                                        <p:cTn dur="500"/>
                                        <p:tgtEl>
                                          <p:spTgt spid="230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06"/>
                                        </p:tgtEl>
                                        <p:attrNameLst>
                                          <p:attrName>style.visibility</p:attrName>
                                        </p:attrNameLst>
                                      </p:cBhvr>
                                      <p:to>
                                        <p:strVal val="visible"/>
                                      </p:to>
                                    </p:set>
                                    <p:animEffect filter="fade" transition="in">
                                      <p:cBhvr>
                                        <p:cTn dur="500"/>
                                        <p:tgtEl>
                                          <p:spTgt spid="2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5"/>
                                        </p:tgtEl>
                                        <p:attrNameLst>
                                          <p:attrName>style.visibility</p:attrName>
                                        </p:attrNameLst>
                                      </p:cBhvr>
                                      <p:to>
                                        <p:strVal val="visible"/>
                                      </p:to>
                                    </p:set>
                                    <p:animEffect filter="fade" transition="in">
                                      <p:cBhvr>
                                        <p:cTn dur="500"/>
                                        <p:tgtEl>
                                          <p:spTgt spid="229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15"/>
                                        </p:tgtEl>
                                        <p:attrNameLst>
                                          <p:attrName>style.visibility</p:attrName>
                                        </p:attrNameLst>
                                      </p:cBhvr>
                                      <p:to>
                                        <p:strVal val="visible"/>
                                      </p:to>
                                    </p:set>
                                    <p:animEffect filter="fade" transition="in">
                                      <p:cBhvr>
                                        <p:cTn dur="500"/>
                                        <p:tgtEl>
                                          <p:spTgt spid="231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83"/>
                                        </p:tgtEl>
                                        <p:attrNameLst>
                                          <p:attrName>style.visibility</p:attrName>
                                        </p:attrNameLst>
                                      </p:cBhvr>
                                      <p:to>
                                        <p:strVal val="visible"/>
                                      </p:to>
                                    </p:set>
                                    <p:animEffect filter="fade" transition="in">
                                      <p:cBhvr>
                                        <p:cTn dur="500"/>
                                        <p:tgtEl>
                                          <p:spTgt spid="228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299"/>
                                        </p:tgtEl>
                                        <p:attrNameLst>
                                          <p:attrName>style.visibility</p:attrName>
                                        </p:attrNameLst>
                                      </p:cBhvr>
                                      <p:to>
                                        <p:strVal val="visible"/>
                                      </p:to>
                                    </p:set>
                                    <p:animEffect filter="fade" transition="in">
                                      <p:cBhvr>
                                        <p:cTn dur="500"/>
                                        <p:tgtEl>
                                          <p:spTgt spid="229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19"/>
                                        </p:tgtEl>
                                        <p:attrNameLst>
                                          <p:attrName>style.visibility</p:attrName>
                                        </p:attrNameLst>
                                      </p:cBhvr>
                                      <p:to>
                                        <p:strVal val="visible"/>
                                      </p:to>
                                    </p:set>
                                    <p:animEffect filter="fade" transition="in">
                                      <p:cBhvr>
                                        <p:cTn dur="500"/>
                                        <p:tgtEl>
                                          <p:spTgt spid="2319"/>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286"/>
                                        </p:tgtEl>
                                        <p:attrNameLst>
                                          <p:attrName>style.visibility</p:attrName>
                                        </p:attrNameLst>
                                      </p:cBhvr>
                                      <p:to>
                                        <p:strVal val="visible"/>
                                      </p:to>
                                    </p:set>
                                    <p:animEffect filter="fade" transition="in">
                                      <p:cBhvr>
                                        <p:cTn dur="500"/>
                                        <p:tgtEl>
                                          <p:spTgt spid="22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9"/>
                                        </p:tgtEl>
                                        <p:attrNameLst>
                                          <p:attrName>style.visibility</p:attrName>
                                        </p:attrNameLst>
                                      </p:cBhvr>
                                      <p:to>
                                        <p:strVal val="visible"/>
                                      </p:to>
                                    </p:set>
                                    <p:animEffect filter="fade" transition="in">
                                      <p:cBhvr>
                                        <p:cTn dur="500"/>
                                        <p:tgtEl>
                                          <p:spTgt spid="228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23"/>
                                        </p:tgtEl>
                                        <p:attrNameLst>
                                          <p:attrName>style.visibility</p:attrName>
                                        </p:attrNameLst>
                                      </p:cBhvr>
                                      <p:to>
                                        <p:strVal val="visible"/>
                                      </p:to>
                                    </p:set>
                                    <p:animEffect filter="fade" transition="in">
                                      <p:cBhvr>
                                        <p:cTn dur="500"/>
                                        <p:tgtEl>
                                          <p:spTgt spid="232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92"/>
                                        </p:tgtEl>
                                        <p:attrNameLst>
                                          <p:attrName>style.visibility</p:attrName>
                                        </p:attrNameLst>
                                      </p:cBhvr>
                                      <p:to>
                                        <p:strVal val="visible"/>
                                      </p:to>
                                    </p:set>
                                    <p:animEffect filter="fade" transition="in">
                                      <p:cBhvr>
                                        <p:cTn dur="500"/>
                                        <p:tgtEl>
                                          <p:spTgt spid="22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7"/>
                                        </p:tgtEl>
                                        <p:attrNameLst>
                                          <p:attrName>style.visibility</p:attrName>
                                        </p:attrNameLst>
                                      </p:cBhvr>
                                      <p:to>
                                        <p:strVal val="visible"/>
                                      </p:to>
                                    </p:set>
                                    <p:animEffect filter="fade" transition="in">
                                      <p:cBhvr>
                                        <p:cTn dur="500"/>
                                        <p:tgtEl>
                                          <p:spTgt spid="2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2" name="Shape 2332"/>
        <p:cNvGrpSpPr/>
        <p:nvPr/>
      </p:nvGrpSpPr>
      <p:grpSpPr>
        <a:xfrm>
          <a:off x="0" y="0"/>
          <a:ext cx="0" cy="0"/>
          <a:chOff x="0" y="0"/>
          <a:chExt cx="0" cy="0"/>
        </a:xfrm>
      </p:grpSpPr>
      <p:sp>
        <p:nvSpPr>
          <p:cNvPr id="2333" name="Google Shape;2333;p38"/>
          <p:cNvSpPr txBox="1"/>
          <p:nvPr>
            <p:ph type="title"/>
          </p:nvPr>
        </p:nvSpPr>
        <p:spPr>
          <a:xfrm>
            <a:off x="798691" y="37987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Maintaining user/server state: cookies</a:t>
            </a:r>
            <a:endParaRPr sz="4400"/>
          </a:p>
        </p:txBody>
      </p:sp>
      <p:sp>
        <p:nvSpPr>
          <p:cNvPr id="2334" name="Google Shape;2334;p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2335" name="Google Shape;2335;p38"/>
          <p:cNvSpPr txBox="1"/>
          <p:nvPr/>
        </p:nvSpPr>
        <p:spPr>
          <a:xfrm>
            <a:off x="622608" y="1452389"/>
            <a:ext cx="6335547" cy="4887912"/>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lang="en-US" sz="3200">
                <a:solidFill>
                  <a:schemeClr val="dk1"/>
                </a:solidFill>
                <a:latin typeface="Calibri"/>
                <a:ea typeface="Calibri"/>
                <a:cs typeface="Calibri"/>
                <a:sym typeface="Calibri"/>
              </a:rPr>
              <a:t>Web sites and client browser  use </a:t>
            </a:r>
            <a:r>
              <a:rPr i="1" lang="en-US" sz="3200">
                <a:solidFill>
                  <a:srgbClr val="C00000"/>
                </a:solidFill>
                <a:latin typeface="Calibri"/>
                <a:ea typeface="Calibri"/>
                <a:cs typeface="Calibri"/>
                <a:sym typeface="Calibri"/>
              </a:rPr>
              <a:t>cookies</a:t>
            </a:r>
            <a:r>
              <a:rPr lang="en-US" sz="3200">
                <a:solidFill>
                  <a:schemeClr val="dk1"/>
                </a:solidFill>
                <a:latin typeface="Calibri"/>
                <a:ea typeface="Calibri"/>
                <a:cs typeface="Calibri"/>
                <a:sym typeface="Calibri"/>
              </a:rPr>
              <a:t> to maintain some state between transactions</a:t>
            </a:r>
            <a:endParaRPr/>
          </a:p>
          <a:p>
            <a:pPr indent="-222250" lvl="0" marL="352425" marR="0" rtl="0" algn="l">
              <a:lnSpc>
                <a:spcPct val="90000"/>
              </a:lnSpc>
              <a:spcBef>
                <a:spcPts val="1000"/>
              </a:spcBef>
              <a:spcAft>
                <a:spcPts val="0"/>
              </a:spcAft>
              <a:buClr>
                <a:srgbClr val="0000A3"/>
              </a:buClr>
              <a:buSzPts val="3200"/>
              <a:buFont typeface="Noto Sans Symbols"/>
              <a:buNone/>
            </a:pPr>
            <a:r>
              <a:rPr i="1" lang="en-US" sz="3200">
                <a:solidFill>
                  <a:srgbClr val="0000A3"/>
                </a:solidFill>
                <a:latin typeface="Calibri"/>
                <a:ea typeface="Calibri"/>
                <a:cs typeface="Calibri"/>
                <a:sym typeface="Calibri"/>
              </a:rPr>
              <a:t>four components:</a:t>
            </a:r>
            <a:endParaRPr/>
          </a:p>
          <a:p>
            <a:pPr indent="-231775" lvl="1" marL="695325" marR="0" rtl="0" algn="l">
              <a:lnSpc>
                <a:spcPct val="90000"/>
              </a:lnSpc>
              <a:spcBef>
                <a:spcPts val="500"/>
              </a:spcBef>
              <a:spcAft>
                <a:spcPts val="0"/>
              </a:spcAft>
              <a:buClr>
                <a:srgbClr val="0000A8"/>
              </a:buClr>
              <a:buSzPts val="2800"/>
              <a:buFont typeface="Noto Sans Symbols"/>
              <a:buNone/>
            </a:pPr>
            <a:r>
              <a:rPr b="0" i="0" lang="en-US" sz="2800" u="none" cap="none" strike="noStrike">
                <a:solidFill>
                  <a:schemeClr val="dk1"/>
                </a:solidFill>
                <a:latin typeface="Calibri"/>
                <a:ea typeface="Calibri"/>
                <a:cs typeface="Calibri"/>
                <a:sym typeface="Calibri"/>
              </a:rPr>
              <a:t>1) cookie header line of HTTP </a:t>
            </a:r>
            <a:r>
              <a:rPr b="0" i="1" lang="en-US" sz="2800" u="none" cap="none" strike="noStrike">
                <a:solidFill>
                  <a:schemeClr val="dk1"/>
                </a:solidFill>
                <a:latin typeface="Calibri"/>
                <a:ea typeface="Calibri"/>
                <a:cs typeface="Calibri"/>
                <a:sym typeface="Calibri"/>
              </a:rPr>
              <a:t>response</a:t>
            </a:r>
            <a:r>
              <a:rPr b="0" i="0" lang="en-US" sz="2800" u="none" cap="none" strike="noStrike">
                <a:solidFill>
                  <a:schemeClr val="dk1"/>
                </a:solidFill>
                <a:latin typeface="Calibri"/>
                <a:ea typeface="Calibri"/>
                <a:cs typeface="Calibri"/>
                <a:sym typeface="Calibri"/>
              </a:rPr>
              <a:t> message</a:t>
            </a:r>
            <a:endParaRPr/>
          </a:p>
          <a:p>
            <a:pPr indent="-231775" lvl="1" marL="695325" marR="0" rtl="0" algn="l">
              <a:lnSpc>
                <a:spcPct val="90000"/>
              </a:lnSpc>
              <a:spcBef>
                <a:spcPts val="500"/>
              </a:spcBef>
              <a:spcAft>
                <a:spcPts val="0"/>
              </a:spcAft>
              <a:buClr>
                <a:srgbClr val="0000A8"/>
              </a:buClr>
              <a:buSzPts val="2800"/>
              <a:buFont typeface="Noto Sans Symbols"/>
              <a:buNone/>
            </a:pPr>
            <a:r>
              <a:rPr b="0" i="0" lang="en-US" sz="2800" u="none" cap="none" strike="noStrike">
                <a:solidFill>
                  <a:schemeClr val="dk1"/>
                </a:solidFill>
                <a:latin typeface="Calibri"/>
                <a:ea typeface="Calibri"/>
                <a:cs typeface="Calibri"/>
                <a:sym typeface="Calibri"/>
              </a:rPr>
              <a:t>2) cookie header line in next HTTP </a:t>
            </a:r>
            <a:r>
              <a:rPr b="0" i="1" lang="en-US" sz="2800" u="none" cap="none" strike="noStrike">
                <a:solidFill>
                  <a:schemeClr val="dk1"/>
                </a:solidFill>
                <a:latin typeface="Calibri"/>
                <a:ea typeface="Calibri"/>
                <a:cs typeface="Calibri"/>
                <a:sym typeface="Calibri"/>
              </a:rPr>
              <a:t>request</a:t>
            </a:r>
            <a:r>
              <a:rPr b="0" i="0" lang="en-US" sz="2800" u="none" cap="none" strike="noStrike">
                <a:solidFill>
                  <a:schemeClr val="dk1"/>
                </a:solidFill>
                <a:latin typeface="Calibri"/>
                <a:ea typeface="Calibri"/>
                <a:cs typeface="Calibri"/>
                <a:sym typeface="Calibri"/>
              </a:rPr>
              <a:t> message</a:t>
            </a:r>
            <a:endParaRPr/>
          </a:p>
          <a:p>
            <a:pPr indent="-231775" lvl="1" marL="695325" marR="0" rtl="0" algn="l">
              <a:lnSpc>
                <a:spcPct val="90000"/>
              </a:lnSpc>
              <a:spcBef>
                <a:spcPts val="500"/>
              </a:spcBef>
              <a:spcAft>
                <a:spcPts val="0"/>
              </a:spcAft>
              <a:buClr>
                <a:srgbClr val="0000A8"/>
              </a:buClr>
              <a:buSzPts val="2800"/>
              <a:buFont typeface="Noto Sans Symbols"/>
              <a:buNone/>
            </a:pPr>
            <a:r>
              <a:rPr b="0" i="0" lang="en-US" sz="2800" u="none" cap="none" strike="noStrike">
                <a:solidFill>
                  <a:schemeClr val="dk1"/>
                </a:solidFill>
                <a:latin typeface="Calibri"/>
                <a:ea typeface="Calibri"/>
                <a:cs typeface="Calibri"/>
                <a:sym typeface="Calibri"/>
              </a:rPr>
              <a:t>3) cookie file kept on user’s host, managed by user’s browser</a:t>
            </a:r>
            <a:endParaRPr/>
          </a:p>
          <a:p>
            <a:pPr indent="-231775" lvl="1" marL="695325" marR="0" rtl="0" algn="l">
              <a:lnSpc>
                <a:spcPct val="90000"/>
              </a:lnSpc>
              <a:spcBef>
                <a:spcPts val="500"/>
              </a:spcBef>
              <a:spcAft>
                <a:spcPts val="0"/>
              </a:spcAft>
              <a:buClr>
                <a:srgbClr val="0000A8"/>
              </a:buClr>
              <a:buSzPts val="2800"/>
              <a:buFont typeface="Noto Sans Symbols"/>
              <a:buNone/>
            </a:pPr>
            <a:r>
              <a:rPr b="0" i="0" lang="en-US" sz="2800" u="none" cap="none" strike="noStrike">
                <a:solidFill>
                  <a:schemeClr val="dk1"/>
                </a:solidFill>
                <a:latin typeface="Calibri"/>
                <a:ea typeface="Calibri"/>
                <a:cs typeface="Calibri"/>
                <a:sym typeface="Calibri"/>
              </a:rPr>
              <a:t>4) back-end database at Web site</a:t>
            </a:r>
            <a:endParaRPr/>
          </a:p>
        </p:txBody>
      </p:sp>
      <p:sp>
        <p:nvSpPr>
          <p:cNvPr id="2336" name="Google Shape;2336;p38"/>
          <p:cNvSpPr txBox="1"/>
          <p:nvPr/>
        </p:nvSpPr>
        <p:spPr>
          <a:xfrm>
            <a:off x="7599363" y="1452389"/>
            <a:ext cx="4363453" cy="5025732"/>
          </a:xfrm>
          <a:prstGeom prst="rect">
            <a:avLst/>
          </a:prstGeom>
          <a:noFill/>
          <a:ln>
            <a:noFill/>
          </a:ln>
        </p:spPr>
        <p:txBody>
          <a:bodyPr anchorCtr="0" anchor="t" bIns="45700" lIns="91425" spcFirstLastPara="1" rIns="91425" wrap="square" tIns="45700">
            <a:noAutofit/>
          </a:bodyPr>
          <a:lstStyle/>
          <a:p>
            <a:pPr indent="11113" lvl="0" marL="9525" marR="0" rtl="0" algn="l">
              <a:lnSpc>
                <a:spcPct val="90000"/>
              </a:lnSpc>
              <a:spcBef>
                <a:spcPts val="0"/>
              </a:spcBef>
              <a:spcAft>
                <a:spcPts val="0"/>
              </a:spcAft>
              <a:buClr>
                <a:srgbClr val="0000A3"/>
              </a:buClr>
              <a:buSzPts val="2800"/>
              <a:buFont typeface="Noto Sans Symbols"/>
              <a:buNone/>
            </a:pPr>
            <a:r>
              <a:rPr lang="en-US" sz="2800">
                <a:solidFill>
                  <a:srgbClr val="0000A3"/>
                </a:solidFill>
                <a:latin typeface="Calibri"/>
                <a:ea typeface="Calibri"/>
                <a:cs typeface="Calibri"/>
                <a:sym typeface="Calibri"/>
              </a:rPr>
              <a:t>Example:</a:t>
            </a:r>
            <a:endParaRPr/>
          </a:p>
          <a:p>
            <a:pPr indent="-233363" lvl="0" marL="233363" marR="0" rtl="0" algn="l">
              <a:lnSpc>
                <a:spcPct val="90000"/>
              </a:lnSpc>
              <a:spcBef>
                <a:spcPts val="6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Susan uses browser on laptop, visits specific e-commerce site for first time</a:t>
            </a:r>
            <a:endParaRPr/>
          </a:p>
          <a:p>
            <a:pPr indent="-233363" lvl="0" marL="233363" marR="0" rtl="0" algn="l">
              <a:lnSpc>
                <a:spcPct val="90000"/>
              </a:lnSpc>
              <a:spcBef>
                <a:spcPts val="6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when initial HTTP requests arrives at site, site creates: </a:t>
            </a:r>
            <a:endParaRPr/>
          </a:p>
          <a:p>
            <a:pPr indent="-228600" lvl="1" marL="685800" marR="0" rtl="0" algn="l">
              <a:lnSpc>
                <a:spcPct val="90000"/>
              </a:lnSpc>
              <a:spcBef>
                <a:spcPts val="6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unique ID (aka “cookie”)</a:t>
            </a:r>
            <a:endParaRPr/>
          </a:p>
          <a:p>
            <a:pPr indent="-228600" lvl="1" marL="685800" marR="0" rtl="0" algn="l">
              <a:lnSpc>
                <a:spcPct val="90000"/>
              </a:lnSpc>
              <a:spcBef>
                <a:spcPts val="6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entry in backend database for ID</a:t>
            </a:r>
            <a:endParaRPr/>
          </a:p>
          <a:p>
            <a:pPr indent="-228600" lvl="0" marL="342900" marR="0" rtl="0" algn="l">
              <a:lnSpc>
                <a:spcPct val="90000"/>
              </a:lnSpc>
              <a:spcBef>
                <a:spcPts val="600"/>
              </a:spcBef>
              <a:spcAft>
                <a:spcPts val="0"/>
              </a:spcAft>
              <a:buClr>
                <a:srgbClr val="0000A3"/>
              </a:buClr>
              <a:buSzPts val="2400"/>
              <a:buFont typeface="Arial"/>
              <a:buChar char="•"/>
            </a:pPr>
            <a:r>
              <a:rPr lang="en-US" sz="2400">
                <a:solidFill>
                  <a:schemeClr val="dk1"/>
                </a:solidFill>
                <a:latin typeface="Calibri"/>
                <a:ea typeface="Calibri"/>
                <a:cs typeface="Calibri"/>
                <a:sym typeface="Calibri"/>
              </a:rPr>
              <a:t>subsequent HTTP requests from Susan to this site will contain cookie ID value, allowing site to “identify” Susan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6"/>
                                        </p:tgtEl>
                                        <p:attrNameLst>
                                          <p:attrName>style.visibility</p:attrName>
                                        </p:attrNameLst>
                                      </p:cBhvr>
                                      <p:to>
                                        <p:strVal val="visible"/>
                                      </p:to>
                                    </p:set>
                                    <p:animEffect filter="fade" transition="in">
                                      <p:cBhvr>
                                        <p:cTn dur="500"/>
                                        <p:tgtEl>
                                          <p:spTgt spid="23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1" name="Shape 2341"/>
        <p:cNvGrpSpPr/>
        <p:nvPr/>
      </p:nvGrpSpPr>
      <p:grpSpPr>
        <a:xfrm>
          <a:off x="0" y="0"/>
          <a:ext cx="0" cy="0"/>
          <a:chOff x="0" y="0"/>
          <a:chExt cx="0" cy="0"/>
        </a:xfrm>
      </p:grpSpPr>
      <p:sp>
        <p:nvSpPr>
          <p:cNvPr id="2342" name="Google Shape;2342;p39"/>
          <p:cNvSpPr txBox="1"/>
          <p:nvPr>
            <p:ph type="title"/>
          </p:nvPr>
        </p:nvSpPr>
        <p:spPr>
          <a:xfrm>
            <a:off x="798691" y="37987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Maintaining user/server state: cookies</a:t>
            </a:r>
            <a:endParaRPr sz="4400"/>
          </a:p>
        </p:txBody>
      </p:sp>
      <p:sp>
        <p:nvSpPr>
          <p:cNvPr id="2343" name="Google Shape;2343;p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2344" name="Google Shape;2344;p39"/>
          <p:cNvSpPr txBox="1"/>
          <p:nvPr/>
        </p:nvSpPr>
        <p:spPr>
          <a:xfrm>
            <a:off x="2092674" y="1266659"/>
            <a:ext cx="873957"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client</a:t>
            </a:r>
            <a:endParaRPr/>
          </a:p>
        </p:txBody>
      </p:sp>
      <p:sp>
        <p:nvSpPr>
          <p:cNvPr id="2345" name="Google Shape;2345;p39"/>
          <p:cNvSpPr txBox="1"/>
          <p:nvPr/>
        </p:nvSpPr>
        <p:spPr>
          <a:xfrm>
            <a:off x="7072999" y="1555531"/>
            <a:ext cx="966931"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server</a:t>
            </a:r>
            <a:endParaRPr/>
          </a:p>
        </p:txBody>
      </p:sp>
      <p:grpSp>
        <p:nvGrpSpPr>
          <p:cNvPr id="2346" name="Google Shape;2346;p39"/>
          <p:cNvGrpSpPr/>
          <p:nvPr/>
        </p:nvGrpSpPr>
        <p:grpSpPr>
          <a:xfrm>
            <a:off x="2996806" y="4057653"/>
            <a:ext cx="3873500" cy="458788"/>
            <a:chOff x="1414" y="2657"/>
            <a:chExt cx="2440" cy="289"/>
          </a:xfrm>
        </p:grpSpPr>
        <p:cxnSp>
          <p:nvCxnSpPr>
            <p:cNvPr id="2347" name="Google Shape;2347;p39"/>
            <p:cNvCxnSpPr/>
            <p:nvPr/>
          </p:nvCxnSpPr>
          <p:spPr>
            <a:xfrm flipH="1">
              <a:off x="1414" y="2657"/>
              <a:ext cx="2440" cy="249"/>
            </a:xfrm>
            <a:prstGeom prst="straightConnector1">
              <a:avLst/>
            </a:prstGeom>
            <a:noFill/>
            <a:ln cap="flat" cmpd="sng" w="19050">
              <a:solidFill>
                <a:srgbClr val="000000"/>
              </a:solidFill>
              <a:prstDash val="solid"/>
              <a:round/>
              <a:headEnd len="med" w="med" type="none"/>
              <a:tailEnd len="med" w="med" type="triangle"/>
            </a:ln>
          </p:spPr>
        </p:cxnSp>
        <p:grpSp>
          <p:nvGrpSpPr>
            <p:cNvPr id="2348" name="Google Shape;2348;p39"/>
            <p:cNvGrpSpPr/>
            <p:nvPr/>
          </p:nvGrpSpPr>
          <p:grpSpPr>
            <a:xfrm>
              <a:off x="1553" y="2694"/>
              <a:ext cx="1897" cy="252"/>
              <a:chOff x="3268" y="2846"/>
              <a:chExt cx="1897" cy="252"/>
            </a:xfrm>
          </p:grpSpPr>
          <p:sp>
            <p:nvSpPr>
              <p:cNvPr id="2349" name="Google Shape;2349;p39"/>
              <p:cNvSpPr/>
              <p:nvPr/>
            </p:nvSpPr>
            <p:spPr>
              <a:xfrm>
                <a:off x="3282" y="2856"/>
                <a:ext cx="1692" cy="19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2350" name="Google Shape;2350;p39"/>
              <p:cNvSpPr txBox="1"/>
              <p:nvPr/>
            </p:nvSpPr>
            <p:spPr>
              <a:xfrm>
                <a:off x="3268" y="2846"/>
                <a:ext cx="1897" cy="2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usual HTTP response msg</a:t>
                </a:r>
                <a:endParaRPr b="0" i="0" sz="2800" u="none" cap="none" strike="noStrike">
                  <a:solidFill>
                    <a:srgbClr val="000000"/>
                  </a:solidFill>
                  <a:latin typeface="Calibri"/>
                  <a:ea typeface="Calibri"/>
                  <a:cs typeface="Calibri"/>
                  <a:sym typeface="Calibri"/>
                </a:endParaRPr>
              </a:p>
            </p:txBody>
          </p:sp>
        </p:grpSp>
      </p:grpSp>
      <p:grpSp>
        <p:nvGrpSpPr>
          <p:cNvPr id="2351" name="Google Shape;2351;p39"/>
          <p:cNvGrpSpPr/>
          <p:nvPr/>
        </p:nvGrpSpPr>
        <p:grpSpPr>
          <a:xfrm>
            <a:off x="3002432" y="5867498"/>
            <a:ext cx="3859213" cy="463549"/>
            <a:chOff x="1392" y="3579"/>
            <a:chExt cx="2431" cy="292"/>
          </a:xfrm>
        </p:grpSpPr>
        <p:cxnSp>
          <p:nvCxnSpPr>
            <p:cNvPr id="2352" name="Google Shape;2352;p39"/>
            <p:cNvCxnSpPr/>
            <p:nvPr/>
          </p:nvCxnSpPr>
          <p:spPr>
            <a:xfrm flipH="1">
              <a:off x="1392" y="3579"/>
              <a:ext cx="2431" cy="266"/>
            </a:xfrm>
            <a:prstGeom prst="straightConnector1">
              <a:avLst/>
            </a:prstGeom>
            <a:noFill/>
            <a:ln cap="flat" cmpd="sng" w="19050">
              <a:solidFill>
                <a:srgbClr val="000000"/>
              </a:solidFill>
              <a:prstDash val="solid"/>
              <a:round/>
              <a:headEnd len="med" w="med" type="none"/>
              <a:tailEnd len="med" w="med" type="triangle"/>
            </a:ln>
          </p:spPr>
        </p:cxnSp>
        <p:sp>
          <p:nvSpPr>
            <p:cNvPr id="2353" name="Google Shape;2353;p39"/>
            <p:cNvSpPr txBox="1"/>
            <p:nvPr/>
          </p:nvSpPr>
          <p:spPr>
            <a:xfrm>
              <a:off x="1598" y="3619"/>
              <a:ext cx="1852" cy="2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usual HTTP response msg</a:t>
              </a:r>
              <a:endParaRPr b="0" i="0" sz="2800" u="none" cap="none" strike="noStrike">
                <a:solidFill>
                  <a:srgbClr val="000000"/>
                </a:solidFill>
                <a:latin typeface="Calibri"/>
                <a:ea typeface="Calibri"/>
                <a:cs typeface="Calibri"/>
                <a:sym typeface="Calibri"/>
              </a:endParaRPr>
            </a:p>
          </p:txBody>
        </p:sp>
      </p:grpSp>
      <p:sp>
        <p:nvSpPr>
          <p:cNvPr id="2354" name="Google Shape;2354;p39"/>
          <p:cNvSpPr txBox="1"/>
          <p:nvPr/>
        </p:nvSpPr>
        <p:spPr>
          <a:xfrm>
            <a:off x="1733156" y="2293935"/>
            <a:ext cx="17875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cookie file</a:t>
            </a:r>
            <a:endParaRPr/>
          </a:p>
        </p:txBody>
      </p:sp>
      <p:sp>
        <p:nvSpPr>
          <p:cNvPr id="2355" name="Google Shape;2355;p39"/>
          <p:cNvSpPr txBox="1"/>
          <p:nvPr/>
        </p:nvSpPr>
        <p:spPr>
          <a:xfrm>
            <a:off x="1550772" y="4672055"/>
            <a:ext cx="181011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one week later:</a:t>
            </a:r>
            <a:endParaRPr/>
          </a:p>
        </p:txBody>
      </p:sp>
      <p:grpSp>
        <p:nvGrpSpPr>
          <p:cNvPr id="2356" name="Google Shape;2356;p39"/>
          <p:cNvGrpSpPr/>
          <p:nvPr/>
        </p:nvGrpSpPr>
        <p:grpSpPr>
          <a:xfrm>
            <a:off x="2998327" y="3429000"/>
            <a:ext cx="6777024" cy="1128713"/>
            <a:chOff x="1411" y="2261"/>
            <a:chExt cx="3533" cy="711"/>
          </a:xfrm>
        </p:grpSpPr>
        <p:cxnSp>
          <p:nvCxnSpPr>
            <p:cNvPr id="2357" name="Google Shape;2357;p39"/>
            <p:cNvCxnSpPr/>
            <p:nvPr/>
          </p:nvCxnSpPr>
          <p:spPr>
            <a:xfrm>
              <a:off x="1411" y="2361"/>
              <a:ext cx="2016" cy="240"/>
            </a:xfrm>
            <a:prstGeom prst="straightConnector1">
              <a:avLst/>
            </a:prstGeom>
            <a:noFill/>
            <a:ln cap="flat" cmpd="sng" w="19050">
              <a:solidFill>
                <a:srgbClr val="000000"/>
              </a:solidFill>
              <a:prstDash val="solid"/>
              <a:round/>
              <a:headEnd len="med" w="med" type="none"/>
              <a:tailEnd len="med" w="med" type="triangle"/>
            </a:ln>
          </p:spPr>
        </p:cxnSp>
        <p:sp>
          <p:nvSpPr>
            <p:cNvPr id="2358" name="Google Shape;2358;p39"/>
            <p:cNvSpPr txBox="1"/>
            <p:nvPr/>
          </p:nvSpPr>
          <p:spPr>
            <a:xfrm>
              <a:off x="1548" y="2261"/>
              <a:ext cx="1689" cy="40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usual HTTP request msg</a:t>
              </a:r>
              <a:endParaRPr/>
            </a:p>
            <a:p>
              <a:pPr indent="0" lvl="0" marL="0" marR="0" rtl="0" algn="ctr">
                <a:lnSpc>
                  <a:spcPct val="80000"/>
                </a:lnSpc>
                <a:spcBef>
                  <a:spcPts val="0"/>
                </a:spcBef>
                <a:spcAft>
                  <a:spcPts val="0"/>
                </a:spcAft>
                <a:buClr>
                  <a:srgbClr val="000000"/>
                </a:buClr>
                <a:buSzPts val="2400"/>
                <a:buFont typeface="Calibri"/>
                <a:buNone/>
              </a:pPr>
              <a:r>
                <a:rPr b="1" i="0" lang="en-US" sz="2400" u="none" cap="none" strike="noStrike">
                  <a:solidFill>
                    <a:srgbClr val="000000"/>
                  </a:solidFill>
                  <a:latin typeface="Calibri"/>
                  <a:ea typeface="Calibri"/>
                  <a:cs typeface="Calibri"/>
                  <a:sym typeface="Calibri"/>
                </a:rPr>
                <a:t>cookie: 1678</a:t>
              </a:r>
              <a:endParaRPr/>
            </a:p>
          </p:txBody>
        </p:sp>
        <p:sp>
          <p:nvSpPr>
            <p:cNvPr id="2359" name="Google Shape;2359;p39"/>
            <p:cNvSpPr txBox="1"/>
            <p:nvPr/>
          </p:nvSpPr>
          <p:spPr>
            <a:xfrm>
              <a:off x="3549" y="2332"/>
              <a:ext cx="607" cy="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Calibri"/>
                <a:buNone/>
              </a:pPr>
              <a:r>
                <a:rPr b="0" i="0" lang="en-US" sz="2000" u="none" cap="none" strike="noStrike">
                  <a:solidFill>
                    <a:srgbClr val="000099"/>
                  </a:solidFill>
                  <a:latin typeface="Calibri"/>
                  <a:ea typeface="Calibri"/>
                  <a:cs typeface="Calibri"/>
                  <a:sym typeface="Calibri"/>
                </a:rPr>
                <a:t>cookie-</a:t>
              </a:r>
              <a:endParaRPr/>
            </a:p>
            <a:p>
              <a:pPr indent="0" lvl="0" marL="0" marR="0" rtl="0" algn="ctr">
                <a:lnSpc>
                  <a:spcPct val="100000"/>
                </a:lnSpc>
                <a:spcBef>
                  <a:spcPts val="0"/>
                </a:spcBef>
                <a:spcAft>
                  <a:spcPts val="0"/>
                </a:spcAft>
                <a:buClr>
                  <a:srgbClr val="000099"/>
                </a:buClr>
                <a:buSzPts val="2000"/>
                <a:buFont typeface="Calibri"/>
                <a:buNone/>
              </a:pPr>
              <a:r>
                <a:rPr b="0" i="0" lang="en-US" sz="2000" u="none" cap="none" strike="noStrike">
                  <a:solidFill>
                    <a:srgbClr val="000099"/>
                  </a:solidFill>
                  <a:latin typeface="Calibri"/>
                  <a:ea typeface="Calibri"/>
                  <a:cs typeface="Calibri"/>
                  <a:sym typeface="Calibri"/>
                </a:rPr>
                <a:t>specific</a:t>
              </a:r>
              <a:endParaRPr/>
            </a:p>
            <a:p>
              <a:pPr indent="0" lvl="0" marL="0" marR="0" rtl="0" algn="ctr">
                <a:lnSpc>
                  <a:spcPct val="100000"/>
                </a:lnSpc>
                <a:spcBef>
                  <a:spcPts val="0"/>
                </a:spcBef>
                <a:spcAft>
                  <a:spcPts val="0"/>
                </a:spcAft>
                <a:buClr>
                  <a:srgbClr val="000099"/>
                </a:buClr>
                <a:buSzPts val="2000"/>
                <a:buFont typeface="Calibri"/>
                <a:buNone/>
              </a:pPr>
              <a:r>
                <a:rPr b="0" i="0" lang="en-US" sz="2000" u="none" cap="none" strike="noStrike">
                  <a:solidFill>
                    <a:srgbClr val="000099"/>
                  </a:solidFill>
                  <a:latin typeface="Calibri"/>
                  <a:ea typeface="Calibri"/>
                  <a:cs typeface="Calibri"/>
                  <a:sym typeface="Calibri"/>
                </a:rPr>
                <a:t>action</a:t>
              </a:r>
              <a:endParaRPr/>
            </a:p>
          </p:txBody>
        </p:sp>
        <p:cxnSp>
          <p:nvCxnSpPr>
            <p:cNvPr id="2360" name="Google Shape;2360;p39"/>
            <p:cNvCxnSpPr/>
            <p:nvPr/>
          </p:nvCxnSpPr>
          <p:spPr>
            <a:xfrm flipH="1" rot="10800000">
              <a:off x="4252" y="2367"/>
              <a:ext cx="692" cy="269"/>
            </a:xfrm>
            <a:prstGeom prst="straightConnector1">
              <a:avLst/>
            </a:prstGeom>
            <a:noFill/>
            <a:ln cap="flat" cmpd="sng" w="9525">
              <a:solidFill>
                <a:srgbClr val="000000"/>
              </a:solidFill>
              <a:prstDash val="solid"/>
              <a:round/>
              <a:headEnd len="med" w="med" type="triangle"/>
              <a:tailEnd len="med" w="med" type="triangle"/>
            </a:ln>
          </p:spPr>
        </p:cxnSp>
        <p:grpSp>
          <p:nvGrpSpPr>
            <p:cNvPr id="2361" name="Google Shape;2361;p39"/>
            <p:cNvGrpSpPr/>
            <p:nvPr/>
          </p:nvGrpSpPr>
          <p:grpSpPr>
            <a:xfrm>
              <a:off x="4306" y="2363"/>
              <a:ext cx="539" cy="252"/>
              <a:chOff x="4306" y="2273"/>
              <a:chExt cx="539" cy="252"/>
            </a:xfrm>
          </p:grpSpPr>
          <p:sp>
            <p:nvSpPr>
              <p:cNvPr id="2362" name="Google Shape;2362;p39"/>
              <p:cNvSpPr/>
              <p:nvPr/>
            </p:nvSpPr>
            <p:spPr>
              <a:xfrm>
                <a:off x="4409" y="2365"/>
                <a:ext cx="384" cy="9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2363" name="Google Shape;2363;p39"/>
              <p:cNvSpPr txBox="1"/>
              <p:nvPr/>
            </p:nvSpPr>
            <p:spPr>
              <a:xfrm>
                <a:off x="4306" y="2273"/>
                <a:ext cx="539"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access</a:t>
                </a:r>
                <a:endParaRPr/>
              </a:p>
            </p:txBody>
          </p:sp>
        </p:grpSp>
      </p:grpSp>
      <p:grpSp>
        <p:nvGrpSpPr>
          <p:cNvPr id="2364" name="Google Shape;2364;p39"/>
          <p:cNvGrpSpPr/>
          <p:nvPr/>
        </p:nvGrpSpPr>
        <p:grpSpPr>
          <a:xfrm>
            <a:off x="1704581" y="1762123"/>
            <a:ext cx="1066800" cy="565150"/>
            <a:chOff x="527" y="1047"/>
            <a:chExt cx="855" cy="486"/>
          </a:xfrm>
        </p:grpSpPr>
        <p:sp>
          <p:nvSpPr>
            <p:cNvPr id="2365" name="Google Shape;2365;p39"/>
            <p:cNvSpPr/>
            <p:nvPr/>
          </p:nvSpPr>
          <p:spPr>
            <a:xfrm>
              <a:off x="527" y="1047"/>
              <a:ext cx="855" cy="486"/>
            </a:xfrm>
            <a:prstGeom prst="can">
              <a:avLst>
                <a:gd fmla="val 25000" name="adj"/>
              </a:avLst>
            </a:prstGeom>
            <a:solidFill>
              <a:srgbClr val="3333CC"/>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2366" name="Google Shape;2366;p39"/>
            <p:cNvSpPr txBox="1"/>
            <p:nvPr/>
          </p:nvSpPr>
          <p:spPr>
            <a:xfrm>
              <a:off x="552" y="1193"/>
              <a:ext cx="805" cy="2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ebay 8734</a:t>
              </a:r>
              <a:endParaRPr/>
            </a:p>
          </p:txBody>
        </p:sp>
      </p:grpSp>
      <p:grpSp>
        <p:nvGrpSpPr>
          <p:cNvPr id="2367" name="Google Shape;2367;p39"/>
          <p:cNvGrpSpPr/>
          <p:nvPr/>
        </p:nvGrpSpPr>
        <p:grpSpPr>
          <a:xfrm>
            <a:off x="2952356" y="1946272"/>
            <a:ext cx="6972540" cy="1301749"/>
            <a:chOff x="1386" y="1327"/>
            <a:chExt cx="3730" cy="820"/>
          </a:xfrm>
        </p:grpSpPr>
        <p:cxnSp>
          <p:nvCxnSpPr>
            <p:cNvPr id="2368" name="Google Shape;2368;p39"/>
            <p:cNvCxnSpPr/>
            <p:nvPr/>
          </p:nvCxnSpPr>
          <p:spPr>
            <a:xfrm>
              <a:off x="1386" y="1355"/>
              <a:ext cx="2082" cy="240"/>
            </a:xfrm>
            <a:prstGeom prst="straightConnector1">
              <a:avLst/>
            </a:prstGeom>
            <a:noFill/>
            <a:ln cap="flat" cmpd="sng" w="19050">
              <a:solidFill>
                <a:srgbClr val="000000"/>
              </a:solidFill>
              <a:prstDash val="solid"/>
              <a:round/>
              <a:headEnd len="med" w="med" type="none"/>
              <a:tailEnd len="med" w="med" type="triangle"/>
            </a:ln>
          </p:spPr>
        </p:cxnSp>
        <p:sp>
          <p:nvSpPr>
            <p:cNvPr id="2369" name="Google Shape;2369;p39"/>
            <p:cNvSpPr txBox="1"/>
            <p:nvPr/>
          </p:nvSpPr>
          <p:spPr>
            <a:xfrm>
              <a:off x="1554" y="1327"/>
              <a:ext cx="1689" cy="2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usual HTTP request msg</a:t>
              </a:r>
              <a:endParaRPr/>
            </a:p>
          </p:txBody>
        </p:sp>
        <p:sp>
          <p:nvSpPr>
            <p:cNvPr id="2370" name="Google Shape;2370;p39"/>
            <p:cNvSpPr txBox="1"/>
            <p:nvPr/>
          </p:nvSpPr>
          <p:spPr>
            <a:xfrm>
              <a:off x="3460" y="1390"/>
              <a:ext cx="848" cy="58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800"/>
                <a:buFont typeface="Calibri"/>
                <a:buNone/>
              </a:pPr>
              <a:r>
                <a:rPr b="0" i="0" lang="en-US" sz="1800" u="none" cap="none" strike="noStrike">
                  <a:solidFill>
                    <a:srgbClr val="000099"/>
                  </a:solidFill>
                  <a:latin typeface="Calibri"/>
                  <a:ea typeface="Calibri"/>
                  <a:cs typeface="Calibri"/>
                  <a:sym typeface="Calibri"/>
                </a:rPr>
                <a:t>Amazon server</a:t>
              </a:r>
              <a:endParaRPr/>
            </a:p>
            <a:p>
              <a:pPr indent="0" lvl="0" marL="0" marR="0" rtl="0" algn="ctr">
                <a:lnSpc>
                  <a:spcPct val="100000"/>
                </a:lnSpc>
                <a:spcBef>
                  <a:spcPts val="0"/>
                </a:spcBef>
                <a:spcAft>
                  <a:spcPts val="0"/>
                </a:spcAft>
                <a:buClr>
                  <a:srgbClr val="000099"/>
                </a:buClr>
                <a:buSzPts val="1800"/>
                <a:buFont typeface="Calibri"/>
                <a:buNone/>
              </a:pPr>
              <a:r>
                <a:rPr b="0" i="0" lang="en-US" sz="1800" u="none" cap="none" strike="noStrike">
                  <a:solidFill>
                    <a:srgbClr val="000099"/>
                  </a:solidFill>
                  <a:latin typeface="Calibri"/>
                  <a:ea typeface="Calibri"/>
                  <a:cs typeface="Calibri"/>
                  <a:sym typeface="Calibri"/>
                </a:rPr>
                <a:t>creates ID</a:t>
              </a:r>
              <a:endParaRPr/>
            </a:p>
            <a:p>
              <a:pPr indent="0" lvl="0" marL="0" marR="0" rtl="0" algn="ctr">
                <a:lnSpc>
                  <a:spcPct val="100000"/>
                </a:lnSpc>
                <a:spcBef>
                  <a:spcPts val="0"/>
                </a:spcBef>
                <a:spcAft>
                  <a:spcPts val="0"/>
                </a:spcAft>
                <a:buClr>
                  <a:srgbClr val="000099"/>
                </a:buClr>
                <a:buSzPts val="1800"/>
                <a:buFont typeface="Calibri"/>
                <a:buNone/>
              </a:pPr>
              <a:r>
                <a:rPr b="0" i="0" lang="en-US" sz="1800" u="none" cap="none" strike="noStrike">
                  <a:solidFill>
                    <a:srgbClr val="000099"/>
                  </a:solidFill>
                  <a:latin typeface="Calibri"/>
                  <a:ea typeface="Calibri"/>
                  <a:cs typeface="Calibri"/>
                  <a:sym typeface="Calibri"/>
                </a:rPr>
                <a:t>1678 for user</a:t>
              </a:r>
              <a:endParaRPr b="0" i="0" sz="2000" u="none" cap="none" strike="noStrike">
                <a:solidFill>
                  <a:srgbClr val="000099"/>
                </a:solidFill>
                <a:latin typeface="Calibri"/>
                <a:ea typeface="Calibri"/>
                <a:cs typeface="Calibri"/>
                <a:sym typeface="Calibri"/>
              </a:endParaRPr>
            </a:p>
          </p:txBody>
        </p:sp>
        <p:grpSp>
          <p:nvGrpSpPr>
            <p:cNvPr id="2371" name="Google Shape;2371;p39"/>
            <p:cNvGrpSpPr/>
            <p:nvPr/>
          </p:nvGrpSpPr>
          <p:grpSpPr>
            <a:xfrm>
              <a:off x="4377" y="1730"/>
              <a:ext cx="739" cy="417"/>
              <a:chOff x="4377" y="1640"/>
              <a:chExt cx="739" cy="417"/>
            </a:xfrm>
          </p:grpSpPr>
          <p:cxnSp>
            <p:nvCxnSpPr>
              <p:cNvPr id="2372" name="Google Shape;2372;p39"/>
              <p:cNvCxnSpPr/>
              <p:nvPr/>
            </p:nvCxnSpPr>
            <p:spPr>
              <a:xfrm>
                <a:off x="4377" y="1640"/>
                <a:ext cx="659" cy="414"/>
              </a:xfrm>
              <a:prstGeom prst="straightConnector1">
                <a:avLst/>
              </a:prstGeom>
              <a:noFill/>
              <a:ln cap="flat" cmpd="sng" w="9525">
                <a:solidFill>
                  <a:srgbClr val="000000"/>
                </a:solidFill>
                <a:prstDash val="solid"/>
                <a:round/>
                <a:headEnd len="med" w="med" type="none"/>
                <a:tailEnd len="med" w="med" type="triangle"/>
              </a:ln>
            </p:spPr>
          </p:cxnSp>
          <p:sp>
            <p:nvSpPr>
              <p:cNvPr id="2373" name="Google Shape;2373;p39"/>
              <p:cNvSpPr/>
              <p:nvPr/>
            </p:nvSpPr>
            <p:spPr>
              <a:xfrm>
                <a:off x="4470" y="1729"/>
                <a:ext cx="602" cy="24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2374" name="Google Shape;2374;p39"/>
              <p:cNvSpPr txBox="1"/>
              <p:nvPr/>
            </p:nvSpPr>
            <p:spPr>
              <a:xfrm>
                <a:off x="4381" y="1702"/>
                <a:ext cx="735" cy="355"/>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create</a:t>
                </a:r>
                <a:endParaRPr/>
              </a:p>
              <a:p>
                <a:pPr indent="0" lvl="0" marL="0" marR="0" rtl="0" algn="l">
                  <a:lnSpc>
                    <a:spcPct val="75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entry</a:t>
                </a:r>
                <a:endParaRPr/>
              </a:p>
            </p:txBody>
          </p:sp>
        </p:grpSp>
      </p:grpSp>
      <p:grpSp>
        <p:nvGrpSpPr>
          <p:cNvPr id="2375" name="Google Shape;2375;p39"/>
          <p:cNvGrpSpPr/>
          <p:nvPr/>
        </p:nvGrpSpPr>
        <p:grpSpPr>
          <a:xfrm>
            <a:off x="1675603" y="2474086"/>
            <a:ext cx="5151555" cy="890270"/>
            <a:chOff x="462" y="1603"/>
            <a:chExt cx="3550" cy="719"/>
          </a:xfrm>
        </p:grpSpPr>
        <p:cxnSp>
          <p:nvCxnSpPr>
            <p:cNvPr id="2376" name="Google Shape;2376;p39"/>
            <p:cNvCxnSpPr/>
            <p:nvPr/>
          </p:nvCxnSpPr>
          <p:spPr>
            <a:xfrm flipH="1">
              <a:off x="1404" y="1603"/>
              <a:ext cx="2608" cy="274"/>
            </a:xfrm>
            <a:prstGeom prst="straightConnector1">
              <a:avLst/>
            </a:prstGeom>
            <a:noFill/>
            <a:ln cap="flat" cmpd="sng" w="19050">
              <a:solidFill>
                <a:srgbClr val="000000"/>
              </a:solidFill>
              <a:prstDash val="solid"/>
              <a:round/>
              <a:headEnd len="med" w="med" type="none"/>
              <a:tailEnd len="med" w="med" type="triangle"/>
            </a:ln>
          </p:spPr>
        </p:cxnSp>
        <p:sp>
          <p:nvSpPr>
            <p:cNvPr id="2377" name="Google Shape;2377;p39"/>
            <p:cNvSpPr txBox="1"/>
            <p:nvPr/>
          </p:nvSpPr>
          <p:spPr>
            <a:xfrm>
              <a:off x="1552" y="1650"/>
              <a:ext cx="1665" cy="51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usual HTTP response </a:t>
              </a:r>
              <a:endParaRPr/>
            </a:p>
            <a:p>
              <a:pPr indent="0" lvl="0" marL="0" marR="0" rtl="0" algn="ctr">
                <a:lnSpc>
                  <a:spcPct val="80000"/>
                </a:lnSpc>
                <a:spcBef>
                  <a:spcPts val="0"/>
                </a:spcBef>
                <a:spcAft>
                  <a:spcPts val="0"/>
                </a:spcAft>
                <a:buClr>
                  <a:srgbClr val="000000"/>
                </a:buClr>
                <a:buSzPts val="2400"/>
                <a:buFont typeface="Calibri"/>
                <a:buNone/>
              </a:pPr>
              <a:r>
                <a:rPr b="1" i="0" lang="en-US" sz="2400" u="none" cap="none" strike="noStrike">
                  <a:solidFill>
                    <a:srgbClr val="000000"/>
                  </a:solidFill>
                  <a:latin typeface="Calibri"/>
                  <a:ea typeface="Calibri"/>
                  <a:cs typeface="Calibri"/>
                  <a:sym typeface="Calibri"/>
                </a:rPr>
                <a:t>set-cookie: 1678 </a:t>
              </a:r>
              <a:endParaRPr/>
            </a:p>
          </p:txBody>
        </p:sp>
        <p:grpSp>
          <p:nvGrpSpPr>
            <p:cNvPr id="2378" name="Google Shape;2378;p39"/>
            <p:cNvGrpSpPr/>
            <p:nvPr/>
          </p:nvGrpSpPr>
          <p:grpSpPr>
            <a:xfrm>
              <a:off x="462" y="1836"/>
              <a:ext cx="1004" cy="486"/>
              <a:chOff x="687" y="1746"/>
              <a:chExt cx="1004" cy="486"/>
            </a:xfrm>
          </p:grpSpPr>
          <p:sp>
            <p:nvSpPr>
              <p:cNvPr id="2379" name="Google Shape;2379;p39"/>
              <p:cNvSpPr/>
              <p:nvPr/>
            </p:nvSpPr>
            <p:spPr>
              <a:xfrm>
                <a:off x="702" y="1746"/>
                <a:ext cx="735" cy="486"/>
              </a:xfrm>
              <a:prstGeom prst="can">
                <a:avLst>
                  <a:gd fmla="val 25000" name="adj"/>
                </a:avLst>
              </a:prstGeom>
              <a:solidFill>
                <a:srgbClr val="3333CC"/>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2380" name="Google Shape;2380;p39"/>
              <p:cNvSpPr txBox="1"/>
              <p:nvPr/>
            </p:nvSpPr>
            <p:spPr>
              <a:xfrm>
                <a:off x="687" y="1836"/>
                <a:ext cx="1004" cy="38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ebay 8734</a:t>
                </a:r>
                <a:endParaRPr/>
              </a:p>
              <a:p>
                <a:pPr indent="0" lvl="0" marL="0" marR="0" rtl="0" algn="l">
                  <a:lnSpc>
                    <a:spcPct val="9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amazon 1678</a:t>
                </a:r>
                <a:endParaRPr/>
              </a:p>
            </p:txBody>
          </p:sp>
        </p:grpSp>
      </p:grpSp>
      <p:grpSp>
        <p:nvGrpSpPr>
          <p:cNvPr id="2381" name="Google Shape;2381;p39"/>
          <p:cNvGrpSpPr/>
          <p:nvPr/>
        </p:nvGrpSpPr>
        <p:grpSpPr>
          <a:xfrm>
            <a:off x="2994226" y="4365354"/>
            <a:ext cx="6781125" cy="2001838"/>
            <a:chOff x="1406" y="2641"/>
            <a:chExt cx="3562" cy="1261"/>
          </a:xfrm>
        </p:grpSpPr>
        <p:cxnSp>
          <p:nvCxnSpPr>
            <p:cNvPr id="2382" name="Google Shape;2382;p39"/>
            <p:cNvCxnSpPr/>
            <p:nvPr/>
          </p:nvCxnSpPr>
          <p:spPr>
            <a:xfrm>
              <a:off x="1406" y="3293"/>
              <a:ext cx="2032" cy="242"/>
            </a:xfrm>
            <a:prstGeom prst="straightConnector1">
              <a:avLst/>
            </a:prstGeom>
            <a:noFill/>
            <a:ln cap="flat" cmpd="sng" w="19050">
              <a:solidFill>
                <a:srgbClr val="000000"/>
              </a:solidFill>
              <a:prstDash val="solid"/>
              <a:round/>
              <a:headEnd len="med" w="med" type="none"/>
              <a:tailEnd len="med" w="med" type="triangle"/>
            </a:ln>
          </p:spPr>
        </p:cxnSp>
        <p:sp>
          <p:nvSpPr>
            <p:cNvPr id="2383" name="Google Shape;2383;p39"/>
            <p:cNvSpPr txBox="1"/>
            <p:nvPr/>
          </p:nvSpPr>
          <p:spPr>
            <a:xfrm>
              <a:off x="1561" y="3171"/>
              <a:ext cx="1689" cy="40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usual HTTP request msg</a:t>
              </a:r>
              <a:endParaRPr/>
            </a:p>
            <a:p>
              <a:pPr indent="0" lvl="0" marL="0" marR="0" rtl="0" algn="ctr">
                <a:lnSpc>
                  <a:spcPct val="80000"/>
                </a:lnSpc>
                <a:spcBef>
                  <a:spcPts val="0"/>
                </a:spcBef>
                <a:spcAft>
                  <a:spcPts val="0"/>
                </a:spcAft>
                <a:buClr>
                  <a:srgbClr val="000000"/>
                </a:buClr>
                <a:buSzPts val="2400"/>
                <a:buFont typeface="Calibri"/>
                <a:buNone/>
              </a:pPr>
              <a:r>
                <a:rPr b="1" i="0" lang="en-US" sz="2400" u="none" cap="none" strike="noStrike">
                  <a:solidFill>
                    <a:srgbClr val="000000"/>
                  </a:solidFill>
                  <a:latin typeface="Calibri"/>
                  <a:ea typeface="Calibri"/>
                  <a:cs typeface="Calibri"/>
                  <a:sym typeface="Calibri"/>
                </a:rPr>
                <a:t>cookie: 1678</a:t>
              </a:r>
              <a:endParaRPr/>
            </a:p>
          </p:txBody>
        </p:sp>
        <p:sp>
          <p:nvSpPr>
            <p:cNvPr id="2384" name="Google Shape;2384;p39"/>
            <p:cNvSpPr txBox="1"/>
            <p:nvPr/>
          </p:nvSpPr>
          <p:spPr>
            <a:xfrm>
              <a:off x="3579" y="3262"/>
              <a:ext cx="607" cy="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Calibri"/>
                <a:buNone/>
              </a:pPr>
              <a:r>
                <a:rPr b="0" i="0" lang="en-US" sz="2000" u="none" cap="none" strike="noStrike">
                  <a:solidFill>
                    <a:srgbClr val="000099"/>
                  </a:solidFill>
                  <a:latin typeface="Calibri"/>
                  <a:ea typeface="Calibri"/>
                  <a:cs typeface="Calibri"/>
                  <a:sym typeface="Calibri"/>
                </a:rPr>
                <a:t>cookie-</a:t>
              </a:r>
              <a:endParaRPr/>
            </a:p>
            <a:p>
              <a:pPr indent="0" lvl="0" marL="0" marR="0" rtl="0" algn="ctr">
                <a:lnSpc>
                  <a:spcPct val="100000"/>
                </a:lnSpc>
                <a:spcBef>
                  <a:spcPts val="0"/>
                </a:spcBef>
                <a:spcAft>
                  <a:spcPts val="0"/>
                </a:spcAft>
                <a:buClr>
                  <a:srgbClr val="000099"/>
                </a:buClr>
                <a:buSzPts val="2000"/>
                <a:buFont typeface="Calibri"/>
                <a:buNone/>
              </a:pPr>
              <a:r>
                <a:rPr b="0" i="0" lang="en-US" sz="2000" u="none" cap="none" strike="noStrike">
                  <a:solidFill>
                    <a:srgbClr val="000099"/>
                  </a:solidFill>
                  <a:latin typeface="Calibri"/>
                  <a:ea typeface="Calibri"/>
                  <a:cs typeface="Calibri"/>
                  <a:sym typeface="Calibri"/>
                </a:rPr>
                <a:t>specific</a:t>
              </a:r>
              <a:endParaRPr/>
            </a:p>
            <a:p>
              <a:pPr indent="0" lvl="0" marL="0" marR="0" rtl="0" algn="ctr">
                <a:lnSpc>
                  <a:spcPct val="100000"/>
                </a:lnSpc>
                <a:spcBef>
                  <a:spcPts val="0"/>
                </a:spcBef>
                <a:spcAft>
                  <a:spcPts val="0"/>
                </a:spcAft>
                <a:buClr>
                  <a:srgbClr val="000099"/>
                </a:buClr>
                <a:buSzPts val="2000"/>
                <a:buFont typeface="Calibri"/>
                <a:buNone/>
              </a:pPr>
              <a:r>
                <a:rPr b="0" i="0" lang="en-US" sz="2000" u="none" cap="none" strike="noStrike">
                  <a:solidFill>
                    <a:srgbClr val="000099"/>
                  </a:solidFill>
                  <a:latin typeface="Calibri"/>
                  <a:ea typeface="Calibri"/>
                  <a:cs typeface="Calibri"/>
                  <a:sym typeface="Calibri"/>
                </a:rPr>
                <a:t>action</a:t>
              </a:r>
              <a:endParaRPr/>
            </a:p>
          </p:txBody>
        </p:sp>
        <p:cxnSp>
          <p:nvCxnSpPr>
            <p:cNvPr id="2385" name="Google Shape;2385;p39"/>
            <p:cNvCxnSpPr/>
            <p:nvPr/>
          </p:nvCxnSpPr>
          <p:spPr>
            <a:xfrm flipH="1" rot="10800000">
              <a:off x="4181" y="2641"/>
              <a:ext cx="787" cy="861"/>
            </a:xfrm>
            <a:prstGeom prst="straightConnector1">
              <a:avLst/>
            </a:prstGeom>
            <a:noFill/>
            <a:ln cap="flat" cmpd="sng" w="9525">
              <a:solidFill>
                <a:srgbClr val="000000"/>
              </a:solidFill>
              <a:prstDash val="solid"/>
              <a:round/>
              <a:headEnd len="med" w="med" type="triangle"/>
              <a:tailEnd len="med" w="med" type="triangle"/>
            </a:ln>
          </p:spPr>
        </p:cxnSp>
        <p:sp>
          <p:nvSpPr>
            <p:cNvPr id="2386" name="Google Shape;2386;p39"/>
            <p:cNvSpPr txBox="1"/>
            <p:nvPr/>
          </p:nvSpPr>
          <p:spPr>
            <a:xfrm>
              <a:off x="4287" y="2939"/>
              <a:ext cx="539" cy="252"/>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access</a:t>
              </a:r>
              <a:endParaRPr/>
            </a:p>
          </p:txBody>
        </p:sp>
      </p:grpSp>
      <p:grpSp>
        <p:nvGrpSpPr>
          <p:cNvPr id="2387" name="Google Shape;2387;p39"/>
          <p:cNvGrpSpPr/>
          <p:nvPr/>
        </p:nvGrpSpPr>
        <p:grpSpPr>
          <a:xfrm>
            <a:off x="1655687" y="5113066"/>
            <a:ext cx="1389062" cy="633978"/>
            <a:chOff x="702" y="1746"/>
            <a:chExt cx="1004" cy="486"/>
          </a:xfrm>
        </p:grpSpPr>
        <p:sp>
          <p:nvSpPr>
            <p:cNvPr id="2388" name="Google Shape;2388;p39"/>
            <p:cNvSpPr/>
            <p:nvPr/>
          </p:nvSpPr>
          <p:spPr>
            <a:xfrm>
              <a:off x="735" y="1746"/>
              <a:ext cx="773" cy="486"/>
            </a:xfrm>
            <a:prstGeom prst="can">
              <a:avLst>
                <a:gd fmla="val 25000" name="adj"/>
              </a:avLst>
            </a:prstGeom>
            <a:solidFill>
              <a:srgbClr val="3333CC"/>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2389" name="Google Shape;2389;p39"/>
            <p:cNvSpPr txBox="1"/>
            <p:nvPr/>
          </p:nvSpPr>
          <p:spPr>
            <a:xfrm>
              <a:off x="702" y="1851"/>
              <a:ext cx="1004" cy="36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ebay 8734</a:t>
              </a:r>
              <a:endParaRPr/>
            </a:p>
            <a:p>
              <a:pPr indent="0" lvl="0" marL="0" marR="0" rtl="0" algn="l">
                <a:lnSpc>
                  <a:spcPct val="9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amazon 1678</a:t>
              </a:r>
              <a:endParaRPr b="1" i="0" sz="1600" u="none" cap="none" strike="noStrike">
                <a:solidFill>
                  <a:srgbClr val="FFFFFF"/>
                </a:solidFill>
                <a:latin typeface="Calibri"/>
                <a:ea typeface="Calibri"/>
                <a:cs typeface="Calibri"/>
                <a:sym typeface="Calibri"/>
              </a:endParaRPr>
            </a:p>
          </p:txBody>
        </p:sp>
      </p:grpSp>
      <p:sp>
        <p:nvSpPr>
          <p:cNvPr id="2390" name="Google Shape;2390;p39"/>
          <p:cNvSpPr txBox="1"/>
          <p:nvPr/>
        </p:nvSpPr>
        <p:spPr>
          <a:xfrm>
            <a:off x="9834963" y="2582111"/>
            <a:ext cx="1140056"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backend</a:t>
            </a:r>
            <a:endParaRPr/>
          </a:p>
          <a:p>
            <a:pPr indent="0" lvl="0" marL="0" marR="0" rtl="0" algn="l">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database</a:t>
            </a:r>
            <a:endParaRPr/>
          </a:p>
        </p:txBody>
      </p:sp>
      <p:sp>
        <p:nvSpPr>
          <p:cNvPr id="2391" name="Google Shape;2391;p39"/>
          <p:cNvSpPr/>
          <p:nvPr/>
        </p:nvSpPr>
        <p:spPr>
          <a:xfrm>
            <a:off x="10104838" y="3202824"/>
            <a:ext cx="592138" cy="908050"/>
          </a:xfrm>
          <a:prstGeom prst="can">
            <a:avLst>
              <a:gd fmla="val 31004" name="adj"/>
            </a:avLst>
          </a:prstGeom>
          <a:gradFill>
            <a:gsLst>
              <a:gs pos="0">
                <a:srgbClr val="000099"/>
              </a:gs>
              <a:gs pos="100000">
                <a:srgbClr val="FFFFFF"/>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2392" name="Google Shape;2392;p39"/>
          <p:cNvGrpSpPr/>
          <p:nvPr/>
        </p:nvGrpSpPr>
        <p:grpSpPr>
          <a:xfrm>
            <a:off x="6709231" y="1274501"/>
            <a:ext cx="351110" cy="610396"/>
            <a:chOff x="4140" y="429"/>
            <a:chExt cx="1425" cy="2396"/>
          </a:xfrm>
        </p:grpSpPr>
        <p:sp>
          <p:nvSpPr>
            <p:cNvPr id="2393" name="Google Shape;2393;p3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394" name="Google Shape;2394;p39"/>
            <p:cNvSpPr/>
            <p:nvPr/>
          </p:nvSpPr>
          <p:spPr>
            <a:xfrm>
              <a:off x="4206" y="429"/>
              <a:ext cx="1045"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395" name="Google Shape;2395;p3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396" name="Google Shape;2396;p3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397" name="Google Shape;2397;p39"/>
            <p:cNvSpPr/>
            <p:nvPr/>
          </p:nvSpPr>
          <p:spPr>
            <a:xfrm>
              <a:off x="4212" y="695"/>
              <a:ext cx="594"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2398" name="Google Shape;2398;p39"/>
            <p:cNvGrpSpPr/>
            <p:nvPr/>
          </p:nvGrpSpPr>
          <p:grpSpPr>
            <a:xfrm>
              <a:off x="4751" y="666"/>
              <a:ext cx="578" cy="148"/>
              <a:chOff x="616" y="2566"/>
              <a:chExt cx="721" cy="142"/>
            </a:xfrm>
          </p:grpSpPr>
          <p:sp>
            <p:nvSpPr>
              <p:cNvPr id="2399" name="Google Shape;2399;p39"/>
              <p:cNvSpPr/>
              <p:nvPr/>
            </p:nvSpPr>
            <p:spPr>
              <a:xfrm>
                <a:off x="616"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400" name="Google Shape;2400;p39"/>
              <p:cNvSpPr/>
              <p:nvPr/>
            </p:nvSpPr>
            <p:spPr>
              <a:xfrm>
                <a:off x="630" y="2580"/>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2401" name="Google Shape;2401;p39"/>
            <p:cNvSpPr/>
            <p:nvPr/>
          </p:nvSpPr>
          <p:spPr>
            <a:xfrm>
              <a:off x="4223" y="1021"/>
              <a:ext cx="600"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2402" name="Google Shape;2402;p39"/>
            <p:cNvGrpSpPr/>
            <p:nvPr/>
          </p:nvGrpSpPr>
          <p:grpSpPr>
            <a:xfrm>
              <a:off x="4745" y="996"/>
              <a:ext cx="583" cy="133"/>
              <a:chOff x="612" y="2570"/>
              <a:chExt cx="728" cy="138"/>
            </a:xfrm>
          </p:grpSpPr>
          <p:sp>
            <p:nvSpPr>
              <p:cNvPr id="2403" name="Google Shape;2403;p39"/>
              <p:cNvSpPr/>
              <p:nvPr/>
            </p:nvSpPr>
            <p:spPr>
              <a:xfrm>
                <a:off x="612" y="2570"/>
                <a:ext cx="728"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404" name="Google Shape;2404;p39"/>
              <p:cNvSpPr/>
              <p:nvPr/>
            </p:nvSpPr>
            <p:spPr>
              <a:xfrm>
                <a:off x="625" y="2585"/>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2405" name="Google Shape;2405;p39"/>
            <p:cNvSpPr/>
            <p:nvPr/>
          </p:nvSpPr>
          <p:spPr>
            <a:xfrm>
              <a:off x="4217" y="1356"/>
              <a:ext cx="594"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406" name="Google Shape;2406;p39"/>
            <p:cNvSpPr/>
            <p:nvPr/>
          </p:nvSpPr>
          <p:spPr>
            <a:xfrm>
              <a:off x="4228" y="1657"/>
              <a:ext cx="594"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2407" name="Google Shape;2407;p39"/>
            <p:cNvGrpSpPr/>
            <p:nvPr/>
          </p:nvGrpSpPr>
          <p:grpSpPr>
            <a:xfrm>
              <a:off x="4734" y="1627"/>
              <a:ext cx="584" cy="153"/>
              <a:chOff x="613" y="2568"/>
              <a:chExt cx="727" cy="141"/>
            </a:xfrm>
          </p:grpSpPr>
          <p:sp>
            <p:nvSpPr>
              <p:cNvPr id="2408" name="Google Shape;2408;p39"/>
              <p:cNvSpPr/>
              <p:nvPr/>
            </p:nvSpPr>
            <p:spPr>
              <a:xfrm>
                <a:off x="613" y="2568"/>
                <a:ext cx="727"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409" name="Google Shape;2409;p39"/>
              <p:cNvSpPr/>
              <p:nvPr/>
            </p:nvSpPr>
            <p:spPr>
              <a:xfrm>
                <a:off x="627" y="2586"/>
                <a:ext cx="692"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2410" name="Google Shape;2410;p3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2411" name="Google Shape;2411;p39"/>
            <p:cNvGrpSpPr/>
            <p:nvPr/>
          </p:nvGrpSpPr>
          <p:grpSpPr>
            <a:xfrm>
              <a:off x="4740" y="1326"/>
              <a:ext cx="584" cy="138"/>
              <a:chOff x="615" y="2567"/>
              <a:chExt cx="727" cy="138"/>
            </a:xfrm>
          </p:grpSpPr>
          <p:sp>
            <p:nvSpPr>
              <p:cNvPr id="2412" name="Google Shape;2412;p39"/>
              <p:cNvSpPr/>
              <p:nvPr/>
            </p:nvSpPr>
            <p:spPr>
              <a:xfrm>
                <a:off x="615" y="2567"/>
                <a:ext cx="727"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413" name="Google Shape;2413;p39"/>
              <p:cNvSpPr/>
              <p:nvPr/>
            </p:nvSpPr>
            <p:spPr>
              <a:xfrm>
                <a:off x="629" y="2582"/>
                <a:ext cx="692"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2414" name="Google Shape;2414;p39"/>
            <p:cNvSpPr/>
            <p:nvPr/>
          </p:nvSpPr>
          <p:spPr>
            <a:xfrm>
              <a:off x="5251" y="429"/>
              <a:ext cx="66"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415" name="Google Shape;2415;p3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416" name="Google Shape;2416;p3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417" name="Google Shape;2417;p39"/>
            <p:cNvSpPr/>
            <p:nvPr/>
          </p:nvSpPr>
          <p:spPr>
            <a:xfrm>
              <a:off x="5515" y="2613"/>
              <a:ext cx="50"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418" name="Google Shape;2418;p3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419" name="Google Shape;2419;p39"/>
            <p:cNvSpPr/>
            <p:nvPr/>
          </p:nvSpPr>
          <p:spPr>
            <a:xfrm>
              <a:off x="4140" y="2677"/>
              <a:ext cx="1199"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420" name="Google Shape;2420;p39"/>
            <p:cNvSpPr/>
            <p:nvPr/>
          </p:nvSpPr>
          <p:spPr>
            <a:xfrm>
              <a:off x="4206" y="2712"/>
              <a:ext cx="1067" cy="84"/>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421" name="Google Shape;2421;p39"/>
            <p:cNvSpPr/>
            <p:nvPr/>
          </p:nvSpPr>
          <p:spPr>
            <a:xfrm>
              <a:off x="4311" y="2381"/>
              <a:ext cx="154"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422" name="Google Shape;2422;p39"/>
            <p:cNvSpPr/>
            <p:nvPr/>
          </p:nvSpPr>
          <p:spPr>
            <a:xfrm>
              <a:off x="4487" y="2386"/>
              <a:ext cx="160"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0000"/>
                </a:solidFill>
                <a:latin typeface="Calibri"/>
                <a:ea typeface="Calibri"/>
                <a:cs typeface="Calibri"/>
                <a:sym typeface="Calibri"/>
              </a:endParaRPr>
            </a:p>
          </p:txBody>
        </p:sp>
        <p:sp>
          <p:nvSpPr>
            <p:cNvPr id="2423" name="Google Shape;2423;p39"/>
            <p:cNvSpPr/>
            <p:nvPr/>
          </p:nvSpPr>
          <p:spPr>
            <a:xfrm>
              <a:off x="4663" y="2381"/>
              <a:ext cx="160"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2424" name="Google Shape;2424;p39"/>
            <p:cNvSpPr/>
            <p:nvPr/>
          </p:nvSpPr>
          <p:spPr>
            <a:xfrm>
              <a:off x="5064" y="1834"/>
              <a:ext cx="83" cy="764"/>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2425" name="Google Shape;2425;p39"/>
          <p:cNvGrpSpPr/>
          <p:nvPr/>
        </p:nvGrpSpPr>
        <p:grpSpPr>
          <a:xfrm>
            <a:off x="2734523" y="1369488"/>
            <a:ext cx="667783" cy="586047"/>
            <a:chOff x="-44" y="1473"/>
            <a:chExt cx="981" cy="1105"/>
          </a:xfrm>
        </p:grpSpPr>
        <p:pic>
          <p:nvPicPr>
            <p:cNvPr descr="desktop_computer_stylized_medium" id="2426" name="Google Shape;2426;p3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427" name="Google Shape;2427;p3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cxnSp>
        <p:nvCxnSpPr>
          <p:cNvPr id="2428" name="Google Shape;2428;p39"/>
          <p:cNvCxnSpPr/>
          <p:nvPr/>
        </p:nvCxnSpPr>
        <p:spPr>
          <a:xfrm flipH="1">
            <a:off x="2999897" y="1993139"/>
            <a:ext cx="510" cy="4465805"/>
          </a:xfrm>
          <a:prstGeom prst="straightConnector1">
            <a:avLst/>
          </a:prstGeom>
          <a:noFill/>
          <a:ln cap="flat" cmpd="sng" w="9525">
            <a:solidFill>
              <a:srgbClr val="FF0000"/>
            </a:solidFill>
            <a:prstDash val="dot"/>
            <a:round/>
            <a:headEnd len="med" w="med" type="none"/>
            <a:tailEnd len="med" w="med" type="triangle"/>
          </a:ln>
        </p:spPr>
      </p:cxnSp>
      <p:sp>
        <p:nvSpPr>
          <p:cNvPr id="2429" name="Google Shape;2429;p39"/>
          <p:cNvSpPr txBox="1"/>
          <p:nvPr/>
        </p:nvSpPr>
        <p:spPr>
          <a:xfrm>
            <a:off x="2746707" y="6459827"/>
            <a:ext cx="519694" cy="276999"/>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A5A5A5"/>
              </a:buClr>
              <a:buSzPts val="1400"/>
              <a:buFont typeface="Calibri"/>
              <a:buNone/>
            </a:pPr>
            <a:r>
              <a:rPr lang="en-US" sz="1400">
                <a:solidFill>
                  <a:srgbClr val="A5A5A5"/>
                </a:solidFill>
                <a:latin typeface="Calibri"/>
                <a:ea typeface="Calibri"/>
                <a:cs typeface="Calibri"/>
                <a:sym typeface="Calibri"/>
              </a:rPr>
              <a:t>time</a:t>
            </a:r>
            <a:endParaRPr/>
          </a:p>
        </p:txBody>
      </p:sp>
      <p:cxnSp>
        <p:nvCxnSpPr>
          <p:cNvPr id="2430" name="Google Shape;2430;p39"/>
          <p:cNvCxnSpPr/>
          <p:nvPr/>
        </p:nvCxnSpPr>
        <p:spPr>
          <a:xfrm flipH="1">
            <a:off x="6867352" y="2001551"/>
            <a:ext cx="510" cy="4465805"/>
          </a:xfrm>
          <a:prstGeom prst="straightConnector1">
            <a:avLst/>
          </a:prstGeom>
          <a:noFill/>
          <a:ln cap="flat" cmpd="sng" w="9525">
            <a:solidFill>
              <a:srgbClr val="FF0000"/>
            </a:solidFill>
            <a:prstDash val="dot"/>
            <a:round/>
            <a:headEnd len="med" w="med" type="none"/>
            <a:tailEnd len="med" w="med" type="triangle"/>
          </a:ln>
        </p:spPr>
      </p:cxnSp>
      <p:sp>
        <p:nvSpPr>
          <p:cNvPr id="2431" name="Google Shape;2431;p39"/>
          <p:cNvSpPr txBox="1"/>
          <p:nvPr/>
        </p:nvSpPr>
        <p:spPr>
          <a:xfrm>
            <a:off x="6614162" y="6468239"/>
            <a:ext cx="519694" cy="276999"/>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A5A5A5"/>
              </a:buClr>
              <a:buSzPts val="1400"/>
              <a:buFont typeface="Calibri"/>
              <a:buNone/>
            </a:pPr>
            <a:r>
              <a:rPr lang="en-US" sz="1400">
                <a:solidFill>
                  <a:srgbClr val="A5A5A5"/>
                </a:solidFill>
                <a:latin typeface="Calibri"/>
                <a:ea typeface="Calibri"/>
                <a:cs typeface="Calibri"/>
                <a:sym typeface="Calibri"/>
              </a:rPr>
              <a:t>time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35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367"/>
                                        </p:tgtEl>
                                        <p:attrNameLst>
                                          <p:attrName>style.visibility</p:attrName>
                                        </p:attrNameLst>
                                      </p:cBhvr>
                                      <p:to>
                                        <p:strVal val="visible"/>
                                      </p:to>
                                    </p:set>
                                    <p:animEffect filter="fade" transition="in">
                                      <p:cBhvr>
                                        <p:cTn dur="2000"/>
                                        <p:tgtEl>
                                          <p:spTgt spid="23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5"/>
                                        </p:tgtEl>
                                        <p:attrNameLst>
                                          <p:attrName>style.visibility</p:attrName>
                                        </p:attrNameLst>
                                      </p:cBhvr>
                                      <p:to>
                                        <p:strVal val="visible"/>
                                      </p:to>
                                    </p:set>
                                    <p:animEffect filter="fade" transition="in">
                                      <p:cBhvr>
                                        <p:cTn dur="3000"/>
                                        <p:tgtEl>
                                          <p:spTgt spid="2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6"/>
                                        </p:tgtEl>
                                        <p:attrNameLst>
                                          <p:attrName>style.visibility</p:attrName>
                                        </p:attrNameLst>
                                      </p:cBhvr>
                                      <p:to>
                                        <p:strVal val="visible"/>
                                      </p:to>
                                    </p:set>
                                    <p:animEffect filter="fade" transition="in">
                                      <p:cBhvr>
                                        <p:cTn dur="2000"/>
                                        <p:tgtEl>
                                          <p:spTgt spid="235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46"/>
                                        </p:tgtEl>
                                        <p:attrNameLst>
                                          <p:attrName>style.visibility</p:attrName>
                                        </p:attrNameLst>
                                      </p:cBhvr>
                                      <p:to>
                                        <p:strVal val="visible"/>
                                      </p:to>
                                    </p:set>
                                    <p:animEffect filter="fade" transition="in">
                                      <p:cBhvr>
                                        <p:cTn dur="1000"/>
                                        <p:tgtEl>
                                          <p:spTgt spid="2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1"/>
                                        </p:tgtEl>
                                        <p:attrNameLst>
                                          <p:attrName>style.visibility</p:attrName>
                                        </p:attrNameLst>
                                      </p:cBhvr>
                                      <p:to>
                                        <p:strVal val="visible"/>
                                      </p:to>
                                    </p:set>
                                    <p:animEffect filter="fade" transition="in">
                                      <p:cBhvr>
                                        <p:cTn dur="2000"/>
                                        <p:tgtEl>
                                          <p:spTgt spid="238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51"/>
                                        </p:tgtEl>
                                        <p:attrNameLst>
                                          <p:attrName>style.visibility</p:attrName>
                                        </p:attrNameLst>
                                      </p:cBhvr>
                                      <p:to>
                                        <p:strVal val="visible"/>
                                      </p:to>
                                    </p:set>
                                    <p:animEffect filter="fade" transition="in">
                                      <p:cBhvr>
                                        <p:cTn dur="2000"/>
                                        <p:tgtEl>
                                          <p:spTgt spid="2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6" name="Shape 2436"/>
        <p:cNvGrpSpPr/>
        <p:nvPr/>
      </p:nvGrpSpPr>
      <p:grpSpPr>
        <a:xfrm>
          <a:off x="0" y="0"/>
          <a:ext cx="0" cy="0"/>
          <a:chOff x="0" y="0"/>
          <a:chExt cx="0" cy="0"/>
        </a:xfrm>
      </p:grpSpPr>
      <p:sp>
        <p:nvSpPr>
          <p:cNvPr id="2437" name="Google Shape;2437;p40"/>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Application Layer</a:t>
            </a:r>
            <a:endParaRPr sz="1200">
              <a:solidFill>
                <a:schemeClr val="dk1"/>
              </a:solidFill>
              <a:latin typeface="Tahoma"/>
              <a:ea typeface="Tahoma"/>
              <a:cs typeface="Tahoma"/>
              <a:sym typeface="Tahoma"/>
            </a:endParaRPr>
          </a:p>
        </p:txBody>
      </p:sp>
      <p:sp>
        <p:nvSpPr>
          <p:cNvPr id="2438" name="Google Shape;2438;p40"/>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2439" name="Google Shape;2439;p40"/>
          <p:cNvPicPr preferRelativeResize="0"/>
          <p:nvPr/>
        </p:nvPicPr>
        <p:blipFill rotWithShape="1">
          <a:blip r:embed="rId3">
            <a:alphaModFix/>
          </a:blip>
          <a:srcRect b="0" l="0" r="0" t="0"/>
          <a:stretch/>
        </p:blipFill>
        <p:spPr>
          <a:xfrm>
            <a:off x="2027238" y="788989"/>
            <a:ext cx="6399212" cy="173037"/>
          </a:xfrm>
          <a:prstGeom prst="rect">
            <a:avLst/>
          </a:prstGeom>
          <a:noFill/>
          <a:ln>
            <a:noFill/>
          </a:ln>
        </p:spPr>
      </p:pic>
      <p:sp>
        <p:nvSpPr>
          <p:cNvPr id="2440" name="Google Shape;2440;p40"/>
          <p:cNvSpPr txBox="1"/>
          <p:nvPr>
            <p:ph type="title"/>
          </p:nvPr>
        </p:nvSpPr>
        <p:spPr>
          <a:xfrm>
            <a:off x="1955800" y="153988"/>
            <a:ext cx="7772400" cy="7731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600"/>
              <a:buFont typeface="Gill Sans"/>
              <a:buNone/>
            </a:pPr>
            <a:r>
              <a:rPr lang="en-US" sz="3600">
                <a:latin typeface="Gill Sans"/>
                <a:ea typeface="Gill Sans"/>
                <a:cs typeface="Gill Sans"/>
                <a:sym typeface="Gill Sans"/>
              </a:rPr>
              <a:t>Keeping User State with “cookies”</a:t>
            </a:r>
            <a:endParaRPr>
              <a:latin typeface="Gill Sans"/>
              <a:ea typeface="Gill Sans"/>
              <a:cs typeface="Gill Sans"/>
              <a:sym typeface="Gill Sans"/>
            </a:endParaRPr>
          </a:p>
        </p:txBody>
      </p:sp>
      <p:pic>
        <p:nvPicPr>
          <p:cNvPr id="2441" name="Google Shape;2441;p40"/>
          <p:cNvPicPr preferRelativeResize="0"/>
          <p:nvPr/>
        </p:nvPicPr>
        <p:blipFill rotWithShape="1">
          <a:blip r:embed="rId4">
            <a:alphaModFix/>
          </a:blip>
          <a:srcRect b="0" l="0" r="0" t="0"/>
          <a:stretch/>
        </p:blipFill>
        <p:spPr>
          <a:xfrm>
            <a:off x="2430654" y="927196"/>
            <a:ext cx="6399212" cy="5575204"/>
          </a:xfrm>
          <a:prstGeom prst="rect">
            <a:avLst/>
          </a:prstGeom>
          <a:noFill/>
          <a:ln>
            <a:noFill/>
          </a:ln>
        </p:spPr>
      </p:pic>
      <p:pic>
        <p:nvPicPr>
          <p:cNvPr descr="Puzzle with solid fill" id="2442" name="Google Shape;2442;p40"/>
          <p:cNvPicPr preferRelativeResize="0"/>
          <p:nvPr/>
        </p:nvPicPr>
        <p:blipFill rotWithShape="1">
          <a:blip r:embed="rId5">
            <a:alphaModFix/>
          </a:blip>
          <a:srcRect b="0" l="0" r="0" t="0"/>
          <a:stretch/>
        </p:blipFill>
        <p:spPr>
          <a:xfrm>
            <a:off x="9328150" y="423864"/>
            <a:ext cx="579438" cy="57943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7" name="Shape 2447"/>
        <p:cNvGrpSpPr/>
        <p:nvPr/>
      </p:nvGrpSpPr>
      <p:grpSpPr>
        <a:xfrm>
          <a:off x="0" y="0"/>
          <a:ext cx="0" cy="0"/>
          <a:chOff x="0" y="0"/>
          <a:chExt cx="0" cy="0"/>
        </a:xfrm>
      </p:grpSpPr>
      <p:sp>
        <p:nvSpPr>
          <p:cNvPr id="2448" name="Google Shape;2448;p41"/>
          <p:cNvSpPr txBox="1"/>
          <p:nvPr>
            <p:ph type="title"/>
          </p:nvPr>
        </p:nvSpPr>
        <p:spPr>
          <a:xfrm>
            <a:off x="798691" y="37987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HTTP cookies: comments</a:t>
            </a:r>
            <a:endParaRPr sz="4400"/>
          </a:p>
        </p:txBody>
      </p:sp>
      <p:sp>
        <p:nvSpPr>
          <p:cNvPr id="2449" name="Google Shape;2449;p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2450" name="Google Shape;2450;p41"/>
          <p:cNvSpPr txBox="1"/>
          <p:nvPr/>
        </p:nvSpPr>
        <p:spPr>
          <a:xfrm>
            <a:off x="648049" y="1556443"/>
            <a:ext cx="6034668" cy="26416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75000"/>
              </a:lnSpc>
              <a:spcBef>
                <a:spcPts val="0"/>
              </a:spcBef>
              <a:spcAft>
                <a:spcPts val="0"/>
              </a:spcAft>
              <a:buClr>
                <a:srgbClr val="0000A3"/>
              </a:buClr>
              <a:buSzPts val="2800"/>
              <a:buFont typeface="Noto Sans Symbols"/>
              <a:buNone/>
            </a:pPr>
            <a:r>
              <a:rPr i="1" lang="en-US" sz="2800">
                <a:solidFill>
                  <a:srgbClr val="CC0000"/>
                </a:solidFill>
                <a:latin typeface="Calibri"/>
                <a:ea typeface="Calibri"/>
                <a:cs typeface="Calibri"/>
                <a:sym typeface="Calibri"/>
              </a:rPr>
              <a:t>What cookies can be used for:</a:t>
            </a:r>
            <a:endParaRPr/>
          </a:p>
          <a:p>
            <a:pPr indent="-222250" lvl="0" marL="352425" marR="0" rtl="0" algn="l">
              <a:lnSpc>
                <a:spcPct val="75000"/>
              </a:lnSpc>
              <a:spcBef>
                <a:spcPts val="10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authorization</a:t>
            </a:r>
            <a:endParaRPr/>
          </a:p>
          <a:p>
            <a:pPr indent="-222250" lvl="0" marL="352425" marR="0" rtl="0" algn="l">
              <a:lnSpc>
                <a:spcPct val="75000"/>
              </a:lnSpc>
              <a:spcBef>
                <a:spcPts val="10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shopping carts</a:t>
            </a:r>
            <a:endParaRPr/>
          </a:p>
          <a:p>
            <a:pPr indent="-222250" lvl="0" marL="352425" marR="0" rtl="0" algn="l">
              <a:lnSpc>
                <a:spcPct val="75000"/>
              </a:lnSpc>
              <a:spcBef>
                <a:spcPts val="10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recommendations</a:t>
            </a:r>
            <a:endParaRPr/>
          </a:p>
          <a:p>
            <a:pPr indent="-222250" lvl="0" marL="352425" marR="0" rtl="0" algn="l">
              <a:lnSpc>
                <a:spcPct val="75000"/>
              </a:lnSpc>
              <a:spcBef>
                <a:spcPts val="10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user session state (Web e-mail)</a:t>
            </a:r>
            <a:endParaRPr/>
          </a:p>
        </p:txBody>
      </p:sp>
      <p:sp>
        <p:nvSpPr>
          <p:cNvPr id="2451" name="Google Shape;2451;p41"/>
          <p:cNvSpPr/>
          <p:nvPr/>
        </p:nvSpPr>
        <p:spPr>
          <a:xfrm>
            <a:off x="7504291" y="1568189"/>
            <a:ext cx="3810000" cy="3553646"/>
          </a:xfrm>
          <a:prstGeom prst="rect">
            <a:avLst/>
          </a:prstGeom>
          <a:noFill/>
          <a:ln cap="flat" cmpd="sng" w="19050">
            <a:solidFill>
              <a:srgbClr val="000099"/>
            </a:solidFill>
            <a:prstDash val="solid"/>
            <a:miter lim="800000"/>
            <a:headEnd len="sm" w="sm" type="none"/>
            <a:tailEnd len="sm" w="sm" type="none"/>
          </a:ln>
        </p:spPr>
        <p:txBody>
          <a:bodyPr anchorCtr="0" anchor="t" bIns="45700" lIns="91425" spcFirstLastPara="1" rIns="91425" wrap="square" tIns="45700">
            <a:noAutofit/>
          </a:bodyPr>
          <a:lstStyle/>
          <a:p>
            <a:pPr indent="-342900" lvl="0" marL="342900" marR="0" rtl="0" algn="l">
              <a:spcBef>
                <a:spcPts val="0"/>
              </a:spcBef>
              <a:spcAft>
                <a:spcPts val="0"/>
              </a:spcAft>
              <a:buNone/>
            </a:pPr>
            <a:r>
              <a:rPr i="1" lang="en-US" sz="2400">
                <a:solidFill>
                  <a:srgbClr val="CC0000"/>
                </a:solidFill>
                <a:latin typeface="Calibri"/>
                <a:ea typeface="Calibri"/>
                <a:cs typeface="Calibri"/>
                <a:sym typeface="Calibri"/>
              </a:rPr>
              <a:t>cookies and privacy:</a:t>
            </a:r>
            <a:endParaRPr/>
          </a:p>
          <a:p>
            <a:pPr indent="-342900" lvl="0" marL="342900" marR="0" rtl="0" algn="l">
              <a:lnSpc>
                <a:spcPct val="90000"/>
              </a:lnSpc>
              <a:spcBef>
                <a:spcPts val="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cookies permit sites to </a:t>
            </a:r>
            <a:r>
              <a:rPr i="1" lang="en-US" sz="2400">
                <a:solidFill>
                  <a:schemeClr val="dk1"/>
                </a:solidFill>
                <a:latin typeface="Calibri"/>
                <a:ea typeface="Calibri"/>
                <a:cs typeface="Calibri"/>
                <a:sym typeface="Calibri"/>
              </a:rPr>
              <a:t>learn</a:t>
            </a:r>
            <a:r>
              <a:rPr lang="en-US" sz="2400">
                <a:solidFill>
                  <a:schemeClr val="dk1"/>
                </a:solidFill>
                <a:latin typeface="Calibri"/>
                <a:ea typeface="Calibri"/>
                <a:cs typeface="Calibri"/>
                <a:sym typeface="Calibri"/>
              </a:rPr>
              <a:t> a lot about you on their site.</a:t>
            </a:r>
            <a:endParaRPr/>
          </a:p>
          <a:p>
            <a:pPr indent="-342900" lvl="0" marL="342900" marR="0" rtl="0" algn="l">
              <a:lnSpc>
                <a:spcPct val="90000"/>
              </a:lnSpc>
              <a:spcBef>
                <a:spcPts val="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third party persistent cookies (tracking cookies) allow common identity (cookie value) to be tracked across multiple web sites</a:t>
            </a:r>
            <a:endParaRPr/>
          </a:p>
        </p:txBody>
      </p:sp>
      <p:sp>
        <p:nvSpPr>
          <p:cNvPr id="2452" name="Google Shape;2452;p41"/>
          <p:cNvSpPr txBox="1"/>
          <p:nvPr/>
        </p:nvSpPr>
        <p:spPr>
          <a:xfrm>
            <a:off x="10149568" y="1325611"/>
            <a:ext cx="83869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2400"/>
              <a:buFont typeface="Calibri"/>
              <a:buNone/>
            </a:pPr>
            <a:r>
              <a:rPr lang="en-US" sz="2400">
                <a:solidFill>
                  <a:srgbClr val="000099"/>
                </a:solidFill>
                <a:latin typeface="Calibri"/>
                <a:ea typeface="Calibri"/>
                <a:cs typeface="Calibri"/>
                <a:sym typeface="Calibri"/>
              </a:rPr>
              <a:t>aside</a:t>
            </a:r>
            <a:endParaRPr/>
          </a:p>
        </p:txBody>
      </p:sp>
      <p:sp>
        <p:nvSpPr>
          <p:cNvPr id="2453" name="Google Shape;2453;p41"/>
          <p:cNvSpPr/>
          <p:nvPr/>
        </p:nvSpPr>
        <p:spPr>
          <a:xfrm>
            <a:off x="721562" y="3980757"/>
            <a:ext cx="6689454" cy="2641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i="1" lang="en-US" sz="2800">
                <a:solidFill>
                  <a:srgbClr val="CC0000"/>
                </a:solidFill>
                <a:latin typeface="Calibri"/>
                <a:ea typeface="Calibri"/>
                <a:cs typeface="Calibri"/>
                <a:sym typeface="Calibri"/>
              </a:rPr>
              <a:t>Challenge: How to keep state:</a:t>
            </a:r>
            <a:endParaRPr/>
          </a:p>
          <a:p>
            <a:pPr indent="-342900" lvl="0" marL="342900" marR="0" rtl="0" algn="l">
              <a:lnSpc>
                <a:spcPct val="90000"/>
              </a:lnSpc>
              <a:spcBef>
                <a:spcPts val="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protocol endpoints: maintain state at sender/receiver over multiple transactions</a:t>
            </a:r>
            <a:endParaRPr/>
          </a:p>
          <a:p>
            <a:pPr indent="-342900" lvl="0" marL="342900" marR="0" rtl="0" algn="l">
              <a:lnSpc>
                <a:spcPct val="90000"/>
              </a:lnSpc>
              <a:spcBef>
                <a:spcPts val="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cookies: HTTP messages carry state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8" name="Shape 2458"/>
        <p:cNvGrpSpPr/>
        <p:nvPr/>
      </p:nvGrpSpPr>
      <p:grpSpPr>
        <a:xfrm>
          <a:off x="0" y="0"/>
          <a:ext cx="0" cy="0"/>
          <a:chOff x="0" y="0"/>
          <a:chExt cx="0" cy="0"/>
        </a:xfrm>
      </p:grpSpPr>
      <p:sp>
        <p:nvSpPr>
          <p:cNvPr id="2459" name="Google Shape;2459;p42"/>
          <p:cNvSpPr txBox="1"/>
          <p:nvPr>
            <p:ph type="title"/>
          </p:nvPr>
        </p:nvSpPr>
        <p:spPr>
          <a:xfrm>
            <a:off x="798691" y="37987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Web caches (proxy servers)</a:t>
            </a:r>
            <a:endParaRPr sz="4400"/>
          </a:p>
        </p:txBody>
      </p:sp>
      <p:sp>
        <p:nvSpPr>
          <p:cNvPr id="2460" name="Google Shape;2460;p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grpSp>
        <p:nvGrpSpPr>
          <p:cNvPr id="2461" name="Google Shape;2461;p42"/>
          <p:cNvGrpSpPr/>
          <p:nvPr/>
        </p:nvGrpSpPr>
        <p:grpSpPr>
          <a:xfrm>
            <a:off x="6272213" y="2445088"/>
            <a:ext cx="687387" cy="763588"/>
            <a:chOff x="-44" y="1473"/>
            <a:chExt cx="981" cy="1105"/>
          </a:xfrm>
        </p:grpSpPr>
        <p:pic>
          <p:nvPicPr>
            <p:cNvPr descr="desktop_computer_stylized_medium" id="2462" name="Google Shape;2462;p4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463" name="Google Shape;2463;p4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64" name="Google Shape;2464;p42"/>
          <p:cNvGrpSpPr/>
          <p:nvPr/>
        </p:nvGrpSpPr>
        <p:grpSpPr>
          <a:xfrm>
            <a:off x="6337300" y="4318338"/>
            <a:ext cx="687388" cy="763588"/>
            <a:chOff x="-44" y="1473"/>
            <a:chExt cx="981" cy="1105"/>
          </a:xfrm>
        </p:grpSpPr>
        <p:pic>
          <p:nvPicPr>
            <p:cNvPr descr="desktop_computer_stylized_medium" id="2465" name="Google Shape;2465;p4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466" name="Google Shape;2466;p4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67" name="Google Shape;2467;p42"/>
          <p:cNvGrpSpPr/>
          <p:nvPr/>
        </p:nvGrpSpPr>
        <p:grpSpPr>
          <a:xfrm>
            <a:off x="8475663" y="3207088"/>
            <a:ext cx="400050" cy="715963"/>
            <a:chOff x="4140" y="429"/>
            <a:chExt cx="1425" cy="2396"/>
          </a:xfrm>
        </p:grpSpPr>
        <p:sp>
          <p:nvSpPr>
            <p:cNvPr id="2468" name="Google Shape;2468;p4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9" name="Google Shape;2469;p42"/>
            <p:cNvSpPr/>
            <p:nvPr/>
          </p:nvSpPr>
          <p:spPr>
            <a:xfrm>
              <a:off x="4208"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70" name="Google Shape;2470;p4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1" name="Google Shape;2471;p4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2" name="Google Shape;2472;p42"/>
            <p:cNvSpPr/>
            <p:nvPr/>
          </p:nvSpPr>
          <p:spPr>
            <a:xfrm>
              <a:off x="4214" y="695"/>
              <a:ext cx="594"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2473" name="Google Shape;2473;p42"/>
            <p:cNvGrpSpPr/>
            <p:nvPr/>
          </p:nvGrpSpPr>
          <p:grpSpPr>
            <a:xfrm>
              <a:off x="4751" y="668"/>
              <a:ext cx="577" cy="144"/>
              <a:chOff x="616" y="2568"/>
              <a:chExt cx="720" cy="138"/>
            </a:xfrm>
          </p:grpSpPr>
          <p:sp>
            <p:nvSpPr>
              <p:cNvPr id="2474" name="Google Shape;2474;p42"/>
              <p:cNvSpPr/>
              <p:nvPr/>
            </p:nvSpPr>
            <p:spPr>
              <a:xfrm>
                <a:off x="616" y="2568"/>
                <a:ext cx="720"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75" name="Google Shape;2475;p42"/>
              <p:cNvSpPr/>
              <p:nvPr/>
            </p:nvSpPr>
            <p:spPr>
              <a:xfrm>
                <a:off x="630" y="2583"/>
                <a:ext cx="670"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476" name="Google Shape;2476;p42"/>
            <p:cNvSpPr/>
            <p:nvPr/>
          </p:nvSpPr>
          <p:spPr>
            <a:xfrm>
              <a:off x="4225" y="1019"/>
              <a:ext cx="594"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2477" name="Google Shape;2477;p42"/>
            <p:cNvGrpSpPr/>
            <p:nvPr/>
          </p:nvGrpSpPr>
          <p:grpSpPr>
            <a:xfrm>
              <a:off x="4745" y="992"/>
              <a:ext cx="583" cy="138"/>
              <a:chOff x="612" y="2566"/>
              <a:chExt cx="727" cy="143"/>
            </a:xfrm>
          </p:grpSpPr>
          <p:sp>
            <p:nvSpPr>
              <p:cNvPr id="2478" name="Google Shape;2478;p42"/>
              <p:cNvSpPr/>
              <p:nvPr/>
            </p:nvSpPr>
            <p:spPr>
              <a:xfrm>
                <a:off x="612" y="2566"/>
                <a:ext cx="727"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79" name="Google Shape;2479;p42"/>
              <p:cNvSpPr/>
              <p:nvPr/>
            </p:nvSpPr>
            <p:spPr>
              <a:xfrm>
                <a:off x="626" y="2583"/>
                <a:ext cx="692"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480" name="Google Shape;2480;p42"/>
            <p:cNvSpPr/>
            <p:nvPr/>
          </p:nvSpPr>
          <p:spPr>
            <a:xfrm>
              <a:off x="4219" y="1359"/>
              <a:ext cx="594"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81" name="Google Shape;2481;p42"/>
            <p:cNvSpPr/>
            <p:nvPr/>
          </p:nvSpPr>
          <p:spPr>
            <a:xfrm>
              <a:off x="4230" y="1656"/>
              <a:ext cx="594"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2482" name="Google Shape;2482;p42"/>
            <p:cNvGrpSpPr/>
            <p:nvPr/>
          </p:nvGrpSpPr>
          <p:grpSpPr>
            <a:xfrm>
              <a:off x="4733" y="1629"/>
              <a:ext cx="583" cy="149"/>
              <a:chOff x="612" y="2570"/>
              <a:chExt cx="726" cy="137"/>
            </a:xfrm>
          </p:grpSpPr>
          <p:sp>
            <p:nvSpPr>
              <p:cNvPr id="2483" name="Google Shape;2483;p42"/>
              <p:cNvSpPr/>
              <p:nvPr/>
            </p:nvSpPr>
            <p:spPr>
              <a:xfrm>
                <a:off x="612" y="2570"/>
                <a:ext cx="726"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84" name="Google Shape;2484;p42"/>
              <p:cNvSpPr/>
              <p:nvPr/>
            </p:nvSpPr>
            <p:spPr>
              <a:xfrm>
                <a:off x="627"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485" name="Google Shape;2485;p4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86" name="Google Shape;2486;p42"/>
            <p:cNvGrpSpPr/>
            <p:nvPr/>
          </p:nvGrpSpPr>
          <p:grpSpPr>
            <a:xfrm>
              <a:off x="4740" y="1327"/>
              <a:ext cx="583" cy="138"/>
              <a:chOff x="615" y="2568"/>
              <a:chExt cx="726" cy="138"/>
            </a:xfrm>
          </p:grpSpPr>
          <p:sp>
            <p:nvSpPr>
              <p:cNvPr id="2487" name="Google Shape;2487;p42"/>
              <p:cNvSpPr/>
              <p:nvPr/>
            </p:nvSpPr>
            <p:spPr>
              <a:xfrm>
                <a:off x="615" y="2568"/>
                <a:ext cx="726"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88" name="Google Shape;2488;p42"/>
              <p:cNvSpPr/>
              <p:nvPr/>
            </p:nvSpPr>
            <p:spPr>
              <a:xfrm>
                <a:off x="629" y="2584"/>
                <a:ext cx="690"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489" name="Google Shape;2489;p42"/>
            <p:cNvSpPr/>
            <p:nvPr/>
          </p:nvSpPr>
          <p:spPr>
            <a:xfrm>
              <a:off x="5248"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90" name="Google Shape;2490;p4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1" name="Google Shape;2491;p4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2" name="Google Shape;2492;p42"/>
            <p:cNvSpPr/>
            <p:nvPr/>
          </p:nvSpPr>
          <p:spPr>
            <a:xfrm>
              <a:off x="5520" y="2612"/>
              <a:ext cx="45"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93" name="Google Shape;2493;p4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4" name="Google Shape;2494;p42"/>
            <p:cNvSpPr/>
            <p:nvPr/>
          </p:nvSpPr>
          <p:spPr>
            <a:xfrm>
              <a:off x="4140" y="2676"/>
              <a:ext cx="1199"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95" name="Google Shape;2495;p42"/>
            <p:cNvSpPr/>
            <p:nvPr/>
          </p:nvSpPr>
          <p:spPr>
            <a:xfrm>
              <a:off x="4208" y="2713"/>
              <a:ext cx="1069"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96" name="Google Shape;2496;p42"/>
            <p:cNvSpPr/>
            <p:nvPr/>
          </p:nvSpPr>
          <p:spPr>
            <a:xfrm>
              <a:off x="4310" y="2384"/>
              <a:ext cx="158"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97" name="Google Shape;2497;p42"/>
            <p:cNvSpPr/>
            <p:nvPr/>
          </p:nvSpPr>
          <p:spPr>
            <a:xfrm>
              <a:off x="4485" y="2384"/>
              <a:ext cx="158"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Calibri"/>
                <a:ea typeface="Calibri"/>
                <a:cs typeface="Calibri"/>
                <a:sym typeface="Calibri"/>
              </a:endParaRPr>
            </a:p>
          </p:txBody>
        </p:sp>
        <p:sp>
          <p:nvSpPr>
            <p:cNvPr id="2498" name="Google Shape;2498;p42"/>
            <p:cNvSpPr/>
            <p:nvPr/>
          </p:nvSpPr>
          <p:spPr>
            <a:xfrm>
              <a:off x="4660" y="2379"/>
              <a:ext cx="158"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99" name="Google Shape;2499;p42"/>
            <p:cNvSpPr/>
            <p:nvPr/>
          </p:nvSpPr>
          <p:spPr>
            <a:xfrm>
              <a:off x="5062" y="1837"/>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2500" name="Google Shape;2500;p42"/>
          <p:cNvGrpSpPr/>
          <p:nvPr/>
        </p:nvGrpSpPr>
        <p:grpSpPr>
          <a:xfrm>
            <a:off x="10423525" y="2586376"/>
            <a:ext cx="433388" cy="715962"/>
            <a:chOff x="4140" y="429"/>
            <a:chExt cx="1425" cy="2396"/>
          </a:xfrm>
        </p:grpSpPr>
        <p:sp>
          <p:nvSpPr>
            <p:cNvPr id="2501" name="Google Shape;2501;p4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2" name="Google Shape;2502;p42"/>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03" name="Google Shape;2503;p4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4" name="Google Shape;2504;p4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5" name="Google Shape;2505;p42"/>
            <p:cNvSpPr/>
            <p:nvPr/>
          </p:nvSpPr>
          <p:spPr>
            <a:xfrm>
              <a:off x="4213" y="695"/>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2506" name="Google Shape;2506;p42"/>
            <p:cNvGrpSpPr/>
            <p:nvPr/>
          </p:nvGrpSpPr>
          <p:grpSpPr>
            <a:xfrm>
              <a:off x="4751" y="668"/>
              <a:ext cx="579" cy="144"/>
              <a:chOff x="616" y="2568"/>
              <a:chExt cx="723" cy="138"/>
            </a:xfrm>
          </p:grpSpPr>
          <p:sp>
            <p:nvSpPr>
              <p:cNvPr id="2507" name="Google Shape;2507;p42"/>
              <p:cNvSpPr/>
              <p:nvPr/>
            </p:nvSpPr>
            <p:spPr>
              <a:xfrm>
                <a:off x="616" y="2568"/>
                <a:ext cx="723"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08" name="Google Shape;2508;p42"/>
              <p:cNvSpPr/>
              <p:nvPr/>
            </p:nvSpPr>
            <p:spPr>
              <a:xfrm>
                <a:off x="629" y="2583"/>
                <a:ext cx="690"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509" name="Google Shape;2509;p42"/>
            <p:cNvSpPr/>
            <p:nvPr/>
          </p:nvSpPr>
          <p:spPr>
            <a:xfrm>
              <a:off x="4224" y="1019"/>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2510" name="Google Shape;2510;p42"/>
            <p:cNvGrpSpPr/>
            <p:nvPr/>
          </p:nvGrpSpPr>
          <p:grpSpPr>
            <a:xfrm>
              <a:off x="4745" y="992"/>
              <a:ext cx="585" cy="138"/>
              <a:chOff x="612" y="2566"/>
              <a:chExt cx="730" cy="143"/>
            </a:xfrm>
          </p:grpSpPr>
          <p:sp>
            <p:nvSpPr>
              <p:cNvPr id="2511" name="Google Shape;2511;p42"/>
              <p:cNvSpPr/>
              <p:nvPr/>
            </p:nvSpPr>
            <p:spPr>
              <a:xfrm>
                <a:off x="612" y="2566"/>
                <a:ext cx="730"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12" name="Google Shape;2512;p42"/>
              <p:cNvSpPr/>
              <p:nvPr/>
            </p:nvSpPr>
            <p:spPr>
              <a:xfrm>
                <a:off x="625" y="2583"/>
                <a:ext cx="697"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513" name="Google Shape;2513;p42"/>
            <p:cNvSpPr/>
            <p:nvPr/>
          </p:nvSpPr>
          <p:spPr>
            <a:xfrm>
              <a:off x="4218" y="1359"/>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14" name="Google Shape;2514;p42"/>
            <p:cNvSpPr/>
            <p:nvPr/>
          </p:nvSpPr>
          <p:spPr>
            <a:xfrm>
              <a:off x="4229" y="1656"/>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2515" name="Google Shape;2515;p42"/>
            <p:cNvGrpSpPr/>
            <p:nvPr/>
          </p:nvGrpSpPr>
          <p:grpSpPr>
            <a:xfrm>
              <a:off x="4735" y="1629"/>
              <a:ext cx="580" cy="149"/>
              <a:chOff x="614" y="2570"/>
              <a:chExt cx="722" cy="137"/>
            </a:xfrm>
          </p:grpSpPr>
          <p:sp>
            <p:nvSpPr>
              <p:cNvPr id="2516" name="Google Shape;2516;p42"/>
              <p:cNvSpPr/>
              <p:nvPr/>
            </p:nvSpPr>
            <p:spPr>
              <a:xfrm>
                <a:off x="614" y="2570"/>
                <a:ext cx="722"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17" name="Google Shape;2517;p42"/>
              <p:cNvSpPr/>
              <p:nvPr/>
            </p:nvSpPr>
            <p:spPr>
              <a:xfrm>
                <a:off x="627" y="2585"/>
                <a:ext cx="683"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518" name="Google Shape;2518;p4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519" name="Google Shape;2519;p42"/>
            <p:cNvGrpSpPr/>
            <p:nvPr/>
          </p:nvGrpSpPr>
          <p:grpSpPr>
            <a:xfrm>
              <a:off x="4741" y="1327"/>
              <a:ext cx="580" cy="138"/>
              <a:chOff x="616" y="2568"/>
              <a:chExt cx="722" cy="138"/>
            </a:xfrm>
          </p:grpSpPr>
          <p:sp>
            <p:nvSpPr>
              <p:cNvPr id="2520" name="Google Shape;2520;p42"/>
              <p:cNvSpPr/>
              <p:nvPr/>
            </p:nvSpPr>
            <p:spPr>
              <a:xfrm>
                <a:off x="616" y="2568"/>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21" name="Google Shape;2521;p42"/>
              <p:cNvSpPr/>
              <p:nvPr/>
            </p:nvSpPr>
            <p:spPr>
              <a:xfrm>
                <a:off x="629" y="2584"/>
                <a:ext cx="689"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522" name="Google Shape;2522;p42"/>
            <p:cNvSpPr/>
            <p:nvPr/>
          </p:nvSpPr>
          <p:spPr>
            <a:xfrm>
              <a:off x="5252"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23" name="Google Shape;2523;p4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4" name="Google Shape;2524;p4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5" name="Google Shape;2525;p42"/>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26" name="Google Shape;2526;p4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7" name="Google Shape;2527;p42"/>
            <p:cNvSpPr/>
            <p:nvPr/>
          </p:nvSpPr>
          <p:spPr>
            <a:xfrm>
              <a:off x="4140" y="2676"/>
              <a:ext cx="1201"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28" name="Google Shape;2528;p42"/>
            <p:cNvSpPr/>
            <p:nvPr/>
          </p:nvSpPr>
          <p:spPr>
            <a:xfrm>
              <a:off x="4208" y="2713"/>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29" name="Google Shape;2529;p42"/>
            <p:cNvSpPr/>
            <p:nvPr/>
          </p:nvSpPr>
          <p:spPr>
            <a:xfrm>
              <a:off x="4307" y="2384"/>
              <a:ext cx="157"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30" name="Google Shape;2530;p42"/>
            <p:cNvSpPr/>
            <p:nvPr/>
          </p:nvSpPr>
          <p:spPr>
            <a:xfrm>
              <a:off x="4485" y="2384"/>
              <a:ext cx="162"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Calibri"/>
                <a:ea typeface="Calibri"/>
                <a:cs typeface="Calibri"/>
                <a:sym typeface="Calibri"/>
              </a:endParaRPr>
            </a:p>
          </p:txBody>
        </p:sp>
        <p:sp>
          <p:nvSpPr>
            <p:cNvPr id="2531" name="Google Shape;2531;p42"/>
            <p:cNvSpPr/>
            <p:nvPr/>
          </p:nvSpPr>
          <p:spPr>
            <a:xfrm>
              <a:off x="4662" y="2379"/>
              <a:ext cx="157"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32" name="Google Shape;2532;p42"/>
            <p:cNvSpPr/>
            <p:nvPr/>
          </p:nvSpPr>
          <p:spPr>
            <a:xfrm>
              <a:off x="5064" y="1837"/>
              <a:ext cx="84"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533" name="Google Shape;2533;p42"/>
          <p:cNvSpPr txBox="1"/>
          <p:nvPr/>
        </p:nvSpPr>
        <p:spPr>
          <a:xfrm>
            <a:off x="817755" y="2025650"/>
            <a:ext cx="4394625" cy="3762375"/>
          </a:xfrm>
          <a:prstGeom prst="rect">
            <a:avLst/>
          </a:prstGeom>
          <a:noFill/>
          <a:ln>
            <a:noFill/>
          </a:ln>
        </p:spPr>
        <p:txBody>
          <a:bodyPr anchorCtr="0" anchor="t" bIns="45700" lIns="91425" spcFirstLastPara="1" rIns="91425" wrap="square" tIns="45700">
            <a:noAutofit/>
          </a:bodyPr>
          <a:lstStyle/>
          <a:p>
            <a:pPr indent="-233363" lvl="0" marL="233363" marR="0" rtl="0" algn="l">
              <a:lnSpc>
                <a:spcPct val="90000"/>
              </a:lnSpc>
              <a:spcBef>
                <a:spcPts val="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user configures browser to point to a </a:t>
            </a:r>
            <a:r>
              <a:rPr i="1" lang="en-US" sz="2400">
                <a:solidFill>
                  <a:srgbClr val="C00000"/>
                </a:solidFill>
                <a:latin typeface="Calibri"/>
                <a:ea typeface="Calibri"/>
                <a:cs typeface="Calibri"/>
                <a:sym typeface="Calibri"/>
              </a:rPr>
              <a:t>Web cache</a:t>
            </a:r>
            <a:endParaRPr/>
          </a:p>
          <a:p>
            <a:pPr indent="-233363" lvl="0" marL="233363" marR="0" rtl="0" algn="l">
              <a:lnSpc>
                <a:spcPct val="90000"/>
              </a:lnSpc>
              <a:spcBef>
                <a:spcPts val="10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browser sends all HTTP requests to cache</a:t>
            </a:r>
            <a:endParaRPr/>
          </a:p>
          <a:p>
            <a:pPr indent="-228600" lvl="1" marL="685800" marR="0" rtl="0" algn="l">
              <a:lnSpc>
                <a:spcPct val="90000"/>
              </a:lnSpc>
              <a:spcBef>
                <a:spcPts val="500"/>
              </a:spcBef>
              <a:spcAft>
                <a:spcPts val="0"/>
              </a:spcAft>
              <a:buClr>
                <a:srgbClr val="0000A8"/>
              </a:buClr>
              <a:buSzPts val="2400"/>
              <a:buFont typeface="Arial"/>
              <a:buChar char="•"/>
            </a:pPr>
            <a:r>
              <a:rPr b="0" i="1" lang="en-US" sz="2400" u="none" cap="none" strike="noStrike">
                <a:solidFill>
                  <a:srgbClr val="0000A3"/>
                </a:solidFill>
                <a:latin typeface="Calibri"/>
                <a:ea typeface="Calibri"/>
                <a:cs typeface="Calibri"/>
                <a:sym typeface="Calibri"/>
              </a:rPr>
              <a:t>if</a:t>
            </a:r>
            <a:r>
              <a:rPr b="0" i="0" lang="en-US" sz="2400" u="none" cap="none" strike="noStrike">
                <a:solidFill>
                  <a:schemeClr val="dk1"/>
                </a:solidFill>
                <a:latin typeface="Calibri"/>
                <a:ea typeface="Calibri"/>
                <a:cs typeface="Calibri"/>
                <a:sym typeface="Calibri"/>
              </a:rPr>
              <a:t> object in cache: cache returns object to client</a:t>
            </a:r>
            <a:endParaRPr/>
          </a:p>
          <a:p>
            <a:pPr indent="-228600" lvl="1" marL="685800" marR="0" rtl="0" algn="l">
              <a:lnSpc>
                <a:spcPct val="90000"/>
              </a:lnSpc>
              <a:spcBef>
                <a:spcPts val="500"/>
              </a:spcBef>
              <a:spcAft>
                <a:spcPts val="0"/>
              </a:spcAft>
              <a:buClr>
                <a:srgbClr val="0000A8"/>
              </a:buClr>
              <a:buSzPts val="2400"/>
              <a:buFont typeface="Arial"/>
              <a:buChar char="•"/>
            </a:pPr>
            <a:r>
              <a:rPr b="0" i="1" lang="en-US" sz="2400" u="none" cap="none" strike="noStrike">
                <a:solidFill>
                  <a:srgbClr val="0000A3"/>
                </a:solidFill>
                <a:latin typeface="Calibri"/>
                <a:ea typeface="Calibri"/>
                <a:cs typeface="Calibri"/>
                <a:sym typeface="Calibri"/>
              </a:rPr>
              <a:t>else</a:t>
            </a:r>
            <a:r>
              <a:rPr b="0" i="0" lang="en-US" sz="2400" u="none" cap="none" strike="noStrike">
                <a:solidFill>
                  <a:schemeClr val="dk1"/>
                </a:solidFill>
                <a:latin typeface="Calibri"/>
                <a:ea typeface="Calibri"/>
                <a:cs typeface="Calibri"/>
                <a:sym typeface="Calibri"/>
              </a:rPr>
              <a:t> cache requests object from origin server, caches received object, then returns object to client</a:t>
            </a:r>
            <a:endParaRPr/>
          </a:p>
        </p:txBody>
      </p:sp>
      <p:sp>
        <p:nvSpPr>
          <p:cNvPr id="2534" name="Google Shape;2534;p42"/>
          <p:cNvSpPr/>
          <p:nvPr/>
        </p:nvSpPr>
        <p:spPr>
          <a:xfrm>
            <a:off x="865381" y="1333500"/>
            <a:ext cx="8750300" cy="5969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i="1" lang="en-US" sz="2800">
                <a:solidFill>
                  <a:srgbClr val="CC0000"/>
                </a:solidFill>
                <a:latin typeface="Calibri"/>
                <a:ea typeface="Calibri"/>
                <a:cs typeface="Calibri"/>
                <a:sym typeface="Calibri"/>
              </a:rPr>
              <a:t>Goal:</a:t>
            </a:r>
            <a:r>
              <a:rPr lang="en-US" sz="2800">
                <a:solidFill>
                  <a:schemeClr val="dk1"/>
                </a:solidFill>
                <a:latin typeface="Calibri"/>
                <a:ea typeface="Calibri"/>
                <a:cs typeface="Calibri"/>
                <a:sym typeface="Calibri"/>
              </a:rPr>
              <a:t> satisfy client request without involving origin server</a:t>
            </a:r>
            <a:endParaRPr/>
          </a:p>
        </p:txBody>
      </p:sp>
      <p:sp>
        <p:nvSpPr>
          <p:cNvPr id="2535" name="Google Shape;2535;p42"/>
          <p:cNvSpPr txBox="1"/>
          <p:nvPr/>
        </p:nvSpPr>
        <p:spPr>
          <a:xfrm>
            <a:off x="6416675" y="3118188"/>
            <a:ext cx="657225"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client</a:t>
            </a:r>
            <a:endParaRPr sz="2400">
              <a:solidFill>
                <a:schemeClr val="dk1"/>
              </a:solidFill>
              <a:latin typeface="Calibri"/>
              <a:ea typeface="Calibri"/>
              <a:cs typeface="Calibri"/>
              <a:sym typeface="Calibri"/>
            </a:endParaRPr>
          </a:p>
        </p:txBody>
      </p:sp>
      <p:sp>
        <p:nvSpPr>
          <p:cNvPr id="2536" name="Google Shape;2536;p42"/>
          <p:cNvSpPr txBox="1"/>
          <p:nvPr/>
        </p:nvSpPr>
        <p:spPr>
          <a:xfrm>
            <a:off x="8228633" y="2524463"/>
            <a:ext cx="836959" cy="6463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proxy</a:t>
            </a:r>
            <a:endParaRPr/>
          </a:p>
          <a:p>
            <a:pPr indent="0" lvl="0" marL="0" marR="0" rtl="0" algn="ctr">
              <a:lnSpc>
                <a:spcPct val="90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server</a:t>
            </a:r>
            <a:endParaRPr sz="2400">
              <a:solidFill>
                <a:schemeClr val="dk1"/>
              </a:solidFill>
              <a:latin typeface="Calibri"/>
              <a:ea typeface="Calibri"/>
              <a:cs typeface="Calibri"/>
              <a:sym typeface="Calibri"/>
            </a:endParaRPr>
          </a:p>
        </p:txBody>
      </p:sp>
      <p:sp>
        <p:nvSpPr>
          <p:cNvPr id="2537" name="Google Shape;2537;p42"/>
          <p:cNvSpPr txBox="1"/>
          <p:nvPr/>
        </p:nvSpPr>
        <p:spPr>
          <a:xfrm>
            <a:off x="6538913" y="5089863"/>
            <a:ext cx="657225"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client</a:t>
            </a:r>
            <a:endParaRPr sz="2400">
              <a:solidFill>
                <a:schemeClr val="dk1"/>
              </a:solidFill>
              <a:latin typeface="Calibri"/>
              <a:ea typeface="Calibri"/>
              <a:cs typeface="Calibri"/>
              <a:sym typeface="Calibri"/>
            </a:endParaRPr>
          </a:p>
        </p:txBody>
      </p:sp>
      <p:grpSp>
        <p:nvGrpSpPr>
          <p:cNvPr id="2538" name="Google Shape;2538;p42"/>
          <p:cNvGrpSpPr/>
          <p:nvPr/>
        </p:nvGrpSpPr>
        <p:grpSpPr>
          <a:xfrm>
            <a:off x="6912637" y="3660480"/>
            <a:ext cx="1493176" cy="945196"/>
            <a:chOff x="2940" y="2464"/>
            <a:chExt cx="941" cy="595"/>
          </a:xfrm>
        </p:grpSpPr>
        <p:cxnSp>
          <p:nvCxnSpPr>
            <p:cNvPr id="2539" name="Google Shape;2539;p42"/>
            <p:cNvCxnSpPr/>
            <p:nvPr/>
          </p:nvCxnSpPr>
          <p:spPr>
            <a:xfrm flipH="1" rot="10800000">
              <a:off x="2998" y="2580"/>
              <a:ext cx="883" cy="479"/>
            </a:xfrm>
            <a:prstGeom prst="straightConnector1">
              <a:avLst/>
            </a:prstGeom>
            <a:noFill/>
            <a:ln cap="flat" cmpd="sng" w="28575">
              <a:solidFill>
                <a:srgbClr val="CC0000"/>
              </a:solidFill>
              <a:prstDash val="solid"/>
              <a:round/>
              <a:headEnd len="med" w="med" type="none"/>
              <a:tailEnd len="med" w="med" type="triangle"/>
            </a:ln>
          </p:spPr>
        </p:cxnSp>
        <p:sp>
          <p:nvSpPr>
            <p:cNvPr id="2540" name="Google Shape;2540;p42"/>
            <p:cNvSpPr txBox="1"/>
            <p:nvPr/>
          </p:nvSpPr>
          <p:spPr>
            <a:xfrm rot="-1692639">
              <a:off x="2942" y="2645"/>
              <a:ext cx="821" cy="2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CC0000"/>
                </a:buClr>
                <a:buSzPts val="1600"/>
                <a:buFont typeface="Calibri"/>
                <a:buNone/>
              </a:pPr>
              <a:r>
                <a:rPr lang="en-US" sz="1600">
                  <a:solidFill>
                    <a:srgbClr val="CC0000"/>
                  </a:solidFill>
                  <a:latin typeface="Calibri"/>
                  <a:ea typeface="Calibri"/>
                  <a:cs typeface="Calibri"/>
                  <a:sym typeface="Calibri"/>
                </a:rPr>
                <a:t>HTTP request</a:t>
              </a:r>
              <a:endParaRPr sz="2400">
                <a:solidFill>
                  <a:srgbClr val="CC0000"/>
                </a:solidFill>
                <a:latin typeface="Calibri"/>
                <a:ea typeface="Calibri"/>
                <a:cs typeface="Calibri"/>
                <a:sym typeface="Calibri"/>
              </a:endParaRPr>
            </a:p>
          </p:txBody>
        </p:sp>
      </p:grpSp>
      <p:grpSp>
        <p:nvGrpSpPr>
          <p:cNvPr id="2541" name="Google Shape;2541;p42"/>
          <p:cNvGrpSpPr/>
          <p:nvPr/>
        </p:nvGrpSpPr>
        <p:grpSpPr>
          <a:xfrm>
            <a:off x="7054850" y="3932576"/>
            <a:ext cx="1480212" cy="997118"/>
            <a:chOff x="3030" y="2635"/>
            <a:chExt cx="932" cy="628"/>
          </a:xfrm>
        </p:grpSpPr>
        <p:cxnSp>
          <p:nvCxnSpPr>
            <p:cNvPr id="2542" name="Google Shape;2542;p42"/>
            <p:cNvCxnSpPr/>
            <p:nvPr/>
          </p:nvCxnSpPr>
          <p:spPr>
            <a:xfrm flipH="1">
              <a:off x="3030" y="2635"/>
              <a:ext cx="884" cy="495"/>
            </a:xfrm>
            <a:prstGeom prst="straightConnector1">
              <a:avLst/>
            </a:prstGeom>
            <a:noFill/>
            <a:ln cap="flat" cmpd="sng" w="28575">
              <a:solidFill>
                <a:srgbClr val="CC0000"/>
              </a:solidFill>
              <a:prstDash val="solid"/>
              <a:round/>
              <a:headEnd len="med" w="med" type="none"/>
              <a:tailEnd len="med" w="med" type="triangle"/>
            </a:ln>
          </p:spPr>
        </p:cxnSp>
        <p:sp>
          <p:nvSpPr>
            <p:cNvPr id="2543" name="Google Shape;2543;p42"/>
            <p:cNvSpPr txBox="1"/>
            <p:nvPr/>
          </p:nvSpPr>
          <p:spPr>
            <a:xfrm rot="-1737783">
              <a:off x="3069" y="2846"/>
              <a:ext cx="898" cy="2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CC0000"/>
                </a:buClr>
                <a:buSzPts val="1600"/>
                <a:buFont typeface="Calibri"/>
                <a:buNone/>
              </a:pPr>
              <a:r>
                <a:rPr lang="en-US" sz="1600">
                  <a:solidFill>
                    <a:srgbClr val="CC0000"/>
                  </a:solidFill>
                  <a:latin typeface="Calibri"/>
                  <a:ea typeface="Calibri"/>
                  <a:cs typeface="Calibri"/>
                  <a:sym typeface="Calibri"/>
                </a:rPr>
                <a:t>HTTP response</a:t>
              </a:r>
              <a:endParaRPr sz="2400">
                <a:solidFill>
                  <a:srgbClr val="CC0000"/>
                </a:solidFill>
                <a:latin typeface="Calibri"/>
                <a:ea typeface="Calibri"/>
                <a:cs typeface="Calibri"/>
                <a:sym typeface="Calibri"/>
              </a:endParaRPr>
            </a:p>
          </p:txBody>
        </p:sp>
      </p:grpSp>
      <p:grpSp>
        <p:nvGrpSpPr>
          <p:cNvPr id="2544" name="Google Shape;2544;p42"/>
          <p:cNvGrpSpPr/>
          <p:nvPr/>
        </p:nvGrpSpPr>
        <p:grpSpPr>
          <a:xfrm>
            <a:off x="7010400" y="2667302"/>
            <a:ext cx="3251200" cy="936661"/>
            <a:chOff x="3002" y="1849"/>
            <a:chExt cx="2048" cy="590"/>
          </a:xfrm>
        </p:grpSpPr>
        <p:sp>
          <p:nvSpPr>
            <p:cNvPr id="2545" name="Google Shape;2545;p42"/>
            <p:cNvSpPr/>
            <p:nvPr/>
          </p:nvSpPr>
          <p:spPr>
            <a:xfrm>
              <a:off x="3002" y="1979"/>
              <a:ext cx="2048" cy="460"/>
            </a:xfrm>
            <a:custGeom>
              <a:rect b="b" l="l" r="r" t="t"/>
              <a:pathLst>
                <a:path extrusionOk="0" h="460" w="2048">
                  <a:moveTo>
                    <a:pt x="0" y="2"/>
                  </a:moveTo>
                  <a:lnTo>
                    <a:pt x="1011" y="460"/>
                  </a:lnTo>
                  <a:lnTo>
                    <a:pt x="2048" y="0"/>
                  </a:lnTo>
                </a:path>
              </a:pathLst>
            </a:custGeom>
            <a:noFill/>
            <a:ln cap="flat" cmpd="sng" w="28575">
              <a:solidFill>
                <a:srgbClr val="CC0000"/>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6" name="Google Shape;2546;p42"/>
            <p:cNvSpPr txBox="1"/>
            <p:nvPr/>
          </p:nvSpPr>
          <p:spPr>
            <a:xfrm rot="1422049">
              <a:off x="3129" y="2005"/>
              <a:ext cx="821" cy="2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CC0000"/>
                </a:buClr>
                <a:buSzPts val="1600"/>
                <a:buFont typeface="Calibri"/>
                <a:buNone/>
              </a:pPr>
              <a:r>
                <a:rPr lang="en-US" sz="1600">
                  <a:solidFill>
                    <a:srgbClr val="CC0000"/>
                  </a:solidFill>
                  <a:latin typeface="Calibri"/>
                  <a:ea typeface="Calibri"/>
                  <a:cs typeface="Calibri"/>
                  <a:sym typeface="Calibri"/>
                </a:rPr>
                <a:t>HTTP request</a:t>
              </a:r>
              <a:endParaRPr sz="2400">
                <a:solidFill>
                  <a:srgbClr val="CC0000"/>
                </a:solidFill>
                <a:latin typeface="Calibri"/>
                <a:ea typeface="Calibri"/>
                <a:cs typeface="Calibri"/>
                <a:sym typeface="Calibri"/>
              </a:endParaRPr>
            </a:p>
          </p:txBody>
        </p:sp>
        <p:sp>
          <p:nvSpPr>
            <p:cNvPr id="2547" name="Google Shape;2547;p42"/>
            <p:cNvSpPr txBox="1"/>
            <p:nvPr/>
          </p:nvSpPr>
          <p:spPr>
            <a:xfrm rot="-1419968">
              <a:off x="4160" y="2015"/>
              <a:ext cx="821" cy="2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CC0000"/>
                </a:buClr>
                <a:buSzPts val="1600"/>
                <a:buFont typeface="Calibri"/>
                <a:buNone/>
              </a:pPr>
              <a:r>
                <a:rPr lang="en-US" sz="1600">
                  <a:solidFill>
                    <a:srgbClr val="CC0000"/>
                  </a:solidFill>
                  <a:latin typeface="Calibri"/>
                  <a:ea typeface="Calibri"/>
                  <a:cs typeface="Calibri"/>
                  <a:sym typeface="Calibri"/>
                </a:rPr>
                <a:t>HTTP request</a:t>
              </a:r>
              <a:endParaRPr sz="2400">
                <a:solidFill>
                  <a:srgbClr val="CC0000"/>
                </a:solidFill>
                <a:latin typeface="Calibri"/>
                <a:ea typeface="Calibri"/>
                <a:cs typeface="Calibri"/>
                <a:sym typeface="Calibri"/>
              </a:endParaRPr>
            </a:p>
          </p:txBody>
        </p:sp>
      </p:grpSp>
      <p:sp>
        <p:nvSpPr>
          <p:cNvPr id="2548" name="Google Shape;2548;p42"/>
          <p:cNvSpPr txBox="1"/>
          <p:nvPr/>
        </p:nvSpPr>
        <p:spPr>
          <a:xfrm>
            <a:off x="10264364" y="5228882"/>
            <a:ext cx="708848" cy="5355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origin </a:t>
            </a:r>
            <a:endParaRPr/>
          </a:p>
          <a:p>
            <a:pPr indent="0" lvl="0" marL="0" marR="0" rtl="0" algn="ctr">
              <a:lnSpc>
                <a:spcPct val="90000"/>
              </a:lnSpc>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server</a:t>
            </a:r>
            <a:endParaRPr sz="2400">
              <a:solidFill>
                <a:schemeClr val="dk1"/>
              </a:solidFill>
              <a:latin typeface="Calibri"/>
              <a:ea typeface="Calibri"/>
              <a:cs typeface="Calibri"/>
              <a:sym typeface="Calibri"/>
            </a:endParaRPr>
          </a:p>
        </p:txBody>
      </p:sp>
      <p:sp>
        <p:nvSpPr>
          <p:cNvPr id="2549" name="Google Shape;2549;p42"/>
          <p:cNvSpPr txBox="1"/>
          <p:nvPr/>
        </p:nvSpPr>
        <p:spPr>
          <a:xfrm>
            <a:off x="10281826" y="3292132"/>
            <a:ext cx="708848" cy="5355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origin </a:t>
            </a:r>
            <a:endParaRPr/>
          </a:p>
          <a:p>
            <a:pPr indent="0" lvl="0" marL="0" marR="0" rtl="0" algn="ctr">
              <a:lnSpc>
                <a:spcPct val="80000"/>
              </a:lnSpc>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server</a:t>
            </a:r>
            <a:endParaRPr sz="2400">
              <a:solidFill>
                <a:schemeClr val="dk1"/>
              </a:solidFill>
              <a:latin typeface="Calibri"/>
              <a:ea typeface="Calibri"/>
              <a:cs typeface="Calibri"/>
              <a:sym typeface="Calibri"/>
            </a:endParaRPr>
          </a:p>
        </p:txBody>
      </p:sp>
      <p:sp>
        <p:nvSpPr>
          <p:cNvPr id="2550" name="Google Shape;2550;p42"/>
          <p:cNvSpPr/>
          <p:nvPr/>
        </p:nvSpPr>
        <p:spPr>
          <a:xfrm>
            <a:off x="9191625" y="4099263"/>
            <a:ext cx="406400" cy="393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pic>
        <p:nvPicPr>
          <p:cNvPr id="2551" name="Google Shape;2551;p42"/>
          <p:cNvPicPr preferRelativeResize="0"/>
          <p:nvPr/>
        </p:nvPicPr>
        <p:blipFill rotWithShape="1">
          <a:blip r:embed="rId4">
            <a:alphaModFix/>
          </a:blip>
          <a:srcRect b="0" l="0" r="0" t="0"/>
          <a:stretch/>
        </p:blipFill>
        <p:spPr>
          <a:xfrm>
            <a:off x="10542588" y="2381588"/>
            <a:ext cx="527050" cy="433388"/>
          </a:xfrm>
          <a:prstGeom prst="rect">
            <a:avLst/>
          </a:prstGeom>
          <a:noFill/>
          <a:ln>
            <a:noFill/>
          </a:ln>
        </p:spPr>
      </p:pic>
      <p:grpSp>
        <p:nvGrpSpPr>
          <p:cNvPr id="2552" name="Google Shape;2552;p42"/>
          <p:cNvGrpSpPr/>
          <p:nvPr/>
        </p:nvGrpSpPr>
        <p:grpSpPr>
          <a:xfrm>
            <a:off x="6237288" y="2421276"/>
            <a:ext cx="4110038" cy="1814512"/>
            <a:chOff x="2515" y="1687"/>
            <a:chExt cx="2589" cy="1143"/>
          </a:xfrm>
        </p:grpSpPr>
        <p:sp>
          <p:nvSpPr>
            <p:cNvPr id="2553" name="Google Shape;2553;p42"/>
            <p:cNvSpPr/>
            <p:nvPr/>
          </p:nvSpPr>
          <p:spPr>
            <a:xfrm>
              <a:off x="2985" y="2026"/>
              <a:ext cx="2119" cy="476"/>
            </a:xfrm>
            <a:custGeom>
              <a:rect b="b" l="l" r="r" t="t"/>
              <a:pathLst>
                <a:path extrusionOk="0" h="476" w="2119">
                  <a:moveTo>
                    <a:pt x="2119" y="0"/>
                  </a:moveTo>
                  <a:lnTo>
                    <a:pt x="1020" y="476"/>
                  </a:lnTo>
                  <a:lnTo>
                    <a:pt x="0" y="8"/>
                  </a:lnTo>
                </a:path>
              </a:pathLst>
            </a:custGeom>
            <a:noFill/>
            <a:ln cap="flat" cmpd="sng" w="28575">
              <a:solidFill>
                <a:srgbClr val="CC0000"/>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4" name="Google Shape;2554;p42"/>
            <p:cNvSpPr txBox="1"/>
            <p:nvPr/>
          </p:nvSpPr>
          <p:spPr>
            <a:xfrm rot="1411598">
              <a:off x="2963" y="2243"/>
              <a:ext cx="898" cy="2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CC0000"/>
                </a:buClr>
                <a:buSzPts val="1600"/>
                <a:buFont typeface="Calibri"/>
                <a:buNone/>
              </a:pPr>
              <a:r>
                <a:rPr lang="en-US" sz="1600">
                  <a:solidFill>
                    <a:srgbClr val="CC0000"/>
                  </a:solidFill>
                  <a:latin typeface="Calibri"/>
                  <a:ea typeface="Calibri"/>
                  <a:cs typeface="Calibri"/>
                  <a:sym typeface="Calibri"/>
                </a:rPr>
                <a:t>HTTP response</a:t>
              </a:r>
              <a:endParaRPr sz="2400">
                <a:solidFill>
                  <a:srgbClr val="CC0000"/>
                </a:solidFill>
                <a:latin typeface="Calibri"/>
                <a:ea typeface="Calibri"/>
                <a:cs typeface="Calibri"/>
                <a:sym typeface="Calibri"/>
              </a:endParaRPr>
            </a:p>
          </p:txBody>
        </p:sp>
        <p:sp>
          <p:nvSpPr>
            <p:cNvPr id="2555" name="Google Shape;2555;p42"/>
            <p:cNvSpPr txBox="1"/>
            <p:nvPr/>
          </p:nvSpPr>
          <p:spPr>
            <a:xfrm rot="-1415789">
              <a:off x="4193" y="2231"/>
              <a:ext cx="898" cy="2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CC0000"/>
                </a:buClr>
                <a:buSzPts val="1600"/>
                <a:buFont typeface="Calibri"/>
                <a:buNone/>
              </a:pPr>
              <a:r>
                <a:rPr lang="en-US" sz="1600">
                  <a:solidFill>
                    <a:srgbClr val="CC0000"/>
                  </a:solidFill>
                  <a:latin typeface="Calibri"/>
                  <a:ea typeface="Calibri"/>
                  <a:cs typeface="Calibri"/>
                  <a:sym typeface="Calibri"/>
                </a:rPr>
                <a:t>HTTP response</a:t>
              </a:r>
              <a:endParaRPr sz="2400">
                <a:solidFill>
                  <a:srgbClr val="CC0000"/>
                </a:solidFill>
                <a:latin typeface="Calibri"/>
                <a:ea typeface="Calibri"/>
                <a:cs typeface="Calibri"/>
                <a:sym typeface="Calibri"/>
              </a:endParaRPr>
            </a:p>
          </p:txBody>
        </p:sp>
        <p:pic>
          <p:nvPicPr>
            <p:cNvPr id="2556" name="Google Shape;2556;p42"/>
            <p:cNvPicPr preferRelativeResize="0"/>
            <p:nvPr/>
          </p:nvPicPr>
          <p:blipFill rotWithShape="1">
            <a:blip r:embed="rId4">
              <a:alphaModFix/>
            </a:blip>
            <a:srcRect b="0" l="0" r="0" t="0"/>
            <a:stretch/>
          </p:blipFill>
          <p:spPr>
            <a:xfrm>
              <a:off x="3979" y="2557"/>
              <a:ext cx="332" cy="273"/>
            </a:xfrm>
            <a:prstGeom prst="rect">
              <a:avLst/>
            </a:prstGeom>
            <a:noFill/>
            <a:ln>
              <a:noFill/>
            </a:ln>
          </p:spPr>
        </p:pic>
        <p:pic>
          <p:nvPicPr>
            <p:cNvPr id="2557" name="Google Shape;2557;p42"/>
            <p:cNvPicPr preferRelativeResize="0"/>
            <p:nvPr/>
          </p:nvPicPr>
          <p:blipFill rotWithShape="1">
            <a:blip r:embed="rId4">
              <a:alphaModFix/>
            </a:blip>
            <a:srcRect b="0" l="0" r="0" t="0"/>
            <a:stretch/>
          </p:blipFill>
          <p:spPr>
            <a:xfrm>
              <a:off x="2515" y="1687"/>
              <a:ext cx="332" cy="273"/>
            </a:xfrm>
            <a:prstGeom prst="rect">
              <a:avLst/>
            </a:prstGeom>
            <a:noFill/>
            <a:ln>
              <a:noFill/>
            </a:ln>
          </p:spPr>
        </p:pic>
      </p:grpSp>
      <p:pic>
        <p:nvPicPr>
          <p:cNvPr id="2558" name="Google Shape;2558;p42"/>
          <p:cNvPicPr preferRelativeResize="0"/>
          <p:nvPr/>
        </p:nvPicPr>
        <p:blipFill rotWithShape="1">
          <a:blip r:embed="rId4">
            <a:alphaModFix/>
          </a:blip>
          <a:srcRect b="0" l="0" r="0" t="0"/>
          <a:stretch/>
        </p:blipFill>
        <p:spPr>
          <a:xfrm>
            <a:off x="6284913" y="4362788"/>
            <a:ext cx="527050" cy="433388"/>
          </a:xfrm>
          <a:prstGeom prst="rect">
            <a:avLst/>
          </a:prstGeom>
          <a:noFill/>
          <a:ln>
            <a:noFill/>
          </a:ln>
        </p:spPr>
      </p:pic>
      <p:grpSp>
        <p:nvGrpSpPr>
          <p:cNvPr id="2559" name="Google Shape;2559;p42"/>
          <p:cNvGrpSpPr/>
          <p:nvPr/>
        </p:nvGrpSpPr>
        <p:grpSpPr>
          <a:xfrm>
            <a:off x="10356850" y="4513601"/>
            <a:ext cx="433388" cy="715962"/>
            <a:chOff x="4140" y="429"/>
            <a:chExt cx="1425" cy="2396"/>
          </a:xfrm>
        </p:grpSpPr>
        <p:sp>
          <p:nvSpPr>
            <p:cNvPr id="2560" name="Google Shape;2560;p4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1" name="Google Shape;2561;p42"/>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62" name="Google Shape;2562;p4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3" name="Google Shape;2563;p4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4" name="Google Shape;2564;p42"/>
            <p:cNvSpPr/>
            <p:nvPr/>
          </p:nvSpPr>
          <p:spPr>
            <a:xfrm>
              <a:off x="4213" y="695"/>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2565" name="Google Shape;2565;p42"/>
            <p:cNvGrpSpPr/>
            <p:nvPr/>
          </p:nvGrpSpPr>
          <p:grpSpPr>
            <a:xfrm>
              <a:off x="4751" y="668"/>
              <a:ext cx="579" cy="144"/>
              <a:chOff x="616" y="2568"/>
              <a:chExt cx="723" cy="138"/>
            </a:xfrm>
          </p:grpSpPr>
          <p:sp>
            <p:nvSpPr>
              <p:cNvPr id="2566" name="Google Shape;2566;p42"/>
              <p:cNvSpPr/>
              <p:nvPr/>
            </p:nvSpPr>
            <p:spPr>
              <a:xfrm>
                <a:off x="616" y="2568"/>
                <a:ext cx="723"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67" name="Google Shape;2567;p42"/>
              <p:cNvSpPr/>
              <p:nvPr/>
            </p:nvSpPr>
            <p:spPr>
              <a:xfrm>
                <a:off x="629" y="2583"/>
                <a:ext cx="690"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568" name="Google Shape;2568;p42"/>
            <p:cNvSpPr/>
            <p:nvPr/>
          </p:nvSpPr>
          <p:spPr>
            <a:xfrm>
              <a:off x="4224" y="1019"/>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2569" name="Google Shape;2569;p42"/>
            <p:cNvGrpSpPr/>
            <p:nvPr/>
          </p:nvGrpSpPr>
          <p:grpSpPr>
            <a:xfrm>
              <a:off x="4745" y="992"/>
              <a:ext cx="585" cy="138"/>
              <a:chOff x="612" y="2566"/>
              <a:chExt cx="730" cy="143"/>
            </a:xfrm>
          </p:grpSpPr>
          <p:sp>
            <p:nvSpPr>
              <p:cNvPr id="2570" name="Google Shape;2570;p42"/>
              <p:cNvSpPr/>
              <p:nvPr/>
            </p:nvSpPr>
            <p:spPr>
              <a:xfrm>
                <a:off x="612" y="2566"/>
                <a:ext cx="730"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71" name="Google Shape;2571;p42"/>
              <p:cNvSpPr/>
              <p:nvPr/>
            </p:nvSpPr>
            <p:spPr>
              <a:xfrm>
                <a:off x="625" y="2583"/>
                <a:ext cx="697"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572" name="Google Shape;2572;p42"/>
            <p:cNvSpPr/>
            <p:nvPr/>
          </p:nvSpPr>
          <p:spPr>
            <a:xfrm>
              <a:off x="4218" y="1359"/>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73" name="Google Shape;2573;p42"/>
            <p:cNvSpPr/>
            <p:nvPr/>
          </p:nvSpPr>
          <p:spPr>
            <a:xfrm>
              <a:off x="4229" y="1656"/>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2574" name="Google Shape;2574;p42"/>
            <p:cNvGrpSpPr/>
            <p:nvPr/>
          </p:nvGrpSpPr>
          <p:grpSpPr>
            <a:xfrm>
              <a:off x="4735" y="1629"/>
              <a:ext cx="580" cy="149"/>
              <a:chOff x="614" y="2570"/>
              <a:chExt cx="722" cy="137"/>
            </a:xfrm>
          </p:grpSpPr>
          <p:sp>
            <p:nvSpPr>
              <p:cNvPr id="2575" name="Google Shape;2575;p42"/>
              <p:cNvSpPr/>
              <p:nvPr/>
            </p:nvSpPr>
            <p:spPr>
              <a:xfrm>
                <a:off x="614" y="2570"/>
                <a:ext cx="722"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76" name="Google Shape;2576;p42"/>
              <p:cNvSpPr/>
              <p:nvPr/>
            </p:nvSpPr>
            <p:spPr>
              <a:xfrm>
                <a:off x="627" y="2585"/>
                <a:ext cx="683"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577" name="Google Shape;2577;p4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578" name="Google Shape;2578;p42"/>
            <p:cNvGrpSpPr/>
            <p:nvPr/>
          </p:nvGrpSpPr>
          <p:grpSpPr>
            <a:xfrm>
              <a:off x="4741" y="1327"/>
              <a:ext cx="580" cy="138"/>
              <a:chOff x="616" y="2568"/>
              <a:chExt cx="722" cy="138"/>
            </a:xfrm>
          </p:grpSpPr>
          <p:sp>
            <p:nvSpPr>
              <p:cNvPr id="2579" name="Google Shape;2579;p42"/>
              <p:cNvSpPr/>
              <p:nvPr/>
            </p:nvSpPr>
            <p:spPr>
              <a:xfrm>
                <a:off x="616" y="2568"/>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80" name="Google Shape;2580;p42"/>
              <p:cNvSpPr/>
              <p:nvPr/>
            </p:nvSpPr>
            <p:spPr>
              <a:xfrm>
                <a:off x="629" y="2584"/>
                <a:ext cx="689"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581" name="Google Shape;2581;p42"/>
            <p:cNvSpPr/>
            <p:nvPr/>
          </p:nvSpPr>
          <p:spPr>
            <a:xfrm>
              <a:off x="5252"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82" name="Google Shape;2582;p4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3" name="Google Shape;2583;p4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4" name="Google Shape;2584;p42"/>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85" name="Google Shape;2585;p4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6" name="Google Shape;2586;p42"/>
            <p:cNvSpPr/>
            <p:nvPr/>
          </p:nvSpPr>
          <p:spPr>
            <a:xfrm>
              <a:off x="4140" y="2676"/>
              <a:ext cx="1201"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87" name="Google Shape;2587;p42"/>
            <p:cNvSpPr/>
            <p:nvPr/>
          </p:nvSpPr>
          <p:spPr>
            <a:xfrm>
              <a:off x="4208" y="2713"/>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88" name="Google Shape;2588;p42"/>
            <p:cNvSpPr/>
            <p:nvPr/>
          </p:nvSpPr>
          <p:spPr>
            <a:xfrm>
              <a:off x="4307" y="2384"/>
              <a:ext cx="157"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89" name="Google Shape;2589;p42"/>
            <p:cNvSpPr/>
            <p:nvPr/>
          </p:nvSpPr>
          <p:spPr>
            <a:xfrm>
              <a:off x="4485" y="2384"/>
              <a:ext cx="162"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Calibri"/>
                <a:ea typeface="Calibri"/>
                <a:cs typeface="Calibri"/>
                <a:sym typeface="Calibri"/>
              </a:endParaRPr>
            </a:p>
          </p:txBody>
        </p:sp>
        <p:sp>
          <p:nvSpPr>
            <p:cNvPr id="2590" name="Google Shape;2590;p42"/>
            <p:cNvSpPr/>
            <p:nvPr/>
          </p:nvSpPr>
          <p:spPr>
            <a:xfrm>
              <a:off x="4662" y="2379"/>
              <a:ext cx="157"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91" name="Google Shape;2591;p42"/>
            <p:cNvSpPr/>
            <p:nvPr/>
          </p:nvSpPr>
          <p:spPr>
            <a:xfrm>
              <a:off x="5064" y="1837"/>
              <a:ext cx="84"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4"/>
                                        </p:tgtEl>
                                        <p:attrNameLst>
                                          <p:attrName>style.visibility</p:attrName>
                                        </p:attrNameLst>
                                      </p:cBhvr>
                                      <p:to>
                                        <p:strVal val="visible"/>
                                      </p:to>
                                    </p:set>
                                    <p:animEffect filter="fade" transition="in">
                                      <p:cBhvr>
                                        <p:cTn dur="2000"/>
                                        <p:tgtEl>
                                          <p:spTgt spid="254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552"/>
                                        </p:tgtEl>
                                        <p:attrNameLst>
                                          <p:attrName>style.visibility</p:attrName>
                                        </p:attrNameLst>
                                      </p:cBhvr>
                                      <p:to>
                                        <p:strVal val="visible"/>
                                      </p:to>
                                    </p:set>
                                    <p:animEffect filter="fade" transition="in">
                                      <p:cBhvr>
                                        <p:cTn dur="2000"/>
                                        <p:tgtEl>
                                          <p:spTgt spid="25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8"/>
                                        </p:tgtEl>
                                        <p:attrNameLst>
                                          <p:attrName>style.visibility</p:attrName>
                                        </p:attrNameLst>
                                      </p:cBhvr>
                                      <p:to>
                                        <p:strVal val="visible"/>
                                      </p:to>
                                    </p:set>
                                    <p:animEffect filter="fade" transition="in">
                                      <p:cBhvr>
                                        <p:cTn dur="2000"/>
                                        <p:tgtEl>
                                          <p:spTgt spid="253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541"/>
                                        </p:tgtEl>
                                        <p:attrNameLst>
                                          <p:attrName>style.visibility</p:attrName>
                                        </p:attrNameLst>
                                      </p:cBhvr>
                                      <p:to>
                                        <p:strVal val="visible"/>
                                      </p:to>
                                    </p:set>
                                    <p:animEffect filter="fade" transition="in">
                                      <p:cBhvr>
                                        <p:cTn dur="2000"/>
                                        <p:tgtEl>
                                          <p:spTgt spid="2541"/>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558"/>
                                        </p:tgtEl>
                                        <p:attrNameLst>
                                          <p:attrName>style.visibility</p:attrName>
                                        </p:attrNameLst>
                                      </p:cBhvr>
                                      <p:to>
                                        <p:strVal val="visible"/>
                                      </p:to>
                                    </p:set>
                                    <p:animEffect filter="fade" transition="in">
                                      <p:cBhvr>
                                        <p:cTn dur="500"/>
                                        <p:tgtEl>
                                          <p:spTgt spid="25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6" name="Shape 2596"/>
        <p:cNvGrpSpPr/>
        <p:nvPr/>
      </p:nvGrpSpPr>
      <p:grpSpPr>
        <a:xfrm>
          <a:off x="0" y="0"/>
          <a:ext cx="0" cy="0"/>
          <a:chOff x="0" y="0"/>
          <a:chExt cx="0" cy="0"/>
        </a:xfrm>
      </p:grpSpPr>
      <p:sp>
        <p:nvSpPr>
          <p:cNvPr id="2597" name="Google Shape;2597;p43"/>
          <p:cNvSpPr txBox="1"/>
          <p:nvPr>
            <p:ph type="title"/>
          </p:nvPr>
        </p:nvSpPr>
        <p:spPr>
          <a:xfrm>
            <a:off x="798691" y="37987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Web caches (proxy servers)</a:t>
            </a:r>
            <a:endParaRPr sz="4400"/>
          </a:p>
        </p:txBody>
      </p:sp>
      <p:sp>
        <p:nvSpPr>
          <p:cNvPr id="2598" name="Google Shape;2598;p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2599" name="Google Shape;2599;p43"/>
          <p:cNvSpPr txBox="1"/>
          <p:nvPr/>
        </p:nvSpPr>
        <p:spPr>
          <a:xfrm>
            <a:off x="600308" y="1534695"/>
            <a:ext cx="5239018" cy="4648200"/>
          </a:xfrm>
          <a:prstGeom prst="rect">
            <a:avLst/>
          </a:prstGeom>
          <a:noFill/>
          <a:ln>
            <a:noFill/>
          </a:ln>
        </p:spPr>
        <p:txBody>
          <a:bodyPr anchorCtr="0" anchor="t" bIns="45700" lIns="91425" spcFirstLastPara="1" rIns="91425" wrap="square" tIns="45700">
            <a:noAutofit/>
          </a:bodyPr>
          <a:lstStyle/>
          <a:p>
            <a:pPr indent="-277813" lvl="0" marL="407988" marR="0" rtl="0" algn="l">
              <a:lnSpc>
                <a:spcPct val="90000"/>
              </a:lnSpc>
              <a:spcBef>
                <a:spcPts val="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Web cache acts as both client and server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server for original requesting client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client to origin server</a:t>
            </a:r>
            <a:endParaRPr/>
          </a:p>
          <a:p>
            <a:pPr indent="-277813" lvl="0" marL="407988"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typically cache is installed by ISP (university, company, residential ISP)</a:t>
            </a:r>
            <a:endParaRPr/>
          </a:p>
        </p:txBody>
      </p:sp>
      <p:sp>
        <p:nvSpPr>
          <p:cNvPr id="2600" name="Google Shape;2600;p43"/>
          <p:cNvSpPr txBox="1"/>
          <p:nvPr/>
        </p:nvSpPr>
        <p:spPr>
          <a:xfrm>
            <a:off x="5839326" y="1561432"/>
            <a:ext cx="6047678"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Why </a:t>
            </a:r>
            <a:r>
              <a:rPr lang="en-US" sz="3200">
                <a:solidFill>
                  <a:schemeClr val="dk1"/>
                </a:solidFill>
                <a:latin typeface="Calibri"/>
                <a:ea typeface="Calibri"/>
                <a:cs typeface="Calibri"/>
                <a:sym typeface="Calibri"/>
              </a:rPr>
              <a:t>Web caching?</a:t>
            </a:r>
            <a:endParaRPr/>
          </a:p>
          <a:p>
            <a:pPr indent="-287338" lvl="0" marL="407988"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reduce response time for client request </a:t>
            </a:r>
            <a:endParaRPr/>
          </a:p>
          <a:p>
            <a:pPr indent="-287338" lvl="1" marL="750888"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cache is closer to client</a:t>
            </a:r>
            <a:endParaRPr/>
          </a:p>
          <a:p>
            <a:pPr indent="-287338" lvl="0" marL="407988"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reduce traffic on an institution’s access link</a:t>
            </a:r>
            <a:endParaRPr/>
          </a:p>
          <a:p>
            <a:pPr indent="-287338" lvl="0" marL="407988"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Internet is dense with caches </a:t>
            </a:r>
            <a:endParaRPr/>
          </a:p>
          <a:p>
            <a:pPr indent="-287338" lvl="1" marL="750888"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enables “poor” content providers to more effectively deliver content</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5" name="Shape 2605"/>
        <p:cNvGrpSpPr/>
        <p:nvPr/>
      </p:nvGrpSpPr>
      <p:grpSpPr>
        <a:xfrm>
          <a:off x="0" y="0"/>
          <a:ext cx="0" cy="0"/>
          <a:chOff x="0" y="0"/>
          <a:chExt cx="0" cy="0"/>
        </a:xfrm>
      </p:grpSpPr>
      <p:sp>
        <p:nvSpPr>
          <p:cNvPr id="2606" name="Google Shape;2606;p44"/>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Application Layer</a:t>
            </a:r>
            <a:endParaRPr sz="1200">
              <a:solidFill>
                <a:schemeClr val="dk1"/>
              </a:solidFill>
              <a:latin typeface="Tahoma"/>
              <a:ea typeface="Tahoma"/>
              <a:cs typeface="Tahoma"/>
              <a:sym typeface="Tahoma"/>
            </a:endParaRPr>
          </a:p>
        </p:txBody>
      </p:sp>
      <p:sp>
        <p:nvSpPr>
          <p:cNvPr id="2607" name="Google Shape;2607;p44"/>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2608" name="Google Shape;2608;p44"/>
          <p:cNvPicPr preferRelativeResize="0"/>
          <p:nvPr/>
        </p:nvPicPr>
        <p:blipFill rotWithShape="1">
          <a:blip r:embed="rId3">
            <a:alphaModFix/>
          </a:blip>
          <a:srcRect b="0" l="0" r="0" t="0"/>
          <a:stretch/>
        </p:blipFill>
        <p:spPr>
          <a:xfrm>
            <a:off x="2012951" y="806450"/>
            <a:ext cx="3656013" cy="173038"/>
          </a:xfrm>
          <a:prstGeom prst="rect">
            <a:avLst/>
          </a:prstGeom>
          <a:noFill/>
          <a:ln>
            <a:noFill/>
          </a:ln>
        </p:spPr>
      </p:pic>
      <p:cxnSp>
        <p:nvCxnSpPr>
          <p:cNvPr id="2609" name="Google Shape;2609;p44"/>
          <p:cNvCxnSpPr/>
          <p:nvPr/>
        </p:nvCxnSpPr>
        <p:spPr>
          <a:xfrm>
            <a:off x="7115175" y="2409825"/>
            <a:ext cx="285750" cy="114300"/>
          </a:xfrm>
          <a:prstGeom prst="straightConnector1">
            <a:avLst/>
          </a:prstGeom>
          <a:noFill/>
          <a:ln cap="flat" cmpd="sng" w="28575">
            <a:solidFill>
              <a:schemeClr val="accent2"/>
            </a:solidFill>
            <a:prstDash val="solid"/>
            <a:round/>
            <a:headEnd len="med" w="med" type="none"/>
            <a:tailEnd len="med" w="med" type="none"/>
          </a:ln>
        </p:spPr>
      </p:cxnSp>
      <p:sp>
        <p:nvSpPr>
          <p:cNvPr id="2610" name="Google Shape;2610;p44"/>
          <p:cNvSpPr txBox="1"/>
          <p:nvPr>
            <p:ph type="title"/>
          </p:nvPr>
        </p:nvSpPr>
        <p:spPr>
          <a:xfrm>
            <a:off x="1927225" y="269876"/>
            <a:ext cx="8083550" cy="6635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Calibri"/>
              <a:buNone/>
            </a:pPr>
            <a:r>
              <a:rPr lang="en-US" sz="4000"/>
              <a:t>Caching Example A: slim access link </a:t>
            </a:r>
            <a:endParaRPr/>
          </a:p>
        </p:txBody>
      </p:sp>
      <p:sp>
        <p:nvSpPr>
          <p:cNvPr id="2611" name="Google Shape;2611;p44"/>
          <p:cNvSpPr txBox="1"/>
          <p:nvPr/>
        </p:nvSpPr>
        <p:spPr>
          <a:xfrm>
            <a:off x="9544050" y="1824038"/>
            <a:ext cx="93345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origin</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servers</a:t>
            </a:r>
            <a:endParaRPr/>
          </a:p>
        </p:txBody>
      </p:sp>
      <p:cxnSp>
        <p:nvCxnSpPr>
          <p:cNvPr id="2612" name="Google Shape;2612;p44"/>
          <p:cNvCxnSpPr/>
          <p:nvPr/>
        </p:nvCxnSpPr>
        <p:spPr>
          <a:xfrm>
            <a:off x="7924801" y="2028826"/>
            <a:ext cx="66675" cy="276225"/>
          </a:xfrm>
          <a:prstGeom prst="straightConnector1">
            <a:avLst/>
          </a:prstGeom>
          <a:noFill/>
          <a:ln cap="flat" cmpd="sng" w="28575">
            <a:solidFill>
              <a:schemeClr val="accent2"/>
            </a:solidFill>
            <a:prstDash val="solid"/>
            <a:round/>
            <a:headEnd len="med" w="med" type="none"/>
            <a:tailEnd len="med" w="med" type="none"/>
          </a:ln>
        </p:spPr>
      </p:cxnSp>
      <p:cxnSp>
        <p:nvCxnSpPr>
          <p:cNvPr id="2613" name="Google Shape;2613;p44"/>
          <p:cNvCxnSpPr/>
          <p:nvPr/>
        </p:nvCxnSpPr>
        <p:spPr>
          <a:xfrm flipH="1">
            <a:off x="8553451" y="2066926"/>
            <a:ext cx="9525" cy="238125"/>
          </a:xfrm>
          <a:prstGeom prst="straightConnector1">
            <a:avLst/>
          </a:prstGeom>
          <a:noFill/>
          <a:ln cap="flat" cmpd="sng" w="28575">
            <a:solidFill>
              <a:schemeClr val="accent2"/>
            </a:solidFill>
            <a:prstDash val="solid"/>
            <a:round/>
            <a:headEnd len="med" w="med" type="none"/>
            <a:tailEnd len="med" w="med" type="none"/>
          </a:ln>
        </p:spPr>
      </p:cxnSp>
      <p:cxnSp>
        <p:nvCxnSpPr>
          <p:cNvPr id="2614" name="Google Shape;2614;p44"/>
          <p:cNvCxnSpPr/>
          <p:nvPr/>
        </p:nvCxnSpPr>
        <p:spPr>
          <a:xfrm flipH="1">
            <a:off x="9010650" y="2228850"/>
            <a:ext cx="133350" cy="209550"/>
          </a:xfrm>
          <a:prstGeom prst="straightConnector1">
            <a:avLst/>
          </a:prstGeom>
          <a:noFill/>
          <a:ln cap="flat" cmpd="sng" w="28575">
            <a:solidFill>
              <a:schemeClr val="accent2"/>
            </a:solidFill>
            <a:prstDash val="solid"/>
            <a:round/>
            <a:headEnd len="med" w="med" type="none"/>
            <a:tailEnd len="med" w="med" type="none"/>
          </a:ln>
        </p:spPr>
      </p:cxnSp>
      <p:cxnSp>
        <p:nvCxnSpPr>
          <p:cNvPr id="2615" name="Google Shape;2615;p44"/>
          <p:cNvCxnSpPr/>
          <p:nvPr/>
        </p:nvCxnSpPr>
        <p:spPr>
          <a:xfrm rot="10800000">
            <a:off x="9172575" y="2990850"/>
            <a:ext cx="247650" cy="0"/>
          </a:xfrm>
          <a:prstGeom prst="straightConnector1">
            <a:avLst/>
          </a:prstGeom>
          <a:noFill/>
          <a:ln cap="flat" cmpd="sng" w="28575">
            <a:solidFill>
              <a:schemeClr val="accent2"/>
            </a:solidFill>
            <a:prstDash val="solid"/>
            <a:round/>
            <a:headEnd len="med" w="med" type="none"/>
            <a:tailEnd len="med" w="med" type="none"/>
          </a:ln>
        </p:spPr>
      </p:cxnSp>
      <p:sp>
        <p:nvSpPr>
          <p:cNvPr id="2616" name="Google Shape;2616;p44"/>
          <p:cNvSpPr/>
          <p:nvPr/>
        </p:nvSpPr>
        <p:spPr>
          <a:xfrm>
            <a:off x="7199314" y="2022475"/>
            <a:ext cx="2174875" cy="1581150"/>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7" name="Google Shape;2617;p44"/>
          <p:cNvSpPr txBox="1"/>
          <p:nvPr/>
        </p:nvSpPr>
        <p:spPr>
          <a:xfrm>
            <a:off x="7905751" y="2354264"/>
            <a:ext cx="931863"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public</a:t>
            </a:r>
            <a:endParaRPr/>
          </a:p>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 Internet</a:t>
            </a:r>
            <a:endParaRPr sz="2400">
              <a:solidFill>
                <a:srgbClr val="CC0000"/>
              </a:solidFill>
              <a:latin typeface="Arial"/>
              <a:ea typeface="Arial"/>
              <a:cs typeface="Arial"/>
              <a:sym typeface="Arial"/>
            </a:endParaRPr>
          </a:p>
        </p:txBody>
      </p:sp>
      <p:sp>
        <p:nvSpPr>
          <p:cNvPr id="2618" name="Google Shape;2618;p44"/>
          <p:cNvSpPr/>
          <p:nvPr/>
        </p:nvSpPr>
        <p:spPr>
          <a:xfrm>
            <a:off x="6780213" y="4392613"/>
            <a:ext cx="2965450" cy="1390650"/>
          </a:xfrm>
          <a:custGeom>
            <a:rect b="b" l="l" r="r" t="t"/>
            <a:pathLst>
              <a:path extrusionOk="0" h="876" w="1868">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619" name="Google Shape;2619;p44"/>
          <p:cNvCxnSpPr/>
          <p:nvPr/>
        </p:nvCxnSpPr>
        <p:spPr>
          <a:xfrm flipH="1">
            <a:off x="7229476" y="4702175"/>
            <a:ext cx="855663" cy="431800"/>
          </a:xfrm>
          <a:prstGeom prst="straightConnector1">
            <a:avLst/>
          </a:prstGeom>
          <a:noFill/>
          <a:ln cap="flat" cmpd="sng" w="28575">
            <a:solidFill>
              <a:schemeClr val="dk1"/>
            </a:solidFill>
            <a:prstDash val="solid"/>
            <a:round/>
            <a:headEnd len="med" w="med" type="none"/>
            <a:tailEnd len="med" w="med" type="none"/>
          </a:ln>
        </p:spPr>
      </p:cxnSp>
      <p:cxnSp>
        <p:nvCxnSpPr>
          <p:cNvPr id="2620" name="Google Shape;2620;p44"/>
          <p:cNvCxnSpPr/>
          <p:nvPr/>
        </p:nvCxnSpPr>
        <p:spPr>
          <a:xfrm flipH="1">
            <a:off x="7739063" y="4749800"/>
            <a:ext cx="563562" cy="393700"/>
          </a:xfrm>
          <a:prstGeom prst="straightConnector1">
            <a:avLst/>
          </a:prstGeom>
          <a:noFill/>
          <a:ln cap="flat" cmpd="sng" w="28575">
            <a:solidFill>
              <a:schemeClr val="dk1"/>
            </a:solidFill>
            <a:prstDash val="solid"/>
            <a:round/>
            <a:headEnd len="med" w="med" type="none"/>
            <a:tailEnd len="med" w="med" type="none"/>
          </a:ln>
        </p:spPr>
      </p:cxnSp>
      <p:cxnSp>
        <p:nvCxnSpPr>
          <p:cNvPr id="2621" name="Google Shape;2621;p44"/>
          <p:cNvCxnSpPr/>
          <p:nvPr/>
        </p:nvCxnSpPr>
        <p:spPr>
          <a:xfrm flipH="1">
            <a:off x="8277226" y="4756150"/>
            <a:ext cx="149225" cy="382588"/>
          </a:xfrm>
          <a:prstGeom prst="straightConnector1">
            <a:avLst/>
          </a:prstGeom>
          <a:noFill/>
          <a:ln cap="flat" cmpd="sng" w="28575">
            <a:solidFill>
              <a:schemeClr val="dk1"/>
            </a:solidFill>
            <a:prstDash val="solid"/>
            <a:round/>
            <a:headEnd len="med" w="med" type="none"/>
            <a:tailEnd len="med" w="med" type="none"/>
          </a:ln>
        </p:spPr>
      </p:cxnSp>
      <p:cxnSp>
        <p:nvCxnSpPr>
          <p:cNvPr id="2622" name="Google Shape;2622;p44"/>
          <p:cNvCxnSpPr/>
          <p:nvPr/>
        </p:nvCxnSpPr>
        <p:spPr>
          <a:xfrm>
            <a:off x="8643939" y="4735513"/>
            <a:ext cx="123825" cy="412750"/>
          </a:xfrm>
          <a:prstGeom prst="straightConnector1">
            <a:avLst/>
          </a:prstGeom>
          <a:noFill/>
          <a:ln cap="flat" cmpd="sng" w="28575">
            <a:solidFill>
              <a:schemeClr val="dk1"/>
            </a:solidFill>
            <a:prstDash val="solid"/>
            <a:round/>
            <a:headEnd len="med" w="med" type="none"/>
            <a:tailEnd len="med" w="med" type="none"/>
          </a:ln>
        </p:spPr>
      </p:cxnSp>
      <p:cxnSp>
        <p:nvCxnSpPr>
          <p:cNvPr id="2623" name="Google Shape;2623;p44"/>
          <p:cNvCxnSpPr/>
          <p:nvPr/>
        </p:nvCxnSpPr>
        <p:spPr>
          <a:xfrm>
            <a:off x="8439150" y="3467100"/>
            <a:ext cx="0" cy="1062038"/>
          </a:xfrm>
          <a:prstGeom prst="straightConnector1">
            <a:avLst/>
          </a:prstGeom>
          <a:noFill/>
          <a:ln cap="flat" cmpd="sng" w="28575">
            <a:solidFill>
              <a:schemeClr val="dk1"/>
            </a:solidFill>
            <a:prstDash val="solid"/>
            <a:round/>
            <a:headEnd len="med" w="med" type="none"/>
            <a:tailEnd len="med" w="med" type="none"/>
          </a:ln>
        </p:spPr>
      </p:cxnSp>
      <p:sp>
        <p:nvSpPr>
          <p:cNvPr id="2624" name="Google Shape;2624;p44"/>
          <p:cNvSpPr txBox="1"/>
          <p:nvPr/>
        </p:nvSpPr>
        <p:spPr>
          <a:xfrm>
            <a:off x="6807201" y="4279901"/>
            <a:ext cx="1198563"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institutional</a:t>
            </a:r>
            <a:endParaRPr/>
          </a:p>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network</a:t>
            </a:r>
            <a:endParaRPr sz="2400">
              <a:solidFill>
                <a:srgbClr val="CC0000"/>
              </a:solidFill>
              <a:latin typeface="Arial"/>
              <a:ea typeface="Arial"/>
              <a:cs typeface="Arial"/>
              <a:sym typeface="Arial"/>
            </a:endParaRPr>
          </a:p>
        </p:txBody>
      </p:sp>
      <p:sp>
        <p:nvSpPr>
          <p:cNvPr id="2625" name="Google Shape;2625;p44"/>
          <p:cNvSpPr txBox="1"/>
          <p:nvPr/>
        </p:nvSpPr>
        <p:spPr>
          <a:xfrm>
            <a:off x="8689976" y="4660900"/>
            <a:ext cx="1541463" cy="3381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100 Mbps LAN</a:t>
            </a:r>
            <a:endParaRPr sz="2400">
              <a:solidFill>
                <a:schemeClr val="accent2"/>
              </a:solidFill>
              <a:latin typeface="Arial"/>
              <a:ea typeface="Arial"/>
              <a:cs typeface="Arial"/>
              <a:sym typeface="Arial"/>
            </a:endParaRPr>
          </a:p>
        </p:txBody>
      </p:sp>
      <p:grpSp>
        <p:nvGrpSpPr>
          <p:cNvPr id="2626" name="Google Shape;2626;p44"/>
          <p:cNvGrpSpPr/>
          <p:nvPr/>
        </p:nvGrpSpPr>
        <p:grpSpPr>
          <a:xfrm>
            <a:off x="8023226" y="3165476"/>
            <a:ext cx="881063" cy="307975"/>
            <a:chOff x="2356" y="1300"/>
            <a:chExt cx="555" cy="194"/>
          </a:xfrm>
        </p:grpSpPr>
        <p:sp>
          <p:nvSpPr>
            <p:cNvPr id="2627" name="Google Shape;2627;p44"/>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2628" name="Google Shape;2628;p44"/>
            <p:cNvSpPr/>
            <p:nvPr/>
          </p:nvSpPr>
          <p:spPr>
            <a:xfrm>
              <a:off x="2357" y="1374"/>
              <a:ext cx="554" cy="66"/>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2629" name="Google Shape;2629;p44"/>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grpSp>
          <p:nvGrpSpPr>
            <p:cNvPr id="2630" name="Google Shape;2630;p44"/>
            <p:cNvGrpSpPr/>
            <p:nvPr/>
          </p:nvGrpSpPr>
          <p:grpSpPr>
            <a:xfrm>
              <a:off x="2468" y="1332"/>
              <a:ext cx="310" cy="60"/>
              <a:chOff x="2468" y="1332"/>
              <a:chExt cx="310" cy="60"/>
            </a:xfrm>
          </p:grpSpPr>
          <p:sp>
            <p:nvSpPr>
              <p:cNvPr id="2631" name="Google Shape;2631;p44"/>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2" name="Google Shape;2632;p44"/>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2633" name="Google Shape;2633;p44"/>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2634" name="Google Shape;2634;p44"/>
            <p:cNvCxnSpPr/>
            <p:nvPr/>
          </p:nvCxnSpPr>
          <p:spPr>
            <a:xfrm>
              <a:off x="2907"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2635" name="Google Shape;2635;p44"/>
          <p:cNvGrpSpPr/>
          <p:nvPr/>
        </p:nvGrpSpPr>
        <p:grpSpPr>
          <a:xfrm>
            <a:off x="8002588" y="4460876"/>
            <a:ext cx="881062" cy="307975"/>
            <a:chOff x="2356" y="1300"/>
            <a:chExt cx="555" cy="194"/>
          </a:xfrm>
        </p:grpSpPr>
        <p:sp>
          <p:nvSpPr>
            <p:cNvPr id="2636" name="Google Shape;2636;p44"/>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2637" name="Google Shape;2637;p44"/>
            <p:cNvSpPr/>
            <p:nvPr/>
          </p:nvSpPr>
          <p:spPr>
            <a:xfrm>
              <a:off x="2357" y="1374"/>
              <a:ext cx="554" cy="66"/>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2638" name="Google Shape;2638;p44"/>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grpSp>
          <p:nvGrpSpPr>
            <p:cNvPr id="2639" name="Google Shape;2639;p44"/>
            <p:cNvGrpSpPr/>
            <p:nvPr/>
          </p:nvGrpSpPr>
          <p:grpSpPr>
            <a:xfrm>
              <a:off x="2468" y="1332"/>
              <a:ext cx="310" cy="60"/>
              <a:chOff x="2468" y="1332"/>
              <a:chExt cx="310" cy="60"/>
            </a:xfrm>
          </p:grpSpPr>
          <p:sp>
            <p:nvSpPr>
              <p:cNvPr id="2640" name="Google Shape;2640;p44"/>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1" name="Google Shape;2641;p44"/>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2642" name="Google Shape;2642;p44"/>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2643" name="Google Shape;2643;p44"/>
            <p:cNvCxnSpPr/>
            <p:nvPr/>
          </p:nvCxnSpPr>
          <p:spPr>
            <a:xfrm>
              <a:off x="2907" y="1363"/>
              <a:ext cx="0" cy="84"/>
            </a:xfrm>
            <a:prstGeom prst="straightConnector1">
              <a:avLst/>
            </a:prstGeom>
            <a:noFill/>
            <a:ln cap="flat" cmpd="sng" w="9525">
              <a:solidFill>
                <a:schemeClr val="dk1"/>
              </a:solidFill>
              <a:prstDash val="solid"/>
              <a:round/>
              <a:headEnd len="med" w="med" type="none"/>
              <a:tailEnd len="med" w="med" type="none"/>
            </a:ln>
          </p:spPr>
        </p:cxnSp>
      </p:grpSp>
      <p:sp>
        <p:nvSpPr>
          <p:cNvPr id="2644" name="Google Shape;2644;p44"/>
          <p:cNvSpPr/>
          <p:nvPr/>
        </p:nvSpPr>
        <p:spPr>
          <a:xfrm>
            <a:off x="1922463" y="1335089"/>
            <a:ext cx="4756150" cy="51704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040"/>
              <a:buFont typeface="Noto Sans Symbols"/>
              <a:buNone/>
            </a:pPr>
            <a:r>
              <a:rPr i="1" lang="en-US" sz="1600">
                <a:solidFill>
                  <a:srgbClr val="CC0000"/>
                </a:solidFill>
                <a:latin typeface="Gill Sans"/>
                <a:ea typeface="Gill Sans"/>
                <a:cs typeface="Gill Sans"/>
                <a:sym typeface="Gill Sans"/>
              </a:rPr>
              <a:t>assumptions:</a:t>
            </a:r>
            <a:endParaRPr/>
          </a:p>
          <a:p>
            <a:pPr indent="-342900" lvl="0" marL="34290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avg object size: 1Mbits</a:t>
            </a:r>
            <a:endParaRPr/>
          </a:p>
          <a:p>
            <a:pPr indent="-342900" lvl="0" marL="34290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avg request rate from browsers to origin servers:15/sec</a:t>
            </a:r>
            <a:endParaRPr/>
          </a:p>
          <a:p>
            <a:pPr indent="-342900" lvl="0" marL="34290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RTT from institutional router to any origin server: 2 sec (Internet delay) </a:t>
            </a:r>
            <a:endParaRPr/>
          </a:p>
          <a:p>
            <a:pPr indent="-342900" lvl="0" marL="34290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access link rate: 15 Mbps</a:t>
            </a:r>
            <a:endParaRPr/>
          </a:p>
          <a:p>
            <a:pPr indent="-342900" lvl="0" marL="34290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LAN delay = 10ms = 0.01s</a:t>
            </a:r>
            <a:endParaRPr/>
          </a:p>
          <a:p>
            <a:pPr indent="-342900" lvl="0" marL="342900" marR="0" rtl="0" algn="l">
              <a:lnSpc>
                <a:spcPct val="85000"/>
              </a:lnSpc>
              <a:spcBef>
                <a:spcPts val="720"/>
              </a:spcBef>
              <a:spcAft>
                <a:spcPts val="0"/>
              </a:spcAft>
              <a:buClr>
                <a:srgbClr val="000099"/>
              </a:buClr>
              <a:buSzPts val="1040"/>
              <a:buFont typeface="Noto Sans Symbols"/>
              <a:buNone/>
            </a:pPr>
            <a:r>
              <a:rPr i="1" lang="en-US" sz="1600">
                <a:solidFill>
                  <a:srgbClr val="CC0000"/>
                </a:solidFill>
                <a:latin typeface="Gill Sans"/>
                <a:ea typeface="Gill Sans"/>
                <a:cs typeface="Gill Sans"/>
                <a:sym typeface="Gill Sans"/>
              </a:rPr>
              <a:t>consequences:</a:t>
            </a:r>
            <a:endParaRPr/>
          </a:p>
          <a:p>
            <a:pPr indent="-342900" lvl="0" marL="34290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LAN utilization:</a:t>
            </a:r>
            <a:endParaRPr/>
          </a:p>
          <a:p>
            <a:pPr indent="0" lvl="0" marL="0" marR="0" rtl="0" algn="l">
              <a:lnSpc>
                <a:spcPct val="85000"/>
              </a:lnSpc>
              <a:spcBef>
                <a:spcPts val="0"/>
              </a:spcBef>
              <a:spcAft>
                <a:spcPts val="0"/>
              </a:spcAft>
              <a:buNone/>
            </a:pPr>
            <a:r>
              <a:rPr lang="en-US" sz="1600">
                <a:solidFill>
                  <a:schemeClr val="dk1"/>
                </a:solidFill>
                <a:latin typeface="Gill Sans"/>
                <a:ea typeface="Gill Sans"/>
                <a:cs typeface="Gill Sans"/>
                <a:sym typeface="Gill Sans"/>
              </a:rPr>
              <a:t>	= La/R = 15req/sec x 1Mbits/ 100Mbps</a:t>
            </a:r>
            <a:endParaRPr/>
          </a:p>
          <a:p>
            <a:pPr indent="0" lvl="0" marL="0" marR="0" rtl="0" algn="l">
              <a:lnSpc>
                <a:spcPct val="85000"/>
              </a:lnSpc>
              <a:spcBef>
                <a:spcPts val="0"/>
              </a:spcBef>
              <a:spcAft>
                <a:spcPts val="0"/>
              </a:spcAft>
              <a:buNone/>
            </a:pPr>
            <a:r>
              <a:rPr lang="en-US" sz="1600">
                <a:solidFill>
                  <a:schemeClr val="dk1"/>
                </a:solidFill>
                <a:latin typeface="Gill Sans"/>
                <a:ea typeface="Gill Sans"/>
                <a:cs typeface="Gill Sans"/>
                <a:sym typeface="Gill Sans"/>
              </a:rPr>
              <a:t>                 = 0.15 = 15%</a:t>
            </a:r>
            <a:endParaRPr/>
          </a:p>
          <a:p>
            <a:pPr indent="-342900" lvl="0" marL="34290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access link utilization</a:t>
            </a:r>
            <a:endParaRPr/>
          </a:p>
          <a:p>
            <a:pPr indent="0" lvl="0" marL="0" marR="0" rtl="0" algn="l">
              <a:lnSpc>
                <a:spcPct val="85000"/>
              </a:lnSpc>
              <a:spcBef>
                <a:spcPts val="0"/>
              </a:spcBef>
              <a:spcAft>
                <a:spcPts val="0"/>
              </a:spcAft>
              <a:buNone/>
            </a:pPr>
            <a:r>
              <a:rPr lang="en-US" sz="1600">
                <a:solidFill>
                  <a:schemeClr val="dk1"/>
                </a:solidFill>
                <a:latin typeface="Gill Sans"/>
                <a:ea typeface="Gill Sans"/>
                <a:cs typeface="Gill Sans"/>
                <a:sym typeface="Gill Sans"/>
              </a:rPr>
              <a:t>	 = La/R = 15req/sec x 1Mbits/ 15Mbps</a:t>
            </a:r>
            <a:endParaRPr/>
          </a:p>
          <a:p>
            <a:pPr indent="0" lvl="0" marL="0" marR="0" rtl="0" algn="l">
              <a:lnSpc>
                <a:spcPct val="85000"/>
              </a:lnSpc>
              <a:spcBef>
                <a:spcPts val="0"/>
              </a:spcBef>
              <a:spcAft>
                <a:spcPts val="0"/>
              </a:spcAft>
              <a:buNone/>
            </a:pPr>
            <a:r>
              <a:rPr lang="en-US" sz="1600">
                <a:solidFill>
                  <a:srgbClr val="CC0000"/>
                </a:solidFill>
                <a:latin typeface="Gill Sans"/>
                <a:ea typeface="Gill Sans"/>
                <a:cs typeface="Gill Sans"/>
                <a:sym typeface="Gill Sans"/>
              </a:rPr>
              <a:t>	 = 1= 100%</a:t>
            </a:r>
            <a:endParaRPr/>
          </a:p>
          <a:p>
            <a:pPr indent="-342900" lvl="0" marL="34290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total delay   = Internet delay + access link delay +    </a:t>
            </a:r>
            <a:endParaRPr/>
          </a:p>
          <a:p>
            <a:pPr indent="0" lvl="0" marL="0" marR="0" rtl="0" algn="l">
              <a:lnSpc>
                <a:spcPct val="85000"/>
              </a:lnSpc>
              <a:spcBef>
                <a:spcPts val="0"/>
              </a:spcBef>
              <a:spcAft>
                <a:spcPts val="0"/>
              </a:spcAft>
              <a:buNone/>
            </a:pPr>
            <a:r>
              <a:rPr lang="en-US" sz="1600">
                <a:solidFill>
                  <a:schemeClr val="dk1"/>
                </a:solidFill>
                <a:latin typeface="Gill Sans"/>
                <a:ea typeface="Gill Sans"/>
                <a:cs typeface="Gill Sans"/>
                <a:sym typeface="Gill Sans"/>
              </a:rPr>
              <a:t>                           LAN delay</a:t>
            </a:r>
            <a:endParaRPr/>
          </a:p>
          <a:p>
            <a:pPr indent="-342900" lvl="0" marL="342900" marR="0" rtl="0" algn="l">
              <a:lnSpc>
                <a:spcPct val="85000"/>
              </a:lnSpc>
              <a:spcBef>
                <a:spcPts val="0"/>
              </a:spcBef>
              <a:spcAft>
                <a:spcPts val="0"/>
              </a:spcAft>
              <a:buClr>
                <a:srgbClr val="000099"/>
              </a:buClr>
              <a:buSzPts val="1040"/>
              <a:buFont typeface="Noto Sans Symbols"/>
              <a:buNone/>
            </a:pPr>
            <a:r>
              <a:rPr lang="en-US" sz="1600">
                <a:solidFill>
                  <a:schemeClr val="dk1"/>
                </a:solidFill>
                <a:latin typeface="Gill Sans"/>
                <a:ea typeface="Gill Sans"/>
                <a:cs typeface="Gill Sans"/>
                <a:sym typeface="Gill Sans"/>
              </a:rPr>
              <a:t>                        =  2 sec + </a:t>
            </a:r>
            <a:r>
              <a:rPr lang="en-US" sz="1600">
                <a:solidFill>
                  <a:srgbClr val="FF0000"/>
                </a:solidFill>
                <a:latin typeface="Gill Sans"/>
                <a:ea typeface="Gill Sans"/>
                <a:cs typeface="Gill Sans"/>
                <a:sym typeface="Gill Sans"/>
              </a:rPr>
              <a:t>minutes</a:t>
            </a:r>
            <a:r>
              <a:rPr lang="en-US" sz="1600">
                <a:solidFill>
                  <a:schemeClr val="dk1"/>
                </a:solidFill>
                <a:latin typeface="Gill Sans"/>
                <a:ea typeface="Gill Sans"/>
                <a:cs typeface="Gill Sans"/>
                <a:sym typeface="Gill Sans"/>
              </a:rPr>
              <a:t> + µsecs</a:t>
            </a:r>
            <a:endParaRPr/>
          </a:p>
          <a:p>
            <a:pPr indent="-342900" lvl="0" marL="342900" marR="0" rtl="0" algn="l">
              <a:lnSpc>
                <a:spcPct val="85000"/>
              </a:lnSpc>
              <a:spcBef>
                <a:spcPts val="0"/>
              </a:spcBef>
              <a:spcAft>
                <a:spcPts val="0"/>
              </a:spcAft>
              <a:buClr>
                <a:srgbClr val="000099"/>
              </a:buClr>
              <a:buSzPts val="1040"/>
              <a:buFont typeface="Noto Sans Symbols"/>
              <a:buNone/>
            </a:pPr>
            <a:r>
              <a:rPr lang="en-US" sz="1600">
                <a:solidFill>
                  <a:schemeClr val="dk1"/>
                </a:solidFill>
                <a:latin typeface="Gill Sans"/>
                <a:ea typeface="Gill Sans"/>
                <a:cs typeface="Gill Sans"/>
                <a:sym typeface="Gill Sans"/>
              </a:rPr>
              <a:t>		        = minutes</a:t>
            </a:r>
            <a:endParaRPr/>
          </a:p>
          <a:p>
            <a:pPr indent="-276860" lvl="0" marL="342900" marR="0" rtl="0" algn="l">
              <a:lnSpc>
                <a:spcPct val="85000"/>
              </a:lnSpc>
              <a:spcBef>
                <a:spcPts val="0"/>
              </a:spcBef>
              <a:spcAft>
                <a:spcPts val="0"/>
              </a:spcAft>
              <a:buClr>
                <a:srgbClr val="000099"/>
              </a:buClr>
              <a:buSzPts val="1040"/>
              <a:buFont typeface="Noto Sans Symbols"/>
              <a:buNone/>
            </a:pPr>
            <a:r>
              <a:t/>
            </a:r>
            <a:endParaRPr sz="1600">
              <a:solidFill>
                <a:schemeClr val="dk1"/>
              </a:solidFill>
              <a:latin typeface="Gill Sans"/>
              <a:ea typeface="Gill Sans"/>
              <a:cs typeface="Gill Sans"/>
              <a:sym typeface="Gill Sans"/>
            </a:endParaRPr>
          </a:p>
          <a:p>
            <a:pPr indent="-276860" lvl="0" marL="342900" marR="0" rtl="0" algn="l">
              <a:lnSpc>
                <a:spcPct val="85000"/>
              </a:lnSpc>
              <a:spcBef>
                <a:spcPts val="0"/>
              </a:spcBef>
              <a:spcAft>
                <a:spcPts val="0"/>
              </a:spcAft>
              <a:buClr>
                <a:srgbClr val="000099"/>
              </a:buClr>
              <a:buSzPts val="1040"/>
              <a:buFont typeface="Noto Sans Symbols"/>
              <a:buNone/>
            </a:pPr>
            <a:r>
              <a:t/>
            </a:r>
            <a:endParaRPr sz="1600">
              <a:solidFill>
                <a:schemeClr val="dk1"/>
              </a:solidFill>
              <a:latin typeface="Gill Sans"/>
              <a:ea typeface="Gill Sans"/>
              <a:cs typeface="Gill Sans"/>
              <a:sym typeface="Gill Sans"/>
            </a:endParaRPr>
          </a:p>
        </p:txBody>
      </p:sp>
      <p:sp>
        <p:nvSpPr>
          <p:cNvPr id="2645" name="Google Shape;2645;p44"/>
          <p:cNvSpPr/>
          <p:nvPr/>
        </p:nvSpPr>
        <p:spPr>
          <a:xfrm>
            <a:off x="3357563" y="4335463"/>
            <a:ext cx="619125" cy="315912"/>
          </a:xfrm>
          <a:prstGeom prst="ellipse">
            <a:avLst/>
          </a:prstGeom>
          <a:noFill/>
          <a:ln cap="flat" cmpd="sng" w="1905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46" name="Google Shape;2646;p44"/>
          <p:cNvSpPr txBox="1"/>
          <p:nvPr/>
        </p:nvSpPr>
        <p:spPr>
          <a:xfrm>
            <a:off x="3951287" y="4321970"/>
            <a:ext cx="879475" cy="30797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accent2"/>
              </a:buClr>
              <a:buSzPts val="1190"/>
              <a:buFont typeface="Arial"/>
              <a:buNone/>
            </a:pPr>
            <a:r>
              <a:rPr i="1" lang="en-US" sz="1400">
                <a:solidFill>
                  <a:srgbClr val="CC0000"/>
                </a:solidFill>
                <a:latin typeface="Arial"/>
                <a:ea typeface="Arial"/>
                <a:cs typeface="Arial"/>
                <a:sym typeface="Arial"/>
              </a:rPr>
              <a:t>problem!</a:t>
            </a:r>
            <a:endParaRPr/>
          </a:p>
        </p:txBody>
      </p:sp>
      <p:grpSp>
        <p:nvGrpSpPr>
          <p:cNvPr id="2647" name="Google Shape;2647;p44"/>
          <p:cNvGrpSpPr/>
          <p:nvPr/>
        </p:nvGrpSpPr>
        <p:grpSpPr>
          <a:xfrm>
            <a:off x="6767514" y="1957388"/>
            <a:ext cx="377825" cy="576262"/>
            <a:chOff x="4140" y="429"/>
            <a:chExt cx="1425" cy="2396"/>
          </a:xfrm>
        </p:grpSpPr>
        <p:sp>
          <p:nvSpPr>
            <p:cNvPr id="2648" name="Google Shape;2648;p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9" name="Google Shape;2649;p44"/>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50" name="Google Shape;2650;p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1" name="Google Shape;2651;p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2" name="Google Shape;2652;p44"/>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653" name="Google Shape;2653;p44"/>
            <p:cNvGrpSpPr/>
            <p:nvPr/>
          </p:nvGrpSpPr>
          <p:grpSpPr>
            <a:xfrm>
              <a:off x="4751" y="667"/>
              <a:ext cx="581" cy="145"/>
              <a:chOff x="616" y="2567"/>
              <a:chExt cx="725" cy="139"/>
            </a:xfrm>
          </p:grpSpPr>
          <p:sp>
            <p:nvSpPr>
              <p:cNvPr id="2654" name="Google Shape;2654;p44"/>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55" name="Google Shape;2655;p44"/>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656" name="Google Shape;2656;p44"/>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657" name="Google Shape;2657;p44"/>
            <p:cNvGrpSpPr/>
            <p:nvPr/>
          </p:nvGrpSpPr>
          <p:grpSpPr>
            <a:xfrm>
              <a:off x="4745" y="997"/>
              <a:ext cx="581" cy="132"/>
              <a:chOff x="611" y="2571"/>
              <a:chExt cx="725" cy="137"/>
            </a:xfrm>
          </p:grpSpPr>
          <p:sp>
            <p:nvSpPr>
              <p:cNvPr id="2658" name="Google Shape;2658;p44"/>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59" name="Google Shape;2659;p44"/>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660" name="Google Shape;2660;p44"/>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61" name="Google Shape;2661;p44"/>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662" name="Google Shape;2662;p44"/>
            <p:cNvGrpSpPr/>
            <p:nvPr/>
          </p:nvGrpSpPr>
          <p:grpSpPr>
            <a:xfrm>
              <a:off x="4733" y="1630"/>
              <a:ext cx="587" cy="146"/>
              <a:chOff x="611" y="2571"/>
              <a:chExt cx="731" cy="134"/>
            </a:xfrm>
          </p:grpSpPr>
          <p:sp>
            <p:nvSpPr>
              <p:cNvPr id="2663" name="Google Shape;2663;p44"/>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64" name="Google Shape;2664;p44"/>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665" name="Google Shape;2665;p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666" name="Google Shape;2666;p44"/>
            <p:cNvGrpSpPr/>
            <p:nvPr/>
          </p:nvGrpSpPr>
          <p:grpSpPr>
            <a:xfrm>
              <a:off x="4739" y="1327"/>
              <a:ext cx="580" cy="139"/>
              <a:chOff x="614" y="2568"/>
              <a:chExt cx="723" cy="139"/>
            </a:xfrm>
          </p:grpSpPr>
          <p:sp>
            <p:nvSpPr>
              <p:cNvPr id="2667" name="Google Shape;2667;p44"/>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68" name="Google Shape;2668;p44"/>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669" name="Google Shape;2669;p44"/>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70" name="Google Shape;2670;p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1" name="Google Shape;2671;p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2" name="Google Shape;2672;p44"/>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73" name="Google Shape;2673;p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4" name="Google Shape;2674;p44"/>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75" name="Google Shape;2675;p44"/>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76" name="Google Shape;2676;p44"/>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77" name="Google Shape;2677;p44"/>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678" name="Google Shape;2678;p44"/>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79" name="Google Shape;2679;p44"/>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2680" name="Google Shape;2680;p44"/>
          <p:cNvGrpSpPr/>
          <p:nvPr/>
        </p:nvGrpSpPr>
        <p:grpSpPr>
          <a:xfrm>
            <a:off x="6916738" y="5070476"/>
            <a:ext cx="525462" cy="557213"/>
            <a:chOff x="-44" y="1473"/>
            <a:chExt cx="981" cy="1105"/>
          </a:xfrm>
        </p:grpSpPr>
        <p:pic>
          <p:nvPicPr>
            <p:cNvPr descr="desktop_computer_stylized_medium" id="2681" name="Google Shape;2681;p4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2682" name="Google Shape;2682;p4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683" name="Google Shape;2683;p44"/>
          <p:cNvGrpSpPr/>
          <p:nvPr/>
        </p:nvGrpSpPr>
        <p:grpSpPr>
          <a:xfrm>
            <a:off x="7681914" y="1479551"/>
            <a:ext cx="377825" cy="576263"/>
            <a:chOff x="4140" y="429"/>
            <a:chExt cx="1425" cy="2396"/>
          </a:xfrm>
        </p:grpSpPr>
        <p:sp>
          <p:nvSpPr>
            <p:cNvPr id="2684" name="Google Shape;2684;p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5" name="Google Shape;2685;p44"/>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86" name="Google Shape;2686;p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7" name="Google Shape;2687;p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8" name="Google Shape;2688;p44"/>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689" name="Google Shape;2689;p44"/>
            <p:cNvGrpSpPr/>
            <p:nvPr/>
          </p:nvGrpSpPr>
          <p:grpSpPr>
            <a:xfrm>
              <a:off x="4751" y="667"/>
              <a:ext cx="581" cy="145"/>
              <a:chOff x="616" y="2567"/>
              <a:chExt cx="725" cy="139"/>
            </a:xfrm>
          </p:grpSpPr>
          <p:sp>
            <p:nvSpPr>
              <p:cNvPr id="2690" name="Google Shape;2690;p44"/>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91" name="Google Shape;2691;p44"/>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692" name="Google Shape;2692;p44"/>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693" name="Google Shape;2693;p44"/>
            <p:cNvGrpSpPr/>
            <p:nvPr/>
          </p:nvGrpSpPr>
          <p:grpSpPr>
            <a:xfrm>
              <a:off x="4745" y="997"/>
              <a:ext cx="581" cy="132"/>
              <a:chOff x="611" y="2571"/>
              <a:chExt cx="725" cy="137"/>
            </a:xfrm>
          </p:grpSpPr>
          <p:sp>
            <p:nvSpPr>
              <p:cNvPr id="2694" name="Google Shape;2694;p44"/>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95" name="Google Shape;2695;p44"/>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696" name="Google Shape;2696;p44"/>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697" name="Google Shape;2697;p44"/>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698" name="Google Shape;2698;p44"/>
            <p:cNvGrpSpPr/>
            <p:nvPr/>
          </p:nvGrpSpPr>
          <p:grpSpPr>
            <a:xfrm>
              <a:off x="4733" y="1630"/>
              <a:ext cx="587" cy="146"/>
              <a:chOff x="611" y="2571"/>
              <a:chExt cx="731" cy="134"/>
            </a:xfrm>
          </p:grpSpPr>
          <p:sp>
            <p:nvSpPr>
              <p:cNvPr id="2699" name="Google Shape;2699;p44"/>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00" name="Google Shape;2700;p44"/>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701" name="Google Shape;2701;p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702" name="Google Shape;2702;p44"/>
            <p:cNvGrpSpPr/>
            <p:nvPr/>
          </p:nvGrpSpPr>
          <p:grpSpPr>
            <a:xfrm>
              <a:off x="4739" y="1327"/>
              <a:ext cx="580" cy="139"/>
              <a:chOff x="614" y="2568"/>
              <a:chExt cx="723" cy="139"/>
            </a:xfrm>
          </p:grpSpPr>
          <p:sp>
            <p:nvSpPr>
              <p:cNvPr id="2703" name="Google Shape;2703;p44"/>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04" name="Google Shape;2704;p44"/>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705" name="Google Shape;2705;p44"/>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06" name="Google Shape;2706;p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7" name="Google Shape;2707;p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8" name="Google Shape;2708;p44"/>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09" name="Google Shape;2709;p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0" name="Google Shape;2710;p44"/>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11" name="Google Shape;2711;p44"/>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12" name="Google Shape;2712;p44"/>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13" name="Google Shape;2713;p44"/>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714" name="Google Shape;2714;p44"/>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15" name="Google Shape;2715;p44"/>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2716" name="Google Shape;2716;p44"/>
          <p:cNvGrpSpPr/>
          <p:nvPr/>
        </p:nvGrpSpPr>
        <p:grpSpPr>
          <a:xfrm>
            <a:off x="8434389" y="1511301"/>
            <a:ext cx="377825" cy="576263"/>
            <a:chOff x="4140" y="429"/>
            <a:chExt cx="1425" cy="2396"/>
          </a:xfrm>
        </p:grpSpPr>
        <p:sp>
          <p:nvSpPr>
            <p:cNvPr id="2717" name="Google Shape;2717;p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8" name="Google Shape;2718;p44"/>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19" name="Google Shape;2719;p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0" name="Google Shape;2720;p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1" name="Google Shape;2721;p44"/>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722" name="Google Shape;2722;p44"/>
            <p:cNvGrpSpPr/>
            <p:nvPr/>
          </p:nvGrpSpPr>
          <p:grpSpPr>
            <a:xfrm>
              <a:off x="4751" y="667"/>
              <a:ext cx="581" cy="145"/>
              <a:chOff x="616" y="2567"/>
              <a:chExt cx="725" cy="139"/>
            </a:xfrm>
          </p:grpSpPr>
          <p:sp>
            <p:nvSpPr>
              <p:cNvPr id="2723" name="Google Shape;2723;p44"/>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24" name="Google Shape;2724;p44"/>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725" name="Google Shape;2725;p44"/>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726" name="Google Shape;2726;p44"/>
            <p:cNvGrpSpPr/>
            <p:nvPr/>
          </p:nvGrpSpPr>
          <p:grpSpPr>
            <a:xfrm>
              <a:off x="4745" y="997"/>
              <a:ext cx="581" cy="132"/>
              <a:chOff x="611" y="2571"/>
              <a:chExt cx="725" cy="137"/>
            </a:xfrm>
          </p:grpSpPr>
          <p:sp>
            <p:nvSpPr>
              <p:cNvPr id="2727" name="Google Shape;2727;p44"/>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28" name="Google Shape;2728;p44"/>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729" name="Google Shape;2729;p44"/>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30" name="Google Shape;2730;p44"/>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731" name="Google Shape;2731;p44"/>
            <p:cNvGrpSpPr/>
            <p:nvPr/>
          </p:nvGrpSpPr>
          <p:grpSpPr>
            <a:xfrm>
              <a:off x="4733" y="1630"/>
              <a:ext cx="587" cy="146"/>
              <a:chOff x="611" y="2571"/>
              <a:chExt cx="731" cy="134"/>
            </a:xfrm>
          </p:grpSpPr>
          <p:sp>
            <p:nvSpPr>
              <p:cNvPr id="2732" name="Google Shape;2732;p44"/>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33" name="Google Shape;2733;p44"/>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734" name="Google Shape;2734;p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735" name="Google Shape;2735;p44"/>
            <p:cNvGrpSpPr/>
            <p:nvPr/>
          </p:nvGrpSpPr>
          <p:grpSpPr>
            <a:xfrm>
              <a:off x="4739" y="1327"/>
              <a:ext cx="580" cy="139"/>
              <a:chOff x="614" y="2568"/>
              <a:chExt cx="723" cy="139"/>
            </a:xfrm>
          </p:grpSpPr>
          <p:sp>
            <p:nvSpPr>
              <p:cNvPr id="2736" name="Google Shape;2736;p44"/>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37" name="Google Shape;2737;p44"/>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738" name="Google Shape;2738;p44"/>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39" name="Google Shape;2739;p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0" name="Google Shape;2740;p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1" name="Google Shape;2741;p44"/>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42" name="Google Shape;2742;p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3" name="Google Shape;2743;p44"/>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44" name="Google Shape;2744;p44"/>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45" name="Google Shape;2745;p44"/>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46" name="Google Shape;2746;p44"/>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747" name="Google Shape;2747;p44"/>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48" name="Google Shape;2748;p44"/>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2749" name="Google Shape;2749;p44"/>
          <p:cNvGrpSpPr/>
          <p:nvPr/>
        </p:nvGrpSpPr>
        <p:grpSpPr>
          <a:xfrm>
            <a:off x="9043989" y="1663701"/>
            <a:ext cx="377825" cy="576263"/>
            <a:chOff x="4140" y="429"/>
            <a:chExt cx="1425" cy="2396"/>
          </a:xfrm>
        </p:grpSpPr>
        <p:sp>
          <p:nvSpPr>
            <p:cNvPr id="2750" name="Google Shape;2750;p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1" name="Google Shape;2751;p44"/>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52" name="Google Shape;2752;p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3" name="Google Shape;2753;p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4" name="Google Shape;2754;p44"/>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755" name="Google Shape;2755;p44"/>
            <p:cNvGrpSpPr/>
            <p:nvPr/>
          </p:nvGrpSpPr>
          <p:grpSpPr>
            <a:xfrm>
              <a:off x="4751" y="667"/>
              <a:ext cx="581" cy="145"/>
              <a:chOff x="616" y="2567"/>
              <a:chExt cx="725" cy="139"/>
            </a:xfrm>
          </p:grpSpPr>
          <p:sp>
            <p:nvSpPr>
              <p:cNvPr id="2756" name="Google Shape;2756;p44"/>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57" name="Google Shape;2757;p44"/>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758" name="Google Shape;2758;p44"/>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759" name="Google Shape;2759;p44"/>
            <p:cNvGrpSpPr/>
            <p:nvPr/>
          </p:nvGrpSpPr>
          <p:grpSpPr>
            <a:xfrm>
              <a:off x="4745" y="997"/>
              <a:ext cx="581" cy="132"/>
              <a:chOff x="611" y="2571"/>
              <a:chExt cx="725" cy="137"/>
            </a:xfrm>
          </p:grpSpPr>
          <p:sp>
            <p:nvSpPr>
              <p:cNvPr id="2760" name="Google Shape;2760;p44"/>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61" name="Google Shape;2761;p44"/>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762" name="Google Shape;2762;p44"/>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63" name="Google Shape;2763;p44"/>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764" name="Google Shape;2764;p44"/>
            <p:cNvGrpSpPr/>
            <p:nvPr/>
          </p:nvGrpSpPr>
          <p:grpSpPr>
            <a:xfrm>
              <a:off x="4733" y="1630"/>
              <a:ext cx="587" cy="146"/>
              <a:chOff x="611" y="2571"/>
              <a:chExt cx="731" cy="134"/>
            </a:xfrm>
          </p:grpSpPr>
          <p:sp>
            <p:nvSpPr>
              <p:cNvPr id="2765" name="Google Shape;2765;p44"/>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66" name="Google Shape;2766;p44"/>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767" name="Google Shape;2767;p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768" name="Google Shape;2768;p44"/>
            <p:cNvGrpSpPr/>
            <p:nvPr/>
          </p:nvGrpSpPr>
          <p:grpSpPr>
            <a:xfrm>
              <a:off x="4739" y="1327"/>
              <a:ext cx="580" cy="139"/>
              <a:chOff x="614" y="2568"/>
              <a:chExt cx="723" cy="139"/>
            </a:xfrm>
          </p:grpSpPr>
          <p:sp>
            <p:nvSpPr>
              <p:cNvPr id="2769" name="Google Shape;2769;p44"/>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70" name="Google Shape;2770;p44"/>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771" name="Google Shape;2771;p44"/>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72" name="Google Shape;2772;p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3" name="Google Shape;2773;p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4" name="Google Shape;2774;p44"/>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75" name="Google Shape;2775;p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6" name="Google Shape;2776;p44"/>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77" name="Google Shape;2777;p44"/>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78" name="Google Shape;2778;p44"/>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79" name="Google Shape;2779;p44"/>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780" name="Google Shape;2780;p44"/>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81" name="Google Shape;2781;p44"/>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2782" name="Google Shape;2782;p44"/>
          <p:cNvGrpSpPr/>
          <p:nvPr/>
        </p:nvGrpSpPr>
        <p:grpSpPr>
          <a:xfrm>
            <a:off x="9372601" y="2609851"/>
            <a:ext cx="377825" cy="576263"/>
            <a:chOff x="4140" y="429"/>
            <a:chExt cx="1425" cy="2396"/>
          </a:xfrm>
        </p:grpSpPr>
        <p:sp>
          <p:nvSpPr>
            <p:cNvPr id="2783" name="Google Shape;2783;p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4" name="Google Shape;2784;p44"/>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85" name="Google Shape;2785;p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6" name="Google Shape;2786;p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7" name="Google Shape;2787;p44"/>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788" name="Google Shape;2788;p44"/>
            <p:cNvGrpSpPr/>
            <p:nvPr/>
          </p:nvGrpSpPr>
          <p:grpSpPr>
            <a:xfrm>
              <a:off x="4751" y="667"/>
              <a:ext cx="581" cy="145"/>
              <a:chOff x="616" y="2567"/>
              <a:chExt cx="725" cy="139"/>
            </a:xfrm>
          </p:grpSpPr>
          <p:sp>
            <p:nvSpPr>
              <p:cNvPr id="2789" name="Google Shape;2789;p44"/>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90" name="Google Shape;2790;p44"/>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791" name="Google Shape;2791;p44"/>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792" name="Google Shape;2792;p44"/>
            <p:cNvGrpSpPr/>
            <p:nvPr/>
          </p:nvGrpSpPr>
          <p:grpSpPr>
            <a:xfrm>
              <a:off x="4745" y="997"/>
              <a:ext cx="581" cy="132"/>
              <a:chOff x="611" y="2571"/>
              <a:chExt cx="725" cy="137"/>
            </a:xfrm>
          </p:grpSpPr>
          <p:sp>
            <p:nvSpPr>
              <p:cNvPr id="2793" name="Google Shape;2793;p44"/>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94" name="Google Shape;2794;p44"/>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795" name="Google Shape;2795;p44"/>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96" name="Google Shape;2796;p44"/>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797" name="Google Shape;2797;p44"/>
            <p:cNvGrpSpPr/>
            <p:nvPr/>
          </p:nvGrpSpPr>
          <p:grpSpPr>
            <a:xfrm>
              <a:off x="4733" y="1630"/>
              <a:ext cx="587" cy="146"/>
              <a:chOff x="611" y="2571"/>
              <a:chExt cx="731" cy="134"/>
            </a:xfrm>
          </p:grpSpPr>
          <p:sp>
            <p:nvSpPr>
              <p:cNvPr id="2798" name="Google Shape;2798;p44"/>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799" name="Google Shape;2799;p44"/>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800" name="Google Shape;2800;p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801" name="Google Shape;2801;p44"/>
            <p:cNvGrpSpPr/>
            <p:nvPr/>
          </p:nvGrpSpPr>
          <p:grpSpPr>
            <a:xfrm>
              <a:off x="4739" y="1327"/>
              <a:ext cx="580" cy="139"/>
              <a:chOff x="614" y="2568"/>
              <a:chExt cx="723" cy="139"/>
            </a:xfrm>
          </p:grpSpPr>
          <p:sp>
            <p:nvSpPr>
              <p:cNvPr id="2802" name="Google Shape;2802;p44"/>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03" name="Google Shape;2803;p44"/>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804" name="Google Shape;2804;p44"/>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05" name="Google Shape;2805;p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6" name="Google Shape;2806;p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7" name="Google Shape;2807;p44"/>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08" name="Google Shape;2808;p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9" name="Google Shape;2809;p44"/>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10" name="Google Shape;2810;p44"/>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11" name="Google Shape;2811;p44"/>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12" name="Google Shape;2812;p44"/>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813" name="Google Shape;2813;p44"/>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14" name="Google Shape;2814;p44"/>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2815" name="Google Shape;2815;p44"/>
          <p:cNvGrpSpPr/>
          <p:nvPr/>
        </p:nvGrpSpPr>
        <p:grpSpPr>
          <a:xfrm>
            <a:off x="8632826" y="5027613"/>
            <a:ext cx="377825" cy="576262"/>
            <a:chOff x="4140" y="429"/>
            <a:chExt cx="1425" cy="2396"/>
          </a:xfrm>
        </p:grpSpPr>
        <p:sp>
          <p:nvSpPr>
            <p:cNvPr id="2816" name="Google Shape;2816;p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7" name="Google Shape;2817;p44"/>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18" name="Google Shape;2818;p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9" name="Google Shape;2819;p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0" name="Google Shape;2820;p44"/>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821" name="Google Shape;2821;p44"/>
            <p:cNvGrpSpPr/>
            <p:nvPr/>
          </p:nvGrpSpPr>
          <p:grpSpPr>
            <a:xfrm>
              <a:off x="4751" y="667"/>
              <a:ext cx="581" cy="145"/>
              <a:chOff x="616" y="2567"/>
              <a:chExt cx="725" cy="139"/>
            </a:xfrm>
          </p:grpSpPr>
          <p:sp>
            <p:nvSpPr>
              <p:cNvPr id="2822" name="Google Shape;2822;p44"/>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23" name="Google Shape;2823;p44"/>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824" name="Google Shape;2824;p44"/>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825" name="Google Shape;2825;p44"/>
            <p:cNvGrpSpPr/>
            <p:nvPr/>
          </p:nvGrpSpPr>
          <p:grpSpPr>
            <a:xfrm>
              <a:off x="4745" y="997"/>
              <a:ext cx="581" cy="132"/>
              <a:chOff x="611" y="2571"/>
              <a:chExt cx="725" cy="137"/>
            </a:xfrm>
          </p:grpSpPr>
          <p:sp>
            <p:nvSpPr>
              <p:cNvPr id="2826" name="Google Shape;2826;p44"/>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27" name="Google Shape;2827;p44"/>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828" name="Google Shape;2828;p44"/>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29" name="Google Shape;2829;p44"/>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830" name="Google Shape;2830;p44"/>
            <p:cNvGrpSpPr/>
            <p:nvPr/>
          </p:nvGrpSpPr>
          <p:grpSpPr>
            <a:xfrm>
              <a:off x="4733" y="1630"/>
              <a:ext cx="587" cy="146"/>
              <a:chOff x="611" y="2571"/>
              <a:chExt cx="731" cy="134"/>
            </a:xfrm>
          </p:grpSpPr>
          <p:sp>
            <p:nvSpPr>
              <p:cNvPr id="2831" name="Google Shape;2831;p44"/>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32" name="Google Shape;2832;p44"/>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833" name="Google Shape;2833;p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834" name="Google Shape;2834;p44"/>
            <p:cNvGrpSpPr/>
            <p:nvPr/>
          </p:nvGrpSpPr>
          <p:grpSpPr>
            <a:xfrm>
              <a:off x="4739" y="1327"/>
              <a:ext cx="580" cy="139"/>
              <a:chOff x="614" y="2568"/>
              <a:chExt cx="723" cy="139"/>
            </a:xfrm>
          </p:grpSpPr>
          <p:sp>
            <p:nvSpPr>
              <p:cNvPr id="2835" name="Google Shape;2835;p44"/>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36" name="Google Shape;2836;p44"/>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837" name="Google Shape;2837;p44"/>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38" name="Google Shape;2838;p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9" name="Google Shape;2839;p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0" name="Google Shape;2840;p44"/>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41" name="Google Shape;2841;p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2" name="Google Shape;2842;p44"/>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43" name="Google Shape;2843;p44"/>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44" name="Google Shape;2844;p44"/>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45" name="Google Shape;2845;p44"/>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846" name="Google Shape;2846;p44"/>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47" name="Google Shape;2847;p44"/>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2848" name="Google Shape;2848;p44"/>
          <p:cNvGrpSpPr/>
          <p:nvPr/>
        </p:nvGrpSpPr>
        <p:grpSpPr>
          <a:xfrm>
            <a:off x="7427913" y="5092701"/>
            <a:ext cx="525462" cy="557213"/>
            <a:chOff x="-44" y="1473"/>
            <a:chExt cx="981" cy="1105"/>
          </a:xfrm>
        </p:grpSpPr>
        <p:pic>
          <p:nvPicPr>
            <p:cNvPr descr="desktop_computer_stylized_medium" id="2849" name="Google Shape;2849;p4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2850" name="Google Shape;2850;p4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851" name="Google Shape;2851;p44"/>
          <p:cNvGrpSpPr/>
          <p:nvPr/>
        </p:nvGrpSpPr>
        <p:grpSpPr>
          <a:xfrm>
            <a:off x="7951788" y="5081588"/>
            <a:ext cx="525462" cy="557212"/>
            <a:chOff x="-44" y="1473"/>
            <a:chExt cx="981" cy="1105"/>
          </a:xfrm>
        </p:grpSpPr>
        <p:pic>
          <p:nvPicPr>
            <p:cNvPr descr="desktop_computer_stylized_medium" id="2852" name="Google Shape;2852;p4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2853" name="Google Shape;2853;p4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54" name="Google Shape;2854;p44"/>
          <p:cNvSpPr txBox="1"/>
          <p:nvPr/>
        </p:nvSpPr>
        <p:spPr>
          <a:xfrm>
            <a:off x="2435364" y="5493595"/>
            <a:ext cx="4397375"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360"/>
              <a:buFont typeface="Arial"/>
              <a:buNone/>
            </a:pPr>
            <a:r>
              <a:rPr lang="en-US" sz="1600">
                <a:solidFill>
                  <a:schemeClr val="dk1"/>
                </a:solidFill>
                <a:latin typeface="Arial"/>
                <a:ea typeface="Arial"/>
                <a:cs typeface="Arial"/>
                <a:sym typeface="Arial"/>
              </a:rPr>
              <a:t>Traffic intensity=La/R 🡪 1 (heavy congested) </a:t>
            </a:r>
            <a:endParaRPr/>
          </a:p>
        </p:txBody>
      </p:sp>
      <p:sp>
        <p:nvSpPr>
          <p:cNvPr id="2855" name="Google Shape;2855;p44"/>
          <p:cNvSpPr txBox="1"/>
          <p:nvPr/>
        </p:nvSpPr>
        <p:spPr>
          <a:xfrm>
            <a:off x="8469314" y="3629025"/>
            <a:ext cx="1762125" cy="522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15 Mbps (original bandwidth)</a:t>
            </a:r>
            <a:endParaRPr/>
          </a:p>
        </p:txBody>
      </p:sp>
      <p:sp>
        <p:nvSpPr>
          <p:cNvPr id="2856" name="Google Shape;2856;p44"/>
          <p:cNvSpPr txBox="1"/>
          <p:nvPr/>
        </p:nvSpPr>
        <p:spPr>
          <a:xfrm>
            <a:off x="9483725" y="5276850"/>
            <a:ext cx="9525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700"/>
              <a:buFont typeface="Arial"/>
              <a:buNone/>
            </a:pPr>
            <a:r>
              <a:rPr lang="en-US" sz="2000">
                <a:solidFill>
                  <a:schemeClr val="dk1"/>
                </a:solidFill>
                <a:latin typeface="Arial"/>
                <a:ea typeface="Arial"/>
                <a:cs typeface="Arial"/>
                <a:sym typeface="Arial"/>
              </a:rPr>
              <a:t>≈10ms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5"/>
                                        </p:tgtEl>
                                        <p:attrNameLst>
                                          <p:attrName>style.visibility</p:attrName>
                                        </p:attrNameLst>
                                      </p:cBhvr>
                                      <p:to>
                                        <p:strVal val="visible"/>
                                      </p:to>
                                    </p:set>
                                    <p:animEffect filter="fade" transition="in">
                                      <p:cBhvr>
                                        <p:cTn dur="500"/>
                                        <p:tgtEl>
                                          <p:spTgt spid="2645"/>
                                        </p:tgtEl>
                                      </p:cBhvr>
                                    </p:animEffect>
                                  </p:childTnLst>
                                </p:cTn>
                              </p:par>
                              <p:par>
                                <p:cTn fill="hold" nodeType="withEffect" presetClass="entr" presetID="10" presetSubtype="0">
                                  <p:stCondLst>
                                    <p:cond delay="0"/>
                                  </p:stCondLst>
                                  <p:childTnLst>
                                    <p:set>
                                      <p:cBhvr>
                                        <p:cTn dur="1" fill="hold">
                                          <p:stCondLst>
                                            <p:cond delay="0"/>
                                          </p:stCondLst>
                                        </p:cTn>
                                        <p:tgtEl>
                                          <p:spTgt spid="2646"/>
                                        </p:tgtEl>
                                        <p:attrNameLst>
                                          <p:attrName>style.visibility</p:attrName>
                                        </p:attrNameLst>
                                      </p:cBhvr>
                                      <p:to>
                                        <p:strVal val="visible"/>
                                      </p:to>
                                    </p:set>
                                    <p:animEffect filter="fade" transition="in">
                                      <p:cBhvr>
                                        <p:cTn dur="500"/>
                                        <p:tgtEl>
                                          <p:spTgt spid="26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1" name="Shape 2861"/>
        <p:cNvGrpSpPr/>
        <p:nvPr/>
      </p:nvGrpSpPr>
      <p:grpSpPr>
        <a:xfrm>
          <a:off x="0" y="0"/>
          <a:ext cx="0" cy="0"/>
          <a:chOff x="0" y="0"/>
          <a:chExt cx="0" cy="0"/>
        </a:xfrm>
      </p:grpSpPr>
      <p:sp>
        <p:nvSpPr>
          <p:cNvPr id="2862" name="Google Shape;2862;p4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Noto Sans Symbols"/>
              <a:buNone/>
            </a:pPr>
            <a:r>
              <a:t/>
            </a:r>
            <a:endParaRPr sz="1200">
              <a:solidFill>
                <a:schemeClr val="dk1"/>
              </a:solidFill>
              <a:latin typeface="Tahoma"/>
              <a:ea typeface="Tahoma"/>
              <a:cs typeface="Tahoma"/>
              <a:sym typeface="Tahoma"/>
            </a:endParaRPr>
          </a:p>
        </p:txBody>
      </p:sp>
      <p:sp>
        <p:nvSpPr>
          <p:cNvPr id="2863" name="Google Shape;2863;p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2864" name="Google Shape;2864;p45"/>
          <p:cNvPicPr preferRelativeResize="0"/>
          <p:nvPr/>
        </p:nvPicPr>
        <p:blipFill rotWithShape="1">
          <a:blip r:embed="rId3">
            <a:alphaModFix/>
          </a:blip>
          <a:srcRect b="0" l="0" r="0" t="0"/>
          <a:stretch/>
        </p:blipFill>
        <p:spPr>
          <a:xfrm>
            <a:off x="2012951" y="806450"/>
            <a:ext cx="3656013" cy="173038"/>
          </a:xfrm>
          <a:prstGeom prst="rect">
            <a:avLst/>
          </a:prstGeom>
          <a:noFill/>
          <a:ln>
            <a:noFill/>
          </a:ln>
        </p:spPr>
      </p:pic>
      <p:sp>
        <p:nvSpPr>
          <p:cNvPr id="2865" name="Google Shape;2865;p45"/>
          <p:cNvSpPr txBox="1"/>
          <p:nvPr>
            <p:ph idx="4294967295" type="title"/>
          </p:nvPr>
        </p:nvSpPr>
        <p:spPr>
          <a:xfrm>
            <a:off x="1927225" y="269876"/>
            <a:ext cx="7772400" cy="6635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Calibri"/>
              <a:buNone/>
            </a:pPr>
            <a:r>
              <a:rPr lang="en-US" sz="4000"/>
              <a:t>Caching Example A: </a:t>
            </a:r>
            <a:r>
              <a:rPr lang="en-US" sz="3600"/>
              <a:t>fatter access link</a:t>
            </a:r>
            <a:r>
              <a:rPr lang="en-US" sz="4000"/>
              <a:t> </a:t>
            </a:r>
            <a:endParaRPr/>
          </a:p>
        </p:txBody>
      </p:sp>
      <p:sp>
        <p:nvSpPr>
          <p:cNvPr id="2866" name="Google Shape;2866;p45"/>
          <p:cNvSpPr txBox="1"/>
          <p:nvPr/>
        </p:nvSpPr>
        <p:spPr>
          <a:xfrm>
            <a:off x="9220200" y="1824038"/>
            <a:ext cx="93345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origin</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servers</a:t>
            </a:r>
            <a:endParaRPr/>
          </a:p>
        </p:txBody>
      </p:sp>
      <p:sp>
        <p:nvSpPr>
          <p:cNvPr id="2867" name="Google Shape;2867;p45"/>
          <p:cNvSpPr txBox="1"/>
          <p:nvPr/>
        </p:nvSpPr>
        <p:spPr>
          <a:xfrm>
            <a:off x="8116889" y="3656013"/>
            <a:ext cx="1203325"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15 Mbps </a:t>
            </a:r>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access link</a:t>
            </a:r>
            <a:endParaRPr sz="2400">
              <a:solidFill>
                <a:schemeClr val="accent2"/>
              </a:solidFill>
              <a:latin typeface="Arial"/>
              <a:ea typeface="Arial"/>
              <a:cs typeface="Arial"/>
              <a:sym typeface="Arial"/>
            </a:endParaRPr>
          </a:p>
        </p:txBody>
      </p:sp>
      <p:cxnSp>
        <p:nvCxnSpPr>
          <p:cNvPr id="2868" name="Google Shape;2868;p45"/>
          <p:cNvCxnSpPr/>
          <p:nvPr/>
        </p:nvCxnSpPr>
        <p:spPr>
          <a:xfrm>
            <a:off x="8229601" y="3789364"/>
            <a:ext cx="1154113" cy="174625"/>
          </a:xfrm>
          <a:prstGeom prst="straightConnector1">
            <a:avLst/>
          </a:prstGeom>
          <a:noFill/>
          <a:ln cap="flat" cmpd="sng" w="38100">
            <a:solidFill>
              <a:srgbClr val="CC0000"/>
            </a:solidFill>
            <a:prstDash val="solid"/>
            <a:round/>
            <a:headEnd len="med" w="med" type="none"/>
            <a:tailEnd len="med" w="med" type="triangle"/>
          </a:ln>
        </p:spPr>
      </p:cxnSp>
      <p:sp>
        <p:nvSpPr>
          <p:cNvPr id="2869" name="Google Shape;2869;p45"/>
          <p:cNvSpPr txBox="1"/>
          <p:nvPr/>
        </p:nvSpPr>
        <p:spPr>
          <a:xfrm>
            <a:off x="9347829" y="3733498"/>
            <a:ext cx="1085850" cy="33813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accent2"/>
              </a:buClr>
              <a:buSzPts val="1360"/>
              <a:buFont typeface="Arial"/>
              <a:buNone/>
            </a:pPr>
            <a:r>
              <a:rPr lang="en-US" sz="1600">
                <a:solidFill>
                  <a:schemeClr val="dk1"/>
                </a:solidFill>
                <a:latin typeface="Arial"/>
                <a:ea typeface="Arial"/>
                <a:cs typeface="Arial"/>
                <a:sym typeface="Arial"/>
              </a:rPr>
              <a:t>100 Mbps</a:t>
            </a:r>
            <a:endParaRPr/>
          </a:p>
        </p:txBody>
      </p:sp>
      <p:sp>
        <p:nvSpPr>
          <p:cNvPr id="2870" name="Google Shape;2870;p45"/>
          <p:cNvSpPr txBox="1"/>
          <p:nvPr/>
        </p:nvSpPr>
        <p:spPr>
          <a:xfrm>
            <a:off x="2711450" y="6067425"/>
            <a:ext cx="4967288" cy="36988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accent2"/>
              </a:buClr>
              <a:buSzPts val="1530"/>
              <a:buFont typeface="Arial"/>
              <a:buNone/>
            </a:pPr>
            <a:r>
              <a:rPr i="1" lang="en-US" sz="1800">
                <a:solidFill>
                  <a:srgbClr val="CC0000"/>
                </a:solidFill>
                <a:latin typeface="Arial"/>
                <a:ea typeface="Arial"/>
                <a:cs typeface="Arial"/>
                <a:sym typeface="Arial"/>
              </a:rPr>
              <a:t>Cost:</a:t>
            </a:r>
            <a:r>
              <a:rPr lang="en-US" sz="1800">
                <a:solidFill>
                  <a:schemeClr val="dk1"/>
                </a:solidFill>
                <a:latin typeface="Arial"/>
                <a:ea typeface="Arial"/>
                <a:cs typeface="Arial"/>
                <a:sym typeface="Arial"/>
              </a:rPr>
              <a:t> increased access link speed (not cheap!)</a:t>
            </a:r>
            <a:endParaRPr/>
          </a:p>
        </p:txBody>
      </p:sp>
      <p:cxnSp>
        <p:nvCxnSpPr>
          <p:cNvPr id="2871" name="Google Shape;2871;p45"/>
          <p:cNvCxnSpPr/>
          <p:nvPr/>
        </p:nvCxnSpPr>
        <p:spPr>
          <a:xfrm>
            <a:off x="6791325" y="2409825"/>
            <a:ext cx="285750" cy="114300"/>
          </a:xfrm>
          <a:prstGeom prst="straightConnector1">
            <a:avLst/>
          </a:prstGeom>
          <a:noFill/>
          <a:ln cap="flat" cmpd="sng" w="28575">
            <a:solidFill>
              <a:schemeClr val="accent2"/>
            </a:solidFill>
            <a:prstDash val="solid"/>
            <a:round/>
            <a:headEnd len="med" w="med" type="none"/>
            <a:tailEnd len="med" w="med" type="none"/>
          </a:ln>
        </p:spPr>
      </p:cxnSp>
      <p:cxnSp>
        <p:nvCxnSpPr>
          <p:cNvPr id="2872" name="Google Shape;2872;p45"/>
          <p:cNvCxnSpPr/>
          <p:nvPr/>
        </p:nvCxnSpPr>
        <p:spPr>
          <a:xfrm>
            <a:off x="7600951" y="2028826"/>
            <a:ext cx="66675" cy="276225"/>
          </a:xfrm>
          <a:prstGeom prst="straightConnector1">
            <a:avLst/>
          </a:prstGeom>
          <a:noFill/>
          <a:ln cap="flat" cmpd="sng" w="28575">
            <a:solidFill>
              <a:schemeClr val="accent2"/>
            </a:solidFill>
            <a:prstDash val="solid"/>
            <a:round/>
            <a:headEnd len="med" w="med" type="none"/>
            <a:tailEnd len="med" w="med" type="none"/>
          </a:ln>
        </p:spPr>
      </p:cxnSp>
      <p:cxnSp>
        <p:nvCxnSpPr>
          <p:cNvPr id="2873" name="Google Shape;2873;p45"/>
          <p:cNvCxnSpPr/>
          <p:nvPr/>
        </p:nvCxnSpPr>
        <p:spPr>
          <a:xfrm flipH="1">
            <a:off x="8229601" y="2066926"/>
            <a:ext cx="9525" cy="238125"/>
          </a:xfrm>
          <a:prstGeom prst="straightConnector1">
            <a:avLst/>
          </a:prstGeom>
          <a:noFill/>
          <a:ln cap="flat" cmpd="sng" w="28575">
            <a:solidFill>
              <a:schemeClr val="accent2"/>
            </a:solidFill>
            <a:prstDash val="solid"/>
            <a:round/>
            <a:headEnd len="med" w="med" type="none"/>
            <a:tailEnd len="med" w="med" type="none"/>
          </a:ln>
        </p:spPr>
      </p:cxnSp>
      <p:cxnSp>
        <p:nvCxnSpPr>
          <p:cNvPr id="2874" name="Google Shape;2874;p45"/>
          <p:cNvCxnSpPr/>
          <p:nvPr/>
        </p:nvCxnSpPr>
        <p:spPr>
          <a:xfrm flipH="1">
            <a:off x="8686800" y="2228850"/>
            <a:ext cx="133350" cy="209550"/>
          </a:xfrm>
          <a:prstGeom prst="straightConnector1">
            <a:avLst/>
          </a:prstGeom>
          <a:noFill/>
          <a:ln cap="flat" cmpd="sng" w="28575">
            <a:solidFill>
              <a:schemeClr val="accent2"/>
            </a:solidFill>
            <a:prstDash val="solid"/>
            <a:round/>
            <a:headEnd len="med" w="med" type="none"/>
            <a:tailEnd len="med" w="med" type="none"/>
          </a:ln>
        </p:spPr>
      </p:cxnSp>
      <p:cxnSp>
        <p:nvCxnSpPr>
          <p:cNvPr id="2875" name="Google Shape;2875;p45"/>
          <p:cNvCxnSpPr/>
          <p:nvPr/>
        </p:nvCxnSpPr>
        <p:spPr>
          <a:xfrm rot="10800000">
            <a:off x="8848725" y="2990850"/>
            <a:ext cx="247650" cy="0"/>
          </a:xfrm>
          <a:prstGeom prst="straightConnector1">
            <a:avLst/>
          </a:prstGeom>
          <a:noFill/>
          <a:ln cap="flat" cmpd="sng" w="28575">
            <a:solidFill>
              <a:schemeClr val="accent2"/>
            </a:solidFill>
            <a:prstDash val="solid"/>
            <a:round/>
            <a:headEnd len="med" w="med" type="none"/>
            <a:tailEnd len="med" w="med" type="none"/>
          </a:ln>
        </p:spPr>
      </p:cxnSp>
      <p:sp>
        <p:nvSpPr>
          <p:cNvPr id="2876" name="Google Shape;2876;p45"/>
          <p:cNvSpPr/>
          <p:nvPr/>
        </p:nvSpPr>
        <p:spPr>
          <a:xfrm>
            <a:off x="6875464" y="2022475"/>
            <a:ext cx="2174875" cy="1581150"/>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7" name="Google Shape;2877;p45"/>
          <p:cNvSpPr txBox="1"/>
          <p:nvPr/>
        </p:nvSpPr>
        <p:spPr>
          <a:xfrm>
            <a:off x="7581901" y="2354264"/>
            <a:ext cx="931863"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public</a:t>
            </a:r>
            <a:endParaRPr/>
          </a:p>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 Internet</a:t>
            </a:r>
            <a:endParaRPr sz="2400">
              <a:solidFill>
                <a:srgbClr val="CC0000"/>
              </a:solidFill>
              <a:latin typeface="Arial"/>
              <a:ea typeface="Arial"/>
              <a:cs typeface="Arial"/>
              <a:sym typeface="Arial"/>
            </a:endParaRPr>
          </a:p>
        </p:txBody>
      </p:sp>
      <p:grpSp>
        <p:nvGrpSpPr>
          <p:cNvPr id="2878" name="Google Shape;2878;p45"/>
          <p:cNvGrpSpPr/>
          <p:nvPr/>
        </p:nvGrpSpPr>
        <p:grpSpPr>
          <a:xfrm>
            <a:off x="7699376" y="3165476"/>
            <a:ext cx="881063" cy="307975"/>
            <a:chOff x="2356" y="1300"/>
            <a:chExt cx="555" cy="194"/>
          </a:xfrm>
        </p:grpSpPr>
        <p:sp>
          <p:nvSpPr>
            <p:cNvPr id="2879" name="Google Shape;2879;p45"/>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2880" name="Google Shape;2880;p45"/>
            <p:cNvSpPr/>
            <p:nvPr/>
          </p:nvSpPr>
          <p:spPr>
            <a:xfrm>
              <a:off x="2357" y="1374"/>
              <a:ext cx="554" cy="66"/>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2881" name="Google Shape;2881;p45"/>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grpSp>
          <p:nvGrpSpPr>
            <p:cNvPr id="2882" name="Google Shape;2882;p45"/>
            <p:cNvGrpSpPr/>
            <p:nvPr/>
          </p:nvGrpSpPr>
          <p:grpSpPr>
            <a:xfrm>
              <a:off x="2468" y="1332"/>
              <a:ext cx="310" cy="60"/>
              <a:chOff x="2468" y="1332"/>
              <a:chExt cx="310" cy="60"/>
            </a:xfrm>
          </p:grpSpPr>
          <p:sp>
            <p:nvSpPr>
              <p:cNvPr id="2883" name="Google Shape;2883;p45"/>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4" name="Google Shape;2884;p45"/>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2885" name="Google Shape;2885;p45"/>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2886" name="Google Shape;2886;p45"/>
            <p:cNvCxnSpPr/>
            <p:nvPr/>
          </p:nvCxnSpPr>
          <p:spPr>
            <a:xfrm>
              <a:off x="2907"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2887" name="Google Shape;2887;p45"/>
          <p:cNvGrpSpPr/>
          <p:nvPr/>
        </p:nvGrpSpPr>
        <p:grpSpPr>
          <a:xfrm>
            <a:off x="6443664" y="1957388"/>
            <a:ext cx="377825" cy="576262"/>
            <a:chOff x="4140" y="429"/>
            <a:chExt cx="1425" cy="2396"/>
          </a:xfrm>
        </p:grpSpPr>
        <p:sp>
          <p:nvSpPr>
            <p:cNvPr id="2888" name="Google Shape;2888;p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9" name="Google Shape;2889;p45"/>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90" name="Google Shape;2890;p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1" name="Google Shape;2891;p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2" name="Google Shape;2892;p45"/>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893" name="Google Shape;2893;p45"/>
            <p:cNvGrpSpPr/>
            <p:nvPr/>
          </p:nvGrpSpPr>
          <p:grpSpPr>
            <a:xfrm>
              <a:off x="4751" y="667"/>
              <a:ext cx="581" cy="145"/>
              <a:chOff x="616" y="2567"/>
              <a:chExt cx="725" cy="139"/>
            </a:xfrm>
          </p:grpSpPr>
          <p:sp>
            <p:nvSpPr>
              <p:cNvPr id="2894" name="Google Shape;2894;p45"/>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95" name="Google Shape;2895;p45"/>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896" name="Google Shape;2896;p45"/>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897" name="Google Shape;2897;p45"/>
            <p:cNvGrpSpPr/>
            <p:nvPr/>
          </p:nvGrpSpPr>
          <p:grpSpPr>
            <a:xfrm>
              <a:off x="4745" y="997"/>
              <a:ext cx="581" cy="132"/>
              <a:chOff x="611" y="2571"/>
              <a:chExt cx="725" cy="137"/>
            </a:xfrm>
          </p:grpSpPr>
          <p:sp>
            <p:nvSpPr>
              <p:cNvPr id="2898" name="Google Shape;2898;p45"/>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899" name="Google Shape;2899;p45"/>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900" name="Google Shape;2900;p45"/>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01" name="Google Shape;2901;p45"/>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902" name="Google Shape;2902;p45"/>
            <p:cNvGrpSpPr/>
            <p:nvPr/>
          </p:nvGrpSpPr>
          <p:grpSpPr>
            <a:xfrm>
              <a:off x="4733" y="1630"/>
              <a:ext cx="587" cy="146"/>
              <a:chOff x="611" y="2571"/>
              <a:chExt cx="731" cy="134"/>
            </a:xfrm>
          </p:grpSpPr>
          <p:sp>
            <p:nvSpPr>
              <p:cNvPr id="2903" name="Google Shape;2903;p45"/>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04" name="Google Shape;2904;p45"/>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905" name="Google Shape;2905;p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06" name="Google Shape;2906;p45"/>
            <p:cNvGrpSpPr/>
            <p:nvPr/>
          </p:nvGrpSpPr>
          <p:grpSpPr>
            <a:xfrm>
              <a:off x="4739" y="1327"/>
              <a:ext cx="580" cy="139"/>
              <a:chOff x="614" y="2568"/>
              <a:chExt cx="723" cy="139"/>
            </a:xfrm>
          </p:grpSpPr>
          <p:sp>
            <p:nvSpPr>
              <p:cNvPr id="2907" name="Google Shape;2907;p45"/>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08" name="Google Shape;2908;p45"/>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909" name="Google Shape;2909;p45"/>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10" name="Google Shape;2910;p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1" name="Google Shape;2911;p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2" name="Google Shape;2912;p45"/>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13" name="Google Shape;2913;p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4" name="Google Shape;2914;p45"/>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15" name="Google Shape;2915;p45"/>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16" name="Google Shape;2916;p45"/>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17" name="Google Shape;2917;p45"/>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918" name="Google Shape;2918;p45"/>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19" name="Google Shape;2919;p45"/>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2920" name="Google Shape;2920;p45"/>
          <p:cNvGrpSpPr/>
          <p:nvPr/>
        </p:nvGrpSpPr>
        <p:grpSpPr>
          <a:xfrm>
            <a:off x="7358064" y="1479551"/>
            <a:ext cx="377825" cy="576263"/>
            <a:chOff x="4140" y="429"/>
            <a:chExt cx="1425" cy="2396"/>
          </a:xfrm>
        </p:grpSpPr>
        <p:sp>
          <p:nvSpPr>
            <p:cNvPr id="2921" name="Google Shape;2921;p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2" name="Google Shape;2922;p45"/>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23" name="Google Shape;2923;p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4" name="Google Shape;2924;p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5" name="Google Shape;2925;p45"/>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926" name="Google Shape;2926;p45"/>
            <p:cNvGrpSpPr/>
            <p:nvPr/>
          </p:nvGrpSpPr>
          <p:grpSpPr>
            <a:xfrm>
              <a:off x="4751" y="667"/>
              <a:ext cx="581" cy="145"/>
              <a:chOff x="616" y="2567"/>
              <a:chExt cx="725" cy="139"/>
            </a:xfrm>
          </p:grpSpPr>
          <p:sp>
            <p:nvSpPr>
              <p:cNvPr id="2927" name="Google Shape;2927;p45"/>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28" name="Google Shape;2928;p45"/>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929" name="Google Shape;2929;p45"/>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930" name="Google Shape;2930;p45"/>
            <p:cNvGrpSpPr/>
            <p:nvPr/>
          </p:nvGrpSpPr>
          <p:grpSpPr>
            <a:xfrm>
              <a:off x="4745" y="997"/>
              <a:ext cx="581" cy="132"/>
              <a:chOff x="611" y="2571"/>
              <a:chExt cx="725" cy="137"/>
            </a:xfrm>
          </p:grpSpPr>
          <p:sp>
            <p:nvSpPr>
              <p:cNvPr id="2931" name="Google Shape;2931;p45"/>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32" name="Google Shape;2932;p45"/>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933" name="Google Shape;2933;p45"/>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34" name="Google Shape;2934;p45"/>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935" name="Google Shape;2935;p45"/>
            <p:cNvGrpSpPr/>
            <p:nvPr/>
          </p:nvGrpSpPr>
          <p:grpSpPr>
            <a:xfrm>
              <a:off x="4733" y="1630"/>
              <a:ext cx="587" cy="146"/>
              <a:chOff x="611" y="2571"/>
              <a:chExt cx="731" cy="134"/>
            </a:xfrm>
          </p:grpSpPr>
          <p:sp>
            <p:nvSpPr>
              <p:cNvPr id="2936" name="Google Shape;2936;p45"/>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37" name="Google Shape;2937;p45"/>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938" name="Google Shape;2938;p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39" name="Google Shape;2939;p45"/>
            <p:cNvGrpSpPr/>
            <p:nvPr/>
          </p:nvGrpSpPr>
          <p:grpSpPr>
            <a:xfrm>
              <a:off x="4739" y="1327"/>
              <a:ext cx="580" cy="139"/>
              <a:chOff x="614" y="2568"/>
              <a:chExt cx="723" cy="139"/>
            </a:xfrm>
          </p:grpSpPr>
          <p:sp>
            <p:nvSpPr>
              <p:cNvPr id="2940" name="Google Shape;2940;p45"/>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41" name="Google Shape;2941;p45"/>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942" name="Google Shape;2942;p45"/>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43" name="Google Shape;2943;p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4" name="Google Shape;2944;p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5" name="Google Shape;2945;p45"/>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46" name="Google Shape;2946;p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7" name="Google Shape;2947;p45"/>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48" name="Google Shape;2948;p45"/>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49" name="Google Shape;2949;p45"/>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50" name="Google Shape;2950;p45"/>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951" name="Google Shape;2951;p45"/>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52" name="Google Shape;2952;p45"/>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2953" name="Google Shape;2953;p45"/>
          <p:cNvGrpSpPr/>
          <p:nvPr/>
        </p:nvGrpSpPr>
        <p:grpSpPr>
          <a:xfrm>
            <a:off x="8110539" y="1511301"/>
            <a:ext cx="377825" cy="576263"/>
            <a:chOff x="4140" y="429"/>
            <a:chExt cx="1425" cy="2396"/>
          </a:xfrm>
        </p:grpSpPr>
        <p:sp>
          <p:nvSpPr>
            <p:cNvPr id="2954" name="Google Shape;2954;p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5" name="Google Shape;2955;p45"/>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56" name="Google Shape;2956;p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7" name="Google Shape;2957;p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8" name="Google Shape;2958;p45"/>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959" name="Google Shape;2959;p45"/>
            <p:cNvGrpSpPr/>
            <p:nvPr/>
          </p:nvGrpSpPr>
          <p:grpSpPr>
            <a:xfrm>
              <a:off x="4751" y="667"/>
              <a:ext cx="581" cy="145"/>
              <a:chOff x="616" y="2567"/>
              <a:chExt cx="725" cy="139"/>
            </a:xfrm>
          </p:grpSpPr>
          <p:sp>
            <p:nvSpPr>
              <p:cNvPr id="2960" name="Google Shape;2960;p45"/>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61" name="Google Shape;2961;p45"/>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962" name="Google Shape;2962;p45"/>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963" name="Google Shape;2963;p45"/>
            <p:cNvGrpSpPr/>
            <p:nvPr/>
          </p:nvGrpSpPr>
          <p:grpSpPr>
            <a:xfrm>
              <a:off x="4745" y="997"/>
              <a:ext cx="581" cy="132"/>
              <a:chOff x="611" y="2571"/>
              <a:chExt cx="725" cy="137"/>
            </a:xfrm>
          </p:grpSpPr>
          <p:sp>
            <p:nvSpPr>
              <p:cNvPr id="2964" name="Google Shape;2964;p45"/>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65" name="Google Shape;2965;p45"/>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966" name="Google Shape;2966;p45"/>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67" name="Google Shape;2967;p45"/>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968" name="Google Shape;2968;p45"/>
            <p:cNvGrpSpPr/>
            <p:nvPr/>
          </p:nvGrpSpPr>
          <p:grpSpPr>
            <a:xfrm>
              <a:off x="4733" y="1630"/>
              <a:ext cx="587" cy="146"/>
              <a:chOff x="611" y="2571"/>
              <a:chExt cx="731" cy="134"/>
            </a:xfrm>
          </p:grpSpPr>
          <p:sp>
            <p:nvSpPr>
              <p:cNvPr id="2969" name="Google Shape;2969;p45"/>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70" name="Google Shape;2970;p45"/>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971" name="Google Shape;2971;p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72" name="Google Shape;2972;p45"/>
            <p:cNvGrpSpPr/>
            <p:nvPr/>
          </p:nvGrpSpPr>
          <p:grpSpPr>
            <a:xfrm>
              <a:off x="4739" y="1327"/>
              <a:ext cx="580" cy="139"/>
              <a:chOff x="614" y="2568"/>
              <a:chExt cx="723" cy="139"/>
            </a:xfrm>
          </p:grpSpPr>
          <p:sp>
            <p:nvSpPr>
              <p:cNvPr id="2973" name="Google Shape;2973;p45"/>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74" name="Google Shape;2974;p45"/>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975" name="Google Shape;2975;p45"/>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76" name="Google Shape;2976;p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7" name="Google Shape;2977;p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8" name="Google Shape;2978;p45"/>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79" name="Google Shape;2979;p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0" name="Google Shape;2980;p45"/>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81" name="Google Shape;2981;p45"/>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82" name="Google Shape;2982;p45"/>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83" name="Google Shape;2983;p45"/>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984" name="Google Shape;2984;p45"/>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85" name="Google Shape;2985;p45"/>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2986" name="Google Shape;2986;p45"/>
          <p:cNvGrpSpPr/>
          <p:nvPr/>
        </p:nvGrpSpPr>
        <p:grpSpPr>
          <a:xfrm>
            <a:off x="8720139" y="1663701"/>
            <a:ext cx="377825" cy="576263"/>
            <a:chOff x="4140" y="429"/>
            <a:chExt cx="1425" cy="2396"/>
          </a:xfrm>
        </p:grpSpPr>
        <p:sp>
          <p:nvSpPr>
            <p:cNvPr id="2987" name="Google Shape;2987;p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8" name="Google Shape;2988;p45"/>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89" name="Google Shape;2989;p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0" name="Google Shape;2990;p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1" name="Google Shape;2991;p45"/>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992" name="Google Shape;2992;p45"/>
            <p:cNvGrpSpPr/>
            <p:nvPr/>
          </p:nvGrpSpPr>
          <p:grpSpPr>
            <a:xfrm>
              <a:off x="4751" y="667"/>
              <a:ext cx="581" cy="145"/>
              <a:chOff x="616" y="2567"/>
              <a:chExt cx="725" cy="139"/>
            </a:xfrm>
          </p:grpSpPr>
          <p:sp>
            <p:nvSpPr>
              <p:cNvPr id="2993" name="Google Shape;2993;p45"/>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94" name="Google Shape;2994;p45"/>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995" name="Google Shape;2995;p45"/>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2996" name="Google Shape;2996;p45"/>
            <p:cNvGrpSpPr/>
            <p:nvPr/>
          </p:nvGrpSpPr>
          <p:grpSpPr>
            <a:xfrm>
              <a:off x="4745" y="997"/>
              <a:ext cx="581" cy="132"/>
              <a:chOff x="611" y="2571"/>
              <a:chExt cx="725" cy="137"/>
            </a:xfrm>
          </p:grpSpPr>
          <p:sp>
            <p:nvSpPr>
              <p:cNvPr id="2997" name="Google Shape;2997;p45"/>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2998" name="Google Shape;2998;p45"/>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2999" name="Google Shape;2999;p45"/>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00" name="Google Shape;3000;p45"/>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001" name="Google Shape;3001;p45"/>
            <p:cNvGrpSpPr/>
            <p:nvPr/>
          </p:nvGrpSpPr>
          <p:grpSpPr>
            <a:xfrm>
              <a:off x="4733" y="1630"/>
              <a:ext cx="587" cy="146"/>
              <a:chOff x="611" y="2571"/>
              <a:chExt cx="731" cy="134"/>
            </a:xfrm>
          </p:grpSpPr>
          <p:sp>
            <p:nvSpPr>
              <p:cNvPr id="3002" name="Google Shape;3002;p45"/>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03" name="Google Shape;3003;p45"/>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004" name="Google Shape;3004;p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005" name="Google Shape;3005;p45"/>
            <p:cNvGrpSpPr/>
            <p:nvPr/>
          </p:nvGrpSpPr>
          <p:grpSpPr>
            <a:xfrm>
              <a:off x="4739" y="1327"/>
              <a:ext cx="580" cy="139"/>
              <a:chOff x="614" y="2568"/>
              <a:chExt cx="723" cy="139"/>
            </a:xfrm>
          </p:grpSpPr>
          <p:sp>
            <p:nvSpPr>
              <p:cNvPr id="3006" name="Google Shape;3006;p45"/>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07" name="Google Shape;3007;p45"/>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008" name="Google Shape;3008;p45"/>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09" name="Google Shape;3009;p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0" name="Google Shape;3010;p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1" name="Google Shape;3011;p45"/>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12" name="Google Shape;3012;p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3" name="Google Shape;3013;p45"/>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14" name="Google Shape;3014;p45"/>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15" name="Google Shape;3015;p45"/>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16" name="Google Shape;3016;p45"/>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017" name="Google Shape;3017;p45"/>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18" name="Google Shape;3018;p45"/>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3019" name="Google Shape;3019;p45"/>
          <p:cNvGrpSpPr/>
          <p:nvPr/>
        </p:nvGrpSpPr>
        <p:grpSpPr>
          <a:xfrm>
            <a:off x="9048751" y="2609851"/>
            <a:ext cx="377825" cy="576263"/>
            <a:chOff x="4140" y="429"/>
            <a:chExt cx="1425" cy="2396"/>
          </a:xfrm>
        </p:grpSpPr>
        <p:sp>
          <p:nvSpPr>
            <p:cNvPr id="3020" name="Google Shape;3020;p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1" name="Google Shape;3021;p45"/>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22" name="Google Shape;3022;p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3" name="Google Shape;3023;p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4" name="Google Shape;3024;p45"/>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025" name="Google Shape;3025;p45"/>
            <p:cNvGrpSpPr/>
            <p:nvPr/>
          </p:nvGrpSpPr>
          <p:grpSpPr>
            <a:xfrm>
              <a:off x="4751" y="667"/>
              <a:ext cx="581" cy="145"/>
              <a:chOff x="616" y="2567"/>
              <a:chExt cx="725" cy="139"/>
            </a:xfrm>
          </p:grpSpPr>
          <p:sp>
            <p:nvSpPr>
              <p:cNvPr id="3026" name="Google Shape;3026;p45"/>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27" name="Google Shape;3027;p45"/>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028" name="Google Shape;3028;p45"/>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029" name="Google Shape;3029;p45"/>
            <p:cNvGrpSpPr/>
            <p:nvPr/>
          </p:nvGrpSpPr>
          <p:grpSpPr>
            <a:xfrm>
              <a:off x="4745" y="997"/>
              <a:ext cx="581" cy="132"/>
              <a:chOff x="611" y="2571"/>
              <a:chExt cx="725" cy="137"/>
            </a:xfrm>
          </p:grpSpPr>
          <p:sp>
            <p:nvSpPr>
              <p:cNvPr id="3030" name="Google Shape;3030;p45"/>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31" name="Google Shape;3031;p45"/>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032" name="Google Shape;3032;p45"/>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33" name="Google Shape;3033;p45"/>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034" name="Google Shape;3034;p45"/>
            <p:cNvGrpSpPr/>
            <p:nvPr/>
          </p:nvGrpSpPr>
          <p:grpSpPr>
            <a:xfrm>
              <a:off x="4733" y="1630"/>
              <a:ext cx="587" cy="146"/>
              <a:chOff x="611" y="2571"/>
              <a:chExt cx="731" cy="134"/>
            </a:xfrm>
          </p:grpSpPr>
          <p:sp>
            <p:nvSpPr>
              <p:cNvPr id="3035" name="Google Shape;3035;p45"/>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36" name="Google Shape;3036;p45"/>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037" name="Google Shape;3037;p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038" name="Google Shape;3038;p45"/>
            <p:cNvGrpSpPr/>
            <p:nvPr/>
          </p:nvGrpSpPr>
          <p:grpSpPr>
            <a:xfrm>
              <a:off x="4739" y="1327"/>
              <a:ext cx="580" cy="139"/>
              <a:chOff x="614" y="2568"/>
              <a:chExt cx="723" cy="139"/>
            </a:xfrm>
          </p:grpSpPr>
          <p:sp>
            <p:nvSpPr>
              <p:cNvPr id="3039" name="Google Shape;3039;p45"/>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40" name="Google Shape;3040;p45"/>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041" name="Google Shape;3041;p45"/>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42" name="Google Shape;3042;p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3" name="Google Shape;3043;p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4" name="Google Shape;3044;p45"/>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45" name="Google Shape;3045;p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6" name="Google Shape;3046;p45"/>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47" name="Google Shape;3047;p45"/>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48" name="Google Shape;3048;p45"/>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49" name="Google Shape;3049;p45"/>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050" name="Google Shape;3050;p45"/>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51" name="Google Shape;3051;p45"/>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052" name="Google Shape;3052;p45"/>
          <p:cNvSpPr/>
          <p:nvPr/>
        </p:nvSpPr>
        <p:spPr>
          <a:xfrm>
            <a:off x="6456363" y="4392613"/>
            <a:ext cx="2965450" cy="1390650"/>
          </a:xfrm>
          <a:custGeom>
            <a:rect b="b" l="l" r="r" t="t"/>
            <a:pathLst>
              <a:path extrusionOk="0" h="876" w="1868">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053" name="Google Shape;3053;p45"/>
          <p:cNvCxnSpPr/>
          <p:nvPr/>
        </p:nvCxnSpPr>
        <p:spPr>
          <a:xfrm flipH="1">
            <a:off x="6905626" y="4702175"/>
            <a:ext cx="855663" cy="431800"/>
          </a:xfrm>
          <a:prstGeom prst="straightConnector1">
            <a:avLst/>
          </a:prstGeom>
          <a:noFill/>
          <a:ln cap="flat" cmpd="sng" w="28575">
            <a:solidFill>
              <a:schemeClr val="dk1"/>
            </a:solidFill>
            <a:prstDash val="solid"/>
            <a:round/>
            <a:headEnd len="med" w="med" type="none"/>
            <a:tailEnd len="med" w="med" type="none"/>
          </a:ln>
        </p:spPr>
      </p:cxnSp>
      <p:cxnSp>
        <p:nvCxnSpPr>
          <p:cNvPr id="3054" name="Google Shape;3054;p45"/>
          <p:cNvCxnSpPr/>
          <p:nvPr/>
        </p:nvCxnSpPr>
        <p:spPr>
          <a:xfrm flipH="1">
            <a:off x="7415213" y="4749800"/>
            <a:ext cx="563562" cy="393700"/>
          </a:xfrm>
          <a:prstGeom prst="straightConnector1">
            <a:avLst/>
          </a:prstGeom>
          <a:noFill/>
          <a:ln cap="flat" cmpd="sng" w="28575">
            <a:solidFill>
              <a:schemeClr val="dk1"/>
            </a:solidFill>
            <a:prstDash val="solid"/>
            <a:round/>
            <a:headEnd len="med" w="med" type="none"/>
            <a:tailEnd len="med" w="med" type="none"/>
          </a:ln>
        </p:spPr>
      </p:cxnSp>
      <p:cxnSp>
        <p:nvCxnSpPr>
          <p:cNvPr id="3055" name="Google Shape;3055;p45"/>
          <p:cNvCxnSpPr/>
          <p:nvPr/>
        </p:nvCxnSpPr>
        <p:spPr>
          <a:xfrm flipH="1">
            <a:off x="7953376" y="4756150"/>
            <a:ext cx="149225" cy="382588"/>
          </a:xfrm>
          <a:prstGeom prst="straightConnector1">
            <a:avLst/>
          </a:prstGeom>
          <a:noFill/>
          <a:ln cap="flat" cmpd="sng" w="28575">
            <a:solidFill>
              <a:schemeClr val="dk1"/>
            </a:solidFill>
            <a:prstDash val="solid"/>
            <a:round/>
            <a:headEnd len="med" w="med" type="none"/>
            <a:tailEnd len="med" w="med" type="none"/>
          </a:ln>
        </p:spPr>
      </p:cxnSp>
      <p:cxnSp>
        <p:nvCxnSpPr>
          <p:cNvPr id="3056" name="Google Shape;3056;p45"/>
          <p:cNvCxnSpPr/>
          <p:nvPr/>
        </p:nvCxnSpPr>
        <p:spPr>
          <a:xfrm>
            <a:off x="8320089" y="4735513"/>
            <a:ext cx="123825" cy="412750"/>
          </a:xfrm>
          <a:prstGeom prst="straightConnector1">
            <a:avLst/>
          </a:prstGeom>
          <a:noFill/>
          <a:ln cap="flat" cmpd="sng" w="28575">
            <a:solidFill>
              <a:schemeClr val="dk1"/>
            </a:solidFill>
            <a:prstDash val="solid"/>
            <a:round/>
            <a:headEnd len="med" w="med" type="none"/>
            <a:tailEnd len="med" w="med" type="none"/>
          </a:ln>
        </p:spPr>
      </p:cxnSp>
      <p:sp>
        <p:nvSpPr>
          <p:cNvPr id="3057" name="Google Shape;3057;p45"/>
          <p:cNvSpPr txBox="1"/>
          <p:nvPr/>
        </p:nvSpPr>
        <p:spPr>
          <a:xfrm>
            <a:off x="6483351" y="4279901"/>
            <a:ext cx="1198563"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institutional</a:t>
            </a:r>
            <a:endParaRPr/>
          </a:p>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network</a:t>
            </a:r>
            <a:endParaRPr sz="2400">
              <a:solidFill>
                <a:srgbClr val="CC0000"/>
              </a:solidFill>
              <a:latin typeface="Arial"/>
              <a:ea typeface="Arial"/>
              <a:cs typeface="Arial"/>
              <a:sym typeface="Arial"/>
            </a:endParaRPr>
          </a:p>
        </p:txBody>
      </p:sp>
      <p:sp>
        <p:nvSpPr>
          <p:cNvPr id="3058" name="Google Shape;3058;p45"/>
          <p:cNvSpPr txBox="1"/>
          <p:nvPr/>
        </p:nvSpPr>
        <p:spPr>
          <a:xfrm>
            <a:off x="8493126" y="4660900"/>
            <a:ext cx="1541463" cy="3381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100 Mbps LAN</a:t>
            </a:r>
            <a:endParaRPr sz="2400">
              <a:solidFill>
                <a:schemeClr val="accent2"/>
              </a:solidFill>
              <a:latin typeface="Arial"/>
              <a:ea typeface="Arial"/>
              <a:cs typeface="Arial"/>
              <a:sym typeface="Arial"/>
            </a:endParaRPr>
          </a:p>
        </p:txBody>
      </p:sp>
      <p:grpSp>
        <p:nvGrpSpPr>
          <p:cNvPr id="3059" name="Google Shape;3059;p45"/>
          <p:cNvGrpSpPr/>
          <p:nvPr/>
        </p:nvGrpSpPr>
        <p:grpSpPr>
          <a:xfrm>
            <a:off x="7678738" y="4460876"/>
            <a:ext cx="881062" cy="307975"/>
            <a:chOff x="2356" y="1300"/>
            <a:chExt cx="555" cy="194"/>
          </a:xfrm>
        </p:grpSpPr>
        <p:sp>
          <p:nvSpPr>
            <p:cNvPr id="3060" name="Google Shape;3060;p45"/>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3061" name="Google Shape;3061;p45"/>
            <p:cNvSpPr/>
            <p:nvPr/>
          </p:nvSpPr>
          <p:spPr>
            <a:xfrm>
              <a:off x="2357" y="1374"/>
              <a:ext cx="554" cy="66"/>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3062" name="Google Shape;3062;p45"/>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grpSp>
          <p:nvGrpSpPr>
            <p:cNvPr id="3063" name="Google Shape;3063;p45"/>
            <p:cNvGrpSpPr/>
            <p:nvPr/>
          </p:nvGrpSpPr>
          <p:grpSpPr>
            <a:xfrm>
              <a:off x="2468" y="1332"/>
              <a:ext cx="310" cy="60"/>
              <a:chOff x="2468" y="1332"/>
              <a:chExt cx="310" cy="60"/>
            </a:xfrm>
          </p:grpSpPr>
          <p:sp>
            <p:nvSpPr>
              <p:cNvPr id="3064" name="Google Shape;3064;p45"/>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5" name="Google Shape;3065;p45"/>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3066" name="Google Shape;3066;p45"/>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3067" name="Google Shape;3067;p45"/>
            <p:cNvCxnSpPr/>
            <p:nvPr/>
          </p:nvCxnSpPr>
          <p:spPr>
            <a:xfrm>
              <a:off x="2907"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3068" name="Google Shape;3068;p45"/>
          <p:cNvGrpSpPr/>
          <p:nvPr/>
        </p:nvGrpSpPr>
        <p:grpSpPr>
          <a:xfrm>
            <a:off x="6592888" y="5070476"/>
            <a:ext cx="525462" cy="557213"/>
            <a:chOff x="-44" y="1473"/>
            <a:chExt cx="981" cy="1105"/>
          </a:xfrm>
        </p:grpSpPr>
        <p:pic>
          <p:nvPicPr>
            <p:cNvPr descr="desktop_computer_stylized_medium" id="3069" name="Google Shape;3069;p4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070" name="Google Shape;3070;p4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071" name="Google Shape;3071;p45"/>
          <p:cNvGrpSpPr/>
          <p:nvPr/>
        </p:nvGrpSpPr>
        <p:grpSpPr>
          <a:xfrm>
            <a:off x="8308976" y="5027613"/>
            <a:ext cx="377825" cy="576262"/>
            <a:chOff x="4140" y="429"/>
            <a:chExt cx="1425" cy="2396"/>
          </a:xfrm>
        </p:grpSpPr>
        <p:sp>
          <p:nvSpPr>
            <p:cNvPr id="3072" name="Google Shape;3072;p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3" name="Google Shape;3073;p45"/>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74" name="Google Shape;3074;p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5" name="Google Shape;3075;p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6" name="Google Shape;3076;p45"/>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077" name="Google Shape;3077;p45"/>
            <p:cNvGrpSpPr/>
            <p:nvPr/>
          </p:nvGrpSpPr>
          <p:grpSpPr>
            <a:xfrm>
              <a:off x="4751" y="667"/>
              <a:ext cx="581" cy="145"/>
              <a:chOff x="616" y="2567"/>
              <a:chExt cx="725" cy="139"/>
            </a:xfrm>
          </p:grpSpPr>
          <p:sp>
            <p:nvSpPr>
              <p:cNvPr id="3078" name="Google Shape;3078;p45"/>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79" name="Google Shape;3079;p45"/>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080" name="Google Shape;3080;p45"/>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081" name="Google Shape;3081;p45"/>
            <p:cNvGrpSpPr/>
            <p:nvPr/>
          </p:nvGrpSpPr>
          <p:grpSpPr>
            <a:xfrm>
              <a:off x="4745" y="997"/>
              <a:ext cx="581" cy="132"/>
              <a:chOff x="611" y="2571"/>
              <a:chExt cx="725" cy="137"/>
            </a:xfrm>
          </p:grpSpPr>
          <p:sp>
            <p:nvSpPr>
              <p:cNvPr id="3082" name="Google Shape;3082;p45"/>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83" name="Google Shape;3083;p45"/>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084" name="Google Shape;3084;p45"/>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85" name="Google Shape;3085;p45"/>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086" name="Google Shape;3086;p45"/>
            <p:cNvGrpSpPr/>
            <p:nvPr/>
          </p:nvGrpSpPr>
          <p:grpSpPr>
            <a:xfrm>
              <a:off x="4733" y="1630"/>
              <a:ext cx="587" cy="146"/>
              <a:chOff x="611" y="2571"/>
              <a:chExt cx="731" cy="134"/>
            </a:xfrm>
          </p:grpSpPr>
          <p:sp>
            <p:nvSpPr>
              <p:cNvPr id="3087" name="Google Shape;3087;p45"/>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88" name="Google Shape;3088;p45"/>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089" name="Google Shape;3089;p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090" name="Google Shape;3090;p45"/>
            <p:cNvGrpSpPr/>
            <p:nvPr/>
          </p:nvGrpSpPr>
          <p:grpSpPr>
            <a:xfrm>
              <a:off x="4739" y="1327"/>
              <a:ext cx="580" cy="139"/>
              <a:chOff x="614" y="2568"/>
              <a:chExt cx="723" cy="139"/>
            </a:xfrm>
          </p:grpSpPr>
          <p:sp>
            <p:nvSpPr>
              <p:cNvPr id="3091" name="Google Shape;3091;p45"/>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92" name="Google Shape;3092;p45"/>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093" name="Google Shape;3093;p45"/>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94" name="Google Shape;3094;p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5" name="Google Shape;3095;p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6" name="Google Shape;3096;p45"/>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97" name="Google Shape;3097;p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8" name="Google Shape;3098;p45"/>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099" name="Google Shape;3099;p45"/>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100" name="Google Shape;3100;p45"/>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101" name="Google Shape;3101;p45"/>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102" name="Google Shape;3102;p45"/>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103" name="Google Shape;3103;p45"/>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3104" name="Google Shape;3104;p45"/>
          <p:cNvGrpSpPr/>
          <p:nvPr/>
        </p:nvGrpSpPr>
        <p:grpSpPr>
          <a:xfrm>
            <a:off x="7104063" y="5092701"/>
            <a:ext cx="525462" cy="557213"/>
            <a:chOff x="-44" y="1473"/>
            <a:chExt cx="981" cy="1105"/>
          </a:xfrm>
        </p:grpSpPr>
        <p:pic>
          <p:nvPicPr>
            <p:cNvPr descr="desktop_computer_stylized_medium" id="3105" name="Google Shape;3105;p4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106" name="Google Shape;3106;p4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07" name="Google Shape;3107;p45"/>
          <p:cNvGrpSpPr/>
          <p:nvPr/>
        </p:nvGrpSpPr>
        <p:grpSpPr>
          <a:xfrm>
            <a:off x="7627938" y="5081588"/>
            <a:ext cx="525462" cy="557212"/>
            <a:chOff x="-44" y="1473"/>
            <a:chExt cx="981" cy="1105"/>
          </a:xfrm>
        </p:grpSpPr>
        <p:pic>
          <p:nvPicPr>
            <p:cNvPr descr="desktop_computer_stylized_medium" id="3108" name="Google Shape;3108;p4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109" name="Google Shape;3109;p4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3110" name="Google Shape;3110;p45"/>
          <p:cNvCxnSpPr/>
          <p:nvPr/>
        </p:nvCxnSpPr>
        <p:spPr>
          <a:xfrm>
            <a:off x="8115300" y="3467101"/>
            <a:ext cx="19050" cy="989013"/>
          </a:xfrm>
          <a:prstGeom prst="straightConnector1">
            <a:avLst/>
          </a:prstGeom>
          <a:noFill/>
          <a:ln cap="flat" cmpd="sng" w="28575">
            <a:solidFill>
              <a:schemeClr val="dk1"/>
            </a:solidFill>
            <a:prstDash val="solid"/>
            <a:round/>
            <a:headEnd len="med" w="med" type="none"/>
            <a:tailEnd len="med" w="med" type="none"/>
          </a:ln>
        </p:spPr>
      </p:cxnSp>
      <p:sp>
        <p:nvSpPr>
          <p:cNvPr id="3111" name="Google Shape;3111;p45"/>
          <p:cNvSpPr/>
          <p:nvPr/>
        </p:nvSpPr>
        <p:spPr>
          <a:xfrm>
            <a:off x="1938338" y="1117600"/>
            <a:ext cx="4572000" cy="480747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99"/>
              </a:buClr>
              <a:buSzPts val="1040"/>
              <a:buFont typeface="Noto Sans Symbols"/>
              <a:buNone/>
            </a:pPr>
            <a:r>
              <a:rPr i="1" lang="en-US" sz="1600">
                <a:solidFill>
                  <a:srgbClr val="CC0000"/>
                </a:solidFill>
                <a:latin typeface="Gill Sans"/>
                <a:ea typeface="Gill Sans"/>
                <a:cs typeface="Gill Sans"/>
                <a:sym typeface="Gill Sans"/>
              </a:rPr>
              <a:t>assumptions:</a:t>
            </a:r>
            <a:endParaRPr/>
          </a:p>
          <a:p>
            <a:pPr indent="-66040" lvl="0" marL="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 avg object size: 1Mbits</a:t>
            </a:r>
            <a:endParaRPr/>
          </a:p>
          <a:p>
            <a:pPr indent="-66040" lvl="0" marL="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 avg request rate from browsers to origin servers:15/sec</a:t>
            </a:r>
            <a:endParaRPr/>
          </a:p>
          <a:p>
            <a:pPr indent="-66040" lvl="0" marL="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 RTT from institutional router to any origin server: 2 sec (Internet delay)</a:t>
            </a:r>
            <a:endParaRPr/>
          </a:p>
          <a:p>
            <a:pPr indent="-66040" lvl="0" marL="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 access link rate: 15 Mbps 🡪 100Mbps</a:t>
            </a:r>
            <a:endParaRPr/>
          </a:p>
          <a:p>
            <a:pPr indent="-66040" lvl="0" marL="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LAN delay = 10ms = 0.01s</a:t>
            </a:r>
            <a:endParaRPr sz="1600">
              <a:solidFill>
                <a:schemeClr val="dk1"/>
              </a:solidFill>
              <a:latin typeface="Gill Sans"/>
              <a:ea typeface="Gill Sans"/>
              <a:cs typeface="Gill Sans"/>
              <a:sym typeface="Gill Sans"/>
            </a:endParaRPr>
          </a:p>
          <a:p>
            <a:pPr indent="0" lvl="0" marL="0" marR="0" rtl="0" algn="l">
              <a:lnSpc>
                <a:spcPct val="85000"/>
              </a:lnSpc>
              <a:spcBef>
                <a:spcPts val="720"/>
              </a:spcBef>
              <a:spcAft>
                <a:spcPts val="0"/>
              </a:spcAft>
              <a:buClr>
                <a:srgbClr val="000099"/>
              </a:buClr>
              <a:buSzPts val="1040"/>
              <a:buFont typeface="Noto Sans Symbols"/>
              <a:buNone/>
            </a:pPr>
            <a:r>
              <a:rPr i="1" lang="en-US" sz="1600">
                <a:solidFill>
                  <a:srgbClr val="CC0000"/>
                </a:solidFill>
                <a:latin typeface="Gill Sans"/>
                <a:ea typeface="Gill Sans"/>
                <a:cs typeface="Gill Sans"/>
                <a:sym typeface="Gill Sans"/>
              </a:rPr>
              <a:t>consequences:</a:t>
            </a:r>
            <a:endParaRPr/>
          </a:p>
          <a:p>
            <a:pPr indent="-66040" lvl="0" marL="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 LAN utilization: </a:t>
            </a:r>
            <a:endParaRPr/>
          </a:p>
          <a:p>
            <a:pPr indent="0" lvl="0" marL="0" marR="0" rtl="0" algn="l">
              <a:lnSpc>
                <a:spcPct val="85000"/>
              </a:lnSpc>
              <a:spcBef>
                <a:spcPts val="0"/>
              </a:spcBef>
              <a:spcAft>
                <a:spcPts val="0"/>
              </a:spcAft>
              <a:buClr>
                <a:srgbClr val="000099"/>
              </a:buClr>
              <a:buSzPts val="1040"/>
              <a:buFont typeface="Arial"/>
              <a:buNone/>
            </a:pPr>
            <a:r>
              <a:rPr lang="en-US" sz="1600">
                <a:solidFill>
                  <a:schemeClr val="dk1"/>
                </a:solidFill>
                <a:latin typeface="Gill Sans"/>
                <a:ea typeface="Gill Sans"/>
                <a:cs typeface="Gill Sans"/>
                <a:sym typeface="Gill Sans"/>
              </a:rPr>
              <a:t>	 = La/R = 15req/sec x 1Mbits/ 100Mbps</a:t>
            </a:r>
            <a:endParaRPr/>
          </a:p>
          <a:p>
            <a:pPr indent="0" lvl="0" marL="0" marR="0" rtl="0" algn="l">
              <a:lnSpc>
                <a:spcPct val="85000"/>
              </a:lnSpc>
              <a:spcBef>
                <a:spcPts val="0"/>
              </a:spcBef>
              <a:spcAft>
                <a:spcPts val="0"/>
              </a:spcAft>
              <a:buClr>
                <a:srgbClr val="000099"/>
              </a:buClr>
              <a:buSzPts val="1040"/>
              <a:buFont typeface="Arial"/>
              <a:buNone/>
            </a:pPr>
            <a:r>
              <a:rPr lang="en-US" sz="1600">
                <a:solidFill>
                  <a:schemeClr val="dk1"/>
                </a:solidFill>
                <a:latin typeface="Gill Sans"/>
                <a:ea typeface="Gill Sans"/>
                <a:cs typeface="Gill Sans"/>
                <a:sym typeface="Gill Sans"/>
              </a:rPr>
              <a:t>                = 0.15 = 15%</a:t>
            </a:r>
            <a:endParaRPr/>
          </a:p>
          <a:p>
            <a:pPr indent="-66040" lvl="0" marL="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 access link utilization</a:t>
            </a:r>
            <a:endParaRPr/>
          </a:p>
          <a:p>
            <a:pPr indent="0" lvl="0" marL="0" marR="0" rtl="0" algn="l">
              <a:lnSpc>
                <a:spcPct val="85000"/>
              </a:lnSpc>
              <a:spcBef>
                <a:spcPts val="0"/>
              </a:spcBef>
              <a:spcAft>
                <a:spcPts val="0"/>
              </a:spcAft>
              <a:buClr>
                <a:srgbClr val="000099"/>
              </a:buClr>
              <a:buSzPts val="1040"/>
              <a:buFont typeface="Arial"/>
              <a:buNone/>
            </a:pPr>
            <a:r>
              <a:rPr lang="en-US" sz="1600">
                <a:solidFill>
                  <a:schemeClr val="dk1"/>
                </a:solidFill>
                <a:latin typeface="Gill Sans"/>
                <a:ea typeface="Gill Sans"/>
                <a:cs typeface="Gill Sans"/>
                <a:sym typeface="Gill Sans"/>
              </a:rPr>
              <a:t>	 = La/R = 15req/sec x 1Mbits/ 100Mbps</a:t>
            </a:r>
            <a:endParaRPr/>
          </a:p>
          <a:p>
            <a:pPr indent="0" lvl="0" marL="0" marR="0" rtl="0" algn="l">
              <a:lnSpc>
                <a:spcPct val="85000"/>
              </a:lnSpc>
              <a:spcBef>
                <a:spcPts val="0"/>
              </a:spcBef>
              <a:spcAft>
                <a:spcPts val="0"/>
              </a:spcAft>
              <a:buClr>
                <a:srgbClr val="000099"/>
              </a:buClr>
              <a:buSzPts val="1040"/>
              <a:buFont typeface="Arial"/>
              <a:buNone/>
            </a:pPr>
            <a:r>
              <a:rPr lang="en-US" sz="1600">
                <a:solidFill>
                  <a:srgbClr val="CC0000"/>
                </a:solidFill>
                <a:latin typeface="Gill Sans"/>
                <a:ea typeface="Gill Sans"/>
                <a:cs typeface="Gill Sans"/>
                <a:sym typeface="Gill Sans"/>
              </a:rPr>
              <a:t>	 = </a:t>
            </a:r>
            <a:r>
              <a:rPr lang="en-US" sz="1600">
                <a:solidFill>
                  <a:schemeClr val="dk1"/>
                </a:solidFill>
                <a:latin typeface="Gill Sans"/>
                <a:ea typeface="Gill Sans"/>
                <a:cs typeface="Gill Sans"/>
                <a:sym typeface="Gill Sans"/>
              </a:rPr>
              <a:t>0.15 = 15% </a:t>
            </a:r>
            <a:endParaRPr/>
          </a:p>
          <a:p>
            <a:pPr indent="0" lvl="0" marL="0" marR="0" rtl="0" algn="l">
              <a:lnSpc>
                <a:spcPct val="85000"/>
              </a:lnSpc>
              <a:spcBef>
                <a:spcPts val="0"/>
              </a:spcBef>
              <a:spcAft>
                <a:spcPts val="0"/>
              </a:spcAft>
              <a:buClr>
                <a:srgbClr val="000099"/>
              </a:buClr>
              <a:buSzPts val="1040"/>
              <a:buFont typeface="Arial"/>
              <a:buNone/>
            </a:pPr>
            <a:r>
              <a:rPr lang="en-US" sz="1600">
                <a:solidFill>
                  <a:schemeClr val="dk1"/>
                </a:solidFill>
                <a:latin typeface="Gill Sans"/>
                <a:ea typeface="Gill Sans"/>
                <a:cs typeface="Gill Sans"/>
                <a:sym typeface="Gill Sans"/>
              </a:rPr>
              <a:t>                   (from </a:t>
            </a:r>
            <a:r>
              <a:rPr lang="en-US" sz="1600">
                <a:solidFill>
                  <a:srgbClr val="FF0000"/>
                </a:solidFill>
                <a:latin typeface="Gill Sans"/>
                <a:ea typeface="Gill Sans"/>
                <a:cs typeface="Gill Sans"/>
                <a:sym typeface="Gill Sans"/>
              </a:rPr>
              <a:t>100% </a:t>
            </a:r>
            <a:r>
              <a:rPr lang="en-US" sz="1600">
                <a:solidFill>
                  <a:schemeClr val="dk1"/>
                </a:solidFill>
                <a:latin typeface="Gill Sans"/>
                <a:ea typeface="Gill Sans"/>
                <a:cs typeface="Gill Sans"/>
                <a:sym typeface="Gill Sans"/>
              </a:rPr>
              <a:t>reduce to </a:t>
            </a:r>
            <a:r>
              <a:rPr lang="en-US" sz="1600">
                <a:solidFill>
                  <a:srgbClr val="FF0000"/>
                </a:solidFill>
                <a:latin typeface="Gill Sans"/>
                <a:ea typeface="Gill Sans"/>
                <a:cs typeface="Gill Sans"/>
                <a:sym typeface="Gill Sans"/>
              </a:rPr>
              <a:t>15%</a:t>
            </a:r>
            <a:r>
              <a:rPr lang="en-US" sz="1600">
                <a:solidFill>
                  <a:schemeClr val="dk1"/>
                </a:solidFill>
                <a:latin typeface="Gill Sans"/>
                <a:ea typeface="Gill Sans"/>
                <a:cs typeface="Gill Sans"/>
                <a:sym typeface="Gill Sans"/>
              </a:rPr>
              <a:t>)</a:t>
            </a:r>
            <a:endParaRPr/>
          </a:p>
          <a:p>
            <a:pPr indent="-66040" lvl="0" marL="0" marR="0" rtl="0" algn="l">
              <a:lnSpc>
                <a:spcPct val="85000"/>
              </a:lnSpc>
              <a:spcBef>
                <a:spcPts val="0"/>
              </a:spcBef>
              <a:spcAft>
                <a:spcPts val="0"/>
              </a:spcAft>
              <a:buClr>
                <a:srgbClr val="000099"/>
              </a:buClr>
              <a:buSzPts val="1040"/>
              <a:buFont typeface="Noto Sans Symbols"/>
              <a:buChar char="❖"/>
            </a:pPr>
            <a:r>
              <a:rPr lang="en-US" sz="1600">
                <a:solidFill>
                  <a:schemeClr val="dk1"/>
                </a:solidFill>
                <a:latin typeface="Gill Sans"/>
                <a:ea typeface="Gill Sans"/>
                <a:cs typeface="Gill Sans"/>
                <a:sym typeface="Gill Sans"/>
              </a:rPr>
              <a:t> total delay   = Internet delay + access link delay +    </a:t>
            </a:r>
            <a:endParaRPr/>
          </a:p>
          <a:p>
            <a:pPr indent="0" lvl="0" marL="0" marR="0" rtl="0" algn="l">
              <a:lnSpc>
                <a:spcPct val="85000"/>
              </a:lnSpc>
              <a:spcBef>
                <a:spcPts val="0"/>
              </a:spcBef>
              <a:spcAft>
                <a:spcPts val="0"/>
              </a:spcAft>
              <a:buClr>
                <a:srgbClr val="000099"/>
              </a:buClr>
              <a:buSzPts val="1040"/>
              <a:buFont typeface="Arial"/>
              <a:buNone/>
            </a:pPr>
            <a:r>
              <a:rPr lang="en-US" sz="1600">
                <a:solidFill>
                  <a:schemeClr val="dk1"/>
                </a:solidFill>
                <a:latin typeface="Gill Sans"/>
                <a:ea typeface="Gill Sans"/>
                <a:cs typeface="Gill Sans"/>
                <a:sym typeface="Gill Sans"/>
              </a:rPr>
              <a:t>                       LAN delay</a:t>
            </a:r>
            <a:endParaRPr/>
          </a:p>
          <a:p>
            <a:pPr indent="0" lvl="0" marL="0" marR="0" rtl="0" algn="l">
              <a:lnSpc>
                <a:spcPct val="85000"/>
              </a:lnSpc>
              <a:spcBef>
                <a:spcPts val="0"/>
              </a:spcBef>
              <a:spcAft>
                <a:spcPts val="0"/>
              </a:spcAft>
              <a:buClr>
                <a:srgbClr val="000099"/>
              </a:buClr>
              <a:buSzPts val="1040"/>
              <a:buFont typeface="Arial"/>
              <a:buNone/>
            </a:pPr>
            <a:r>
              <a:rPr lang="en-US" sz="1600">
                <a:solidFill>
                  <a:schemeClr val="dk1"/>
                </a:solidFill>
                <a:latin typeface="Gill Sans"/>
                <a:ea typeface="Gill Sans"/>
                <a:cs typeface="Gill Sans"/>
                <a:sym typeface="Gill Sans"/>
              </a:rPr>
              <a:t>                     =  2 sec + </a:t>
            </a:r>
            <a:r>
              <a:rPr lang="en-US" sz="1600">
                <a:solidFill>
                  <a:srgbClr val="FF0000"/>
                </a:solidFill>
                <a:latin typeface="Gill Sans"/>
                <a:ea typeface="Gill Sans"/>
                <a:cs typeface="Gill Sans"/>
                <a:sym typeface="Gill Sans"/>
              </a:rPr>
              <a:t>µsecs</a:t>
            </a:r>
            <a:r>
              <a:rPr lang="en-US" sz="1600">
                <a:solidFill>
                  <a:schemeClr val="dk1"/>
                </a:solidFill>
                <a:latin typeface="Gill Sans"/>
                <a:ea typeface="Gill Sans"/>
                <a:cs typeface="Gill Sans"/>
                <a:sym typeface="Gill Sans"/>
              </a:rPr>
              <a:t> + µsecs</a:t>
            </a:r>
            <a:endParaRPr sz="1600">
              <a:solidFill>
                <a:schemeClr val="dk1"/>
              </a:solidFill>
              <a:latin typeface="Gill Sans"/>
              <a:ea typeface="Gill Sans"/>
              <a:cs typeface="Gill Sans"/>
              <a:sym typeface="Gill Sans"/>
            </a:endParaRPr>
          </a:p>
          <a:p>
            <a:pPr indent="0" lvl="0" marL="0" marR="0" rtl="0" algn="l">
              <a:lnSpc>
                <a:spcPct val="85000"/>
              </a:lnSpc>
              <a:spcBef>
                <a:spcPts val="0"/>
              </a:spcBef>
              <a:spcAft>
                <a:spcPts val="0"/>
              </a:spcAft>
              <a:buClr>
                <a:srgbClr val="000099"/>
              </a:buClr>
              <a:buSzPts val="1040"/>
              <a:buFont typeface="Arial"/>
              <a:buNone/>
            </a:pPr>
            <a:r>
              <a:rPr lang="en-US" sz="1600">
                <a:solidFill>
                  <a:schemeClr val="dk1"/>
                </a:solidFill>
                <a:latin typeface="Gill Sans"/>
                <a:ea typeface="Gill Sans"/>
                <a:cs typeface="Gill Sans"/>
                <a:sym typeface="Gill Sans"/>
              </a:rPr>
              <a:t>	     ≈ 2 sec (Internet delay)</a:t>
            </a:r>
            <a:endParaRPr/>
          </a:p>
          <a:p>
            <a:pPr indent="0" lvl="0" marL="0" marR="0" rtl="0" algn="l">
              <a:lnSpc>
                <a:spcPct val="85000"/>
              </a:lnSpc>
              <a:spcBef>
                <a:spcPts val="0"/>
              </a:spcBef>
              <a:spcAft>
                <a:spcPts val="0"/>
              </a:spcAft>
              <a:buClr>
                <a:srgbClr val="000099"/>
              </a:buClr>
              <a:buSzPts val="1040"/>
              <a:buFont typeface="Noto Sans Symbols"/>
              <a:buNone/>
            </a:pPr>
            <a:r>
              <a:t/>
            </a:r>
            <a:endParaRPr sz="1600">
              <a:solidFill>
                <a:schemeClr val="dk1"/>
              </a:solidFill>
              <a:latin typeface="Gill Sans"/>
              <a:ea typeface="Gill Sans"/>
              <a:cs typeface="Gill Sans"/>
              <a:sym typeface="Gill Sans"/>
            </a:endParaRPr>
          </a:p>
          <a:p>
            <a:pPr indent="0" lvl="0" marL="0" marR="0" rtl="0" algn="l">
              <a:lnSpc>
                <a:spcPct val="85000"/>
              </a:lnSpc>
              <a:spcBef>
                <a:spcPts val="0"/>
              </a:spcBef>
              <a:spcAft>
                <a:spcPts val="0"/>
              </a:spcAft>
              <a:buClr>
                <a:srgbClr val="000099"/>
              </a:buClr>
              <a:buSzPts val="1040"/>
              <a:buFont typeface="Noto Sans Symbols"/>
              <a:buNone/>
            </a:pPr>
            <a:r>
              <a:t/>
            </a:r>
            <a:endParaRPr sz="1600">
              <a:solidFill>
                <a:schemeClr val="dk1"/>
              </a:solidFill>
              <a:latin typeface="Gill Sans"/>
              <a:ea typeface="Gill Sans"/>
              <a:cs typeface="Gill Sans"/>
              <a:sym typeface="Gill Sans"/>
            </a:endParaRPr>
          </a:p>
        </p:txBody>
      </p:sp>
      <p:sp>
        <p:nvSpPr>
          <p:cNvPr id="3112" name="Google Shape;3112;p45"/>
          <p:cNvSpPr txBox="1"/>
          <p:nvPr/>
        </p:nvSpPr>
        <p:spPr>
          <a:xfrm>
            <a:off x="9483725" y="5276850"/>
            <a:ext cx="9525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700"/>
              <a:buFont typeface="Arial"/>
              <a:buNone/>
            </a:pPr>
            <a:r>
              <a:rPr lang="en-US" sz="2000">
                <a:solidFill>
                  <a:schemeClr val="dk1"/>
                </a:solidFill>
                <a:latin typeface="Arial"/>
                <a:ea typeface="Arial"/>
                <a:cs typeface="Arial"/>
                <a:sym typeface="Arial"/>
              </a:rPr>
              <a:t>≈10ms</a:t>
            </a:r>
            <a:endParaRPr/>
          </a:p>
        </p:txBody>
      </p:sp>
      <p:sp>
        <p:nvSpPr>
          <p:cNvPr id="3113" name="Google Shape;3113;p45"/>
          <p:cNvSpPr/>
          <p:nvPr/>
        </p:nvSpPr>
        <p:spPr>
          <a:xfrm>
            <a:off x="8210579" y="3601766"/>
            <a:ext cx="1196112" cy="774372"/>
          </a:xfrm>
          <a:prstGeom prst="rect">
            <a:avLst/>
          </a:prstGeom>
          <a:solidFill>
            <a:schemeClr val="lt1"/>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Arial"/>
              <a:buNone/>
            </a:pPr>
            <a:r>
              <a:t/>
            </a:r>
            <a:endParaRPr b="0" i="0" sz="2400" u="none" cap="none" strike="noStrike">
              <a:solidFill>
                <a:schemeClr val="dk1"/>
              </a:solidFill>
              <a:latin typeface="Comic Sans MS"/>
              <a:ea typeface="Comic Sans MS"/>
              <a:cs typeface="Comic Sans MS"/>
              <a:sym typeface="Comic Sans MS"/>
            </a:endParaRPr>
          </a:p>
        </p:txBody>
      </p:sp>
      <p:cxnSp>
        <p:nvCxnSpPr>
          <p:cNvPr id="3114" name="Google Shape;3114;p45"/>
          <p:cNvCxnSpPr>
            <a:endCxn id="3113" idx="1"/>
          </p:cNvCxnSpPr>
          <p:nvPr/>
        </p:nvCxnSpPr>
        <p:spPr>
          <a:xfrm flipH="1">
            <a:off x="8210579" y="3902552"/>
            <a:ext cx="1053300" cy="86400"/>
          </a:xfrm>
          <a:prstGeom prst="straightConnector1">
            <a:avLst/>
          </a:prstGeom>
          <a:noFill/>
          <a:ln cap="flat" cmpd="sng" w="12700">
            <a:solidFill>
              <a:schemeClr val="dk1"/>
            </a:solidFill>
            <a:prstDash val="solid"/>
            <a:round/>
            <a:headEnd len="sm" w="sm" type="none"/>
            <a:tailEnd len="med" w="med" type="triangle"/>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9" name="Shape 3119"/>
        <p:cNvGrpSpPr/>
        <p:nvPr/>
      </p:nvGrpSpPr>
      <p:grpSpPr>
        <a:xfrm>
          <a:off x="0" y="0"/>
          <a:ext cx="0" cy="0"/>
          <a:chOff x="0" y="0"/>
          <a:chExt cx="0" cy="0"/>
        </a:xfrm>
      </p:grpSpPr>
      <p:sp>
        <p:nvSpPr>
          <p:cNvPr id="3120" name="Google Shape;3120;p46"/>
          <p:cNvSpPr/>
          <p:nvPr/>
        </p:nvSpPr>
        <p:spPr>
          <a:xfrm>
            <a:off x="2187576" y="4605339"/>
            <a:ext cx="4295775" cy="1163637"/>
          </a:xfrm>
          <a:custGeom>
            <a:rect b="b" l="l" r="r" t="t"/>
            <a:pathLst>
              <a:path extrusionOk="0" h="733" w="2503">
                <a:moveTo>
                  <a:pt x="1481" y="0"/>
                </a:moveTo>
                <a:lnTo>
                  <a:pt x="1481" y="198"/>
                </a:lnTo>
                <a:lnTo>
                  <a:pt x="953" y="198"/>
                </a:lnTo>
                <a:lnTo>
                  <a:pt x="953" y="370"/>
                </a:lnTo>
                <a:lnTo>
                  <a:pt x="0" y="370"/>
                </a:lnTo>
                <a:lnTo>
                  <a:pt x="14" y="733"/>
                </a:lnTo>
                <a:lnTo>
                  <a:pt x="2503" y="713"/>
                </a:lnTo>
                <a:lnTo>
                  <a:pt x="2455" y="6"/>
                </a:lnTo>
                <a:lnTo>
                  <a:pt x="1481"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1" name="Google Shape;3121;p46"/>
          <p:cNvSpPr/>
          <p:nvPr/>
        </p:nvSpPr>
        <p:spPr>
          <a:xfrm>
            <a:off x="6456363" y="4392613"/>
            <a:ext cx="2965450" cy="1390650"/>
          </a:xfrm>
          <a:custGeom>
            <a:rect b="b" l="l" r="r" t="t"/>
            <a:pathLst>
              <a:path extrusionOk="0" h="876" w="1868">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122" name="Google Shape;3122;p46"/>
          <p:cNvCxnSpPr/>
          <p:nvPr/>
        </p:nvCxnSpPr>
        <p:spPr>
          <a:xfrm flipH="1">
            <a:off x="6905626" y="4702175"/>
            <a:ext cx="855663" cy="431800"/>
          </a:xfrm>
          <a:prstGeom prst="straightConnector1">
            <a:avLst/>
          </a:prstGeom>
          <a:noFill/>
          <a:ln cap="flat" cmpd="sng" w="28575">
            <a:solidFill>
              <a:schemeClr val="dk1"/>
            </a:solidFill>
            <a:prstDash val="solid"/>
            <a:round/>
            <a:headEnd len="med" w="med" type="none"/>
            <a:tailEnd len="med" w="med" type="none"/>
          </a:ln>
        </p:spPr>
      </p:cxnSp>
      <p:cxnSp>
        <p:nvCxnSpPr>
          <p:cNvPr id="3123" name="Google Shape;3123;p46"/>
          <p:cNvCxnSpPr/>
          <p:nvPr/>
        </p:nvCxnSpPr>
        <p:spPr>
          <a:xfrm flipH="1">
            <a:off x="7415213" y="4749800"/>
            <a:ext cx="563562" cy="393700"/>
          </a:xfrm>
          <a:prstGeom prst="straightConnector1">
            <a:avLst/>
          </a:prstGeom>
          <a:noFill/>
          <a:ln cap="flat" cmpd="sng" w="28575">
            <a:solidFill>
              <a:schemeClr val="dk1"/>
            </a:solidFill>
            <a:prstDash val="solid"/>
            <a:round/>
            <a:headEnd len="med" w="med" type="none"/>
            <a:tailEnd len="med" w="med" type="none"/>
          </a:ln>
        </p:spPr>
      </p:cxnSp>
      <p:cxnSp>
        <p:nvCxnSpPr>
          <p:cNvPr id="3124" name="Google Shape;3124;p46"/>
          <p:cNvCxnSpPr/>
          <p:nvPr/>
        </p:nvCxnSpPr>
        <p:spPr>
          <a:xfrm flipH="1">
            <a:off x="7953376" y="4756150"/>
            <a:ext cx="149225" cy="382588"/>
          </a:xfrm>
          <a:prstGeom prst="straightConnector1">
            <a:avLst/>
          </a:prstGeom>
          <a:noFill/>
          <a:ln cap="flat" cmpd="sng" w="28575">
            <a:solidFill>
              <a:schemeClr val="dk1"/>
            </a:solidFill>
            <a:prstDash val="solid"/>
            <a:round/>
            <a:headEnd len="med" w="med" type="none"/>
            <a:tailEnd len="med" w="med" type="none"/>
          </a:ln>
        </p:spPr>
      </p:cxnSp>
      <p:cxnSp>
        <p:nvCxnSpPr>
          <p:cNvPr id="3125" name="Google Shape;3125;p46"/>
          <p:cNvCxnSpPr/>
          <p:nvPr/>
        </p:nvCxnSpPr>
        <p:spPr>
          <a:xfrm>
            <a:off x="8320089" y="4735513"/>
            <a:ext cx="123825" cy="412750"/>
          </a:xfrm>
          <a:prstGeom prst="straightConnector1">
            <a:avLst/>
          </a:prstGeom>
          <a:noFill/>
          <a:ln cap="flat" cmpd="sng" w="28575">
            <a:solidFill>
              <a:schemeClr val="dk1"/>
            </a:solidFill>
            <a:prstDash val="solid"/>
            <a:round/>
            <a:headEnd len="med" w="med" type="none"/>
            <a:tailEnd len="med" w="med" type="none"/>
          </a:ln>
        </p:spPr>
      </p:cxnSp>
      <p:sp>
        <p:nvSpPr>
          <p:cNvPr id="3126" name="Google Shape;3126;p46"/>
          <p:cNvSpPr txBox="1"/>
          <p:nvPr/>
        </p:nvSpPr>
        <p:spPr>
          <a:xfrm>
            <a:off x="6483351" y="4279901"/>
            <a:ext cx="1198563"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institutional</a:t>
            </a:r>
            <a:endParaRPr/>
          </a:p>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network</a:t>
            </a:r>
            <a:endParaRPr sz="2400">
              <a:solidFill>
                <a:srgbClr val="CC0000"/>
              </a:solidFill>
              <a:latin typeface="Arial"/>
              <a:ea typeface="Arial"/>
              <a:cs typeface="Arial"/>
              <a:sym typeface="Arial"/>
            </a:endParaRPr>
          </a:p>
        </p:txBody>
      </p:sp>
      <p:sp>
        <p:nvSpPr>
          <p:cNvPr id="3127" name="Google Shape;3127;p46"/>
          <p:cNvSpPr txBox="1"/>
          <p:nvPr/>
        </p:nvSpPr>
        <p:spPr>
          <a:xfrm>
            <a:off x="8366126" y="4660900"/>
            <a:ext cx="1541463" cy="3381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100 Mbps LAN</a:t>
            </a:r>
            <a:endParaRPr sz="2400">
              <a:solidFill>
                <a:schemeClr val="accent2"/>
              </a:solidFill>
              <a:latin typeface="Arial"/>
              <a:ea typeface="Arial"/>
              <a:cs typeface="Arial"/>
              <a:sym typeface="Arial"/>
            </a:endParaRPr>
          </a:p>
        </p:txBody>
      </p:sp>
      <p:grpSp>
        <p:nvGrpSpPr>
          <p:cNvPr id="3128" name="Google Shape;3128;p46"/>
          <p:cNvGrpSpPr/>
          <p:nvPr/>
        </p:nvGrpSpPr>
        <p:grpSpPr>
          <a:xfrm>
            <a:off x="7678738" y="4460876"/>
            <a:ext cx="881062" cy="307975"/>
            <a:chOff x="2356" y="1300"/>
            <a:chExt cx="555" cy="194"/>
          </a:xfrm>
        </p:grpSpPr>
        <p:sp>
          <p:nvSpPr>
            <p:cNvPr id="3129" name="Google Shape;3129;p46"/>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3130" name="Google Shape;3130;p46"/>
            <p:cNvSpPr/>
            <p:nvPr/>
          </p:nvSpPr>
          <p:spPr>
            <a:xfrm>
              <a:off x="2357" y="1374"/>
              <a:ext cx="554" cy="66"/>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3131" name="Google Shape;3131;p46"/>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grpSp>
          <p:nvGrpSpPr>
            <p:cNvPr id="3132" name="Google Shape;3132;p46"/>
            <p:cNvGrpSpPr/>
            <p:nvPr/>
          </p:nvGrpSpPr>
          <p:grpSpPr>
            <a:xfrm>
              <a:off x="2468" y="1332"/>
              <a:ext cx="310" cy="60"/>
              <a:chOff x="2468" y="1332"/>
              <a:chExt cx="310" cy="60"/>
            </a:xfrm>
          </p:grpSpPr>
          <p:sp>
            <p:nvSpPr>
              <p:cNvPr id="3133" name="Google Shape;3133;p46"/>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4" name="Google Shape;3134;p46"/>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3135" name="Google Shape;3135;p46"/>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3136" name="Google Shape;3136;p46"/>
            <p:cNvCxnSpPr/>
            <p:nvPr/>
          </p:nvCxnSpPr>
          <p:spPr>
            <a:xfrm>
              <a:off x="2907"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3137" name="Google Shape;3137;p46"/>
          <p:cNvGrpSpPr/>
          <p:nvPr/>
        </p:nvGrpSpPr>
        <p:grpSpPr>
          <a:xfrm>
            <a:off x="6592888" y="5070476"/>
            <a:ext cx="525462" cy="557213"/>
            <a:chOff x="-44" y="1473"/>
            <a:chExt cx="981" cy="1105"/>
          </a:xfrm>
        </p:grpSpPr>
        <p:pic>
          <p:nvPicPr>
            <p:cNvPr descr="desktop_computer_stylized_medium" id="3138" name="Google Shape;3138;p4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39" name="Google Shape;3139;p4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40" name="Google Shape;3140;p46"/>
          <p:cNvGrpSpPr/>
          <p:nvPr/>
        </p:nvGrpSpPr>
        <p:grpSpPr>
          <a:xfrm>
            <a:off x="7104063" y="5092701"/>
            <a:ext cx="525462" cy="557213"/>
            <a:chOff x="-44" y="1473"/>
            <a:chExt cx="981" cy="1105"/>
          </a:xfrm>
        </p:grpSpPr>
        <p:pic>
          <p:nvPicPr>
            <p:cNvPr descr="desktop_computer_stylized_medium" id="3141" name="Google Shape;3141;p4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42" name="Google Shape;3142;p4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43" name="Google Shape;3143;p46"/>
          <p:cNvGrpSpPr/>
          <p:nvPr/>
        </p:nvGrpSpPr>
        <p:grpSpPr>
          <a:xfrm>
            <a:off x="7627938" y="5081588"/>
            <a:ext cx="525462" cy="557212"/>
            <a:chOff x="-44" y="1473"/>
            <a:chExt cx="981" cy="1105"/>
          </a:xfrm>
        </p:grpSpPr>
        <p:pic>
          <p:nvPicPr>
            <p:cNvPr descr="desktop_computer_stylized_medium" id="3144" name="Google Shape;3144;p4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45" name="Google Shape;3145;p4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46" name="Google Shape;3146;p4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Noto Sans Symbols"/>
              <a:buNone/>
            </a:pPr>
            <a:r>
              <a:t/>
            </a:r>
            <a:endParaRPr sz="1200">
              <a:solidFill>
                <a:schemeClr val="dk1"/>
              </a:solidFill>
              <a:latin typeface="Tahoma"/>
              <a:ea typeface="Tahoma"/>
              <a:cs typeface="Tahoma"/>
              <a:sym typeface="Tahoma"/>
            </a:endParaRPr>
          </a:p>
        </p:txBody>
      </p:sp>
      <p:sp>
        <p:nvSpPr>
          <p:cNvPr id="3147" name="Google Shape;3147;p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3148" name="Google Shape;3148;p46"/>
          <p:cNvPicPr preferRelativeResize="0"/>
          <p:nvPr/>
        </p:nvPicPr>
        <p:blipFill rotWithShape="1">
          <a:blip r:embed="rId4">
            <a:alphaModFix/>
          </a:blip>
          <a:srcRect b="0" l="0" r="0" t="0"/>
          <a:stretch/>
        </p:blipFill>
        <p:spPr>
          <a:xfrm>
            <a:off x="2012951" y="806450"/>
            <a:ext cx="3656013" cy="173038"/>
          </a:xfrm>
          <a:prstGeom prst="rect">
            <a:avLst/>
          </a:prstGeom>
          <a:noFill/>
          <a:ln>
            <a:noFill/>
          </a:ln>
        </p:spPr>
      </p:pic>
      <p:sp>
        <p:nvSpPr>
          <p:cNvPr id="3149" name="Google Shape;3149;p46"/>
          <p:cNvSpPr txBox="1"/>
          <p:nvPr>
            <p:ph idx="4294967295" type="title"/>
          </p:nvPr>
        </p:nvSpPr>
        <p:spPr>
          <a:xfrm>
            <a:off x="1927224" y="269876"/>
            <a:ext cx="9080299" cy="6635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Calibri"/>
              <a:buNone/>
            </a:pPr>
            <a:r>
              <a:rPr lang="en-US" sz="4000"/>
              <a:t>Caching Example A: </a:t>
            </a:r>
            <a:r>
              <a:rPr lang="en-US" sz="3600"/>
              <a:t>install local web cache</a:t>
            </a:r>
            <a:r>
              <a:rPr lang="en-US" sz="4000"/>
              <a:t> </a:t>
            </a:r>
            <a:endParaRPr/>
          </a:p>
        </p:txBody>
      </p:sp>
      <p:sp>
        <p:nvSpPr>
          <p:cNvPr id="3150" name="Google Shape;3150;p46"/>
          <p:cNvSpPr txBox="1"/>
          <p:nvPr/>
        </p:nvSpPr>
        <p:spPr>
          <a:xfrm>
            <a:off x="9220200" y="1824038"/>
            <a:ext cx="93345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origin</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servers</a:t>
            </a:r>
            <a:endParaRPr/>
          </a:p>
        </p:txBody>
      </p:sp>
      <p:cxnSp>
        <p:nvCxnSpPr>
          <p:cNvPr id="3151" name="Google Shape;3151;p46"/>
          <p:cNvCxnSpPr/>
          <p:nvPr/>
        </p:nvCxnSpPr>
        <p:spPr>
          <a:xfrm>
            <a:off x="8115300" y="3467100"/>
            <a:ext cx="0" cy="1062038"/>
          </a:xfrm>
          <a:prstGeom prst="straightConnector1">
            <a:avLst/>
          </a:prstGeom>
          <a:noFill/>
          <a:ln cap="flat" cmpd="sng" w="28575">
            <a:solidFill>
              <a:schemeClr val="dk1"/>
            </a:solidFill>
            <a:prstDash val="solid"/>
            <a:round/>
            <a:headEnd len="med" w="med" type="none"/>
            <a:tailEnd len="med" w="med" type="none"/>
          </a:ln>
        </p:spPr>
      </p:cxnSp>
      <p:sp>
        <p:nvSpPr>
          <p:cNvPr id="3152" name="Google Shape;3152;p46"/>
          <p:cNvSpPr txBox="1"/>
          <p:nvPr/>
        </p:nvSpPr>
        <p:spPr>
          <a:xfrm>
            <a:off x="8116888" y="3656014"/>
            <a:ext cx="2481262"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15 Mbps (original bandwidth)</a:t>
            </a:r>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access link</a:t>
            </a:r>
            <a:endParaRPr sz="1400">
              <a:solidFill>
                <a:schemeClr val="accent2"/>
              </a:solidFill>
              <a:latin typeface="Arial"/>
              <a:ea typeface="Arial"/>
              <a:cs typeface="Arial"/>
              <a:sym typeface="Arial"/>
            </a:endParaRPr>
          </a:p>
        </p:txBody>
      </p:sp>
      <p:grpSp>
        <p:nvGrpSpPr>
          <p:cNvPr id="3153" name="Google Shape;3153;p46"/>
          <p:cNvGrpSpPr/>
          <p:nvPr/>
        </p:nvGrpSpPr>
        <p:grpSpPr>
          <a:xfrm>
            <a:off x="8243888" y="4941889"/>
            <a:ext cx="1860550" cy="809625"/>
            <a:chOff x="4217" y="3611"/>
            <a:chExt cx="1172" cy="510"/>
          </a:xfrm>
        </p:grpSpPr>
        <p:sp>
          <p:nvSpPr>
            <p:cNvPr id="3154" name="Google Shape;3154;p46"/>
            <p:cNvSpPr/>
            <p:nvPr/>
          </p:nvSpPr>
          <p:spPr>
            <a:xfrm>
              <a:off x="4217" y="3611"/>
              <a:ext cx="329" cy="473"/>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155" name="Google Shape;3155;p46"/>
            <p:cNvSpPr txBox="1"/>
            <p:nvPr/>
          </p:nvSpPr>
          <p:spPr>
            <a:xfrm>
              <a:off x="4561" y="3717"/>
              <a:ext cx="828" cy="404"/>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CC0000"/>
                </a:buClr>
                <a:buSzPts val="2000"/>
                <a:buFont typeface="Noto Sans Symbols"/>
                <a:buNone/>
              </a:pPr>
              <a:r>
                <a:rPr lang="en-US" sz="2000">
                  <a:solidFill>
                    <a:srgbClr val="CC0000"/>
                  </a:solidFill>
                  <a:latin typeface="Arial"/>
                  <a:ea typeface="Arial"/>
                  <a:cs typeface="Arial"/>
                  <a:sym typeface="Arial"/>
                </a:rPr>
                <a:t>local web </a:t>
              </a:r>
              <a:endParaRPr/>
            </a:p>
            <a:p>
              <a:pPr indent="0" lvl="0" marL="0" marR="0" rtl="0" algn="ctr">
                <a:lnSpc>
                  <a:spcPct val="90000"/>
                </a:lnSpc>
                <a:spcBef>
                  <a:spcPts val="0"/>
                </a:spcBef>
                <a:spcAft>
                  <a:spcPts val="0"/>
                </a:spcAft>
                <a:buClr>
                  <a:srgbClr val="CC0000"/>
                </a:buClr>
                <a:buSzPts val="2000"/>
                <a:buFont typeface="Noto Sans Symbols"/>
                <a:buNone/>
              </a:pPr>
              <a:r>
                <a:rPr lang="en-US" sz="2000">
                  <a:solidFill>
                    <a:srgbClr val="CC0000"/>
                  </a:solidFill>
                  <a:latin typeface="Arial"/>
                  <a:ea typeface="Arial"/>
                  <a:cs typeface="Arial"/>
                  <a:sym typeface="Arial"/>
                </a:rPr>
                <a:t>cache</a:t>
              </a:r>
              <a:endParaRPr/>
            </a:p>
          </p:txBody>
        </p:sp>
      </p:grpSp>
      <p:sp>
        <p:nvSpPr>
          <p:cNvPr id="3156" name="Google Shape;3156;p46"/>
          <p:cNvSpPr/>
          <p:nvPr/>
        </p:nvSpPr>
        <p:spPr>
          <a:xfrm>
            <a:off x="1922464" y="1335088"/>
            <a:ext cx="4370387"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i="1" lang="en-US" sz="2800">
                <a:solidFill>
                  <a:srgbClr val="CC0000"/>
                </a:solidFill>
                <a:latin typeface="Gill Sans"/>
                <a:ea typeface="Gill Sans"/>
                <a:cs typeface="Gill Sans"/>
                <a:sym typeface="Gill Sans"/>
              </a:rPr>
              <a:t>assumptions:</a:t>
            </a:r>
            <a:endParaRPr/>
          </a:p>
          <a:p>
            <a:pPr indent="-342900" lvl="0" marL="342900" marR="0" rtl="0" algn="l">
              <a:lnSpc>
                <a:spcPct val="85000"/>
              </a:lnSpc>
              <a:spcBef>
                <a:spcPts val="0"/>
              </a:spcBef>
              <a:spcAft>
                <a:spcPts val="0"/>
              </a:spcAft>
              <a:buClr>
                <a:srgbClr val="000099"/>
              </a:buClr>
              <a:buSzPts val="1300"/>
              <a:buFont typeface="Noto Sans Symbols"/>
              <a:buChar char="❖"/>
            </a:pPr>
            <a:r>
              <a:rPr lang="en-US" sz="2000">
                <a:solidFill>
                  <a:schemeClr val="dk1"/>
                </a:solidFill>
                <a:latin typeface="Gill Sans"/>
                <a:ea typeface="Gill Sans"/>
                <a:cs typeface="Gill Sans"/>
                <a:sym typeface="Gill Sans"/>
              </a:rPr>
              <a:t>avg object size: 1Mbits</a:t>
            </a:r>
            <a:endParaRPr/>
          </a:p>
          <a:p>
            <a:pPr indent="-342900" lvl="0" marL="342900" marR="0" rtl="0" algn="l">
              <a:lnSpc>
                <a:spcPct val="85000"/>
              </a:lnSpc>
              <a:spcBef>
                <a:spcPts val="0"/>
              </a:spcBef>
              <a:spcAft>
                <a:spcPts val="0"/>
              </a:spcAft>
              <a:buClr>
                <a:srgbClr val="000099"/>
              </a:buClr>
              <a:buSzPts val="1300"/>
              <a:buFont typeface="Noto Sans Symbols"/>
              <a:buChar char="❖"/>
            </a:pPr>
            <a:r>
              <a:rPr lang="en-US" sz="2000">
                <a:solidFill>
                  <a:schemeClr val="dk1"/>
                </a:solidFill>
                <a:latin typeface="Gill Sans"/>
                <a:ea typeface="Gill Sans"/>
                <a:cs typeface="Gill Sans"/>
                <a:sym typeface="Gill Sans"/>
              </a:rPr>
              <a:t>avg request rate from browsers to origin servers:15/sec</a:t>
            </a:r>
            <a:endParaRPr/>
          </a:p>
          <a:p>
            <a:pPr indent="-342900" lvl="0" marL="342900" marR="0" rtl="0" algn="l">
              <a:lnSpc>
                <a:spcPct val="85000"/>
              </a:lnSpc>
              <a:spcBef>
                <a:spcPts val="0"/>
              </a:spcBef>
              <a:spcAft>
                <a:spcPts val="0"/>
              </a:spcAft>
              <a:buClr>
                <a:srgbClr val="000099"/>
              </a:buClr>
              <a:buSzPts val="1300"/>
              <a:buFont typeface="Noto Sans Symbols"/>
              <a:buChar char="❖"/>
            </a:pPr>
            <a:r>
              <a:rPr lang="en-US" sz="2000">
                <a:solidFill>
                  <a:schemeClr val="dk1"/>
                </a:solidFill>
                <a:latin typeface="Gill Sans"/>
                <a:ea typeface="Gill Sans"/>
                <a:cs typeface="Gill Sans"/>
                <a:sym typeface="Gill Sans"/>
              </a:rPr>
              <a:t>RTT from institutional router to any origin server: 2 sec</a:t>
            </a:r>
            <a:endParaRPr/>
          </a:p>
          <a:p>
            <a:pPr indent="-342900" lvl="0" marL="342900" marR="0" rtl="0" algn="l">
              <a:lnSpc>
                <a:spcPct val="85000"/>
              </a:lnSpc>
              <a:spcBef>
                <a:spcPts val="0"/>
              </a:spcBef>
              <a:spcAft>
                <a:spcPts val="0"/>
              </a:spcAft>
              <a:buClr>
                <a:srgbClr val="000099"/>
              </a:buClr>
              <a:buSzPts val="1300"/>
              <a:buFont typeface="Noto Sans Symbols"/>
              <a:buChar char="❖"/>
            </a:pPr>
            <a:r>
              <a:rPr lang="en-US" sz="2000">
                <a:solidFill>
                  <a:schemeClr val="dk1"/>
                </a:solidFill>
                <a:latin typeface="Gill Sans"/>
                <a:ea typeface="Gill Sans"/>
                <a:cs typeface="Gill Sans"/>
                <a:sym typeface="Gill Sans"/>
              </a:rPr>
              <a:t>access link rate: 15 Mbps</a:t>
            </a:r>
            <a:endParaRPr/>
          </a:p>
          <a:p>
            <a:pPr indent="-342900" lvl="0" marL="342900" marR="0" rtl="0" algn="l">
              <a:lnSpc>
                <a:spcPct val="85000"/>
              </a:lnSpc>
              <a:spcBef>
                <a:spcPts val="0"/>
              </a:spcBef>
              <a:spcAft>
                <a:spcPts val="0"/>
              </a:spcAft>
              <a:buClr>
                <a:srgbClr val="000099"/>
              </a:buClr>
              <a:buSzPts val="1300"/>
              <a:buFont typeface="Noto Sans Symbols"/>
              <a:buChar char="❖"/>
            </a:pPr>
            <a:r>
              <a:rPr lang="en-US" sz="2000">
                <a:solidFill>
                  <a:schemeClr val="dk1"/>
                </a:solidFill>
                <a:latin typeface="Gill Sans"/>
                <a:ea typeface="Gill Sans"/>
                <a:cs typeface="Gill Sans"/>
                <a:sym typeface="Gill Sans"/>
              </a:rPr>
              <a:t>LAN delay =10ms = 0.01s</a:t>
            </a:r>
            <a:endParaRPr/>
          </a:p>
          <a:p>
            <a:pPr indent="-342900" lvl="0" marL="342900" marR="0" rtl="0" algn="l">
              <a:lnSpc>
                <a:spcPct val="85000"/>
              </a:lnSpc>
              <a:spcBef>
                <a:spcPts val="1080"/>
              </a:spcBef>
              <a:spcAft>
                <a:spcPts val="0"/>
              </a:spcAft>
              <a:buClr>
                <a:srgbClr val="000099"/>
              </a:buClr>
              <a:buSzPts val="1560"/>
              <a:buFont typeface="Noto Sans Symbols"/>
              <a:buNone/>
            </a:pPr>
            <a:r>
              <a:rPr i="1" lang="en-US" sz="2400">
                <a:solidFill>
                  <a:srgbClr val="CC0000"/>
                </a:solidFill>
                <a:latin typeface="Gill Sans"/>
                <a:ea typeface="Gill Sans"/>
                <a:cs typeface="Gill Sans"/>
                <a:sym typeface="Gill Sans"/>
              </a:rPr>
              <a:t>consequences:</a:t>
            </a:r>
            <a:endParaRPr/>
          </a:p>
          <a:p>
            <a:pPr indent="-342900" lvl="0" marL="342900" marR="0" rtl="0" algn="l">
              <a:lnSpc>
                <a:spcPct val="85000"/>
              </a:lnSpc>
              <a:spcBef>
                <a:spcPts val="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LAN utilization: 15%</a:t>
            </a:r>
            <a:endParaRPr/>
          </a:p>
          <a:p>
            <a:pPr indent="-342900" lvl="0" marL="342900" marR="0" rtl="0" algn="l">
              <a:lnSpc>
                <a:spcPct val="85000"/>
              </a:lnSpc>
              <a:spcBef>
                <a:spcPts val="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access link utilization = </a:t>
            </a:r>
            <a:r>
              <a:rPr lang="en-US" sz="2400">
                <a:solidFill>
                  <a:srgbClr val="FF0000"/>
                </a:solidFill>
                <a:latin typeface="Gill Sans"/>
                <a:ea typeface="Gill Sans"/>
                <a:cs typeface="Gill Sans"/>
                <a:sym typeface="Gill Sans"/>
              </a:rPr>
              <a:t>?</a:t>
            </a:r>
            <a:endParaRPr/>
          </a:p>
          <a:p>
            <a:pPr indent="-342900" lvl="0" marL="342900" marR="0" rtl="0" algn="l">
              <a:lnSpc>
                <a:spcPct val="85000"/>
              </a:lnSpc>
              <a:spcBef>
                <a:spcPts val="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total delay =</a:t>
            </a:r>
            <a:r>
              <a:rPr lang="en-US" sz="2400">
                <a:solidFill>
                  <a:srgbClr val="FF0000"/>
                </a:solidFill>
                <a:latin typeface="Gill Sans"/>
                <a:ea typeface="Gill Sans"/>
                <a:cs typeface="Gill Sans"/>
                <a:sym typeface="Gill Sans"/>
              </a:rPr>
              <a:t> ?</a:t>
            </a:r>
            <a:endParaRPr/>
          </a:p>
          <a:p>
            <a:pPr indent="-260350" lvl="0" marL="342900" marR="0" rtl="0" algn="l">
              <a:lnSpc>
                <a:spcPct val="85000"/>
              </a:lnSpc>
              <a:spcBef>
                <a:spcPts val="0"/>
              </a:spcBef>
              <a:spcAft>
                <a:spcPts val="0"/>
              </a:spcAft>
              <a:buClr>
                <a:srgbClr val="000099"/>
              </a:buClr>
              <a:buSzPts val="1300"/>
              <a:buFont typeface="Noto Sans Symbols"/>
              <a:buNone/>
            </a:pPr>
            <a:r>
              <a:t/>
            </a:r>
            <a:endParaRPr sz="2000">
              <a:solidFill>
                <a:schemeClr val="dk1"/>
              </a:solidFill>
              <a:latin typeface="Gill Sans"/>
              <a:ea typeface="Gill Sans"/>
              <a:cs typeface="Gill Sans"/>
              <a:sym typeface="Gill Sans"/>
            </a:endParaRPr>
          </a:p>
        </p:txBody>
      </p:sp>
      <p:sp>
        <p:nvSpPr>
          <p:cNvPr id="3157" name="Google Shape;3157;p46"/>
          <p:cNvSpPr txBox="1"/>
          <p:nvPr/>
        </p:nvSpPr>
        <p:spPr>
          <a:xfrm>
            <a:off x="2638648" y="5262563"/>
            <a:ext cx="2685607" cy="683264"/>
          </a:xfrm>
          <a:prstGeom prst="rect">
            <a:avLst/>
          </a:prstGeom>
          <a:noFill/>
          <a:ln>
            <a:noFill/>
          </a:ln>
        </p:spPr>
        <p:txBody>
          <a:bodyPr anchorCtr="0" anchor="t" bIns="45700" lIns="91425" spcFirstLastPara="1" rIns="91425" wrap="square" tIns="45700">
            <a:spAutoFit/>
          </a:bodyPr>
          <a:lstStyle/>
          <a:p>
            <a:pPr indent="-342900" lvl="0" marL="342900" marR="0" rtl="0" algn="ctr">
              <a:lnSpc>
                <a:spcPct val="80000"/>
              </a:lnSpc>
              <a:spcBef>
                <a:spcPts val="0"/>
              </a:spcBef>
              <a:spcAft>
                <a:spcPts val="0"/>
              </a:spcAft>
              <a:buClr>
                <a:schemeClr val="accent2"/>
              </a:buClr>
              <a:buSzPts val="2040"/>
              <a:buFont typeface="Arial"/>
              <a:buNone/>
            </a:pPr>
            <a:r>
              <a:rPr i="1" lang="en-US" sz="2400">
                <a:solidFill>
                  <a:srgbClr val="CC0000"/>
                </a:solidFill>
                <a:latin typeface="Gill Sans"/>
                <a:ea typeface="Gill Sans"/>
                <a:cs typeface="Gill Sans"/>
                <a:sym typeface="Gill Sans"/>
              </a:rPr>
              <a:t>How to compute link </a:t>
            </a:r>
            <a:endParaRPr/>
          </a:p>
          <a:p>
            <a:pPr indent="-342900" lvl="0" marL="342900" marR="0" rtl="0" algn="ctr">
              <a:lnSpc>
                <a:spcPct val="80000"/>
              </a:lnSpc>
              <a:spcBef>
                <a:spcPts val="0"/>
              </a:spcBef>
              <a:spcAft>
                <a:spcPts val="0"/>
              </a:spcAft>
              <a:buClr>
                <a:schemeClr val="accent2"/>
              </a:buClr>
              <a:buSzPts val="2040"/>
              <a:buFont typeface="Arial"/>
              <a:buNone/>
            </a:pPr>
            <a:r>
              <a:rPr i="1" lang="en-US" sz="2400">
                <a:solidFill>
                  <a:srgbClr val="CC0000"/>
                </a:solidFill>
                <a:latin typeface="Gill Sans"/>
                <a:ea typeface="Gill Sans"/>
                <a:cs typeface="Gill Sans"/>
                <a:sym typeface="Gill Sans"/>
              </a:rPr>
              <a:t>utilization, delay?</a:t>
            </a:r>
            <a:endParaRPr/>
          </a:p>
        </p:txBody>
      </p:sp>
      <p:cxnSp>
        <p:nvCxnSpPr>
          <p:cNvPr id="3158" name="Google Shape;3158;p46"/>
          <p:cNvCxnSpPr/>
          <p:nvPr/>
        </p:nvCxnSpPr>
        <p:spPr>
          <a:xfrm>
            <a:off x="6791325" y="2409825"/>
            <a:ext cx="285750" cy="114300"/>
          </a:xfrm>
          <a:prstGeom prst="straightConnector1">
            <a:avLst/>
          </a:prstGeom>
          <a:noFill/>
          <a:ln cap="flat" cmpd="sng" w="28575">
            <a:solidFill>
              <a:schemeClr val="accent2"/>
            </a:solidFill>
            <a:prstDash val="solid"/>
            <a:round/>
            <a:headEnd len="med" w="med" type="none"/>
            <a:tailEnd len="med" w="med" type="none"/>
          </a:ln>
        </p:spPr>
      </p:cxnSp>
      <p:cxnSp>
        <p:nvCxnSpPr>
          <p:cNvPr id="3159" name="Google Shape;3159;p46"/>
          <p:cNvCxnSpPr/>
          <p:nvPr/>
        </p:nvCxnSpPr>
        <p:spPr>
          <a:xfrm>
            <a:off x="7600951" y="2028826"/>
            <a:ext cx="66675" cy="276225"/>
          </a:xfrm>
          <a:prstGeom prst="straightConnector1">
            <a:avLst/>
          </a:prstGeom>
          <a:noFill/>
          <a:ln cap="flat" cmpd="sng" w="28575">
            <a:solidFill>
              <a:schemeClr val="accent2"/>
            </a:solidFill>
            <a:prstDash val="solid"/>
            <a:round/>
            <a:headEnd len="med" w="med" type="none"/>
            <a:tailEnd len="med" w="med" type="none"/>
          </a:ln>
        </p:spPr>
      </p:cxnSp>
      <p:cxnSp>
        <p:nvCxnSpPr>
          <p:cNvPr id="3160" name="Google Shape;3160;p46"/>
          <p:cNvCxnSpPr/>
          <p:nvPr/>
        </p:nvCxnSpPr>
        <p:spPr>
          <a:xfrm flipH="1">
            <a:off x="8229601" y="2066926"/>
            <a:ext cx="9525" cy="238125"/>
          </a:xfrm>
          <a:prstGeom prst="straightConnector1">
            <a:avLst/>
          </a:prstGeom>
          <a:noFill/>
          <a:ln cap="flat" cmpd="sng" w="28575">
            <a:solidFill>
              <a:schemeClr val="accent2"/>
            </a:solidFill>
            <a:prstDash val="solid"/>
            <a:round/>
            <a:headEnd len="med" w="med" type="none"/>
            <a:tailEnd len="med" w="med" type="none"/>
          </a:ln>
        </p:spPr>
      </p:cxnSp>
      <p:cxnSp>
        <p:nvCxnSpPr>
          <p:cNvPr id="3161" name="Google Shape;3161;p46"/>
          <p:cNvCxnSpPr/>
          <p:nvPr/>
        </p:nvCxnSpPr>
        <p:spPr>
          <a:xfrm flipH="1">
            <a:off x="8686800" y="2228850"/>
            <a:ext cx="133350" cy="209550"/>
          </a:xfrm>
          <a:prstGeom prst="straightConnector1">
            <a:avLst/>
          </a:prstGeom>
          <a:noFill/>
          <a:ln cap="flat" cmpd="sng" w="28575">
            <a:solidFill>
              <a:schemeClr val="accent2"/>
            </a:solidFill>
            <a:prstDash val="solid"/>
            <a:round/>
            <a:headEnd len="med" w="med" type="none"/>
            <a:tailEnd len="med" w="med" type="none"/>
          </a:ln>
        </p:spPr>
      </p:cxnSp>
      <p:cxnSp>
        <p:nvCxnSpPr>
          <p:cNvPr id="3162" name="Google Shape;3162;p46"/>
          <p:cNvCxnSpPr/>
          <p:nvPr/>
        </p:nvCxnSpPr>
        <p:spPr>
          <a:xfrm rot="10800000">
            <a:off x="8848725" y="2990850"/>
            <a:ext cx="247650" cy="0"/>
          </a:xfrm>
          <a:prstGeom prst="straightConnector1">
            <a:avLst/>
          </a:prstGeom>
          <a:noFill/>
          <a:ln cap="flat" cmpd="sng" w="28575">
            <a:solidFill>
              <a:schemeClr val="accent2"/>
            </a:solidFill>
            <a:prstDash val="solid"/>
            <a:round/>
            <a:headEnd len="med" w="med" type="none"/>
            <a:tailEnd len="med" w="med" type="none"/>
          </a:ln>
        </p:spPr>
      </p:cxnSp>
      <p:sp>
        <p:nvSpPr>
          <p:cNvPr id="3163" name="Google Shape;3163;p46"/>
          <p:cNvSpPr/>
          <p:nvPr/>
        </p:nvSpPr>
        <p:spPr>
          <a:xfrm>
            <a:off x="6875464" y="2022475"/>
            <a:ext cx="2174875" cy="1581150"/>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4" name="Google Shape;3164;p46"/>
          <p:cNvSpPr txBox="1"/>
          <p:nvPr/>
        </p:nvSpPr>
        <p:spPr>
          <a:xfrm>
            <a:off x="7581901" y="2354264"/>
            <a:ext cx="931863"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public</a:t>
            </a:r>
            <a:endParaRPr/>
          </a:p>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 Internet</a:t>
            </a:r>
            <a:endParaRPr sz="2400">
              <a:solidFill>
                <a:srgbClr val="CC0000"/>
              </a:solidFill>
              <a:latin typeface="Arial"/>
              <a:ea typeface="Arial"/>
              <a:cs typeface="Arial"/>
              <a:sym typeface="Arial"/>
            </a:endParaRPr>
          </a:p>
        </p:txBody>
      </p:sp>
      <p:grpSp>
        <p:nvGrpSpPr>
          <p:cNvPr id="3165" name="Google Shape;3165;p46"/>
          <p:cNvGrpSpPr/>
          <p:nvPr/>
        </p:nvGrpSpPr>
        <p:grpSpPr>
          <a:xfrm>
            <a:off x="7699376" y="3165476"/>
            <a:ext cx="881063" cy="307975"/>
            <a:chOff x="2356" y="1300"/>
            <a:chExt cx="555" cy="194"/>
          </a:xfrm>
        </p:grpSpPr>
        <p:sp>
          <p:nvSpPr>
            <p:cNvPr id="3166" name="Google Shape;3166;p46"/>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3167" name="Google Shape;3167;p46"/>
            <p:cNvSpPr/>
            <p:nvPr/>
          </p:nvSpPr>
          <p:spPr>
            <a:xfrm>
              <a:off x="2357" y="1374"/>
              <a:ext cx="554" cy="66"/>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3168" name="Google Shape;3168;p46"/>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grpSp>
          <p:nvGrpSpPr>
            <p:cNvPr id="3169" name="Google Shape;3169;p46"/>
            <p:cNvGrpSpPr/>
            <p:nvPr/>
          </p:nvGrpSpPr>
          <p:grpSpPr>
            <a:xfrm>
              <a:off x="2468" y="1332"/>
              <a:ext cx="310" cy="60"/>
              <a:chOff x="2468" y="1332"/>
              <a:chExt cx="310" cy="60"/>
            </a:xfrm>
          </p:grpSpPr>
          <p:sp>
            <p:nvSpPr>
              <p:cNvPr id="3170" name="Google Shape;3170;p46"/>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1" name="Google Shape;3171;p46"/>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3172" name="Google Shape;3172;p46"/>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3173" name="Google Shape;3173;p46"/>
            <p:cNvCxnSpPr/>
            <p:nvPr/>
          </p:nvCxnSpPr>
          <p:spPr>
            <a:xfrm>
              <a:off x="2907"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3174" name="Google Shape;3174;p46"/>
          <p:cNvGrpSpPr/>
          <p:nvPr/>
        </p:nvGrpSpPr>
        <p:grpSpPr>
          <a:xfrm>
            <a:off x="6443664" y="1957388"/>
            <a:ext cx="377825" cy="576262"/>
            <a:chOff x="4140" y="429"/>
            <a:chExt cx="1425" cy="2396"/>
          </a:xfrm>
        </p:grpSpPr>
        <p:sp>
          <p:nvSpPr>
            <p:cNvPr id="3175" name="Google Shape;3175;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6" name="Google Shape;3176;p46"/>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177" name="Google Shape;3177;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8" name="Google Shape;3178;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9" name="Google Shape;3179;p46"/>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180" name="Google Shape;3180;p46"/>
            <p:cNvGrpSpPr/>
            <p:nvPr/>
          </p:nvGrpSpPr>
          <p:grpSpPr>
            <a:xfrm>
              <a:off x="4751" y="667"/>
              <a:ext cx="581" cy="145"/>
              <a:chOff x="616" y="2567"/>
              <a:chExt cx="725" cy="139"/>
            </a:xfrm>
          </p:grpSpPr>
          <p:sp>
            <p:nvSpPr>
              <p:cNvPr id="3181" name="Google Shape;3181;p46"/>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182" name="Google Shape;3182;p46"/>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183" name="Google Shape;3183;p46"/>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184" name="Google Shape;3184;p46"/>
            <p:cNvGrpSpPr/>
            <p:nvPr/>
          </p:nvGrpSpPr>
          <p:grpSpPr>
            <a:xfrm>
              <a:off x="4745" y="997"/>
              <a:ext cx="581" cy="132"/>
              <a:chOff x="611" y="2571"/>
              <a:chExt cx="725" cy="137"/>
            </a:xfrm>
          </p:grpSpPr>
          <p:sp>
            <p:nvSpPr>
              <p:cNvPr id="3185" name="Google Shape;3185;p46"/>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186" name="Google Shape;3186;p46"/>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187" name="Google Shape;3187;p46"/>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188" name="Google Shape;3188;p46"/>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189" name="Google Shape;3189;p46"/>
            <p:cNvGrpSpPr/>
            <p:nvPr/>
          </p:nvGrpSpPr>
          <p:grpSpPr>
            <a:xfrm>
              <a:off x="4733" y="1630"/>
              <a:ext cx="587" cy="146"/>
              <a:chOff x="611" y="2571"/>
              <a:chExt cx="731" cy="134"/>
            </a:xfrm>
          </p:grpSpPr>
          <p:sp>
            <p:nvSpPr>
              <p:cNvPr id="3190" name="Google Shape;3190;p46"/>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191" name="Google Shape;3191;p46"/>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192" name="Google Shape;3192;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193" name="Google Shape;3193;p46"/>
            <p:cNvGrpSpPr/>
            <p:nvPr/>
          </p:nvGrpSpPr>
          <p:grpSpPr>
            <a:xfrm>
              <a:off x="4739" y="1327"/>
              <a:ext cx="580" cy="139"/>
              <a:chOff x="614" y="2568"/>
              <a:chExt cx="723" cy="139"/>
            </a:xfrm>
          </p:grpSpPr>
          <p:sp>
            <p:nvSpPr>
              <p:cNvPr id="3194" name="Google Shape;3194;p46"/>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195" name="Google Shape;3195;p46"/>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196" name="Google Shape;3196;p46"/>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197" name="Google Shape;3197;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8" name="Google Shape;3198;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9" name="Google Shape;3199;p46"/>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00" name="Google Shape;3200;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1" name="Google Shape;3201;p46"/>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02" name="Google Shape;3202;p46"/>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03" name="Google Shape;3203;p46"/>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04" name="Google Shape;3204;p46"/>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205" name="Google Shape;3205;p46"/>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06" name="Google Shape;3206;p46"/>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3207" name="Google Shape;3207;p46"/>
          <p:cNvGrpSpPr/>
          <p:nvPr/>
        </p:nvGrpSpPr>
        <p:grpSpPr>
          <a:xfrm>
            <a:off x="7358064" y="1479551"/>
            <a:ext cx="377825" cy="576263"/>
            <a:chOff x="4140" y="429"/>
            <a:chExt cx="1425" cy="2396"/>
          </a:xfrm>
        </p:grpSpPr>
        <p:sp>
          <p:nvSpPr>
            <p:cNvPr id="3208" name="Google Shape;3208;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9" name="Google Shape;3209;p46"/>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10" name="Google Shape;3210;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1" name="Google Shape;3211;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2" name="Google Shape;3212;p46"/>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213" name="Google Shape;3213;p46"/>
            <p:cNvGrpSpPr/>
            <p:nvPr/>
          </p:nvGrpSpPr>
          <p:grpSpPr>
            <a:xfrm>
              <a:off x="4751" y="667"/>
              <a:ext cx="581" cy="145"/>
              <a:chOff x="616" y="2567"/>
              <a:chExt cx="725" cy="139"/>
            </a:xfrm>
          </p:grpSpPr>
          <p:sp>
            <p:nvSpPr>
              <p:cNvPr id="3214" name="Google Shape;3214;p46"/>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15" name="Google Shape;3215;p46"/>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216" name="Google Shape;3216;p46"/>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217" name="Google Shape;3217;p46"/>
            <p:cNvGrpSpPr/>
            <p:nvPr/>
          </p:nvGrpSpPr>
          <p:grpSpPr>
            <a:xfrm>
              <a:off x="4745" y="997"/>
              <a:ext cx="581" cy="132"/>
              <a:chOff x="611" y="2571"/>
              <a:chExt cx="725" cy="137"/>
            </a:xfrm>
          </p:grpSpPr>
          <p:sp>
            <p:nvSpPr>
              <p:cNvPr id="3218" name="Google Shape;3218;p46"/>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19" name="Google Shape;3219;p46"/>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220" name="Google Shape;3220;p46"/>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21" name="Google Shape;3221;p46"/>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222" name="Google Shape;3222;p46"/>
            <p:cNvGrpSpPr/>
            <p:nvPr/>
          </p:nvGrpSpPr>
          <p:grpSpPr>
            <a:xfrm>
              <a:off x="4733" y="1630"/>
              <a:ext cx="587" cy="146"/>
              <a:chOff x="611" y="2571"/>
              <a:chExt cx="731" cy="134"/>
            </a:xfrm>
          </p:grpSpPr>
          <p:sp>
            <p:nvSpPr>
              <p:cNvPr id="3223" name="Google Shape;3223;p46"/>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24" name="Google Shape;3224;p46"/>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225" name="Google Shape;3225;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26" name="Google Shape;3226;p46"/>
            <p:cNvGrpSpPr/>
            <p:nvPr/>
          </p:nvGrpSpPr>
          <p:grpSpPr>
            <a:xfrm>
              <a:off x="4739" y="1327"/>
              <a:ext cx="580" cy="139"/>
              <a:chOff x="614" y="2568"/>
              <a:chExt cx="723" cy="139"/>
            </a:xfrm>
          </p:grpSpPr>
          <p:sp>
            <p:nvSpPr>
              <p:cNvPr id="3227" name="Google Shape;3227;p46"/>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28" name="Google Shape;3228;p46"/>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229" name="Google Shape;3229;p46"/>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30" name="Google Shape;3230;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1" name="Google Shape;3231;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2" name="Google Shape;3232;p46"/>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33" name="Google Shape;3233;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4" name="Google Shape;3234;p46"/>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35" name="Google Shape;3235;p46"/>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36" name="Google Shape;3236;p46"/>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37" name="Google Shape;3237;p46"/>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238" name="Google Shape;3238;p46"/>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39" name="Google Shape;3239;p46"/>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3240" name="Google Shape;3240;p46"/>
          <p:cNvGrpSpPr/>
          <p:nvPr/>
        </p:nvGrpSpPr>
        <p:grpSpPr>
          <a:xfrm>
            <a:off x="8110539" y="1511301"/>
            <a:ext cx="377825" cy="576263"/>
            <a:chOff x="4140" y="429"/>
            <a:chExt cx="1425" cy="2396"/>
          </a:xfrm>
        </p:grpSpPr>
        <p:sp>
          <p:nvSpPr>
            <p:cNvPr id="3241" name="Google Shape;3241;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2" name="Google Shape;3242;p46"/>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43" name="Google Shape;3243;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4" name="Google Shape;3244;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5" name="Google Shape;3245;p46"/>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246" name="Google Shape;3246;p46"/>
            <p:cNvGrpSpPr/>
            <p:nvPr/>
          </p:nvGrpSpPr>
          <p:grpSpPr>
            <a:xfrm>
              <a:off x="4751" y="667"/>
              <a:ext cx="581" cy="145"/>
              <a:chOff x="616" y="2567"/>
              <a:chExt cx="725" cy="139"/>
            </a:xfrm>
          </p:grpSpPr>
          <p:sp>
            <p:nvSpPr>
              <p:cNvPr id="3247" name="Google Shape;3247;p46"/>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48" name="Google Shape;3248;p46"/>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249" name="Google Shape;3249;p46"/>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250" name="Google Shape;3250;p46"/>
            <p:cNvGrpSpPr/>
            <p:nvPr/>
          </p:nvGrpSpPr>
          <p:grpSpPr>
            <a:xfrm>
              <a:off x="4745" y="997"/>
              <a:ext cx="581" cy="132"/>
              <a:chOff x="611" y="2571"/>
              <a:chExt cx="725" cy="137"/>
            </a:xfrm>
          </p:grpSpPr>
          <p:sp>
            <p:nvSpPr>
              <p:cNvPr id="3251" name="Google Shape;3251;p46"/>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52" name="Google Shape;3252;p46"/>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253" name="Google Shape;3253;p46"/>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54" name="Google Shape;3254;p46"/>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255" name="Google Shape;3255;p46"/>
            <p:cNvGrpSpPr/>
            <p:nvPr/>
          </p:nvGrpSpPr>
          <p:grpSpPr>
            <a:xfrm>
              <a:off x="4733" y="1630"/>
              <a:ext cx="587" cy="146"/>
              <a:chOff x="611" y="2571"/>
              <a:chExt cx="731" cy="134"/>
            </a:xfrm>
          </p:grpSpPr>
          <p:sp>
            <p:nvSpPr>
              <p:cNvPr id="3256" name="Google Shape;3256;p46"/>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57" name="Google Shape;3257;p46"/>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258" name="Google Shape;3258;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59" name="Google Shape;3259;p46"/>
            <p:cNvGrpSpPr/>
            <p:nvPr/>
          </p:nvGrpSpPr>
          <p:grpSpPr>
            <a:xfrm>
              <a:off x="4739" y="1327"/>
              <a:ext cx="580" cy="139"/>
              <a:chOff x="614" y="2568"/>
              <a:chExt cx="723" cy="139"/>
            </a:xfrm>
          </p:grpSpPr>
          <p:sp>
            <p:nvSpPr>
              <p:cNvPr id="3260" name="Google Shape;3260;p46"/>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61" name="Google Shape;3261;p46"/>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262" name="Google Shape;3262;p46"/>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63" name="Google Shape;3263;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4" name="Google Shape;3264;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5" name="Google Shape;3265;p46"/>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66" name="Google Shape;3266;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7" name="Google Shape;3267;p46"/>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68" name="Google Shape;3268;p46"/>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69" name="Google Shape;3269;p46"/>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70" name="Google Shape;3270;p46"/>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271" name="Google Shape;3271;p46"/>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72" name="Google Shape;3272;p46"/>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3273" name="Google Shape;3273;p46"/>
          <p:cNvGrpSpPr/>
          <p:nvPr/>
        </p:nvGrpSpPr>
        <p:grpSpPr>
          <a:xfrm>
            <a:off x="8720139" y="1663701"/>
            <a:ext cx="377825" cy="576263"/>
            <a:chOff x="4140" y="429"/>
            <a:chExt cx="1425" cy="2396"/>
          </a:xfrm>
        </p:grpSpPr>
        <p:sp>
          <p:nvSpPr>
            <p:cNvPr id="3274" name="Google Shape;3274;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5" name="Google Shape;3275;p46"/>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76" name="Google Shape;3276;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7" name="Google Shape;3277;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8" name="Google Shape;3278;p46"/>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279" name="Google Shape;3279;p46"/>
            <p:cNvGrpSpPr/>
            <p:nvPr/>
          </p:nvGrpSpPr>
          <p:grpSpPr>
            <a:xfrm>
              <a:off x="4751" y="667"/>
              <a:ext cx="581" cy="145"/>
              <a:chOff x="616" y="2567"/>
              <a:chExt cx="725" cy="139"/>
            </a:xfrm>
          </p:grpSpPr>
          <p:sp>
            <p:nvSpPr>
              <p:cNvPr id="3280" name="Google Shape;3280;p46"/>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81" name="Google Shape;3281;p46"/>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282" name="Google Shape;3282;p46"/>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283" name="Google Shape;3283;p46"/>
            <p:cNvGrpSpPr/>
            <p:nvPr/>
          </p:nvGrpSpPr>
          <p:grpSpPr>
            <a:xfrm>
              <a:off x="4745" y="997"/>
              <a:ext cx="581" cy="132"/>
              <a:chOff x="611" y="2571"/>
              <a:chExt cx="725" cy="137"/>
            </a:xfrm>
          </p:grpSpPr>
          <p:sp>
            <p:nvSpPr>
              <p:cNvPr id="3284" name="Google Shape;3284;p46"/>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85" name="Google Shape;3285;p46"/>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286" name="Google Shape;3286;p46"/>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87" name="Google Shape;3287;p46"/>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288" name="Google Shape;3288;p46"/>
            <p:cNvGrpSpPr/>
            <p:nvPr/>
          </p:nvGrpSpPr>
          <p:grpSpPr>
            <a:xfrm>
              <a:off x="4733" y="1630"/>
              <a:ext cx="587" cy="146"/>
              <a:chOff x="611" y="2571"/>
              <a:chExt cx="731" cy="134"/>
            </a:xfrm>
          </p:grpSpPr>
          <p:sp>
            <p:nvSpPr>
              <p:cNvPr id="3289" name="Google Shape;3289;p46"/>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90" name="Google Shape;3290;p46"/>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291" name="Google Shape;3291;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92" name="Google Shape;3292;p46"/>
            <p:cNvGrpSpPr/>
            <p:nvPr/>
          </p:nvGrpSpPr>
          <p:grpSpPr>
            <a:xfrm>
              <a:off x="4739" y="1327"/>
              <a:ext cx="580" cy="139"/>
              <a:chOff x="614" y="2568"/>
              <a:chExt cx="723" cy="139"/>
            </a:xfrm>
          </p:grpSpPr>
          <p:sp>
            <p:nvSpPr>
              <p:cNvPr id="3293" name="Google Shape;3293;p46"/>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94" name="Google Shape;3294;p46"/>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295" name="Google Shape;3295;p46"/>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96" name="Google Shape;3296;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7" name="Google Shape;3297;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8" name="Google Shape;3298;p46"/>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299" name="Google Shape;3299;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0" name="Google Shape;3300;p46"/>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01" name="Google Shape;3301;p46"/>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02" name="Google Shape;3302;p46"/>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03" name="Google Shape;3303;p46"/>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304" name="Google Shape;3304;p46"/>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05" name="Google Shape;3305;p46"/>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3306" name="Google Shape;3306;p46"/>
          <p:cNvGrpSpPr/>
          <p:nvPr/>
        </p:nvGrpSpPr>
        <p:grpSpPr>
          <a:xfrm>
            <a:off x="9048751" y="2609851"/>
            <a:ext cx="377825" cy="576263"/>
            <a:chOff x="4140" y="429"/>
            <a:chExt cx="1425" cy="2396"/>
          </a:xfrm>
        </p:grpSpPr>
        <p:sp>
          <p:nvSpPr>
            <p:cNvPr id="3307" name="Google Shape;3307;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8" name="Google Shape;3308;p46"/>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09" name="Google Shape;3309;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0" name="Google Shape;3310;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1" name="Google Shape;3311;p46"/>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312" name="Google Shape;3312;p46"/>
            <p:cNvGrpSpPr/>
            <p:nvPr/>
          </p:nvGrpSpPr>
          <p:grpSpPr>
            <a:xfrm>
              <a:off x="4751" y="667"/>
              <a:ext cx="581" cy="145"/>
              <a:chOff x="616" y="2567"/>
              <a:chExt cx="725" cy="139"/>
            </a:xfrm>
          </p:grpSpPr>
          <p:sp>
            <p:nvSpPr>
              <p:cNvPr id="3313" name="Google Shape;3313;p46"/>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14" name="Google Shape;3314;p46"/>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315" name="Google Shape;3315;p46"/>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316" name="Google Shape;3316;p46"/>
            <p:cNvGrpSpPr/>
            <p:nvPr/>
          </p:nvGrpSpPr>
          <p:grpSpPr>
            <a:xfrm>
              <a:off x="4745" y="997"/>
              <a:ext cx="581" cy="132"/>
              <a:chOff x="611" y="2571"/>
              <a:chExt cx="725" cy="137"/>
            </a:xfrm>
          </p:grpSpPr>
          <p:sp>
            <p:nvSpPr>
              <p:cNvPr id="3317" name="Google Shape;3317;p46"/>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18" name="Google Shape;3318;p46"/>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319" name="Google Shape;3319;p46"/>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20" name="Google Shape;3320;p46"/>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321" name="Google Shape;3321;p46"/>
            <p:cNvGrpSpPr/>
            <p:nvPr/>
          </p:nvGrpSpPr>
          <p:grpSpPr>
            <a:xfrm>
              <a:off x="4733" y="1630"/>
              <a:ext cx="587" cy="146"/>
              <a:chOff x="611" y="2571"/>
              <a:chExt cx="731" cy="134"/>
            </a:xfrm>
          </p:grpSpPr>
          <p:sp>
            <p:nvSpPr>
              <p:cNvPr id="3322" name="Google Shape;3322;p46"/>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23" name="Google Shape;3323;p46"/>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324" name="Google Shape;3324;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25" name="Google Shape;3325;p46"/>
            <p:cNvGrpSpPr/>
            <p:nvPr/>
          </p:nvGrpSpPr>
          <p:grpSpPr>
            <a:xfrm>
              <a:off x="4739" y="1327"/>
              <a:ext cx="580" cy="139"/>
              <a:chOff x="614" y="2568"/>
              <a:chExt cx="723" cy="139"/>
            </a:xfrm>
          </p:grpSpPr>
          <p:sp>
            <p:nvSpPr>
              <p:cNvPr id="3326" name="Google Shape;3326;p46"/>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27" name="Google Shape;3327;p46"/>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328" name="Google Shape;3328;p46"/>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29" name="Google Shape;3329;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0" name="Google Shape;3330;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1" name="Google Shape;3331;p46"/>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32" name="Google Shape;3332;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3" name="Google Shape;3333;p46"/>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34" name="Google Shape;3334;p46"/>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35" name="Google Shape;3335;p46"/>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36" name="Google Shape;3336;p46"/>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337" name="Google Shape;3337;p46"/>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38" name="Google Shape;3338;p46"/>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3339" name="Google Shape;3339;p46"/>
          <p:cNvGrpSpPr/>
          <p:nvPr/>
        </p:nvGrpSpPr>
        <p:grpSpPr>
          <a:xfrm>
            <a:off x="8308976" y="5027613"/>
            <a:ext cx="377825" cy="576262"/>
            <a:chOff x="4140" y="429"/>
            <a:chExt cx="1425" cy="2396"/>
          </a:xfrm>
        </p:grpSpPr>
        <p:sp>
          <p:nvSpPr>
            <p:cNvPr id="3340" name="Google Shape;3340;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1" name="Google Shape;3341;p46"/>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42" name="Google Shape;3342;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3" name="Google Shape;3343;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4" name="Google Shape;3344;p46"/>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345" name="Google Shape;3345;p46"/>
            <p:cNvGrpSpPr/>
            <p:nvPr/>
          </p:nvGrpSpPr>
          <p:grpSpPr>
            <a:xfrm>
              <a:off x="4751" y="667"/>
              <a:ext cx="581" cy="145"/>
              <a:chOff x="616" y="2567"/>
              <a:chExt cx="725" cy="139"/>
            </a:xfrm>
          </p:grpSpPr>
          <p:sp>
            <p:nvSpPr>
              <p:cNvPr id="3346" name="Google Shape;3346;p46"/>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47" name="Google Shape;3347;p46"/>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348" name="Google Shape;3348;p46"/>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349" name="Google Shape;3349;p46"/>
            <p:cNvGrpSpPr/>
            <p:nvPr/>
          </p:nvGrpSpPr>
          <p:grpSpPr>
            <a:xfrm>
              <a:off x="4745" y="997"/>
              <a:ext cx="581" cy="132"/>
              <a:chOff x="611" y="2571"/>
              <a:chExt cx="725" cy="137"/>
            </a:xfrm>
          </p:grpSpPr>
          <p:sp>
            <p:nvSpPr>
              <p:cNvPr id="3350" name="Google Shape;3350;p46"/>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51" name="Google Shape;3351;p46"/>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352" name="Google Shape;3352;p46"/>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53" name="Google Shape;3353;p46"/>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354" name="Google Shape;3354;p46"/>
            <p:cNvGrpSpPr/>
            <p:nvPr/>
          </p:nvGrpSpPr>
          <p:grpSpPr>
            <a:xfrm>
              <a:off x="4733" y="1630"/>
              <a:ext cx="587" cy="146"/>
              <a:chOff x="611" y="2571"/>
              <a:chExt cx="731" cy="134"/>
            </a:xfrm>
          </p:grpSpPr>
          <p:sp>
            <p:nvSpPr>
              <p:cNvPr id="3355" name="Google Shape;3355;p46"/>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56" name="Google Shape;3356;p46"/>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357" name="Google Shape;3357;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58" name="Google Shape;3358;p46"/>
            <p:cNvGrpSpPr/>
            <p:nvPr/>
          </p:nvGrpSpPr>
          <p:grpSpPr>
            <a:xfrm>
              <a:off x="4739" y="1327"/>
              <a:ext cx="580" cy="139"/>
              <a:chOff x="614" y="2568"/>
              <a:chExt cx="723" cy="139"/>
            </a:xfrm>
          </p:grpSpPr>
          <p:sp>
            <p:nvSpPr>
              <p:cNvPr id="3359" name="Google Shape;3359;p46"/>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60" name="Google Shape;3360;p46"/>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361" name="Google Shape;3361;p46"/>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62" name="Google Shape;3362;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3" name="Google Shape;3363;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4" name="Google Shape;3364;p46"/>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65" name="Google Shape;3365;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6" name="Google Shape;3366;p46"/>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67" name="Google Shape;3367;p46"/>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68" name="Google Shape;3368;p46"/>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69" name="Google Shape;3369;p46"/>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370" name="Google Shape;3370;p46"/>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371" name="Google Shape;3371;p46"/>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53"/>
                                        </p:tgtEl>
                                        <p:attrNameLst>
                                          <p:attrName>style.visibility</p:attrName>
                                        </p:attrNameLst>
                                      </p:cBhvr>
                                      <p:to>
                                        <p:strVal val="visible"/>
                                      </p:to>
                                    </p:set>
                                    <p:animEffect filter="fade" transition="in">
                                      <p:cBhvr>
                                        <p:cTn dur="500"/>
                                        <p:tgtEl>
                                          <p:spTgt spid="3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7">
                                            <p:txEl>
                                              <p:pRg end="0" st="0"/>
                                            </p:txEl>
                                          </p:spTgt>
                                        </p:tgtEl>
                                        <p:attrNameLst>
                                          <p:attrName>style.visibility</p:attrName>
                                        </p:attrNameLst>
                                      </p:cBhvr>
                                      <p:to>
                                        <p:strVal val="visible"/>
                                      </p:to>
                                    </p:set>
                                    <p:animEffect filter="fade" transition="in">
                                      <p:cBhvr>
                                        <p:cTn dur="500"/>
                                        <p:tgtEl>
                                          <p:spTgt spid="31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7">
                                            <p:txEl>
                                              <p:pRg end="1" st="1"/>
                                            </p:txEl>
                                          </p:spTgt>
                                        </p:tgtEl>
                                        <p:attrNameLst>
                                          <p:attrName>style.visibility</p:attrName>
                                        </p:attrNameLst>
                                      </p:cBhvr>
                                      <p:to>
                                        <p:strVal val="visible"/>
                                      </p:to>
                                    </p:set>
                                    <p:animEffect filter="fade" transition="in">
                                      <p:cBhvr>
                                        <p:cTn dur="500"/>
                                        <p:tgtEl>
                                          <p:spTgt spid="315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6" name="Shape 3376"/>
        <p:cNvGrpSpPr/>
        <p:nvPr/>
      </p:nvGrpSpPr>
      <p:grpSpPr>
        <a:xfrm>
          <a:off x="0" y="0"/>
          <a:ext cx="0" cy="0"/>
          <a:chOff x="0" y="0"/>
          <a:chExt cx="0" cy="0"/>
        </a:xfrm>
      </p:grpSpPr>
      <p:sp>
        <p:nvSpPr>
          <p:cNvPr id="3377" name="Google Shape;3377;p4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Noto Sans Symbols"/>
              <a:buNone/>
            </a:pPr>
            <a:r>
              <a:t/>
            </a:r>
            <a:endParaRPr sz="1200">
              <a:solidFill>
                <a:schemeClr val="dk1"/>
              </a:solidFill>
              <a:latin typeface="Tahoma"/>
              <a:ea typeface="Tahoma"/>
              <a:cs typeface="Tahoma"/>
              <a:sym typeface="Tahoma"/>
            </a:endParaRPr>
          </a:p>
        </p:txBody>
      </p:sp>
      <p:sp>
        <p:nvSpPr>
          <p:cNvPr id="3378" name="Google Shape;3378;p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3379" name="Google Shape;3379;p47"/>
          <p:cNvPicPr preferRelativeResize="0"/>
          <p:nvPr/>
        </p:nvPicPr>
        <p:blipFill rotWithShape="1">
          <a:blip r:embed="rId3">
            <a:alphaModFix/>
          </a:blip>
          <a:srcRect b="0" l="0" r="0" t="0"/>
          <a:stretch/>
        </p:blipFill>
        <p:spPr>
          <a:xfrm>
            <a:off x="2012951" y="806450"/>
            <a:ext cx="3656013" cy="173038"/>
          </a:xfrm>
          <a:prstGeom prst="rect">
            <a:avLst/>
          </a:prstGeom>
          <a:noFill/>
          <a:ln>
            <a:noFill/>
          </a:ln>
        </p:spPr>
      </p:pic>
      <p:sp>
        <p:nvSpPr>
          <p:cNvPr id="3380" name="Google Shape;3380;p47"/>
          <p:cNvSpPr txBox="1"/>
          <p:nvPr>
            <p:ph idx="4294967295" type="title"/>
          </p:nvPr>
        </p:nvSpPr>
        <p:spPr>
          <a:xfrm>
            <a:off x="1927225" y="269876"/>
            <a:ext cx="9369426" cy="6635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Calibri"/>
              <a:buNone/>
            </a:pPr>
            <a:r>
              <a:rPr lang="en-US" sz="4000"/>
              <a:t>Caching Example A: </a:t>
            </a:r>
            <a:r>
              <a:rPr lang="en-US" sz="3600"/>
              <a:t>install local web cache</a:t>
            </a:r>
            <a:r>
              <a:rPr lang="en-US" sz="4000"/>
              <a:t> </a:t>
            </a:r>
            <a:endParaRPr/>
          </a:p>
        </p:txBody>
      </p:sp>
      <p:sp>
        <p:nvSpPr>
          <p:cNvPr id="3381" name="Google Shape;3381;p47"/>
          <p:cNvSpPr txBox="1"/>
          <p:nvPr>
            <p:ph idx="4294967295" type="body"/>
          </p:nvPr>
        </p:nvSpPr>
        <p:spPr>
          <a:xfrm>
            <a:off x="2033589" y="1290639"/>
            <a:ext cx="4459287" cy="1882775"/>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SzPct val="100000"/>
              <a:buNone/>
            </a:pPr>
            <a:r>
              <a:rPr i="1" lang="en-US">
                <a:solidFill>
                  <a:srgbClr val="CC0000"/>
                </a:solidFill>
              </a:rPr>
              <a:t>Calculating access link utilization, delay with cache:</a:t>
            </a:r>
            <a:endParaRPr/>
          </a:p>
          <a:p>
            <a:pPr indent="-228600" lvl="0" marL="228600" rtl="0" algn="l">
              <a:lnSpc>
                <a:spcPct val="80000"/>
              </a:lnSpc>
              <a:spcBef>
                <a:spcPts val="1000"/>
              </a:spcBef>
              <a:spcAft>
                <a:spcPts val="0"/>
              </a:spcAft>
              <a:buSzPct val="100000"/>
              <a:buChar char="▪"/>
            </a:pPr>
            <a:r>
              <a:rPr lang="en-US" sz="2400"/>
              <a:t>suppose cache hit rate is 0.4</a:t>
            </a:r>
            <a:endParaRPr/>
          </a:p>
          <a:p>
            <a:pPr indent="-233362" lvl="1" marL="576263" rtl="0" algn="l">
              <a:lnSpc>
                <a:spcPct val="90000"/>
              </a:lnSpc>
              <a:spcBef>
                <a:spcPts val="500"/>
              </a:spcBef>
              <a:spcAft>
                <a:spcPts val="0"/>
              </a:spcAft>
              <a:buSzPct val="100000"/>
              <a:buChar char="•"/>
            </a:pPr>
            <a:r>
              <a:rPr lang="en-US" sz="2000"/>
              <a:t>40% requests satisfied at cache, 60% requests satisfied at origin </a:t>
            </a:r>
            <a:endParaRPr/>
          </a:p>
          <a:p>
            <a:pPr indent="-228600" lvl="0" marL="228600" rtl="0" algn="l">
              <a:lnSpc>
                <a:spcPct val="80000"/>
              </a:lnSpc>
              <a:spcBef>
                <a:spcPts val="1000"/>
              </a:spcBef>
              <a:spcAft>
                <a:spcPts val="0"/>
              </a:spcAft>
              <a:buSzPct val="100000"/>
              <a:buNone/>
            </a:pPr>
            <a:r>
              <a:rPr lang="en-US" sz="2400"/>
              <a:t>  </a:t>
            </a:r>
            <a:endParaRPr/>
          </a:p>
        </p:txBody>
      </p:sp>
      <p:sp>
        <p:nvSpPr>
          <p:cNvPr id="3382" name="Google Shape;3382;p47"/>
          <p:cNvSpPr txBox="1"/>
          <p:nvPr/>
        </p:nvSpPr>
        <p:spPr>
          <a:xfrm>
            <a:off x="9220200" y="1824038"/>
            <a:ext cx="93345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origin</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servers</a:t>
            </a:r>
            <a:endParaRPr/>
          </a:p>
        </p:txBody>
      </p:sp>
      <p:cxnSp>
        <p:nvCxnSpPr>
          <p:cNvPr id="3383" name="Google Shape;3383;p47"/>
          <p:cNvCxnSpPr/>
          <p:nvPr/>
        </p:nvCxnSpPr>
        <p:spPr>
          <a:xfrm>
            <a:off x="8115300" y="3467100"/>
            <a:ext cx="0" cy="1062038"/>
          </a:xfrm>
          <a:prstGeom prst="straightConnector1">
            <a:avLst/>
          </a:prstGeom>
          <a:noFill/>
          <a:ln cap="flat" cmpd="sng" w="28575">
            <a:solidFill>
              <a:schemeClr val="dk1"/>
            </a:solidFill>
            <a:prstDash val="solid"/>
            <a:round/>
            <a:headEnd len="med" w="med" type="none"/>
            <a:tailEnd len="med" w="med" type="none"/>
          </a:ln>
        </p:spPr>
      </p:cxnSp>
      <p:sp>
        <p:nvSpPr>
          <p:cNvPr id="3384" name="Google Shape;3384;p47"/>
          <p:cNvSpPr txBox="1"/>
          <p:nvPr/>
        </p:nvSpPr>
        <p:spPr>
          <a:xfrm>
            <a:off x="8116889" y="3656014"/>
            <a:ext cx="1190625"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15 Mbps </a:t>
            </a:r>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access link</a:t>
            </a:r>
            <a:endParaRPr sz="2400">
              <a:solidFill>
                <a:schemeClr val="accent2"/>
              </a:solidFill>
              <a:latin typeface="Arial"/>
              <a:ea typeface="Arial"/>
              <a:cs typeface="Arial"/>
              <a:sym typeface="Arial"/>
            </a:endParaRPr>
          </a:p>
        </p:txBody>
      </p:sp>
      <p:sp>
        <p:nvSpPr>
          <p:cNvPr id="3385" name="Google Shape;3385;p47"/>
          <p:cNvSpPr/>
          <p:nvPr/>
        </p:nvSpPr>
        <p:spPr>
          <a:xfrm>
            <a:off x="2030414" y="3057525"/>
            <a:ext cx="4459287" cy="1570038"/>
          </a:xfrm>
          <a:prstGeom prst="rect">
            <a:avLst/>
          </a:prstGeom>
          <a:noFill/>
          <a:ln>
            <a:noFill/>
          </a:ln>
        </p:spPr>
        <p:txBody>
          <a:bodyPr anchorCtr="0" anchor="t" bIns="45700" lIns="91425" spcFirstLastPara="1" rIns="91425" wrap="square" tIns="45700">
            <a:noAutofit/>
          </a:bodyPr>
          <a:lstStyle/>
          <a:p>
            <a:pPr indent="-228600" lvl="0" marL="228600" marR="0" rtl="0" algn="l">
              <a:lnSpc>
                <a:spcPct val="85000"/>
              </a:lnSpc>
              <a:spcBef>
                <a:spcPts val="0"/>
              </a:spcBef>
              <a:spcAft>
                <a:spcPts val="0"/>
              </a:spcAft>
              <a:buClr>
                <a:srgbClr val="000099"/>
              </a:buClr>
              <a:buSzPts val="1560"/>
              <a:buFont typeface="Noto Sans Symbols"/>
              <a:buChar char="❖"/>
            </a:pPr>
            <a:r>
              <a:rPr lang="en-US" sz="2400">
                <a:solidFill>
                  <a:schemeClr val="dk1"/>
                </a:solidFill>
                <a:latin typeface="Gill Sans"/>
                <a:ea typeface="Gill Sans"/>
                <a:cs typeface="Gill Sans"/>
                <a:sym typeface="Gill Sans"/>
              </a:rPr>
              <a:t>access link utilization: </a:t>
            </a:r>
            <a:endParaRPr/>
          </a:p>
          <a:p>
            <a:pPr indent="-233362" lvl="1" marL="576263" marR="0" rtl="0" algn="l">
              <a:lnSpc>
                <a:spcPct val="80000"/>
              </a:lnSpc>
              <a:spcBef>
                <a:spcPts val="0"/>
              </a:spcBef>
              <a:spcAft>
                <a:spcPts val="0"/>
              </a:spcAft>
              <a:buClr>
                <a:srgbClr val="000099"/>
              </a:buClr>
              <a:buSzPts val="1800"/>
              <a:buFont typeface="Noto Sans Symbols"/>
              <a:buChar char="▪"/>
            </a:pPr>
            <a:r>
              <a:rPr b="0" i="0" lang="en-US" sz="1800" u="none" cap="none" strike="noStrike">
                <a:solidFill>
                  <a:srgbClr val="FF0000"/>
                </a:solidFill>
                <a:latin typeface="Gill Sans"/>
                <a:ea typeface="Gill Sans"/>
                <a:cs typeface="Gill Sans"/>
                <a:sym typeface="Gill Sans"/>
              </a:rPr>
              <a:t>60%</a:t>
            </a:r>
            <a:r>
              <a:rPr b="0" i="0" lang="en-US" sz="1800" u="none" cap="none" strike="noStrike">
                <a:solidFill>
                  <a:schemeClr val="dk1"/>
                </a:solidFill>
                <a:latin typeface="Gill Sans"/>
                <a:ea typeface="Gill Sans"/>
                <a:cs typeface="Gill Sans"/>
                <a:sym typeface="Gill Sans"/>
              </a:rPr>
              <a:t> of requests use access link </a:t>
            </a:r>
            <a:endParaRPr/>
          </a:p>
          <a:p>
            <a:pPr indent="-228600" lvl="0" marL="228600" marR="0" rtl="0" algn="l">
              <a:lnSpc>
                <a:spcPct val="80000"/>
              </a:lnSpc>
              <a:spcBef>
                <a:spcPts val="0"/>
              </a:spcBef>
              <a:spcAft>
                <a:spcPts val="0"/>
              </a:spcAft>
              <a:buClr>
                <a:srgbClr val="000099"/>
              </a:buClr>
              <a:buSzPts val="1300"/>
              <a:buFont typeface="Noto Sans Symbols"/>
              <a:buChar char="❖"/>
            </a:pPr>
            <a:r>
              <a:rPr lang="en-US" sz="2000">
                <a:solidFill>
                  <a:schemeClr val="dk1"/>
                </a:solidFill>
                <a:latin typeface="Gill Sans"/>
                <a:ea typeface="Gill Sans"/>
                <a:cs typeface="Gill Sans"/>
                <a:sym typeface="Gill Sans"/>
              </a:rPr>
              <a:t>data rate to browsers over access link    </a:t>
            </a:r>
            <a:endParaRPr/>
          </a:p>
          <a:p>
            <a:pPr indent="0" lvl="0" marL="0" marR="0" rtl="0" algn="l">
              <a:lnSpc>
                <a:spcPct val="80000"/>
              </a:lnSpc>
              <a:spcBef>
                <a:spcPts val="0"/>
              </a:spcBef>
              <a:spcAft>
                <a:spcPts val="0"/>
              </a:spcAft>
              <a:buNone/>
            </a:pPr>
            <a:r>
              <a:rPr lang="en-US" sz="2000">
                <a:solidFill>
                  <a:schemeClr val="dk1"/>
                </a:solidFill>
                <a:latin typeface="Gill Sans"/>
                <a:ea typeface="Gill Sans"/>
                <a:cs typeface="Gill Sans"/>
                <a:sym typeface="Gill Sans"/>
              </a:rPr>
              <a:t>     = 0.6*15 Mbps = </a:t>
            </a:r>
            <a:r>
              <a:rPr lang="en-US" sz="2000">
                <a:solidFill>
                  <a:srgbClr val="FF0000"/>
                </a:solidFill>
                <a:latin typeface="Gill Sans"/>
                <a:ea typeface="Gill Sans"/>
                <a:cs typeface="Gill Sans"/>
                <a:sym typeface="Gill Sans"/>
              </a:rPr>
              <a:t>9 Mbps </a:t>
            </a:r>
            <a:endParaRPr/>
          </a:p>
          <a:p>
            <a:pPr indent="-233362" lvl="1" marL="576263" marR="0" rtl="0" algn="l">
              <a:lnSpc>
                <a:spcPct val="80000"/>
              </a:lnSpc>
              <a:spcBef>
                <a:spcPts val="0"/>
              </a:spcBef>
              <a:spcAft>
                <a:spcPts val="0"/>
              </a:spcAft>
              <a:buClr>
                <a:srgbClr val="000099"/>
              </a:buClr>
              <a:buSzPts val="1800"/>
              <a:buFont typeface="Noto Sans Symbols"/>
              <a:buChar char="▪"/>
            </a:pPr>
            <a:r>
              <a:rPr b="0" i="0" lang="en-US" sz="1800" u="none" cap="none" strike="noStrike">
                <a:solidFill>
                  <a:schemeClr val="dk1"/>
                </a:solidFill>
                <a:latin typeface="Gill Sans"/>
                <a:ea typeface="Gill Sans"/>
                <a:cs typeface="Gill Sans"/>
                <a:sym typeface="Gill Sans"/>
              </a:rPr>
              <a:t>utilization = 9/15 = 0.6  </a:t>
            </a:r>
            <a:r>
              <a:rPr b="0" i="0" lang="en-US" sz="1800" u="none" cap="none" strike="noStrike">
                <a:solidFill>
                  <a:srgbClr val="FF0000"/>
                </a:solidFill>
                <a:latin typeface="Gill Sans"/>
                <a:ea typeface="Gill Sans"/>
                <a:cs typeface="Gill Sans"/>
                <a:sym typeface="Gill Sans"/>
              </a:rPr>
              <a:t>(i.e. 60%)</a:t>
            </a:r>
            <a:endParaRPr/>
          </a:p>
        </p:txBody>
      </p:sp>
      <p:sp>
        <p:nvSpPr>
          <p:cNvPr id="3386" name="Google Shape;3386;p47"/>
          <p:cNvSpPr/>
          <p:nvPr/>
        </p:nvSpPr>
        <p:spPr>
          <a:xfrm>
            <a:off x="2062164" y="4557713"/>
            <a:ext cx="4459287" cy="1492250"/>
          </a:xfrm>
          <a:prstGeom prst="rect">
            <a:avLst/>
          </a:prstGeom>
          <a:noFill/>
          <a:ln>
            <a:noFill/>
          </a:ln>
        </p:spPr>
        <p:txBody>
          <a:bodyPr anchorCtr="0" anchor="t" bIns="45700" lIns="91425" spcFirstLastPara="1" rIns="91425" wrap="square" tIns="45700">
            <a:noAutofit/>
          </a:bodyPr>
          <a:lstStyle/>
          <a:p>
            <a:pPr indent="-228600" lvl="0" marL="228600" marR="0" rtl="0" algn="l">
              <a:lnSpc>
                <a:spcPct val="85000"/>
              </a:lnSpc>
              <a:spcBef>
                <a:spcPts val="0"/>
              </a:spcBef>
              <a:spcAft>
                <a:spcPts val="0"/>
              </a:spcAft>
              <a:buClr>
                <a:srgbClr val="000099"/>
              </a:buClr>
              <a:buSzPts val="1560"/>
              <a:buFont typeface="Noto Sans Symbols"/>
              <a:buChar char="❖"/>
            </a:pPr>
            <a:r>
              <a:rPr lang="en-US" sz="2400">
                <a:solidFill>
                  <a:schemeClr val="dk1"/>
                </a:solidFill>
                <a:latin typeface="Gill Sans"/>
                <a:ea typeface="Gill Sans"/>
                <a:cs typeface="Gill Sans"/>
                <a:sym typeface="Gill Sans"/>
              </a:rPr>
              <a:t>total delay</a:t>
            </a:r>
            <a:endParaRPr/>
          </a:p>
          <a:p>
            <a:pPr indent="-233362" lvl="1" marL="576263" marR="0" rtl="0" algn="l">
              <a:lnSpc>
                <a:spcPct val="80000"/>
              </a:lnSpc>
              <a:spcBef>
                <a:spcPts val="0"/>
              </a:spcBef>
              <a:spcAft>
                <a:spcPts val="0"/>
              </a:spcAft>
              <a:buClr>
                <a:srgbClr val="000099"/>
              </a:buClr>
              <a:buSzPts val="1800"/>
              <a:buFont typeface="Noto Sans Symbols"/>
              <a:buChar char="▪"/>
            </a:pPr>
            <a:r>
              <a:rPr b="0" i="0" lang="en-US" sz="1800" u="none" cap="none" strike="noStrike">
                <a:solidFill>
                  <a:schemeClr val="dk1"/>
                </a:solidFill>
                <a:latin typeface="Gill Sans"/>
                <a:ea typeface="Gill Sans"/>
                <a:cs typeface="Gill Sans"/>
                <a:sym typeface="Gill Sans"/>
              </a:rPr>
              <a:t>= 0.6 * (delay from origin servers) +0.4 * (delay when satisfied at cache)</a:t>
            </a:r>
            <a:endParaRPr/>
          </a:p>
          <a:p>
            <a:pPr indent="-233362" lvl="1" marL="576263" marR="0" rtl="0" algn="l">
              <a:lnSpc>
                <a:spcPct val="80000"/>
              </a:lnSpc>
              <a:spcBef>
                <a:spcPts val="0"/>
              </a:spcBef>
              <a:spcAft>
                <a:spcPts val="0"/>
              </a:spcAft>
              <a:buClr>
                <a:srgbClr val="000099"/>
              </a:buClr>
              <a:buSzPts val="1800"/>
              <a:buFont typeface="Noto Sans Symbols"/>
              <a:buChar char="▪"/>
            </a:pPr>
            <a:r>
              <a:rPr b="0" i="0" lang="en-US" sz="1800" u="none" cap="none" strike="noStrike">
                <a:solidFill>
                  <a:schemeClr val="dk1"/>
                </a:solidFill>
                <a:latin typeface="Gill Sans"/>
                <a:ea typeface="Gill Sans"/>
                <a:cs typeface="Gill Sans"/>
                <a:sym typeface="Gill Sans"/>
              </a:rPr>
              <a:t>= 0.6 (2 + 0.01(LAN delay)) + 0.4 (~msecs)</a:t>
            </a:r>
            <a:endParaRPr/>
          </a:p>
          <a:p>
            <a:pPr indent="0" lvl="1" marL="342900" marR="0" rtl="0" algn="l">
              <a:lnSpc>
                <a:spcPct val="80000"/>
              </a:lnSpc>
              <a:spcBef>
                <a:spcPts val="0"/>
              </a:spcBef>
              <a:spcAft>
                <a:spcPts val="0"/>
              </a:spcAft>
              <a:buNone/>
            </a:pPr>
            <a:r>
              <a:rPr b="0" i="0" lang="en-US" sz="1800" u="none" cap="none" strike="noStrike">
                <a:solidFill>
                  <a:schemeClr val="dk1"/>
                </a:solidFill>
                <a:latin typeface="Gill Sans"/>
                <a:ea typeface="Gill Sans"/>
                <a:cs typeface="Gill Sans"/>
                <a:sym typeface="Gill Sans"/>
              </a:rPr>
              <a:t>    = 0.6 (2.01) + 0.4 (0.01 (LAN delay))</a:t>
            </a:r>
            <a:endParaRPr/>
          </a:p>
          <a:p>
            <a:pPr indent="-233362" lvl="1" marL="576263" marR="0" rtl="0" algn="l">
              <a:lnSpc>
                <a:spcPct val="80000"/>
              </a:lnSpc>
              <a:spcBef>
                <a:spcPts val="0"/>
              </a:spcBef>
              <a:spcAft>
                <a:spcPts val="0"/>
              </a:spcAft>
              <a:buClr>
                <a:srgbClr val="000099"/>
              </a:buClr>
              <a:buSzPts val="1800"/>
              <a:buFont typeface="Noto Sans Symbols"/>
              <a:buChar char="▪"/>
            </a:pPr>
            <a:r>
              <a:rPr b="0" i="0" lang="en-US" sz="1800" u="none" cap="none" strike="noStrike">
                <a:solidFill>
                  <a:schemeClr val="dk1"/>
                </a:solidFill>
                <a:latin typeface="Gill Sans"/>
                <a:ea typeface="Gill Sans"/>
                <a:cs typeface="Gill Sans"/>
                <a:sym typeface="Gill Sans"/>
              </a:rPr>
              <a:t>= 1.21secs = ~1.2secs</a:t>
            </a:r>
            <a:endParaRPr b="0" i="0" sz="2400" u="none" cap="none" strike="noStrike">
              <a:solidFill>
                <a:schemeClr val="dk1"/>
              </a:solidFill>
              <a:latin typeface="Gill Sans"/>
              <a:ea typeface="Gill Sans"/>
              <a:cs typeface="Gill Sans"/>
              <a:sym typeface="Gill Sans"/>
            </a:endParaRPr>
          </a:p>
        </p:txBody>
      </p:sp>
      <p:cxnSp>
        <p:nvCxnSpPr>
          <p:cNvPr id="3387" name="Google Shape;3387;p47"/>
          <p:cNvCxnSpPr/>
          <p:nvPr/>
        </p:nvCxnSpPr>
        <p:spPr>
          <a:xfrm>
            <a:off x="6791325" y="2409825"/>
            <a:ext cx="285750" cy="114300"/>
          </a:xfrm>
          <a:prstGeom prst="straightConnector1">
            <a:avLst/>
          </a:prstGeom>
          <a:noFill/>
          <a:ln cap="flat" cmpd="sng" w="28575">
            <a:solidFill>
              <a:schemeClr val="accent2"/>
            </a:solidFill>
            <a:prstDash val="solid"/>
            <a:round/>
            <a:headEnd len="med" w="med" type="none"/>
            <a:tailEnd len="med" w="med" type="none"/>
          </a:ln>
        </p:spPr>
      </p:cxnSp>
      <p:cxnSp>
        <p:nvCxnSpPr>
          <p:cNvPr id="3388" name="Google Shape;3388;p47"/>
          <p:cNvCxnSpPr/>
          <p:nvPr/>
        </p:nvCxnSpPr>
        <p:spPr>
          <a:xfrm>
            <a:off x="7600951" y="2028826"/>
            <a:ext cx="66675" cy="276225"/>
          </a:xfrm>
          <a:prstGeom prst="straightConnector1">
            <a:avLst/>
          </a:prstGeom>
          <a:noFill/>
          <a:ln cap="flat" cmpd="sng" w="28575">
            <a:solidFill>
              <a:schemeClr val="accent2"/>
            </a:solidFill>
            <a:prstDash val="solid"/>
            <a:round/>
            <a:headEnd len="med" w="med" type="none"/>
            <a:tailEnd len="med" w="med" type="none"/>
          </a:ln>
        </p:spPr>
      </p:cxnSp>
      <p:cxnSp>
        <p:nvCxnSpPr>
          <p:cNvPr id="3389" name="Google Shape;3389;p47"/>
          <p:cNvCxnSpPr/>
          <p:nvPr/>
        </p:nvCxnSpPr>
        <p:spPr>
          <a:xfrm flipH="1">
            <a:off x="8229601" y="2066926"/>
            <a:ext cx="9525" cy="238125"/>
          </a:xfrm>
          <a:prstGeom prst="straightConnector1">
            <a:avLst/>
          </a:prstGeom>
          <a:noFill/>
          <a:ln cap="flat" cmpd="sng" w="28575">
            <a:solidFill>
              <a:schemeClr val="accent2"/>
            </a:solidFill>
            <a:prstDash val="solid"/>
            <a:round/>
            <a:headEnd len="med" w="med" type="none"/>
            <a:tailEnd len="med" w="med" type="none"/>
          </a:ln>
        </p:spPr>
      </p:cxnSp>
      <p:cxnSp>
        <p:nvCxnSpPr>
          <p:cNvPr id="3390" name="Google Shape;3390;p47"/>
          <p:cNvCxnSpPr/>
          <p:nvPr/>
        </p:nvCxnSpPr>
        <p:spPr>
          <a:xfrm flipH="1">
            <a:off x="8686800" y="2228850"/>
            <a:ext cx="133350" cy="209550"/>
          </a:xfrm>
          <a:prstGeom prst="straightConnector1">
            <a:avLst/>
          </a:prstGeom>
          <a:noFill/>
          <a:ln cap="flat" cmpd="sng" w="28575">
            <a:solidFill>
              <a:schemeClr val="accent2"/>
            </a:solidFill>
            <a:prstDash val="solid"/>
            <a:round/>
            <a:headEnd len="med" w="med" type="none"/>
            <a:tailEnd len="med" w="med" type="none"/>
          </a:ln>
        </p:spPr>
      </p:cxnSp>
      <p:cxnSp>
        <p:nvCxnSpPr>
          <p:cNvPr id="3391" name="Google Shape;3391;p47"/>
          <p:cNvCxnSpPr/>
          <p:nvPr/>
        </p:nvCxnSpPr>
        <p:spPr>
          <a:xfrm rot="10800000">
            <a:off x="8848725" y="2990850"/>
            <a:ext cx="247650" cy="0"/>
          </a:xfrm>
          <a:prstGeom prst="straightConnector1">
            <a:avLst/>
          </a:prstGeom>
          <a:noFill/>
          <a:ln cap="flat" cmpd="sng" w="28575">
            <a:solidFill>
              <a:schemeClr val="accent2"/>
            </a:solidFill>
            <a:prstDash val="solid"/>
            <a:round/>
            <a:headEnd len="med" w="med" type="none"/>
            <a:tailEnd len="med" w="med" type="none"/>
          </a:ln>
        </p:spPr>
      </p:cxnSp>
      <p:sp>
        <p:nvSpPr>
          <p:cNvPr id="3392" name="Google Shape;3392;p47"/>
          <p:cNvSpPr/>
          <p:nvPr/>
        </p:nvSpPr>
        <p:spPr>
          <a:xfrm>
            <a:off x="6875464" y="2022475"/>
            <a:ext cx="2174875" cy="1581150"/>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3" name="Google Shape;3393;p47"/>
          <p:cNvSpPr txBox="1"/>
          <p:nvPr/>
        </p:nvSpPr>
        <p:spPr>
          <a:xfrm>
            <a:off x="7581901" y="2354264"/>
            <a:ext cx="931863"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public</a:t>
            </a:r>
            <a:endParaRPr/>
          </a:p>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 Internet</a:t>
            </a:r>
            <a:endParaRPr sz="2400">
              <a:solidFill>
                <a:srgbClr val="CC0000"/>
              </a:solidFill>
              <a:latin typeface="Arial"/>
              <a:ea typeface="Arial"/>
              <a:cs typeface="Arial"/>
              <a:sym typeface="Arial"/>
            </a:endParaRPr>
          </a:p>
        </p:txBody>
      </p:sp>
      <p:grpSp>
        <p:nvGrpSpPr>
          <p:cNvPr id="3394" name="Google Shape;3394;p47"/>
          <p:cNvGrpSpPr/>
          <p:nvPr/>
        </p:nvGrpSpPr>
        <p:grpSpPr>
          <a:xfrm>
            <a:off x="7699376" y="3165476"/>
            <a:ext cx="881063" cy="307975"/>
            <a:chOff x="2356" y="1300"/>
            <a:chExt cx="555" cy="194"/>
          </a:xfrm>
        </p:grpSpPr>
        <p:sp>
          <p:nvSpPr>
            <p:cNvPr id="3395" name="Google Shape;3395;p47"/>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3396" name="Google Shape;3396;p47"/>
            <p:cNvSpPr/>
            <p:nvPr/>
          </p:nvSpPr>
          <p:spPr>
            <a:xfrm>
              <a:off x="2357" y="1374"/>
              <a:ext cx="554" cy="66"/>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3397" name="Google Shape;3397;p47"/>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grpSp>
          <p:nvGrpSpPr>
            <p:cNvPr id="3398" name="Google Shape;3398;p47"/>
            <p:cNvGrpSpPr/>
            <p:nvPr/>
          </p:nvGrpSpPr>
          <p:grpSpPr>
            <a:xfrm>
              <a:off x="2468" y="1332"/>
              <a:ext cx="310" cy="60"/>
              <a:chOff x="2468" y="1332"/>
              <a:chExt cx="310" cy="60"/>
            </a:xfrm>
          </p:grpSpPr>
          <p:sp>
            <p:nvSpPr>
              <p:cNvPr id="3399" name="Google Shape;3399;p47"/>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0" name="Google Shape;3400;p47"/>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3401" name="Google Shape;3401;p47"/>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3402" name="Google Shape;3402;p47"/>
            <p:cNvCxnSpPr/>
            <p:nvPr/>
          </p:nvCxnSpPr>
          <p:spPr>
            <a:xfrm>
              <a:off x="2907"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3403" name="Google Shape;3403;p47"/>
          <p:cNvGrpSpPr/>
          <p:nvPr/>
        </p:nvGrpSpPr>
        <p:grpSpPr>
          <a:xfrm>
            <a:off x="6443664" y="1957388"/>
            <a:ext cx="377825" cy="576262"/>
            <a:chOff x="4140" y="429"/>
            <a:chExt cx="1425" cy="2396"/>
          </a:xfrm>
        </p:grpSpPr>
        <p:sp>
          <p:nvSpPr>
            <p:cNvPr id="3404" name="Google Shape;3404;p4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5" name="Google Shape;3405;p47"/>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06" name="Google Shape;3406;p4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7" name="Google Shape;3407;p4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8" name="Google Shape;3408;p47"/>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409" name="Google Shape;3409;p47"/>
            <p:cNvGrpSpPr/>
            <p:nvPr/>
          </p:nvGrpSpPr>
          <p:grpSpPr>
            <a:xfrm>
              <a:off x="4751" y="667"/>
              <a:ext cx="581" cy="145"/>
              <a:chOff x="616" y="2567"/>
              <a:chExt cx="725" cy="139"/>
            </a:xfrm>
          </p:grpSpPr>
          <p:sp>
            <p:nvSpPr>
              <p:cNvPr id="3410" name="Google Shape;3410;p47"/>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11" name="Google Shape;3411;p47"/>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412" name="Google Shape;3412;p47"/>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413" name="Google Shape;3413;p47"/>
            <p:cNvGrpSpPr/>
            <p:nvPr/>
          </p:nvGrpSpPr>
          <p:grpSpPr>
            <a:xfrm>
              <a:off x="4745" y="997"/>
              <a:ext cx="581" cy="132"/>
              <a:chOff x="611" y="2571"/>
              <a:chExt cx="725" cy="137"/>
            </a:xfrm>
          </p:grpSpPr>
          <p:sp>
            <p:nvSpPr>
              <p:cNvPr id="3414" name="Google Shape;3414;p47"/>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15" name="Google Shape;3415;p47"/>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416" name="Google Shape;3416;p47"/>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17" name="Google Shape;3417;p47"/>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418" name="Google Shape;3418;p47"/>
            <p:cNvGrpSpPr/>
            <p:nvPr/>
          </p:nvGrpSpPr>
          <p:grpSpPr>
            <a:xfrm>
              <a:off x="4733" y="1630"/>
              <a:ext cx="587" cy="146"/>
              <a:chOff x="611" y="2571"/>
              <a:chExt cx="731" cy="134"/>
            </a:xfrm>
          </p:grpSpPr>
          <p:sp>
            <p:nvSpPr>
              <p:cNvPr id="3419" name="Google Shape;3419;p47"/>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20" name="Google Shape;3420;p47"/>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421" name="Google Shape;3421;p4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22" name="Google Shape;3422;p47"/>
            <p:cNvGrpSpPr/>
            <p:nvPr/>
          </p:nvGrpSpPr>
          <p:grpSpPr>
            <a:xfrm>
              <a:off x="4739" y="1327"/>
              <a:ext cx="580" cy="139"/>
              <a:chOff x="614" y="2568"/>
              <a:chExt cx="723" cy="139"/>
            </a:xfrm>
          </p:grpSpPr>
          <p:sp>
            <p:nvSpPr>
              <p:cNvPr id="3423" name="Google Shape;3423;p47"/>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24" name="Google Shape;3424;p47"/>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425" name="Google Shape;3425;p47"/>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26" name="Google Shape;3426;p4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7" name="Google Shape;3427;p4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8" name="Google Shape;3428;p47"/>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29" name="Google Shape;3429;p4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0" name="Google Shape;3430;p47"/>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31" name="Google Shape;3431;p47"/>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32" name="Google Shape;3432;p47"/>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33" name="Google Shape;3433;p47"/>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434" name="Google Shape;3434;p47"/>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35" name="Google Shape;3435;p47"/>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3436" name="Google Shape;3436;p47"/>
          <p:cNvGrpSpPr/>
          <p:nvPr/>
        </p:nvGrpSpPr>
        <p:grpSpPr>
          <a:xfrm>
            <a:off x="7358064" y="1479551"/>
            <a:ext cx="377825" cy="576263"/>
            <a:chOff x="4140" y="429"/>
            <a:chExt cx="1425" cy="2396"/>
          </a:xfrm>
        </p:grpSpPr>
        <p:sp>
          <p:nvSpPr>
            <p:cNvPr id="3437" name="Google Shape;3437;p4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8" name="Google Shape;3438;p47"/>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39" name="Google Shape;3439;p4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0" name="Google Shape;3440;p4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1" name="Google Shape;3441;p47"/>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442" name="Google Shape;3442;p47"/>
            <p:cNvGrpSpPr/>
            <p:nvPr/>
          </p:nvGrpSpPr>
          <p:grpSpPr>
            <a:xfrm>
              <a:off x="4751" y="667"/>
              <a:ext cx="581" cy="145"/>
              <a:chOff x="616" y="2567"/>
              <a:chExt cx="725" cy="139"/>
            </a:xfrm>
          </p:grpSpPr>
          <p:sp>
            <p:nvSpPr>
              <p:cNvPr id="3443" name="Google Shape;3443;p47"/>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44" name="Google Shape;3444;p47"/>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445" name="Google Shape;3445;p47"/>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446" name="Google Shape;3446;p47"/>
            <p:cNvGrpSpPr/>
            <p:nvPr/>
          </p:nvGrpSpPr>
          <p:grpSpPr>
            <a:xfrm>
              <a:off x="4745" y="997"/>
              <a:ext cx="581" cy="132"/>
              <a:chOff x="611" y="2571"/>
              <a:chExt cx="725" cy="137"/>
            </a:xfrm>
          </p:grpSpPr>
          <p:sp>
            <p:nvSpPr>
              <p:cNvPr id="3447" name="Google Shape;3447;p47"/>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48" name="Google Shape;3448;p47"/>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449" name="Google Shape;3449;p47"/>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50" name="Google Shape;3450;p47"/>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451" name="Google Shape;3451;p47"/>
            <p:cNvGrpSpPr/>
            <p:nvPr/>
          </p:nvGrpSpPr>
          <p:grpSpPr>
            <a:xfrm>
              <a:off x="4733" y="1630"/>
              <a:ext cx="587" cy="146"/>
              <a:chOff x="611" y="2571"/>
              <a:chExt cx="731" cy="134"/>
            </a:xfrm>
          </p:grpSpPr>
          <p:sp>
            <p:nvSpPr>
              <p:cNvPr id="3452" name="Google Shape;3452;p47"/>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53" name="Google Shape;3453;p47"/>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454" name="Google Shape;3454;p4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55" name="Google Shape;3455;p47"/>
            <p:cNvGrpSpPr/>
            <p:nvPr/>
          </p:nvGrpSpPr>
          <p:grpSpPr>
            <a:xfrm>
              <a:off x="4739" y="1327"/>
              <a:ext cx="580" cy="139"/>
              <a:chOff x="614" y="2568"/>
              <a:chExt cx="723" cy="139"/>
            </a:xfrm>
          </p:grpSpPr>
          <p:sp>
            <p:nvSpPr>
              <p:cNvPr id="3456" name="Google Shape;3456;p47"/>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57" name="Google Shape;3457;p47"/>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458" name="Google Shape;3458;p47"/>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59" name="Google Shape;3459;p4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0" name="Google Shape;3460;p4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1" name="Google Shape;3461;p47"/>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62" name="Google Shape;3462;p4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3" name="Google Shape;3463;p47"/>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64" name="Google Shape;3464;p47"/>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65" name="Google Shape;3465;p47"/>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66" name="Google Shape;3466;p47"/>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467" name="Google Shape;3467;p47"/>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68" name="Google Shape;3468;p47"/>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3469" name="Google Shape;3469;p47"/>
          <p:cNvGrpSpPr/>
          <p:nvPr/>
        </p:nvGrpSpPr>
        <p:grpSpPr>
          <a:xfrm>
            <a:off x="8110539" y="1511301"/>
            <a:ext cx="377825" cy="576263"/>
            <a:chOff x="4140" y="429"/>
            <a:chExt cx="1425" cy="2396"/>
          </a:xfrm>
        </p:grpSpPr>
        <p:sp>
          <p:nvSpPr>
            <p:cNvPr id="3470" name="Google Shape;3470;p4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1" name="Google Shape;3471;p47"/>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72" name="Google Shape;3472;p4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3" name="Google Shape;3473;p4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4" name="Google Shape;3474;p47"/>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475" name="Google Shape;3475;p47"/>
            <p:cNvGrpSpPr/>
            <p:nvPr/>
          </p:nvGrpSpPr>
          <p:grpSpPr>
            <a:xfrm>
              <a:off x="4751" y="667"/>
              <a:ext cx="581" cy="145"/>
              <a:chOff x="616" y="2567"/>
              <a:chExt cx="725" cy="139"/>
            </a:xfrm>
          </p:grpSpPr>
          <p:sp>
            <p:nvSpPr>
              <p:cNvPr id="3476" name="Google Shape;3476;p47"/>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77" name="Google Shape;3477;p47"/>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478" name="Google Shape;3478;p47"/>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479" name="Google Shape;3479;p47"/>
            <p:cNvGrpSpPr/>
            <p:nvPr/>
          </p:nvGrpSpPr>
          <p:grpSpPr>
            <a:xfrm>
              <a:off x="4745" y="997"/>
              <a:ext cx="581" cy="132"/>
              <a:chOff x="611" y="2571"/>
              <a:chExt cx="725" cy="137"/>
            </a:xfrm>
          </p:grpSpPr>
          <p:sp>
            <p:nvSpPr>
              <p:cNvPr id="3480" name="Google Shape;3480;p47"/>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81" name="Google Shape;3481;p47"/>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482" name="Google Shape;3482;p47"/>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83" name="Google Shape;3483;p47"/>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484" name="Google Shape;3484;p47"/>
            <p:cNvGrpSpPr/>
            <p:nvPr/>
          </p:nvGrpSpPr>
          <p:grpSpPr>
            <a:xfrm>
              <a:off x="4733" y="1630"/>
              <a:ext cx="587" cy="146"/>
              <a:chOff x="611" y="2571"/>
              <a:chExt cx="731" cy="134"/>
            </a:xfrm>
          </p:grpSpPr>
          <p:sp>
            <p:nvSpPr>
              <p:cNvPr id="3485" name="Google Shape;3485;p47"/>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86" name="Google Shape;3486;p47"/>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487" name="Google Shape;3487;p4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88" name="Google Shape;3488;p47"/>
            <p:cNvGrpSpPr/>
            <p:nvPr/>
          </p:nvGrpSpPr>
          <p:grpSpPr>
            <a:xfrm>
              <a:off x="4739" y="1327"/>
              <a:ext cx="580" cy="139"/>
              <a:chOff x="614" y="2568"/>
              <a:chExt cx="723" cy="139"/>
            </a:xfrm>
          </p:grpSpPr>
          <p:sp>
            <p:nvSpPr>
              <p:cNvPr id="3489" name="Google Shape;3489;p47"/>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90" name="Google Shape;3490;p47"/>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491" name="Google Shape;3491;p47"/>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92" name="Google Shape;3492;p4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3" name="Google Shape;3493;p4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4" name="Google Shape;3494;p47"/>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95" name="Google Shape;3495;p4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6" name="Google Shape;3496;p47"/>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97" name="Google Shape;3497;p47"/>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98" name="Google Shape;3498;p47"/>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499" name="Google Shape;3499;p47"/>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500" name="Google Shape;3500;p47"/>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01" name="Google Shape;3501;p47"/>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3502" name="Google Shape;3502;p47"/>
          <p:cNvGrpSpPr/>
          <p:nvPr/>
        </p:nvGrpSpPr>
        <p:grpSpPr>
          <a:xfrm>
            <a:off x="8720139" y="1663701"/>
            <a:ext cx="377825" cy="576263"/>
            <a:chOff x="4140" y="429"/>
            <a:chExt cx="1425" cy="2396"/>
          </a:xfrm>
        </p:grpSpPr>
        <p:sp>
          <p:nvSpPr>
            <p:cNvPr id="3503" name="Google Shape;3503;p4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4" name="Google Shape;3504;p47"/>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05" name="Google Shape;3505;p4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6" name="Google Shape;3506;p4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7" name="Google Shape;3507;p47"/>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508" name="Google Shape;3508;p47"/>
            <p:cNvGrpSpPr/>
            <p:nvPr/>
          </p:nvGrpSpPr>
          <p:grpSpPr>
            <a:xfrm>
              <a:off x="4751" y="667"/>
              <a:ext cx="581" cy="145"/>
              <a:chOff x="616" y="2567"/>
              <a:chExt cx="725" cy="139"/>
            </a:xfrm>
          </p:grpSpPr>
          <p:sp>
            <p:nvSpPr>
              <p:cNvPr id="3509" name="Google Shape;3509;p47"/>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10" name="Google Shape;3510;p47"/>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511" name="Google Shape;3511;p47"/>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512" name="Google Shape;3512;p47"/>
            <p:cNvGrpSpPr/>
            <p:nvPr/>
          </p:nvGrpSpPr>
          <p:grpSpPr>
            <a:xfrm>
              <a:off x="4745" y="997"/>
              <a:ext cx="581" cy="132"/>
              <a:chOff x="611" y="2571"/>
              <a:chExt cx="725" cy="137"/>
            </a:xfrm>
          </p:grpSpPr>
          <p:sp>
            <p:nvSpPr>
              <p:cNvPr id="3513" name="Google Shape;3513;p47"/>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14" name="Google Shape;3514;p47"/>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515" name="Google Shape;3515;p47"/>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16" name="Google Shape;3516;p47"/>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517" name="Google Shape;3517;p47"/>
            <p:cNvGrpSpPr/>
            <p:nvPr/>
          </p:nvGrpSpPr>
          <p:grpSpPr>
            <a:xfrm>
              <a:off x="4733" y="1630"/>
              <a:ext cx="587" cy="146"/>
              <a:chOff x="611" y="2571"/>
              <a:chExt cx="731" cy="134"/>
            </a:xfrm>
          </p:grpSpPr>
          <p:sp>
            <p:nvSpPr>
              <p:cNvPr id="3518" name="Google Shape;3518;p47"/>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19" name="Google Shape;3519;p47"/>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520" name="Google Shape;3520;p4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521" name="Google Shape;3521;p47"/>
            <p:cNvGrpSpPr/>
            <p:nvPr/>
          </p:nvGrpSpPr>
          <p:grpSpPr>
            <a:xfrm>
              <a:off x="4739" y="1327"/>
              <a:ext cx="580" cy="139"/>
              <a:chOff x="614" y="2568"/>
              <a:chExt cx="723" cy="139"/>
            </a:xfrm>
          </p:grpSpPr>
          <p:sp>
            <p:nvSpPr>
              <p:cNvPr id="3522" name="Google Shape;3522;p47"/>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23" name="Google Shape;3523;p47"/>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524" name="Google Shape;3524;p47"/>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25" name="Google Shape;3525;p4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6" name="Google Shape;3526;p4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7" name="Google Shape;3527;p47"/>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28" name="Google Shape;3528;p4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9" name="Google Shape;3529;p47"/>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30" name="Google Shape;3530;p47"/>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31" name="Google Shape;3531;p47"/>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32" name="Google Shape;3532;p47"/>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533" name="Google Shape;3533;p47"/>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34" name="Google Shape;3534;p47"/>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3535" name="Google Shape;3535;p47"/>
          <p:cNvGrpSpPr/>
          <p:nvPr/>
        </p:nvGrpSpPr>
        <p:grpSpPr>
          <a:xfrm>
            <a:off x="9048751" y="2609851"/>
            <a:ext cx="377825" cy="576263"/>
            <a:chOff x="4140" y="429"/>
            <a:chExt cx="1425" cy="2396"/>
          </a:xfrm>
        </p:grpSpPr>
        <p:sp>
          <p:nvSpPr>
            <p:cNvPr id="3536" name="Google Shape;3536;p4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7" name="Google Shape;3537;p47"/>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38" name="Google Shape;3538;p4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9" name="Google Shape;3539;p4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0" name="Google Shape;3540;p47"/>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541" name="Google Shape;3541;p47"/>
            <p:cNvGrpSpPr/>
            <p:nvPr/>
          </p:nvGrpSpPr>
          <p:grpSpPr>
            <a:xfrm>
              <a:off x="4751" y="667"/>
              <a:ext cx="581" cy="145"/>
              <a:chOff x="616" y="2567"/>
              <a:chExt cx="725" cy="139"/>
            </a:xfrm>
          </p:grpSpPr>
          <p:sp>
            <p:nvSpPr>
              <p:cNvPr id="3542" name="Google Shape;3542;p47"/>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43" name="Google Shape;3543;p47"/>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544" name="Google Shape;3544;p47"/>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545" name="Google Shape;3545;p47"/>
            <p:cNvGrpSpPr/>
            <p:nvPr/>
          </p:nvGrpSpPr>
          <p:grpSpPr>
            <a:xfrm>
              <a:off x="4745" y="997"/>
              <a:ext cx="581" cy="132"/>
              <a:chOff x="611" y="2571"/>
              <a:chExt cx="725" cy="137"/>
            </a:xfrm>
          </p:grpSpPr>
          <p:sp>
            <p:nvSpPr>
              <p:cNvPr id="3546" name="Google Shape;3546;p47"/>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47" name="Google Shape;3547;p47"/>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548" name="Google Shape;3548;p47"/>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49" name="Google Shape;3549;p47"/>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550" name="Google Shape;3550;p47"/>
            <p:cNvGrpSpPr/>
            <p:nvPr/>
          </p:nvGrpSpPr>
          <p:grpSpPr>
            <a:xfrm>
              <a:off x="4733" y="1630"/>
              <a:ext cx="587" cy="146"/>
              <a:chOff x="611" y="2571"/>
              <a:chExt cx="731" cy="134"/>
            </a:xfrm>
          </p:grpSpPr>
          <p:sp>
            <p:nvSpPr>
              <p:cNvPr id="3551" name="Google Shape;3551;p47"/>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52" name="Google Shape;3552;p47"/>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553" name="Google Shape;3553;p4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554" name="Google Shape;3554;p47"/>
            <p:cNvGrpSpPr/>
            <p:nvPr/>
          </p:nvGrpSpPr>
          <p:grpSpPr>
            <a:xfrm>
              <a:off x="4739" y="1327"/>
              <a:ext cx="580" cy="139"/>
              <a:chOff x="614" y="2568"/>
              <a:chExt cx="723" cy="139"/>
            </a:xfrm>
          </p:grpSpPr>
          <p:sp>
            <p:nvSpPr>
              <p:cNvPr id="3555" name="Google Shape;3555;p47"/>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56" name="Google Shape;3556;p47"/>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557" name="Google Shape;3557;p47"/>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58" name="Google Shape;3558;p4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9" name="Google Shape;3559;p4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0" name="Google Shape;3560;p47"/>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61" name="Google Shape;3561;p4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2" name="Google Shape;3562;p47"/>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63" name="Google Shape;3563;p47"/>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64" name="Google Shape;3564;p47"/>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65" name="Google Shape;3565;p47"/>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566" name="Google Shape;3566;p47"/>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67" name="Google Shape;3567;p47"/>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568" name="Google Shape;3568;p47"/>
          <p:cNvSpPr/>
          <p:nvPr/>
        </p:nvSpPr>
        <p:spPr>
          <a:xfrm>
            <a:off x="6456363" y="4392613"/>
            <a:ext cx="2965450" cy="1390650"/>
          </a:xfrm>
          <a:custGeom>
            <a:rect b="b" l="l" r="r" t="t"/>
            <a:pathLst>
              <a:path extrusionOk="0" h="876" w="1868">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569" name="Google Shape;3569;p47"/>
          <p:cNvCxnSpPr/>
          <p:nvPr/>
        </p:nvCxnSpPr>
        <p:spPr>
          <a:xfrm flipH="1">
            <a:off x="6905626" y="4702175"/>
            <a:ext cx="855663" cy="431800"/>
          </a:xfrm>
          <a:prstGeom prst="straightConnector1">
            <a:avLst/>
          </a:prstGeom>
          <a:noFill/>
          <a:ln cap="flat" cmpd="sng" w="28575">
            <a:solidFill>
              <a:schemeClr val="dk1"/>
            </a:solidFill>
            <a:prstDash val="solid"/>
            <a:round/>
            <a:headEnd len="med" w="med" type="none"/>
            <a:tailEnd len="med" w="med" type="none"/>
          </a:ln>
        </p:spPr>
      </p:cxnSp>
      <p:cxnSp>
        <p:nvCxnSpPr>
          <p:cNvPr id="3570" name="Google Shape;3570;p47"/>
          <p:cNvCxnSpPr/>
          <p:nvPr/>
        </p:nvCxnSpPr>
        <p:spPr>
          <a:xfrm flipH="1">
            <a:off x="7415213" y="4749800"/>
            <a:ext cx="563562" cy="393700"/>
          </a:xfrm>
          <a:prstGeom prst="straightConnector1">
            <a:avLst/>
          </a:prstGeom>
          <a:noFill/>
          <a:ln cap="flat" cmpd="sng" w="28575">
            <a:solidFill>
              <a:schemeClr val="dk1"/>
            </a:solidFill>
            <a:prstDash val="solid"/>
            <a:round/>
            <a:headEnd len="med" w="med" type="none"/>
            <a:tailEnd len="med" w="med" type="none"/>
          </a:ln>
        </p:spPr>
      </p:cxnSp>
      <p:cxnSp>
        <p:nvCxnSpPr>
          <p:cNvPr id="3571" name="Google Shape;3571;p47"/>
          <p:cNvCxnSpPr/>
          <p:nvPr/>
        </p:nvCxnSpPr>
        <p:spPr>
          <a:xfrm flipH="1">
            <a:off x="7953376" y="4756150"/>
            <a:ext cx="149225" cy="382588"/>
          </a:xfrm>
          <a:prstGeom prst="straightConnector1">
            <a:avLst/>
          </a:prstGeom>
          <a:noFill/>
          <a:ln cap="flat" cmpd="sng" w="28575">
            <a:solidFill>
              <a:schemeClr val="dk1"/>
            </a:solidFill>
            <a:prstDash val="solid"/>
            <a:round/>
            <a:headEnd len="med" w="med" type="none"/>
            <a:tailEnd len="med" w="med" type="none"/>
          </a:ln>
        </p:spPr>
      </p:cxnSp>
      <p:cxnSp>
        <p:nvCxnSpPr>
          <p:cNvPr id="3572" name="Google Shape;3572;p47"/>
          <p:cNvCxnSpPr/>
          <p:nvPr/>
        </p:nvCxnSpPr>
        <p:spPr>
          <a:xfrm>
            <a:off x="8320089" y="4735513"/>
            <a:ext cx="123825" cy="412750"/>
          </a:xfrm>
          <a:prstGeom prst="straightConnector1">
            <a:avLst/>
          </a:prstGeom>
          <a:noFill/>
          <a:ln cap="flat" cmpd="sng" w="28575">
            <a:solidFill>
              <a:schemeClr val="dk1"/>
            </a:solidFill>
            <a:prstDash val="solid"/>
            <a:round/>
            <a:headEnd len="med" w="med" type="none"/>
            <a:tailEnd len="med" w="med" type="none"/>
          </a:ln>
        </p:spPr>
      </p:cxnSp>
      <p:sp>
        <p:nvSpPr>
          <p:cNvPr id="3573" name="Google Shape;3573;p47"/>
          <p:cNvSpPr txBox="1"/>
          <p:nvPr/>
        </p:nvSpPr>
        <p:spPr>
          <a:xfrm>
            <a:off x="6483351" y="4279901"/>
            <a:ext cx="1198563"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institutional</a:t>
            </a:r>
            <a:endParaRPr/>
          </a:p>
          <a:p>
            <a:pPr indent="0" lvl="0" marL="0" marR="0" rtl="0" algn="ctr">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network</a:t>
            </a:r>
            <a:endParaRPr sz="2400">
              <a:solidFill>
                <a:srgbClr val="CC0000"/>
              </a:solidFill>
              <a:latin typeface="Arial"/>
              <a:ea typeface="Arial"/>
              <a:cs typeface="Arial"/>
              <a:sym typeface="Arial"/>
            </a:endParaRPr>
          </a:p>
        </p:txBody>
      </p:sp>
      <p:sp>
        <p:nvSpPr>
          <p:cNvPr id="3574" name="Google Shape;3574;p47"/>
          <p:cNvSpPr txBox="1"/>
          <p:nvPr/>
        </p:nvSpPr>
        <p:spPr>
          <a:xfrm>
            <a:off x="8366126" y="4660900"/>
            <a:ext cx="1541463" cy="3381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100 Mbps LAN</a:t>
            </a:r>
            <a:endParaRPr sz="2400">
              <a:solidFill>
                <a:schemeClr val="accent2"/>
              </a:solidFill>
              <a:latin typeface="Arial"/>
              <a:ea typeface="Arial"/>
              <a:cs typeface="Arial"/>
              <a:sym typeface="Arial"/>
            </a:endParaRPr>
          </a:p>
        </p:txBody>
      </p:sp>
      <p:grpSp>
        <p:nvGrpSpPr>
          <p:cNvPr id="3575" name="Google Shape;3575;p47"/>
          <p:cNvGrpSpPr/>
          <p:nvPr/>
        </p:nvGrpSpPr>
        <p:grpSpPr>
          <a:xfrm>
            <a:off x="7678738" y="4460876"/>
            <a:ext cx="881062" cy="307975"/>
            <a:chOff x="2356" y="1300"/>
            <a:chExt cx="555" cy="194"/>
          </a:xfrm>
        </p:grpSpPr>
        <p:sp>
          <p:nvSpPr>
            <p:cNvPr id="3576" name="Google Shape;3576;p47"/>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3577" name="Google Shape;3577;p47"/>
            <p:cNvSpPr/>
            <p:nvPr/>
          </p:nvSpPr>
          <p:spPr>
            <a:xfrm>
              <a:off x="2357" y="1374"/>
              <a:ext cx="554" cy="66"/>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3578" name="Google Shape;3578;p47"/>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grpSp>
          <p:nvGrpSpPr>
            <p:cNvPr id="3579" name="Google Shape;3579;p47"/>
            <p:cNvGrpSpPr/>
            <p:nvPr/>
          </p:nvGrpSpPr>
          <p:grpSpPr>
            <a:xfrm>
              <a:off x="2468" y="1332"/>
              <a:ext cx="310" cy="60"/>
              <a:chOff x="2468" y="1332"/>
              <a:chExt cx="310" cy="60"/>
            </a:xfrm>
          </p:grpSpPr>
          <p:sp>
            <p:nvSpPr>
              <p:cNvPr id="3580" name="Google Shape;3580;p47"/>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1" name="Google Shape;3581;p47"/>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3582" name="Google Shape;3582;p47"/>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3583" name="Google Shape;3583;p47"/>
            <p:cNvCxnSpPr/>
            <p:nvPr/>
          </p:nvCxnSpPr>
          <p:spPr>
            <a:xfrm>
              <a:off x="2907"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3584" name="Google Shape;3584;p47"/>
          <p:cNvGrpSpPr/>
          <p:nvPr/>
        </p:nvGrpSpPr>
        <p:grpSpPr>
          <a:xfrm>
            <a:off x="6592888" y="5070476"/>
            <a:ext cx="525462" cy="557213"/>
            <a:chOff x="-44" y="1473"/>
            <a:chExt cx="981" cy="1105"/>
          </a:xfrm>
        </p:grpSpPr>
        <p:pic>
          <p:nvPicPr>
            <p:cNvPr descr="desktop_computer_stylized_medium" id="3585" name="Google Shape;3585;p47"/>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586" name="Google Shape;3586;p4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87" name="Google Shape;3587;p47"/>
          <p:cNvGrpSpPr/>
          <p:nvPr/>
        </p:nvGrpSpPr>
        <p:grpSpPr>
          <a:xfrm>
            <a:off x="7104063" y="5092701"/>
            <a:ext cx="525462" cy="557213"/>
            <a:chOff x="-44" y="1473"/>
            <a:chExt cx="981" cy="1105"/>
          </a:xfrm>
        </p:grpSpPr>
        <p:pic>
          <p:nvPicPr>
            <p:cNvPr descr="desktop_computer_stylized_medium" id="3588" name="Google Shape;3588;p47"/>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589" name="Google Shape;3589;p4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90" name="Google Shape;3590;p47"/>
          <p:cNvGrpSpPr/>
          <p:nvPr/>
        </p:nvGrpSpPr>
        <p:grpSpPr>
          <a:xfrm>
            <a:off x="7627938" y="5081588"/>
            <a:ext cx="525462" cy="557212"/>
            <a:chOff x="-44" y="1473"/>
            <a:chExt cx="981" cy="1105"/>
          </a:xfrm>
        </p:grpSpPr>
        <p:pic>
          <p:nvPicPr>
            <p:cNvPr descr="desktop_computer_stylized_medium" id="3591" name="Google Shape;3591;p47"/>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592" name="Google Shape;3592;p4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93" name="Google Shape;3593;p47"/>
          <p:cNvGrpSpPr/>
          <p:nvPr/>
        </p:nvGrpSpPr>
        <p:grpSpPr>
          <a:xfrm>
            <a:off x="8243888" y="4941889"/>
            <a:ext cx="1860550" cy="809625"/>
            <a:chOff x="4217" y="3611"/>
            <a:chExt cx="1172" cy="510"/>
          </a:xfrm>
        </p:grpSpPr>
        <p:sp>
          <p:nvSpPr>
            <p:cNvPr id="3594" name="Google Shape;3594;p47"/>
            <p:cNvSpPr/>
            <p:nvPr/>
          </p:nvSpPr>
          <p:spPr>
            <a:xfrm>
              <a:off x="4217" y="3611"/>
              <a:ext cx="329" cy="473"/>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95" name="Google Shape;3595;p47"/>
            <p:cNvSpPr txBox="1"/>
            <p:nvPr/>
          </p:nvSpPr>
          <p:spPr>
            <a:xfrm>
              <a:off x="4561" y="3717"/>
              <a:ext cx="828" cy="404"/>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CC0000"/>
                </a:buClr>
                <a:buSzPts val="2000"/>
                <a:buFont typeface="Noto Sans Symbols"/>
                <a:buNone/>
              </a:pPr>
              <a:r>
                <a:rPr lang="en-US" sz="2000">
                  <a:solidFill>
                    <a:srgbClr val="CC0000"/>
                  </a:solidFill>
                  <a:latin typeface="Arial"/>
                  <a:ea typeface="Arial"/>
                  <a:cs typeface="Arial"/>
                  <a:sym typeface="Arial"/>
                </a:rPr>
                <a:t>local web </a:t>
              </a:r>
              <a:endParaRPr/>
            </a:p>
            <a:p>
              <a:pPr indent="0" lvl="0" marL="0" marR="0" rtl="0" algn="ctr">
                <a:lnSpc>
                  <a:spcPct val="90000"/>
                </a:lnSpc>
                <a:spcBef>
                  <a:spcPts val="0"/>
                </a:spcBef>
                <a:spcAft>
                  <a:spcPts val="0"/>
                </a:spcAft>
                <a:buClr>
                  <a:srgbClr val="CC0000"/>
                </a:buClr>
                <a:buSzPts val="2000"/>
                <a:buFont typeface="Noto Sans Symbols"/>
                <a:buNone/>
              </a:pPr>
              <a:r>
                <a:rPr lang="en-US" sz="2000">
                  <a:solidFill>
                    <a:srgbClr val="CC0000"/>
                  </a:solidFill>
                  <a:latin typeface="Arial"/>
                  <a:ea typeface="Arial"/>
                  <a:cs typeface="Arial"/>
                  <a:sym typeface="Arial"/>
                </a:rPr>
                <a:t>cache</a:t>
              </a:r>
              <a:endParaRPr/>
            </a:p>
          </p:txBody>
        </p:sp>
      </p:grpSp>
      <p:grpSp>
        <p:nvGrpSpPr>
          <p:cNvPr id="3596" name="Google Shape;3596;p47"/>
          <p:cNvGrpSpPr/>
          <p:nvPr/>
        </p:nvGrpSpPr>
        <p:grpSpPr>
          <a:xfrm>
            <a:off x="8308976" y="5027613"/>
            <a:ext cx="377825" cy="576262"/>
            <a:chOff x="4140" y="429"/>
            <a:chExt cx="1425" cy="2396"/>
          </a:xfrm>
        </p:grpSpPr>
        <p:sp>
          <p:nvSpPr>
            <p:cNvPr id="3597" name="Google Shape;3597;p4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8" name="Google Shape;3598;p47"/>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599" name="Google Shape;3599;p4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0" name="Google Shape;3600;p4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1" name="Google Shape;3601;p47"/>
            <p:cNvSpPr/>
            <p:nvPr/>
          </p:nvSpPr>
          <p:spPr>
            <a:xfrm>
              <a:off x="4212" y="693"/>
              <a:ext cx="599"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602" name="Google Shape;3602;p47"/>
            <p:cNvGrpSpPr/>
            <p:nvPr/>
          </p:nvGrpSpPr>
          <p:grpSpPr>
            <a:xfrm>
              <a:off x="4751" y="667"/>
              <a:ext cx="581" cy="145"/>
              <a:chOff x="616" y="2567"/>
              <a:chExt cx="725" cy="139"/>
            </a:xfrm>
          </p:grpSpPr>
          <p:sp>
            <p:nvSpPr>
              <p:cNvPr id="3603" name="Google Shape;3603;p47"/>
              <p:cNvSpPr/>
              <p:nvPr/>
            </p:nvSpPr>
            <p:spPr>
              <a:xfrm>
                <a:off x="616" y="2567"/>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604" name="Google Shape;3604;p47"/>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605" name="Google Shape;3605;p47"/>
            <p:cNvSpPr/>
            <p:nvPr/>
          </p:nvSpPr>
          <p:spPr>
            <a:xfrm>
              <a:off x="4224" y="1016"/>
              <a:ext cx="599" cy="5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606" name="Google Shape;3606;p47"/>
            <p:cNvGrpSpPr/>
            <p:nvPr/>
          </p:nvGrpSpPr>
          <p:grpSpPr>
            <a:xfrm>
              <a:off x="4745" y="997"/>
              <a:ext cx="581" cy="132"/>
              <a:chOff x="611" y="2571"/>
              <a:chExt cx="725" cy="137"/>
            </a:xfrm>
          </p:grpSpPr>
          <p:sp>
            <p:nvSpPr>
              <p:cNvPr id="3607" name="Google Shape;3607;p47"/>
              <p:cNvSpPr/>
              <p:nvPr/>
            </p:nvSpPr>
            <p:spPr>
              <a:xfrm>
                <a:off x="611" y="2571"/>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608" name="Google Shape;3608;p47"/>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609" name="Google Shape;3609;p47"/>
            <p:cNvSpPr/>
            <p:nvPr/>
          </p:nvSpPr>
          <p:spPr>
            <a:xfrm>
              <a:off x="4218" y="1360"/>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610" name="Google Shape;3610;p47"/>
            <p:cNvSpPr/>
            <p:nvPr/>
          </p:nvSpPr>
          <p:spPr>
            <a:xfrm>
              <a:off x="4230" y="1657"/>
              <a:ext cx="593"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3611" name="Google Shape;3611;p47"/>
            <p:cNvGrpSpPr/>
            <p:nvPr/>
          </p:nvGrpSpPr>
          <p:grpSpPr>
            <a:xfrm>
              <a:off x="4733" y="1630"/>
              <a:ext cx="587" cy="146"/>
              <a:chOff x="611" y="2571"/>
              <a:chExt cx="731" cy="134"/>
            </a:xfrm>
          </p:grpSpPr>
          <p:sp>
            <p:nvSpPr>
              <p:cNvPr id="3612" name="Google Shape;3612;p47"/>
              <p:cNvSpPr/>
              <p:nvPr/>
            </p:nvSpPr>
            <p:spPr>
              <a:xfrm>
                <a:off x="611" y="2571"/>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613" name="Google Shape;3613;p47"/>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614" name="Google Shape;3614;p4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615" name="Google Shape;3615;p47"/>
            <p:cNvGrpSpPr/>
            <p:nvPr/>
          </p:nvGrpSpPr>
          <p:grpSpPr>
            <a:xfrm>
              <a:off x="4739" y="1327"/>
              <a:ext cx="580" cy="139"/>
              <a:chOff x="614" y="2568"/>
              <a:chExt cx="723" cy="139"/>
            </a:xfrm>
          </p:grpSpPr>
          <p:sp>
            <p:nvSpPr>
              <p:cNvPr id="3616" name="Google Shape;3616;p47"/>
              <p:cNvSpPr/>
              <p:nvPr/>
            </p:nvSpPr>
            <p:spPr>
              <a:xfrm>
                <a:off x="614" y="2568"/>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617" name="Google Shape;3617;p47"/>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618" name="Google Shape;3618;p47"/>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619" name="Google Shape;3619;p4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0" name="Google Shape;3620;p4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1" name="Google Shape;3621;p47"/>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622" name="Google Shape;3622;p4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3" name="Google Shape;3623;p47"/>
            <p:cNvSpPr/>
            <p:nvPr/>
          </p:nvSpPr>
          <p:spPr>
            <a:xfrm>
              <a:off x="4140" y="2680"/>
              <a:ext cx="1197"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624" name="Google Shape;3624;p47"/>
            <p:cNvSpPr/>
            <p:nvPr/>
          </p:nvSpPr>
          <p:spPr>
            <a:xfrm>
              <a:off x="4206" y="2713"/>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625" name="Google Shape;3625;p47"/>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626" name="Google Shape;3626;p47"/>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627" name="Google Shape;3627;p47"/>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3628" name="Google Shape;3628;p47"/>
            <p:cNvSpPr/>
            <p:nvPr/>
          </p:nvSpPr>
          <p:spPr>
            <a:xfrm>
              <a:off x="5062" y="1835"/>
              <a:ext cx="84"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3629" name="Google Shape;3629;p47"/>
          <p:cNvSpPr txBox="1"/>
          <p:nvPr/>
        </p:nvSpPr>
        <p:spPr>
          <a:xfrm>
            <a:off x="9117013" y="5849938"/>
            <a:ext cx="9525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700"/>
              <a:buFont typeface="Arial"/>
              <a:buNone/>
            </a:pPr>
            <a:r>
              <a:rPr lang="en-US" sz="2000">
                <a:solidFill>
                  <a:schemeClr val="dk1"/>
                </a:solidFill>
                <a:latin typeface="Arial"/>
                <a:ea typeface="Arial"/>
                <a:cs typeface="Arial"/>
                <a:sym typeface="Arial"/>
              </a:rPr>
              <a:t>≈10ms</a:t>
            </a:r>
            <a:endParaRPr/>
          </a:p>
        </p:txBody>
      </p:sp>
      <p:sp>
        <p:nvSpPr>
          <p:cNvPr id="3630" name="Google Shape;3630;p47"/>
          <p:cNvSpPr txBox="1"/>
          <p:nvPr/>
        </p:nvSpPr>
        <p:spPr>
          <a:xfrm>
            <a:off x="2356645" y="6249988"/>
            <a:ext cx="3641725" cy="4572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accent2"/>
              </a:buClr>
              <a:buSzPts val="2040"/>
              <a:buFont typeface="Arial"/>
              <a:buNone/>
            </a:pPr>
            <a:r>
              <a:rPr i="1" lang="en-US" sz="2400">
                <a:solidFill>
                  <a:srgbClr val="CC0000"/>
                </a:solidFill>
                <a:latin typeface="Arial"/>
                <a:ea typeface="Arial"/>
                <a:cs typeface="Arial"/>
                <a:sym typeface="Arial"/>
              </a:rPr>
              <a:t>Cost:</a:t>
            </a:r>
            <a:r>
              <a:rPr lang="en-US" sz="2400">
                <a:solidFill>
                  <a:schemeClr val="dk1"/>
                </a:solidFill>
                <a:latin typeface="Arial"/>
                <a:ea typeface="Arial"/>
                <a:cs typeface="Arial"/>
                <a:sym typeface="Arial"/>
              </a:rPr>
              <a:t> web cache (cheap!)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5"/>
                                        </p:tgtEl>
                                        <p:attrNameLst>
                                          <p:attrName>style.visibility</p:attrName>
                                        </p:attrNameLst>
                                      </p:cBhvr>
                                      <p:to>
                                        <p:strVal val="visible"/>
                                      </p:to>
                                    </p:set>
                                    <p:animEffect filter="fade" transition="in">
                                      <p:cBhvr>
                                        <p:cTn dur="500"/>
                                        <p:tgtEl>
                                          <p:spTgt spid="3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6"/>
                                        </p:tgtEl>
                                        <p:attrNameLst>
                                          <p:attrName>style.visibility</p:attrName>
                                        </p:attrNameLst>
                                      </p:cBhvr>
                                      <p:to>
                                        <p:strVal val="visible"/>
                                      </p:to>
                                    </p:set>
                                    <p:animEffect filter="fade" transition="in">
                                      <p:cBhvr>
                                        <p:cTn dur="500"/>
                                        <p:tgtEl>
                                          <p:spTgt spid="3386"/>
                                        </p:tgtEl>
                                      </p:cBhvr>
                                    </p:animEffect>
                                  </p:childTnLst>
                                </p:cTn>
                              </p:par>
                              <p:par>
                                <p:cTn fill="hold" nodeType="withEffect" presetClass="entr" presetID="10" presetSubtype="0">
                                  <p:stCondLst>
                                    <p:cond delay="0"/>
                                  </p:stCondLst>
                                  <p:childTnLst>
                                    <p:set>
                                      <p:cBhvr>
                                        <p:cTn dur="1" fill="hold">
                                          <p:stCondLst>
                                            <p:cond delay="0"/>
                                          </p:stCondLst>
                                        </p:cTn>
                                        <p:tgtEl>
                                          <p:spTgt spid="3593"/>
                                        </p:tgtEl>
                                        <p:attrNameLst>
                                          <p:attrName>style.visibility</p:attrName>
                                        </p:attrNameLst>
                                      </p:cBhvr>
                                      <p:to>
                                        <p:strVal val="visible"/>
                                      </p:to>
                                    </p:set>
                                    <p:animEffect filter="fade" transition="in">
                                      <p:cBhvr>
                                        <p:cTn dur="500"/>
                                        <p:tgtEl>
                                          <p:spTgt spid="35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0"/>
                                        </p:tgtEl>
                                        <p:attrNameLst>
                                          <p:attrName>style.visibility</p:attrName>
                                        </p:attrNameLst>
                                      </p:cBhvr>
                                      <p:to>
                                        <p:strVal val="visible"/>
                                      </p:to>
                                    </p:set>
                                    <p:animEffect filter="fade" transition="in">
                                      <p:cBhvr>
                                        <p:cTn dur="500"/>
                                        <p:tgtEl>
                                          <p:spTgt spid="36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5" name="Shape 3635"/>
        <p:cNvGrpSpPr/>
        <p:nvPr/>
      </p:nvGrpSpPr>
      <p:grpSpPr>
        <a:xfrm>
          <a:off x="0" y="0"/>
          <a:ext cx="0" cy="0"/>
          <a:chOff x="0" y="0"/>
          <a:chExt cx="0" cy="0"/>
        </a:xfrm>
      </p:grpSpPr>
      <p:sp>
        <p:nvSpPr>
          <p:cNvPr id="3636" name="Google Shape;3636;p48"/>
          <p:cNvSpPr txBox="1"/>
          <p:nvPr>
            <p:ph type="title"/>
          </p:nvPr>
        </p:nvSpPr>
        <p:spPr>
          <a:xfrm>
            <a:off x="798691" y="37987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Caching Example B</a:t>
            </a:r>
            <a:endParaRPr sz="4400"/>
          </a:p>
        </p:txBody>
      </p:sp>
      <p:sp>
        <p:nvSpPr>
          <p:cNvPr id="3637" name="Google Shape;3637;p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cxnSp>
        <p:nvCxnSpPr>
          <p:cNvPr id="3638" name="Google Shape;3638;p48"/>
          <p:cNvCxnSpPr/>
          <p:nvPr/>
        </p:nvCxnSpPr>
        <p:spPr>
          <a:xfrm>
            <a:off x="7744795" y="2487883"/>
            <a:ext cx="285750" cy="114300"/>
          </a:xfrm>
          <a:prstGeom prst="straightConnector1">
            <a:avLst/>
          </a:prstGeom>
          <a:noFill/>
          <a:ln cap="flat" cmpd="sng" w="28575">
            <a:solidFill>
              <a:srgbClr val="3333CC"/>
            </a:solidFill>
            <a:prstDash val="solid"/>
            <a:round/>
            <a:headEnd len="med" w="med" type="none"/>
            <a:tailEnd len="med" w="med" type="none"/>
          </a:ln>
        </p:spPr>
      </p:cxnSp>
      <p:sp>
        <p:nvSpPr>
          <p:cNvPr id="3639" name="Google Shape;3639;p48"/>
          <p:cNvSpPr txBox="1"/>
          <p:nvPr/>
        </p:nvSpPr>
        <p:spPr>
          <a:xfrm>
            <a:off x="10173670" y="1902096"/>
            <a:ext cx="93345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origin</a:t>
            </a:r>
            <a:endParaRPr/>
          </a:p>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servers</a:t>
            </a:r>
            <a:endParaRPr/>
          </a:p>
        </p:txBody>
      </p:sp>
      <p:cxnSp>
        <p:nvCxnSpPr>
          <p:cNvPr id="3640" name="Google Shape;3640;p48"/>
          <p:cNvCxnSpPr/>
          <p:nvPr/>
        </p:nvCxnSpPr>
        <p:spPr>
          <a:xfrm>
            <a:off x="8554420" y="2106883"/>
            <a:ext cx="66675" cy="276225"/>
          </a:xfrm>
          <a:prstGeom prst="straightConnector1">
            <a:avLst/>
          </a:prstGeom>
          <a:noFill/>
          <a:ln cap="flat" cmpd="sng" w="28575">
            <a:solidFill>
              <a:srgbClr val="3333CC"/>
            </a:solidFill>
            <a:prstDash val="solid"/>
            <a:round/>
            <a:headEnd len="med" w="med" type="none"/>
            <a:tailEnd len="med" w="med" type="none"/>
          </a:ln>
        </p:spPr>
      </p:cxnSp>
      <p:cxnSp>
        <p:nvCxnSpPr>
          <p:cNvPr id="3641" name="Google Shape;3641;p48"/>
          <p:cNvCxnSpPr/>
          <p:nvPr/>
        </p:nvCxnSpPr>
        <p:spPr>
          <a:xfrm flipH="1">
            <a:off x="9183070" y="2144983"/>
            <a:ext cx="9525" cy="238125"/>
          </a:xfrm>
          <a:prstGeom prst="straightConnector1">
            <a:avLst/>
          </a:prstGeom>
          <a:noFill/>
          <a:ln cap="flat" cmpd="sng" w="28575">
            <a:solidFill>
              <a:srgbClr val="3333CC"/>
            </a:solidFill>
            <a:prstDash val="solid"/>
            <a:round/>
            <a:headEnd len="med" w="med" type="none"/>
            <a:tailEnd len="med" w="med" type="none"/>
          </a:ln>
        </p:spPr>
      </p:cxnSp>
      <p:cxnSp>
        <p:nvCxnSpPr>
          <p:cNvPr id="3642" name="Google Shape;3642;p48"/>
          <p:cNvCxnSpPr/>
          <p:nvPr/>
        </p:nvCxnSpPr>
        <p:spPr>
          <a:xfrm flipH="1">
            <a:off x="9640270" y="2306908"/>
            <a:ext cx="133350" cy="209550"/>
          </a:xfrm>
          <a:prstGeom prst="straightConnector1">
            <a:avLst/>
          </a:prstGeom>
          <a:noFill/>
          <a:ln cap="flat" cmpd="sng" w="28575">
            <a:solidFill>
              <a:srgbClr val="3333CC"/>
            </a:solidFill>
            <a:prstDash val="solid"/>
            <a:round/>
            <a:headEnd len="med" w="med" type="none"/>
            <a:tailEnd len="med" w="med" type="none"/>
          </a:ln>
        </p:spPr>
      </p:cxnSp>
      <p:cxnSp>
        <p:nvCxnSpPr>
          <p:cNvPr id="3643" name="Google Shape;3643;p48"/>
          <p:cNvCxnSpPr/>
          <p:nvPr/>
        </p:nvCxnSpPr>
        <p:spPr>
          <a:xfrm rot="10800000">
            <a:off x="9802195" y="3068908"/>
            <a:ext cx="247650" cy="0"/>
          </a:xfrm>
          <a:prstGeom prst="straightConnector1">
            <a:avLst/>
          </a:prstGeom>
          <a:noFill/>
          <a:ln cap="flat" cmpd="sng" w="28575">
            <a:solidFill>
              <a:srgbClr val="3333CC"/>
            </a:solidFill>
            <a:prstDash val="solid"/>
            <a:round/>
            <a:headEnd len="med" w="med" type="none"/>
            <a:tailEnd len="med" w="med" type="none"/>
          </a:ln>
        </p:spPr>
      </p:cxnSp>
      <p:sp>
        <p:nvSpPr>
          <p:cNvPr id="3644" name="Google Shape;3644;p48"/>
          <p:cNvSpPr/>
          <p:nvPr/>
        </p:nvSpPr>
        <p:spPr>
          <a:xfrm>
            <a:off x="7819407" y="2111064"/>
            <a:ext cx="2174875" cy="1581150"/>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CC"/>
              </a:buClr>
              <a:buSzPts val="1700"/>
              <a:buFont typeface="Arial"/>
              <a:buNone/>
            </a:pPr>
            <a:r>
              <a:t/>
            </a:r>
            <a:endParaRPr sz="2000">
              <a:solidFill>
                <a:srgbClr val="000000"/>
              </a:solidFill>
              <a:latin typeface="Arial"/>
              <a:ea typeface="Arial"/>
              <a:cs typeface="Arial"/>
              <a:sym typeface="Arial"/>
            </a:endParaRPr>
          </a:p>
        </p:txBody>
      </p:sp>
      <p:sp>
        <p:nvSpPr>
          <p:cNvPr id="3645" name="Google Shape;3645;p48"/>
          <p:cNvSpPr txBox="1"/>
          <p:nvPr/>
        </p:nvSpPr>
        <p:spPr>
          <a:xfrm>
            <a:off x="8535370" y="2432321"/>
            <a:ext cx="931862"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public</a:t>
            </a:r>
            <a:endParaRPr/>
          </a:p>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 Internet</a:t>
            </a:r>
            <a:endParaRPr b="0" i="0" sz="2400" u="none" cap="none" strike="noStrike">
              <a:solidFill>
                <a:srgbClr val="CC0000"/>
              </a:solidFill>
              <a:latin typeface="Arial"/>
              <a:ea typeface="Arial"/>
              <a:cs typeface="Arial"/>
              <a:sym typeface="Arial"/>
            </a:endParaRPr>
          </a:p>
        </p:txBody>
      </p:sp>
      <p:sp>
        <p:nvSpPr>
          <p:cNvPr id="3646" name="Google Shape;3646;p48"/>
          <p:cNvSpPr/>
          <p:nvPr/>
        </p:nvSpPr>
        <p:spPr>
          <a:xfrm>
            <a:off x="7424120" y="4516708"/>
            <a:ext cx="2965450" cy="1390650"/>
          </a:xfrm>
          <a:custGeom>
            <a:rect b="b" l="l" r="r" t="t"/>
            <a:pathLst>
              <a:path extrusionOk="0" h="876" w="1868">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CC"/>
              </a:buClr>
              <a:buSzPts val="1700"/>
              <a:buFont typeface="Arial"/>
              <a:buNone/>
            </a:pPr>
            <a:r>
              <a:t/>
            </a:r>
            <a:endParaRPr sz="2000">
              <a:solidFill>
                <a:srgbClr val="000000"/>
              </a:solidFill>
              <a:latin typeface="Arial"/>
              <a:ea typeface="Arial"/>
              <a:cs typeface="Arial"/>
              <a:sym typeface="Arial"/>
            </a:endParaRPr>
          </a:p>
        </p:txBody>
      </p:sp>
      <p:cxnSp>
        <p:nvCxnSpPr>
          <p:cNvPr id="3647" name="Google Shape;3647;p48"/>
          <p:cNvCxnSpPr/>
          <p:nvPr/>
        </p:nvCxnSpPr>
        <p:spPr>
          <a:xfrm flipH="1">
            <a:off x="7859095" y="4780233"/>
            <a:ext cx="855662" cy="431800"/>
          </a:xfrm>
          <a:prstGeom prst="straightConnector1">
            <a:avLst/>
          </a:prstGeom>
          <a:noFill/>
          <a:ln cap="flat" cmpd="sng" w="28575">
            <a:solidFill>
              <a:srgbClr val="000000"/>
            </a:solidFill>
            <a:prstDash val="solid"/>
            <a:round/>
            <a:headEnd len="med" w="med" type="none"/>
            <a:tailEnd len="med" w="med" type="none"/>
          </a:ln>
        </p:spPr>
      </p:cxnSp>
      <p:cxnSp>
        <p:nvCxnSpPr>
          <p:cNvPr id="3648" name="Google Shape;3648;p48"/>
          <p:cNvCxnSpPr/>
          <p:nvPr/>
        </p:nvCxnSpPr>
        <p:spPr>
          <a:xfrm flipH="1">
            <a:off x="8368682" y="4827858"/>
            <a:ext cx="563563" cy="393700"/>
          </a:xfrm>
          <a:prstGeom prst="straightConnector1">
            <a:avLst/>
          </a:prstGeom>
          <a:noFill/>
          <a:ln cap="flat" cmpd="sng" w="28575">
            <a:solidFill>
              <a:srgbClr val="000000"/>
            </a:solidFill>
            <a:prstDash val="solid"/>
            <a:round/>
            <a:headEnd len="med" w="med" type="none"/>
            <a:tailEnd len="med" w="med" type="none"/>
          </a:ln>
        </p:spPr>
      </p:cxnSp>
      <p:cxnSp>
        <p:nvCxnSpPr>
          <p:cNvPr id="3649" name="Google Shape;3649;p48"/>
          <p:cNvCxnSpPr/>
          <p:nvPr/>
        </p:nvCxnSpPr>
        <p:spPr>
          <a:xfrm flipH="1">
            <a:off x="8906845" y="4834208"/>
            <a:ext cx="149225" cy="382588"/>
          </a:xfrm>
          <a:prstGeom prst="straightConnector1">
            <a:avLst/>
          </a:prstGeom>
          <a:noFill/>
          <a:ln cap="flat" cmpd="sng" w="28575">
            <a:solidFill>
              <a:srgbClr val="000000"/>
            </a:solidFill>
            <a:prstDash val="solid"/>
            <a:round/>
            <a:headEnd len="med" w="med" type="none"/>
            <a:tailEnd len="med" w="med" type="none"/>
          </a:ln>
        </p:spPr>
      </p:cxnSp>
      <p:cxnSp>
        <p:nvCxnSpPr>
          <p:cNvPr id="3650" name="Google Shape;3650;p48"/>
          <p:cNvCxnSpPr/>
          <p:nvPr/>
        </p:nvCxnSpPr>
        <p:spPr>
          <a:xfrm>
            <a:off x="9068770" y="3545158"/>
            <a:ext cx="0" cy="1062038"/>
          </a:xfrm>
          <a:prstGeom prst="straightConnector1">
            <a:avLst/>
          </a:prstGeom>
          <a:noFill/>
          <a:ln cap="flat" cmpd="sng" w="28575">
            <a:solidFill>
              <a:srgbClr val="000000"/>
            </a:solidFill>
            <a:prstDash val="solid"/>
            <a:round/>
            <a:headEnd len="med" w="med" type="none"/>
            <a:tailEnd len="med" w="med" type="none"/>
          </a:ln>
        </p:spPr>
      </p:cxnSp>
      <p:sp>
        <p:nvSpPr>
          <p:cNvPr id="3651" name="Google Shape;3651;p48"/>
          <p:cNvSpPr txBox="1"/>
          <p:nvPr/>
        </p:nvSpPr>
        <p:spPr>
          <a:xfrm>
            <a:off x="7436820" y="4357958"/>
            <a:ext cx="1198562"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institutional</a:t>
            </a:r>
            <a:endParaRPr/>
          </a:p>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network</a:t>
            </a:r>
            <a:endParaRPr b="0" i="0" sz="2400" u="none" cap="none" strike="noStrike">
              <a:solidFill>
                <a:srgbClr val="CC0000"/>
              </a:solidFill>
              <a:latin typeface="Arial"/>
              <a:ea typeface="Arial"/>
              <a:cs typeface="Arial"/>
              <a:sym typeface="Arial"/>
            </a:endParaRPr>
          </a:p>
        </p:txBody>
      </p:sp>
      <p:sp>
        <p:nvSpPr>
          <p:cNvPr id="3652" name="Google Shape;3652;p48"/>
          <p:cNvSpPr txBox="1"/>
          <p:nvPr/>
        </p:nvSpPr>
        <p:spPr>
          <a:xfrm>
            <a:off x="9445007" y="4738958"/>
            <a:ext cx="129063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 Gbps LAN</a:t>
            </a:r>
            <a:endParaRPr b="0" i="0" sz="2400" u="none" cap="none" strike="noStrike">
              <a:solidFill>
                <a:srgbClr val="3333CC"/>
              </a:solidFill>
              <a:latin typeface="Arial"/>
              <a:ea typeface="Arial"/>
              <a:cs typeface="Arial"/>
              <a:sym typeface="Arial"/>
            </a:endParaRPr>
          </a:p>
        </p:txBody>
      </p:sp>
      <p:sp>
        <p:nvSpPr>
          <p:cNvPr id="3653" name="Google Shape;3653;p48"/>
          <p:cNvSpPr txBox="1"/>
          <p:nvPr/>
        </p:nvSpPr>
        <p:spPr>
          <a:xfrm>
            <a:off x="9070357" y="3734071"/>
            <a:ext cx="1190625"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1.54 Mbps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access link</a:t>
            </a:r>
            <a:endParaRPr b="0" i="0" sz="2400" u="none" cap="none" strike="noStrike">
              <a:solidFill>
                <a:srgbClr val="3333CC"/>
              </a:solidFill>
              <a:latin typeface="Arial"/>
              <a:ea typeface="Arial"/>
              <a:cs typeface="Arial"/>
              <a:sym typeface="Arial"/>
            </a:endParaRPr>
          </a:p>
        </p:txBody>
      </p:sp>
      <p:sp>
        <p:nvSpPr>
          <p:cNvPr id="3654" name="Google Shape;3654;p48"/>
          <p:cNvSpPr/>
          <p:nvPr/>
        </p:nvSpPr>
        <p:spPr>
          <a:xfrm>
            <a:off x="3892917" y="4742873"/>
            <a:ext cx="940980" cy="509975"/>
          </a:xfrm>
          <a:prstGeom prst="ellipse">
            <a:avLst/>
          </a:prstGeom>
          <a:noFill/>
          <a:ln cap="flat" cmpd="sng" w="1905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55" name="Google Shape;3655;p48"/>
          <p:cNvSpPr txBox="1"/>
          <p:nvPr/>
        </p:nvSpPr>
        <p:spPr>
          <a:xfrm>
            <a:off x="4833897" y="4168466"/>
            <a:ext cx="1933575" cy="923330"/>
          </a:xfrm>
          <a:prstGeom prst="rect">
            <a:avLst/>
          </a:prstGeom>
          <a:noFill/>
          <a:ln>
            <a:noFill/>
          </a:ln>
        </p:spPr>
        <p:txBody>
          <a:bodyPr anchorCtr="0" anchor="t" bIns="45700" lIns="91425" spcFirstLastPara="1" rIns="91425" wrap="square" tIns="45700">
            <a:spAutoFit/>
          </a:bodyPr>
          <a:lstStyle/>
          <a:p>
            <a:pPr indent="0" lvl="0" marL="9525" marR="0" rtl="0" algn="l">
              <a:lnSpc>
                <a:spcPct val="90000"/>
              </a:lnSpc>
              <a:spcBef>
                <a:spcPts val="0"/>
              </a:spcBef>
              <a:spcAft>
                <a:spcPts val="0"/>
              </a:spcAft>
              <a:buClr>
                <a:srgbClr val="3333CC"/>
              </a:buClr>
              <a:buSzPts val="1700"/>
              <a:buFont typeface="Arial"/>
              <a:buNone/>
            </a:pPr>
            <a:r>
              <a:rPr b="0" i="1" lang="en-US" sz="2000" u="none" cap="none" strike="noStrike">
                <a:solidFill>
                  <a:srgbClr val="CC0000"/>
                </a:solidFill>
                <a:latin typeface="Calibri"/>
                <a:ea typeface="Calibri"/>
                <a:cs typeface="Calibri"/>
                <a:sym typeface="Calibri"/>
              </a:rPr>
              <a:t>problem:</a:t>
            </a:r>
            <a:r>
              <a:rPr b="0" i="1" lang="en-US" sz="2000" u="none" cap="none" strike="noStrike">
                <a:solidFill>
                  <a:srgbClr val="CC0000"/>
                </a:solidFill>
                <a:latin typeface="Calibri"/>
                <a:ea typeface="Calibri"/>
                <a:cs typeface="Calibri"/>
                <a:sym typeface="Calibri"/>
              </a:rPr>
              <a:t> </a:t>
            </a:r>
            <a:r>
              <a:rPr b="0" lang="en-US" sz="2000" u="none" cap="none" strike="noStrike">
                <a:solidFill>
                  <a:srgbClr val="CC0000"/>
                </a:solidFill>
                <a:latin typeface="Calibri"/>
                <a:ea typeface="Calibri"/>
                <a:cs typeface="Calibri"/>
                <a:sym typeface="Calibri"/>
              </a:rPr>
              <a:t>large delays at high utilization!</a:t>
            </a:r>
            <a:endParaRPr/>
          </a:p>
        </p:txBody>
      </p:sp>
      <p:grpSp>
        <p:nvGrpSpPr>
          <p:cNvPr id="3656" name="Google Shape;3656;p48"/>
          <p:cNvGrpSpPr/>
          <p:nvPr/>
        </p:nvGrpSpPr>
        <p:grpSpPr>
          <a:xfrm>
            <a:off x="7397132" y="2035446"/>
            <a:ext cx="377825" cy="576262"/>
            <a:chOff x="4140" y="429"/>
            <a:chExt cx="1425" cy="2396"/>
          </a:xfrm>
        </p:grpSpPr>
        <p:sp>
          <p:nvSpPr>
            <p:cNvPr id="3657" name="Google Shape;3657;p4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58" name="Google Shape;3658;p48"/>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59" name="Google Shape;3659;p4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60" name="Google Shape;3660;p4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61" name="Google Shape;3661;p48"/>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662" name="Google Shape;3662;p48"/>
            <p:cNvGrpSpPr/>
            <p:nvPr/>
          </p:nvGrpSpPr>
          <p:grpSpPr>
            <a:xfrm>
              <a:off x="4751" y="667"/>
              <a:ext cx="581" cy="145"/>
              <a:chOff x="616" y="2567"/>
              <a:chExt cx="725" cy="139"/>
            </a:xfrm>
          </p:grpSpPr>
          <p:sp>
            <p:nvSpPr>
              <p:cNvPr id="3663" name="Google Shape;3663;p48"/>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64" name="Google Shape;3664;p48"/>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665" name="Google Shape;3665;p48"/>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666" name="Google Shape;3666;p48"/>
            <p:cNvGrpSpPr/>
            <p:nvPr/>
          </p:nvGrpSpPr>
          <p:grpSpPr>
            <a:xfrm>
              <a:off x="4745" y="997"/>
              <a:ext cx="581" cy="132"/>
              <a:chOff x="611" y="2571"/>
              <a:chExt cx="725" cy="137"/>
            </a:xfrm>
          </p:grpSpPr>
          <p:sp>
            <p:nvSpPr>
              <p:cNvPr id="3667" name="Google Shape;3667;p48"/>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68" name="Google Shape;3668;p48"/>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669" name="Google Shape;3669;p48"/>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70" name="Google Shape;3670;p48"/>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671" name="Google Shape;3671;p48"/>
            <p:cNvGrpSpPr/>
            <p:nvPr/>
          </p:nvGrpSpPr>
          <p:grpSpPr>
            <a:xfrm>
              <a:off x="4733" y="1630"/>
              <a:ext cx="587" cy="146"/>
              <a:chOff x="611" y="2571"/>
              <a:chExt cx="731" cy="134"/>
            </a:xfrm>
          </p:grpSpPr>
          <p:sp>
            <p:nvSpPr>
              <p:cNvPr id="3672" name="Google Shape;3672;p48"/>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73" name="Google Shape;3673;p48"/>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674" name="Google Shape;3674;p4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675" name="Google Shape;3675;p48"/>
            <p:cNvGrpSpPr/>
            <p:nvPr/>
          </p:nvGrpSpPr>
          <p:grpSpPr>
            <a:xfrm>
              <a:off x="4739" y="1327"/>
              <a:ext cx="580" cy="139"/>
              <a:chOff x="614" y="2568"/>
              <a:chExt cx="723" cy="139"/>
            </a:xfrm>
          </p:grpSpPr>
          <p:sp>
            <p:nvSpPr>
              <p:cNvPr id="3676" name="Google Shape;3676;p48"/>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77" name="Google Shape;3677;p48"/>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678" name="Google Shape;3678;p48"/>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79" name="Google Shape;3679;p4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80" name="Google Shape;3680;p4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81" name="Google Shape;3681;p48"/>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82" name="Google Shape;3682;p4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83" name="Google Shape;3683;p48"/>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84" name="Google Shape;3684;p48"/>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85" name="Google Shape;3685;p48"/>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86" name="Google Shape;3686;p48"/>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687" name="Google Shape;3687;p48"/>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88" name="Google Shape;3688;p48"/>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3689" name="Google Shape;3689;p48"/>
          <p:cNvGrpSpPr/>
          <p:nvPr/>
        </p:nvGrpSpPr>
        <p:grpSpPr>
          <a:xfrm>
            <a:off x="7546357" y="5148533"/>
            <a:ext cx="525463" cy="557213"/>
            <a:chOff x="-44" y="1473"/>
            <a:chExt cx="981" cy="1105"/>
          </a:xfrm>
        </p:grpSpPr>
        <p:pic>
          <p:nvPicPr>
            <p:cNvPr descr="desktop_computer_stylized_medium" id="3690" name="Google Shape;3690;p4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691" name="Google Shape;3691;p4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3692" name="Google Shape;3692;p48"/>
          <p:cNvGrpSpPr/>
          <p:nvPr/>
        </p:nvGrpSpPr>
        <p:grpSpPr>
          <a:xfrm>
            <a:off x="8311532" y="1557608"/>
            <a:ext cx="377825" cy="576263"/>
            <a:chOff x="4140" y="429"/>
            <a:chExt cx="1425" cy="2396"/>
          </a:xfrm>
        </p:grpSpPr>
        <p:sp>
          <p:nvSpPr>
            <p:cNvPr id="3693" name="Google Shape;3693;p4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94" name="Google Shape;3694;p48"/>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95" name="Google Shape;3695;p4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96" name="Google Shape;3696;p4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697" name="Google Shape;3697;p48"/>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698" name="Google Shape;3698;p48"/>
            <p:cNvGrpSpPr/>
            <p:nvPr/>
          </p:nvGrpSpPr>
          <p:grpSpPr>
            <a:xfrm>
              <a:off x="4751" y="667"/>
              <a:ext cx="581" cy="145"/>
              <a:chOff x="616" y="2567"/>
              <a:chExt cx="725" cy="139"/>
            </a:xfrm>
          </p:grpSpPr>
          <p:sp>
            <p:nvSpPr>
              <p:cNvPr id="3699" name="Google Shape;3699;p48"/>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00" name="Google Shape;3700;p48"/>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701" name="Google Shape;3701;p48"/>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702" name="Google Shape;3702;p48"/>
            <p:cNvGrpSpPr/>
            <p:nvPr/>
          </p:nvGrpSpPr>
          <p:grpSpPr>
            <a:xfrm>
              <a:off x="4745" y="997"/>
              <a:ext cx="581" cy="132"/>
              <a:chOff x="611" y="2571"/>
              <a:chExt cx="725" cy="137"/>
            </a:xfrm>
          </p:grpSpPr>
          <p:sp>
            <p:nvSpPr>
              <p:cNvPr id="3703" name="Google Shape;3703;p48"/>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04" name="Google Shape;3704;p48"/>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705" name="Google Shape;3705;p48"/>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06" name="Google Shape;3706;p48"/>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707" name="Google Shape;3707;p48"/>
            <p:cNvGrpSpPr/>
            <p:nvPr/>
          </p:nvGrpSpPr>
          <p:grpSpPr>
            <a:xfrm>
              <a:off x="4733" y="1630"/>
              <a:ext cx="587" cy="146"/>
              <a:chOff x="611" y="2571"/>
              <a:chExt cx="731" cy="134"/>
            </a:xfrm>
          </p:grpSpPr>
          <p:sp>
            <p:nvSpPr>
              <p:cNvPr id="3708" name="Google Shape;3708;p48"/>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09" name="Google Shape;3709;p48"/>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710" name="Google Shape;3710;p4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711" name="Google Shape;3711;p48"/>
            <p:cNvGrpSpPr/>
            <p:nvPr/>
          </p:nvGrpSpPr>
          <p:grpSpPr>
            <a:xfrm>
              <a:off x="4739" y="1327"/>
              <a:ext cx="580" cy="139"/>
              <a:chOff x="614" y="2568"/>
              <a:chExt cx="723" cy="139"/>
            </a:xfrm>
          </p:grpSpPr>
          <p:sp>
            <p:nvSpPr>
              <p:cNvPr id="3712" name="Google Shape;3712;p48"/>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13" name="Google Shape;3713;p48"/>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714" name="Google Shape;3714;p48"/>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15" name="Google Shape;3715;p4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16" name="Google Shape;3716;p4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17" name="Google Shape;3717;p48"/>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18" name="Google Shape;3718;p4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19" name="Google Shape;3719;p48"/>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20" name="Google Shape;3720;p48"/>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21" name="Google Shape;3721;p48"/>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22" name="Google Shape;3722;p48"/>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723" name="Google Shape;3723;p48"/>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24" name="Google Shape;3724;p48"/>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3725" name="Google Shape;3725;p48"/>
          <p:cNvGrpSpPr/>
          <p:nvPr/>
        </p:nvGrpSpPr>
        <p:grpSpPr>
          <a:xfrm>
            <a:off x="9064007" y="1589358"/>
            <a:ext cx="377825" cy="576263"/>
            <a:chOff x="4140" y="429"/>
            <a:chExt cx="1425" cy="2396"/>
          </a:xfrm>
        </p:grpSpPr>
        <p:sp>
          <p:nvSpPr>
            <p:cNvPr id="3726" name="Google Shape;3726;p4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27" name="Google Shape;3727;p48"/>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28" name="Google Shape;3728;p4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29" name="Google Shape;3729;p4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30" name="Google Shape;3730;p48"/>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731" name="Google Shape;3731;p48"/>
            <p:cNvGrpSpPr/>
            <p:nvPr/>
          </p:nvGrpSpPr>
          <p:grpSpPr>
            <a:xfrm>
              <a:off x="4751" y="667"/>
              <a:ext cx="581" cy="145"/>
              <a:chOff x="616" y="2567"/>
              <a:chExt cx="725" cy="139"/>
            </a:xfrm>
          </p:grpSpPr>
          <p:sp>
            <p:nvSpPr>
              <p:cNvPr id="3732" name="Google Shape;3732;p48"/>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33" name="Google Shape;3733;p48"/>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734" name="Google Shape;3734;p48"/>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735" name="Google Shape;3735;p48"/>
            <p:cNvGrpSpPr/>
            <p:nvPr/>
          </p:nvGrpSpPr>
          <p:grpSpPr>
            <a:xfrm>
              <a:off x="4745" y="997"/>
              <a:ext cx="581" cy="132"/>
              <a:chOff x="611" y="2571"/>
              <a:chExt cx="725" cy="137"/>
            </a:xfrm>
          </p:grpSpPr>
          <p:sp>
            <p:nvSpPr>
              <p:cNvPr id="3736" name="Google Shape;3736;p48"/>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37" name="Google Shape;3737;p48"/>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738" name="Google Shape;3738;p48"/>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39" name="Google Shape;3739;p48"/>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740" name="Google Shape;3740;p48"/>
            <p:cNvGrpSpPr/>
            <p:nvPr/>
          </p:nvGrpSpPr>
          <p:grpSpPr>
            <a:xfrm>
              <a:off x="4733" y="1630"/>
              <a:ext cx="587" cy="146"/>
              <a:chOff x="611" y="2571"/>
              <a:chExt cx="731" cy="134"/>
            </a:xfrm>
          </p:grpSpPr>
          <p:sp>
            <p:nvSpPr>
              <p:cNvPr id="3741" name="Google Shape;3741;p48"/>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42" name="Google Shape;3742;p48"/>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743" name="Google Shape;3743;p4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744" name="Google Shape;3744;p48"/>
            <p:cNvGrpSpPr/>
            <p:nvPr/>
          </p:nvGrpSpPr>
          <p:grpSpPr>
            <a:xfrm>
              <a:off x="4739" y="1327"/>
              <a:ext cx="580" cy="139"/>
              <a:chOff x="614" y="2568"/>
              <a:chExt cx="723" cy="139"/>
            </a:xfrm>
          </p:grpSpPr>
          <p:sp>
            <p:nvSpPr>
              <p:cNvPr id="3745" name="Google Shape;3745;p48"/>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46" name="Google Shape;3746;p48"/>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747" name="Google Shape;3747;p48"/>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48" name="Google Shape;3748;p4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49" name="Google Shape;3749;p4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50" name="Google Shape;3750;p48"/>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51" name="Google Shape;3751;p4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52" name="Google Shape;3752;p48"/>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53" name="Google Shape;3753;p48"/>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54" name="Google Shape;3754;p48"/>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55" name="Google Shape;3755;p48"/>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756" name="Google Shape;3756;p48"/>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57" name="Google Shape;3757;p48"/>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3758" name="Google Shape;3758;p48"/>
          <p:cNvGrpSpPr/>
          <p:nvPr/>
        </p:nvGrpSpPr>
        <p:grpSpPr>
          <a:xfrm>
            <a:off x="9673607" y="1741758"/>
            <a:ext cx="377825" cy="576263"/>
            <a:chOff x="4140" y="429"/>
            <a:chExt cx="1425" cy="2396"/>
          </a:xfrm>
        </p:grpSpPr>
        <p:sp>
          <p:nvSpPr>
            <p:cNvPr id="3759" name="Google Shape;3759;p4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60" name="Google Shape;3760;p48"/>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61" name="Google Shape;3761;p4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62" name="Google Shape;3762;p4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63" name="Google Shape;3763;p48"/>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764" name="Google Shape;3764;p48"/>
            <p:cNvGrpSpPr/>
            <p:nvPr/>
          </p:nvGrpSpPr>
          <p:grpSpPr>
            <a:xfrm>
              <a:off x="4751" y="667"/>
              <a:ext cx="581" cy="145"/>
              <a:chOff x="616" y="2567"/>
              <a:chExt cx="725" cy="139"/>
            </a:xfrm>
          </p:grpSpPr>
          <p:sp>
            <p:nvSpPr>
              <p:cNvPr id="3765" name="Google Shape;3765;p48"/>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66" name="Google Shape;3766;p48"/>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767" name="Google Shape;3767;p48"/>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768" name="Google Shape;3768;p48"/>
            <p:cNvGrpSpPr/>
            <p:nvPr/>
          </p:nvGrpSpPr>
          <p:grpSpPr>
            <a:xfrm>
              <a:off x="4745" y="997"/>
              <a:ext cx="581" cy="132"/>
              <a:chOff x="611" y="2571"/>
              <a:chExt cx="725" cy="137"/>
            </a:xfrm>
          </p:grpSpPr>
          <p:sp>
            <p:nvSpPr>
              <p:cNvPr id="3769" name="Google Shape;3769;p48"/>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70" name="Google Shape;3770;p48"/>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771" name="Google Shape;3771;p48"/>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72" name="Google Shape;3772;p48"/>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773" name="Google Shape;3773;p48"/>
            <p:cNvGrpSpPr/>
            <p:nvPr/>
          </p:nvGrpSpPr>
          <p:grpSpPr>
            <a:xfrm>
              <a:off x="4733" y="1630"/>
              <a:ext cx="587" cy="146"/>
              <a:chOff x="611" y="2571"/>
              <a:chExt cx="731" cy="134"/>
            </a:xfrm>
          </p:grpSpPr>
          <p:sp>
            <p:nvSpPr>
              <p:cNvPr id="3774" name="Google Shape;3774;p48"/>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75" name="Google Shape;3775;p48"/>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776" name="Google Shape;3776;p4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777" name="Google Shape;3777;p48"/>
            <p:cNvGrpSpPr/>
            <p:nvPr/>
          </p:nvGrpSpPr>
          <p:grpSpPr>
            <a:xfrm>
              <a:off x="4739" y="1327"/>
              <a:ext cx="580" cy="139"/>
              <a:chOff x="614" y="2568"/>
              <a:chExt cx="723" cy="139"/>
            </a:xfrm>
          </p:grpSpPr>
          <p:sp>
            <p:nvSpPr>
              <p:cNvPr id="3778" name="Google Shape;3778;p48"/>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79" name="Google Shape;3779;p48"/>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780" name="Google Shape;3780;p48"/>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81" name="Google Shape;3781;p4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82" name="Google Shape;3782;p4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83" name="Google Shape;3783;p48"/>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84" name="Google Shape;3784;p4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85" name="Google Shape;3785;p48"/>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86" name="Google Shape;3786;p48"/>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87" name="Google Shape;3787;p48"/>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88" name="Google Shape;3788;p48"/>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789" name="Google Shape;3789;p48"/>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90" name="Google Shape;3790;p48"/>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3791" name="Google Shape;3791;p48"/>
          <p:cNvGrpSpPr/>
          <p:nvPr/>
        </p:nvGrpSpPr>
        <p:grpSpPr>
          <a:xfrm>
            <a:off x="10002220" y="2687908"/>
            <a:ext cx="377825" cy="576263"/>
            <a:chOff x="4140" y="429"/>
            <a:chExt cx="1425" cy="2396"/>
          </a:xfrm>
        </p:grpSpPr>
        <p:sp>
          <p:nvSpPr>
            <p:cNvPr id="3792" name="Google Shape;3792;p4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93" name="Google Shape;3793;p48"/>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94" name="Google Shape;3794;p4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95" name="Google Shape;3795;p4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96" name="Google Shape;3796;p48"/>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797" name="Google Shape;3797;p48"/>
            <p:cNvGrpSpPr/>
            <p:nvPr/>
          </p:nvGrpSpPr>
          <p:grpSpPr>
            <a:xfrm>
              <a:off x="4751" y="667"/>
              <a:ext cx="581" cy="145"/>
              <a:chOff x="616" y="2567"/>
              <a:chExt cx="725" cy="139"/>
            </a:xfrm>
          </p:grpSpPr>
          <p:sp>
            <p:nvSpPr>
              <p:cNvPr id="3798" name="Google Shape;3798;p48"/>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799" name="Google Shape;3799;p48"/>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800" name="Google Shape;3800;p48"/>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801" name="Google Shape;3801;p48"/>
            <p:cNvGrpSpPr/>
            <p:nvPr/>
          </p:nvGrpSpPr>
          <p:grpSpPr>
            <a:xfrm>
              <a:off x="4745" y="997"/>
              <a:ext cx="581" cy="132"/>
              <a:chOff x="611" y="2571"/>
              <a:chExt cx="725" cy="137"/>
            </a:xfrm>
          </p:grpSpPr>
          <p:sp>
            <p:nvSpPr>
              <p:cNvPr id="3802" name="Google Shape;3802;p48"/>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03" name="Google Shape;3803;p48"/>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804" name="Google Shape;3804;p48"/>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05" name="Google Shape;3805;p48"/>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806" name="Google Shape;3806;p48"/>
            <p:cNvGrpSpPr/>
            <p:nvPr/>
          </p:nvGrpSpPr>
          <p:grpSpPr>
            <a:xfrm>
              <a:off x="4733" y="1630"/>
              <a:ext cx="587" cy="146"/>
              <a:chOff x="611" y="2571"/>
              <a:chExt cx="731" cy="134"/>
            </a:xfrm>
          </p:grpSpPr>
          <p:sp>
            <p:nvSpPr>
              <p:cNvPr id="3807" name="Google Shape;3807;p48"/>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08" name="Google Shape;3808;p48"/>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809" name="Google Shape;3809;p4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810" name="Google Shape;3810;p48"/>
            <p:cNvGrpSpPr/>
            <p:nvPr/>
          </p:nvGrpSpPr>
          <p:grpSpPr>
            <a:xfrm>
              <a:off x="4739" y="1327"/>
              <a:ext cx="580" cy="139"/>
              <a:chOff x="614" y="2568"/>
              <a:chExt cx="723" cy="139"/>
            </a:xfrm>
          </p:grpSpPr>
          <p:sp>
            <p:nvSpPr>
              <p:cNvPr id="3811" name="Google Shape;3811;p48"/>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12" name="Google Shape;3812;p48"/>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813" name="Google Shape;3813;p48"/>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14" name="Google Shape;3814;p4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15" name="Google Shape;3815;p4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16" name="Google Shape;3816;p48"/>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17" name="Google Shape;3817;p4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18" name="Google Shape;3818;p48"/>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19" name="Google Shape;3819;p48"/>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20" name="Google Shape;3820;p48"/>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21" name="Google Shape;3821;p48"/>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822" name="Google Shape;3822;p48"/>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23" name="Google Shape;3823;p48"/>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3824" name="Google Shape;3824;p48"/>
          <p:cNvGrpSpPr/>
          <p:nvPr/>
        </p:nvGrpSpPr>
        <p:grpSpPr>
          <a:xfrm>
            <a:off x="8057532" y="5170758"/>
            <a:ext cx="525463" cy="557213"/>
            <a:chOff x="-44" y="1473"/>
            <a:chExt cx="981" cy="1105"/>
          </a:xfrm>
        </p:grpSpPr>
        <p:pic>
          <p:nvPicPr>
            <p:cNvPr descr="desktop_computer_stylized_medium" id="3825" name="Google Shape;3825;p4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826" name="Google Shape;3826;p4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3827" name="Google Shape;3827;p48"/>
          <p:cNvGrpSpPr/>
          <p:nvPr/>
        </p:nvGrpSpPr>
        <p:grpSpPr>
          <a:xfrm>
            <a:off x="8581407" y="5159646"/>
            <a:ext cx="525463" cy="557212"/>
            <a:chOff x="-44" y="1473"/>
            <a:chExt cx="981" cy="1105"/>
          </a:xfrm>
        </p:grpSpPr>
        <p:pic>
          <p:nvPicPr>
            <p:cNvPr descr="desktop_computer_stylized_medium" id="3828" name="Google Shape;3828;p4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829" name="Google Shape;3829;p4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3830" name="Google Shape;3830;p48"/>
          <p:cNvGrpSpPr/>
          <p:nvPr/>
        </p:nvGrpSpPr>
        <p:grpSpPr>
          <a:xfrm>
            <a:off x="8628916" y="4437217"/>
            <a:ext cx="889089" cy="466491"/>
            <a:chOff x="7493876" y="2774731"/>
            <a:chExt cx="1481958" cy="894622"/>
          </a:xfrm>
        </p:grpSpPr>
        <p:sp>
          <p:nvSpPr>
            <p:cNvPr id="3831" name="Google Shape;3831;p4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832" name="Google Shape;3832;p4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833" name="Google Shape;3833;p48"/>
            <p:cNvGrpSpPr/>
            <p:nvPr/>
          </p:nvGrpSpPr>
          <p:grpSpPr>
            <a:xfrm>
              <a:off x="7713663" y="2848339"/>
              <a:ext cx="1042107" cy="425543"/>
              <a:chOff x="7786941" y="2884917"/>
              <a:chExt cx="897649" cy="353919"/>
            </a:xfrm>
          </p:grpSpPr>
          <p:sp>
            <p:nvSpPr>
              <p:cNvPr id="3834" name="Google Shape;3834;p4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35" name="Google Shape;3835;p4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36" name="Google Shape;3836;p4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37" name="Google Shape;3837;p4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838" name="Google Shape;3838;p48"/>
          <p:cNvGrpSpPr/>
          <p:nvPr/>
        </p:nvGrpSpPr>
        <p:grpSpPr>
          <a:xfrm>
            <a:off x="8650253" y="3095664"/>
            <a:ext cx="889089" cy="466491"/>
            <a:chOff x="7493876" y="2774731"/>
            <a:chExt cx="1481958" cy="894622"/>
          </a:xfrm>
        </p:grpSpPr>
        <p:sp>
          <p:nvSpPr>
            <p:cNvPr id="3839" name="Google Shape;3839;p4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840" name="Google Shape;3840;p4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841" name="Google Shape;3841;p48"/>
            <p:cNvGrpSpPr/>
            <p:nvPr/>
          </p:nvGrpSpPr>
          <p:grpSpPr>
            <a:xfrm>
              <a:off x="7713663" y="2848339"/>
              <a:ext cx="1042107" cy="425543"/>
              <a:chOff x="7786941" y="2884917"/>
              <a:chExt cx="897649" cy="353919"/>
            </a:xfrm>
          </p:grpSpPr>
          <p:sp>
            <p:nvSpPr>
              <p:cNvPr id="3842" name="Google Shape;3842;p4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3" name="Google Shape;3843;p4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4" name="Google Shape;3844;p4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5" name="Google Shape;3845;p4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3846" name="Google Shape;3846;p48"/>
          <p:cNvSpPr/>
          <p:nvPr/>
        </p:nvSpPr>
        <p:spPr>
          <a:xfrm>
            <a:off x="855446" y="4042622"/>
            <a:ext cx="6361287" cy="230242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560"/>
              <a:buFont typeface="Noto Sans Symbols"/>
              <a:buNone/>
            </a:pPr>
            <a:r>
              <a:rPr i="1" lang="en-US" sz="2400">
                <a:solidFill>
                  <a:srgbClr val="CC0000"/>
                </a:solidFill>
                <a:latin typeface="Calibri"/>
                <a:ea typeface="Calibri"/>
                <a:cs typeface="Calibri"/>
                <a:sym typeface="Calibri"/>
              </a:rPr>
              <a:t>Performance:</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LAN utilization: .0015</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access link utilization = </a:t>
            </a:r>
            <a:r>
              <a:rPr lang="en-US" sz="2400">
                <a:solidFill>
                  <a:srgbClr val="C00000"/>
                </a:solidFill>
                <a:latin typeface="Calibri"/>
                <a:ea typeface="Calibri"/>
                <a:cs typeface="Calibri"/>
                <a:sym typeface="Calibri"/>
              </a:rPr>
              <a:t>.97</a:t>
            </a:r>
            <a:endParaRPr/>
          </a:p>
          <a:p>
            <a:pPr indent="-342900" lvl="0" marL="342900" marR="0" rtl="0" algn="l">
              <a:lnSpc>
                <a:spcPct val="85000"/>
              </a:lnSpc>
              <a:spcBef>
                <a:spcPts val="6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end-end delay  =  Internet delay +</a:t>
            </a:r>
            <a:endParaRPr/>
          </a:p>
          <a:p>
            <a:pPr indent="0" lvl="0" marL="0" marR="0" rtl="0" algn="l">
              <a:lnSpc>
                <a:spcPct val="85000"/>
              </a:lnSpc>
              <a:spcBef>
                <a:spcPts val="0"/>
              </a:spcBef>
              <a:spcAft>
                <a:spcPts val="0"/>
              </a:spcAft>
              <a:buNone/>
            </a:pPr>
            <a:r>
              <a:rPr lang="en-US" sz="2400">
                <a:solidFill>
                  <a:srgbClr val="000000"/>
                </a:solidFill>
                <a:latin typeface="Calibri"/>
                <a:ea typeface="Calibri"/>
                <a:cs typeface="Calibri"/>
                <a:sym typeface="Calibri"/>
              </a:rPr>
              <a:t>                                     access link delay + LAN delay </a:t>
            </a:r>
            <a:endParaRPr/>
          </a:p>
          <a:p>
            <a:pPr indent="0" lvl="0" marL="0" marR="0" rtl="0" algn="l">
              <a:lnSpc>
                <a:spcPct val="85000"/>
              </a:lnSpc>
              <a:spcBef>
                <a:spcPts val="600"/>
              </a:spcBef>
              <a:spcAft>
                <a:spcPts val="0"/>
              </a:spcAft>
              <a:buNone/>
            </a:pPr>
            <a:r>
              <a:rPr lang="en-US" sz="2400">
                <a:solidFill>
                  <a:srgbClr val="000000"/>
                </a:solidFill>
                <a:latin typeface="Calibri"/>
                <a:ea typeface="Calibri"/>
                <a:cs typeface="Calibri"/>
                <a:sym typeface="Calibri"/>
              </a:rPr>
              <a:t>                                 =  2 sec + minutes + usecs</a:t>
            </a:r>
            <a:endParaRPr sz="2400">
              <a:solidFill>
                <a:srgbClr val="000000"/>
              </a:solidFill>
              <a:latin typeface="Calibri"/>
              <a:ea typeface="Calibri"/>
              <a:cs typeface="Calibri"/>
              <a:sym typeface="Calibri"/>
            </a:endParaRPr>
          </a:p>
          <a:p>
            <a:pPr indent="-243840" lvl="0" marL="342900" marR="0" rtl="0" algn="l">
              <a:lnSpc>
                <a:spcPct val="85000"/>
              </a:lnSpc>
              <a:spcBef>
                <a:spcPts val="480"/>
              </a:spcBef>
              <a:spcAft>
                <a:spcPts val="0"/>
              </a:spcAft>
              <a:buClr>
                <a:srgbClr val="000099"/>
              </a:buClr>
              <a:buSzPts val="1560"/>
              <a:buFont typeface="Noto Sans Symbols"/>
              <a:buNone/>
            </a:pPr>
            <a:r>
              <a:t/>
            </a:r>
            <a:endParaRPr sz="2400">
              <a:solidFill>
                <a:srgbClr val="000000"/>
              </a:solidFill>
              <a:latin typeface="Calibri"/>
              <a:ea typeface="Calibri"/>
              <a:cs typeface="Calibri"/>
              <a:sym typeface="Calibri"/>
            </a:endParaRPr>
          </a:p>
        </p:txBody>
      </p:sp>
      <p:sp>
        <p:nvSpPr>
          <p:cNvPr id="3847" name="Google Shape;3847;p48"/>
          <p:cNvSpPr/>
          <p:nvPr/>
        </p:nvSpPr>
        <p:spPr>
          <a:xfrm>
            <a:off x="870724" y="1362307"/>
            <a:ext cx="6123957" cy="2519263"/>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i="1" lang="en-US" sz="2800">
                <a:solidFill>
                  <a:srgbClr val="CC0000"/>
                </a:solidFill>
                <a:latin typeface="Calibri"/>
                <a:ea typeface="Calibri"/>
                <a:cs typeface="Calibri"/>
                <a:sym typeface="Calibri"/>
              </a:rPr>
              <a:t>Scenario:</a:t>
            </a:r>
            <a:endParaRPr/>
          </a:p>
          <a:p>
            <a:pPr indent="-342900" lvl="0" marL="342900" marR="0" rtl="0" algn="l">
              <a:lnSpc>
                <a:spcPct val="85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access link rate: 1.54 Mbps</a:t>
            </a:r>
            <a:endParaRPr/>
          </a:p>
          <a:p>
            <a:pPr indent="-342900" lvl="0" marL="342900" marR="0" rtl="0" algn="l">
              <a:lnSpc>
                <a:spcPct val="85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RTT from institutional router to server: 2 sec</a:t>
            </a:r>
            <a:endParaRPr/>
          </a:p>
          <a:p>
            <a:pPr indent="-342900" lvl="0" marL="342900" marR="0" rtl="0" algn="l">
              <a:lnSpc>
                <a:spcPct val="85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Web object size: 100K bits</a:t>
            </a:r>
            <a:endParaRPr/>
          </a:p>
          <a:p>
            <a:pPr indent="-342900" lvl="0" marL="342900" marR="0" rtl="0" algn="l">
              <a:lnSpc>
                <a:spcPct val="85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Average request rate from browsers to origin servers: 15/sec</a:t>
            </a:r>
            <a:endParaRPr/>
          </a:p>
          <a:p>
            <a:pPr indent="-342900" lvl="1" marL="800100" marR="0" rtl="0" algn="l">
              <a:lnSpc>
                <a:spcPct val="85000"/>
              </a:lnSpc>
              <a:spcBef>
                <a:spcPts val="40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average data rate to browsers: 1.50 Mbps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6"/>
                                        </p:tgtEl>
                                        <p:attrNameLst>
                                          <p:attrName>style.visibility</p:attrName>
                                        </p:attrNameLst>
                                      </p:cBhvr>
                                      <p:to>
                                        <p:strVal val="visible"/>
                                      </p:to>
                                    </p:set>
                                    <p:animEffect filter="fade" transition="in">
                                      <p:cBhvr>
                                        <p:cTn dur="500"/>
                                        <p:tgtEl>
                                          <p:spTgt spid="38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4"/>
                                        </p:tgtEl>
                                        <p:attrNameLst>
                                          <p:attrName>style.visibility</p:attrName>
                                        </p:attrNameLst>
                                      </p:cBhvr>
                                      <p:to>
                                        <p:strVal val="visible"/>
                                      </p:to>
                                    </p:set>
                                    <p:animEffect filter="fade" transition="in">
                                      <p:cBhvr>
                                        <p:cTn dur="500"/>
                                        <p:tgtEl>
                                          <p:spTgt spid="3654"/>
                                        </p:tgtEl>
                                      </p:cBhvr>
                                    </p:animEffect>
                                  </p:childTnLst>
                                </p:cTn>
                              </p:par>
                              <p:par>
                                <p:cTn fill="hold" nodeType="withEffect" presetClass="entr" presetID="10" presetSubtype="0">
                                  <p:stCondLst>
                                    <p:cond delay="0"/>
                                  </p:stCondLst>
                                  <p:childTnLst>
                                    <p:set>
                                      <p:cBhvr>
                                        <p:cTn dur="1" fill="hold">
                                          <p:stCondLst>
                                            <p:cond delay="0"/>
                                          </p:stCondLst>
                                        </p:cTn>
                                        <p:tgtEl>
                                          <p:spTgt spid="3655"/>
                                        </p:tgtEl>
                                        <p:attrNameLst>
                                          <p:attrName>style.visibility</p:attrName>
                                        </p:attrNameLst>
                                      </p:cBhvr>
                                      <p:to>
                                        <p:strVal val="visible"/>
                                      </p:to>
                                    </p:set>
                                    <p:animEffect filter="fade" transition="in">
                                      <p:cBhvr>
                                        <p:cTn dur="500"/>
                                        <p:tgtEl>
                                          <p:spTgt spid="36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2" name="Shape 3852"/>
        <p:cNvGrpSpPr/>
        <p:nvPr/>
      </p:nvGrpSpPr>
      <p:grpSpPr>
        <a:xfrm>
          <a:off x="0" y="0"/>
          <a:ext cx="0" cy="0"/>
          <a:chOff x="0" y="0"/>
          <a:chExt cx="0" cy="0"/>
        </a:xfrm>
      </p:grpSpPr>
      <p:sp>
        <p:nvSpPr>
          <p:cNvPr id="3853" name="Google Shape;3853;p49"/>
          <p:cNvSpPr txBox="1"/>
          <p:nvPr>
            <p:ph type="title"/>
          </p:nvPr>
        </p:nvSpPr>
        <p:spPr>
          <a:xfrm>
            <a:off x="798691" y="37987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Caching </a:t>
            </a:r>
            <a:r>
              <a:rPr lang="en-US"/>
              <a:t>Ex</a:t>
            </a:r>
            <a:r>
              <a:rPr lang="en-US" sz="4400"/>
              <a:t>ample B: buy a faster access link</a:t>
            </a:r>
            <a:endParaRPr sz="4400"/>
          </a:p>
        </p:txBody>
      </p:sp>
      <p:sp>
        <p:nvSpPr>
          <p:cNvPr id="3854" name="Google Shape;3854;p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cxnSp>
        <p:nvCxnSpPr>
          <p:cNvPr id="3855" name="Google Shape;3855;p49"/>
          <p:cNvCxnSpPr/>
          <p:nvPr/>
        </p:nvCxnSpPr>
        <p:spPr>
          <a:xfrm>
            <a:off x="7744795" y="2487883"/>
            <a:ext cx="285750" cy="114300"/>
          </a:xfrm>
          <a:prstGeom prst="straightConnector1">
            <a:avLst/>
          </a:prstGeom>
          <a:noFill/>
          <a:ln cap="flat" cmpd="sng" w="28575">
            <a:solidFill>
              <a:srgbClr val="3333CC"/>
            </a:solidFill>
            <a:prstDash val="solid"/>
            <a:round/>
            <a:headEnd len="med" w="med" type="none"/>
            <a:tailEnd len="med" w="med" type="none"/>
          </a:ln>
        </p:spPr>
      </p:cxnSp>
      <p:sp>
        <p:nvSpPr>
          <p:cNvPr id="3856" name="Google Shape;3856;p49"/>
          <p:cNvSpPr txBox="1"/>
          <p:nvPr/>
        </p:nvSpPr>
        <p:spPr>
          <a:xfrm>
            <a:off x="10173670" y="1902096"/>
            <a:ext cx="93345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origin</a:t>
            </a:r>
            <a:endParaRPr/>
          </a:p>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servers</a:t>
            </a:r>
            <a:endParaRPr/>
          </a:p>
        </p:txBody>
      </p:sp>
      <p:cxnSp>
        <p:nvCxnSpPr>
          <p:cNvPr id="3857" name="Google Shape;3857;p49"/>
          <p:cNvCxnSpPr/>
          <p:nvPr/>
        </p:nvCxnSpPr>
        <p:spPr>
          <a:xfrm>
            <a:off x="8554420" y="2106883"/>
            <a:ext cx="66675" cy="276225"/>
          </a:xfrm>
          <a:prstGeom prst="straightConnector1">
            <a:avLst/>
          </a:prstGeom>
          <a:noFill/>
          <a:ln cap="flat" cmpd="sng" w="28575">
            <a:solidFill>
              <a:srgbClr val="3333CC"/>
            </a:solidFill>
            <a:prstDash val="solid"/>
            <a:round/>
            <a:headEnd len="med" w="med" type="none"/>
            <a:tailEnd len="med" w="med" type="none"/>
          </a:ln>
        </p:spPr>
      </p:cxnSp>
      <p:cxnSp>
        <p:nvCxnSpPr>
          <p:cNvPr id="3858" name="Google Shape;3858;p49"/>
          <p:cNvCxnSpPr/>
          <p:nvPr/>
        </p:nvCxnSpPr>
        <p:spPr>
          <a:xfrm flipH="1">
            <a:off x="9183070" y="2144983"/>
            <a:ext cx="9525" cy="238125"/>
          </a:xfrm>
          <a:prstGeom prst="straightConnector1">
            <a:avLst/>
          </a:prstGeom>
          <a:noFill/>
          <a:ln cap="flat" cmpd="sng" w="28575">
            <a:solidFill>
              <a:srgbClr val="3333CC"/>
            </a:solidFill>
            <a:prstDash val="solid"/>
            <a:round/>
            <a:headEnd len="med" w="med" type="none"/>
            <a:tailEnd len="med" w="med" type="none"/>
          </a:ln>
        </p:spPr>
      </p:cxnSp>
      <p:cxnSp>
        <p:nvCxnSpPr>
          <p:cNvPr id="3859" name="Google Shape;3859;p49"/>
          <p:cNvCxnSpPr/>
          <p:nvPr/>
        </p:nvCxnSpPr>
        <p:spPr>
          <a:xfrm flipH="1">
            <a:off x="9640270" y="2306908"/>
            <a:ext cx="133350" cy="209550"/>
          </a:xfrm>
          <a:prstGeom prst="straightConnector1">
            <a:avLst/>
          </a:prstGeom>
          <a:noFill/>
          <a:ln cap="flat" cmpd="sng" w="28575">
            <a:solidFill>
              <a:srgbClr val="3333CC"/>
            </a:solidFill>
            <a:prstDash val="solid"/>
            <a:round/>
            <a:headEnd len="med" w="med" type="none"/>
            <a:tailEnd len="med" w="med" type="none"/>
          </a:ln>
        </p:spPr>
      </p:cxnSp>
      <p:cxnSp>
        <p:nvCxnSpPr>
          <p:cNvPr id="3860" name="Google Shape;3860;p49"/>
          <p:cNvCxnSpPr/>
          <p:nvPr/>
        </p:nvCxnSpPr>
        <p:spPr>
          <a:xfrm rot="10800000">
            <a:off x="9802195" y="3068908"/>
            <a:ext cx="247650" cy="0"/>
          </a:xfrm>
          <a:prstGeom prst="straightConnector1">
            <a:avLst/>
          </a:prstGeom>
          <a:noFill/>
          <a:ln cap="flat" cmpd="sng" w="28575">
            <a:solidFill>
              <a:srgbClr val="3333CC"/>
            </a:solidFill>
            <a:prstDash val="solid"/>
            <a:round/>
            <a:headEnd len="med" w="med" type="none"/>
            <a:tailEnd len="med" w="med" type="none"/>
          </a:ln>
        </p:spPr>
      </p:cxnSp>
      <p:sp>
        <p:nvSpPr>
          <p:cNvPr id="3861" name="Google Shape;3861;p49"/>
          <p:cNvSpPr/>
          <p:nvPr/>
        </p:nvSpPr>
        <p:spPr>
          <a:xfrm>
            <a:off x="7819407" y="2111064"/>
            <a:ext cx="2174875" cy="1581150"/>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CC"/>
              </a:buClr>
              <a:buSzPts val="1700"/>
              <a:buFont typeface="Arial"/>
              <a:buNone/>
            </a:pPr>
            <a:r>
              <a:t/>
            </a:r>
            <a:endParaRPr sz="2000">
              <a:solidFill>
                <a:srgbClr val="000000"/>
              </a:solidFill>
              <a:latin typeface="Arial"/>
              <a:ea typeface="Arial"/>
              <a:cs typeface="Arial"/>
              <a:sym typeface="Arial"/>
            </a:endParaRPr>
          </a:p>
        </p:txBody>
      </p:sp>
      <p:sp>
        <p:nvSpPr>
          <p:cNvPr id="3862" name="Google Shape;3862;p49"/>
          <p:cNvSpPr txBox="1"/>
          <p:nvPr/>
        </p:nvSpPr>
        <p:spPr>
          <a:xfrm>
            <a:off x="8535370" y="2432321"/>
            <a:ext cx="931862"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public</a:t>
            </a:r>
            <a:endParaRPr/>
          </a:p>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 Internet</a:t>
            </a:r>
            <a:endParaRPr b="0" i="0" sz="2400" u="none" cap="none" strike="noStrike">
              <a:solidFill>
                <a:srgbClr val="CC0000"/>
              </a:solidFill>
              <a:latin typeface="Arial"/>
              <a:ea typeface="Arial"/>
              <a:cs typeface="Arial"/>
              <a:sym typeface="Arial"/>
            </a:endParaRPr>
          </a:p>
        </p:txBody>
      </p:sp>
      <p:sp>
        <p:nvSpPr>
          <p:cNvPr id="3863" name="Google Shape;3863;p49"/>
          <p:cNvSpPr/>
          <p:nvPr/>
        </p:nvSpPr>
        <p:spPr>
          <a:xfrm>
            <a:off x="7424120" y="4516708"/>
            <a:ext cx="2965450" cy="1390650"/>
          </a:xfrm>
          <a:custGeom>
            <a:rect b="b" l="l" r="r" t="t"/>
            <a:pathLst>
              <a:path extrusionOk="0" h="876" w="1868">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CC"/>
              </a:buClr>
              <a:buSzPts val="1700"/>
              <a:buFont typeface="Arial"/>
              <a:buNone/>
            </a:pPr>
            <a:r>
              <a:t/>
            </a:r>
            <a:endParaRPr sz="2000">
              <a:solidFill>
                <a:srgbClr val="000000"/>
              </a:solidFill>
              <a:latin typeface="Arial"/>
              <a:ea typeface="Arial"/>
              <a:cs typeface="Arial"/>
              <a:sym typeface="Arial"/>
            </a:endParaRPr>
          </a:p>
        </p:txBody>
      </p:sp>
      <p:cxnSp>
        <p:nvCxnSpPr>
          <p:cNvPr id="3864" name="Google Shape;3864;p49"/>
          <p:cNvCxnSpPr/>
          <p:nvPr/>
        </p:nvCxnSpPr>
        <p:spPr>
          <a:xfrm flipH="1">
            <a:off x="7859095" y="4780233"/>
            <a:ext cx="855662" cy="431800"/>
          </a:xfrm>
          <a:prstGeom prst="straightConnector1">
            <a:avLst/>
          </a:prstGeom>
          <a:noFill/>
          <a:ln cap="flat" cmpd="sng" w="28575">
            <a:solidFill>
              <a:srgbClr val="000000"/>
            </a:solidFill>
            <a:prstDash val="solid"/>
            <a:round/>
            <a:headEnd len="med" w="med" type="none"/>
            <a:tailEnd len="med" w="med" type="none"/>
          </a:ln>
        </p:spPr>
      </p:cxnSp>
      <p:cxnSp>
        <p:nvCxnSpPr>
          <p:cNvPr id="3865" name="Google Shape;3865;p49"/>
          <p:cNvCxnSpPr/>
          <p:nvPr/>
        </p:nvCxnSpPr>
        <p:spPr>
          <a:xfrm flipH="1">
            <a:off x="8368682" y="4827858"/>
            <a:ext cx="563563" cy="393700"/>
          </a:xfrm>
          <a:prstGeom prst="straightConnector1">
            <a:avLst/>
          </a:prstGeom>
          <a:noFill/>
          <a:ln cap="flat" cmpd="sng" w="28575">
            <a:solidFill>
              <a:srgbClr val="000000"/>
            </a:solidFill>
            <a:prstDash val="solid"/>
            <a:round/>
            <a:headEnd len="med" w="med" type="none"/>
            <a:tailEnd len="med" w="med" type="none"/>
          </a:ln>
        </p:spPr>
      </p:cxnSp>
      <p:cxnSp>
        <p:nvCxnSpPr>
          <p:cNvPr id="3866" name="Google Shape;3866;p49"/>
          <p:cNvCxnSpPr/>
          <p:nvPr/>
        </p:nvCxnSpPr>
        <p:spPr>
          <a:xfrm flipH="1">
            <a:off x="8906845" y="4834208"/>
            <a:ext cx="149225" cy="382588"/>
          </a:xfrm>
          <a:prstGeom prst="straightConnector1">
            <a:avLst/>
          </a:prstGeom>
          <a:noFill/>
          <a:ln cap="flat" cmpd="sng" w="28575">
            <a:solidFill>
              <a:srgbClr val="000000"/>
            </a:solidFill>
            <a:prstDash val="solid"/>
            <a:round/>
            <a:headEnd len="med" w="med" type="none"/>
            <a:tailEnd len="med" w="med" type="none"/>
          </a:ln>
        </p:spPr>
      </p:cxnSp>
      <p:cxnSp>
        <p:nvCxnSpPr>
          <p:cNvPr id="3867" name="Google Shape;3867;p49"/>
          <p:cNvCxnSpPr/>
          <p:nvPr/>
        </p:nvCxnSpPr>
        <p:spPr>
          <a:xfrm>
            <a:off x="9068770" y="3545158"/>
            <a:ext cx="0" cy="1062038"/>
          </a:xfrm>
          <a:prstGeom prst="straightConnector1">
            <a:avLst/>
          </a:prstGeom>
          <a:noFill/>
          <a:ln cap="flat" cmpd="sng" w="28575">
            <a:solidFill>
              <a:srgbClr val="000000"/>
            </a:solidFill>
            <a:prstDash val="solid"/>
            <a:round/>
            <a:headEnd len="med" w="med" type="none"/>
            <a:tailEnd len="med" w="med" type="none"/>
          </a:ln>
        </p:spPr>
      </p:cxnSp>
      <p:sp>
        <p:nvSpPr>
          <p:cNvPr id="3868" name="Google Shape;3868;p49"/>
          <p:cNvSpPr txBox="1"/>
          <p:nvPr/>
        </p:nvSpPr>
        <p:spPr>
          <a:xfrm>
            <a:off x="7436820" y="4357958"/>
            <a:ext cx="1198562"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institutional</a:t>
            </a:r>
            <a:endParaRPr/>
          </a:p>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network</a:t>
            </a:r>
            <a:endParaRPr b="0" i="0" sz="2400" u="none" cap="none" strike="noStrike">
              <a:solidFill>
                <a:srgbClr val="CC0000"/>
              </a:solidFill>
              <a:latin typeface="Arial"/>
              <a:ea typeface="Arial"/>
              <a:cs typeface="Arial"/>
              <a:sym typeface="Arial"/>
            </a:endParaRPr>
          </a:p>
        </p:txBody>
      </p:sp>
      <p:sp>
        <p:nvSpPr>
          <p:cNvPr id="3869" name="Google Shape;3869;p49"/>
          <p:cNvSpPr txBox="1"/>
          <p:nvPr/>
        </p:nvSpPr>
        <p:spPr>
          <a:xfrm>
            <a:off x="9445007" y="4738958"/>
            <a:ext cx="129063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 Gbps LAN</a:t>
            </a:r>
            <a:endParaRPr b="0" i="0" sz="2400" u="none" cap="none" strike="noStrike">
              <a:solidFill>
                <a:srgbClr val="3333CC"/>
              </a:solidFill>
              <a:latin typeface="Arial"/>
              <a:ea typeface="Arial"/>
              <a:cs typeface="Arial"/>
              <a:sym typeface="Arial"/>
            </a:endParaRPr>
          </a:p>
        </p:txBody>
      </p:sp>
      <p:sp>
        <p:nvSpPr>
          <p:cNvPr id="3870" name="Google Shape;3870;p49"/>
          <p:cNvSpPr txBox="1"/>
          <p:nvPr/>
        </p:nvSpPr>
        <p:spPr>
          <a:xfrm>
            <a:off x="9070357" y="3734071"/>
            <a:ext cx="1190625"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1.54 Mbps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access link</a:t>
            </a:r>
            <a:endParaRPr b="0" i="0" sz="2400" u="none" cap="none" strike="noStrike">
              <a:solidFill>
                <a:srgbClr val="3333CC"/>
              </a:solidFill>
              <a:latin typeface="Arial"/>
              <a:ea typeface="Arial"/>
              <a:cs typeface="Arial"/>
              <a:sym typeface="Arial"/>
            </a:endParaRPr>
          </a:p>
        </p:txBody>
      </p:sp>
      <p:grpSp>
        <p:nvGrpSpPr>
          <p:cNvPr id="3871" name="Google Shape;3871;p49"/>
          <p:cNvGrpSpPr/>
          <p:nvPr/>
        </p:nvGrpSpPr>
        <p:grpSpPr>
          <a:xfrm>
            <a:off x="7397132" y="2035446"/>
            <a:ext cx="377825" cy="576262"/>
            <a:chOff x="4140" y="429"/>
            <a:chExt cx="1425" cy="2396"/>
          </a:xfrm>
        </p:grpSpPr>
        <p:sp>
          <p:nvSpPr>
            <p:cNvPr id="3872" name="Google Shape;3872;p4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73" name="Google Shape;3873;p49"/>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74" name="Google Shape;3874;p4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75" name="Google Shape;3875;p4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76" name="Google Shape;3876;p49"/>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877" name="Google Shape;3877;p49"/>
            <p:cNvGrpSpPr/>
            <p:nvPr/>
          </p:nvGrpSpPr>
          <p:grpSpPr>
            <a:xfrm>
              <a:off x="4751" y="667"/>
              <a:ext cx="581" cy="145"/>
              <a:chOff x="616" y="2567"/>
              <a:chExt cx="725" cy="139"/>
            </a:xfrm>
          </p:grpSpPr>
          <p:sp>
            <p:nvSpPr>
              <p:cNvPr id="3878" name="Google Shape;3878;p49"/>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79" name="Google Shape;3879;p49"/>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880" name="Google Shape;3880;p49"/>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881" name="Google Shape;3881;p49"/>
            <p:cNvGrpSpPr/>
            <p:nvPr/>
          </p:nvGrpSpPr>
          <p:grpSpPr>
            <a:xfrm>
              <a:off x="4745" y="997"/>
              <a:ext cx="581" cy="132"/>
              <a:chOff x="611" y="2571"/>
              <a:chExt cx="725" cy="137"/>
            </a:xfrm>
          </p:grpSpPr>
          <p:sp>
            <p:nvSpPr>
              <p:cNvPr id="3882" name="Google Shape;3882;p49"/>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83" name="Google Shape;3883;p49"/>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884" name="Google Shape;3884;p49"/>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85" name="Google Shape;3885;p49"/>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886" name="Google Shape;3886;p49"/>
            <p:cNvGrpSpPr/>
            <p:nvPr/>
          </p:nvGrpSpPr>
          <p:grpSpPr>
            <a:xfrm>
              <a:off x="4733" y="1630"/>
              <a:ext cx="587" cy="146"/>
              <a:chOff x="611" y="2571"/>
              <a:chExt cx="731" cy="134"/>
            </a:xfrm>
          </p:grpSpPr>
          <p:sp>
            <p:nvSpPr>
              <p:cNvPr id="3887" name="Google Shape;3887;p49"/>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88" name="Google Shape;3888;p49"/>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889" name="Google Shape;3889;p4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890" name="Google Shape;3890;p49"/>
            <p:cNvGrpSpPr/>
            <p:nvPr/>
          </p:nvGrpSpPr>
          <p:grpSpPr>
            <a:xfrm>
              <a:off x="4739" y="1327"/>
              <a:ext cx="580" cy="139"/>
              <a:chOff x="614" y="2568"/>
              <a:chExt cx="723" cy="139"/>
            </a:xfrm>
          </p:grpSpPr>
          <p:sp>
            <p:nvSpPr>
              <p:cNvPr id="3891" name="Google Shape;3891;p49"/>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92" name="Google Shape;3892;p49"/>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893" name="Google Shape;3893;p49"/>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94" name="Google Shape;3894;p4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95" name="Google Shape;3895;p4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96" name="Google Shape;3896;p49"/>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97" name="Google Shape;3897;p4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98" name="Google Shape;3898;p49"/>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899" name="Google Shape;3899;p49"/>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00" name="Google Shape;3900;p49"/>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01" name="Google Shape;3901;p49"/>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902" name="Google Shape;3902;p49"/>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03" name="Google Shape;3903;p49"/>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3904" name="Google Shape;3904;p49"/>
          <p:cNvGrpSpPr/>
          <p:nvPr/>
        </p:nvGrpSpPr>
        <p:grpSpPr>
          <a:xfrm>
            <a:off x="7546357" y="5148533"/>
            <a:ext cx="525463" cy="557213"/>
            <a:chOff x="-44" y="1473"/>
            <a:chExt cx="981" cy="1105"/>
          </a:xfrm>
        </p:grpSpPr>
        <p:pic>
          <p:nvPicPr>
            <p:cNvPr descr="desktop_computer_stylized_medium" id="3905" name="Google Shape;3905;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906" name="Google Shape;3906;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3907" name="Google Shape;3907;p49"/>
          <p:cNvGrpSpPr/>
          <p:nvPr/>
        </p:nvGrpSpPr>
        <p:grpSpPr>
          <a:xfrm>
            <a:off x="8311532" y="1557608"/>
            <a:ext cx="377825" cy="576263"/>
            <a:chOff x="4140" y="429"/>
            <a:chExt cx="1425" cy="2396"/>
          </a:xfrm>
        </p:grpSpPr>
        <p:sp>
          <p:nvSpPr>
            <p:cNvPr id="3908" name="Google Shape;3908;p4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09" name="Google Shape;3909;p49"/>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10" name="Google Shape;3910;p4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11" name="Google Shape;3911;p4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12" name="Google Shape;3912;p49"/>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913" name="Google Shape;3913;p49"/>
            <p:cNvGrpSpPr/>
            <p:nvPr/>
          </p:nvGrpSpPr>
          <p:grpSpPr>
            <a:xfrm>
              <a:off x="4751" y="667"/>
              <a:ext cx="581" cy="145"/>
              <a:chOff x="616" y="2567"/>
              <a:chExt cx="725" cy="139"/>
            </a:xfrm>
          </p:grpSpPr>
          <p:sp>
            <p:nvSpPr>
              <p:cNvPr id="3914" name="Google Shape;3914;p49"/>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15" name="Google Shape;3915;p49"/>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916" name="Google Shape;3916;p49"/>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917" name="Google Shape;3917;p49"/>
            <p:cNvGrpSpPr/>
            <p:nvPr/>
          </p:nvGrpSpPr>
          <p:grpSpPr>
            <a:xfrm>
              <a:off x="4745" y="997"/>
              <a:ext cx="581" cy="132"/>
              <a:chOff x="611" y="2571"/>
              <a:chExt cx="725" cy="137"/>
            </a:xfrm>
          </p:grpSpPr>
          <p:sp>
            <p:nvSpPr>
              <p:cNvPr id="3918" name="Google Shape;3918;p49"/>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19" name="Google Shape;3919;p49"/>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920" name="Google Shape;3920;p49"/>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21" name="Google Shape;3921;p49"/>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922" name="Google Shape;3922;p49"/>
            <p:cNvGrpSpPr/>
            <p:nvPr/>
          </p:nvGrpSpPr>
          <p:grpSpPr>
            <a:xfrm>
              <a:off x="4733" y="1630"/>
              <a:ext cx="587" cy="146"/>
              <a:chOff x="611" y="2571"/>
              <a:chExt cx="731" cy="134"/>
            </a:xfrm>
          </p:grpSpPr>
          <p:sp>
            <p:nvSpPr>
              <p:cNvPr id="3923" name="Google Shape;3923;p49"/>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24" name="Google Shape;3924;p49"/>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925" name="Google Shape;3925;p4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926" name="Google Shape;3926;p49"/>
            <p:cNvGrpSpPr/>
            <p:nvPr/>
          </p:nvGrpSpPr>
          <p:grpSpPr>
            <a:xfrm>
              <a:off x="4739" y="1327"/>
              <a:ext cx="580" cy="139"/>
              <a:chOff x="614" y="2568"/>
              <a:chExt cx="723" cy="139"/>
            </a:xfrm>
          </p:grpSpPr>
          <p:sp>
            <p:nvSpPr>
              <p:cNvPr id="3927" name="Google Shape;3927;p49"/>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28" name="Google Shape;3928;p49"/>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929" name="Google Shape;3929;p49"/>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30" name="Google Shape;3930;p4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31" name="Google Shape;3931;p4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32" name="Google Shape;3932;p49"/>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33" name="Google Shape;3933;p4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34" name="Google Shape;3934;p49"/>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35" name="Google Shape;3935;p49"/>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36" name="Google Shape;3936;p49"/>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37" name="Google Shape;3937;p49"/>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938" name="Google Shape;3938;p49"/>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39" name="Google Shape;3939;p49"/>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3940" name="Google Shape;3940;p49"/>
          <p:cNvGrpSpPr/>
          <p:nvPr/>
        </p:nvGrpSpPr>
        <p:grpSpPr>
          <a:xfrm>
            <a:off x="9064007" y="1589358"/>
            <a:ext cx="377825" cy="576263"/>
            <a:chOff x="4140" y="429"/>
            <a:chExt cx="1425" cy="2396"/>
          </a:xfrm>
        </p:grpSpPr>
        <p:sp>
          <p:nvSpPr>
            <p:cNvPr id="3941" name="Google Shape;3941;p4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42" name="Google Shape;3942;p49"/>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43" name="Google Shape;3943;p4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44" name="Google Shape;3944;p4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45" name="Google Shape;3945;p49"/>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946" name="Google Shape;3946;p49"/>
            <p:cNvGrpSpPr/>
            <p:nvPr/>
          </p:nvGrpSpPr>
          <p:grpSpPr>
            <a:xfrm>
              <a:off x="4751" y="667"/>
              <a:ext cx="581" cy="145"/>
              <a:chOff x="616" y="2567"/>
              <a:chExt cx="725" cy="139"/>
            </a:xfrm>
          </p:grpSpPr>
          <p:sp>
            <p:nvSpPr>
              <p:cNvPr id="3947" name="Google Shape;3947;p49"/>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48" name="Google Shape;3948;p49"/>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949" name="Google Shape;3949;p49"/>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950" name="Google Shape;3950;p49"/>
            <p:cNvGrpSpPr/>
            <p:nvPr/>
          </p:nvGrpSpPr>
          <p:grpSpPr>
            <a:xfrm>
              <a:off x="4745" y="997"/>
              <a:ext cx="581" cy="132"/>
              <a:chOff x="611" y="2571"/>
              <a:chExt cx="725" cy="137"/>
            </a:xfrm>
          </p:grpSpPr>
          <p:sp>
            <p:nvSpPr>
              <p:cNvPr id="3951" name="Google Shape;3951;p49"/>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52" name="Google Shape;3952;p49"/>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953" name="Google Shape;3953;p49"/>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54" name="Google Shape;3954;p49"/>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955" name="Google Shape;3955;p49"/>
            <p:cNvGrpSpPr/>
            <p:nvPr/>
          </p:nvGrpSpPr>
          <p:grpSpPr>
            <a:xfrm>
              <a:off x="4733" y="1630"/>
              <a:ext cx="587" cy="146"/>
              <a:chOff x="611" y="2571"/>
              <a:chExt cx="731" cy="134"/>
            </a:xfrm>
          </p:grpSpPr>
          <p:sp>
            <p:nvSpPr>
              <p:cNvPr id="3956" name="Google Shape;3956;p49"/>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57" name="Google Shape;3957;p49"/>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958" name="Google Shape;3958;p4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959" name="Google Shape;3959;p49"/>
            <p:cNvGrpSpPr/>
            <p:nvPr/>
          </p:nvGrpSpPr>
          <p:grpSpPr>
            <a:xfrm>
              <a:off x="4739" y="1327"/>
              <a:ext cx="580" cy="139"/>
              <a:chOff x="614" y="2568"/>
              <a:chExt cx="723" cy="139"/>
            </a:xfrm>
          </p:grpSpPr>
          <p:sp>
            <p:nvSpPr>
              <p:cNvPr id="3960" name="Google Shape;3960;p49"/>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61" name="Google Shape;3961;p49"/>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962" name="Google Shape;3962;p49"/>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63" name="Google Shape;3963;p4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64" name="Google Shape;3964;p4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65" name="Google Shape;3965;p49"/>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66" name="Google Shape;3966;p4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67" name="Google Shape;3967;p49"/>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68" name="Google Shape;3968;p49"/>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69" name="Google Shape;3969;p49"/>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70" name="Google Shape;3970;p49"/>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971" name="Google Shape;3971;p49"/>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72" name="Google Shape;3972;p49"/>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3973" name="Google Shape;3973;p49"/>
          <p:cNvGrpSpPr/>
          <p:nvPr/>
        </p:nvGrpSpPr>
        <p:grpSpPr>
          <a:xfrm>
            <a:off x="9673607" y="1741758"/>
            <a:ext cx="377825" cy="576263"/>
            <a:chOff x="4140" y="429"/>
            <a:chExt cx="1425" cy="2396"/>
          </a:xfrm>
        </p:grpSpPr>
        <p:sp>
          <p:nvSpPr>
            <p:cNvPr id="3974" name="Google Shape;3974;p4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75" name="Google Shape;3975;p49"/>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76" name="Google Shape;3976;p4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77" name="Google Shape;3977;p4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78" name="Google Shape;3978;p49"/>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979" name="Google Shape;3979;p49"/>
            <p:cNvGrpSpPr/>
            <p:nvPr/>
          </p:nvGrpSpPr>
          <p:grpSpPr>
            <a:xfrm>
              <a:off x="4751" y="667"/>
              <a:ext cx="581" cy="145"/>
              <a:chOff x="616" y="2567"/>
              <a:chExt cx="725" cy="139"/>
            </a:xfrm>
          </p:grpSpPr>
          <p:sp>
            <p:nvSpPr>
              <p:cNvPr id="3980" name="Google Shape;3980;p49"/>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81" name="Google Shape;3981;p49"/>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982" name="Google Shape;3982;p49"/>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983" name="Google Shape;3983;p49"/>
            <p:cNvGrpSpPr/>
            <p:nvPr/>
          </p:nvGrpSpPr>
          <p:grpSpPr>
            <a:xfrm>
              <a:off x="4745" y="997"/>
              <a:ext cx="581" cy="132"/>
              <a:chOff x="611" y="2571"/>
              <a:chExt cx="725" cy="137"/>
            </a:xfrm>
          </p:grpSpPr>
          <p:sp>
            <p:nvSpPr>
              <p:cNvPr id="3984" name="Google Shape;3984;p49"/>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85" name="Google Shape;3985;p49"/>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986" name="Google Shape;3986;p49"/>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87" name="Google Shape;3987;p49"/>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988" name="Google Shape;3988;p49"/>
            <p:cNvGrpSpPr/>
            <p:nvPr/>
          </p:nvGrpSpPr>
          <p:grpSpPr>
            <a:xfrm>
              <a:off x="4733" y="1630"/>
              <a:ext cx="587" cy="146"/>
              <a:chOff x="611" y="2571"/>
              <a:chExt cx="731" cy="134"/>
            </a:xfrm>
          </p:grpSpPr>
          <p:sp>
            <p:nvSpPr>
              <p:cNvPr id="3989" name="Google Shape;3989;p49"/>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90" name="Google Shape;3990;p49"/>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991" name="Google Shape;3991;p4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3992" name="Google Shape;3992;p49"/>
            <p:cNvGrpSpPr/>
            <p:nvPr/>
          </p:nvGrpSpPr>
          <p:grpSpPr>
            <a:xfrm>
              <a:off x="4739" y="1327"/>
              <a:ext cx="580" cy="139"/>
              <a:chOff x="614" y="2568"/>
              <a:chExt cx="723" cy="139"/>
            </a:xfrm>
          </p:grpSpPr>
          <p:sp>
            <p:nvSpPr>
              <p:cNvPr id="3993" name="Google Shape;3993;p49"/>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94" name="Google Shape;3994;p49"/>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995" name="Google Shape;3995;p49"/>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96" name="Google Shape;3996;p4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97" name="Google Shape;3997;p4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98" name="Google Shape;3998;p49"/>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999" name="Google Shape;3999;p4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00" name="Google Shape;4000;p49"/>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01" name="Google Shape;4001;p49"/>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02" name="Google Shape;4002;p49"/>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03" name="Google Shape;4003;p49"/>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004" name="Google Shape;4004;p49"/>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05" name="Google Shape;4005;p49"/>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006" name="Google Shape;4006;p49"/>
          <p:cNvGrpSpPr/>
          <p:nvPr/>
        </p:nvGrpSpPr>
        <p:grpSpPr>
          <a:xfrm>
            <a:off x="10002220" y="2687908"/>
            <a:ext cx="377825" cy="576263"/>
            <a:chOff x="4140" y="429"/>
            <a:chExt cx="1425" cy="2396"/>
          </a:xfrm>
        </p:grpSpPr>
        <p:sp>
          <p:nvSpPr>
            <p:cNvPr id="4007" name="Google Shape;4007;p4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08" name="Google Shape;4008;p49"/>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09" name="Google Shape;4009;p4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10" name="Google Shape;4010;p4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11" name="Google Shape;4011;p49"/>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012" name="Google Shape;4012;p49"/>
            <p:cNvGrpSpPr/>
            <p:nvPr/>
          </p:nvGrpSpPr>
          <p:grpSpPr>
            <a:xfrm>
              <a:off x="4751" y="667"/>
              <a:ext cx="581" cy="145"/>
              <a:chOff x="616" y="2567"/>
              <a:chExt cx="725" cy="139"/>
            </a:xfrm>
          </p:grpSpPr>
          <p:sp>
            <p:nvSpPr>
              <p:cNvPr id="4013" name="Google Shape;4013;p49"/>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14" name="Google Shape;4014;p49"/>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015" name="Google Shape;4015;p49"/>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016" name="Google Shape;4016;p49"/>
            <p:cNvGrpSpPr/>
            <p:nvPr/>
          </p:nvGrpSpPr>
          <p:grpSpPr>
            <a:xfrm>
              <a:off x="4745" y="997"/>
              <a:ext cx="581" cy="132"/>
              <a:chOff x="611" y="2571"/>
              <a:chExt cx="725" cy="137"/>
            </a:xfrm>
          </p:grpSpPr>
          <p:sp>
            <p:nvSpPr>
              <p:cNvPr id="4017" name="Google Shape;4017;p49"/>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18" name="Google Shape;4018;p49"/>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019" name="Google Shape;4019;p49"/>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20" name="Google Shape;4020;p49"/>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021" name="Google Shape;4021;p49"/>
            <p:cNvGrpSpPr/>
            <p:nvPr/>
          </p:nvGrpSpPr>
          <p:grpSpPr>
            <a:xfrm>
              <a:off x="4733" y="1630"/>
              <a:ext cx="587" cy="146"/>
              <a:chOff x="611" y="2571"/>
              <a:chExt cx="731" cy="134"/>
            </a:xfrm>
          </p:grpSpPr>
          <p:sp>
            <p:nvSpPr>
              <p:cNvPr id="4022" name="Google Shape;4022;p49"/>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23" name="Google Shape;4023;p49"/>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024" name="Google Shape;4024;p4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025" name="Google Shape;4025;p49"/>
            <p:cNvGrpSpPr/>
            <p:nvPr/>
          </p:nvGrpSpPr>
          <p:grpSpPr>
            <a:xfrm>
              <a:off x="4739" y="1327"/>
              <a:ext cx="580" cy="139"/>
              <a:chOff x="614" y="2568"/>
              <a:chExt cx="723" cy="139"/>
            </a:xfrm>
          </p:grpSpPr>
          <p:sp>
            <p:nvSpPr>
              <p:cNvPr id="4026" name="Google Shape;4026;p49"/>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27" name="Google Shape;4027;p49"/>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028" name="Google Shape;4028;p49"/>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29" name="Google Shape;4029;p4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30" name="Google Shape;4030;p4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31" name="Google Shape;4031;p49"/>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32" name="Google Shape;4032;p4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33" name="Google Shape;4033;p49"/>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34" name="Google Shape;4034;p49"/>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35" name="Google Shape;4035;p49"/>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36" name="Google Shape;4036;p49"/>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037" name="Google Shape;4037;p49"/>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038" name="Google Shape;4038;p49"/>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039" name="Google Shape;4039;p49"/>
          <p:cNvGrpSpPr/>
          <p:nvPr/>
        </p:nvGrpSpPr>
        <p:grpSpPr>
          <a:xfrm>
            <a:off x="8057532" y="5170758"/>
            <a:ext cx="525463" cy="557213"/>
            <a:chOff x="-44" y="1473"/>
            <a:chExt cx="981" cy="1105"/>
          </a:xfrm>
        </p:grpSpPr>
        <p:pic>
          <p:nvPicPr>
            <p:cNvPr descr="desktop_computer_stylized_medium" id="4040" name="Google Shape;4040;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041" name="Google Shape;4041;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042" name="Google Shape;4042;p49"/>
          <p:cNvGrpSpPr/>
          <p:nvPr/>
        </p:nvGrpSpPr>
        <p:grpSpPr>
          <a:xfrm>
            <a:off x="8581407" y="5159646"/>
            <a:ext cx="525463" cy="557212"/>
            <a:chOff x="-44" y="1473"/>
            <a:chExt cx="981" cy="1105"/>
          </a:xfrm>
        </p:grpSpPr>
        <p:pic>
          <p:nvPicPr>
            <p:cNvPr descr="desktop_computer_stylized_medium" id="4043" name="Google Shape;4043;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044" name="Google Shape;4044;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045" name="Google Shape;4045;p49"/>
          <p:cNvGrpSpPr/>
          <p:nvPr/>
        </p:nvGrpSpPr>
        <p:grpSpPr>
          <a:xfrm>
            <a:off x="8628916" y="4437217"/>
            <a:ext cx="889089" cy="466491"/>
            <a:chOff x="7493876" y="2774731"/>
            <a:chExt cx="1481958" cy="894622"/>
          </a:xfrm>
        </p:grpSpPr>
        <p:sp>
          <p:nvSpPr>
            <p:cNvPr id="4046" name="Google Shape;4046;p4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4047" name="Google Shape;4047;p4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4048" name="Google Shape;4048;p49"/>
            <p:cNvGrpSpPr/>
            <p:nvPr/>
          </p:nvGrpSpPr>
          <p:grpSpPr>
            <a:xfrm>
              <a:off x="7713663" y="2848339"/>
              <a:ext cx="1042107" cy="425543"/>
              <a:chOff x="7786941" y="2884917"/>
              <a:chExt cx="897649" cy="353919"/>
            </a:xfrm>
          </p:grpSpPr>
          <p:sp>
            <p:nvSpPr>
              <p:cNvPr id="4049" name="Google Shape;4049;p4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50" name="Google Shape;4050;p4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51" name="Google Shape;4051;p4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52" name="Google Shape;4052;p4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4053" name="Google Shape;4053;p49"/>
          <p:cNvGrpSpPr/>
          <p:nvPr/>
        </p:nvGrpSpPr>
        <p:grpSpPr>
          <a:xfrm>
            <a:off x="8650253" y="3095664"/>
            <a:ext cx="889089" cy="466491"/>
            <a:chOff x="7493876" y="2774731"/>
            <a:chExt cx="1481958" cy="894622"/>
          </a:xfrm>
        </p:grpSpPr>
        <p:sp>
          <p:nvSpPr>
            <p:cNvPr id="4054" name="Google Shape;4054;p4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4055" name="Google Shape;4055;p4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4056" name="Google Shape;4056;p49"/>
            <p:cNvGrpSpPr/>
            <p:nvPr/>
          </p:nvGrpSpPr>
          <p:grpSpPr>
            <a:xfrm>
              <a:off x="7713663" y="2848339"/>
              <a:ext cx="1042107" cy="425543"/>
              <a:chOff x="7786941" y="2884917"/>
              <a:chExt cx="897649" cy="353919"/>
            </a:xfrm>
          </p:grpSpPr>
          <p:sp>
            <p:nvSpPr>
              <p:cNvPr id="4057" name="Google Shape;4057;p4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58" name="Google Shape;4058;p4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59" name="Google Shape;4059;p4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60" name="Google Shape;4060;p4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4061" name="Google Shape;4061;p49"/>
          <p:cNvSpPr/>
          <p:nvPr/>
        </p:nvSpPr>
        <p:spPr>
          <a:xfrm>
            <a:off x="855446" y="4042622"/>
            <a:ext cx="6361287" cy="230242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560"/>
              <a:buFont typeface="Noto Sans Symbols"/>
              <a:buNone/>
            </a:pPr>
            <a:r>
              <a:rPr i="1" lang="en-US" sz="2400">
                <a:solidFill>
                  <a:srgbClr val="CC0000"/>
                </a:solidFill>
                <a:latin typeface="Calibri"/>
                <a:ea typeface="Calibri"/>
                <a:cs typeface="Calibri"/>
                <a:sym typeface="Calibri"/>
              </a:rPr>
              <a:t>Performance:</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LAN utilization: .0015</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access link utilization = .</a:t>
            </a:r>
            <a:r>
              <a:rPr lang="en-US" sz="2400">
                <a:solidFill>
                  <a:srgbClr val="CC0000"/>
                </a:solidFill>
                <a:latin typeface="Calibri"/>
                <a:ea typeface="Calibri"/>
                <a:cs typeface="Calibri"/>
                <a:sym typeface="Calibri"/>
              </a:rPr>
              <a:t>97</a:t>
            </a:r>
            <a:endParaRPr/>
          </a:p>
          <a:p>
            <a:pPr indent="-342900" lvl="0" marL="342900" marR="0" rtl="0" algn="l">
              <a:lnSpc>
                <a:spcPct val="85000"/>
              </a:lnSpc>
              <a:spcBef>
                <a:spcPts val="6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end-end delay  =  Internet delay +</a:t>
            </a:r>
            <a:endParaRPr/>
          </a:p>
          <a:p>
            <a:pPr indent="0" lvl="0" marL="0" marR="0" rtl="0" algn="l">
              <a:lnSpc>
                <a:spcPct val="85000"/>
              </a:lnSpc>
              <a:spcBef>
                <a:spcPts val="0"/>
              </a:spcBef>
              <a:spcAft>
                <a:spcPts val="0"/>
              </a:spcAft>
              <a:buNone/>
            </a:pPr>
            <a:r>
              <a:rPr lang="en-US" sz="2400">
                <a:solidFill>
                  <a:srgbClr val="000000"/>
                </a:solidFill>
                <a:latin typeface="Calibri"/>
                <a:ea typeface="Calibri"/>
                <a:cs typeface="Calibri"/>
                <a:sym typeface="Calibri"/>
              </a:rPr>
              <a:t>                                     access link delay + LAN delay </a:t>
            </a:r>
            <a:endParaRPr/>
          </a:p>
          <a:p>
            <a:pPr indent="0" lvl="0" marL="0" marR="0" rtl="0" algn="l">
              <a:lnSpc>
                <a:spcPct val="85000"/>
              </a:lnSpc>
              <a:spcBef>
                <a:spcPts val="600"/>
              </a:spcBef>
              <a:spcAft>
                <a:spcPts val="0"/>
              </a:spcAft>
              <a:buNone/>
            </a:pPr>
            <a:r>
              <a:rPr lang="en-US" sz="2400">
                <a:solidFill>
                  <a:srgbClr val="000000"/>
                </a:solidFill>
                <a:latin typeface="Calibri"/>
                <a:ea typeface="Calibri"/>
                <a:cs typeface="Calibri"/>
                <a:sym typeface="Calibri"/>
              </a:rPr>
              <a:t>                                 =  2 sec + minutes + usecs</a:t>
            </a:r>
            <a:endParaRPr sz="2400">
              <a:solidFill>
                <a:srgbClr val="000000"/>
              </a:solidFill>
              <a:latin typeface="Calibri"/>
              <a:ea typeface="Calibri"/>
              <a:cs typeface="Calibri"/>
              <a:sym typeface="Calibri"/>
            </a:endParaRPr>
          </a:p>
          <a:p>
            <a:pPr indent="-243840" lvl="0" marL="342900" marR="0" rtl="0" algn="l">
              <a:lnSpc>
                <a:spcPct val="85000"/>
              </a:lnSpc>
              <a:spcBef>
                <a:spcPts val="480"/>
              </a:spcBef>
              <a:spcAft>
                <a:spcPts val="0"/>
              </a:spcAft>
              <a:buClr>
                <a:srgbClr val="000099"/>
              </a:buClr>
              <a:buSzPts val="1560"/>
              <a:buFont typeface="Noto Sans Symbols"/>
              <a:buNone/>
            </a:pPr>
            <a:r>
              <a:t/>
            </a:r>
            <a:endParaRPr sz="2400">
              <a:solidFill>
                <a:srgbClr val="000000"/>
              </a:solidFill>
              <a:latin typeface="Calibri"/>
              <a:ea typeface="Calibri"/>
              <a:cs typeface="Calibri"/>
              <a:sym typeface="Calibri"/>
            </a:endParaRPr>
          </a:p>
        </p:txBody>
      </p:sp>
      <p:sp>
        <p:nvSpPr>
          <p:cNvPr id="4062" name="Google Shape;4062;p49"/>
          <p:cNvSpPr/>
          <p:nvPr/>
        </p:nvSpPr>
        <p:spPr>
          <a:xfrm>
            <a:off x="870724" y="1362307"/>
            <a:ext cx="6123957" cy="2519263"/>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i="1" lang="en-US" sz="2800">
                <a:solidFill>
                  <a:srgbClr val="CC0000"/>
                </a:solidFill>
                <a:latin typeface="Calibri"/>
                <a:ea typeface="Calibri"/>
                <a:cs typeface="Calibri"/>
                <a:sym typeface="Calibri"/>
              </a:rPr>
              <a:t>Scenario:</a:t>
            </a:r>
            <a:endParaRPr/>
          </a:p>
          <a:p>
            <a:pPr indent="-342900" lvl="0" marL="342900" marR="0" rtl="0" algn="l">
              <a:lnSpc>
                <a:spcPct val="85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access link rate: 1.54 Mbps</a:t>
            </a:r>
            <a:endParaRPr/>
          </a:p>
          <a:p>
            <a:pPr indent="-342900" lvl="0" marL="342900" marR="0" rtl="0" algn="l">
              <a:lnSpc>
                <a:spcPct val="85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RTT from institutional router to server: 2 sec</a:t>
            </a:r>
            <a:endParaRPr/>
          </a:p>
          <a:p>
            <a:pPr indent="-342900" lvl="0" marL="342900" marR="0" rtl="0" algn="l">
              <a:lnSpc>
                <a:spcPct val="85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Web object size: 100K bits</a:t>
            </a:r>
            <a:endParaRPr/>
          </a:p>
          <a:p>
            <a:pPr indent="-342900" lvl="0" marL="342900" marR="0" rtl="0" algn="l">
              <a:lnSpc>
                <a:spcPct val="85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Avg request rate from browsers to origin servers: 15/sec</a:t>
            </a:r>
            <a:endParaRPr/>
          </a:p>
          <a:p>
            <a:pPr indent="-342900" lvl="1" marL="800100" marR="0" rtl="0" algn="l">
              <a:lnSpc>
                <a:spcPct val="85000"/>
              </a:lnSpc>
              <a:spcBef>
                <a:spcPts val="40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avg data rate to browsers: 1.50 Mbps</a:t>
            </a:r>
            <a:endParaRPr/>
          </a:p>
        </p:txBody>
      </p:sp>
      <p:grpSp>
        <p:nvGrpSpPr>
          <p:cNvPr id="4063" name="Google Shape;4063;p49"/>
          <p:cNvGrpSpPr/>
          <p:nvPr/>
        </p:nvGrpSpPr>
        <p:grpSpPr>
          <a:xfrm>
            <a:off x="3269205" y="1370475"/>
            <a:ext cx="7974440" cy="2642996"/>
            <a:chOff x="3269205" y="1370475"/>
            <a:chExt cx="7974440" cy="2642996"/>
          </a:xfrm>
        </p:grpSpPr>
        <p:grpSp>
          <p:nvGrpSpPr>
            <p:cNvPr id="4064" name="Google Shape;4064;p49"/>
            <p:cNvGrpSpPr/>
            <p:nvPr/>
          </p:nvGrpSpPr>
          <p:grpSpPr>
            <a:xfrm>
              <a:off x="3269205" y="1370475"/>
              <a:ext cx="2248984" cy="736408"/>
              <a:chOff x="4785771" y="3827302"/>
              <a:chExt cx="2248984" cy="736408"/>
            </a:xfrm>
          </p:grpSpPr>
          <p:sp>
            <p:nvSpPr>
              <p:cNvPr id="4065" name="Google Shape;4065;p49"/>
              <p:cNvSpPr txBox="1"/>
              <p:nvPr/>
            </p:nvSpPr>
            <p:spPr>
              <a:xfrm>
                <a:off x="5449268" y="3827302"/>
                <a:ext cx="1585487"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400">
                    <a:solidFill>
                      <a:schemeClr val="dk1"/>
                    </a:solidFill>
                    <a:latin typeface="Calibri"/>
                    <a:ea typeface="Calibri"/>
                    <a:cs typeface="Calibri"/>
                    <a:sym typeface="Calibri"/>
                  </a:rPr>
                  <a:t>154 Mbps</a:t>
                </a:r>
                <a:endParaRPr/>
              </a:p>
            </p:txBody>
          </p:sp>
          <p:sp>
            <p:nvSpPr>
              <p:cNvPr id="4066" name="Google Shape;4066;p49"/>
              <p:cNvSpPr/>
              <p:nvPr/>
            </p:nvSpPr>
            <p:spPr>
              <a:xfrm>
                <a:off x="4785771" y="4223523"/>
                <a:ext cx="611420" cy="340187"/>
              </a:xfrm>
              <a:prstGeom prst="rect">
                <a:avLst/>
              </a:prstGeom>
              <a:solidFill>
                <a:schemeClr val="lt1">
                  <a:alpha val="6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067" name="Google Shape;4067;p49"/>
              <p:cNvCxnSpPr/>
              <p:nvPr/>
            </p:nvCxnSpPr>
            <p:spPr>
              <a:xfrm flipH="1" rot="10800000">
                <a:off x="4828478" y="4140660"/>
                <a:ext cx="680225" cy="423048"/>
              </a:xfrm>
              <a:prstGeom prst="straightConnector1">
                <a:avLst/>
              </a:prstGeom>
              <a:noFill/>
              <a:ln cap="flat" cmpd="sng" w="38100">
                <a:solidFill>
                  <a:srgbClr val="CC0000"/>
                </a:solidFill>
                <a:prstDash val="solid"/>
                <a:round/>
                <a:headEnd len="med" w="med" type="none"/>
                <a:tailEnd len="med" w="med" type="triangle"/>
              </a:ln>
            </p:spPr>
          </p:cxnSp>
        </p:grpSp>
        <p:grpSp>
          <p:nvGrpSpPr>
            <p:cNvPr id="4068" name="Google Shape;4068;p49"/>
            <p:cNvGrpSpPr/>
            <p:nvPr/>
          </p:nvGrpSpPr>
          <p:grpSpPr>
            <a:xfrm>
              <a:off x="9113107" y="3496571"/>
              <a:ext cx="2130538" cy="516900"/>
              <a:chOff x="4352719" y="3567941"/>
              <a:chExt cx="2130538" cy="516900"/>
            </a:xfrm>
          </p:grpSpPr>
          <p:sp>
            <p:nvSpPr>
              <p:cNvPr id="4069" name="Google Shape;4069;p49"/>
              <p:cNvSpPr txBox="1"/>
              <p:nvPr/>
            </p:nvSpPr>
            <p:spPr>
              <a:xfrm>
                <a:off x="4897770" y="3567941"/>
                <a:ext cx="1585487" cy="338554"/>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154 Mbps</a:t>
                </a:r>
                <a:endParaRPr/>
              </a:p>
            </p:txBody>
          </p:sp>
          <p:sp>
            <p:nvSpPr>
              <p:cNvPr id="4070" name="Google Shape;4070;p49"/>
              <p:cNvSpPr/>
              <p:nvPr/>
            </p:nvSpPr>
            <p:spPr>
              <a:xfrm>
                <a:off x="4352719" y="3822059"/>
                <a:ext cx="527164" cy="262782"/>
              </a:xfrm>
              <a:prstGeom prst="rect">
                <a:avLst/>
              </a:prstGeom>
              <a:solidFill>
                <a:schemeClr val="lt1">
                  <a:alpha val="6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071" name="Google Shape;4071;p49"/>
              <p:cNvCxnSpPr/>
              <p:nvPr/>
            </p:nvCxnSpPr>
            <p:spPr>
              <a:xfrm flipH="1" rot="10800000">
                <a:off x="4459229" y="3805441"/>
                <a:ext cx="554004" cy="237118"/>
              </a:xfrm>
              <a:prstGeom prst="straightConnector1">
                <a:avLst/>
              </a:prstGeom>
              <a:noFill/>
              <a:ln cap="flat" cmpd="sng" w="38100">
                <a:solidFill>
                  <a:srgbClr val="CC0000"/>
                </a:solidFill>
                <a:prstDash val="solid"/>
                <a:round/>
                <a:headEnd len="med" w="med" type="none"/>
                <a:tailEnd len="med" w="med" type="triangle"/>
              </a:ln>
            </p:spPr>
          </p:cxnSp>
        </p:grpSp>
      </p:grpSp>
      <p:grpSp>
        <p:nvGrpSpPr>
          <p:cNvPr id="4072" name="Google Shape;4072;p49"/>
          <p:cNvGrpSpPr/>
          <p:nvPr/>
        </p:nvGrpSpPr>
        <p:grpSpPr>
          <a:xfrm>
            <a:off x="4118194" y="4759893"/>
            <a:ext cx="2583033" cy="461665"/>
            <a:chOff x="4114801" y="3880785"/>
            <a:chExt cx="2583033" cy="461665"/>
          </a:xfrm>
        </p:grpSpPr>
        <p:sp>
          <p:nvSpPr>
            <p:cNvPr id="4073" name="Google Shape;4073;p49"/>
            <p:cNvSpPr txBox="1"/>
            <p:nvPr/>
          </p:nvSpPr>
          <p:spPr>
            <a:xfrm>
              <a:off x="5112347" y="3880785"/>
              <a:ext cx="1585487"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400">
                  <a:solidFill>
                    <a:schemeClr val="dk1"/>
                  </a:solidFill>
                  <a:latin typeface="Calibri"/>
                  <a:ea typeface="Calibri"/>
                  <a:cs typeface="Calibri"/>
                  <a:sym typeface="Calibri"/>
                </a:rPr>
                <a:t>.0097</a:t>
              </a:r>
              <a:endParaRPr/>
            </a:p>
          </p:txBody>
        </p:sp>
        <p:sp>
          <p:nvSpPr>
            <p:cNvPr id="4074" name="Google Shape;4074;p49"/>
            <p:cNvSpPr/>
            <p:nvPr/>
          </p:nvSpPr>
          <p:spPr>
            <a:xfrm>
              <a:off x="4114801" y="3955100"/>
              <a:ext cx="498412" cy="340187"/>
            </a:xfrm>
            <a:prstGeom prst="rect">
              <a:avLst/>
            </a:prstGeom>
            <a:solidFill>
              <a:schemeClr val="lt1">
                <a:alpha val="6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075" name="Google Shape;4075;p49"/>
            <p:cNvCxnSpPr/>
            <p:nvPr/>
          </p:nvCxnSpPr>
          <p:spPr>
            <a:xfrm>
              <a:off x="4234070" y="4117024"/>
              <a:ext cx="936703" cy="1"/>
            </a:xfrm>
            <a:prstGeom prst="straightConnector1">
              <a:avLst/>
            </a:prstGeom>
            <a:noFill/>
            <a:ln cap="flat" cmpd="sng" w="38100">
              <a:solidFill>
                <a:srgbClr val="CC0000"/>
              </a:solidFill>
              <a:prstDash val="solid"/>
              <a:round/>
              <a:headEnd len="med" w="med" type="none"/>
              <a:tailEnd len="med" w="med" type="triangle"/>
            </a:ln>
          </p:spPr>
        </p:cxnSp>
      </p:grpSp>
      <p:grpSp>
        <p:nvGrpSpPr>
          <p:cNvPr id="4076" name="Google Shape;4076;p49"/>
          <p:cNvGrpSpPr/>
          <p:nvPr/>
        </p:nvGrpSpPr>
        <p:grpSpPr>
          <a:xfrm>
            <a:off x="4413584" y="5927345"/>
            <a:ext cx="3023236" cy="698306"/>
            <a:chOff x="3635854" y="3415544"/>
            <a:chExt cx="3023236" cy="698306"/>
          </a:xfrm>
        </p:grpSpPr>
        <p:sp>
          <p:nvSpPr>
            <p:cNvPr id="4077" name="Google Shape;4077;p49"/>
            <p:cNvSpPr txBox="1"/>
            <p:nvPr/>
          </p:nvSpPr>
          <p:spPr>
            <a:xfrm>
              <a:off x="5555973" y="3652185"/>
              <a:ext cx="1103117"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400">
                  <a:solidFill>
                    <a:schemeClr val="dk1"/>
                  </a:solidFill>
                  <a:latin typeface="Calibri"/>
                  <a:ea typeface="Calibri"/>
                  <a:cs typeface="Calibri"/>
                  <a:sym typeface="Calibri"/>
                </a:rPr>
                <a:t>msecs</a:t>
              </a:r>
              <a:endParaRPr sz="2400">
                <a:solidFill>
                  <a:schemeClr val="dk1"/>
                </a:solidFill>
                <a:latin typeface="Calibri"/>
                <a:ea typeface="Calibri"/>
                <a:cs typeface="Calibri"/>
                <a:sym typeface="Calibri"/>
              </a:endParaRPr>
            </a:p>
          </p:txBody>
        </p:sp>
        <p:sp>
          <p:nvSpPr>
            <p:cNvPr id="4078" name="Google Shape;4078;p49"/>
            <p:cNvSpPr/>
            <p:nvPr/>
          </p:nvSpPr>
          <p:spPr>
            <a:xfrm>
              <a:off x="3635854" y="3415544"/>
              <a:ext cx="962683" cy="340187"/>
            </a:xfrm>
            <a:prstGeom prst="rect">
              <a:avLst/>
            </a:prstGeom>
            <a:solidFill>
              <a:schemeClr val="lt1">
                <a:alpha val="6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079" name="Google Shape;4079;p49"/>
            <p:cNvCxnSpPr/>
            <p:nvPr/>
          </p:nvCxnSpPr>
          <p:spPr>
            <a:xfrm>
              <a:off x="3662316" y="3504654"/>
              <a:ext cx="1983056" cy="461665"/>
            </a:xfrm>
            <a:prstGeom prst="straightConnector1">
              <a:avLst/>
            </a:prstGeom>
            <a:noFill/>
            <a:ln cap="flat" cmpd="sng" w="38100">
              <a:solidFill>
                <a:srgbClr val="CC0000"/>
              </a:solidFill>
              <a:prstDash val="solid"/>
              <a:round/>
              <a:headEnd len="med" w="med" type="none"/>
              <a:tailEnd len="med" w="med" type="triangle"/>
            </a:ln>
          </p:spPr>
        </p:cxnSp>
      </p:grpSp>
      <p:sp>
        <p:nvSpPr>
          <p:cNvPr id="4080" name="Google Shape;4080;p49"/>
          <p:cNvSpPr txBox="1"/>
          <p:nvPr/>
        </p:nvSpPr>
        <p:spPr>
          <a:xfrm>
            <a:off x="870724" y="6212256"/>
            <a:ext cx="4565737"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i="1" lang="en-US" sz="2400">
                <a:solidFill>
                  <a:srgbClr val="CC0000"/>
                </a:solidFill>
                <a:latin typeface="Calibri"/>
                <a:ea typeface="Calibri"/>
                <a:cs typeface="Calibri"/>
                <a:sym typeface="Calibri"/>
              </a:rPr>
              <a:t>Cost:</a:t>
            </a:r>
            <a:r>
              <a:rPr lang="en-US" sz="2400">
                <a:solidFill>
                  <a:schemeClr val="dk1"/>
                </a:solidFill>
                <a:latin typeface="Calibri"/>
                <a:ea typeface="Calibri"/>
                <a:cs typeface="Calibri"/>
                <a:sym typeface="Calibri"/>
              </a:rPr>
              <a:t> faster access link (expensive!)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3"/>
                                        </p:tgtEl>
                                        <p:attrNameLst>
                                          <p:attrName>style.visibility</p:attrName>
                                        </p:attrNameLst>
                                      </p:cBhvr>
                                      <p:to>
                                        <p:strVal val="visible"/>
                                      </p:to>
                                    </p:set>
                                    <p:animEffect filter="fade" transition="in">
                                      <p:cBhvr>
                                        <p:cTn dur="500"/>
                                        <p:tgtEl>
                                          <p:spTgt spid="40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2"/>
                                        </p:tgtEl>
                                        <p:attrNameLst>
                                          <p:attrName>style.visibility</p:attrName>
                                        </p:attrNameLst>
                                      </p:cBhvr>
                                      <p:to>
                                        <p:strVal val="visible"/>
                                      </p:to>
                                    </p:set>
                                    <p:animEffect filter="fade" transition="in">
                                      <p:cBhvr>
                                        <p:cTn dur="500"/>
                                        <p:tgtEl>
                                          <p:spTgt spid="407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76"/>
                                        </p:tgtEl>
                                        <p:attrNameLst>
                                          <p:attrName>style.visibility</p:attrName>
                                        </p:attrNameLst>
                                      </p:cBhvr>
                                      <p:to>
                                        <p:strVal val="visible"/>
                                      </p:to>
                                    </p:set>
                                    <p:animEffect filter="fade" transition="in">
                                      <p:cBhvr>
                                        <p:cTn dur="500"/>
                                        <p:tgtEl>
                                          <p:spTgt spid="40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0"/>
                                        </p:tgtEl>
                                        <p:attrNameLst>
                                          <p:attrName>style.visibility</p:attrName>
                                        </p:attrNameLst>
                                      </p:cBhvr>
                                      <p:to>
                                        <p:strVal val="visible"/>
                                      </p:to>
                                    </p:set>
                                    <p:animEffect filter="fade" transition="in">
                                      <p:cBhvr>
                                        <p:cTn dur="500"/>
                                        <p:tgtEl>
                                          <p:spTgt spid="40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5" name="Shape 4085"/>
        <p:cNvGrpSpPr/>
        <p:nvPr/>
      </p:nvGrpSpPr>
      <p:grpSpPr>
        <a:xfrm>
          <a:off x="0" y="0"/>
          <a:ext cx="0" cy="0"/>
          <a:chOff x="0" y="0"/>
          <a:chExt cx="0" cy="0"/>
        </a:xfrm>
      </p:grpSpPr>
      <p:sp>
        <p:nvSpPr>
          <p:cNvPr id="4086" name="Google Shape;4086;p50"/>
          <p:cNvSpPr/>
          <p:nvPr/>
        </p:nvSpPr>
        <p:spPr>
          <a:xfrm>
            <a:off x="855446" y="4042622"/>
            <a:ext cx="6361287" cy="230242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560"/>
              <a:buFont typeface="Noto Sans Symbols"/>
              <a:buNone/>
            </a:pPr>
            <a:r>
              <a:rPr i="1" lang="en-US" sz="2400">
                <a:solidFill>
                  <a:srgbClr val="CC0000"/>
                </a:solidFill>
                <a:latin typeface="Calibri"/>
                <a:ea typeface="Calibri"/>
                <a:cs typeface="Calibri"/>
                <a:sym typeface="Calibri"/>
              </a:rPr>
              <a:t>Performance:</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LAN utilization: .</a:t>
            </a:r>
            <a:r>
              <a:rPr lang="en-US" sz="2400">
                <a:solidFill>
                  <a:srgbClr val="C00000"/>
                </a:solidFill>
                <a:latin typeface="Calibri"/>
                <a:ea typeface="Calibri"/>
                <a:cs typeface="Calibri"/>
                <a:sym typeface="Calibri"/>
              </a:rPr>
              <a:t>?</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access link utilization = </a:t>
            </a:r>
            <a:r>
              <a:rPr lang="en-US" sz="2400">
                <a:solidFill>
                  <a:srgbClr val="C00000"/>
                </a:solidFill>
                <a:latin typeface="Calibri"/>
                <a:ea typeface="Calibri"/>
                <a:cs typeface="Calibri"/>
                <a:sym typeface="Calibri"/>
              </a:rPr>
              <a:t>?</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average end-end delay  = </a:t>
            </a:r>
            <a:r>
              <a:rPr lang="en-US" sz="2400">
                <a:solidFill>
                  <a:srgbClr val="C00000"/>
                </a:solidFill>
                <a:latin typeface="Calibri"/>
                <a:ea typeface="Calibri"/>
                <a:cs typeface="Calibri"/>
                <a:sym typeface="Calibri"/>
              </a:rPr>
              <a:t>?</a:t>
            </a:r>
            <a:r>
              <a:rPr lang="en-US" sz="2400">
                <a:solidFill>
                  <a:srgbClr val="000000"/>
                </a:solidFill>
                <a:latin typeface="Calibri"/>
                <a:ea typeface="Calibri"/>
                <a:cs typeface="Calibri"/>
                <a:sym typeface="Calibri"/>
              </a:rPr>
              <a:t> </a:t>
            </a:r>
            <a:endParaRPr/>
          </a:p>
        </p:txBody>
      </p:sp>
      <p:sp>
        <p:nvSpPr>
          <p:cNvPr id="4087" name="Google Shape;4087;p50"/>
          <p:cNvSpPr txBox="1"/>
          <p:nvPr>
            <p:ph type="title"/>
          </p:nvPr>
        </p:nvSpPr>
        <p:spPr>
          <a:xfrm>
            <a:off x="798691" y="37987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Caching Example B: install a web cache</a:t>
            </a:r>
            <a:endParaRPr sz="4400"/>
          </a:p>
        </p:txBody>
      </p:sp>
      <p:sp>
        <p:nvSpPr>
          <p:cNvPr id="4088" name="Google Shape;4088;p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cxnSp>
        <p:nvCxnSpPr>
          <p:cNvPr id="4089" name="Google Shape;4089;p50"/>
          <p:cNvCxnSpPr/>
          <p:nvPr/>
        </p:nvCxnSpPr>
        <p:spPr>
          <a:xfrm>
            <a:off x="7744795" y="2487883"/>
            <a:ext cx="285750" cy="114300"/>
          </a:xfrm>
          <a:prstGeom prst="straightConnector1">
            <a:avLst/>
          </a:prstGeom>
          <a:noFill/>
          <a:ln cap="flat" cmpd="sng" w="28575">
            <a:solidFill>
              <a:srgbClr val="3333CC"/>
            </a:solidFill>
            <a:prstDash val="solid"/>
            <a:round/>
            <a:headEnd len="med" w="med" type="none"/>
            <a:tailEnd len="med" w="med" type="none"/>
          </a:ln>
        </p:spPr>
      </p:cxnSp>
      <p:sp>
        <p:nvSpPr>
          <p:cNvPr id="4090" name="Google Shape;4090;p50"/>
          <p:cNvSpPr txBox="1"/>
          <p:nvPr/>
        </p:nvSpPr>
        <p:spPr>
          <a:xfrm>
            <a:off x="10173670" y="1902096"/>
            <a:ext cx="93345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origin</a:t>
            </a:r>
            <a:endParaRPr/>
          </a:p>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servers</a:t>
            </a:r>
            <a:endParaRPr/>
          </a:p>
        </p:txBody>
      </p:sp>
      <p:cxnSp>
        <p:nvCxnSpPr>
          <p:cNvPr id="4091" name="Google Shape;4091;p50"/>
          <p:cNvCxnSpPr/>
          <p:nvPr/>
        </p:nvCxnSpPr>
        <p:spPr>
          <a:xfrm>
            <a:off x="8554420" y="2106883"/>
            <a:ext cx="66675" cy="276225"/>
          </a:xfrm>
          <a:prstGeom prst="straightConnector1">
            <a:avLst/>
          </a:prstGeom>
          <a:noFill/>
          <a:ln cap="flat" cmpd="sng" w="28575">
            <a:solidFill>
              <a:srgbClr val="3333CC"/>
            </a:solidFill>
            <a:prstDash val="solid"/>
            <a:round/>
            <a:headEnd len="med" w="med" type="none"/>
            <a:tailEnd len="med" w="med" type="none"/>
          </a:ln>
        </p:spPr>
      </p:cxnSp>
      <p:cxnSp>
        <p:nvCxnSpPr>
          <p:cNvPr id="4092" name="Google Shape;4092;p50"/>
          <p:cNvCxnSpPr/>
          <p:nvPr/>
        </p:nvCxnSpPr>
        <p:spPr>
          <a:xfrm flipH="1">
            <a:off x="9183070" y="2144983"/>
            <a:ext cx="9525" cy="238125"/>
          </a:xfrm>
          <a:prstGeom prst="straightConnector1">
            <a:avLst/>
          </a:prstGeom>
          <a:noFill/>
          <a:ln cap="flat" cmpd="sng" w="28575">
            <a:solidFill>
              <a:srgbClr val="3333CC"/>
            </a:solidFill>
            <a:prstDash val="solid"/>
            <a:round/>
            <a:headEnd len="med" w="med" type="none"/>
            <a:tailEnd len="med" w="med" type="none"/>
          </a:ln>
        </p:spPr>
      </p:cxnSp>
      <p:cxnSp>
        <p:nvCxnSpPr>
          <p:cNvPr id="4093" name="Google Shape;4093;p50"/>
          <p:cNvCxnSpPr/>
          <p:nvPr/>
        </p:nvCxnSpPr>
        <p:spPr>
          <a:xfrm flipH="1">
            <a:off x="9640270" y="2306908"/>
            <a:ext cx="133350" cy="209550"/>
          </a:xfrm>
          <a:prstGeom prst="straightConnector1">
            <a:avLst/>
          </a:prstGeom>
          <a:noFill/>
          <a:ln cap="flat" cmpd="sng" w="28575">
            <a:solidFill>
              <a:srgbClr val="3333CC"/>
            </a:solidFill>
            <a:prstDash val="solid"/>
            <a:round/>
            <a:headEnd len="med" w="med" type="none"/>
            <a:tailEnd len="med" w="med" type="none"/>
          </a:ln>
        </p:spPr>
      </p:cxnSp>
      <p:cxnSp>
        <p:nvCxnSpPr>
          <p:cNvPr id="4094" name="Google Shape;4094;p50"/>
          <p:cNvCxnSpPr/>
          <p:nvPr/>
        </p:nvCxnSpPr>
        <p:spPr>
          <a:xfrm rot="10800000">
            <a:off x="9802195" y="3068908"/>
            <a:ext cx="247650" cy="0"/>
          </a:xfrm>
          <a:prstGeom prst="straightConnector1">
            <a:avLst/>
          </a:prstGeom>
          <a:noFill/>
          <a:ln cap="flat" cmpd="sng" w="28575">
            <a:solidFill>
              <a:srgbClr val="3333CC"/>
            </a:solidFill>
            <a:prstDash val="solid"/>
            <a:round/>
            <a:headEnd len="med" w="med" type="none"/>
            <a:tailEnd len="med" w="med" type="none"/>
          </a:ln>
        </p:spPr>
      </p:cxnSp>
      <p:sp>
        <p:nvSpPr>
          <p:cNvPr id="4095" name="Google Shape;4095;p50"/>
          <p:cNvSpPr/>
          <p:nvPr/>
        </p:nvSpPr>
        <p:spPr>
          <a:xfrm>
            <a:off x="7819407" y="2111064"/>
            <a:ext cx="2174875" cy="1581150"/>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CC"/>
              </a:buClr>
              <a:buSzPts val="1700"/>
              <a:buFont typeface="Arial"/>
              <a:buNone/>
            </a:pPr>
            <a:r>
              <a:t/>
            </a:r>
            <a:endParaRPr sz="2000">
              <a:solidFill>
                <a:srgbClr val="000000"/>
              </a:solidFill>
              <a:latin typeface="Arial"/>
              <a:ea typeface="Arial"/>
              <a:cs typeface="Arial"/>
              <a:sym typeface="Arial"/>
            </a:endParaRPr>
          </a:p>
        </p:txBody>
      </p:sp>
      <p:sp>
        <p:nvSpPr>
          <p:cNvPr id="4096" name="Google Shape;4096;p50"/>
          <p:cNvSpPr txBox="1"/>
          <p:nvPr/>
        </p:nvSpPr>
        <p:spPr>
          <a:xfrm>
            <a:off x="8535370" y="2432321"/>
            <a:ext cx="931862"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public</a:t>
            </a:r>
            <a:endParaRPr/>
          </a:p>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 Internet</a:t>
            </a:r>
            <a:endParaRPr b="0" i="0" sz="2400" u="none" cap="none" strike="noStrike">
              <a:solidFill>
                <a:srgbClr val="CC0000"/>
              </a:solidFill>
              <a:latin typeface="Arial"/>
              <a:ea typeface="Arial"/>
              <a:cs typeface="Arial"/>
              <a:sym typeface="Arial"/>
            </a:endParaRPr>
          </a:p>
        </p:txBody>
      </p:sp>
      <p:sp>
        <p:nvSpPr>
          <p:cNvPr id="4097" name="Google Shape;4097;p50"/>
          <p:cNvSpPr/>
          <p:nvPr/>
        </p:nvSpPr>
        <p:spPr>
          <a:xfrm>
            <a:off x="7424346" y="4514213"/>
            <a:ext cx="2965450" cy="1390650"/>
          </a:xfrm>
          <a:custGeom>
            <a:rect b="b" l="l" r="r" t="t"/>
            <a:pathLst>
              <a:path extrusionOk="0" h="876" w="1868">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CC"/>
              </a:buClr>
              <a:buSzPts val="1700"/>
              <a:buFont typeface="Arial"/>
              <a:buNone/>
            </a:pPr>
            <a:r>
              <a:t/>
            </a:r>
            <a:endParaRPr sz="2000">
              <a:solidFill>
                <a:srgbClr val="000000"/>
              </a:solidFill>
              <a:latin typeface="Arial"/>
              <a:ea typeface="Arial"/>
              <a:cs typeface="Arial"/>
              <a:sym typeface="Arial"/>
            </a:endParaRPr>
          </a:p>
        </p:txBody>
      </p:sp>
      <p:cxnSp>
        <p:nvCxnSpPr>
          <p:cNvPr id="4098" name="Google Shape;4098;p50"/>
          <p:cNvCxnSpPr/>
          <p:nvPr/>
        </p:nvCxnSpPr>
        <p:spPr>
          <a:xfrm flipH="1">
            <a:off x="7859095" y="4780233"/>
            <a:ext cx="855662" cy="431800"/>
          </a:xfrm>
          <a:prstGeom prst="straightConnector1">
            <a:avLst/>
          </a:prstGeom>
          <a:noFill/>
          <a:ln cap="flat" cmpd="sng" w="28575">
            <a:solidFill>
              <a:srgbClr val="000000"/>
            </a:solidFill>
            <a:prstDash val="solid"/>
            <a:round/>
            <a:headEnd len="med" w="med" type="none"/>
            <a:tailEnd len="med" w="med" type="none"/>
          </a:ln>
        </p:spPr>
      </p:cxnSp>
      <p:cxnSp>
        <p:nvCxnSpPr>
          <p:cNvPr id="4099" name="Google Shape;4099;p50"/>
          <p:cNvCxnSpPr/>
          <p:nvPr/>
        </p:nvCxnSpPr>
        <p:spPr>
          <a:xfrm flipH="1">
            <a:off x="8368682" y="4827858"/>
            <a:ext cx="563563" cy="393700"/>
          </a:xfrm>
          <a:prstGeom prst="straightConnector1">
            <a:avLst/>
          </a:prstGeom>
          <a:noFill/>
          <a:ln cap="flat" cmpd="sng" w="28575">
            <a:solidFill>
              <a:srgbClr val="000000"/>
            </a:solidFill>
            <a:prstDash val="solid"/>
            <a:round/>
            <a:headEnd len="med" w="med" type="none"/>
            <a:tailEnd len="med" w="med" type="none"/>
          </a:ln>
        </p:spPr>
      </p:cxnSp>
      <p:cxnSp>
        <p:nvCxnSpPr>
          <p:cNvPr id="4100" name="Google Shape;4100;p50"/>
          <p:cNvCxnSpPr/>
          <p:nvPr/>
        </p:nvCxnSpPr>
        <p:spPr>
          <a:xfrm flipH="1">
            <a:off x="8906845" y="4834208"/>
            <a:ext cx="149225" cy="382588"/>
          </a:xfrm>
          <a:prstGeom prst="straightConnector1">
            <a:avLst/>
          </a:prstGeom>
          <a:noFill/>
          <a:ln cap="flat" cmpd="sng" w="28575">
            <a:solidFill>
              <a:srgbClr val="000000"/>
            </a:solidFill>
            <a:prstDash val="solid"/>
            <a:round/>
            <a:headEnd len="med" w="med" type="none"/>
            <a:tailEnd len="med" w="med" type="none"/>
          </a:ln>
        </p:spPr>
      </p:cxnSp>
      <p:cxnSp>
        <p:nvCxnSpPr>
          <p:cNvPr id="4101" name="Google Shape;4101;p50"/>
          <p:cNvCxnSpPr/>
          <p:nvPr/>
        </p:nvCxnSpPr>
        <p:spPr>
          <a:xfrm>
            <a:off x="9068770" y="3545158"/>
            <a:ext cx="0" cy="1062038"/>
          </a:xfrm>
          <a:prstGeom prst="straightConnector1">
            <a:avLst/>
          </a:prstGeom>
          <a:noFill/>
          <a:ln cap="flat" cmpd="sng" w="28575">
            <a:solidFill>
              <a:srgbClr val="000000"/>
            </a:solidFill>
            <a:prstDash val="solid"/>
            <a:round/>
            <a:headEnd len="med" w="med" type="none"/>
            <a:tailEnd len="med" w="med" type="none"/>
          </a:ln>
        </p:spPr>
      </p:cxnSp>
      <p:sp>
        <p:nvSpPr>
          <p:cNvPr id="4102" name="Google Shape;4102;p50"/>
          <p:cNvSpPr txBox="1"/>
          <p:nvPr/>
        </p:nvSpPr>
        <p:spPr>
          <a:xfrm>
            <a:off x="7436820" y="4357958"/>
            <a:ext cx="1198562"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institutional</a:t>
            </a:r>
            <a:endParaRPr/>
          </a:p>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network</a:t>
            </a:r>
            <a:endParaRPr b="0" i="0" sz="2400" u="none" cap="none" strike="noStrike">
              <a:solidFill>
                <a:srgbClr val="CC0000"/>
              </a:solidFill>
              <a:latin typeface="Arial"/>
              <a:ea typeface="Arial"/>
              <a:cs typeface="Arial"/>
              <a:sym typeface="Arial"/>
            </a:endParaRPr>
          </a:p>
        </p:txBody>
      </p:sp>
      <p:sp>
        <p:nvSpPr>
          <p:cNvPr id="4103" name="Google Shape;4103;p50"/>
          <p:cNvSpPr txBox="1"/>
          <p:nvPr/>
        </p:nvSpPr>
        <p:spPr>
          <a:xfrm>
            <a:off x="9445007" y="4738958"/>
            <a:ext cx="129063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 Gbps LAN</a:t>
            </a:r>
            <a:endParaRPr b="0" i="0" sz="2400" u="none" cap="none" strike="noStrike">
              <a:solidFill>
                <a:srgbClr val="3333CC"/>
              </a:solidFill>
              <a:latin typeface="Arial"/>
              <a:ea typeface="Arial"/>
              <a:cs typeface="Arial"/>
              <a:sym typeface="Arial"/>
            </a:endParaRPr>
          </a:p>
        </p:txBody>
      </p:sp>
      <p:sp>
        <p:nvSpPr>
          <p:cNvPr id="4104" name="Google Shape;4104;p50"/>
          <p:cNvSpPr txBox="1"/>
          <p:nvPr/>
        </p:nvSpPr>
        <p:spPr>
          <a:xfrm>
            <a:off x="9070357" y="3734071"/>
            <a:ext cx="1190625"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1.54 Mbps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access link</a:t>
            </a:r>
            <a:endParaRPr b="0" i="0" sz="2400" u="none" cap="none" strike="noStrike">
              <a:solidFill>
                <a:srgbClr val="3333CC"/>
              </a:solidFill>
              <a:latin typeface="Arial"/>
              <a:ea typeface="Arial"/>
              <a:cs typeface="Arial"/>
              <a:sym typeface="Arial"/>
            </a:endParaRPr>
          </a:p>
        </p:txBody>
      </p:sp>
      <p:grpSp>
        <p:nvGrpSpPr>
          <p:cNvPr id="4105" name="Google Shape;4105;p50"/>
          <p:cNvGrpSpPr/>
          <p:nvPr/>
        </p:nvGrpSpPr>
        <p:grpSpPr>
          <a:xfrm>
            <a:off x="7397132" y="2035446"/>
            <a:ext cx="377825" cy="576262"/>
            <a:chOff x="4140" y="429"/>
            <a:chExt cx="1425" cy="2396"/>
          </a:xfrm>
        </p:grpSpPr>
        <p:sp>
          <p:nvSpPr>
            <p:cNvPr id="4106" name="Google Shape;4106;p5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07" name="Google Shape;4107;p50"/>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08" name="Google Shape;4108;p5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09" name="Google Shape;4109;p5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10" name="Google Shape;4110;p50"/>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111" name="Google Shape;4111;p50"/>
            <p:cNvGrpSpPr/>
            <p:nvPr/>
          </p:nvGrpSpPr>
          <p:grpSpPr>
            <a:xfrm>
              <a:off x="4751" y="667"/>
              <a:ext cx="581" cy="145"/>
              <a:chOff x="616" y="2567"/>
              <a:chExt cx="725" cy="139"/>
            </a:xfrm>
          </p:grpSpPr>
          <p:sp>
            <p:nvSpPr>
              <p:cNvPr id="4112" name="Google Shape;4112;p50"/>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13" name="Google Shape;4113;p50"/>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114" name="Google Shape;4114;p50"/>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115" name="Google Shape;4115;p50"/>
            <p:cNvGrpSpPr/>
            <p:nvPr/>
          </p:nvGrpSpPr>
          <p:grpSpPr>
            <a:xfrm>
              <a:off x="4745" y="997"/>
              <a:ext cx="581" cy="132"/>
              <a:chOff x="611" y="2571"/>
              <a:chExt cx="725" cy="137"/>
            </a:xfrm>
          </p:grpSpPr>
          <p:sp>
            <p:nvSpPr>
              <p:cNvPr id="4116" name="Google Shape;4116;p50"/>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17" name="Google Shape;4117;p50"/>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118" name="Google Shape;4118;p50"/>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19" name="Google Shape;4119;p50"/>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120" name="Google Shape;4120;p50"/>
            <p:cNvGrpSpPr/>
            <p:nvPr/>
          </p:nvGrpSpPr>
          <p:grpSpPr>
            <a:xfrm>
              <a:off x="4733" y="1630"/>
              <a:ext cx="587" cy="146"/>
              <a:chOff x="611" y="2571"/>
              <a:chExt cx="731" cy="134"/>
            </a:xfrm>
          </p:grpSpPr>
          <p:sp>
            <p:nvSpPr>
              <p:cNvPr id="4121" name="Google Shape;4121;p50"/>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22" name="Google Shape;4122;p50"/>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123" name="Google Shape;4123;p5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124" name="Google Shape;4124;p50"/>
            <p:cNvGrpSpPr/>
            <p:nvPr/>
          </p:nvGrpSpPr>
          <p:grpSpPr>
            <a:xfrm>
              <a:off x="4739" y="1327"/>
              <a:ext cx="580" cy="139"/>
              <a:chOff x="614" y="2568"/>
              <a:chExt cx="723" cy="139"/>
            </a:xfrm>
          </p:grpSpPr>
          <p:sp>
            <p:nvSpPr>
              <p:cNvPr id="4125" name="Google Shape;4125;p50"/>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26" name="Google Shape;4126;p50"/>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127" name="Google Shape;4127;p50"/>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28" name="Google Shape;4128;p5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29" name="Google Shape;4129;p5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30" name="Google Shape;4130;p50"/>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31" name="Google Shape;4131;p5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32" name="Google Shape;4132;p50"/>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33" name="Google Shape;4133;p50"/>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34" name="Google Shape;4134;p50"/>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35" name="Google Shape;4135;p50"/>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136" name="Google Shape;4136;p50"/>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37" name="Google Shape;4137;p50"/>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138" name="Google Shape;4138;p50"/>
          <p:cNvGrpSpPr/>
          <p:nvPr/>
        </p:nvGrpSpPr>
        <p:grpSpPr>
          <a:xfrm>
            <a:off x="7546357" y="5148533"/>
            <a:ext cx="525463" cy="557213"/>
            <a:chOff x="-44" y="1473"/>
            <a:chExt cx="981" cy="1105"/>
          </a:xfrm>
        </p:grpSpPr>
        <p:pic>
          <p:nvPicPr>
            <p:cNvPr descr="desktop_computer_stylized_medium" id="4139" name="Google Shape;4139;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140" name="Google Shape;4140;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141" name="Google Shape;4141;p50"/>
          <p:cNvGrpSpPr/>
          <p:nvPr/>
        </p:nvGrpSpPr>
        <p:grpSpPr>
          <a:xfrm>
            <a:off x="8311532" y="1557608"/>
            <a:ext cx="377825" cy="576263"/>
            <a:chOff x="4140" y="429"/>
            <a:chExt cx="1425" cy="2396"/>
          </a:xfrm>
        </p:grpSpPr>
        <p:sp>
          <p:nvSpPr>
            <p:cNvPr id="4142" name="Google Shape;4142;p5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43" name="Google Shape;4143;p50"/>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44" name="Google Shape;4144;p5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45" name="Google Shape;4145;p5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46" name="Google Shape;4146;p50"/>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147" name="Google Shape;4147;p50"/>
            <p:cNvGrpSpPr/>
            <p:nvPr/>
          </p:nvGrpSpPr>
          <p:grpSpPr>
            <a:xfrm>
              <a:off x="4751" y="667"/>
              <a:ext cx="581" cy="145"/>
              <a:chOff x="616" y="2567"/>
              <a:chExt cx="725" cy="139"/>
            </a:xfrm>
          </p:grpSpPr>
          <p:sp>
            <p:nvSpPr>
              <p:cNvPr id="4148" name="Google Shape;4148;p50"/>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49" name="Google Shape;4149;p50"/>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150" name="Google Shape;4150;p50"/>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151" name="Google Shape;4151;p50"/>
            <p:cNvGrpSpPr/>
            <p:nvPr/>
          </p:nvGrpSpPr>
          <p:grpSpPr>
            <a:xfrm>
              <a:off x="4745" y="997"/>
              <a:ext cx="581" cy="132"/>
              <a:chOff x="611" y="2571"/>
              <a:chExt cx="725" cy="137"/>
            </a:xfrm>
          </p:grpSpPr>
          <p:sp>
            <p:nvSpPr>
              <p:cNvPr id="4152" name="Google Shape;4152;p50"/>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53" name="Google Shape;4153;p50"/>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154" name="Google Shape;4154;p50"/>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55" name="Google Shape;4155;p50"/>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156" name="Google Shape;4156;p50"/>
            <p:cNvGrpSpPr/>
            <p:nvPr/>
          </p:nvGrpSpPr>
          <p:grpSpPr>
            <a:xfrm>
              <a:off x="4733" y="1630"/>
              <a:ext cx="587" cy="146"/>
              <a:chOff x="611" y="2571"/>
              <a:chExt cx="731" cy="134"/>
            </a:xfrm>
          </p:grpSpPr>
          <p:sp>
            <p:nvSpPr>
              <p:cNvPr id="4157" name="Google Shape;4157;p50"/>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58" name="Google Shape;4158;p50"/>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159" name="Google Shape;4159;p5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160" name="Google Shape;4160;p50"/>
            <p:cNvGrpSpPr/>
            <p:nvPr/>
          </p:nvGrpSpPr>
          <p:grpSpPr>
            <a:xfrm>
              <a:off x="4739" y="1327"/>
              <a:ext cx="580" cy="139"/>
              <a:chOff x="614" y="2568"/>
              <a:chExt cx="723" cy="139"/>
            </a:xfrm>
          </p:grpSpPr>
          <p:sp>
            <p:nvSpPr>
              <p:cNvPr id="4161" name="Google Shape;4161;p50"/>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62" name="Google Shape;4162;p50"/>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163" name="Google Shape;4163;p50"/>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64" name="Google Shape;4164;p5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65" name="Google Shape;4165;p5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66" name="Google Shape;4166;p50"/>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67" name="Google Shape;4167;p5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68" name="Google Shape;4168;p50"/>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69" name="Google Shape;4169;p50"/>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70" name="Google Shape;4170;p50"/>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71" name="Google Shape;4171;p50"/>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172" name="Google Shape;4172;p50"/>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73" name="Google Shape;4173;p50"/>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174" name="Google Shape;4174;p50"/>
          <p:cNvGrpSpPr/>
          <p:nvPr/>
        </p:nvGrpSpPr>
        <p:grpSpPr>
          <a:xfrm>
            <a:off x="9064007" y="1589358"/>
            <a:ext cx="377825" cy="576263"/>
            <a:chOff x="4140" y="429"/>
            <a:chExt cx="1425" cy="2396"/>
          </a:xfrm>
        </p:grpSpPr>
        <p:sp>
          <p:nvSpPr>
            <p:cNvPr id="4175" name="Google Shape;4175;p5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76" name="Google Shape;4176;p50"/>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77" name="Google Shape;4177;p5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78" name="Google Shape;4178;p5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79" name="Google Shape;4179;p50"/>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180" name="Google Shape;4180;p50"/>
            <p:cNvGrpSpPr/>
            <p:nvPr/>
          </p:nvGrpSpPr>
          <p:grpSpPr>
            <a:xfrm>
              <a:off x="4751" y="667"/>
              <a:ext cx="581" cy="145"/>
              <a:chOff x="616" y="2567"/>
              <a:chExt cx="725" cy="139"/>
            </a:xfrm>
          </p:grpSpPr>
          <p:sp>
            <p:nvSpPr>
              <p:cNvPr id="4181" name="Google Shape;4181;p50"/>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82" name="Google Shape;4182;p50"/>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183" name="Google Shape;4183;p50"/>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184" name="Google Shape;4184;p50"/>
            <p:cNvGrpSpPr/>
            <p:nvPr/>
          </p:nvGrpSpPr>
          <p:grpSpPr>
            <a:xfrm>
              <a:off x="4745" y="997"/>
              <a:ext cx="581" cy="132"/>
              <a:chOff x="611" y="2571"/>
              <a:chExt cx="725" cy="137"/>
            </a:xfrm>
          </p:grpSpPr>
          <p:sp>
            <p:nvSpPr>
              <p:cNvPr id="4185" name="Google Shape;4185;p50"/>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86" name="Google Shape;4186;p50"/>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187" name="Google Shape;4187;p50"/>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88" name="Google Shape;4188;p50"/>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189" name="Google Shape;4189;p50"/>
            <p:cNvGrpSpPr/>
            <p:nvPr/>
          </p:nvGrpSpPr>
          <p:grpSpPr>
            <a:xfrm>
              <a:off x="4733" y="1630"/>
              <a:ext cx="587" cy="146"/>
              <a:chOff x="611" y="2571"/>
              <a:chExt cx="731" cy="134"/>
            </a:xfrm>
          </p:grpSpPr>
          <p:sp>
            <p:nvSpPr>
              <p:cNvPr id="4190" name="Google Shape;4190;p50"/>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91" name="Google Shape;4191;p50"/>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192" name="Google Shape;4192;p5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193" name="Google Shape;4193;p50"/>
            <p:cNvGrpSpPr/>
            <p:nvPr/>
          </p:nvGrpSpPr>
          <p:grpSpPr>
            <a:xfrm>
              <a:off x="4739" y="1327"/>
              <a:ext cx="580" cy="139"/>
              <a:chOff x="614" y="2568"/>
              <a:chExt cx="723" cy="139"/>
            </a:xfrm>
          </p:grpSpPr>
          <p:sp>
            <p:nvSpPr>
              <p:cNvPr id="4194" name="Google Shape;4194;p50"/>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95" name="Google Shape;4195;p50"/>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196" name="Google Shape;4196;p50"/>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97" name="Google Shape;4197;p5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98" name="Google Shape;4198;p5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199" name="Google Shape;4199;p50"/>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00" name="Google Shape;4200;p5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01" name="Google Shape;4201;p50"/>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02" name="Google Shape;4202;p50"/>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03" name="Google Shape;4203;p50"/>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04" name="Google Shape;4204;p50"/>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205" name="Google Shape;4205;p50"/>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06" name="Google Shape;4206;p50"/>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207" name="Google Shape;4207;p50"/>
          <p:cNvGrpSpPr/>
          <p:nvPr/>
        </p:nvGrpSpPr>
        <p:grpSpPr>
          <a:xfrm>
            <a:off x="9673607" y="1741758"/>
            <a:ext cx="377825" cy="576263"/>
            <a:chOff x="4140" y="429"/>
            <a:chExt cx="1425" cy="2396"/>
          </a:xfrm>
        </p:grpSpPr>
        <p:sp>
          <p:nvSpPr>
            <p:cNvPr id="4208" name="Google Shape;4208;p5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09" name="Google Shape;4209;p50"/>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10" name="Google Shape;4210;p5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11" name="Google Shape;4211;p5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12" name="Google Shape;4212;p50"/>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213" name="Google Shape;4213;p50"/>
            <p:cNvGrpSpPr/>
            <p:nvPr/>
          </p:nvGrpSpPr>
          <p:grpSpPr>
            <a:xfrm>
              <a:off x="4751" y="667"/>
              <a:ext cx="581" cy="145"/>
              <a:chOff x="616" y="2567"/>
              <a:chExt cx="725" cy="139"/>
            </a:xfrm>
          </p:grpSpPr>
          <p:sp>
            <p:nvSpPr>
              <p:cNvPr id="4214" name="Google Shape;4214;p50"/>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15" name="Google Shape;4215;p50"/>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216" name="Google Shape;4216;p50"/>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217" name="Google Shape;4217;p50"/>
            <p:cNvGrpSpPr/>
            <p:nvPr/>
          </p:nvGrpSpPr>
          <p:grpSpPr>
            <a:xfrm>
              <a:off x="4745" y="997"/>
              <a:ext cx="581" cy="132"/>
              <a:chOff x="611" y="2571"/>
              <a:chExt cx="725" cy="137"/>
            </a:xfrm>
          </p:grpSpPr>
          <p:sp>
            <p:nvSpPr>
              <p:cNvPr id="4218" name="Google Shape;4218;p50"/>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19" name="Google Shape;4219;p50"/>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220" name="Google Shape;4220;p50"/>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21" name="Google Shape;4221;p50"/>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222" name="Google Shape;4222;p50"/>
            <p:cNvGrpSpPr/>
            <p:nvPr/>
          </p:nvGrpSpPr>
          <p:grpSpPr>
            <a:xfrm>
              <a:off x="4733" y="1630"/>
              <a:ext cx="587" cy="146"/>
              <a:chOff x="611" y="2571"/>
              <a:chExt cx="731" cy="134"/>
            </a:xfrm>
          </p:grpSpPr>
          <p:sp>
            <p:nvSpPr>
              <p:cNvPr id="4223" name="Google Shape;4223;p50"/>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24" name="Google Shape;4224;p50"/>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225" name="Google Shape;4225;p5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226" name="Google Shape;4226;p50"/>
            <p:cNvGrpSpPr/>
            <p:nvPr/>
          </p:nvGrpSpPr>
          <p:grpSpPr>
            <a:xfrm>
              <a:off x="4739" y="1327"/>
              <a:ext cx="580" cy="139"/>
              <a:chOff x="614" y="2568"/>
              <a:chExt cx="723" cy="139"/>
            </a:xfrm>
          </p:grpSpPr>
          <p:sp>
            <p:nvSpPr>
              <p:cNvPr id="4227" name="Google Shape;4227;p50"/>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28" name="Google Shape;4228;p50"/>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229" name="Google Shape;4229;p50"/>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30" name="Google Shape;4230;p5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31" name="Google Shape;4231;p5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32" name="Google Shape;4232;p50"/>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33" name="Google Shape;4233;p5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34" name="Google Shape;4234;p50"/>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35" name="Google Shape;4235;p50"/>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36" name="Google Shape;4236;p50"/>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37" name="Google Shape;4237;p50"/>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238" name="Google Shape;4238;p50"/>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39" name="Google Shape;4239;p50"/>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240" name="Google Shape;4240;p50"/>
          <p:cNvGrpSpPr/>
          <p:nvPr/>
        </p:nvGrpSpPr>
        <p:grpSpPr>
          <a:xfrm>
            <a:off x="10002220" y="2687908"/>
            <a:ext cx="377825" cy="576263"/>
            <a:chOff x="4140" y="429"/>
            <a:chExt cx="1425" cy="2396"/>
          </a:xfrm>
        </p:grpSpPr>
        <p:sp>
          <p:nvSpPr>
            <p:cNvPr id="4241" name="Google Shape;4241;p5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42" name="Google Shape;4242;p50"/>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43" name="Google Shape;4243;p5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44" name="Google Shape;4244;p5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45" name="Google Shape;4245;p50"/>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246" name="Google Shape;4246;p50"/>
            <p:cNvGrpSpPr/>
            <p:nvPr/>
          </p:nvGrpSpPr>
          <p:grpSpPr>
            <a:xfrm>
              <a:off x="4751" y="667"/>
              <a:ext cx="581" cy="145"/>
              <a:chOff x="616" y="2567"/>
              <a:chExt cx="725" cy="139"/>
            </a:xfrm>
          </p:grpSpPr>
          <p:sp>
            <p:nvSpPr>
              <p:cNvPr id="4247" name="Google Shape;4247;p50"/>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48" name="Google Shape;4248;p50"/>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249" name="Google Shape;4249;p50"/>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250" name="Google Shape;4250;p50"/>
            <p:cNvGrpSpPr/>
            <p:nvPr/>
          </p:nvGrpSpPr>
          <p:grpSpPr>
            <a:xfrm>
              <a:off x="4745" y="997"/>
              <a:ext cx="581" cy="132"/>
              <a:chOff x="611" y="2571"/>
              <a:chExt cx="725" cy="137"/>
            </a:xfrm>
          </p:grpSpPr>
          <p:sp>
            <p:nvSpPr>
              <p:cNvPr id="4251" name="Google Shape;4251;p50"/>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52" name="Google Shape;4252;p50"/>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253" name="Google Shape;4253;p50"/>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54" name="Google Shape;4254;p50"/>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255" name="Google Shape;4255;p50"/>
            <p:cNvGrpSpPr/>
            <p:nvPr/>
          </p:nvGrpSpPr>
          <p:grpSpPr>
            <a:xfrm>
              <a:off x="4733" y="1630"/>
              <a:ext cx="587" cy="146"/>
              <a:chOff x="611" y="2571"/>
              <a:chExt cx="731" cy="134"/>
            </a:xfrm>
          </p:grpSpPr>
          <p:sp>
            <p:nvSpPr>
              <p:cNvPr id="4256" name="Google Shape;4256;p50"/>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57" name="Google Shape;4257;p50"/>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258" name="Google Shape;4258;p5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259" name="Google Shape;4259;p50"/>
            <p:cNvGrpSpPr/>
            <p:nvPr/>
          </p:nvGrpSpPr>
          <p:grpSpPr>
            <a:xfrm>
              <a:off x="4739" y="1327"/>
              <a:ext cx="580" cy="139"/>
              <a:chOff x="614" y="2568"/>
              <a:chExt cx="723" cy="139"/>
            </a:xfrm>
          </p:grpSpPr>
          <p:sp>
            <p:nvSpPr>
              <p:cNvPr id="4260" name="Google Shape;4260;p50"/>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61" name="Google Shape;4261;p50"/>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262" name="Google Shape;4262;p50"/>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63" name="Google Shape;4263;p5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64" name="Google Shape;4264;p5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65" name="Google Shape;4265;p50"/>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66" name="Google Shape;4266;p5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67" name="Google Shape;4267;p50"/>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68" name="Google Shape;4268;p50"/>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69" name="Google Shape;4269;p50"/>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70" name="Google Shape;4270;p50"/>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271" name="Google Shape;4271;p50"/>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272" name="Google Shape;4272;p50"/>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273" name="Google Shape;4273;p50"/>
          <p:cNvGrpSpPr/>
          <p:nvPr/>
        </p:nvGrpSpPr>
        <p:grpSpPr>
          <a:xfrm>
            <a:off x="8057532" y="5170758"/>
            <a:ext cx="525463" cy="557213"/>
            <a:chOff x="-44" y="1473"/>
            <a:chExt cx="981" cy="1105"/>
          </a:xfrm>
        </p:grpSpPr>
        <p:pic>
          <p:nvPicPr>
            <p:cNvPr descr="desktop_computer_stylized_medium" id="4274" name="Google Shape;4274;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75" name="Google Shape;4275;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276" name="Google Shape;4276;p50"/>
          <p:cNvGrpSpPr/>
          <p:nvPr/>
        </p:nvGrpSpPr>
        <p:grpSpPr>
          <a:xfrm>
            <a:off x="8581407" y="5159646"/>
            <a:ext cx="525463" cy="557212"/>
            <a:chOff x="-44" y="1473"/>
            <a:chExt cx="981" cy="1105"/>
          </a:xfrm>
        </p:grpSpPr>
        <p:pic>
          <p:nvPicPr>
            <p:cNvPr descr="desktop_computer_stylized_medium" id="4277" name="Google Shape;4277;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78" name="Google Shape;4278;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279" name="Google Shape;4279;p50"/>
          <p:cNvGrpSpPr/>
          <p:nvPr/>
        </p:nvGrpSpPr>
        <p:grpSpPr>
          <a:xfrm>
            <a:off x="8650253" y="3095664"/>
            <a:ext cx="889089" cy="466491"/>
            <a:chOff x="7493876" y="2774731"/>
            <a:chExt cx="1481958" cy="894622"/>
          </a:xfrm>
        </p:grpSpPr>
        <p:sp>
          <p:nvSpPr>
            <p:cNvPr id="4280" name="Google Shape;4280;p5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4281" name="Google Shape;4281;p5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4282" name="Google Shape;4282;p50"/>
            <p:cNvGrpSpPr/>
            <p:nvPr/>
          </p:nvGrpSpPr>
          <p:grpSpPr>
            <a:xfrm>
              <a:off x="7713663" y="2848339"/>
              <a:ext cx="1042107" cy="425543"/>
              <a:chOff x="7786941" y="2884917"/>
              <a:chExt cx="897649" cy="353919"/>
            </a:xfrm>
          </p:grpSpPr>
          <p:sp>
            <p:nvSpPr>
              <p:cNvPr id="4283" name="Google Shape;4283;p5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4" name="Google Shape;4284;p5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5" name="Google Shape;4285;p5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6" name="Google Shape;4286;p5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4287" name="Google Shape;4287;p50"/>
          <p:cNvSpPr/>
          <p:nvPr/>
        </p:nvSpPr>
        <p:spPr>
          <a:xfrm>
            <a:off x="870724" y="1362307"/>
            <a:ext cx="6123957" cy="2519263"/>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i="1" lang="en-US" sz="2800">
                <a:solidFill>
                  <a:srgbClr val="CC0000"/>
                </a:solidFill>
                <a:latin typeface="Calibri"/>
                <a:ea typeface="Calibri"/>
                <a:cs typeface="Calibri"/>
                <a:sym typeface="Calibri"/>
              </a:rPr>
              <a:t>Scenario:</a:t>
            </a:r>
            <a:endParaRPr/>
          </a:p>
          <a:p>
            <a:pPr indent="-342900" lvl="0" marL="342900" marR="0" rtl="0" algn="l">
              <a:lnSpc>
                <a:spcPct val="85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access link rate: 1.54 Mbps</a:t>
            </a:r>
            <a:endParaRPr/>
          </a:p>
          <a:p>
            <a:pPr indent="-342900" lvl="0" marL="342900" marR="0" rtl="0" algn="l">
              <a:lnSpc>
                <a:spcPct val="85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RTT from institutional router to server: 2 sec</a:t>
            </a:r>
            <a:endParaRPr/>
          </a:p>
          <a:p>
            <a:pPr indent="-342900" lvl="0" marL="342900" marR="0" rtl="0" algn="l">
              <a:lnSpc>
                <a:spcPct val="85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Web object size: 100K bits</a:t>
            </a:r>
            <a:endParaRPr/>
          </a:p>
          <a:p>
            <a:pPr indent="-342900" lvl="0" marL="342900" marR="0" rtl="0" algn="l">
              <a:lnSpc>
                <a:spcPct val="85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Avg request rate from browsers to origin servers: 15/sec</a:t>
            </a:r>
            <a:endParaRPr/>
          </a:p>
          <a:p>
            <a:pPr indent="-342900" lvl="1" marL="800100" marR="0" rtl="0" algn="l">
              <a:lnSpc>
                <a:spcPct val="85000"/>
              </a:lnSpc>
              <a:spcBef>
                <a:spcPts val="40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avg data rate to browsers: 1.50 Mbps</a:t>
            </a:r>
            <a:endParaRPr/>
          </a:p>
        </p:txBody>
      </p:sp>
      <p:grpSp>
        <p:nvGrpSpPr>
          <p:cNvPr id="4288" name="Google Shape;4288;p50"/>
          <p:cNvGrpSpPr/>
          <p:nvPr/>
        </p:nvGrpSpPr>
        <p:grpSpPr>
          <a:xfrm>
            <a:off x="8628916" y="4437217"/>
            <a:ext cx="889089" cy="466491"/>
            <a:chOff x="7493876" y="2774731"/>
            <a:chExt cx="1481958" cy="894622"/>
          </a:xfrm>
        </p:grpSpPr>
        <p:sp>
          <p:nvSpPr>
            <p:cNvPr id="4289" name="Google Shape;4289;p5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4290" name="Google Shape;4290;p5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4291" name="Google Shape;4291;p50"/>
            <p:cNvGrpSpPr/>
            <p:nvPr/>
          </p:nvGrpSpPr>
          <p:grpSpPr>
            <a:xfrm>
              <a:off x="7713663" y="2848339"/>
              <a:ext cx="1042107" cy="425543"/>
              <a:chOff x="7786941" y="2884917"/>
              <a:chExt cx="897649" cy="353919"/>
            </a:xfrm>
          </p:grpSpPr>
          <p:sp>
            <p:nvSpPr>
              <p:cNvPr id="4292" name="Google Shape;4292;p5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93" name="Google Shape;4293;p5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94" name="Google Shape;4294;p5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95" name="Google Shape;4295;p5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4296" name="Google Shape;4296;p50"/>
          <p:cNvGrpSpPr/>
          <p:nvPr/>
        </p:nvGrpSpPr>
        <p:grpSpPr>
          <a:xfrm>
            <a:off x="9001301" y="4807753"/>
            <a:ext cx="811212" cy="1033463"/>
            <a:chOff x="9001301" y="5550914"/>
            <a:chExt cx="811212" cy="1033463"/>
          </a:xfrm>
        </p:grpSpPr>
        <p:sp>
          <p:nvSpPr>
            <p:cNvPr id="4297" name="Google Shape;4297;p50"/>
            <p:cNvSpPr/>
            <p:nvPr/>
          </p:nvSpPr>
          <p:spPr>
            <a:xfrm>
              <a:off x="9001301" y="5550914"/>
              <a:ext cx="811212" cy="1033463"/>
            </a:xfrm>
            <a:prstGeom prst="ellipse">
              <a:avLst/>
            </a:prstGeom>
            <a:solidFill>
              <a:srgbClr val="C00000">
                <a:alpha val="40784"/>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298" name="Google Shape;4298;p50"/>
            <p:cNvGrpSpPr/>
            <p:nvPr/>
          </p:nvGrpSpPr>
          <p:grpSpPr>
            <a:xfrm>
              <a:off x="9256094" y="5631762"/>
              <a:ext cx="377825" cy="800176"/>
              <a:chOff x="10907888" y="5189290"/>
              <a:chExt cx="377825" cy="800176"/>
            </a:xfrm>
          </p:grpSpPr>
          <p:cxnSp>
            <p:nvCxnSpPr>
              <p:cNvPr id="4299" name="Google Shape;4299;p50"/>
              <p:cNvCxnSpPr/>
              <p:nvPr/>
            </p:nvCxnSpPr>
            <p:spPr>
              <a:xfrm>
                <a:off x="10966625" y="5189290"/>
                <a:ext cx="76200" cy="322262"/>
              </a:xfrm>
              <a:prstGeom prst="straightConnector1">
                <a:avLst/>
              </a:prstGeom>
              <a:noFill/>
              <a:ln cap="flat" cmpd="sng" w="28575">
                <a:solidFill>
                  <a:srgbClr val="000000"/>
                </a:solidFill>
                <a:prstDash val="solid"/>
                <a:round/>
                <a:headEnd len="med" w="med" type="none"/>
                <a:tailEnd len="med" w="med" type="none"/>
              </a:ln>
            </p:spPr>
          </p:cxnSp>
          <p:grpSp>
            <p:nvGrpSpPr>
              <p:cNvPr id="4300" name="Google Shape;4300;p50"/>
              <p:cNvGrpSpPr/>
              <p:nvPr/>
            </p:nvGrpSpPr>
            <p:grpSpPr>
              <a:xfrm>
                <a:off x="10907888" y="5413204"/>
                <a:ext cx="377825" cy="576262"/>
                <a:chOff x="4140" y="429"/>
                <a:chExt cx="1425" cy="2396"/>
              </a:xfrm>
            </p:grpSpPr>
            <p:sp>
              <p:nvSpPr>
                <p:cNvPr id="4301" name="Google Shape;4301;p5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02" name="Google Shape;4302;p50"/>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03" name="Google Shape;4303;p5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04" name="Google Shape;4304;p5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05" name="Google Shape;4305;p50"/>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306" name="Google Shape;4306;p50"/>
                <p:cNvGrpSpPr/>
                <p:nvPr/>
              </p:nvGrpSpPr>
              <p:grpSpPr>
                <a:xfrm>
                  <a:off x="4751" y="667"/>
                  <a:ext cx="581" cy="145"/>
                  <a:chOff x="616" y="2567"/>
                  <a:chExt cx="725" cy="139"/>
                </a:xfrm>
              </p:grpSpPr>
              <p:sp>
                <p:nvSpPr>
                  <p:cNvPr id="4307" name="Google Shape;4307;p50"/>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08" name="Google Shape;4308;p50"/>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309" name="Google Shape;4309;p50"/>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310" name="Google Shape;4310;p50"/>
                <p:cNvGrpSpPr/>
                <p:nvPr/>
              </p:nvGrpSpPr>
              <p:grpSpPr>
                <a:xfrm>
                  <a:off x="4745" y="997"/>
                  <a:ext cx="581" cy="132"/>
                  <a:chOff x="611" y="2571"/>
                  <a:chExt cx="725" cy="137"/>
                </a:xfrm>
              </p:grpSpPr>
              <p:sp>
                <p:nvSpPr>
                  <p:cNvPr id="4311" name="Google Shape;4311;p50"/>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12" name="Google Shape;4312;p50"/>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313" name="Google Shape;4313;p50"/>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14" name="Google Shape;4314;p50"/>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315" name="Google Shape;4315;p50"/>
                <p:cNvGrpSpPr/>
                <p:nvPr/>
              </p:nvGrpSpPr>
              <p:grpSpPr>
                <a:xfrm>
                  <a:off x="4733" y="1630"/>
                  <a:ext cx="587" cy="146"/>
                  <a:chOff x="611" y="2571"/>
                  <a:chExt cx="731" cy="134"/>
                </a:xfrm>
              </p:grpSpPr>
              <p:sp>
                <p:nvSpPr>
                  <p:cNvPr id="4316" name="Google Shape;4316;p50"/>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17" name="Google Shape;4317;p50"/>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318" name="Google Shape;4318;p5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319" name="Google Shape;4319;p50"/>
                <p:cNvGrpSpPr/>
                <p:nvPr/>
              </p:nvGrpSpPr>
              <p:grpSpPr>
                <a:xfrm>
                  <a:off x="4739" y="1327"/>
                  <a:ext cx="580" cy="139"/>
                  <a:chOff x="614" y="2568"/>
                  <a:chExt cx="723" cy="139"/>
                </a:xfrm>
              </p:grpSpPr>
              <p:sp>
                <p:nvSpPr>
                  <p:cNvPr id="4320" name="Google Shape;4320;p50"/>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21" name="Google Shape;4321;p50"/>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322" name="Google Shape;4322;p50"/>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23" name="Google Shape;4323;p5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24" name="Google Shape;4324;p5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25" name="Google Shape;4325;p50"/>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26" name="Google Shape;4326;p5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27" name="Google Shape;4327;p50"/>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28" name="Google Shape;4328;p50"/>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29" name="Google Shape;4329;p50"/>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30" name="Google Shape;4330;p50"/>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331" name="Google Shape;4331;p50"/>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32" name="Google Shape;4332;p50"/>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grpSp>
      <p:sp>
        <p:nvSpPr>
          <p:cNvPr id="4333" name="Google Shape;4333;p50"/>
          <p:cNvSpPr txBox="1"/>
          <p:nvPr/>
        </p:nvSpPr>
        <p:spPr>
          <a:xfrm>
            <a:off x="4415950" y="4554227"/>
            <a:ext cx="2818464" cy="690638"/>
          </a:xfrm>
          <a:prstGeom prst="rect">
            <a:avLst/>
          </a:prstGeom>
          <a:noFill/>
          <a:ln>
            <a:noFill/>
          </a:ln>
        </p:spPr>
        <p:txBody>
          <a:bodyPr anchorCtr="0" anchor="t" bIns="45700" lIns="91425" spcFirstLastPara="1" rIns="91425" wrap="square" tIns="45700">
            <a:spAutoFit/>
          </a:bodyPr>
          <a:lstStyle/>
          <a:p>
            <a:pPr indent="-342900" lvl="0" marL="342900" marR="0" rtl="0" algn="ctr">
              <a:lnSpc>
                <a:spcPct val="80000"/>
              </a:lnSpc>
              <a:spcBef>
                <a:spcPts val="0"/>
              </a:spcBef>
              <a:spcAft>
                <a:spcPts val="0"/>
              </a:spcAft>
              <a:buNone/>
            </a:pPr>
            <a:r>
              <a:rPr i="1" lang="en-US" sz="2400">
                <a:solidFill>
                  <a:srgbClr val="CC0000"/>
                </a:solidFill>
                <a:latin typeface="Calibri"/>
                <a:ea typeface="Calibri"/>
                <a:cs typeface="Calibri"/>
                <a:sym typeface="Calibri"/>
              </a:rPr>
              <a:t>How to compute link </a:t>
            </a:r>
            <a:endParaRPr/>
          </a:p>
          <a:p>
            <a:pPr indent="-342900" lvl="0" marL="342900" marR="0" rtl="0" algn="ctr">
              <a:lnSpc>
                <a:spcPct val="80000"/>
              </a:lnSpc>
              <a:spcBef>
                <a:spcPts val="0"/>
              </a:spcBef>
              <a:spcAft>
                <a:spcPts val="0"/>
              </a:spcAft>
              <a:buNone/>
            </a:pPr>
            <a:r>
              <a:rPr i="1" lang="en-US" sz="2400">
                <a:solidFill>
                  <a:srgbClr val="CC0000"/>
                </a:solidFill>
                <a:latin typeface="Calibri"/>
                <a:ea typeface="Calibri"/>
                <a:cs typeface="Calibri"/>
                <a:sym typeface="Calibri"/>
              </a:rPr>
              <a:t>utilization, delay?</a:t>
            </a:r>
            <a:endParaRPr/>
          </a:p>
        </p:txBody>
      </p:sp>
      <p:sp>
        <p:nvSpPr>
          <p:cNvPr id="4334" name="Google Shape;4334;p50"/>
          <p:cNvSpPr txBox="1"/>
          <p:nvPr/>
        </p:nvSpPr>
        <p:spPr>
          <a:xfrm>
            <a:off x="870724" y="5712506"/>
            <a:ext cx="3306611"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i="1" lang="en-US" sz="2400">
                <a:solidFill>
                  <a:srgbClr val="CC0000"/>
                </a:solidFill>
                <a:latin typeface="Calibri"/>
                <a:ea typeface="Calibri"/>
                <a:cs typeface="Calibri"/>
                <a:sym typeface="Calibri"/>
              </a:rPr>
              <a:t>Cost:</a:t>
            </a:r>
            <a:r>
              <a:rPr lang="en-US" sz="2400">
                <a:solidFill>
                  <a:schemeClr val="dk1"/>
                </a:solidFill>
                <a:latin typeface="Calibri"/>
                <a:ea typeface="Calibri"/>
                <a:cs typeface="Calibri"/>
                <a:sym typeface="Calibri"/>
              </a:rPr>
              <a:t> web cache (cheap!)</a:t>
            </a:r>
            <a:endParaRPr/>
          </a:p>
        </p:txBody>
      </p:sp>
      <p:sp>
        <p:nvSpPr>
          <p:cNvPr id="4335" name="Google Shape;4335;p50"/>
          <p:cNvSpPr txBox="1"/>
          <p:nvPr/>
        </p:nvSpPr>
        <p:spPr>
          <a:xfrm>
            <a:off x="9105122" y="5793184"/>
            <a:ext cx="164179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local web cache</a:t>
            </a:r>
            <a:endParaRPr b="0" i="0" sz="2400" u="none" cap="none" strike="noStrike">
              <a:solidFill>
                <a:srgbClr val="C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6"/>
                                        </p:tgtEl>
                                        <p:attrNameLst>
                                          <p:attrName>style.visibility</p:attrName>
                                        </p:attrNameLst>
                                      </p:cBhvr>
                                      <p:to>
                                        <p:strVal val="visible"/>
                                      </p:to>
                                    </p:set>
                                    <p:animEffect filter="fade" transition="in">
                                      <p:cBhvr>
                                        <p:cTn dur="500"/>
                                        <p:tgtEl>
                                          <p:spTgt spid="4296"/>
                                        </p:tgtEl>
                                      </p:cBhvr>
                                    </p:animEffect>
                                  </p:childTnLst>
                                </p:cTn>
                              </p:par>
                              <p:par>
                                <p:cTn fill="hold" nodeType="withEffect" presetClass="entr" presetID="10" presetSubtype="0">
                                  <p:stCondLst>
                                    <p:cond delay="0"/>
                                  </p:stCondLst>
                                  <p:childTnLst>
                                    <p:set>
                                      <p:cBhvr>
                                        <p:cTn dur="1" fill="hold">
                                          <p:stCondLst>
                                            <p:cond delay="0"/>
                                          </p:stCondLst>
                                        </p:cTn>
                                        <p:tgtEl>
                                          <p:spTgt spid="4335"/>
                                        </p:tgtEl>
                                        <p:attrNameLst>
                                          <p:attrName>style.visibility</p:attrName>
                                        </p:attrNameLst>
                                      </p:cBhvr>
                                      <p:to>
                                        <p:strVal val="visible"/>
                                      </p:to>
                                    </p:set>
                                    <p:animEffect filter="fade" transition="in">
                                      <p:cBhvr>
                                        <p:cTn dur="500"/>
                                        <p:tgtEl>
                                          <p:spTgt spid="43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4"/>
                                        </p:tgtEl>
                                        <p:attrNameLst>
                                          <p:attrName>style.visibility</p:attrName>
                                        </p:attrNameLst>
                                      </p:cBhvr>
                                      <p:to>
                                        <p:strVal val="visible"/>
                                      </p:to>
                                    </p:set>
                                    <p:animEffect filter="fade" transition="in">
                                      <p:cBhvr>
                                        <p:cTn dur="500"/>
                                        <p:tgtEl>
                                          <p:spTgt spid="43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3">
                                            <p:txEl>
                                              <p:pRg end="0" st="0"/>
                                            </p:txEl>
                                          </p:spTgt>
                                        </p:tgtEl>
                                        <p:attrNameLst>
                                          <p:attrName>style.visibility</p:attrName>
                                        </p:attrNameLst>
                                      </p:cBhvr>
                                      <p:to>
                                        <p:strVal val="visible"/>
                                      </p:to>
                                    </p:set>
                                    <p:animEffect filter="fade" transition="in">
                                      <p:cBhvr>
                                        <p:cTn dur="500"/>
                                        <p:tgtEl>
                                          <p:spTgt spid="43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3">
                                            <p:txEl>
                                              <p:pRg end="1" st="1"/>
                                            </p:txEl>
                                          </p:spTgt>
                                        </p:tgtEl>
                                        <p:attrNameLst>
                                          <p:attrName>style.visibility</p:attrName>
                                        </p:attrNameLst>
                                      </p:cBhvr>
                                      <p:to>
                                        <p:strVal val="visible"/>
                                      </p:to>
                                    </p:set>
                                    <p:animEffect filter="fade" transition="in">
                                      <p:cBhvr>
                                        <p:cTn dur="500"/>
                                        <p:tgtEl>
                                          <p:spTgt spid="4333">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0" name="Shape 4340"/>
        <p:cNvGrpSpPr/>
        <p:nvPr/>
      </p:nvGrpSpPr>
      <p:grpSpPr>
        <a:xfrm>
          <a:off x="0" y="0"/>
          <a:ext cx="0" cy="0"/>
          <a:chOff x="0" y="0"/>
          <a:chExt cx="0" cy="0"/>
        </a:xfrm>
      </p:grpSpPr>
      <p:sp>
        <p:nvSpPr>
          <p:cNvPr id="4341" name="Google Shape;4341;p51"/>
          <p:cNvSpPr txBox="1"/>
          <p:nvPr>
            <p:ph type="title"/>
          </p:nvPr>
        </p:nvSpPr>
        <p:spPr>
          <a:xfrm>
            <a:off x="798691" y="37987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Caching Example B: install a web cache</a:t>
            </a:r>
            <a:endParaRPr sz="4400"/>
          </a:p>
        </p:txBody>
      </p:sp>
      <p:sp>
        <p:nvSpPr>
          <p:cNvPr id="4342" name="Google Shape;4342;p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cxnSp>
        <p:nvCxnSpPr>
          <p:cNvPr id="4343" name="Google Shape;4343;p51"/>
          <p:cNvCxnSpPr/>
          <p:nvPr/>
        </p:nvCxnSpPr>
        <p:spPr>
          <a:xfrm>
            <a:off x="7744795" y="2487883"/>
            <a:ext cx="285750" cy="114300"/>
          </a:xfrm>
          <a:prstGeom prst="straightConnector1">
            <a:avLst/>
          </a:prstGeom>
          <a:noFill/>
          <a:ln cap="flat" cmpd="sng" w="28575">
            <a:solidFill>
              <a:srgbClr val="3333CC"/>
            </a:solidFill>
            <a:prstDash val="solid"/>
            <a:round/>
            <a:headEnd len="med" w="med" type="none"/>
            <a:tailEnd len="med" w="med" type="none"/>
          </a:ln>
        </p:spPr>
      </p:cxnSp>
      <p:sp>
        <p:nvSpPr>
          <p:cNvPr id="4344" name="Google Shape;4344;p51"/>
          <p:cNvSpPr txBox="1"/>
          <p:nvPr/>
        </p:nvSpPr>
        <p:spPr>
          <a:xfrm>
            <a:off x="10173670" y="1902096"/>
            <a:ext cx="93345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origin</a:t>
            </a:r>
            <a:endParaRPr/>
          </a:p>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servers</a:t>
            </a:r>
            <a:endParaRPr/>
          </a:p>
        </p:txBody>
      </p:sp>
      <p:cxnSp>
        <p:nvCxnSpPr>
          <p:cNvPr id="4345" name="Google Shape;4345;p51"/>
          <p:cNvCxnSpPr/>
          <p:nvPr/>
        </p:nvCxnSpPr>
        <p:spPr>
          <a:xfrm>
            <a:off x="8554420" y="2106883"/>
            <a:ext cx="66675" cy="276225"/>
          </a:xfrm>
          <a:prstGeom prst="straightConnector1">
            <a:avLst/>
          </a:prstGeom>
          <a:noFill/>
          <a:ln cap="flat" cmpd="sng" w="28575">
            <a:solidFill>
              <a:srgbClr val="3333CC"/>
            </a:solidFill>
            <a:prstDash val="solid"/>
            <a:round/>
            <a:headEnd len="med" w="med" type="none"/>
            <a:tailEnd len="med" w="med" type="none"/>
          </a:ln>
        </p:spPr>
      </p:cxnSp>
      <p:cxnSp>
        <p:nvCxnSpPr>
          <p:cNvPr id="4346" name="Google Shape;4346;p51"/>
          <p:cNvCxnSpPr/>
          <p:nvPr/>
        </p:nvCxnSpPr>
        <p:spPr>
          <a:xfrm flipH="1">
            <a:off x="9183070" y="2144983"/>
            <a:ext cx="9525" cy="238125"/>
          </a:xfrm>
          <a:prstGeom prst="straightConnector1">
            <a:avLst/>
          </a:prstGeom>
          <a:noFill/>
          <a:ln cap="flat" cmpd="sng" w="28575">
            <a:solidFill>
              <a:srgbClr val="3333CC"/>
            </a:solidFill>
            <a:prstDash val="solid"/>
            <a:round/>
            <a:headEnd len="med" w="med" type="none"/>
            <a:tailEnd len="med" w="med" type="none"/>
          </a:ln>
        </p:spPr>
      </p:cxnSp>
      <p:cxnSp>
        <p:nvCxnSpPr>
          <p:cNvPr id="4347" name="Google Shape;4347;p51"/>
          <p:cNvCxnSpPr/>
          <p:nvPr/>
        </p:nvCxnSpPr>
        <p:spPr>
          <a:xfrm flipH="1">
            <a:off x="9640270" y="2306908"/>
            <a:ext cx="133350" cy="209550"/>
          </a:xfrm>
          <a:prstGeom prst="straightConnector1">
            <a:avLst/>
          </a:prstGeom>
          <a:noFill/>
          <a:ln cap="flat" cmpd="sng" w="28575">
            <a:solidFill>
              <a:srgbClr val="3333CC"/>
            </a:solidFill>
            <a:prstDash val="solid"/>
            <a:round/>
            <a:headEnd len="med" w="med" type="none"/>
            <a:tailEnd len="med" w="med" type="none"/>
          </a:ln>
        </p:spPr>
      </p:cxnSp>
      <p:cxnSp>
        <p:nvCxnSpPr>
          <p:cNvPr id="4348" name="Google Shape;4348;p51"/>
          <p:cNvCxnSpPr/>
          <p:nvPr/>
        </p:nvCxnSpPr>
        <p:spPr>
          <a:xfrm rot="10800000">
            <a:off x="9802195" y="3068908"/>
            <a:ext cx="247650" cy="0"/>
          </a:xfrm>
          <a:prstGeom prst="straightConnector1">
            <a:avLst/>
          </a:prstGeom>
          <a:noFill/>
          <a:ln cap="flat" cmpd="sng" w="28575">
            <a:solidFill>
              <a:srgbClr val="3333CC"/>
            </a:solidFill>
            <a:prstDash val="solid"/>
            <a:round/>
            <a:headEnd len="med" w="med" type="none"/>
            <a:tailEnd len="med" w="med" type="none"/>
          </a:ln>
        </p:spPr>
      </p:cxnSp>
      <p:sp>
        <p:nvSpPr>
          <p:cNvPr id="4349" name="Google Shape;4349;p51"/>
          <p:cNvSpPr/>
          <p:nvPr/>
        </p:nvSpPr>
        <p:spPr>
          <a:xfrm>
            <a:off x="7819407" y="2111064"/>
            <a:ext cx="2174875" cy="1581150"/>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CC"/>
              </a:buClr>
              <a:buSzPts val="1700"/>
              <a:buFont typeface="Arial"/>
              <a:buNone/>
            </a:pPr>
            <a:r>
              <a:t/>
            </a:r>
            <a:endParaRPr sz="2000">
              <a:solidFill>
                <a:srgbClr val="000000"/>
              </a:solidFill>
              <a:latin typeface="Arial"/>
              <a:ea typeface="Arial"/>
              <a:cs typeface="Arial"/>
              <a:sym typeface="Arial"/>
            </a:endParaRPr>
          </a:p>
        </p:txBody>
      </p:sp>
      <p:sp>
        <p:nvSpPr>
          <p:cNvPr id="4350" name="Google Shape;4350;p51"/>
          <p:cNvSpPr txBox="1"/>
          <p:nvPr/>
        </p:nvSpPr>
        <p:spPr>
          <a:xfrm>
            <a:off x="8535370" y="2432321"/>
            <a:ext cx="931862"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public</a:t>
            </a:r>
            <a:endParaRPr/>
          </a:p>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 Internet</a:t>
            </a:r>
            <a:endParaRPr b="0" i="0" sz="2400" u="none" cap="none" strike="noStrike">
              <a:solidFill>
                <a:srgbClr val="CC0000"/>
              </a:solidFill>
              <a:latin typeface="Arial"/>
              <a:ea typeface="Arial"/>
              <a:cs typeface="Arial"/>
              <a:sym typeface="Arial"/>
            </a:endParaRPr>
          </a:p>
        </p:txBody>
      </p:sp>
      <p:sp>
        <p:nvSpPr>
          <p:cNvPr id="4351" name="Google Shape;4351;p51"/>
          <p:cNvSpPr/>
          <p:nvPr/>
        </p:nvSpPr>
        <p:spPr>
          <a:xfrm>
            <a:off x="7409832" y="4470671"/>
            <a:ext cx="2965450" cy="1390650"/>
          </a:xfrm>
          <a:custGeom>
            <a:rect b="b" l="l" r="r" t="t"/>
            <a:pathLst>
              <a:path extrusionOk="0" h="876" w="1868">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CC"/>
              </a:buClr>
              <a:buSzPts val="1700"/>
              <a:buFont typeface="Arial"/>
              <a:buNone/>
            </a:pPr>
            <a:r>
              <a:t/>
            </a:r>
            <a:endParaRPr sz="2000">
              <a:solidFill>
                <a:srgbClr val="000000"/>
              </a:solidFill>
              <a:latin typeface="Arial"/>
              <a:ea typeface="Arial"/>
              <a:cs typeface="Arial"/>
              <a:sym typeface="Arial"/>
            </a:endParaRPr>
          </a:p>
        </p:txBody>
      </p:sp>
      <p:cxnSp>
        <p:nvCxnSpPr>
          <p:cNvPr id="4352" name="Google Shape;4352;p51"/>
          <p:cNvCxnSpPr/>
          <p:nvPr/>
        </p:nvCxnSpPr>
        <p:spPr>
          <a:xfrm flipH="1">
            <a:off x="7859095" y="4780233"/>
            <a:ext cx="855662" cy="431800"/>
          </a:xfrm>
          <a:prstGeom prst="straightConnector1">
            <a:avLst/>
          </a:prstGeom>
          <a:noFill/>
          <a:ln cap="flat" cmpd="sng" w="28575">
            <a:solidFill>
              <a:srgbClr val="000000"/>
            </a:solidFill>
            <a:prstDash val="solid"/>
            <a:round/>
            <a:headEnd len="med" w="med" type="none"/>
            <a:tailEnd len="med" w="med" type="none"/>
          </a:ln>
        </p:spPr>
      </p:cxnSp>
      <p:cxnSp>
        <p:nvCxnSpPr>
          <p:cNvPr id="4353" name="Google Shape;4353;p51"/>
          <p:cNvCxnSpPr/>
          <p:nvPr/>
        </p:nvCxnSpPr>
        <p:spPr>
          <a:xfrm flipH="1">
            <a:off x="8368682" y="4827858"/>
            <a:ext cx="563563" cy="393700"/>
          </a:xfrm>
          <a:prstGeom prst="straightConnector1">
            <a:avLst/>
          </a:prstGeom>
          <a:noFill/>
          <a:ln cap="flat" cmpd="sng" w="28575">
            <a:solidFill>
              <a:srgbClr val="000000"/>
            </a:solidFill>
            <a:prstDash val="solid"/>
            <a:round/>
            <a:headEnd len="med" w="med" type="none"/>
            <a:tailEnd len="med" w="med" type="none"/>
          </a:ln>
        </p:spPr>
      </p:cxnSp>
      <p:cxnSp>
        <p:nvCxnSpPr>
          <p:cNvPr id="4354" name="Google Shape;4354;p51"/>
          <p:cNvCxnSpPr/>
          <p:nvPr/>
        </p:nvCxnSpPr>
        <p:spPr>
          <a:xfrm flipH="1">
            <a:off x="8906845" y="4834208"/>
            <a:ext cx="149225" cy="382588"/>
          </a:xfrm>
          <a:prstGeom prst="straightConnector1">
            <a:avLst/>
          </a:prstGeom>
          <a:noFill/>
          <a:ln cap="flat" cmpd="sng" w="28575">
            <a:solidFill>
              <a:srgbClr val="000000"/>
            </a:solidFill>
            <a:prstDash val="solid"/>
            <a:round/>
            <a:headEnd len="med" w="med" type="none"/>
            <a:tailEnd len="med" w="med" type="none"/>
          </a:ln>
        </p:spPr>
      </p:cxnSp>
      <p:cxnSp>
        <p:nvCxnSpPr>
          <p:cNvPr id="4355" name="Google Shape;4355;p51"/>
          <p:cNvCxnSpPr/>
          <p:nvPr/>
        </p:nvCxnSpPr>
        <p:spPr>
          <a:xfrm>
            <a:off x="9068770" y="3545158"/>
            <a:ext cx="0" cy="1062038"/>
          </a:xfrm>
          <a:prstGeom prst="straightConnector1">
            <a:avLst/>
          </a:prstGeom>
          <a:noFill/>
          <a:ln cap="flat" cmpd="sng" w="28575">
            <a:solidFill>
              <a:srgbClr val="000000"/>
            </a:solidFill>
            <a:prstDash val="solid"/>
            <a:round/>
            <a:headEnd len="med" w="med" type="none"/>
            <a:tailEnd len="med" w="med" type="none"/>
          </a:ln>
        </p:spPr>
      </p:cxnSp>
      <p:sp>
        <p:nvSpPr>
          <p:cNvPr id="4356" name="Google Shape;4356;p51"/>
          <p:cNvSpPr txBox="1"/>
          <p:nvPr/>
        </p:nvSpPr>
        <p:spPr>
          <a:xfrm>
            <a:off x="7436820" y="4357958"/>
            <a:ext cx="1198562"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institutional</a:t>
            </a:r>
            <a:endParaRPr/>
          </a:p>
          <a:p>
            <a:pPr indent="0" lvl="0" marL="0" marR="0" rtl="0" algn="ct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network</a:t>
            </a:r>
            <a:endParaRPr b="0" i="0" sz="2400" u="none" cap="none" strike="noStrike">
              <a:solidFill>
                <a:srgbClr val="CC0000"/>
              </a:solidFill>
              <a:latin typeface="Arial"/>
              <a:ea typeface="Arial"/>
              <a:cs typeface="Arial"/>
              <a:sym typeface="Arial"/>
            </a:endParaRPr>
          </a:p>
        </p:txBody>
      </p:sp>
      <p:sp>
        <p:nvSpPr>
          <p:cNvPr id="4357" name="Google Shape;4357;p51"/>
          <p:cNvSpPr txBox="1"/>
          <p:nvPr/>
        </p:nvSpPr>
        <p:spPr>
          <a:xfrm>
            <a:off x="9445007" y="4738958"/>
            <a:ext cx="129063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 Gbps LAN</a:t>
            </a:r>
            <a:endParaRPr b="0" i="0" sz="2400" u="none" cap="none" strike="noStrike">
              <a:solidFill>
                <a:srgbClr val="3333CC"/>
              </a:solidFill>
              <a:latin typeface="Arial"/>
              <a:ea typeface="Arial"/>
              <a:cs typeface="Arial"/>
              <a:sym typeface="Arial"/>
            </a:endParaRPr>
          </a:p>
        </p:txBody>
      </p:sp>
      <p:sp>
        <p:nvSpPr>
          <p:cNvPr id="4358" name="Google Shape;4358;p51"/>
          <p:cNvSpPr txBox="1"/>
          <p:nvPr/>
        </p:nvSpPr>
        <p:spPr>
          <a:xfrm>
            <a:off x="9070357" y="3734071"/>
            <a:ext cx="1190625"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1.54 Mbps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access link</a:t>
            </a:r>
            <a:endParaRPr b="0" i="0" sz="2400" u="none" cap="none" strike="noStrike">
              <a:solidFill>
                <a:srgbClr val="3333CC"/>
              </a:solidFill>
              <a:latin typeface="Arial"/>
              <a:ea typeface="Arial"/>
              <a:cs typeface="Arial"/>
              <a:sym typeface="Arial"/>
            </a:endParaRPr>
          </a:p>
        </p:txBody>
      </p:sp>
      <p:grpSp>
        <p:nvGrpSpPr>
          <p:cNvPr id="4359" name="Google Shape;4359;p51"/>
          <p:cNvGrpSpPr/>
          <p:nvPr/>
        </p:nvGrpSpPr>
        <p:grpSpPr>
          <a:xfrm>
            <a:off x="7397132" y="2035446"/>
            <a:ext cx="377825" cy="576262"/>
            <a:chOff x="4140" y="429"/>
            <a:chExt cx="1425" cy="2396"/>
          </a:xfrm>
        </p:grpSpPr>
        <p:sp>
          <p:nvSpPr>
            <p:cNvPr id="4360" name="Google Shape;4360;p5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61" name="Google Shape;4361;p51"/>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62" name="Google Shape;4362;p5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63" name="Google Shape;4363;p5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64" name="Google Shape;4364;p51"/>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365" name="Google Shape;4365;p51"/>
            <p:cNvGrpSpPr/>
            <p:nvPr/>
          </p:nvGrpSpPr>
          <p:grpSpPr>
            <a:xfrm>
              <a:off x="4751" y="667"/>
              <a:ext cx="581" cy="145"/>
              <a:chOff x="616" y="2567"/>
              <a:chExt cx="725" cy="139"/>
            </a:xfrm>
          </p:grpSpPr>
          <p:sp>
            <p:nvSpPr>
              <p:cNvPr id="4366" name="Google Shape;4366;p51"/>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67" name="Google Shape;4367;p51"/>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368" name="Google Shape;4368;p51"/>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369" name="Google Shape;4369;p51"/>
            <p:cNvGrpSpPr/>
            <p:nvPr/>
          </p:nvGrpSpPr>
          <p:grpSpPr>
            <a:xfrm>
              <a:off x="4745" y="997"/>
              <a:ext cx="581" cy="132"/>
              <a:chOff x="611" y="2571"/>
              <a:chExt cx="725" cy="137"/>
            </a:xfrm>
          </p:grpSpPr>
          <p:sp>
            <p:nvSpPr>
              <p:cNvPr id="4370" name="Google Shape;4370;p51"/>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71" name="Google Shape;4371;p51"/>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372" name="Google Shape;4372;p51"/>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73" name="Google Shape;4373;p51"/>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374" name="Google Shape;4374;p51"/>
            <p:cNvGrpSpPr/>
            <p:nvPr/>
          </p:nvGrpSpPr>
          <p:grpSpPr>
            <a:xfrm>
              <a:off x="4733" y="1630"/>
              <a:ext cx="587" cy="146"/>
              <a:chOff x="611" y="2571"/>
              <a:chExt cx="731" cy="134"/>
            </a:xfrm>
          </p:grpSpPr>
          <p:sp>
            <p:nvSpPr>
              <p:cNvPr id="4375" name="Google Shape;4375;p51"/>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76" name="Google Shape;4376;p51"/>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377" name="Google Shape;4377;p5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378" name="Google Shape;4378;p51"/>
            <p:cNvGrpSpPr/>
            <p:nvPr/>
          </p:nvGrpSpPr>
          <p:grpSpPr>
            <a:xfrm>
              <a:off x="4739" y="1327"/>
              <a:ext cx="580" cy="139"/>
              <a:chOff x="614" y="2568"/>
              <a:chExt cx="723" cy="139"/>
            </a:xfrm>
          </p:grpSpPr>
          <p:sp>
            <p:nvSpPr>
              <p:cNvPr id="4379" name="Google Shape;4379;p51"/>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80" name="Google Shape;4380;p51"/>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381" name="Google Shape;4381;p51"/>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82" name="Google Shape;4382;p5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83" name="Google Shape;4383;p5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84" name="Google Shape;4384;p51"/>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85" name="Google Shape;4385;p5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86" name="Google Shape;4386;p51"/>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87" name="Google Shape;4387;p51"/>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88" name="Google Shape;4388;p51"/>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89" name="Google Shape;4389;p51"/>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390" name="Google Shape;4390;p51"/>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91" name="Google Shape;4391;p51"/>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392" name="Google Shape;4392;p51"/>
          <p:cNvGrpSpPr/>
          <p:nvPr/>
        </p:nvGrpSpPr>
        <p:grpSpPr>
          <a:xfrm>
            <a:off x="7546357" y="5148533"/>
            <a:ext cx="525463" cy="557213"/>
            <a:chOff x="-44" y="1473"/>
            <a:chExt cx="981" cy="1105"/>
          </a:xfrm>
        </p:grpSpPr>
        <p:pic>
          <p:nvPicPr>
            <p:cNvPr descr="desktop_computer_stylized_medium" id="4393" name="Google Shape;4393;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394" name="Google Shape;4394;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395" name="Google Shape;4395;p51"/>
          <p:cNvGrpSpPr/>
          <p:nvPr/>
        </p:nvGrpSpPr>
        <p:grpSpPr>
          <a:xfrm>
            <a:off x="8311532" y="1557608"/>
            <a:ext cx="377825" cy="576263"/>
            <a:chOff x="4140" y="429"/>
            <a:chExt cx="1425" cy="2396"/>
          </a:xfrm>
        </p:grpSpPr>
        <p:sp>
          <p:nvSpPr>
            <p:cNvPr id="4396" name="Google Shape;4396;p5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97" name="Google Shape;4397;p51"/>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98" name="Google Shape;4398;p5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399" name="Google Shape;4399;p5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00" name="Google Shape;4400;p51"/>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401" name="Google Shape;4401;p51"/>
            <p:cNvGrpSpPr/>
            <p:nvPr/>
          </p:nvGrpSpPr>
          <p:grpSpPr>
            <a:xfrm>
              <a:off x="4751" y="667"/>
              <a:ext cx="581" cy="145"/>
              <a:chOff x="616" y="2567"/>
              <a:chExt cx="725" cy="139"/>
            </a:xfrm>
          </p:grpSpPr>
          <p:sp>
            <p:nvSpPr>
              <p:cNvPr id="4402" name="Google Shape;4402;p51"/>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03" name="Google Shape;4403;p51"/>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404" name="Google Shape;4404;p51"/>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405" name="Google Shape;4405;p51"/>
            <p:cNvGrpSpPr/>
            <p:nvPr/>
          </p:nvGrpSpPr>
          <p:grpSpPr>
            <a:xfrm>
              <a:off x="4745" y="997"/>
              <a:ext cx="581" cy="132"/>
              <a:chOff x="611" y="2571"/>
              <a:chExt cx="725" cy="137"/>
            </a:xfrm>
          </p:grpSpPr>
          <p:sp>
            <p:nvSpPr>
              <p:cNvPr id="4406" name="Google Shape;4406;p51"/>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07" name="Google Shape;4407;p51"/>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408" name="Google Shape;4408;p51"/>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09" name="Google Shape;4409;p51"/>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410" name="Google Shape;4410;p51"/>
            <p:cNvGrpSpPr/>
            <p:nvPr/>
          </p:nvGrpSpPr>
          <p:grpSpPr>
            <a:xfrm>
              <a:off x="4733" y="1630"/>
              <a:ext cx="587" cy="146"/>
              <a:chOff x="611" y="2571"/>
              <a:chExt cx="731" cy="134"/>
            </a:xfrm>
          </p:grpSpPr>
          <p:sp>
            <p:nvSpPr>
              <p:cNvPr id="4411" name="Google Shape;4411;p51"/>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12" name="Google Shape;4412;p51"/>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413" name="Google Shape;4413;p5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414" name="Google Shape;4414;p51"/>
            <p:cNvGrpSpPr/>
            <p:nvPr/>
          </p:nvGrpSpPr>
          <p:grpSpPr>
            <a:xfrm>
              <a:off x="4739" y="1327"/>
              <a:ext cx="580" cy="139"/>
              <a:chOff x="614" y="2568"/>
              <a:chExt cx="723" cy="139"/>
            </a:xfrm>
          </p:grpSpPr>
          <p:sp>
            <p:nvSpPr>
              <p:cNvPr id="4415" name="Google Shape;4415;p51"/>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16" name="Google Shape;4416;p51"/>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417" name="Google Shape;4417;p51"/>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18" name="Google Shape;4418;p5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19" name="Google Shape;4419;p5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20" name="Google Shape;4420;p51"/>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21" name="Google Shape;4421;p5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22" name="Google Shape;4422;p51"/>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23" name="Google Shape;4423;p51"/>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24" name="Google Shape;4424;p51"/>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25" name="Google Shape;4425;p51"/>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426" name="Google Shape;4426;p51"/>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27" name="Google Shape;4427;p51"/>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428" name="Google Shape;4428;p51"/>
          <p:cNvGrpSpPr/>
          <p:nvPr/>
        </p:nvGrpSpPr>
        <p:grpSpPr>
          <a:xfrm>
            <a:off x="9064007" y="1589358"/>
            <a:ext cx="377825" cy="576263"/>
            <a:chOff x="4140" y="429"/>
            <a:chExt cx="1425" cy="2396"/>
          </a:xfrm>
        </p:grpSpPr>
        <p:sp>
          <p:nvSpPr>
            <p:cNvPr id="4429" name="Google Shape;4429;p5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30" name="Google Shape;4430;p51"/>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31" name="Google Shape;4431;p5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32" name="Google Shape;4432;p5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33" name="Google Shape;4433;p51"/>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434" name="Google Shape;4434;p51"/>
            <p:cNvGrpSpPr/>
            <p:nvPr/>
          </p:nvGrpSpPr>
          <p:grpSpPr>
            <a:xfrm>
              <a:off x="4751" y="667"/>
              <a:ext cx="581" cy="145"/>
              <a:chOff x="616" y="2567"/>
              <a:chExt cx="725" cy="139"/>
            </a:xfrm>
          </p:grpSpPr>
          <p:sp>
            <p:nvSpPr>
              <p:cNvPr id="4435" name="Google Shape;4435;p51"/>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36" name="Google Shape;4436;p51"/>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437" name="Google Shape;4437;p51"/>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438" name="Google Shape;4438;p51"/>
            <p:cNvGrpSpPr/>
            <p:nvPr/>
          </p:nvGrpSpPr>
          <p:grpSpPr>
            <a:xfrm>
              <a:off x="4745" y="997"/>
              <a:ext cx="581" cy="132"/>
              <a:chOff x="611" y="2571"/>
              <a:chExt cx="725" cy="137"/>
            </a:xfrm>
          </p:grpSpPr>
          <p:sp>
            <p:nvSpPr>
              <p:cNvPr id="4439" name="Google Shape;4439;p51"/>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40" name="Google Shape;4440;p51"/>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441" name="Google Shape;4441;p51"/>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42" name="Google Shape;4442;p51"/>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443" name="Google Shape;4443;p51"/>
            <p:cNvGrpSpPr/>
            <p:nvPr/>
          </p:nvGrpSpPr>
          <p:grpSpPr>
            <a:xfrm>
              <a:off x="4733" y="1630"/>
              <a:ext cx="587" cy="146"/>
              <a:chOff x="611" y="2571"/>
              <a:chExt cx="731" cy="134"/>
            </a:xfrm>
          </p:grpSpPr>
          <p:sp>
            <p:nvSpPr>
              <p:cNvPr id="4444" name="Google Shape;4444;p51"/>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45" name="Google Shape;4445;p51"/>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446" name="Google Shape;4446;p5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447" name="Google Shape;4447;p51"/>
            <p:cNvGrpSpPr/>
            <p:nvPr/>
          </p:nvGrpSpPr>
          <p:grpSpPr>
            <a:xfrm>
              <a:off x="4739" y="1327"/>
              <a:ext cx="580" cy="139"/>
              <a:chOff x="614" y="2568"/>
              <a:chExt cx="723" cy="139"/>
            </a:xfrm>
          </p:grpSpPr>
          <p:sp>
            <p:nvSpPr>
              <p:cNvPr id="4448" name="Google Shape;4448;p51"/>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49" name="Google Shape;4449;p51"/>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450" name="Google Shape;4450;p51"/>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51" name="Google Shape;4451;p5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52" name="Google Shape;4452;p5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53" name="Google Shape;4453;p51"/>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54" name="Google Shape;4454;p5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55" name="Google Shape;4455;p51"/>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56" name="Google Shape;4456;p51"/>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57" name="Google Shape;4457;p51"/>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58" name="Google Shape;4458;p51"/>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459" name="Google Shape;4459;p51"/>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60" name="Google Shape;4460;p51"/>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461" name="Google Shape;4461;p51"/>
          <p:cNvGrpSpPr/>
          <p:nvPr/>
        </p:nvGrpSpPr>
        <p:grpSpPr>
          <a:xfrm>
            <a:off x="9673607" y="1741758"/>
            <a:ext cx="377825" cy="576263"/>
            <a:chOff x="4140" y="429"/>
            <a:chExt cx="1425" cy="2396"/>
          </a:xfrm>
        </p:grpSpPr>
        <p:sp>
          <p:nvSpPr>
            <p:cNvPr id="4462" name="Google Shape;4462;p5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63" name="Google Shape;4463;p51"/>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64" name="Google Shape;4464;p5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65" name="Google Shape;4465;p5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66" name="Google Shape;4466;p51"/>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467" name="Google Shape;4467;p51"/>
            <p:cNvGrpSpPr/>
            <p:nvPr/>
          </p:nvGrpSpPr>
          <p:grpSpPr>
            <a:xfrm>
              <a:off x="4751" y="667"/>
              <a:ext cx="581" cy="145"/>
              <a:chOff x="616" y="2567"/>
              <a:chExt cx="725" cy="139"/>
            </a:xfrm>
          </p:grpSpPr>
          <p:sp>
            <p:nvSpPr>
              <p:cNvPr id="4468" name="Google Shape;4468;p51"/>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69" name="Google Shape;4469;p51"/>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470" name="Google Shape;4470;p51"/>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471" name="Google Shape;4471;p51"/>
            <p:cNvGrpSpPr/>
            <p:nvPr/>
          </p:nvGrpSpPr>
          <p:grpSpPr>
            <a:xfrm>
              <a:off x="4745" y="997"/>
              <a:ext cx="581" cy="132"/>
              <a:chOff x="611" y="2571"/>
              <a:chExt cx="725" cy="137"/>
            </a:xfrm>
          </p:grpSpPr>
          <p:sp>
            <p:nvSpPr>
              <p:cNvPr id="4472" name="Google Shape;4472;p51"/>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73" name="Google Shape;4473;p51"/>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474" name="Google Shape;4474;p51"/>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75" name="Google Shape;4475;p51"/>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476" name="Google Shape;4476;p51"/>
            <p:cNvGrpSpPr/>
            <p:nvPr/>
          </p:nvGrpSpPr>
          <p:grpSpPr>
            <a:xfrm>
              <a:off x="4733" y="1630"/>
              <a:ext cx="587" cy="146"/>
              <a:chOff x="611" y="2571"/>
              <a:chExt cx="731" cy="134"/>
            </a:xfrm>
          </p:grpSpPr>
          <p:sp>
            <p:nvSpPr>
              <p:cNvPr id="4477" name="Google Shape;4477;p51"/>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78" name="Google Shape;4478;p51"/>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479" name="Google Shape;4479;p5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480" name="Google Shape;4480;p51"/>
            <p:cNvGrpSpPr/>
            <p:nvPr/>
          </p:nvGrpSpPr>
          <p:grpSpPr>
            <a:xfrm>
              <a:off x="4739" y="1327"/>
              <a:ext cx="580" cy="139"/>
              <a:chOff x="614" y="2568"/>
              <a:chExt cx="723" cy="139"/>
            </a:xfrm>
          </p:grpSpPr>
          <p:sp>
            <p:nvSpPr>
              <p:cNvPr id="4481" name="Google Shape;4481;p51"/>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82" name="Google Shape;4482;p51"/>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483" name="Google Shape;4483;p51"/>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84" name="Google Shape;4484;p5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85" name="Google Shape;4485;p5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86" name="Google Shape;4486;p51"/>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87" name="Google Shape;4487;p5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88" name="Google Shape;4488;p51"/>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89" name="Google Shape;4489;p51"/>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90" name="Google Shape;4490;p51"/>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91" name="Google Shape;4491;p51"/>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492" name="Google Shape;4492;p51"/>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93" name="Google Shape;4493;p51"/>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494" name="Google Shape;4494;p51"/>
          <p:cNvGrpSpPr/>
          <p:nvPr/>
        </p:nvGrpSpPr>
        <p:grpSpPr>
          <a:xfrm>
            <a:off x="10002220" y="2687908"/>
            <a:ext cx="377825" cy="576263"/>
            <a:chOff x="4140" y="429"/>
            <a:chExt cx="1425" cy="2396"/>
          </a:xfrm>
        </p:grpSpPr>
        <p:sp>
          <p:nvSpPr>
            <p:cNvPr id="4495" name="Google Shape;4495;p5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96" name="Google Shape;4496;p51"/>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97" name="Google Shape;4497;p5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98" name="Google Shape;4498;p5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499" name="Google Shape;4499;p51"/>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500" name="Google Shape;4500;p51"/>
            <p:cNvGrpSpPr/>
            <p:nvPr/>
          </p:nvGrpSpPr>
          <p:grpSpPr>
            <a:xfrm>
              <a:off x="4751" y="667"/>
              <a:ext cx="581" cy="145"/>
              <a:chOff x="616" y="2567"/>
              <a:chExt cx="725" cy="139"/>
            </a:xfrm>
          </p:grpSpPr>
          <p:sp>
            <p:nvSpPr>
              <p:cNvPr id="4501" name="Google Shape;4501;p51"/>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02" name="Google Shape;4502;p51"/>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503" name="Google Shape;4503;p51"/>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504" name="Google Shape;4504;p51"/>
            <p:cNvGrpSpPr/>
            <p:nvPr/>
          </p:nvGrpSpPr>
          <p:grpSpPr>
            <a:xfrm>
              <a:off x="4745" y="997"/>
              <a:ext cx="581" cy="132"/>
              <a:chOff x="611" y="2571"/>
              <a:chExt cx="725" cy="137"/>
            </a:xfrm>
          </p:grpSpPr>
          <p:sp>
            <p:nvSpPr>
              <p:cNvPr id="4505" name="Google Shape;4505;p51"/>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06" name="Google Shape;4506;p51"/>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507" name="Google Shape;4507;p51"/>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08" name="Google Shape;4508;p51"/>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509" name="Google Shape;4509;p51"/>
            <p:cNvGrpSpPr/>
            <p:nvPr/>
          </p:nvGrpSpPr>
          <p:grpSpPr>
            <a:xfrm>
              <a:off x="4733" y="1630"/>
              <a:ext cx="587" cy="146"/>
              <a:chOff x="611" y="2571"/>
              <a:chExt cx="731" cy="134"/>
            </a:xfrm>
          </p:grpSpPr>
          <p:sp>
            <p:nvSpPr>
              <p:cNvPr id="4510" name="Google Shape;4510;p51"/>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11" name="Google Shape;4511;p51"/>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512" name="Google Shape;4512;p5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513" name="Google Shape;4513;p51"/>
            <p:cNvGrpSpPr/>
            <p:nvPr/>
          </p:nvGrpSpPr>
          <p:grpSpPr>
            <a:xfrm>
              <a:off x="4739" y="1327"/>
              <a:ext cx="580" cy="139"/>
              <a:chOff x="614" y="2568"/>
              <a:chExt cx="723" cy="139"/>
            </a:xfrm>
          </p:grpSpPr>
          <p:sp>
            <p:nvSpPr>
              <p:cNvPr id="4514" name="Google Shape;4514;p51"/>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15" name="Google Shape;4515;p51"/>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516" name="Google Shape;4516;p51"/>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17" name="Google Shape;4517;p5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18" name="Google Shape;4518;p5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19" name="Google Shape;4519;p51"/>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20" name="Google Shape;4520;p5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21" name="Google Shape;4521;p51"/>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22" name="Google Shape;4522;p51"/>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23" name="Google Shape;4523;p51"/>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24" name="Google Shape;4524;p51"/>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525" name="Google Shape;4525;p51"/>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26" name="Google Shape;4526;p51"/>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527" name="Google Shape;4527;p51"/>
          <p:cNvGrpSpPr/>
          <p:nvPr/>
        </p:nvGrpSpPr>
        <p:grpSpPr>
          <a:xfrm>
            <a:off x="8057532" y="5170758"/>
            <a:ext cx="525463" cy="557213"/>
            <a:chOff x="-44" y="1473"/>
            <a:chExt cx="981" cy="1105"/>
          </a:xfrm>
        </p:grpSpPr>
        <p:pic>
          <p:nvPicPr>
            <p:cNvPr descr="desktop_computer_stylized_medium" id="4528" name="Google Shape;4528;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529" name="Google Shape;4529;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530" name="Google Shape;4530;p51"/>
          <p:cNvGrpSpPr/>
          <p:nvPr/>
        </p:nvGrpSpPr>
        <p:grpSpPr>
          <a:xfrm>
            <a:off x="8581407" y="5159646"/>
            <a:ext cx="525463" cy="557212"/>
            <a:chOff x="-44" y="1473"/>
            <a:chExt cx="981" cy="1105"/>
          </a:xfrm>
        </p:grpSpPr>
        <p:pic>
          <p:nvPicPr>
            <p:cNvPr descr="desktop_computer_stylized_medium" id="4531" name="Google Shape;4531;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532" name="Google Shape;4532;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4533" name="Google Shape;4533;p51"/>
          <p:cNvGrpSpPr/>
          <p:nvPr/>
        </p:nvGrpSpPr>
        <p:grpSpPr>
          <a:xfrm>
            <a:off x="8650253" y="3095664"/>
            <a:ext cx="889089" cy="466491"/>
            <a:chOff x="7493876" y="2774731"/>
            <a:chExt cx="1481958" cy="894622"/>
          </a:xfrm>
        </p:grpSpPr>
        <p:sp>
          <p:nvSpPr>
            <p:cNvPr id="4534" name="Google Shape;4534;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4535" name="Google Shape;4535;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4536" name="Google Shape;4536;p51"/>
            <p:cNvGrpSpPr/>
            <p:nvPr/>
          </p:nvGrpSpPr>
          <p:grpSpPr>
            <a:xfrm>
              <a:off x="7713663" y="2848339"/>
              <a:ext cx="1042107" cy="425543"/>
              <a:chOff x="7786941" y="2884917"/>
              <a:chExt cx="897649" cy="353919"/>
            </a:xfrm>
          </p:grpSpPr>
          <p:sp>
            <p:nvSpPr>
              <p:cNvPr id="4537" name="Google Shape;4537;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38" name="Google Shape;4538;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39" name="Google Shape;4539;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40" name="Google Shape;4540;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4541" name="Google Shape;4541;p51"/>
          <p:cNvGrpSpPr/>
          <p:nvPr/>
        </p:nvGrpSpPr>
        <p:grpSpPr>
          <a:xfrm>
            <a:off x="8628916" y="4437217"/>
            <a:ext cx="889089" cy="466491"/>
            <a:chOff x="7493876" y="2774731"/>
            <a:chExt cx="1481958" cy="894622"/>
          </a:xfrm>
        </p:grpSpPr>
        <p:sp>
          <p:nvSpPr>
            <p:cNvPr id="4542" name="Google Shape;4542;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4543" name="Google Shape;4543;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4544" name="Google Shape;4544;p51"/>
            <p:cNvGrpSpPr/>
            <p:nvPr/>
          </p:nvGrpSpPr>
          <p:grpSpPr>
            <a:xfrm>
              <a:off x="7713663" y="2848339"/>
              <a:ext cx="1042107" cy="425543"/>
              <a:chOff x="7786941" y="2884917"/>
              <a:chExt cx="897649" cy="353919"/>
            </a:xfrm>
          </p:grpSpPr>
          <p:sp>
            <p:nvSpPr>
              <p:cNvPr id="4545" name="Google Shape;4545;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46" name="Google Shape;4546;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47" name="Google Shape;4547;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48" name="Google Shape;4548;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4549" name="Google Shape;4549;p51"/>
          <p:cNvGrpSpPr/>
          <p:nvPr/>
        </p:nvGrpSpPr>
        <p:grpSpPr>
          <a:xfrm>
            <a:off x="9001301" y="4807753"/>
            <a:ext cx="811212" cy="1033463"/>
            <a:chOff x="9001301" y="5550914"/>
            <a:chExt cx="811212" cy="1033463"/>
          </a:xfrm>
        </p:grpSpPr>
        <p:sp>
          <p:nvSpPr>
            <p:cNvPr id="4550" name="Google Shape;4550;p51"/>
            <p:cNvSpPr/>
            <p:nvPr/>
          </p:nvSpPr>
          <p:spPr>
            <a:xfrm>
              <a:off x="9001301" y="5550914"/>
              <a:ext cx="811212" cy="1033463"/>
            </a:xfrm>
            <a:prstGeom prst="ellipse">
              <a:avLst/>
            </a:prstGeom>
            <a:solidFill>
              <a:srgbClr val="C00000">
                <a:alpha val="40784"/>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551" name="Google Shape;4551;p51"/>
            <p:cNvGrpSpPr/>
            <p:nvPr/>
          </p:nvGrpSpPr>
          <p:grpSpPr>
            <a:xfrm>
              <a:off x="9256094" y="5631762"/>
              <a:ext cx="377825" cy="800176"/>
              <a:chOff x="10907888" y="5189290"/>
              <a:chExt cx="377825" cy="800176"/>
            </a:xfrm>
          </p:grpSpPr>
          <p:cxnSp>
            <p:nvCxnSpPr>
              <p:cNvPr id="4552" name="Google Shape;4552;p51"/>
              <p:cNvCxnSpPr/>
              <p:nvPr/>
            </p:nvCxnSpPr>
            <p:spPr>
              <a:xfrm>
                <a:off x="10966625" y="5189290"/>
                <a:ext cx="76200" cy="322262"/>
              </a:xfrm>
              <a:prstGeom prst="straightConnector1">
                <a:avLst/>
              </a:prstGeom>
              <a:noFill/>
              <a:ln cap="flat" cmpd="sng" w="28575">
                <a:solidFill>
                  <a:srgbClr val="000000"/>
                </a:solidFill>
                <a:prstDash val="solid"/>
                <a:round/>
                <a:headEnd len="med" w="med" type="none"/>
                <a:tailEnd len="med" w="med" type="none"/>
              </a:ln>
            </p:spPr>
          </p:cxnSp>
          <p:grpSp>
            <p:nvGrpSpPr>
              <p:cNvPr id="4553" name="Google Shape;4553;p51"/>
              <p:cNvGrpSpPr/>
              <p:nvPr/>
            </p:nvGrpSpPr>
            <p:grpSpPr>
              <a:xfrm>
                <a:off x="10907888" y="5413204"/>
                <a:ext cx="377825" cy="576262"/>
                <a:chOff x="4140" y="429"/>
                <a:chExt cx="1425" cy="2396"/>
              </a:xfrm>
            </p:grpSpPr>
            <p:sp>
              <p:nvSpPr>
                <p:cNvPr id="4554" name="Google Shape;4554;p5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55" name="Google Shape;4555;p51"/>
                <p:cNvSpPr/>
                <p:nvPr/>
              </p:nvSpPr>
              <p:spPr>
                <a:xfrm>
                  <a:off x="4206"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56" name="Google Shape;4556;p5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57" name="Google Shape;4557;p5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58" name="Google Shape;4558;p51"/>
                <p:cNvSpPr/>
                <p:nvPr/>
              </p:nvSpPr>
              <p:spPr>
                <a:xfrm>
                  <a:off x="4212" y="693"/>
                  <a:ext cx="599"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559" name="Google Shape;4559;p51"/>
                <p:cNvGrpSpPr/>
                <p:nvPr/>
              </p:nvGrpSpPr>
              <p:grpSpPr>
                <a:xfrm>
                  <a:off x="4751" y="667"/>
                  <a:ext cx="581" cy="145"/>
                  <a:chOff x="616" y="2567"/>
                  <a:chExt cx="725" cy="139"/>
                </a:xfrm>
              </p:grpSpPr>
              <p:sp>
                <p:nvSpPr>
                  <p:cNvPr id="4560" name="Google Shape;4560;p51"/>
                  <p:cNvSpPr/>
                  <p:nvPr/>
                </p:nvSpPr>
                <p:spPr>
                  <a:xfrm>
                    <a:off x="616" y="2567"/>
                    <a:ext cx="725"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61" name="Google Shape;4561;p51"/>
                  <p:cNvSpPr/>
                  <p:nvPr/>
                </p:nvSpPr>
                <p:spPr>
                  <a:xfrm>
                    <a:off x="631" y="2586"/>
                    <a:ext cx="695"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562" name="Google Shape;4562;p51"/>
                <p:cNvSpPr/>
                <p:nvPr/>
              </p:nvSpPr>
              <p:spPr>
                <a:xfrm>
                  <a:off x="4224" y="1016"/>
                  <a:ext cx="599" cy="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563" name="Google Shape;4563;p51"/>
                <p:cNvGrpSpPr/>
                <p:nvPr/>
              </p:nvGrpSpPr>
              <p:grpSpPr>
                <a:xfrm>
                  <a:off x="4745" y="997"/>
                  <a:ext cx="581" cy="132"/>
                  <a:chOff x="611" y="2571"/>
                  <a:chExt cx="725" cy="137"/>
                </a:xfrm>
              </p:grpSpPr>
              <p:sp>
                <p:nvSpPr>
                  <p:cNvPr id="4564" name="Google Shape;4564;p51"/>
                  <p:cNvSpPr/>
                  <p:nvPr/>
                </p:nvSpPr>
                <p:spPr>
                  <a:xfrm>
                    <a:off x="611" y="2571"/>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65" name="Google Shape;4565;p51"/>
                  <p:cNvSpPr/>
                  <p:nvPr/>
                </p:nvSpPr>
                <p:spPr>
                  <a:xfrm>
                    <a:off x="626" y="2584"/>
                    <a:ext cx="69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566" name="Google Shape;4566;p51"/>
                <p:cNvSpPr/>
                <p:nvPr/>
              </p:nvSpPr>
              <p:spPr>
                <a:xfrm>
                  <a:off x="4218" y="1360"/>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67" name="Google Shape;4567;p51"/>
                <p:cNvSpPr/>
                <p:nvPr/>
              </p:nvSpPr>
              <p:spPr>
                <a:xfrm>
                  <a:off x="4230" y="1657"/>
                  <a:ext cx="593"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568" name="Google Shape;4568;p51"/>
                <p:cNvGrpSpPr/>
                <p:nvPr/>
              </p:nvGrpSpPr>
              <p:grpSpPr>
                <a:xfrm>
                  <a:off x="4733" y="1630"/>
                  <a:ext cx="587" cy="146"/>
                  <a:chOff x="611" y="2571"/>
                  <a:chExt cx="731" cy="134"/>
                </a:xfrm>
              </p:grpSpPr>
              <p:sp>
                <p:nvSpPr>
                  <p:cNvPr id="4569" name="Google Shape;4569;p51"/>
                  <p:cNvSpPr/>
                  <p:nvPr/>
                </p:nvSpPr>
                <p:spPr>
                  <a:xfrm>
                    <a:off x="611" y="2571"/>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70" name="Google Shape;4570;p51"/>
                  <p:cNvSpPr/>
                  <p:nvPr/>
                </p:nvSpPr>
                <p:spPr>
                  <a:xfrm>
                    <a:off x="626" y="2589"/>
                    <a:ext cx="701"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571" name="Google Shape;4571;p5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4572" name="Google Shape;4572;p51"/>
                <p:cNvGrpSpPr/>
                <p:nvPr/>
              </p:nvGrpSpPr>
              <p:grpSpPr>
                <a:xfrm>
                  <a:off x="4739" y="1327"/>
                  <a:ext cx="580" cy="139"/>
                  <a:chOff x="614" y="2568"/>
                  <a:chExt cx="723" cy="139"/>
                </a:xfrm>
              </p:grpSpPr>
              <p:sp>
                <p:nvSpPr>
                  <p:cNvPr id="4573" name="Google Shape;4573;p51"/>
                  <p:cNvSpPr/>
                  <p:nvPr/>
                </p:nvSpPr>
                <p:spPr>
                  <a:xfrm>
                    <a:off x="614" y="2568"/>
                    <a:ext cx="723"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74" name="Google Shape;4574;p51"/>
                  <p:cNvSpPr/>
                  <p:nvPr/>
                </p:nvSpPr>
                <p:spPr>
                  <a:xfrm>
                    <a:off x="629" y="2581"/>
                    <a:ext cx="69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4575" name="Google Shape;4575;p51"/>
                <p:cNvSpPr/>
                <p:nvPr/>
              </p:nvSpPr>
              <p:spPr>
                <a:xfrm>
                  <a:off x="5248" y="429"/>
                  <a:ext cx="72"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76" name="Google Shape;4576;p5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77" name="Google Shape;4577;p5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78" name="Google Shape;4578;p51"/>
                <p:cNvSpPr/>
                <p:nvPr/>
              </p:nvSpPr>
              <p:spPr>
                <a:xfrm>
                  <a:off x="5517" y="2614"/>
                  <a:ext cx="48"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79" name="Google Shape;4579;p5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80" name="Google Shape;4580;p51"/>
                <p:cNvSpPr/>
                <p:nvPr/>
              </p:nvSpPr>
              <p:spPr>
                <a:xfrm>
                  <a:off x="4140" y="2680"/>
                  <a:ext cx="1197" cy="145"/>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81" name="Google Shape;4581;p51"/>
                <p:cNvSpPr/>
                <p:nvPr/>
              </p:nvSpPr>
              <p:spPr>
                <a:xfrm>
                  <a:off x="4206" y="2713"/>
                  <a:ext cx="1072"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82" name="Google Shape;4582;p51"/>
                <p:cNvSpPr/>
                <p:nvPr/>
              </p:nvSpPr>
              <p:spPr>
                <a:xfrm>
                  <a:off x="4308" y="2383"/>
                  <a:ext cx="156"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83" name="Google Shape;4583;p51"/>
                <p:cNvSpPr/>
                <p:nvPr/>
              </p:nvSpPr>
              <p:spPr>
                <a:xfrm>
                  <a:off x="4487" y="2383"/>
                  <a:ext cx="162"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584" name="Google Shape;4584;p51"/>
                <p:cNvSpPr/>
                <p:nvPr/>
              </p:nvSpPr>
              <p:spPr>
                <a:xfrm>
                  <a:off x="4661" y="2383"/>
                  <a:ext cx="162"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4585" name="Google Shape;4585;p51"/>
                <p:cNvSpPr/>
                <p:nvPr/>
              </p:nvSpPr>
              <p:spPr>
                <a:xfrm>
                  <a:off x="5062" y="1835"/>
                  <a:ext cx="84"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grpSp>
      <p:sp>
        <p:nvSpPr>
          <p:cNvPr id="4586" name="Google Shape;4586;p51"/>
          <p:cNvSpPr txBox="1"/>
          <p:nvPr/>
        </p:nvSpPr>
        <p:spPr>
          <a:xfrm>
            <a:off x="9105122" y="5793184"/>
            <a:ext cx="164179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local web cache</a:t>
            </a:r>
            <a:endParaRPr b="0" i="0" sz="2400" u="none" cap="none" strike="noStrike">
              <a:solidFill>
                <a:srgbClr val="C00000"/>
              </a:solidFill>
              <a:latin typeface="Arial"/>
              <a:ea typeface="Arial"/>
              <a:cs typeface="Arial"/>
              <a:sym typeface="Arial"/>
            </a:endParaRPr>
          </a:p>
        </p:txBody>
      </p:sp>
      <p:sp>
        <p:nvSpPr>
          <p:cNvPr id="4587" name="Google Shape;4587;p51"/>
          <p:cNvSpPr txBox="1"/>
          <p:nvPr/>
        </p:nvSpPr>
        <p:spPr>
          <a:xfrm>
            <a:off x="816624" y="1311713"/>
            <a:ext cx="6166171" cy="2276941"/>
          </a:xfrm>
          <a:prstGeom prst="rect">
            <a:avLst/>
          </a:prstGeom>
          <a:noFill/>
          <a:ln>
            <a:noFill/>
          </a:ln>
        </p:spPr>
        <p:txBody>
          <a:bodyPr anchorCtr="0" anchor="t" bIns="45700" lIns="91425" spcFirstLastPara="1" rIns="91425" wrap="square" tIns="45700">
            <a:normAutofit fontScale="77500" lnSpcReduction="20000"/>
          </a:bodyPr>
          <a:lstStyle/>
          <a:p>
            <a:pPr indent="0" lvl="0" marL="9525" marR="0" rtl="0" algn="l">
              <a:lnSpc>
                <a:spcPct val="110000"/>
              </a:lnSpc>
              <a:spcBef>
                <a:spcPts val="0"/>
              </a:spcBef>
              <a:spcAft>
                <a:spcPts val="0"/>
              </a:spcAft>
              <a:buClr>
                <a:srgbClr val="0000A3"/>
              </a:buClr>
              <a:buSzPct val="100000"/>
              <a:buFont typeface="Noto Sans Symbols"/>
              <a:buNone/>
            </a:pPr>
            <a:r>
              <a:rPr lang="en-US" sz="3600">
                <a:solidFill>
                  <a:srgbClr val="CC0000"/>
                </a:solidFill>
                <a:latin typeface="Calibri"/>
                <a:ea typeface="Calibri"/>
                <a:cs typeface="Calibri"/>
                <a:sym typeface="Calibri"/>
              </a:rPr>
              <a:t>Calculating access link utilization, end-end delay with cache:</a:t>
            </a:r>
            <a:endParaRPr/>
          </a:p>
          <a:p>
            <a:pPr indent="-231806" lvl="0" marL="352425" marR="0" rtl="0" algn="l">
              <a:lnSpc>
                <a:spcPct val="110000"/>
              </a:lnSpc>
              <a:spcBef>
                <a:spcPts val="400"/>
              </a:spcBef>
              <a:spcAft>
                <a:spcPts val="0"/>
              </a:spcAft>
              <a:buClr>
                <a:srgbClr val="0000A3"/>
              </a:buClr>
              <a:buSzPct val="100000"/>
              <a:buFont typeface="Noto Sans Symbols"/>
              <a:buChar char="▪"/>
            </a:pPr>
            <a:r>
              <a:rPr lang="en-US" sz="3100">
                <a:solidFill>
                  <a:schemeClr val="dk1"/>
                </a:solidFill>
                <a:latin typeface="Calibri"/>
                <a:ea typeface="Calibri"/>
                <a:cs typeface="Calibri"/>
                <a:sym typeface="Calibri"/>
              </a:rPr>
              <a:t>suppose cache hit rate is 0.4:  40% requests satisfied at cache, 60% requests satisfied at origin </a:t>
            </a:r>
            <a:endParaRPr/>
          </a:p>
          <a:p>
            <a:pPr indent="-228600" lvl="0" marL="228600" marR="0" rtl="0" algn="l">
              <a:lnSpc>
                <a:spcPct val="80000"/>
              </a:lnSpc>
              <a:spcBef>
                <a:spcPts val="1000"/>
              </a:spcBef>
              <a:spcAft>
                <a:spcPts val="0"/>
              </a:spcAft>
              <a:buClr>
                <a:srgbClr val="0000A3"/>
              </a:buClr>
              <a:buSzPct val="100000"/>
              <a:buFont typeface="Noto Sans Symbols"/>
              <a:buNone/>
            </a:pPr>
            <a:r>
              <a:rPr lang="en-US" sz="2400">
                <a:solidFill>
                  <a:schemeClr val="dk1"/>
                </a:solidFill>
                <a:latin typeface="Gill Sans"/>
                <a:ea typeface="Gill Sans"/>
                <a:cs typeface="Gill Sans"/>
                <a:sym typeface="Gill Sans"/>
              </a:rPr>
              <a:t>  </a:t>
            </a:r>
            <a:endParaRPr/>
          </a:p>
        </p:txBody>
      </p:sp>
      <p:sp>
        <p:nvSpPr>
          <p:cNvPr id="4588" name="Google Shape;4588;p51"/>
          <p:cNvSpPr/>
          <p:nvPr/>
        </p:nvSpPr>
        <p:spPr>
          <a:xfrm>
            <a:off x="925554" y="3108706"/>
            <a:ext cx="6168360" cy="1570038"/>
          </a:xfrm>
          <a:prstGeom prst="rect">
            <a:avLst/>
          </a:prstGeom>
          <a:noFill/>
          <a:ln>
            <a:noFill/>
          </a:ln>
        </p:spPr>
        <p:txBody>
          <a:bodyPr anchorCtr="0" anchor="t" bIns="45700" lIns="91425" spcFirstLastPara="1" rIns="91425" wrap="square" tIns="45700">
            <a:noAutofit/>
          </a:bodyPr>
          <a:lstStyle/>
          <a:p>
            <a:pPr indent="-231775" lvl="0" marL="231775" marR="0" rtl="0" algn="l">
              <a:lnSpc>
                <a:spcPct val="90000"/>
              </a:lnSpc>
              <a:spcBef>
                <a:spcPts val="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access link: 60% of requests use access link </a:t>
            </a:r>
            <a:endParaRPr/>
          </a:p>
          <a:p>
            <a:pPr indent="-231775" lvl="0" marL="231775" marR="0" rtl="0" algn="l">
              <a:lnSpc>
                <a:spcPct val="90000"/>
              </a:lnSpc>
              <a:spcBef>
                <a:spcPts val="40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data rate to browsers over access link </a:t>
            </a:r>
            <a:endParaRPr/>
          </a:p>
          <a:p>
            <a:pPr indent="0" lvl="0" marL="0" marR="0" rtl="0" algn="l">
              <a:lnSpc>
                <a:spcPct val="90000"/>
              </a:lnSpc>
              <a:spcBef>
                <a:spcPts val="400"/>
              </a:spcBef>
              <a:spcAft>
                <a:spcPts val="0"/>
              </a:spcAft>
              <a:buClr>
                <a:srgbClr val="000099"/>
              </a:buClr>
              <a:buSzPts val="1560"/>
              <a:buFont typeface="Arial"/>
              <a:buNone/>
            </a:pPr>
            <a:r>
              <a:rPr lang="en-US" sz="2400">
                <a:solidFill>
                  <a:schemeClr val="dk1"/>
                </a:solidFill>
                <a:latin typeface="Calibri"/>
                <a:ea typeface="Calibri"/>
                <a:cs typeface="Calibri"/>
                <a:sym typeface="Calibri"/>
              </a:rPr>
              <a:t>       = 0.6 * 1.50 Mbps  =  .9 Mbps </a:t>
            </a:r>
            <a:endParaRPr/>
          </a:p>
          <a:p>
            <a:pPr indent="-231775" lvl="0" marL="231775" marR="0" rtl="0" algn="l">
              <a:lnSpc>
                <a:spcPct val="90000"/>
              </a:lnSpc>
              <a:spcBef>
                <a:spcPts val="4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utilization = 0.9/1.54 = .58</a:t>
            </a:r>
            <a:endParaRPr/>
          </a:p>
        </p:txBody>
      </p:sp>
      <p:sp>
        <p:nvSpPr>
          <p:cNvPr id="4589" name="Google Shape;4589;p51"/>
          <p:cNvSpPr/>
          <p:nvPr/>
        </p:nvSpPr>
        <p:spPr>
          <a:xfrm>
            <a:off x="847726" y="4715508"/>
            <a:ext cx="6438281" cy="1492250"/>
          </a:xfrm>
          <a:prstGeom prst="rect">
            <a:avLst/>
          </a:prstGeom>
          <a:noFill/>
          <a:ln>
            <a:noFill/>
          </a:ln>
        </p:spPr>
        <p:txBody>
          <a:bodyPr anchorCtr="0" anchor="t" bIns="45700" lIns="91425" spcFirstLastPara="1" rIns="91425" wrap="square" tIns="45700">
            <a:noAutofit/>
          </a:bodyPr>
          <a:lstStyle/>
          <a:p>
            <a:pPr indent="-220663" lvl="0" marL="285750" marR="0" rtl="0" algn="l">
              <a:lnSpc>
                <a:spcPct val="85000"/>
              </a:lnSpc>
              <a:spcBef>
                <a:spcPts val="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average end-end delay</a:t>
            </a:r>
            <a:endParaRPr/>
          </a:p>
          <a:p>
            <a:pPr indent="0" lvl="1" marL="342900" marR="0" rtl="0" algn="l">
              <a:lnSpc>
                <a:spcPct val="90000"/>
              </a:lnSpc>
              <a:spcBef>
                <a:spcPts val="400"/>
              </a:spcBef>
              <a:spcAft>
                <a:spcPts val="0"/>
              </a:spcAft>
              <a:buNone/>
            </a:pPr>
            <a:r>
              <a:rPr b="0" i="0" lang="en-US" sz="2400" u="none" cap="none" strike="noStrike">
                <a:solidFill>
                  <a:schemeClr val="dk1"/>
                </a:solidFill>
                <a:latin typeface="Calibri"/>
                <a:ea typeface="Calibri"/>
                <a:cs typeface="Calibri"/>
                <a:sym typeface="Calibri"/>
              </a:rPr>
              <a:t>= 0.6 * (delay from origin servers)</a:t>
            </a:r>
            <a:endParaRPr/>
          </a:p>
          <a:p>
            <a:pPr indent="0" lvl="1" marL="342900" marR="0" rtl="0" algn="l">
              <a:lnSpc>
                <a:spcPct val="90000"/>
              </a:lnSpc>
              <a:spcBef>
                <a:spcPts val="400"/>
              </a:spcBef>
              <a:spcAft>
                <a:spcPts val="0"/>
              </a:spcAft>
              <a:buNone/>
            </a:pPr>
            <a:r>
              <a:rPr b="0" i="0" lang="en-US" sz="2400" u="none" cap="none" strike="noStrike">
                <a:solidFill>
                  <a:schemeClr val="dk1"/>
                </a:solidFill>
                <a:latin typeface="Calibri"/>
                <a:ea typeface="Calibri"/>
                <a:cs typeface="Calibri"/>
                <a:sym typeface="Calibri"/>
              </a:rPr>
              <a:t>           + 0.4 * (delay when satisfied at cache)</a:t>
            </a:r>
            <a:endParaRPr/>
          </a:p>
          <a:p>
            <a:pPr indent="0" lvl="1" marL="342900" marR="0" rtl="0" algn="l">
              <a:lnSpc>
                <a:spcPct val="90000"/>
              </a:lnSpc>
              <a:spcBef>
                <a:spcPts val="400"/>
              </a:spcBef>
              <a:spcAft>
                <a:spcPts val="0"/>
              </a:spcAft>
              <a:buNone/>
            </a:pPr>
            <a:r>
              <a:rPr b="0" i="0" lang="en-US" sz="2400" u="none" cap="none" strike="noStrike">
                <a:solidFill>
                  <a:schemeClr val="dk1"/>
                </a:solidFill>
                <a:latin typeface="Calibri"/>
                <a:ea typeface="Calibri"/>
                <a:cs typeface="Calibri"/>
                <a:sym typeface="Calibri"/>
              </a:rPr>
              <a:t>= 0.6 (2.01) + 0.4 (~msecs) = ~ 1.2 secs</a:t>
            </a:r>
            <a:endParaRPr/>
          </a:p>
          <a:p>
            <a:pPr indent="-228600" lvl="0" marL="228600" marR="0" rtl="0" algn="l">
              <a:lnSpc>
                <a:spcPct val="80000"/>
              </a:lnSpc>
              <a:spcBef>
                <a:spcPts val="0"/>
              </a:spcBef>
              <a:spcAft>
                <a:spcPts val="0"/>
              </a:spcAft>
              <a:buClr>
                <a:srgbClr val="000099"/>
              </a:buClr>
              <a:buSzPts val="1560"/>
              <a:buFont typeface="Noto Sans Symbols"/>
              <a:buNone/>
            </a:pPr>
            <a:r>
              <a:rPr lang="en-US" sz="2400">
                <a:solidFill>
                  <a:schemeClr val="dk1"/>
                </a:solidFill>
                <a:latin typeface="Gill Sans"/>
                <a:ea typeface="Gill Sans"/>
                <a:cs typeface="Gill Sans"/>
                <a:sym typeface="Gill Sans"/>
              </a:rPr>
              <a:t>  </a:t>
            </a:r>
            <a:endParaRPr/>
          </a:p>
        </p:txBody>
      </p:sp>
      <p:sp>
        <p:nvSpPr>
          <p:cNvPr id="4590" name="Google Shape;4590;p51"/>
          <p:cNvSpPr txBox="1"/>
          <p:nvPr/>
        </p:nvSpPr>
        <p:spPr>
          <a:xfrm>
            <a:off x="898695" y="6241612"/>
            <a:ext cx="9274975"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C00000"/>
                </a:solidFill>
                <a:latin typeface="Calibri"/>
                <a:ea typeface="Calibri"/>
                <a:cs typeface="Calibri"/>
                <a:sym typeface="Calibri"/>
              </a:rPr>
              <a:t>lower average end-end delay than with 154 Mbps link (and cheaper too!)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8"/>
                                        </p:tgtEl>
                                        <p:attrNameLst>
                                          <p:attrName>style.visibility</p:attrName>
                                        </p:attrNameLst>
                                      </p:cBhvr>
                                      <p:to>
                                        <p:strVal val="visible"/>
                                      </p:to>
                                    </p:set>
                                    <p:animEffect filter="fade" transition="in">
                                      <p:cBhvr>
                                        <p:cTn dur="500"/>
                                        <p:tgtEl>
                                          <p:spTgt spid="45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9"/>
                                        </p:tgtEl>
                                        <p:attrNameLst>
                                          <p:attrName>style.visibility</p:attrName>
                                        </p:attrNameLst>
                                      </p:cBhvr>
                                      <p:to>
                                        <p:strVal val="visible"/>
                                      </p:to>
                                    </p:set>
                                    <p:animEffect filter="fade" transition="in">
                                      <p:cBhvr>
                                        <p:cTn dur="500"/>
                                        <p:tgtEl>
                                          <p:spTgt spid="45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0"/>
                                        </p:tgtEl>
                                        <p:attrNameLst>
                                          <p:attrName>style.visibility</p:attrName>
                                        </p:attrNameLst>
                                      </p:cBhvr>
                                      <p:to>
                                        <p:strVal val="visible"/>
                                      </p:to>
                                    </p:set>
                                    <p:animEffect filter="fade" transition="in">
                                      <p:cBhvr>
                                        <p:cTn dur="500"/>
                                        <p:tgtEl>
                                          <p:spTgt spid="45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4" name="Shape 4594"/>
        <p:cNvGrpSpPr/>
        <p:nvPr/>
      </p:nvGrpSpPr>
      <p:grpSpPr>
        <a:xfrm>
          <a:off x="0" y="0"/>
          <a:ext cx="0" cy="0"/>
          <a:chOff x="0" y="0"/>
          <a:chExt cx="0" cy="0"/>
        </a:xfrm>
      </p:grpSpPr>
      <p:sp>
        <p:nvSpPr>
          <p:cNvPr id="4595" name="Google Shape;4595;p52"/>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Application Layer</a:t>
            </a:r>
            <a:endParaRPr/>
          </a:p>
        </p:txBody>
      </p:sp>
      <p:sp>
        <p:nvSpPr>
          <p:cNvPr id="4596" name="Google Shape;4596;p52"/>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597" name="Google Shape;4597;p52"/>
          <p:cNvSpPr/>
          <p:nvPr/>
        </p:nvSpPr>
        <p:spPr>
          <a:xfrm>
            <a:off x="2001839" y="1150938"/>
            <a:ext cx="4206875" cy="3255962"/>
          </a:xfrm>
          <a:prstGeom prst="rect">
            <a:avLst/>
          </a:prstGeom>
          <a:noFill/>
          <a:ln>
            <a:noFill/>
          </a:ln>
        </p:spPr>
        <p:txBody>
          <a:bodyPr anchorCtr="0" anchor="ctr" bIns="45700" lIns="91425" spcFirstLastPara="1" rIns="91425" wrap="square" tIns="45700">
            <a:spAutoFit/>
          </a:bodyPr>
          <a:lstStyle/>
          <a:p>
            <a:pPr indent="0" lvl="2" marL="0" marR="0" rtl="0" algn="l">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The diagram shows an institutional network connected to public Internet. Answer the following questions based on the assumption below:</a:t>
            </a:r>
            <a:endParaRPr/>
          </a:p>
          <a:p>
            <a:pPr indent="0" lvl="2" marL="0" marR="0" rtl="0" algn="l">
              <a:spcBef>
                <a:spcPts val="0"/>
              </a:spcBef>
              <a:spcAft>
                <a:spcPts val="0"/>
              </a:spcAft>
              <a:buNone/>
            </a:pPr>
            <a:r>
              <a:t/>
            </a:r>
            <a:endParaRPr b="0" i="0" sz="800" u="none" cap="none" strike="noStrike">
              <a:solidFill>
                <a:schemeClr val="dk1"/>
              </a:solidFill>
              <a:latin typeface="Calibri"/>
              <a:ea typeface="Calibri"/>
              <a:cs typeface="Calibri"/>
              <a:sym typeface="Calibri"/>
            </a:endParaRPr>
          </a:p>
          <a:p>
            <a:pPr indent="-114300" lvl="1" marL="457200" marR="0" rtl="0" algn="l">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 Average object size: 100K bits</a:t>
            </a:r>
            <a:r>
              <a:rPr b="0" i="0" lang="en-US" sz="18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Times New Roman"/>
                <a:ea typeface="Times New Roman"/>
                <a:cs typeface="Times New Roman"/>
                <a:sym typeface="Times New Roman"/>
              </a:rPr>
              <a:t>average request rate from browsers to origin servers: 15/sec</a:t>
            </a:r>
            <a:r>
              <a:rPr b="0" i="0" lang="en-US" sz="18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Times New Roman"/>
                <a:ea typeface="Times New Roman"/>
                <a:cs typeface="Times New Roman"/>
                <a:sym typeface="Times New Roman"/>
              </a:rPr>
              <a:t>access link rate: 1.5 Mbps, &amp; access LAN: 1Gbps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p:txBody>
      </p:sp>
      <p:pic>
        <p:nvPicPr>
          <p:cNvPr id="4598" name="Google Shape;4598;p52"/>
          <p:cNvPicPr preferRelativeResize="0"/>
          <p:nvPr/>
        </p:nvPicPr>
        <p:blipFill rotWithShape="1">
          <a:blip r:embed="rId3">
            <a:alphaModFix/>
          </a:blip>
          <a:srcRect b="0" l="0" r="0" t="0"/>
          <a:stretch/>
        </p:blipFill>
        <p:spPr>
          <a:xfrm>
            <a:off x="6784975" y="1327150"/>
            <a:ext cx="3390900" cy="3354388"/>
          </a:xfrm>
          <a:prstGeom prst="rect">
            <a:avLst/>
          </a:prstGeom>
          <a:noFill/>
          <a:ln>
            <a:noFill/>
          </a:ln>
        </p:spPr>
      </p:pic>
      <p:sp>
        <p:nvSpPr>
          <p:cNvPr id="4599" name="Google Shape;4599;p52"/>
          <p:cNvSpPr/>
          <p:nvPr/>
        </p:nvSpPr>
        <p:spPr>
          <a:xfrm>
            <a:off x="1787525" y="4695826"/>
            <a:ext cx="8388350" cy="175577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i) Without web cache server, calculate access link utilization.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ii) Assume the access link rate is increased to 3Mbps. Without web cache server, calculate the access link utilization. </a:t>
            </a:r>
            <a:endParaRPr sz="1800">
              <a:solidFill>
                <a:schemeClr val="dk1"/>
              </a:solidFill>
              <a:latin typeface="Arial"/>
              <a:ea typeface="Arial"/>
              <a:cs typeface="Arial"/>
              <a:sym typeface="Arial"/>
            </a:endParaRPr>
          </a:p>
          <a:p>
            <a:pPr indent="-266700" lvl="0" marL="266700" marR="0" rtl="0" algn="l">
              <a:spcBef>
                <a:spcPts val="0"/>
              </a:spcBef>
              <a:spcAft>
                <a:spcPts val="0"/>
              </a:spcAft>
              <a:buNone/>
            </a:pPr>
            <a:r>
              <a:rPr lang="en-US" sz="1800">
                <a:solidFill>
                  <a:schemeClr val="dk1"/>
                </a:solidFill>
                <a:latin typeface="Times New Roman"/>
                <a:ea typeface="Times New Roman"/>
                <a:cs typeface="Times New Roman"/>
                <a:sym typeface="Times New Roman"/>
              </a:rPr>
              <a:t>iii) Assume the link capacity is unchanged (1.5Mbps) and a web server cache is used which has a hit rate of 50%, find the access link utilization.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iv) Discuss the results in B and C (in terms of utilization). What is your conclusion? </a:t>
            </a:r>
            <a:endParaRPr sz="1800">
              <a:solidFill>
                <a:schemeClr val="dk1"/>
              </a:solidFill>
              <a:latin typeface="Arial"/>
              <a:ea typeface="Arial"/>
              <a:cs typeface="Arial"/>
              <a:sym typeface="Arial"/>
            </a:endParaRPr>
          </a:p>
        </p:txBody>
      </p:sp>
      <p:sp>
        <p:nvSpPr>
          <p:cNvPr id="4600" name="Google Shape;4600;p52"/>
          <p:cNvSpPr txBox="1"/>
          <p:nvPr>
            <p:ph type="title"/>
          </p:nvPr>
        </p:nvSpPr>
        <p:spPr>
          <a:xfrm>
            <a:off x="1811338" y="123826"/>
            <a:ext cx="7962900" cy="7397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600"/>
              <a:buFont typeface="Calibri"/>
              <a:buNone/>
            </a:pPr>
            <a:r>
              <a:rPr lang="en-US" sz="3600"/>
              <a:t>Example Problem:</a:t>
            </a:r>
            <a:endParaRPr/>
          </a:p>
        </p:txBody>
      </p:sp>
      <p:pic>
        <p:nvPicPr>
          <p:cNvPr descr="underline_base" id="4601" name="Google Shape;4601;p52"/>
          <p:cNvPicPr preferRelativeResize="0"/>
          <p:nvPr/>
        </p:nvPicPr>
        <p:blipFill rotWithShape="1">
          <a:blip r:embed="rId4">
            <a:alphaModFix/>
          </a:blip>
          <a:srcRect b="0" l="0" r="0" t="0"/>
          <a:stretch/>
        </p:blipFill>
        <p:spPr>
          <a:xfrm>
            <a:off x="1871663" y="692150"/>
            <a:ext cx="3656012" cy="17303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6" name="Shape 4606"/>
        <p:cNvGrpSpPr/>
        <p:nvPr/>
      </p:nvGrpSpPr>
      <p:grpSpPr>
        <a:xfrm>
          <a:off x="0" y="0"/>
          <a:ext cx="0" cy="0"/>
          <a:chOff x="0" y="0"/>
          <a:chExt cx="0" cy="0"/>
        </a:xfrm>
      </p:grpSpPr>
      <p:sp>
        <p:nvSpPr>
          <p:cNvPr id="4607" name="Google Shape;4607;p53"/>
          <p:cNvSpPr txBox="1"/>
          <p:nvPr>
            <p:ph type="title"/>
          </p:nvPr>
        </p:nvSpPr>
        <p:spPr>
          <a:xfrm>
            <a:off x="798691" y="37987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Conditional GET</a:t>
            </a:r>
            <a:endParaRPr sz="4400"/>
          </a:p>
        </p:txBody>
      </p:sp>
      <p:sp>
        <p:nvSpPr>
          <p:cNvPr id="4608" name="Google Shape;4608;p5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4609" name="Google Shape;4609;p53"/>
          <p:cNvSpPr txBox="1"/>
          <p:nvPr/>
        </p:nvSpPr>
        <p:spPr>
          <a:xfrm>
            <a:off x="714337" y="1626575"/>
            <a:ext cx="5597253" cy="5132388"/>
          </a:xfrm>
          <a:prstGeom prst="rect">
            <a:avLst/>
          </a:prstGeom>
          <a:noFill/>
          <a:ln>
            <a:noFill/>
          </a:ln>
        </p:spPr>
        <p:txBody>
          <a:bodyPr anchorCtr="0" anchor="t" bIns="45700" lIns="91425" spcFirstLastPara="1" rIns="91425" wrap="square" tIns="45700">
            <a:noAutofit/>
          </a:bodyPr>
          <a:lstStyle/>
          <a:p>
            <a:pPr indent="0" lvl="0" marL="130175" marR="0" rtl="0" algn="l">
              <a:lnSpc>
                <a:spcPct val="90000"/>
              </a:lnSpc>
              <a:spcBef>
                <a:spcPts val="0"/>
              </a:spcBef>
              <a:spcAft>
                <a:spcPts val="0"/>
              </a:spcAft>
              <a:buClr>
                <a:srgbClr val="0000A3"/>
              </a:buClr>
              <a:buSzPts val="2800"/>
              <a:buFont typeface="Noto Sans Symbols"/>
              <a:buNone/>
            </a:pPr>
            <a:r>
              <a:rPr i="1" lang="en-US" sz="2800">
                <a:solidFill>
                  <a:srgbClr val="CC0000"/>
                </a:solidFill>
                <a:latin typeface="Calibri"/>
                <a:ea typeface="Calibri"/>
                <a:cs typeface="Calibri"/>
                <a:sym typeface="Calibri"/>
              </a:rPr>
              <a:t>Goal:</a:t>
            </a:r>
            <a:r>
              <a:rPr lang="en-US" sz="2800">
                <a:solidFill>
                  <a:schemeClr val="dk1"/>
                </a:solidFill>
                <a:latin typeface="Calibri"/>
                <a:ea typeface="Calibri"/>
                <a:cs typeface="Calibri"/>
                <a:sym typeface="Calibri"/>
              </a:rPr>
              <a:t> don’t send object if cache has up-to-date cached version</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no object transmission delay</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lower link utilization</a:t>
            </a:r>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a:solidFill>
                  <a:srgbClr val="000090"/>
                </a:solidFill>
                <a:latin typeface="Calibri"/>
                <a:ea typeface="Calibri"/>
                <a:cs typeface="Calibri"/>
                <a:sym typeface="Calibri"/>
              </a:rPr>
              <a:t>cache:</a:t>
            </a:r>
            <a:r>
              <a:rPr lang="en-US" sz="2800">
                <a:solidFill>
                  <a:srgbClr val="000090"/>
                </a:solidFill>
                <a:latin typeface="Calibri"/>
                <a:ea typeface="Calibri"/>
                <a:cs typeface="Calibri"/>
                <a:sym typeface="Calibri"/>
              </a:rPr>
              <a:t> </a:t>
            </a:r>
            <a:r>
              <a:rPr lang="en-US" sz="2800">
                <a:solidFill>
                  <a:schemeClr val="dk1"/>
                </a:solidFill>
                <a:latin typeface="Calibri"/>
                <a:ea typeface="Calibri"/>
                <a:cs typeface="Calibri"/>
                <a:sym typeface="Calibri"/>
              </a:rPr>
              <a:t>specify date of cached copy in HTTP request</a:t>
            </a:r>
            <a:endParaRPr/>
          </a:p>
          <a:p>
            <a:pPr indent="-231775" lvl="1" marL="695325" marR="0" rtl="0" algn="l">
              <a:lnSpc>
                <a:spcPct val="90000"/>
              </a:lnSpc>
              <a:spcBef>
                <a:spcPts val="500"/>
              </a:spcBef>
              <a:spcAft>
                <a:spcPts val="0"/>
              </a:spcAft>
              <a:buClr>
                <a:srgbClr val="0000A8"/>
              </a:buClr>
              <a:buSzPts val="2400"/>
              <a:buFont typeface="Noto Sans Symbols"/>
              <a:buNone/>
            </a:pPr>
            <a:r>
              <a:rPr b="1" i="0" lang="en-US" sz="2400" u="none" cap="none" strike="noStrike">
                <a:solidFill>
                  <a:schemeClr val="dk1"/>
                </a:solidFill>
                <a:latin typeface="Calibri"/>
                <a:ea typeface="Calibri"/>
                <a:cs typeface="Calibri"/>
                <a:sym typeface="Calibri"/>
              </a:rPr>
              <a:t>If-modified-since: &lt;date&gt;</a:t>
            </a:r>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a:solidFill>
                  <a:srgbClr val="000090"/>
                </a:solidFill>
                <a:latin typeface="Calibri"/>
                <a:ea typeface="Calibri"/>
                <a:cs typeface="Calibri"/>
                <a:sym typeface="Calibri"/>
              </a:rPr>
              <a:t>server:</a:t>
            </a:r>
            <a:r>
              <a:rPr lang="en-US" sz="2800">
                <a:solidFill>
                  <a:srgbClr val="000090"/>
                </a:solidFill>
                <a:latin typeface="Calibri"/>
                <a:ea typeface="Calibri"/>
                <a:cs typeface="Calibri"/>
                <a:sym typeface="Calibri"/>
              </a:rPr>
              <a:t> </a:t>
            </a:r>
            <a:r>
              <a:rPr lang="en-US" sz="2800">
                <a:solidFill>
                  <a:schemeClr val="dk1"/>
                </a:solidFill>
                <a:latin typeface="Calibri"/>
                <a:ea typeface="Calibri"/>
                <a:cs typeface="Calibri"/>
                <a:sym typeface="Calibri"/>
              </a:rPr>
              <a:t>response contains no object if cached copy is up-to-date: </a:t>
            </a:r>
            <a:endParaRPr/>
          </a:p>
          <a:p>
            <a:pPr indent="-231775" lvl="1" marL="695325" marR="0" rtl="0" algn="l">
              <a:lnSpc>
                <a:spcPct val="90000"/>
              </a:lnSpc>
              <a:spcBef>
                <a:spcPts val="500"/>
              </a:spcBef>
              <a:spcAft>
                <a:spcPts val="0"/>
              </a:spcAft>
              <a:buClr>
                <a:srgbClr val="0000A8"/>
              </a:buClr>
              <a:buSzPts val="2400"/>
              <a:buFont typeface="Noto Sans Symbols"/>
              <a:buNone/>
            </a:pPr>
            <a:r>
              <a:rPr b="1" i="0" lang="en-US" sz="2400" u="none" cap="none" strike="noStrike">
                <a:solidFill>
                  <a:schemeClr val="dk1"/>
                </a:solidFill>
                <a:latin typeface="Calibri"/>
                <a:ea typeface="Calibri"/>
                <a:cs typeface="Calibri"/>
                <a:sym typeface="Calibri"/>
              </a:rPr>
              <a:t>HTTP/1.0 304 Not Modified</a:t>
            </a:r>
            <a:endParaRPr b="0" i="0" sz="2800" u="none" cap="none" strike="noStrike">
              <a:solidFill>
                <a:schemeClr val="dk1"/>
              </a:solidFill>
              <a:latin typeface="Calibri"/>
              <a:ea typeface="Calibri"/>
              <a:cs typeface="Calibri"/>
              <a:sym typeface="Calibri"/>
            </a:endParaRPr>
          </a:p>
        </p:txBody>
      </p:sp>
      <p:cxnSp>
        <p:nvCxnSpPr>
          <p:cNvPr id="4610" name="Google Shape;4610;p53"/>
          <p:cNvCxnSpPr/>
          <p:nvPr/>
        </p:nvCxnSpPr>
        <p:spPr>
          <a:xfrm>
            <a:off x="7035490" y="2068251"/>
            <a:ext cx="3305175" cy="381000"/>
          </a:xfrm>
          <a:prstGeom prst="straightConnector1">
            <a:avLst/>
          </a:prstGeom>
          <a:noFill/>
          <a:ln cap="flat" cmpd="sng" w="19050">
            <a:solidFill>
              <a:schemeClr val="dk1"/>
            </a:solidFill>
            <a:prstDash val="solid"/>
            <a:round/>
            <a:headEnd len="med" w="med" type="none"/>
            <a:tailEnd len="med" w="med" type="triangle"/>
          </a:ln>
        </p:spPr>
      </p:cxnSp>
      <p:sp>
        <p:nvSpPr>
          <p:cNvPr id="4611" name="Google Shape;4611;p53"/>
          <p:cNvSpPr txBox="1"/>
          <p:nvPr/>
        </p:nvSpPr>
        <p:spPr>
          <a:xfrm>
            <a:off x="7341878" y="1952364"/>
            <a:ext cx="2681287" cy="62071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HTTP request msg</a:t>
            </a:r>
            <a:endParaRPr/>
          </a:p>
          <a:p>
            <a:pPr indent="0" lvl="0" marL="0" marR="0" rtl="0" algn="ctr">
              <a:spcBef>
                <a:spcPts val="0"/>
              </a:spcBef>
              <a:spcAft>
                <a:spcPts val="0"/>
              </a:spcAft>
              <a:buClr>
                <a:schemeClr val="dk1"/>
              </a:buClr>
              <a:buSzPts val="1600"/>
              <a:buFont typeface="Calibri"/>
              <a:buNone/>
            </a:pPr>
            <a:r>
              <a:rPr b="1" lang="en-US" sz="1600">
                <a:solidFill>
                  <a:schemeClr val="dk1"/>
                </a:solidFill>
                <a:latin typeface="Calibri"/>
                <a:ea typeface="Calibri"/>
                <a:cs typeface="Calibri"/>
                <a:sym typeface="Calibri"/>
              </a:rPr>
              <a:t>If-modified-since: &lt;date&gt;</a:t>
            </a:r>
            <a:endParaRPr b="1" sz="2000">
              <a:solidFill>
                <a:schemeClr val="dk1"/>
              </a:solidFill>
              <a:latin typeface="Calibri"/>
              <a:ea typeface="Calibri"/>
              <a:cs typeface="Calibri"/>
              <a:sym typeface="Calibri"/>
            </a:endParaRPr>
          </a:p>
        </p:txBody>
      </p:sp>
      <p:cxnSp>
        <p:nvCxnSpPr>
          <p:cNvPr id="4612" name="Google Shape;4612;p53"/>
          <p:cNvCxnSpPr/>
          <p:nvPr/>
        </p:nvCxnSpPr>
        <p:spPr>
          <a:xfrm flipH="1">
            <a:off x="7054540" y="2814376"/>
            <a:ext cx="3305175" cy="381000"/>
          </a:xfrm>
          <a:prstGeom prst="straightConnector1">
            <a:avLst/>
          </a:prstGeom>
          <a:noFill/>
          <a:ln cap="flat" cmpd="sng" w="19050">
            <a:solidFill>
              <a:schemeClr val="dk1"/>
            </a:solidFill>
            <a:prstDash val="solid"/>
            <a:round/>
            <a:headEnd len="med" w="med" type="none"/>
            <a:tailEnd len="med" w="med" type="triangle"/>
          </a:ln>
        </p:spPr>
      </p:cxnSp>
      <p:grpSp>
        <p:nvGrpSpPr>
          <p:cNvPr id="4613" name="Google Shape;4613;p53"/>
          <p:cNvGrpSpPr/>
          <p:nvPr/>
        </p:nvGrpSpPr>
        <p:grpSpPr>
          <a:xfrm>
            <a:off x="7322828" y="2808026"/>
            <a:ext cx="2643187" cy="865188"/>
            <a:chOff x="2698" y="2036"/>
            <a:chExt cx="1665" cy="545"/>
          </a:xfrm>
        </p:grpSpPr>
        <p:sp>
          <p:nvSpPr>
            <p:cNvPr id="4614" name="Google Shape;4614;p53"/>
            <p:cNvSpPr/>
            <p:nvPr/>
          </p:nvSpPr>
          <p:spPr>
            <a:xfrm>
              <a:off x="2760" y="2071"/>
              <a:ext cx="1578" cy="46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15" name="Google Shape;4615;p53"/>
            <p:cNvSpPr txBox="1"/>
            <p:nvPr/>
          </p:nvSpPr>
          <p:spPr>
            <a:xfrm>
              <a:off x="2698" y="2036"/>
              <a:ext cx="1665" cy="54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HTTP response</a:t>
              </a:r>
              <a:endParaRPr/>
            </a:p>
            <a:p>
              <a:pPr indent="0" lvl="0" marL="0" marR="0" rtl="0" algn="ctr">
                <a:spcBef>
                  <a:spcPts val="0"/>
                </a:spcBef>
                <a:spcAft>
                  <a:spcPts val="0"/>
                </a:spcAft>
                <a:buClr>
                  <a:schemeClr val="dk1"/>
                </a:buClr>
                <a:buSzPts val="1600"/>
                <a:buFont typeface="Calibri"/>
                <a:buNone/>
              </a:pPr>
              <a:r>
                <a:rPr b="1" lang="en-US" sz="1600">
                  <a:solidFill>
                    <a:schemeClr val="dk1"/>
                  </a:solidFill>
                  <a:latin typeface="Calibri"/>
                  <a:ea typeface="Calibri"/>
                  <a:cs typeface="Calibri"/>
                  <a:sym typeface="Calibri"/>
                </a:rPr>
                <a:t>HTTP/1.0 </a:t>
              </a:r>
              <a:endParaRPr/>
            </a:p>
            <a:p>
              <a:pPr indent="0" lvl="0" marL="0" marR="0" rtl="0" algn="ctr">
                <a:spcBef>
                  <a:spcPts val="0"/>
                </a:spcBef>
                <a:spcAft>
                  <a:spcPts val="0"/>
                </a:spcAft>
                <a:buClr>
                  <a:schemeClr val="dk1"/>
                </a:buClr>
                <a:buSzPts val="1600"/>
                <a:buFont typeface="Calibri"/>
                <a:buNone/>
              </a:pPr>
              <a:r>
                <a:rPr b="1" lang="en-US" sz="1600">
                  <a:solidFill>
                    <a:schemeClr val="dk1"/>
                  </a:solidFill>
                  <a:latin typeface="Calibri"/>
                  <a:ea typeface="Calibri"/>
                  <a:cs typeface="Calibri"/>
                  <a:sym typeface="Calibri"/>
                </a:rPr>
                <a:t>304 Not Modified</a:t>
              </a:r>
              <a:endParaRPr b="1" sz="2000">
                <a:solidFill>
                  <a:schemeClr val="dk1"/>
                </a:solidFill>
                <a:latin typeface="Calibri"/>
                <a:ea typeface="Calibri"/>
                <a:cs typeface="Calibri"/>
                <a:sym typeface="Calibri"/>
              </a:endParaRPr>
            </a:p>
          </p:txBody>
        </p:sp>
      </p:grpSp>
      <p:sp>
        <p:nvSpPr>
          <p:cNvPr id="4616" name="Google Shape;4616;p53"/>
          <p:cNvSpPr txBox="1"/>
          <p:nvPr/>
        </p:nvSpPr>
        <p:spPr>
          <a:xfrm>
            <a:off x="10420040" y="2103176"/>
            <a:ext cx="1047750" cy="14652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99"/>
              </a:buClr>
              <a:buSzPts val="1800"/>
              <a:buFont typeface="Calibri"/>
              <a:buNone/>
            </a:pPr>
            <a:r>
              <a:rPr lang="en-US" sz="1800">
                <a:solidFill>
                  <a:srgbClr val="000099"/>
                </a:solidFill>
                <a:latin typeface="Calibri"/>
                <a:ea typeface="Calibri"/>
                <a:cs typeface="Calibri"/>
                <a:sym typeface="Calibri"/>
              </a:rPr>
              <a:t>object </a:t>
            </a:r>
            <a:endParaRPr/>
          </a:p>
          <a:p>
            <a:pPr indent="0" lvl="0" marL="0" marR="0" rtl="0" algn="ctr">
              <a:spcBef>
                <a:spcPts val="0"/>
              </a:spcBef>
              <a:spcAft>
                <a:spcPts val="0"/>
              </a:spcAft>
              <a:buClr>
                <a:srgbClr val="000099"/>
              </a:buClr>
              <a:buSzPts val="1800"/>
              <a:buFont typeface="Calibri"/>
              <a:buNone/>
            </a:pPr>
            <a:r>
              <a:rPr lang="en-US" sz="1800">
                <a:solidFill>
                  <a:srgbClr val="000099"/>
                </a:solidFill>
                <a:latin typeface="Calibri"/>
                <a:ea typeface="Calibri"/>
                <a:cs typeface="Calibri"/>
                <a:sym typeface="Calibri"/>
              </a:rPr>
              <a:t>not </a:t>
            </a:r>
            <a:endParaRPr/>
          </a:p>
          <a:p>
            <a:pPr indent="0" lvl="0" marL="0" marR="0" rtl="0" algn="ctr">
              <a:spcBef>
                <a:spcPts val="0"/>
              </a:spcBef>
              <a:spcAft>
                <a:spcPts val="0"/>
              </a:spcAft>
              <a:buClr>
                <a:srgbClr val="000099"/>
              </a:buClr>
              <a:buSzPts val="1800"/>
              <a:buFont typeface="Calibri"/>
              <a:buNone/>
            </a:pPr>
            <a:r>
              <a:rPr lang="en-US" sz="1800">
                <a:solidFill>
                  <a:srgbClr val="000099"/>
                </a:solidFill>
                <a:latin typeface="Calibri"/>
                <a:ea typeface="Calibri"/>
                <a:cs typeface="Calibri"/>
                <a:sym typeface="Calibri"/>
              </a:rPr>
              <a:t>modified</a:t>
            </a:r>
            <a:endParaRPr/>
          </a:p>
          <a:p>
            <a:pPr indent="0" lvl="0" marL="0" marR="0" rtl="0" algn="ctr">
              <a:spcBef>
                <a:spcPts val="0"/>
              </a:spcBef>
              <a:spcAft>
                <a:spcPts val="0"/>
              </a:spcAft>
              <a:buClr>
                <a:srgbClr val="000099"/>
              </a:buClr>
              <a:buSzPts val="1800"/>
              <a:buFont typeface="Calibri"/>
              <a:buNone/>
            </a:pPr>
            <a:r>
              <a:rPr lang="en-US" sz="1800">
                <a:solidFill>
                  <a:srgbClr val="000099"/>
                </a:solidFill>
                <a:latin typeface="Calibri"/>
                <a:ea typeface="Calibri"/>
                <a:cs typeface="Calibri"/>
                <a:sym typeface="Calibri"/>
              </a:rPr>
              <a:t>before</a:t>
            </a:r>
            <a:endParaRPr/>
          </a:p>
          <a:p>
            <a:pPr indent="0" lvl="0" marL="0" marR="0" rtl="0" algn="ctr">
              <a:spcBef>
                <a:spcPts val="0"/>
              </a:spcBef>
              <a:spcAft>
                <a:spcPts val="0"/>
              </a:spcAft>
              <a:buClr>
                <a:srgbClr val="000099"/>
              </a:buClr>
              <a:buSzPts val="1800"/>
              <a:buFont typeface="Calibri"/>
              <a:buNone/>
            </a:pPr>
            <a:r>
              <a:rPr lang="en-US" sz="1800">
                <a:solidFill>
                  <a:srgbClr val="000099"/>
                </a:solidFill>
                <a:latin typeface="Calibri"/>
                <a:ea typeface="Calibri"/>
                <a:cs typeface="Calibri"/>
                <a:sym typeface="Calibri"/>
              </a:rPr>
              <a:t>&lt;date&gt;</a:t>
            </a:r>
            <a:endParaRPr/>
          </a:p>
        </p:txBody>
      </p:sp>
      <p:cxnSp>
        <p:nvCxnSpPr>
          <p:cNvPr id="4617" name="Google Shape;4617;p53"/>
          <p:cNvCxnSpPr/>
          <p:nvPr/>
        </p:nvCxnSpPr>
        <p:spPr>
          <a:xfrm>
            <a:off x="6792603" y="4033576"/>
            <a:ext cx="3905250" cy="0"/>
          </a:xfrm>
          <a:prstGeom prst="straightConnector1">
            <a:avLst/>
          </a:prstGeom>
          <a:noFill/>
          <a:ln cap="flat" cmpd="sng" w="28575">
            <a:solidFill>
              <a:srgbClr val="000099"/>
            </a:solidFill>
            <a:prstDash val="dash"/>
            <a:round/>
            <a:headEnd len="med" w="med" type="none"/>
            <a:tailEnd len="med" w="med" type="none"/>
          </a:ln>
        </p:spPr>
      </p:cxnSp>
      <p:cxnSp>
        <p:nvCxnSpPr>
          <p:cNvPr id="4618" name="Google Shape;4618;p53"/>
          <p:cNvCxnSpPr/>
          <p:nvPr/>
        </p:nvCxnSpPr>
        <p:spPr>
          <a:xfrm>
            <a:off x="7102165" y="4632064"/>
            <a:ext cx="3305175" cy="381000"/>
          </a:xfrm>
          <a:prstGeom prst="straightConnector1">
            <a:avLst/>
          </a:prstGeom>
          <a:noFill/>
          <a:ln cap="flat" cmpd="sng" w="19050">
            <a:solidFill>
              <a:schemeClr val="dk1"/>
            </a:solidFill>
            <a:prstDash val="solid"/>
            <a:round/>
            <a:headEnd len="med" w="med" type="none"/>
            <a:tailEnd len="med" w="med" type="triangle"/>
          </a:ln>
        </p:spPr>
      </p:cxnSp>
      <p:sp>
        <p:nvSpPr>
          <p:cNvPr id="4619" name="Google Shape;4619;p53"/>
          <p:cNvSpPr txBox="1"/>
          <p:nvPr/>
        </p:nvSpPr>
        <p:spPr>
          <a:xfrm>
            <a:off x="7346640" y="4516176"/>
            <a:ext cx="2681288" cy="620713"/>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HTTP request msg</a:t>
            </a:r>
            <a:endParaRPr/>
          </a:p>
          <a:p>
            <a:pPr indent="0" lvl="0" marL="0" marR="0" rtl="0" algn="ctr">
              <a:spcBef>
                <a:spcPts val="0"/>
              </a:spcBef>
              <a:spcAft>
                <a:spcPts val="0"/>
              </a:spcAft>
              <a:buClr>
                <a:schemeClr val="dk1"/>
              </a:buClr>
              <a:buSzPts val="1600"/>
              <a:buFont typeface="Calibri"/>
              <a:buNone/>
            </a:pPr>
            <a:r>
              <a:rPr b="1" lang="en-US" sz="1600">
                <a:solidFill>
                  <a:schemeClr val="dk1"/>
                </a:solidFill>
                <a:latin typeface="Calibri"/>
                <a:ea typeface="Calibri"/>
                <a:cs typeface="Calibri"/>
                <a:sym typeface="Calibri"/>
              </a:rPr>
              <a:t>If-modified-since: &lt;date&gt;</a:t>
            </a:r>
            <a:endParaRPr b="1" sz="2000">
              <a:solidFill>
                <a:schemeClr val="dk1"/>
              </a:solidFill>
              <a:latin typeface="Calibri"/>
              <a:ea typeface="Calibri"/>
              <a:cs typeface="Calibri"/>
              <a:sym typeface="Calibri"/>
            </a:endParaRPr>
          </a:p>
        </p:txBody>
      </p:sp>
      <p:cxnSp>
        <p:nvCxnSpPr>
          <p:cNvPr id="4620" name="Google Shape;4620;p53"/>
          <p:cNvCxnSpPr/>
          <p:nvPr/>
        </p:nvCxnSpPr>
        <p:spPr>
          <a:xfrm flipH="1">
            <a:off x="7121215" y="5411526"/>
            <a:ext cx="3305175" cy="381000"/>
          </a:xfrm>
          <a:prstGeom prst="straightConnector1">
            <a:avLst/>
          </a:prstGeom>
          <a:noFill/>
          <a:ln cap="flat" cmpd="sng" w="19050">
            <a:solidFill>
              <a:schemeClr val="dk1"/>
            </a:solidFill>
            <a:prstDash val="solid"/>
            <a:round/>
            <a:headEnd len="med" w="med" type="none"/>
            <a:tailEnd len="med" w="med" type="triangle"/>
          </a:ln>
        </p:spPr>
      </p:cxnSp>
      <p:sp>
        <p:nvSpPr>
          <p:cNvPr id="4621" name="Google Shape;4621;p53"/>
          <p:cNvSpPr txBox="1"/>
          <p:nvPr/>
        </p:nvSpPr>
        <p:spPr>
          <a:xfrm>
            <a:off x="7365690" y="5355964"/>
            <a:ext cx="2643188" cy="123110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HTTP response</a:t>
            </a:r>
            <a:endParaRPr/>
          </a:p>
          <a:p>
            <a:pPr indent="0" lvl="0" marL="0" marR="0" rtl="0" algn="ctr">
              <a:spcBef>
                <a:spcPts val="0"/>
              </a:spcBef>
              <a:spcAft>
                <a:spcPts val="0"/>
              </a:spcAft>
              <a:buClr>
                <a:schemeClr val="dk1"/>
              </a:buClr>
              <a:buSzPts val="1600"/>
              <a:buFont typeface="Calibri"/>
              <a:buNone/>
            </a:pPr>
            <a:r>
              <a:rPr b="1" lang="en-US" sz="1600">
                <a:solidFill>
                  <a:schemeClr val="dk1"/>
                </a:solidFill>
                <a:latin typeface="Calibri"/>
                <a:ea typeface="Calibri"/>
                <a:cs typeface="Calibri"/>
                <a:sym typeface="Calibri"/>
              </a:rPr>
              <a:t>HTTP/1.0 200 OK</a:t>
            </a:r>
            <a:endParaRPr/>
          </a:p>
          <a:p>
            <a:pPr indent="0" lvl="0" marL="0" marR="0" rtl="0" algn="ctr">
              <a:spcBef>
                <a:spcPts val="0"/>
              </a:spcBef>
              <a:spcAft>
                <a:spcPts val="0"/>
              </a:spcAft>
              <a:buClr>
                <a:schemeClr val="dk1"/>
              </a:buClr>
              <a:buSzPts val="2000"/>
              <a:buFont typeface="Calibri"/>
              <a:buNone/>
            </a:pPr>
            <a:r>
              <a:rPr b="1" lang="en-US" sz="2000">
                <a:solidFill>
                  <a:schemeClr val="dk1"/>
                </a:solidFill>
                <a:latin typeface="Calibri"/>
                <a:ea typeface="Calibri"/>
                <a:cs typeface="Calibri"/>
                <a:sym typeface="Calibri"/>
              </a:rPr>
              <a:t>&lt;data&gt;</a:t>
            </a:r>
            <a:endParaRPr/>
          </a:p>
          <a:p>
            <a:pPr indent="0" lvl="0" marL="0" marR="0" rtl="0" algn="ctr">
              <a:spcBef>
                <a:spcPts val="0"/>
              </a:spcBef>
              <a:spcAft>
                <a:spcPts val="0"/>
              </a:spcAft>
              <a:buClr>
                <a:schemeClr val="dk1"/>
              </a:buClr>
              <a:buSzPts val="2000"/>
              <a:buFont typeface="Arial"/>
              <a:buNone/>
            </a:pPr>
            <a:r>
              <a:t/>
            </a:r>
            <a:endParaRPr b="1" sz="2000">
              <a:solidFill>
                <a:schemeClr val="dk1"/>
              </a:solidFill>
              <a:latin typeface="Calibri"/>
              <a:ea typeface="Calibri"/>
              <a:cs typeface="Calibri"/>
              <a:sym typeface="Calibri"/>
            </a:endParaRPr>
          </a:p>
        </p:txBody>
      </p:sp>
      <p:sp>
        <p:nvSpPr>
          <p:cNvPr id="4622" name="Google Shape;4622;p53"/>
          <p:cNvSpPr txBox="1"/>
          <p:nvPr/>
        </p:nvSpPr>
        <p:spPr>
          <a:xfrm>
            <a:off x="10499415" y="4762239"/>
            <a:ext cx="1047750" cy="11906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99"/>
              </a:buClr>
              <a:buSzPts val="1800"/>
              <a:buFont typeface="Calibri"/>
              <a:buNone/>
            </a:pPr>
            <a:r>
              <a:rPr lang="en-US" sz="1800">
                <a:solidFill>
                  <a:srgbClr val="000099"/>
                </a:solidFill>
                <a:latin typeface="Calibri"/>
                <a:ea typeface="Calibri"/>
                <a:cs typeface="Calibri"/>
                <a:sym typeface="Calibri"/>
              </a:rPr>
              <a:t>object </a:t>
            </a:r>
            <a:endParaRPr/>
          </a:p>
          <a:p>
            <a:pPr indent="0" lvl="0" marL="0" marR="0" rtl="0" algn="ctr">
              <a:spcBef>
                <a:spcPts val="0"/>
              </a:spcBef>
              <a:spcAft>
                <a:spcPts val="0"/>
              </a:spcAft>
              <a:buClr>
                <a:srgbClr val="000099"/>
              </a:buClr>
              <a:buSzPts val="1800"/>
              <a:buFont typeface="Calibri"/>
              <a:buNone/>
            </a:pPr>
            <a:r>
              <a:rPr lang="en-US" sz="1800">
                <a:solidFill>
                  <a:srgbClr val="000099"/>
                </a:solidFill>
                <a:latin typeface="Calibri"/>
                <a:ea typeface="Calibri"/>
                <a:cs typeface="Calibri"/>
                <a:sym typeface="Calibri"/>
              </a:rPr>
              <a:t>modified</a:t>
            </a:r>
            <a:endParaRPr/>
          </a:p>
          <a:p>
            <a:pPr indent="0" lvl="0" marL="0" marR="0" rtl="0" algn="ctr">
              <a:spcBef>
                <a:spcPts val="0"/>
              </a:spcBef>
              <a:spcAft>
                <a:spcPts val="0"/>
              </a:spcAft>
              <a:buClr>
                <a:srgbClr val="000099"/>
              </a:buClr>
              <a:buSzPts val="1800"/>
              <a:buFont typeface="Calibri"/>
              <a:buNone/>
            </a:pPr>
            <a:r>
              <a:rPr lang="en-US" sz="1800">
                <a:solidFill>
                  <a:srgbClr val="000099"/>
                </a:solidFill>
                <a:latin typeface="Calibri"/>
                <a:ea typeface="Calibri"/>
                <a:cs typeface="Calibri"/>
                <a:sym typeface="Calibri"/>
              </a:rPr>
              <a:t>after </a:t>
            </a:r>
            <a:endParaRPr/>
          </a:p>
          <a:p>
            <a:pPr indent="0" lvl="0" marL="0" marR="0" rtl="0" algn="ctr">
              <a:spcBef>
                <a:spcPts val="0"/>
              </a:spcBef>
              <a:spcAft>
                <a:spcPts val="0"/>
              </a:spcAft>
              <a:buClr>
                <a:srgbClr val="000099"/>
              </a:buClr>
              <a:buSzPts val="1800"/>
              <a:buFont typeface="Calibri"/>
              <a:buNone/>
            </a:pPr>
            <a:r>
              <a:rPr lang="en-US" sz="1800">
                <a:solidFill>
                  <a:srgbClr val="000099"/>
                </a:solidFill>
                <a:latin typeface="Calibri"/>
                <a:ea typeface="Calibri"/>
                <a:cs typeface="Calibri"/>
                <a:sym typeface="Calibri"/>
              </a:rPr>
              <a:t>&lt;date&gt;</a:t>
            </a:r>
            <a:endParaRPr/>
          </a:p>
        </p:txBody>
      </p:sp>
      <p:grpSp>
        <p:nvGrpSpPr>
          <p:cNvPr id="4623" name="Google Shape;4623;p53"/>
          <p:cNvGrpSpPr/>
          <p:nvPr/>
        </p:nvGrpSpPr>
        <p:grpSpPr>
          <a:xfrm>
            <a:off x="6311590" y="931601"/>
            <a:ext cx="4549154" cy="787400"/>
            <a:chOff x="6311590" y="931601"/>
            <a:chExt cx="4549154" cy="787400"/>
          </a:xfrm>
        </p:grpSpPr>
        <p:sp>
          <p:nvSpPr>
            <p:cNvPr id="4624" name="Google Shape;4624;p53"/>
            <p:cNvSpPr txBox="1"/>
            <p:nvPr/>
          </p:nvSpPr>
          <p:spPr>
            <a:xfrm>
              <a:off x="6311590" y="1015739"/>
              <a:ext cx="777875"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CC0000"/>
                </a:buClr>
                <a:buSzPts val="2000"/>
                <a:buFont typeface="Calibri"/>
                <a:buNone/>
              </a:pPr>
              <a:r>
                <a:rPr lang="en-US" sz="2000">
                  <a:solidFill>
                    <a:srgbClr val="CC0000"/>
                  </a:solidFill>
                  <a:latin typeface="Calibri"/>
                  <a:ea typeface="Calibri"/>
                  <a:cs typeface="Calibri"/>
                  <a:sym typeface="Calibri"/>
                </a:rPr>
                <a:t>client</a:t>
              </a:r>
              <a:endParaRPr/>
            </a:p>
          </p:txBody>
        </p:sp>
        <p:sp>
          <p:nvSpPr>
            <p:cNvPr id="4625" name="Google Shape;4625;p53"/>
            <p:cNvSpPr txBox="1"/>
            <p:nvPr/>
          </p:nvSpPr>
          <p:spPr>
            <a:xfrm>
              <a:off x="10023785" y="1010976"/>
              <a:ext cx="836959"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CC0000"/>
                </a:buClr>
                <a:buSzPts val="2000"/>
                <a:buFont typeface="Calibri"/>
                <a:buNone/>
              </a:pPr>
              <a:r>
                <a:rPr lang="en-US" sz="2000">
                  <a:solidFill>
                    <a:srgbClr val="CC0000"/>
                  </a:solidFill>
                  <a:latin typeface="Calibri"/>
                  <a:ea typeface="Calibri"/>
                  <a:cs typeface="Calibri"/>
                  <a:sym typeface="Calibri"/>
                </a:rPr>
                <a:t>server</a:t>
              </a:r>
              <a:endParaRPr/>
            </a:p>
          </p:txBody>
        </p:sp>
        <p:grpSp>
          <p:nvGrpSpPr>
            <p:cNvPr id="4626" name="Google Shape;4626;p53"/>
            <p:cNvGrpSpPr/>
            <p:nvPr/>
          </p:nvGrpSpPr>
          <p:grpSpPr>
            <a:xfrm>
              <a:off x="9588190" y="931601"/>
              <a:ext cx="422275" cy="685800"/>
              <a:chOff x="4140" y="429"/>
              <a:chExt cx="1425" cy="2396"/>
            </a:xfrm>
          </p:grpSpPr>
          <p:sp>
            <p:nvSpPr>
              <p:cNvPr id="4627" name="Google Shape;4627;p5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8" name="Google Shape;4628;p53"/>
              <p:cNvSpPr/>
              <p:nvPr/>
            </p:nvSpPr>
            <p:spPr>
              <a:xfrm>
                <a:off x="4204" y="429"/>
                <a:ext cx="1050"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629" name="Google Shape;4629;p5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0" name="Google Shape;4630;p5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1" name="Google Shape;4631;p53"/>
              <p:cNvSpPr/>
              <p:nvPr/>
            </p:nvSpPr>
            <p:spPr>
              <a:xfrm>
                <a:off x="4210" y="695"/>
                <a:ext cx="600"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4632" name="Google Shape;4632;p53"/>
              <p:cNvGrpSpPr/>
              <p:nvPr/>
            </p:nvGrpSpPr>
            <p:grpSpPr>
              <a:xfrm>
                <a:off x="4751" y="668"/>
                <a:ext cx="579" cy="144"/>
                <a:chOff x="616" y="2568"/>
                <a:chExt cx="722" cy="138"/>
              </a:xfrm>
            </p:grpSpPr>
            <p:sp>
              <p:nvSpPr>
                <p:cNvPr id="4633" name="Google Shape;4633;p53"/>
                <p:cNvSpPr/>
                <p:nvPr/>
              </p:nvSpPr>
              <p:spPr>
                <a:xfrm>
                  <a:off x="616" y="2568"/>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634" name="Google Shape;4634;p53"/>
                <p:cNvSpPr/>
                <p:nvPr/>
              </p:nvSpPr>
              <p:spPr>
                <a:xfrm>
                  <a:off x="630" y="2583"/>
                  <a:ext cx="689"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4635" name="Google Shape;4635;p53"/>
              <p:cNvSpPr/>
              <p:nvPr/>
            </p:nvSpPr>
            <p:spPr>
              <a:xfrm>
                <a:off x="4226" y="1017"/>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4636" name="Google Shape;4636;p53"/>
              <p:cNvGrpSpPr/>
              <p:nvPr/>
            </p:nvGrpSpPr>
            <p:grpSpPr>
              <a:xfrm>
                <a:off x="4745" y="995"/>
                <a:ext cx="584" cy="133"/>
                <a:chOff x="612" y="2569"/>
                <a:chExt cx="729" cy="138"/>
              </a:xfrm>
            </p:grpSpPr>
            <p:sp>
              <p:nvSpPr>
                <p:cNvPr id="4637" name="Google Shape;4637;p53"/>
                <p:cNvSpPr/>
                <p:nvPr/>
              </p:nvSpPr>
              <p:spPr>
                <a:xfrm>
                  <a:off x="612" y="2569"/>
                  <a:ext cx="72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638" name="Google Shape;4638;p53"/>
                <p:cNvSpPr/>
                <p:nvPr/>
              </p:nvSpPr>
              <p:spPr>
                <a:xfrm>
                  <a:off x="625"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4639" name="Google Shape;4639;p53"/>
              <p:cNvSpPr/>
              <p:nvPr/>
            </p:nvSpPr>
            <p:spPr>
              <a:xfrm>
                <a:off x="4215" y="1355"/>
                <a:ext cx="600"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640" name="Google Shape;4640;p53"/>
              <p:cNvSpPr/>
              <p:nvPr/>
            </p:nvSpPr>
            <p:spPr>
              <a:xfrm>
                <a:off x="4226" y="1655"/>
                <a:ext cx="600"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4641" name="Google Shape;4641;p53"/>
              <p:cNvGrpSpPr/>
              <p:nvPr/>
            </p:nvGrpSpPr>
            <p:grpSpPr>
              <a:xfrm>
                <a:off x="4735" y="1627"/>
                <a:ext cx="584" cy="150"/>
                <a:chOff x="614" y="2568"/>
                <a:chExt cx="727" cy="138"/>
              </a:xfrm>
            </p:grpSpPr>
            <p:sp>
              <p:nvSpPr>
                <p:cNvPr id="4642" name="Google Shape;4642;p53"/>
                <p:cNvSpPr/>
                <p:nvPr/>
              </p:nvSpPr>
              <p:spPr>
                <a:xfrm>
                  <a:off x="614" y="2568"/>
                  <a:ext cx="72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643" name="Google Shape;4643;p53"/>
                <p:cNvSpPr/>
                <p:nvPr/>
              </p:nvSpPr>
              <p:spPr>
                <a:xfrm>
                  <a:off x="627" y="2583"/>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4644" name="Google Shape;4644;p5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645" name="Google Shape;4645;p53"/>
              <p:cNvGrpSpPr/>
              <p:nvPr/>
            </p:nvGrpSpPr>
            <p:grpSpPr>
              <a:xfrm>
                <a:off x="4740" y="1327"/>
                <a:ext cx="579" cy="139"/>
                <a:chOff x="615" y="2568"/>
                <a:chExt cx="721" cy="139"/>
              </a:xfrm>
            </p:grpSpPr>
            <p:sp>
              <p:nvSpPr>
                <p:cNvPr id="4646" name="Google Shape;4646;p53"/>
                <p:cNvSpPr/>
                <p:nvPr/>
              </p:nvSpPr>
              <p:spPr>
                <a:xfrm>
                  <a:off x="615" y="2568"/>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647" name="Google Shape;4647;p53"/>
                <p:cNvSpPr/>
                <p:nvPr/>
              </p:nvSpPr>
              <p:spPr>
                <a:xfrm>
                  <a:off x="629" y="2585"/>
                  <a:ext cx="687"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4648" name="Google Shape;4648;p53"/>
              <p:cNvSpPr/>
              <p:nvPr/>
            </p:nvSpPr>
            <p:spPr>
              <a:xfrm>
                <a:off x="5249" y="429"/>
                <a:ext cx="70" cy="2291"/>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649" name="Google Shape;4649;p5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0" name="Google Shape;4650;p5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1" name="Google Shape;4651;p53"/>
              <p:cNvSpPr/>
              <p:nvPr/>
            </p:nvSpPr>
            <p:spPr>
              <a:xfrm>
                <a:off x="5517" y="2609"/>
                <a:ext cx="48" cy="100"/>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652" name="Google Shape;4652;p5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3" name="Google Shape;4653;p53"/>
              <p:cNvSpPr/>
              <p:nvPr/>
            </p:nvSpPr>
            <p:spPr>
              <a:xfrm>
                <a:off x="4140" y="2675"/>
                <a:ext cx="1200"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654" name="Google Shape;4654;p53"/>
              <p:cNvSpPr/>
              <p:nvPr/>
            </p:nvSpPr>
            <p:spPr>
              <a:xfrm>
                <a:off x="4204" y="2709"/>
                <a:ext cx="107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655" name="Google Shape;4655;p53"/>
              <p:cNvSpPr/>
              <p:nvPr/>
            </p:nvSpPr>
            <p:spPr>
              <a:xfrm>
                <a:off x="4306" y="2381"/>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656" name="Google Shape;4656;p53"/>
              <p:cNvSpPr/>
              <p:nvPr/>
            </p:nvSpPr>
            <p:spPr>
              <a:xfrm>
                <a:off x="4488" y="2381"/>
                <a:ext cx="155"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Calibri"/>
                  <a:ea typeface="Calibri"/>
                  <a:cs typeface="Calibri"/>
                  <a:sym typeface="Calibri"/>
                </a:endParaRPr>
              </a:p>
            </p:txBody>
          </p:sp>
          <p:sp>
            <p:nvSpPr>
              <p:cNvPr id="4657" name="Google Shape;4657;p53"/>
              <p:cNvSpPr/>
              <p:nvPr/>
            </p:nvSpPr>
            <p:spPr>
              <a:xfrm>
                <a:off x="4660" y="2381"/>
                <a:ext cx="161"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658" name="Google Shape;4658;p53"/>
              <p:cNvSpPr/>
              <p:nvPr/>
            </p:nvSpPr>
            <p:spPr>
              <a:xfrm>
                <a:off x="5061" y="1838"/>
                <a:ext cx="86"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4659" name="Google Shape;4659;p53"/>
            <p:cNvGrpSpPr/>
            <p:nvPr/>
          </p:nvGrpSpPr>
          <p:grpSpPr>
            <a:xfrm>
              <a:off x="6887853" y="976051"/>
              <a:ext cx="742950" cy="742950"/>
              <a:chOff x="-44" y="1473"/>
              <a:chExt cx="981" cy="1105"/>
            </a:xfrm>
          </p:grpSpPr>
          <p:pic>
            <p:nvPicPr>
              <p:cNvPr descr="desktop_computer_stylized_medium" id="4660" name="Google Shape;4660;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661" name="Google Shape;4661;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3"/>
                                        </p:tgtEl>
                                        <p:attrNameLst>
                                          <p:attrName>style.visibility</p:attrName>
                                        </p:attrNameLst>
                                      </p:cBhvr>
                                      <p:to>
                                        <p:strVal val="visible"/>
                                      </p:to>
                                    </p:set>
                                    <p:animEffect filter="fade" transition="in">
                                      <p:cBhvr>
                                        <p:cTn dur="500"/>
                                        <p:tgtEl>
                                          <p:spTgt spid="462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10"/>
                                        </p:tgtEl>
                                        <p:attrNameLst>
                                          <p:attrName>style.visibility</p:attrName>
                                        </p:attrNameLst>
                                      </p:cBhvr>
                                      <p:to>
                                        <p:strVal val="visible"/>
                                      </p:to>
                                    </p:set>
                                    <p:animEffect filter="fade" transition="in">
                                      <p:cBhvr>
                                        <p:cTn dur="500"/>
                                        <p:tgtEl>
                                          <p:spTgt spid="4610"/>
                                        </p:tgtEl>
                                      </p:cBhvr>
                                    </p:animEffect>
                                  </p:childTnLst>
                                </p:cTn>
                              </p:par>
                              <p:par>
                                <p:cTn fill="hold" nodeType="withEffect" presetClass="entr" presetID="10" presetSubtype="0">
                                  <p:stCondLst>
                                    <p:cond delay="0"/>
                                  </p:stCondLst>
                                  <p:childTnLst>
                                    <p:set>
                                      <p:cBhvr>
                                        <p:cTn dur="1" fill="hold">
                                          <p:stCondLst>
                                            <p:cond delay="0"/>
                                          </p:stCondLst>
                                        </p:cTn>
                                        <p:tgtEl>
                                          <p:spTgt spid="4611"/>
                                        </p:tgtEl>
                                        <p:attrNameLst>
                                          <p:attrName>style.visibility</p:attrName>
                                        </p:attrNameLst>
                                      </p:cBhvr>
                                      <p:to>
                                        <p:strVal val="visible"/>
                                      </p:to>
                                    </p:set>
                                    <p:animEffect filter="fade" transition="in">
                                      <p:cBhvr>
                                        <p:cTn dur="500"/>
                                        <p:tgtEl>
                                          <p:spTgt spid="46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16"/>
                                        </p:tgtEl>
                                        <p:attrNameLst>
                                          <p:attrName>style.visibility</p:attrName>
                                        </p:attrNameLst>
                                      </p:cBhvr>
                                      <p:to>
                                        <p:strVal val="visible"/>
                                      </p:to>
                                    </p:set>
                                    <p:animEffect filter="fade" transition="in">
                                      <p:cBhvr>
                                        <p:cTn dur="500"/>
                                        <p:tgtEl>
                                          <p:spTgt spid="46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2"/>
                                        </p:tgtEl>
                                        <p:attrNameLst>
                                          <p:attrName>style.visibility</p:attrName>
                                        </p:attrNameLst>
                                      </p:cBhvr>
                                      <p:to>
                                        <p:strVal val="visible"/>
                                      </p:to>
                                    </p:set>
                                    <p:animEffect filter="fade" transition="in">
                                      <p:cBhvr>
                                        <p:cTn dur="500"/>
                                        <p:tgtEl>
                                          <p:spTgt spid="4612"/>
                                        </p:tgtEl>
                                      </p:cBhvr>
                                    </p:animEffect>
                                  </p:childTnLst>
                                </p:cTn>
                              </p:par>
                              <p:par>
                                <p:cTn fill="hold" nodeType="withEffect" presetClass="entr" presetID="10" presetSubtype="0">
                                  <p:stCondLst>
                                    <p:cond delay="0"/>
                                  </p:stCondLst>
                                  <p:childTnLst>
                                    <p:set>
                                      <p:cBhvr>
                                        <p:cTn dur="1" fill="hold">
                                          <p:stCondLst>
                                            <p:cond delay="0"/>
                                          </p:stCondLst>
                                        </p:cTn>
                                        <p:tgtEl>
                                          <p:spTgt spid="4613"/>
                                        </p:tgtEl>
                                        <p:attrNameLst>
                                          <p:attrName>style.visibility</p:attrName>
                                        </p:attrNameLst>
                                      </p:cBhvr>
                                      <p:to>
                                        <p:strVal val="visible"/>
                                      </p:to>
                                    </p:set>
                                    <p:animEffect filter="fade" transition="in">
                                      <p:cBhvr>
                                        <p:cTn dur="500"/>
                                        <p:tgtEl>
                                          <p:spTgt spid="46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7"/>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4618"/>
                                        </p:tgtEl>
                                        <p:attrNameLst>
                                          <p:attrName>style.visibility</p:attrName>
                                        </p:attrNameLst>
                                      </p:cBhvr>
                                      <p:to>
                                        <p:strVal val="visible"/>
                                      </p:to>
                                    </p:set>
                                    <p:animEffect filter="fade" transition="in">
                                      <p:cBhvr>
                                        <p:cTn dur="500"/>
                                        <p:tgtEl>
                                          <p:spTgt spid="4618"/>
                                        </p:tgtEl>
                                      </p:cBhvr>
                                    </p:animEffect>
                                  </p:childTnLst>
                                </p:cTn>
                              </p:par>
                              <p:par>
                                <p:cTn fill="hold" nodeType="withEffect" presetClass="entr" presetID="10" presetSubtype="0">
                                  <p:stCondLst>
                                    <p:cond delay="0"/>
                                  </p:stCondLst>
                                  <p:childTnLst>
                                    <p:set>
                                      <p:cBhvr>
                                        <p:cTn dur="1" fill="hold">
                                          <p:stCondLst>
                                            <p:cond delay="0"/>
                                          </p:stCondLst>
                                        </p:cTn>
                                        <p:tgtEl>
                                          <p:spTgt spid="4619"/>
                                        </p:tgtEl>
                                        <p:attrNameLst>
                                          <p:attrName>style.visibility</p:attrName>
                                        </p:attrNameLst>
                                      </p:cBhvr>
                                      <p:to>
                                        <p:strVal val="visible"/>
                                      </p:to>
                                    </p:set>
                                    <p:animEffect filter="fade" transition="in">
                                      <p:cBhvr>
                                        <p:cTn dur="500"/>
                                        <p:tgtEl>
                                          <p:spTgt spid="461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22"/>
                                        </p:tgtEl>
                                        <p:attrNameLst>
                                          <p:attrName>style.visibility</p:attrName>
                                        </p:attrNameLst>
                                      </p:cBhvr>
                                      <p:to>
                                        <p:strVal val="visible"/>
                                      </p:to>
                                    </p:set>
                                    <p:animEffect filter="fade" transition="in">
                                      <p:cBhvr>
                                        <p:cTn dur="500"/>
                                        <p:tgtEl>
                                          <p:spTgt spid="46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0"/>
                                        </p:tgtEl>
                                        <p:attrNameLst>
                                          <p:attrName>style.visibility</p:attrName>
                                        </p:attrNameLst>
                                      </p:cBhvr>
                                      <p:to>
                                        <p:strVal val="visible"/>
                                      </p:to>
                                    </p:set>
                                    <p:animEffect filter="fade" transition="in">
                                      <p:cBhvr>
                                        <p:cTn dur="500"/>
                                        <p:tgtEl>
                                          <p:spTgt spid="4620"/>
                                        </p:tgtEl>
                                      </p:cBhvr>
                                    </p:animEffect>
                                  </p:childTnLst>
                                </p:cTn>
                              </p:par>
                              <p:par>
                                <p:cTn fill="hold" nodeType="withEffect" presetClass="entr" presetID="10" presetSubtype="0">
                                  <p:stCondLst>
                                    <p:cond delay="0"/>
                                  </p:stCondLst>
                                  <p:childTnLst>
                                    <p:set>
                                      <p:cBhvr>
                                        <p:cTn dur="1" fill="hold">
                                          <p:stCondLst>
                                            <p:cond delay="0"/>
                                          </p:stCondLst>
                                        </p:cTn>
                                        <p:tgtEl>
                                          <p:spTgt spid="4621"/>
                                        </p:tgtEl>
                                        <p:attrNameLst>
                                          <p:attrName>style.visibility</p:attrName>
                                        </p:attrNameLst>
                                      </p:cBhvr>
                                      <p:to>
                                        <p:strVal val="visible"/>
                                      </p:to>
                                    </p:set>
                                    <p:animEffect filter="fade" transition="in">
                                      <p:cBhvr>
                                        <p:cTn dur="500"/>
                                        <p:tgtEl>
                                          <p:spTgt spid="46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6" name="Shape 4666"/>
        <p:cNvGrpSpPr/>
        <p:nvPr/>
      </p:nvGrpSpPr>
      <p:grpSpPr>
        <a:xfrm>
          <a:off x="0" y="0"/>
          <a:ext cx="0" cy="0"/>
          <a:chOff x="0" y="0"/>
          <a:chExt cx="0" cy="0"/>
        </a:xfrm>
      </p:grpSpPr>
      <p:sp>
        <p:nvSpPr>
          <p:cNvPr id="4667" name="Google Shape;4667;p54"/>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Application Layer</a:t>
            </a:r>
            <a:endParaRPr sz="1200">
              <a:solidFill>
                <a:schemeClr val="dk1"/>
              </a:solidFill>
              <a:latin typeface="Tahoma"/>
              <a:ea typeface="Tahoma"/>
              <a:cs typeface="Tahoma"/>
              <a:sym typeface="Tahoma"/>
            </a:endParaRPr>
          </a:p>
        </p:txBody>
      </p:sp>
      <p:sp>
        <p:nvSpPr>
          <p:cNvPr id="4668" name="Google Shape;4668;p54"/>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669" name="Google Shape;4669;p54"/>
          <p:cNvSpPr txBox="1"/>
          <p:nvPr>
            <p:ph type="title"/>
          </p:nvPr>
        </p:nvSpPr>
        <p:spPr>
          <a:xfrm>
            <a:off x="1811338" y="193676"/>
            <a:ext cx="7962900" cy="7397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600"/>
              <a:buFont typeface="Gill Sans"/>
              <a:buNone/>
            </a:pPr>
            <a:r>
              <a:rPr lang="en-US" sz="3600">
                <a:latin typeface="Gill Sans"/>
                <a:ea typeface="Gill Sans"/>
                <a:cs typeface="Gill Sans"/>
                <a:sym typeface="Gill Sans"/>
              </a:rPr>
              <a:t>Conditional GET </a:t>
            </a:r>
            <a:endParaRPr>
              <a:latin typeface="Gill Sans"/>
              <a:ea typeface="Gill Sans"/>
              <a:cs typeface="Gill Sans"/>
              <a:sym typeface="Gill Sans"/>
            </a:endParaRPr>
          </a:p>
        </p:txBody>
      </p:sp>
      <p:cxnSp>
        <p:nvCxnSpPr>
          <p:cNvPr id="4670" name="Google Shape;4670;p54"/>
          <p:cNvCxnSpPr/>
          <p:nvPr/>
        </p:nvCxnSpPr>
        <p:spPr>
          <a:xfrm>
            <a:off x="3432069" y="1816148"/>
            <a:ext cx="5918307" cy="679402"/>
          </a:xfrm>
          <a:prstGeom prst="straightConnector1">
            <a:avLst/>
          </a:prstGeom>
          <a:noFill/>
          <a:ln cap="flat" cmpd="sng" w="19050">
            <a:solidFill>
              <a:schemeClr val="dk1"/>
            </a:solidFill>
            <a:prstDash val="solid"/>
            <a:round/>
            <a:headEnd len="med" w="med" type="none"/>
            <a:tailEnd len="med" w="med" type="triangle"/>
          </a:ln>
        </p:spPr>
      </p:cxnSp>
      <p:cxnSp>
        <p:nvCxnSpPr>
          <p:cNvPr id="4671" name="Google Shape;4671;p54"/>
          <p:cNvCxnSpPr/>
          <p:nvPr/>
        </p:nvCxnSpPr>
        <p:spPr>
          <a:xfrm flipH="1">
            <a:off x="2850649" y="2986234"/>
            <a:ext cx="5872226" cy="460373"/>
          </a:xfrm>
          <a:prstGeom prst="straightConnector1">
            <a:avLst/>
          </a:prstGeom>
          <a:noFill/>
          <a:ln cap="flat" cmpd="sng" w="19050">
            <a:solidFill>
              <a:schemeClr val="dk1"/>
            </a:solidFill>
            <a:prstDash val="solid"/>
            <a:round/>
            <a:headEnd len="med" w="med" type="none"/>
            <a:tailEnd len="med" w="med" type="triangle"/>
          </a:ln>
        </p:spPr>
      </p:cxnSp>
      <p:sp>
        <p:nvSpPr>
          <p:cNvPr id="4672" name="Google Shape;4672;p54"/>
          <p:cNvSpPr txBox="1"/>
          <p:nvPr/>
        </p:nvSpPr>
        <p:spPr>
          <a:xfrm>
            <a:off x="9451975" y="4551362"/>
            <a:ext cx="1047750" cy="14652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object </a:t>
            </a:r>
            <a:endParaRPr/>
          </a:p>
          <a:p>
            <a:pPr indent="0" lvl="0" marL="0" marR="0" rtl="0" algn="ctr">
              <a:lnSpc>
                <a:spcPct val="100000"/>
              </a:lnSpc>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not </a:t>
            </a:r>
            <a:endParaRPr/>
          </a:p>
          <a:p>
            <a:pPr indent="0" lvl="0" marL="0" marR="0" rtl="0" algn="ctr">
              <a:lnSpc>
                <a:spcPct val="100000"/>
              </a:lnSpc>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modified</a:t>
            </a:r>
            <a:endParaRPr/>
          </a:p>
          <a:p>
            <a:pPr indent="0" lvl="0" marL="0" marR="0" rtl="0" algn="ctr">
              <a:lnSpc>
                <a:spcPct val="100000"/>
              </a:lnSpc>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before</a:t>
            </a:r>
            <a:endParaRPr/>
          </a:p>
          <a:p>
            <a:pPr indent="0" lvl="0" marL="0" marR="0" rtl="0" algn="ctr">
              <a:lnSpc>
                <a:spcPct val="100000"/>
              </a:lnSpc>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&lt;date&gt;</a:t>
            </a:r>
            <a:endParaRPr/>
          </a:p>
        </p:txBody>
      </p:sp>
      <p:cxnSp>
        <p:nvCxnSpPr>
          <p:cNvPr id="4673" name="Google Shape;4673;p54"/>
          <p:cNvCxnSpPr/>
          <p:nvPr/>
        </p:nvCxnSpPr>
        <p:spPr>
          <a:xfrm>
            <a:off x="3432069" y="4622601"/>
            <a:ext cx="5984982" cy="436762"/>
          </a:xfrm>
          <a:prstGeom prst="straightConnector1">
            <a:avLst/>
          </a:prstGeom>
          <a:noFill/>
          <a:ln cap="flat" cmpd="sng" w="19050">
            <a:solidFill>
              <a:schemeClr val="dk1"/>
            </a:solidFill>
            <a:prstDash val="solid"/>
            <a:round/>
            <a:headEnd len="med" w="med" type="none"/>
            <a:tailEnd len="med" w="med" type="triangle"/>
          </a:ln>
        </p:spPr>
      </p:cxnSp>
      <p:cxnSp>
        <p:nvCxnSpPr>
          <p:cNvPr id="4674" name="Google Shape;4674;p54"/>
          <p:cNvCxnSpPr/>
          <p:nvPr/>
        </p:nvCxnSpPr>
        <p:spPr>
          <a:xfrm flipH="1">
            <a:off x="3070817" y="5457825"/>
            <a:ext cx="6365283" cy="637937"/>
          </a:xfrm>
          <a:prstGeom prst="straightConnector1">
            <a:avLst/>
          </a:prstGeom>
          <a:noFill/>
          <a:ln cap="flat" cmpd="sng" w="19050">
            <a:solidFill>
              <a:schemeClr val="dk1"/>
            </a:solidFill>
            <a:prstDash val="solid"/>
            <a:round/>
            <a:headEnd len="med" w="med" type="none"/>
            <a:tailEnd len="med" w="med" type="triangle"/>
          </a:ln>
        </p:spPr>
      </p:cxnSp>
      <p:sp>
        <p:nvSpPr>
          <p:cNvPr id="4675" name="Google Shape;4675;p54"/>
          <p:cNvSpPr txBox="1"/>
          <p:nvPr/>
        </p:nvSpPr>
        <p:spPr>
          <a:xfrm>
            <a:off x="9465793" y="1992213"/>
            <a:ext cx="1047750" cy="11906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object </a:t>
            </a:r>
            <a:endParaRPr/>
          </a:p>
          <a:p>
            <a:pPr indent="0" lvl="0" marL="0" marR="0" rtl="0" algn="ctr">
              <a:lnSpc>
                <a:spcPct val="100000"/>
              </a:lnSpc>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modified</a:t>
            </a:r>
            <a:endParaRPr/>
          </a:p>
          <a:p>
            <a:pPr indent="0" lvl="0" marL="0" marR="0" rtl="0" algn="ctr">
              <a:lnSpc>
                <a:spcPct val="100000"/>
              </a:lnSpc>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after </a:t>
            </a:r>
            <a:endParaRPr/>
          </a:p>
          <a:p>
            <a:pPr indent="0" lvl="0" marL="0" marR="0" rtl="0" algn="ctr">
              <a:lnSpc>
                <a:spcPct val="100000"/>
              </a:lnSpc>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&lt;date&gt;</a:t>
            </a:r>
            <a:endParaRPr/>
          </a:p>
        </p:txBody>
      </p:sp>
      <p:sp>
        <p:nvSpPr>
          <p:cNvPr id="4676" name="Google Shape;4676;p54"/>
          <p:cNvSpPr txBox="1"/>
          <p:nvPr/>
        </p:nvSpPr>
        <p:spPr>
          <a:xfrm>
            <a:off x="2177987" y="1046309"/>
            <a:ext cx="7778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Noto Sans Symbols"/>
              <a:buNone/>
            </a:pPr>
            <a:r>
              <a:rPr lang="en-US" sz="2000">
                <a:solidFill>
                  <a:srgbClr val="CC0000"/>
                </a:solidFill>
                <a:latin typeface="Arial"/>
                <a:ea typeface="Arial"/>
                <a:cs typeface="Arial"/>
                <a:sym typeface="Arial"/>
              </a:rPr>
              <a:t>client</a:t>
            </a:r>
            <a:endParaRPr/>
          </a:p>
        </p:txBody>
      </p:sp>
      <p:sp>
        <p:nvSpPr>
          <p:cNvPr id="4677" name="Google Shape;4677;p54"/>
          <p:cNvSpPr txBox="1"/>
          <p:nvPr/>
        </p:nvSpPr>
        <p:spPr>
          <a:xfrm>
            <a:off x="9007475" y="1057276"/>
            <a:ext cx="8890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Noto Sans Symbols"/>
              <a:buNone/>
            </a:pPr>
            <a:r>
              <a:rPr lang="en-US" sz="2000">
                <a:solidFill>
                  <a:srgbClr val="CC0000"/>
                </a:solidFill>
                <a:latin typeface="Arial"/>
                <a:ea typeface="Arial"/>
                <a:cs typeface="Arial"/>
                <a:sym typeface="Arial"/>
              </a:rPr>
              <a:t>server</a:t>
            </a:r>
            <a:endParaRPr/>
          </a:p>
        </p:txBody>
      </p:sp>
      <p:pic>
        <p:nvPicPr>
          <p:cNvPr descr="underline_base" id="4678" name="Google Shape;4678;p54"/>
          <p:cNvPicPr preferRelativeResize="0"/>
          <p:nvPr/>
        </p:nvPicPr>
        <p:blipFill rotWithShape="1">
          <a:blip r:embed="rId3">
            <a:alphaModFix/>
          </a:blip>
          <a:srcRect b="0" l="0" r="0" t="0"/>
          <a:stretch/>
        </p:blipFill>
        <p:spPr>
          <a:xfrm>
            <a:off x="1871663" y="762000"/>
            <a:ext cx="3656012" cy="173038"/>
          </a:xfrm>
          <a:prstGeom prst="rect">
            <a:avLst/>
          </a:prstGeom>
          <a:noFill/>
          <a:ln>
            <a:noFill/>
          </a:ln>
        </p:spPr>
      </p:pic>
      <p:grpSp>
        <p:nvGrpSpPr>
          <p:cNvPr id="4679" name="Google Shape;4679;p54"/>
          <p:cNvGrpSpPr/>
          <p:nvPr/>
        </p:nvGrpSpPr>
        <p:grpSpPr>
          <a:xfrm>
            <a:off x="8597901" y="977900"/>
            <a:ext cx="422275" cy="685800"/>
            <a:chOff x="4140" y="429"/>
            <a:chExt cx="1425" cy="2396"/>
          </a:xfrm>
        </p:grpSpPr>
        <p:sp>
          <p:nvSpPr>
            <p:cNvPr id="4680" name="Google Shape;4680;p5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1" name="Google Shape;4681;p54"/>
            <p:cNvSpPr/>
            <p:nvPr/>
          </p:nvSpPr>
          <p:spPr>
            <a:xfrm>
              <a:off x="4204" y="429"/>
              <a:ext cx="1050"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4682" name="Google Shape;4682;p5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3" name="Google Shape;4683;p5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4" name="Google Shape;4684;p54"/>
            <p:cNvSpPr/>
            <p:nvPr/>
          </p:nvSpPr>
          <p:spPr>
            <a:xfrm>
              <a:off x="4210" y="695"/>
              <a:ext cx="600"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4685" name="Google Shape;4685;p54"/>
            <p:cNvGrpSpPr/>
            <p:nvPr/>
          </p:nvGrpSpPr>
          <p:grpSpPr>
            <a:xfrm>
              <a:off x="4751" y="668"/>
              <a:ext cx="579" cy="144"/>
              <a:chOff x="616" y="2568"/>
              <a:chExt cx="722" cy="138"/>
            </a:xfrm>
          </p:grpSpPr>
          <p:sp>
            <p:nvSpPr>
              <p:cNvPr id="4686" name="Google Shape;4686;p54"/>
              <p:cNvSpPr/>
              <p:nvPr/>
            </p:nvSpPr>
            <p:spPr>
              <a:xfrm>
                <a:off x="616" y="2568"/>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4687" name="Google Shape;4687;p54"/>
              <p:cNvSpPr/>
              <p:nvPr/>
            </p:nvSpPr>
            <p:spPr>
              <a:xfrm>
                <a:off x="630" y="2583"/>
                <a:ext cx="689"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4688" name="Google Shape;4688;p54"/>
            <p:cNvSpPr/>
            <p:nvPr/>
          </p:nvSpPr>
          <p:spPr>
            <a:xfrm>
              <a:off x="4226" y="1017"/>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4689" name="Google Shape;4689;p54"/>
            <p:cNvGrpSpPr/>
            <p:nvPr/>
          </p:nvGrpSpPr>
          <p:grpSpPr>
            <a:xfrm>
              <a:off x="4745" y="995"/>
              <a:ext cx="584" cy="133"/>
              <a:chOff x="612" y="2569"/>
              <a:chExt cx="729" cy="138"/>
            </a:xfrm>
          </p:grpSpPr>
          <p:sp>
            <p:nvSpPr>
              <p:cNvPr id="4690" name="Google Shape;4690;p54"/>
              <p:cNvSpPr/>
              <p:nvPr/>
            </p:nvSpPr>
            <p:spPr>
              <a:xfrm>
                <a:off x="612" y="2569"/>
                <a:ext cx="72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4691" name="Google Shape;4691;p54"/>
              <p:cNvSpPr/>
              <p:nvPr/>
            </p:nvSpPr>
            <p:spPr>
              <a:xfrm>
                <a:off x="625"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4692" name="Google Shape;4692;p54"/>
            <p:cNvSpPr/>
            <p:nvPr/>
          </p:nvSpPr>
          <p:spPr>
            <a:xfrm>
              <a:off x="4215" y="1355"/>
              <a:ext cx="600"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4693" name="Google Shape;4693;p54"/>
            <p:cNvSpPr/>
            <p:nvPr/>
          </p:nvSpPr>
          <p:spPr>
            <a:xfrm>
              <a:off x="4226" y="1655"/>
              <a:ext cx="600"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nvGrpSpPr>
            <p:cNvPr id="4694" name="Google Shape;4694;p54"/>
            <p:cNvGrpSpPr/>
            <p:nvPr/>
          </p:nvGrpSpPr>
          <p:grpSpPr>
            <a:xfrm>
              <a:off x="4735" y="1627"/>
              <a:ext cx="584" cy="150"/>
              <a:chOff x="614" y="2568"/>
              <a:chExt cx="727" cy="138"/>
            </a:xfrm>
          </p:grpSpPr>
          <p:sp>
            <p:nvSpPr>
              <p:cNvPr id="4695" name="Google Shape;4695;p54"/>
              <p:cNvSpPr/>
              <p:nvPr/>
            </p:nvSpPr>
            <p:spPr>
              <a:xfrm>
                <a:off x="614" y="2568"/>
                <a:ext cx="72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4696" name="Google Shape;4696;p54"/>
              <p:cNvSpPr/>
              <p:nvPr/>
            </p:nvSpPr>
            <p:spPr>
              <a:xfrm>
                <a:off x="627" y="2583"/>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4697" name="Google Shape;4697;p5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698" name="Google Shape;4698;p54"/>
            <p:cNvGrpSpPr/>
            <p:nvPr/>
          </p:nvGrpSpPr>
          <p:grpSpPr>
            <a:xfrm>
              <a:off x="4740" y="1327"/>
              <a:ext cx="579" cy="139"/>
              <a:chOff x="615" y="2568"/>
              <a:chExt cx="721" cy="139"/>
            </a:xfrm>
          </p:grpSpPr>
          <p:sp>
            <p:nvSpPr>
              <p:cNvPr id="4699" name="Google Shape;4699;p54"/>
              <p:cNvSpPr/>
              <p:nvPr/>
            </p:nvSpPr>
            <p:spPr>
              <a:xfrm>
                <a:off x="615" y="2568"/>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4700" name="Google Shape;4700;p54"/>
              <p:cNvSpPr/>
              <p:nvPr/>
            </p:nvSpPr>
            <p:spPr>
              <a:xfrm>
                <a:off x="629" y="2585"/>
                <a:ext cx="687"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sp>
          <p:nvSpPr>
            <p:cNvPr id="4701" name="Google Shape;4701;p54"/>
            <p:cNvSpPr/>
            <p:nvPr/>
          </p:nvSpPr>
          <p:spPr>
            <a:xfrm>
              <a:off x="5249" y="429"/>
              <a:ext cx="70" cy="2291"/>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4702" name="Google Shape;4702;p5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3" name="Google Shape;4703;p5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4" name="Google Shape;4704;p54"/>
            <p:cNvSpPr/>
            <p:nvPr/>
          </p:nvSpPr>
          <p:spPr>
            <a:xfrm>
              <a:off x="5517" y="2609"/>
              <a:ext cx="48" cy="100"/>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4705" name="Google Shape;4705;p5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6" name="Google Shape;4706;p54"/>
            <p:cNvSpPr/>
            <p:nvPr/>
          </p:nvSpPr>
          <p:spPr>
            <a:xfrm>
              <a:off x="4140" y="2675"/>
              <a:ext cx="1200"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4707" name="Google Shape;4707;p54"/>
            <p:cNvSpPr/>
            <p:nvPr/>
          </p:nvSpPr>
          <p:spPr>
            <a:xfrm>
              <a:off x="4204" y="2709"/>
              <a:ext cx="107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4708" name="Google Shape;4708;p54"/>
            <p:cNvSpPr/>
            <p:nvPr/>
          </p:nvSpPr>
          <p:spPr>
            <a:xfrm>
              <a:off x="4306" y="2381"/>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4709" name="Google Shape;4709;p54"/>
            <p:cNvSpPr/>
            <p:nvPr/>
          </p:nvSpPr>
          <p:spPr>
            <a:xfrm>
              <a:off x="4488" y="2381"/>
              <a:ext cx="155"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4710" name="Google Shape;4710;p54"/>
            <p:cNvSpPr/>
            <p:nvPr/>
          </p:nvSpPr>
          <p:spPr>
            <a:xfrm>
              <a:off x="4660" y="2381"/>
              <a:ext cx="161"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sp>
          <p:nvSpPr>
            <p:cNvPr id="4711" name="Google Shape;4711;p54"/>
            <p:cNvSpPr/>
            <p:nvPr/>
          </p:nvSpPr>
          <p:spPr>
            <a:xfrm>
              <a:off x="5061" y="1838"/>
              <a:ext cx="86"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sz="2000">
                <a:solidFill>
                  <a:schemeClr val="dk1"/>
                </a:solidFill>
                <a:latin typeface="Arial"/>
                <a:ea typeface="Arial"/>
                <a:cs typeface="Arial"/>
                <a:sym typeface="Arial"/>
              </a:endParaRPr>
            </a:p>
          </p:txBody>
        </p:sp>
      </p:grpSp>
      <p:grpSp>
        <p:nvGrpSpPr>
          <p:cNvPr id="4712" name="Google Shape;4712;p54"/>
          <p:cNvGrpSpPr/>
          <p:nvPr/>
        </p:nvGrpSpPr>
        <p:grpSpPr>
          <a:xfrm>
            <a:off x="2754249" y="1006620"/>
            <a:ext cx="742950" cy="742950"/>
            <a:chOff x="-44" y="1473"/>
            <a:chExt cx="981" cy="1105"/>
          </a:xfrm>
        </p:grpSpPr>
        <p:pic>
          <p:nvPicPr>
            <p:cNvPr descr="desktop_computer_stylized_medium" id="4713" name="Google Shape;4713;p5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4714" name="Google Shape;4714;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4715" name="Google Shape;4715;p54"/>
          <p:cNvPicPr preferRelativeResize="0"/>
          <p:nvPr/>
        </p:nvPicPr>
        <p:blipFill rotWithShape="1">
          <a:blip r:embed="rId5">
            <a:alphaModFix/>
          </a:blip>
          <a:srcRect b="0" l="0" r="0" t="0"/>
          <a:stretch/>
        </p:blipFill>
        <p:spPr>
          <a:xfrm>
            <a:off x="3782144" y="1510507"/>
            <a:ext cx="4089400" cy="812800"/>
          </a:xfrm>
          <a:prstGeom prst="rect">
            <a:avLst/>
          </a:prstGeom>
          <a:noFill/>
          <a:ln cap="flat" cmpd="sng" w="9525">
            <a:solidFill>
              <a:schemeClr val="accent1">
                <a:alpha val="0"/>
              </a:schemeClr>
            </a:solidFill>
            <a:prstDash val="solid"/>
            <a:round/>
            <a:headEnd len="sm" w="sm" type="none"/>
            <a:tailEnd len="sm" w="sm" type="none"/>
          </a:ln>
        </p:spPr>
      </p:pic>
      <p:pic>
        <p:nvPicPr>
          <p:cNvPr id="4716" name="Google Shape;4716;p54"/>
          <p:cNvPicPr preferRelativeResize="0"/>
          <p:nvPr/>
        </p:nvPicPr>
        <p:blipFill rotWithShape="1">
          <a:blip r:embed="rId6">
            <a:alphaModFix/>
          </a:blip>
          <a:srcRect b="0" l="0" r="0" t="0"/>
          <a:stretch/>
        </p:blipFill>
        <p:spPr>
          <a:xfrm>
            <a:off x="3341399" y="2551113"/>
            <a:ext cx="4824658" cy="1581093"/>
          </a:xfrm>
          <a:prstGeom prst="rect">
            <a:avLst/>
          </a:prstGeom>
          <a:noFill/>
          <a:ln>
            <a:noFill/>
          </a:ln>
        </p:spPr>
      </p:pic>
      <p:sp>
        <p:nvSpPr>
          <p:cNvPr id="4717" name="Google Shape;4717;p54"/>
          <p:cNvSpPr/>
          <p:nvPr/>
        </p:nvSpPr>
        <p:spPr>
          <a:xfrm>
            <a:off x="5091448" y="1443183"/>
            <a:ext cx="914400" cy="914400"/>
          </a:xfrm>
          <a:prstGeom prst="frame">
            <a:avLst>
              <a:gd fmla="val 12500" name="adj1"/>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pic>
        <p:nvPicPr>
          <p:cNvPr id="4718" name="Google Shape;4718;p54"/>
          <p:cNvPicPr preferRelativeResize="0"/>
          <p:nvPr/>
        </p:nvPicPr>
        <p:blipFill rotWithShape="1">
          <a:blip r:embed="rId7">
            <a:alphaModFix/>
          </a:blip>
          <a:srcRect b="0" l="0" r="0" t="0"/>
          <a:stretch/>
        </p:blipFill>
        <p:spPr>
          <a:xfrm>
            <a:off x="3953434" y="4330904"/>
            <a:ext cx="4875575" cy="812596"/>
          </a:xfrm>
          <a:prstGeom prst="rect">
            <a:avLst/>
          </a:prstGeom>
          <a:noFill/>
          <a:ln cap="flat" cmpd="sng" w="9525">
            <a:solidFill>
              <a:schemeClr val="dk1">
                <a:alpha val="0"/>
              </a:schemeClr>
            </a:solidFill>
            <a:prstDash val="solid"/>
            <a:round/>
            <a:headEnd len="sm" w="sm" type="none"/>
            <a:tailEnd len="sm" w="sm" type="none"/>
          </a:ln>
        </p:spPr>
      </p:pic>
      <p:pic>
        <p:nvPicPr>
          <p:cNvPr id="4719" name="Google Shape;4719;p54"/>
          <p:cNvPicPr preferRelativeResize="0"/>
          <p:nvPr/>
        </p:nvPicPr>
        <p:blipFill rotWithShape="1">
          <a:blip r:embed="rId8">
            <a:alphaModFix/>
          </a:blip>
          <a:srcRect b="0" l="0" r="0" t="0"/>
          <a:stretch/>
        </p:blipFill>
        <p:spPr>
          <a:xfrm>
            <a:off x="3476082" y="5180314"/>
            <a:ext cx="4875575" cy="1284780"/>
          </a:xfrm>
          <a:prstGeom prst="rect">
            <a:avLst/>
          </a:prstGeom>
          <a:noFill/>
          <a:ln>
            <a:noFill/>
          </a:ln>
        </p:spPr>
      </p:pic>
      <p:pic>
        <p:nvPicPr>
          <p:cNvPr descr="Puzzle with solid fill" id="4720" name="Google Shape;4720;p54"/>
          <p:cNvPicPr preferRelativeResize="0"/>
          <p:nvPr/>
        </p:nvPicPr>
        <p:blipFill rotWithShape="1">
          <a:blip r:embed="rId9">
            <a:alphaModFix/>
          </a:blip>
          <a:srcRect b="0" l="0" r="0" t="0"/>
          <a:stretch/>
        </p:blipFill>
        <p:spPr>
          <a:xfrm>
            <a:off x="9328150" y="423864"/>
            <a:ext cx="579438" cy="579437"/>
          </a:xfrm>
          <a:prstGeom prst="rect">
            <a:avLst/>
          </a:prstGeom>
          <a:noFill/>
          <a:ln>
            <a:noFill/>
          </a:ln>
        </p:spPr>
      </p:pic>
      <p:sp>
        <p:nvSpPr>
          <p:cNvPr id="4721" name="Google Shape;4721;p54"/>
          <p:cNvSpPr txBox="1"/>
          <p:nvPr/>
        </p:nvSpPr>
        <p:spPr>
          <a:xfrm>
            <a:off x="1952160" y="4030720"/>
            <a:ext cx="185179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Noto Sans Symbols"/>
              <a:buNone/>
            </a:pPr>
            <a:r>
              <a:rPr lang="en-US" sz="2000">
                <a:solidFill>
                  <a:srgbClr val="CC0000"/>
                </a:solidFill>
                <a:latin typeface="Arial"/>
                <a:ea typeface="Arial"/>
                <a:cs typeface="Arial"/>
                <a:sym typeface="Arial"/>
              </a:rPr>
              <a:t>one week later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0"/>
                                        </p:tgtEl>
                                        <p:attrNameLst>
                                          <p:attrName>style.visibility</p:attrName>
                                        </p:attrNameLst>
                                      </p:cBhvr>
                                      <p:to>
                                        <p:strVal val="visible"/>
                                      </p:to>
                                    </p:set>
                                    <p:animEffect filter="fade" transition="in">
                                      <p:cBhvr>
                                        <p:cTn dur="500"/>
                                        <p:tgtEl>
                                          <p:spTgt spid="467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72"/>
                                        </p:tgtEl>
                                        <p:attrNameLst>
                                          <p:attrName>style.visibility</p:attrName>
                                        </p:attrNameLst>
                                      </p:cBhvr>
                                      <p:to>
                                        <p:strVal val="visible"/>
                                      </p:to>
                                    </p:set>
                                    <p:animEffect filter="fade" transition="in">
                                      <p:cBhvr>
                                        <p:cTn dur="500"/>
                                        <p:tgtEl>
                                          <p:spTgt spid="46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1"/>
                                        </p:tgtEl>
                                        <p:attrNameLst>
                                          <p:attrName>style.visibility</p:attrName>
                                        </p:attrNameLst>
                                      </p:cBhvr>
                                      <p:to>
                                        <p:strVal val="visible"/>
                                      </p:to>
                                    </p:set>
                                    <p:animEffect filter="fade" transition="in">
                                      <p:cBhvr>
                                        <p:cTn dur="500"/>
                                        <p:tgtEl>
                                          <p:spTgt spid="46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3"/>
                                        </p:tgtEl>
                                        <p:attrNameLst>
                                          <p:attrName>style.visibility</p:attrName>
                                        </p:attrNameLst>
                                      </p:cBhvr>
                                      <p:to>
                                        <p:strVal val="visible"/>
                                      </p:to>
                                    </p:set>
                                    <p:animEffect filter="fade" transition="in">
                                      <p:cBhvr>
                                        <p:cTn dur="500"/>
                                        <p:tgtEl>
                                          <p:spTgt spid="467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75"/>
                                        </p:tgtEl>
                                        <p:attrNameLst>
                                          <p:attrName>style.visibility</p:attrName>
                                        </p:attrNameLst>
                                      </p:cBhvr>
                                      <p:to>
                                        <p:strVal val="visible"/>
                                      </p:to>
                                    </p:set>
                                    <p:animEffect filter="fade" transition="in">
                                      <p:cBhvr>
                                        <p:cTn dur="500"/>
                                        <p:tgtEl>
                                          <p:spTgt spid="46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4"/>
                                        </p:tgtEl>
                                        <p:attrNameLst>
                                          <p:attrName>style.visibility</p:attrName>
                                        </p:attrNameLst>
                                      </p:cBhvr>
                                      <p:to>
                                        <p:strVal val="visible"/>
                                      </p:to>
                                    </p:set>
                                    <p:animEffect filter="fade" transition="in">
                                      <p:cBhvr>
                                        <p:cTn dur="500"/>
                                        <p:tgtEl>
                                          <p:spTgt spid="46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6" name="Shape 4726"/>
        <p:cNvGrpSpPr/>
        <p:nvPr/>
      </p:nvGrpSpPr>
      <p:grpSpPr>
        <a:xfrm>
          <a:off x="0" y="0"/>
          <a:ext cx="0" cy="0"/>
          <a:chOff x="0" y="0"/>
          <a:chExt cx="0" cy="0"/>
        </a:xfrm>
      </p:grpSpPr>
      <p:sp>
        <p:nvSpPr>
          <p:cNvPr id="4727" name="Google Shape;4727;p55"/>
          <p:cNvSpPr txBox="1"/>
          <p:nvPr>
            <p:ph type="title"/>
          </p:nvPr>
        </p:nvSpPr>
        <p:spPr>
          <a:xfrm>
            <a:off x="651417" y="22376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HTTP/2</a:t>
            </a:r>
            <a:endParaRPr sz="4400"/>
          </a:p>
        </p:txBody>
      </p:sp>
      <p:sp>
        <p:nvSpPr>
          <p:cNvPr id="4728" name="Google Shape;4728;p55"/>
          <p:cNvSpPr txBox="1"/>
          <p:nvPr/>
        </p:nvSpPr>
        <p:spPr>
          <a:xfrm>
            <a:off x="673719" y="1118384"/>
            <a:ext cx="11117107" cy="503308"/>
          </a:xfrm>
          <a:prstGeom prst="rect">
            <a:avLst/>
          </a:prstGeom>
          <a:noFill/>
          <a:ln>
            <a:noFill/>
          </a:ln>
        </p:spPr>
        <p:txBody>
          <a:bodyPr anchorCtr="0" anchor="t" bIns="45700" lIns="91425" spcFirstLastPara="1" rIns="91425" wrap="square" tIns="45700">
            <a:noAutofit/>
          </a:bodyPr>
          <a:lstStyle/>
          <a:p>
            <a:pPr indent="0" lvl="0" marL="130175" marR="0" rtl="0" algn="ctr">
              <a:lnSpc>
                <a:spcPct val="90000"/>
              </a:lnSpc>
              <a:spcBef>
                <a:spcPts val="0"/>
              </a:spcBef>
              <a:spcAft>
                <a:spcPts val="0"/>
              </a:spcAft>
              <a:buClr>
                <a:srgbClr val="0000A3"/>
              </a:buClr>
              <a:buSzPts val="2800"/>
              <a:buFont typeface="Noto Sans Symbols"/>
              <a:buNone/>
            </a:pPr>
            <a:r>
              <a:rPr i="1" lang="en-US" sz="2800">
                <a:solidFill>
                  <a:srgbClr val="000090"/>
                </a:solidFill>
                <a:latin typeface="Calibri"/>
                <a:ea typeface="Calibri"/>
                <a:cs typeface="Calibri"/>
                <a:sym typeface="Calibri"/>
              </a:rPr>
              <a:t>Key goal: </a:t>
            </a:r>
            <a:r>
              <a:rPr lang="en-US" sz="2800">
                <a:solidFill>
                  <a:schemeClr val="dk1"/>
                </a:solidFill>
                <a:latin typeface="Calibri"/>
                <a:ea typeface="Calibri"/>
                <a:cs typeface="Calibri"/>
                <a:sym typeface="Calibri"/>
              </a:rPr>
              <a:t>decreased delay in multi-object HTTP requests</a:t>
            </a:r>
            <a:endParaRPr sz="2800">
              <a:solidFill>
                <a:schemeClr val="dk1"/>
              </a:solidFill>
              <a:latin typeface="Calibri"/>
              <a:ea typeface="Calibri"/>
              <a:cs typeface="Calibri"/>
              <a:sym typeface="Calibri"/>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729" name="Google Shape;4729;p55"/>
          <p:cNvSpPr txBox="1"/>
          <p:nvPr/>
        </p:nvSpPr>
        <p:spPr>
          <a:xfrm>
            <a:off x="914400" y="1752600"/>
            <a:ext cx="10654118" cy="3930449"/>
          </a:xfrm>
          <a:prstGeom prst="rect">
            <a:avLst/>
          </a:prstGeom>
          <a:noFill/>
          <a:ln>
            <a:noFill/>
          </a:ln>
        </p:spPr>
        <p:txBody>
          <a:bodyPr anchorCtr="0" anchor="t" bIns="45700" lIns="91425" spcFirstLastPara="1" rIns="91425" wrap="square" tIns="45700">
            <a:noAutofit/>
          </a:bodyPr>
          <a:lstStyle/>
          <a:p>
            <a:pPr indent="0" lvl="0" marL="9525" marR="0" rtl="0" algn="l">
              <a:lnSpc>
                <a:spcPct val="90000"/>
              </a:lnSpc>
              <a:spcBef>
                <a:spcPts val="0"/>
              </a:spcBef>
              <a:spcAft>
                <a:spcPts val="0"/>
              </a:spcAft>
              <a:buClr>
                <a:srgbClr val="0000A3"/>
              </a:buClr>
              <a:buSzPts val="3200"/>
              <a:buFont typeface="Noto Sans Symbols"/>
              <a:buNone/>
            </a:pPr>
            <a:r>
              <a:rPr i="1" lang="en-US" sz="3200" u="sng">
                <a:solidFill>
                  <a:srgbClr val="C00000"/>
                </a:solidFill>
                <a:latin typeface="Calibri"/>
                <a:ea typeface="Calibri"/>
                <a:cs typeface="Calibri"/>
                <a:sym typeface="Calibri"/>
              </a:rPr>
              <a:t>HTTP1.1:</a:t>
            </a:r>
            <a:r>
              <a:rPr lang="en-US" sz="3200" u="sng">
                <a:solidFill>
                  <a:srgbClr val="C00000"/>
                </a:solidFill>
                <a:latin typeface="Calibri"/>
                <a:ea typeface="Calibri"/>
                <a:cs typeface="Calibri"/>
                <a:sym typeface="Calibri"/>
              </a:rPr>
              <a:t> </a:t>
            </a:r>
            <a:r>
              <a:rPr lang="en-US" sz="3200">
                <a:solidFill>
                  <a:schemeClr val="dk1"/>
                </a:solidFill>
                <a:latin typeface="Calibri"/>
                <a:ea typeface="Calibri"/>
                <a:cs typeface="Calibri"/>
                <a:sym typeface="Calibri"/>
              </a:rPr>
              <a:t>introduced </a:t>
            </a:r>
            <a:r>
              <a:rPr lang="en-US" sz="3200">
                <a:solidFill>
                  <a:srgbClr val="0000A3"/>
                </a:solidFill>
                <a:latin typeface="Calibri"/>
                <a:ea typeface="Calibri"/>
                <a:cs typeface="Calibri"/>
                <a:sym typeface="Calibri"/>
              </a:rPr>
              <a:t>multiple, pipelined GETs</a:t>
            </a:r>
            <a:r>
              <a:rPr lang="en-US" sz="3200">
                <a:solidFill>
                  <a:schemeClr val="dk1"/>
                </a:solidFill>
                <a:latin typeface="Calibri"/>
                <a:ea typeface="Calibri"/>
                <a:cs typeface="Calibri"/>
                <a:sym typeface="Calibri"/>
              </a:rPr>
              <a:t> over single TCP connection</a:t>
            </a:r>
            <a:endParaRPr b="1" sz="3200">
              <a:solidFill>
                <a:schemeClr val="dk1"/>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server responds </a:t>
            </a:r>
            <a:r>
              <a:rPr i="1" lang="en-US" sz="2800">
                <a:solidFill>
                  <a:schemeClr val="dk1"/>
                </a:solidFill>
                <a:latin typeface="Calibri"/>
                <a:ea typeface="Calibri"/>
                <a:cs typeface="Calibri"/>
                <a:sym typeface="Calibri"/>
              </a:rPr>
              <a:t>in-order</a:t>
            </a:r>
            <a:r>
              <a:rPr lang="en-US" sz="2800">
                <a:solidFill>
                  <a:schemeClr val="dk1"/>
                </a:solidFill>
                <a:latin typeface="Calibri"/>
                <a:ea typeface="Calibri"/>
                <a:cs typeface="Calibri"/>
                <a:sym typeface="Calibri"/>
              </a:rPr>
              <a:t> (FCFS: first-come-first-served scheduling) to GET requests</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with FCFS, small object may have to wait for transmission  (</a:t>
            </a:r>
            <a:r>
              <a:rPr lang="en-US" sz="2800">
                <a:solidFill>
                  <a:srgbClr val="C00000"/>
                </a:solidFill>
                <a:latin typeface="Calibri"/>
                <a:ea typeface="Calibri"/>
                <a:cs typeface="Calibri"/>
                <a:sym typeface="Calibri"/>
              </a:rPr>
              <a:t>head-of-line (HOL) blocking</a:t>
            </a:r>
            <a:r>
              <a:rPr lang="en-US" sz="2800">
                <a:solidFill>
                  <a:schemeClr val="dk1"/>
                </a:solidFill>
                <a:latin typeface="Calibri"/>
                <a:ea typeface="Calibri"/>
                <a:cs typeface="Calibri"/>
                <a:sym typeface="Calibri"/>
              </a:rPr>
              <a:t>) behind large object(s)</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loss recovery (retransmitting lost TCP segments) stalls object transmission</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730" name="Google Shape;4730;p5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5" name="Shape 4735"/>
        <p:cNvGrpSpPr/>
        <p:nvPr/>
      </p:nvGrpSpPr>
      <p:grpSpPr>
        <a:xfrm>
          <a:off x="0" y="0"/>
          <a:ext cx="0" cy="0"/>
          <a:chOff x="0" y="0"/>
          <a:chExt cx="0" cy="0"/>
        </a:xfrm>
      </p:grpSpPr>
      <p:sp>
        <p:nvSpPr>
          <p:cNvPr id="4736" name="Google Shape;4736;p56"/>
          <p:cNvSpPr txBox="1"/>
          <p:nvPr>
            <p:ph type="title"/>
          </p:nvPr>
        </p:nvSpPr>
        <p:spPr>
          <a:xfrm>
            <a:off x="651417" y="22376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HTTP/2</a:t>
            </a:r>
            <a:endParaRPr sz="4400"/>
          </a:p>
        </p:txBody>
      </p:sp>
      <p:sp>
        <p:nvSpPr>
          <p:cNvPr id="4737" name="Google Shape;4737;p56"/>
          <p:cNvSpPr txBox="1"/>
          <p:nvPr/>
        </p:nvSpPr>
        <p:spPr>
          <a:xfrm>
            <a:off x="673719" y="1118384"/>
            <a:ext cx="11117107" cy="503308"/>
          </a:xfrm>
          <a:prstGeom prst="rect">
            <a:avLst/>
          </a:prstGeom>
          <a:noFill/>
          <a:ln>
            <a:noFill/>
          </a:ln>
        </p:spPr>
        <p:txBody>
          <a:bodyPr anchorCtr="0" anchor="t" bIns="45700" lIns="91425" spcFirstLastPara="1" rIns="91425" wrap="square" tIns="45700">
            <a:noAutofit/>
          </a:bodyPr>
          <a:lstStyle/>
          <a:p>
            <a:pPr indent="0" lvl="0" marL="130175" marR="0" rtl="0" algn="ctr">
              <a:lnSpc>
                <a:spcPct val="90000"/>
              </a:lnSpc>
              <a:spcBef>
                <a:spcPts val="0"/>
              </a:spcBef>
              <a:spcAft>
                <a:spcPts val="0"/>
              </a:spcAft>
              <a:buClr>
                <a:srgbClr val="0000A3"/>
              </a:buClr>
              <a:buSzPts val="2800"/>
              <a:buFont typeface="Noto Sans Symbols"/>
              <a:buNone/>
            </a:pPr>
            <a:r>
              <a:rPr i="1" lang="en-US" sz="2800">
                <a:solidFill>
                  <a:srgbClr val="000090"/>
                </a:solidFill>
                <a:latin typeface="Calibri"/>
                <a:ea typeface="Calibri"/>
                <a:cs typeface="Calibri"/>
                <a:sym typeface="Calibri"/>
              </a:rPr>
              <a:t>Key goal: </a:t>
            </a:r>
            <a:r>
              <a:rPr lang="en-US" sz="2800">
                <a:solidFill>
                  <a:schemeClr val="dk1"/>
                </a:solidFill>
                <a:latin typeface="Calibri"/>
                <a:ea typeface="Calibri"/>
                <a:cs typeface="Calibri"/>
                <a:sym typeface="Calibri"/>
              </a:rPr>
              <a:t>decreased delay in multi-object HTTP requests</a:t>
            </a:r>
            <a:endParaRPr sz="2800">
              <a:solidFill>
                <a:schemeClr val="dk1"/>
              </a:solidFill>
              <a:latin typeface="Calibri"/>
              <a:ea typeface="Calibri"/>
              <a:cs typeface="Calibri"/>
              <a:sym typeface="Calibri"/>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738" name="Google Shape;4738;p56"/>
          <p:cNvSpPr txBox="1"/>
          <p:nvPr/>
        </p:nvSpPr>
        <p:spPr>
          <a:xfrm>
            <a:off x="1003084" y="2048927"/>
            <a:ext cx="10458375" cy="4487272"/>
          </a:xfrm>
          <a:prstGeom prst="rect">
            <a:avLst/>
          </a:prstGeom>
          <a:noFill/>
          <a:ln>
            <a:noFill/>
          </a:ln>
        </p:spPr>
        <p:txBody>
          <a:bodyPr anchorCtr="0" anchor="t" bIns="45700" lIns="91425" spcFirstLastPara="1" rIns="91425" wrap="square" tIns="45700">
            <a:noAutofit/>
          </a:bodyPr>
          <a:lstStyle/>
          <a:p>
            <a:pPr indent="0" lvl="0" marL="9525" marR="0" rtl="0" algn="l">
              <a:lnSpc>
                <a:spcPct val="90000"/>
              </a:lnSpc>
              <a:spcBef>
                <a:spcPts val="0"/>
              </a:spcBef>
              <a:spcAft>
                <a:spcPts val="0"/>
              </a:spcAft>
              <a:buClr>
                <a:srgbClr val="0000A3"/>
              </a:buClr>
              <a:buSzPts val="3200"/>
              <a:buFont typeface="Noto Sans Symbols"/>
              <a:buNone/>
            </a:pPr>
            <a:r>
              <a:rPr i="1" lang="en-US" sz="3200" u="sng">
                <a:solidFill>
                  <a:srgbClr val="C00000"/>
                </a:solidFill>
                <a:latin typeface="Calibri"/>
                <a:ea typeface="Calibri"/>
                <a:cs typeface="Calibri"/>
                <a:sym typeface="Calibri"/>
              </a:rPr>
              <a:t>HTTP/2:</a:t>
            </a:r>
            <a:r>
              <a:rPr lang="en-US" sz="3200">
                <a:solidFill>
                  <a:schemeClr val="dk1"/>
                </a:solidFill>
                <a:latin typeface="Calibri"/>
                <a:ea typeface="Calibri"/>
                <a:cs typeface="Calibri"/>
                <a:sym typeface="Calibri"/>
              </a:rPr>
              <a:t> </a:t>
            </a:r>
            <a:r>
              <a:rPr lang="en-US" sz="2000">
                <a:solidFill>
                  <a:schemeClr val="dk1"/>
                </a:solidFill>
                <a:latin typeface="Calibri"/>
                <a:ea typeface="Calibri"/>
                <a:cs typeface="Calibri"/>
                <a:sym typeface="Calibri"/>
              </a:rPr>
              <a:t>[RFC 7540, 2015] </a:t>
            </a:r>
            <a:r>
              <a:rPr lang="en-US" sz="3200">
                <a:solidFill>
                  <a:schemeClr val="dk1"/>
                </a:solidFill>
                <a:latin typeface="Calibri"/>
                <a:ea typeface="Calibri"/>
                <a:cs typeface="Calibri"/>
                <a:sym typeface="Calibri"/>
              </a:rPr>
              <a:t>increased flexibility at </a:t>
            </a:r>
            <a:r>
              <a:rPr i="1" lang="en-US" sz="3200">
                <a:solidFill>
                  <a:schemeClr val="dk1"/>
                </a:solidFill>
                <a:latin typeface="Calibri"/>
                <a:ea typeface="Calibri"/>
                <a:cs typeface="Calibri"/>
                <a:sym typeface="Calibri"/>
              </a:rPr>
              <a:t>server</a:t>
            </a:r>
            <a:r>
              <a:rPr lang="en-US" sz="3200">
                <a:solidFill>
                  <a:schemeClr val="dk1"/>
                </a:solidFill>
                <a:latin typeface="Calibri"/>
                <a:ea typeface="Calibri"/>
                <a:cs typeface="Calibri"/>
                <a:sym typeface="Calibri"/>
              </a:rPr>
              <a:t> in sending objects to client:</a:t>
            </a:r>
            <a:endParaRPr/>
          </a:p>
          <a:p>
            <a:pPr indent="-280988" lvl="0" marL="3460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methods, status codes, most header fields unchanged from HTTP 1.1</a:t>
            </a:r>
            <a:endParaRPr/>
          </a:p>
          <a:p>
            <a:pPr indent="-280988" lvl="0" marL="3460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transmission order of requested objects based on client-specified object priority </a:t>
            </a:r>
            <a:r>
              <a:rPr lang="en-US" sz="2400">
                <a:solidFill>
                  <a:schemeClr val="dk1"/>
                </a:solidFill>
                <a:latin typeface="Calibri"/>
                <a:ea typeface="Calibri"/>
                <a:cs typeface="Calibri"/>
                <a:sym typeface="Calibri"/>
              </a:rPr>
              <a:t>(not necessarily FCFS)</a:t>
            </a:r>
            <a:endParaRPr/>
          </a:p>
          <a:p>
            <a:pPr indent="-280988" lvl="0" marL="346075" marR="0" rtl="0" algn="l">
              <a:lnSpc>
                <a:spcPct val="90000"/>
              </a:lnSpc>
              <a:spcBef>
                <a:spcPts val="1000"/>
              </a:spcBef>
              <a:spcAft>
                <a:spcPts val="0"/>
              </a:spcAft>
              <a:buClr>
                <a:srgbClr val="0000A3"/>
              </a:buClr>
              <a:buSzPts val="2800"/>
              <a:buFont typeface="Noto Sans Symbols"/>
              <a:buChar char="▪"/>
            </a:pPr>
            <a:r>
              <a:rPr i="1" lang="en-US" sz="2800">
                <a:solidFill>
                  <a:schemeClr val="dk1"/>
                </a:solidFill>
                <a:latin typeface="Calibri"/>
                <a:ea typeface="Calibri"/>
                <a:cs typeface="Calibri"/>
                <a:sym typeface="Calibri"/>
              </a:rPr>
              <a:t>push</a:t>
            </a:r>
            <a:r>
              <a:rPr lang="en-US" sz="2800">
                <a:solidFill>
                  <a:schemeClr val="dk1"/>
                </a:solidFill>
                <a:latin typeface="Calibri"/>
                <a:ea typeface="Calibri"/>
                <a:cs typeface="Calibri"/>
                <a:sym typeface="Calibri"/>
              </a:rPr>
              <a:t> unrequested objects to client</a:t>
            </a:r>
            <a:endParaRPr/>
          </a:p>
          <a:p>
            <a:pPr indent="-280988" lvl="0" marL="3460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divide objects into frames, schedule frames to mitigate HOL blocking</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739" name="Google Shape;4739;p5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8"/>
                                        </p:tgtEl>
                                        <p:attrNameLst>
                                          <p:attrName>style.visibility</p:attrName>
                                        </p:attrNameLst>
                                      </p:cBhvr>
                                      <p:to>
                                        <p:strVal val="visible"/>
                                      </p:to>
                                    </p:set>
                                    <p:animEffect filter="fade" transition="in">
                                      <p:cBhvr>
                                        <p:cTn dur="500"/>
                                        <p:tgtEl>
                                          <p:spTgt spid="47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4" name="Shape 4744"/>
        <p:cNvGrpSpPr/>
        <p:nvPr/>
      </p:nvGrpSpPr>
      <p:grpSpPr>
        <a:xfrm>
          <a:off x="0" y="0"/>
          <a:ext cx="0" cy="0"/>
          <a:chOff x="0" y="0"/>
          <a:chExt cx="0" cy="0"/>
        </a:xfrm>
      </p:grpSpPr>
      <p:sp>
        <p:nvSpPr>
          <p:cNvPr id="4745" name="Google Shape;4745;p57"/>
          <p:cNvSpPr txBox="1"/>
          <p:nvPr>
            <p:ph type="title"/>
          </p:nvPr>
        </p:nvSpPr>
        <p:spPr>
          <a:xfrm>
            <a:off x="798691" y="37987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HTTP/2: mitigating HOL blocking</a:t>
            </a:r>
            <a:endParaRPr sz="4400"/>
          </a:p>
        </p:txBody>
      </p:sp>
      <p:sp>
        <p:nvSpPr>
          <p:cNvPr id="4746" name="Google Shape;4746;p57"/>
          <p:cNvSpPr txBox="1"/>
          <p:nvPr/>
        </p:nvSpPr>
        <p:spPr>
          <a:xfrm>
            <a:off x="798691" y="1274501"/>
            <a:ext cx="11117107" cy="503308"/>
          </a:xfrm>
          <a:prstGeom prst="rect">
            <a:avLst/>
          </a:prstGeom>
          <a:noFill/>
          <a:ln>
            <a:noFill/>
          </a:ln>
        </p:spPr>
        <p:txBody>
          <a:bodyPr anchorCtr="0" anchor="t" bIns="45700" lIns="91425" spcFirstLastPara="1" rIns="91425" wrap="square" tIns="45700">
            <a:noAutofit/>
          </a:bodyPr>
          <a:lstStyle/>
          <a:p>
            <a:pPr indent="0" lvl="0" marL="130175" marR="0" rtl="0" algn="l">
              <a:lnSpc>
                <a:spcPct val="90000"/>
              </a:lnSpc>
              <a:spcBef>
                <a:spcPts val="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HTTP 1.1: client requests 1 large object (e.g., video file, and 3 smaller objects)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747" name="Google Shape;4747;p57"/>
          <p:cNvSpPr txBox="1"/>
          <p:nvPr/>
        </p:nvSpPr>
        <p:spPr>
          <a:xfrm>
            <a:off x="2900584" y="2902508"/>
            <a:ext cx="777875"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CC0000"/>
              </a:buClr>
              <a:buSzPts val="2000"/>
              <a:buFont typeface="Calibri"/>
              <a:buNone/>
            </a:pPr>
            <a:r>
              <a:rPr lang="en-US" sz="2000">
                <a:solidFill>
                  <a:srgbClr val="CC0000"/>
                </a:solidFill>
                <a:latin typeface="Calibri"/>
                <a:ea typeface="Calibri"/>
                <a:cs typeface="Calibri"/>
                <a:sym typeface="Calibri"/>
              </a:rPr>
              <a:t>client</a:t>
            </a:r>
            <a:endParaRPr/>
          </a:p>
        </p:txBody>
      </p:sp>
      <p:sp>
        <p:nvSpPr>
          <p:cNvPr id="4748" name="Google Shape;4748;p57"/>
          <p:cNvSpPr txBox="1"/>
          <p:nvPr/>
        </p:nvSpPr>
        <p:spPr>
          <a:xfrm>
            <a:off x="7029972" y="1892257"/>
            <a:ext cx="836959"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CC0000"/>
              </a:buClr>
              <a:buSzPts val="2000"/>
              <a:buFont typeface="Calibri"/>
              <a:buNone/>
            </a:pPr>
            <a:r>
              <a:rPr lang="en-US" sz="2000">
                <a:solidFill>
                  <a:srgbClr val="CC0000"/>
                </a:solidFill>
                <a:latin typeface="Calibri"/>
                <a:ea typeface="Calibri"/>
                <a:cs typeface="Calibri"/>
                <a:sym typeface="Calibri"/>
              </a:rPr>
              <a:t>server</a:t>
            </a:r>
            <a:endParaRPr/>
          </a:p>
        </p:txBody>
      </p:sp>
      <p:grpSp>
        <p:nvGrpSpPr>
          <p:cNvPr id="4749" name="Google Shape;4749;p57"/>
          <p:cNvGrpSpPr/>
          <p:nvPr/>
        </p:nvGrpSpPr>
        <p:grpSpPr>
          <a:xfrm>
            <a:off x="7234967" y="2262203"/>
            <a:ext cx="422275" cy="685800"/>
            <a:chOff x="4140" y="429"/>
            <a:chExt cx="1425" cy="2396"/>
          </a:xfrm>
        </p:grpSpPr>
        <p:sp>
          <p:nvSpPr>
            <p:cNvPr id="4750" name="Google Shape;4750;p5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1" name="Google Shape;4751;p57"/>
            <p:cNvSpPr/>
            <p:nvPr/>
          </p:nvSpPr>
          <p:spPr>
            <a:xfrm>
              <a:off x="4204" y="429"/>
              <a:ext cx="1050"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752" name="Google Shape;4752;p5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3" name="Google Shape;4753;p5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4" name="Google Shape;4754;p57"/>
            <p:cNvSpPr/>
            <p:nvPr/>
          </p:nvSpPr>
          <p:spPr>
            <a:xfrm>
              <a:off x="4210" y="695"/>
              <a:ext cx="600"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4755" name="Google Shape;4755;p57"/>
            <p:cNvGrpSpPr/>
            <p:nvPr/>
          </p:nvGrpSpPr>
          <p:grpSpPr>
            <a:xfrm>
              <a:off x="4751" y="668"/>
              <a:ext cx="579" cy="144"/>
              <a:chOff x="616" y="2568"/>
              <a:chExt cx="722" cy="138"/>
            </a:xfrm>
          </p:grpSpPr>
          <p:sp>
            <p:nvSpPr>
              <p:cNvPr id="4756" name="Google Shape;4756;p57"/>
              <p:cNvSpPr/>
              <p:nvPr/>
            </p:nvSpPr>
            <p:spPr>
              <a:xfrm>
                <a:off x="616" y="2568"/>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757" name="Google Shape;4757;p57"/>
              <p:cNvSpPr/>
              <p:nvPr/>
            </p:nvSpPr>
            <p:spPr>
              <a:xfrm>
                <a:off x="630" y="2583"/>
                <a:ext cx="689"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4758" name="Google Shape;4758;p57"/>
            <p:cNvSpPr/>
            <p:nvPr/>
          </p:nvSpPr>
          <p:spPr>
            <a:xfrm>
              <a:off x="4226" y="1017"/>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4759" name="Google Shape;4759;p57"/>
            <p:cNvGrpSpPr/>
            <p:nvPr/>
          </p:nvGrpSpPr>
          <p:grpSpPr>
            <a:xfrm>
              <a:off x="4745" y="995"/>
              <a:ext cx="584" cy="133"/>
              <a:chOff x="612" y="2569"/>
              <a:chExt cx="729" cy="138"/>
            </a:xfrm>
          </p:grpSpPr>
          <p:sp>
            <p:nvSpPr>
              <p:cNvPr id="4760" name="Google Shape;4760;p57"/>
              <p:cNvSpPr/>
              <p:nvPr/>
            </p:nvSpPr>
            <p:spPr>
              <a:xfrm>
                <a:off x="612" y="2569"/>
                <a:ext cx="72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761" name="Google Shape;4761;p57"/>
              <p:cNvSpPr/>
              <p:nvPr/>
            </p:nvSpPr>
            <p:spPr>
              <a:xfrm>
                <a:off x="625"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4762" name="Google Shape;4762;p57"/>
            <p:cNvSpPr/>
            <p:nvPr/>
          </p:nvSpPr>
          <p:spPr>
            <a:xfrm>
              <a:off x="4215" y="1355"/>
              <a:ext cx="600"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763" name="Google Shape;4763;p57"/>
            <p:cNvSpPr/>
            <p:nvPr/>
          </p:nvSpPr>
          <p:spPr>
            <a:xfrm>
              <a:off x="4226" y="1655"/>
              <a:ext cx="600"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4764" name="Google Shape;4764;p57"/>
            <p:cNvGrpSpPr/>
            <p:nvPr/>
          </p:nvGrpSpPr>
          <p:grpSpPr>
            <a:xfrm>
              <a:off x="4735" y="1627"/>
              <a:ext cx="584" cy="150"/>
              <a:chOff x="614" y="2568"/>
              <a:chExt cx="727" cy="138"/>
            </a:xfrm>
          </p:grpSpPr>
          <p:sp>
            <p:nvSpPr>
              <p:cNvPr id="4765" name="Google Shape;4765;p57"/>
              <p:cNvSpPr/>
              <p:nvPr/>
            </p:nvSpPr>
            <p:spPr>
              <a:xfrm>
                <a:off x="614" y="2568"/>
                <a:ext cx="72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766" name="Google Shape;4766;p57"/>
              <p:cNvSpPr/>
              <p:nvPr/>
            </p:nvSpPr>
            <p:spPr>
              <a:xfrm>
                <a:off x="627" y="2583"/>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4767" name="Google Shape;4767;p5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768" name="Google Shape;4768;p57"/>
            <p:cNvGrpSpPr/>
            <p:nvPr/>
          </p:nvGrpSpPr>
          <p:grpSpPr>
            <a:xfrm>
              <a:off x="4740" y="1327"/>
              <a:ext cx="579" cy="139"/>
              <a:chOff x="615" y="2568"/>
              <a:chExt cx="721" cy="139"/>
            </a:xfrm>
          </p:grpSpPr>
          <p:sp>
            <p:nvSpPr>
              <p:cNvPr id="4769" name="Google Shape;4769;p57"/>
              <p:cNvSpPr/>
              <p:nvPr/>
            </p:nvSpPr>
            <p:spPr>
              <a:xfrm>
                <a:off x="615" y="2568"/>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770" name="Google Shape;4770;p57"/>
              <p:cNvSpPr/>
              <p:nvPr/>
            </p:nvSpPr>
            <p:spPr>
              <a:xfrm>
                <a:off x="629" y="2585"/>
                <a:ext cx="687"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4771" name="Google Shape;4771;p57"/>
            <p:cNvSpPr/>
            <p:nvPr/>
          </p:nvSpPr>
          <p:spPr>
            <a:xfrm>
              <a:off x="5249" y="429"/>
              <a:ext cx="70" cy="2291"/>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772" name="Google Shape;4772;p5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3" name="Google Shape;4773;p5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4" name="Google Shape;4774;p57"/>
            <p:cNvSpPr/>
            <p:nvPr/>
          </p:nvSpPr>
          <p:spPr>
            <a:xfrm>
              <a:off x="5517" y="2609"/>
              <a:ext cx="48" cy="100"/>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775" name="Google Shape;4775;p5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6" name="Google Shape;4776;p57"/>
            <p:cNvSpPr/>
            <p:nvPr/>
          </p:nvSpPr>
          <p:spPr>
            <a:xfrm>
              <a:off x="4140" y="2675"/>
              <a:ext cx="1200"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777" name="Google Shape;4777;p57"/>
            <p:cNvSpPr/>
            <p:nvPr/>
          </p:nvSpPr>
          <p:spPr>
            <a:xfrm>
              <a:off x="4204" y="2709"/>
              <a:ext cx="107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778" name="Google Shape;4778;p57"/>
            <p:cNvSpPr/>
            <p:nvPr/>
          </p:nvSpPr>
          <p:spPr>
            <a:xfrm>
              <a:off x="4306" y="2381"/>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779" name="Google Shape;4779;p57"/>
            <p:cNvSpPr/>
            <p:nvPr/>
          </p:nvSpPr>
          <p:spPr>
            <a:xfrm>
              <a:off x="4488" y="2381"/>
              <a:ext cx="155"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Calibri"/>
                <a:ea typeface="Calibri"/>
                <a:cs typeface="Calibri"/>
                <a:sym typeface="Calibri"/>
              </a:endParaRPr>
            </a:p>
          </p:txBody>
        </p:sp>
        <p:sp>
          <p:nvSpPr>
            <p:cNvPr id="4780" name="Google Shape;4780;p57"/>
            <p:cNvSpPr/>
            <p:nvPr/>
          </p:nvSpPr>
          <p:spPr>
            <a:xfrm>
              <a:off x="4660" y="2381"/>
              <a:ext cx="161"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781" name="Google Shape;4781;p57"/>
            <p:cNvSpPr/>
            <p:nvPr/>
          </p:nvSpPr>
          <p:spPr>
            <a:xfrm>
              <a:off x="5061" y="1838"/>
              <a:ext cx="86"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4782" name="Google Shape;4782;p57"/>
          <p:cNvGrpSpPr/>
          <p:nvPr/>
        </p:nvGrpSpPr>
        <p:grpSpPr>
          <a:xfrm>
            <a:off x="2885332" y="2291964"/>
            <a:ext cx="742950" cy="742950"/>
            <a:chOff x="-44" y="1473"/>
            <a:chExt cx="981" cy="1105"/>
          </a:xfrm>
        </p:grpSpPr>
        <p:pic>
          <p:nvPicPr>
            <p:cNvPr descr="desktop_computer_stylized_medium" id="4783" name="Google Shape;4783;p5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784" name="Google Shape;4784;p5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4785" name="Google Shape;4785;p57"/>
          <p:cNvCxnSpPr/>
          <p:nvPr/>
        </p:nvCxnSpPr>
        <p:spPr>
          <a:xfrm>
            <a:off x="3526536" y="2791484"/>
            <a:ext cx="3910012" cy="260743"/>
          </a:xfrm>
          <a:prstGeom prst="straightConnector1">
            <a:avLst/>
          </a:prstGeom>
          <a:noFill/>
          <a:ln cap="flat" cmpd="sng" w="9525">
            <a:solidFill>
              <a:schemeClr val="dk1"/>
            </a:solidFill>
            <a:prstDash val="solid"/>
            <a:miter lim="800000"/>
            <a:headEnd len="sm" w="sm" type="none"/>
            <a:tailEnd len="med" w="med" type="triangle"/>
          </a:ln>
        </p:spPr>
      </p:cxnSp>
      <p:sp>
        <p:nvSpPr>
          <p:cNvPr id="4786" name="Google Shape;4786;p57"/>
          <p:cNvSpPr txBox="1"/>
          <p:nvPr/>
        </p:nvSpPr>
        <p:spPr>
          <a:xfrm>
            <a:off x="6093263" y="2667596"/>
            <a:ext cx="89209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GET O</a:t>
            </a:r>
            <a:r>
              <a:rPr baseline="-25000" lang="en-US" sz="1600">
                <a:solidFill>
                  <a:schemeClr val="dk1"/>
                </a:solidFill>
                <a:latin typeface="Calibri"/>
                <a:ea typeface="Calibri"/>
                <a:cs typeface="Calibri"/>
                <a:sym typeface="Calibri"/>
              </a:rPr>
              <a:t>1</a:t>
            </a:r>
            <a:endParaRPr/>
          </a:p>
        </p:txBody>
      </p:sp>
      <p:sp>
        <p:nvSpPr>
          <p:cNvPr id="4787" name="Google Shape;4787;p57"/>
          <p:cNvSpPr txBox="1"/>
          <p:nvPr/>
        </p:nvSpPr>
        <p:spPr>
          <a:xfrm>
            <a:off x="5291796" y="2596769"/>
            <a:ext cx="89209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GET O</a:t>
            </a:r>
            <a:r>
              <a:rPr baseline="-25000" lang="en-US" sz="1600">
                <a:solidFill>
                  <a:schemeClr val="dk1"/>
                </a:solidFill>
                <a:latin typeface="Calibri"/>
                <a:ea typeface="Calibri"/>
                <a:cs typeface="Calibri"/>
                <a:sym typeface="Calibri"/>
              </a:rPr>
              <a:t>2</a:t>
            </a:r>
            <a:endParaRPr/>
          </a:p>
        </p:txBody>
      </p:sp>
      <p:sp>
        <p:nvSpPr>
          <p:cNvPr id="4788" name="Google Shape;4788;p57"/>
          <p:cNvSpPr txBox="1"/>
          <p:nvPr/>
        </p:nvSpPr>
        <p:spPr>
          <a:xfrm>
            <a:off x="4513773" y="2538104"/>
            <a:ext cx="89209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GET O</a:t>
            </a:r>
            <a:r>
              <a:rPr baseline="-25000" lang="en-US" sz="1600">
                <a:solidFill>
                  <a:schemeClr val="dk1"/>
                </a:solidFill>
                <a:latin typeface="Calibri"/>
                <a:ea typeface="Calibri"/>
                <a:cs typeface="Calibri"/>
                <a:sym typeface="Calibri"/>
              </a:rPr>
              <a:t>3</a:t>
            </a:r>
            <a:endParaRPr/>
          </a:p>
        </p:txBody>
      </p:sp>
      <p:sp>
        <p:nvSpPr>
          <p:cNvPr id="4789" name="Google Shape;4789;p57"/>
          <p:cNvSpPr txBox="1"/>
          <p:nvPr/>
        </p:nvSpPr>
        <p:spPr>
          <a:xfrm>
            <a:off x="3721264" y="2473869"/>
            <a:ext cx="89209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GET O</a:t>
            </a:r>
            <a:r>
              <a:rPr baseline="-25000" lang="en-US" sz="1600">
                <a:solidFill>
                  <a:schemeClr val="dk1"/>
                </a:solidFill>
                <a:latin typeface="Calibri"/>
                <a:ea typeface="Calibri"/>
                <a:cs typeface="Calibri"/>
                <a:sym typeface="Calibri"/>
              </a:rPr>
              <a:t>4</a:t>
            </a:r>
            <a:endParaRPr/>
          </a:p>
        </p:txBody>
      </p:sp>
      <p:sp>
        <p:nvSpPr>
          <p:cNvPr id="4790" name="Google Shape;4790;p57"/>
          <p:cNvSpPr/>
          <p:nvPr/>
        </p:nvSpPr>
        <p:spPr>
          <a:xfrm>
            <a:off x="8620343" y="3108868"/>
            <a:ext cx="892098" cy="197132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91" name="Google Shape;4791;p57"/>
          <p:cNvSpPr/>
          <p:nvPr/>
        </p:nvSpPr>
        <p:spPr>
          <a:xfrm>
            <a:off x="8624001" y="5094824"/>
            <a:ext cx="892097" cy="11030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792" name="Google Shape;4792;p57"/>
          <p:cNvGrpSpPr/>
          <p:nvPr/>
        </p:nvGrpSpPr>
        <p:grpSpPr>
          <a:xfrm>
            <a:off x="3400914" y="3064264"/>
            <a:ext cx="4052925" cy="2231577"/>
            <a:chOff x="3400914" y="3064264"/>
            <a:chExt cx="4052925" cy="2231577"/>
          </a:xfrm>
        </p:grpSpPr>
        <p:cxnSp>
          <p:nvCxnSpPr>
            <p:cNvPr id="4793" name="Google Shape;4793;p57"/>
            <p:cNvCxnSpPr/>
            <p:nvPr/>
          </p:nvCxnSpPr>
          <p:spPr>
            <a:xfrm flipH="1">
              <a:off x="3400914" y="5022530"/>
              <a:ext cx="4052925" cy="273311"/>
            </a:xfrm>
            <a:prstGeom prst="straightConnector1">
              <a:avLst/>
            </a:prstGeom>
            <a:noFill/>
            <a:ln cap="flat" cmpd="sng" w="9525">
              <a:solidFill>
                <a:schemeClr val="dk1"/>
              </a:solidFill>
              <a:prstDash val="solid"/>
              <a:miter lim="800000"/>
              <a:headEnd len="sm" w="sm" type="none"/>
              <a:tailEnd len="med" w="med" type="triangle"/>
            </a:ln>
          </p:spPr>
        </p:cxnSp>
        <p:sp>
          <p:nvSpPr>
            <p:cNvPr id="4794" name="Google Shape;4794;p57"/>
            <p:cNvSpPr/>
            <p:nvPr/>
          </p:nvSpPr>
          <p:spPr>
            <a:xfrm>
              <a:off x="3517643" y="3064264"/>
              <a:ext cx="3868169" cy="2226179"/>
            </a:xfrm>
            <a:custGeom>
              <a:rect b="b" l="l" r="r" t="t"/>
              <a:pathLst>
                <a:path extrusionOk="0" h="2226179" w="3868169">
                  <a:moveTo>
                    <a:pt x="3867383" y="0"/>
                  </a:moveTo>
                  <a:lnTo>
                    <a:pt x="411" y="273465"/>
                  </a:lnTo>
                  <a:cubicBezTo>
                    <a:pt x="1835" y="927218"/>
                    <a:pt x="-1013" y="1572426"/>
                    <a:pt x="411" y="2226179"/>
                  </a:cubicBezTo>
                  <a:lnTo>
                    <a:pt x="3863110" y="1969806"/>
                  </a:lnTo>
                  <a:cubicBezTo>
                    <a:pt x="3864534" y="1311780"/>
                    <a:pt x="3870232" y="615297"/>
                    <a:pt x="386738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4795" name="Google Shape;4795;p57"/>
          <p:cNvGrpSpPr/>
          <p:nvPr/>
        </p:nvGrpSpPr>
        <p:grpSpPr>
          <a:xfrm>
            <a:off x="3389679" y="5054301"/>
            <a:ext cx="4064160" cy="386589"/>
            <a:chOff x="3389679" y="5054301"/>
            <a:chExt cx="4064160" cy="386589"/>
          </a:xfrm>
        </p:grpSpPr>
        <p:cxnSp>
          <p:nvCxnSpPr>
            <p:cNvPr id="4796" name="Google Shape;4796;p57"/>
            <p:cNvCxnSpPr/>
            <p:nvPr/>
          </p:nvCxnSpPr>
          <p:spPr>
            <a:xfrm flipH="1">
              <a:off x="3389679" y="5161562"/>
              <a:ext cx="4064160" cy="279328"/>
            </a:xfrm>
            <a:prstGeom prst="straightConnector1">
              <a:avLst/>
            </a:prstGeom>
            <a:noFill/>
            <a:ln cap="flat" cmpd="sng" w="9525">
              <a:solidFill>
                <a:schemeClr val="dk1"/>
              </a:solidFill>
              <a:prstDash val="solid"/>
              <a:miter lim="800000"/>
              <a:headEnd len="sm" w="sm" type="none"/>
              <a:tailEnd len="med" w="med" type="triangle"/>
            </a:ln>
          </p:spPr>
        </p:cxnSp>
        <p:sp>
          <p:nvSpPr>
            <p:cNvPr id="4797" name="Google Shape;4797;p57"/>
            <p:cNvSpPr/>
            <p:nvPr/>
          </p:nvSpPr>
          <p:spPr>
            <a:xfrm>
              <a:off x="3519116" y="5054301"/>
              <a:ext cx="3875928" cy="375356"/>
            </a:xfrm>
            <a:custGeom>
              <a:rect b="b" l="l" r="r" t="t"/>
              <a:pathLst>
                <a:path extrusionOk="0" h="6552362" w="3875928">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4798" name="Google Shape;4798;p57"/>
          <p:cNvGrpSpPr/>
          <p:nvPr/>
        </p:nvGrpSpPr>
        <p:grpSpPr>
          <a:xfrm>
            <a:off x="3401181" y="5445216"/>
            <a:ext cx="4028803" cy="375356"/>
            <a:chOff x="3401181" y="5445216"/>
            <a:chExt cx="4028803" cy="375356"/>
          </a:xfrm>
        </p:grpSpPr>
        <p:cxnSp>
          <p:nvCxnSpPr>
            <p:cNvPr id="4799" name="Google Shape;4799;p57"/>
            <p:cNvCxnSpPr/>
            <p:nvPr/>
          </p:nvCxnSpPr>
          <p:spPr>
            <a:xfrm flipH="1">
              <a:off x="3401181" y="5534648"/>
              <a:ext cx="4028803" cy="269984"/>
            </a:xfrm>
            <a:prstGeom prst="straightConnector1">
              <a:avLst/>
            </a:prstGeom>
            <a:noFill/>
            <a:ln cap="flat" cmpd="sng" w="9525">
              <a:solidFill>
                <a:schemeClr val="dk1"/>
              </a:solidFill>
              <a:prstDash val="solid"/>
              <a:miter lim="800000"/>
              <a:headEnd len="sm" w="sm" type="none"/>
              <a:tailEnd len="med" w="med" type="triangle"/>
            </a:ln>
          </p:spPr>
        </p:cxnSp>
        <p:sp>
          <p:nvSpPr>
            <p:cNvPr id="4800" name="Google Shape;4800;p57"/>
            <p:cNvSpPr/>
            <p:nvPr/>
          </p:nvSpPr>
          <p:spPr>
            <a:xfrm>
              <a:off x="3504762" y="5445216"/>
              <a:ext cx="3875928" cy="375356"/>
            </a:xfrm>
            <a:custGeom>
              <a:rect b="b" l="l" r="r" t="t"/>
              <a:pathLst>
                <a:path extrusionOk="0" h="6552362" w="3875928">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grpSp>
        <p:nvGrpSpPr>
          <p:cNvPr id="4801" name="Google Shape;4801;p57"/>
          <p:cNvGrpSpPr/>
          <p:nvPr/>
        </p:nvGrpSpPr>
        <p:grpSpPr>
          <a:xfrm>
            <a:off x="1750742" y="5112121"/>
            <a:ext cx="1641327" cy="338554"/>
            <a:chOff x="1750742" y="5112121"/>
            <a:chExt cx="1641327" cy="338554"/>
          </a:xfrm>
        </p:grpSpPr>
        <p:cxnSp>
          <p:nvCxnSpPr>
            <p:cNvPr id="4802" name="Google Shape;4802;p57"/>
            <p:cNvCxnSpPr/>
            <p:nvPr/>
          </p:nvCxnSpPr>
          <p:spPr>
            <a:xfrm rot="10800000">
              <a:off x="1750742" y="5290443"/>
              <a:ext cx="1641327" cy="0"/>
            </a:xfrm>
            <a:prstGeom prst="straightConnector1">
              <a:avLst/>
            </a:prstGeom>
            <a:noFill/>
            <a:ln cap="flat" cmpd="sng" w="9525">
              <a:solidFill>
                <a:schemeClr val="accent1"/>
              </a:solidFill>
              <a:prstDash val="solid"/>
              <a:miter lim="800000"/>
              <a:headEnd len="sm" w="sm" type="none"/>
              <a:tailEnd len="med" w="med" type="triangle"/>
            </a:ln>
          </p:spPr>
        </p:cxnSp>
        <p:grpSp>
          <p:nvGrpSpPr>
            <p:cNvPr id="4803" name="Google Shape;4803;p57"/>
            <p:cNvGrpSpPr/>
            <p:nvPr/>
          </p:nvGrpSpPr>
          <p:grpSpPr>
            <a:xfrm>
              <a:off x="2136070" y="5112121"/>
              <a:ext cx="459104" cy="338554"/>
              <a:chOff x="2709565" y="5090498"/>
              <a:chExt cx="459104" cy="338554"/>
            </a:xfrm>
          </p:grpSpPr>
          <p:sp>
            <p:nvSpPr>
              <p:cNvPr id="4804" name="Google Shape;4804;p57"/>
              <p:cNvSpPr/>
              <p:nvPr/>
            </p:nvSpPr>
            <p:spPr>
              <a:xfrm>
                <a:off x="2785241" y="5146384"/>
                <a:ext cx="252731" cy="22746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05" name="Google Shape;4805;p57"/>
              <p:cNvSpPr txBox="1"/>
              <p:nvPr/>
            </p:nvSpPr>
            <p:spPr>
              <a:xfrm>
                <a:off x="2709565" y="5090498"/>
                <a:ext cx="45910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O</a:t>
                </a:r>
                <a:r>
                  <a:rPr baseline="-25000" lang="en-US" sz="1600">
                    <a:solidFill>
                      <a:schemeClr val="dk1"/>
                    </a:solidFill>
                    <a:latin typeface="Calibri"/>
                    <a:ea typeface="Calibri"/>
                    <a:cs typeface="Calibri"/>
                    <a:sym typeface="Calibri"/>
                  </a:rPr>
                  <a:t>1</a:t>
                </a:r>
                <a:endParaRPr/>
              </a:p>
            </p:txBody>
          </p:sp>
        </p:grpSp>
      </p:grpSp>
      <p:sp>
        <p:nvSpPr>
          <p:cNvPr id="4806" name="Google Shape;4806;p57"/>
          <p:cNvSpPr/>
          <p:nvPr/>
        </p:nvSpPr>
        <p:spPr>
          <a:xfrm>
            <a:off x="2453226" y="5330278"/>
            <a:ext cx="252731" cy="22746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807" name="Google Shape;4807;p57"/>
          <p:cNvGrpSpPr/>
          <p:nvPr/>
        </p:nvGrpSpPr>
        <p:grpSpPr>
          <a:xfrm>
            <a:off x="1750742" y="5274392"/>
            <a:ext cx="1641172" cy="338554"/>
            <a:chOff x="1750742" y="5274392"/>
            <a:chExt cx="1641172" cy="338554"/>
          </a:xfrm>
        </p:grpSpPr>
        <p:cxnSp>
          <p:nvCxnSpPr>
            <p:cNvPr id="4808" name="Google Shape;4808;p57"/>
            <p:cNvCxnSpPr/>
            <p:nvPr/>
          </p:nvCxnSpPr>
          <p:spPr>
            <a:xfrm rot="10800000">
              <a:off x="1750742" y="5442843"/>
              <a:ext cx="1641172" cy="0"/>
            </a:xfrm>
            <a:prstGeom prst="straightConnector1">
              <a:avLst/>
            </a:prstGeom>
            <a:noFill/>
            <a:ln cap="flat" cmpd="sng" w="9525">
              <a:solidFill>
                <a:schemeClr val="accent1"/>
              </a:solidFill>
              <a:prstDash val="solid"/>
              <a:miter lim="800000"/>
              <a:headEnd len="sm" w="sm" type="none"/>
              <a:tailEnd len="med" w="med" type="triangle"/>
            </a:ln>
          </p:spPr>
        </p:cxnSp>
        <p:sp>
          <p:nvSpPr>
            <p:cNvPr id="4809" name="Google Shape;4809;p57"/>
            <p:cNvSpPr txBox="1"/>
            <p:nvPr/>
          </p:nvSpPr>
          <p:spPr>
            <a:xfrm>
              <a:off x="2384556" y="5274392"/>
              <a:ext cx="45910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O</a:t>
              </a:r>
              <a:r>
                <a:rPr baseline="-25000" lang="en-US" sz="1600">
                  <a:solidFill>
                    <a:schemeClr val="dk1"/>
                  </a:solidFill>
                  <a:latin typeface="Calibri"/>
                  <a:ea typeface="Calibri"/>
                  <a:cs typeface="Calibri"/>
                  <a:sym typeface="Calibri"/>
                </a:rPr>
                <a:t>2</a:t>
              </a:r>
              <a:endParaRPr/>
            </a:p>
          </p:txBody>
        </p:sp>
      </p:grpSp>
      <p:grpSp>
        <p:nvGrpSpPr>
          <p:cNvPr id="4810" name="Google Shape;4810;p57"/>
          <p:cNvGrpSpPr/>
          <p:nvPr/>
        </p:nvGrpSpPr>
        <p:grpSpPr>
          <a:xfrm>
            <a:off x="1750742" y="5500058"/>
            <a:ext cx="1644347" cy="338554"/>
            <a:chOff x="1750742" y="5500058"/>
            <a:chExt cx="1644347" cy="338554"/>
          </a:xfrm>
        </p:grpSpPr>
        <p:cxnSp>
          <p:nvCxnSpPr>
            <p:cNvPr id="4811" name="Google Shape;4811;p57"/>
            <p:cNvCxnSpPr/>
            <p:nvPr/>
          </p:nvCxnSpPr>
          <p:spPr>
            <a:xfrm rot="10800000">
              <a:off x="1750742" y="5670973"/>
              <a:ext cx="1644347" cy="0"/>
            </a:xfrm>
            <a:prstGeom prst="straightConnector1">
              <a:avLst/>
            </a:prstGeom>
            <a:noFill/>
            <a:ln cap="flat" cmpd="sng" w="9525">
              <a:solidFill>
                <a:schemeClr val="accent1"/>
              </a:solidFill>
              <a:prstDash val="solid"/>
              <a:miter lim="800000"/>
              <a:headEnd len="sm" w="sm" type="none"/>
              <a:tailEnd len="med" w="med" type="triangle"/>
            </a:ln>
          </p:spPr>
        </p:cxnSp>
        <p:sp>
          <p:nvSpPr>
            <p:cNvPr id="4812" name="Google Shape;4812;p57"/>
            <p:cNvSpPr txBox="1"/>
            <p:nvPr/>
          </p:nvSpPr>
          <p:spPr>
            <a:xfrm>
              <a:off x="2578111" y="5500058"/>
              <a:ext cx="45910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O</a:t>
              </a:r>
              <a:r>
                <a:rPr baseline="-25000" lang="en-US" sz="1600">
                  <a:solidFill>
                    <a:schemeClr val="dk1"/>
                  </a:solidFill>
                  <a:latin typeface="Calibri"/>
                  <a:ea typeface="Calibri"/>
                  <a:cs typeface="Calibri"/>
                  <a:sym typeface="Calibri"/>
                </a:rPr>
                <a:t>3</a:t>
              </a:r>
              <a:endParaRPr/>
            </a:p>
          </p:txBody>
        </p:sp>
      </p:grpSp>
      <p:grpSp>
        <p:nvGrpSpPr>
          <p:cNvPr id="4813" name="Google Shape;4813;p57"/>
          <p:cNvGrpSpPr/>
          <p:nvPr/>
        </p:nvGrpSpPr>
        <p:grpSpPr>
          <a:xfrm>
            <a:off x="1750742" y="5634943"/>
            <a:ext cx="1641326" cy="338554"/>
            <a:chOff x="1750742" y="5634943"/>
            <a:chExt cx="1641326" cy="338554"/>
          </a:xfrm>
        </p:grpSpPr>
        <p:cxnSp>
          <p:nvCxnSpPr>
            <p:cNvPr id="4814" name="Google Shape;4814;p57"/>
            <p:cNvCxnSpPr/>
            <p:nvPr/>
          </p:nvCxnSpPr>
          <p:spPr>
            <a:xfrm rot="10800000">
              <a:off x="1750742" y="5804632"/>
              <a:ext cx="1641326" cy="0"/>
            </a:xfrm>
            <a:prstGeom prst="straightConnector1">
              <a:avLst/>
            </a:prstGeom>
            <a:noFill/>
            <a:ln cap="flat" cmpd="sng" w="9525">
              <a:solidFill>
                <a:schemeClr val="accent1"/>
              </a:solidFill>
              <a:prstDash val="solid"/>
              <a:miter lim="800000"/>
              <a:headEnd len="sm" w="sm" type="none"/>
              <a:tailEnd len="med" w="med" type="triangle"/>
            </a:ln>
          </p:spPr>
        </p:cxnSp>
        <p:sp>
          <p:nvSpPr>
            <p:cNvPr id="4815" name="Google Shape;4815;p57"/>
            <p:cNvSpPr txBox="1"/>
            <p:nvPr/>
          </p:nvSpPr>
          <p:spPr>
            <a:xfrm>
              <a:off x="2779553" y="5634943"/>
              <a:ext cx="45910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O</a:t>
              </a:r>
              <a:r>
                <a:rPr baseline="-25000" lang="en-US" sz="1600">
                  <a:solidFill>
                    <a:schemeClr val="dk1"/>
                  </a:solidFill>
                  <a:latin typeface="Calibri"/>
                  <a:ea typeface="Calibri"/>
                  <a:cs typeface="Calibri"/>
                  <a:sym typeface="Calibri"/>
                </a:rPr>
                <a:t>4</a:t>
              </a:r>
              <a:endParaRPr/>
            </a:p>
          </p:txBody>
        </p:sp>
      </p:grpSp>
      <p:sp>
        <p:nvSpPr>
          <p:cNvPr id="4816" name="Google Shape;4816;p57"/>
          <p:cNvSpPr/>
          <p:nvPr/>
        </p:nvSpPr>
        <p:spPr>
          <a:xfrm>
            <a:off x="8624002" y="5214579"/>
            <a:ext cx="892097" cy="110302"/>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17" name="Google Shape;4817;p57"/>
          <p:cNvSpPr/>
          <p:nvPr/>
        </p:nvSpPr>
        <p:spPr>
          <a:xfrm>
            <a:off x="8624002" y="5303700"/>
            <a:ext cx="892097" cy="110302"/>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18" name="Google Shape;4818;p57"/>
          <p:cNvSpPr/>
          <p:nvPr/>
        </p:nvSpPr>
        <p:spPr>
          <a:xfrm>
            <a:off x="8620344" y="5425404"/>
            <a:ext cx="892097" cy="110302"/>
          </a:xfrm>
          <a:prstGeom prst="rect">
            <a:avLst/>
          </a:prstGeom>
          <a:solidFill>
            <a:srgbClr val="703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19" name="Google Shape;4819;p57"/>
          <p:cNvSpPr txBox="1"/>
          <p:nvPr/>
        </p:nvSpPr>
        <p:spPr>
          <a:xfrm>
            <a:off x="8322039" y="2665582"/>
            <a:ext cx="25605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object data requested</a:t>
            </a:r>
            <a:endParaRPr/>
          </a:p>
        </p:txBody>
      </p:sp>
      <p:sp>
        <p:nvSpPr>
          <p:cNvPr id="4820" name="Google Shape;4820;p57"/>
          <p:cNvSpPr/>
          <p:nvPr/>
        </p:nvSpPr>
        <p:spPr>
          <a:xfrm>
            <a:off x="7955470" y="4068021"/>
            <a:ext cx="596846" cy="369332"/>
          </a:xfrm>
          <a:prstGeom prst="left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21" name="Google Shape;4821;p57"/>
          <p:cNvSpPr/>
          <p:nvPr/>
        </p:nvSpPr>
        <p:spPr>
          <a:xfrm>
            <a:off x="10065868" y="3696565"/>
            <a:ext cx="394800" cy="22746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4822" name="Google Shape;4822;p57"/>
          <p:cNvSpPr txBox="1"/>
          <p:nvPr/>
        </p:nvSpPr>
        <p:spPr>
          <a:xfrm>
            <a:off x="9706653" y="3898744"/>
            <a:ext cx="71718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a:t>
            </a:r>
            <a:r>
              <a:rPr baseline="-25000" lang="en-US" sz="2400">
                <a:solidFill>
                  <a:schemeClr val="dk1"/>
                </a:solidFill>
                <a:latin typeface="Calibri"/>
                <a:ea typeface="Calibri"/>
                <a:cs typeface="Calibri"/>
                <a:sym typeface="Calibri"/>
              </a:rPr>
              <a:t>1</a:t>
            </a:r>
            <a:endParaRPr/>
          </a:p>
        </p:txBody>
      </p:sp>
      <p:sp>
        <p:nvSpPr>
          <p:cNvPr id="4823" name="Google Shape;4823;p57"/>
          <p:cNvSpPr/>
          <p:nvPr/>
        </p:nvSpPr>
        <p:spPr>
          <a:xfrm>
            <a:off x="10303411" y="3858836"/>
            <a:ext cx="394800" cy="22746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4824" name="Google Shape;4824;p57"/>
          <p:cNvSpPr txBox="1"/>
          <p:nvPr/>
        </p:nvSpPr>
        <p:spPr>
          <a:xfrm>
            <a:off x="9717406" y="4747954"/>
            <a:ext cx="71718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a:t>
            </a:r>
            <a:r>
              <a:rPr baseline="-25000" lang="en-US" sz="2400">
                <a:solidFill>
                  <a:schemeClr val="dk1"/>
                </a:solidFill>
                <a:latin typeface="Calibri"/>
                <a:ea typeface="Calibri"/>
                <a:cs typeface="Calibri"/>
                <a:sym typeface="Calibri"/>
              </a:rPr>
              <a:t>2</a:t>
            </a:r>
            <a:endParaRPr/>
          </a:p>
        </p:txBody>
      </p:sp>
      <p:sp>
        <p:nvSpPr>
          <p:cNvPr id="4825" name="Google Shape;4825;p57"/>
          <p:cNvSpPr txBox="1"/>
          <p:nvPr/>
        </p:nvSpPr>
        <p:spPr>
          <a:xfrm>
            <a:off x="9717374" y="5101897"/>
            <a:ext cx="71718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a:t>
            </a:r>
            <a:r>
              <a:rPr baseline="-25000" lang="en-US" sz="2400">
                <a:solidFill>
                  <a:schemeClr val="dk1"/>
                </a:solidFill>
                <a:latin typeface="Calibri"/>
                <a:ea typeface="Calibri"/>
                <a:cs typeface="Calibri"/>
                <a:sym typeface="Calibri"/>
              </a:rPr>
              <a:t>3</a:t>
            </a:r>
            <a:endParaRPr/>
          </a:p>
        </p:txBody>
      </p:sp>
      <p:sp>
        <p:nvSpPr>
          <p:cNvPr id="4826" name="Google Shape;4826;p57"/>
          <p:cNvSpPr txBox="1"/>
          <p:nvPr/>
        </p:nvSpPr>
        <p:spPr>
          <a:xfrm>
            <a:off x="9722211" y="5425404"/>
            <a:ext cx="71718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a:t>
            </a:r>
            <a:r>
              <a:rPr baseline="-25000" lang="en-US" sz="2400">
                <a:solidFill>
                  <a:schemeClr val="dk1"/>
                </a:solidFill>
                <a:latin typeface="Calibri"/>
                <a:ea typeface="Calibri"/>
                <a:cs typeface="Calibri"/>
                <a:sym typeface="Calibri"/>
              </a:rPr>
              <a:t>4</a:t>
            </a:r>
            <a:endParaRPr/>
          </a:p>
        </p:txBody>
      </p:sp>
      <p:cxnSp>
        <p:nvCxnSpPr>
          <p:cNvPr id="4827" name="Google Shape;4827;p57"/>
          <p:cNvCxnSpPr/>
          <p:nvPr/>
        </p:nvCxnSpPr>
        <p:spPr>
          <a:xfrm>
            <a:off x="9583543" y="5324881"/>
            <a:ext cx="186184" cy="0"/>
          </a:xfrm>
          <a:prstGeom prst="straightConnector1">
            <a:avLst/>
          </a:prstGeom>
          <a:noFill/>
          <a:ln cap="flat" cmpd="sng" w="9525">
            <a:solidFill>
              <a:schemeClr val="dk1"/>
            </a:solidFill>
            <a:prstDash val="solid"/>
            <a:miter lim="800000"/>
            <a:headEnd len="sm" w="sm" type="none"/>
            <a:tailEnd len="sm" w="sm" type="none"/>
          </a:ln>
        </p:spPr>
      </p:cxnSp>
      <p:cxnSp>
        <p:nvCxnSpPr>
          <p:cNvPr id="4828" name="Google Shape;4828;p57"/>
          <p:cNvCxnSpPr/>
          <p:nvPr/>
        </p:nvCxnSpPr>
        <p:spPr>
          <a:xfrm flipH="1" rot="10800000">
            <a:off x="9589060" y="5022530"/>
            <a:ext cx="180667" cy="145870"/>
          </a:xfrm>
          <a:prstGeom prst="straightConnector1">
            <a:avLst/>
          </a:prstGeom>
          <a:noFill/>
          <a:ln cap="flat" cmpd="sng" w="9525">
            <a:solidFill>
              <a:schemeClr val="dk1"/>
            </a:solidFill>
            <a:prstDash val="solid"/>
            <a:miter lim="800000"/>
            <a:headEnd len="sm" w="sm" type="none"/>
            <a:tailEnd len="sm" w="sm" type="none"/>
          </a:ln>
        </p:spPr>
      </p:cxnSp>
      <p:cxnSp>
        <p:nvCxnSpPr>
          <p:cNvPr id="4829" name="Google Shape;4829;p57"/>
          <p:cNvCxnSpPr/>
          <p:nvPr/>
        </p:nvCxnSpPr>
        <p:spPr>
          <a:xfrm>
            <a:off x="9593643" y="5502519"/>
            <a:ext cx="180667" cy="145870"/>
          </a:xfrm>
          <a:prstGeom prst="straightConnector1">
            <a:avLst/>
          </a:prstGeom>
          <a:noFill/>
          <a:ln cap="flat" cmpd="sng" w="9525">
            <a:solidFill>
              <a:schemeClr val="dk1"/>
            </a:solidFill>
            <a:prstDash val="solid"/>
            <a:miter lim="800000"/>
            <a:headEnd len="sm" w="sm" type="none"/>
            <a:tailEnd len="sm" w="sm" type="none"/>
          </a:ln>
        </p:spPr>
      </p:cxnSp>
      <p:sp>
        <p:nvSpPr>
          <p:cNvPr id="4830" name="Google Shape;4830;p57"/>
          <p:cNvSpPr txBox="1"/>
          <p:nvPr/>
        </p:nvSpPr>
        <p:spPr>
          <a:xfrm>
            <a:off x="2410244" y="6238081"/>
            <a:ext cx="8451975" cy="503308"/>
          </a:xfrm>
          <a:prstGeom prst="rect">
            <a:avLst/>
          </a:prstGeom>
          <a:noFill/>
          <a:ln>
            <a:noFill/>
          </a:ln>
        </p:spPr>
        <p:txBody>
          <a:bodyPr anchorCtr="0" anchor="t" bIns="45700" lIns="91425" spcFirstLastPara="1" rIns="91425" wrap="square" tIns="45700">
            <a:noAutofit/>
          </a:bodyPr>
          <a:lstStyle/>
          <a:p>
            <a:pPr indent="0" lvl="0" marL="130175" marR="0" rtl="0" algn="l">
              <a:lnSpc>
                <a:spcPct val="90000"/>
              </a:lnSpc>
              <a:spcBef>
                <a:spcPts val="0"/>
              </a:spcBef>
              <a:spcAft>
                <a:spcPts val="0"/>
              </a:spcAft>
              <a:buClr>
                <a:srgbClr val="0000A3"/>
              </a:buClr>
              <a:buSzPts val="2400"/>
              <a:buFont typeface="Noto Sans Symbols"/>
              <a:buNone/>
            </a:pPr>
            <a:r>
              <a:rPr i="1" lang="en-US" sz="2400">
                <a:solidFill>
                  <a:schemeClr val="dk1"/>
                </a:solidFill>
                <a:latin typeface="Calibri"/>
                <a:ea typeface="Calibri"/>
                <a:cs typeface="Calibri"/>
                <a:sym typeface="Calibri"/>
              </a:rPr>
              <a:t>objects delivered in order requested: O</a:t>
            </a:r>
            <a:r>
              <a:rPr baseline="-25000" i="1" lang="en-US" sz="2400">
                <a:solidFill>
                  <a:schemeClr val="dk1"/>
                </a:solidFill>
                <a:latin typeface="Calibri"/>
                <a:ea typeface="Calibri"/>
                <a:cs typeface="Calibri"/>
                <a:sym typeface="Calibri"/>
              </a:rPr>
              <a:t>2</a:t>
            </a:r>
            <a:r>
              <a:rPr i="1" lang="en-US" sz="2400">
                <a:solidFill>
                  <a:schemeClr val="dk1"/>
                </a:solidFill>
                <a:latin typeface="Calibri"/>
                <a:ea typeface="Calibri"/>
                <a:cs typeface="Calibri"/>
                <a:sym typeface="Calibri"/>
              </a:rPr>
              <a:t>, O</a:t>
            </a:r>
            <a:r>
              <a:rPr baseline="-25000" i="1" lang="en-US" sz="2400">
                <a:solidFill>
                  <a:schemeClr val="dk1"/>
                </a:solidFill>
                <a:latin typeface="Calibri"/>
                <a:ea typeface="Calibri"/>
                <a:cs typeface="Calibri"/>
                <a:sym typeface="Calibri"/>
              </a:rPr>
              <a:t>3</a:t>
            </a:r>
            <a:r>
              <a:rPr i="1" lang="en-US" sz="2400">
                <a:solidFill>
                  <a:schemeClr val="dk1"/>
                </a:solidFill>
                <a:latin typeface="Calibri"/>
                <a:ea typeface="Calibri"/>
                <a:cs typeface="Calibri"/>
                <a:sym typeface="Calibri"/>
              </a:rPr>
              <a:t>, O</a:t>
            </a:r>
            <a:r>
              <a:rPr baseline="-25000" i="1" lang="en-US" sz="2400">
                <a:solidFill>
                  <a:schemeClr val="dk1"/>
                </a:solidFill>
                <a:latin typeface="Calibri"/>
                <a:ea typeface="Calibri"/>
                <a:cs typeface="Calibri"/>
                <a:sym typeface="Calibri"/>
              </a:rPr>
              <a:t>4</a:t>
            </a:r>
            <a:r>
              <a:rPr i="1" lang="en-US" sz="2400">
                <a:solidFill>
                  <a:schemeClr val="dk1"/>
                </a:solidFill>
                <a:latin typeface="Calibri"/>
                <a:ea typeface="Calibri"/>
                <a:cs typeface="Calibri"/>
                <a:sym typeface="Calibri"/>
              </a:rPr>
              <a:t> wait behind O</a:t>
            </a:r>
            <a:r>
              <a:rPr baseline="-25000" i="1" lang="en-US" sz="2400">
                <a:solidFill>
                  <a:schemeClr val="dk1"/>
                </a:solidFill>
                <a:latin typeface="Calibri"/>
                <a:ea typeface="Calibri"/>
                <a:cs typeface="Calibri"/>
                <a:sym typeface="Calibri"/>
              </a:rPr>
              <a:t>1</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nvGrpSpPr>
          <p:cNvPr id="4831" name="Google Shape;4831;p57"/>
          <p:cNvGrpSpPr/>
          <p:nvPr/>
        </p:nvGrpSpPr>
        <p:grpSpPr>
          <a:xfrm>
            <a:off x="3400914" y="5195255"/>
            <a:ext cx="4029070" cy="477315"/>
            <a:chOff x="3400914" y="5195255"/>
            <a:chExt cx="4029070" cy="477315"/>
          </a:xfrm>
        </p:grpSpPr>
        <p:cxnSp>
          <p:nvCxnSpPr>
            <p:cNvPr id="4832" name="Google Shape;4832;p57"/>
            <p:cNvCxnSpPr/>
            <p:nvPr/>
          </p:nvCxnSpPr>
          <p:spPr>
            <a:xfrm flipH="1">
              <a:off x="3400914" y="5403102"/>
              <a:ext cx="4029070" cy="269468"/>
            </a:xfrm>
            <a:prstGeom prst="straightConnector1">
              <a:avLst/>
            </a:prstGeom>
            <a:noFill/>
            <a:ln cap="flat" cmpd="sng" w="9525">
              <a:solidFill>
                <a:schemeClr val="dk1"/>
              </a:solidFill>
              <a:prstDash val="solid"/>
              <a:miter lim="800000"/>
              <a:headEnd len="sm" w="sm" type="none"/>
              <a:tailEnd len="med" w="med" type="triangle"/>
            </a:ln>
          </p:spPr>
        </p:cxnSp>
        <p:sp>
          <p:nvSpPr>
            <p:cNvPr id="4833" name="Google Shape;4833;p57"/>
            <p:cNvSpPr/>
            <p:nvPr/>
          </p:nvSpPr>
          <p:spPr>
            <a:xfrm>
              <a:off x="3520812" y="5195255"/>
              <a:ext cx="3866473" cy="468804"/>
            </a:xfrm>
            <a:custGeom>
              <a:rect b="b" l="l" r="r" t="t"/>
              <a:pathLst>
                <a:path extrusionOk="0" h="468804" w="3866473">
                  <a:moveTo>
                    <a:pt x="0" y="264573"/>
                  </a:moveTo>
                  <a:lnTo>
                    <a:pt x="0" y="468804"/>
                  </a:lnTo>
                  <a:lnTo>
                    <a:pt x="3866473" y="204232"/>
                  </a:lnTo>
                  <a:lnTo>
                    <a:pt x="3861832" y="0"/>
                  </a:lnTo>
                  <a:lnTo>
                    <a:pt x="0" y="264573"/>
                  </a:lnTo>
                  <a:close/>
                </a:path>
              </a:pathLst>
            </a:cu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834" name="Google Shape;4834;p5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2"/>
                                        </p:tgtEl>
                                        <p:attrNameLst>
                                          <p:attrName>style.visibility</p:attrName>
                                        </p:attrNameLst>
                                      </p:cBhvr>
                                      <p:to>
                                        <p:strVal val="visible"/>
                                      </p:to>
                                    </p:set>
                                    <p:animEffect filter="fade" transition="in">
                                      <p:cBhvr>
                                        <p:cTn dur="500"/>
                                        <p:tgtEl>
                                          <p:spTgt spid="47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01"/>
                                        </p:tgtEl>
                                        <p:attrNameLst>
                                          <p:attrName>style.visibility</p:attrName>
                                        </p:attrNameLst>
                                      </p:cBhvr>
                                      <p:to>
                                        <p:strVal val="visible"/>
                                      </p:to>
                                    </p:set>
                                    <p:animEffect filter="fade" transition="in">
                                      <p:cBhvr>
                                        <p:cTn dur="500"/>
                                        <p:tgtEl>
                                          <p:spTgt spid="480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95"/>
                                        </p:tgtEl>
                                        <p:attrNameLst>
                                          <p:attrName>style.visibility</p:attrName>
                                        </p:attrNameLst>
                                      </p:cBhvr>
                                      <p:to>
                                        <p:strVal val="visible"/>
                                      </p:to>
                                    </p:set>
                                    <p:animEffect filter="fade" transition="in">
                                      <p:cBhvr>
                                        <p:cTn dur="500"/>
                                        <p:tgtEl>
                                          <p:spTgt spid="479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807"/>
                                        </p:tgtEl>
                                        <p:attrNameLst>
                                          <p:attrName>style.visibility</p:attrName>
                                        </p:attrNameLst>
                                      </p:cBhvr>
                                      <p:to>
                                        <p:strVal val="visible"/>
                                      </p:to>
                                    </p:set>
                                    <p:animEffect filter="fade" transition="in">
                                      <p:cBhvr>
                                        <p:cTn dur="500"/>
                                        <p:tgtEl>
                                          <p:spTgt spid="480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831"/>
                                        </p:tgtEl>
                                        <p:attrNameLst>
                                          <p:attrName>style.visibility</p:attrName>
                                        </p:attrNameLst>
                                      </p:cBhvr>
                                      <p:to>
                                        <p:strVal val="visible"/>
                                      </p:to>
                                    </p:set>
                                    <p:animEffect filter="fade" transition="in">
                                      <p:cBhvr>
                                        <p:cTn dur="500"/>
                                        <p:tgtEl>
                                          <p:spTgt spid="4831"/>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810"/>
                                        </p:tgtEl>
                                        <p:attrNameLst>
                                          <p:attrName>style.visibility</p:attrName>
                                        </p:attrNameLst>
                                      </p:cBhvr>
                                      <p:to>
                                        <p:strVal val="visible"/>
                                      </p:to>
                                    </p:set>
                                    <p:animEffect filter="fade" transition="in">
                                      <p:cBhvr>
                                        <p:cTn dur="500"/>
                                        <p:tgtEl>
                                          <p:spTgt spid="481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798"/>
                                        </p:tgtEl>
                                        <p:attrNameLst>
                                          <p:attrName>style.visibility</p:attrName>
                                        </p:attrNameLst>
                                      </p:cBhvr>
                                      <p:to>
                                        <p:strVal val="visible"/>
                                      </p:to>
                                    </p:set>
                                    <p:animEffect filter="fade" transition="in">
                                      <p:cBhvr>
                                        <p:cTn dur="500"/>
                                        <p:tgtEl>
                                          <p:spTgt spid="4798"/>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813"/>
                                        </p:tgtEl>
                                        <p:attrNameLst>
                                          <p:attrName>style.visibility</p:attrName>
                                        </p:attrNameLst>
                                      </p:cBhvr>
                                      <p:to>
                                        <p:strVal val="visible"/>
                                      </p:to>
                                    </p:set>
                                    <p:animEffect filter="fade" transition="in">
                                      <p:cBhvr>
                                        <p:cTn dur="500"/>
                                        <p:tgtEl>
                                          <p:spTgt spid="48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0"/>
                                        </p:tgtEl>
                                        <p:attrNameLst>
                                          <p:attrName>style.visibility</p:attrName>
                                        </p:attrNameLst>
                                      </p:cBhvr>
                                      <p:to>
                                        <p:strVal val="visible"/>
                                      </p:to>
                                    </p:set>
                                    <p:animEffect filter="fade" transition="in">
                                      <p:cBhvr>
                                        <p:cTn dur="500"/>
                                        <p:tgtEl>
                                          <p:spTgt spid="48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9" name="Shape 4839"/>
        <p:cNvGrpSpPr/>
        <p:nvPr/>
      </p:nvGrpSpPr>
      <p:grpSpPr>
        <a:xfrm>
          <a:off x="0" y="0"/>
          <a:ext cx="0" cy="0"/>
          <a:chOff x="0" y="0"/>
          <a:chExt cx="0" cy="0"/>
        </a:xfrm>
      </p:grpSpPr>
      <p:sp>
        <p:nvSpPr>
          <p:cNvPr id="4840" name="Google Shape;4840;p58"/>
          <p:cNvSpPr txBox="1"/>
          <p:nvPr>
            <p:ph type="title"/>
          </p:nvPr>
        </p:nvSpPr>
        <p:spPr>
          <a:xfrm>
            <a:off x="798691" y="37987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HTTP/2: mitigating HOL blocking</a:t>
            </a:r>
            <a:endParaRPr sz="4400"/>
          </a:p>
        </p:txBody>
      </p:sp>
      <p:sp>
        <p:nvSpPr>
          <p:cNvPr id="4841" name="Google Shape;4841;p58"/>
          <p:cNvSpPr txBox="1"/>
          <p:nvPr/>
        </p:nvSpPr>
        <p:spPr>
          <a:xfrm>
            <a:off x="798691" y="1274501"/>
            <a:ext cx="11117107" cy="503308"/>
          </a:xfrm>
          <a:prstGeom prst="rect">
            <a:avLst/>
          </a:prstGeom>
          <a:noFill/>
          <a:ln>
            <a:noFill/>
          </a:ln>
        </p:spPr>
        <p:txBody>
          <a:bodyPr anchorCtr="0" anchor="t" bIns="45700" lIns="91425" spcFirstLastPara="1" rIns="91425" wrap="square" tIns="45700">
            <a:noAutofit/>
          </a:bodyPr>
          <a:lstStyle/>
          <a:p>
            <a:pPr indent="0" lvl="0" marL="130175" marR="0" rtl="0" algn="l">
              <a:lnSpc>
                <a:spcPct val="90000"/>
              </a:lnSpc>
              <a:spcBef>
                <a:spcPts val="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HTTP/2: objects divided into frames, frame transmission interleaved</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842" name="Google Shape;4842;p58"/>
          <p:cNvSpPr txBox="1"/>
          <p:nvPr/>
        </p:nvSpPr>
        <p:spPr>
          <a:xfrm>
            <a:off x="2900584" y="2902508"/>
            <a:ext cx="777875"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CC0000"/>
              </a:buClr>
              <a:buSzPts val="2000"/>
              <a:buFont typeface="Calibri"/>
              <a:buNone/>
            </a:pPr>
            <a:r>
              <a:rPr lang="en-US" sz="2000">
                <a:solidFill>
                  <a:srgbClr val="CC0000"/>
                </a:solidFill>
                <a:latin typeface="Calibri"/>
                <a:ea typeface="Calibri"/>
                <a:cs typeface="Calibri"/>
                <a:sym typeface="Calibri"/>
              </a:rPr>
              <a:t>client</a:t>
            </a:r>
            <a:endParaRPr/>
          </a:p>
        </p:txBody>
      </p:sp>
      <p:sp>
        <p:nvSpPr>
          <p:cNvPr id="4843" name="Google Shape;4843;p58"/>
          <p:cNvSpPr txBox="1"/>
          <p:nvPr/>
        </p:nvSpPr>
        <p:spPr>
          <a:xfrm>
            <a:off x="7029972" y="1892257"/>
            <a:ext cx="836959"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CC0000"/>
              </a:buClr>
              <a:buSzPts val="2000"/>
              <a:buFont typeface="Calibri"/>
              <a:buNone/>
            </a:pPr>
            <a:r>
              <a:rPr lang="en-US" sz="2000">
                <a:solidFill>
                  <a:srgbClr val="CC0000"/>
                </a:solidFill>
                <a:latin typeface="Calibri"/>
                <a:ea typeface="Calibri"/>
                <a:cs typeface="Calibri"/>
                <a:sym typeface="Calibri"/>
              </a:rPr>
              <a:t>server</a:t>
            </a:r>
            <a:endParaRPr/>
          </a:p>
        </p:txBody>
      </p:sp>
      <p:grpSp>
        <p:nvGrpSpPr>
          <p:cNvPr id="4844" name="Google Shape;4844;p58"/>
          <p:cNvGrpSpPr/>
          <p:nvPr/>
        </p:nvGrpSpPr>
        <p:grpSpPr>
          <a:xfrm>
            <a:off x="7234967" y="2262203"/>
            <a:ext cx="422275" cy="685800"/>
            <a:chOff x="4140" y="429"/>
            <a:chExt cx="1425" cy="2396"/>
          </a:xfrm>
        </p:grpSpPr>
        <p:sp>
          <p:nvSpPr>
            <p:cNvPr id="4845" name="Google Shape;4845;p5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6" name="Google Shape;4846;p58"/>
            <p:cNvSpPr/>
            <p:nvPr/>
          </p:nvSpPr>
          <p:spPr>
            <a:xfrm>
              <a:off x="4204" y="429"/>
              <a:ext cx="1050"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847" name="Google Shape;4847;p5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8" name="Google Shape;4848;p5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9" name="Google Shape;4849;p58"/>
            <p:cNvSpPr/>
            <p:nvPr/>
          </p:nvSpPr>
          <p:spPr>
            <a:xfrm>
              <a:off x="4210" y="695"/>
              <a:ext cx="600"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4850" name="Google Shape;4850;p58"/>
            <p:cNvGrpSpPr/>
            <p:nvPr/>
          </p:nvGrpSpPr>
          <p:grpSpPr>
            <a:xfrm>
              <a:off x="4751" y="668"/>
              <a:ext cx="579" cy="144"/>
              <a:chOff x="616" y="2568"/>
              <a:chExt cx="722" cy="138"/>
            </a:xfrm>
          </p:grpSpPr>
          <p:sp>
            <p:nvSpPr>
              <p:cNvPr id="4851" name="Google Shape;4851;p58"/>
              <p:cNvSpPr/>
              <p:nvPr/>
            </p:nvSpPr>
            <p:spPr>
              <a:xfrm>
                <a:off x="616" y="2568"/>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852" name="Google Shape;4852;p58"/>
              <p:cNvSpPr/>
              <p:nvPr/>
            </p:nvSpPr>
            <p:spPr>
              <a:xfrm>
                <a:off x="630" y="2583"/>
                <a:ext cx="689"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4853" name="Google Shape;4853;p58"/>
            <p:cNvSpPr/>
            <p:nvPr/>
          </p:nvSpPr>
          <p:spPr>
            <a:xfrm>
              <a:off x="4226" y="1017"/>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4854" name="Google Shape;4854;p58"/>
            <p:cNvGrpSpPr/>
            <p:nvPr/>
          </p:nvGrpSpPr>
          <p:grpSpPr>
            <a:xfrm>
              <a:off x="4745" y="995"/>
              <a:ext cx="584" cy="133"/>
              <a:chOff x="612" y="2569"/>
              <a:chExt cx="729" cy="138"/>
            </a:xfrm>
          </p:grpSpPr>
          <p:sp>
            <p:nvSpPr>
              <p:cNvPr id="4855" name="Google Shape;4855;p58"/>
              <p:cNvSpPr/>
              <p:nvPr/>
            </p:nvSpPr>
            <p:spPr>
              <a:xfrm>
                <a:off x="612" y="2569"/>
                <a:ext cx="72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856" name="Google Shape;4856;p58"/>
              <p:cNvSpPr/>
              <p:nvPr/>
            </p:nvSpPr>
            <p:spPr>
              <a:xfrm>
                <a:off x="625"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4857" name="Google Shape;4857;p58"/>
            <p:cNvSpPr/>
            <p:nvPr/>
          </p:nvSpPr>
          <p:spPr>
            <a:xfrm>
              <a:off x="4215" y="1355"/>
              <a:ext cx="600"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858" name="Google Shape;4858;p58"/>
            <p:cNvSpPr/>
            <p:nvPr/>
          </p:nvSpPr>
          <p:spPr>
            <a:xfrm>
              <a:off x="4226" y="1655"/>
              <a:ext cx="600"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4859" name="Google Shape;4859;p58"/>
            <p:cNvGrpSpPr/>
            <p:nvPr/>
          </p:nvGrpSpPr>
          <p:grpSpPr>
            <a:xfrm>
              <a:off x="4735" y="1627"/>
              <a:ext cx="584" cy="150"/>
              <a:chOff x="614" y="2568"/>
              <a:chExt cx="727" cy="138"/>
            </a:xfrm>
          </p:grpSpPr>
          <p:sp>
            <p:nvSpPr>
              <p:cNvPr id="4860" name="Google Shape;4860;p58"/>
              <p:cNvSpPr/>
              <p:nvPr/>
            </p:nvSpPr>
            <p:spPr>
              <a:xfrm>
                <a:off x="614" y="2568"/>
                <a:ext cx="72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861" name="Google Shape;4861;p58"/>
              <p:cNvSpPr/>
              <p:nvPr/>
            </p:nvSpPr>
            <p:spPr>
              <a:xfrm>
                <a:off x="627" y="2583"/>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4862" name="Google Shape;4862;p5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863" name="Google Shape;4863;p58"/>
            <p:cNvGrpSpPr/>
            <p:nvPr/>
          </p:nvGrpSpPr>
          <p:grpSpPr>
            <a:xfrm>
              <a:off x="4740" y="1327"/>
              <a:ext cx="579" cy="139"/>
              <a:chOff x="615" y="2568"/>
              <a:chExt cx="721" cy="139"/>
            </a:xfrm>
          </p:grpSpPr>
          <p:sp>
            <p:nvSpPr>
              <p:cNvPr id="4864" name="Google Shape;4864;p58"/>
              <p:cNvSpPr/>
              <p:nvPr/>
            </p:nvSpPr>
            <p:spPr>
              <a:xfrm>
                <a:off x="615" y="2568"/>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865" name="Google Shape;4865;p58"/>
              <p:cNvSpPr/>
              <p:nvPr/>
            </p:nvSpPr>
            <p:spPr>
              <a:xfrm>
                <a:off x="629" y="2585"/>
                <a:ext cx="687"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4866" name="Google Shape;4866;p58"/>
            <p:cNvSpPr/>
            <p:nvPr/>
          </p:nvSpPr>
          <p:spPr>
            <a:xfrm>
              <a:off x="5249" y="429"/>
              <a:ext cx="70" cy="2291"/>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867" name="Google Shape;4867;p5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8" name="Google Shape;4868;p5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9" name="Google Shape;4869;p58"/>
            <p:cNvSpPr/>
            <p:nvPr/>
          </p:nvSpPr>
          <p:spPr>
            <a:xfrm>
              <a:off x="5517" y="2609"/>
              <a:ext cx="48" cy="100"/>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870" name="Google Shape;4870;p5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1" name="Google Shape;4871;p58"/>
            <p:cNvSpPr/>
            <p:nvPr/>
          </p:nvSpPr>
          <p:spPr>
            <a:xfrm>
              <a:off x="4140" y="2675"/>
              <a:ext cx="1200"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872" name="Google Shape;4872;p58"/>
            <p:cNvSpPr/>
            <p:nvPr/>
          </p:nvSpPr>
          <p:spPr>
            <a:xfrm>
              <a:off x="4204" y="2709"/>
              <a:ext cx="107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873" name="Google Shape;4873;p58"/>
            <p:cNvSpPr/>
            <p:nvPr/>
          </p:nvSpPr>
          <p:spPr>
            <a:xfrm>
              <a:off x="4306" y="2381"/>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874" name="Google Shape;4874;p58"/>
            <p:cNvSpPr/>
            <p:nvPr/>
          </p:nvSpPr>
          <p:spPr>
            <a:xfrm>
              <a:off x="4488" y="2381"/>
              <a:ext cx="155"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Calibri"/>
                <a:ea typeface="Calibri"/>
                <a:cs typeface="Calibri"/>
                <a:sym typeface="Calibri"/>
              </a:endParaRPr>
            </a:p>
          </p:txBody>
        </p:sp>
        <p:sp>
          <p:nvSpPr>
            <p:cNvPr id="4875" name="Google Shape;4875;p58"/>
            <p:cNvSpPr/>
            <p:nvPr/>
          </p:nvSpPr>
          <p:spPr>
            <a:xfrm>
              <a:off x="4660" y="2381"/>
              <a:ext cx="161"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876" name="Google Shape;4876;p58"/>
            <p:cNvSpPr/>
            <p:nvPr/>
          </p:nvSpPr>
          <p:spPr>
            <a:xfrm>
              <a:off x="5061" y="1838"/>
              <a:ext cx="86"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4877" name="Google Shape;4877;p58"/>
          <p:cNvGrpSpPr/>
          <p:nvPr/>
        </p:nvGrpSpPr>
        <p:grpSpPr>
          <a:xfrm>
            <a:off x="2885332" y="2291964"/>
            <a:ext cx="742950" cy="742950"/>
            <a:chOff x="-44" y="1473"/>
            <a:chExt cx="981" cy="1105"/>
          </a:xfrm>
        </p:grpSpPr>
        <p:pic>
          <p:nvPicPr>
            <p:cNvPr descr="desktop_computer_stylized_medium" id="4878" name="Google Shape;4878;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879" name="Google Shape;4879;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4880" name="Google Shape;4880;p58"/>
          <p:cNvCxnSpPr/>
          <p:nvPr/>
        </p:nvCxnSpPr>
        <p:spPr>
          <a:xfrm>
            <a:off x="3526536" y="2791484"/>
            <a:ext cx="3910012" cy="260743"/>
          </a:xfrm>
          <a:prstGeom prst="straightConnector1">
            <a:avLst/>
          </a:prstGeom>
          <a:noFill/>
          <a:ln cap="flat" cmpd="sng" w="9525">
            <a:solidFill>
              <a:schemeClr val="dk1"/>
            </a:solidFill>
            <a:prstDash val="solid"/>
            <a:miter lim="800000"/>
            <a:headEnd len="sm" w="sm" type="none"/>
            <a:tailEnd len="med" w="med" type="triangle"/>
          </a:ln>
        </p:spPr>
      </p:cxnSp>
      <p:sp>
        <p:nvSpPr>
          <p:cNvPr id="4881" name="Google Shape;4881;p58"/>
          <p:cNvSpPr txBox="1"/>
          <p:nvPr/>
        </p:nvSpPr>
        <p:spPr>
          <a:xfrm>
            <a:off x="6093263" y="2667596"/>
            <a:ext cx="89209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GET O</a:t>
            </a:r>
            <a:r>
              <a:rPr baseline="-25000" lang="en-US" sz="1600">
                <a:solidFill>
                  <a:schemeClr val="dk1"/>
                </a:solidFill>
                <a:latin typeface="Calibri"/>
                <a:ea typeface="Calibri"/>
                <a:cs typeface="Calibri"/>
                <a:sym typeface="Calibri"/>
              </a:rPr>
              <a:t>1</a:t>
            </a:r>
            <a:endParaRPr/>
          </a:p>
        </p:txBody>
      </p:sp>
      <p:sp>
        <p:nvSpPr>
          <p:cNvPr id="4882" name="Google Shape;4882;p58"/>
          <p:cNvSpPr txBox="1"/>
          <p:nvPr/>
        </p:nvSpPr>
        <p:spPr>
          <a:xfrm>
            <a:off x="5291796" y="2596769"/>
            <a:ext cx="89209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GET O</a:t>
            </a:r>
            <a:r>
              <a:rPr baseline="-25000" lang="en-US" sz="1600">
                <a:solidFill>
                  <a:schemeClr val="dk1"/>
                </a:solidFill>
                <a:latin typeface="Calibri"/>
                <a:ea typeface="Calibri"/>
                <a:cs typeface="Calibri"/>
                <a:sym typeface="Calibri"/>
              </a:rPr>
              <a:t>2</a:t>
            </a:r>
            <a:endParaRPr/>
          </a:p>
        </p:txBody>
      </p:sp>
      <p:sp>
        <p:nvSpPr>
          <p:cNvPr id="4883" name="Google Shape;4883;p58"/>
          <p:cNvSpPr txBox="1"/>
          <p:nvPr/>
        </p:nvSpPr>
        <p:spPr>
          <a:xfrm>
            <a:off x="4513773" y="2538104"/>
            <a:ext cx="89209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GET O</a:t>
            </a:r>
            <a:r>
              <a:rPr baseline="-25000" lang="en-US" sz="1600">
                <a:solidFill>
                  <a:schemeClr val="dk1"/>
                </a:solidFill>
                <a:latin typeface="Calibri"/>
                <a:ea typeface="Calibri"/>
                <a:cs typeface="Calibri"/>
                <a:sym typeface="Calibri"/>
              </a:rPr>
              <a:t>3</a:t>
            </a:r>
            <a:endParaRPr/>
          </a:p>
        </p:txBody>
      </p:sp>
      <p:sp>
        <p:nvSpPr>
          <p:cNvPr id="4884" name="Google Shape;4884;p58"/>
          <p:cNvSpPr txBox="1"/>
          <p:nvPr/>
        </p:nvSpPr>
        <p:spPr>
          <a:xfrm>
            <a:off x="3721264" y="2473869"/>
            <a:ext cx="89209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GET O</a:t>
            </a:r>
            <a:r>
              <a:rPr baseline="-25000" lang="en-US" sz="1600">
                <a:solidFill>
                  <a:schemeClr val="dk1"/>
                </a:solidFill>
                <a:latin typeface="Calibri"/>
                <a:ea typeface="Calibri"/>
                <a:cs typeface="Calibri"/>
                <a:sym typeface="Calibri"/>
              </a:rPr>
              <a:t>4</a:t>
            </a:r>
            <a:endParaRPr/>
          </a:p>
        </p:txBody>
      </p:sp>
      <p:cxnSp>
        <p:nvCxnSpPr>
          <p:cNvPr id="4885" name="Google Shape;4885;p58"/>
          <p:cNvCxnSpPr/>
          <p:nvPr/>
        </p:nvCxnSpPr>
        <p:spPr>
          <a:xfrm flipH="1">
            <a:off x="3347464" y="5534648"/>
            <a:ext cx="4093672" cy="275135"/>
          </a:xfrm>
          <a:prstGeom prst="straightConnector1">
            <a:avLst/>
          </a:prstGeom>
          <a:noFill/>
          <a:ln cap="flat" cmpd="sng" w="9525">
            <a:solidFill>
              <a:schemeClr val="dk1"/>
            </a:solidFill>
            <a:prstDash val="solid"/>
            <a:miter lim="800000"/>
            <a:headEnd len="sm" w="sm" type="none"/>
            <a:tailEnd len="med" w="med" type="triangle"/>
          </a:ln>
        </p:spPr>
      </p:cxnSp>
      <p:sp>
        <p:nvSpPr>
          <p:cNvPr id="4886" name="Google Shape;4886;p58"/>
          <p:cNvSpPr/>
          <p:nvPr/>
        </p:nvSpPr>
        <p:spPr>
          <a:xfrm>
            <a:off x="8620343" y="3108868"/>
            <a:ext cx="892098" cy="197132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87" name="Google Shape;4887;p58"/>
          <p:cNvSpPr/>
          <p:nvPr/>
        </p:nvSpPr>
        <p:spPr>
          <a:xfrm>
            <a:off x="8624001" y="5094824"/>
            <a:ext cx="892097" cy="11030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88" name="Google Shape;4888;p58"/>
          <p:cNvSpPr/>
          <p:nvPr/>
        </p:nvSpPr>
        <p:spPr>
          <a:xfrm>
            <a:off x="3486512" y="3835610"/>
            <a:ext cx="3867383" cy="1978529"/>
          </a:xfrm>
          <a:custGeom>
            <a:rect b="b" l="l" r="r" t="t"/>
            <a:pathLst>
              <a:path extrusionOk="0" h="1978529" w="3867383">
                <a:moveTo>
                  <a:pt x="3867383" y="0"/>
                </a:moveTo>
                <a:lnTo>
                  <a:pt x="411" y="273465"/>
                </a:lnTo>
                <a:cubicBezTo>
                  <a:pt x="1835" y="927218"/>
                  <a:pt x="-1013" y="1324776"/>
                  <a:pt x="411" y="1978529"/>
                </a:cubicBezTo>
                <a:lnTo>
                  <a:pt x="3856760" y="1718981"/>
                </a:lnTo>
                <a:cubicBezTo>
                  <a:pt x="3862689" y="443848"/>
                  <a:pt x="3861223" y="1457627"/>
                  <a:pt x="386738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89" name="Google Shape;4889;p58"/>
          <p:cNvSpPr/>
          <p:nvPr/>
        </p:nvSpPr>
        <p:spPr>
          <a:xfrm>
            <a:off x="3479865" y="3207657"/>
            <a:ext cx="3875928" cy="375356"/>
          </a:xfrm>
          <a:custGeom>
            <a:rect b="b" l="l" r="r" t="t"/>
            <a:pathLst>
              <a:path extrusionOk="0" h="6552362" w="3875928">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90" name="Google Shape;4890;p58"/>
          <p:cNvSpPr/>
          <p:nvPr/>
        </p:nvSpPr>
        <p:spPr>
          <a:xfrm>
            <a:off x="3479865" y="3336618"/>
            <a:ext cx="3875928" cy="375356"/>
          </a:xfrm>
          <a:custGeom>
            <a:rect b="b" l="l" r="r" t="t"/>
            <a:pathLst>
              <a:path extrusionOk="0" h="6552362" w="3875928">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91" name="Google Shape;4891;p58"/>
          <p:cNvSpPr/>
          <p:nvPr/>
        </p:nvSpPr>
        <p:spPr>
          <a:xfrm>
            <a:off x="3485129" y="3468086"/>
            <a:ext cx="3875928" cy="375356"/>
          </a:xfrm>
          <a:custGeom>
            <a:rect b="b" l="l" r="r" t="t"/>
            <a:pathLst>
              <a:path extrusionOk="0" h="6552362" w="3875928">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92" name="Google Shape;4892;p58"/>
          <p:cNvSpPr/>
          <p:nvPr/>
        </p:nvSpPr>
        <p:spPr>
          <a:xfrm>
            <a:off x="2231742" y="3441675"/>
            <a:ext cx="252731" cy="22746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893" name="Google Shape;4893;p58"/>
          <p:cNvGrpSpPr/>
          <p:nvPr/>
        </p:nvGrpSpPr>
        <p:grpSpPr>
          <a:xfrm>
            <a:off x="1770738" y="3385789"/>
            <a:ext cx="1641327" cy="338554"/>
            <a:chOff x="1770738" y="3385789"/>
            <a:chExt cx="1641327" cy="338554"/>
          </a:xfrm>
        </p:grpSpPr>
        <p:cxnSp>
          <p:nvCxnSpPr>
            <p:cNvPr id="4894" name="Google Shape;4894;p58"/>
            <p:cNvCxnSpPr/>
            <p:nvPr/>
          </p:nvCxnSpPr>
          <p:spPr>
            <a:xfrm rot="10800000">
              <a:off x="1770738" y="3564111"/>
              <a:ext cx="1641327" cy="0"/>
            </a:xfrm>
            <a:prstGeom prst="straightConnector1">
              <a:avLst/>
            </a:prstGeom>
            <a:noFill/>
            <a:ln cap="flat" cmpd="sng" w="9525">
              <a:solidFill>
                <a:schemeClr val="accent1"/>
              </a:solidFill>
              <a:prstDash val="solid"/>
              <a:miter lim="800000"/>
              <a:headEnd len="sm" w="sm" type="none"/>
              <a:tailEnd len="med" w="med" type="triangle"/>
            </a:ln>
          </p:spPr>
        </p:cxnSp>
        <p:sp>
          <p:nvSpPr>
            <p:cNvPr id="4895" name="Google Shape;4895;p58"/>
            <p:cNvSpPr txBox="1"/>
            <p:nvPr/>
          </p:nvSpPr>
          <p:spPr>
            <a:xfrm>
              <a:off x="2156066" y="3385789"/>
              <a:ext cx="45910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O</a:t>
              </a:r>
              <a:r>
                <a:rPr baseline="-25000" lang="en-US" sz="1600">
                  <a:solidFill>
                    <a:schemeClr val="dk1"/>
                  </a:solidFill>
                  <a:latin typeface="Calibri"/>
                  <a:ea typeface="Calibri"/>
                  <a:cs typeface="Calibri"/>
                  <a:sym typeface="Calibri"/>
                </a:rPr>
                <a:t>2</a:t>
              </a:r>
              <a:endParaRPr/>
            </a:p>
          </p:txBody>
        </p:sp>
      </p:grpSp>
      <p:sp>
        <p:nvSpPr>
          <p:cNvPr id="4896" name="Google Shape;4896;p58"/>
          <p:cNvSpPr/>
          <p:nvPr/>
        </p:nvSpPr>
        <p:spPr>
          <a:xfrm>
            <a:off x="2369264" y="3728151"/>
            <a:ext cx="252731" cy="22746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897" name="Google Shape;4897;p58"/>
          <p:cNvGrpSpPr/>
          <p:nvPr/>
        </p:nvGrpSpPr>
        <p:grpSpPr>
          <a:xfrm>
            <a:off x="1759658" y="3661763"/>
            <a:ext cx="1641172" cy="338554"/>
            <a:chOff x="1759658" y="3661763"/>
            <a:chExt cx="1641172" cy="338554"/>
          </a:xfrm>
        </p:grpSpPr>
        <p:cxnSp>
          <p:nvCxnSpPr>
            <p:cNvPr id="4898" name="Google Shape;4898;p58"/>
            <p:cNvCxnSpPr/>
            <p:nvPr/>
          </p:nvCxnSpPr>
          <p:spPr>
            <a:xfrm rot="10800000">
              <a:off x="1759658" y="3839649"/>
              <a:ext cx="1641172" cy="0"/>
            </a:xfrm>
            <a:prstGeom prst="straightConnector1">
              <a:avLst/>
            </a:prstGeom>
            <a:noFill/>
            <a:ln cap="flat" cmpd="sng" w="9525">
              <a:solidFill>
                <a:schemeClr val="accent1"/>
              </a:solidFill>
              <a:prstDash val="solid"/>
              <a:miter lim="800000"/>
              <a:headEnd len="sm" w="sm" type="none"/>
              <a:tailEnd len="med" w="med" type="triangle"/>
            </a:ln>
          </p:spPr>
        </p:cxnSp>
        <p:sp>
          <p:nvSpPr>
            <p:cNvPr id="4899" name="Google Shape;4899;p58"/>
            <p:cNvSpPr txBox="1"/>
            <p:nvPr/>
          </p:nvSpPr>
          <p:spPr>
            <a:xfrm>
              <a:off x="2315510" y="3661763"/>
              <a:ext cx="45910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O</a:t>
              </a:r>
              <a:r>
                <a:rPr baseline="-25000" lang="en-US" sz="1600">
                  <a:solidFill>
                    <a:schemeClr val="dk1"/>
                  </a:solidFill>
                  <a:latin typeface="Calibri"/>
                  <a:ea typeface="Calibri"/>
                  <a:cs typeface="Calibri"/>
                  <a:sym typeface="Calibri"/>
                </a:rPr>
                <a:t>4</a:t>
              </a:r>
              <a:endParaRPr/>
            </a:p>
          </p:txBody>
        </p:sp>
      </p:grpSp>
      <p:sp>
        <p:nvSpPr>
          <p:cNvPr id="4900" name="Google Shape;4900;p58"/>
          <p:cNvSpPr/>
          <p:nvPr/>
        </p:nvSpPr>
        <p:spPr>
          <a:xfrm>
            <a:off x="8624002" y="5214579"/>
            <a:ext cx="892097" cy="110302"/>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01" name="Google Shape;4901;p58"/>
          <p:cNvSpPr/>
          <p:nvPr/>
        </p:nvSpPr>
        <p:spPr>
          <a:xfrm>
            <a:off x="8624002" y="5303700"/>
            <a:ext cx="892097" cy="110302"/>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02" name="Google Shape;4902;p58"/>
          <p:cNvSpPr/>
          <p:nvPr/>
        </p:nvSpPr>
        <p:spPr>
          <a:xfrm>
            <a:off x="8620344" y="5425404"/>
            <a:ext cx="892097" cy="110302"/>
          </a:xfrm>
          <a:prstGeom prst="rect">
            <a:avLst/>
          </a:prstGeom>
          <a:solidFill>
            <a:srgbClr val="703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03" name="Google Shape;4903;p58"/>
          <p:cNvSpPr txBox="1"/>
          <p:nvPr/>
        </p:nvSpPr>
        <p:spPr>
          <a:xfrm>
            <a:off x="8345639" y="2644827"/>
            <a:ext cx="25605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object data requested</a:t>
            </a:r>
            <a:endParaRPr/>
          </a:p>
        </p:txBody>
      </p:sp>
      <p:sp>
        <p:nvSpPr>
          <p:cNvPr id="4904" name="Google Shape;4904;p58"/>
          <p:cNvSpPr/>
          <p:nvPr/>
        </p:nvSpPr>
        <p:spPr>
          <a:xfrm>
            <a:off x="7955470" y="4068021"/>
            <a:ext cx="596846" cy="369332"/>
          </a:xfrm>
          <a:prstGeom prst="left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05" name="Google Shape;4905;p58"/>
          <p:cNvSpPr txBox="1"/>
          <p:nvPr/>
        </p:nvSpPr>
        <p:spPr>
          <a:xfrm>
            <a:off x="9706653" y="3898744"/>
            <a:ext cx="71718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a:t>
            </a:r>
            <a:r>
              <a:rPr baseline="-25000" lang="en-US" sz="2400">
                <a:solidFill>
                  <a:schemeClr val="dk1"/>
                </a:solidFill>
                <a:latin typeface="Calibri"/>
                <a:ea typeface="Calibri"/>
                <a:cs typeface="Calibri"/>
                <a:sym typeface="Calibri"/>
              </a:rPr>
              <a:t>1</a:t>
            </a:r>
            <a:endParaRPr/>
          </a:p>
        </p:txBody>
      </p:sp>
      <p:sp>
        <p:nvSpPr>
          <p:cNvPr id="4906" name="Google Shape;4906;p58"/>
          <p:cNvSpPr/>
          <p:nvPr/>
        </p:nvSpPr>
        <p:spPr>
          <a:xfrm>
            <a:off x="10303411" y="3858836"/>
            <a:ext cx="394800" cy="22746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4907" name="Google Shape;4907;p58"/>
          <p:cNvSpPr txBox="1"/>
          <p:nvPr/>
        </p:nvSpPr>
        <p:spPr>
          <a:xfrm>
            <a:off x="9717406" y="4747954"/>
            <a:ext cx="71718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a:t>
            </a:r>
            <a:r>
              <a:rPr baseline="-25000" lang="en-US" sz="2400">
                <a:solidFill>
                  <a:schemeClr val="dk1"/>
                </a:solidFill>
                <a:latin typeface="Calibri"/>
                <a:ea typeface="Calibri"/>
                <a:cs typeface="Calibri"/>
                <a:sym typeface="Calibri"/>
              </a:rPr>
              <a:t>2</a:t>
            </a:r>
            <a:endParaRPr/>
          </a:p>
        </p:txBody>
      </p:sp>
      <p:sp>
        <p:nvSpPr>
          <p:cNvPr id="4908" name="Google Shape;4908;p58"/>
          <p:cNvSpPr txBox="1"/>
          <p:nvPr/>
        </p:nvSpPr>
        <p:spPr>
          <a:xfrm>
            <a:off x="9717374" y="5101897"/>
            <a:ext cx="71718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a:t>
            </a:r>
            <a:r>
              <a:rPr baseline="-25000" lang="en-US" sz="2400">
                <a:solidFill>
                  <a:schemeClr val="dk1"/>
                </a:solidFill>
                <a:latin typeface="Calibri"/>
                <a:ea typeface="Calibri"/>
                <a:cs typeface="Calibri"/>
                <a:sym typeface="Calibri"/>
              </a:rPr>
              <a:t>3</a:t>
            </a:r>
            <a:endParaRPr/>
          </a:p>
        </p:txBody>
      </p:sp>
      <p:sp>
        <p:nvSpPr>
          <p:cNvPr id="4909" name="Google Shape;4909;p58"/>
          <p:cNvSpPr txBox="1"/>
          <p:nvPr/>
        </p:nvSpPr>
        <p:spPr>
          <a:xfrm>
            <a:off x="9722211" y="5425404"/>
            <a:ext cx="71718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a:t>
            </a:r>
            <a:r>
              <a:rPr baseline="-25000" lang="en-US" sz="2400">
                <a:solidFill>
                  <a:schemeClr val="dk1"/>
                </a:solidFill>
                <a:latin typeface="Calibri"/>
                <a:ea typeface="Calibri"/>
                <a:cs typeface="Calibri"/>
                <a:sym typeface="Calibri"/>
              </a:rPr>
              <a:t>4</a:t>
            </a:r>
            <a:endParaRPr/>
          </a:p>
        </p:txBody>
      </p:sp>
      <p:cxnSp>
        <p:nvCxnSpPr>
          <p:cNvPr id="4910" name="Google Shape;4910;p58"/>
          <p:cNvCxnSpPr/>
          <p:nvPr/>
        </p:nvCxnSpPr>
        <p:spPr>
          <a:xfrm>
            <a:off x="9583543" y="5324881"/>
            <a:ext cx="186184" cy="0"/>
          </a:xfrm>
          <a:prstGeom prst="straightConnector1">
            <a:avLst/>
          </a:prstGeom>
          <a:noFill/>
          <a:ln cap="flat" cmpd="sng" w="9525">
            <a:solidFill>
              <a:schemeClr val="dk1"/>
            </a:solidFill>
            <a:prstDash val="solid"/>
            <a:miter lim="800000"/>
            <a:headEnd len="sm" w="sm" type="none"/>
            <a:tailEnd len="sm" w="sm" type="none"/>
          </a:ln>
        </p:spPr>
      </p:cxnSp>
      <p:cxnSp>
        <p:nvCxnSpPr>
          <p:cNvPr id="4911" name="Google Shape;4911;p58"/>
          <p:cNvCxnSpPr/>
          <p:nvPr/>
        </p:nvCxnSpPr>
        <p:spPr>
          <a:xfrm flipH="1" rot="10800000">
            <a:off x="9589060" y="5022530"/>
            <a:ext cx="180667" cy="145870"/>
          </a:xfrm>
          <a:prstGeom prst="straightConnector1">
            <a:avLst/>
          </a:prstGeom>
          <a:noFill/>
          <a:ln cap="flat" cmpd="sng" w="9525">
            <a:solidFill>
              <a:schemeClr val="dk1"/>
            </a:solidFill>
            <a:prstDash val="solid"/>
            <a:miter lim="800000"/>
            <a:headEnd len="sm" w="sm" type="none"/>
            <a:tailEnd len="sm" w="sm" type="none"/>
          </a:ln>
        </p:spPr>
      </p:cxnSp>
      <p:cxnSp>
        <p:nvCxnSpPr>
          <p:cNvPr id="4912" name="Google Shape;4912;p58"/>
          <p:cNvCxnSpPr/>
          <p:nvPr/>
        </p:nvCxnSpPr>
        <p:spPr>
          <a:xfrm>
            <a:off x="9593643" y="5502519"/>
            <a:ext cx="180667" cy="145870"/>
          </a:xfrm>
          <a:prstGeom prst="straightConnector1">
            <a:avLst/>
          </a:prstGeom>
          <a:noFill/>
          <a:ln cap="flat" cmpd="sng" w="9525">
            <a:solidFill>
              <a:schemeClr val="dk1"/>
            </a:solidFill>
            <a:prstDash val="solid"/>
            <a:miter lim="800000"/>
            <a:headEnd len="sm" w="sm" type="none"/>
            <a:tailEnd len="sm" w="sm" type="none"/>
          </a:ln>
        </p:spPr>
      </p:cxnSp>
      <p:sp>
        <p:nvSpPr>
          <p:cNvPr id="4913" name="Google Shape;4913;p58"/>
          <p:cNvSpPr txBox="1"/>
          <p:nvPr/>
        </p:nvSpPr>
        <p:spPr>
          <a:xfrm>
            <a:off x="3131136" y="6194429"/>
            <a:ext cx="6552840" cy="503308"/>
          </a:xfrm>
          <a:prstGeom prst="rect">
            <a:avLst/>
          </a:prstGeom>
          <a:noFill/>
          <a:ln>
            <a:noFill/>
          </a:ln>
        </p:spPr>
        <p:txBody>
          <a:bodyPr anchorCtr="0" anchor="t" bIns="45700" lIns="91425" spcFirstLastPara="1" rIns="91425" wrap="square" tIns="45700">
            <a:noAutofit/>
          </a:bodyPr>
          <a:lstStyle/>
          <a:p>
            <a:pPr indent="0" lvl="0" marL="130175" marR="0" rtl="0" algn="l">
              <a:lnSpc>
                <a:spcPct val="90000"/>
              </a:lnSpc>
              <a:spcBef>
                <a:spcPts val="0"/>
              </a:spcBef>
              <a:spcAft>
                <a:spcPts val="0"/>
              </a:spcAft>
              <a:buClr>
                <a:srgbClr val="0000A3"/>
              </a:buClr>
              <a:buSzPts val="2400"/>
              <a:buFont typeface="Noto Sans Symbols"/>
              <a:buNone/>
            </a:pPr>
            <a:r>
              <a:rPr i="1" lang="en-US" sz="2400">
                <a:solidFill>
                  <a:schemeClr val="dk1"/>
                </a:solidFill>
                <a:latin typeface="Calibri"/>
                <a:ea typeface="Calibri"/>
                <a:cs typeface="Calibri"/>
                <a:sym typeface="Calibri"/>
              </a:rPr>
              <a:t>O</a:t>
            </a:r>
            <a:r>
              <a:rPr baseline="-25000" i="1" lang="en-US" sz="2400">
                <a:solidFill>
                  <a:schemeClr val="dk1"/>
                </a:solidFill>
                <a:latin typeface="Calibri"/>
                <a:ea typeface="Calibri"/>
                <a:cs typeface="Calibri"/>
                <a:sym typeface="Calibri"/>
              </a:rPr>
              <a:t>2</a:t>
            </a:r>
            <a:r>
              <a:rPr i="1" lang="en-US" sz="2400">
                <a:solidFill>
                  <a:schemeClr val="dk1"/>
                </a:solidFill>
                <a:latin typeface="Calibri"/>
                <a:ea typeface="Calibri"/>
                <a:cs typeface="Calibri"/>
                <a:sym typeface="Calibri"/>
              </a:rPr>
              <a:t>, O</a:t>
            </a:r>
            <a:r>
              <a:rPr baseline="-25000" i="1" lang="en-US" sz="2400">
                <a:solidFill>
                  <a:schemeClr val="dk1"/>
                </a:solidFill>
                <a:latin typeface="Calibri"/>
                <a:ea typeface="Calibri"/>
                <a:cs typeface="Calibri"/>
                <a:sym typeface="Calibri"/>
              </a:rPr>
              <a:t>3</a:t>
            </a:r>
            <a:r>
              <a:rPr i="1" lang="en-US" sz="2400">
                <a:solidFill>
                  <a:schemeClr val="dk1"/>
                </a:solidFill>
                <a:latin typeface="Calibri"/>
                <a:ea typeface="Calibri"/>
                <a:cs typeface="Calibri"/>
                <a:sym typeface="Calibri"/>
              </a:rPr>
              <a:t>, O</a:t>
            </a:r>
            <a:r>
              <a:rPr baseline="-25000" i="1" lang="en-US" sz="2400">
                <a:solidFill>
                  <a:schemeClr val="dk1"/>
                </a:solidFill>
                <a:latin typeface="Calibri"/>
                <a:ea typeface="Calibri"/>
                <a:cs typeface="Calibri"/>
                <a:sym typeface="Calibri"/>
              </a:rPr>
              <a:t>4</a:t>
            </a:r>
            <a:r>
              <a:rPr i="1" lang="en-US" sz="2400">
                <a:solidFill>
                  <a:schemeClr val="dk1"/>
                </a:solidFill>
                <a:latin typeface="Calibri"/>
                <a:ea typeface="Calibri"/>
                <a:cs typeface="Calibri"/>
                <a:sym typeface="Calibri"/>
              </a:rPr>
              <a:t> delivered quickly, O</a:t>
            </a:r>
            <a:r>
              <a:rPr baseline="-25000" i="1" lang="en-US" sz="2400">
                <a:solidFill>
                  <a:schemeClr val="dk1"/>
                </a:solidFill>
                <a:latin typeface="Calibri"/>
                <a:ea typeface="Calibri"/>
                <a:cs typeface="Calibri"/>
                <a:sym typeface="Calibri"/>
              </a:rPr>
              <a:t>1 </a:t>
            </a:r>
            <a:r>
              <a:rPr i="1" lang="en-US" sz="2400">
                <a:solidFill>
                  <a:schemeClr val="dk1"/>
                </a:solidFill>
                <a:latin typeface="Calibri"/>
                <a:ea typeface="Calibri"/>
                <a:cs typeface="Calibri"/>
                <a:sym typeface="Calibri"/>
              </a:rPr>
              <a:t>slightly delayed</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nvGrpSpPr>
          <p:cNvPr id="4914" name="Google Shape;4914;p58"/>
          <p:cNvGrpSpPr/>
          <p:nvPr/>
        </p:nvGrpSpPr>
        <p:grpSpPr>
          <a:xfrm>
            <a:off x="3362984" y="3078482"/>
            <a:ext cx="4052925" cy="379692"/>
            <a:chOff x="3362984" y="3078482"/>
            <a:chExt cx="4052925" cy="379692"/>
          </a:xfrm>
        </p:grpSpPr>
        <p:cxnSp>
          <p:nvCxnSpPr>
            <p:cNvPr id="4915" name="Google Shape;4915;p58"/>
            <p:cNvCxnSpPr/>
            <p:nvPr/>
          </p:nvCxnSpPr>
          <p:spPr>
            <a:xfrm flipH="1">
              <a:off x="3362984" y="3078482"/>
              <a:ext cx="4052925" cy="273311"/>
            </a:xfrm>
            <a:prstGeom prst="straightConnector1">
              <a:avLst/>
            </a:prstGeom>
            <a:noFill/>
            <a:ln cap="flat" cmpd="sng" w="9525">
              <a:solidFill>
                <a:schemeClr val="dk1"/>
              </a:solidFill>
              <a:prstDash val="solid"/>
              <a:miter lim="800000"/>
              <a:headEnd len="sm" w="sm" type="none"/>
              <a:tailEnd len="med" w="med" type="triangle"/>
            </a:ln>
          </p:spPr>
        </p:cxnSp>
        <p:sp>
          <p:nvSpPr>
            <p:cNvPr id="4916" name="Google Shape;4916;p58"/>
            <p:cNvSpPr/>
            <p:nvPr/>
          </p:nvSpPr>
          <p:spPr>
            <a:xfrm>
              <a:off x="3479865" y="3082818"/>
              <a:ext cx="3875928" cy="375356"/>
            </a:xfrm>
            <a:custGeom>
              <a:rect b="b" l="l" r="r" t="t"/>
              <a:pathLst>
                <a:path extrusionOk="0" h="6552362" w="3875928">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917" name="Google Shape;4917;p58"/>
          <p:cNvSpPr/>
          <p:nvPr/>
        </p:nvSpPr>
        <p:spPr>
          <a:xfrm>
            <a:off x="3480625" y="3596230"/>
            <a:ext cx="3875928" cy="375356"/>
          </a:xfrm>
          <a:custGeom>
            <a:rect b="b" l="l" r="r" t="t"/>
            <a:pathLst>
              <a:path extrusionOk="0" h="6552362" w="3875928">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18" name="Google Shape;4918;p58"/>
          <p:cNvSpPr/>
          <p:nvPr/>
        </p:nvSpPr>
        <p:spPr>
          <a:xfrm>
            <a:off x="3485129" y="3719557"/>
            <a:ext cx="3875928" cy="375356"/>
          </a:xfrm>
          <a:custGeom>
            <a:rect b="b" l="l" r="r" t="t"/>
            <a:pathLst>
              <a:path extrusionOk="0" h="6552362" w="3875928">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19" name="Google Shape;4919;p58"/>
          <p:cNvSpPr/>
          <p:nvPr/>
        </p:nvSpPr>
        <p:spPr>
          <a:xfrm>
            <a:off x="2575260" y="3949241"/>
            <a:ext cx="310918" cy="28110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920" name="Google Shape;4920;p58"/>
          <p:cNvGrpSpPr/>
          <p:nvPr/>
        </p:nvGrpSpPr>
        <p:grpSpPr>
          <a:xfrm>
            <a:off x="1756483" y="3920514"/>
            <a:ext cx="1644347" cy="338554"/>
            <a:chOff x="1756483" y="3920514"/>
            <a:chExt cx="1644347" cy="338554"/>
          </a:xfrm>
        </p:grpSpPr>
        <p:cxnSp>
          <p:nvCxnSpPr>
            <p:cNvPr id="4921" name="Google Shape;4921;p58"/>
            <p:cNvCxnSpPr/>
            <p:nvPr/>
          </p:nvCxnSpPr>
          <p:spPr>
            <a:xfrm rot="10800000">
              <a:off x="1756483" y="4094530"/>
              <a:ext cx="1644347" cy="0"/>
            </a:xfrm>
            <a:prstGeom prst="straightConnector1">
              <a:avLst/>
            </a:prstGeom>
            <a:noFill/>
            <a:ln cap="flat" cmpd="sng" w="9525">
              <a:solidFill>
                <a:schemeClr val="accent1"/>
              </a:solidFill>
              <a:prstDash val="solid"/>
              <a:miter lim="800000"/>
              <a:headEnd len="sm" w="sm" type="none"/>
              <a:tailEnd len="med" w="med" type="triangle"/>
            </a:ln>
          </p:spPr>
        </p:cxnSp>
        <p:sp>
          <p:nvSpPr>
            <p:cNvPr id="4922" name="Google Shape;4922;p58"/>
            <p:cNvSpPr txBox="1"/>
            <p:nvPr/>
          </p:nvSpPr>
          <p:spPr>
            <a:xfrm>
              <a:off x="2554202" y="3920514"/>
              <a:ext cx="45488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O</a:t>
              </a:r>
              <a:r>
                <a:rPr baseline="-25000" lang="en-US" sz="1600">
                  <a:solidFill>
                    <a:schemeClr val="dk1"/>
                  </a:solidFill>
                  <a:latin typeface="Calibri"/>
                  <a:ea typeface="Calibri"/>
                  <a:cs typeface="Calibri"/>
                  <a:sym typeface="Calibri"/>
                </a:rPr>
                <a:t>3</a:t>
              </a:r>
              <a:endParaRPr/>
            </a:p>
          </p:txBody>
        </p:sp>
      </p:grpSp>
      <p:sp>
        <p:nvSpPr>
          <p:cNvPr id="4923" name="Google Shape;4923;p58"/>
          <p:cNvSpPr/>
          <p:nvPr/>
        </p:nvSpPr>
        <p:spPr>
          <a:xfrm>
            <a:off x="2869378" y="5701781"/>
            <a:ext cx="269557" cy="22941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924" name="Google Shape;4924;p58"/>
          <p:cNvGrpSpPr/>
          <p:nvPr/>
        </p:nvGrpSpPr>
        <p:grpSpPr>
          <a:xfrm>
            <a:off x="1706138" y="5621746"/>
            <a:ext cx="1641326" cy="338554"/>
            <a:chOff x="1706138" y="5621746"/>
            <a:chExt cx="1641326" cy="338554"/>
          </a:xfrm>
        </p:grpSpPr>
        <p:cxnSp>
          <p:nvCxnSpPr>
            <p:cNvPr id="4925" name="Google Shape;4925;p58"/>
            <p:cNvCxnSpPr/>
            <p:nvPr/>
          </p:nvCxnSpPr>
          <p:spPr>
            <a:xfrm rot="10800000">
              <a:off x="1706138" y="5804632"/>
              <a:ext cx="1641326" cy="0"/>
            </a:xfrm>
            <a:prstGeom prst="straightConnector1">
              <a:avLst/>
            </a:prstGeom>
            <a:noFill/>
            <a:ln cap="flat" cmpd="sng" w="9525">
              <a:solidFill>
                <a:schemeClr val="accent1"/>
              </a:solidFill>
              <a:prstDash val="solid"/>
              <a:miter lim="800000"/>
              <a:headEnd len="sm" w="sm" type="none"/>
              <a:tailEnd len="med" w="med" type="triangle"/>
            </a:ln>
          </p:spPr>
        </p:cxnSp>
        <p:sp>
          <p:nvSpPr>
            <p:cNvPr id="4926" name="Google Shape;4926;p58"/>
            <p:cNvSpPr txBox="1"/>
            <p:nvPr/>
          </p:nvSpPr>
          <p:spPr>
            <a:xfrm>
              <a:off x="2801769" y="5621746"/>
              <a:ext cx="45910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O</a:t>
              </a:r>
              <a:r>
                <a:rPr baseline="-25000" lang="en-US" sz="1600">
                  <a:solidFill>
                    <a:schemeClr val="dk1"/>
                  </a:solidFill>
                  <a:latin typeface="Calibri"/>
                  <a:ea typeface="Calibri"/>
                  <a:cs typeface="Calibri"/>
                  <a:sym typeface="Calibri"/>
                </a:rPr>
                <a:t>1</a:t>
              </a:r>
              <a:endParaRPr/>
            </a:p>
          </p:txBody>
        </p:sp>
      </p:grpSp>
      <p:cxnSp>
        <p:nvCxnSpPr>
          <p:cNvPr id="4927" name="Google Shape;4927;p58"/>
          <p:cNvCxnSpPr/>
          <p:nvPr/>
        </p:nvCxnSpPr>
        <p:spPr>
          <a:xfrm>
            <a:off x="8570246" y="5311450"/>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28" name="Google Shape;4928;p58"/>
          <p:cNvCxnSpPr/>
          <p:nvPr/>
        </p:nvCxnSpPr>
        <p:spPr>
          <a:xfrm>
            <a:off x="8585033" y="4956968"/>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29" name="Google Shape;4929;p58"/>
          <p:cNvCxnSpPr/>
          <p:nvPr/>
        </p:nvCxnSpPr>
        <p:spPr>
          <a:xfrm>
            <a:off x="8579058" y="4824874"/>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30" name="Google Shape;4930;p58"/>
          <p:cNvCxnSpPr/>
          <p:nvPr/>
        </p:nvCxnSpPr>
        <p:spPr>
          <a:xfrm>
            <a:off x="8573083" y="4692780"/>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31" name="Google Shape;4931;p58"/>
          <p:cNvCxnSpPr/>
          <p:nvPr/>
        </p:nvCxnSpPr>
        <p:spPr>
          <a:xfrm>
            <a:off x="8567108" y="4560686"/>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32" name="Google Shape;4932;p58"/>
          <p:cNvCxnSpPr/>
          <p:nvPr/>
        </p:nvCxnSpPr>
        <p:spPr>
          <a:xfrm>
            <a:off x="8561133" y="4428592"/>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33" name="Google Shape;4933;p58"/>
          <p:cNvCxnSpPr/>
          <p:nvPr/>
        </p:nvCxnSpPr>
        <p:spPr>
          <a:xfrm>
            <a:off x="8555158" y="4296498"/>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34" name="Google Shape;4934;p58"/>
          <p:cNvCxnSpPr/>
          <p:nvPr/>
        </p:nvCxnSpPr>
        <p:spPr>
          <a:xfrm>
            <a:off x="8549183" y="4164404"/>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35" name="Google Shape;4935;p58"/>
          <p:cNvCxnSpPr/>
          <p:nvPr/>
        </p:nvCxnSpPr>
        <p:spPr>
          <a:xfrm>
            <a:off x="8543208" y="4032310"/>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36" name="Google Shape;4936;p58"/>
          <p:cNvCxnSpPr/>
          <p:nvPr/>
        </p:nvCxnSpPr>
        <p:spPr>
          <a:xfrm>
            <a:off x="8537233" y="3900216"/>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37" name="Google Shape;4937;p58"/>
          <p:cNvCxnSpPr/>
          <p:nvPr/>
        </p:nvCxnSpPr>
        <p:spPr>
          <a:xfrm>
            <a:off x="8531258" y="3768122"/>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38" name="Google Shape;4938;p58"/>
          <p:cNvCxnSpPr/>
          <p:nvPr/>
        </p:nvCxnSpPr>
        <p:spPr>
          <a:xfrm>
            <a:off x="8525283" y="3636028"/>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39" name="Google Shape;4939;p58"/>
          <p:cNvCxnSpPr/>
          <p:nvPr/>
        </p:nvCxnSpPr>
        <p:spPr>
          <a:xfrm>
            <a:off x="8540494" y="3503934"/>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40" name="Google Shape;4940;p58"/>
          <p:cNvCxnSpPr/>
          <p:nvPr/>
        </p:nvCxnSpPr>
        <p:spPr>
          <a:xfrm>
            <a:off x="8534519" y="3371840"/>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41" name="Google Shape;4941;p58"/>
          <p:cNvCxnSpPr/>
          <p:nvPr/>
        </p:nvCxnSpPr>
        <p:spPr>
          <a:xfrm>
            <a:off x="8535606" y="3239746"/>
            <a:ext cx="981982" cy="0"/>
          </a:xfrm>
          <a:prstGeom prst="straightConnector1">
            <a:avLst/>
          </a:prstGeom>
          <a:noFill/>
          <a:ln cap="flat" cmpd="sng" w="9525">
            <a:solidFill>
              <a:schemeClr val="lt1"/>
            </a:solidFill>
            <a:prstDash val="solid"/>
            <a:miter lim="800000"/>
            <a:headEnd len="sm" w="sm" type="none"/>
            <a:tailEnd len="sm" w="sm" type="none"/>
          </a:ln>
        </p:spPr>
      </p:cxnSp>
      <p:cxnSp>
        <p:nvCxnSpPr>
          <p:cNvPr id="4942" name="Google Shape;4942;p58"/>
          <p:cNvCxnSpPr/>
          <p:nvPr/>
        </p:nvCxnSpPr>
        <p:spPr>
          <a:xfrm flipH="1" rot="10800000">
            <a:off x="3452698" y="3962094"/>
            <a:ext cx="3980812" cy="289807"/>
          </a:xfrm>
          <a:prstGeom prst="straightConnector1">
            <a:avLst/>
          </a:prstGeom>
          <a:noFill/>
          <a:ln cap="flat" cmpd="sng" w="9525">
            <a:solidFill>
              <a:schemeClr val="lt1"/>
            </a:solidFill>
            <a:prstDash val="solid"/>
            <a:miter lim="800000"/>
            <a:headEnd len="sm" w="sm" type="none"/>
            <a:tailEnd len="sm" w="sm" type="none"/>
          </a:ln>
        </p:spPr>
      </p:cxnSp>
      <p:cxnSp>
        <p:nvCxnSpPr>
          <p:cNvPr id="4943" name="Google Shape;4943;p58"/>
          <p:cNvCxnSpPr/>
          <p:nvPr/>
        </p:nvCxnSpPr>
        <p:spPr>
          <a:xfrm flipH="1" rot="10800000">
            <a:off x="3392013" y="4113083"/>
            <a:ext cx="3980812" cy="289807"/>
          </a:xfrm>
          <a:prstGeom prst="straightConnector1">
            <a:avLst/>
          </a:prstGeom>
          <a:noFill/>
          <a:ln cap="flat" cmpd="sng" w="9525">
            <a:solidFill>
              <a:schemeClr val="lt1"/>
            </a:solidFill>
            <a:prstDash val="solid"/>
            <a:miter lim="800000"/>
            <a:headEnd len="sm" w="sm" type="none"/>
            <a:tailEnd len="sm" w="sm" type="none"/>
          </a:ln>
        </p:spPr>
      </p:cxnSp>
      <p:cxnSp>
        <p:nvCxnSpPr>
          <p:cNvPr id="4944" name="Google Shape;4944;p58"/>
          <p:cNvCxnSpPr/>
          <p:nvPr/>
        </p:nvCxnSpPr>
        <p:spPr>
          <a:xfrm flipH="1" rot="10800000">
            <a:off x="3403873" y="4250677"/>
            <a:ext cx="3980812" cy="289807"/>
          </a:xfrm>
          <a:prstGeom prst="straightConnector1">
            <a:avLst/>
          </a:prstGeom>
          <a:noFill/>
          <a:ln cap="flat" cmpd="sng" w="9525">
            <a:solidFill>
              <a:schemeClr val="lt1"/>
            </a:solidFill>
            <a:prstDash val="solid"/>
            <a:miter lim="800000"/>
            <a:headEnd len="sm" w="sm" type="none"/>
            <a:tailEnd len="sm" w="sm" type="none"/>
          </a:ln>
        </p:spPr>
      </p:cxnSp>
      <p:cxnSp>
        <p:nvCxnSpPr>
          <p:cNvPr id="4945" name="Google Shape;4945;p58"/>
          <p:cNvCxnSpPr/>
          <p:nvPr/>
        </p:nvCxnSpPr>
        <p:spPr>
          <a:xfrm flipH="1" rot="10800000">
            <a:off x="3415733" y="4399559"/>
            <a:ext cx="3980812" cy="289807"/>
          </a:xfrm>
          <a:prstGeom prst="straightConnector1">
            <a:avLst/>
          </a:prstGeom>
          <a:noFill/>
          <a:ln cap="flat" cmpd="sng" w="9525">
            <a:solidFill>
              <a:schemeClr val="lt1"/>
            </a:solidFill>
            <a:prstDash val="solid"/>
            <a:miter lim="800000"/>
            <a:headEnd len="sm" w="sm" type="none"/>
            <a:tailEnd len="sm" w="sm" type="none"/>
          </a:ln>
        </p:spPr>
      </p:cxnSp>
      <p:cxnSp>
        <p:nvCxnSpPr>
          <p:cNvPr id="4946" name="Google Shape;4946;p58"/>
          <p:cNvCxnSpPr/>
          <p:nvPr/>
        </p:nvCxnSpPr>
        <p:spPr>
          <a:xfrm flipH="1" rot="10800000">
            <a:off x="3474493" y="5562147"/>
            <a:ext cx="3980812" cy="289807"/>
          </a:xfrm>
          <a:prstGeom prst="straightConnector1">
            <a:avLst/>
          </a:prstGeom>
          <a:noFill/>
          <a:ln cap="flat" cmpd="sng" w="9525">
            <a:solidFill>
              <a:schemeClr val="lt1"/>
            </a:solidFill>
            <a:prstDash val="solid"/>
            <a:miter lim="800000"/>
            <a:headEnd len="sm" w="sm" type="none"/>
            <a:tailEnd len="sm" w="sm" type="none"/>
          </a:ln>
        </p:spPr>
      </p:cxnSp>
      <p:cxnSp>
        <p:nvCxnSpPr>
          <p:cNvPr id="4947" name="Google Shape;4947;p58"/>
          <p:cNvCxnSpPr/>
          <p:nvPr/>
        </p:nvCxnSpPr>
        <p:spPr>
          <a:xfrm flipH="1" rot="10800000">
            <a:off x="3486353" y="5716673"/>
            <a:ext cx="3980812" cy="289807"/>
          </a:xfrm>
          <a:prstGeom prst="straightConnector1">
            <a:avLst/>
          </a:prstGeom>
          <a:noFill/>
          <a:ln cap="flat" cmpd="sng" w="9525">
            <a:solidFill>
              <a:schemeClr val="lt1"/>
            </a:solidFill>
            <a:prstDash val="solid"/>
            <a:miter lim="800000"/>
            <a:headEnd len="sm" w="sm" type="none"/>
            <a:tailEnd len="sm" w="sm" type="none"/>
          </a:ln>
        </p:spPr>
      </p:cxnSp>
      <p:cxnSp>
        <p:nvCxnSpPr>
          <p:cNvPr id="4948" name="Google Shape;4948;p58"/>
          <p:cNvCxnSpPr/>
          <p:nvPr/>
        </p:nvCxnSpPr>
        <p:spPr>
          <a:xfrm flipH="1" rot="10800000">
            <a:off x="3467438" y="4527480"/>
            <a:ext cx="3980812" cy="289807"/>
          </a:xfrm>
          <a:prstGeom prst="straightConnector1">
            <a:avLst/>
          </a:prstGeom>
          <a:noFill/>
          <a:ln cap="flat" cmpd="sng" w="9525">
            <a:solidFill>
              <a:schemeClr val="lt1"/>
            </a:solidFill>
            <a:prstDash val="solid"/>
            <a:miter lim="800000"/>
            <a:headEnd len="sm" w="sm" type="none"/>
            <a:tailEnd len="sm" w="sm" type="none"/>
          </a:ln>
        </p:spPr>
      </p:cxnSp>
      <p:cxnSp>
        <p:nvCxnSpPr>
          <p:cNvPr id="4949" name="Google Shape;4949;p58"/>
          <p:cNvCxnSpPr/>
          <p:nvPr/>
        </p:nvCxnSpPr>
        <p:spPr>
          <a:xfrm flipH="1" rot="10800000">
            <a:off x="3406753" y="4678469"/>
            <a:ext cx="3980812" cy="289807"/>
          </a:xfrm>
          <a:prstGeom prst="straightConnector1">
            <a:avLst/>
          </a:prstGeom>
          <a:noFill/>
          <a:ln cap="flat" cmpd="sng" w="9525">
            <a:solidFill>
              <a:schemeClr val="lt1"/>
            </a:solidFill>
            <a:prstDash val="solid"/>
            <a:miter lim="800000"/>
            <a:headEnd len="sm" w="sm" type="none"/>
            <a:tailEnd len="sm" w="sm" type="none"/>
          </a:ln>
        </p:spPr>
      </p:cxnSp>
      <p:cxnSp>
        <p:nvCxnSpPr>
          <p:cNvPr id="4950" name="Google Shape;4950;p58"/>
          <p:cNvCxnSpPr/>
          <p:nvPr/>
        </p:nvCxnSpPr>
        <p:spPr>
          <a:xfrm flipH="1" rot="10800000">
            <a:off x="3418613" y="4816063"/>
            <a:ext cx="3980812" cy="289807"/>
          </a:xfrm>
          <a:prstGeom prst="straightConnector1">
            <a:avLst/>
          </a:prstGeom>
          <a:noFill/>
          <a:ln cap="flat" cmpd="sng" w="9525">
            <a:solidFill>
              <a:schemeClr val="lt1"/>
            </a:solidFill>
            <a:prstDash val="solid"/>
            <a:miter lim="800000"/>
            <a:headEnd len="sm" w="sm" type="none"/>
            <a:tailEnd len="sm" w="sm" type="none"/>
          </a:ln>
        </p:spPr>
      </p:cxnSp>
      <p:cxnSp>
        <p:nvCxnSpPr>
          <p:cNvPr id="4951" name="Google Shape;4951;p58"/>
          <p:cNvCxnSpPr/>
          <p:nvPr/>
        </p:nvCxnSpPr>
        <p:spPr>
          <a:xfrm flipH="1" rot="10800000">
            <a:off x="3430473" y="4964945"/>
            <a:ext cx="3980812" cy="289807"/>
          </a:xfrm>
          <a:prstGeom prst="straightConnector1">
            <a:avLst/>
          </a:prstGeom>
          <a:noFill/>
          <a:ln cap="flat" cmpd="sng" w="9525">
            <a:solidFill>
              <a:schemeClr val="lt1"/>
            </a:solidFill>
            <a:prstDash val="solid"/>
            <a:miter lim="800000"/>
            <a:headEnd len="sm" w="sm" type="none"/>
            <a:tailEnd len="sm" w="sm" type="none"/>
          </a:ln>
        </p:spPr>
      </p:cxnSp>
      <p:cxnSp>
        <p:nvCxnSpPr>
          <p:cNvPr id="4952" name="Google Shape;4952;p58"/>
          <p:cNvCxnSpPr/>
          <p:nvPr/>
        </p:nvCxnSpPr>
        <p:spPr>
          <a:xfrm flipH="1" rot="10800000">
            <a:off x="3482178" y="5092866"/>
            <a:ext cx="3980812" cy="289807"/>
          </a:xfrm>
          <a:prstGeom prst="straightConnector1">
            <a:avLst/>
          </a:prstGeom>
          <a:noFill/>
          <a:ln cap="flat" cmpd="sng" w="9525">
            <a:solidFill>
              <a:schemeClr val="lt1"/>
            </a:solidFill>
            <a:prstDash val="solid"/>
            <a:miter lim="800000"/>
            <a:headEnd len="sm" w="sm" type="none"/>
            <a:tailEnd len="sm" w="sm" type="none"/>
          </a:ln>
        </p:spPr>
      </p:cxnSp>
      <p:cxnSp>
        <p:nvCxnSpPr>
          <p:cNvPr id="4953" name="Google Shape;4953;p58"/>
          <p:cNvCxnSpPr/>
          <p:nvPr/>
        </p:nvCxnSpPr>
        <p:spPr>
          <a:xfrm flipH="1" rot="10800000">
            <a:off x="3421493" y="5243855"/>
            <a:ext cx="3980812" cy="289807"/>
          </a:xfrm>
          <a:prstGeom prst="straightConnector1">
            <a:avLst/>
          </a:prstGeom>
          <a:noFill/>
          <a:ln cap="flat" cmpd="sng" w="9525">
            <a:solidFill>
              <a:schemeClr val="lt1"/>
            </a:solidFill>
            <a:prstDash val="solid"/>
            <a:miter lim="800000"/>
            <a:headEnd len="sm" w="sm" type="none"/>
            <a:tailEnd len="sm" w="sm" type="none"/>
          </a:ln>
        </p:spPr>
      </p:cxnSp>
      <p:cxnSp>
        <p:nvCxnSpPr>
          <p:cNvPr id="4954" name="Google Shape;4954;p58"/>
          <p:cNvCxnSpPr/>
          <p:nvPr/>
        </p:nvCxnSpPr>
        <p:spPr>
          <a:xfrm flipH="1" rot="10800000">
            <a:off x="3433353" y="5381449"/>
            <a:ext cx="3980812" cy="289807"/>
          </a:xfrm>
          <a:prstGeom prst="straightConnector1">
            <a:avLst/>
          </a:prstGeom>
          <a:noFill/>
          <a:ln cap="flat" cmpd="sng" w="9525">
            <a:solidFill>
              <a:schemeClr val="lt1"/>
            </a:solidFill>
            <a:prstDash val="solid"/>
            <a:miter lim="800000"/>
            <a:headEnd len="sm" w="sm" type="none"/>
            <a:tailEnd len="sm" w="sm" type="none"/>
          </a:ln>
        </p:spPr>
      </p:cxnSp>
      <p:sp>
        <p:nvSpPr>
          <p:cNvPr id="4955" name="Google Shape;4955;p5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4"/>
                                        </p:tgtEl>
                                        <p:attrNameLst>
                                          <p:attrName>style.visibility</p:attrName>
                                        </p:attrNameLst>
                                      </p:cBhvr>
                                      <p:to>
                                        <p:strVal val="visible"/>
                                      </p:to>
                                    </p:set>
                                    <p:animEffect filter="fade" transition="in">
                                      <p:cBhvr>
                                        <p:cTn dur="500"/>
                                        <p:tgtEl>
                                          <p:spTgt spid="491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89"/>
                                        </p:tgtEl>
                                        <p:attrNameLst>
                                          <p:attrName>style.visibility</p:attrName>
                                        </p:attrNameLst>
                                      </p:cBhvr>
                                      <p:to>
                                        <p:strVal val="visible"/>
                                      </p:to>
                                    </p:set>
                                    <p:animEffect filter="fade" transition="in">
                                      <p:cBhvr>
                                        <p:cTn dur="500"/>
                                        <p:tgtEl>
                                          <p:spTgt spid="488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893"/>
                                        </p:tgtEl>
                                        <p:attrNameLst>
                                          <p:attrName>style.visibility</p:attrName>
                                        </p:attrNameLst>
                                      </p:cBhvr>
                                      <p:to>
                                        <p:strVal val="visible"/>
                                      </p:to>
                                    </p:set>
                                    <p:animEffect filter="fade" transition="in">
                                      <p:cBhvr>
                                        <p:cTn dur="500"/>
                                        <p:tgtEl>
                                          <p:spTgt spid="489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890"/>
                                        </p:tgtEl>
                                        <p:attrNameLst>
                                          <p:attrName>style.visibility</p:attrName>
                                        </p:attrNameLst>
                                      </p:cBhvr>
                                      <p:to>
                                        <p:strVal val="visible"/>
                                      </p:to>
                                    </p:set>
                                    <p:animEffect filter="fade" transition="in">
                                      <p:cBhvr>
                                        <p:cTn dur="500"/>
                                        <p:tgtEl>
                                          <p:spTgt spid="489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891"/>
                                        </p:tgtEl>
                                        <p:attrNameLst>
                                          <p:attrName>style.visibility</p:attrName>
                                        </p:attrNameLst>
                                      </p:cBhvr>
                                      <p:to>
                                        <p:strVal val="visible"/>
                                      </p:to>
                                    </p:set>
                                    <p:animEffect filter="fade" transition="in">
                                      <p:cBhvr>
                                        <p:cTn dur="500"/>
                                        <p:tgtEl>
                                          <p:spTgt spid="4891"/>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897"/>
                                        </p:tgtEl>
                                        <p:attrNameLst>
                                          <p:attrName>style.visibility</p:attrName>
                                        </p:attrNameLst>
                                      </p:cBhvr>
                                      <p:to>
                                        <p:strVal val="visible"/>
                                      </p:to>
                                    </p:set>
                                    <p:animEffect filter="fade" transition="in">
                                      <p:cBhvr>
                                        <p:cTn dur="500"/>
                                        <p:tgtEl>
                                          <p:spTgt spid="48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7"/>
                                        </p:tgtEl>
                                        <p:attrNameLst>
                                          <p:attrName>style.visibility</p:attrName>
                                        </p:attrNameLst>
                                      </p:cBhvr>
                                      <p:to>
                                        <p:strVal val="visible"/>
                                      </p:to>
                                    </p:set>
                                    <p:animEffect filter="fade" transition="in">
                                      <p:cBhvr>
                                        <p:cTn dur="500"/>
                                        <p:tgtEl>
                                          <p:spTgt spid="491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918"/>
                                        </p:tgtEl>
                                        <p:attrNameLst>
                                          <p:attrName>style.visibility</p:attrName>
                                        </p:attrNameLst>
                                      </p:cBhvr>
                                      <p:to>
                                        <p:strVal val="visible"/>
                                      </p:to>
                                    </p:set>
                                    <p:animEffect filter="fade" transition="in">
                                      <p:cBhvr>
                                        <p:cTn dur="500"/>
                                        <p:tgtEl>
                                          <p:spTgt spid="491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920"/>
                                        </p:tgtEl>
                                        <p:attrNameLst>
                                          <p:attrName>style.visibility</p:attrName>
                                        </p:attrNameLst>
                                      </p:cBhvr>
                                      <p:to>
                                        <p:strVal val="visible"/>
                                      </p:to>
                                    </p:set>
                                    <p:animEffect filter="fade" transition="in">
                                      <p:cBhvr>
                                        <p:cTn dur="500"/>
                                        <p:tgtEl>
                                          <p:spTgt spid="4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8"/>
                                        </p:tgtEl>
                                        <p:attrNameLst>
                                          <p:attrName>style.visibility</p:attrName>
                                        </p:attrNameLst>
                                      </p:cBhvr>
                                      <p:to>
                                        <p:strVal val="visible"/>
                                      </p:to>
                                    </p:set>
                                    <p:animEffect filter="fade" transition="in">
                                      <p:cBhvr>
                                        <p:cTn dur="500"/>
                                        <p:tgtEl>
                                          <p:spTgt spid="4888"/>
                                        </p:tgtEl>
                                      </p:cBhvr>
                                    </p:animEffect>
                                  </p:childTnLst>
                                </p:cTn>
                              </p:par>
                              <p:par>
                                <p:cTn fill="hold" nodeType="withEffect" presetClass="entr" presetID="10" presetSubtype="0">
                                  <p:stCondLst>
                                    <p:cond delay="0"/>
                                  </p:stCondLst>
                                  <p:childTnLst>
                                    <p:set>
                                      <p:cBhvr>
                                        <p:cTn dur="1" fill="hold">
                                          <p:stCondLst>
                                            <p:cond delay="0"/>
                                          </p:stCondLst>
                                        </p:cTn>
                                        <p:tgtEl>
                                          <p:spTgt spid="4885"/>
                                        </p:tgtEl>
                                        <p:attrNameLst>
                                          <p:attrName>style.visibility</p:attrName>
                                        </p:attrNameLst>
                                      </p:cBhvr>
                                      <p:to>
                                        <p:strVal val="visible"/>
                                      </p:to>
                                    </p:set>
                                    <p:animEffect filter="fade" transition="in">
                                      <p:cBhvr>
                                        <p:cTn dur="500"/>
                                        <p:tgtEl>
                                          <p:spTgt spid="488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924"/>
                                        </p:tgtEl>
                                        <p:attrNameLst>
                                          <p:attrName>style.visibility</p:attrName>
                                        </p:attrNameLst>
                                      </p:cBhvr>
                                      <p:to>
                                        <p:strVal val="visible"/>
                                      </p:to>
                                    </p:set>
                                    <p:animEffect filter="fade" transition="in">
                                      <p:cBhvr>
                                        <p:cTn dur="500"/>
                                        <p:tgtEl>
                                          <p:spTgt spid="49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3"/>
                                        </p:tgtEl>
                                        <p:attrNameLst>
                                          <p:attrName>style.visibility</p:attrName>
                                        </p:attrNameLst>
                                      </p:cBhvr>
                                      <p:to>
                                        <p:strVal val="visible"/>
                                      </p:to>
                                    </p:set>
                                    <p:animEffect filter="fade" transition="in">
                                      <p:cBhvr>
                                        <p:cTn dur="500"/>
                                        <p:tgtEl>
                                          <p:spTgt spid="49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0" name="Shape 4960"/>
        <p:cNvGrpSpPr/>
        <p:nvPr/>
      </p:nvGrpSpPr>
      <p:grpSpPr>
        <a:xfrm>
          <a:off x="0" y="0"/>
          <a:ext cx="0" cy="0"/>
          <a:chOff x="0" y="0"/>
          <a:chExt cx="0" cy="0"/>
        </a:xfrm>
      </p:grpSpPr>
      <p:sp>
        <p:nvSpPr>
          <p:cNvPr id="4961" name="Google Shape;4961;p59"/>
          <p:cNvSpPr txBox="1"/>
          <p:nvPr>
            <p:ph type="title"/>
          </p:nvPr>
        </p:nvSpPr>
        <p:spPr>
          <a:xfrm>
            <a:off x="651417" y="22376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HTTP/2 to HTTP/3</a:t>
            </a:r>
            <a:endParaRPr sz="4400"/>
          </a:p>
        </p:txBody>
      </p:sp>
      <p:sp>
        <p:nvSpPr>
          <p:cNvPr id="4962" name="Google Shape;4962;p59"/>
          <p:cNvSpPr txBox="1"/>
          <p:nvPr/>
        </p:nvSpPr>
        <p:spPr>
          <a:xfrm>
            <a:off x="673719" y="1118384"/>
            <a:ext cx="11117107" cy="503308"/>
          </a:xfrm>
          <a:prstGeom prst="rect">
            <a:avLst/>
          </a:prstGeom>
          <a:noFill/>
          <a:ln>
            <a:noFill/>
          </a:ln>
        </p:spPr>
        <p:txBody>
          <a:bodyPr anchorCtr="0" anchor="t" bIns="45700" lIns="91425" spcFirstLastPara="1" rIns="91425" wrap="square" tIns="45700">
            <a:noAutofit/>
          </a:bodyPr>
          <a:lstStyle/>
          <a:p>
            <a:pPr indent="0" lvl="0" marL="130175" marR="0" rtl="0" algn="ctr">
              <a:lnSpc>
                <a:spcPct val="90000"/>
              </a:lnSpc>
              <a:spcBef>
                <a:spcPts val="0"/>
              </a:spcBef>
              <a:spcAft>
                <a:spcPts val="0"/>
              </a:spcAft>
              <a:buClr>
                <a:srgbClr val="0000A3"/>
              </a:buClr>
              <a:buSzPts val="2800"/>
              <a:buFont typeface="Noto Sans Symbols"/>
              <a:buNone/>
            </a:pPr>
            <a:r>
              <a:rPr i="1" lang="en-US" sz="2800">
                <a:solidFill>
                  <a:srgbClr val="000090"/>
                </a:solidFill>
                <a:latin typeface="Calibri"/>
                <a:ea typeface="Calibri"/>
                <a:cs typeface="Calibri"/>
                <a:sym typeface="Calibri"/>
              </a:rPr>
              <a:t>Key goal: </a:t>
            </a:r>
            <a:r>
              <a:rPr lang="en-US" sz="2800">
                <a:solidFill>
                  <a:schemeClr val="dk1"/>
                </a:solidFill>
                <a:latin typeface="Calibri"/>
                <a:ea typeface="Calibri"/>
                <a:cs typeface="Calibri"/>
                <a:sym typeface="Calibri"/>
              </a:rPr>
              <a:t>decreased delay in multi-object HTTP requests</a:t>
            </a:r>
            <a:endParaRPr sz="2800">
              <a:solidFill>
                <a:schemeClr val="dk1"/>
              </a:solidFill>
              <a:latin typeface="Calibri"/>
              <a:ea typeface="Calibri"/>
              <a:cs typeface="Calibri"/>
              <a:sym typeface="Calibri"/>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963" name="Google Shape;4963;p59"/>
          <p:cNvSpPr txBox="1"/>
          <p:nvPr/>
        </p:nvSpPr>
        <p:spPr>
          <a:xfrm>
            <a:off x="1003084" y="2048927"/>
            <a:ext cx="10458375" cy="4487272"/>
          </a:xfrm>
          <a:prstGeom prst="rect">
            <a:avLst/>
          </a:prstGeom>
          <a:noFill/>
          <a:ln>
            <a:noFill/>
          </a:ln>
        </p:spPr>
        <p:txBody>
          <a:bodyPr anchorCtr="0" anchor="t" bIns="45700" lIns="91425" spcFirstLastPara="1" rIns="91425" wrap="square" tIns="45700">
            <a:noAutofit/>
          </a:bodyPr>
          <a:lstStyle/>
          <a:p>
            <a:pPr indent="0" lvl="0" marL="65086" marR="0" rtl="0" algn="l">
              <a:lnSpc>
                <a:spcPct val="90000"/>
              </a:lnSpc>
              <a:spcBef>
                <a:spcPts val="0"/>
              </a:spcBef>
              <a:spcAft>
                <a:spcPts val="0"/>
              </a:spcAft>
              <a:buClr>
                <a:srgbClr val="0000A3"/>
              </a:buClr>
              <a:buSzPts val="3200"/>
              <a:buFont typeface="Noto Sans Symbols"/>
              <a:buNone/>
            </a:pPr>
            <a:r>
              <a:rPr lang="en-US" sz="3200">
                <a:solidFill>
                  <a:schemeClr val="dk1"/>
                </a:solidFill>
                <a:latin typeface="Calibri"/>
                <a:ea typeface="Calibri"/>
                <a:cs typeface="Calibri"/>
                <a:sym typeface="Calibri"/>
              </a:rPr>
              <a:t>HTTP/2 over single TCP connection means:</a:t>
            </a:r>
            <a:endParaRPr/>
          </a:p>
          <a:p>
            <a:pPr indent="-280988" lvl="0" marL="34607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recovery from packet loss still stalls all object transmissions</a:t>
            </a:r>
            <a:endParaRPr/>
          </a:p>
          <a:p>
            <a:pPr indent="-280988" lvl="1" marL="68897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as in HTTP 1.1, browsers have incentive to open multiple parallel TCP connections to reduce stalling, increase overall throughput</a:t>
            </a:r>
            <a:endParaRPr/>
          </a:p>
          <a:p>
            <a:pPr indent="-280988" lvl="0" marL="34607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no security over vanilla TCP connection</a:t>
            </a:r>
            <a:endParaRPr/>
          </a:p>
          <a:p>
            <a:pPr indent="-280988" lvl="0" marL="346075" marR="0" rtl="0" algn="l">
              <a:lnSpc>
                <a:spcPct val="90000"/>
              </a:lnSpc>
              <a:spcBef>
                <a:spcPts val="1000"/>
              </a:spcBef>
              <a:spcAft>
                <a:spcPts val="0"/>
              </a:spcAft>
              <a:buClr>
                <a:srgbClr val="0000A3"/>
              </a:buClr>
              <a:buSzPts val="3200"/>
              <a:buFont typeface="Noto Sans Symbols"/>
              <a:buChar char="▪"/>
            </a:pPr>
            <a:r>
              <a:rPr lang="en-US" sz="3200">
                <a:solidFill>
                  <a:srgbClr val="C00000"/>
                </a:solidFill>
                <a:latin typeface="Calibri"/>
                <a:ea typeface="Calibri"/>
                <a:cs typeface="Calibri"/>
                <a:sym typeface="Calibri"/>
              </a:rPr>
              <a:t>HTTP/3: </a:t>
            </a:r>
            <a:r>
              <a:rPr lang="en-US" sz="3200">
                <a:solidFill>
                  <a:schemeClr val="dk1"/>
                </a:solidFill>
                <a:latin typeface="Calibri"/>
                <a:ea typeface="Calibri"/>
                <a:cs typeface="Calibri"/>
                <a:sym typeface="Calibri"/>
              </a:rPr>
              <a:t>adds security , per object error- and congestion-control (more pipelining) over UDP</a:t>
            </a:r>
            <a:endParaRPr/>
          </a:p>
          <a:p>
            <a:pPr indent="-280988" lvl="1" marL="68897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more on HTTP/3 in transport layer</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964" name="Google Shape;4964;p5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3"/>
                                        </p:tgtEl>
                                        <p:attrNameLst>
                                          <p:attrName>style.visibility</p:attrName>
                                        </p:attrNameLst>
                                      </p:cBhvr>
                                      <p:to>
                                        <p:strVal val="visible"/>
                                      </p:to>
                                    </p:set>
                                    <p:animEffect filter="fade" transition="in">
                                      <p:cBhvr>
                                        <p:cTn dur="500"/>
                                        <p:tgtEl>
                                          <p:spTgt spid="49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9" name="Shape 4969"/>
        <p:cNvGrpSpPr/>
        <p:nvPr/>
      </p:nvGrpSpPr>
      <p:grpSpPr>
        <a:xfrm>
          <a:off x="0" y="0"/>
          <a:ext cx="0" cy="0"/>
          <a:chOff x="0" y="0"/>
          <a:chExt cx="0" cy="0"/>
        </a:xfrm>
      </p:grpSpPr>
      <p:sp>
        <p:nvSpPr>
          <p:cNvPr id="4970" name="Google Shape;4970;p6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Application layer: overview</a:t>
            </a:r>
            <a:endParaRPr/>
          </a:p>
        </p:txBody>
      </p:sp>
      <p:sp>
        <p:nvSpPr>
          <p:cNvPr id="4971" name="Google Shape;4971;p60"/>
          <p:cNvSpPr txBox="1"/>
          <p:nvPr/>
        </p:nvSpPr>
        <p:spPr>
          <a:xfrm>
            <a:off x="809242" y="1870563"/>
            <a:ext cx="5309184" cy="4351338"/>
          </a:xfrm>
          <a:prstGeom prst="rect">
            <a:avLst/>
          </a:prstGeom>
          <a:noFill/>
          <a:ln>
            <a:noFill/>
          </a:ln>
        </p:spPr>
        <p:txBody>
          <a:bodyPr anchorCtr="0" anchor="t" bIns="45700" lIns="91425" spcFirstLastPara="1" rIns="91425" wrap="square" tIns="45700">
            <a:noAutofit/>
          </a:bodyPr>
          <a:lstStyle/>
          <a:p>
            <a:pPr indent="-401638" lvl="0" marL="401638" marR="0" rtl="0" algn="l">
              <a:lnSpc>
                <a:spcPct val="90000"/>
              </a:lnSpc>
              <a:spcBef>
                <a:spcPts val="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Principles of network applications</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Web and HTTP</a:t>
            </a:r>
            <a:endParaRPr/>
          </a:p>
          <a:p>
            <a:pPr indent="-401638" lvl="0" marL="401638" marR="0" rtl="0" algn="l">
              <a:lnSpc>
                <a:spcPct val="90000"/>
              </a:lnSpc>
              <a:spcBef>
                <a:spcPts val="1000"/>
              </a:spcBef>
              <a:spcAft>
                <a:spcPts val="0"/>
              </a:spcAft>
              <a:buClr>
                <a:srgbClr val="0000A8"/>
              </a:buClr>
              <a:buSzPts val="3200"/>
              <a:buFont typeface="Noto Sans Symbols"/>
              <a:buChar char="▪"/>
            </a:pPr>
            <a:r>
              <a:rPr lang="en-US" sz="3200">
                <a:solidFill>
                  <a:schemeClr val="dk1"/>
                </a:solidFill>
                <a:latin typeface="Calibri"/>
                <a:ea typeface="Calibri"/>
                <a:cs typeface="Calibri"/>
                <a:sym typeface="Calibri"/>
              </a:rPr>
              <a:t>E-mail, SMTP, IMAP</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The Domain Name System DNS</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
        <p:nvSpPr>
          <p:cNvPr id="4972" name="Google Shape;4972;p60"/>
          <p:cNvSpPr txBox="1"/>
          <p:nvPr/>
        </p:nvSpPr>
        <p:spPr>
          <a:xfrm>
            <a:off x="6557554" y="1422888"/>
            <a:ext cx="5405262" cy="4799013"/>
          </a:xfrm>
          <a:prstGeom prst="rect">
            <a:avLst/>
          </a:prstGeom>
          <a:noFill/>
          <a:ln>
            <a:noFill/>
          </a:ln>
        </p:spPr>
        <p:txBody>
          <a:bodyPr anchorCtr="0" anchor="t" bIns="45700" lIns="91425" spcFirstLastPara="1" rIns="91425" wrap="square" tIns="45700">
            <a:normAutofit/>
          </a:bodyPr>
          <a:lstStyle/>
          <a:p>
            <a:pPr indent="-349250" lvl="0" marL="349250" marR="0" rtl="0" algn="l">
              <a:lnSpc>
                <a:spcPct val="90000"/>
              </a:lnSpc>
              <a:spcBef>
                <a:spcPts val="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P2P applications</a:t>
            </a:r>
            <a:endParaRPr/>
          </a:p>
          <a:p>
            <a:pPr indent="-349250" lvl="0" marL="349250"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video streaming and content distribution networks</a:t>
            </a:r>
            <a:endParaRPr/>
          </a:p>
          <a:p>
            <a:pPr indent="-349250" lvl="0" marL="349250"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socket programming with UDP and TCP</a:t>
            </a:r>
            <a:endParaRPr/>
          </a:p>
          <a:p>
            <a:pPr indent="-222250" lvl="0" marL="352425" marR="0" rtl="0" algn="l">
              <a:lnSpc>
                <a:spcPct val="90000"/>
              </a:lnSpc>
              <a:spcBef>
                <a:spcPts val="1000"/>
              </a:spcBef>
              <a:spcAft>
                <a:spcPts val="0"/>
              </a:spcAft>
              <a:buClr>
                <a:srgbClr val="0000A3"/>
              </a:buClr>
              <a:buSzPts val="2400"/>
              <a:buFont typeface="Noto Sans Symbols"/>
              <a:buNone/>
            </a:pPr>
            <a:r>
              <a:t/>
            </a:r>
            <a:endParaRPr sz="2400">
              <a:solidFill>
                <a:schemeClr val="dk1"/>
              </a:solidFill>
              <a:latin typeface="Calibri"/>
              <a:ea typeface="Calibri"/>
              <a:cs typeface="Calibri"/>
              <a:sym typeface="Calibri"/>
            </a:endParaRPr>
          </a:p>
        </p:txBody>
      </p:sp>
      <p:sp>
        <p:nvSpPr>
          <p:cNvPr id="4973" name="Google Shape;4973;p6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pic>
        <p:nvPicPr>
          <p:cNvPr descr="Kurose&amp;Ross 8th edition photo" id="4974" name="Google Shape;4974;p60"/>
          <p:cNvPicPr preferRelativeResize="0"/>
          <p:nvPr/>
        </p:nvPicPr>
        <p:blipFill rotWithShape="1">
          <a:blip r:embed="rId3">
            <a:alphaModFix/>
          </a:blip>
          <a:srcRect b="0" l="0" r="0" t="0"/>
          <a:stretch/>
        </p:blipFill>
        <p:spPr>
          <a:xfrm>
            <a:off x="6957391" y="4125913"/>
            <a:ext cx="3087757" cy="2315818"/>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9" name="Shape 4979"/>
        <p:cNvGrpSpPr/>
        <p:nvPr/>
      </p:nvGrpSpPr>
      <p:grpSpPr>
        <a:xfrm>
          <a:off x="0" y="0"/>
          <a:ext cx="0" cy="0"/>
          <a:chOff x="0" y="0"/>
          <a:chExt cx="0" cy="0"/>
        </a:xfrm>
      </p:grpSpPr>
      <p:sp>
        <p:nvSpPr>
          <p:cNvPr id="4980" name="Google Shape;4980;p6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E-mail</a:t>
            </a:r>
            <a:endParaRPr sz="4400"/>
          </a:p>
        </p:txBody>
      </p:sp>
      <p:sp>
        <p:nvSpPr>
          <p:cNvPr id="4981" name="Google Shape;4981;p6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4982" name="Google Shape;4982;p61"/>
          <p:cNvSpPr txBox="1"/>
          <p:nvPr/>
        </p:nvSpPr>
        <p:spPr>
          <a:xfrm>
            <a:off x="544512" y="1366838"/>
            <a:ext cx="7119031" cy="48768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Three major components: </a:t>
            </a:r>
            <a:endParaRPr/>
          </a:p>
          <a:p>
            <a:pPr indent="-215900" lvl="0" marL="46037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user agents </a:t>
            </a:r>
            <a:endParaRPr/>
          </a:p>
          <a:p>
            <a:pPr indent="-215900" lvl="0" marL="46037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mail servers </a:t>
            </a:r>
            <a:endParaRPr/>
          </a:p>
          <a:p>
            <a:pPr indent="-215900" lvl="0" marL="46037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simple mail transfer protocol: SMTP</a:t>
            </a:r>
            <a:endParaRPr/>
          </a:p>
          <a:p>
            <a:pPr indent="-222250" lvl="0" marL="352425" marR="0" rtl="0" algn="l">
              <a:lnSpc>
                <a:spcPct val="90000"/>
              </a:lnSpc>
              <a:spcBef>
                <a:spcPts val="3100"/>
              </a:spcBef>
              <a:spcAft>
                <a:spcPts val="0"/>
              </a:spcAft>
              <a:buClr>
                <a:srgbClr val="0000A3"/>
              </a:buClr>
              <a:buSzPts val="3600"/>
              <a:buFont typeface="Noto Sans Symbols"/>
              <a:buNone/>
            </a:pPr>
            <a:r>
              <a:rPr lang="en-US" sz="3600">
                <a:solidFill>
                  <a:srgbClr val="CC0000"/>
                </a:solidFill>
                <a:latin typeface="Calibri"/>
                <a:ea typeface="Calibri"/>
                <a:cs typeface="Calibri"/>
                <a:sym typeface="Calibri"/>
              </a:rPr>
              <a:t>User Agent</a:t>
            </a:r>
            <a:endParaRPr/>
          </a:p>
          <a:p>
            <a:pPr indent="-215900" lvl="0" marL="46037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a.k.a. “mail reader”</a:t>
            </a:r>
            <a:endParaRPr/>
          </a:p>
          <a:p>
            <a:pPr indent="-215900" lvl="0" marL="46037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composing, editing, reading mail messages</a:t>
            </a:r>
            <a:endParaRPr/>
          </a:p>
          <a:p>
            <a:pPr indent="-215900" lvl="0" marL="46037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e.g., Outlook, iPhone mail client</a:t>
            </a:r>
            <a:endParaRPr/>
          </a:p>
          <a:p>
            <a:pPr indent="-215900" lvl="0" marL="46037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outgoing, incoming messages stored on server</a:t>
            </a:r>
            <a:endParaRPr/>
          </a:p>
        </p:txBody>
      </p:sp>
      <p:sp>
        <p:nvSpPr>
          <p:cNvPr id="4983" name="Google Shape;4983;p61"/>
          <p:cNvSpPr/>
          <p:nvPr/>
        </p:nvSpPr>
        <p:spPr>
          <a:xfrm>
            <a:off x="9629775" y="406072"/>
            <a:ext cx="1828800" cy="981075"/>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grpSp>
        <p:nvGrpSpPr>
          <p:cNvPr id="4984" name="Google Shape;4984;p61"/>
          <p:cNvGrpSpPr/>
          <p:nvPr/>
        </p:nvGrpSpPr>
        <p:grpSpPr>
          <a:xfrm>
            <a:off x="9726613" y="353688"/>
            <a:ext cx="1736725" cy="989013"/>
            <a:chOff x="4458" y="3335"/>
            <a:chExt cx="1094" cy="623"/>
          </a:xfrm>
        </p:grpSpPr>
        <p:sp>
          <p:nvSpPr>
            <p:cNvPr id="4985" name="Google Shape;4985;p61"/>
            <p:cNvSpPr txBox="1"/>
            <p:nvPr/>
          </p:nvSpPr>
          <p:spPr>
            <a:xfrm>
              <a:off x="4663" y="3725"/>
              <a:ext cx="875" cy="23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user mailbox</a:t>
              </a:r>
              <a:endParaRPr b="0" i="0" sz="2800" u="none" cap="none" strike="noStrike">
                <a:solidFill>
                  <a:srgbClr val="000000"/>
                </a:solidFill>
                <a:latin typeface="Calibri"/>
                <a:ea typeface="Calibri"/>
                <a:cs typeface="Calibri"/>
                <a:sym typeface="Calibri"/>
              </a:endParaRPr>
            </a:p>
          </p:txBody>
        </p:sp>
        <p:grpSp>
          <p:nvGrpSpPr>
            <p:cNvPr id="4986" name="Google Shape;4986;p61"/>
            <p:cNvGrpSpPr/>
            <p:nvPr/>
          </p:nvGrpSpPr>
          <p:grpSpPr>
            <a:xfrm>
              <a:off x="4458" y="3408"/>
              <a:ext cx="450" cy="120"/>
              <a:chOff x="4314" y="3444"/>
              <a:chExt cx="450" cy="120"/>
            </a:xfrm>
          </p:grpSpPr>
          <p:sp>
            <p:nvSpPr>
              <p:cNvPr id="4987" name="Google Shape;4987;p61"/>
              <p:cNvSpPr/>
              <p:nvPr/>
            </p:nvSpPr>
            <p:spPr>
              <a:xfrm>
                <a:off x="4314" y="3444"/>
                <a:ext cx="450" cy="120"/>
              </a:xfrm>
              <a:prstGeom prst="rect">
                <a:avLst/>
              </a:prstGeom>
              <a:solidFill>
                <a:srgbClr val="00FF00"/>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cxnSp>
            <p:nvCxnSpPr>
              <p:cNvPr id="4988" name="Google Shape;4988;p61"/>
              <p:cNvCxnSpPr/>
              <p:nvPr/>
            </p:nvCxnSpPr>
            <p:spPr>
              <a:xfrm>
                <a:off x="4363" y="3472"/>
                <a:ext cx="0" cy="72"/>
              </a:xfrm>
              <a:prstGeom prst="straightConnector1">
                <a:avLst/>
              </a:prstGeom>
              <a:noFill/>
              <a:ln cap="flat" cmpd="sng" w="19050">
                <a:solidFill>
                  <a:srgbClr val="000000"/>
                </a:solidFill>
                <a:prstDash val="solid"/>
                <a:round/>
                <a:headEnd len="med" w="med" type="none"/>
                <a:tailEnd len="med" w="med" type="none"/>
              </a:ln>
            </p:spPr>
          </p:cxnSp>
          <p:cxnSp>
            <p:nvCxnSpPr>
              <p:cNvPr id="4989" name="Google Shape;4989;p61"/>
              <p:cNvCxnSpPr/>
              <p:nvPr/>
            </p:nvCxnSpPr>
            <p:spPr>
              <a:xfrm flipH="1">
                <a:off x="4472" y="3471"/>
                <a:ext cx="6" cy="72"/>
              </a:xfrm>
              <a:prstGeom prst="straightConnector1">
                <a:avLst/>
              </a:prstGeom>
              <a:noFill/>
              <a:ln cap="flat" cmpd="sng" w="19050">
                <a:solidFill>
                  <a:srgbClr val="000000"/>
                </a:solidFill>
                <a:prstDash val="solid"/>
                <a:round/>
                <a:headEnd len="med" w="med" type="none"/>
                <a:tailEnd len="med" w="med" type="none"/>
              </a:ln>
            </p:spPr>
          </p:cxnSp>
          <p:cxnSp>
            <p:nvCxnSpPr>
              <p:cNvPr id="4990" name="Google Shape;4990;p61"/>
              <p:cNvCxnSpPr/>
              <p:nvPr/>
            </p:nvCxnSpPr>
            <p:spPr>
              <a:xfrm>
                <a:off x="4527" y="3473"/>
                <a:ext cx="0" cy="72"/>
              </a:xfrm>
              <a:prstGeom prst="straightConnector1">
                <a:avLst/>
              </a:prstGeom>
              <a:noFill/>
              <a:ln cap="flat" cmpd="sng" w="19050">
                <a:solidFill>
                  <a:srgbClr val="000000"/>
                </a:solidFill>
                <a:prstDash val="solid"/>
                <a:round/>
                <a:headEnd len="med" w="med" type="none"/>
                <a:tailEnd len="med" w="med" type="none"/>
              </a:ln>
            </p:spPr>
          </p:cxnSp>
          <p:cxnSp>
            <p:nvCxnSpPr>
              <p:cNvPr id="4991" name="Google Shape;4991;p61"/>
              <p:cNvCxnSpPr/>
              <p:nvPr/>
            </p:nvCxnSpPr>
            <p:spPr>
              <a:xfrm>
                <a:off x="4584" y="3471"/>
                <a:ext cx="0" cy="72"/>
              </a:xfrm>
              <a:prstGeom prst="straightConnector1">
                <a:avLst/>
              </a:prstGeom>
              <a:noFill/>
              <a:ln cap="flat" cmpd="sng" w="19050">
                <a:solidFill>
                  <a:srgbClr val="000000"/>
                </a:solidFill>
                <a:prstDash val="solid"/>
                <a:round/>
                <a:headEnd len="med" w="med" type="none"/>
                <a:tailEnd len="med" w="med" type="none"/>
              </a:ln>
            </p:spPr>
          </p:cxnSp>
          <p:cxnSp>
            <p:nvCxnSpPr>
              <p:cNvPr id="4992" name="Google Shape;4992;p61"/>
              <p:cNvCxnSpPr/>
              <p:nvPr/>
            </p:nvCxnSpPr>
            <p:spPr>
              <a:xfrm>
                <a:off x="4645" y="3471"/>
                <a:ext cx="0" cy="72"/>
              </a:xfrm>
              <a:prstGeom prst="straightConnector1">
                <a:avLst/>
              </a:prstGeom>
              <a:noFill/>
              <a:ln cap="flat" cmpd="sng" w="19050">
                <a:solidFill>
                  <a:srgbClr val="000000"/>
                </a:solidFill>
                <a:prstDash val="solid"/>
                <a:round/>
                <a:headEnd len="med" w="med" type="none"/>
                <a:tailEnd len="med" w="med" type="none"/>
              </a:ln>
            </p:spPr>
          </p:cxnSp>
          <p:cxnSp>
            <p:nvCxnSpPr>
              <p:cNvPr id="4993" name="Google Shape;4993;p61"/>
              <p:cNvCxnSpPr/>
              <p:nvPr/>
            </p:nvCxnSpPr>
            <p:spPr>
              <a:xfrm>
                <a:off x="4701" y="3471"/>
                <a:ext cx="0" cy="72"/>
              </a:xfrm>
              <a:prstGeom prst="straightConnector1">
                <a:avLst/>
              </a:prstGeom>
              <a:noFill/>
              <a:ln cap="flat" cmpd="sng" w="19050">
                <a:solidFill>
                  <a:srgbClr val="000000"/>
                </a:solidFill>
                <a:prstDash val="solid"/>
                <a:round/>
                <a:headEnd len="med" w="med" type="none"/>
                <a:tailEnd len="med" w="med" type="none"/>
              </a:ln>
            </p:spPr>
          </p:cxnSp>
          <p:cxnSp>
            <p:nvCxnSpPr>
              <p:cNvPr id="4994" name="Google Shape;4994;p61"/>
              <p:cNvCxnSpPr/>
              <p:nvPr/>
            </p:nvCxnSpPr>
            <p:spPr>
              <a:xfrm>
                <a:off x="4416" y="3472"/>
                <a:ext cx="0" cy="72"/>
              </a:xfrm>
              <a:prstGeom prst="straightConnector1">
                <a:avLst/>
              </a:prstGeom>
              <a:noFill/>
              <a:ln cap="flat" cmpd="sng" w="19050">
                <a:solidFill>
                  <a:srgbClr val="000000"/>
                </a:solidFill>
                <a:prstDash val="solid"/>
                <a:round/>
                <a:headEnd len="med" w="med" type="none"/>
                <a:tailEnd len="med" w="med" type="none"/>
              </a:ln>
            </p:spPr>
          </p:cxnSp>
        </p:grpSp>
        <p:sp>
          <p:nvSpPr>
            <p:cNvPr id="4995" name="Google Shape;4995;p61"/>
            <p:cNvSpPr/>
            <p:nvPr/>
          </p:nvSpPr>
          <p:spPr>
            <a:xfrm>
              <a:off x="4472" y="3779"/>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4996" name="Google Shape;4996;p61"/>
            <p:cNvSpPr txBox="1"/>
            <p:nvPr/>
          </p:nvSpPr>
          <p:spPr>
            <a:xfrm>
              <a:off x="4514" y="3335"/>
              <a:ext cx="1038" cy="40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outgoing </a:t>
              </a:r>
              <a:endParaRPr/>
            </a:p>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message queue</a:t>
              </a:r>
              <a:endParaRPr b="0" i="0" sz="2800" u="none" cap="none" strike="noStrike">
                <a:solidFill>
                  <a:srgbClr val="000000"/>
                </a:solidFill>
                <a:latin typeface="Calibri"/>
                <a:ea typeface="Calibri"/>
                <a:cs typeface="Calibri"/>
                <a:sym typeface="Calibri"/>
              </a:endParaRPr>
            </a:p>
          </p:txBody>
        </p:sp>
      </p:grpSp>
      <p:grpSp>
        <p:nvGrpSpPr>
          <p:cNvPr id="4997" name="Google Shape;4997;p61"/>
          <p:cNvGrpSpPr/>
          <p:nvPr/>
        </p:nvGrpSpPr>
        <p:grpSpPr>
          <a:xfrm>
            <a:off x="7335838" y="1183947"/>
            <a:ext cx="4311650" cy="5118100"/>
            <a:chOff x="2941" y="886"/>
            <a:chExt cx="2716" cy="3224"/>
          </a:xfrm>
        </p:grpSpPr>
        <p:grpSp>
          <p:nvGrpSpPr>
            <p:cNvPr id="4998" name="Google Shape;4998;p61"/>
            <p:cNvGrpSpPr/>
            <p:nvPr/>
          </p:nvGrpSpPr>
          <p:grpSpPr>
            <a:xfrm>
              <a:off x="4346" y="1756"/>
              <a:ext cx="301" cy="451"/>
              <a:chOff x="4140" y="429"/>
              <a:chExt cx="1425" cy="2396"/>
            </a:xfrm>
          </p:grpSpPr>
          <p:sp>
            <p:nvSpPr>
              <p:cNvPr id="4999" name="Google Shape;4999;p6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00" name="Google Shape;5000;p61"/>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01" name="Google Shape;5001;p6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02" name="Google Shape;5002;p6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03" name="Google Shape;5003;p61"/>
              <p:cNvSpPr/>
              <p:nvPr/>
            </p:nvSpPr>
            <p:spPr>
              <a:xfrm>
                <a:off x="4211" y="695"/>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004" name="Google Shape;5004;p61"/>
              <p:cNvGrpSpPr/>
              <p:nvPr/>
            </p:nvGrpSpPr>
            <p:grpSpPr>
              <a:xfrm>
                <a:off x="4751" y="668"/>
                <a:ext cx="578" cy="144"/>
                <a:chOff x="616" y="2568"/>
                <a:chExt cx="721" cy="138"/>
              </a:xfrm>
            </p:grpSpPr>
            <p:sp>
              <p:nvSpPr>
                <p:cNvPr id="5005" name="Google Shape;5005;p61"/>
                <p:cNvSpPr/>
                <p:nvPr/>
              </p:nvSpPr>
              <p:spPr>
                <a:xfrm>
                  <a:off x="616" y="2568"/>
                  <a:ext cx="721"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06" name="Google Shape;5006;p61"/>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007" name="Google Shape;5007;p61"/>
              <p:cNvSpPr/>
              <p:nvPr/>
            </p:nvSpPr>
            <p:spPr>
              <a:xfrm>
                <a:off x="4225" y="101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008" name="Google Shape;5008;p61"/>
              <p:cNvGrpSpPr/>
              <p:nvPr/>
            </p:nvGrpSpPr>
            <p:grpSpPr>
              <a:xfrm>
                <a:off x="4746" y="992"/>
                <a:ext cx="583" cy="138"/>
                <a:chOff x="613" y="2566"/>
                <a:chExt cx="727" cy="143"/>
              </a:xfrm>
            </p:grpSpPr>
            <p:sp>
              <p:nvSpPr>
                <p:cNvPr id="5009" name="Google Shape;5009;p61"/>
                <p:cNvSpPr/>
                <p:nvPr/>
              </p:nvSpPr>
              <p:spPr>
                <a:xfrm>
                  <a:off x="613" y="2566"/>
                  <a:ext cx="727" cy="14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10" name="Google Shape;5010;p61"/>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011" name="Google Shape;5011;p61"/>
              <p:cNvSpPr/>
              <p:nvPr/>
            </p:nvSpPr>
            <p:spPr>
              <a:xfrm>
                <a:off x="4216" y="135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12" name="Google Shape;5012;p61"/>
              <p:cNvSpPr/>
              <p:nvPr/>
            </p:nvSpPr>
            <p:spPr>
              <a:xfrm>
                <a:off x="4230" y="1656"/>
                <a:ext cx="592"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013" name="Google Shape;5013;p61"/>
              <p:cNvGrpSpPr/>
              <p:nvPr/>
            </p:nvGrpSpPr>
            <p:grpSpPr>
              <a:xfrm>
                <a:off x="4737" y="1629"/>
                <a:ext cx="582" cy="149"/>
                <a:chOff x="616" y="2570"/>
                <a:chExt cx="725" cy="137"/>
              </a:xfrm>
            </p:grpSpPr>
            <p:sp>
              <p:nvSpPr>
                <p:cNvPr id="5014" name="Google Shape;5014;p61"/>
                <p:cNvSpPr/>
                <p:nvPr/>
              </p:nvSpPr>
              <p:spPr>
                <a:xfrm>
                  <a:off x="616" y="2570"/>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15" name="Google Shape;5015;p61"/>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016" name="Google Shape;5016;p6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017" name="Google Shape;5017;p61"/>
              <p:cNvGrpSpPr/>
              <p:nvPr/>
            </p:nvGrpSpPr>
            <p:grpSpPr>
              <a:xfrm>
                <a:off x="4751" y="1327"/>
                <a:ext cx="564" cy="138"/>
                <a:chOff x="629" y="2568"/>
                <a:chExt cx="702" cy="138"/>
              </a:xfrm>
            </p:grpSpPr>
            <p:sp>
              <p:nvSpPr>
                <p:cNvPr id="5018" name="Google Shape;5018;p61"/>
                <p:cNvSpPr/>
                <p:nvPr/>
              </p:nvSpPr>
              <p:spPr>
                <a:xfrm>
                  <a:off x="629" y="2568"/>
                  <a:ext cx="702"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19" name="Google Shape;5019;p61"/>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020" name="Google Shape;5020;p61"/>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21" name="Google Shape;5021;p6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22" name="Google Shape;5022;p6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23" name="Google Shape;5023;p61"/>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24" name="Google Shape;5024;p6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25" name="Google Shape;5025;p61"/>
              <p:cNvSpPr/>
              <p:nvPr/>
            </p:nvSpPr>
            <p:spPr>
              <a:xfrm>
                <a:off x="4140" y="2676"/>
                <a:ext cx="1198" cy="149"/>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26" name="Google Shape;5026;p61"/>
              <p:cNvSpPr/>
              <p:nvPr/>
            </p:nvSpPr>
            <p:spPr>
              <a:xfrm>
                <a:off x="4206" y="2713"/>
                <a:ext cx="1070" cy="80"/>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27" name="Google Shape;5027;p61"/>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28" name="Google Shape;5028;p61"/>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0000"/>
                  </a:solidFill>
                  <a:latin typeface="Calibri"/>
                  <a:ea typeface="Calibri"/>
                  <a:cs typeface="Calibri"/>
                  <a:sym typeface="Calibri"/>
                </a:endParaRPr>
              </a:p>
            </p:txBody>
          </p:sp>
          <p:sp>
            <p:nvSpPr>
              <p:cNvPr id="5029" name="Google Shape;5029;p61"/>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30" name="Google Shape;5030;p61"/>
              <p:cNvSpPr/>
              <p:nvPr/>
            </p:nvSpPr>
            <p:spPr>
              <a:xfrm>
                <a:off x="5063" y="1837"/>
                <a:ext cx="85"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031" name="Google Shape;5031;p61"/>
            <p:cNvGrpSpPr/>
            <p:nvPr/>
          </p:nvGrpSpPr>
          <p:grpSpPr>
            <a:xfrm>
              <a:off x="3091" y="2634"/>
              <a:ext cx="301" cy="451"/>
              <a:chOff x="4140" y="429"/>
              <a:chExt cx="1425" cy="2396"/>
            </a:xfrm>
          </p:grpSpPr>
          <p:sp>
            <p:nvSpPr>
              <p:cNvPr id="5032" name="Google Shape;5032;p6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33" name="Google Shape;5033;p61"/>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34" name="Google Shape;5034;p6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35" name="Google Shape;5035;p6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36" name="Google Shape;5036;p61"/>
              <p:cNvSpPr/>
              <p:nvPr/>
            </p:nvSpPr>
            <p:spPr>
              <a:xfrm>
                <a:off x="4211" y="695"/>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037" name="Google Shape;5037;p61"/>
              <p:cNvGrpSpPr/>
              <p:nvPr/>
            </p:nvGrpSpPr>
            <p:grpSpPr>
              <a:xfrm>
                <a:off x="4751" y="668"/>
                <a:ext cx="578" cy="144"/>
                <a:chOff x="616" y="2568"/>
                <a:chExt cx="721" cy="138"/>
              </a:xfrm>
            </p:grpSpPr>
            <p:sp>
              <p:nvSpPr>
                <p:cNvPr id="5038" name="Google Shape;5038;p61"/>
                <p:cNvSpPr/>
                <p:nvPr/>
              </p:nvSpPr>
              <p:spPr>
                <a:xfrm>
                  <a:off x="616" y="2568"/>
                  <a:ext cx="721"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39" name="Google Shape;5039;p61"/>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040" name="Google Shape;5040;p61"/>
              <p:cNvSpPr/>
              <p:nvPr/>
            </p:nvSpPr>
            <p:spPr>
              <a:xfrm>
                <a:off x="4225" y="101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041" name="Google Shape;5041;p61"/>
              <p:cNvGrpSpPr/>
              <p:nvPr/>
            </p:nvGrpSpPr>
            <p:grpSpPr>
              <a:xfrm>
                <a:off x="4746" y="992"/>
                <a:ext cx="583" cy="138"/>
                <a:chOff x="613" y="2566"/>
                <a:chExt cx="727" cy="143"/>
              </a:xfrm>
            </p:grpSpPr>
            <p:sp>
              <p:nvSpPr>
                <p:cNvPr id="5042" name="Google Shape;5042;p61"/>
                <p:cNvSpPr/>
                <p:nvPr/>
              </p:nvSpPr>
              <p:spPr>
                <a:xfrm>
                  <a:off x="613" y="2566"/>
                  <a:ext cx="727" cy="14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43" name="Google Shape;5043;p61"/>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044" name="Google Shape;5044;p61"/>
              <p:cNvSpPr/>
              <p:nvPr/>
            </p:nvSpPr>
            <p:spPr>
              <a:xfrm>
                <a:off x="4216" y="135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45" name="Google Shape;5045;p61"/>
              <p:cNvSpPr/>
              <p:nvPr/>
            </p:nvSpPr>
            <p:spPr>
              <a:xfrm>
                <a:off x="4230" y="1656"/>
                <a:ext cx="592"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046" name="Google Shape;5046;p61"/>
              <p:cNvGrpSpPr/>
              <p:nvPr/>
            </p:nvGrpSpPr>
            <p:grpSpPr>
              <a:xfrm>
                <a:off x="4737" y="1629"/>
                <a:ext cx="582" cy="149"/>
                <a:chOff x="616" y="2570"/>
                <a:chExt cx="725" cy="137"/>
              </a:xfrm>
            </p:grpSpPr>
            <p:sp>
              <p:nvSpPr>
                <p:cNvPr id="5047" name="Google Shape;5047;p61"/>
                <p:cNvSpPr/>
                <p:nvPr/>
              </p:nvSpPr>
              <p:spPr>
                <a:xfrm>
                  <a:off x="616" y="2570"/>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48" name="Google Shape;5048;p61"/>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049" name="Google Shape;5049;p6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050" name="Google Shape;5050;p61"/>
              <p:cNvGrpSpPr/>
              <p:nvPr/>
            </p:nvGrpSpPr>
            <p:grpSpPr>
              <a:xfrm>
                <a:off x="4751" y="1327"/>
                <a:ext cx="564" cy="138"/>
                <a:chOff x="629" y="2568"/>
                <a:chExt cx="702" cy="138"/>
              </a:xfrm>
            </p:grpSpPr>
            <p:sp>
              <p:nvSpPr>
                <p:cNvPr id="5051" name="Google Shape;5051;p61"/>
                <p:cNvSpPr/>
                <p:nvPr/>
              </p:nvSpPr>
              <p:spPr>
                <a:xfrm>
                  <a:off x="629" y="2568"/>
                  <a:ext cx="702"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52" name="Google Shape;5052;p61"/>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053" name="Google Shape;5053;p61"/>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54" name="Google Shape;5054;p6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55" name="Google Shape;5055;p6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56" name="Google Shape;5056;p61"/>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57" name="Google Shape;5057;p6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58" name="Google Shape;5058;p61"/>
              <p:cNvSpPr/>
              <p:nvPr/>
            </p:nvSpPr>
            <p:spPr>
              <a:xfrm>
                <a:off x="4140" y="2676"/>
                <a:ext cx="1198" cy="149"/>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59" name="Google Shape;5059;p61"/>
              <p:cNvSpPr/>
              <p:nvPr/>
            </p:nvSpPr>
            <p:spPr>
              <a:xfrm>
                <a:off x="4206" y="2713"/>
                <a:ext cx="1070" cy="80"/>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60" name="Google Shape;5060;p61"/>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61" name="Google Shape;5061;p61"/>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0000"/>
                  </a:solidFill>
                  <a:latin typeface="Calibri"/>
                  <a:ea typeface="Calibri"/>
                  <a:cs typeface="Calibri"/>
                  <a:sym typeface="Calibri"/>
                </a:endParaRPr>
              </a:p>
            </p:txBody>
          </p:sp>
          <p:sp>
            <p:nvSpPr>
              <p:cNvPr id="5062" name="Google Shape;5062;p61"/>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63" name="Google Shape;5063;p61"/>
              <p:cNvSpPr/>
              <p:nvPr/>
            </p:nvSpPr>
            <p:spPr>
              <a:xfrm>
                <a:off x="5063" y="1837"/>
                <a:ext cx="85"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064" name="Google Shape;5064;p61"/>
            <p:cNvGrpSpPr/>
            <p:nvPr/>
          </p:nvGrpSpPr>
          <p:grpSpPr>
            <a:xfrm>
              <a:off x="3105" y="1159"/>
              <a:ext cx="301" cy="451"/>
              <a:chOff x="4140" y="429"/>
              <a:chExt cx="1425" cy="2396"/>
            </a:xfrm>
          </p:grpSpPr>
          <p:sp>
            <p:nvSpPr>
              <p:cNvPr id="5065" name="Google Shape;5065;p6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66" name="Google Shape;5066;p61"/>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67" name="Google Shape;5067;p6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68" name="Google Shape;5068;p6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69" name="Google Shape;5069;p61"/>
              <p:cNvSpPr/>
              <p:nvPr/>
            </p:nvSpPr>
            <p:spPr>
              <a:xfrm>
                <a:off x="4211" y="695"/>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070" name="Google Shape;5070;p61"/>
              <p:cNvGrpSpPr/>
              <p:nvPr/>
            </p:nvGrpSpPr>
            <p:grpSpPr>
              <a:xfrm>
                <a:off x="4751" y="668"/>
                <a:ext cx="578" cy="144"/>
                <a:chOff x="616" y="2568"/>
                <a:chExt cx="721" cy="138"/>
              </a:xfrm>
            </p:grpSpPr>
            <p:sp>
              <p:nvSpPr>
                <p:cNvPr id="5071" name="Google Shape;5071;p61"/>
                <p:cNvSpPr/>
                <p:nvPr/>
              </p:nvSpPr>
              <p:spPr>
                <a:xfrm>
                  <a:off x="616" y="2568"/>
                  <a:ext cx="721"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72" name="Google Shape;5072;p61"/>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073" name="Google Shape;5073;p61"/>
              <p:cNvSpPr/>
              <p:nvPr/>
            </p:nvSpPr>
            <p:spPr>
              <a:xfrm>
                <a:off x="4225" y="101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074" name="Google Shape;5074;p61"/>
              <p:cNvGrpSpPr/>
              <p:nvPr/>
            </p:nvGrpSpPr>
            <p:grpSpPr>
              <a:xfrm>
                <a:off x="4746" y="992"/>
                <a:ext cx="583" cy="138"/>
                <a:chOff x="613" y="2566"/>
                <a:chExt cx="727" cy="143"/>
              </a:xfrm>
            </p:grpSpPr>
            <p:sp>
              <p:nvSpPr>
                <p:cNvPr id="5075" name="Google Shape;5075;p61"/>
                <p:cNvSpPr/>
                <p:nvPr/>
              </p:nvSpPr>
              <p:spPr>
                <a:xfrm>
                  <a:off x="613" y="2566"/>
                  <a:ext cx="727" cy="14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76" name="Google Shape;5076;p61"/>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077" name="Google Shape;5077;p61"/>
              <p:cNvSpPr/>
              <p:nvPr/>
            </p:nvSpPr>
            <p:spPr>
              <a:xfrm>
                <a:off x="4216" y="135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78" name="Google Shape;5078;p61"/>
              <p:cNvSpPr/>
              <p:nvPr/>
            </p:nvSpPr>
            <p:spPr>
              <a:xfrm>
                <a:off x="4230" y="1656"/>
                <a:ext cx="592"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079" name="Google Shape;5079;p61"/>
              <p:cNvGrpSpPr/>
              <p:nvPr/>
            </p:nvGrpSpPr>
            <p:grpSpPr>
              <a:xfrm>
                <a:off x="4737" y="1629"/>
                <a:ext cx="582" cy="149"/>
                <a:chOff x="616" y="2570"/>
                <a:chExt cx="725" cy="137"/>
              </a:xfrm>
            </p:grpSpPr>
            <p:sp>
              <p:nvSpPr>
                <p:cNvPr id="5080" name="Google Shape;5080;p61"/>
                <p:cNvSpPr/>
                <p:nvPr/>
              </p:nvSpPr>
              <p:spPr>
                <a:xfrm>
                  <a:off x="616" y="2570"/>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81" name="Google Shape;5081;p61"/>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082" name="Google Shape;5082;p6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083" name="Google Shape;5083;p61"/>
              <p:cNvGrpSpPr/>
              <p:nvPr/>
            </p:nvGrpSpPr>
            <p:grpSpPr>
              <a:xfrm>
                <a:off x="4751" y="1327"/>
                <a:ext cx="564" cy="138"/>
                <a:chOff x="629" y="2568"/>
                <a:chExt cx="702" cy="138"/>
              </a:xfrm>
            </p:grpSpPr>
            <p:sp>
              <p:nvSpPr>
                <p:cNvPr id="5084" name="Google Shape;5084;p61"/>
                <p:cNvSpPr/>
                <p:nvPr/>
              </p:nvSpPr>
              <p:spPr>
                <a:xfrm>
                  <a:off x="629" y="2568"/>
                  <a:ext cx="702"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85" name="Google Shape;5085;p61"/>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086" name="Google Shape;5086;p61"/>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87" name="Google Shape;5087;p6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88" name="Google Shape;5088;p6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89" name="Google Shape;5089;p61"/>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90" name="Google Shape;5090;p6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91" name="Google Shape;5091;p61"/>
              <p:cNvSpPr/>
              <p:nvPr/>
            </p:nvSpPr>
            <p:spPr>
              <a:xfrm>
                <a:off x="4140" y="2676"/>
                <a:ext cx="1198" cy="149"/>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92" name="Google Shape;5092;p61"/>
              <p:cNvSpPr/>
              <p:nvPr/>
            </p:nvSpPr>
            <p:spPr>
              <a:xfrm>
                <a:off x="4206" y="2713"/>
                <a:ext cx="1070" cy="80"/>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93" name="Google Shape;5093;p61"/>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94" name="Google Shape;5094;p61"/>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0000"/>
                  </a:solidFill>
                  <a:latin typeface="Calibri"/>
                  <a:ea typeface="Calibri"/>
                  <a:cs typeface="Calibri"/>
                  <a:sym typeface="Calibri"/>
                </a:endParaRPr>
              </a:p>
            </p:txBody>
          </p:sp>
          <p:sp>
            <p:nvSpPr>
              <p:cNvPr id="5095" name="Google Shape;5095;p61"/>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096" name="Google Shape;5096;p61"/>
              <p:cNvSpPr/>
              <p:nvPr/>
            </p:nvSpPr>
            <p:spPr>
              <a:xfrm>
                <a:off x="5063" y="1837"/>
                <a:ext cx="85"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cxnSp>
          <p:nvCxnSpPr>
            <p:cNvPr id="5097" name="Google Shape;5097;p61"/>
            <p:cNvCxnSpPr/>
            <p:nvPr/>
          </p:nvCxnSpPr>
          <p:spPr>
            <a:xfrm>
              <a:off x="3734" y="1642"/>
              <a:ext cx="708" cy="498"/>
            </a:xfrm>
            <a:prstGeom prst="straightConnector1">
              <a:avLst/>
            </a:prstGeom>
            <a:noFill/>
            <a:ln cap="flat" cmpd="sng" w="28575">
              <a:solidFill>
                <a:srgbClr val="CC0000"/>
              </a:solidFill>
              <a:prstDash val="solid"/>
              <a:round/>
              <a:headEnd len="med" w="med" type="triangle"/>
              <a:tailEnd len="med" w="med" type="triangle"/>
            </a:ln>
          </p:spPr>
        </p:cxnSp>
        <p:grpSp>
          <p:nvGrpSpPr>
            <p:cNvPr id="5098" name="Google Shape;5098;p61"/>
            <p:cNvGrpSpPr/>
            <p:nvPr/>
          </p:nvGrpSpPr>
          <p:grpSpPr>
            <a:xfrm>
              <a:off x="4466" y="1881"/>
              <a:ext cx="510" cy="661"/>
              <a:chOff x="4296" y="2627"/>
              <a:chExt cx="510" cy="661"/>
            </a:xfrm>
          </p:grpSpPr>
          <p:sp>
            <p:nvSpPr>
              <p:cNvPr id="5099" name="Google Shape;5099;p61"/>
              <p:cNvSpPr/>
              <p:nvPr/>
            </p:nvSpPr>
            <p:spPr>
              <a:xfrm>
                <a:off x="4296" y="2652"/>
                <a:ext cx="510" cy="636"/>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00" name="Google Shape;5100;p61"/>
              <p:cNvSpPr txBox="1"/>
              <p:nvPr/>
            </p:nvSpPr>
            <p:spPr>
              <a:xfrm>
                <a:off x="4298" y="2627"/>
                <a:ext cx="485"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mail</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server</a:t>
                </a:r>
                <a:endParaRPr b="0" i="0" sz="2800" u="none" cap="none" strike="noStrike">
                  <a:solidFill>
                    <a:srgbClr val="000000"/>
                  </a:solidFill>
                  <a:latin typeface="Calibri"/>
                  <a:ea typeface="Calibri"/>
                  <a:cs typeface="Calibri"/>
                  <a:sym typeface="Calibri"/>
                </a:endParaRPr>
              </a:p>
            </p:txBody>
          </p:sp>
          <p:sp>
            <p:nvSpPr>
              <p:cNvPr id="5101" name="Google Shape;5101;p61"/>
              <p:cNvSpPr/>
              <p:nvPr/>
            </p:nvSpPr>
            <p:spPr>
              <a:xfrm>
                <a:off x="4320" y="3006"/>
                <a:ext cx="450" cy="120"/>
              </a:xfrm>
              <a:prstGeom prst="rect">
                <a:avLst/>
              </a:prstGeom>
              <a:solidFill>
                <a:srgbClr val="00FF00"/>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cxnSp>
            <p:nvCxnSpPr>
              <p:cNvPr id="5102" name="Google Shape;5102;p61"/>
              <p:cNvCxnSpPr/>
              <p:nvPr/>
            </p:nvCxnSpPr>
            <p:spPr>
              <a:xfrm>
                <a:off x="4369" y="3034"/>
                <a:ext cx="0" cy="72"/>
              </a:xfrm>
              <a:prstGeom prst="straightConnector1">
                <a:avLst/>
              </a:prstGeom>
              <a:noFill/>
              <a:ln cap="flat" cmpd="sng" w="19050">
                <a:solidFill>
                  <a:srgbClr val="000000"/>
                </a:solidFill>
                <a:prstDash val="solid"/>
                <a:round/>
                <a:headEnd len="med" w="med" type="none"/>
                <a:tailEnd len="med" w="med" type="none"/>
              </a:ln>
            </p:spPr>
          </p:cxnSp>
          <p:cxnSp>
            <p:nvCxnSpPr>
              <p:cNvPr id="5103" name="Google Shape;5103;p61"/>
              <p:cNvCxnSpPr/>
              <p:nvPr/>
            </p:nvCxnSpPr>
            <p:spPr>
              <a:xfrm>
                <a:off x="4478"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104" name="Google Shape;5104;p61"/>
              <p:cNvCxnSpPr/>
              <p:nvPr/>
            </p:nvCxnSpPr>
            <p:spPr>
              <a:xfrm>
                <a:off x="4533" y="3035"/>
                <a:ext cx="0" cy="72"/>
              </a:xfrm>
              <a:prstGeom prst="straightConnector1">
                <a:avLst/>
              </a:prstGeom>
              <a:noFill/>
              <a:ln cap="flat" cmpd="sng" w="19050">
                <a:solidFill>
                  <a:srgbClr val="000000"/>
                </a:solidFill>
                <a:prstDash val="solid"/>
                <a:round/>
                <a:headEnd len="med" w="med" type="none"/>
                <a:tailEnd len="med" w="med" type="none"/>
              </a:ln>
            </p:spPr>
          </p:cxnSp>
          <p:cxnSp>
            <p:nvCxnSpPr>
              <p:cNvPr id="5105" name="Google Shape;5105;p61"/>
              <p:cNvCxnSpPr/>
              <p:nvPr/>
            </p:nvCxnSpPr>
            <p:spPr>
              <a:xfrm>
                <a:off x="4590"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106" name="Google Shape;5106;p61"/>
              <p:cNvCxnSpPr/>
              <p:nvPr/>
            </p:nvCxnSpPr>
            <p:spPr>
              <a:xfrm>
                <a:off x="4651"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107" name="Google Shape;5107;p61"/>
              <p:cNvCxnSpPr/>
              <p:nvPr/>
            </p:nvCxnSpPr>
            <p:spPr>
              <a:xfrm>
                <a:off x="4707"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108" name="Google Shape;5108;p61"/>
              <p:cNvCxnSpPr/>
              <p:nvPr/>
            </p:nvCxnSpPr>
            <p:spPr>
              <a:xfrm>
                <a:off x="4422" y="3034"/>
                <a:ext cx="0" cy="72"/>
              </a:xfrm>
              <a:prstGeom prst="straightConnector1">
                <a:avLst/>
              </a:prstGeom>
              <a:noFill/>
              <a:ln cap="flat" cmpd="sng" w="19050">
                <a:solidFill>
                  <a:srgbClr val="000000"/>
                </a:solidFill>
                <a:prstDash val="solid"/>
                <a:round/>
                <a:headEnd len="med" w="med" type="none"/>
                <a:tailEnd len="med" w="med" type="none"/>
              </a:ln>
            </p:spPr>
          </p:cxnSp>
          <p:sp>
            <p:nvSpPr>
              <p:cNvPr id="5109" name="Google Shape;5109;p61"/>
              <p:cNvSpPr/>
              <p:nvPr/>
            </p:nvSpPr>
            <p:spPr>
              <a:xfrm>
                <a:off x="4328"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10" name="Google Shape;5110;p61"/>
              <p:cNvSpPr/>
              <p:nvPr/>
            </p:nvSpPr>
            <p:spPr>
              <a:xfrm>
                <a:off x="4414"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11" name="Google Shape;5111;p61"/>
              <p:cNvSpPr/>
              <p:nvPr/>
            </p:nvSpPr>
            <p:spPr>
              <a:xfrm>
                <a:off x="4500" y="3172"/>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12" name="Google Shape;5112;p61"/>
              <p:cNvSpPr/>
              <p:nvPr/>
            </p:nvSpPr>
            <p:spPr>
              <a:xfrm>
                <a:off x="4597"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13" name="Google Shape;5113;p61"/>
              <p:cNvSpPr/>
              <p:nvPr/>
            </p:nvSpPr>
            <p:spPr>
              <a:xfrm>
                <a:off x="4693"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grpSp>
        <p:grpSp>
          <p:nvGrpSpPr>
            <p:cNvPr id="5114" name="Google Shape;5114;p61"/>
            <p:cNvGrpSpPr/>
            <p:nvPr/>
          </p:nvGrpSpPr>
          <p:grpSpPr>
            <a:xfrm>
              <a:off x="3206" y="2763"/>
              <a:ext cx="510" cy="661"/>
              <a:chOff x="4296" y="2627"/>
              <a:chExt cx="510" cy="661"/>
            </a:xfrm>
          </p:grpSpPr>
          <p:sp>
            <p:nvSpPr>
              <p:cNvPr id="5115" name="Google Shape;5115;p61"/>
              <p:cNvSpPr/>
              <p:nvPr/>
            </p:nvSpPr>
            <p:spPr>
              <a:xfrm>
                <a:off x="4296" y="2652"/>
                <a:ext cx="510" cy="636"/>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16" name="Google Shape;5116;p61"/>
              <p:cNvSpPr txBox="1"/>
              <p:nvPr/>
            </p:nvSpPr>
            <p:spPr>
              <a:xfrm>
                <a:off x="4298" y="2627"/>
                <a:ext cx="485"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mail</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server</a:t>
                </a:r>
                <a:endParaRPr b="0" i="0" sz="2800" u="none" cap="none" strike="noStrike">
                  <a:solidFill>
                    <a:srgbClr val="000000"/>
                  </a:solidFill>
                  <a:latin typeface="Calibri"/>
                  <a:ea typeface="Calibri"/>
                  <a:cs typeface="Calibri"/>
                  <a:sym typeface="Calibri"/>
                </a:endParaRPr>
              </a:p>
            </p:txBody>
          </p:sp>
          <p:sp>
            <p:nvSpPr>
              <p:cNvPr id="5117" name="Google Shape;5117;p61"/>
              <p:cNvSpPr/>
              <p:nvPr/>
            </p:nvSpPr>
            <p:spPr>
              <a:xfrm>
                <a:off x="4320" y="3006"/>
                <a:ext cx="450" cy="120"/>
              </a:xfrm>
              <a:prstGeom prst="rect">
                <a:avLst/>
              </a:prstGeom>
              <a:solidFill>
                <a:srgbClr val="00FF00"/>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cxnSp>
            <p:nvCxnSpPr>
              <p:cNvPr id="5118" name="Google Shape;5118;p61"/>
              <p:cNvCxnSpPr/>
              <p:nvPr/>
            </p:nvCxnSpPr>
            <p:spPr>
              <a:xfrm>
                <a:off x="4369" y="3034"/>
                <a:ext cx="0" cy="72"/>
              </a:xfrm>
              <a:prstGeom prst="straightConnector1">
                <a:avLst/>
              </a:prstGeom>
              <a:noFill/>
              <a:ln cap="flat" cmpd="sng" w="19050">
                <a:solidFill>
                  <a:srgbClr val="000000"/>
                </a:solidFill>
                <a:prstDash val="solid"/>
                <a:round/>
                <a:headEnd len="med" w="med" type="none"/>
                <a:tailEnd len="med" w="med" type="none"/>
              </a:ln>
            </p:spPr>
          </p:cxnSp>
          <p:cxnSp>
            <p:nvCxnSpPr>
              <p:cNvPr id="5119" name="Google Shape;5119;p61"/>
              <p:cNvCxnSpPr/>
              <p:nvPr/>
            </p:nvCxnSpPr>
            <p:spPr>
              <a:xfrm>
                <a:off x="4478"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120" name="Google Shape;5120;p61"/>
              <p:cNvCxnSpPr/>
              <p:nvPr/>
            </p:nvCxnSpPr>
            <p:spPr>
              <a:xfrm>
                <a:off x="4533" y="3035"/>
                <a:ext cx="0" cy="72"/>
              </a:xfrm>
              <a:prstGeom prst="straightConnector1">
                <a:avLst/>
              </a:prstGeom>
              <a:noFill/>
              <a:ln cap="flat" cmpd="sng" w="19050">
                <a:solidFill>
                  <a:srgbClr val="000000"/>
                </a:solidFill>
                <a:prstDash val="solid"/>
                <a:round/>
                <a:headEnd len="med" w="med" type="none"/>
                <a:tailEnd len="med" w="med" type="none"/>
              </a:ln>
            </p:spPr>
          </p:cxnSp>
          <p:cxnSp>
            <p:nvCxnSpPr>
              <p:cNvPr id="5121" name="Google Shape;5121;p61"/>
              <p:cNvCxnSpPr/>
              <p:nvPr/>
            </p:nvCxnSpPr>
            <p:spPr>
              <a:xfrm>
                <a:off x="4590"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122" name="Google Shape;5122;p61"/>
              <p:cNvCxnSpPr/>
              <p:nvPr/>
            </p:nvCxnSpPr>
            <p:spPr>
              <a:xfrm>
                <a:off x="4651"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123" name="Google Shape;5123;p61"/>
              <p:cNvCxnSpPr/>
              <p:nvPr/>
            </p:nvCxnSpPr>
            <p:spPr>
              <a:xfrm>
                <a:off x="4707"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124" name="Google Shape;5124;p61"/>
              <p:cNvCxnSpPr/>
              <p:nvPr/>
            </p:nvCxnSpPr>
            <p:spPr>
              <a:xfrm>
                <a:off x="4422" y="3034"/>
                <a:ext cx="0" cy="72"/>
              </a:xfrm>
              <a:prstGeom prst="straightConnector1">
                <a:avLst/>
              </a:prstGeom>
              <a:noFill/>
              <a:ln cap="flat" cmpd="sng" w="19050">
                <a:solidFill>
                  <a:srgbClr val="000000"/>
                </a:solidFill>
                <a:prstDash val="solid"/>
                <a:round/>
                <a:headEnd len="med" w="med" type="none"/>
                <a:tailEnd len="med" w="med" type="none"/>
              </a:ln>
            </p:spPr>
          </p:cxnSp>
          <p:sp>
            <p:nvSpPr>
              <p:cNvPr id="5125" name="Google Shape;5125;p61"/>
              <p:cNvSpPr/>
              <p:nvPr/>
            </p:nvSpPr>
            <p:spPr>
              <a:xfrm>
                <a:off x="4328"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26" name="Google Shape;5126;p61"/>
              <p:cNvSpPr/>
              <p:nvPr/>
            </p:nvSpPr>
            <p:spPr>
              <a:xfrm>
                <a:off x="4414"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27" name="Google Shape;5127;p61"/>
              <p:cNvSpPr/>
              <p:nvPr/>
            </p:nvSpPr>
            <p:spPr>
              <a:xfrm>
                <a:off x="4500" y="3172"/>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28" name="Google Shape;5128;p61"/>
              <p:cNvSpPr/>
              <p:nvPr/>
            </p:nvSpPr>
            <p:spPr>
              <a:xfrm>
                <a:off x="4597"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29" name="Google Shape;5129;p61"/>
              <p:cNvSpPr/>
              <p:nvPr/>
            </p:nvSpPr>
            <p:spPr>
              <a:xfrm>
                <a:off x="4693"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grpSp>
        <p:grpSp>
          <p:nvGrpSpPr>
            <p:cNvPr id="5130" name="Google Shape;5130;p61"/>
            <p:cNvGrpSpPr/>
            <p:nvPr/>
          </p:nvGrpSpPr>
          <p:grpSpPr>
            <a:xfrm>
              <a:off x="3206" y="1347"/>
              <a:ext cx="510" cy="661"/>
              <a:chOff x="4296" y="2627"/>
              <a:chExt cx="510" cy="661"/>
            </a:xfrm>
          </p:grpSpPr>
          <p:sp>
            <p:nvSpPr>
              <p:cNvPr id="5131" name="Google Shape;5131;p61"/>
              <p:cNvSpPr/>
              <p:nvPr/>
            </p:nvSpPr>
            <p:spPr>
              <a:xfrm>
                <a:off x="4296" y="2652"/>
                <a:ext cx="510" cy="636"/>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32" name="Google Shape;5132;p61"/>
              <p:cNvSpPr txBox="1"/>
              <p:nvPr/>
            </p:nvSpPr>
            <p:spPr>
              <a:xfrm>
                <a:off x="4298" y="2627"/>
                <a:ext cx="485"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mail</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server</a:t>
                </a:r>
                <a:endParaRPr b="0" i="0" sz="2800" u="none" cap="none" strike="noStrike">
                  <a:solidFill>
                    <a:srgbClr val="000000"/>
                  </a:solidFill>
                  <a:latin typeface="Calibri"/>
                  <a:ea typeface="Calibri"/>
                  <a:cs typeface="Calibri"/>
                  <a:sym typeface="Calibri"/>
                </a:endParaRPr>
              </a:p>
            </p:txBody>
          </p:sp>
          <p:sp>
            <p:nvSpPr>
              <p:cNvPr id="5133" name="Google Shape;5133;p61"/>
              <p:cNvSpPr/>
              <p:nvPr/>
            </p:nvSpPr>
            <p:spPr>
              <a:xfrm>
                <a:off x="4320" y="3006"/>
                <a:ext cx="450" cy="120"/>
              </a:xfrm>
              <a:prstGeom prst="rect">
                <a:avLst/>
              </a:prstGeom>
              <a:solidFill>
                <a:srgbClr val="00FF00"/>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cxnSp>
            <p:nvCxnSpPr>
              <p:cNvPr id="5134" name="Google Shape;5134;p61"/>
              <p:cNvCxnSpPr/>
              <p:nvPr/>
            </p:nvCxnSpPr>
            <p:spPr>
              <a:xfrm>
                <a:off x="4369" y="3034"/>
                <a:ext cx="0" cy="72"/>
              </a:xfrm>
              <a:prstGeom prst="straightConnector1">
                <a:avLst/>
              </a:prstGeom>
              <a:noFill/>
              <a:ln cap="flat" cmpd="sng" w="19050">
                <a:solidFill>
                  <a:srgbClr val="000000"/>
                </a:solidFill>
                <a:prstDash val="solid"/>
                <a:round/>
                <a:headEnd len="med" w="med" type="none"/>
                <a:tailEnd len="med" w="med" type="none"/>
              </a:ln>
            </p:spPr>
          </p:cxnSp>
          <p:cxnSp>
            <p:nvCxnSpPr>
              <p:cNvPr id="5135" name="Google Shape;5135;p61"/>
              <p:cNvCxnSpPr/>
              <p:nvPr/>
            </p:nvCxnSpPr>
            <p:spPr>
              <a:xfrm>
                <a:off x="4478"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136" name="Google Shape;5136;p61"/>
              <p:cNvCxnSpPr/>
              <p:nvPr/>
            </p:nvCxnSpPr>
            <p:spPr>
              <a:xfrm>
                <a:off x="4533" y="3035"/>
                <a:ext cx="0" cy="72"/>
              </a:xfrm>
              <a:prstGeom prst="straightConnector1">
                <a:avLst/>
              </a:prstGeom>
              <a:noFill/>
              <a:ln cap="flat" cmpd="sng" w="19050">
                <a:solidFill>
                  <a:srgbClr val="000000"/>
                </a:solidFill>
                <a:prstDash val="solid"/>
                <a:round/>
                <a:headEnd len="med" w="med" type="none"/>
                <a:tailEnd len="med" w="med" type="none"/>
              </a:ln>
            </p:spPr>
          </p:cxnSp>
          <p:cxnSp>
            <p:nvCxnSpPr>
              <p:cNvPr id="5137" name="Google Shape;5137;p61"/>
              <p:cNvCxnSpPr/>
              <p:nvPr/>
            </p:nvCxnSpPr>
            <p:spPr>
              <a:xfrm>
                <a:off x="4590"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138" name="Google Shape;5138;p61"/>
              <p:cNvCxnSpPr/>
              <p:nvPr/>
            </p:nvCxnSpPr>
            <p:spPr>
              <a:xfrm>
                <a:off x="4651"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139" name="Google Shape;5139;p61"/>
              <p:cNvCxnSpPr/>
              <p:nvPr/>
            </p:nvCxnSpPr>
            <p:spPr>
              <a:xfrm>
                <a:off x="4707"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140" name="Google Shape;5140;p61"/>
              <p:cNvCxnSpPr/>
              <p:nvPr/>
            </p:nvCxnSpPr>
            <p:spPr>
              <a:xfrm>
                <a:off x="4422" y="3034"/>
                <a:ext cx="0" cy="72"/>
              </a:xfrm>
              <a:prstGeom prst="straightConnector1">
                <a:avLst/>
              </a:prstGeom>
              <a:noFill/>
              <a:ln cap="flat" cmpd="sng" w="19050">
                <a:solidFill>
                  <a:srgbClr val="000000"/>
                </a:solidFill>
                <a:prstDash val="solid"/>
                <a:round/>
                <a:headEnd len="med" w="med" type="none"/>
                <a:tailEnd len="med" w="med" type="none"/>
              </a:ln>
            </p:spPr>
          </p:cxnSp>
          <p:sp>
            <p:nvSpPr>
              <p:cNvPr id="5141" name="Google Shape;5141;p61"/>
              <p:cNvSpPr/>
              <p:nvPr/>
            </p:nvSpPr>
            <p:spPr>
              <a:xfrm>
                <a:off x="4328"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42" name="Google Shape;5142;p61"/>
              <p:cNvSpPr/>
              <p:nvPr/>
            </p:nvSpPr>
            <p:spPr>
              <a:xfrm>
                <a:off x="4414"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43" name="Google Shape;5143;p61"/>
              <p:cNvSpPr/>
              <p:nvPr/>
            </p:nvSpPr>
            <p:spPr>
              <a:xfrm>
                <a:off x="4500" y="3172"/>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44" name="Google Shape;5144;p61"/>
              <p:cNvSpPr/>
              <p:nvPr/>
            </p:nvSpPr>
            <p:spPr>
              <a:xfrm>
                <a:off x="4597"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45" name="Google Shape;5145;p61"/>
              <p:cNvSpPr/>
              <p:nvPr/>
            </p:nvSpPr>
            <p:spPr>
              <a:xfrm>
                <a:off x="4693"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grpSp>
        <p:cxnSp>
          <p:nvCxnSpPr>
            <p:cNvPr id="5146" name="Google Shape;5146;p61"/>
            <p:cNvCxnSpPr/>
            <p:nvPr/>
          </p:nvCxnSpPr>
          <p:spPr>
            <a:xfrm flipH="1" rot="10800000">
              <a:off x="3734" y="2350"/>
              <a:ext cx="708" cy="684"/>
            </a:xfrm>
            <a:prstGeom prst="straightConnector1">
              <a:avLst/>
            </a:prstGeom>
            <a:noFill/>
            <a:ln cap="flat" cmpd="sng" w="28575">
              <a:solidFill>
                <a:srgbClr val="CC0000"/>
              </a:solidFill>
              <a:prstDash val="solid"/>
              <a:round/>
              <a:headEnd len="med" w="med" type="triangle"/>
              <a:tailEnd len="med" w="med" type="triangle"/>
            </a:ln>
          </p:spPr>
        </p:cxnSp>
        <p:cxnSp>
          <p:nvCxnSpPr>
            <p:cNvPr id="5147" name="Google Shape;5147;p61"/>
            <p:cNvCxnSpPr/>
            <p:nvPr/>
          </p:nvCxnSpPr>
          <p:spPr>
            <a:xfrm rot="10800000">
              <a:off x="3266" y="2020"/>
              <a:ext cx="0" cy="786"/>
            </a:xfrm>
            <a:prstGeom prst="straightConnector1">
              <a:avLst/>
            </a:prstGeom>
            <a:noFill/>
            <a:ln cap="flat" cmpd="sng" w="28575">
              <a:solidFill>
                <a:srgbClr val="CC0000"/>
              </a:solidFill>
              <a:prstDash val="solid"/>
              <a:round/>
              <a:headEnd len="med" w="med" type="triangle"/>
              <a:tailEnd len="med" w="med" type="triangle"/>
            </a:ln>
          </p:spPr>
        </p:cxnSp>
        <p:grpSp>
          <p:nvGrpSpPr>
            <p:cNvPr id="5148" name="Google Shape;5148;p61"/>
            <p:cNvGrpSpPr/>
            <p:nvPr/>
          </p:nvGrpSpPr>
          <p:grpSpPr>
            <a:xfrm>
              <a:off x="3799" y="2535"/>
              <a:ext cx="641" cy="330"/>
              <a:chOff x="3749" y="2537"/>
              <a:chExt cx="641" cy="330"/>
            </a:xfrm>
          </p:grpSpPr>
          <p:sp>
            <p:nvSpPr>
              <p:cNvPr id="5149" name="Google Shape;5149;p61"/>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50" name="Google Shape;5150;p61"/>
              <p:cNvSpPr txBox="1"/>
              <p:nvPr/>
            </p:nvSpPr>
            <p:spPr>
              <a:xfrm>
                <a:off x="3749" y="2537"/>
                <a:ext cx="641" cy="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SMTP</a:t>
                </a:r>
                <a:endParaRPr/>
              </a:p>
            </p:txBody>
          </p:sp>
        </p:grpSp>
        <p:grpSp>
          <p:nvGrpSpPr>
            <p:cNvPr id="5151" name="Google Shape;5151;p61"/>
            <p:cNvGrpSpPr/>
            <p:nvPr/>
          </p:nvGrpSpPr>
          <p:grpSpPr>
            <a:xfrm>
              <a:off x="3775" y="1743"/>
              <a:ext cx="641" cy="330"/>
              <a:chOff x="3749" y="2537"/>
              <a:chExt cx="641" cy="330"/>
            </a:xfrm>
          </p:grpSpPr>
          <p:sp>
            <p:nvSpPr>
              <p:cNvPr id="5152" name="Google Shape;5152;p61"/>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53" name="Google Shape;5153;p61"/>
              <p:cNvSpPr txBox="1"/>
              <p:nvPr/>
            </p:nvSpPr>
            <p:spPr>
              <a:xfrm>
                <a:off x="3749" y="2537"/>
                <a:ext cx="641" cy="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SMTP</a:t>
                </a:r>
                <a:endParaRPr/>
              </a:p>
            </p:txBody>
          </p:sp>
        </p:grpSp>
        <p:grpSp>
          <p:nvGrpSpPr>
            <p:cNvPr id="5154" name="Google Shape;5154;p61"/>
            <p:cNvGrpSpPr/>
            <p:nvPr/>
          </p:nvGrpSpPr>
          <p:grpSpPr>
            <a:xfrm>
              <a:off x="2941" y="2193"/>
              <a:ext cx="641" cy="330"/>
              <a:chOff x="3749" y="2537"/>
              <a:chExt cx="641" cy="330"/>
            </a:xfrm>
          </p:grpSpPr>
          <p:sp>
            <p:nvSpPr>
              <p:cNvPr id="5155" name="Google Shape;5155;p61"/>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56" name="Google Shape;5156;p61"/>
              <p:cNvSpPr txBox="1"/>
              <p:nvPr/>
            </p:nvSpPr>
            <p:spPr>
              <a:xfrm>
                <a:off x="3749" y="2537"/>
                <a:ext cx="641" cy="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SMTP</a:t>
                </a:r>
                <a:endParaRPr/>
              </a:p>
            </p:txBody>
          </p:sp>
        </p:grpSp>
        <p:grpSp>
          <p:nvGrpSpPr>
            <p:cNvPr id="5157" name="Google Shape;5157;p61"/>
            <p:cNvGrpSpPr/>
            <p:nvPr/>
          </p:nvGrpSpPr>
          <p:grpSpPr>
            <a:xfrm>
              <a:off x="3579" y="886"/>
              <a:ext cx="583" cy="664"/>
              <a:chOff x="3566" y="550"/>
              <a:chExt cx="583" cy="664"/>
            </a:xfrm>
          </p:grpSpPr>
          <p:grpSp>
            <p:nvGrpSpPr>
              <p:cNvPr id="5158" name="Google Shape;5158;p61"/>
              <p:cNvGrpSpPr/>
              <p:nvPr/>
            </p:nvGrpSpPr>
            <p:grpSpPr>
              <a:xfrm>
                <a:off x="3588" y="692"/>
                <a:ext cx="561" cy="522"/>
                <a:chOff x="-44" y="1473"/>
                <a:chExt cx="981" cy="1105"/>
              </a:xfrm>
            </p:grpSpPr>
            <p:pic>
              <p:nvPicPr>
                <p:cNvPr descr="desktop_computer_stylized_medium" id="5159" name="Google Shape;5159;p6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160" name="Google Shape;5160;p6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161" name="Google Shape;5161;p61"/>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62" name="Google Shape;5162;p61"/>
              <p:cNvSpPr txBox="1"/>
              <p:nvPr/>
            </p:nvSpPr>
            <p:spPr>
              <a:xfrm>
                <a:off x="3566" y="550"/>
                <a:ext cx="453"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user</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agent</a:t>
                </a:r>
                <a:endParaRPr b="0" i="0" sz="2800" u="none" cap="none" strike="noStrike">
                  <a:solidFill>
                    <a:srgbClr val="000000"/>
                  </a:solidFill>
                  <a:latin typeface="Calibri"/>
                  <a:ea typeface="Calibri"/>
                  <a:cs typeface="Calibri"/>
                  <a:sym typeface="Calibri"/>
                </a:endParaRPr>
              </a:p>
            </p:txBody>
          </p:sp>
        </p:grpSp>
        <p:grpSp>
          <p:nvGrpSpPr>
            <p:cNvPr id="5163" name="Google Shape;5163;p61"/>
            <p:cNvGrpSpPr/>
            <p:nvPr/>
          </p:nvGrpSpPr>
          <p:grpSpPr>
            <a:xfrm>
              <a:off x="4862" y="1400"/>
              <a:ext cx="583" cy="664"/>
              <a:chOff x="3566" y="550"/>
              <a:chExt cx="583" cy="664"/>
            </a:xfrm>
          </p:grpSpPr>
          <p:grpSp>
            <p:nvGrpSpPr>
              <p:cNvPr id="5164" name="Google Shape;5164;p61"/>
              <p:cNvGrpSpPr/>
              <p:nvPr/>
            </p:nvGrpSpPr>
            <p:grpSpPr>
              <a:xfrm>
                <a:off x="3588" y="692"/>
                <a:ext cx="561" cy="522"/>
                <a:chOff x="-44" y="1473"/>
                <a:chExt cx="981" cy="1105"/>
              </a:xfrm>
            </p:grpSpPr>
            <p:pic>
              <p:nvPicPr>
                <p:cNvPr descr="desktop_computer_stylized_medium" id="5165" name="Google Shape;5165;p6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166" name="Google Shape;5166;p6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167" name="Google Shape;5167;p61"/>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68" name="Google Shape;5168;p61"/>
              <p:cNvSpPr txBox="1"/>
              <p:nvPr/>
            </p:nvSpPr>
            <p:spPr>
              <a:xfrm>
                <a:off x="3566" y="550"/>
                <a:ext cx="453"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user</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agent</a:t>
                </a:r>
                <a:endParaRPr b="0" i="0" sz="2800" u="none" cap="none" strike="noStrike">
                  <a:solidFill>
                    <a:srgbClr val="000000"/>
                  </a:solidFill>
                  <a:latin typeface="Calibri"/>
                  <a:ea typeface="Calibri"/>
                  <a:cs typeface="Calibri"/>
                  <a:sym typeface="Calibri"/>
                </a:endParaRPr>
              </a:p>
            </p:txBody>
          </p:sp>
        </p:grpSp>
        <p:grpSp>
          <p:nvGrpSpPr>
            <p:cNvPr id="5169" name="Google Shape;5169;p61"/>
            <p:cNvGrpSpPr/>
            <p:nvPr/>
          </p:nvGrpSpPr>
          <p:grpSpPr>
            <a:xfrm>
              <a:off x="5074" y="1880"/>
              <a:ext cx="583" cy="664"/>
              <a:chOff x="3566" y="550"/>
              <a:chExt cx="583" cy="664"/>
            </a:xfrm>
          </p:grpSpPr>
          <p:grpSp>
            <p:nvGrpSpPr>
              <p:cNvPr id="5170" name="Google Shape;5170;p61"/>
              <p:cNvGrpSpPr/>
              <p:nvPr/>
            </p:nvGrpSpPr>
            <p:grpSpPr>
              <a:xfrm>
                <a:off x="3588" y="692"/>
                <a:ext cx="561" cy="522"/>
                <a:chOff x="-44" y="1473"/>
                <a:chExt cx="981" cy="1105"/>
              </a:xfrm>
            </p:grpSpPr>
            <p:pic>
              <p:nvPicPr>
                <p:cNvPr descr="desktop_computer_stylized_medium" id="5171" name="Google Shape;5171;p6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172" name="Google Shape;5172;p6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173" name="Google Shape;5173;p61"/>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74" name="Google Shape;5174;p61"/>
              <p:cNvSpPr txBox="1"/>
              <p:nvPr/>
            </p:nvSpPr>
            <p:spPr>
              <a:xfrm>
                <a:off x="3566" y="550"/>
                <a:ext cx="453"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user</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agent</a:t>
                </a:r>
                <a:endParaRPr b="0" i="0" sz="2800" u="none" cap="none" strike="noStrike">
                  <a:solidFill>
                    <a:srgbClr val="000000"/>
                  </a:solidFill>
                  <a:latin typeface="Calibri"/>
                  <a:ea typeface="Calibri"/>
                  <a:cs typeface="Calibri"/>
                  <a:sym typeface="Calibri"/>
                </a:endParaRPr>
              </a:p>
            </p:txBody>
          </p:sp>
        </p:grpSp>
        <p:grpSp>
          <p:nvGrpSpPr>
            <p:cNvPr id="5175" name="Google Shape;5175;p61"/>
            <p:cNvGrpSpPr/>
            <p:nvPr/>
          </p:nvGrpSpPr>
          <p:grpSpPr>
            <a:xfrm>
              <a:off x="4991" y="2540"/>
              <a:ext cx="583" cy="664"/>
              <a:chOff x="3566" y="550"/>
              <a:chExt cx="583" cy="664"/>
            </a:xfrm>
          </p:grpSpPr>
          <p:grpSp>
            <p:nvGrpSpPr>
              <p:cNvPr id="5176" name="Google Shape;5176;p61"/>
              <p:cNvGrpSpPr/>
              <p:nvPr/>
            </p:nvGrpSpPr>
            <p:grpSpPr>
              <a:xfrm>
                <a:off x="3588" y="692"/>
                <a:ext cx="561" cy="522"/>
                <a:chOff x="-44" y="1473"/>
                <a:chExt cx="981" cy="1105"/>
              </a:xfrm>
            </p:grpSpPr>
            <p:pic>
              <p:nvPicPr>
                <p:cNvPr descr="desktop_computer_stylized_medium" id="5177" name="Google Shape;5177;p6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178" name="Google Shape;5178;p6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179" name="Google Shape;5179;p61"/>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80" name="Google Shape;5180;p61"/>
              <p:cNvSpPr txBox="1"/>
              <p:nvPr/>
            </p:nvSpPr>
            <p:spPr>
              <a:xfrm>
                <a:off x="3566" y="550"/>
                <a:ext cx="453"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user</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agent</a:t>
                </a:r>
                <a:endParaRPr b="0" i="0" sz="2800" u="none" cap="none" strike="noStrike">
                  <a:solidFill>
                    <a:srgbClr val="000000"/>
                  </a:solidFill>
                  <a:latin typeface="Calibri"/>
                  <a:ea typeface="Calibri"/>
                  <a:cs typeface="Calibri"/>
                  <a:sym typeface="Calibri"/>
                </a:endParaRPr>
              </a:p>
            </p:txBody>
          </p:sp>
        </p:grpSp>
        <p:grpSp>
          <p:nvGrpSpPr>
            <p:cNvPr id="5181" name="Google Shape;5181;p61"/>
            <p:cNvGrpSpPr/>
            <p:nvPr/>
          </p:nvGrpSpPr>
          <p:grpSpPr>
            <a:xfrm>
              <a:off x="3346" y="3446"/>
              <a:ext cx="583" cy="664"/>
              <a:chOff x="3566" y="550"/>
              <a:chExt cx="583" cy="664"/>
            </a:xfrm>
          </p:grpSpPr>
          <p:grpSp>
            <p:nvGrpSpPr>
              <p:cNvPr id="5182" name="Google Shape;5182;p61"/>
              <p:cNvGrpSpPr/>
              <p:nvPr/>
            </p:nvGrpSpPr>
            <p:grpSpPr>
              <a:xfrm>
                <a:off x="3588" y="692"/>
                <a:ext cx="561" cy="522"/>
                <a:chOff x="-44" y="1473"/>
                <a:chExt cx="981" cy="1105"/>
              </a:xfrm>
            </p:grpSpPr>
            <p:pic>
              <p:nvPicPr>
                <p:cNvPr descr="desktop_computer_stylized_medium" id="5183" name="Google Shape;5183;p6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184" name="Google Shape;5184;p6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185" name="Google Shape;5185;p61"/>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86" name="Google Shape;5186;p61"/>
              <p:cNvSpPr txBox="1"/>
              <p:nvPr/>
            </p:nvSpPr>
            <p:spPr>
              <a:xfrm>
                <a:off x="3566" y="550"/>
                <a:ext cx="453"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user</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agent</a:t>
                </a:r>
                <a:endParaRPr b="0" i="0" sz="2800" u="none" cap="none" strike="noStrike">
                  <a:solidFill>
                    <a:srgbClr val="000000"/>
                  </a:solidFill>
                  <a:latin typeface="Calibri"/>
                  <a:ea typeface="Calibri"/>
                  <a:cs typeface="Calibri"/>
                  <a:sym typeface="Calibri"/>
                </a:endParaRPr>
              </a:p>
            </p:txBody>
          </p:sp>
        </p:grpSp>
        <p:grpSp>
          <p:nvGrpSpPr>
            <p:cNvPr id="5187" name="Google Shape;5187;p61"/>
            <p:cNvGrpSpPr/>
            <p:nvPr/>
          </p:nvGrpSpPr>
          <p:grpSpPr>
            <a:xfrm>
              <a:off x="3805" y="3056"/>
              <a:ext cx="583" cy="664"/>
              <a:chOff x="3566" y="550"/>
              <a:chExt cx="583" cy="664"/>
            </a:xfrm>
          </p:grpSpPr>
          <p:grpSp>
            <p:nvGrpSpPr>
              <p:cNvPr id="5188" name="Google Shape;5188;p61"/>
              <p:cNvGrpSpPr/>
              <p:nvPr/>
            </p:nvGrpSpPr>
            <p:grpSpPr>
              <a:xfrm>
                <a:off x="3588" y="692"/>
                <a:ext cx="561" cy="522"/>
                <a:chOff x="-44" y="1473"/>
                <a:chExt cx="981" cy="1105"/>
              </a:xfrm>
            </p:grpSpPr>
            <p:pic>
              <p:nvPicPr>
                <p:cNvPr descr="desktop_computer_stylized_medium" id="5189" name="Google Shape;5189;p6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190" name="Google Shape;5190;p6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191" name="Google Shape;5191;p61"/>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192" name="Google Shape;5192;p61"/>
              <p:cNvSpPr txBox="1"/>
              <p:nvPr/>
            </p:nvSpPr>
            <p:spPr>
              <a:xfrm>
                <a:off x="3566" y="550"/>
                <a:ext cx="453"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user</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agent</a:t>
                </a:r>
                <a:endParaRPr b="0" i="0" sz="2800" u="none" cap="none" strike="noStrike">
                  <a:solidFill>
                    <a:srgbClr val="000000"/>
                  </a:solidFill>
                  <a:latin typeface="Calibri"/>
                  <a:ea typeface="Calibri"/>
                  <a:cs typeface="Calibri"/>
                  <a:sym typeface="Calibri"/>
                </a:endParaRPr>
              </a:p>
            </p:txBody>
          </p:sp>
        </p:grpSp>
      </p:gr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7" name="Shape 5197"/>
        <p:cNvGrpSpPr/>
        <p:nvPr/>
      </p:nvGrpSpPr>
      <p:grpSpPr>
        <a:xfrm>
          <a:off x="0" y="0"/>
          <a:ext cx="0" cy="0"/>
          <a:chOff x="0" y="0"/>
          <a:chExt cx="0" cy="0"/>
        </a:xfrm>
      </p:grpSpPr>
      <p:sp>
        <p:nvSpPr>
          <p:cNvPr id="5198" name="Google Shape;5198;p62"/>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Application Layer</a:t>
            </a:r>
            <a:endParaRPr sz="1200">
              <a:solidFill>
                <a:schemeClr val="dk1"/>
              </a:solidFill>
              <a:latin typeface="Tahoma"/>
              <a:ea typeface="Tahoma"/>
              <a:cs typeface="Tahoma"/>
              <a:sym typeface="Tahoma"/>
            </a:endParaRPr>
          </a:p>
        </p:txBody>
      </p:sp>
      <p:sp>
        <p:nvSpPr>
          <p:cNvPr id="5199" name="Google Shape;5199;p62"/>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200" name="Google Shape;5200;p62"/>
          <p:cNvSpPr txBox="1"/>
          <p:nvPr>
            <p:ph type="title"/>
          </p:nvPr>
        </p:nvSpPr>
        <p:spPr>
          <a:xfrm>
            <a:off x="1990725" y="301625"/>
            <a:ext cx="7772400" cy="8699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2800"/>
              <a:buFont typeface="Gill Sans"/>
              <a:buNone/>
            </a:pPr>
            <a:r>
              <a:rPr lang="en-US" sz="2800">
                <a:latin typeface="Gill Sans"/>
                <a:ea typeface="Gill Sans"/>
                <a:cs typeface="Gill Sans"/>
                <a:sym typeface="Gill Sans"/>
              </a:rPr>
              <a:t>A high-level view of the Internet e-mail system</a:t>
            </a:r>
            <a:endParaRPr/>
          </a:p>
        </p:txBody>
      </p:sp>
      <p:pic>
        <p:nvPicPr>
          <p:cNvPr descr="underline_base" id="5201" name="Google Shape;5201;p62"/>
          <p:cNvPicPr preferRelativeResize="0"/>
          <p:nvPr/>
        </p:nvPicPr>
        <p:blipFill rotWithShape="1">
          <a:blip r:embed="rId3">
            <a:alphaModFix/>
          </a:blip>
          <a:srcRect b="0" l="0" r="0" t="0"/>
          <a:stretch/>
        </p:blipFill>
        <p:spPr>
          <a:xfrm>
            <a:off x="2068513" y="947738"/>
            <a:ext cx="3194050" cy="190500"/>
          </a:xfrm>
          <a:prstGeom prst="rect">
            <a:avLst/>
          </a:prstGeom>
          <a:noFill/>
          <a:ln>
            <a:noFill/>
          </a:ln>
        </p:spPr>
      </p:pic>
      <p:pic>
        <p:nvPicPr>
          <p:cNvPr id="5202" name="Google Shape;5202;p62"/>
          <p:cNvPicPr preferRelativeResize="0"/>
          <p:nvPr/>
        </p:nvPicPr>
        <p:blipFill rotWithShape="1">
          <a:blip r:embed="rId4">
            <a:alphaModFix/>
          </a:blip>
          <a:srcRect b="0" l="0" r="0" t="0"/>
          <a:stretch/>
        </p:blipFill>
        <p:spPr>
          <a:xfrm>
            <a:off x="2776106" y="1042988"/>
            <a:ext cx="6409459" cy="5326310"/>
          </a:xfrm>
          <a:prstGeom prst="rect">
            <a:avLst/>
          </a:prstGeom>
          <a:noFill/>
          <a:ln>
            <a:noFill/>
          </a:ln>
        </p:spPr>
      </p:pic>
      <p:pic>
        <p:nvPicPr>
          <p:cNvPr descr="Puzzle with solid fill" id="5203" name="Google Shape;5203;p62"/>
          <p:cNvPicPr preferRelativeResize="0"/>
          <p:nvPr/>
        </p:nvPicPr>
        <p:blipFill rotWithShape="1">
          <a:blip r:embed="rId5">
            <a:alphaModFix/>
          </a:blip>
          <a:srcRect b="0" l="0" r="0" t="0"/>
          <a:stretch/>
        </p:blipFill>
        <p:spPr>
          <a:xfrm>
            <a:off x="9328150" y="423864"/>
            <a:ext cx="579438" cy="579437"/>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8" name="Shape 5208"/>
        <p:cNvGrpSpPr/>
        <p:nvPr/>
      </p:nvGrpSpPr>
      <p:grpSpPr>
        <a:xfrm>
          <a:off x="0" y="0"/>
          <a:ext cx="0" cy="0"/>
          <a:chOff x="0" y="0"/>
          <a:chExt cx="0" cy="0"/>
        </a:xfrm>
      </p:grpSpPr>
      <p:sp>
        <p:nvSpPr>
          <p:cNvPr id="5209" name="Google Shape;5209;p6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E-mail: mail servers</a:t>
            </a:r>
            <a:endParaRPr sz="4400"/>
          </a:p>
        </p:txBody>
      </p:sp>
      <p:sp>
        <p:nvSpPr>
          <p:cNvPr id="5210" name="Google Shape;5210;p6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5211" name="Google Shape;5211;p63"/>
          <p:cNvSpPr/>
          <p:nvPr/>
        </p:nvSpPr>
        <p:spPr>
          <a:xfrm>
            <a:off x="9629775" y="406072"/>
            <a:ext cx="1828800" cy="981075"/>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grpSp>
        <p:nvGrpSpPr>
          <p:cNvPr id="5212" name="Google Shape;5212;p63"/>
          <p:cNvGrpSpPr/>
          <p:nvPr/>
        </p:nvGrpSpPr>
        <p:grpSpPr>
          <a:xfrm>
            <a:off x="9726613" y="353688"/>
            <a:ext cx="1736725" cy="989013"/>
            <a:chOff x="4458" y="3335"/>
            <a:chExt cx="1094" cy="623"/>
          </a:xfrm>
        </p:grpSpPr>
        <p:sp>
          <p:nvSpPr>
            <p:cNvPr id="5213" name="Google Shape;5213;p63"/>
            <p:cNvSpPr txBox="1"/>
            <p:nvPr/>
          </p:nvSpPr>
          <p:spPr>
            <a:xfrm>
              <a:off x="4663" y="3725"/>
              <a:ext cx="875" cy="23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user mailbox</a:t>
              </a:r>
              <a:endParaRPr b="0" i="0" sz="2800" u="none" cap="none" strike="noStrike">
                <a:solidFill>
                  <a:srgbClr val="000000"/>
                </a:solidFill>
                <a:latin typeface="Calibri"/>
                <a:ea typeface="Calibri"/>
                <a:cs typeface="Calibri"/>
                <a:sym typeface="Calibri"/>
              </a:endParaRPr>
            </a:p>
          </p:txBody>
        </p:sp>
        <p:grpSp>
          <p:nvGrpSpPr>
            <p:cNvPr id="5214" name="Google Shape;5214;p63"/>
            <p:cNvGrpSpPr/>
            <p:nvPr/>
          </p:nvGrpSpPr>
          <p:grpSpPr>
            <a:xfrm>
              <a:off x="4458" y="3408"/>
              <a:ext cx="450" cy="120"/>
              <a:chOff x="4314" y="3444"/>
              <a:chExt cx="450" cy="120"/>
            </a:xfrm>
          </p:grpSpPr>
          <p:sp>
            <p:nvSpPr>
              <p:cNvPr id="5215" name="Google Shape;5215;p63"/>
              <p:cNvSpPr/>
              <p:nvPr/>
            </p:nvSpPr>
            <p:spPr>
              <a:xfrm>
                <a:off x="4314" y="3444"/>
                <a:ext cx="450" cy="120"/>
              </a:xfrm>
              <a:prstGeom prst="rect">
                <a:avLst/>
              </a:prstGeom>
              <a:solidFill>
                <a:srgbClr val="00FF00"/>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cxnSp>
            <p:nvCxnSpPr>
              <p:cNvPr id="5216" name="Google Shape;5216;p63"/>
              <p:cNvCxnSpPr/>
              <p:nvPr/>
            </p:nvCxnSpPr>
            <p:spPr>
              <a:xfrm>
                <a:off x="4363" y="3472"/>
                <a:ext cx="0" cy="72"/>
              </a:xfrm>
              <a:prstGeom prst="straightConnector1">
                <a:avLst/>
              </a:prstGeom>
              <a:noFill/>
              <a:ln cap="flat" cmpd="sng" w="19050">
                <a:solidFill>
                  <a:srgbClr val="000000"/>
                </a:solidFill>
                <a:prstDash val="solid"/>
                <a:round/>
                <a:headEnd len="med" w="med" type="none"/>
                <a:tailEnd len="med" w="med" type="none"/>
              </a:ln>
            </p:spPr>
          </p:cxnSp>
          <p:cxnSp>
            <p:nvCxnSpPr>
              <p:cNvPr id="5217" name="Google Shape;5217;p63"/>
              <p:cNvCxnSpPr/>
              <p:nvPr/>
            </p:nvCxnSpPr>
            <p:spPr>
              <a:xfrm flipH="1">
                <a:off x="4472" y="3471"/>
                <a:ext cx="6" cy="72"/>
              </a:xfrm>
              <a:prstGeom prst="straightConnector1">
                <a:avLst/>
              </a:prstGeom>
              <a:noFill/>
              <a:ln cap="flat" cmpd="sng" w="19050">
                <a:solidFill>
                  <a:srgbClr val="000000"/>
                </a:solidFill>
                <a:prstDash val="solid"/>
                <a:round/>
                <a:headEnd len="med" w="med" type="none"/>
                <a:tailEnd len="med" w="med" type="none"/>
              </a:ln>
            </p:spPr>
          </p:cxnSp>
          <p:cxnSp>
            <p:nvCxnSpPr>
              <p:cNvPr id="5218" name="Google Shape;5218;p63"/>
              <p:cNvCxnSpPr/>
              <p:nvPr/>
            </p:nvCxnSpPr>
            <p:spPr>
              <a:xfrm>
                <a:off x="4527" y="3473"/>
                <a:ext cx="0" cy="72"/>
              </a:xfrm>
              <a:prstGeom prst="straightConnector1">
                <a:avLst/>
              </a:prstGeom>
              <a:noFill/>
              <a:ln cap="flat" cmpd="sng" w="19050">
                <a:solidFill>
                  <a:srgbClr val="000000"/>
                </a:solidFill>
                <a:prstDash val="solid"/>
                <a:round/>
                <a:headEnd len="med" w="med" type="none"/>
                <a:tailEnd len="med" w="med" type="none"/>
              </a:ln>
            </p:spPr>
          </p:cxnSp>
          <p:cxnSp>
            <p:nvCxnSpPr>
              <p:cNvPr id="5219" name="Google Shape;5219;p63"/>
              <p:cNvCxnSpPr/>
              <p:nvPr/>
            </p:nvCxnSpPr>
            <p:spPr>
              <a:xfrm>
                <a:off x="4584" y="3471"/>
                <a:ext cx="0" cy="72"/>
              </a:xfrm>
              <a:prstGeom prst="straightConnector1">
                <a:avLst/>
              </a:prstGeom>
              <a:noFill/>
              <a:ln cap="flat" cmpd="sng" w="19050">
                <a:solidFill>
                  <a:srgbClr val="000000"/>
                </a:solidFill>
                <a:prstDash val="solid"/>
                <a:round/>
                <a:headEnd len="med" w="med" type="none"/>
                <a:tailEnd len="med" w="med" type="none"/>
              </a:ln>
            </p:spPr>
          </p:cxnSp>
          <p:cxnSp>
            <p:nvCxnSpPr>
              <p:cNvPr id="5220" name="Google Shape;5220;p63"/>
              <p:cNvCxnSpPr/>
              <p:nvPr/>
            </p:nvCxnSpPr>
            <p:spPr>
              <a:xfrm>
                <a:off x="4645" y="3471"/>
                <a:ext cx="0" cy="72"/>
              </a:xfrm>
              <a:prstGeom prst="straightConnector1">
                <a:avLst/>
              </a:prstGeom>
              <a:noFill/>
              <a:ln cap="flat" cmpd="sng" w="19050">
                <a:solidFill>
                  <a:srgbClr val="000000"/>
                </a:solidFill>
                <a:prstDash val="solid"/>
                <a:round/>
                <a:headEnd len="med" w="med" type="none"/>
                <a:tailEnd len="med" w="med" type="none"/>
              </a:ln>
            </p:spPr>
          </p:cxnSp>
          <p:cxnSp>
            <p:nvCxnSpPr>
              <p:cNvPr id="5221" name="Google Shape;5221;p63"/>
              <p:cNvCxnSpPr/>
              <p:nvPr/>
            </p:nvCxnSpPr>
            <p:spPr>
              <a:xfrm>
                <a:off x="4701" y="3471"/>
                <a:ext cx="0" cy="72"/>
              </a:xfrm>
              <a:prstGeom prst="straightConnector1">
                <a:avLst/>
              </a:prstGeom>
              <a:noFill/>
              <a:ln cap="flat" cmpd="sng" w="19050">
                <a:solidFill>
                  <a:srgbClr val="000000"/>
                </a:solidFill>
                <a:prstDash val="solid"/>
                <a:round/>
                <a:headEnd len="med" w="med" type="none"/>
                <a:tailEnd len="med" w="med" type="none"/>
              </a:ln>
            </p:spPr>
          </p:cxnSp>
          <p:cxnSp>
            <p:nvCxnSpPr>
              <p:cNvPr id="5222" name="Google Shape;5222;p63"/>
              <p:cNvCxnSpPr/>
              <p:nvPr/>
            </p:nvCxnSpPr>
            <p:spPr>
              <a:xfrm>
                <a:off x="4416" y="3472"/>
                <a:ext cx="0" cy="72"/>
              </a:xfrm>
              <a:prstGeom prst="straightConnector1">
                <a:avLst/>
              </a:prstGeom>
              <a:noFill/>
              <a:ln cap="flat" cmpd="sng" w="19050">
                <a:solidFill>
                  <a:srgbClr val="000000"/>
                </a:solidFill>
                <a:prstDash val="solid"/>
                <a:round/>
                <a:headEnd len="med" w="med" type="none"/>
                <a:tailEnd len="med" w="med" type="none"/>
              </a:ln>
            </p:spPr>
          </p:cxnSp>
        </p:grpSp>
        <p:sp>
          <p:nvSpPr>
            <p:cNvPr id="5223" name="Google Shape;5223;p63"/>
            <p:cNvSpPr/>
            <p:nvPr/>
          </p:nvSpPr>
          <p:spPr>
            <a:xfrm>
              <a:off x="4472" y="3779"/>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224" name="Google Shape;5224;p63"/>
            <p:cNvSpPr txBox="1"/>
            <p:nvPr/>
          </p:nvSpPr>
          <p:spPr>
            <a:xfrm>
              <a:off x="4514" y="3335"/>
              <a:ext cx="1038" cy="40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outgoing </a:t>
              </a:r>
              <a:endParaRPr/>
            </a:p>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message queue</a:t>
              </a:r>
              <a:endParaRPr b="0" i="0" sz="2800" u="none" cap="none" strike="noStrike">
                <a:solidFill>
                  <a:srgbClr val="000000"/>
                </a:solidFill>
                <a:latin typeface="Calibri"/>
                <a:ea typeface="Calibri"/>
                <a:cs typeface="Calibri"/>
                <a:sym typeface="Calibri"/>
              </a:endParaRPr>
            </a:p>
          </p:txBody>
        </p:sp>
      </p:grpSp>
      <p:grpSp>
        <p:nvGrpSpPr>
          <p:cNvPr id="5225" name="Google Shape;5225;p63"/>
          <p:cNvGrpSpPr/>
          <p:nvPr/>
        </p:nvGrpSpPr>
        <p:grpSpPr>
          <a:xfrm>
            <a:off x="7335838" y="1183947"/>
            <a:ext cx="4311650" cy="5118100"/>
            <a:chOff x="2941" y="886"/>
            <a:chExt cx="2716" cy="3224"/>
          </a:xfrm>
        </p:grpSpPr>
        <p:grpSp>
          <p:nvGrpSpPr>
            <p:cNvPr id="5226" name="Google Shape;5226;p63"/>
            <p:cNvGrpSpPr/>
            <p:nvPr/>
          </p:nvGrpSpPr>
          <p:grpSpPr>
            <a:xfrm>
              <a:off x="4346" y="1756"/>
              <a:ext cx="301" cy="451"/>
              <a:chOff x="4140" y="429"/>
              <a:chExt cx="1425" cy="2396"/>
            </a:xfrm>
          </p:grpSpPr>
          <p:sp>
            <p:nvSpPr>
              <p:cNvPr id="5227" name="Google Shape;5227;p6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28" name="Google Shape;5228;p63"/>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29" name="Google Shape;5229;p6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30" name="Google Shape;5230;p6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31" name="Google Shape;5231;p63"/>
              <p:cNvSpPr/>
              <p:nvPr/>
            </p:nvSpPr>
            <p:spPr>
              <a:xfrm>
                <a:off x="4211" y="695"/>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232" name="Google Shape;5232;p63"/>
              <p:cNvGrpSpPr/>
              <p:nvPr/>
            </p:nvGrpSpPr>
            <p:grpSpPr>
              <a:xfrm>
                <a:off x="4751" y="668"/>
                <a:ext cx="578" cy="144"/>
                <a:chOff x="616" y="2568"/>
                <a:chExt cx="721" cy="138"/>
              </a:xfrm>
            </p:grpSpPr>
            <p:sp>
              <p:nvSpPr>
                <p:cNvPr id="5233" name="Google Shape;5233;p63"/>
                <p:cNvSpPr/>
                <p:nvPr/>
              </p:nvSpPr>
              <p:spPr>
                <a:xfrm>
                  <a:off x="616" y="2568"/>
                  <a:ext cx="721"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34" name="Google Shape;5234;p63"/>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235" name="Google Shape;5235;p63"/>
              <p:cNvSpPr/>
              <p:nvPr/>
            </p:nvSpPr>
            <p:spPr>
              <a:xfrm>
                <a:off x="4225" y="101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236" name="Google Shape;5236;p63"/>
              <p:cNvGrpSpPr/>
              <p:nvPr/>
            </p:nvGrpSpPr>
            <p:grpSpPr>
              <a:xfrm>
                <a:off x="4746" y="992"/>
                <a:ext cx="583" cy="138"/>
                <a:chOff x="613" y="2566"/>
                <a:chExt cx="727" cy="143"/>
              </a:xfrm>
            </p:grpSpPr>
            <p:sp>
              <p:nvSpPr>
                <p:cNvPr id="5237" name="Google Shape;5237;p63"/>
                <p:cNvSpPr/>
                <p:nvPr/>
              </p:nvSpPr>
              <p:spPr>
                <a:xfrm>
                  <a:off x="613" y="2566"/>
                  <a:ext cx="727" cy="14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38" name="Google Shape;5238;p63"/>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239" name="Google Shape;5239;p63"/>
              <p:cNvSpPr/>
              <p:nvPr/>
            </p:nvSpPr>
            <p:spPr>
              <a:xfrm>
                <a:off x="4216" y="135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40" name="Google Shape;5240;p63"/>
              <p:cNvSpPr/>
              <p:nvPr/>
            </p:nvSpPr>
            <p:spPr>
              <a:xfrm>
                <a:off x="4230" y="1656"/>
                <a:ext cx="592"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241" name="Google Shape;5241;p63"/>
              <p:cNvGrpSpPr/>
              <p:nvPr/>
            </p:nvGrpSpPr>
            <p:grpSpPr>
              <a:xfrm>
                <a:off x="4737" y="1629"/>
                <a:ext cx="582" cy="149"/>
                <a:chOff x="616" y="2570"/>
                <a:chExt cx="725" cy="137"/>
              </a:xfrm>
            </p:grpSpPr>
            <p:sp>
              <p:nvSpPr>
                <p:cNvPr id="5242" name="Google Shape;5242;p63"/>
                <p:cNvSpPr/>
                <p:nvPr/>
              </p:nvSpPr>
              <p:spPr>
                <a:xfrm>
                  <a:off x="616" y="2570"/>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43" name="Google Shape;5243;p63"/>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244" name="Google Shape;5244;p6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245" name="Google Shape;5245;p63"/>
              <p:cNvGrpSpPr/>
              <p:nvPr/>
            </p:nvGrpSpPr>
            <p:grpSpPr>
              <a:xfrm>
                <a:off x="4751" y="1327"/>
                <a:ext cx="564" cy="138"/>
                <a:chOff x="629" y="2568"/>
                <a:chExt cx="702" cy="138"/>
              </a:xfrm>
            </p:grpSpPr>
            <p:sp>
              <p:nvSpPr>
                <p:cNvPr id="5246" name="Google Shape;5246;p63"/>
                <p:cNvSpPr/>
                <p:nvPr/>
              </p:nvSpPr>
              <p:spPr>
                <a:xfrm>
                  <a:off x="629" y="2568"/>
                  <a:ext cx="702"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47" name="Google Shape;5247;p63"/>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248" name="Google Shape;5248;p63"/>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49" name="Google Shape;5249;p6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50" name="Google Shape;5250;p6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51" name="Google Shape;5251;p63"/>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52" name="Google Shape;5252;p6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53" name="Google Shape;5253;p63"/>
              <p:cNvSpPr/>
              <p:nvPr/>
            </p:nvSpPr>
            <p:spPr>
              <a:xfrm>
                <a:off x="4140" y="2676"/>
                <a:ext cx="1198" cy="149"/>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54" name="Google Shape;5254;p63"/>
              <p:cNvSpPr/>
              <p:nvPr/>
            </p:nvSpPr>
            <p:spPr>
              <a:xfrm>
                <a:off x="4206" y="2713"/>
                <a:ext cx="1070" cy="80"/>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55" name="Google Shape;5255;p63"/>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56" name="Google Shape;5256;p63"/>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0000"/>
                  </a:solidFill>
                  <a:latin typeface="Calibri"/>
                  <a:ea typeface="Calibri"/>
                  <a:cs typeface="Calibri"/>
                  <a:sym typeface="Calibri"/>
                </a:endParaRPr>
              </a:p>
            </p:txBody>
          </p:sp>
          <p:sp>
            <p:nvSpPr>
              <p:cNvPr id="5257" name="Google Shape;5257;p63"/>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58" name="Google Shape;5258;p63"/>
              <p:cNvSpPr/>
              <p:nvPr/>
            </p:nvSpPr>
            <p:spPr>
              <a:xfrm>
                <a:off x="5063" y="1837"/>
                <a:ext cx="85"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259" name="Google Shape;5259;p63"/>
            <p:cNvGrpSpPr/>
            <p:nvPr/>
          </p:nvGrpSpPr>
          <p:grpSpPr>
            <a:xfrm>
              <a:off x="3091" y="2634"/>
              <a:ext cx="301" cy="451"/>
              <a:chOff x="4140" y="429"/>
              <a:chExt cx="1425" cy="2396"/>
            </a:xfrm>
          </p:grpSpPr>
          <p:sp>
            <p:nvSpPr>
              <p:cNvPr id="5260" name="Google Shape;5260;p6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61" name="Google Shape;5261;p63"/>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62" name="Google Shape;5262;p6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63" name="Google Shape;5263;p6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64" name="Google Shape;5264;p63"/>
              <p:cNvSpPr/>
              <p:nvPr/>
            </p:nvSpPr>
            <p:spPr>
              <a:xfrm>
                <a:off x="4211" y="695"/>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265" name="Google Shape;5265;p63"/>
              <p:cNvGrpSpPr/>
              <p:nvPr/>
            </p:nvGrpSpPr>
            <p:grpSpPr>
              <a:xfrm>
                <a:off x="4751" y="668"/>
                <a:ext cx="578" cy="144"/>
                <a:chOff x="616" y="2568"/>
                <a:chExt cx="721" cy="138"/>
              </a:xfrm>
            </p:grpSpPr>
            <p:sp>
              <p:nvSpPr>
                <p:cNvPr id="5266" name="Google Shape;5266;p63"/>
                <p:cNvSpPr/>
                <p:nvPr/>
              </p:nvSpPr>
              <p:spPr>
                <a:xfrm>
                  <a:off x="616" y="2568"/>
                  <a:ext cx="721"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67" name="Google Shape;5267;p63"/>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268" name="Google Shape;5268;p63"/>
              <p:cNvSpPr/>
              <p:nvPr/>
            </p:nvSpPr>
            <p:spPr>
              <a:xfrm>
                <a:off x="4225" y="101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269" name="Google Shape;5269;p63"/>
              <p:cNvGrpSpPr/>
              <p:nvPr/>
            </p:nvGrpSpPr>
            <p:grpSpPr>
              <a:xfrm>
                <a:off x="4746" y="992"/>
                <a:ext cx="583" cy="138"/>
                <a:chOff x="613" y="2566"/>
                <a:chExt cx="727" cy="143"/>
              </a:xfrm>
            </p:grpSpPr>
            <p:sp>
              <p:nvSpPr>
                <p:cNvPr id="5270" name="Google Shape;5270;p63"/>
                <p:cNvSpPr/>
                <p:nvPr/>
              </p:nvSpPr>
              <p:spPr>
                <a:xfrm>
                  <a:off x="613" y="2566"/>
                  <a:ext cx="727" cy="14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71" name="Google Shape;5271;p63"/>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272" name="Google Shape;5272;p63"/>
              <p:cNvSpPr/>
              <p:nvPr/>
            </p:nvSpPr>
            <p:spPr>
              <a:xfrm>
                <a:off x="4216" y="135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73" name="Google Shape;5273;p63"/>
              <p:cNvSpPr/>
              <p:nvPr/>
            </p:nvSpPr>
            <p:spPr>
              <a:xfrm>
                <a:off x="4230" y="1656"/>
                <a:ext cx="592"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274" name="Google Shape;5274;p63"/>
              <p:cNvGrpSpPr/>
              <p:nvPr/>
            </p:nvGrpSpPr>
            <p:grpSpPr>
              <a:xfrm>
                <a:off x="4737" y="1629"/>
                <a:ext cx="582" cy="149"/>
                <a:chOff x="616" y="2570"/>
                <a:chExt cx="725" cy="137"/>
              </a:xfrm>
            </p:grpSpPr>
            <p:sp>
              <p:nvSpPr>
                <p:cNvPr id="5275" name="Google Shape;5275;p63"/>
                <p:cNvSpPr/>
                <p:nvPr/>
              </p:nvSpPr>
              <p:spPr>
                <a:xfrm>
                  <a:off x="616" y="2570"/>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76" name="Google Shape;5276;p63"/>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277" name="Google Shape;5277;p6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278" name="Google Shape;5278;p63"/>
              <p:cNvGrpSpPr/>
              <p:nvPr/>
            </p:nvGrpSpPr>
            <p:grpSpPr>
              <a:xfrm>
                <a:off x="4751" y="1327"/>
                <a:ext cx="564" cy="138"/>
                <a:chOff x="629" y="2568"/>
                <a:chExt cx="702" cy="138"/>
              </a:xfrm>
            </p:grpSpPr>
            <p:sp>
              <p:nvSpPr>
                <p:cNvPr id="5279" name="Google Shape;5279;p63"/>
                <p:cNvSpPr/>
                <p:nvPr/>
              </p:nvSpPr>
              <p:spPr>
                <a:xfrm>
                  <a:off x="629" y="2568"/>
                  <a:ext cx="702"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80" name="Google Shape;5280;p63"/>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281" name="Google Shape;5281;p63"/>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82" name="Google Shape;5282;p6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83" name="Google Shape;5283;p6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84" name="Google Shape;5284;p63"/>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85" name="Google Shape;5285;p6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86" name="Google Shape;5286;p63"/>
              <p:cNvSpPr/>
              <p:nvPr/>
            </p:nvSpPr>
            <p:spPr>
              <a:xfrm>
                <a:off x="4140" y="2676"/>
                <a:ext cx="1198" cy="149"/>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87" name="Google Shape;5287;p63"/>
              <p:cNvSpPr/>
              <p:nvPr/>
            </p:nvSpPr>
            <p:spPr>
              <a:xfrm>
                <a:off x="4206" y="2713"/>
                <a:ext cx="1070" cy="80"/>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88" name="Google Shape;5288;p63"/>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89" name="Google Shape;5289;p63"/>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0000"/>
                  </a:solidFill>
                  <a:latin typeface="Calibri"/>
                  <a:ea typeface="Calibri"/>
                  <a:cs typeface="Calibri"/>
                  <a:sym typeface="Calibri"/>
                </a:endParaRPr>
              </a:p>
            </p:txBody>
          </p:sp>
          <p:sp>
            <p:nvSpPr>
              <p:cNvPr id="5290" name="Google Shape;5290;p63"/>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91" name="Google Shape;5291;p63"/>
              <p:cNvSpPr/>
              <p:nvPr/>
            </p:nvSpPr>
            <p:spPr>
              <a:xfrm>
                <a:off x="5063" y="1837"/>
                <a:ext cx="85"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292" name="Google Shape;5292;p63"/>
            <p:cNvGrpSpPr/>
            <p:nvPr/>
          </p:nvGrpSpPr>
          <p:grpSpPr>
            <a:xfrm>
              <a:off x="3105" y="1159"/>
              <a:ext cx="301" cy="451"/>
              <a:chOff x="4140" y="429"/>
              <a:chExt cx="1425" cy="2396"/>
            </a:xfrm>
          </p:grpSpPr>
          <p:sp>
            <p:nvSpPr>
              <p:cNvPr id="5293" name="Google Shape;5293;p6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94" name="Google Shape;5294;p63"/>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95" name="Google Shape;5295;p6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96" name="Google Shape;5296;p6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297" name="Google Shape;5297;p63"/>
              <p:cNvSpPr/>
              <p:nvPr/>
            </p:nvSpPr>
            <p:spPr>
              <a:xfrm>
                <a:off x="4211" y="695"/>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298" name="Google Shape;5298;p63"/>
              <p:cNvGrpSpPr/>
              <p:nvPr/>
            </p:nvGrpSpPr>
            <p:grpSpPr>
              <a:xfrm>
                <a:off x="4751" y="668"/>
                <a:ext cx="578" cy="144"/>
                <a:chOff x="616" y="2568"/>
                <a:chExt cx="721" cy="138"/>
              </a:xfrm>
            </p:grpSpPr>
            <p:sp>
              <p:nvSpPr>
                <p:cNvPr id="5299" name="Google Shape;5299;p63"/>
                <p:cNvSpPr/>
                <p:nvPr/>
              </p:nvSpPr>
              <p:spPr>
                <a:xfrm>
                  <a:off x="616" y="2568"/>
                  <a:ext cx="721"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300" name="Google Shape;5300;p63"/>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301" name="Google Shape;5301;p63"/>
              <p:cNvSpPr/>
              <p:nvPr/>
            </p:nvSpPr>
            <p:spPr>
              <a:xfrm>
                <a:off x="4225" y="101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302" name="Google Shape;5302;p63"/>
              <p:cNvGrpSpPr/>
              <p:nvPr/>
            </p:nvGrpSpPr>
            <p:grpSpPr>
              <a:xfrm>
                <a:off x="4746" y="992"/>
                <a:ext cx="583" cy="138"/>
                <a:chOff x="613" y="2566"/>
                <a:chExt cx="727" cy="143"/>
              </a:xfrm>
            </p:grpSpPr>
            <p:sp>
              <p:nvSpPr>
                <p:cNvPr id="5303" name="Google Shape;5303;p63"/>
                <p:cNvSpPr/>
                <p:nvPr/>
              </p:nvSpPr>
              <p:spPr>
                <a:xfrm>
                  <a:off x="613" y="2566"/>
                  <a:ext cx="727" cy="14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304" name="Google Shape;5304;p63"/>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305" name="Google Shape;5305;p63"/>
              <p:cNvSpPr/>
              <p:nvPr/>
            </p:nvSpPr>
            <p:spPr>
              <a:xfrm>
                <a:off x="4216" y="135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306" name="Google Shape;5306;p63"/>
              <p:cNvSpPr/>
              <p:nvPr/>
            </p:nvSpPr>
            <p:spPr>
              <a:xfrm>
                <a:off x="4230" y="1656"/>
                <a:ext cx="592"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307" name="Google Shape;5307;p63"/>
              <p:cNvGrpSpPr/>
              <p:nvPr/>
            </p:nvGrpSpPr>
            <p:grpSpPr>
              <a:xfrm>
                <a:off x="4737" y="1629"/>
                <a:ext cx="582" cy="149"/>
                <a:chOff x="616" y="2570"/>
                <a:chExt cx="725" cy="137"/>
              </a:xfrm>
            </p:grpSpPr>
            <p:sp>
              <p:nvSpPr>
                <p:cNvPr id="5308" name="Google Shape;5308;p63"/>
                <p:cNvSpPr/>
                <p:nvPr/>
              </p:nvSpPr>
              <p:spPr>
                <a:xfrm>
                  <a:off x="616" y="2570"/>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309" name="Google Shape;5309;p63"/>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310" name="Google Shape;5310;p6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311" name="Google Shape;5311;p63"/>
              <p:cNvGrpSpPr/>
              <p:nvPr/>
            </p:nvGrpSpPr>
            <p:grpSpPr>
              <a:xfrm>
                <a:off x="4751" y="1327"/>
                <a:ext cx="564" cy="138"/>
                <a:chOff x="629" y="2568"/>
                <a:chExt cx="702" cy="138"/>
              </a:xfrm>
            </p:grpSpPr>
            <p:sp>
              <p:nvSpPr>
                <p:cNvPr id="5312" name="Google Shape;5312;p63"/>
                <p:cNvSpPr/>
                <p:nvPr/>
              </p:nvSpPr>
              <p:spPr>
                <a:xfrm>
                  <a:off x="629" y="2568"/>
                  <a:ext cx="702"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313" name="Google Shape;5313;p63"/>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314" name="Google Shape;5314;p63"/>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315" name="Google Shape;5315;p6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316" name="Google Shape;5316;p6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317" name="Google Shape;5317;p63"/>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318" name="Google Shape;5318;p6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319" name="Google Shape;5319;p63"/>
              <p:cNvSpPr/>
              <p:nvPr/>
            </p:nvSpPr>
            <p:spPr>
              <a:xfrm>
                <a:off x="4140" y="2676"/>
                <a:ext cx="1198" cy="149"/>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320" name="Google Shape;5320;p63"/>
              <p:cNvSpPr/>
              <p:nvPr/>
            </p:nvSpPr>
            <p:spPr>
              <a:xfrm>
                <a:off x="4206" y="2713"/>
                <a:ext cx="1070" cy="80"/>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321" name="Google Shape;5321;p63"/>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322" name="Google Shape;5322;p63"/>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0000"/>
                  </a:solidFill>
                  <a:latin typeface="Calibri"/>
                  <a:ea typeface="Calibri"/>
                  <a:cs typeface="Calibri"/>
                  <a:sym typeface="Calibri"/>
                </a:endParaRPr>
              </a:p>
            </p:txBody>
          </p:sp>
          <p:sp>
            <p:nvSpPr>
              <p:cNvPr id="5323" name="Google Shape;5323;p63"/>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sp>
            <p:nvSpPr>
              <p:cNvPr id="5324" name="Google Shape;5324;p63"/>
              <p:cNvSpPr/>
              <p:nvPr/>
            </p:nvSpPr>
            <p:spPr>
              <a:xfrm>
                <a:off x="5063" y="1837"/>
                <a:ext cx="85"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cxnSp>
          <p:nvCxnSpPr>
            <p:cNvPr id="5325" name="Google Shape;5325;p63"/>
            <p:cNvCxnSpPr/>
            <p:nvPr/>
          </p:nvCxnSpPr>
          <p:spPr>
            <a:xfrm>
              <a:off x="3734" y="1642"/>
              <a:ext cx="708" cy="498"/>
            </a:xfrm>
            <a:prstGeom prst="straightConnector1">
              <a:avLst/>
            </a:prstGeom>
            <a:noFill/>
            <a:ln cap="flat" cmpd="sng" w="28575">
              <a:solidFill>
                <a:srgbClr val="CC0000"/>
              </a:solidFill>
              <a:prstDash val="solid"/>
              <a:round/>
              <a:headEnd len="med" w="med" type="triangle"/>
              <a:tailEnd len="med" w="med" type="triangle"/>
            </a:ln>
          </p:spPr>
        </p:cxnSp>
        <p:grpSp>
          <p:nvGrpSpPr>
            <p:cNvPr id="5326" name="Google Shape;5326;p63"/>
            <p:cNvGrpSpPr/>
            <p:nvPr/>
          </p:nvGrpSpPr>
          <p:grpSpPr>
            <a:xfrm>
              <a:off x="4466" y="1881"/>
              <a:ext cx="510" cy="661"/>
              <a:chOff x="4296" y="2627"/>
              <a:chExt cx="510" cy="661"/>
            </a:xfrm>
          </p:grpSpPr>
          <p:sp>
            <p:nvSpPr>
              <p:cNvPr id="5327" name="Google Shape;5327;p63"/>
              <p:cNvSpPr/>
              <p:nvPr/>
            </p:nvSpPr>
            <p:spPr>
              <a:xfrm>
                <a:off x="4296" y="2652"/>
                <a:ext cx="510" cy="636"/>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28" name="Google Shape;5328;p63"/>
              <p:cNvSpPr txBox="1"/>
              <p:nvPr/>
            </p:nvSpPr>
            <p:spPr>
              <a:xfrm>
                <a:off x="4298" y="2627"/>
                <a:ext cx="485"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mail</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server</a:t>
                </a:r>
                <a:endParaRPr b="0" i="0" sz="2800" u="none" cap="none" strike="noStrike">
                  <a:solidFill>
                    <a:srgbClr val="000000"/>
                  </a:solidFill>
                  <a:latin typeface="Calibri"/>
                  <a:ea typeface="Calibri"/>
                  <a:cs typeface="Calibri"/>
                  <a:sym typeface="Calibri"/>
                </a:endParaRPr>
              </a:p>
            </p:txBody>
          </p:sp>
          <p:sp>
            <p:nvSpPr>
              <p:cNvPr id="5329" name="Google Shape;5329;p63"/>
              <p:cNvSpPr/>
              <p:nvPr/>
            </p:nvSpPr>
            <p:spPr>
              <a:xfrm>
                <a:off x="4320" y="3006"/>
                <a:ext cx="450" cy="120"/>
              </a:xfrm>
              <a:prstGeom prst="rect">
                <a:avLst/>
              </a:prstGeom>
              <a:solidFill>
                <a:srgbClr val="00FF00"/>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cxnSp>
            <p:nvCxnSpPr>
              <p:cNvPr id="5330" name="Google Shape;5330;p63"/>
              <p:cNvCxnSpPr/>
              <p:nvPr/>
            </p:nvCxnSpPr>
            <p:spPr>
              <a:xfrm>
                <a:off x="4369" y="3034"/>
                <a:ext cx="0" cy="72"/>
              </a:xfrm>
              <a:prstGeom prst="straightConnector1">
                <a:avLst/>
              </a:prstGeom>
              <a:noFill/>
              <a:ln cap="flat" cmpd="sng" w="19050">
                <a:solidFill>
                  <a:srgbClr val="000000"/>
                </a:solidFill>
                <a:prstDash val="solid"/>
                <a:round/>
                <a:headEnd len="med" w="med" type="none"/>
                <a:tailEnd len="med" w="med" type="none"/>
              </a:ln>
            </p:spPr>
          </p:cxnSp>
          <p:cxnSp>
            <p:nvCxnSpPr>
              <p:cNvPr id="5331" name="Google Shape;5331;p63"/>
              <p:cNvCxnSpPr/>
              <p:nvPr/>
            </p:nvCxnSpPr>
            <p:spPr>
              <a:xfrm>
                <a:off x="4478"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332" name="Google Shape;5332;p63"/>
              <p:cNvCxnSpPr/>
              <p:nvPr/>
            </p:nvCxnSpPr>
            <p:spPr>
              <a:xfrm>
                <a:off x="4533" y="3035"/>
                <a:ext cx="0" cy="72"/>
              </a:xfrm>
              <a:prstGeom prst="straightConnector1">
                <a:avLst/>
              </a:prstGeom>
              <a:noFill/>
              <a:ln cap="flat" cmpd="sng" w="19050">
                <a:solidFill>
                  <a:srgbClr val="000000"/>
                </a:solidFill>
                <a:prstDash val="solid"/>
                <a:round/>
                <a:headEnd len="med" w="med" type="none"/>
                <a:tailEnd len="med" w="med" type="none"/>
              </a:ln>
            </p:spPr>
          </p:cxnSp>
          <p:cxnSp>
            <p:nvCxnSpPr>
              <p:cNvPr id="5333" name="Google Shape;5333;p63"/>
              <p:cNvCxnSpPr/>
              <p:nvPr/>
            </p:nvCxnSpPr>
            <p:spPr>
              <a:xfrm>
                <a:off x="4590"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334" name="Google Shape;5334;p63"/>
              <p:cNvCxnSpPr/>
              <p:nvPr/>
            </p:nvCxnSpPr>
            <p:spPr>
              <a:xfrm>
                <a:off x="4651"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335" name="Google Shape;5335;p63"/>
              <p:cNvCxnSpPr/>
              <p:nvPr/>
            </p:nvCxnSpPr>
            <p:spPr>
              <a:xfrm>
                <a:off x="4707"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336" name="Google Shape;5336;p63"/>
              <p:cNvCxnSpPr/>
              <p:nvPr/>
            </p:nvCxnSpPr>
            <p:spPr>
              <a:xfrm>
                <a:off x="4422" y="3034"/>
                <a:ext cx="0" cy="72"/>
              </a:xfrm>
              <a:prstGeom prst="straightConnector1">
                <a:avLst/>
              </a:prstGeom>
              <a:noFill/>
              <a:ln cap="flat" cmpd="sng" w="19050">
                <a:solidFill>
                  <a:srgbClr val="000000"/>
                </a:solidFill>
                <a:prstDash val="solid"/>
                <a:round/>
                <a:headEnd len="med" w="med" type="none"/>
                <a:tailEnd len="med" w="med" type="none"/>
              </a:ln>
            </p:spPr>
          </p:cxnSp>
          <p:sp>
            <p:nvSpPr>
              <p:cNvPr id="5337" name="Google Shape;5337;p63"/>
              <p:cNvSpPr/>
              <p:nvPr/>
            </p:nvSpPr>
            <p:spPr>
              <a:xfrm>
                <a:off x="4328"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38" name="Google Shape;5338;p63"/>
              <p:cNvSpPr/>
              <p:nvPr/>
            </p:nvSpPr>
            <p:spPr>
              <a:xfrm>
                <a:off x="4414"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39" name="Google Shape;5339;p63"/>
              <p:cNvSpPr/>
              <p:nvPr/>
            </p:nvSpPr>
            <p:spPr>
              <a:xfrm>
                <a:off x="4500" y="3172"/>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40" name="Google Shape;5340;p63"/>
              <p:cNvSpPr/>
              <p:nvPr/>
            </p:nvSpPr>
            <p:spPr>
              <a:xfrm>
                <a:off x="4597"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41" name="Google Shape;5341;p63"/>
              <p:cNvSpPr/>
              <p:nvPr/>
            </p:nvSpPr>
            <p:spPr>
              <a:xfrm>
                <a:off x="4693"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grpSp>
        <p:grpSp>
          <p:nvGrpSpPr>
            <p:cNvPr id="5342" name="Google Shape;5342;p63"/>
            <p:cNvGrpSpPr/>
            <p:nvPr/>
          </p:nvGrpSpPr>
          <p:grpSpPr>
            <a:xfrm>
              <a:off x="3206" y="2763"/>
              <a:ext cx="510" cy="661"/>
              <a:chOff x="4296" y="2627"/>
              <a:chExt cx="510" cy="661"/>
            </a:xfrm>
          </p:grpSpPr>
          <p:sp>
            <p:nvSpPr>
              <p:cNvPr id="5343" name="Google Shape;5343;p63"/>
              <p:cNvSpPr/>
              <p:nvPr/>
            </p:nvSpPr>
            <p:spPr>
              <a:xfrm>
                <a:off x="4296" y="2652"/>
                <a:ext cx="510" cy="636"/>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44" name="Google Shape;5344;p63"/>
              <p:cNvSpPr txBox="1"/>
              <p:nvPr/>
            </p:nvSpPr>
            <p:spPr>
              <a:xfrm>
                <a:off x="4298" y="2627"/>
                <a:ext cx="485"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mail</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server</a:t>
                </a:r>
                <a:endParaRPr b="0" i="0" sz="2800" u="none" cap="none" strike="noStrike">
                  <a:solidFill>
                    <a:srgbClr val="000000"/>
                  </a:solidFill>
                  <a:latin typeface="Calibri"/>
                  <a:ea typeface="Calibri"/>
                  <a:cs typeface="Calibri"/>
                  <a:sym typeface="Calibri"/>
                </a:endParaRPr>
              </a:p>
            </p:txBody>
          </p:sp>
          <p:sp>
            <p:nvSpPr>
              <p:cNvPr id="5345" name="Google Shape;5345;p63"/>
              <p:cNvSpPr/>
              <p:nvPr/>
            </p:nvSpPr>
            <p:spPr>
              <a:xfrm>
                <a:off x="4320" y="3006"/>
                <a:ext cx="450" cy="120"/>
              </a:xfrm>
              <a:prstGeom prst="rect">
                <a:avLst/>
              </a:prstGeom>
              <a:solidFill>
                <a:srgbClr val="00FF00"/>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cxnSp>
            <p:nvCxnSpPr>
              <p:cNvPr id="5346" name="Google Shape;5346;p63"/>
              <p:cNvCxnSpPr/>
              <p:nvPr/>
            </p:nvCxnSpPr>
            <p:spPr>
              <a:xfrm>
                <a:off x="4369" y="3034"/>
                <a:ext cx="0" cy="72"/>
              </a:xfrm>
              <a:prstGeom prst="straightConnector1">
                <a:avLst/>
              </a:prstGeom>
              <a:noFill/>
              <a:ln cap="flat" cmpd="sng" w="19050">
                <a:solidFill>
                  <a:srgbClr val="000000"/>
                </a:solidFill>
                <a:prstDash val="solid"/>
                <a:round/>
                <a:headEnd len="med" w="med" type="none"/>
                <a:tailEnd len="med" w="med" type="none"/>
              </a:ln>
            </p:spPr>
          </p:cxnSp>
          <p:cxnSp>
            <p:nvCxnSpPr>
              <p:cNvPr id="5347" name="Google Shape;5347;p63"/>
              <p:cNvCxnSpPr/>
              <p:nvPr/>
            </p:nvCxnSpPr>
            <p:spPr>
              <a:xfrm>
                <a:off x="4478"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348" name="Google Shape;5348;p63"/>
              <p:cNvCxnSpPr/>
              <p:nvPr/>
            </p:nvCxnSpPr>
            <p:spPr>
              <a:xfrm>
                <a:off x="4533" y="3035"/>
                <a:ext cx="0" cy="72"/>
              </a:xfrm>
              <a:prstGeom prst="straightConnector1">
                <a:avLst/>
              </a:prstGeom>
              <a:noFill/>
              <a:ln cap="flat" cmpd="sng" w="19050">
                <a:solidFill>
                  <a:srgbClr val="000000"/>
                </a:solidFill>
                <a:prstDash val="solid"/>
                <a:round/>
                <a:headEnd len="med" w="med" type="none"/>
                <a:tailEnd len="med" w="med" type="none"/>
              </a:ln>
            </p:spPr>
          </p:cxnSp>
          <p:cxnSp>
            <p:nvCxnSpPr>
              <p:cNvPr id="5349" name="Google Shape;5349;p63"/>
              <p:cNvCxnSpPr/>
              <p:nvPr/>
            </p:nvCxnSpPr>
            <p:spPr>
              <a:xfrm>
                <a:off x="4590"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350" name="Google Shape;5350;p63"/>
              <p:cNvCxnSpPr/>
              <p:nvPr/>
            </p:nvCxnSpPr>
            <p:spPr>
              <a:xfrm>
                <a:off x="4651"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351" name="Google Shape;5351;p63"/>
              <p:cNvCxnSpPr/>
              <p:nvPr/>
            </p:nvCxnSpPr>
            <p:spPr>
              <a:xfrm>
                <a:off x="4707"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352" name="Google Shape;5352;p63"/>
              <p:cNvCxnSpPr/>
              <p:nvPr/>
            </p:nvCxnSpPr>
            <p:spPr>
              <a:xfrm>
                <a:off x="4422" y="3034"/>
                <a:ext cx="0" cy="72"/>
              </a:xfrm>
              <a:prstGeom prst="straightConnector1">
                <a:avLst/>
              </a:prstGeom>
              <a:noFill/>
              <a:ln cap="flat" cmpd="sng" w="19050">
                <a:solidFill>
                  <a:srgbClr val="000000"/>
                </a:solidFill>
                <a:prstDash val="solid"/>
                <a:round/>
                <a:headEnd len="med" w="med" type="none"/>
                <a:tailEnd len="med" w="med" type="none"/>
              </a:ln>
            </p:spPr>
          </p:cxnSp>
          <p:sp>
            <p:nvSpPr>
              <p:cNvPr id="5353" name="Google Shape;5353;p63"/>
              <p:cNvSpPr/>
              <p:nvPr/>
            </p:nvSpPr>
            <p:spPr>
              <a:xfrm>
                <a:off x="4328"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54" name="Google Shape;5354;p63"/>
              <p:cNvSpPr/>
              <p:nvPr/>
            </p:nvSpPr>
            <p:spPr>
              <a:xfrm>
                <a:off x="4414"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55" name="Google Shape;5355;p63"/>
              <p:cNvSpPr/>
              <p:nvPr/>
            </p:nvSpPr>
            <p:spPr>
              <a:xfrm>
                <a:off x="4500" y="3172"/>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56" name="Google Shape;5356;p63"/>
              <p:cNvSpPr/>
              <p:nvPr/>
            </p:nvSpPr>
            <p:spPr>
              <a:xfrm>
                <a:off x="4597"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57" name="Google Shape;5357;p63"/>
              <p:cNvSpPr/>
              <p:nvPr/>
            </p:nvSpPr>
            <p:spPr>
              <a:xfrm>
                <a:off x="4693"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grpSp>
        <p:grpSp>
          <p:nvGrpSpPr>
            <p:cNvPr id="5358" name="Google Shape;5358;p63"/>
            <p:cNvGrpSpPr/>
            <p:nvPr/>
          </p:nvGrpSpPr>
          <p:grpSpPr>
            <a:xfrm>
              <a:off x="3206" y="1347"/>
              <a:ext cx="510" cy="661"/>
              <a:chOff x="4296" y="2627"/>
              <a:chExt cx="510" cy="661"/>
            </a:xfrm>
          </p:grpSpPr>
          <p:sp>
            <p:nvSpPr>
              <p:cNvPr id="5359" name="Google Shape;5359;p63"/>
              <p:cNvSpPr/>
              <p:nvPr/>
            </p:nvSpPr>
            <p:spPr>
              <a:xfrm>
                <a:off x="4296" y="2652"/>
                <a:ext cx="510" cy="636"/>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60" name="Google Shape;5360;p63"/>
              <p:cNvSpPr txBox="1"/>
              <p:nvPr/>
            </p:nvSpPr>
            <p:spPr>
              <a:xfrm>
                <a:off x="4298" y="2627"/>
                <a:ext cx="485"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mail</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server</a:t>
                </a:r>
                <a:endParaRPr b="0" i="0" sz="2800" u="none" cap="none" strike="noStrike">
                  <a:solidFill>
                    <a:srgbClr val="000000"/>
                  </a:solidFill>
                  <a:latin typeface="Calibri"/>
                  <a:ea typeface="Calibri"/>
                  <a:cs typeface="Calibri"/>
                  <a:sym typeface="Calibri"/>
                </a:endParaRPr>
              </a:p>
            </p:txBody>
          </p:sp>
          <p:sp>
            <p:nvSpPr>
              <p:cNvPr id="5361" name="Google Shape;5361;p63"/>
              <p:cNvSpPr/>
              <p:nvPr/>
            </p:nvSpPr>
            <p:spPr>
              <a:xfrm>
                <a:off x="4320" y="3006"/>
                <a:ext cx="450" cy="120"/>
              </a:xfrm>
              <a:prstGeom prst="rect">
                <a:avLst/>
              </a:prstGeom>
              <a:solidFill>
                <a:srgbClr val="00FF00"/>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cxnSp>
            <p:nvCxnSpPr>
              <p:cNvPr id="5362" name="Google Shape;5362;p63"/>
              <p:cNvCxnSpPr/>
              <p:nvPr/>
            </p:nvCxnSpPr>
            <p:spPr>
              <a:xfrm>
                <a:off x="4369" y="3034"/>
                <a:ext cx="0" cy="72"/>
              </a:xfrm>
              <a:prstGeom prst="straightConnector1">
                <a:avLst/>
              </a:prstGeom>
              <a:noFill/>
              <a:ln cap="flat" cmpd="sng" w="19050">
                <a:solidFill>
                  <a:srgbClr val="000000"/>
                </a:solidFill>
                <a:prstDash val="solid"/>
                <a:round/>
                <a:headEnd len="med" w="med" type="none"/>
                <a:tailEnd len="med" w="med" type="none"/>
              </a:ln>
            </p:spPr>
          </p:cxnSp>
          <p:cxnSp>
            <p:nvCxnSpPr>
              <p:cNvPr id="5363" name="Google Shape;5363;p63"/>
              <p:cNvCxnSpPr/>
              <p:nvPr/>
            </p:nvCxnSpPr>
            <p:spPr>
              <a:xfrm>
                <a:off x="4478"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364" name="Google Shape;5364;p63"/>
              <p:cNvCxnSpPr/>
              <p:nvPr/>
            </p:nvCxnSpPr>
            <p:spPr>
              <a:xfrm>
                <a:off x="4533" y="3035"/>
                <a:ext cx="0" cy="72"/>
              </a:xfrm>
              <a:prstGeom prst="straightConnector1">
                <a:avLst/>
              </a:prstGeom>
              <a:noFill/>
              <a:ln cap="flat" cmpd="sng" w="19050">
                <a:solidFill>
                  <a:srgbClr val="000000"/>
                </a:solidFill>
                <a:prstDash val="solid"/>
                <a:round/>
                <a:headEnd len="med" w="med" type="none"/>
                <a:tailEnd len="med" w="med" type="none"/>
              </a:ln>
            </p:spPr>
          </p:cxnSp>
          <p:cxnSp>
            <p:nvCxnSpPr>
              <p:cNvPr id="5365" name="Google Shape;5365;p63"/>
              <p:cNvCxnSpPr/>
              <p:nvPr/>
            </p:nvCxnSpPr>
            <p:spPr>
              <a:xfrm>
                <a:off x="4590"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366" name="Google Shape;5366;p63"/>
              <p:cNvCxnSpPr/>
              <p:nvPr/>
            </p:nvCxnSpPr>
            <p:spPr>
              <a:xfrm>
                <a:off x="4651"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367" name="Google Shape;5367;p63"/>
              <p:cNvCxnSpPr/>
              <p:nvPr/>
            </p:nvCxnSpPr>
            <p:spPr>
              <a:xfrm>
                <a:off x="4707"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368" name="Google Shape;5368;p63"/>
              <p:cNvCxnSpPr/>
              <p:nvPr/>
            </p:nvCxnSpPr>
            <p:spPr>
              <a:xfrm>
                <a:off x="4422" y="3034"/>
                <a:ext cx="0" cy="72"/>
              </a:xfrm>
              <a:prstGeom prst="straightConnector1">
                <a:avLst/>
              </a:prstGeom>
              <a:noFill/>
              <a:ln cap="flat" cmpd="sng" w="19050">
                <a:solidFill>
                  <a:srgbClr val="000000"/>
                </a:solidFill>
                <a:prstDash val="solid"/>
                <a:round/>
                <a:headEnd len="med" w="med" type="none"/>
                <a:tailEnd len="med" w="med" type="none"/>
              </a:ln>
            </p:spPr>
          </p:cxnSp>
          <p:sp>
            <p:nvSpPr>
              <p:cNvPr id="5369" name="Google Shape;5369;p63"/>
              <p:cNvSpPr/>
              <p:nvPr/>
            </p:nvSpPr>
            <p:spPr>
              <a:xfrm>
                <a:off x="4328"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70" name="Google Shape;5370;p63"/>
              <p:cNvSpPr/>
              <p:nvPr/>
            </p:nvSpPr>
            <p:spPr>
              <a:xfrm>
                <a:off x="4414"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71" name="Google Shape;5371;p63"/>
              <p:cNvSpPr/>
              <p:nvPr/>
            </p:nvSpPr>
            <p:spPr>
              <a:xfrm>
                <a:off x="4500" y="3172"/>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72" name="Google Shape;5372;p63"/>
              <p:cNvSpPr/>
              <p:nvPr/>
            </p:nvSpPr>
            <p:spPr>
              <a:xfrm>
                <a:off x="4597"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73" name="Google Shape;5373;p63"/>
              <p:cNvSpPr/>
              <p:nvPr/>
            </p:nvSpPr>
            <p:spPr>
              <a:xfrm>
                <a:off x="4693"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grpSp>
        <p:cxnSp>
          <p:nvCxnSpPr>
            <p:cNvPr id="5374" name="Google Shape;5374;p63"/>
            <p:cNvCxnSpPr/>
            <p:nvPr/>
          </p:nvCxnSpPr>
          <p:spPr>
            <a:xfrm flipH="1" rot="10800000">
              <a:off x="3734" y="2350"/>
              <a:ext cx="708" cy="684"/>
            </a:xfrm>
            <a:prstGeom prst="straightConnector1">
              <a:avLst/>
            </a:prstGeom>
            <a:noFill/>
            <a:ln cap="flat" cmpd="sng" w="28575">
              <a:solidFill>
                <a:srgbClr val="CC0000"/>
              </a:solidFill>
              <a:prstDash val="solid"/>
              <a:round/>
              <a:headEnd len="med" w="med" type="triangle"/>
              <a:tailEnd len="med" w="med" type="triangle"/>
            </a:ln>
          </p:spPr>
        </p:cxnSp>
        <p:cxnSp>
          <p:nvCxnSpPr>
            <p:cNvPr id="5375" name="Google Shape;5375;p63"/>
            <p:cNvCxnSpPr/>
            <p:nvPr/>
          </p:nvCxnSpPr>
          <p:spPr>
            <a:xfrm rot="10800000">
              <a:off x="3266" y="2020"/>
              <a:ext cx="0" cy="786"/>
            </a:xfrm>
            <a:prstGeom prst="straightConnector1">
              <a:avLst/>
            </a:prstGeom>
            <a:noFill/>
            <a:ln cap="flat" cmpd="sng" w="28575">
              <a:solidFill>
                <a:srgbClr val="CC0000"/>
              </a:solidFill>
              <a:prstDash val="solid"/>
              <a:round/>
              <a:headEnd len="med" w="med" type="triangle"/>
              <a:tailEnd len="med" w="med" type="triangle"/>
            </a:ln>
          </p:spPr>
        </p:cxnSp>
        <p:grpSp>
          <p:nvGrpSpPr>
            <p:cNvPr id="5376" name="Google Shape;5376;p63"/>
            <p:cNvGrpSpPr/>
            <p:nvPr/>
          </p:nvGrpSpPr>
          <p:grpSpPr>
            <a:xfrm>
              <a:off x="3799" y="2535"/>
              <a:ext cx="641" cy="330"/>
              <a:chOff x="3749" y="2537"/>
              <a:chExt cx="641" cy="330"/>
            </a:xfrm>
          </p:grpSpPr>
          <p:sp>
            <p:nvSpPr>
              <p:cNvPr id="5377" name="Google Shape;5377;p63"/>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78" name="Google Shape;5378;p63"/>
              <p:cNvSpPr txBox="1"/>
              <p:nvPr/>
            </p:nvSpPr>
            <p:spPr>
              <a:xfrm>
                <a:off x="3749" y="2537"/>
                <a:ext cx="641" cy="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SMTP</a:t>
                </a:r>
                <a:endParaRPr/>
              </a:p>
            </p:txBody>
          </p:sp>
        </p:grpSp>
        <p:grpSp>
          <p:nvGrpSpPr>
            <p:cNvPr id="5379" name="Google Shape;5379;p63"/>
            <p:cNvGrpSpPr/>
            <p:nvPr/>
          </p:nvGrpSpPr>
          <p:grpSpPr>
            <a:xfrm>
              <a:off x="3775" y="1743"/>
              <a:ext cx="641" cy="330"/>
              <a:chOff x="3749" y="2537"/>
              <a:chExt cx="641" cy="330"/>
            </a:xfrm>
          </p:grpSpPr>
          <p:sp>
            <p:nvSpPr>
              <p:cNvPr id="5380" name="Google Shape;5380;p63"/>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81" name="Google Shape;5381;p63"/>
              <p:cNvSpPr txBox="1"/>
              <p:nvPr/>
            </p:nvSpPr>
            <p:spPr>
              <a:xfrm>
                <a:off x="3749" y="2537"/>
                <a:ext cx="641" cy="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SMTP</a:t>
                </a:r>
                <a:endParaRPr/>
              </a:p>
            </p:txBody>
          </p:sp>
        </p:grpSp>
        <p:grpSp>
          <p:nvGrpSpPr>
            <p:cNvPr id="5382" name="Google Shape;5382;p63"/>
            <p:cNvGrpSpPr/>
            <p:nvPr/>
          </p:nvGrpSpPr>
          <p:grpSpPr>
            <a:xfrm>
              <a:off x="2941" y="2193"/>
              <a:ext cx="641" cy="330"/>
              <a:chOff x="3749" y="2537"/>
              <a:chExt cx="641" cy="330"/>
            </a:xfrm>
          </p:grpSpPr>
          <p:sp>
            <p:nvSpPr>
              <p:cNvPr id="5383" name="Google Shape;5383;p63"/>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84" name="Google Shape;5384;p63"/>
              <p:cNvSpPr txBox="1"/>
              <p:nvPr/>
            </p:nvSpPr>
            <p:spPr>
              <a:xfrm>
                <a:off x="3749" y="2537"/>
                <a:ext cx="641" cy="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SMTP</a:t>
                </a:r>
                <a:endParaRPr/>
              </a:p>
            </p:txBody>
          </p:sp>
        </p:grpSp>
        <p:grpSp>
          <p:nvGrpSpPr>
            <p:cNvPr id="5385" name="Google Shape;5385;p63"/>
            <p:cNvGrpSpPr/>
            <p:nvPr/>
          </p:nvGrpSpPr>
          <p:grpSpPr>
            <a:xfrm>
              <a:off x="3579" y="886"/>
              <a:ext cx="583" cy="664"/>
              <a:chOff x="3566" y="550"/>
              <a:chExt cx="583" cy="664"/>
            </a:xfrm>
          </p:grpSpPr>
          <p:grpSp>
            <p:nvGrpSpPr>
              <p:cNvPr id="5386" name="Google Shape;5386;p63"/>
              <p:cNvGrpSpPr/>
              <p:nvPr/>
            </p:nvGrpSpPr>
            <p:grpSpPr>
              <a:xfrm>
                <a:off x="3588" y="692"/>
                <a:ext cx="561" cy="522"/>
                <a:chOff x="-44" y="1473"/>
                <a:chExt cx="981" cy="1105"/>
              </a:xfrm>
            </p:grpSpPr>
            <p:pic>
              <p:nvPicPr>
                <p:cNvPr descr="desktop_computer_stylized_medium" id="5387" name="Google Shape;5387;p6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88" name="Google Shape;5388;p6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389" name="Google Shape;5389;p63"/>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90" name="Google Shape;5390;p63"/>
              <p:cNvSpPr txBox="1"/>
              <p:nvPr/>
            </p:nvSpPr>
            <p:spPr>
              <a:xfrm>
                <a:off x="3566" y="550"/>
                <a:ext cx="453"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user</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agent</a:t>
                </a:r>
                <a:endParaRPr b="0" i="0" sz="2800" u="none" cap="none" strike="noStrike">
                  <a:solidFill>
                    <a:srgbClr val="000000"/>
                  </a:solidFill>
                  <a:latin typeface="Calibri"/>
                  <a:ea typeface="Calibri"/>
                  <a:cs typeface="Calibri"/>
                  <a:sym typeface="Calibri"/>
                </a:endParaRPr>
              </a:p>
            </p:txBody>
          </p:sp>
        </p:grpSp>
        <p:grpSp>
          <p:nvGrpSpPr>
            <p:cNvPr id="5391" name="Google Shape;5391;p63"/>
            <p:cNvGrpSpPr/>
            <p:nvPr/>
          </p:nvGrpSpPr>
          <p:grpSpPr>
            <a:xfrm>
              <a:off x="4862" y="1400"/>
              <a:ext cx="583" cy="664"/>
              <a:chOff x="3566" y="550"/>
              <a:chExt cx="583" cy="664"/>
            </a:xfrm>
          </p:grpSpPr>
          <p:grpSp>
            <p:nvGrpSpPr>
              <p:cNvPr id="5392" name="Google Shape;5392;p63"/>
              <p:cNvGrpSpPr/>
              <p:nvPr/>
            </p:nvGrpSpPr>
            <p:grpSpPr>
              <a:xfrm>
                <a:off x="3588" y="692"/>
                <a:ext cx="561" cy="522"/>
                <a:chOff x="-44" y="1473"/>
                <a:chExt cx="981" cy="1105"/>
              </a:xfrm>
            </p:grpSpPr>
            <p:pic>
              <p:nvPicPr>
                <p:cNvPr descr="desktop_computer_stylized_medium" id="5393" name="Google Shape;5393;p6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94" name="Google Shape;5394;p6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395" name="Google Shape;5395;p63"/>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396" name="Google Shape;5396;p63"/>
              <p:cNvSpPr txBox="1"/>
              <p:nvPr/>
            </p:nvSpPr>
            <p:spPr>
              <a:xfrm>
                <a:off x="3566" y="550"/>
                <a:ext cx="453"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user</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agent</a:t>
                </a:r>
                <a:endParaRPr b="0" i="0" sz="2800" u="none" cap="none" strike="noStrike">
                  <a:solidFill>
                    <a:srgbClr val="000000"/>
                  </a:solidFill>
                  <a:latin typeface="Calibri"/>
                  <a:ea typeface="Calibri"/>
                  <a:cs typeface="Calibri"/>
                  <a:sym typeface="Calibri"/>
                </a:endParaRPr>
              </a:p>
            </p:txBody>
          </p:sp>
        </p:grpSp>
        <p:grpSp>
          <p:nvGrpSpPr>
            <p:cNvPr id="5397" name="Google Shape;5397;p63"/>
            <p:cNvGrpSpPr/>
            <p:nvPr/>
          </p:nvGrpSpPr>
          <p:grpSpPr>
            <a:xfrm>
              <a:off x="5074" y="1880"/>
              <a:ext cx="583" cy="664"/>
              <a:chOff x="3566" y="550"/>
              <a:chExt cx="583" cy="664"/>
            </a:xfrm>
          </p:grpSpPr>
          <p:grpSp>
            <p:nvGrpSpPr>
              <p:cNvPr id="5398" name="Google Shape;5398;p63"/>
              <p:cNvGrpSpPr/>
              <p:nvPr/>
            </p:nvGrpSpPr>
            <p:grpSpPr>
              <a:xfrm>
                <a:off x="3588" y="692"/>
                <a:ext cx="561" cy="522"/>
                <a:chOff x="-44" y="1473"/>
                <a:chExt cx="981" cy="1105"/>
              </a:xfrm>
            </p:grpSpPr>
            <p:pic>
              <p:nvPicPr>
                <p:cNvPr descr="desktop_computer_stylized_medium" id="5399" name="Google Shape;5399;p6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00" name="Google Shape;5400;p6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401" name="Google Shape;5401;p63"/>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402" name="Google Shape;5402;p63"/>
              <p:cNvSpPr txBox="1"/>
              <p:nvPr/>
            </p:nvSpPr>
            <p:spPr>
              <a:xfrm>
                <a:off x="3566" y="550"/>
                <a:ext cx="453"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user</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agent</a:t>
                </a:r>
                <a:endParaRPr b="0" i="0" sz="2800" u="none" cap="none" strike="noStrike">
                  <a:solidFill>
                    <a:srgbClr val="000000"/>
                  </a:solidFill>
                  <a:latin typeface="Calibri"/>
                  <a:ea typeface="Calibri"/>
                  <a:cs typeface="Calibri"/>
                  <a:sym typeface="Calibri"/>
                </a:endParaRPr>
              </a:p>
            </p:txBody>
          </p:sp>
        </p:grpSp>
        <p:grpSp>
          <p:nvGrpSpPr>
            <p:cNvPr id="5403" name="Google Shape;5403;p63"/>
            <p:cNvGrpSpPr/>
            <p:nvPr/>
          </p:nvGrpSpPr>
          <p:grpSpPr>
            <a:xfrm>
              <a:off x="4991" y="2540"/>
              <a:ext cx="583" cy="664"/>
              <a:chOff x="3566" y="550"/>
              <a:chExt cx="583" cy="664"/>
            </a:xfrm>
          </p:grpSpPr>
          <p:grpSp>
            <p:nvGrpSpPr>
              <p:cNvPr id="5404" name="Google Shape;5404;p63"/>
              <p:cNvGrpSpPr/>
              <p:nvPr/>
            </p:nvGrpSpPr>
            <p:grpSpPr>
              <a:xfrm>
                <a:off x="3588" y="692"/>
                <a:ext cx="561" cy="522"/>
                <a:chOff x="-44" y="1473"/>
                <a:chExt cx="981" cy="1105"/>
              </a:xfrm>
            </p:grpSpPr>
            <p:pic>
              <p:nvPicPr>
                <p:cNvPr descr="desktop_computer_stylized_medium" id="5405" name="Google Shape;5405;p6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06" name="Google Shape;5406;p6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407" name="Google Shape;5407;p63"/>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408" name="Google Shape;5408;p63"/>
              <p:cNvSpPr txBox="1"/>
              <p:nvPr/>
            </p:nvSpPr>
            <p:spPr>
              <a:xfrm>
                <a:off x="3566" y="550"/>
                <a:ext cx="453"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user</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agent</a:t>
                </a:r>
                <a:endParaRPr b="0" i="0" sz="2800" u="none" cap="none" strike="noStrike">
                  <a:solidFill>
                    <a:srgbClr val="000000"/>
                  </a:solidFill>
                  <a:latin typeface="Calibri"/>
                  <a:ea typeface="Calibri"/>
                  <a:cs typeface="Calibri"/>
                  <a:sym typeface="Calibri"/>
                </a:endParaRPr>
              </a:p>
            </p:txBody>
          </p:sp>
        </p:grpSp>
        <p:grpSp>
          <p:nvGrpSpPr>
            <p:cNvPr id="5409" name="Google Shape;5409;p63"/>
            <p:cNvGrpSpPr/>
            <p:nvPr/>
          </p:nvGrpSpPr>
          <p:grpSpPr>
            <a:xfrm>
              <a:off x="3346" y="3446"/>
              <a:ext cx="583" cy="664"/>
              <a:chOff x="3566" y="550"/>
              <a:chExt cx="583" cy="664"/>
            </a:xfrm>
          </p:grpSpPr>
          <p:grpSp>
            <p:nvGrpSpPr>
              <p:cNvPr id="5410" name="Google Shape;5410;p63"/>
              <p:cNvGrpSpPr/>
              <p:nvPr/>
            </p:nvGrpSpPr>
            <p:grpSpPr>
              <a:xfrm>
                <a:off x="3588" y="692"/>
                <a:ext cx="561" cy="522"/>
                <a:chOff x="-44" y="1473"/>
                <a:chExt cx="981" cy="1105"/>
              </a:xfrm>
            </p:grpSpPr>
            <p:pic>
              <p:nvPicPr>
                <p:cNvPr descr="desktop_computer_stylized_medium" id="5411" name="Google Shape;5411;p6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12" name="Google Shape;5412;p6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413" name="Google Shape;5413;p63"/>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414" name="Google Shape;5414;p63"/>
              <p:cNvSpPr txBox="1"/>
              <p:nvPr/>
            </p:nvSpPr>
            <p:spPr>
              <a:xfrm>
                <a:off x="3566" y="550"/>
                <a:ext cx="453"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user</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agent</a:t>
                </a:r>
                <a:endParaRPr b="0" i="0" sz="2800" u="none" cap="none" strike="noStrike">
                  <a:solidFill>
                    <a:srgbClr val="000000"/>
                  </a:solidFill>
                  <a:latin typeface="Calibri"/>
                  <a:ea typeface="Calibri"/>
                  <a:cs typeface="Calibri"/>
                  <a:sym typeface="Calibri"/>
                </a:endParaRPr>
              </a:p>
            </p:txBody>
          </p:sp>
        </p:grpSp>
        <p:grpSp>
          <p:nvGrpSpPr>
            <p:cNvPr id="5415" name="Google Shape;5415;p63"/>
            <p:cNvGrpSpPr/>
            <p:nvPr/>
          </p:nvGrpSpPr>
          <p:grpSpPr>
            <a:xfrm>
              <a:off x="3805" y="3056"/>
              <a:ext cx="583" cy="664"/>
              <a:chOff x="3566" y="550"/>
              <a:chExt cx="583" cy="664"/>
            </a:xfrm>
          </p:grpSpPr>
          <p:grpSp>
            <p:nvGrpSpPr>
              <p:cNvPr id="5416" name="Google Shape;5416;p63"/>
              <p:cNvGrpSpPr/>
              <p:nvPr/>
            </p:nvGrpSpPr>
            <p:grpSpPr>
              <a:xfrm>
                <a:off x="3588" y="692"/>
                <a:ext cx="561" cy="522"/>
                <a:chOff x="-44" y="1473"/>
                <a:chExt cx="981" cy="1105"/>
              </a:xfrm>
            </p:grpSpPr>
            <p:pic>
              <p:nvPicPr>
                <p:cNvPr descr="desktop_computer_stylized_medium" id="5417" name="Google Shape;5417;p6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18" name="Google Shape;5418;p6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419" name="Google Shape;5419;p63"/>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380"/>
                  <a:buFont typeface="Arial"/>
                  <a:buNone/>
                </a:pPr>
                <a:r>
                  <a:t/>
                </a:r>
                <a:endParaRPr b="0" i="0" sz="2800" u="none" cap="none" strike="noStrike">
                  <a:solidFill>
                    <a:srgbClr val="000000"/>
                  </a:solidFill>
                  <a:latin typeface="Calibri"/>
                  <a:ea typeface="Calibri"/>
                  <a:cs typeface="Calibri"/>
                  <a:sym typeface="Calibri"/>
                </a:endParaRPr>
              </a:p>
            </p:txBody>
          </p:sp>
          <p:sp>
            <p:nvSpPr>
              <p:cNvPr id="5420" name="Google Shape;5420;p63"/>
              <p:cNvSpPr txBox="1"/>
              <p:nvPr/>
            </p:nvSpPr>
            <p:spPr>
              <a:xfrm>
                <a:off x="3566" y="550"/>
                <a:ext cx="453"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user</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agent</a:t>
                </a:r>
                <a:endParaRPr b="0" i="0" sz="2800" u="none" cap="none" strike="noStrike">
                  <a:solidFill>
                    <a:srgbClr val="000000"/>
                  </a:solidFill>
                  <a:latin typeface="Calibri"/>
                  <a:ea typeface="Calibri"/>
                  <a:cs typeface="Calibri"/>
                  <a:sym typeface="Calibri"/>
                </a:endParaRPr>
              </a:p>
            </p:txBody>
          </p:sp>
        </p:grpSp>
      </p:grpSp>
      <p:sp>
        <p:nvSpPr>
          <p:cNvPr id="5421" name="Google Shape;5421;p63"/>
          <p:cNvSpPr txBox="1"/>
          <p:nvPr/>
        </p:nvSpPr>
        <p:spPr>
          <a:xfrm>
            <a:off x="660265" y="1387147"/>
            <a:ext cx="5406569"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mail servers:</a:t>
            </a:r>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mailbox</a:t>
            </a:r>
            <a:r>
              <a:rPr lang="en-US" sz="2800">
                <a:solidFill>
                  <a:schemeClr val="dk1"/>
                </a:solidFill>
                <a:latin typeface="Calibri"/>
                <a:ea typeface="Calibri"/>
                <a:cs typeface="Calibri"/>
                <a:sym typeface="Calibri"/>
              </a:rPr>
              <a:t> contains incoming messages for user</a:t>
            </a:r>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message queue</a:t>
            </a:r>
            <a:r>
              <a:rPr lang="en-US" sz="2800">
                <a:solidFill>
                  <a:schemeClr val="dk1"/>
                </a:solidFill>
                <a:latin typeface="Calibri"/>
                <a:ea typeface="Calibri"/>
                <a:cs typeface="Calibri"/>
                <a:sym typeface="Calibri"/>
              </a:rPr>
              <a:t> of outgoing (to be sent) mail messages</a:t>
            </a:r>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SMTP protocol</a:t>
            </a:r>
            <a:r>
              <a:rPr lang="en-US" sz="2800">
                <a:solidFill>
                  <a:schemeClr val="dk1"/>
                </a:solidFill>
                <a:latin typeface="Calibri"/>
                <a:ea typeface="Calibri"/>
                <a:cs typeface="Calibri"/>
                <a:sym typeface="Calibri"/>
              </a:rPr>
              <a:t> between mail servers to send email messages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client: sending mail server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“server”: receiving mail server</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6" name="Shape 5426"/>
        <p:cNvGrpSpPr/>
        <p:nvPr/>
      </p:nvGrpSpPr>
      <p:grpSpPr>
        <a:xfrm>
          <a:off x="0" y="0"/>
          <a:ext cx="0" cy="0"/>
          <a:chOff x="0" y="0"/>
          <a:chExt cx="0" cy="0"/>
        </a:xfrm>
      </p:grpSpPr>
      <p:sp>
        <p:nvSpPr>
          <p:cNvPr id="5427" name="Google Shape;5427;p6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E-mail: the </a:t>
            </a:r>
            <a:r>
              <a:rPr lang="en-US"/>
              <a:t>RFC </a:t>
            </a:r>
            <a:r>
              <a:rPr lang="en-US" sz="3200"/>
              <a:t>(5321)</a:t>
            </a:r>
            <a:endParaRPr sz="4400"/>
          </a:p>
        </p:txBody>
      </p:sp>
      <p:sp>
        <p:nvSpPr>
          <p:cNvPr id="5428" name="Google Shape;5428;p6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5429" name="Google Shape;5429;p64"/>
          <p:cNvSpPr txBox="1"/>
          <p:nvPr/>
        </p:nvSpPr>
        <p:spPr>
          <a:xfrm>
            <a:off x="693827" y="1364343"/>
            <a:ext cx="10725328"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uses TCP to reliably transfer email message from client (mail server initiating connection) to server, port 25</a:t>
            </a:r>
            <a:endParaRPr/>
          </a:p>
          <a:p>
            <a:pPr indent="-222250" lvl="0" marL="352425" marR="0" rtl="0" algn="l">
              <a:lnSpc>
                <a:spcPct val="90000"/>
              </a:lnSpc>
              <a:spcBef>
                <a:spcPts val="6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direct transfer: sending server (acting like client) to receiving server</a:t>
            </a:r>
            <a:endParaRPr/>
          </a:p>
          <a:p>
            <a:pPr indent="-222250" lvl="0" marL="352425" marR="0" rtl="0" algn="l">
              <a:lnSpc>
                <a:spcPct val="90000"/>
              </a:lnSpc>
              <a:spcBef>
                <a:spcPts val="6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three phases of transfer</a:t>
            </a:r>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handshaking (greeting)</a:t>
            </a:r>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transfer of messages</a:t>
            </a:r>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closure</a:t>
            </a:r>
            <a:endParaRPr/>
          </a:p>
          <a:p>
            <a:pPr indent="-222250" lvl="0" marL="352425" marR="0" rtl="0" algn="l">
              <a:lnSpc>
                <a:spcPct val="90000"/>
              </a:lnSpc>
              <a:spcBef>
                <a:spcPts val="6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command/response interaction (like HTTP)</a:t>
            </a:r>
            <a:endParaRPr sz="2800">
              <a:solidFill>
                <a:schemeClr val="accent2"/>
              </a:solidFill>
              <a:latin typeface="Calibri"/>
              <a:ea typeface="Calibri"/>
              <a:cs typeface="Calibri"/>
              <a:sym typeface="Calibri"/>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99"/>
                </a:solidFill>
                <a:latin typeface="Calibri"/>
                <a:ea typeface="Calibri"/>
                <a:cs typeface="Calibri"/>
                <a:sym typeface="Calibri"/>
              </a:rPr>
              <a:t>commands:</a:t>
            </a:r>
            <a:r>
              <a:rPr b="0" i="0" lang="en-US" sz="2400" u="none" cap="none" strike="noStrike">
                <a:solidFill>
                  <a:schemeClr val="dk1"/>
                </a:solidFill>
                <a:latin typeface="Calibri"/>
                <a:ea typeface="Calibri"/>
                <a:cs typeface="Calibri"/>
                <a:sym typeface="Calibri"/>
              </a:rPr>
              <a:t> ASCII text</a:t>
            </a:r>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99"/>
                </a:solidFill>
                <a:latin typeface="Calibri"/>
                <a:ea typeface="Calibri"/>
                <a:cs typeface="Calibri"/>
                <a:sym typeface="Calibri"/>
              </a:rPr>
              <a:t>response:</a:t>
            </a:r>
            <a:r>
              <a:rPr b="0" i="0" lang="en-US" sz="2400" u="none" cap="none" strike="noStrike">
                <a:solidFill>
                  <a:schemeClr val="dk1"/>
                </a:solidFill>
                <a:latin typeface="Calibri"/>
                <a:ea typeface="Calibri"/>
                <a:cs typeface="Calibri"/>
                <a:sym typeface="Calibri"/>
              </a:rPr>
              <a:t> status code and phrase</a:t>
            </a:r>
            <a:endParaRPr/>
          </a:p>
          <a:p>
            <a:pPr indent="-222250" lvl="0" marL="352425" marR="0" rtl="0" algn="l">
              <a:lnSpc>
                <a:spcPct val="90000"/>
              </a:lnSpc>
              <a:spcBef>
                <a:spcPts val="6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messages must be in 7-bit ASCI</a:t>
            </a:r>
            <a:endParaRPr sz="3200">
              <a:solidFill>
                <a:schemeClr val="dk1"/>
              </a:solidFill>
              <a:latin typeface="Calibri"/>
              <a:ea typeface="Calibri"/>
              <a:cs typeface="Calibri"/>
              <a:sym typeface="Calibri"/>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4" name="Shape 5434"/>
        <p:cNvGrpSpPr/>
        <p:nvPr/>
      </p:nvGrpSpPr>
      <p:grpSpPr>
        <a:xfrm>
          <a:off x="0" y="0"/>
          <a:ext cx="0" cy="0"/>
          <a:chOff x="0" y="0"/>
          <a:chExt cx="0" cy="0"/>
        </a:xfrm>
      </p:grpSpPr>
      <p:sp>
        <p:nvSpPr>
          <p:cNvPr id="5435" name="Google Shape;5435;p65"/>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Scenario: Alice sends e-mail to Bob</a:t>
            </a:r>
            <a:endParaRPr sz="4400"/>
          </a:p>
        </p:txBody>
      </p:sp>
      <p:sp>
        <p:nvSpPr>
          <p:cNvPr id="5436" name="Google Shape;5436;p6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5437" name="Google Shape;5437;p65"/>
          <p:cNvSpPr txBox="1"/>
          <p:nvPr/>
        </p:nvSpPr>
        <p:spPr>
          <a:xfrm>
            <a:off x="707567" y="1371600"/>
            <a:ext cx="5071156" cy="1153886"/>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400"/>
              <a:buFont typeface="Noto Sans Symbols"/>
              <a:buNone/>
            </a:pPr>
            <a:r>
              <a:rPr lang="en-US" sz="2400">
                <a:solidFill>
                  <a:schemeClr val="dk1"/>
                </a:solidFill>
                <a:latin typeface="Calibri"/>
                <a:ea typeface="Calibri"/>
                <a:cs typeface="Calibri"/>
                <a:sym typeface="Calibri"/>
              </a:rPr>
              <a:t>1) Alice uses UA to compose e-mail message “to” bob@someschool.edu</a:t>
            </a:r>
            <a:endParaRPr sz="2400">
              <a:solidFill>
                <a:schemeClr val="dk1"/>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200"/>
              <a:buFont typeface="Noto Sans Symbols"/>
              <a:buNone/>
            </a:pPr>
            <a:r>
              <a:t/>
            </a:r>
            <a:endParaRPr sz="2200">
              <a:solidFill>
                <a:schemeClr val="dk1"/>
              </a:solidFill>
              <a:latin typeface="Calibri"/>
              <a:ea typeface="Calibri"/>
              <a:cs typeface="Calibri"/>
              <a:sym typeface="Calibri"/>
            </a:endParaRPr>
          </a:p>
        </p:txBody>
      </p:sp>
      <p:sp>
        <p:nvSpPr>
          <p:cNvPr id="5438" name="Google Shape;5438;p65"/>
          <p:cNvSpPr txBox="1"/>
          <p:nvPr/>
        </p:nvSpPr>
        <p:spPr>
          <a:xfrm>
            <a:off x="6638017" y="1329168"/>
            <a:ext cx="5071155" cy="94639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400"/>
              <a:buFont typeface="Noto Sans Symbols"/>
              <a:buNone/>
            </a:pPr>
            <a:r>
              <a:rPr lang="en-US" sz="2400">
                <a:solidFill>
                  <a:schemeClr val="dk1"/>
                </a:solidFill>
                <a:latin typeface="Calibri"/>
                <a:ea typeface="Calibri"/>
                <a:cs typeface="Calibri"/>
                <a:sym typeface="Calibri"/>
              </a:rPr>
              <a:t>4) SMTP client sends Alice’s message over the TCP </a:t>
            </a:r>
            <a:r>
              <a:rPr lang="en-US" sz="2800">
                <a:solidFill>
                  <a:schemeClr val="dk1"/>
                </a:solidFill>
                <a:latin typeface="Calibri"/>
                <a:ea typeface="Calibri"/>
                <a:cs typeface="Calibri"/>
                <a:sym typeface="Calibri"/>
              </a:rPr>
              <a:t>connection</a:t>
            </a:r>
            <a:endParaRPr sz="2400">
              <a:solidFill>
                <a:schemeClr val="dk1"/>
              </a:solidFill>
              <a:latin typeface="Gill Sans"/>
              <a:ea typeface="Gill Sans"/>
              <a:cs typeface="Gill Sans"/>
              <a:sym typeface="Gill Sans"/>
            </a:endParaRPr>
          </a:p>
        </p:txBody>
      </p:sp>
      <p:grpSp>
        <p:nvGrpSpPr>
          <p:cNvPr id="5439" name="Google Shape;5439;p65"/>
          <p:cNvGrpSpPr/>
          <p:nvPr/>
        </p:nvGrpSpPr>
        <p:grpSpPr>
          <a:xfrm>
            <a:off x="2304142" y="4981175"/>
            <a:ext cx="912813" cy="1054100"/>
            <a:chOff x="3574" y="550"/>
            <a:chExt cx="575" cy="664"/>
          </a:xfrm>
        </p:grpSpPr>
        <p:grpSp>
          <p:nvGrpSpPr>
            <p:cNvPr id="5440" name="Google Shape;5440;p65"/>
            <p:cNvGrpSpPr/>
            <p:nvPr/>
          </p:nvGrpSpPr>
          <p:grpSpPr>
            <a:xfrm>
              <a:off x="3588" y="692"/>
              <a:ext cx="561" cy="522"/>
              <a:chOff x="-44" y="1473"/>
              <a:chExt cx="981" cy="1105"/>
            </a:xfrm>
          </p:grpSpPr>
          <p:pic>
            <p:nvPicPr>
              <p:cNvPr descr="desktop_computer_stylized_medium" id="5441" name="Google Shape;5441;p6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42" name="Google Shape;5442;p6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443" name="Google Shape;5443;p65"/>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444" name="Google Shape;5444;p65"/>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user</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agent</a:t>
              </a:r>
              <a:endParaRPr b="0" i="0" sz="2400" u="none" cap="none" strike="noStrike">
                <a:solidFill>
                  <a:srgbClr val="000000"/>
                </a:solidFill>
                <a:latin typeface="Arial"/>
                <a:ea typeface="Arial"/>
                <a:cs typeface="Arial"/>
                <a:sym typeface="Arial"/>
              </a:endParaRPr>
            </a:p>
          </p:txBody>
        </p:sp>
      </p:grpSp>
      <p:grpSp>
        <p:nvGrpSpPr>
          <p:cNvPr id="5445" name="Google Shape;5445;p65"/>
          <p:cNvGrpSpPr/>
          <p:nvPr/>
        </p:nvGrpSpPr>
        <p:grpSpPr>
          <a:xfrm>
            <a:off x="6014130" y="4712887"/>
            <a:ext cx="511175" cy="693738"/>
            <a:chOff x="4140" y="429"/>
            <a:chExt cx="1425" cy="2396"/>
          </a:xfrm>
        </p:grpSpPr>
        <p:sp>
          <p:nvSpPr>
            <p:cNvPr id="5446" name="Google Shape;5446;p6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47" name="Google Shape;5447;p65"/>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48" name="Google Shape;5448;p6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49" name="Google Shape;5449;p6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50" name="Google Shape;5450;p65"/>
            <p:cNvSpPr/>
            <p:nvPr/>
          </p:nvSpPr>
          <p:spPr>
            <a:xfrm>
              <a:off x="4211" y="692"/>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451" name="Google Shape;5451;p65"/>
            <p:cNvGrpSpPr/>
            <p:nvPr/>
          </p:nvGrpSpPr>
          <p:grpSpPr>
            <a:xfrm>
              <a:off x="4751" y="670"/>
              <a:ext cx="579" cy="143"/>
              <a:chOff x="616" y="2570"/>
              <a:chExt cx="723" cy="137"/>
            </a:xfrm>
          </p:grpSpPr>
          <p:sp>
            <p:nvSpPr>
              <p:cNvPr id="5452" name="Google Shape;5452;p65"/>
              <p:cNvSpPr/>
              <p:nvPr/>
            </p:nvSpPr>
            <p:spPr>
              <a:xfrm>
                <a:off x="616" y="2570"/>
                <a:ext cx="723"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53" name="Google Shape;5453;p65"/>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454" name="Google Shape;5454;p65"/>
            <p:cNvSpPr/>
            <p:nvPr/>
          </p:nvSpPr>
          <p:spPr>
            <a:xfrm>
              <a:off x="4224" y="1021"/>
              <a:ext cx="597"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455" name="Google Shape;5455;p65"/>
            <p:cNvGrpSpPr/>
            <p:nvPr/>
          </p:nvGrpSpPr>
          <p:grpSpPr>
            <a:xfrm>
              <a:off x="4746" y="994"/>
              <a:ext cx="575" cy="126"/>
              <a:chOff x="613" y="2568"/>
              <a:chExt cx="718" cy="131"/>
            </a:xfrm>
          </p:grpSpPr>
          <p:sp>
            <p:nvSpPr>
              <p:cNvPr id="5456" name="Google Shape;5456;p65"/>
              <p:cNvSpPr/>
              <p:nvPr/>
            </p:nvSpPr>
            <p:spPr>
              <a:xfrm>
                <a:off x="613" y="2568"/>
                <a:ext cx="718" cy="13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57" name="Google Shape;5457;p65"/>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458" name="Google Shape;5458;p65"/>
            <p:cNvSpPr/>
            <p:nvPr/>
          </p:nvSpPr>
          <p:spPr>
            <a:xfrm>
              <a:off x="4215" y="1356"/>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59" name="Google Shape;5459;p65"/>
            <p:cNvSpPr/>
            <p:nvPr/>
          </p:nvSpPr>
          <p:spPr>
            <a:xfrm>
              <a:off x="4229" y="1657"/>
              <a:ext cx="597"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460" name="Google Shape;5460;p65"/>
            <p:cNvGrpSpPr/>
            <p:nvPr/>
          </p:nvGrpSpPr>
          <p:grpSpPr>
            <a:xfrm>
              <a:off x="4733" y="1641"/>
              <a:ext cx="584" cy="137"/>
              <a:chOff x="612" y="2581"/>
              <a:chExt cx="728" cy="126"/>
            </a:xfrm>
          </p:grpSpPr>
          <p:sp>
            <p:nvSpPr>
              <p:cNvPr id="5461" name="Google Shape;5461;p65"/>
              <p:cNvSpPr/>
              <p:nvPr/>
            </p:nvSpPr>
            <p:spPr>
              <a:xfrm>
                <a:off x="612" y="2581"/>
                <a:ext cx="728" cy="12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62" name="Google Shape;5462;p65"/>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463" name="Google Shape;5463;p6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464" name="Google Shape;5464;p65"/>
            <p:cNvGrpSpPr/>
            <p:nvPr/>
          </p:nvGrpSpPr>
          <p:grpSpPr>
            <a:xfrm>
              <a:off x="4737" y="1328"/>
              <a:ext cx="584" cy="137"/>
              <a:chOff x="612" y="2569"/>
              <a:chExt cx="728" cy="137"/>
            </a:xfrm>
          </p:grpSpPr>
          <p:sp>
            <p:nvSpPr>
              <p:cNvPr id="5465" name="Google Shape;5465;p65"/>
              <p:cNvSpPr/>
              <p:nvPr/>
            </p:nvSpPr>
            <p:spPr>
              <a:xfrm>
                <a:off x="612" y="2569"/>
                <a:ext cx="728"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66" name="Google Shape;5466;p65"/>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467" name="Google Shape;5467;p65"/>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68" name="Google Shape;5468;p6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69" name="Google Shape;5469;p6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70" name="Google Shape;5470;p65"/>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71" name="Google Shape;5471;p6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72" name="Google Shape;5472;p65"/>
            <p:cNvSpPr/>
            <p:nvPr/>
          </p:nvSpPr>
          <p:spPr>
            <a:xfrm>
              <a:off x="4140" y="2677"/>
              <a:ext cx="1199"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73" name="Google Shape;5473;p65"/>
            <p:cNvSpPr/>
            <p:nvPr/>
          </p:nvSpPr>
          <p:spPr>
            <a:xfrm>
              <a:off x="4206" y="2710"/>
              <a:ext cx="1071"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74" name="Google Shape;5474;p65"/>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75" name="Google Shape;5475;p65"/>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5476" name="Google Shape;5476;p65"/>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77" name="Google Shape;5477;p65"/>
            <p:cNvSpPr/>
            <p:nvPr/>
          </p:nvSpPr>
          <p:spPr>
            <a:xfrm>
              <a:off x="5060" y="1833"/>
              <a:ext cx="89" cy="762"/>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5478" name="Google Shape;5478;p65"/>
          <p:cNvGrpSpPr/>
          <p:nvPr/>
        </p:nvGrpSpPr>
        <p:grpSpPr>
          <a:xfrm>
            <a:off x="3836080" y="4768450"/>
            <a:ext cx="511175" cy="693737"/>
            <a:chOff x="4140" y="429"/>
            <a:chExt cx="1425" cy="2396"/>
          </a:xfrm>
        </p:grpSpPr>
        <p:sp>
          <p:nvSpPr>
            <p:cNvPr id="5479" name="Google Shape;5479;p6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80" name="Google Shape;5480;p65"/>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81" name="Google Shape;5481;p6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82" name="Google Shape;5482;p6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83" name="Google Shape;5483;p65"/>
            <p:cNvSpPr/>
            <p:nvPr/>
          </p:nvSpPr>
          <p:spPr>
            <a:xfrm>
              <a:off x="4211" y="692"/>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484" name="Google Shape;5484;p65"/>
            <p:cNvGrpSpPr/>
            <p:nvPr/>
          </p:nvGrpSpPr>
          <p:grpSpPr>
            <a:xfrm>
              <a:off x="4751" y="670"/>
              <a:ext cx="579" cy="143"/>
              <a:chOff x="616" y="2570"/>
              <a:chExt cx="723" cy="137"/>
            </a:xfrm>
          </p:grpSpPr>
          <p:sp>
            <p:nvSpPr>
              <p:cNvPr id="5485" name="Google Shape;5485;p65"/>
              <p:cNvSpPr/>
              <p:nvPr/>
            </p:nvSpPr>
            <p:spPr>
              <a:xfrm>
                <a:off x="616" y="2570"/>
                <a:ext cx="723"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86" name="Google Shape;5486;p65"/>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487" name="Google Shape;5487;p65"/>
            <p:cNvSpPr/>
            <p:nvPr/>
          </p:nvSpPr>
          <p:spPr>
            <a:xfrm>
              <a:off x="4224" y="1021"/>
              <a:ext cx="597"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488" name="Google Shape;5488;p65"/>
            <p:cNvGrpSpPr/>
            <p:nvPr/>
          </p:nvGrpSpPr>
          <p:grpSpPr>
            <a:xfrm>
              <a:off x="4746" y="994"/>
              <a:ext cx="575" cy="126"/>
              <a:chOff x="613" y="2568"/>
              <a:chExt cx="718" cy="131"/>
            </a:xfrm>
          </p:grpSpPr>
          <p:sp>
            <p:nvSpPr>
              <p:cNvPr id="5489" name="Google Shape;5489;p65"/>
              <p:cNvSpPr/>
              <p:nvPr/>
            </p:nvSpPr>
            <p:spPr>
              <a:xfrm>
                <a:off x="613" y="2568"/>
                <a:ext cx="718" cy="13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90" name="Google Shape;5490;p65"/>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491" name="Google Shape;5491;p65"/>
            <p:cNvSpPr/>
            <p:nvPr/>
          </p:nvSpPr>
          <p:spPr>
            <a:xfrm>
              <a:off x="4215" y="1356"/>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92" name="Google Shape;5492;p65"/>
            <p:cNvSpPr/>
            <p:nvPr/>
          </p:nvSpPr>
          <p:spPr>
            <a:xfrm>
              <a:off x="4229" y="1657"/>
              <a:ext cx="597"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493" name="Google Shape;5493;p65"/>
            <p:cNvGrpSpPr/>
            <p:nvPr/>
          </p:nvGrpSpPr>
          <p:grpSpPr>
            <a:xfrm>
              <a:off x="4733" y="1641"/>
              <a:ext cx="584" cy="137"/>
              <a:chOff x="612" y="2581"/>
              <a:chExt cx="728" cy="126"/>
            </a:xfrm>
          </p:grpSpPr>
          <p:sp>
            <p:nvSpPr>
              <p:cNvPr id="5494" name="Google Shape;5494;p65"/>
              <p:cNvSpPr/>
              <p:nvPr/>
            </p:nvSpPr>
            <p:spPr>
              <a:xfrm>
                <a:off x="612" y="2581"/>
                <a:ext cx="728" cy="12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95" name="Google Shape;5495;p65"/>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496" name="Google Shape;5496;p6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497" name="Google Shape;5497;p65"/>
            <p:cNvGrpSpPr/>
            <p:nvPr/>
          </p:nvGrpSpPr>
          <p:grpSpPr>
            <a:xfrm>
              <a:off x="4737" y="1328"/>
              <a:ext cx="584" cy="137"/>
              <a:chOff x="612" y="2569"/>
              <a:chExt cx="728" cy="137"/>
            </a:xfrm>
          </p:grpSpPr>
          <p:sp>
            <p:nvSpPr>
              <p:cNvPr id="5498" name="Google Shape;5498;p65"/>
              <p:cNvSpPr/>
              <p:nvPr/>
            </p:nvSpPr>
            <p:spPr>
              <a:xfrm>
                <a:off x="612" y="2569"/>
                <a:ext cx="728"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499" name="Google Shape;5499;p65"/>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500" name="Google Shape;5500;p65"/>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501" name="Google Shape;5501;p6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502" name="Google Shape;5502;p6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503" name="Google Shape;5503;p65"/>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504" name="Google Shape;5504;p6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505" name="Google Shape;5505;p65"/>
            <p:cNvSpPr/>
            <p:nvPr/>
          </p:nvSpPr>
          <p:spPr>
            <a:xfrm>
              <a:off x="4140" y="2677"/>
              <a:ext cx="1199"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506" name="Google Shape;5506;p65"/>
            <p:cNvSpPr/>
            <p:nvPr/>
          </p:nvSpPr>
          <p:spPr>
            <a:xfrm>
              <a:off x="4206" y="2710"/>
              <a:ext cx="1071"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507" name="Google Shape;5507;p65"/>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508" name="Google Shape;5508;p65"/>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5509" name="Google Shape;5509;p65"/>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510" name="Google Shape;5510;p65"/>
            <p:cNvSpPr/>
            <p:nvPr/>
          </p:nvSpPr>
          <p:spPr>
            <a:xfrm>
              <a:off x="5060" y="1833"/>
              <a:ext cx="89" cy="762"/>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5511" name="Google Shape;5511;p65"/>
          <p:cNvGrpSpPr/>
          <p:nvPr/>
        </p:nvGrpSpPr>
        <p:grpSpPr>
          <a:xfrm>
            <a:off x="3969430" y="5055787"/>
            <a:ext cx="809625" cy="1049338"/>
            <a:chOff x="4296" y="2627"/>
            <a:chExt cx="510" cy="661"/>
          </a:xfrm>
        </p:grpSpPr>
        <p:sp>
          <p:nvSpPr>
            <p:cNvPr id="5512" name="Google Shape;5512;p65"/>
            <p:cNvSpPr/>
            <p:nvPr/>
          </p:nvSpPr>
          <p:spPr>
            <a:xfrm>
              <a:off x="4296" y="2652"/>
              <a:ext cx="510" cy="636"/>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513" name="Google Shape;5513;p65"/>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mail</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server</a:t>
              </a:r>
              <a:endParaRPr b="0" i="0" sz="2400" u="none" cap="none" strike="noStrike">
                <a:solidFill>
                  <a:srgbClr val="000000"/>
                </a:solidFill>
                <a:latin typeface="Arial"/>
                <a:ea typeface="Arial"/>
                <a:cs typeface="Arial"/>
                <a:sym typeface="Arial"/>
              </a:endParaRPr>
            </a:p>
          </p:txBody>
        </p:sp>
        <p:sp>
          <p:nvSpPr>
            <p:cNvPr id="5514" name="Google Shape;5514;p65"/>
            <p:cNvSpPr/>
            <p:nvPr/>
          </p:nvSpPr>
          <p:spPr>
            <a:xfrm>
              <a:off x="4320" y="3006"/>
              <a:ext cx="450" cy="120"/>
            </a:xfrm>
            <a:prstGeom prst="rect">
              <a:avLst/>
            </a:prstGeom>
            <a:solidFill>
              <a:srgbClr val="00FF00"/>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cxnSp>
          <p:nvCxnSpPr>
            <p:cNvPr id="5515" name="Google Shape;5515;p65"/>
            <p:cNvCxnSpPr/>
            <p:nvPr/>
          </p:nvCxnSpPr>
          <p:spPr>
            <a:xfrm>
              <a:off x="4369" y="3034"/>
              <a:ext cx="0" cy="72"/>
            </a:xfrm>
            <a:prstGeom prst="straightConnector1">
              <a:avLst/>
            </a:prstGeom>
            <a:noFill/>
            <a:ln cap="flat" cmpd="sng" w="19050">
              <a:solidFill>
                <a:srgbClr val="000000"/>
              </a:solidFill>
              <a:prstDash val="solid"/>
              <a:round/>
              <a:headEnd len="med" w="med" type="none"/>
              <a:tailEnd len="med" w="med" type="none"/>
            </a:ln>
          </p:spPr>
        </p:cxnSp>
        <p:cxnSp>
          <p:nvCxnSpPr>
            <p:cNvPr id="5516" name="Google Shape;5516;p65"/>
            <p:cNvCxnSpPr/>
            <p:nvPr/>
          </p:nvCxnSpPr>
          <p:spPr>
            <a:xfrm>
              <a:off x="4478"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517" name="Google Shape;5517;p65"/>
            <p:cNvCxnSpPr/>
            <p:nvPr/>
          </p:nvCxnSpPr>
          <p:spPr>
            <a:xfrm>
              <a:off x="4533" y="3035"/>
              <a:ext cx="0" cy="72"/>
            </a:xfrm>
            <a:prstGeom prst="straightConnector1">
              <a:avLst/>
            </a:prstGeom>
            <a:noFill/>
            <a:ln cap="flat" cmpd="sng" w="19050">
              <a:solidFill>
                <a:srgbClr val="000000"/>
              </a:solidFill>
              <a:prstDash val="solid"/>
              <a:round/>
              <a:headEnd len="med" w="med" type="none"/>
              <a:tailEnd len="med" w="med" type="none"/>
            </a:ln>
          </p:spPr>
        </p:cxnSp>
        <p:cxnSp>
          <p:nvCxnSpPr>
            <p:cNvPr id="5518" name="Google Shape;5518;p65"/>
            <p:cNvCxnSpPr/>
            <p:nvPr/>
          </p:nvCxnSpPr>
          <p:spPr>
            <a:xfrm>
              <a:off x="4590"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519" name="Google Shape;5519;p65"/>
            <p:cNvCxnSpPr/>
            <p:nvPr/>
          </p:nvCxnSpPr>
          <p:spPr>
            <a:xfrm>
              <a:off x="4651"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520" name="Google Shape;5520;p65"/>
            <p:cNvCxnSpPr/>
            <p:nvPr/>
          </p:nvCxnSpPr>
          <p:spPr>
            <a:xfrm>
              <a:off x="4707"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521" name="Google Shape;5521;p65"/>
            <p:cNvCxnSpPr/>
            <p:nvPr/>
          </p:nvCxnSpPr>
          <p:spPr>
            <a:xfrm>
              <a:off x="4422" y="3034"/>
              <a:ext cx="0" cy="72"/>
            </a:xfrm>
            <a:prstGeom prst="straightConnector1">
              <a:avLst/>
            </a:prstGeom>
            <a:noFill/>
            <a:ln cap="flat" cmpd="sng" w="19050">
              <a:solidFill>
                <a:srgbClr val="000000"/>
              </a:solidFill>
              <a:prstDash val="solid"/>
              <a:round/>
              <a:headEnd len="med" w="med" type="none"/>
              <a:tailEnd len="med" w="med" type="none"/>
            </a:ln>
          </p:spPr>
        </p:cxnSp>
        <p:sp>
          <p:nvSpPr>
            <p:cNvPr id="5522" name="Google Shape;5522;p65"/>
            <p:cNvSpPr/>
            <p:nvPr/>
          </p:nvSpPr>
          <p:spPr>
            <a:xfrm>
              <a:off x="4328"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523" name="Google Shape;5523;p65"/>
            <p:cNvSpPr/>
            <p:nvPr/>
          </p:nvSpPr>
          <p:spPr>
            <a:xfrm>
              <a:off x="4414"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524" name="Google Shape;5524;p65"/>
            <p:cNvSpPr/>
            <p:nvPr/>
          </p:nvSpPr>
          <p:spPr>
            <a:xfrm>
              <a:off x="4500" y="3172"/>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525" name="Google Shape;5525;p65"/>
            <p:cNvSpPr/>
            <p:nvPr/>
          </p:nvSpPr>
          <p:spPr>
            <a:xfrm>
              <a:off x="4597"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526" name="Google Shape;5526;p65"/>
            <p:cNvSpPr/>
            <p:nvPr/>
          </p:nvSpPr>
          <p:spPr>
            <a:xfrm>
              <a:off x="4693"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pic>
        <p:nvPicPr>
          <p:cNvPr descr="Alice" id="5527" name="Google Shape;5527;p65"/>
          <p:cNvPicPr preferRelativeResize="0"/>
          <p:nvPr/>
        </p:nvPicPr>
        <p:blipFill rotWithShape="1">
          <a:blip r:embed="rId4">
            <a:alphaModFix/>
          </a:blip>
          <a:srcRect b="0" l="0" r="0" t="0"/>
          <a:stretch/>
        </p:blipFill>
        <p:spPr>
          <a:xfrm>
            <a:off x="1564367" y="5220887"/>
            <a:ext cx="561975" cy="693738"/>
          </a:xfrm>
          <a:prstGeom prst="rect">
            <a:avLst/>
          </a:prstGeom>
          <a:noFill/>
          <a:ln>
            <a:noFill/>
          </a:ln>
        </p:spPr>
      </p:pic>
      <p:pic>
        <p:nvPicPr>
          <p:cNvPr descr="Bob" id="5528" name="Google Shape;5528;p65"/>
          <p:cNvPicPr preferRelativeResize="0"/>
          <p:nvPr/>
        </p:nvPicPr>
        <p:blipFill rotWithShape="1">
          <a:blip r:embed="rId5">
            <a:alphaModFix/>
          </a:blip>
          <a:srcRect b="0" l="0" r="0" t="0"/>
          <a:stretch/>
        </p:blipFill>
        <p:spPr>
          <a:xfrm>
            <a:off x="8954180" y="5125637"/>
            <a:ext cx="676275" cy="690563"/>
          </a:xfrm>
          <a:prstGeom prst="rect">
            <a:avLst/>
          </a:prstGeom>
          <a:noFill/>
          <a:ln>
            <a:noFill/>
          </a:ln>
        </p:spPr>
      </p:pic>
      <p:grpSp>
        <p:nvGrpSpPr>
          <p:cNvPr id="5529" name="Google Shape;5529;p65"/>
          <p:cNvGrpSpPr/>
          <p:nvPr/>
        </p:nvGrpSpPr>
        <p:grpSpPr>
          <a:xfrm>
            <a:off x="6160180" y="5001812"/>
            <a:ext cx="809625" cy="1049338"/>
            <a:chOff x="4296" y="2627"/>
            <a:chExt cx="510" cy="661"/>
          </a:xfrm>
        </p:grpSpPr>
        <p:sp>
          <p:nvSpPr>
            <p:cNvPr id="5530" name="Google Shape;5530;p65"/>
            <p:cNvSpPr/>
            <p:nvPr/>
          </p:nvSpPr>
          <p:spPr>
            <a:xfrm>
              <a:off x="4296" y="2652"/>
              <a:ext cx="510" cy="636"/>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531" name="Google Shape;5531;p65"/>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mail</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server</a:t>
              </a:r>
              <a:endParaRPr b="0" i="0" sz="2400" u="none" cap="none" strike="noStrike">
                <a:solidFill>
                  <a:srgbClr val="000000"/>
                </a:solidFill>
                <a:latin typeface="Arial"/>
                <a:ea typeface="Arial"/>
                <a:cs typeface="Arial"/>
                <a:sym typeface="Arial"/>
              </a:endParaRPr>
            </a:p>
          </p:txBody>
        </p:sp>
        <p:sp>
          <p:nvSpPr>
            <p:cNvPr id="5532" name="Google Shape;5532;p65"/>
            <p:cNvSpPr/>
            <p:nvPr/>
          </p:nvSpPr>
          <p:spPr>
            <a:xfrm>
              <a:off x="4320" y="3006"/>
              <a:ext cx="450" cy="120"/>
            </a:xfrm>
            <a:prstGeom prst="rect">
              <a:avLst/>
            </a:prstGeom>
            <a:solidFill>
              <a:srgbClr val="00FF00"/>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cxnSp>
          <p:nvCxnSpPr>
            <p:cNvPr id="5533" name="Google Shape;5533;p65"/>
            <p:cNvCxnSpPr/>
            <p:nvPr/>
          </p:nvCxnSpPr>
          <p:spPr>
            <a:xfrm>
              <a:off x="4369" y="3034"/>
              <a:ext cx="0" cy="72"/>
            </a:xfrm>
            <a:prstGeom prst="straightConnector1">
              <a:avLst/>
            </a:prstGeom>
            <a:noFill/>
            <a:ln cap="flat" cmpd="sng" w="19050">
              <a:solidFill>
                <a:srgbClr val="000000"/>
              </a:solidFill>
              <a:prstDash val="solid"/>
              <a:round/>
              <a:headEnd len="med" w="med" type="none"/>
              <a:tailEnd len="med" w="med" type="none"/>
            </a:ln>
          </p:spPr>
        </p:cxnSp>
        <p:cxnSp>
          <p:nvCxnSpPr>
            <p:cNvPr id="5534" name="Google Shape;5534;p65"/>
            <p:cNvCxnSpPr/>
            <p:nvPr/>
          </p:nvCxnSpPr>
          <p:spPr>
            <a:xfrm>
              <a:off x="4478"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535" name="Google Shape;5535;p65"/>
            <p:cNvCxnSpPr/>
            <p:nvPr/>
          </p:nvCxnSpPr>
          <p:spPr>
            <a:xfrm>
              <a:off x="4533" y="3035"/>
              <a:ext cx="0" cy="72"/>
            </a:xfrm>
            <a:prstGeom prst="straightConnector1">
              <a:avLst/>
            </a:prstGeom>
            <a:noFill/>
            <a:ln cap="flat" cmpd="sng" w="19050">
              <a:solidFill>
                <a:srgbClr val="000000"/>
              </a:solidFill>
              <a:prstDash val="solid"/>
              <a:round/>
              <a:headEnd len="med" w="med" type="none"/>
              <a:tailEnd len="med" w="med" type="none"/>
            </a:ln>
          </p:spPr>
        </p:cxnSp>
        <p:cxnSp>
          <p:nvCxnSpPr>
            <p:cNvPr id="5536" name="Google Shape;5536;p65"/>
            <p:cNvCxnSpPr/>
            <p:nvPr/>
          </p:nvCxnSpPr>
          <p:spPr>
            <a:xfrm>
              <a:off x="4590"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537" name="Google Shape;5537;p65"/>
            <p:cNvCxnSpPr/>
            <p:nvPr/>
          </p:nvCxnSpPr>
          <p:spPr>
            <a:xfrm>
              <a:off x="4651"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538" name="Google Shape;5538;p65"/>
            <p:cNvCxnSpPr/>
            <p:nvPr/>
          </p:nvCxnSpPr>
          <p:spPr>
            <a:xfrm>
              <a:off x="4707" y="3033"/>
              <a:ext cx="0" cy="72"/>
            </a:xfrm>
            <a:prstGeom prst="straightConnector1">
              <a:avLst/>
            </a:prstGeom>
            <a:noFill/>
            <a:ln cap="flat" cmpd="sng" w="19050">
              <a:solidFill>
                <a:srgbClr val="000000"/>
              </a:solidFill>
              <a:prstDash val="solid"/>
              <a:round/>
              <a:headEnd len="med" w="med" type="none"/>
              <a:tailEnd len="med" w="med" type="none"/>
            </a:ln>
          </p:spPr>
        </p:cxnSp>
        <p:cxnSp>
          <p:nvCxnSpPr>
            <p:cNvPr id="5539" name="Google Shape;5539;p65"/>
            <p:cNvCxnSpPr/>
            <p:nvPr/>
          </p:nvCxnSpPr>
          <p:spPr>
            <a:xfrm>
              <a:off x="4422" y="3034"/>
              <a:ext cx="0" cy="72"/>
            </a:xfrm>
            <a:prstGeom prst="straightConnector1">
              <a:avLst/>
            </a:prstGeom>
            <a:noFill/>
            <a:ln cap="flat" cmpd="sng" w="19050">
              <a:solidFill>
                <a:srgbClr val="000000"/>
              </a:solidFill>
              <a:prstDash val="solid"/>
              <a:round/>
              <a:headEnd len="med" w="med" type="none"/>
              <a:tailEnd len="med" w="med" type="none"/>
            </a:ln>
          </p:spPr>
        </p:cxnSp>
        <p:sp>
          <p:nvSpPr>
            <p:cNvPr id="5540" name="Google Shape;5540;p65"/>
            <p:cNvSpPr/>
            <p:nvPr/>
          </p:nvSpPr>
          <p:spPr>
            <a:xfrm>
              <a:off x="4328"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541" name="Google Shape;5541;p65"/>
            <p:cNvSpPr/>
            <p:nvPr/>
          </p:nvSpPr>
          <p:spPr>
            <a:xfrm>
              <a:off x="4414" y="317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542" name="Google Shape;5542;p65"/>
            <p:cNvSpPr/>
            <p:nvPr/>
          </p:nvSpPr>
          <p:spPr>
            <a:xfrm>
              <a:off x="4500" y="3172"/>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543" name="Google Shape;5543;p65"/>
            <p:cNvSpPr/>
            <p:nvPr/>
          </p:nvSpPr>
          <p:spPr>
            <a:xfrm>
              <a:off x="4597"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544" name="Google Shape;5544;p65"/>
            <p:cNvSpPr/>
            <p:nvPr/>
          </p:nvSpPr>
          <p:spPr>
            <a:xfrm>
              <a:off x="4693" y="317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cxnSp>
        <p:nvCxnSpPr>
          <p:cNvPr id="5545" name="Google Shape;5545;p65"/>
          <p:cNvCxnSpPr/>
          <p:nvPr/>
        </p:nvCxnSpPr>
        <p:spPr>
          <a:xfrm>
            <a:off x="3089955" y="5593950"/>
            <a:ext cx="892175" cy="146050"/>
          </a:xfrm>
          <a:prstGeom prst="straightConnector1">
            <a:avLst/>
          </a:prstGeom>
          <a:noFill/>
          <a:ln cap="flat" cmpd="sng" w="12700">
            <a:solidFill>
              <a:srgbClr val="3333CC"/>
            </a:solidFill>
            <a:prstDash val="solid"/>
            <a:round/>
            <a:headEnd len="med" w="med" type="none"/>
            <a:tailEnd len="med" w="med" type="triangle"/>
          </a:ln>
        </p:spPr>
      </p:cxnSp>
      <p:cxnSp>
        <p:nvCxnSpPr>
          <p:cNvPr id="5546" name="Google Shape;5546;p65"/>
          <p:cNvCxnSpPr/>
          <p:nvPr/>
        </p:nvCxnSpPr>
        <p:spPr>
          <a:xfrm>
            <a:off x="4775880" y="5728887"/>
            <a:ext cx="1379537" cy="219075"/>
          </a:xfrm>
          <a:prstGeom prst="straightConnector1">
            <a:avLst/>
          </a:prstGeom>
          <a:noFill/>
          <a:ln cap="flat" cmpd="sng" w="12700">
            <a:solidFill>
              <a:srgbClr val="3333CC"/>
            </a:solidFill>
            <a:prstDash val="solid"/>
            <a:round/>
            <a:headEnd len="med" w="med" type="none"/>
            <a:tailEnd len="med" w="med" type="triangle"/>
          </a:ln>
        </p:spPr>
      </p:cxnSp>
      <p:cxnSp>
        <p:nvCxnSpPr>
          <p:cNvPr id="5547" name="Google Shape;5547;p65"/>
          <p:cNvCxnSpPr/>
          <p:nvPr/>
        </p:nvCxnSpPr>
        <p:spPr>
          <a:xfrm flipH="1" rot="10800000">
            <a:off x="7006317" y="5508225"/>
            <a:ext cx="1027113" cy="427037"/>
          </a:xfrm>
          <a:prstGeom prst="straightConnector1">
            <a:avLst/>
          </a:prstGeom>
          <a:noFill/>
          <a:ln cap="flat" cmpd="sng" w="12700">
            <a:solidFill>
              <a:srgbClr val="3333CC"/>
            </a:solidFill>
            <a:prstDash val="solid"/>
            <a:round/>
            <a:headEnd len="med" w="med" type="none"/>
            <a:tailEnd len="med" w="med" type="triangle"/>
          </a:ln>
        </p:spPr>
      </p:cxnSp>
      <p:sp>
        <p:nvSpPr>
          <p:cNvPr id="5548" name="Google Shape;5548;p65"/>
          <p:cNvSpPr/>
          <p:nvPr/>
        </p:nvSpPr>
        <p:spPr>
          <a:xfrm>
            <a:off x="2220005" y="5043087"/>
            <a:ext cx="292100" cy="244475"/>
          </a:xfrm>
          <a:prstGeom prst="ellipse">
            <a:avLst/>
          </a:prstGeom>
          <a:solidFill>
            <a:srgbClr val="FFFFFF"/>
          </a:solidFill>
          <a:ln cap="flat" cmpd="sng" w="12700">
            <a:solidFill>
              <a:srgbClr val="33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a:ea typeface="Arial"/>
                <a:cs typeface="Arial"/>
                <a:sym typeface="Arial"/>
              </a:rPr>
              <a:t>1</a:t>
            </a:r>
            <a:endParaRPr b="0" i="0" sz="2400" u="none" cap="none" strike="noStrike">
              <a:solidFill>
                <a:srgbClr val="000000"/>
              </a:solidFill>
              <a:latin typeface="Arial"/>
              <a:ea typeface="Arial"/>
              <a:cs typeface="Arial"/>
              <a:sym typeface="Arial"/>
            </a:endParaRPr>
          </a:p>
        </p:txBody>
      </p:sp>
      <p:sp>
        <p:nvSpPr>
          <p:cNvPr id="5549" name="Google Shape;5549;p65"/>
          <p:cNvSpPr/>
          <p:nvPr/>
        </p:nvSpPr>
        <p:spPr>
          <a:xfrm>
            <a:off x="3329667" y="5538387"/>
            <a:ext cx="292100" cy="244475"/>
          </a:xfrm>
          <a:prstGeom prst="ellipse">
            <a:avLst/>
          </a:prstGeom>
          <a:solidFill>
            <a:srgbClr val="FFFFFF"/>
          </a:solidFill>
          <a:ln cap="flat" cmpd="sng" w="12700">
            <a:solidFill>
              <a:srgbClr val="33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a:ea typeface="Arial"/>
                <a:cs typeface="Arial"/>
                <a:sym typeface="Arial"/>
              </a:rPr>
              <a:t>2</a:t>
            </a:r>
            <a:endParaRPr b="0" i="0" sz="2400" u="none" cap="none" strike="noStrike">
              <a:solidFill>
                <a:srgbClr val="000000"/>
              </a:solidFill>
              <a:latin typeface="Arial"/>
              <a:ea typeface="Arial"/>
              <a:cs typeface="Arial"/>
              <a:sym typeface="Arial"/>
            </a:endParaRPr>
          </a:p>
        </p:txBody>
      </p:sp>
      <p:sp>
        <p:nvSpPr>
          <p:cNvPr id="5550" name="Google Shape;5550;p65"/>
          <p:cNvSpPr/>
          <p:nvPr/>
        </p:nvSpPr>
        <p:spPr>
          <a:xfrm>
            <a:off x="4201205" y="5617762"/>
            <a:ext cx="292100" cy="244475"/>
          </a:xfrm>
          <a:prstGeom prst="ellipse">
            <a:avLst/>
          </a:prstGeom>
          <a:solidFill>
            <a:srgbClr val="FFFFFF"/>
          </a:solidFill>
          <a:ln cap="flat" cmpd="sng" w="12700">
            <a:solidFill>
              <a:srgbClr val="33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a:ea typeface="Arial"/>
                <a:cs typeface="Arial"/>
                <a:sym typeface="Arial"/>
              </a:rPr>
              <a:t>3</a:t>
            </a:r>
            <a:endParaRPr b="0" i="0" sz="2400" u="none" cap="none" strike="noStrike">
              <a:solidFill>
                <a:srgbClr val="000000"/>
              </a:solidFill>
              <a:latin typeface="Arial"/>
              <a:ea typeface="Arial"/>
              <a:cs typeface="Arial"/>
              <a:sym typeface="Arial"/>
            </a:endParaRPr>
          </a:p>
        </p:txBody>
      </p:sp>
      <p:sp>
        <p:nvSpPr>
          <p:cNvPr id="5551" name="Google Shape;5551;p65"/>
          <p:cNvSpPr/>
          <p:nvPr/>
        </p:nvSpPr>
        <p:spPr>
          <a:xfrm>
            <a:off x="5312455" y="5703487"/>
            <a:ext cx="292100" cy="244475"/>
          </a:xfrm>
          <a:prstGeom prst="ellipse">
            <a:avLst/>
          </a:prstGeom>
          <a:solidFill>
            <a:srgbClr val="FFFFFF"/>
          </a:solidFill>
          <a:ln cap="flat" cmpd="sng" w="12700">
            <a:solidFill>
              <a:srgbClr val="33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a:ea typeface="Arial"/>
                <a:cs typeface="Arial"/>
                <a:sym typeface="Arial"/>
              </a:rPr>
              <a:t>4</a:t>
            </a:r>
            <a:endParaRPr b="0" i="0" sz="2400" u="none" cap="none" strike="noStrike">
              <a:solidFill>
                <a:srgbClr val="000000"/>
              </a:solidFill>
              <a:latin typeface="Arial"/>
              <a:ea typeface="Arial"/>
              <a:cs typeface="Arial"/>
              <a:sym typeface="Arial"/>
            </a:endParaRPr>
          </a:p>
        </p:txBody>
      </p:sp>
      <p:sp>
        <p:nvSpPr>
          <p:cNvPr id="5552" name="Google Shape;5552;p65"/>
          <p:cNvSpPr/>
          <p:nvPr/>
        </p:nvSpPr>
        <p:spPr>
          <a:xfrm>
            <a:off x="6417355" y="6035275"/>
            <a:ext cx="292100" cy="244475"/>
          </a:xfrm>
          <a:prstGeom prst="ellipse">
            <a:avLst/>
          </a:prstGeom>
          <a:solidFill>
            <a:srgbClr val="FFFFFF"/>
          </a:solidFill>
          <a:ln cap="flat" cmpd="sng" w="12700">
            <a:solidFill>
              <a:srgbClr val="33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a:ea typeface="Arial"/>
                <a:cs typeface="Arial"/>
                <a:sym typeface="Arial"/>
              </a:rPr>
              <a:t>5</a:t>
            </a:r>
            <a:endParaRPr b="0" i="0" sz="2400" u="none" cap="none" strike="noStrike">
              <a:solidFill>
                <a:srgbClr val="000000"/>
              </a:solidFill>
              <a:latin typeface="Arial"/>
              <a:ea typeface="Arial"/>
              <a:cs typeface="Arial"/>
              <a:sym typeface="Arial"/>
            </a:endParaRPr>
          </a:p>
        </p:txBody>
      </p:sp>
      <p:sp>
        <p:nvSpPr>
          <p:cNvPr id="5553" name="Google Shape;5553;p65"/>
          <p:cNvSpPr/>
          <p:nvPr/>
        </p:nvSpPr>
        <p:spPr>
          <a:xfrm>
            <a:off x="7339692" y="5605062"/>
            <a:ext cx="292100" cy="244475"/>
          </a:xfrm>
          <a:prstGeom prst="ellipse">
            <a:avLst/>
          </a:prstGeom>
          <a:solidFill>
            <a:srgbClr val="FFFFFF"/>
          </a:solidFill>
          <a:ln cap="flat" cmpd="sng" w="12700">
            <a:solidFill>
              <a:srgbClr val="33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a:ea typeface="Arial"/>
                <a:cs typeface="Arial"/>
                <a:sym typeface="Arial"/>
              </a:rPr>
              <a:t>6</a:t>
            </a:r>
            <a:endParaRPr b="0" i="0" sz="2400" u="none" cap="none" strike="noStrike">
              <a:solidFill>
                <a:srgbClr val="000000"/>
              </a:solidFill>
              <a:latin typeface="Arial"/>
              <a:ea typeface="Arial"/>
              <a:cs typeface="Arial"/>
              <a:sym typeface="Arial"/>
            </a:endParaRPr>
          </a:p>
        </p:txBody>
      </p:sp>
      <p:sp>
        <p:nvSpPr>
          <p:cNvPr id="5554" name="Google Shape;5554;p65"/>
          <p:cNvSpPr txBox="1"/>
          <p:nvPr/>
        </p:nvSpPr>
        <p:spPr>
          <a:xfrm>
            <a:off x="3485242" y="6168625"/>
            <a:ext cx="1819275" cy="33655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a:ea typeface="Arial"/>
                <a:cs typeface="Arial"/>
                <a:sym typeface="Arial"/>
              </a:rPr>
              <a:t>Alice’s mail server</a:t>
            </a:r>
            <a:endParaRPr b="0" i="0" sz="1600" u="none" cap="none" strike="noStrike">
              <a:solidFill>
                <a:srgbClr val="000000"/>
              </a:solidFill>
              <a:latin typeface="Arial"/>
              <a:ea typeface="Arial"/>
              <a:cs typeface="Arial"/>
              <a:sym typeface="Arial"/>
            </a:endParaRPr>
          </a:p>
        </p:txBody>
      </p:sp>
      <p:sp>
        <p:nvSpPr>
          <p:cNvPr id="5555" name="Google Shape;5555;p65"/>
          <p:cNvSpPr txBox="1"/>
          <p:nvPr/>
        </p:nvSpPr>
        <p:spPr>
          <a:xfrm>
            <a:off x="5760130" y="6232125"/>
            <a:ext cx="1741487" cy="33655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a:ea typeface="Arial"/>
                <a:cs typeface="Arial"/>
                <a:sym typeface="Arial"/>
              </a:rPr>
              <a:t>Bob’s mail server</a:t>
            </a:r>
            <a:endParaRPr b="0" i="0" sz="1600" u="none" cap="none" strike="noStrike">
              <a:solidFill>
                <a:srgbClr val="000000"/>
              </a:solidFill>
              <a:latin typeface="Arial"/>
              <a:ea typeface="Arial"/>
              <a:cs typeface="Arial"/>
              <a:sym typeface="Arial"/>
            </a:endParaRPr>
          </a:p>
        </p:txBody>
      </p:sp>
      <p:grpSp>
        <p:nvGrpSpPr>
          <p:cNvPr id="5556" name="Google Shape;5556;p65"/>
          <p:cNvGrpSpPr/>
          <p:nvPr/>
        </p:nvGrpSpPr>
        <p:grpSpPr>
          <a:xfrm>
            <a:off x="7833405" y="4908150"/>
            <a:ext cx="912812" cy="1054100"/>
            <a:chOff x="3574" y="550"/>
            <a:chExt cx="575" cy="664"/>
          </a:xfrm>
        </p:grpSpPr>
        <p:grpSp>
          <p:nvGrpSpPr>
            <p:cNvPr id="5557" name="Google Shape;5557;p65"/>
            <p:cNvGrpSpPr/>
            <p:nvPr/>
          </p:nvGrpSpPr>
          <p:grpSpPr>
            <a:xfrm>
              <a:off x="3588" y="692"/>
              <a:ext cx="561" cy="522"/>
              <a:chOff x="-44" y="1473"/>
              <a:chExt cx="981" cy="1105"/>
            </a:xfrm>
          </p:grpSpPr>
          <p:pic>
            <p:nvPicPr>
              <p:cNvPr descr="desktop_computer_stylized_medium" id="5558" name="Google Shape;5558;p6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559" name="Google Shape;5559;p6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560" name="Google Shape;5560;p65"/>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561" name="Google Shape;5561;p65"/>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user</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agent</a:t>
              </a:r>
              <a:endParaRPr b="0" i="0" sz="2400" u="none" cap="none" strike="noStrike">
                <a:solidFill>
                  <a:srgbClr val="000000"/>
                </a:solidFill>
                <a:latin typeface="Arial"/>
                <a:ea typeface="Arial"/>
                <a:cs typeface="Arial"/>
                <a:sym typeface="Arial"/>
              </a:endParaRPr>
            </a:p>
          </p:txBody>
        </p:sp>
      </p:grpSp>
      <p:sp>
        <p:nvSpPr>
          <p:cNvPr id="5562" name="Google Shape;5562;p65"/>
          <p:cNvSpPr txBox="1"/>
          <p:nvPr/>
        </p:nvSpPr>
        <p:spPr>
          <a:xfrm>
            <a:off x="728885" y="2279968"/>
            <a:ext cx="5071156" cy="1103364"/>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400"/>
              <a:buFont typeface="Noto Sans Symbols"/>
              <a:buNone/>
            </a:pPr>
            <a:r>
              <a:rPr lang="en-US" sz="2400">
                <a:solidFill>
                  <a:schemeClr val="dk1"/>
                </a:solidFill>
                <a:latin typeface="Calibri"/>
                <a:ea typeface="Calibri"/>
                <a:cs typeface="Calibri"/>
                <a:sym typeface="Calibri"/>
              </a:rPr>
              <a:t>2) Alice’s UA sends message to her mail server; message placed in message queue</a:t>
            </a:r>
            <a:endParaRPr/>
          </a:p>
        </p:txBody>
      </p:sp>
      <p:sp>
        <p:nvSpPr>
          <p:cNvPr id="5563" name="Google Shape;5563;p65"/>
          <p:cNvSpPr txBox="1"/>
          <p:nvPr/>
        </p:nvSpPr>
        <p:spPr>
          <a:xfrm>
            <a:off x="739565" y="3432318"/>
            <a:ext cx="5448733" cy="1089177"/>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400"/>
              <a:buFont typeface="Noto Sans Symbols"/>
              <a:buNone/>
            </a:pPr>
            <a:r>
              <a:rPr lang="en-US" sz="2400">
                <a:solidFill>
                  <a:schemeClr val="dk1"/>
                </a:solidFill>
                <a:latin typeface="Calibri"/>
                <a:ea typeface="Calibri"/>
                <a:cs typeface="Calibri"/>
                <a:sym typeface="Calibri"/>
              </a:rPr>
              <a:t>3) client side of SMTP opens TCP connection with Bob’s mail server</a:t>
            </a:r>
            <a:endParaRPr sz="2400">
              <a:solidFill>
                <a:schemeClr val="dk1"/>
              </a:solidFill>
              <a:latin typeface="Calibri"/>
              <a:ea typeface="Calibri"/>
              <a:cs typeface="Calibri"/>
              <a:sym typeface="Calibri"/>
            </a:endParaRPr>
          </a:p>
        </p:txBody>
      </p:sp>
      <p:sp>
        <p:nvSpPr>
          <p:cNvPr id="5564" name="Google Shape;5564;p65"/>
          <p:cNvSpPr txBox="1"/>
          <p:nvPr/>
        </p:nvSpPr>
        <p:spPr>
          <a:xfrm>
            <a:off x="6633422" y="2275557"/>
            <a:ext cx="3810000" cy="828675"/>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400"/>
              <a:buFont typeface="Noto Sans Symbols"/>
              <a:buNone/>
            </a:pPr>
            <a:r>
              <a:rPr lang="en-US" sz="2400">
                <a:solidFill>
                  <a:schemeClr val="dk1"/>
                </a:solidFill>
                <a:latin typeface="Calibri"/>
                <a:ea typeface="Calibri"/>
                <a:cs typeface="Calibri"/>
                <a:sym typeface="Calibri"/>
              </a:rPr>
              <a:t>5) Bob’s mail server places the message in Bob’s mailbox</a:t>
            </a:r>
            <a:endParaRPr/>
          </a:p>
          <a:p>
            <a:pPr indent="-222250" lvl="0" marL="352425" marR="0" rtl="0" algn="l">
              <a:lnSpc>
                <a:spcPct val="90000"/>
              </a:lnSpc>
              <a:spcBef>
                <a:spcPts val="1000"/>
              </a:spcBef>
              <a:spcAft>
                <a:spcPts val="0"/>
              </a:spcAft>
              <a:buClr>
                <a:srgbClr val="0000A3"/>
              </a:buClr>
              <a:buSzPts val="2400"/>
              <a:buFont typeface="Noto Sans Symbols"/>
              <a:buNone/>
            </a:pPr>
            <a:r>
              <a:t/>
            </a:r>
            <a:endParaRPr sz="2400">
              <a:solidFill>
                <a:schemeClr val="dk1"/>
              </a:solidFill>
              <a:latin typeface="Gill Sans"/>
              <a:ea typeface="Gill Sans"/>
              <a:cs typeface="Gill Sans"/>
              <a:sym typeface="Gill Sans"/>
            </a:endParaRPr>
          </a:p>
        </p:txBody>
      </p:sp>
      <p:sp>
        <p:nvSpPr>
          <p:cNvPr id="5565" name="Google Shape;5565;p65"/>
          <p:cNvSpPr txBox="1"/>
          <p:nvPr/>
        </p:nvSpPr>
        <p:spPr>
          <a:xfrm>
            <a:off x="6630762" y="3460095"/>
            <a:ext cx="3810000" cy="828675"/>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400"/>
              <a:buFont typeface="Noto Sans Symbols"/>
              <a:buNone/>
            </a:pPr>
            <a:r>
              <a:rPr lang="en-US" sz="2400">
                <a:solidFill>
                  <a:schemeClr val="dk1"/>
                </a:solidFill>
                <a:latin typeface="Calibri"/>
                <a:ea typeface="Calibri"/>
                <a:cs typeface="Calibri"/>
                <a:sym typeface="Calibri"/>
              </a:rPr>
              <a:t>6) Bob invokes his user agent to read message</a:t>
            </a:r>
            <a:endParaRPr/>
          </a:p>
          <a:p>
            <a:pPr indent="-222250" lvl="0" marL="352425" marR="0" rtl="0" algn="l">
              <a:lnSpc>
                <a:spcPct val="90000"/>
              </a:lnSpc>
              <a:spcBef>
                <a:spcPts val="1000"/>
              </a:spcBef>
              <a:spcAft>
                <a:spcPts val="0"/>
              </a:spcAft>
              <a:buClr>
                <a:srgbClr val="0000A3"/>
              </a:buClr>
              <a:buSzPts val="2200"/>
              <a:buFont typeface="Noto Sans Symbols"/>
              <a:buNone/>
            </a:pPr>
            <a:r>
              <a:t/>
            </a:r>
            <a:endParaRPr sz="2200">
              <a:solidFill>
                <a:schemeClr val="dk1"/>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2"/>
                                        </p:tgtEl>
                                        <p:attrNameLst>
                                          <p:attrName>style.visibility</p:attrName>
                                        </p:attrNameLst>
                                      </p:cBhvr>
                                      <p:to>
                                        <p:strVal val="visible"/>
                                      </p:to>
                                    </p:set>
                                    <p:animEffect filter="fade" transition="in">
                                      <p:cBhvr>
                                        <p:cTn dur="500"/>
                                        <p:tgtEl>
                                          <p:spTgt spid="5562"/>
                                        </p:tgtEl>
                                      </p:cBhvr>
                                    </p:animEffect>
                                  </p:childTnLst>
                                </p:cTn>
                              </p:par>
                              <p:par>
                                <p:cTn fill="hold" nodeType="withEffect" presetClass="entr" presetID="10" presetSubtype="0">
                                  <p:stCondLst>
                                    <p:cond delay="0"/>
                                  </p:stCondLst>
                                  <p:childTnLst>
                                    <p:set>
                                      <p:cBhvr>
                                        <p:cTn dur="1" fill="hold">
                                          <p:stCondLst>
                                            <p:cond delay="0"/>
                                          </p:stCondLst>
                                        </p:cTn>
                                        <p:tgtEl>
                                          <p:spTgt spid="5545"/>
                                        </p:tgtEl>
                                        <p:attrNameLst>
                                          <p:attrName>style.visibility</p:attrName>
                                        </p:attrNameLst>
                                      </p:cBhvr>
                                      <p:to>
                                        <p:strVal val="visible"/>
                                      </p:to>
                                    </p:set>
                                    <p:animEffect filter="fade" transition="in">
                                      <p:cBhvr>
                                        <p:cTn dur="500"/>
                                        <p:tgtEl>
                                          <p:spTgt spid="5545"/>
                                        </p:tgtEl>
                                      </p:cBhvr>
                                    </p:animEffect>
                                  </p:childTnLst>
                                </p:cTn>
                              </p:par>
                              <p:par>
                                <p:cTn fill="hold" nodeType="withEffect" presetClass="entr" presetID="10" presetSubtype="0">
                                  <p:stCondLst>
                                    <p:cond delay="0"/>
                                  </p:stCondLst>
                                  <p:childTnLst>
                                    <p:set>
                                      <p:cBhvr>
                                        <p:cTn dur="1" fill="hold">
                                          <p:stCondLst>
                                            <p:cond delay="0"/>
                                          </p:stCondLst>
                                        </p:cTn>
                                        <p:tgtEl>
                                          <p:spTgt spid="5549"/>
                                        </p:tgtEl>
                                        <p:attrNameLst>
                                          <p:attrName>style.visibility</p:attrName>
                                        </p:attrNameLst>
                                      </p:cBhvr>
                                      <p:to>
                                        <p:strVal val="visible"/>
                                      </p:to>
                                    </p:set>
                                    <p:animEffect filter="fade" transition="in">
                                      <p:cBhvr>
                                        <p:cTn dur="500"/>
                                        <p:tgtEl>
                                          <p:spTgt spid="55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0"/>
                                        </p:tgtEl>
                                        <p:attrNameLst>
                                          <p:attrName>style.visibility</p:attrName>
                                        </p:attrNameLst>
                                      </p:cBhvr>
                                      <p:to>
                                        <p:strVal val="visible"/>
                                      </p:to>
                                    </p:set>
                                    <p:animEffect filter="fade" transition="in">
                                      <p:cBhvr>
                                        <p:cTn dur="500"/>
                                        <p:tgtEl>
                                          <p:spTgt spid="5550"/>
                                        </p:tgtEl>
                                      </p:cBhvr>
                                    </p:animEffect>
                                  </p:childTnLst>
                                </p:cTn>
                              </p:par>
                              <p:par>
                                <p:cTn fill="hold" nodeType="withEffect" presetClass="entr" presetID="10" presetSubtype="0">
                                  <p:stCondLst>
                                    <p:cond delay="0"/>
                                  </p:stCondLst>
                                  <p:childTnLst>
                                    <p:set>
                                      <p:cBhvr>
                                        <p:cTn dur="1" fill="hold">
                                          <p:stCondLst>
                                            <p:cond delay="0"/>
                                          </p:stCondLst>
                                        </p:cTn>
                                        <p:tgtEl>
                                          <p:spTgt spid="5563"/>
                                        </p:tgtEl>
                                        <p:attrNameLst>
                                          <p:attrName>style.visibility</p:attrName>
                                        </p:attrNameLst>
                                      </p:cBhvr>
                                      <p:to>
                                        <p:strVal val="visible"/>
                                      </p:to>
                                    </p:set>
                                    <p:animEffect filter="fade" transition="in">
                                      <p:cBhvr>
                                        <p:cTn dur="500"/>
                                        <p:tgtEl>
                                          <p:spTgt spid="55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8"/>
                                        </p:tgtEl>
                                        <p:attrNameLst>
                                          <p:attrName>style.visibility</p:attrName>
                                        </p:attrNameLst>
                                      </p:cBhvr>
                                      <p:to>
                                        <p:strVal val="visible"/>
                                      </p:to>
                                    </p:set>
                                    <p:animEffect filter="fade" transition="in">
                                      <p:cBhvr>
                                        <p:cTn dur="500"/>
                                        <p:tgtEl>
                                          <p:spTgt spid="5438"/>
                                        </p:tgtEl>
                                      </p:cBhvr>
                                    </p:animEffect>
                                  </p:childTnLst>
                                </p:cTn>
                              </p:par>
                              <p:par>
                                <p:cTn fill="hold" nodeType="withEffect" presetClass="entr" presetID="10" presetSubtype="0">
                                  <p:stCondLst>
                                    <p:cond delay="0"/>
                                  </p:stCondLst>
                                  <p:childTnLst>
                                    <p:set>
                                      <p:cBhvr>
                                        <p:cTn dur="1" fill="hold">
                                          <p:stCondLst>
                                            <p:cond delay="0"/>
                                          </p:stCondLst>
                                        </p:cTn>
                                        <p:tgtEl>
                                          <p:spTgt spid="5546"/>
                                        </p:tgtEl>
                                        <p:attrNameLst>
                                          <p:attrName>style.visibility</p:attrName>
                                        </p:attrNameLst>
                                      </p:cBhvr>
                                      <p:to>
                                        <p:strVal val="visible"/>
                                      </p:to>
                                    </p:set>
                                    <p:animEffect filter="fade" transition="in">
                                      <p:cBhvr>
                                        <p:cTn dur="500"/>
                                        <p:tgtEl>
                                          <p:spTgt spid="5546"/>
                                        </p:tgtEl>
                                      </p:cBhvr>
                                    </p:animEffect>
                                  </p:childTnLst>
                                </p:cTn>
                              </p:par>
                              <p:par>
                                <p:cTn fill="hold" nodeType="withEffect" presetClass="entr" presetID="10" presetSubtype="0">
                                  <p:stCondLst>
                                    <p:cond delay="0"/>
                                  </p:stCondLst>
                                  <p:childTnLst>
                                    <p:set>
                                      <p:cBhvr>
                                        <p:cTn dur="1" fill="hold">
                                          <p:stCondLst>
                                            <p:cond delay="0"/>
                                          </p:stCondLst>
                                        </p:cTn>
                                        <p:tgtEl>
                                          <p:spTgt spid="5551"/>
                                        </p:tgtEl>
                                        <p:attrNameLst>
                                          <p:attrName>style.visibility</p:attrName>
                                        </p:attrNameLst>
                                      </p:cBhvr>
                                      <p:to>
                                        <p:strVal val="visible"/>
                                      </p:to>
                                    </p:set>
                                    <p:animEffect filter="fade" transition="in">
                                      <p:cBhvr>
                                        <p:cTn dur="500"/>
                                        <p:tgtEl>
                                          <p:spTgt spid="55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2"/>
                                        </p:tgtEl>
                                        <p:attrNameLst>
                                          <p:attrName>style.visibility</p:attrName>
                                        </p:attrNameLst>
                                      </p:cBhvr>
                                      <p:to>
                                        <p:strVal val="visible"/>
                                      </p:to>
                                    </p:set>
                                    <p:animEffect filter="fade" transition="in">
                                      <p:cBhvr>
                                        <p:cTn dur="500"/>
                                        <p:tgtEl>
                                          <p:spTgt spid="5552"/>
                                        </p:tgtEl>
                                      </p:cBhvr>
                                    </p:animEffect>
                                  </p:childTnLst>
                                </p:cTn>
                              </p:par>
                              <p:par>
                                <p:cTn fill="hold" nodeType="withEffect" presetClass="entr" presetID="10" presetSubtype="0">
                                  <p:stCondLst>
                                    <p:cond delay="0"/>
                                  </p:stCondLst>
                                  <p:childTnLst>
                                    <p:set>
                                      <p:cBhvr>
                                        <p:cTn dur="1" fill="hold">
                                          <p:stCondLst>
                                            <p:cond delay="0"/>
                                          </p:stCondLst>
                                        </p:cTn>
                                        <p:tgtEl>
                                          <p:spTgt spid="5564"/>
                                        </p:tgtEl>
                                        <p:attrNameLst>
                                          <p:attrName>style.visibility</p:attrName>
                                        </p:attrNameLst>
                                      </p:cBhvr>
                                      <p:to>
                                        <p:strVal val="visible"/>
                                      </p:to>
                                    </p:set>
                                    <p:animEffect filter="fade" transition="in">
                                      <p:cBhvr>
                                        <p:cTn dur="500"/>
                                        <p:tgtEl>
                                          <p:spTgt spid="55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5"/>
                                        </p:tgtEl>
                                        <p:attrNameLst>
                                          <p:attrName>style.visibility</p:attrName>
                                        </p:attrNameLst>
                                      </p:cBhvr>
                                      <p:to>
                                        <p:strVal val="visible"/>
                                      </p:to>
                                    </p:set>
                                    <p:animEffect filter="fade" transition="in">
                                      <p:cBhvr>
                                        <p:cTn dur="500"/>
                                        <p:tgtEl>
                                          <p:spTgt spid="5565"/>
                                        </p:tgtEl>
                                      </p:cBhvr>
                                    </p:animEffect>
                                  </p:childTnLst>
                                </p:cTn>
                              </p:par>
                              <p:par>
                                <p:cTn fill="hold" nodeType="withEffect" presetClass="entr" presetID="10" presetSubtype="0">
                                  <p:stCondLst>
                                    <p:cond delay="0"/>
                                  </p:stCondLst>
                                  <p:childTnLst>
                                    <p:set>
                                      <p:cBhvr>
                                        <p:cTn dur="1" fill="hold">
                                          <p:stCondLst>
                                            <p:cond delay="0"/>
                                          </p:stCondLst>
                                        </p:cTn>
                                        <p:tgtEl>
                                          <p:spTgt spid="5547"/>
                                        </p:tgtEl>
                                        <p:attrNameLst>
                                          <p:attrName>style.visibility</p:attrName>
                                        </p:attrNameLst>
                                      </p:cBhvr>
                                      <p:to>
                                        <p:strVal val="visible"/>
                                      </p:to>
                                    </p:set>
                                    <p:animEffect filter="fade" transition="in">
                                      <p:cBhvr>
                                        <p:cTn dur="500"/>
                                        <p:tgtEl>
                                          <p:spTgt spid="5547"/>
                                        </p:tgtEl>
                                      </p:cBhvr>
                                    </p:animEffect>
                                  </p:childTnLst>
                                </p:cTn>
                              </p:par>
                              <p:par>
                                <p:cTn fill="hold" nodeType="withEffect" presetClass="entr" presetID="10" presetSubtype="0">
                                  <p:stCondLst>
                                    <p:cond delay="0"/>
                                  </p:stCondLst>
                                  <p:childTnLst>
                                    <p:set>
                                      <p:cBhvr>
                                        <p:cTn dur="1" fill="hold">
                                          <p:stCondLst>
                                            <p:cond delay="0"/>
                                          </p:stCondLst>
                                        </p:cTn>
                                        <p:tgtEl>
                                          <p:spTgt spid="5553"/>
                                        </p:tgtEl>
                                        <p:attrNameLst>
                                          <p:attrName>style.visibility</p:attrName>
                                        </p:attrNameLst>
                                      </p:cBhvr>
                                      <p:to>
                                        <p:strVal val="visible"/>
                                      </p:to>
                                    </p:set>
                                    <p:animEffect filter="fade" transition="in">
                                      <p:cBhvr>
                                        <p:cTn dur="500"/>
                                        <p:tgtEl>
                                          <p:spTgt spid="55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0" name="Shape 5570"/>
        <p:cNvGrpSpPr/>
        <p:nvPr/>
      </p:nvGrpSpPr>
      <p:grpSpPr>
        <a:xfrm>
          <a:off x="0" y="0"/>
          <a:ext cx="0" cy="0"/>
          <a:chOff x="0" y="0"/>
          <a:chExt cx="0" cy="0"/>
        </a:xfrm>
      </p:grpSpPr>
      <p:sp>
        <p:nvSpPr>
          <p:cNvPr id="5571" name="Google Shape;5571;p6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Sample SMTP interaction</a:t>
            </a:r>
            <a:endParaRPr sz="4400"/>
          </a:p>
        </p:txBody>
      </p:sp>
      <p:sp>
        <p:nvSpPr>
          <p:cNvPr id="5572" name="Google Shape;5572;p6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5573" name="Google Shape;5573;p66"/>
          <p:cNvSpPr/>
          <p:nvPr/>
        </p:nvSpPr>
        <p:spPr>
          <a:xfrm>
            <a:off x="1160995" y="1183947"/>
            <a:ext cx="9870010" cy="517064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Courier New"/>
              <a:buNone/>
            </a:pPr>
            <a:r>
              <a:rPr b="1" lang="en-US" sz="2000">
                <a:solidFill>
                  <a:schemeClr val="dk1"/>
                </a:solidFill>
                <a:latin typeface="Courier New"/>
                <a:ea typeface="Courier New"/>
                <a:cs typeface="Courier New"/>
                <a:sym typeface="Courier New"/>
              </a:rPr>
              <a:t>     </a:t>
            </a:r>
            <a:r>
              <a:rPr b="1" lang="en-US" sz="2200">
                <a:solidFill>
                  <a:schemeClr val="dk1"/>
                </a:solidFill>
                <a:latin typeface="Courier New"/>
                <a:ea typeface="Courier New"/>
                <a:cs typeface="Courier New"/>
                <a:sym typeface="Courier New"/>
              </a:rPr>
              <a:t>S: 220 hamburger.edu </a:t>
            </a:r>
            <a:endParaRPr/>
          </a:p>
          <a:p>
            <a:pPr indent="0" lvl="0" marL="0" marR="0" rtl="0" algn="l">
              <a:spcBef>
                <a:spcPts val="0"/>
              </a:spcBef>
              <a:spcAft>
                <a:spcPts val="0"/>
              </a:spcAft>
              <a:buClr>
                <a:schemeClr val="dk1"/>
              </a:buClr>
              <a:buSzPts val="2200"/>
              <a:buFont typeface="Courier New"/>
              <a:buNone/>
            </a:pPr>
            <a:r>
              <a:rPr b="1" lang="en-US" sz="2200">
                <a:solidFill>
                  <a:schemeClr val="dk1"/>
                </a:solidFill>
                <a:latin typeface="Courier New"/>
                <a:ea typeface="Courier New"/>
                <a:cs typeface="Courier New"/>
                <a:sym typeface="Courier New"/>
              </a:rPr>
              <a:t>     C: HELO crepes.fr </a:t>
            </a:r>
            <a:endParaRPr/>
          </a:p>
          <a:p>
            <a:pPr indent="0" lvl="0" marL="0" marR="0" rtl="0" algn="l">
              <a:spcBef>
                <a:spcPts val="0"/>
              </a:spcBef>
              <a:spcAft>
                <a:spcPts val="0"/>
              </a:spcAft>
              <a:buClr>
                <a:schemeClr val="dk1"/>
              </a:buClr>
              <a:buSzPts val="2200"/>
              <a:buFont typeface="Courier New"/>
              <a:buNone/>
            </a:pPr>
            <a:r>
              <a:rPr b="1" lang="en-US" sz="2200">
                <a:solidFill>
                  <a:schemeClr val="dk1"/>
                </a:solidFill>
                <a:latin typeface="Courier New"/>
                <a:ea typeface="Courier New"/>
                <a:cs typeface="Courier New"/>
                <a:sym typeface="Courier New"/>
              </a:rPr>
              <a:t>     S: 250  Hello crepes.fr, pleased to meet you </a:t>
            </a:r>
            <a:endParaRPr/>
          </a:p>
          <a:p>
            <a:pPr indent="0" lvl="0" marL="0" marR="0" rtl="0" algn="l">
              <a:spcBef>
                <a:spcPts val="0"/>
              </a:spcBef>
              <a:spcAft>
                <a:spcPts val="0"/>
              </a:spcAft>
              <a:buClr>
                <a:schemeClr val="dk1"/>
              </a:buClr>
              <a:buSzPts val="2200"/>
              <a:buFont typeface="Courier New"/>
              <a:buNone/>
            </a:pPr>
            <a:r>
              <a:rPr b="1" lang="en-US" sz="2200">
                <a:solidFill>
                  <a:schemeClr val="dk1"/>
                </a:solidFill>
                <a:latin typeface="Courier New"/>
                <a:ea typeface="Courier New"/>
                <a:cs typeface="Courier New"/>
                <a:sym typeface="Courier New"/>
              </a:rPr>
              <a:t>     C: MAIL FROM: &lt;alice@crepes.fr&gt; </a:t>
            </a:r>
            <a:endParaRPr/>
          </a:p>
          <a:p>
            <a:pPr indent="0" lvl="0" marL="0" marR="0" rtl="0" algn="l">
              <a:spcBef>
                <a:spcPts val="0"/>
              </a:spcBef>
              <a:spcAft>
                <a:spcPts val="0"/>
              </a:spcAft>
              <a:buClr>
                <a:schemeClr val="dk1"/>
              </a:buClr>
              <a:buSzPts val="2200"/>
              <a:buFont typeface="Courier New"/>
              <a:buNone/>
            </a:pPr>
            <a:r>
              <a:rPr b="1" lang="en-US" sz="2200">
                <a:solidFill>
                  <a:schemeClr val="dk1"/>
                </a:solidFill>
                <a:latin typeface="Courier New"/>
                <a:ea typeface="Courier New"/>
                <a:cs typeface="Courier New"/>
                <a:sym typeface="Courier New"/>
              </a:rPr>
              <a:t>     S: 250 alice@crepes.fr... Sender ok </a:t>
            </a:r>
            <a:endParaRPr/>
          </a:p>
          <a:p>
            <a:pPr indent="0" lvl="0" marL="0" marR="0" rtl="0" algn="l">
              <a:spcBef>
                <a:spcPts val="0"/>
              </a:spcBef>
              <a:spcAft>
                <a:spcPts val="0"/>
              </a:spcAft>
              <a:buClr>
                <a:schemeClr val="dk1"/>
              </a:buClr>
              <a:buSzPts val="2200"/>
              <a:buFont typeface="Courier New"/>
              <a:buNone/>
            </a:pPr>
            <a:r>
              <a:rPr b="1" lang="en-US" sz="2200">
                <a:solidFill>
                  <a:schemeClr val="dk1"/>
                </a:solidFill>
                <a:latin typeface="Courier New"/>
                <a:ea typeface="Courier New"/>
                <a:cs typeface="Courier New"/>
                <a:sym typeface="Courier New"/>
              </a:rPr>
              <a:t>     C: RCPT TO: &lt;bob@hamburger.edu&gt; </a:t>
            </a:r>
            <a:endParaRPr/>
          </a:p>
          <a:p>
            <a:pPr indent="0" lvl="0" marL="0" marR="0" rtl="0" algn="l">
              <a:spcBef>
                <a:spcPts val="0"/>
              </a:spcBef>
              <a:spcAft>
                <a:spcPts val="0"/>
              </a:spcAft>
              <a:buClr>
                <a:schemeClr val="dk1"/>
              </a:buClr>
              <a:buSzPts val="2200"/>
              <a:buFont typeface="Courier New"/>
              <a:buNone/>
            </a:pPr>
            <a:r>
              <a:rPr b="1" lang="en-US" sz="2200">
                <a:solidFill>
                  <a:schemeClr val="dk1"/>
                </a:solidFill>
                <a:latin typeface="Courier New"/>
                <a:ea typeface="Courier New"/>
                <a:cs typeface="Courier New"/>
                <a:sym typeface="Courier New"/>
              </a:rPr>
              <a:t>     S: 250 bob@hamburger.edu ... Recipient ok </a:t>
            </a:r>
            <a:endParaRPr/>
          </a:p>
          <a:p>
            <a:pPr indent="0" lvl="0" marL="0" marR="0" rtl="0" algn="l">
              <a:spcBef>
                <a:spcPts val="0"/>
              </a:spcBef>
              <a:spcAft>
                <a:spcPts val="0"/>
              </a:spcAft>
              <a:buClr>
                <a:schemeClr val="dk1"/>
              </a:buClr>
              <a:buSzPts val="2200"/>
              <a:buFont typeface="Courier New"/>
              <a:buNone/>
            </a:pPr>
            <a:r>
              <a:rPr b="1" lang="en-US" sz="2200">
                <a:solidFill>
                  <a:schemeClr val="dk1"/>
                </a:solidFill>
                <a:latin typeface="Courier New"/>
                <a:ea typeface="Courier New"/>
                <a:cs typeface="Courier New"/>
                <a:sym typeface="Courier New"/>
              </a:rPr>
              <a:t>     C: DATA </a:t>
            </a:r>
            <a:endParaRPr/>
          </a:p>
          <a:p>
            <a:pPr indent="0" lvl="0" marL="0" marR="0" rtl="0" algn="l">
              <a:spcBef>
                <a:spcPts val="0"/>
              </a:spcBef>
              <a:spcAft>
                <a:spcPts val="0"/>
              </a:spcAft>
              <a:buClr>
                <a:schemeClr val="dk1"/>
              </a:buClr>
              <a:buSzPts val="2200"/>
              <a:buFont typeface="Courier New"/>
              <a:buNone/>
            </a:pPr>
            <a:r>
              <a:rPr b="1" lang="en-US" sz="2200">
                <a:solidFill>
                  <a:schemeClr val="dk1"/>
                </a:solidFill>
                <a:latin typeface="Courier New"/>
                <a:ea typeface="Courier New"/>
                <a:cs typeface="Courier New"/>
                <a:sym typeface="Courier New"/>
              </a:rPr>
              <a:t>     S: 354 Enter mail, end with "." on a line by itself </a:t>
            </a:r>
            <a:endParaRPr/>
          </a:p>
          <a:p>
            <a:pPr indent="0" lvl="0" marL="0" marR="0" rtl="0" algn="l">
              <a:spcBef>
                <a:spcPts val="0"/>
              </a:spcBef>
              <a:spcAft>
                <a:spcPts val="0"/>
              </a:spcAft>
              <a:buClr>
                <a:schemeClr val="dk1"/>
              </a:buClr>
              <a:buSzPts val="2200"/>
              <a:buFont typeface="Courier New"/>
              <a:buNone/>
            </a:pPr>
            <a:r>
              <a:rPr b="1" lang="en-US" sz="2200">
                <a:solidFill>
                  <a:schemeClr val="dk1"/>
                </a:solidFill>
                <a:latin typeface="Courier New"/>
                <a:ea typeface="Courier New"/>
                <a:cs typeface="Courier New"/>
                <a:sym typeface="Courier New"/>
              </a:rPr>
              <a:t>     C: Do you like ketchup? </a:t>
            </a:r>
            <a:endParaRPr/>
          </a:p>
          <a:p>
            <a:pPr indent="0" lvl="0" marL="0" marR="0" rtl="0" algn="l">
              <a:spcBef>
                <a:spcPts val="0"/>
              </a:spcBef>
              <a:spcAft>
                <a:spcPts val="0"/>
              </a:spcAft>
              <a:buClr>
                <a:schemeClr val="dk1"/>
              </a:buClr>
              <a:buSzPts val="2200"/>
              <a:buFont typeface="Courier New"/>
              <a:buNone/>
            </a:pPr>
            <a:r>
              <a:rPr b="1" lang="en-US" sz="2200">
                <a:solidFill>
                  <a:schemeClr val="dk1"/>
                </a:solidFill>
                <a:latin typeface="Courier New"/>
                <a:ea typeface="Courier New"/>
                <a:cs typeface="Courier New"/>
                <a:sym typeface="Courier New"/>
              </a:rPr>
              <a:t>     C: How about pickles? </a:t>
            </a:r>
            <a:endParaRPr/>
          </a:p>
          <a:p>
            <a:pPr indent="0" lvl="0" marL="0" marR="0" rtl="0" algn="l">
              <a:spcBef>
                <a:spcPts val="0"/>
              </a:spcBef>
              <a:spcAft>
                <a:spcPts val="0"/>
              </a:spcAft>
              <a:buClr>
                <a:schemeClr val="dk1"/>
              </a:buClr>
              <a:buSzPts val="2200"/>
              <a:buFont typeface="Courier New"/>
              <a:buNone/>
            </a:pPr>
            <a:r>
              <a:rPr b="1" lang="en-US" sz="2200">
                <a:solidFill>
                  <a:schemeClr val="dk1"/>
                </a:solidFill>
                <a:latin typeface="Courier New"/>
                <a:ea typeface="Courier New"/>
                <a:cs typeface="Courier New"/>
                <a:sym typeface="Courier New"/>
              </a:rPr>
              <a:t>     C: . </a:t>
            </a:r>
            <a:endParaRPr/>
          </a:p>
          <a:p>
            <a:pPr indent="0" lvl="0" marL="0" marR="0" rtl="0" algn="l">
              <a:spcBef>
                <a:spcPts val="0"/>
              </a:spcBef>
              <a:spcAft>
                <a:spcPts val="0"/>
              </a:spcAft>
              <a:buClr>
                <a:schemeClr val="dk1"/>
              </a:buClr>
              <a:buSzPts val="2200"/>
              <a:buFont typeface="Courier New"/>
              <a:buNone/>
            </a:pPr>
            <a:r>
              <a:rPr b="1" lang="en-US" sz="2200">
                <a:solidFill>
                  <a:schemeClr val="dk1"/>
                </a:solidFill>
                <a:latin typeface="Courier New"/>
                <a:ea typeface="Courier New"/>
                <a:cs typeface="Courier New"/>
                <a:sym typeface="Courier New"/>
              </a:rPr>
              <a:t>     S: 250 Message accepted for delivery </a:t>
            </a:r>
            <a:endParaRPr/>
          </a:p>
          <a:p>
            <a:pPr indent="0" lvl="0" marL="0" marR="0" rtl="0" algn="l">
              <a:spcBef>
                <a:spcPts val="0"/>
              </a:spcBef>
              <a:spcAft>
                <a:spcPts val="0"/>
              </a:spcAft>
              <a:buClr>
                <a:schemeClr val="dk1"/>
              </a:buClr>
              <a:buSzPts val="2200"/>
              <a:buFont typeface="Courier New"/>
              <a:buNone/>
            </a:pPr>
            <a:r>
              <a:rPr b="1" lang="en-US" sz="2200">
                <a:solidFill>
                  <a:schemeClr val="dk1"/>
                </a:solidFill>
                <a:latin typeface="Courier New"/>
                <a:ea typeface="Courier New"/>
                <a:cs typeface="Courier New"/>
                <a:sym typeface="Courier New"/>
              </a:rPr>
              <a:t>     C: QUIT </a:t>
            </a:r>
            <a:endParaRPr/>
          </a:p>
          <a:p>
            <a:pPr indent="0" lvl="0" marL="0" marR="0" rtl="0" algn="l">
              <a:spcBef>
                <a:spcPts val="0"/>
              </a:spcBef>
              <a:spcAft>
                <a:spcPts val="0"/>
              </a:spcAft>
              <a:buClr>
                <a:schemeClr val="dk1"/>
              </a:buClr>
              <a:buSzPts val="2200"/>
              <a:buFont typeface="Courier New"/>
              <a:buNone/>
            </a:pPr>
            <a:r>
              <a:rPr b="1" lang="en-US" sz="2200">
                <a:solidFill>
                  <a:schemeClr val="dk1"/>
                </a:solidFill>
                <a:latin typeface="Courier New"/>
                <a:ea typeface="Courier New"/>
                <a:cs typeface="Courier New"/>
                <a:sym typeface="Courier New"/>
              </a:rPr>
              <a:t>     S: 221 hamburger.edu closing connection</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8" name="Shape 5578"/>
        <p:cNvGrpSpPr/>
        <p:nvPr/>
      </p:nvGrpSpPr>
      <p:grpSpPr>
        <a:xfrm>
          <a:off x="0" y="0"/>
          <a:ext cx="0" cy="0"/>
          <a:chOff x="0" y="0"/>
          <a:chExt cx="0" cy="0"/>
        </a:xfrm>
      </p:grpSpPr>
      <p:sp>
        <p:nvSpPr>
          <p:cNvPr id="5579" name="Google Shape;5579;p67"/>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Try SMTP interaction for yourself:</a:t>
            </a:r>
            <a:endParaRPr sz="4400"/>
          </a:p>
        </p:txBody>
      </p:sp>
      <p:sp>
        <p:nvSpPr>
          <p:cNvPr id="5580" name="Google Shape;5580;p6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5581" name="Google Shape;5581;p67"/>
          <p:cNvSpPr txBox="1"/>
          <p:nvPr/>
        </p:nvSpPr>
        <p:spPr>
          <a:xfrm>
            <a:off x="798691" y="1303792"/>
            <a:ext cx="10156598" cy="4648200"/>
          </a:xfrm>
          <a:prstGeom prst="rect">
            <a:avLst/>
          </a:prstGeom>
          <a:noFill/>
          <a:ln>
            <a:noFill/>
          </a:ln>
        </p:spPr>
        <p:txBody>
          <a:bodyPr anchorCtr="0" anchor="t" bIns="45700" lIns="91425" spcFirstLastPara="1" rIns="91425" wrap="square" tIns="45700">
            <a:noAutofit/>
          </a:bodyPr>
          <a:lstStyle/>
          <a:p>
            <a:pPr indent="0" lvl="0" marL="130175" marR="0" rtl="0" algn="l">
              <a:lnSpc>
                <a:spcPct val="90000"/>
              </a:lnSpc>
              <a:spcBef>
                <a:spcPts val="0"/>
              </a:spcBef>
              <a:spcAft>
                <a:spcPts val="0"/>
              </a:spcAft>
              <a:buClr>
                <a:srgbClr val="0000A3"/>
              </a:buClr>
              <a:buSzPts val="2800"/>
              <a:buFont typeface="Noto Sans Symbols"/>
              <a:buNone/>
            </a:pPr>
            <a:r>
              <a:rPr lang="en-US" sz="2800">
                <a:solidFill>
                  <a:srgbClr val="C00000"/>
                </a:solidFill>
                <a:latin typeface="Calibri"/>
                <a:ea typeface="Calibri"/>
                <a:cs typeface="Calibri"/>
                <a:sym typeface="Calibri"/>
              </a:rPr>
              <a:t>telnet &lt;servername&gt; 25</a:t>
            </a:r>
            <a:endParaRPr/>
          </a:p>
          <a:p>
            <a:pPr indent="-288925" lvl="0" marL="519113"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see 220 reply from server</a:t>
            </a:r>
            <a:endParaRPr/>
          </a:p>
          <a:p>
            <a:pPr indent="-288925" lvl="0" marL="519113"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enter HELO, MAIL FROM:, RCPT TO:, DATA, QUIT commands </a:t>
            </a:r>
            <a:endParaRPr/>
          </a:p>
          <a:p>
            <a:pPr indent="-222250" lvl="0" marL="352425" marR="0" rtl="0" algn="l">
              <a:lnSpc>
                <a:spcPct val="90000"/>
              </a:lnSpc>
              <a:spcBef>
                <a:spcPts val="100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above lets you send email without using e-mail client (reader)</a:t>
            </a:r>
            <a:endParaRPr/>
          </a:p>
          <a:p>
            <a:pPr indent="-2222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000"/>
              <a:buFont typeface="Noto Sans Symbols"/>
              <a:buNone/>
            </a:pPr>
            <a:r>
              <a:rPr i="1" lang="en-US" sz="2000">
                <a:solidFill>
                  <a:schemeClr val="dk1"/>
                </a:solidFill>
                <a:latin typeface="Calibri"/>
                <a:ea typeface="Calibri"/>
                <a:cs typeface="Calibri"/>
                <a:sym typeface="Calibri"/>
              </a:rPr>
              <a:t>Note: this will only work if &lt;servername&gt; allows telnet connections to port 25 (this is becoming increasingly rare because of security concerns)</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6" name="Shape 5586"/>
        <p:cNvGrpSpPr/>
        <p:nvPr/>
      </p:nvGrpSpPr>
      <p:grpSpPr>
        <a:xfrm>
          <a:off x="0" y="0"/>
          <a:ext cx="0" cy="0"/>
          <a:chOff x="0" y="0"/>
          <a:chExt cx="0" cy="0"/>
        </a:xfrm>
      </p:grpSpPr>
      <p:sp>
        <p:nvSpPr>
          <p:cNvPr id="5587" name="Google Shape;5587;p6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SMTP: closing observations</a:t>
            </a:r>
            <a:endParaRPr sz="4400"/>
          </a:p>
        </p:txBody>
      </p:sp>
      <p:sp>
        <p:nvSpPr>
          <p:cNvPr id="5588" name="Google Shape;5588;p6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5589" name="Google Shape;5589;p68"/>
          <p:cNvSpPr txBox="1"/>
          <p:nvPr/>
        </p:nvSpPr>
        <p:spPr>
          <a:xfrm>
            <a:off x="7119664" y="1518446"/>
            <a:ext cx="4194627"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SMTP uses persistent connections</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SMTP requires message (header &amp; body) to be in 7-bit ASCII</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SMTP server uses CRLF. CRLF to determine end of message</a:t>
            </a:r>
            <a:endParaRPr/>
          </a:p>
        </p:txBody>
      </p:sp>
      <p:sp>
        <p:nvSpPr>
          <p:cNvPr id="5590" name="Google Shape;5590;p68"/>
          <p:cNvSpPr txBox="1"/>
          <p:nvPr/>
        </p:nvSpPr>
        <p:spPr>
          <a:xfrm>
            <a:off x="651330" y="1460390"/>
            <a:ext cx="6183084"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comparison with HTTP:</a:t>
            </a:r>
            <a:endParaRPr/>
          </a:p>
          <a:p>
            <a:pPr indent="-317500" lvl="0" marL="576263" marR="0" rtl="0" algn="l">
              <a:lnSpc>
                <a:spcPct val="90000"/>
              </a:lnSpc>
              <a:spcBef>
                <a:spcPts val="1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HTTP: pull</a:t>
            </a:r>
            <a:endParaRPr/>
          </a:p>
          <a:p>
            <a:pPr indent="-317500" lvl="0" marL="576263"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SMTP: push</a:t>
            </a:r>
            <a:endParaRPr/>
          </a:p>
          <a:p>
            <a:pPr indent="-317500" lvl="0" marL="576263" marR="0" rtl="0" algn="l">
              <a:lnSpc>
                <a:spcPct val="90000"/>
              </a:lnSpc>
              <a:spcBef>
                <a:spcPts val="2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both have ASCII command/response interaction, status codes</a:t>
            </a:r>
            <a:endParaRPr/>
          </a:p>
          <a:p>
            <a:pPr indent="-317500" lvl="0" marL="576263" marR="0" rtl="0" algn="l">
              <a:lnSpc>
                <a:spcPct val="90000"/>
              </a:lnSpc>
              <a:spcBef>
                <a:spcPts val="2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HTTP: each object encapsulated in its own response message</a:t>
            </a:r>
            <a:endParaRPr/>
          </a:p>
          <a:p>
            <a:pPr indent="-317500" lvl="0" marL="576263"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SMTP: multiple objects sent in multipart message</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5" name="Shape 5595"/>
        <p:cNvGrpSpPr/>
        <p:nvPr/>
      </p:nvGrpSpPr>
      <p:grpSpPr>
        <a:xfrm>
          <a:off x="0" y="0"/>
          <a:ext cx="0" cy="0"/>
          <a:chOff x="0" y="0"/>
          <a:chExt cx="0" cy="0"/>
        </a:xfrm>
      </p:grpSpPr>
      <p:sp>
        <p:nvSpPr>
          <p:cNvPr id="5596" name="Google Shape;5596;p6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Mail message format</a:t>
            </a:r>
            <a:endParaRPr sz="4400"/>
          </a:p>
        </p:txBody>
      </p:sp>
      <p:sp>
        <p:nvSpPr>
          <p:cNvPr id="5597" name="Google Shape;5597;p6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5598" name="Google Shape;5598;p69"/>
          <p:cNvSpPr txBox="1"/>
          <p:nvPr/>
        </p:nvSpPr>
        <p:spPr>
          <a:xfrm>
            <a:off x="819955" y="1518446"/>
            <a:ext cx="6379126" cy="4648200"/>
          </a:xfrm>
          <a:prstGeom prst="rect">
            <a:avLst/>
          </a:prstGeom>
          <a:noFill/>
          <a:ln>
            <a:noFill/>
          </a:ln>
        </p:spPr>
        <p:txBody>
          <a:bodyPr anchorCtr="0" anchor="t" bIns="45700" lIns="91425" spcFirstLastPara="1" rIns="91425" wrap="square" tIns="45700">
            <a:noAutofit/>
          </a:bodyPr>
          <a:lstStyle/>
          <a:p>
            <a:pPr indent="0" lvl="0" marL="14288" marR="0" rtl="0" algn="l">
              <a:lnSpc>
                <a:spcPct val="90000"/>
              </a:lnSpc>
              <a:spcBef>
                <a:spcPts val="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SMTP: protocol for exchanging e-mail messages, defined in RFC 5321 (like HTTP)</a:t>
            </a:r>
            <a:endParaRPr/>
          </a:p>
          <a:p>
            <a:pPr indent="0" lvl="0" marL="14288" marR="0" rtl="0" algn="l">
              <a:lnSpc>
                <a:spcPct val="90000"/>
              </a:lnSpc>
              <a:spcBef>
                <a:spcPts val="100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RFC 822 defines </a:t>
            </a:r>
            <a:r>
              <a:rPr i="1" lang="en-US" sz="2800">
                <a:solidFill>
                  <a:schemeClr val="dk1"/>
                </a:solidFill>
                <a:latin typeface="Calibri"/>
                <a:ea typeface="Calibri"/>
                <a:cs typeface="Calibri"/>
                <a:sym typeface="Calibri"/>
              </a:rPr>
              <a:t>syntax</a:t>
            </a:r>
            <a:r>
              <a:rPr lang="en-US" sz="2800">
                <a:solidFill>
                  <a:schemeClr val="dk1"/>
                </a:solidFill>
                <a:latin typeface="Calibri"/>
                <a:ea typeface="Calibri"/>
                <a:cs typeface="Calibri"/>
                <a:sym typeface="Calibri"/>
              </a:rPr>
              <a:t> for e-mail message itself (like HTML)</a:t>
            </a:r>
            <a:endParaRPr/>
          </a:p>
          <a:p>
            <a:pPr indent="-217487" lvl="0" marL="346075" marR="0" rtl="0" algn="l">
              <a:lnSpc>
                <a:spcPct val="90000"/>
              </a:lnSpc>
              <a:spcBef>
                <a:spcPts val="10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header lines, e.g.,</a:t>
            </a:r>
            <a:endParaRPr/>
          </a:p>
          <a:p>
            <a:pPr indent="-288925" lvl="1" marL="635000" marR="0" rtl="0" algn="l">
              <a:lnSpc>
                <a:spcPct val="90000"/>
              </a:lnSpc>
              <a:spcBef>
                <a:spcPts val="500"/>
              </a:spcBef>
              <a:spcAft>
                <a:spcPts val="0"/>
              </a:spcAft>
              <a:buClr>
                <a:srgbClr val="0000A8"/>
              </a:buClr>
              <a:buSzPts val="2000"/>
              <a:buFont typeface="Arial"/>
              <a:buChar char="•"/>
            </a:pPr>
            <a:r>
              <a:rPr b="0" i="0" lang="en-US" sz="2000" u="none" cap="none" strike="noStrike">
                <a:solidFill>
                  <a:schemeClr val="dk1"/>
                </a:solidFill>
                <a:latin typeface="Calibri"/>
                <a:ea typeface="Calibri"/>
                <a:cs typeface="Calibri"/>
                <a:sym typeface="Calibri"/>
              </a:rPr>
              <a:t>To:</a:t>
            </a:r>
            <a:endParaRPr/>
          </a:p>
          <a:p>
            <a:pPr indent="-288925" lvl="1" marL="635000" marR="0" rtl="0" algn="l">
              <a:lnSpc>
                <a:spcPct val="90000"/>
              </a:lnSpc>
              <a:spcBef>
                <a:spcPts val="500"/>
              </a:spcBef>
              <a:spcAft>
                <a:spcPts val="0"/>
              </a:spcAft>
              <a:buClr>
                <a:srgbClr val="0000A8"/>
              </a:buClr>
              <a:buSzPts val="2000"/>
              <a:buFont typeface="Arial"/>
              <a:buChar char="•"/>
            </a:pPr>
            <a:r>
              <a:rPr b="0" i="0" lang="en-US" sz="2000" u="none" cap="none" strike="noStrike">
                <a:solidFill>
                  <a:schemeClr val="dk1"/>
                </a:solidFill>
                <a:latin typeface="Calibri"/>
                <a:ea typeface="Calibri"/>
                <a:cs typeface="Calibri"/>
                <a:sym typeface="Calibri"/>
              </a:rPr>
              <a:t>From:</a:t>
            </a:r>
            <a:endParaRPr/>
          </a:p>
          <a:p>
            <a:pPr indent="-288925" lvl="1" marL="635000" marR="0" rtl="0" algn="l">
              <a:lnSpc>
                <a:spcPct val="90000"/>
              </a:lnSpc>
              <a:spcBef>
                <a:spcPts val="500"/>
              </a:spcBef>
              <a:spcAft>
                <a:spcPts val="0"/>
              </a:spcAft>
              <a:buClr>
                <a:srgbClr val="0000A8"/>
              </a:buClr>
              <a:buSzPts val="2000"/>
              <a:buFont typeface="Arial"/>
              <a:buChar char="•"/>
            </a:pPr>
            <a:r>
              <a:rPr b="0" i="0" lang="en-US" sz="2000" u="none" cap="none" strike="noStrike">
                <a:solidFill>
                  <a:schemeClr val="dk1"/>
                </a:solidFill>
                <a:latin typeface="Calibri"/>
                <a:ea typeface="Calibri"/>
                <a:cs typeface="Calibri"/>
                <a:sym typeface="Calibri"/>
              </a:rPr>
              <a:t>Subject:</a:t>
            </a:r>
            <a:endParaRPr/>
          </a:p>
          <a:p>
            <a:pPr indent="0" lvl="1" marL="403225" marR="0" rtl="0" algn="l">
              <a:lnSpc>
                <a:spcPct val="90000"/>
              </a:lnSpc>
              <a:spcBef>
                <a:spcPts val="500"/>
              </a:spcBef>
              <a:spcAft>
                <a:spcPts val="0"/>
              </a:spcAft>
              <a:buClr>
                <a:srgbClr val="0000A8"/>
              </a:buClr>
              <a:buSzPts val="2400"/>
              <a:buFont typeface="Noto Sans Symbols"/>
              <a:buNone/>
            </a:pPr>
            <a:r>
              <a:rPr b="0" i="0" lang="en-US" sz="2400" u="none" cap="none" strike="noStrike">
                <a:solidFill>
                  <a:schemeClr val="dk1"/>
                </a:solidFill>
                <a:latin typeface="Calibri"/>
                <a:ea typeface="Calibri"/>
                <a:cs typeface="Calibri"/>
                <a:sym typeface="Calibri"/>
              </a:rPr>
              <a:t>these lines, within the body of the email message area different from </a:t>
            </a:r>
            <a:r>
              <a:rPr b="0" i="0" lang="en-US" sz="2200" u="none" cap="none" strike="noStrike">
                <a:solidFill>
                  <a:schemeClr val="dk1"/>
                </a:solidFill>
                <a:latin typeface="Calibri"/>
                <a:ea typeface="Calibri"/>
                <a:cs typeface="Calibri"/>
                <a:sym typeface="Calibri"/>
              </a:rPr>
              <a:t>SMTP MAIL FROM:, RCPT TO:</a:t>
            </a:r>
            <a:r>
              <a:rPr b="0" i="0" lang="en-US" sz="2400" u="none" cap="none" strike="noStrike">
                <a:solidFill>
                  <a:schemeClr val="dk1"/>
                </a:solidFill>
                <a:latin typeface="Calibri"/>
                <a:ea typeface="Calibri"/>
                <a:cs typeface="Calibri"/>
                <a:sym typeface="Calibri"/>
              </a:rPr>
              <a:t> commands!</a:t>
            </a:r>
            <a:endParaRPr/>
          </a:p>
          <a:p>
            <a:pPr indent="-222250" lvl="0" marL="352425" marR="0" rtl="0" algn="l">
              <a:lnSpc>
                <a:spcPct val="90000"/>
              </a:lnSpc>
              <a:spcBef>
                <a:spcPts val="10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Body: the “message” , ASCII characters only</a:t>
            </a:r>
            <a:endParaRPr sz="2000">
              <a:solidFill>
                <a:schemeClr val="dk1"/>
              </a:solidFill>
              <a:latin typeface="Calibri"/>
              <a:ea typeface="Calibri"/>
              <a:cs typeface="Calibri"/>
              <a:sym typeface="Calibri"/>
            </a:endParaRPr>
          </a:p>
        </p:txBody>
      </p:sp>
      <p:sp>
        <p:nvSpPr>
          <p:cNvPr id="5599" name="Google Shape;5599;p69"/>
          <p:cNvSpPr/>
          <p:nvPr/>
        </p:nvSpPr>
        <p:spPr>
          <a:xfrm>
            <a:off x="8111539" y="3317071"/>
            <a:ext cx="2832100" cy="431800"/>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header</a:t>
            </a:r>
            <a:endParaRPr/>
          </a:p>
        </p:txBody>
      </p:sp>
      <p:sp>
        <p:nvSpPr>
          <p:cNvPr id="5600" name="Google Shape;5600;p69"/>
          <p:cNvSpPr/>
          <p:nvPr/>
        </p:nvSpPr>
        <p:spPr>
          <a:xfrm>
            <a:off x="8111539" y="4129871"/>
            <a:ext cx="2832100" cy="1739900"/>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body</a:t>
            </a:r>
            <a:endParaRPr/>
          </a:p>
        </p:txBody>
      </p:sp>
      <p:sp>
        <p:nvSpPr>
          <p:cNvPr id="5601" name="Google Shape;5601;p69"/>
          <p:cNvSpPr/>
          <p:nvPr/>
        </p:nvSpPr>
        <p:spPr>
          <a:xfrm>
            <a:off x="7908339" y="3202771"/>
            <a:ext cx="3238500" cy="3073400"/>
          </a:xfrm>
          <a:prstGeom prst="rect">
            <a:avLst/>
          </a:prstGeom>
          <a:no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cxnSp>
        <p:nvCxnSpPr>
          <p:cNvPr id="5602" name="Google Shape;5602;p69"/>
          <p:cNvCxnSpPr/>
          <p:nvPr/>
        </p:nvCxnSpPr>
        <p:spPr>
          <a:xfrm flipH="1" rot="10800000">
            <a:off x="1567314" y="5094521"/>
            <a:ext cx="6544225" cy="812792"/>
          </a:xfrm>
          <a:prstGeom prst="straightConnector1">
            <a:avLst/>
          </a:prstGeom>
          <a:noFill/>
          <a:ln cap="flat" cmpd="sng" w="19050">
            <a:solidFill>
              <a:srgbClr val="FF0000"/>
            </a:solidFill>
            <a:prstDash val="solid"/>
            <a:round/>
            <a:headEnd len="med" w="med" type="none"/>
            <a:tailEnd len="med" w="med" type="triangle"/>
          </a:ln>
        </p:spPr>
      </p:cxnSp>
      <p:sp>
        <p:nvSpPr>
          <p:cNvPr id="5603" name="Google Shape;5603;p69"/>
          <p:cNvSpPr txBox="1"/>
          <p:nvPr/>
        </p:nvSpPr>
        <p:spPr>
          <a:xfrm>
            <a:off x="11272252" y="3537734"/>
            <a:ext cx="79216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blank</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line</a:t>
            </a:r>
            <a:endParaRPr/>
          </a:p>
        </p:txBody>
      </p:sp>
      <p:cxnSp>
        <p:nvCxnSpPr>
          <p:cNvPr id="5604" name="Google Shape;5604;p69"/>
          <p:cNvCxnSpPr/>
          <p:nvPr/>
        </p:nvCxnSpPr>
        <p:spPr>
          <a:xfrm rot="10800000">
            <a:off x="10384839" y="3977471"/>
            <a:ext cx="965200" cy="0"/>
          </a:xfrm>
          <a:prstGeom prst="straightConnector1">
            <a:avLst/>
          </a:prstGeom>
          <a:noFill/>
          <a:ln cap="flat" cmpd="sng" w="19050">
            <a:solidFill>
              <a:srgbClr val="FF0000"/>
            </a:solidFill>
            <a:prstDash val="solid"/>
            <a:round/>
            <a:headEnd len="med" w="med" type="none"/>
            <a:tailEnd len="med" w="med" type="triangle"/>
          </a:ln>
        </p:spPr>
      </p:cxnSp>
      <p:cxnSp>
        <p:nvCxnSpPr>
          <p:cNvPr id="5605" name="Google Shape;5605;p69"/>
          <p:cNvCxnSpPr/>
          <p:nvPr/>
        </p:nvCxnSpPr>
        <p:spPr>
          <a:xfrm>
            <a:off x="3614057" y="3531161"/>
            <a:ext cx="4424912" cy="0"/>
          </a:xfrm>
          <a:prstGeom prst="straightConnector1">
            <a:avLst/>
          </a:prstGeom>
          <a:noFill/>
          <a:ln cap="flat" cmpd="sng" w="12700">
            <a:solidFill>
              <a:srgbClr val="FF0000"/>
            </a:solidFill>
            <a:prstDash val="solid"/>
            <a:miter lim="800000"/>
            <a:headEnd len="sm" w="sm" type="none"/>
            <a:tailEnd len="med" w="med" type="triangle"/>
          </a:ln>
        </p:spPr>
      </p:cxn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0" name="Shape 5610"/>
        <p:cNvGrpSpPr/>
        <p:nvPr/>
      </p:nvGrpSpPr>
      <p:grpSpPr>
        <a:xfrm>
          <a:off x="0" y="0"/>
          <a:ext cx="0" cy="0"/>
          <a:chOff x="0" y="0"/>
          <a:chExt cx="0" cy="0"/>
        </a:xfrm>
      </p:grpSpPr>
      <p:sp>
        <p:nvSpPr>
          <p:cNvPr id="5611" name="Google Shape;5611;p7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Mail access protocols</a:t>
            </a:r>
            <a:endParaRPr sz="4400"/>
          </a:p>
        </p:txBody>
      </p:sp>
      <p:sp>
        <p:nvSpPr>
          <p:cNvPr id="5612" name="Google Shape;5612;p7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grpSp>
        <p:nvGrpSpPr>
          <p:cNvPr id="5613" name="Google Shape;5613;p70"/>
          <p:cNvGrpSpPr/>
          <p:nvPr/>
        </p:nvGrpSpPr>
        <p:grpSpPr>
          <a:xfrm>
            <a:off x="1933753" y="1424214"/>
            <a:ext cx="8245475" cy="1826169"/>
            <a:chOff x="444500" y="1308100"/>
            <a:chExt cx="8245475" cy="1826169"/>
          </a:xfrm>
        </p:grpSpPr>
        <p:grpSp>
          <p:nvGrpSpPr>
            <p:cNvPr id="5614" name="Google Shape;5614;p70"/>
            <p:cNvGrpSpPr/>
            <p:nvPr/>
          </p:nvGrpSpPr>
          <p:grpSpPr>
            <a:xfrm>
              <a:off x="2962275" y="1577975"/>
              <a:ext cx="511175" cy="693738"/>
              <a:chOff x="4140" y="429"/>
              <a:chExt cx="1425" cy="2396"/>
            </a:xfrm>
          </p:grpSpPr>
          <p:sp>
            <p:nvSpPr>
              <p:cNvPr id="5615" name="Google Shape;5615;p7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16" name="Google Shape;5616;p70"/>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17" name="Google Shape;5617;p7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18" name="Google Shape;5618;p7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19" name="Google Shape;5619;p70"/>
              <p:cNvSpPr/>
              <p:nvPr/>
            </p:nvSpPr>
            <p:spPr>
              <a:xfrm>
                <a:off x="4211" y="692"/>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620" name="Google Shape;5620;p70"/>
              <p:cNvGrpSpPr/>
              <p:nvPr/>
            </p:nvGrpSpPr>
            <p:grpSpPr>
              <a:xfrm>
                <a:off x="4751" y="670"/>
                <a:ext cx="579" cy="143"/>
                <a:chOff x="616" y="2570"/>
                <a:chExt cx="723" cy="137"/>
              </a:xfrm>
            </p:grpSpPr>
            <p:sp>
              <p:nvSpPr>
                <p:cNvPr id="5621" name="Google Shape;5621;p70"/>
                <p:cNvSpPr/>
                <p:nvPr/>
              </p:nvSpPr>
              <p:spPr>
                <a:xfrm>
                  <a:off x="616" y="2570"/>
                  <a:ext cx="723"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22" name="Google Shape;5622;p70"/>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623" name="Google Shape;5623;p70"/>
              <p:cNvSpPr/>
              <p:nvPr/>
            </p:nvSpPr>
            <p:spPr>
              <a:xfrm>
                <a:off x="4224" y="1021"/>
                <a:ext cx="597"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624" name="Google Shape;5624;p70"/>
              <p:cNvGrpSpPr/>
              <p:nvPr/>
            </p:nvGrpSpPr>
            <p:grpSpPr>
              <a:xfrm>
                <a:off x="4746" y="994"/>
                <a:ext cx="575" cy="126"/>
                <a:chOff x="613" y="2568"/>
                <a:chExt cx="718" cy="131"/>
              </a:xfrm>
            </p:grpSpPr>
            <p:sp>
              <p:nvSpPr>
                <p:cNvPr id="5625" name="Google Shape;5625;p70"/>
                <p:cNvSpPr/>
                <p:nvPr/>
              </p:nvSpPr>
              <p:spPr>
                <a:xfrm>
                  <a:off x="613" y="2568"/>
                  <a:ext cx="718" cy="13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26" name="Google Shape;5626;p70"/>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627" name="Google Shape;5627;p70"/>
              <p:cNvSpPr/>
              <p:nvPr/>
            </p:nvSpPr>
            <p:spPr>
              <a:xfrm>
                <a:off x="4215" y="1356"/>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28" name="Google Shape;5628;p70"/>
              <p:cNvSpPr/>
              <p:nvPr/>
            </p:nvSpPr>
            <p:spPr>
              <a:xfrm>
                <a:off x="4229" y="1657"/>
                <a:ext cx="597"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629" name="Google Shape;5629;p70"/>
              <p:cNvGrpSpPr/>
              <p:nvPr/>
            </p:nvGrpSpPr>
            <p:grpSpPr>
              <a:xfrm>
                <a:off x="4733" y="1641"/>
                <a:ext cx="584" cy="137"/>
                <a:chOff x="612" y="2581"/>
                <a:chExt cx="728" cy="126"/>
              </a:xfrm>
            </p:grpSpPr>
            <p:sp>
              <p:nvSpPr>
                <p:cNvPr id="5630" name="Google Shape;5630;p70"/>
                <p:cNvSpPr/>
                <p:nvPr/>
              </p:nvSpPr>
              <p:spPr>
                <a:xfrm>
                  <a:off x="612" y="2581"/>
                  <a:ext cx="728" cy="12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31" name="Google Shape;5631;p70"/>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632" name="Google Shape;5632;p7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633" name="Google Shape;5633;p70"/>
              <p:cNvGrpSpPr/>
              <p:nvPr/>
            </p:nvGrpSpPr>
            <p:grpSpPr>
              <a:xfrm>
                <a:off x="4737" y="1328"/>
                <a:ext cx="584" cy="137"/>
                <a:chOff x="612" y="2569"/>
                <a:chExt cx="728" cy="137"/>
              </a:xfrm>
            </p:grpSpPr>
            <p:sp>
              <p:nvSpPr>
                <p:cNvPr id="5634" name="Google Shape;5634;p70"/>
                <p:cNvSpPr/>
                <p:nvPr/>
              </p:nvSpPr>
              <p:spPr>
                <a:xfrm>
                  <a:off x="612" y="2569"/>
                  <a:ext cx="728"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35" name="Google Shape;5635;p70"/>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636" name="Google Shape;5636;p70"/>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37" name="Google Shape;5637;p7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38" name="Google Shape;5638;p7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39" name="Google Shape;5639;p70"/>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40" name="Google Shape;5640;p7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41" name="Google Shape;5641;p70"/>
              <p:cNvSpPr/>
              <p:nvPr/>
            </p:nvSpPr>
            <p:spPr>
              <a:xfrm>
                <a:off x="4140" y="2677"/>
                <a:ext cx="1199"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42" name="Google Shape;5642;p70"/>
              <p:cNvSpPr/>
              <p:nvPr/>
            </p:nvSpPr>
            <p:spPr>
              <a:xfrm>
                <a:off x="4206" y="2710"/>
                <a:ext cx="1071"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43" name="Google Shape;5643;p70"/>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44" name="Google Shape;5644;p70"/>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5645" name="Google Shape;5645;p70"/>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46" name="Google Shape;5646;p70"/>
              <p:cNvSpPr/>
              <p:nvPr/>
            </p:nvSpPr>
            <p:spPr>
              <a:xfrm>
                <a:off x="5060" y="1833"/>
                <a:ext cx="89" cy="762"/>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5647" name="Google Shape;5647;p70"/>
            <p:cNvGrpSpPr/>
            <p:nvPr/>
          </p:nvGrpSpPr>
          <p:grpSpPr>
            <a:xfrm>
              <a:off x="4648200" y="1587500"/>
              <a:ext cx="511175" cy="693738"/>
              <a:chOff x="4140" y="429"/>
              <a:chExt cx="1425" cy="2396"/>
            </a:xfrm>
          </p:grpSpPr>
          <p:sp>
            <p:nvSpPr>
              <p:cNvPr id="5648" name="Google Shape;5648;p7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49" name="Google Shape;5649;p70"/>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50" name="Google Shape;5650;p7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51" name="Google Shape;5651;p7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52" name="Google Shape;5652;p70"/>
              <p:cNvSpPr/>
              <p:nvPr/>
            </p:nvSpPr>
            <p:spPr>
              <a:xfrm>
                <a:off x="4211" y="692"/>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653" name="Google Shape;5653;p70"/>
              <p:cNvGrpSpPr/>
              <p:nvPr/>
            </p:nvGrpSpPr>
            <p:grpSpPr>
              <a:xfrm>
                <a:off x="4751" y="670"/>
                <a:ext cx="579" cy="143"/>
                <a:chOff x="616" y="2570"/>
                <a:chExt cx="723" cy="137"/>
              </a:xfrm>
            </p:grpSpPr>
            <p:sp>
              <p:nvSpPr>
                <p:cNvPr id="5654" name="Google Shape;5654;p70"/>
                <p:cNvSpPr/>
                <p:nvPr/>
              </p:nvSpPr>
              <p:spPr>
                <a:xfrm>
                  <a:off x="616" y="2570"/>
                  <a:ext cx="723"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55" name="Google Shape;5655;p70"/>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656" name="Google Shape;5656;p70"/>
              <p:cNvSpPr/>
              <p:nvPr/>
            </p:nvSpPr>
            <p:spPr>
              <a:xfrm>
                <a:off x="4224" y="1021"/>
                <a:ext cx="597"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657" name="Google Shape;5657;p70"/>
              <p:cNvGrpSpPr/>
              <p:nvPr/>
            </p:nvGrpSpPr>
            <p:grpSpPr>
              <a:xfrm>
                <a:off x="4746" y="994"/>
                <a:ext cx="575" cy="126"/>
                <a:chOff x="613" y="2568"/>
                <a:chExt cx="718" cy="131"/>
              </a:xfrm>
            </p:grpSpPr>
            <p:sp>
              <p:nvSpPr>
                <p:cNvPr id="5658" name="Google Shape;5658;p70"/>
                <p:cNvSpPr/>
                <p:nvPr/>
              </p:nvSpPr>
              <p:spPr>
                <a:xfrm>
                  <a:off x="613" y="2568"/>
                  <a:ext cx="718" cy="13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59" name="Google Shape;5659;p70"/>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660" name="Google Shape;5660;p70"/>
              <p:cNvSpPr/>
              <p:nvPr/>
            </p:nvSpPr>
            <p:spPr>
              <a:xfrm>
                <a:off x="4215" y="1356"/>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61" name="Google Shape;5661;p70"/>
              <p:cNvSpPr/>
              <p:nvPr/>
            </p:nvSpPr>
            <p:spPr>
              <a:xfrm>
                <a:off x="4229" y="1657"/>
                <a:ext cx="597"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662" name="Google Shape;5662;p70"/>
              <p:cNvGrpSpPr/>
              <p:nvPr/>
            </p:nvGrpSpPr>
            <p:grpSpPr>
              <a:xfrm>
                <a:off x="4733" y="1641"/>
                <a:ext cx="584" cy="137"/>
                <a:chOff x="612" y="2581"/>
                <a:chExt cx="728" cy="126"/>
              </a:xfrm>
            </p:grpSpPr>
            <p:sp>
              <p:nvSpPr>
                <p:cNvPr id="5663" name="Google Shape;5663;p70"/>
                <p:cNvSpPr/>
                <p:nvPr/>
              </p:nvSpPr>
              <p:spPr>
                <a:xfrm>
                  <a:off x="612" y="2581"/>
                  <a:ext cx="728" cy="12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64" name="Google Shape;5664;p70"/>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665" name="Google Shape;5665;p7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666" name="Google Shape;5666;p70"/>
              <p:cNvGrpSpPr/>
              <p:nvPr/>
            </p:nvGrpSpPr>
            <p:grpSpPr>
              <a:xfrm>
                <a:off x="4737" y="1328"/>
                <a:ext cx="584" cy="137"/>
                <a:chOff x="612" y="2569"/>
                <a:chExt cx="728" cy="137"/>
              </a:xfrm>
            </p:grpSpPr>
            <p:sp>
              <p:nvSpPr>
                <p:cNvPr id="5667" name="Google Shape;5667;p70"/>
                <p:cNvSpPr/>
                <p:nvPr/>
              </p:nvSpPr>
              <p:spPr>
                <a:xfrm>
                  <a:off x="612" y="2569"/>
                  <a:ext cx="728"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68" name="Google Shape;5668;p70"/>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669" name="Google Shape;5669;p70"/>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70" name="Google Shape;5670;p7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71" name="Google Shape;5671;p7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72" name="Google Shape;5672;p70"/>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73" name="Google Shape;5673;p7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74" name="Google Shape;5674;p70"/>
              <p:cNvSpPr/>
              <p:nvPr/>
            </p:nvSpPr>
            <p:spPr>
              <a:xfrm>
                <a:off x="4140" y="2677"/>
                <a:ext cx="1199"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75" name="Google Shape;5675;p70"/>
              <p:cNvSpPr/>
              <p:nvPr/>
            </p:nvSpPr>
            <p:spPr>
              <a:xfrm>
                <a:off x="4206" y="2710"/>
                <a:ext cx="1071"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76" name="Google Shape;5676;p70"/>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77" name="Google Shape;5677;p70"/>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5678" name="Google Shape;5678;p70"/>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679" name="Google Shape;5679;p70"/>
              <p:cNvSpPr/>
              <p:nvPr/>
            </p:nvSpPr>
            <p:spPr>
              <a:xfrm>
                <a:off x="5060" y="1833"/>
                <a:ext cx="89" cy="762"/>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5680" name="Google Shape;5680;p70"/>
            <p:cNvGrpSpPr/>
            <p:nvPr/>
          </p:nvGrpSpPr>
          <p:grpSpPr>
            <a:xfrm>
              <a:off x="2670176" y="1987551"/>
              <a:ext cx="1689101" cy="1133476"/>
              <a:chOff x="1716" y="1206"/>
              <a:chExt cx="1064" cy="714"/>
            </a:xfrm>
          </p:grpSpPr>
          <p:sp>
            <p:nvSpPr>
              <p:cNvPr id="5681" name="Google Shape;5681;p70"/>
              <p:cNvSpPr txBox="1"/>
              <p:nvPr/>
            </p:nvSpPr>
            <p:spPr>
              <a:xfrm>
                <a:off x="1716" y="1583"/>
                <a:ext cx="1064" cy="337"/>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sender’s e-mail </a:t>
                </a:r>
                <a:endParaRPr/>
              </a:p>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server</a:t>
                </a:r>
                <a:endParaRPr b="0" i="0" sz="2400" u="none" cap="none" strike="noStrike">
                  <a:solidFill>
                    <a:srgbClr val="000000"/>
                  </a:solidFill>
                  <a:latin typeface="Arial"/>
                  <a:ea typeface="Arial"/>
                  <a:cs typeface="Arial"/>
                  <a:sym typeface="Arial"/>
                </a:endParaRPr>
              </a:p>
            </p:txBody>
          </p:sp>
          <p:grpSp>
            <p:nvGrpSpPr>
              <p:cNvPr id="5682" name="Google Shape;5682;p70"/>
              <p:cNvGrpSpPr/>
              <p:nvPr/>
            </p:nvGrpSpPr>
            <p:grpSpPr>
              <a:xfrm>
                <a:off x="1992" y="1206"/>
                <a:ext cx="510" cy="354"/>
                <a:chOff x="2070" y="2004"/>
                <a:chExt cx="510" cy="354"/>
              </a:xfrm>
            </p:grpSpPr>
            <p:sp>
              <p:nvSpPr>
                <p:cNvPr id="5683" name="Google Shape;5683;p70"/>
                <p:cNvSpPr/>
                <p:nvPr/>
              </p:nvSpPr>
              <p:spPr>
                <a:xfrm>
                  <a:off x="2070" y="2004"/>
                  <a:ext cx="510" cy="354"/>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sp>
              <p:nvSpPr>
                <p:cNvPr id="5684" name="Google Shape;5684;p70"/>
                <p:cNvSpPr/>
                <p:nvPr/>
              </p:nvSpPr>
              <p:spPr>
                <a:xfrm>
                  <a:off x="2094" y="2076"/>
                  <a:ext cx="450" cy="120"/>
                </a:xfrm>
                <a:prstGeom prst="rect">
                  <a:avLst/>
                </a:prstGeom>
                <a:solidFill>
                  <a:srgbClr val="00FF00"/>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cxnSp>
              <p:nvCxnSpPr>
                <p:cNvPr id="5685" name="Google Shape;5685;p70"/>
                <p:cNvCxnSpPr/>
                <p:nvPr/>
              </p:nvCxnSpPr>
              <p:spPr>
                <a:xfrm>
                  <a:off x="2143" y="2104"/>
                  <a:ext cx="0" cy="72"/>
                </a:xfrm>
                <a:prstGeom prst="straightConnector1">
                  <a:avLst/>
                </a:prstGeom>
                <a:noFill/>
                <a:ln cap="flat" cmpd="sng" w="19050">
                  <a:solidFill>
                    <a:srgbClr val="000000"/>
                  </a:solidFill>
                  <a:prstDash val="solid"/>
                  <a:round/>
                  <a:headEnd len="med" w="med" type="none"/>
                  <a:tailEnd len="med" w="med" type="none"/>
                </a:ln>
              </p:spPr>
            </p:cxnSp>
            <p:cxnSp>
              <p:nvCxnSpPr>
                <p:cNvPr id="5686" name="Google Shape;5686;p70"/>
                <p:cNvCxnSpPr/>
                <p:nvPr/>
              </p:nvCxnSpPr>
              <p:spPr>
                <a:xfrm>
                  <a:off x="2252" y="2103"/>
                  <a:ext cx="0" cy="72"/>
                </a:xfrm>
                <a:prstGeom prst="straightConnector1">
                  <a:avLst/>
                </a:prstGeom>
                <a:noFill/>
                <a:ln cap="flat" cmpd="sng" w="19050">
                  <a:solidFill>
                    <a:srgbClr val="000000"/>
                  </a:solidFill>
                  <a:prstDash val="solid"/>
                  <a:round/>
                  <a:headEnd len="med" w="med" type="none"/>
                  <a:tailEnd len="med" w="med" type="none"/>
                </a:ln>
              </p:spPr>
            </p:cxnSp>
            <p:cxnSp>
              <p:nvCxnSpPr>
                <p:cNvPr id="5687" name="Google Shape;5687;p70"/>
                <p:cNvCxnSpPr/>
                <p:nvPr/>
              </p:nvCxnSpPr>
              <p:spPr>
                <a:xfrm>
                  <a:off x="2307" y="2105"/>
                  <a:ext cx="0" cy="72"/>
                </a:xfrm>
                <a:prstGeom prst="straightConnector1">
                  <a:avLst/>
                </a:prstGeom>
                <a:noFill/>
                <a:ln cap="flat" cmpd="sng" w="19050">
                  <a:solidFill>
                    <a:srgbClr val="000000"/>
                  </a:solidFill>
                  <a:prstDash val="solid"/>
                  <a:round/>
                  <a:headEnd len="med" w="med" type="none"/>
                  <a:tailEnd len="med" w="med" type="none"/>
                </a:ln>
              </p:spPr>
            </p:cxnSp>
            <p:cxnSp>
              <p:nvCxnSpPr>
                <p:cNvPr id="5688" name="Google Shape;5688;p70"/>
                <p:cNvCxnSpPr/>
                <p:nvPr/>
              </p:nvCxnSpPr>
              <p:spPr>
                <a:xfrm>
                  <a:off x="2364" y="2103"/>
                  <a:ext cx="0" cy="72"/>
                </a:xfrm>
                <a:prstGeom prst="straightConnector1">
                  <a:avLst/>
                </a:prstGeom>
                <a:noFill/>
                <a:ln cap="flat" cmpd="sng" w="19050">
                  <a:solidFill>
                    <a:srgbClr val="000000"/>
                  </a:solidFill>
                  <a:prstDash val="solid"/>
                  <a:round/>
                  <a:headEnd len="med" w="med" type="none"/>
                  <a:tailEnd len="med" w="med" type="none"/>
                </a:ln>
              </p:spPr>
            </p:cxnSp>
            <p:cxnSp>
              <p:nvCxnSpPr>
                <p:cNvPr id="5689" name="Google Shape;5689;p70"/>
                <p:cNvCxnSpPr/>
                <p:nvPr/>
              </p:nvCxnSpPr>
              <p:spPr>
                <a:xfrm>
                  <a:off x="2425" y="2103"/>
                  <a:ext cx="0" cy="72"/>
                </a:xfrm>
                <a:prstGeom prst="straightConnector1">
                  <a:avLst/>
                </a:prstGeom>
                <a:noFill/>
                <a:ln cap="flat" cmpd="sng" w="19050">
                  <a:solidFill>
                    <a:srgbClr val="000000"/>
                  </a:solidFill>
                  <a:prstDash val="solid"/>
                  <a:round/>
                  <a:headEnd len="med" w="med" type="none"/>
                  <a:tailEnd len="med" w="med" type="none"/>
                </a:ln>
              </p:spPr>
            </p:cxnSp>
            <p:cxnSp>
              <p:nvCxnSpPr>
                <p:cNvPr id="5690" name="Google Shape;5690;p70"/>
                <p:cNvCxnSpPr/>
                <p:nvPr/>
              </p:nvCxnSpPr>
              <p:spPr>
                <a:xfrm>
                  <a:off x="2481" y="2103"/>
                  <a:ext cx="0" cy="72"/>
                </a:xfrm>
                <a:prstGeom prst="straightConnector1">
                  <a:avLst/>
                </a:prstGeom>
                <a:noFill/>
                <a:ln cap="flat" cmpd="sng" w="19050">
                  <a:solidFill>
                    <a:srgbClr val="000000"/>
                  </a:solidFill>
                  <a:prstDash val="solid"/>
                  <a:round/>
                  <a:headEnd len="med" w="med" type="none"/>
                  <a:tailEnd len="med" w="med" type="none"/>
                </a:ln>
              </p:spPr>
            </p:cxnSp>
            <p:cxnSp>
              <p:nvCxnSpPr>
                <p:cNvPr id="5691" name="Google Shape;5691;p70"/>
                <p:cNvCxnSpPr/>
                <p:nvPr/>
              </p:nvCxnSpPr>
              <p:spPr>
                <a:xfrm>
                  <a:off x="2196" y="2104"/>
                  <a:ext cx="0" cy="72"/>
                </a:xfrm>
                <a:prstGeom prst="straightConnector1">
                  <a:avLst/>
                </a:prstGeom>
                <a:noFill/>
                <a:ln cap="flat" cmpd="sng" w="19050">
                  <a:solidFill>
                    <a:srgbClr val="000000"/>
                  </a:solidFill>
                  <a:prstDash val="solid"/>
                  <a:round/>
                  <a:headEnd len="med" w="med" type="none"/>
                  <a:tailEnd len="med" w="med" type="none"/>
                </a:ln>
              </p:spPr>
            </p:cxnSp>
            <p:sp>
              <p:nvSpPr>
                <p:cNvPr id="5692" name="Google Shape;5692;p70"/>
                <p:cNvSpPr/>
                <p:nvPr/>
              </p:nvSpPr>
              <p:spPr>
                <a:xfrm>
                  <a:off x="2102" y="224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sp>
              <p:nvSpPr>
                <p:cNvPr id="5693" name="Google Shape;5693;p70"/>
                <p:cNvSpPr/>
                <p:nvPr/>
              </p:nvSpPr>
              <p:spPr>
                <a:xfrm>
                  <a:off x="2188" y="224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sp>
              <p:nvSpPr>
                <p:cNvPr id="5694" name="Google Shape;5694;p70"/>
                <p:cNvSpPr/>
                <p:nvPr/>
              </p:nvSpPr>
              <p:spPr>
                <a:xfrm>
                  <a:off x="2274" y="2242"/>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sp>
              <p:nvSpPr>
                <p:cNvPr id="5695" name="Google Shape;5695;p70"/>
                <p:cNvSpPr/>
                <p:nvPr/>
              </p:nvSpPr>
              <p:spPr>
                <a:xfrm>
                  <a:off x="2371" y="224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sp>
              <p:nvSpPr>
                <p:cNvPr id="5696" name="Google Shape;5696;p70"/>
                <p:cNvSpPr/>
                <p:nvPr/>
              </p:nvSpPr>
              <p:spPr>
                <a:xfrm>
                  <a:off x="2467" y="224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grpSp>
        </p:grpSp>
        <p:sp>
          <p:nvSpPr>
            <p:cNvPr id="5697" name="Google Shape;5697;p70"/>
            <p:cNvSpPr txBox="1"/>
            <p:nvPr/>
          </p:nvSpPr>
          <p:spPr>
            <a:xfrm>
              <a:off x="2020888" y="1466850"/>
              <a:ext cx="890587"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SMTP</a:t>
              </a:r>
              <a:endParaRPr/>
            </a:p>
          </p:txBody>
        </p:sp>
        <p:sp>
          <p:nvSpPr>
            <p:cNvPr id="5698" name="Google Shape;5698;p70"/>
            <p:cNvSpPr/>
            <p:nvPr/>
          </p:nvSpPr>
          <p:spPr>
            <a:xfrm>
              <a:off x="3781425" y="1457325"/>
              <a:ext cx="857250" cy="304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sp>
          <p:nvSpPr>
            <p:cNvPr id="5699" name="Google Shape;5699;p70"/>
            <p:cNvSpPr txBox="1"/>
            <p:nvPr/>
          </p:nvSpPr>
          <p:spPr>
            <a:xfrm>
              <a:off x="3622675" y="1477963"/>
              <a:ext cx="890588"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SMTP</a:t>
              </a:r>
              <a:endParaRPr/>
            </a:p>
          </p:txBody>
        </p:sp>
        <p:sp>
          <p:nvSpPr>
            <p:cNvPr id="5700" name="Google Shape;5700;p70"/>
            <p:cNvSpPr txBox="1"/>
            <p:nvPr/>
          </p:nvSpPr>
          <p:spPr>
            <a:xfrm>
              <a:off x="5209999" y="1308100"/>
              <a:ext cx="1786114" cy="61555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e-mail access</a:t>
              </a:r>
              <a:endParaRPr/>
            </a:p>
            <a:p>
              <a:pPr indent="0" lvl="0" marL="0" marR="0" rtl="0" algn="ctr">
                <a:lnSpc>
                  <a:spcPct val="85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protocol</a:t>
              </a:r>
              <a:endParaRPr b="0" i="0" sz="1800" u="none" cap="none" strike="noStrike">
                <a:solidFill>
                  <a:srgbClr val="CC0000"/>
                </a:solidFill>
                <a:latin typeface="Arial"/>
                <a:ea typeface="Arial"/>
                <a:cs typeface="Arial"/>
                <a:sym typeface="Arial"/>
              </a:endParaRPr>
            </a:p>
          </p:txBody>
        </p:sp>
        <p:sp>
          <p:nvSpPr>
            <p:cNvPr id="5701" name="Google Shape;5701;p70"/>
            <p:cNvSpPr txBox="1"/>
            <p:nvPr/>
          </p:nvSpPr>
          <p:spPr>
            <a:xfrm>
              <a:off x="4244880" y="2598738"/>
              <a:ext cx="1792478" cy="5355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receiver’s e-mail </a:t>
              </a:r>
              <a:endParaRPr/>
            </a:p>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server</a:t>
              </a:r>
              <a:endParaRPr b="0" i="0" sz="2400" u="none" cap="none" strike="noStrike">
                <a:solidFill>
                  <a:srgbClr val="000000"/>
                </a:solidFill>
                <a:latin typeface="Arial"/>
                <a:ea typeface="Arial"/>
                <a:cs typeface="Arial"/>
                <a:sym typeface="Arial"/>
              </a:endParaRPr>
            </a:p>
          </p:txBody>
        </p:sp>
        <p:grpSp>
          <p:nvGrpSpPr>
            <p:cNvPr id="5702" name="Google Shape;5702;p70"/>
            <p:cNvGrpSpPr/>
            <p:nvPr/>
          </p:nvGrpSpPr>
          <p:grpSpPr>
            <a:xfrm>
              <a:off x="4800600" y="2000250"/>
              <a:ext cx="809625" cy="561975"/>
              <a:chOff x="2070" y="2004"/>
              <a:chExt cx="510" cy="354"/>
            </a:xfrm>
          </p:grpSpPr>
          <p:sp>
            <p:nvSpPr>
              <p:cNvPr id="5703" name="Google Shape;5703;p70"/>
              <p:cNvSpPr/>
              <p:nvPr/>
            </p:nvSpPr>
            <p:spPr>
              <a:xfrm>
                <a:off x="2070" y="2004"/>
                <a:ext cx="510" cy="354"/>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sp>
            <p:nvSpPr>
              <p:cNvPr id="5704" name="Google Shape;5704;p70"/>
              <p:cNvSpPr/>
              <p:nvPr/>
            </p:nvSpPr>
            <p:spPr>
              <a:xfrm>
                <a:off x="2094" y="2076"/>
                <a:ext cx="450" cy="120"/>
              </a:xfrm>
              <a:prstGeom prst="rect">
                <a:avLst/>
              </a:prstGeom>
              <a:solidFill>
                <a:srgbClr val="00FF00"/>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cxnSp>
            <p:nvCxnSpPr>
              <p:cNvPr id="5705" name="Google Shape;5705;p70"/>
              <p:cNvCxnSpPr/>
              <p:nvPr/>
            </p:nvCxnSpPr>
            <p:spPr>
              <a:xfrm>
                <a:off x="2143" y="2104"/>
                <a:ext cx="0" cy="72"/>
              </a:xfrm>
              <a:prstGeom prst="straightConnector1">
                <a:avLst/>
              </a:prstGeom>
              <a:noFill/>
              <a:ln cap="flat" cmpd="sng" w="19050">
                <a:solidFill>
                  <a:srgbClr val="000000"/>
                </a:solidFill>
                <a:prstDash val="solid"/>
                <a:round/>
                <a:headEnd len="med" w="med" type="none"/>
                <a:tailEnd len="med" w="med" type="none"/>
              </a:ln>
            </p:spPr>
          </p:cxnSp>
          <p:cxnSp>
            <p:nvCxnSpPr>
              <p:cNvPr id="5706" name="Google Shape;5706;p70"/>
              <p:cNvCxnSpPr/>
              <p:nvPr/>
            </p:nvCxnSpPr>
            <p:spPr>
              <a:xfrm>
                <a:off x="2252" y="2103"/>
                <a:ext cx="0" cy="72"/>
              </a:xfrm>
              <a:prstGeom prst="straightConnector1">
                <a:avLst/>
              </a:prstGeom>
              <a:noFill/>
              <a:ln cap="flat" cmpd="sng" w="19050">
                <a:solidFill>
                  <a:srgbClr val="000000"/>
                </a:solidFill>
                <a:prstDash val="solid"/>
                <a:round/>
                <a:headEnd len="med" w="med" type="none"/>
                <a:tailEnd len="med" w="med" type="none"/>
              </a:ln>
            </p:spPr>
          </p:cxnSp>
          <p:cxnSp>
            <p:nvCxnSpPr>
              <p:cNvPr id="5707" name="Google Shape;5707;p70"/>
              <p:cNvCxnSpPr/>
              <p:nvPr/>
            </p:nvCxnSpPr>
            <p:spPr>
              <a:xfrm>
                <a:off x="2307" y="2105"/>
                <a:ext cx="0" cy="72"/>
              </a:xfrm>
              <a:prstGeom prst="straightConnector1">
                <a:avLst/>
              </a:prstGeom>
              <a:noFill/>
              <a:ln cap="flat" cmpd="sng" w="19050">
                <a:solidFill>
                  <a:srgbClr val="000000"/>
                </a:solidFill>
                <a:prstDash val="solid"/>
                <a:round/>
                <a:headEnd len="med" w="med" type="none"/>
                <a:tailEnd len="med" w="med" type="none"/>
              </a:ln>
            </p:spPr>
          </p:cxnSp>
          <p:cxnSp>
            <p:nvCxnSpPr>
              <p:cNvPr id="5708" name="Google Shape;5708;p70"/>
              <p:cNvCxnSpPr/>
              <p:nvPr/>
            </p:nvCxnSpPr>
            <p:spPr>
              <a:xfrm>
                <a:off x="2364" y="2103"/>
                <a:ext cx="0" cy="72"/>
              </a:xfrm>
              <a:prstGeom prst="straightConnector1">
                <a:avLst/>
              </a:prstGeom>
              <a:noFill/>
              <a:ln cap="flat" cmpd="sng" w="19050">
                <a:solidFill>
                  <a:srgbClr val="000000"/>
                </a:solidFill>
                <a:prstDash val="solid"/>
                <a:round/>
                <a:headEnd len="med" w="med" type="none"/>
                <a:tailEnd len="med" w="med" type="none"/>
              </a:ln>
            </p:spPr>
          </p:cxnSp>
          <p:cxnSp>
            <p:nvCxnSpPr>
              <p:cNvPr id="5709" name="Google Shape;5709;p70"/>
              <p:cNvCxnSpPr/>
              <p:nvPr/>
            </p:nvCxnSpPr>
            <p:spPr>
              <a:xfrm>
                <a:off x="2425" y="2103"/>
                <a:ext cx="0" cy="72"/>
              </a:xfrm>
              <a:prstGeom prst="straightConnector1">
                <a:avLst/>
              </a:prstGeom>
              <a:noFill/>
              <a:ln cap="flat" cmpd="sng" w="19050">
                <a:solidFill>
                  <a:srgbClr val="000000"/>
                </a:solidFill>
                <a:prstDash val="solid"/>
                <a:round/>
                <a:headEnd len="med" w="med" type="none"/>
                <a:tailEnd len="med" w="med" type="none"/>
              </a:ln>
            </p:spPr>
          </p:cxnSp>
          <p:cxnSp>
            <p:nvCxnSpPr>
              <p:cNvPr id="5710" name="Google Shape;5710;p70"/>
              <p:cNvCxnSpPr/>
              <p:nvPr/>
            </p:nvCxnSpPr>
            <p:spPr>
              <a:xfrm>
                <a:off x="2481" y="2103"/>
                <a:ext cx="0" cy="72"/>
              </a:xfrm>
              <a:prstGeom prst="straightConnector1">
                <a:avLst/>
              </a:prstGeom>
              <a:noFill/>
              <a:ln cap="flat" cmpd="sng" w="19050">
                <a:solidFill>
                  <a:srgbClr val="000000"/>
                </a:solidFill>
                <a:prstDash val="solid"/>
                <a:round/>
                <a:headEnd len="med" w="med" type="none"/>
                <a:tailEnd len="med" w="med" type="none"/>
              </a:ln>
            </p:spPr>
          </p:cxnSp>
          <p:cxnSp>
            <p:nvCxnSpPr>
              <p:cNvPr id="5711" name="Google Shape;5711;p70"/>
              <p:cNvCxnSpPr/>
              <p:nvPr/>
            </p:nvCxnSpPr>
            <p:spPr>
              <a:xfrm>
                <a:off x="2196" y="2104"/>
                <a:ext cx="0" cy="72"/>
              </a:xfrm>
              <a:prstGeom prst="straightConnector1">
                <a:avLst/>
              </a:prstGeom>
              <a:noFill/>
              <a:ln cap="flat" cmpd="sng" w="19050">
                <a:solidFill>
                  <a:srgbClr val="000000"/>
                </a:solidFill>
                <a:prstDash val="solid"/>
                <a:round/>
                <a:headEnd len="med" w="med" type="none"/>
                <a:tailEnd len="med" w="med" type="none"/>
              </a:ln>
            </p:spPr>
          </p:cxnSp>
          <p:sp>
            <p:nvSpPr>
              <p:cNvPr id="5712" name="Google Shape;5712;p70"/>
              <p:cNvSpPr/>
              <p:nvPr/>
            </p:nvSpPr>
            <p:spPr>
              <a:xfrm>
                <a:off x="2102" y="224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sp>
            <p:nvSpPr>
              <p:cNvPr id="5713" name="Google Shape;5713;p70"/>
              <p:cNvSpPr/>
              <p:nvPr/>
            </p:nvSpPr>
            <p:spPr>
              <a:xfrm>
                <a:off x="2188" y="2243"/>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sp>
            <p:nvSpPr>
              <p:cNvPr id="5714" name="Google Shape;5714;p70"/>
              <p:cNvSpPr/>
              <p:nvPr/>
            </p:nvSpPr>
            <p:spPr>
              <a:xfrm>
                <a:off x="2274" y="2242"/>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sp>
            <p:nvSpPr>
              <p:cNvPr id="5715" name="Google Shape;5715;p70"/>
              <p:cNvSpPr/>
              <p:nvPr/>
            </p:nvSpPr>
            <p:spPr>
              <a:xfrm>
                <a:off x="2371" y="224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sp>
            <p:nvSpPr>
              <p:cNvPr id="5716" name="Google Shape;5716;p70"/>
              <p:cNvSpPr/>
              <p:nvPr/>
            </p:nvSpPr>
            <p:spPr>
              <a:xfrm>
                <a:off x="2467" y="2240"/>
                <a:ext cx="64" cy="93"/>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Comic Sans MS"/>
                  <a:ea typeface="Comic Sans MS"/>
                  <a:cs typeface="Comic Sans MS"/>
                  <a:sym typeface="Comic Sans MS"/>
                </a:endParaRPr>
              </a:p>
            </p:txBody>
          </p:sp>
        </p:grpSp>
        <p:pic>
          <p:nvPicPr>
            <p:cNvPr descr="Alice" id="5717" name="Google Shape;5717;p70"/>
            <p:cNvPicPr preferRelativeResize="0"/>
            <p:nvPr/>
          </p:nvPicPr>
          <p:blipFill rotWithShape="1">
            <a:blip r:embed="rId3">
              <a:alphaModFix/>
            </a:blip>
            <a:srcRect b="0" l="0" r="0" t="0"/>
            <a:stretch/>
          </p:blipFill>
          <p:spPr>
            <a:xfrm>
              <a:off x="444500" y="1557338"/>
              <a:ext cx="561975" cy="693737"/>
            </a:xfrm>
            <a:prstGeom prst="rect">
              <a:avLst/>
            </a:prstGeom>
            <a:noFill/>
            <a:ln>
              <a:noFill/>
            </a:ln>
          </p:spPr>
        </p:pic>
        <p:pic>
          <p:nvPicPr>
            <p:cNvPr descr="Bob" id="5718" name="Google Shape;5718;p70"/>
            <p:cNvPicPr preferRelativeResize="0"/>
            <p:nvPr/>
          </p:nvPicPr>
          <p:blipFill rotWithShape="1">
            <a:blip r:embed="rId4">
              <a:alphaModFix/>
            </a:blip>
            <a:srcRect b="0" l="0" r="0" t="0"/>
            <a:stretch/>
          </p:blipFill>
          <p:spPr>
            <a:xfrm>
              <a:off x="8013700" y="1571625"/>
              <a:ext cx="676275" cy="690563"/>
            </a:xfrm>
            <a:prstGeom prst="rect">
              <a:avLst/>
            </a:prstGeom>
            <a:noFill/>
            <a:ln>
              <a:noFill/>
            </a:ln>
          </p:spPr>
        </p:pic>
        <p:cxnSp>
          <p:nvCxnSpPr>
            <p:cNvPr id="5719" name="Google Shape;5719;p70"/>
            <p:cNvCxnSpPr/>
            <p:nvPr/>
          </p:nvCxnSpPr>
          <p:spPr>
            <a:xfrm>
              <a:off x="2003425" y="1905000"/>
              <a:ext cx="903288" cy="0"/>
            </a:xfrm>
            <a:prstGeom prst="straightConnector1">
              <a:avLst/>
            </a:prstGeom>
            <a:noFill/>
            <a:ln cap="flat" cmpd="sng" w="28575">
              <a:solidFill>
                <a:srgbClr val="CC0000"/>
              </a:solidFill>
              <a:prstDash val="solid"/>
              <a:round/>
              <a:headEnd len="med" w="med" type="none"/>
              <a:tailEnd len="med" w="med" type="triangle"/>
            </a:ln>
          </p:spPr>
        </p:cxnSp>
        <p:cxnSp>
          <p:nvCxnSpPr>
            <p:cNvPr id="5720" name="Google Shape;5720;p70"/>
            <p:cNvCxnSpPr/>
            <p:nvPr/>
          </p:nvCxnSpPr>
          <p:spPr>
            <a:xfrm>
              <a:off x="3633788" y="1901825"/>
              <a:ext cx="903287" cy="0"/>
            </a:xfrm>
            <a:prstGeom prst="straightConnector1">
              <a:avLst/>
            </a:prstGeom>
            <a:noFill/>
            <a:ln cap="flat" cmpd="sng" w="28575">
              <a:solidFill>
                <a:srgbClr val="CC0000"/>
              </a:solidFill>
              <a:prstDash val="solid"/>
              <a:round/>
              <a:headEnd len="med" w="med" type="none"/>
              <a:tailEnd len="med" w="med" type="triangle"/>
            </a:ln>
          </p:spPr>
        </p:cxnSp>
        <p:cxnSp>
          <p:nvCxnSpPr>
            <p:cNvPr id="5721" name="Google Shape;5721;p70"/>
            <p:cNvCxnSpPr/>
            <p:nvPr/>
          </p:nvCxnSpPr>
          <p:spPr>
            <a:xfrm>
              <a:off x="5253038" y="1898650"/>
              <a:ext cx="1697037" cy="1588"/>
            </a:xfrm>
            <a:prstGeom prst="straightConnector1">
              <a:avLst/>
            </a:prstGeom>
            <a:noFill/>
            <a:ln cap="flat" cmpd="sng" w="28575">
              <a:solidFill>
                <a:srgbClr val="CC0000"/>
              </a:solidFill>
              <a:prstDash val="solid"/>
              <a:round/>
              <a:headEnd len="med" w="med" type="none"/>
              <a:tailEnd len="med" w="med" type="triangle"/>
            </a:ln>
          </p:spPr>
        </p:cxnSp>
        <p:sp>
          <p:nvSpPr>
            <p:cNvPr id="5722" name="Google Shape;5722;p70"/>
            <p:cNvSpPr txBox="1"/>
            <p:nvPr/>
          </p:nvSpPr>
          <p:spPr>
            <a:xfrm>
              <a:off x="5575478" y="1927225"/>
              <a:ext cx="1450797" cy="56323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800"/>
                <a:buFont typeface="Arial"/>
                <a:buNone/>
              </a:pPr>
              <a:r>
                <a:rPr b="0" i="1" lang="en-US" sz="1800" u="none" cap="none" strike="noStrike">
                  <a:solidFill>
                    <a:srgbClr val="CC0000"/>
                  </a:solidFill>
                  <a:latin typeface="Arial"/>
                  <a:ea typeface="Arial"/>
                  <a:cs typeface="Arial"/>
                  <a:sym typeface="Arial"/>
                </a:rPr>
                <a:t>(e.g.,</a:t>
              </a:r>
              <a:r>
                <a:rPr b="0" i="1" lang="en-US" sz="1600" u="none" cap="none" strike="noStrike">
                  <a:solidFill>
                    <a:srgbClr val="CC0000"/>
                  </a:solidFill>
                  <a:latin typeface="Arial"/>
                  <a:ea typeface="Arial"/>
                  <a:cs typeface="Arial"/>
                  <a:sym typeface="Arial"/>
                </a:rPr>
                <a:t> IMAP, HTTP</a:t>
              </a:r>
              <a:r>
                <a:rPr b="0" i="1" lang="en-US" sz="1800" u="none" cap="none" strike="noStrike">
                  <a:solidFill>
                    <a:srgbClr val="CC0000"/>
                  </a:solidFill>
                  <a:latin typeface="Arial"/>
                  <a:ea typeface="Arial"/>
                  <a:cs typeface="Arial"/>
                  <a:sym typeface="Arial"/>
                </a:rPr>
                <a:t>)</a:t>
              </a:r>
              <a:endParaRPr/>
            </a:p>
          </p:txBody>
        </p:sp>
        <p:grpSp>
          <p:nvGrpSpPr>
            <p:cNvPr id="5723" name="Google Shape;5723;p70"/>
            <p:cNvGrpSpPr/>
            <p:nvPr/>
          </p:nvGrpSpPr>
          <p:grpSpPr>
            <a:xfrm>
              <a:off x="1066800" y="1419225"/>
              <a:ext cx="912813" cy="1054100"/>
              <a:chOff x="3574" y="550"/>
              <a:chExt cx="575" cy="664"/>
            </a:xfrm>
          </p:grpSpPr>
          <p:grpSp>
            <p:nvGrpSpPr>
              <p:cNvPr id="5724" name="Google Shape;5724;p70"/>
              <p:cNvGrpSpPr/>
              <p:nvPr/>
            </p:nvGrpSpPr>
            <p:grpSpPr>
              <a:xfrm>
                <a:off x="3588" y="692"/>
                <a:ext cx="561" cy="522"/>
                <a:chOff x="-44" y="1473"/>
                <a:chExt cx="981" cy="1105"/>
              </a:xfrm>
            </p:grpSpPr>
            <p:pic>
              <p:nvPicPr>
                <p:cNvPr descr="desktop_computer_stylized_medium" id="5725" name="Google Shape;5725;p70"/>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5726" name="Google Shape;5726;p7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727" name="Google Shape;5727;p70"/>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728" name="Google Shape;5728;p70"/>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user</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agent</a:t>
                </a:r>
                <a:endParaRPr b="0" i="0" sz="2400" u="none" cap="none" strike="noStrike">
                  <a:solidFill>
                    <a:srgbClr val="000000"/>
                  </a:solidFill>
                  <a:latin typeface="Arial"/>
                  <a:ea typeface="Arial"/>
                  <a:cs typeface="Arial"/>
                  <a:sym typeface="Arial"/>
                </a:endParaRPr>
              </a:p>
            </p:txBody>
          </p:sp>
        </p:grpSp>
        <p:grpSp>
          <p:nvGrpSpPr>
            <p:cNvPr id="5729" name="Google Shape;5729;p70"/>
            <p:cNvGrpSpPr/>
            <p:nvPr/>
          </p:nvGrpSpPr>
          <p:grpSpPr>
            <a:xfrm>
              <a:off x="6967538" y="1422400"/>
              <a:ext cx="912812" cy="1054100"/>
              <a:chOff x="3574" y="550"/>
              <a:chExt cx="575" cy="664"/>
            </a:xfrm>
          </p:grpSpPr>
          <p:grpSp>
            <p:nvGrpSpPr>
              <p:cNvPr id="5730" name="Google Shape;5730;p70"/>
              <p:cNvGrpSpPr/>
              <p:nvPr/>
            </p:nvGrpSpPr>
            <p:grpSpPr>
              <a:xfrm>
                <a:off x="3588" y="692"/>
                <a:ext cx="561" cy="522"/>
                <a:chOff x="-44" y="1473"/>
                <a:chExt cx="981" cy="1105"/>
              </a:xfrm>
            </p:grpSpPr>
            <p:pic>
              <p:nvPicPr>
                <p:cNvPr descr="desktop_computer_stylized_medium" id="5731" name="Google Shape;5731;p70"/>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5732" name="Google Shape;5732;p7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733" name="Google Shape;5733;p70"/>
              <p:cNvSpPr/>
              <p:nvPr/>
            </p:nvSpPr>
            <p:spPr>
              <a:xfrm>
                <a:off x="3611" y="576"/>
                <a:ext cx="381" cy="330"/>
              </a:xfrm>
              <a:prstGeom prst="rect">
                <a:avLst/>
              </a:prstGeom>
              <a:solidFill>
                <a:srgbClr val="CCCC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734" name="Google Shape;5734;p70"/>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user</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agent</a:t>
                </a:r>
                <a:endParaRPr b="0" i="0" sz="2400" u="none" cap="none" strike="noStrike">
                  <a:solidFill>
                    <a:srgbClr val="000000"/>
                  </a:solidFill>
                  <a:latin typeface="Arial"/>
                  <a:ea typeface="Arial"/>
                  <a:cs typeface="Arial"/>
                  <a:sym typeface="Arial"/>
                </a:endParaRPr>
              </a:p>
            </p:txBody>
          </p:sp>
        </p:grpSp>
      </p:grpSp>
      <p:sp>
        <p:nvSpPr>
          <p:cNvPr id="5735" name="Google Shape;5735;p70"/>
          <p:cNvSpPr txBox="1"/>
          <p:nvPr/>
        </p:nvSpPr>
        <p:spPr>
          <a:xfrm>
            <a:off x="495235" y="3275154"/>
            <a:ext cx="11713029" cy="3150050"/>
          </a:xfrm>
          <a:prstGeom prst="rect">
            <a:avLst/>
          </a:prstGeom>
          <a:noFill/>
          <a:ln>
            <a:noFill/>
          </a:ln>
        </p:spPr>
        <p:txBody>
          <a:bodyPr anchorCtr="0" anchor="t" bIns="45700" lIns="91425" spcFirstLastPara="1" rIns="91425" wrap="square" tIns="45700">
            <a:no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lang="en-US" sz="2800">
                <a:solidFill>
                  <a:srgbClr val="CC0000"/>
                </a:solidFill>
                <a:latin typeface="Calibri"/>
                <a:ea typeface="Calibri"/>
                <a:cs typeface="Calibri"/>
                <a:sym typeface="Calibri"/>
              </a:rPr>
              <a:t>SMTP:</a:t>
            </a:r>
            <a:r>
              <a:rPr lang="en-US" sz="2800">
                <a:solidFill>
                  <a:schemeClr val="dk1"/>
                </a:solidFill>
                <a:latin typeface="Calibri"/>
                <a:ea typeface="Calibri"/>
                <a:cs typeface="Calibri"/>
                <a:sym typeface="Calibri"/>
              </a:rPr>
              <a:t> delivery/storage of e-mail messages to receiver’s server</a:t>
            </a:r>
            <a:endParaRPr/>
          </a:p>
          <a:p>
            <a:pPr indent="-222250" lvl="0" marL="352425" marR="0" rtl="0" algn="l">
              <a:lnSpc>
                <a:spcPct val="10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mail access protocol: retrieval from server</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CC0000"/>
                </a:solidFill>
                <a:latin typeface="Calibri"/>
                <a:ea typeface="Calibri"/>
                <a:cs typeface="Calibri"/>
                <a:sym typeface="Calibri"/>
              </a:rPr>
              <a:t>IMAP:</a:t>
            </a:r>
            <a:r>
              <a:rPr b="0" i="0" lang="en-US" sz="2400" u="none" cap="none" strike="noStrike">
                <a:solidFill>
                  <a:schemeClr val="dk1"/>
                </a:solidFill>
                <a:latin typeface="Calibri"/>
                <a:ea typeface="Calibri"/>
                <a:cs typeface="Calibri"/>
                <a:sym typeface="Calibri"/>
              </a:rPr>
              <a:t> Internet Mail Access Protocol [RFC 3501]: messages stored on server, IMAP provides retrieval, deletion, folders of stored messages on server</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CC0000"/>
                </a:solidFill>
                <a:latin typeface="Gill Sans"/>
                <a:ea typeface="Gill Sans"/>
                <a:cs typeface="Gill Sans"/>
                <a:sym typeface="Gill Sans"/>
              </a:rPr>
              <a:t>POP3:</a:t>
            </a:r>
            <a:r>
              <a:rPr b="0" i="0" lang="en-US" sz="2400" u="none" cap="none" strike="noStrike">
                <a:solidFill>
                  <a:schemeClr val="dk1"/>
                </a:solidFill>
                <a:latin typeface="Gill Sans"/>
                <a:ea typeface="Gill Sans"/>
                <a:cs typeface="Gill Sans"/>
                <a:sym typeface="Gill Sans"/>
              </a:rPr>
              <a:t> Post Office Protocol [RFC 1939]: authorization, download </a:t>
            </a:r>
            <a:endParaRPr b="0" i="0" sz="2400" u="none" cap="none" strike="noStrike">
              <a:solidFill>
                <a:schemeClr val="dk1"/>
              </a:solidFill>
              <a:latin typeface="Calibri"/>
              <a:ea typeface="Calibri"/>
              <a:cs typeface="Calibri"/>
              <a:sym typeface="Calibri"/>
            </a:endParaRPr>
          </a:p>
          <a:p>
            <a:pPr indent="-288925" lvl="0" marL="346075" marR="0" rtl="0" algn="l">
              <a:lnSpc>
                <a:spcPct val="100000"/>
              </a:lnSpc>
              <a:spcBef>
                <a:spcPts val="1000"/>
              </a:spcBef>
              <a:spcAft>
                <a:spcPts val="0"/>
              </a:spcAft>
              <a:buClr>
                <a:srgbClr val="0000A3"/>
              </a:buClr>
              <a:buSzPts val="2800"/>
              <a:buFont typeface="Noto Sans Symbols"/>
              <a:buChar char="▪"/>
            </a:pPr>
            <a:r>
              <a:rPr lang="en-US" sz="2800">
                <a:solidFill>
                  <a:srgbClr val="CC0000"/>
                </a:solidFill>
                <a:latin typeface="Calibri"/>
                <a:ea typeface="Calibri"/>
                <a:cs typeface="Calibri"/>
                <a:sym typeface="Calibri"/>
              </a:rPr>
              <a:t>HTTP (Web based Email):</a:t>
            </a:r>
            <a:r>
              <a:rPr lang="en-US" sz="2800">
                <a:solidFill>
                  <a:schemeClr val="dk1"/>
                </a:solidFill>
                <a:latin typeface="Calibri"/>
                <a:ea typeface="Calibri"/>
                <a:cs typeface="Calibri"/>
                <a:sym typeface="Calibri"/>
              </a:rPr>
              <a:t> gmail, Hotmail, Yahoo!Mail, etc. provides web-based interface on top of STMP (to send), IMAP (or POP3) to retrieve e-mail messages</a:t>
            </a:r>
            <a:endParaRPr/>
          </a:p>
          <a:p>
            <a:pPr indent="-92075" lvl="1" marL="695325" marR="0" rtl="0" algn="l">
              <a:lnSpc>
                <a:spcPct val="90000"/>
              </a:lnSpc>
              <a:spcBef>
                <a:spcPts val="500"/>
              </a:spcBef>
              <a:spcAft>
                <a:spcPts val="0"/>
              </a:spcAft>
              <a:buClr>
                <a:srgbClr val="0000A8"/>
              </a:buClr>
              <a:buSzPts val="2200"/>
              <a:buFont typeface="Arial"/>
              <a:buNone/>
            </a:pPr>
            <a:r>
              <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0" name="Shape 5740"/>
        <p:cNvGrpSpPr/>
        <p:nvPr/>
      </p:nvGrpSpPr>
      <p:grpSpPr>
        <a:xfrm>
          <a:off x="0" y="0"/>
          <a:ext cx="0" cy="0"/>
          <a:chOff x="0" y="0"/>
          <a:chExt cx="0" cy="0"/>
        </a:xfrm>
      </p:grpSpPr>
      <p:sp>
        <p:nvSpPr>
          <p:cNvPr id="5741" name="Google Shape;5741;p71"/>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Application Layer</a:t>
            </a:r>
            <a:endParaRPr sz="1200">
              <a:solidFill>
                <a:schemeClr val="dk1"/>
              </a:solidFill>
              <a:latin typeface="Tahoma"/>
              <a:ea typeface="Tahoma"/>
              <a:cs typeface="Tahoma"/>
              <a:sym typeface="Tahoma"/>
            </a:endParaRPr>
          </a:p>
        </p:txBody>
      </p:sp>
      <p:sp>
        <p:nvSpPr>
          <p:cNvPr id="5742" name="Google Shape;5742;p71"/>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5743" name="Google Shape;5743;p71"/>
          <p:cNvPicPr preferRelativeResize="0"/>
          <p:nvPr/>
        </p:nvPicPr>
        <p:blipFill rotWithShape="1">
          <a:blip r:embed="rId3">
            <a:alphaModFix/>
          </a:blip>
          <a:srcRect b="0" l="0" r="0" t="0"/>
          <a:stretch/>
        </p:blipFill>
        <p:spPr>
          <a:xfrm>
            <a:off x="2041526" y="963614"/>
            <a:ext cx="5027613" cy="173037"/>
          </a:xfrm>
          <a:prstGeom prst="rect">
            <a:avLst/>
          </a:prstGeom>
          <a:noFill/>
          <a:ln>
            <a:noFill/>
          </a:ln>
        </p:spPr>
      </p:pic>
      <p:sp>
        <p:nvSpPr>
          <p:cNvPr id="5744" name="Google Shape;5744;p71"/>
          <p:cNvSpPr txBox="1"/>
          <p:nvPr>
            <p:ph type="title"/>
          </p:nvPr>
        </p:nvSpPr>
        <p:spPr>
          <a:xfrm>
            <a:off x="2024063" y="255588"/>
            <a:ext cx="7772400" cy="8937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Gill Sans"/>
              <a:buNone/>
            </a:pPr>
            <a:r>
              <a:rPr lang="en-US">
                <a:latin typeface="Gill Sans"/>
                <a:ea typeface="Gill Sans"/>
                <a:cs typeface="Gill Sans"/>
                <a:sym typeface="Gill Sans"/>
              </a:rPr>
              <a:t>Mail access protocols</a:t>
            </a:r>
            <a:endParaRPr/>
          </a:p>
        </p:txBody>
      </p:sp>
      <p:pic>
        <p:nvPicPr>
          <p:cNvPr id="5745" name="Google Shape;5745;p71"/>
          <p:cNvPicPr preferRelativeResize="0"/>
          <p:nvPr/>
        </p:nvPicPr>
        <p:blipFill rotWithShape="1">
          <a:blip r:embed="rId4">
            <a:alphaModFix/>
          </a:blip>
          <a:srcRect b="0" l="0" r="0" t="0"/>
          <a:stretch/>
        </p:blipFill>
        <p:spPr>
          <a:xfrm>
            <a:off x="1606550" y="2451100"/>
            <a:ext cx="8978900" cy="1955800"/>
          </a:xfrm>
          <a:prstGeom prst="rect">
            <a:avLst/>
          </a:prstGeom>
          <a:noFill/>
          <a:ln>
            <a:noFill/>
          </a:ln>
        </p:spPr>
      </p:pic>
      <p:pic>
        <p:nvPicPr>
          <p:cNvPr descr="Puzzle with solid fill" id="5746" name="Google Shape;5746;p71"/>
          <p:cNvPicPr preferRelativeResize="0"/>
          <p:nvPr/>
        </p:nvPicPr>
        <p:blipFill rotWithShape="1">
          <a:blip r:embed="rId5">
            <a:alphaModFix/>
          </a:blip>
          <a:srcRect b="0" l="0" r="0" t="0"/>
          <a:stretch/>
        </p:blipFill>
        <p:spPr>
          <a:xfrm>
            <a:off x="9328150" y="423864"/>
            <a:ext cx="579438" cy="579437"/>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1" name="Shape 5751"/>
        <p:cNvGrpSpPr/>
        <p:nvPr/>
      </p:nvGrpSpPr>
      <p:grpSpPr>
        <a:xfrm>
          <a:off x="0" y="0"/>
          <a:ext cx="0" cy="0"/>
          <a:chOff x="0" y="0"/>
          <a:chExt cx="0" cy="0"/>
        </a:xfrm>
      </p:grpSpPr>
      <p:sp>
        <p:nvSpPr>
          <p:cNvPr id="5752" name="Google Shape;5752;p72"/>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Application Layer</a:t>
            </a:r>
            <a:endParaRPr sz="1200">
              <a:solidFill>
                <a:schemeClr val="dk1"/>
              </a:solidFill>
              <a:latin typeface="Tahoma"/>
              <a:ea typeface="Tahoma"/>
              <a:cs typeface="Tahoma"/>
              <a:sym typeface="Tahoma"/>
            </a:endParaRPr>
          </a:p>
        </p:txBody>
      </p:sp>
      <p:sp>
        <p:nvSpPr>
          <p:cNvPr id="5753" name="Google Shape;5753;p72"/>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5754" name="Google Shape;5754;p72"/>
          <p:cNvPicPr preferRelativeResize="0"/>
          <p:nvPr/>
        </p:nvPicPr>
        <p:blipFill rotWithShape="1">
          <a:blip r:embed="rId3">
            <a:alphaModFix/>
          </a:blip>
          <a:srcRect b="0" l="0" r="0" t="0"/>
          <a:stretch/>
        </p:blipFill>
        <p:spPr>
          <a:xfrm>
            <a:off x="1992314" y="858838"/>
            <a:ext cx="3317875" cy="163512"/>
          </a:xfrm>
          <a:prstGeom prst="rect">
            <a:avLst/>
          </a:prstGeom>
          <a:noFill/>
          <a:ln>
            <a:noFill/>
          </a:ln>
        </p:spPr>
      </p:pic>
      <p:sp>
        <p:nvSpPr>
          <p:cNvPr id="5755" name="Google Shape;5755;p72"/>
          <p:cNvSpPr txBox="1"/>
          <p:nvPr>
            <p:ph type="title"/>
          </p:nvPr>
        </p:nvSpPr>
        <p:spPr>
          <a:xfrm>
            <a:off x="1927225" y="131764"/>
            <a:ext cx="7772400" cy="9683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Gill Sans"/>
              <a:buNone/>
            </a:pPr>
            <a:r>
              <a:rPr lang="en-US" sz="4000">
                <a:latin typeface="Gill Sans"/>
                <a:ea typeface="Gill Sans"/>
                <a:cs typeface="Gill Sans"/>
                <a:sym typeface="Gill Sans"/>
              </a:rPr>
              <a:t>POP3 protocol</a:t>
            </a:r>
            <a:endParaRPr>
              <a:latin typeface="Gill Sans"/>
              <a:ea typeface="Gill Sans"/>
              <a:cs typeface="Gill Sans"/>
              <a:sym typeface="Gill Sans"/>
            </a:endParaRPr>
          </a:p>
        </p:txBody>
      </p:sp>
      <p:sp>
        <p:nvSpPr>
          <p:cNvPr id="5756" name="Google Shape;5756;p72"/>
          <p:cNvSpPr txBox="1"/>
          <p:nvPr>
            <p:ph idx="1" type="body"/>
          </p:nvPr>
        </p:nvSpPr>
        <p:spPr>
          <a:xfrm>
            <a:off x="2019301" y="1438275"/>
            <a:ext cx="3971925" cy="4648200"/>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2800"/>
              <a:buFont typeface="Noto Sans Symbols"/>
              <a:buNone/>
            </a:pPr>
            <a:r>
              <a:rPr i="1" lang="en-US">
                <a:solidFill>
                  <a:srgbClr val="CC0000"/>
                </a:solidFill>
                <a:latin typeface="Gill Sans"/>
                <a:ea typeface="Gill Sans"/>
                <a:cs typeface="Gill Sans"/>
                <a:sym typeface="Gill Sans"/>
              </a:rPr>
              <a:t>authorization phase</a:t>
            </a:r>
            <a:endParaRPr/>
          </a:p>
          <a:p>
            <a:pPr indent="-222250" lvl="0" marL="352425" rtl="0" algn="l">
              <a:lnSpc>
                <a:spcPct val="90000"/>
              </a:lnSpc>
              <a:spcBef>
                <a:spcPts val="1000"/>
              </a:spcBef>
              <a:spcAft>
                <a:spcPts val="0"/>
              </a:spcAft>
              <a:buSzPts val="2000"/>
              <a:buChar char="▪"/>
            </a:pPr>
            <a:r>
              <a:rPr lang="en-US" sz="2000">
                <a:latin typeface="Gill Sans"/>
                <a:ea typeface="Gill Sans"/>
                <a:cs typeface="Gill Sans"/>
                <a:sym typeface="Gill Sans"/>
              </a:rPr>
              <a:t>client commands: </a:t>
            </a:r>
            <a:endParaRPr/>
          </a:p>
          <a:p>
            <a:pPr indent="-231775" lvl="1" marL="695325" rtl="0" algn="l">
              <a:lnSpc>
                <a:spcPct val="90000"/>
              </a:lnSpc>
              <a:spcBef>
                <a:spcPts val="500"/>
              </a:spcBef>
              <a:spcAft>
                <a:spcPts val="0"/>
              </a:spcAft>
              <a:buSzPts val="2000"/>
              <a:buChar char="•"/>
            </a:pPr>
            <a:r>
              <a:rPr b="1" lang="en-US" sz="2000">
                <a:latin typeface="Courier New"/>
                <a:ea typeface="Courier New"/>
                <a:cs typeface="Courier New"/>
                <a:sym typeface="Courier New"/>
              </a:rPr>
              <a:t>user:</a:t>
            </a:r>
            <a:r>
              <a:rPr lang="en-US" sz="2000">
                <a:latin typeface="Gill Sans"/>
                <a:ea typeface="Gill Sans"/>
                <a:cs typeface="Gill Sans"/>
                <a:sym typeface="Gill Sans"/>
              </a:rPr>
              <a:t> declare username</a:t>
            </a:r>
            <a:endParaRPr/>
          </a:p>
          <a:p>
            <a:pPr indent="-231775" lvl="1" marL="695325" rtl="0" algn="l">
              <a:lnSpc>
                <a:spcPct val="90000"/>
              </a:lnSpc>
              <a:spcBef>
                <a:spcPts val="500"/>
              </a:spcBef>
              <a:spcAft>
                <a:spcPts val="0"/>
              </a:spcAft>
              <a:buSzPts val="2000"/>
              <a:buChar char="•"/>
            </a:pPr>
            <a:r>
              <a:rPr b="1" lang="en-US" sz="2000">
                <a:latin typeface="Courier New"/>
                <a:ea typeface="Courier New"/>
                <a:cs typeface="Courier New"/>
                <a:sym typeface="Courier New"/>
              </a:rPr>
              <a:t>pass:</a:t>
            </a:r>
            <a:r>
              <a:rPr lang="en-US" sz="2000">
                <a:latin typeface="Gill Sans"/>
                <a:ea typeface="Gill Sans"/>
                <a:cs typeface="Gill Sans"/>
                <a:sym typeface="Gill Sans"/>
              </a:rPr>
              <a:t> password</a:t>
            </a:r>
            <a:endParaRPr/>
          </a:p>
          <a:p>
            <a:pPr indent="-222250" lvl="0" marL="352425" rtl="0" algn="l">
              <a:lnSpc>
                <a:spcPct val="90000"/>
              </a:lnSpc>
              <a:spcBef>
                <a:spcPts val="1000"/>
              </a:spcBef>
              <a:spcAft>
                <a:spcPts val="0"/>
              </a:spcAft>
              <a:buSzPts val="2000"/>
              <a:buChar char="▪"/>
            </a:pPr>
            <a:r>
              <a:rPr lang="en-US" sz="2000">
                <a:latin typeface="Gill Sans"/>
                <a:ea typeface="Gill Sans"/>
                <a:cs typeface="Gill Sans"/>
                <a:sym typeface="Gill Sans"/>
              </a:rPr>
              <a:t>server responses</a:t>
            </a:r>
            <a:endParaRPr/>
          </a:p>
          <a:p>
            <a:pPr indent="-231775" lvl="1" marL="695325" rtl="0" algn="l">
              <a:lnSpc>
                <a:spcPct val="90000"/>
              </a:lnSpc>
              <a:spcBef>
                <a:spcPts val="500"/>
              </a:spcBef>
              <a:spcAft>
                <a:spcPts val="0"/>
              </a:spcAft>
              <a:buSzPts val="2000"/>
              <a:buChar char="•"/>
            </a:pPr>
            <a:r>
              <a:rPr b="1" lang="en-US" sz="2000">
                <a:latin typeface="Courier New"/>
                <a:ea typeface="Courier New"/>
                <a:cs typeface="Courier New"/>
                <a:sym typeface="Courier New"/>
              </a:rPr>
              <a:t>+OK</a:t>
            </a:r>
            <a:endParaRPr/>
          </a:p>
          <a:p>
            <a:pPr indent="-231775" lvl="1" marL="695325" rtl="0" algn="l">
              <a:lnSpc>
                <a:spcPct val="90000"/>
              </a:lnSpc>
              <a:spcBef>
                <a:spcPts val="500"/>
              </a:spcBef>
              <a:spcAft>
                <a:spcPts val="0"/>
              </a:spcAft>
              <a:buSzPts val="2000"/>
              <a:buChar char="•"/>
            </a:pPr>
            <a:r>
              <a:rPr b="1" lang="en-US" sz="2000">
                <a:latin typeface="Courier New"/>
                <a:ea typeface="Courier New"/>
                <a:cs typeface="Courier New"/>
                <a:sym typeface="Courier New"/>
              </a:rPr>
              <a:t>-ERR</a:t>
            </a:r>
            <a:endParaRPr sz="1800">
              <a:latin typeface="Gill Sans"/>
              <a:ea typeface="Gill Sans"/>
              <a:cs typeface="Gill Sans"/>
              <a:sym typeface="Gill Sans"/>
            </a:endParaRPr>
          </a:p>
          <a:p>
            <a:pPr indent="-222250" lvl="0" marL="352425" rtl="0" algn="l">
              <a:lnSpc>
                <a:spcPct val="90000"/>
              </a:lnSpc>
              <a:spcBef>
                <a:spcPts val="1000"/>
              </a:spcBef>
              <a:spcAft>
                <a:spcPts val="0"/>
              </a:spcAft>
              <a:buSzPts val="2800"/>
              <a:buFont typeface="Noto Sans Symbols"/>
              <a:buNone/>
            </a:pPr>
            <a:r>
              <a:rPr i="1" lang="en-US">
                <a:solidFill>
                  <a:srgbClr val="CC0000"/>
                </a:solidFill>
                <a:latin typeface="Gill Sans"/>
                <a:ea typeface="Gill Sans"/>
                <a:cs typeface="Gill Sans"/>
                <a:sym typeface="Gill Sans"/>
              </a:rPr>
              <a:t>transaction phase,</a:t>
            </a:r>
            <a:r>
              <a:rPr lang="en-US" sz="2400">
                <a:solidFill>
                  <a:srgbClr val="FF0000"/>
                </a:solidFill>
                <a:latin typeface="Gill Sans"/>
                <a:ea typeface="Gill Sans"/>
                <a:cs typeface="Gill Sans"/>
                <a:sym typeface="Gill Sans"/>
              </a:rPr>
              <a:t> </a:t>
            </a:r>
            <a:r>
              <a:rPr lang="en-US" sz="2400">
                <a:solidFill>
                  <a:schemeClr val="dk2"/>
                </a:solidFill>
                <a:latin typeface="Gill Sans"/>
                <a:ea typeface="Gill Sans"/>
                <a:cs typeface="Gill Sans"/>
                <a:sym typeface="Gill Sans"/>
              </a:rPr>
              <a:t>client:</a:t>
            </a:r>
            <a:endParaRPr sz="2400">
              <a:latin typeface="Gill Sans"/>
              <a:ea typeface="Gill Sans"/>
              <a:cs typeface="Gill Sans"/>
              <a:sym typeface="Gill Sans"/>
            </a:endParaRPr>
          </a:p>
          <a:p>
            <a:pPr indent="-222250" lvl="0" marL="352425" rtl="0" algn="l">
              <a:lnSpc>
                <a:spcPct val="90000"/>
              </a:lnSpc>
              <a:spcBef>
                <a:spcPts val="1000"/>
              </a:spcBef>
              <a:spcAft>
                <a:spcPts val="0"/>
              </a:spcAft>
              <a:buSzPts val="2000"/>
              <a:buChar char="▪"/>
            </a:pPr>
            <a:r>
              <a:rPr b="1" lang="en-US" sz="2000">
                <a:latin typeface="Courier New"/>
                <a:ea typeface="Courier New"/>
                <a:cs typeface="Courier New"/>
                <a:sym typeface="Courier New"/>
              </a:rPr>
              <a:t>list:</a:t>
            </a:r>
            <a:r>
              <a:rPr lang="en-US" sz="2000">
                <a:latin typeface="Gill Sans"/>
                <a:ea typeface="Gill Sans"/>
                <a:cs typeface="Gill Sans"/>
                <a:sym typeface="Gill Sans"/>
              </a:rPr>
              <a:t> list message numbers</a:t>
            </a:r>
            <a:endParaRPr/>
          </a:p>
          <a:p>
            <a:pPr indent="-222250" lvl="0" marL="352425" rtl="0" algn="l">
              <a:lnSpc>
                <a:spcPct val="90000"/>
              </a:lnSpc>
              <a:spcBef>
                <a:spcPts val="1000"/>
              </a:spcBef>
              <a:spcAft>
                <a:spcPts val="0"/>
              </a:spcAft>
              <a:buSzPts val="2000"/>
              <a:buChar char="▪"/>
            </a:pPr>
            <a:r>
              <a:rPr b="1" lang="en-US" sz="2000">
                <a:latin typeface="Courier New"/>
                <a:ea typeface="Courier New"/>
                <a:cs typeface="Courier New"/>
                <a:sym typeface="Courier New"/>
              </a:rPr>
              <a:t>retr:</a:t>
            </a:r>
            <a:r>
              <a:rPr lang="en-US" sz="2000">
                <a:latin typeface="Gill Sans"/>
                <a:ea typeface="Gill Sans"/>
                <a:cs typeface="Gill Sans"/>
                <a:sym typeface="Gill Sans"/>
              </a:rPr>
              <a:t> retrieve message by number</a:t>
            </a:r>
            <a:endParaRPr/>
          </a:p>
          <a:p>
            <a:pPr indent="-222250" lvl="0" marL="352425" rtl="0" algn="l">
              <a:lnSpc>
                <a:spcPct val="90000"/>
              </a:lnSpc>
              <a:spcBef>
                <a:spcPts val="1000"/>
              </a:spcBef>
              <a:spcAft>
                <a:spcPts val="0"/>
              </a:spcAft>
              <a:buSzPts val="2000"/>
              <a:buChar char="▪"/>
            </a:pPr>
            <a:r>
              <a:rPr b="1" lang="en-US" sz="2000">
                <a:latin typeface="Courier New"/>
                <a:ea typeface="Courier New"/>
                <a:cs typeface="Courier New"/>
                <a:sym typeface="Courier New"/>
              </a:rPr>
              <a:t>dele:</a:t>
            </a:r>
            <a:r>
              <a:rPr lang="en-US" sz="2000">
                <a:latin typeface="Gill Sans"/>
                <a:ea typeface="Gill Sans"/>
                <a:cs typeface="Gill Sans"/>
                <a:sym typeface="Gill Sans"/>
              </a:rPr>
              <a:t> delete</a:t>
            </a:r>
            <a:endParaRPr/>
          </a:p>
          <a:p>
            <a:pPr indent="-222250" lvl="0" marL="352425" rtl="0" algn="l">
              <a:lnSpc>
                <a:spcPct val="90000"/>
              </a:lnSpc>
              <a:spcBef>
                <a:spcPts val="1000"/>
              </a:spcBef>
              <a:spcAft>
                <a:spcPts val="0"/>
              </a:spcAft>
              <a:buSzPts val="2000"/>
              <a:buChar char="▪"/>
            </a:pPr>
            <a:r>
              <a:rPr b="1" lang="en-US" sz="2000">
                <a:latin typeface="Courier New"/>
                <a:ea typeface="Courier New"/>
                <a:cs typeface="Courier New"/>
                <a:sym typeface="Courier New"/>
              </a:rPr>
              <a:t>quit</a:t>
            </a:r>
            <a:endParaRPr sz="2000">
              <a:latin typeface="Gill Sans"/>
              <a:ea typeface="Gill Sans"/>
              <a:cs typeface="Gill Sans"/>
              <a:sym typeface="Gill Sans"/>
            </a:endParaRPr>
          </a:p>
        </p:txBody>
      </p:sp>
      <p:sp>
        <p:nvSpPr>
          <p:cNvPr id="5757" name="Google Shape;5757;p72"/>
          <p:cNvSpPr txBox="1"/>
          <p:nvPr/>
        </p:nvSpPr>
        <p:spPr>
          <a:xfrm>
            <a:off x="5864225" y="2309813"/>
            <a:ext cx="4324350" cy="4062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lang="en-US" sz="2400">
                <a:solidFill>
                  <a:schemeClr val="dk1"/>
                </a:solidFill>
                <a:latin typeface="Times New Roman"/>
                <a:ea typeface="Times New Roman"/>
                <a:cs typeface="Times New Roman"/>
                <a:sym typeface="Times New Roman"/>
              </a:rPr>
              <a:t>         </a:t>
            </a:r>
            <a:r>
              <a:rPr b="1" lang="en-US" sz="1800">
                <a:solidFill>
                  <a:schemeClr val="dk1"/>
                </a:solidFill>
                <a:latin typeface="Courier New"/>
                <a:ea typeface="Courier New"/>
                <a:cs typeface="Courier New"/>
                <a:sym typeface="Courier New"/>
              </a:rPr>
              <a:t>C: list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     S: 1 498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     S: 2 912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     S: .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     C: retr 1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     S: &lt;message 1 contents&gt;</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     S: .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     C: dele 1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     C: retr 2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     S: &lt;message 1 contents&gt;</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     S: .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     C: dele 2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     C: quit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     S: +OK </a:t>
            </a:r>
            <a:r>
              <a:rPr b="1" lang="en-US" sz="1400">
                <a:solidFill>
                  <a:schemeClr val="dk1"/>
                </a:solidFill>
                <a:latin typeface="Courier New"/>
                <a:ea typeface="Courier New"/>
                <a:cs typeface="Courier New"/>
                <a:sym typeface="Courier New"/>
              </a:rPr>
              <a:t>POP3 server signing off</a:t>
            </a:r>
            <a:endParaRPr b="1" sz="1800">
              <a:solidFill>
                <a:schemeClr val="dk1"/>
              </a:solidFill>
              <a:latin typeface="Courier New"/>
              <a:ea typeface="Courier New"/>
              <a:cs typeface="Courier New"/>
              <a:sym typeface="Courier New"/>
            </a:endParaRPr>
          </a:p>
        </p:txBody>
      </p:sp>
      <p:sp>
        <p:nvSpPr>
          <p:cNvPr id="5758" name="Google Shape;5758;p72"/>
          <p:cNvSpPr txBox="1"/>
          <p:nvPr/>
        </p:nvSpPr>
        <p:spPr>
          <a:xfrm>
            <a:off x="6513513" y="590550"/>
            <a:ext cx="3981450" cy="173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t/>
            </a:r>
            <a:endParaRPr b="1" sz="18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S: +OK POP3 server ready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C: user bob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S: +OK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C: pass hungry </a:t>
            </a:r>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chemeClr val="dk1"/>
                </a:solidFill>
                <a:latin typeface="Courier New"/>
                <a:ea typeface="Courier New"/>
                <a:cs typeface="Courier New"/>
                <a:sym typeface="Courier New"/>
              </a:rPr>
              <a:t>S: +OK</a:t>
            </a:r>
            <a:r>
              <a:rPr b="1" lang="en-US" sz="1400">
                <a:solidFill>
                  <a:schemeClr val="dk1"/>
                </a:solidFill>
                <a:latin typeface="Courier New"/>
                <a:ea typeface="Courier New"/>
                <a:cs typeface="Courier New"/>
                <a:sym typeface="Courier New"/>
              </a:rPr>
              <a:t> user successfully logged on</a:t>
            </a:r>
            <a:endParaRPr sz="2400">
              <a:solidFill>
                <a:schemeClr val="dk1"/>
              </a:solidFill>
              <a:latin typeface="Times New Roman"/>
              <a:ea typeface="Times New Roman"/>
              <a:cs typeface="Times New Roman"/>
              <a:sym typeface="Times New Roman"/>
            </a:endParaRPr>
          </a:p>
        </p:txBody>
      </p:sp>
      <p:sp>
        <p:nvSpPr>
          <p:cNvPr id="5759" name="Google Shape;5759;p72"/>
          <p:cNvSpPr/>
          <p:nvPr/>
        </p:nvSpPr>
        <p:spPr>
          <a:xfrm>
            <a:off x="6496051" y="847726"/>
            <a:ext cx="371475" cy="1457325"/>
          </a:xfrm>
          <a:custGeom>
            <a:rect b="b" l="l" r="r" t="t"/>
            <a:pathLst>
              <a:path extrusionOk="0" h="918" w="234">
                <a:moveTo>
                  <a:pt x="234" y="0"/>
                </a:moveTo>
                <a:lnTo>
                  <a:pt x="0" y="0"/>
                </a:lnTo>
                <a:lnTo>
                  <a:pt x="0" y="918"/>
                </a:lnTo>
                <a:lnTo>
                  <a:pt x="228" y="918"/>
                </a:lnTo>
              </a:path>
            </a:pathLst>
          </a:custGeom>
          <a:noFill/>
          <a:ln cap="flat" cmpd="sng" w="19050">
            <a:solidFill>
              <a:srgbClr val="FF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5760" name="Google Shape;5760;p72"/>
          <p:cNvCxnSpPr/>
          <p:nvPr/>
        </p:nvCxnSpPr>
        <p:spPr>
          <a:xfrm flipH="1" rot="10800000">
            <a:off x="5010151" y="1449389"/>
            <a:ext cx="1400175" cy="238125"/>
          </a:xfrm>
          <a:prstGeom prst="straightConnector1">
            <a:avLst/>
          </a:prstGeom>
          <a:noFill/>
          <a:ln cap="flat" cmpd="sng" w="19050">
            <a:solidFill>
              <a:srgbClr val="CC0000"/>
            </a:solidFill>
            <a:prstDash val="solid"/>
            <a:round/>
            <a:headEnd len="med" w="med" type="none"/>
            <a:tailEnd len="med" w="med" type="triangle"/>
          </a:ln>
        </p:spPr>
      </p:cxnSp>
      <p:sp>
        <p:nvSpPr>
          <p:cNvPr id="5761" name="Google Shape;5761;p72"/>
          <p:cNvSpPr/>
          <p:nvPr/>
        </p:nvSpPr>
        <p:spPr>
          <a:xfrm>
            <a:off x="6497639" y="2428876"/>
            <a:ext cx="371475" cy="3895725"/>
          </a:xfrm>
          <a:custGeom>
            <a:rect b="b" l="l" r="r" t="t"/>
            <a:pathLst>
              <a:path extrusionOk="0" h="918" w="234">
                <a:moveTo>
                  <a:pt x="234" y="0"/>
                </a:moveTo>
                <a:lnTo>
                  <a:pt x="0" y="0"/>
                </a:lnTo>
                <a:lnTo>
                  <a:pt x="0" y="918"/>
                </a:lnTo>
                <a:lnTo>
                  <a:pt x="228" y="918"/>
                </a:lnTo>
              </a:path>
            </a:pathLst>
          </a:custGeom>
          <a:noFill/>
          <a:ln cap="flat" cmpd="sng" w="19050">
            <a:solidFill>
              <a:srgbClr val="CC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5762" name="Google Shape;5762;p72"/>
          <p:cNvCxnSpPr/>
          <p:nvPr/>
        </p:nvCxnSpPr>
        <p:spPr>
          <a:xfrm flipH="1" rot="10800000">
            <a:off x="4676775" y="3941763"/>
            <a:ext cx="1733550" cy="323850"/>
          </a:xfrm>
          <a:prstGeom prst="straightConnector1">
            <a:avLst/>
          </a:prstGeom>
          <a:noFill/>
          <a:ln cap="flat" cmpd="sng" w="19050">
            <a:solidFill>
              <a:srgbClr val="CC0000"/>
            </a:solidFill>
            <a:prstDash val="solid"/>
            <a:round/>
            <a:headEnd len="med" w="med" type="none"/>
            <a:tailEnd len="med" w="med" type="triangle"/>
          </a:ln>
        </p:spPr>
      </p:cxn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7" name="Shape 5767"/>
        <p:cNvGrpSpPr/>
        <p:nvPr/>
      </p:nvGrpSpPr>
      <p:grpSpPr>
        <a:xfrm>
          <a:off x="0" y="0"/>
          <a:ext cx="0" cy="0"/>
          <a:chOff x="0" y="0"/>
          <a:chExt cx="0" cy="0"/>
        </a:xfrm>
      </p:grpSpPr>
      <p:sp>
        <p:nvSpPr>
          <p:cNvPr id="5768" name="Google Shape;5768;p73"/>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Application Layer</a:t>
            </a:r>
            <a:endParaRPr sz="1200">
              <a:solidFill>
                <a:schemeClr val="dk1"/>
              </a:solidFill>
              <a:latin typeface="Tahoma"/>
              <a:ea typeface="Tahoma"/>
              <a:cs typeface="Tahoma"/>
              <a:sym typeface="Tahoma"/>
            </a:endParaRPr>
          </a:p>
        </p:txBody>
      </p:sp>
      <p:sp>
        <p:nvSpPr>
          <p:cNvPr id="5769" name="Google Shape;5769;p73"/>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5770" name="Google Shape;5770;p73"/>
          <p:cNvPicPr preferRelativeResize="0"/>
          <p:nvPr/>
        </p:nvPicPr>
        <p:blipFill rotWithShape="1">
          <a:blip r:embed="rId3">
            <a:alphaModFix/>
          </a:blip>
          <a:srcRect b="0" l="0" r="0" t="0"/>
          <a:stretch/>
        </p:blipFill>
        <p:spPr>
          <a:xfrm>
            <a:off x="1952626" y="957264"/>
            <a:ext cx="5942013" cy="173037"/>
          </a:xfrm>
          <a:prstGeom prst="rect">
            <a:avLst/>
          </a:prstGeom>
          <a:noFill/>
          <a:ln>
            <a:noFill/>
          </a:ln>
        </p:spPr>
      </p:pic>
      <p:sp>
        <p:nvSpPr>
          <p:cNvPr id="5771" name="Google Shape;5771;p73"/>
          <p:cNvSpPr txBox="1"/>
          <p:nvPr>
            <p:ph type="title"/>
          </p:nvPr>
        </p:nvSpPr>
        <p:spPr>
          <a:xfrm>
            <a:off x="1905000" y="293689"/>
            <a:ext cx="7772400" cy="79533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Gill Sans"/>
              <a:buNone/>
            </a:pPr>
            <a:r>
              <a:rPr lang="en-US">
                <a:latin typeface="Gill Sans"/>
                <a:ea typeface="Gill Sans"/>
                <a:cs typeface="Gill Sans"/>
                <a:sym typeface="Gill Sans"/>
              </a:rPr>
              <a:t>POP3 and IMAP</a:t>
            </a:r>
            <a:endParaRPr/>
          </a:p>
        </p:txBody>
      </p:sp>
      <p:sp>
        <p:nvSpPr>
          <p:cNvPr id="5772" name="Google Shape;5772;p73"/>
          <p:cNvSpPr txBox="1"/>
          <p:nvPr>
            <p:ph idx="1" type="body"/>
          </p:nvPr>
        </p:nvSpPr>
        <p:spPr>
          <a:xfrm>
            <a:off x="2044700" y="1343025"/>
            <a:ext cx="3810000" cy="464820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Font typeface="Noto Sans Symbols"/>
              <a:buNone/>
            </a:pPr>
            <a:r>
              <a:rPr i="1" lang="en-US">
                <a:solidFill>
                  <a:srgbClr val="CC0000"/>
                </a:solidFill>
                <a:latin typeface="Gill Sans"/>
                <a:ea typeface="Gill Sans"/>
                <a:cs typeface="Gill Sans"/>
                <a:sym typeface="Gill Sans"/>
              </a:rPr>
              <a:t>more about POP3</a:t>
            </a:r>
            <a:endParaRPr/>
          </a:p>
          <a:p>
            <a:pPr indent="-222250" lvl="0" marL="352425" rtl="0" algn="l">
              <a:lnSpc>
                <a:spcPct val="90000"/>
              </a:lnSpc>
              <a:spcBef>
                <a:spcPts val="1000"/>
              </a:spcBef>
              <a:spcAft>
                <a:spcPts val="0"/>
              </a:spcAft>
              <a:buSzPts val="2400"/>
              <a:buChar char="▪"/>
            </a:pPr>
            <a:r>
              <a:rPr lang="en-US" sz="2400">
                <a:latin typeface="Gill Sans"/>
                <a:ea typeface="Gill Sans"/>
                <a:cs typeface="Gill Sans"/>
                <a:sym typeface="Gill Sans"/>
              </a:rPr>
              <a:t>previous example uses POP3 “download and delete” mode</a:t>
            </a:r>
            <a:endParaRPr/>
          </a:p>
          <a:p>
            <a:pPr indent="-231775" lvl="1" marL="695325" rtl="0" algn="l">
              <a:lnSpc>
                <a:spcPct val="90000"/>
              </a:lnSpc>
              <a:spcBef>
                <a:spcPts val="500"/>
              </a:spcBef>
              <a:spcAft>
                <a:spcPts val="0"/>
              </a:spcAft>
              <a:buSzPts val="2400"/>
              <a:buChar char="•"/>
            </a:pPr>
            <a:r>
              <a:rPr lang="en-US">
                <a:latin typeface="Gill Sans"/>
                <a:ea typeface="Gill Sans"/>
                <a:cs typeface="Gill Sans"/>
                <a:sym typeface="Gill Sans"/>
              </a:rPr>
              <a:t>Bob cannot re-read e-mail if he changes client</a:t>
            </a:r>
            <a:endParaRPr/>
          </a:p>
          <a:p>
            <a:pPr indent="-222250" lvl="0" marL="352425" rtl="0" algn="l">
              <a:lnSpc>
                <a:spcPct val="90000"/>
              </a:lnSpc>
              <a:spcBef>
                <a:spcPts val="1000"/>
              </a:spcBef>
              <a:spcAft>
                <a:spcPts val="0"/>
              </a:spcAft>
              <a:buSzPts val="2400"/>
              <a:buChar char="▪"/>
            </a:pPr>
            <a:r>
              <a:rPr lang="en-US" sz="2400">
                <a:latin typeface="Gill Sans"/>
                <a:ea typeface="Gill Sans"/>
                <a:cs typeface="Gill Sans"/>
                <a:sym typeface="Gill Sans"/>
              </a:rPr>
              <a:t>POP3 “download-and-keep”: copies of messages on different clients</a:t>
            </a:r>
            <a:endParaRPr/>
          </a:p>
          <a:p>
            <a:pPr indent="-222250" lvl="0" marL="352425" rtl="0" algn="l">
              <a:lnSpc>
                <a:spcPct val="90000"/>
              </a:lnSpc>
              <a:spcBef>
                <a:spcPts val="1000"/>
              </a:spcBef>
              <a:spcAft>
                <a:spcPts val="0"/>
              </a:spcAft>
              <a:buSzPts val="2400"/>
              <a:buChar char="▪"/>
            </a:pPr>
            <a:r>
              <a:rPr lang="en-US" sz="2400">
                <a:latin typeface="Gill Sans"/>
                <a:ea typeface="Gill Sans"/>
                <a:cs typeface="Gill Sans"/>
                <a:sym typeface="Gill Sans"/>
              </a:rPr>
              <a:t>POP3 is stateless across sessions</a:t>
            </a:r>
            <a:endParaRPr/>
          </a:p>
        </p:txBody>
      </p:sp>
      <p:sp>
        <p:nvSpPr>
          <p:cNvPr id="5773" name="Google Shape;5773;p73"/>
          <p:cNvSpPr txBox="1"/>
          <p:nvPr>
            <p:ph idx="2" type="body"/>
          </p:nvPr>
        </p:nvSpPr>
        <p:spPr>
          <a:xfrm>
            <a:off x="6007100" y="1381125"/>
            <a:ext cx="3810000" cy="464820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Font typeface="Noto Sans Symbols"/>
              <a:buNone/>
            </a:pPr>
            <a:r>
              <a:rPr i="1" lang="en-US">
                <a:solidFill>
                  <a:srgbClr val="CC0000"/>
                </a:solidFill>
                <a:latin typeface="Gill Sans"/>
                <a:ea typeface="Gill Sans"/>
                <a:cs typeface="Gill Sans"/>
                <a:sym typeface="Gill Sans"/>
              </a:rPr>
              <a:t>IMAP</a:t>
            </a:r>
            <a:endParaRPr/>
          </a:p>
          <a:p>
            <a:pPr indent="-222250" lvl="0" marL="352425" rtl="0" algn="l">
              <a:lnSpc>
                <a:spcPct val="90000"/>
              </a:lnSpc>
              <a:spcBef>
                <a:spcPts val="1000"/>
              </a:spcBef>
              <a:spcAft>
                <a:spcPts val="0"/>
              </a:spcAft>
              <a:buSzPts val="2400"/>
              <a:buChar char="▪"/>
            </a:pPr>
            <a:r>
              <a:rPr lang="en-US" sz="2400">
                <a:latin typeface="Gill Sans"/>
                <a:ea typeface="Gill Sans"/>
                <a:cs typeface="Gill Sans"/>
                <a:sym typeface="Gill Sans"/>
              </a:rPr>
              <a:t>keeps all messages in one place: at server</a:t>
            </a:r>
            <a:endParaRPr/>
          </a:p>
          <a:p>
            <a:pPr indent="-222250" lvl="0" marL="352425" rtl="0" algn="l">
              <a:lnSpc>
                <a:spcPct val="90000"/>
              </a:lnSpc>
              <a:spcBef>
                <a:spcPts val="1000"/>
              </a:spcBef>
              <a:spcAft>
                <a:spcPts val="0"/>
              </a:spcAft>
              <a:buSzPts val="2400"/>
              <a:buChar char="▪"/>
            </a:pPr>
            <a:r>
              <a:rPr lang="en-US" sz="2400">
                <a:latin typeface="Gill Sans"/>
                <a:ea typeface="Gill Sans"/>
                <a:cs typeface="Gill Sans"/>
                <a:sym typeface="Gill Sans"/>
              </a:rPr>
              <a:t>allows user to organize messages in folders</a:t>
            </a:r>
            <a:endParaRPr/>
          </a:p>
          <a:p>
            <a:pPr indent="-222250" lvl="0" marL="352425" rtl="0" algn="l">
              <a:lnSpc>
                <a:spcPct val="90000"/>
              </a:lnSpc>
              <a:spcBef>
                <a:spcPts val="1000"/>
              </a:spcBef>
              <a:spcAft>
                <a:spcPts val="0"/>
              </a:spcAft>
              <a:buSzPts val="2400"/>
              <a:buChar char="▪"/>
            </a:pPr>
            <a:r>
              <a:rPr lang="en-US" sz="2400">
                <a:latin typeface="Gill Sans"/>
                <a:ea typeface="Gill Sans"/>
                <a:cs typeface="Gill Sans"/>
                <a:sym typeface="Gill Sans"/>
              </a:rPr>
              <a:t>keeps user state across sessions:</a:t>
            </a:r>
            <a:endParaRPr/>
          </a:p>
          <a:p>
            <a:pPr indent="-231775" lvl="1" marL="695325" rtl="0" algn="l">
              <a:lnSpc>
                <a:spcPct val="90000"/>
              </a:lnSpc>
              <a:spcBef>
                <a:spcPts val="500"/>
              </a:spcBef>
              <a:spcAft>
                <a:spcPts val="0"/>
              </a:spcAft>
              <a:buSzPts val="2400"/>
              <a:buChar char="•"/>
            </a:pPr>
            <a:r>
              <a:rPr lang="en-US">
                <a:latin typeface="Gill Sans"/>
                <a:ea typeface="Gill Sans"/>
                <a:cs typeface="Gill Sans"/>
                <a:sym typeface="Gill Sans"/>
              </a:rPr>
              <a:t>names of folders and mappings between message IDs and folder name</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8" name="Shape 5778"/>
        <p:cNvGrpSpPr/>
        <p:nvPr/>
      </p:nvGrpSpPr>
      <p:grpSpPr>
        <a:xfrm>
          <a:off x="0" y="0"/>
          <a:ext cx="0" cy="0"/>
          <a:chOff x="0" y="0"/>
          <a:chExt cx="0" cy="0"/>
        </a:xfrm>
      </p:grpSpPr>
      <p:sp>
        <p:nvSpPr>
          <p:cNvPr id="5779" name="Google Shape;5779;p74"/>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Application Layer</a:t>
            </a:r>
            <a:endParaRPr sz="1200">
              <a:solidFill>
                <a:schemeClr val="dk1"/>
              </a:solidFill>
              <a:latin typeface="Tahoma"/>
              <a:ea typeface="Tahoma"/>
              <a:cs typeface="Tahoma"/>
              <a:sym typeface="Tahoma"/>
            </a:endParaRPr>
          </a:p>
        </p:txBody>
      </p:sp>
      <p:sp>
        <p:nvSpPr>
          <p:cNvPr id="5780" name="Google Shape;5780;p74"/>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5781" name="Google Shape;5781;p74"/>
          <p:cNvPicPr preferRelativeResize="0"/>
          <p:nvPr/>
        </p:nvPicPr>
        <p:blipFill rotWithShape="1">
          <a:blip r:embed="rId3">
            <a:alphaModFix/>
          </a:blip>
          <a:srcRect b="0" l="0" r="0" t="0"/>
          <a:stretch/>
        </p:blipFill>
        <p:spPr>
          <a:xfrm>
            <a:off x="1952626" y="957264"/>
            <a:ext cx="5942013" cy="173037"/>
          </a:xfrm>
          <a:prstGeom prst="rect">
            <a:avLst/>
          </a:prstGeom>
          <a:noFill/>
          <a:ln>
            <a:noFill/>
          </a:ln>
        </p:spPr>
      </p:pic>
      <p:sp>
        <p:nvSpPr>
          <p:cNvPr id="5782" name="Google Shape;5782;p74"/>
          <p:cNvSpPr txBox="1"/>
          <p:nvPr>
            <p:ph type="title"/>
          </p:nvPr>
        </p:nvSpPr>
        <p:spPr>
          <a:xfrm>
            <a:off x="1905000" y="293689"/>
            <a:ext cx="7772400" cy="79533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Gill Sans"/>
              <a:buNone/>
            </a:pPr>
            <a:r>
              <a:rPr lang="en-US">
                <a:latin typeface="Gill Sans"/>
                <a:ea typeface="Gill Sans"/>
                <a:cs typeface="Gill Sans"/>
                <a:sym typeface="Gill Sans"/>
              </a:rPr>
              <a:t> Web-Based E-Mail</a:t>
            </a:r>
            <a:endParaRPr/>
          </a:p>
        </p:txBody>
      </p:sp>
      <p:sp>
        <p:nvSpPr>
          <p:cNvPr id="5783" name="Google Shape;5783;p7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Hotmail introduced Web-based access mid 1990s. </a:t>
            </a:r>
            <a:endParaRPr/>
          </a:p>
          <a:p>
            <a:pPr indent="-222250" lvl="0" marL="352425" rtl="0" algn="l">
              <a:lnSpc>
                <a:spcPct val="90000"/>
              </a:lnSpc>
              <a:spcBef>
                <a:spcPts val="1000"/>
              </a:spcBef>
              <a:spcAft>
                <a:spcPts val="0"/>
              </a:spcAft>
              <a:buSzPts val="2800"/>
              <a:buChar char="▪"/>
            </a:pPr>
            <a:r>
              <a:rPr lang="en-US"/>
              <a:t>The user agent is a Web browser, communicates with its remote mailbox via HTTP </a:t>
            </a:r>
            <a:endParaRPr/>
          </a:p>
          <a:p>
            <a:pPr indent="-222250" lvl="0" marL="352425" rtl="0" algn="l">
              <a:lnSpc>
                <a:spcPct val="90000"/>
              </a:lnSpc>
              <a:spcBef>
                <a:spcPts val="1000"/>
              </a:spcBef>
              <a:spcAft>
                <a:spcPts val="0"/>
              </a:spcAft>
              <a:buSzPts val="2800"/>
              <a:buChar char="▪"/>
            </a:pPr>
            <a:r>
              <a:rPr lang="en-US"/>
              <a:t>To access e-mail message, user read mailbox in browser.</a:t>
            </a:r>
            <a:endParaRPr/>
          </a:p>
          <a:p>
            <a:pPr indent="-44450" lvl="0" marL="352425" rtl="0" algn="l">
              <a:lnSpc>
                <a:spcPct val="90000"/>
              </a:lnSpc>
              <a:spcBef>
                <a:spcPts val="1000"/>
              </a:spcBef>
              <a:spcAft>
                <a:spcPts val="0"/>
              </a:spcAft>
              <a:buSzPts val="2800"/>
              <a:buNone/>
            </a:pPr>
            <a:r>
              <a:t/>
            </a:r>
            <a:endParaRPr/>
          </a:p>
        </p:txBody>
      </p:sp>
      <p:sp>
        <p:nvSpPr>
          <p:cNvPr id="5784" name="Google Shape;5784;p7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The e-mail message is sent from recipient’s mail server to it’s browser using HTTP protocol rather than POP3 or IMAP.</a:t>
            </a:r>
            <a:endParaRPr/>
          </a:p>
          <a:p>
            <a:pPr indent="-222250" lvl="0" marL="352425" rtl="0" algn="l">
              <a:lnSpc>
                <a:spcPct val="90000"/>
              </a:lnSpc>
              <a:spcBef>
                <a:spcPts val="1000"/>
              </a:spcBef>
              <a:spcAft>
                <a:spcPts val="0"/>
              </a:spcAft>
              <a:buSzPts val="2800"/>
              <a:buChar char="▪"/>
            </a:pPr>
            <a:r>
              <a:rPr lang="en-US"/>
              <a:t>To send e-mail message, it is sent from user’s browser to mail server over HTTP rather than SMTP.</a:t>
            </a:r>
            <a:endParaRPr/>
          </a:p>
        </p:txBody>
      </p:sp>
      <p:pic>
        <p:nvPicPr>
          <p:cNvPr descr="Puzzle with solid fill" id="5785" name="Google Shape;5785;p74"/>
          <p:cNvPicPr preferRelativeResize="0"/>
          <p:nvPr/>
        </p:nvPicPr>
        <p:blipFill rotWithShape="1">
          <a:blip r:embed="rId4">
            <a:alphaModFix/>
          </a:blip>
          <a:srcRect b="0" l="0" r="0" t="0"/>
          <a:stretch/>
        </p:blipFill>
        <p:spPr>
          <a:xfrm>
            <a:off x="9328150" y="423864"/>
            <a:ext cx="579438" cy="579437"/>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0" name="Shape 5790"/>
        <p:cNvGrpSpPr/>
        <p:nvPr/>
      </p:nvGrpSpPr>
      <p:grpSpPr>
        <a:xfrm>
          <a:off x="0" y="0"/>
          <a:ext cx="0" cy="0"/>
          <a:chOff x="0" y="0"/>
          <a:chExt cx="0" cy="0"/>
        </a:xfrm>
      </p:grpSpPr>
      <p:sp>
        <p:nvSpPr>
          <p:cNvPr id="5791" name="Google Shape;5791;p75"/>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Application Layer: Overview</a:t>
            </a:r>
            <a:endParaRPr/>
          </a:p>
        </p:txBody>
      </p:sp>
      <p:sp>
        <p:nvSpPr>
          <p:cNvPr id="5792" name="Google Shape;5792;p75"/>
          <p:cNvSpPr txBox="1"/>
          <p:nvPr/>
        </p:nvSpPr>
        <p:spPr>
          <a:xfrm>
            <a:off x="809242" y="1870563"/>
            <a:ext cx="5309184" cy="4351338"/>
          </a:xfrm>
          <a:prstGeom prst="rect">
            <a:avLst/>
          </a:prstGeom>
          <a:noFill/>
          <a:ln>
            <a:noFill/>
          </a:ln>
        </p:spPr>
        <p:txBody>
          <a:bodyPr anchorCtr="0" anchor="t" bIns="45700" lIns="91425" spcFirstLastPara="1" rIns="91425" wrap="square" tIns="45700">
            <a:noAutofit/>
          </a:bodyPr>
          <a:lstStyle/>
          <a:p>
            <a:pPr indent="-401638" lvl="0" marL="401638" marR="0" rtl="0" algn="l">
              <a:lnSpc>
                <a:spcPct val="90000"/>
              </a:lnSpc>
              <a:spcBef>
                <a:spcPts val="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Principles of network applications</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Web and HTTP</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E-mail, SMTP, IMAP</a:t>
            </a:r>
            <a:endParaRPr/>
          </a:p>
          <a:p>
            <a:pPr indent="-401638" lvl="0" marL="401638" marR="0" rtl="0" algn="l">
              <a:lnSpc>
                <a:spcPct val="90000"/>
              </a:lnSpc>
              <a:spcBef>
                <a:spcPts val="1000"/>
              </a:spcBef>
              <a:spcAft>
                <a:spcPts val="0"/>
              </a:spcAft>
              <a:buClr>
                <a:srgbClr val="0000A8"/>
              </a:buClr>
              <a:buSzPts val="3200"/>
              <a:buFont typeface="Noto Sans Symbols"/>
              <a:buChar char="▪"/>
            </a:pPr>
            <a:r>
              <a:rPr lang="en-US" sz="3200">
                <a:solidFill>
                  <a:schemeClr val="dk1"/>
                </a:solidFill>
                <a:latin typeface="Calibri"/>
                <a:ea typeface="Calibri"/>
                <a:cs typeface="Calibri"/>
                <a:sym typeface="Calibri"/>
              </a:rPr>
              <a:t>The Domain Name System DNS</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
        <p:nvSpPr>
          <p:cNvPr id="5793" name="Google Shape;5793;p75"/>
          <p:cNvSpPr txBox="1"/>
          <p:nvPr/>
        </p:nvSpPr>
        <p:spPr>
          <a:xfrm>
            <a:off x="6557554" y="1422888"/>
            <a:ext cx="5405262" cy="4799013"/>
          </a:xfrm>
          <a:prstGeom prst="rect">
            <a:avLst/>
          </a:prstGeom>
          <a:noFill/>
          <a:ln>
            <a:noFill/>
          </a:ln>
        </p:spPr>
        <p:txBody>
          <a:bodyPr anchorCtr="0" anchor="t" bIns="45700" lIns="91425" spcFirstLastPara="1" rIns="91425" wrap="square" tIns="45700">
            <a:normAutofit/>
          </a:bodyPr>
          <a:lstStyle/>
          <a:p>
            <a:pPr indent="-349250" lvl="0" marL="349250" marR="0" rtl="0" algn="l">
              <a:lnSpc>
                <a:spcPct val="90000"/>
              </a:lnSpc>
              <a:spcBef>
                <a:spcPts val="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P2P applications</a:t>
            </a:r>
            <a:endParaRPr/>
          </a:p>
          <a:p>
            <a:pPr indent="-349250" lvl="0" marL="349250"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video streaming and content distribution networks</a:t>
            </a:r>
            <a:endParaRPr/>
          </a:p>
          <a:p>
            <a:pPr indent="-349250" lvl="0" marL="349250"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socket programming with UDP and TCP</a:t>
            </a:r>
            <a:endParaRPr/>
          </a:p>
          <a:p>
            <a:pPr indent="-222250" lvl="0" marL="352425" marR="0" rtl="0" algn="l">
              <a:lnSpc>
                <a:spcPct val="90000"/>
              </a:lnSpc>
              <a:spcBef>
                <a:spcPts val="1000"/>
              </a:spcBef>
              <a:spcAft>
                <a:spcPts val="0"/>
              </a:spcAft>
              <a:buClr>
                <a:srgbClr val="0000A3"/>
              </a:buClr>
              <a:buSzPts val="2400"/>
              <a:buFont typeface="Noto Sans Symbols"/>
              <a:buNone/>
            </a:pPr>
            <a:r>
              <a:t/>
            </a:r>
            <a:endParaRPr sz="2400">
              <a:solidFill>
                <a:schemeClr val="dk1"/>
              </a:solidFill>
              <a:latin typeface="Calibri"/>
              <a:ea typeface="Calibri"/>
              <a:cs typeface="Calibri"/>
              <a:sym typeface="Calibri"/>
            </a:endParaRPr>
          </a:p>
        </p:txBody>
      </p:sp>
      <p:sp>
        <p:nvSpPr>
          <p:cNvPr id="5794" name="Google Shape;5794;p7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pic>
        <p:nvPicPr>
          <p:cNvPr descr="Kurose&amp;Ross 8th edition photo" id="5795" name="Google Shape;5795;p75"/>
          <p:cNvPicPr preferRelativeResize="0"/>
          <p:nvPr/>
        </p:nvPicPr>
        <p:blipFill rotWithShape="1">
          <a:blip r:embed="rId3">
            <a:alphaModFix/>
          </a:blip>
          <a:srcRect b="0" l="0" r="0" t="0"/>
          <a:stretch/>
        </p:blipFill>
        <p:spPr>
          <a:xfrm>
            <a:off x="6957391" y="4125913"/>
            <a:ext cx="3087757" cy="2315818"/>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0" name="Shape 5800"/>
        <p:cNvGrpSpPr/>
        <p:nvPr/>
      </p:nvGrpSpPr>
      <p:grpSpPr>
        <a:xfrm>
          <a:off x="0" y="0"/>
          <a:ext cx="0" cy="0"/>
          <a:chOff x="0" y="0"/>
          <a:chExt cx="0" cy="0"/>
        </a:xfrm>
      </p:grpSpPr>
      <p:sp>
        <p:nvSpPr>
          <p:cNvPr id="5801" name="Google Shape;5801;p7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DNS: Domain Name System</a:t>
            </a:r>
            <a:endParaRPr sz="4400"/>
          </a:p>
        </p:txBody>
      </p:sp>
      <p:sp>
        <p:nvSpPr>
          <p:cNvPr id="5802" name="Google Shape;5802;p7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5803" name="Google Shape;5803;p76"/>
          <p:cNvSpPr txBox="1"/>
          <p:nvPr/>
        </p:nvSpPr>
        <p:spPr>
          <a:xfrm>
            <a:off x="753721" y="1340962"/>
            <a:ext cx="4901973"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i="1" lang="en-US" sz="2800">
                <a:solidFill>
                  <a:srgbClr val="000099"/>
                </a:solidFill>
                <a:latin typeface="Calibri"/>
                <a:ea typeface="Calibri"/>
                <a:cs typeface="Calibri"/>
                <a:sym typeface="Calibri"/>
              </a:rPr>
              <a:t>people:</a:t>
            </a:r>
            <a:r>
              <a:rPr lang="en-US" sz="2800">
                <a:solidFill>
                  <a:schemeClr val="dk1"/>
                </a:solidFill>
                <a:latin typeface="Calibri"/>
                <a:ea typeface="Calibri"/>
                <a:cs typeface="Calibri"/>
                <a:sym typeface="Calibri"/>
              </a:rPr>
              <a:t> many identifiers: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SSN, name, passport #</a:t>
            </a:r>
            <a:endParaRPr/>
          </a:p>
          <a:p>
            <a:pPr indent="-222250" lvl="0" marL="352425" marR="0" rtl="0" algn="l">
              <a:lnSpc>
                <a:spcPct val="90000"/>
              </a:lnSpc>
              <a:spcBef>
                <a:spcPts val="1000"/>
              </a:spcBef>
              <a:spcAft>
                <a:spcPts val="0"/>
              </a:spcAft>
              <a:buClr>
                <a:srgbClr val="0000A3"/>
              </a:buClr>
              <a:buSzPts val="2800"/>
              <a:buFont typeface="Noto Sans Symbols"/>
              <a:buNone/>
            </a:pPr>
            <a:r>
              <a:rPr i="1" lang="en-US" sz="2800">
                <a:solidFill>
                  <a:srgbClr val="000099"/>
                </a:solidFill>
                <a:latin typeface="Calibri"/>
                <a:ea typeface="Calibri"/>
                <a:cs typeface="Calibri"/>
                <a:sym typeface="Calibri"/>
              </a:rPr>
              <a:t>Internet hosts, routers: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IP address (32 bit) - used for addressing datagrams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“name”, e.g., cs.umass.edu - used by humans</a:t>
            </a:r>
            <a:endParaRPr/>
          </a:p>
          <a:p>
            <a:pPr indent="-222250" lvl="0" marL="352425" marR="0" rtl="0" algn="l">
              <a:lnSpc>
                <a:spcPct val="90000"/>
              </a:lnSpc>
              <a:spcBef>
                <a:spcPts val="1000"/>
              </a:spcBef>
              <a:spcAft>
                <a:spcPts val="0"/>
              </a:spcAft>
              <a:buClr>
                <a:srgbClr val="0000A3"/>
              </a:buClr>
              <a:buSzPts val="2800"/>
              <a:buFont typeface="Noto Sans Symbols"/>
              <a:buNone/>
            </a:pPr>
            <a:r>
              <a:rPr i="1" lang="en-US" sz="2800" u="sng">
                <a:solidFill>
                  <a:srgbClr val="CC0000"/>
                </a:solidFill>
                <a:latin typeface="Calibri"/>
                <a:ea typeface="Calibri"/>
                <a:cs typeface="Calibri"/>
                <a:sym typeface="Calibri"/>
              </a:rPr>
              <a:t>Q:</a:t>
            </a:r>
            <a:r>
              <a:rPr lang="en-US" sz="2800">
                <a:solidFill>
                  <a:schemeClr val="dk1"/>
                </a:solidFill>
                <a:latin typeface="Calibri"/>
                <a:ea typeface="Calibri"/>
                <a:cs typeface="Calibri"/>
                <a:sym typeface="Calibri"/>
              </a:rPr>
              <a:t> how to map between IP address and name, and vice versa ?</a:t>
            </a:r>
            <a:endParaRPr/>
          </a:p>
        </p:txBody>
      </p:sp>
      <p:sp>
        <p:nvSpPr>
          <p:cNvPr id="5804" name="Google Shape;5804;p76"/>
          <p:cNvSpPr txBox="1"/>
          <p:nvPr/>
        </p:nvSpPr>
        <p:spPr>
          <a:xfrm>
            <a:off x="5592033" y="1281002"/>
            <a:ext cx="6088112" cy="5006975"/>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Domain Name System:</a:t>
            </a:r>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a:solidFill>
                  <a:srgbClr val="000099"/>
                </a:solidFill>
                <a:latin typeface="Calibri"/>
                <a:ea typeface="Calibri"/>
                <a:cs typeface="Calibri"/>
                <a:sym typeface="Calibri"/>
              </a:rPr>
              <a:t>distributed database</a:t>
            </a:r>
            <a:r>
              <a:rPr lang="en-US" sz="2800">
                <a:solidFill>
                  <a:schemeClr val="dk1"/>
                </a:solidFill>
                <a:latin typeface="Calibri"/>
                <a:ea typeface="Calibri"/>
                <a:cs typeface="Calibri"/>
                <a:sym typeface="Calibri"/>
              </a:rPr>
              <a:t> implemented in hierarchy of many </a:t>
            </a:r>
            <a:r>
              <a:rPr i="1" lang="en-US" sz="2800">
                <a:solidFill>
                  <a:srgbClr val="000099"/>
                </a:solidFill>
                <a:latin typeface="Calibri"/>
                <a:ea typeface="Calibri"/>
                <a:cs typeface="Calibri"/>
                <a:sym typeface="Calibri"/>
              </a:rPr>
              <a:t>name servers</a:t>
            </a:r>
            <a:endParaRPr sz="2800">
              <a:solidFill>
                <a:srgbClr val="000099"/>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a:solidFill>
                  <a:srgbClr val="000099"/>
                </a:solidFill>
                <a:latin typeface="Calibri"/>
                <a:ea typeface="Calibri"/>
                <a:cs typeface="Calibri"/>
                <a:sym typeface="Calibri"/>
              </a:rPr>
              <a:t>application-layer protocol:</a:t>
            </a:r>
            <a:r>
              <a:rPr lang="en-US" sz="2800">
                <a:solidFill>
                  <a:schemeClr val="dk1"/>
                </a:solidFill>
                <a:latin typeface="Calibri"/>
                <a:ea typeface="Calibri"/>
                <a:cs typeface="Calibri"/>
                <a:sym typeface="Calibri"/>
              </a:rPr>
              <a:t> hosts, name servers communicate to </a:t>
            </a:r>
            <a:r>
              <a:rPr i="1" lang="en-US" sz="2800">
                <a:solidFill>
                  <a:srgbClr val="000099"/>
                </a:solidFill>
                <a:latin typeface="Calibri"/>
                <a:ea typeface="Calibri"/>
                <a:cs typeface="Calibri"/>
                <a:sym typeface="Calibri"/>
              </a:rPr>
              <a:t>resolve</a:t>
            </a:r>
            <a:r>
              <a:rPr lang="en-US" sz="2800">
                <a:solidFill>
                  <a:srgbClr val="FF0000"/>
                </a:solidFill>
                <a:latin typeface="Calibri"/>
                <a:ea typeface="Calibri"/>
                <a:cs typeface="Calibri"/>
                <a:sym typeface="Calibri"/>
              </a:rPr>
              <a:t> </a:t>
            </a:r>
            <a:r>
              <a:rPr lang="en-US" sz="2800">
                <a:solidFill>
                  <a:schemeClr val="dk1"/>
                </a:solidFill>
                <a:latin typeface="Calibri"/>
                <a:ea typeface="Calibri"/>
                <a:cs typeface="Calibri"/>
                <a:sym typeface="Calibri"/>
              </a:rPr>
              <a:t>names (address/name translation)</a:t>
            </a:r>
            <a:endParaRPr/>
          </a:p>
          <a:p>
            <a:pPr indent="-231775" lvl="1" marL="695325" marR="0" rtl="0" algn="l">
              <a:lnSpc>
                <a:spcPct val="90000"/>
              </a:lnSpc>
              <a:spcBef>
                <a:spcPts val="10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note: core Internet function, </a:t>
            </a:r>
            <a:r>
              <a:rPr b="0" i="1" lang="en-US" sz="2800" u="none" cap="none" strike="noStrike">
                <a:solidFill>
                  <a:srgbClr val="C00000"/>
                </a:solidFill>
                <a:latin typeface="Calibri"/>
                <a:ea typeface="Calibri"/>
                <a:cs typeface="Calibri"/>
                <a:sym typeface="Calibri"/>
              </a:rPr>
              <a:t>implemented as application-layer protocol</a:t>
            </a:r>
            <a:endParaRPr/>
          </a:p>
          <a:p>
            <a:pPr indent="-231775" lvl="1" marL="695325" marR="0" rtl="0" algn="l">
              <a:lnSpc>
                <a:spcPct val="90000"/>
              </a:lnSpc>
              <a:spcBef>
                <a:spcPts val="10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complexity at network’s “edge”</a:t>
            </a:r>
            <a:endParaRPr b="0" i="0" sz="2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4"/>
                                        </p:tgtEl>
                                        <p:attrNameLst>
                                          <p:attrName>style.visibility</p:attrName>
                                        </p:attrNameLst>
                                      </p:cBhvr>
                                      <p:to>
                                        <p:strVal val="visible"/>
                                      </p:to>
                                    </p:set>
                                    <p:animEffect filter="fade" transition="in">
                                      <p:cBhvr>
                                        <p:cTn dur="500"/>
                                        <p:tgtEl>
                                          <p:spTgt spid="58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9" name="Shape 5809"/>
        <p:cNvGrpSpPr/>
        <p:nvPr/>
      </p:nvGrpSpPr>
      <p:grpSpPr>
        <a:xfrm>
          <a:off x="0" y="0"/>
          <a:ext cx="0" cy="0"/>
          <a:chOff x="0" y="0"/>
          <a:chExt cx="0" cy="0"/>
        </a:xfrm>
      </p:grpSpPr>
      <p:sp>
        <p:nvSpPr>
          <p:cNvPr id="5810" name="Google Shape;5810;p77"/>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DNS: services, structure</a:t>
            </a:r>
            <a:endParaRPr sz="4400"/>
          </a:p>
        </p:txBody>
      </p:sp>
      <p:sp>
        <p:nvSpPr>
          <p:cNvPr id="5811" name="Google Shape;5811;p7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5812" name="Google Shape;5812;p77"/>
          <p:cNvSpPr txBox="1"/>
          <p:nvPr/>
        </p:nvSpPr>
        <p:spPr>
          <a:xfrm>
            <a:off x="6618515" y="1271135"/>
            <a:ext cx="4978400" cy="2263775"/>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Q: Why not centralize DNS?</a:t>
            </a:r>
            <a:endParaRPr/>
          </a:p>
          <a:p>
            <a:pPr indent="-233362" lvl="0" marL="582613"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single point of failure</a:t>
            </a:r>
            <a:endParaRPr/>
          </a:p>
          <a:p>
            <a:pPr indent="-233362" lvl="0" marL="582613"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traffic volume</a:t>
            </a:r>
            <a:endParaRPr/>
          </a:p>
          <a:p>
            <a:pPr indent="-233362" lvl="0" marL="582613"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distant centralized database</a:t>
            </a:r>
            <a:endParaRPr/>
          </a:p>
          <a:p>
            <a:pPr indent="-233362" lvl="0" marL="582613"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maintenance</a:t>
            </a:r>
            <a:endParaRPr/>
          </a:p>
          <a:p>
            <a:pPr indent="-2222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
        <p:nvSpPr>
          <p:cNvPr id="5813" name="Google Shape;5813;p77"/>
          <p:cNvSpPr txBox="1"/>
          <p:nvPr/>
        </p:nvSpPr>
        <p:spPr>
          <a:xfrm>
            <a:off x="731837" y="1300163"/>
            <a:ext cx="5713591"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DNS services</a:t>
            </a:r>
            <a:endParaRPr/>
          </a:p>
          <a:p>
            <a:pPr indent="-215900" lvl="0" marL="4603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hostname to IP address translation</a:t>
            </a:r>
            <a:endParaRPr/>
          </a:p>
          <a:p>
            <a:pPr indent="-215900" lvl="0" marL="4603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host aliasing</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canonical, alias names</a:t>
            </a:r>
            <a:endParaRPr/>
          </a:p>
          <a:p>
            <a:pPr indent="-287338" lvl="0" marL="4603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mail server aliasing</a:t>
            </a:r>
            <a:endParaRPr/>
          </a:p>
          <a:p>
            <a:pPr indent="-287338" lvl="0" marL="4603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load distribution</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replicated Web servers: many IP addresses correspond to one name</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sz="2400">
              <a:solidFill>
                <a:schemeClr val="dk1"/>
              </a:solidFill>
              <a:latin typeface="Gill Sans"/>
              <a:ea typeface="Gill Sans"/>
              <a:cs typeface="Gill Sans"/>
              <a:sym typeface="Gill Sans"/>
            </a:endParaRPr>
          </a:p>
        </p:txBody>
      </p:sp>
      <p:sp>
        <p:nvSpPr>
          <p:cNvPr id="5814" name="Google Shape;5814;p77"/>
          <p:cNvSpPr txBox="1"/>
          <p:nvPr/>
        </p:nvSpPr>
        <p:spPr>
          <a:xfrm>
            <a:off x="6777863" y="3709428"/>
            <a:ext cx="4491458" cy="1877437"/>
          </a:xfrm>
          <a:prstGeom prst="rect">
            <a:avLst/>
          </a:prstGeom>
          <a:noFill/>
          <a:ln>
            <a:noFill/>
          </a:ln>
        </p:spPr>
        <p:txBody>
          <a:bodyPr anchorCtr="0" anchor="t" bIns="45700" lIns="91425" spcFirstLastPara="1" rIns="91425" wrap="square" tIns="45700">
            <a:spAutoFit/>
          </a:bodyPr>
          <a:lstStyle/>
          <a:p>
            <a:pPr indent="-331788" lvl="0" marL="346075" marR="0" rtl="0" algn="l">
              <a:spcBef>
                <a:spcPts val="0"/>
              </a:spcBef>
              <a:spcAft>
                <a:spcPts val="0"/>
              </a:spcAft>
              <a:buNone/>
            </a:pPr>
            <a:r>
              <a:rPr i="1" lang="en-US" sz="3200">
                <a:solidFill>
                  <a:srgbClr val="C00000"/>
                </a:solidFill>
                <a:latin typeface="Calibri"/>
                <a:ea typeface="Calibri"/>
                <a:cs typeface="Calibri"/>
                <a:sym typeface="Calibri"/>
              </a:rPr>
              <a:t>A: </a:t>
            </a:r>
            <a:r>
              <a:rPr i="1" lang="en-US" sz="3200">
                <a:solidFill>
                  <a:srgbClr val="CC0000"/>
                </a:solidFill>
                <a:latin typeface="Calibri"/>
                <a:ea typeface="Calibri"/>
                <a:cs typeface="Calibri"/>
                <a:sym typeface="Calibri"/>
              </a:rPr>
              <a:t>doesn‘t scale!</a:t>
            </a:r>
            <a:endParaRPr/>
          </a:p>
          <a:p>
            <a:pPr indent="-292100" lvl="0" marL="466725" marR="0" rtl="0" algn="l">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Comcast DNS servers alone: 600B DNS queries per day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4"/>
                                        </p:tgtEl>
                                        <p:attrNameLst>
                                          <p:attrName>style.visibility</p:attrName>
                                        </p:attrNameLst>
                                      </p:cBhvr>
                                      <p:to>
                                        <p:strVal val="visible"/>
                                      </p:to>
                                    </p:set>
                                    <p:animEffect filter="fade" transition="in">
                                      <p:cBhvr>
                                        <p:cTn dur="500"/>
                                        <p:tgtEl>
                                          <p:spTgt spid="58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9" name="Shape 5819"/>
        <p:cNvGrpSpPr/>
        <p:nvPr/>
      </p:nvGrpSpPr>
      <p:grpSpPr>
        <a:xfrm>
          <a:off x="0" y="0"/>
          <a:ext cx="0" cy="0"/>
          <a:chOff x="0" y="0"/>
          <a:chExt cx="0" cy="0"/>
        </a:xfrm>
      </p:grpSpPr>
      <p:sp>
        <p:nvSpPr>
          <p:cNvPr id="5820" name="Google Shape;5820;p7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DNS: a distributed, hierarchical </a:t>
            </a:r>
            <a:r>
              <a:rPr lang="en-US"/>
              <a:t>d</a:t>
            </a:r>
            <a:r>
              <a:rPr lang="en-US" sz="4400"/>
              <a:t>atabase</a:t>
            </a:r>
            <a:endParaRPr sz="4400"/>
          </a:p>
        </p:txBody>
      </p:sp>
      <p:sp>
        <p:nvSpPr>
          <p:cNvPr id="5821" name="Google Shape;5821;p7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grpSp>
        <p:nvGrpSpPr>
          <p:cNvPr id="5822" name="Google Shape;5822;p78"/>
          <p:cNvGrpSpPr/>
          <p:nvPr/>
        </p:nvGrpSpPr>
        <p:grpSpPr>
          <a:xfrm>
            <a:off x="877709" y="1432519"/>
            <a:ext cx="8414514" cy="2387703"/>
            <a:chOff x="230" y="577"/>
            <a:chExt cx="5644" cy="1716"/>
          </a:xfrm>
        </p:grpSpPr>
        <p:sp>
          <p:nvSpPr>
            <p:cNvPr id="5823" name="Google Shape;5823;p78"/>
            <p:cNvSpPr txBox="1"/>
            <p:nvPr/>
          </p:nvSpPr>
          <p:spPr>
            <a:xfrm>
              <a:off x="2240" y="577"/>
              <a:ext cx="1385"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Root DNS Servers</a:t>
              </a:r>
              <a:endParaRPr/>
            </a:p>
          </p:txBody>
        </p:sp>
        <p:sp>
          <p:nvSpPr>
            <p:cNvPr id="5824" name="Google Shape;5824;p78"/>
            <p:cNvSpPr txBox="1"/>
            <p:nvPr/>
          </p:nvSpPr>
          <p:spPr>
            <a:xfrm>
              <a:off x="528" y="1295"/>
              <a:ext cx="1380" cy="2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.com DNS servers</a:t>
              </a:r>
              <a:endParaRPr/>
            </a:p>
          </p:txBody>
        </p:sp>
        <p:sp>
          <p:nvSpPr>
            <p:cNvPr id="5825" name="Google Shape;5825;p78"/>
            <p:cNvSpPr txBox="1"/>
            <p:nvPr/>
          </p:nvSpPr>
          <p:spPr>
            <a:xfrm>
              <a:off x="2304" y="1296"/>
              <a:ext cx="1311" cy="2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.org DNS servers</a:t>
              </a:r>
              <a:endParaRPr/>
            </a:p>
          </p:txBody>
        </p:sp>
        <p:sp>
          <p:nvSpPr>
            <p:cNvPr id="5826" name="Google Shape;5826;p78"/>
            <p:cNvSpPr txBox="1"/>
            <p:nvPr/>
          </p:nvSpPr>
          <p:spPr>
            <a:xfrm>
              <a:off x="4032" y="1296"/>
              <a:ext cx="1345" cy="2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.edu DNS servers</a:t>
              </a:r>
              <a:endParaRPr/>
            </a:p>
          </p:txBody>
        </p:sp>
        <p:cxnSp>
          <p:nvCxnSpPr>
            <p:cNvPr id="5827" name="Google Shape;5827;p78"/>
            <p:cNvCxnSpPr/>
            <p:nvPr/>
          </p:nvCxnSpPr>
          <p:spPr>
            <a:xfrm flipH="1">
              <a:off x="1344" y="864"/>
              <a:ext cx="1392" cy="432"/>
            </a:xfrm>
            <a:prstGeom prst="straightConnector1">
              <a:avLst/>
            </a:prstGeom>
            <a:noFill/>
            <a:ln cap="flat" cmpd="sng" w="31750">
              <a:solidFill>
                <a:schemeClr val="dk1"/>
              </a:solidFill>
              <a:prstDash val="solid"/>
              <a:round/>
              <a:headEnd len="med" w="med" type="none"/>
              <a:tailEnd len="med" w="med" type="none"/>
            </a:ln>
          </p:spPr>
        </p:cxnSp>
        <p:cxnSp>
          <p:nvCxnSpPr>
            <p:cNvPr id="5828" name="Google Shape;5828;p78"/>
            <p:cNvCxnSpPr/>
            <p:nvPr/>
          </p:nvCxnSpPr>
          <p:spPr>
            <a:xfrm>
              <a:off x="2929" y="852"/>
              <a:ext cx="0" cy="443"/>
            </a:xfrm>
            <a:prstGeom prst="straightConnector1">
              <a:avLst/>
            </a:prstGeom>
            <a:noFill/>
            <a:ln cap="flat" cmpd="sng" w="25400">
              <a:solidFill>
                <a:schemeClr val="dk1"/>
              </a:solidFill>
              <a:prstDash val="solid"/>
              <a:round/>
              <a:headEnd len="med" w="med" type="none"/>
              <a:tailEnd len="med" w="med" type="none"/>
            </a:ln>
          </p:spPr>
        </p:cxnSp>
        <p:cxnSp>
          <p:nvCxnSpPr>
            <p:cNvPr id="5829" name="Google Shape;5829;p78"/>
            <p:cNvCxnSpPr/>
            <p:nvPr/>
          </p:nvCxnSpPr>
          <p:spPr>
            <a:xfrm>
              <a:off x="3168" y="864"/>
              <a:ext cx="1440" cy="432"/>
            </a:xfrm>
            <a:prstGeom prst="straightConnector1">
              <a:avLst/>
            </a:prstGeom>
            <a:noFill/>
            <a:ln cap="flat" cmpd="sng" w="25400">
              <a:solidFill>
                <a:schemeClr val="dk1"/>
              </a:solidFill>
              <a:prstDash val="solid"/>
              <a:round/>
              <a:headEnd len="med" w="med" type="none"/>
              <a:tailEnd len="med" w="med" type="none"/>
            </a:ln>
          </p:spPr>
        </p:cxnSp>
        <p:sp>
          <p:nvSpPr>
            <p:cNvPr id="5830" name="Google Shape;5830;p78"/>
            <p:cNvSpPr txBox="1"/>
            <p:nvPr/>
          </p:nvSpPr>
          <p:spPr>
            <a:xfrm>
              <a:off x="3828" y="1812"/>
              <a:ext cx="992" cy="4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nyu.edu</a:t>
              </a:r>
              <a:endParaRPr sz="18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DNS servers</a:t>
              </a:r>
              <a:endParaRPr/>
            </a:p>
          </p:txBody>
        </p:sp>
        <p:sp>
          <p:nvSpPr>
            <p:cNvPr id="5831" name="Google Shape;5831;p78"/>
            <p:cNvSpPr txBox="1"/>
            <p:nvPr/>
          </p:nvSpPr>
          <p:spPr>
            <a:xfrm>
              <a:off x="4882" y="1812"/>
              <a:ext cx="992" cy="4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umass.edu</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DNS servers</a:t>
              </a:r>
              <a:endParaRPr/>
            </a:p>
          </p:txBody>
        </p:sp>
        <p:cxnSp>
          <p:nvCxnSpPr>
            <p:cNvPr id="5832" name="Google Shape;5832;p78"/>
            <p:cNvCxnSpPr/>
            <p:nvPr/>
          </p:nvCxnSpPr>
          <p:spPr>
            <a:xfrm flipH="1">
              <a:off x="4185" y="1536"/>
              <a:ext cx="375" cy="302"/>
            </a:xfrm>
            <a:prstGeom prst="straightConnector1">
              <a:avLst/>
            </a:prstGeom>
            <a:noFill/>
            <a:ln cap="flat" cmpd="sng" w="25400">
              <a:solidFill>
                <a:schemeClr val="dk1"/>
              </a:solidFill>
              <a:prstDash val="solid"/>
              <a:round/>
              <a:headEnd len="med" w="med" type="none"/>
              <a:tailEnd len="med" w="med" type="none"/>
            </a:ln>
          </p:spPr>
        </p:cxnSp>
        <p:cxnSp>
          <p:nvCxnSpPr>
            <p:cNvPr id="5833" name="Google Shape;5833;p78"/>
            <p:cNvCxnSpPr/>
            <p:nvPr/>
          </p:nvCxnSpPr>
          <p:spPr>
            <a:xfrm>
              <a:off x="4848" y="1536"/>
              <a:ext cx="336" cy="302"/>
            </a:xfrm>
            <a:prstGeom prst="straightConnector1">
              <a:avLst/>
            </a:prstGeom>
            <a:noFill/>
            <a:ln cap="flat" cmpd="sng" w="25400">
              <a:solidFill>
                <a:schemeClr val="dk1"/>
              </a:solidFill>
              <a:prstDash val="solid"/>
              <a:round/>
              <a:headEnd len="med" w="med" type="none"/>
              <a:tailEnd len="med" w="med" type="none"/>
            </a:ln>
          </p:spPr>
        </p:cxnSp>
        <p:sp>
          <p:nvSpPr>
            <p:cNvPr id="5834" name="Google Shape;5834;p78"/>
            <p:cNvSpPr txBox="1"/>
            <p:nvPr/>
          </p:nvSpPr>
          <p:spPr>
            <a:xfrm>
              <a:off x="230" y="1828"/>
              <a:ext cx="1010" cy="4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yahoo.com</a:t>
              </a:r>
              <a:endParaRPr sz="18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DNS servers</a:t>
              </a:r>
              <a:endParaRPr/>
            </a:p>
          </p:txBody>
        </p:sp>
        <p:sp>
          <p:nvSpPr>
            <p:cNvPr id="5835" name="Google Shape;5835;p78"/>
            <p:cNvSpPr txBox="1"/>
            <p:nvPr/>
          </p:nvSpPr>
          <p:spPr>
            <a:xfrm>
              <a:off x="1308" y="1812"/>
              <a:ext cx="1001" cy="4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amazon.com</a:t>
              </a:r>
              <a:endParaRPr sz="18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DNS servers</a:t>
              </a:r>
              <a:endParaRPr/>
            </a:p>
          </p:txBody>
        </p:sp>
        <p:cxnSp>
          <p:nvCxnSpPr>
            <p:cNvPr id="5836" name="Google Shape;5836;p78"/>
            <p:cNvCxnSpPr/>
            <p:nvPr/>
          </p:nvCxnSpPr>
          <p:spPr>
            <a:xfrm flipH="1">
              <a:off x="759" y="1541"/>
              <a:ext cx="248" cy="297"/>
            </a:xfrm>
            <a:prstGeom prst="straightConnector1">
              <a:avLst/>
            </a:prstGeom>
            <a:noFill/>
            <a:ln cap="flat" cmpd="sng" w="25400">
              <a:solidFill>
                <a:schemeClr val="dk1"/>
              </a:solidFill>
              <a:prstDash val="solid"/>
              <a:round/>
              <a:headEnd len="med" w="med" type="none"/>
              <a:tailEnd len="med" w="med" type="none"/>
            </a:ln>
          </p:spPr>
        </p:cxnSp>
        <p:cxnSp>
          <p:nvCxnSpPr>
            <p:cNvPr id="5837" name="Google Shape;5837;p78"/>
            <p:cNvCxnSpPr/>
            <p:nvPr/>
          </p:nvCxnSpPr>
          <p:spPr>
            <a:xfrm>
              <a:off x="1344" y="1541"/>
              <a:ext cx="288" cy="306"/>
            </a:xfrm>
            <a:prstGeom prst="straightConnector1">
              <a:avLst/>
            </a:prstGeom>
            <a:noFill/>
            <a:ln cap="flat" cmpd="sng" w="25400">
              <a:solidFill>
                <a:schemeClr val="dk1"/>
              </a:solidFill>
              <a:prstDash val="solid"/>
              <a:round/>
              <a:headEnd len="med" w="med" type="none"/>
              <a:tailEnd len="med" w="med" type="none"/>
            </a:ln>
          </p:spPr>
        </p:cxnSp>
        <p:sp>
          <p:nvSpPr>
            <p:cNvPr id="5838" name="Google Shape;5838;p78"/>
            <p:cNvSpPr txBox="1"/>
            <p:nvPr/>
          </p:nvSpPr>
          <p:spPr>
            <a:xfrm>
              <a:off x="2534" y="1799"/>
              <a:ext cx="993" cy="4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pbs.org</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DNS servers</a:t>
              </a:r>
              <a:endParaRPr/>
            </a:p>
          </p:txBody>
        </p:sp>
        <p:cxnSp>
          <p:nvCxnSpPr>
            <p:cNvPr id="5839" name="Google Shape;5839;p78"/>
            <p:cNvCxnSpPr/>
            <p:nvPr/>
          </p:nvCxnSpPr>
          <p:spPr>
            <a:xfrm>
              <a:off x="2931" y="1536"/>
              <a:ext cx="0" cy="300"/>
            </a:xfrm>
            <a:prstGeom prst="straightConnector1">
              <a:avLst/>
            </a:prstGeom>
            <a:noFill/>
            <a:ln cap="flat" cmpd="sng" w="25400">
              <a:solidFill>
                <a:schemeClr val="dk1"/>
              </a:solidFill>
              <a:prstDash val="solid"/>
              <a:round/>
              <a:headEnd len="med" w="med" type="none"/>
              <a:tailEnd len="med" w="med" type="none"/>
            </a:ln>
          </p:spPr>
        </p:cxnSp>
      </p:grpSp>
      <p:sp>
        <p:nvSpPr>
          <p:cNvPr id="5840" name="Google Shape;5840;p78"/>
          <p:cNvSpPr txBox="1"/>
          <p:nvPr/>
        </p:nvSpPr>
        <p:spPr>
          <a:xfrm>
            <a:off x="4066204" y="1934852"/>
            <a:ext cx="438150" cy="396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a:t>
            </a:r>
            <a:endParaRPr/>
          </a:p>
        </p:txBody>
      </p:sp>
      <p:sp>
        <p:nvSpPr>
          <p:cNvPr id="5841" name="Google Shape;5841;p78"/>
          <p:cNvSpPr txBox="1"/>
          <p:nvPr/>
        </p:nvSpPr>
        <p:spPr>
          <a:xfrm>
            <a:off x="5225966" y="1923399"/>
            <a:ext cx="438150" cy="396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a:t>
            </a:r>
            <a:endParaRPr/>
          </a:p>
        </p:txBody>
      </p:sp>
      <p:sp>
        <p:nvSpPr>
          <p:cNvPr id="5842" name="Google Shape;5842;p78"/>
          <p:cNvSpPr txBox="1"/>
          <p:nvPr/>
        </p:nvSpPr>
        <p:spPr>
          <a:xfrm>
            <a:off x="478971" y="4398565"/>
            <a:ext cx="11713029" cy="2133600"/>
          </a:xfrm>
          <a:prstGeom prst="rect">
            <a:avLst/>
          </a:prstGeom>
          <a:noFill/>
          <a:ln>
            <a:noFill/>
          </a:ln>
        </p:spPr>
        <p:txBody>
          <a:bodyPr anchorCtr="0" anchor="t" bIns="45700" lIns="91425" spcFirstLastPara="1" rIns="91425" wrap="square" tIns="45700">
            <a:noAutofit/>
          </a:bodyPr>
          <a:lstStyle/>
          <a:p>
            <a:pPr indent="0" lvl="0" marL="57150" marR="0" rtl="0" algn="l">
              <a:lnSpc>
                <a:spcPct val="90000"/>
              </a:lnSpc>
              <a:spcBef>
                <a:spcPts val="0"/>
              </a:spcBef>
              <a:spcAft>
                <a:spcPts val="0"/>
              </a:spcAft>
              <a:buClr>
                <a:srgbClr val="0000A3"/>
              </a:buClr>
              <a:buSzPts val="2800"/>
              <a:buFont typeface="Noto Sans Symbols"/>
              <a:buNone/>
            </a:pPr>
            <a:r>
              <a:rPr lang="en-US" sz="2800">
                <a:solidFill>
                  <a:srgbClr val="000099"/>
                </a:solidFill>
                <a:latin typeface="Calibri"/>
                <a:ea typeface="Calibri"/>
                <a:cs typeface="Calibri"/>
                <a:sym typeface="Calibri"/>
              </a:rPr>
              <a:t>Client wants IP address for </a:t>
            </a:r>
            <a:r>
              <a:rPr lang="en-US" sz="2400">
                <a:solidFill>
                  <a:srgbClr val="000099"/>
                </a:solidFill>
                <a:latin typeface="Calibri"/>
                <a:ea typeface="Calibri"/>
                <a:cs typeface="Calibri"/>
                <a:sym typeface="Calibri"/>
              </a:rPr>
              <a:t>www.amazon.com</a:t>
            </a:r>
            <a:r>
              <a:rPr lang="en-US" sz="2800">
                <a:solidFill>
                  <a:srgbClr val="000099"/>
                </a:solidFill>
                <a:latin typeface="Calibri"/>
                <a:ea typeface="Calibri"/>
                <a:cs typeface="Calibri"/>
                <a:sym typeface="Calibri"/>
              </a:rPr>
              <a:t>; 1</a:t>
            </a:r>
            <a:r>
              <a:rPr baseline="30000" lang="en-US" sz="2800">
                <a:solidFill>
                  <a:srgbClr val="000099"/>
                </a:solidFill>
                <a:latin typeface="Calibri"/>
                <a:ea typeface="Calibri"/>
                <a:cs typeface="Calibri"/>
                <a:sym typeface="Calibri"/>
              </a:rPr>
              <a:t>st</a:t>
            </a:r>
            <a:r>
              <a:rPr lang="en-US" sz="2800">
                <a:solidFill>
                  <a:srgbClr val="000099"/>
                </a:solidFill>
                <a:latin typeface="Calibri"/>
                <a:ea typeface="Calibri"/>
                <a:cs typeface="Calibri"/>
                <a:sym typeface="Calibri"/>
              </a:rPr>
              <a:t> approximation:</a:t>
            </a:r>
            <a:endParaRPr/>
          </a:p>
          <a:p>
            <a:pPr indent="-215900" lvl="0" marL="4603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client queries root server to find .com DNS server</a:t>
            </a:r>
            <a:endParaRPr/>
          </a:p>
          <a:p>
            <a:pPr indent="-215900" lvl="0" marL="4603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client queries .com DNS server to get </a:t>
            </a:r>
            <a:r>
              <a:rPr lang="en-US" sz="2400">
                <a:solidFill>
                  <a:schemeClr val="dk1"/>
                </a:solidFill>
                <a:latin typeface="Calibri"/>
                <a:ea typeface="Calibri"/>
                <a:cs typeface="Calibri"/>
                <a:sym typeface="Calibri"/>
              </a:rPr>
              <a:t>amazon.com </a:t>
            </a:r>
            <a:r>
              <a:rPr lang="en-US" sz="2800">
                <a:solidFill>
                  <a:schemeClr val="dk1"/>
                </a:solidFill>
                <a:latin typeface="Calibri"/>
                <a:ea typeface="Calibri"/>
                <a:cs typeface="Calibri"/>
                <a:sym typeface="Calibri"/>
              </a:rPr>
              <a:t>DNS server</a:t>
            </a:r>
            <a:endParaRPr/>
          </a:p>
          <a:p>
            <a:pPr indent="-215900" lvl="0" marL="46037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client queries </a:t>
            </a:r>
            <a:r>
              <a:rPr lang="en-US" sz="2400">
                <a:solidFill>
                  <a:schemeClr val="dk1"/>
                </a:solidFill>
                <a:latin typeface="Calibri"/>
                <a:ea typeface="Calibri"/>
                <a:cs typeface="Calibri"/>
                <a:sym typeface="Calibri"/>
              </a:rPr>
              <a:t>amazon.com </a:t>
            </a:r>
            <a:r>
              <a:rPr lang="en-US" sz="2800">
                <a:solidFill>
                  <a:schemeClr val="dk1"/>
                </a:solidFill>
                <a:latin typeface="Calibri"/>
                <a:ea typeface="Calibri"/>
                <a:cs typeface="Calibri"/>
                <a:sym typeface="Calibri"/>
              </a:rPr>
              <a:t>DNS server to get  IP address for </a:t>
            </a:r>
            <a:r>
              <a:rPr lang="en-US" sz="2400">
                <a:solidFill>
                  <a:schemeClr val="dk1"/>
                </a:solidFill>
                <a:latin typeface="Calibri"/>
                <a:ea typeface="Calibri"/>
                <a:cs typeface="Calibri"/>
                <a:sym typeface="Calibri"/>
              </a:rPr>
              <a:t>www.amazon.com</a:t>
            </a:r>
            <a:endParaRPr sz="2800">
              <a:solidFill>
                <a:schemeClr val="dk1"/>
              </a:solidFill>
              <a:latin typeface="Calibri"/>
              <a:ea typeface="Calibri"/>
              <a:cs typeface="Calibri"/>
              <a:sym typeface="Calibri"/>
            </a:endParaRPr>
          </a:p>
        </p:txBody>
      </p:sp>
      <p:sp>
        <p:nvSpPr>
          <p:cNvPr id="5843" name="Google Shape;5843;p78"/>
          <p:cNvSpPr txBox="1"/>
          <p:nvPr/>
        </p:nvSpPr>
        <p:spPr>
          <a:xfrm>
            <a:off x="9724296" y="2400190"/>
            <a:ext cx="238898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C00000"/>
                </a:solidFill>
                <a:latin typeface="Calibri"/>
                <a:ea typeface="Calibri"/>
                <a:cs typeface="Calibri"/>
                <a:sym typeface="Calibri"/>
              </a:rPr>
              <a:t>Top Level Domain</a:t>
            </a:r>
            <a:endParaRPr/>
          </a:p>
        </p:txBody>
      </p:sp>
      <p:sp>
        <p:nvSpPr>
          <p:cNvPr id="5844" name="Google Shape;5844;p78"/>
          <p:cNvSpPr txBox="1"/>
          <p:nvPr/>
        </p:nvSpPr>
        <p:spPr>
          <a:xfrm>
            <a:off x="10397760" y="1407648"/>
            <a:ext cx="77149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C00000"/>
                </a:solidFill>
                <a:latin typeface="Calibri"/>
                <a:ea typeface="Calibri"/>
                <a:cs typeface="Calibri"/>
                <a:sym typeface="Calibri"/>
              </a:rPr>
              <a:t>Root</a:t>
            </a:r>
            <a:endParaRPr/>
          </a:p>
        </p:txBody>
      </p:sp>
      <p:sp>
        <p:nvSpPr>
          <p:cNvPr id="5845" name="Google Shape;5845;p78"/>
          <p:cNvSpPr txBox="1"/>
          <p:nvPr/>
        </p:nvSpPr>
        <p:spPr>
          <a:xfrm>
            <a:off x="9919925" y="3273362"/>
            <a:ext cx="183569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C00000"/>
                </a:solidFill>
                <a:latin typeface="Calibri"/>
                <a:ea typeface="Calibri"/>
                <a:cs typeface="Calibri"/>
                <a:sym typeface="Calibri"/>
              </a:rPr>
              <a:t>Authoritative</a:t>
            </a:r>
            <a:endParaRPr/>
          </a:p>
        </p:txBody>
      </p:sp>
      <p:sp>
        <p:nvSpPr>
          <p:cNvPr id="5846" name="Google Shape;5846;p78"/>
          <p:cNvSpPr txBox="1"/>
          <p:nvPr/>
        </p:nvSpPr>
        <p:spPr>
          <a:xfrm>
            <a:off x="7292568" y="2785396"/>
            <a:ext cx="438150" cy="396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a:t>
            </a:r>
            <a:endParaRPr/>
          </a:p>
        </p:txBody>
      </p:sp>
      <p:sp>
        <p:nvSpPr>
          <p:cNvPr id="5847" name="Google Shape;5847;p78"/>
          <p:cNvSpPr txBox="1"/>
          <p:nvPr/>
        </p:nvSpPr>
        <p:spPr>
          <a:xfrm>
            <a:off x="2030793" y="2776330"/>
            <a:ext cx="438150" cy="396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a:t>
            </a:r>
            <a:endParaRPr/>
          </a:p>
        </p:txBody>
      </p:sp>
      <p:sp>
        <p:nvSpPr>
          <p:cNvPr id="5848" name="Google Shape;5848;p78"/>
          <p:cNvSpPr txBox="1"/>
          <p:nvPr/>
        </p:nvSpPr>
        <p:spPr>
          <a:xfrm>
            <a:off x="4390346" y="2768742"/>
            <a:ext cx="438150" cy="396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a:t>
            </a:r>
            <a:endParaRPr/>
          </a:p>
        </p:txBody>
      </p:sp>
      <p:sp>
        <p:nvSpPr>
          <p:cNvPr id="5849" name="Google Shape;5849;p78"/>
          <p:cNvSpPr txBox="1"/>
          <p:nvPr/>
        </p:nvSpPr>
        <p:spPr>
          <a:xfrm>
            <a:off x="4877758" y="2777057"/>
            <a:ext cx="438150" cy="396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000">
                <a:solidFill>
                  <a:schemeClr val="dk1"/>
                </a:solidFill>
                <a:latin typeface="Arial"/>
                <a:ea typeface="Arial"/>
                <a:cs typeface="Arial"/>
                <a:sym typeface="Arial"/>
              </a:rPr>
              <a:t>…</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4" name="Shape 5854"/>
        <p:cNvGrpSpPr/>
        <p:nvPr/>
      </p:nvGrpSpPr>
      <p:grpSpPr>
        <a:xfrm>
          <a:off x="0" y="0"/>
          <a:ext cx="0" cy="0"/>
          <a:chOff x="0" y="0"/>
          <a:chExt cx="0" cy="0"/>
        </a:xfrm>
      </p:grpSpPr>
      <p:sp>
        <p:nvSpPr>
          <p:cNvPr id="5855" name="Google Shape;5855;p7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DNS: root </a:t>
            </a:r>
            <a:r>
              <a:rPr lang="en-US"/>
              <a:t>n</a:t>
            </a:r>
            <a:r>
              <a:rPr lang="en-US" sz="4400"/>
              <a:t>ame </a:t>
            </a:r>
            <a:r>
              <a:rPr lang="en-US"/>
              <a:t>s</a:t>
            </a:r>
            <a:r>
              <a:rPr lang="en-US" sz="4400"/>
              <a:t>ervers</a:t>
            </a:r>
            <a:endParaRPr sz="4400"/>
          </a:p>
        </p:txBody>
      </p:sp>
      <p:sp>
        <p:nvSpPr>
          <p:cNvPr id="5856" name="Google Shape;5856;p7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pic>
        <p:nvPicPr>
          <p:cNvPr id="5857" name="Google Shape;5857;p79"/>
          <p:cNvPicPr preferRelativeResize="0"/>
          <p:nvPr/>
        </p:nvPicPr>
        <p:blipFill rotWithShape="1">
          <a:blip r:embed="rId3">
            <a:alphaModFix/>
          </a:blip>
          <a:srcRect b="0" l="0" r="0" t="0"/>
          <a:stretch/>
        </p:blipFill>
        <p:spPr>
          <a:xfrm>
            <a:off x="5930900" y="2856025"/>
            <a:ext cx="6261100" cy="3200400"/>
          </a:xfrm>
          <a:prstGeom prst="rect">
            <a:avLst/>
          </a:prstGeom>
          <a:noFill/>
          <a:ln>
            <a:noFill/>
          </a:ln>
        </p:spPr>
      </p:pic>
      <p:sp>
        <p:nvSpPr>
          <p:cNvPr id="5858" name="Google Shape;5858;p79"/>
          <p:cNvSpPr txBox="1"/>
          <p:nvPr/>
        </p:nvSpPr>
        <p:spPr>
          <a:xfrm>
            <a:off x="651717" y="1432390"/>
            <a:ext cx="5444283" cy="2455182"/>
          </a:xfrm>
          <a:prstGeom prst="rect">
            <a:avLst/>
          </a:prstGeom>
          <a:noFill/>
          <a:ln>
            <a:noFill/>
          </a:ln>
        </p:spPr>
        <p:txBody>
          <a:bodyPr anchorCtr="0" anchor="t" bIns="45700" lIns="91425" spcFirstLastPara="1" rIns="91425" wrap="square" tIns="45700">
            <a:noAutofit/>
          </a:bodyPr>
          <a:lstStyle/>
          <a:p>
            <a:pPr indent="-288925" lvl="0" marL="403225"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official, contact-of-last-resort by name servers that can not resolve name</a:t>
            </a:r>
            <a:endParaRPr/>
          </a:p>
          <a:p>
            <a:pPr indent="-288925" lvl="0" marL="403225" marR="0" rtl="0" algn="l">
              <a:lnSpc>
                <a:spcPct val="90000"/>
              </a:lnSpc>
              <a:spcBef>
                <a:spcPts val="1000"/>
              </a:spcBef>
              <a:spcAft>
                <a:spcPts val="0"/>
              </a:spcAft>
              <a:buClr>
                <a:srgbClr val="0000A3"/>
              </a:buClr>
              <a:buSzPts val="2800"/>
              <a:buFont typeface="Noto Sans Symbols"/>
              <a:buChar char="▪"/>
            </a:pPr>
            <a:r>
              <a:rPr i="1" lang="en-US" sz="2800">
                <a:solidFill>
                  <a:srgbClr val="C00000"/>
                </a:solidFill>
                <a:latin typeface="Calibri"/>
                <a:ea typeface="Calibri"/>
                <a:cs typeface="Calibri"/>
                <a:sym typeface="Calibri"/>
              </a:rPr>
              <a:t>incredibly important </a:t>
            </a:r>
            <a:r>
              <a:rPr lang="en-US" sz="2800">
                <a:solidFill>
                  <a:schemeClr val="dk1"/>
                </a:solidFill>
                <a:latin typeface="Calibri"/>
                <a:ea typeface="Calibri"/>
                <a:cs typeface="Calibri"/>
                <a:sym typeface="Calibri"/>
              </a:rPr>
              <a:t>Internet function</a:t>
            </a:r>
            <a:endParaRPr/>
          </a:p>
          <a:p>
            <a:pPr indent="-317500" lvl="1" marL="635000"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Internet couldn’t function without it!</a:t>
            </a:r>
            <a:endParaRPr/>
          </a:p>
          <a:p>
            <a:pPr indent="-317500" lvl="1" marL="635000"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DNSSEC – provides security (authentication and message integrity)</a:t>
            </a:r>
            <a:endParaRPr/>
          </a:p>
          <a:p>
            <a:pPr indent="-288925" lvl="0" marL="4032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ICANN </a:t>
            </a:r>
            <a:r>
              <a:rPr lang="en-US" sz="2400">
                <a:solidFill>
                  <a:schemeClr val="dk1"/>
                </a:solidFill>
                <a:latin typeface="Calibri"/>
                <a:ea typeface="Calibri"/>
                <a:cs typeface="Calibri"/>
                <a:sym typeface="Calibri"/>
              </a:rPr>
              <a:t>(Internet Corporation for Assigned Names and Numbers) </a:t>
            </a:r>
            <a:r>
              <a:rPr lang="en-US" sz="2800">
                <a:solidFill>
                  <a:schemeClr val="dk1"/>
                </a:solidFill>
                <a:latin typeface="Calibri"/>
                <a:ea typeface="Calibri"/>
                <a:cs typeface="Calibri"/>
                <a:sym typeface="Calibri"/>
              </a:rPr>
              <a:t>manages root DNS domain</a:t>
            </a:r>
            <a:endParaRPr sz="2800">
              <a:solidFill>
                <a:schemeClr val="dk1"/>
              </a:solidFill>
              <a:latin typeface="Calibri"/>
              <a:ea typeface="Calibri"/>
              <a:cs typeface="Calibri"/>
              <a:sym typeface="Calibri"/>
            </a:endParaRPr>
          </a:p>
        </p:txBody>
      </p:sp>
      <p:sp>
        <p:nvSpPr>
          <p:cNvPr id="5859" name="Google Shape;5859;p79"/>
          <p:cNvSpPr/>
          <p:nvPr/>
        </p:nvSpPr>
        <p:spPr>
          <a:xfrm>
            <a:off x="6423186" y="1752600"/>
            <a:ext cx="5142916" cy="1198735"/>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None/>
            </a:pPr>
            <a:r>
              <a:rPr lang="en-US" sz="2400">
                <a:solidFill>
                  <a:srgbClr val="0000A3"/>
                </a:solidFill>
                <a:latin typeface="Calibri"/>
                <a:ea typeface="Calibri"/>
                <a:cs typeface="Calibri"/>
                <a:sym typeface="Calibri"/>
              </a:rPr>
              <a:t>13 logical root name “servers” worldwide each “server” replicated many times (~200 servers in US)</a:t>
            </a:r>
            <a:endParaRPr sz="2000">
              <a:solidFill>
                <a:srgbClr val="0000A3"/>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4" name="Shape 5864"/>
        <p:cNvGrpSpPr/>
        <p:nvPr/>
      </p:nvGrpSpPr>
      <p:grpSpPr>
        <a:xfrm>
          <a:off x="0" y="0"/>
          <a:ext cx="0" cy="0"/>
          <a:chOff x="0" y="0"/>
          <a:chExt cx="0" cy="0"/>
        </a:xfrm>
      </p:grpSpPr>
      <p:sp>
        <p:nvSpPr>
          <p:cNvPr id="5865" name="Google Shape;5865;p80"/>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Application Layer</a:t>
            </a:r>
            <a:endParaRPr sz="1200">
              <a:solidFill>
                <a:schemeClr val="dk1"/>
              </a:solidFill>
              <a:latin typeface="Tahoma"/>
              <a:ea typeface="Tahoma"/>
              <a:cs typeface="Tahoma"/>
              <a:sym typeface="Tahoma"/>
            </a:endParaRPr>
          </a:p>
        </p:txBody>
      </p:sp>
      <p:sp>
        <p:nvSpPr>
          <p:cNvPr id="5866" name="Google Shape;5866;p80"/>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867" name="Google Shape;5867;p80"/>
          <p:cNvSpPr txBox="1"/>
          <p:nvPr>
            <p:ph type="title"/>
          </p:nvPr>
        </p:nvSpPr>
        <p:spPr>
          <a:xfrm>
            <a:off x="2057400" y="222250"/>
            <a:ext cx="7772400" cy="8826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Gill Sans"/>
              <a:buNone/>
            </a:pPr>
            <a:r>
              <a:rPr lang="en-US" sz="4000">
                <a:latin typeface="Gill Sans"/>
                <a:ea typeface="Gill Sans"/>
                <a:cs typeface="Gill Sans"/>
                <a:sym typeface="Gill Sans"/>
              </a:rPr>
              <a:t>DNS: root name servers</a:t>
            </a:r>
            <a:endParaRPr>
              <a:latin typeface="Gill Sans"/>
              <a:ea typeface="Gill Sans"/>
              <a:cs typeface="Gill Sans"/>
              <a:sym typeface="Gill Sans"/>
            </a:endParaRPr>
          </a:p>
        </p:txBody>
      </p:sp>
      <p:sp>
        <p:nvSpPr>
          <p:cNvPr id="5868" name="Google Shape;5868;p80"/>
          <p:cNvSpPr txBox="1"/>
          <p:nvPr>
            <p:ph idx="1" type="body"/>
          </p:nvPr>
        </p:nvSpPr>
        <p:spPr>
          <a:xfrm>
            <a:off x="641447" y="1338573"/>
            <a:ext cx="11023695" cy="464820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latin typeface="Gill Sans"/>
                <a:ea typeface="Gill Sans"/>
                <a:cs typeface="Gill Sans"/>
                <a:sym typeface="Gill Sans"/>
              </a:rPr>
              <a:t>contacted by local name server that cannot resolve name</a:t>
            </a:r>
            <a:endParaRPr/>
          </a:p>
          <a:p>
            <a:pPr indent="-222250" lvl="0" marL="352425" rtl="0" algn="l">
              <a:lnSpc>
                <a:spcPct val="90000"/>
              </a:lnSpc>
              <a:spcBef>
                <a:spcPts val="1000"/>
              </a:spcBef>
              <a:spcAft>
                <a:spcPts val="0"/>
              </a:spcAft>
              <a:buSzPts val="2800"/>
              <a:buChar char="▪"/>
            </a:pPr>
            <a:r>
              <a:rPr lang="en-US">
                <a:latin typeface="Gill Sans"/>
                <a:ea typeface="Gill Sans"/>
                <a:cs typeface="Gill Sans"/>
                <a:sym typeface="Gill Sans"/>
              </a:rPr>
              <a:t>root name server:</a:t>
            </a:r>
            <a:endParaRPr/>
          </a:p>
          <a:p>
            <a:pPr indent="-231775" lvl="1" marL="695325" rtl="0" algn="l">
              <a:lnSpc>
                <a:spcPct val="90000"/>
              </a:lnSpc>
              <a:spcBef>
                <a:spcPts val="500"/>
              </a:spcBef>
              <a:spcAft>
                <a:spcPts val="0"/>
              </a:spcAft>
              <a:buSzPts val="2800"/>
              <a:buChar char="•"/>
            </a:pPr>
            <a:r>
              <a:rPr lang="en-US" sz="2800">
                <a:latin typeface="Gill Sans"/>
                <a:ea typeface="Gill Sans"/>
                <a:cs typeface="Gill Sans"/>
                <a:sym typeface="Gill Sans"/>
              </a:rPr>
              <a:t>contacts authoritative name server if name mapping not known</a:t>
            </a:r>
            <a:endParaRPr/>
          </a:p>
          <a:p>
            <a:pPr indent="-231775" lvl="1" marL="695325" rtl="0" algn="l">
              <a:lnSpc>
                <a:spcPct val="90000"/>
              </a:lnSpc>
              <a:spcBef>
                <a:spcPts val="500"/>
              </a:spcBef>
              <a:spcAft>
                <a:spcPts val="0"/>
              </a:spcAft>
              <a:buSzPts val="2800"/>
              <a:buChar char="•"/>
            </a:pPr>
            <a:r>
              <a:rPr lang="en-US" sz="2800">
                <a:latin typeface="Gill Sans"/>
                <a:ea typeface="Gill Sans"/>
                <a:cs typeface="Gill Sans"/>
                <a:sym typeface="Gill Sans"/>
              </a:rPr>
              <a:t>gets mapping</a:t>
            </a:r>
            <a:endParaRPr/>
          </a:p>
          <a:p>
            <a:pPr indent="-231775" lvl="1" marL="695325" rtl="0" algn="l">
              <a:lnSpc>
                <a:spcPct val="90000"/>
              </a:lnSpc>
              <a:spcBef>
                <a:spcPts val="500"/>
              </a:spcBef>
              <a:spcAft>
                <a:spcPts val="0"/>
              </a:spcAft>
              <a:buSzPts val="2800"/>
              <a:buChar char="•"/>
            </a:pPr>
            <a:r>
              <a:rPr lang="en-US" sz="2800">
                <a:latin typeface="Gill Sans"/>
                <a:ea typeface="Gill Sans"/>
                <a:cs typeface="Gill Sans"/>
                <a:sym typeface="Gill Sans"/>
              </a:rPr>
              <a:t>returns mapping to local name server</a:t>
            </a:r>
            <a:endParaRPr/>
          </a:p>
        </p:txBody>
      </p:sp>
      <p:sp>
        <p:nvSpPr>
          <p:cNvPr id="5869" name="Google Shape;5869;p80"/>
          <p:cNvSpPr/>
          <p:nvPr/>
        </p:nvSpPr>
        <p:spPr>
          <a:xfrm>
            <a:off x="7620001" y="4992688"/>
            <a:ext cx="2957513" cy="811212"/>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chemeClr val="accent2"/>
              </a:buClr>
              <a:buSzPts val="1700"/>
              <a:buFont typeface="Arial"/>
              <a:buNone/>
            </a:pPr>
            <a:r>
              <a:rPr i="1" lang="en-US" sz="2000">
                <a:solidFill>
                  <a:schemeClr val="dk1"/>
                </a:solidFill>
                <a:latin typeface="Arial"/>
                <a:ea typeface="Arial"/>
                <a:cs typeface="Arial"/>
                <a:sym typeface="Arial"/>
              </a:rPr>
              <a:t> 13 logical root name “servers” worldwide</a:t>
            </a:r>
            <a:endParaRPr/>
          </a:p>
          <a:p>
            <a:pPr indent="-114300" lvl="0" marL="0" marR="0" rtl="0" algn="l">
              <a:lnSpc>
                <a:spcPct val="85000"/>
              </a:lnSpc>
              <a:spcBef>
                <a:spcPts val="360"/>
              </a:spcBef>
              <a:spcAft>
                <a:spcPts val="0"/>
              </a:spcAft>
              <a:buClr>
                <a:srgbClr val="000090"/>
              </a:buClr>
              <a:buSzPts val="1800"/>
              <a:buFont typeface="Arial"/>
              <a:buChar char="•"/>
            </a:pPr>
            <a:r>
              <a:rPr i="1" lang="en-US" sz="1800">
                <a:solidFill>
                  <a:schemeClr val="dk1"/>
                </a:solidFill>
                <a:latin typeface="Arial"/>
                <a:ea typeface="Arial"/>
                <a:cs typeface="Arial"/>
                <a:sym typeface="Arial"/>
              </a:rPr>
              <a:t>each “server” replicated (instances) many times</a:t>
            </a:r>
            <a:endParaRPr/>
          </a:p>
        </p:txBody>
      </p:sp>
      <p:sp>
        <p:nvSpPr>
          <p:cNvPr id="5870" name="Google Shape;5870;p80"/>
          <p:cNvSpPr/>
          <p:nvPr/>
        </p:nvSpPr>
        <p:spPr>
          <a:xfrm>
            <a:off x="2005013" y="3581401"/>
            <a:ext cx="5784850" cy="2974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040"/>
              <a:buFont typeface="Arial"/>
              <a:buNone/>
            </a:pPr>
            <a:r>
              <a:t/>
            </a:r>
            <a:endParaRPr sz="2400">
              <a:solidFill>
                <a:schemeClr val="dk1"/>
              </a:solidFill>
              <a:latin typeface="Comic Sans MS"/>
              <a:ea typeface="Comic Sans MS"/>
              <a:cs typeface="Comic Sans MS"/>
              <a:sym typeface="Comic Sans MS"/>
            </a:endParaRPr>
          </a:p>
        </p:txBody>
      </p:sp>
      <p:pic>
        <p:nvPicPr>
          <p:cNvPr descr="worldf" id="5871" name="Google Shape;5871;p80"/>
          <p:cNvPicPr preferRelativeResize="0"/>
          <p:nvPr/>
        </p:nvPicPr>
        <p:blipFill rotWithShape="1">
          <a:blip r:embed="rId3">
            <a:alphaModFix/>
          </a:blip>
          <a:srcRect b="0" l="0" r="0" t="0"/>
          <a:stretch/>
        </p:blipFill>
        <p:spPr>
          <a:xfrm>
            <a:off x="3325814" y="4378325"/>
            <a:ext cx="4319587" cy="2178050"/>
          </a:xfrm>
          <a:prstGeom prst="rect">
            <a:avLst/>
          </a:prstGeom>
          <a:noFill/>
          <a:ln>
            <a:noFill/>
          </a:ln>
        </p:spPr>
      </p:pic>
      <p:sp>
        <p:nvSpPr>
          <p:cNvPr id="5872" name="Google Shape;5872;p80"/>
          <p:cNvSpPr txBox="1"/>
          <p:nvPr/>
        </p:nvSpPr>
        <p:spPr>
          <a:xfrm>
            <a:off x="1731964" y="5160964"/>
            <a:ext cx="2090737" cy="835025"/>
          </a:xfrm>
          <a:prstGeom prst="rect">
            <a:avLst/>
          </a:prstGeom>
          <a:noFill/>
          <a:ln>
            <a:noFill/>
          </a:ln>
        </p:spPr>
        <p:txBody>
          <a:bodyPr anchorCtr="0" anchor="t" bIns="35650" lIns="71300" spcFirstLastPara="1" rIns="71300" wrap="square" tIns="35650">
            <a:noAutofit/>
          </a:bodyPr>
          <a:lstStyle/>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a. Verisign, Los Angeles CA</a:t>
            </a:r>
            <a:endParaRPr/>
          </a:p>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    (5 other sites)</a:t>
            </a:r>
            <a:endParaRPr/>
          </a:p>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b. USC-ISI Marina del Rey, CA</a:t>
            </a:r>
            <a:endParaRPr/>
          </a:p>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l. ICANN Los Angeles, CA</a:t>
            </a:r>
            <a:endParaRPr/>
          </a:p>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   (41 other sites)</a:t>
            </a:r>
            <a:endParaRPr sz="2400">
              <a:solidFill>
                <a:schemeClr val="dk1"/>
              </a:solidFill>
              <a:latin typeface="Times New Roman"/>
              <a:ea typeface="Times New Roman"/>
              <a:cs typeface="Times New Roman"/>
              <a:sym typeface="Times New Roman"/>
            </a:endParaRPr>
          </a:p>
        </p:txBody>
      </p:sp>
      <p:sp>
        <p:nvSpPr>
          <p:cNvPr id="5873" name="Google Shape;5873;p80"/>
          <p:cNvSpPr/>
          <p:nvPr/>
        </p:nvSpPr>
        <p:spPr>
          <a:xfrm>
            <a:off x="3281363" y="5113338"/>
            <a:ext cx="531812" cy="341312"/>
          </a:xfrm>
          <a:custGeom>
            <a:rect b="b" l="l" r="r" t="t"/>
            <a:pathLst>
              <a:path extrusionOk="0" h="426" w="582">
                <a:moveTo>
                  <a:pt x="0" y="426"/>
                </a:moveTo>
                <a:lnTo>
                  <a:pt x="582" y="0"/>
                </a:lnTo>
              </a:path>
            </a:pathLst>
          </a:custGeom>
          <a:noFill/>
          <a:ln cap="flat" cmpd="sng" w="19050">
            <a:solidFill>
              <a:srgbClr val="000000"/>
            </a:solidFill>
            <a:prstDash val="solid"/>
            <a:round/>
            <a:headEnd len="med" w="med"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4" name="Google Shape;5874;p80"/>
          <p:cNvSpPr txBox="1"/>
          <p:nvPr/>
        </p:nvSpPr>
        <p:spPr>
          <a:xfrm>
            <a:off x="1728788" y="4333875"/>
            <a:ext cx="1949450" cy="368300"/>
          </a:xfrm>
          <a:prstGeom prst="rect">
            <a:avLst/>
          </a:prstGeom>
          <a:noFill/>
          <a:ln>
            <a:noFill/>
          </a:ln>
        </p:spPr>
        <p:txBody>
          <a:bodyPr anchorCtr="0" anchor="t" bIns="35650" lIns="71300" spcFirstLastPara="1" rIns="71300" wrap="square" tIns="35650">
            <a:noAutofit/>
          </a:bodyPr>
          <a:lstStyle/>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e. NASA Mt View, CA</a:t>
            </a:r>
            <a:endParaRPr/>
          </a:p>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f. Internet Software C.</a:t>
            </a:r>
            <a:endParaRPr/>
          </a:p>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Palo Alto, CA (and 48 other   sites)</a:t>
            </a:r>
            <a:endParaRPr sz="2400">
              <a:solidFill>
                <a:schemeClr val="dk1"/>
              </a:solidFill>
              <a:latin typeface="Times New Roman"/>
              <a:ea typeface="Times New Roman"/>
              <a:cs typeface="Times New Roman"/>
              <a:sym typeface="Times New Roman"/>
            </a:endParaRPr>
          </a:p>
        </p:txBody>
      </p:sp>
      <p:sp>
        <p:nvSpPr>
          <p:cNvPr id="5875" name="Google Shape;5875;p80"/>
          <p:cNvSpPr/>
          <p:nvPr/>
        </p:nvSpPr>
        <p:spPr>
          <a:xfrm flipH="1" rot="10800000">
            <a:off x="2947988" y="4868863"/>
            <a:ext cx="817562" cy="184150"/>
          </a:xfrm>
          <a:custGeom>
            <a:rect b="b" l="l" r="r" t="t"/>
            <a:pathLst>
              <a:path extrusionOk="0" h="426" w="582">
                <a:moveTo>
                  <a:pt x="0" y="426"/>
                </a:moveTo>
                <a:lnTo>
                  <a:pt x="582" y="0"/>
                </a:lnTo>
              </a:path>
            </a:pathLst>
          </a:custGeom>
          <a:noFill/>
          <a:ln cap="flat" cmpd="sng" w="19050">
            <a:solidFill>
              <a:srgbClr val="000000"/>
            </a:solidFill>
            <a:prstDash val="solid"/>
            <a:round/>
            <a:headEnd len="med" w="med"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6" name="Google Shape;5876;p80"/>
          <p:cNvSpPr txBox="1"/>
          <p:nvPr/>
        </p:nvSpPr>
        <p:spPr>
          <a:xfrm>
            <a:off x="5821363" y="3973514"/>
            <a:ext cx="2278062" cy="223837"/>
          </a:xfrm>
          <a:prstGeom prst="rect">
            <a:avLst/>
          </a:prstGeom>
          <a:noFill/>
          <a:ln>
            <a:noFill/>
          </a:ln>
        </p:spPr>
        <p:txBody>
          <a:bodyPr anchorCtr="0" anchor="t" bIns="35650" lIns="71300" spcFirstLastPara="1" rIns="71300" wrap="square" tIns="35650">
            <a:noAutofit/>
          </a:bodyPr>
          <a:lstStyle/>
          <a:p>
            <a:pPr indent="0" lvl="0" marL="0" marR="0" rtl="0" algn="r">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i. Netnod, Stockholm (37 other sites)</a:t>
            </a:r>
            <a:endParaRPr/>
          </a:p>
        </p:txBody>
      </p:sp>
      <p:sp>
        <p:nvSpPr>
          <p:cNvPr id="5877" name="Google Shape;5877;p80"/>
          <p:cNvSpPr/>
          <p:nvPr/>
        </p:nvSpPr>
        <p:spPr>
          <a:xfrm>
            <a:off x="5456239" y="4068763"/>
            <a:ext cx="446087" cy="654050"/>
          </a:xfrm>
          <a:custGeom>
            <a:rect b="b" l="l" r="r" t="t"/>
            <a:pathLst>
              <a:path extrusionOk="0" h="1005" w="666">
                <a:moveTo>
                  <a:pt x="666" y="0"/>
                </a:moveTo>
                <a:lnTo>
                  <a:pt x="0" y="1005"/>
                </a:lnTo>
              </a:path>
            </a:pathLst>
          </a:custGeom>
          <a:noFill/>
          <a:ln cap="flat" cmpd="sng" w="19050">
            <a:solidFill>
              <a:srgbClr val="000000"/>
            </a:solidFill>
            <a:prstDash val="solid"/>
            <a:round/>
            <a:headEnd len="med" w="med"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8" name="Google Shape;5878;p80"/>
          <p:cNvSpPr txBox="1"/>
          <p:nvPr/>
        </p:nvSpPr>
        <p:spPr>
          <a:xfrm>
            <a:off x="5857876" y="3684588"/>
            <a:ext cx="2519363" cy="214312"/>
          </a:xfrm>
          <a:prstGeom prst="rect">
            <a:avLst/>
          </a:prstGeom>
          <a:noFill/>
          <a:ln>
            <a:noFill/>
          </a:ln>
        </p:spPr>
        <p:txBody>
          <a:bodyPr anchorCtr="0" anchor="t" bIns="35650" lIns="71300" spcFirstLastPara="1" rIns="71300" wrap="square" tIns="35650">
            <a:noAutofit/>
          </a:bodyPr>
          <a:lstStyle/>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k. RIPE London (17 other sites)</a:t>
            </a:r>
            <a:endParaRPr sz="2400">
              <a:solidFill>
                <a:schemeClr val="dk1"/>
              </a:solidFill>
              <a:latin typeface="Times New Roman"/>
              <a:ea typeface="Times New Roman"/>
              <a:cs typeface="Times New Roman"/>
              <a:sym typeface="Times New Roman"/>
            </a:endParaRPr>
          </a:p>
        </p:txBody>
      </p:sp>
      <p:sp>
        <p:nvSpPr>
          <p:cNvPr id="5879" name="Google Shape;5879;p80"/>
          <p:cNvSpPr/>
          <p:nvPr/>
        </p:nvSpPr>
        <p:spPr>
          <a:xfrm>
            <a:off x="5275263" y="3862388"/>
            <a:ext cx="615950" cy="946150"/>
          </a:xfrm>
          <a:custGeom>
            <a:rect b="b" l="l" r="r" t="t"/>
            <a:pathLst>
              <a:path extrusionOk="0" h="1448" w="922">
                <a:moveTo>
                  <a:pt x="922" y="0"/>
                </a:moveTo>
                <a:lnTo>
                  <a:pt x="0" y="1448"/>
                </a:lnTo>
              </a:path>
            </a:pathLst>
          </a:custGeom>
          <a:noFill/>
          <a:ln cap="flat" cmpd="sng" w="19050">
            <a:solidFill>
              <a:srgbClr val="000000"/>
            </a:solidFill>
            <a:prstDash val="solid"/>
            <a:round/>
            <a:headEnd len="med" w="med"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0" name="Google Shape;5880;p80"/>
          <p:cNvSpPr txBox="1"/>
          <p:nvPr/>
        </p:nvSpPr>
        <p:spPr>
          <a:xfrm>
            <a:off x="7435850" y="4303713"/>
            <a:ext cx="1766888" cy="233362"/>
          </a:xfrm>
          <a:prstGeom prst="rect">
            <a:avLst/>
          </a:prstGeom>
          <a:noFill/>
          <a:ln>
            <a:noFill/>
          </a:ln>
        </p:spPr>
        <p:txBody>
          <a:bodyPr anchorCtr="0" anchor="t" bIns="35650" lIns="71300" spcFirstLastPara="1" rIns="71300" wrap="square" tIns="35650">
            <a:noAutofit/>
          </a:bodyPr>
          <a:lstStyle/>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m. WIDE Tokyo</a:t>
            </a:r>
            <a:endParaRPr/>
          </a:p>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(5 other sites)</a:t>
            </a:r>
            <a:endParaRPr sz="2400">
              <a:solidFill>
                <a:schemeClr val="dk1"/>
              </a:solidFill>
              <a:latin typeface="Times New Roman"/>
              <a:ea typeface="Times New Roman"/>
              <a:cs typeface="Times New Roman"/>
              <a:sym typeface="Times New Roman"/>
            </a:endParaRPr>
          </a:p>
        </p:txBody>
      </p:sp>
      <p:sp>
        <p:nvSpPr>
          <p:cNvPr id="5881" name="Google Shape;5881;p80"/>
          <p:cNvSpPr/>
          <p:nvPr/>
        </p:nvSpPr>
        <p:spPr>
          <a:xfrm>
            <a:off x="7099300" y="4598988"/>
            <a:ext cx="400050" cy="431800"/>
          </a:xfrm>
          <a:custGeom>
            <a:rect b="b" l="l" r="r" t="t"/>
            <a:pathLst>
              <a:path extrusionOk="0" h="462" w="252">
                <a:moveTo>
                  <a:pt x="252" y="0"/>
                </a:moveTo>
                <a:lnTo>
                  <a:pt x="0" y="462"/>
                </a:lnTo>
              </a:path>
            </a:pathLst>
          </a:custGeom>
          <a:noFill/>
          <a:ln cap="flat" cmpd="sng" w="19050">
            <a:solidFill>
              <a:srgbClr val="000000"/>
            </a:solidFill>
            <a:prstDash val="solid"/>
            <a:round/>
            <a:headEnd len="med" w="med"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2" name="Google Shape;5882;p80"/>
          <p:cNvSpPr txBox="1"/>
          <p:nvPr/>
        </p:nvSpPr>
        <p:spPr>
          <a:xfrm>
            <a:off x="3121025" y="3541714"/>
            <a:ext cx="2598738" cy="752475"/>
          </a:xfrm>
          <a:prstGeom prst="rect">
            <a:avLst/>
          </a:prstGeom>
          <a:noFill/>
          <a:ln>
            <a:noFill/>
          </a:ln>
        </p:spPr>
        <p:txBody>
          <a:bodyPr anchorCtr="0" anchor="t" bIns="35650" lIns="71300" spcFirstLastPara="1" rIns="71300" wrap="square" tIns="35650">
            <a:noAutofit/>
          </a:bodyPr>
          <a:lstStyle/>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c. Cogent, Herndon, VA (5 other sites)</a:t>
            </a:r>
            <a:endParaRPr/>
          </a:p>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d. U Maryland College Park, MD</a:t>
            </a:r>
            <a:endParaRPr/>
          </a:p>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h. ARL Aberdeen, MD</a:t>
            </a:r>
            <a:endParaRPr/>
          </a:p>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j. Verisign, Dulles VA (69 other sites )</a:t>
            </a:r>
            <a:endParaRPr sz="2400">
              <a:solidFill>
                <a:schemeClr val="dk1"/>
              </a:solidFill>
              <a:latin typeface="Times New Roman"/>
              <a:ea typeface="Times New Roman"/>
              <a:cs typeface="Times New Roman"/>
              <a:sym typeface="Times New Roman"/>
            </a:endParaRPr>
          </a:p>
        </p:txBody>
      </p:sp>
      <p:pic>
        <p:nvPicPr>
          <p:cNvPr descr="underline_base" id="5883" name="Google Shape;5883;p80"/>
          <p:cNvPicPr preferRelativeResize="0"/>
          <p:nvPr/>
        </p:nvPicPr>
        <p:blipFill rotWithShape="1">
          <a:blip r:embed="rId4">
            <a:alphaModFix/>
          </a:blip>
          <a:srcRect b="0" l="0" r="0" t="0"/>
          <a:stretch/>
        </p:blipFill>
        <p:spPr>
          <a:xfrm>
            <a:off x="2052638" y="884239"/>
            <a:ext cx="5484812" cy="173037"/>
          </a:xfrm>
          <a:prstGeom prst="rect">
            <a:avLst/>
          </a:prstGeom>
          <a:noFill/>
          <a:ln>
            <a:noFill/>
          </a:ln>
        </p:spPr>
      </p:pic>
      <p:cxnSp>
        <p:nvCxnSpPr>
          <p:cNvPr id="5884" name="Google Shape;5884;p80"/>
          <p:cNvCxnSpPr/>
          <p:nvPr/>
        </p:nvCxnSpPr>
        <p:spPr>
          <a:xfrm flipH="1">
            <a:off x="4402139" y="4278313"/>
            <a:ext cx="7937" cy="690562"/>
          </a:xfrm>
          <a:prstGeom prst="straightConnector1">
            <a:avLst/>
          </a:prstGeom>
          <a:noFill/>
          <a:ln cap="flat" cmpd="sng" w="12700">
            <a:solidFill>
              <a:schemeClr val="dk1"/>
            </a:solidFill>
            <a:prstDash val="solid"/>
            <a:round/>
            <a:headEnd len="med" w="med" type="none"/>
            <a:tailEnd len="med" w="med" type="triangle"/>
          </a:ln>
        </p:spPr>
      </p:cxnSp>
      <p:sp>
        <p:nvSpPr>
          <p:cNvPr id="5885" name="Google Shape;5885;p80"/>
          <p:cNvSpPr txBox="1"/>
          <p:nvPr/>
        </p:nvSpPr>
        <p:spPr>
          <a:xfrm>
            <a:off x="3074989" y="5889626"/>
            <a:ext cx="1470025" cy="519113"/>
          </a:xfrm>
          <a:prstGeom prst="rect">
            <a:avLst/>
          </a:prstGeom>
          <a:noFill/>
          <a:ln>
            <a:noFill/>
          </a:ln>
        </p:spPr>
        <p:txBody>
          <a:bodyPr anchorCtr="0" anchor="t" bIns="35650" lIns="71300" spcFirstLastPara="1" rIns="71300" wrap="square" tIns="35650">
            <a:noAutofit/>
          </a:bodyPr>
          <a:lstStyle/>
          <a:p>
            <a:pPr indent="0" lvl="0" marL="0" marR="0" rtl="0" algn="l">
              <a:lnSpc>
                <a:spcPct val="100000"/>
              </a:lnSpc>
              <a:spcBef>
                <a:spcPts val="0"/>
              </a:spcBef>
              <a:spcAft>
                <a:spcPts val="0"/>
              </a:spcAft>
              <a:buClr>
                <a:srgbClr val="000000"/>
              </a:buClr>
              <a:buSzPts val="1000"/>
              <a:buFont typeface="Noto Sans Symbols"/>
              <a:buNone/>
            </a:pPr>
            <a:r>
              <a:rPr lang="en-US" sz="1000">
                <a:solidFill>
                  <a:srgbClr val="000000"/>
                </a:solidFill>
                <a:latin typeface="Arial"/>
                <a:ea typeface="Arial"/>
                <a:cs typeface="Arial"/>
                <a:sym typeface="Arial"/>
              </a:rPr>
              <a:t>g. US DoD Columbus, OH (5 other sites)</a:t>
            </a:r>
            <a:endParaRPr sz="2400">
              <a:solidFill>
                <a:schemeClr val="dk1"/>
              </a:solidFill>
              <a:latin typeface="Times New Roman"/>
              <a:ea typeface="Times New Roman"/>
              <a:cs typeface="Times New Roman"/>
              <a:sym typeface="Times New Roman"/>
            </a:endParaRPr>
          </a:p>
        </p:txBody>
      </p:sp>
      <p:cxnSp>
        <p:nvCxnSpPr>
          <p:cNvPr id="5886" name="Google Shape;5886;p80"/>
          <p:cNvCxnSpPr>
            <a:stCxn id="5885" idx="0"/>
          </p:cNvCxnSpPr>
          <p:nvPr/>
        </p:nvCxnSpPr>
        <p:spPr>
          <a:xfrm flipH="1" rot="10800000">
            <a:off x="3810002" y="4944926"/>
            <a:ext cx="480900" cy="944700"/>
          </a:xfrm>
          <a:prstGeom prst="straightConnector1">
            <a:avLst/>
          </a:prstGeom>
          <a:noFill/>
          <a:ln cap="flat" cmpd="sng" w="12700">
            <a:solidFill>
              <a:schemeClr val="dk1"/>
            </a:solidFill>
            <a:prstDash val="solid"/>
            <a:round/>
            <a:headEnd len="med" w="med" type="none"/>
            <a:tailEnd len="med" w="med" type="triangle"/>
          </a:ln>
        </p:spPr>
      </p:cxn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1" name="Shape 5891"/>
        <p:cNvGrpSpPr/>
        <p:nvPr/>
      </p:nvGrpSpPr>
      <p:grpSpPr>
        <a:xfrm>
          <a:off x="0" y="0"/>
          <a:ext cx="0" cy="0"/>
          <a:chOff x="0" y="0"/>
          <a:chExt cx="0" cy="0"/>
        </a:xfrm>
      </p:grpSpPr>
      <p:sp>
        <p:nvSpPr>
          <p:cNvPr id="5892" name="Google Shape;5892;p8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TLD: </a:t>
            </a:r>
            <a:r>
              <a:rPr lang="en-US"/>
              <a:t>a</a:t>
            </a:r>
            <a:r>
              <a:rPr lang="en-US" sz="4400"/>
              <a:t>uthoritative </a:t>
            </a:r>
            <a:r>
              <a:rPr lang="en-US"/>
              <a:t>s</a:t>
            </a:r>
            <a:r>
              <a:rPr lang="en-US" sz="4400"/>
              <a:t>ervers</a:t>
            </a:r>
            <a:endParaRPr sz="4400"/>
          </a:p>
        </p:txBody>
      </p:sp>
      <p:sp>
        <p:nvSpPr>
          <p:cNvPr id="5893" name="Google Shape;5893;p8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5894" name="Google Shape;5894;p81"/>
          <p:cNvSpPr txBox="1"/>
          <p:nvPr/>
        </p:nvSpPr>
        <p:spPr>
          <a:xfrm>
            <a:off x="798692" y="1489418"/>
            <a:ext cx="10515600" cy="4648200"/>
          </a:xfrm>
          <a:prstGeom prst="rect">
            <a:avLst/>
          </a:prstGeom>
          <a:noFill/>
          <a:ln>
            <a:noFill/>
          </a:ln>
        </p:spPr>
        <p:txBody>
          <a:bodyPr anchorCtr="0" anchor="t" bIns="45700" lIns="91425" spcFirstLastPara="1" rIns="91425" wrap="square" tIns="45700">
            <a:noAutofit/>
          </a:bodyPr>
          <a:lstStyle/>
          <a:p>
            <a:pPr indent="0" lvl="0" marL="14288" marR="0" rtl="0" algn="l">
              <a:lnSpc>
                <a:spcPct val="90000"/>
              </a:lnSpc>
              <a:spcBef>
                <a:spcPts val="0"/>
              </a:spcBef>
              <a:spcAft>
                <a:spcPts val="0"/>
              </a:spcAft>
              <a:buClr>
                <a:srgbClr val="0000A3"/>
              </a:buClr>
              <a:buSzPts val="3200"/>
              <a:buFont typeface="Noto Sans Symbols"/>
              <a:buNone/>
            </a:pPr>
            <a:r>
              <a:rPr lang="en-US" sz="3200">
                <a:solidFill>
                  <a:srgbClr val="C00000"/>
                </a:solidFill>
                <a:latin typeface="Calibri"/>
                <a:ea typeface="Calibri"/>
                <a:cs typeface="Calibri"/>
                <a:sym typeface="Calibri"/>
              </a:rPr>
              <a:t>Top-Level Domain (TLD) servers:</a:t>
            </a:r>
            <a:endParaRPr/>
          </a:p>
          <a:p>
            <a:pPr indent="-287338" lvl="1" marL="46037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responsible for .com, .org, .net, .edu, .aero, .jobs, .museums, and all top-level country domains, e.g.: .cn, .uk, .fr, .ca, .jp</a:t>
            </a:r>
            <a:endParaRPr b="0" i="0" sz="2800" u="none" cap="none" strike="noStrike">
              <a:solidFill>
                <a:schemeClr val="dk1"/>
              </a:solidFill>
              <a:latin typeface="Calibri"/>
              <a:ea typeface="Calibri"/>
              <a:cs typeface="Calibri"/>
              <a:sym typeface="Calibri"/>
            </a:endParaRPr>
          </a:p>
          <a:p>
            <a:pPr indent="-287338" lvl="1" marL="46037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Network Solutions: authoritative registry for .com, .net TLD</a:t>
            </a:r>
            <a:endParaRPr/>
          </a:p>
          <a:p>
            <a:pPr indent="-287338" lvl="1" marL="46037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Educause: .edu TLD</a:t>
            </a:r>
            <a:endParaRPr/>
          </a:p>
          <a:p>
            <a:pPr indent="-222250" lvl="0" marL="352425" marR="0" rtl="0" algn="l">
              <a:lnSpc>
                <a:spcPct val="90000"/>
              </a:lnSpc>
              <a:spcBef>
                <a:spcPts val="2200"/>
              </a:spcBef>
              <a:spcAft>
                <a:spcPts val="0"/>
              </a:spcAft>
              <a:buClr>
                <a:srgbClr val="0000A3"/>
              </a:buClr>
              <a:buSzPts val="3200"/>
              <a:buFont typeface="Noto Sans Symbols"/>
              <a:buNone/>
            </a:pPr>
            <a:r>
              <a:rPr lang="en-US" sz="3200">
                <a:solidFill>
                  <a:srgbClr val="C00000"/>
                </a:solidFill>
                <a:latin typeface="Calibri"/>
                <a:ea typeface="Calibri"/>
                <a:cs typeface="Calibri"/>
                <a:sym typeface="Calibri"/>
              </a:rPr>
              <a:t>Authoritative DNS servers: </a:t>
            </a:r>
            <a:endParaRPr/>
          </a:p>
          <a:p>
            <a:pPr indent="-287338" lvl="1" marL="46037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organization’s own DNS server(s), providing authoritative hostname to IP mappings for organization’s named hosts </a:t>
            </a:r>
            <a:endParaRPr/>
          </a:p>
          <a:p>
            <a:pPr indent="-287338" lvl="1" marL="46037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can be maintained by organization or service provider</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9" name="Shape 5899"/>
        <p:cNvGrpSpPr/>
        <p:nvPr/>
      </p:nvGrpSpPr>
      <p:grpSpPr>
        <a:xfrm>
          <a:off x="0" y="0"/>
          <a:ext cx="0" cy="0"/>
          <a:chOff x="0" y="0"/>
          <a:chExt cx="0" cy="0"/>
        </a:xfrm>
      </p:grpSpPr>
      <p:sp>
        <p:nvSpPr>
          <p:cNvPr id="5900" name="Google Shape;5900;p8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Local DNS name </a:t>
            </a:r>
            <a:r>
              <a:rPr lang="en-US"/>
              <a:t>s</a:t>
            </a:r>
            <a:r>
              <a:rPr lang="en-US" sz="4400"/>
              <a:t>ervers</a:t>
            </a:r>
            <a:endParaRPr sz="4400"/>
          </a:p>
        </p:txBody>
      </p:sp>
      <p:sp>
        <p:nvSpPr>
          <p:cNvPr id="5901" name="Google Shape;5901;p8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5902" name="Google Shape;5902;p82"/>
          <p:cNvSpPr txBox="1"/>
          <p:nvPr/>
        </p:nvSpPr>
        <p:spPr>
          <a:xfrm>
            <a:off x="798691" y="1489418"/>
            <a:ext cx="10983578" cy="4648200"/>
          </a:xfrm>
          <a:prstGeom prst="rect">
            <a:avLst/>
          </a:prstGeom>
          <a:noFill/>
          <a:ln>
            <a:noFill/>
          </a:ln>
        </p:spPr>
        <p:txBody>
          <a:bodyPr anchorCtr="0" anchor="t" bIns="45700" lIns="91425" spcFirstLastPara="1" rIns="91425" wrap="square" tIns="45700">
            <a:noAutofit/>
          </a:bodyPr>
          <a:lstStyle/>
          <a:p>
            <a:pPr indent="-293688" lvl="0" marL="352425" marR="0" rtl="0" algn="l">
              <a:lnSpc>
                <a:spcPct val="90000"/>
              </a:lnSpc>
              <a:spcBef>
                <a:spcPts val="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does not strictly belong to hierarchy</a:t>
            </a:r>
            <a:endParaRPr/>
          </a:p>
          <a:p>
            <a:pPr indent="-293688" lvl="0" marL="35242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each ISP (residential ISP, company, university) has one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also called “default name server”</a:t>
            </a:r>
            <a:endParaRPr/>
          </a:p>
          <a:p>
            <a:pPr indent="-293688" lvl="0" marL="35242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when host makes DNS query, query is sent to its local DNS server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has local cache of recent name-to-address translation pairs (but may be out of date!)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acts as proxy, forwards query into hierarchy</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Gill Sans"/>
              <a:ea typeface="Gill Sans"/>
              <a:cs typeface="Gill Sans"/>
              <a:sym typeface="Gill Sans"/>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7" name="Shape 5907"/>
        <p:cNvGrpSpPr/>
        <p:nvPr/>
      </p:nvGrpSpPr>
      <p:grpSpPr>
        <a:xfrm>
          <a:off x="0" y="0"/>
          <a:ext cx="0" cy="0"/>
          <a:chOff x="0" y="0"/>
          <a:chExt cx="0" cy="0"/>
        </a:xfrm>
      </p:grpSpPr>
      <p:sp>
        <p:nvSpPr>
          <p:cNvPr id="5908" name="Google Shape;5908;p8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DNS name resolution: iterated query</a:t>
            </a:r>
            <a:endParaRPr sz="4400"/>
          </a:p>
        </p:txBody>
      </p:sp>
      <p:sp>
        <p:nvSpPr>
          <p:cNvPr id="5909" name="Google Shape;5909;p8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5910" name="Google Shape;5910;p83"/>
          <p:cNvSpPr txBox="1"/>
          <p:nvPr/>
        </p:nvSpPr>
        <p:spPr>
          <a:xfrm>
            <a:off x="684201" y="1617338"/>
            <a:ext cx="5664200" cy="1061130"/>
          </a:xfrm>
          <a:prstGeom prst="rect">
            <a:avLst/>
          </a:prstGeom>
          <a:noFill/>
          <a:ln>
            <a:noFill/>
          </a:ln>
        </p:spPr>
        <p:txBody>
          <a:bodyPr anchorCtr="0" anchor="t" bIns="45700" lIns="91425" spcFirstLastPara="1" rIns="91425" wrap="square" tIns="45700">
            <a:noAutofit/>
          </a:bodyPr>
          <a:lstStyle/>
          <a:p>
            <a:pPr indent="0" lvl="0" marL="130175" marR="0" rtl="0" algn="l">
              <a:lnSpc>
                <a:spcPct val="90000"/>
              </a:lnSpc>
              <a:spcBef>
                <a:spcPts val="0"/>
              </a:spcBef>
              <a:spcAft>
                <a:spcPts val="0"/>
              </a:spcAft>
              <a:buClr>
                <a:srgbClr val="0000A3"/>
              </a:buClr>
              <a:buSzPts val="2800"/>
              <a:buFont typeface="Noto Sans Symbols"/>
              <a:buNone/>
            </a:pPr>
            <a:r>
              <a:rPr lang="en-US" sz="2800">
                <a:solidFill>
                  <a:srgbClr val="0000A3"/>
                </a:solidFill>
                <a:latin typeface="Calibri"/>
                <a:ea typeface="Calibri"/>
                <a:cs typeface="Calibri"/>
                <a:sym typeface="Calibri"/>
              </a:rPr>
              <a:t>Example: </a:t>
            </a:r>
            <a:r>
              <a:rPr lang="en-US" sz="2800">
                <a:solidFill>
                  <a:schemeClr val="dk1"/>
                </a:solidFill>
                <a:latin typeface="Calibri"/>
                <a:ea typeface="Calibri"/>
                <a:cs typeface="Calibri"/>
                <a:sym typeface="Calibri"/>
              </a:rPr>
              <a:t>host at </a:t>
            </a:r>
            <a:r>
              <a:rPr lang="en-US" sz="2400">
                <a:solidFill>
                  <a:schemeClr val="dk1"/>
                </a:solidFill>
                <a:latin typeface="Calibri"/>
                <a:ea typeface="Calibri"/>
                <a:cs typeface="Calibri"/>
                <a:sym typeface="Calibri"/>
              </a:rPr>
              <a:t>engineering.nyu.edu </a:t>
            </a:r>
            <a:r>
              <a:rPr lang="en-US" sz="2800">
                <a:solidFill>
                  <a:schemeClr val="dk1"/>
                </a:solidFill>
                <a:latin typeface="Calibri"/>
                <a:ea typeface="Calibri"/>
                <a:cs typeface="Calibri"/>
                <a:sym typeface="Calibri"/>
              </a:rPr>
              <a:t>wants IP address for </a:t>
            </a:r>
            <a:r>
              <a:rPr lang="en-US" sz="2400">
                <a:solidFill>
                  <a:schemeClr val="dk1"/>
                </a:solidFill>
                <a:latin typeface="Calibri"/>
                <a:ea typeface="Calibri"/>
                <a:cs typeface="Calibri"/>
                <a:sym typeface="Calibri"/>
              </a:rPr>
              <a:t>gaia.cs.umass.edu</a:t>
            </a:r>
            <a:endParaRPr sz="2800">
              <a:solidFill>
                <a:schemeClr val="dk1"/>
              </a:solidFill>
              <a:latin typeface="Calibri"/>
              <a:ea typeface="Calibri"/>
              <a:cs typeface="Calibri"/>
              <a:sym typeface="Calibri"/>
            </a:endParaRPr>
          </a:p>
        </p:txBody>
      </p:sp>
      <p:sp>
        <p:nvSpPr>
          <p:cNvPr id="5911" name="Google Shape;5911;p83"/>
          <p:cNvSpPr/>
          <p:nvPr/>
        </p:nvSpPr>
        <p:spPr>
          <a:xfrm>
            <a:off x="858433" y="2824122"/>
            <a:ext cx="4093780" cy="2617787"/>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3200">
                <a:solidFill>
                  <a:srgbClr val="CC0000"/>
                </a:solidFill>
                <a:latin typeface="Calibri"/>
                <a:ea typeface="Calibri"/>
                <a:cs typeface="Calibri"/>
                <a:sym typeface="Calibri"/>
              </a:rPr>
              <a:t>Iterated query:</a:t>
            </a:r>
            <a:endParaRPr/>
          </a:p>
          <a:p>
            <a:pPr indent="-285750" lvl="0" marL="342900" marR="0" rtl="0" algn="l">
              <a:lnSpc>
                <a:spcPct val="85000"/>
              </a:lnSpc>
              <a:spcBef>
                <a:spcPts val="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contacted server replies with name of server to contact</a:t>
            </a:r>
            <a:endParaRPr/>
          </a:p>
          <a:p>
            <a:pPr indent="-285750" lvl="0" marL="342900" marR="0" rtl="0" algn="l">
              <a:lnSpc>
                <a:spcPct val="85000"/>
              </a:lnSpc>
              <a:spcBef>
                <a:spcPts val="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“I don’t know this name, but ask this server”</a:t>
            </a:r>
            <a:endParaRPr sz="2800">
              <a:solidFill>
                <a:schemeClr val="dk1"/>
              </a:solidFill>
              <a:latin typeface="Calibri"/>
              <a:ea typeface="Calibri"/>
              <a:cs typeface="Calibri"/>
              <a:sym typeface="Calibri"/>
            </a:endParaRPr>
          </a:p>
        </p:txBody>
      </p:sp>
      <p:sp>
        <p:nvSpPr>
          <p:cNvPr id="5912" name="Google Shape;5912;p83"/>
          <p:cNvSpPr txBox="1"/>
          <p:nvPr/>
        </p:nvSpPr>
        <p:spPr>
          <a:xfrm>
            <a:off x="4953226" y="3848735"/>
            <a:ext cx="1854995"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requesting host at</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99"/>
              </a:buClr>
              <a:buSzPts val="1400"/>
              <a:buFont typeface="Arial"/>
              <a:buNone/>
            </a:pPr>
            <a:r>
              <a:rPr i="1" lang="en-US" sz="1400">
                <a:solidFill>
                  <a:srgbClr val="000099"/>
                </a:solidFill>
                <a:latin typeface="Arial"/>
                <a:ea typeface="Arial"/>
                <a:cs typeface="Arial"/>
                <a:sym typeface="Arial"/>
              </a:rPr>
              <a:t>engineering.nyu</a:t>
            </a:r>
            <a:r>
              <a:rPr b="0" i="1" lang="en-US" sz="1400" u="none" cap="none" strike="noStrike">
                <a:solidFill>
                  <a:srgbClr val="000099"/>
                </a:solidFill>
                <a:latin typeface="Arial"/>
                <a:ea typeface="Arial"/>
                <a:cs typeface="Arial"/>
                <a:sym typeface="Arial"/>
              </a:rPr>
              <a:t>.edu</a:t>
            </a:r>
            <a:endParaRPr b="0" i="1" sz="1400" u="none" cap="none" strike="noStrike">
              <a:solidFill>
                <a:srgbClr val="000099"/>
              </a:solidFill>
              <a:latin typeface="Arial"/>
              <a:ea typeface="Arial"/>
              <a:cs typeface="Arial"/>
              <a:sym typeface="Arial"/>
            </a:endParaRPr>
          </a:p>
        </p:txBody>
      </p:sp>
      <p:sp>
        <p:nvSpPr>
          <p:cNvPr id="5913" name="Google Shape;5913;p83"/>
          <p:cNvSpPr txBox="1"/>
          <p:nvPr/>
        </p:nvSpPr>
        <p:spPr>
          <a:xfrm>
            <a:off x="10182058" y="4237785"/>
            <a:ext cx="18780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gaia.cs.umass.edu</a:t>
            </a:r>
            <a:endParaRPr b="0" i="1" sz="1600" u="none" cap="none" strike="noStrike">
              <a:solidFill>
                <a:srgbClr val="000000"/>
              </a:solidFill>
              <a:latin typeface="Arial"/>
              <a:ea typeface="Arial"/>
              <a:cs typeface="Arial"/>
              <a:sym typeface="Arial"/>
            </a:endParaRPr>
          </a:p>
        </p:txBody>
      </p:sp>
      <p:sp>
        <p:nvSpPr>
          <p:cNvPr id="5914" name="Google Shape;5914;p83"/>
          <p:cNvSpPr txBox="1"/>
          <p:nvPr/>
        </p:nvSpPr>
        <p:spPr>
          <a:xfrm>
            <a:off x="8172896" y="1322438"/>
            <a:ext cx="2011363"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root DNS server</a:t>
            </a:r>
            <a:endParaRPr b="0" i="0" sz="1600" u="none" cap="none" strike="noStrike">
              <a:solidFill>
                <a:srgbClr val="000000"/>
              </a:solidFill>
              <a:latin typeface="Arial"/>
              <a:ea typeface="Arial"/>
              <a:cs typeface="Arial"/>
              <a:sym typeface="Arial"/>
            </a:endParaRPr>
          </a:p>
        </p:txBody>
      </p:sp>
      <p:cxnSp>
        <p:nvCxnSpPr>
          <p:cNvPr id="5915" name="Google Shape;5915;p83"/>
          <p:cNvCxnSpPr/>
          <p:nvPr/>
        </p:nvCxnSpPr>
        <p:spPr>
          <a:xfrm>
            <a:off x="6489235" y="3275781"/>
            <a:ext cx="1196994" cy="0"/>
          </a:xfrm>
          <a:prstGeom prst="straightConnector1">
            <a:avLst/>
          </a:prstGeom>
          <a:noFill/>
          <a:ln cap="flat" cmpd="sng" w="28575">
            <a:solidFill>
              <a:srgbClr val="CC0000"/>
            </a:solidFill>
            <a:prstDash val="solid"/>
            <a:round/>
            <a:headEnd len="med" w="med" type="none"/>
            <a:tailEnd len="med" w="med" type="triangle"/>
          </a:ln>
        </p:spPr>
      </p:cxnSp>
      <p:cxnSp>
        <p:nvCxnSpPr>
          <p:cNvPr id="5916" name="Google Shape;5916;p83"/>
          <p:cNvCxnSpPr/>
          <p:nvPr/>
        </p:nvCxnSpPr>
        <p:spPr>
          <a:xfrm flipH="1" rot="10800000">
            <a:off x="7968785" y="2005693"/>
            <a:ext cx="914400" cy="971550"/>
          </a:xfrm>
          <a:prstGeom prst="straightConnector1">
            <a:avLst/>
          </a:prstGeom>
          <a:noFill/>
          <a:ln cap="flat" cmpd="sng" w="28575">
            <a:solidFill>
              <a:srgbClr val="CC0000"/>
            </a:solidFill>
            <a:prstDash val="solid"/>
            <a:round/>
            <a:headEnd len="med" w="med" type="none"/>
            <a:tailEnd len="med" w="med" type="triangle"/>
          </a:ln>
        </p:spPr>
      </p:cxnSp>
      <p:cxnSp>
        <p:nvCxnSpPr>
          <p:cNvPr id="5917" name="Google Shape;5917;p83"/>
          <p:cNvCxnSpPr/>
          <p:nvPr/>
        </p:nvCxnSpPr>
        <p:spPr>
          <a:xfrm flipH="1" rot="10800000">
            <a:off x="8254535" y="3167743"/>
            <a:ext cx="1485900" cy="9525"/>
          </a:xfrm>
          <a:prstGeom prst="straightConnector1">
            <a:avLst/>
          </a:prstGeom>
          <a:noFill/>
          <a:ln cap="flat" cmpd="sng" w="28575">
            <a:solidFill>
              <a:srgbClr val="CC0000"/>
            </a:solidFill>
            <a:prstDash val="solid"/>
            <a:round/>
            <a:headEnd len="med" w="med" type="none"/>
            <a:tailEnd len="med" w="med" type="triangle"/>
          </a:ln>
        </p:spPr>
      </p:cxnSp>
      <p:cxnSp>
        <p:nvCxnSpPr>
          <p:cNvPr id="5918" name="Google Shape;5918;p83"/>
          <p:cNvCxnSpPr/>
          <p:nvPr/>
        </p:nvCxnSpPr>
        <p:spPr>
          <a:xfrm rot="10800000">
            <a:off x="8254535" y="3339193"/>
            <a:ext cx="1419225" cy="0"/>
          </a:xfrm>
          <a:prstGeom prst="straightConnector1">
            <a:avLst/>
          </a:prstGeom>
          <a:noFill/>
          <a:ln cap="flat" cmpd="sng" w="28575">
            <a:solidFill>
              <a:srgbClr val="CC0000"/>
            </a:solidFill>
            <a:prstDash val="solid"/>
            <a:round/>
            <a:headEnd len="med" w="med" type="none"/>
            <a:tailEnd len="med" w="med" type="triangle"/>
          </a:ln>
        </p:spPr>
      </p:cxnSp>
      <p:cxnSp>
        <p:nvCxnSpPr>
          <p:cNvPr id="5919" name="Google Shape;5919;p83"/>
          <p:cNvCxnSpPr/>
          <p:nvPr/>
        </p:nvCxnSpPr>
        <p:spPr>
          <a:xfrm flipH="1">
            <a:off x="8178335" y="2234293"/>
            <a:ext cx="733425" cy="762000"/>
          </a:xfrm>
          <a:prstGeom prst="straightConnector1">
            <a:avLst/>
          </a:prstGeom>
          <a:noFill/>
          <a:ln cap="flat" cmpd="sng" w="28575">
            <a:solidFill>
              <a:srgbClr val="CC0000"/>
            </a:solidFill>
            <a:prstDash val="solid"/>
            <a:round/>
            <a:headEnd len="med" w="med" type="none"/>
            <a:tailEnd len="med" w="med" type="triangle"/>
          </a:ln>
        </p:spPr>
      </p:cxnSp>
      <p:cxnSp>
        <p:nvCxnSpPr>
          <p:cNvPr id="5920" name="Google Shape;5920;p83"/>
          <p:cNvCxnSpPr/>
          <p:nvPr/>
        </p:nvCxnSpPr>
        <p:spPr>
          <a:xfrm rot="10800000">
            <a:off x="6381511" y="3439703"/>
            <a:ext cx="1319232" cy="0"/>
          </a:xfrm>
          <a:prstGeom prst="straightConnector1">
            <a:avLst/>
          </a:prstGeom>
          <a:noFill/>
          <a:ln cap="flat" cmpd="sng" w="28575">
            <a:solidFill>
              <a:srgbClr val="CC0000"/>
            </a:solidFill>
            <a:prstDash val="solid"/>
            <a:round/>
            <a:headEnd len="med" w="med" type="none"/>
            <a:tailEnd len="med" w="med" type="triangle"/>
          </a:ln>
        </p:spPr>
      </p:cxnSp>
      <p:grpSp>
        <p:nvGrpSpPr>
          <p:cNvPr id="5921" name="Google Shape;5921;p83"/>
          <p:cNvGrpSpPr/>
          <p:nvPr/>
        </p:nvGrpSpPr>
        <p:grpSpPr>
          <a:xfrm>
            <a:off x="6759111" y="3847199"/>
            <a:ext cx="1876425" cy="554038"/>
            <a:chOff x="2838" y="2132"/>
            <a:chExt cx="1182" cy="349"/>
          </a:xfrm>
        </p:grpSpPr>
        <p:sp>
          <p:nvSpPr>
            <p:cNvPr id="5922" name="Google Shape;5922;p83"/>
            <p:cNvSpPr/>
            <p:nvPr/>
          </p:nvSpPr>
          <p:spPr>
            <a:xfrm>
              <a:off x="2838" y="2178"/>
              <a:ext cx="1182" cy="3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5923" name="Google Shape;5923;p83"/>
            <p:cNvSpPr txBox="1"/>
            <p:nvPr/>
          </p:nvSpPr>
          <p:spPr>
            <a:xfrm>
              <a:off x="2887" y="2132"/>
              <a:ext cx="1085" cy="34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local DNS server</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99"/>
                </a:buClr>
                <a:buSzPts val="1400"/>
                <a:buFont typeface="Arial"/>
                <a:buNone/>
              </a:pPr>
              <a:r>
                <a:rPr b="0" i="1" lang="en-US" sz="1400" u="none" cap="none" strike="noStrike">
                  <a:solidFill>
                    <a:srgbClr val="000099"/>
                  </a:solidFill>
                  <a:latin typeface="Arial"/>
                  <a:ea typeface="Arial"/>
                  <a:cs typeface="Arial"/>
                  <a:sym typeface="Arial"/>
                </a:rPr>
                <a:t>dns.nyu.edu</a:t>
              </a:r>
              <a:endParaRPr b="0" i="1" sz="1400" u="none" cap="none" strike="noStrike">
                <a:solidFill>
                  <a:srgbClr val="000099"/>
                </a:solidFill>
                <a:latin typeface="Arial"/>
                <a:ea typeface="Arial"/>
                <a:cs typeface="Arial"/>
                <a:sym typeface="Arial"/>
              </a:endParaRPr>
            </a:p>
          </p:txBody>
        </p:sp>
      </p:grpSp>
      <p:sp>
        <p:nvSpPr>
          <p:cNvPr id="5924" name="Google Shape;5924;p83"/>
          <p:cNvSpPr txBox="1"/>
          <p:nvPr/>
        </p:nvSpPr>
        <p:spPr>
          <a:xfrm>
            <a:off x="6939499" y="2886705"/>
            <a:ext cx="3111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1</a:t>
            </a:r>
            <a:endParaRPr b="0" i="0" sz="2400" u="none" cap="none" strike="noStrike">
              <a:solidFill>
                <a:srgbClr val="CC0000"/>
              </a:solidFill>
              <a:latin typeface="Arial"/>
              <a:ea typeface="Arial"/>
              <a:cs typeface="Arial"/>
              <a:sym typeface="Arial"/>
            </a:endParaRPr>
          </a:p>
        </p:txBody>
      </p:sp>
      <p:sp>
        <p:nvSpPr>
          <p:cNvPr id="5925" name="Google Shape;5925;p83"/>
          <p:cNvSpPr txBox="1"/>
          <p:nvPr/>
        </p:nvSpPr>
        <p:spPr>
          <a:xfrm>
            <a:off x="8108485" y="2223180"/>
            <a:ext cx="3111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2</a:t>
            </a:r>
            <a:endParaRPr b="0" i="0" sz="2400" u="none" cap="none" strike="noStrike">
              <a:solidFill>
                <a:srgbClr val="CC0000"/>
              </a:solidFill>
              <a:latin typeface="Arial"/>
              <a:ea typeface="Arial"/>
              <a:cs typeface="Arial"/>
              <a:sym typeface="Arial"/>
            </a:endParaRPr>
          </a:p>
        </p:txBody>
      </p:sp>
      <p:sp>
        <p:nvSpPr>
          <p:cNvPr id="5926" name="Google Shape;5926;p83"/>
          <p:cNvSpPr txBox="1"/>
          <p:nvPr/>
        </p:nvSpPr>
        <p:spPr>
          <a:xfrm>
            <a:off x="8546635" y="2461305"/>
            <a:ext cx="3111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3</a:t>
            </a:r>
            <a:endParaRPr b="0" i="0" sz="2400" u="none" cap="none" strike="noStrike">
              <a:solidFill>
                <a:srgbClr val="CC0000"/>
              </a:solidFill>
              <a:latin typeface="Arial"/>
              <a:ea typeface="Arial"/>
              <a:cs typeface="Arial"/>
              <a:sym typeface="Arial"/>
            </a:endParaRPr>
          </a:p>
        </p:txBody>
      </p:sp>
      <p:sp>
        <p:nvSpPr>
          <p:cNvPr id="5927" name="Google Shape;5927;p83"/>
          <p:cNvSpPr txBox="1"/>
          <p:nvPr/>
        </p:nvSpPr>
        <p:spPr>
          <a:xfrm>
            <a:off x="8860960" y="2870880"/>
            <a:ext cx="3111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4</a:t>
            </a:r>
            <a:endParaRPr b="0" i="0" sz="2400" u="none" cap="none" strike="noStrike">
              <a:solidFill>
                <a:srgbClr val="CC0000"/>
              </a:solidFill>
              <a:latin typeface="Arial"/>
              <a:ea typeface="Arial"/>
              <a:cs typeface="Arial"/>
              <a:sym typeface="Arial"/>
            </a:endParaRPr>
          </a:p>
        </p:txBody>
      </p:sp>
      <p:sp>
        <p:nvSpPr>
          <p:cNvPr id="5928" name="Google Shape;5928;p83"/>
          <p:cNvSpPr txBox="1"/>
          <p:nvPr/>
        </p:nvSpPr>
        <p:spPr>
          <a:xfrm>
            <a:off x="8891123" y="3358243"/>
            <a:ext cx="3111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5</a:t>
            </a:r>
            <a:endParaRPr b="0" i="0" sz="2400" u="none" cap="none" strike="noStrike">
              <a:solidFill>
                <a:srgbClr val="CC0000"/>
              </a:solidFill>
              <a:latin typeface="Arial"/>
              <a:ea typeface="Arial"/>
              <a:cs typeface="Arial"/>
              <a:sym typeface="Arial"/>
            </a:endParaRPr>
          </a:p>
        </p:txBody>
      </p:sp>
      <p:sp>
        <p:nvSpPr>
          <p:cNvPr id="5929" name="Google Shape;5929;p83"/>
          <p:cNvSpPr txBox="1"/>
          <p:nvPr/>
        </p:nvSpPr>
        <p:spPr>
          <a:xfrm>
            <a:off x="9488023" y="4398055"/>
            <a:ext cx="3111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6</a:t>
            </a:r>
            <a:endParaRPr b="0" i="0" sz="2400" u="none" cap="none" strike="noStrike">
              <a:solidFill>
                <a:srgbClr val="CC0000"/>
              </a:solidFill>
              <a:latin typeface="Arial"/>
              <a:ea typeface="Arial"/>
              <a:cs typeface="Arial"/>
              <a:sym typeface="Arial"/>
            </a:endParaRPr>
          </a:p>
        </p:txBody>
      </p:sp>
      <p:sp>
        <p:nvSpPr>
          <p:cNvPr id="5930" name="Google Shape;5930;p83"/>
          <p:cNvSpPr txBox="1"/>
          <p:nvPr/>
        </p:nvSpPr>
        <p:spPr>
          <a:xfrm>
            <a:off x="8921285" y="5214030"/>
            <a:ext cx="2397125"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authoritative DNS server</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dns.cs.umass.edu</a:t>
            </a:r>
            <a:endParaRPr b="0" i="0" sz="1600" u="none" cap="none" strike="noStrike">
              <a:solidFill>
                <a:srgbClr val="000000"/>
              </a:solidFill>
              <a:latin typeface="Arial"/>
              <a:ea typeface="Arial"/>
              <a:cs typeface="Arial"/>
              <a:sym typeface="Arial"/>
            </a:endParaRPr>
          </a:p>
        </p:txBody>
      </p:sp>
      <p:sp>
        <p:nvSpPr>
          <p:cNvPr id="5931" name="Google Shape;5931;p83"/>
          <p:cNvSpPr txBox="1"/>
          <p:nvPr/>
        </p:nvSpPr>
        <p:spPr>
          <a:xfrm>
            <a:off x="8860960" y="4428218"/>
            <a:ext cx="3111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7</a:t>
            </a:r>
            <a:endParaRPr b="0" i="0" sz="2400" u="none" cap="none" strike="noStrike">
              <a:solidFill>
                <a:srgbClr val="CC0000"/>
              </a:solidFill>
              <a:latin typeface="Arial"/>
              <a:ea typeface="Arial"/>
              <a:cs typeface="Arial"/>
              <a:sym typeface="Arial"/>
            </a:endParaRPr>
          </a:p>
        </p:txBody>
      </p:sp>
      <p:sp>
        <p:nvSpPr>
          <p:cNvPr id="5932" name="Google Shape;5932;p83"/>
          <p:cNvSpPr txBox="1"/>
          <p:nvPr/>
        </p:nvSpPr>
        <p:spPr>
          <a:xfrm>
            <a:off x="6940022" y="3470502"/>
            <a:ext cx="3111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8</a:t>
            </a:r>
            <a:endParaRPr b="0" i="0" sz="2400" u="none" cap="none" strike="noStrike">
              <a:solidFill>
                <a:srgbClr val="CC0000"/>
              </a:solidFill>
              <a:latin typeface="Arial"/>
              <a:ea typeface="Arial"/>
              <a:cs typeface="Arial"/>
              <a:sym typeface="Arial"/>
            </a:endParaRPr>
          </a:p>
        </p:txBody>
      </p:sp>
      <p:cxnSp>
        <p:nvCxnSpPr>
          <p:cNvPr id="5933" name="Google Shape;5933;p83"/>
          <p:cNvCxnSpPr/>
          <p:nvPr/>
        </p:nvCxnSpPr>
        <p:spPr>
          <a:xfrm>
            <a:off x="8187860" y="3499530"/>
            <a:ext cx="1493838" cy="1314450"/>
          </a:xfrm>
          <a:prstGeom prst="straightConnector1">
            <a:avLst/>
          </a:prstGeom>
          <a:noFill/>
          <a:ln cap="flat" cmpd="sng" w="25400">
            <a:solidFill>
              <a:srgbClr val="CC0000"/>
            </a:solidFill>
            <a:prstDash val="solid"/>
            <a:round/>
            <a:headEnd len="med" w="med" type="none"/>
            <a:tailEnd len="med" w="med" type="triangle"/>
          </a:ln>
        </p:spPr>
      </p:cxnSp>
      <p:cxnSp>
        <p:nvCxnSpPr>
          <p:cNvPr id="5934" name="Google Shape;5934;p83"/>
          <p:cNvCxnSpPr/>
          <p:nvPr/>
        </p:nvCxnSpPr>
        <p:spPr>
          <a:xfrm rot="10800000">
            <a:off x="8148173" y="3624943"/>
            <a:ext cx="1493837" cy="1301750"/>
          </a:xfrm>
          <a:prstGeom prst="straightConnector1">
            <a:avLst/>
          </a:prstGeom>
          <a:noFill/>
          <a:ln cap="flat" cmpd="sng" w="25400">
            <a:solidFill>
              <a:srgbClr val="CC0000"/>
            </a:solidFill>
            <a:prstDash val="solid"/>
            <a:round/>
            <a:headEnd len="med" w="med" type="none"/>
            <a:tailEnd len="med" w="med" type="triangle"/>
          </a:ln>
        </p:spPr>
      </p:cxnSp>
      <p:sp>
        <p:nvSpPr>
          <p:cNvPr id="5935" name="Google Shape;5935;p83"/>
          <p:cNvSpPr txBox="1"/>
          <p:nvPr/>
        </p:nvSpPr>
        <p:spPr>
          <a:xfrm>
            <a:off x="8974583" y="2608490"/>
            <a:ext cx="2011362"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TLD DNS server</a:t>
            </a:r>
            <a:endParaRPr b="0" i="0" sz="1600" u="none" cap="none" strike="noStrike">
              <a:solidFill>
                <a:srgbClr val="000000"/>
              </a:solidFill>
              <a:latin typeface="Arial"/>
              <a:ea typeface="Arial"/>
              <a:cs typeface="Arial"/>
              <a:sym typeface="Arial"/>
            </a:endParaRPr>
          </a:p>
        </p:txBody>
      </p:sp>
      <p:grpSp>
        <p:nvGrpSpPr>
          <p:cNvPr id="5936" name="Google Shape;5936;p83"/>
          <p:cNvGrpSpPr/>
          <p:nvPr/>
        </p:nvGrpSpPr>
        <p:grpSpPr>
          <a:xfrm flipH="1">
            <a:off x="10659797" y="4619665"/>
            <a:ext cx="787391" cy="614055"/>
            <a:chOff x="-44" y="1473"/>
            <a:chExt cx="981" cy="1105"/>
          </a:xfrm>
        </p:grpSpPr>
        <p:pic>
          <p:nvPicPr>
            <p:cNvPr descr="desktop_computer_stylized_medium" id="5937" name="Google Shape;5937;p8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938" name="Google Shape;5938;p8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5939" name="Google Shape;5939;p83"/>
          <p:cNvGrpSpPr/>
          <p:nvPr/>
        </p:nvGrpSpPr>
        <p:grpSpPr>
          <a:xfrm>
            <a:off x="5483417" y="3053085"/>
            <a:ext cx="883580" cy="766310"/>
            <a:chOff x="-44" y="1473"/>
            <a:chExt cx="981" cy="1105"/>
          </a:xfrm>
        </p:grpSpPr>
        <p:pic>
          <p:nvPicPr>
            <p:cNvPr descr="desktop_computer_stylized_medium" id="5940" name="Google Shape;5940;p8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941" name="Google Shape;5941;p8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5942" name="Google Shape;5942;p83"/>
          <p:cNvGrpSpPr/>
          <p:nvPr/>
        </p:nvGrpSpPr>
        <p:grpSpPr>
          <a:xfrm>
            <a:off x="9794410" y="4528230"/>
            <a:ext cx="390525" cy="641350"/>
            <a:chOff x="4140" y="429"/>
            <a:chExt cx="1425" cy="2396"/>
          </a:xfrm>
        </p:grpSpPr>
        <p:sp>
          <p:nvSpPr>
            <p:cNvPr id="5943" name="Google Shape;5943;p8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44" name="Google Shape;5944;p83"/>
            <p:cNvSpPr/>
            <p:nvPr/>
          </p:nvSpPr>
          <p:spPr>
            <a:xfrm>
              <a:off x="4204" y="429"/>
              <a:ext cx="1048"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45" name="Google Shape;5945;p8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46" name="Google Shape;5946;p8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47" name="Google Shape;5947;p83"/>
            <p:cNvSpPr/>
            <p:nvPr/>
          </p:nvSpPr>
          <p:spPr>
            <a:xfrm>
              <a:off x="4210" y="696"/>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948" name="Google Shape;5948;p83"/>
            <p:cNvGrpSpPr/>
            <p:nvPr/>
          </p:nvGrpSpPr>
          <p:grpSpPr>
            <a:xfrm>
              <a:off x="4748" y="666"/>
              <a:ext cx="579" cy="148"/>
              <a:chOff x="613" y="2566"/>
              <a:chExt cx="723" cy="142"/>
            </a:xfrm>
          </p:grpSpPr>
          <p:sp>
            <p:nvSpPr>
              <p:cNvPr id="5949" name="Google Shape;5949;p83"/>
              <p:cNvSpPr/>
              <p:nvPr/>
            </p:nvSpPr>
            <p:spPr>
              <a:xfrm>
                <a:off x="613" y="2566"/>
                <a:ext cx="723"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50" name="Google Shape;5950;p83"/>
              <p:cNvSpPr/>
              <p:nvPr/>
            </p:nvSpPr>
            <p:spPr>
              <a:xfrm>
                <a:off x="628" y="2583"/>
                <a:ext cx="694"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951" name="Google Shape;5951;p83"/>
            <p:cNvSpPr/>
            <p:nvPr/>
          </p:nvSpPr>
          <p:spPr>
            <a:xfrm>
              <a:off x="4227" y="1016"/>
              <a:ext cx="591"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952" name="Google Shape;5952;p83"/>
            <p:cNvGrpSpPr/>
            <p:nvPr/>
          </p:nvGrpSpPr>
          <p:grpSpPr>
            <a:xfrm>
              <a:off x="4749" y="992"/>
              <a:ext cx="579" cy="136"/>
              <a:chOff x="616" y="2566"/>
              <a:chExt cx="723" cy="141"/>
            </a:xfrm>
          </p:grpSpPr>
          <p:sp>
            <p:nvSpPr>
              <p:cNvPr id="5953" name="Google Shape;5953;p83"/>
              <p:cNvSpPr/>
              <p:nvPr/>
            </p:nvSpPr>
            <p:spPr>
              <a:xfrm>
                <a:off x="616" y="2566"/>
                <a:ext cx="723"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54" name="Google Shape;5954;p83"/>
              <p:cNvSpPr/>
              <p:nvPr/>
            </p:nvSpPr>
            <p:spPr>
              <a:xfrm>
                <a:off x="630" y="2585"/>
                <a:ext cx="694"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955" name="Google Shape;5955;p83"/>
            <p:cNvSpPr/>
            <p:nvPr/>
          </p:nvSpPr>
          <p:spPr>
            <a:xfrm>
              <a:off x="4215" y="1360"/>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56" name="Google Shape;5956;p83"/>
            <p:cNvSpPr/>
            <p:nvPr/>
          </p:nvSpPr>
          <p:spPr>
            <a:xfrm>
              <a:off x="4227" y="1657"/>
              <a:ext cx="597"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957" name="Google Shape;5957;p83"/>
            <p:cNvGrpSpPr/>
            <p:nvPr/>
          </p:nvGrpSpPr>
          <p:grpSpPr>
            <a:xfrm>
              <a:off x="4737" y="1627"/>
              <a:ext cx="580" cy="142"/>
              <a:chOff x="616" y="2568"/>
              <a:chExt cx="722" cy="131"/>
            </a:xfrm>
          </p:grpSpPr>
          <p:sp>
            <p:nvSpPr>
              <p:cNvPr id="5958" name="Google Shape;5958;p83"/>
              <p:cNvSpPr/>
              <p:nvPr/>
            </p:nvSpPr>
            <p:spPr>
              <a:xfrm>
                <a:off x="616" y="2568"/>
                <a:ext cx="722" cy="13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59" name="Google Shape;5959;p83"/>
              <p:cNvSpPr/>
              <p:nvPr/>
            </p:nvSpPr>
            <p:spPr>
              <a:xfrm>
                <a:off x="630" y="2584"/>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960" name="Google Shape;5960;p8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961" name="Google Shape;5961;p83"/>
            <p:cNvGrpSpPr/>
            <p:nvPr/>
          </p:nvGrpSpPr>
          <p:grpSpPr>
            <a:xfrm>
              <a:off x="4737" y="1325"/>
              <a:ext cx="585" cy="142"/>
              <a:chOff x="611" y="2566"/>
              <a:chExt cx="729" cy="142"/>
            </a:xfrm>
          </p:grpSpPr>
          <p:sp>
            <p:nvSpPr>
              <p:cNvPr id="5962" name="Google Shape;5962;p83"/>
              <p:cNvSpPr/>
              <p:nvPr/>
            </p:nvSpPr>
            <p:spPr>
              <a:xfrm>
                <a:off x="611" y="2566"/>
                <a:ext cx="729"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63" name="Google Shape;5963;p83"/>
              <p:cNvSpPr/>
              <p:nvPr/>
            </p:nvSpPr>
            <p:spPr>
              <a:xfrm>
                <a:off x="626" y="2583"/>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964" name="Google Shape;5964;p83"/>
            <p:cNvSpPr/>
            <p:nvPr/>
          </p:nvSpPr>
          <p:spPr>
            <a:xfrm>
              <a:off x="5252" y="429"/>
              <a:ext cx="64" cy="2289"/>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65" name="Google Shape;5965;p8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66" name="Google Shape;5966;p8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67" name="Google Shape;5967;p83"/>
            <p:cNvSpPr/>
            <p:nvPr/>
          </p:nvSpPr>
          <p:spPr>
            <a:xfrm>
              <a:off x="5519" y="2611"/>
              <a:ext cx="46"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68" name="Google Shape;5968;p8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69" name="Google Shape;5969;p83"/>
            <p:cNvSpPr/>
            <p:nvPr/>
          </p:nvSpPr>
          <p:spPr>
            <a:xfrm>
              <a:off x="4140" y="2677"/>
              <a:ext cx="1199"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70" name="Google Shape;5970;p83"/>
            <p:cNvSpPr/>
            <p:nvPr/>
          </p:nvSpPr>
          <p:spPr>
            <a:xfrm>
              <a:off x="4204" y="2712"/>
              <a:ext cx="1072" cy="83"/>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71" name="Google Shape;5971;p83"/>
            <p:cNvSpPr/>
            <p:nvPr/>
          </p:nvSpPr>
          <p:spPr>
            <a:xfrm>
              <a:off x="4308" y="2380"/>
              <a:ext cx="156"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72" name="Google Shape;5972;p83"/>
            <p:cNvSpPr/>
            <p:nvPr/>
          </p:nvSpPr>
          <p:spPr>
            <a:xfrm>
              <a:off x="4488" y="2386"/>
              <a:ext cx="156"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5973" name="Google Shape;5973;p83"/>
            <p:cNvSpPr/>
            <p:nvPr/>
          </p:nvSpPr>
          <p:spPr>
            <a:xfrm>
              <a:off x="4661" y="2380"/>
              <a:ext cx="156"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74" name="Google Shape;5974;p83"/>
            <p:cNvSpPr/>
            <p:nvPr/>
          </p:nvSpPr>
          <p:spPr>
            <a:xfrm>
              <a:off x="5061" y="1835"/>
              <a:ext cx="87"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5975" name="Google Shape;5975;p83"/>
          <p:cNvGrpSpPr/>
          <p:nvPr/>
        </p:nvGrpSpPr>
        <p:grpSpPr>
          <a:xfrm>
            <a:off x="7790985" y="3015343"/>
            <a:ext cx="390525" cy="641350"/>
            <a:chOff x="4140" y="429"/>
            <a:chExt cx="1425" cy="2396"/>
          </a:xfrm>
        </p:grpSpPr>
        <p:sp>
          <p:nvSpPr>
            <p:cNvPr id="5976" name="Google Shape;5976;p8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77" name="Google Shape;5977;p83"/>
            <p:cNvSpPr/>
            <p:nvPr/>
          </p:nvSpPr>
          <p:spPr>
            <a:xfrm>
              <a:off x="4204" y="429"/>
              <a:ext cx="1048"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78" name="Google Shape;5978;p8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79" name="Google Shape;5979;p8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80" name="Google Shape;5980;p83"/>
            <p:cNvSpPr/>
            <p:nvPr/>
          </p:nvSpPr>
          <p:spPr>
            <a:xfrm>
              <a:off x="4210" y="696"/>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981" name="Google Shape;5981;p83"/>
            <p:cNvGrpSpPr/>
            <p:nvPr/>
          </p:nvGrpSpPr>
          <p:grpSpPr>
            <a:xfrm>
              <a:off x="4748" y="666"/>
              <a:ext cx="579" cy="148"/>
              <a:chOff x="613" y="2566"/>
              <a:chExt cx="723" cy="142"/>
            </a:xfrm>
          </p:grpSpPr>
          <p:sp>
            <p:nvSpPr>
              <p:cNvPr id="5982" name="Google Shape;5982;p83"/>
              <p:cNvSpPr/>
              <p:nvPr/>
            </p:nvSpPr>
            <p:spPr>
              <a:xfrm>
                <a:off x="613" y="2566"/>
                <a:ext cx="723"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83" name="Google Shape;5983;p83"/>
              <p:cNvSpPr/>
              <p:nvPr/>
            </p:nvSpPr>
            <p:spPr>
              <a:xfrm>
                <a:off x="628" y="2583"/>
                <a:ext cx="694"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984" name="Google Shape;5984;p83"/>
            <p:cNvSpPr/>
            <p:nvPr/>
          </p:nvSpPr>
          <p:spPr>
            <a:xfrm>
              <a:off x="4227" y="1016"/>
              <a:ext cx="591"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985" name="Google Shape;5985;p83"/>
            <p:cNvGrpSpPr/>
            <p:nvPr/>
          </p:nvGrpSpPr>
          <p:grpSpPr>
            <a:xfrm>
              <a:off x="4749" y="992"/>
              <a:ext cx="579" cy="136"/>
              <a:chOff x="616" y="2566"/>
              <a:chExt cx="723" cy="141"/>
            </a:xfrm>
          </p:grpSpPr>
          <p:sp>
            <p:nvSpPr>
              <p:cNvPr id="5986" name="Google Shape;5986;p83"/>
              <p:cNvSpPr/>
              <p:nvPr/>
            </p:nvSpPr>
            <p:spPr>
              <a:xfrm>
                <a:off x="616" y="2566"/>
                <a:ext cx="723"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87" name="Google Shape;5987;p83"/>
              <p:cNvSpPr/>
              <p:nvPr/>
            </p:nvSpPr>
            <p:spPr>
              <a:xfrm>
                <a:off x="630" y="2585"/>
                <a:ext cx="694"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988" name="Google Shape;5988;p83"/>
            <p:cNvSpPr/>
            <p:nvPr/>
          </p:nvSpPr>
          <p:spPr>
            <a:xfrm>
              <a:off x="4215" y="1360"/>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89" name="Google Shape;5989;p83"/>
            <p:cNvSpPr/>
            <p:nvPr/>
          </p:nvSpPr>
          <p:spPr>
            <a:xfrm>
              <a:off x="4227" y="1657"/>
              <a:ext cx="597"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990" name="Google Shape;5990;p83"/>
            <p:cNvGrpSpPr/>
            <p:nvPr/>
          </p:nvGrpSpPr>
          <p:grpSpPr>
            <a:xfrm>
              <a:off x="4737" y="1627"/>
              <a:ext cx="580" cy="142"/>
              <a:chOff x="616" y="2568"/>
              <a:chExt cx="722" cy="131"/>
            </a:xfrm>
          </p:grpSpPr>
          <p:sp>
            <p:nvSpPr>
              <p:cNvPr id="5991" name="Google Shape;5991;p83"/>
              <p:cNvSpPr/>
              <p:nvPr/>
            </p:nvSpPr>
            <p:spPr>
              <a:xfrm>
                <a:off x="616" y="2568"/>
                <a:ext cx="722" cy="13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92" name="Google Shape;5992;p83"/>
              <p:cNvSpPr/>
              <p:nvPr/>
            </p:nvSpPr>
            <p:spPr>
              <a:xfrm>
                <a:off x="630" y="2584"/>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993" name="Google Shape;5993;p8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5994" name="Google Shape;5994;p83"/>
            <p:cNvGrpSpPr/>
            <p:nvPr/>
          </p:nvGrpSpPr>
          <p:grpSpPr>
            <a:xfrm>
              <a:off x="4737" y="1325"/>
              <a:ext cx="585" cy="142"/>
              <a:chOff x="611" y="2566"/>
              <a:chExt cx="729" cy="142"/>
            </a:xfrm>
          </p:grpSpPr>
          <p:sp>
            <p:nvSpPr>
              <p:cNvPr id="5995" name="Google Shape;5995;p83"/>
              <p:cNvSpPr/>
              <p:nvPr/>
            </p:nvSpPr>
            <p:spPr>
              <a:xfrm>
                <a:off x="611" y="2566"/>
                <a:ext cx="729"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96" name="Google Shape;5996;p83"/>
              <p:cNvSpPr/>
              <p:nvPr/>
            </p:nvSpPr>
            <p:spPr>
              <a:xfrm>
                <a:off x="626" y="2583"/>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5997" name="Google Shape;5997;p83"/>
            <p:cNvSpPr/>
            <p:nvPr/>
          </p:nvSpPr>
          <p:spPr>
            <a:xfrm>
              <a:off x="5252" y="429"/>
              <a:ext cx="64" cy="2289"/>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98" name="Google Shape;5998;p8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999" name="Google Shape;5999;p8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00" name="Google Shape;6000;p83"/>
            <p:cNvSpPr/>
            <p:nvPr/>
          </p:nvSpPr>
          <p:spPr>
            <a:xfrm>
              <a:off x="5519" y="2611"/>
              <a:ext cx="46"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01" name="Google Shape;6001;p8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02" name="Google Shape;6002;p83"/>
            <p:cNvSpPr/>
            <p:nvPr/>
          </p:nvSpPr>
          <p:spPr>
            <a:xfrm>
              <a:off x="4140" y="2677"/>
              <a:ext cx="1199"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03" name="Google Shape;6003;p83"/>
            <p:cNvSpPr/>
            <p:nvPr/>
          </p:nvSpPr>
          <p:spPr>
            <a:xfrm>
              <a:off x="4204" y="2712"/>
              <a:ext cx="1072" cy="83"/>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04" name="Google Shape;6004;p83"/>
            <p:cNvSpPr/>
            <p:nvPr/>
          </p:nvSpPr>
          <p:spPr>
            <a:xfrm>
              <a:off x="4308" y="2380"/>
              <a:ext cx="156"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05" name="Google Shape;6005;p83"/>
            <p:cNvSpPr/>
            <p:nvPr/>
          </p:nvSpPr>
          <p:spPr>
            <a:xfrm>
              <a:off x="4488" y="2386"/>
              <a:ext cx="156"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6006" name="Google Shape;6006;p83"/>
            <p:cNvSpPr/>
            <p:nvPr/>
          </p:nvSpPr>
          <p:spPr>
            <a:xfrm>
              <a:off x="4661" y="2380"/>
              <a:ext cx="156"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07" name="Google Shape;6007;p83"/>
            <p:cNvSpPr/>
            <p:nvPr/>
          </p:nvSpPr>
          <p:spPr>
            <a:xfrm>
              <a:off x="5061" y="1835"/>
              <a:ext cx="87"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6008" name="Google Shape;6008;p83"/>
          <p:cNvGrpSpPr/>
          <p:nvPr/>
        </p:nvGrpSpPr>
        <p:grpSpPr>
          <a:xfrm>
            <a:off x="8945098" y="1753280"/>
            <a:ext cx="390525" cy="641350"/>
            <a:chOff x="4140" y="429"/>
            <a:chExt cx="1425" cy="2396"/>
          </a:xfrm>
        </p:grpSpPr>
        <p:sp>
          <p:nvSpPr>
            <p:cNvPr id="6009" name="Google Shape;6009;p8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10" name="Google Shape;6010;p83"/>
            <p:cNvSpPr/>
            <p:nvPr/>
          </p:nvSpPr>
          <p:spPr>
            <a:xfrm>
              <a:off x="4204" y="429"/>
              <a:ext cx="1048"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11" name="Google Shape;6011;p8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12" name="Google Shape;6012;p8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13" name="Google Shape;6013;p83"/>
            <p:cNvSpPr/>
            <p:nvPr/>
          </p:nvSpPr>
          <p:spPr>
            <a:xfrm>
              <a:off x="4210" y="696"/>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014" name="Google Shape;6014;p83"/>
            <p:cNvGrpSpPr/>
            <p:nvPr/>
          </p:nvGrpSpPr>
          <p:grpSpPr>
            <a:xfrm>
              <a:off x="4748" y="666"/>
              <a:ext cx="579" cy="148"/>
              <a:chOff x="613" y="2566"/>
              <a:chExt cx="723" cy="142"/>
            </a:xfrm>
          </p:grpSpPr>
          <p:sp>
            <p:nvSpPr>
              <p:cNvPr id="6015" name="Google Shape;6015;p83"/>
              <p:cNvSpPr/>
              <p:nvPr/>
            </p:nvSpPr>
            <p:spPr>
              <a:xfrm>
                <a:off x="613" y="2566"/>
                <a:ext cx="723"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16" name="Google Shape;6016;p83"/>
              <p:cNvSpPr/>
              <p:nvPr/>
            </p:nvSpPr>
            <p:spPr>
              <a:xfrm>
                <a:off x="627" y="2583"/>
                <a:ext cx="694"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017" name="Google Shape;6017;p83"/>
            <p:cNvSpPr/>
            <p:nvPr/>
          </p:nvSpPr>
          <p:spPr>
            <a:xfrm>
              <a:off x="4227" y="1016"/>
              <a:ext cx="591"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018" name="Google Shape;6018;p83"/>
            <p:cNvGrpSpPr/>
            <p:nvPr/>
          </p:nvGrpSpPr>
          <p:grpSpPr>
            <a:xfrm>
              <a:off x="4749" y="992"/>
              <a:ext cx="579" cy="136"/>
              <a:chOff x="616" y="2566"/>
              <a:chExt cx="723" cy="141"/>
            </a:xfrm>
          </p:grpSpPr>
          <p:sp>
            <p:nvSpPr>
              <p:cNvPr id="6019" name="Google Shape;6019;p83"/>
              <p:cNvSpPr/>
              <p:nvPr/>
            </p:nvSpPr>
            <p:spPr>
              <a:xfrm>
                <a:off x="616" y="2566"/>
                <a:ext cx="723"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20" name="Google Shape;6020;p83"/>
              <p:cNvSpPr/>
              <p:nvPr/>
            </p:nvSpPr>
            <p:spPr>
              <a:xfrm>
                <a:off x="630" y="2585"/>
                <a:ext cx="694"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021" name="Google Shape;6021;p83"/>
            <p:cNvSpPr/>
            <p:nvPr/>
          </p:nvSpPr>
          <p:spPr>
            <a:xfrm>
              <a:off x="4215" y="1360"/>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22" name="Google Shape;6022;p83"/>
            <p:cNvSpPr/>
            <p:nvPr/>
          </p:nvSpPr>
          <p:spPr>
            <a:xfrm>
              <a:off x="4227" y="1657"/>
              <a:ext cx="597"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023" name="Google Shape;6023;p83"/>
            <p:cNvGrpSpPr/>
            <p:nvPr/>
          </p:nvGrpSpPr>
          <p:grpSpPr>
            <a:xfrm>
              <a:off x="4737" y="1627"/>
              <a:ext cx="580" cy="142"/>
              <a:chOff x="616" y="2568"/>
              <a:chExt cx="722" cy="131"/>
            </a:xfrm>
          </p:grpSpPr>
          <p:sp>
            <p:nvSpPr>
              <p:cNvPr id="6024" name="Google Shape;6024;p83"/>
              <p:cNvSpPr/>
              <p:nvPr/>
            </p:nvSpPr>
            <p:spPr>
              <a:xfrm>
                <a:off x="616" y="2568"/>
                <a:ext cx="722" cy="13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25" name="Google Shape;6025;p83"/>
              <p:cNvSpPr/>
              <p:nvPr/>
            </p:nvSpPr>
            <p:spPr>
              <a:xfrm>
                <a:off x="630" y="2584"/>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026" name="Google Shape;6026;p8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027" name="Google Shape;6027;p83"/>
            <p:cNvGrpSpPr/>
            <p:nvPr/>
          </p:nvGrpSpPr>
          <p:grpSpPr>
            <a:xfrm>
              <a:off x="4737" y="1325"/>
              <a:ext cx="585" cy="142"/>
              <a:chOff x="611" y="2566"/>
              <a:chExt cx="729" cy="142"/>
            </a:xfrm>
          </p:grpSpPr>
          <p:sp>
            <p:nvSpPr>
              <p:cNvPr id="6028" name="Google Shape;6028;p83"/>
              <p:cNvSpPr/>
              <p:nvPr/>
            </p:nvSpPr>
            <p:spPr>
              <a:xfrm>
                <a:off x="611" y="2566"/>
                <a:ext cx="729"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29" name="Google Shape;6029;p83"/>
              <p:cNvSpPr/>
              <p:nvPr/>
            </p:nvSpPr>
            <p:spPr>
              <a:xfrm>
                <a:off x="625" y="2583"/>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030" name="Google Shape;6030;p83"/>
            <p:cNvSpPr/>
            <p:nvPr/>
          </p:nvSpPr>
          <p:spPr>
            <a:xfrm>
              <a:off x="5252" y="429"/>
              <a:ext cx="64" cy="2289"/>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31" name="Google Shape;6031;p8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32" name="Google Shape;6032;p8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33" name="Google Shape;6033;p83"/>
            <p:cNvSpPr/>
            <p:nvPr/>
          </p:nvSpPr>
          <p:spPr>
            <a:xfrm>
              <a:off x="5519" y="2611"/>
              <a:ext cx="46"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34" name="Google Shape;6034;p8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35" name="Google Shape;6035;p83"/>
            <p:cNvSpPr/>
            <p:nvPr/>
          </p:nvSpPr>
          <p:spPr>
            <a:xfrm>
              <a:off x="4140" y="2677"/>
              <a:ext cx="1199"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36" name="Google Shape;6036;p83"/>
            <p:cNvSpPr/>
            <p:nvPr/>
          </p:nvSpPr>
          <p:spPr>
            <a:xfrm>
              <a:off x="4204" y="2712"/>
              <a:ext cx="1072" cy="83"/>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37" name="Google Shape;6037;p83"/>
            <p:cNvSpPr/>
            <p:nvPr/>
          </p:nvSpPr>
          <p:spPr>
            <a:xfrm>
              <a:off x="4308" y="2380"/>
              <a:ext cx="156"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38" name="Google Shape;6038;p83"/>
            <p:cNvSpPr/>
            <p:nvPr/>
          </p:nvSpPr>
          <p:spPr>
            <a:xfrm>
              <a:off x="4488" y="2386"/>
              <a:ext cx="156"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6039" name="Google Shape;6039;p83"/>
            <p:cNvSpPr/>
            <p:nvPr/>
          </p:nvSpPr>
          <p:spPr>
            <a:xfrm>
              <a:off x="4661" y="2380"/>
              <a:ext cx="156"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40" name="Google Shape;6040;p83"/>
            <p:cNvSpPr/>
            <p:nvPr/>
          </p:nvSpPr>
          <p:spPr>
            <a:xfrm>
              <a:off x="5061" y="1835"/>
              <a:ext cx="87"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6041" name="Google Shape;6041;p83"/>
          <p:cNvGrpSpPr/>
          <p:nvPr/>
        </p:nvGrpSpPr>
        <p:grpSpPr>
          <a:xfrm>
            <a:off x="9761073" y="3005818"/>
            <a:ext cx="390525" cy="641350"/>
            <a:chOff x="4140" y="429"/>
            <a:chExt cx="1425" cy="2396"/>
          </a:xfrm>
        </p:grpSpPr>
        <p:sp>
          <p:nvSpPr>
            <p:cNvPr id="6042" name="Google Shape;6042;p8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43" name="Google Shape;6043;p83"/>
            <p:cNvSpPr/>
            <p:nvPr/>
          </p:nvSpPr>
          <p:spPr>
            <a:xfrm>
              <a:off x="4204" y="429"/>
              <a:ext cx="1048"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44" name="Google Shape;6044;p8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45" name="Google Shape;6045;p8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46" name="Google Shape;6046;p83"/>
            <p:cNvSpPr/>
            <p:nvPr/>
          </p:nvSpPr>
          <p:spPr>
            <a:xfrm>
              <a:off x="4210" y="696"/>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047" name="Google Shape;6047;p83"/>
            <p:cNvGrpSpPr/>
            <p:nvPr/>
          </p:nvGrpSpPr>
          <p:grpSpPr>
            <a:xfrm>
              <a:off x="4748" y="666"/>
              <a:ext cx="579" cy="148"/>
              <a:chOff x="613" y="2566"/>
              <a:chExt cx="723" cy="142"/>
            </a:xfrm>
          </p:grpSpPr>
          <p:sp>
            <p:nvSpPr>
              <p:cNvPr id="6048" name="Google Shape;6048;p83"/>
              <p:cNvSpPr/>
              <p:nvPr/>
            </p:nvSpPr>
            <p:spPr>
              <a:xfrm>
                <a:off x="613" y="2566"/>
                <a:ext cx="723"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49" name="Google Shape;6049;p83"/>
              <p:cNvSpPr/>
              <p:nvPr/>
            </p:nvSpPr>
            <p:spPr>
              <a:xfrm>
                <a:off x="627" y="2583"/>
                <a:ext cx="694"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050" name="Google Shape;6050;p83"/>
            <p:cNvSpPr/>
            <p:nvPr/>
          </p:nvSpPr>
          <p:spPr>
            <a:xfrm>
              <a:off x="4227" y="1016"/>
              <a:ext cx="591"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051" name="Google Shape;6051;p83"/>
            <p:cNvGrpSpPr/>
            <p:nvPr/>
          </p:nvGrpSpPr>
          <p:grpSpPr>
            <a:xfrm>
              <a:off x="4749" y="992"/>
              <a:ext cx="579" cy="136"/>
              <a:chOff x="616" y="2566"/>
              <a:chExt cx="723" cy="141"/>
            </a:xfrm>
          </p:grpSpPr>
          <p:sp>
            <p:nvSpPr>
              <p:cNvPr id="6052" name="Google Shape;6052;p83"/>
              <p:cNvSpPr/>
              <p:nvPr/>
            </p:nvSpPr>
            <p:spPr>
              <a:xfrm>
                <a:off x="616" y="2566"/>
                <a:ext cx="723"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53" name="Google Shape;6053;p83"/>
              <p:cNvSpPr/>
              <p:nvPr/>
            </p:nvSpPr>
            <p:spPr>
              <a:xfrm>
                <a:off x="630" y="2585"/>
                <a:ext cx="694"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054" name="Google Shape;6054;p83"/>
            <p:cNvSpPr/>
            <p:nvPr/>
          </p:nvSpPr>
          <p:spPr>
            <a:xfrm>
              <a:off x="4215" y="1360"/>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55" name="Google Shape;6055;p83"/>
            <p:cNvSpPr/>
            <p:nvPr/>
          </p:nvSpPr>
          <p:spPr>
            <a:xfrm>
              <a:off x="4227" y="1657"/>
              <a:ext cx="597"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056" name="Google Shape;6056;p83"/>
            <p:cNvGrpSpPr/>
            <p:nvPr/>
          </p:nvGrpSpPr>
          <p:grpSpPr>
            <a:xfrm>
              <a:off x="4737" y="1627"/>
              <a:ext cx="580" cy="142"/>
              <a:chOff x="616" y="2568"/>
              <a:chExt cx="722" cy="131"/>
            </a:xfrm>
          </p:grpSpPr>
          <p:sp>
            <p:nvSpPr>
              <p:cNvPr id="6057" name="Google Shape;6057;p83"/>
              <p:cNvSpPr/>
              <p:nvPr/>
            </p:nvSpPr>
            <p:spPr>
              <a:xfrm>
                <a:off x="616" y="2568"/>
                <a:ext cx="722" cy="13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58" name="Google Shape;6058;p83"/>
              <p:cNvSpPr/>
              <p:nvPr/>
            </p:nvSpPr>
            <p:spPr>
              <a:xfrm>
                <a:off x="630" y="2584"/>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059" name="Google Shape;6059;p8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060" name="Google Shape;6060;p83"/>
            <p:cNvGrpSpPr/>
            <p:nvPr/>
          </p:nvGrpSpPr>
          <p:grpSpPr>
            <a:xfrm>
              <a:off x="4737" y="1325"/>
              <a:ext cx="585" cy="142"/>
              <a:chOff x="611" y="2566"/>
              <a:chExt cx="729" cy="142"/>
            </a:xfrm>
          </p:grpSpPr>
          <p:sp>
            <p:nvSpPr>
              <p:cNvPr id="6061" name="Google Shape;6061;p83"/>
              <p:cNvSpPr/>
              <p:nvPr/>
            </p:nvSpPr>
            <p:spPr>
              <a:xfrm>
                <a:off x="611" y="2566"/>
                <a:ext cx="729"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62" name="Google Shape;6062;p83"/>
              <p:cNvSpPr/>
              <p:nvPr/>
            </p:nvSpPr>
            <p:spPr>
              <a:xfrm>
                <a:off x="625" y="2583"/>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063" name="Google Shape;6063;p83"/>
            <p:cNvSpPr/>
            <p:nvPr/>
          </p:nvSpPr>
          <p:spPr>
            <a:xfrm>
              <a:off x="5252" y="429"/>
              <a:ext cx="64" cy="2289"/>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64" name="Google Shape;6064;p8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65" name="Google Shape;6065;p8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66" name="Google Shape;6066;p83"/>
            <p:cNvSpPr/>
            <p:nvPr/>
          </p:nvSpPr>
          <p:spPr>
            <a:xfrm>
              <a:off x="5519" y="2611"/>
              <a:ext cx="46"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67" name="Google Shape;6067;p8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68" name="Google Shape;6068;p83"/>
            <p:cNvSpPr/>
            <p:nvPr/>
          </p:nvSpPr>
          <p:spPr>
            <a:xfrm>
              <a:off x="4140" y="2677"/>
              <a:ext cx="1199"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69" name="Google Shape;6069;p83"/>
            <p:cNvSpPr/>
            <p:nvPr/>
          </p:nvSpPr>
          <p:spPr>
            <a:xfrm>
              <a:off x="4204" y="2712"/>
              <a:ext cx="1072" cy="83"/>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70" name="Google Shape;6070;p83"/>
            <p:cNvSpPr/>
            <p:nvPr/>
          </p:nvSpPr>
          <p:spPr>
            <a:xfrm>
              <a:off x="4308" y="2380"/>
              <a:ext cx="156"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71" name="Google Shape;6071;p83"/>
            <p:cNvSpPr/>
            <p:nvPr/>
          </p:nvSpPr>
          <p:spPr>
            <a:xfrm>
              <a:off x="4488" y="2386"/>
              <a:ext cx="156"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6072" name="Google Shape;6072;p83"/>
            <p:cNvSpPr/>
            <p:nvPr/>
          </p:nvSpPr>
          <p:spPr>
            <a:xfrm>
              <a:off x="4661" y="2380"/>
              <a:ext cx="156"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073" name="Google Shape;6073;p83"/>
            <p:cNvSpPr/>
            <p:nvPr/>
          </p:nvSpPr>
          <p:spPr>
            <a:xfrm>
              <a:off x="5061" y="1835"/>
              <a:ext cx="87"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8" name="Shape 6078"/>
        <p:cNvGrpSpPr/>
        <p:nvPr/>
      </p:nvGrpSpPr>
      <p:grpSpPr>
        <a:xfrm>
          <a:off x="0" y="0"/>
          <a:ext cx="0" cy="0"/>
          <a:chOff x="0" y="0"/>
          <a:chExt cx="0" cy="0"/>
        </a:xfrm>
      </p:grpSpPr>
      <p:sp>
        <p:nvSpPr>
          <p:cNvPr id="6079" name="Google Shape;6079;p8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DNS name resolution: recursive query</a:t>
            </a:r>
            <a:endParaRPr sz="4400"/>
          </a:p>
        </p:txBody>
      </p:sp>
      <p:sp>
        <p:nvSpPr>
          <p:cNvPr id="6080" name="Google Shape;6080;p8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6081" name="Google Shape;6081;p84"/>
          <p:cNvSpPr txBox="1"/>
          <p:nvPr/>
        </p:nvSpPr>
        <p:spPr>
          <a:xfrm>
            <a:off x="4588154" y="3848735"/>
            <a:ext cx="1816524"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requesting host at</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99"/>
              </a:buClr>
              <a:buSzPts val="1400"/>
              <a:buFont typeface="Arial"/>
              <a:buNone/>
            </a:pPr>
            <a:r>
              <a:rPr b="0" i="1" lang="en-US" sz="1400" u="none" cap="none" strike="noStrike">
                <a:solidFill>
                  <a:srgbClr val="000099"/>
                </a:solidFill>
                <a:latin typeface="Arial"/>
                <a:ea typeface="Arial"/>
                <a:cs typeface="Arial"/>
                <a:sym typeface="Arial"/>
              </a:rPr>
              <a:t>engineering.nyu.edu</a:t>
            </a:r>
            <a:endParaRPr b="0" i="1" sz="1400" u="none" cap="none" strike="noStrike">
              <a:solidFill>
                <a:srgbClr val="000099"/>
              </a:solidFill>
              <a:latin typeface="Arial"/>
              <a:ea typeface="Arial"/>
              <a:cs typeface="Arial"/>
              <a:sym typeface="Arial"/>
            </a:endParaRPr>
          </a:p>
        </p:txBody>
      </p:sp>
      <p:sp>
        <p:nvSpPr>
          <p:cNvPr id="6082" name="Google Shape;6082;p84"/>
          <p:cNvSpPr txBox="1"/>
          <p:nvPr/>
        </p:nvSpPr>
        <p:spPr>
          <a:xfrm>
            <a:off x="10049161" y="4208147"/>
            <a:ext cx="18780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gaia.cs.umass.edu</a:t>
            </a:r>
            <a:endParaRPr b="0" i="1" sz="1600" u="none" cap="none" strike="noStrike">
              <a:solidFill>
                <a:srgbClr val="000000"/>
              </a:solidFill>
              <a:latin typeface="Arial"/>
              <a:ea typeface="Arial"/>
              <a:cs typeface="Arial"/>
              <a:sym typeface="Arial"/>
            </a:endParaRPr>
          </a:p>
        </p:txBody>
      </p:sp>
      <p:sp>
        <p:nvSpPr>
          <p:cNvPr id="6083" name="Google Shape;6083;p84"/>
          <p:cNvSpPr txBox="1"/>
          <p:nvPr/>
        </p:nvSpPr>
        <p:spPr>
          <a:xfrm>
            <a:off x="7788588" y="1322438"/>
            <a:ext cx="2011363"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root DNS server</a:t>
            </a:r>
            <a:endParaRPr b="0" i="0" sz="1600" u="none" cap="none" strike="noStrike">
              <a:solidFill>
                <a:srgbClr val="000000"/>
              </a:solidFill>
              <a:latin typeface="Arial"/>
              <a:ea typeface="Arial"/>
              <a:cs typeface="Arial"/>
              <a:sym typeface="Arial"/>
            </a:endParaRPr>
          </a:p>
        </p:txBody>
      </p:sp>
      <p:cxnSp>
        <p:nvCxnSpPr>
          <p:cNvPr id="6084" name="Google Shape;6084;p84"/>
          <p:cNvCxnSpPr/>
          <p:nvPr/>
        </p:nvCxnSpPr>
        <p:spPr>
          <a:xfrm>
            <a:off x="6104927" y="3275781"/>
            <a:ext cx="1196994" cy="0"/>
          </a:xfrm>
          <a:prstGeom prst="straightConnector1">
            <a:avLst/>
          </a:prstGeom>
          <a:noFill/>
          <a:ln cap="flat" cmpd="sng" w="28575">
            <a:solidFill>
              <a:srgbClr val="CC0000"/>
            </a:solidFill>
            <a:prstDash val="solid"/>
            <a:round/>
            <a:headEnd len="med" w="med" type="none"/>
            <a:tailEnd len="med" w="med" type="triangle"/>
          </a:ln>
        </p:spPr>
      </p:cxnSp>
      <p:cxnSp>
        <p:nvCxnSpPr>
          <p:cNvPr id="6085" name="Google Shape;6085;p84"/>
          <p:cNvCxnSpPr/>
          <p:nvPr/>
        </p:nvCxnSpPr>
        <p:spPr>
          <a:xfrm flipH="1" rot="10800000">
            <a:off x="7584477" y="2005693"/>
            <a:ext cx="914400" cy="971550"/>
          </a:xfrm>
          <a:prstGeom prst="straightConnector1">
            <a:avLst/>
          </a:prstGeom>
          <a:noFill/>
          <a:ln cap="flat" cmpd="sng" w="28575">
            <a:solidFill>
              <a:srgbClr val="CC0000"/>
            </a:solidFill>
            <a:prstDash val="solid"/>
            <a:round/>
            <a:headEnd len="med" w="med" type="none"/>
            <a:tailEnd len="med" w="med" type="triangle"/>
          </a:ln>
        </p:spPr>
      </p:cxnSp>
      <p:cxnSp>
        <p:nvCxnSpPr>
          <p:cNvPr id="6086" name="Google Shape;6086;p84"/>
          <p:cNvCxnSpPr/>
          <p:nvPr/>
        </p:nvCxnSpPr>
        <p:spPr>
          <a:xfrm>
            <a:off x="9672062" y="3760198"/>
            <a:ext cx="2427" cy="702311"/>
          </a:xfrm>
          <a:prstGeom prst="straightConnector1">
            <a:avLst/>
          </a:prstGeom>
          <a:noFill/>
          <a:ln cap="flat" cmpd="sng" w="28575">
            <a:solidFill>
              <a:srgbClr val="CC0000"/>
            </a:solidFill>
            <a:prstDash val="solid"/>
            <a:round/>
            <a:headEnd len="med" w="med" type="none"/>
            <a:tailEnd len="med" w="med" type="triangle"/>
          </a:ln>
        </p:spPr>
      </p:cxnSp>
      <p:cxnSp>
        <p:nvCxnSpPr>
          <p:cNvPr id="6087" name="Google Shape;6087;p84"/>
          <p:cNvCxnSpPr/>
          <p:nvPr/>
        </p:nvCxnSpPr>
        <p:spPr>
          <a:xfrm rot="10800000">
            <a:off x="9491701" y="3747010"/>
            <a:ext cx="2427" cy="734919"/>
          </a:xfrm>
          <a:prstGeom prst="straightConnector1">
            <a:avLst/>
          </a:prstGeom>
          <a:noFill/>
          <a:ln cap="flat" cmpd="sng" w="28575">
            <a:solidFill>
              <a:srgbClr val="CC0000"/>
            </a:solidFill>
            <a:prstDash val="solid"/>
            <a:round/>
            <a:headEnd len="med" w="med" type="none"/>
            <a:tailEnd len="med" w="med" type="triangle"/>
          </a:ln>
        </p:spPr>
      </p:cxnSp>
      <p:cxnSp>
        <p:nvCxnSpPr>
          <p:cNvPr id="6088" name="Google Shape;6088;p84"/>
          <p:cNvCxnSpPr/>
          <p:nvPr/>
        </p:nvCxnSpPr>
        <p:spPr>
          <a:xfrm>
            <a:off x="9038381" y="2075731"/>
            <a:ext cx="405154" cy="841218"/>
          </a:xfrm>
          <a:prstGeom prst="straightConnector1">
            <a:avLst/>
          </a:prstGeom>
          <a:noFill/>
          <a:ln cap="flat" cmpd="sng" w="28575">
            <a:solidFill>
              <a:srgbClr val="CC0000"/>
            </a:solidFill>
            <a:prstDash val="solid"/>
            <a:round/>
            <a:headEnd len="med" w="med" type="none"/>
            <a:tailEnd len="med" w="med" type="triangle"/>
          </a:ln>
        </p:spPr>
      </p:cxnSp>
      <p:cxnSp>
        <p:nvCxnSpPr>
          <p:cNvPr id="6089" name="Google Shape;6089;p84"/>
          <p:cNvCxnSpPr/>
          <p:nvPr/>
        </p:nvCxnSpPr>
        <p:spPr>
          <a:xfrm rot="10800000">
            <a:off x="5997203" y="3439703"/>
            <a:ext cx="1319232" cy="0"/>
          </a:xfrm>
          <a:prstGeom prst="straightConnector1">
            <a:avLst/>
          </a:prstGeom>
          <a:noFill/>
          <a:ln cap="flat" cmpd="sng" w="28575">
            <a:solidFill>
              <a:srgbClr val="CC0000"/>
            </a:solidFill>
            <a:prstDash val="solid"/>
            <a:round/>
            <a:headEnd len="med" w="med" type="none"/>
            <a:tailEnd len="med" w="med" type="triangle"/>
          </a:ln>
        </p:spPr>
      </p:cxnSp>
      <p:grpSp>
        <p:nvGrpSpPr>
          <p:cNvPr id="6090" name="Google Shape;6090;p84"/>
          <p:cNvGrpSpPr/>
          <p:nvPr/>
        </p:nvGrpSpPr>
        <p:grpSpPr>
          <a:xfrm>
            <a:off x="6374803" y="3847199"/>
            <a:ext cx="1876425" cy="554038"/>
            <a:chOff x="2838" y="2132"/>
            <a:chExt cx="1182" cy="349"/>
          </a:xfrm>
        </p:grpSpPr>
        <p:sp>
          <p:nvSpPr>
            <p:cNvPr id="6091" name="Google Shape;6091;p84"/>
            <p:cNvSpPr/>
            <p:nvPr/>
          </p:nvSpPr>
          <p:spPr>
            <a:xfrm>
              <a:off x="2838" y="2178"/>
              <a:ext cx="1182" cy="3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092" name="Google Shape;6092;p84"/>
            <p:cNvSpPr txBox="1"/>
            <p:nvPr/>
          </p:nvSpPr>
          <p:spPr>
            <a:xfrm>
              <a:off x="2887" y="2132"/>
              <a:ext cx="1085" cy="34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local DNS server</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99"/>
                </a:buClr>
                <a:buSzPts val="1400"/>
                <a:buFont typeface="Arial"/>
                <a:buNone/>
              </a:pPr>
              <a:r>
                <a:rPr b="0" i="1" lang="en-US" sz="1400" u="none" cap="none" strike="noStrike">
                  <a:solidFill>
                    <a:srgbClr val="000099"/>
                  </a:solidFill>
                  <a:latin typeface="Arial"/>
                  <a:ea typeface="Arial"/>
                  <a:cs typeface="Arial"/>
                  <a:sym typeface="Arial"/>
                </a:rPr>
                <a:t>dns.</a:t>
              </a:r>
              <a:r>
                <a:rPr i="1" lang="en-US" sz="1400">
                  <a:solidFill>
                    <a:srgbClr val="000099"/>
                  </a:solidFill>
                  <a:latin typeface="Arial"/>
                  <a:ea typeface="Arial"/>
                  <a:cs typeface="Arial"/>
                  <a:sym typeface="Arial"/>
                </a:rPr>
                <a:t>nyu</a:t>
              </a:r>
              <a:r>
                <a:rPr b="0" i="1" lang="en-US" sz="1400" u="none" cap="none" strike="noStrike">
                  <a:solidFill>
                    <a:srgbClr val="000099"/>
                  </a:solidFill>
                  <a:latin typeface="Arial"/>
                  <a:ea typeface="Arial"/>
                  <a:cs typeface="Arial"/>
                  <a:sym typeface="Arial"/>
                </a:rPr>
                <a:t>.edu</a:t>
              </a:r>
              <a:endParaRPr b="0" i="1" sz="1400" u="none" cap="none" strike="noStrike">
                <a:solidFill>
                  <a:srgbClr val="000099"/>
                </a:solidFill>
                <a:latin typeface="Arial"/>
                <a:ea typeface="Arial"/>
                <a:cs typeface="Arial"/>
                <a:sym typeface="Arial"/>
              </a:endParaRPr>
            </a:p>
          </p:txBody>
        </p:sp>
      </p:grpSp>
      <p:sp>
        <p:nvSpPr>
          <p:cNvPr id="6093" name="Google Shape;6093;p84"/>
          <p:cNvSpPr txBox="1"/>
          <p:nvPr/>
        </p:nvSpPr>
        <p:spPr>
          <a:xfrm>
            <a:off x="6555191" y="2886705"/>
            <a:ext cx="3111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1</a:t>
            </a:r>
            <a:endParaRPr b="0" i="0" sz="2400" u="none" cap="none" strike="noStrike">
              <a:solidFill>
                <a:srgbClr val="CC0000"/>
              </a:solidFill>
              <a:latin typeface="Arial"/>
              <a:ea typeface="Arial"/>
              <a:cs typeface="Arial"/>
              <a:sym typeface="Arial"/>
            </a:endParaRPr>
          </a:p>
        </p:txBody>
      </p:sp>
      <p:sp>
        <p:nvSpPr>
          <p:cNvPr id="6094" name="Google Shape;6094;p84"/>
          <p:cNvSpPr txBox="1"/>
          <p:nvPr/>
        </p:nvSpPr>
        <p:spPr>
          <a:xfrm>
            <a:off x="7724177" y="2223180"/>
            <a:ext cx="3111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2</a:t>
            </a:r>
            <a:endParaRPr b="0" i="0" sz="2400" u="none" cap="none" strike="noStrike">
              <a:solidFill>
                <a:srgbClr val="CC0000"/>
              </a:solidFill>
              <a:latin typeface="Arial"/>
              <a:ea typeface="Arial"/>
              <a:cs typeface="Arial"/>
              <a:sym typeface="Arial"/>
            </a:endParaRPr>
          </a:p>
        </p:txBody>
      </p:sp>
      <p:sp>
        <p:nvSpPr>
          <p:cNvPr id="6095" name="Google Shape;6095;p84"/>
          <p:cNvSpPr txBox="1"/>
          <p:nvPr/>
        </p:nvSpPr>
        <p:spPr>
          <a:xfrm>
            <a:off x="8785965" y="2130702"/>
            <a:ext cx="119659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3</a:t>
            </a:r>
            <a:endParaRPr b="0" i="0" sz="2400" u="none" cap="none" strike="noStrike">
              <a:solidFill>
                <a:srgbClr val="CC0000"/>
              </a:solidFill>
              <a:latin typeface="Arial"/>
              <a:ea typeface="Arial"/>
              <a:cs typeface="Arial"/>
              <a:sym typeface="Arial"/>
            </a:endParaRPr>
          </a:p>
        </p:txBody>
      </p:sp>
      <p:sp>
        <p:nvSpPr>
          <p:cNvPr id="6096" name="Google Shape;6096;p84"/>
          <p:cNvSpPr txBox="1"/>
          <p:nvPr/>
        </p:nvSpPr>
        <p:spPr>
          <a:xfrm>
            <a:off x="9681511" y="3917024"/>
            <a:ext cx="3111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4</a:t>
            </a:r>
            <a:endParaRPr b="0" i="0" sz="2400" u="none" cap="none" strike="noStrike">
              <a:solidFill>
                <a:srgbClr val="CC0000"/>
              </a:solidFill>
              <a:latin typeface="Arial"/>
              <a:ea typeface="Arial"/>
              <a:cs typeface="Arial"/>
              <a:sym typeface="Arial"/>
            </a:endParaRPr>
          </a:p>
        </p:txBody>
      </p:sp>
      <p:sp>
        <p:nvSpPr>
          <p:cNvPr id="6097" name="Google Shape;6097;p84"/>
          <p:cNvSpPr txBox="1"/>
          <p:nvPr/>
        </p:nvSpPr>
        <p:spPr>
          <a:xfrm>
            <a:off x="9130827" y="3968637"/>
            <a:ext cx="3111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5</a:t>
            </a:r>
            <a:endParaRPr b="0" i="0" sz="2400" u="none" cap="none" strike="noStrike">
              <a:solidFill>
                <a:srgbClr val="CC0000"/>
              </a:solidFill>
              <a:latin typeface="Arial"/>
              <a:ea typeface="Arial"/>
              <a:cs typeface="Arial"/>
              <a:sym typeface="Arial"/>
            </a:endParaRPr>
          </a:p>
        </p:txBody>
      </p:sp>
      <p:sp>
        <p:nvSpPr>
          <p:cNvPr id="6098" name="Google Shape;6098;p84"/>
          <p:cNvSpPr txBox="1"/>
          <p:nvPr/>
        </p:nvSpPr>
        <p:spPr>
          <a:xfrm>
            <a:off x="8914934" y="2685260"/>
            <a:ext cx="3111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6</a:t>
            </a:r>
            <a:endParaRPr b="0" i="0" sz="2400" u="none" cap="none" strike="noStrike">
              <a:solidFill>
                <a:srgbClr val="CC0000"/>
              </a:solidFill>
              <a:latin typeface="Arial"/>
              <a:ea typeface="Arial"/>
              <a:cs typeface="Arial"/>
              <a:sym typeface="Arial"/>
            </a:endParaRPr>
          </a:p>
        </p:txBody>
      </p:sp>
      <p:sp>
        <p:nvSpPr>
          <p:cNvPr id="6099" name="Google Shape;6099;p84"/>
          <p:cNvSpPr txBox="1"/>
          <p:nvPr/>
        </p:nvSpPr>
        <p:spPr>
          <a:xfrm>
            <a:off x="8536977" y="5214030"/>
            <a:ext cx="2397125"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authoritative DNS server</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dns.cs.umass.edu</a:t>
            </a:r>
            <a:endParaRPr b="0" i="0" sz="1600" u="none" cap="none" strike="noStrike">
              <a:solidFill>
                <a:srgbClr val="000000"/>
              </a:solidFill>
              <a:latin typeface="Arial"/>
              <a:ea typeface="Arial"/>
              <a:cs typeface="Arial"/>
              <a:sym typeface="Arial"/>
            </a:endParaRPr>
          </a:p>
        </p:txBody>
      </p:sp>
      <p:sp>
        <p:nvSpPr>
          <p:cNvPr id="6100" name="Google Shape;6100;p84"/>
          <p:cNvSpPr txBox="1"/>
          <p:nvPr/>
        </p:nvSpPr>
        <p:spPr>
          <a:xfrm>
            <a:off x="8122727" y="2626662"/>
            <a:ext cx="3111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7</a:t>
            </a:r>
            <a:endParaRPr b="0" i="0" sz="2400" u="none" cap="none" strike="noStrike">
              <a:solidFill>
                <a:srgbClr val="CC0000"/>
              </a:solidFill>
              <a:latin typeface="Arial"/>
              <a:ea typeface="Arial"/>
              <a:cs typeface="Arial"/>
              <a:sym typeface="Arial"/>
            </a:endParaRPr>
          </a:p>
        </p:txBody>
      </p:sp>
      <p:sp>
        <p:nvSpPr>
          <p:cNvPr id="6101" name="Google Shape;6101;p84"/>
          <p:cNvSpPr txBox="1"/>
          <p:nvPr/>
        </p:nvSpPr>
        <p:spPr>
          <a:xfrm>
            <a:off x="6555714" y="3470502"/>
            <a:ext cx="3111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8</a:t>
            </a:r>
            <a:endParaRPr b="0" i="0" sz="2400" u="none" cap="none" strike="noStrike">
              <a:solidFill>
                <a:srgbClr val="CC0000"/>
              </a:solidFill>
              <a:latin typeface="Arial"/>
              <a:ea typeface="Arial"/>
              <a:cs typeface="Arial"/>
              <a:sym typeface="Arial"/>
            </a:endParaRPr>
          </a:p>
        </p:txBody>
      </p:sp>
      <p:cxnSp>
        <p:nvCxnSpPr>
          <p:cNvPr id="6102" name="Google Shape;6102;p84"/>
          <p:cNvCxnSpPr/>
          <p:nvPr/>
        </p:nvCxnSpPr>
        <p:spPr>
          <a:xfrm rot="10800000">
            <a:off x="8981775" y="2427554"/>
            <a:ext cx="344289" cy="645450"/>
          </a:xfrm>
          <a:prstGeom prst="straightConnector1">
            <a:avLst/>
          </a:prstGeom>
          <a:noFill/>
          <a:ln cap="flat" cmpd="sng" w="25400">
            <a:solidFill>
              <a:srgbClr val="CC0000"/>
            </a:solidFill>
            <a:prstDash val="solid"/>
            <a:round/>
            <a:headEnd len="med" w="med" type="none"/>
            <a:tailEnd len="med" w="med" type="triangle"/>
          </a:ln>
        </p:spPr>
      </p:cxnSp>
      <p:cxnSp>
        <p:nvCxnSpPr>
          <p:cNvPr id="6103" name="Google Shape;6103;p84"/>
          <p:cNvCxnSpPr/>
          <p:nvPr/>
        </p:nvCxnSpPr>
        <p:spPr>
          <a:xfrm flipH="1">
            <a:off x="7792268" y="2275514"/>
            <a:ext cx="710991" cy="774754"/>
          </a:xfrm>
          <a:prstGeom prst="straightConnector1">
            <a:avLst/>
          </a:prstGeom>
          <a:noFill/>
          <a:ln cap="flat" cmpd="sng" w="25400">
            <a:solidFill>
              <a:srgbClr val="CC0000"/>
            </a:solidFill>
            <a:prstDash val="solid"/>
            <a:round/>
            <a:headEnd len="med" w="med" type="none"/>
            <a:tailEnd len="med" w="med" type="triangle"/>
          </a:ln>
        </p:spPr>
      </p:cxnSp>
      <p:sp>
        <p:nvSpPr>
          <p:cNvPr id="6104" name="Google Shape;6104;p84"/>
          <p:cNvSpPr txBox="1"/>
          <p:nvPr/>
        </p:nvSpPr>
        <p:spPr>
          <a:xfrm>
            <a:off x="9662504" y="2971557"/>
            <a:ext cx="2011362"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TLD DNS server</a:t>
            </a:r>
            <a:endParaRPr b="0" i="0" sz="1600" u="none" cap="none" strike="noStrike">
              <a:solidFill>
                <a:srgbClr val="000000"/>
              </a:solidFill>
              <a:latin typeface="Arial"/>
              <a:ea typeface="Arial"/>
              <a:cs typeface="Arial"/>
              <a:sym typeface="Arial"/>
            </a:endParaRPr>
          </a:p>
        </p:txBody>
      </p:sp>
      <p:grpSp>
        <p:nvGrpSpPr>
          <p:cNvPr id="6105" name="Google Shape;6105;p84"/>
          <p:cNvGrpSpPr/>
          <p:nvPr/>
        </p:nvGrpSpPr>
        <p:grpSpPr>
          <a:xfrm flipH="1">
            <a:off x="10526900" y="4590027"/>
            <a:ext cx="787391" cy="614055"/>
            <a:chOff x="-44" y="1473"/>
            <a:chExt cx="981" cy="1105"/>
          </a:xfrm>
        </p:grpSpPr>
        <p:pic>
          <p:nvPicPr>
            <p:cNvPr descr="desktop_computer_stylized_medium" id="6106" name="Google Shape;6106;p8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107" name="Google Shape;6107;p8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6108" name="Google Shape;6108;p84"/>
          <p:cNvGrpSpPr/>
          <p:nvPr/>
        </p:nvGrpSpPr>
        <p:grpSpPr>
          <a:xfrm>
            <a:off x="5099109" y="3053085"/>
            <a:ext cx="883580" cy="766310"/>
            <a:chOff x="-44" y="1473"/>
            <a:chExt cx="981" cy="1105"/>
          </a:xfrm>
        </p:grpSpPr>
        <p:pic>
          <p:nvPicPr>
            <p:cNvPr descr="desktop_computer_stylized_medium" id="6109" name="Google Shape;6109;p8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110" name="Google Shape;6110;p8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6111" name="Google Shape;6111;p84"/>
          <p:cNvGrpSpPr/>
          <p:nvPr/>
        </p:nvGrpSpPr>
        <p:grpSpPr>
          <a:xfrm>
            <a:off x="9410102" y="4528230"/>
            <a:ext cx="390525" cy="641350"/>
            <a:chOff x="4140" y="429"/>
            <a:chExt cx="1425" cy="2396"/>
          </a:xfrm>
        </p:grpSpPr>
        <p:sp>
          <p:nvSpPr>
            <p:cNvPr id="6112" name="Google Shape;6112;p8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13" name="Google Shape;6113;p84"/>
            <p:cNvSpPr/>
            <p:nvPr/>
          </p:nvSpPr>
          <p:spPr>
            <a:xfrm>
              <a:off x="4204" y="429"/>
              <a:ext cx="1048"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14" name="Google Shape;6114;p8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15" name="Google Shape;6115;p8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16" name="Google Shape;6116;p84"/>
            <p:cNvSpPr/>
            <p:nvPr/>
          </p:nvSpPr>
          <p:spPr>
            <a:xfrm>
              <a:off x="4210" y="696"/>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117" name="Google Shape;6117;p84"/>
            <p:cNvGrpSpPr/>
            <p:nvPr/>
          </p:nvGrpSpPr>
          <p:grpSpPr>
            <a:xfrm>
              <a:off x="4748" y="666"/>
              <a:ext cx="579" cy="148"/>
              <a:chOff x="613" y="2566"/>
              <a:chExt cx="723" cy="142"/>
            </a:xfrm>
          </p:grpSpPr>
          <p:sp>
            <p:nvSpPr>
              <p:cNvPr id="6118" name="Google Shape;6118;p84"/>
              <p:cNvSpPr/>
              <p:nvPr/>
            </p:nvSpPr>
            <p:spPr>
              <a:xfrm>
                <a:off x="613" y="2566"/>
                <a:ext cx="723"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19" name="Google Shape;6119;p84"/>
              <p:cNvSpPr/>
              <p:nvPr/>
            </p:nvSpPr>
            <p:spPr>
              <a:xfrm>
                <a:off x="628" y="2583"/>
                <a:ext cx="694"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120" name="Google Shape;6120;p84"/>
            <p:cNvSpPr/>
            <p:nvPr/>
          </p:nvSpPr>
          <p:spPr>
            <a:xfrm>
              <a:off x="4227" y="1016"/>
              <a:ext cx="591"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121" name="Google Shape;6121;p84"/>
            <p:cNvGrpSpPr/>
            <p:nvPr/>
          </p:nvGrpSpPr>
          <p:grpSpPr>
            <a:xfrm>
              <a:off x="4749" y="992"/>
              <a:ext cx="579" cy="136"/>
              <a:chOff x="616" y="2566"/>
              <a:chExt cx="723" cy="141"/>
            </a:xfrm>
          </p:grpSpPr>
          <p:sp>
            <p:nvSpPr>
              <p:cNvPr id="6122" name="Google Shape;6122;p84"/>
              <p:cNvSpPr/>
              <p:nvPr/>
            </p:nvSpPr>
            <p:spPr>
              <a:xfrm>
                <a:off x="616" y="2566"/>
                <a:ext cx="723"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23" name="Google Shape;6123;p84"/>
              <p:cNvSpPr/>
              <p:nvPr/>
            </p:nvSpPr>
            <p:spPr>
              <a:xfrm>
                <a:off x="630" y="2585"/>
                <a:ext cx="694"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124" name="Google Shape;6124;p84"/>
            <p:cNvSpPr/>
            <p:nvPr/>
          </p:nvSpPr>
          <p:spPr>
            <a:xfrm>
              <a:off x="4215" y="1360"/>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25" name="Google Shape;6125;p84"/>
            <p:cNvSpPr/>
            <p:nvPr/>
          </p:nvSpPr>
          <p:spPr>
            <a:xfrm>
              <a:off x="4227" y="1657"/>
              <a:ext cx="597"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126" name="Google Shape;6126;p84"/>
            <p:cNvGrpSpPr/>
            <p:nvPr/>
          </p:nvGrpSpPr>
          <p:grpSpPr>
            <a:xfrm>
              <a:off x="4737" y="1627"/>
              <a:ext cx="580" cy="142"/>
              <a:chOff x="616" y="2568"/>
              <a:chExt cx="722" cy="131"/>
            </a:xfrm>
          </p:grpSpPr>
          <p:sp>
            <p:nvSpPr>
              <p:cNvPr id="6127" name="Google Shape;6127;p84"/>
              <p:cNvSpPr/>
              <p:nvPr/>
            </p:nvSpPr>
            <p:spPr>
              <a:xfrm>
                <a:off x="616" y="2568"/>
                <a:ext cx="722" cy="13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28" name="Google Shape;6128;p84"/>
              <p:cNvSpPr/>
              <p:nvPr/>
            </p:nvSpPr>
            <p:spPr>
              <a:xfrm>
                <a:off x="630" y="2584"/>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129" name="Google Shape;6129;p8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130" name="Google Shape;6130;p84"/>
            <p:cNvGrpSpPr/>
            <p:nvPr/>
          </p:nvGrpSpPr>
          <p:grpSpPr>
            <a:xfrm>
              <a:off x="4737" y="1325"/>
              <a:ext cx="585" cy="142"/>
              <a:chOff x="611" y="2566"/>
              <a:chExt cx="729" cy="142"/>
            </a:xfrm>
          </p:grpSpPr>
          <p:sp>
            <p:nvSpPr>
              <p:cNvPr id="6131" name="Google Shape;6131;p84"/>
              <p:cNvSpPr/>
              <p:nvPr/>
            </p:nvSpPr>
            <p:spPr>
              <a:xfrm>
                <a:off x="611" y="2566"/>
                <a:ext cx="729"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32" name="Google Shape;6132;p84"/>
              <p:cNvSpPr/>
              <p:nvPr/>
            </p:nvSpPr>
            <p:spPr>
              <a:xfrm>
                <a:off x="626" y="2583"/>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133" name="Google Shape;6133;p84"/>
            <p:cNvSpPr/>
            <p:nvPr/>
          </p:nvSpPr>
          <p:spPr>
            <a:xfrm>
              <a:off x="5252" y="429"/>
              <a:ext cx="64" cy="2289"/>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34" name="Google Shape;6134;p8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35" name="Google Shape;6135;p8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36" name="Google Shape;6136;p84"/>
            <p:cNvSpPr/>
            <p:nvPr/>
          </p:nvSpPr>
          <p:spPr>
            <a:xfrm>
              <a:off x="5519" y="2611"/>
              <a:ext cx="46"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37" name="Google Shape;6137;p8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38" name="Google Shape;6138;p84"/>
            <p:cNvSpPr/>
            <p:nvPr/>
          </p:nvSpPr>
          <p:spPr>
            <a:xfrm>
              <a:off x="4140" y="2677"/>
              <a:ext cx="1199"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39" name="Google Shape;6139;p84"/>
            <p:cNvSpPr/>
            <p:nvPr/>
          </p:nvSpPr>
          <p:spPr>
            <a:xfrm>
              <a:off x="4204" y="2712"/>
              <a:ext cx="1072" cy="83"/>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40" name="Google Shape;6140;p84"/>
            <p:cNvSpPr/>
            <p:nvPr/>
          </p:nvSpPr>
          <p:spPr>
            <a:xfrm>
              <a:off x="4308" y="2380"/>
              <a:ext cx="156"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41" name="Google Shape;6141;p84"/>
            <p:cNvSpPr/>
            <p:nvPr/>
          </p:nvSpPr>
          <p:spPr>
            <a:xfrm>
              <a:off x="4488" y="2386"/>
              <a:ext cx="156"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6142" name="Google Shape;6142;p84"/>
            <p:cNvSpPr/>
            <p:nvPr/>
          </p:nvSpPr>
          <p:spPr>
            <a:xfrm>
              <a:off x="4661" y="2380"/>
              <a:ext cx="156"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43" name="Google Shape;6143;p84"/>
            <p:cNvSpPr/>
            <p:nvPr/>
          </p:nvSpPr>
          <p:spPr>
            <a:xfrm>
              <a:off x="5061" y="1835"/>
              <a:ext cx="87"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6144" name="Google Shape;6144;p84"/>
          <p:cNvGrpSpPr/>
          <p:nvPr/>
        </p:nvGrpSpPr>
        <p:grpSpPr>
          <a:xfrm>
            <a:off x="7406677" y="3015343"/>
            <a:ext cx="390525" cy="641350"/>
            <a:chOff x="4140" y="429"/>
            <a:chExt cx="1425" cy="2396"/>
          </a:xfrm>
        </p:grpSpPr>
        <p:sp>
          <p:nvSpPr>
            <p:cNvPr id="6145" name="Google Shape;6145;p8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46" name="Google Shape;6146;p84"/>
            <p:cNvSpPr/>
            <p:nvPr/>
          </p:nvSpPr>
          <p:spPr>
            <a:xfrm>
              <a:off x="4204" y="429"/>
              <a:ext cx="1048"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47" name="Google Shape;6147;p8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48" name="Google Shape;6148;p8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49" name="Google Shape;6149;p84"/>
            <p:cNvSpPr/>
            <p:nvPr/>
          </p:nvSpPr>
          <p:spPr>
            <a:xfrm>
              <a:off x="4210" y="696"/>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150" name="Google Shape;6150;p84"/>
            <p:cNvGrpSpPr/>
            <p:nvPr/>
          </p:nvGrpSpPr>
          <p:grpSpPr>
            <a:xfrm>
              <a:off x="4748" y="666"/>
              <a:ext cx="579" cy="148"/>
              <a:chOff x="613" y="2566"/>
              <a:chExt cx="723" cy="142"/>
            </a:xfrm>
          </p:grpSpPr>
          <p:sp>
            <p:nvSpPr>
              <p:cNvPr id="6151" name="Google Shape;6151;p84"/>
              <p:cNvSpPr/>
              <p:nvPr/>
            </p:nvSpPr>
            <p:spPr>
              <a:xfrm>
                <a:off x="613" y="2566"/>
                <a:ext cx="723"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52" name="Google Shape;6152;p84"/>
              <p:cNvSpPr/>
              <p:nvPr/>
            </p:nvSpPr>
            <p:spPr>
              <a:xfrm>
                <a:off x="628" y="2583"/>
                <a:ext cx="694"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153" name="Google Shape;6153;p84"/>
            <p:cNvSpPr/>
            <p:nvPr/>
          </p:nvSpPr>
          <p:spPr>
            <a:xfrm>
              <a:off x="4227" y="1016"/>
              <a:ext cx="591"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154" name="Google Shape;6154;p84"/>
            <p:cNvGrpSpPr/>
            <p:nvPr/>
          </p:nvGrpSpPr>
          <p:grpSpPr>
            <a:xfrm>
              <a:off x="4749" y="992"/>
              <a:ext cx="579" cy="136"/>
              <a:chOff x="616" y="2566"/>
              <a:chExt cx="723" cy="141"/>
            </a:xfrm>
          </p:grpSpPr>
          <p:sp>
            <p:nvSpPr>
              <p:cNvPr id="6155" name="Google Shape;6155;p84"/>
              <p:cNvSpPr/>
              <p:nvPr/>
            </p:nvSpPr>
            <p:spPr>
              <a:xfrm>
                <a:off x="616" y="2566"/>
                <a:ext cx="723"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56" name="Google Shape;6156;p84"/>
              <p:cNvSpPr/>
              <p:nvPr/>
            </p:nvSpPr>
            <p:spPr>
              <a:xfrm>
                <a:off x="630" y="2585"/>
                <a:ext cx="694"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157" name="Google Shape;6157;p84"/>
            <p:cNvSpPr/>
            <p:nvPr/>
          </p:nvSpPr>
          <p:spPr>
            <a:xfrm>
              <a:off x="4215" y="1360"/>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58" name="Google Shape;6158;p84"/>
            <p:cNvSpPr/>
            <p:nvPr/>
          </p:nvSpPr>
          <p:spPr>
            <a:xfrm>
              <a:off x="4227" y="1657"/>
              <a:ext cx="597"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159" name="Google Shape;6159;p84"/>
            <p:cNvGrpSpPr/>
            <p:nvPr/>
          </p:nvGrpSpPr>
          <p:grpSpPr>
            <a:xfrm>
              <a:off x="4737" y="1627"/>
              <a:ext cx="580" cy="142"/>
              <a:chOff x="616" y="2568"/>
              <a:chExt cx="722" cy="131"/>
            </a:xfrm>
          </p:grpSpPr>
          <p:sp>
            <p:nvSpPr>
              <p:cNvPr id="6160" name="Google Shape;6160;p84"/>
              <p:cNvSpPr/>
              <p:nvPr/>
            </p:nvSpPr>
            <p:spPr>
              <a:xfrm>
                <a:off x="616" y="2568"/>
                <a:ext cx="722" cy="13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61" name="Google Shape;6161;p84"/>
              <p:cNvSpPr/>
              <p:nvPr/>
            </p:nvSpPr>
            <p:spPr>
              <a:xfrm>
                <a:off x="630" y="2584"/>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162" name="Google Shape;6162;p8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163" name="Google Shape;6163;p84"/>
            <p:cNvGrpSpPr/>
            <p:nvPr/>
          </p:nvGrpSpPr>
          <p:grpSpPr>
            <a:xfrm>
              <a:off x="4737" y="1325"/>
              <a:ext cx="585" cy="142"/>
              <a:chOff x="611" y="2566"/>
              <a:chExt cx="729" cy="142"/>
            </a:xfrm>
          </p:grpSpPr>
          <p:sp>
            <p:nvSpPr>
              <p:cNvPr id="6164" name="Google Shape;6164;p84"/>
              <p:cNvSpPr/>
              <p:nvPr/>
            </p:nvSpPr>
            <p:spPr>
              <a:xfrm>
                <a:off x="611" y="2566"/>
                <a:ext cx="729"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65" name="Google Shape;6165;p84"/>
              <p:cNvSpPr/>
              <p:nvPr/>
            </p:nvSpPr>
            <p:spPr>
              <a:xfrm>
                <a:off x="626" y="2583"/>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166" name="Google Shape;6166;p84"/>
            <p:cNvSpPr/>
            <p:nvPr/>
          </p:nvSpPr>
          <p:spPr>
            <a:xfrm>
              <a:off x="5252" y="429"/>
              <a:ext cx="64" cy="2289"/>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67" name="Google Shape;6167;p8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68" name="Google Shape;6168;p8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69" name="Google Shape;6169;p84"/>
            <p:cNvSpPr/>
            <p:nvPr/>
          </p:nvSpPr>
          <p:spPr>
            <a:xfrm>
              <a:off x="5519" y="2611"/>
              <a:ext cx="46"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70" name="Google Shape;6170;p8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71" name="Google Shape;6171;p84"/>
            <p:cNvSpPr/>
            <p:nvPr/>
          </p:nvSpPr>
          <p:spPr>
            <a:xfrm>
              <a:off x="4140" y="2677"/>
              <a:ext cx="1199"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72" name="Google Shape;6172;p84"/>
            <p:cNvSpPr/>
            <p:nvPr/>
          </p:nvSpPr>
          <p:spPr>
            <a:xfrm>
              <a:off x="4204" y="2712"/>
              <a:ext cx="1072" cy="83"/>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73" name="Google Shape;6173;p84"/>
            <p:cNvSpPr/>
            <p:nvPr/>
          </p:nvSpPr>
          <p:spPr>
            <a:xfrm>
              <a:off x="4308" y="2380"/>
              <a:ext cx="156"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74" name="Google Shape;6174;p84"/>
            <p:cNvSpPr/>
            <p:nvPr/>
          </p:nvSpPr>
          <p:spPr>
            <a:xfrm>
              <a:off x="4488" y="2386"/>
              <a:ext cx="156"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6175" name="Google Shape;6175;p84"/>
            <p:cNvSpPr/>
            <p:nvPr/>
          </p:nvSpPr>
          <p:spPr>
            <a:xfrm>
              <a:off x="4661" y="2380"/>
              <a:ext cx="156"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76" name="Google Shape;6176;p84"/>
            <p:cNvSpPr/>
            <p:nvPr/>
          </p:nvSpPr>
          <p:spPr>
            <a:xfrm>
              <a:off x="5061" y="1835"/>
              <a:ext cx="87"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6177" name="Google Shape;6177;p84"/>
          <p:cNvGrpSpPr/>
          <p:nvPr/>
        </p:nvGrpSpPr>
        <p:grpSpPr>
          <a:xfrm>
            <a:off x="8560790" y="1753280"/>
            <a:ext cx="390525" cy="641350"/>
            <a:chOff x="4140" y="429"/>
            <a:chExt cx="1425" cy="2396"/>
          </a:xfrm>
        </p:grpSpPr>
        <p:sp>
          <p:nvSpPr>
            <p:cNvPr id="6178" name="Google Shape;6178;p8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79" name="Google Shape;6179;p84"/>
            <p:cNvSpPr/>
            <p:nvPr/>
          </p:nvSpPr>
          <p:spPr>
            <a:xfrm>
              <a:off x="4204" y="429"/>
              <a:ext cx="1048"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80" name="Google Shape;6180;p8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81" name="Google Shape;6181;p8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82" name="Google Shape;6182;p84"/>
            <p:cNvSpPr/>
            <p:nvPr/>
          </p:nvSpPr>
          <p:spPr>
            <a:xfrm>
              <a:off x="4210" y="696"/>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183" name="Google Shape;6183;p84"/>
            <p:cNvGrpSpPr/>
            <p:nvPr/>
          </p:nvGrpSpPr>
          <p:grpSpPr>
            <a:xfrm>
              <a:off x="4748" y="666"/>
              <a:ext cx="579" cy="148"/>
              <a:chOff x="613" y="2566"/>
              <a:chExt cx="723" cy="142"/>
            </a:xfrm>
          </p:grpSpPr>
          <p:sp>
            <p:nvSpPr>
              <p:cNvPr id="6184" name="Google Shape;6184;p84"/>
              <p:cNvSpPr/>
              <p:nvPr/>
            </p:nvSpPr>
            <p:spPr>
              <a:xfrm>
                <a:off x="613" y="2566"/>
                <a:ext cx="723"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85" name="Google Shape;6185;p84"/>
              <p:cNvSpPr/>
              <p:nvPr/>
            </p:nvSpPr>
            <p:spPr>
              <a:xfrm>
                <a:off x="627" y="2583"/>
                <a:ext cx="694"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186" name="Google Shape;6186;p84"/>
            <p:cNvSpPr/>
            <p:nvPr/>
          </p:nvSpPr>
          <p:spPr>
            <a:xfrm>
              <a:off x="4227" y="1016"/>
              <a:ext cx="591"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187" name="Google Shape;6187;p84"/>
            <p:cNvGrpSpPr/>
            <p:nvPr/>
          </p:nvGrpSpPr>
          <p:grpSpPr>
            <a:xfrm>
              <a:off x="4749" y="992"/>
              <a:ext cx="579" cy="136"/>
              <a:chOff x="616" y="2566"/>
              <a:chExt cx="723" cy="141"/>
            </a:xfrm>
          </p:grpSpPr>
          <p:sp>
            <p:nvSpPr>
              <p:cNvPr id="6188" name="Google Shape;6188;p84"/>
              <p:cNvSpPr/>
              <p:nvPr/>
            </p:nvSpPr>
            <p:spPr>
              <a:xfrm>
                <a:off x="616" y="2566"/>
                <a:ext cx="723"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89" name="Google Shape;6189;p84"/>
              <p:cNvSpPr/>
              <p:nvPr/>
            </p:nvSpPr>
            <p:spPr>
              <a:xfrm>
                <a:off x="630" y="2585"/>
                <a:ext cx="694"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190" name="Google Shape;6190;p84"/>
            <p:cNvSpPr/>
            <p:nvPr/>
          </p:nvSpPr>
          <p:spPr>
            <a:xfrm>
              <a:off x="4215" y="1360"/>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91" name="Google Shape;6191;p84"/>
            <p:cNvSpPr/>
            <p:nvPr/>
          </p:nvSpPr>
          <p:spPr>
            <a:xfrm>
              <a:off x="4227" y="1657"/>
              <a:ext cx="597"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192" name="Google Shape;6192;p84"/>
            <p:cNvGrpSpPr/>
            <p:nvPr/>
          </p:nvGrpSpPr>
          <p:grpSpPr>
            <a:xfrm>
              <a:off x="4737" y="1627"/>
              <a:ext cx="580" cy="142"/>
              <a:chOff x="616" y="2568"/>
              <a:chExt cx="722" cy="131"/>
            </a:xfrm>
          </p:grpSpPr>
          <p:sp>
            <p:nvSpPr>
              <p:cNvPr id="6193" name="Google Shape;6193;p84"/>
              <p:cNvSpPr/>
              <p:nvPr/>
            </p:nvSpPr>
            <p:spPr>
              <a:xfrm>
                <a:off x="616" y="2568"/>
                <a:ext cx="722" cy="13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94" name="Google Shape;6194;p84"/>
              <p:cNvSpPr/>
              <p:nvPr/>
            </p:nvSpPr>
            <p:spPr>
              <a:xfrm>
                <a:off x="630" y="2584"/>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195" name="Google Shape;6195;p8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196" name="Google Shape;6196;p84"/>
            <p:cNvGrpSpPr/>
            <p:nvPr/>
          </p:nvGrpSpPr>
          <p:grpSpPr>
            <a:xfrm>
              <a:off x="4737" y="1325"/>
              <a:ext cx="585" cy="142"/>
              <a:chOff x="611" y="2566"/>
              <a:chExt cx="729" cy="142"/>
            </a:xfrm>
          </p:grpSpPr>
          <p:sp>
            <p:nvSpPr>
              <p:cNvPr id="6197" name="Google Shape;6197;p84"/>
              <p:cNvSpPr/>
              <p:nvPr/>
            </p:nvSpPr>
            <p:spPr>
              <a:xfrm>
                <a:off x="611" y="2566"/>
                <a:ext cx="729"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98" name="Google Shape;6198;p84"/>
              <p:cNvSpPr/>
              <p:nvPr/>
            </p:nvSpPr>
            <p:spPr>
              <a:xfrm>
                <a:off x="625" y="2583"/>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199" name="Google Shape;6199;p84"/>
            <p:cNvSpPr/>
            <p:nvPr/>
          </p:nvSpPr>
          <p:spPr>
            <a:xfrm>
              <a:off x="5252" y="429"/>
              <a:ext cx="64" cy="2289"/>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00" name="Google Shape;6200;p8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01" name="Google Shape;6201;p8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02" name="Google Shape;6202;p84"/>
            <p:cNvSpPr/>
            <p:nvPr/>
          </p:nvSpPr>
          <p:spPr>
            <a:xfrm>
              <a:off x="5519" y="2611"/>
              <a:ext cx="46"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03" name="Google Shape;6203;p8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04" name="Google Shape;6204;p84"/>
            <p:cNvSpPr/>
            <p:nvPr/>
          </p:nvSpPr>
          <p:spPr>
            <a:xfrm>
              <a:off x="4140" y="2677"/>
              <a:ext cx="1199"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05" name="Google Shape;6205;p84"/>
            <p:cNvSpPr/>
            <p:nvPr/>
          </p:nvSpPr>
          <p:spPr>
            <a:xfrm>
              <a:off x="4204" y="2712"/>
              <a:ext cx="1072" cy="83"/>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06" name="Google Shape;6206;p84"/>
            <p:cNvSpPr/>
            <p:nvPr/>
          </p:nvSpPr>
          <p:spPr>
            <a:xfrm>
              <a:off x="4308" y="2380"/>
              <a:ext cx="156"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07" name="Google Shape;6207;p84"/>
            <p:cNvSpPr/>
            <p:nvPr/>
          </p:nvSpPr>
          <p:spPr>
            <a:xfrm>
              <a:off x="4488" y="2386"/>
              <a:ext cx="156"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6208" name="Google Shape;6208;p84"/>
            <p:cNvSpPr/>
            <p:nvPr/>
          </p:nvSpPr>
          <p:spPr>
            <a:xfrm>
              <a:off x="4661" y="2380"/>
              <a:ext cx="156"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09" name="Google Shape;6209;p84"/>
            <p:cNvSpPr/>
            <p:nvPr/>
          </p:nvSpPr>
          <p:spPr>
            <a:xfrm>
              <a:off x="5061" y="1835"/>
              <a:ext cx="87"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6210" name="Google Shape;6210;p84"/>
          <p:cNvGrpSpPr/>
          <p:nvPr/>
        </p:nvGrpSpPr>
        <p:grpSpPr>
          <a:xfrm>
            <a:off x="9376765" y="3005818"/>
            <a:ext cx="390525" cy="641350"/>
            <a:chOff x="4140" y="429"/>
            <a:chExt cx="1425" cy="2396"/>
          </a:xfrm>
        </p:grpSpPr>
        <p:sp>
          <p:nvSpPr>
            <p:cNvPr id="6211" name="Google Shape;6211;p8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12" name="Google Shape;6212;p84"/>
            <p:cNvSpPr/>
            <p:nvPr/>
          </p:nvSpPr>
          <p:spPr>
            <a:xfrm>
              <a:off x="4204" y="429"/>
              <a:ext cx="1048"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13" name="Google Shape;6213;p8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14" name="Google Shape;6214;p8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15" name="Google Shape;6215;p84"/>
            <p:cNvSpPr/>
            <p:nvPr/>
          </p:nvSpPr>
          <p:spPr>
            <a:xfrm>
              <a:off x="4210" y="696"/>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216" name="Google Shape;6216;p84"/>
            <p:cNvGrpSpPr/>
            <p:nvPr/>
          </p:nvGrpSpPr>
          <p:grpSpPr>
            <a:xfrm>
              <a:off x="4748" y="666"/>
              <a:ext cx="579" cy="148"/>
              <a:chOff x="613" y="2566"/>
              <a:chExt cx="723" cy="142"/>
            </a:xfrm>
          </p:grpSpPr>
          <p:sp>
            <p:nvSpPr>
              <p:cNvPr id="6217" name="Google Shape;6217;p84"/>
              <p:cNvSpPr/>
              <p:nvPr/>
            </p:nvSpPr>
            <p:spPr>
              <a:xfrm>
                <a:off x="613" y="2566"/>
                <a:ext cx="723"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18" name="Google Shape;6218;p84"/>
              <p:cNvSpPr/>
              <p:nvPr/>
            </p:nvSpPr>
            <p:spPr>
              <a:xfrm>
                <a:off x="627" y="2583"/>
                <a:ext cx="694"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219" name="Google Shape;6219;p84"/>
            <p:cNvSpPr/>
            <p:nvPr/>
          </p:nvSpPr>
          <p:spPr>
            <a:xfrm>
              <a:off x="4227" y="1016"/>
              <a:ext cx="591"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220" name="Google Shape;6220;p84"/>
            <p:cNvGrpSpPr/>
            <p:nvPr/>
          </p:nvGrpSpPr>
          <p:grpSpPr>
            <a:xfrm>
              <a:off x="4749" y="992"/>
              <a:ext cx="579" cy="136"/>
              <a:chOff x="616" y="2566"/>
              <a:chExt cx="723" cy="141"/>
            </a:xfrm>
          </p:grpSpPr>
          <p:sp>
            <p:nvSpPr>
              <p:cNvPr id="6221" name="Google Shape;6221;p84"/>
              <p:cNvSpPr/>
              <p:nvPr/>
            </p:nvSpPr>
            <p:spPr>
              <a:xfrm>
                <a:off x="616" y="2566"/>
                <a:ext cx="723"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22" name="Google Shape;6222;p84"/>
              <p:cNvSpPr/>
              <p:nvPr/>
            </p:nvSpPr>
            <p:spPr>
              <a:xfrm>
                <a:off x="630" y="2585"/>
                <a:ext cx="694"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223" name="Google Shape;6223;p84"/>
            <p:cNvSpPr/>
            <p:nvPr/>
          </p:nvSpPr>
          <p:spPr>
            <a:xfrm>
              <a:off x="4215" y="1360"/>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24" name="Google Shape;6224;p84"/>
            <p:cNvSpPr/>
            <p:nvPr/>
          </p:nvSpPr>
          <p:spPr>
            <a:xfrm>
              <a:off x="4227" y="1657"/>
              <a:ext cx="597"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225" name="Google Shape;6225;p84"/>
            <p:cNvGrpSpPr/>
            <p:nvPr/>
          </p:nvGrpSpPr>
          <p:grpSpPr>
            <a:xfrm>
              <a:off x="4737" y="1627"/>
              <a:ext cx="580" cy="142"/>
              <a:chOff x="616" y="2568"/>
              <a:chExt cx="722" cy="131"/>
            </a:xfrm>
          </p:grpSpPr>
          <p:sp>
            <p:nvSpPr>
              <p:cNvPr id="6226" name="Google Shape;6226;p84"/>
              <p:cNvSpPr/>
              <p:nvPr/>
            </p:nvSpPr>
            <p:spPr>
              <a:xfrm>
                <a:off x="616" y="2568"/>
                <a:ext cx="722" cy="13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27" name="Google Shape;6227;p84"/>
              <p:cNvSpPr/>
              <p:nvPr/>
            </p:nvSpPr>
            <p:spPr>
              <a:xfrm>
                <a:off x="630" y="2584"/>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228" name="Google Shape;6228;p8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6229" name="Google Shape;6229;p84"/>
            <p:cNvGrpSpPr/>
            <p:nvPr/>
          </p:nvGrpSpPr>
          <p:grpSpPr>
            <a:xfrm>
              <a:off x="4737" y="1325"/>
              <a:ext cx="585" cy="142"/>
              <a:chOff x="611" y="2566"/>
              <a:chExt cx="729" cy="142"/>
            </a:xfrm>
          </p:grpSpPr>
          <p:sp>
            <p:nvSpPr>
              <p:cNvPr id="6230" name="Google Shape;6230;p84"/>
              <p:cNvSpPr/>
              <p:nvPr/>
            </p:nvSpPr>
            <p:spPr>
              <a:xfrm>
                <a:off x="611" y="2566"/>
                <a:ext cx="729"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31" name="Google Shape;6231;p84"/>
              <p:cNvSpPr/>
              <p:nvPr/>
            </p:nvSpPr>
            <p:spPr>
              <a:xfrm>
                <a:off x="625" y="2583"/>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232" name="Google Shape;6232;p84"/>
            <p:cNvSpPr/>
            <p:nvPr/>
          </p:nvSpPr>
          <p:spPr>
            <a:xfrm>
              <a:off x="5252" y="429"/>
              <a:ext cx="64" cy="2289"/>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33" name="Google Shape;6233;p8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34" name="Google Shape;6234;p8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35" name="Google Shape;6235;p84"/>
            <p:cNvSpPr/>
            <p:nvPr/>
          </p:nvSpPr>
          <p:spPr>
            <a:xfrm>
              <a:off x="5519" y="2611"/>
              <a:ext cx="46"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36" name="Google Shape;6236;p8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37" name="Google Shape;6237;p84"/>
            <p:cNvSpPr/>
            <p:nvPr/>
          </p:nvSpPr>
          <p:spPr>
            <a:xfrm>
              <a:off x="4140" y="2677"/>
              <a:ext cx="1199"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38" name="Google Shape;6238;p84"/>
            <p:cNvSpPr/>
            <p:nvPr/>
          </p:nvSpPr>
          <p:spPr>
            <a:xfrm>
              <a:off x="4204" y="2712"/>
              <a:ext cx="1072" cy="83"/>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39" name="Google Shape;6239;p84"/>
            <p:cNvSpPr/>
            <p:nvPr/>
          </p:nvSpPr>
          <p:spPr>
            <a:xfrm>
              <a:off x="4308" y="2380"/>
              <a:ext cx="156"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40" name="Google Shape;6240;p84"/>
            <p:cNvSpPr/>
            <p:nvPr/>
          </p:nvSpPr>
          <p:spPr>
            <a:xfrm>
              <a:off x="4488" y="2386"/>
              <a:ext cx="156"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6241" name="Google Shape;6241;p84"/>
            <p:cNvSpPr/>
            <p:nvPr/>
          </p:nvSpPr>
          <p:spPr>
            <a:xfrm>
              <a:off x="4661" y="2380"/>
              <a:ext cx="156"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42" name="Google Shape;6242;p84"/>
            <p:cNvSpPr/>
            <p:nvPr/>
          </p:nvSpPr>
          <p:spPr>
            <a:xfrm>
              <a:off x="5061" y="1835"/>
              <a:ext cx="87"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243" name="Google Shape;6243;p84"/>
          <p:cNvSpPr/>
          <p:nvPr/>
        </p:nvSpPr>
        <p:spPr>
          <a:xfrm>
            <a:off x="810552" y="2790656"/>
            <a:ext cx="3704869" cy="231616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3200">
                <a:solidFill>
                  <a:srgbClr val="CC0000"/>
                </a:solidFill>
                <a:latin typeface="Calibri"/>
                <a:ea typeface="Calibri"/>
                <a:cs typeface="Calibri"/>
                <a:sym typeface="Calibri"/>
              </a:rPr>
              <a:t>Recursive query:</a:t>
            </a:r>
            <a:endParaRPr/>
          </a:p>
          <a:p>
            <a:pPr indent="-288925" lvl="0" marL="403225" marR="0" rtl="0" algn="l">
              <a:spcBef>
                <a:spcPts val="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puts burden of name resolution on contacted name server</a:t>
            </a:r>
            <a:endParaRPr/>
          </a:p>
          <a:p>
            <a:pPr indent="-288925" lvl="0" marL="403225" marR="0" rtl="0" algn="l">
              <a:spcBef>
                <a:spcPts val="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heavy load at upper levels of hierarchy</a:t>
            </a:r>
            <a:r>
              <a:rPr lang="en-US" sz="2400">
                <a:solidFill>
                  <a:schemeClr val="dk1"/>
                </a:solidFill>
                <a:latin typeface="Calibri"/>
                <a:ea typeface="Calibri"/>
                <a:cs typeface="Calibri"/>
                <a:sym typeface="Calibri"/>
              </a:rPr>
              <a:t>?</a:t>
            </a:r>
            <a:endParaRPr/>
          </a:p>
        </p:txBody>
      </p:sp>
      <p:sp>
        <p:nvSpPr>
          <p:cNvPr id="6244" name="Google Shape;6244;p84"/>
          <p:cNvSpPr txBox="1"/>
          <p:nvPr/>
        </p:nvSpPr>
        <p:spPr>
          <a:xfrm>
            <a:off x="684201" y="1617338"/>
            <a:ext cx="5664200" cy="1061130"/>
          </a:xfrm>
          <a:prstGeom prst="rect">
            <a:avLst/>
          </a:prstGeom>
          <a:noFill/>
          <a:ln>
            <a:noFill/>
          </a:ln>
        </p:spPr>
        <p:txBody>
          <a:bodyPr anchorCtr="0" anchor="t" bIns="45700" lIns="91425" spcFirstLastPara="1" rIns="91425" wrap="square" tIns="45700">
            <a:noAutofit/>
          </a:bodyPr>
          <a:lstStyle/>
          <a:p>
            <a:pPr indent="0" lvl="0" marL="130175" marR="0" rtl="0" algn="l">
              <a:lnSpc>
                <a:spcPct val="90000"/>
              </a:lnSpc>
              <a:spcBef>
                <a:spcPts val="0"/>
              </a:spcBef>
              <a:spcAft>
                <a:spcPts val="0"/>
              </a:spcAft>
              <a:buClr>
                <a:srgbClr val="0000A3"/>
              </a:buClr>
              <a:buSzPts val="2800"/>
              <a:buFont typeface="Noto Sans Symbols"/>
              <a:buNone/>
            </a:pPr>
            <a:r>
              <a:rPr lang="en-US" sz="2800">
                <a:solidFill>
                  <a:srgbClr val="0000A3"/>
                </a:solidFill>
                <a:latin typeface="Calibri"/>
                <a:ea typeface="Calibri"/>
                <a:cs typeface="Calibri"/>
                <a:sym typeface="Calibri"/>
              </a:rPr>
              <a:t>Example: </a:t>
            </a:r>
            <a:r>
              <a:rPr lang="en-US" sz="2800">
                <a:solidFill>
                  <a:schemeClr val="dk1"/>
                </a:solidFill>
                <a:latin typeface="Calibri"/>
                <a:ea typeface="Calibri"/>
                <a:cs typeface="Calibri"/>
                <a:sym typeface="Calibri"/>
              </a:rPr>
              <a:t>host at </a:t>
            </a:r>
            <a:r>
              <a:rPr lang="en-US" sz="2400">
                <a:solidFill>
                  <a:schemeClr val="dk1"/>
                </a:solidFill>
                <a:latin typeface="Calibri"/>
                <a:ea typeface="Calibri"/>
                <a:cs typeface="Calibri"/>
                <a:sym typeface="Calibri"/>
              </a:rPr>
              <a:t>engineering.nyu.edu </a:t>
            </a:r>
            <a:r>
              <a:rPr lang="en-US" sz="2800">
                <a:solidFill>
                  <a:schemeClr val="dk1"/>
                </a:solidFill>
                <a:latin typeface="Calibri"/>
                <a:ea typeface="Calibri"/>
                <a:cs typeface="Calibri"/>
                <a:sym typeface="Calibri"/>
              </a:rPr>
              <a:t>wants IP address for </a:t>
            </a:r>
            <a:r>
              <a:rPr lang="en-US" sz="2400">
                <a:solidFill>
                  <a:schemeClr val="dk1"/>
                </a:solidFill>
                <a:latin typeface="Calibri"/>
                <a:ea typeface="Calibri"/>
                <a:cs typeface="Calibri"/>
                <a:sym typeface="Calibri"/>
              </a:rPr>
              <a:t>gaia.cs.umass.edu</a:t>
            </a:r>
            <a:endParaRPr sz="2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9" name="Shape 6249"/>
        <p:cNvGrpSpPr/>
        <p:nvPr/>
      </p:nvGrpSpPr>
      <p:grpSpPr>
        <a:xfrm>
          <a:off x="0" y="0"/>
          <a:ext cx="0" cy="0"/>
          <a:chOff x="0" y="0"/>
          <a:chExt cx="0" cy="0"/>
        </a:xfrm>
      </p:grpSpPr>
      <p:sp>
        <p:nvSpPr>
          <p:cNvPr id="6250" name="Google Shape;6250;p85"/>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Caching, Updating DNS Records</a:t>
            </a:r>
            <a:endParaRPr sz="4400"/>
          </a:p>
        </p:txBody>
      </p:sp>
      <p:sp>
        <p:nvSpPr>
          <p:cNvPr id="6251" name="Google Shape;6251;p8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6252" name="Google Shape;6252;p85"/>
          <p:cNvSpPr txBox="1"/>
          <p:nvPr/>
        </p:nvSpPr>
        <p:spPr>
          <a:xfrm>
            <a:off x="952952" y="1446555"/>
            <a:ext cx="10515600" cy="4733925"/>
          </a:xfrm>
          <a:prstGeom prst="rect">
            <a:avLst/>
          </a:prstGeom>
          <a:noFill/>
          <a:ln>
            <a:noFill/>
          </a:ln>
        </p:spPr>
        <p:txBody>
          <a:bodyPr anchorCtr="0" anchor="t" bIns="45700" lIns="91425" spcFirstLastPara="1" rIns="91425" wrap="square" tIns="45700">
            <a:noAutofit/>
          </a:bodyPr>
          <a:lstStyle/>
          <a:p>
            <a:pPr indent="-295275" lvl="0" marL="352425" marR="0" rtl="0" algn="l">
              <a:lnSpc>
                <a:spcPct val="90000"/>
              </a:lnSpc>
              <a:spcBef>
                <a:spcPts val="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once (any) name server learns mapping, it </a:t>
            </a:r>
            <a:r>
              <a:rPr i="1" lang="en-US" sz="3200">
                <a:solidFill>
                  <a:srgbClr val="000099"/>
                </a:solidFill>
                <a:latin typeface="Calibri"/>
                <a:ea typeface="Calibri"/>
                <a:cs typeface="Calibri"/>
                <a:sym typeface="Calibri"/>
              </a:rPr>
              <a:t>caches</a:t>
            </a:r>
            <a:r>
              <a:rPr lang="en-US" sz="3200">
                <a:solidFill>
                  <a:schemeClr val="dk1"/>
                </a:solidFill>
                <a:latin typeface="Calibri"/>
                <a:ea typeface="Calibri"/>
                <a:cs typeface="Calibri"/>
                <a:sym typeface="Calibri"/>
              </a:rPr>
              <a:t> mapping</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cache entries timeout (disappear) after some time (TTL)</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TLD servers typically cached in local name servers</a:t>
            </a:r>
            <a:endParaRPr/>
          </a:p>
          <a:p>
            <a:pPr indent="-228600" lvl="2" marL="11430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thus root name servers not often visited</a:t>
            </a:r>
            <a:endParaRPr/>
          </a:p>
          <a:p>
            <a:pPr indent="-295275" lvl="0" marL="35242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cached entries may be </a:t>
            </a:r>
            <a:r>
              <a:rPr i="1" lang="en-US" sz="3200">
                <a:solidFill>
                  <a:srgbClr val="CC0000"/>
                </a:solidFill>
                <a:latin typeface="Calibri"/>
                <a:ea typeface="Calibri"/>
                <a:cs typeface="Calibri"/>
                <a:sym typeface="Calibri"/>
              </a:rPr>
              <a:t>out-of-date</a:t>
            </a:r>
            <a:r>
              <a:rPr lang="en-US" sz="3200">
                <a:solidFill>
                  <a:schemeClr val="dk1"/>
                </a:solidFill>
                <a:latin typeface="Calibri"/>
                <a:ea typeface="Calibri"/>
                <a:cs typeface="Calibri"/>
                <a:sym typeface="Calibri"/>
              </a:rPr>
              <a:t> (</a:t>
            </a:r>
            <a:r>
              <a:rPr lang="en-US" sz="3200">
                <a:solidFill>
                  <a:srgbClr val="0000A3"/>
                </a:solidFill>
                <a:latin typeface="Calibri"/>
                <a:ea typeface="Calibri"/>
                <a:cs typeface="Calibri"/>
                <a:sym typeface="Calibri"/>
              </a:rPr>
              <a:t>best-effort name-to-address translation!</a:t>
            </a:r>
            <a:r>
              <a:rPr lang="en-US" sz="3200">
                <a:solidFill>
                  <a:schemeClr val="dk1"/>
                </a:solidFill>
                <a:latin typeface="Calibri"/>
                <a:ea typeface="Calibri"/>
                <a:cs typeface="Calibri"/>
                <a:sym typeface="Calibri"/>
              </a:rPr>
              <a: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if name host changes IP address, may not be known Internet-wide until all TTLs expire!</a:t>
            </a:r>
            <a:endParaRPr/>
          </a:p>
          <a:p>
            <a:pPr indent="-295275" lvl="0" marL="35242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update/notify mechanisms proposed IETF standard</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RFC 2136</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7" name="Shape 6257"/>
        <p:cNvGrpSpPr/>
        <p:nvPr/>
      </p:nvGrpSpPr>
      <p:grpSpPr>
        <a:xfrm>
          <a:off x="0" y="0"/>
          <a:ext cx="0" cy="0"/>
          <a:chOff x="0" y="0"/>
          <a:chExt cx="0" cy="0"/>
        </a:xfrm>
      </p:grpSpPr>
      <p:sp>
        <p:nvSpPr>
          <p:cNvPr id="6258" name="Google Shape;6258;p86"/>
          <p:cNvSpPr txBox="1"/>
          <p:nvPr>
            <p:ph type="title"/>
          </p:nvPr>
        </p:nvSpPr>
        <p:spPr>
          <a:xfrm>
            <a:off x="838200" y="36267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DNS records</a:t>
            </a:r>
            <a:endParaRPr sz="4400"/>
          </a:p>
        </p:txBody>
      </p:sp>
      <p:sp>
        <p:nvSpPr>
          <p:cNvPr id="6259" name="Google Shape;6259;p8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6260" name="Google Shape;6260;p86"/>
          <p:cNvSpPr txBox="1"/>
          <p:nvPr/>
        </p:nvSpPr>
        <p:spPr>
          <a:xfrm>
            <a:off x="738187" y="1270000"/>
            <a:ext cx="10162042" cy="51435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DNS:</a:t>
            </a:r>
            <a:r>
              <a:rPr lang="en-US" sz="2800">
                <a:solidFill>
                  <a:schemeClr val="dk1"/>
                </a:solidFill>
                <a:latin typeface="Calibri"/>
                <a:ea typeface="Calibri"/>
                <a:cs typeface="Calibri"/>
                <a:sym typeface="Calibri"/>
              </a:rPr>
              <a:t> distributed database storing resource records </a:t>
            </a:r>
            <a:r>
              <a:rPr lang="en-US" sz="3200">
                <a:solidFill>
                  <a:srgbClr val="CC0000"/>
                </a:solidFill>
                <a:latin typeface="Calibri"/>
                <a:ea typeface="Calibri"/>
                <a:cs typeface="Calibri"/>
                <a:sym typeface="Calibri"/>
              </a:rPr>
              <a:t>(RR)</a:t>
            </a:r>
            <a:endParaRPr/>
          </a:p>
        </p:txBody>
      </p:sp>
      <p:sp>
        <p:nvSpPr>
          <p:cNvPr id="6261" name="Google Shape;6261;p86"/>
          <p:cNvSpPr txBox="1"/>
          <p:nvPr/>
        </p:nvSpPr>
        <p:spPr>
          <a:xfrm>
            <a:off x="1080534" y="4146777"/>
            <a:ext cx="4547961" cy="1905000"/>
          </a:xfrm>
          <a:prstGeom prst="rect">
            <a:avLst/>
          </a:prstGeom>
          <a:noFill/>
          <a:ln>
            <a:noFill/>
          </a:ln>
        </p:spPr>
        <p:txBody>
          <a:bodyPr anchorCtr="0" anchor="t" bIns="45700" lIns="91425" spcFirstLastPara="1" rIns="91425" wrap="square" tIns="45700">
            <a:noAutofit/>
          </a:bodyPr>
          <a:lstStyle/>
          <a:p>
            <a:pPr indent="0" lvl="0" marL="14288"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type=NS</a:t>
            </a:r>
            <a:endParaRPr/>
          </a:p>
          <a:p>
            <a:pPr indent="-288925" lvl="1" marL="346075"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chemeClr val="dk1"/>
                </a:solidFill>
                <a:latin typeface="Courier"/>
                <a:ea typeface="Courier"/>
                <a:cs typeface="Courier"/>
                <a:sym typeface="Courier"/>
              </a:rPr>
              <a:t>name</a:t>
            </a:r>
            <a:r>
              <a:rPr b="0" i="0" lang="en-US" sz="2400" u="none" cap="none" strike="noStrike">
                <a:solidFill>
                  <a:schemeClr val="dk1"/>
                </a:solidFill>
                <a:latin typeface="Calibri"/>
                <a:ea typeface="Calibri"/>
                <a:cs typeface="Calibri"/>
                <a:sym typeface="Calibri"/>
              </a:rPr>
              <a:t> is domain (e.g., foo.com)</a:t>
            </a:r>
            <a:endParaRPr/>
          </a:p>
          <a:p>
            <a:pPr indent="-288925" lvl="1" marL="346075"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chemeClr val="dk1"/>
                </a:solidFill>
                <a:latin typeface="Courier"/>
                <a:ea typeface="Courier"/>
                <a:cs typeface="Courier"/>
                <a:sym typeface="Courier"/>
              </a:rPr>
              <a:t>value </a:t>
            </a:r>
            <a:r>
              <a:rPr b="0" i="0" lang="en-US" sz="2400" u="none" cap="none" strike="noStrike">
                <a:solidFill>
                  <a:schemeClr val="dk1"/>
                </a:solidFill>
                <a:latin typeface="Calibri"/>
                <a:ea typeface="Calibri"/>
                <a:cs typeface="Calibri"/>
                <a:sym typeface="Calibri"/>
              </a:rPr>
              <a:t>is hostname of authoritative name server for this domain</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
        <p:nvSpPr>
          <p:cNvPr id="6262" name="Google Shape;6262;p86"/>
          <p:cNvSpPr txBox="1"/>
          <p:nvPr/>
        </p:nvSpPr>
        <p:spPr>
          <a:xfrm>
            <a:off x="1693864" y="1727751"/>
            <a:ext cx="6332536" cy="5847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3200"/>
              <a:buFont typeface="Calibri"/>
              <a:buNone/>
            </a:pPr>
            <a:r>
              <a:rPr lang="en-US" sz="3200">
                <a:solidFill>
                  <a:schemeClr val="dk1"/>
                </a:solidFill>
                <a:latin typeface="Calibri"/>
                <a:ea typeface="Calibri"/>
                <a:cs typeface="Calibri"/>
                <a:sym typeface="Calibri"/>
              </a:rPr>
              <a:t>RR format: </a:t>
            </a:r>
            <a:r>
              <a:rPr lang="en-US" sz="2400">
                <a:solidFill>
                  <a:schemeClr val="dk1"/>
                </a:solidFill>
                <a:latin typeface="Calibri"/>
                <a:ea typeface="Calibri"/>
                <a:cs typeface="Calibri"/>
                <a:sym typeface="Calibri"/>
              </a:rPr>
              <a:t>(</a:t>
            </a:r>
            <a:r>
              <a:rPr lang="en-US" sz="2400">
                <a:solidFill>
                  <a:schemeClr val="dk1"/>
                </a:solidFill>
                <a:latin typeface="Courier"/>
                <a:ea typeface="Courier"/>
                <a:cs typeface="Courier"/>
                <a:sym typeface="Courier"/>
              </a:rPr>
              <a:t>name, value, type, ttl</a:t>
            </a:r>
            <a:r>
              <a:rPr lang="en-US" sz="2400">
                <a:solidFill>
                  <a:schemeClr val="dk1"/>
                </a:solidFill>
                <a:latin typeface="Calibri"/>
                <a:ea typeface="Calibri"/>
                <a:cs typeface="Calibri"/>
                <a:sym typeface="Calibri"/>
              </a:rPr>
              <a:t>)</a:t>
            </a:r>
            <a:endParaRPr sz="3200">
              <a:solidFill>
                <a:schemeClr val="dk1"/>
              </a:solidFill>
              <a:latin typeface="Calibri"/>
              <a:ea typeface="Calibri"/>
              <a:cs typeface="Calibri"/>
              <a:sym typeface="Calibri"/>
            </a:endParaRPr>
          </a:p>
        </p:txBody>
      </p:sp>
      <p:sp>
        <p:nvSpPr>
          <p:cNvPr id="6263" name="Google Shape;6263;p86"/>
          <p:cNvSpPr/>
          <p:nvPr/>
        </p:nvSpPr>
        <p:spPr>
          <a:xfrm>
            <a:off x="1067384" y="2533650"/>
            <a:ext cx="3810000" cy="1304925"/>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00099"/>
              </a:buClr>
              <a:buSzPts val="2400"/>
              <a:buFont typeface="Noto Sans Symbols"/>
              <a:buNone/>
            </a:pPr>
            <a:r>
              <a:rPr lang="en-US" sz="3200">
                <a:solidFill>
                  <a:srgbClr val="CC0000"/>
                </a:solidFill>
                <a:latin typeface="Calibri"/>
                <a:ea typeface="Calibri"/>
                <a:cs typeface="Calibri"/>
                <a:sym typeface="Calibri"/>
              </a:rPr>
              <a:t>type=A</a:t>
            </a:r>
            <a:endParaRPr/>
          </a:p>
          <a:p>
            <a:pPr indent="-317500" lvl="1" marL="403225" marR="0" rtl="0" algn="l">
              <a:spcBef>
                <a:spcPts val="0"/>
              </a:spcBef>
              <a:spcAft>
                <a:spcPts val="0"/>
              </a:spcAft>
              <a:buClr>
                <a:srgbClr val="000099"/>
              </a:buClr>
              <a:buSzPts val="2400"/>
              <a:buFont typeface="Noto Sans Symbols"/>
              <a:buChar char="▪"/>
            </a:pPr>
            <a:r>
              <a:rPr b="0" i="0" lang="en-US" sz="2400" u="none" cap="none" strike="noStrike">
                <a:solidFill>
                  <a:schemeClr val="dk1"/>
                </a:solidFill>
                <a:latin typeface="Courier"/>
                <a:ea typeface="Courier"/>
                <a:cs typeface="Courier"/>
                <a:sym typeface="Courier"/>
              </a:rPr>
              <a:t>name</a:t>
            </a:r>
            <a:r>
              <a:rPr b="0" i="0" lang="en-US" sz="2400" u="none" cap="none" strike="noStrike">
                <a:solidFill>
                  <a:schemeClr val="dk1"/>
                </a:solidFill>
                <a:latin typeface="Calibri"/>
                <a:ea typeface="Calibri"/>
                <a:cs typeface="Calibri"/>
                <a:sym typeface="Calibri"/>
              </a:rPr>
              <a:t> is hostname</a:t>
            </a:r>
            <a:endParaRPr/>
          </a:p>
          <a:p>
            <a:pPr indent="-317500" lvl="1" marL="403225" marR="0" rtl="0" algn="l">
              <a:spcBef>
                <a:spcPts val="0"/>
              </a:spcBef>
              <a:spcAft>
                <a:spcPts val="0"/>
              </a:spcAft>
              <a:buClr>
                <a:srgbClr val="000099"/>
              </a:buClr>
              <a:buSzPts val="2400"/>
              <a:buFont typeface="Noto Sans Symbols"/>
              <a:buChar char="▪"/>
            </a:pPr>
            <a:r>
              <a:rPr b="0" i="0" lang="en-US" sz="2400" u="none" cap="none" strike="noStrike">
                <a:solidFill>
                  <a:schemeClr val="dk1"/>
                </a:solidFill>
                <a:latin typeface="Courier"/>
                <a:ea typeface="Courier"/>
                <a:cs typeface="Courier"/>
                <a:sym typeface="Courier"/>
              </a:rPr>
              <a:t>value</a:t>
            </a:r>
            <a:r>
              <a:rPr b="0" i="0" lang="en-US" sz="2400" u="none" cap="none" strike="noStrike">
                <a:solidFill>
                  <a:schemeClr val="dk1"/>
                </a:solidFill>
                <a:latin typeface="Calibri"/>
                <a:ea typeface="Calibri"/>
                <a:cs typeface="Calibri"/>
                <a:sym typeface="Calibri"/>
              </a:rPr>
              <a:t> is IP address</a:t>
            </a:r>
            <a:endParaRPr/>
          </a:p>
          <a:p>
            <a:pPr indent="-165100" lvl="0" marL="34290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6264" name="Google Shape;6264;p86"/>
          <p:cNvSpPr/>
          <p:nvPr/>
        </p:nvSpPr>
        <p:spPr>
          <a:xfrm>
            <a:off x="6015718" y="2555875"/>
            <a:ext cx="6176282" cy="21717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3200">
                <a:solidFill>
                  <a:srgbClr val="CC0000"/>
                </a:solidFill>
                <a:latin typeface="Calibri"/>
                <a:ea typeface="Calibri"/>
                <a:cs typeface="Calibri"/>
                <a:sym typeface="Calibri"/>
              </a:rPr>
              <a:t>type=CNAME</a:t>
            </a:r>
            <a:endParaRPr/>
          </a:p>
          <a:p>
            <a:pPr indent="-317500" lvl="1" marL="403225" marR="0" rtl="0" algn="l">
              <a:spcBef>
                <a:spcPts val="0"/>
              </a:spcBef>
              <a:spcAft>
                <a:spcPts val="0"/>
              </a:spcAft>
              <a:buClr>
                <a:srgbClr val="000099"/>
              </a:buClr>
              <a:buSzPts val="2400"/>
              <a:buFont typeface="Noto Sans Symbols"/>
              <a:buChar char="▪"/>
            </a:pPr>
            <a:r>
              <a:rPr b="0" i="0" lang="en-US" sz="2400" u="none" cap="none" strike="noStrike">
                <a:solidFill>
                  <a:schemeClr val="dk1"/>
                </a:solidFill>
                <a:latin typeface="Courier"/>
                <a:ea typeface="Courier"/>
                <a:cs typeface="Courier"/>
                <a:sym typeface="Courier"/>
              </a:rPr>
              <a:t>name </a:t>
            </a:r>
            <a:r>
              <a:rPr b="0" i="0" lang="en-US" sz="2400" u="none" cap="none" strike="noStrike">
                <a:solidFill>
                  <a:schemeClr val="dk1"/>
                </a:solidFill>
                <a:latin typeface="Calibri"/>
                <a:ea typeface="Calibri"/>
                <a:cs typeface="Calibri"/>
                <a:sym typeface="Calibri"/>
              </a:rPr>
              <a:t>is alias name for some “canonical” (the real) name</a:t>
            </a:r>
            <a:endParaRPr/>
          </a:p>
          <a:p>
            <a:pPr indent="-317500" lvl="1" marL="403225" marR="0" rtl="0" algn="l">
              <a:spcBef>
                <a:spcPts val="0"/>
              </a:spcBef>
              <a:spcAft>
                <a:spcPts val="0"/>
              </a:spcAft>
              <a:buClr>
                <a:srgbClr val="000099"/>
              </a:buClr>
              <a:buSzPts val="2400"/>
              <a:buFont typeface="Noto Sans Symbols"/>
              <a:buChar char="▪"/>
            </a:pPr>
            <a:r>
              <a:rPr b="0" i="0" lang="en-US" sz="2000" u="none" cap="none" strike="noStrike">
                <a:solidFill>
                  <a:schemeClr val="dk1"/>
                </a:solidFill>
                <a:latin typeface="Calibri"/>
                <a:ea typeface="Calibri"/>
                <a:cs typeface="Calibri"/>
                <a:sym typeface="Calibri"/>
              </a:rPr>
              <a:t>www.ibm.com </a:t>
            </a:r>
            <a:r>
              <a:rPr b="0" i="0" lang="en-US" sz="2400" u="none" cap="none" strike="noStrike">
                <a:solidFill>
                  <a:schemeClr val="dk1"/>
                </a:solidFill>
                <a:latin typeface="Calibri"/>
                <a:ea typeface="Calibri"/>
                <a:cs typeface="Calibri"/>
                <a:sym typeface="Calibri"/>
              </a:rPr>
              <a:t>is really </a:t>
            </a:r>
            <a:r>
              <a:rPr b="0" i="0" lang="en-US" sz="2000" u="none" cap="none" strike="noStrike">
                <a:solidFill>
                  <a:schemeClr val="dk1"/>
                </a:solidFill>
                <a:latin typeface="Calibri"/>
                <a:ea typeface="Calibri"/>
                <a:cs typeface="Calibri"/>
                <a:sym typeface="Calibri"/>
              </a:rPr>
              <a:t>servereast.backup2.ibm.com</a:t>
            </a:r>
            <a:endParaRPr/>
          </a:p>
          <a:p>
            <a:pPr indent="-317500" lvl="1" marL="403225" marR="0" rtl="0" algn="l">
              <a:spcBef>
                <a:spcPts val="0"/>
              </a:spcBef>
              <a:spcAft>
                <a:spcPts val="0"/>
              </a:spcAft>
              <a:buClr>
                <a:srgbClr val="000099"/>
              </a:buClr>
              <a:buSzPts val="2400"/>
              <a:buFont typeface="Noto Sans Symbols"/>
              <a:buChar char="▪"/>
            </a:pPr>
            <a:r>
              <a:rPr b="0" i="0" lang="en-US" sz="2400" u="none" cap="none" strike="noStrike">
                <a:solidFill>
                  <a:schemeClr val="dk1"/>
                </a:solidFill>
                <a:latin typeface="Courier"/>
                <a:ea typeface="Courier"/>
                <a:cs typeface="Courier"/>
                <a:sym typeface="Courier"/>
              </a:rPr>
              <a:t>value </a:t>
            </a:r>
            <a:r>
              <a:rPr b="0" i="0" lang="en-US" sz="2400" u="none" cap="none" strike="noStrike">
                <a:solidFill>
                  <a:schemeClr val="dk1"/>
                </a:solidFill>
                <a:latin typeface="Calibri"/>
                <a:ea typeface="Calibri"/>
                <a:cs typeface="Calibri"/>
                <a:sym typeface="Calibri"/>
              </a:rPr>
              <a:t>is canonical name</a:t>
            </a:r>
            <a:endParaRPr/>
          </a:p>
          <a:p>
            <a:pPr indent="-165100" lvl="0" marL="34290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6265" name="Google Shape;6265;p86"/>
          <p:cNvSpPr/>
          <p:nvPr/>
        </p:nvSpPr>
        <p:spPr>
          <a:xfrm>
            <a:off x="6015718" y="4727575"/>
            <a:ext cx="5287866" cy="130968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3200">
                <a:solidFill>
                  <a:srgbClr val="CC0000"/>
                </a:solidFill>
                <a:latin typeface="Calibri"/>
                <a:ea typeface="Calibri"/>
                <a:cs typeface="Calibri"/>
                <a:sym typeface="Calibri"/>
              </a:rPr>
              <a:t>type=MX</a:t>
            </a:r>
            <a:endParaRPr/>
          </a:p>
          <a:p>
            <a:pPr indent="-285750" lvl="1" marL="742950" marR="0" rtl="0" algn="l">
              <a:spcBef>
                <a:spcPts val="0"/>
              </a:spcBef>
              <a:spcAft>
                <a:spcPts val="0"/>
              </a:spcAft>
              <a:buClr>
                <a:srgbClr val="000099"/>
              </a:buClr>
              <a:buSzPts val="2400"/>
              <a:buFont typeface="Noto Sans Symbols"/>
              <a:buChar char="▪"/>
            </a:pPr>
            <a:r>
              <a:rPr b="0" i="0" lang="en-US" sz="2400" u="none" cap="none" strike="noStrike">
                <a:solidFill>
                  <a:schemeClr val="dk1"/>
                </a:solidFill>
                <a:latin typeface="Courier"/>
                <a:ea typeface="Courier"/>
                <a:cs typeface="Courier"/>
                <a:sym typeface="Courier"/>
              </a:rPr>
              <a:t>value</a:t>
            </a:r>
            <a:r>
              <a:rPr b="0" i="0" lang="en-US" sz="2400" u="none" cap="none" strike="noStrike">
                <a:solidFill>
                  <a:schemeClr val="dk1"/>
                </a:solidFill>
                <a:latin typeface="Calibri"/>
                <a:ea typeface="Calibri"/>
                <a:cs typeface="Calibri"/>
                <a:sym typeface="Calibri"/>
              </a:rPr>
              <a:t> is name of mailserver associated with </a:t>
            </a:r>
            <a:r>
              <a:rPr b="0" i="0" lang="en-US" sz="2400" u="none" cap="none" strike="noStrike">
                <a:solidFill>
                  <a:schemeClr val="dk1"/>
                </a:solidFill>
                <a:latin typeface="Courier"/>
                <a:ea typeface="Courier"/>
                <a:cs typeface="Courier"/>
                <a:sym typeface="Courier"/>
              </a:rPr>
              <a:t>name</a:t>
            </a:r>
            <a:endParaRPr/>
          </a:p>
          <a:p>
            <a:pPr indent="-165100" lvl="0" marL="34290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0" name="Shape 6270"/>
        <p:cNvGrpSpPr/>
        <p:nvPr/>
      </p:nvGrpSpPr>
      <p:grpSpPr>
        <a:xfrm>
          <a:off x="0" y="0"/>
          <a:ext cx="0" cy="0"/>
          <a:chOff x="0" y="0"/>
          <a:chExt cx="0" cy="0"/>
        </a:xfrm>
      </p:grpSpPr>
      <p:sp>
        <p:nvSpPr>
          <p:cNvPr id="6271" name="Google Shape;6271;p87"/>
          <p:cNvSpPr txBox="1"/>
          <p:nvPr>
            <p:ph type="title"/>
          </p:nvPr>
        </p:nvSpPr>
        <p:spPr>
          <a:xfrm>
            <a:off x="838200" y="36267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DNS protocol messages</a:t>
            </a:r>
            <a:endParaRPr sz="4400"/>
          </a:p>
        </p:txBody>
      </p:sp>
      <p:sp>
        <p:nvSpPr>
          <p:cNvPr id="6272" name="Google Shape;6272;p8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6273" name="Google Shape;6273;p87"/>
          <p:cNvSpPr txBox="1"/>
          <p:nvPr/>
        </p:nvSpPr>
        <p:spPr>
          <a:xfrm>
            <a:off x="693057" y="1391557"/>
            <a:ext cx="10393362" cy="514350"/>
          </a:xfrm>
          <a:prstGeom prst="rect">
            <a:avLst/>
          </a:prstGeom>
          <a:noFill/>
          <a:ln>
            <a:noFill/>
          </a:ln>
        </p:spPr>
        <p:txBody>
          <a:bodyPr anchorCtr="0" anchor="t" bIns="45700" lIns="91425" spcFirstLastPara="1" rIns="91425" wrap="square" tIns="45700">
            <a:noAutofit/>
          </a:bodyPr>
          <a:lstStyle/>
          <a:p>
            <a:pPr indent="0" lvl="0" marL="130175" marR="0" rtl="0" algn="l">
              <a:lnSpc>
                <a:spcPct val="90000"/>
              </a:lnSpc>
              <a:spcBef>
                <a:spcPts val="0"/>
              </a:spcBef>
              <a:spcAft>
                <a:spcPts val="0"/>
              </a:spcAft>
              <a:buClr>
                <a:srgbClr val="0000A3"/>
              </a:buClr>
              <a:buSzPts val="3200"/>
              <a:buFont typeface="Noto Sans Symbols"/>
              <a:buNone/>
            </a:pPr>
            <a:r>
              <a:rPr lang="en-US" sz="3200">
                <a:solidFill>
                  <a:schemeClr val="dk1"/>
                </a:solidFill>
                <a:latin typeface="Calibri"/>
                <a:ea typeface="Calibri"/>
                <a:cs typeface="Calibri"/>
                <a:sym typeface="Calibri"/>
              </a:rPr>
              <a:t>DNS</a:t>
            </a:r>
            <a:r>
              <a:rPr i="1" lang="en-US" sz="3200">
                <a:solidFill>
                  <a:schemeClr val="dk1"/>
                </a:solidFill>
                <a:latin typeface="Calibri"/>
                <a:ea typeface="Calibri"/>
                <a:cs typeface="Calibri"/>
                <a:sym typeface="Calibri"/>
              </a:rPr>
              <a:t> </a:t>
            </a:r>
            <a:r>
              <a:rPr i="1" lang="en-US" sz="3200">
                <a:solidFill>
                  <a:srgbClr val="CC0000"/>
                </a:solidFill>
                <a:latin typeface="Calibri"/>
                <a:ea typeface="Calibri"/>
                <a:cs typeface="Calibri"/>
                <a:sym typeface="Calibri"/>
              </a:rPr>
              <a:t>query</a:t>
            </a:r>
            <a:r>
              <a:rPr lang="en-US" sz="3200">
                <a:solidFill>
                  <a:srgbClr val="FF0000"/>
                </a:solidFill>
                <a:latin typeface="Calibri"/>
                <a:ea typeface="Calibri"/>
                <a:cs typeface="Calibri"/>
                <a:sym typeface="Calibri"/>
              </a:rPr>
              <a:t> </a:t>
            </a:r>
            <a:r>
              <a:rPr lang="en-US" sz="3200">
                <a:solidFill>
                  <a:schemeClr val="dk1"/>
                </a:solidFill>
                <a:latin typeface="Calibri"/>
                <a:ea typeface="Calibri"/>
                <a:cs typeface="Calibri"/>
                <a:sym typeface="Calibri"/>
              </a:rPr>
              <a:t>and </a:t>
            </a:r>
            <a:r>
              <a:rPr i="1" lang="en-US" sz="3200">
                <a:solidFill>
                  <a:srgbClr val="CC0000"/>
                </a:solidFill>
                <a:latin typeface="Calibri"/>
                <a:ea typeface="Calibri"/>
                <a:cs typeface="Calibri"/>
                <a:sym typeface="Calibri"/>
              </a:rPr>
              <a:t>reply</a:t>
            </a:r>
            <a:r>
              <a:rPr lang="en-US" sz="3200">
                <a:solidFill>
                  <a:schemeClr val="dk1"/>
                </a:solidFill>
                <a:latin typeface="Calibri"/>
                <a:ea typeface="Calibri"/>
                <a:cs typeface="Calibri"/>
                <a:sym typeface="Calibri"/>
              </a:rPr>
              <a:t> messages, both have same  </a:t>
            </a:r>
            <a:r>
              <a:rPr i="1" lang="en-US" sz="3200">
                <a:solidFill>
                  <a:srgbClr val="CC0000"/>
                </a:solidFill>
                <a:latin typeface="Calibri"/>
                <a:ea typeface="Calibri"/>
                <a:cs typeface="Calibri"/>
                <a:sym typeface="Calibri"/>
              </a:rPr>
              <a:t>format:</a:t>
            </a:r>
            <a:endParaRPr sz="3200">
              <a:solidFill>
                <a:srgbClr val="CC0000"/>
              </a:solidFill>
              <a:latin typeface="Calibri"/>
              <a:ea typeface="Calibri"/>
              <a:cs typeface="Calibri"/>
              <a:sym typeface="Calibri"/>
            </a:endParaRPr>
          </a:p>
        </p:txBody>
      </p:sp>
      <p:sp>
        <p:nvSpPr>
          <p:cNvPr id="6274" name="Google Shape;6274;p87"/>
          <p:cNvSpPr/>
          <p:nvPr/>
        </p:nvSpPr>
        <p:spPr>
          <a:xfrm>
            <a:off x="1407887" y="2394964"/>
            <a:ext cx="4688114" cy="3838575"/>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800"/>
              <a:buFont typeface="Arial"/>
              <a:buNone/>
            </a:pPr>
            <a:r>
              <a:rPr lang="en-US" sz="2800">
                <a:solidFill>
                  <a:schemeClr val="dk1"/>
                </a:solidFill>
                <a:latin typeface="Calibri"/>
                <a:ea typeface="Calibri"/>
                <a:cs typeface="Calibri"/>
                <a:sym typeface="Calibri"/>
              </a:rPr>
              <a:t>message header:</a:t>
            </a:r>
            <a:endParaRPr/>
          </a:p>
          <a:p>
            <a:pPr indent="-227013" lvl="0" marL="227013" marR="0" rtl="0" algn="l">
              <a:spcBef>
                <a:spcPts val="0"/>
              </a:spcBef>
              <a:spcAft>
                <a:spcPts val="0"/>
              </a:spcAft>
              <a:buClr>
                <a:srgbClr val="000099"/>
              </a:buClr>
              <a:buSzPts val="2400"/>
              <a:buFont typeface="Noto Sans Symbols"/>
              <a:buChar char="▪"/>
            </a:pPr>
            <a:r>
              <a:rPr lang="en-US" sz="2400">
                <a:solidFill>
                  <a:srgbClr val="000099"/>
                </a:solidFill>
                <a:latin typeface="Calibri"/>
                <a:ea typeface="Calibri"/>
                <a:cs typeface="Calibri"/>
                <a:sym typeface="Calibri"/>
              </a:rPr>
              <a:t>identification:</a:t>
            </a:r>
            <a:r>
              <a:rPr lang="en-US" sz="2400">
                <a:solidFill>
                  <a:schemeClr val="dk1"/>
                </a:solidFill>
                <a:latin typeface="Calibri"/>
                <a:ea typeface="Calibri"/>
                <a:cs typeface="Calibri"/>
                <a:sym typeface="Calibri"/>
              </a:rPr>
              <a:t> 16 bit # for query, reply to query uses same #</a:t>
            </a:r>
            <a:endParaRPr/>
          </a:p>
          <a:p>
            <a:pPr indent="-227013" lvl="0" marL="227013" marR="0" rtl="0" algn="l">
              <a:spcBef>
                <a:spcPts val="0"/>
              </a:spcBef>
              <a:spcAft>
                <a:spcPts val="0"/>
              </a:spcAft>
              <a:buClr>
                <a:srgbClr val="000099"/>
              </a:buClr>
              <a:buSzPts val="2400"/>
              <a:buFont typeface="Noto Sans Symbols"/>
              <a:buChar char="▪"/>
            </a:pPr>
            <a:r>
              <a:rPr lang="en-US" sz="2400">
                <a:solidFill>
                  <a:srgbClr val="000099"/>
                </a:solidFill>
                <a:latin typeface="Calibri"/>
                <a:ea typeface="Calibri"/>
                <a:cs typeface="Calibri"/>
                <a:sym typeface="Calibri"/>
              </a:rPr>
              <a:t>flags:</a:t>
            </a:r>
            <a:endParaRPr/>
          </a:p>
          <a:p>
            <a:pPr indent="-230188" lvl="1" marL="460375" marR="0" rtl="0" algn="l">
              <a:spcBef>
                <a:spcPts val="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query or reply</a:t>
            </a:r>
            <a:endParaRPr/>
          </a:p>
          <a:p>
            <a:pPr indent="-230188" lvl="1" marL="460375" marR="0" rtl="0" algn="l">
              <a:spcBef>
                <a:spcPts val="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recursion desired </a:t>
            </a:r>
            <a:endParaRPr/>
          </a:p>
          <a:p>
            <a:pPr indent="-230188" lvl="1" marL="460375" marR="0" rtl="0" algn="l">
              <a:spcBef>
                <a:spcPts val="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recursion available</a:t>
            </a:r>
            <a:endParaRPr/>
          </a:p>
          <a:p>
            <a:pPr indent="-230188" lvl="1" marL="460375" marR="0" rtl="0" algn="l">
              <a:spcBef>
                <a:spcPts val="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reply is authoritative</a:t>
            </a:r>
            <a:endParaRPr/>
          </a:p>
        </p:txBody>
      </p:sp>
      <p:grpSp>
        <p:nvGrpSpPr>
          <p:cNvPr id="6275" name="Google Shape;6275;p87"/>
          <p:cNvGrpSpPr/>
          <p:nvPr/>
        </p:nvGrpSpPr>
        <p:grpSpPr>
          <a:xfrm>
            <a:off x="6272212" y="2258439"/>
            <a:ext cx="3725863" cy="4184650"/>
            <a:chOff x="2672" y="1396"/>
            <a:chExt cx="2347" cy="2636"/>
          </a:xfrm>
        </p:grpSpPr>
        <p:sp>
          <p:nvSpPr>
            <p:cNvPr id="6276" name="Google Shape;6276;p87"/>
            <p:cNvSpPr/>
            <p:nvPr/>
          </p:nvSpPr>
          <p:spPr>
            <a:xfrm>
              <a:off x="2742" y="1396"/>
              <a:ext cx="2277" cy="2585"/>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6277" name="Google Shape;6277;p87"/>
            <p:cNvSpPr/>
            <p:nvPr/>
          </p:nvSpPr>
          <p:spPr>
            <a:xfrm>
              <a:off x="2688" y="1447"/>
              <a:ext cx="2277" cy="2585"/>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cxnSp>
          <p:nvCxnSpPr>
            <p:cNvPr id="6278" name="Google Shape;6278;p87"/>
            <p:cNvCxnSpPr/>
            <p:nvPr/>
          </p:nvCxnSpPr>
          <p:spPr>
            <a:xfrm>
              <a:off x="2681" y="3606"/>
              <a:ext cx="2297" cy="0"/>
            </a:xfrm>
            <a:prstGeom prst="straightConnector1">
              <a:avLst/>
            </a:prstGeom>
            <a:noFill/>
            <a:ln cap="flat" cmpd="sng" w="19050">
              <a:solidFill>
                <a:schemeClr val="dk1"/>
              </a:solidFill>
              <a:prstDash val="solid"/>
              <a:round/>
              <a:headEnd len="med" w="med" type="none"/>
              <a:tailEnd len="med" w="med" type="none"/>
            </a:ln>
          </p:spPr>
        </p:cxnSp>
        <p:cxnSp>
          <p:nvCxnSpPr>
            <p:cNvPr id="6279" name="Google Shape;6279;p87"/>
            <p:cNvCxnSpPr/>
            <p:nvPr/>
          </p:nvCxnSpPr>
          <p:spPr>
            <a:xfrm>
              <a:off x="2688" y="3174"/>
              <a:ext cx="2297" cy="0"/>
            </a:xfrm>
            <a:prstGeom prst="straightConnector1">
              <a:avLst/>
            </a:prstGeom>
            <a:noFill/>
            <a:ln cap="flat" cmpd="sng" w="19050">
              <a:solidFill>
                <a:schemeClr val="dk1"/>
              </a:solidFill>
              <a:prstDash val="solid"/>
              <a:round/>
              <a:headEnd len="med" w="med" type="none"/>
              <a:tailEnd len="med" w="med" type="none"/>
            </a:ln>
          </p:spPr>
        </p:cxnSp>
        <p:cxnSp>
          <p:nvCxnSpPr>
            <p:cNvPr id="6280" name="Google Shape;6280;p87"/>
            <p:cNvCxnSpPr/>
            <p:nvPr/>
          </p:nvCxnSpPr>
          <p:spPr>
            <a:xfrm>
              <a:off x="2681" y="2742"/>
              <a:ext cx="2297" cy="0"/>
            </a:xfrm>
            <a:prstGeom prst="straightConnector1">
              <a:avLst/>
            </a:prstGeom>
            <a:noFill/>
            <a:ln cap="flat" cmpd="sng" w="19050">
              <a:solidFill>
                <a:schemeClr val="dk1"/>
              </a:solidFill>
              <a:prstDash val="solid"/>
              <a:round/>
              <a:headEnd len="med" w="med" type="none"/>
              <a:tailEnd len="med" w="med" type="none"/>
            </a:ln>
          </p:spPr>
        </p:cxnSp>
        <p:cxnSp>
          <p:nvCxnSpPr>
            <p:cNvPr id="6281" name="Google Shape;6281;p87"/>
            <p:cNvCxnSpPr/>
            <p:nvPr/>
          </p:nvCxnSpPr>
          <p:spPr>
            <a:xfrm>
              <a:off x="2681" y="2317"/>
              <a:ext cx="2297" cy="0"/>
            </a:xfrm>
            <a:prstGeom prst="straightConnector1">
              <a:avLst/>
            </a:prstGeom>
            <a:noFill/>
            <a:ln cap="flat" cmpd="sng" w="19050">
              <a:solidFill>
                <a:schemeClr val="dk1"/>
              </a:solidFill>
              <a:prstDash val="solid"/>
              <a:round/>
              <a:headEnd len="med" w="med" type="none"/>
              <a:tailEnd len="med" w="med" type="none"/>
            </a:ln>
          </p:spPr>
        </p:cxnSp>
        <p:cxnSp>
          <p:nvCxnSpPr>
            <p:cNvPr id="6282" name="Google Shape;6282;p87"/>
            <p:cNvCxnSpPr/>
            <p:nvPr/>
          </p:nvCxnSpPr>
          <p:spPr>
            <a:xfrm>
              <a:off x="2680" y="2029"/>
              <a:ext cx="2297" cy="0"/>
            </a:xfrm>
            <a:prstGeom prst="straightConnector1">
              <a:avLst/>
            </a:prstGeom>
            <a:noFill/>
            <a:ln cap="flat" cmpd="sng" w="19050">
              <a:solidFill>
                <a:schemeClr val="dk1"/>
              </a:solidFill>
              <a:prstDash val="solid"/>
              <a:round/>
              <a:headEnd len="med" w="med" type="none"/>
              <a:tailEnd len="med" w="med" type="none"/>
            </a:ln>
          </p:spPr>
        </p:cxnSp>
        <p:cxnSp>
          <p:nvCxnSpPr>
            <p:cNvPr id="6283" name="Google Shape;6283;p87"/>
            <p:cNvCxnSpPr/>
            <p:nvPr/>
          </p:nvCxnSpPr>
          <p:spPr>
            <a:xfrm>
              <a:off x="2672" y="1745"/>
              <a:ext cx="2297" cy="0"/>
            </a:xfrm>
            <a:prstGeom prst="straightConnector1">
              <a:avLst/>
            </a:prstGeom>
            <a:noFill/>
            <a:ln cap="flat" cmpd="sng" w="19050">
              <a:solidFill>
                <a:schemeClr val="dk1"/>
              </a:solidFill>
              <a:prstDash val="solid"/>
              <a:round/>
              <a:headEnd len="med" w="med" type="none"/>
              <a:tailEnd len="med" w="med" type="none"/>
            </a:ln>
          </p:spPr>
        </p:cxnSp>
        <p:cxnSp>
          <p:nvCxnSpPr>
            <p:cNvPr id="6284" name="Google Shape;6284;p87"/>
            <p:cNvCxnSpPr/>
            <p:nvPr/>
          </p:nvCxnSpPr>
          <p:spPr>
            <a:xfrm>
              <a:off x="3826" y="1454"/>
              <a:ext cx="2" cy="857"/>
            </a:xfrm>
            <a:prstGeom prst="straightConnector1">
              <a:avLst/>
            </a:prstGeom>
            <a:noFill/>
            <a:ln cap="flat" cmpd="sng" w="19050">
              <a:solidFill>
                <a:schemeClr val="dk1"/>
              </a:solidFill>
              <a:prstDash val="solid"/>
              <a:round/>
              <a:headEnd len="med" w="med" type="none"/>
              <a:tailEnd len="med" w="med" type="none"/>
            </a:ln>
          </p:spPr>
        </p:cxnSp>
        <p:sp>
          <p:nvSpPr>
            <p:cNvPr id="6285" name="Google Shape;6285;p87"/>
            <p:cNvSpPr txBox="1"/>
            <p:nvPr/>
          </p:nvSpPr>
          <p:spPr>
            <a:xfrm>
              <a:off x="2842" y="1492"/>
              <a:ext cx="826"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identification</a:t>
              </a:r>
              <a:endParaRPr/>
            </a:p>
          </p:txBody>
        </p:sp>
        <p:sp>
          <p:nvSpPr>
            <p:cNvPr id="6286" name="Google Shape;6286;p87"/>
            <p:cNvSpPr txBox="1"/>
            <p:nvPr/>
          </p:nvSpPr>
          <p:spPr>
            <a:xfrm>
              <a:off x="4180" y="1492"/>
              <a:ext cx="386"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flags</a:t>
              </a:r>
              <a:endParaRPr/>
            </a:p>
          </p:txBody>
        </p:sp>
        <p:sp>
          <p:nvSpPr>
            <p:cNvPr id="6287" name="Google Shape;6287;p87"/>
            <p:cNvSpPr txBox="1"/>
            <p:nvPr/>
          </p:nvSpPr>
          <p:spPr>
            <a:xfrm>
              <a:off x="2862" y="1780"/>
              <a:ext cx="770"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 questions</a:t>
              </a:r>
              <a:endParaRPr/>
            </a:p>
          </p:txBody>
        </p:sp>
        <p:sp>
          <p:nvSpPr>
            <p:cNvPr id="6288" name="Google Shape;6288;p87"/>
            <p:cNvSpPr txBox="1"/>
            <p:nvPr/>
          </p:nvSpPr>
          <p:spPr>
            <a:xfrm>
              <a:off x="2789" y="2417"/>
              <a:ext cx="2065"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questions (variable # of questions)</a:t>
              </a:r>
              <a:endParaRPr/>
            </a:p>
          </p:txBody>
        </p:sp>
        <p:sp>
          <p:nvSpPr>
            <p:cNvPr id="6289" name="Google Shape;6289;p87"/>
            <p:cNvSpPr txBox="1"/>
            <p:nvPr/>
          </p:nvSpPr>
          <p:spPr>
            <a:xfrm>
              <a:off x="3866" y="2067"/>
              <a:ext cx="1053"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 additional RRs</a:t>
              </a:r>
              <a:endParaRPr/>
            </a:p>
          </p:txBody>
        </p:sp>
        <p:sp>
          <p:nvSpPr>
            <p:cNvPr id="6290" name="Google Shape;6290;p87"/>
            <p:cNvSpPr txBox="1"/>
            <p:nvPr/>
          </p:nvSpPr>
          <p:spPr>
            <a:xfrm>
              <a:off x="2762" y="2068"/>
              <a:ext cx="998"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 authority RRs</a:t>
              </a:r>
              <a:endParaRPr/>
            </a:p>
          </p:txBody>
        </p:sp>
        <p:sp>
          <p:nvSpPr>
            <p:cNvPr id="6291" name="Google Shape;6291;p87"/>
            <p:cNvSpPr txBox="1"/>
            <p:nvPr/>
          </p:nvSpPr>
          <p:spPr>
            <a:xfrm>
              <a:off x="3928" y="1786"/>
              <a:ext cx="919"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 answer RRs</a:t>
              </a:r>
              <a:endParaRPr/>
            </a:p>
          </p:txBody>
        </p:sp>
        <p:sp>
          <p:nvSpPr>
            <p:cNvPr id="6292" name="Google Shape;6292;p87"/>
            <p:cNvSpPr txBox="1"/>
            <p:nvPr/>
          </p:nvSpPr>
          <p:spPr>
            <a:xfrm>
              <a:off x="2983" y="2848"/>
              <a:ext cx="1695"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answers (variable # of RRs)</a:t>
              </a:r>
              <a:endParaRPr/>
            </a:p>
          </p:txBody>
        </p:sp>
        <p:sp>
          <p:nvSpPr>
            <p:cNvPr id="6293" name="Google Shape;6293;p87"/>
            <p:cNvSpPr txBox="1"/>
            <p:nvPr/>
          </p:nvSpPr>
          <p:spPr>
            <a:xfrm>
              <a:off x="3002" y="3280"/>
              <a:ext cx="1710"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authority (variable # of RRs)</a:t>
              </a:r>
              <a:endParaRPr/>
            </a:p>
          </p:txBody>
        </p:sp>
        <p:sp>
          <p:nvSpPr>
            <p:cNvPr id="6294" name="Google Shape;6294;p87"/>
            <p:cNvSpPr txBox="1"/>
            <p:nvPr/>
          </p:nvSpPr>
          <p:spPr>
            <a:xfrm>
              <a:off x="2811" y="3700"/>
              <a:ext cx="2007"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additional info (variable # of RRs)</a:t>
              </a:r>
              <a:endParaRPr/>
            </a:p>
          </p:txBody>
        </p:sp>
      </p:grpSp>
      <p:cxnSp>
        <p:nvCxnSpPr>
          <p:cNvPr id="6295" name="Google Shape;6295;p87"/>
          <p:cNvCxnSpPr/>
          <p:nvPr/>
        </p:nvCxnSpPr>
        <p:spPr>
          <a:xfrm flipH="1" rot="10800000">
            <a:off x="3710672" y="2610864"/>
            <a:ext cx="2902854" cy="295274"/>
          </a:xfrm>
          <a:prstGeom prst="straightConnector1">
            <a:avLst/>
          </a:prstGeom>
          <a:noFill/>
          <a:ln cap="flat" cmpd="sng" w="12700">
            <a:solidFill>
              <a:srgbClr val="CC0000"/>
            </a:solidFill>
            <a:prstDash val="solid"/>
            <a:round/>
            <a:headEnd len="med" w="med" type="none"/>
            <a:tailEnd len="med" w="med" type="none"/>
          </a:ln>
        </p:spPr>
      </p:cxnSp>
      <p:cxnSp>
        <p:nvCxnSpPr>
          <p:cNvPr id="6296" name="Google Shape;6296;p87"/>
          <p:cNvCxnSpPr/>
          <p:nvPr/>
        </p:nvCxnSpPr>
        <p:spPr>
          <a:xfrm flipH="1" rot="10800000">
            <a:off x="2352675" y="2590227"/>
            <a:ext cx="6383337" cy="1208088"/>
          </a:xfrm>
          <a:prstGeom prst="straightConnector1">
            <a:avLst/>
          </a:prstGeom>
          <a:noFill/>
          <a:ln cap="flat" cmpd="sng" w="12700">
            <a:solidFill>
              <a:srgbClr val="CC0000"/>
            </a:solidFill>
            <a:prstDash val="solid"/>
            <a:round/>
            <a:headEnd len="med" w="med" type="none"/>
            <a:tailEnd len="med" w="med" type="none"/>
          </a:ln>
        </p:spPr>
      </p:cxnSp>
      <p:grpSp>
        <p:nvGrpSpPr>
          <p:cNvPr id="6297" name="Google Shape;6297;p87"/>
          <p:cNvGrpSpPr/>
          <p:nvPr/>
        </p:nvGrpSpPr>
        <p:grpSpPr>
          <a:xfrm>
            <a:off x="6302375" y="1937764"/>
            <a:ext cx="1747837" cy="274638"/>
            <a:chOff x="2691" y="1194"/>
            <a:chExt cx="1101" cy="173"/>
          </a:xfrm>
        </p:grpSpPr>
        <p:sp>
          <p:nvSpPr>
            <p:cNvPr id="6298" name="Google Shape;6298;p87"/>
            <p:cNvSpPr txBox="1"/>
            <p:nvPr/>
          </p:nvSpPr>
          <p:spPr>
            <a:xfrm>
              <a:off x="3032" y="1194"/>
              <a:ext cx="425" cy="173"/>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200">
                  <a:solidFill>
                    <a:schemeClr val="dk1"/>
                  </a:solidFill>
                  <a:latin typeface="Arial"/>
                  <a:ea typeface="Arial"/>
                  <a:cs typeface="Arial"/>
                  <a:sym typeface="Arial"/>
                </a:rPr>
                <a:t>2 bytes</a:t>
              </a:r>
              <a:endParaRPr/>
            </a:p>
          </p:txBody>
        </p:sp>
        <p:cxnSp>
          <p:nvCxnSpPr>
            <p:cNvPr id="6299" name="Google Shape;6299;p87"/>
            <p:cNvCxnSpPr/>
            <p:nvPr/>
          </p:nvCxnSpPr>
          <p:spPr>
            <a:xfrm>
              <a:off x="3465" y="1284"/>
              <a:ext cx="327" cy="0"/>
            </a:xfrm>
            <a:prstGeom prst="straightConnector1">
              <a:avLst/>
            </a:prstGeom>
            <a:noFill/>
            <a:ln cap="flat" cmpd="sng" w="9525">
              <a:solidFill>
                <a:schemeClr val="dk1"/>
              </a:solidFill>
              <a:prstDash val="solid"/>
              <a:round/>
              <a:headEnd len="med" w="med" type="none"/>
              <a:tailEnd len="med" w="med" type="triangle"/>
            </a:ln>
          </p:spPr>
        </p:cxnSp>
        <p:cxnSp>
          <p:nvCxnSpPr>
            <p:cNvPr id="6300" name="Google Shape;6300;p87"/>
            <p:cNvCxnSpPr/>
            <p:nvPr/>
          </p:nvCxnSpPr>
          <p:spPr>
            <a:xfrm rot="10800000">
              <a:off x="2691" y="1284"/>
              <a:ext cx="327" cy="0"/>
            </a:xfrm>
            <a:prstGeom prst="straightConnector1">
              <a:avLst/>
            </a:prstGeom>
            <a:noFill/>
            <a:ln cap="flat" cmpd="sng" w="9525">
              <a:solidFill>
                <a:schemeClr val="dk1"/>
              </a:solidFill>
              <a:prstDash val="solid"/>
              <a:round/>
              <a:headEnd len="med" w="med" type="none"/>
              <a:tailEnd len="med" w="med" type="triangle"/>
            </a:ln>
          </p:spPr>
        </p:cxnSp>
      </p:grpSp>
      <p:grpSp>
        <p:nvGrpSpPr>
          <p:cNvPr id="6301" name="Google Shape;6301;p87"/>
          <p:cNvGrpSpPr/>
          <p:nvPr/>
        </p:nvGrpSpPr>
        <p:grpSpPr>
          <a:xfrm>
            <a:off x="8077200" y="1937764"/>
            <a:ext cx="1747837" cy="274638"/>
            <a:chOff x="2691" y="1194"/>
            <a:chExt cx="1101" cy="173"/>
          </a:xfrm>
        </p:grpSpPr>
        <p:sp>
          <p:nvSpPr>
            <p:cNvPr id="6302" name="Google Shape;6302;p87"/>
            <p:cNvSpPr txBox="1"/>
            <p:nvPr/>
          </p:nvSpPr>
          <p:spPr>
            <a:xfrm>
              <a:off x="3032" y="1194"/>
              <a:ext cx="425" cy="173"/>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200">
                  <a:solidFill>
                    <a:schemeClr val="dk1"/>
                  </a:solidFill>
                  <a:latin typeface="Arial"/>
                  <a:ea typeface="Arial"/>
                  <a:cs typeface="Arial"/>
                  <a:sym typeface="Arial"/>
                </a:rPr>
                <a:t>2 bytes</a:t>
              </a:r>
              <a:endParaRPr/>
            </a:p>
          </p:txBody>
        </p:sp>
        <p:cxnSp>
          <p:nvCxnSpPr>
            <p:cNvPr id="6303" name="Google Shape;6303;p87"/>
            <p:cNvCxnSpPr/>
            <p:nvPr/>
          </p:nvCxnSpPr>
          <p:spPr>
            <a:xfrm>
              <a:off x="3465" y="1284"/>
              <a:ext cx="327" cy="0"/>
            </a:xfrm>
            <a:prstGeom prst="straightConnector1">
              <a:avLst/>
            </a:prstGeom>
            <a:noFill/>
            <a:ln cap="flat" cmpd="sng" w="9525">
              <a:solidFill>
                <a:schemeClr val="dk1"/>
              </a:solidFill>
              <a:prstDash val="solid"/>
              <a:round/>
              <a:headEnd len="med" w="med" type="none"/>
              <a:tailEnd len="med" w="med" type="triangle"/>
            </a:ln>
          </p:spPr>
        </p:cxnSp>
        <p:cxnSp>
          <p:nvCxnSpPr>
            <p:cNvPr id="6304" name="Google Shape;6304;p87"/>
            <p:cNvCxnSpPr/>
            <p:nvPr/>
          </p:nvCxnSpPr>
          <p:spPr>
            <a:xfrm rot="10800000">
              <a:off x="2691" y="1284"/>
              <a:ext cx="327" cy="0"/>
            </a:xfrm>
            <a:prstGeom prst="straightConnector1">
              <a:avLst/>
            </a:prstGeom>
            <a:noFill/>
            <a:ln cap="flat" cmpd="sng" w="9525">
              <a:solidFill>
                <a:schemeClr val="dk1"/>
              </a:solidFill>
              <a:prstDash val="solid"/>
              <a:round/>
              <a:headEnd len="med" w="med" type="none"/>
              <a:tailEnd len="med" w="med" type="triangle"/>
            </a:ln>
          </p:spPr>
        </p:cxnSp>
      </p:gr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9" name="Shape 6309"/>
        <p:cNvGrpSpPr/>
        <p:nvPr/>
      </p:nvGrpSpPr>
      <p:grpSpPr>
        <a:xfrm>
          <a:off x="0" y="0"/>
          <a:ext cx="0" cy="0"/>
          <a:chOff x="0" y="0"/>
          <a:chExt cx="0" cy="0"/>
        </a:xfrm>
      </p:grpSpPr>
      <p:sp>
        <p:nvSpPr>
          <p:cNvPr id="6310" name="Google Shape;6310;p8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6311" name="Google Shape;6311;p88"/>
          <p:cNvSpPr txBox="1"/>
          <p:nvPr/>
        </p:nvSpPr>
        <p:spPr>
          <a:xfrm>
            <a:off x="693057" y="1391557"/>
            <a:ext cx="10393362" cy="514350"/>
          </a:xfrm>
          <a:prstGeom prst="rect">
            <a:avLst/>
          </a:prstGeom>
          <a:noFill/>
          <a:ln>
            <a:noFill/>
          </a:ln>
        </p:spPr>
        <p:txBody>
          <a:bodyPr anchorCtr="0" anchor="t" bIns="45700" lIns="91425" spcFirstLastPara="1" rIns="91425" wrap="square" tIns="45700">
            <a:noAutofit/>
          </a:bodyPr>
          <a:lstStyle/>
          <a:p>
            <a:pPr indent="0" lvl="0" marL="130175" marR="0" rtl="0" algn="l">
              <a:lnSpc>
                <a:spcPct val="90000"/>
              </a:lnSpc>
              <a:spcBef>
                <a:spcPts val="0"/>
              </a:spcBef>
              <a:spcAft>
                <a:spcPts val="0"/>
              </a:spcAft>
              <a:buClr>
                <a:srgbClr val="0000A3"/>
              </a:buClr>
              <a:buSzPts val="3200"/>
              <a:buFont typeface="Noto Sans Symbols"/>
              <a:buNone/>
            </a:pPr>
            <a:r>
              <a:rPr lang="en-US" sz="3200">
                <a:solidFill>
                  <a:schemeClr val="dk1"/>
                </a:solidFill>
                <a:latin typeface="Calibri"/>
                <a:ea typeface="Calibri"/>
                <a:cs typeface="Calibri"/>
                <a:sym typeface="Calibri"/>
              </a:rPr>
              <a:t>DNS</a:t>
            </a:r>
            <a:r>
              <a:rPr i="1" lang="en-US" sz="3200">
                <a:solidFill>
                  <a:schemeClr val="dk1"/>
                </a:solidFill>
                <a:latin typeface="Calibri"/>
                <a:ea typeface="Calibri"/>
                <a:cs typeface="Calibri"/>
                <a:sym typeface="Calibri"/>
              </a:rPr>
              <a:t> </a:t>
            </a:r>
            <a:r>
              <a:rPr i="1" lang="en-US" sz="3200">
                <a:solidFill>
                  <a:srgbClr val="CC0000"/>
                </a:solidFill>
                <a:latin typeface="Calibri"/>
                <a:ea typeface="Calibri"/>
                <a:cs typeface="Calibri"/>
                <a:sym typeface="Calibri"/>
              </a:rPr>
              <a:t>query</a:t>
            </a:r>
            <a:r>
              <a:rPr lang="en-US" sz="3200">
                <a:solidFill>
                  <a:srgbClr val="FF0000"/>
                </a:solidFill>
                <a:latin typeface="Calibri"/>
                <a:ea typeface="Calibri"/>
                <a:cs typeface="Calibri"/>
                <a:sym typeface="Calibri"/>
              </a:rPr>
              <a:t> </a:t>
            </a:r>
            <a:r>
              <a:rPr lang="en-US" sz="3200">
                <a:solidFill>
                  <a:schemeClr val="dk1"/>
                </a:solidFill>
                <a:latin typeface="Calibri"/>
                <a:ea typeface="Calibri"/>
                <a:cs typeface="Calibri"/>
                <a:sym typeface="Calibri"/>
              </a:rPr>
              <a:t>and </a:t>
            </a:r>
            <a:r>
              <a:rPr i="1" lang="en-US" sz="3200">
                <a:solidFill>
                  <a:srgbClr val="CC0000"/>
                </a:solidFill>
                <a:latin typeface="Calibri"/>
                <a:ea typeface="Calibri"/>
                <a:cs typeface="Calibri"/>
                <a:sym typeface="Calibri"/>
              </a:rPr>
              <a:t>reply</a:t>
            </a:r>
            <a:r>
              <a:rPr lang="en-US" sz="3200">
                <a:solidFill>
                  <a:schemeClr val="dk1"/>
                </a:solidFill>
                <a:latin typeface="Calibri"/>
                <a:ea typeface="Calibri"/>
                <a:cs typeface="Calibri"/>
                <a:sym typeface="Calibri"/>
              </a:rPr>
              <a:t> messages, both have same  </a:t>
            </a:r>
            <a:r>
              <a:rPr i="1" lang="en-US" sz="3200">
                <a:solidFill>
                  <a:srgbClr val="CC0000"/>
                </a:solidFill>
                <a:latin typeface="Calibri"/>
                <a:ea typeface="Calibri"/>
                <a:cs typeface="Calibri"/>
                <a:sym typeface="Calibri"/>
              </a:rPr>
              <a:t>format:</a:t>
            </a:r>
            <a:endParaRPr sz="3200">
              <a:solidFill>
                <a:srgbClr val="CC0000"/>
              </a:solidFill>
              <a:latin typeface="Calibri"/>
              <a:ea typeface="Calibri"/>
              <a:cs typeface="Calibri"/>
              <a:sym typeface="Calibri"/>
            </a:endParaRPr>
          </a:p>
        </p:txBody>
      </p:sp>
      <p:grpSp>
        <p:nvGrpSpPr>
          <p:cNvPr id="6312" name="Google Shape;6312;p88"/>
          <p:cNvGrpSpPr/>
          <p:nvPr/>
        </p:nvGrpSpPr>
        <p:grpSpPr>
          <a:xfrm>
            <a:off x="6272212" y="2258439"/>
            <a:ext cx="3725863" cy="4184650"/>
            <a:chOff x="2672" y="1396"/>
            <a:chExt cx="2347" cy="2636"/>
          </a:xfrm>
        </p:grpSpPr>
        <p:sp>
          <p:nvSpPr>
            <p:cNvPr id="6313" name="Google Shape;6313;p88"/>
            <p:cNvSpPr/>
            <p:nvPr/>
          </p:nvSpPr>
          <p:spPr>
            <a:xfrm>
              <a:off x="2742" y="1396"/>
              <a:ext cx="2277" cy="2585"/>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6314" name="Google Shape;6314;p88"/>
            <p:cNvSpPr/>
            <p:nvPr/>
          </p:nvSpPr>
          <p:spPr>
            <a:xfrm>
              <a:off x="2688" y="1447"/>
              <a:ext cx="2277" cy="2585"/>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cxnSp>
          <p:nvCxnSpPr>
            <p:cNvPr id="6315" name="Google Shape;6315;p88"/>
            <p:cNvCxnSpPr/>
            <p:nvPr/>
          </p:nvCxnSpPr>
          <p:spPr>
            <a:xfrm>
              <a:off x="2681" y="3606"/>
              <a:ext cx="2297" cy="0"/>
            </a:xfrm>
            <a:prstGeom prst="straightConnector1">
              <a:avLst/>
            </a:prstGeom>
            <a:noFill/>
            <a:ln cap="flat" cmpd="sng" w="19050">
              <a:solidFill>
                <a:schemeClr val="dk1"/>
              </a:solidFill>
              <a:prstDash val="solid"/>
              <a:round/>
              <a:headEnd len="med" w="med" type="none"/>
              <a:tailEnd len="med" w="med" type="none"/>
            </a:ln>
          </p:spPr>
        </p:cxnSp>
        <p:cxnSp>
          <p:nvCxnSpPr>
            <p:cNvPr id="6316" name="Google Shape;6316;p88"/>
            <p:cNvCxnSpPr/>
            <p:nvPr/>
          </p:nvCxnSpPr>
          <p:spPr>
            <a:xfrm>
              <a:off x="2688" y="3174"/>
              <a:ext cx="2297" cy="0"/>
            </a:xfrm>
            <a:prstGeom prst="straightConnector1">
              <a:avLst/>
            </a:prstGeom>
            <a:noFill/>
            <a:ln cap="flat" cmpd="sng" w="19050">
              <a:solidFill>
                <a:schemeClr val="dk1"/>
              </a:solidFill>
              <a:prstDash val="solid"/>
              <a:round/>
              <a:headEnd len="med" w="med" type="none"/>
              <a:tailEnd len="med" w="med" type="none"/>
            </a:ln>
          </p:spPr>
        </p:cxnSp>
        <p:cxnSp>
          <p:nvCxnSpPr>
            <p:cNvPr id="6317" name="Google Shape;6317;p88"/>
            <p:cNvCxnSpPr/>
            <p:nvPr/>
          </p:nvCxnSpPr>
          <p:spPr>
            <a:xfrm>
              <a:off x="2681" y="2742"/>
              <a:ext cx="2297" cy="0"/>
            </a:xfrm>
            <a:prstGeom prst="straightConnector1">
              <a:avLst/>
            </a:prstGeom>
            <a:noFill/>
            <a:ln cap="flat" cmpd="sng" w="19050">
              <a:solidFill>
                <a:schemeClr val="dk1"/>
              </a:solidFill>
              <a:prstDash val="solid"/>
              <a:round/>
              <a:headEnd len="med" w="med" type="none"/>
              <a:tailEnd len="med" w="med" type="none"/>
            </a:ln>
          </p:spPr>
        </p:cxnSp>
        <p:cxnSp>
          <p:nvCxnSpPr>
            <p:cNvPr id="6318" name="Google Shape;6318;p88"/>
            <p:cNvCxnSpPr/>
            <p:nvPr/>
          </p:nvCxnSpPr>
          <p:spPr>
            <a:xfrm>
              <a:off x="2681" y="2317"/>
              <a:ext cx="2297" cy="0"/>
            </a:xfrm>
            <a:prstGeom prst="straightConnector1">
              <a:avLst/>
            </a:prstGeom>
            <a:noFill/>
            <a:ln cap="flat" cmpd="sng" w="19050">
              <a:solidFill>
                <a:schemeClr val="dk1"/>
              </a:solidFill>
              <a:prstDash val="solid"/>
              <a:round/>
              <a:headEnd len="med" w="med" type="none"/>
              <a:tailEnd len="med" w="med" type="none"/>
            </a:ln>
          </p:spPr>
        </p:cxnSp>
        <p:cxnSp>
          <p:nvCxnSpPr>
            <p:cNvPr id="6319" name="Google Shape;6319;p88"/>
            <p:cNvCxnSpPr/>
            <p:nvPr/>
          </p:nvCxnSpPr>
          <p:spPr>
            <a:xfrm>
              <a:off x="2680" y="2029"/>
              <a:ext cx="2297" cy="0"/>
            </a:xfrm>
            <a:prstGeom prst="straightConnector1">
              <a:avLst/>
            </a:prstGeom>
            <a:noFill/>
            <a:ln cap="flat" cmpd="sng" w="19050">
              <a:solidFill>
                <a:schemeClr val="dk1"/>
              </a:solidFill>
              <a:prstDash val="solid"/>
              <a:round/>
              <a:headEnd len="med" w="med" type="none"/>
              <a:tailEnd len="med" w="med" type="none"/>
            </a:ln>
          </p:spPr>
        </p:cxnSp>
        <p:cxnSp>
          <p:nvCxnSpPr>
            <p:cNvPr id="6320" name="Google Shape;6320;p88"/>
            <p:cNvCxnSpPr/>
            <p:nvPr/>
          </p:nvCxnSpPr>
          <p:spPr>
            <a:xfrm>
              <a:off x="2672" y="1745"/>
              <a:ext cx="2297" cy="0"/>
            </a:xfrm>
            <a:prstGeom prst="straightConnector1">
              <a:avLst/>
            </a:prstGeom>
            <a:noFill/>
            <a:ln cap="flat" cmpd="sng" w="19050">
              <a:solidFill>
                <a:schemeClr val="dk1"/>
              </a:solidFill>
              <a:prstDash val="solid"/>
              <a:round/>
              <a:headEnd len="med" w="med" type="none"/>
              <a:tailEnd len="med" w="med" type="none"/>
            </a:ln>
          </p:spPr>
        </p:cxnSp>
        <p:cxnSp>
          <p:nvCxnSpPr>
            <p:cNvPr id="6321" name="Google Shape;6321;p88"/>
            <p:cNvCxnSpPr/>
            <p:nvPr/>
          </p:nvCxnSpPr>
          <p:spPr>
            <a:xfrm>
              <a:off x="3826" y="1454"/>
              <a:ext cx="2" cy="857"/>
            </a:xfrm>
            <a:prstGeom prst="straightConnector1">
              <a:avLst/>
            </a:prstGeom>
            <a:noFill/>
            <a:ln cap="flat" cmpd="sng" w="19050">
              <a:solidFill>
                <a:schemeClr val="dk1"/>
              </a:solidFill>
              <a:prstDash val="solid"/>
              <a:round/>
              <a:headEnd len="med" w="med" type="none"/>
              <a:tailEnd len="med" w="med" type="none"/>
            </a:ln>
          </p:spPr>
        </p:cxnSp>
        <p:sp>
          <p:nvSpPr>
            <p:cNvPr id="6322" name="Google Shape;6322;p88"/>
            <p:cNvSpPr txBox="1"/>
            <p:nvPr/>
          </p:nvSpPr>
          <p:spPr>
            <a:xfrm>
              <a:off x="2842" y="1492"/>
              <a:ext cx="826"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identification</a:t>
              </a:r>
              <a:endParaRPr/>
            </a:p>
          </p:txBody>
        </p:sp>
        <p:sp>
          <p:nvSpPr>
            <p:cNvPr id="6323" name="Google Shape;6323;p88"/>
            <p:cNvSpPr txBox="1"/>
            <p:nvPr/>
          </p:nvSpPr>
          <p:spPr>
            <a:xfrm>
              <a:off x="4180" y="1492"/>
              <a:ext cx="386"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flags</a:t>
              </a:r>
              <a:endParaRPr/>
            </a:p>
          </p:txBody>
        </p:sp>
        <p:sp>
          <p:nvSpPr>
            <p:cNvPr id="6324" name="Google Shape;6324;p88"/>
            <p:cNvSpPr txBox="1"/>
            <p:nvPr/>
          </p:nvSpPr>
          <p:spPr>
            <a:xfrm>
              <a:off x="2862" y="1780"/>
              <a:ext cx="770"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 questions</a:t>
              </a:r>
              <a:endParaRPr/>
            </a:p>
          </p:txBody>
        </p:sp>
        <p:sp>
          <p:nvSpPr>
            <p:cNvPr id="6325" name="Google Shape;6325;p88"/>
            <p:cNvSpPr txBox="1"/>
            <p:nvPr/>
          </p:nvSpPr>
          <p:spPr>
            <a:xfrm>
              <a:off x="2789" y="2417"/>
              <a:ext cx="2065"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questions (variable # of questions)</a:t>
              </a:r>
              <a:endParaRPr/>
            </a:p>
          </p:txBody>
        </p:sp>
        <p:sp>
          <p:nvSpPr>
            <p:cNvPr id="6326" name="Google Shape;6326;p88"/>
            <p:cNvSpPr txBox="1"/>
            <p:nvPr/>
          </p:nvSpPr>
          <p:spPr>
            <a:xfrm>
              <a:off x="3866" y="2067"/>
              <a:ext cx="1053"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 additional RRs</a:t>
              </a:r>
              <a:endParaRPr/>
            </a:p>
          </p:txBody>
        </p:sp>
        <p:sp>
          <p:nvSpPr>
            <p:cNvPr id="6327" name="Google Shape;6327;p88"/>
            <p:cNvSpPr txBox="1"/>
            <p:nvPr/>
          </p:nvSpPr>
          <p:spPr>
            <a:xfrm>
              <a:off x="2762" y="2068"/>
              <a:ext cx="998"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 authority RRs</a:t>
              </a:r>
              <a:endParaRPr/>
            </a:p>
          </p:txBody>
        </p:sp>
        <p:sp>
          <p:nvSpPr>
            <p:cNvPr id="6328" name="Google Shape;6328;p88"/>
            <p:cNvSpPr txBox="1"/>
            <p:nvPr/>
          </p:nvSpPr>
          <p:spPr>
            <a:xfrm>
              <a:off x="3928" y="1786"/>
              <a:ext cx="919"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 answer RRs</a:t>
              </a:r>
              <a:endParaRPr/>
            </a:p>
          </p:txBody>
        </p:sp>
        <p:sp>
          <p:nvSpPr>
            <p:cNvPr id="6329" name="Google Shape;6329;p88"/>
            <p:cNvSpPr txBox="1"/>
            <p:nvPr/>
          </p:nvSpPr>
          <p:spPr>
            <a:xfrm>
              <a:off x="2983" y="2848"/>
              <a:ext cx="1695"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answers (variable # of RRs)</a:t>
              </a:r>
              <a:endParaRPr/>
            </a:p>
          </p:txBody>
        </p:sp>
        <p:sp>
          <p:nvSpPr>
            <p:cNvPr id="6330" name="Google Shape;6330;p88"/>
            <p:cNvSpPr txBox="1"/>
            <p:nvPr/>
          </p:nvSpPr>
          <p:spPr>
            <a:xfrm>
              <a:off x="3002" y="3280"/>
              <a:ext cx="1710"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authority (variable # of RRs)</a:t>
              </a:r>
              <a:endParaRPr/>
            </a:p>
          </p:txBody>
        </p:sp>
        <p:sp>
          <p:nvSpPr>
            <p:cNvPr id="6331" name="Google Shape;6331;p88"/>
            <p:cNvSpPr txBox="1"/>
            <p:nvPr/>
          </p:nvSpPr>
          <p:spPr>
            <a:xfrm>
              <a:off x="2811" y="3700"/>
              <a:ext cx="2007" cy="21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600">
                  <a:solidFill>
                    <a:schemeClr val="dk1"/>
                  </a:solidFill>
                  <a:latin typeface="Arial"/>
                  <a:ea typeface="Arial"/>
                  <a:cs typeface="Arial"/>
                  <a:sym typeface="Arial"/>
                </a:rPr>
                <a:t>additional info (variable # of RRs)</a:t>
              </a:r>
              <a:endParaRPr/>
            </a:p>
          </p:txBody>
        </p:sp>
      </p:grpSp>
      <p:grpSp>
        <p:nvGrpSpPr>
          <p:cNvPr id="6332" name="Google Shape;6332;p88"/>
          <p:cNvGrpSpPr/>
          <p:nvPr/>
        </p:nvGrpSpPr>
        <p:grpSpPr>
          <a:xfrm>
            <a:off x="6302375" y="1937764"/>
            <a:ext cx="1747837" cy="274638"/>
            <a:chOff x="2691" y="1194"/>
            <a:chExt cx="1101" cy="173"/>
          </a:xfrm>
        </p:grpSpPr>
        <p:sp>
          <p:nvSpPr>
            <p:cNvPr id="6333" name="Google Shape;6333;p88"/>
            <p:cNvSpPr txBox="1"/>
            <p:nvPr/>
          </p:nvSpPr>
          <p:spPr>
            <a:xfrm>
              <a:off x="3032" y="1194"/>
              <a:ext cx="425" cy="173"/>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200">
                  <a:solidFill>
                    <a:schemeClr val="dk1"/>
                  </a:solidFill>
                  <a:latin typeface="Arial"/>
                  <a:ea typeface="Arial"/>
                  <a:cs typeface="Arial"/>
                  <a:sym typeface="Arial"/>
                </a:rPr>
                <a:t>2 bytes</a:t>
              </a:r>
              <a:endParaRPr/>
            </a:p>
          </p:txBody>
        </p:sp>
        <p:cxnSp>
          <p:nvCxnSpPr>
            <p:cNvPr id="6334" name="Google Shape;6334;p88"/>
            <p:cNvCxnSpPr/>
            <p:nvPr/>
          </p:nvCxnSpPr>
          <p:spPr>
            <a:xfrm>
              <a:off x="3465" y="1284"/>
              <a:ext cx="327" cy="0"/>
            </a:xfrm>
            <a:prstGeom prst="straightConnector1">
              <a:avLst/>
            </a:prstGeom>
            <a:noFill/>
            <a:ln cap="flat" cmpd="sng" w="9525">
              <a:solidFill>
                <a:schemeClr val="dk1"/>
              </a:solidFill>
              <a:prstDash val="solid"/>
              <a:round/>
              <a:headEnd len="med" w="med" type="none"/>
              <a:tailEnd len="med" w="med" type="triangle"/>
            </a:ln>
          </p:spPr>
        </p:cxnSp>
        <p:cxnSp>
          <p:nvCxnSpPr>
            <p:cNvPr id="6335" name="Google Shape;6335;p88"/>
            <p:cNvCxnSpPr/>
            <p:nvPr/>
          </p:nvCxnSpPr>
          <p:spPr>
            <a:xfrm rot="10800000">
              <a:off x="2691" y="1284"/>
              <a:ext cx="327" cy="0"/>
            </a:xfrm>
            <a:prstGeom prst="straightConnector1">
              <a:avLst/>
            </a:prstGeom>
            <a:noFill/>
            <a:ln cap="flat" cmpd="sng" w="9525">
              <a:solidFill>
                <a:schemeClr val="dk1"/>
              </a:solidFill>
              <a:prstDash val="solid"/>
              <a:round/>
              <a:headEnd len="med" w="med" type="none"/>
              <a:tailEnd len="med" w="med" type="triangle"/>
            </a:ln>
          </p:spPr>
        </p:cxnSp>
      </p:grpSp>
      <p:grpSp>
        <p:nvGrpSpPr>
          <p:cNvPr id="6336" name="Google Shape;6336;p88"/>
          <p:cNvGrpSpPr/>
          <p:nvPr/>
        </p:nvGrpSpPr>
        <p:grpSpPr>
          <a:xfrm>
            <a:off x="8077200" y="1937764"/>
            <a:ext cx="1747837" cy="274638"/>
            <a:chOff x="2691" y="1194"/>
            <a:chExt cx="1101" cy="173"/>
          </a:xfrm>
        </p:grpSpPr>
        <p:sp>
          <p:nvSpPr>
            <p:cNvPr id="6337" name="Google Shape;6337;p88"/>
            <p:cNvSpPr txBox="1"/>
            <p:nvPr/>
          </p:nvSpPr>
          <p:spPr>
            <a:xfrm>
              <a:off x="3032" y="1194"/>
              <a:ext cx="425" cy="173"/>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1200">
                  <a:solidFill>
                    <a:schemeClr val="dk1"/>
                  </a:solidFill>
                  <a:latin typeface="Arial"/>
                  <a:ea typeface="Arial"/>
                  <a:cs typeface="Arial"/>
                  <a:sym typeface="Arial"/>
                </a:rPr>
                <a:t>2 bytes</a:t>
              </a:r>
              <a:endParaRPr/>
            </a:p>
          </p:txBody>
        </p:sp>
        <p:cxnSp>
          <p:nvCxnSpPr>
            <p:cNvPr id="6338" name="Google Shape;6338;p88"/>
            <p:cNvCxnSpPr/>
            <p:nvPr/>
          </p:nvCxnSpPr>
          <p:spPr>
            <a:xfrm>
              <a:off x="3465" y="1284"/>
              <a:ext cx="327" cy="0"/>
            </a:xfrm>
            <a:prstGeom prst="straightConnector1">
              <a:avLst/>
            </a:prstGeom>
            <a:noFill/>
            <a:ln cap="flat" cmpd="sng" w="9525">
              <a:solidFill>
                <a:schemeClr val="dk1"/>
              </a:solidFill>
              <a:prstDash val="solid"/>
              <a:round/>
              <a:headEnd len="med" w="med" type="none"/>
              <a:tailEnd len="med" w="med" type="triangle"/>
            </a:ln>
          </p:spPr>
        </p:cxnSp>
        <p:cxnSp>
          <p:nvCxnSpPr>
            <p:cNvPr id="6339" name="Google Shape;6339;p88"/>
            <p:cNvCxnSpPr/>
            <p:nvPr/>
          </p:nvCxnSpPr>
          <p:spPr>
            <a:xfrm rot="10800000">
              <a:off x="2691" y="1284"/>
              <a:ext cx="327" cy="0"/>
            </a:xfrm>
            <a:prstGeom prst="straightConnector1">
              <a:avLst/>
            </a:prstGeom>
            <a:noFill/>
            <a:ln cap="flat" cmpd="sng" w="9525">
              <a:solidFill>
                <a:schemeClr val="dk1"/>
              </a:solidFill>
              <a:prstDash val="solid"/>
              <a:round/>
              <a:headEnd len="med" w="med" type="none"/>
              <a:tailEnd len="med" w="med" type="triangle"/>
            </a:ln>
          </p:spPr>
        </p:cxnSp>
      </p:grpSp>
      <p:sp>
        <p:nvSpPr>
          <p:cNvPr id="6340" name="Google Shape;6340;p88"/>
          <p:cNvSpPr txBox="1"/>
          <p:nvPr/>
        </p:nvSpPr>
        <p:spPr>
          <a:xfrm>
            <a:off x="1027795" y="3882482"/>
            <a:ext cx="3970338" cy="409023"/>
          </a:xfrm>
          <a:prstGeom prst="rect">
            <a:avLst/>
          </a:prstGeom>
          <a:noFill/>
          <a:ln>
            <a:noFill/>
          </a:ln>
        </p:spPr>
        <p:txBody>
          <a:bodyPr anchorCtr="0" anchor="ctr" bIns="45700" lIns="91425" spcFirstLastPara="1" rIns="91425" wrap="square" tIns="45700">
            <a:spAutoFit/>
          </a:bodyPr>
          <a:lstStyle/>
          <a:p>
            <a:pPr indent="0" lvl="0" marL="0" marR="0" rtl="0" algn="r">
              <a:lnSpc>
                <a:spcPct val="85000"/>
              </a:lnSpc>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name, type fields for a query</a:t>
            </a:r>
            <a:endParaRPr sz="2800">
              <a:solidFill>
                <a:schemeClr val="dk1"/>
              </a:solidFill>
              <a:latin typeface="Calibri"/>
              <a:ea typeface="Calibri"/>
              <a:cs typeface="Calibri"/>
              <a:sym typeface="Calibri"/>
            </a:endParaRPr>
          </a:p>
        </p:txBody>
      </p:sp>
      <p:sp>
        <p:nvSpPr>
          <p:cNvPr id="6341" name="Google Shape;6341;p88"/>
          <p:cNvSpPr txBox="1"/>
          <p:nvPr/>
        </p:nvSpPr>
        <p:spPr>
          <a:xfrm>
            <a:off x="998138" y="4604794"/>
            <a:ext cx="4003170" cy="409023"/>
          </a:xfrm>
          <a:prstGeom prst="rect">
            <a:avLst/>
          </a:prstGeom>
          <a:noFill/>
          <a:ln>
            <a:noFill/>
          </a:ln>
        </p:spPr>
        <p:txBody>
          <a:bodyPr anchorCtr="0" anchor="ctr" bIns="45700" lIns="91425" spcFirstLastPara="1" rIns="91425" wrap="square" tIns="45700">
            <a:spAutoFit/>
          </a:bodyPr>
          <a:lstStyle/>
          <a:p>
            <a:pPr indent="0" lvl="0" marL="0" marR="0" rtl="0" algn="r">
              <a:lnSpc>
                <a:spcPct val="85000"/>
              </a:lnSpc>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RRs in response to query</a:t>
            </a:r>
            <a:endParaRPr sz="2800">
              <a:solidFill>
                <a:schemeClr val="dk1"/>
              </a:solidFill>
              <a:latin typeface="Calibri"/>
              <a:ea typeface="Calibri"/>
              <a:cs typeface="Calibri"/>
              <a:sym typeface="Calibri"/>
            </a:endParaRPr>
          </a:p>
        </p:txBody>
      </p:sp>
      <p:sp>
        <p:nvSpPr>
          <p:cNvPr id="6342" name="Google Shape;6342;p88"/>
          <p:cNvSpPr txBox="1"/>
          <p:nvPr/>
        </p:nvSpPr>
        <p:spPr>
          <a:xfrm>
            <a:off x="217715" y="5271771"/>
            <a:ext cx="4801281" cy="409023"/>
          </a:xfrm>
          <a:prstGeom prst="rect">
            <a:avLst/>
          </a:prstGeom>
          <a:noFill/>
          <a:ln>
            <a:noFill/>
          </a:ln>
        </p:spPr>
        <p:txBody>
          <a:bodyPr anchorCtr="0" anchor="ctr" bIns="45700" lIns="91425" spcFirstLastPara="1" rIns="91425" wrap="square" tIns="45700">
            <a:spAutoFit/>
          </a:bodyPr>
          <a:lstStyle/>
          <a:p>
            <a:pPr indent="0" lvl="0" marL="0" marR="0" rtl="0" algn="r">
              <a:lnSpc>
                <a:spcPct val="85000"/>
              </a:lnSpc>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records for authoritative servers</a:t>
            </a:r>
            <a:endParaRPr sz="2800">
              <a:solidFill>
                <a:schemeClr val="dk1"/>
              </a:solidFill>
              <a:latin typeface="Calibri"/>
              <a:ea typeface="Calibri"/>
              <a:cs typeface="Calibri"/>
              <a:sym typeface="Calibri"/>
            </a:endParaRPr>
          </a:p>
        </p:txBody>
      </p:sp>
      <p:sp>
        <p:nvSpPr>
          <p:cNvPr id="6343" name="Google Shape;6343;p88"/>
          <p:cNvSpPr txBox="1"/>
          <p:nvPr/>
        </p:nvSpPr>
        <p:spPr>
          <a:xfrm>
            <a:off x="399371" y="5790401"/>
            <a:ext cx="4614409" cy="722955"/>
          </a:xfrm>
          <a:prstGeom prst="rect">
            <a:avLst/>
          </a:prstGeom>
          <a:noFill/>
          <a:ln>
            <a:noFill/>
          </a:ln>
        </p:spPr>
        <p:txBody>
          <a:bodyPr anchorCtr="0" anchor="ctr" bIns="45700" lIns="91425" spcFirstLastPara="1" rIns="91425" wrap="square" tIns="45700">
            <a:spAutoFit/>
          </a:bodyPr>
          <a:lstStyle/>
          <a:p>
            <a:pPr indent="0" lvl="0" marL="0" marR="0" rtl="0" algn="r">
              <a:lnSpc>
                <a:spcPct val="85000"/>
              </a:lnSpc>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additional “ helpful” info that may be used</a:t>
            </a:r>
            <a:endParaRPr sz="2800">
              <a:solidFill>
                <a:schemeClr val="dk1"/>
              </a:solidFill>
              <a:latin typeface="Calibri"/>
              <a:ea typeface="Calibri"/>
              <a:cs typeface="Calibri"/>
              <a:sym typeface="Calibri"/>
            </a:endParaRPr>
          </a:p>
        </p:txBody>
      </p:sp>
      <p:cxnSp>
        <p:nvCxnSpPr>
          <p:cNvPr id="6344" name="Google Shape;6344;p88"/>
          <p:cNvCxnSpPr/>
          <p:nvPr/>
        </p:nvCxnSpPr>
        <p:spPr>
          <a:xfrm rot="10800000">
            <a:off x="5070475" y="6126704"/>
            <a:ext cx="1371600" cy="0"/>
          </a:xfrm>
          <a:prstGeom prst="straightConnector1">
            <a:avLst/>
          </a:prstGeom>
          <a:noFill/>
          <a:ln cap="flat" cmpd="sng" w="19050">
            <a:solidFill>
              <a:srgbClr val="CC0000"/>
            </a:solidFill>
            <a:prstDash val="solid"/>
            <a:round/>
            <a:headEnd len="med" w="med" type="none"/>
            <a:tailEnd len="med" w="med" type="none"/>
          </a:ln>
        </p:spPr>
      </p:cxnSp>
      <p:cxnSp>
        <p:nvCxnSpPr>
          <p:cNvPr id="6345" name="Google Shape;6345;p88"/>
          <p:cNvCxnSpPr/>
          <p:nvPr/>
        </p:nvCxnSpPr>
        <p:spPr>
          <a:xfrm rot="10800000">
            <a:off x="5078413" y="5467891"/>
            <a:ext cx="1371600" cy="0"/>
          </a:xfrm>
          <a:prstGeom prst="straightConnector1">
            <a:avLst/>
          </a:prstGeom>
          <a:noFill/>
          <a:ln cap="flat" cmpd="sng" w="19050">
            <a:solidFill>
              <a:srgbClr val="CC0000"/>
            </a:solidFill>
            <a:prstDash val="solid"/>
            <a:round/>
            <a:headEnd len="med" w="med" type="none"/>
            <a:tailEnd len="med" w="med" type="none"/>
          </a:ln>
        </p:spPr>
      </p:cxnSp>
      <p:cxnSp>
        <p:nvCxnSpPr>
          <p:cNvPr id="6346" name="Google Shape;6346;p88"/>
          <p:cNvCxnSpPr/>
          <p:nvPr/>
        </p:nvCxnSpPr>
        <p:spPr>
          <a:xfrm rot="10800000">
            <a:off x="5086350" y="4809079"/>
            <a:ext cx="1371600" cy="0"/>
          </a:xfrm>
          <a:prstGeom prst="straightConnector1">
            <a:avLst/>
          </a:prstGeom>
          <a:noFill/>
          <a:ln cap="flat" cmpd="sng" w="19050">
            <a:solidFill>
              <a:srgbClr val="CC0000"/>
            </a:solidFill>
            <a:prstDash val="solid"/>
            <a:round/>
            <a:headEnd len="med" w="med" type="none"/>
            <a:tailEnd len="med" w="med" type="none"/>
          </a:ln>
        </p:spPr>
      </p:cxnSp>
      <p:cxnSp>
        <p:nvCxnSpPr>
          <p:cNvPr id="6347" name="Google Shape;6347;p88"/>
          <p:cNvCxnSpPr/>
          <p:nvPr/>
        </p:nvCxnSpPr>
        <p:spPr>
          <a:xfrm rot="10800000">
            <a:off x="5072063" y="4083591"/>
            <a:ext cx="1371600" cy="0"/>
          </a:xfrm>
          <a:prstGeom prst="straightConnector1">
            <a:avLst/>
          </a:prstGeom>
          <a:noFill/>
          <a:ln cap="flat" cmpd="sng" w="19050">
            <a:solidFill>
              <a:srgbClr val="CC0000"/>
            </a:solidFill>
            <a:prstDash val="solid"/>
            <a:round/>
            <a:headEnd len="med" w="med" type="none"/>
            <a:tailEnd len="med" w="med" type="none"/>
          </a:ln>
        </p:spPr>
      </p:cxnSp>
      <p:sp>
        <p:nvSpPr>
          <p:cNvPr id="6348" name="Google Shape;6348;p8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DNS protocol messages</a:t>
            </a:r>
            <a:endParaRPr sz="4400"/>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3" name="Shape 6353"/>
        <p:cNvGrpSpPr/>
        <p:nvPr/>
      </p:nvGrpSpPr>
      <p:grpSpPr>
        <a:xfrm>
          <a:off x="0" y="0"/>
          <a:ext cx="0" cy="0"/>
          <a:chOff x="0" y="0"/>
          <a:chExt cx="0" cy="0"/>
        </a:xfrm>
      </p:grpSpPr>
      <p:sp>
        <p:nvSpPr>
          <p:cNvPr id="6354" name="Google Shape;6354;p89"/>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Application Layer</a:t>
            </a:r>
            <a:endParaRPr sz="1200">
              <a:solidFill>
                <a:schemeClr val="dk1"/>
              </a:solidFill>
              <a:latin typeface="Tahoma"/>
              <a:ea typeface="Tahoma"/>
              <a:cs typeface="Tahoma"/>
              <a:sym typeface="Tahoma"/>
            </a:endParaRPr>
          </a:p>
        </p:txBody>
      </p:sp>
      <p:sp>
        <p:nvSpPr>
          <p:cNvPr id="6355" name="Google Shape;6355;p89"/>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6356" name="Google Shape;6356;p89"/>
          <p:cNvPicPr preferRelativeResize="0"/>
          <p:nvPr/>
        </p:nvPicPr>
        <p:blipFill rotWithShape="1">
          <a:blip r:embed="rId3">
            <a:alphaModFix/>
          </a:blip>
          <a:srcRect b="0" l="0" r="0" t="0"/>
          <a:stretch/>
        </p:blipFill>
        <p:spPr>
          <a:xfrm>
            <a:off x="2019301" y="885825"/>
            <a:ext cx="5484813" cy="173038"/>
          </a:xfrm>
          <a:prstGeom prst="rect">
            <a:avLst/>
          </a:prstGeom>
          <a:noFill/>
          <a:ln>
            <a:noFill/>
          </a:ln>
        </p:spPr>
      </p:pic>
      <p:sp>
        <p:nvSpPr>
          <p:cNvPr id="6357" name="Google Shape;6357;p89"/>
          <p:cNvSpPr/>
          <p:nvPr/>
        </p:nvSpPr>
        <p:spPr>
          <a:xfrm>
            <a:off x="1970088" y="217489"/>
            <a:ext cx="7772400" cy="860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99"/>
              </a:buClr>
              <a:buSzPts val="4000"/>
              <a:buFont typeface="Noto Sans Symbols"/>
              <a:buNone/>
            </a:pPr>
            <a:r>
              <a:rPr lang="en-US" sz="4000">
                <a:solidFill>
                  <a:srgbClr val="000099"/>
                </a:solidFill>
                <a:latin typeface="Gill Sans"/>
                <a:ea typeface="Gill Sans"/>
                <a:cs typeface="Gill Sans"/>
                <a:sym typeface="Gill Sans"/>
              </a:rPr>
              <a:t>DNS message format</a:t>
            </a:r>
            <a:endParaRPr sz="4400">
              <a:solidFill>
                <a:srgbClr val="000099"/>
              </a:solidFill>
              <a:latin typeface="Gill Sans"/>
              <a:ea typeface="Gill Sans"/>
              <a:cs typeface="Gill Sans"/>
              <a:sym typeface="Gill Sans"/>
            </a:endParaRPr>
          </a:p>
        </p:txBody>
      </p:sp>
      <p:pic>
        <p:nvPicPr>
          <p:cNvPr id="6358" name="Google Shape;6358;p89"/>
          <p:cNvPicPr preferRelativeResize="0"/>
          <p:nvPr/>
        </p:nvPicPr>
        <p:blipFill rotWithShape="1">
          <a:blip r:embed="rId4">
            <a:alphaModFix/>
          </a:blip>
          <a:srcRect b="0" l="0" r="0" t="0"/>
          <a:stretch/>
        </p:blipFill>
        <p:spPr>
          <a:xfrm>
            <a:off x="1952798" y="1450183"/>
            <a:ext cx="7510517" cy="4413588"/>
          </a:xfrm>
          <a:prstGeom prst="rect">
            <a:avLst/>
          </a:prstGeom>
          <a:noFill/>
          <a:ln>
            <a:noFill/>
          </a:ln>
        </p:spPr>
      </p:pic>
      <p:pic>
        <p:nvPicPr>
          <p:cNvPr descr="Puzzle with solid fill" id="6359" name="Google Shape;6359;p89"/>
          <p:cNvPicPr preferRelativeResize="0"/>
          <p:nvPr/>
        </p:nvPicPr>
        <p:blipFill rotWithShape="1">
          <a:blip r:embed="rId5">
            <a:alphaModFix/>
          </a:blip>
          <a:srcRect b="0" l="0" r="0" t="0"/>
          <a:stretch/>
        </p:blipFill>
        <p:spPr>
          <a:xfrm>
            <a:off x="9328150" y="423864"/>
            <a:ext cx="579438" cy="579437"/>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4" name="Shape 6364"/>
        <p:cNvGrpSpPr/>
        <p:nvPr/>
      </p:nvGrpSpPr>
      <p:grpSpPr>
        <a:xfrm>
          <a:off x="0" y="0"/>
          <a:ext cx="0" cy="0"/>
          <a:chOff x="0" y="0"/>
          <a:chExt cx="0" cy="0"/>
        </a:xfrm>
      </p:grpSpPr>
      <p:sp>
        <p:nvSpPr>
          <p:cNvPr id="6365" name="Google Shape;6365;p90"/>
          <p:cNvSpPr txBox="1"/>
          <p:nvPr>
            <p:ph type="title"/>
          </p:nvPr>
        </p:nvSpPr>
        <p:spPr>
          <a:xfrm>
            <a:off x="838200" y="36267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Inserting records into DNS</a:t>
            </a:r>
            <a:endParaRPr sz="4400"/>
          </a:p>
        </p:txBody>
      </p:sp>
      <p:sp>
        <p:nvSpPr>
          <p:cNvPr id="6366" name="Google Shape;6366;p9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6367" name="Google Shape;6367;p90"/>
          <p:cNvSpPr txBox="1"/>
          <p:nvPr/>
        </p:nvSpPr>
        <p:spPr>
          <a:xfrm>
            <a:off x="838200" y="1404537"/>
            <a:ext cx="10253340" cy="4648200"/>
          </a:xfrm>
          <a:prstGeom prst="rect">
            <a:avLst/>
          </a:prstGeom>
          <a:noFill/>
          <a:ln>
            <a:noFill/>
          </a:ln>
        </p:spPr>
        <p:txBody>
          <a:bodyPr anchorCtr="0" anchor="t" bIns="45700" lIns="91425" spcFirstLastPara="1" rIns="91425" wrap="square" tIns="45700">
            <a:noAutofit/>
          </a:bodyPr>
          <a:lstStyle/>
          <a:p>
            <a:pPr indent="0" lvl="0" marL="14288" marR="0" rtl="0" algn="l">
              <a:lnSpc>
                <a:spcPct val="90000"/>
              </a:lnSpc>
              <a:spcBef>
                <a:spcPts val="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Example: new startup “Network Utopia”</a:t>
            </a:r>
            <a:endParaRPr/>
          </a:p>
          <a:p>
            <a:pPr indent="-295275"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register name networkuptopia.com at </a:t>
            </a:r>
            <a:r>
              <a:rPr i="1" lang="en-US" sz="2800">
                <a:solidFill>
                  <a:srgbClr val="CC0000"/>
                </a:solidFill>
                <a:latin typeface="Calibri"/>
                <a:ea typeface="Calibri"/>
                <a:cs typeface="Calibri"/>
                <a:sym typeface="Calibri"/>
              </a:rPr>
              <a:t>DNS registrar</a:t>
            </a:r>
            <a:r>
              <a:rPr lang="en-US" sz="2800">
                <a:solidFill>
                  <a:schemeClr val="dk1"/>
                </a:solidFill>
                <a:latin typeface="Calibri"/>
                <a:ea typeface="Calibri"/>
                <a:cs typeface="Calibri"/>
                <a:sym typeface="Calibri"/>
              </a:rPr>
              <a:t> (e.g., Network Solutions)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provide names, IP addresses of authoritative name server (primary and secondary)</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registrar inserts NS, A RRs into .com TLD server:</a:t>
            </a:r>
            <a:endParaRPr b="0" i="0" sz="2800" u="none" cap="none" strike="noStrike">
              <a:solidFill>
                <a:schemeClr val="dk1"/>
              </a:solidFill>
              <a:latin typeface="Calibri"/>
              <a:ea typeface="Calibri"/>
              <a:cs typeface="Calibri"/>
              <a:sym typeface="Calibri"/>
            </a:endParaRPr>
          </a:p>
          <a:p>
            <a:pPr indent="0" lvl="1" marL="463550" marR="0" rtl="0" algn="l">
              <a:lnSpc>
                <a:spcPct val="90000"/>
              </a:lnSpc>
              <a:spcBef>
                <a:spcPts val="500"/>
              </a:spcBef>
              <a:spcAft>
                <a:spcPts val="0"/>
              </a:spcAft>
              <a:buClr>
                <a:srgbClr val="0000A8"/>
              </a:buClr>
              <a:buSzPts val="2200"/>
              <a:buFont typeface="Arial"/>
              <a:buNone/>
            </a:pPr>
            <a:r>
              <a:rPr b="0" i="0" lang="en-US" sz="2200" u="none" cap="none" strike="noStrike">
                <a:solidFill>
                  <a:schemeClr val="dk1"/>
                </a:solidFill>
                <a:latin typeface="Courier"/>
                <a:ea typeface="Courier"/>
                <a:cs typeface="Courier"/>
                <a:sym typeface="Courier"/>
              </a:rPr>
              <a:t> (networkutopia.com, dns1.networkutopia.com, NS)</a:t>
            </a:r>
            <a:endParaRPr/>
          </a:p>
          <a:p>
            <a:pPr indent="-231775" lvl="1" marL="695325" marR="0" rtl="0" algn="l">
              <a:lnSpc>
                <a:spcPct val="90000"/>
              </a:lnSpc>
              <a:spcBef>
                <a:spcPts val="500"/>
              </a:spcBef>
              <a:spcAft>
                <a:spcPts val="0"/>
              </a:spcAft>
              <a:buClr>
                <a:srgbClr val="0000A8"/>
              </a:buClr>
              <a:buSzPts val="2200"/>
              <a:buFont typeface="Noto Sans Symbols"/>
              <a:buNone/>
            </a:pPr>
            <a:r>
              <a:rPr b="0" i="0" lang="en-US" sz="2200" u="none" cap="none" strike="noStrike">
                <a:solidFill>
                  <a:schemeClr val="dk1"/>
                </a:solidFill>
                <a:latin typeface="Courier"/>
                <a:ea typeface="Courier"/>
                <a:cs typeface="Courier"/>
                <a:sym typeface="Courier"/>
              </a:rPr>
              <a:t> (dns1.networkutopia.com, 212.212.212.1, A)</a:t>
            </a:r>
            <a:endParaRPr b="0" i="0" sz="2200" u="none" cap="none" strike="noStrike">
              <a:solidFill>
                <a:schemeClr val="accent2"/>
              </a:solidFill>
              <a:latin typeface="Courier"/>
              <a:ea typeface="Courier"/>
              <a:cs typeface="Courier"/>
              <a:sym typeface="Courier"/>
            </a:endParaRPr>
          </a:p>
          <a:p>
            <a:pPr indent="-295275"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create authoritative server locally with IP address </a:t>
            </a:r>
            <a:r>
              <a:rPr lang="en-US" sz="2000">
                <a:solidFill>
                  <a:schemeClr val="dk1"/>
                </a:solidFill>
                <a:latin typeface="Courier"/>
                <a:ea typeface="Courier"/>
                <a:cs typeface="Courier"/>
                <a:sym typeface="Courier"/>
              </a:rPr>
              <a:t>212.212.212.1</a:t>
            </a:r>
            <a:endParaRPr sz="2000">
              <a:solidFill>
                <a:schemeClr val="dk1"/>
              </a:solidFill>
              <a:latin typeface="Calibri"/>
              <a:ea typeface="Calibri"/>
              <a:cs typeface="Calibri"/>
              <a:sym typeface="Calibri"/>
            </a:endParaRPr>
          </a:p>
          <a:p>
            <a:pPr indent="-2952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type A record for www.networkuptopia.com</a:t>
            </a:r>
            <a:endParaRPr/>
          </a:p>
          <a:p>
            <a:pPr indent="-2952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type MX record for networkutopia.com</a:t>
            </a:r>
            <a:endParaRPr b="0" i="0" sz="2400" u="none" cap="none" strike="noStrike">
              <a:solidFill>
                <a:schemeClr val="dk1"/>
              </a:solidFill>
              <a:latin typeface="Calibri"/>
              <a:ea typeface="Calibri"/>
              <a:cs typeface="Calibri"/>
              <a:sym typeface="Calibri"/>
            </a:endParaRPr>
          </a:p>
          <a:p>
            <a:pPr indent="-222250" lvl="0" marL="352425" marR="0" rtl="0" algn="l">
              <a:lnSpc>
                <a:spcPct val="8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2" name="Shape 6372"/>
        <p:cNvGrpSpPr/>
        <p:nvPr/>
      </p:nvGrpSpPr>
      <p:grpSpPr>
        <a:xfrm>
          <a:off x="0" y="0"/>
          <a:ext cx="0" cy="0"/>
          <a:chOff x="0" y="0"/>
          <a:chExt cx="0" cy="0"/>
        </a:xfrm>
      </p:grpSpPr>
      <p:sp>
        <p:nvSpPr>
          <p:cNvPr id="6373" name="Google Shape;6373;p91"/>
          <p:cNvSpPr txBox="1"/>
          <p:nvPr>
            <p:ph type="title"/>
          </p:nvPr>
        </p:nvSpPr>
        <p:spPr>
          <a:xfrm>
            <a:off x="838200" y="36267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DNS security</a:t>
            </a:r>
            <a:endParaRPr sz="4400"/>
          </a:p>
        </p:txBody>
      </p:sp>
      <p:sp>
        <p:nvSpPr>
          <p:cNvPr id="6374" name="Google Shape;6374;p9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6375" name="Google Shape;6375;p91"/>
          <p:cNvSpPr txBox="1"/>
          <p:nvPr/>
        </p:nvSpPr>
        <p:spPr>
          <a:xfrm>
            <a:off x="838200" y="1526094"/>
            <a:ext cx="5025571" cy="4648200"/>
          </a:xfrm>
          <a:prstGeom prst="rect">
            <a:avLst/>
          </a:prstGeom>
          <a:noFill/>
          <a:ln>
            <a:noFill/>
          </a:ln>
        </p:spPr>
        <p:txBody>
          <a:bodyPr anchorCtr="0" anchor="t" bIns="45700" lIns="91425" spcFirstLastPara="1" rIns="91425" wrap="square" tIns="45700">
            <a:noAutofit/>
          </a:bodyPr>
          <a:lstStyle/>
          <a:p>
            <a:pPr indent="0" lvl="0" marL="14288" marR="0" rtl="0" algn="l">
              <a:lnSpc>
                <a:spcPct val="90000"/>
              </a:lnSpc>
              <a:spcBef>
                <a:spcPts val="0"/>
              </a:spcBef>
              <a:spcAft>
                <a:spcPts val="0"/>
              </a:spcAft>
              <a:buClr>
                <a:srgbClr val="0000A3"/>
              </a:buClr>
              <a:buSzPts val="3200"/>
              <a:buFont typeface="Noto Sans Symbols"/>
              <a:buNone/>
            </a:pPr>
            <a:r>
              <a:rPr lang="en-US" sz="3200">
                <a:solidFill>
                  <a:srgbClr val="22228B"/>
                </a:solidFill>
                <a:latin typeface="Calibri"/>
                <a:ea typeface="Calibri"/>
                <a:cs typeface="Calibri"/>
                <a:sym typeface="Calibri"/>
              </a:rPr>
              <a:t>DDoS attacks</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bombard root servers with traffic</a:t>
            </a:r>
            <a:endParaRPr/>
          </a:p>
          <a:p>
            <a:pPr indent="-227012" lvl="1" marL="57467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not successful to date</a:t>
            </a:r>
            <a:endParaRPr/>
          </a:p>
          <a:p>
            <a:pPr indent="-227012" lvl="1" marL="57467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traffic filtering</a:t>
            </a:r>
            <a:endParaRPr/>
          </a:p>
          <a:p>
            <a:pPr indent="-227012" lvl="1" marL="57467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local DNS servers cache IPs of TLD servers, allowing root server bypass</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bombard TLD servers</a:t>
            </a:r>
            <a:endParaRPr/>
          </a:p>
          <a:p>
            <a:pPr indent="-227012" lvl="1" marL="57467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potentially more dangerous</a:t>
            </a:r>
            <a:endParaRPr/>
          </a:p>
          <a:p>
            <a:pPr indent="-44450" lvl="0" marL="352425" marR="0" rtl="0" algn="l">
              <a:lnSpc>
                <a:spcPct val="90000"/>
              </a:lnSpc>
              <a:spcBef>
                <a:spcPts val="1000"/>
              </a:spcBef>
              <a:spcAft>
                <a:spcPts val="0"/>
              </a:spcAft>
              <a:buClr>
                <a:srgbClr val="0000A3"/>
              </a:buClr>
              <a:buSzPts val="2800"/>
              <a:buFont typeface="Comic Sans MS"/>
              <a:buNone/>
            </a:pPr>
            <a:r>
              <a:t/>
            </a:r>
            <a:endParaRPr sz="2800">
              <a:solidFill>
                <a:schemeClr val="dk1"/>
              </a:solidFill>
              <a:latin typeface="Gill Sans"/>
              <a:ea typeface="Gill Sans"/>
              <a:cs typeface="Gill Sans"/>
              <a:sym typeface="Gill Sans"/>
            </a:endParaRPr>
          </a:p>
        </p:txBody>
      </p:sp>
      <p:sp>
        <p:nvSpPr>
          <p:cNvPr id="6376" name="Google Shape;6376;p91"/>
          <p:cNvSpPr txBox="1"/>
          <p:nvPr/>
        </p:nvSpPr>
        <p:spPr>
          <a:xfrm>
            <a:off x="6096000" y="1526094"/>
            <a:ext cx="4760686" cy="4648200"/>
          </a:xfrm>
          <a:prstGeom prst="rect">
            <a:avLst/>
          </a:prstGeom>
          <a:noFill/>
          <a:ln>
            <a:noFill/>
          </a:ln>
        </p:spPr>
        <p:txBody>
          <a:bodyPr anchorCtr="0" anchor="t" bIns="45700" lIns="91425" spcFirstLastPara="1" rIns="91425" wrap="square" tIns="45700">
            <a:noAutofit/>
          </a:bodyPr>
          <a:lstStyle/>
          <a:p>
            <a:pPr indent="0" lvl="0" marL="14288" marR="0" rtl="0" algn="l">
              <a:lnSpc>
                <a:spcPct val="85000"/>
              </a:lnSpc>
              <a:spcBef>
                <a:spcPts val="0"/>
              </a:spcBef>
              <a:spcAft>
                <a:spcPts val="0"/>
              </a:spcAft>
              <a:buClr>
                <a:srgbClr val="000099"/>
              </a:buClr>
              <a:buSzPts val="3200"/>
              <a:buFont typeface="Noto Sans Symbols"/>
              <a:buNone/>
            </a:pPr>
            <a:r>
              <a:rPr lang="en-US" sz="3200">
                <a:solidFill>
                  <a:srgbClr val="21218A"/>
                </a:solidFill>
                <a:latin typeface="Calibri"/>
                <a:ea typeface="Calibri"/>
                <a:cs typeface="Calibri"/>
                <a:sym typeface="Calibri"/>
              </a:rPr>
              <a:t>R</a:t>
            </a:r>
            <a:r>
              <a:rPr b="0" i="0" lang="en-US" sz="3200" u="none" cap="none" strike="noStrike">
                <a:solidFill>
                  <a:srgbClr val="21218A"/>
                </a:solidFill>
                <a:latin typeface="Calibri"/>
                <a:ea typeface="Calibri"/>
                <a:cs typeface="Calibri"/>
                <a:sym typeface="Calibri"/>
              </a:rPr>
              <a:t>edirect attacks</a:t>
            </a:r>
            <a:endParaRPr/>
          </a:p>
          <a:p>
            <a:pPr indent="-285750" lvl="0" marL="3429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man-in-middle</a:t>
            </a:r>
            <a:endParaRPr/>
          </a:p>
          <a:p>
            <a:pPr indent="-234950" lvl="1" marL="692150"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intercept DNS queries</a:t>
            </a:r>
            <a:endParaRPr/>
          </a:p>
          <a:p>
            <a:pPr indent="-285750" lvl="0" marL="3429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DNS poisoning</a:t>
            </a:r>
            <a:endParaRPr/>
          </a:p>
          <a:p>
            <a:pPr indent="-234950" lvl="1" marL="692150"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send bogus relies to DNS server, which caches</a:t>
            </a:r>
            <a:endParaRPr/>
          </a:p>
          <a:p>
            <a:pPr indent="0" lvl="0" marL="14288" marR="0" rtl="0" algn="l">
              <a:lnSpc>
                <a:spcPct val="85000"/>
              </a:lnSpc>
              <a:spcBef>
                <a:spcPts val="640"/>
              </a:spcBef>
              <a:spcAft>
                <a:spcPts val="0"/>
              </a:spcAft>
              <a:buClr>
                <a:srgbClr val="000099"/>
              </a:buClr>
              <a:buSzPts val="3200"/>
              <a:buFont typeface="Noto Sans Symbols"/>
              <a:buNone/>
            </a:pPr>
            <a:r>
              <a:rPr lang="en-US" sz="3200">
                <a:solidFill>
                  <a:srgbClr val="21218A"/>
                </a:solidFill>
                <a:latin typeface="Calibri"/>
                <a:ea typeface="Calibri"/>
                <a:cs typeface="Calibri"/>
                <a:sym typeface="Calibri"/>
              </a:rPr>
              <a:t>E</a:t>
            </a:r>
            <a:r>
              <a:rPr b="0" i="0" lang="en-US" sz="3200" u="none" cap="none" strike="noStrike">
                <a:solidFill>
                  <a:srgbClr val="21218A"/>
                </a:solidFill>
                <a:latin typeface="Calibri"/>
                <a:ea typeface="Calibri"/>
                <a:cs typeface="Calibri"/>
                <a:sym typeface="Calibri"/>
              </a:rPr>
              <a:t>xploit DNS for DDoS</a:t>
            </a:r>
            <a:endParaRPr/>
          </a:p>
          <a:p>
            <a:pPr indent="-285750" lvl="0" marL="3429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send queries with spoofed source address: target IP</a:t>
            </a:r>
            <a:endParaRPr/>
          </a:p>
          <a:p>
            <a:pPr indent="-285750" lvl="0" marL="3429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requires amplification</a:t>
            </a:r>
            <a:endParaRPr/>
          </a:p>
        </p:txBody>
      </p:sp>
      <p:grpSp>
        <p:nvGrpSpPr>
          <p:cNvPr id="6377" name="Google Shape;6377;p91"/>
          <p:cNvGrpSpPr/>
          <p:nvPr/>
        </p:nvGrpSpPr>
        <p:grpSpPr>
          <a:xfrm>
            <a:off x="10363200" y="1741717"/>
            <a:ext cx="1570587" cy="3933371"/>
            <a:chOff x="10363200" y="1886857"/>
            <a:chExt cx="1570587" cy="3933371"/>
          </a:xfrm>
        </p:grpSpPr>
        <p:sp>
          <p:nvSpPr>
            <p:cNvPr id="6378" name="Google Shape;6378;p91"/>
            <p:cNvSpPr/>
            <p:nvPr/>
          </p:nvSpPr>
          <p:spPr>
            <a:xfrm>
              <a:off x="10363200" y="1886857"/>
              <a:ext cx="257045" cy="3933371"/>
            </a:xfrm>
            <a:prstGeom prst="rightBrace">
              <a:avLst>
                <a:gd fmla="val 8333" name="adj1"/>
                <a:gd fmla="val 50000" name="adj2"/>
              </a:avLst>
            </a:prstGeom>
            <a:noFill/>
            <a:ln cap="flat" cmpd="sng" w="22225">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379" name="Google Shape;6379;p91"/>
            <p:cNvSpPr txBox="1"/>
            <p:nvPr/>
          </p:nvSpPr>
          <p:spPr>
            <a:xfrm flipH="1">
              <a:off x="10591216" y="3480862"/>
              <a:ext cx="1342571" cy="7386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DNSSEC</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[RFC 4033]</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6"/>
                                        </p:tgtEl>
                                        <p:attrNameLst>
                                          <p:attrName>style.visibility</p:attrName>
                                        </p:attrNameLst>
                                      </p:cBhvr>
                                      <p:to>
                                        <p:strVal val="visible"/>
                                      </p:to>
                                    </p:set>
                                    <p:animEffect filter="fade" transition="in">
                                      <p:cBhvr>
                                        <p:cTn dur="500"/>
                                        <p:tgtEl>
                                          <p:spTgt spid="6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7"/>
                                        </p:tgtEl>
                                        <p:attrNameLst>
                                          <p:attrName>style.visibility</p:attrName>
                                        </p:attrNameLst>
                                      </p:cBhvr>
                                      <p:to>
                                        <p:strVal val="visible"/>
                                      </p:to>
                                    </p:set>
                                    <p:animEffect filter="fade" transition="in">
                                      <p:cBhvr>
                                        <p:cTn dur="500"/>
                                        <p:tgtEl>
                                          <p:spTgt spid="6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4" name="Shape 6384"/>
        <p:cNvGrpSpPr/>
        <p:nvPr/>
      </p:nvGrpSpPr>
      <p:grpSpPr>
        <a:xfrm>
          <a:off x="0" y="0"/>
          <a:ext cx="0" cy="0"/>
          <a:chOff x="0" y="0"/>
          <a:chExt cx="0" cy="0"/>
        </a:xfrm>
      </p:grpSpPr>
      <p:sp>
        <p:nvSpPr>
          <p:cNvPr id="6385" name="Google Shape;6385;p9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Application Layer: Overview</a:t>
            </a:r>
            <a:endParaRPr/>
          </a:p>
        </p:txBody>
      </p:sp>
      <p:sp>
        <p:nvSpPr>
          <p:cNvPr id="6386" name="Google Shape;6386;p92"/>
          <p:cNvSpPr txBox="1"/>
          <p:nvPr/>
        </p:nvSpPr>
        <p:spPr>
          <a:xfrm>
            <a:off x="809242" y="1870563"/>
            <a:ext cx="5309184" cy="4351338"/>
          </a:xfrm>
          <a:prstGeom prst="rect">
            <a:avLst/>
          </a:prstGeom>
          <a:noFill/>
          <a:ln>
            <a:noFill/>
          </a:ln>
        </p:spPr>
        <p:txBody>
          <a:bodyPr anchorCtr="0" anchor="t" bIns="45700" lIns="91425" spcFirstLastPara="1" rIns="91425" wrap="square" tIns="45700">
            <a:noAutofit/>
          </a:bodyPr>
          <a:lstStyle/>
          <a:p>
            <a:pPr indent="-401638" lvl="0" marL="401638" marR="0" rtl="0" algn="l">
              <a:lnSpc>
                <a:spcPct val="90000"/>
              </a:lnSpc>
              <a:spcBef>
                <a:spcPts val="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Principles of network applications</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Web and HTTP</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E-mail, SMTP, IMAP</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The Domain Name System DNS</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
        <p:nvSpPr>
          <p:cNvPr id="6387" name="Google Shape;6387;p92"/>
          <p:cNvSpPr txBox="1"/>
          <p:nvPr/>
        </p:nvSpPr>
        <p:spPr>
          <a:xfrm>
            <a:off x="6557554" y="1422888"/>
            <a:ext cx="5405262" cy="4799013"/>
          </a:xfrm>
          <a:prstGeom prst="rect">
            <a:avLst/>
          </a:prstGeom>
          <a:noFill/>
          <a:ln>
            <a:noFill/>
          </a:ln>
        </p:spPr>
        <p:txBody>
          <a:bodyPr anchorCtr="0" anchor="t" bIns="45700" lIns="91425" spcFirstLastPara="1" rIns="91425" wrap="square" tIns="45700">
            <a:normAutofit/>
          </a:bodyPr>
          <a:lstStyle/>
          <a:p>
            <a:pPr indent="-349250" lvl="0" marL="349250" marR="0" rtl="0" algn="l">
              <a:lnSpc>
                <a:spcPct val="90000"/>
              </a:lnSpc>
              <a:spcBef>
                <a:spcPts val="0"/>
              </a:spcBef>
              <a:spcAft>
                <a:spcPts val="0"/>
              </a:spcAft>
              <a:buClr>
                <a:srgbClr val="0000A8"/>
              </a:buClr>
              <a:buSzPts val="3200"/>
              <a:buFont typeface="Noto Sans Symbols"/>
              <a:buChar char="▪"/>
            </a:pPr>
            <a:r>
              <a:rPr lang="en-US" sz="3200">
                <a:solidFill>
                  <a:schemeClr val="dk1"/>
                </a:solidFill>
                <a:latin typeface="Calibri"/>
                <a:ea typeface="Calibri"/>
                <a:cs typeface="Calibri"/>
                <a:sym typeface="Calibri"/>
              </a:rPr>
              <a:t>P2P applications</a:t>
            </a:r>
            <a:endParaRPr/>
          </a:p>
          <a:p>
            <a:pPr indent="-349250" lvl="0" marL="349250"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video streaming and content distribution networks</a:t>
            </a:r>
            <a:endParaRPr/>
          </a:p>
          <a:p>
            <a:pPr indent="-349250" lvl="0" marL="349250"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socket programming with UDP and TCP</a:t>
            </a:r>
            <a:endParaRPr/>
          </a:p>
          <a:p>
            <a:pPr indent="-222250" lvl="0" marL="352425" marR="0" rtl="0" algn="l">
              <a:lnSpc>
                <a:spcPct val="90000"/>
              </a:lnSpc>
              <a:spcBef>
                <a:spcPts val="1000"/>
              </a:spcBef>
              <a:spcAft>
                <a:spcPts val="0"/>
              </a:spcAft>
              <a:buClr>
                <a:srgbClr val="0000A3"/>
              </a:buClr>
              <a:buSzPts val="2400"/>
              <a:buFont typeface="Noto Sans Symbols"/>
              <a:buNone/>
            </a:pPr>
            <a:r>
              <a:t/>
            </a:r>
            <a:endParaRPr sz="2400">
              <a:solidFill>
                <a:schemeClr val="dk1"/>
              </a:solidFill>
              <a:latin typeface="Calibri"/>
              <a:ea typeface="Calibri"/>
              <a:cs typeface="Calibri"/>
              <a:sym typeface="Calibri"/>
            </a:endParaRPr>
          </a:p>
        </p:txBody>
      </p:sp>
      <p:sp>
        <p:nvSpPr>
          <p:cNvPr id="6388" name="Google Shape;6388;p9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pic>
        <p:nvPicPr>
          <p:cNvPr descr="Kurose&amp;Ross 8th edition photo" id="6389" name="Google Shape;6389;p92"/>
          <p:cNvPicPr preferRelativeResize="0"/>
          <p:nvPr/>
        </p:nvPicPr>
        <p:blipFill rotWithShape="1">
          <a:blip r:embed="rId3">
            <a:alphaModFix/>
          </a:blip>
          <a:srcRect b="0" l="0" r="0" t="0"/>
          <a:stretch/>
        </p:blipFill>
        <p:spPr>
          <a:xfrm>
            <a:off x="6957391" y="4125913"/>
            <a:ext cx="3087757" cy="2315818"/>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4" name="Shape 6394"/>
        <p:cNvGrpSpPr/>
        <p:nvPr/>
      </p:nvGrpSpPr>
      <p:grpSpPr>
        <a:xfrm>
          <a:off x="0" y="0"/>
          <a:ext cx="0" cy="0"/>
          <a:chOff x="0" y="0"/>
          <a:chExt cx="0" cy="0"/>
        </a:xfrm>
      </p:grpSpPr>
      <p:sp>
        <p:nvSpPr>
          <p:cNvPr id="6395" name="Google Shape;6395;p93"/>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96" name="Google Shape;6396;p93"/>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97" name="Google Shape;6397;p93"/>
          <p:cNvSpPr/>
          <p:nvPr/>
        </p:nvSpPr>
        <p:spPr>
          <a:xfrm>
            <a:off x="7439074" y="3553079"/>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398" name="Google Shape;6398;p93"/>
          <p:cNvSpPr/>
          <p:nvPr/>
        </p:nvSpPr>
        <p:spPr>
          <a:xfrm>
            <a:off x="7205350" y="3289251"/>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sp>
        <p:nvSpPr>
          <p:cNvPr id="6399" name="Google Shape;6399;p93"/>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0" name="Google Shape;6400;p93"/>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a:p>
        </p:txBody>
      </p:sp>
      <p:sp>
        <p:nvSpPr>
          <p:cNvPr id="6401" name="Google Shape;6401;p93"/>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a:p>
        </p:txBody>
      </p:sp>
      <p:sp>
        <p:nvSpPr>
          <p:cNvPr id="6402" name="Google Shape;6402;p93"/>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a:p>
        </p:txBody>
      </p:sp>
      <p:sp>
        <p:nvSpPr>
          <p:cNvPr id="6403" name="Google Shape;6403;p93"/>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6404" name="Google Shape;6404;p93"/>
          <p:cNvGrpSpPr/>
          <p:nvPr/>
        </p:nvGrpSpPr>
        <p:grpSpPr>
          <a:xfrm>
            <a:off x="10837700" y="3928050"/>
            <a:ext cx="687393" cy="721548"/>
            <a:chOff x="5203089" y="1751190"/>
            <a:chExt cx="858331" cy="662414"/>
          </a:xfrm>
        </p:grpSpPr>
        <p:sp>
          <p:nvSpPr>
            <p:cNvPr id="6405" name="Google Shape;6405;p9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06" name="Google Shape;6406;p9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6407" name="Google Shape;6407;p9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6408" name="Google Shape;6408;p9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6409" name="Google Shape;6409;p9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6410" name="Google Shape;6410;p9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6411" name="Google Shape;6411;p9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6412" name="Google Shape;6412;p9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6413" name="Google Shape;6413;p93"/>
          <p:cNvGrpSpPr/>
          <p:nvPr/>
        </p:nvGrpSpPr>
        <p:grpSpPr>
          <a:xfrm>
            <a:off x="10771171" y="3194171"/>
            <a:ext cx="594613" cy="648336"/>
            <a:chOff x="5203089" y="1751190"/>
            <a:chExt cx="858331" cy="662414"/>
          </a:xfrm>
        </p:grpSpPr>
        <p:sp>
          <p:nvSpPr>
            <p:cNvPr id="6414" name="Google Shape;6414;p9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15" name="Google Shape;6415;p9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6416" name="Google Shape;6416;p9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6417" name="Google Shape;6417;p9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6418" name="Google Shape;6418;p9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6419" name="Google Shape;6419;p9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6420" name="Google Shape;6420;p9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6421" name="Google Shape;6421;p9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6422" name="Google Shape;6422;p93"/>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23" name="Google Shape;6423;p93"/>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a:p>
        </p:txBody>
      </p:sp>
      <p:sp>
        <p:nvSpPr>
          <p:cNvPr id="6424" name="Google Shape;6424;p93"/>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25" name="Google Shape;6425;p93"/>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a:p>
        </p:txBody>
      </p:sp>
      <p:sp>
        <p:nvSpPr>
          <p:cNvPr id="6426" name="Google Shape;6426;p93"/>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a:p>
        </p:txBody>
      </p:sp>
      <p:sp>
        <p:nvSpPr>
          <p:cNvPr id="6427" name="Google Shape;6427;p93"/>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cxnSp>
        <p:nvCxnSpPr>
          <p:cNvPr id="6428" name="Google Shape;6428;p93"/>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6429" name="Google Shape;6429;p93"/>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6430" name="Google Shape;6430;p93"/>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6431" name="Google Shape;6431;p93"/>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6432" name="Google Shape;6432;p93"/>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6433" name="Google Shape;6433;p93"/>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6434" name="Google Shape;6434;p93"/>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6435" name="Google Shape;6435;p93"/>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6436" name="Google Shape;6436;p93"/>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6437" name="Google Shape;6437;p93"/>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6438" name="Google Shape;6438;p93"/>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6439" name="Google Shape;6439;p93"/>
          <p:cNvGrpSpPr/>
          <p:nvPr/>
        </p:nvGrpSpPr>
        <p:grpSpPr>
          <a:xfrm>
            <a:off x="7562238" y="2127325"/>
            <a:ext cx="3578867" cy="3640284"/>
            <a:chOff x="7562238" y="2127325"/>
            <a:chExt cx="3578867" cy="3640284"/>
          </a:xfrm>
        </p:grpSpPr>
        <p:grpSp>
          <p:nvGrpSpPr>
            <p:cNvPr id="6440" name="Google Shape;6440;p93"/>
            <p:cNvGrpSpPr/>
            <p:nvPr/>
          </p:nvGrpSpPr>
          <p:grpSpPr>
            <a:xfrm>
              <a:off x="7857253" y="2127325"/>
              <a:ext cx="3283852" cy="3640284"/>
              <a:chOff x="7881336" y="2104198"/>
              <a:chExt cx="3283852" cy="3640284"/>
            </a:xfrm>
          </p:grpSpPr>
          <p:cxnSp>
            <p:nvCxnSpPr>
              <p:cNvPr id="6441" name="Google Shape;6441;p93"/>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6442" name="Google Shape;6442;p93"/>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6443" name="Google Shape;6443;p93"/>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6444" name="Google Shape;6444;p93"/>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6445" name="Google Shape;6445;p93"/>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6446" name="Google Shape;6446;p93"/>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6447" name="Google Shape;6447;p93"/>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6448" name="Google Shape;6448;p93"/>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6449" name="Google Shape;6449;p93"/>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6450" name="Google Shape;6450;p93"/>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6451" name="Google Shape;6451;p93"/>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6452" name="Google Shape;6452;p93"/>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6453" name="Google Shape;6453;p93"/>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6454" name="Google Shape;6454;p93"/>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6455" name="Google Shape;6455;p93"/>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6456" name="Google Shape;6456;p93"/>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6457" name="Google Shape;6457;p93"/>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6458" name="Google Shape;6458;p93"/>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6459" name="Google Shape;6459;p93"/>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6460" name="Google Shape;6460;p93"/>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6461" name="Google Shape;6461;p93"/>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6462" name="Google Shape;6462;p93"/>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6463" name="Google Shape;6463;p93"/>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6464" name="Google Shape;6464;p93"/>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6465" name="Google Shape;6465;p93"/>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6466" name="Google Shape;6466;p93"/>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6467" name="Google Shape;6467;p93"/>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6468" name="Google Shape;6468;p93"/>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cxnSp>
        <p:nvCxnSpPr>
          <p:cNvPr id="6469" name="Google Shape;6469;p93"/>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6470" name="Google Shape;6470;p93"/>
          <p:cNvGrpSpPr/>
          <p:nvPr/>
        </p:nvGrpSpPr>
        <p:grpSpPr>
          <a:xfrm>
            <a:off x="8050698" y="2309376"/>
            <a:ext cx="298450" cy="464008"/>
            <a:chOff x="3130" y="3288"/>
            <a:chExt cx="410" cy="742"/>
          </a:xfrm>
        </p:grpSpPr>
        <p:cxnSp>
          <p:nvCxnSpPr>
            <p:cNvPr id="6471" name="Google Shape;6471;p93"/>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6472" name="Google Shape;6472;p93"/>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6473" name="Google Shape;6473;p93"/>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6474" name="Google Shape;6474;p93"/>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6475" name="Google Shape;6475;p93"/>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6476" name="Google Shape;6476;p93"/>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6477" name="Google Shape;6477;p93"/>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6478" name="Google Shape;6478;p93"/>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6479" name="Google Shape;6479;p93"/>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6480" name="Google Shape;6480;p93"/>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6481" name="Google Shape;6481;p93"/>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6482" name="Google Shape;6482;p93"/>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6483" name="Google Shape;6483;p93"/>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6484" name="Google Shape;6484;p93"/>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6485" name="Google Shape;6485;p93"/>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6486" name="Google Shape;6486;p93"/>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6487" name="Google Shape;6487;p93"/>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6488" name="Google Shape;6488;p93"/>
          <p:cNvGrpSpPr/>
          <p:nvPr/>
        </p:nvGrpSpPr>
        <p:grpSpPr>
          <a:xfrm>
            <a:off x="9783558" y="4989983"/>
            <a:ext cx="393760" cy="218578"/>
            <a:chOff x="7493876" y="2774731"/>
            <a:chExt cx="1481958" cy="894622"/>
          </a:xfrm>
        </p:grpSpPr>
        <p:sp>
          <p:nvSpPr>
            <p:cNvPr id="6489" name="Google Shape;6489;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490" name="Google Shape;6490;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491" name="Google Shape;6491;p93"/>
            <p:cNvGrpSpPr/>
            <p:nvPr/>
          </p:nvGrpSpPr>
          <p:grpSpPr>
            <a:xfrm>
              <a:off x="7713663" y="2848339"/>
              <a:ext cx="1042107" cy="425543"/>
              <a:chOff x="7786941" y="2884917"/>
              <a:chExt cx="897649" cy="353919"/>
            </a:xfrm>
          </p:grpSpPr>
          <p:sp>
            <p:nvSpPr>
              <p:cNvPr id="6492" name="Google Shape;6492;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93" name="Google Shape;6493;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94" name="Google Shape;6494;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95" name="Google Shape;6495;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496" name="Google Shape;6496;p93"/>
          <p:cNvGrpSpPr/>
          <p:nvPr/>
        </p:nvGrpSpPr>
        <p:grpSpPr>
          <a:xfrm>
            <a:off x="9849365" y="5339037"/>
            <a:ext cx="309740" cy="190838"/>
            <a:chOff x="3668110" y="2448910"/>
            <a:chExt cx="3794234" cy="2165130"/>
          </a:xfrm>
        </p:grpSpPr>
        <p:sp>
          <p:nvSpPr>
            <p:cNvPr id="6497" name="Google Shape;6497;p9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98" name="Google Shape;6498;p9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6499" name="Google Shape;6499;p93"/>
            <p:cNvGrpSpPr/>
            <p:nvPr/>
          </p:nvGrpSpPr>
          <p:grpSpPr>
            <a:xfrm>
              <a:off x="3941378" y="2603243"/>
              <a:ext cx="3202061" cy="1066110"/>
              <a:chOff x="7939341" y="3037317"/>
              <a:chExt cx="897649" cy="353919"/>
            </a:xfrm>
          </p:grpSpPr>
          <p:sp>
            <p:nvSpPr>
              <p:cNvPr id="6500" name="Google Shape;6500;p9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01" name="Google Shape;6501;p9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02" name="Google Shape;6502;p9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03" name="Google Shape;6503;p9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04" name="Google Shape;6504;p93"/>
          <p:cNvGrpSpPr/>
          <p:nvPr/>
        </p:nvGrpSpPr>
        <p:grpSpPr>
          <a:xfrm>
            <a:off x="8676619" y="4967420"/>
            <a:ext cx="393760" cy="218578"/>
            <a:chOff x="7493876" y="2774731"/>
            <a:chExt cx="1481958" cy="894622"/>
          </a:xfrm>
        </p:grpSpPr>
        <p:sp>
          <p:nvSpPr>
            <p:cNvPr id="6505" name="Google Shape;6505;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06" name="Google Shape;6506;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07" name="Google Shape;6507;p93"/>
            <p:cNvGrpSpPr/>
            <p:nvPr/>
          </p:nvGrpSpPr>
          <p:grpSpPr>
            <a:xfrm>
              <a:off x="7713663" y="2848339"/>
              <a:ext cx="1042107" cy="425543"/>
              <a:chOff x="7786941" y="2884917"/>
              <a:chExt cx="897649" cy="353919"/>
            </a:xfrm>
          </p:grpSpPr>
          <p:sp>
            <p:nvSpPr>
              <p:cNvPr id="6508" name="Google Shape;6508;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09" name="Google Shape;6509;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0" name="Google Shape;6510;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1" name="Google Shape;6511;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12" name="Google Shape;6512;p93"/>
          <p:cNvGrpSpPr/>
          <p:nvPr/>
        </p:nvGrpSpPr>
        <p:grpSpPr>
          <a:xfrm>
            <a:off x="8311520" y="5194433"/>
            <a:ext cx="309740" cy="190838"/>
            <a:chOff x="3668110" y="2448910"/>
            <a:chExt cx="3794234" cy="2165130"/>
          </a:xfrm>
        </p:grpSpPr>
        <p:sp>
          <p:nvSpPr>
            <p:cNvPr id="6513" name="Google Shape;6513;p9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4" name="Google Shape;6514;p9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6515" name="Google Shape;6515;p93"/>
            <p:cNvGrpSpPr/>
            <p:nvPr/>
          </p:nvGrpSpPr>
          <p:grpSpPr>
            <a:xfrm>
              <a:off x="3941378" y="2603243"/>
              <a:ext cx="3202061" cy="1066110"/>
              <a:chOff x="7939341" y="3037317"/>
              <a:chExt cx="897649" cy="353919"/>
            </a:xfrm>
          </p:grpSpPr>
          <p:sp>
            <p:nvSpPr>
              <p:cNvPr id="6516" name="Google Shape;6516;p9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7" name="Google Shape;6517;p9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8" name="Google Shape;6518;p9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9" name="Google Shape;6519;p9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20" name="Google Shape;6520;p93"/>
          <p:cNvGrpSpPr/>
          <p:nvPr/>
        </p:nvGrpSpPr>
        <p:grpSpPr>
          <a:xfrm>
            <a:off x="8439827" y="2812309"/>
            <a:ext cx="353678" cy="168275"/>
            <a:chOff x="7493876" y="2774731"/>
            <a:chExt cx="1481958" cy="894622"/>
          </a:xfrm>
        </p:grpSpPr>
        <p:sp>
          <p:nvSpPr>
            <p:cNvPr id="6521" name="Google Shape;6521;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22" name="Google Shape;6522;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23" name="Google Shape;6523;p93"/>
            <p:cNvGrpSpPr/>
            <p:nvPr/>
          </p:nvGrpSpPr>
          <p:grpSpPr>
            <a:xfrm>
              <a:off x="7713663" y="2848339"/>
              <a:ext cx="1042107" cy="425543"/>
              <a:chOff x="7786941" y="2884917"/>
              <a:chExt cx="897649" cy="353919"/>
            </a:xfrm>
          </p:grpSpPr>
          <p:sp>
            <p:nvSpPr>
              <p:cNvPr id="6524" name="Google Shape;6524;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25" name="Google Shape;6525;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26" name="Google Shape;6526;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27" name="Google Shape;6527;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28" name="Google Shape;6528;p93"/>
          <p:cNvGrpSpPr/>
          <p:nvPr/>
        </p:nvGrpSpPr>
        <p:grpSpPr>
          <a:xfrm>
            <a:off x="8050070" y="3965994"/>
            <a:ext cx="354986" cy="175668"/>
            <a:chOff x="7493876" y="2774731"/>
            <a:chExt cx="1481958" cy="894622"/>
          </a:xfrm>
        </p:grpSpPr>
        <p:sp>
          <p:nvSpPr>
            <p:cNvPr id="6529" name="Google Shape;6529;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30" name="Google Shape;6530;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31" name="Google Shape;6531;p93"/>
            <p:cNvGrpSpPr/>
            <p:nvPr/>
          </p:nvGrpSpPr>
          <p:grpSpPr>
            <a:xfrm>
              <a:off x="7713663" y="2848339"/>
              <a:ext cx="1042107" cy="425543"/>
              <a:chOff x="7786941" y="2884917"/>
              <a:chExt cx="897649" cy="353919"/>
            </a:xfrm>
          </p:grpSpPr>
          <p:sp>
            <p:nvSpPr>
              <p:cNvPr id="6532" name="Google Shape;6532;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33" name="Google Shape;6533;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34" name="Google Shape;6534;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35" name="Google Shape;6535;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36" name="Google Shape;6536;p93"/>
          <p:cNvGrpSpPr/>
          <p:nvPr/>
        </p:nvGrpSpPr>
        <p:grpSpPr>
          <a:xfrm>
            <a:off x="10884085" y="3601365"/>
            <a:ext cx="170989" cy="97052"/>
            <a:chOff x="7493876" y="2774731"/>
            <a:chExt cx="1481958" cy="894622"/>
          </a:xfrm>
        </p:grpSpPr>
        <p:sp>
          <p:nvSpPr>
            <p:cNvPr id="6537" name="Google Shape;6537;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38" name="Google Shape;6538;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39" name="Google Shape;6539;p93"/>
            <p:cNvGrpSpPr/>
            <p:nvPr/>
          </p:nvGrpSpPr>
          <p:grpSpPr>
            <a:xfrm>
              <a:off x="7713663" y="2848339"/>
              <a:ext cx="1042107" cy="425543"/>
              <a:chOff x="7786941" y="2884917"/>
              <a:chExt cx="897649" cy="353919"/>
            </a:xfrm>
          </p:grpSpPr>
          <p:sp>
            <p:nvSpPr>
              <p:cNvPr id="6540" name="Google Shape;6540;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41" name="Google Shape;6541;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42" name="Google Shape;6542;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43" name="Google Shape;6543;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44" name="Google Shape;6544;p93"/>
          <p:cNvGrpSpPr/>
          <p:nvPr/>
        </p:nvGrpSpPr>
        <p:grpSpPr>
          <a:xfrm>
            <a:off x="10410609" y="3496138"/>
            <a:ext cx="353678" cy="198344"/>
            <a:chOff x="7493876" y="2774731"/>
            <a:chExt cx="1481958" cy="894622"/>
          </a:xfrm>
        </p:grpSpPr>
        <p:sp>
          <p:nvSpPr>
            <p:cNvPr id="6545" name="Google Shape;6545;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46" name="Google Shape;6546;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47" name="Google Shape;6547;p93"/>
            <p:cNvGrpSpPr/>
            <p:nvPr/>
          </p:nvGrpSpPr>
          <p:grpSpPr>
            <a:xfrm>
              <a:off x="7713663" y="2848339"/>
              <a:ext cx="1042107" cy="425543"/>
              <a:chOff x="7786941" y="2884917"/>
              <a:chExt cx="897649" cy="353919"/>
            </a:xfrm>
          </p:grpSpPr>
          <p:sp>
            <p:nvSpPr>
              <p:cNvPr id="6548" name="Google Shape;6548;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49" name="Google Shape;6549;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50" name="Google Shape;6550;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51" name="Google Shape;6551;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52" name="Google Shape;6552;p93"/>
          <p:cNvGrpSpPr/>
          <p:nvPr/>
        </p:nvGrpSpPr>
        <p:grpSpPr>
          <a:xfrm>
            <a:off x="9948724" y="2202292"/>
            <a:ext cx="353678" cy="198344"/>
            <a:chOff x="7493876" y="2774731"/>
            <a:chExt cx="1481958" cy="894622"/>
          </a:xfrm>
        </p:grpSpPr>
        <p:sp>
          <p:nvSpPr>
            <p:cNvPr id="6553" name="Google Shape;6553;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54" name="Google Shape;6554;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55" name="Google Shape;6555;p93"/>
            <p:cNvGrpSpPr/>
            <p:nvPr/>
          </p:nvGrpSpPr>
          <p:grpSpPr>
            <a:xfrm>
              <a:off x="7713663" y="2848339"/>
              <a:ext cx="1042107" cy="425543"/>
              <a:chOff x="7786941" y="2884917"/>
              <a:chExt cx="897649" cy="353919"/>
            </a:xfrm>
          </p:grpSpPr>
          <p:sp>
            <p:nvSpPr>
              <p:cNvPr id="6556" name="Google Shape;6556;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57" name="Google Shape;6557;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58" name="Google Shape;6558;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59" name="Google Shape;6559;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60" name="Google Shape;6560;p93"/>
          <p:cNvGrpSpPr/>
          <p:nvPr/>
        </p:nvGrpSpPr>
        <p:grpSpPr>
          <a:xfrm>
            <a:off x="10527214" y="2613367"/>
            <a:ext cx="353678" cy="198344"/>
            <a:chOff x="7493876" y="2774731"/>
            <a:chExt cx="1481958" cy="894622"/>
          </a:xfrm>
        </p:grpSpPr>
        <p:sp>
          <p:nvSpPr>
            <p:cNvPr id="6561" name="Google Shape;6561;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62" name="Google Shape;6562;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63" name="Google Shape;6563;p93"/>
            <p:cNvGrpSpPr/>
            <p:nvPr/>
          </p:nvGrpSpPr>
          <p:grpSpPr>
            <a:xfrm>
              <a:off x="7713663" y="2848339"/>
              <a:ext cx="1042107" cy="425543"/>
              <a:chOff x="7786941" y="2884917"/>
              <a:chExt cx="897649" cy="353919"/>
            </a:xfrm>
          </p:grpSpPr>
          <p:sp>
            <p:nvSpPr>
              <p:cNvPr id="6564" name="Google Shape;6564;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65" name="Google Shape;6565;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66" name="Google Shape;6566;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67" name="Google Shape;6567;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68" name="Google Shape;6568;p93"/>
          <p:cNvGrpSpPr/>
          <p:nvPr/>
        </p:nvGrpSpPr>
        <p:grpSpPr>
          <a:xfrm>
            <a:off x="10643825" y="2107963"/>
            <a:ext cx="353678" cy="198344"/>
            <a:chOff x="7493876" y="2774731"/>
            <a:chExt cx="1481958" cy="894622"/>
          </a:xfrm>
        </p:grpSpPr>
        <p:sp>
          <p:nvSpPr>
            <p:cNvPr id="6569" name="Google Shape;6569;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70" name="Google Shape;6570;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71" name="Google Shape;6571;p93"/>
            <p:cNvGrpSpPr/>
            <p:nvPr/>
          </p:nvGrpSpPr>
          <p:grpSpPr>
            <a:xfrm>
              <a:off x="7713663" y="2848339"/>
              <a:ext cx="1042107" cy="425543"/>
              <a:chOff x="7786941" y="2884917"/>
              <a:chExt cx="897649" cy="353919"/>
            </a:xfrm>
          </p:grpSpPr>
          <p:sp>
            <p:nvSpPr>
              <p:cNvPr id="6572" name="Google Shape;6572;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73" name="Google Shape;6573;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74" name="Google Shape;6574;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75" name="Google Shape;6575;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76" name="Google Shape;6576;p93"/>
          <p:cNvGrpSpPr/>
          <p:nvPr/>
        </p:nvGrpSpPr>
        <p:grpSpPr>
          <a:xfrm>
            <a:off x="9098788" y="3956624"/>
            <a:ext cx="367224" cy="240304"/>
            <a:chOff x="7493876" y="2774731"/>
            <a:chExt cx="1481958" cy="894622"/>
          </a:xfrm>
        </p:grpSpPr>
        <p:sp>
          <p:nvSpPr>
            <p:cNvPr id="6577" name="Google Shape;6577;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78" name="Google Shape;6578;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79" name="Google Shape;6579;p93"/>
            <p:cNvGrpSpPr/>
            <p:nvPr/>
          </p:nvGrpSpPr>
          <p:grpSpPr>
            <a:xfrm>
              <a:off x="7713663" y="2848339"/>
              <a:ext cx="1042107" cy="425543"/>
              <a:chOff x="7786941" y="2884917"/>
              <a:chExt cx="897649" cy="353919"/>
            </a:xfrm>
          </p:grpSpPr>
          <p:sp>
            <p:nvSpPr>
              <p:cNvPr id="6580" name="Google Shape;6580;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81" name="Google Shape;6581;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82" name="Google Shape;6582;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83" name="Google Shape;6583;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84" name="Google Shape;6584;p93"/>
          <p:cNvGrpSpPr/>
          <p:nvPr/>
        </p:nvGrpSpPr>
        <p:grpSpPr>
          <a:xfrm>
            <a:off x="9980126" y="2661565"/>
            <a:ext cx="353678" cy="198344"/>
            <a:chOff x="7493876" y="2774731"/>
            <a:chExt cx="1481958" cy="894622"/>
          </a:xfrm>
        </p:grpSpPr>
        <p:sp>
          <p:nvSpPr>
            <p:cNvPr id="6585" name="Google Shape;6585;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86" name="Google Shape;6586;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87" name="Google Shape;6587;p93"/>
            <p:cNvGrpSpPr/>
            <p:nvPr/>
          </p:nvGrpSpPr>
          <p:grpSpPr>
            <a:xfrm>
              <a:off x="7713663" y="2848339"/>
              <a:ext cx="1042107" cy="425543"/>
              <a:chOff x="7786941" y="2884917"/>
              <a:chExt cx="897649" cy="353919"/>
            </a:xfrm>
          </p:grpSpPr>
          <p:sp>
            <p:nvSpPr>
              <p:cNvPr id="6588" name="Google Shape;6588;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89" name="Google Shape;6589;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90" name="Google Shape;6590;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91" name="Google Shape;6591;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92" name="Google Shape;6592;p93"/>
          <p:cNvGrpSpPr/>
          <p:nvPr/>
        </p:nvGrpSpPr>
        <p:grpSpPr>
          <a:xfrm>
            <a:off x="9497138" y="3394032"/>
            <a:ext cx="367224" cy="240304"/>
            <a:chOff x="7493876" y="2774731"/>
            <a:chExt cx="1481958" cy="894622"/>
          </a:xfrm>
        </p:grpSpPr>
        <p:sp>
          <p:nvSpPr>
            <p:cNvPr id="6593" name="Google Shape;6593;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94" name="Google Shape;6594;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95" name="Google Shape;6595;p93"/>
            <p:cNvGrpSpPr/>
            <p:nvPr/>
          </p:nvGrpSpPr>
          <p:grpSpPr>
            <a:xfrm>
              <a:off x="7713663" y="2848339"/>
              <a:ext cx="1042107" cy="425543"/>
              <a:chOff x="7786941" y="2884917"/>
              <a:chExt cx="897649" cy="353919"/>
            </a:xfrm>
          </p:grpSpPr>
          <p:sp>
            <p:nvSpPr>
              <p:cNvPr id="6596" name="Google Shape;6596;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97" name="Google Shape;6597;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98" name="Google Shape;6598;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99" name="Google Shape;6599;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600" name="Google Shape;6600;p93"/>
          <p:cNvGrpSpPr/>
          <p:nvPr/>
        </p:nvGrpSpPr>
        <p:grpSpPr>
          <a:xfrm>
            <a:off x="9601554" y="3999763"/>
            <a:ext cx="367224" cy="240304"/>
            <a:chOff x="7493876" y="2774731"/>
            <a:chExt cx="1481958" cy="894622"/>
          </a:xfrm>
        </p:grpSpPr>
        <p:sp>
          <p:nvSpPr>
            <p:cNvPr id="6601" name="Google Shape;6601;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602" name="Google Shape;6602;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603" name="Google Shape;6603;p93"/>
            <p:cNvGrpSpPr/>
            <p:nvPr/>
          </p:nvGrpSpPr>
          <p:grpSpPr>
            <a:xfrm>
              <a:off x="7713663" y="2848339"/>
              <a:ext cx="1042107" cy="425543"/>
              <a:chOff x="7786941" y="2884917"/>
              <a:chExt cx="897649" cy="353919"/>
            </a:xfrm>
          </p:grpSpPr>
          <p:sp>
            <p:nvSpPr>
              <p:cNvPr id="6604" name="Google Shape;6604;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05" name="Google Shape;6605;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06" name="Google Shape;6606;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07" name="Google Shape;6607;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608" name="Google Shape;6608;p93"/>
          <p:cNvGrpSpPr/>
          <p:nvPr/>
        </p:nvGrpSpPr>
        <p:grpSpPr>
          <a:xfrm>
            <a:off x="10375259" y="3992325"/>
            <a:ext cx="353678" cy="198344"/>
            <a:chOff x="7493876" y="2774731"/>
            <a:chExt cx="1481958" cy="894622"/>
          </a:xfrm>
        </p:grpSpPr>
        <p:sp>
          <p:nvSpPr>
            <p:cNvPr id="6609" name="Google Shape;6609;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610" name="Google Shape;6610;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611" name="Google Shape;6611;p93"/>
            <p:cNvGrpSpPr/>
            <p:nvPr/>
          </p:nvGrpSpPr>
          <p:grpSpPr>
            <a:xfrm>
              <a:off x="7713663" y="2848339"/>
              <a:ext cx="1042107" cy="425543"/>
              <a:chOff x="7786941" y="2884917"/>
              <a:chExt cx="897649" cy="353919"/>
            </a:xfrm>
          </p:grpSpPr>
          <p:sp>
            <p:nvSpPr>
              <p:cNvPr id="6612" name="Google Shape;6612;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13" name="Google Shape;6613;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14" name="Google Shape;6614;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15" name="Google Shape;6615;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616" name="Google Shape;6616;p93"/>
          <p:cNvGrpSpPr/>
          <p:nvPr/>
        </p:nvGrpSpPr>
        <p:grpSpPr>
          <a:xfrm>
            <a:off x="9247893" y="4775686"/>
            <a:ext cx="393760" cy="218578"/>
            <a:chOff x="7493876" y="2774731"/>
            <a:chExt cx="1481958" cy="894622"/>
          </a:xfrm>
        </p:grpSpPr>
        <p:sp>
          <p:nvSpPr>
            <p:cNvPr id="6617" name="Google Shape;6617;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618" name="Google Shape;6618;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619" name="Google Shape;6619;p93"/>
            <p:cNvGrpSpPr/>
            <p:nvPr/>
          </p:nvGrpSpPr>
          <p:grpSpPr>
            <a:xfrm>
              <a:off x="7713663" y="2848339"/>
              <a:ext cx="1042107" cy="425543"/>
              <a:chOff x="7786941" y="2884917"/>
              <a:chExt cx="897649" cy="353919"/>
            </a:xfrm>
          </p:grpSpPr>
          <p:sp>
            <p:nvSpPr>
              <p:cNvPr id="6620" name="Google Shape;6620;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21" name="Google Shape;6621;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22" name="Google Shape;6622;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23" name="Google Shape;6623;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624" name="Google Shape;6624;p93"/>
          <p:cNvGrpSpPr/>
          <p:nvPr/>
        </p:nvGrpSpPr>
        <p:grpSpPr>
          <a:xfrm>
            <a:off x="10925982" y="4369125"/>
            <a:ext cx="228295" cy="120400"/>
            <a:chOff x="7493876" y="2774731"/>
            <a:chExt cx="1481958" cy="894622"/>
          </a:xfrm>
        </p:grpSpPr>
        <p:sp>
          <p:nvSpPr>
            <p:cNvPr id="6625" name="Google Shape;6625;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626" name="Google Shape;6626;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627" name="Google Shape;6627;p93"/>
            <p:cNvGrpSpPr/>
            <p:nvPr/>
          </p:nvGrpSpPr>
          <p:grpSpPr>
            <a:xfrm>
              <a:off x="7713663" y="2848339"/>
              <a:ext cx="1042107" cy="425543"/>
              <a:chOff x="7786941" y="2884917"/>
              <a:chExt cx="897649" cy="353919"/>
            </a:xfrm>
          </p:grpSpPr>
          <p:sp>
            <p:nvSpPr>
              <p:cNvPr id="6628" name="Google Shape;6628;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29" name="Google Shape;6629;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30" name="Google Shape;6630;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31" name="Google Shape;6631;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632" name="Google Shape;6632;p93"/>
          <p:cNvGrpSpPr/>
          <p:nvPr/>
        </p:nvGrpSpPr>
        <p:grpSpPr>
          <a:xfrm>
            <a:off x="7439074" y="2356613"/>
            <a:ext cx="534987" cy="414882"/>
            <a:chOff x="7432700" y="2327293"/>
            <a:chExt cx="534987" cy="414882"/>
          </a:xfrm>
        </p:grpSpPr>
        <p:pic>
          <p:nvPicPr>
            <p:cNvPr descr="antenna_stylized" id="6633" name="Google Shape;6633;p93"/>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6634" name="Google Shape;6634;p93"/>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6635" name="Google Shape;6635;p93"/>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6636" name="Google Shape;6636;p93"/>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6637" name="Google Shape;6637;p93"/>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38" name="Google Shape;6638;p93"/>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39" name="Google Shape;6639;p93"/>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0" name="Google Shape;6640;p93"/>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1" name="Google Shape;6641;p93"/>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2" name="Google Shape;6642;p93"/>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643" name="Google Shape;6643;p93"/>
            <p:cNvGrpSpPr/>
            <p:nvPr/>
          </p:nvGrpSpPr>
          <p:grpSpPr>
            <a:xfrm>
              <a:off x="7594735" y="2642220"/>
              <a:ext cx="98740" cy="36846"/>
              <a:chOff x="1740" y="2642"/>
              <a:chExt cx="752" cy="327"/>
            </a:xfrm>
          </p:grpSpPr>
          <p:sp>
            <p:nvSpPr>
              <p:cNvPr id="6644" name="Google Shape;6644;p9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5" name="Google Shape;6645;p9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6" name="Google Shape;6646;p9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7" name="Google Shape;6647;p9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8" name="Google Shape;6648;p9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9" name="Google Shape;6649;p9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50" name="Google Shape;6650;p93"/>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1" name="Google Shape;6651;p93"/>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2" name="Google Shape;6652;p93"/>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3" name="Google Shape;6653;p93"/>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4" name="Google Shape;6654;p93"/>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5" name="Google Shape;6655;p93"/>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656" name="Google Shape;6656;p93"/>
          <p:cNvGrpSpPr/>
          <p:nvPr/>
        </p:nvGrpSpPr>
        <p:grpSpPr>
          <a:xfrm>
            <a:off x="8637781" y="2319727"/>
            <a:ext cx="530702" cy="478009"/>
            <a:chOff x="8631407" y="2290407"/>
            <a:chExt cx="530702" cy="478009"/>
          </a:xfrm>
        </p:grpSpPr>
        <p:pic>
          <p:nvPicPr>
            <p:cNvPr descr="light2.png" id="6657" name="Google Shape;6657;p93"/>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6658" name="Google Shape;6658;p93"/>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6659" name="Google Shape;6659;p93"/>
          <p:cNvGrpSpPr/>
          <p:nvPr/>
        </p:nvGrpSpPr>
        <p:grpSpPr>
          <a:xfrm>
            <a:off x="7493518" y="3419140"/>
            <a:ext cx="350807" cy="310034"/>
            <a:chOff x="7487144" y="3389820"/>
            <a:chExt cx="350807" cy="310034"/>
          </a:xfrm>
        </p:grpSpPr>
        <p:pic>
          <p:nvPicPr>
            <p:cNvPr descr="antenna_stylized" id="6660" name="Google Shape;6660;p93"/>
            <p:cNvPicPr preferRelativeResize="0"/>
            <p:nvPr/>
          </p:nvPicPr>
          <p:blipFill rotWithShape="1">
            <a:blip r:embed="rId11">
              <a:alphaModFix/>
            </a:blip>
            <a:srcRect b="0" l="0" r="0" t="0"/>
            <a:stretch/>
          </p:blipFill>
          <p:spPr>
            <a:xfrm>
              <a:off x="7487144" y="3389820"/>
              <a:ext cx="347997" cy="167557"/>
            </a:xfrm>
            <a:prstGeom prst="rect">
              <a:avLst/>
            </a:prstGeom>
            <a:noFill/>
            <a:ln>
              <a:noFill/>
            </a:ln>
          </p:spPr>
        </p:pic>
        <p:pic>
          <p:nvPicPr>
            <p:cNvPr descr="laptop_keyboard" id="6661" name="Google Shape;6661;p93"/>
            <p:cNvPicPr preferRelativeResize="0"/>
            <p:nvPr/>
          </p:nvPicPr>
          <p:blipFill rotWithShape="1">
            <a:blip r:embed="rId12">
              <a:alphaModFix/>
            </a:blip>
            <a:srcRect b="0" l="0" r="0" t="0"/>
            <a:stretch/>
          </p:blipFill>
          <p:spPr>
            <a:xfrm flipH="1" rot="109064">
              <a:off x="7504001" y="3575889"/>
              <a:ext cx="286699" cy="119448"/>
            </a:xfrm>
            <a:prstGeom prst="rect">
              <a:avLst/>
            </a:prstGeom>
            <a:noFill/>
            <a:ln>
              <a:noFill/>
            </a:ln>
          </p:spPr>
        </p:pic>
        <p:sp>
          <p:nvSpPr>
            <p:cNvPr id="6662" name="Google Shape;6662;p93"/>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6663" name="Google Shape;6663;p93"/>
            <p:cNvPicPr preferRelativeResize="0"/>
            <p:nvPr/>
          </p:nvPicPr>
          <p:blipFill rotWithShape="1">
            <a:blip r:embed="rId13">
              <a:alphaModFix/>
            </a:blip>
            <a:srcRect b="0" l="0" r="0" t="0"/>
            <a:stretch/>
          </p:blipFill>
          <p:spPr>
            <a:xfrm>
              <a:off x="7610380" y="3463988"/>
              <a:ext cx="209692" cy="141851"/>
            </a:xfrm>
            <a:prstGeom prst="rect">
              <a:avLst/>
            </a:prstGeom>
            <a:noFill/>
            <a:ln>
              <a:noFill/>
            </a:ln>
          </p:spPr>
        </p:pic>
        <p:sp>
          <p:nvSpPr>
            <p:cNvPr id="6664" name="Google Shape;6664;p93"/>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5" name="Google Shape;6665;p93"/>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6" name="Google Shape;6666;p93"/>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7" name="Google Shape;6667;p93"/>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8" name="Google Shape;6668;p93"/>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9" name="Google Shape;6669;p93"/>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670" name="Google Shape;6670;p93"/>
            <p:cNvGrpSpPr/>
            <p:nvPr/>
          </p:nvGrpSpPr>
          <p:grpSpPr>
            <a:xfrm>
              <a:off x="7593395" y="3625649"/>
              <a:ext cx="64747" cy="27592"/>
              <a:chOff x="1740" y="2642"/>
              <a:chExt cx="752" cy="327"/>
            </a:xfrm>
          </p:grpSpPr>
          <p:sp>
            <p:nvSpPr>
              <p:cNvPr id="6671" name="Google Shape;6671;p9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2" name="Google Shape;6672;p9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3" name="Google Shape;6673;p9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4" name="Google Shape;6674;p9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5" name="Google Shape;6675;p9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6" name="Google Shape;6676;p9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77" name="Google Shape;6677;p93"/>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8" name="Google Shape;6678;p93"/>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9" name="Google Shape;6679;p93"/>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0" name="Google Shape;6680;p93"/>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1" name="Google Shape;6681;p93"/>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2" name="Google Shape;6682;p93"/>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683" name="Google Shape;6683;p93"/>
          <p:cNvGrpSpPr/>
          <p:nvPr/>
        </p:nvGrpSpPr>
        <p:grpSpPr>
          <a:xfrm>
            <a:off x="7803435" y="3325424"/>
            <a:ext cx="347997" cy="396620"/>
            <a:chOff x="7797061" y="3296104"/>
            <a:chExt cx="347997" cy="396620"/>
          </a:xfrm>
        </p:grpSpPr>
        <p:pic>
          <p:nvPicPr>
            <p:cNvPr descr="fridge2.png" id="6684" name="Google Shape;6684;p93"/>
            <p:cNvPicPr preferRelativeResize="0"/>
            <p:nvPr/>
          </p:nvPicPr>
          <p:blipFill rotWithShape="1">
            <a:blip r:embed="rId14">
              <a:alphaModFix/>
            </a:blip>
            <a:srcRect b="0" l="0" r="0" t="0"/>
            <a:stretch/>
          </p:blipFill>
          <p:spPr>
            <a:xfrm>
              <a:off x="7896825" y="3355697"/>
              <a:ext cx="189578" cy="337027"/>
            </a:xfrm>
            <a:prstGeom prst="rect">
              <a:avLst/>
            </a:prstGeom>
            <a:noFill/>
            <a:ln>
              <a:noFill/>
            </a:ln>
          </p:spPr>
        </p:pic>
        <p:pic>
          <p:nvPicPr>
            <p:cNvPr descr="antenna_stylized" id="6685" name="Google Shape;6685;p93"/>
            <p:cNvPicPr preferRelativeResize="0"/>
            <p:nvPr/>
          </p:nvPicPr>
          <p:blipFill rotWithShape="1">
            <a:blip r:embed="rId11">
              <a:alphaModFix/>
            </a:blip>
            <a:srcRect b="0" l="0" r="0" t="0"/>
            <a:stretch/>
          </p:blipFill>
          <p:spPr>
            <a:xfrm>
              <a:off x="7797061" y="3296104"/>
              <a:ext cx="347997" cy="167557"/>
            </a:xfrm>
            <a:prstGeom prst="rect">
              <a:avLst/>
            </a:prstGeom>
            <a:noFill/>
            <a:ln>
              <a:noFill/>
            </a:ln>
          </p:spPr>
        </p:pic>
      </p:grpSp>
      <p:grpSp>
        <p:nvGrpSpPr>
          <p:cNvPr id="6686" name="Google Shape;6686;p93"/>
          <p:cNvGrpSpPr/>
          <p:nvPr/>
        </p:nvGrpSpPr>
        <p:grpSpPr>
          <a:xfrm>
            <a:off x="11064947" y="3428485"/>
            <a:ext cx="518448" cy="1212242"/>
            <a:chOff x="11058573" y="3399165"/>
            <a:chExt cx="518448" cy="1212242"/>
          </a:xfrm>
        </p:grpSpPr>
        <p:grpSp>
          <p:nvGrpSpPr>
            <p:cNvPr id="6687" name="Google Shape;6687;p93"/>
            <p:cNvGrpSpPr/>
            <p:nvPr/>
          </p:nvGrpSpPr>
          <p:grpSpPr>
            <a:xfrm>
              <a:off x="11087182" y="4159591"/>
              <a:ext cx="489839" cy="451816"/>
              <a:chOff x="5103720" y="2693365"/>
              <a:chExt cx="611650" cy="414788"/>
            </a:xfrm>
          </p:grpSpPr>
          <p:cxnSp>
            <p:nvCxnSpPr>
              <p:cNvPr id="6688" name="Google Shape;6688;p93"/>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6689" name="Google Shape;6689;p93"/>
              <p:cNvGrpSpPr/>
              <p:nvPr/>
            </p:nvGrpSpPr>
            <p:grpSpPr>
              <a:xfrm>
                <a:off x="5275406" y="2693365"/>
                <a:ext cx="439964" cy="414788"/>
                <a:chOff x="5275406" y="2711455"/>
                <a:chExt cx="452949" cy="405518"/>
              </a:xfrm>
            </p:grpSpPr>
            <p:pic>
              <p:nvPicPr>
                <p:cNvPr descr="server_rack.png" id="6690" name="Google Shape;6690;p93"/>
                <p:cNvPicPr preferRelativeResize="0"/>
                <p:nvPr/>
              </p:nvPicPr>
              <p:blipFill rotWithShape="1">
                <a:blip r:embed="rId15">
                  <a:alphaModFix/>
                </a:blip>
                <a:srcRect b="0" l="0" r="0" t="0"/>
                <a:stretch/>
              </p:blipFill>
              <p:spPr>
                <a:xfrm>
                  <a:off x="5537367" y="2770786"/>
                  <a:ext cx="190988" cy="313366"/>
                </a:xfrm>
                <a:prstGeom prst="rect">
                  <a:avLst/>
                </a:prstGeom>
                <a:noFill/>
                <a:ln>
                  <a:noFill/>
                </a:ln>
              </p:spPr>
            </p:pic>
            <p:pic>
              <p:nvPicPr>
                <p:cNvPr descr="server_rack.png" id="6691" name="Google Shape;6691;p93"/>
                <p:cNvPicPr preferRelativeResize="0"/>
                <p:nvPr/>
              </p:nvPicPr>
              <p:blipFill rotWithShape="1">
                <a:blip r:embed="rId15">
                  <a:alphaModFix/>
                </a:blip>
                <a:srcRect b="0" l="0" r="0" t="0"/>
                <a:stretch/>
              </p:blipFill>
              <p:spPr>
                <a:xfrm>
                  <a:off x="5275406" y="2764002"/>
                  <a:ext cx="190988" cy="313366"/>
                </a:xfrm>
                <a:prstGeom prst="rect">
                  <a:avLst/>
                </a:prstGeom>
                <a:noFill/>
                <a:ln>
                  <a:noFill/>
                </a:ln>
              </p:spPr>
            </p:pic>
            <p:pic>
              <p:nvPicPr>
                <p:cNvPr descr="server_rack.png" id="6692" name="Google Shape;6692;p93"/>
                <p:cNvPicPr preferRelativeResize="0"/>
                <p:nvPr/>
              </p:nvPicPr>
              <p:blipFill rotWithShape="1">
                <a:blip r:embed="rId15">
                  <a:alphaModFix/>
                </a:blip>
                <a:srcRect b="0" l="0" r="0" t="0"/>
                <a:stretch/>
              </p:blipFill>
              <p:spPr>
                <a:xfrm>
                  <a:off x="5385676" y="2711455"/>
                  <a:ext cx="247152" cy="405518"/>
                </a:xfrm>
                <a:prstGeom prst="rect">
                  <a:avLst/>
                </a:prstGeom>
                <a:noFill/>
                <a:ln>
                  <a:noFill/>
                </a:ln>
              </p:spPr>
            </p:pic>
          </p:grpSp>
        </p:grpSp>
        <p:grpSp>
          <p:nvGrpSpPr>
            <p:cNvPr id="6693" name="Google Shape;6693;p93"/>
            <p:cNvGrpSpPr/>
            <p:nvPr/>
          </p:nvGrpSpPr>
          <p:grpSpPr>
            <a:xfrm>
              <a:off x="11058573" y="3399165"/>
              <a:ext cx="423724" cy="405973"/>
              <a:chOff x="5103720" y="2693365"/>
              <a:chExt cx="611650" cy="414788"/>
            </a:xfrm>
          </p:grpSpPr>
          <p:cxnSp>
            <p:nvCxnSpPr>
              <p:cNvPr id="6694" name="Google Shape;6694;p93"/>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6695" name="Google Shape;6695;p93"/>
              <p:cNvGrpSpPr/>
              <p:nvPr/>
            </p:nvGrpSpPr>
            <p:grpSpPr>
              <a:xfrm>
                <a:off x="5275406" y="2693365"/>
                <a:ext cx="439964" cy="414788"/>
                <a:chOff x="5275406" y="2711455"/>
                <a:chExt cx="452949" cy="405518"/>
              </a:xfrm>
            </p:grpSpPr>
            <p:pic>
              <p:nvPicPr>
                <p:cNvPr descr="server_rack.png" id="6696" name="Google Shape;6696;p93"/>
                <p:cNvPicPr preferRelativeResize="0"/>
                <p:nvPr/>
              </p:nvPicPr>
              <p:blipFill rotWithShape="1">
                <a:blip r:embed="rId15">
                  <a:alphaModFix/>
                </a:blip>
                <a:srcRect b="0" l="0" r="0" t="0"/>
                <a:stretch/>
              </p:blipFill>
              <p:spPr>
                <a:xfrm>
                  <a:off x="5537367" y="2770786"/>
                  <a:ext cx="190988" cy="313366"/>
                </a:xfrm>
                <a:prstGeom prst="rect">
                  <a:avLst/>
                </a:prstGeom>
                <a:noFill/>
                <a:ln>
                  <a:noFill/>
                </a:ln>
              </p:spPr>
            </p:pic>
            <p:pic>
              <p:nvPicPr>
                <p:cNvPr descr="server_rack.png" id="6697" name="Google Shape;6697;p93"/>
                <p:cNvPicPr preferRelativeResize="0"/>
                <p:nvPr/>
              </p:nvPicPr>
              <p:blipFill rotWithShape="1">
                <a:blip r:embed="rId15">
                  <a:alphaModFix/>
                </a:blip>
                <a:srcRect b="0" l="0" r="0" t="0"/>
                <a:stretch/>
              </p:blipFill>
              <p:spPr>
                <a:xfrm>
                  <a:off x="5275406" y="2764002"/>
                  <a:ext cx="190988" cy="313366"/>
                </a:xfrm>
                <a:prstGeom prst="rect">
                  <a:avLst/>
                </a:prstGeom>
                <a:noFill/>
                <a:ln>
                  <a:noFill/>
                </a:ln>
              </p:spPr>
            </p:pic>
            <p:pic>
              <p:nvPicPr>
                <p:cNvPr descr="server_rack.png" id="6698" name="Google Shape;6698;p93"/>
                <p:cNvPicPr preferRelativeResize="0"/>
                <p:nvPr/>
              </p:nvPicPr>
              <p:blipFill rotWithShape="1">
                <a:blip r:embed="rId15">
                  <a:alphaModFix/>
                </a:blip>
                <a:srcRect b="0" l="0" r="0" t="0"/>
                <a:stretch/>
              </p:blipFill>
              <p:spPr>
                <a:xfrm>
                  <a:off x="5385676" y="2711455"/>
                  <a:ext cx="247152" cy="405518"/>
                </a:xfrm>
                <a:prstGeom prst="rect">
                  <a:avLst/>
                </a:prstGeom>
                <a:noFill/>
                <a:ln>
                  <a:noFill/>
                </a:ln>
              </p:spPr>
            </p:pic>
          </p:grpSp>
        </p:grpSp>
      </p:grpSp>
      <p:grpSp>
        <p:nvGrpSpPr>
          <p:cNvPr id="6699" name="Google Shape;6699;p93"/>
          <p:cNvGrpSpPr/>
          <p:nvPr/>
        </p:nvGrpSpPr>
        <p:grpSpPr>
          <a:xfrm>
            <a:off x="10288915" y="5273951"/>
            <a:ext cx="177192" cy="330833"/>
            <a:chOff x="4140" y="429"/>
            <a:chExt cx="1425" cy="2396"/>
          </a:xfrm>
        </p:grpSpPr>
        <p:sp>
          <p:nvSpPr>
            <p:cNvPr id="6700" name="Google Shape;6700;p9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1" name="Google Shape;6701;p9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02" name="Google Shape;6702;p9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3" name="Google Shape;6703;p9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4" name="Google Shape;6704;p9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6705" name="Google Shape;6705;p93"/>
            <p:cNvGrpSpPr/>
            <p:nvPr/>
          </p:nvGrpSpPr>
          <p:grpSpPr>
            <a:xfrm>
              <a:off x="4748" y="666"/>
              <a:ext cx="578" cy="150"/>
              <a:chOff x="613" y="2566"/>
              <a:chExt cx="721" cy="144"/>
            </a:xfrm>
          </p:grpSpPr>
          <p:sp>
            <p:nvSpPr>
              <p:cNvPr id="6706" name="Google Shape;6706;p9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07" name="Google Shape;6707;p9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6708" name="Google Shape;6708;p9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6709" name="Google Shape;6709;p93"/>
            <p:cNvGrpSpPr/>
            <p:nvPr/>
          </p:nvGrpSpPr>
          <p:grpSpPr>
            <a:xfrm>
              <a:off x="4748" y="990"/>
              <a:ext cx="578" cy="134"/>
              <a:chOff x="615" y="2564"/>
              <a:chExt cx="721" cy="139"/>
            </a:xfrm>
          </p:grpSpPr>
          <p:sp>
            <p:nvSpPr>
              <p:cNvPr id="6710" name="Google Shape;6710;p9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11" name="Google Shape;6711;p9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6712" name="Google Shape;6712;p9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13" name="Google Shape;6713;p9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6714" name="Google Shape;6714;p93"/>
            <p:cNvGrpSpPr/>
            <p:nvPr/>
          </p:nvGrpSpPr>
          <p:grpSpPr>
            <a:xfrm>
              <a:off x="4738" y="1647"/>
              <a:ext cx="578" cy="135"/>
              <a:chOff x="618" y="2586"/>
              <a:chExt cx="720" cy="124"/>
            </a:xfrm>
          </p:grpSpPr>
          <p:sp>
            <p:nvSpPr>
              <p:cNvPr id="6715" name="Google Shape;6715;p9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16" name="Google Shape;6716;p9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6717" name="Google Shape;6717;p9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718" name="Google Shape;6718;p93"/>
            <p:cNvGrpSpPr/>
            <p:nvPr/>
          </p:nvGrpSpPr>
          <p:grpSpPr>
            <a:xfrm>
              <a:off x="4738" y="1330"/>
              <a:ext cx="588" cy="134"/>
              <a:chOff x="613" y="2571"/>
              <a:chExt cx="732" cy="134"/>
            </a:xfrm>
          </p:grpSpPr>
          <p:sp>
            <p:nvSpPr>
              <p:cNvPr id="6719" name="Google Shape;6719;p9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20" name="Google Shape;6720;p9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6721" name="Google Shape;6721;p9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22" name="Google Shape;6722;p9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3" name="Google Shape;6723;p9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4" name="Google Shape;6724;p9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25" name="Google Shape;6725;p9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6" name="Google Shape;6726;p9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27" name="Google Shape;6727;p9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28" name="Google Shape;6728;p9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29" name="Google Shape;6729;p9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6730" name="Google Shape;6730;p9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31" name="Google Shape;6731;p9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6732" name="Google Shape;6732;p93"/>
          <p:cNvGrpSpPr/>
          <p:nvPr/>
        </p:nvGrpSpPr>
        <p:grpSpPr>
          <a:xfrm flipH="1">
            <a:off x="7980855" y="4900161"/>
            <a:ext cx="345630" cy="320302"/>
            <a:chOff x="2839" y="3501"/>
            <a:chExt cx="755" cy="803"/>
          </a:xfrm>
        </p:grpSpPr>
        <p:pic>
          <p:nvPicPr>
            <p:cNvPr descr="desktop_computer_stylized_medium" id="6733" name="Google Shape;6733;p93"/>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734" name="Google Shape;6734;p9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735" name="Google Shape;6735;p93"/>
          <p:cNvGrpSpPr/>
          <p:nvPr/>
        </p:nvGrpSpPr>
        <p:grpSpPr>
          <a:xfrm flipH="1">
            <a:off x="8153909" y="5504657"/>
            <a:ext cx="345630" cy="320302"/>
            <a:chOff x="2839" y="3501"/>
            <a:chExt cx="755" cy="803"/>
          </a:xfrm>
        </p:grpSpPr>
        <p:pic>
          <p:nvPicPr>
            <p:cNvPr descr="desktop_computer_stylized_medium" id="6736" name="Google Shape;6736;p93"/>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737" name="Google Shape;6737;p9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738" name="Google Shape;6738;p93"/>
          <p:cNvGrpSpPr/>
          <p:nvPr/>
        </p:nvGrpSpPr>
        <p:grpSpPr>
          <a:xfrm flipH="1">
            <a:off x="8552134" y="5526130"/>
            <a:ext cx="345630" cy="320302"/>
            <a:chOff x="2839" y="3501"/>
            <a:chExt cx="755" cy="803"/>
          </a:xfrm>
        </p:grpSpPr>
        <p:pic>
          <p:nvPicPr>
            <p:cNvPr descr="desktop_computer_stylized_medium" id="6739" name="Google Shape;6739;p93"/>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740" name="Google Shape;6740;p9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741" name="Google Shape;6741;p93"/>
          <p:cNvGrpSpPr/>
          <p:nvPr/>
        </p:nvGrpSpPr>
        <p:grpSpPr>
          <a:xfrm>
            <a:off x="9534746" y="5795138"/>
            <a:ext cx="319264" cy="256836"/>
            <a:chOff x="877" y="1008"/>
            <a:chExt cx="2747" cy="2626"/>
          </a:xfrm>
        </p:grpSpPr>
        <p:pic>
          <p:nvPicPr>
            <p:cNvPr descr="antenna_stylized" id="6742" name="Google Shape;6742;p93"/>
            <p:cNvPicPr preferRelativeResize="0"/>
            <p:nvPr/>
          </p:nvPicPr>
          <p:blipFill rotWithShape="1">
            <a:blip r:embed="rId17">
              <a:alphaModFix/>
            </a:blip>
            <a:srcRect b="0" l="0" r="0" t="0"/>
            <a:stretch/>
          </p:blipFill>
          <p:spPr>
            <a:xfrm>
              <a:off x="877" y="1008"/>
              <a:ext cx="2725" cy="1421"/>
            </a:xfrm>
            <a:prstGeom prst="rect">
              <a:avLst/>
            </a:prstGeom>
            <a:noFill/>
            <a:ln>
              <a:noFill/>
            </a:ln>
          </p:spPr>
        </p:pic>
        <p:pic>
          <p:nvPicPr>
            <p:cNvPr descr="laptop_keyboard" id="6743" name="Google Shape;6743;p93"/>
            <p:cNvPicPr preferRelativeResize="0"/>
            <p:nvPr/>
          </p:nvPicPr>
          <p:blipFill rotWithShape="1">
            <a:blip r:embed="rId18">
              <a:alphaModFix/>
            </a:blip>
            <a:srcRect b="0" l="0" r="0" t="0"/>
            <a:stretch/>
          </p:blipFill>
          <p:spPr>
            <a:xfrm flipH="1" rot="109064">
              <a:off x="1009" y="2586"/>
              <a:ext cx="2245" cy="1013"/>
            </a:xfrm>
            <a:prstGeom prst="rect">
              <a:avLst/>
            </a:prstGeom>
            <a:noFill/>
            <a:ln>
              <a:noFill/>
            </a:ln>
          </p:spPr>
        </p:pic>
        <p:sp>
          <p:nvSpPr>
            <p:cNvPr id="6744" name="Google Shape;6744;p9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6745" name="Google Shape;6745;p93"/>
            <p:cNvPicPr preferRelativeResize="0"/>
            <p:nvPr/>
          </p:nvPicPr>
          <p:blipFill rotWithShape="1">
            <a:blip r:embed="rId19">
              <a:alphaModFix/>
            </a:blip>
            <a:srcRect b="0" l="0" r="0" t="0"/>
            <a:stretch/>
          </p:blipFill>
          <p:spPr>
            <a:xfrm>
              <a:off x="1842" y="1637"/>
              <a:ext cx="1642" cy="1203"/>
            </a:xfrm>
            <a:prstGeom prst="rect">
              <a:avLst/>
            </a:prstGeom>
            <a:noFill/>
            <a:ln>
              <a:noFill/>
            </a:ln>
          </p:spPr>
        </p:pic>
        <p:sp>
          <p:nvSpPr>
            <p:cNvPr id="6746" name="Google Shape;6746;p9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7" name="Google Shape;6747;p9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8" name="Google Shape;6748;p9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9" name="Google Shape;6749;p9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0" name="Google Shape;6750;p9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1" name="Google Shape;6751;p9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752" name="Google Shape;6752;p93"/>
            <p:cNvGrpSpPr/>
            <p:nvPr/>
          </p:nvGrpSpPr>
          <p:grpSpPr>
            <a:xfrm>
              <a:off x="1709" y="3008"/>
              <a:ext cx="507" cy="234"/>
              <a:chOff x="1740" y="2642"/>
              <a:chExt cx="752" cy="327"/>
            </a:xfrm>
          </p:grpSpPr>
          <p:sp>
            <p:nvSpPr>
              <p:cNvPr id="6753" name="Google Shape;6753;p9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4" name="Google Shape;6754;p9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5" name="Google Shape;6755;p9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6" name="Google Shape;6756;p9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7" name="Google Shape;6757;p9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8" name="Google Shape;6758;p9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759" name="Google Shape;6759;p9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0" name="Google Shape;6760;p9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1" name="Google Shape;6761;p9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2" name="Google Shape;6762;p9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3" name="Google Shape;6763;p9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4" name="Google Shape;6764;p9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765" name="Google Shape;6765;p93"/>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6" name="Google Shape;6766;p93"/>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7" name="Google Shape;6767;p93"/>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8" name="Google Shape;6768;p93"/>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6769" name="Google Shape;6769;p93"/>
          <p:cNvGrpSpPr/>
          <p:nvPr/>
        </p:nvGrpSpPr>
        <p:grpSpPr>
          <a:xfrm>
            <a:off x="10091053" y="5670891"/>
            <a:ext cx="69517" cy="21877"/>
            <a:chOff x="613" y="2566"/>
            <a:chExt cx="721" cy="144"/>
          </a:xfrm>
        </p:grpSpPr>
        <p:sp>
          <p:nvSpPr>
            <p:cNvPr id="6770" name="Google Shape;6770;p9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71" name="Google Shape;6771;p9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6772" name="Google Shape;6772;p93"/>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6773" name="Google Shape;6773;p93"/>
          <p:cNvGrpSpPr/>
          <p:nvPr/>
        </p:nvGrpSpPr>
        <p:grpSpPr>
          <a:xfrm>
            <a:off x="10091005" y="5718110"/>
            <a:ext cx="69517" cy="19515"/>
            <a:chOff x="615" y="2564"/>
            <a:chExt cx="721" cy="139"/>
          </a:xfrm>
        </p:grpSpPr>
        <p:sp>
          <p:nvSpPr>
            <p:cNvPr id="6774" name="Google Shape;6774;p9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75" name="Google Shape;6775;p9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6776" name="Google Shape;6776;p93"/>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77" name="Google Shape;6777;p93"/>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6778" name="Google Shape;6778;p93"/>
          <p:cNvGrpSpPr/>
          <p:nvPr/>
        </p:nvGrpSpPr>
        <p:grpSpPr>
          <a:xfrm>
            <a:off x="10089851" y="5813708"/>
            <a:ext cx="69541" cy="19618"/>
            <a:chOff x="618" y="2586"/>
            <a:chExt cx="720" cy="124"/>
          </a:xfrm>
        </p:grpSpPr>
        <p:sp>
          <p:nvSpPr>
            <p:cNvPr id="6779" name="Google Shape;6779;p9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80" name="Google Shape;6780;p9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6781" name="Google Shape;6781;p93"/>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782" name="Google Shape;6782;p93"/>
          <p:cNvGrpSpPr/>
          <p:nvPr/>
        </p:nvGrpSpPr>
        <p:grpSpPr>
          <a:xfrm>
            <a:off x="10089849" y="5767606"/>
            <a:ext cx="70700" cy="19515"/>
            <a:chOff x="613" y="2571"/>
            <a:chExt cx="732" cy="134"/>
          </a:xfrm>
        </p:grpSpPr>
        <p:sp>
          <p:nvSpPr>
            <p:cNvPr id="6783" name="Google Shape;6783;p9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84" name="Google Shape;6784;p9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6785" name="Google Shape;6785;p93"/>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86" name="Google Shape;6786;p93"/>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87" name="Google Shape;6787;p93"/>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88" name="Google Shape;6788;p93"/>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89" name="Google Shape;6789;p93"/>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90" name="Google Shape;6790;p93"/>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91" name="Google Shape;6791;p93"/>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92" name="Google Shape;6792;p93"/>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93" name="Google Shape;6793;p93"/>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6794" name="Google Shape;6794;p93"/>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95" name="Google Shape;6795;p93"/>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796" name="Google Shape;6796;p9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Peer-to-peer </a:t>
            </a:r>
            <a:r>
              <a:rPr lang="en-US" sz="3600"/>
              <a:t>(P2P) </a:t>
            </a:r>
            <a:r>
              <a:rPr lang="en-US"/>
              <a:t>a</a:t>
            </a:r>
            <a:r>
              <a:rPr lang="en-US" sz="4400"/>
              <a:t>rchitecture</a:t>
            </a:r>
            <a:endParaRPr sz="4400"/>
          </a:p>
        </p:txBody>
      </p:sp>
      <p:sp>
        <p:nvSpPr>
          <p:cNvPr id="6797" name="Google Shape;6797;p93"/>
          <p:cNvSpPr txBox="1"/>
          <p:nvPr/>
        </p:nvSpPr>
        <p:spPr>
          <a:xfrm>
            <a:off x="664326" y="1290326"/>
            <a:ext cx="6067848" cy="4974698"/>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i="1" lang="en-US" sz="2800">
                <a:solidFill>
                  <a:schemeClr val="dk1"/>
                </a:solidFill>
                <a:latin typeface="Calibri"/>
                <a:ea typeface="Calibri"/>
                <a:cs typeface="Calibri"/>
                <a:sym typeface="Calibri"/>
              </a:rPr>
              <a:t>no</a:t>
            </a:r>
            <a:r>
              <a:rPr lang="en-US" sz="2800">
                <a:solidFill>
                  <a:schemeClr val="dk1"/>
                </a:solidFill>
                <a:latin typeface="Calibri"/>
                <a:ea typeface="Calibri"/>
                <a:cs typeface="Calibri"/>
                <a:sym typeface="Calibri"/>
              </a:rPr>
              <a:t> always-on server</a:t>
            </a:r>
            <a:endParaRPr/>
          </a:p>
          <a:p>
            <a:pPr indent="-222250" lvl="0" marL="3524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arbitrary end systems directly communicate</a:t>
            </a:r>
            <a:endParaRPr/>
          </a:p>
          <a:p>
            <a:pPr indent="-222250" lvl="0" marL="3524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peers request service from other peers, provide service in return to other peers</a:t>
            </a:r>
            <a:endParaRPr/>
          </a:p>
          <a:p>
            <a:pPr indent="-225425" lvl="1" marL="582613" marR="0" rtl="0" algn="l">
              <a:lnSpc>
                <a:spcPct val="90000"/>
              </a:lnSpc>
              <a:spcBef>
                <a:spcPts val="500"/>
              </a:spcBef>
              <a:spcAft>
                <a:spcPts val="0"/>
              </a:spcAft>
              <a:buClr>
                <a:srgbClr val="0000A8"/>
              </a:buClr>
              <a:buSzPts val="2400"/>
              <a:buFont typeface="Arial"/>
              <a:buChar char="•"/>
            </a:pPr>
            <a:r>
              <a:rPr b="0" i="1" lang="en-US" sz="2400" u="none" cap="none" strike="noStrike">
                <a:solidFill>
                  <a:srgbClr val="CC0000"/>
                </a:solidFill>
                <a:latin typeface="Calibri"/>
                <a:ea typeface="Calibri"/>
                <a:cs typeface="Calibri"/>
                <a:sym typeface="Calibri"/>
              </a:rPr>
              <a:t>self scalability</a:t>
            </a:r>
            <a:r>
              <a:rPr b="0" i="0" lang="en-US" sz="2400" u="none" cap="none" strike="noStrike">
                <a:solidFill>
                  <a:srgbClr val="CC0000"/>
                </a:solidFill>
                <a:latin typeface="Calibri"/>
                <a:ea typeface="Calibri"/>
                <a:cs typeface="Calibri"/>
                <a:sym typeface="Calibri"/>
              </a:rPr>
              <a:t> – new peers bring new service capacity, and new service demands</a:t>
            </a:r>
            <a:endParaRPr/>
          </a:p>
          <a:p>
            <a:pPr indent="-222250" lvl="0" marL="3524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peers are intermittently connected and change IP addresses</a:t>
            </a:r>
            <a:endParaRPr/>
          </a:p>
          <a:p>
            <a:pPr indent="-231775" lvl="1" marL="695325" marR="0" rtl="0" algn="l">
              <a:lnSpc>
                <a:spcPct val="90000"/>
              </a:lnSpc>
              <a:spcBef>
                <a:spcPts val="4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complex management</a:t>
            </a:r>
            <a:endParaRPr/>
          </a:p>
          <a:p>
            <a:pPr indent="-222250" lvl="0" marL="352425" marR="0" rtl="0" algn="l">
              <a:lnSpc>
                <a:spcPct val="90000"/>
              </a:lnSpc>
              <a:spcBef>
                <a:spcPts val="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examples: </a:t>
            </a:r>
            <a:r>
              <a:rPr lang="en-US" sz="2400">
                <a:solidFill>
                  <a:schemeClr val="dk1"/>
                </a:solidFill>
                <a:latin typeface="Calibri"/>
                <a:ea typeface="Calibri"/>
                <a:cs typeface="Calibri"/>
                <a:sym typeface="Calibri"/>
              </a:rPr>
              <a:t>P2P file sharing (BitTorrent), streaming (KanKan), VoIP (Skype)</a:t>
            </a:r>
            <a:endParaRPr sz="2800">
              <a:solidFill>
                <a:schemeClr val="dk1"/>
              </a:solidFill>
              <a:latin typeface="Calibri"/>
              <a:ea typeface="Calibri"/>
              <a:cs typeface="Calibri"/>
              <a:sym typeface="Calibri"/>
            </a:endParaRPr>
          </a:p>
        </p:txBody>
      </p:sp>
      <p:grpSp>
        <p:nvGrpSpPr>
          <p:cNvPr id="6798" name="Google Shape;6798;p93"/>
          <p:cNvGrpSpPr/>
          <p:nvPr/>
        </p:nvGrpSpPr>
        <p:grpSpPr>
          <a:xfrm>
            <a:off x="10002508" y="5616400"/>
            <a:ext cx="214974" cy="403920"/>
            <a:chOff x="4140" y="429"/>
            <a:chExt cx="1425" cy="2396"/>
          </a:xfrm>
        </p:grpSpPr>
        <p:sp>
          <p:nvSpPr>
            <p:cNvPr id="6799" name="Google Shape;6799;p9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0" name="Google Shape;6800;p9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801" name="Google Shape;6801;p9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2" name="Google Shape;6802;p9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3" name="Google Shape;6803;p9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6804" name="Google Shape;6804;p93"/>
            <p:cNvGrpSpPr/>
            <p:nvPr/>
          </p:nvGrpSpPr>
          <p:grpSpPr>
            <a:xfrm>
              <a:off x="4748" y="666"/>
              <a:ext cx="578" cy="150"/>
              <a:chOff x="613" y="2566"/>
              <a:chExt cx="721" cy="144"/>
            </a:xfrm>
          </p:grpSpPr>
          <p:sp>
            <p:nvSpPr>
              <p:cNvPr id="6805" name="Google Shape;6805;p9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806" name="Google Shape;6806;p9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6807" name="Google Shape;6807;p9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6808" name="Google Shape;6808;p93"/>
            <p:cNvGrpSpPr/>
            <p:nvPr/>
          </p:nvGrpSpPr>
          <p:grpSpPr>
            <a:xfrm>
              <a:off x="4748" y="990"/>
              <a:ext cx="578" cy="134"/>
              <a:chOff x="615" y="2564"/>
              <a:chExt cx="721" cy="139"/>
            </a:xfrm>
          </p:grpSpPr>
          <p:sp>
            <p:nvSpPr>
              <p:cNvPr id="6809" name="Google Shape;6809;p9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810" name="Google Shape;6810;p9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6811" name="Google Shape;6811;p9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812" name="Google Shape;6812;p9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6813" name="Google Shape;6813;p93"/>
            <p:cNvGrpSpPr/>
            <p:nvPr/>
          </p:nvGrpSpPr>
          <p:grpSpPr>
            <a:xfrm>
              <a:off x="4738" y="1647"/>
              <a:ext cx="578" cy="135"/>
              <a:chOff x="618" y="2586"/>
              <a:chExt cx="720" cy="124"/>
            </a:xfrm>
          </p:grpSpPr>
          <p:sp>
            <p:nvSpPr>
              <p:cNvPr id="6814" name="Google Shape;6814;p9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815" name="Google Shape;6815;p9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6816" name="Google Shape;6816;p9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817" name="Google Shape;6817;p93"/>
            <p:cNvGrpSpPr/>
            <p:nvPr/>
          </p:nvGrpSpPr>
          <p:grpSpPr>
            <a:xfrm>
              <a:off x="4738" y="1330"/>
              <a:ext cx="588" cy="134"/>
              <a:chOff x="613" y="2571"/>
              <a:chExt cx="732" cy="134"/>
            </a:xfrm>
          </p:grpSpPr>
          <p:sp>
            <p:nvSpPr>
              <p:cNvPr id="6818" name="Google Shape;6818;p9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819" name="Google Shape;6819;p9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6820" name="Google Shape;6820;p9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821" name="Google Shape;6821;p9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22" name="Google Shape;6822;p9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23" name="Google Shape;6823;p9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824" name="Google Shape;6824;p9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25" name="Google Shape;6825;p9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826" name="Google Shape;6826;p9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827" name="Google Shape;6827;p9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828" name="Google Shape;6828;p9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6829" name="Google Shape;6829;p9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830" name="Google Shape;6830;p9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6831" name="Google Shape;6831;p93"/>
          <p:cNvSpPr/>
          <p:nvPr/>
        </p:nvSpPr>
        <p:spPr>
          <a:xfrm>
            <a:off x="6747501" y="1488461"/>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6832" name="Google Shape;6832;p93"/>
          <p:cNvGrpSpPr/>
          <p:nvPr/>
        </p:nvGrpSpPr>
        <p:grpSpPr>
          <a:xfrm>
            <a:off x="7680324" y="1814171"/>
            <a:ext cx="1991221" cy="4482411"/>
            <a:chOff x="7680324" y="1814171"/>
            <a:chExt cx="1991221" cy="4482411"/>
          </a:xfrm>
        </p:grpSpPr>
        <p:sp>
          <p:nvSpPr>
            <p:cNvPr id="6833" name="Google Shape;6833;p93"/>
            <p:cNvSpPr/>
            <p:nvPr/>
          </p:nvSpPr>
          <p:spPr>
            <a:xfrm>
              <a:off x="7689254" y="516084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34" name="Google Shape;6834;p93"/>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6835" name="Google Shape;6835;p93"/>
            <p:cNvCxnSpPr/>
            <p:nvPr/>
          </p:nvCxnSpPr>
          <p:spPr>
            <a:xfrm flipH="1">
              <a:off x="8353326" y="2438326"/>
              <a:ext cx="498897" cy="1114752"/>
            </a:xfrm>
            <a:prstGeom prst="straightConnector1">
              <a:avLst/>
            </a:prstGeom>
            <a:noFill/>
            <a:ln cap="flat" cmpd="sng" w="76200">
              <a:solidFill>
                <a:srgbClr val="CC0000"/>
              </a:solidFill>
              <a:prstDash val="solid"/>
              <a:round/>
              <a:headEnd len="med" w="med" type="triangle"/>
              <a:tailEnd len="med" w="med" type="triangle"/>
            </a:ln>
          </p:spPr>
        </p:cxnSp>
        <p:cxnSp>
          <p:nvCxnSpPr>
            <p:cNvPr id="6836" name="Google Shape;6836;p93"/>
            <p:cNvCxnSpPr/>
            <p:nvPr/>
          </p:nvCxnSpPr>
          <p:spPr>
            <a:xfrm>
              <a:off x="7971176" y="2321758"/>
              <a:ext cx="1187" cy="2793530"/>
            </a:xfrm>
            <a:prstGeom prst="straightConnector1">
              <a:avLst/>
            </a:prstGeom>
            <a:noFill/>
            <a:ln cap="flat" cmpd="sng" w="76200">
              <a:solidFill>
                <a:srgbClr val="CC0000"/>
              </a:solidFill>
              <a:prstDash val="solid"/>
              <a:round/>
              <a:headEnd len="med" w="med" type="triangle"/>
              <a:tailEnd len="med" w="med" type="triangle"/>
            </a:ln>
          </p:spPr>
        </p:cxnSp>
        <p:sp>
          <p:nvSpPr>
            <p:cNvPr id="6837" name="Google Shape;6837;p93"/>
            <p:cNvSpPr/>
            <p:nvPr/>
          </p:nvSpPr>
          <p:spPr>
            <a:xfrm>
              <a:off x="8703904" y="1943418"/>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38" name="Google Shape;6838;p93"/>
            <p:cNvSpPr/>
            <p:nvPr/>
          </p:nvSpPr>
          <p:spPr>
            <a:xfrm>
              <a:off x="8013358" y="3440898"/>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39" name="Google Shape;6839;p93"/>
            <p:cNvSpPr/>
            <p:nvPr/>
          </p:nvSpPr>
          <p:spPr>
            <a:xfrm>
              <a:off x="9059242" y="5786513"/>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6840" name="Google Shape;6840;p93"/>
            <p:cNvCxnSpPr/>
            <p:nvPr/>
          </p:nvCxnSpPr>
          <p:spPr>
            <a:xfrm>
              <a:off x="9143664" y="2462348"/>
              <a:ext cx="228982" cy="3299611"/>
            </a:xfrm>
            <a:prstGeom prst="straightConnector1">
              <a:avLst/>
            </a:prstGeom>
            <a:noFill/>
            <a:ln cap="flat" cmpd="sng" w="76200">
              <a:solidFill>
                <a:srgbClr val="CC0000"/>
              </a:solidFill>
              <a:prstDash val="solid"/>
              <a:round/>
              <a:headEnd len="med" w="med" type="triangle"/>
              <a:tailEnd len="med" w="med" type="triangle"/>
            </a:ln>
          </p:spPr>
        </p:cxnSp>
        <p:cxnSp>
          <p:nvCxnSpPr>
            <p:cNvPr id="6841" name="Google Shape;6841;p93"/>
            <p:cNvCxnSpPr/>
            <p:nvPr/>
          </p:nvCxnSpPr>
          <p:spPr>
            <a:xfrm>
              <a:off x="8485044" y="3911282"/>
              <a:ext cx="764880" cy="1866664"/>
            </a:xfrm>
            <a:prstGeom prst="straightConnector1">
              <a:avLst/>
            </a:prstGeom>
            <a:noFill/>
            <a:ln cap="flat" cmpd="sng" w="76200">
              <a:solidFill>
                <a:srgbClr val="CC0000"/>
              </a:solidFill>
              <a:prstDash val="solid"/>
              <a:round/>
              <a:headEnd len="med" w="med" type="triangle"/>
              <a:tailEnd len="med" w="med" type="triangle"/>
            </a:ln>
          </p:spPr>
        </p:cxnSp>
      </p:grpSp>
      <p:grpSp>
        <p:nvGrpSpPr>
          <p:cNvPr id="6842" name="Google Shape;6842;p93"/>
          <p:cNvGrpSpPr/>
          <p:nvPr/>
        </p:nvGrpSpPr>
        <p:grpSpPr>
          <a:xfrm>
            <a:off x="7750224" y="1859725"/>
            <a:ext cx="415925" cy="385763"/>
            <a:chOff x="2751" y="1851"/>
            <a:chExt cx="462" cy="478"/>
          </a:xfrm>
        </p:grpSpPr>
        <p:pic>
          <p:nvPicPr>
            <p:cNvPr descr="iphone_stylized_small" id="6843" name="Google Shape;6843;p93"/>
            <p:cNvPicPr preferRelativeResize="0"/>
            <p:nvPr/>
          </p:nvPicPr>
          <p:blipFill rotWithShape="1">
            <a:blip r:embed="rId20">
              <a:alphaModFix/>
            </a:blip>
            <a:srcRect b="0" l="0" r="0" t="0"/>
            <a:stretch/>
          </p:blipFill>
          <p:spPr>
            <a:xfrm>
              <a:off x="2928" y="1922"/>
              <a:ext cx="152" cy="407"/>
            </a:xfrm>
            <a:prstGeom prst="rect">
              <a:avLst/>
            </a:prstGeom>
            <a:noFill/>
            <a:ln>
              <a:noFill/>
            </a:ln>
          </p:spPr>
        </p:pic>
        <p:pic>
          <p:nvPicPr>
            <p:cNvPr descr="antenna_radiation_stylized" id="6844" name="Google Shape;6844;p93"/>
            <p:cNvPicPr preferRelativeResize="0"/>
            <p:nvPr/>
          </p:nvPicPr>
          <p:blipFill rotWithShape="1">
            <a:blip r:embed="rId21">
              <a:alphaModFix/>
            </a:blip>
            <a:srcRect b="0" l="0" r="0" t="0"/>
            <a:stretch/>
          </p:blipFill>
          <p:spPr>
            <a:xfrm>
              <a:off x="2751" y="1851"/>
              <a:ext cx="462" cy="110"/>
            </a:xfrm>
            <a:prstGeom prst="rect">
              <a:avLst/>
            </a:prstGeom>
            <a:noFill/>
            <a:ln>
              <a:noFill/>
            </a:ln>
          </p:spPr>
        </p:pic>
      </p:grpSp>
      <p:grpSp>
        <p:nvGrpSpPr>
          <p:cNvPr id="6845" name="Google Shape;6845;p93"/>
          <p:cNvGrpSpPr/>
          <p:nvPr/>
        </p:nvGrpSpPr>
        <p:grpSpPr>
          <a:xfrm>
            <a:off x="8499539" y="2059124"/>
            <a:ext cx="849312" cy="226109"/>
            <a:chOff x="8493165" y="2029804"/>
            <a:chExt cx="849312" cy="226109"/>
          </a:xfrm>
        </p:grpSpPr>
        <p:pic>
          <p:nvPicPr>
            <p:cNvPr descr="car_icon_small" id="6846" name="Google Shape;6846;p93"/>
            <p:cNvPicPr preferRelativeResize="0"/>
            <p:nvPr/>
          </p:nvPicPr>
          <p:blipFill rotWithShape="1">
            <a:blip r:embed="rId22">
              <a:alphaModFix/>
            </a:blip>
            <a:srcRect b="0" l="0" r="0" t="0"/>
            <a:stretch/>
          </p:blipFill>
          <p:spPr>
            <a:xfrm>
              <a:off x="8493165" y="2087638"/>
              <a:ext cx="849312" cy="168275"/>
            </a:xfrm>
            <a:prstGeom prst="rect">
              <a:avLst/>
            </a:prstGeom>
            <a:noFill/>
            <a:ln>
              <a:noFill/>
            </a:ln>
          </p:spPr>
        </p:pic>
        <p:pic>
          <p:nvPicPr>
            <p:cNvPr descr="antenna_stylized" id="6847" name="Google Shape;6847;p93"/>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6848" name="Google Shape;6848;p93"/>
          <p:cNvGrpSpPr/>
          <p:nvPr/>
        </p:nvGrpSpPr>
        <p:grpSpPr>
          <a:xfrm flipH="1">
            <a:off x="7991996" y="3567143"/>
            <a:ext cx="359261" cy="342045"/>
            <a:chOff x="2839" y="3501"/>
            <a:chExt cx="755" cy="803"/>
          </a:xfrm>
        </p:grpSpPr>
        <p:pic>
          <p:nvPicPr>
            <p:cNvPr descr="desktop_computer_stylized_medium" id="6849" name="Google Shape;6849;p93"/>
            <p:cNvPicPr preferRelativeResize="0"/>
            <p:nvPr/>
          </p:nvPicPr>
          <p:blipFill rotWithShape="1">
            <a:blip r:embed="rId23">
              <a:alphaModFix/>
            </a:blip>
            <a:srcRect b="0" l="0" r="0" t="0"/>
            <a:stretch/>
          </p:blipFill>
          <p:spPr>
            <a:xfrm>
              <a:off x="2839" y="3501"/>
              <a:ext cx="755" cy="803"/>
            </a:xfrm>
            <a:prstGeom prst="rect">
              <a:avLst/>
            </a:prstGeom>
            <a:noFill/>
            <a:ln>
              <a:noFill/>
            </a:ln>
          </p:spPr>
        </p:pic>
        <p:sp>
          <p:nvSpPr>
            <p:cNvPr id="6850" name="Google Shape;6850;p9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851" name="Google Shape;6851;p93"/>
          <p:cNvGrpSpPr/>
          <p:nvPr/>
        </p:nvGrpSpPr>
        <p:grpSpPr>
          <a:xfrm flipH="1">
            <a:off x="7773981" y="5281060"/>
            <a:ext cx="345630" cy="320302"/>
            <a:chOff x="2839" y="3501"/>
            <a:chExt cx="755" cy="803"/>
          </a:xfrm>
        </p:grpSpPr>
        <p:pic>
          <p:nvPicPr>
            <p:cNvPr descr="desktop_computer_stylized_medium" id="6852" name="Google Shape;6852;p93"/>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853" name="Google Shape;6853;p9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854" name="Google Shape;6854;p93"/>
          <p:cNvGrpSpPr/>
          <p:nvPr/>
        </p:nvGrpSpPr>
        <p:grpSpPr>
          <a:xfrm>
            <a:off x="9201681" y="5852809"/>
            <a:ext cx="310186" cy="312008"/>
            <a:chOff x="877" y="1008"/>
            <a:chExt cx="2747" cy="2626"/>
          </a:xfrm>
        </p:grpSpPr>
        <p:pic>
          <p:nvPicPr>
            <p:cNvPr descr="antenna_stylized" id="6855" name="Google Shape;6855;p93"/>
            <p:cNvPicPr preferRelativeResize="0"/>
            <p:nvPr/>
          </p:nvPicPr>
          <p:blipFill rotWithShape="1">
            <a:blip r:embed="rId17">
              <a:alphaModFix/>
            </a:blip>
            <a:srcRect b="0" l="0" r="0" t="0"/>
            <a:stretch/>
          </p:blipFill>
          <p:spPr>
            <a:xfrm>
              <a:off x="877" y="1008"/>
              <a:ext cx="2725" cy="1421"/>
            </a:xfrm>
            <a:prstGeom prst="rect">
              <a:avLst/>
            </a:prstGeom>
            <a:noFill/>
            <a:ln>
              <a:noFill/>
            </a:ln>
          </p:spPr>
        </p:pic>
        <p:pic>
          <p:nvPicPr>
            <p:cNvPr descr="laptop_keyboard" id="6856" name="Google Shape;6856;p93"/>
            <p:cNvPicPr preferRelativeResize="0"/>
            <p:nvPr/>
          </p:nvPicPr>
          <p:blipFill rotWithShape="1">
            <a:blip r:embed="rId18">
              <a:alphaModFix/>
            </a:blip>
            <a:srcRect b="0" l="0" r="0" t="0"/>
            <a:stretch/>
          </p:blipFill>
          <p:spPr>
            <a:xfrm flipH="1" rot="109064">
              <a:off x="1009" y="2586"/>
              <a:ext cx="2245" cy="1013"/>
            </a:xfrm>
            <a:prstGeom prst="rect">
              <a:avLst/>
            </a:prstGeom>
            <a:noFill/>
            <a:ln>
              <a:noFill/>
            </a:ln>
          </p:spPr>
        </p:pic>
        <p:sp>
          <p:nvSpPr>
            <p:cNvPr id="6857" name="Google Shape;6857;p9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6858" name="Google Shape;6858;p93"/>
            <p:cNvPicPr preferRelativeResize="0"/>
            <p:nvPr/>
          </p:nvPicPr>
          <p:blipFill rotWithShape="1">
            <a:blip r:embed="rId19">
              <a:alphaModFix/>
            </a:blip>
            <a:srcRect b="0" l="0" r="0" t="0"/>
            <a:stretch/>
          </p:blipFill>
          <p:spPr>
            <a:xfrm>
              <a:off x="1842" y="1637"/>
              <a:ext cx="1642" cy="1203"/>
            </a:xfrm>
            <a:prstGeom prst="rect">
              <a:avLst/>
            </a:prstGeom>
            <a:noFill/>
            <a:ln>
              <a:noFill/>
            </a:ln>
          </p:spPr>
        </p:pic>
        <p:sp>
          <p:nvSpPr>
            <p:cNvPr id="6859" name="Google Shape;6859;p9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0" name="Google Shape;6860;p9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1" name="Google Shape;6861;p9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2" name="Google Shape;6862;p9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3" name="Google Shape;6863;p9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4" name="Google Shape;6864;p9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865" name="Google Shape;6865;p93"/>
            <p:cNvGrpSpPr/>
            <p:nvPr/>
          </p:nvGrpSpPr>
          <p:grpSpPr>
            <a:xfrm>
              <a:off x="1709" y="3008"/>
              <a:ext cx="507" cy="234"/>
              <a:chOff x="1740" y="2642"/>
              <a:chExt cx="752" cy="327"/>
            </a:xfrm>
          </p:grpSpPr>
          <p:sp>
            <p:nvSpPr>
              <p:cNvPr id="6866" name="Google Shape;6866;p9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7" name="Google Shape;6867;p9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8" name="Google Shape;6868;p9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9" name="Google Shape;6869;p9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0" name="Google Shape;6870;p9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1" name="Google Shape;6871;p9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872" name="Google Shape;6872;p9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3" name="Google Shape;6873;p9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4" name="Google Shape;6874;p9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5" name="Google Shape;6875;p9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6" name="Google Shape;6876;p9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7" name="Google Shape;6877;p9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878" name="Google Shape;6878;p9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3" name="Shape 6883"/>
        <p:cNvGrpSpPr/>
        <p:nvPr/>
      </p:nvGrpSpPr>
      <p:grpSpPr>
        <a:xfrm>
          <a:off x="0" y="0"/>
          <a:ext cx="0" cy="0"/>
          <a:chOff x="0" y="0"/>
          <a:chExt cx="0" cy="0"/>
        </a:xfrm>
      </p:grpSpPr>
      <p:sp>
        <p:nvSpPr>
          <p:cNvPr id="6884" name="Google Shape;6884;p9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6885" name="Google Shape;6885;p9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File distribution: client-server vs P2P</a:t>
            </a:r>
            <a:endParaRPr sz="4400"/>
          </a:p>
        </p:txBody>
      </p:sp>
      <p:sp>
        <p:nvSpPr>
          <p:cNvPr id="6886" name="Google Shape;6886;p94"/>
          <p:cNvSpPr txBox="1"/>
          <p:nvPr/>
        </p:nvSpPr>
        <p:spPr>
          <a:xfrm>
            <a:off x="863043" y="1302088"/>
            <a:ext cx="10515600" cy="1296775"/>
          </a:xfrm>
          <a:prstGeom prst="rect">
            <a:avLst/>
          </a:prstGeom>
          <a:noFill/>
          <a:ln>
            <a:noFill/>
          </a:ln>
        </p:spPr>
        <p:txBody>
          <a:bodyPr anchorCtr="0" anchor="t" bIns="45700" lIns="91425" spcFirstLastPara="1" rIns="91425" wrap="square" tIns="45700">
            <a:normAutofit lnSpcReduction="10000"/>
          </a:bodyPr>
          <a:lstStyle/>
          <a:p>
            <a:pPr indent="-542925" lvl="0" marL="608013" marR="0" rtl="0" algn="l">
              <a:lnSpc>
                <a:spcPct val="90000"/>
              </a:lnSpc>
              <a:spcBef>
                <a:spcPts val="0"/>
              </a:spcBef>
              <a:spcAft>
                <a:spcPts val="0"/>
              </a:spcAft>
              <a:buClr>
                <a:srgbClr val="0000A3"/>
              </a:buClr>
              <a:buSzPts val="3200"/>
              <a:buFont typeface="Noto Sans Symbols"/>
              <a:buNone/>
            </a:pPr>
            <a:r>
              <a:rPr i="1" lang="en-US" sz="3200" u="sng">
                <a:solidFill>
                  <a:srgbClr val="CC0000"/>
                </a:solidFill>
                <a:latin typeface="Calibri"/>
                <a:ea typeface="Calibri"/>
                <a:cs typeface="Calibri"/>
                <a:sym typeface="Calibri"/>
              </a:rPr>
              <a:t>Q</a:t>
            </a:r>
            <a:r>
              <a:rPr i="1" lang="en-US" sz="3200">
                <a:solidFill>
                  <a:srgbClr val="CC0000"/>
                </a:solidFill>
                <a:latin typeface="Calibri"/>
                <a:ea typeface="Calibri"/>
                <a:cs typeface="Calibri"/>
                <a:sym typeface="Calibri"/>
              </a:rPr>
              <a:t>:</a:t>
            </a:r>
            <a:r>
              <a:rPr lang="en-US" sz="3200">
                <a:solidFill>
                  <a:schemeClr val="dk1"/>
                </a:solidFill>
                <a:latin typeface="Calibri"/>
                <a:ea typeface="Calibri"/>
                <a:cs typeface="Calibri"/>
                <a:sym typeface="Calibri"/>
              </a:rPr>
              <a:t> how much time to distribute file (size </a:t>
            </a:r>
            <a:r>
              <a:rPr i="1" lang="en-US" sz="3200">
                <a:solidFill>
                  <a:schemeClr val="dk1"/>
                </a:solidFill>
                <a:latin typeface="Calibri"/>
                <a:ea typeface="Calibri"/>
                <a:cs typeface="Calibri"/>
                <a:sym typeface="Calibri"/>
              </a:rPr>
              <a:t>F</a:t>
            </a:r>
            <a:r>
              <a:rPr lang="en-US" sz="3200">
                <a:solidFill>
                  <a:schemeClr val="dk1"/>
                </a:solidFill>
                <a:latin typeface="Calibri"/>
                <a:ea typeface="Calibri"/>
                <a:cs typeface="Calibri"/>
                <a:sym typeface="Calibri"/>
              </a:rPr>
              <a:t>) from one server to  </a:t>
            </a:r>
            <a:r>
              <a:rPr i="1" lang="en-US" sz="3200">
                <a:solidFill>
                  <a:schemeClr val="dk1"/>
                </a:solidFill>
                <a:latin typeface="Calibri"/>
                <a:ea typeface="Calibri"/>
                <a:cs typeface="Calibri"/>
                <a:sym typeface="Calibri"/>
              </a:rPr>
              <a:t>N  peers</a:t>
            </a:r>
            <a:r>
              <a:rPr lang="en-US" sz="3200">
                <a:solidFill>
                  <a:schemeClr val="dk1"/>
                </a:solidFill>
                <a:latin typeface="Calibri"/>
                <a:ea typeface="Calibri"/>
                <a:cs typeface="Calibri"/>
                <a:sym typeface="Calibri"/>
              </a:rPr>
              <a:t>?</a:t>
            </a:r>
            <a:endParaRPr/>
          </a:p>
          <a:p>
            <a:pPr indent="-238125" lvl="1" marL="858838"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peer upload/download capacity is limited resource</a:t>
            </a:r>
            <a:endParaRPr/>
          </a:p>
        </p:txBody>
      </p:sp>
      <p:sp>
        <p:nvSpPr>
          <p:cNvPr id="6887" name="Google Shape;6887;p94"/>
          <p:cNvSpPr/>
          <p:nvPr/>
        </p:nvSpPr>
        <p:spPr>
          <a:xfrm>
            <a:off x="4208462" y="4079079"/>
            <a:ext cx="3775075" cy="1755775"/>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CC"/>
              </a:buClr>
              <a:buSzPts val="2040"/>
              <a:buFont typeface="Arial"/>
              <a:buNone/>
            </a:pPr>
            <a:r>
              <a:t/>
            </a:r>
            <a:endParaRPr sz="2400">
              <a:solidFill>
                <a:srgbClr val="000000"/>
              </a:solidFill>
              <a:latin typeface="Arial"/>
              <a:ea typeface="Arial"/>
              <a:cs typeface="Arial"/>
              <a:sym typeface="Arial"/>
            </a:endParaRPr>
          </a:p>
        </p:txBody>
      </p:sp>
      <p:cxnSp>
        <p:nvCxnSpPr>
          <p:cNvPr id="6888" name="Google Shape;6888;p94"/>
          <p:cNvCxnSpPr/>
          <p:nvPr/>
        </p:nvCxnSpPr>
        <p:spPr>
          <a:xfrm>
            <a:off x="3743324" y="4042566"/>
            <a:ext cx="803275" cy="311150"/>
          </a:xfrm>
          <a:prstGeom prst="straightConnector1">
            <a:avLst/>
          </a:prstGeom>
          <a:noFill/>
          <a:ln cap="flat" cmpd="sng" w="9525">
            <a:solidFill>
              <a:srgbClr val="000000"/>
            </a:solidFill>
            <a:prstDash val="solid"/>
            <a:round/>
            <a:headEnd len="med" w="med" type="none"/>
            <a:tailEnd len="med" w="med" type="triangle"/>
          </a:ln>
        </p:spPr>
      </p:cxnSp>
      <p:sp>
        <p:nvSpPr>
          <p:cNvPr id="6889" name="Google Shape;6889;p94"/>
          <p:cNvSpPr txBox="1"/>
          <p:nvPr/>
        </p:nvSpPr>
        <p:spPr>
          <a:xfrm>
            <a:off x="4027487" y="3840954"/>
            <a:ext cx="41229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u</a:t>
            </a:r>
            <a:r>
              <a:rPr b="0" baseline="-25000" i="1" lang="en-US" sz="2000" u="none" cap="none" strike="noStrike">
                <a:solidFill>
                  <a:srgbClr val="000000"/>
                </a:solidFill>
                <a:latin typeface="Arial"/>
                <a:ea typeface="Arial"/>
                <a:cs typeface="Arial"/>
                <a:sym typeface="Arial"/>
              </a:rPr>
              <a:t>s</a:t>
            </a:r>
            <a:endParaRPr/>
          </a:p>
        </p:txBody>
      </p:sp>
      <p:cxnSp>
        <p:nvCxnSpPr>
          <p:cNvPr id="6890" name="Google Shape;6890;p94"/>
          <p:cNvCxnSpPr/>
          <p:nvPr/>
        </p:nvCxnSpPr>
        <p:spPr>
          <a:xfrm>
            <a:off x="3300412" y="4953791"/>
            <a:ext cx="1016000" cy="0"/>
          </a:xfrm>
          <a:prstGeom prst="straightConnector1">
            <a:avLst/>
          </a:prstGeom>
          <a:noFill/>
          <a:ln cap="flat" cmpd="sng" w="9525">
            <a:solidFill>
              <a:srgbClr val="000000"/>
            </a:solidFill>
            <a:prstDash val="solid"/>
            <a:round/>
            <a:headEnd len="med" w="med" type="none"/>
            <a:tailEnd len="med" w="med" type="triangle"/>
          </a:ln>
        </p:spPr>
      </p:cxnSp>
      <p:cxnSp>
        <p:nvCxnSpPr>
          <p:cNvPr id="6891" name="Google Shape;6891;p94"/>
          <p:cNvCxnSpPr/>
          <p:nvPr/>
        </p:nvCxnSpPr>
        <p:spPr>
          <a:xfrm rot="10800000">
            <a:off x="3355974" y="5101429"/>
            <a:ext cx="1003300" cy="0"/>
          </a:xfrm>
          <a:prstGeom prst="straightConnector1">
            <a:avLst/>
          </a:prstGeom>
          <a:noFill/>
          <a:ln cap="flat" cmpd="sng" w="9525">
            <a:solidFill>
              <a:srgbClr val="000000"/>
            </a:solidFill>
            <a:prstDash val="solid"/>
            <a:round/>
            <a:headEnd len="med" w="med" type="none"/>
            <a:tailEnd len="med" w="med" type="triangle"/>
          </a:ln>
        </p:spPr>
      </p:cxnSp>
      <p:sp>
        <p:nvSpPr>
          <p:cNvPr id="6892" name="Google Shape;6892;p94"/>
          <p:cNvSpPr txBox="1"/>
          <p:nvPr/>
        </p:nvSpPr>
        <p:spPr>
          <a:xfrm>
            <a:off x="3589337" y="4564854"/>
            <a:ext cx="6096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u</a:t>
            </a:r>
            <a:r>
              <a:rPr b="0" baseline="-25000" i="1" lang="en-US" sz="2000" u="none" cap="none" strike="noStrike">
                <a:solidFill>
                  <a:srgbClr val="000000"/>
                </a:solidFill>
                <a:latin typeface="Arial"/>
                <a:ea typeface="Arial"/>
                <a:cs typeface="Arial"/>
                <a:sym typeface="Arial"/>
              </a:rPr>
              <a:t>N</a:t>
            </a:r>
            <a:endParaRPr/>
          </a:p>
        </p:txBody>
      </p:sp>
      <p:sp>
        <p:nvSpPr>
          <p:cNvPr id="6893" name="Google Shape;6893;p94"/>
          <p:cNvSpPr txBox="1"/>
          <p:nvPr/>
        </p:nvSpPr>
        <p:spPr>
          <a:xfrm>
            <a:off x="3570287" y="5079204"/>
            <a:ext cx="6096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d</a:t>
            </a:r>
            <a:r>
              <a:rPr b="0" baseline="-25000" i="1" lang="en-US" sz="2000" u="none" cap="none" strike="noStrike">
                <a:solidFill>
                  <a:srgbClr val="000000"/>
                </a:solidFill>
                <a:latin typeface="Arial"/>
                <a:ea typeface="Arial"/>
                <a:cs typeface="Arial"/>
                <a:sym typeface="Arial"/>
              </a:rPr>
              <a:t>N</a:t>
            </a:r>
            <a:endParaRPr/>
          </a:p>
        </p:txBody>
      </p:sp>
      <p:sp>
        <p:nvSpPr>
          <p:cNvPr id="6894" name="Google Shape;6894;p94"/>
          <p:cNvSpPr txBox="1"/>
          <p:nvPr/>
        </p:nvSpPr>
        <p:spPr>
          <a:xfrm>
            <a:off x="3070224" y="4063204"/>
            <a:ext cx="117316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server</a:t>
            </a:r>
            <a:endParaRPr b="0" baseline="-25000" i="0" sz="2000" u="none" cap="none" strike="noStrike">
              <a:solidFill>
                <a:srgbClr val="000000"/>
              </a:solidFill>
              <a:latin typeface="Arial"/>
              <a:ea typeface="Arial"/>
              <a:cs typeface="Arial"/>
              <a:sym typeface="Arial"/>
            </a:endParaRPr>
          </a:p>
        </p:txBody>
      </p:sp>
      <p:sp>
        <p:nvSpPr>
          <p:cNvPr id="6895" name="Google Shape;6895;p94"/>
          <p:cNvSpPr txBox="1"/>
          <p:nvPr/>
        </p:nvSpPr>
        <p:spPr>
          <a:xfrm>
            <a:off x="4605759" y="4590254"/>
            <a:ext cx="2834430"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network (with abundant</a:t>
            </a:r>
            <a:endParaRPr/>
          </a:p>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 bandwidth)</a:t>
            </a:r>
            <a:endParaRPr/>
          </a:p>
        </p:txBody>
      </p:sp>
      <p:sp>
        <p:nvSpPr>
          <p:cNvPr id="6896" name="Google Shape;6896;p94"/>
          <p:cNvSpPr txBox="1"/>
          <p:nvPr/>
        </p:nvSpPr>
        <p:spPr>
          <a:xfrm>
            <a:off x="2178049" y="3815554"/>
            <a:ext cx="1397000"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file, size F</a:t>
            </a:r>
            <a:endParaRPr b="0" baseline="-25000" i="1" sz="1800" u="none" cap="none" strike="noStrike">
              <a:solidFill>
                <a:srgbClr val="000000"/>
              </a:solidFill>
              <a:latin typeface="Arial"/>
              <a:ea typeface="Arial"/>
              <a:cs typeface="Arial"/>
              <a:sym typeface="Arial"/>
            </a:endParaRPr>
          </a:p>
        </p:txBody>
      </p:sp>
      <p:sp>
        <p:nvSpPr>
          <p:cNvPr id="6897" name="Google Shape;6897;p94"/>
          <p:cNvSpPr txBox="1"/>
          <p:nvPr/>
        </p:nvSpPr>
        <p:spPr>
          <a:xfrm>
            <a:off x="3348953" y="2641737"/>
            <a:ext cx="2486510" cy="722955"/>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400"/>
              <a:buFont typeface="Calibri"/>
              <a:buNone/>
            </a:pPr>
            <a:r>
              <a:rPr b="1" i="1" lang="en-US" sz="2400" u="none" cap="none" strike="noStrike">
                <a:solidFill>
                  <a:srgbClr val="CC0000"/>
                </a:solidFill>
                <a:latin typeface="Calibri"/>
                <a:ea typeface="Calibri"/>
                <a:cs typeface="Calibri"/>
                <a:sym typeface="Calibri"/>
              </a:rPr>
              <a:t>u</a:t>
            </a:r>
            <a:r>
              <a:rPr b="1" baseline="-25000" i="1" lang="en-US" sz="2400" u="none" cap="none" strike="noStrike">
                <a:solidFill>
                  <a:srgbClr val="CC0000"/>
                </a:solidFill>
                <a:latin typeface="Calibri"/>
                <a:ea typeface="Calibri"/>
                <a:cs typeface="Calibri"/>
                <a:sym typeface="Calibri"/>
              </a:rPr>
              <a:t>s</a:t>
            </a:r>
            <a:r>
              <a:rPr b="1" i="1" lang="en-US" sz="2400" u="none" cap="none" strike="noStrike">
                <a:solidFill>
                  <a:srgbClr val="CC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server upload capacity</a:t>
            </a:r>
            <a:endParaRPr b="0" i="0" sz="2000" u="none" cap="none" strike="noStrike">
              <a:solidFill>
                <a:srgbClr val="000000"/>
              </a:solidFill>
              <a:latin typeface="Calibri"/>
              <a:ea typeface="Calibri"/>
              <a:cs typeface="Calibri"/>
              <a:sym typeface="Calibri"/>
            </a:endParaRPr>
          </a:p>
        </p:txBody>
      </p:sp>
      <p:sp>
        <p:nvSpPr>
          <p:cNvPr id="6898" name="Google Shape;6898;p94"/>
          <p:cNvSpPr txBox="1"/>
          <p:nvPr/>
        </p:nvSpPr>
        <p:spPr>
          <a:xfrm>
            <a:off x="8201024" y="5482429"/>
            <a:ext cx="2590800" cy="722955"/>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400"/>
              <a:buFont typeface="Calibri"/>
              <a:buNone/>
            </a:pPr>
            <a:r>
              <a:rPr b="1" i="1" lang="en-US" sz="2400" u="none" cap="none" strike="noStrike">
                <a:solidFill>
                  <a:srgbClr val="CC0000"/>
                </a:solidFill>
                <a:latin typeface="Calibri"/>
                <a:ea typeface="Calibri"/>
                <a:cs typeface="Calibri"/>
                <a:sym typeface="Calibri"/>
              </a:rPr>
              <a:t>u</a:t>
            </a:r>
            <a:r>
              <a:rPr b="1" baseline="-25000" i="1" lang="en-US" sz="2400" u="none" cap="none" strike="noStrike">
                <a:solidFill>
                  <a:srgbClr val="CC0000"/>
                </a:solidFill>
                <a:latin typeface="Calibri"/>
                <a:ea typeface="Calibri"/>
                <a:cs typeface="Calibri"/>
                <a:sym typeface="Calibri"/>
              </a:rPr>
              <a:t>i</a:t>
            </a:r>
            <a:r>
              <a:rPr b="1" i="1" lang="en-US" sz="2400" u="none" cap="none" strike="noStrike">
                <a:solidFill>
                  <a:srgbClr val="CC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peer i upload capacity</a:t>
            </a:r>
            <a:endParaRPr/>
          </a:p>
        </p:txBody>
      </p:sp>
      <p:sp>
        <p:nvSpPr>
          <p:cNvPr id="6899" name="Google Shape;6899;p94"/>
          <p:cNvSpPr txBox="1"/>
          <p:nvPr/>
        </p:nvSpPr>
        <p:spPr>
          <a:xfrm>
            <a:off x="8263868" y="3463243"/>
            <a:ext cx="2743200" cy="722955"/>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400"/>
              <a:buFont typeface="Calibri"/>
              <a:buNone/>
            </a:pPr>
            <a:r>
              <a:rPr b="1" i="1" lang="en-US" sz="2400" u="none" cap="none" strike="noStrike">
                <a:solidFill>
                  <a:srgbClr val="CC0000"/>
                </a:solidFill>
                <a:latin typeface="Calibri"/>
                <a:ea typeface="Calibri"/>
                <a:cs typeface="Calibri"/>
                <a:sym typeface="Calibri"/>
              </a:rPr>
              <a:t>d</a:t>
            </a:r>
            <a:r>
              <a:rPr b="1" baseline="-25000" i="1" lang="en-US" sz="2400" u="none" cap="none" strike="noStrike">
                <a:solidFill>
                  <a:srgbClr val="CC0000"/>
                </a:solidFill>
                <a:latin typeface="Calibri"/>
                <a:ea typeface="Calibri"/>
                <a:cs typeface="Calibri"/>
                <a:sym typeface="Calibri"/>
              </a:rPr>
              <a:t>i</a:t>
            </a:r>
            <a:r>
              <a:rPr b="1" i="1" lang="en-US" sz="2400" u="none" cap="none" strike="noStrike">
                <a:solidFill>
                  <a:srgbClr val="CC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peer i download capacity</a:t>
            </a:r>
            <a:endParaRPr b="0" i="0" sz="2000" u="none" cap="none" strike="noStrike">
              <a:solidFill>
                <a:srgbClr val="000000"/>
              </a:solidFill>
              <a:latin typeface="Calibri"/>
              <a:ea typeface="Calibri"/>
              <a:cs typeface="Calibri"/>
              <a:sym typeface="Calibri"/>
            </a:endParaRPr>
          </a:p>
        </p:txBody>
      </p:sp>
      <p:sp>
        <p:nvSpPr>
          <p:cNvPr id="6900" name="Google Shape;6900;p94"/>
          <p:cNvSpPr/>
          <p:nvPr/>
        </p:nvSpPr>
        <p:spPr>
          <a:xfrm>
            <a:off x="2687637" y="3261516"/>
            <a:ext cx="592137" cy="581025"/>
          </a:xfrm>
          <a:prstGeom prst="can">
            <a:avLst>
              <a:gd fmla="val 20218" name="adj"/>
            </a:avLst>
          </a:prstGeom>
          <a:gradFill>
            <a:gsLst>
              <a:gs pos="0">
                <a:srgbClr val="000099"/>
              </a:gs>
              <a:gs pos="100000">
                <a:srgbClr val="FFFFFF"/>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grpSp>
        <p:nvGrpSpPr>
          <p:cNvPr id="6901" name="Google Shape;6901;p94"/>
          <p:cNvGrpSpPr/>
          <p:nvPr/>
        </p:nvGrpSpPr>
        <p:grpSpPr>
          <a:xfrm>
            <a:off x="5422899" y="3539329"/>
            <a:ext cx="2138363" cy="903287"/>
            <a:chOff x="2204" y="2030"/>
            <a:chExt cx="1347" cy="774"/>
          </a:xfrm>
        </p:grpSpPr>
        <p:sp>
          <p:nvSpPr>
            <p:cNvPr id="6902" name="Google Shape;6902;p94"/>
            <p:cNvSpPr txBox="1"/>
            <p:nvPr/>
          </p:nvSpPr>
          <p:spPr>
            <a:xfrm>
              <a:off x="2856" y="2271"/>
              <a:ext cx="384" cy="3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u</a:t>
              </a:r>
              <a:r>
                <a:rPr b="0" baseline="-25000" i="1" lang="en-US" sz="2000" u="none" cap="none" strike="noStrike">
                  <a:solidFill>
                    <a:srgbClr val="000000"/>
                  </a:solidFill>
                  <a:latin typeface="Arial"/>
                  <a:ea typeface="Arial"/>
                  <a:cs typeface="Arial"/>
                  <a:sym typeface="Arial"/>
                </a:rPr>
                <a:t>2</a:t>
              </a:r>
              <a:endParaRPr/>
            </a:p>
          </p:txBody>
        </p:sp>
        <p:cxnSp>
          <p:nvCxnSpPr>
            <p:cNvPr id="6903" name="Google Shape;6903;p94"/>
            <p:cNvCxnSpPr/>
            <p:nvPr/>
          </p:nvCxnSpPr>
          <p:spPr>
            <a:xfrm flipH="1" rot="10800000">
              <a:off x="2997" y="2133"/>
              <a:ext cx="200" cy="657"/>
            </a:xfrm>
            <a:prstGeom prst="straightConnector1">
              <a:avLst/>
            </a:prstGeom>
            <a:noFill/>
            <a:ln cap="flat" cmpd="sng" w="9525">
              <a:solidFill>
                <a:srgbClr val="000000"/>
              </a:solidFill>
              <a:prstDash val="solid"/>
              <a:round/>
              <a:headEnd len="med" w="med" type="triangle"/>
              <a:tailEnd len="med" w="med" type="none"/>
            </a:ln>
          </p:spPr>
        </p:cxnSp>
        <p:cxnSp>
          <p:nvCxnSpPr>
            <p:cNvPr id="6904" name="Google Shape;6904;p94"/>
            <p:cNvCxnSpPr/>
            <p:nvPr/>
          </p:nvCxnSpPr>
          <p:spPr>
            <a:xfrm flipH="1">
              <a:off x="3082" y="2141"/>
              <a:ext cx="208" cy="663"/>
            </a:xfrm>
            <a:prstGeom prst="straightConnector1">
              <a:avLst/>
            </a:prstGeom>
            <a:noFill/>
            <a:ln cap="flat" cmpd="sng" w="9525">
              <a:solidFill>
                <a:srgbClr val="000000"/>
              </a:solidFill>
              <a:prstDash val="solid"/>
              <a:round/>
              <a:headEnd len="med" w="med" type="triangle"/>
              <a:tailEnd len="med" w="med" type="none"/>
            </a:ln>
          </p:spPr>
        </p:cxnSp>
        <p:sp>
          <p:nvSpPr>
            <p:cNvPr id="6905" name="Google Shape;6905;p94"/>
            <p:cNvSpPr txBox="1"/>
            <p:nvPr/>
          </p:nvSpPr>
          <p:spPr>
            <a:xfrm>
              <a:off x="3167" y="2332"/>
              <a:ext cx="384" cy="3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d</a:t>
              </a:r>
              <a:r>
                <a:rPr b="0" baseline="-25000" i="1" lang="en-US" sz="2000" u="none" cap="none" strike="noStrike">
                  <a:solidFill>
                    <a:srgbClr val="000000"/>
                  </a:solidFill>
                  <a:latin typeface="Arial"/>
                  <a:ea typeface="Arial"/>
                  <a:cs typeface="Arial"/>
                  <a:sym typeface="Arial"/>
                </a:rPr>
                <a:t>2</a:t>
              </a:r>
              <a:endParaRPr/>
            </a:p>
          </p:txBody>
        </p:sp>
        <p:sp>
          <p:nvSpPr>
            <p:cNvPr id="6906" name="Google Shape;6906;p94"/>
            <p:cNvSpPr txBox="1"/>
            <p:nvPr/>
          </p:nvSpPr>
          <p:spPr>
            <a:xfrm>
              <a:off x="2204" y="2167"/>
              <a:ext cx="384" cy="3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u</a:t>
              </a:r>
              <a:r>
                <a:rPr b="0" baseline="-25000" i="1" lang="en-US" sz="2000" u="none" cap="none" strike="noStrike">
                  <a:solidFill>
                    <a:srgbClr val="000000"/>
                  </a:solidFill>
                  <a:latin typeface="Arial"/>
                  <a:ea typeface="Arial"/>
                  <a:cs typeface="Arial"/>
                  <a:sym typeface="Arial"/>
                </a:rPr>
                <a:t>1</a:t>
              </a:r>
              <a:endParaRPr/>
            </a:p>
          </p:txBody>
        </p:sp>
        <p:cxnSp>
          <p:nvCxnSpPr>
            <p:cNvPr id="6907" name="Google Shape;6907;p94"/>
            <p:cNvCxnSpPr/>
            <p:nvPr/>
          </p:nvCxnSpPr>
          <p:spPr>
            <a:xfrm flipH="1" rot="10800000">
              <a:off x="2345" y="2030"/>
              <a:ext cx="200" cy="657"/>
            </a:xfrm>
            <a:prstGeom prst="straightConnector1">
              <a:avLst/>
            </a:prstGeom>
            <a:noFill/>
            <a:ln cap="flat" cmpd="sng" w="9525">
              <a:solidFill>
                <a:srgbClr val="000000"/>
              </a:solidFill>
              <a:prstDash val="solid"/>
              <a:round/>
              <a:headEnd len="med" w="med" type="triangle"/>
              <a:tailEnd len="med" w="med" type="none"/>
            </a:ln>
          </p:spPr>
        </p:cxnSp>
        <p:cxnSp>
          <p:nvCxnSpPr>
            <p:cNvPr id="6908" name="Google Shape;6908;p94"/>
            <p:cNvCxnSpPr/>
            <p:nvPr/>
          </p:nvCxnSpPr>
          <p:spPr>
            <a:xfrm flipH="1">
              <a:off x="2430" y="2038"/>
              <a:ext cx="208" cy="663"/>
            </a:xfrm>
            <a:prstGeom prst="straightConnector1">
              <a:avLst/>
            </a:prstGeom>
            <a:noFill/>
            <a:ln cap="flat" cmpd="sng" w="9525">
              <a:solidFill>
                <a:srgbClr val="000000"/>
              </a:solidFill>
              <a:prstDash val="solid"/>
              <a:round/>
              <a:headEnd len="med" w="med" type="triangle"/>
              <a:tailEnd len="med" w="med" type="none"/>
            </a:ln>
          </p:spPr>
        </p:cxnSp>
        <p:sp>
          <p:nvSpPr>
            <p:cNvPr id="6909" name="Google Shape;6909;p94"/>
            <p:cNvSpPr txBox="1"/>
            <p:nvPr/>
          </p:nvSpPr>
          <p:spPr>
            <a:xfrm>
              <a:off x="2515" y="2229"/>
              <a:ext cx="384" cy="3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d</a:t>
              </a:r>
              <a:r>
                <a:rPr b="0" baseline="-25000" i="1" lang="en-US" sz="2000" u="none" cap="none" strike="noStrike">
                  <a:solidFill>
                    <a:srgbClr val="000000"/>
                  </a:solidFill>
                  <a:latin typeface="Arial"/>
                  <a:ea typeface="Arial"/>
                  <a:cs typeface="Arial"/>
                  <a:sym typeface="Arial"/>
                </a:rPr>
                <a:t>1</a:t>
              </a:r>
              <a:endParaRPr/>
            </a:p>
          </p:txBody>
        </p:sp>
      </p:grpSp>
      <p:cxnSp>
        <p:nvCxnSpPr>
          <p:cNvPr id="6910" name="Google Shape;6910;p94"/>
          <p:cNvCxnSpPr/>
          <p:nvPr/>
        </p:nvCxnSpPr>
        <p:spPr>
          <a:xfrm>
            <a:off x="7954962" y="4758529"/>
            <a:ext cx="1165225" cy="0"/>
          </a:xfrm>
          <a:prstGeom prst="straightConnector1">
            <a:avLst/>
          </a:prstGeom>
          <a:noFill/>
          <a:ln cap="flat" cmpd="sng" w="19050">
            <a:solidFill>
              <a:srgbClr val="000000"/>
            </a:solidFill>
            <a:prstDash val="solid"/>
            <a:round/>
            <a:headEnd len="med" w="med" type="none"/>
            <a:tailEnd len="med" w="med" type="triangle"/>
          </a:ln>
        </p:spPr>
      </p:cxnSp>
      <p:cxnSp>
        <p:nvCxnSpPr>
          <p:cNvPr id="6911" name="Google Shape;6911;p94"/>
          <p:cNvCxnSpPr/>
          <p:nvPr/>
        </p:nvCxnSpPr>
        <p:spPr>
          <a:xfrm>
            <a:off x="7962899" y="4910929"/>
            <a:ext cx="1165225" cy="0"/>
          </a:xfrm>
          <a:prstGeom prst="straightConnector1">
            <a:avLst/>
          </a:prstGeom>
          <a:noFill/>
          <a:ln cap="flat" cmpd="sng" w="19050">
            <a:solidFill>
              <a:srgbClr val="000000"/>
            </a:solidFill>
            <a:prstDash val="solid"/>
            <a:round/>
            <a:headEnd len="med" w="med" type="triangle"/>
            <a:tailEnd len="med" w="med" type="none"/>
          </a:ln>
        </p:spPr>
      </p:cxnSp>
      <p:sp>
        <p:nvSpPr>
          <p:cNvPr id="6912" name="Google Shape;6912;p94"/>
          <p:cNvSpPr txBox="1"/>
          <p:nvPr/>
        </p:nvSpPr>
        <p:spPr>
          <a:xfrm>
            <a:off x="8115299" y="4347366"/>
            <a:ext cx="6096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d</a:t>
            </a:r>
            <a:r>
              <a:rPr b="0" baseline="-25000" i="1" lang="en-US" sz="2000" u="none" cap="none" strike="noStrike">
                <a:solidFill>
                  <a:srgbClr val="000000"/>
                </a:solidFill>
                <a:latin typeface="Arial"/>
                <a:ea typeface="Arial"/>
                <a:cs typeface="Arial"/>
                <a:sym typeface="Arial"/>
              </a:rPr>
              <a:t>i</a:t>
            </a:r>
            <a:endParaRPr/>
          </a:p>
        </p:txBody>
      </p:sp>
      <p:sp>
        <p:nvSpPr>
          <p:cNvPr id="6913" name="Google Shape;6913;p94"/>
          <p:cNvSpPr txBox="1"/>
          <p:nvPr/>
        </p:nvSpPr>
        <p:spPr>
          <a:xfrm>
            <a:off x="8139112" y="4880766"/>
            <a:ext cx="6096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u</a:t>
            </a:r>
            <a:r>
              <a:rPr b="0" baseline="-25000" i="1" lang="en-US" sz="2000" u="none" cap="none" strike="noStrike">
                <a:solidFill>
                  <a:srgbClr val="000000"/>
                </a:solidFill>
                <a:latin typeface="Arial"/>
                <a:ea typeface="Arial"/>
                <a:cs typeface="Arial"/>
                <a:sym typeface="Arial"/>
              </a:rPr>
              <a:t>i</a:t>
            </a:r>
            <a:endParaRPr/>
          </a:p>
        </p:txBody>
      </p:sp>
      <p:cxnSp>
        <p:nvCxnSpPr>
          <p:cNvPr id="6914" name="Google Shape;6914;p94"/>
          <p:cNvCxnSpPr/>
          <p:nvPr/>
        </p:nvCxnSpPr>
        <p:spPr>
          <a:xfrm>
            <a:off x="4189412" y="3223416"/>
            <a:ext cx="0" cy="663575"/>
          </a:xfrm>
          <a:prstGeom prst="straightConnector1">
            <a:avLst/>
          </a:prstGeom>
          <a:noFill/>
          <a:ln cap="flat" cmpd="sng" w="19050">
            <a:solidFill>
              <a:srgbClr val="CC0000"/>
            </a:solidFill>
            <a:prstDash val="solid"/>
            <a:round/>
            <a:headEnd len="med" w="med" type="none"/>
            <a:tailEnd len="med" w="med" type="none"/>
          </a:ln>
        </p:spPr>
      </p:cxnSp>
      <p:cxnSp>
        <p:nvCxnSpPr>
          <p:cNvPr id="6915" name="Google Shape;6915;p94"/>
          <p:cNvCxnSpPr/>
          <p:nvPr/>
        </p:nvCxnSpPr>
        <p:spPr>
          <a:xfrm flipH="1">
            <a:off x="8402637" y="4137816"/>
            <a:ext cx="369887" cy="414338"/>
          </a:xfrm>
          <a:prstGeom prst="straightConnector1">
            <a:avLst/>
          </a:prstGeom>
          <a:noFill/>
          <a:ln cap="flat" cmpd="sng" w="19050">
            <a:solidFill>
              <a:srgbClr val="CC0000"/>
            </a:solidFill>
            <a:prstDash val="solid"/>
            <a:round/>
            <a:headEnd len="med" w="med" type="none"/>
            <a:tailEnd len="med" w="med" type="none"/>
          </a:ln>
        </p:spPr>
      </p:cxnSp>
      <p:cxnSp>
        <p:nvCxnSpPr>
          <p:cNvPr id="6916" name="Google Shape;6916;p94"/>
          <p:cNvCxnSpPr/>
          <p:nvPr/>
        </p:nvCxnSpPr>
        <p:spPr>
          <a:xfrm rot="10800000">
            <a:off x="8432799" y="5083966"/>
            <a:ext cx="369888" cy="414338"/>
          </a:xfrm>
          <a:prstGeom prst="straightConnector1">
            <a:avLst/>
          </a:prstGeom>
          <a:noFill/>
          <a:ln cap="flat" cmpd="sng" w="19050">
            <a:solidFill>
              <a:srgbClr val="CC0000"/>
            </a:solidFill>
            <a:prstDash val="solid"/>
            <a:round/>
            <a:headEnd len="med" w="med" type="none"/>
            <a:tailEnd len="med" w="med" type="none"/>
          </a:ln>
        </p:spPr>
      </p:cxnSp>
      <p:grpSp>
        <p:nvGrpSpPr>
          <p:cNvPr id="6917" name="Google Shape;6917;p94"/>
          <p:cNvGrpSpPr/>
          <p:nvPr/>
        </p:nvGrpSpPr>
        <p:grpSpPr>
          <a:xfrm>
            <a:off x="3459162" y="3323429"/>
            <a:ext cx="465137" cy="803275"/>
            <a:chOff x="4140" y="429"/>
            <a:chExt cx="1425" cy="2396"/>
          </a:xfrm>
        </p:grpSpPr>
        <p:sp>
          <p:nvSpPr>
            <p:cNvPr id="6918" name="Google Shape;6918;p9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19" name="Google Shape;6919;p94"/>
            <p:cNvSpPr/>
            <p:nvPr/>
          </p:nvSpPr>
          <p:spPr>
            <a:xfrm>
              <a:off x="4208" y="429"/>
              <a:ext cx="1046"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20" name="Google Shape;6920;p9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21" name="Google Shape;6921;p9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22" name="Google Shape;6922;p94"/>
            <p:cNvSpPr/>
            <p:nvPr/>
          </p:nvSpPr>
          <p:spPr>
            <a:xfrm>
              <a:off x="4213" y="694"/>
              <a:ext cx="593"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nvGrpSpPr>
            <p:cNvPr id="6923" name="Google Shape;6923;p94"/>
            <p:cNvGrpSpPr/>
            <p:nvPr/>
          </p:nvGrpSpPr>
          <p:grpSpPr>
            <a:xfrm>
              <a:off x="4748" y="666"/>
              <a:ext cx="583" cy="147"/>
              <a:chOff x="613" y="2566"/>
              <a:chExt cx="728" cy="141"/>
            </a:xfrm>
          </p:grpSpPr>
          <p:sp>
            <p:nvSpPr>
              <p:cNvPr id="6924" name="Google Shape;6924;p94"/>
              <p:cNvSpPr/>
              <p:nvPr/>
            </p:nvSpPr>
            <p:spPr>
              <a:xfrm>
                <a:off x="613" y="2566"/>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25" name="Google Shape;6925;p94"/>
              <p:cNvSpPr/>
              <p:nvPr/>
            </p:nvSpPr>
            <p:spPr>
              <a:xfrm>
                <a:off x="631" y="2584"/>
                <a:ext cx="692"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sp>
          <p:nvSpPr>
            <p:cNvPr id="6926" name="Google Shape;6926;p94"/>
            <p:cNvSpPr/>
            <p:nvPr/>
          </p:nvSpPr>
          <p:spPr>
            <a:xfrm>
              <a:off x="4223" y="1021"/>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nvGrpSpPr>
            <p:cNvPr id="6927" name="Google Shape;6927;p94"/>
            <p:cNvGrpSpPr/>
            <p:nvPr/>
          </p:nvGrpSpPr>
          <p:grpSpPr>
            <a:xfrm>
              <a:off x="4748" y="992"/>
              <a:ext cx="579" cy="137"/>
              <a:chOff x="615" y="2566"/>
              <a:chExt cx="722" cy="142"/>
            </a:xfrm>
          </p:grpSpPr>
          <p:sp>
            <p:nvSpPr>
              <p:cNvPr id="6928" name="Google Shape;6928;p94"/>
              <p:cNvSpPr/>
              <p:nvPr/>
            </p:nvSpPr>
            <p:spPr>
              <a:xfrm>
                <a:off x="615" y="2566"/>
                <a:ext cx="722"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29" name="Google Shape;6929;p94"/>
              <p:cNvSpPr/>
              <p:nvPr/>
            </p:nvSpPr>
            <p:spPr>
              <a:xfrm>
                <a:off x="633" y="2581"/>
                <a:ext cx="68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sp>
          <p:nvSpPr>
            <p:cNvPr id="6930" name="Google Shape;6930;p94"/>
            <p:cNvSpPr/>
            <p:nvPr/>
          </p:nvSpPr>
          <p:spPr>
            <a:xfrm>
              <a:off x="4218" y="1357"/>
              <a:ext cx="593"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31" name="Google Shape;6931;p94"/>
            <p:cNvSpPr/>
            <p:nvPr/>
          </p:nvSpPr>
          <p:spPr>
            <a:xfrm>
              <a:off x="4228" y="1655"/>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nvGrpSpPr>
            <p:cNvPr id="6932" name="Google Shape;6932;p94"/>
            <p:cNvGrpSpPr/>
            <p:nvPr/>
          </p:nvGrpSpPr>
          <p:grpSpPr>
            <a:xfrm>
              <a:off x="4733" y="1627"/>
              <a:ext cx="584" cy="151"/>
              <a:chOff x="612" y="2568"/>
              <a:chExt cx="727" cy="139"/>
            </a:xfrm>
          </p:grpSpPr>
          <p:sp>
            <p:nvSpPr>
              <p:cNvPr id="6933" name="Google Shape;6933;p94"/>
              <p:cNvSpPr/>
              <p:nvPr/>
            </p:nvSpPr>
            <p:spPr>
              <a:xfrm>
                <a:off x="612" y="2568"/>
                <a:ext cx="727"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34" name="Google Shape;6934;p94"/>
              <p:cNvSpPr/>
              <p:nvPr/>
            </p:nvSpPr>
            <p:spPr>
              <a:xfrm>
                <a:off x="630" y="2585"/>
                <a:ext cx="691"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sp>
          <p:nvSpPr>
            <p:cNvPr id="6935" name="Google Shape;6935;p9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nvGrpSpPr>
            <p:cNvPr id="6936" name="Google Shape;6936;p94"/>
            <p:cNvGrpSpPr/>
            <p:nvPr/>
          </p:nvGrpSpPr>
          <p:grpSpPr>
            <a:xfrm>
              <a:off x="4738" y="1329"/>
              <a:ext cx="584" cy="137"/>
              <a:chOff x="613" y="2570"/>
              <a:chExt cx="727" cy="137"/>
            </a:xfrm>
          </p:grpSpPr>
          <p:sp>
            <p:nvSpPr>
              <p:cNvPr id="6937" name="Google Shape;6937;p94"/>
              <p:cNvSpPr/>
              <p:nvPr/>
            </p:nvSpPr>
            <p:spPr>
              <a:xfrm>
                <a:off x="613" y="2570"/>
                <a:ext cx="727"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38" name="Google Shape;6938;p94"/>
              <p:cNvSpPr/>
              <p:nvPr/>
            </p:nvSpPr>
            <p:spPr>
              <a:xfrm>
                <a:off x="631" y="2584"/>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sp>
          <p:nvSpPr>
            <p:cNvPr id="6939" name="Google Shape;6939;p94"/>
            <p:cNvSpPr/>
            <p:nvPr/>
          </p:nvSpPr>
          <p:spPr>
            <a:xfrm>
              <a:off x="5249" y="429"/>
              <a:ext cx="68"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40" name="Google Shape;6940;p9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41" name="Google Shape;6941;p9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42" name="Google Shape;6942;p94"/>
            <p:cNvSpPr/>
            <p:nvPr/>
          </p:nvSpPr>
          <p:spPr>
            <a:xfrm>
              <a:off x="5516" y="2612"/>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43" name="Google Shape;6943;p9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44" name="Google Shape;6944;p94"/>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45" name="Google Shape;6945;p94"/>
            <p:cNvSpPr/>
            <p:nvPr/>
          </p:nvSpPr>
          <p:spPr>
            <a:xfrm>
              <a:off x="4208" y="2711"/>
              <a:ext cx="1070" cy="80"/>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46" name="Google Shape;6946;p94"/>
            <p:cNvSpPr/>
            <p:nvPr/>
          </p:nvSpPr>
          <p:spPr>
            <a:xfrm>
              <a:off x="4310" y="2385"/>
              <a:ext cx="156"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47" name="Google Shape;6947;p94"/>
            <p:cNvSpPr/>
            <p:nvPr/>
          </p:nvSpPr>
          <p:spPr>
            <a:xfrm>
              <a:off x="4485" y="2385"/>
              <a:ext cx="160"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0000"/>
                </a:solidFill>
                <a:latin typeface="Arial"/>
                <a:ea typeface="Arial"/>
                <a:cs typeface="Arial"/>
                <a:sym typeface="Arial"/>
              </a:endParaRPr>
            </a:p>
          </p:txBody>
        </p:sp>
        <p:sp>
          <p:nvSpPr>
            <p:cNvPr id="6948" name="Google Shape;6948;p94"/>
            <p:cNvSpPr/>
            <p:nvPr/>
          </p:nvSpPr>
          <p:spPr>
            <a:xfrm>
              <a:off x="4660" y="2380"/>
              <a:ext cx="160"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sp>
          <p:nvSpPr>
            <p:cNvPr id="6949" name="Google Shape;6949;p94"/>
            <p:cNvSpPr/>
            <p:nvPr/>
          </p:nvSpPr>
          <p:spPr>
            <a:xfrm>
              <a:off x="5064" y="1835"/>
              <a:ext cx="83" cy="762"/>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grpSp>
        <p:nvGrpSpPr>
          <p:cNvPr id="6950" name="Google Shape;6950;p94"/>
          <p:cNvGrpSpPr/>
          <p:nvPr/>
        </p:nvGrpSpPr>
        <p:grpSpPr>
          <a:xfrm>
            <a:off x="2368549" y="4626766"/>
            <a:ext cx="925513" cy="795338"/>
            <a:chOff x="-44" y="1473"/>
            <a:chExt cx="981" cy="1105"/>
          </a:xfrm>
        </p:grpSpPr>
        <p:pic>
          <p:nvPicPr>
            <p:cNvPr descr="desktop_computer_stylized_medium" id="6951" name="Google Shape;6951;p9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952" name="Google Shape;6952;p9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grpSp>
        <p:nvGrpSpPr>
          <p:cNvPr id="6953" name="Google Shape;6953;p94"/>
          <p:cNvGrpSpPr/>
          <p:nvPr/>
        </p:nvGrpSpPr>
        <p:grpSpPr>
          <a:xfrm>
            <a:off x="5589587" y="2807491"/>
            <a:ext cx="925512" cy="795338"/>
            <a:chOff x="-44" y="1473"/>
            <a:chExt cx="981" cy="1105"/>
          </a:xfrm>
        </p:grpSpPr>
        <p:pic>
          <p:nvPicPr>
            <p:cNvPr descr="desktop_computer_stylized_medium" id="6954" name="Google Shape;6954;p9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955" name="Google Shape;6955;p9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grpSp>
        <p:nvGrpSpPr>
          <p:cNvPr id="6956" name="Google Shape;6956;p94"/>
          <p:cNvGrpSpPr/>
          <p:nvPr/>
        </p:nvGrpSpPr>
        <p:grpSpPr>
          <a:xfrm>
            <a:off x="6634162" y="2948779"/>
            <a:ext cx="925512" cy="795337"/>
            <a:chOff x="-44" y="1473"/>
            <a:chExt cx="981" cy="1105"/>
          </a:xfrm>
        </p:grpSpPr>
        <p:pic>
          <p:nvPicPr>
            <p:cNvPr descr="desktop_computer_stylized_medium" id="6957" name="Google Shape;6957;p9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958" name="Google Shape;6958;p9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grpSp>
        <p:nvGrpSpPr>
          <p:cNvPr id="6959" name="Google Shape;6959;p94"/>
          <p:cNvGrpSpPr/>
          <p:nvPr/>
        </p:nvGrpSpPr>
        <p:grpSpPr>
          <a:xfrm flipH="1">
            <a:off x="9104312" y="4396579"/>
            <a:ext cx="925512" cy="795337"/>
            <a:chOff x="-44" y="1473"/>
            <a:chExt cx="981" cy="1105"/>
          </a:xfrm>
        </p:grpSpPr>
        <p:pic>
          <p:nvPicPr>
            <p:cNvPr descr="desktop_computer_stylized_medium" id="6960" name="Google Shape;6960;p9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961" name="Google Shape;6961;p9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2040"/>
                <a:buFont typeface="Arial"/>
                <a:buNone/>
              </a:pPr>
              <a:r>
                <a:t/>
              </a:r>
              <a:endParaRPr b="0" i="0" sz="2400" u="none" cap="none" strike="noStrike">
                <a:solidFill>
                  <a:srgbClr val="000000"/>
                </a:solidFill>
                <a:latin typeface="Arial"/>
                <a:ea typeface="Arial"/>
                <a:cs typeface="Arial"/>
                <a:sym typeface="Arial"/>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6" name="Shape 6966"/>
        <p:cNvGrpSpPr/>
        <p:nvPr/>
      </p:nvGrpSpPr>
      <p:grpSpPr>
        <a:xfrm>
          <a:off x="0" y="0"/>
          <a:ext cx="0" cy="0"/>
          <a:chOff x="0" y="0"/>
          <a:chExt cx="0" cy="0"/>
        </a:xfrm>
      </p:grpSpPr>
      <p:sp>
        <p:nvSpPr>
          <p:cNvPr id="6967" name="Google Shape;6967;p95"/>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Application Layer</a:t>
            </a:r>
            <a:endParaRPr sz="1200">
              <a:solidFill>
                <a:schemeClr val="dk1"/>
              </a:solidFill>
              <a:latin typeface="Tahoma"/>
              <a:ea typeface="Tahoma"/>
              <a:cs typeface="Tahoma"/>
              <a:sym typeface="Tahoma"/>
            </a:endParaRPr>
          </a:p>
        </p:txBody>
      </p:sp>
      <p:sp>
        <p:nvSpPr>
          <p:cNvPr id="6968" name="Google Shape;6968;p95"/>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6969" name="Google Shape;6969;p95"/>
          <p:cNvSpPr txBox="1"/>
          <p:nvPr>
            <p:ph type="title"/>
          </p:nvPr>
        </p:nvSpPr>
        <p:spPr>
          <a:xfrm>
            <a:off x="1895476" y="-23811"/>
            <a:ext cx="8520113" cy="7731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600"/>
              <a:buFont typeface="Gill Sans"/>
              <a:buNone/>
            </a:pPr>
            <a:r>
              <a:rPr lang="en-US" sz="3600">
                <a:latin typeface="Gill Sans"/>
                <a:ea typeface="Gill Sans"/>
                <a:cs typeface="Gill Sans"/>
                <a:sym typeface="Gill Sans"/>
              </a:rPr>
              <a:t>File distribution problem</a:t>
            </a:r>
            <a:endParaRPr/>
          </a:p>
        </p:txBody>
      </p:sp>
      <p:pic>
        <p:nvPicPr>
          <p:cNvPr descr="underline_base" id="6970" name="Google Shape;6970;p95"/>
          <p:cNvPicPr preferRelativeResize="0"/>
          <p:nvPr/>
        </p:nvPicPr>
        <p:blipFill rotWithShape="1">
          <a:blip r:embed="rId3">
            <a:alphaModFix/>
          </a:blip>
          <a:srcRect b="0" l="0" r="0" t="0"/>
          <a:stretch/>
        </p:blipFill>
        <p:spPr>
          <a:xfrm>
            <a:off x="1895476" y="720725"/>
            <a:ext cx="6856413" cy="173038"/>
          </a:xfrm>
          <a:prstGeom prst="rect">
            <a:avLst/>
          </a:prstGeom>
          <a:noFill/>
          <a:ln>
            <a:noFill/>
          </a:ln>
        </p:spPr>
      </p:pic>
      <p:pic>
        <p:nvPicPr>
          <p:cNvPr id="6971" name="Google Shape;6971;p95"/>
          <p:cNvPicPr preferRelativeResize="0"/>
          <p:nvPr/>
        </p:nvPicPr>
        <p:blipFill rotWithShape="1">
          <a:blip r:embed="rId4">
            <a:alphaModFix/>
          </a:blip>
          <a:srcRect b="0" l="0" r="0" t="0"/>
          <a:stretch/>
        </p:blipFill>
        <p:spPr>
          <a:xfrm>
            <a:off x="2538414" y="893764"/>
            <a:ext cx="6213475" cy="5351037"/>
          </a:xfrm>
          <a:prstGeom prst="rect">
            <a:avLst/>
          </a:prstGeom>
          <a:noFill/>
          <a:ln>
            <a:noFill/>
          </a:ln>
        </p:spPr>
      </p:pic>
      <p:pic>
        <p:nvPicPr>
          <p:cNvPr descr="Puzzle with solid fill" id="6972" name="Google Shape;6972;p95"/>
          <p:cNvPicPr preferRelativeResize="0"/>
          <p:nvPr/>
        </p:nvPicPr>
        <p:blipFill rotWithShape="1">
          <a:blip r:embed="rId5">
            <a:alphaModFix/>
          </a:blip>
          <a:srcRect b="0" l="0" r="0" t="0"/>
          <a:stretch/>
        </p:blipFill>
        <p:spPr>
          <a:xfrm>
            <a:off x="9328150" y="423864"/>
            <a:ext cx="579438" cy="579437"/>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7" name="Shape 6977"/>
        <p:cNvGrpSpPr/>
        <p:nvPr/>
      </p:nvGrpSpPr>
      <p:grpSpPr>
        <a:xfrm>
          <a:off x="0" y="0"/>
          <a:ext cx="0" cy="0"/>
          <a:chOff x="0" y="0"/>
          <a:chExt cx="0" cy="0"/>
        </a:xfrm>
      </p:grpSpPr>
      <p:sp>
        <p:nvSpPr>
          <p:cNvPr id="6978" name="Google Shape;6978;p9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6979" name="Google Shape;6979;p9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File distribution time: client-server</a:t>
            </a:r>
            <a:endParaRPr sz="4400"/>
          </a:p>
        </p:txBody>
      </p:sp>
      <p:sp>
        <p:nvSpPr>
          <p:cNvPr id="6980" name="Google Shape;6980;p96"/>
          <p:cNvSpPr txBox="1"/>
          <p:nvPr/>
        </p:nvSpPr>
        <p:spPr>
          <a:xfrm>
            <a:off x="545123" y="1309462"/>
            <a:ext cx="6098355" cy="201453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server transmission: </a:t>
            </a:r>
            <a:r>
              <a:rPr lang="en-US" sz="2800">
                <a:solidFill>
                  <a:schemeClr val="dk1"/>
                </a:solidFill>
                <a:latin typeface="Calibri"/>
                <a:ea typeface="Calibri"/>
                <a:cs typeface="Calibri"/>
                <a:sym typeface="Calibri"/>
              </a:rPr>
              <a:t>must</a:t>
            </a:r>
            <a:r>
              <a:rPr i="1" lang="en-US" sz="2800">
                <a:solidFill>
                  <a:srgbClr val="CC0000"/>
                </a:solidFill>
                <a:latin typeface="Calibri"/>
                <a:ea typeface="Calibri"/>
                <a:cs typeface="Calibri"/>
                <a:sym typeface="Calibri"/>
              </a:rPr>
              <a:t> </a:t>
            </a:r>
            <a:r>
              <a:rPr lang="en-US" sz="2800">
                <a:solidFill>
                  <a:schemeClr val="dk1"/>
                </a:solidFill>
                <a:latin typeface="Calibri"/>
                <a:ea typeface="Calibri"/>
                <a:cs typeface="Calibri"/>
                <a:sym typeface="Calibri"/>
              </a:rPr>
              <a:t>sequentially send (upload) </a:t>
            </a:r>
            <a:r>
              <a:rPr i="1" lang="en-US" sz="2800">
                <a:solidFill>
                  <a:schemeClr val="dk1"/>
                </a:solidFill>
                <a:latin typeface="Calibri"/>
                <a:ea typeface="Calibri"/>
                <a:cs typeface="Calibri"/>
                <a:sym typeface="Calibri"/>
              </a:rPr>
              <a:t>N </a:t>
            </a:r>
            <a:r>
              <a:rPr lang="en-US" sz="2800">
                <a:solidFill>
                  <a:schemeClr val="dk1"/>
                </a:solidFill>
                <a:latin typeface="Calibri"/>
                <a:ea typeface="Calibri"/>
                <a:cs typeface="Calibri"/>
                <a:sym typeface="Calibri"/>
              </a:rPr>
              <a:t>file</a:t>
            </a:r>
            <a:r>
              <a:rPr i="1"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copies: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time to send one copy: </a:t>
            </a:r>
            <a:r>
              <a:rPr b="0" i="1" lang="en-US" sz="2400" u="none" cap="none" strike="noStrike">
                <a:solidFill>
                  <a:schemeClr val="dk1"/>
                </a:solidFill>
                <a:latin typeface="Calibri"/>
                <a:ea typeface="Calibri"/>
                <a:cs typeface="Calibri"/>
                <a:sym typeface="Calibri"/>
              </a:rPr>
              <a:t>F/u</a:t>
            </a:r>
            <a:r>
              <a:rPr b="0" baseline="-25000" i="1" lang="en-US" sz="2400" u="none" cap="none" strike="noStrike">
                <a:solidFill>
                  <a:schemeClr val="dk1"/>
                </a:solidFill>
                <a:latin typeface="Calibri"/>
                <a:ea typeface="Calibri"/>
                <a:cs typeface="Calibri"/>
                <a:sym typeface="Calibri"/>
              </a:rPr>
              <a:t>s </a:t>
            </a:r>
            <a:endParaRPr b="0" i="0" sz="2400" u="none" cap="none" strike="noStrike">
              <a:solidFill>
                <a:schemeClr val="dk1"/>
              </a:solidFill>
              <a:latin typeface="Calibri"/>
              <a:ea typeface="Calibri"/>
              <a:cs typeface="Calibri"/>
              <a:sym typeface="Calibri"/>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time to send </a:t>
            </a:r>
            <a:r>
              <a:rPr b="0" i="1" lang="en-US" sz="2400" u="none" cap="none" strike="noStrike">
                <a:solidFill>
                  <a:schemeClr val="dk1"/>
                </a:solidFill>
                <a:latin typeface="Calibri"/>
                <a:ea typeface="Calibri"/>
                <a:cs typeface="Calibri"/>
                <a:sym typeface="Calibri"/>
              </a:rPr>
              <a:t>N</a:t>
            </a:r>
            <a:r>
              <a:rPr b="0" i="0" lang="en-US" sz="2400" u="none" cap="none" strike="noStrike">
                <a:solidFill>
                  <a:schemeClr val="dk1"/>
                </a:solidFill>
                <a:latin typeface="Calibri"/>
                <a:ea typeface="Calibri"/>
                <a:cs typeface="Calibri"/>
                <a:sym typeface="Calibri"/>
              </a:rPr>
              <a:t> copies: </a:t>
            </a:r>
            <a:r>
              <a:rPr b="0" i="1" lang="en-US" sz="2400" u="none" cap="none" strike="noStrike">
                <a:solidFill>
                  <a:schemeClr val="dk1"/>
                </a:solidFill>
                <a:latin typeface="Calibri"/>
                <a:ea typeface="Calibri"/>
                <a:cs typeface="Calibri"/>
                <a:sym typeface="Calibri"/>
              </a:rPr>
              <a:t>NF/u</a:t>
            </a:r>
            <a:r>
              <a:rPr b="0" baseline="-25000" i="1" lang="en-US" sz="2400" u="none" cap="none" strike="noStrike">
                <a:solidFill>
                  <a:schemeClr val="dk1"/>
                </a:solidFill>
                <a:latin typeface="Calibri"/>
                <a:ea typeface="Calibri"/>
                <a:cs typeface="Calibri"/>
                <a:sym typeface="Calibri"/>
              </a:rPr>
              <a:t>s</a:t>
            </a:r>
            <a:endParaRPr b="0" i="0" sz="2400" u="none" cap="none" strike="noStrike">
              <a:solidFill>
                <a:schemeClr val="dk1"/>
              </a:solidFill>
              <a:latin typeface="Calibri"/>
              <a:ea typeface="Calibri"/>
              <a:cs typeface="Calibri"/>
              <a:sym typeface="Calibri"/>
            </a:endParaRPr>
          </a:p>
        </p:txBody>
      </p:sp>
      <p:sp>
        <p:nvSpPr>
          <p:cNvPr id="6981" name="Google Shape;6981;p96"/>
          <p:cNvSpPr/>
          <p:nvPr/>
        </p:nvSpPr>
        <p:spPr>
          <a:xfrm>
            <a:off x="649899" y="3219848"/>
            <a:ext cx="5773736" cy="20145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i="1" lang="en-US" sz="2800">
                <a:solidFill>
                  <a:srgbClr val="CC0000"/>
                </a:solidFill>
                <a:latin typeface="Calibri"/>
                <a:ea typeface="Calibri"/>
                <a:cs typeface="Calibri"/>
                <a:sym typeface="Calibri"/>
              </a:rPr>
              <a:t>client: </a:t>
            </a:r>
            <a:r>
              <a:rPr lang="en-US" sz="2800">
                <a:solidFill>
                  <a:schemeClr val="dk1"/>
                </a:solidFill>
                <a:latin typeface="Calibri"/>
                <a:ea typeface="Calibri"/>
                <a:cs typeface="Calibri"/>
                <a:sym typeface="Calibri"/>
              </a:rPr>
              <a:t>each client must download file copy</a:t>
            </a:r>
            <a:endParaRPr/>
          </a:p>
          <a:p>
            <a:pPr indent="-342900" lvl="1" marL="800100" marR="0" rtl="0" algn="l">
              <a:lnSpc>
                <a:spcPct val="99000"/>
              </a:lnSpc>
              <a:spcBef>
                <a:spcPts val="0"/>
              </a:spcBef>
              <a:spcAft>
                <a:spcPts val="0"/>
              </a:spcAft>
              <a:buClr>
                <a:srgbClr val="000099"/>
              </a:buClr>
              <a:buSzPts val="2400"/>
              <a:buFont typeface="Arial"/>
              <a:buChar char="•"/>
            </a:pPr>
            <a:r>
              <a:rPr b="0" i="1" lang="en-US" sz="2400" u="none" cap="none" strike="noStrike">
                <a:solidFill>
                  <a:schemeClr val="dk1"/>
                </a:solidFill>
                <a:latin typeface="Calibri"/>
                <a:ea typeface="Calibri"/>
                <a:cs typeface="Calibri"/>
                <a:sym typeface="Calibri"/>
              </a:rPr>
              <a:t>d</a:t>
            </a:r>
            <a:r>
              <a:rPr b="0" baseline="-25000" i="1" lang="en-US" sz="2400" u="none" cap="none" strike="noStrike">
                <a:solidFill>
                  <a:schemeClr val="dk1"/>
                </a:solidFill>
                <a:latin typeface="Calibri"/>
                <a:ea typeface="Calibri"/>
                <a:cs typeface="Calibri"/>
                <a:sym typeface="Calibri"/>
              </a:rPr>
              <a:t>mi</a:t>
            </a:r>
            <a:r>
              <a:rPr b="0" baseline="-25000" i="0" lang="en-US" sz="2400" u="none" cap="none" strike="noStrike">
                <a:solidFill>
                  <a:schemeClr val="dk1"/>
                </a:solidFill>
                <a:latin typeface="Calibri"/>
                <a:ea typeface="Calibri"/>
                <a:cs typeface="Calibri"/>
                <a:sym typeface="Calibri"/>
              </a:rPr>
              <a:t>n</a:t>
            </a:r>
            <a:r>
              <a:rPr b="0" i="0" lang="en-US" sz="2400" u="none" cap="none" strike="noStrike">
                <a:solidFill>
                  <a:schemeClr val="dk1"/>
                </a:solidFill>
                <a:latin typeface="Calibri"/>
                <a:ea typeface="Calibri"/>
                <a:cs typeface="Calibri"/>
                <a:sym typeface="Calibri"/>
              </a:rPr>
              <a:t> = min client download rate</a:t>
            </a:r>
            <a:endParaRPr/>
          </a:p>
          <a:p>
            <a:pPr indent="-342900" lvl="1" marL="800100" marR="0" rtl="0" algn="l">
              <a:lnSpc>
                <a:spcPct val="99000"/>
              </a:lnSpc>
              <a:spcBef>
                <a:spcPts val="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min client download time: </a:t>
            </a:r>
            <a:r>
              <a:rPr b="0" i="1" lang="en-US" sz="2400" u="none" cap="none" strike="noStrike">
                <a:solidFill>
                  <a:schemeClr val="dk1"/>
                </a:solidFill>
                <a:latin typeface="Calibri"/>
                <a:ea typeface="Calibri"/>
                <a:cs typeface="Calibri"/>
                <a:sym typeface="Calibri"/>
              </a:rPr>
              <a:t>F/d</a:t>
            </a:r>
            <a:r>
              <a:rPr b="0" baseline="-25000" i="1" lang="en-US" sz="2400" u="none" cap="none" strike="noStrike">
                <a:solidFill>
                  <a:schemeClr val="dk1"/>
                </a:solidFill>
                <a:latin typeface="Calibri"/>
                <a:ea typeface="Calibri"/>
                <a:cs typeface="Calibri"/>
                <a:sym typeface="Calibri"/>
              </a:rPr>
              <a:t>min</a:t>
            </a:r>
            <a:r>
              <a:rPr b="0" i="1" lang="en-US" sz="2400" u="none" cap="none" strike="noStrike">
                <a:solidFill>
                  <a:srgbClr val="CC0000"/>
                </a:solidFill>
                <a:latin typeface="Calibri"/>
                <a:ea typeface="Calibri"/>
                <a:cs typeface="Calibri"/>
                <a:sym typeface="Calibri"/>
              </a:rPr>
              <a:t> </a:t>
            </a:r>
            <a:endParaRPr b="0" i="1" sz="2400" u="none" cap="none" strike="noStrike">
              <a:solidFill>
                <a:schemeClr val="dk1"/>
              </a:solidFill>
              <a:latin typeface="Calibri"/>
              <a:ea typeface="Calibri"/>
              <a:cs typeface="Calibri"/>
              <a:sym typeface="Calibri"/>
            </a:endParaRPr>
          </a:p>
        </p:txBody>
      </p:sp>
      <p:grpSp>
        <p:nvGrpSpPr>
          <p:cNvPr id="6982" name="Google Shape;6982;p96"/>
          <p:cNvGrpSpPr/>
          <p:nvPr/>
        </p:nvGrpSpPr>
        <p:grpSpPr>
          <a:xfrm>
            <a:off x="6796266" y="1727769"/>
            <a:ext cx="4518025" cy="2036762"/>
            <a:chOff x="4471988" y="1284288"/>
            <a:chExt cx="4518025" cy="2036762"/>
          </a:xfrm>
        </p:grpSpPr>
        <p:sp>
          <p:nvSpPr>
            <p:cNvPr id="6983" name="Google Shape;6983;p96"/>
            <p:cNvSpPr/>
            <p:nvPr/>
          </p:nvSpPr>
          <p:spPr>
            <a:xfrm>
              <a:off x="5600700" y="2111375"/>
              <a:ext cx="2136775" cy="1209675"/>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cxnSp>
          <p:nvCxnSpPr>
            <p:cNvPr id="6984" name="Google Shape;6984;p96"/>
            <p:cNvCxnSpPr/>
            <p:nvPr/>
          </p:nvCxnSpPr>
          <p:spPr>
            <a:xfrm>
              <a:off x="5338763" y="2085975"/>
              <a:ext cx="455612" cy="214313"/>
            </a:xfrm>
            <a:prstGeom prst="straightConnector1">
              <a:avLst/>
            </a:prstGeom>
            <a:noFill/>
            <a:ln cap="flat" cmpd="sng" w="9525">
              <a:solidFill>
                <a:schemeClr val="dk1"/>
              </a:solidFill>
              <a:prstDash val="solid"/>
              <a:round/>
              <a:headEnd len="med" w="med" type="none"/>
              <a:tailEnd len="med" w="med" type="triangle"/>
            </a:ln>
          </p:spPr>
        </p:cxnSp>
        <p:sp>
          <p:nvSpPr>
            <p:cNvPr id="6985" name="Google Shape;6985;p96"/>
            <p:cNvSpPr txBox="1"/>
            <p:nvPr/>
          </p:nvSpPr>
          <p:spPr>
            <a:xfrm>
              <a:off x="5364163" y="1763713"/>
              <a:ext cx="362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i="1" lang="en-US" sz="1800">
                  <a:solidFill>
                    <a:schemeClr val="dk1"/>
                  </a:solidFill>
                  <a:latin typeface="Calibri"/>
                  <a:ea typeface="Calibri"/>
                  <a:cs typeface="Calibri"/>
                  <a:sym typeface="Calibri"/>
                </a:rPr>
                <a:t>u</a:t>
              </a:r>
              <a:r>
                <a:rPr baseline="-25000" i="1" lang="en-US" sz="1800">
                  <a:solidFill>
                    <a:schemeClr val="dk1"/>
                  </a:solidFill>
                  <a:latin typeface="Calibri"/>
                  <a:ea typeface="Calibri"/>
                  <a:cs typeface="Calibri"/>
                  <a:sym typeface="Calibri"/>
                </a:rPr>
                <a:t>s</a:t>
              </a:r>
              <a:endParaRPr/>
            </a:p>
          </p:txBody>
        </p:sp>
        <p:cxnSp>
          <p:nvCxnSpPr>
            <p:cNvPr id="6986" name="Google Shape;6986;p96"/>
            <p:cNvCxnSpPr/>
            <p:nvPr/>
          </p:nvCxnSpPr>
          <p:spPr>
            <a:xfrm>
              <a:off x="5089525" y="2713038"/>
              <a:ext cx="574675" cy="0"/>
            </a:xfrm>
            <a:prstGeom prst="straightConnector1">
              <a:avLst/>
            </a:prstGeom>
            <a:noFill/>
            <a:ln cap="flat" cmpd="sng" w="9525">
              <a:solidFill>
                <a:schemeClr val="dk1"/>
              </a:solidFill>
              <a:prstDash val="solid"/>
              <a:round/>
              <a:headEnd len="med" w="med" type="none"/>
              <a:tailEnd len="med" w="med" type="triangle"/>
            </a:ln>
          </p:spPr>
        </p:cxnSp>
        <p:cxnSp>
          <p:nvCxnSpPr>
            <p:cNvPr id="6987" name="Google Shape;6987;p96"/>
            <p:cNvCxnSpPr/>
            <p:nvPr/>
          </p:nvCxnSpPr>
          <p:spPr>
            <a:xfrm rot="10800000">
              <a:off x="5119688" y="2814638"/>
              <a:ext cx="566737" cy="0"/>
            </a:xfrm>
            <a:prstGeom prst="straightConnector1">
              <a:avLst/>
            </a:prstGeom>
            <a:noFill/>
            <a:ln cap="flat" cmpd="sng" w="9525">
              <a:solidFill>
                <a:schemeClr val="dk1"/>
              </a:solidFill>
              <a:prstDash val="solid"/>
              <a:round/>
              <a:headEnd len="med" w="med" type="none"/>
              <a:tailEnd len="med" w="med" type="triangle"/>
            </a:ln>
          </p:spPr>
        </p:cxnSp>
        <p:sp>
          <p:nvSpPr>
            <p:cNvPr id="6988" name="Google Shape;6988;p96"/>
            <p:cNvSpPr txBox="1"/>
            <p:nvPr/>
          </p:nvSpPr>
          <p:spPr>
            <a:xfrm>
              <a:off x="6103696" y="2460625"/>
              <a:ext cx="105458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network</a:t>
              </a:r>
              <a:endParaRPr sz="1800">
                <a:solidFill>
                  <a:schemeClr val="lt1"/>
                </a:solidFill>
                <a:latin typeface="Calibri"/>
                <a:ea typeface="Calibri"/>
                <a:cs typeface="Calibri"/>
                <a:sym typeface="Calibri"/>
              </a:endParaRPr>
            </a:p>
          </p:txBody>
        </p:sp>
        <p:sp>
          <p:nvSpPr>
            <p:cNvPr id="6989" name="Google Shape;6989;p96"/>
            <p:cNvSpPr/>
            <p:nvPr/>
          </p:nvSpPr>
          <p:spPr>
            <a:xfrm>
              <a:off x="4740275" y="1562100"/>
              <a:ext cx="334963" cy="401638"/>
            </a:xfrm>
            <a:prstGeom prst="can">
              <a:avLst>
                <a:gd fmla="val 24242" name="adj"/>
              </a:avLst>
            </a:prstGeom>
            <a:gradFill>
              <a:gsLst>
                <a:gs pos="0">
                  <a:srgbClr val="000099"/>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Arial"/>
                <a:buNone/>
              </a:pPr>
              <a:r>
                <a:t/>
              </a:r>
              <a:endParaRPr sz="900">
                <a:solidFill>
                  <a:schemeClr val="dk1"/>
                </a:solidFill>
                <a:latin typeface="Calibri"/>
                <a:ea typeface="Calibri"/>
                <a:cs typeface="Calibri"/>
                <a:sym typeface="Calibri"/>
              </a:endParaRPr>
            </a:p>
          </p:txBody>
        </p:sp>
        <p:cxnSp>
          <p:nvCxnSpPr>
            <p:cNvPr id="6990" name="Google Shape;6990;p96"/>
            <p:cNvCxnSpPr/>
            <p:nvPr/>
          </p:nvCxnSpPr>
          <p:spPr>
            <a:xfrm flipH="1" rot="10800000">
              <a:off x="7000875" y="1819275"/>
              <a:ext cx="180975" cy="530225"/>
            </a:xfrm>
            <a:prstGeom prst="straightConnector1">
              <a:avLst/>
            </a:prstGeom>
            <a:noFill/>
            <a:ln cap="flat" cmpd="sng" w="9525">
              <a:solidFill>
                <a:schemeClr val="dk1"/>
              </a:solidFill>
              <a:prstDash val="solid"/>
              <a:round/>
              <a:headEnd len="med" w="med" type="triangle"/>
              <a:tailEnd len="med" w="med" type="none"/>
            </a:ln>
          </p:spPr>
        </p:cxnSp>
        <p:cxnSp>
          <p:nvCxnSpPr>
            <p:cNvPr id="6991" name="Google Shape;6991;p96"/>
            <p:cNvCxnSpPr/>
            <p:nvPr/>
          </p:nvCxnSpPr>
          <p:spPr>
            <a:xfrm flipH="1">
              <a:off x="7078663" y="1825625"/>
              <a:ext cx="187325" cy="534988"/>
            </a:xfrm>
            <a:prstGeom prst="straightConnector1">
              <a:avLst/>
            </a:prstGeom>
            <a:noFill/>
            <a:ln cap="flat" cmpd="sng" w="9525">
              <a:solidFill>
                <a:schemeClr val="dk1"/>
              </a:solidFill>
              <a:prstDash val="solid"/>
              <a:round/>
              <a:headEnd len="med" w="med" type="triangle"/>
              <a:tailEnd len="med" w="med" type="none"/>
            </a:ln>
          </p:spPr>
        </p:cxnSp>
        <p:cxnSp>
          <p:nvCxnSpPr>
            <p:cNvPr id="6992" name="Google Shape;6992;p96"/>
            <p:cNvCxnSpPr/>
            <p:nvPr/>
          </p:nvCxnSpPr>
          <p:spPr>
            <a:xfrm flipH="1" rot="10800000">
              <a:off x="6416675" y="1736725"/>
              <a:ext cx="179388" cy="530225"/>
            </a:xfrm>
            <a:prstGeom prst="straightConnector1">
              <a:avLst/>
            </a:prstGeom>
            <a:noFill/>
            <a:ln cap="flat" cmpd="sng" w="9525">
              <a:solidFill>
                <a:schemeClr val="dk1"/>
              </a:solidFill>
              <a:prstDash val="solid"/>
              <a:round/>
              <a:headEnd len="med" w="med" type="triangle"/>
              <a:tailEnd len="med" w="med" type="none"/>
            </a:ln>
          </p:spPr>
        </p:cxnSp>
        <p:cxnSp>
          <p:nvCxnSpPr>
            <p:cNvPr id="6993" name="Google Shape;6993;p96"/>
            <p:cNvCxnSpPr/>
            <p:nvPr/>
          </p:nvCxnSpPr>
          <p:spPr>
            <a:xfrm flipH="1">
              <a:off x="6492875" y="1743075"/>
              <a:ext cx="185738" cy="534988"/>
            </a:xfrm>
            <a:prstGeom prst="straightConnector1">
              <a:avLst/>
            </a:prstGeom>
            <a:noFill/>
            <a:ln cap="flat" cmpd="sng" w="9525">
              <a:solidFill>
                <a:schemeClr val="dk1"/>
              </a:solidFill>
              <a:prstDash val="solid"/>
              <a:round/>
              <a:headEnd len="med" w="med" type="triangle"/>
              <a:tailEnd len="med" w="med" type="none"/>
            </a:ln>
          </p:spPr>
        </p:cxnSp>
        <p:cxnSp>
          <p:nvCxnSpPr>
            <p:cNvPr id="6994" name="Google Shape;6994;p96"/>
            <p:cNvCxnSpPr/>
            <p:nvPr/>
          </p:nvCxnSpPr>
          <p:spPr>
            <a:xfrm>
              <a:off x="7723188" y="2579688"/>
              <a:ext cx="658812" cy="0"/>
            </a:xfrm>
            <a:prstGeom prst="straightConnector1">
              <a:avLst/>
            </a:prstGeom>
            <a:noFill/>
            <a:ln cap="flat" cmpd="sng" w="19050">
              <a:solidFill>
                <a:schemeClr val="dk1"/>
              </a:solidFill>
              <a:prstDash val="solid"/>
              <a:round/>
              <a:headEnd len="med" w="med" type="none"/>
              <a:tailEnd len="med" w="med" type="triangle"/>
            </a:ln>
          </p:spPr>
        </p:cxnSp>
        <p:cxnSp>
          <p:nvCxnSpPr>
            <p:cNvPr id="6995" name="Google Shape;6995;p96"/>
            <p:cNvCxnSpPr/>
            <p:nvPr/>
          </p:nvCxnSpPr>
          <p:spPr>
            <a:xfrm>
              <a:off x="7726363" y="2682875"/>
              <a:ext cx="660400" cy="0"/>
            </a:xfrm>
            <a:prstGeom prst="straightConnector1">
              <a:avLst/>
            </a:prstGeom>
            <a:noFill/>
            <a:ln cap="flat" cmpd="sng" w="19050">
              <a:solidFill>
                <a:schemeClr val="dk1"/>
              </a:solidFill>
              <a:prstDash val="solid"/>
              <a:round/>
              <a:headEnd len="med" w="med" type="triangle"/>
              <a:tailEnd len="med" w="med" type="none"/>
            </a:ln>
          </p:spPr>
        </p:cxnSp>
        <p:sp>
          <p:nvSpPr>
            <p:cNvPr id="6996" name="Google Shape;6996;p96"/>
            <p:cNvSpPr txBox="1"/>
            <p:nvPr/>
          </p:nvSpPr>
          <p:spPr>
            <a:xfrm>
              <a:off x="7813675" y="2146300"/>
              <a:ext cx="4508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i="1" lang="en-US" sz="1800">
                  <a:solidFill>
                    <a:schemeClr val="dk1"/>
                  </a:solidFill>
                  <a:latin typeface="Calibri"/>
                  <a:ea typeface="Calibri"/>
                  <a:cs typeface="Calibri"/>
                  <a:sym typeface="Calibri"/>
                </a:rPr>
                <a:t>d</a:t>
              </a:r>
              <a:r>
                <a:rPr baseline="-25000" i="1" lang="en-US" sz="1800">
                  <a:solidFill>
                    <a:schemeClr val="dk1"/>
                  </a:solidFill>
                  <a:latin typeface="Calibri"/>
                  <a:ea typeface="Calibri"/>
                  <a:cs typeface="Calibri"/>
                  <a:sym typeface="Calibri"/>
                </a:rPr>
                <a:t>i</a:t>
              </a:r>
              <a:endParaRPr/>
            </a:p>
          </p:txBody>
        </p:sp>
        <p:sp>
          <p:nvSpPr>
            <p:cNvPr id="6997" name="Google Shape;6997;p96"/>
            <p:cNvSpPr txBox="1"/>
            <p:nvPr/>
          </p:nvSpPr>
          <p:spPr>
            <a:xfrm>
              <a:off x="7829550" y="2663825"/>
              <a:ext cx="5064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i="1" lang="en-US" sz="1800">
                  <a:solidFill>
                    <a:schemeClr val="dk1"/>
                  </a:solidFill>
                  <a:latin typeface="Calibri"/>
                  <a:ea typeface="Calibri"/>
                  <a:cs typeface="Calibri"/>
                  <a:sym typeface="Calibri"/>
                </a:rPr>
                <a:t>u</a:t>
              </a:r>
              <a:r>
                <a:rPr baseline="-25000" i="1" lang="en-US" sz="1800">
                  <a:solidFill>
                    <a:schemeClr val="dk1"/>
                  </a:solidFill>
                  <a:latin typeface="Calibri"/>
                  <a:ea typeface="Calibri"/>
                  <a:cs typeface="Calibri"/>
                  <a:sym typeface="Calibri"/>
                </a:rPr>
                <a:t>i</a:t>
              </a:r>
              <a:endParaRPr/>
            </a:p>
          </p:txBody>
        </p:sp>
        <p:sp>
          <p:nvSpPr>
            <p:cNvPr id="6998" name="Google Shape;6998;p96"/>
            <p:cNvSpPr txBox="1"/>
            <p:nvPr/>
          </p:nvSpPr>
          <p:spPr>
            <a:xfrm>
              <a:off x="4498975" y="1616075"/>
              <a:ext cx="79057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600"/>
                <a:buFont typeface="Calibri"/>
                <a:buNone/>
              </a:pPr>
              <a:r>
                <a:rPr i="1" lang="en-US" sz="1600">
                  <a:solidFill>
                    <a:schemeClr val="dk1"/>
                  </a:solidFill>
                  <a:latin typeface="Calibri"/>
                  <a:ea typeface="Calibri"/>
                  <a:cs typeface="Calibri"/>
                  <a:sym typeface="Calibri"/>
                </a:rPr>
                <a:t>F</a:t>
              </a:r>
              <a:endParaRPr baseline="-25000" i="1" sz="1600">
                <a:solidFill>
                  <a:schemeClr val="dk1"/>
                </a:solidFill>
                <a:latin typeface="Calibri"/>
                <a:ea typeface="Calibri"/>
                <a:cs typeface="Calibri"/>
                <a:sym typeface="Calibri"/>
              </a:endParaRPr>
            </a:p>
          </p:txBody>
        </p:sp>
        <p:grpSp>
          <p:nvGrpSpPr>
            <p:cNvPr id="6999" name="Google Shape;6999;p96"/>
            <p:cNvGrpSpPr/>
            <p:nvPr/>
          </p:nvGrpSpPr>
          <p:grpSpPr>
            <a:xfrm>
              <a:off x="5114925" y="1690688"/>
              <a:ext cx="292100" cy="517525"/>
              <a:chOff x="4140" y="429"/>
              <a:chExt cx="1425" cy="2396"/>
            </a:xfrm>
          </p:grpSpPr>
          <p:sp>
            <p:nvSpPr>
              <p:cNvPr id="7000" name="Google Shape;7000;p9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001" name="Google Shape;7001;p96"/>
              <p:cNvSpPr/>
              <p:nvPr/>
            </p:nvSpPr>
            <p:spPr>
              <a:xfrm>
                <a:off x="4210" y="429"/>
                <a:ext cx="1046"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02" name="Google Shape;7002;p9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003" name="Google Shape;7003;p9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004" name="Google Shape;7004;p96"/>
              <p:cNvSpPr/>
              <p:nvPr/>
            </p:nvSpPr>
            <p:spPr>
              <a:xfrm>
                <a:off x="4210" y="694"/>
                <a:ext cx="596"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7005" name="Google Shape;7005;p96"/>
              <p:cNvGrpSpPr/>
              <p:nvPr/>
            </p:nvGrpSpPr>
            <p:grpSpPr>
              <a:xfrm>
                <a:off x="4752" y="671"/>
                <a:ext cx="581" cy="140"/>
                <a:chOff x="618" y="2571"/>
                <a:chExt cx="725" cy="134"/>
              </a:xfrm>
            </p:grpSpPr>
            <p:sp>
              <p:nvSpPr>
                <p:cNvPr id="7006" name="Google Shape;7006;p96"/>
                <p:cNvSpPr/>
                <p:nvPr/>
              </p:nvSpPr>
              <p:spPr>
                <a:xfrm>
                  <a:off x="618" y="2571"/>
                  <a:ext cx="725"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07" name="Google Shape;7007;p96"/>
                <p:cNvSpPr/>
                <p:nvPr/>
              </p:nvSpPr>
              <p:spPr>
                <a:xfrm>
                  <a:off x="637" y="2585"/>
                  <a:ext cx="686"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7008" name="Google Shape;7008;p96"/>
              <p:cNvSpPr/>
              <p:nvPr/>
            </p:nvSpPr>
            <p:spPr>
              <a:xfrm>
                <a:off x="4225" y="1017"/>
                <a:ext cx="596" cy="51"/>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7009" name="Google Shape;7009;p96"/>
              <p:cNvGrpSpPr/>
              <p:nvPr/>
            </p:nvGrpSpPr>
            <p:grpSpPr>
              <a:xfrm>
                <a:off x="4744" y="995"/>
                <a:ext cx="581" cy="132"/>
                <a:chOff x="610" y="2569"/>
                <a:chExt cx="725" cy="137"/>
              </a:xfrm>
            </p:grpSpPr>
            <p:sp>
              <p:nvSpPr>
                <p:cNvPr id="7010" name="Google Shape;7010;p96"/>
                <p:cNvSpPr/>
                <p:nvPr/>
              </p:nvSpPr>
              <p:spPr>
                <a:xfrm>
                  <a:off x="610" y="2569"/>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11" name="Google Shape;7011;p96"/>
                <p:cNvSpPr/>
                <p:nvPr/>
              </p:nvSpPr>
              <p:spPr>
                <a:xfrm>
                  <a:off x="630" y="2584"/>
                  <a:ext cx="68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7012" name="Google Shape;7012;p96"/>
              <p:cNvSpPr/>
              <p:nvPr/>
            </p:nvSpPr>
            <p:spPr>
              <a:xfrm>
                <a:off x="4217" y="1355"/>
                <a:ext cx="596" cy="51"/>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13" name="Google Shape;7013;p96"/>
              <p:cNvSpPr/>
              <p:nvPr/>
            </p:nvSpPr>
            <p:spPr>
              <a:xfrm>
                <a:off x="4225" y="1656"/>
                <a:ext cx="596"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7014" name="Google Shape;7014;p96"/>
              <p:cNvGrpSpPr/>
              <p:nvPr/>
            </p:nvGrpSpPr>
            <p:grpSpPr>
              <a:xfrm>
                <a:off x="4737" y="1627"/>
                <a:ext cx="581" cy="154"/>
                <a:chOff x="616" y="2568"/>
                <a:chExt cx="724" cy="142"/>
              </a:xfrm>
            </p:grpSpPr>
            <p:sp>
              <p:nvSpPr>
                <p:cNvPr id="7015" name="Google Shape;7015;p96"/>
                <p:cNvSpPr/>
                <p:nvPr/>
              </p:nvSpPr>
              <p:spPr>
                <a:xfrm>
                  <a:off x="616" y="2568"/>
                  <a:ext cx="724" cy="142"/>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16" name="Google Shape;7016;p96"/>
                <p:cNvSpPr/>
                <p:nvPr/>
              </p:nvSpPr>
              <p:spPr>
                <a:xfrm>
                  <a:off x="635" y="2582"/>
                  <a:ext cx="685"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7017" name="Google Shape;7017;p9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7018" name="Google Shape;7018;p96"/>
              <p:cNvGrpSpPr/>
              <p:nvPr/>
            </p:nvGrpSpPr>
            <p:grpSpPr>
              <a:xfrm>
                <a:off x="4737" y="1326"/>
                <a:ext cx="581" cy="140"/>
                <a:chOff x="611" y="2567"/>
                <a:chExt cx="724" cy="140"/>
              </a:xfrm>
            </p:grpSpPr>
            <p:sp>
              <p:nvSpPr>
                <p:cNvPr id="7019" name="Google Shape;7019;p96"/>
                <p:cNvSpPr/>
                <p:nvPr/>
              </p:nvSpPr>
              <p:spPr>
                <a:xfrm>
                  <a:off x="611" y="2567"/>
                  <a:ext cx="724"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20" name="Google Shape;7020;p96"/>
                <p:cNvSpPr/>
                <p:nvPr/>
              </p:nvSpPr>
              <p:spPr>
                <a:xfrm>
                  <a:off x="630" y="2581"/>
                  <a:ext cx="68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7021" name="Google Shape;7021;p96"/>
              <p:cNvSpPr/>
              <p:nvPr/>
            </p:nvSpPr>
            <p:spPr>
              <a:xfrm>
                <a:off x="5247" y="429"/>
                <a:ext cx="70"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22" name="Google Shape;7022;p9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023" name="Google Shape;7023;p9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024" name="Google Shape;7024;p96"/>
              <p:cNvSpPr/>
              <p:nvPr/>
            </p:nvSpPr>
            <p:spPr>
              <a:xfrm>
                <a:off x="5519" y="2612"/>
                <a:ext cx="46"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25" name="Google Shape;7025;p9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026" name="Google Shape;7026;p96"/>
              <p:cNvSpPr/>
              <p:nvPr/>
            </p:nvSpPr>
            <p:spPr>
              <a:xfrm>
                <a:off x="4140" y="2678"/>
                <a:ext cx="1200" cy="147"/>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27" name="Google Shape;7027;p96"/>
              <p:cNvSpPr/>
              <p:nvPr/>
            </p:nvSpPr>
            <p:spPr>
              <a:xfrm>
                <a:off x="4210" y="2707"/>
                <a:ext cx="1069" cy="88"/>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28" name="Google Shape;7028;p96"/>
              <p:cNvSpPr/>
              <p:nvPr/>
            </p:nvSpPr>
            <p:spPr>
              <a:xfrm>
                <a:off x="4310" y="2384"/>
                <a:ext cx="155"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29" name="Google Shape;7029;p96"/>
              <p:cNvSpPr/>
              <p:nvPr/>
            </p:nvSpPr>
            <p:spPr>
              <a:xfrm>
                <a:off x="4489" y="2384"/>
                <a:ext cx="155"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000"/>
                  <a:buFont typeface="Arial"/>
                  <a:buNone/>
                </a:pPr>
                <a:r>
                  <a:t/>
                </a:r>
                <a:endParaRPr sz="2000">
                  <a:solidFill>
                    <a:srgbClr val="FF0000"/>
                  </a:solidFill>
                  <a:latin typeface="Calibri"/>
                  <a:ea typeface="Calibri"/>
                  <a:cs typeface="Calibri"/>
                  <a:sym typeface="Calibri"/>
                </a:endParaRPr>
              </a:p>
            </p:txBody>
          </p:sp>
          <p:sp>
            <p:nvSpPr>
              <p:cNvPr id="7030" name="Google Shape;7030;p96"/>
              <p:cNvSpPr/>
              <p:nvPr/>
            </p:nvSpPr>
            <p:spPr>
              <a:xfrm>
                <a:off x="4659" y="2384"/>
                <a:ext cx="163"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31" name="Google Shape;7031;p96"/>
              <p:cNvSpPr/>
              <p:nvPr/>
            </p:nvSpPr>
            <p:spPr>
              <a:xfrm>
                <a:off x="5062" y="1833"/>
                <a:ext cx="85" cy="764"/>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7032" name="Google Shape;7032;p96"/>
            <p:cNvGrpSpPr/>
            <p:nvPr/>
          </p:nvGrpSpPr>
          <p:grpSpPr>
            <a:xfrm>
              <a:off x="4471988" y="2492375"/>
              <a:ext cx="620712" cy="512763"/>
              <a:chOff x="-44" y="1473"/>
              <a:chExt cx="981" cy="1105"/>
            </a:xfrm>
          </p:grpSpPr>
          <p:pic>
            <p:nvPicPr>
              <p:cNvPr descr="desktop_computer_stylized_medium" id="7033" name="Google Shape;7033;p9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034" name="Google Shape;7034;p9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035" name="Google Shape;7035;p96"/>
            <p:cNvGrpSpPr/>
            <p:nvPr/>
          </p:nvGrpSpPr>
          <p:grpSpPr>
            <a:xfrm>
              <a:off x="6300788" y="1284288"/>
              <a:ext cx="620712" cy="512762"/>
              <a:chOff x="-44" y="1473"/>
              <a:chExt cx="981" cy="1105"/>
            </a:xfrm>
          </p:grpSpPr>
          <p:pic>
            <p:nvPicPr>
              <p:cNvPr descr="desktop_computer_stylized_medium" id="7036" name="Google Shape;7036;p9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037" name="Google Shape;7037;p9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038" name="Google Shape;7038;p96"/>
            <p:cNvGrpSpPr/>
            <p:nvPr/>
          </p:nvGrpSpPr>
          <p:grpSpPr>
            <a:xfrm>
              <a:off x="6910388" y="1360488"/>
              <a:ext cx="620712" cy="512762"/>
              <a:chOff x="-44" y="1473"/>
              <a:chExt cx="981" cy="1105"/>
            </a:xfrm>
          </p:grpSpPr>
          <p:pic>
            <p:nvPicPr>
              <p:cNvPr descr="desktop_computer_stylized_medium" id="7039" name="Google Shape;7039;p9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040" name="Google Shape;7040;p9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041" name="Google Shape;7041;p96"/>
            <p:cNvGrpSpPr/>
            <p:nvPr/>
          </p:nvGrpSpPr>
          <p:grpSpPr>
            <a:xfrm flipH="1">
              <a:off x="8369300" y="2362200"/>
              <a:ext cx="620713" cy="512763"/>
              <a:chOff x="-44" y="1473"/>
              <a:chExt cx="981" cy="1105"/>
            </a:xfrm>
          </p:grpSpPr>
          <p:pic>
            <p:nvPicPr>
              <p:cNvPr descr="desktop_computer_stylized_medium" id="7042" name="Google Shape;7042;p9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043" name="Google Shape;7043;p9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cxnSp>
        <p:nvCxnSpPr>
          <p:cNvPr id="7044" name="Google Shape;7044;p96"/>
          <p:cNvCxnSpPr/>
          <p:nvPr/>
        </p:nvCxnSpPr>
        <p:spPr>
          <a:xfrm flipH="1" rot="10800000">
            <a:off x="7346884" y="5742831"/>
            <a:ext cx="430213" cy="692150"/>
          </a:xfrm>
          <a:prstGeom prst="straightConnector1">
            <a:avLst/>
          </a:prstGeom>
          <a:noFill/>
          <a:ln cap="flat" cmpd="sng" w="9525">
            <a:solidFill>
              <a:srgbClr val="CC0000"/>
            </a:solidFill>
            <a:prstDash val="solid"/>
            <a:round/>
            <a:headEnd len="med" w="med" type="none"/>
            <a:tailEnd len="med" w="med" type="none"/>
          </a:ln>
        </p:spPr>
      </p:cxnSp>
      <p:sp>
        <p:nvSpPr>
          <p:cNvPr id="7045" name="Google Shape;7045;p96"/>
          <p:cNvSpPr txBox="1"/>
          <p:nvPr/>
        </p:nvSpPr>
        <p:spPr>
          <a:xfrm>
            <a:off x="4493784" y="6271469"/>
            <a:ext cx="2905732" cy="395173"/>
          </a:xfrm>
          <a:prstGeom prst="rect">
            <a:avLst/>
          </a:prstGeom>
          <a:noFill/>
          <a:ln>
            <a:noFill/>
          </a:ln>
        </p:spPr>
        <p:txBody>
          <a:bodyPr anchorCtr="0" anchor="t" bIns="45700" lIns="91425" spcFirstLastPara="1" rIns="91425" wrap="square" tIns="45700">
            <a:spAutoFit/>
          </a:bodyPr>
          <a:lstStyle/>
          <a:p>
            <a:pPr indent="-342900" lvl="0" marL="342900" marR="0" rtl="0" algn="l">
              <a:lnSpc>
                <a:spcPct val="80000"/>
              </a:lnSpc>
              <a:spcBef>
                <a:spcPts val="0"/>
              </a:spcBef>
              <a:spcAft>
                <a:spcPts val="0"/>
              </a:spcAft>
              <a:buNone/>
            </a:pPr>
            <a:r>
              <a:rPr lang="en-US" sz="2400">
                <a:solidFill>
                  <a:schemeClr val="dk1"/>
                </a:solidFill>
                <a:latin typeface="Calibri"/>
                <a:ea typeface="Calibri"/>
                <a:cs typeface="Calibri"/>
                <a:sym typeface="Calibri"/>
              </a:rPr>
              <a:t>increases linearly in N</a:t>
            </a:r>
            <a:endParaRPr/>
          </a:p>
        </p:txBody>
      </p:sp>
      <p:sp>
        <p:nvSpPr>
          <p:cNvPr id="7046" name="Google Shape;7046;p96"/>
          <p:cNvSpPr txBox="1"/>
          <p:nvPr/>
        </p:nvSpPr>
        <p:spPr>
          <a:xfrm>
            <a:off x="2736226" y="5036394"/>
            <a:ext cx="3049233" cy="1036566"/>
          </a:xfrm>
          <a:prstGeom prst="rect">
            <a:avLst/>
          </a:prstGeom>
          <a:noFill/>
          <a:ln>
            <a:noFill/>
          </a:ln>
        </p:spPr>
        <p:txBody>
          <a:bodyPr anchorCtr="0" anchor="t" bIns="45700" lIns="91425" spcFirstLastPara="1" rIns="91425" wrap="square" tIns="45700">
            <a:spAutoFit/>
          </a:bodyPr>
          <a:lstStyle/>
          <a:p>
            <a:pPr indent="-342900" lvl="0" marL="342900" marR="0" rtl="0" algn="r">
              <a:lnSpc>
                <a:spcPct val="80000"/>
              </a:lnSpc>
              <a:spcBef>
                <a:spcPts val="0"/>
              </a:spcBef>
              <a:spcAft>
                <a:spcPts val="0"/>
              </a:spcAft>
              <a:buNone/>
            </a:pPr>
            <a:r>
              <a:rPr i="1" lang="en-US" sz="2400">
                <a:solidFill>
                  <a:schemeClr val="dk1"/>
                </a:solidFill>
                <a:latin typeface="Calibri"/>
                <a:ea typeface="Calibri"/>
                <a:cs typeface="Calibri"/>
                <a:sym typeface="Calibri"/>
              </a:rPr>
              <a:t>time to  distribute F </a:t>
            </a:r>
            <a:endParaRPr/>
          </a:p>
          <a:p>
            <a:pPr indent="-342900" lvl="0" marL="342900" marR="0" rtl="0" algn="r">
              <a:lnSpc>
                <a:spcPct val="80000"/>
              </a:lnSpc>
              <a:spcBef>
                <a:spcPts val="0"/>
              </a:spcBef>
              <a:spcAft>
                <a:spcPts val="0"/>
              </a:spcAft>
              <a:buNone/>
            </a:pPr>
            <a:r>
              <a:rPr i="1" lang="en-US" sz="2400">
                <a:solidFill>
                  <a:schemeClr val="dk1"/>
                </a:solidFill>
                <a:latin typeface="Calibri"/>
                <a:ea typeface="Calibri"/>
                <a:cs typeface="Calibri"/>
                <a:sym typeface="Calibri"/>
              </a:rPr>
              <a:t>to N clients using </a:t>
            </a:r>
            <a:endParaRPr/>
          </a:p>
          <a:p>
            <a:pPr indent="-342900" lvl="0" marL="342900" marR="0" rtl="0" algn="r">
              <a:lnSpc>
                <a:spcPct val="80000"/>
              </a:lnSpc>
              <a:spcBef>
                <a:spcPts val="0"/>
              </a:spcBef>
              <a:spcAft>
                <a:spcPts val="0"/>
              </a:spcAft>
              <a:buNone/>
            </a:pPr>
            <a:r>
              <a:rPr i="1" lang="en-US" sz="2400">
                <a:solidFill>
                  <a:schemeClr val="dk1"/>
                </a:solidFill>
                <a:latin typeface="Calibri"/>
                <a:ea typeface="Calibri"/>
                <a:cs typeface="Calibri"/>
                <a:sym typeface="Calibri"/>
              </a:rPr>
              <a:t>client-server approach</a:t>
            </a:r>
            <a:r>
              <a:rPr lang="en-US" sz="2800">
                <a:solidFill>
                  <a:schemeClr val="dk1"/>
                </a:solidFill>
                <a:latin typeface="Calibri"/>
                <a:ea typeface="Calibri"/>
                <a:cs typeface="Calibri"/>
                <a:sym typeface="Calibri"/>
              </a:rPr>
              <a:t> </a:t>
            </a:r>
            <a:endParaRPr sz="3200">
              <a:solidFill>
                <a:schemeClr val="dk1"/>
              </a:solidFill>
              <a:latin typeface="Calibri"/>
              <a:ea typeface="Calibri"/>
              <a:cs typeface="Calibri"/>
              <a:sym typeface="Calibri"/>
            </a:endParaRPr>
          </a:p>
        </p:txBody>
      </p:sp>
      <p:sp>
        <p:nvSpPr>
          <p:cNvPr id="7047" name="Google Shape;7047;p96"/>
          <p:cNvSpPr/>
          <p:nvPr/>
        </p:nvSpPr>
        <p:spPr>
          <a:xfrm>
            <a:off x="2518348" y="4964956"/>
            <a:ext cx="7421599" cy="123507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7048" name="Google Shape;7048;p96"/>
          <p:cNvSpPr txBox="1"/>
          <p:nvPr/>
        </p:nvSpPr>
        <p:spPr>
          <a:xfrm>
            <a:off x="5696559" y="5279281"/>
            <a:ext cx="4343690" cy="5847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i="1" lang="en-US" sz="3200">
                <a:solidFill>
                  <a:schemeClr val="dk1"/>
                </a:solidFill>
                <a:latin typeface="Calibri"/>
                <a:ea typeface="Calibri"/>
                <a:cs typeface="Calibri"/>
                <a:sym typeface="Calibri"/>
              </a:rPr>
              <a:t> D</a:t>
            </a:r>
            <a:r>
              <a:rPr baseline="-25000" i="1" lang="en-US" sz="3200">
                <a:solidFill>
                  <a:schemeClr val="dk1"/>
                </a:solidFill>
                <a:latin typeface="Calibri"/>
                <a:ea typeface="Calibri"/>
                <a:cs typeface="Calibri"/>
                <a:sym typeface="Calibri"/>
              </a:rPr>
              <a:t>c-s</a:t>
            </a:r>
            <a:r>
              <a:rPr i="1" lang="en-US" sz="3200">
                <a:solidFill>
                  <a:schemeClr val="dk1"/>
                </a:solidFill>
                <a:latin typeface="Calibri"/>
                <a:ea typeface="Calibri"/>
                <a:cs typeface="Calibri"/>
                <a:sym typeface="Calibri"/>
              </a:rPr>
              <a:t> &gt; max{NF/u</a:t>
            </a:r>
            <a:r>
              <a:rPr baseline="-25000" i="1" lang="en-US" sz="3200">
                <a:solidFill>
                  <a:schemeClr val="dk1"/>
                </a:solidFill>
                <a:latin typeface="Calibri"/>
                <a:ea typeface="Calibri"/>
                <a:cs typeface="Calibri"/>
                <a:sym typeface="Calibri"/>
              </a:rPr>
              <a:t>s,</a:t>
            </a:r>
            <a:r>
              <a:rPr i="1" lang="en-US" sz="3200">
                <a:solidFill>
                  <a:schemeClr val="dk1"/>
                </a:solidFill>
                <a:latin typeface="Calibri"/>
                <a:ea typeface="Calibri"/>
                <a:cs typeface="Calibri"/>
                <a:sym typeface="Calibri"/>
              </a:rPr>
              <a:t>,F/d</a:t>
            </a:r>
            <a:r>
              <a:rPr baseline="-25000" i="1" lang="en-US" sz="3200">
                <a:solidFill>
                  <a:schemeClr val="dk1"/>
                </a:solidFill>
                <a:latin typeface="Calibri"/>
                <a:ea typeface="Calibri"/>
                <a:cs typeface="Calibri"/>
                <a:sym typeface="Calibri"/>
              </a:rPr>
              <a:t>min</a:t>
            </a:r>
            <a:r>
              <a:rPr i="1" lang="en-US" sz="3200">
                <a:solidFill>
                  <a:schemeClr val="dk1"/>
                </a:solidFill>
                <a:latin typeface="Calibri"/>
                <a:ea typeface="Calibri"/>
                <a:cs typeface="Calibri"/>
                <a:sym typeface="Calibri"/>
              </a:rPr>
              <a:t>}</a:t>
            </a:r>
            <a:r>
              <a:rPr i="1" lang="en-US" sz="3200">
                <a:solidFill>
                  <a:srgbClr val="CC0000"/>
                </a:solidFill>
                <a:latin typeface="Calibri"/>
                <a:ea typeface="Calibri"/>
                <a:cs typeface="Calibri"/>
                <a:sym typeface="Calibri"/>
              </a:rPr>
              <a:t> </a:t>
            </a:r>
            <a:endParaRPr/>
          </a:p>
        </p:txBody>
      </p:sp>
      <p:cxnSp>
        <p:nvCxnSpPr>
          <p:cNvPr id="7049" name="Google Shape;7049;p96"/>
          <p:cNvCxnSpPr/>
          <p:nvPr/>
        </p:nvCxnSpPr>
        <p:spPr>
          <a:xfrm>
            <a:off x="6593497" y="5707906"/>
            <a:ext cx="174625" cy="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4" name="Shape 7054"/>
        <p:cNvGrpSpPr/>
        <p:nvPr/>
      </p:nvGrpSpPr>
      <p:grpSpPr>
        <a:xfrm>
          <a:off x="0" y="0"/>
          <a:ext cx="0" cy="0"/>
          <a:chOff x="0" y="0"/>
          <a:chExt cx="0" cy="0"/>
        </a:xfrm>
      </p:grpSpPr>
      <p:sp>
        <p:nvSpPr>
          <p:cNvPr id="7055" name="Google Shape;7055;p97"/>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File distribution time: P2P</a:t>
            </a:r>
            <a:endParaRPr sz="4400"/>
          </a:p>
        </p:txBody>
      </p:sp>
      <p:sp>
        <p:nvSpPr>
          <p:cNvPr id="7056" name="Google Shape;7056;p97"/>
          <p:cNvSpPr txBox="1"/>
          <p:nvPr/>
        </p:nvSpPr>
        <p:spPr>
          <a:xfrm>
            <a:off x="755629" y="1323701"/>
            <a:ext cx="6098355" cy="201453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server transmission: </a:t>
            </a:r>
            <a:r>
              <a:rPr lang="en-US" sz="2800">
                <a:solidFill>
                  <a:schemeClr val="dk1"/>
                </a:solidFill>
                <a:latin typeface="Calibri"/>
                <a:ea typeface="Calibri"/>
                <a:cs typeface="Calibri"/>
                <a:sym typeface="Calibri"/>
              </a:rPr>
              <a:t>must</a:t>
            </a:r>
            <a:r>
              <a:rPr i="1" lang="en-US" sz="2800">
                <a:solidFill>
                  <a:srgbClr val="CC0000"/>
                </a:solidFill>
                <a:latin typeface="Calibri"/>
                <a:ea typeface="Calibri"/>
                <a:cs typeface="Calibri"/>
                <a:sym typeface="Calibri"/>
              </a:rPr>
              <a:t> </a:t>
            </a:r>
            <a:r>
              <a:rPr lang="en-US" sz="2800">
                <a:solidFill>
                  <a:schemeClr val="dk1"/>
                </a:solidFill>
                <a:latin typeface="Calibri"/>
                <a:ea typeface="Calibri"/>
                <a:cs typeface="Calibri"/>
                <a:sym typeface="Calibri"/>
              </a:rPr>
              <a:t>upload at least one copy:</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time to send one copy: </a:t>
            </a:r>
            <a:r>
              <a:rPr b="0" i="1" lang="en-US" sz="2400" u="none" cap="none" strike="noStrike">
                <a:solidFill>
                  <a:schemeClr val="dk1"/>
                </a:solidFill>
                <a:latin typeface="Calibri"/>
                <a:ea typeface="Calibri"/>
                <a:cs typeface="Calibri"/>
                <a:sym typeface="Calibri"/>
              </a:rPr>
              <a:t>F/u</a:t>
            </a:r>
            <a:r>
              <a:rPr b="0" baseline="-25000" i="1" lang="en-US" sz="2400" u="none" cap="none" strike="noStrike">
                <a:solidFill>
                  <a:schemeClr val="dk1"/>
                </a:solidFill>
                <a:latin typeface="Calibri"/>
                <a:ea typeface="Calibri"/>
                <a:cs typeface="Calibri"/>
                <a:sym typeface="Calibri"/>
              </a:rPr>
              <a:t>s </a:t>
            </a:r>
            <a:endParaRPr b="0" i="0" sz="2400" u="none" cap="none" strike="noStrike">
              <a:solidFill>
                <a:schemeClr val="dk1"/>
              </a:solidFill>
              <a:latin typeface="Calibri"/>
              <a:ea typeface="Calibri"/>
              <a:cs typeface="Calibri"/>
              <a:sym typeface="Calibri"/>
            </a:endParaRPr>
          </a:p>
        </p:txBody>
      </p:sp>
      <p:sp>
        <p:nvSpPr>
          <p:cNvPr id="7057" name="Google Shape;7057;p97"/>
          <p:cNvSpPr/>
          <p:nvPr/>
        </p:nvSpPr>
        <p:spPr>
          <a:xfrm>
            <a:off x="877866" y="2707749"/>
            <a:ext cx="5773736" cy="1209676"/>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i="1" lang="en-US" sz="2800">
                <a:solidFill>
                  <a:srgbClr val="CC0000"/>
                </a:solidFill>
                <a:latin typeface="Calibri"/>
                <a:ea typeface="Calibri"/>
                <a:cs typeface="Calibri"/>
                <a:sym typeface="Calibri"/>
              </a:rPr>
              <a:t>client: </a:t>
            </a:r>
            <a:r>
              <a:rPr lang="en-US" sz="2800">
                <a:solidFill>
                  <a:schemeClr val="dk1"/>
                </a:solidFill>
                <a:latin typeface="Calibri"/>
                <a:ea typeface="Calibri"/>
                <a:cs typeface="Calibri"/>
                <a:sym typeface="Calibri"/>
              </a:rPr>
              <a:t>each client must download file copy</a:t>
            </a:r>
            <a:endParaRPr/>
          </a:p>
          <a:p>
            <a:pPr indent="-342900" lvl="1" marL="800100" marR="0" rtl="0" algn="l">
              <a:lnSpc>
                <a:spcPct val="99000"/>
              </a:lnSpc>
              <a:spcBef>
                <a:spcPts val="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min client download time: </a:t>
            </a:r>
            <a:r>
              <a:rPr b="0" i="1" lang="en-US" sz="2400" u="none" cap="none" strike="noStrike">
                <a:solidFill>
                  <a:schemeClr val="dk1"/>
                </a:solidFill>
                <a:latin typeface="Calibri"/>
                <a:ea typeface="Calibri"/>
                <a:cs typeface="Calibri"/>
                <a:sym typeface="Calibri"/>
              </a:rPr>
              <a:t>F/d</a:t>
            </a:r>
            <a:r>
              <a:rPr b="0" baseline="-25000" i="1" lang="en-US" sz="2400" u="none" cap="none" strike="noStrike">
                <a:solidFill>
                  <a:schemeClr val="dk1"/>
                </a:solidFill>
                <a:latin typeface="Calibri"/>
                <a:ea typeface="Calibri"/>
                <a:cs typeface="Calibri"/>
                <a:sym typeface="Calibri"/>
              </a:rPr>
              <a:t>min</a:t>
            </a:r>
            <a:r>
              <a:rPr b="0" i="1" lang="en-US" sz="2400" u="none" cap="none" strike="noStrike">
                <a:solidFill>
                  <a:srgbClr val="CC0000"/>
                </a:solidFill>
                <a:latin typeface="Calibri"/>
                <a:ea typeface="Calibri"/>
                <a:cs typeface="Calibri"/>
                <a:sym typeface="Calibri"/>
              </a:rPr>
              <a:t> </a:t>
            </a:r>
            <a:endParaRPr b="0" i="1" sz="2400" u="none" cap="none" strike="noStrike">
              <a:solidFill>
                <a:schemeClr val="dk1"/>
              </a:solidFill>
              <a:latin typeface="Calibri"/>
              <a:ea typeface="Calibri"/>
              <a:cs typeface="Calibri"/>
              <a:sym typeface="Calibri"/>
            </a:endParaRPr>
          </a:p>
        </p:txBody>
      </p:sp>
      <p:grpSp>
        <p:nvGrpSpPr>
          <p:cNvPr id="7058" name="Google Shape;7058;p97"/>
          <p:cNvGrpSpPr/>
          <p:nvPr/>
        </p:nvGrpSpPr>
        <p:grpSpPr>
          <a:xfrm>
            <a:off x="7006772" y="1790995"/>
            <a:ext cx="4518025" cy="2036762"/>
            <a:chOff x="4471988" y="1284288"/>
            <a:chExt cx="4518025" cy="2036762"/>
          </a:xfrm>
        </p:grpSpPr>
        <p:sp>
          <p:nvSpPr>
            <p:cNvPr id="7059" name="Google Shape;7059;p97"/>
            <p:cNvSpPr/>
            <p:nvPr/>
          </p:nvSpPr>
          <p:spPr>
            <a:xfrm>
              <a:off x="5600700" y="2111375"/>
              <a:ext cx="2136775" cy="1209675"/>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cxnSp>
          <p:nvCxnSpPr>
            <p:cNvPr id="7060" name="Google Shape;7060;p97"/>
            <p:cNvCxnSpPr/>
            <p:nvPr/>
          </p:nvCxnSpPr>
          <p:spPr>
            <a:xfrm>
              <a:off x="5338763" y="2085975"/>
              <a:ext cx="455612" cy="214313"/>
            </a:xfrm>
            <a:prstGeom prst="straightConnector1">
              <a:avLst/>
            </a:prstGeom>
            <a:noFill/>
            <a:ln cap="flat" cmpd="sng" w="9525">
              <a:solidFill>
                <a:schemeClr val="dk1"/>
              </a:solidFill>
              <a:prstDash val="solid"/>
              <a:round/>
              <a:headEnd len="med" w="med" type="none"/>
              <a:tailEnd len="med" w="med" type="triangle"/>
            </a:ln>
          </p:spPr>
        </p:cxnSp>
        <p:sp>
          <p:nvSpPr>
            <p:cNvPr id="7061" name="Google Shape;7061;p97"/>
            <p:cNvSpPr txBox="1"/>
            <p:nvPr/>
          </p:nvSpPr>
          <p:spPr>
            <a:xfrm>
              <a:off x="5364163" y="1763713"/>
              <a:ext cx="362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i="1" lang="en-US" sz="1800">
                  <a:solidFill>
                    <a:schemeClr val="dk1"/>
                  </a:solidFill>
                  <a:latin typeface="Calibri"/>
                  <a:ea typeface="Calibri"/>
                  <a:cs typeface="Calibri"/>
                  <a:sym typeface="Calibri"/>
                </a:rPr>
                <a:t>u</a:t>
              </a:r>
              <a:r>
                <a:rPr baseline="-25000" i="1" lang="en-US" sz="1800">
                  <a:solidFill>
                    <a:schemeClr val="dk1"/>
                  </a:solidFill>
                  <a:latin typeface="Calibri"/>
                  <a:ea typeface="Calibri"/>
                  <a:cs typeface="Calibri"/>
                  <a:sym typeface="Calibri"/>
                </a:rPr>
                <a:t>s</a:t>
              </a:r>
              <a:endParaRPr/>
            </a:p>
          </p:txBody>
        </p:sp>
        <p:cxnSp>
          <p:nvCxnSpPr>
            <p:cNvPr id="7062" name="Google Shape;7062;p97"/>
            <p:cNvCxnSpPr/>
            <p:nvPr/>
          </p:nvCxnSpPr>
          <p:spPr>
            <a:xfrm>
              <a:off x="5089525" y="2713038"/>
              <a:ext cx="574675" cy="0"/>
            </a:xfrm>
            <a:prstGeom prst="straightConnector1">
              <a:avLst/>
            </a:prstGeom>
            <a:noFill/>
            <a:ln cap="flat" cmpd="sng" w="9525">
              <a:solidFill>
                <a:schemeClr val="dk1"/>
              </a:solidFill>
              <a:prstDash val="solid"/>
              <a:round/>
              <a:headEnd len="med" w="med" type="none"/>
              <a:tailEnd len="med" w="med" type="triangle"/>
            </a:ln>
          </p:spPr>
        </p:cxnSp>
        <p:cxnSp>
          <p:nvCxnSpPr>
            <p:cNvPr id="7063" name="Google Shape;7063;p97"/>
            <p:cNvCxnSpPr/>
            <p:nvPr/>
          </p:nvCxnSpPr>
          <p:spPr>
            <a:xfrm rot="10800000">
              <a:off x="5119688" y="2814638"/>
              <a:ext cx="566737" cy="0"/>
            </a:xfrm>
            <a:prstGeom prst="straightConnector1">
              <a:avLst/>
            </a:prstGeom>
            <a:noFill/>
            <a:ln cap="flat" cmpd="sng" w="9525">
              <a:solidFill>
                <a:schemeClr val="dk1"/>
              </a:solidFill>
              <a:prstDash val="solid"/>
              <a:round/>
              <a:headEnd len="med" w="med" type="none"/>
              <a:tailEnd len="med" w="med" type="triangle"/>
            </a:ln>
          </p:spPr>
        </p:cxnSp>
        <p:sp>
          <p:nvSpPr>
            <p:cNvPr id="7064" name="Google Shape;7064;p97"/>
            <p:cNvSpPr txBox="1"/>
            <p:nvPr/>
          </p:nvSpPr>
          <p:spPr>
            <a:xfrm>
              <a:off x="6103696" y="2460625"/>
              <a:ext cx="105458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network</a:t>
              </a:r>
              <a:endParaRPr sz="1800">
                <a:solidFill>
                  <a:schemeClr val="lt1"/>
                </a:solidFill>
                <a:latin typeface="Calibri"/>
                <a:ea typeface="Calibri"/>
                <a:cs typeface="Calibri"/>
                <a:sym typeface="Calibri"/>
              </a:endParaRPr>
            </a:p>
          </p:txBody>
        </p:sp>
        <p:sp>
          <p:nvSpPr>
            <p:cNvPr id="7065" name="Google Shape;7065;p97"/>
            <p:cNvSpPr/>
            <p:nvPr/>
          </p:nvSpPr>
          <p:spPr>
            <a:xfrm>
              <a:off x="4740275" y="1562100"/>
              <a:ext cx="334963" cy="401638"/>
            </a:xfrm>
            <a:prstGeom prst="can">
              <a:avLst>
                <a:gd fmla="val 24242" name="adj"/>
              </a:avLst>
            </a:prstGeom>
            <a:gradFill>
              <a:gsLst>
                <a:gs pos="0">
                  <a:srgbClr val="000099"/>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Arial"/>
                <a:buNone/>
              </a:pPr>
              <a:r>
                <a:t/>
              </a:r>
              <a:endParaRPr sz="900">
                <a:solidFill>
                  <a:schemeClr val="dk1"/>
                </a:solidFill>
                <a:latin typeface="Calibri"/>
                <a:ea typeface="Calibri"/>
                <a:cs typeface="Calibri"/>
                <a:sym typeface="Calibri"/>
              </a:endParaRPr>
            </a:p>
          </p:txBody>
        </p:sp>
        <p:cxnSp>
          <p:nvCxnSpPr>
            <p:cNvPr id="7066" name="Google Shape;7066;p97"/>
            <p:cNvCxnSpPr/>
            <p:nvPr/>
          </p:nvCxnSpPr>
          <p:spPr>
            <a:xfrm flipH="1" rot="10800000">
              <a:off x="7000875" y="1819275"/>
              <a:ext cx="180975" cy="530225"/>
            </a:xfrm>
            <a:prstGeom prst="straightConnector1">
              <a:avLst/>
            </a:prstGeom>
            <a:noFill/>
            <a:ln cap="flat" cmpd="sng" w="9525">
              <a:solidFill>
                <a:schemeClr val="dk1"/>
              </a:solidFill>
              <a:prstDash val="solid"/>
              <a:round/>
              <a:headEnd len="med" w="med" type="triangle"/>
              <a:tailEnd len="med" w="med" type="none"/>
            </a:ln>
          </p:spPr>
        </p:cxnSp>
        <p:cxnSp>
          <p:nvCxnSpPr>
            <p:cNvPr id="7067" name="Google Shape;7067;p97"/>
            <p:cNvCxnSpPr/>
            <p:nvPr/>
          </p:nvCxnSpPr>
          <p:spPr>
            <a:xfrm flipH="1">
              <a:off x="7078663" y="1825625"/>
              <a:ext cx="187325" cy="534988"/>
            </a:xfrm>
            <a:prstGeom prst="straightConnector1">
              <a:avLst/>
            </a:prstGeom>
            <a:noFill/>
            <a:ln cap="flat" cmpd="sng" w="9525">
              <a:solidFill>
                <a:schemeClr val="dk1"/>
              </a:solidFill>
              <a:prstDash val="solid"/>
              <a:round/>
              <a:headEnd len="med" w="med" type="triangle"/>
              <a:tailEnd len="med" w="med" type="none"/>
            </a:ln>
          </p:spPr>
        </p:cxnSp>
        <p:cxnSp>
          <p:nvCxnSpPr>
            <p:cNvPr id="7068" name="Google Shape;7068;p97"/>
            <p:cNvCxnSpPr/>
            <p:nvPr/>
          </p:nvCxnSpPr>
          <p:spPr>
            <a:xfrm flipH="1" rot="10800000">
              <a:off x="6416675" y="1736725"/>
              <a:ext cx="179388" cy="530225"/>
            </a:xfrm>
            <a:prstGeom prst="straightConnector1">
              <a:avLst/>
            </a:prstGeom>
            <a:noFill/>
            <a:ln cap="flat" cmpd="sng" w="9525">
              <a:solidFill>
                <a:schemeClr val="dk1"/>
              </a:solidFill>
              <a:prstDash val="solid"/>
              <a:round/>
              <a:headEnd len="med" w="med" type="triangle"/>
              <a:tailEnd len="med" w="med" type="none"/>
            </a:ln>
          </p:spPr>
        </p:cxnSp>
        <p:cxnSp>
          <p:nvCxnSpPr>
            <p:cNvPr id="7069" name="Google Shape;7069;p97"/>
            <p:cNvCxnSpPr/>
            <p:nvPr/>
          </p:nvCxnSpPr>
          <p:spPr>
            <a:xfrm flipH="1">
              <a:off x="6492875" y="1743075"/>
              <a:ext cx="185738" cy="534988"/>
            </a:xfrm>
            <a:prstGeom prst="straightConnector1">
              <a:avLst/>
            </a:prstGeom>
            <a:noFill/>
            <a:ln cap="flat" cmpd="sng" w="9525">
              <a:solidFill>
                <a:schemeClr val="dk1"/>
              </a:solidFill>
              <a:prstDash val="solid"/>
              <a:round/>
              <a:headEnd len="med" w="med" type="triangle"/>
              <a:tailEnd len="med" w="med" type="none"/>
            </a:ln>
          </p:spPr>
        </p:cxnSp>
        <p:cxnSp>
          <p:nvCxnSpPr>
            <p:cNvPr id="7070" name="Google Shape;7070;p97"/>
            <p:cNvCxnSpPr/>
            <p:nvPr/>
          </p:nvCxnSpPr>
          <p:spPr>
            <a:xfrm>
              <a:off x="7723188" y="2579688"/>
              <a:ext cx="658812" cy="0"/>
            </a:xfrm>
            <a:prstGeom prst="straightConnector1">
              <a:avLst/>
            </a:prstGeom>
            <a:noFill/>
            <a:ln cap="flat" cmpd="sng" w="19050">
              <a:solidFill>
                <a:schemeClr val="dk1"/>
              </a:solidFill>
              <a:prstDash val="solid"/>
              <a:round/>
              <a:headEnd len="med" w="med" type="none"/>
              <a:tailEnd len="med" w="med" type="triangle"/>
            </a:ln>
          </p:spPr>
        </p:cxnSp>
        <p:cxnSp>
          <p:nvCxnSpPr>
            <p:cNvPr id="7071" name="Google Shape;7071;p97"/>
            <p:cNvCxnSpPr/>
            <p:nvPr/>
          </p:nvCxnSpPr>
          <p:spPr>
            <a:xfrm>
              <a:off x="7726363" y="2682875"/>
              <a:ext cx="660400" cy="0"/>
            </a:xfrm>
            <a:prstGeom prst="straightConnector1">
              <a:avLst/>
            </a:prstGeom>
            <a:noFill/>
            <a:ln cap="flat" cmpd="sng" w="19050">
              <a:solidFill>
                <a:schemeClr val="dk1"/>
              </a:solidFill>
              <a:prstDash val="solid"/>
              <a:round/>
              <a:headEnd len="med" w="med" type="triangle"/>
              <a:tailEnd len="med" w="med" type="none"/>
            </a:ln>
          </p:spPr>
        </p:cxnSp>
        <p:sp>
          <p:nvSpPr>
            <p:cNvPr id="7072" name="Google Shape;7072;p97"/>
            <p:cNvSpPr txBox="1"/>
            <p:nvPr/>
          </p:nvSpPr>
          <p:spPr>
            <a:xfrm>
              <a:off x="7813675" y="2146300"/>
              <a:ext cx="4508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i="1" lang="en-US" sz="1800">
                  <a:solidFill>
                    <a:schemeClr val="dk1"/>
                  </a:solidFill>
                  <a:latin typeface="Calibri"/>
                  <a:ea typeface="Calibri"/>
                  <a:cs typeface="Calibri"/>
                  <a:sym typeface="Calibri"/>
                </a:rPr>
                <a:t>d</a:t>
              </a:r>
              <a:r>
                <a:rPr baseline="-25000" i="1" lang="en-US" sz="1800">
                  <a:solidFill>
                    <a:schemeClr val="dk1"/>
                  </a:solidFill>
                  <a:latin typeface="Calibri"/>
                  <a:ea typeface="Calibri"/>
                  <a:cs typeface="Calibri"/>
                  <a:sym typeface="Calibri"/>
                </a:rPr>
                <a:t>i</a:t>
              </a:r>
              <a:endParaRPr/>
            </a:p>
          </p:txBody>
        </p:sp>
        <p:sp>
          <p:nvSpPr>
            <p:cNvPr id="7073" name="Google Shape;7073;p97"/>
            <p:cNvSpPr txBox="1"/>
            <p:nvPr/>
          </p:nvSpPr>
          <p:spPr>
            <a:xfrm>
              <a:off x="7829550" y="2663825"/>
              <a:ext cx="5064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i="1" lang="en-US" sz="1800">
                  <a:solidFill>
                    <a:schemeClr val="dk1"/>
                  </a:solidFill>
                  <a:latin typeface="Calibri"/>
                  <a:ea typeface="Calibri"/>
                  <a:cs typeface="Calibri"/>
                  <a:sym typeface="Calibri"/>
                </a:rPr>
                <a:t>u</a:t>
              </a:r>
              <a:r>
                <a:rPr baseline="-25000" i="1" lang="en-US" sz="1800">
                  <a:solidFill>
                    <a:schemeClr val="dk1"/>
                  </a:solidFill>
                  <a:latin typeface="Calibri"/>
                  <a:ea typeface="Calibri"/>
                  <a:cs typeface="Calibri"/>
                  <a:sym typeface="Calibri"/>
                </a:rPr>
                <a:t>i</a:t>
              </a:r>
              <a:endParaRPr/>
            </a:p>
          </p:txBody>
        </p:sp>
        <p:sp>
          <p:nvSpPr>
            <p:cNvPr id="7074" name="Google Shape;7074;p97"/>
            <p:cNvSpPr txBox="1"/>
            <p:nvPr/>
          </p:nvSpPr>
          <p:spPr>
            <a:xfrm>
              <a:off x="4498975" y="1616075"/>
              <a:ext cx="79057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600"/>
                <a:buFont typeface="Calibri"/>
                <a:buNone/>
              </a:pPr>
              <a:r>
                <a:rPr i="1" lang="en-US" sz="1600">
                  <a:solidFill>
                    <a:schemeClr val="dk1"/>
                  </a:solidFill>
                  <a:latin typeface="Calibri"/>
                  <a:ea typeface="Calibri"/>
                  <a:cs typeface="Calibri"/>
                  <a:sym typeface="Calibri"/>
                </a:rPr>
                <a:t>F</a:t>
              </a:r>
              <a:endParaRPr baseline="-25000" i="1" sz="1600">
                <a:solidFill>
                  <a:schemeClr val="dk1"/>
                </a:solidFill>
                <a:latin typeface="Calibri"/>
                <a:ea typeface="Calibri"/>
                <a:cs typeface="Calibri"/>
                <a:sym typeface="Calibri"/>
              </a:endParaRPr>
            </a:p>
          </p:txBody>
        </p:sp>
        <p:grpSp>
          <p:nvGrpSpPr>
            <p:cNvPr id="7075" name="Google Shape;7075;p97"/>
            <p:cNvGrpSpPr/>
            <p:nvPr/>
          </p:nvGrpSpPr>
          <p:grpSpPr>
            <a:xfrm>
              <a:off x="5114925" y="1690688"/>
              <a:ext cx="292100" cy="517525"/>
              <a:chOff x="4140" y="429"/>
              <a:chExt cx="1425" cy="2396"/>
            </a:xfrm>
          </p:grpSpPr>
          <p:sp>
            <p:nvSpPr>
              <p:cNvPr id="7076" name="Google Shape;7076;p9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077" name="Google Shape;7077;p97"/>
              <p:cNvSpPr/>
              <p:nvPr/>
            </p:nvSpPr>
            <p:spPr>
              <a:xfrm>
                <a:off x="4210" y="429"/>
                <a:ext cx="1046"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78" name="Google Shape;7078;p9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079" name="Google Shape;7079;p9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080" name="Google Shape;7080;p97"/>
              <p:cNvSpPr/>
              <p:nvPr/>
            </p:nvSpPr>
            <p:spPr>
              <a:xfrm>
                <a:off x="4210" y="694"/>
                <a:ext cx="596"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7081" name="Google Shape;7081;p97"/>
              <p:cNvGrpSpPr/>
              <p:nvPr/>
            </p:nvGrpSpPr>
            <p:grpSpPr>
              <a:xfrm>
                <a:off x="4752" y="671"/>
                <a:ext cx="581" cy="140"/>
                <a:chOff x="618" y="2571"/>
                <a:chExt cx="725" cy="134"/>
              </a:xfrm>
            </p:grpSpPr>
            <p:sp>
              <p:nvSpPr>
                <p:cNvPr id="7082" name="Google Shape;7082;p97"/>
                <p:cNvSpPr/>
                <p:nvPr/>
              </p:nvSpPr>
              <p:spPr>
                <a:xfrm>
                  <a:off x="618" y="2571"/>
                  <a:ext cx="725"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83" name="Google Shape;7083;p97"/>
                <p:cNvSpPr/>
                <p:nvPr/>
              </p:nvSpPr>
              <p:spPr>
                <a:xfrm>
                  <a:off x="637" y="2585"/>
                  <a:ext cx="686"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7084" name="Google Shape;7084;p97"/>
              <p:cNvSpPr/>
              <p:nvPr/>
            </p:nvSpPr>
            <p:spPr>
              <a:xfrm>
                <a:off x="4225" y="1017"/>
                <a:ext cx="596" cy="51"/>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7085" name="Google Shape;7085;p97"/>
              <p:cNvGrpSpPr/>
              <p:nvPr/>
            </p:nvGrpSpPr>
            <p:grpSpPr>
              <a:xfrm>
                <a:off x="4744" y="995"/>
                <a:ext cx="581" cy="132"/>
                <a:chOff x="610" y="2569"/>
                <a:chExt cx="725" cy="137"/>
              </a:xfrm>
            </p:grpSpPr>
            <p:sp>
              <p:nvSpPr>
                <p:cNvPr id="7086" name="Google Shape;7086;p97"/>
                <p:cNvSpPr/>
                <p:nvPr/>
              </p:nvSpPr>
              <p:spPr>
                <a:xfrm>
                  <a:off x="610" y="2569"/>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87" name="Google Shape;7087;p97"/>
                <p:cNvSpPr/>
                <p:nvPr/>
              </p:nvSpPr>
              <p:spPr>
                <a:xfrm>
                  <a:off x="630" y="2584"/>
                  <a:ext cx="68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7088" name="Google Shape;7088;p97"/>
              <p:cNvSpPr/>
              <p:nvPr/>
            </p:nvSpPr>
            <p:spPr>
              <a:xfrm>
                <a:off x="4217" y="1355"/>
                <a:ext cx="596" cy="51"/>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89" name="Google Shape;7089;p97"/>
              <p:cNvSpPr/>
              <p:nvPr/>
            </p:nvSpPr>
            <p:spPr>
              <a:xfrm>
                <a:off x="4225" y="1656"/>
                <a:ext cx="596"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7090" name="Google Shape;7090;p97"/>
              <p:cNvGrpSpPr/>
              <p:nvPr/>
            </p:nvGrpSpPr>
            <p:grpSpPr>
              <a:xfrm>
                <a:off x="4737" y="1627"/>
                <a:ext cx="581" cy="154"/>
                <a:chOff x="616" y="2568"/>
                <a:chExt cx="724" cy="142"/>
              </a:xfrm>
            </p:grpSpPr>
            <p:sp>
              <p:nvSpPr>
                <p:cNvPr id="7091" name="Google Shape;7091;p97"/>
                <p:cNvSpPr/>
                <p:nvPr/>
              </p:nvSpPr>
              <p:spPr>
                <a:xfrm>
                  <a:off x="616" y="2568"/>
                  <a:ext cx="724" cy="142"/>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92" name="Google Shape;7092;p97"/>
                <p:cNvSpPr/>
                <p:nvPr/>
              </p:nvSpPr>
              <p:spPr>
                <a:xfrm>
                  <a:off x="635" y="2582"/>
                  <a:ext cx="685"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7093" name="Google Shape;7093;p9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7094" name="Google Shape;7094;p97"/>
              <p:cNvGrpSpPr/>
              <p:nvPr/>
            </p:nvGrpSpPr>
            <p:grpSpPr>
              <a:xfrm>
                <a:off x="4737" y="1326"/>
                <a:ext cx="581" cy="140"/>
                <a:chOff x="611" y="2567"/>
                <a:chExt cx="724" cy="140"/>
              </a:xfrm>
            </p:grpSpPr>
            <p:sp>
              <p:nvSpPr>
                <p:cNvPr id="7095" name="Google Shape;7095;p97"/>
                <p:cNvSpPr/>
                <p:nvPr/>
              </p:nvSpPr>
              <p:spPr>
                <a:xfrm>
                  <a:off x="611" y="2567"/>
                  <a:ext cx="724"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96" name="Google Shape;7096;p97"/>
                <p:cNvSpPr/>
                <p:nvPr/>
              </p:nvSpPr>
              <p:spPr>
                <a:xfrm>
                  <a:off x="630" y="2581"/>
                  <a:ext cx="68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7097" name="Google Shape;7097;p97"/>
              <p:cNvSpPr/>
              <p:nvPr/>
            </p:nvSpPr>
            <p:spPr>
              <a:xfrm>
                <a:off x="5247" y="429"/>
                <a:ext cx="70"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98" name="Google Shape;7098;p9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099" name="Google Shape;7099;p9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100" name="Google Shape;7100;p97"/>
              <p:cNvSpPr/>
              <p:nvPr/>
            </p:nvSpPr>
            <p:spPr>
              <a:xfrm>
                <a:off x="5519" y="2612"/>
                <a:ext cx="46"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01" name="Google Shape;7101;p9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102" name="Google Shape;7102;p97"/>
              <p:cNvSpPr/>
              <p:nvPr/>
            </p:nvSpPr>
            <p:spPr>
              <a:xfrm>
                <a:off x="4140" y="2678"/>
                <a:ext cx="1200" cy="147"/>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03" name="Google Shape;7103;p97"/>
              <p:cNvSpPr/>
              <p:nvPr/>
            </p:nvSpPr>
            <p:spPr>
              <a:xfrm>
                <a:off x="4210" y="2707"/>
                <a:ext cx="1069" cy="88"/>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04" name="Google Shape;7104;p97"/>
              <p:cNvSpPr/>
              <p:nvPr/>
            </p:nvSpPr>
            <p:spPr>
              <a:xfrm>
                <a:off x="4310" y="2384"/>
                <a:ext cx="155"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05" name="Google Shape;7105;p97"/>
              <p:cNvSpPr/>
              <p:nvPr/>
            </p:nvSpPr>
            <p:spPr>
              <a:xfrm>
                <a:off x="4489" y="2384"/>
                <a:ext cx="155"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000"/>
                  <a:buFont typeface="Arial"/>
                  <a:buNone/>
                </a:pPr>
                <a:r>
                  <a:t/>
                </a:r>
                <a:endParaRPr sz="2000">
                  <a:solidFill>
                    <a:srgbClr val="FF0000"/>
                  </a:solidFill>
                  <a:latin typeface="Calibri"/>
                  <a:ea typeface="Calibri"/>
                  <a:cs typeface="Calibri"/>
                  <a:sym typeface="Calibri"/>
                </a:endParaRPr>
              </a:p>
            </p:txBody>
          </p:sp>
          <p:sp>
            <p:nvSpPr>
              <p:cNvPr id="7106" name="Google Shape;7106;p97"/>
              <p:cNvSpPr/>
              <p:nvPr/>
            </p:nvSpPr>
            <p:spPr>
              <a:xfrm>
                <a:off x="4659" y="2384"/>
                <a:ext cx="163"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07" name="Google Shape;7107;p97"/>
              <p:cNvSpPr/>
              <p:nvPr/>
            </p:nvSpPr>
            <p:spPr>
              <a:xfrm>
                <a:off x="5062" y="1833"/>
                <a:ext cx="85" cy="764"/>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7108" name="Google Shape;7108;p97"/>
            <p:cNvGrpSpPr/>
            <p:nvPr/>
          </p:nvGrpSpPr>
          <p:grpSpPr>
            <a:xfrm>
              <a:off x="4471988" y="2492375"/>
              <a:ext cx="620712" cy="512763"/>
              <a:chOff x="-44" y="1473"/>
              <a:chExt cx="981" cy="1105"/>
            </a:xfrm>
          </p:grpSpPr>
          <p:pic>
            <p:nvPicPr>
              <p:cNvPr descr="desktop_computer_stylized_medium" id="7109" name="Google Shape;7109;p9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110" name="Google Shape;7110;p9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111" name="Google Shape;7111;p97"/>
            <p:cNvGrpSpPr/>
            <p:nvPr/>
          </p:nvGrpSpPr>
          <p:grpSpPr>
            <a:xfrm>
              <a:off x="6300788" y="1284288"/>
              <a:ext cx="620712" cy="512762"/>
              <a:chOff x="-44" y="1473"/>
              <a:chExt cx="981" cy="1105"/>
            </a:xfrm>
          </p:grpSpPr>
          <p:pic>
            <p:nvPicPr>
              <p:cNvPr descr="desktop_computer_stylized_medium" id="7112" name="Google Shape;7112;p9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113" name="Google Shape;7113;p9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114" name="Google Shape;7114;p97"/>
            <p:cNvGrpSpPr/>
            <p:nvPr/>
          </p:nvGrpSpPr>
          <p:grpSpPr>
            <a:xfrm>
              <a:off x="6910388" y="1360488"/>
              <a:ext cx="620712" cy="512762"/>
              <a:chOff x="-44" y="1473"/>
              <a:chExt cx="981" cy="1105"/>
            </a:xfrm>
          </p:grpSpPr>
          <p:pic>
            <p:nvPicPr>
              <p:cNvPr descr="desktop_computer_stylized_medium" id="7115" name="Google Shape;7115;p9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116" name="Google Shape;7116;p9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117" name="Google Shape;7117;p97"/>
            <p:cNvGrpSpPr/>
            <p:nvPr/>
          </p:nvGrpSpPr>
          <p:grpSpPr>
            <a:xfrm flipH="1">
              <a:off x="8369300" y="2362200"/>
              <a:ext cx="620713" cy="512763"/>
              <a:chOff x="-44" y="1473"/>
              <a:chExt cx="981" cy="1105"/>
            </a:xfrm>
          </p:grpSpPr>
          <p:pic>
            <p:nvPicPr>
              <p:cNvPr descr="desktop_computer_stylized_medium" id="7118" name="Google Shape;7118;p9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119" name="Google Shape;7119;p9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sp>
        <p:nvSpPr>
          <p:cNvPr id="7120" name="Google Shape;7120;p97"/>
          <p:cNvSpPr/>
          <p:nvPr/>
        </p:nvSpPr>
        <p:spPr>
          <a:xfrm>
            <a:off x="865984" y="3876829"/>
            <a:ext cx="8524160" cy="1252538"/>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i="1" lang="en-US" sz="2800">
                <a:solidFill>
                  <a:srgbClr val="CC0000"/>
                </a:solidFill>
                <a:latin typeface="Calibri"/>
                <a:ea typeface="Calibri"/>
                <a:cs typeface="Calibri"/>
                <a:sym typeface="Calibri"/>
              </a:rPr>
              <a:t>clients: </a:t>
            </a:r>
            <a:r>
              <a:rPr lang="en-US" sz="2800">
                <a:solidFill>
                  <a:schemeClr val="dk1"/>
                </a:solidFill>
                <a:latin typeface="Calibri"/>
                <a:ea typeface="Calibri"/>
                <a:cs typeface="Calibri"/>
                <a:sym typeface="Calibri"/>
              </a:rPr>
              <a:t>as aggregate must download </a:t>
            </a:r>
            <a:r>
              <a:rPr i="1" lang="en-US" sz="2800">
                <a:solidFill>
                  <a:schemeClr val="dk1"/>
                </a:solidFill>
                <a:latin typeface="Calibri"/>
                <a:ea typeface="Calibri"/>
                <a:cs typeface="Calibri"/>
                <a:sym typeface="Calibri"/>
              </a:rPr>
              <a:t>NF</a:t>
            </a:r>
            <a:r>
              <a:rPr lang="en-US" sz="2800">
                <a:solidFill>
                  <a:schemeClr val="dk1"/>
                </a:solidFill>
                <a:latin typeface="Calibri"/>
                <a:ea typeface="Calibri"/>
                <a:cs typeface="Calibri"/>
                <a:sym typeface="Calibri"/>
              </a:rPr>
              <a:t> bits</a:t>
            </a:r>
            <a:endParaRPr/>
          </a:p>
          <a:p>
            <a:pPr indent="-223837" lvl="1" marL="681038" marR="0" rtl="0" algn="l">
              <a:lnSpc>
                <a:spcPct val="85000"/>
              </a:lnSpc>
              <a:spcBef>
                <a:spcPts val="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max upload rate (limiting max download rate) is </a:t>
            </a:r>
            <a:r>
              <a:rPr b="0" i="1" lang="en-US" sz="2400" u="none" cap="none" strike="noStrike">
                <a:solidFill>
                  <a:schemeClr val="dk1"/>
                </a:solidFill>
                <a:latin typeface="Calibri"/>
                <a:ea typeface="Calibri"/>
                <a:cs typeface="Calibri"/>
                <a:sym typeface="Calibri"/>
              </a:rPr>
              <a:t>u</a:t>
            </a:r>
            <a:r>
              <a:rPr b="0" baseline="-25000" i="1" lang="en-US" sz="2400" u="none" cap="none" strike="noStrike">
                <a:solidFill>
                  <a:schemeClr val="dk1"/>
                </a:solidFill>
                <a:latin typeface="Calibri"/>
                <a:ea typeface="Calibri"/>
                <a:cs typeface="Calibri"/>
                <a:sym typeface="Calibri"/>
              </a:rPr>
              <a:t>s</a:t>
            </a:r>
            <a:r>
              <a:rPr b="0" i="1" lang="en-US" sz="2400" u="none" cap="none" strike="noStrike">
                <a:solidFill>
                  <a:schemeClr val="dk1"/>
                </a:solidFill>
                <a:latin typeface="Calibri"/>
                <a:ea typeface="Calibri"/>
                <a:cs typeface="Calibri"/>
                <a:sym typeface="Calibri"/>
              </a:rPr>
              <a:t> + </a:t>
            </a:r>
            <a:r>
              <a:rPr b="0" i="1" lang="en-US" sz="2800" u="none" cap="none" strike="noStrike">
                <a:solidFill>
                  <a:schemeClr val="dk1"/>
                </a:solidFill>
                <a:latin typeface="Noto Sans Symbols"/>
                <a:ea typeface="Noto Sans Symbols"/>
                <a:cs typeface="Noto Sans Symbols"/>
                <a:sym typeface="Noto Sans Symbols"/>
              </a:rPr>
              <a:t>Σ</a:t>
            </a:r>
            <a:r>
              <a:rPr b="0" i="1" lang="en-US" sz="2400" u="none" cap="none" strike="noStrike">
                <a:solidFill>
                  <a:schemeClr val="dk1"/>
                </a:solidFill>
                <a:latin typeface="Calibri"/>
                <a:ea typeface="Calibri"/>
                <a:cs typeface="Calibri"/>
                <a:sym typeface="Calibri"/>
              </a:rPr>
              <a:t>u</a:t>
            </a:r>
            <a:r>
              <a:rPr b="0" baseline="-25000" i="1" lang="en-US" sz="2400" u="none" cap="none" strike="noStrike">
                <a:solidFill>
                  <a:schemeClr val="dk1"/>
                </a:solidFill>
                <a:latin typeface="Calibri"/>
                <a:ea typeface="Calibri"/>
                <a:cs typeface="Calibri"/>
                <a:sym typeface="Calibri"/>
              </a:rPr>
              <a:t>i</a:t>
            </a:r>
            <a:endParaRPr/>
          </a:p>
        </p:txBody>
      </p:sp>
      <p:sp>
        <p:nvSpPr>
          <p:cNvPr id="7121" name="Google Shape;7121;p97"/>
          <p:cNvSpPr txBox="1"/>
          <p:nvPr/>
        </p:nvSpPr>
        <p:spPr>
          <a:xfrm>
            <a:off x="1496934" y="5088499"/>
            <a:ext cx="2267800" cy="887615"/>
          </a:xfrm>
          <a:prstGeom prst="rect">
            <a:avLst/>
          </a:prstGeom>
          <a:noFill/>
          <a:ln>
            <a:noFill/>
          </a:ln>
        </p:spPr>
        <p:txBody>
          <a:bodyPr anchorCtr="0" anchor="t" bIns="45700" lIns="91425" spcFirstLastPara="1" rIns="91425" wrap="square" tIns="45700">
            <a:spAutoFit/>
          </a:bodyPr>
          <a:lstStyle/>
          <a:p>
            <a:pPr indent="-342900" lvl="0" marL="342900" marR="0" rtl="0" algn="r">
              <a:lnSpc>
                <a:spcPct val="80000"/>
              </a:lnSpc>
              <a:spcBef>
                <a:spcPts val="0"/>
              </a:spcBef>
              <a:spcAft>
                <a:spcPts val="0"/>
              </a:spcAft>
              <a:buNone/>
            </a:pPr>
            <a:r>
              <a:rPr i="1" lang="en-US" sz="2000">
                <a:solidFill>
                  <a:schemeClr val="dk1"/>
                </a:solidFill>
                <a:latin typeface="Calibri"/>
                <a:ea typeface="Calibri"/>
                <a:cs typeface="Calibri"/>
                <a:sym typeface="Calibri"/>
              </a:rPr>
              <a:t>time to  distribute F </a:t>
            </a:r>
            <a:endParaRPr/>
          </a:p>
          <a:p>
            <a:pPr indent="-342900" lvl="0" marL="342900" marR="0" rtl="0" algn="r">
              <a:lnSpc>
                <a:spcPct val="80000"/>
              </a:lnSpc>
              <a:spcBef>
                <a:spcPts val="0"/>
              </a:spcBef>
              <a:spcAft>
                <a:spcPts val="0"/>
              </a:spcAft>
              <a:buNone/>
            </a:pPr>
            <a:r>
              <a:rPr i="1" lang="en-US" sz="2000">
                <a:solidFill>
                  <a:schemeClr val="dk1"/>
                </a:solidFill>
                <a:latin typeface="Calibri"/>
                <a:ea typeface="Calibri"/>
                <a:cs typeface="Calibri"/>
                <a:sym typeface="Calibri"/>
              </a:rPr>
              <a:t>to N clients using </a:t>
            </a:r>
            <a:endParaRPr/>
          </a:p>
          <a:p>
            <a:pPr indent="-342900" lvl="0" marL="342900" marR="0" rtl="0" algn="r">
              <a:lnSpc>
                <a:spcPct val="80000"/>
              </a:lnSpc>
              <a:spcBef>
                <a:spcPts val="0"/>
              </a:spcBef>
              <a:spcAft>
                <a:spcPts val="0"/>
              </a:spcAft>
              <a:buNone/>
            </a:pPr>
            <a:r>
              <a:rPr i="1" lang="en-US" sz="2000">
                <a:solidFill>
                  <a:schemeClr val="dk1"/>
                </a:solidFill>
                <a:latin typeface="Calibri"/>
                <a:ea typeface="Calibri"/>
                <a:cs typeface="Calibri"/>
                <a:sym typeface="Calibri"/>
              </a:rPr>
              <a:t>P2P approach</a:t>
            </a:r>
            <a:r>
              <a:rPr lang="en-US" sz="2400">
                <a:solidFill>
                  <a:schemeClr val="dk1"/>
                </a:solidFill>
                <a:latin typeface="Calibri"/>
                <a:ea typeface="Calibri"/>
                <a:cs typeface="Calibri"/>
                <a:sym typeface="Calibri"/>
              </a:rPr>
              <a:t> </a:t>
            </a:r>
            <a:endParaRPr sz="2800">
              <a:solidFill>
                <a:schemeClr val="dk1"/>
              </a:solidFill>
              <a:latin typeface="Calibri"/>
              <a:ea typeface="Calibri"/>
              <a:cs typeface="Calibri"/>
              <a:sym typeface="Calibri"/>
            </a:endParaRPr>
          </a:p>
        </p:txBody>
      </p:sp>
      <p:sp>
        <p:nvSpPr>
          <p:cNvPr id="7122" name="Google Shape;7122;p97"/>
          <p:cNvSpPr/>
          <p:nvPr/>
        </p:nvSpPr>
        <p:spPr>
          <a:xfrm>
            <a:off x="1336619" y="4991768"/>
            <a:ext cx="9155099" cy="1006589"/>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7123" name="Google Shape;7123;p97"/>
          <p:cNvSpPr txBox="1"/>
          <p:nvPr/>
        </p:nvSpPr>
        <p:spPr>
          <a:xfrm>
            <a:off x="4214018" y="5202837"/>
            <a:ext cx="6262099" cy="5847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i="1" lang="en-US" sz="3200">
                <a:solidFill>
                  <a:schemeClr val="dk1"/>
                </a:solidFill>
                <a:latin typeface="Calibri"/>
                <a:ea typeface="Calibri"/>
                <a:cs typeface="Calibri"/>
                <a:sym typeface="Calibri"/>
              </a:rPr>
              <a:t> D</a:t>
            </a:r>
            <a:r>
              <a:rPr baseline="-25000" i="1" lang="en-US" sz="3200">
                <a:solidFill>
                  <a:schemeClr val="dk1"/>
                </a:solidFill>
                <a:latin typeface="Calibri"/>
                <a:ea typeface="Calibri"/>
                <a:cs typeface="Calibri"/>
                <a:sym typeface="Calibri"/>
              </a:rPr>
              <a:t>P2P</a:t>
            </a:r>
            <a:r>
              <a:rPr i="1" lang="en-US" sz="3200">
                <a:solidFill>
                  <a:schemeClr val="dk1"/>
                </a:solidFill>
                <a:latin typeface="Calibri"/>
                <a:ea typeface="Calibri"/>
                <a:cs typeface="Calibri"/>
                <a:sym typeface="Calibri"/>
              </a:rPr>
              <a:t> &gt; max{F/u</a:t>
            </a:r>
            <a:r>
              <a:rPr baseline="-25000" i="1" lang="en-US" sz="3200">
                <a:solidFill>
                  <a:schemeClr val="dk1"/>
                </a:solidFill>
                <a:latin typeface="Calibri"/>
                <a:ea typeface="Calibri"/>
                <a:cs typeface="Calibri"/>
                <a:sym typeface="Calibri"/>
              </a:rPr>
              <a:t>s,</a:t>
            </a:r>
            <a:r>
              <a:rPr i="1" lang="en-US" sz="3200">
                <a:solidFill>
                  <a:schemeClr val="dk1"/>
                </a:solidFill>
                <a:latin typeface="Calibri"/>
                <a:ea typeface="Calibri"/>
                <a:cs typeface="Calibri"/>
                <a:sym typeface="Calibri"/>
              </a:rPr>
              <a:t>,F/d</a:t>
            </a:r>
            <a:r>
              <a:rPr baseline="-25000" i="1" lang="en-US" sz="3200">
                <a:solidFill>
                  <a:schemeClr val="dk1"/>
                </a:solidFill>
                <a:latin typeface="Calibri"/>
                <a:ea typeface="Calibri"/>
                <a:cs typeface="Calibri"/>
                <a:sym typeface="Calibri"/>
              </a:rPr>
              <a:t>min,</a:t>
            </a:r>
            <a:r>
              <a:rPr i="1" lang="en-US" sz="3200">
                <a:solidFill>
                  <a:schemeClr val="dk1"/>
                </a:solidFill>
                <a:latin typeface="Calibri"/>
                <a:ea typeface="Calibri"/>
                <a:cs typeface="Calibri"/>
                <a:sym typeface="Calibri"/>
              </a:rPr>
              <a:t>,NF/(</a:t>
            </a:r>
            <a:r>
              <a:rPr i="1" lang="en-US" sz="2800">
                <a:solidFill>
                  <a:schemeClr val="dk1"/>
                </a:solidFill>
                <a:latin typeface="Calibri"/>
                <a:ea typeface="Calibri"/>
                <a:cs typeface="Calibri"/>
                <a:sym typeface="Calibri"/>
              </a:rPr>
              <a:t>u</a:t>
            </a:r>
            <a:r>
              <a:rPr baseline="-25000" i="1" lang="en-US" sz="2800">
                <a:solidFill>
                  <a:schemeClr val="dk1"/>
                </a:solidFill>
                <a:latin typeface="Calibri"/>
                <a:ea typeface="Calibri"/>
                <a:cs typeface="Calibri"/>
                <a:sym typeface="Calibri"/>
              </a:rPr>
              <a:t>s</a:t>
            </a:r>
            <a:r>
              <a:rPr i="1" lang="en-US" sz="2800">
                <a:solidFill>
                  <a:schemeClr val="dk1"/>
                </a:solidFill>
                <a:latin typeface="Calibri"/>
                <a:ea typeface="Calibri"/>
                <a:cs typeface="Calibri"/>
                <a:sym typeface="Calibri"/>
              </a:rPr>
              <a:t> + </a:t>
            </a:r>
            <a:r>
              <a:rPr i="1" lang="en-US" sz="3200">
                <a:solidFill>
                  <a:schemeClr val="dk1"/>
                </a:solidFill>
                <a:latin typeface="Noto Sans Symbols"/>
                <a:ea typeface="Noto Sans Symbols"/>
                <a:cs typeface="Noto Sans Symbols"/>
                <a:sym typeface="Noto Sans Symbols"/>
              </a:rPr>
              <a:t>Σ</a:t>
            </a:r>
            <a:r>
              <a:rPr i="1" lang="en-US" sz="2800">
                <a:solidFill>
                  <a:schemeClr val="dk1"/>
                </a:solidFill>
                <a:latin typeface="Calibri"/>
                <a:ea typeface="Calibri"/>
                <a:cs typeface="Calibri"/>
                <a:sym typeface="Calibri"/>
              </a:rPr>
              <a:t>u</a:t>
            </a:r>
            <a:r>
              <a:rPr baseline="-25000" i="1" lang="en-US" sz="2800">
                <a:solidFill>
                  <a:schemeClr val="dk1"/>
                </a:solidFill>
                <a:latin typeface="Calibri"/>
                <a:ea typeface="Calibri"/>
                <a:cs typeface="Calibri"/>
                <a:sym typeface="Calibri"/>
              </a:rPr>
              <a:t>i</a:t>
            </a:r>
            <a:r>
              <a:rPr lang="en-US" sz="3200">
                <a:solidFill>
                  <a:schemeClr val="dk1"/>
                </a:solidFill>
                <a:latin typeface="Calibri"/>
                <a:ea typeface="Calibri"/>
                <a:cs typeface="Calibri"/>
                <a:sym typeface="Calibri"/>
              </a:rPr>
              <a:t>)</a:t>
            </a:r>
            <a:r>
              <a:rPr i="1" lang="en-US" sz="3200">
                <a:solidFill>
                  <a:schemeClr val="dk1"/>
                </a:solidFill>
                <a:latin typeface="Calibri"/>
                <a:ea typeface="Calibri"/>
                <a:cs typeface="Calibri"/>
                <a:sym typeface="Calibri"/>
              </a:rPr>
              <a:t>}</a:t>
            </a:r>
            <a:r>
              <a:rPr i="1" lang="en-US" sz="3200">
                <a:solidFill>
                  <a:srgbClr val="CC0000"/>
                </a:solidFill>
                <a:latin typeface="Calibri"/>
                <a:ea typeface="Calibri"/>
                <a:cs typeface="Calibri"/>
                <a:sym typeface="Calibri"/>
              </a:rPr>
              <a:t> </a:t>
            </a:r>
            <a:endParaRPr/>
          </a:p>
        </p:txBody>
      </p:sp>
      <p:grpSp>
        <p:nvGrpSpPr>
          <p:cNvPr id="7124" name="Google Shape;7124;p97"/>
          <p:cNvGrpSpPr/>
          <p:nvPr/>
        </p:nvGrpSpPr>
        <p:grpSpPr>
          <a:xfrm>
            <a:off x="3027135" y="5637812"/>
            <a:ext cx="7034618" cy="1072227"/>
            <a:chOff x="3027135" y="5637812"/>
            <a:chExt cx="7034618" cy="1072227"/>
          </a:xfrm>
        </p:grpSpPr>
        <p:cxnSp>
          <p:nvCxnSpPr>
            <p:cNvPr id="7125" name="Google Shape;7125;p97"/>
            <p:cNvCxnSpPr/>
            <p:nvPr/>
          </p:nvCxnSpPr>
          <p:spPr>
            <a:xfrm>
              <a:off x="5247481" y="5669562"/>
              <a:ext cx="174625" cy="0"/>
            </a:xfrm>
            <a:prstGeom prst="straightConnector1">
              <a:avLst/>
            </a:prstGeom>
            <a:noFill/>
            <a:ln cap="flat" cmpd="sng" w="28575">
              <a:solidFill>
                <a:schemeClr val="dk1"/>
              </a:solidFill>
              <a:prstDash val="solid"/>
              <a:round/>
              <a:headEnd len="med" w="med" type="none"/>
              <a:tailEnd len="med" w="med" type="none"/>
            </a:ln>
          </p:spPr>
        </p:cxnSp>
        <p:cxnSp>
          <p:nvCxnSpPr>
            <p:cNvPr id="7126" name="Google Shape;7126;p97"/>
            <p:cNvCxnSpPr/>
            <p:nvPr/>
          </p:nvCxnSpPr>
          <p:spPr>
            <a:xfrm flipH="1" rot="10800000">
              <a:off x="9282594" y="5731183"/>
              <a:ext cx="376235" cy="579911"/>
            </a:xfrm>
            <a:prstGeom prst="straightConnector1">
              <a:avLst/>
            </a:prstGeom>
            <a:noFill/>
            <a:ln cap="flat" cmpd="sng" w="9525">
              <a:solidFill>
                <a:srgbClr val="CC0000"/>
              </a:solidFill>
              <a:prstDash val="solid"/>
              <a:round/>
              <a:headEnd len="med" w="med" type="none"/>
              <a:tailEnd len="med" w="med" type="none"/>
            </a:ln>
          </p:spPr>
        </p:cxnSp>
        <p:sp>
          <p:nvSpPr>
            <p:cNvPr id="7127" name="Google Shape;7127;p97"/>
            <p:cNvSpPr txBox="1"/>
            <p:nvPr/>
          </p:nvSpPr>
          <p:spPr>
            <a:xfrm>
              <a:off x="3027135" y="6314866"/>
              <a:ext cx="7034618" cy="395173"/>
            </a:xfrm>
            <a:prstGeom prst="rect">
              <a:avLst/>
            </a:prstGeom>
            <a:noFill/>
            <a:ln>
              <a:noFill/>
            </a:ln>
          </p:spPr>
          <p:txBody>
            <a:bodyPr anchorCtr="0" anchor="t" bIns="45700" lIns="91425" spcFirstLastPara="1" rIns="91425" wrap="square" tIns="45700">
              <a:spAutoFit/>
            </a:bodyPr>
            <a:lstStyle/>
            <a:p>
              <a:pPr indent="-342900" lvl="0" marL="342900" marR="0" rtl="0" algn="l">
                <a:lnSpc>
                  <a:spcPct val="80000"/>
                </a:lnSpc>
                <a:spcBef>
                  <a:spcPts val="0"/>
                </a:spcBef>
                <a:spcAft>
                  <a:spcPts val="0"/>
                </a:spcAft>
                <a:buNone/>
              </a:pPr>
              <a:r>
                <a:rPr lang="en-US" sz="2400">
                  <a:solidFill>
                    <a:schemeClr val="dk1"/>
                  </a:solidFill>
                  <a:latin typeface="Calibri"/>
                  <a:ea typeface="Calibri"/>
                  <a:cs typeface="Calibri"/>
                  <a:sym typeface="Calibri"/>
                </a:rPr>
                <a:t>… but so does this, as each peer brings service capacity</a:t>
              </a:r>
              <a:endParaRPr/>
            </a:p>
          </p:txBody>
        </p:sp>
        <p:cxnSp>
          <p:nvCxnSpPr>
            <p:cNvPr id="7128" name="Google Shape;7128;p97"/>
            <p:cNvCxnSpPr/>
            <p:nvPr/>
          </p:nvCxnSpPr>
          <p:spPr>
            <a:xfrm flipH="1" rot="10800000">
              <a:off x="7935121" y="5637812"/>
              <a:ext cx="376235" cy="462537"/>
            </a:xfrm>
            <a:prstGeom prst="straightConnector1">
              <a:avLst/>
            </a:prstGeom>
            <a:noFill/>
            <a:ln cap="flat" cmpd="sng" w="9525">
              <a:solidFill>
                <a:srgbClr val="CC0000"/>
              </a:solidFill>
              <a:prstDash val="solid"/>
              <a:round/>
              <a:headEnd len="med" w="med" type="none"/>
              <a:tailEnd len="med" w="med" type="none"/>
            </a:ln>
          </p:spPr>
        </p:cxnSp>
        <p:sp>
          <p:nvSpPr>
            <p:cNvPr id="7129" name="Google Shape;7129;p97"/>
            <p:cNvSpPr txBox="1"/>
            <p:nvPr/>
          </p:nvSpPr>
          <p:spPr>
            <a:xfrm>
              <a:off x="5084684" y="6045728"/>
              <a:ext cx="3187860" cy="395173"/>
            </a:xfrm>
            <a:prstGeom prst="rect">
              <a:avLst/>
            </a:prstGeom>
            <a:noFill/>
            <a:ln>
              <a:noFill/>
            </a:ln>
          </p:spPr>
          <p:txBody>
            <a:bodyPr anchorCtr="0" anchor="t" bIns="45700" lIns="91425" spcFirstLastPara="1" rIns="91425" wrap="square" tIns="45700">
              <a:spAutoFit/>
            </a:bodyPr>
            <a:lstStyle/>
            <a:p>
              <a:pPr indent="-342900" lvl="0" marL="342900" marR="0" rtl="0" algn="l">
                <a:lnSpc>
                  <a:spcPct val="80000"/>
                </a:lnSpc>
                <a:spcBef>
                  <a:spcPts val="0"/>
                </a:spcBef>
                <a:spcAft>
                  <a:spcPts val="0"/>
                </a:spcAft>
                <a:buNone/>
              </a:pPr>
              <a:r>
                <a:rPr lang="en-US" sz="2400">
                  <a:solidFill>
                    <a:schemeClr val="dk1"/>
                  </a:solidFill>
                  <a:latin typeface="Calibri"/>
                  <a:ea typeface="Calibri"/>
                  <a:cs typeface="Calibri"/>
                  <a:sym typeface="Calibri"/>
                </a:rPr>
                <a:t>increases linearly in </a:t>
              </a:r>
              <a:r>
                <a:rPr i="1" lang="en-US" sz="2400">
                  <a:solidFill>
                    <a:schemeClr val="dk1"/>
                  </a:solidFill>
                  <a:latin typeface="Calibri"/>
                  <a:ea typeface="Calibri"/>
                  <a:cs typeface="Calibri"/>
                  <a:sym typeface="Calibri"/>
                </a:rPr>
                <a:t>N</a:t>
              </a:r>
              <a:r>
                <a:rPr lang="en-US" sz="2400">
                  <a:solidFill>
                    <a:schemeClr val="dk1"/>
                  </a:solidFill>
                  <a:latin typeface="Calibri"/>
                  <a:ea typeface="Calibri"/>
                  <a:cs typeface="Calibri"/>
                  <a:sym typeface="Calibri"/>
                </a:rPr>
                <a:t> …</a:t>
              </a:r>
              <a:endParaRPr/>
            </a:p>
          </p:txBody>
        </p:sp>
      </p:grpSp>
      <p:sp>
        <p:nvSpPr>
          <p:cNvPr id="7130" name="Google Shape;7130;p9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24"/>
                                        </p:tgtEl>
                                        <p:attrNameLst>
                                          <p:attrName>style.visibility</p:attrName>
                                        </p:attrNameLst>
                                      </p:cBhvr>
                                      <p:to>
                                        <p:strVal val="visible"/>
                                      </p:to>
                                    </p:set>
                                    <p:animEffect filter="fade" transition="in">
                                      <p:cBhvr>
                                        <p:cTn dur="500"/>
                                        <p:tgtEl>
                                          <p:spTgt spid="7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5" name="Shape 7135"/>
        <p:cNvGrpSpPr/>
        <p:nvPr/>
      </p:nvGrpSpPr>
      <p:grpSpPr>
        <a:xfrm>
          <a:off x="0" y="0"/>
          <a:ext cx="0" cy="0"/>
          <a:chOff x="0" y="0"/>
          <a:chExt cx="0" cy="0"/>
        </a:xfrm>
      </p:grpSpPr>
      <p:sp>
        <p:nvSpPr>
          <p:cNvPr id="7136" name="Google Shape;7136;p9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Client-server vs. P2P: example</a:t>
            </a:r>
            <a:endParaRPr/>
          </a:p>
        </p:txBody>
      </p:sp>
      <p:sp>
        <p:nvSpPr>
          <p:cNvPr id="7137" name="Google Shape;7137;p98"/>
          <p:cNvSpPr txBox="1"/>
          <p:nvPr/>
        </p:nvSpPr>
        <p:spPr>
          <a:xfrm>
            <a:off x="2752045" y="1362602"/>
            <a:ext cx="7481468" cy="474671"/>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lang="en-US" sz="2400">
                <a:solidFill>
                  <a:schemeClr val="dk1"/>
                </a:solidFill>
                <a:latin typeface="Calibri"/>
                <a:ea typeface="Calibri"/>
                <a:cs typeface="Calibri"/>
                <a:sym typeface="Calibri"/>
              </a:rPr>
              <a:t>client upload rate =</a:t>
            </a:r>
            <a:r>
              <a:rPr i="1" lang="en-US" sz="2400">
                <a:solidFill>
                  <a:schemeClr val="dk1"/>
                </a:solidFill>
                <a:latin typeface="Calibri"/>
                <a:ea typeface="Calibri"/>
                <a:cs typeface="Calibri"/>
                <a:sym typeface="Calibri"/>
              </a:rPr>
              <a:t> u</a:t>
            </a:r>
            <a:r>
              <a:rPr lang="en-US" sz="2400">
                <a:solidFill>
                  <a:schemeClr val="dk1"/>
                </a:solidFill>
                <a:latin typeface="Calibri"/>
                <a:ea typeface="Calibri"/>
                <a:cs typeface="Calibri"/>
                <a:sym typeface="Calibri"/>
              </a:rPr>
              <a:t>,  </a:t>
            </a:r>
            <a:r>
              <a:rPr i="1" lang="en-US" sz="2400">
                <a:solidFill>
                  <a:schemeClr val="dk1"/>
                </a:solidFill>
                <a:latin typeface="Calibri"/>
                <a:ea typeface="Calibri"/>
                <a:cs typeface="Calibri"/>
                <a:sym typeface="Calibri"/>
              </a:rPr>
              <a:t>F/u </a:t>
            </a:r>
            <a:r>
              <a:rPr lang="en-US" sz="2400">
                <a:solidFill>
                  <a:schemeClr val="dk1"/>
                </a:solidFill>
                <a:latin typeface="Calibri"/>
                <a:ea typeface="Calibri"/>
                <a:cs typeface="Calibri"/>
                <a:sym typeface="Calibri"/>
              </a:rPr>
              <a:t>= 1 hour,  </a:t>
            </a:r>
            <a:r>
              <a:rPr i="1" lang="en-US" sz="2400">
                <a:solidFill>
                  <a:schemeClr val="dk1"/>
                </a:solidFill>
                <a:latin typeface="Calibri"/>
                <a:ea typeface="Calibri"/>
                <a:cs typeface="Calibri"/>
                <a:sym typeface="Calibri"/>
              </a:rPr>
              <a:t>u</a:t>
            </a:r>
            <a:r>
              <a:rPr baseline="-25000" i="1" lang="en-US" sz="2400">
                <a:solidFill>
                  <a:schemeClr val="dk1"/>
                </a:solidFill>
                <a:latin typeface="Calibri"/>
                <a:ea typeface="Calibri"/>
                <a:cs typeface="Calibri"/>
                <a:sym typeface="Calibri"/>
              </a:rPr>
              <a:t>s</a:t>
            </a:r>
            <a:r>
              <a:rPr i="1" lang="en-US" sz="2400">
                <a:solidFill>
                  <a:schemeClr val="dk1"/>
                </a:solidFill>
                <a:latin typeface="Calibri"/>
                <a:ea typeface="Calibri"/>
                <a:cs typeface="Calibri"/>
                <a:sym typeface="Calibri"/>
              </a:rPr>
              <a:t> = 10u,  d</a:t>
            </a:r>
            <a:r>
              <a:rPr baseline="-25000" i="1" lang="en-US" sz="2400">
                <a:solidFill>
                  <a:schemeClr val="dk1"/>
                </a:solidFill>
                <a:latin typeface="Calibri"/>
                <a:ea typeface="Calibri"/>
                <a:cs typeface="Calibri"/>
                <a:sym typeface="Calibri"/>
              </a:rPr>
              <a:t>min</a:t>
            </a:r>
            <a:r>
              <a:rPr i="1" lang="en-US" sz="2400">
                <a:solidFill>
                  <a:schemeClr val="dk1"/>
                </a:solidFill>
                <a:latin typeface="Calibri"/>
                <a:ea typeface="Calibri"/>
                <a:cs typeface="Calibri"/>
                <a:sym typeface="Calibri"/>
              </a:rPr>
              <a:t> ≥ u</a:t>
            </a:r>
            <a:r>
              <a:rPr baseline="-25000" i="1" lang="en-US" sz="2400">
                <a:solidFill>
                  <a:schemeClr val="dk1"/>
                </a:solidFill>
                <a:latin typeface="Calibri"/>
                <a:ea typeface="Calibri"/>
                <a:cs typeface="Calibri"/>
                <a:sym typeface="Calibri"/>
              </a:rPr>
              <a:t>s</a:t>
            </a:r>
            <a:endParaRPr/>
          </a:p>
        </p:txBody>
      </p:sp>
      <p:graphicFrame>
        <p:nvGraphicFramePr>
          <p:cNvPr id="7138" name="Google Shape;7138;p98"/>
          <p:cNvGraphicFramePr/>
          <p:nvPr/>
        </p:nvGraphicFramePr>
        <p:xfrm>
          <a:off x="2976864" y="1835409"/>
          <a:ext cx="7031830" cy="4790242"/>
        </p:xfrm>
        <a:graphic>
          <a:graphicData uri="http://schemas.openxmlformats.org/presentationml/2006/ole">
            <mc:AlternateContent>
              <mc:Choice Requires="v">
                <p:oleObj r:id="rId4" imgH="4790242" imgW="7031830" progId="Excel.Chart.8" spid="_x0000_s1">
                  <p:embed/>
                </p:oleObj>
              </mc:Choice>
              <mc:Fallback>
                <p:oleObj r:id="rId5" imgH="4790242" imgW="7031830" progId="Excel.Chart.8">
                  <p:embed/>
                  <p:pic>
                    <p:nvPicPr>
                      <p:cNvPr id="7138" name="Google Shape;7138;p98"/>
                      <p:cNvPicPr preferRelativeResize="0"/>
                      <p:nvPr/>
                    </p:nvPicPr>
                    <p:blipFill rotWithShape="1">
                      <a:blip r:embed="rId6">
                        <a:alphaModFix/>
                      </a:blip>
                      <a:srcRect b="0" l="0" r="0" t="0"/>
                      <a:stretch/>
                    </p:blipFill>
                    <p:spPr>
                      <a:xfrm>
                        <a:off x="2976864" y="1835409"/>
                        <a:ext cx="7031830" cy="4790242"/>
                      </a:xfrm>
                      <a:prstGeom prst="rect">
                        <a:avLst/>
                      </a:prstGeom>
                      <a:noFill/>
                      <a:ln>
                        <a:noFill/>
                      </a:ln>
                    </p:spPr>
                  </p:pic>
                </p:oleObj>
              </mc:Fallback>
            </mc:AlternateContent>
          </a:graphicData>
        </a:graphic>
      </p:graphicFrame>
      <p:sp>
        <p:nvSpPr>
          <p:cNvPr id="7139" name="Google Shape;7139;p9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43" name="Shape 7143"/>
        <p:cNvGrpSpPr/>
        <p:nvPr/>
      </p:nvGrpSpPr>
      <p:grpSpPr>
        <a:xfrm>
          <a:off x="0" y="0"/>
          <a:ext cx="0" cy="0"/>
          <a:chOff x="0" y="0"/>
          <a:chExt cx="0" cy="0"/>
        </a:xfrm>
      </p:grpSpPr>
      <p:sp>
        <p:nvSpPr>
          <p:cNvPr id="7144" name="Google Shape;7144;p99"/>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id="7145" name="Google Shape;7145;p99"/>
          <p:cNvPicPr preferRelativeResize="0"/>
          <p:nvPr/>
        </p:nvPicPr>
        <p:blipFill rotWithShape="1">
          <a:blip r:embed="rId3">
            <a:alphaModFix/>
          </a:blip>
          <a:srcRect b="0" l="0" r="0" t="0"/>
          <a:stretch/>
        </p:blipFill>
        <p:spPr>
          <a:xfrm>
            <a:off x="1689413" y="0"/>
            <a:ext cx="8813175" cy="685800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0" name="Shape 7150"/>
        <p:cNvGrpSpPr/>
        <p:nvPr/>
      </p:nvGrpSpPr>
      <p:grpSpPr>
        <a:xfrm>
          <a:off x="0" y="0"/>
          <a:ext cx="0" cy="0"/>
          <a:chOff x="0" y="0"/>
          <a:chExt cx="0" cy="0"/>
        </a:xfrm>
      </p:grpSpPr>
      <p:sp>
        <p:nvSpPr>
          <p:cNvPr id="7151" name="Google Shape;7151;p100"/>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7152" name="Google Shape;7152;p100"/>
          <p:cNvSpPr txBox="1"/>
          <p:nvPr/>
        </p:nvSpPr>
        <p:spPr>
          <a:xfrm>
            <a:off x="1524000" y="6611779"/>
            <a:ext cx="914400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Times New Roman"/>
                <a:ea typeface="Times New Roman"/>
                <a:cs typeface="Times New Roman"/>
                <a:sym typeface="Times New Roman"/>
              </a:rPr>
              <a:t>Kurose, J.F. and Ross, K.W. (2017). Computer Networking: A Top-Down Approach (7</a:t>
            </a:r>
            <a:r>
              <a:rPr baseline="30000" lang="en-US" sz="800">
                <a:solidFill>
                  <a:schemeClr val="dk1"/>
                </a:solidFill>
                <a:latin typeface="Times New Roman"/>
                <a:ea typeface="Times New Roman"/>
                <a:cs typeface="Times New Roman"/>
                <a:sym typeface="Times New Roman"/>
              </a:rPr>
              <a:t>th</a:t>
            </a:r>
            <a:r>
              <a:rPr lang="en-US" sz="800">
                <a:solidFill>
                  <a:schemeClr val="dk1"/>
                </a:solidFill>
                <a:latin typeface="Times New Roman"/>
                <a:ea typeface="Times New Roman"/>
                <a:cs typeface="Times New Roman"/>
                <a:sym typeface="Times New Roman"/>
              </a:rPr>
              <a:t> Edition). Pearson Education Limited, England. (pp. 207)</a:t>
            </a:r>
            <a:endParaRPr/>
          </a:p>
        </p:txBody>
      </p:sp>
      <p:cxnSp>
        <p:nvCxnSpPr>
          <p:cNvPr id="7153" name="Google Shape;7153;p100"/>
          <p:cNvCxnSpPr/>
          <p:nvPr/>
        </p:nvCxnSpPr>
        <p:spPr>
          <a:xfrm>
            <a:off x="1524000" y="6600825"/>
            <a:ext cx="8324850" cy="0"/>
          </a:xfrm>
          <a:prstGeom prst="straightConnector1">
            <a:avLst/>
          </a:prstGeom>
          <a:noFill/>
          <a:ln cap="flat" cmpd="sng" w="12700">
            <a:solidFill>
              <a:srgbClr val="00B0F0"/>
            </a:solidFill>
            <a:prstDash val="solid"/>
            <a:round/>
            <a:headEnd len="sm" w="sm" type="none"/>
            <a:tailEnd len="sm" w="sm" type="none"/>
          </a:ln>
        </p:spPr>
      </p:cxnSp>
      <p:sp>
        <p:nvSpPr>
          <p:cNvPr id="7154" name="Google Shape;7154;p100"/>
          <p:cNvSpPr txBox="1"/>
          <p:nvPr/>
        </p:nvSpPr>
        <p:spPr>
          <a:xfrm>
            <a:off x="2016126" y="166437"/>
            <a:ext cx="8651877" cy="53831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Exercise 2.5a </a:t>
            </a:r>
            <a:endParaRPr/>
          </a:p>
        </p:txBody>
      </p:sp>
      <p:pic>
        <p:nvPicPr>
          <p:cNvPr id="7155" name="Google Shape;7155;p100"/>
          <p:cNvPicPr preferRelativeResize="0"/>
          <p:nvPr/>
        </p:nvPicPr>
        <p:blipFill rotWithShape="1">
          <a:blip r:embed="rId3">
            <a:alphaModFix/>
          </a:blip>
          <a:srcRect b="0" l="0" r="0" t="0"/>
          <a:stretch/>
        </p:blipFill>
        <p:spPr>
          <a:xfrm>
            <a:off x="1905561" y="1193016"/>
            <a:ext cx="8619565" cy="2119566"/>
          </a:xfrm>
          <a:prstGeom prst="rect">
            <a:avLst/>
          </a:prstGeom>
          <a:noFill/>
          <a:ln>
            <a:noFill/>
          </a:ln>
        </p:spPr>
      </p:pic>
      <p:pic>
        <p:nvPicPr>
          <p:cNvPr descr="underline_base" id="7156" name="Google Shape;7156;p100"/>
          <p:cNvPicPr preferRelativeResize="0"/>
          <p:nvPr/>
        </p:nvPicPr>
        <p:blipFill rotWithShape="1">
          <a:blip r:embed="rId4">
            <a:alphaModFix/>
          </a:blip>
          <a:srcRect b="0" l="0" r="0" t="0"/>
          <a:stretch/>
        </p:blipFill>
        <p:spPr>
          <a:xfrm>
            <a:off x="2016126" y="817563"/>
            <a:ext cx="6672263" cy="184150"/>
          </a:xfrm>
          <a:prstGeom prst="rect">
            <a:avLst/>
          </a:prstGeom>
          <a:noFill/>
          <a:ln>
            <a:noFill/>
          </a:ln>
        </p:spPr>
      </p:pic>
      <p:sp>
        <p:nvSpPr>
          <p:cNvPr id="7157" name="Google Shape;7157;p100"/>
          <p:cNvSpPr txBox="1"/>
          <p:nvPr/>
        </p:nvSpPr>
        <p:spPr>
          <a:xfrm>
            <a:off x="1932532" y="3654579"/>
            <a:ext cx="8735471"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Using a base-2 system, often found in computing, then:</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1 Gbit = 1024 Mbits</a:t>
            </a:r>
            <a:endParaRPr sz="2400">
              <a:solidFill>
                <a:schemeClr val="dk1"/>
              </a:solidFill>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2" name="Shape 7162"/>
        <p:cNvGrpSpPr/>
        <p:nvPr/>
      </p:nvGrpSpPr>
      <p:grpSpPr>
        <a:xfrm>
          <a:off x="0" y="0"/>
          <a:ext cx="0" cy="0"/>
          <a:chOff x="0" y="0"/>
          <a:chExt cx="0" cy="0"/>
        </a:xfrm>
      </p:grpSpPr>
      <p:sp>
        <p:nvSpPr>
          <p:cNvPr id="7163" name="Google Shape;7163;p101"/>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7164" name="Google Shape;7164;p101"/>
          <p:cNvSpPr txBox="1"/>
          <p:nvPr/>
        </p:nvSpPr>
        <p:spPr>
          <a:xfrm>
            <a:off x="1524000" y="6611779"/>
            <a:ext cx="914400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Times New Roman"/>
                <a:ea typeface="Times New Roman"/>
                <a:cs typeface="Times New Roman"/>
                <a:sym typeface="Times New Roman"/>
              </a:rPr>
              <a:t>Kurose, J.F. and Ross, K.W. (2017). Computer Networking: A Top-Down Approach (7</a:t>
            </a:r>
            <a:r>
              <a:rPr baseline="30000" lang="en-US" sz="800">
                <a:solidFill>
                  <a:schemeClr val="dk1"/>
                </a:solidFill>
                <a:latin typeface="Times New Roman"/>
                <a:ea typeface="Times New Roman"/>
                <a:cs typeface="Times New Roman"/>
                <a:sym typeface="Times New Roman"/>
              </a:rPr>
              <a:t>th</a:t>
            </a:r>
            <a:r>
              <a:rPr lang="en-US" sz="800">
                <a:solidFill>
                  <a:schemeClr val="dk1"/>
                </a:solidFill>
                <a:latin typeface="Times New Roman"/>
                <a:ea typeface="Times New Roman"/>
                <a:cs typeface="Times New Roman"/>
                <a:sym typeface="Times New Roman"/>
              </a:rPr>
              <a:t> Edition). Pearson Education Limited, England. (pp. 207)</a:t>
            </a:r>
            <a:endParaRPr/>
          </a:p>
        </p:txBody>
      </p:sp>
      <p:cxnSp>
        <p:nvCxnSpPr>
          <p:cNvPr id="7165" name="Google Shape;7165;p101"/>
          <p:cNvCxnSpPr/>
          <p:nvPr/>
        </p:nvCxnSpPr>
        <p:spPr>
          <a:xfrm>
            <a:off x="1524000" y="6600825"/>
            <a:ext cx="8324850" cy="0"/>
          </a:xfrm>
          <a:prstGeom prst="straightConnector1">
            <a:avLst/>
          </a:prstGeom>
          <a:noFill/>
          <a:ln cap="flat" cmpd="sng" w="12700">
            <a:solidFill>
              <a:srgbClr val="00B0F0"/>
            </a:solidFill>
            <a:prstDash val="solid"/>
            <a:round/>
            <a:headEnd len="sm" w="sm" type="none"/>
            <a:tailEnd len="sm" w="sm" type="none"/>
          </a:ln>
        </p:spPr>
      </p:cxnSp>
      <p:sp>
        <p:nvSpPr>
          <p:cNvPr id="7166" name="Google Shape;7166;p101"/>
          <p:cNvSpPr txBox="1"/>
          <p:nvPr/>
        </p:nvSpPr>
        <p:spPr>
          <a:xfrm>
            <a:off x="2016126" y="905724"/>
            <a:ext cx="8651875" cy="452279"/>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400">
                <a:solidFill>
                  <a:srgbClr val="00BAE8"/>
                </a:solidFill>
                <a:latin typeface="Arial"/>
                <a:ea typeface="Arial"/>
                <a:cs typeface="Arial"/>
                <a:sym typeface="Arial"/>
              </a:rPr>
              <a:t>Solution</a:t>
            </a:r>
            <a:endParaRPr/>
          </a:p>
        </p:txBody>
      </p:sp>
      <p:sp>
        <p:nvSpPr>
          <p:cNvPr id="7167" name="Google Shape;7167;p101"/>
          <p:cNvSpPr txBox="1"/>
          <p:nvPr/>
        </p:nvSpPr>
        <p:spPr>
          <a:xfrm>
            <a:off x="1982181" y="1675015"/>
            <a:ext cx="4770783" cy="440469"/>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99"/>
              </a:buClr>
              <a:buSzPts val="1430"/>
              <a:buFont typeface="Noto Sans Symbols"/>
              <a:buChar char="❖"/>
            </a:pPr>
            <a:r>
              <a:rPr lang="en-US" sz="2200">
                <a:solidFill>
                  <a:schemeClr val="dk1"/>
                </a:solidFill>
                <a:latin typeface="Arial"/>
                <a:ea typeface="Arial"/>
                <a:cs typeface="Arial"/>
                <a:sym typeface="Arial"/>
              </a:rPr>
              <a:t>Time to distribute </a:t>
            </a:r>
            <a:r>
              <a:rPr i="1" lang="en-US" sz="2200">
                <a:solidFill>
                  <a:schemeClr val="dk1"/>
                </a:solidFill>
                <a:latin typeface="Times New Roman"/>
                <a:ea typeface="Times New Roman"/>
                <a:cs typeface="Times New Roman"/>
                <a:sym typeface="Times New Roman"/>
              </a:rPr>
              <a:t>F</a:t>
            </a:r>
            <a:r>
              <a:rPr lang="en-US" sz="2200">
                <a:solidFill>
                  <a:schemeClr val="dk1"/>
                </a:solidFill>
                <a:latin typeface="Arial"/>
                <a:ea typeface="Arial"/>
                <a:cs typeface="Arial"/>
                <a:sym typeface="Arial"/>
              </a:rPr>
              <a:t> to </a:t>
            </a:r>
            <a:r>
              <a:rPr i="1" lang="en-US" sz="2200">
                <a:solidFill>
                  <a:schemeClr val="dk1"/>
                </a:solidFill>
                <a:latin typeface="Times New Roman"/>
                <a:ea typeface="Times New Roman"/>
                <a:cs typeface="Times New Roman"/>
                <a:sym typeface="Times New Roman"/>
              </a:rPr>
              <a:t>N</a:t>
            </a:r>
            <a:r>
              <a:rPr lang="en-US" sz="2200">
                <a:solidFill>
                  <a:schemeClr val="dk1"/>
                </a:solidFill>
                <a:latin typeface="Arial"/>
                <a:ea typeface="Arial"/>
                <a:cs typeface="Arial"/>
                <a:sym typeface="Arial"/>
              </a:rPr>
              <a:t> clients:</a:t>
            </a:r>
            <a:endParaRPr/>
          </a:p>
        </p:txBody>
      </p:sp>
      <p:grpSp>
        <p:nvGrpSpPr>
          <p:cNvPr id="7168" name="Google Shape;7168;p101"/>
          <p:cNvGrpSpPr/>
          <p:nvPr/>
        </p:nvGrpSpPr>
        <p:grpSpPr>
          <a:xfrm>
            <a:off x="1982180" y="2972020"/>
            <a:ext cx="3580420" cy="838420"/>
            <a:chOff x="4672052" y="5760364"/>
            <a:chExt cx="3580420" cy="838420"/>
          </a:xfrm>
        </p:grpSpPr>
        <p:sp>
          <p:nvSpPr>
            <p:cNvPr id="7169" name="Google Shape;7169;p101"/>
            <p:cNvSpPr/>
            <p:nvPr/>
          </p:nvSpPr>
          <p:spPr>
            <a:xfrm>
              <a:off x="4672052" y="5760364"/>
              <a:ext cx="3580420" cy="838420"/>
            </a:xfrm>
            <a:prstGeom prst="rect">
              <a:avLst/>
            </a:prstGeom>
            <a:noFill/>
            <a:ln cap="flat" cmpd="sng" w="9525">
              <a:solidFill>
                <a:srgbClr val="00B0F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pic>
          <p:nvPicPr>
            <p:cNvPr id="7170" name="Google Shape;7170;p101"/>
            <p:cNvPicPr preferRelativeResize="0"/>
            <p:nvPr/>
          </p:nvPicPr>
          <p:blipFill rotWithShape="1">
            <a:blip r:embed="rId3">
              <a:alphaModFix/>
            </a:blip>
            <a:srcRect b="0" l="0" r="0" t="0"/>
            <a:stretch/>
          </p:blipFill>
          <p:spPr>
            <a:xfrm>
              <a:off x="5140166" y="5867409"/>
              <a:ext cx="2914650" cy="600075"/>
            </a:xfrm>
            <a:prstGeom prst="rect">
              <a:avLst/>
            </a:prstGeom>
            <a:noFill/>
            <a:ln>
              <a:noFill/>
            </a:ln>
          </p:spPr>
        </p:pic>
      </p:grpSp>
      <p:sp>
        <p:nvSpPr>
          <p:cNvPr id="7171" name="Google Shape;7171;p101"/>
          <p:cNvSpPr/>
          <p:nvPr/>
        </p:nvSpPr>
        <p:spPr>
          <a:xfrm>
            <a:off x="1982181" y="2543403"/>
            <a:ext cx="1941557" cy="430887"/>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chemeClr val="lt1"/>
                </a:solidFill>
                <a:latin typeface="Arial"/>
                <a:ea typeface="Arial"/>
                <a:cs typeface="Arial"/>
                <a:sym typeface="Arial"/>
              </a:rPr>
              <a:t>Client-Server</a:t>
            </a:r>
            <a:endParaRPr b="1" sz="2200">
              <a:solidFill>
                <a:schemeClr val="lt1"/>
              </a:solidFill>
              <a:latin typeface="Arial"/>
              <a:ea typeface="Arial"/>
              <a:cs typeface="Arial"/>
              <a:sym typeface="Arial"/>
            </a:endParaRPr>
          </a:p>
        </p:txBody>
      </p:sp>
      <p:sp>
        <p:nvSpPr>
          <p:cNvPr id="7172" name="Google Shape;7172;p101"/>
          <p:cNvSpPr/>
          <p:nvPr/>
        </p:nvSpPr>
        <p:spPr>
          <a:xfrm>
            <a:off x="5827242" y="2554146"/>
            <a:ext cx="1941557" cy="430887"/>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lt1"/>
                </a:solidFill>
                <a:latin typeface="Arial"/>
                <a:ea typeface="Arial"/>
                <a:cs typeface="Arial"/>
                <a:sym typeface="Arial"/>
              </a:rPr>
              <a:t>P2P</a:t>
            </a:r>
            <a:endParaRPr b="1" sz="2200">
              <a:solidFill>
                <a:schemeClr val="lt1"/>
              </a:solidFill>
              <a:latin typeface="Arial"/>
              <a:ea typeface="Arial"/>
              <a:cs typeface="Arial"/>
              <a:sym typeface="Arial"/>
            </a:endParaRPr>
          </a:p>
        </p:txBody>
      </p:sp>
      <p:sp>
        <p:nvSpPr>
          <p:cNvPr id="7173" name="Google Shape;7173;p101"/>
          <p:cNvSpPr/>
          <p:nvPr/>
        </p:nvSpPr>
        <p:spPr>
          <a:xfrm>
            <a:off x="5827241" y="2982973"/>
            <a:ext cx="4596284" cy="1153448"/>
          </a:xfrm>
          <a:prstGeom prst="rect">
            <a:avLst/>
          </a:prstGeom>
          <a:noFill/>
          <a:ln cap="flat" cmpd="sng" w="9525">
            <a:solidFill>
              <a:srgbClr val="00B0F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pic>
        <p:nvPicPr>
          <p:cNvPr id="7174" name="Google Shape;7174;p101"/>
          <p:cNvPicPr preferRelativeResize="0"/>
          <p:nvPr/>
        </p:nvPicPr>
        <p:blipFill rotWithShape="1">
          <a:blip r:embed="rId4">
            <a:alphaModFix/>
          </a:blip>
          <a:srcRect b="0" l="0" r="0" t="0"/>
          <a:stretch/>
        </p:blipFill>
        <p:spPr>
          <a:xfrm>
            <a:off x="5914391" y="3079065"/>
            <a:ext cx="4509135" cy="994410"/>
          </a:xfrm>
          <a:prstGeom prst="rect">
            <a:avLst/>
          </a:prstGeom>
          <a:noFill/>
          <a:ln>
            <a:noFill/>
          </a:ln>
        </p:spPr>
      </p:pic>
      <p:sp>
        <p:nvSpPr>
          <p:cNvPr id="7175" name="Google Shape;7175;p101"/>
          <p:cNvSpPr/>
          <p:nvPr/>
        </p:nvSpPr>
        <p:spPr>
          <a:xfrm>
            <a:off x="4011886" y="4268116"/>
            <a:ext cx="4676503" cy="2035730"/>
          </a:xfrm>
          <a:prstGeom prst="rect">
            <a:avLst/>
          </a:prstGeom>
          <a:solidFill>
            <a:srgbClr val="FCFF91"/>
          </a:solidFill>
          <a:ln cap="flat" cmpd="sng" w="9525">
            <a:solidFill>
              <a:srgbClr val="BFBFBF"/>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pic>
        <p:nvPicPr>
          <p:cNvPr id="7176" name="Google Shape;7176;p101"/>
          <p:cNvPicPr preferRelativeResize="0"/>
          <p:nvPr/>
        </p:nvPicPr>
        <p:blipFill rotWithShape="1">
          <a:blip r:embed="rId5">
            <a:alphaModFix/>
          </a:blip>
          <a:srcRect b="0" l="0" r="0" t="0"/>
          <a:stretch/>
        </p:blipFill>
        <p:spPr>
          <a:xfrm>
            <a:off x="4086644" y="4399251"/>
            <a:ext cx="3745579" cy="1904487"/>
          </a:xfrm>
          <a:prstGeom prst="rect">
            <a:avLst/>
          </a:prstGeom>
          <a:noFill/>
          <a:ln>
            <a:noFill/>
          </a:ln>
        </p:spPr>
      </p:pic>
      <p:pic>
        <p:nvPicPr>
          <p:cNvPr descr="underline_base" id="7177" name="Google Shape;7177;p101"/>
          <p:cNvPicPr preferRelativeResize="0"/>
          <p:nvPr/>
        </p:nvPicPr>
        <p:blipFill rotWithShape="1">
          <a:blip r:embed="rId6">
            <a:alphaModFix/>
          </a:blip>
          <a:srcRect b="0" l="0" r="0" t="0"/>
          <a:stretch/>
        </p:blipFill>
        <p:spPr>
          <a:xfrm>
            <a:off x="2016126" y="817563"/>
            <a:ext cx="6672263" cy="184150"/>
          </a:xfrm>
          <a:prstGeom prst="rect">
            <a:avLst/>
          </a:prstGeom>
          <a:noFill/>
          <a:ln>
            <a:noFill/>
          </a:ln>
        </p:spPr>
      </p:pic>
      <p:sp>
        <p:nvSpPr>
          <p:cNvPr id="7178" name="Google Shape;7178;p101"/>
          <p:cNvSpPr/>
          <p:nvPr/>
        </p:nvSpPr>
        <p:spPr>
          <a:xfrm>
            <a:off x="4652385" y="4399251"/>
            <a:ext cx="3486779" cy="340832"/>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 X 1024 Mbits = 15360 Mbits</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3" name="Shape 7183"/>
        <p:cNvGrpSpPr/>
        <p:nvPr/>
      </p:nvGrpSpPr>
      <p:grpSpPr>
        <a:xfrm>
          <a:off x="0" y="0"/>
          <a:ext cx="0" cy="0"/>
          <a:chOff x="0" y="0"/>
          <a:chExt cx="0" cy="0"/>
        </a:xfrm>
      </p:grpSpPr>
      <p:sp>
        <p:nvSpPr>
          <p:cNvPr id="7184" name="Google Shape;7184;p102"/>
          <p:cNvSpPr/>
          <p:nvPr/>
        </p:nvSpPr>
        <p:spPr>
          <a:xfrm>
            <a:off x="4779592" y="1552502"/>
            <a:ext cx="5734215" cy="4918967"/>
          </a:xfrm>
          <a:prstGeom prst="rect">
            <a:avLst/>
          </a:prstGeom>
          <a:solidFill>
            <a:srgbClr val="D8D8D8"/>
          </a:solid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7185" name="Google Shape;7185;p102"/>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7186" name="Google Shape;7186;p102"/>
          <p:cNvSpPr txBox="1"/>
          <p:nvPr/>
        </p:nvSpPr>
        <p:spPr>
          <a:xfrm>
            <a:off x="1524000" y="6611779"/>
            <a:ext cx="914400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Times New Roman"/>
                <a:ea typeface="Times New Roman"/>
                <a:cs typeface="Times New Roman"/>
                <a:sym typeface="Times New Roman"/>
              </a:rPr>
              <a:t>Kurose, J.F. and Ross, K.W. (2017). Computer Networking: A Top-Down Approach (7</a:t>
            </a:r>
            <a:r>
              <a:rPr baseline="30000" lang="en-US" sz="800">
                <a:solidFill>
                  <a:schemeClr val="dk1"/>
                </a:solidFill>
                <a:latin typeface="Times New Roman"/>
                <a:ea typeface="Times New Roman"/>
                <a:cs typeface="Times New Roman"/>
                <a:sym typeface="Times New Roman"/>
              </a:rPr>
              <a:t>th</a:t>
            </a:r>
            <a:r>
              <a:rPr lang="en-US" sz="800">
                <a:solidFill>
                  <a:schemeClr val="dk1"/>
                </a:solidFill>
                <a:latin typeface="Times New Roman"/>
                <a:ea typeface="Times New Roman"/>
                <a:cs typeface="Times New Roman"/>
                <a:sym typeface="Times New Roman"/>
              </a:rPr>
              <a:t> Edition). Pearson Education Limited, England. (pp. 207)</a:t>
            </a:r>
            <a:endParaRPr/>
          </a:p>
        </p:txBody>
      </p:sp>
      <p:cxnSp>
        <p:nvCxnSpPr>
          <p:cNvPr id="7187" name="Google Shape;7187;p102"/>
          <p:cNvCxnSpPr/>
          <p:nvPr/>
        </p:nvCxnSpPr>
        <p:spPr>
          <a:xfrm>
            <a:off x="1524000" y="6600825"/>
            <a:ext cx="8324850" cy="0"/>
          </a:xfrm>
          <a:prstGeom prst="straightConnector1">
            <a:avLst/>
          </a:prstGeom>
          <a:noFill/>
          <a:ln cap="flat" cmpd="sng" w="12700">
            <a:solidFill>
              <a:srgbClr val="00B0F0"/>
            </a:solidFill>
            <a:prstDash val="solid"/>
            <a:round/>
            <a:headEnd len="sm" w="sm" type="none"/>
            <a:tailEnd len="sm" w="sm" type="none"/>
          </a:ln>
        </p:spPr>
      </p:cxnSp>
      <p:sp>
        <p:nvSpPr>
          <p:cNvPr id="7188" name="Google Shape;7188;p102"/>
          <p:cNvSpPr txBox="1"/>
          <p:nvPr/>
        </p:nvSpPr>
        <p:spPr>
          <a:xfrm>
            <a:off x="3878970" y="905724"/>
            <a:ext cx="6789031" cy="452279"/>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2400">
                <a:solidFill>
                  <a:srgbClr val="00BAE8"/>
                </a:solidFill>
                <a:latin typeface="Arial"/>
                <a:ea typeface="Arial"/>
                <a:cs typeface="Arial"/>
                <a:sym typeface="Arial"/>
              </a:rPr>
              <a:t>Solution</a:t>
            </a:r>
            <a:endParaRPr/>
          </a:p>
        </p:txBody>
      </p:sp>
      <p:sp>
        <p:nvSpPr>
          <p:cNvPr id="7189" name="Google Shape;7189;p102"/>
          <p:cNvSpPr txBox="1"/>
          <p:nvPr/>
        </p:nvSpPr>
        <p:spPr>
          <a:xfrm>
            <a:off x="1812854" y="1930099"/>
            <a:ext cx="2710604" cy="440469"/>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99"/>
              </a:buClr>
              <a:buSzPts val="1430"/>
              <a:buFont typeface="Noto Sans Symbols"/>
              <a:buChar char="❖"/>
            </a:pPr>
            <a:r>
              <a:rPr lang="en-US" sz="2200">
                <a:solidFill>
                  <a:schemeClr val="dk1"/>
                </a:solidFill>
                <a:latin typeface="Arial"/>
                <a:ea typeface="Arial"/>
                <a:cs typeface="Arial"/>
                <a:sym typeface="Arial"/>
              </a:rPr>
              <a:t>Time to distribute </a:t>
            </a:r>
            <a:r>
              <a:rPr i="1" lang="en-US" sz="2200">
                <a:solidFill>
                  <a:schemeClr val="dk1"/>
                </a:solidFill>
                <a:latin typeface="Times New Roman"/>
                <a:ea typeface="Times New Roman"/>
                <a:cs typeface="Times New Roman"/>
                <a:sym typeface="Times New Roman"/>
              </a:rPr>
              <a:t>F</a:t>
            </a:r>
            <a:r>
              <a:rPr lang="en-US" sz="2200">
                <a:solidFill>
                  <a:schemeClr val="dk1"/>
                </a:solidFill>
                <a:latin typeface="Arial"/>
                <a:ea typeface="Arial"/>
                <a:cs typeface="Arial"/>
                <a:sym typeface="Arial"/>
              </a:rPr>
              <a:t> to </a:t>
            </a:r>
            <a:r>
              <a:rPr i="1" lang="en-US" sz="2200">
                <a:solidFill>
                  <a:schemeClr val="dk1"/>
                </a:solidFill>
                <a:latin typeface="Times New Roman"/>
                <a:ea typeface="Times New Roman"/>
                <a:cs typeface="Times New Roman"/>
                <a:sym typeface="Times New Roman"/>
              </a:rPr>
              <a:t>N</a:t>
            </a:r>
            <a:r>
              <a:rPr lang="en-US" sz="2200">
                <a:solidFill>
                  <a:schemeClr val="dk1"/>
                </a:solidFill>
                <a:latin typeface="Arial"/>
                <a:ea typeface="Arial"/>
                <a:cs typeface="Arial"/>
                <a:sym typeface="Arial"/>
              </a:rPr>
              <a:t> clients:</a:t>
            </a:r>
            <a:endParaRPr/>
          </a:p>
        </p:txBody>
      </p:sp>
      <p:sp>
        <p:nvSpPr>
          <p:cNvPr id="7190" name="Google Shape;7190;p102"/>
          <p:cNvSpPr/>
          <p:nvPr/>
        </p:nvSpPr>
        <p:spPr>
          <a:xfrm>
            <a:off x="1524438" y="431196"/>
            <a:ext cx="4685321" cy="1052058"/>
          </a:xfrm>
          <a:prstGeom prst="rect">
            <a:avLst/>
          </a:prstGeom>
          <a:solidFill>
            <a:schemeClr val="lt1"/>
          </a:solidFill>
          <a:ln cap="flat" cmpd="sng" w="9525">
            <a:solidFill>
              <a:srgbClr val="00B0F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7191" name="Google Shape;7191;p102"/>
          <p:cNvSpPr/>
          <p:nvPr/>
        </p:nvSpPr>
        <p:spPr>
          <a:xfrm>
            <a:off x="1524439" y="-1691"/>
            <a:ext cx="1941557" cy="430887"/>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lt1"/>
                </a:solidFill>
                <a:latin typeface="Arial"/>
                <a:ea typeface="Arial"/>
                <a:cs typeface="Arial"/>
                <a:sym typeface="Arial"/>
              </a:rPr>
              <a:t>Client-Server</a:t>
            </a:r>
            <a:endParaRPr b="1" sz="2200">
              <a:solidFill>
                <a:schemeClr val="lt1"/>
              </a:solidFill>
              <a:latin typeface="Arial"/>
              <a:ea typeface="Arial"/>
              <a:cs typeface="Arial"/>
              <a:sym typeface="Arial"/>
            </a:endParaRPr>
          </a:p>
        </p:txBody>
      </p:sp>
      <p:sp>
        <p:nvSpPr>
          <p:cNvPr id="7192" name="Google Shape;7192;p102"/>
          <p:cNvSpPr/>
          <p:nvPr/>
        </p:nvSpPr>
        <p:spPr>
          <a:xfrm flipH="1">
            <a:off x="6138198" y="1651819"/>
            <a:ext cx="45719" cy="4908014"/>
          </a:xfrm>
          <a:prstGeom prst="rect">
            <a:avLst/>
          </a:prstGeom>
          <a:solidFill>
            <a:schemeClr val="lt1"/>
          </a:solid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pic>
        <p:nvPicPr>
          <p:cNvPr id="7193" name="Google Shape;7193;p102"/>
          <p:cNvPicPr preferRelativeResize="0"/>
          <p:nvPr/>
        </p:nvPicPr>
        <p:blipFill rotWithShape="1">
          <a:blip r:embed="rId3">
            <a:alphaModFix/>
          </a:blip>
          <a:srcRect b="0" l="0" r="0" t="0"/>
          <a:stretch/>
        </p:blipFill>
        <p:spPr>
          <a:xfrm>
            <a:off x="4977341" y="2043313"/>
            <a:ext cx="736600" cy="190500"/>
          </a:xfrm>
          <a:prstGeom prst="rect">
            <a:avLst/>
          </a:prstGeom>
          <a:noFill/>
          <a:ln>
            <a:noFill/>
          </a:ln>
        </p:spPr>
      </p:pic>
      <p:pic>
        <p:nvPicPr>
          <p:cNvPr id="7194" name="Google Shape;7194;p102"/>
          <p:cNvPicPr preferRelativeResize="0"/>
          <p:nvPr/>
        </p:nvPicPr>
        <p:blipFill rotWithShape="1">
          <a:blip r:embed="rId4">
            <a:alphaModFix/>
          </a:blip>
          <a:srcRect b="0" l="0" r="0" t="0"/>
          <a:stretch/>
        </p:blipFill>
        <p:spPr>
          <a:xfrm>
            <a:off x="4977341" y="3661580"/>
            <a:ext cx="850900" cy="190500"/>
          </a:xfrm>
          <a:prstGeom prst="rect">
            <a:avLst/>
          </a:prstGeom>
          <a:noFill/>
          <a:ln>
            <a:noFill/>
          </a:ln>
        </p:spPr>
      </p:pic>
      <p:pic>
        <p:nvPicPr>
          <p:cNvPr id="7195" name="Google Shape;7195;p102"/>
          <p:cNvPicPr preferRelativeResize="0"/>
          <p:nvPr/>
        </p:nvPicPr>
        <p:blipFill rotWithShape="1">
          <a:blip r:embed="rId5">
            <a:alphaModFix/>
          </a:blip>
          <a:srcRect b="0" l="0" r="0" t="0"/>
          <a:stretch/>
        </p:blipFill>
        <p:spPr>
          <a:xfrm>
            <a:off x="4982430" y="5279847"/>
            <a:ext cx="965200" cy="190500"/>
          </a:xfrm>
          <a:prstGeom prst="rect">
            <a:avLst/>
          </a:prstGeom>
          <a:noFill/>
          <a:ln>
            <a:noFill/>
          </a:ln>
        </p:spPr>
      </p:pic>
      <p:pic>
        <p:nvPicPr>
          <p:cNvPr id="7196" name="Google Shape;7196;p102"/>
          <p:cNvPicPr preferRelativeResize="0"/>
          <p:nvPr/>
        </p:nvPicPr>
        <p:blipFill rotWithShape="1">
          <a:blip r:embed="rId6">
            <a:alphaModFix/>
          </a:blip>
          <a:srcRect b="0" l="0" r="0" t="0"/>
          <a:stretch/>
        </p:blipFill>
        <p:spPr>
          <a:xfrm>
            <a:off x="6372224" y="1824466"/>
            <a:ext cx="4032343" cy="1099129"/>
          </a:xfrm>
          <a:prstGeom prst="rect">
            <a:avLst/>
          </a:prstGeom>
          <a:noFill/>
          <a:ln>
            <a:noFill/>
          </a:ln>
        </p:spPr>
      </p:pic>
      <p:pic>
        <p:nvPicPr>
          <p:cNvPr id="7197" name="Google Shape;7197;p102"/>
          <p:cNvPicPr preferRelativeResize="0"/>
          <p:nvPr/>
        </p:nvPicPr>
        <p:blipFill rotWithShape="1">
          <a:blip r:embed="rId7">
            <a:alphaModFix/>
          </a:blip>
          <a:srcRect b="0" l="0" r="0" t="0"/>
          <a:stretch/>
        </p:blipFill>
        <p:spPr>
          <a:xfrm>
            <a:off x="6372224" y="3455091"/>
            <a:ext cx="4129571" cy="1092200"/>
          </a:xfrm>
          <a:prstGeom prst="rect">
            <a:avLst/>
          </a:prstGeom>
          <a:noFill/>
          <a:ln>
            <a:noFill/>
          </a:ln>
        </p:spPr>
      </p:pic>
      <p:pic>
        <p:nvPicPr>
          <p:cNvPr id="7198" name="Google Shape;7198;p102"/>
          <p:cNvPicPr preferRelativeResize="0"/>
          <p:nvPr/>
        </p:nvPicPr>
        <p:blipFill rotWithShape="1">
          <a:blip r:embed="rId8">
            <a:alphaModFix/>
          </a:blip>
          <a:srcRect b="0" l="0" r="0" t="0"/>
          <a:stretch/>
        </p:blipFill>
        <p:spPr>
          <a:xfrm>
            <a:off x="6375977" y="5085715"/>
            <a:ext cx="4028589" cy="1092200"/>
          </a:xfrm>
          <a:prstGeom prst="rect">
            <a:avLst/>
          </a:prstGeom>
          <a:noFill/>
          <a:ln>
            <a:noFill/>
          </a:ln>
        </p:spPr>
      </p:pic>
      <p:pic>
        <p:nvPicPr>
          <p:cNvPr id="7199" name="Google Shape;7199;p102"/>
          <p:cNvPicPr preferRelativeResize="0"/>
          <p:nvPr/>
        </p:nvPicPr>
        <p:blipFill rotWithShape="1">
          <a:blip r:embed="rId9">
            <a:alphaModFix/>
          </a:blip>
          <a:srcRect b="0" l="0" r="0" t="0"/>
          <a:stretch/>
        </p:blipFill>
        <p:spPr>
          <a:xfrm>
            <a:off x="1898650" y="701705"/>
            <a:ext cx="2914650" cy="600075"/>
          </a:xfrm>
          <a:prstGeom prst="rect">
            <a:avLst/>
          </a:prstGeom>
          <a:noFill/>
          <a:ln>
            <a:noFill/>
          </a:ln>
        </p:spPr>
      </p:pic>
      <p:sp>
        <p:nvSpPr>
          <p:cNvPr id="7200" name="Google Shape;7200;p102"/>
          <p:cNvSpPr/>
          <p:nvPr/>
        </p:nvSpPr>
        <p:spPr>
          <a:xfrm>
            <a:off x="52233" y="4067850"/>
            <a:ext cx="4676503" cy="2035730"/>
          </a:xfrm>
          <a:prstGeom prst="rect">
            <a:avLst/>
          </a:prstGeom>
          <a:solidFill>
            <a:srgbClr val="FCFF91"/>
          </a:solidFill>
          <a:ln cap="flat" cmpd="sng" w="9525">
            <a:solidFill>
              <a:srgbClr val="BFBFBF"/>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pic>
        <p:nvPicPr>
          <p:cNvPr id="7201" name="Google Shape;7201;p102"/>
          <p:cNvPicPr preferRelativeResize="0"/>
          <p:nvPr/>
        </p:nvPicPr>
        <p:blipFill rotWithShape="1">
          <a:blip r:embed="rId10">
            <a:alphaModFix/>
          </a:blip>
          <a:srcRect b="0" l="0" r="0" t="0"/>
          <a:stretch/>
        </p:blipFill>
        <p:spPr>
          <a:xfrm>
            <a:off x="133606" y="4236930"/>
            <a:ext cx="3745579" cy="1904487"/>
          </a:xfrm>
          <a:prstGeom prst="rect">
            <a:avLst/>
          </a:prstGeom>
          <a:noFill/>
          <a:ln>
            <a:noFill/>
          </a:ln>
        </p:spPr>
      </p:pic>
      <p:sp>
        <p:nvSpPr>
          <p:cNvPr id="7202" name="Google Shape;7202;p102"/>
          <p:cNvSpPr/>
          <p:nvPr/>
        </p:nvSpPr>
        <p:spPr>
          <a:xfrm>
            <a:off x="699347" y="4236930"/>
            <a:ext cx="3486779" cy="340832"/>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 X 1024 Mbits = 15360 Mbits</a:t>
            </a:r>
            <a:endParaRPr sz="1800">
              <a:solidFill>
                <a:schemeClr val="dk1"/>
              </a:solidFill>
              <a:latin typeface="Calibri"/>
              <a:ea typeface="Calibri"/>
              <a:cs typeface="Calibri"/>
              <a:sym typeface="Calibri"/>
            </a:endParaRPr>
          </a:p>
        </p:txBody>
      </p:sp>
      <p:sp>
        <p:nvSpPr>
          <p:cNvPr id="7203" name="Google Shape;7203;p102"/>
          <p:cNvSpPr/>
          <p:nvPr/>
        </p:nvSpPr>
        <p:spPr>
          <a:xfrm>
            <a:off x="8416907" y="1839326"/>
            <a:ext cx="857073" cy="225902"/>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04" name="Google Shape;7204;p102"/>
          <p:cNvSpPr/>
          <p:nvPr/>
        </p:nvSpPr>
        <p:spPr>
          <a:xfrm>
            <a:off x="9380527" y="1877215"/>
            <a:ext cx="857073" cy="225902"/>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05" name="Google Shape;7205;p102"/>
          <p:cNvSpPr/>
          <p:nvPr/>
        </p:nvSpPr>
        <p:spPr>
          <a:xfrm>
            <a:off x="7778433" y="2332681"/>
            <a:ext cx="690821" cy="225902"/>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5120</a:t>
            </a:r>
            <a:endParaRPr sz="1800">
              <a:solidFill>
                <a:schemeClr val="lt1"/>
              </a:solidFill>
              <a:latin typeface="Calibri"/>
              <a:ea typeface="Calibri"/>
              <a:cs typeface="Calibri"/>
              <a:sym typeface="Calibri"/>
            </a:endParaRPr>
          </a:p>
        </p:txBody>
      </p:sp>
      <p:sp>
        <p:nvSpPr>
          <p:cNvPr id="7206" name="Google Shape;7206;p102"/>
          <p:cNvSpPr/>
          <p:nvPr/>
        </p:nvSpPr>
        <p:spPr>
          <a:xfrm>
            <a:off x="7185110" y="2709688"/>
            <a:ext cx="762443" cy="195060"/>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7680s</a:t>
            </a:r>
            <a:endParaRPr sz="1800">
              <a:solidFill>
                <a:schemeClr val="lt1"/>
              </a:solidFill>
              <a:latin typeface="Calibri"/>
              <a:ea typeface="Calibri"/>
              <a:cs typeface="Calibri"/>
              <a:sym typeface="Calibri"/>
            </a:endParaRPr>
          </a:p>
        </p:txBody>
      </p:sp>
      <p:sp>
        <p:nvSpPr>
          <p:cNvPr id="7207" name="Google Shape;7207;p102"/>
          <p:cNvSpPr/>
          <p:nvPr/>
        </p:nvSpPr>
        <p:spPr>
          <a:xfrm>
            <a:off x="9538049" y="3459677"/>
            <a:ext cx="857073" cy="225902"/>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08" name="Google Shape;7208;p102"/>
          <p:cNvSpPr/>
          <p:nvPr/>
        </p:nvSpPr>
        <p:spPr>
          <a:xfrm>
            <a:off x="8557227" y="3471346"/>
            <a:ext cx="857073" cy="225902"/>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09" name="Google Shape;7209;p102"/>
          <p:cNvSpPr/>
          <p:nvPr/>
        </p:nvSpPr>
        <p:spPr>
          <a:xfrm>
            <a:off x="8720021" y="3992540"/>
            <a:ext cx="762443" cy="195060"/>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7680</a:t>
            </a:r>
            <a:endParaRPr sz="1800">
              <a:solidFill>
                <a:schemeClr val="lt1"/>
              </a:solidFill>
              <a:latin typeface="Calibri"/>
              <a:ea typeface="Calibri"/>
              <a:cs typeface="Calibri"/>
              <a:sym typeface="Calibri"/>
            </a:endParaRPr>
          </a:p>
        </p:txBody>
      </p:sp>
      <p:sp>
        <p:nvSpPr>
          <p:cNvPr id="7210" name="Google Shape;7210;p102"/>
          <p:cNvSpPr/>
          <p:nvPr/>
        </p:nvSpPr>
        <p:spPr>
          <a:xfrm>
            <a:off x="7195062" y="4326866"/>
            <a:ext cx="857073" cy="225902"/>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51200s</a:t>
            </a:r>
            <a:endParaRPr sz="1800">
              <a:solidFill>
                <a:schemeClr val="lt1"/>
              </a:solidFill>
              <a:latin typeface="Calibri"/>
              <a:ea typeface="Calibri"/>
              <a:cs typeface="Calibri"/>
              <a:sym typeface="Calibri"/>
            </a:endParaRPr>
          </a:p>
        </p:txBody>
      </p:sp>
      <p:sp>
        <p:nvSpPr>
          <p:cNvPr id="7211" name="Google Shape;7211;p102"/>
          <p:cNvSpPr/>
          <p:nvPr/>
        </p:nvSpPr>
        <p:spPr>
          <a:xfrm>
            <a:off x="7792754" y="3980098"/>
            <a:ext cx="857073" cy="225902"/>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51200</a:t>
            </a:r>
            <a:endParaRPr sz="1800">
              <a:solidFill>
                <a:schemeClr val="lt1"/>
              </a:solidFill>
              <a:latin typeface="Calibri"/>
              <a:ea typeface="Calibri"/>
              <a:cs typeface="Calibri"/>
              <a:sym typeface="Calibri"/>
            </a:endParaRPr>
          </a:p>
        </p:txBody>
      </p:sp>
      <p:sp>
        <p:nvSpPr>
          <p:cNvPr id="7212" name="Google Shape;7212;p102"/>
          <p:cNvSpPr/>
          <p:nvPr/>
        </p:nvSpPr>
        <p:spPr>
          <a:xfrm>
            <a:off x="9482465" y="5074762"/>
            <a:ext cx="857073" cy="225902"/>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13" name="Google Shape;7213;p102"/>
          <p:cNvSpPr/>
          <p:nvPr/>
        </p:nvSpPr>
        <p:spPr>
          <a:xfrm>
            <a:off x="8539909" y="5077963"/>
            <a:ext cx="857073" cy="225902"/>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14" name="Google Shape;7214;p102"/>
          <p:cNvSpPr/>
          <p:nvPr/>
        </p:nvSpPr>
        <p:spPr>
          <a:xfrm>
            <a:off x="8720022" y="5622988"/>
            <a:ext cx="762443" cy="195060"/>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7680</a:t>
            </a:r>
            <a:endParaRPr sz="1800">
              <a:solidFill>
                <a:schemeClr val="lt1"/>
              </a:solidFill>
              <a:latin typeface="Calibri"/>
              <a:ea typeface="Calibri"/>
              <a:cs typeface="Calibri"/>
              <a:sym typeface="Calibri"/>
            </a:endParaRPr>
          </a:p>
        </p:txBody>
      </p:sp>
      <p:sp>
        <p:nvSpPr>
          <p:cNvPr id="7215" name="Google Shape;7215;p102"/>
          <p:cNvSpPr/>
          <p:nvPr/>
        </p:nvSpPr>
        <p:spPr>
          <a:xfrm>
            <a:off x="7100834" y="5962305"/>
            <a:ext cx="1132521" cy="276225"/>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512000s</a:t>
            </a:r>
            <a:endParaRPr sz="1800">
              <a:solidFill>
                <a:schemeClr val="lt1"/>
              </a:solidFill>
              <a:latin typeface="Calibri"/>
              <a:ea typeface="Calibri"/>
              <a:cs typeface="Calibri"/>
              <a:sym typeface="Calibri"/>
            </a:endParaRPr>
          </a:p>
        </p:txBody>
      </p:sp>
      <p:sp>
        <p:nvSpPr>
          <p:cNvPr id="7216" name="Google Shape;7216;p102"/>
          <p:cNvSpPr/>
          <p:nvPr/>
        </p:nvSpPr>
        <p:spPr>
          <a:xfrm>
            <a:off x="7605792" y="5571829"/>
            <a:ext cx="1132521" cy="276225"/>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512000</a:t>
            </a:r>
            <a:endParaRPr sz="1800">
              <a:solidFill>
                <a:schemeClr val="lt1"/>
              </a:solidFill>
              <a:latin typeface="Calibri"/>
              <a:ea typeface="Calibri"/>
              <a:cs typeface="Calibri"/>
              <a:sym typeface="Calibri"/>
            </a:endParaRPr>
          </a:p>
        </p:txBody>
      </p:sp>
      <p:sp>
        <p:nvSpPr>
          <p:cNvPr id="7217" name="Google Shape;7217;p102"/>
          <p:cNvSpPr/>
          <p:nvPr/>
        </p:nvSpPr>
        <p:spPr>
          <a:xfrm>
            <a:off x="8610859" y="2316770"/>
            <a:ext cx="663121" cy="268610"/>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7680</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2" name="Shape 7222"/>
        <p:cNvGrpSpPr/>
        <p:nvPr/>
      </p:nvGrpSpPr>
      <p:grpSpPr>
        <a:xfrm>
          <a:off x="0" y="0"/>
          <a:ext cx="0" cy="0"/>
          <a:chOff x="0" y="0"/>
          <a:chExt cx="0" cy="0"/>
        </a:xfrm>
      </p:grpSpPr>
      <p:sp>
        <p:nvSpPr>
          <p:cNvPr id="7223" name="Google Shape;7223;p103"/>
          <p:cNvSpPr/>
          <p:nvPr/>
        </p:nvSpPr>
        <p:spPr>
          <a:xfrm>
            <a:off x="4813301" y="1651819"/>
            <a:ext cx="7013609" cy="4918967"/>
          </a:xfrm>
          <a:prstGeom prst="rect">
            <a:avLst/>
          </a:prstGeom>
          <a:solidFill>
            <a:srgbClr val="D8D8D8"/>
          </a:solid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7224" name="Google Shape;7224;p103"/>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7225" name="Google Shape;7225;p103"/>
          <p:cNvSpPr txBox="1"/>
          <p:nvPr/>
        </p:nvSpPr>
        <p:spPr>
          <a:xfrm>
            <a:off x="1524000" y="6611779"/>
            <a:ext cx="914400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Times New Roman"/>
                <a:ea typeface="Times New Roman"/>
                <a:cs typeface="Times New Roman"/>
                <a:sym typeface="Times New Roman"/>
              </a:rPr>
              <a:t>Kurose, J.F. and Ross, K.W. (2017). Computer Networking: A Top-Down Approach (7</a:t>
            </a:r>
            <a:r>
              <a:rPr baseline="30000" lang="en-US" sz="800">
                <a:solidFill>
                  <a:schemeClr val="dk1"/>
                </a:solidFill>
                <a:latin typeface="Times New Roman"/>
                <a:ea typeface="Times New Roman"/>
                <a:cs typeface="Times New Roman"/>
                <a:sym typeface="Times New Roman"/>
              </a:rPr>
              <a:t>th</a:t>
            </a:r>
            <a:r>
              <a:rPr lang="en-US" sz="800">
                <a:solidFill>
                  <a:schemeClr val="dk1"/>
                </a:solidFill>
                <a:latin typeface="Times New Roman"/>
                <a:ea typeface="Times New Roman"/>
                <a:cs typeface="Times New Roman"/>
                <a:sym typeface="Times New Roman"/>
              </a:rPr>
              <a:t> Edition). Pearson Education Limited, England. (pp. 207)</a:t>
            </a:r>
            <a:endParaRPr/>
          </a:p>
        </p:txBody>
      </p:sp>
      <p:cxnSp>
        <p:nvCxnSpPr>
          <p:cNvPr id="7226" name="Google Shape;7226;p103"/>
          <p:cNvCxnSpPr/>
          <p:nvPr/>
        </p:nvCxnSpPr>
        <p:spPr>
          <a:xfrm>
            <a:off x="1524000" y="6600825"/>
            <a:ext cx="8324850" cy="0"/>
          </a:xfrm>
          <a:prstGeom prst="straightConnector1">
            <a:avLst/>
          </a:prstGeom>
          <a:noFill/>
          <a:ln cap="flat" cmpd="sng" w="12700">
            <a:solidFill>
              <a:srgbClr val="00B0F0"/>
            </a:solidFill>
            <a:prstDash val="solid"/>
            <a:round/>
            <a:headEnd len="sm" w="sm" type="none"/>
            <a:tailEnd len="sm" w="sm" type="none"/>
          </a:ln>
        </p:spPr>
      </p:cxnSp>
      <p:sp>
        <p:nvSpPr>
          <p:cNvPr id="7227" name="Google Shape;7227;p103"/>
          <p:cNvSpPr txBox="1"/>
          <p:nvPr/>
        </p:nvSpPr>
        <p:spPr>
          <a:xfrm>
            <a:off x="3849856" y="905724"/>
            <a:ext cx="6789031" cy="452279"/>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2400">
                <a:solidFill>
                  <a:srgbClr val="00BAE8"/>
                </a:solidFill>
                <a:latin typeface="Arial"/>
                <a:ea typeface="Arial"/>
                <a:cs typeface="Arial"/>
                <a:sym typeface="Arial"/>
              </a:rPr>
              <a:t>Solution</a:t>
            </a:r>
            <a:endParaRPr/>
          </a:p>
        </p:txBody>
      </p:sp>
      <p:sp>
        <p:nvSpPr>
          <p:cNvPr id="7228" name="Google Shape;7228;p103"/>
          <p:cNvSpPr txBox="1"/>
          <p:nvPr/>
        </p:nvSpPr>
        <p:spPr>
          <a:xfrm>
            <a:off x="1812854" y="1930099"/>
            <a:ext cx="2710604" cy="440469"/>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99"/>
              </a:buClr>
              <a:buSzPts val="1430"/>
              <a:buFont typeface="Noto Sans Symbols"/>
              <a:buChar char="❖"/>
            </a:pPr>
            <a:r>
              <a:rPr lang="en-US" sz="2200">
                <a:solidFill>
                  <a:schemeClr val="dk1"/>
                </a:solidFill>
                <a:latin typeface="Arial"/>
                <a:ea typeface="Arial"/>
                <a:cs typeface="Arial"/>
                <a:sym typeface="Arial"/>
              </a:rPr>
              <a:t>Time to distribute </a:t>
            </a:r>
            <a:r>
              <a:rPr i="1" lang="en-US" sz="2200">
                <a:solidFill>
                  <a:schemeClr val="dk1"/>
                </a:solidFill>
                <a:latin typeface="Times New Roman"/>
                <a:ea typeface="Times New Roman"/>
                <a:cs typeface="Times New Roman"/>
                <a:sym typeface="Times New Roman"/>
              </a:rPr>
              <a:t>F</a:t>
            </a:r>
            <a:r>
              <a:rPr lang="en-US" sz="2200">
                <a:solidFill>
                  <a:schemeClr val="dk1"/>
                </a:solidFill>
                <a:latin typeface="Arial"/>
                <a:ea typeface="Arial"/>
                <a:cs typeface="Arial"/>
                <a:sym typeface="Arial"/>
              </a:rPr>
              <a:t> to </a:t>
            </a:r>
            <a:r>
              <a:rPr i="1" lang="en-US" sz="2200">
                <a:solidFill>
                  <a:schemeClr val="dk1"/>
                </a:solidFill>
                <a:latin typeface="Times New Roman"/>
                <a:ea typeface="Times New Roman"/>
                <a:cs typeface="Times New Roman"/>
                <a:sym typeface="Times New Roman"/>
              </a:rPr>
              <a:t>N</a:t>
            </a:r>
            <a:r>
              <a:rPr lang="en-US" sz="2200">
                <a:solidFill>
                  <a:schemeClr val="dk1"/>
                </a:solidFill>
                <a:latin typeface="Arial"/>
                <a:ea typeface="Arial"/>
                <a:cs typeface="Arial"/>
                <a:sym typeface="Arial"/>
              </a:rPr>
              <a:t> clients:</a:t>
            </a:r>
            <a:endParaRPr/>
          </a:p>
        </p:txBody>
      </p:sp>
      <p:sp>
        <p:nvSpPr>
          <p:cNvPr id="7229" name="Google Shape;7229;p103"/>
          <p:cNvSpPr/>
          <p:nvPr/>
        </p:nvSpPr>
        <p:spPr>
          <a:xfrm>
            <a:off x="1524438" y="431196"/>
            <a:ext cx="4685321" cy="1052058"/>
          </a:xfrm>
          <a:prstGeom prst="rect">
            <a:avLst/>
          </a:prstGeom>
          <a:solidFill>
            <a:schemeClr val="lt1"/>
          </a:solidFill>
          <a:ln cap="flat" cmpd="sng" w="9525">
            <a:solidFill>
              <a:srgbClr val="00B0F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7230" name="Google Shape;7230;p103"/>
          <p:cNvSpPr/>
          <p:nvPr/>
        </p:nvSpPr>
        <p:spPr>
          <a:xfrm>
            <a:off x="1524439" y="-1691"/>
            <a:ext cx="1941557" cy="430887"/>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lt1"/>
                </a:solidFill>
                <a:latin typeface="Arial"/>
                <a:ea typeface="Arial"/>
                <a:cs typeface="Arial"/>
                <a:sym typeface="Arial"/>
              </a:rPr>
              <a:t>P2P</a:t>
            </a:r>
            <a:endParaRPr b="1" sz="2200">
              <a:solidFill>
                <a:schemeClr val="lt1"/>
              </a:solidFill>
              <a:latin typeface="Arial"/>
              <a:ea typeface="Arial"/>
              <a:cs typeface="Arial"/>
              <a:sym typeface="Arial"/>
            </a:endParaRPr>
          </a:p>
        </p:txBody>
      </p:sp>
      <p:sp>
        <p:nvSpPr>
          <p:cNvPr id="7231" name="Google Shape;7231;p103"/>
          <p:cNvSpPr/>
          <p:nvPr/>
        </p:nvSpPr>
        <p:spPr>
          <a:xfrm flipH="1">
            <a:off x="6138198" y="1651819"/>
            <a:ext cx="45719" cy="4908014"/>
          </a:xfrm>
          <a:prstGeom prst="rect">
            <a:avLst/>
          </a:prstGeom>
          <a:solidFill>
            <a:schemeClr val="lt1"/>
          </a:solid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pic>
        <p:nvPicPr>
          <p:cNvPr id="7232" name="Google Shape;7232;p103"/>
          <p:cNvPicPr preferRelativeResize="0"/>
          <p:nvPr/>
        </p:nvPicPr>
        <p:blipFill rotWithShape="1">
          <a:blip r:embed="rId3">
            <a:alphaModFix/>
          </a:blip>
          <a:srcRect b="0" l="0" r="0" t="0"/>
          <a:stretch/>
        </p:blipFill>
        <p:spPr>
          <a:xfrm>
            <a:off x="4977341" y="2043313"/>
            <a:ext cx="736600" cy="190500"/>
          </a:xfrm>
          <a:prstGeom prst="rect">
            <a:avLst/>
          </a:prstGeom>
          <a:noFill/>
          <a:ln>
            <a:noFill/>
          </a:ln>
        </p:spPr>
      </p:pic>
      <p:pic>
        <p:nvPicPr>
          <p:cNvPr id="7233" name="Google Shape;7233;p103"/>
          <p:cNvPicPr preferRelativeResize="0"/>
          <p:nvPr/>
        </p:nvPicPr>
        <p:blipFill rotWithShape="1">
          <a:blip r:embed="rId4">
            <a:alphaModFix/>
          </a:blip>
          <a:srcRect b="0" l="0" r="0" t="0"/>
          <a:stretch/>
        </p:blipFill>
        <p:spPr>
          <a:xfrm>
            <a:off x="4977341" y="3661580"/>
            <a:ext cx="850900" cy="190500"/>
          </a:xfrm>
          <a:prstGeom prst="rect">
            <a:avLst/>
          </a:prstGeom>
          <a:noFill/>
          <a:ln>
            <a:noFill/>
          </a:ln>
        </p:spPr>
      </p:pic>
      <p:pic>
        <p:nvPicPr>
          <p:cNvPr id="7234" name="Google Shape;7234;p103"/>
          <p:cNvPicPr preferRelativeResize="0"/>
          <p:nvPr/>
        </p:nvPicPr>
        <p:blipFill rotWithShape="1">
          <a:blip r:embed="rId5">
            <a:alphaModFix/>
          </a:blip>
          <a:srcRect b="0" l="0" r="0" t="0"/>
          <a:stretch/>
        </p:blipFill>
        <p:spPr>
          <a:xfrm>
            <a:off x="4982430" y="5279847"/>
            <a:ext cx="965200" cy="190500"/>
          </a:xfrm>
          <a:prstGeom prst="rect">
            <a:avLst/>
          </a:prstGeom>
          <a:noFill/>
          <a:ln>
            <a:noFill/>
          </a:ln>
        </p:spPr>
      </p:pic>
      <p:pic>
        <p:nvPicPr>
          <p:cNvPr id="7235" name="Google Shape;7235;p103"/>
          <p:cNvPicPr preferRelativeResize="0"/>
          <p:nvPr/>
        </p:nvPicPr>
        <p:blipFill rotWithShape="1">
          <a:blip r:embed="rId6">
            <a:alphaModFix/>
          </a:blip>
          <a:srcRect b="0" l="0" r="0" t="0"/>
          <a:stretch/>
        </p:blipFill>
        <p:spPr>
          <a:xfrm>
            <a:off x="1562101" y="488844"/>
            <a:ext cx="4509135" cy="994410"/>
          </a:xfrm>
          <a:prstGeom prst="rect">
            <a:avLst/>
          </a:prstGeom>
          <a:noFill/>
          <a:ln>
            <a:noFill/>
          </a:ln>
        </p:spPr>
      </p:pic>
      <p:pic>
        <p:nvPicPr>
          <p:cNvPr id="7236" name="Google Shape;7236;p103"/>
          <p:cNvPicPr preferRelativeResize="0"/>
          <p:nvPr/>
        </p:nvPicPr>
        <p:blipFill rotWithShape="1">
          <a:blip r:embed="rId7">
            <a:alphaModFix/>
          </a:blip>
          <a:srcRect b="0" l="0" r="0" t="0"/>
          <a:stretch/>
        </p:blipFill>
        <p:spPr>
          <a:xfrm>
            <a:off x="6372224" y="1854640"/>
            <a:ext cx="5454685" cy="1397000"/>
          </a:xfrm>
          <a:prstGeom prst="rect">
            <a:avLst/>
          </a:prstGeom>
          <a:noFill/>
          <a:ln>
            <a:noFill/>
          </a:ln>
        </p:spPr>
      </p:pic>
      <p:pic>
        <p:nvPicPr>
          <p:cNvPr id="7237" name="Google Shape;7237;p103"/>
          <p:cNvPicPr preferRelativeResize="0"/>
          <p:nvPr/>
        </p:nvPicPr>
        <p:blipFill rotWithShape="1">
          <a:blip r:embed="rId8">
            <a:alphaModFix/>
          </a:blip>
          <a:srcRect b="0" l="0" r="0" t="0"/>
          <a:stretch/>
        </p:blipFill>
        <p:spPr>
          <a:xfrm>
            <a:off x="6372224" y="3470177"/>
            <a:ext cx="5408965" cy="1397000"/>
          </a:xfrm>
          <a:prstGeom prst="rect">
            <a:avLst/>
          </a:prstGeom>
          <a:noFill/>
          <a:ln>
            <a:noFill/>
          </a:ln>
        </p:spPr>
      </p:pic>
      <p:pic>
        <p:nvPicPr>
          <p:cNvPr id="7238" name="Google Shape;7238;p103"/>
          <p:cNvPicPr preferRelativeResize="0"/>
          <p:nvPr/>
        </p:nvPicPr>
        <p:blipFill rotWithShape="1">
          <a:blip r:embed="rId9">
            <a:alphaModFix/>
          </a:blip>
          <a:srcRect b="0" l="0" r="0" t="0"/>
          <a:stretch/>
        </p:blipFill>
        <p:spPr>
          <a:xfrm>
            <a:off x="6371885" y="5080709"/>
            <a:ext cx="5409303" cy="1397000"/>
          </a:xfrm>
          <a:prstGeom prst="rect">
            <a:avLst/>
          </a:prstGeom>
          <a:noFill/>
          <a:ln>
            <a:noFill/>
          </a:ln>
        </p:spPr>
      </p:pic>
      <p:sp>
        <p:nvSpPr>
          <p:cNvPr id="7239" name="Google Shape;7239;p103"/>
          <p:cNvSpPr/>
          <p:nvPr/>
        </p:nvSpPr>
        <p:spPr>
          <a:xfrm>
            <a:off x="52233" y="4067850"/>
            <a:ext cx="4676503" cy="2035730"/>
          </a:xfrm>
          <a:prstGeom prst="rect">
            <a:avLst/>
          </a:prstGeom>
          <a:solidFill>
            <a:srgbClr val="FCFF91"/>
          </a:solidFill>
          <a:ln cap="flat" cmpd="sng" w="9525">
            <a:solidFill>
              <a:srgbClr val="BFBFBF"/>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pic>
        <p:nvPicPr>
          <p:cNvPr id="7240" name="Google Shape;7240;p103"/>
          <p:cNvPicPr preferRelativeResize="0"/>
          <p:nvPr/>
        </p:nvPicPr>
        <p:blipFill rotWithShape="1">
          <a:blip r:embed="rId10">
            <a:alphaModFix/>
          </a:blip>
          <a:srcRect b="0" l="0" r="0" t="0"/>
          <a:stretch/>
        </p:blipFill>
        <p:spPr>
          <a:xfrm>
            <a:off x="133606" y="4236930"/>
            <a:ext cx="3745579" cy="1904487"/>
          </a:xfrm>
          <a:prstGeom prst="rect">
            <a:avLst/>
          </a:prstGeom>
          <a:noFill/>
          <a:ln>
            <a:noFill/>
          </a:ln>
        </p:spPr>
      </p:pic>
      <p:sp>
        <p:nvSpPr>
          <p:cNvPr id="7241" name="Google Shape;7241;p103"/>
          <p:cNvSpPr/>
          <p:nvPr/>
        </p:nvSpPr>
        <p:spPr>
          <a:xfrm>
            <a:off x="699347" y="4236930"/>
            <a:ext cx="3486779" cy="340832"/>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 X 1024 Mbits = 15360 Mbits</a:t>
            </a:r>
            <a:endParaRPr sz="1800">
              <a:solidFill>
                <a:schemeClr val="dk1"/>
              </a:solidFill>
              <a:latin typeface="Calibri"/>
              <a:ea typeface="Calibri"/>
              <a:cs typeface="Calibri"/>
              <a:sym typeface="Calibri"/>
            </a:endParaRPr>
          </a:p>
        </p:txBody>
      </p:sp>
      <p:sp>
        <p:nvSpPr>
          <p:cNvPr id="7242" name="Google Shape;7242;p103"/>
          <p:cNvSpPr/>
          <p:nvPr/>
        </p:nvSpPr>
        <p:spPr>
          <a:xfrm>
            <a:off x="10693578" y="3426170"/>
            <a:ext cx="857073" cy="255991"/>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43" name="Google Shape;7243;p103"/>
          <p:cNvSpPr/>
          <p:nvPr/>
        </p:nvSpPr>
        <p:spPr>
          <a:xfrm>
            <a:off x="8955757" y="3438179"/>
            <a:ext cx="857073" cy="255991"/>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44" name="Google Shape;7244;p103"/>
          <p:cNvSpPr/>
          <p:nvPr/>
        </p:nvSpPr>
        <p:spPr>
          <a:xfrm>
            <a:off x="7991350" y="3455057"/>
            <a:ext cx="857073" cy="255991"/>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45" name="Google Shape;7245;p103"/>
          <p:cNvSpPr/>
          <p:nvPr/>
        </p:nvSpPr>
        <p:spPr>
          <a:xfrm>
            <a:off x="10716438" y="1824601"/>
            <a:ext cx="857073" cy="255991"/>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46" name="Google Shape;7246;p103"/>
          <p:cNvSpPr/>
          <p:nvPr/>
        </p:nvSpPr>
        <p:spPr>
          <a:xfrm>
            <a:off x="8955757" y="1832643"/>
            <a:ext cx="857073" cy="255991"/>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47" name="Google Shape;7247;p103"/>
          <p:cNvSpPr/>
          <p:nvPr/>
        </p:nvSpPr>
        <p:spPr>
          <a:xfrm>
            <a:off x="8021641" y="1832643"/>
            <a:ext cx="857073" cy="255991"/>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48" name="Google Shape;7248;p103"/>
          <p:cNvSpPr/>
          <p:nvPr/>
        </p:nvSpPr>
        <p:spPr>
          <a:xfrm>
            <a:off x="10746302" y="5080709"/>
            <a:ext cx="857073" cy="255991"/>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49" name="Google Shape;7249;p103"/>
          <p:cNvSpPr/>
          <p:nvPr/>
        </p:nvSpPr>
        <p:spPr>
          <a:xfrm>
            <a:off x="8991777" y="5042906"/>
            <a:ext cx="857073" cy="255991"/>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50" name="Google Shape;7250;p103"/>
          <p:cNvSpPr/>
          <p:nvPr/>
        </p:nvSpPr>
        <p:spPr>
          <a:xfrm>
            <a:off x="8036573" y="5050670"/>
            <a:ext cx="857073" cy="255991"/>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51" name="Google Shape;7251;p103"/>
          <p:cNvSpPr/>
          <p:nvPr/>
        </p:nvSpPr>
        <p:spPr>
          <a:xfrm>
            <a:off x="7827703" y="5856707"/>
            <a:ext cx="622474" cy="246873"/>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512</a:t>
            </a:r>
            <a:endParaRPr sz="1800">
              <a:solidFill>
                <a:schemeClr val="lt1"/>
              </a:solidFill>
              <a:latin typeface="Calibri"/>
              <a:ea typeface="Calibri"/>
              <a:cs typeface="Calibri"/>
              <a:sym typeface="Calibri"/>
            </a:endParaRPr>
          </a:p>
        </p:txBody>
      </p:sp>
      <p:sp>
        <p:nvSpPr>
          <p:cNvPr id="7252" name="Google Shape;7252;p103"/>
          <p:cNvSpPr/>
          <p:nvPr/>
        </p:nvSpPr>
        <p:spPr>
          <a:xfrm>
            <a:off x="7870058" y="4281327"/>
            <a:ext cx="671041" cy="227489"/>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512</a:t>
            </a:r>
            <a:endParaRPr sz="1800">
              <a:solidFill>
                <a:schemeClr val="lt1"/>
              </a:solidFill>
              <a:latin typeface="Calibri"/>
              <a:ea typeface="Calibri"/>
              <a:cs typeface="Calibri"/>
              <a:sym typeface="Calibri"/>
            </a:endParaRPr>
          </a:p>
        </p:txBody>
      </p:sp>
      <p:sp>
        <p:nvSpPr>
          <p:cNvPr id="7253" name="Google Shape;7253;p103"/>
          <p:cNvSpPr/>
          <p:nvPr/>
        </p:nvSpPr>
        <p:spPr>
          <a:xfrm>
            <a:off x="7910251" y="2613268"/>
            <a:ext cx="630848" cy="255990"/>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512</a:t>
            </a:r>
            <a:endParaRPr sz="1800">
              <a:solidFill>
                <a:schemeClr val="lt1"/>
              </a:solidFill>
              <a:latin typeface="Calibri"/>
              <a:ea typeface="Calibri"/>
              <a:cs typeface="Calibri"/>
              <a:sym typeface="Calibri"/>
            </a:endParaRPr>
          </a:p>
        </p:txBody>
      </p:sp>
      <p:sp>
        <p:nvSpPr>
          <p:cNvPr id="7254" name="Google Shape;7254;p103"/>
          <p:cNvSpPr/>
          <p:nvPr/>
        </p:nvSpPr>
        <p:spPr>
          <a:xfrm>
            <a:off x="8497492" y="5882613"/>
            <a:ext cx="762443" cy="195060"/>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7680</a:t>
            </a:r>
            <a:endParaRPr sz="1800">
              <a:solidFill>
                <a:schemeClr val="lt1"/>
              </a:solidFill>
              <a:latin typeface="Calibri"/>
              <a:ea typeface="Calibri"/>
              <a:cs typeface="Calibri"/>
              <a:sym typeface="Calibri"/>
            </a:endParaRPr>
          </a:p>
        </p:txBody>
      </p:sp>
      <p:sp>
        <p:nvSpPr>
          <p:cNvPr id="7255" name="Google Shape;7255;p103"/>
          <p:cNvSpPr/>
          <p:nvPr/>
        </p:nvSpPr>
        <p:spPr>
          <a:xfrm>
            <a:off x="8541099" y="4305564"/>
            <a:ext cx="762443" cy="195060"/>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7680</a:t>
            </a:r>
            <a:endParaRPr sz="1800">
              <a:solidFill>
                <a:schemeClr val="lt1"/>
              </a:solidFill>
              <a:latin typeface="Calibri"/>
              <a:ea typeface="Calibri"/>
              <a:cs typeface="Calibri"/>
              <a:sym typeface="Calibri"/>
            </a:endParaRPr>
          </a:p>
        </p:txBody>
      </p:sp>
      <p:sp>
        <p:nvSpPr>
          <p:cNvPr id="7256" name="Google Shape;7256;p103"/>
          <p:cNvSpPr/>
          <p:nvPr/>
        </p:nvSpPr>
        <p:spPr>
          <a:xfrm>
            <a:off x="8512424" y="2658913"/>
            <a:ext cx="762443" cy="195060"/>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7680</a:t>
            </a:r>
            <a:endParaRPr sz="1800">
              <a:solidFill>
                <a:schemeClr val="lt1"/>
              </a:solidFill>
              <a:latin typeface="Calibri"/>
              <a:ea typeface="Calibri"/>
              <a:cs typeface="Calibri"/>
              <a:sym typeface="Calibri"/>
            </a:endParaRPr>
          </a:p>
        </p:txBody>
      </p:sp>
      <p:sp>
        <p:nvSpPr>
          <p:cNvPr id="7257" name="Google Shape;7257;p103"/>
          <p:cNvSpPr/>
          <p:nvPr/>
        </p:nvSpPr>
        <p:spPr>
          <a:xfrm>
            <a:off x="7283562" y="3046751"/>
            <a:ext cx="762443" cy="195060"/>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7680</a:t>
            </a:r>
            <a:endParaRPr sz="1800">
              <a:solidFill>
                <a:schemeClr val="lt1"/>
              </a:solidFill>
              <a:latin typeface="Calibri"/>
              <a:ea typeface="Calibri"/>
              <a:cs typeface="Calibri"/>
              <a:sym typeface="Calibri"/>
            </a:endParaRPr>
          </a:p>
        </p:txBody>
      </p:sp>
      <p:sp>
        <p:nvSpPr>
          <p:cNvPr id="7258" name="Google Shape;7258;p103"/>
          <p:cNvSpPr/>
          <p:nvPr/>
        </p:nvSpPr>
        <p:spPr>
          <a:xfrm>
            <a:off x="9324622" y="2621493"/>
            <a:ext cx="1244292" cy="305917"/>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4654.54</a:t>
            </a:r>
            <a:endParaRPr sz="1800">
              <a:solidFill>
                <a:schemeClr val="lt1"/>
              </a:solidFill>
              <a:latin typeface="Calibri"/>
              <a:ea typeface="Calibri"/>
              <a:cs typeface="Calibri"/>
              <a:sym typeface="Calibri"/>
            </a:endParaRPr>
          </a:p>
        </p:txBody>
      </p:sp>
      <p:sp>
        <p:nvSpPr>
          <p:cNvPr id="7259" name="Google Shape;7259;p103"/>
          <p:cNvSpPr/>
          <p:nvPr/>
        </p:nvSpPr>
        <p:spPr>
          <a:xfrm>
            <a:off x="9351386" y="4252825"/>
            <a:ext cx="857073" cy="255991"/>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60" name="Google Shape;7260;p103"/>
          <p:cNvSpPr/>
          <p:nvPr/>
        </p:nvSpPr>
        <p:spPr>
          <a:xfrm>
            <a:off x="7283562" y="4616662"/>
            <a:ext cx="857073" cy="255991"/>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15360</a:t>
            </a:r>
            <a:endParaRPr sz="1800">
              <a:solidFill>
                <a:schemeClr val="lt1"/>
              </a:solidFill>
              <a:latin typeface="Calibri"/>
              <a:ea typeface="Calibri"/>
              <a:cs typeface="Calibri"/>
              <a:sym typeface="Calibri"/>
            </a:endParaRPr>
          </a:p>
        </p:txBody>
      </p:sp>
      <p:sp>
        <p:nvSpPr>
          <p:cNvPr id="7261" name="Google Shape;7261;p103"/>
          <p:cNvSpPr/>
          <p:nvPr/>
        </p:nvSpPr>
        <p:spPr>
          <a:xfrm>
            <a:off x="9303542" y="5813823"/>
            <a:ext cx="1046795" cy="332970"/>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7566.50</a:t>
            </a:r>
            <a:endParaRPr sz="1800">
              <a:solidFill>
                <a:schemeClr val="lt1"/>
              </a:solidFill>
              <a:latin typeface="Calibri"/>
              <a:ea typeface="Calibri"/>
              <a:cs typeface="Calibri"/>
              <a:sym typeface="Calibri"/>
            </a:endParaRPr>
          </a:p>
        </p:txBody>
      </p:sp>
      <p:sp>
        <p:nvSpPr>
          <p:cNvPr id="7262" name="Google Shape;7262;p103"/>
          <p:cNvSpPr/>
          <p:nvPr/>
        </p:nvSpPr>
        <p:spPr>
          <a:xfrm>
            <a:off x="7283562" y="6254673"/>
            <a:ext cx="762443" cy="195060"/>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7680</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7" name="Shape 7267"/>
        <p:cNvGrpSpPr/>
        <p:nvPr/>
      </p:nvGrpSpPr>
      <p:grpSpPr>
        <a:xfrm>
          <a:off x="0" y="0"/>
          <a:ext cx="0" cy="0"/>
          <a:chOff x="0" y="0"/>
          <a:chExt cx="0" cy="0"/>
        </a:xfrm>
      </p:grpSpPr>
      <p:pic>
        <p:nvPicPr>
          <p:cNvPr id="7268" name="Google Shape;7268;p104"/>
          <p:cNvPicPr preferRelativeResize="0"/>
          <p:nvPr/>
        </p:nvPicPr>
        <p:blipFill rotWithShape="1">
          <a:blip r:embed="rId3">
            <a:alphaModFix/>
          </a:blip>
          <a:srcRect b="0" l="0" r="0" t="0"/>
          <a:stretch/>
        </p:blipFill>
        <p:spPr>
          <a:xfrm>
            <a:off x="2392932" y="1833785"/>
            <a:ext cx="7511839" cy="4397004"/>
          </a:xfrm>
          <a:prstGeom prst="rect">
            <a:avLst/>
          </a:prstGeom>
          <a:noFill/>
          <a:ln>
            <a:noFill/>
          </a:ln>
        </p:spPr>
      </p:pic>
      <p:sp>
        <p:nvSpPr>
          <p:cNvPr id="7269" name="Google Shape;7269;p104"/>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7270" name="Google Shape;7270;p104"/>
          <p:cNvSpPr txBox="1"/>
          <p:nvPr/>
        </p:nvSpPr>
        <p:spPr>
          <a:xfrm>
            <a:off x="1524000" y="6611779"/>
            <a:ext cx="914400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Times New Roman"/>
                <a:ea typeface="Times New Roman"/>
                <a:cs typeface="Times New Roman"/>
                <a:sym typeface="Times New Roman"/>
              </a:rPr>
              <a:t>Kurose, J.F. and Ross, K.W. (2017). Computer Networking: A Top-Down Approach (7</a:t>
            </a:r>
            <a:r>
              <a:rPr baseline="30000" lang="en-US" sz="800">
                <a:solidFill>
                  <a:schemeClr val="dk1"/>
                </a:solidFill>
                <a:latin typeface="Times New Roman"/>
                <a:ea typeface="Times New Roman"/>
                <a:cs typeface="Times New Roman"/>
                <a:sym typeface="Times New Roman"/>
              </a:rPr>
              <a:t>th</a:t>
            </a:r>
            <a:r>
              <a:rPr lang="en-US" sz="800">
                <a:solidFill>
                  <a:schemeClr val="dk1"/>
                </a:solidFill>
                <a:latin typeface="Times New Roman"/>
                <a:ea typeface="Times New Roman"/>
                <a:cs typeface="Times New Roman"/>
                <a:sym typeface="Times New Roman"/>
              </a:rPr>
              <a:t> Edition). Pearson Education Limited, England. (pp. 207)</a:t>
            </a:r>
            <a:endParaRPr/>
          </a:p>
        </p:txBody>
      </p:sp>
      <p:cxnSp>
        <p:nvCxnSpPr>
          <p:cNvPr id="7271" name="Google Shape;7271;p104"/>
          <p:cNvCxnSpPr/>
          <p:nvPr/>
        </p:nvCxnSpPr>
        <p:spPr>
          <a:xfrm>
            <a:off x="1524000" y="6600825"/>
            <a:ext cx="8324850" cy="0"/>
          </a:xfrm>
          <a:prstGeom prst="straightConnector1">
            <a:avLst/>
          </a:prstGeom>
          <a:noFill/>
          <a:ln cap="flat" cmpd="sng" w="12700">
            <a:solidFill>
              <a:srgbClr val="00B0F0"/>
            </a:solidFill>
            <a:prstDash val="solid"/>
            <a:round/>
            <a:headEnd len="sm" w="sm" type="none"/>
            <a:tailEnd len="sm" w="sm" type="none"/>
          </a:ln>
        </p:spPr>
      </p:cxnSp>
      <p:sp>
        <p:nvSpPr>
          <p:cNvPr id="7272" name="Google Shape;7272;p104"/>
          <p:cNvSpPr/>
          <p:nvPr/>
        </p:nvSpPr>
        <p:spPr>
          <a:xfrm>
            <a:off x="4077590" y="5091881"/>
            <a:ext cx="5827181" cy="309717"/>
          </a:xfrm>
          <a:prstGeom prst="rect">
            <a:avLst/>
          </a:prstGeom>
          <a:solidFill>
            <a:schemeClr val="lt1">
              <a:alpha val="89803"/>
            </a:schemeClr>
          </a:solid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7273" name="Google Shape;7273;p104"/>
          <p:cNvSpPr txBox="1"/>
          <p:nvPr/>
        </p:nvSpPr>
        <p:spPr>
          <a:xfrm>
            <a:off x="4490863" y="5110040"/>
            <a:ext cx="488787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10                                               100                                            1000</a:t>
            </a:r>
            <a:endParaRPr/>
          </a:p>
        </p:txBody>
      </p:sp>
      <p:sp>
        <p:nvSpPr>
          <p:cNvPr id="7274" name="Google Shape;7274;p104"/>
          <p:cNvSpPr txBox="1"/>
          <p:nvPr/>
        </p:nvSpPr>
        <p:spPr>
          <a:xfrm>
            <a:off x="2016126" y="905724"/>
            <a:ext cx="8651875" cy="452279"/>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400">
                <a:solidFill>
                  <a:srgbClr val="00BAE8"/>
                </a:solidFill>
                <a:latin typeface="Arial"/>
                <a:ea typeface="Arial"/>
                <a:cs typeface="Arial"/>
                <a:sym typeface="Arial"/>
              </a:rPr>
              <a:t>Solution</a:t>
            </a:r>
            <a:endParaRPr/>
          </a:p>
        </p:txBody>
      </p:sp>
      <p:pic>
        <p:nvPicPr>
          <p:cNvPr descr="underline_base" id="7275" name="Google Shape;7275;p104"/>
          <p:cNvPicPr preferRelativeResize="0"/>
          <p:nvPr/>
        </p:nvPicPr>
        <p:blipFill rotWithShape="1">
          <a:blip r:embed="rId4">
            <a:alphaModFix/>
          </a:blip>
          <a:srcRect b="0" l="0" r="0" t="0"/>
          <a:stretch/>
        </p:blipFill>
        <p:spPr>
          <a:xfrm>
            <a:off x="2016126" y="817563"/>
            <a:ext cx="6672263" cy="18415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0" name="Shape 7280"/>
        <p:cNvGrpSpPr/>
        <p:nvPr/>
      </p:nvGrpSpPr>
      <p:grpSpPr>
        <a:xfrm>
          <a:off x="0" y="0"/>
          <a:ext cx="0" cy="0"/>
          <a:chOff x="0" y="0"/>
          <a:chExt cx="0" cy="0"/>
        </a:xfrm>
      </p:grpSpPr>
      <p:sp>
        <p:nvSpPr>
          <p:cNvPr id="7281" name="Google Shape;7281;p105"/>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P2P file distribution: BitTorrent </a:t>
            </a:r>
            <a:endParaRPr/>
          </a:p>
        </p:txBody>
      </p:sp>
      <p:sp>
        <p:nvSpPr>
          <p:cNvPr id="7282" name="Google Shape;7282;p105"/>
          <p:cNvSpPr/>
          <p:nvPr/>
        </p:nvSpPr>
        <p:spPr>
          <a:xfrm>
            <a:off x="745784" y="1260022"/>
            <a:ext cx="7124700" cy="100965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file divided into 256Kb chunks</a:t>
            </a:r>
            <a:endParaRPr/>
          </a:p>
          <a:p>
            <a:pPr indent="-342900" lvl="0" marL="342900" marR="0" rtl="0" algn="l">
              <a:spcBef>
                <a:spcPts val="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peers in torrent send/receive file chunks</a:t>
            </a:r>
            <a:endParaRPr sz="3200">
              <a:solidFill>
                <a:schemeClr val="dk1"/>
              </a:solidFill>
              <a:latin typeface="Calibri"/>
              <a:ea typeface="Calibri"/>
              <a:cs typeface="Calibri"/>
              <a:sym typeface="Calibri"/>
            </a:endParaRPr>
          </a:p>
        </p:txBody>
      </p:sp>
      <p:sp>
        <p:nvSpPr>
          <p:cNvPr id="7283" name="Google Shape;7283;p105"/>
          <p:cNvSpPr txBox="1"/>
          <p:nvPr/>
        </p:nvSpPr>
        <p:spPr>
          <a:xfrm>
            <a:off x="1812096" y="2371997"/>
            <a:ext cx="3018775" cy="775277"/>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800"/>
              <a:buFont typeface="Calibri"/>
              <a:buNone/>
            </a:pPr>
            <a:r>
              <a:rPr i="1" lang="en-US" sz="2800">
                <a:solidFill>
                  <a:srgbClr val="CC0000"/>
                </a:solidFill>
                <a:latin typeface="Calibri"/>
                <a:ea typeface="Calibri"/>
                <a:cs typeface="Calibri"/>
                <a:sym typeface="Calibri"/>
              </a:rPr>
              <a:t>tracker:</a:t>
            </a:r>
            <a:r>
              <a:rPr lang="en-US" sz="2800">
                <a:solidFill>
                  <a:schemeClr val="dk1"/>
                </a:solidFill>
                <a:latin typeface="Calibri"/>
                <a:ea typeface="Calibri"/>
                <a:cs typeface="Calibri"/>
                <a:sym typeface="Calibri"/>
              </a:rPr>
              <a:t> </a:t>
            </a:r>
            <a:r>
              <a:rPr lang="en-US" sz="2400">
                <a:solidFill>
                  <a:schemeClr val="dk1"/>
                </a:solidFill>
                <a:latin typeface="Calibri"/>
                <a:ea typeface="Calibri"/>
                <a:cs typeface="Calibri"/>
                <a:sym typeface="Calibri"/>
              </a:rPr>
              <a:t>tracks peers </a:t>
            </a:r>
            <a:endParaRPr/>
          </a:p>
          <a:p>
            <a:pPr indent="0" lvl="0" marL="0" marR="0" rtl="0" algn="l">
              <a:lnSpc>
                <a:spcPct val="85000"/>
              </a:lnSpc>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participating in torrent</a:t>
            </a:r>
            <a:endParaRPr/>
          </a:p>
        </p:txBody>
      </p:sp>
      <p:sp>
        <p:nvSpPr>
          <p:cNvPr id="7284" name="Google Shape;7284;p105"/>
          <p:cNvSpPr txBox="1"/>
          <p:nvPr/>
        </p:nvSpPr>
        <p:spPr>
          <a:xfrm>
            <a:off x="7124019" y="2385559"/>
            <a:ext cx="4044723" cy="775277"/>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i="1" lang="en-US" sz="2800">
                <a:solidFill>
                  <a:srgbClr val="CC0000"/>
                </a:solidFill>
                <a:latin typeface="Calibri"/>
                <a:ea typeface="Calibri"/>
                <a:cs typeface="Calibri"/>
                <a:sym typeface="Calibri"/>
              </a:rPr>
              <a:t>torrent:</a:t>
            </a:r>
            <a:r>
              <a:rPr lang="en-US" sz="2800">
                <a:solidFill>
                  <a:schemeClr val="dk1"/>
                </a:solidFill>
                <a:latin typeface="Calibri"/>
                <a:ea typeface="Calibri"/>
                <a:cs typeface="Calibri"/>
                <a:sym typeface="Calibri"/>
              </a:rPr>
              <a:t> </a:t>
            </a:r>
            <a:r>
              <a:rPr lang="en-US" sz="2400">
                <a:solidFill>
                  <a:schemeClr val="dk1"/>
                </a:solidFill>
                <a:latin typeface="Calibri"/>
                <a:ea typeface="Calibri"/>
                <a:cs typeface="Calibri"/>
                <a:sym typeface="Calibri"/>
              </a:rPr>
              <a:t>group of peers exchanging  chunks of a file</a:t>
            </a:r>
            <a:endParaRPr/>
          </a:p>
        </p:txBody>
      </p:sp>
      <p:cxnSp>
        <p:nvCxnSpPr>
          <p:cNvPr id="7285" name="Google Shape;7285;p105"/>
          <p:cNvCxnSpPr/>
          <p:nvPr/>
        </p:nvCxnSpPr>
        <p:spPr>
          <a:xfrm>
            <a:off x="4149045" y="3765096"/>
            <a:ext cx="1587" cy="536575"/>
          </a:xfrm>
          <a:prstGeom prst="straightConnector1">
            <a:avLst/>
          </a:prstGeom>
          <a:noFill/>
          <a:ln cap="flat" cmpd="sng" w="19050">
            <a:solidFill>
              <a:srgbClr val="CC0000"/>
            </a:solidFill>
            <a:prstDash val="solid"/>
            <a:round/>
            <a:headEnd len="med" w="med" type="none"/>
            <a:tailEnd len="med" w="med" type="triangle"/>
          </a:ln>
        </p:spPr>
      </p:cxnSp>
      <p:cxnSp>
        <p:nvCxnSpPr>
          <p:cNvPr id="7286" name="Google Shape;7286;p105"/>
          <p:cNvCxnSpPr/>
          <p:nvPr/>
        </p:nvCxnSpPr>
        <p:spPr>
          <a:xfrm>
            <a:off x="5495245" y="3493634"/>
            <a:ext cx="2551112" cy="1409700"/>
          </a:xfrm>
          <a:prstGeom prst="straightConnector1">
            <a:avLst/>
          </a:prstGeom>
          <a:noFill/>
          <a:ln cap="flat" cmpd="sng" w="9525">
            <a:solidFill>
              <a:schemeClr val="dk1"/>
            </a:solidFill>
            <a:prstDash val="solid"/>
            <a:round/>
            <a:headEnd len="med" w="med" type="triangle"/>
            <a:tailEnd len="med" w="med" type="triangle"/>
          </a:ln>
        </p:spPr>
      </p:cxnSp>
      <p:cxnSp>
        <p:nvCxnSpPr>
          <p:cNvPr id="7287" name="Google Shape;7287;p105"/>
          <p:cNvCxnSpPr/>
          <p:nvPr/>
        </p:nvCxnSpPr>
        <p:spPr>
          <a:xfrm>
            <a:off x="5292045" y="3644446"/>
            <a:ext cx="247650" cy="1816100"/>
          </a:xfrm>
          <a:prstGeom prst="straightConnector1">
            <a:avLst/>
          </a:prstGeom>
          <a:noFill/>
          <a:ln cap="flat" cmpd="sng" w="9525">
            <a:solidFill>
              <a:schemeClr val="dk1"/>
            </a:solidFill>
            <a:prstDash val="solid"/>
            <a:round/>
            <a:headEnd len="med" w="med" type="triangle"/>
            <a:tailEnd len="med" w="med" type="triangle"/>
          </a:ln>
        </p:spPr>
      </p:cxnSp>
      <p:cxnSp>
        <p:nvCxnSpPr>
          <p:cNvPr id="7288" name="Google Shape;7288;p105"/>
          <p:cNvCxnSpPr/>
          <p:nvPr/>
        </p:nvCxnSpPr>
        <p:spPr>
          <a:xfrm rot="10800000">
            <a:off x="6931932" y="3404734"/>
            <a:ext cx="1168400" cy="306387"/>
          </a:xfrm>
          <a:prstGeom prst="straightConnector1">
            <a:avLst/>
          </a:prstGeom>
          <a:noFill/>
          <a:ln cap="flat" cmpd="sng" w="9525">
            <a:solidFill>
              <a:schemeClr val="dk1"/>
            </a:solidFill>
            <a:prstDash val="solid"/>
            <a:round/>
            <a:headEnd len="med" w="med" type="triangle"/>
            <a:tailEnd len="med" w="med" type="triangle"/>
          </a:ln>
        </p:spPr>
      </p:cxnSp>
      <p:cxnSp>
        <p:nvCxnSpPr>
          <p:cNvPr id="7289" name="Google Shape;7289;p105"/>
          <p:cNvCxnSpPr/>
          <p:nvPr/>
        </p:nvCxnSpPr>
        <p:spPr>
          <a:xfrm flipH="1">
            <a:off x="6115957" y="3941309"/>
            <a:ext cx="2039938" cy="1987550"/>
          </a:xfrm>
          <a:prstGeom prst="straightConnector1">
            <a:avLst/>
          </a:prstGeom>
          <a:noFill/>
          <a:ln cap="flat" cmpd="sng" w="9525">
            <a:solidFill>
              <a:schemeClr val="dk1"/>
            </a:solidFill>
            <a:prstDash val="solid"/>
            <a:round/>
            <a:headEnd len="med" w="med" type="triangle"/>
            <a:tailEnd len="med" w="med" type="triangle"/>
          </a:ln>
        </p:spPr>
      </p:cxnSp>
      <p:cxnSp>
        <p:nvCxnSpPr>
          <p:cNvPr id="7290" name="Google Shape;7290;p105"/>
          <p:cNvCxnSpPr/>
          <p:nvPr/>
        </p:nvCxnSpPr>
        <p:spPr>
          <a:xfrm flipH="1">
            <a:off x="6203270" y="5906634"/>
            <a:ext cx="739775" cy="163512"/>
          </a:xfrm>
          <a:prstGeom prst="straightConnector1">
            <a:avLst/>
          </a:prstGeom>
          <a:noFill/>
          <a:ln cap="flat" cmpd="sng" w="9525">
            <a:solidFill>
              <a:schemeClr val="dk1"/>
            </a:solidFill>
            <a:prstDash val="solid"/>
            <a:round/>
            <a:headEnd len="med" w="med" type="triangle"/>
            <a:tailEnd len="med" w="med" type="triangle"/>
          </a:ln>
        </p:spPr>
      </p:cxnSp>
      <p:cxnSp>
        <p:nvCxnSpPr>
          <p:cNvPr id="7291" name="Google Shape;7291;p105"/>
          <p:cNvCxnSpPr/>
          <p:nvPr/>
        </p:nvCxnSpPr>
        <p:spPr>
          <a:xfrm flipH="1">
            <a:off x="5722257" y="3603171"/>
            <a:ext cx="900113" cy="1676400"/>
          </a:xfrm>
          <a:prstGeom prst="straightConnector1">
            <a:avLst/>
          </a:prstGeom>
          <a:noFill/>
          <a:ln cap="flat" cmpd="sng" w="9525">
            <a:solidFill>
              <a:schemeClr val="dk1"/>
            </a:solidFill>
            <a:prstDash val="solid"/>
            <a:round/>
            <a:headEnd len="med" w="med" type="triangle"/>
            <a:tailEnd len="med" w="med" type="triangle"/>
          </a:ln>
        </p:spPr>
      </p:cxnSp>
      <p:cxnSp>
        <p:nvCxnSpPr>
          <p:cNvPr id="7292" name="Google Shape;7292;p105"/>
          <p:cNvCxnSpPr/>
          <p:nvPr/>
        </p:nvCxnSpPr>
        <p:spPr>
          <a:xfrm flipH="1" rot="10800000">
            <a:off x="5887357" y="4989059"/>
            <a:ext cx="2120900" cy="482600"/>
          </a:xfrm>
          <a:prstGeom prst="straightConnector1">
            <a:avLst/>
          </a:prstGeom>
          <a:noFill/>
          <a:ln cap="flat" cmpd="sng" w="9525">
            <a:solidFill>
              <a:schemeClr val="dk1"/>
            </a:solidFill>
            <a:prstDash val="solid"/>
            <a:round/>
            <a:headEnd len="med" w="med" type="triangle"/>
            <a:tailEnd len="med" w="med" type="triangle"/>
          </a:ln>
        </p:spPr>
      </p:cxnSp>
      <p:cxnSp>
        <p:nvCxnSpPr>
          <p:cNvPr id="7293" name="Google Shape;7293;p105"/>
          <p:cNvCxnSpPr/>
          <p:nvPr/>
        </p:nvCxnSpPr>
        <p:spPr>
          <a:xfrm>
            <a:off x="6887482" y="3547609"/>
            <a:ext cx="1182688" cy="1276350"/>
          </a:xfrm>
          <a:prstGeom prst="straightConnector1">
            <a:avLst/>
          </a:prstGeom>
          <a:noFill/>
          <a:ln cap="flat" cmpd="sng" w="9525">
            <a:solidFill>
              <a:schemeClr val="dk1"/>
            </a:solidFill>
            <a:prstDash val="solid"/>
            <a:round/>
            <a:headEnd len="med" w="med" type="triangle"/>
            <a:tailEnd len="med" w="med" type="triangle"/>
          </a:ln>
        </p:spPr>
      </p:cxnSp>
      <p:cxnSp>
        <p:nvCxnSpPr>
          <p:cNvPr id="7294" name="Google Shape;7294;p105"/>
          <p:cNvCxnSpPr/>
          <p:nvPr/>
        </p:nvCxnSpPr>
        <p:spPr>
          <a:xfrm>
            <a:off x="7330395" y="5928859"/>
            <a:ext cx="376237" cy="217487"/>
          </a:xfrm>
          <a:prstGeom prst="straightConnector1">
            <a:avLst/>
          </a:prstGeom>
          <a:noFill/>
          <a:ln cap="flat" cmpd="sng" w="9525">
            <a:solidFill>
              <a:schemeClr val="dk1"/>
            </a:solidFill>
            <a:prstDash val="solid"/>
            <a:round/>
            <a:headEnd len="med" w="med" type="triangle"/>
            <a:tailEnd len="med" w="med" type="triangle"/>
          </a:ln>
        </p:spPr>
      </p:cxnSp>
      <p:cxnSp>
        <p:nvCxnSpPr>
          <p:cNvPr id="7295" name="Google Shape;7295;p105"/>
          <p:cNvCxnSpPr/>
          <p:nvPr/>
        </p:nvCxnSpPr>
        <p:spPr>
          <a:xfrm>
            <a:off x="6215970" y="6224134"/>
            <a:ext cx="1490662" cy="1587"/>
          </a:xfrm>
          <a:prstGeom prst="straightConnector1">
            <a:avLst/>
          </a:prstGeom>
          <a:noFill/>
          <a:ln cap="flat" cmpd="sng" w="9525">
            <a:solidFill>
              <a:schemeClr val="dk1"/>
            </a:solidFill>
            <a:prstDash val="solid"/>
            <a:round/>
            <a:headEnd len="med" w="med" type="triangle"/>
            <a:tailEnd len="med" w="med" type="triangle"/>
          </a:ln>
        </p:spPr>
      </p:cxnSp>
      <p:sp>
        <p:nvSpPr>
          <p:cNvPr id="7296" name="Google Shape;7296;p105"/>
          <p:cNvSpPr txBox="1"/>
          <p:nvPr/>
        </p:nvSpPr>
        <p:spPr>
          <a:xfrm>
            <a:off x="2380570" y="4766809"/>
            <a:ext cx="15850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Alice arrives  …</a:t>
            </a:r>
            <a:endParaRPr/>
          </a:p>
        </p:txBody>
      </p:sp>
      <p:cxnSp>
        <p:nvCxnSpPr>
          <p:cNvPr id="7297" name="Google Shape;7297;p105"/>
          <p:cNvCxnSpPr/>
          <p:nvPr/>
        </p:nvCxnSpPr>
        <p:spPr>
          <a:xfrm flipH="1">
            <a:off x="7881257" y="5163684"/>
            <a:ext cx="263525" cy="939800"/>
          </a:xfrm>
          <a:prstGeom prst="straightConnector1">
            <a:avLst/>
          </a:prstGeom>
          <a:noFill/>
          <a:ln cap="flat" cmpd="sng" w="9525">
            <a:solidFill>
              <a:schemeClr val="dk1"/>
            </a:solidFill>
            <a:prstDash val="solid"/>
            <a:round/>
            <a:headEnd len="med" w="med" type="triangle"/>
            <a:tailEnd len="med" w="med" type="triangle"/>
          </a:ln>
        </p:spPr>
      </p:cxnSp>
      <p:pic>
        <p:nvPicPr>
          <p:cNvPr descr="Alice" id="7298" name="Google Shape;7298;p105"/>
          <p:cNvPicPr preferRelativeResize="0"/>
          <p:nvPr/>
        </p:nvPicPr>
        <p:blipFill rotWithShape="1">
          <a:blip r:embed="rId3">
            <a:alphaModFix/>
          </a:blip>
          <a:srcRect b="0" l="0" r="0" t="0"/>
          <a:stretch/>
        </p:blipFill>
        <p:spPr>
          <a:xfrm>
            <a:off x="3536270" y="4284209"/>
            <a:ext cx="474662" cy="511175"/>
          </a:xfrm>
          <a:prstGeom prst="rect">
            <a:avLst/>
          </a:prstGeom>
          <a:noFill/>
          <a:ln>
            <a:noFill/>
          </a:ln>
        </p:spPr>
      </p:pic>
      <p:cxnSp>
        <p:nvCxnSpPr>
          <p:cNvPr id="7299" name="Google Shape;7299;p105"/>
          <p:cNvCxnSpPr/>
          <p:nvPr/>
        </p:nvCxnSpPr>
        <p:spPr>
          <a:xfrm>
            <a:off x="3364820" y="3122159"/>
            <a:ext cx="476250" cy="258762"/>
          </a:xfrm>
          <a:prstGeom prst="straightConnector1">
            <a:avLst/>
          </a:prstGeom>
          <a:noFill/>
          <a:ln cap="flat" cmpd="sng" w="9525">
            <a:solidFill>
              <a:srgbClr val="FF3300"/>
            </a:solidFill>
            <a:prstDash val="solid"/>
            <a:round/>
            <a:headEnd len="med" w="med" type="none"/>
            <a:tailEnd len="med" w="med" type="none"/>
          </a:ln>
        </p:spPr>
      </p:cxnSp>
      <p:sp>
        <p:nvSpPr>
          <p:cNvPr id="7300" name="Google Shape;7300;p105"/>
          <p:cNvSpPr txBox="1"/>
          <p:nvPr/>
        </p:nvSpPr>
        <p:spPr>
          <a:xfrm>
            <a:off x="2394857" y="5027159"/>
            <a:ext cx="216052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 obtains list</a:t>
            </a:r>
            <a:endParaRPr/>
          </a:p>
          <a:p>
            <a:pPr indent="0" lvl="0" marL="0" marR="0" rtl="0" algn="l">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of peers from tracker</a:t>
            </a:r>
            <a:endParaRPr/>
          </a:p>
        </p:txBody>
      </p:sp>
      <p:grpSp>
        <p:nvGrpSpPr>
          <p:cNvPr id="7301" name="Google Shape;7301;p105"/>
          <p:cNvGrpSpPr/>
          <p:nvPr/>
        </p:nvGrpSpPr>
        <p:grpSpPr>
          <a:xfrm>
            <a:off x="4528457" y="3571421"/>
            <a:ext cx="3492500" cy="2163763"/>
            <a:chOff x="1752" y="2166"/>
            <a:chExt cx="2200" cy="1363"/>
          </a:xfrm>
        </p:grpSpPr>
        <p:cxnSp>
          <p:nvCxnSpPr>
            <p:cNvPr id="7302" name="Google Shape;7302;p105"/>
            <p:cNvCxnSpPr/>
            <p:nvPr/>
          </p:nvCxnSpPr>
          <p:spPr>
            <a:xfrm flipH="1" rot="10800000">
              <a:off x="1752" y="2166"/>
              <a:ext cx="361" cy="530"/>
            </a:xfrm>
            <a:prstGeom prst="straightConnector1">
              <a:avLst/>
            </a:prstGeom>
            <a:noFill/>
            <a:ln cap="flat" cmpd="sng" w="9525">
              <a:solidFill>
                <a:schemeClr val="dk1"/>
              </a:solidFill>
              <a:prstDash val="solid"/>
              <a:round/>
              <a:headEnd len="med" w="med" type="triangle"/>
              <a:tailEnd len="med" w="med" type="triangle"/>
            </a:ln>
          </p:spPr>
        </p:cxnSp>
        <p:cxnSp>
          <p:nvCxnSpPr>
            <p:cNvPr id="7303" name="Google Shape;7303;p105"/>
            <p:cNvCxnSpPr/>
            <p:nvPr/>
          </p:nvCxnSpPr>
          <p:spPr>
            <a:xfrm flipH="1" rot="10800000">
              <a:off x="1770" y="2352"/>
              <a:ext cx="2182" cy="400"/>
            </a:xfrm>
            <a:prstGeom prst="straightConnector1">
              <a:avLst/>
            </a:prstGeom>
            <a:noFill/>
            <a:ln cap="flat" cmpd="sng" w="9525">
              <a:solidFill>
                <a:schemeClr val="dk1"/>
              </a:solidFill>
              <a:prstDash val="solid"/>
              <a:round/>
              <a:headEnd len="med" w="med" type="triangle"/>
              <a:tailEnd len="med" w="med" type="triangle"/>
            </a:ln>
          </p:spPr>
        </p:cxnSp>
        <p:cxnSp>
          <p:nvCxnSpPr>
            <p:cNvPr id="7304" name="Google Shape;7304;p105"/>
            <p:cNvCxnSpPr/>
            <p:nvPr/>
          </p:nvCxnSpPr>
          <p:spPr>
            <a:xfrm>
              <a:off x="1786" y="2820"/>
              <a:ext cx="1550" cy="709"/>
            </a:xfrm>
            <a:prstGeom prst="straightConnector1">
              <a:avLst/>
            </a:prstGeom>
            <a:noFill/>
            <a:ln cap="flat" cmpd="sng" w="9525">
              <a:solidFill>
                <a:schemeClr val="dk1"/>
              </a:solidFill>
              <a:prstDash val="solid"/>
              <a:round/>
              <a:headEnd len="med" w="med" type="triangle"/>
              <a:tailEnd len="med" w="med" type="triangle"/>
            </a:ln>
          </p:spPr>
        </p:cxnSp>
      </p:grpSp>
      <p:sp>
        <p:nvSpPr>
          <p:cNvPr id="7305" name="Google Shape;7305;p105"/>
          <p:cNvSpPr txBox="1"/>
          <p:nvPr/>
        </p:nvSpPr>
        <p:spPr>
          <a:xfrm>
            <a:off x="2355170" y="5568496"/>
            <a:ext cx="317202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 and begins exchanging </a:t>
            </a:r>
            <a:endParaRPr/>
          </a:p>
          <a:p>
            <a:pPr indent="0" lvl="0" marL="0" marR="0" rtl="0" algn="l">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file chunks with peers in torrent</a:t>
            </a:r>
            <a:endParaRPr/>
          </a:p>
        </p:txBody>
      </p:sp>
      <p:grpSp>
        <p:nvGrpSpPr>
          <p:cNvPr id="7306" name="Google Shape;7306;p105"/>
          <p:cNvGrpSpPr/>
          <p:nvPr/>
        </p:nvGrpSpPr>
        <p:grpSpPr>
          <a:xfrm>
            <a:off x="3931557" y="3080884"/>
            <a:ext cx="379413" cy="604837"/>
            <a:chOff x="4140" y="429"/>
            <a:chExt cx="1425" cy="2396"/>
          </a:xfrm>
        </p:grpSpPr>
        <p:sp>
          <p:nvSpPr>
            <p:cNvPr id="7307" name="Google Shape;7307;p10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08" name="Google Shape;7308;p105"/>
            <p:cNvSpPr/>
            <p:nvPr/>
          </p:nvSpPr>
          <p:spPr>
            <a:xfrm>
              <a:off x="4206" y="429"/>
              <a:ext cx="1049"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309" name="Google Shape;7309;p10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10" name="Google Shape;7310;p10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11" name="Google Shape;7311;p105"/>
            <p:cNvSpPr/>
            <p:nvPr/>
          </p:nvSpPr>
          <p:spPr>
            <a:xfrm>
              <a:off x="4212" y="693"/>
              <a:ext cx="596"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7312" name="Google Shape;7312;p105"/>
            <p:cNvGrpSpPr/>
            <p:nvPr/>
          </p:nvGrpSpPr>
          <p:grpSpPr>
            <a:xfrm>
              <a:off x="4748" y="668"/>
              <a:ext cx="584" cy="145"/>
              <a:chOff x="613" y="2568"/>
              <a:chExt cx="729" cy="139"/>
            </a:xfrm>
          </p:grpSpPr>
          <p:sp>
            <p:nvSpPr>
              <p:cNvPr id="7313" name="Google Shape;7313;p105"/>
              <p:cNvSpPr/>
              <p:nvPr/>
            </p:nvSpPr>
            <p:spPr>
              <a:xfrm>
                <a:off x="613" y="2568"/>
                <a:ext cx="729"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314" name="Google Shape;7314;p105"/>
              <p:cNvSpPr/>
              <p:nvPr/>
            </p:nvSpPr>
            <p:spPr>
              <a:xfrm>
                <a:off x="628" y="2586"/>
                <a:ext cx="699"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7315" name="Google Shape;7315;p105"/>
            <p:cNvSpPr/>
            <p:nvPr/>
          </p:nvSpPr>
          <p:spPr>
            <a:xfrm>
              <a:off x="4223" y="1020"/>
              <a:ext cx="596"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7316" name="Google Shape;7316;p105"/>
            <p:cNvGrpSpPr/>
            <p:nvPr/>
          </p:nvGrpSpPr>
          <p:grpSpPr>
            <a:xfrm>
              <a:off x="4748" y="995"/>
              <a:ext cx="579" cy="132"/>
              <a:chOff x="615" y="2569"/>
              <a:chExt cx="722" cy="137"/>
            </a:xfrm>
          </p:grpSpPr>
          <p:sp>
            <p:nvSpPr>
              <p:cNvPr id="7317" name="Google Shape;7317;p105"/>
              <p:cNvSpPr/>
              <p:nvPr/>
            </p:nvSpPr>
            <p:spPr>
              <a:xfrm>
                <a:off x="615" y="2569"/>
                <a:ext cx="722"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318" name="Google Shape;7318;p105"/>
              <p:cNvSpPr/>
              <p:nvPr/>
            </p:nvSpPr>
            <p:spPr>
              <a:xfrm>
                <a:off x="630" y="2582"/>
                <a:ext cx="692"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7319" name="Google Shape;7319;p105"/>
            <p:cNvSpPr/>
            <p:nvPr/>
          </p:nvSpPr>
          <p:spPr>
            <a:xfrm>
              <a:off x="4218" y="1360"/>
              <a:ext cx="596"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320" name="Google Shape;7320;p105"/>
            <p:cNvSpPr/>
            <p:nvPr/>
          </p:nvSpPr>
          <p:spPr>
            <a:xfrm>
              <a:off x="4229" y="1655"/>
              <a:ext cx="596"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7321" name="Google Shape;7321;p105"/>
            <p:cNvGrpSpPr/>
            <p:nvPr/>
          </p:nvGrpSpPr>
          <p:grpSpPr>
            <a:xfrm>
              <a:off x="4737" y="1642"/>
              <a:ext cx="578" cy="151"/>
              <a:chOff x="616" y="2582"/>
              <a:chExt cx="720" cy="139"/>
            </a:xfrm>
          </p:grpSpPr>
          <p:sp>
            <p:nvSpPr>
              <p:cNvPr id="7322" name="Google Shape;7322;p105"/>
              <p:cNvSpPr/>
              <p:nvPr/>
            </p:nvSpPr>
            <p:spPr>
              <a:xfrm>
                <a:off x="616" y="2582"/>
                <a:ext cx="720"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323" name="Google Shape;7323;p105"/>
              <p:cNvSpPr/>
              <p:nvPr/>
            </p:nvSpPr>
            <p:spPr>
              <a:xfrm>
                <a:off x="630" y="2588"/>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7324" name="Google Shape;7324;p10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325" name="Google Shape;7325;p105"/>
            <p:cNvGrpSpPr/>
            <p:nvPr/>
          </p:nvGrpSpPr>
          <p:grpSpPr>
            <a:xfrm>
              <a:off x="4737" y="1328"/>
              <a:ext cx="584" cy="138"/>
              <a:chOff x="611" y="2569"/>
              <a:chExt cx="728" cy="138"/>
            </a:xfrm>
          </p:grpSpPr>
          <p:sp>
            <p:nvSpPr>
              <p:cNvPr id="7326" name="Google Shape;7326;p105"/>
              <p:cNvSpPr/>
              <p:nvPr/>
            </p:nvSpPr>
            <p:spPr>
              <a:xfrm>
                <a:off x="611" y="2569"/>
                <a:ext cx="728"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327" name="Google Shape;7327;p105"/>
              <p:cNvSpPr/>
              <p:nvPr/>
            </p:nvSpPr>
            <p:spPr>
              <a:xfrm>
                <a:off x="618" y="2588"/>
                <a:ext cx="706"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7328" name="Google Shape;7328;p105"/>
            <p:cNvSpPr/>
            <p:nvPr/>
          </p:nvSpPr>
          <p:spPr>
            <a:xfrm>
              <a:off x="5249" y="429"/>
              <a:ext cx="72" cy="2289"/>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329" name="Google Shape;7329;p10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30" name="Google Shape;7330;p10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31" name="Google Shape;7331;p105"/>
            <p:cNvSpPr/>
            <p:nvPr/>
          </p:nvSpPr>
          <p:spPr>
            <a:xfrm>
              <a:off x="5517" y="2611"/>
              <a:ext cx="48"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332" name="Google Shape;7332;p10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33" name="Google Shape;7333;p105"/>
            <p:cNvSpPr/>
            <p:nvPr/>
          </p:nvSpPr>
          <p:spPr>
            <a:xfrm>
              <a:off x="4140" y="2680"/>
              <a:ext cx="1198"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334" name="Google Shape;7334;p105"/>
            <p:cNvSpPr/>
            <p:nvPr/>
          </p:nvSpPr>
          <p:spPr>
            <a:xfrm>
              <a:off x="4206" y="2712"/>
              <a:ext cx="1073"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335" name="Google Shape;7335;p105"/>
            <p:cNvSpPr/>
            <p:nvPr/>
          </p:nvSpPr>
          <p:spPr>
            <a:xfrm>
              <a:off x="4307" y="2385"/>
              <a:ext cx="161"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336" name="Google Shape;7336;p105"/>
            <p:cNvSpPr/>
            <p:nvPr/>
          </p:nvSpPr>
          <p:spPr>
            <a:xfrm>
              <a:off x="4486" y="2385"/>
              <a:ext cx="161"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Calibri"/>
                <a:ea typeface="Calibri"/>
                <a:cs typeface="Calibri"/>
                <a:sym typeface="Calibri"/>
              </a:endParaRPr>
            </a:p>
          </p:txBody>
        </p:sp>
        <p:sp>
          <p:nvSpPr>
            <p:cNvPr id="7337" name="Google Shape;7337;p105"/>
            <p:cNvSpPr/>
            <p:nvPr/>
          </p:nvSpPr>
          <p:spPr>
            <a:xfrm>
              <a:off x="4665" y="2379"/>
              <a:ext cx="155"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338" name="Google Shape;7338;p105"/>
            <p:cNvSpPr/>
            <p:nvPr/>
          </p:nvSpPr>
          <p:spPr>
            <a:xfrm>
              <a:off x="5064" y="1838"/>
              <a:ext cx="83" cy="761"/>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339" name="Google Shape;7339;p105"/>
          <p:cNvGrpSpPr/>
          <p:nvPr/>
        </p:nvGrpSpPr>
        <p:grpSpPr>
          <a:xfrm>
            <a:off x="3825195" y="4320721"/>
            <a:ext cx="685800" cy="588963"/>
            <a:chOff x="-44" y="1473"/>
            <a:chExt cx="981" cy="1105"/>
          </a:xfrm>
        </p:grpSpPr>
        <p:pic>
          <p:nvPicPr>
            <p:cNvPr descr="desktop_computer_stylized_medium" id="7340" name="Google Shape;7340;p10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341" name="Google Shape;7341;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342" name="Google Shape;7342;p105"/>
          <p:cNvGrpSpPr/>
          <p:nvPr/>
        </p:nvGrpSpPr>
        <p:grpSpPr>
          <a:xfrm>
            <a:off x="5195207" y="5333546"/>
            <a:ext cx="728663" cy="620713"/>
            <a:chOff x="-44" y="1473"/>
            <a:chExt cx="981" cy="1105"/>
          </a:xfrm>
        </p:grpSpPr>
        <p:pic>
          <p:nvPicPr>
            <p:cNvPr descr="desktop_computer_stylized_medium" id="7343" name="Google Shape;7343;p10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344" name="Google Shape;7344;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345" name="Google Shape;7345;p105"/>
          <p:cNvGrpSpPr/>
          <p:nvPr/>
        </p:nvGrpSpPr>
        <p:grpSpPr>
          <a:xfrm>
            <a:off x="5477782" y="5911396"/>
            <a:ext cx="728663" cy="620713"/>
            <a:chOff x="-44" y="1473"/>
            <a:chExt cx="981" cy="1105"/>
          </a:xfrm>
        </p:grpSpPr>
        <p:pic>
          <p:nvPicPr>
            <p:cNvPr descr="desktop_computer_stylized_medium" id="7346" name="Google Shape;7346;p10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347" name="Google Shape;7347;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348" name="Google Shape;7348;p105"/>
          <p:cNvGrpSpPr/>
          <p:nvPr/>
        </p:nvGrpSpPr>
        <p:grpSpPr>
          <a:xfrm flipH="1">
            <a:off x="8111445" y="4757284"/>
            <a:ext cx="728662" cy="620712"/>
            <a:chOff x="-44" y="1473"/>
            <a:chExt cx="981" cy="1105"/>
          </a:xfrm>
        </p:grpSpPr>
        <p:pic>
          <p:nvPicPr>
            <p:cNvPr descr="desktop_computer_stylized_medium" id="7349" name="Google Shape;7349;p10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350" name="Google Shape;7350;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351" name="Google Shape;7351;p105"/>
          <p:cNvGrpSpPr/>
          <p:nvPr/>
        </p:nvGrpSpPr>
        <p:grpSpPr>
          <a:xfrm flipH="1">
            <a:off x="7763782" y="6095546"/>
            <a:ext cx="728663" cy="620713"/>
            <a:chOff x="-44" y="1473"/>
            <a:chExt cx="981" cy="1105"/>
          </a:xfrm>
        </p:grpSpPr>
        <p:pic>
          <p:nvPicPr>
            <p:cNvPr descr="desktop_computer_stylized_medium" id="7352" name="Google Shape;7352;p10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353" name="Google Shape;7353;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354" name="Google Shape;7354;p105"/>
          <p:cNvGrpSpPr/>
          <p:nvPr/>
        </p:nvGrpSpPr>
        <p:grpSpPr>
          <a:xfrm flipH="1">
            <a:off x="8165420" y="3569834"/>
            <a:ext cx="728662" cy="620712"/>
            <a:chOff x="-44" y="1473"/>
            <a:chExt cx="981" cy="1105"/>
          </a:xfrm>
        </p:grpSpPr>
        <p:pic>
          <p:nvPicPr>
            <p:cNvPr descr="desktop_computer_stylized_medium" id="7355" name="Google Shape;7355;p10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356" name="Google Shape;7356;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357" name="Google Shape;7357;p105"/>
          <p:cNvGrpSpPr/>
          <p:nvPr/>
        </p:nvGrpSpPr>
        <p:grpSpPr>
          <a:xfrm flipH="1">
            <a:off x="6368370" y="3036434"/>
            <a:ext cx="641350" cy="620712"/>
            <a:chOff x="-44" y="1473"/>
            <a:chExt cx="981" cy="1105"/>
          </a:xfrm>
        </p:grpSpPr>
        <p:pic>
          <p:nvPicPr>
            <p:cNvPr descr="desktop_computer_stylized_medium" id="7358" name="Google Shape;7358;p10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359" name="Google Shape;7359;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360" name="Google Shape;7360;p105"/>
          <p:cNvGrpSpPr/>
          <p:nvPr/>
        </p:nvGrpSpPr>
        <p:grpSpPr>
          <a:xfrm>
            <a:off x="4758645" y="3026909"/>
            <a:ext cx="728662" cy="620712"/>
            <a:chOff x="-44" y="1473"/>
            <a:chExt cx="981" cy="1105"/>
          </a:xfrm>
        </p:grpSpPr>
        <p:pic>
          <p:nvPicPr>
            <p:cNvPr descr="desktop_computer_stylized_medium" id="7361" name="Google Shape;7361;p10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362" name="Google Shape;7362;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363" name="Google Shape;7363;p105"/>
          <p:cNvGrpSpPr/>
          <p:nvPr/>
        </p:nvGrpSpPr>
        <p:grpSpPr>
          <a:xfrm>
            <a:off x="6858907" y="5639934"/>
            <a:ext cx="490538" cy="412750"/>
            <a:chOff x="-44" y="1473"/>
            <a:chExt cx="981" cy="1105"/>
          </a:xfrm>
        </p:grpSpPr>
        <p:pic>
          <p:nvPicPr>
            <p:cNvPr descr="desktop_computer_stylized_medium" id="7364" name="Google Shape;7364;p105"/>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7365" name="Google Shape;7365;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366" name="Google Shape;7366;p10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6"/>
                                        </p:tgtEl>
                                        <p:attrNameLst>
                                          <p:attrName>style.visibility</p:attrName>
                                        </p:attrNameLst>
                                      </p:cBhvr>
                                      <p:to>
                                        <p:strVal val="visible"/>
                                      </p:to>
                                    </p:set>
                                    <p:animEffect filter="fade" transition="in">
                                      <p:cBhvr>
                                        <p:cTn dur="1000"/>
                                        <p:tgtEl>
                                          <p:spTgt spid="7296"/>
                                        </p:tgtEl>
                                      </p:cBhvr>
                                    </p:animEffect>
                                  </p:childTnLst>
                                </p:cTn>
                              </p:par>
                              <p:par>
                                <p:cTn fill="hold" nodeType="withEffect" presetClass="entr" presetID="10" presetSubtype="0">
                                  <p:stCondLst>
                                    <p:cond delay="0"/>
                                  </p:stCondLst>
                                  <p:childTnLst>
                                    <p:set>
                                      <p:cBhvr>
                                        <p:cTn dur="1" fill="hold">
                                          <p:stCondLst>
                                            <p:cond delay="0"/>
                                          </p:stCondLst>
                                        </p:cTn>
                                        <p:tgtEl>
                                          <p:spTgt spid="7298"/>
                                        </p:tgtEl>
                                        <p:attrNameLst>
                                          <p:attrName>style.visibility</p:attrName>
                                        </p:attrNameLst>
                                      </p:cBhvr>
                                      <p:to>
                                        <p:strVal val="visible"/>
                                      </p:to>
                                    </p:set>
                                    <p:animEffect filter="fade" transition="in">
                                      <p:cBhvr>
                                        <p:cTn dur="500"/>
                                        <p:tgtEl>
                                          <p:spTgt spid="7298"/>
                                        </p:tgtEl>
                                      </p:cBhvr>
                                    </p:animEffect>
                                  </p:childTnLst>
                                </p:cTn>
                              </p:par>
                              <p:par>
                                <p:cTn fill="hold" nodeType="withEffect" presetClass="entr" presetID="10" presetSubtype="0">
                                  <p:stCondLst>
                                    <p:cond delay="0"/>
                                  </p:stCondLst>
                                  <p:childTnLst>
                                    <p:set>
                                      <p:cBhvr>
                                        <p:cTn dur="1" fill="hold">
                                          <p:stCondLst>
                                            <p:cond delay="0"/>
                                          </p:stCondLst>
                                        </p:cTn>
                                        <p:tgtEl>
                                          <p:spTgt spid="7339"/>
                                        </p:tgtEl>
                                        <p:attrNameLst>
                                          <p:attrName>style.visibility</p:attrName>
                                        </p:attrNameLst>
                                      </p:cBhvr>
                                      <p:to>
                                        <p:strVal val="visible"/>
                                      </p:to>
                                    </p:set>
                                    <p:animEffect filter="fade" transition="in">
                                      <p:cBhvr>
                                        <p:cTn dur="500"/>
                                        <p:tgtEl>
                                          <p:spTgt spid="73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00"/>
                                        </p:tgtEl>
                                        <p:attrNameLst>
                                          <p:attrName>style.visibility</p:attrName>
                                        </p:attrNameLst>
                                      </p:cBhvr>
                                      <p:to>
                                        <p:strVal val="visible"/>
                                      </p:to>
                                    </p:set>
                                    <p:animEffect filter="fade" transition="in">
                                      <p:cBhvr>
                                        <p:cTn dur="1000"/>
                                        <p:tgtEl>
                                          <p:spTgt spid="7300"/>
                                        </p:tgtEl>
                                      </p:cBhvr>
                                    </p:animEffect>
                                  </p:childTnLst>
                                </p:cTn>
                              </p:par>
                              <p:par>
                                <p:cTn fill="hold" nodeType="withEffect" presetClass="entr" presetID="10" presetSubtype="0">
                                  <p:stCondLst>
                                    <p:cond delay="0"/>
                                  </p:stCondLst>
                                  <p:childTnLst>
                                    <p:set>
                                      <p:cBhvr>
                                        <p:cTn dur="1" fill="hold">
                                          <p:stCondLst>
                                            <p:cond delay="0"/>
                                          </p:stCondLst>
                                        </p:cTn>
                                        <p:tgtEl>
                                          <p:spTgt spid="7285"/>
                                        </p:tgtEl>
                                        <p:attrNameLst>
                                          <p:attrName>style.visibility</p:attrName>
                                        </p:attrNameLst>
                                      </p:cBhvr>
                                      <p:to>
                                        <p:strVal val="visible"/>
                                      </p:to>
                                    </p:set>
                                    <p:animEffect filter="fade" transition="in">
                                      <p:cBhvr>
                                        <p:cTn dur="500"/>
                                        <p:tgtEl>
                                          <p:spTgt spid="7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01"/>
                                        </p:tgtEl>
                                        <p:attrNameLst>
                                          <p:attrName>style.visibility</p:attrName>
                                        </p:attrNameLst>
                                      </p:cBhvr>
                                      <p:to>
                                        <p:strVal val="visible"/>
                                      </p:to>
                                    </p:set>
                                    <p:animEffect filter="fade" transition="in">
                                      <p:cBhvr>
                                        <p:cTn dur="1000"/>
                                        <p:tgtEl>
                                          <p:spTgt spid="7301"/>
                                        </p:tgtEl>
                                      </p:cBhvr>
                                    </p:animEffect>
                                  </p:childTnLst>
                                </p:cTn>
                              </p:par>
                              <p:par>
                                <p:cTn fill="hold" nodeType="withEffect" presetClass="entr" presetID="10" presetSubtype="0">
                                  <p:stCondLst>
                                    <p:cond delay="0"/>
                                  </p:stCondLst>
                                  <p:childTnLst>
                                    <p:set>
                                      <p:cBhvr>
                                        <p:cTn dur="1" fill="hold">
                                          <p:stCondLst>
                                            <p:cond delay="0"/>
                                          </p:stCondLst>
                                        </p:cTn>
                                        <p:tgtEl>
                                          <p:spTgt spid="7305"/>
                                        </p:tgtEl>
                                        <p:attrNameLst>
                                          <p:attrName>style.visibility</p:attrName>
                                        </p:attrNameLst>
                                      </p:cBhvr>
                                      <p:to>
                                        <p:strVal val="visible"/>
                                      </p:to>
                                    </p:set>
                                    <p:animEffect filter="fade" transition="in">
                                      <p:cBhvr>
                                        <p:cTn dur="1000"/>
                                        <p:tgtEl>
                                          <p:spTgt spid="7305"/>
                                        </p:tgtEl>
                                      </p:cBhvr>
                                    </p:animEffect>
                                  </p:childTnLst>
                                </p:cTn>
                              </p:par>
                              <p:par>
                                <p:cTn fill="hold" nodeType="withEffect" presetClass="exit" presetID="10" presetSubtype="0">
                                  <p:stCondLst>
                                    <p:cond delay="0"/>
                                  </p:stCondLst>
                                  <p:childTnLst>
                                    <p:animEffect filter="fade" transition="out">
                                      <p:cBhvr>
                                        <p:cTn dur="500"/>
                                        <p:tgtEl>
                                          <p:spTgt spid="7285"/>
                                        </p:tgtEl>
                                      </p:cBhvr>
                                    </p:animEffect>
                                    <p:set>
                                      <p:cBhvr>
                                        <p:cTn dur="1" fill="hold">
                                          <p:stCondLst>
                                            <p:cond delay="500"/>
                                          </p:stCondLst>
                                        </p:cTn>
                                        <p:tgtEl>
                                          <p:spTgt spid="728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1" name="Shape 7371"/>
        <p:cNvGrpSpPr/>
        <p:nvPr/>
      </p:nvGrpSpPr>
      <p:grpSpPr>
        <a:xfrm>
          <a:off x="0" y="0"/>
          <a:ext cx="0" cy="0"/>
          <a:chOff x="0" y="0"/>
          <a:chExt cx="0" cy="0"/>
        </a:xfrm>
      </p:grpSpPr>
      <p:sp>
        <p:nvSpPr>
          <p:cNvPr id="7372" name="Google Shape;7372;p10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P2P file distribution: BitTorrent </a:t>
            </a:r>
            <a:endParaRPr/>
          </a:p>
        </p:txBody>
      </p:sp>
      <p:sp>
        <p:nvSpPr>
          <p:cNvPr id="7373" name="Google Shape;7373;p106"/>
          <p:cNvSpPr txBox="1"/>
          <p:nvPr/>
        </p:nvSpPr>
        <p:spPr>
          <a:xfrm>
            <a:off x="672727" y="1548887"/>
            <a:ext cx="5988276" cy="2457450"/>
          </a:xfrm>
          <a:prstGeom prst="rect">
            <a:avLst/>
          </a:prstGeom>
          <a:noFill/>
          <a:ln>
            <a:noFill/>
          </a:ln>
        </p:spPr>
        <p:txBody>
          <a:bodyPr anchorCtr="0" anchor="t" bIns="45700" lIns="91425" spcFirstLastPara="1" rIns="91425" wrap="square" tIns="45700">
            <a:noAutofit/>
          </a:bodyPr>
          <a:lstStyle/>
          <a:p>
            <a:pPr indent="-287338" lvl="0" marL="287338" marR="0" rtl="0" algn="l">
              <a:lnSpc>
                <a:spcPct val="85000"/>
              </a:lnSpc>
              <a:spcBef>
                <a:spcPts val="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peer joining torrent: </a:t>
            </a:r>
            <a:endParaRPr/>
          </a:p>
          <a:p>
            <a:pPr indent="-223837" lvl="1" marL="681038"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has no chunks, but will accumulate them over time from other peers</a:t>
            </a:r>
            <a:endParaRPr/>
          </a:p>
          <a:p>
            <a:pPr indent="-223837" lvl="1" marL="681038"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registers with tracker to get list of peers, connects to subset of peers (“neighbors”)</a:t>
            </a:r>
            <a:endParaRPr b="0" i="0" sz="2400" u="none" cap="none" strike="noStrike">
              <a:solidFill>
                <a:schemeClr val="dk1"/>
              </a:solidFill>
              <a:latin typeface="Calibri"/>
              <a:ea typeface="Calibri"/>
              <a:cs typeface="Calibri"/>
              <a:sym typeface="Calibri"/>
            </a:endParaRPr>
          </a:p>
        </p:txBody>
      </p:sp>
      <p:sp>
        <p:nvSpPr>
          <p:cNvPr id="7374" name="Google Shape;7374;p106"/>
          <p:cNvSpPr/>
          <p:nvPr/>
        </p:nvSpPr>
        <p:spPr>
          <a:xfrm>
            <a:off x="689056" y="3728719"/>
            <a:ext cx="10987087" cy="2338387"/>
          </a:xfrm>
          <a:prstGeom prst="rect">
            <a:avLst/>
          </a:prstGeom>
          <a:noFill/>
          <a:ln>
            <a:noFill/>
          </a:ln>
        </p:spPr>
        <p:txBody>
          <a:bodyPr anchorCtr="0" anchor="t" bIns="45700" lIns="91425" spcFirstLastPara="1" rIns="91425" wrap="square" tIns="45700">
            <a:noAutofit/>
          </a:bodyPr>
          <a:lstStyle/>
          <a:p>
            <a:pPr indent="-287338" lvl="0" marL="287338" marR="0" rtl="0" algn="l">
              <a:lnSpc>
                <a:spcPct val="85000"/>
              </a:lnSpc>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while downloading, peer uploads chunks to other peers</a:t>
            </a:r>
            <a:endParaRPr/>
          </a:p>
          <a:p>
            <a:pPr indent="-287338" lvl="0" marL="287338" marR="0" rtl="0" algn="l">
              <a:lnSpc>
                <a:spcPct val="85000"/>
              </a:lnSpc>
              <a:spcBef>
                <a:spcPts val="56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peer may change peers with whom it exchanges chunks</a:t>
            </a:r>
            <a:endParaRPr/>
          </a:p>
          <a:p>
            <a:pPr indent="-287338" lvl="0" marL="287338" marR="0" rtl="0" algn="l">
              <a:lnSpc>
                <a:spcPct val="85000"/>
              </a:lnSpc>
              <a:spcBef>
                <a:spcPts val="560"/>
              </a:spcBef>
              <a:spcAft>
                <a:spcPts val="0"/>
              </a:spcAft>
              <a:buClr>
                <a:srgbClr val="000099"/>
              </a:buClr>
              <a:buSzPts val="2800"/>
              <a:buFont typeface="Noto Sans Symbols"/>
              <a:buChar char="▪"/>
            </a:pPr>
            <a:r>
              <a:rPr i="1" lang="en-US" sz="2800">
                <a:solidFill>
                  <a:srgbClr val="CC0000"/>
                </a:solidFill>
                <a:latin typeface="Calibri"/>
                <a:ea typeface="Calibri"/>
                <a:cs typeface="Calibri"/>
                <a:sym typeface="Calibri"/>
              </a:rPr>
              <a:t>churn:</a:t>
            </a:r>
            <a:r>
              <a:rPr lang="en-US" sz="2800">
                <a:solidFill>
                  <a:srgbClr val="000000"/>
                </a:solidFill>
                <a:latin typeface="Calibri"/>
                <a:ea typeface="Calibri"/>
                <a:cs typeface="Calibri"/>
                <a:sym typeface="Calibri"/>
              </a:rPr>
              <a:t> peers may come and go</a:t>
            </a:r>
            <a:endParaRPr/>
          </a:p>
          <a:p>
            <a:pPr indent="-287338" lvl="0" marL="287338" marR="0" rtl="0" algn="l">
              <a:lnSpc>
                <a:spcPct val="85000"/>
              </a:lnSpc>
              <a:spcBef>
                <a:spcPts val="56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once peer has entire file, it may (selfishly) leave or (altruistically) remain in torrent</a:t>
            </a:r>
            <a:endParaRPr/>
          </a:p>
        </p:txBody>
      </p:sp>
      <p:grpSp>
        <p:nvGrpSpPr>
          <p:cNvPr id="7375" name="Google Shape;7375;p106"/>
          <p:cNvGrpSpPr/>
          <p:nvPr/>
        </p:nvGrpSpPr>
        <p:grpSpPr>
          <a:xfrm>
            <a:off x="7622267" y="1307114"/>
            <a:ext cx="3567113" cy="2233613"/>
            <a:chOff x="4911725" y="1368425"/>
            <a:chExt cx="3567113" cy="2233613"/>
          </a:xfrm>
        </p:grpSpPr>
        <p:cxnSp>
          <p:nvCxnSpPr>
            <p:cNvPr id="7376" name="Google Shape;7376;p106"/>
            <p:cNvCxnSpPr/>
            <p:nvPr/>
          </p:nvCxnSpPr>
          <p:spPr>
            <a:xfrm>
              <a:off x="6245225" y="1646238"/>
              <a:ext cx="1736725" cy="879475"/>
            </a:xfrm>
            <a:prstGeom prst="straightConnector1">
              <a:avLst/>
            </a:prstGeom>
            <a:noFill/>
            <a:ln cap="flat" cmpd="sng" w="9525">
              <a:solidFill>
                <a:srgbClr val="000000"/>
              </a:solidFill>
              <a:prstDash val="solid"/>
              <a:round/>
              <a:headEnd len="med" w="med" type="triangle"/>
              <a:tailEnd len="med" w="med" type="triangle"/>
            </a:ln>
          </p:spPr>
        </p:cxnSp>
        <p:cxnSp>
          <p:nvCxnSpPr>
            <p:cNvPr id="7377" name="Google Shape;7377;p106"/>
            <p:cNvCxnSpPr/>
            <p:nvPr/>
          </p:nvCxnSpPr>
          <p:spPr>
            <a:xfrm>
              <a:off x="6107113" y="1739900"/>
              <a:ext cx="168275" cy="1133475"/>
            </a:xfrm>
            <a:prstGeom prst="straightConnector1">
              <a:avLst/>
            </a:prstGeom>
            <a:noFill/>
            <a:ln cap="flat" cmpd="sng" w="9525">
              <a:solidFill>
                <a:srgbClr val="000000"/>
              </a:solidFill>
              <a:prstDash val="solid"/>
              <a:round/>
              <a:headEnd len="med" w="med" type="triangle"/>
              <a:tailEnd len="med" w="med" type="triangle"/>
            </a:ln>
          </p:spPr>
        </p:cxnSp>
        <p:cxnSp>
          <p:nvCxnSpPr>
            <p:cNvPr id="7378" name="Google Shape;7378;p106"/>
            <p:cNvCxnSpPr/>
            <p:nvPr/>
          </p:nvCxnSpPr>
          <p:spPr>
            <a:xfrm rot="10800000">
              <a:off x="7223125" y="1590675"/>
              <a:ext cx="795338" cy="190500"/>
            </a:xfrm>
            <a:prstGeom prst="straightConnector1">
              <a:avLst/>
            </a:prstGeom>
            <a:noFill/>
            <a:ln cap="flat" cmpd="sng" w="9525">
              <a:solidFill>
                <a:srgbClr val="000000"/>
              </a:solidFill>
              <a:prstDash val="solid"/>
              <a:round/>
              <a:headEnd len="med" w="med" type="triangle"/>
              <a:tailEnd len="med" w="med" type="triangle"/>
            </a:ln>
          </p:spPr>
        </p:cxnSp>
        <p:cxnSp>
          <p:nvCxnSpPr>
            <p:cNvPr id="7379" name="Google Shape;7379;p106"/>
            <p:cNvCxnSpPr/>
            <p:nvPr/>
          </p:nvCxnSpPr>
          <p:spPr>
            <a:xfrm flipH="1">
              <a:off x="6667500" y="1925638"/>
              <a:ext cx="1389063" cy="1239837"/>
            </a:xfrm>
            <a:prstGeom prst="straightConnector1">
              <a:avLst/>
            </a:prstGeom>
            <a:noFill/>
            <a:ln cap="flat" cmpd="sng" w="9525">
              <a:solidFill>
                <a:srgbClr val="000000"/>
              </a:solidFill>
              <a:prstDash val="solid"/>
              <a:round/>
              <a:headEnd len="med" w="med" type="triangle"/>
              <a:tailEnd len="med" w="med" type="triangle"/>
            </a:ln>
          </p:spPr>
        </p:cxnSp>
        <p:cxnSp>
          <p:nvCxnSpPr>
            <p:cNvPr id="7380" name="Google Shape;7380;p106"/>
            <p:cNvCxnSpPr/>
            <p:nvPr/>
          </p:nvCxnSpPr>
          <p:spPr>
            <a:xfrm flipH="1">
              <a:off x="6726238" y="3152775"/>
              <a:ext cx="504825" cy="101600"/>
            </a:xfrm>
            <a:prstGeom prst="straightConnector1">
              <a:avLst/>
            </a:prstGeom>
            <a:noFill/>
            <a:ln cap="flat" cmpd="sng" w="9525">
              <a:solidFill>
                <a:srgbClr val="000000"/>
              </a:solidFill>
              <a:prstDash val="solid"/>
              <a:round/>
              <a:headEnd len="med" w="med" type="triangle"/>
              <a:tailEnd len="med" w="med" type="triangle"/>
            </a:ln>
          </p:spPr>
        </p:cxnSp>
        <p:cxnSp>
          <p:nvCxnSpPr>
            <p:cNvPr id="7381" name="Google Shape;7381;p106"/>
            <p:cNvCxnSpPr/>
            <p:nvPr/>
          </p:nvCxnSpPr>
          <p:spPr>
            <a:xfrm flipH="1">
              <a:off x="6399213" y="1714500"/>
              <a:ext cx="612775" cy="1046163"/>
            </a:xfrm>
            <a:prstGeom prst="straightConnector1">
              <a:avLst/>
            </a:prstGeom>
            <a:noFill/>
            <a:ln cap="flat" cmpd="sng" w="9525">
              <a:solidFill>
                <a:srgbClr val="000000"/>
              </a:solidFill>
              <a:prstDash val="solid"/>
              <a:round/>
              <a:headEnd len="med" w="med" type="triangle"/>
              <a:tailEnd len="med" w="med" type="triangle"/>
            </a:ln>
          </p:spPr>
        </p:cxnSp>
        <p:cxnSp>
          <p:nvCxnSpPr>
            <p:cNvPr id="7382" name="Google Shape;7382;p106"/>
            <p:cNvCxnSpPr/>
            <p:nvPr/>
          </p:nvCxnSpPr>
          <p:spPr>
            <a:xfrm flipH="1" rot="10800000">
              <a:off x="6511925" y="2579688"/>
              <a:ext cx="1443038" cy="301625"/>
            </a:xfrm>
            <a:prstGeom prst="straightConnector1">
              <a:avLst/>
            </a:prstGeom>
            <a:noFill/>
            <a:ln cap="flat" cmpd="sng" w="9525">
              <a:solidFill>
                <a:srgbClr val="000000"/>
              </a:solidFill>
              <a:prstDash val="solid"/>
              <a:round/>
              <a:headEnd len="med" w="med" type="triangle"/>
              <a:tailEnd len="med" w="med" type="triangle"/>
            </a:ln>
          </p:spPr>
        </p:cxnSp>
        <p:cxnSp>
          <p:nvCxnSpPr>
            <p:cNvPr id="7383" name="Google Shape;7383;p106"/>
            <p:cNvCxnSpPr/>
            <p:nvPr/>
          </p:nvCxnSpPr>
          <p:spPr>
            <a:xfrm>
              <a:off x="7192963" y="1679575"/>
              <a:ext cx="804862" cy="796925"/>
            </a:xfrm>
            <a:prstGeom prst="straightConnector1">
              <a:avLst/>
            </a:prstGeom>
            <a:noFill/>
            <a:ln cap="flat" cmpd="sng" w="9525">
              <a:solidFill>
                <a:srgbClr val="000000"/>
              </a:solidFill>
              <a:prstDash val="solid"/>
              <a:round/>
              <a:headEnd len="med" w="med" type="triangle"/>
              <a:tailEnd len="med" w="med" type="triangle"/>
            </a:ln>
          </p:spPr>
        </p:cxnSp>
        <p:cxnSp>
          <p:nvCxnSpPr>
            <p:cNvPr id="7384" name="Google Shape;7384;p106"/>
            <p:cNvCxnSpPr/>
            <p:nvPr/>
          </p:nvCxnSpPr>
          <p:spPr>
            <a:xfrm>
              <a:off x="7494588" y="3165475"/>
              <a:ext cx="255587" cy="136525"/>
            </a:xfrm>
            <a:prstGeom prst="straightConnector1">
              <a:avLst/>
            </a:prstGeom>
            <a:noFill/>
            <a:ln cap="flat" cmpd="sng" w="9525">
              <a:solidFill>
                <a:srgbClr val="000000"/>
              </a:solidFill>
              <a:prstDash val="solid"/>
              <a:round/>
              <a:headEnd len="med" w="med" type="triangle"/>
              <a:tailEnd len="med" w="med" type="triangle"/>
            </a:ln>
          </p:spPr>
        </p:cxnSp>
        <p:cxnSp>
          <p:nvCxnSpPr>
            <p:cNvPr id="7385" name="Google Shape;7385;p106"/>
            <p:cNvCxnSpPr/>
            <p:nvPr/>
          </p:nvCxnSpPr>
          <p:spPr>
            <a:xfrm>
              <a:off x="6735763" y="3351213"/>
              <a:ext cx="1014412" cy="0"/>
            </a:xfrm>
            <a:prstGeom prst="straightConnector1">
              <a:avLst/>
            </a:prstGeom>
            <a:noFill/>
            <a:ln cap="flat" cmpd="sng" w="9525">
              <a:solidFill>
                <a:srgbClr val="000000"/>
              </a:solidFill>
              <a:prstDash val="solid"/>
              <a:round/>
              <a:headEnd len="med" w="med" type="triangle"/>
              <a:tailEnd len="med" w="med" type="triangle"/>
            </a:ln>
          </p:spPr>
        </p:cxnSp>
        <p:cxnSp>
          <p:nvCxnSpPr>
            <p:cNvPr id="7386" name="Google Shape;7386;p106"/>
            <p:cNvCxnSpPr/>
            <p:nvPr/>
          </p:nvCxnSpPr>
          <p:spPr>
            <a:xfrm flipH="1">
              <a:off x="7869238" y="2689225"/>
              <a:ext cx="179387" cy="585788"/>
            </a:xfrm>
            <a:prstGeom prst="straightConnector1">
              <a:avLst/>
            </a:prstGeom>
            <a:noFill/>
            <a:ln cap="flat" cmpd="sng" w="9525">
              <a:solidFill>
                <a:srgbClr val="000000"/>
              </a:solidFill>
              <a:prstDash val="solid"/>
              <a:round/>
              <a:headEnd len="med" w="med" type="triangle"/>
              <a:tailEnd len="med" w="med" type="triangle"/>
            </a:ln>
          </p:spPr>
        </p:cxnSp>
        <p:pic>
          <p:nvPicPr>
            <p:cNvPr descr="Alice" id="7387" name="Google Shape;7387;p106"/>
            <p:cNvPicPr preferRelativeResize="0"/>
            <p:nvPr/>
          </p:nvPicPr>
          <p:blipFill rotWithShape="1">
            <a:blip r:embed="rId3">
              <a:alphaModFix/>
            </a:blip>
            <a:srcRect b="0" l="0" r="0" t="0"/>
            <a:stretch/>
          </p:blipFill>
          <p:spPr>
            <a:xfrm>
              <a:off x="4911725" y="2139950"/>
              <a:ext cx="323850" cy="319088"/>
            </a:xfrm>
            <a:prstGeom prst="rect">
              <a:avLst/>
            </a:prstGeom>
            <a:noFill/>
            <a:ln>
              <a:noFill/>
            </a:ln>
          </p:spPr>
        </p:pic>
        <p:grpSp>
          <p:nvGrpSpPr>
            <p:cNvPr id="7388" name="Google Shape;7388;p106"/>
            <p:cNvGrpSpPr/>
            <p:nvPr/>
          </p:nvGrpSpPr>
          <p:grpSpPr>
            <a:xfrm>
              <a:off x="5586413" y="1693863"/>
              <a:ext cx="2378075" cy="1350962"/>
              <a:chOff x="1752" y="2166"/>
              <a:chExt cx="2200" cy="1363"/>
            </a:xfrm>
          </p:grpSpPr>
          <p:cxnSp>
            <p:nvCxnSpPr>
              <p:cNvPr id="7389" name="Google Shape;7389;p106"/>
              <p:cNvCxnSpPr/>
              <p:nvPr/>
            </p:nvCxnSpPr>
            <p:spPr>
              <a:xfrm flipH="1" rot="10800000">
                <a:off x="1752" y="2166"/>
                <a:ext cx="361" cy="530"/>
              </a:xfrm>
              <a:prstGeom prst="straightConnector1">
                <a:avLst/>
              </a:prstGeom>
              <a:noFill/>
              <a:ln cap="flat" cmpd="sng" w="9525">
                <a:solidFill>
                  <a:srgbClr val="000000"/>
                </a:solidFill>
                <a:prstDash val="solid"/>
                <a:round/>
                <a:headEnd len="med" w="med" type="triangle"/>
                <a:tailEnd len="med" w="med" type="triangle"/>
              </a:ln>
            </p:spPr>
          </p:cxnSp>
          <p:cxnSp>
            <p:nvCxnSpPr>
              <p:cNvPr id="7390" name="Google Shape;7390;p106"/>
              <p:cNvCxnSpPr/>
              <p:nvPr/>
            </p:nvCxnSpPr>
            <p:spPr>
              <a:xfrm flipH="1" rot="10800000">
                <a:off x="1770" y="2352"/>
                <a:ext cx="2182" cy="400"/>
              </a:xfrm>
              <a:prstGeom prst="straightConnector1">
                <a:avLst/>
              </a:prstGeom>
              <a:noFill/>
              <a:ln cap="flat" cmpd="sng" w="9525">
                <a:solidFill>
                  <a:srgbClr val="000000"/>
                </a:solidFill>
                <a:prstDash val="solid"/>
                <a:round/>
                <a:headEnd len="med" w="med" type="triangle"/>
                <a:tailEnd len="med" w="med" type="triangle"/>
              </a:ln>
            </p:spPr>
          </p:cxnSp>
          <p:cxnSp>
            <p:nvCxnSpPr>
              <p:cNvPr id="7391" name="Google Shape;7391;p106"/>
              <p:cNvCxnSpPr/>
              <p:nvPr/>
            </p:nvCxnSpPr>
            <p:spPr>
              <a:xfrm>
                <a:off x="1786" y="2820"/>
                <a:ext cx="1550" cy="709"/>
              </a:xfrm>
              <a:prstGeom prst="straightConnector1">
                <a:avLst/>
              </a:prstGeom>
              <a:noFill/>
              <a:ln cap="flat" cmpd="sng" w="9525">
                <a:solidFill>
                  <a:srgbClr val="000000"/>
                </a:solidFill>
                <a:prstDash val="solid"/>
                <a:round/>
                <a:headEnd len="med" w="med" type="triangle"/>
                <a:tailEnd len="med" w="med" type="triangle"/>
              </a:ln>
            </p:spPr>
          </p:cxnSp>
        </p:grpSp>
        <p:grpSp>
          <p:nvGrpSpPr>
            <p:cNvPr id="7392" name="Google Shape;7392;p106"/>
            <p:cNvGrpSpPr/>
            <p:nvPr/>
          </p:nvGrpSpPr>
          <p:grpSpPr>
            <a:xfrm>
              <a:off x="5245100" y="1374775"/>
              <a:ext cx="292100" cy="517525"/>
              <a:chOff x="4140" y="429"/>
              <a:chExt cx="1425" cy="2396"/>
            </a:xfrm>
          </p:grpSpPr>
          <p:sp>
            <p:nvSpPr>
              <p:cNvPr id="7393" name="Google Shape;7393;p10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394" name="Google Shape;7394;p106"/>
              <p:cNvSpPr/>
              <p:nvPr/>
            </p:nvSpPr>
            <p:spPr>
              <a:xfrm>
                <a:off x="4210" y="429"/>
                <a:ext cx="1046"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395" name="Google Shape;7395;p10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396" name="Google Shape;7396;p10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397" name="Google Shape;7397;p106"/>
              <p:cNvSpPr/>
              <p:nvPr/>
            </p:nvSpPr>
            <p:spPr>
              <a:xfrm>
                <a:off x="4210" y="694"/>
                <a:ext cx="596"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7398" name="Google Shape;7398;p106"/>
              <p:cNvGrpSpPr/>
              <p:nvPr/>
            </p:nvGrpSpPr>
            <p:grpSpPr>
              <a:xfrm>
                <a:off x="4752" y="671"/>
                <a:ext cx="581" cy="140"/>
                <a:chOff x="618" y="2571"/>
                <a:chExt cx="725" cy="134"/>
              </a:xfrm>
            </p:grpSpPr>
            <p:sp>
              <p:nvSpPr>
                <p:cNvPr id="7399" name="Google Shape;7399;p106"/>
                <p:cNvSpPr/>
                <p:nvPr/>
              </p:nvSpPr>
              <p:spPr>
                <a:xfrm>
                  <a:off x="618" y="2571"/>
                  <a:ext cx="725"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400" name="Google Shape;7400;p106"/>
                <p:cNvSpPr/>
                <p:nvPr/>
              </p:nvSpPr>
              <p:spPr>
                <a:xfrm>
                  <a:off x="637" y="2585"/>
                  <a:ext cx="686"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7401" name="Google Shape;7401;p106"/>
              <p:cNvSpPr/>
              <p:nvPr/>
            </p:nvSpPr>
            <p:spPr>
              <a:xfrm>
                <a:off x="4225" y="1017"/>
                <a:ext cx="596" cy="51"/>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7402" name="Google Shape;7402;p106"/>
              <p:cNvGrpSpPr/>
              <p:nvPr/>
            </p:nvGrpSpPr>
            <p:grpSpPr>
              <a:xfrm>
                <a:off x="4744" y="995"/>
                <a:ext cx="581" cy="132"/>
                <a:chOff x="610" y="2569"/>
                <a:chExt cx="725" cy="137"/>
              </a:xfrm>
            </p:grpSpPr>
            <p:sp>
              <p:nvSpPr>
                <p:cNvPr id="7403" name="Google Shape;7403;p106"/>
                <p:cNvSpPr/>
                <p:nvPr/>
              </p:nvSpPr>
              <p:spPr>
                <a:xfrm>
                  <a:off x="610" y="2569"/>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404" name="Google Shape;7404;p106"/>
                <p:cNvSpPr/>
                <p:nvPr/>
              </p:nvSpPr>
              <p:spPr>
                <a:xfrm>
                  <a:off x="630" y="2584"/>
                  <a:ext cx="68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7405" name="Google Shape;7405;p106"/>
              <p:cNvSpPr/>
              <p:nvPr/>
            </p:nvSpPr>
            <p:spPr>
              <a:xfrm>
                <a:off x="4217" y="1355"/>
                <a:ext cx="596" cy="51"/>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406" name="Google Shape;7406;p106"/>
              <p:cNvSpPr/>
              <p:nvPr/>
            </p:nvSpPr>
            <p:spPr>
              <a:xfrm>
                <a:off x="4225" y="1656"/>
                <a:ext cx="596"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7407" name="Google Shape;7407;p106"/>
              <p:cNvGrpSpPr/>
              <p:nvPr/>
            </p:nvGrpSpPr>
            <p:grpSpPr>
              <a:xfrm>
                <a:off x="4737" y="1627"/>
                <a:ext cx="581" cy="154"/>
                <a:chOff x="616" y="2568"/>
                <a:chExt cx="724" cy="142"/>
              </a:xfrm>
            </p:grpSpPr>
            <p:sp>
              <p:nvSpPr>
                <p:cNvPr id="7408" name="Google Shape;7408;p106"/>
                <p:cNvSpPr/>
                <p:nvPr/>
              </p:nvSpPr>
              <p:spPr>
                <a:xfrm>
                  <a:off x="616" y="2568"/>
                  <a:ext cx="724"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409" name="Google Shape;7409;p106"/>
                <p:cNvSpPr/>
                <p:nvPr/>
              </p:nvSpPr>
              <p:spPr>
                <a:xfrm>
                  <a:off x="635" y="2582"/>
                  <a:ext cx="685"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7410" name="Google Shape;7410;p10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7411" name="Google Shape;7411;p106"/>
              <p:cNvGrpSpPr/>
              <p:nvPr/>
            </p:nvGrpSpPr>
            <p:grpSpPr>
              <a:xfrm>
                <a:off x="4737" y="1326"/>
                <a:ext cx="581" cy="140"/>
                <a:chOff x="611" y="2567"/>
                <a:chExt cx="724" cy="140"/>
              </a:xfrm>
            </p:grpSpPr>
            <p:sp>
              <p:nvSpPr>
                <p:cNvPr id="7412" name="Google Shape;7412;p106"/>
                <p:cNvSpPr/>
                <p:nvPr/>
              </p:nvSpPr>
              <p:spPr>
                <a:xfrm>
                  <a:off x="611"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413" name="Google Shape;7413;p106"/>
                <p:cNvSpPr/>
                <p:nvPr/>
              </p:nvSpPr>
              <p:spPr>
                <a:xfrm>
                  <a:off x="630" y="2581"/>
                  <a:ext cx="685"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7414" name="Google Shape;7414;p106"/>
              <p:cNvSpPr/>
              <p:nvPr/>
            </p:nvSpPr>
            <p:spPr>
              <a:xfrm>
                <a:off x="5247" y="429"/>
                <a:ext cx="70"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415" name="Google Shape;7415;p10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416" name="Google Shape;7416;p10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417" name="Google Shape;7417;p106"/>
              <p:cNvSpPr/>
              <p:nvPr/>
            </p:nvSpPr>
            <p:spPr>
              <a:xfrm>
                <a:off x="5519" y="2612"/>
                <a:ext cx="46"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418" name="Google Shape;7418;p10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419" name="Google Shape;7419;p106"/>
              <p:cNvSpPr/>
              <p:nvPr/>
            </p:nvSpPr>
            <p:spPr>
              <a:xfrm>
                <a:off x="4140" y="2678"/>
                <a:ext cx="1200"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420" name="Google Shape;7420;p106"/>
              <p:cNvSpPr/>
              <p:nvPr/>
            </p:nvSpPr>
            <p:spPr>
              <a:xfrm>
                <a:off x="4210" y="2707"/>
                <a:ext cx="1069" cy="8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421" name="Google Shape;7421;p106"/>
              <p:cNvSpPr/>
              <p:nvPr/>
            </p:nvSpPr>
            <p:spPr>
              <a:xfrm>
                <a:off x="4310" y="2384"/>
                <a:ext cx="155"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422" name="Google Shape;7422;p106"/>
              <p:cNvSpPr/>
              <p:nvPr/>
            </p:nvSpPr>
            <p:spPr>
              <a:xfrm>
                <a:off x="4489" y="2384"/>
                <a:ext cx="155"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7423" name="Google Shape;7423;p106"/>
              <p:cNvSpPr/>
              <p:nvPr/>
            </p:nvSpPr>
            <p:spPr>
              <a:xfrm>
                <a:off x="4659" y="2384"/>
                <a:ext cx="163"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7424" name="Google Shape;7424;p106"/>
              <p:cNvSpPr/>
              <p:nvPr/>
            </p:nvSpPr>
            <p:spPr>
              <a:xfrm>
                <a:off x="5062" y="1833"/>
                <a:ext cx="85" cy="764"/>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7425" name="Google Shape;7425;p106"/>
            <p:cNvGrpSpPr/>
            <p:nvPr/>
          </p:nvGrpSpPr>
          <p:grpSpPr>
            <a:xfrm>
              <a:off x="6311900" y="3176588"/>
              <a:ext cx="434975" cy="349250"/>
              <a:chOff x="-44" y="1473"/>
              <a:chExt cx="981" cy="1105"/>
            </a:xfrm>
          </p:grpSpPr>
          <p:pic>
            <p:nvPicPr>
              <p:cNvPr descr="desktop_computer_stylized_medium" id="7426" name="Google Shape;7426;p106"/>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427" name="Google Shape;7427;p10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7428" name="Google Shape;7428;p106"/>
            <p:cNvGrpSpPr/>
            <p:nvPr/>
          </p:nvGrpSpPr>
          <p:grpSpPr>
            <a:xfrm flipH="1">
              <a:off x="7716838" y="3252788"/>
              <a:ext cx="434975" cy="349250"/>
              <a:chOff x="-44" y="1473"/>
              <a:chExt cx="981" cy="1105"/>
            </a:xfrm>
          </p:grpSpPr>
          <p:pic>
            <p:nvPicPr>
              <p:cNvPr descr="desktop_computer_stylized_medium" id="7429" name="Google Shape;7429;p106"/>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430" name="Google Shape;7430;p10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7431" name="Google Shape;7431;p106"/>
            <p:cNvGrpSpPr/>
            <p:nvPr/>
          </p:nvGrpSpPr>
          <p:grpSpPr>
            <a:xfrm flipH="1">
              <a:off x="7988300" y="2457450"/>
              <a:ext cx="434975" cy="349250"/>
              <a:chOff x="-44" y="1473"/>
              <a:chExt cx="981" cy="1105"/>
            </a:xfrm>
          </p:grpSpPr>
          <p:pic>
            <p:nvPicPr>
              <p:cNvPr descr="desktop_computer_stylized_medium" id="7432" name="Google Shape;7432;p106"/>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433" name="Google Shape;7433;p10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7434" name="Google Shape;7434;p106"/>
            <p:cNvGrpSpPr/>
            <p:nvPr/>
          </p:nvGrpSpPr>
          <p:grpSpPr>
            <a:xfrm flipH="1">
              <a:off x="8043863" y="1706563"/>
              <a:ext cx="434975" cy="349250"/>
              <a:chOff x="-44" y="1473"/>
              <a:chExt cx="981" cy="1105"/>
            </a:xfrm>
          </p:grpSpPr>
          <p:pic>
            <p:nvPicPr>
              <p:cNvPr descr="desktop_computer_stylized_medium" id="7435" name="Google Shape;7435;p106"/>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436" name="Google Shape;7436;p10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7437" name="Google Shape;7437;p106"/>
            <p:cNvGrpSpPr/>
            <p:nvPr/>
          </p:nvGrpSpPr>
          <p:grpSpPr>
            <a:xfrm flipH="1">
              <a:off x="6911975" y="1368425"/>
              <a:ext cx="434975" cy="349250"/>
              <a:chOff x="-44" y="1473"/>
              <a:chExt cx="981" cy="1105"/>
            </a:xfrm>
          </p:grpSpPr>
          <p:pic>
            <p:nvPicPr>
              <p:cNvPr descr="desktop_computer_stylized_medium" id="7438" name="Google Shape;7438;p106"/>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439" name="Google Shape;7439;p10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7440" name="Google Shape;7440;p106"/>
            <p:cNvGrpSpPr/>
            <p:nvPr/>
          </p:nvGrpSpPr>
          <p:grpSpPr>
            <a:xfrm>
              <a:off x="5824538" y="1411288"/>
              <a:ext cx="434975" cy="349250"/>
              <a:chOff x="-44" y="1473"/>
              <a:chExt cx="981" cy="1105"/>
            </a:xfrm>
          </p:grpSpPr>
          <p:pic>
            <p:nvPicPr>
              <p:cNvPr descr="desktop_computer_stylized_medium" id="7441" name="Google Shape;7441;p106"/>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442" name="Google Shape;7442;p10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7443" name="Google Shape;7443;p106"/>
            <p:cNvGrpSpPr/>
            <p:nvPr/>
          </p:nvGrpSpPr>
          <p:grpSpPr>
            <a:xfrm>
              <a:off x="5159375" y="2162175"/>
              <a:ext cx="434975" cy="349250"/>
              <a:chOff x="-44" y="1473"/>
              <a:chExt cx="981" cy="1105"/>
            </a:xfrm>
          </p:grpSpPr>
          <p:pic>
            <p:nvPicPr>
              <p:cNvPr descr="desktop_computer_stylized_medium" id="7444" name="Google Shape;7444;p106"/>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445" name="Google Shape;7445;p10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7446" name="Google Shape;7446;p106"/>
            <p:cNvGrpSpPr/>
            <p:nvPr/>
          </p:nvGrpSpPr>
          <p:grpSpPr>
            <a:xfrm>
              <a:off x="6129338" y="2749550"/>
              <a:ext cx="434975" cy="349250"/>
              <a:chOff x="-44" y="1473"/>
              <a:chExt cx="981" cy="1105"/>
            </a:xfrm>
          </p:grpSpPr>
          <p:pic>
            <p:nvPicPr>
              <p:cNvPr descr="desktop_computer_stylized_medium" id="7447" name="Google Shape;7447;p106"/>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7448" name="Google Shape;7448;p10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7449" name="Google Shape;7449;p106"/>
            <p:cNvGrpSpPr/>
            <p:nvPr/>
          </p:nvGrpSpPr>
          <p:grpSpPr>
            <a:xfrm>
              <a:off x="7185025" y="2989263"/>
              <a:ext cx="325438" cy="261937"/>
              <a:chOff x="-44" y="1473"/>
              <a:chExt cx="981" cy="1105"/>
            </a:xfrm>
          </p:grpSpPr>
          <p:pic>
            <p:nvPicPr>
              <p:cNvPr descr="desktop_computer_stylized_medium" id="7450" name="Google Shape;7450;p106"/>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7451" name="Google Shape;7451;p10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sp>
        <p:nvSpPr>
          <p:cNvPr id="7452" name="Google Shape;7452;p10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7" name="Shape 7457"/>
        <p:cNvGrpSpPr/>
        <p:nvPr/>
      </p:nvGrpSpPr>
      <p:grpSpPr>
        <a:xfrm>
          <a:off x="0" y="0"/>
          <a:ext cx="0" cy="0"/>
          <a:chOff x="0" y="0"/>
          <a:chExt cx="0" cy="0"/>
        </a:xfrm>
      </p:grpSpPr>
      <p:sp>
        <p:nvSpPr>
          <p:cNvPr id="7458" name="Google Shape;7458;p107"/>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BitTorrent: requesting, sending file chunks</a:t>
            </a:r>
            <a:endParaRPr/>
          </a:p>
        </p:txBody>
      </p:sp>
      <p:sp>
        <p:nvSpPr>
          <p:cNvPr id="7459" name="Google Shape;7459;p107"/>
          <p:cNvSpPr txBox="1"/>
          <p:nvPr/>
        </p:nvSpPr>
        <p:spPr>
          <a:xfrm>
            <a:off x="798691" y="1510619"/>
            <a:ext cx="4521200" cy="4117975"/>
          </a:xfrm>
          <a:prstGeom prst="rect">
            <a:avLst/>
          </a:prstGeom>
          <a:noFill/>
          <a:ln>
            <a:noFill/>
          </a:ln>
        </p:spPr>
        <p:txBody>
          <a:bodyPr anchorCtr="0" anchor="t" bIns="45700" lIns="91425" spcFirstLastPara="1" rIns="91425" wrap="square" tIns="45700">
            <a:normAutofit lnSpcReduction="10000"/>
          </a:bodyPr>
          <a:lstStyle/>
          <a:p>
            <a:pPr indent="0" lvl="0" marL="15875"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Requesting chunks:</a:t>
            </a:r>
            <a:endParaRPr/>
          </a:p>
          <a:p>
            <a:pPr indent="-276225" lvl="0" marL="406400"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at any given time, different peers have different subsets of file chunks</a:t>
            </a:r>
            <a:endParaRPr/>
          </a:p>
          <a:p>
            <a:pPr indent="-276225" lvl="0" marL="406400"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periodically, Alice asks each peer for list of chunks that they have</a:t>
            </a:r>
            <a:endParaRPr/>
          </a:p>
          <a:p>
            <a:pPr indent="-276225" lvl="0" marL="406400"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Alice requests missing chunks from peers, rarest first</a:t>
            </a:r>
            <a:endParaRPr/>
          </a:p>
        </p:txBody>
      </p:sp>
      <p:sp>
        <p:nvSpPr>
          <p:cNvPr id="7460" name="Google Shape;7460;p107"/>
          <p:cNvSpPr/>
          <p:nvPr/>
        </p:nvSpPr>
        <p:spPr>
          <a:xfrm>
            <a:off x="5927271" y="1412473"/>
            <a:ext cx="5714999" cy="5039006"/>
          </a:xfrm>
          <a:prstGeom prst="rect">
            <a:avLst/>
          </a:prstGeom>
          <a:noFill/>
          <a:ln>
            <a:noFill/>
          </a:ln>
        </p:spPr>
        <p:txBody>
          <a:bodyPr anchorCtr="0" anchor="t" bIns="45700" lIns="91425" spcFirstLastPara="1" rIns="91425" wrap="square" tIns="45700">
            <a:noAutofit/>
          </a:bodyPr>
          <a:lstStyle/>
          <a:p>
            <a:pPr indent="0" lvl="0" marL="15875" marR="0" rtl="0" algn="l">
              <a:spcBef>
                <a:spcPts val="0"/>
              </a:spcBef>
              <a:spcAft>
                <a:spcPts val="0"/>
              </a:spcAft>
              <a:buNone/>
            </a:pPr>
            <a:r>
              <a:rPr lang="en-US" sz="3200">
                <a:solidFill>
                  <a:srgbClr val="CC0000"/>
                </a:solidFill>
                <a:latin typeface="Calibri"/>
                <a:ea typeface="Calibri"/>
                <a:cs typeface="Calibri"/>
                <a:sym typeface="Calibri"/>
              </a:rPr>
              <a:t>Sending chunks: tit-for-tat</a:t>
            </a:r>
            <a:endParaRPr/>
          </a:p>
          <a:p>
            <a:pPr indent="-341313" lvl="0" marL="406400" marR="0" rtl="0" algn="l">
              <a:lnSpc>
                <a:spcPct val="90000"/>
              </a:lnSpc>
              <a:spcBef>
                <a:spcPts val="40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Alice sends chunks to those four peers currently sending her chunks </a:t>
            </a:r>
            <a:r>
              <a:rPr i="1" lang="en-US" sz="2800">
                <a:solidFill>
                  <a:schemeClr val="dk1"/>
                </a:solidFill>
                <a:latin typeface="Calibri"/>
                <a:ea typeface="Calibri"/>
                <a:cs typeface="Calibri"/>
                <a:sym typeface="Calibri"/>
              </a:rPr>
              <a:t>at highest rate</a:t>
            </a:r>
            <a:r>
              <a:rPr lang="en-US" sz="2800">
                <a:solidFill>
                  <a:schemeClr val="dk1"/>
                </a:solidFill>
                <a:latin typeface="Calibri"/>
                <a:ea typeface="Calibri"/>
                <a:cs typeface="Calibri"/>
                <a:sym typeface="Calibri"/>
              </a:rPr>
              <a:t> </a:t>
            </a:r>
            <a:endParaRPr/>
          </a:p>
          <a:p>
            <a:pPr indent="-223837" lvl="1" marL="681038" marR="0" rtl="0" algn="l">
              <a:lnSpc>
                <a:spcPct val="90000"/>
              </a:lnSpc>
              <a:spcBef>
                <a:spcPts val="40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other peers are choked by Alice (do not receive chunks from her)</a:t>
            </a:r>
            <a:endParaRPr/>
          </a:p>
          <a:p>
            <a:pPr indent="-223837" lvl="1" marL="681038" marR="0" rtl="0" algn="l">
              <a:lnSpc>
                <a:spcPct val="90000"/>
              </a:lnSpc>
              <a:spcBef>
                <a:spcPts val="40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re-evaluate top 4 every 10 secs</a:t>
            </a:r>
            <a:endParaRPr/>
          </a:p>
          <a:p>
            <a:pPr indent="-341313" lvl="0" marL="471488" marR="0" rtl="0" algn="l">
              <a:lnSpc>
                <a:spcPct val="90000"/>
              </a:lnSpc>
              <a:spcBef>
                <a:spcPts val="40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every 30 secs: randomly select another peer, starts sending chunks</a:t>
            </a:r>
            <a:endParaRPr/>
          </a:p>
          <a:p>
            <a:pPr indent="-223837" lvl="1" marL="681038" marR="0" rtl="0" algn="l">
              <a:lnSpc>
                <a:spcPct val="90000"/>
              </a:lnSpc>
              <a:spcBef>
                <a:spcPts val="40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“optimistically unchoke” this peer</a:t>
            </a:r>
            <a:endParaRPr/>
          </a:p>
          <a:p>
            <a:pPr indent="-223837" lvl="1" marL="681038" marR="0" rtl="0" algn="l">
              <a:lnSpc>
                <a:spcPct val="90000"/>
              </a:lnSpc>
              <a:spcBef>
                <a:spcPts val="40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newly chosen peer may join top 4</a:t>
            </a:r>
            <a:endParaRPr/>
          </a:p>
          <a:p>
            <a:pPr indent="-215900" lvl="0" marL="342900" marR="0" rtl="0" algn="l">
              <a:spcBef>
                <a:spcPts val="0"/>
              </a:spcBef>
              <a:spcAft>
                <a:spcPts val="0"/>
              </a:spcAft>
              <a:buClr>
                <a:srgbClr val="000099"/>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7461" name="Google Shape;7461;p10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6" name="Shape 7466"/>
        <p:cNvGrpSpPr/>
        <p:nvPr/>
      </p:nvGrpSpPr>
      <p:grpSpPr>
        <a:xfrm>
          <a:off x="0" y="0"/>
          <a:ext cx="0" cy="0"/>
          <a:chOff x="0" y="0"/>
          <a:chExt cx="0" cy="0"/>
        </a:xfrm>
      </p:grpSpPr>
      <p:sp>
        <p:nvSpPr>
          <p:cNvPr id="7467" name="Google Shape;7467;p10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BitTorrent: tit-for-tat</a:t>
            </a:r>
            <a:endParaRPr/>
          </a:p>
        </p:txBody>
      </p:sp>
      <p:pic>
        <p:nvPicPr>
          <p:cNvPr descr="Alice" id="7468" name="Google Shape;7468;p108"/>
          <p:cNvPicPr preferRelativeResize="0"/>
          <p:nvPr/>
        </p:nvPicPr>
        <p:blipFill rotWithShape="1">
          <a:blip r:embed="rId3">
            <a:alphaModFix/>
          </a:blip>
          <a:srcRect b="0" l="0" r="0" t="0"/>
          <a:stretch/>
        </p:blipFill>
        <p:spPr>
          <a:xfrm>
            <a:off x="4369027" y="5178425"/>
            <a:ext cx="561975" cy="693738"/>
          </a:xfrm>
          <a:prstGeom prst="rect">
            <a:avLst/>
          </a:prstGeom>
          <a:noFill/>
          <a:ln>
            <a:noFill/>
          </a:ln>
        </p:spPr>
      </p:pic>
      <p:cxnSp>
        <p:nvCxnSpPr>
          <p:cNvPr id="7469" name="Google Shape;7469;p108"/>
          <p:cNvCxnSpPr/>
          <p:nvPr/>
        </p:nvCxnSpPr>
        <p:spPr>
          <a:xfrm rot="10800000">
            <a:off x="2452914" y="4184650"/>
            <a:ext cx="1473200" cy="596900"/>
          </a:xfrm>
          <a:prstGeom prst="straightConnector1">
            <a:avLst/>
          </a:prstGeom>
          <a:noFill/>
          <a:ln cap="flat" cmpd="sng" w="25400">
            <a:solidFill>
              <a:schemeClr val="dk1"/>
            </a:solidFill>
            <a:prstDash val="solid"/>
            <a:round/>
            <a:headEnd len="med" w="med" type="triangle"/>
            <a:tailEnd len="med" w="med" type="triangle"/>
          </a:ln>
        </p:spPr>
      </p:cxnSp>
      <p:cxnSp>
        <p:nvCxnSpPr>
          <p:cNvPr id="7470" name="Google Shape;7470;p108"/>
          <p:cNvCxnSpPr/>
          <p:nvPr/>
        </p:nvCxnSpPr>
        <p:spPr>
          <a:xfrm flipH="1">
            <a:off x="2933927" y="5010150"/>
            <a:ext cx="965200" cy="381000"/>
          </a:xfrm>
          <a:prstGeom prst="straightConnector1">
            <a:avLst/>
          </a:prstGeom>
          <a:noFill/>
          <a:ln cap="flat" cmpd="sng" w="25400">
            <a:solidFill>
              <a:schemeClr val="dk1"/>
            </a:solidFill>
            <a:prstDash val="solid"/>
            <a:round/>
            <a:headEnd len="med" w="med" type="triangle"/>
            <a:tailEnd len="med" w="med" type="triangle"/>
          </a:ln>
        </p:spPr>
      </p:cxnSp>
      <p:cxnSp>
        <p:nvCxnSpPr>
          <p:cNvPr id="7471" name="Google Shape;7471;p108"/>
          <p:cNvCxnSpPr/>
          <p:nvPr/>
        </p:nvCxnSpPr>
        <p:spPr>
          <a:xfrm flipH="1">
            <a:off x="3608614" y="5124450"/>
            <a:ext cx="596900" cy="1041400"/>
          </a:xfrm>
          <a:prstGeom prst="straightConnector1">
            <a:avLst/>
          </a:prstGeom>
          <a:noFill/>
          <a:ln cap="flat" cmpd="sng" w="25400">
            <a:solidFill>
              <a:schemeClr val="dk1"/>
            </a:solidFill>
            <a:prstDash val="solid"/>
            <a:round/>
            <a:headEnd len="med" w="med" type="triangle"/>
            <a:tailEnd len="med" w="med" type="triangle"/>
          </a:ln>
        </p:spPr>
      </p:cxnSp>
      <p:cxnSp>
        <p:nvCxnSpPr>
          <p:cNvPr id="7472" name="Google Shape;7472;p108"/>
          <p:cNvCxnSpPr/>
          <p:nvPr/>
        </p:nvCxnSpPr>
        <p:spPr>
          <a:xfrm flipH="1" rot="10800000">
            <a:off x="6491514" y="3308350"/>
            <a:ext cx="419100" cy="647700"/>
          </a:xfrm>
          <a:prstGeom prst="straightConnector1">
            <a:avLst/>
          </a:prstGeom>
          <a:noFill/>
          <a:ln cap="flat" cmpd="sng" w="25400">
            <a:solidFill>
              <a:schemeClr val="dk1"/>
            </a:solidFill>
            <a:prstDash val="solid"/>
            <a:round/>
            <a:headEnd len="med" w="med" type="triangle"/>
            <a:tailEnd len="med" w="med" type="triangle"/>
          </a:ln>
        </p:spPr>
      </p:cxnSp>
      <p:cxnSp>
        <p:nvCxnSpPr>
          <p:cNvPr id="7473" name="Google Shape;7473;p108"/>
          <p:cNvCxnSpPr/>
          <p:nvPr/>
        </p:nvCxnSpPr>
        <p:spPr>
          <a:xfrm flipH="1" rot="10800000">
            <a:off x="6593114" y="3892550"/>
            <a:ext cx="787400" cy="304800"/>
          </a:xfrm>
          <a:prstGeom prst="straightConnector1">
            <a:avLst/>
          </a:prstGeom>
          <a:noFill/>
          <a:ln cap="flat" cmpd="sng" w="25400">
            <a:solidFill>
              <a:schemeClr val="dk1"/>
            </a:solidFill>
            <a:prstDash val="solid"/>
            <a:round/>
            <a:headEnd len="med" w="med" type="triangle"/>
            <a:tailEnd len="med" w="med" type="triangle"/>
          </a:ln>
        </p:spPr>
      </p:cxnSp>
      <p:cxnSp>
        <p:nvCxnSpPr>
          <p:cNvPr id="7474" name="Google Shape;7474;p108"/>
          <p:cNvCxnSpPr/>
          <p:nvPr/>
        </p:nvCxnSpPr>
        <p:spPr>
          <a:xfrm>
            <a:off x="6593114" y="4362450"/>
            <a:ext cx="596900" cy="317500"/>
          </a:xfrm>
          <a:prstGeom prst="straightConnector1">
            <a:avLst/>
          </a:prstGeom>
          <a:noFill/>
          <a:ln cap="flat" cmpd="sng" w="25400">
            <a:solidFill>
              <a:schemeClr val="dk1"/>
            </a:solidFill>
            <a:prstDash val="solid"/>
            <a:round/>
            <a:headEnd len="med" w="med" type="triangle"/>
            <a:tailEnd len="med" w="med" type="triangle"/>
          </a:ln>
        </p:spPr>
      </p:cxnSp>
      <p:pic>
        <p:nvPicPr>
          <p:cNvPr descr="Bob" id="7475" name="Google Shape;7475;p108"/>
          <p:cNvPicPr preferRelativeResize="0"/>
          <p:nvPr/>
        </p:nvPicPr>
        <p:blipFill rotWithShape="1">
          <a:blip r:embed="rId4">
            <a:alphaModFix/>
          </a:blip>
          <a:srcRect b="0" l="0" r="0" t="0"/>
          <a:stretch/>
        </p:blipFill>
        <p:spPr>
          <a:xfrm>
            <a:off x="5959702" y="4606925"/>
            <a:ext cx="676275" cy="690563"/>
          </a:xfrm>
          <a:prstGeom prst="rect">
            <a:avLst/>
          </a:prstGeom>
          <a:noFill/>
          <a:ln>
            <a:noFill/>
          </a:ln>
        </p:spPr>
      </p:pic>
      <p:cxnSp>
        <p:nvCxnSpPr>
          <p:cNvPr id="7476" name="Google Shape;7476;p108"/>
          <p:cNvCxnSpPr/>
          <p:nvPr/>
        </p:nvCxnSpPr>
        <p:spPr>
          <a:xfrm flipH="1" rot="10800000">
            <a:off x="4510314" y="4159250"/>
            <a:ext cx="1435100" cy="482600"/>
          </a:xfrm>
          <a:prstGeom prst="straightConnector1">
            <a:avLst/>
          </a:prstGeom>
          <a:noFill/>
          <a:ln cap="flat" cmpd="sng" w="25400">
            <a:solidFill>
              <a:srgbClr val="CC0000"/>
            </a:solidFill>
            <a:prstDash val="dot"/>
            <a:round/>
            <a:headEnd len="med" w="med" type="none"/>
            <a:tailEnd len="med" w="med" type="triangle"/>
          </a:ln>
        </p:spPr>
      </p:cxnSp>
      <p:cxnSp>
        <p:nvCxnSpPr>
          <p:cNvPr id="7477" name="Google Shape;7477;p108"/>
          <p:cNvCxnSpPr/>
          <p:nvPr/>
        </p:nvCxnSpPr>
        <p:spPr>
          <a:xfrm flipH="1">
            <a:off x="4523014" y="4248150"/>
            <a:ext cx="1397000" cy="469900"/>
          </a:xfrm>
          <a:prstGeom prst="straightConnector1">
            <a:avLst/>
          </a:prstGeom>
          <a:noFill/>
          <a:ln cap="flat" cmpd="sng" w="25400">
            <a:solidFill>
              <a:srgbClr val="CC0000"/>
            </a:solidFill>
            <a:prstDash val="solid"/>
            <a:round/>
            <a:headEnd len="med" w="med" type="none"/>
            <a:tailEnd len="med" w="med" type="triangle"/>
          </a:ln>
        </p:spPr>
      </p:cxnSp>
      <p:cxnSp>
        <p:nvCxnSpPr>
          <p:cNvPr id="7478" name="Google Shape;7478;p108"/>
          <p:cNvCxnSpPr/>
          <p:nvPr/>
        </p:nvCxnSpPr>
        <p:spPr>
          <a:xfrm flipH="1" rot="10800000">
            <a:off x="4561114" y="4349750"/>
            <a:ext cx="1371600" cy="482600"/>
          </a:xfrm>
          <a:prstGeom prst="straightConnector1">
            <a:avLst/>
          </a:prstGeom>
          <a:noFill/>
          <a:ln cap="flat" cmpd="sng" w="25400">
            <a:solidFill>
              <a:srgbClr val="CC0000"/>
            </a:solidFill>
            <a:prstDash val="solid"/>
            <a:round/>
            <a:headEnd len="med" w="med" type="none"/>
            <a:tailEnd len="med" w="med" type="triangle"/>
          </a:ln>
        </p:spPr>
      </p:cxnSp>
      <p:sp>
        <p:nvSpPr>
          <p:cNvPr id="7479" name="Google Shape;7479;p108"/>
          <p:cNvSpPr txBox="1"/>
          <p:nvPr/>
        </p:nvSpPr>
        <p:spPr>
          <a:xfrm>
            <a:off x="825046" y="1288142"/>
            <a:ext cx="4789196"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(1) Alice “optimistically unchokes” Bob</a:t>
            </a:r>
            <a:endParaRPr sz="2400">
              <a:solidFill>
                <a:schemeClr val="dk1"/>
              </a:solidFill>
              <a:latin typeface="Calibri"/>
              <a:ea typeface="Calibri"/>
              <a:cs typeface="Calibri"/>
              <a:sym typeface="Calibri"/>
            </a:endParaRPr>
          </a:p>
        </p:txBody>
      </p:sp>
      <p:sp>
        <p:nvSpPr>
          <p:cNvPr id="7480" name="Google Shape;7480;p108"/>
          <p:cNvSpPr txBox="1"/>
          <p:nvPr/>
        </p:nvSpPr>
        <p:spPr>
          <a:xfrm>
            <a:off x="822327" y="1711330"/>
            <a:ext cx="8496750"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(2) Alice becomes one of Bob’s top-four providers; Bob reciprocates</a:t>
            </a:r>
            <a:endParaRPr sz="2400">
              <a:solidFill>
                <a:schemeClr val="dk1"/>
              </a:solidFill>
              <a:latin typeface="Calibri"/>
              <a:ea typeface="Calibri"/>
              <a:cs typeface="Calibri"/>
              <a:sym typeface="Calibri"/>
            </a:endParaRPr>
          </a:p>
        </p:txBody>
      </p:sp>
      <p:sp>
        <p:nvSpPr>
          <p:cNvPr id="7481" name="Google Shape;7481;p108"/>
          <p:cNvSpPr txBox="1"/>
          <p:nvPr/>
        </p:nvSpPr>
        <p:spPr>
          <a:xfrm>
            <a:off x="814389" y="2124086"/>
            <a:ext cx="6257482"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(3) Bob becomes one of Alice’s top-four providers</a:t>
            </a:r>
            <a:endParaRPr sz="2400">
              <a:solidFill>
                <a:schemeClr val="dk1"/>
              </a:solidFill>
              <a:latin typeface="Calibri"/>
              <a:ea typeface="Calibri"/>
              <a:cs typeface="Calibri"/>
              <a:sym typeface="Calibri"/>
            </a:endParaRPr>
          </a:p>
        </p:txBody>
      </p:sp>
      <p:sp>
        <p:nvSpPr>
          <p:cNvPr id="7482" name="Google Shape;7482;p108"/>
          <p:cNvSpPr txBox="1"/>
          <p:nvPr/>
        </p:nvSpPr>
        <p:spPr>
          <a:xfrm>
            <a:off x="6416902" y="5338537"/>
            <a:ext cx="4897389" cy="830997"/>
          </a:xfrm>
          <a:prstGeom prst="rect">
            <a:avLst/>
          </a:prstGeom>
          <a:noFill/>
          <a:ln cap="flat" cmpd="sng" w="19050">
            <a:solidFill>
              <a:srgbClr val="CC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Calibri"/>
              <a:buNone/>
            </a:pPr>
            <a:r>
              <a:rPr i="1" lang="en-US" sz="2400">
                <a:solidFill>
                  <a:schemeClr val="dk1"/>
                </a:solidFill>
                <a:latin typeface="Calibri"/>
                <a:ea typeface="Calibri"/>
                <a:cs typeface="Calibri"/>
                <a:sym typeface="Calibri"/>
              </a:rPr>
              <a:t>higher upload rate:</a:t>
            </a:r>
            <a:r>
              <a:rPr lang="en-US" sz="2400">
                <a:solidFill>
                  <a:schemeClr val="dk1"/>
                </a:solidFill>
                <a:latin typeface="Calibri"/>
                <a:ea typeface="Calibri"/>
                <a:cs typeface="Calibri"/>
                <a:sym typeface="Calibri"/>
              </a:rPr>
              <a:t> find better trading partners, get file faster !</a:t>
            </a:r>
            <a:endParaRPr/>
          </a:p>
        </p:txBody>
      </p:sp>
      <p:grpSp>
        <p:nvGrpSpPr>
          <p:cNvPr id="7483" name="Google Shape;7483;p108"/>
          <p:cNvGrpSpPr/>
          <p:nvPr/>
        </p:nvGrpSpPr>
        <p:grpSpPr>
          <a:xfrm>
            <a:off x="2194152" y="5014913"/>
            <a:ext cx="762000" cy="752475"/>
            <a:chOff x="-44" y="1473"/>
            <a:chExt cx="981" cy="1105"/>
          </a:xfrm>
        </p:grpSpPr>
        <p:pic>
          <p:nvPicPr>
            <p:cNvPr descr="desktop_computer_stylized_medium" id="7484" name="Google Shape;7484;p108"/>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7485" name="Google Shape;7485;p10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486" name="Google Shape;7486;p108"/>
          <p:cNvGrpSpPr/>
          <p:nvPr/>
        </p:nvGrpSpPr>
        <p:grpSpPr>
          <a:xfrm>
            <a:off x="2889477" y="5776913"/>
            <a:ext cx="762000" cy="752475"/>
            <a:chOff x="-44" y="1473"/>
            <a:chExt cx="981" cy="1105"/>
          </a:xfrm>
        </p:grpSpPr>
        <p:pic>
          <p:nvPicPr>
            <p:cNvPr descr="desktop_computer_stylized_medium" id="7487" name="Google Shape;7487;p108"/>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7488" name="Google Shape;7488;p10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489" name="Google Shape;7489;p108"/>
          <p:cNvGrpSpPr/>
          <p:nvPr/>
        </p:nvGrpSpPr>
        <p:grpSpPr>
          <a:xfrm>
            <a:off x="1708377" y="3894138"/>
            <a:ext cx="762000" cy="752475"/>
            <a:chOff x="-44" y="1473"/>
            <a:chExt cx="981" cy="1105"/>
          </a:xfrm>
        </p:grpSpPr>
        <p:pic>
          <p:nvPicPr>
            <p:cNvPr descr="desktop_computer_stylized_medium" id="7490" name="Google Shape;7490;p108"/>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7491" name="Google Shape;7491;p10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492" name="Google Shape;7492;p108"/>
          <p:cNvGrpSpPr/>
          <p:nvPr/>
        </p:nvGrpSpPr>
        <p:grpSpPr>
          <a:xfrm>
            <a:off x="3672114" y="4427538"/>
            <a:ext cx="762000" cy="752475"/>
            <a:chOff x="-44" y="1473"/>
            <a:chExt cx="981" cy="1105"/>
          </a:xfrm>
        </p:grpSpPr>
        <p:pic>
          <p:nvPicPr>
            <p:cNvPr descr="desktop_computer_stylized_medium" id="7493" name="Google Shape;7493;p108"/>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7494" name="Google Shape;7494;p10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495" name="Google Shape;7495;p108"/>
          <p:cNvGrpSpPr/>
          <p:nvPr/>
        </p:nvGrpSpPr>
        <p:grpSpPr>
          <a:xfrm flipH="1">
            <a:off x="7199539" y="4351338"/>
            <a:ext cx="762000" cy="752475"/>
            <a:chOff x="-44" y="1473"/>
            <a:chExt cx="981" cy="1105"/>
          </a:xfrm>
        </p:grpSpPr>
        <p:pic>
          <p:nvPicPr>
            <p:cNvPr descr="desktop_computer_stylized_medium" id="7496" name="Google Shape;7496;p108"/>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7497" name="Google Shape;7497;p10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498" name="Google Shape;7498;p108"/>
          <p:cNvGrpSpPr/>
          <p:nvPr/>
        </p:nvGrpSpPr>
        <p:grpSpPr>
          <a:xfrm flipH="1">
            <a:off x="7350352" y="3513138"/>
            <a:ext cx="762000" cy="752475"/>
            <a:chOff x="-44" y="1473"/>
            <a:chExt cx="981" cy="1105"/>
          </a:xfrm>
        </p:grpSpPr>
        <p:pic>
          <p:nvPicPr>
            <p:cNvPr descr="desktop_computer_stylized_medium" id="7499" name="Google Shape;7499;p108"/>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7500" name="Google Shape;7500;p10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501" name="Google Shape;7501;p108"/>
          <p:cNvGrpSpPr/>
          <p:nvPr/>
        </p:nvGrpSpPr>
        <p:grpSpPr>
          <a:xfrm flipH="1">
            <a:off x="6958239" y="2892425"/>
            <a:ext cx="762000" cy="752475"/>
            <a:chOff x="-44" y="1473"/>
            <a:chExt cx="981" cy="1105"/>
          </a:xfrm>
        </p:grpSpPr>
        <p:pic>
          <p:nvPicPr>
            <p:cNvPr descr="desktop_computer_stylized_medium" id="7502" name="Google Shape;7502;p108"/>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7503" name="Google Shape;7503;p10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504" name="Google Shape;7504;p108"/>
          <p:cNvGrpSpPr/>
          <p:nvPr/>
        </p:nvGrpSpPr>
        <p:grpSpPr>
          <a:xfrm flipH="1">
            <a:off x="6035902" y="3883025"/>
            <a:ext cx="762000" cy="752475"/>
            <a:chOff x="-44" y="1473"/>
            <a:chExt cx="981" cy="1105"/>
          </a:xfrm>
        </p:grpSpPr>
        <p:pic>
          <p:nvPicPr>
            <p:cNvPr descr="desktop_computer_stylized_medium" id="7505" name="Google Shape;7505;p108"/>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7506" name="Google Shape;7506;p10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7507" name="Google Shape;7507;p108"/>
          <p:cNvGrpSpPr/>
          <p:nvPr/>
        </p:nvGrpSpPr>
        <p:grpSpPr>
          <a:xfrm>
            <a:off x="5815239" y="2717800"/>
            <a:ext cx="762000" cy="1177925"/>
            <a:chOff x="4746" y="1528"/>
            <a:chExt cx="480" cy="742"/>
          </a:xfrm>
        </p:grpSpPr>
        <p:cxnSp>
          <p:nvCxnSpPr>
            <p:cNvPr id="7508" name="Google Shape;7508;p108"/>
            <p:cNvCxnSpPr/>
            <p:nvPr/>
          </p:nvCxnSpPr>
          <p:spPr>
            <a:xfrm>
              <a:off x="4964" y="1962"/>
              <a:ext cx="2" cy="308"/>
            </a:xfrm>
            <a:prstGeom prst="straightConnector1">
              <a:avLst/>
            </a:prstGeom>
            <a:noFill/>
            <a:ln cap="flat" cmpd="sng" w="28575">
              <a:solidFill>
                <a:schemeClr val="dk1"/>
              </a:solidFill>
              <a:prstDash val="solid"/>
              <a:round/>
              <a:headEnd len="med" w="med" type="triangle"/>
              <a:tailEnd len="med" w="med" type="triangle"/>
            </a:ln>
          </p:spPr>
        </p:cxnSp>
        <p:grpSp>
          <p:nvGrpSpPr>
            <p:cNvPr id="7509" name="Google Shape;7509;p108"/>
            <p:cNvGrpSpPr/>
            <p:nvPr/>
          </p:nvGrpSpPr>
          <p:grpSpPr>
            <a:xfrm flipH="1">
              <a:off x="4746" y="1528"/>
              <a:ext cx="480" cy="474"/>
              <a:chOff x="-44" y="1473"/>
              <a:chExt cx="981" cy="1105"/>
            </a:xfrm>
          </p:grpSpPr>
          <p:pic>
            <p:nvPicPr>
              <p:cNvPr descr="desktop_computer_stylized_medium" id="7510" name="Google Shape;7510;p108"/>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7511" name="Google Shape;7511;p10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grpSp>
        <p:nvGrpSpPr>
          <p:cNvPr id="7512" name="Google Shape;7512;p108"/>
          <p:cNvGrpSpPr/>
          <p:nvPr/>
        </p:nvGrpSpPr>
        <p:grpSpPr>
          <a:xfrm>
            <a:off x="2905352" y="3206750"/>
            <a:ext cx="1112837" cy="1219200"/>
            <a:chOff x="4779" y="2386"/>
            <a:chExt cx="701" cy="768"/>
          </a:xfrm>
        </p:grpSpPr>
        <p:cxnSp>
          <p:nvCxnSpPr>
            <p:cNvPr id="7513" name="Google Shape;7513;p108"/>
            <p:cNvCxnSpPr/>
            <p:nvPr/>
          </p:nvCxnSpPr>
          <p:spPr>
            <a:xfrm>
              <a:off x="5239" y="2812"/>
              <a:ext cx="241" cy="342"/>
            </a:xfrm>
            <a:prstGeom prst="straightConnector1">
              <a:avLst/>
            </a:prstGeom>
            <a:noFill/>
            <a:ln cap="flat" cmpd="sng" w="28575">
              <a:solidFill>
                <a:schemeClr val="dk1"/>
              </a:solidFill>
              <a:prstDash val="solid"/>
              <a:round/>
              <a:headEnd len="med" w="med" type="triangle"/>
              <a:tailEnd len="med" w="med" type="triangle"/>
            </a:ln>
          </p:spPr>
        </p:cxnSp>
        <p:grpSp>
          <p:nvGrpSpPr>
            <p:cNvPr id="7514" name="Google Shape;7514;p108"/>
            <p:cNvGrpSpPr/>
            <p:nvPr/>
          </p:nvGrpSpPr>
          <p:grpSpPr>
            <a:xfrm>
              <a:off x="4779" y="2386"/>
              <a:ext cx="480" cy="474"/>
              <a:chOff x="-44" y="1473"/>
              <a:chExt cx="981" cy="1105"/>
            </a:xfrm>
          </p:grpSpPr>
          <p:pic>
            <p:nvPicPr>
              <p:cNvPr descr="desktop_computer_stylized_medium" id="7515" name="Google Shape;7515;p108"/>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7516" name="Google Shape;7516;p10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sp>
        <p:nvSpPr>
          <p:cNvPr id="7517" name="Google Shape;7517;p10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9"/>
                                        </p:tgtEl>
                                        <p:attrNameLst>
                                          <p:attrName>style.visibility</p:attrName>
                                        </p:attrNameLst>
                                      </p:cBhvr>
                                      <p:to>
                                        <p:strVal val="visible"/>
                                      </p:to>
                                    </p:set>
                                    <p:animEffect filter="fade" transition="in">
                                      <p:cBhvr>
                                        <p:cTn dur="500"/>
                                        <p:tgtEl>
                                          <p:spTgt spid="7479"/>
                                        </p:tgtEl>
                                      </p:cBhvr>
                                    </p:animEffect>
                                  </p:childTnLst>
                                </p:cTn>
                              </p:par>
                              <p:par>
                                <p:cTn fill="hold" nodeType="withEffect" presetClass="entr" presetID="10" presetSubtype="0">
                                  <p:stCondLst>
                                    <p:cond delay="0"/>
                                  </p:stCondLst>
                                  <p:childTnLst>
                                    <p:set>
                                      <p:cBhvr>
                                        <p:cTn dur="1" fill="hold">
                                          <p:stCondLst>
                                            <p:cond delay="0"/>
                                          </p:stCondLst>
                                        </p:cTn>
                                        <p:tgtEl>
                                          <p:spTgt spid="7476"/>
                                        </p:tgtEl>
                                        <p:attrNameLst>
                                          <p:attrName>style.visibility</p:attrName>
                                        </p:attrNameLst>
                                      </p:cBhvr>
                                      <p:to>
                                        <p:strVal val="visible"/>
                                      </p:to>
                                    </p:set>
                                    <p:animEffect filter="fade" transition="in">
                                      <p:cBhvr>
                                        <p:cTn dur="500"/>
                                        <p:tgtEl>
                                          <p:spTgt spid="7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80"/>
                                        </p:tgtEl>
                                        <p:attrNameLst>
                                          <p:attrName>style.visibility</p:attrName>
                                        </p:attrNameLst>
                                      </p:cBhvr>
                                      <p:to>
                                        <p:strVal val="visible"/>
                                      </p:to>
                                    </p:set>
                                    <p:animEffect filter="fade" transition="in">
                                      <p:cBhvr>
                                        <p:cTn dur="500"/>
                                        <p:tgtEl>
                                          <p:spTgt spid="7480"/>
                                        </p:tgtEl>
                                      </p:cBhvr>
                                    </p:animEffect>
                                  </p:childTnLst>
                                </p:cTn>
                              </p:par>
                              <p:par>
                                <p:cTn fill="hold" nodeType="withEffect" presetClass="exit" presetID="10" presetSubtype="0">
                                  <p:stCondLst>
                                    <p:cond delay="0"/>
                                  </p:stCondLst>
                                  <p:childTnLst>
                                    <p:animEffect filter="fade" transition="out">
                                      <p:cBhvr>
                                        <p:cTn dur="500"/>
                                        <p:tgtEl>
                                          <p:spTgt spid="7507"/>
                                        </p:tgtEl>
                                      </p:cBhvr>
                                    </p:animEffect>
                                    <p:set>
                                      <p:cBhvr>
                                        <p:cTn dur="1" fill="hold">
                                          <p:stCondLst>
                                            <p:cond delay="500"/>
                                          </p:stCondLst>
                                        </p:cTn>
                                        <p:tgtEl>
                                          <p:spTgt spid="750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477"/>
                                        </p:tgtEl>
                                        <p:attrNameLst>
                                          <p:attrName>style.visibility</p:attrName>
                                        </p:attrNameLst>
                                      </p:cBhvr>
                                      <p:to>
                                        <p:strVal val="visible"/>
                                      </p:to>
                                    </p:set>
                                    <p:animEffect filter="fade" transition="in">
                                      <p:cBhvr>
                                        <p:cTn dur="500"/>
                                        <p:tgtEl>
                                          <p:spTgt spid="7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81"/>
                                        </p:tgtEl>
                                        <p:attrNameLst>
                                          <p:attrName>style.visibility</p:attrName>
                                        </p:attrNameLst>
                                      </p:cBhvr>
                                      <p:to>
                                        <p:strVal val="visible"/>
                                      </p:to>
                                    </p:set>
                                    <p:animEffect filter="fade" transition="in">
                                      <p:cBhvr>
                                        <p:cTn dur="500"/>
                                        <p:tgtEl>
                                          <p:spTgt spid="7481"/>
                                        </p:tgtEl>
                                      </p:cBhvr>
                                    </p:animEffect>
                                  </p:childTnLst>
                                </p:cTn>
                              </p:par>
                              <p:par>
                                <p:cTn fill="hold" nodeType="withEffect" presetClass="exit" presetID="10" presetSubtype="0">
                                  <p:stCondLst>
                                    <p:cond delay="0"/>
                                  </p:stCondLst>
                                  <p:childTnLst>
                                    <p:animEffect filter="fade" transition="out">
                                      <p:cBhvr>
                                        <p:cTn dur="500"/>
                                        <p:tgtEl>
                                          <p:spTgt spid="7512"/>
                                        </p:tgtEl>
                                      </p:cBhvr>
                                    </p:animEffect>
                                    <p:set>
                                      <p:cBhvr>
                                        <p:cTn dur="1" fill="hold">
                                          <p:stCondLst>
                                            <p:cond delay="500"/>
                                          </p:stCondLst>
                                        </p:cTn>
                                        <p:tgtEl>
                                          <p:spTgt spid="751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478"/>
                                        </p:tgtEl>
                                        <p:attrNameLst>
                                          <p:attrName>style.visibility</p:attrName>
                                        </p:attrNameLst>
                                      </p:cBhvr>
                                      <p:to>
                                        <p:strVal val="visible"/>
                                      </p:to>
                                    </p:set>
                                    <p:animEffect filter="fade" transition="in">
                                      <p:cBhvr>
                                        <p:cTn dur="500"/>
                                        <p:tgtEl>
                                          <p:spTgt spid="7478"/>
                                        </p:tgtEl>
                                      </p:cBhvr>
                                    </p:animEffect>
                                  </p:childTnLst>
                                </p:cTn>
                              </p:par>
                              <p:par>
                                <p:cTn fill="hold" nodeType="withEffect" presetClass="exit" presetID="10" presetSubtype="0">
                                  <p:stCondLst>
                                    <p:cond delay="0"/>
                                  </p:stCondLst>
                                  <p:childTnLst>
                                    <p:animEffect filter="fade" transition="out">
                                      <p:cBhvr>
                                        <p:cTn dur="500"/>
                                        <p:tgtEl>
                                          <p:spTgt spid="7476"/>
                                        </p:tgtEl>
                                      </p:cBhvr>
                                    </p:animEffect>
                                    <p:set>
                                      <p:cBhvr>
                                        <p:cTn dur="1" fill="hold">
                                          <p:stCondLst>
                                            <p:cond delay="500"/>
                                          </p:stCondLst>
                                        </p:cTn>
                                        <p:tgtEl>
                                          <p:spTgt spid="74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82"/>
                                        </p:tgtEl>
                                        <p:attrNameLst>
                                          <p:attrName>style.visibility</p:attrName>
                                        </p:attrNameLst>
                                      </p:cBhvr>
                                      <p:to>
                                        <p:strVal val="visible"/>
                                      </p:to>
                                    </p:set>
                                    <p:animEffect filter="fade" transition="in">
                                      <p:cBhvr>
                                        <p:cTn dur="500"/>
                                        <p:tgtEl>
                                          <p:spTgt spid="7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2" name="Shape 7522"/>
        <p:cNvGrpSpPr/>
        <p:nvPr/>
      </p:nvGrpSpPr>
      <p:grpSpPr>
        <a:xfrm>
          <a:off x="0" y="0"/>
          <a:ext cx="0" cy="0"/>
          <a:chOff x="0" y="0"/>
          <a:chExt cx="0" cy="0"/>
        </a:xfrm>
      </p:grpSpPr>
      <p:sp>
        <p:nvSpPr>
          <p:cNvPr id="7523" name="Google Shape;7523;p10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Application layer: overview</a:t>
            </a:r>
            <a:endParaRPr/>
          </a:p>
        </p:txBody>
      </p:sp>
      <p:sp>
        <p:nvSpPr>
          <p:cNvPr id="7524" name="Google Shape;7524;p109"/>
          <p:cNvSpPr txBox="1"/>
          <p:nvPr/>
        </p:nvSpPr>
        <p:spPr>
          <a:xfrm>
            <a:off x="809242" y="1870563"/>
            <a:ext cx="5309184" cy="4351338"/>
          </a:xfrm>
          <a:prstGeom prst="rect">
            <a:avLst/>
          </a:prstGeom>
          <a:noFill/>
          <a:ln>
            <a:noFill/>
          </a:ln>
        </p:spPr>
        <p:txBody>
          <a:bodyPr anchorCtr="0" anchor="t" bIns="45700" lIns="91425" spcFirstLastPara="1" rIns="91425" wrap="square" tIns="45700">
            <a:noAutofit/>
          </a:bodyPr>
          <a:lstStyle/>
          <a:p>
            <a:pPr indent="-401638" lvl="0" marL="401638" marR="0" rtl="0" algn="l">
              <a:lnSpc>
                <a:spcPct val="90000"/>
              </a:lnSpc>
              <a:spcBef>
                <a:spcPts val="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Principles of network applications</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Web and HTTP</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E-mail, SMTP, IMAP</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The Domain Name System DNS</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
        <p:nvSpPr>
          <p:cNvPr id="7525" name="Google Shape;7525;p109"/>
          <p:cNvSpPr txBox="1"/>
          <p:nvPr/>
        </p:nvSpPr>
        <p:spPr>
          <a:xfrm>
            <a:off x="6557554" y="1422888"/>
            <a:ext cx="5405262" cy="4799013"/>
          </a:xfrm>
          <a:prstGeom prst="rect">
            <a:avLst/>
          </a:prstGeom>
          <a:noFill/>
          <a:ln>
            <a:noFill/>
          </a:ln>
        </p:spPr>
        <p:txBody>
          <a:bodyPr anchorCtr="0" anchor="t" bIns="45700" lIns="91425" spcFirstLastPara="1" rIns="91425" wrap="square" tIns="45700">
            <a:normAutofit/>
          </a:bodyPr>
          <a:lstStyle/>
          <a:p>
            <a:pPr indent="-349250" lvl="0" marL="349250" marR="0" rtl="0" algn="l">
              <a:lnSpc>
                <a:spcPct val="90000"/>
              </a:lnSpc>
              <a:spcBef>
                <a:spcPts val="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P2P applications</a:t>
            </a:r>
            <a:endParaRPr/>
          </a:p>
          <a:p>
            <a:pPr indent="-349250" lvl="0" marL="349250" marR="0" rtl="0" algn="l">
              <a:lnSpc>
                <a:spcPct val="90000"/>
              </a:lnSpc>
              <a:spcBef>
                <a:spcPts val="1000"/>
              </a:spcBef>
              <a:spcAft>
                <a:spcPts val="0"/>
              </a:spcAft>
              <a:buClr>
                <a:srgbClr val="0000A8"/>
              </a:buClr>
              <a:buSzPts val="3200"/>
              <a:buFont typeface="Noto Sans Symbols"/>
              <a:buChar char="▪"/>
            </a:pPr>
            <a:r>
              <a:rPr lang="en-US" sz="3200">
                <a:solidFill>
                  <a:schemeClr val="dk1"/>
                </a:solidFill>
                <a:latin typeface="Calibri"/>
                <a:ea typeface="Calibri"/>
                <a:cs typeface="Calibri"/>
                <a:sym typeface="Calibri"/>
              </a:rPr>
              <a:t>video streaming and content distribution networks</a:t>
            </a:r>
            <a:endParaRPr/>
          </a:p>
          <a:p>
            <a:pPr indent="-349250" lvl="0" marL="349250"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socket programming with UDP and TCP</a:t>
            </a:r>
            <a:endParaRPr/>
          </a:p>
          <a:p>
            <a:pPr indent="-222250" lvl="0" marL="352425" marR="0" rtl="0" algn="l">
              <a:lnSpc>
                <a:spcPct val="90000"/>
              </a:lnSpc>
              <a:spcBef>
                <a:spcPts val="1000"/>
              </a:spcBef>
              <a:spcAft>
                <a:spcPts val="0"/>
              </a:spcAft>
              <a:buClr>
                <a:srgbClr val="0000A3"/>
              </a:buClr>
              <a:buSzPts val="2400"/>
              <a:buFont typeface="Noto Sans Symbols"/>
              <a:buNone/>
            </a:pPr>
            <a:r>
              <a:t/>
            </a:r>
            <a:endParaRPr sz="2400">
              <a:solidFill>
                <a:schemeClr val="dk1"/>
              </a:solidFill>
              <a:latin typeface="Calibri"/>
              <a:ea typeface="Calibri"/>
              <a:cs typeface="Calibri"/>
              <a:sym typeface="Calibri"/>
            </a:endParaRPr>
          </a:p>
        </p:txBody>
      </p:sp>
      <p:sp>
        <p:nvSpPr>
          <p:cNvPr id="7526" name="Google Shape;7526;p10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pic>
        <p:nvPicPr>
          <p:cNvPr descr="Kurose&amp;Ross 8th edition photo" id="7527" name="Google Shape;7527;p109"/>
          <p:cNvPicPr preferRelativeResize="0"/>
          <p:nvPr/>
        </p:nvPicPr>
        <p:blipFill rotWithShape="1">
          <a:blip r:embed="rId3">
            <a:alphaModFix/>
          </a:blip>
          <a:srcRect b="0" l="0" r="0" t="0"/>
          <a:stretch/>
        </p:blipFill>
        <p:spPr>
          <a:xfrm>
            <a:off x="6957391" y="4125913"/>
            <a:ext cx="3087757" cy="2315818"/>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2" name="Shape 7532"/>
        <p:cNvGrpSpPr/>
        <p:nvPr/>
      </p:nvGrpSpPr>
      <p:grpSpPr>
        <a:xfrm>
          <a:off x="0" y="0"/>
          <a:ext cx="0" cy="0"/>
          <a:chOff x="0" y="0"/>
          <a:chExt cx="0" cy="0"/>
        </a:xfrm>
      </p:grpSpPr>
      <p:sp>
        <p:nvSpPr>
          <p:cNvPr id="7533" name="Google Shape;7533;p11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Video Streaming and CDNs: context</a:t>
            </a:r>
            <a:endParaRPr/>
          </a:p>
        </p:txBody>
      </p:sp>
      <p:sp>
        <p:nvSpPr>
          <p:cNvPr id="7534" name="Google Shape;7534;p110"/>
          <p:cNvSpPr/>
          <p:nvPr/>
        </p:nvSpPr>
        <p:spPr>
          <a:xfrm>
            <a:off x="703683" y="1676400"/>
            <a:ext cx="8448901" cy="894623"/>
          </a:xfrm>
          <a:prstGeom prst="rect">
            <a:avLst/>
          </a:prstGeom>
          <a:noFill/>
          <a:ln>
            <a:noFill/>
          </a:ln>
        </p:spPr>
        <p:txBody>
          <a:bodyPr anchorCtr="0" anchor="t" bIns="45700" lIns="91425" spcFirstLastPara="1" rIns="91425" wrap="square" tIns="45700">
            <a:noAutofit/>
          </a:bodyPr>
          <a:lstStyle/>
          <a:p>
            <a:pPr indent="-165100" lvl="0" marL="342900" marR="0" rtl="0" algn="l">
              <a:spcBef>
                <a:spcPts val="0"/>
              </a:spcBef>
              <a:spcAft>
                <a:spcPts val="0"/>
              </a:spcAft>
              <a:buClr>
                <a:srgbClr val="000099"/>
              </a:buClr>
              <a:buSzPts val="2800"/>
              <a:buFont typeface="Noto Sans Symbols"/>
              <a:buNone/>
            </a:pPr>
            <a:r>
              <a:t/>
            </a:r>
            <a:endParaRPr sz="2800">
              <a:solidFill>
                <a:schemeClr val="dk1"/>
              </a:solidFill>
              <a:latin typeface="Calibri"/>
              <a:ea typeface="Calibri"/>
              <a:cs typeface="Calibri"/>
              <a:sym typeface="Calibri"/>
            </a:endParaRPr>
          </a:p>
        </p:txBody>
      </p:sp>
      <p:sp>
        <p:nvSpPr>
          <p:cNvPr id="7535" name="Google Shape;7535;p110"/>
          <p:cNvSpPr/>
          <p:nvPr/>
        </p:nvSpPr>
        <p:spPr>
          <a:xfrm>
            <a:off x="939800" y="1452782"/>
            <a:ext cx="9225965" cy="4821237"/>
          </a:xfrm>
          <a:prstGeom prst="rect">
            <a:avLst/>
          </a:prstGeom>
          <a:noFill/>
          <a:ln>
            <a:noFill/>
          </a:ln>
        </p:spPr>
        <p:txBody>
          <a:bodyPr anchorCtr="0" anchor="t" bIns="45700" lIns="91425" spcFirstLastPara="1" rIns="91425" wrap="square" tIns="45700">
            <a:noAutofit/>
          </a:bodyPr>
          <a:lstStyle/>
          <a:p>
            <a:pPr indent="-341313" lvl="0" marL="357188" marR="0" rtl="0" algn="l">
              <a:spcBef>
                <a:spcPts val="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stream video traffic: major consumer of Internet bandwidth</a:t>
            </a:r>
            <a:endParaRPr/>
          </a:p>
          <a:p>
            <a:pPr indent="-223837" lvl="1" marL="681038" marR="0" rtl="0" algn="l">
              <a:spcBef>
                <a:spcPts val="0"/>
              </a:spcBef>
              <a:spcAft>
                <a:spcPts val="0"/>
              </a:spcAft>
              <a:buClr>
                <a:srgbClr val="000099"/>
              </a:buClr>
              <a:buSzPts val="2800"/>
              <a:buFont typeface="Arial"/>
              <a:buChar char="•"/>
            </a:pPr>
            <a:r>
              <a:rPr b="0" i="0" lang="en-US" sz="2800" u="none" cap="none" strike="noStrike">
                <a:solidFill>
                  <a:schemeClr val="dk1"/>
                </a:solidFill>
                <a:latin typeface="Calibri"/>
                <a:ea typeface="Calibri"/>
                <a:cs typeface="Calibri"/>
                <a:sym typeface="Calibri"/>
              </a:rPr>
              <a:t>Netflix, YouTube, Amazon Prime: 80% of residential ISP traffic </a:t>
            </a:r>
            <a:r>
              <a:rPr b="0" i="0" lang="en-US" sz="2000" u="none" cap="none" strike="noStrike">
                <a:solidFill>
                  <a:schemeClr val="dk1"/>
                </a:solidFill>
                <a:latin typeface="Calibri"/>
                <a:ea typeface="Calibri"/>
                <a:cs typeface="Calibri"/>
                <a:sym typeface="Calibri"/>
              </a:rPr>
              <a:t>(2020)</a:t>
            </a:r>
            <a:endParaRPr/>
          </a:p>
          <a:p>
            <a:pPr indent="-342900" lvl="0" marL="342900" marR="0" rtl="0" algn="l">
              <a:spcBef>
                <a:spcPts val="0"/>
              </a:spcBef>
              <a:spcAft>
                <a:spcPts val="0"/>
              </a:spcAft>
              <a:buClr>
                <a:srgbClr val="000099"/>
              </a:buClr>
              <a:buSzPts val="3200"/>
              <a:buFont typeface="Noto Sans Symbols"/>
              <a:buChar char="▪"/>
            </a:pPr>
            <a:r>
              <a:rPr lang="en-US" sz="3200">
                <a:solidFill>
                  <a:schemeClr val="dk1"/>
                </a:solidFill>
                <a:latin typeface="Calibri"/>
                <a:ea typeface="Calibri"/>
                <a:cs typeface="Calibri"/>
                <a:sym typeface="Calibri"/>
              </a:rPr>
              <a:t>challenge:  scale - how to reach ~1B users?</a:t>
            </a:r>
            <a:endParaRPr sz="2800">
              <a:solidFill>
                <a:schemeClr val="dk1"/>
              </a:solidFill>
              <a:latin typeface="Calibri"/>
              <a:ea typeface="Calibri"/>
              <a:cs typeface="Calibri"/>
              <a:sym typeface="Calibri"/>
            </a:endParaRPr>
          </a:p>
          <a:p>
            <a:pPr indent="-223837" lvl="1" marL="681038" marR="0" rtl="0" algn="l">
              <a:spcBef>
                <a:spcPts val="0"/>
              </a:spcBef>
              <a:spcAft>
                <a:spcPts val="0"/>
              </a:spcAft>
              <a:buClr>
                <a:srgbClr val="000099"/>
              </a:buClr>
              <a:buSzPts val="2800"/>
              <a:buFont typeface="Arial"/>
              <a:buChar char="•"/>
            </a:pPr>
            <a:r>
              <a:rPr b="0" i="0" lang="en-US" sz="2800" u="none" cap="none" strike="noStrike">
                <a:solidFill>
                  <a:schemeClr val="dk1"/>
                </a:solidFill>
                <a:latin typeface="Calibri"/>
                <a:ea typeface="Calibri"/>
                <a:cs typeface="Calibri"/>
                <a:sym typeface="Calibri"/>
              </a:rPr>
              <a:t>single mega-video server won’t work (why?)</a:t>
            </a:r>
            <a:endParaRPr/>
          </a:p>
          <a:p>
            <a:pPr indent="-342900" lvl="0" marL="342900" marR="0" rtl="0" algn="l">
              <a:spcBef>
                <a:spcPts val="0"/>
              </a:spcBef>
              <a:spcAft>
                <a:spcPts val="0"/>
              </a:spcAft>
              <a:buClr>
                <a:srgbClr val="000099"/>
              </a:buClr>
              <a:buSzPts val="3200"/>
              <a:buFont typeface="Noto Sans Symbols"/>
              <a:buChar char="▪"/>
            </a:pPr>
            <a:r>
              <a:rPr lang="en-US" sz="3200">
                <a:solidFill>
                  <a:schemeClr val="dk1"/>
                </a:solidFill>
                <a:latin typeface="Calibri"/>
                <a:ea typeface="Calibri"/>
                <a:cs typeface="Calibri"/>
                <a:sym typeface="Calibri"/>
              </a:rPr>
              <a:t>challenge: heterogeneity</a:t>
            </a:r>
            <a:endParaRPr/>
          </a:p>
          <a:p>
            <a:pPr indent="-223837" lvl="1" marL="681038" marR="0" rtl="0" algn="l">
              <a:spcBef>
                <a:spcPts val="0"/>
              </a:spcBef>
              <a:spcAft>
                <a:spcPts val="0"/>
              </a:spcAft>
              <a:buClr>
                <a:srgbClr val="000099"/>
              </a:buClr>
              <a:buSzPts val="2800"/>
              <a:buFont typeface="Noto Sans Symbols"/>
              <a:buChar char="▪"/>
            </a:pPr>
            <a:r>
              <a:rPr b="0" i="0" lang="en-US" sz="2800" u="none" cap="none" strike="noStrike">
                <a:solidFill>
                  <a:schemeClr val="dk1"/>
                </a:solidFill>
                <a:latin typeface="Calibri"/>
                <a:ea typeface="Calibri"/>
                <a:cs typeface="Calibri"/>
                <a:sym typeface="Calibri"/>
              </a:rPr>
              <a:t>different users have different capabilities (e.g., wired versus mobile; bandwidth rich versus bandwidth poor)</a:t>
            </a:r>
            <a:endParaRPr/>
          </a:p>
          <a:p>
            <a:pPr indent="-342900" lvl="0" marL="342900" marR="0" rtl="0" algn="l">
              <a:spcBef>
                <a:spcPts val="0"/>
              </a:spcBef>
              <a:spcAft>
                <a:spcPts val="0"/>
              </a:spcAft>
              <a:buClr>
                <a:srgbClr val="000099"/>
              </a:buClr>
              <a:buSzPts val="3200"/>
              <a:buFont typeface="Noto Sans Symbols"/>
              <a:buChar char="▪"/>
            </a:pPr>
            <a:r>
              <a:rPr i="1" lang="en-US" sz="3200">
                <a:solidFill>
                  <a:srgbClr val="CC0000"/>
                </a:solidFill>
                <a:latin typeface="Calibri"/>
                <a:ea typeface="Calibri"/>
                <a:cs typeface="Calibri"/>
                <a:sym typeface="Calibri"/>
              </a:rPr>
              <a:t>solution: </a:t>
            </a:r>
            <a:r>
              <a:rPr i="1" lang="en-US" sz="3200">
                <a:solidFill>
                  <a:srgbClr val="C00000"/>
                </a:solidFill>
                <a:latin typeface="Calibri"/>
                <a:ea typeface="Calibri"/>
                <a:cs typeface="Calibri"/>
                <a:sym typeface="Calibri"/>
              </a:rPr>
              <a:t>distributed, application-level infrastructure</a:t>
            </a:r>
            <a:endParaRPr/>
          </a:p>
        </p:txBody>
      </p:sp>
      <p:grpSp>
        <p:nvGrpSpPr>
          <p:cNvPr id="7536" name="Google Shape;7536;p110"/>
          <p:cNvGrpSpPr/>
          <p:nvPr/>
        </p:nvGrpSpPr>
        <p:grpSpPr>
          <a:xfrm>
            <a:off x="9518829" y="990600"/>
            <a:ext cx="2671762" cy="4033838"/>
            <a:chOff x="9219616" y="1676400"/>
            <a:chExt cx="2671762" cy="4033838"/>
          </a:xfrm>
        </p:grpSpPr>
        <p:pic>
          <p:nvPicPr>
            <p:cNvPr id="7537" name="Google Shape;7537;p110"/>
            <p:cNvPicPr preferRelativeResize="0"/>
            <p:nvPr/>
          </p:nvPicPr>
          <p:blipFill rotWithShape="1">
            <a:blip r:embed="rId3">
              <a:alphaModFix/>
            </a:blip>
            <a:srcRect b="0" l="0" r="0" t="0"/>
            <a:stretch/>
          </p:blipFill>
          <p:spPr>
            <a:xfrm>
              <a:off x="9219616" y="3865563"/>
              <a:ext cx="2671762" cy="1495425"/>
            </a:xfrm>
            <a:prstGeom prst="rect">
              <a:avLst/>
            </a:prstGeom>
            <a:noFill/>
            <a:ln>
              <a:noFill/>
            </a:ln>
          </p:spPr>
        </p:pic>
        <p:pic>
          <p:nvPicPr>
            <p:cNvPr id="7538" name="Google Shape;7538;p110"/>
            <p:cNvPicPr preferRelativeResize="0"/>
            <p:nvPr/>
          </p:nvPicPr>
          <p:blipFill rotWithShape="1">
            <a:blip r:embed="rId4">
              <a:alphaModFix/>
            </a:blip>
            <a:srcRect b="0" l="0" r="0" t="0"/>
            <a:stretch/>
          </p:blipFill>
          <p:spPr>
            <a:xfrm>
              <a:off x="9641891" y="1676400"/>
              <a:ext cx="1779587" cy="1104900"/>
            </a:xfrm>
            <a:prstGeom prst="rect">
              <a:avLst/>
            </a:prstGeom>
            <a:noFill/>
            <a:ln>
              <a:noFill/>
            </a:ln>
          </p:spPr>
        </p:pic>
        <p:pic>
          <p:nvPicPr>
            <p:cNvPr id="7539" name="Google Shape;7539;p110"/>
            <p:cNvPicPr preferRelativeResize="0"/>
            <p:nvPr/>
          </p:nvPicPr>
          <p:blipFill rotWithShape="1">
            <a:blip r:embed="rId5">
              <a:alphaModFix/>
            </a:blip>
            <a:srcRect b="0" l="0" r="0" t="0"/>
            <a:stretch/>
          </p:blipFill>
          <p:spPr>
            <a:xfrm>
              <a:off x="10002253" y="2740025"/>
              <a:ext cx="1227138" cy="569913"/>
            </a:xfrm>
            <a:prstGeom prst="rect">
              <a:avLst/>
            </a:prstGeom>
            <a:noFill/>
            <a:ln>
              <a:noFill/>
            </a:ln>
          </p:spPr>
        </p:pic>
        <p:pic>
          <p:nvPicPr>
            <p:cNvPr id="7540" name="Google Shape;7540;p110"/>
            <p:cNvPicPr preferRelativeResize="0"/>
            <p:nvPr/>
          </p:nvPicPr>
          <p:blipFill rotWithShape="1">
            <a:blip r:embed="rId6">
              <a:alphaModFix/>
            </a:blip>
            <a:srcRect b="0" l="0" r="0" t="0"/>
            <a:stretch/>
          </p:blipFill>
          <p:spPr>
            <a:xfrm>
              <a:off x="10008603" y="3571875"/>
              <a:ext cx="1211263" cy="401638"/>
            </a:xfrm>
            <a:prstGeom prst="rect">
              <a:avLst/>
            </a:prstGeom>
            <a:noFill/>
            <a:ln>
              <a:noFill/>
            </a:ln>
          </p:spPr>
        </p:pic>
        <p:pic>
          <p:nvPicPr>
            <p:cNvPr id="7541" name="Google Shape;7541;p110"/>
            <p:cNvPicPr preferRelativeResize="0"/>
            <p:nvPr/>
          </p:nvPicPr>
          <p:blipFill rotWithShape="1">
            <a:blip r:embed="rId7">
              <a:alphaModFix/>
            </a:blip>
            <a:srcRect b="0" l="0" r="0" t="0"/>
            <a:stretch/>
          </p:blipFill>
          <p:spPr>
            <a:xfrm>
              <a:off x="9989553" y="5002213"/>
              <a:ext cx="1501775" cy="708025"/>
            </a:xfrm>
            <a:prstGeom prst="rect">
              <a:avLst/>
            </a:prstGeom>
            <a:noFill/>
            <a:ln>
              <a:noFill/>
            </a:ln>
          </p:spPr>
        </p:pic>
      </p:grpSp>
      <p:sp>
        <p:nvSpPr>
          <p:cNvPr id="7542" name="Google Shape;7542;p1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7" name="Shape 7547"/>
        <p:cNvGrpSpPr/>
        <p:nvPr/>
      </p:nvGrpSpPr>
      <p:grpSpPr>
        <a:xfrm>
          <a:off x="0" y="0"/>
          <a:ext cx="0" cy="0"/>
          <a:chOff x="0" y="0"/>
          <a:chExt cx="0" cy="0"/>
        </a:xfrm>
      </p:grpSpPr>
      <p:sp>
        <p:nvSpPr>
          <p:cNvPr id="7548" name="Google Shape;7548;p11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Multimedia: video</a:t>
            </a:r>
            <a:endParaRPr/>
          </a:p>
        </p:txBody>
      </p:sp>
      <p:sp>
        <p:nvSpPr>
          <p:cNvPr id="7549" name="Google Shape;7549;p111"/>
          <p:cNvSpPr txBox="1"/>
          <p:nvPr/>
        </p:nvSpPr>
        <p:spPr>
          <a:xfrm>
            <a:off x="864007" y="1452894"/>
            <a:ext cx="5710237" cy="490855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video: sequence of images displayed at constant rate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e.g., 24 images/sec</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digital image: array of pixels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each pixel represented by bits</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coding: use redundancy </a:t>
            </a:r>
            <a:r>
              <a:rPr i="1" lang="en-US" sz="2800">
                <a:solidFill>
                  <a:srgbClr val="CC0000"/>
                </a:solidFill>
                <a:latin typeface="Calibri"/>
                <a:ea typeface="Calibri"/>
                <a:cs typeface="Calibri"/>
                <a:sym typeface="Calibri"/>
              </a:rPr>
              <a:t>within</a:t>
            </a:r>
            <a:r>
              <a:rPr lang="en-US" sz="2800">
                <a:solidFill>
                  <a:schemeClr val="dk1"/>
                </a:solidFill>
                <a:latin typeface="Calibri"/>
                <a:ea typeface="Calibri"/>
                <a:cs typeface="Calibri"/>
                <a:sym typeface="Calibri"/>
              </a:rPr>
              <a:t> and </a:t>
            </a:r>
            <a:r>
              <a:rPr i="1" lang="en-US" sz="2800">
                <a:solidFill>
                  <a:srgbClr val="CC0000"/>
                </a:solidFill>
                <a:latin typeface="Calibri"/>
                <a:ea typeface="Calibri"/>
                <a:cs typeface="Calibri"/>
                <a:sym typeface="Calibri"/>
              </a:rPr>
              <a:t>between</a:t>
            </a:r>
            <a:r>
              <a:rPr lang="en-US" sz="2800">
                <a:solidFill>
                  <a:srgbClr val="CC0000"/>
                </a:solidFill>
                <a:latin typeface="Calibri"/>
                <a:ea typeface="Calibri"/>
                <a:cs typeface="Calibri"/>
                <a:sym typeface="Calibri"/>
              </a:rPr>
              <a:t> </a:t>
            </a:r>
            <a:r>
              <a:rPr lang="en-US" sz="2800">
                <a:solidFill>
                  <a:schemeClr val="dk1"/>
                </a:solidFill>
                <a:latin typeface="Calibri"/>
                <a:ea typeface="Calibri"/>
                <a:cs typeface="Calibri"/>
                <a:sym typeface="Calibri"/>
              </a:rPr>
              <a:t>images to decrease # bits used to encode image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spatial (within image)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temporal (from one image to next)</a:t>
            </a:r>
            <a:endParaRPr/>
          </a:p>
        </p:txBody>
      </p:sp>
      <p:grpSp>
        <p:nvGrpSpPr>
          <p:cNvPr id="7550" name="Google Shape;7550;p111"/>
          <p:cNvGrpSpPr/>
          <p:nvPr/>
        </p:nvGrpSpPr>
        <p:grpSpPr>
          <a:xfrm>
            <a:off x="6722609" y="562768"/>
            <a:ext cx="4416425" cy="5732463"/>
            <a:chOff x="4338638" y="295275"/>
            <a:chExt cx="4417210" cy="5732463"/>
          </a:xfrm>
        </p:grpSpPr>
        <p:pic>
          <p:nvPicPr>
            <p:cNvPr id="7551" name="Google Shape;7551;p111"/>
            <p:cNvPicPr preferRelativeResize="0"/>
            <p:nvPr/>
          </p:nvPicPr>
          <p:blipFill rotWithShape="1">
            <a:blip r:embed="rId3">
              <a:alphaModFix/>
            </a:blip>
            <a:srcRect b="0" l="0" r="0" t="0"/>
            <a:stretch/>
          </p:blipFill>
          <p:spPr>
            <a:xfrm>
              <a:off x="5387975" y="1749425"/>
              <a:ext cx="1642963" cy="1860574"/>
            </a:xfrm>
            <a:prstGeom prst="rect">
              <a:avLst/>
            </a:prstGeom>
            <a:noFill/>
            <a:ln>
              <a:noFill/>
            </a:ln>
          </p:spPr>
        </p:pic>
        <p:grpSp>
          <p:nvGrpSpPr>
            <p:cNvPr id="7552" name="Google Shape;7552;p111"/>
            <p:cNvGrpSpPr/>
            <p:nvPr/>
          </p:nvGrpSpPr>
          <p:grpSpPr>
            <a:xfrm>
              <a:off x="5345113" y="295275"/>
              <a:ext cx="3275012" cy="1730347"/>
              <a:chOff x="5345311" y="524250"/>
              <a:chExt cx="3274238" cy="1730214"/>
            </a:xfrm>
          </p:grpSpPr>
          <p:sp>
            <p:nvSpPr>
              <p:cNvPr id="7553" name="Google Shape;7553;p111"/>
              <p:cNvSpPr txBox="1"/>
              <p:nvPr/>
            </p:nvSpPr>
            <p:spPr>
              <a:xfrm>
                <a:off x="5345311" y="1789936"/>
                <a:ext cx="1856071" cy="3693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C0000"/>
                    </a:solidFill>
                    <a:latin typeface="Arial Narrow"/>
                    <a:ea typeface="Arial Narrow"/>
                    <a:cs typeface="Arial Narrow"/>
                    <a:sym typeface="Arial Narrow"/>
                  </a:rPr>
                  <a:t>……………………..</a:t>
                </a:r>
                <a:endParaRPr/>
              </a:p>
            </p:txBody>
          </p:sp>
          <p:sp>
            <p:nvSpPr>
              <p:cNvPr id="7554" name="Google Shape;7554;p111"/>
              <p:cNvSpPr txBox="1"/>
              <p:nvPr/>
            </p:nvSpPr>
            <p:spPr>
              <a:xfrm>
                <a:off x="5808125" y="524250"/>
                <a:ext cx="2811424"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rgbClr val="CC0000"/>
                    </a:solidFill>
                    <a:latin typeface="Arial"/>
                    <a:ea typeface="Arial"/>
                    <a:cs typeface="Arial"/>
                    <a:sym typeface="Arial"/>
                  </a:rPr>
                  <a:t>spatial coding example: </a:t>
                </a:r>
                <a:r>
                  <a:rPr lang="en-US" sz="1400">
                    <a:solidFill>
                      <a:schemeClr val="dk1"/>
                    </a:solidFill>
                    <a:latin typeface="Arial"/>
                    <a:ea typeface="Arial"/>
                    <a:cs typeface="Arial"/>
                    <a:sym typeface="Arial"/>
                  </a:rPr>
                  <a:t>instead of sending</a:t>
                </a:r>
                <a:r>
                  <a:rPr i="1" lang="en-US" sz="1400">
                    <a:solidFill>
                      <a:schemeClr val="dk1"/>
                    </a:solidFill>
                    <a:latin typeface="Arial"/>
                    <a:ea typeface="Arial"/>
                    <a:cs typeface="Arial"/>
                    <a:sym typeface="Arial"/>
                  </a:rPr>
                  <a:t> N </a:t>
                </a:r>
                <a:r>
                  <a:rPr lang="en-US" sz="1400">
                    <a:solidFill>
                      <a:schemeClr val="dk1"/>
                    </a:solidFill>
                    <a:latin typeface="Arial"/>
                    <a:ea typeface="Arial"/>
                    <a:cs typeface="Arial"/>
                    <a:sym typeface="Arial"/>
                  </a:rPr>
                  <a:t>values of same color (all purple), send only two values: color  value (</a:t>
                </a:r>
                <a:r>
                  <a:rPr i="1" lang="en-US" sz="1400">
                    <a:solidFill>
                      <a:schemeClr val="dk1"/>
                    </a:solidFill>
                    <a:latin typeface="Arial"/>
                    <a:ea typeface="Arial"/>
                    <a:cs typeface="Arial"/>
                    <a:sym typeface="Arial"/>
                  </a:rPr>
                  <a:t>purple)  and number of repeated values (</a:t>
                </a:r>
                <a:r>
                  <a:rPr lang="en-US" sz="1400">
                    <a:solidFill>
                      <a:schemeClr val="dk1"/>
                    </a:solidFill>
                    <a:latin typeface="Arial"/>
                    <a:ea typeface="Arial"/>
                    <a:cs typeface="Arial"/>
                    <a:sym typeface="Arial"/>
                  </a:rPr>
                  <a:t>N)</a:t>
                </a:r>
                <a:endParaRPr/>
              </a:p>
            </p:txBody>
          </p:sp>
          <p:sp>
            <p:nvSpPr>
              <p:cNvPr id="7555" name="Google Shape;7555;p111"/>
              <p:cNvSpPr txBox="1"/>
              <p:nvPr/>
            </p:nvSpPr>
            <p:spPr>
              <a:xfrm>
                <a:off x="5354771" y="1885160"/>
                <a:ext cx="1803448" cy="3693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C0000"/>
                    </a:solidFill>
                    <a:latin typeface="Arial Narrow"/>
                    <a:ea typeface="Arial Narrow"/>
                    <a:cs typeface="Arial Narrow"/>
                    <a:sym typeface="Arial Narrow"/>
                  </a:rPr>
                  <a:t>……………….…….</a:t>
                </a:r>
                <a:endParaRPr/>
              </a:p>
            </p:txBody>
          </p:sp>
          <p:cxnSp>
            <p:nvCxnSpPr>
              <p:cNvPr id="7556" name="Google Shape;7556;p111"/>
              <p:cNvCxnSpPr/>
              <p:nvPr/>
            </p:nvCxnSpPr>
            <p:spPr>
              <a:xfrm flipH="1">
                <a:off x="5565603" y="756253"/>
                <a:ext cx="313958" cy="1155782"/>
              </a:xfrm>
              <a:prstGeom prst="straightConnector1">
                <a:avLst/>
              </a:prstGeom>
              <a:noFill/>
              <a:ln cap="flat" cmpd="sng" w="9525">
                <a:solidFill>
                  <a:srgbClr val="CC0000"/>
                </a:solidFill>
                <a:prstDash val="solid"/>
                <a:round/>
                <a:headEnd len="med" w="med" type="none"/>
                <a:tailEnd len="med" w="med" type="none"/>
              </a:ln>
            </p:spPr>
          </p:cxnSp>
        </p:grpSp>
        <p:sp>
          <p:nvSpPr>
            <p:cNvPr id="7557" name="Google Shape;7557;p111"/>
            <p:cNvSpPr txBox="1"/>
            <p:nvPr/>
          </p:nvSpPr>
          <p:spPr>
            <a:xfrm>
              <a:off x="5323721" y="3654665"/>
              <a:ext cx="93345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C0000"/>
                  </a:solidFill>
                  <a:latin typeface="Arial"/>
                  <a:ea typeface="Arial"/>
                  <a:cs typeface="Arial"/>
                  <a:sym typeface="Arial"/>
                </a:rPr>
                <a:t>frame</a:t>
              </a:r>
              <a:r>
                <a:rPr i="1" lang="en-US" sz="1800">
                  <a:solidFill>
                    <a:srgbClr val="CC0000"/>
                  </a:solidFill>
                  <a:latin typeface="Arial"/>
                  <a:ea typeface="Arial"/>
                  <a:cs typeface="Arial"/>
                  <a:sym typeface="Arial"/>
                </a:rPr>
                <a:t> i</a:t>
              </a:r>
              <a:endParaRPr/>
            </a:p>
          </p:txBody>
        </p:sp>
        <p:sp>
          <p:nvSpPr>
            <p:cNvPr id="7558" name="Google Shape;7558;p111"/>
            <p:cNvSpPr txBox="1"/>
            <p:nvPr/>
          </p:nvSpPr>
          <p:spPr>
            <a:xfrm>
              <a:off x="7051858" y="5611091"/>
              <a:ext cx="1196975"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C0000"/>
                  </a:solidFill>
                  <a:latin typeface="Arial"/>
                  <a:ea typeface="Arial"/>
                  <a:cs typeface="Arial"/>
                  <a:sym typeface="Arial"/>
                </a:rPr>
                <a:t>frame</a:t>
              </a:r>
              <a:r>
                <a:rPr i="1" lang="en-US" sz="1800">
                  <a:solidFill>
                    <a:srgbClr val="CC0000"/>
                  </a:solidFill>
                  <a:latin typeface="Arial"/>
                  <a:ea typeface="Arial"/>
                  <a:cs typeface="Arial"/>
                  <a:sym typeface="Arial"/>
                </a:rPr>
                <a:t> i+1</a:t>
              </a:r>
              <a:endParaRPr/>
            </a:p>
          </p:txBody>
        </p:sp>
        <p:sp>
          <p:nvSpPr>
            <p:cNvPr id="7559" name="Google Shape;7559;p111"/>
            <p:cNvSpPr txBox="1"/>
            <p:nvPr/>
          </p:nvSpPr>
          <p:spPr>
            <a:xfrm>
              <a:off x="4338638" y="4857750"/>
              <a:ext cx="2278062" cy="1169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rgbClr val="CC0000"/>
                  </a:solidFill>
                  <a:latin typeface="Arial"/>
                  <a:ea typeface="Arial"/>
                  <a:cs typeface="Arial"/>
                  <a:sym typeface="Arial"/>
                </a:rPr>
                <a:t>temporal coding example: </a:t>
              </a:r>
              <a:r>
                <a:rPr lang="en-US" sz="1400">
                  <a:solidFill>
                    <a:schemeClr val="dk1"/>
                  </a:solidFill>
                  <a:latin typeface="Arial"/>
                  <a:ea typeface="Arial"/>
                  <a:cs typeface="Arial"/>
                  <a:sym typeface="Arial"/>
                </a:rPr>
                <a:t>instead of sending complete frame at i+1, send only differences from frame i</a:t>
              </a:r>
              <a:endParaRPr/>
            </a:p>
          </p:txBody>
        </p:sp>
        <p:cxnSp>
          <p:nvCxnSpPr>
            <p:cNvPr id="7560" name="Google Shape;7560;p111"/>
            <p:cNvCxnSpPr/>
            <p:nvPr/>
          </p:nvCxnSpPr>
          <p:spPr>
            <a:xfrm>
              <a:off x="5972518" y="4021445"/>
              <a:ext cx="1013060" cy="1783949"/>
            </a:xfrm>
            <a:prstGeom prst="straightConnector1">
              <a:avLst/>
            </a:prstGeom>
            <a:noFill/>
            <a:ln cap="flat" cmpd="sng" w="9525">
              <a:solidFill>
                <a:srgbClr val="CC0000"/>
              </a:solidFill>
              <a:prstDash val="solid"/>
              <a:round/>
              <a:headEnd len="med" w="med" type="none"/>
              <a:tailEnd len="med" w="med" type="triangle"/>
            </a:ln>
          </p:spPr>
        </p:cxnSp>
        <p:pic>
          <p:nvPicPr>
            <p:cNvPr id="7561" name="Google Shape;7561;p111"/>
            <p:cNvPicPr preferRelativeResize="0"/>
            <p:nvPr/>
          </p:nvPicPr>
          <p:blipFill rotWithShape="1">
            <a:blip r:embed="rId3">
              <a:alphaModFix/>
            </a:blip>
            <a:srcRect b="0" l="0" r="0" t="0"/>
            <a:stretch/>
          </p:blipFill>
          <p:spPr>
            <a:xfrm>
              <a:off x="7112885" y="3806720"/>
              <a:ext cx="1642963" cy="1860574"/>
            </a:xfrm>
            <a:prstGeom prst="rect">
              <a:avLst/>
            </a:prstGeom>
            <a:noFill/>
            <a:ln>
              <a:noFill/>
            </a:ln>
          </p:spPr>
        </p:pic>
      </p:grpSp>
      <p:sp>
        <p:nvSpPr>
          <p:cNvPr id="7562" name="Google Shape;7562;p1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7" name="Shape 7567"/>
        <p:cNvGrpSpPr/>
        <p:nvPr/>
      </p:nvGrpSpPr>
      <p:grpSpPr>
        <a:xfrm>
          <a:off x="0" y="0"/>
          <a:ext cx="0" cy="0"/>
          <a:chOff x="0" y="0"/>
          <a:chExt cx="0" cy="0"/>
        </a:xfrm>
      </p:grpSpPr>
      <p:sp>
        <p:nvSpPr>
          <p:cNvPr id="7568" name="Google Shape;7568;p11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Multimedia: video</a:t>
            </a:r>
            <a:endParaRPr/>
          </a:p>
        </p:txBody>
      </p:sp>
      <p:grpSp>
        <p:nvGrpSpPr>
          <p:cNvPr id="7569" name="Google Shape;7569;p112"/>
          <p:cNvGrpSpPr/>
          <p:nvPr/>
        </p:nvGrpSpPr>
        <p:grpSpPr>
          <a:xfrm>
            <a:off x="6722609" y="562768"/>
            <a:ext cx="4416425" cy="5732463"/>
            <a:chOff x="4338638" y="295275"/>
            <a:chExt cx="4417210" cy="5732463"/>
          </a:xfrm>
        </p:grpSpPr>
        <p:pic>
          <p:nvPicPr>
            <p:cNvPr id="7570" name="Google Shape;7570;p112"/>
            <p:cNvPicPr preferRelativeResize="0"/>
            <p:nvPr/>
          </p:nvPicPr>
          <p:blipFill rotWithShape="1">
            <a:blip r:embed="rId3">
              <a:alphaModFix/>
            </a:blip>
            <a:srcRect b="0" l="0" r="0" t="0"/>
            <a:stretch/>
          </p:blipFill>
          <p:spPr>
            <a:xfrm>
              <a:off x="5387975" y="1749425"/>
              <a:ext cx="1642963" cy="1860574"/>
            </a:xfrm>
            <a:prstGeom prst="rect">
              <a:avLst/>
            </a:prstGeom>
            <a:noFill/>
            <a:ln>
              <a:noFill/>
            </a:ln>
          </p:spPr>
        </p:pic>
        <p:grpSp>
          <p:nvGrpSpPr>
            <p:cNvPr id="7571" name="Google Shape;7571;p112"/>
            <p:cNvGrpSpPr/>
            <p:nvPr/>
          </p:nvGrpSpPr>
          <p:grpSpPr>
            <a:xfrm>
              <a:off x="5345113" y="295275"/>
              <a:ext cx="3275012" cy="1730347"/>
              <a:chOff x="5345311" y="524250"/>
              <a:chExt cx="3274238" cy="1730214"/>
            </a:xfrm>
          </p:grpSpPr>
          <p:sp>
            <p:nvSpPr>
              <p:cNvPr id="7572" name="Google Shape;7572;p112"/>
              <p:cNvSpPr txBox="1"/>
              <p:nvPr/>
            </p:nvSpPr>
            <p:spPr>
              <a:xfrm>
                <a:off x="5345311" y="1789936"/>
                <a:ext cx="1856071" cy="3693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C0000"/>
                    </a:solidFill>
                    <a:latin typeface="Arial Narrow"/>
                    <a:ea typeface="Arial Narrow"/>
                    <a:cs typeface="Arial Narrow"/>
                    <a:sym typeface="Arial Narrow"/>
                  </a:rPr>
                  <a:t>……………………..</a:t>
                </a:r>
                <a:endParaRPr/>
              </a:p>
            </p:txBody>
          </p:sp>
          <p:sp>
            <p:nvSpPr>
              <p:cNvPr id="7573" name="Google Shape;7573;p112"/>
              <p:cNvSpPr txBox="1"/>
              <p:nvPr/>
            </p:nvSpPr>
            <p:spPr>
              <a:xfrm>
                <a:off x="5808125" y="524250"/>
                <a:ext cx="2811424"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rgbClr val="CC0000"/>
                    </a:solidFill>
                    <a:latin typeface="Arial"/>
                    <a:ea typeface="Arial"/>
                    <a:cs typeface="Arial"/>
                    <a:sym typeface="Arial"/>
                  </a:rPr>
                  <a:t>spatial coding example: </a:t>
                </a:r>
                <a:r>
                  <a:rPr lang="en-US" sz="1400">
                    <a:solidFill>
                      <a:schemeClr val="dk1"/>
                    </a:solidFill>
                    <a:latin typeface="Arial"/>
                    <a:ea typeface="Arial"/>
                    <a:cs typeface="Arial"/>
                    <a:sym typeface="Arial"/>
                  </a:rPr>
                  <a:t>instead of sending</a:t>
                </a:r>
                <a:r>
                  <a:rPr i="1" lang="en-US" sz="1400">
                    <a:solidFill>
                      <a:schemeClr val="dk1"/>
                    </a:solidFill>
                    <a:latin typeface="Arial"/>
                    <a:ea typeface="Arial"/>
                    <a:cs typeface="Arial"/>
                    <a:sym typeface="Arial"/>
                  </a:rPr>
                  <a:t> N </a:t>
                </a:r>
                <a:r>
                  <a:rPr lang="en-US" sz="1400">
                    <a:solidFill>
                      <a:schemeClr val="dk1"/>
                    </a:solidFill>
                    <a:latin typeface="Arial"/>
                    <a:ea typeface="Arial"/>
                    <a:cs typeface="Arial"/>
                    <a:sym typeface="Arial"/>
                  </a:rPr>
                  <a:t>values of same color (all purple), send only two values: color  value (</a:t>
                </a:r>
                <a:r>
                  <a:rPr i="1" lang="en-US" sz="1400">
                    <a:solidFill>
                      <a:schemeClr val="dk1"/>
                    </a:solidFill>
                    <a:latin typeface="Arial"/>
                    <a:ea typeface="Arial"/>
                    <a:cs typeface="Arial"/>
                    <a:sym typeface="Arial"/>
                  </a:rPr>
                  <a:t>purple)  and number of repeated values (</a:t>
                </a:r>
                <a:r>
                  <a:rPr lang="en-US" sz="1400">
                    <a:solidFill>
                      <a:schemeClr val="dk1"/>
                    </a:solidFill>
                    <a:latin typeface="Arial"/>
                    <a:ea typeface="Arial"/>
                    <a:cs typeface="Arial"/>
                    <a:sym typeface="Arial"/>
                  </a:rPr>
                  <a:t>N)</a:t>
                </a:r>
                <a:endParaRPr/>
              </a:p>
            </p:txBody>
          </p:sp>
          <p:sp>
            <p:nvSpPr>
              <p:cNvPr id="7574" name="Google Shape;7574;p112"/>
              <p:cNvSpPr txBox="1"/>
              <p:nvPr/>
            </p:nvSpPr>
            <p:spPr>
              <a:xfrm>
                <a:off x="5354771" y="1885160"/>
                <a:ext cx="1803448" cy="3693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C0000"/>
                    </a:solidFill>
                    <a:latin typeface="Arial Narrow"/>
                    <a:ea typeface="Arial Narrow"/>
                    <a:cs typeface="Arial Narrow"/>
                    <a:sym typeface="Arial Narrow"/>
                  </a:rPr>
                  <a:t>……………….…….</a:t>
                </a:r>
                <a:endParaRPr/>
              </a:p>
            </p:txBody>
          </p:sp>
          <p:cxnSp>
            <p:nvCxnSpPr>
              <p:cNvPr id="7575" name="Google Shape;7575;p112"/>
              <p:cNvCxnSpPr/>
              <p:nvPr/>
            </p:nvCxnSpPr>
            <p:spPr>
              <a:xfrm flipH="1">
                <a:off x="5565603" y="756253"/>
                <a:ext cx="313958" cy="1155782"/>
              </a:xfrm>
              <a:prstGeom prst="straightConnector1">
                <a:avLst/>
              </a:prstGeom>
              <a:noFill/>
              <a:ln cap="flat" cmpd="sng" w="9525">
                <a:solidFill>
                  <a:srgbClr val="CC0000"/>
                </a:solidFill>
                <a:prstDash val="solid"/>
                <a:round/>
                <a:headEnd len="med" w="med" type="none"/>
                <a:tailEnd len="med" w="med" type="none"/>
              </a:ln>
            </p:spPr>
          </p:cxnSp>
        </p:grpSp>
        <p:sp>
          <p:nvSpPr>
            <p:cNvPr id="7576" name="Google Shape;7576;p112"/>
            <p:cNvSpPr txBox="1"/>
            <p:nvPr/>
          </p:nvSpPr>
          <p:spPr>
            <a:xfrm>
              <a:off x="5323721" y="3654665"/>
              <a:ext cx="93345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C0000"/>
                  </a:solidFill>
                  <a:latin typeface="Arial"/>
                  <a:ea typeface="Arial"/>
                  <a:cs typeface="Arial"/>
                  <a:sym typeface="Arial"/>
                </a:rPr>
                <a:t>frame</a:t>
              </a:r>
              <a:r>
                <a:rPr i="1" lang="en-US" sz="1800">
                  <a:solidFill>
                    <a:srgbClr val="CC0000"/>
                  </a:solidFill>
                  <a:latin typeface="Arial"/>
                  <a:ea typeface="Arial"/>
                  <a:cs typeface="Arial"/>
                  <a:sym typeface="Arial"/>
                </a:rPr>
                <a:t> i</a:t>
              </a:r>
              <a:endParaRPr/>
            </a:p>
          </p:txBody>
        </p:sp>
        <p:sp>
          <p:nvSpPr>
            <p:cNvPr id="7577" name="Google Shape;7577;p112"/>
            <p:cNvSpPr txBox="1"/>
            <p:nvPr/>
          </p:nvSpPr>
          <p:spPr>
            <a:xfrm>
              <a:off x="7051858" y="5611091"/>
              <a:ext cx="1196975"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C0000"/>
                  </a:solidFill>
                  <a:latin typeface="Arial"/>
                  <a:ea typeface="Arial"/>
                  <a:cs typeface="Arial"/>
                  <a:sym typeface="Arial"/>
                </a:rPr>
                <a:t>frame</a:t>
              </a:r>
              <a:r>
                <a:rPr i="1" lang="en-US" sz="1800">
                  <a:solidFill>
                    <a:srgbClr val="CC0000"/>
                  </a:solidFill>
                  <a:latin typeface="Arial"/>
                  <a:ea typeface="Arial"/>
                  <a:cs typeface="Arial"/>
                  <a:sym typeface="Arial"/>
                </a:rPr>
                <a:t> i+1</a:t>
              </a:r>
              <a:endParaRPr/>
            </a:p>
          </p:txBody>
        </p:sp>
        <p:sp>
          <p:nvSpPr>
            <p:cNvPr id="7578" name="Google Shape;7578;p112"/>
            <p:cNvSpPr txBox="1"/>
            <p:nvPr/>
          </p:nvSpPr>
          <p:spPr>
            <a:xfrm>
              <a:off x="4338638" y="4857750"/>
              <a:ext cx="2278062" cy="1169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rgbClr val="CC0000"/>
                  </a:solidFill>
                  <a:latin typeface="Arial"/>
                  <a:ea typeface="Arial"/>
                  <a:cs typeface="Arial"/>
                  <a:sym typeface="Arial"/>
                </a:rPr>
                <a:t>temporal coding example: </a:t>
              </a:r>
              <a:r>
                <a:rPr lang="en-US" sz="1400">
                  <a:solidFill>
                    <a:schemeClr val="dk1"/>
                  </a:solidFill>
                  <a:latin typeface="Arial"/>
                  <a:ea typeface="Arial"/>
                  <a:cs typeface="Arial"/>
                  <a:sym typeface="Arial"/>
                </a:rPr>
                <a:t>instead of sending complete frame at i+1, send only differences from frame i</a:t>
              </a:r>
              <a:endParaRPr/>
            </a:p>
          </p:txBody>
        </p:sp>
        <p:cxnSp>
          <p:nvCxnSpPr>
            <p:cNvPr id="7579" name="Google Shape;7579;p112"/>
            <p:cNvCxnSpPr/>
            <p:nvPr/>
          </p:nvCxnSpPr>
          <p:spPr>
            <a:xfrm>
              <a:off x="5972518" y="4021445"/>
              <a:ext cx="1013060" cy="1783949"/>
            </a:xfrm>
            <a:prstGeom prst="straightConnector1">
              <a:avLst/>
            </a:prstGeom>
            <a:noFill/>
            <a:ln cap="flat" cmpd="sng" w="9525">
              <a:solidFill>
                <a:srgbClr val="CC0000"/>
              </a:solidFill>
              <a:prstDash val="solid"/>
              <a:round/>
              <a:headEnd len="med" w="med" type="none"/>
              <a:tailEnd len="med" w="med" type="triangle"/>
            </a:ln>
          </p:spPr>
        </p:cxnSp>
        <p:pic>
          <p:nvPicPr>
            <p:cNvPr id="7580" name="Google Shape;7580;p112"/>
            <p:cNvPicPr preferRelativeResize="0"/>
            <p:nvPr/>
          </p:nvPicPr>
          <p:blipFill rotWithShape="1">
            <a:blip r:embed="rId3">
              <a:alphaModFix/>
            </a:blip>
            <a:srcRect b="0" l="0" r="0" t="0"/>
            <a:stretch/>
          </p:blipFill>
          <p:spPr>
            <a:xfrm>
              <a:off x="7112885" y="3806720"/>
              <a:ext cx="1642963" cy="1860574"/>
            </a:xfrm>
            <a:prstGeom prst="rect">
              <a:avLst/>
            </a:prstGeom>
            <a:noFill/>
            <a:ln>
              <a:noFill/>
            </a:ln>
          </p:spPr>
        </p:pic>
      </p:grpSp>
      <p:sp>
        <p:nvSpPr>
          <p:cNvPr id="7581" name="Google Shape;7581;p112"/>
          <p:cNvSpPr txBox="1"/>
          <p:nvPr/>
        </p:nvSpPr>
        <p:spPr>
          <a:xfrm>
            <a:off x="1033466" y="1458684"/>
            <a:ext cx="5254061" cy="49085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lang="en-US" sz="2800">
                <a:solidFill>
                  <a:srgbClr val="CC0000"/>
                </a:solidFill>
                <a:latin typeface="Calibri"/>
                <a:ea typeface="Calibri"/>
                <a:cs typeface="Calibri"/>
                <a:sym typeface="Calibri"/>
              </a:rPr>
              <a:t>CBR: (constant bit rate): </a:t>
            </a:r>
            <a:r>
              <a:rPr lang="en-US" sz="2800">
                <a:solidFill>
                  <a:srgbClr val="000000"/>
                </a:solidFill>
                <a:latin typeface="Calibri"/>
                <a:ea typeface="Calibri"/>
                <a:cs typeface="Calibri"/>
                <a:sym typeface="Calibri"/>
              </a:rPr>
              <a:t>video encoding rate fixed</a:t>
            </a:r>
            <a:endParaRPr/>
          </a:p>
          <a:p>
            <a:pPr indent="-342900" lvl="0" marL="342900" marR="0" rtl="0" algn="l">
              <a:lnSpc>
                <a:spcPct val="85000"/>
              </a:lnSpc>
              <a:spcBef>
                <a:spcPts val="560"/>
              </a:spcBef>
              <a:spcAft>
                <a:spcPts val="0"/>
              </a:spcAft>
              <a:buClr>
                <a:srgbClr val="000099"/>
              </a:buClr>
              <a:buSzPts val="2800"/>
              <a:buFont typeface="Noto Sans Symbols"/>
              <a:buChar char="▪"/>
            </a:pPr>
            <a:r>
              <a:rPr lang="en-US" sz="2800">
                <a:solidFill>
                  <a:srgbClr val="CC0000"/>
                </a:solidFill>
                <a:latin typeface="Calibri"/>
                <a:ea typeface="Calibri"/>
                <a:cs typeface="Calibri"/>
                <a:sym typeface="Calibri"/>
              </a:rPr>
              <a:t>VBR:  (variable bit rate): </a:t>
            </a:r>
            <a:r>
              <a:rPr lang="en-US" sz="2800">
                <a:solidFill>
                  <a:srgbClr val="000000"/>
                </a:solidFill>
                <a:latin typeface="Calibri"/>
                <a:ea typeface="Calibri"/>
                <a:cs typeface="Calibri"/>
                <a:sym typeface="Calibri"/>
              </a:rPr>
              <a:t>video </a:t>
            </a:r>
            <a:r>
              <a:rPr lang="en-US" sz="2800">
                <a:solidFill>
                  <a:schemeClr val="dk1"/>
                </a:solidFill>
                <a:latin typeface="Calibri"/>
                <a:ea typeface="Calibri"/>
                <a:cs typeface="Calibri"/>
                <a:sym typeface="Calibri"/>
              </a:rPr>
              <a:t>encoding rate changes as amount of spatial, temporal coding changes </a:t>
            </a:r>
            <a:endParaRPr/>
          </a:p>
          <a:p>
            <a:pPr indent="-342900" lvl="0" marL="342900" marR="0" rtl="0" algn="l">
              <a:lnSpc>
                <a:spcPct val="85000"/>
              </a:lnSpc>
              <a:spcBef>
                <a:spcPts val="560"/>
              </a:spcBef>
              <a:spcAft>
                <a:spcPts val="0"/>
              </a:spcAft>
              <a:buClr>
                <a:srgbClr val="000099"/>
              </a:buClr>
              <a:buSzPts val="2800"/>
              <a:buFont typeface="Noto Sans Symbols"/>
              <a:buChar char="▪"/>
            </a:pPr>
            <a:r>
              <a:rPr lang="en-US" sz="2800">
                <a:solidFill>
                  <a:srgbClr val="CC0000"/>
                </a:solidFill>
                <a:latin typeface="Calibri"/>
                <a:ea typeface="Calibri"/>
                <a:cs typeface="Calibri"/>
                <a:sym typeface="Calibri"/>
              </a:rPr>
              <a:t>examples:</a:t>
            </a:r>
            <a:endParaRPr/>
          </a:p>
          <a:p>
            <a:pPr indent="-285750" lvl="1" marL="742950" marR="0" rtl="0" algn="l">
              <a:lnSpc>
                <a:spcPct val="100000"/>
              </a:lnSpc>
              <a:spcBef>
                <a:spcPts val="560"/>
              </a:spcBef>
              <a:spcAft>
                <a:spcPts val="0"/>
              </a:spcAft>
              <a:buClr>
                <a:srgbClr val="000099"/>
              </a:buClr>
              <a:buSzPts val="2800"/>
              <a:buFont typeface="Arial"/>
              <a:buChar char="•"/>
            </a:pPr>
            <a:r>
              <a:rPr b="0" i="0" lang="en-US" sz="2800" u="none" cap="none" strike="noStrike">
                <a:solidFill>
                  <a:schemeClr val="dk1"/>
                </a:solidFill>
                <a:latin typeface="Calibri"/>
                <a:ea typeface="Calibri"/>
                <a:cs typeface="Calibri"/>
                <a:sym typeface="Calibri"/>
              </a:rPr>
              <a:t>MPEG 1 (CD-ROM) 1.5 Mbps</a:t>
            </a:r>
            <a:endParaRPr/>
          </a:p>
          <a:p>
            <a:pPr indent="-285750" lvl="1" marL="742950" marR="0" rtl="0" algn="l">
              <a:lnSpc>
                <a:spcPct val="100000"/>
              </a:lnSpc>
              <a:spcBef>
                <a:spcPts val="560"/>
              </a:spcBef>
              <a:spcAft>
                <a:spcPts val="0"/>
              </a:spcAft>
              <a:buClr>
                <a:srgbClr val="000099"/>
              </a:buClr>
              <a:buSzPts val="2800"/>
              <a:buFont typeface="Arial"/>
              <a:buChar char="•"/>
            </a:pPr>
            <a:r>
              <a:rPr b="0" i="0" lang="en-US" sz="2800" u="none" cap="none" strike="noStrike">
                <a:solidFill>
                  <a:schemeClr val="dk1"/>
                </a:solidFill>
                <a:latin typeface="Calibri"/>
                <a:ea typeface="Calibri"/>
                <a:cs typeface="Calibri"/>
                <a:sym typeface="Calibri"/>
              </a:rPr>
              <a:t>MPEG2 (DVD) 3-6 Mbps</a:t>
            </a:r>
            <a:endParaRPr/>
          </a:p>
          <a:p>
            <a:pPr indent="-285750" lvl="1" marL="742950" marR="0" rtl="0" algn="l">
              <a:lnSpc>
                <a:spcPct val="100000"/>
              </a:lnSpc>
              <a:spcBef>
                <a:spcPts val="560"/>
              </a:spcBef>
              <a:spcAft>
                <a:spcPts val="0"/>
              </a:spcAft>
              <a:buClr>
                <a:srgbClr val="000099"/>
              </a:buClr>
              <a:buSzPts val="2800"/>
              <a:buFont typeface="Arial"/>
              <a:buChar char="•"/>
            </a:pPr>
            <a:r>
              <a:rPr b="0" i="0" lang="en-US" sz="2800" u="none" cap="none" strike="noStrike">
                <a:solidFill>
                  <a:schemeClr val="dk1"/>
                </a:solidFill>
                <a:latin typeface="Calibri"/>
                <a:ea typeface="Calibri"/>
                <a:cs typeface="Calibri"/>
                <a:sym typeface="Calibri"/>
              </a:rPr>
              <a:t>MPEG4 (often used in Internet,  64Kbps – 12 Mbps)</a:t>
            </a:r>
            <a:endParaRPr/>
          </a:p>
        </p:txBody>
      </p:sp>
      <p:sp>
        <p:nvSpPr>
          <p:cNvPr id="7582" name="Google Shape;7582;p1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7" name="Shape 7587"/>
        <p:cNvGrpSpPr/>
        <p:nvPr/>
      </p:nvGrpSpPr>
      <p:grpSpPr>
        <a:xfrm>
          <a:off x="0" y="0"/>
          <a:ext cx="0" cy="0"/>
          <a:chOff x="0" y="0"/>
          <a:chExt cx="0" cy="0"/>
        </a:xfrm>
      </p:grpSpPr>
      <p:sp>
        <p:nvSpPr>
          <p:cNvPr id="7588" name="Google Shape;7588;p113"/>
          <p:cNvSpPr txBox="1"/>
          <p:nvPr>
            <p:ph idx="1" type="body"/>
          </p:nvPr>
        </p:nvSpPr>
        <p:spPr>
          <a:xfrm>
            <a:off x="847142" y="4099627"/>
            <a:ext cx="10923837" cy="2543879"/>
          </a:xfrm>
          <a:prstGeom prst="rect">
            <a:avLst/>
          </a:prstGeom>
          <a:noFill/>
          <a:ln>
            <a:noFill/>
          </a:ln>
        </p:spPr>
        <p:txBody>
          <a:bodyPr anchorCtr="0" anchor="t" bIns="45700" lIns="91425" spcFirstLastPara="1" rIns="91425" wrap="square" tIns="45700">
            <a:normAutofit lnSpcReduction="10000"/>
          </a:bodyPr>
          <a:lstStyle/>
          <a:p>
            <a:pPr indent="0" lvl="0" marL="15875" rtl="0" algn="l">
              <a:lnSpc>
                <a:spcPct val="90000"/>
              </a:lnSpc>
              <a:spcBef>
                <a:spcPts val="0"/>
              </a:spcBef>
              <a:spcAft>
                <a:spcPts val="0"/>
              </a:spcAft>
              <a:buSzPts val="3000"/>
              <a:buNone/>
            </a:pPr>
            <a:r>
              <a:rPr lang="en-US" sz="3000"/>
              <a:t>Main challenges: </a:t>
            </a:r>
            <a:endParaRPr/>
          </a:p>
          <a:p>
            <a:pPr indent="-293688" lvl="0" marL="471488" rtl="0" algn="l">
              <a:lnSpc>
                <a:spcPct val="90000"/>
              </a:lnSpc>
              <a:spcBef>
                <a:spcPts val="1000"/>
              </a:spcBef>
              <a:spcAft>
                <a:spcPts val="0"/>
              </a:spcAft>
              <a:buSzPts val="2800"/>
              <a:buChar char="▪"/>
            </a:pPr>
            <a:r>
              <a:rPr lang="en-US"/>
              <a:t>server-to-client bandwidth will </a:t>
            </a:r>
            <a:r>
              <a:rPr i="1" lang="en-US">
                <a:solidFill>
                  <a:srgbClr val="C00000"/>
                </a:solidFill>
              </a:rPr>
              <a:t>vary</a:t>
            </a:r>
            <a:r>
              <a:rPr lang="en-US"/>
              <a:t> over time, with changing network congestion levels (in house, in access network, in network core, at video server)</a:t>
            </a:r>
            <a:endParaRPr/>
          </a:p>
          <a:p>
            <a:pPr indent="-293688" lvl="0" marL="471488" rtl="0" algn="l">
              <a:lnSpc>
                <a:spcPct val="90000"/>
              </a:lnSpc>
              <a:spcBef>
                <a:spcPts val="1000"/>
              </a:spcBef>
              <a:spcAft>
                <a:spcPts val="0"/>
              </a:spcAft>
              <a:buSzPts val="2800"/>
              <a:buChar char="▪"/>
            </a:pPr>
            <a:r>
              <a:rPr lang="en-US"/>
              <a:t>packet loss and delay due to congestion will delay playout, or result in poor video quality</a:t>
            </a:r>
            <a:endParaRPr/>
          </a:p>
        </p:txBody>
      </p:sp>
      <p:sp>
        <p:nvSpPr>
          <p:cNvPr id="7589" name="Google Shape;7589;p11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Streaming stored </a:t>
            </a:r>
            <a:r>
              <a:rPr lang="en-US"/>
              <a:t>v</a:t>
            </a:r>
            <a:r>
              <a:rPr lang="en-US" sz="4400"/>
              <a:t>ideo</a:t>
            </a:r>
            <a:endParaRPr/>
          </a:p>
        </p:txBody>
      </p:sp>
      <p:sp>
        <p:nvSpPr>
          <p:cNvPr id="7590" name="Google Shape;7590;p113"/>
          <p:cNvSpPr txBox="1"/>
          <p:nvPr/>
        </p:nvSpPr>
        <p:spPr>
          <a:xfrm>
            <a:off x="2013954" y="1217613"/>
            <a:ext cx="2749550" cy="5222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simple scenario</a:t>
            </a:r>
            <a:r>
              <a:rPr lang="en-US" sz="2000">
                <a:solidFill>
                  <a:schemeClr val="dk1"/>
                </a:solidFill>
                <a:latin typeface="Arial"/>
                <a:ea typeface="Arial"/>
                <a:cs typeface="Arial"/>
                <a:sym typeface="Arial"/>
              </a:rPr>
              <a:t>:</a:t>
            </a:r>
            <a:endParaRPr/>
          </a:p>
        </p:txBody>
      </p:sp>
      <p:sp>
        <p:nvSpPr>
          <p:cNvPr id="7591" name="Google Shape;7591;p113"/>
          <p:cNvSpPr txBox="1"/>
          <p:nvPr/>
        </p:nvSpPr>
        <p:spPr>
          <a:xfrm>
            <a:off x="2837866" y="3332163"/>
            <a:ext cx="1652588" cy="7016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video server</a:t>
            </a:r>
            <a:endParaRPr/>
          </a:p>
          <a:p>
            <a:pPr indent="0" lvl="0" marL="0" marR="0" rtl="0" algn="ctr">
              <a:spcBef>
                <a:spcPts val="0"/>
              </a:spcBef>
              <a:spcAft>
                <a:spcPts val="0"/>
              </a:spcAft>
              <a:buNone/>
            </a:pPr>
            <a:r>
              <a:rPr lang="en-US" sz="1800">
                <a:solidFill>
                  <a:srgbClr val="000000"/>
                </a:solidFill>
                <a:latin typeface="Arial"/>
                <a:ea typeface="Arial"/>
                <a:cs typeface="Arial"/>
                <a:sym typeface="Arial"/>
              </a:rPr>
              <a:t>(stored video)</a:t>
            </a:r>
            <a:endParaRPr i="1" sz="1800">
              <a:solidFill>
                <a:srgbClr val="CC0000"/>
              </a:solidFill>
              <a:latin typeface="Arial"/>
              <a:ea typeface="Arial"/>
              <a:cs typeface="Arial"/>
              <a:sym typeface="Arial"/>
            </a:endParaRPr>
          </a:p>
        </p:txBody>
      </p:sp>
      <p:grpSp>
        <p:nvGrpSpPr>
          <p:cNvPr id="7592" name="Google Shape;7592;p113"/>
          <p:cNvGrpSpPr/>
          <p:nvPr/>
        </p:nvGrpSpPr>
        <p:grpSpPr>
          <a:xfrm>
            <a:off x="2942641" y="1846263"/>
            <a:ext cx="6276975" cy="1962150"/>
            <a:chOff x="2942641" y="1846263"/>
            <a:chExt cx="6276975" cy="1962150"/>
          </a:xfrm>
        </p:grpSpPr>
        <p:grpSp>
          <p:nvGrpSpPr>
            <p:cNvPr id="7593" name="Google Shape;7593;p113"/>
            <p:cNvGrpSpPr/>
            <p:nvPr/>
          </p:nvGrpSpPr>
          <p:grpSpPr>
            <a:xfrm>
              <a:off x="7109829" y="1846263"/>
              <a:ext cx="2109787" cy="1582737"/>
              <a:chOff x="1842724" y="2867233"/>
              <a:chExt cx="5649912" cy="3416300"/>
            </a:xfrm>
          </p:grpSpPr>
          <p:sp>
            <p:nvSpPr>
              <p:cNvPr id="7594" name="Google Shape;7594;p113"/>
              <p:cNvSpPr/>
              <p:nvPr/>
            </p:nvSpPr>
            <p:spPr>
              <a:xfrm>
                <a:off x="1842724" y="2867233"/>
                <a:ext cx="5649912" cy="768350"/>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7595" name="Google Shape;7595;p113"/>
              <p:cNvSpPr/>
              <p:nvPr/>
            </p:nvSpPr>
            <p:spPr>
              <a:xfrm>
                <a:off x="2277699" y="3621296"/>
                <a:ext cx="4781550" cy="26622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grpSp>
          <p:nvGrpSpPr>
            <p:cNvPr id="7596" name="Google Shape;7596;p113"/>
            <p:cNvGrpSpPr/>
            <p:nvPr/>
          </p:nvGrpSpPr>
          <p:grpSpPr>
            <a:xfrm>
              <a:off x="3369679" y="2406650"/>
              <a:ext cx="427037" cy="785813"/>
              <a:chOff x="4140" y="429"/>
              <a:chExt cx="1425" cy="2396"/>
            </a:xfrm>
          </p:grpSpPr>
          <p:sp>
            <p:nvSpPr>
              <p:cNvPr id="7597" name="Google Shape;7597;p1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98" name="Google Shape;7598;p113"/>
              <p:cNvSpPr/>
              <p:nvPr/>
            </p:nvSpPr>
            <p:spPr>
              <a:xfrm>
                <a:off x="4204"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599" name="Google Shape;7599;p1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00" name="Google Shape;7600;p1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01" name="Google Shape;7601;p113"/>
              <p:cNvSpPr/>
              <p:nvPr/>
            </p:nvSpPr>
            <p:spPr>
              <a:xfrm>
                <a:off x="4214" y="695"/>
                <a:ext cx="593"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7602" name="Google Shape;7602;p113"/>
              <p:cNvGrpSpPr/>
              <p:nvPr/>
            </p:nvGrpSpPr>
            <p:grpSpPr>
              <a:xfrm>
                <a:off x="4749" y="666"/>
                <a:ext cx="583" cy="145"/>
                <a:chOff x="614" y="2566"/>
                <a:chExt cx="727" cy="139"/>
              </a:xfrm>
            </p:grpSpPr>
            <p:sp>
              <p:nvSpPr>
                <p:cNvPr id="7603" name="Google Shape;7603;p113"/>
                <p:cNvSpPr/>
                <p:nvPr/>
              </p:nvSpPr>
              <p:spPr>
                <a:xfrm>
                  <a:off x="614" y="2566"/>
                  <a:ext cx="727"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04" name="Google Shape;7604;p113"/>
                <p:cNvSpPr/>
                <p:nvPr/>
              </p:nvSpPr>
              <p:spPr>
                <a:xfrm>
                  <a:off x="627" y="2580"/>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7605" name="Google Shape;7605;p113"/>
              <p:cNvSpPr/>
              <p:nvPr/>
            </p:nvSpPr>
            <p:spPr>
              <a:xfrm>
                <a:off x="4225" y="1020"/>
                <a:ext cx="593"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7606" name="Google Shape;7606;p113"/>
              <p:cNvGrpSpPr/>
              <p:nvPr/>
            </p:nvGrpSpPr>
            <p:grpSpPr>
              <a:xfrm>
                <a:off x="4749" y="995"/>
                <a:ext cx="578" cy="131"/>
                <a:chOff x="617" y="2569"/>
                <a:chExt cx="721" cy="136"/>
              </a:xfrm>
            </p:grpSpPr>
            <p:sp>
              <p:nvSpPr>
                <p:cNvPr id="7607" name="Google Shape;7607;p113"/>
                <p:cNvSpPr/>
                <p:nvPr/>
              </p:nvSpPr>
              <p:spPr>
                <a:xfrm>
                  <a:off x="617" y="2569"/>
                  <a:ext cx="721" cy="13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08" name="Google Shape;7608;p113"/>
                <p:cNvSpPr/>
                <p:nvPr/>
              </p:nvSpPr>
              <p:spPr>
                <a:xfrm>
                  <a:off x="630" y="2584"/>
                  <a:ext cx="687"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7609" name="Google Shape;7609;p113"/>
              <p:cNvSpPr/>
              <p:nvPr/>
            </p:nvSpPr>
            <p:spPr>
              <a:xfrm>
                <a:off x="4219" y="1358"/>
                <a:ext cx="593"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10" name="Google Shape;7610;p113"/>
              <p:cNvSpPr/>
              <p:nvPr/>
            </p:nvSpPr>
            <p:spPr>
              <a:xfrm>
                <a:off x="4225" y="1654"/>
                <a:ext cx="599"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7611" name="Google Shape;7611;p113"/>
              <p:cNvGrpSpPr/>
              <p:nvPr/>
            </p:nvGrpSpPr>
            <p:grpSpPr>
              <a:xfrm>
                <a:off x="4733" y="1629"/>
                <a:ext cx="577" cy="150"/>
                <a:chOff x="612" y="2570"/>
                <a:chExt cx="719" cy="138"/>
              </a:xfrm>
            </p:grpSpPr>
            <p:sp>
              <p:nvSpPr>
                <p:cNvPr id="7612" name="Google Shape;7612;p113"/>
                <p:cNvSpPr/>
                <p:nvPr/>
              </p:nvSpPr>
              <p:spPr>
                <a:xfrm>
                  <a:off x="612" y="2570"/>
                  <a:ext cx="71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13" name="Google Shape;7613;p113"/>
                <p:cNvSpPr/>
                <p:nvPr/>
              </p:nvSpPr>
              <p:spPr>
                <a:xfrm>
                  <a:off x="625" y="2588"/>
                  <a:ext cx="693"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7614" name="Google Shape;7614;p1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615" name="Google Shape;7615;p113"/>
              <p:cNvGrpSpPr/>
              <p:nvPr/>
            </p:nvGrpSpPr>
            <p:grpSpPr>
              <a:xfrm>
                <a:off x="4739" y="1329"/>
                <a:ext cx="583" cy="136"/>
                <a:chOff x="614" y="2570"/>
                <a:chExt cx="726" cy="136"/>
              </a:xfrm>
            </p:grpSpPr>
            <p:sp>
              <p:nvSpPr>
                <p:cNvPr id="7616" name="Google Shape;7616;p113"/>
                <p:cNvSpPr/>
                <p:nvPr/>
              </p:nvSpPr>
              <p:spPr>
                <a:xfrm>
                  <a:off x="614" y="2570"/>
                  <a:ext cx="726" cy="13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17" name="Google Shape;7617;p113"/>
                <p:cNvSpPr/>
                <p:nvPr/>
              </p:nvSpPr>
              <p:spPr>
                <a:xfrm>
                  <a:off x="627" y="2585"/>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7618" name="Google Shape;7618;p113"/>
              <p:cNvSpPr/>
              <p:nvPr/>
            </p:nvSpPr>
            <p:spPr>
              <a:xfrm>
                <a:off x="5252" y="429"/>
                <a:ext cx="64"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19" name="Google Shape;7619;p1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20" name="Google Shape;7620;p1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21" name="Google Shape;7621;p113"/>
              <p:cNvSpPr/>
              <p:nvPr/>
            </p:nvSpPr>
            <p:spPr>
              <a:xfrm>
                <a:off x="5517" y="2612"/>
                <a:ext cx="48"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22" name="Google Shape;7622;p1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23" name="Google Shape;7623;p113"/>
              <p:cNvSpPr/>
              <p:nvPr/>
            </p:nvSpPr>
            <p:spPr>
              <a:xfrm>
                <a:off x="4140" y="2680"/>
                <a:ext cx="1203"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24" name="Google Shape;7624;p113"/>
              <p:cNvSpPr/>
              <p:nvPr/>
            </p:nvSpPr>
            <p:spPr>
              <a:xfrm>
                <a:off x="4204" y="2709"/>
                <a:ext cx="1075"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25" name="Google Shape;7625;p113"/>
              <p:cNvSpPr/>
              <p:nvPr/>
            </p:nvSpPr>
            <p:spPr>
              <a:xfrm>
                <a:off x="4310" y="2380"/>
                <a:ext cx="159"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26" name="Google Shape;7626;p113"/>
              <p:cNvSpPr/>
              <p:nvPr/>
            </p:nvSpPr>
            <p:spPr>
              <a:xfrm>
                <a:off x="4484" y="2385"/>
                <a:ext cx="164"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7627" name="Google Shape;7627;p113"/>
              <p:cNvSpPr/>
              <p:nvPr/>
            </p:nvSpPr>
            <p:spPr>
              <a:xfrm>
                <a:off x="4664" y="2380"/>
                <a:ext cx="154"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28" name="Google Shape;7628;p113"/>
              <p:cNvSpPr/>
              <p:nvPr/>
            </p:nvSpPr>
            <p:spPr>
              <a:xfrm>
                <a:off x="5062" y="1838"/>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grpSp>
          <p:nvGrpSpPr>
            <p:cNvPr id="7629" name="Google Shape;7629;p113"/>
            <p:cNvGrpSpPr/>
            <p:nvPr/>
          </p:nvGrpSpPr>
          <p:grpSpPr>
            <a:xfrm>
              <a:off x="2942641" y="2038350"/>
              <a:ext cx="1281113" cy="363538"/>
              <a:chOff x="3621" y="3265"/>
              <a:chExt cx="1776" cy="744"/>
            </a:xfrm>
          </p:grpSpPr>
          <p:pic>
            <p:nvPicPr>
              <p:cNvPr descr="reellogo" id="7630" name="Google Shape;7630;p113"/>
              <p:cNvPicPr preferRelativeResize="0"/>
              <p:nvPr/>
            </p:nvPicPr>
            <p:blipFill rotWithShape="1">
              <a:blip r:embed="rId3">
                <a:alphaModFix/>
              </a:blip>
              <a:srcRect b="0" l="0" r="0" t="0"/>
              <a:stretch/>
            </p:blipFill>
            <p:spPr>
              <a:xfrm>
                <a:off x="3621" y="3265"/>
                <a:ext cx="1776" cy="744"/>
              </a:xfrm>
              <a:prstGeom prst="rect">
                <a:avLst/>
              </a:prstGeom>
              <a:noFill/>
              <a:ln>
                <a:noFill/>
              </a:ln>
            </p:spPr>
          </p:pic>
          <p:sp>
            <p:nvSpPr>
              <p:cNvPr id="7631" name="Google Shape;7631;p113"/>
              <p:cNvSpPr/>
              <p:nvPr/>
            </p:nvSpPr>
            <p:spPr>
              <a:xfrm>
                <a:off x="3971" y="3288"/>
                <a:ext cx="1402" cy="439"/>
              </a:xfrm>
              <a:custGeom>
                <a:rect b="b" l="l" r="r" t="t"/>
                <a:pathLst>
                  <a:path extrusionOk="0" h="438" w="1401">
                    <a:moveTo>
                      <a:pt x="0" y="6"/>
                    </a:moveTo>
                    <a:lnTo>
                      <a:pt x="27" y="384"/>
                    </a:lnTo>
                    <a:lnTo>
                      <a:pt x="114" y="381"/>
                    </a:lnTo>
                    <a:lnTo>
                      <a:pt x="132" y="357"/>
                    </a:lnTo>
                    <a:lnTo>
                      <a:pt x="210" y="402"/>
                    </a:lnTo>
                    <a:lnTo>
                      <a:pt x="450" y="384"/>
                    </a:lnTo>
                    <a:lnTo>
                      <a:pt x="486" y="393"/>
                    </a:lnTo>
                    <a:lnTo>
                      <a:pt x="690" y="417"/>
                    </a:lnTo>
                    <a:lnTo>
                      <a:pt x="1074" y="438"/>
                    </a:lnTo>
                    <a:lnTo>
                      <a:pt x="1401" y="420"/>
                    </a:lnTo>
                    <a:lnTo>
                      <a:pt x="1392" y="165"/>
                    </a:lnTo>
                    <a:lnTo>
                      <a:pt x="291" y="0"/>
                    </a:lnTo>
                    <a:lnTo>
                      <a:pt x="0" y="6"/>
                    </a:lnTo>
                    <a:close/>
                  </a:path>
                </a:pathLst>
              </a:cu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32" name="Google Shape;7632;p113"/>
              <p:cNvSpPr/>
              <p:nvPr/>
            </p:nvSpPr>
            <p:spPr>
              <a:xfrm>
                <a:off x="4242" y="3860"/>
                <a:ext cx="999" cy="120"/>
              </a:xfrm>
              <a:custGeom>
                <a:rect b="b" l="l" r="r" t="t"/>
                <a:pathLst>
                  <a:path extrusionOk="0" h="123" w="999">
                    <a:moveTo>
                      <a:pt x="0" y="6"/>
                    </a:moveTo>
                    <a:lnTo>
                      <a:pt x="717" y="12"/>
                    </a:lnTo>
                    <a:lnTo>
                      <a:pt x="744" y="36"/>
                    </a:lnTo>
                    <a:lnTo>
                      <a:pt x="801" y="42"/>
                    </a:lnTo>
                    <a:lnTo>
                      <a:pt x="876" y="6"/>
                    </a:lnTo>
                    <a:lnTo>
                      <a:pt x="933" y="0"/>
                    </a:lnTo>
                    <a:lnTo>
                      <a:pt x="981" y="15"/>
                    </a:lnTo>
                    <a:lnTo>
                      <a:pt x="999" y="51"/>
                    </a:lnTo>
                    <a:lnTo>
                      <a:pt x="987" y="123"/>
                    </a:lnTo>
                    <a:lnTo>
                      <a:pt x="18" y="120"/>
                    </a:lnTo>
                    <a:lnTo>
                      <a:pt x="0" y="6"/>
                    </a:lnTo>
                    <a:close/>
                  </a:path>
                </a:pathLst>
              </a:cu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video1" id="7633" name="Google Shape;7633;p113"/>
              <p:cNvPicPr preferRelativeResize="0"/>
              <p:nvPr/>
            </p:nvPicPr>
            <p:blipFill rotWithShape="1">
              <a:blip r:embed="rId4">
                <a:alphaModFix/>
              </a:blip>
              <a:srcRect b="0" l="0" r="0" t="0"/>
              <a:stretch/>
            </p:blipFill>
            <p:spPr>
              <a:xfrm>
                <a:off x="4083" y="3400"/>
                <a:ext cx="889" cy="460"/>
              </a:xfrm>
              <a:prstGeom prst="rect">
                <a:avLst/>
              </a:prstGeom>
              <a:noFill/>
              <a:ln>
                <a:noFill/>
              </a:ln>
            </p:spPr>
          </p:pic>
        </p:grpSp>
        <p:grpSp>
          <p:nvGrpSpPr>
            <p:cNvPr id="7634" name="Google Shape;7634;p113"/>
            <p:cNvGrpSpPr/>
            <p:nvPr/>
          </p:nvGrpSpPr>
          <p:grpSpPr>
            <a:xfrm>
              <a:off x="7868654" y="2625725"/>
              <a:ext cx="677862" cy="663575"/>
              <a:chOff x="4437" y="1472"/>
              <a:chExt cx="427" cy="418"/>
            </a:xfrm>
          </p:grpSpPr>
          <p:sp>
            <p:nvSpPr>
              <p:cNvPr id="7635" name="Google Shape;7635;p113"/>
              <p:cNvSpPr/>
              <p:nvPr/>
            </p:nvSpPr>
            <p:spPr>
              <a:xfrm>
                <a:off x="4443" y="1475"/>
                <a:ext cx="421" cy="361"/>
              </a:xfrm>
              <a:prstGeom prst="rect">
                <a:avLst/>
              </a:prstGeom>
              <a:gradFill>
                <a:gsLst>
                  <a:gs pos="0">
                    <a:srgbClr val="6B8FB3"/>
                  </a:gs>
                  <a:gs pos="50000">
                    <a:srgbClr val="99CCFF"/>
                  </a:gs>
                  <a:gs pos="100000">
                    <a:srgbClr val="6B8FB3"/>
                  </a:gs>
                </a:gsLst>
                <a:lin ang="5400000" scaled="0"/>
              </a:gra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36" name="Google Shape;7636;p113"/>
              <p:cNvSpPr/>
              <p:nvPr/>
            </p:nvSpPr>
            <p:spPr>
              <a:xfrm>
                <a:off x="4567" y="1837"/>
                <a:ext cx="179" cy="23"/>
              </a:xfrm>
              <a:prstGeom prst="rect">
                <a:avLst/>
              </a:prstGeom>
              <a:solidFill>
                <a:srgbClr val="5F5F5F"/>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37" name="Google Shape;7637;p113"/>
              <p:cNvSpPr/>
              <p:nvPr/>
            </p:nvSpPr>
            <p:spPr>
              <a:xfrm>
                <a:off x="4442" y="1866"/>
                <a:ext cx="414" cy="24"/>
              </a:xfrm>
              <a:prstGeom prst="rect">
                <a:avLst/>
              </a:prstGeom>
              <a:solidFill>
                <a:schemeClr val="dk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38" name="Google Shape;7638;p113"/>
              <p:cNvSpPr/>
              <p:nvPr/>
            </p:nvSpPr>
            <p:spPr>
              <a:xfrm>
                <a:off x="4437" y="1472"/>
                <a:ext cx="423" cy="356"/>
              </a:xfrm>
              <a:prstGeom prst="rect">
                <a:avLst/>
              </a:prstGeom>
              <a:noFill/>
              <a:ln cap="flat"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7639" name="Google Shape;7639;p113"/>
            <p:cNvSpPr/>
            <p:nvPr/>
          </p:nvSpPr>
          <p:spPr>
            <a:xfrm>
              <a:off x="4377741" y="2066925"/>
              <a:ext cx="2320925" cy="1228725"/>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7640" name="Google Shape;7640;p113"/>
            <p:cNvCxnSpPr/>
            <p:nvPr/>
          </p:nvCxnSpPr>
          <p:spPr>
            <a:xfrm>
              <a:off x="4018966" y="2632075"/>
              <a:ext cx="1241425" cy="0"/>
            </a:xfrm>
            <a:prstGeom prst="straightConnector1">
              <a:avLst/>
            </a:prstGeom>
            <a:noFill/>
            <a:ln cap="flat" cmpd="sng" w="31750">
              <a:solidFill>
                <a:srgbClr val="CC0000"/>
              </a:solidFill>
              <a:prstDash val="solid"/>
              <a:round/>
              <a:headEnd len="med" w="med" type="none"/>
              <a:tailEnd len="med" w="med" type="triangle"/>
            </a:ln>
          </p:spPr>
        </p:cxnSp>
        <p:cxnSp>
          <p:nvCxnSpPr>
            <p:cNvPr id="7641" name="Google Shape;7641;p113"/>
            <p:cNvCxnSpPr/>
            <p:nvPr/>
          </p:nvCxnSpPr>
          <p:spPr>
            <a:xfrm>
              <a:off x="6030329" y="2662238"/>
              <a:ext cx="1531937" cy="0"/>
            </a:xfrm>
            <a:prstGeom prst="straightConnector1">
              <a:avLst/>
            </a:prstGeom>
            <a:noFill/>
            <a:ln cap="flat" cmpd="sng" w="31750">
              <a:solidFill>
                <a:srgbClr val="CC0000"/>
              </a:solidFill>
              <a:prstDash val="solid"/>
              <a:round/>
              <a:headEnd len="med" w="med" type="none"/>
              <a:tailEnd len="med" w="med" type="triangle"/>
            </a:ln>
          </p:spPr>
        </p:cxnSp>
        <p:sp>
          <p:nvSpPr>
            <p:cNvPr id="7642" name="Google Shape;7642;p113"/>
            <p:cNvSpPr txBox="1"/>
            <p:nvPr/>
          </p:nvSpPr>
          <p:spPr>
            <a:xfrm>
              <a:off x="7784516" y="3440113"/>
              <a:ext cx="766763"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client</a:t>
              </a:r>
              <a:endParaRPr i="1" sz="1800">
                <a:solidFill>
                  <a:srgbClr val="CC0000"/>
                </a:solidFill>
                <a:latin typeface="Arial"/>
                <a:ea typeface="Arial"/>
                <a:cs typeface="Arial"/>
                <a:sym typeface="Arial"/>
              </a:endParaRPr>
            </a:p>
          </p:txBody>
        </p:sp>
        <p:sp>
          <p:nvSpPr>
            <p:cNvPr id="7643" name="Google Shape;7643;p113"/>
            <p:cNvSpPr txBox="1"/>
            <p:nvPr/>
          </p:nvSpPr>
          <p:spPr>
            <a:xfrm>
              <a:off x="5031791" y="2895600"/>
              <a:ext cx="919163" cy="3381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Internet</a:t>
              </a:r>
              <a:endParaRPr i="1" sz="1800">
                <a:solidFill>
                  <a:srgbClr val="CC0000"/>
                </a:solidFill>
                <a:latin typeface="Arial"/>
                <a:ea typeface="Arial"/>
                <a:cs typeface="Arial"/>
                <a:sym typeface="Arial"/>
              </a:endParaRPr>
            </a:p>
          </p:txBody>
        </p:sp>
      </p:grpSp>
      <p:sp>
        <p:nvSpPr>
          <p:cNvPr id="7644" name="Google Shape;7644;p1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9" name="Shape 7649"/>
        <p:cNvGrpSpPr/>
        <p:nvPr/>
      </p:nvGrpSpPr>
      <p:grpSpPr>
        <a:xfrm>
          <a:off x="0" y="0"/>
          <a:ext cx="0" cy="0"/>
          <a:chOff x="0" y="0"/>
          <a:chExt cx="0" cy="0"/>
        </a:xfrm>
      </p:grpSpPr>
      <p:sp>
        <p:nvSpPr>
          <p:cNvPr id="7650" name="Google Shape;7650;p11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Streaming stored </a:t>
            </a:r>
            <a:r>
              <a:rPr lang="en-US"/>
              <a:t>v</a:t>
            </a:r>
            <a:r>
              <a:rPr lang="en-US" sz="4400"/>
              <a:t>ideo</a:t>
            </a:r>
            <a:endParaRPr/>
          </a:p>
        </p:txBody>
      </p:sp>
      <p:grpSp>
        <p:nvGrpSpPr>
          <p:cNvPr id="7651" name="Google Shape;7651;p114"/>
          <p:cNvGrpSpPr/>
          <p:nvPr/>
        </p:nvGrpSpPr>
        <p:grpSpPr>
          <a:xfrm>
            <a:off x="3771872" y="5012751"/>
            <a:ext cx="427037" cy="785812"/>
            <a:chOff x="4140" y="429"/>
            <a:chExt cx="1425" cy="2396"/>
          </a:xfrm>
        </p:grpSpPr>
        <p:sp>
          <p:nvSpPr>
            <p:cNvPr id="7652" name="Google Shape;7652;p1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53" name="Google Shape;7653;p114"/>
            <p:cNvSpPr/>
            <p:nvPr/>
          </p:nvSpPr>
          <p:spPr>
            <a:xfrm>
              <a:off x="4204"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54" name="Google Shape;7654;p1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55" name="Google Shape;7655;p1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56" name="Google Shape;7656;p114"/>
            <p:cNvSpPr/>
            <p:nvPr/>
          </p:nvSpPr>
          <p:spPr>
            <a:xfrm>
              <a:off x="4214" y="695"/>
              <a:ext cx="593"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657" name="Google Shape;7657;p114"/>
            <p:cNvGrpSpPr/>
            <p:nvPr/>
          </p:nvGrpSpPr>
          <p:grpSpPr>
            <a:xfrm>
              <a:off x="4749" y="666"/>
              <a:ext cx="583" cy="145"/>
              <a:chOff x="614" y="2566"/>
              <a:chExt cx="727" cy="139"/>
            </a:xfrm>
          </p:grpSpPr>
          <p:sp>
            <p:nvSpPr>
              <p:cNvPr id="7658" name="Google Shape;7658;p114"/>
              <p:cNvSpPr/>
              <p:nvPr/>
            </p:nvSpPr>
            <p:spPr>
              <a:xfrm>
                <a:off x="614" y="2566"/>
                <a:ext cx="727"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59" name="Google Shape;7659;p114"/>
              <p:cNvSpPr/>
              <p:nvPr/>
            </p:nvSpPr>
            <p:spPr>
              <a:xfrm>
                <a:off x="627" y="2580"/>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660" name="Google Shape;7660;p114"/>
            <p:cNvSpPr/>
            <p:nvPr/>
          </p:nvSpPr>
          <p:spPr>
            <a:xfrm>
              <a:off x="4225" y="1020"/>
              <a:ext cx="593"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661" name="Google Shape;7661;p114"/>
            <p:cNvGrpSpPr/>
            <p:nvPr/>
          </p:nvGrpSpPr>
          <p:grpSpPr>
            <a:xfrm>
              <a:off x="4749" y="995"/>
              <a:ext cx="578" cy="131"/>
              <a:chOff x="617" y="2569"/>
              <a:chExt cx="721" cy="136"/>
            </a:xfrm>
          </p:grpSpPr>
          <p:sp>
            <p:nvSpPr>
              <p:cNvPr id="7662" name="Google Shape;7662;p114"/>
              <p:cNvSpPr/>
              <p:nvPr/>
            </p:nvSpPr>
            <p:spPr>
              <a:xfrm>
                <a:off x="617" y="2569"/>
                <a:ext cx="721" cy="13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63" name="Google Shape;7663;p114"/>
              <p:cNvSpPr/>
              <p:nvPr/>
            </p:nvSpPr>
            <p:spPr>
              <a:xfrm>
                <a:off x="630" y="2584"/>
                <a:ext cx="687"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664" name="Google Shape;7664;p114"/>
            <p:cNvSpPr/>
            <p:nvPr/>
          </p:nvSpPr>
          <p:spPr>
            <a:xfrm>
              <a:off x="4219" y="1358"/>
              <a:ext cx="593"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65" name="Google Shape;7665;p114"/>
            <p:cNvSpPr/>
            <p:nvPr/>
          </p:nvSpPr>
          <p:spPr>
            <a:xfrm>
              <a:off x="4225" y="1654"/>
              <a:ext cx="599"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666" name="Google Shape;7666;p114"/>
            <p:cNvGrpSpPr/>
            <p:nvPr/>
          </p:nvGrpSpPr>
          <p:grpSpPr>
            <a:xfrm>
              <a:off x="4733" y="1629"/>
              <a:ext cx="577" cy="150"/>
              <a:chOff x="612" y="2570"/>
              <a:chExt cx="719" cy="138"/>
            </a:xfrm>
          </p:grpSpPr>
          <p:sp>
            <p:nvSpPr>
              <p:cNvPr id="7667" name="Google Shape;7667;p114"/>
              <p:cNvSpPr/>
              <p:nvPr/>
            </p:nvSpPr>
            <p:spPr>
              <a:xfrm>
                <a:off x="612" y="2570"/>
                <a:ext cx="71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68" name="Google Shape;7668;p114"/>
              <p:cNvSpPr/>
              <p:nvPr/>
            </p:nvSpPr>
            <p:spPr>
              <a:xfrm>
                <a:off x="625" y="2584"/>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669" name="Google Shape;7669;p1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670" name="Google Shape;7670;p114"/>
            <p:cNvGrpSpPr/>
            <p:nvPr/>
          </p:nvGrpSpPr>
          <p:grpSpPr>
            <a:xfrm>
              <a:off x="4739" y="1329"/>
              <a:ext cx="583" cy="136"/>
              <a:chOff x="614" y="2570"/>
              <a:chExt cx="726" cy="136"/>
            </a:xfrm>
          </p:grpSpPr>
          <p:sp>
            <p:nvSpPr>
              <p:cNvPr id="7671" name="Google Shape;7671;p114"/>
              <p:cNvSpPr/>
              <p:nvPr/>
            </p:nvSpPr>
            <p:spPr>
              <a:xfrm>
                <a:off x="614" y="2570"/>
                <a:ext cx="726" cy="13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72" name="Google Shape;7672;p114"/>
              <p:cNvSpPr/>
              <p:nvPr/>
            </p:nvSpPr>
            <p:spPr>
              <a:xfrm>
                <a:off x="627" y="2585"/>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673" name="Google Shape;7673;p114"/>
            <p:cNvSpPr/>
            <p:nvPr/>
          </p:nvSpPr>
          <p:spPr>
            <a:xfrm>
              <a:off x="5252" y="429"/>
              <a:ext cx="64"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74" name="Google Shape;7674;p1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75" name="Google Shape;7675;p1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76" name="Google Shape;7676;p114"/>
            <p:cNvSpPr/>
            <p:nvPr/>
          </p:nvSpPr>
          <p:spPr>
            <a:xfrm>
              <a:off x="5517" y="2612"/>
              <a:ext cx="48"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77" name="Google Shape;7677;p1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78" name="Google Shape;7678;p114"/>
            <p:cNvSpPr/>
            <p:nvPr/>
          </p:nvSpPr>
          <p:spPr>
            <a:xfrm>
              <a:off x="4140" y="2680"/>
              <a:ext cx="1203"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79" name="Google Shape;7679;p114"/>
            <p:cNvSpPr/>
            <p:nvPr/>
          </p:nvSpPr>
          <p:spPr>
            <a:xfrm>
              <a:off x="4204" y="2709"/>
              <a:ext cx="1075"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80" name="Google Shape;7680;p114"/>
            <p:cNvSpPr/>
            <p:nvPr/>
          </p:nvSpPr>
          <p:spPr>
            <a:xfrm>
              <a:off x="4310" y="2380"/>
              <a:ext cx="159"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81" name="Google Shape;7681;p114"/>
            <p:cNvSpPr/>
            <p:nvPr/>
          </p:nvSpPr>
          <p:spPr>
            <a:xfrm>
              <a:off x="4484" y="2385"/>
              <a:ext cx="164"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7682" name="Google Shape;7682;p114"/>
            <p:cNvSpPr/>
            <p:nvPr/>
          </p:nvSpPr>
          <p:spPr>
            <a:xfrm>
              <a:off x="4664" y="2380"/>
              <a:ext cx="154"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83" name="Google Shape;7683;p114"/>
            <p:cNvSpPr/>
            <p:nvPr/>
          </p:nvSpPr>
          <p:spPr>
            <a:xfrm>
              <a:off x="5062" y="1838"/>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684" name="Google Shape;7684;p114"/>
          <p:cNvGrpSpPr/>
          <p:nvPr/>
        </p:nvGrpSpPr>
        <p:grpSpPr>
          <a:xfrm>
            <a:off x="3344834" y="4644451"/>
            <a:ext cx="1281113" cy="363537"/>
            <a:chOff x="3621" y="3265"/>
            <a:chExt cx="1776" cy="744"/>
          </a:xfrm>
        </p:grpSpPr>
        <p:pic>
          <p:nvPicPr>
            <p:cNvPr descr="reellogo" id="7685" name="Google Shape;7685;p114"/>
            <p:cNvPicPr preferRelativeResize="0"/>
            <p:nvPr/>
          </p:nvPicPr>
          <p:blipFill rotWithShape="1">
            <a:blip r:embed="rId3">
              <a:alphaModFix/>
            </a:blip>
            <a:srcRect b="0" l="0" r="0" t="0"/>
            <a:stretch/>
          </p:blipFill>
          <p:spPr>
            <a:xfrm>
              <a:off x="3621" y="3265"/>
              <a:ext cx="1776" cy="744"/>
            </a:xfrm>
            <a:prstGeom prst="rect">
              <a:avLst/>
            </a:prstGeom>
            <a:noFill/>
            <a:ln>
              <a:noFill/>
            </a:ln>
          </p:spPr>
        </p:pic>
        <p:sp>
          <p:nvSpPr>
            <p:cNvPr id="7686" name="Google Shape;7686;p114"/>
            <p:cNvSpPr/>
            <p:nvPr/>
          </p:nvSpPr>
          <p:spPr>
            <a:xfrm>
              <a:off x="3971" y="3288"/>
              <a:ext cx="1402" cy="439"/>
            </a:xfrm>
            <a:custGeom>
              <a:rect b="b" l="l" r="r" t="t"/>
              <a:pathLst>
                <a:path extrusionOk="0" h="438" w="1401">
                  <a:moveTo>
                    <a:pt x="0" y="6"/>
                  </a:moveTo>
                  <a:lnTo>
                    <a:pt x="27" y="384"/>
                  </a:lnTo>
                  <a:lnTo>
                    <a:pt x="114" y="381"/>
                  </a:lnTo>
                  <a:lnTo>
                    <a:pt x="132" y="357"/>
                  </a:lnTo>
                  <a:lnTo>
                    <a:pt x="210" y="402"/>
                  </a:lnTo>
                  <a:lnTo>
                    <a:pt x="450" y="384"/>
                  </a:lnTo>
                  <a:lnTo>
                    <a:pt x="486" y="393"/>
                  </a:lnTo>
                  <a:lnTo>
                    <a:pt x="690" y="417"/>
                  </a:lnTo>
                  <a:lnTo>
                    <a:pt x="1074" y="438"/>
                  </a:lnTo>
                  <a:lnTo>
                    <a:pt x="1401" y="420"/>
                  </a:lnTo>
                  <a:lnTo>
                    <a:pt x="1392" y="165"/>
                  </a:lnTo>
                  <a:lnTo>
                    <a:pt x="291" y="0"/>
                  </a:lnTo>
                  <a:lnTo>
                    <a:pt x="0" y="6"/>
                  </a:lnTo>
                  <a:close/>
                </a:path>
              </a:pathLst>
            </a:cu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87" name="Google Shape;7687;p114"/>
            <p:cNvSpPr/>
            <p:nvPr/>
          </p:nvSpPr>
          <p:spPr>
            <a:xfrm>
              <a:off x="4242" y="3860"/>
              <a:ext cx="999" cy="120"/>
            </a:xfrm>
            <a:custGeom>
              <a:rect b="b" l="l" r="r" t="t"/>
              <a:pathLst>
                <a:path extrusionOk="0" h="123" w="999">
                  <a:moveTo>
                    <a:pt x="0" y="6"/>
                  </a:moveTo>
                  <a:lnTo>
                    <a:pt x="717" y="12"/>
                  </a:lnTo>
                  <a:lnTo>
                    <a:pt x="744" y="36"/>
                  </a:lnTo>
                  <a:lnTo>
                    <a:pt x="801" y="42"/>
                  </a:lnTo>
                  <a:lnTo>
                    <a:pt x="876" y="6"/>
                  </a:lnTo>
                  <a:lnTo>
                    <a:pt x="933" y="0"/>
                  </a:lnTo>
                  <a:lnTo>
                    <a:pt x="981" y="15"/>
                  </a:lnTo>
                  <a:lnTo>
                    <a:pt x="999" y="51"/>
                  </a:lnTo>
                  <a:lnTo>
                    <a:pt x="987" y="123"/>
                  </a:lnTo>
                  <a:lnTo>
                    <a:pt x="18" y="120"/>
                  </a:lnTo>
                  <a:lnTo>
                    <a:pt x="0" y="6"/>
                  </a:lnTo>
                  <a:close/>
                </a:path>
              </a:pathLst>
            </a:cu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video1" id="7688" name="Google Shape;7688;p114"/>
            <p:cNvPicPr preferRelativeResize="0"/>
            <p:nvPr/>
          </p:nvPicPr>
          <p:blipFill rotWithShape="1">
            <a:blip r:embed="rId4">
              <a:alphaModFix/>
            </a:blip>
            <a:srcRect b="0" l="0" r="0" t="0"/>
            <a:stretch/>
          </p:blipFill>
          <p:spPr>
            <a:xfrm>
              <a:off x="4083" y="3400"/>
              <a:ext cx="889" cy="460"/>
            </a:xfrm>
            <a:prstGeom prst="rect">
              <a:avLst/>
            </a:prstGeom>
            <a:noFill/>
            <a:ln>
              <a:noFill/>
            </a:ln>
          </p:spPr>
        </p:pic>
      </p:grpSp>
      <p:cxnSp>
        <p:nvCxnSpPr>
          <p:cNvPr id="7689" name="Google Shape;7689;p114"/>
          <p:cNvCxnSpPr/>
          <p:nvPr/>
        </p:nvCxnSpPr>
        <p:spPr>
          <a:xfrm>
            <a:off x="1379509" y="1574226"/>
            <a:ext cx="0" cy="2852737"/>
          </a:xfrm>
          <a:prstGeom prst="straightConnector1">
            <a:avLst/>
          </a:prstGeom>
          <a:noFill/>
          <a:ln cap="flat" cmpd="sng" w="28575">
            <a:solidFill>
              <a:schemeClr val="dk1"/>
            </a:solidFill>
            <a:prstDash val="solid"/>
            <a:round/>
            <a:headEnd len="med" w="med" type="none"/>
            <a:tailEnd len="med" w="med" type="none"/>
          </a:ln>
        </p:spPr>
      </p:cxnSp>
      <p:grpSp>
        <p:nvGrpSpPr>
          <p:cNvPr id="7690" name="Google Shape;7690;p114"/>
          <p:cNvGrpSpPr/>
          <p:nvPr/>
        </p:nvGrpSpPr>
        <p:grpSpPr>
          <a:xfrm>
            <a:off x="2039909" y="3550665"/>
            <a:ext cx="1662113" cy="1489076"/>
            <a:chOff x="944" y="2184"/>
            <a:chExt cx="1047" cy="938"/>
          </a:xfrm>
        </p:grpSpPr>
        <p:sp>
          <p:nvSpPr>
            <p:cNvPr id="7691" name="Google Shape;7691;p114"/>
            <p:cNvSpPr/>
            <p:nvPr/>
          </p:nvSpPr>
          <p:spPr>
            <a:xfrm>
              <a:off x="1278" y="2184"/>
              <a:ext cx="660" cy="666"/>
            </a:xfrm>
            <a:custGeom>
              <a:rect b="b" l="l" r="r" t="t"/>
              <a:pathLst>
                <a:path extrusionOk="0" h="666" w="660">
                  <a:moveTo>
                    <a:pt x="0" y="0"/>
                  </a:moveTo>
                  <a:cubicBezTo>
                    <a:pt x="0" y="0"/>
                    <a:pt x="486" y="168"/>
                    <a:pt x="660" y="666"/>
                  </a:cubicBezTo>
                </a:path>
              </a:pathLst>
            </a:custGeom>
            <a:no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92" name="Google Shape;7692;p114"/>
            <p:cNvSpPr txBox="1"/>
            <p:nvPr/>
          </p:nvSpPr>
          <p:spPr>
            <a:xfrm>
              <a:off x="944" y="2366"/>
              <a:ext cx="1047" cy="756"/>
            </a:xfrm>
            <a:prstGeom prst="rect">
              <a:avLst/>
            </a:prstGeom>
            <a:noFill/>
            <a:ln>
              <a:noFill/>
            </a:ln>
          </p:spPr>
          <p:txBody>
            <a:bodyPr anchorCtr="0" anchor="t" bIns="45700" lIns="91425" spcFirstLastPara="1" rIns="91425" wrap="square" tIns="45700">
              <a:spAutoFit/>
            </a:bodyPr>
            <a:lstStyle/>
            <a:p>
              <a:pPr indent="-342900" lvl="0" marL="342900" marR="0" rtl="0" algn="l">
                <a:lnSpc>
                  <a:spcPct val="90000"/>
                </a:lnSpc>
                <a:spcBef>
                  <a:spcPts val="0"/>
                </a:spcBef>
                <a:spcAft>
                  <a:spcPts val="0"/>
                </a:spcAft>
                <a:buClr>
                  <a:schemeClr val="dk1"/>
                </a:buClr>
                <a:buSzPts val="2000"/>
                <a:buFont typeface="Calibri"/>
                <a:buAutoNum type="arabicPeriod"/>
              </a:pPr>
              <a:r>
                <a:rPr lang="en-US" sz="2000">
                  <a:solidFill>
                    <a:schemeClr val="dk1"/>
                  </a:solidFill>
                  <a:latin typeface="Calibri"/>
                  <a:ea typeface="Calibri"/>
                  <a:cs typeface="Calibri"/>
                  <a:sym typeface="Calibri"/>
                </a:rPr>
                <a:t>video</a:t>
              </a:r>
              <a:endParaRPr/>
            </a:p>
            <a:p>
              <a:pPr indent="0" lvl="0" marL="0" marR="0" rtl="0" algn="l">
                <a:lnSpc>
                  <a:spcPct val="90000"/>
                </a:lnSpc>
                <a:spcBef>
                  <a:spcPts val="0"/>
                </a:spcBef>
                <a:spcAft>
                  <a:spcPts val="0"/>
                </a:spcAft>
                <a:buNone/>
              </a:pPr>
              <a:r>
                <a:rPr lang="en-US" sz="2000">
                  <a:solidFill>
                    <a:schemeClr val="dk1"/>
                  </a:solidFill>
                  <a:latin typeface="Calibri"/>
                  <a:ea typeface="Calibri"/>
                  <a:cs typeface="Calibri"/>
                  <a:sym typeface="Calibri"/>
                </a:rPr>
                <a:t>recorded (e.g., 30 frames/sec)</a:t>
              </a:r>
              <a:endParaRPr/>
            </a:p>
          </p:txBody>
        </p:sp>
      </p:grpSp>
      <p:grpSp>
        <p:nvGrpSpPr>
          <p:cNvPr id="7693" name="Google Shape;7693;p114"/>
          <p:cNvGrpSpPr/>
          <p:nvPr/>
        </p:nvGrpSpPr>
        <p:grpSpPr>
          <a:xfrm>
            <a:off x="1570009" y="1894901"/>
            <a:ext cx="2552700" cy="2525712"/>
            <a:chOff x="648" y="1147"/>
            <a:chExt cx="1608" cy="1591"/>
          </a:xfrm>
        </p:grpSpPr>
        <p:grpSp>
          <p:nvGrpSpPr>
            <p:cNvPr id="7694" name="Google Shape;7694;p114"/>
            <p:cNvGrpSpPr/>
            <p:nvPr/>
          </p:nvGrpSpPr>
          <p:grpSpPr>
            <a:xfrm>
              <a:off x="648" y="1725"/>
              <a:ext cx="1024" cy="1013"/>
              <a:chOff x="672" y="1071"/>
              <a:chExt cx="1024" cy="1013"/>
            </a:xfrm>
          </p:grpSpPr>
          <p:grpSp>
            <p:nvGrpSpPr>
              <p:cNvPr id="7695" name="Google Shape;7695;p114"/>
              <p:cNvGrpSpPr/>
              <p:nvPr/>
            </p:nvGrpSpPr>
            <p:grpSpPr>
              <a:xfrm>
                <a:off x="672" y="1506"/>
                <a:ext cx="583" cy="578"/>
                <a:chOff x="672" y="1486"/>
                <a:chExt cx="583" cy="578"/>
              </a:xfrm>
            </p:grpSpPr>
            <p:grpSp>
              <p:nvGrpSpPr>
                <p:cNvPr id="7696" name="Google Shape;7696;p114"/>
                <p:cNvGrpSpPr/>
                <p:nvPr/>
              </p:nvGrpSpPr>
              <p:grpSpPr>
                <a:xfrm>
                  <a:off x="672" y="1776"/>
                  <a:ext cx="291" cy="288"/>
                  <a:chOff x="672" y="1776"/>
                  <a:chExt cx="291" cy="288"/>
                </a:xfrm>
              </p:grpSpPr>
              <p:grpSp>
                <p:nvGrpSpPr>
                  <p:cNvPr id="7697" name="Google Shape;7697;p114"/>
                  <p:cNvGrpSpPr/>
                  <p:nvPr/>
                </p:nvGrpSpPr>
                <p:grpSpPr>
                  <a:xfrm>
                    <a:off x="672" y="1920"/>
                    <a:ext cx="145" cy="144"/>
                    <a:chOff x="672" y="1920"/>
                    <a:chExt cx="145" cy="144"/>
                  </a:xfrm>
                </p:grpSpPr>
                <p:cxnSp>
                  <p:nvCxnSpPr>
                    <p:cNvPr id="7698" name="Google Shape;7698;p1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699" name="Google Shape;7699;p1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7700" name="Google Shape;7700;p114"/>
                  <p:cNvGrpSpPr/>
                  <p:nvPr/>
                </p:nvGrpSpPr>
                <p:grpSpPr>
                  <a:xfrm>
                    <a:off x="818" y="1776"/>
                    <a:ext cx="145" cy="144"/>
                    <a:chOff x="672" y="1920"/>
                    <a:chExt cx="145" cy="144"/>
                  </a:xfrm>
                </p:grpSpPr>
                <p:cxnSp>
                  <p:nvCxnSpPr>
                    <p:cNvPr id="7701" name="Google Shape;7701;p1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702" name="Google Shape;7702;p1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nvGrpSpPr>
                <p:cNvPr id="7703" name="Google Shape;7703;p114"/>
                <p:cNvGrpSpPr/>
                <p:nvPr/>
              </p:nvGrpSpPr>
              <p:grpSpPr>
                <a:xfrm>
                  <a:off x="964" y="1486"/>
                  <a:ext cx="291" cy="288"/>
                  <a:chOff x="672" y="1776"/>
                  <a:chExt cx="291" cy="288"/>
                </a:xfrm>
              </p:grpSpPr>
              <p:grpSp>
                <p:nvGrpSpPr>
                  <p:cNvPr id="7704" name="Google Shape;7704;p114"/>
                  <p:cNvGrpSpPr/>
                  <p:nvPr/>
                </p:nvGrpSpPr>
                <p:grpSpPr>
                  <a:xfrm>
                    <a:off x="672" y="1920"/>
                    <a:ext cx="145" cy="144"/>
                    <a:chOff x="672" y="1920"/>
                    <a:chExt cx="145" cy="144"/>
                  </a:xfrm>
                </p:grpSpPr>
                <p:cxnSp>
                  <p:nvCxnSpPr>
                    <p:cNvPr id="7705" name="Google Shape;7705;p1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706" name="Google Shape;7706;p1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7707" name="Google Shape;7707;p114"/>
                  <p:cNvGrpSpPr/>
                  <p:nvPr/>
                </p:nvGrpSpPr>
                <p:grpSpPr>
                  <a:xfrm>
                    <a:off x="818" y="1776"/>
                    <a:ext cx="145" cy="144"/>
                    <a:chOff x="672" y="1920"/>
                    <a:chExt cx="145" cy="144"/>
                  </a:xfrm>
                </p:grpSpPr>
                <p:cxnSp>
                  <p:nvCxnSpPr>
                    <p:cNvPr id="7708" name="Google Shape;7708;p1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709" name="Google Shape;7709;p1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grpSp>
            <p:nvGrpSpPr>
              <p:cNvPr id="7710" name="Google Shape;7710;p114"/>
              <p:cNvGrpSpPr/>
              <p:nvPr/>
            </p:nvGrpSpPr>
            <p:grpSpPr>
              <a:xfrm>
                <a:off x="1259" y="1217"/>
                <a:ext cx="291" cy="288"/>
                <a:chOff x="672" y="1776"/>
                <a:chExt cx="291" cy="288"/>
              </a:xfrm>
            </p:grpSpPr>
            <p:grpSp>
              <p:nvGrpSpPr>
                <p:cNvPr id="7711" name="Google Shape;7711;p114"/>
                <p:cNvGrpSpPr/>
                <p:nvPr/>
              </p:nvGrpSpPr>
              <p:grpSpPr>
                <a:xfrm>
                  <a:off x="672" y="1920"/>
                  <a:ext cx="145" cy="144"/>
                  <a:chOff x="672" y="1920"/>
                  <a:chExt cx="145" cy="144"/>
                </a:xfrm>
              </p:grpSpPr>
              <p:cxnSp>
                <p:nvCxnSpPr>
                  <p:cNvPr id="7712" name="Google Shape;7712;p1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713" name="Google Shape;7713;p1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7714" name="Google Shape;7714;p114"/>
                <p:cNvGrpSpPr/>
                <p:nvPr/>
              </p:nvGrpSpPr>
              <p:grpSpPr>
                <a:xfrm>
                  <a:off x="818" y="1776"/>
                  <a:ext cx="145" cy="144"/>
                  <a:chOff x="672" y="1920"/>
                  <a:chExt cx="145" cy="144"/>
                </a:xfrm>
              </p:grpSpPr>
              <p:cxnSp>
                <p:nvCxnSpPr>
                  <p:cNvPr id="7715" name="Google Shape;7715;p1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716" name="Google Shape;7716;p1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nvGrpSpPr>
              <p:cNvPr id="7717" name="Google Shape;7717;p114"/>
              <p:cNvGrpSpPr/>
              <p:nvPr/>
            </p:nvGrpSpPr>
            <p:grpSpPr>
              <a:xfrm>
                <a:off x="1551" y="1071"/>
                <a:ext cx="145" cy="144"/>
                <a:chOff x="672" y="1920"/>
                <a:chExt cx="145" cy="144"/>
              </a:xfrm>
            </p:grpSpPr>
            <p:cxnSp>
              <p:nvCxnSpPr>
                <p:cNvPr id="7718" name="Google Shape;7718;p1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719" name="Google Shape;7719;p1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nvGrpSpPr>
            <p:cNvPr id="7720" name="Google Shape;7720;p114"/>
            <p:cNvGrpSpPr/>
            <p:nvPr/>
          </p:nvGrpSpPr>
          <p:grpSpPr>
            <a:xfrm>
              <a:off x="1673" y="1147"/>
              <a:ext cx="583" cy="578"/>
              <a:chOff x="672" y="1486"/>
              <a:chExt cx="583" cy="578"/>
            </a:xfrm>
          </p:grpSpPr>
          <p:grpSp>
            <p:nvGrpSpPr>
              <p:cNvPr id="7721" name="Google Shape;7721;p114"/>
              <p:cNvGrpSpPr/>
              <p:nvPr/>
            </p:nvGrpSpPr>
            <p:grpSpPr>
              <a:xfrm>
                <a:off x="672" y="1776"/>
                <a:ext cx="291" cy="288"/>
                <a:chOff x="672" y="1776"/>
                <a:chExt cx="291" cy="288"/>
              </a:xfrm>
            </p:grpSpPr>
            <p:grpSp>
              <p:nvGrpSpPr>
                <p:cNvPr id="7722" name="Google Shape;7722;p114"/>
                <p:cNvGrpSpPr/>
                <p:nvPr/>
              </p:nvGrpSpPr>
              <p:grpSpPr>
                <a:xfrm>
                  <a:off x="672" y="1920"/>
                  <a:ext cx="145" cy="144"/>
                  <a:chOff x="672" y="1920"/>
                  <a:chExt cx="145" cy="144"/>
                </a:xfrm>
              </p:grpSpPr>
              <p:cxnSp>
                <p:nvCxnSpPr>
                  <p:cNvPr id="7723" name="Google Shape;7723;p1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724" name="Google Shape;7724;p1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7725" name="Google Shape;7725;p114"/>
                <p:cNvGrpSpPr/>
                <p:nvPr/>
              </p:nvGrpSpPr>
              <p:grpSpPr>
                <a:xfrm>
                  <a:off x="818" y="1776"/>
                  <a:ext cx="145" cy="144"/>
                  <a:chOff x="672" y="1920"/>
                  <a:chExt cx="145" cy="144"/>
                </a:xfrm>
              </p:grpSpPr>
              <p:cxnSp>
                <p:nvCxnSpPr>
                  <p:cNvPr id="7726" name="Google Shape;7726;p1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727" name="Google Shape;7727;p1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nvGrpSpPr>
              <p:cNvPr id="7728" name="Google Shape;7728;p114"/>
              <p:cNvGrpSpPr/>
              <p:nvPr/>
            </p:nvGrpSpPr>
            <p:grpSpPr>
              <a:xfrm>
                <a:off x="964" y="1486"/>
                <a:ext cx="291" cy="288"/>
                <a:chOff x="672" y="1776"/>
                <a:chExt cx="291" cy="288"/>
              </a:xfrm>
            </p:grpSpPr>
            <p:grpSp>
              <p:nvGrpSpPr>
                <p:cNvPr id="7729" name="Google Shape;7729;p114"/>
                <p:cNvGrpSpPr/>
                <p:nvPr/>
              </p:nvGrpSpPr>
              <p:grpSpPr>
                <a:xfrm>
                  <a:off x="672" y="1920"/>
                  <a:ext cx="145" cy="144"/>
                  <a:chOff x="672" y="1920"/>
                  <a:chExt cx="145" cy="144"/>
                </a:xfrm>
              </p:grpSpPr>
              <p:cxnSp>
                <p:nvCxnSpPr>
                  <p:cNvPr id="7730" name="Google Shape;7730;p1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731" name="Google Shape;7731;p1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7732" name="Google Shape;7732;p114"/>
                <p:cNvGrpSpPr/>
                <p:nvPr/>
              </p:nvGrpSpPr>
              <p:grpSpPr>
                <a:xfrm>
                  <a:off x="818" y="1776"/>
                  <a:ext cx="145" cy="144"/>
                  <a:chOff x="672" y="1920"/>
                  <a:chExt cx="145" cy="144"/>
                </a:xfrm>
              </p:grpSpPr>
              <p:cxnSp>
                <p:nvCxnSpPr>
                  <p:cNvPr id="7733" name="Google Shape;7733;p1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734" name="Google Shape;7734;p1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grpSp>
      <p:grpSp>
        <p:nvGrpSpPr>
          <p:cNvPr id="7735" name="Google Shape;7735;p114"/>
          <p:cNvGrpSpPr/>
          <p:nvPr/>
        </p:nvGrpSpPr>
        <p:grpSpPr>
          <a:xfrm>
            <a:off x="3706784" y="3325238"/>
            <a:ext cx="1373188" cy="1296988"/>
            <a:chOff x="1994" y="2042"/>
            <a:chExt cx="865" cy="817"/>
          </a:xfrm>
        </p:grpSpPr>
        <p:sp>
          <p:nvSpPr>
            <p:cNvPr id="7736" name="Google Shape;7736;p114"/>
            <p:cNvSpPr/>
            <p:nvPr/>
          </p:nvSpPr>
          <p:spPr>
            <a:xfrm rot="-5400000">
              <a:off x="2196" y="2196"/>
              <a:ext cx="660" cy="666"/>
            </a:xfrm>
            <a:custGeom>
              <a:rect b="b" l="l" r="r" t="t"/>
              <a:pathLst>
                <a:path extrusionOk="0" h="666" w="660">
                  <a:moveTo>
                    <a:pt x="0" y="0"/>
                  </a:moveTo>
                  <a:cubicBezTo>
                    <a:pt x="0" y="0"/>
                    <a:pt x="486" y="168"/>
                    <a:pt x="660" y="666"/>
                  </a:cubicBezTo>
                </a:path>
              </a:pathLst>
            </a:custGeom>
            <a:noFill/>
            <a:ln cap="flat" cmpd="sng" w="1905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737" name="Google Shape;7737;p114"/>
            <p:cNvSpPr txBox="1"/>
            <p:nvPr/>
          </p:nvSpPr>
          <p:spPr>
            <a:xfrm>
              <a:off x="1994" y="2042"/>
              <a:ext cx="638" cy="44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CC0000"/>
                  </a:solidFill>
                  <a:latin typeface="Calibri"/>
                  <a:ea typeface="Calibri"/>
                  <a:cs typeface="Calibri"/>
                  <a:sym typeface="Calibri"/>
                </a:rPr>
                <a:t>2. </a:t>
              </a:r>
              <a:r>
                <a:rPr lang="en-US" sz="2000">
                  <a:solidFill>
                    <a:srgbClr val="CC0000"/>
                  </a:solidFill>
                  <a:latin typeface="Calibri"/>
                  <a:ea typeface="Calibri"/>
                  <a:cs typeface="Calibri"/>
                  <a:sym typeface="Calibri"/>
                </a:rPr>
                <a:t>video</a:t>
              </a:r>
              <a:endParaRPr/>
            </a:p>
            <a:p>
              <a:pPr indent="0" lvl="0" marL="0" marR="0" rtl="0" algn="l">
                <a:spcBef>
                  <a:spcPts val="0"/>
                </a:spcBef>
                <a:spcAft>
                  <a:spcPts val="0"/>
                </a:spcAft>
                <a:buNone/>
              </a:pPr>
              <a:r>
                <a:rPr lang="en-US" sz="2000">
                  <a:solidFill>
                    <a:srgbClr val="CC0000"/>
                  </a:solidFill>
                  <a:latin typeface="Calibri"/>
                  <a:ea typeface="Calibri"/>
                  <a:cs typeface="Calibri"/>
                  <a:sym typeface="Calibri"/>
                </a:rPr>
                <a:t>sent</a:t>
              </a:r>
              <a:endParaRPr/>
            </a:p>
          </p:txBody>
        </p:sp>
      </p:grpSp>
      <p:sp>
        <p:nvSpPr>
          <p:cNvPr id="7738" name="Google Shape;7738;p114"/>
          <p:cNvSpPr txBox="1"/>
          <p:nvPr/>
        </p:nvSpPr>
        <p:spPr>
          <a:xfrm rot="-5433387">
            <a:off x="128559" y="2721989"/>
            <a:ext cx="1957387"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Cumulative data</a:t>
            </a:r>
            <a:endParaRPr/>
          </a:p>
        </p:txBody>
      </p:sp>
      <p:grpSp>
        <p:nvGrpSpPr>
          <p:cNvPr id="7739" name="Google Shape;7739;p114"/>
          <p:cNvGrpSpPr/>
          <p:nvPr/>
        </p:nvGrpSpPr>
        <p:grpSpPr>
          <a:xfrm>
            <a:off x="4992659" y="1934588"/>
            <a:ext cx="5768976" cy="4508501"/>
            <a:chOff x="2804" y="1044"/>
            <a:chExt cx="3634" cy="2840"/>
          </a:xfrm>
        </p:grpSpPr>
        <p:cxnSp>
          <p:nvCxnSpPr>
            <p:cNvPr id="7740" name="Google Shape;7740;p114"/>
            <p:cNvCxnSpPr/>
            <p:nvPr/>
          </p:nvCxnSpPr>
          <p:spPr>
            <a:xfrm>
              <a:off x="3852" y="1044"/>
              <a:ext cx="0" cy="2150"/>
            </a:xfrm>
            <a:prstGeom prst="straightConnector1">
              <a:avLst/>
            </a:prstGeom>
            <a:noFill/>
            <a:ln cap="flat" cmpd="sng" w="19050">
              <a:solidFill>
                <a:schemeClr val="dk1"/>
              </a:solidFill>
              <a:prstDash val="dot"/>
              <a:round/>
              <a:headEnd len="med" w="med" type="none"/>
              <a:tailEnd len="med" w="med" type="none"/>
            </a:ln>
          </p:spPr>
        </p:cxnSp>
        <p:sp>
          <p:nvSpPr>
            <p:cNvPr id="7741" name="Google Shape;7741;p114"/>
            <p:cNvSpPr txBox="1"/>
            <p:nvPr/>
          </p:nvSpPr>
          <p:spPr>
            <a:xfrm>
              <a:off x="2804" y="3198"/>
              <a:ext cx="3634" cy="686"/>
            </a:xfrm>
            <a:prstGeom prst="rect">
              <a:avLst/>
            </a:prstGeom>
            <a:noFill/>
            <a:ln cap="flat" cmpd="sng" w="19050">
              <a:solidFill>
                <a:schemeClr val="dk1"/>
              </a:solidFill>
              <a:prstDash val="dot"/>
              <a:miter lim="800000"/>
              <a:headEnd len="sm" w="sm" type="none"/>
              <a:tailEnd len="sm" w="sm" type="none"/>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2400">
                  <a:solidFill>
                    <a:srgbClr val="CC0000"/>
                  </a:solidFill>
                  <a:latin typeface="Calibri"/>
                  <a:ea typeface="Calibri"/>
                  <a:cs typeface="Calibri"/>
                  <a:sym typeface="Calibri"/>
                </a:rPr>
                <a:t>streaming</a:t>
              </a:r>
              <a:r>
                <a:rPr lang="en-US" sz="2400">
                  <a:solidFill>
                    <a:schemeClr val="dk1"/>
                  </a:solidFill>
                  <a:latin typeface="Calibri"/>
                  <a:ea typeface="Calibri"/>
                  <a:cs typeface="Calibri"/>
                  <a:sym typeface="Calibri"/>
                </a:rPr>
                <a:t>: </a:t>
              </a:r>
              <a:r>
                <a:rPr i="0" lang="en-US" sz="2400">
                  <a:solidFill>
                    <a:schemeClr val="dk1"/>
                  </a:solidFill>
                  <a:latin typeface="Calibri"/>
                  <a:ea typeface="Calibri"/>
                  <a:cs typeface="Calibri"/>
                  <a:sym typeface="Calibri"/>
                </a:rPr>
                <a:t>at this time, client  playing out early part of video, while server still sending later part of video</a:t>
              </a:r>
              <a:endParaRPr/>
            </a:p>
          </p:txBody>
        </p:sp>
      </p:grpSp>
      <p:grpSp>
        <p:nvGrpSpPr>
          <p:cNvPr id="7742" name="Google Shape;7742;p114"/>
          <p:cNvGrpSpPr/>
          <p:nvPr/>
        </p:nvGrpSpPr>
        <p:grpSpPr>
          <a:xfrm>
            <a:off x="4444972" y="4466654"/>
            <a:ext cx="1903413" cy="839788"/>
            <a:chOff x="2459" y="2718"/>
            <a:chExt cx="1199" cy="529"/>
          </a:xfrm>
        </p:grpSpPr>
        <p:sp>
          <p:nvSpPr>
            <p:cNvPr id="7743" name="Google Shape;7743;p114"/>
            <p:cNvSpPr txBox="1"/>
            <p:nvPr/>
          </p:nvSpPr>
          <p:spPr>
            <a:xfrm>
              <a:off x="2564" y="2718"/>
              <a:ext cx="1018" cy="52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lang="en-US" sz="1800">
                  <a:solidFill>
                    <a:schemeClr val="dk1"/>
                  </a:solidFill>
                  <a:latin typeface="Calibri"/>
                  <a:ea typeface="Calibri"/>
                  <a:cs typeface="Calibri"/>
                  <a:sym typeface="Calibri"/>
                </a:rPr>
                <a:t>network delay</a:t>
              </a:r>
              <a:endParaRPr/>
            </a:p>
            <a:p>
              <a:pPr indent="0" lvl="0" marL="0" marR="0" rtl="0" algn="ctr">
                <a:lnSpc>
                  <a:spcPct val="90000"/>
                </a:lnSpc>
                <a:spcBef>
                  <a:spcPts val="0"/>
                </a:spcBef>
                <a:spcAft>
                  <a:spcPts val="0"/>
                </a:spcAft>
                <a:buNone/>
              </a:pPr>
              <a:r>
                <a:rPr lang="en-US" sz="1800">
                  <a:solidFill>
                    <a:schemeClr val="dk1"/>
                  </a:solidFill>
                  <a:latin typeface="Calibri"/>
                  <a:ea typeface="Calibri"/>
                  <a:cs typeface="Calibri"/>
                  <a:sym typeface="Calibri"/>
                </a:rPr>
                <a:t>(fixed in this example)</a:t>
              </a:r>
              <a:endParaRPr/>
            </a:p>
          </p:txBody>
        </p:sp>
        <p:cxnSp>
          <p:nvCxnSpPr>
            <p:cNvPr id="7744" name="Google Shape;7744;p114"/>
            <p:cNvCxnSpPr/>
            <p:nvPr/>
          </p:nvCxnSpPr>
          <p:spPr>
            <a:xfrm flipH="1" rot="10800000">
              <a:off x="2459" y="2742"/>
              <a:ext cx="1199" cy="5"/>
            </a:xfrm>
            <a:prstGeom prst="straightConnector1">
              <a:avLst/>
            </a:prstGeom>
            <a:noFill/>
            <a:ln cap="flat" cmpd="sng" w="19050">
              <a:solidFill>
                <a:schemeClr val="dk1"/>
              </a:solidFill>
              <a:prstDash val="solid"/>
              <a:round/>
              <a:headEnd len="med" w="med" type="triangle"/>
              <a:tailEnd len="med" w="med" type="triangle"/>
            </a:ln>
          </p:spPr>
        </p:cxnSp>
      </p:grpSp>
      <p:sp>
        <p:nvSpPr>
          <p:cNvPr id="7745" name="Google Shape;7745;p114"/>
          <p:cNvSpPr txBox="1"/>
          <p:nvPr/>
        </p:nvSpPr>
        <p:spPr>
          <a:xfrm>
            <a:off x="8640734" y="4439663"/>
            <a:ext cx="620713"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time</a:t>
            </a:r>
            <a:endParaRPr/>
          </a:p>
        </p:txBody>
      </p:sp>
      <p:grpSp>
        <p:nvGrpSpPr>
          <p:cNvPr id="7746" name="Google Shape;7746;p114"/>
          <p:cNvGrpSpPr/>
          <p:nvPr/>
        </p:nvGrpSpPr>
        <p:grpSpPr>
          <a:xfrm>
            <a:off x="4456084" y="1913951"/>
            <a:ext cx="6392863" cy="2590801"/>
            <a:chOff x="2466" y="1153"/>
            <a:chExt cx="4027" cy="1632"/>
          </a:xfrm>
        </p:grpSpPr>
        <p:grpSp>
          <p:nvGrpSpPr>
            <p:cNvPr id="7747" name="Google Shape;7747;p114"/>
            <p:cNvGrpSpPr/>
            <p:nvPr/>
          </p:nvGrpSpPr>
          <p:grpSpPr>
            <a:xfrm>
              <a:off x="2466" y="1153"/>
              <a:ext cx="1608" cy="1591"/>
              <a:chOff x="648" y="1147"/>
              <a:chExt cx="1608" cy="1591"/>
            </a:xfrm>
          </p:grpSpPr>
          <p:grpSp>
            <p:nvGrpSpPr>
              <p:cNvPr id="7748" name="Google Shape;7748;p114"/>
              <p:cNvGrpSpPr/>
              <p:nvPr/>
            </p:nvGrpSpPr>
            <p:grpSpPr>
              <a:xfrm>
                <a:off x="648" y="1725"/>
                <a:ext cx="1024" cy="1013"/>
                <a:chOff x="672" y="1071"/>
                <a:chExt cx="1024" cy="1013"/>
              </a:xfrm>
            </p:grpSpPr>
            <p:grpSp>
              <p:nvGrpSpPr>
                <p:cNvPr id="7749" name="Google Shape;7749;p114"/>
                <p:cNvGrpSpPr/>
                <p:nvPr/>
              </p:nvGrpSpPr>
              <p:grpSpPr>
                <a:xfrm>
                  <a:off x="672" y="1506"/>
                  <a:ext cx="583" cy="578"/>
                  <a:chOff x="672" y="1486"/>
                  <a:chExt cx="583" cy="578"/>
                </a:xfrm>
              </p:grpSpPr>
              <p:grpSp>
                <p:nvGrpSpPr>
                  <p:cNvPr id="7750" name="Google Shape;7750;p114"/>
                  <p:cNvGrpSpPr/>
                  <p:nvPr/>
                </p:nvGrpSpPr>
                <p:grpSpPr>
                  <a:xfrm>
                    <a:off x="672" y="1776"/>
                    <a:ext cx="291" cy="288"/>
                    <a:chOff x="672" y="1776"/>
                    <a:chExt cx="291" cy="288"/>
                  </a:xfrm>
                </p:grpSpPr>
                <p:grpSp>
                  <p:nvGrpSpPr>
                    <p:cNvPr id="7751" name="Google Shape;7751;p114"/>
                    <p:cNvGrpSpPr/>
                    <p:nvPr/>
                  </p:nvGrpSpPr>
                  <p:grpSpPr>
                    <a:xfrm>
                      <a:off x="672" y="1920"/>
                      <a:ext cx="145" cy="144"/>
                      <a:chOff x="672" y="1920"/>
                      <a:chExt cx="145" cy="144"/>
                    </a:xfrm>
                  </p:grpSpPr>
                  <p:cxnSp>
                    <p:nvCxnSpPr>
                      <p:cNvPr id="7752" name="Google Shape;7752;p1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753" name="Google Shape;7753;p1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7754" name="Google Shape;7754;p114"/>
                    <p:cNvGrpSpPr/>
                    <p:nvPr/>
                  </p:nvGrpSpPr>
                  <p:grpSpPr>
                    <a:xfrm>
                      <a:off x="818" y="1776"/>
                      <a:ext cx="145" cy="144"/>
                      <a:chOff x="672" y="1920"/>
                      <a:chExt cx="145" cy="144"/>
                    </a:xfrm>
                  </p:grpSpPr>
                  <p:cxnSp>
                    <p:nvCxnSpPr>
                      <p:cNvPr id="7755" name="Google Shape;7755;p1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756" name="Google Shape;7756;p1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7757" name="Google Shape;7757;p114"/>
                  <p:cNvGrpSpPr/>
                  <p:nvPr/>
                </p:nvGrpSpPr>
                <p:grpSpPr>
                  <a:xfrm>
                    <a:off x="964" y="1486"/>
                    <a:ext cx="291" cy="288"/>
                    <a:chOff x="672" y="1776"/>
                    <a:chExt cx="291" cy="288"/>
                  </a:xfrm>
                </p:grpSpPr>
                <p:grpSp>
                  <p:nvGrpSpPr>
                    <p:cNvPr id="7758" name="Google Shape;7758;p114"/>
                    <p:cNvGrpSpPr/>
                    <p:nvPr/>
                  </p:nvGrpSpPr>
                  <p:grpSpPr>
                    <a:xfrm>
                      <a:off x="672" y="1920"/>
                      <a:ext cx="145" cy="144"/>
                      <a:chOff x="672" y="1920"/>
                      <a:chExt cx="145" cy="144"/>
                    </a:xfrm>
                  </p:grpSpPr>
                  <p:cxnSp>
                    <p:nvCxnSpPr>
                      <p:cNvPr id="7759" name="Google Shape;7759;p1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760" name="Google Shape;7760;p1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7761" name="Google Shape;7761;p114"/>
                    <p:cNvGrpSpPr/>
                    <p:nvPr/>
                  </p:nvGrpSpPr>
                  <p:grpSpPr>
                    <a:xfrm>
                      <a:off x="818" y="1776"/>
                      <a:ext cx="145" cy="144"/>
                      <a:chOff x="672" y="1920"/>
                      <a:chExt cx="145" cy="144"/>
                    </a:xfrm>
                  </p:grpSpPr>
                  <p:cxnSp>
                    <p:nvCxnSpPr>
                      <p:cNvPr id="7762" name="Google Shape;7762;p1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763" name="Google Shape;7763;p1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grpSp>
              <p:nvGrpSpPr>
                <p:cNvPr id="7764" name="Google Shape;7764;p114"/>
                <p:cNvGrpSpPr/>
                <p:nvPr/>
              </p:nvGrpSpPr>
              <p:grpSpPr>
                <a:xfrm>
                  <a:off x="1259" y="1217"/>
                  <a:ext cx="291" cy="288"/>
                  <a:chOff x="672" y="1776"/>
                  <a:chExt cx="291" cy="288"/>
                </a:xfrm>
              </p:grpSpPr>
              <p:grpSp>
                <p:nvGrpSpPr>
                  <p:cNvPr id="7765" name="Google Shape;7765;p114"/>
                  <p:cNvGrpSpPr/>
                  <p:nvPr/>
                </p:nvGrpSpPr>
                <p:grpSpPr>
                  <a:xfrm>
                    <a:off x="672" y="1920"/>
                    <a:ext cx="145" cy="144"/>
                    <a:chOff x="672" y="1920"/>
                    <a:chExt cx="145" cy="144"/>
                  </a:xfrm>
                </p:grpSpPr>
                <p:cxnSp>
                  <p:nvCxnSpPr>
                    <p:cNvPr id="7766" name="Google Shape;7766;p1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767" name="Google Shape;7767;p1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7768" name="Google Shape;7768;p114"/>
                  <p:cNvGrpSpPr/>
                  <p:nvPr/>
                </p:nvGrpSpPr>
                <p:grpSpPr>
                  <a:xfrm>
                    <a:off x="818" y="1776"/>
                    <a:ext cx="145" cy="144"/>
                    <a:chOff x="672" y="1920"/>
                    <a:chExt cx="145" cy="144"/>
                  </a:xfrm>
                </p:grpSpPr>
                <p:cxnSp>
                  <p:nvCxnSpPr>
                    <p:cNvPr id="7769" name="Google Shape;7769;p1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770" name="Google Shape;7770;p1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7771" name="Google Shape;7771;p114"/>
                <p:cNvGrpSpPr/>
                <p:nvPr/>
              </p:nvGrpSpPr>
              <p:grpSpPr>
                <a:xfrm>
                  <a:off x="1551" y="1071"/>
                  <a:ext cx="145" cy="144"/>
                  <a:chOff x="672" y="1920"/>
                  <a:chExt cx="145" cy="144"/>
                </a:xfrm>
              </p:grpSpPr>
              <p:cxnSp>
                <p:nvCxnSpPr>
                  <p:cNvPr id="7772" name="Google Shape;7772;p1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773" name="Google Shape;7773;p1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7774" name="Google Shape;7774;p114"/>
              <p:cNvGrpSpPr/>
              <p:nvPr/>
            </p:nvGrpSpPr>
            <p:grpSpPr>
              <a:xfrm>
                <a:off x="1673" y="1147"/>
                <a:ext cx="583" cy="578"/>
                <a:chOff x="672" y="1486"/>
                <a:chExt cx="583" cy="578"/>
              </a:xfrm>
            </p:grpSpPr>
            <p:grpSp>
              <p:nvGrpSpPr>
                <p:cNvPr id="7775" name="Google Shape;7775;p114"/>
                <p:cNvGrpSpPr/>
                <p:nvPr/>
              </p:nvGrpSpPr>
              <p:grpSpPr>
                <a:xfrm>
                  <a:off x="672" y="1776"/>
                  <a:ext cx="291" cy="288"/>
                  <a:chOff x="672" y="1776"/>
                  <a:chExt cx="291" cy="288"/>
                </a:xfrm>
              </p:grpSpPr>
              <p:grpSp>
                <p:nvGrpSpPr>
                  <p:cNvPr id="7776" name="Google Shape;7776;p114"/>
                  <p:cNvGrpSpPr/>
                  <p:nvPr/>
                </p:nvGrpSpPr>
                <p:grpSpPr>
                  <a:xfrm>
                    <a:off x="672" y="1920"/>
                    <a:ext cx="145" cy="144"/>
                    <a:chOff x="672" y="1920"/>
                    <a:chExt cx="145" cy="144"/>
                  </a:xfrm>
                </p:grpSpPr>
                <p:cxnSp>
                  <p:nvCxnSpPr>
                    <p:cNvPr id="7777" name="Google Shape;7777;p1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778" name="Google Shape;7778;p1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7779" name="Google Shape;7779;p114"/>
                  <p:cNvGrpSpPr/>
                  <p:nvPr/>
                </p:nvGrpSpPr>
                <p:grpSpPr>
                  <a:xfrm>
                    <a:off x="818" y="1776"/>
                    <a:ext cx="145" cy="144"/>
                    <a:chOff x="672" y="1920"/>
                    <a:chExt cx="145" cy="144"/>
                  </a:xfrm>
                </p:grpSpPr>
                <p:cxnSp>
                  <p:nvCxnSpPr>
                    <p:cNvPr id="7780" name="Google Shape;7780;p1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781" name="Google Shape;7781;p1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7782" name="Google Shape;7782;p114"/>
                <p:cNvGrpSpPr/>
                <p:nvPr/>
              </p:nvGrpSpPr>
              <p:grpSpPr>
                <a:xfrm>
                  <a:off x="964" y="1486"/>
                  <a:ext cx="291" cy="288"/>
                  <a:chOff x="672" y="1776"/>
                  <a:chExt cx="291" cy="288"/>
                </a:xfrm>
              </p:grpSpPr>
              <p:grpSp>
                <p:nvGrpSpPr>
                  <p:cNvPr id="7783" name="Google Shape;7783;p114"/>
                  <p:cNvGrpSpPr/>
                  <p:nvPr/>
                </p:nvGrpSpPr>
                <p:grpSpPr>
                  <a:xfrm>
                    <a:off x="672" y="1920"/>
                    <a:ext cx="145" cy="144"/>
                    <a:chOff x="672" y="1920"/>
                    <a:chExt cx="145" cy="144"/>
                  </a:xfrm>
                </p:grpSpPr>
                <p:cxnSp>
                  <p:nvCxnSpPr>
                    <p:cNvPr id="7784" name="Google Shape;7784;p1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785" name="Google Shape;7785;p1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7786" name="Google Shape;7786;p114"/>
                  <p:cNvGrpSpPr/>
                  <p:nvPr/>
                </p:nvGrpSpPr>
                <p:grpSpPr>
                  <a:xfrm>
                    <a:off x="818" y="1776"/>
                    <a:ext cx="145" cy="144"/>
                    <a:chOff x="672" y="1920"/>
                    <a:chExt cx="145" cy="144"/>
                  </a:xfrm>
                </p:grpSpPr>
                <p:cxnSp>
                  <p:nvCxnSpPr>
                    <p:cNvPr id="7787" name="Google Shape;7787;p1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788" name="Google Shape;7788;p1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grpSp>
        <p:grpSp>
          <p:nvGrpSpPr>
            <p:cNvPr id="7789" name="Google Shape;7789;p114"/>
            <p:cNvGrpSpPr/>
            <p:nvPr/>
          </p:nvGrpSpPr>
          <p:grpSpPr>
            <a:xfrm>
              <a:off x="3636" y="1159"/>
              <a:ext cx="1608" cy="1591"/>
              <a:chOff x="648" y="1147"/>
              <a:chExt cx="1608" cy="1591"/>
            </a:xfrm>
          </p:grpSpPr>
          <p:grpSp>
            <p:nvGrpSpPr>
              <p:cNvPr id="7790" name="Google Shape;7790;p114"/>
              <p:cNvGrpSpPr/>
              <p:nvPr/>
            </p:nvGrpSpPr>
            <p:grpSpPr>
              <a:xfrm>
                <a:off x="648" y="1725"/>
                <a:ext cx="1024" cy="1013"/>
                <a:chOff x="672" y="1071"/>
                <a:chExt cx="1024" cy="1013"/>
              </a:xfrm>
            </p:grpSpPr>
            <p:grpSp>
              <p:nvGrpSpPr>
                <p:cNvPr id="7791" name="Google Shape;7791;p114"/>
                <p:cNvGrpSpPr/>
                <p:nvPr/>
              </p:nvGrpSpPr>
              <p:grpSpPr>
                <a:xfrm>
                  <a:off x="672" y="1506"/>
                  <a:ext cx="583" cy="578"/>
                  <a:chOff x="672" y="1486"/>
                  <a:chExt cx="583" cy="578"/>
                </a:xfrm>
              </p:grpSpPr>
              <p:grpSp>
                <p:nvGrpSpPr>
                  <p:cNvPr id="7792" name="Google Shape;7792;p114"/>
                  <p:cNvGrpSpPr/>
                  <p:nvPr/>
                </p:nvGrpSpPr>
                <p:grpSpPr>
                  <a:xfrm>
                    <a:off x="672" y="1776"/>
                    <a:ext cx="291" cy="288"/>
                    <a:chOff x="672" y="1776"/>
                    <a:chExt cx="291" cy="288"/>
                  </a:xfrm>
                </p:grpSpPr>
                <p:grpSp>
                  <p:nvGrpSpPr>
                    <p:cNvPr id="7793" name="Google Shape;7793;p114"/>
                    <p:cNvGrpSpPr/>
                    <p:nvPr/>
                  </p:nvGrpSpPr>
                  <p:grpSpPr>
                    <a:xfrm>
                      <a:off x="672" y="1920"/>
                      <a:ext cx="145" cy="144"/>
                      <a:chOff x="672" y="1920"/>
                      <a:chExt cx="145" cy="144"/>
                    </a:xfrm>
                  </p:grpSpPr>
                  <p:cxnSp>
                    <p:nvCxnSpPr>
                      <p:cNvPr id="7794" name="Google Shape;7794;p114"/>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795" name="Google Shape;7795;p114"/>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nvGrpSpPr>
                    <p:cNvPr id="7796" name="Google Shape;7796;p114"/>
                    <p:cNvGrpSpPr/>
                    <p:nvPr/>
                  </p:nvGrpSpPr>
                  <p:grpSpPr>
                    <a:xfrm>
                      <a:off x="818" y="1776"/>
                      <a:ext cx="145" cy="144"/>
                      <a:chOff x="672" y="1920"/>
                      <a:chExt cx="145" cy="144"/>
                    </a:xfrm>
                  </p:grpSpPr>
                  <p:cxnSp>
                    <p:nvCxnSpPr>
                      <p:cNvPr id="7797" name="Google Shape;7797;p114"/>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798" name="Google Shape;7798;p114"/>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grpSp>
                <p:nvGrpSpPr>
                  <p:cNvPr id="7799" name="Google Shape;7799;p114"/>
                  <p:cNvGrpSpPr/>
                  <p:nvPr/>
                </p:nvGrpSpPr>
                <p:grpSpPr>
                  <a:xfrm>
                    <a:off x="964" y="1486"/>
                    <a:ext cx="291" cy="288"/>
                    <a:chOff x="672" y="1776"/>
                    <a:chExt cx="291" cy="288"/>
                  </a:xfrm>
                </p:grpSpPr>
                <p:grpSp>
                  <p:nvGrpSpPr>
                    <p:cNvPr id="7800" name="Google Shape;7800;p114"/>
                    <p:cNvGrpSpPr/>
                    <p:nvPr/>
                  </p:nvGrpSpPr>
                  <p:grpSpPr>
                    <a:xfrm>
                      <a:off x="672" y="1920"/>
                      <a:ext cx="145" cy="144"/>
                      <a:chOff x="672" y="1920"/>
                      <a:chExt cx="145" cy="144"/>
                    </a:xfrm>
                  </p:grpSpPr>
                  <p:cxnSp>
                    <p:nvCxnSpPr>
                      <p:cNvPr id="7801" name="Google Shape;7801;p114"/>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802" name="Google Shape;7802;p114"/>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nvGrpSpPr>
                    <p:cNvPr id="7803" name="Google Shape;7803;p114"/>
                    <p:cNvGrpSpPr/>
                    <p:nvPr/>
                  </p:nvGrpSpPr>
                  <p:grpSpPr>
                    <a:xfrm>
                      <a:off x="818" y="1776"/>
                      <a:ext cx="145" cy="144"/>
                      <a:chOff x="672" y="1920"/>
                      <a:chExt cx="145" cy="144"/>
                    </a:xfrm>
                  </p:grpSpPr>
                  <p:cxnSp>
                    <p:nvCxnSpPr>
                      <p:cNvPr id="7804" name="Google Shape;7804;p114"/>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805" name="Google Shape;7805;p114"/>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grpSp>
            <p:grpSp>
              <p:nvGrpSpPr>
                <p:cNvPr id="7806" name="Google Shape;7806;p114"/>
                <p:cNvGrpSpPr/>
                <p:nvPr/>
              </p:nvGrpSpPr>
              <p:grpSpPr>
                <a:xfrm>
                  <a:off x="1259" y="1217"/>
                  <a:ext cx="291" cy="288"/>
                  <a:chOff x="672" y="1776"/>
                  <a:chExt cx="291" cy="288"/>
                </a:xfrm>
              </p:grpSpPr>
              <p:grpSp>
                <p:nvGrpSpPr>
                  <p:cNvPr id="7807" name="Google Shape;7807;p114"/>
                  <p:cNvGrpSpPr/>
                  <p:nvPr/>
                </p:nvGrpSpPr>
                <p:grpSpPr>
                  <a:xfrm>
                    <a:off x="672" y="1920"/>
                    <a:ext cx="145" cy="144"/>
                    <a:chOff x="672" y="1920"/>
                    <a:chExt cx="145" cy="144"/>
                  </a:xfrm>
                </p:grpSpPr>
                <p:cxnSp>
                  <p:nvCxnSpPr>
                    <p:cNvPr id="7808" name="Google Shape;7808;p114"/>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809" name="Google Shape;7809;p114"/>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nvGrpSpPr>
                  <p:cNvPr id="7810" name="Google Shape;7810;p114"/>
                  <p:cNvGrpSpPr/>
                  <p:nvPr/>
                </p:nvGrpSpPr>
                <p:grpSpPr>
                  <a:xfrm>
                    <a:off x="818" y="1776"/>
                    <a:ext cx="145" cy="144"/>
                    <a:chOff x="672" y="1920"/>
                    <a:chExt cx="145" cy="144"/>
                  </a:xfrm>
                </p:grpSpPr>
                <p:cxnSp>
                  <p:nvCxnSpPr>
                    <p:cNvPr id="7811" name="Google Shape;7811;p114"/>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812" name="Google Shape;7812;p114"/>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grpSp>
              <p:nvGrpSpPr>
                <p:cNvPr id="7813" name="Google Shape;7813;p114"/>
                <p:cNvGrpSpPr/>
                <p:nvPr/>
              </p:nvGrpSpPr>
              <p:grpSpPr>
                <a:xfrm>
                  <a:off x="1551" y="1071"/>
                  <a:ext cx="145" cy="144"/>
                  <a:chOff x="672" y="1920"/>
                  <a:chExt cx="145" cy="144"/>
                </a:xfrm>
              </p:grpSpPr>
              <p:cxnSp>
                <p:nvCxnSpPr>
                  <p:cNvPr id="7814" name="Google Shape;7814;p114"/>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815" name="Google Shape;7815;p114"/>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grpSp>
            <p:nvGrpSpPr>
              <p:cNvPr id="7816" name="Google Shape;7816;p114"/>
              <p:cNvGrpSpPr/>
              <p:nvPr/>
            </p:nvGrpSpPr>
            <p:grpSpPr>
              <a:xfrm>
                <a:off x="1673" y="1147"/>
                <a:ext cx="583" cy="578"/>
                <a:chOff x="672" y="1486"/>
                <a:chExt cx="583" cy="578"/>
              </a:xfrm>
            </p:grpSpPr>
            <p:grpSp>
              <p:nvGrpSpPr>
                <p:cNvPr id="7817" name="Google Shape;7817;p114"/>
                <p:cNvGrpSpPr/>
                <p:nvPr/>
              </p:nvGrpSpPr>
              <p:grpSpPr>
                <a:xfrm>
                  <a:off x="672" y="1776"/>
                  <a:ext cx="291" cy="288"/>
                  <a:chOff x="672" y="1776"/>
                  <a:chExt cx="291" cy="288"/>
                </a:xfrm>
              </p:grpSpPr>
              <p:grpSp>
                <p:nvGrpSpPr>
                  <p:cNvPr id="7818" name="Google Shape;7818;p114"/>
                  <p:cNvGrpSpPr/>
                  <p:nvPr/>
                </p:nvGrpSpPr>
                <p:grpSpPr>
                  <a:xfrm>
                    <a:off x="672" y="1920"/>
                    <a:ext cx="145" cy="144"/>
                    <a:chOff x="672" y="1920"/>
                    <a:chExt cx="145" cy="144"/>
                  </a:xfrm>
                </p:grpSpPr>
                <p:cxnSp>
                  <p:nvCxnSpPr>
                    <p:cNvPr id="7819" name="Google Shape;7819;p114"/>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820" name="Google Shape;7820;p114"/>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nvGrpSpPr>
                  <p:cNvPr id="7821" name="Google Shape;7821;p114"/>
                  <p:cNvGrpSpPr/>
                  <p:nvPr/>
                </p:nvGrpSpPr>
                <p:grpSpPr>
                  <a:xfrm>
                    <a:off x="818" y="1776"/>
                    <a:ext cx="145" cy="144"/>
                    <a:chOff x="672" y="1920"/>
                    <a:chExt cx="145" cy="144"/>
                  </a:xfrm>
                </p:grpSpPr>
                <p:cxnSp>
                  <p:nvCxnSpPr>
                    <p:cNvPr id="7822" name="Google Shape;7822;p114"/>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823" name="Google Shape;7823;p114"/>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grpSp>
              <p:nvGrpSpPr>
                <p:cNvPr id="7824" name="Google Shape;7824;p114"/>
                <p:cNvGrpSpPr/>
                <p:nvPr/>
              </p:nvGrpSpPr>
              <p:grpSpPr>
                <a:xfrm>
                  <a:off x="964" y="1486"/>
                  <a:ext cx="291" cy="288"/>
                  <a:chOff x="672" y="1776"/>
                  <a:chExt cx="291" cy="288"/>
                </a:xfrm>
              </p:grpSpPr>
              <p:grpSp>
                <p:nvGrpSpPr>
                  <p:cNvPr id="7825" name="Google Shape;7825;p114"/>
                  <p:cNvGrpSpPr/>
                  <p:nvPr/>
                </p:nvGrpSpPr>
                <p:grpSpPr>
                  <a:xfrm>
                    <a:off x="672" y="1920"/>
                    <a:ext cx="145" cy="144"/>
                    <a:chOff x="672" y="1920"/>
                    <a:chExt cx="145" cy="144"/>
                  </a:xfrm>
                </p:grpSpPr>
                <p:cxnSp>
                  <p:nvCxnSpPr>
                    <p:cNvPr id="7826" name="Google Shape;7826;p114"/>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827" name="Google Shape;7827;p114"/>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nvGrpSpPr>
                  <p:cNvPr id="7828" name="Google Shape;7828;p114"/>
                  <p:cNvGrpSpPr/>
                  <p:nvPr/>
                </p:nvGrpSpPr>
                <p:grpSpPr>
                  <a:xfrm>
                    <a:off x="818" y="1776"/>
                    <a:ext cx="145" cy="144"/>
                    <a:chOff x="672" y="1920"/>
                    <a:chExt cx="145" cy="144"/>
                  </a:xfrm>
                </p:grpSpPr>
                <p:cxnSp>
                  <p:nvCxnSpPr>
                    <p:cNvPr id="7829" name="Google Shape;7829;p114"/>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830" name="Google Shape;7830;p114"/>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grpSp>
        </p:grpSp>
        <p:sp>
          <p:nvSpPr>
            <p:cNvPr id="7831" name="Google Shape;7831;p114"/>
            <p:cNvSpPr txBox="1"/>
            <p:nvPr/>
          </p:nvSpPr>
          <p:spPr>
            <a:xfrm>
              <a:off x="3932" y="2339"/>
              <a:ext cx="2561" cy="44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99"/>
                  </a:solidFill>
                  <a:latin typeface="Calibri"/>
                  <a:ea typeface="Calibri"/>
                  <a:cs typeface="Calibri"/>
                  <a:sym typeface="Calibri"/>
                </a:rPr>
                <a:t>3. </a:t>
              </a:r>
              <a:r>
                <a:rPr lang="en-US" sz="2000">
                  <a:solidFill>
                    <a:srgbClr val="000099"/>
                  </a:solidFill>
                  <a:latin typeface="Calibri"/>
                  <a:ea typeface="Calibri"/>
                  <a:cs typeface="Calibri"/>
                  <a:sym typeface="Calibri"/>
                </a:rPr>
                <a:t>video received, played out at client</a:t>
              </a:r>
              <a:endParaRPr/>
            </a:p>
            <a:p>
              <a:pPr indent="0" lvl="0" marL="0" marR="0" rtl="0" algn="l">
                <a:spcBef>
                  <a:spcPts val="0"/>
                </a:spcBef>
                <a:spcAft>
                  <a:spcPts val="0"/>
                </a:spcAft>
                <a:buNone/>
              </a:pPr>
              <a:r>
                <a:rPr lang="en-US" sz="2000">
                  <a:solidFill>
                    <a:srgbClr val="000099"/>
                  </a:solidFill>
                  <a:latin typeface="Calibri"/>
                  <a:ea typeface="Calibri"/>
                  <a:cs typeface="Calibri"/>
                  <a:sym typeface="Calibri"/>
                </a:rPr>
                <a:t>(30 frames/sec)</a:t>
              </a:r>
              <a:endParaRPr sz="1800">
                <a:solidFill>
                  <a:srgbClr val="000099"/>
                </a:solidFill>
                <a:latin typeface="Calibri"/>
                <a:ea typeface="Calibri"/>
                <a:cs typeface="Calibri"/>
                <a:sym typeface="Calibri"/>
              </a:endParaRPr>
            </a:p>
          </p:txBody>
        </p:sp>
        <p:grpSp>
          <p:nvGrpSpPr>
            <p:cNvPr id="7832" name="Google Shape;7832;p114"/>
            <p:cNvGrpSpPr/>
            <p:nvPr/>
          </p:nvGrpSpPr>
          <p:grpSpPr>
            <a:xfrm>
              <a:off x="4679" y="1872"/>
              <a:ext cx="427" cy="418"/>
              <a:chOff x="4437" y="1472"/>
              <a:chExt cx="427" cy="418"/>
            </a:xfrm>
          </p:grpSpPr>
          <p:sp>
            <p:nvSpPr>
              <p:cNvPr id="7833" name="Google Shape;7833;p114"/>
              <p:cNvSpPr/>
              <p:nvPr/>
            </p:nvSpPr>
            <p:spPr>
              <a:xfrm>
                <a:off x="4443" y="1475"/>
                <a:ext cx="421" cy="361"/>
              </a:xfrm>
              <a:prstGeom prst="rect">
                <a:avLst/>
              </a:prstGeom>
              <a:gradFill>
                <a:gsLst>
                  <a:gs pos="0">
                    <a:srgbClr val="6B8FB3"/>
                  </a:gs>
                  <a:gs pos="50000">
                    <a:srgbClr val="99CCFF"/>
                  </a:gs>
                  <a:gs pos="100000">
                    <a:srgbClr val="6B8FB3"/>
                  </a:gs>
                </a:gsLst>
                <a:lin ang="5400000" scaled="0"/>
              </a:gra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34" name="Google Shape;7834;p114"/>
              <p:cNvSpPr/>
              <p:nvPr/>
            </p:nvSpPr>
            <p:spPr>
              <a:xfrm>
                <a:off x="4567" y="1837"/>
                <a:ext cx="179" cy="23"/>
              </a:xfrm>
              <a:prstGeom prst="rect">
                <a:avLst/>
              </a:prstGeom>
              <a:solidFill>
                <a:srgbClr val="5F5F5F"/>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35" name="Google Shape;7835;p114"/>
              <p:cNvSpPr/>
              <p:nvPr/>
            </p:nvSpPr>
            <p:spPr>
              <a:xfrm>
                <a:off x="4442" y="1866"/>
                <a:ext cx="414" cy="24"/>
              </a:xfrm>
              <a:prstGeom prst="rect">
                <a:avLst/>
              </a:prstGeom>
              <a:solidFill>
                <a:schemeClr val="dk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36" name="Google Shape;7836;p114"/>
              <p:cNvSpPr/>
              <p:nvPr/>
            </p:nvSpPr>
            <p:spPr>
              <a:xfrm>
                <a:off x="4437" y="1472"/>
                <a:ext cx="423" cy="356"/>
              </a:xfrm>
              <a:prstGeom prst="rect">
                <a:avLst/>
              </a:prstGeom>
              <a:noFill/>
              <a:ln cap="flat" cmpd="sng" w="1905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cxnSp>
        <p:nvCxnSpPr>
          <p:cNvPr id="7837" name="Google Shape;7837;p114"/>
          <p:cNvCxnSpPr/>
          <p:nvPr/>
        </p:nvCxnSpPr>
        <p:spPr>
          <a:xfrm flipH="1">
            <a:off x="1369984" y="4417438"/>
            <a:ext cx="7815263" cy="14288"/>
          </a:xfrm>
          <a:prstGeom prst="straightConnector1">
            <a:avLst/>
          </a:prstGeom>
          <a:noFill/>
          <a:ln cap="flat" cmpd="sng" w="28575">
            <a:solidFill>
              <a:schemeClr val="dk1"/>
            </a:solidFill>
            <a:prstDash val="solid"/>
            <a:round/>
            <a:headEnd len="med" w="med" type="triangle"/>
            <a:tailEnd len="med" w="med" type="none"/>
          </a:ln>
        </p:spPr>
      </p:cxnSp>
      <p:grpSp>
        <p:nvGrpSpPr>
          <p:cNvPr id="7838" name="Google Shape;7838;p114"/>
          <p:cNvGrpSpPr/>
          <p:nvPr/>
        </p:nvGrpSpPr>
        <p:grpSpPr>
          <a:xfrm>
            <a:off x="3758898" y="4223539"/>
            <a:ext cx="253708" cy="320529"/>
            <a:chOff x="9051559" y="591777"/>
            <a:chExt cx="253708" cy="320529"/>
          </a:xfrm>
        </p:grpSpPr>
        <p:sp>
          <p:nvSpPr>
            <p:cNvPr id="7839" name="Google Shape;7839;p114"/>
            <p:cNvSpPr/>
            <p:nvPr/>
          </p:nvSpPr>
          <p:spPr>
            <a:xfrm rot="1596992">
              <a:off x="9109854" y="606165"/>
              <a:ext cx="133240" cy="2917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840" name="Google Shape;7840;p114"/>
            <p:cNvCxnSpPr/>
            <p:nvPr/>
          </p:nvCxnSpPr>
          <p:spPr>
            <a:xfrm flipH="1">
              <a:off x="9055510" y="634181"/>
              <a:ext cx="128405" cy="250722"/>
            </a:xfrm>
            <a:prstGeom prst="straightConnector1">
              <a:avLst/>
            </a:prstGeom>
            <a:noFill/>
            <a:ln cap="flat" cmpd="sng" w="15875">
              <a:solidFill>
                <a:schemeClr val="dk1"/>
              </a:solidFill>
              <a:prstDash val="solid"/>
              <a:miter lim="800000"/>
              <a:headEnd len="sm" w="sm" type="none"/>
              <a:tailEnd len="sm" w="sm" type="none"/>
            </a:ln>
          </p:spPr>
        </p:cxnSp>
        <p:cxnSp>
          <p:nvCxnSpPr>
            <p:cNvPr id="7841" name="Google Shape;7841;p114"/>
            <p:cNvCxnSpPr/>
            <p:nvPr/>
          </p:nvCxnSpPr>
          <p:spPr>
            <a:xfrm flipH="1">
              <a:off x="9176862" y="638677"/>
              <a:ext cx="128405" cy="250722"/>
            </a:xfrm>
            <a:prstGeom prst="straightConnector1">
              <a:avLst/>
            </a:prstGeom>
            <a:noFill/>
            <a:ln cap="flat" cmpd="sng" w="15875">
              <a:solidFill>
                <a:schemeClr val="dk1"/>
              </a:solidFill>
              <a:prstDash val="solid"/>
              <a:miter lim="800000"/>
              <a:headEnd len="sm" w="sm" type="none"/>
              <a:tailEnd len="sm" w="sm" type="none"/>
            </a:ln>
          </p:spPr>
        </p:cxnSp>
      </p:grpSp>
      <p:sp>
        <p:nvSpPr>
          <p:cNvPr id="7842" name="Google Shape;7842;p1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3"/>
                                        </p:tgtEl>
                                        <p:attrNameLst>
                                          <p:attrName>style.visibility</p:attrName>
                                        </p:attrNameLst>
                                      </p:cBhvr>
                                      <p:to>
                                        <p:strVal val="visible"/>
                                      </p:to>
                                    </p:set>
                                    <p:animEffect filter="fade" transition="in">
                                      <p:cBhvr>
                                        <p:cTn dur="500"/>
                                        <p:tgtEl>
                                          <p:spTgt spid="769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690"/>
                                        </p:tgtEl>
                                        <p:attrNameLst>
                                          <p:attrName>style.visibility</p:attrName>
                                        </p:attrNameLst>
                                      </p:cBhvr>
                                      <p:to>
                                        <p:strVal val="visible"/>
                                      </p:to>
                                    </p:set>
                                    <p:animEffect filter="fade" transition="in">
                                      <p:cBhvr>
                                        <p:cTn dur="500"/>
                                        <p:tgtEl>
                                          <p:spTgt spid="76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5"/>
                                        </p:tgtEl>
                                        <p:attrNameLst>
                                          <p:attrName>style.visibility</p:attrName>
                                        </p:attrNameLst>
                                      </p:cBhvr>
                                      <p:to>
                                        <p:strVal val="visible"/>
                                      </p:to>
                                    </p:set>
                                    <p:animEffect filter="fade" transition="in">
                                      <p:cBhvr>
                                        <p:cTn dur="500"/>
                                        <p:tgtEl>
                                          <p:spTgt spid="77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6"/>
                                        </p:tgtEl>
                                        <p:attrNameLst>
                                          <p:attrName>style.visibility</p:attrName>
                                        </p:attrNameLst>
                                      </p:cBhvr>
                                      <p:to>
                                        <p:strVal val="visible"/>
                                      </p:to>
                                    </p:set>
                                    <p:animEffect filter="fade" transition="in">
                                      <p:cBhvr>
                                        <p:cTn dur="500"/>
                                        <p:tgtEl>
                                          <p:spTgt spid="77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2"/>
                                        </p:tgtEl>
                                        <p:attrNameLst>
                                          <p:attrName>style.visibility</p:attrName>
                                        </p:attrNameLst>
                                      </p:cBhvr>
                                      <p:to>
                                        <p:strVal val="visible"/>
                                      </p:to>
                                    </p:set>
                                    <p:animEffect filter="fade" transition="in">
                                      <p:cBhvr>
                                        <p:cTn dur="500"/>
                                        <p:tgtEl>
                                          <p:spTgt spid="77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9"/>
                                        </p:tgtEl>
                                        <p:attrNameLst>
                                          <p:attrName>style.visibility</p:attrName>
                                        </p:attrNameLst>
                                      </p:cBhvr>
                                      <p:to>
                                        <p:strVal val="visible"/>
                                      </p:to>
                                    </p:set>
                                    <p:animEffect filter="fade" transition="in">
                                      <p:cBhvr>
                                        <p:cTn dur="500"/>
                                        <p:tgtEl>
                                          <p:spTgt spid="77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7" name="Shape 7847"/>
        <p:cNvGrpSpPr/>
        <p:nvPr/>
      </p:nvGrpSpPr>
      <p:grpSpPr>
        <a:xfrm>
          <a:off x="0" y="0"/>
          <a:ext cx="0" cy="0"/>
          <a:chOff x="0" y="0"/>
          <a:chExt cx="0" cy="0"/>
        </a:xfrm>
      </p:grpSpPr>
      <p:sp>
        <p:nvSpPr>
          <p:cNvPr id="7848" name="Google Shape;7848;p11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Streaming stored </a:t>
            </a:r>
            <a:r>
              <a:rPr lang="en-US"/>
              <a:t>v</a:t>
            </a:r>
            <a:r>
              <a:rPr lang="en-US" sz="4400"/>
              <a:t>ideo: challenges</a:t>
            </a:r>
            <a:endParaRPr/>
          </a:p>
        </p:txBody>
      </p:sp>
      <p:sp>
        <p:nvSpPr>
          <p:cNvPr id="7849" name="Google Shape;7849;p115"/>
          <p:cNvSpPr/>
          <p:nvPr/>
        </p:nvSpPr>
        <p:spPr>
          <a:xfrm>
            <a:off x="1047801" y="1389828"/>
            <a:ext cx="8553400" cy="4488769"/>
          </a:xfrm>
          <a:prstGeom prst="rect">
            <a:avLst/>
          </a:prstGeom>
          <a:noFill/>
          <a:ln>
            <a:noFill/>
          </a:ln>
        </p:spPr>
        <p:txBody>
          <a:bodyPr anchorCtr="0" anchor="t" bIns="45700" lIns="91425" spcFirstLastPara="1" rIns="91425" wrap="square" tIns="45700">
            <a:noAutofit/>
          </a:bodyPr>
          <a:lstStyle/>
          <a:p>
            <a:pPr indent="-282575" lvl="0" marL="282575" marR="0" rtl="0" algn="l">
              <a:spcBef>
                <a:spcPts val="0"/>
              </a:spcBef>
              <a:spcAft>
                <a:spcPts val="0"/>
              </a:spcAft>
              <a:buClr>
                <a:srgbClr val="000099"/>
              </a:buClr>
              <a:buSzPts val="3200"/>
              <a:buFont typeface="Noto Sans Symbols"/>
              <a:buChar char="▪"/>
            </a:pPr>
            <a:r>
              <a:rPr lang="en-US" sz="3200">
                <a:solidFill>
                  <a:srgbClr val="CC0000"/>
                </a:solidFill>
                <a:latin typeface="Calibri"/>
                <a:ea typeface="Calibri"/>
                <a:cs typeface="Calibri"/>
                <a:sym typeface="Calibri"/>
              </a:rPr>
              <a:t>continuous playout constraint</a:t>
            </a:r>
            <a:r>
              <a:rPr i="0" lang="en-US" sz="3200">
                <a:solidFill>
                  <a:schemeClr val="dk1"/>
                </a:solidFill>
                <a:latin typeface="Calibri"/>
                <a:ea typeface="Calibri"/>
                <a:cs typeface="Calibri"/>
                <a:sym typeface="Calibri"/>
              </a:rPr>
              <a:t>: once client playout begins, playback must match original timing </a:t>
            </a:r>
            <a:endParaRPr/>
          </a:p>
          <a:p>
            <a:pPr indent="-225425" lvl="1" marL="682625" marR="0" rtl="0" algn="l">
              <a:lnSpc>
                <a:spcPct val="90000"/>
              </a:lnSpc>
              <a:spcBef>
                <a:spcPts val="560"/>
              </a:spcBef>
              <a:spcAft>
                <a:spcPts val="0"/>
              </a:spcAft>
              <a:buClr>
                <a:srgbClr val="000099"/>
              </a:buClr>
              <a:buSzPts val="2800"/>
              <a:buFont typeface="Arial"/>
              <a:buChar char="•"/>
            </a:pPr>
            <a:r>
              <a:rPr b="0" i="0" lang="en-US" sz="2800" u="none" cap="none" strike="noStrike">
                <a:solidFill>
                  <a:schemeClr val="dk1"/>
                </a:solidFill>
                <a:latin typeface="Calibri"/>
                <a:ea typeface="Calibri"/>
                <a:cs typeface="Calibri"/>
                <a:sym typeface="Calibri"/>
              </a:rPr>
              <a:t>… but </a:t>
            </a:r>
            <a:r>
              <a:rPr b="0" i="0" lang="en-US" sz="2800" u="none" cap="none" strike="noStrike">
                <a:solidFill>
                  <a:srgbClr val="CC0000"/>
                </a:solidFill>
                <a:latin typeface="Calibri"/>
                <a:ea typeface="Calibri"/>
                <a:cs typeface="Calibri"/>
                <a:sym typeface="Calibri"/>
              </a:rPr>
              <a:t>network delays are variable </a:t>
            </a:r>
            <a:r>
              <a:rPr b="0" i="0" lang="en-US" sz="2800" u="none" cap="none" strike="noStrike">
                <a:solidFill>
                  <a:schemeClr val="dk1"/>
                </a:solidFill>
                <a:latin typeface="Calibri"/>
                <a:ea typeface="Calibri"/>
                <a:cs typeface="Calibri"/>
                <a:sym typeface="Calibri"/>
              </a:rPr>
              <a:t>(jitter), so will need </a:t>
            </a:r>
            <a:r>
              <a:rPr b="0" i="0" lang="en-US" sz="2800" u="none" cap="none" strike="noStrike">
                <a:solidFill>
                  <a:srgbClr val="000099"/>
                </a:solidFill>
                <a:latin typeface="Calibri"/>
                <a:ea typeface="Calibri"/>
                <a:cs typeface="Calibri"/>
                <a:sym typeface="Calibri"/>
              </a:rPr>
              <a:t>client-side buffer </a:t>
            </a:r>
            <a:r>
              <a:rPr b="0" i="0" lang="en-US" sz="2800" u="none" cap="none" strike="noStrike">
                <a:solidFill>
                  <a:schemeClr val="dk1"/>
                </a:solidFill>
                <a:latin typeface="Calibri"/>
                <a:ea typeface="Calibri"/>
                <a:cs typeface="Calibri"/>
                <a:sym typeface="Calibri"/>
              </a:rPr>
              <a:t>to match playout requirements</a:t>
            </a:r>
            <a:endParaRPr/>
          </a:p>
          <a:p>
            <a:pPr indent="-228600" lvl="0" marL="342900" marR="0" rtl="0" algn="l">
              <a:spcBef>
                <a:spcPts val="480"/>
              </a:spcBef>
              <a:spcAft>
                <a:spcPts val="0"/>
              </a:spcAft>
              <a:buClr>
                <a:srgbClr val="000099"/>
              </a:buClr>
              <a:buSzPts val="1800"/>
              <a:buFont typeface="Noto Sans Symbols"/>
              <a:buNone/>
            </a:pPr>
            <a:r>
              <a:t/>
            </a:r>
            <a:endParaRPr i="0" sz="2400">
              <a:solidFill>
                <a:schemeClr val="dk1"/>
              </a:solidFill>
              <a:latin typeface="Calibri"/>
              <a:ea typeface="Calibri"/>
              <a:cs typeface="Calibri"/>
              <a:sym typeface="Calibri"/>
            </a:endParaRPr>
          </a:p>
        </p:txBody>
      </p:sp>
      <p:pic>
        <p:nvPicPr>
          <p:cNvPr descr="Image result for netflix rebuffering" id="7850" name="Google Shape;7850;p115"/>
          <p:cNvPicPr preferRelativeResize="0"/>
          <p:nvPr/>
        </p:nvPicPr>
        <p:blipFill rotWithShape="1">
          <a:blip r:embed="rId3">
            <a:alphaModFix/>
          </a:blip>
          <a:srcRect b="0" l="0" r="0" t="0"/>
          <a:stretch/>
        </p:blipFill>
        <p:spPr>
          <a:xfrm>
            <a:off x="9635393" y="3044149"/>
            <a:ext cx="2124226" cy="1180125"/>
          </a:xfrm>
          <a:prstGeom prst="rect">
            <a:avLst/>
          </a:prstGeom>
          <a:noFill/>
          <a:ln>
            <a:noFill/>
          </a:ln>
        </p:spPr>
      </p:pic>
      <p:sp>
        <p:nvSpPr>
          <p:cNvPr id="7851" name="Google Shape;7851;p115"/>
          <p:cNvSpPr/>
          <p:nvPr/>
        </p:nvSpPr>
        <p:spPr>
          <a:xfrm>
            <a:off x="1047801" y="4167220"/>
            <a:ext cx="8171815" cy="1166462"/>
          </a:xfrm>
          <a:prstGeom prst="rect">
            <a:avLst/>
          </a:prstGeom>
          <a:noFill/>
          <a:ln>
            <a:noFill/>
          </a:ln>
        </p:spPr>
        <p:txBody>
          <a:bodyPr anchorCtr="0" anchor="t" bIns="45700" lIns="91425" spcFirstLastPara="1" rIns="91425" wrap="square" tIns="45700">
            <a:noAutofit/>
          </a:bodyPr>
          <a:lstStyle/>
          <a:p>
            <a:pPr indent="-282575" lvl="0" marL="282575" marR="0" rtl="0" algn="l">
              <a:spcBef>
                <a:spcPts val="0"/>
              </a:spcBef>
              <a:spcAft>
                <a:spcPts val="0"/>
              </a:spcAft>
              <a:buClr>
                <a:srgbClr val="000099"/>
              </a:buClr>
              <a:buSzPts val="3200"/>
              <a:buFont typeface="Noto Sans Symbols"/>
              <a:buChar char="▪"/>
            </a:pPr>
            <a:r>
              <a:rPr i="0" lang="en-US" sz="3200">
                <a:solidFill>
                  <a:schemeClr val="dk1"/>
                </a:solidFill>
                <a:latin typeface="Calibri"/>
                <a:ea typeface="Calibri"/>
                <a:cs typeface="Calibri"/>
                <a:sym typeface="Calibri"/>
              </a:rPr>
              <a:t>other challenges:</a:t>
            </a:r>
            <a:endParaRPr/>
          </a:p>
          <a:p>
            <a:pPr indent="-225425" lvl="1" marL="682625" marR="0" rtl="0" algn="l">
              <a:spcBef>
                <a:spcPts val="560"/>
              </a:spcBef>
              <a:spcAft>
                <a:spcPts val="0"/>
              </a:spcAft>
              <a:buClr>
                <a:srgbClr val="000099"/>
              </a:buClr>
              <a:buSzPts val="2800"/>
              <a:buFont typeface="Arial"/>
              <a:buChar char="•"/>
            </a:pPr>
            <a:r>
              <a:rPr b="0" i="0" lang="en-US" sz="2800" u="none" cap="none" strike="noStrike">
                <a:solidFill>
                  <a:schemeClr val="dk1"/>
                </a:solidFill>
                <a:latin typeface="Calibri"/>
                <a:ea typeface="Calibri"/>
                <a:cs typeface="Calibri"/>
                <a:sym typeface="Calibri"/>
              </a:rPr>
              <a:t>client interactivity: pause, fast-forward, rewind, jump through video</a:t>
            </a:r>
            <a:endParaRPr/>
          </a:p>
          <a:p>
            <a:pPr indent="-225425" lvl="1" marL="682625" marR="0" rtl="0" algn="l">
              <a:spcBef>
                <a:spcPts val="560"/>
              </a:spcBef>
              <a:spcAft>
                <a:spcPts val="0"/>
              </a:spcAft>
              <a:buClr>
                <a:srgbClr val="000099"/>
              </a:buClr>
              <a:buSzPts val="2800"/>
              <a:buFont typeface="Arial"/>
              <a:buChar char="•"/>
            </a:pPr>
            <a:r>
              <a:rPr b="0" i="0" lang="en-US" sz="2800" u="none" cap="none" strike="noStrike">
                <a:solidFill>
                  <a:schemeClr val="dk1"/>
                </a:solidFill>
                <a:latin typeface="Calibri"/>
                <a:ea typeface="Calibri"/>
                <a:cs typeface="Calibri"/>
                <a:sym typeface="Calibri"/>
              </a:rPr>
              <a:t>video packets may be lost, retransmitted</a:t>
            </a:r>
            <a:endParaRPr/>
          </a:p>
          <a:p>
            <a:pPr indent="-228600" lvl="0" marL="342900" marR="0" rtl="0" algn="l">
              <a:spcBef>
                <a:spcPts val="480"/>
              </a:spcBef>
              <a:spcAft>
                <a:spcPts val="0"/>
              </a:spcAft>
              <a:buClr>
                <a:srgbClr val="000099"/>
              </a:buClr>
              <a:buSzPts val="1800"/>
              <a:buFont typeface="Noto Sans Symbols"/>
              <a:buNone/>
            </a:pPr>
            <a:r>
              <a:t/>
            </a:r>
            <a:endParaRPr i="0" sz="2400">
              <a:solidFill>
                <a:schemeClr val="dk1"/>
              </a:solidFill>
              <a:latin typeface="Calibri"/>
              <a:ea typeface="Calibri"/>
              <a:cs typeface="Calibri"/>
              <a:sym typeface="Calibri"/>
            </a:endParaRPr>
          </a:p>
        </p:txBody>
      </p:sp>
      <p:sp>
        <p:nvSpPr>
          <p:cNvPr id="7852" name="Google Shape;7852;p1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51"/>
                                        </p:tgtEl>
                                        <p:attrNameLst>
                                          <p:attrName>style.visibility</p:attrName>
                                        </p:attrNameLst>
                                      </p:cBhvr>
                                      <p:to>
                                        <p:strVal val="visible"/>
                                      </p:to>
                                    </p:set>
                                    <p:animEffect filter="fade" transition="in">
                                      <p:cBhvr>
                                        <p:cTn dur="500"/>
                                        <p:tgtEl>
                                          <p:spTgt spid="78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7" name="Shape 7857"/>
        <p:cNvGrpSpPr/>
        <p:nvPr/>
      </p:nvGrpSpPr>
      <p:grpSpPr>
        <a:xfrm>
          <a:off x="0" y="0"/>
          <a:ext cx="0" cy="0"/>
          <a:chOff x="0" y="0"/>
          <a:chExt cx="0" cy="0"/>
        </a:xfrm>
      </p:grpSpPr>
      <p:sp>
        <p:nvSpPr>
          <p:cNvPr id="7858" name="Google Shape;7858;p116"/>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Streaming stored </a:t>
            </a:r>
            <a:r>
              <a:rPr lang="en-US"/>
              <a:t>v</a:t>
            </a:r>
            <a:r>
              <a:rPr lang="en-US" sz="4400"/>
              <a:t>ideo: playout buffering</a:t>
            </a:r>
            <a:endParaRPr/>
          </a:p>
        </p:txBody>
      </p:sp>
      <p:cxnSp>
        <p:nvCxnSpPr>
          <p:cNvPr id="7859" name="Google Shape;7859;p116"/>
          <p:cNvCxnSpPr/>
          <p:nvPr/>
        </p:nvCxnSpPr>
        <p:spPr>
          <a:xfrm>
            <a:off x="2445774" y="1667644"/>
            <a:ext cx="0" cy="2852737"/>
          </a:xfrm>
          <a:prstGeom prst="straightConnector1">
            <a:avLst/>
          </a:prstGeom>
          <a:noFill/>
          <a:ln cap="flat" cmpd="sng" w="28575">
            <a:solidFill>
              <a:schemeClr val="dk1"/>
            </a:solidFill>
            <a:prstDash val="solid"/>
            <a:round/>
            <a:headEnd len="med" w="med" type="none"/>
            <a:tailEnd len="med" w="med" type="none"/>
          </a:ln>
        </p:spPr>
      </p:cxnSp>
      <p:cxnSp>
        <p:nvCxnSpPr>
          <p:cNvPr id="7860" name="Google Shape;7860;p116"/>
          <p:cNvCxnSpPr/>
          <p:nvPr/>
        </p:nvCxnSpPr>
        <p:spPr>
          <a:xfrm flipH="1">
            <a:off x="2436249" y="4510856"/>
            <a:ext cx="7815263" cy="14288"/>
          </a:xfrm>
          <a:prstGeom prst="straightConnector1">
            <a:avLst/>
          </a:prstGeom>
          <a:noFill/>
          <a:ln cap="flat" cmpd="sng" w="28575">
            <a:solidFill>
              <a:schemeClr val="dk1"/>
            </a:solidFill>
            <a:prstDash val="solid"/>
            <a:round/>
            <a:headEnd len="med" w="med" type="triangle"/>
            <a:tailEnd len="med" w="med" type="none"/>
          </a:ln>
        </p:spPr>
      </p:cxnSp>
      <p:sp>
        <p:nvSpPr>
          <p:cNvPr id="7861" name="Google Shape;7861;p116"/>
          <p:cNvSpPr txBox="1"/>
          <p:nvPr/>
        </p:nvSpPr>
        <p:spPr>
          <a:xfrm>
            <a:off x="3077599" y="1770831"/>
            <a:ext cx="1884555" cy="9233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i="0" lang="en-US" sz="2000">
                <a:solidFill>
                  <a:srgbClr val="CC0000"/>
                </a:solidFill>
                <a:latin typeface="Calibri"/>
                <a:ea typeface="Calibri"/>
                <a:cs typeface="Calibri"/>
                <a:sym typeface="Calibri"/>
              </a:rPr>
              <a:t>       constant bit </a:t>
            </a:r>
            <a:endParaRPr/>
          </a:p>
          <a:p>
            <a:pPr indent="0" lvl="0" marL="0" marR="0" rtl="0" algn="l">
              <a:lnSpc>
                <a:spcPct val="90000"/>
              </a:lnSpc>
              <a:spcBef>
                <a:spcPts val="0"/>
              </a:spcBef>
              <a:spcAft>
                <a:spcPts val="0"/>
              </a:spcAft>
              <a:buNone/>
            </a:pPr>
            <a:r>
              <a:rPr i="0" lang="en-US" sz="2000">
                <a:solidFill>
                  <a:srgbClr val="CC0000"/>
                </a:solidFill>
                <a:latin typeface="Calibri"/>
                <a:ea typeface="Calibri"/>
                <a:cs typeface="Calibri"/>
                <a:sym typeface="Calibri"/>
              </a:rPr>
              <a:t>      rate video</a:t>
            </a:r>
            <a:endParaRPr/>
          </a:p>
          <a:p>
            <a:pPr indent="0" lvl="0" marL="0" marR="0" rtl="0" algn="l">
              <a:lnSpc>
                <a:spcPct val="90000"/>
              </a:lnSpc>
              <a:spcBef>
                <a:spcPts val="0"/>
              </a:spcBef>
              <a:spcAft>
                <a:spcPts val="0"/>
              </a:spcAft>
              <a:buNone/>
            </a:pPr>
            <a:r>
              <a:rPr i="0" lang="en-US" sz="2000">
                <a:solidFill>
                  <a:srgbClr val="CC0000"/>
                </a:solidFill>
                <a:latin typeface="Calibri"/>
                <a:ea typeface="Calibri"/>
                <a:cs typeface="Calibri"/>
                <a:sym typeface="Calibri"/>
              </a:rPr>
              <a:t>transmission</a:t>
            </a:r>
            <a:endParaRPr/>
          </a:p>
        </p:txBody>
      </p:sp>
      <p:grpSp>
        <p:nvGrpSpPr>
          <p:cNvPr id="7862" name="Google Shape;7862;p116"/>
          <p:cNvGrpSpPr/>
          <p:nvPr/>
        </p:nvGrpSpPr>
        <p:grpSpPr>
          <a:xfrm>
            <a:off x="2826774" y="1997844"/>
            <a:ext cx="2552700" cy="2525712"/>
            <a:chOff x="648" y="1147"/>
            <a:chExt cx="1608" cy="1591"/>
          </a:xfrm>
        </p:grpSpPr>
        <p:grpSp>
          <p:nvGrpSpPr>
            <p:cNvPr id="7863" name="Google Shape;7863;p116"/>
            <p:cNvGrpSpPr/>
            <p:nvPr/>
          </p:nvGrpSpPr>
          <p:grpSpPr>
            <a:xfrm>
              <a:off x="648" y="1725"/>
              <a:ext cx="1024" cy="1013"/>
              <a:chOff x="672" y="1071"/>
              <a:chExt cx="1024" cy="1013"/>
            </a:xfrm>
          </p:grpSpPr>
          <p:grpSp>
            <p:nvGrpSpPr>
              <p:cNvPr id="7864" name="Google Shape;7864;p116"/>
              <p:cNvGrpSpPr/>
              <p:nvPr/>
            </p:nvGrpSpPr>
            <p:grpSpPr>
              <a:xfrm>
                <a:off x="672" y="1506"/>
                <a:ext cx="583" cy="578"/>
                <a:chOff x="672" y="1486"/>
                <a:chExt cx="583" cy="578"/>
              </a:xfrm>
            </p:grpSpPr>
            <p:grpSp>
              <p:nvGrpSpPr>
                <p:cNvPr id="7865" name="Google Shape;7865;p116"/>
                <p:cNvGrpSpPr/>
                <p:nvPr/>
              </p:nvGrpSpPr>
              <p:grpSpPr>
                <a:xfrm>
                  <a:off x="672" y="1776"/>
                  <a:ext cx="291" cy="288"/>
                  <a:chOff x="672" y="1776"/>
                  <a:chExt cx="291" cy="288"/>
                </a:xfrm>
              </p:grpSpPr>
              <p:grpSp>
                <p:nvGrpSpPr>
                  <p:cNvPr id="7866" name="Google Shape;7866;p116"/>
                  <p:cNvGrpSpPr/>
                  <p:nvPr/>
                </p:nvGrpSpPr>
                <p:grpSpPr>
                  <a:xfrm>
                    <a:off x="672" y="1920"/>
                    <a:ext cx="145" cy="144"/>
                    <a:chOff x="672" y="1920"/>
                    <a:chExt cx="145" cy="144"/>
                  </a:xfrm>
                </p:grpSpPr>
                <p:cxnSp>
                  <p:nvCxnSpPr>
                    <p:cNvPr id="7867" name="Google Shape;7867;p1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868" name="Google Shape;7868;p1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7869" name="Google Shape;7869;p116"/>
                  <p:cNvGrpSpPr/>
                  <p:nvPr/>
                </p:nvGrpSpPr>
                <p:grpSpPr>
                  <a:xfrm>
                    <a:off x="818" y="1776"/>
                    <a:ext cx="145" cy="144"/>
                    <a:chOff x="672" y="1920"/>
                    <a:chExt cx="145" cy="144"/>
                  </a:xfrm>
                </p:grpSpPr>
                <p:cxnSp>
                  <p:nvCxnSpPr>
                    <p:cNvPr id="7870" name="Google Shape;7870;p1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871" name="Google Shape;7871;p1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7872" name="Google Shape;7872;p116"/>
                <p:cNvGrpSpPr/>
                <p:nvPr/>
              </p:nvGrpSpPr>
              <p:grpSpPr>
                <a:xfrm>
                  <a:off x="964" y="1486"/>
                  <a:ext cx="291" cy="288"/>
                  <a:chOff x="672" y="1776"/>
                  <a:chExt cx="291" cy="288"/>
                </a:xfrm>
              </p:grpSpPr>
              <p:grpSp>
                <p:nvGrpSpPr>
                  <p:cNvPr id="7873" name="Google Shape;7873;p116"/>
                  <p:cNvGrpSpPr/>
                  <p:nvPr/>
                </p:nvGrpSpPr>
                <p:grpSpPr>
                  <a:xfrm>
                    <a:off x="672" y="1920"/>
                    <a:ext cx="145" cy="144"/>
                    <a:chOff x="672" y="1920"/>
                    <a:chExt cx="145" cy="144"/>
                  </a:xfrm>
                </p:grpSpPr>
                <p:cxnSp>
                  <p:nvCxnSpPr>
                    <p:cNvPr id="7874" name="Google Shape;7874;p1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875" name="Google Shape;7875;p1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7876" name="Google Shape;7876;p116"/>
                  <p:cNvGrpSpPr/>
                  <p:nvPr/>
                </p:nvGrpSpPr>
                <p:grpSpPr>
                  <a:xfrm>
                    <a:off x="818" y="1776"/>
                    <a:ext cx="145" cy="144"/>
                    <a:chOff x="672" y="1920"/>
                    <a:chExt cx="145" cy="144"/>
                  </a:xfrm>
                </p:grpSpPr>
                <p:cxnSp>
                  <p:nvCxnSpPr>
                    <p:cNvPr id="7877" name="Google Shape;7877;p1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878" name="Google Shape;7878;p1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grpSp>
            <p:nvGrpSpPr>
              <p:cNvPr id="7879" name="Google Shape;7879;p116"/>
              <p:cNvGrpSpPr/>
              <p:nvPr/>
            </p:nvGrpSpPr>
            <p:grpSpPr>
              <a:xfrm>
                <a:off x="1259" y="1217"/>
                <a:ext cx="291" cy="288"/>
                <a:chOff x="672" y="1776"/>
                <a:chExt cx="291" cy="288"/>
              </a:xfrm>
            </p:grpSpPr>
            <p:grpSp>
              <p:nvGrpSpPr>
                <p:cNvPr id="7880" name="Google Shape;7880;p116"/>
                <p:cNvGrpSpPr/>
                <p:nvPr/>
              </p:nvGrpSpPr>
              <p:grpSpPr>
                <a:xfrm>
                  <a:off x="672" y="1920"/>
                  <a:ext cx="145" cy="144"/>
                  <a:chOff x="672" y="1920"/>
                  <a:chExt cx="145" cy="144"/>
                </a:xfrm>
              </p:grpSpPr>
              <p:cxnSp>
                <p:nvCxnSpPr>
                  <p:cNvPr id="7881" name="Google Shape;7881;p1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882" name="Google Shape;7882;p1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7883" name="Google Shape;7883;p116"/>
                <p:cNvGrpSpPr/>
                <p:nvPr/>
              </p:nvGrpSpPr>
              <p:grpSpPr>
                <a:xfrm>
                  <a:off x="818" y="1776"/>
                  <a:ext cx="145" cy="144"/>
                  <a:chOff x="672" y="1920"/>
                  <a:chExt cx="145" cy="144"/>
                </a:xfrm>
              </p:grpSpPr>
              <p:cxnSp>
                <p:nvCxnSpPr>
                  <p:cNvPr id="7884" name="Google Shape;7884;p1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885" name="Google Shape;7885;p1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7886" name="Google Shape;7886;p116"/>
              <p:cNvGrpSpPr/>
              <p:nvPr/>
            </p:nvGrpSpPr>
            <p:grpSpPr>
              <a:xfrm>
                <a:off x="1551" y="1071"/>
                <a:ext cx="145" cy="144"/>
                <a:chOff x="672" y="1920"/>
                <a:chExt cx="145" cy="144"/>
              </a:xfrm>
            </p:grpSpPr>
            <p:cxnSp>
              <p:nvCxnSpPr>
                <p:cNvPr id="7887" name="Google Shape;7887;p1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888" name="Google Shape;7888;p1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7889" name="Google Shape;7889;p116"/>
            <p:cNvGrpSpPr/>
            <p:nvPr/>
          </p:nvGrpSpPr>
          <p:grpSpPr>
            <a:xfrm>
              <a:off x="1673" y="1147"/>
              <a:ext cx="583" cy="578"/>
              <a:chOff x="672" y="1486"/>
              <a:chExt cx="583" cy="578"/>
            </a:xfrm>
          </p:grpSpPr>
          <p:grpSp>
            <p:nvGrpSpPr>
              <p:cNvPr id="7890" name="Google Shape;7890;p116"/>
              <p:cNvGrpSpPr/>
              <p:nvPr/>
            </p:nvGrpSpPr>
            <p:grpSpPr>
              <a:xfrm>
                <a:off x="672" y="1776"/>
                <a:ext cx="291" cy="288"/>
                <a:chOff x="672" y="1776"/>
                <a:chExt cx="291" cy="288"/>
              </a:xfrm>
            </p:grpSpPr>
            <p:grpSp>
              <p:nvGrpSpPr>
                <p:cNvPr id="7891" name="Google Shape;7891;p116"/>
                <p:cNvGrpSpPr/>
                <p:nvPr/>
              </p:nvGrpSpPr>
              <p:grpSpPr>
                <a:xfrm>
                  <a:off x="672" y="1920"/>
                  <a:ext cx="145" cy="144"/>
                  <a:chOff x="672" y="1920"/>
                  <a:chExt cx="145" cy="144"/>
                </a:xfrm>
              </p:grpSpPr>
              <p:cxnSp>
                <p:nvCxnSpPr>
                  <p:cNvPr id="7892" name="Google Shape;7892;p1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893" name="Google Shape;7893;p1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7894" name="Google Shape;7894;p116"/>
                <p:cNvGrpSpPr/>
                <p:nvPr/>
              </p:nvGrpSpPr>
              <p:grpSpPr>
                <a:xfrm>
                  <a:off x="818" y="1776"/>
                  <a:ext cx="145" cy="144"/>
                  <a:chOff x="672" y="1920"/>
                  <a:chExt cx="145" cy="144"/>
                </a:xfrm>
              </p:grpSpPr>
              <p:cxnSp>
                <p:nvCxnSpPr>
                  <p:cNvPr id="7895" name="Google Shape;7895;p1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896" name="Google Shape;7896;p1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7897" name="Google Shape;7897;p116"/>
              <p:cNvGrpSpPr/>
              <p:nvPr/>
            </p:nvGrpSpPr>
            <p:grpSpPr>
              <a:xfrm>
                <a:off x="964" y="1486"/>
                <a:ext cx="291" cy="288"/>
                <a:chOff x="672" y="1776"/>
                <a:chExt cx="291" cy="288"/>
              </a:xfrm>
            </p:grpSpPr>
            <p:grpSp>
              <p:nvGrpSpPr>
                <p:cNvPr id="7898" name="Google Shape;7898;p116"/>
                <p:cNvGrpSpPr/>
                <p:nvPr/>
              </p:nvGrpSpPr>
              <p:grpSpPr>
                <a:xfrm>
                  <a:off x="672" y="1920"/>
                  <a:ext cx="145" cy="144"/>
                  <a:chOff x="672" y="1920"/>
                  <a:chExt cx="145" cy="144"/>
                </a:xfrm>
              </p:grpSpPr>
              <p:cxnSp>
                <p:nvCxnSpPr>
                  <p:cNvPr id="7899" name="Google Shape;7899;p1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900" name="Google Shape;7900;p1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7901" name="Google Shape;7901;p116"/>
                <p:cNvGrpSpPr/>
                <p:nvPr/>
              </p:nvGrpSpPr>
              <p:grpSpPr>
                <a:xfrm>
                  <a:off x="818" y="1776"/>
                  <a:ext cx="145" cy="144"/>
                  <a:chOff x="672" y="1920"/>
                  <a:chExt cx="145" cy="144"/>
                </a:xfrm>
              </p:grpSpPr>
              <p:cxnSp>
                <p:nvCxnSpPr>
                  <p:cNvPr id="7902" name="Google Shape;7902;p1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7903" name="Google Shape;7903;p1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grpSp>
      <p:sp>
        <p:nvSpPr>
          <p:cNvPr id="7904" name="Google Shape;7904;p116"/>
          <p:cNvSpPr txBox="1"/>
          <p:nvPr/>
        </p:nvSpPr>
        <p:spPr>
          <a:xfrm rot="-5433387">
            <a:off x="1194824" y="2814097"/>
            <a:ext cx="1957387" cy="3693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i="0" lang="en-US" sz="2000">
                <a:solidFill>
                  <a:schemeClr val="dk1"/>
                </a:solidFill>
                <a:latin typeface="Calibri"/>
                <a:ea typeface="Calibri"/>
                <a:cs typeface="Calibri"/>
                <a:sym typeface="Calibri"/>
              </a:rPr>
              <a:t>Cumulative data</a:t>
            </a:r>
            <a:endParaRPr/>
          </a:p>
        </p:txBody>
      </p:sp>
      <p:sp>
        <p:nvSpPr>
          <p:cNvPr id="7905" name="Google Shape;7905;p116"/>
          <p:cNvSpPr txBox="1"/>
          <p:nvPr/>
        </p:nvSpPr>
        <p:spPr>
          <a:xfrm>
            <a:off x="9706999" y="4533081"/>
            <a:ext cx="663964" cy="3693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i="0" lang="en-US" sz="2000">
                <a:solidFill>
                  <a:schemeClr val="dk1"/>
                </a:solidFill>
                <a:latin typeface="Calibri"/>
                <a:ea typeface="Calibri"/>
                <a:cs typeface="Calibri"/>
                <a:sym typeface="Calibri"/>
              </a:rPr>
              <a:t>time</a:t>
            </a:r>
            <a:endParaRPr/>
          </a:p>
        </p:txBody>
      </p:sp>
      <p:grpSp>
        <p:nvGrpSpPr>
          <p:cNvPr id="7906" name="Google Shape;7906;p116"/>
          <p:cNvGrpSpPr/>
          <p:nvPr/>
        </p:nvGrpSpPr>
        <p:grpSpPr>
          <a:xfrm>
            <a:off x="4103124" y="2012131"/>
            <a:ext cx="3500438" cy="2520950"/>
            <a:chOff x="1572" y="1156"/>
            <a:chExt cx="2205" cy="1588"/>
          </a:xfrm>
        </p:grpSpPr>
        <p:grpSp>
          <p:nvGrpSpPr>
            <p:cNvPr id="7907" name="Google Shape;7907;p116"/>
            <p:cNvGrpSpPr/>
            <p:nvPr/>
          </p:nvGrpSpPr>
          <p:grpSpPr>
            <a:xfrm>
              <a:off x="1938" y="1156"/>
              <a:ext cx="1839" cy="1588"/>
              <a:chOff x="1938" y="1156"/>
              <a:chExt cx="1839" cy="1588"/>
            </a:xfrm>
          </p:grpSpPr>
          <p:grpSp>
            <p:nvGrpSpPr>
              <p:cNvPr id="7908" name="Google Shape;7908;p116"/>
              <p:cNvGrpSpPr/>
              <p:nvPr/>
            </p:nvGrpSpPr>
            <p:grpSpPr>
              <a:xfrm>
                <a:off x="1938" y="2600"/>
                <a:ext cx="319" cy="144"/>
                <a:chOff x="672" y="1920"/>
                <a:chExt cx="145" cy="144"/>
              </a:xfrm>
            </p:grpSpPr>
            <p:cxnSp>
              <p:nvCxnSpPr>
                <p:cNvPr id="7909" name="Google Shape;7909;p1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910" name="Google Shape;7910;p11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7911" name="Google Shape;7911;p116"/>
              <p:cNvGrpSpPr/>
              <p:nvPr/>
            </p:nvGrpSpPr>
            <p:grpSpPr>
              <a:xfrm>
                <a:off x="2252" y="2455"/>
                <a:ext cx="72" cy="145"/>
                <a:chOff x="672" y="1919"/>
                <a:chExt cx="143" cy="145"/>
              </a:xfrm>
            </p:grpSpPr>
            <p:cxnSp>
              <p:nvCxnSpPr>
                <p:cNvPr id="7912" name="Google Shape;7912;p1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913" name="Google Shape;7913;p116"/>
                <p:cNvCxnSpPr/>
                <p:nvPr/>
              </p:nvCxnSpPr>
              <p:spPr>
                <a:xfrm>
                  <a:off x="745" y="1849"/>
                  <a:ext cx="0" cy="141"/>
                </a:xfrm>
                <a:prstGeom prst="straightConnector1">
                  <a:avLst/>
                </a:prstGeom>
                <a:noFill/>
                <a:ln cap="flat" cmpd="sng" w="19050">
                  <a:solidFill>
                    <a:schemeClr val="dk1"/>
                  </a:solidFill>
                  <a:prstDash val="solid"/>
                  <a:round/>
                  <a:headEnd len="med" w="med" type="none"/>
                  <a:tailEnd len="med" w="med" type="none"/>
                </a:ln>
              </p:spPr>
            </p:cxnSp>
          </p:grpSp>
          <p:grpSp>
            <p:nvGrpSpPr>
              <p:cNvPr id="7914" name="Google Shape;7914;p116"/>
              <p:cNvGrpSpPr/>
              <p:nvPr/>
            </p:nvGrpSpPr>
            <p:grpSpPr>
              <a:xfrm>
                <a:off x="2317" y="2169"/>
                <a:ext cx="126" cy="288"/>
                <a:chOff x="672" y="1776"/>
                <a:chExt cx="291" cy="288"/>
              </a:xfrm>
            </p:grpSpPr>
            <p:grpSp>
              <p:nvGrpSpPr>
                <p:cNvPr id="7915" name="Google Shape;7915;p116"/>
                <p:cNvGrpSpPr/>
                <p:nvPr/>
              </p:nvGrpSpPr>
              <p:grpSpPr>
                <a:xfrm>
                  <a:off x="672" y="1920"/>
                  <a:ext cx="146" cy="145"/>
                  <a:chOff x="672" y="1920"/>
                  <a:chExt cx="146" cy="145"/>
                </a:xfrm>
              </p:grpSpPr>
              <p:cxnSp>
                <p:nvCxnSpPr>
                  <p:cNvPr id="7916" name="Google Shape;7916;p1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917" name="Google Shape;7917;p116"/>
                  <p:cNvCxnSpPr/>
                  <p:nvPr/>
                </p:nvCxnSpPr>
                <p:spPr>
                  <a:xfrm>
                    <a:off x="745" y="1847"/>
                    <a:ext cx="0" cy="145"/>
                  </a:xfrm>
                  <a:prstGeom prst="straightConnector1">
                    <a:avLst/>
                  </a:prstGeom>
                  <a:noFill/>
                  <a:ln cap="flat" cmpd="sng" w="19050">
                    <a:solidFill>
                      <a:schemeClr val="dk1"/>
                    </a:solidFill>
                    <a:prstDash val="solid"/>
                    <a:round/>
                    <a:headEnd len="med" w="med" type="none"/>
                    <a:tailEnd len="med" w="med" type="none"/>
                  </a:ln>
                </p:spPr>
              </p:cxnSp>
            </p:grpSp>
            <p:grpSp>
              <p:nvGrpSpPr>
                <p:cNvPr id="7918" name="Google Shape;7918;p116"/>
                <p:cNvGrpSpPr/>
                <p:nvPr/>
              </p:nvGrpSpPr>
              <p:grpSpPr>
                <a:xfrm>
                  <a:off x="817" y="1776"/>
                  <a:ext cx="146" cy="144"/>
                  <a:chOff x="671" y="1920"/>
                  <a:chExt cx="146" cy="144"/>
                </a:xfrm>
              </p:grpSpPr>
              <p:cxnSp>
                <p:nvCxnSpPr>
                  <p:cNvPr id="7919" name="Google Shape;7919;p116"/>
                  <p:cNvCxnSpPr/>
                  <p:nvPr/>
                </p:nvCxnSpPr>
                <p:spPr>
                  <a:xfrm>
                    <a:off x="671"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920" name="Google Shape;7920;p116"/>
                  <p:cNvCxnSpPr/>
                  <p:nvPr/>
                </p:nvCxnSpPr>
                <p:spPr>
                  <a:xfrm>
                    <a:off x="744" y="1847"/>
                    <a:ext cx="0" cy="146"/>
                  </a:xfrm>
                  <a:prstGeom prst="straightConnector1">
                    <a:avLst/>
                  </a:prstGeom>
                  <a:noFill/>
                  <a:ln cap="flat" cmpd="sng" w="19050">
                    <a:solidFill>
                      <a:schemeClr val="dk1"/>
                    </a:solidFill>
                    <a:prstDash val="solid"/>
                    <a:round/>
                    <a:headEnd len="med" w="med" type="none"/>
                    <a:tailEnd len="med" w="med" type="none"/>
                  </a:ln>
                </p:spPr>
              </p:cxnSp>
            </p:grpSp>
          </p:grpSp>
          <p:grpSp>
            <p:nvGrpSpPr>
              <p:cNvPr id="7921" name="Google Shape;7921;p116"/>
              <p:cNvGrpSpPr/>
              <p:nvPr/>
            </p:nvGrpSpPr>
            <p:grpSpPr>
              <a:xfrm>
                <a:off x="2441" y="1877"/>
                <a:ext cx="609" cy="288"/>
                <a:chOff x="672" y="1776"/>
                <a:chExt cx="291" cy="288"/>
              </a:xfrm>
            </p:grpSpPr>
            <p:grpSp>
              <p:nvGrpSpPr>
                <p:cNvPr id="7922" name="Google Shape;7922;p116"/>
                <p:cNvGrpSpPr/>
                <p:nvPr/>
              </p:nvGrpSpPr>
              <p:grpSpPr>
                <a:xfrm>
                  <a:off x="672" y="1920"/>
                  <a:ext cx="145" cy="144"/>
                  <a:chOff x="672" y="1920"/>
                  <a:chExt cx="145" cy="144"/>
                </a:xfrm>
              </p:grpSpPr>
              <p:cxnSp>
                <p:nvCxnSpPr>
                  <p:cNvPr id="7923" name="Google Shape;7923;p1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924" name="Google Shape;7924;p11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7925" name="Google Shape;7925;p116"/>
                <p:cNvGrpSpPr/>
                <p:nvPr/>
              </p:nvGrpSpPr>
              <p:grpSpPr>
                <a:xfrm>
                  <a:off x="818" y="1776"/>
                  <a:ext cx="145" cy="144"/>
                  <a:chOff x="672" y="1920"/>
                  <a:chExt cx="145" cy="144"/>
                </a:xfrm>
              </p:grpSpPr>
              <p:cxnSp>
                <p:nvCxnSpPr>
                  <p:cNvPr id="7926" name="Google Shape;7926;p1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927" name="Google Shape;7927;p11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nvGrpSpPr>
              <p:cNvPr id="7928" name="Google Shape;7928;p116"/>
              <p:cNvGrpSpPr/>
              <p:nvPr/>
            </p:nvGrpSpPr>
            <p:grpSpPr>
              <a:xfrm>
                <a:off x="3045" y="1740"/>
                <a:ext cx="52" cy="144"/>
                <a:chOff x="672" y="1920"/>
                <a:chExt cx="146" cy="144"/>
              </a:xfrm>
            </p:grpSpPr>
            <p:cxnSp>
              <p:nvCxnSpPr>
                <p:cNvPr id="7929" name="Google Shape;7929;p1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930" name="Google Shape;7930;p116"/>
                <p:cNvCxnSpPr/>
                <p:nvPr/>
              </p:nvCxnSpPr>
              <p:spPr>
                <a:xfrm>
                  <a:off x="745" y="1849"/>
                  <a:ext cx="0" cy="145"/>
                </a:xfrm>
                <a:prstGeom prst="straightConnector1">
                  <a:avLst/>
                </a:prstGeom>
                <a:noFill/>
                <a:ln cap="flat" cmpd="sng" w="19050">
                  <a:solidFill>
                    <a:schemeClr val="dk1"/>
                  </a:solidFill>
                  <a:prstDash val="solid"/>
                  <a:round/>
                  <a:headEnd len="med" w="med" type="none"/>
                  <a:tailEnd len="med" w="med" type="none"/>
                </a:ln>
              </p:spPr>
            </p:cxnSp>
          </p:grpSp>
          <p:grpSp>
            <p:nvGrpSpPr>
              <p:cNvPr id="7931" name="Google Shape;7931;p116"/>
              <p:cNvGrpSpPr/>
              <p:nvPr/>
            </p:nvGrpSpPr>
            <p:grpSpPr>
              <a:xfrm>
                <a:off x="3092" y="1590"/>
                <a:ext cx="469" cy="144"/>
                <a:chOff x="672" y="1920"/>
                <a:chExt cx="145" cy="144"/>
              </a:xfrm>
            </p:grpSpPr>
            <p:cxnSp>
              <p:nvCxnSpPr>
                <p:cNvPr id="7932" name="Google Shape;7932;p1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933" name="Google Shape;7933;p11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7934" name="Google Shape;7934;p116"/>
              <p:cNvGrpSpPr/>
              <p:nvPr/>
            </p:nvGrpSpPr>
            <p:grpSpPr>
              <a:xfrm>
                <a:off x="3550" y="1446"/>
                <a:ext cx="145" cy="144"/>
                <a:chOff x="672" y="1920"/>
                <a:chExt cx="145" cy="144"/>
              </a:xfrm>
            </p:grpSpPr>
            <p:cxnSp>
              <p:nvCxnSpPr>
                <p:cNvPr id="7935" name="Google Shape;7935;p1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936" name="Google Shape;7936;p11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7937" name="Google Shape;7937;p116"/>
              <p:cNvGrpSpPr/>
              <p:nvPr/>
            </p:nvGrpSpPr>
            <p:grpSpPr>
              <a:xfrm>
                <a:off x="3690" y="1156"/>
                <a:ext cx="87" cy="288"/>
                <a:chOff x="672" y="1776"/>
                <a:chExt cx="291" cy="288"/>
              </a:xfrm>
            </p:grpSpPr>
            <p:grpSp>
              <p:nvGrpSpPr>
                <p:cNvPr id="7938" name="Google Shape;7938;p116"/>
                <p:cNvGrpSpPr/>
                <p:nvPr/>
              </p:nvGrpSpPr>
              <p:grpSpPr>
                <a:xfrm>
                  <a:off x="672" y="1920"/>
                  <a:ext cx="144" cy="144"/>
                  <a:chOff x="672" y="1920"/>
                  <a:chExt cx="144" cy="144"/>
                </a:xfrm>
              </p:grpSpPr>
              <p:cxnSp>
                <p:nvCxnSpPr>
                  <p:cNvPr id="7939" name="Google Shape;7939;p1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940" name="Google Shape;7940;p116"/>
                  <p:cNvCxnSpPr/>
                  <p:nvPr/>
                </p:nvCxnSpPr>
                <p:spPr>
                  <a:xfrm>
                    <a:off x="744"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7941" name="Google Shape;7941;p116"/>
                <p:cNvGrpSpPr/>
                <p:nvPr/>
              </p:nvGrpSpPr>
              <p:grpSpPr>
                <a:xfrm>
                  <a:off x="819" y="1776"/>
                  <a:ext cx="144" cy="144"/>
                  <a:chOff x="673" y="1920"/>
                  <a:chExt cx="144" cy="144"/>
                </a:xfrm>
              </p:grpSpPr>
              <p:cxnSp>
                <p:nvCxnSpPr>
                  <p:cNvPr id="7942" name="Google Shape;7942;p116"/>
                  <p:cNvCxnSpPr/>
                  <p:nvPr/>
                </p:nvCxnSpPr>
                <p:spPr>
                  <a:xfrm>
                    <a:off x="673"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7943" name="Google Shape;7943;p11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sp>
          <p:nvSpPr>
            <p:cNvPr id="7944" name="Google Shape;7944;p116"/>
            <p:cNvSpPr txBox="1"/>
            <p:nvPr/>
          </p:nvSpPr>
          <p:spPr>
            <a:xfrm>
              <a:off x="1737" y="1724"/>
              <a:ext cx="664" cy="58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i="0" lang="en-US" sz="2000">
                  <a:solidFill>
                    <a:schemeClr val="dk1"/>
                  </a:solidFill>
                  <a:latin typeface="Calibri"/>
                  <a:ea typeface="Calibri"/>
                  <a:cs typeface="Calibri"/>
                  <a:sym typeface="Calibri"/>
                </a:rPr>
                <a:t>variable</a:t>
              </a:r>
              <a:endParaRPr/>
            </a:p>
            <a:p>
              <a:pPr indent="0" lvl="0" marL="0" marR="0" rtl="0" algn="ctr">
                <a:lnSpc>
                  <a:spcPct val="90000"/>
                </a:lnSpc>
                <a:spcBef>
                  <a:spcPts val="0"/>
                </a:spcBef>
                <a:spcAft>
                  <a:spcPts val="0"/>
                </a:spcAft>
                <a:buNone/>
              </a:pPr>
              <a:r>
                <a:rPr i="0" lang="en-US" sz="2000">
                  <a:solidFill>
                    <a:schemeClr val="dk1"/>
                  </a:solidFill>
                  <a:latin typeface="Calibri"/>
                  <a:ea typeface="Calibri"/>
                  <a:cs typeface="Calibri"/>
                  <a:sym typeface="Calibri"/>
                </a:rPr>
                <a:t>network</a:t>
              </a:r>
              <a:endParaRPr/>
            </a:p>
            <a:p>
              <a:pPr indent="0" lvl="0" marL="0" marR="0" rtl="0" algn="ctr">
                <a:lnSpc>
                  <a:spcPct val="90000"/>
                </a:lnSpc>
                <a:spcBef>
                  <a:spcPts val="0"/>
                </a:spcBef>
                <a:spcAft>
                  <a:spcPts val="0"/>
                </a:spcAft>
                <a:buNone/>
              </a:pPr>
              <a:r>
                <a:rPr i="0" lang="en-US" sz="2000">
                  <a:solidFill>
                    <a:schemeClr val="dk1"/>
                  </a:solidFill>
                  <a:latin typeface="Calibri"/>
                  <a:ea typeface="Calibri"/>
                  <a:cs typeface="Calibri"/>
                  <a:sym typeface="Calibri"/>
                </a:rPr>
                <a:t>delay</a:t>
              </a:r>
              <a:endParaRPr/>
            </a:p>
          </p:txBody>
        </p:sp>
        <p:cxnSp>
          <p:nvCxnSpPr>
            <p:cNvPr id="7945" name="Google Shape;7945;p116"/>
            <p:cNvCxnSpPr/>
            <p:nvPr/>
          </p:nvCxnSpPr>
          <p:spPr>
            <a:xfrm>
              <a:off x="1572" y="1938"/>
              <a:ext cx="1098" cy="0"/>
            </a:xfrm>
            <a:prstGeom prst="straightConnector1">
              <a:avLst/>
            </a:prstGeom>
            <a:noFill/>
            <a:ln cap="flat" cmpd="sng" w="19050">
              <a:solidFill>
                <a:schemeClr val="dk1"/>
              </a:solidFill>
              <a:prstDash val="solid"/>
              <a:round/>
              <a:headEnd len="med" w="med" type="triangle"/>
              <a:tailEnd len="med" w="med" type="triangle"/>
            </a:ln>
          </p:spPr>
        </p:cxnSp>
        <p:sp>
          <p:nvSpPr>
            <p:cNvPr id="7946" name="Google Shape;7946;p116"/>
            <p:cNvSpPr txBox="1"/>
            <p:nvPr/>
          </p:nvSpPr>
          <p:spPr>
            <a:xfrm>
              <a:off x="2651" y="1196"/>
              <a:ext cx="875" cy="407"/>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None/>
              </a:pPr>
              <a:r>
                <a:rPr i="0" lang="en-US" sz="2000">
                  <a:solidFill>
                    <a:schemeClr val="dk1"/>
                  </a:solidFill>
                  <a:latin typeface="Calibri"/>
                  <a:ea typeface="Calibri"/>
                  <a:cs typeface="Calibri"/>
                  <a:sym typeface="Calibri"/>
                </a:rPr>
                <a:t>client video</a:t>
              </a:r>
              <a:endParaRPr/>
            </a:p>
            <a:p>
              <a:pPr indent="0" lvl="0" marL="0" marR="0" rtl="0" algn="r">
                <a:lnSpc>
                  <a:spcPct val="90000"/>
                </a:lnSpc>
                <a:spcBef>
                  <a:spcPts val="0"/>
                </a:spcBef>
                <a:spcAft>
                  <a:spcPts val="0"/>
                </a:spcAft>
                <a:buNone/>
              </a:pPr>
              <a:r>
                <a:rPr i="0" lang="en-US" sz="2000">
                  <a:solidFill>
                    <a:schemeClr val="dk1"/>
                  </a:solidFill>
                  <a:latin typeface="Calibri"/>
                  <a:ea typeface="Calibri"/>
                  <a:cs typeface="Calibri"/>
                  <a:sym typeface="Calibri"/>
                </a:rPr>
                <a:t>reception</a:t>
              </a:r>
              <a:endParaRPr/>
            </a:p>
          </p:txBody>
        </p:sp>
      </p:grpSp>
      <p:grpSp>
        <p:nvGrpSpPr>
          <p:cNvPr id="7947" name="Google Shape;7947;p116"/>
          <p:cNvGrpSpPr/>
          <p:nvPr/>
        </p:nvGrpSpPr>
        <p:grpSpPr>
          <a:xfrm>
            <a:off x="4582549" y="1983556"/>
            <a:ext cx="5226054" cy="3214688"/>
            <a:chOff x="1874" y="1138"/>
            <a:chExt cx="3292" cy="2025"/>
          </a:xfrm>
        </p:grpSpPr>
        <p:grpSp>
          <p:nvGrpSpPr>
            <p:cNvPr id="7948" name="Google Shape;7948;p116"/>
            <p:cNvGrpSpPr/>
            <p:nvPr/>
          </p:nvGrpSpPr>
          <p:grpSpPr>
            <a:xfrm>
              <a:off x="2784" y="1138"/>
              <a:ext cx="1608" cy="1591"/>
              <a:chOff x="648" y="1147"/>
              <a:chExt cx="1608" cy="1591"/>
            </a:xfrm>
          </p:grpSpPr>
          <p:grpSp>
            <p:nvGrpSpPr>
              <p:cNvPr id="7949" name="Google Shape;7949;p116"/>
              <p:cNvGrpSpPr/>
              <p:nvPr/>
            </p:nvGrpSpPr>
            <p:grpSpPr>
              <a:xfrm>
                <a:off x="648" y="1725"/>
                <a:ext cx="1024" cy="1013"/>
                <a:chOff x="672" y="1071"/>
                <a:chExt cx="1024" cy="1013"/>
              </a:xfrm>
            </p:grpSpPr>
            <p:grpSp>
              <p:nvGrpSpPr>
                <p:cNvPr id="7950" name="Google Shape;7950;p116"/>
                <p:cNvGrpSpPr/>
                <p:nvPr/>
              </p:nvGrpSpPr>
              <p:grpSpPr>
                <a:xfrm>
                  <a:off x="672" y="1506"/>
                  <a:ext cx="583" cy="578"/>
                  <a:chOff x="672" y="1486"/>
                  <a:chExt cx="583" cy="578"/>
                </a:xfrm>
              </p:grpSpPr>
              <p:grpSp>
                <p:nvGrpSpPr>
                  <p:cNvPr id="7951" name="Google Shape;7951;p116"/>
                  <p:cNvGrpSpPr/>
                  <p:nvPr/>
                </p:nvGrpSpPr>
                <p:grpSpPr>
                  <a:xfrm>
                    <a:off x="672" y="1776"/>
                    <a:ext cx="291" cy="288"/>
                    <a:chOff x="672" y="1776"/>
                    <a:chExt cx="291" cy="288"/>
                  </a:xfrm>
                </p:grpSpPr>
                <p:grpSp>
                  <p:nvGrpSpPr>
                    <p:cNvPr id="7952" name="Google Shape;7952;p116"/>
                    <p:cNvGrpSpPr/>
                    <p:nvPr/>
                  </p:nvGrpSpPr>
                  <p:grpSpPr>
                    <a:xfrm>
                      <a:off x="672" y="1920"/>
                      <a:ext cx="145" cy="144"/>
                      <a:chOff x="672" y="1920"/>
                      <a:chExt cx="145" cy="144"/>
                    </a:xfrm>
                  </p:grpSpPr>
                  <p:cxnSp>
                    <p:nvCxnSpPr>
                      <p:cNvPr id="7953" name="Google Shape;7953;p116"/>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954" name="Google Shape;7954;p116"/>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nvGrpSpPr>
                    <p:cNvPr id="7955" name="Google Shape;7955;p116"/>
                    <p:cNvGrpSpPr/>
                    <p:nvPr/>
                  </p:nvGrpSpPr>
                  <p:grpSpPr>
                    <a:xfrm>
                      <a:off x="818" y="1776"/>
                      <a:ext cx="145" cy="144"/>
                      <a:chOff x="672" y="1920"/>
                      <a:chExt cx="145" cy="144"/>
                    </a:xfrm>
                  </p:grpSpPr>
                  <p:cxnSp>
                    <p:nvCxnSpPr>
                      <p:cNvPr id="7956" name="Google Shape;7956;p116"/>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957" name="Google Shape;7957;p116"/>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grpSp>
                <p:nvGrpSpPr>
                  <p:cNvPr id="7958" name="Google Shape;7958;p116"/>
                  <p:cNvGrpSpPr/>
                  <p:nvPr/>
                </p:nvGrpSpPr>
                <p:grpSpPr>
                  <a:xfrm>
                    <a:off x="964" y="1486"/>
                    <a:ext cx="291" cy="288"/>
                    <a:chOff x="672" y="1776"/>
                    <a:chExt cx="291" cy="288"/>
                  </a:xfrm>
                </p:grpSpPr>
                <p:grpSp>
                  <p:nvGrpSpPr>
                    <p:cNvPr id="7959" name="Google Shape;7959;p116"/>
                    <p:cNvGrpSpPr/>
                    <p:nvPr/>
                  </p:nvGrpSpPr>
                  <p:grpSpPr>
                    <a:xfrm>
                      <a:off x="672" y="1920"/>
                      <a:ext cx="145" cy="144"/>
                      <a:chOff x="672" y="1920"/>
                      <a:chExt cx="145" cy="144"/>
                    </a:xfrm>
                  </p:grpSpPr>
                  <p:cxnSp>
                    <p:nvCxnSpPr>
                      <p:cNvPr id="7960" name="Google Shape;7960;p116"/>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961" name="Google Shape;7961;p116"/>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nvGrpSpPr>
                    <p:cNvPr id="7962" name="Google Shape;7962;p116"/>
                    <p:cNvGrpSpPr/>
                    <p:nvPr/>
                  </p:nvGrpSpPr>
                  <p:grpSpPr>
                    <a:xfrm>
                      <a:off x="818" y="1776"/>
                      <a:ext cx="145" cy="144"/>
                      <a:chOff x="672" y="1920"/>
                      <a:chExt cx="145" cy="144"/>
                    </a:xfrm>
                  </p:grpSpPr>
                  <p:cxnSp>
                    <p:nvCxnSpPr>
                      <p:cNvPr id="7963" name="Google Shape;7963;p116"/>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964" name="Google Shape;7964;p116"/>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grpSp>
            <p:grpSp>
              <p:nvGrpSpPr>
                <p:cNvPr id="7965" name="Google Shape;7965;p116"/>
                <p:cNvGrpSpPr/>
                <p:nvPr/>
              </p:nvGrpSpPr>
              <p:grpSpPr>
                <a:xfrm>
                  <a:off x="1259" y="1217"/>
                  <a:ext cx="291" cy="288"/>
                  <a:chOff x="672" y="1776"/>
                  <a:chExt cx="291" cy="288"/>
                </a:xfrm>
              </p:grpSpPr>
              <p:grpSp>
                <p:nvGrpSpPr>
                  <p:cNvPr id="7966" name="Google Shape;7966;p116"/>
                  <p:cNvGrpSpPr/>
                  <p:nvPr/>
                </p:nvGrpSpPr>
                <p:grpSpPr>
                  <a:xfrm>
                    <a:off x="672" y="1920"/>
                    <a:ext cx="145" cy="144"/>
                    <a:chOff x="672" y="1920"/>
                    <a:chExt cx="145" cy="144"/>
                  </a:xfrm>
                </p:grpSpPr>
                <p:cxnSp>
                  <p:nvCxnSpPr>
                    <p:cNvPr id="7967" name="Google Shape;7967;p116"/>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968" name="Google Shape;7968;p116"/>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nvGrpSpPr>
                  <p:cNvPr id="7969" name="Google Shape;7969;p116"/>
                  <p:cNvGrpSpPr/>
                  <p:nvPr/>
                </p:nvGrpSpPr>
                <p:grpSpPr>
                  <a:xfrm>
                    <a:off x="818" y="1776"/>
                    <a:ext cx="145" cy="144"/>
                    <a:chOff x="672" y="1920"/>
                    <a:chExt cx="145" cy="144"/>
                  </a:xfrm>
                </p:grpSpPr>
                <p:cxnSp>
                  <p:nvCxnSpPr>
                    <p:cNvPr id="7970" name="Google Shape;7970;p116"/>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971" name="Google Shape;7971;p116"/>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grpSp>
              <p:nvGrpSpPr>
                <p:cNvPr id="7972" name="Google Shape;7972;p116"/>
                <p:cNvGrpSpPr/>
                <p:nvPr/>
              </p:nvGrpSpPr>
              <p:grpSpPr>
                <a:xfrm>
                  <a:off x="1551" y="1071"/>
                  <a:ext cx="145" cy="144"/>
                  <a:chOff x="672" y="1920"/>
                  <a:chExt cx="145" cy="144"/>
                </a:xfrm>
              </p:grpSpPr>
              <p:cxnSp>
                <p:nvCxnSpPr>
                  <p:cNvPr id="7973" name="Google Shape;7973;p116"/>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974" name="Google Shape;7974;p116"/>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grpSp>
            <p:nvGrpSpPr>
              <p:cNvPr id="7975" name="Google Shape;7975;p116"/>
              <p:cNvGrpSpPr/>
              <p:nvPr/>
            </p:nvGrpSpPr>
            <p:grpSpPr>
              <a:xfrm>
                <a:off x="1673" y="1147"/>
                <a:ext cx="583" cy="578"/>
                <a:chOff x="672" y="1486"/>
                <a:chExt cx="583" cy="578"/>
              </a:xfrm>
            </p:grpSpPr>
            <p:grpSp>
              <p:nvGrpSpPr>
                <p:cNvPr id="7976" name="Google Shape;7976;p116"/>
                <p:cNvGrpSpPr/>
                <p:nvPr/>
              </p:nvGrpSpPr>
              <p:grpSpPr>
                <a:xfrm>
                  <a:off x="672" y="1776"/>
                  <a:ext cx="291" cy="288"/>
                  <a:chOff x="672" y="1776"/>
                  <a:chExt cx="291" cy="288"/>
                </a:xfrm>
              </p:grpSpPr>
              <p:grpSp>
                <p:nvGrpSpPr>
                  <p:cNvPr id="7977" name="Google Shape;7977;p116"/>
                  <p:cNvGrpSpPr/>
                  <p:nvPr/>
                </p:nvGrpSpPr>
                <p:grpSpPr>
                  <a:xfrm>
                    <a:off x="672" y="1920"/>
                    <a:ext cx="145" cy="144"/>
                    <a:chOff x="672" y="1920"/>
                    <a:chExt cx="145" cy="144"/>
                  </a:xfrm>
                </p:grpSpPr>
                <p:cxnSp>
                  <p:nvCxnSpPr>
                    <p:cNvPr id="7978" name="Google Shape;7978;p116"/>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979" name="Google Shape;7979;p116"/>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nvGrpSpPr>
                  <p:cNvPr id="7980" name="Google Shape;7980;p116"/>
                  <p:cNvGrpSpPr/>
                  <p:nvPr/>
                </p:nvGrpSpPr>
                <p:grpSpPr>
                  <a:xfrm>
                    <a:off x="818" y="1776"/>
                    <a:ext cx="145" cy="144"/>
                    <a:chOff x="672" y="1920"/>
                    <a:chExt cx="145" cy="144"/>
                  </a:xfrm>
                </p:grpSpPr>
                <p:cxnSp>
                  <p:nvCxnSpPr>
                    <p:cNvPr id="7981" name="Google Shape;7981;p116"/>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982" name="Google Shape;7982;p116"/>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grpSp>
              <p:nvGrpSpPr>
                <p:cNvPr id="7983" name="Google Shape;7983;p116"/>
                <p:cNvGrpSpPr/>
                <p:nvPr/>
              </p:nvGrpSpPr>
              <p:grpSpPr>
                <a:xfrm>
                  <a:off x="964" y="1486"/>
                  <a:ext cx="291" cy="288"/>
                  <a:chOff x="672" y="1776"/>
                  <a:chExt cx="291" cy="288"/>
                </a:xfrm>
              </p:grpSpPr>
              <p:grpSp>
                <p:nvGrpSpPr>
                  <p:cNvPr id="7984" name="Google Shape;7984;p116"/>
                  <p:cNvGrpSpPr/>
                  <p:nvPr/>
                </p:nvGrpSpPr>
                <p:grpSpPr>
                  <a:xfrm>
                    <a:off x="672" y="1920"/>
                    <a:ext cx="145" cy="144"/>
                    <a:chOff x="672" y="1920"/>
                    <a:chExt cx="145" cy="144"/>
                  </a:xfrm>
                </p:grpSpPr>
                <p:cxnSp>
                  <p:nvCxnSpPr>
                    <p:cNvPr id="7985" name="Google Shape;7985;p116"/>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986" name="Google Shape;7986;p116"/>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nvGrpSpPr>
                  <p:cNvPr id="7987" name="Google Shape;7987;p116"/>
                  <p:cNvGrpSpPr/>
                  <p:nvPr/>
                </p:nvGrpSpPr>
                <p:grpSpPr>
                  <a:xfrm>
                    <a:off x="818" y="1776"/>
                    <a:ext cx="145" cy="144"/>
                    <a:chOff x="672" y="1920"/>
                    <a:chExt cx="145" cy="144"/>
                  </a:xfrm>
                </p:grpSpPr>
                <p:cxnSp>
                  <p:nvCxnSpPr>
                    <p:cNvPr id="7988" name="Google Shape;7988;p116"/>
                    <p:cNvCxnSpPr/>
                    <p:nvPr/>
                  </p:nvCxnSpPr>
                  <p:spPr>
                    <a:xfrm>
                      <a:off x="672" y="1920"/>
                      <a:ext cx="0" cy="144"/>
                    </a:xfrm>
                    <a:prstGeom prst="straightConnector1">
                      <a:avLst/>
                    </a:prstGeom>
                    <a:noFill/>
                    <a:ln cap="flat" cmpd="sng" w="19050">
                      <a:solidFill>
                        <a:srgbClr val="0000A3"/>
                      </a:solidFill>
                      <a:prstDash val="solid"/>
                      <a:round/>
                      <a:headEnd len="med" w="med" type="none"/>
                      <a:tailEnd len="med" w="med" type="none"/>
                    </a:ln>
                  </p:spPr>
                </p:cxnSp>
                <p:cxnSp>
                  <p:nvCxnSpPr>
                    <p:cNvPr id="7989" name="Google Shape;7989;p116"/>
                    <p:cNvCxnSpPr/>
                    <p:nvPr/>
                  </p:nvCxnSpPr>
                  <p:spPr>
                    <a:xfrm>
                      <a:off x="745" y="1848"/>
                      <a:ext cx="0" cy="144"/>
                    </a:xfrm>
                    <a:prstGeom prst="straightConnector1">
                      <a:avLst/>
                    </a:prstGeom>
                    <a:noFill/>
                    <a:ln cap="flat" cmpd="sng" w="19050">
                      <a:solidFill>
                        <a:srgbClr val="0000A3"/>
                      </a:solidFill>
                      <a:prstDash val="solid"/>
                      <a:round/>
                      <a:headEnd len="med" w="med" type="none"/>
                      <a:tailEnd len="med" w="med" type="none"/>
                    </a:ln>
                  </p:spPr>
                </p:cxnSp>
              </p:grpSp>
            </p:grpSp>
          </p:grpSp>
        </p:grpSp>
        <p:sp>
          <p:nvSpPr>
            <p:cNvPr id="7990" name="Google Shape;7990;p116"/>
            <p:cNvSpPr txBox="1"/>
            <p:nvPr/>
          </p:nvSpPr>
          <p:spPr>
            <a:xfrm>
              <a:off x="3956" y="1225"/>
              <a:ext cx="1210" cy="5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i="0" lang="en-US" sz="2000">
                  <a:solidFill>
                    <a:srgbClr val="000099"/>
                  </a:solidFill>
                  <a:latin typeface="Calibri"/>
                  <a:ea typeface="Calibri"/>
                  <a:cs typeface="Calibri"/>
                  <a:sym typeface="Calibri"/>
                </a:rPr>
                <a:t>       constant bit </a:t>
              </a:r>
              <a:endParaRPr/>
            </a:p>
            <a:p>
              <a:pPr indent="0" lvl="0" marL="0" marR="0" rtl="0" algn="l">
                <a:lnSpc>
                  <a:spcPct val="90000"/>
                </a:lnSpc>
                <a:spcBef>
                  <a:spcPts val="0"/>
                </a:spcBef>
                <a:spcAft>
                  <a:spcPts val="0"/>
                </a:spcAft>
                <a:buNone/>
              </a:pPr>
              <a:r>
                <a:rPr i="0" lang="en-US" sz="2000">
                  <a:solidFill>
                    <a:srgbClr val="000099"/>
                  </a:solidFill>
                  <a:latin typeface="Calibri"/>
                  <a:ea typeface="Calibri"/>
                  <a:cs typeface="Calibri"/>
                  <a:sym typeface="Calibri"/>
                </a:rPr>
                <a:t>     rate video</a:t>
              </a:r>
              <a:endParaRPr/>
            </a:p>
            <a:p>
              <a:pPr indent="0" lvl="0" marL="0" marR="0" rtl="0" algn="l">
                <a:lnSpc>
                  <a:spcPct val="90000"/>
                </a:lnSpc>
                <a:spcBef>
                  <a:spcPts val="0"/>
                </a:spcBef>
                <a:spcAft>
                  <a:spcPts val="0"/>
                </a:spcAft>
                <a:buNone/>
              </a:pPr>
              <a:r>
                <a:rPr i="0" lang="en-US" sz="2000">
                  <a:solidFill>
                    <a:srgbClr val="000099"/>
                  </a:solidFill>
                  <a:latin typeface="Calibri"/>
                  <a:ea typeface="Calibri"/>
                  <a:cs typeface="Calibri"/>
                  <a:sym typeface="Calibri"/>
                </a:rPr>
                <a:t> playout at client</a:t>
              </a:r>
              <a:endParaRPr/>
            </a:p>
          </p:txBody>
        </p:sp>
        <p:grpSp>
          <p:nvGrpSpPr>
            <p:cNvPr id="7991" name="Google Shape;7991;p116"/>
            <p:cNvGrpSpPr/>
            <p:nvPr/>
          </p:nvGrpSpPr>
          <p:grpSpPr>
            <a:xfrm>
              <a:off x="1874" y="2756"/>
              <a:ext cx="1059" cy="407"/>
              <a:chOff x="1874" y="2756"/>
              <a:chExt cx="1059" cy="407"/>
            </a:xfrm>
          </p:grpSpPr>
          <p:sp>
            <p:nvSpPr>
              <p:cNvPr id="7992" name="Google Shape;7992;p116"/>
              <p:cNvSpPr txBox="1"/>
              <p:nvPr/>
            </p:nvSpPr>
            <p:spPr>
              <a:xfrm>
                <a:off x="1874" y="2756"/>
                <a:ext cx="1059" cy="407"/>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i="0" lang="en-US" sz="2000">
                    <a:solidFill>
                      <a:srgbClr val="000099"/>
                    </a:solidFill>
                    <a:latin typeface="Calibri"/>
                    <a:ea typeface="Calibri"/>
                    <a:cs typeface="Calibri"/>
                    <a:sym typeface="Calibri"/>
                  </a:rPr>
                  <a:t>client playout</a:t>
                </a:r>
                <a:endParaRPr/>
              </a:p>
              <a:p>
                <a:pPr indent="0" lvl="0" marL="0" marR="0" rtl="0" algn="ctr">
                  <a:lnSpc>
                    <a:spcPct val="90000"/>
                  </a:lnSpc>
                  <a:spcBef>
                    <a:spcPts val="0"/>
                  </a:spcBef>
                  <a:spcAft>
                    <a:spcPts val="0"/>
                  </a:spcAft>
                  <a:buNone/>
                </a:pPr>
                <a:r>
                  <a:rPr i="0" lang="en-US" sz="2000">
                    <a:solidFill>
                      <a:srgbClr val="000099"/>
                    </a:solidFill>
                    <a:latin typeface="Calibri"/>
                    <a:ea typeface="Calibri"/>
                    <a:cs typeface="Calibri"/>
                    <a:sym typeface="Calibri"/>
                  </a:rPr>
                  <a:t>delay</a:t>
                </a:r>
                <a:endParaRPr/>
              </a:p>
            </p:txBody>
          </p:sp>
          <p:cxnSp>
            <p:nvCxnSpPr>
              <p:cNvPr id="7993" name="Google Shape;7993;p116"/>
              <p:cNvCxnSpPr/>
              <p:nvPr/>
            </p:nvCxnSpPr>
            <p:spPr>
              <a:xfrm>
                <a:off x="1938" y="2952"/>
                <a:ext cx="905" cy="0"/>
              </a:xfrm>
              <a:prstGeom prst="straightConnector1">
                <a:avLst/>
              </a:prstGeom>
              <a:noFill/>
              <a:ln cap="flat" cmpd="sng" w="19050">
                <a:solidFill>
                  <a:srgbClr val="010086"/>
                </a:solidFill>
                <a:prstDash val="solid"/>
                <a:round/>
                <a:headEnd len="med" w="med" type="triangle"/>
                <a:tailEnd len="med" w="med" type="triangle"/>
              </a:ln>
            </p:spPr>
          </p:cxnSp>
        </p:grpSp>
      </p:grpSp>
      <p:grpSp>
        <p:nvGrpSpPr>
          <p:cNvPr id="7994" name="Google Shape;7994;p116"/>
          <p:cNvGrpSpPr/>
          <p:nvPr/>
        </p:nvGrpSpPr>
        <p:grpSpPr>
          <a:xfrm>
            <a:off x="6060511" y="3126165"/>
            <a:ext cx="534988" cy="923926"/>
            <a:chOff x="2822" y="1854"/>
            <a:chExt cx="337" cy="582"/>
          </a:xfrm>
        </p:grpSpPr>
        <p:cxnSp>
          <p:nvCxnSpPr>
            <p:cNvPr id="7995" name="Google Shape;7995;p116"/>
            <p:cNvCxnSpPr/>
            <p:nvPr/>
          </p:nvCxnSpPr>
          <p:spPr>
            <a:xfrm rot="10800000">
              <a:off x="2988" y="1872"/>
              <a:ext cx="0" cy="564"/>
            </a:xfrm>
            <a:prstGeom prst="straightConnector1">
              <a:avLst/>
            </a:prstGeom>
            <a:noFill/>
            <a:ln cap="flat" cmpd="sng" w="19050">
              <a:solidFill>
                <a:srgbClr val="0000A3"/>
              </a:solidFill>
              <a:prstDash val="solid"/>
              <a:round/>
              <a:headEnd len="med" w="med" type="triangle"/>
              <a:tailEnd len="med" w="med" type="triangle"/>
            </a:ln>
          </p:spPr>
        </p:cxnSp>
        <p:sp>
          <p:nvSpPr>
            <p:cNvPr id="7996" name="Google Shape;7996;p116"/>
            <p:cNvSpPr txBox="1"/>
            <p:nvPr/>
          </p:nvSpPr>
          <p:spPr>
            <a:xfrm rot="-5400000">
              <a:off x="2707" y="1969"/>
              <a:ext cx="567" cy="337"/>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i="0" lang="en-US" sz="1600">
                  <a:solidFill>
                    <a:srgbClr val="0000A3"/>
                  </a:solidFill>
                  <a:latin typeface="Calibri"/>
                  <a:ea typeface="Calibri"/>
                  <a:cs typeface="Calibri"/>
                  <a:sym typeface="Calibri"/>
                </a:rPr>
                <a:t>buffered</a:t>
              </a:r>
              <a:endParaRPr/>
            </a:p>
            <a:p>
              <a:pPr indent="0" lvl="0" marL="0" marR="0" rtl="0" algn="ctr">
                <a:lnSpc>
                  <a:spcPct val="90000"/>
                </a:lnSpc>
                <a:spcBef>
                  <a:spcPts val="0"/>
                </a:spcBef>
                <a:spcAft>
                  <a:spcPts val="0"/>
                </a:spcAft>
                <a:buNone/>
              </a:pPr>
              <a:r>
                <a:rPr i="0" lang="en-US" sz="1600">
                  <a:solidFill>
                    <a:srgbClr val="0000A3"/>
                  </a:solidFill>
                  <a:latin typeface="Calibri"/>
                  <a:ea typeface="Calibri"/>
                  <a:cs typeface="Calibri"/>
                  <a:sym typeface="Calibri"/>
                </a:rPr>
                <a:t>video</a:t>
              </a:r>
              <a:endParaRPr i="0" sz="2000">
                <a:solidFill>
                  <a:srgbClr val="0000A3"/>
                </a:solidFill>
                <a:latin typeface="Calibri"/>
                <a:ea typeface="Calibri"/>
                <a:cs typeface="Calibri"/>
                <a:sym typeface="Calibri"/>
              </a:endParaRPr>
            </a:p>
          </p:txBody>
        </p:sp>
      </p:grpSp>
      <p:sp>
        <p:nvSpPr>
          <p:cNvPr id="7997" name="Google Shape;7997;p116"/>
          <p:cNvSpPr txBox="1"/>
          <p:nvPr/>
        </p:nvSpPr>
        <p:spPr>
          <a:xfrm>
            <a:off x="1252768" y="5367320"/>
            <a:ext cx="10515599" cy="8890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Char char="▪"/>
            </a:pPr>
            <a:r>
              <a:rPr i="1" lang="en-US" sz="3200">
                <a:solidFill>
                  <a:srgbClr val="CC0000"/>
                </a:solidFill>
                <a:latin typeface="Calibri"/>
                <a:ea typeface="Calibri"/>
                <a:cs typeface="Calibri"/>
                <a:sym typeface="Calibri"/>
              </a:rPr>
              <a:t>client-side buffering and playout delay: </a:t>
            </a:r>
            <a:r>
              <a:rPr lang="en-US" sz="3200">
                <a:solidFill>
                  <a:schemeClr val="dk1"/>
                </a:solidFill>
                <a:latin typeface="Calibri"/>
                <a:ea typeface="Calibri"/>
                <a:cs typeface="Calibri"/>
                <a:sym typeface="Calibri"/>
              </a:rPr>
              <a:t>compensate for network-added delay, delay jitter</a:t>
            </a:r>
            <a:endParaRPr sz="3200">
              <a:solidFill>
                <a:schemeClr val="dk1"/>
              </a:solidFill>
              <a:latin typeface="Calibri"/>
              <a:ea typeface="Calibri"/>
              <a:cs typeface="Calibri"/>
              <a:sym typeface="Calibri"/>
            </a:endParaRPr>
          </a:p>
        </p:txBody>
      </p:sp>
      <p:sp>
        <p:nvSpPr>
          <p:cNvPr id="7998" name="Google Shape;7998;p1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06"/>
                                        </p:tgtEl>
                                        <p:attrNameLst>
                                          <p:attrName>style.visibility</p:attrName>
                                        </p:attrNameLst>
                                      </p:cBhvr>
                                      <p:to>
                                        <p:strVal val="visible"/>
                                      </p:to>
                                    </p:set>
                                    <p:animEffect filter="fade" transition="in">
                                      <p:cBhvr>
                                        <p:cTn dur="500"/>
                                        <p:tgtEl>
                                          <p:spTgt spid="79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47"/>
                                        </p:tgtEl>
                                        <p:attrNameLst>
                                          <p:attrName>style.visibility</p:attrName>
                                        </p:attrNameLst>
                                      </p:cBhvr>
                                      <p:to>
                                        <p:strVal val="visible"/>
                                      </p:to>
                                    </p:set>
                                    <p:animEffect filter="fade" transition="in">
                                      <p:cBhvr>
                                        <p:cTn dur="500"/>
                                        <p:tgtEl>
                                          <p:spTgt spid="79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94"/>
                                        </p:tgtEl>
                                        <p:attrNameLst>
                                          <p:attrName>style.visibility</p:attrName>
                                        </p:attrNameLst>
                                      </p:cBhvr>
                                      <p:to>
                                        <p:strVal val="visible"/>
                                      </p:to>
                                    </p:set>
                                    <p:animEffect filter="fade" transition="in">
                                      <p:cBhvr>
                                        <p:cTn dur="500"/>
                                        <p:tgtEl>
                                          <p:spTgt spid="799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997">
                                            <p:txEl>
                                              <p:pRg end="0" st="0"/>
                                            </p:txEl>
                                          </p:spTgt>
                                        </p:tgtEl>
                                        <p:attrNameLst>
                                          <p:attrName>style.visibility</p:attrName>
                                        </p:attrNameLst>
                                      </p:cBhvr>
                                      <p:to>
                                        <p:strVal val="visible"/>
                                      </p:to>
                                    </p:set>
                                    <p:animEffect filter="fade" transition="in">
                                      <p:cBhvr>
                                        <p:cTn dur="500"/>
                                        <p:tgtEl>
                                          <p:spTgt spid="799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3" name="Shape 8003"/>
        <p:cNvGrpSpPr/>
        <p:nvPr/>
      </p:nvGrpSpPr>
      <p:grpSpPr>
        <a:xfrm>
          <a:off x="0" y="0"/>
          <a:ext cx="0" cy="0"/>
          <a:chOff x="0" y="0"/>
          <a:chExt cx="0" cy="0"/>
        </a:xfrm>
      </p:grpSpPr>
      <p:sp>
        <p:nvSpPr>
          <p:cNvPr id="8004" name="Google Shape;8004;p11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Streaming multimedia: DASH</a:t>
            </a:r>
            <a:endParaRPr/>
          </a:p>
        </p:txBody>
      </p:sp>
      <p:sp>
        <p:nvSpPr>
          <p:cNvPr id="8005" name="Google Shape;8005;p117"/>
          <p:cNvSpPr txBox="1"/>
          <p:nvPr/>
        </p:nvSpPr>
        <p:spPr>
          <a:xfrm>
            <a:off x="838200" y="1390076"/>
            <a:ext cx="10369274" cy="505301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DASH: D</a:t>
            </a:r>
            <a:r>
              <a:rPr lang="en-US" sz="2800">
                <a:solidFill>
                  <a:schemeClr val="dk1"/>
                </a:solidFill>
                <a:latin typeface="Calibri"/>
                <a:ea typeface="Calibri"/>
                <a:cs typeface="Calibri"/>
                <a:sym typeface="Calibri"/>
              </a:rPr>
              <a:t>ynamic, </a:t>
            </a:r>
            <a:r>
              <a:rPr i="1" lang="en-US" sz="2800">
                <a:solidFill>
                  <a:srgbClr val="CC0000"/>
                </a:solidFill>
                <a:latin typeface="Calibri"/>
                <a:ea typeface="Calibri"/>
                <a:cs typeface="Calibri"/>
                <a:sym typeface="Calibri"/>
              </a:rPr>
              <a:t>A</a:t>
            </a:r>
            <a:r>
              <a:rPr lang="en-US" sz="2800">
                <a:solidFill>
                  <a:schemeClr val="dk1"/>
                </a:solidFill>
                <a:latin typeface="Calibri"/>
                <a:ea typeface="Calibri"/>
                <a:cs typeface="Calibri"/>
                <a:sym typeface="Calibri"/>
              </a:rPr>
              <a:t>daptive </a:t>
            </a:r>
            <a:r>
              <a:rPr i="1" lang="en-US" sz="2800">
                <a:solidFill>
                  <a:srgbClr val="CC0000"/>
                </a:solidFill>
                <a:latin typeface="Calibri"/>
                <a:ea typeface="Calibri"/>
                <a:cs typeface="Calibri"/>
                <a:sym typeface="Calibri"/>
              </a:rPr>
              <a:t>S</a:t>
            </a:r>
            <a:r>
              <a:rPr lang="en-US" sz="2800">
                <a:solidFill>
                  <a:schemeClr val="dk1"/>
                </a:solidFill>
                <a:latin typeface="Calibri"/>
                <a:ea typeface="Calibri"/>
                <a:cs typeface="Calibri"/>
                <a:sym typeface="Calibri"/>
              </a:rPr>
              <a:t>treaming over </a:t>
            </a:r>
            <a:r>
              <a:rPr i="1" lang="en-US" sz="2800">
                <a:solidFill>
                  <a:srgbClr val="CC0000"/>
                </a:solidFill>
                <a:latin typeface="Calibri"/>
                <a:ea typeface="Calibri"/>
                <a:cs typeface="Calibri"/>
                <a:sym typeface="Calibri"/>
              </a:rPr>
              <a:t>H</a:t>
            </a:r>
            <a:r>
              <a:rPr lang="en-US" sz="2800">
                <a:solidFill>
                  <a:schemeClr val="dk1"/>
                </a:solidFill>
                <a:latin typeface="Calibri"/>
                <a:ea typeface="Calibri"/>
                <a:cs typeface="Calibri"/>
                <a:sym typeface="Calibri"/>
              </a:rPr>
              <a:t>TTP</a:t>
            </a:r>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a:solidFill>
                  <a:srgbClr val="000099"/>
                </a:solidFill>
                <a:latin typeface="Calibri"/>
                <a:ea typeface="Calibri"/>
                <a:cs typeface="Calibri"/>
                <a:sym typeface="Calibri"/>
              </a:rPr>
              <a:t>server: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divides video file into multiple chunks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each chunk stored, encoded at different rates </a:t>
            </a:r>
            <a:endParaRPr/>
          </a:p>
          <a:p>
            <a:pPr indent="-231775" lvl="1" marL="695325" marR="0" rtl="0" algn="l">
              <a:lnSpc>
                <a:spcPct val="90000"/>
              </a:lnSpc>
              <a:spcBef>
                <a:spcPts val="500"/>
              </a:spcBef>
              <a:spcAft>
                <a:spcPts val="0"/>
              </a:spcAft>
              <a:buClr>
                <a:srgbClr val="0000A8"/>
              </a:buClr>
              <a:buSzPts val="2400"/>
              <a:buFont typeface="Arial"/>
              <a:buChar char="•"/>
            </a:pPr>
            <a:r>
              <a:rPr b="0" i="1" lang="en-US" sz="2400" u="none" cap="none" strike="noStrike">
                <a:solidFill>
                  <a:srgbClr val="000099"/>
                </a:solidFill>
                <a:latin typeface="Calibri"/>
                <a:ea typeface="Calibri"/>
                <a:cs typeface="Calibri"/>
                <a:sym typeface="Calibri"/>
              </a:rPr>
              <a:t>manifest file: </a:t>
            </a:r>
            <a:r>
              <a:rPr b="0" i="0" lang="en-US" sz="2400" u="none" cap="none" strike="noStrike">
                <a:solidFill>
                  <a:schemeClr val="dk1"/>
                </a:solidFill>
                <a:latin typeface="Calibri"/>
                <a:ea typeface="Calibri"/>
                <a:cs typeface="Calibri"/>
                <a:sym typeface="Calibri"/>
              </a:rPr>
              <a:t>provides URLs for different chunks</a:t>
            </a:r>
            <a:endParaRPr/>
          </a:p>
          <a:p>
            <a:pPr indent="-222250" lvl="0" marL="352425" marR="0" rtl="0" algn="l">
              <a:lnSpc>
                <a:spcPct val="90000"/>
              </a:lnSpc>
              <a:spcBef>
                <a:spcPts val="1000"/>
              </a:spcBef>
              <a:spcAft>
                <a:spcPts val="0"/>
              </a:spcAft>
              <a:buClr>
                <a:srgbClr val="0000A3"/>
              </a:buClr>
              <a:buSzPts val="2800"/>
              <a:buFont typeface="Noto Sans Symbols"/>
              <a:buChar char="▪"/>
            </a:pPr>
            <a:r>
              <a:rPr i="1" lang="en-US" sz="2800">
                <a:solidFill>
                  <a:srgbClr val="000099"/>
                </a:solidFill>
                <a:latin typeface="Calibri"/>
                <a:ea typeface="Calibri"/>
                <a:cs typeface="Calibri"/>
                <a:sym typeface="Calibri"/>
              </a:rPr>
              <a:t>client: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periodically measures server-to-client bandwidth</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consulting manifest, requests one chunk at a time </a:t>
            </a:r>
            <a:endParaRPr/>
          </a:p>
          <a:p>
            <a:pPr indent="-228600" lvl="2" marL="11430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chooses maximum coding rate sustainable given current bandwidth</a:t>
            </a:r>
            <a:endParaRPr/>
          </a:p>
          <a:p>
            <a:pPr indent="-228600" lvl="2" marL="11430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can choose different coding rates at different points in time (depending on available bandwidth at time)</a:t>
            </a:r>
            <a:endParaRPr/>
          </a:p>
        </p:txBody>
      </p:sp>
      <p:grpSp>
        <p:nvGrpSpPr>
          <p:cNvPr id="8006" name="Google Shape;8006;p117"/>
          <p:cNvGrpSpPr/>
          <p:nvPr/>
        </p:nvGrpSpPr>
        <p:grpSpPr>
          <a:xfrm>
            <a:off x="7788729" y="2387938"/>
            <a:ext cx="3961816" cy="1342799"/>
            <a:chOff x="2942641" y="1846263"/>
            <a:chExt cx="6276975" cy="1962150"/>
          </a:xfrm>
        </p:grpSpPr>
        <p:grpSp>
          <p:nvGrpSpPr>
            <p:cNvPr id="8007" name="Google Shape;8007;p117"/>
            <p:cNvGrpSpPr/>
            <p:nvPr/>
          </p:nvGrpSpPr>
          <p:grpSpPr>
            <a:xfrm>
              <a:off x="7109829" y="1846263"/>
              <a:ext cx="2109787" cy="1582737"/>
              <a:chOff x="1842724" y="2867233"/>
              <a:chExt cx="5649912" cy="3416300"/>
            </a:xfrm>
          </p:grpSpPr>
          <p:sp>
            <p:nvSpPr>
              <p:cNvPr id="8008" name="Google Shape;8008;p117"/>
              <p:cNvSpPr/>
              <p:nvPr/>
            </p:nvSpPr>
            <p:spPr>
              <a:xfrm>
                <a:off x="1842724" y="2867233"/>
                <a:ext cx="5649912" cy="768350"/>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8009" name="Google Shape;8009;p117"/>
              <p:cNvSpPr/>
              <p:nvPr/>
            </p:nvSpPr>
            <p:spPr>
              <a:xfrm>
                <a:off x="2277699" y="3621296"/>
                <a:ext cx="4781550" cy="26622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grpSp>
          <p:nvGrpSpPr>
            <p:cNvPr id="8010" name="Google Shape;8010;p117"/>
            <p:cNvGrpSpPr/>
            <p:nvPr/>
          </p:nvGrpSpPr>
          <p:grpSpPr>
            <a:xfrm>
              <a:off x="3369679" y="2406650"/>
              <a:ext cx="427037" cy="785813"/>
              <a:chOff x="4140" y="429"/>
              <a:chExt cx="1425" cy="2396"/>
            </a:xfrm>
          </p:grpSpPr>
          <p:sp>
            <p:nvSpPr>
              <p:cNvPr id="8011" name="Google Shape;8011;p11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12" name="Google Shape;8012;p117"/>
              <p:cNvSpPr/>
              <p:nvPr/>
            </p:nvSpPr>
            <p:spPr>
              <a:xfrm>
                <a:off x="4204"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13" name="Google Shape;8013;p11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14" name="Google Shape;8014;p11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15" name="Google Shape;8015;p117"/>
              <p:cNvSpPr/>
              <p:nvPr/>
            </p:nvSpPr>
            <p:spPr>
              <a:xfrm>
                <a:off x="4214" y="695"/>
                <a:ext cx="593"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8016" name="Google Shape;8016;p117"/>
              <p:cNvGrpSpPr/>
              <p:nvPr/>
            </p:nvGrpSpPr>
            <p:grpSpPr>
              <a:xfrm>
                <a:off x="4749" y="666"/>
                <a:ext cx="583" cy="145"/>
                <a:chOff x="614" y="2566"/>
                <a:chExt cx="727" cy="139"/>
              </a:xfrm>
            </p:grpSpPr>
            <p:sp>
              <p:nvSpPr>
                <p:cNvPr id="8017" name="Google Shape;8017;p117"/>
                <p:cNvSpPr/>
                <p:nvPr/>
              </p:nvSpPr>
              <p:spPr>
                <a:xfrm>
                  <a:off x="614" y="2566"/>
                  <a:ext cx="727"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18" name="Google Shape;8018;p117"/>
                <p:cNvSpPr/>
                <p:nvPr/>
              </p:nvSpPr>
              <p:spPr>
                <a:xfrm>
                  <a:off x="627" y="2580"/>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8019" name="Google Shape;8019;p117"/>
              <p:cNvSpPr/>
              <p:nvPr/>
            </p:nvSpPr>
            <p:spPr>
              <a:xfrm>
                <a:off x="4225" y="1020"/>
                <a:ext cx="593"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8020" name="Google Shape;8020;p117"/>
              <p:cNvGrpSpPr/>
              <p:nvPr/>
            </p:nvGrpSpPr>
            <p:grpSpPr>
              <a:xfrm>
                <a:off x="4749" y="995"/>
                <a:ext cx="578" cy="131"/>
                <a:chOff x="617" y="2569"/>
                <a:chExt cx="721" cy="136"/>
              </a:xfrm>
            </p:grpSpPr>
            <p:sp>
              <p:nvSpPr>
                <p:cNvPr id="8021" name="Google Shape;8021;p117"/>
                <p:cNvSpPr/>
                <p:nvPr/>
              </p:nvSpPr>
              <p:spPr>
                <a:xfrm>
                  <a:off x="617" y="2569"/>
                  <a:ext cx="721" cy="13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22" name="Google Shape;8022;p117"/>
                <p:cNvSpPr/>
                <p:nvPr/>
              </p:nvSpPr>
              <p:spPr>
                <a:xfrm>
                  <a:off x="630" y="2584"/>
                  <a:ext cx="687"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8023" name="Google Shape;8023;p117"/>
              <p:cNvSpPr/>
              <p:nvPr/>
            </p:nvSpPr>
            <p:spPr>
              <a:xfrm>
                <a:off x="4219" y="1358"/>
                <a:ext cx="593"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24" name="Google Shape;8024;p117"/>
              <p:cNvSpPr/>
              <p:nvPr/>
            </p:nvSpPr>
            <p:spPr>
              <a:xfrm>
                <a:off x="4225" y="1654"/>
                <a:ext cx="599"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8025" name="Google Shape;8025;p117"/>
              <p:cNvGrpSpPr/>
              <p:nvPr/>
            </p:nvGrpSpPr>
            <p:grpSpPr>
              <a:xfrm>
                <a:off x="4733" y="1629"/>
                <a:ext cx="577" cy="150"/>
                <a:chOff x="612" y="2570"/>
                <a:chExt cx="719" cy="138"/>
              </a:xfrm>
            </p:grpSpPr>
            <p:sp>
              <p:nvSpPr>
                <p:cNvPr id="8026" name="Google Shape;8026;p117"/>
                <p:cNvSpPr/>
                <p:nvPr/>
              </p:nvSpPr>
              <p:spPr>
                <a:xfrm>
                  <a:off x="612" y="2570"/>
                  <a:ext cx="71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27" name="Google Shape;8027;p117"/>
                <p:cNvSpPr/>
                <p:nvPr/>
              </p:nvSpPr>
              <p:spPr>
                <a:xfrm>
                  <a:off x="625" y="2588"/>
                  <a:ext cx="693"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8028" name="Google Shape;8028;p11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029" name="Google Shape;8029;p117"/>
              <p:cNvGrpSpPr/>
              <p:nvPr/>
            </p:nvGrpSpPr>
            <p:grpSpPr>
              <a:xfrm>
                <a:off x="4739" y="1329"/>
                <a:ext cx="583" cy="136"/>
                <a:chOff x="614" y="2570"/>
                <a:chExt cx="726" cy="136"/>
              </a:xfrm>
            </p:grpSpPr>
            <p:sp>
              <p:nvSpPr>
                <p:cNvPr id="8030" name="Google Shape;8030;p117"/>
                <p:cNvSpPr/>
                <p:nvPr/>
              </p:nvSpPr>
              <p:spPr>
                <a:xfrm>
                  <a:off x="614" y="2570"/>
                  <a:ext cx="726" cy="13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31" name="Google Shape;8031;p117"/>
                <p:cNvSpPr/>
                <p:nvPr/>
              </p:nvSpPr>
              <p:spPr>
                <a:xfrm>
                  <a:off x="627" y="2585"/>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8032" name="Google Shape;8032;p117"/>
              <p:cNvSpPr/>
              <p:nvPr/>
            </p:nvSpPr>
            <p:spPr>
              <a:xfrm>
                <a:off x="5252" y="429"/>
                <a:ext cx="64"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33" name="Google Shape;8033;p11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34" name="Google Shape;8034;p11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35" name="Google Shape;8035;p117"/>
              <p:cNvSpPr/>
              <p:nvPr/>
            </p:nvSpPr>
            <p:spPr>
              <a:xfrm>
                <a:off x="5517" y="2612"/>
                <a:ext cx="48"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36" name="Google Shape;8036;p11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37" name="Google Shape;8037;p117"/>
              <p:cNvSpPr/>
              <p:nvPr/>
            </p:nvSpPr>
            <p:spPr>
              <a:xfrm>
                <a:off x="4140" y="2680"/>
                <a:ext cx="1203"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38" name="Google Shape;8038;p117"/>
              <p:cNvSpPr/>
              <p:nvPr/>
            </p:nvSpPr>
            <p:spPr>
              <a:xfrm>
                <a:off x="4204" y="2709"/>
                <a:ext cx="1075"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39" name="Google Shape;8039;p117"/>
              <p:cNvSpPr/>
              <p:nvPr/>
            </p:nvSpPr>
            <p:spPr>
              <a:xfrm>
                <a:off x="4310" y="2380"/>
                <a:ext cx="159"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40" name="Google Shape;8040;p117"/>
              <p:cNvSpPr/>
              <p:nvPr/>
            </p:nvSpPr>
            <p:spPr>
              <a:xfrm>
                <a:off x="4484" y="2385"/>
                <a:ext cx="164"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8041" name="Google Shape;8041;p117"/>
              <p:cNvSpPr/>
              <p:nvPr/>
            </p:nvSpPr>
            <p:spPr>
              <a:xfrm>
                <a:off x="4664" y="2380"/>
                <a:ext cx="154"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42" name="Google Shape;8042;p117"/>
              <p:cNvSpPr/>
              <p:nvPr/>
            </p:nvSpPr>
            <p:spPr>
              <a:xfrm>
                <a:off x="5062" y="1838"/>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grpSp>
          <p:nvGrpSpPr>
            <p:cNvPr id="8043" name="Google Shape;8043;p117"/>
            <p:cNvGrpSpPr/>
            <p:nvPr/>
          </p:nvGrpSpPr>
          <p:grpSpPr>
            <a:xfrm>
              <a:off x="2942641" y="2038350"/>
              <a:ext cx="1281113" cy="363538"/>
              <a:chOff x="3621" y="3265"/>
              <a:chExt cx="1776" cy="744"/>
            </a:xfrm>
          </p:grpSpPr>
          <p:pic>
            <p:nvPicPr>
              <p:cNvPr descr="reellogo" id="8044" name="Google Shape;8044;p117"/>
              <p:cNvPicPr preferRelativeResize="0"/>
              <p:nvPr/>
            </p:nvPicPr>
            <p:blipFill rotWithShape="1">
              <a:blip r:embed="rId3">
                <a:alphaModFix/>
              </a:blip>
              <a:srcRect b="0" l="0" r="0" t="0"/>
              <a:stretch/>
            </p:blipFill>
            <p:spPr>
              <a:xfrm>
                <a:off x="3621" y="3265"/>
                <a:ext cx="1776" cy="744"/>
              </a:xfrm>
              <a:prstGeom prst="rect">
                <a:avLst/>
              </a:prstGeom>
              <a:noFill/>
              <a:ln>
                <a:noFill/>
              </a:ln>
            </p:spPr>
          </p:pic>
          <p:sp>
            <p:nvSpPr>
              <p:cNvPr id="8045" name="Google Shape;8045;p117"/>
              <p:cNvSpPr/>
              <p:nvPr/>
            </p:nvSpPr>
            <p:spPr>
              <a:xfrm>
                <a:off x="3971" y="3288"/>
                <a:ext cx="1402" cy="439"/>
              </a:xfrm>
              <a:custGeom>
                <a:rect b="b" l="l" r="r" t="t"/>
                <a:pathLst>
                  <a:path extrusionOk="0" h="438" w="1401">
                    <a:moveTo>
                      <a:pt x="0" y="6"/>
                    </a:moveTo>
                    <a:lnTo>
                      <a:pt x="27" y="384"/>
                    </a:lnTo>
                    <a:lnTo>
                      <a:pt x="114" y="381"/>
                    </a:lnTo>
                    <a:lnTo>
                      <a:pt x="132" y="357"/>
                    </a:lnTo>
                    <a:lnTo>
                      <a:pt x="210" y="402"/>
                    </a:lnTo>
                    <a:lnTo>
                      <a:pt x="450" y="384"/>
                    </a:lnTo>
                    <a:lnTo>
                      <a:pt x="486" y="393"/>
                    </a:lnTo>
                    <a:lnTo>
                      <a:pt x="690" y="417"/>
                    </a:lnTo>
                    <a:lnTo>
                      <a:pt x="1074" y="438"/>
                    </a:lnTo>
                    <a:lnTo>
                      <a:pt x="1401" y="420"/>
                    </a:lnTo>
                    <a:lnTo>
                      <a:pt x="1392" y="165"/>
                    </a:lnTo>
                    <a:lnTo>
                      <a:pt x="291" y="0"/>
                    </a:lnTo>
                    <a:lnTo>
                      <a:pt x="0" y="6"/>
                    </a:lnTo>
                    <a:close/>
                  </a:path>
                </a:pathLst>
              </a:cu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46" name="Google Shape;8046;p117"/>
              <p:cNvSpPr/>
              <p:nvPr/>
            </p:nvSpPr>
            <p:spPr>
              <a:xfrm>
                <a:off x="4242" y="3860"/>
                <a:ext cx="999" cy="120"/>
              </a:xfrm>
              <a:custGeom>
                <a:rect b="b" l="l" r="r" t="t"/>
                <a:pathLst>
                  <a:path extrusionOk="0" h="123" w="999">
                    <a:moveTo>
                      <a:pt x="0" y="6"/>
                    </a:moveTo>
                    <a:lnTo>
                      <a:pt x="717" y="12"/>
                    </a:lnTo>
                    <a:lnTo>
                      <a:pt x="744" y="36"/>
                    </a:lnTo>
                    <a:lnTo>
                      <a:pt x="801" y="42"/>
                    </a:lnTo>
                    <a:lnTo>
                      <a:pt x="876" y="6"/>
                    </a:lnTo>
                    <a:lnTo>
                      <a:pt x="933" y="0"/>
                    </a:lnTo>
                    <a:lnTo>
                      <a:pt x="981" y="15"/>
                    </a:lnTo>
                    <a:lnTo>
                      <a:pt x="999" y="51"/>
                    </a:lnTo>
                    <a:lnTo>
                      <a:pt x="987" y="123"/>
                    </a:lnTo>
                    <a:lnTo>
                      <a:pt x="18" y="120"/>
                    </a:lnTo>
                    <a:lnTo>
                      <a:pt x="0" y="6"/>
                    </a:lnTo>
                    <a:close/>
                  </a:path>
                </a:pathLst>
              </a:cu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video1" id="8047" name="Google Shape;8047;p117"/>
              <p:cNvPicPr preferRelativeResize="0"/>
              <p:nvPr/>
            </p:nvPicPr>
            <p:blipFill rotWithShape="1">
              <a:blip r:embed="rId4">
                <a:alphaModFix/>
              </a:blip>
              <a:srcRect b="0" l="0" r="0" t="0"/>
              <a:stretch/>
            </p:blipFill>
            <p:spPr>
              <a:xfrm>
                <a:off x="4083" y="3400"/>
                <a:ext cx="889" cy="460"/>
              </a:xfrm>
              <a:prstGeom prst="rect">
                <a:avLst/>
              </a:prstGeom>
              <a:noFill/>
              <a:ln>
                <a:noFill/>
              </a:ln>
            </p:spPr>
          </p:pic>
        </p:grpSp>
        <p:grpSp>
          <p:nvGrpSpPr>
            <p:cNvPr id="8048" name="Google Shape;8048;p117"/>
            <p:cNvGrpSpPr/>
            <p:nvPr/>
          </p:nvGrpSpPr>
          <p:grpSpPr>
            <a:xfrm>
              <a:off x="7868654" y="2625725"/>
              <a:ext cx="677862" cy="663575"/>
              <a:chOff x="4437" y="1472"/>
              <a:chExt cx="427" cy="418"/>
            </a:xfrm>
          </p:grpSpPr>
          <p:sp>
            <p:nvSpPr>
              <p:cNvPr id="8049" name="Google Shape;8049;p117"/>
              <p:cNvSpPr/>
              <p:nvPr/>
            </p:nvSpPr>
            <p:spPr>
              <a:xfrm>
                <a:off x="4443" y="1475"/>
                <a:ext cx="421" cy="361"/>
              </a:xfrm>
              <a:prstGeom prst="rect">
                <a:avLst/>
              </a:prstGeom>
              <a:gradFill>
                <a:gsLst>
                  <a:gs pos="0">
                    <a:srgbClr val="6B8FB3"/>
                  </a:gs>
                  <a:gs pos="50000">
                    <a:srgbClr val="99CCFF"/>
                  </a:gs>
                  <a:gs pos="100000">
                    <a:srgbClr val="6B8FB3"/>
                  </a:gs>
                </a:gsLst>
                <a:lin ang="5400000" scaled="0"/>
              </a:gra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50" name="Google Shape;8050;p117"/>
              <p:cNvSpPr/>
              <p:nvPr/>
            </p:nvSpPr>
            <p:spPr>
              <a:xfrm>
                <a:off x="4567" y="1837"/>
                <a:ext cx="179" cy="23"/>
              </a:xfrm>
              <a:prstGeom prst="rect">
                <a:avLst/>
              </a:prstGeom>
              <a:solidFill>
                <a:srgbClr val="5F5F5F"/>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51" name="Google Shape;8051;p117"/>
              <p:cNvSpPr/>
              <p:nvPr/>
            </p:nvSpPr>
            <p:spPr>
              <a:xfrm>
                <a:off x="4442" y="1866"/>
                <a:ext cx="414" cy="24"/>
              </a:xfrm>
              <a:prstGeom prst="rect">
                <a:avLst/>
              </a:prstGeom>
              <a:solidFill>
                <a:schemeClr val="dk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52" name="Google Shape;8052;p117"/>
              <p:cNvSpPr/>
              <p:nvPr/>
            </p:nvSpPr>
            <p:spPr>
              <a:xfrm>
                <a:off x="4437" y="1472"/>
                <a:ext cx="423" cy="356"/>
              </a:xfrm>
              <a:prstGeom prst="rect">
                <a:avLst/>
              </a:prstGeom>
              <a:noFill/>
              <a:ln cap="flat"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8053" name="Google Shape;8053;p117"/>
            <p:cNvSpPr/>
            <p:nvPr/>
          </p:nvSpPr>
          <p:spPr>
            <a:xfrm>
              <a:off x="4377741" y="2066925"/>
              <a:ext cx="2320925" cy="1228725"/>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8054" name="Google Shape;8054;p117"/>
            <p:cNvCxnSpPr/>
            <p:nvPr/>
          </p:nvCxnSpPr>
          <p:spPr>
            <a:xfrm>
              <a:off x="4018966" y="2632075"/>
              <a:ext cx="1241425" cy="0"/>
            </a:xfrm>
            <a:prstGeom prst="straightConnector1">
              <a:avLst/>
            </a:prstGeom>
            <a:noFill/>
            <a:ln cap="flat" cmpd="sng" w="31750">
              <a:solidFill>
                <a:srgbClr val="CC0000"/>
              </a:solidFill>
              <a:prstDash val="solid"/>
              <a:round/>
              <a:headEnd len="med" w="med" type="none"/>
              <a:tailEnd len="med" w="med" type="triangle"/>
            </a:ln>
          </p:spPr>
        </p:cxnSp>
        <p:cxnSp>
          <p:nvCxnSpPr>
            <p:cNvPr id="8055" name="Google Shape;8055;p117"/>
            <p:cNvCxnSpPr/>
            <p:nvPr/>
          </p:nvCxnSpPr>
          <p:spPr>
            <a:xfrm>
              <a:off x="6030329" y="2662238"/>
              <a:ext cx="1531937" cy="0"/>
            </a:xfrm>
            <a:prstGeom prst="straightConnector1">
              <a:avLst/>
            </a:prstGeom>
            <a:noFill/>
            <a:ln cap="flat" cmpd="sng" w="31750">
              <a:solidFill>
                <a:srgbClr val="CC0000"/>
              </a:solidFill>
              <a:prstDash val="solid"/>
              <a:round/>
              <a:headEnd len="med" w="med" type="none"/>
              <a:tailEnd len="med" w="med" type="triangle"/>
            </a:ln>
          </p:spPr>
        </p:cxnSp>
        <p:sp>
          <p:nvSpPr>
            <p:cNvPr id="8056" name="Google Shape;8056;p117"/>
            <p:cNvSpPr txBox="1"/>
            <p:nvPr/>
          </p:nvSpPr>
          <p:spPr>
            <a:xfrm>
              <a:off x="7784516" y="3440113"/>
              <a:ext cx="766763"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client</a:t>
              </a:r>
              <a:endParaRPr i="1" sz="1800">
                <a:solidFill>
                  <a:srgbClr val="CC0000"/>
                </a:solidFill>
                <a:latin typeface="Arial"/>
                <a:ea typeface="Arial"/>
                <a:cs typeface="Arial"/>
                <a:sym typeface="Arial"/>
              </a:endParaRPr>
            </a:p>
          </p:txBody>
        </p:sp>
        <p:sp>
          <p:nvSpPr>
            <p:cNvPr id="8057" name="Google Shape;8057;p117"/>
            <p:cNvSpPr txBox="1"/>
            <p:nvPr/>
          </p:nvSpPr>
          <p:spPr>
            <a:xfrm>
              <a:off x="5031791" y="2895600"/>
              <a:ext cx="919163" cy="3381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Internet</a:t>
              </a:r>
              <a:endParaRPr i="1" sz="1800">
                <a:solidFill>
                  <a:srgbClr val="CC0000"/>
                </a:solidFill>
                <a:latin typeface="Arial"/>
                <a:ea typeface="Arial"/>
                <a:cs typeface="Arial"/>
                <a:sym typeface="Arial"/>
              </a:endParaRPr>
            </a:p>
          </p:txBody>
        </p:sp>
      </p:grpSp>
      <p:sp>
        <p:nvSpPr>
          <p:cNvPr id="8058" name="Google Shape;8058;p1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3" name="Shape 8063"/>
        <p:cNvGrpSpPr/>
        <p:nvPr/>
      </p:nvGrpSpPr>
      <p:grpSpPr>
        <a:xfrm>
          <a:off x="0" y="0"/>
          <a:ext cx="0" cy="0"/>
          <a:chOff x="0" y="0"/>
          <a:chExt cx="0" cy="0"/>
        </a:xfrm>
      </p:grpSpPr>
      <p:sp>
        <p:nvSpPr>
          <p:cNvPr id="8064" name="Google Shape;8064;p11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Streaming multimedia: DASH</a:t>
            </a:r>
            <a:endParaRPr/>
          </a:p>
        </p:txBody>
      </p:sp>
      <p:grpSp>
        <p:nvGrpSpPr>
          <p:cNvPr id="8065" name="Google Shape;8065;p118"/>
          <p:cNvGrpSpPr/>
          <p:nvPr/>
        </p:nvGrpSpPr>
        <p:grpSpPr>
          <a:xfrm>
            <a:off x="7788729" y="2387938"/>
            <a:ext cx="3961816" cy="1342799"/>
            <a:chOff x="2942641" y="1846263"/>
            <a:chExt cx="6276975" cy="1962150"/>
          </a:xfrm>
        </p:grpSpPr>
        <p:grpSp>
          <p:nvGrpSpPr>
            <p:cNvPr id="8066" name="Google Shape;8066;p118"/>
            <p:cNvGrpSpPr/>
            <p:nvPr/>
          </p:nvGrpSpPr>
          <p:grpSpPr>
            <a:xfrm>
              <a:off x="7109829" y="1846263"/>
              <a:ext cx="2109787" cy="1582737"/>
              <a:chOff x="1842724" y="2867233"/>
              <a:chExt cx="5649912" cy="3416300"/>
            </a:xfrm>
          </p:grpSpPr>
          <p:sp>
            <p:nvSpPr>
              <p:cNvPr id="8067" name="Google Shape;8067;p118"/>
              <p:cNvSpPr/>
              <p:nvPr/>
            </p:nvSpPr>
            <p:spPr>
              <a:xfrm>
                <a:off x="1842724" y="2867233"/>
                <a:ext cx="5649912" cy="768350"/>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8068" name="Google Shape;8068;p118"/>
              <p:cNvSpPr/>
              <p:nvPr/>
            </p:nvSpPr>
            <p:spPr>
              <a:xfrm>
                <a:off x="2277699" y="3621296"/>
                <a:ext cx="4781550" cy="26622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grpSp>
          <p:nvGrpSpPr>
            <p:cNvPr id="8069" name="Google Shape;8069;p118"/>
            <p:cNvGrpSpPr/>
            <p:nvPr/>
          </p:nvGrpSpPr>
          <p:grpSpPr>
            <a:xfrm>
              <a:off x="3369679" y="2406650"/>
              <a:ext cx="427037" cy="785813"/>
              <a:chOff x="4140" y="429"/>
              <a:chExt cx="1425" cy="2396"/>
            </a:xfrm>
          </p:grpSpPr>
          <p:sp>
            <p:nvSpPr>
              <p:cNvPr id="8070" name="Google Shape;8070;p1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71" name="Google Shape;8071;p118"/>
              <p:cNvSpPr/>
              <p:nvPr/>
            </p:nvSpPr>
            <p:spPr>
              <a:xfrm>
                <a:off x="4204"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72" name="Google Shape;8072;p1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73" name="Google Shape;8073;p1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74" name="Google Shape;8074;p118"/>
              <p:cNvSpPr/>
              <p:nvPr/>
            </p:nvSpPr>
            <p:spPr>
              <a:xfrm>
                <a:off x="4214" y="695"/>
                <a:ext cx="593"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8075" name="Google Shape;8075;p118"/>
              <p:cNvGrpSpPr/>
              <p:nvPr/>
            </p:nvGrpSpPr>
            <p:grpSpPr>
              <a:xfrm>
                <a:off x="4749" y="666"/>
                <a:ext cx="583" cy="145"/>
                <a:chOff x="614" y="2566"/>
                <a:chExt cx="727" cy="139"/>
              </a:xfrm>
            </p:grpSpPr>
            <p:sp>
              <p:nvSpPr>
                <p:cNvPr id="8076" name="Google Shape;8076;p118"/>
                <p:cNvSpPr/>
                <p:nvPr/>
              </p:nvSpPr>
              <p:spPr>
                <a:xfrm>
                  <a:off x="614" y="2566"/>
                  <a:ext cx="727"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77" name="Google Shape;8077;p118"/>
                <p:cNvSpPr/>
                <p:nvPr/>
              </p:nvSpPr>
              <p:spPr>
                <a:xfrm>
                  <a:off x="627" y="2580"/>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8078" name="Google Shape;8078;p118"/>
              <p:cNvSpPr/>
              <p:nvPr/>
            </p:nvSpPr>
            <p:spPr>
              <a:xfrm>
                <a:off x="4225" y="1020"/>
                <a:ext cx="593"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8079" name="Google Shape;8079;p118"/>
              <p:cNvGrpSpPr/>
              <p:nvPr/>
            </p:nvGrpSpPr>
            <p:grpSpPr>
              <a:xfrm>
                <a:off x="4749" y="995"/>
                <a:ext cx="578" cy="131"/>
                <a:chOff x="617" y="2569"/>
                <a:chExt cx="721" cy="136"/>
              </a:xfrm>
            </p:grpSpPr>
            <p:sp>
              <p:nvSpPr>
                <p:cNvPr id="8080" name="Google Shape;8080;p118"/>
                <p:cNvSpPr/>
                <p:nvPr/>
              </p:nvSpPr>
              <p:spPr>
                <a:xfrm>
                  <a:off x="617" y="2569"/>
                  <a:ext cx="721" cy="13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81" name="Google Shape;8081;p118"/>
                <p:cNvSpPr/>
                <p:nvPr/>
              </p:nvSpPr>
              <p:spPr>
                <a:xfrm>
                  <a:off x="630" y="2584"/>
                  <a:ext cx="687"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8082" name="Google Shape;8082;p118"/>
              <p:cNvSpPr/>
              <p:nvPr/>
            </p:nvSpPr>
            <p:spPr>
              <a:xfrm>
                <a:off x="4219" y="1358"/>
                <a:ext cx="593"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83" name="Google Shape;8083;p118"/>
              <p:cNvSpPr/>
              <p:nvPr/>
            </p:nvSpPr>
            <p:spPr>
              <a:xfrm>
                <a:off x="4225" y="1654"/>
                <a:ext cx="599"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8084" name="Google Shape;8084;p118"/>
              <p:cNvGrpSpPr/>
              <p:nvPr/>
            </p:nvGrpSpPr>
            <p:grpSpPr>
              <a:xfrm>
                <a:off x="4733" y="1629"/>
                <a:ext cx="577" cy="150"/>
                <a:chOff x="612" y="2570"/>
                <a:chExt cx="719" cy="138"/>
              </a:xfrm>
            </p:grpSpPr>
            <p:sp>
              <p:nvSpPr>
                <p:cNvPr id="8085" name="Google Shape;8085;p118"/>
                <p:cNvSpPr/>
                <p:nvPr/>
              </p:nvSpPr>
              <p:spPr>
                <a:xfrm>
                  <a:off x="612" y="2570"/>
                  <a:ext cx="71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86" name="Google Shape;8086;p118"/>
                <p:cNvSpPr/>
                <p:nvPr/>
              </p:nvSpPr>
              <p:spPr>
                <a:xfrm>
                  <a:off x="625" y="2588"/>
                  <a:ext cx="693"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8087" name="Google Shape;8087;p1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088" name="Google Shape;8088;p118"/>
              <p:cNvGrpSpPr/>
              <p:nvPr/>
            </p:nvGrpSpPr>
            <p:grpSpPr>
              <a:xfrm>
                <a:off x="4739" y="1329"/>
                <a:ext cx="583" cy="136"/>
                <a:chOff x="614" y="2570"/>
                <a:chExt cx="726" cy="136"/>
              </a:xfrm>
            </p:grpSpPr>
            <p:sp>
              <p:nvSpPr>
                <p:cNvPr id="8089" name="Google Shape;8089;p118"/>
                <p:cNvSpPr/>
                <p:nvPr/>
              </p:nvSpPr>
              <p:spPr>
                <a:xfrm>
                  <a:off x="614" y="2570"/>
                  <a:ext cx="726" cy="13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90" name="Google Shape;8090;p118"/>
                <p:cNvSpPr/>
                <p:nvPr/>
              </p:nvSpPr>
              <p:spPr>
                <a:xfrm>
                  <a:off x="627" y="2585"/>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8091" name="Google Shape;8091;p118"/>
              <p:cNvSpPr/>
              <p:nvPr/>
            </p:nvSpPr>
            <p:spPr>
              <a:xfrm>
                <a:off x="5252" y="429"/>
                <a:ext cx="64"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92" name="Google Shape;8092;p1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93" name="Google Shape;8093;p1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94" name="Google Shape;8094;p118"/>
              <p:cNvSpPr/>
              <p:nvPr/>
            </p:nvSpPr>
            <p:spPr>
              <a:xfrm>
                <a:off x="5517" y="2612"/>
                <a:ext cx="48"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95" name="Google Shape;8095;p1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96" name="Google Shape;8096;p118"/>
              <p:cNvSpPr/>
              <p:nvPr/>
            </p:nvSpPr>
            <p:spPr>
              <a:xfrm>
                <a:off x="4140" y="2680"/>
                <a:ext cx="1203"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97" name="Google Shape;8097;p118"/>
              <p:cNvSpPr/>
              <p:nvPr/>
            </p:nvSpPr>
            <p:spPr>
              <a:xfrm>
                <a:off x="4204" y="2709"/>
                <a:ext cx="1075"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98" name="Google Shape;8098;p118"/>
              <p:cNvSpPr/>
              <p:nvPr/>
            </p:nvSpPr>
            <p:spPr>
              <a:xfrm>
                <a:off x="4310" y="2380"/>
                <a:ext cx="159"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099" name="Google Shape;8099;p118"/>
              <p:cNvSpPr/>
              <p:nvPr/>
            </p:nvSpPr>
            <p:spPr>
              <a:xfrm>
                <a:off x="4484" y="2385"/>
                <a:ext cx="164"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8100" name="Google Shape;8100;p118"/>
              <p:cNvSpPr/>
              <p:nvPr/>
            </p:nvSpPr>
            <p:spPr>
              <a:xfrm>
                <a:off x="4664" y="2380"/>
                <a:ext cx="154"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101" name="Google Shape;8101;p118"/>
              <p:cNvSpPr/>
              <p:nvPr/>
            </p:nvSpPr>
            <p:spPr>
              <a:xfrm>
                <a:off x="5062" y="1838"/>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grpSp>
          <p:nvGrpSpPr>
            <p:cNvPr id="8102" name="Google Shape;8102;p118"/>
            <p:cNvGrpSpPr/>
            <p:nvPr/>
          </p:nvGrpSpPr>
          <p:grpSpPr>
            <a:xfrm>
              <a:off x="2942641" y="2038350"/>
              <a:ext cx="1281113" cy="363538"/>
              <a:chOff x="3621" y="3265"/>
              <a:chExt cx="1776" cy="744"/>
            </a:xfrm>
          </p:grpSpPr>
          <p:pic>
            <p:nvPicPr>
              <p:cNvPr descr="reellogo" id="8103" name="Google Shape;8103;p118"/>
              <p:cNvPicPr preferRelativeResize="0"/>
              <p:nvPr/>
            </p:nvPicPr>
            <p:blipFill rotWithShape="1">
              <a:blip r:embed="rId3">
                <a:alphaModFix/>
              </a:blip>
              <a:srcRect b="0" l="0" r="0" t="0"/>
              <a:stretch/>
            </p:blipFill>
            <p:spPr>
              <a:xfrm>
                <a:off x="3621" y="3265"/>
                <a:ext cx="1776" cy="744"/>
              </a:xfrm>
              <a:prstGeom prst="rect">
                <a:avLst/>
              </a:prstGeom>
              <a:noFill/>
              <a:ln>
                <a:noFill/>
              </a:ln>
            </p:spPr>
          </p:pic>
          <p:sp>
            <p:nvSpPr>
              <p:cNvPr id="8104" name="Google Shape;8104;p118"/>
              <p:cNvSpPr/>
              <p:nvPr/>
            </p:nvSpPr>
            <p:spPr>
              <a:xfrm>
                <a:off x="3971" y="3288"/>
                <a:ext cx="1402" cy="439"/>
              </a:xfrm>
              <a:custGeom>
                <a:rect b="b" l="l" r="r" t="t"/>
                <a:pathLst>
                  <a:path extrusionOk="0" h="438" w="1401">
                    <a:moveTo>
                      <a:pt x="0" y="6"/>
                    </a:moveTo>
                    <a:lnTo>
                      <a:pt x="27" y="384"/>
                    </a:lnTo>
                    <a:lnTo>
                      <a:pt x="114" y="381"/>
                    </a:lnTo>
                    <a:lnTo>
                      <a:pt x="132" y="357"/>
                    </a:lnTo>
                    <a:lnTo>
                      <a:pt x="210" y="402"/>
                    </a:lnTo>
                    <a:lnTo>
                      <a:pt x="450" y="384"/>
                    </a:lnTo>
                    <a:lnTo>
                      <a:pt x="486" y="393"/>
                    </a:lnTo>
                    <a:lnTo>
                      <a:pt x="690" y="417"/>
                    </a:lnTo>
                    <a:lnTo>
                      <a:pt x="1074" y="438"/>
                    </a:lnTo>
                    <a:lnTo>
                      <a:pt x="1401" y="420"/>
                    </a:lnTo>
                    <a:lnTo>
                      <a:pt x="1392" y="165"/>
                    </a:lnTo>
                    <a:lnTo>
                      <a:pt x="291" y="0"/>
                    </a:lnTo>
                    <a:lnTo>
                      <a:pt x="0" y="6"/>
                    </a:lnTo>
                    <a:close/>
                  </a:path>
                </a:pathLst>
              </a:cu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05" name="Google Shape;8105;p118"/>
              <p:cNvSpPr/>
              <p:nvPr/>
            </p:nvSpPr>
            <p:spPr>
              <a:xfrm>
                <a:off x="4242" y="3860"/>
                <a:ext cx="999" cy="120"/>
              </a:xfrm>
              <a:custGeom>
                <a:rect b="b" l="l" r="r" t="t"/>
                <a:pathLst>
                  <a:path extrusionOk="0" h="123" w="999">
                    <a:moveTo>
                      <a:pt x="0" y="6"/>
                    </a:moveTo>
                    <a:lnTo>
                      <a:pt x="717" y="12"/>
                    </a:lnTo>
                    <a:lnTo>
                      <a:pt x="744" y="36"/>
                    </a:lnTo>
                    <a:lnTo>
                      <a:pt x="801" y="42"/>
                    </a:lnTo>
                    <a:lnTo>
                      <a:pt x="876" y="6"/>
                    </a:lnTo>
                    <a:lnTo>
                      <a:pt x="933" y="0"/>
                    </a:lnTo>
                    <a:lnTo>
                      <a:pt x="981" y="15"/>
                    </a:lnTo>
                    <a:lnTo>
                      <a:pt x="999" y="51"/>
                    </a:lnTo>
                    <a:lnTo>
                      <a:pt x="987" y="123"/>
                    </a:lnTo>
                    <a:lnTo>
                      <a:pt x="18" y="120"/>
                    </a:lnTo>
                    <a:lnTo>
                      <a:pt x="0" y="6"/>
                    </a:lnTo>
                    <a:close/>
                  </a:path>
                </a:pathLst>
              </a:cu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video1" id="8106" name="Google Shape;8106;p118"/>
              <p:cNvPicPr preferRelativeResize="0"/>
              <p:nvPr/>
            </p:nvPicPr>
            <p:blipFill rotWithShape="1">
              <a:blip r:embed="rId4">
                <a:alphaModFix/>
              </a:blip>
              <a:srcRect b="0" l="0" r="0" t="0"/>
              <a:stretch/>
            </p:blipFill>
            <p:spPr>
              <a:xfrm>
                <a:off x="4083" y="3400"/>
                <a:ext cx="889" cy="460"/>
              </a:xfrm>
              <a:prstGeom prst="rect">
                <a:avLst/>
              </a:prstGeom>
              <a:noFill/>
              <a:ln>
                <a:noFill/>
              </a:ln>
            </p:spPr>
          </p:pic>
        </p:grpSp>
        <p:grpSp>
          <p:nvGrpSpPr>
            <p:cNvPr id="8107" name="Google Shape;8107;p118"/>
            <p:cNvGrpSpPr/>
            <p:nvPr/>
          </p:nvGrpSpPr>
          <p:grpSpPr>
            <a:xfrm>
              <a:off x="7868654" y="2625725"/>
              <a:ext cx="677862" cy="663575"/>
              <a:chOff x="4437" y="1472"/>
              <a:chExt cx="427" cy="418"/>
            </a:xfrm>
          </p:grpSpPr>
          <p:sp>
            <p:nvSpPr>
              <p:cNvPr id="8108" name="Google Shape;8108;p118"/>
              <p:cNvSpPr/>
              <p:nvPr/>
            </p:nvSpPr>
            <p:spPr>
              <a:xfrm>
                <a:off x="4443" y="1475"/>
                <a:ext cx="421" cy="361"/>
              </a:xfrm>
              <a:prstGeom prst="rect">
                <a:avLst/>
              </a:prstGeom>
              <a:gradFill>
                <a:gsLst>
                  <a:gs pos="0">
                    <a:srgbClr val="6B8FB3"/>
                  </a:gs>
                  <a:gs pos="50000">
                    <a:srgbClr val="99CCFF"/>
                  </a:gs>
                  <a:gs pos="100000">
                    <a:srgbClr val="6B8FB3"/>
                  </a:gs>
                </a:gsLst>
                <a:lin ang="5400000" scaled="0"/>
              </a:gra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109" name="Google Shape;8109;p118"/>
              <p:cNvSpPr/>
              <p:nvPr/>
            </p:nvSpPr>
            <p:spPr>
              <a:xfrm>
                <a:off x="4567" y="1837"/>
                <a:ext cx="179" cy="23"/>
              </a:xfrm>
              <a:prstGeom prst="rect">
                <a:avLst/>
              </a:prstGeom>
              <a:solidFill>
                <a:srgbClr val="5F5F5F"/>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110" name="Google Shape;8110;p118"/>
              <p:cNvSpPr/>
              <p:nvPr/>
            </p:nvSpPr>
            <p:spPr>
              <a:xfrm>
                <a:off x="4442" y="1866"/>
                <a:ext cx="414" cy="24"/>
              </a:xfrm>
              <a:prstGeom prst="rect">
                <a:avLst/>
              </a:prstGeom>
              <a:solidFill>
                <a:schemeClr val="dk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111" name="Google Shape;8111;p118"/>
              <p:cNvSpPr/>
              <p:nvPr/>
            </p:nvSpPr>
            <p:spPr>
              <a:xfrm>
                <a:off x="4437" y="1472"/>
                <a:ext cx="423" cy="356"/>
              </a:xfrm>
              <a:prstGeom prst="rect">
                <a:avLst/>
              </a:prstGeom>
              <a:noFill/>
              <a:ln cap="flat"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8112" name="Google Shape;8112;p118"/>
            <p:cNvSpPr/>
            <p:nvPr/>
          </p:nvSpPr>
          <p:spPr>
            <a:xfrm>
              <a:off x="4377741" y="2066925"/>
              <a:ext cx="2320925" cy="1228725"/>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8113" name="Google Shape;8113;p118"/>
            <p:cNvCxnSpPr/>
            <p:nvPr/>
          </p:nvCxnSpPr>
          <p:spPr>
            <a:xfrm>
              <a:off x="4018966" y="2632075"/>
              <a:ext cx="1241425" cy="0"/>
            </a:xfrm>
            <a:prstGeom prst="straightConnector1">
              <a:avLst/>
            </a:prstGeom>
            <a:noFill/>
            <a:ln cap="flat" cmpd="sng" w="31750">
              <a:solidFill>
                <a:srgbClr val="CC0000"/>
              </a:solidFill>
              <a:prstDash val="solid"/>
              <a:round/>
              <a:headEnd len="med" w="med" type="none"/>
              <a:tailEnd len="med" w="med" type="triangle"/>
            </a:ln>
          </p:spPr>
        </p:cxnSp>
        <p:cxnSp>
          <p:nvCxnSpPr>
            <p:cNvPr id="8114" name="Google Shape;8114;p118"/>
            <p:cNvCxnSpPr/>
            <p:nvPr/>
          </p:nvCxnSpPr>
          <p:spPr>
            <a:xfrm>
              <a:off x="6030329" y="2662238"/>
              <a:ext cx="1531937" cy="0"/>
            </a:xfrm>
            <a:prstGeom prst="straightConnector1">
              <a:avLst/>
            </a:prstGeom>
            <a:noFill/>
            <a:ln cap="flat" cmpd="sng" w="31750">
              <a:solidFill>
                <a:srgbClr val="CC0000"/>
              </a:solidFill>
              <a:prstDash val="solid"/>
              <a:round/>
              <a:headEnd len="med" w="med" type="none"/>
              <a:tailEnd len="med" w="med" type="triangle"/>
            </a:ln>
          </p:spPr>
        </p:cxnSp>
        <p:sp>
          <p:nvSpPr>
            <p:cNvPr id="8115" name="Google Shape;8115;p118"/>
            <p:cNvSpPr txBox="1"/>
            <p:nvPr/>
          </p:nvSpPr>
          <p:spPr>
            <a:xfrm>
              <a:off x="7784516" y="3440113"/>
              <a:ext cx="766763"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client</a:t>
              </a:r>
              <a:endParaRPr i="1" sz="1800">
                <a:solidFill>
                  <a:srgbClr val="CC0000"/>
                </a:solidFill>
                <a:latin typeface="Arial"/>
                <a:ea typeface="Arial"/>
                <a:cs typeface="Arial"/>
                <a:sym typeface="Arial"/>
              </a:endParaRPr>
            </a:p>
          </p:txBody>
        </p:sp>
        <p:sp>
          <p:nvSpPr>
            <p:cNvPr id="8116" name="Google Shape;8116;p118"/>
            <p:cNvSpPr txBox="1"/>
            <p:nvPr/>
          </p:nvSpPr>
          <p:spPr>
            <a:xfrm>
              <a:off x="5031791" y="2895600"/>
              <a:ext cx="919163" cy="3381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Internet</a:t>
              </a:r>
              <a:endParaRPr i="1" sz="1800">
                <a:solidFill>
                  <a:srgbClr val="CC0000"/>
                </a:solidFill>
                <a:latin typeface="Arial"/>
                <a:ea typeface="Arial"/>
                <a:cs typeface="Arial"/>
                <a:sym typeface="Arial"/>
              </a:endParaRPr>
            </a:p>
          </p:txBody>
        </p:sp>
      </p:grpSp>
      <p:sp>
        <p:nvSpPr>
          <p:cNvPr id="8117" name="Google Shape;8117;p118"/>
          <p:cNvSpPr txBox="1"/>
          <p:nvPr/>
        </p:nvSpPr>
        <p:spPr>
          <a:xfrm>
            <a:off x="902523" y="1442355"/>
            <a:ext cx="6582550" cy="505301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i="1" lang="en-US" sz="3200">
                <a:solidFill>
                  <a:srgbClr val="000099"/>
                </a:solidFill>
                <a:latin typeface="Gill Sans"/>
                <a:ea typeface="Gill Sans"/>
                <a:cs typeface="Gill Sans"/>
                <a:sym typeface="Gill Sans"/>
              </a:rPr>
              <a:t>“</a:t>
            </a:r>
            <a:r>
              <a:rPr i="1" lang="en-US" sz="3200">
                <a:solidFill>
                  <a:srgbClr val="000099"/>
                </a:solidFill>
                <a:latin typeface="Calibri"/>
                <a:ea typeface="Calibri"/>
                <a:cs typeface="Calibri"/>
                <a:sym typeface="Calibri"/>
              </a:rPr>
              <a:t>intelligence” </a:t>
            </a:r>
            <a:r>
              <a:rPr lang="en-US" sz="3200">
                <a:solidFill>
                  <a:srgbClr val="000099"/>
                </a:solidFill>
                <a:latin typeface="Calibri"/>
                <a:ea typeface="Calibri"/>
                <a:cs typeface="Calibri"/>
                <a:sym typeface="Calibri"/>
              </a:rPr>
              <a:t>at client: </a:t>
            </a:r>
            <a:r>
              <a:rPr lang="en-US" sz="3200">
                <a:solidFill>
                  <a:schemeClr val="dk1"/>
                </a:solidFill>
                <a:latin typeface="Calibri"/>
                <a:ea typeface="Calibri"/>
                <a:cs typeface="Calibri"/>
                <a:sym typeface="Calibri"/>
              </a:rPr>
              <a:t>client determines</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when</a:t>
            </a:r>
            <a:r>
              <a:rPr b="0" i="1" lang="en-US" sz="2800" u="none" cap="none" strike="noStrike">
                <a:solidFill>
                  <a:srgbClr val="8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to request chunk (so that buffer starvation, or overflow does not occur)</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what encoding rate </a:t>
            </a:r>
            <a:r>
              <a:rPr b="0" i="0" lang="en-US" sz="2800" u="none" cap="none" strike="noStrike">
                <a:solidFill>
                  <a:srgbClr val="000000"/>
                </a:solidFill>
                <a:latin typeface="Calibri"/>
                <a:ea typeface="Calibri"/>
                <a:cs typeface="Calibri"/>
                <a:sym typeface="Calibri"/>
              </a:rPr>
              <a:t>to request </a:t>
            </a:r>
            <a:r>
              <a:rPr b="0" i="0" lang="en-US" sz="2800" u="none" cap="none" strike="noStrike">
                <a:solidFill>
                  <a:schemeClr val="dk1"/>
                </a:solidFill>
                <a:latin typeface="Calibri"/>
                <a:ea typeface="Calibri"/>
                <a:cs typeface="Calibri"/>
                <a:sym typeface="Calibri"/>
              </a:rPr>
              <a:t>(higher quality when more bandwidth available) </a:t>
            </a:r>
            <a:endParaRPr b="0" i="0" sz="2800" u="none" cap="none" strike="noStrike">
              <a:solidFill>
                <a:srgbClr val="000000"/>
              </a:solidFill>
              <a:latin typeface="Calibri"/>
              <a:ea typeface="Calibri"/>
              <a:cs typeface="Calibri"/>
              <a:sym typeface="Calibri"/>
            </a:endParaRPr>
          </a:p>
        </p:txBody>
      </p:sp>
      <p:sp>
        <p:nvSpPr>
          <p:cNvPr id="8118" name="Google Shape;8118;p118"/>
          <p:cNvSpPr txBox="1"/>
          <p:nvPr/>
        </p:nvSpPr>
        <p:spPr>
          <a:xfrm>
            <a:off x="917270" y="4418084"/>
            <a:ext cx="10736797" cy="1601010"/>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where</a:t>
            </a:r>
            <a:r>
              <a:rPr b="0" i="1" lang="en-US" sz="2800" u="none" cap="none" strike="noStrike">
                <a:solidFill>
                  <a:srgbClr val="800000"/>
                </a:solidFill>
                <a:latin typeface="Calibri"/>
                <a:ea typeface="Calibri"/>
                <a:cs typeface="Calibri"/>
                <a:sym typeface="Calibri"/>
              </a:rPr>
              <a:t> </a:t>
            </a:r>
            <a:r>
              <a:rPr b="0" i="0" lang="en-US" sz="2800" u="none" cap="none" strike="noStrike">
                <a:solidFill>
                  <a:schemeClr val="dk1"/>
                </a:solidFill>
                <a:latin typeface="Calibri"/>
                <a:ea typeface="Calibri"/>
                <a:cs typeface="Calibri"/>
                <a:sym typeface="Calibri"/>
              </a:rPr>
              <a:t>to request chunk (can request from URL server that is “close” to client or has high available bandwidth</a:t>
            </a:r>
            <a:r>
              <a:rPr b="0" i="0" lang="en-US" sz="2800" u="none" cap="none" strike="noStrike">
                <a:solidFill>
                  <a:schemeClr val="dk1"/>
                </a:solidFill>
                <a:latin typeface="Gill Sans"/>
                <a:ea typeface="Gill Sans"/>
                <a:cs typeface="Gill Sans"/>
                <a:sym typeface="Gill Sans"/>
              </a:rPr>
              <a:t>) </a:t>
            </a:r>
            <a:endParaRPr/>
          </a:p>
        </p:txBody>
      </p:sp>
      <p:sp>
        <p:nvSpPr>
          <p:cNvPr id="8119" name="Google Shape;8119;p118"/>
          <p:cNvSpPr txBox="1"/>
          <p:nvPr/>
        </p:nvSpPr>
        <p:spPr>
          <a:xfrm>
            <a:off x="1455456" y="5652226"/>
            <a:ext cx="9389302"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C00000"/>
                </a:solidFill>
                <a:latin typeface="Calibri"/>
                <a:ea typeface="Calibri"/>
                <a:cs typeface="Calibri"/>
                <a:sym typeface="Calibri"/>
              </a:rPr>
              <a:t>Streaming video = </a:t>
            </a:r>
            <a:r>
              <a:rPr lang="en-US" sz="3200">
                <a:solidFill>
                  <a:schemeClr val="dk1"/>
                </a:solidFill>
                <a:latin typeface="Calibri"/>
                <a:ea typeface="Calibri"/>
                <a:cs typeface="Calibri"/>
                <a:sym typeface="Calibri"/>
              </a:rPr>
              <a:t>encoding +</a:t>
            </a:r>
            <a:r>
              <a:rPr lang="en-US" sz="3200">
                <a:solidFill>
                  <a:srgbClr val="C00000"/>
                </a:solidFill>
                <a:latin typeface="Calibri"/>
                <a:ea typeface="Calibri"/>
                <a:cs typeface="Calibri"/>
                <a:sym typeface="Calibri"/>
              </a:rPr>
              <a:t> </a:t>
            </a:r>
            <a:r>
              <a:rPr lang="en-US" sz="3200">
                <a:solidFill>
                  <a:schemeClr val="dk1"/>
                </a:solidFill>
                <a:latin typeface="Calibri"/>
                <a:ea typeface="Calibri"/>
                <a:cs typeface="Calibri"/>
                <a:sym typeface="Calibri"/>
              </a:rPr>
              <a:t>DASH + playout buffering</a:t>
            </a:r>
            <a:endParaRPr/>
          </a:p>
        </p:txBody>
      </p:sp>
      <p:sp>
        <p:nvSpPr>
          <p:cNvPr id="8120" name="Google Shape;8120;p1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5" name="Shape 8125"/>
        <p:cNvGrpSpPr/>
        <p:nvPr/>
      </p:nvGrpSpPr>
      <p:grpSpPr>
        <a:xfrm>
          <a:off x="0" y="0"/>
          <a:ext cx="0" cy="0"/>
          <a:chOff x="0" y="0"/>
          <a:chExt cx="0" cy="0"/>
        </a:xfrm>
      </p:grpSpPr>
      <p:sp>
        <p:nvSpPr>
          <p:cNvPr id="8126" name="Google Shape;8126;p11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Content distribution </a:t>
            </a:r>
            <a:r>
              <a:rPr lang="en-US"/>
              <a:t>n</a:t>
            </a:r>
            <a:r>
              <a:rPr lang="en-US" sz="4400"/>
              <a:t>etworks (CDNs)</a:t>
            </a:r>
            <a:endParaRPr/>
          </a:p>
        </p:txBody>
      </p:sp>
      <p:sp>
        <p:nvSpPr>
          <p:cNvPr id="8127" name="Google Shape;8127;p119"/>
          <p:cNvSpPr txBox="1"/>
          <p:nvPr/>
        </p:nvSpPr>
        <p:spPr>
          <a:xfrm>
            <a:off x="1013029" y="1454599"/>
            <a:ext cx="10515599" cy="5053013"/>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3200"/>
              <a:buFont typeface="Noto Sans Symbols"/>
              <a:buChar char="▪"/>
            </a:pPr>
            <a:r>
              <a:rPr i="1" lang="en-US" sz="3200">
                <a:solidFill>
                  <a:srgbClr val="CC0000"/>
                </a:solidFill>
                <a:latin typeface="Calibri"/>
                <a:ea typeface="Calibri"/>
                <a:cs typeface="Calibri"/>
                <a:sym typeface="Calibri"/>
              </a:rPr>
              <a:t>challenge: </a:t>
            </a:r>
            <a:r>
              <a:rPr lang="en-US" sz="3200">
                <a:solidFill>
                  <a:srgbClr val="000000"/>
                </a:solidFill>
                <a:latin typeface="Calibri"/>
                <a:ea typeface="Calibri"/>
                <a:cs typeface="Calibri"/>
                <a:sym typeface="Calibri"/>
              </a:rPr>
              <a:t>how to stream content (selected from millions of videos) to hundreds of thousands of </a:t>
            </a:r>
            <a:r>
              <a:rPr i="1" lang="en-US" sz="3200">
                <a:solidFill>
                  <a:srgbClr val="000000"/>
                </a:solidFill>
                <a:latin typeface="Calibri"/>
                <a:ea typeface="Calibri"/>
                <a:cs typeface="Calibri"/>
                <a:sym typeface="Calibri"/>
              </a:rPr>
              <a:t>simultaneous</a:t>
            </a:r>
            <a:r>
              <a:rPr lang="en-US" sz="3200">
                <a:solidFill>
                  <a:srgbClr val="000000"/>
                </a:solidFill>
                <a:latin typeface="Calibri"/>
                <a:ea typeface="Calibri"/>
                <a:cs typeface="Calibri"/>
                <a:sym typeface="Calibri"/>
              </a:rPr>
              <a:t> users?</a:t>
            </a:r>
            <a:endParaRPr/>
          </a:p>
          <a:p>
            <a:pPr indent="-109538" lvl="0" marL="287338" marR="0" rtl="0" algn="l">
              <a:lnSpc>
                <a:spcPct val="90000"/>
              </a:lnSpc>
              <a:spcBef>
                <a:spcPts val="1000"/>
              </a:spcBef>
              <a:spcAft>
                <a:spcPts val="0"/>
              </a:spcAft>
              <a:buClr>
                <a:srgbClr val="0000A3"/>
              </a:buClr>
              <a:buSzPts val="2800"/>
              <a:buFont typeface="Noto Sans Symbols"/>
              <a:buNone/>
            </a:pPr>
            <a:r>
              <a:t/>
            </a:r>
            <a:endParaRPr sz="2800">
              <a:solidFill>
                <a:srgbClr val="000000"/>
              </a:solidFill>
              <a:latin typeface="Calibri"/>
              <a:ea typeface="Calibri"/>
              <a:cs typeface="Calibri"/>
              <a:sym typeface="Calibri"/>
            </a:endParaRPr>
          </a:p>
        </p:txBody>
      </p:sp>
      <p:sp>
        <p:nvSpPr>
          <p:cNvPr id="8128" name="Google Shape;8128;p119"/>
          <p:cNvSpPr txBox="1"/>
          <p:nvPr/>
        </p:nvSpPr>
        <p:spPr>
          <a:xfrm>
            <a:off x="1013029" y="2757624"/>
            <a:ext cx="10515599" cy="5053013"/>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3200"/>
              <a:buFont typeface="Noto Sans Symbols"/>
              <a:buChar char="▪"/>
            </a:pPr>
            <a:r>
              <a:rPr lang="en-US" sz="3200">
                <a:solidFill>
                  <a:srgbClr val="CC0000"/>
                </a:solidFill>
                <a:latin typeface="Calibri"/>
                <a:ea typeface="Calibri"/>
                <a:cs typeface="Calibri"/>
                <a:sym typeface="Calibri"/>
              </a:rPr>
              <a:t>option 1: </a:t>
            </a:r>
            <a:r>
              <a:rPr lang="en-US" sz="3200">
                <a:solidFill>
                  <a:srgbClr val="000000"/>
                </a:solidFill>
                <a:latin typeface="Calibri"/>
                <a:ea typeface="Calibri"/>
                <a:cs typeface="Calibri"/>
                <a:sym typeface="Calibri"/>
              </a:rPr>
              <a:t>single, large “mega-server”</a:t>
            </a:r>
            <a:endParaRPr/>
          </a:p>
          <a:p>
            <a:pPr indent="-223837" lvl="1" marL="681038"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single point of failure</a:t>
            </a:r>
            <a:endParaRPr/>
          </a:p>
          <a:p>
            <a:pPr indent="-223837" lvl="1" marL="681038"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point of network congestion</a:t>
            </a:r>
            <a:endParaRPr/>
          </a:p>
          <a:p>
            <a:pPr indent="-223837" lvl="1" marL="681038"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long path to distant clients</a:t>
            </a:r>
            <a:endParaRPr/>
          </a:p>
          <a:p>
            <a:pPr indent="-223837" lvl="1" marL="681038"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multiple copies of video sent over outgoing link</a:t>
            </a:r>
            <a:endParaRPr/>
          </a:p>
          <a:p>
            <a:pPr indent="-223837" lvl="1" marL="681038" marR="0" rtl="0" algn="l">
              <a:lnSpc>
                <a:spcPct val="90000"/>
              </a:lnSpc>
              <a:spcBef>
                <a:spcPts val="500"/>
              </a:spcBef>
              <a:spcAft>
                <a:spcPts val="0"/>
              </a:spcAft>
              <a:buClr>
                <a:srgbClr val="0000A8"/>
              </a:buClr>
              <a:buSzPts val="2800"/>
              <a:buFont typeface="Arial"/>
              <a:buNone/>
            </a:pPr>
            <a:r>
              <a:t/>
            </a:r>
            <a:endParaRPr b="0" i="0" sz="2800" u="none" cap="none" strike="noStrike">
              <a:solidFill>
                <a:srgbClr val="000000"/>
              </a:solidFill>
              <a:latin typeface="Calibri"/>
              <a:ea typeface="Calibri"/>
              <a:cs typeface="Calibri"/>
              <a:sym typeface="Calibri"/>
            </a:endParaRPr>
          </a:p>
          <a:p>
            <a:pPr indent="-287338" lvl="0" marL="287338" marR="0" rtl="0" algn="l">
              <a:lnSpc>
                <a:spcPct val="90000"/>
              </a:lnSpc>
              <a:spcBef>
                <a:spcPts val="1000"/>
              </a:spcBef>
              <a:spcAft>
                <a:spcPts val="0"/>
              </a:spcAft>
              <a:buClr>
                <a:srgbClr val="0000A3"/>
              </a:buClr>
              <a:buSzPts val="3200"/>
              <a:buFont typeface="Noto Sans Symbols"/>
              <a:buNone/>
            </a:pPr>
            <a:r>
              <a:rPr lang="en-US" sz="3200">
                <a:solidFill>
                  <a:srgbClr val="000000"/>
                </a:solidFill>
                <a:latin typeface="Calibri"/>
                <a:ea typeface="Calibri"/>
                <a:cs typeface="Calibri"/>
                <a:sym typeface="Calibri"/>
              </a:rPr>
              <a:t>….quite simply: this solution </a:t>
            </a:r>
            <a:r>
              <a:rPr i="1" lang="en-US" sz="3200">
                <a:solidFill>
                  <a:srgbClr val="C00000"/>
                </a:solidFill>
                <a:latin typeface="Calibri"/>
                <a:ea typeface="Calibri"/>
                <a:cs typeface="Calibri"/>
                <a:sym typeface="Calibri"/>
              </a:rPr>
              <a:t>doesn’t scale</a:t>
            </a:r>
            <a:endParaRPr/>
          </a:p>
          <a:p>
            <a:pPr indent="-71437" lvl="1" marL="681038"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a:p>
            <a:pPr indent="-109538" lvl="0" marL="287338" marR="0" rtl="0" algn="l">
              <a:lnSpc>
                <a:spcPct val="90000"/>
              </a:lnSpc>
              <a:spcBef>
                <a:spcPts val="1000"/>
              </a:spcBef>
              <a:spcAft>
                <a:spcPts val="0"/>
              </a:spcAft>
              <a:buClr>
                <a:srgbClr val="0000A3"/>
              </a:buClr>
              <a:buSzPts val="2800"/>
              <a:buFont typeface="Noto Sans Symbols"/>
              <a:buNone/>
            </a:pPr>
            <a:r>
              <a:t/>
            </a:r>
            <a:endParaRPr sz="2800">
              <a:solidFill>
                <a:srgbClr val="000000"/>
              </a:solidFill>
              <a:latin typeface="Calibri"/>
              <a:ea typeface="Calibri"/>
              <a:cs typeface="Calibri"/>
              <a:sym typeface="Calibri"/>
            </a:endParaRPr>
          </a:p>
          <a:p>
            <a:pPr indent="-109538" lvl="0" marL="287338" marR="0" rtl="0" algn="l">
              <a:lnSpc>
                <a:spcPct val="90000"/>
              </a:lnSpc>
              <a:spcBef>
                <a:spcPts val="1000"/>
              </a:spcBef>
              <a:spcAft>
                <a:spcPts val="0"/>
              </a:spcAft>
              <a:buClr>
                <a:srgbClr val="0000A3"/>
              </a:buClr>
              <a:buSzPts val="2800"/>
              <a:buFont typeface="Noto Sans Symbols"/>
              <a:buNone/>
            </a:pPr>
            <a:r>
              <a:t/>
            </a:r>
            <a:endParaRPr sz="2800">
              <a:solidFill>
                <a:srgbClr val="000000"/>
              </a:solidFill>
              <a:latin typeface="Calibri"/>
              <a:ea typeface="Calibri"/>
              <a:cs typeface="Calibri"/>
              <a:sym typeface="Calibri"/>
            </a:endParaRPr>
          </a:p>
        </p:txBody>
      </p:sp>
      <p:sp>
        <p:nvSpPr>
          <p:cNvPr id="8129" name="Google Shape;8129;p1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8"/>
                                        </p:tgtEl>
                                        <p:attrNameLst>
                                          <p:attrName>style.visibility</p:attrName>
                                        </p:attrNameLst>
                                      </p:cBhvr>
                                      <p:to>
                                        <p:strVal val="visible"/>
                                      </p:to>
                                    </p:set>
                                    <p:animEffect filter="fade" transition="in">
                                      <p:cBhvr>
                                        <p:cTn dur="500"/>
                                        <p:tgtEl>
                                          <p:spTgt spid="8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4" name="Shape 8134"/>
        <p:cNvGrpSpPr/>
        <p:nvPr/>
      </p:nvGrpSpPr>
      <p:grpSpPr>
        <a:xfrm>
          <a:off x="0" y="0"/>
          <a:ext cx="0" cy="0"/>
          <a:chOff x="0" y="0"/>
          <a:chExt cx="0" cy="0"/>
        </a:xfrm>
      </p:grpSpPr>
      <p:sp>
        <p:nvSpPr>
          <p:cNvPr id="8135" name="Google Shape;8135;p12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Content distribution </a:t>
            </a:r>
            <a:r>
              <a:rPr lang="en-US"/>
              <a:t>n</a:t>
            </a:r>
            <a:r>
              <a:rPr lang="en-US" sz="4400"/>
              <a:t>etworks (CDNs)</a:t>
            </a:r>
            <a:endParaRPr/>
          </a:p>
        </p:txBody>
      </p:sp>
      <p:sp>
        <p:nvSpPr>
          <p:cNvPr id="8136" name="Google Shape;8136;p120"/>
          <p:cNvSpPr txBox="1"/>
          <p:nvPr/>
        </p:nvSpPr>
        <p:spPr>
          <a:xfrm>
            <a:off x="1013029" y="1454599"/>
            <a:ext cx="10515599" cy="5353615"/>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3200"/>
              <a:buFont typeface="Noto Sans Symbols"/>
              <a:buChar char="▪"/>
            </a:pPr>
            <a:r>
              <a:rPr i="1" lang="en-US" sz="3200">
                <a:solidFill>
                  <a:srgbClr val="CC0000"/>
                </a:solidFill>
                <a:latin typeface="Calibri"/>
                <a:ea typeface="Calibri"/>
                <a:cs typeface="Calibri"/>
                <a:sym typeface="Calibri"/>
              </a:rPr>
              <a:t>challenge: </a:t>
            </a:r>
            <a:r>
              <a:rPr lang="en-US" sz="3200">
                <a:solidFill>
                  <a:srgbClr val="000000"/>
                </a:solidFill>
                <a:latin typeface="Calibri"/>
                <a:ea typeface="Calibri"/>
                <a:cs typeface="Calibri"/>
                <a:sym typeface="Calibri"/>
              </a:rPr>
              <a:t>how to stream content (selected from millions of videos) to hundreds of thousands of </a:t>
            </a:r>
            <a:r>
              <a:rPr i="1" lang="en-US" sz="3200">
                <a:solidFill>
                  <a:srgbClr val="000000"/>
                </a:solidFill>
                <a:latin typeface="Calibri"/>
                <a:ea typeface="Calibri"/>
                <a:cs typeface="Calibri"/>
                <a:sym typeface="Calibri"/>
              </a:rPr>
              <a:t>simultaneous</a:t>
            </a:r>
            <a:r>
              <a:rPr lang="en-US" sz="3200">
                <a:solidFill>
                  <a:srgbClr val="000000"/>
                </a:solidFill>
                <a:latin typeface="Calibri"/>
                <a:ea typeface="Calibri"/>
                <a:cs typeface="Calibri"/>
                <a:sym typeface="Calibri"/>
              </a:rPr>
              <a:t> users?</a:t>
            </a:r>
            <a:endParaRPr/>
          </a:p>
          <a:p>
            <a:pPr indent="-109538" lvl="0" marL="287338" marR="0" rtl="0" algn="l">
              <a:lnSpc>
                <a:spcPct val="90000"/>
              </a:lnSpc>
              <a:spcBef>
                <a:spcPts val="1000"/>
              </a:spcBef>
              <a:spcAft>
                <a:spcPts val="0"/>
              </a:spcAft>
              <a:buClr>
                <a:srgbClr val="0000A3"/>
              </a:buClr>
              <a:buSzPts val="2800"/>
              <a:buFont typeface="Noto Sans Symbols"/>
              <a:buNone/>
            </a:pPr>
            <a:r>
              <a:t/>
            </a:r>
            <a:endParaRPr sz="2800">
              <a:solidFill>
                <a:srgbClr val="000000"/>
              </a:solidFill>
              <a:latin typeface="Calibri"/>
              <a:ea typeface="Calibri"/>
              <a:cs typeface="Calibri"/>
              <a:sym typeface="Calibri"/>
            </a:endParaRPr>
          </a:p>
        </p:txBody>
      </p:sp>
      <p:pic>
        <p:nvPicPr>
          <p:cNvPr descr="Limelight Networks" id="8137" name="Google Shape;8137;p120"/>
          <p:cNvPicPr preferRelativeResize="0"/>
          <p:nvPr/>
        </p:nvPicPr>
        <p:blipFill rotWithShape="1">
          <a:blip r:embed="rId3">
            <a:alphaModFix/>
          </a:blip>
          <a:srcRect b="0" l="0" r="0" t="0"/>
          <a:stretch/>
        </p:blipFill>
        <p:spPr>
          <a:xfrm>
            <a:off x="8598310" y="5403401"/>
            <a:ext cx="3162300" cy="698500"/>
          </a:xfrm>
          <a:prstGeom prst="rect">
            <a:avLst/>
          </a:prstGeom>
          <a:noFill/>
          <a:ln>
            <a:noFill/>
          </a:ln>
        </p:spPr>
      </p:pic>
      <p:sp>
        <p:nvSpPr>
          <p:cNvPr id="8138" name="Google Shape;8138;p120"/>
          <p:cNvSpPr txBox="1"/>
          <p:nvPr/>
        </p:nvSpPr>
        <p:spPr>
          <a:xfrm>
            <a:off x="838200" y="3468367"/>
            <a:ext cx="7760110" cy="3109414"/>
          </a:xfrm>
          <a:prstGeom prst="rect">
            <a:avLst/>
          </a:prstGeom>
          <a:noFill/>
          <a:ln>
            <a:noFill/>
          </a:ln>
        </p:spPr>
        <p:txBody>
          <a:bodyPr anchorCtr="0" anchor="t" bIns="45700" lIns="91425" spcFirstLastPara="1" rIns="91425" wrap="square" tIns="45700">
            <a:normAutofit fontScale="92500" lnSpcReduction="10000"/>
          </a:bodyPr>
          <a:lstStyle/>
          <a:p>
            <a:pPr indent="-231775" lvl="1" marL="695325" marR="0" rtl="0" algn="l">
              <a:lnSpc>
                <a:spcPct val="90000"/>
              </a:lnSpc>
              <a:spcBef>
                <a:spcPts val="0"/>
              </a:spcBef>
              <a:spcAft>
                <a:spcPts val="0"/>
              </a:spcAft>
              <a:buClr>
                <a:srgbClr val="0000A8"/>
              </a:buClr>
              <a:buSzPct val="100000"/>
              <a:buFont typeface="Arial"/>
              <a:buChar char="•"/>
            </a:pPr>
            <a:r>
              <a:rPr b="0" i="1" lang="en-US" sz="2800" u="none" cap="none" strike="noStrike">
                <a:solidFill>
                  <a:srgbClr val="000099"/>
                </a:solidFill>
                <a:latin typeface="Calibri"/>
                <a:ea typeface="Calibri"/>
                <a:cs typeface="Calibri"/>
                <a:sym typeface="Calibri"/>
              </a:rPr>
              <a:t>enter deep: </a:t>
            </a:r>
            <a:r>
              <a:rPr b="0" i="0" lang="en-US" sz="2800" u="none" cap="none" strike="noStrike">
                <a:solidFill>
                  <a:srgbClr val="000000"/>
                </a:solidFill>
                <a:latin typeface="Calibri"/>
                <a:ea typeface="Calibri"/>
                <a:cs typeface="Calibri"/>
                <a:sym typeface="Calibri"/>
              </a:rPr>
              <a:t>push CDN servers deep into many access networks </a:t>
            </a:r>
            <a:endParaRPr/>
          </a:p>
          <a:p>
            <a:pPr indent="-228600" lvl="2" marL="1143000" marR="0" rtl="0" algn="l">
              <a:lnSpc>
                <a:spcPct val="83333"/>
              </a:lnSpc>
              <a:spcBef>
                <a:spcPts val="500"/>
              </a:spcBef>
              <a:spcAft>
                <a:spcPts val="0"/>
              </a:spcAft>
              <a:buClr>
                <a:srgbClr val="000000"/>
              </a:buClr>
              <a:buSzPct val="100000"/>
              <a:buFont typeface="Arial"/>
              <a:buChar char="•"/>
            </a:pPr>
            <a:r>
              <a:rPr b="0" i="0" lang="en-US" sz="2400" u="none" cap="none" strike="noStrike">
                <a:solidFill>
                  <a:srgbClr val="000000"/>
                </a:solidFill>
                <a:latin typeface="Calibri"/>
                <a:ea typeface="Calibri"/>
                <a:cs typeface="Calibri"/>
                <a:sym typeface="Calibri"/>
              </a:rPr>
              <a:t>close to users</a:t>
            </a:r>
            <a:endParaRPr/>
          </a:p>
          <a:p>
            <a:pPr indent="-228600" lvl="2" marL="1143000" marR="0" rtl="0" algn="l">
              <a:lnSpc>
                <a:spcPct val="83333"/>
              </a:lnSpc>
              <a:spcBef>
                <a:spcPts val="500"/>
              </a:spcBef>
              <a:spcAft>
                <a:spcPts val="0"/>
              </a:spcAft>
              <a:buClr>
                <a:srgbClr val="000000"/>
              </a:buClr>
              <a:buSzPct val="100000"/>
              <a:buFont typeface="Arial"/>
              <a:buChar char="•"/>
            </a:pPr>
            <a:r>
              <a:rPr b="0" i="0" lang="en-US" sz="2400" u="none" cap="none" strike="noStrike">
                <a:solidFill>
                  <a:srgbClr val="000000"/>
                </a:solidFill>
                <a:latin typeface="Calibri"/>
                <a:ea typeface="Calibri"/>
                <a:cs typeface="Calibri"/>
                <a:sym typeface="Calibri"/>
              </a:rPr>
              <a:t>Akamai: </a:t>
            </a:r>
            <a:r>
              <a:rPr b="0" i="0" lang="en-US" sz="2400" u="none" cap="none" strike="noStrike">
                <a:solidFill>
                  <a:schemeClr val="dk1"/>
                </a:solidFill>
                <a:latin typeface="Calibri"/>
                <a:ea typeface="Calibri"/>
                <a:cs typeface="Calibri"/>
                <a:sym typeface="Calibri"/>
              </a:rPr>
              <a:t>240,000 servers deployed in more than 120 countries (2015)</a:t>
            </a:r>
            <a:endParaRPr b="0" i="0" sz="24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ct val="100000"/>
              <a:buFont typeface="Arial"/>
              <a:buChar char="•"/>
            </a:pPr>
            <a:r>
              <a:rPr b="0" i="1" lang="en-US" sz="2800" u="none" cap="none" strike="noStrike">
                <a:solidFill>
                  <a:srgbClr val="000099"/>
                </a:solidFill>
                <a:latin typeface="Calibri"/>
                <a:ea typeface="Calibri"/>
                <a:cs typeface="Calibri"/>
                <a:sym typeface="Calibri"/>
              </a:rPr>
              <a:t>bring home: </a:t>
            </a:r>
            <a:r>
              <a:rPr b="0" i="0" lang="en-US" sz="2800" u="none" cap="none" strike="noStrike">
                <a:solidFill>
                  <a:srgbClr val="000000"/>
                </a:solidFill>
                <a:latin typeface="Calibri"/>
                <a:ea typeface="Calibri"/>
                <a:cs typeface="Calibri"/>
                <a:sym typeface="Calibri"/>
              </a:rPr>
              <a:t>smaller number (10’s) of larger clusters in POPs near (but not within) access networks</a:t>
            </a:r>
            <a:endParaRPr/>
          </a:p>
          <a:p>
            <a:pPr indent="-228600" lvl="2" marL="1143000" marR="0" rtl="0" algn="l">
              <a:lnSpc>
                <a:spcPct val="90000"/>
              </a:lnSpc>
              <a:spcBef>
                <a:spcPts val="500"/>
              </a:spcBef>
              <a:spcAft>
                <a:spcPts val="0"/>
              </a:spcAft>
              <a:buClr>
                <a:srgbClr val="000000"/>
              </a:buClr>
              <a:buSzPct val="100000"/>
              <a:buFont typeface="Arial"/>
              <a:buChar char="•"/>
            </a:pPr>
            <a:r>
              <a:rPr b="0" i="0" lang="en-US" sz="2400" u="none" cap="none" strike="noStrike">
                <a:solidFill>
                  <a:srgbClr val="000000"/>
                </a:solidFill>
                <a:latin typeface="Calibri"/>
                <a:ea typeface="Calibri"/>
                <a:cs typeface="Calibri"/>
                <a:sym typeface="Calibri"/>
              </a:rPr>
              <a:t>used by Limelight</a:t>
            </a:r>
            <a:endParaRPr b="0" i="1" sz="2400" u="none" cap="none" strike="noStrike">
              <a:solidFill>
                <a:srgbClr val="CC0000"/>
              </a:solidFill>
              <a:latin typeface="Calibri"/>
              <a:ea typeface="Calibri"/>
              <a:cs typeface="Calibri"/>
              <a:sym typeface="Calibri"/>
            </a:endParaRPr>
          </a:p>
          <a:p>
            <a:pPr indent="-59372" lvl="1" marL="681038" marR="0" rtl="0" algn="l">
              <a:lnSpc>
                <a:spcPct val="90000"/>
              </a:lnSpc>
              <a:spcBef>
                <a:spcPts val="500"/>
              </a:spcBef>
              <a:spcAft>
                <a:spcPts val="0"/>
              </a:spcAft>
              <a:buClr>
                <a:srgbClr val="0000A8"/>
              </a:buClr>
              <a:buSzPct val="100000"/>
              <a:buFont typeface="Arial"/>
              <a:buNone/>
            </a:pPr>
            <a:r>
              <a:t/>
            </a:r>
            <a:endParaRPr b="0" i="0" sz="2800" u="none" cap="none" strike="noStrike">
              <a:solidFill>
                <a:srgbClr val="000000"/>
              </a:solidFill>
              <a:latin typeface="Calibri"/>
              <a:ea typeface="Calibri"/>
              <a:cs typeface="Calibri"/>
              <a:sym typeface="Calibri"/>
            </a:endParaRPr>
          </a:p>
          <a:p>
            <a:pPr indent="-122873" lvl="0" marL="287338" marR="0" rtl="0" algn="l">
              <a:lnSpc>
                <a:spcPct val="90000"/>
              </a:lnSpc>
              <a:spcBef>
                <a:spcPts val="1000"/>
              </a:spcBef>
              <a:spcAft>
                <a:spcPts val="0"/>
              </a:spcAft>
              <a:buClr>
                <a:srgbClr val="0000A3"/>
              </a:buClr>
              <a:buSzPct val="100000"/>
              <a:buFont typeface="Noto Sans Symbols"/>
              <a:buNone/>
            </a:pPr>
            <a:r>
              <a:t/>
            </a:r>
            <a:endParaRPr sz="2800">
              <a:solidFill>
                <a:srgbClr val="000000"/>
              </a:solidFill>
              <a:latin typeface="Calibri"/>
              <a:ea typeface="Calibri"/>
              <a:cs typeface="Calibri"/>
              <a:sym typeface="Calibri"/>
            </a:endParaRPr>
          </a:p>
          <a:p>
            <a:pPr indent="-122873" lvl="0" marL="287338" marR="0" rtl="0" algn="l">
              <a:lnSpc>
                <a:spcPct val="90000"/>
              </a:lnSpc>
              <a:spcBef>
                <a:spcPts val="1000"/>
              </a:spcBef>
              <a:spcAft>
                <a:spcPts val="0"/>
              </a:spcAft>
              <a:buClr>
                <a:srgbClr val="0000A3"/>
              </a:buClr>
              <a:buSzPct val="100000"/>
              <a:buFont typeface="Noto Sans Symbols"/>
              <a:buNone/>
            </a:pPr>
            <a:r>
              <a:t/>
            </a:r>
            <a:endParaRPr sz="2800">
              <a:solidFill>
                <a:srgbClr val="000000"/>
              </a:solidFill>
              <a:latin typeface="Calibri"/>
              <a:ea typeface="Calibri"/>
              <a:cs typeface="Calibri"/>
              <a:sym typeface="Calibri"/>
            </a:endParaRPr>
          </a:p>
        </p:txBody>
      </p:sp>
      <p:pic>
        <p:nvPicPr>
          <p:cNvPr descr="Image result for akamai logo" id="8139" name="Google Shape;8139;p120"/>
          <p:cNvPicPr preferRelativeResize="0"/>
          <p:nvPr/>
        </p:nvPicPr>
        <p:blipFill rotWithShape="1">
          <a:blip r:embed="rId4">
            <a:alphaModFix/>
          </a:blip>
          <a:srcRect b="0" l="0" r="0" t="0"/>
          <a:stretch/>
        </p:blipFill>
        <p:spPr>
          <a:xfrm>
            <a:off x="8598310" y="4313963"/>
            <a:ext cx="1886155" cy="766250"/>
          </a:xfrm>
          <a:prstGeom prst="rect">
            <a:avLst/>
          </a:prstGeom>
          <a:noFill/>
          <a:ln>
            <a:noFill/>
          </a:ln>
        </p:spPr>
      </p:pic>
      <p:sp>
        <p:nvSpPr>
          <p:cNvPr id="8140" name="Google Shape;8140;p120"/>
          <p:cNvSpPr txBox="1"/>
          <p:nvPr/>
        </p:nvSpPr>
        <p:spPr>
          <a:xfrm>
            <a:off x="1010678" y="1874874"/>
            <a:ext cx="10515599" cy="2822214"/>
          </a:xfrm>
          <a:prstGeom prst="rect">
            <a:avLst/>
          </a:prstGeom>
          <a:noFill/>
          <a:ln>
            <a:noFill/>
          </a:ln>
        </p:spPr>
        <p:txBody>
          <a:bodyPr anchorCtr="0" anchor="t" bIns="45700" lIns="91425" spcFirstLastPara="1" rIns="91425" wrap="square" tIns="45700">
            <a:normAutofit/>
          </a:bodyPr>
          <a:lstStyle/>
          <a:p>
            <a:pPr indent="-84138" lvl="0" marL="287338" marR="0" rtl="0" algn="l">
              <a:lnSpc>
                <a:spcPct val="90000"/>
              </a:lnSpc>
              <a:spcBef>
                <a:spcPts val="0"/>
              </a:spcBef>
              <a:spcAft>
                <a:spcPts val="0"/>
              </a:spcAft>
              <a:buClr>
                <a:srgbClr val="0000A3"/>
              </a:buClr>
              <a:buSzPts val="3200"/>
              <a:buFont typeface="Noto Sans Symbols"/>
              <a:buNone/>
            </a:pPr>
            <a:r>
              <a:t/>
            </a:r>
            <a:endParaRPr sz="3200">
              <a:solidFill>
                <a:srgbClr val="000000"/>
              </a:solidFill>
              <a:latin typeface="Calibri"/>
              <a:ea typeface="Calibri"/>
              <a:cs typeface="Calibri"/>
              <a:sym typeface="Calibri"/>
            </a:endParaRPr>
          </a:p>
          <a:p>
            <a:pPr indent="-287338" lvl="0" marL="287338" marR="0" rtl="0" algn="l">
              <a:lnSpc>
                <a:spcPct val="90000"/>
              </a:lnSpc>
              <a:spcBef>
                <a:spcPts val="1000"/>
              </a:spcBef>
              <a:spcAft>
                <a:spcPts val="0"/>
              </a:spcAft>
              <a:buClr>
                <a:srgbClr val="0000A3"/>
              </a:buClr>
              <a:buSzPts val="3200"/>
              <a:buFont typeface="Noto Sans Symbols"/>
              <a:buChar char="▪"/>
            </a:pPr>
            <a:r>
              <a:rPr lang="en-US" sz="3200">
                <a:solidFill>
                  <a:srgbClr val="CC0000"/>
                </a:solidFill>
                <a:latin typeface="Calibri"/>
                <a:ea typeface="Calibri"/>
                <a:cs typeface="Calibri"/>
                <a:sym typeface="Calibri"/>
              </a:rPr>
              <a:t>option 2: </a:t>
            </a:r>
            <a:r>
              <a:rPr lang="en-US" sz="3200">
                <a:solidFill>
                  <a:srgbClr val="000000"/>
                </a:solidFill>
                <a:latin typeface="Calibri"/>
                <a:ea typeface="Calibri"/>
                <a:cs typeface="Calibri"/>
                <a:sym typeface="Calibri"/>
              </a:rPr>
              <a:t>store/serve multiple copies of videos at multiple geographically distributed sites </a:t>
            </a:r>
            <a:r>
              <a:rPr i="1" lang="en-US" sz="3200">
                <a:solidFill>
                  <a:srgbClr val="CC0000"/>
                </a:solidFill>
                <a:latin typeface="Calibri"/>
                <a:ea typeface="Calibri"/>
                <a:cs typeface="Calibri"/>
                <a:sym typeface="Calibri"/>
              </a:rPr>
              <a:t>(CDN)</a:t>
            </a:r>
            <a:endParaRPr/>
          </a:p>
          <a:p>
            <a:pPr indent="-109538" lvl="0" marL="287338" marR="0" rtl="0" algn="l">
              <a:lnSpc>
                <a:spcPct val="90000"/>
              </a:lnSpc>
              <a:spcBef>
                <a:spcPts val="1000"/>
              </a:spcBef>
              <a:spcAft>
                <a:spcPts val="0"/>
              </a:spcAft>
              <a:buClr>
                <a:srgbClr val="0000A3"/>
              </a:buClr>
              <a:buSzPts val="2800"/>
              <a:buFont typeface="Noto Sans Symbols"/>
              <a:buNone/>
            </a:pPr>
            <a:r>
              <a:t/>
            </a:r>
            <a:endParaRPr sz="2800">
              <a:solidFill>
                <a:srgbClr val="000000"/>
              </a:solidFill>
              <a:latin typeface="Calibri"/>
              <a:ea typeface="Calibri"/>
              <a:cs typeface="Calibri"/>
              <a:sym typeface="Calibri"/>
            </a:endParaRPr>
          </a:p>
          <a:p>
            <a:pPr indent="-109538" lvl="0" marL="287338" marR="0" rtl="0" algn="l">
              <a:lnSpc>
                <a:spcPct val="90000"/>
              </a:lnSpc>
              <a:spcBef>
                <a:spcPts val="1000"/>
              </a:spcBef>
              <a:spcAft>
                <a:spcPts val="0"/>
              </a:spcAft>
              <a:buClr>
                <a:srgbClr val="0000A3"/>
              </a:buClr>
              <a:buSzPts val="2800"/>
              <a:buFont typeface="Noto Sans Symbols"/>
              <a:buNone/>
            </a:pPr>
            <a:r>
              <a:t/>
            </a:r>
            <a:endParaRPr sz="2800">
              <a:solidFill>
                <a:srgbClr val="000000"/>
              </a:solidFill>
              <a:latin typeface="Calibri"/>
              <a:ea typeface="Calibri"/>
              <a:cs typeface="Calibri"/>
              <a:sym typeface="Calibri"/>
            </a:endParaRPr>
          </a:p>
        </p:txBody>
      </p:sp>
      <p:sp>
        <p:nvSpPr>
          <p:cNvPr id="8141" name="Google Shape;8141;p1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140"/>
                                        </p:tgtEl>
                                        <p:attrNameLst>
                                          <p:attrName>style.visibility</p:attrName>
                                        </p:attrNameLst>
                                      </p:cBhvr>
                                      <p:to>
                                        <p:strVal val="visible"/>
                                      </p:to>
                                    </p:set>
                                    <p:animEffect filter="fade" transition="in">
                                      <p:cBhvr>
                                        <p:cTn dur="500"/>
                                        <p:tgtEl>
                                          <p:spTgt spid="81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138"/>
                                        </p:tgtEl>
                                        <p:attrNameLst>
                                          <p:attrName>style.visibility</p:attrName>
                                        </p:attrNameLst>
                                      </p:cBhvr>
                                      <p:to>
                                        <p:strVal val="visible"/>
                                      </p:to>
                                    </p:set>
                                    <p:animEffect filter="fade" transition="in">
                                      <p:cBhvr>
                                        <p:cTn dur="500"/>
                                        <p:tgtEl>
                                          <p:spTgt spid="813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137"/>
                                        </p:tgtEl>
                                        <p:attrNameLst>
                                          <p:attrName>style.visibility</p:attrName>
                                        </p:attrNameLst>
                                      </p:cBhvr>
                                      <p:to>
                                        <p:strVal val="visible"/>
                                      </p:to>
                                    </p:set>
                                    <p:animEffect filter="fade" transition="in">
                                      <p:cBhvr>
                                        <p:cTn dur="500"/>
                                        <p:tgtEl>
                                          <p:spTgt spid="813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139"/>
                                        </p:tgtEl>
                                        <p:attrNameLst>
                                          <p:attrName>style.visibility</p:attrName>
                                        </p:attrNameLst>
                                      </p:cBhvr>
                                      <p:to>
                                        <p:strVal val="visible"/>
                                      </p:to>
                                    </p:set>
                                    <p:animEffect filter="fade" transition="in">
                                      <p:cBhvr>
                                        <p:cTn dur="500"/>
                                        <p:tgtEl>
                                          <p:spTgt spid="8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6" name="Shape 8146"/>
        <p:cNvGrpSpPr/>
        <p:nvPr/>
      </p:nvGrpSpPr>
      <p:grpSpPr>
        <a:xfrm>
          <a:off x="0" y="0"/>
          <a:ext cx="0" cy="0"/>
          <a:chOff x="0" y="0"/>
          <a:chExt cx="0" cy="0"/>
        </a:xfrm>
      </p:grpSpPr>
      <p:grpSp>
        <p:nvGrpSpPr>
          <p:cNvPr id="8147" name="Google Shape;8147;p121"/>
          <p:cNvGrpSpPr/>
          <p:nvPr/>
        </p:nvGrpSpPr>
        <p:grpSpPr>
          <a:xfrm>
            <a:off x="3201988" y="3854450"/>
            <a:ext cx="347662" cy="681038"/>
            <a:chOff x="7923189" y="2486664"/>
            <a:chExt cx="360377" cy="884585"/>
          </a:xfrm>
        </p:grpSpPr>
        <p:pic>
          <p:nvPicPr>
            <p:cNvPr id="8148" name="Google Shape;8148;p121"/>
            <p:cNvPicPr preferRelativeResize="0"/>
            <p:nvPr/>
          </p:nvPicPr>
          <p:blipFill rotWithShape="1">
            <a:blip r:embed="rId3">
              <a:alphaModFix/>
            </a:blip>
            <a:srcRect b="0" l="0" r="0" t="0"/>
            <a:stretch/>
          </p:blipFill>
          <p:spPr>
            <a:xfrm>
              <a:off x="8043998" y="2486664"/>
              <a:ext cx="239568" cy="536525"/>
            </a:xfrm>
            <a:prstGeom prst="rect">
              <a:avLst/>
            </a:prstGeom>
            <a:noFill/>
            <a:ln>
              <a:noFill/>
            </a:ln>
          </p:spPr>
        </p:pic>
        <p:grpSp>
          <p:nvGrpSpPr>
            <p:cNvPr id="8149" name="Google Shape;8149;p121"/>
            <p:cNvGrpSpPr/>
            <p:nvPr/>
          </p:nvGrpSpPr>
          <p:grpSpPr>
            <a:xfrm>
              <a:off x="7923189" y="2890236"/>
              <a:ext cx="227012" cy="481013"/>
              <a:chOff x="4140" y="429"/>
              <a:chExt cx="1425" cy="2396"/>
            </a:xfrm>
          </p:grpSpPr>
          <p:sp>
            <p:nvSpPr>
              <p:cNvPr id="8150" name="Google Shape;8150;p1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51" name="Google Shape;8151;p121"/>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152" name="Google Shape;8152;p1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53" name="Google Shape;8153;p1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54" name="Google Shape;8154;p121"/>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155" name="Google Shape;8155;p121"/>
              <p:cNvGrpSpPr/>
              <p:nvPr/>
            </p:nvGrpSpPr>
            <p:grpSpPr>
              <a:xfrm>
                <a:off x="4748" y="666"/>
                <a:ext cx="578" cy="150"/>
                <a:chOff x="613" y="2566"/>
                <a:chExt cx="721" cy="144"/>
              </a:xfrm>
            </p:grpSpPr>
            <p:sp>
              <p:nvSpPr>
                <p:cNvPr id="8156" name="Google Shape;8156;p121"/>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157" name="Google Shape;8157;p121"/>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158" name="Google Shape;8158;p121"/>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159" name="Google Shape;8159;p121"/>
              <p:cNvGrpSpPr/>
              <p:nvPr/>
            </p:nvGrpSpPr>
            <p:grpSpPr>
              <a:xfrm>
                <a:off x="4748" y="990"/>
                <a:ext cx="578" cy="134"/>
                <a:chOff x="615" y="2564"/>
                <a:chExt cx="721" cy="139"/>
              </a:xfrm>
            </p:grpSpPr>
            <p:sp>
              <p:nvSpPr>
                <p:cNvPr id="8160" name="Google Shape;8160;p121"/>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161" name="Google Shape;8161;p121"/>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162" name="Google Shape;8162;p121"/>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163" name="Google Shape;8163;p121"/>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164" name="Google Shape;8164;p121"/>
              <p:cNvGrpSpPr/>
              <p:nvPr/>
            </p:nvGrpSpPr>
            <p:grpSpPr>
              <a:xfrm>
                <a:off x="4738" y="1647"/>
                <a:ext cx="578" cy="135"/>
                <a:chOff x="618" y="2586"/>
                <a:chExt cx="720" cy="124"/>
              </a:xfrm>
            </p:grpSpPr>
            <p:sp>
              <p:nvSpPr>
                <p:cNvPr id="8165" name="Google Shape;8165;p121"/>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166" name="Google Shape;8166;p121"/>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167" name="Google Shape;8167;p1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nvGrpSpPr>
              <p:cNvPr id="8168" name="Google Shape;8168;p121"/>
              <p:cNvGrpSpPr/>
              <p:nvPr/>
            </p:nvGrpSpPr>
            <p:grpSpPr>
              <a:xfrm>
                <a:off x="4738" y="1330"/>
                <a:ext cx="588" cy="134"/>
                <a:chOff x="613" y="2571"/>
                <a:chExt cx="732" cy="134"/>
              </a:xfrm>
            </p:grpSpPr>
            <p:sp>
              <p:nvSpPr>
                <p:cNvPr id="8169" name="Google Shape;8169;p121"/>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170" name="Google Shape;8170;p121"/>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171" name="Google Shape;8171;p121"/>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172" name="Google Shape;8172;p1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73" name="Google Shape;8173;p1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74" name="Google Shape;8174;p121"/>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175" name="Google Shape;8175;p1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76" name="Google Shape;8176;p121"/>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177" name="Google Shape;8177;p121"/>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178" name="Google Shape;8178;p121"/>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179" name="Google Shape;8179;p121"/>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8180" name="Google Shape;8180;p121"/>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181" name="Google Shape;8181;p121"/>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grpSp>
      <p:grpSp>
        <p:nvGrpSpPr>
          <p:cNvPr id="8182" name="Google Shape;8182;p121"/>
          <p:cNvGrpSpPr/>
          <p:nvPr/>
        </p:nvGrpSpPr>
        <p:grpSpPr>
          <a:xfrm>
            <a:off x="2595259" y="3758984"/>
            <a:ext cx="7093255" cy="2812587"/>
            <a:chOff x="340191" y="1406493"/>
            <a:chExt cx="8496780" cy="5350000"/>
          </a:xfrm>
        </p:grpSpPr>
        <p:sp>
          <p:nvSpPr>
            <p:cNvPr id="8183" name="Google Shape;8183;p121"/>
            <p:cNvSpPr/>
            <p:nvPr/>
          </p:nvSpPr>
          <p:spPr>
            <a:xfrm>
              <a:off x="1825539" y="2241382"/>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84" name="Google Shape;8184;p121"/>
            <p:cNvSpPr/>
            <p:nvPr/>
          </p:nvSpPr>
          <p:spPr>
            <a:xfrm>
              <a:off x="669683" y="3041420"/>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85" name="Google Shape;8185;p121"/>
            <p:cNvSpPr/>
            <p:nvPr/>
          </p:nvSpPr>
          <p:spPr>
            <a:xfrm>
              <a:off x="6334646" y="2495362"/>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86" name="Google Shape;8186;p121"/>
            <p:cNvSpPr/>
            <p:nvPr/>
          </p:nvSpPr>
          <p:spPr>
            <a:xfrm>
              <a:off x="1241260" y="5352642"/>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87" name="Google Shape;8187;p121"/>
            <p:cNvSpPr/>
            <p:nvPr/>
          </p:nvSpPr>
          <p:spPr>
            <a:xfrm>
              <a:off x="822104" y="4730390"/>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88" name="Google Shape;8188;p121"/>
            <p:cNvSpPr/>
            <p:nvPr/>
          </p:nvSpPr>
          <p:spPr>
            <a:xfrm>
              <a:off x="593473" y="4070041"/>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89" name="Google Shape;8189;p121"/>
            <p:cNvSpPr/>
            <p:nvPr/>
          </p:nvSpPr>
          <p:spPr>
            <a:xfrm>
              <a:off x="7084047" y="2927129"/>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90" name="Google Shape;8190;p121"/>
            <p:cNvSpPr/>
            <p:nvPr/>
          </p:nvSpPr>
          <p:spPr>
            <a:xfrm>
              <a:off x="3425955" y="2000100"/>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91" name="Google Shape;8191;p121"/>
            <p:cNvSpPr/>
            <p:nvPr/>
          </p:nvSpPr>
          <p:spPr>
            <a:xfrm>
              <a:off x="1050735" y="2647751"/>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92" name="Google Shape;8192;p121"/>
            <p:cNvSpPr/>
            <p:nvPr/>
          </p:nvSpPr>
          <p:spPr>
            <a:xfrm>
              <a:off x="4340478" y="1974702"/>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93" name="Google Shape;8193;p121"/>
            <p:cNvSpPr/>
            <p:nvPr/>
          </p:nvSpPr>
          <p:spPr>
            <a:xfrm>
              <a:off x="7401590" y="5606623"/>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94" name="Google Shape;8194;p121"/>
            <p:cNvSpPr/>
            <p:nvPr/>
          </p:nvSpPr>
          <p:spPr>
            <a:xfrm>
              <a:off x="8239903" y="4958973"/>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95" name="Google Shape;8195;p121"/>
            <p:cNvSpPr/>
            <p:nvPr/>
          </p:nvSpPr>
          <p:spPr>
            <a:xfrm>
              <a:off x="8011272" y="4044643"/>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96" name="Google Shape;8196;p121"/>
            <p:cNvSpPr/>
            <p:nvPr/>
          </p:nvSpPr>
          <p:spPr>
            <a:xfrm>
              <a:off x="5166089" y="5847904"/>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97" name="Google Shape;8197;p121"/>
            <p:cNvSpPr/>
            <p:nvPr/>
          </p:nvSpPr>
          <p:spPr>
            <a:xfrm>
              <a:off x="4251566" y="5987593"/>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98" name="Google Shape;8198;p121"/>
            <p:cNvSpPr/>
            <p:nvPr/>
          </p:nvSpPr>
          <p:spPr>
            <a:xfrm>
              <a:off x="3032202" y="5835205"/>
              <a:ext cx="597068" cy="41822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199" name="Google Shape;8199;p121"/>
            <p:cNvSpPr txBox="1"/>
            <p:nvPr/>
          </p:nvSpPr>
          <p:spPr>
            <a:xfrm rot="307360">
              <a:off x="5241475" y="1433583"/>
              <a:ext cx="651327" cy="995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8200" name="Google Shape;8200;p121"/>
            <p:cNvSpPr txBox="1"/>
            <p:nvPr/>
          </p:nvSpPr>
          <p:spPr>
            <a:xfrm rot="2829263">
              <a:off x="7390643" y="3033433"/>
              <a:ext cx="1034280" cy="6267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8201" name="Google Shape;8201;p121"/>
            <p:cNvSpPr txBox="1"/>
            <p:nvPr/>
          </p:nvSpPr>
          <p:spPr>
            <a:xfrm rot="9845918">
              <a:off x="6341242" y="5649524"/>
              <a:ext cx="651327" cy="995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8202" name="Google Shape;8202;p121"/>
            <p:cNvSpPr txBox="1"/>
            <p:nvPr/>
          </p:nvSpPr>
          <p:spPr>
            <a:xfrm rot="-9948738">
              <a:off x="2063761" y="5696601"/>
              <a:ext cx="651327" cy="995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8203" name="Google Shape;8203;p121"/>
            <p:cNvSpPr txBox="1"/>
            <p:nvPr/>
          </p:nvSpPr>
          <p:spPr>
            <a:xfrm rot="-4992697">
              <a:off x="195355" y="3660810"/>
              <a:ext cx="1034280" cy="6267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8204" name="Google Shape;8204;p121"/>
            <p:cNvSpPr txBox="1"/>
            <p:nvPr/>
          </p:nvSpPr>
          <p:spPr>
            <a:xfrm rot="-520651">
              <a:off x="2482309" y="1498435"/>
              <a:ext cx="651327" cy="995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grpSp>
          <p:nvGrpSpPr>
            <p:cNvPr id="8205" name="Google Shape;8205;p121"/>
            <p:cNvGrpSpPr/>
            <p:nvPr/>
          </p:nvGrpSpPr>
          <p:grpSpPr>
            <a:xfrm>
              <a:off x="4546600" y="3746500"/>
              <a:ext cx="3225800" cy="1117600"/>
              <a:chOff x="7848600" y="2044700"/>
              <a:chExt cx="3200399" cy="1371600"/>
            </a:xfrm>
          </p:grpSpPr>
          <p:sp>
            <p:nvSpPr>
              <p:cNvPr id="8206" name="Google Shape;8206;p121"/>
              <p:cNvSpPr/>
              <p:nvPr/>
            </p:nvSpPr>
            <p:spPr>
              <a:xfrm>
                <a:off x="7848600" y="2044700"/>
                <a:ext cx="3200399" cy="1371600"/>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207" name="Google Shape;8207;p121"/>
              <p:cNvGrpSpPr/>
              <p:nvPr/>
            </p:nvGrpSpPr>
            <p:grpSpPr>
              <a:xfrm>
                <a:off x="8526482" y="2160804"/>
                <a:ext cx="532759" cy="184809"/>
                <a:chOff x="2356" y="1300"/>
                <a:chExt cx="555" cy="194"/>
              </a:xfrm>
            </p:grpSpPr>
            <p:sp>
              <p:nvSpPr>
                <p:cNvPr id="8208" name="Google Shape;8208;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09" name="Google Shape;8209;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10" name="Google Shape;8210;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211" name="Google Shape;8211;p121"/>
                <p:cNvGrpSpPr/>
                <p:nvPr/>
              </p:nvGrpSpPr>
              <p:grpSpPr>
                <a:xfrm>
                  <a:off x="2468" y="1332"/>
                  <a:ext cx="310" cy="60"/>
                  <a:chOff x="2468" y="1332"/>
                  <a:chExt cx="310" cy="60"/>
                </a:xfrm>
              </p:grpSpPr>
              <p:sp>
                <p:nvSpPr>
                  <p:cNvPr id="8212" name="Google Shape;8212;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213" name="Google Shape;8213;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214" name="Google Shape;8214;p121"/>
                <p:cNvCxnSpPr/>
                <p:nvPr/>
              </p:nvCxnSpPr>
              <p:spPr>
                <a:xfrm>
                  <a:off x="2357" y="1362"/>
                  <a:ext cx="0" cy="82"/>
                </a:xfrm>
                <a:prstGeom prst="straightConnector1">
                  <a:avLst/>
                </a:prstGeom>
                <a:noFill/>
                <a:ln cap="flat" cmpd="sng" w="9525">
                  <a:solidFill>
                    <a:schemeClr val="dk1"/>
                  </a:solidFill>
                  <a:prstDash val="solid"/>
                  <a:round/>
                  <a:headEnd len="med" w="med" type="none"/>
                  <a:tailEnd len="med" w="med" type="none"/>
                </a:ln>
              </p:spPr>
            </p:cxnSp>
            <p:cxnSp>
              <p:nvCxnSpPr>
                <p:cNvPr id="8215" name="Google Shape;8215;p121"/>
                <p:cNvCxnSpPr/>
                <p:nvPr/>
              </p:nvCxnSpPr>
              <p:spPr>
                <a:xfrm>
                  <a:off x="2908" y="1364"/>
                  <a:ext cx="0" cy="82"/>
                </a:xfrm>
                <a:prstGeom prst="straightConnector1">
                  <a:avLst/>
                </a:prstGeom>
                <a:noFill/>
                <a:ln cap="flat" cmpd="sng" w="9525">
                  <a:solidFill>
                    <a:schemeClr val="dk1"/>
                  </a:solidFill>
                  <a:prstDash val="solid"/>
                  <a:round/>
                  <a:headEnd len="med" w="med" type="none"/>
                  <a:tailEnd len="med" w="med" type="none"/>
                </a:ln>
              </p:spPr>
            </p:cxnSp>
          </p:grpSp>
          <p:cxnSp>
            <p:nvCxnSpPr>
              <p:cNvPr id="8216" name="Google Shape;8216;p121"/>
              <p:cNvCxnSpPr>
                <a:stCxn id="8215" idx="0"/>
              </p:cNvCxnSpPr>
              <p:nvPr/>
            </p:nvCxnSpPr>
            <p:spPr>
              <a:xfrm>
                <a:off x="9055401" y="2220819"/>
                <a:ext cx="975300" cy="136500"/>
              </a:xfrm>
              <a:prstGeom prst="straightConnector1">
                <a:avLst/>
              </a:prstGeom>
              <a:noFill/>
              <a:ln cap="flat" cmpd="sng" w="9525">
                <a:solidFill>
                  <a:schemeClr val="dk1"/>
                </a:solidFill>
                <a:prstDash val="solid"/>
                <a:round/>
                <a:headEnd len="med" w="med" type="none"/>
                <a:tailEnd len="med" w="med" type="none"/>
              </a:ln>
            </p:spPr>
          </p:cxnSp>
          <p:cxnSp>
            <p:nvCxnSpPr>
              <p:cNvPr id="8217" name="Google Shape;8217;p121"/>
              <p:cNvCxnSpPr/>
              <p:nvPr/>
            </p:nvCxnSpPr>
            <p:spPr>
              <a:xfrm>
                <a:off x="9522191" y="2583188"/>
                <a:ext cx="120745" cy="83392"/>
              </a:xfrm>
              <a:prstGeom prst="straightConnector1">
                <a:avLst/>
              </a:prstGeom>
              <a:noFill/>
              <a:ln cap="flat" cmpd="sng" w="9525">
                <a:solidFill>
                  <a:schemeClr val="dk1"/>
                </a:solidFill>
                <a:prstDash val="solid"/>
                <a:round/>
                <a:headEnd len="med" w="med" type="none"/>
                <a:tailEnd len="med" w="med" type="none"/>
              </a:ln>
            </p:spPr>
          </p:cxnSp>
          <p:cxnSp>
            <p:nvCxnSpPr>
              <p:cNvPr id="8218" name="Google Shape;8218;p121"/>
              <p:cNvCxnSpPr/>
              <p:nvPr/>
            </p:nvCxnSpPr>
            <p:spPr>
              <a:xfrm flipH="1" rot="10800000">
                <a:off x="9323081" y="2786992"/>
                <a:ext cx="243358" cy="45624"/>
              </a:xfrm>
              <a:prstGeom prst="straightConnector1">
                <a:avLst/>
              </a:prstGeom>
              <a:noFill/>
              <a:ln cap="flat" cmpd="sng" w="9525">
                <a:solidFill>
                  <a:schemeClr val="dk1"/>
                </a:solidFill>
                <a:prstDash val="solid"/>
                <a:round/>
                <a:headEnd len="med" w="med" type="none"/>
                <a:tailEnd len="med" w="med" type="none"/>
              </a:ln>
            </p:spPr>
          </p:cxnSp>
          <p:cxnSp>
            <p:nvCxnSpPr>
              <p:cNvPr id="8219" name="Google Shape;8219;p121"/>
              <p:cNvCxnSpPr/>
              <p:nvPr/>
            </p:nvCxnSpPr>
            <p:spPr>
              <a:xfrm flipH="1" rot="10800000">
                <a:off x="9028147" y="2611644"/>
                <a:ext cx="192778" cy="109584"/>
              </a:xfrm>
              <a:prstGeom prst="straightConnector1">
                <a:avLst/>
              </a:prstGeom>
              <a:noFill/>
              <a:ln cap="flat" cmpd="sng" w="9525">
                <a:solidFill>
                  <a:schemeClr val="dk1"/>
                </a:solidFill>
                <a:prstDash val="solid"/>
                <a:round/>
                <a:headEnd len="med" w="med" type="none"/>
                <a:tailEnd len="med" w="med" type="none"/>
              </a:ln>
            </p:spPr>
          </p:cxnSp>
          <p:cxnSp>
            <p:nvCxnSpPr>
              <p:cNvPr id="8220" name="Google Shape;8220;p121"/>
              <p:cNvCxnSpPr/>
              <p:nvPr/>
            </p:nvCxnSpPr>
            <p:spPr>
              <a:xfrm flipH="1" rot="10800000">
                <a:off x="8729859" y="2909476"/>
                <a:ext cx="192778" cy="109584"/>
              </a:xfrm>
              <a:prstGeom prst="straightConnector1">
                <a:avLst/>
              </a:prstGeom>
              <a:noFill/>
              <a:ln cap="flat" cmpd="sng" w="9525">
                <a:solidFill>
                  <a:schemeClr val="dk1"/>
                </a:solidFill>
                <a:prstDash val="solid"/>
                <a:round/>
                <a:headEnd len="med" w="med" type="none"/>
                <a:tailEnd len="med" w="med" type="none"/>
              </a:ln>
            </p:spPr>
          </p:cxnSp>
          <p:cxnSp>
            <p:nvCxnSpPr>
              <p:cNvPr id="8221" name="Google Shape;8221;p121"/>
              <p:cNvCxnSpPr/>
              <p:nvPr/>
            </p:nvCxnSpPr>
            <p:spPr>
              <a:xfrm flipH="1" rot="10800000">
                <a:off x="9537887" y="2836224"/>
                <a:ext cx="252969" cy="252942"/>
              </a:xfrm>
              <a:prstGeom prst="straightConnector1">
                <a:avLst/>
              </a:prstGeom>
              <a:noFill/>
              <a:ln cap="flat" cmpd="sng" w="9525">
                <a:solidFill>
                  <a:schemeClr val="dk1"/>
                </a:solidFill>
                <a:prstDash val="solid"/>
                <a:round/>
                <a:headEnd len="med" w="med" type="none"/>
                <a:tailEnd len="med" w="med" type="none"/>
              </a:ln>
            </p:spPr>
          </p:cxnSp>
          <p:cxnSp>
            <p:nvCxnSpPr>
              <p:cNvPr id="8222" name="Google Shape;8222;p121"/>
              <p:cNvCxnSpPr/>
              <p:nvPr/>
            </p:nvCxnSpPr>
            <p:spPr>
              <a:xfrm rot="10800000">
                <a:off x="10029359" y="2822067"/>
                <a:ext cx="354959" cy="124390"/>
              </a:xfrm>
              <a:prstGeom prst="straightConnector1">
                <a:avLst/>
              </a:prstGeom>
              <a:noFill/>
              <a:ln cap="flat" cmpd="sng" w="9525">
                <a:solidFill>
                  <a:schemeClr val="dk1"/>
                </a:solidFill>
                <a:prstDash val="solid"/>
                <a:round/>
                <a:headEnd len="med" w="med" type="none"/>
                <a:tailEnd len="med" w="med" type="none"/>
              </a:ln>
            </p:spPr>
          </p:cxnSp>
          <p:cxnSp>
            <p:nvCxnSpPr>
              <p:cNvPr id="8223" name="Google Shape;8223;p121"/>
              <p:cNvCxnSpPr/>
              <p:nvPr/>
            </p:nvCxnSpPr>
            <p:spPr>
              <a:xfrm flipH="1" rot="10800000">
                <a:off x="10015190" y="2475242"/>
                <a:ext cx="283363" cy="195664"/>
              </a:xfrm>
              <a:prstGeom prst="straightConnector1">
                <a:avLst/>
              </a:prstGeom>
              <a:noFill/>
              <a:ln cap="flat" cmpd="sng" w="9525">
                <a:solidFill>
                  <a:schemeClr val="dk1"/>
                </a:solidFill>
                <a:prstDash val="solid"/>
                <a:round/>
                <a:headEnd len="med" w="med" type="none"/>
                <a:tailEnd len="med" w="med" type="none"/>
              </a:ln>
            </p:spPr>
          </p:cxnSp>
          <p:cxnSp>
            <p:nvCxnSpPr>
              <p:cNvPr id="8224" name="Google Shape;8224;p121"/>
              <p:cNvCxnSpPr>
                <a:endCxn id="8208" idx="4"/>
              </p:cNvCxnSpPr>
              <p:nvPr/>
            </p:nvCxnSpPr>
            <p:spPr>
              <a:xfrm rot="10800000">
                <a:off x="8791902" y="2345613"/>
                <a:ext cx="411000" cy="87300"/>
              </a:xfrm>
              <a:prstGeom prst="straightConnector1">
                <a:avLst/>
              </a:prstGeom>
              <a:noFill/>
              <a:ln cap="flat" cmpd="sng" w="9525">
                <a:solidFill>
                  <a:schemeClr val="dk1"/>
                </a:solidFill>
                <a:prstDash val="solid"/>
                <a:round/>
                <a:headEnd len="med" w="med" type="none"/>
                <a:tailEnd len="med" w="med" type="none"/>
              </a:ln>
            </p:spPr>
          </p:cxnSp>
          <p:grpSp>
            <p:nvGrpSpPr>
              <p:cNvPr id="8225" name="Google Shape;8225;p121"/>
              <p:cNvGrpSpPr/>
              <p:nvPr/>
            </p:nvGrpSpPr>
            <p:grpSpPr>
              <a:xfrm>
                <a:off x="9555206" y="2650627"/>
                <a:ext cx="532759" cy="184809"/>
                <a:chOff x="2356" y="1300"/>
                <a:chExt cx="555" cy="194"/>
              </a:xfrm>
            </p:grpSpPr>
            <p:sp>
              <p:nvSpPr>
                <p:cNvPr id="8226" name="Google Shape;8226;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27" name="Google Shape;8227;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28" name="Google Shape;8228;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229" name="Google Shape;8229;p121"/>
                <p:cNvGrpSpPr/>
                <p:nvPr/>
              </p:nvGrpSpPr>
              <p:grpSpPr>
                <a:xfrm>
                  <a:off x="2468" y="1332"/>
                  <a:ext cx="310" cy="60"/>
                  <a:chOff x="2468" y="1332"/>
                  <a:chExt cx="310" cy="60"/>
                </a:xfrm>
              </p:grpSpPr>
              <p:sp>
                <p:nvSpPr>
                  <p:cNvPr id="8230" name="Google Shape;8230;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231" name="Google Shape;8231;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232" name="Google Shape;8232;p121"/>
                <p:cNvCxnSpPr/>
                <p:nvPr/>
              </p:nvCxnSpPr>
              <p:spPr>
                <a:xfrm>
                  <a:off x="2358"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233" name="Google Shape;8233;p121"/>
                <p:cNvCxnSpPr/>
                <p:nvPr/>
              </p:nvCxnSpPr>
              <p:spPr>
                <a:xfrm>
                  <a:off x="2908"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234" name="Google Shape;8234;p121"/>
              <p:cNvGrpSpPr/>
              <p:nvPr/>
            </p:nvGrpSpPr>
            <p:grpSpPr>
              <a:xfrm>
                <a:off x="8772607" y="2725609"/>
                <a:ext cx="532759" cy="184809"/>
                <a:chOff x="2356" y="1300"/>
                <a:chExt cx="555" cy="194"/>
              </a:xfrm>
            </p:grpSpPr>
            <p:sp>
              <p:nvSpPr>
                <p:cNvPr id="8235" name="Google Shape;8235;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36" name="Google Shape;8236;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37" name="Google Shape;8237;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238" name="Google Shape;8238;p121"/>
                <p:cNvGrpSpPr/>
                <p:nvPr/>
              </p:nvGrpSpPr>
              <p:grpSpPr>
                <a:xfrm>
                  <a:off x="2468" y="1332"/>
                  <a:ext cx="310" cy="60"/>
                  <a:chOff x="2468" y="1332"/>
                  <a:chExt cx="310" cy="60"/>
                </a:xfrm>
              </p:grpSpPr>
              <p:sp>
                <p:nvSpPr>
                  <p:cNvPr id="8239" name="Google Shape;8239;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240" name="Google Shape;8240;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241" name="Google Shape;8241;p121"/>
                <p:cNvCxnSpPr/>
                <p:nvPr/>
              </p:nvCxnSpPr>
              <p:spPr>
                <a:xfrm>
                  <a:off x="2358" y="1356"/>
                  <a:ext cx="0" cy="88"/>
                </a:xfrm>
                <a:prstGeom prst="straightConnector1">
                  <a:avLst/>
                </a:prstGeom>
                <a:noFill/>
                <a:ln cap="flat" cmpd="sng" w="9525">
                  <a:solidFill>
                    <a:schemeClr val="dk1"/>
                  </a:solidFill>
                  <a:prstDash val="solid"/>
                  <a:round/>
                  <a:headEnd len="med" w="med" type="none"/>
                  <a:tailEnd len="med" w="med" type="none"/>
                </a:ln>
              </p:spPr>
            </p:cxnSp>
            <p:cxnSp>
              <p:nvCxnSpPr>
                <p:cNvPr id="8242" name="Google Shape;8242;p121"/>
                <p:cNvCxnSpPr/>
                <p:nvPr/>
              </p:nvCxnSpPr>
              <p:spPr>
                <a:xfrm>
                  <a:off x="2908" y="1358"/>
                  <a:ext cx="0" cy="86"/>
                </a:xfrm>
                <a:prstGeom prst="straightConnector1">
                  <a:avLst/>
                </a:prstGeom>
                <a:noFill/>
                <a:ln cap="flat" cmpd="sng" w="9525">
                  <a:solidFill>
                    <a:schemeClr val="dk1"/>
                  </a:solidFill>
                  <a:prstDash val="solid"/>
                  <a:round/>
                  <a:headEnd len="med" w="med" type="none"/>
                  <a:tailEnd len="med" w="med" type="none"/>
                </a:ln>
              </p:spPr>
            </p:cxnSp>
          </p:grpSp>
          <p:grpSp>
            <p:nvGrpSpPr>
              <p:cNvPr id="8243" name="Google Shape;8243;p121"/>
              <p:cNvGrpSpPr/>
              <p:nvPr/>
            </p:nvGrpSpPr>
            <p:grpSpPr>
              <a:xfrm>
                <a:off x="9060908" y="2428111"/>
                <a:ext cx="532759" cy="184809"/>
                <a:chOff x="2356" y="1300"/>
                <a:chExt cx="555" cy="194"/>
              </a:xfrm>
            </p:grpSpPr>
            <p:sp>
              <p:nvSpPr>
                <p:cNvPr id="8244" name="Google Shape;8244;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45" name="Google Shape;8245;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46" name="Google Shape;8246;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247" name="Google Shape;8247;p121"/>
                <p:cNvGrpSpPr/>
                <p:nvPr/>
              </p:nvGrpSpPr>
              <p:grpSpPr>
                <a:xfrm>
                  <a:off x="2468" y="1332"/>
                  <a:ext cx="310" cy="60"/>
                  <a:chOff x="2468" y="1332"/>
                  <a:chExt cx="310" cy="60"/>
                </a:xfrm>
              </p:grpSpPr>
              <p:sp>
                <p:nvSpPr>
                  <p:cNvPr id="8248" name="Google Shape;8248;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249" name="Google Shape;8249;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250" name="Google Shape;8250;p121"/>
                <p:cNvCxnSpPr/>
                <p:nvPr/>
              </p:nvCxnSpPr>
              <p:spPr>
                <a:xfrm>
                  <a:off x="2358" y="1362"/>
                  <a:ext cx="0" cy="84"/>
                </a:xfrm>
                <a:prstGeom prst="straightConnector1">
                  <a:avLst/>
                </a:prstGeom>
                <a:noFill/>
                <a:ln cap="flat" cmpd="sng" w="9525">
                  <a:solidFill>
                    <a:schemeClr val="dk1"/>
                  </a:solidFill>
                  <a:prstDash val="solid"/>
                  <a:round/>
                  <a:headEnd len="med" w="med" type="none"/>
                  <a:tailEnd len="med" w="med" type="none"/>
                </a:ln>
              </p:spPr>
            </p:cxnSp>
            <p:cxnSp>
              <p:nvCxnSpPr>
                <p:cNvPr id="8251" name="Google Shape;8251;p121"/>
                <p:cNvCxnSpPr/>
                <p:nvPr/>
              </p:nvCxnSpPr>
              <p:spPr>
                <a:xfrm>
                  <a:off x="2908" y="1364"/>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252" name="Google Shape;8252;p121"/>
              <p:cNvGrpSpPr/>
              <p:nvPr/>
            </p:nvGrpSpPr>
            <p:grpSpPr>
              <a:xfrm>
                <a:off x="10005281" y="2289952"/>
                <a:ext cx="532759" cy="184809"/>
                <a:chOff x="2356" y="1300"/>
                <a:chExt cx="555" cy="194"/>
              </a:xfrm>
            </p:grpSpPr>
            <p:sp>
              <p:nvSpPr>
                <p:cNvPr id="8253" name="Google Shape;8253;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54" name="Google Shape;8254;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55" name="Google Shape;8255;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256" name="Google Shape;8256;p121"/>
                <p:cNvGrpSpPr/>
                <p:nvPr/>
              </p:nvGrpSpPr>
              <p:grpSpPr>
                <a:xfrm>
                  <a:off x="2468" y="1332"/>
                  <a:ext cx="310" cy="60"/>
                  <a:chOff x="2468" y="1332"/>
                  <a:chExt cx="310" cy="60"/>
                </a:xfrm>
              </p:grpSpPr>
              <p:sp>
                <p:nvSpPr>
                  <p:cNvPr id="8257" name="Google Shape;8257;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258" name="Google Shape;8258;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259" name="Google Shape;8259;p121"/>
                <p:cNvCxnSpPr/>
                <p:nvPr/>
              </p:nvCxnSpPr>
              <p:spPr>
                <a:xfrm>
                  <a:off x="2357" y="1362"/>
                  <a:ext cx="0" cy="84"/>
                </a:xfrm>
                <a:prstGeom prst="straightConnector1">
                  <a:avLst/>
                </a:prstGeom>
                <a:noFill/>
                <a:ln cap="flat" cmpd="sng" w="9525">
                  <a:solidFill>
                    <a:schemeClr val="dk1"/>
                  </a:solidFill>
                  <a:prstDash val="solid"/>
                  <a:round/>
                  <a:headEnd len="med" w="med" type="none"/>
                  <a:tailEnd len="med" w="med" type="none"/>
                </a:ln>
              </p:spPr>
            </p:cxnSp>
            <p:cxnSp>
              <p:nvCxnSpPr>
                <p:cNvPr id="8260" name="Google Shape;8260;p121"/>
                <p:cNvCxnSpPr/>
                <p:nvPr/>
              </p:nvCxnSpPr>
              <p:spPr>
                <a:xfrm>
                  <a:off x="2908" y="1364"/>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261" name="Google Shape;8261;p121"/>
              <p:cNvGrpSpPr/>
              <p:nvPr/>
            </p:nvGrpSpPr>
            <p:grpSpPr>
              <a:xfrm>
                <a:off x="10232661" y="2882876"/>
                <a:ext cx="532759" cy="184809"/>
                <a:chOff x="2356" y="1300"/>
                <a:chExt cx="555" cy="194"/>
              </a:xfrm>
            </p:grpSpPr>
            <p:sp>
              <p:nvSpPr>
                <p:cNvPr id="8262" name="Google Shape;8262;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63" name="Google Shape;8263;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64" name="Google Shape;8264;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265" name="Google Shape;8265;p121"/>
                <p:cNvGrpSpPr/>
                <p:nvPr/>
              </p:nvGrpSpPr>
              <p:grpSpPr>
                <a:xfrm>
                  <a:off x="2468" y="1332"/>
                  <a:ext cx="310" cy="60"/>
                  <a:chOff x="2468" y="1332"/>
                  <a:chExt cx="310" cy="60"/>
                </a:xfrm>
              </p:grpSpPr>
              <p:sp>
                <p:nvSpPr>
                  <p:cNvPr id="8266" name="Google Shape;8266;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267" name="Google Shape;8267;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268" name="Google Shape;8268;p121"/>
                <p:cNvCxnSpPr/>
                <p:nvPr/>
              </p:nvCxnSpPr>
              <p:spPr>
                <a:xfrm>
                  <a:off x="2358"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269" name="Google Shape;8269;p121"/>
                <p:cNvCxnSpPr/>
                <p:nvPr/>
              </p:nvCxnSpPr>
              <p:spPr>
                <a:xfrm>
                  <a:off x="2908"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270" name="Google Shape;8270;p121"/>
              <p:cNvGrpSpPr/>
              <p:nvPr/>
            </p:nvGrpSpPr>
            <p:grpSpPr>
              <a:xfrm>
                <a:off x="9330660" y="3072767"/>
                <a:ext cx="532759" cy="184809"/>
                <a:chOff x="2356" y="1300"/>
                <a:chExt cx="555" cy="194"/>
              </a:xfrm>
            </p:grpSpPr>
            <p:sp>
              <p:nvSpPr>
                <p:cNvPr id="8271" name="Google Shape;8271;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72" name="Google Shape;8272;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73" name="Google Shape;8273;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274" name="Google Shape;8274;p121"/>
                <p:cNvGrpSpPr/>
                <p:nvPr/>
              </p:nvGrpSpPr>
              <p:grpSpPr>
                <a:xfrm>
                  <a:off x="2468" y="1332"/>
                  <a:ext cx="310" cy="60"/>
                  <a:chOff x="2468" y="1332"/>
                  <a:chExt cx="310" cy="60"/>
                </a:xfrm>
              </p:grpSpPr>
              <p:sp>
                <p:nvSpPr>
                  <p:cNvPr id="8275" name="Google Shape;8275;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276" name="Google Shape;8276;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277" name="Google Shape;8277;p121"/>
                <p:cNvCxnSpPr/>
                <p:nvPr/>
              </p:nvCxnSpPr>
              <p:spPr>
                <a:xfrm>
                  <a:off x="2358" y="1362"/>
                  <a:ext cx="0" cy="84"/>
                </a:xfrm>
                <a:prstGeom prst="straightConnector1">
                  <a:avLst/>
                </a:prstGeom>
                <a:noFill/>
                <a:ln cap="flat" cmpd="sng" w="9525">
                  <a:solidFill>
                    <a:schemeClr val="dk1"/>
                  </a:solidFill>
                  <a:prstDash val="solid"/>
                  <a:round/>
                  <a:headEnd len="med" w="med" type="none"/>
                  <a:tailEnd len="med" w="med" type="none"/>
                </a:ln>
              </p:spPr>
            </p:cxnSp>
            <p:cxnSp>
              <p:nvCxnSpPr>
                <p:cNvPr id="8278" name="Google Shape;8278;p121"/>
                <p:cNvCxnSpPr/>
                <p:nvPr/>
              </p:nvCxnSpPr>
              <p:spPr>
                <a:xfrm>
                  <a:off x="2907" y="1364"/>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279" name="Google Shape;8279;p121"/>
              <p:cNvGrpSpPr/>
              <p:nvPr/>
            </p:nvGrpSpPr>
            <p:grpSpPr>
              <a:xfrm>
                <a:off x="8438032" y="3018963"/>
                <a:ext cx="532759" cy="184809"/>
                <a:chOff x="2356" y="1300"/>
                <a:chExt cx="555" cy="194"/>
              </a:xfrm>
            </p:grpSpPr>
            <p:sp>
              <p:nvSpPr>
                <p:cNvPr id="8280" name="Google Shape;8280;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81" name="Google Shape;8281;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82" name="Google Shape;8282;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283" name="Google Shape;8283;p121"/>
                <p:cNvGrpSpPr/>
                <p:nvPr/>
              </p:nvGrpSpPr>
              <p:grpSpPr>
                <a:xfrm>
                  <a:off x="2468" y="1332"/>
                  <a:ext cx="310" cy="60"/>
                  <a:chOff x="2468" y="1332"/>
                  <a:chExt cx="310" cy="60"/>
                </a:xfrm>
              </p:grpSpPr>
              <p:sp>
                <p:nvSpPr>
                  <p:cNvPr id="8284" name="Google Shape;8284;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285" name="Google Shape;8285;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286" name="Google Shape;8286;p121"/>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287" name="Google Shape;8287;p121"/>
                <p:cNvCxnSpPr/>
                <p:nvPr/>
              </p:nvCxnSpPr>
              <p:spPr>
                <a:xfrm>
                  <a:off x="2910" y="1363"/>
                  <a:ext cx="0" cy="84"/>
                </a:xfrm>
                <a:prstGeom prst="straightConnector1">
                  <a:avLst/>
                </a:prstGeom>
                <a:noFill/>
                <a:ln cap="flat" cmpd="sng" w="9525">
                  <a:solidFill>
                    <a:schemeClr val="dk1"/>
                  </a:solidFill>
                  <a:prstDash val="solid"/>
                  <a:round/>
                  <a:headEnd len="med" w="med" type="none"/>
                  <a:tailEnd len="med" w="med" type="none"/>
                </a:ln>
              </p:spPr>
            </p:cxnSp>
          </p:grpSp>
        </p:grpSp>
        <p:grpSp>
          <p:nvGrpSpPr>
            <p:cNvPr id="8288" name="Google Shape;8288;p121"/>
            <p:cNvGrpSpPr/>
            <p:nvPr/>
          </p:nvGrpSpPr>
          <p:grpSpPr>
            <a:xfrm>
              <a:off x="1803400" y="2755900"/>
              <a:ext cx="3467100" cy="1193800"/>
              <a:chOff x="7848600" y="2044700"/>
              <a:chExt cx="3200399" cy="1371600"/>
            </a:xfrm>
          </p:grpSpPr>
          <p:sp>
            <p:nvSpPr>
              <p:cNvPr id="8289" name="Google Shape;8289;p121"/>
              <p:cNvSpPr/>
              <p:nvPr/>
            </p:nvSpPr>
            <p:spPr>
              <a:xfrm>
                <a:off x="7848600" y="2044700"/>
                <a:ext cx="3200399" cy="1371600"/>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290" name="Google Shape;8290;p121"/>
              <p:cNvGrpSpPr/>
              <p:nvPr/>
            </p:nvGrpSpPr>
            <p:grpSpPr>
              <a:xfrm>
                <a:off x="8526482" y="2160804"/>
                <a:ext cx="532759" cy="184809"/>
                <a:chOff x="2356" y="1300"/>
                <a:chExt cx="555" cy="194"/>
              </a:xfrm>
            </p:grpSpPr>
            <p:sp>
              <p:nvSpPr>
                <p:cNvPr id="8291" name="Google Shape;8291;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92" name="Google Shape;8292;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293" name="Google Shape;8293;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294" name="Google Shape;8294;p121"/>
                <p:cNvGrpSpPr/>
                <p:nvPr/>
              </p:nvGrpSpPr>
              <p:grpSpPr>
                <a:xfrm>
                  <a:off x="2468" y="1332"/>
                  <a:ext cx="310" cy="60"/>
                  <a:chOff x="2468" y="1332"/>
                  <a:chExt cx="310" cy="60"/>
                </a:xfrm>
              </p:grpSpPr>
              <p:sp>
                <p:nvSpPr>
                  <p:cNvPr id="8295" name="Google Shape;8295;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296" name="Google Shape;8296;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297" name="Google Shape;8297;p121"/>
                <p:cNvCxnSpPr/>
                <p:nvPr/>
              </p:nvCxnSpPr>
              <p:spPr>
                <a:xfrm>
                  <a:off x="2358" y="1362"/>
                  <a:ext cx="0" cy="82"/>
                </a:xfrm>
                <a:prstGeom prst="straightConnector1">
                  <a:avLst/>
                </a:prstGeom>
                <a:noFill/>
                <a:ln cap="flat" cmpd="sng" w="9525">
                  <a:solidFill>
                    <a:schemeClr val="dk1"/>
                  </a:solidFill>
                  <a:prstDash val="solid"/>
                  <a:round/>
                  <a:headEnd len="med" w="med" type="none"/>
                  <a:tailEnd len="med" w="med" type="none"/>
                </a:ln>
              </p:spPr>
            </p:cxnSp>
            <p:cxnSp>
              <p:nvCxnSpPr>
                <p:cNvPr id="8298" name="Google Shape;8298;p121"/>
                <p:cNvCxnSpPr/>
                <p:nvPr/>
              </p:nvCxnSpPr>
              <p:spPr>
                <a:xfrm>
                  <a:off x="2906" y="1364"/>
                  <a:ext cx="0" cy="84"/>
                </a:xfrm>
                <a:prstGeom prst="straightConnector1">
                  <a:avLst/>
                </a:prstGeom>
                <a:noFill/>
                <a:ln cap="flat" cmpd="sng" w="9525">
                  <a:solidFill>
                    <a:schemeClr val="dk1"/>
                  </a:solidFill>
                  <a:prstDash val="solid"/>
                  <a:round/>
                  <a:headEnd len="med" w="med" type="none"/>
                  <a:tailEnd len="med" w="med" type="none"/>
                </a:ln>
              </p:spPr>
            </p:cxnSp>
          </p:grpSp>
          <p:cxnSp>
            <p:nvCxnSpPr>
              <p:cNvPr id="8299" name="Google Shape;8299;p121"/>
              <p:cNvCxnSpPr>
                <a:stCxn id="8298" idx="0"/>
              </p:cNvCxnSpPr>
              <p:nvPr/>
            </p:nvCxnSpPr>
            <p:spPr>
              <a:xfrm>
                <a:off x="9055401" y="2220819"/>
                <a:ext cx="975300" cy="136500"/>
              </a:xfrm>
              <a:prstGeom prst="straightConnector1">
                <a:avLst/>
              </a:prstGeom>
              <a:noFill/>
              <a:ln cap="flat" cmpd="sng" w="9525">
                <a:solidFill>
                  <a:schemeClr val="dk1"/>
                </a:solidFill>
                <a:prstDash val="solid"/>
                <a:round/>
                <a:headEnd len="med" w="med" type="none"/>
                <a:tailEnd len="med" w="med" type="none"/>
              </a:ln>
            </p:spPr>
          </p:cxnSp>
          <p:cxnSp>
            <p:nvCxnSpPr>
              <p:cNvPr id="8300" name="Google Shape;8300;p121"/>
              <p:cNvCxnSpPr/>
              <p:nvPr/>
            </p:nvCxnSpPr>
            <p:spPr>
              <a:xfrm>
                <a:off x="9522191" y="2583188"/>
                <a:ext cx="120745" cy="83392"/>
              </a:xfrm>
              <a:prstGeom prst="straightConnector1">
                <a:avLst/>
              </a:prstGeom>
              <a:noFill/>
              <a:ln cap="flat" cmpd="sng" w="9525">
                <a:solidFill>
                  <a:schemeClr val="dk1"/>
                </a:solidFill>
                <a:prstDash val="solid"/>
                <a:round/>
                <a:headEnd len="med" w="med" type="none"/>
                <a:tailEnd len="med" w="med" type="none"/>
              </a:ln>
            </p:spPr>
          </p:cxnSp>
          <p:cxnSp>
            <p:nvCxnSpPr>
              <p:cNvPr id="8301" name="Google Shape;8301;p121"/>
              <p:cNvCxnSpPr/>
              <p:nvPr/>
            </p:nvCxnSpPr>
            <p:spPr>
              <a:xfrm flipH="1" rot="10800000">
                <a:off x="9323081" y="2786992"/>
                <a:ext cx="243358" cy="45624"/>
              </a:xfrm>
              <a:prstGeom prst="straightConnector1">
                <a:avLst/>
              </a:prstGeom>
              <a:noFill/>
              <a:ln cap="flat" cmpd="sng" w="9525">
                <a:solidFill>
                  <a:schemeClr val="dk1"/>
                </a:solidFill>
                <a:prstDash val="solid"/>
                <a:round/>
                <a:headEnd len="med" w="med" type="none"/>
                <a:tailEnd len="med" w="med" type="none"/>
              </a:ln>
            </p:spPr>
          </p:cxnSp>
          <p:cxnSp>
            <p:nvCxnSpPr>
              <p:cNvPr id="8302" name="Google Shape;8302;p121"/>
              <p:cNvCxnSpPr/>
              <p:nvPr/>
            </p:nvCxnSpPr>
            <p:spPr>
              <a:xfrm flipH="1" rot="10800000">
                <a:off x="9028147" y="2611644"/>
                <a:ext cx="192778" cy="109584"/>
              </a:xfrm>
              <a:prstGeom prst="straightConnector1">
                <a:avLst/>
              </a:prstGeom>
              <a:noFill/>
              <a:ln cap="flat" cmpd="sng" w="9525">
                <a:solidFill>
                  <a:schemeClr val="dk1"/>
                </a:solidFill>
                <a:prstDash val="solid"/>
                <a:round/>
                <a:headEnd len="med" w="med" type="none"/>
                <a:tailEnd len="med" w="med" type="none"/>
              </a:ln>
            </p:spPr>
          </p:cxnSp>
          <p:cxnSp>
            <p:nvCxnSpPr>
              <p:cNvPr id="8303" name="Google Shape;8303;p121"/>
              <p:cNvCxnSpPr/>
              <p:nvPr/>
            </p:nvCxnSpPr>
            <p:spPr>
              <a:xfrm flipH="1" rot="10800000">
                <a:off x="8729859" y="2909476"/>
                <a:ext cx="192778" cy="109584"/>
              </a:xfrm>
              <a:prstGeom prst="straightConnector1">
                <a:avLst/>
              </a:prstGeom>
              <a:noFill/>
              <a:ln cap="flat" cmpd="sng" w="9525">
                <a:solidFill>
                  <a:schemeClr val="dk1"/>
                </a:solidFill>
                <a:prstDash val="solid"/>
                <a:round/>
                <a:headEnd len="med" w="med" type="none"/>
                <a:tailEnd len="med" w="med" type="none"/>
              </a:ln>
            </p:spPr>
          </p:cxnSp>
          <p:cxnSp>
            <p:nvCxnSpPr>
              <p:cNvPr id="8304" name="Google Shape;8304;p121"/>
              <p:cNvCxnSpPr/>
              <p:nvPr/>
            </p:nvCxnSpPr>
            <p:spPr>
              <a:xfrm flipH="1" rot="10800000">
                <a:off x="9537887" y="2836224"/>
                <a:ext cx="252969" cy="252942"/>
              </a:xfrm>
              <a:prstGeom prst="straightConnector1">
                <a:avLst/>
              </a:prstGeom>
              <a:noFill/>
              <a:ln cap="flat" cmpd="sng" w="9525">
                <a:solidFill>
                  <a:schemeClr val="dk1"/>
                </a:solidFill>
                <a:prstDash val="solid"/>
                <a:round/>
                <a:headEnd len="med" w="med" type="none"/>
                <a:tailEnd len="med" w="med" type="none"/>
              </a:ln>
            </p:spPr>
          </p:cxnSp>
          <p:cxnSp>
            <p:nvCxnSpPr>
              <p:cNvPr id="8305" name="Google Shape;8305;p121"/>
              <p:cNvCxnSpPr/>
              <p:nvPr/>
            </p:nvCxnSpPr>
            <p:spPr>
              <a:xfrm rot="10800000">
                <a:off x="10029359" y="2822067"/>
                <a:ext cx="354959" cy="124390"/>
              </a:xfrm>
              <a:prstGeom prst="straightConnector1">
                <a:avLst/>
              </a:prstGeom>
              <a:noFill/>
              <a:ln cap="flat" cmpd="sng" w="9525">
                <a:solidFill>
                  <a:schemeClr val="dk1"/>
                </a:solidFill>
                <a:prstDash val="solid"/>
                <a:round/>
                <a:headEnd len="med" w="med" type="none"/>
                <a:tailEnd len="med" w="med" type="none"/>
              </a:ln>
            </p:spPr>
          </p:cxnSp>
          <p:cxnSp>
            <p:nvCxnSpPr>
              <p:cNvPr id="8306" name="Google Shape;8306;p121"/>
              <p:cNvCxnSpPr/>
              <p:nvPr/>
            </p:nvCxnSpPr>
            <p:spPr>
              <a:xfrm flipH="1" rot="10800000">
                <a:off x="10015190" y="2475242"/>
                <a:ext cx="283363" cy="195664"/>
              </a:xfrm>
              <a:prstGeom prst="straightConnector1">
                <a:avLst/>
              </a:prstGeom>
              <a:noFill/>
              <a:ln cap="flat" cmpd="sng" w="9525">
                <a:solidFill>
                  <a:schemeClr val="dk1"/>
                </a:solidFill>
                <a:prstDash val="solid"/>
                <a:round/>
                <a:headEnd len="med" w="med" type="none"/>
                <a:tailEnd len="med" w="med" type="none"/>
              </a:ln>
            </p:spPr>
          </p:cxnSp>
          <p:cxnSp>
            <p:nvCxnSpPr>
              <p:cNvPr id="8307" name="Google Shape;8307;p121"/>
              <p:cNvCxnSpPr>
                <a:endCxn id="8291" idx="4"/>
              </p:cNvCxnSpPr>
              <p:nvPr/>
            </p:nvCxnSpPr>
            <p:spPr>
              <a:xfrm rot="10800000">
                <a:off x="8791902" y="2345613"/>
                <a:ext cx="411000" cy="87300"/>
              </a:xfrm>
              <a:prstGeom prst="straightConnector1">
                <a:avLst/>
              </a:prstGeom>
              <a:noFill/>
              <a:ln cap="flat" cmpd="sng" w="9525">
                <a:solidFill>
                  <a:schemeClr val="dk1"/>
                </a:solidFill>
                <a:prstDash val="solid"/>
                <a:round/>
                <a:headEnd len="med" w="med" type="none"/>
                <a:tailEnd len="med" w="med" type="none"/>
              </a:ln>
            </p:spPr>
          </p:cxnSp>
          <p:grpSp>
            <p:nvGrpSpPr>
              <p:cNvPr id="8308" name="Google Shape;8308;p121"/>
              <p:cNvGrpSpPr/>
              <p:nvPr/>
            </p:nvGrpSpPr>
            <p:grpSpPr>
              <a:xfrm>
                <a:off x="9555206" y="2650627"/>
                <a:ext cx="532759" cy="184809"/>
                <a:chOff x="2356" y="1300"/>
                <a:chExt cx="555" cy="194"/>
              </a:xfrm>
            </p:grpSpPr>
            <p:sp>
              <p:nvSpPr>
                <p:cNvPr id="8309" name="Google Shape;8309;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10" name="Google Shape;8310;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11" name="Google Shape;8311;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312" name="Google Shape;8312;p121"/>
                <p:cNvGrpSpPr/>
                <p:nvPr/>
              </p:nvGrpSpPr>
              <p:grpSpPr>
                <a:xfrm>
                  <a:off x="2468" y="1332"/>
                  <a:ext cx="310" cy="60"/>
                  <a:chOff x="2468" y="1332"/>
                  <a:chExt cx="310" cy="60"/>
                </a:xfrm>
              </p:grpSpPr>
              <p:sp>
                <p:nvSpPr>
                  <p:cNvPr id="8313" name="Google Shape;8313;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314" name="Google Shape;8314;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315" name="Google Shape;8315;p121"/>
                <p:cNvCxnSpPr/>
                <p:nvPr/>
              </p:nvCxnSpPr>
              <p:spPr>
                <a:xfrm>
                  <a:off x="2358"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316" name="Google Shape;8316;p121"/>
                <p:cNvCxnSpPr/>
                <p:nvPr/>
              </p:nvCxnSpPr>
              <p:spPr>
                <a:xfrm>
                  <a:off x="2906"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317" name="Google Shape;8317;p121"/>
              <p:cNvGrpSpPr/>
              <p:nvPr/>
            </p:nvGrpSpPr>
            <p:grpSpPr>
              <a:xfrm>
                <a:off x="8772607" y="2725609"/>
                <a:ext cx="532759" cy="184809"/>
                <a:chOff x="2356" y="1300"/>
                <a:chExt cx="555" cy="194"/>
              </a:xfrm>
            </p:grpSpPr>
            <p:sp>
              <p:nvSpPr>
                <p:cNvPr id="8318" name="Google Shape;8318;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19" name="Google Shape;8319;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20" name="Google Shape;8320;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321" name="Google Shape;8321;p121"/>
                <p:cNvGrpSpPr/>
                <p:nvPr/>
              </p:nvGrpSpPr>
              <p:grpSpPr>
                <a:xfrm>
                  <a:off x="2468" y="1332"/>
                  <a:ext cx="310" cy="60"/>
                  <a:chOff x="2468" y="1332"/>
                  <a:chExt cx="310" cy="60"/>
                </a:xfrm>
              </p:grpSpPr>
              <p:sp>
                <p:nvSpPr>
                  <p:cNvPr id="8322" name="Google Shape;8322;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323" name="Google Shape;8323;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324" name="Google Shape;8324;p121"/>
                <p:cNvCxnSpPr/>
                <p:nvPr/>
              </p:nvCxnSpPr>
              <p:spPr>
                <a:xfrm>
                  <a:off x="2358"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325" name="Google Shape;8325;p121"/>
                <p:cNvCxnSpPr/>
                <p:nvPr/>
              </p:nvCxnSpPr>
              <p:spPr>
                <a:xfrm>
                  <a:off x="2906"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326" name="Google Shape;8326;p121"/>
              <p:cNvGrpSpPr/>
              <p:nvPr/>
            </p:nvGrpSpPr>
            <p:grpSpPr>
              <a:xfrm>
                <a:off x="9060908" y="2428111"/>
                <a:ext cx="532759" cy="184809"/>
                <a:chOff x="2356" y="1300"/>
                <a:chExt cx="555" cy="194"/>
              </a:xfrm>
            </p:grpSpPr>
            <p:sp>
              <p:nvSpPr>
                <p:cNvPr id="8327" name="Google Shape;8327;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28" name="Google Shape;8328;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29" name="Google Shape;8329;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330" name="Google Shape;8330;p121"/>
                <p:cNvGrpSpPr/>
                <p:nvPr/>
              </p:nvGrpSpPr>
              <p:grpSpPr>
                <a:xfrm>
                  <a:off x="2468" y="1332"/>
                  <a:ext cx="310" cy="60"/>
                  <a:chOff x="2468" y="1332"/>
                  <a:chExt cx="310" cy="60"/>
                </a:xfrm>
              </p:grpSpPr>
              <p:sp>
                <p:nvSpPr>
                  <p:cNvPr id="8331" name="Google Shape;8331;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332" name="Google Shape;8332;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333" name="Google Shape;8333;p121"/>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334" name="Google Shape;8334;p121"/>
                <p:cNvCxnSpPr/>
                <p:nvPr/>
              </p:nvCxnSpPr>
              <p:spPr>
                <a:xfrm>
                  <a:off x="2907"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335" name="Google Shape;8335;p121"/>
              <p:cNvGrpSpPr/>
              <p:nvPr/>
            </p:nvGrpSpPr>
            <p:grpSpPr>
              <a:xfrm>
                <a:off x="10005281" y="2289952"/>
                <a:ext cx="532759" cy="184809"/>
                <a:chOff x="2356" y="1300"/>
                <a:chExt cx="555" cy="194"/>
              </a:xfrm>
            </p:grpSpPr>
            <p:sp>
              <p:nvSpPr>
                <p:cNvPr id="8336" name="Google Shape;8336;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37" name="Google Shape;8337;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38" name="Google Shape;8338;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339" name="Google Shape;8339;p121"/>
                <p:cNvGrpSpPr/>
                <p:nvPr/>
              </p:nvGrpSpPr>
              <p:grpSpPr>
                <a:xfrm>
                  <a:off x="2468" y="1332"/>
                  <a:ext cx="310" cy="60"/>
                  <a:chOff x="2468" y="1332"/>
                  <a:chExt cx="310" cy="60"/>
                </a:xfrm>
              </p:grpSpPr>
              <p:sp>
                <p:nvSpPr>
                  <p:cNvPr id="8340" name="Google Shape;8340;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341" name="Google Shape;8341;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342" name="Google Shape;8342;p121"/>
                <p:cNvCxnSpPr/>
                <p:nvPr/>
              </p:nvCxnSpPr>
              <p:spPr>
                <a:xfrm>
                  <a:off x="2358" y="1360"/>
                  <a:ext cx="0" cy="84"/>
                </a:xfrm>
                <a:prstGeom prst="straightConnector1">
                  <a:avLst/>
                </a:prstGeom>
                <a:noFill/>
                <a:ln cap="flat" cmpd="sng" w="9525">
                  <a:solidFill>
                    <a:schemeClr val="dk1"/>
                  </a:solidFill>
                  <a:prstDash val="solid"/>
                  <a:round/>
                  <a:headEnd len="med" w="med" type="none"/>
                  <a:tailEnd len="med" w="med" type="none"/>
                </a:ln>
              </p:spPr>
            </p:cxnSp>
            <p:cxnSp>
              <p:nvCxnSpPr>
                <p:cNvPr id="8343" name="Google Shape;8343;p121"/>
                <p:cNvCxnSpPr/>
                <p:nvPr/>
              </p:nvCxnSpPr>
              <p:spPr>
                <a:xfrm>
                  <a:off x="2906" y="1362"/>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344" name="Google Shape;8344;p121"/>
              <p:cNvGrpSpPr/>
              <p:nvPr/>
            </p:nvGrpSpPr>
            <p:grpSpPr>
              <a:xfrm>
                <a:off x="10232661" y="2882876"/>
                <a:ext cx="532759" cy="184809"/>
                <a:chOff x="2356" y="1300"/>
                <a:chExt cx="555" cy="194"/>
              </a:xfrm>
            </p:grpSpPr>
            <p:sp>
              <p:nvSpPr>
                <p:cNvPr id="8345" name="Google Shape;8345;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46" name="Google Shape;8346;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47" name="Google Shape;8347;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348" name="Google Shape;8348;p121"/>
                <p:cNvGrpSpPr/>
                <p:nvPr/>
              </p:nvGrpSpPr>
              <p:grpSpPr>
                <a:xfrm>
                  <a:off x="2468" y="1332"/>
                  <a:ext cx="310" cy="60"/>
                  <a:chOff x="2468" y="1332"/>
                  <a:chExt cx="310" cy="60"/>
                </a:xfrm>
              </p:grpSpPr>
              <p:sp>
                <p:nvSpPr>
                  <p:cNvPr id="8349" name="Google Shape;8349;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350" name="Google Shape;8350;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351" name="Google Shape;8351;p121"/>
                <p:cNvCxnSpPr/>
                <p:nvPr/>
              </p:nvCxnSpPr>
              <p:spPr>
                <a:xfrm>
                  <a:off x="2358" y="1362"/>
                  <a:ext cx="0" cy="82"/>
                </a:xfrm>
                <a:prstGeom prst="straightConnector1">
                  <a:avLst/>
                </a:prstGeom>
                <a:noFill/>
                <a:ln cap="flat" cmpd="sng" w="9525">
                  <a:solidFill>
                    <a:schemeClr val="dk1"/>
                  </a:solidFill>
                  <a:prstDash val="solid"/>
                  <a:round/>
                  <a:headEnd len="med" w="med" type="none"/>
                  <a:tailEnd len="med" w="med" type="none"/>
                </a:ln>
              </p:spPr>
            </p:cxnSp>
            <p:cxnSp>
              <p:nvCxnSpPr>
                <p:cNvPr id="8352" name="Google Shape;8352;p121"/>
                <p:cNvCxnSpPr/>
                <p:nvPr/>
              </p:nvCxnSpPr>
              <p:spPr>
                <a:xfrm>
                  <a:off x="2906" y="1364"/>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353" name="Google Shape;8353;p121"/>
              <p:cNvGrpSpPr/>
              <p:nvPr/>
            </p:nvGrpSpPr>
            <p:grpSpPr>
              <a:xfrm>
                <a:off x="9330660" y="3072767"/>
                <a:ext cx="532759" cy="184809"/>
                <a:chOff x="2356" y="1300"/>
                <a:chExt cx="555" cy="194"/>
              </a:xfrm>
            </p:grpSpPr>
            <p:sp>
              <p:nvSpPr>
                <p:cNvPr id="8354" name="Google Shape;8354;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55" name="Google Shape;8355;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56" name="Google Shape;8356;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357" name="Google Shape;8357;p121"/>
                <p:cNvGrpSpPr/>
                <p:nvPr/>
              </p:nvGrpSpPr>
              <p:grpSpPr>
                <a:xfrm>
                  <a:off x="2468" y="1332"/>
                  <a:ext cx="310" cy="60"/>
                  <a:chOff x="2468" y="1332"/>
                  <a:chExt cx="310" cy="60"/>
                </a:xfrm>
              </p:grpSpPr>
              <p:sp>
                <p:nvSpPr>
                  <p:cNvPr id="8358" name="Google Shape;8358;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359" name="Google Shape;8359;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360" name="Google Shape;8360;p121"/>
                <p:cNvCxnSpPr/>
                <p:nvPr/>
              </p:nvCxnSpPr>
              <p:spPr>
                <a:xfrm>
                  <a:off x="2357" y="1362"/>
                  <a:ext cx="0" cy="82"/>
                </a:xfrm>
                <a:prstGeom prst="straightConnector1">
                  <a:avLst/>
                </a:prstGeom>
                <a:noFill/>
                <a:ln cap="flat" cmpd="sng" w="9525">
                  <a:solidFill>
                    <a:schemeClr val="dk1"/>
                  </a:solidFill>
                  <a:prstDash val="solid"/>
                  <a:round/>
                  <a:headEnd len="med" w="med" type="none"/>
                  <a:tailEnd len="med" w="med" type="none"/>
                </a:ln>
              </p:spPr>
            </p:cxnSp>
            <p:cxnSp>
              <p:nvCxnSpPr>
                <p:cNvPr id="8361" name="Google Shape;8361;p121"/>
                <p:cNvCxnSpPr/>
                <p:nvPr/>
              </p:nvCxnSpPr>
              <p:spPr>
                <a:xfrm>
                  <a:off x="2907" y="1364"/>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362" name="Google Shape;8362;p121"/>
              <p:cNvGrpSpPr/>
              <p:nvPr/>
            </p:nvGrpSpPr>
            <p:grpSpPr>
              <a:xfrm>
                <a:off x="8438032" y="3018963"/>
                <a:ext cx="532759" cy="184809"/>
                <a:chOff x="2356" y="1300"/>
                <a:chExt cx="555" cy="194"/>
              </a:xfrm>
            </p:grpSpPr>
            <p:sp>
              <p:nvSpPr>
                <p:cNvPr id="8363" name="Google Shape;8363;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64" name="Google Shape;8364;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65" name="Google Shape;8365;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366" name="Google Shape;8366;p121"/>
                <p:cNvGrpSpPr/>
                <p:nvPr/>
              </p:nvGrpSpPr>
              <p:grpSpPr>
                <a:xfrm>
                  <a:off x="2468" y="1332"/>
                  <a:ext cx="310" cy="60"/>
                  <a:chOff x="2468" y="1332"/>
                  <a:chExt cx="310" cy="60"/>
                </a:xfrm>
              </p:grpSpPr>
              <p:sp>
                <p:nvSpPr>
                  <p:cNvPr id="8367" name="Google Shape;8367;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368" name="Google Shape;8368;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369" name="Google Shape;8369;p121"/>
                <p:cNvCxnSpPr/>
                <p:nvPr/>
              </p:nvCxnSpPr>
              <p:spPr>
                <a:xfrm>
                  <a:off x="2357" y="1361"/>
                  <a:ext cx="0" cy="79"/>
                </a:xfrm>
                <a:prstGeom prst="straightConnector1">
                  <a:avLst/>
                </a:prstGeom>
                <a:noFill/>
                <a:ln cap="flat" cmpd="sng" w="9525">
                  <a:solidFill>
                    <a:schemeClr val="dk1"/>
                  </a:solidFill>
                  <a:prstDash val="solid"/>
                  <a:round/>
                  <a:headEnd len="med" w="med" type="none"/>
                  <a:tailEnd len="med" w="med" type="none"/>
                </a:ln>
              </p:spPr>
            </p:cxnSp>
            <p:cxnSp>
              <p:nvCxnSpPr>
                <p:cNvPr id="8370" name="Google Shape;8370;p121"/>
                <p:cNvCxnSpPr/>
                <p:nvPr/>
              </p:nvCxnSpPr>
              <p:spPr>
                <a:xfrm>
                  <a:off x="2907" y="1363"/>
                  <a:ext cx="0" cy="84"/>
                </a:xfrm>
                <a:prstGeom prst="straightConnector1">
                  <a:avLst/>
                </a:prstGeom>
                <a:noFill/>
                <a:ln cap="flat" cmpd="sng" w="9525">
                  <a:solidFill>
                    <a:schemeClr val="dk1"/>
                  </a:solidFill>
                  <a:prstDash val="solid"/>
                  <a:round/>
                  <a:headEnd len="med" w="med" type="none"/>
                  <a:tailEnd len="med" w="med" type="none"/>
                </a:ln>
              </p:spPr>
            </p:cxnSp>
          </p:grpSp>
        </p:grpSp>
        <p:sp>
          <p:nvSpPr>
            <p:cNvPr id="8371" name="Google Shape;8371;p121"/>
            <p:cNvSpPr/>
            <p:nvPr/>
          </p:nvSpPr>
          <p:spPr>
            <a:xfrm>
              <a:off x="1498600" y="4165600"/>
              <a:ext cx="3086100" cy="1168400"/>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372" name="Google Shape;8372;p121"/>
            <p:cNvGrpSpPr/>
            <p:nvPr/>
          </p:nvGrpSpPr>
          <p:grpSpPr>
            <a:xfrm>
              <a:off x="2152272" y="4264503"/>
              <a:ext cx="513732" cy="157430"/>
              <a:chOff x="2356" y="1300"/>
              <a:chExt cx="555" cy="194"/>
            </a:xfrm>
          </p:grpSpPr>
          <p:sp>
            <p:nvSpPr>
              <p:cNvPr id="8373" name="Google Shape;8373;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74" name="Google Shape;8374;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75" name="Google Shape;8375;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376" name="Google Shape;8376;p121"/>
              <p:cNvGrpSpPr/>
              <p:nvPr/>
            </p:nvGrpSpPr>
            <p:grpSpPr>
              <a:xfrm>
                <a:off x="2468" y="1332"/>
                <a:ext cx="310" cy="60"/>
                <a:chOff x="2468" y="1332"/>
                <a:chExt cx="310" cy="60"/>
              </a:xfrm>
            </p:grpSpPr>
            <p:sp>
              <p:nvSpPr>
                <p:cNvPr id="8377" name="Google Shape;8377;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378" name="Google Shape;8378;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379" name="Google Shape;8379;p121"/>
              <p:cNvCxnSpPr/>
              <p:nvPr/>
            </p:nvCxnSpPr>
            <p:spPr>
              <a:xfrm>
                <a:off x="2358" y="1360"/>
                <a:ext cx="0" cy="80"/>
              </a:xfrm>
              <a:prstGeom prst="straightConnector1">
                <a:avLst/>
              </a:prstGeom>
              <a:noFill/>
              <a:ln cap="flat" cmpd="sng" w="9525">
                <a:solidFill>
                  <a:schemeClr val="dk1"/>
                </a:solidFill>
                <a:prstDash val="solid"/>
                <a:round/>
                <a:headEnd len="med" w="med" type="none"/>
                <a:tailEnd len="med" w="med" type="none"/>
              </a:ln>
            </p:spPr>
          </p:cxnSp>
          <p:cxnSp>
            <p:nvCxnSpPr>
              <p:cNvPr id="8380" name="Google Shape;8380;p121"/>
              <p:cNvCxnSpPr/>
              <p:nvPr/>
            </p:nvCxnSpPr>
            <p:spPr>
              <a:xfrm>
                <a:off x="2907" y="1362"/>
                <a:ext cx="0" cy="84"/>
              </a:xfrm>
              <a:prstGeom prst="straightConnector1">
                <a:avLst/>
              </a:prstGeom>
              <a:noFill/>
              <a:ln cap="flat" cmpd="sng" w="9525">
                <a:solidFill>
                  <a:schemeClr val="dk1"/>
                </a:solidFill>
                <a:prstDash val="solid"/>
                <a:round/>
                <a:headEnd len="med" w="med" type="none"/>
                <a:tailEnd len="med" w="med" type="none"/>
              </a:ln>
            </p:spPr>
          </p:cxnSp>
        </p:grpSp>
        <p:cxnSp>
          <p:nvCxnSpPr>
            <p:cNvPr id="8381" name="Google Shape;8381;p121"/>
            <p:cNvCxnSpPr>
              <a:stCxn id="8380" idx="0"/>
            </p:cNvCxnSpPr>
            <p:nvPr/>
          </p:nvCxnSpPr>
          <p:spPr>
            <a:xfrm>
              <a:off x="2662301" y="4315627"/>
              <a:ext cx="940500" cy="116400"/>
            </a:xfrm>
            <a:prstGeom prst="straightConnector1">
              <a:avLst/>
            </a:prstGeom>
            <a:noFill/>
            <a:ln cap="flat" cmpd="sng" w="9525">
              <a:solidFill>
                <a:schemeClr val="dk1"/>
              </a:solidFill>
              <a:prstDash val="solid"/>
              <a:round/>
              <a:headEnd len="med" w="med" type="none"/>
              <a:tailEnd len="med" w="med" type="none"/>
            </a:ln>
          </p:spPr>
        </p:cxnSp>
        <p:cxnSp>
          <p:nvCxnSpPr>
            <p:cNvPr id="8382" name="Google Shape;8382;p121"/>
            <p:cNvCxnSpPr/>
            <p:nvPr/>
          </p:nvCxnSpPr>
          <p:spPr>
            <a:xfrm>
              <a:off x="3112420" y="4624312"/>
              <a:ext cx="116433" cy="71038"/>
            </a:xfrm>
            <a:prstGeom prst="straightConnector1">
              <a:avLst/>
            </a:prstGeom>
            <a:noFill/>
            <a:ln cap="flat" cmpd="sng" w="9525">
              <a:solidFill>
                <a:schemeClr val="dk1"/>
              </a:solidFill>
              <a:prstDash val="solid"/>
              <a:round/>
              <a:headEnd len="med" w="med" type="none"/>
              <a:tailEnd len="med" w="med" type="none"/>
            </a:ln>
          </p:spPr>
        </p:cxnSp>
        <p:cxnSp>
          <p:nvCxnSpPr>
            <p:cNvPr id="8383" name="Google Shape;8383;p121"/>
            <p:cNvCxnSpPr/>
            <p:nvPr/>
          </p:nvCxnSpPr>
          <p:spPr>
            <a:xfrm flipH="1" rot="10800000">
              <a:off x="2920421" y="4797923"/>
              <a:ext cx="234667" cy="38865"/>
            </a:xfrm>
            <a:prstGeom prst="straightConnector1">
              <a:avLst/>
            </a:prstGeom>
            <a:noFill/>
            <a:ln cap="flat" cmpd="sng" w="9525">
              <a:solidFill>
                <a:schemeClr val="dk1"/>
              </a:solidFill>
              <a:prstDash val="solid"/>
              <a:round/>
              <a:headEnd len="med" w="med" type="none"/>
              <a:tailEnd len="med" w="med" type="none"/>
            </a:ln>
          </p:spPr>
        </p:cxnSp>
        <p:cxnSp>
          <p:nvCxnSpPr>
            <p:cNvPr id="8384" name="Google Shape;8384;p121"/>
            <p:cNvCxnSpPr/>
            <p:nvPr/>
          </p:nvCxnSpPr>
          <p:spPr>
            <a:xfrm flipH="1" rot="10800000">
              <a:off x="2636021" y="4648552"/>
              <a:ext cx="185893" cy="93349"/>
            </a:xfrm>
            <a:prstGeom prst="straightConnector1">
              <a:avLst/>
            </a:prstGeom>
            <a:noFill/>
            <a:ln cap="flat" cmpd="sng" w="9525">
              <a:solidFill>
                <a:schemeClr val="dk1"/>
              </a:solidFill>
              <a:prstDash val="solid"/>
              <a:round/>
              <a:headEnd len="med" w="med" type="none"/>
              <a:tailEnd len="med" w="med" type="none"/>
            </a:ln>
          </p:spPr>
        </p:cxnSp>
        <p:cxnSp>
          <p:nvCxnSpPr>
            <p:cNvPr id="8385" name="Google Shape;8385;p121"/>
            <p:cNvCxnSpPr/>
            <p:nvPr/>
          </p:nvCxnSpPr>
          <p:spPr>
            <a:xfrm flipH="1" rot="10800000">
              <a:off x="2348386" y="4902261"/>
              <a:ext cx="185893" cy="93349"/>
            </a:xfrm>
            <a:prstGeom prst="straightConnector1">
              <a:avLst/>
            </a:prstGeom>
            <a:noFill/>
            <a:ln cap="flat" cmpd="sng" w="9525">
              <a:solidFill>
                <a:schemeClr val="dk1"/>
              </a:solidFill>
              <a:prstDash val="solid"/>
              <a:round/>
              <a:headEnd len="med" w="med" type="none"/>
              <a:tailEnd len="med" w="med" type="none"/>
            </a:ln>
          </p:spPr>
        </p:cxnSp>
        <p:cxnSp>
          <p:nvCxnSpPr>
            <p:cNvPr id="8386" name="Google Shape;8386;p121"/>
            <p:cNvCxnSpPr/>
            <p:nvPr/>
          </p:nvCxnSpPr>
          <p:spPr>
            <a:xfrm flipH="1" rot="10800000">
              <a:off x="3127556" y="4839861"/>
              <a:ext cx="243934" cy="215469"/>
            </a:xfrm>
            <a:prstGeom prst="straightConnector1">
              <a:avLst/>
            </a:prstGeom>
            <a:noFill/>
            <a:ln cap="flat" cmpd="sng" w="9525">
              <a:solidFill>
                <a:schemeClr val="dk1"/>
              </a:solidFill>
              <a:prstDash val="solid"/>
              <a:round/>
              <a:headEnd len="med" w="med" type="none"/>
              <a:tailEnd len="med" w="med" type="none"/>
            </a:ln>
          </p:spPr>
        </p:cxnSp>
        <p:cxnSp>
          <p:nvCxnSpPr>
            <p:cNvPr id="8387" name="Google Shape;8387;p121"/>
            <p:cNvCxnSpPr/>
            <p:nvPr/>
          </p:nvCxnSpPr>
          <p:spPr>
            <a:xfrm rot="10800000">
              <a:off x="3601475" y="4827802"/>
              <a:ext cx="342282" cy="105962"/>
            </a:xfrm>
            <a:prstGeom prst="straightConnector1">
              <a:avLst/>
            </a:prstGeom>
            <a:noFill/>
            <a:ln cap="flat" cmpd="sng" w="9525">
              <a:solidFill>
                <a:schemeClr val="dk1"/>
              </a:solidFill>
              <a:prstDash val="solid"/>
              <a:round/>
              <a:headEnd len="med" w="med" type="none"/>
              <a:tailEnd len="med" w="med" type="none"/>
            </a:ln>
          </p:spPr>
        </p:cxnSp>
        <p:cxnSp>
          <p:nvCxnSpPr>
            <p:cNvPr id="8388" name="Google Shape;8388;p121"/>
            <p:cNvCxnSpPr/>
            <p:nvPr/>
          </p:nvCxnSpPr>
          <p:spPr>
            <a:xfrm flipH="1" rot="10800000">
              <a:off x="3587812" y="4532358"/>
              <a:ext cx="273243" cy="166677"/>
            </a:xfrm>
            <a:prstGeom prst="straightConnector1">
              <a:avLst/>
            </a:prstGeom>
            <a:noFill/>
            <a:ln cap="flat" cmpd="sng" w="9525">
              <a:solidFill>
                <a:schemeClr val="dk1"/>
              </a:solidFill>
              <a:prstDash val="solid"/>
              <a:round/>
              <a:headEnd len="med" w="med" type="none"/>
              <a:tailEnd len="med" w="med" type="none"/>
            </a:ln>
          </p:spPr>
        </p:cxnSp>
        <p:cxnSp>
          <p:nvCxnSpPr>
            <p:cNvPr id="8389" name="Google Shape;8389;p121"/>
            <p:cNvCxnSpPr>
              <a:endCxn id="8373" idx="4"/>
            </p:cNvCxnSpPr>
            <p:nvPr/>
          </p:nvCxnSpPr>
          <p:spPr>
            <a:xfrm rot="10800000">
              <a:off x="2408212" y="4421933"/>
              <a:ext cx="396300" cy="74400"/>
            </a:xfrm>
            <a:prstGeom prst="straightConnector1">
              <a:avLst/>
            </a:prstGeom>
            <a:noFill/>
            <a:ln cap="flat" cmpd="sng" w="9525">
              <a:solidFill>
                <a:schemeClr val="dk1"/>
              </a:solidFill>
              <a:prstDash val="solid"/>
              <a:round/>
              <a:headEnd len="med" w="med" type="none"/>
              <a:tailEnd len="med" w="med" type="none"/>
            </a:ln>
          </p:spPr>
        </p:cxnSp>
        <p:grpSp>
          <p:nvGrpSpPr>
            <p:cNvPr id="8390" name="Google Shape;8390;p121"/>
            <p:cNvGrpSpPr/>
            <p:nvPr/>
          </p:nvGrpSpPr>
          <p:grpSpPr>
            <a:xfrm>
              <a:off x="3144256" y="4681760"/>
              <a:ext cx="513732" cy="157430"/>
              <a:chOff x="2356" y="1300"/>
              <a:chExt cx="555" cy="194"/>
            </a:xfrm>
          </p:grpSpPr>
          <p:sp>
            <p:nvSpPr>
              <p:cNvPr id="8391" name="Google Shape;8391;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92" name="Google Shape;8392;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393" name="Google Shape;8393;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394" name="Google Shape;8394;p121"/>
              <p:cNvGrpSpPr/>
              <p:nvPr/>
            </p:nvGrpSpPr>
            <p:grpSpPr>
              <a:xfrm>
                <a:off x="2468" y="1332"/>
                <a:ext cx="310" cy="60"/>
                <a:chOff x="2468" y="1332"/>
                <a:chExt cx="310" cy="60"/>
              </a:xfrm>
            </p:grpSpPr>
            <p:sp>
              <p:nvSpPr>
                <p:cNvPr id="8395" name="Google Shape;8395;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396" name="Google Shape;8396;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397" name="Google Shape;8397;p121"/>
              <p:cNvCxnSpPr/>
              <p:nvPr/>
            </p:nvCxnSpPr>
            <p:spPr>
              <a:xfrm>
                <a:off x="2358" y="1360"/>
                <a:ext cx="0" cy="80"/>
              </a:xfrm>
              <a:prstGeom prst="straightConnector1">
                <a:avLst/>
              </a:prstGeom>
              <a:noFill/>
              <a:ln cap="flat" cmpd="sng" w="9525">
                <a:solidFill>
                  <a:schemeClr val="dk1"/>
                </a:solidFill>
                <a:prstDash val="solid"/>
                <a:round/>
                <a:headEnd len="med" w="med" type="none"/>
                <a:tailEnd len="med" w="med" type="none"/>
              </a:ln>
            </p:spPr>
          </p:cxnSp>
          <p:cxnSp>
            <p:nvCxnSpPr>
              <p:cNvPr id="8398" name="Google Shape;8398;p121"/>
              <p:cNvCxnSpPr/>
              <p:nvPr/>
            </p:nvCxnSpPr>
            <p:spPr>
              <a:xfrm>
                <a:off x="2907" y="1362"/>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399" name="Google Shape;8399;p121"/>
            <p:cNvGrpSpPr/>
            <p:nvPr/>
          </p:nvGrpSpPr>
          <p:grpSpPr>
            <a:xfrm>
              <a:off x="2389607" y="4745634"/>
              <a:ext cx="513732" cy="157430"/>
              <a:chOff x="2356" y="1300"/>
              <a:chExt cx="555" cy="194"/>
            </a:xfrm>
          </p:grpSpPr>
          <p:sp>
            <p:nvSpPr>
              <p:cNvPr id="8400" name="Google Shape;8400;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401" name="Google Shape;8401;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402" name="Google Shape;8402;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403" name="Google Shape;8403;p121"/>
              <p:cNvGrpSpPr/>
              <p:nvPr/>
            </p:nvGrpSpPr>
            <p:grpSpPr>
              <a:xfrm>
                <a:off x="2468" y="1332"/>
                <a:ext cx="310" cy="60"/>
                <a:chOff x="2468" y="1332"/>
                <a:chExt cx="310" cy="60"/>
              </a:xfrm>
            </p:grpSpPr>
            <p:sp>
              <p:nvSpPr>
                <p:cNvPr id="8404" name="Google Shape;8404;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405" name="Google Shape;8405;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406" name="Google Shape;8406;p121"/>
              <p:cNvCxnSpPr/>
              <p:nvPr/>
            </p:nvCxnSpPr>
            <p:spPr>
              <a:xfrm>
                <a:off x="2357" y="1360"/>
                <a:ext cx="0" cy="86"/>
              </a:xfrm>
              <a:prstGeom prst="straightConnector1">
                <a:avLst/>
              </a:prstGeom>
              <a:noFill/>
              <a:ln cap="flat" cmpd="sng" w="9525">
                <a:solidFill>
                  <a:schemeClr val="dk1"/>
                </a:solidFill>
                <a:prstDash val="solid"/>
                <a:round/>
                <a:headEnd len="med" w="med" type="none"/>
                <a:tailEnd len="med" w="med" type="none"/>
              </a:ln>
            </p:spPr>
          </p:cxnSp>
          <p:cxnSp>
            <p:nvCxnSpPr>
              <p:cNvPr id="8407" name="Google Shape;8407;p121"/>
              <p:cNvCxnSpPr/>
              <p:nvPr/>
            </p:nvCxnSpPr>
            <p:spPr>
              <a:xfrm>
                <a:off x="2908" y="1362"/>
                <a:ext cx="0" cy="86"/>
              </a:xfrm>
              <a:prstGeom prst="straightConnector1">
                <a:avLst/>
              </a:prstGeom>
              <a:noFill/>
              <a:ln cap="flat" cmpd="sng" w="9525">
                <a:solidFill>
                  <a:schemeClr val="dk1"/>
                </a:solidFill>
                <a:prstDash val="solid"/>
                <a:round/>
                <a:headEnd len="med" w="med" type="none"/>
                <a:tailEnd len="med" w="med" type="none"/>
              </a:ln>
            </p:spPr>
          </p:cxnSp>
        </p:grpSp>
        <p:grpSp>
          <p:nvGrpSpPr>
            <p:cNvPr id="8408" name="Google Shape;8408;p121"/>
            <p:cNvGrpSpPr/>
            <p:nvPr/>
          </p:nvGrpSpPr>
          <p:grpSpPr>
            <a:xfrm>
              <a:off x="2667612" y="4492209"/>
              <a:ext cx="513732" cy="157430"/>
              <a:chOff x="2356" y="1300"/>
              <a:chExt cx="555" cy="194"/>
            </a:xfrm>
          </p:grpSpPr>
          <p:sp>
            <p:nvSpPr>
              <p:cNvPr id="8409" name="Google Shape;8409;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410" name="Google Shape;8410;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411" name="Google Shape;8411;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412" name="Google Shape;8412;p121"/>
              <p:cNvGrpSpPr/>
              <p:nvPr/>
            </p:nvGrpSpPr>
            <p:grpSpPr>
              <a:xfrm>
                <a:off x="2468" y="1332"/>
                <a:ext cx="310" cy="60"/>
                <a:chOff x="2468" y="1332"/>
                <a:chExt cx="310" cy="60"/>
              </a:xfrm>
            </p:grpSpPr>
            <p:sp>
              <p:nvSpPr>
                <p:cNvPr id="8413" name="Google Shape;8413;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414" name="Google Shape;8414;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415" name="Google Shape;8415;p121"/>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416" name="Google Shape;8416;p121"/>
              <p:cNvCxnSpPr/>
              <p:nvPr/>
            </p:nvCxnSpPr>
            <p:spPr>
              <a:xfrm>
                <a:off x="2908"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417" name="Google Shape;8417;p121"/>
            <p:cNvGrpSpPr/>
            <p:nvPr/>
          </p:nvGrpSpPr>
          <p:grpSpPr>
            <a:xfrm>
              <a:off x="3578257" y="4374518"/>
              <a:ext cx="513732" cy="157430"/>
              <a:chOff x="2356" y="1300"/>
              <a:chExt cx="555" cy="194"/>
            </a:xfrm>
          </p:grpSpPr>
          <p:sp>
            <p:nvSpPr>
              <p:cNvPr id="8418" name="Google Shape;8418;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419" name="Google Shape;8419;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420" name="Google Shape;8420;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421" name="Google Shape;8421;p121"/>
              <p:cNvGrpSpPr/>
              <p:nvPr/>
            </p:nvGrpSpPr>
            <p:grpSpPr>
              <a:xfrm>
                <a:off x="2468" y="1332"/>
                <a:ext cx="310" cy="60"/>
                <a:chOff x="2468" y="1332"/>
                <a:chExt cx="310" cy="60"/>
              </a:xfrm>
            </p:grpSpPr>
            <p:sp>
              <p:nvSpPr>
                <p:cNvPr id="8422" name="Google Shape;8422;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423" name="Google Shape;8423;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424" name="Google Shape;8424;p121"/>
              <p:cNvCxnSpPr/>
              <p:nvPr/>
            </p:nvCxnSpPr>
            <p:spPr>
              <a:xfrm>
                <a:off x="2358"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425" name="Google Shape;8425;p121"/>
              <p:cNvCxnSpPr/>
              <p:nvPr/>
            </p:nvCxnSpPr>
            <p:spPr>
              <a:xfrm>
                <a:off x="2908"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426" name="Google Shape;8426;p121"/>
            <p:cNvGrpSpPr/>
            <p:nvPr/>
          </p:nvGrpSpPr>
          <p:grpSpPr>
            <a:xfrm>
              <a:off x="3797517" y="4879602"/>
              <a:ext cx="513732" cy="157430"/>
              <a:chOff x="2356" y="1300"/>
              <a:chExt cx="555" cy="194"/>
            </a:xfrm>
          </p:grpSpPr>
          <p:sp>
            <p:nvSpPr>
              <p:cNvPr id="8427" name="Google Shape;8427;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428" name="Google Shape;8428;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429" name="Google Shape;8429;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430" name="Google Shape;8430;p121"/>
              <p:cNvGrpSpPr/>
              <p:nvPr/>
            </p:nvGrpSpPr>
            <p:grpSpPr>
              <a:xfrm>
                <a:off x="2468" y="1332"/>
                <a:ext cx="310" cy="60"/>
                <a:chOff x="2468" y="1332"/>
                <a:chExt cx="310" cy="60"/>
              </a:xfrm>
            </p:grpSpPr>
            <p:sp>
              <p:nvSpPr>
                <p:cNvPr id="8431" name="Google Shape;8431;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432" name="Google Shape;8432;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433" name="Google Shape;8433;p121"/>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434" name="Google Shape;8434;p121"/>
              <p:cNvCxnSpPr/>
              <p:nvPr/>
            </p:nvCxnSpPr>
            <p:spPr>
              <a:xfrm>
                <a:off x="2908"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435" name="Google Shape;8435;p121"/>
            <p:cNvGrpSpPr/>
            <p:nvPr/>
          </p:nvGrpSpPr>
          <p:grpSpPr>
            <a:xfrm>
              <a:off x="2927730" y="5041361"/>
              <a:ext cx="513732" cy="157430"/>
              <a:chOff x="2356" y="1300"/>
              <a:chExt cx="555" cy="194"/>
            </a:xfrm>
          </p:grpSpPr>
          <p:sp>
            <p:nvSpPr>
              <p:cNvPr id="8436" name="Google Shape;8436;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437" name="Google Shape;8437;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438" name="Google Shape;8438;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439" name="Google Shape;8439;p121"/>
              <p:cNvGrpSpPr/>
              <p:nvPr/>
            </p:nvGrpSpPr>
            <p:grpSpPr>
              <a:xfrm>
                <a:off x="2468" y="1332"/>
                <a:ext cx="310" cy="60"/>
                <a:chOff x="2468" y="1332"/>
                <a:chExt cx="310" cy="60"/>
              </a:xfrm>
            </p:grpSpPr>
            <p:sp>
              <p:nvSpPr>
                <p:cNvPr id="8440" name="Google Shape;8440;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441" name="Google Shape;8441;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442" name="Google Shape;8442;p121"/>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443" name="Google Shape;8443;p121"/>
              <p:cNvCxnSpPr/>
              <p:nvPr/>
            </p:nvCxnSpPr>
            <p:spPr>
              <a:xfrm>
                <a:off x="2908"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444" name="Google Shape;8444;p121"/>
            <p:cNvGrpSpPr/>
            <p:nvPr/>
          </p:nvGrpSpPr>
          <p:grpSpPr>
            <a:xfrm>
              <a:off x="2066981" y="4995528"/>
              <a:ext cx="513732" cy="157430"/>
              <a:chOff x="2356" y="1300"/>
              <a:chExt cx="555" cy="194"/>
            </a:xfrm>
          </p:grpSpPr>
          <p:sp>
            <p:nvSpPr>
              <p:cNvPr id="8445" name="Google Shape;8445;p121"/>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446" name="Google Shape;8446;p121"/>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447" name="Google Shape;8447;p121"/>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448" name="Google Shape;8448;p121"/>
              <p:cNvGrpSpPr/>
              <p:nvPr/>
            </p:nvGrpSpPr>
            <p:grpSpPr>
              <a:xfrm>
                <a:off x="2468" y="1332"/>
                <a:ext cx="310" cy="60"/>
                <a:chOff x="2468" y="1332"/>
                <a:chExt cx="310" cy="60"/>
              </a:xfrm>
            </p:grpSpPr>
            <p:sp>
              <p:nvSpPr>
                <p:cNvPr id="8449" name="Google Shape;8449;p121"/>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450" name="Google Shape;8450;p121"/>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cxnSp>
            <p:nvCxnSpPr>
              <p:cNvPr id="8451" name="Google Shape;8451;p121"/>
              <p:cNvCxnSpPr/>
              <p:nvPr/>
            </p:nvCxnSpPr>
            <p:spPr>
              <a:xfrm>
                <a:off x="2358"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452" name="Google Shape;8452;p121"/>
              <p:cNvCxnSpPr/>
              <p:nvPr/>
            </p:nvCxnSpPr>
            <p:spPr>
              <a:xfrm>
                <a:off x="2908" y="1363"/>
                <a:ext cx="0" cy="84"/>
              </a:xfrm>
              <a:prstGeom prst="straightConnector1">
                <a:avLst/>
              </a:prstGeom>
              <a:noFill/>
              <a:ln cap="flat" cmpd="sng" w="9525">
                <a:solidFill>
                  <a:schemeClr val="dk1"/>
                </a:solidFill>
                <a:prstDash val="solid"/>
                <a:round/>
                <a:headEnd len="med" w="med" type="none"/>
                <a:tailEnd len="med" w="med" type="none"/>
              </a:ln>
            </p:spPr>
          </p:cxnSp>
        </p:grpSp>
        <p:cxnSp>
          <p:nvCxnSpPr>
            <p:cNvPr id="8453" name="Google Shape;8453;p121"/>
            <p:cNvCxnSpPr>
              <a:endCxn id="8293" idx="1"/>
            </p:cNvCxnSpPr>
            <p:nvPr/>
          </p:nvCxnSpPr>
          <p:spPr>
            <a:xfrm>
              <a:off x="2383486" y="2610474"/>
              <a:ext cx="238200" cy="261900"/>
            </a:xfrm>
            <a:prstGeom prst="straightConnector1">
              <a:avLst/>
            </a:prstGeom>
            <a:noFill/>
            <a:ln cap="flat" cmpd="sng" w="9525">
              <a:solidFill>
                <a:schemeClr val="dk1"/>
              </a:solidFill>
              <a:prstDash val="solid"/>
              <a:round/>
              <a:headEnd len="med" w="med" type="none"/>
              <a:tailEnd len="med" w="med" type="none"/>
            </a:ln>
          </p:spPr>
        </p:cxnSp>
        <p:cxnSp>
          <p:nvCxnSpPr>
            <p:cNvPr id="8454" name="Google Shape;8454;p121"/>
            <p:cNvCxnSpPr>
              <a:stCxn id="8191" idx="8"/>
              <a:endCxn id="8455" idx="2"/>
            </p:cNvCxnSpPr>
            <p:nvPr/>
          </p:nvCxnSpPr>
          <p:spPr>
            <a:xfrm>
              <a:off x="1455738" y="2990814"/>
              <a:ext cx="38100" cy="309600"/>
            </a:xfrm>
            <a:prstGeom prst="straightConnector1">
              <a:avLst/>
            </a:prstGeom>
            <a:noFill/>
            <a:ln cap="flat" cmpd="sng" w="9525">
              <a:solidFill>
                <a:schemeClr val="dk1"/>
              </a:solidFill>
              <a:prstDash val="solid"/>
              <a:round/>
              <a:headEnd len="med" w="med" type="none"/>
              <a:tailEnd len="med" w="med" type="none"/>
            </a:ln>
          </p:spPr>
        </p:cxnSp>
        <p:cxnSp>
          <p:nvCxnSpPr>
            <p:cNvPr id="8456" name="Google Shape;8456;p121"/>
            <p:cNvCxnSpPr>
              <a:endCxn id="8455" idx="3"/>
            </p:cNvCxnSpPr>
            <p:nvPr/>
          </p:nvCxnSpPr>
          <p:spPr>
            <a:xfrm>
              <a:off x="1235234" y="3271143"/>
              <a:ext cx="123900" cy="212700"/>
            </a:xfrm>
            <a:prstGeom prst="straightConnector1">
              <a:avLst/>
            </a:prstGeom>
            <a:noFill/>
            <a:ln cap="flat" cmpd="sng" w="9525">
              <a:solidFill>
                <a:schemeClr val="dk1"/>
              </a:solidFill>
              <a:prstDash val="solid"/>
              <a:round/>
              <a:headEnd len="med" w="med" type="none"/>
              <a:tailEnd len="med" w="med" type="none"/>
            </a:ln>
          </p:spPr>
        </p:cxnSp>
        <p:cxnSp>
          <p:nvCxnSpPr>
            <p:cNvPr id="8457" name="Google Shape;8457;p121"/>
            <p:cNvCxnSpPr>
              <a:endCxn id="8338" idx="1"/>
            </p:cNvCxnSpPr>
            <p:nvPr/>
          </p:nvCxnSpPr>
          <p:spPr>
            <a:xfrm>
              <a:off x="3915618" y="2411781"/>
              <a:ext cx="308100" cy="573000"/>
            </a:xfrm>
            <a:prstGeom prst="straightConnector1">
              <a:avLst/>
            </a:prstGeom>
            <a:noFill/>
            <a:ln cap="flat" cmpd="sng" w="9525">
              <a:solidFill>
                <a:schemeClr val="dk1"/>
              </a:solidFill>
              <a:prstDash val="solid"/>
              <a:round/>
              <a:headEnd len="med" w="med" type="none"/>
              <a:tailEnd len="med" w="med" type="none"/>
            </a:ln>
          </p:spPr>
        </p:cxnSp>
        <p:cxnSp>
          <p:nvCxnSpPr>
            <p:cNvPr id="8458" name="Google Shape;8458;p121"/>
            <p:cNvCxnSpPr>
              <a:endCxn id="8338" idx="0"/>
            </p:cNvCxnSpPr>
            <p:nvPr/>
          </p:nvCxnSpPr>
          <p:spPr>
            <a:xfrm flipH="1">
              <a:off x="4426303" y="2390060"/>
              <a:ext cx="384300" cy="579300"/>
            </a:xfrm>
            <a:prstGeom prst="straightConnector1">
              <a:avLst/>
            </a:prstGeom>
            <a:noFill/>
            <a:ln cap="flat" cmpd="sng" w="9525">
              <a:solidFill>
                <a:schemeClr val="dk1"/>
              </a:solidFill>
              <a:prstDash val="solid"/>
              <a:round/>
              <a:headEnd len="med" w="med" type="none"/>
              <a:tailEnd len="med" w="med" type="none"/>
            </a:ln>
          </p:spPr>
        </p:cxnSp>
        <p:cxnSp>
          <p:nvCxnSpPr>
            <p:cNvPr id="8459" name="Google Shape;8459;p121"/>
            <p:cNvCxnSpPr>
              <a:endCxn id="8255" idx="0"/>
            </p:cNvCxnSpPr>
            <p:nvPr/>
          </p:nvCxnSpPr>
          <p:spPr>
            <a:xfrm>
              <a:off x="6770957" y="2900235"/>
              <a:ext cx="216000" cy="1046100"/>
            </a:xfrm>
            <a:prstGeom prst="straightConnector1">
              <a:avLst/>
            </a:prstGeom>
            <a:noFill/>
            <a:ln cap="flat" cmpd="sng" w="9525">
              <a:solidFill>
                <a:schemeClr val="dk1"/>
              </a:solidFill>
              <a:prstDash val="solid"/>
              <a:round/>
              <a:headEnd len="med" w="med" type="none"/>
              <a:tailEnd len="med" w="med" type="none"/>
            </a:ln>
          </p:spPr>
        </p:cxnSp>
        <p:cxnSp>
          <p:nvCxnSpPr>
            <p:cNvPr id="8460" name="Google Shape;8460;p121"/>
            <p:cNvCxnSpPr/>
            <p:nvPr/>
          </p:nvCxnSpPr>
          <p:spPr>
            <a:xfrm flipH="1">
              <a:off x="7137400" y="3251200"/>
              <a:ext cx="241300" cy="692150"/>
            </a:xfrm>
            <a:prstGeom prst="straightConnector1">
              <a:avLst/>
            </a:prstGeom>
            <a:noFill/>
            <a:ln cap="flat" cmpd="sng" w="9525">
              <a:solidFill>
                <a:schemeClr val="dk1"/>
              </a:solidFill>
              <a:prstDash val="solid"/>
              <a:round/>
              <a:headEnd len="med" w="med" type="none"/>
              <a:tailEnd len="med" w="med" type="none"/>
            </a:ln>
          </p:spPr>
        </p:cxnSp>
        <p:cxnSp>
          <p:nvCxnSpPr>
            <p:cNvPr id="8461" name="Google Shape;8461;p121"/>
            <p:cNvCxnSpPr>
              <a:stCxn id="8195" idx="4"/>
              <a:endCxn id="8269" idx="0"/>
            </p:cNvCxnSpPr>
            <p:nvPr/>
          </p:nvCxnSpPr>
          <p:spPr>
            <a:xfrm flipH="1">
              <a:off x="7483613" y="4229100"/>
              <a:ext cx="541200" cy="249300"/>
            </a:xfrm>
            <a:prstGeom prst="straightConnector1">
              <a:avLst/>
            </a:prstGeom>
            <a:noFill/>
            <a:ln cap="flat" cmpd="sng" w="9525">
              <a:solidFill>
                <a:schemeClr val="dk1"/>
              </a:solidFill>
              <a:prstDash val="solid"/>
              <a:round/>
              <a:headEnd len="med" w="med" type="none"/>
              <a:tailEnd len="med" w="med" type="none"/>
            </a:ln>
          </p:spPr>
        </p:cxnSp>
        <p:cxnSp>
          <p:nvCxnSpPr>
            <p:cNvPr id="8462" name="Google Shape;8462;p121"/>
            <p:cNvCxnSpPr/>
            <p:nvPr/>
          </p:nvCxnSpPr>
          <p:spPr>
            <a:xfrm rot="10800000">
              <a:off x="7454900" y="4573588"/>
              <a:ext cx="796925" cy="614362"/>
            </a:xfrm>
            <a:prstGeom prst="straightConnector1">
              <a:avLst/>
            </a:prstGeom>
            <a:noFill/>
            <a:ln cap="flat" cmpd="sng" w="9525">
              <a:solidFill>
                <a:schemeClr val="dk1"/>
              </a:solidFill>
              <a:prstDash val="solid"/>
              <a:round/>
              <a:headEnd len="med" w="med" type="none"/>
              <a:tailEnd len="med" w="med" type="none"/>
            </a:ln>
          </p:spPr>
        </p:cxnSp>
        <p:cxnSp>
          <p:nvCxnSpPr>
            <p:cNvPr id="8463" name="Google Shape;8463;p121"/>
            <p:cNvCxnSpPr>
              <a:endCxn id="8271" idx="5"/>
            </p:cNvCxnSpPr>
            <p:nvPr/>
          </p:nvCxnSpPr>
          <p:spPr>
            <a:xfrm rot="10800000">
              <a:off x="6496434" y="4722379"/>
              <a:ext cx="1047900" cy="966900"/>
            </a:xfrm>
            <a:prstGeom prst="straightConnector1">
              <a:avLst/>
            </a:prstGeom>
            <a:noFill/>
            <a:ln cap="flat" cmpd="sng" w="9525">
              <a:solidFill>
                <a:schemeClr val="dk1"/>
              </a:solidFill>
              <a:prstDash val="solid"/>
              <a:round/>
              <a:headEnd len="med" w="med" type="none"/>
              <a:tailEnd len="med" w="med" type="none"/>
            </a:ln>
          </p:spPr>
        </p:cxnSp>
        <p:cxnSp>
          <p:nvCxnSpPr>
            <p:cNvPr id="8464" name="Google Shape;8464;p121"/>
            <p:cNvCxnSpPr>
              <a:stCxn id="8196" idx="0"/>
              <a:endCxn id="8465" idx="5"/>
            </p:cNvCxnSpPr>
            <p:nvPr/>
          </p:nvCxnSpPr>
          <p:spPr>
            <a:xfrm rot="10800000">
              <a:off x="5085361" y="5684604"/>
              <a:ext cx="520800" cy="169800"/>
            </a:xfrm>
            <a:prstGeom prst="straightConnector1">
              <a:avLst/>
            </a:prstGeom>
            <a:noFill/>
            <a:ln cap="flat" cmpd="sng" w="9525">
              <a:solidFill>
                <a:schemeClr val="dk1"/>
              </a:solidFill>
              <a:prstDash val="solid"/>
              <a:round/>
              <a:headEnd len="med" w="med" type="none"/>
              <a:tailEnd len="med" w="med" type="none"/>
            </a:ln>
          </p:spPr>
        </p:cxnSp>
        <p:cxnSp>
          <p:nvCxnSpPr>
            <p:cNvPr id="8466" name="Google Shape;8466;p121"/>
            <p:cNvCxnSpPr/>
            <p:nvPr/>
          </p:nvCxnSpPr>
          <p:spPr>
            <a:xfrm rot="10800000">
              <a:off x="4068763" y="5045075"/>
              <a:ext cx="371475" cy="973138"/>
            </a:xfrm>
            <a:prstGeom prst="straightConnector1">
              <a:avLst/>
            </a:prstGeom>
            <a:noFill/>
            <a:ln cap="flat" cmpd="sng" w="9525">
              <a:solidFill>
                <a:schemeClr val="dk1"/>
              </a:solidFill>
              <a:prstDash val="solid"/>
              <a:round/>
              <a:headEnd len="med" w="med" type="none"/>
              <a:tailEnd len="med" w="med" type="none"/>
            </a:ln>
          </p:spPr>
        </p:cxnSp>
        <p:cxnSp>
          <p:nvCxnSpPr>
            <p:cNvPr id="8467" name="Google Shape;8467;p121"/>
            <p:cNvCxnSpPr/>
            <p:nvPr/>
          </p:nvCxnSpPr>
          <p:spPr>
            <a:xfrm flipH="1" rot="10800000">
              <a:off x="3389313" y="5689600"/>
              <a:ext cx="306387" cy="165100"/>
            </a:xfrm>
            <a:prstGeom prst="straightConnector1">
              <a:avLst/>
            </a:prstGeom>
            <a:noFill/>
            <a:ln cap="flat" cmpd="sng" w="9525">
              <a:solidFill>
                <a:schemeClr val="dk1"/>
              </a:solidFill>
              <a:prstDash val="solid"/>
              <a:round/>
              <a:headEnd len="med" w="med" type="none"/>
              <a:tailEnd len="med" w="med" type="none"/>
            </a:ln>
          </p:spPr>
        </p:cxnSp>
        <p:cxnSp>
          <p:nvCxnSpPr>
            <p:cNvPr id="8468" name="Google Shape;8468;p121"/>
            <p:cNvCxnSpPr/>
            <p:nvPr/>
          </p:nvCxnSpPr>
          <p:spPr>
            <a:xfrm flipH="1" rot="10800000">
              <a:off x="1790700" y="5160963"/>
              <a:ext cx="401638" cy="209550"/>
            </a:xfrm>
            <a:prstGeom prst="straightConnector1">
              <a:avLst/>
            </a:prstGeom>
            <a:noFill/>
            <a:ln cap="flat" cmpd="sng" w="9525">
              <a:solidFill>
                <a:schemeClr val="dk1"/>
              </a:solidFill>
              <a:prstDash val="solid"/>
              <a:round/>
              <a:headEnd len="med" w="med" type="none"/>
              <a:tailEnd len="med" w="med" type="none"/>
            </a:ln>
          </p:spPr>
        </p:cxnSp>
        <p:cxnSp>
          <p:nvCxnSpPr>
            <p:cNvPr id="8469" name="Google Shape;8469;p121"/>
            <p:cNvCxnSpPr/>
            <p:nvPr/>
          </p:nvCxnSpPr>
          <p:spPr>
            <a:xfrm flipH="1" rot="10800000">
              <a:off x="1179513" y="4467225"/>
              <a:ext cx="227012" cy="282575"/>
            </a:xfrm>
            <a:prstGeom prst="straightConnector1">
              <a:avLst/>
            </a:prstGeom>
            <a:noFill/>
            <a:ln cap="flat" cmpd="sng" w="9525">
              <a:solidFill>
                <a:schemeClr val="dk1"/>
              </a:solidFill>
              <a:prstDash val="solid"/>
              <a:round/>
              <a:headEnd len="med" w="med" type="none"/>
              <a:tailEnd len="med" w="med" type="none"/>
            </a:ln>
          </p:spPr>
        </p:cxnSp>
        <p:cxnSp>
          <p:nvCxnSpPr>
            <p:cNvPr id="8470" name="Google Shape;8470;p121"/>
            <p:cNvCxnSpPr>
              <a:endCxn id="8455" idx="5"/>
            </p:cNvCxnSpPr>
            <p:nvPr/>
          </p:nvCxnSpPr>
          <p:spPr>
            <a:xfrm flipH="1" rot="10800000">
              <a:off x="1156034" y="4369521"/>
              <a:ext cx="203100" cy="7800"/>
            </a:xfrm>
            <a:prstGeom prst="straightConnector1">
              <a:avLst/>
            </a:prstGeom>
            <a:noFill/>
            <a:ln cap="flat" cmpd="sng" w="9525">
              <a:solidFill>
                <a:schemeClr val="dk1"/>
              </a:solidFill>
              <a:prstDash val="solid"/>
              <a:round/>
              <a:headEnd len="med" w="med" type="none"/>
              <a:tailEnd len="med" w="med" type="none"/>
            </a:ln>
          </p:spPr>
        </p:cxnSp>
        <p:sp>
          <p:nvSpPr>
            <p:cNvPr id="8471" name="Google Shape;8471;p121"/>
            <p:cNvSpPr/>
            <p:nvPr/>
          </p:nvSpPr>
          <p:spPr>
            <a:xfrm>
              <a:off x="5677595" y="2896842"/>
              <a:ext cx="528046" cy="304770"/>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cxnSp>
          <p:nvCxnSpPr>
            <p:cNvPr id="8472" name="Google Shape;8472;p121"/>
            <p:cNvCxnSpPr/>
            <p:nvPr/>
          </p:nvCxnSpPr>
          <p:spPr>
            <a:xfrm>
              <a:off x="4713288" y="3051291"/>
              <a:ext cx="964307" cy="26892"/>
            </a:xfrm>
            <a:prstGeom prst="straightConnector1">
              <a:avLst/>
            </a:prstGeom>
            <a:noFill/>
            <a:ln cap="flat" cmpd="sng" w="12700">
              <a:solidFill>
                <a:srgbClr val="CC0000"/>
              </a:solidFill>
              <a:prstDash val="solid"/>
              <a:round/>
              <a:headEnd len="med" w="med" type="none"/>
              <a:tailEnd len="med" w="med" type="none"/>
            </a:ln>
          </p:spPr>
        </p:cxnSp>
        <p:cxnSp>
          <p:nvCxnSpPr>
            <p:cNvPr id="8473" name="Google Shape;8473;p121"/>
            <p:cNvCxnSpPr/>
            <p:nvPr/>
          </p:nvCxnSpPr>
          <p:spPr>
            <a:xfrm>
              <a:off x="6139457" y="3169615"/>
              <a:ext cx="691556" cy="784846"/>
            </a:xfrm>
            <a:prstGeom prst="straightConnector1">
              <a:avLst/>
            </a:prstGeom>
            <a:noFill/>
            <a:ln cap="flat" cmpd="sng" w="12700">
              <a:solidFill>
                <a:srgbClr val="CC0000"/>
              </a:solidFill>
              <a:prstDash val="solid"/>
              <a:round/>
              <a:headEnd len="med" w="med" type="none"/>
              <a:tailEnd len="med" w="med" type="none"/>
            </a:ln>
          </p:spPr>
        </p:cxnSp>
        <p:cxnSp>
          <p:nvCxnSpPr>
            <p:cNvPr id="8474" name="Google Shape;8474;p121"/>
            <p:cNvCxnSpPr>
              <a:stCxn id="8420" idx="0"/>
            </p:cNvCxnSpPr>
            <p:nvPr/>
          </p:nvCxnSpPr>
          <p:spPr>
            <a:xfrm flipH="1" rot="10800000">
              <a:off x="3833272" y="4233218"/>
              <a:ext cx="190500" cy="141300"/>
            </a:xfrm>
            <a:prstGeom prst="straightConnector1">
              <a:avLst/>
            </a:prstGeom>
            <a:noFill/>
            <a:ln cap="flat" cmpd="sng" w="12700">
              <a:solidFill>
                <a:srgbClr val="CC0000"/>
              </a:solidFill>
              <a:prstDash val="solid"/>
              <a:round/>
              <a:headEnd len="med" w="med" type="none"/>
              <a:tailEnd len="med" w="med" type="none"/>
            </a:ln>
          </p:spPr>
        </p:cxnSp>
        <p:sp>
          <p:nvSpPr>
            <p:cNvPr id="8475" name="Google Shape;8475;p121"/>
            <p:cNvSpPr/>
            <p:nvPr/>
          </p:nvSpPr>
          <p:spPr>
            <a:xfrm>
              <a:off x="3932543" y="3959560"/>
              <a:ext cx="528230" cy="305050"/>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000000"/>
                  </a:solidFill>
                  <a:latin typeface="Arial"/>
                  <a:ea typeface="Arial"/>
                  <a:cs typeface="Arial"/>
                  <a:sym typeface="Arial"/>
                </a:rPr>
                <a:t>   </a:t>
              </a:r>
              <a:endParaRPr/>
            </a:p>
          </p:txBody>
        </p:sp>
        <p:cxnSp>
          <p:nvCxnSpPr>
            <p:cNvPr id="8476" name="Google Shape;8476;p121"/>
            <p:cNvCxnSpPr>
              <a:stCxn id="8475" idx="6"/>
              <a:endCxn id="8214" idx="1"/>
            </p:cNvCxnSpPr>
            <p:nvPr/>
          </p:nvCxnSpPr>
          <p:spPr>
            <a:xfrm flipH="1" rot="10800000">
              <a:off x="4460773" y="3953985"/>
              <a:ext cx="770100" cy="158100"/>
            </a:xfrm>
            <a:prstGeom prst="straightConnector1">
              <a:avLst/>
            </a:prstGeom>
            <a:noFill/>
            <a:ln cap="flat" cmpd="sng" w="12700">
              <a:solidFill>
                <a:srgbClr val="CC0000"/>
              </a:solidFill>
              <a:prstDash val="solid"/>
              <a:round/>
              <a:headEnd len="med" w="med" type="none"/>
              <a:tailEnd len="med" w="med" type="none"/>
            </a:ln>
          </p:spPr>
        </p:cxnSp>
        <p:cxnSp>
          <p:nvCxnSpPr>
            <p:cNvPr id="8477" name="Google Shape;8477;p121"/>
            <p:cNvCxnSpPr/>
            <p:nvPr/>
          </p:nvCxnSpPr>
          <p:spPr>
            <a:xfrm>
              <a:off x="3692525" y="3789363"/>
              <a:ext cx="342828" cy="205015"/>
            </a:xfrm>
            <a:prstGeom prst="straightConnector1">
              <a:avLst/>
            </a:prstGeom>
            <a:noFill/>
            <a:ln cap="flat" cmpd="sng" w="12700">
              <a:solidFill>
                <a:srgbClr val="CC0000"/>
              </a:solidFill>
              <a:prstDash val="solid"/>
              <a:round/>
              <a:headEnd len="med" w="med" type="none"/>
              <a:tailEnd len="med" w="med" type="none"/>
            </a:ln>
          </p:spPr>
        </p:cxnSp>
        <p:cxnSp>
          <p:nvCxnSpPr>
            <p:cNvPr id="8478" name="Google Shape;8478;p121"/>
            <p:cNvCxnSpPr>
              <a:stCxn id="8345" idx="5"/>
              <a:endCxn id="8210" idx="1"/>
            </p:cNvCxnSpPr>
            <p:nvPr/>
          </p:nvCxnSpPr>
          <p:spPr>
            <a:xfrm>
              <a:off x="4876256" y="3633041"/>
              <a:ext cx="431700" cy="222600"/>
            </a:xfrm>
            <a:prstGeom prst="straightConnector1">
              <a:avLst/>
            </a:prstGeom>
            <a:noFill/>
            <a:ln cap="flat" cmpd="sng" w="12700">
              <a:solidFill>
                <a:srgbClr val="CC0000"/>
              </a:solidFill>
              <a:prstDash val="solid"/>
              <a:round/>
              <a:headEnd len="med" w="med" type="none"/>
              <a:tailEnd len="med" w="med" type="none"/>
            </a:ln>
          </p:spPr>
        </p:cxnSp>
        <p:cxnSp>
          <p:nvCxnSpPr>
            <p:cNvPr id="8479" name="Google Shape;8479;p121"/>
            <p:cNvCxnSpPr>
              <a:endCxn id="8375" idx="0"/>
            </p:cNvCxnSpPr>
            <p:nvPr/>
          </p:nvCxnSpPr>
          <p:spPr>
            <a:xfrm flipH="1">
              <a:off x="2407287" y="3753303"/>
              <a:ext cx="282600" cy="511200"/>
            </a:xfrm>
            <a:prstGeom prst="straightConnector1">
              <a:avLst/>
            </a:prstGeom>
            <a:noFill/>
            <a:ln cap="flat" cmpd="sng" w="12700">
              <a:solidFill>
                <a:srgbClr val="CC0000"/>
              </a:solidFill>
              <a:prstDash val="solid"/>
              <a:round/>
              <a:headEnd len="med" w="med" type="none"/>
              <a:tailEnd len="med" w="med" type="none"/>
            </a:ln>
          </p:spPr>
        </p:cxnSp>
        <p:cxnSp>
          <p:nvCxnSpPr>
            <p:cNvPr id="8480" name="Google Shape;8480;p121"/>
            <p:cNvCxnSpPr>
              <a:stCxn id="8434" idx="0"/>
            </p:cNvCxnSpPr>
            <p:nvPr/>
          </p:nvCxnSpPr>
          <p:spPr>
            <a:xfrm flipH="1" rot="10800000">
              <a:off x="4307761" y="4626575"/>
              <a:ext cx="843900" cy="304200"/>
            </a:xfrm>
            <a:prstGeom prst="straightConnector1">
              <a:avLst/>
            </a:prstGeom>
            <a:noFill/>
            <a:ln cap="flat" cmpd="sng" w="12700">
              <a:solidFill>
                <a:srgbClr val="CC0000"/>
              </a:solidFill>
              <a:prstDash val="solid"/>
              <a:round/>
              <a:headEnd len="med" w="med" type="none"/>
              <a:tailEnd len="med" w="med" type="none"/>
            </a:ln>
          </p:spPr>
        </p:cxnSp>
        <p:sp>
          <p:nvSpPr>
            <p:cNvPr id="8465" name="Google Shape;8465;p121"/>
            <p:cNvSpPr/>
            <p:nvPr/>
          </p:nvSpPr>
          <p:spPr>
            <a:xfrm>
              <a:off x="3340100" y="5359400"/>
              <a:ext cx="2044700" cy="381000"/>
            </a:xfrm>
            <a:prstGeom prst="ellipse">
              <a:avLst/>
            </a:prstGeom>
            <a:solidFill>
              <a:srgbClr val="CC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455" name="Google Shape;8455;p121"/>
            <p:cNvSpPr/>
            <p:nvPr/>
          </p:nvSpPr>
          <p:spPr>
            <a:xfrm rot="5400000">
              <a:off x="867569" y="3736182"/>
              <a:ext cx="1252537" cy="381000"/>
            </a:xfrm>
            <a:prstGeom prst="ellipse">
              <a:avLst/>
            </a:prstGeom>
            <a:solidFill>
              <a:srgbClr val="CC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cxnSp>
          <p:nvCxnSpPr>
            <p:cNvPr id="8481" name="Google Shape;8481;p121"/>
            <p:cNvCxnSpPr>
              <a:stCxn id="8455" idx="0"/>
              <a:endCxn id="8369" idx="0"/>
            </p:cNvCxnSpPr>
            <p:nvPr/>
          </p:nvCxnSpPr>
          <p:spPr>
            <a:xfrm flipH="1" rot="10800000">
              <a:off x="1684338" y="3653682"/>
              <a:ext cx="758700" cy="273000"/>
            </a:xfrm>
            <a:prstGeom prst="straightConnector1">
              <a:avLst/>
            </a:prstGeom>
            <a:noFill/>
            <a:ln cap="flat" cmpd="sng" w="9525">
              <a:solidFill>
                <a:schemeClr val="dk1"/>
              </a:solidFill>
              <a:prstDash val="solid"/>
              <a:round/>
              <a:headEnd len="med" w="med" type="none"/>
              <a:tailEnd len="med" w="med" type="none"/>
            </a:ln>
          </p:spPr>
        </p:cxnSp>
        <p:cxnSp>
          <p:nvCxnSpPr>
            <p:cNvPr id="8482" name="Google Shape;8482;p121"/>
            <p:cNvCxnSpPr>
              <a:endCxn id="8379" idx="1"/>
            </p:cNvCxnSpPr>
            <p:nvPr/>
          </p:nvCxnSpPr>
          <p:spPr>
            <a:xfrm>
              <a:off x="1685925" y="4111625"/>
              <a:ext cx="466800" cy="270000"/>
            </a:xfrm>
            <a:prstGeom prst="straightConnector1">
              <a:avLst/>
            </a:prstGeom>
            <a:noFill/>
            <a:ln cap="flat" cmpd="sng" w="9525">
              <a:solidFill>
                <a:schemeClr val="dk1"/>
              </a:solidFill>
              <a:prstDash val="solid"/>
              <a:round/>
              <a:headEnd len="med" w="med" type="none"/>
              <a:tailEnd len="med" w="med" type="none"/>
            </a:ln>
          </p:spPr>
        </p:cxnSp>
      </p:grpSp>
      <p:grpSp>
        <p:nvGrpSpPr>
          <p:cNvPr id="8483" name="Google Shape;8483;p121"/>
          <p:cNvGrpSpPr/>
          <p:nvPr/>
        </p:nvGrpSpPr>
        <p:grpSpPr>
          <a:xfrm>
            <a:off x="1963738" y="4827588"/>
            <a:ext cx="874712" cy="506412"/>
            <a:chOff x="2889" y="1631"/>
            <a:chExt cx="980" cy="743"/>
          </a:xfrm>
        </p:grpSpPr>
        <p:sp>
          <p:nvSpPr>
            <p:cNvPr id="8484" name="Google Shape;8484;p121"/>
            <p:cNvSpPr/>
            <p:nvPr/>
          </p:nvSpPr>
          <p:spPr>
            <a:xfrm>
              <a:off x="3046" y="1841"/>
              <a:ext cx="663" cy="53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485" name="Google Shape;8485;p121"/>
            <p:cNvSpPr/>
            <p:nvPr/>
          </p:nvSpPr>
          <p:spPr>
            <a:xfrm>
              <a:off x="2889" y="1631"/>
              <a:ext cx="980" cy="254"/>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CCFF"/>
                </a:solidFill>
                <a:latin typeface="Arial"/>
                <a:ea typeface="Arial"/>
                <a:cs typeface="Arial"/>
                <a:sym typeface="Arial"/>
              </a:endParaRPr>
            </a:p>
          </p:txBody>
        </p:sp>
      </p:grpSp>
      <p:cxnSp>
        <p:nvCxnSpPr>
          <p:cNvPr id="8486" name="Google Shape;8486;p121"/>
          <p:cNvCxnSpPr/>
          <p:nvPr/>
        </p:nvCxnSpPr>
        <p:spPr>
          <a:xfrm flipH="1" rot="10800000">
            <a:off x="2686051" y="5280026"/>
            <a:ext cx="144463" cy="3175"/>
          </a:xfrm>
          <a:prstGeom prst="straightConnector1">
            <a:avLst/>
          </a:prstGeom>
          <a:noFill/>
          <a:ln cap="flat" cmpd="sng" w="9525">
            <a:solidFill>
              <a:schemeClr val="dk1"/>
            </a:solidFill>
            <a:prstDash val="solid"/>
            <a:round/>
            <a:headEnd len="med" w="med" type="none"/>
            <a:tailEnd len="med" w="med" type="none"/>
          </a:ln>
        </p:spPr>
      </p:cxnSp>
      <p:sp>
        <p:nvSpPr>
          <p:cNvPr id="8487" name="Google Shape;8487;p121"/>
          <p:cNvSpPr txBox="1"/>
          <p:nvPr>
            <p:ph idx="1" type="body"/>
          </p:nvPr>
        </p:nvSpPr>
        <p:spPr>
          <a:xfrm>
            <a:off x="1157280" y="2197875"/>
            <a:ext cx="9113837" cy="1306512"/>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Font typeface="Noto Sans Symbols"/>
              <a:buChar char="▪"/>
            </a:pPr>
            <a:r>
              <a:rPr lang="en-US">
                <a:latin typeface="Calibri"/>
                <a:ea typeface="Calibri"/>
                <a:cs typeface="Calibri"/>
                <a:sym typeface="Calibri"/>
              </a:rPr>
              <a:t>subscriber requests content from CDN</a:t>
            </a:r>
            <a:endParaRPr/>
          </a:p>
        </p:txBody>
      </p:sp>
      <p:sp>
        <p:nvSpPr>
          <p:cNvPr id="8488" name="Google Shape;8488;p12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Content distribution </a:t>
            </a:r>
            <a:r>
              <a:rPr lang="en-US"/>
              <a:t>n</a:t>
            </a:r>
            <a:r>
              <a:rPr lang="en-US" sz="4400"/>
              <a:t>etworks (CDNs)</a:t>
            </a:r>
            <a:endParaRPr/>
          </a:p>
        </p:txBody>
      </p:sp>
      <p:grpSp>
        <p:nvGrpSpPr>
          <p:cNvPr id="8489" name="Google Shape;8489;p121"/>
          <p:cNvGrpSpPr/>
          <p:nvPr/>
        </p:nvGrpSpPr>
        <p:grpSpPr>
          <a:xfrm>
            <a:off x="4745038" y="5776913"/>
            <a:ext cx="349250" cy="679450"/>
            <a:chOff x="7923189" y="2486664"/>
            <a:chExt cx="360377" cy="884585"/>
          </a:xfrm>
        </p:grpSpPr>
        <p:pic>
          <p:nvPicPr>
            <p:cNvPr id="8490" name="Google Shape;8490;p121"/>
            <p:cNvPicPr preferRelativeResize="0"/>
            <p:nvPr/>
          </p:nvPicPr>
          <p:blipFill rotWithShape="1">
            <a:blip r:embed="rId3">
              <a:alphaModFix/>
            </a:blip>
            <a:srcRect b="0" l="0" r="0" t="0"/>
            <a:stretch/>
          </p:blipFill>
          <p:spPr>
            <a:xfrm>
              <a:off x="8043998" y="2486664"/>
              <a:ext cx="239568" cy="536525"/>
            </a:xfrm>
            <a:prstGeom prst="rect">
              <a:avLst/>
            </a:prstGeom>
            <a:noFill/>
            <a:ln>
              <a:noFill/>
            </a:ln>
          </p:spPr>
        </p:pic>
        <p:grpSp>
          <p:nvGrpSpPr>
            <p:cNvPr id="8491" name="Google Shape;8491;p121"/>
            <p:cNvGrpSpPr/>
            <p:nvPr/>
          </p:nvGrpSpPr>
          <p:grpSpPr>
            <a:xfrm>
              <a:off x="7923189" y="2890236"/>
              <a:ext cx="227012" cy="481013"/>
              <a:chOff x="4140" y="429"/>
              <a:chExt cx="1425" cy="2396"/>
            </a:xfrm>
          </p:grpSpPr>
          <p:sp>
            <p:nvSpPr>
              <p:cNvPr id="8492" name="Google Shape;8492;p1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493" name="Google Shape;8493;p121"/>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494" name="Google Shape;8494;p1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495" name="Google Shape;8495;p1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496" name="Google Shape;8496;p121"/>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497" name="Google Shape;8497;p121"/>
              <p:cNvGrpSpPr/>
              <p:nvPr/>
            </p:nvGrpSpPr>
            <p:grpSpPr>
              <a:xfrm>
                <a:off x="4748" y="666"/>
                <a:ext cx="578" cy="150"/>
                <a:chOff x="613" y="2566"/>
                <a:chExt cx="721" cy="144"/>
              </a:xfrm>
            </p:grpSpPr>
            <p:sp>
              <p:nvSpPr>
                <p:cNvPr id="8498" name="Google Shape;8498;p121"/>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499" name="Google Shape;8499;p121"/>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500" name="Google Shape;8500;p121"/>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501" name="Google Shape;8501;p121"/>
              <p:cNvGrpSpPr/>
              <p:nvPr/>
            </p:nvGrpSpPr>
            <p:grpSpPr>
              <a:xfrm>
                <a:off x="4748" y="990"/>
                <a:ext cx="578" cy="134"/>
                <a:chOff x="615" y="2564"/>
                <a:chExt cx="721" cy="139"/>
              </a:xfrm>
            </p:grpSpPr>
            <p:sp>
              <p:nvSpPr>
                <p:cNvPr id="8502" name="Google Shape;8502;p121"/>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03" name="Google Shape;8503;p121"/>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504" name="Google Shape;8504;p121"/>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05" name="Google Shape;8505;p121"/>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506" name="Google Shape;8506;p121"/>
              <p:cNvGrpSpPr/>
              <p:nvPr/>
            </p:nvGrpSpPr>
            <p:grpSpPr>
              <a:xfrm>
                <a:off x="4738" y="1647"/>
                <a:ext cx="578" cy="135"/>
                <a:chOff x="618" y="2586"/>
                <a:chExt cx="720" cy="124"/>
              </a:xfrm>
            </p:grpSpPr>
            <p:sp>
              <p:nvSpPr>
                <p:cNvPr id="8507" name="Google Shape;8507;p121"/>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08" name="Google Shape;8508;p121"/>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509" name="Google Shape;8509;p1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nvGrpSpPr>
              <p:cNvPr id="8510" name="Google Shape;8510;p121"/>
              <p:cNvGrpSpPr/>
              <p:nvPr/>
            </p:nvGrpSpPr>
            <p:grpSpPr>
              <a:xfrm>
                <a:off x="4738" y="1330"/>
                <a:ext cx="588" cy="134"/>
                <a:chOff x="613" y="2571"/>
                <a:chExt cx="732" cy="134"/>
              </a:xfrm>
            </p:grpSpPr>
            <p:sp>
              <p:nvSpPr>
                <p:cNvPr id="8511" name="Google Shape;8511;p121"/>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12" name="Google Shape;8512;p121"/>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513" name="Google Shape;8513;p121"/>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14" name="Google Shape;8514;p1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15" name="Google Shape;8515;p1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16" name="Google Shape;8516;p121"/>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17" name="Google Shape;8517;p1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18" name="Google Shape;8518;p121"/>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19" name="Google Shape;8519;p121"/>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20" name="Google Shape;8520;p121"/>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21" name="Google Shape;8521;p121"/>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8522" name="Google Shape;8522;p121"/>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23" name="Google Shape;8523;p121"/>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grpSp>
      <p:grpSp>
        <p:nvGrpSpPr>
          <p:cNvPr id="8524" name="Google Shape;8524;p121"/>
          <p:cNvGrpSpPr/>
          <p:nvPr/>
        </p:nvGrpSpPr>
        <p:grpSpPr>
          <a:xfrm>
            <a:off x="5911851" y="3556000"/>
            <a:ext cx="347663" cy="679450"/>
            <a:chOff x="7923189" y="2486664"/>
            <a:chExt cx="360377" cy="884585"/>
          </a:xfrm>
        </p:grpSpPr>
        <p:pic>
          <p:nvPicPr>
            <p:cNvPr id="8525" name="Google Shape;8525;p121"/>
            <p:cNvPicPr preferRelativeResize="0"/>
            <p:nvPr/>
          </p:nvPicPr>
          <p:blipFill rotWithShape="1">
            <a:blip r:embed="rId3">
              <a:alphaModFix/>
            </a:blip>
            <a:srcRect b="0" l="0" r="0" t="0"/>
            <a:stretch/>
          </p:blipFill>
          <p:spPr>
            <a:xfrm>
              <a:off x="8043998" y="2486664"/>
              <a:ext cx="239568" cy="536525"/>
            </a:xfrm>
            <a:prstGeom prst="rect">
              <a:avLst/>
            </a:prstGeom>
            <a:noFill/>
            <a:ln>
              <a:noFill/>
            </a:ln>
          </p:spPr>
        </p:pic>
        <p:grpSp>
          <p:nvGrpSpPr>
            <p:cNvPr id="8526" name="Google Shape;8526;p121"/>
            <p:cNvGrpSpPr/>
            <p:nvPr/>
          </p:nvGrpSpPr>
          <p:grpSpPr>
            <a:xfrm>
              <a:off x="7923189" y="2890236"/>
              <a:ext cx="227012" cy="481013"/>
              <a:chOff x="4140" y="429"/>
              <a:chExt cx="1425" cy="2396"/>
            </a:xfrm>
          </p:grpSpPr>
          <p:sp>
            <p:nvSpPr>
              <p:cNvPr id="8527" name="Google Shape;8527;p1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28" name="Google Shape;8528;p121"/>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29" name="Google Shape;8529;p1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30" name="Google Shape;8530;p1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31" name="Google Shape;8531;p121"/>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532" name="Google Shape;8532;p121"/>
              <p:cNvGrpSpPr/>
              <p:nvPr/>
            </p:nvGrpSpPr>
            <p:grpSpPr>
              <a:xfrm>
                <a:off x="4748" y="666"/>
                <a:ext cx="578" cy="150"/>
                <a:chOff x="613" y="2566"/>
                <a:chExt cx="721" cy="144"/>
              </a:xfrm>
            </p:grpSpPr>
            <p:sp>
              <p:nvSpPr>
                <p:cNvPr id="8533" name="Google Shape;8533;p121"/>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34" name="Google Shape;8534;p121"/>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535" name="Google Shape;8535;p121"/>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536" name="Google Shape;8536;p121"/>
              <p:cNvGrpSpPr/>
              <p:nvPr/>
            </p:nvGrpSpPr>
            <p:grpSpPr>
              <a:xfrm>
                <a:off x="4748" y="990"/>
                <a:ext cx="578" cy="134"/>
                <a:chOff x="615" y="2564"/>
                <a:chExt cx="721" cy="139"/>
              </a:xfrm>
            </p:grpSpPr>
            <p:sp>
              <p:nvSpPr>
                <p:cNvPr id="8537" name="Google Shape;8537;p121"/>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38" name="Google Shape;8538;p121"/>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539" name="Google Shape;8539;p121"/>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40" name="Google Shape;8540;p121"/>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541" name="Google Shape;8541;p121"/>
              <p:cNvGrpSpPr/>
              <p:nvPr/>
            </p:nvGrpSpPr>
            <p:grpSpPr>
              <a:xfrm>
                <a:off x="4738" y="1647"/>
                <a:ext cx="578" cy="135"/>
                <a:chOff x="618" y="2586"/>
                <a:chExt cx="720" cy="124"/>
              </a:xfrm>
            </p:grpSpPr>
            <p:sp>
              <p:nvSpPr>
                <p:cNvPr id="8542" name="Google Shape;8542;p121"/>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43" name="Google Shape;8543;p121"/>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544" name="Google Shape;8544;p1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nvGrpSpPr>
              <p:cNvPr id="8545" name="Google Shape;8545;p121"/>
              <p:cNvGrpSpPr/>
              <p:nvPr/>
            </p:nvGrpSpPr>
            <p:grpSpPr>
              <a:xfrm>
                <a:off x="4738" y="1330"/>
                <a:ext cx="588" cy="134"/>
                <a:chOff x="613" y="2571"/>
                <a:chExt cx="732" cy="134"/>
              </a:xfrm>
            </p:grpSpPr>
            <p:sp>
              <p:nvSpPr>
                <p:cNvPr id="8546" name="Google Shape;8546;p121"/>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47" name="Google Shape;8547;p121"/>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548" name="Google Shape;8548;p121"/>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49" name="Google Shape;8549;p1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50" name="Google Shape;8550;p1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51" name="Google Shape;8551;p121"/>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52" name="Google Shape;8552;p1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53" name="Google Shape;8553;p121"/>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54" name="Google Shape;8554;p121"/>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55" name="Google Shape;8555;p121"/>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56" name="Google Shape;8556;p121"/>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8557" name="Google Shape;8557;p121"/>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58" name="Google Shape;8558;p121"/>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grpSp>
      <p:grpSp>
        <p:nvGrpSpPr>
          <p:cNvPr id="8559" name="Google Shape;8559;p121"/>
          <p:cNvGrpSpPr/>
          <p:nvPr/>
        </p:nvGrpSpPr>
        <p:grpSpPr>
          <a:xfrm>
            <a:off x="6608763" y="5611814"/>
            <a:ext cx="347662" cy="681037"/>
            <a:chOff x="7923189" y="2486664"/>
            <a:chExt cx="360377" cy="884585"/>
          </a:xfrm>
        </p:grpSpPr>
        <p:pic>
          <p:nvPicPr>
            <p:cNvPr id="8560" name="Google Shape;8560;p121"/>
            <p:cNvPicPr preferRelativeResize="0"/>
            <p:nvPr/>
          </p:nvPicPr>
          <p:blipFill rotWithShape="1">
            <a:blip r:embed="rId3">
              <a:alphaModFix/>
            </a:blip>
            <a:srcRect b="0" l="0" r="0" t="0"/>
            <a:stretch/>
          </p:blipFill>
          <p:spPr>
            <a:xfrm>
              <a:off x="8043998" y="2486664"/>
              <a:ext cx="239568" cy="536525"/>
            </a:xfrm>
            <a:prstGeom prst="rect">
              <a:avLst/>
            </a:prstGeom>
            <a:noFill/>
            <a:ln>
              <a:noFill/>
            </a:ln>
          </p:spPr>
        </p:pic>
        <p:grpSp>
          <p:nvGrpSpPr>
            <p:cNvPr id="8561" name="Google Shape;8561;p121"/>
            <p:cNvGrpSpPr/>
            <p:nvPr/>
          </p:nvGrpSpPr>
          <p:grpSpPr>
            <a:xfrm>
              <a:off x="7923189" y="2890236"/>
              <a:ext cx="227012" cy="481013"/>
              <a:chOff x="4140" y="429"/>
              <a:chExt cx="1425" cy="2396"/>
            </a:xfrm>
          </p:grpSpPr>
          <p:sp>
            <p:nvSpPr>
              <p:cNvPr id="8562" name="Google Shape;8562;p1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63" name="Google Shape;8563;p121"/>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64" name="Google Shape;8564;p1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65" name="Google Shape;8565;p1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66" name="Google Shape;8566;p121"/>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567" name="Google Shape;8567;p121"/>
              <p:cNvGrpSpPr/>
              <p:nvPr/>
            </p:nvGrpSpPr>
            <p:grpSpPr>
              <a:xfrm>
                <a:off x="4748" y="666"/>
                <a:ext cx="578" cy="150"/>
                <a:chOff x="613" y="2566"/>
                <a:chExt cx="721" cy="144"/>
              </a:xfrm>
            </p:grpSpPr>
            <p:sp>
              <p:nvSpPr>
                <p:cNvPr id="8568" name="Google Shape;8568;p121"/>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69" name="Google Shape;8569;p121"/>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570" name="Google Shape;8570;p121"/>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571" name="Google Shape;8571;p121"/>
              <p:cNvGrpSpPr/>
              <p:nvPr/>
            </p:nvGrpSpPr>
            <p:grpSpPr>
              <a:xfrm>
                <a:off x="4748" y="990"/>
                <a:ext cx="578" cy="134"/>
                <a:chOff x="615" y="2564"/>
                <a:chExt cx="721" cy="139"/>
              </a:xfrm>
            </p:grpSpPr>
            <p:sp>
              <p:nvSpPr>
                <p:cNvPr id="8572" name="Google Shape;8572;p121"/>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73" name="Google Shape;8573;p121"/>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574" name="Google Shape;8574;p121"/>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75" name="Google Shape;8575;p121"/>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576" name="Google Shape;8576;p121"/>
              <p:cNvGrpSpPr/>
              <p:nvPr/>
            </p:nvGrpSpPr>
            <p:grpSpPr>
              <a:xfrm>
                <a:off x="4738" y="1647"/>
                <a:ext cx="578" cy="135"/>
                <a:chOff x="618" y="2586"/>
                <a:chExt cx="720" cy="124"/>
              </a:xfrm>
            </p:grpSpPr>
            <p:sp>
              <p:nvSpPr>
                <p:cNvPr id="8577" name="Google Shape;8577;p121"/>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78" name="Google Shape;8578;p121"/>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579" name="Google Shape;8579;p1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nvGrpSpPr>
              <p:cNvPr id="8580" name="Google Shape;8580;p121"/>
              <p:cNvGrpSpPr/>
              <p:nvPr/>
            </p:nvGrpSpPr>
            <p:grpSpPr>
              <a:xfrm>
                <a:off x="4738" y="1330"/>
                <a:ext cx="588" cy="134"/>
                <a:chOff x="613" y="2571"/>
                <a:chExt cx="732" cy="134"/>
              </a:xfrm>
            </p:grpSpPr>
            <p:sp>
              <p:nvSpPr>
                <p:cNvPr id="8581" name="Google Shape;8581;p121"/>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82" name="Google Shape;8582;p121"/>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583" name="Google Shape;8583;p121"/>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84" name="Google Shape;8584;p1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85" name="Google Shape;8585;p1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86" name="Google Shape;8586;p121"/>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87" name="Google Shape;8587;p1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88" name="Google Shape;8588;p121"/>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89" name="Google Shape;8589;p121"/>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90" name="Google Shape;8590;p121"/>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91" name="Google Shape;8591;p121"/>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8592" name="Google Shape;8592;p121"/>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93" name="Google Shape;8593;p121"/>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grpSp>
      <p:grpSp>
        <p:nvGrpSpPr>
          <p:cNvPr id="8594" name="Google Shape;8594;p121"/>
          <p:cNvGrpSpPr/>
          <p:nvPr/>
        </p:nvGrpSpPr>
        <p:grpSpPr>
          <a:xfrm>
            <a:off x="7591426" y="3829050"/>
            <a:ext cx="347663" cy="681038"/>
            <a:chOff x="7923189" y="2486664"/>
            <a:chExt cx="360377" cy="884585"/>
          </a:xfrm>
        </p:grpSpPr>
        <p:pic>
          <p:nvPicPr>
            <p:cNvPr id="8595" name="Google Shape;8595;p121"/>
            <p:cNvPicPr preferRelativeResize="0"/>
            <p:nvPr/>
          </p:nvPicPr>
          <p:blipFill rotWithShape="1">
            <a:blip r:embed="rId3">
              <a:alphaModFix/>
            </a:blip>
            <a:srcRect b="0" l="0" r="0" t="0"/>
            <a:stretch/>
          </p:blipFill>
          <p:spPr>
            <a:xfrm>
              <a:off x="8043998" y="2486664"/>
              <a:ext cx="239568" cy="536525"/>
            </a:xfrm>
            <a:prstGeom prst="rect">
              <a:avLst/>
            </a:prstGeom>
            <a:noFill/>
            <a:ln>
              <a:noFill/>
            </a:ln>
          </p:spPr>
        </p:pic>
        <p:grpSp>
          <p:nvGrpSpPr>
            <p:cNvPr id="8596" name="Google Shape;8596;p121"/>
            <p:cNvGrpSpPr/>
            <p:nvPr/>
          </p:nvGrpSpPr>
          <p:grpSpPr>
            <a:xfrm>
              <a:off x="7923189" y="2890236"/>
              <a:ext cx="227012" cy="481013"/>
              <a:chOff x="4140" y="429"/>
              <a:chExt cx="1425" cy="2396"/>
            </a:xfrm>
          </p:grpSpPr>
          <p:sp>
            <p:nvSpPr>
              <p:cNvPr id="8597" name="Google Shape;8597;p1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598" name="Google Shape;8598;p121"/>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599" name="Google Shape;8599;p1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00" name="Google Shape;8600;p1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01" name="Google Shape;8601;p121"/>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602" name="Google Shape;8602;p121"/>
              <p:cNvGrpSpPr/>
              <p:nvPr/>
            </p:nvGrpSpPr>
            <p:grpSpPr>
              <a:xfrm>
                <a:off x="4748" y="666"/>
                <a:ext cx="578" cy="150"/>
                <a:chOff x="613" y="2566"/>
                <a:chExt cx="721" cy="144"/>
              </a:xfrm>
            </p:grpSpPr>
            <p:sp>
              <p:nvSpPr>
                <p:cNvPr id="8603" name="Google Shape;8603;p121"/>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04" name="Google Shape;8604;p121"/>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605" name="Google Shape;8605;p121"/>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606" name="Google Shape;8606;p121"/>
              <p:cNvGrpSpPr/>
              <p:nvPr/>
            </p:nvGrpSpPr>
            <p:grpSpPr>
              <a:xfrm>
                <a:off x="4748" y="990"/>
                <a:ext cx="578" cy="134"/>
                <a:chOff x="615" y="2564"/>
                <a:chExt cx="721" cy="139"/>
              </a:xfrm>
            </p:grpSpPr>
            <p:sp>
              <p:nvSpPr>
                <p:cNvPr id="8607" name="Google Shape;8607;p121"/>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08" name="Google Shape;8608;p121"/>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609" name="Google Shape;8609;p121"/>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10" name="Google Shape;8610;p121"/>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611" name="Google Shape;8611;p121"/>
              <p:cNvGrpSpPr/>
              <p:nvPr/>
            </p:nvGrpSpPr>
            <p:grpSpPr>
              <a:xfrm>
                <a:off x="4738" y="1647"/>
                <a:ext cx="578" cy="135"/>
                <a:chOff x="618" y="2586"/>
                <a:chExt cx="720" cy="124"/>
              </a:xfrm>
            </p:grpSpPr>
            <p:sp>
              <p:nvSpPr>
                <p:cNvPr id="8612" name="Google Shape;8612;p121"/>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13" name="Google Shape;8613;p121"/>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614" name="Google Shape;8614;p1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nvGrpSpPr>
              <p:cNvPr id="8615" name="Google Shape;8615;p121"/>
              <p:cNvGrpSpPr/>
              <p:nvPr/>
            </p:nvGrpSpPr>
            <p:grpSpPr>
              <a:xfrm>
                <a:off x="4738" y="1330"/>
                <a:ext cx="588" cy="134"/>
                <a:chOff x="613" y="2571"/>
                <a:chExt cx="732" cy="134"/>
              </a:xfrm>
            </p:grpSpPr>
            <p:sp>
              <p:nvSpPr>
                <p:cNvPr id="8616" name="Google Shape;8616;p121"/>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17" name="Google Shape;8617;p121"/>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618" name="Google Shape;8618;p121"/>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19" name="Google Shape;8619;p1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20" name="Google Shape;8620;p1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21" name="Google Shape;8621;p121"/>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22" name="Google Shape;8622;p1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23" name="Google Shape;8623;p121"/>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24" name="Google Shape;8624;p121"/>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25" name="Google Shape;8625;p121"/>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26" name="Google Shape;8626;p121"/>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8627" name="Google Shape;8627;p121"/>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28" name="Google Shape;8628;p121"/>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grpSp>
      <p:grpSp>
        <p:nvGrpSpPr>
          <p:cNvPr id="8629" name="Google Shape;8629;p121"/>
          <p:cNvGrpSpPr/>
          <p:nvPr/>
        </p:nvGrpSpPr>
        <p:grpSpPr>
          <a:xfrm>
            <a:off x="3646488" y="5629275"/>
            <a:ext cx="347662" cy="681038"/>
            <a:chOff x="7923189" y="2486664"/>
            <a:chExt cx="360377" cy="884585"/>
          </a:xfrm>
        </p:grpSpPr>
        <p:pic>
          <p:nvPicPr>
            <p:cNvPr id="8630" name="Google Shape;8630;p121"/>
            <p:cNvPicPr preferRelativeResize="0"/>
            <p:nvPr/>
          </p:nvPicPr>
          <p:blipFill rotWithShape="1">
            <a:blip r:embed="rId3">
              <a:alphaModFix/>
            </a:blip>
            <a:srcRect b="0" l="0" r="0" t="0"/>
            <a:stretch/>
          </p:blipFill>
          <p:spPr>
            <a:xfrm>
              <a:off x="8043998" y="2486664"/>
              <a:ext cx="239568" cy="536525"/>
            </a:xfrm>
            <a:prstGeom prst="rect">
              <a:avLst/>
            </a:prstGeom>
            <a:noFill/>
            <a:ln>
              <a:noFill/>
            </a:ln>
          </p:spPr>
        </p:pic>
        <p:grpSp>
          <p:nvGrpSpPr>
            <p:cNvPr id="8631" name="Google Shape;8631;p121"/>
            <p:cNvGrpSpPr/>
            <p:nvPr/>
          </p:nvGrpSpPr>
          <p:grpSpPr>
            <a:xfrm>
              <a:off x="7923189" y="2890236"/>
              <a:ext cx="227012" cy="481013"/>
              <a:chOff x="4140" y="429"/>
              <a:chExt cx="1425" cy="2396"/>
            </a:xfrm>
          </p:grpSpPr>
          <p:sp>
            <p:nvSpPr>
              <p:cNvPr id="8632" name="Google Shape;8632;p1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33" name="Google Shape;8633;p121"/>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34" name="Google Shape;8634;p1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35" name="Google Shape;8635;p1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36" name="Google Shape;8636;p121"/>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637" name="Google Shape;8637;p121"/>
              <p:cNvGrpSpPr/>
              <p:nvPr/>
            </p:nvGrpSpPr>
            <p:grpSpPr>
              <a:xfrm>
                <a:off x="4748" y="666"/>
                <a:ext cx="578" cy="150"/>
                <a:chOff x="613" y="2566"/>
                <a:chExt cx="721" cy="144"/>
              </a:xfrm>
            </p:grpSpPr>
            <p:sp>
              <p:nvSpPr>
                <p:cNvPr id="8638" name="Google Shape;8638;p121"/>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39" name="Google Shape;8639;p121"/>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640" name="Google Shape;8640;p121"/>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641" name="Google Shape;8641;p121"/>
              <p:cNvGrpSpPr/>
              <p:nvPr/>
            </p:nvGrpSpPr>
            <p:grpSpPr>
              <a:xfrm>
                <a:off x="4748" y="990"/>
                <a:ext cx="578" cy="134"/>
                <a:chOff x="615" y="2564"/>
                <a:chExt cx="721" cy="139"/>
              </a:xfrm>
            </p:grpSpPr>
            <p:sp>
              <p:nvSpPr>
                <p:cNvPr id="8642" name="Google Shape;8642;p121"/>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43" name="Google Shape;8643;p121"/>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644" name="Google Shape;8644;p121"/>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45" name="Google Shape;8645;p121"/>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646" name="Google Shape;8646;p121"/>
              <p:cNvGrpSpPr/>
              <p:nvPr/>
            </p:nvGrpSpPr>
            <p:grpSpPr>
              <a:xfrm>
                <a:off x="4738" y="1647"/>
                <a:ext cx="578" cy="135"/>
                <a:chOff x="618" y="2586"/>
                <a:chExt cx="720" cy="124"/>
              </a:xfrm>
            </p:grpSpPr>
            <p:sp>
              <p:nvSpPr>
                <p:cNvPr id="8647" name="Google Shape;8647;p121"/>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48" name="Google Shape;8648;p121"/>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649" name="Google Shape;8649;p1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nvGrpSpPr>
              <p:cNvPr id="8650" name="Google Shape;8650;p121"/>
              <p:cNvGrpSpPr/>
              <p:nvPr/>
            </p:nvGrpSpPr>
            <p:grpSpPr>
              <a:xfrm>
                <a:off x="4738" y="1330"/>
                <a:ext cx="588" cy="134"/>
                <a:chOff x="613" y="2571"/>
                <a:chExt cx="732" cy="134"/>
              </a:xfrm>
            </p:grpSpPr>
            <p:sp>
              <p:nvSpPr>
                <p:cNvPr id="8651" name="Google Shape;8651;p121"/>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52" name="Google Shape;8652;p121"/>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653" name="Google Shape;8653;p121"/>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54" name="Google Shape;8654;p1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55" name="Google Shape;8655;p1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56" name="Google Shape;8656;p121"/>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57" name="Google Shape;8657;p1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58" name="Google Shape;8658;p121"/>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59" name="Google Shape;8659;p121"/>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60" name="Google Shape;8660;p121"/>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61" name="Google Shape;8661;p121"/>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8662" name="Google Shape;8662;p121"/>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63" name="Google Shape;8663;p121"/>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grpSp>
      <p:grpSp>
        <p:nvGrpSpPr>
          <p:cNvPr id="8664" name="Google Shape;8664;p121"/>
          <p:cNvGrpSpPr/>
          <p:nvPr/>
        </p:nvGrpSpPr>
        <p:grpSpPr>
          <a:xfrm>
            <a:off x="9231313" y="4368777"/>
            <a:ext cx="990600" cy="731861"/>
            <a:chOff x="7707615" y="4368869"/>
            <a:chExt cx="990551" cy="731658"/>
          </a:xfrm>
        </p:grpSpPr>
        <p:pic>
          <p:nvPicPr>
            <p:cNvPr id="8665" name="Google Shape;8665;p121"/>
            <p:cNvPicPr preferRelativeResize="0"/>
            <p:nvPr/>
          </p:nvPicPr>
          <p:blipFill rotWithShape="1">
            <a:blip r:embed="rId4">
              <a:alphaModFix/>
            </a:blip>
            <a:srcRect b="0" l="0" r="0" t="0"/>
            <a:stretch/>
          </p:blipFill>
          <p:spPr>
            <a:xfrm>
              <a:off x="7771833" y="4640202"/>
              <a:ext cx="822008" cy="460325"/>
            </a:xfrm>
            <a:prstGeom prst="rect">
              <a:avLst/>
            </a:prstGeom>
            <a:noFill/>
            <a:ln>
              <a:noFill/>
            </a:ln>
          </p:spPr>
        </p:pic>
        <p:grpSp>
          <p:nvGrpSpPr>
            <p:cNvPr id="8666" name="Google Shape;8666;p121"/>
            <p:cNvGrpSpPr/>
            <p:nvPr/>
          </p:nvGrpSpPr>
          <p:grpSpPr>
            <a:xfrm flipH="1">
              <a:off x="7707615" y="4368892"/>
              <a:ext cx="225477" cy="395239"/>
              <a:chOff x="4143" y="429"/>
              <a:chExt cx="1422" cy="2392"/>
            </a:xfrm>
          </p:grpSpPr>
          <p:sp>
            <p:nvSpPr>
              <p:cNvPr id="8667" name="Google Shape;8667;p1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68" name="Google Shape;8668;p121"/>
              <p:cNvSpPr/>
              <p:nvPr/>
            </p:nvSpPr>
            <p:spPr>
              <a:xfrm>
                <a:off x="4203" y="429"/>
                <a:ext cx="1051" cy="227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69" name="Google Shape;8669;p1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70" name="Google Shape;8670;p1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71" name="Google Shape;8671;p121"/>
              <p:cNvSpPr/>
              <p:nvPr/>
            </p:nvSpPr>
            <p:spPr>
              <a:xfrm>
                <a:off x="4213" y="688"/>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672" name="Google Shape;8672;p121"/>
              <p:cNvGrpSpPr/>
              <p:nvPr/>
            </p:nvGrpSpPr>
            <p:grpSpPr>
              <a:xfrm>
                <a:off x="4754" y="669"/>
                <a:ext cx="581" cy="144"/>
                <a:chOff x="620" y="2569"/>
                <a:chExt cx="725" cy="138"/>
              </a:xfrm>
            </p:grpSpPr>
            <p:sp>
              <p:nvSpPr>
                <p:cNvPr id="8673" name="Google Shape;8673;p121"/>
                <p:cNvSpPr/>
                <p:nvPr/>
              </p:nvSpPr>
              <p:spPr>
                <a:xfrm>
                  <a:off x="620" y="2569"/>
                  <a:ext cx="725"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74" name="Google Shape;8674;p121"/>
                <p:cNvSpPr/>
                <p:nvPr/>
              </p:nvSpPr>
              <p:spPr>
                <a:xfrm>
                  <a:off x="645" y="2587"/>
                  <a:ext cx="700"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675" name="Google Shape;8675;p121"/>
              <p:cNvSpPr/>
              <p:nvPr/>
            </p:nvSpPr>
            <p:spPr>
              <a:xfrm>
                <a:off x="4223" y="1015"/>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676" name="Google Shape;8676;p121"/>
              <p:cNvGrpSpPr/>
              <p:nvPr/>
            </p:nvGrpSpPr>
            <p:grpSpPr>
              <a:xfrm>
                <a:off x="4744" y="996"/>
                <a:ext cx="581" cy="134"/>
                <a:chOff x="610" y="2570"/>
                <a:chExt cx="725" cy="139"/>
              </a:xfrm>
            </p:grpSpPr>
            <p:sp>
              <p:nvSpPr>
                <p:cNvPr id="8677" name="Google Shape;8677;p121"/>
                <p:cNvSpPr/>
                <p:nvPr/>
              </p:nvSpPr>
              <p:spPr>
                <a:xfrm>
                  <a:off x="610" y="2570"/>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78" name="Google Shape;8678;p121"/>
                <p:cNvSpPr/>
                <p:nvPr/>
              </p:nvSpPr>
              <p:spPr>
                <a:xfrm>
                  <a:off x="623" y="2590"/>
                  <a:ext cx="687"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679" name="Google Shape;8679;p121"/>
              <p:cNvSpPr/>
              <p:nvPr/>
            </p:nvSpPr>
            <p:spPr>
              <a:xfrm>
                <a:off x="4223" y="1361"/>
                <a:ext cx="591" cy="3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80" name="Google Shape;8680;p121"/>
              <p:cNvSpPr/>
              <p:nvPr/>
            </p:nvSpPr>
            <p:spPr>
              <a:xfrm>
                <a:off x="4234" y="1649"/>
                <a:ext cx="59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681" name="Google Shape;8681;p121"/>
              <p:cNvGrpSpPr/>
              <p:nvPr/>
            </p:nvGrpSpPr>
            <p:grpSpPr>
              <a:xfrm>
                <a:off x="4734" y="1629"/>
                <a:ext cx="571" cy="144"/>
                <a:chOff x="613" y="2570"/>
                <a:chExt cx="711" cy="133"/>
              </a:xfrm>
            </p:grpSpPr>
            <p:sp>
              <p:nvSpPr>
                <p:cNvPr id="8682" name="Google Shape;8682;p121"/>
                <p:cNvSpPr/>
                <p:nvPr/>
              </p:nvSpPr>
              <p:spPr>
                <a:xfrm>
                  <a:off x="613" y="2570"/>
                  <a:ext cx="711" cy="13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83" name="Google Shape;8683;p121"/>
                <p:cNvSpPr/>
                <p:nvPr/>
              </p:nvSpPr>
              <p:spPr>
                <a:xfrm>
                  <a:off x="625" y="2588"/>
                  <a:ext cx="673"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684" name="Google Shape;8684;p1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nvGrpSpPr>
              <p:cNvPr id="8685" name="Google Shape;8685;p121"/>
              <p:cNvGrpSpPr/>
              <p:nvPr/>
            </p:nvGrpSpPr>
            <p:grpSpPr>
              <a:xfrm>
                <a:off x="4744" y="1303"/>
                <a:ext cx="580" cy="163"/>
                <a:chOff x="620" y="2544"/>
                <a:chExt cx="723" cy="163"/>
              </a:xfrm>
            </p:grpSpPr>
            <p:sp>
              <p:nvSpPr>
                <p:cNvPr id="8686" name="Google Shape;8686;p121"/>
                <p:cNvSpPr/>
                <p:nvPr/>
              </p:nvSpPr>
              <p:spPr>
                <a:xfrm>
                  <a:off x="620" y="2544"/>
                  <a:ext cx="723" cy="16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87" name="Google Shape;8687;p121"/>
                <p:cNvSpPr/>
                <p:nvPr/>
              </p:nvSpPr>
              <p:spPr>
                <a:xfrm>
                  <a:off x="645" y="2582"/>
                  <a:ext cx="673" cy="11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688" name="Google Shape;8688;p121"/>
              <p:cNvSpPr/>
              <p:nvPr/>
            </p:nvSpPr>
            <p:spPr>
              <a:xfrm>
                <a:off x="5255" y="429"/>
                <a:ext cx="60"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89" name="Google Shape;8689;p1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90" name="Google Shape;8690;p1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91" name="Google Shape;8691;p121"/>
              <p:cNvSpPr/>
              <p:nvPr/>
            </p:nvSpPr>
            <p:spPr>
              <a:xfrm>
                <a:off x="5515" y="2609"/>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92" name="Google Shape;8692;p1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693" name="Google Shape;8693;p121"/>
              <p:cNvSpPr/>
              <p:nvPr/>
            </p:nvSpPr>
            <p:spPr>
              <a:xfrm>
                <a:off x="4143" y="2677"/>
                <a:ext cx="1201"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94" name="Google Shape;8694;p121"/>
              <p:cNvSpPr/>
              <p:nvPr/>
            </p:nvSpPr>
            <p:spPr>
              <a:xfrm>
                <a:off x="4203" y="2705"/>
                <a:ext cx="1071" cy="77"/>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95" name="Google Shape;8695;p121"/>
              <p:cNvSpPr/>
              <p:nvPr/>
            </p:nvSpPr>
            <p:spPr>
              <a:xfrm>
                <a:off x="4314" y="2379"/>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96" name="Google Shape;8696;p121"/>
              <p:cNvSpPr/>
              <p:nvPr/>
            </p:nvSpPr>
            <p:spPr>
              <a:xfrm>
                <a:off x="4484" y="2379"/>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0000"/>
                  </a:solidFill>
                  <a:latin typeface="Arial"/>
                  <a:ea typeface="Arial"/>
                  <a:cs typeface="Arial"/>
                  <a:sym typeface="Arial"/>
                </a:endParaRPr>
              </a:p>
            </p:txBody>
          </p:sp>
          <p:sp>
            <p:nvSpPr>
              <p:cNvPr id="8697" name="Google Shape;8697;p121"/>
              <p:cNvSpPr/>
              <p:nvPr/>
            </p:nvSpPr>
            <p:spPr>
              <a:xfrm>
                <a:off x="4664" y="2379"/>
                <a:ext cx="160" cy="13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698" name="Google Shape;8698;p121"/>
              <p:cNvSpPr/>
              <p:nvPr/>
            </p:nvSpPr>
            <p:spPr>
              <a:xfrm>
                <a:off x="5064" y="1831"/>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grpSp>
          <p:nvGrpSpPr>
            <p:cNvPr id="8699" name="Google Shape;8699;p121"/>
            <p:cNvGrpSpPr/>
            <p:nvPr/>
          </p:nvGrpSpPr>
          <p:grpSpPr>
            <a:xfrm flipH="1">
              <a:off x="7939390" y="4368869"/>
              <a:ext cx="227063" cy="396726"/>
              <a:chOff x="4136" y="427"/>
              <a:chExt cx="1432" cy="2401"/>
            </a:xfrm>
          </p:grpSpPr>
          <p:sp>
            <p:nvSpPr>
              <p:cNvPr id="8700" name="Google Shape;8700;p1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01" name="Google Shape;8701;p121"/>
              <p:cNvSpPr/>
              <p:nvPr/>
            </p:nvSpPr>
            <p:spPr>
              <a:xfrm>
                <a:off x="4207" y="427"/>
                <a:ext cx="1051"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02" name="Google Shape;8702;p1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03" name="Google Shape;8703;p1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04" name="Google Shape;8704;p121"/>
              <p:cNvSpPr/>
              <p:nvPr/>
            </p:nvSpPr>
            <p:spPr>
              <a:xfrm>
                <a:off x="4207" y="696"/>
                <a:ext cx="601" cy="3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705" name="Google Shape;8705;p121"/>
              <p:cNvGrpSpPr/>
              <p:nvPr/>
            </p:nvGrpSpPr>
            <p:grpSpPr>
              <a:xfrm>
                <a:off x="4747" y="667"/>
                <a:ext cx="581" cy="144"/>
                <a:chOff x="612" y="2567"/>
                <a:chExt cx="725" cy="138"/>
              </a:xfrm>
            </p:grpSpPr>
            <p:sp>
              <p:nvSpPr>
                <p:cNvPr id="8706" name="Google Shape;8706;p121"/>
                <p:cNvSpPr/>
                <p:nvPr/>
              </p:nvSpPr>
              <p:spPr>
                <a:xfrm>
                  <a:off x="612" y="2567"/>
                  <a:ext cx="725"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07" name="Google Shape;8707;p121"/>
                <p:cNvSpPr/>
                <p:nvPr/>
              </p:nvSpPr>
              <p:spPr>
                <a:xfrm>
                  <a:off x="624" y="2586"/>
                  <a:ext cx="700"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708" name="Google Shape;8708;p121"/>
              <p:cNvSpPr/>
              <p:nvPr/>
            </p:nvSpPr>
            <p:spPr>
              <a:xfrm>
                <a:off x="4227" y="1023"/>
                <a:ext cx="591" cy="3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709" name="Google Shape;8709;p121"/>
              <p:cNvGrpSpPr/>
              <p:nvPr/>
            </p:nvGrpSpPr>
            <p:grpSpPr>
              <a:xfrm>
                <a:off x="4747" y="994"/>
                <a:ext cx="581" cy="134"/>
                <a:chOff x="614" y="2568"/>
                <a:chExt cx="725" cy="139"/>
              </a:xfrm>
            </p:grpSpPr>
            <p:sp>
              <p:nvSpPr>
                <p:cNvPr id="8710" name="Google Shape;8710;p121"/>
                <p:cNvSpPr/>
                <p:nvPr/>
              </p:nvSpPr>
              <p:spPr>
                <a:xfrm>
                  <a:off x="614" y="2568"/>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11" name="Google Shape;8711;p121"/>
                <p:cNvSpPr/>
                <p:nvPr/>
              </p:nvSpPr>
              <p:spPr>
                <a:xfrm>
                  <a:off x="627" y="2588"/>
                  <a:ext cx="687"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712" name="Google Shape;8712;p121"/>
              <p:cNvSpPr/>
              <p:nvPr/>
            </p:nvSpPr>
            <p:spPr>
              <a:xfrm>
                <a:off x="4217" y="1359"/>
                <a:ext cx="59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13" name="Google Shape;8713;p121"/>
              <p:cNvSpPr/>
              <p:nvPr/>
            </p:nvSpPr>
            <p:spPr>
              <a:xfrm>
                <a:off x="4227" y="1657"/>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714" name="Google Shape;8714;p121"/>
              <p:cNvGrpSpPr/>
              <p:nvPr/>
            </p:nvGrpSpPr>
            <p:grpSpPr>
              <a:xfrm>
                <a:off x="4737" y="1628"/>
                <a:ext cx="571" cy="153"/>
                <a:chOff x="617" y="2569"/>
                <a:chExt cx="711" cy="141"/>
              </a:xfrm>
            </p:grpSpPr>
            <p:sp>
              <p:nvSpPr>
                <p:cNvPr id="8715" name="Google Shape;8715;p121"/>
                <p:cNvSpPr/>
                <p:nvPr/>
              </p:nvSpPr>
              <p:spPr>
                <a:xfrm>
                  <a:off x="617" y="2569"/>
                  <a:ext cx="711"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16" name="Google Shape;8716;p121"/>
                <p:cNvSpPr/>
                <p:nvPr/>
              </p:nvSpPr>
              <p:spPr>
                <a:xfrm>
                  <a:off x="629" y="2586"/>
                  <a:ext cx="67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717" name="Google Shape;8717;p1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nvGrpSpPr>
              <p:cNvPr id="8718" name="Google Shape;8718;p121"/>
              <p:cNvGrpSpPr/>
              <p:nvPr/>
            </p:nvGrpSpPr>
            <p:grpSpPr>
              <a:xfrm>
                <a:off x="4737" y="1330"/>
                <a:ext cx="611" cy="134"/>
                <a:chOff x="612" y="2571"/>
                <a:chExt cx="761" cy="134"/>
              </a:xfrm>
            </p:grpSpPr>
            <p:sp>
              <p:nvSpPr>
                <p:cNvPr id="8719" name="Google Shape;8719;p121"/>
                <p:cNvSpPr/>
                <p:nvPr/>
              </p:nvSpPr>
              <p:spPr>
                <a:xfrm>
                  <a:off x="612" y="2571"/>
                  <a:ext cx="76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20" name="Google Shape;8720;p121"/>
                <p:cNvSpPr/>
                <p:nvPr/>
              </p:nvSpPr>
              <p:spPr>
                <a:xfrm>
                  <a:off x="624" y="2590"/>
                  <a:ext cx="72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721" name="Google Shape;8721;p121"/>
              <p:cNvSpPr/>
              <p:nvPr/>
            </p:nvSpPr>
            <p:spPr>
              <a:xfrm>
                <a:off x="5248" y="427"/>
                <a:ext cx="70" cy="229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22" name="Google Shape;8722;p1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23" name="Google Shape;8723;p1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24" name="Google Shape;8724;p121"/>
              <p:cNvSpPr/>
              <p:nvPr/>
            </p:nvSpPr>
            <p:spPr>
              <a:xfrm>
                <a:off x="5518" y="2617"/>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25" name="Google Shape;8725;p1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26" name="Google Shape;8726;p121"/>
              <p:cNvSpPr/>
              <p:nvPr/>
            </p:nvSpPr>
            <p:spPr>
              <a:xfrm>
                <a:off x="4136" y="2684"/>
                <a:ext cx="1201"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27" name="Google Shape;8727;p121"/>
              <p:cNvSpPr/>
              <p:nvPr/>
            </p:nvSpPr>
            <p:spPr>
              <a:xfrm>
                <a:off x="4207" y="2713"/>
                <a:ext cx="1071"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28" name="Google Shape;8728;p121"/>
              <p:cNvSpPr/>
              <p:nvPr/>
            </p:nvSpPr>
            <p:spPr>
              <a:xfrm>
                <a:off x="4307" y="2387"/>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29" name="Google Shape;8729;p121"/>
              <p:cNvSpPr/>
              <p:nvPr/>
            </p:nvSpPr>
            <p:spPr>
              <a:xfrm>
                <a:off x="4487" y="2387"/>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0000"/>
                  </a:solidFill>
                  <a:latin typeface="Arial"/>
                  <a:ea typeface="Arial"/>
                  <a:cs typeface="Arial"/>
                  <a:sym typeface="Arial"/>
                </a:endParaRPr>
              </a:p>
            </p:txBody>
          </p:sp>
          <p:sp>
            <p:nvSpPr>
              <p:cNvPr id="8730" name="Google Shape;8730;p121"/>
              <p:cNvSpPr/>
              <p:nvPr/>
            </p:nvSpPr>
            <p:spPr>
              <a:xfrm>
                <a:off x="4657" y="2387"/>
                <a:ext cx="160" cy="13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31" name="Google Shape;8731;p121"/>
              <p:cNvSpPr/>
              <p:nvPr/>
            </p:nvSpPr>
            <p:spPr>
              <a:xfrm>
                <a:off x="5068" y="1839"/>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grpSp>
          <p:nvGrpSpPr>
            <p:cNvPr id="8732" name="Google Shape;8732;p121"/>
            <p:cNvGrpSpPr/>
            <p:nvPr/>
          </p:nvGrpSpPr>
          <p:grpSpPr>
            <a:xfrm flipH="1">
              <a:off x="8472689" y="4384738"/>
              <a:ext cx="225477" cy="395239"/>
              <a:chOff x="4140" y="431"/>
              <a:chExt cx="1422" cy="2392"/>
            </a:xfrm>
          </p:grpSpPr>
          <p:sp>
            <p:nvSpPr>
              <p:cNvPr id="8733" name="Google Shape;8733;p1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34" name="Google Shape;8734;p121"/>
              <p:cNvSpPr/>
              <p:nvPr/>
            </p:nvSpPr>
            <p:spPr>
              <a:xfrm>
                <a:off x="4200" y="431"/>
                <a:ext cx="1051" cy="227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35" name="Google Shape;8735;p1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36" name="Google Shape;8736;p1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37" name="Google Shape;8737;p121"/>
              <p:cNvSpPr/>
              <p:nvPr/>
            </p:nvSpPr>
            <p:spPr>
              <a:xfrm>
                <a:off x="4210" y="690"/>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738" name="Google Shape;8738;p121"/>
              <p:cNvGrpSpPr/>
              <p:nvPr/>
            </p:nvGrpSpPr>
            <p:grpSpPr>
              <a:xfrm>
                <a:off x="4751" y="671"/>
                <a:ext cx="581" cy="144"/>
                <a:chOff x="616" y="2571"/>
                <a:chExt cx="725" cy="138"/>
              </a:xfrm>
            </p:grpSpPr>
            <p:sp>
              <p:nvSpPr>
                <p:cNvPr id="8739" name="Google Shape;8739;p121"/>
                <p:cNvSpPr/>
                <p:nvPr/>
              </p:nvSpPr>
              <p:spPr>
                <a:xfrm>
                  <a:off x="616" y="2571"/>
                  <a:ext cx="725"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40" name="Google Shape;8740;p121"/>
                <p:cNvSpPr/>
                <p:nvPr/>
              </p:nvSpPr>
              <p:spPr>
                <a:xfrm>
                  <a:off x="629" y="2590"/>
                  <a:ext cx="700"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741" name="Google Shape;8741;p121"/>
              <p:cNvSpPr/>
              <p:nvPr/>
            </p:nvSpPr>
            <p:spPr>
              <a:xfrm>
                <a:off x="4220" y="1017"/>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742" name="Google Shape;8742;p121"/>
              <p:cNvGrpSpPr/>
              <p:nvPr/>
            </p:nvGrpSpPr>
            <p:grpSpPr>
              <a:xfrm>
                <a:off x="4721" y="998"/>
                <a:ext cx="581" cy="134"/>
                <a:chOff x="581" y="2572"/>
                <a:chExt cx="725" cy="139"/>
              </a:xfrm>
            </p:grpSpPr>
            <p:sp>
              <p:nvSpPr>
                <p:cNvPr id="8743" name="Google Shape;8743;p121"/>
                <p:cNvSpPr/>
                <p:nvPr/>
              </p:nvSpPr>
              <p:spPr>
                <a:xfrm>
                  <a:off x="581" y="2572"/>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44" name="Google Shape;8744;p121"/>
                <p:cNvSpPr/>
                <p:nvPr/>
              </p:nvSpPr>
              <p:spPr>
                <a:xfrm>
                  <a:off x="594" y="2592"/>
                  <a:ext cx="687"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745" name="Google Shape;8745;p121"/>
              <p:cNvSpPr/>
              <p:nvPr/>
            </p:nvSpPr>
            <p:spPr>
              <a:xfrm>
                <a:off x="4220" y="1363"/>
                <a:ext cx="591" cy="3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46" name="Google Shape;8746;p121"/>
              <p:cNvSpPr/>
              <p:nvPr/>
            </p:nvSpPr>
            <p:spPr>
              <a:xfrm>
                <a:off x="4230" y="1651"/>
                <a:ext cx="59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747" name="Google Shape;8747;p121"/>
              <p:cNvGrpSpPr/>
              <p:nvPr/>
            </p:nvGrpSpPr>
            <p:grpSpPr>
              <a:xfrm>
                <a:off x="4731" y="1631"/>
                <a:ext cx="551" cy="144"/>
                <a:chOff x="609" y="2572"/>
                <a:chExt cx="686" cy="133"/>
              </a:xfrm>
            </p:grpSpPr>
            <p:sp>
              <p:nvSpPr>
                <p:cNvPr id="8748" name="Google Shape;8748;p121"/>
                <p:cNvSpPr/>
                <p:nvPr/>
              </p:nvSpPr>
              <p:spPr>
                <a:xfrm>
                  <a:off x="609" y="2572"/>
                  <a:ext cx="686" cy="13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49" name="Google Shape;8749;p121"/>
                <p:cNvSpPr/>
                <p:nvPr/>
              </p:nvSpPr>
              <p:spPr>
                <a:xfrm>
                  <a:off x="621" y="2590"/>
                  <a:ext cx="648"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750" name="Google Shape;8750;p1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nvGrpSpPr>
              <p:cNvPr id="8751" name="Google Shape;8751;p121"/>
              <p:cNvGrpSpPr/>
              <p:nvPr/>
            </p:nvGrpSpPr>
            <p:grpSpPr>
              <a:xfrm>
                <a:off x="4741" y="1324"/>
                <a:ext cx="580" cy="144"/>
                <a:chOff x="616" y="2565"/>
                <a:chExt cx="723" cy="144"/>
              </a:xfrm>
            </p:grpSpPr>
            <p:sp>
              <p:nvSpPr>
                <p:cNvPr id="8752" name="Google Shape;8752;p121"/>
                <p:cNvSpPr/>
                <p:nvPr/>
              </p:nvSpPr>
              <p:spPr>
                <a:xfrm>
                  <a:off x="616" y="2565"/>
                  <a:ext cx="723"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53" name="Google Shape;8753;p121"/>
                <p:cNvSpPr/>
                <p:nvPr/>
              </p:nvSpPr>
              <p:spPr>
                <a:xfrm>
                  <a:off x="629" y="2585"/>
                  <a:ext cx="686" cy="11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754" name="Google Shape;8754;p121"/>
              <p:cNvSpPr/>
              <p:nvPr/>
            </p:nvSpPr>
            <p:spPr>
              <a:xfrm>
                <a:off x="5251" y="431"/>
                <a:ext cx="60"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55" name="Google Shape;8755;p1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56" name="Google Shape;8756;p1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57" name="Google Shape;8757;p121"/>
              <p:cNvSpPr/>
              <p:nvPr/>
            </p:nvSpPr>
            <p:spPr>
              <a:xfrm>
                <a:off x="5512" y="2611"/>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58" name="Google Shape;8758;p1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59" name="Google Shape;8759;p121"/>
              <p:cNvSpPr/>
              <p:nvPr/>
            </p:nvSpPr>
            <p:spPr>
              <a:xfrm>
                <a:off x="4140" y="2679"/>
                <a:ext cx="1201"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60" name="Google Shape;8760;p121"/>
              <p:cNvSpPr/>
              <p:nvPr/>
            </p:nvSpPr>
            <p:spPr>
              <a:xfrm>
                <a:off x="4200" y="2708"/>
                <a:ext cx="1071"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61" name="Google Shape;8761;p121"/>
              <p:cNvSpPr/>
              <p:nvPr/>
            </p:nvSpPr>
            <p:spPr>
              <a:xfrm>
                <a:off x="4310" y="2381"/>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62" name="Google Shape;8762;p121"/>
              <p:cNvSpPr/>
              <p:nvPr/>
            </p:nvSpPr>
            <p:spPr>
              <a:xfrm>
                <a:off x="4480" y="2381"/>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0000"/>
                  </a:solidFill>
                  <a:latin typeface="Arial"/>
                  <a:ea typeface="Arial"/>
                  <a:cs typeface="Arial"/>
                  <a:sym typeface="Arial"/>
                </a:endParaRPr>
              </a:p>
            </p:txBody>
          </p:sp>
          <p:sp>
            <p:nvSpPr>
              <p:cNvPr id="8763" name="Google Shape;8763;p121"/>
              <p:cNvSpPr/>
              <p:nvPr/>
            </p:nvSpPr>
            <p:spPr>
              <a:xfrm>
                <a:off x="4661" y="2381"/>
                <a:ext cx="160" cy="13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64" name="Google Shape;8764;p121"/>
              <p:cNvSpPr/>
              <p:nvPr/>
            </p:nvSpPr>
            <p:spPr>
              <a:xfrm>
                <a:off x="5061" y="1833"/>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grpSp>
      <p:grpSp>
        <p:nvGrpSpPr>
          <p:cNvPr id="8765" name="Google Shape;8765;p121"/>
          <p:cNvGrpSpPr/>
          <p:nvPr/>
        </p:nvGrpSpPr>
        <p:grpSpPr>
          <a:xfrm>
            <a:off x="8710613" y="5734050"/>
            <a:ext cx="347662" cy="681038"/>
            <a:chOff x="7923189" y="2486664"/>
            <a:chExt cx="360377" cy="884585"/>
          </a:xfrm>
        </p:grpSpPr>
        <p:pic>
          <p:nvPicPr>
            <p:cNvPr id="8766" name="Google Shape;8766;p121"/>
            <p:cNvPicPr preferRelativeResize="0"/>
            <p:nvPr/>
          </p:nvPicPr>
          <p:blipFill rotWithShape="1">
            <a:blip r:embed="rId3">
              <a:alphaModFix/>
            </a:blip>
            <a:srcRect b="0" l="0" r="0" t="0"/>
            <a:stretch/>
          </p:blipFill>
          <p:spPr>
            <a:xfrm>
              <a:off x="8043998" y="2486664"/>
              <a:ext cx="239568" cy="536525"/>
            </a:xfrm>
            <a:prstGeom prst="rect">
              <a:avLst/>
            </a:prstGeom>
            <a:noFill/>
            <a:ln>
              <a:noFill/>
            </a:ln>
          </p:spPr>
        </p:pic>
        <p:grpSp>
          <p:nvGrpSpPr>
            <p:cNvPr id="8767" name="Google Shape;8767;p121"/>
            <p:cNvGrpSpPr/>
            <p:nvPr/>
          </p:nvGrpSpPr>
          <p:grpSpPr>
            <a:xfrm>
              <a:off x="7923189" y="2890236"/>
              <a:ext cx="227012" cy="481013"/>
              <a:chOff x="4140" y="429"/>
              <a:chExt cx="1425" cy="2396"/>
            </a:xfrm>
          </p:grpSpPr>
          <p:sp>
            <p:nvSpPr>
              <p:cNvPr id="8768" name="Google Shape;8768;p1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69" name="Google Shape;8769;p121"/>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70" name="Google Shape;8770;p1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71" name="Google Shape;8771;p1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72" name="Google Shape;8772;p121"/>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773" name="Google Shape;8773;p121"/>
              <p:cNvGrpSpPr/>
              <p:nvPr/>
            </p:nvGrpSpPr>
            <p:grpSpPr>
              <a:xfrm>
                <a:off x="4748" y="666"/>
                <a:ext cx="578" cy="150"/>
                <a:chOff x="613" y="2566"/>
                <a:chExt cx="721" cy="144"/>
              </a:xfrm>
            </p:grpSpPr>
            <p:sp>
              <p:nvSpPr>
                <p:cNvPr id="8774" name="Google Shape;8774;p121"/>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75" name="Google Shape;8775;p121"/>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776" name="Google Shape;8776;p121"/>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777" name="Google Shape;8777;p121"/>
              <p:cNvGrpSpPr/>
              <p:nvPr/>
            </p:nvGrpSpPr>
            <p:grpSpPr>
              <a:xfrm>
                <a:off x="4748" y="990"/>
                <a:ext cx="578" cy="134"/>
                <a:chOff x="615" y="2564"/>
                <a:chExt cx="721" cy="139"/>
              </a:xfrm>
            </p:grpSpPr>
            <p:sp>
              <p:nvSpPr>
                <p:cNvPr id="8778" name="Google Shape;8778;p121"/>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79" name="Google Shape;8779;p121"/>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780" name="Google Shape;8780;p121"/>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81" name="Google Shape;8781;p121"/>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8782" name="Google Shape;8782;p121"/>
              <p:cNvGrpSpPr/>
              <p:nvPr/>
            </p:nvGrpSpPr>
            <p:grpSpPr>
              <a:xfrm>
                <a:off x="4738" y="1647"/>
                <a:ext cx="578" cy="135"/>
                <a:chOff x="618" y="2586"/>
                <a:chExt cx="720" cy="124"/>
              </a:xfrm>
            </p:grpSpPr>
            <p:sp>
              <p:nvSpPr>
                <p:cNvPr id="8783" name="Google Shape;8783;p121"/>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84" name="Google Shape;8784;p121"/>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785" name="Google Shape;8785;p1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grpSp>
            <p:nvGrpSpPr>
              <p:cNvPr id="8786" name="Google Shape;8786;p121"/>
              <p:cNvGrpSpPr/>
              <p:nvPr/>
            </p:nvGrpSpPr>
            <p:grpSpPr>
              <a:xfrm>
                <a:off x="4738" y="1330"/>
                <a:ext cx="588" cy="134"/>
                <a:chOff x="613" y="2571"/>
                <a:chExt cx="732" cy="134"/>
              </a:xfrm>
            </p:grpSpPr>
            <p:sp>
              <p:nvSpPr>
                <p:cNvPr id="8787" name="Google Shape;8787;p121"/>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88" name="Google Shape;8788;p121"/>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8789" name="Google Shape;8789;p121"/>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90" name="Google Shape;8790;p1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91" name="Google Shape;8791;p1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92" name="Google Shape;8792;p121"/>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93" name="Google Shape;8793;p1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794" name="Google Shape;8794;p121"/>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95" name="Google Shape;8795;p121"/>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96" name="Google Shape;8796;p121"/>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97" name="Google Shape;8797;p121"/>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8798" name="Google Shape;8798;p121"/>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8799" name="Google Shape;8799;p121"/>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grpSp>
      <p:grpSp>
        <p:nvGrpSpPr>
          <p:cNvPr id="8800" name="Google Shape;8800;p121"/>
          <p:cNvGrpSpPr/>
          <p:nvPr/>
        </p:nvGrpSpPr>
        <p:grpSpPr>
          <a:xfrm>
            <a:off x="1751013" y="3719513"/>
            <a:ext cx="982662" cy="1585912"/>
            <a:chOff x="226804" y="3719080"/>
            <a:chExt cx="982820" cy="1586234"/>
          </a:xfrm>
        </p:grpSpPr>
        <p:pic>
          <p:nvPicPr>
            <p:cNvPr id="8801" name="Google Shape;8801;p121"/>
            <p:cNvPicPr preferRelativeResize="0"/>
            <p:nvPr/>
          </p:nvPicPr>
          <p:blipFill rotWithShape="1">
            <a:blip r:embed="rId5">
              <a:alphaModFix/>
            </a:blip>
            <a:srcRect b="0" l="0" r="0" t="0"/>
            <a:stretch/>
          </p:blipFill>
          <p:spPr>
            <a:xfrm>
              <a:off x="683109" y="5014480"/>
              <a:ext cx="405029" cy="290834"/>
            </a:xfrm>
            <a:prstGeom prst="rect">
              <a:avLst/>
            </a:prstGeom>
            <a:noFill/>
            <a:ln>
              <a:noFill/>
            </a:ln>
          </p:spPr>
        </p:pic>
        <p:sp>
          <p:nvSpPr>
            <p:cNvPr id="8802" name="Google Shape;8802;p121"/>
            <p:cNvSpPr/>
            <p:nvPr/>
          </p:nvSpPr>
          <p:spPr>
            <a:xfrm flipH="1">
              <a:off x="226804" y="3719080"/>
              <a:ext cx="982820" cy="514019"/>
            </a:xfrm>
            <a:prstGeom prst="cloudCallout">
              <a:avLst>
                <a:gd fmla="val -7606" name="adj1"/>
                <a:gd fmla="val 147866" name="adj2"/>
              </a:avLst>
            </a:prstGeom>
            <a:no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pic>
          <p:nvPicPr>
            <p:cNvPr descr="madman.jpg" id="8803" name="Google Shape;8803;p121"/>
            <p:cNvPicPr preferRelativeResize="0"/>
            <p:nvPr/>
          </p:nvPicPr>
          <p:blipFill rotWithShape="1">
            <a:blip r:embed="rId6">
              <a:alphaModFix/>
            </a:blip>
            <a:srcRect b="0" l="0" r="0" t="0"/>
            <a:stretch/>
          </p:blipFill>
          <p:spPr>
            <a:xfrm>
              <a:off x="347767" y="3870258"/>
              <a:ext cx="767350" cy="211655"/>
            </a:xfrm>
            <a:prstGeom prst="rect">
              <a:avLst/>
            </a:prstGeom>
            <a:noFill/>
            <a:ln>
              <a:noFill/>
            </a:ln>
          </p:spPr>
        </p:pic>
      </p:grpSp>
      <p:sp>
        <p:nvSpPr>
          <p:cNvPr id="8804" name="Google Shape;8804;p121"/>
          <p:cNvSpPr txBox="1"/>
          <p:nvPr/>
        </p:nvSpPr>
        <p:spPr>
          <a:xfrm>
            <a:off x="1112830" y="1397775"/>
            <a:ext cx="9113837" cy="806450"/>
          </a:xfrm>
          <a:prstGeom prst="rect">
            <a:avLst/>
          </a:prstGeom>
          <a:noFill/>
          <a:ln>
            <a:noFill/>
          </a:ln>
        </p:spPr>
        <p:txBody>
          <a:bodyPr anchorCtr="0" anchor="t" bIns="45700" lIns="91425" spcFirstLastPara="1" rIns="91425" wrap="square" tIns="45700">
            <a:noAutofit/>
          </a:bodyPr>
          <a:lstStyle/>
          <a:p>
            <a:pPr indent="-287338" lvl="0" marL="287338" marR="0" rtl="0" algn="l">
              <a:lnSpc>
                <a:spcPct val="85000"/>
              </a:lnSpc>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CDN: stores copies of content at CDN nodes </a:t>
            </a:r>
            <a:endParaRPr/>
          </a:p>
          <a:p>
            <a:pPr indent="-223837" lvl="1" marL="681038"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e.g. Netflix stores copies of MadMen</a:t>
            </a:r>
            <a:endParaRPr b="0" i="0" sz="2400" u="none" cap="none" strike="noStrike">
              <a:solidFill>
                <a:srgbClr val="000000"/>
              </a:solidFill>
              <a:latin typeface="Calibri"/>
              <a:ea typeface="Calibri"/>
              <a:cs typeface="Calibri"/>
              <a:sym typeface="Calibri"/>
            </a:endParaRPr>
          </a:p>
        </p:txBody>
      </p:sp>
      <p:grpSp>
        <p:nvGrpSpPr>
          <p:cNvPr id="8805" name="Google Shape;8805;p121"/>
          <p:cNvGrpSpPr/>
          <p:nvPr/>
        </p:nvGrpSpPr>
        <p:grpSpPr>
          <a:xfrm>
            <a:off x="1558926" y="5030789"/>
            <a:ext cx="1857375" cy="338137"/>
            <a:chOff x="5957397" y="-30236"/>
            <a:chExt cx="1857399" cy="338554"/>
          </a:xfrm>
        </p:grpSpPr>
        <p:sp>
          <p:nvSpPr>
            <p:cNvPr id="8806" name="Google Shape;8806;p121"/>
            <p:cNvSpPr/>
            <p:nvPr/>
          </p:nvSpPr>
          <p:spPr>
            <a:xfrm>
              <a:off x="5957398" y="0"/>
              <a:ext cx="1829556" cy="272128"/>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8807" name="Google Shape;8807;p121"/>
            <p:cNvSpPr txBox="1"/>
            <p:nvPr/>
          </p:nvSpPr>
          <p:spPr>
            <a:xfrm>
              <a:off x="5957397" y="-30236"/>
              <a:ext cx="185739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FFFFFF"/>
                  </a:solidFill>
                  <a:latin typeface="Arial"/>
                  <a:ea typeface="Arial"/>
                  <a:cs typeface="Arial"/>
                  <a:sym typeface="Arial"/>
                </a:rPr>
                <a:t>where’s Madmen?</a:t>
              </a:r>
              <a:endParaRPr/>
            </a:p>
          </p:txBody>
        </p:sp>
      </p:grpSp>
      <p:grpSp>
        <p:nvGrpSpPr>
          <p:cNvPr id="8808" name="Google Shape;8808;p121"/>
          <p:cNvGrpSpPr/>
          <p:nvPr/>
        </p:nvGrpSpPr>
        <p:grpSpPr>
          <a:xfrm>
            <a:off x="8785226" y="4778375"/>
            <a:ext cx="1279525" cy="338138"/>
            <a:chOff x="5931471" y="-30236"/>
            <a:chExt cx="1279747" cy="338971"/>
          </a:xfrm>
        </p:grpSpPr>
        <p:sp>
          <p:nvSpPr>
            <p:cNvPr id="8809" name="Google Shape;8809;p121"/>
            <p:cNvSpPr/>
            <p:nvPr/>
          </p:nvSpPr>
          <p:spPr>
            <a:xfrm>
              <a:off x="5957398" y="13898"/>
              <a:ext cx="1225865" cy="25822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8810" name="Google Shape;8810;p121"/>
            <p:cNvSpPr txBox="1"/>
            <p:nvPr/>
          </p:nvSpPr>
          <p:spPr>
            <a:xfrm>
              <a:off x="5931471" y="-30236"/>
              <a:ext cx="1279747" cy="3389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FFFFFF"/>
                  </a:solidFill>
                  <a:latin typeface="Arial"/>
                  <a:ea typeface="Arial"/>
                  <a:cs typeface="Arial"/>
                  <a:sym typeface="Arial"/>
                </a:rPr>
                <a:t>manifest file</a:t>
              </a:r>
              <a:endParaRPr/>
            </a:p>
          </p:txBody>
        </p:sp>
      </p:grpSp>
      <p:sp>
        <p:nvSpPr>
          <p:cNvPr id="8811" name="Google Shape;8811;p121"/>
          <p:cNvSpPr/>
          <p:nvPr/>
        </p:nvSpPr>
        <p:spPr>
          <a:xfrm>
            <a:off x="2598738" y="4243388"/>
            <a:ext cx="1008062" cy="881062"/>
          </a:xfrm>
          <a:custGeom>
            <a:rect b="b" l="l" r="r" t="t"/>
            <a:pathLst>
              <a:path extrusionOk="0" h="1108430" w="1284637">
                <a:moveTo>
                  <a:pt x="1122624" y="0"/>
                </a:moveTo>
                <a:lnTo>
                  <a:pt x="1284637" y="1108430"/>
                </a:lnTo>
                <a:lnTo>
                  <a:pt x="0" y="1107156"/>
                </a:lnTo>
              </a:path>
            </a:pathLst>
          </a:custGeom>
          <a:noFill/>
          <a:ln cap="flat" cmpd="sng" w="57150">
            <a:solidFill>
              <a:srgbClr val="FF0000"/>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812" name="Google Shape;8812;p121"/>
          <p:cNvSpPr/>
          <p:nvPr/>
        </p:nvSpPr>
        <p:spPr>
          <a:xfrm flipH="1" rot="10800000">
            <a:off x="2624139" y="5127626"/>
            <a:ext cx="2166937" cy="709613"/>
          </a:xfrm>
          <a:custGeom>
            <a:rect b="b" l="l" r="r" t="t"/>
            <a:pathLst>
              <a:path extrusionOk="0" h="980345" w="1898925">
                <a:moveTo>
                  <a:pt x="1179521" y="0"/>
                </a:moveTo>
                <a:lnTo>
                  <a:pt x="1898925" y="600997"/>
                </a:lnTo>
                <a:lnTo>
                  <a:pt x="1462589" y="682836"/>
                </a:lnTo>
                <a:cubicBezTo>
                  <a:pt x="1258197" y="730637"/>
                  <a:pt x="1110581" y="844165"/>
                  <a:pt x="849414" y="957692"/>
                </a:cubicBezTo>
                <a:lnTo>
                  <a:pt x="0" y="980345"/>
                </a:lnTo>
              </a:path>
            </a:pathLst>
          </a:cu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000000"/>
              </a:solidFill>
              <a:latin typeface="Arial"/>
              <a:ea typeface="Arial"/>
              <a:cs typeface="Arial"/>
              <a:sym typeface="Arial"/>
            </a:endParaRPr>
          </a:p>
        </p:txBody>
      </p:sp>
      <p:sp>
        <p:nvSpPr>
          <p:cNvPr id="8813" name="Google Shape;8813;p121"/>
          <p:cNvSpPr txBox="1"/>
          <p:nvPr/>
        </p:nvSpPr>
        <p:spPr>
          <a:xfrm>
            <a:off x="1168394" y="2637612"/>
            <a:ext cx="8970503" cy="458788"/>
          </a:xfrm>
          <a:prstGeom prst="rect">
            <a:avLst/>
          </a:prstGeom>
          <a:noFill/>
          <a:ln>
            <a:noFill/>
          </a:ln>
        </p:spPr>
        <p:txBody>
          <a:bodyPr anchorCtr="0" anchor="t" bIns="45700" lIns="91425" spcFirstLastPara="1" rIns="91425" wrap="square" tIns="45700">
            <a:noAutofit/>
          </a:bodyPr>
          <a:lstStyle/>
          <a:p>
            <a:pPr indent="-223837" lvl="1" marL="681038" marR="0" rtl="0" algn="l">
              <a:lnSpc>
                <a:spcPct val="85000"/>
              </a:lnSpc>
              <a:spcBef>
                <a:spcPts val="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directed to nearby copy, retrieves content</a:t>
            </a:r>
            <a:endParaRPr/>
          </a:p>
          <a:p>
            <a:pPr indent="0" lvl="1" marL="457200" marR="0" rtl="0" algn="l">
              <a:lnSpc>
                <a:spcPct val="85000"/>
              </a:lnSpc>
              <a:spcBef>
                <a:spcPts val="480"/>
              </a:spcBef>
              <a:spcAft>
                <a:spcPts val="0"/>
              </a:spcAft>
              <a:buClr>
                <a:srgbClr val="000099"/>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8814" name="Google Shape;8814;p121"/>
          <p:cNvSpPr txBox="1"/>
          <p:nvPr/>
        </p:nvSpPr>
        <p:spPr>
          <a:xfrm>
            <a:off x="1184267" y="2985276"/>
            <a:ext cx="9113837" cy="503237"/>
          </a:xfrm>
          <a:prstGeom prst="rect">
            <a:avLst/>
          </a:prstGeom>
          <a:noFill/>
          <a:ln>
            <a:noFill/>
          </a:ln>
        </p:spPr>
        <p:txBody>
          <a:bodyPr anchorCtr="0" anchor="t" bIns="45700" lIns="91425" spcFirstLastPara="1" rIns="91425" wrap="square" tIns="45700">
            <a:noAutofit/>
          </a:bodyPr>
          <a:lstStyle/>
          <a:p>
            <a:pPr indent="-223837" lvl="1" marL="681038" marR="0" rtl="0" algn="l">
              <a:lnSpc>
                <a:spcPct val="85000"/>
              </a:lnSpc>
              <a:spcBef>
                <a:spcPts val="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may choose different copy if network path congested</a:t>
            </a:r>
            <a:endParaRPr/>
          </a:p>
          <a:p>
            <a:pPr indent="0" lvl="1" marL="457200" marR="0" rtl="0" algn="l">
              <a:lnSpc>
                <a:spcPct val="85000"/>
              </a:lnSpc>
              <a:spcBef>
                <a:spcPts val="480"/>
              </a:spcBef>
              <a:spcAft>
                <a:spcPts val="0"/>
              </a:spcAft>
              <a:buClr>
                <a:srgbClr val="000099"/>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8815" name="Google Shape;8815;p1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94"/>
                                        </p:tgtEl>
                                        <p:attrNameLst>
                                          <p:attrName>style.visibility</p:attrName>
                                        </p:attrNameLst>
                                      </p:cBhvr>
                                      <p:to>
                                        <p:strVal val="visible"/>
                                      </p:to>
                                    </p:set>
                                  </p:childTnLst>
                                </p:cTn>
                              </p:par>
                              <p:par>
                                <p:cTn fill="hold" nodeType="withEffect" presetClass="entr" presetID="1" presetSubtype="0">
                                  <p:stCondLst>
                                    <p:cond delay="250"/>
                                  </p:stCondLst>
                                  <p:childTnLst>
                                    <p:set>
                                      <p:cBhvr>
                                        <p:cTn dur="1" fill="hold">
                                          <p:stCondLst>
                                            <p:cond delay="0"/>
                                          </p:stCondLst>
                                        </p:cTn>
                                        <p:tgtEl>
                                          <p:spTgt spid="8524"/>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250"/>
                                  </p:stCondLst>
                                  <p:childTnLst>
                                    <p:set>
                                      <p:cBhvr>
                                        <p:cTn dur="1" fill="hold">
                                          <p:stCondLst>
                                            <p:cond delay="0"/>
                                          </p:stCondLst>
                                        </p:cTn>
                                        <p:tgtEl>
                                          <p:spTgt spid="8147"/>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250"/>
                                  </p:stCondLst>
                                  <p:childTnLst>
                                    <p:set>
                                      <p:cBhvr>
                                        <p:cTn dur="1" fill="hold">
                                          <p:stCondLst>
                                            <p:cond delay="0"/>
                                          </p:stCondLst>
                                        </p:cTn>
                                        <p:tgtEl>
                                          <p:spTgt spid="8629"/>
                                        </p:tgtEl>
                                        <p:attrNameLst>
                                          <p:attrName>style.visibility</p:attrName>
                                        </p:attrNameLst>
                                      </p:cBhvr>
                                      <p:to>
                                        <p:strVal val="visible"/>
                                      </p:to>
                                    </p:set>
                                  </p:childTnLst>
                                </p:cTn>
                              </p:par>
                            </p:childTnLst>
                          </p:cTn>
                        </p:par>
                        <p:par>
                          <p:cTn fill="hold">
                            <p:stCondLst>
                              <p:cond delay="3"/>
                            </p:stCondLst>
                            <p:childTnLst>
                              <p:par>
                                <p:cTn fill="hold" nodeType="afterEffect" presetClass="entr" presetID="1" presetSubtype="0">
                                  <p:stCondLst>
                                    <p:cond delay="250"/>
                                  </p:stCondLst>
                                  <p:childTnLst>
                                    <p:set>
                                      <p:cBhvr>
                                        <p:cTn dur="1" fill="hold">
                                          <p:stCondLst>
                                            <p:cond delay="0"/>
                                          </p:stCondLst>
                                        </p:cTn>
                                        <p:tgtEl>
                                          <p:spTgt spid="8489"/>
                                        </p:tgtEl>
                                        <p:attrNameLst>
                                          <p:attrName>style.visibility</p:attrName>
                                        </p:attrNameLst>
                                      </p:cBhvr>
                                      <p:to>
                                        <p:strVal val="visible"/>
                                      </p:to>
                                    </p:set>
                                  </p:childTnLst>
                                </p:cTn>
                              </p:par>
                            </p:childTnLst>
                          </p:cTn>
                        </p:par>
                        <p:par>
                          <p:cTn fill="hold">
                            <p:stCondLst>
                              <p:cond delay="4"/>
                            </p:stCondLst>
                            <p:childTnLst>
                              <p:par>
                                <p:cTn fill="hold" nodeType="afterEffect" presetClass="entr" presetID="1" presetSubtype="0">
                                  <p:stCondLst>
                                    <p:cond delay="250"/>
                                  </p:stCondLst>
                                  <p:childTnLst>
                                    <p:set>
                                      <p:cBhvr>
                                        <p:cTn dur="1" fill="hold">
                                          <p:stCondLst>
                                            <p:cond delay="0"/>
                                          </p:stCondLst>
                                        </p:cTn>
                                        <p:tgtEl>
                                          <p:spTgt spid="8559"/>
                                        </p:tgtEl>
                                        <p:attrNameLst>
                                          <p:attrName>style.visibility</p:attrName>
                                        </p:attrNameLst>
                                      </p:cBhvr>
                                      <p:to>
                                        <p:strVal val="visible"/>
                                      </p:to>
                                    </p:set>
                                  </p:childTnLst>
                                </p:cTn>
                              </p:par>
                            </p:childTnLst>
                          </p:cTn>
                        </p:par>
                        <p:par>
                          <p:cTn fill="hold">
                            <p:stCondLst>
                              <p:cond delay="5"/>
                            </p:stCondLst>
                            <p:childTnLst>
                              <p:par>
                                <p:cTn fill="hold" nodeType="afterEffect" presetClass="entr" presetID="1" presetSubtype="0">
                                  <p:stCondLst>
                                    <p:cond delay="250"/>
                                  </p:stCondLst>
                                  <p:childTnLst>
                                    <p:set>
                                      <p:cBhvr>
                                        <p:cTn dur="1" fill="hold">
                                          <p:stCondLst>
                                            <p:cond delay="0"/>
                                          </p:stCondLst>
                                        </p:cTn>
                                        <p:tgtEl>
                                          <p:spTgt spid="87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00"/>
                                        </p:tgtEl>
                                        <p:attrNameLst>
                                          <p:attrName>style.visibility</p:attrName>
                                        </p:attrNameLst>
                                      </p:cBhvr>
                                      <p:to>
                                        <p:strVal val="visible"/>
                                      </p:to>
                                    </p:set>
                                    <p:animEffect filter="fade" transition="in">
                                      <p:cBhvr>
                                        <p:cTn dur="500"/>
                                        <p:tgtEl>
                                          <p:spTgt spid="88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87">
                                            <p:txEl>
                                              <p:pRg end="0" st="0"/>
                                            </p:txEl>
                                          </p:spTgt>
                                        </p:tgtEl>
                                        <p:attrNameLst>
                                          <p:attrName>style.visibility</p:attrName>
                                        </p:attrNameLst>
                                      </p:cBhvr>
                                      <p:to>
                                        <p:strVal val="visible"/>
                                      </p:to>
                                    </p:set>
                                    <p:animEffect filter="fade" transition="in">
                                      <p:cBhvr>
                                        <p:cTn dur="500"/>
                                        <p:tgtEl>
                                          <p:spTgt spid="8487">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8813"/>
                                        </p:tgtEl>
                                        <p:attrNameLst>
                                          <p:attrName>style.visibility</p:attrName>
                                        </p:attrNameLst>
                                      </p:cBhvr>
                                      <p:to>
                                        <p:strVal val="visible"/>
                                      </p:to>
                                    </p:set>
                                    <p:animEffect filter="fade" transition="in">
                                      <p:cBhvr>
                                        <p:cTn dur="500"/>
                                        <p:tgtEl>
                                          <p:spTgt spid="88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05"/>
                                        </p:tgtEl>
                                        <p:attrNameLst>
                                          <p:attrName>style.visibility</p:attrName>
                                        </p:attrNameLst>
                                      </p:cBhvr>
                                      <p:to>
                                        <p:strVal val="visible"/>
                                      </p:to>
                                    </p:set>
                                    <p:animEffect filter="fade" transition="in">
                                      <p:cBhvr>
                                        <p:cTn dur="500"/>
                                        <p:tgtEl>
                                          <p:spTgt spid="8805"/>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8805"/>
                                        </p:tgtEl>
                                      </p:cBhvr>
                                    </p:animEffect>
                                    <p:set>
                                      <p:cBhvr>
                                        <p:cTn dur="1" fill="hold">
                                          <p:stCondLst>
                                            <p:cond delay="500"/>
                                          </p:stCondLst>
                                        </p:cTn>
                                        <p:tgtEl>
                                          <p:spTgt spid="8805"/>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08"/>
                                        </p:tgtEl>
                                        <p:attrNameLst>
                                          <p:attrName>style.visibility</p:attrName>
                                        </p:attrNameLst>
                                      </p:cBhvr>
                                      <p:to>
                                        <p:strVal val="visible"/>
                                      </p:to>
                                    </p:set>
                                    <p:animEffect filter="fade" transition="in">
                                      <p:cBhvr>
                                        <p:cTn dur="500"/>
                                        <p:tgtEl>
                                          <p:spTgt spid="8808"/>
                                        </p:tgtEl>
                                      </p:cBhvr>
                                    </p:animEffec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8808"/>
                                        </p:tgtEl>
                                      </p:cBhvr>
                                    </p:animEffect>
                                    <p:set>
                                      <p:cBhvr>
                                        <p:cTn dur="1" fill="hold">
                                          <p:stCondLst>
                                            <p:cond delay="500"/>
                                          </p:stCondLst>
                                        </p:cTn>
                                        <p:tgtEl>
                                          <p:spTgt spid="8808"/>
                                        </p:tgtEl>
                                        <p:attrNameLst>
                                          <p:attrName>style.visibility</p:attrName>
                                        </p:attrNameLst>
                                      </p:cBhvr>
                                      <p:to>
                                        <p:strVal val="hidden"/>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811"/>
                                        </p:tgtEl>
                                        <p:attrNameLst>
                                          <p:attrName>style.visibility</p:attrName>
                                        </p:attrNameLst>
                                      </p:cBhvr>
                                      <p:to>
                                        <p:strVal val="visible"/>
                                      </p:to>
                                    </p:set>
                                    <p:animEffect filter="fade" transition="in">
                                      <p:cBhvr>
                                        <p:cTn dur="500"/>
                                        <p:tgtEl>
                                          <p:spTgt spid="88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4"/>
                                        </p:tgtEl>
                                        <p:attrNameLst>
                                          <p:attrName>style.visibility</p:attrName>
                                        </p:attrNameLst>
                                      </p:cBhvr>
                                      <p:to>
                                        <p:strVal val="visible"/>
                                      </p:to>
                                    </p:set>
                                    <p:animEffect filter="fade" transition="in">
                                      <p:cBhvr>
                                        <p:cTn dur="500"/>
                                        <p:tgtEl>
                                          <p:spTgt spid="8814"/>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8811"/>
                                        </p:tgtEl>
                                      </p:cBhvr>
                                    </p:animEffect>
                                    <p:set>
                                      <p:cBhvr>
                                        <p:cTn dur="1" fill="hold">
                                          <p:stCondLst>
                                            <p:cond delay="500"/>
                                          </p:stCondLst>
                                        </p:cTn>
                                        <p:tgtEl>
                                          <p:spTgt spid="8811"/>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12"/>
                                        </p:tgtEl>
                                        <p:attrNameLst>
                                          <p:attrName>style.visibility</p:attrName>
                                        </p:attrNameLst>
                                      </p:cBhvr>
                                      <p:to>
                                        <p:strVal val="visible"/>
                                      </p:to>
                                    </p:set>
                                    <p:animEffect filter="fade" transition="in">
                                      <p:cBhvr>
                                        <p:cTn dur="500"/>
                                        <p:tgtEl>
                                          <p:spTgt spid="88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0" name="Shape 8820"/>
        <p:cNvGrpSpPr/>
        <p:nvPr/>
      </p:nvGrpSpPr>
      <p:grpSpPr>
        <a:xfrm>
          <a:off x="0" y="0"/>
          <a:ext cx="0" cy="0"/>
          <a:chOff x="0" y="0"/>
          <a:chExt cx="0" cy="0"/>
        </a:xfrm>
      </p:grpSpPr>
      <p:grpSp>
        <p:nvGrpSpPr>
          <p:cNvPr id="8821" name="Google Shape;8821;p122"/>
          <p:cNvGrpSpPr/>
          <p:nvPr/>
        </p:nvGrpSpPr>
        <p:grpSpPr>
          <a:xfrm>
            <a:off x="2595259" y="3755808"/>
            <a:ext cx="7093255" cy="2812587"/>
            <a:chOff x="340191" y="1406490"/>
            <a:chExt cx="8496779" cy="5349995"/>
          </a:xfrm>
        </p:grpSpPr>
        <p:sp>
          <p:nvSpPr>
            <p:cNvPr id="8822" name="Google Shape;8822;p122"/>
            <p:cNvSpPr/>
            <p:nvPr/>
          </p:nvSpPr>
          <p:spPr>
            <a:xfrm>
              <a:off x="1825540" y="2241379"/>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23" name="Google Shape;8823;p122"/>
            <p:cNvSpPr/>
            <p:nvPr/>
          </p:nvSpPr>
          <p:spPr>
            <a:xfrm>
              <a:off x="669684" y="3041418"/>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24" name="Google Shape;8824;p122"/>
            <p:cNvSpPr/>
            <p:nvPr/>
          </p:nvSpPr>
          <p:spPr>
            <a:xfrm>
              <a:off x="6334646" y="2495359"/>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25" name="Google Shape;8825;p122"/>
            <p:cNvSpPr/>
            <p:nvPr/>
          </p:nvSpPr>
          <p:spPr>
            <a:xfrm>
              <a:off x="1241261" y="5352637"/>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26" name="Google Shape;8826;p122"/>
            <p:cNvSpPr/>
            <p:nvPr/>
          </p:nvSpPr>
          <p:spPr>
            <a:xfrm>
              <a:off x="822105" y="4730385"/>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27" name="Google Shape;8827;p122"/>
            <p:cNvSpPr/>
            <p:nvPr/>
          </p:nvSpPr>
          <p:spPr>
            <a:xfrm>
              <a:off x="593474" y="4070036"/>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28" name="Google Shape;8828;p122"/>
            <p:cNvSpPr/>
            <p:nvPr/>
          </p:nvSpPr>
          <p:spPr>
            <a:xfrm>
              <a:off x="7084047" y="2927126"/>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29" name="Google Shape;8829;p122"/>
            <p:cNvSpPr/>
            <p:nvPr/>
          </p:nvSpPr>
          <p:spPr>
            <a:xfrm>
              <a:off x="3425955" y="2000097"/>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30" name="Google Shape;8830;p122"/>
            <p:cNvSpPr/>
            <p:nvPr/>
          </p:nvSpPr>
          <p:spPr>
            <a:xfrm>
              <a:off x="1050735" y="2647748"/>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31" name="Google Shape;8831;p122"/>
            <p:cNvSpPr/>
            <p:nvPr/>
          </p:nvSpPr>
          <p:spPr>
            <a:xfrm>
              <a:off x="4340478" y="1974699"/>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32" name="Google Shape;8832;p122"/>
            <p:cNvSpPr/>
            <p:nvPr/>
          </p:nvSpPr>
          <p:spPr>
            <a:xfrm>
              <a:off x="7401589" y="5606617"/>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33" name="Google Shape;8833;p122"/>
            <p:cNvSpPr/>
            <p:nvPr/>
          </p:nvSpPr>
          <p:spPr>
            <a:xfrm>
              <a:off x="8239902" y="4958969"/>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34" name="Google Shape;8834;p122"/>
            <p:cNvSpPr/>
            <p:nvPr/>
          </p:nvSpPr>
          <p:spPr>
            <a:xfrm>
              <a:off x="8011271" y="4044638"/>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35" name="Google Shape;8835;p122"/>
            <p:cNvSpPr/>
            <p:nvPr/>
          </p:nvSpPr>
          <p:spPr>
            <a:xfrm>
              <a:off x="5166088" y="5847899"/>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36" name="Google Shape;8836;p122"/>
            <p:cNvSpPr/>
            <p:nvPr/>
          </p:nvSpPr>
          <p:spPr>
            <a:xfrm>
              <a:off x="4251565" y="5987587"/>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37" name="Google Shape;8837;p122"/>
            <p:cNvSpPr/>
            <p:nvPr/>
          </p:nvSpPr>
          <p:spPr>
            <a:xfrm>
              <a:off x="3032203" y="5835199"/>
              <a:ext cx="597068" cy="418220"/>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38" name="Google Shape;8838;p122"/>
            <p:cNvSpPr txBox="1"/>
            <p:nvPr/>
          </p:nvSpPr>
          <p:spPr>
            <a:xfrm rot="307360">
              <a:off x="5241476" y="1433580"/>
              <a:ext cx="651327" cy="99524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FF"/>
                </a:buClr>
                <a:buSzPts val="2800"/>
                <a:buFont typeface="Arial"/>
                <a:buNone/>
              </a:pPr>
              <a:r>
                <a:rPr lang="en-US" sz="2800">
                  <a:solidFill>
                    <a:srgbClr val="0000FF"/>
                  </a:solidFill>
                  <a:latin typeface="Arial"/>
                  <a:ea typeface="Arial"/>
                  <a:cs typeface="Arial"/>
                  <a:sym typeface="Arial"/>
                </a:rPr>
                <a:t>…</a:t>
              </a:r>
              <a:endParaRPr/>
            </a:p>
          </p:txBody>
        </p:sp>
        <p:sp>
          <p:nvSpPr>
            <p:cNvPr id="8839" name="Google Shape;8839;p122"/>
            <p:cNvSpPr txBox="1"/>
            <p:nvPr/>
          </p:nvSpPr>
          <p:spPr>
            <a:xfrm rot="2829263">
              <a:off x="7390643" y="3033432"/>
              <a:ext cx="1034279" cy="6267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FF"/>
                </a:buClr>
                <a:buSzPts val="2800"/>
                <a:buFont typeface="Arial"/>
                <a:buNone/>
              </a:pPr>
              <a:r>
                <a:rPr lang="en-US" sz="2800">
                  <a:solidFill>
                    <a:srgbClr val="0000FF"/>
                  </a:solidFill>
                  <a:latin typeface="Arial"/>
                  <a:ea typeface="Arial"/>
                  <a:cs typeface="Arial"/>
                  <a:sym typeface="Arial"/>
                </a:rPr>
                <a:t>…</a:t>
              </a:r>
              <a:endParaRPr/>
            </a:p>
          </p:txBody>
        </p:sp>
        <p:sp>
          <p:nvSpPr>
            <p:cNvPr id="8840" name="Google Shape;8840;p122"/>
            <p:cNvSpPr txBox="1"/>
            <p:nvPr/>
          </p:nvSpPr>
          <p:spPr>
            <a:xfrm rot="9845918">
              <a:off x="6341242" y="5649517"/>
              <a:ext cx="651327" cy="99524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FF"/>
                </a:buClr>
                <a:buSzPts val="2800"/>
                <a:buFont typeface="Arial"/>
                <a:buNone/>
              </a:pPr>
              <a:r>
                <a:rPr lang="en-US" sz="2800">
                  <a:solidFill>
                    <a:srgbClr val="0000FF"/>
                  </a:solidFill>
                  <a:latin typeface="Arial"/>
                  <a:ea typeface="Arial"/>
                  <a:cs typeface="Arial"/>
                  <a:sym typeface="Arial"/>
                </a:rPr>
                <a:t>…</a:t>
              </a:r>
              <a:endParaRPr/>
            </a:p>
          </p:txBody>
        </p:sp>
        <p:sp>
          <p:nvSpPr>
            <p:cNvPr id="8841" name="Google Shape;8841;p122"/>
            <p:cNvSpPr txBox="1"/>
            <p:nvPr/>
          </p:nvSpPr>
          <p:spPr>
            <a:xfrm rot="-9948738">
              <a:off x="2063761" y="5696594"/>
              <a:ext cx="651327" cy="99524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FF"/>
                </a:buClr>
                <a:buSzPts val="2800"/>
                <a:buFont typeface="Arial"/>
                <a:buNone/>
              </a:pPr>
              <a:r>
                <a:rPr lang="en-US" sz="2800">
                  <a:solidFill>
                    <a:srgbClr val="0000FF"/>
                  </a:solidFill>
                  <a:latin typeface="Arial"/>
                  <a:ea typeface="Arial"/>
                  <a:cs typeface="Arial"/>
                  <a:sym typeface="Arial"/>
                </a:rPr>
                <a:t>…</a:t>
              </a:r>
              <a:endParaRPr/>
            </a:p>
          </p:txBody>
        </p:sp>
        <p:sp>
          <p:nvSpPr>
            <p:cNvPr id="8842" name="Google Shape;8842;p122"/>
            <p:cNvSpPr txBox="1"/>
            <p:nvPr/>
          </p:nvSpPr>
          <p:spPr>
            <a:xfrm rot="-4992697">
              <a:off x="195356" y="3660805"/>
              <a:ext cx="1034279" cy="6267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FF"/>
                </a:buClr>
                <a:buSzPts val="2800"/>
                <a:buFont typeface="Arial"/>
                <a:buNone/>
              </a:pPr>
              <a:r>
                <a:rPr lang="en-US" sz="2800">
                  <a:solidFill>
                    <a:srgbClr val="0000FF"/>
                  </a:solidFill>
                  <a:latin typeface="Arial"/>
                  <a:ea typeface="Arial"/>
                  <a:cs typeface="Arial"/>
                  <a:sym typeface="Arial"/>
                </a:rPr>
                <a:t>…</a:t>
              </a:r>
              <a:endParaRPr/>
            </a:p>
          </p:txBody>
        </p:sp>
        <p:sp>
          <p:nvSpPr>
            <p:cNvPr id="8843" name="Google Shape;8843;p122"/>
            <p:cNvSpPr txBox="1"/>
            <p:nvPr/>
          </p:nvSpPr>
          <p:spPr>
            <a:xfrm rot="-520651">
              <a:off x="2482310" y="1498432"/>
              <a:ext cx="651327" cy="99524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FF"/>
                </a:buClr>
                <a:buSzPts val="2800"/>
                <a:buFont typeface="Arial"/>
                <a:buNone/>
              </a:pPr>
              <a:r>
                <a:rPr lang="en-US" sz="2800">
                  <a:solidFill>
                    <a:srgbClr val="0000FF"/>
                  </a:solidFill>
                  <a:latin typeface="Arial"/>
                  <a:ea typeface="Arial"/>
                  <a:cs typeface="Arial"/>
                  <a:sym typeface="Arial"/>
                </a:rPr>
                <a:t>…</a:t>
              </a:r>
              <a:endParaRPr/>
            </a:p>
          </p:txBody>
        </p:sp>
        <p:grpSp>
          <p:nvGrpSpPr>
            <p:cNvPr id="8844" name="Google Shape;8844;p122"/>
            <p:cNvGrpSpPr/>
            <p:nvPr/>
          </p:nvGrpSpPr>
          <p:grpSpPr>
            <a:xfrm>
              <a:off x="4546600" y="3746496"/>
              <a:ext cx="3225799" cy="1117598"/>
              <a:chOff x="7848600" y="2044700"/>
              <a:chExt cx="3200399" cy="1371600"/>
            </a:xfrm>
          </p:grpSpPr>
          <p:sp>
            <p:nvSpPr>
              <p:cNvPr id="8845" name="Google Shape;8845;p122"/>
              <p:cNvSpPr/>
              <p:nvPr/>
            </p:nvSpPr>
            <p:spPr>
              <a:xfrm>
                <a:off x="7848600" y="2044700"/>
                <a:ext cx="3200399" cy="13716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8846" name="Google Shape;8846;p122"/>
              <p:cNvGrpSpPr/>
              <p:nvPr/>
            </p:nvGrpSpPr>
            <p:grpSpPr>
              <a:xfrm>
                <a:off x="8526482" y="2160804"/>
                <a:ext cx="532759" cy="184809"/>
                <a:chOff x="2356" y="1300"/>
                <a:chExt cx="555" cy="194"/>
              </a:xfrm>
            </p:grpSpPr>
            <p:sp>
              <p:nvSpPr>
                <p:cNvPr id="8847" name="Google Shape;8847;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848" name="Google Shape;8848;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849" name="Google Shape;8849;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850" name="Google Shape;8850;p122"/>
                <p:cNvGrpSpPr/>
                <p:nvPr/>
              </p:nvGrpSpPr>
              <p:grpSpPr>
                <a:xfrm>
                  <a:off x="2468" y="1332"/>
                  <a:ext cx="310" cy="60"/>
                  <a:chOff x="2468" y="1332"/>
                  <a:chExt cx="310" cy="60"/>
                </a:xfrm>
              </p:grpSpPr>
              <p:sp>
                <p:nvSpPr>
                  <p:cNvPr id="8851" name="Google Shape;8851;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52" name="Google Shape;8852;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853" name="Google Shape;8853;p122"/>
                <p:cNvCxnSpPr/>
                <p:nvPr/>
              </p:nvCxnSpPr>
              <p:spPr>
                <a:xfrm>
                  <a:off x="2357" y="1362"/>
                  <a:ext cx="0" cy="82"/>
                </a:xfrm>
                <a:prstGeom prst="straightConnector1">
                  <a:avLst/>
                </a:prstGeom>
                <a:noFill/>
                <a:ln cap="flat" cmpd="sng" w="9525">
                  <a:solidFill>
                    <a:schemeClr val="dk1"/>
                  </a:solidFill>
                  <a:prstDash val="solid"/>
                  <a:round/>
                  <a:headEnd len="med" w="med" type="none"/>
                  <a:tailEnd len="med" w="med" type="none"/>
                </a:ln>
              </p:spPr>
            </p:cxnSp>
            <p:cxnSp>
              <p:nvCxnSpPr>
                <p:cNvPr id="8854" name="Google Shape;8854;p122"/>
                <p:cNvCxnSpPr/>
                <p:nvPr/>
              </p:nvCxnSpPr>
              <p:spPr>
                <a:xfrm>
                  <a:off x="2908" y="1364"/>
                  <a:ext cx="0" cy="82"/>
                </a:xfrm>
                <a:prstGeom prst="straightConnector1">
                  <a:avLst/>
                </a:prstGeom>
                <a:noFill/>
                <a:ln cap="flat" cmpd="sng" w="9525">
                  <a:solidFill>
                    <a:schemeClr val="dk1"/>
                  </a:solidFill>
                  <a:prstDash val="solid"/>
                  <a:round/>
                  <a:headEnd len="med" w="med" type="none"/>
                  <a:tailEnd len="med" w="med" type="none"/>
                </a:ln>
              </p:spPr>
            </p:cxnSp>
          </p:grpSp>
          <p:cxnSp>
            <p:nvCxnSpPr>
              <p:cNvPr id="8855" name="Google Shape;8855;p122"/>
              <p:cNvCxnSpPr>
                <a:stCxn id="8854" idx="0"/>
              </p:cNvCxnSpPr>
              <p:nvPr/>
            </p:nvCxnSpPr>
            <p:spPr>
              <a:xfrm>
                <a:off x="9055401" y="2220819"/>
                <a:ext cx="975300" cy="136500"/>
              </a:xfrm>
              <a:prstGeom prst="straightConnector1">
                <a:avLst/>
              </a:prstGeom>
              <a:noFill/>
              <a:ln cap="flat" cmpd="sng" w="9525">
                <a:solidFill>
                  <a:schemeClr val="dk1"/>
                </a:solidFill>
                <a:prstDash val="solid"/>
                <a:round/>
                <a:headEnd len="med" w="med" type="none"/>
                <a:tailEnd len="med" w="med" type="none"/>
              </a:ln>
            </p:spPr>
          </p:cxnSp>
          <p:cxnSp>
            <p:nvCxnSpPr>
              <p:cNvPr id="8856" name="Google Shape;8856;p122"/>
              <p:cNvCxnSpPr/>
              <p:nvPr/>
            </p:nvCxnSpPr>
            <p:spPr>
              <a:xfrm>
                <a:off x="9522191" y="2583188"/>
                <a:ext cx="120745" cy="83392"/>
              </a:xfrm>
              <a:prstGeom prst="straightConnector1">
                <a:avLst/>
              </a:prstGeom>
              <a:noFill/>
              <a:ln cap="flat" cmpd="sng" w="9525">
                <a:solidFill>
                  <a:schemeClr val="dk1"/>
                </a:solidFill>
                <a:prstDash val="solid"/>
                <a:round/>
                <a:headEnd len="med" w="med" type="none"/>
                <a:tailEnd len="med" w="med" type="none"/>
              </a:ln>
            </p:spPr>
          </p:cxnSp>
          <p:cxnSp>
            <p:nvCxnSpPr>
              <p:cNvPr id="8857" name="Google Shape;8857;p122"/>
              <p:cNvCxnSpPr/>
              <p:nvPr/>
            </p:nvCxnSpPr>
            <p:spPr>
              <a:xfrm flipH="1" rot="10800000">
                <a:off x="9323081" y="2786992"/>
                <a:ext cx="243358" cy="45624"/>
              </a:xfrm>
              <a:prstGeom prst="straightConnector1">
                <a:avLst/>
              </a:prstGeom>
              <a:noFill/>
              <a:ln cap="flat" cmpd="sng" w="9525">
                <a:solidFill>
                  <a:schemeClr val="dk1"/>
                </a:solidFill>
                <a:prstDash val="solid"/>
                <a:round/>
                <a:headEnd len="med" w="med" type="none"/>
                <a:tailEnd len="med" w="med" type="none"/>
              </a:ln>
            </p:spPr>
          </p:cxnSp>
          <p:cxnSp>
            <p:nvCxnSpPr>
              <p:cNvPr id="8858" name="Google Shape;8858;p122"/>
              <p:cNvCxnSpPr/>
              <p:nvPr/>
            </p:nvCxnSpPr>
            <p:spPr>
              <a:xfrm flipH="1" rot="10800000">
                <a:off x="9028147" y="2611644"/>
                <a:ext cx="192778" cy="109584"/>
              </a:xfrm>
              <a:prstGeom prst="straightConnector1">
                <a:avLst/>
              </a:prstGeom>
              <a:noFill/>
              <a:ln cap="flat" cmpd="sng" w="9525">
                <a:solidFill>
                  <a:schemeClr val="dk1"/>
                </a:solidFill>
                <a:prstDash val="solid"/>
                <a:round/>
                <a:headEnd len="med" w="med" type="none"/>
                <a:tailEnd len="med" w="med" type="none"/>
              </a:ln>
            </p:spPr>
          </p:cxnSp>
          <p:cxnSp>
            <p:nvCxnSpPr>
              <p:cNvPr id="8859" name="Google Shape;8859;p122"/>
              <p:cNvCxnSpPr/>
              <p:nvPr/>
            </p:nvCxnSpPr>
            <p:spPr>
              <a:xfrm flipH="1" rot="10800000">
                <a:off x="8729859" y="2909476"/>
                <a:ext cx="192778" cy="109584"/>
              </a:xfrm>
              <a:prstGeom prst="straightConnector1">
                <a:avLst/>
              </a:prstGeom>
              <a:noFill/>
              <a:ln cap="flat" cmpd="sng" w="9525">
                <a:solidFill>
                  <a:schemeClr val="dk1"/>
                </a:solidFill>
                <a:prstDash val="solid"/>
                <a:round/>
                <a:headEnd len="med" w="med" type="none"/>
                <a:tailEnd len="med" w="med" type="none"/>
              </a:ln>
            </p:spPr>
          </p:cxnSp>
          <p:cxnSp>
            <p:nvCxnSpPr>
              <p:cNvPr id="8860" name="Google Shape;8860;p122"/>
              <p:cNvCxnSpPr/>
              <p:nvPr/>
            </p:nvCxnSpPr>
            <p:spPr>
              <a:xfrm flipH="1" rot="10800000">
                <a:off x="9537887" y="2836224"/>
                <a:ext cx="252969" cy="252942"/>
              </a:xfrm>
              <a:prstGeom prst="straightConnector1">
                <a:avLst/>
              </a:prstGeom>
              <a:noFill/>
              <a:ln cap="flat" cmpd="sng" w="9525">
                <a:solidFill>
                  <a:schemeClr val="dk1"/>
                </a:solidFill>
                <a:prstDash val="solid"/>
                <a:round/>
                <a:headEnd len="med" w="med" type="none"/>
                <a:tailEnd len="med" w="med" type="none"/>
              </a:ln>
            </p:spPr>
          </p:cxnSp>
          <p:cxnSp>
            <p:nvCxnSpPr>
              <p:cNvPr id="8861" name="Google Shape;8861;p122"/>
              <p:cNvCxnSpPr/>
              <p:nvPr/>
            </p:nvCxnSpPr>
            <p:spPr>
              <a:xfrm rot="10800000">
                <a:off x="10029359" y="2822067"/>
                <a:ext cx="354959" cy="124390"/>
              </a:xfrm>
              <a:prstGeom prst="straightConnector1">
                <a:avLst/>
              </a:prstGeom>
              <a:noFill/>
              <a:ln cap="flat" cmpd="sng" w="9525">
                <a:solidFill>
                  <a:schemeClr val="dk1"/>
                </a:solidFill>
                <a:prstDash val="solid"/>
                <a:round/>
                <a:headEnd len="med" w="med" type="none"/>
                <a:tailEnd len="med" w="med" type="none"/>
              </a:ln>
            </p:spPr>
          </p:cxnSp>
          <p:cxnSp>
            <p:nvCxnSpPr>
              <p:cNvPr id="8862" name="Google Shape;8862;p122"/>
              <p:cNvCxnSpPr/>
              <p:nvPr/>
            </p:nvCxnSpPr>
            <p:spPr>
              <a:xfrm flipH="1" rot="10800000">
                <a:off x="10015190" y="2475242"/>
                <a:ext cx="283363" cy="195664"/>
              </a:xfrm>
              <a:prstGeom prst="straightConnector1">
                <a:avLst/>
              </a:prstGeom>
              <a:noFill/>
              <a:ln cap="flat" cmpd="sng" w="9525">
                <a:solidFill>
                  <a:schemeClr val="dk1"/>
                </a:solidFill>
                <a:prstDash val="solid"/>
                <a:round/>
                <a:headEnd len="med" w="med" type="none"/>
                <a:tailEnd len="med" w="med" type="none"/>
              </a:ln>
            </p:spPr>
          </p:cxnSp>
          <p:cxnSp>
            <p:nvCxnSpPr>
              <p:cNvPr id="8863" name="Google Shape;8863;p122"/>
              <p:cNvCxnSpPr>
                <a:endCxn id="8847" idx="4"/>
              </p:cNvCxnSpPr>
              <p:nvPr/>
            </p:nvCxnSpPr>
            <p:spPr>
              <a:xfrm rot="10800000">
                <a:off x="8791902" y="2345613"/>
                <a:ext cx="411000" cy="87300"/>
              </a:xfrm>
              <a:prstGeom prst="straightConnector1">
                <a:avLst/>
              </a:prstGeom>
              <a:noFill/>
              <a:ln cap="flat" cmpd="sng" w="9525">
                <a:solidFill>
                  <a:schemeClr val="dk1"/>
                </a:solidFill>
                <a:prstDash val="solid"/>
                <a:round/>
                <a:headEnd len="med" w="med" type="none"/>
                <a:tailEnd len="med" w="med" type="none"/>
              </a:ln>
            </p:spPr>
          </p:cxnSp>
          <p:grpSp>
            <p:nvGrpSpPr>
              <p:cNvPr id="8864" name="Google Shape;8864;p122"/>
              <p:cNvGrpSpPr/>
              <p:nvPr/>
            </p:nvGrpSpPr>
            <p:grpSpPr>
              <a:xfrm>
                <a:off x="9555206" y="2650627"/>
                <a:ext cx="532759" cy="184809"/>
                <a:chOff x="2356" y="1300"/>
                <a:chExt cx="555" cy="194"/>
              </a:xfrm>
            </p:grpSpPr>
            <p:sp>
              <p:nvSpPr>
                <p:cNvPr id="8865" name="Google Shape;8865;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866" name="Google Shape;8866;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867" name="Google Shape;8867;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868" name="Google Shape;8868;p122"/>
                <p:cNvGrpSpPr/>
                <p:nvPr/>
              </p:nvGrpSpPr>
              <p:grpSpPr>
                <a:xfrm>
                  <a:off x="2468" y="1332"/>
                  <a:ext cx="310" cy="60"/>
                  <a:chOff x="2468" y="1332"/>
                  <a:chExt cx="310" cy="60"/>
                </a:xfrm>
              </p:grpSpPr>
              <p:sp>
                <p:nvSpPr>
                  <p:cNvPr id="8869" name="Google Shape;8869;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70" name="Google Shape;8870;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871" name="Google Shape;8871;p122"/>
                <p:cNvCxnSpPr/>
                <p:nvPr/>
              </p:nvCxnSpPr>
              <p:spPr>
                <a:xfrm>
                  <a:off x="2358"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872" name="Google Shape;8872;p122"/>
                <p:cNvCxnSpPr/>
                <p:nvPr/>
              </p:nvCxnSpPr>
              <p:spPr>
                <a:xfrm>
                  <a:off x="2908"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873" name="Google Shape;8873;p122"/>
              <p:cNvGrpSpPr/>
              <p:nvPr/>
            </p:nvGrpSpPr>
            <p:grpSpPr>
              <a:xfrm>
                <a:off x="8772607" y="2725609"/>
                <a:ext cx="532759" cy="184809"/>
                <a:chOff x="2356" y="1300"/>
                <a:chExt cx="555" cy="194"/>
              </a:xfrm>
            </p:grpSpPr>
            <p:sp>
              <p:nvSpPr>
                <p:cNvPr id="8874" name="Google Shape;8874;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875" name="Google Shape;8875;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876" name="Google Shape;8876;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877" name="Google Shape;8877;p122"/>
                <p:cNvGrpSpPr/>
                <p:nvPr/>
              </p:nvGrpSpPr>
              <p:grpSpPr>
                <a:xfrm>
                  <a:off x="2468" y="1332"/>
                  <a:ext cx="310" cy="60"/>
                  <a:chOff x="2468" y="1332"/>
                  <a:chExt cx="310" cy="60"/>
                </a:xfrm>
              </p:grpSpPr>
              <p:sp>
                <p:nvSpPr>
                  <p:cNvPr id="8878" name="Google Shape;8878;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79" name="Google Shape;8879;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880" name="Google Shape;8880;p122"/>
                <p:cNvCxnSpPr/>
                <p:nvPr/>
              </p:nvCxnSpPr>
              <p:spPr>
                <a:xfrm>
                  <a:off x="2358" y="1356"/>
                  <a:ext cx="0" cy="88"/>
                </a:xfrm>
                <a:prstGeom prst="straightConnector1">
                  <a:avLst/>
                </a:prstGeom>
                <a:noFill/>
                <a:ln cap="flat" cmpd="sng" w="9525">
                  <a:solidFill>
                    <a:schemeClr val="dk1"/>
                  </a:solidFill>
                  <a:prstDash val="solid"/>
                  <a:round/>
                  <a:headEnd len="med" w="med" type="none"/>
                  <a:tailEnd len="med" w="med" type="none"/>
                </a:ln>
              </p:spPr>
            </p:cxnSp>
            <p:cxnSp>
              <p:nvCxnSpPr>
                <p:cNvPr id="8881" name="Google Shape;8881;p122"/>
                <p:cNvCxnSpPr/>
                <p:nvPr/>
              </p:nvCxnSpPr>
              <p:spPr>
                <a:xfrm>
                  <a:off x="2908" y="1358"/>
                  <a:ext cx="0" cy="86"/>
                </a:xfrm>
                <a:prstGeom prst="straightConnector1">
                  <a:avLst/>
                </a:prstGeom>
                <a:noFill/>
                <a:ln cap="flat" cmpd="sng" w="9525">
                  <a:solidFill>
                    <a:schemeClr val="dk1"/>
                  </a:solidFill>
                  <a:prstDash val="solid"/>
                  <a:round/>
                  <a:headEnd len="med" w="med" type="none"/>
                  <a:tailEnd len="med" w="med" type="none"/>
                </a:ln>
              </p:spPr>
            </p:cxnSp>
          </p:grpSp>
          <p:grpSp>
            <p:nvGrpSpPr>
              <p:cNvPr id="8882" name="Google Shape;8882;p122"/>
              <p:cNvGrpSpPr/>
              <p:nvPr/>
            </p:nvGrpSpPr>
            <p:grpSpPr>
              <a:xfrm>
                <a:off x="9060908" y="2428111"/>
                <a:ext cx="532759" cy="184809"/>
                <a:chOff x="2356" y="1300"/>
                <a:chExt cx="555" cy="194"/>
              </a:xfrm>
            </p:grpSpPr>
            <p:sp>
              <p:nvSpPr>
                <p:cNvPr id="8883" name="Google Shape;8883;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884" name="Google Shape;8884;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885" name="Google Shape;8885;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886" name="Google Shape;8886;p122"/>
                <p:cNvGrpSpPr/>
                <p:nvPr/>
              </p:nvGrpSpPr>
              <p:grpSpPr>
                <a:xfrm>
                  <a:off x="2468" y="1332"/>
                  <a:ext cx="310" cy="60"/>
                  <a:chOff x="2468" y="1332"/>
                  <a:chExt cx="310" cy="60"/>
                </a:xfrm>
              </p:grpSpPr>
              <p:sp>
                <p:nvSpPr>
                  <p:cNvPr id="8887" name="Google Shape;8887;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88" name="Google Shape;8888;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889" name="Google Shape;8889;p122"/>
                <p:cNvCxnSpPr/>
                <p:nvPr/>
              </p:nvCxnSpPr>
              <p:spPr>
                <a:xfrm>
                  <a:off x="2358" y="1362"/>
                  <a:ext cx="0" cy="84"/>
                </a:xfrm>
                <a:prstGeom prst="straightConnector1">
                  <a:avLst/>
                </a:prstGeom>
                <a:noFill/>
                <a:ln cap="flat" cmpd="sng" w="9525">
                  <a:solidFill>
                    <a:schemeClr val="dk1"/>
                  </a:solidFill>
                  <a:prstDash val="solid"/>
                  <a:round/>
                  <a:headEnd len="med" w="med" type="none"/>
                  <a:tailEnd len="med" w="med" type="none"/>
                </a:ln>
              </p:spPr>
            </p:cxnSp>
            <p:cxnSp>
              <p:nvCxnSpPr>
                <p:cNvPr id="8890" name="Google Shape;8890;p122"/>
                <p:cNvCxnSpPr/>
                <p:nvPr/>
              </p:nvCxnSpPr>
              <p:spPr>
                <a:xfrm>
                  <a:off x="2908" y="1364"/>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891" name="Google Shape;8891;p122"/>
              <p:cNvGrpSpPr/>
              <p:nvPr/>
            </p:nvGrpSpPr>
            <p:grpSpPr>
              <a:xfrm>
                <a:off x="10005281" y="2289952"/>
                <a:ext cx="532759" cy="184809"/>
                <a:chOff x="2356" y="1300"/>
                <a:chExt cx="555" cy="194"/>
              </a:xfrm>
            </p:grpSpPr>
            <p:sp>
              <p:nvSpPr>
                <p:cNvPr id="8892" name="Google Shape;8892;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893" name="Google Shape;8893;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894" name="Google Shape;8894;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895" name="Google Shape;8895;p122"/>
                <p:cNvGrpSpPr/>
                <p:nvPr/>
              </p:nvGrpSpPr>
              <p:grpSpPr>
                <a:xfrm>
                  <a:off x="2468" y="1332"/>
                  <a:ext cx="310" cy="60"/>
                  <a:chOff x="2468" y="1332"/>
                  <a:chExt cx="310" cy="60"/>
                </a:xfrm>
              </p:grpSpPr>
              <p:sp>
                <p:nvSpPr>
                  <p:cNvPr id="8896" name="Google Shape;8896;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97" name="Google Shape;8897;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898" name="Google Shape;8898;p122"/>
                <p:cNvCxnSpPr/>
                <p:nvPr/>
              </p:nvCxnSpPr>
              <p:spPr>
                <a:xfrm>
                  <a:off x="2357" y="1362"/>
                  <a:ext cx="0" cy="84"/>
                </a:xfrm>
                <a:prstGeom prst="straightConnector1">
                  <a:avLst/>
                </a:prstGeom>
                <a:noFill/>
                <a:ln cap="flat" cmpd="sng" w="9525">
                  <a:solidFill>
                    <a:schemeClr val="dk1"/>
                  </a:solidFill>
                  <a:prstDash val="solid"/>
                  <a:round/>
                  <a:headEnd len="med" w="med" type="none"/>
                  <a:tailEnd len="med" w="med" type="none"/>
                </a:ln>
              </p:spPr>
            </p:cxnSp>
            <p:cxnSp>
              <p:nvCxnSpPr>
                <p:cNvPr id="8899" name="Google Shape;8899;p122"/>
                <p:cNvCxnSpPr/>
                <p:nvPr/>
              </p:nvCxnSpPr>
              <p:spPr>
                <a:xfrm>
                  <a:off x="2908" y="1364"/>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900" name="Google Shape;8900;p122"/>
              <p:cNvGrpSpPr/>
              <p:nvPr/>
            </p:nvGrpSpPr>
            <p:grpSpPr>
              <a:xfrm>
                <a:off x="10232661" y="2882876"/>
                <a:ext cx="532759" cy="184809"/>
                <a:chOff x="2356" y="1300"/>
                <a:chExt cx="555" cy="194"/>
              </a:xfrm>
            </p:grpSpPr>
            <p:sp>
              <p:nvSpPr>
                <p:cNvPr id="8901" name="Google Shape;8901;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02" name="Google Shape;8902;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03" name="Google Shape;8903;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904" name="Google Shape;8904;p122"/>
                <p:cNvGrpSpPr/>
                <p:nvPr/>
              </p:nvGrpSpPr>
              <p:grpSpPr>
                <a:xfrm>
                  <a:off x="2468" y="1332"/>
                  <a:ext cx="310" cy="60"/>
                  <a:chOff x="2468" y="1332"/>
                  <a:chExt cx="310" cy="60"/>
                </a:xfrm>
              </p:grpSpPr>
              <p:sp>
                <p:nvSpPr>
                  <p:cNvPr id="8905" name="Google Shape;8905;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06" name="Google Shape;8906;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907" name="Google Shape;8907;p122"/>
                <p:cNvCxnSpPr/>
                <p:nvPr/>
              </p:nvCxnSpPr>
              <p:spPr>
                <a:xfrm>
                  <a:off x="2358"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908" name="Google Shape;8908;p122"/>
                <p:cNvCxnSpPr/>
                <p:nvPr/>
              </p:nvCxnSpPr>
              <p:spPr>
                <a:xfrm>
                  <a:off x="2908"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909" name="Google Shape;8909;p122"/>
              <p:cNvGrpSpPr/>
              <p:nvPr/>
            </p:nvGrpSpPr>
            <p:grpSpPr>
              <a:xfrm>
                <a:off x="9330660" y="3072767"/>
                <a:ext cx="532759" cy="184809"/>
                <a:chOff x="2356" y="1300"/>
                <a:chExt cx="555" cy="194"/>
              </a:xfrm>
            </p:grpSpPr>
            <p:sp>
              <p:nvSpPr>
                <p:cNvPr id="8910" name="Google Shape;8910;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11" name="Google Shape;8911;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12" name="Google Shape;8912;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913" name="Google Shape;8913;p122"/>
                <p:cNvGrpSpPr/>
                <p:nvPr/>
              </p:nvGrpSpPr>
              <p:grpSpPr>
                <a:xfrm>
                  <a:off x="2468" y="1332"/>
                  <a:ext cx="310" cy="60"/>
                  <a:chOff x="2468" y="1332"/>
                  <a:chExt cx="310" cy="60"/>
                </a:xfrm>
              </p:grpSpPr>
              <p:sp>
                <p:nvSpPr>
                  <p:cNvPr id="8914" name="Google Shape;8914;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15" name="Google Shape;8915;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916" name="Google Shape;8916;p122"/>
                <p:cNvCxnSpPr/>
                <p:nvPr/>
              </p:nvCxnSpPr>
              <p:spPr>
                <a:xfrm>
                  <a:off x="2358" y="1362"/>
                  <a:ext cx="0" cy="84"/>
                </a:xfrm>
                <a:prstGeom prst="straightConnector1">
                  <a:avLst/>
                </a:prstGeom>
                <a:noFill/>
                <a:ln cap="flat" cmpd="sng" w="9525">
                  <a:solidFill>
                    <a:schemeClr val="dk1"/>
                  </a:solidFill>
                  <a:prstDash val="solid"/>
                  <a:round/>
                  <a:headEnd len="med" w="med" type="none"/>
                  <a:tailEnd len="med" w="med" type="none"/>
                </a:ln>
              </p:spPr>
            </p:cxnSp>
            <p:cxnSp>
              <p:nvCxnSpPr>
                <p:cNvPr id="8917" name="Google Shape;8917;p122"/>
                <p:cNvCxnSpPr/>
                <p:nvPr/>
              </p:nvCxnSpPr>
              <p:spPr>
                <a:xfrm>
                  <a:off x="2907" y="1364"/>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918" name="Google Shape;8918;p122"/>
              <p:cNvGrpSpPr/>
              <p:nvPr/>
            </p:nvGrpSpPr>
            <p:grpSpPr>
              <a:xfrm>
                <a:off x="8438032" y="3018963"/>
                <a:ext cx="532759" cy="184809"/>
                <a:chOff x="2356" y="1300"/>
                <a:chExt cx="555" cy="194"/>
              </a:xfrm>
            </p:grpSpPr>
            <p:sp>
              <p:nvSpPr>
                <p:cNvPr id="8919" name="Google Shape;8919;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20" name="Google Shape;8920;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21" name="Google Shape;8921;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922" name="Google Shape;8922;p122"/>
                <p:cNvGrpSpPr/>
                <p:nvPr/>
              </p:nvGrpSpPr>
              <p:grpSpPr>
                <a:xfrm>
                  <a:off x="2468" y="1332"/>
                  <a:ext cx="310" cy="60"/>
                  <a:chOff x="2468" y="1332"/>
                  <a:chExt cx="310" cy="60"/>
                </a:xfrm>
              </p:grpSpPr>
              <p:sp>
                <p:nvSpPr>
                  <p:cNvPr id="8923" name="Google Shape;8923;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24" name="Google Shape;8924;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925" name="Google Shape;8925;p122"/>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926" name="Google Shape;8926;p122"/>
                <p:cNvCxnSpPr/>
                <p:nvPr/>
              </p:nvCxnSpPr>
              <p:spPr>
                <a:xfrm>
                  <a:off x="2910" y="1363"/>
                  <a:ext cx="0" cy="84"/>
                </a:xfrm>
                <a:prstGeom prst="straightConnector1">
                  <a:avLst/>
                </a:prstGeom>
                <a:noFill/>
                <a:ln cap="flat" cmpd="sng" w="9525">
                  <a:solidFill>
                    <a:schemeClr val="dk1"/>
                  </a:solidFill>
                  <a:prstDash val="solid"/>
                  <a:round/>
                  <a:headEnd len="med" w="med" type="none"/>
                  <a:tailEnd len="med" w="med" type="none"/>
                </a:ln>
              </p:spPr>
            </p:cxnSp>
          </p:grpSp>
        </p:grpSp>
        <p:grpSp>
          <p:nvGrpSpPr>
            <p:cNvPr id="8927" name="Google Shape;8927;p122"/>
            <p:cNvGrpSpPr/>
            <p:nvPr/>
          </p:nvGrpSpPr>
          <p:grpSpPr>
            <a:xfrm>
              <a:off x="1803401" y="2755897"/>
              <a:ext cx="3467099" cy="1193800"/>
              <a:chOff x="7848600" y="2044700"/>
              <a:chExt cx="3200399" cy="1371600"/>
            </a:xfrm>
          </p:grpSpPr>
          <p:sp>
            <p:nvSpPr>
              <p:cNvPr id="8928" name="Google Shape;8928;p122"/>
              <p:cNvSpPr/>
              <p:nvPr/>
            </p:nvSpPr>
            <p:spPr>
              <a:xfrm>
                <a:off x="7848600" y="2044700"/>
                <a:ext cx="3200399" cy="13716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8929" name="Google Shape;8929;p122"/>
              <p:cNvGrpSpPr/>
              <p:nvPr/>
            </p:nvGrpSpPr>
            <p:grpSpPr>
              <a:xfrm>
                <a:off x="8526482" y="2160804"/>
                <a:ext cx="532759" cy="184809"/>
                <a:chOff x="2356" y="1300"/>
                <a:chExt cx="555" cy="194"/>
              </a:xfrm>
            </p:grpSpPr>
            <p:sp>
              <p:nvSpPr>
                <p:cNvPr id="8930" name="Google Shape;8930;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31" name="Google Shape;8931;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32" name="Google Shape;8932;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933" name="Google Shape;8933;p122"/>
                <p:cNvGrpSpPr/>
                <p:nvPr/>
              </p:nvGrpSpPr>
              <p:grpSpPr>
                <a:xfrm>
                  <a:off x="2468" y="1332"/>
                  <a:ext cx="310" cy="60"/>
                  <a:chOff x="2468" y="1332"/>
                  <a:chExt cx="310" cy="60"/>
                </a:xfrm>
              </p:grpSpPr>
              <p:sp>
                <p:nvSpPr>
                  <p:cNvPr id="8934" name="Google Shape;8934;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35" name="Google Shape;8935;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936" name="Google Shape;8936;p122"/>
                <p:cNvCxnSpPr/>
                <p:nvPr/>
              </p:nvCxnSpPr>
              <p:spPr>
                <a:xfrm>
                  <a:off x="2358" y="1362"/>
                  <a:ext cx="0" cy="82"/>
                </a:xfrm>
                <a:prstGeom prst="straightConnector1">
                  <a:avLst/>
                </a:prstGeom>
                <a:noFill/>
                <a:ln cap="flat" cmpd="sng" w="9525">
                  <a:solidFill>
                    <a:schemeClr val="dk1"/>
                  </a:solidFill>
                  <a:prstDash val="solid"/>
                  <a:round/>
                  <a:headEnd len="med" w="med" type="none"/>
                  <a:tailEnd len="med" w="med" type="none"/>
                </a:ln>
              </p:spPr>
            </p:cxnSp>
            <p:cxnSp>
              <p:nvCxnSpPr>
                <p:cNvPr id="8937" name="Google Shape;8937;p122"/>
                <p:cNvCxnSpPr/>
                <p:nvPr/>
              </p:nvCxnSpPr>
              <p:spPr>
                <a:xfrm>
                  <a:off x="2906" y="1364"/>
                  <a:ext cx="0" cy="84"/>
                </a:xfrm>
                <a:prstGeom prst="straightConnector1">
                  <a:avLst/>
                </a:prstGeom>
                <a:noFill/>
                <a:ln cap="flat" cmpd="sng" w="9525">
                  <a:solidFill>
                    <a:schemeClr val="dk1"/>
                  </a:solidFill>
                  <a:prstDash val="solid"/>
                  <a:round/>
                  <a:headEnd len="med" w="med" type="none"/>
                  <a:tailEnd len="med" w="med" type="none"/>
                </a:ln>
              </p:spPr>
            </p:cxnSp>
          </p:grpSp>
          <p:cxnSp>
            <p:nvCxnSpPr>
              <p:cNvPr id="8938" name="Google Shape;8938;p122"/>
              <p:cNvCxnSpPr>
                <a:stCxn id="8937" idx="0"/>
              </p:cNvCxnSpPr>
              <p:nvPr/>
            </p:nvCxnSpPr>
            <p:spPr>
              <a:xfrm>
                <a:off x="9055401" y="2220819"/>
                <a:ext cx="975300" cy="136500"/>
              </a:xfrm>
              <a:prstGeom prst="straightConnector1">
                <a:avLst/>
              </a:prstGeom>
              <a:noFill/>
              <a:ln cap="flat" cmpd="sng" w="9525">
                <a:solidFill>
                  <a:schemeClr val="dk1"/>
                </a:solidFill>
                <a:prstDash val="solid"/>
                <a:round/>
                <a:headEnd len="med" w="med" type="none"/>
                <a:tailEnd len="med" w="med" type="none"/>
              </a:ln>
            </p:spPr>
          </p:cxnSp>
          <p:cxnSp>
            <p:nvCxnSpPr>
              <p:cNvPr id="8939" name="Google Shape;8939;p122"/>
              <p:cNvCxnSpPr/>
              <p:nvPr/>
            </p:nvCxnSpPr>
            <p:spPr>
              <a:xfrm>
                <a:off x="9522191" y="2583188"/>
                <a:ext cx="120745" cy="83392"/>
              </a:xfrm>
              <a:prstGeom prst="straightConnector1">
                <a:avLst/>
              </a:prstGeom>
              <a:noFill/>
              <a:ln cap="flat" cmpd="sng" w="9525">
                <a:solidFill>
                  <a:schemeClr val="dk1"/>
                </a:solidFill>
                <a:prstDash val="solid"/>
                <a:round/>
                <a:headEnd len="med" w="med" type="none"/>
                <a:tailEnd len="med" w="med" type="none"/>
              </a:ln>
            </p:spPr>
          </p:cxnSp>
          <p:cxnSp>
            <p:nvCxnSpPr>
              <p:cNvPr id="8940" name="Google Shape;8940;p122"/>
              <p:cNvCxnSpPr/>
              <p:nvPr/>
            </p:nvCxnSpPr>
            <p:spPr>
              <a:xfrm flipH="1" rot="10800000">
                <a:off x="9323081" y="2786992"/>
                <a:ext cx="243358" cy="45624"/>
              </a:xfrm>
              <a:prstGeom prst="straightConnector1">
                <a:avLst/>
              </a:prstGeom>
              <a:noFill/>
              <a:ln cap="flat" cmpd="sng" w="9525">
                <a:solidFill>
                  <a:schemeClr val="dk1"/>
                </a:solidFill>
                <a:prstDash val="solid"/>
                <a:round/>
                <a:headEnd len="med" w="med" type="none"/>
                <a:tailEnd len="med" w="med" type="none"/>
              </a:ln>
            </p:spPr>
          </p:cxnSp>
          <p:cxnSp>
            <p:nvCxnSpPr>
              <p:cNvPr id="8941" name="Google Shape;8941;p122"/>
              <p:cNvCxnSpPr/>
              <p:nvPr/>
            </p:nvCxnSpPr>
            <p:spPr>
              <a:xfrm flipH="1" rot="10800000">
                <a:off x="9028147" y="2611644"/>
                <a:ext cx="192778" cy="109584"/>
              </a:xfrm>
              <a:prstGeom prst="straightConnector1">
                <a:avLst/>
              </a:prstGeom>
              <a:noFill/>
              <a:ln cap="flat" cmpd="sng" w="9525">
                <a:solidFill>
                  <a:schemeClr val="dk1"/>
                </a:solidFill>
                <a:prstDash val="solid"/>
                <a:round/>
                <a:headEnd len="med" w="med" type="none"/>
                <a:tailEnd len="med" w="med" type="none"/>
              </a:ln>
            </p:spPr>
          </p:cxnSp>
          <p:cxnSp>
            <p:nvCxnSpPr>
              <p:cNvPr id="8942" name="Google Shape;8942;p122"/>
              <p:cNvCxnSpPr/>
              <p:nvPr/>
            </p:nvCxnSpPr>
            <p:spPr>
              <a:xfrm flipH="1" rot="10800000">
                <a:off x="8729859" y="2909476"/>
                <a:ext cx="192778" cy="109584"/>
              </a:xfrm>
              <a:prstGeom prst="straightConnector1">
                <a:avLst/>
              </a:prstGeom>
              <a:noFill/>
              <a:ln cap="flat" cmpd="sng" w="9525">
                <a:solidFill>
                  <a:schemeClr val="dk1"/>
                </a:solidFill>
                <a:prstDash val="solid"/>
                <a:round/>
                <a:headEnd len="med" w="med" type="none"/>
                <a:tailEnd len="med" w="med" type="none"/>
              </a:ln>
            </p:spPr>
          </p:cxnSp>
          <p:cxnSp>
            <p:nvCxnSpPr>
              <p:cNvPr id="8943" name="Google Shape;8943;p122"/>
              <p:cNvCxnSpPr/>
              <p:nvPr/>
            </p:nvCxnSpPr>
            <p:spPr>
              <a:xfrm flipH="1" rot="10800000">
                <a:off x="9537887" y="2836224"/>
                <a:ext cx="252969" cy="252942"/>
              </a:xfrm>
              <a:prstGeom prst="straightConnector1">
                <a:avLst/>
              </a:prstGeom>
              <a:noFill/>
              <a:ln cap="flat" cmpd="sng" w="9525">
                <a:solidFill>
                  <a:schemeClr val="dk1"/>
                </a:solidFill>
                <a:prstDash val="solid"/>
                <a:round/>
                <a:headEnd len="med" w="med" type="none"/>
                <a:tailEnd len="med" w="med" type="none"/>
              </a:ln>
            </p:spPr>
          </p:cxnSp>
          <p:cxnSp>
            <p:nvCxnSpPr>
              <p:cNvPr id="8944" name="Google Shape;8944;p122"/>
              <p:cNvCxnSpPr/>
              <p:nvPr/>
            </p:nvCxnSpPr>
            <p:spPr>
              <a:xfrm rot="10800000">
                <a:off x="10029359" y="2822067"/>
                <a:ext cx="354959" cy="124390"/>
              </a:xfrm>
              <a:prstGeom prst="straightConnector1">
                <a:avLst/>
              </a:prstGeom>
              <a:noFill/>
              <a:ln cap="flat" cmpd="sng" w="9525">
                <a:solidFill>
                  <a:schemeClr val="dk1"/>
                </a:solidFill>
                <a:prstDash val="solid"/>
                <a:round/>
                <a:headEnd len="med" w="med" type="none"/>
                <a:tailEnd len="med" w="med" type="none"/>
              </a:ln>
            </p:spPr>
          </p:cxnSp>
          <p:cxnSp>
            <p:nvCxnSpPr>
              <p:cNvPr id="8945" name="Google Shape;8945;p122"/>
              <p:cNvCxnSpPr/>
              <p:nvPr/>
            </p:nvCxnSpPr>
            <p:spPr>
              <a:xfrm flipH="1" rot="10800000">
                <a:off x="10015190" y="2475242"/>
                <a:ext cx="283363" cy="195664"/>
              </a:xfrm>
              <a:prstGeom prst="straightConnector1">
                <a:avLst/>
              </a:prstGeom>
              <a:noFill/>
              <a:ln cap="flat" cmpd="sng" w="9525">
                <a:solidFill>
                  <a:schemeClr val="dk1"/>
                </a:solidFill>
                <a:prstDash val="solid"/>
                <a:round/>
                <a:headEnd len="med" w="med" type="none"/>
                <a:tailEnd len="med" w="med" type="none"/>
              </a:ln>
            </p:spPr>
          </p:cxnSp>
          <p:cxnSp>
            <p:nvCxnSpPr>
              <p:cNvPr id="8946" name="Google Shape;8946;p122"/>
              <p:cNvCxnSpPr>
                <a:endCxn id="8930" idx="4"/>
              </p:cNvCxnSpPr>
              <p:nvPr/>
            </p:nvCxnSpPr>
            <p:spPr>
              <a:xfrm rot="10800000">
                <a:off x="8791902" y="2345613"/>
                <a:ext cx="411000" cy="87300"/>
              </a:xfrm>
              <a:prstGeom prst="straightConnector1">
                <a:avLst/>
              </a:prstGeom>
              <a:noFill/>
              <a:ln cap="flat" cmpd="sng" w="9525">
                <a:solidFill>
                  <a:schemeClr val="dk1"/>
                </a:solidFill>
                <a:prstDash val="solid"/>
                <a:round/>
                <a:headEnd len="med" w="med" type="none"/>
                <a:tailEnd len="med" w="med" type="none"/>
              </a:ln>
            </p:spPr>
          </p:cxnSp>
          <p:grpSp>
            <p:nvGrpSpPr>
              <p:cNvPr id="8947" name="Google Shape;8947;p122"/>
              <p:cNvGrpSpPr/>
              <p:nvPr/>
            </p:nvGrpSpPr>
            <p:grpSpPr>
              <a:xfrm>
                <a:off x="9555206" y="2650627"/>
                <a:ext cx="532759" cy="184809"/>
                <a:chOff x="2356" y="1300"/>
                <a:chExt cx="555" cy="194"/>
              </a:xfrm>
            </p:grpSpPr>
            <p:sp>
              <p:nvSpPr>
                <p:cNvPr id="8948" name="Google Shape;8948;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49" name="Google Shape;8949;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50" name="Google Shape;8950;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951" name="Google Shape;8951;p122"/>
                <p:cNvGrpSpPr/>
                <p:nvPr/>
              </p:nvGrpSpPr>
              <p:grpSpPr>
                <a:xfrm>
                  <a:off x="2468" y="1332"/>
                  <a:ext cx="310" cy="60"/>
                  <a:chOff x="2468" y="1332"/>
                  <a:chExt cx="310" cy="60"/>
                </a:xfrm>
              </p:grpSpPr>
              <p:sp>
                <p:nvSpPr>
                  <p:cNvPr id="8952" name="Google Shape;8952;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53" name="Google Shape;8953;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954" name="Google Shape;8954;p122"/>
                <p:cNvCxnSpPr/>
                <p:nvPr/>
              </p:nvCxnSpPr>
              <p:spPr>
                <a:xfrm>
                  <a:off x="2358"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955" name="Google Shape;8955;p122"/>
                <p:cNvCxnSpPr/>
                <p:nvPr/>
              </p:nvCxnSpPr>
              <p:spPr>
                <a:xfrm>
                  <a:off x="2906"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956" name="Google Shape;8956;p122"/>
              <p:cNvGrpSpPr/>
              <p:nvPr/>
            </p:nvGrpSpPr>
            <p:grpSpPr>
              <a:xfrm>
                <a:off x="8772607" y="2725609"/>
                <a:ext cx="532759" cy="184809"/>
                <a:chOff x="2356" y="1300"/>
                <a:chExt cx="555" cy="194"/>
              </a:xfrm>
            </p:grpSpPr>
            <p:sp>
              <p:nvSpPr>
                <p:cNvPr id="8957" name="Google Shape;8957;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58" name="Google Shape;8958;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59" name="Google Shape;8959;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960" name="Google Shape;8960;p122"/>
                <p:cNvGrpSpPr/>
                <p:nvPr/>
              </p:nvGrpSpPr>
              <p:grpSpPr>
                <a:xfrm>
                  <a:off x="2468" y="1332"/>
                  <a:ext cx="310" cy="60"/>
                  <a:chOff x="2468" y="1332"/>
                  <a:chExt cx="310" cy="60"/>
                </a:xfrm>
              </p:grpSpPr>
              <p:sp>
                <p:nvSpPr>
                  <p:cNvPr id="8961" name="Google Shape;8961;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62" name="Google Shape;8962;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963" name="Google Shape;8963;p122"/>
                <p:cNvCxnSpPr/>
                <p:nvPr/>
              </p:nvCxnSpPr>
              <p:spPr>
                <a:xfrm>
                  <a:off x="2358"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964" name="Google Shape;8964;p122"/>
                <p:cNvCxnSpPr/>
                <p:nvPr/>
              </p:nvCxnSpPr>
              <p:spPr>
                <a:xfrm>
                  <a:off x="2906"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965" name="Google Shape;8965;p122"/>
              <p:cNvGrpSpPr/>
              <p:nvPr/>
            </p:nvGrpSpPr>
            <p:grpSpPr>
              <a:xfrm>
                <a:off x="9060908" y="2428111"/>
                <a:ext cx="532759" cy="184809"/>
                <a:chOff x="2356" y="1300"/>
                <a:chExt cx="555" cy="194"/>
              </a:xfrm>
            </p:grpSpPr>
            <p:sp>
              <p:nvSpPr>
                <p:cNvPr id="8966" name="Google Shape;8966;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67" name="Google Shape;8967;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68" name="Google Shape;8968;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969" name="Google Shape;8969;p122"/>
                <p:cNvGrpSpPr/>
                <p:nvPr/>
              </p:nvGrpSpPr>
              <p:grpSpPr>
                <a:xfrm>
                  <a:off x="2468" y="1332"/>
                  <a:ext cx="310" cy="60"/>
                  <a:chOff x="2468" y="1332"/>
                  <a:chExt cx="310" cy="60"/>
                </a:xfrm>
              </p:grpSpPr>
              <p:sp>
                <p:nvSpPr>
                  <p:cNvPr id="8970" name="Google Shape;8970;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71" name="Google Shape;8971;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972" name="Google Shape;8972;p122"/>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8973" name="Google Shape;8973;p122"/>
                <p:cNvCxnSpPr/>
                <p:nvPr/>
              </p:nvCxnSpPr>
              <p:spPr>
                <a:xfrm>
                  <a:off x="2907"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974" name="Google Shape;8974;p122"/>
              <p:cNvGrpSpPr/>
              <p:nvPr/>
            </p:nvGrpSpPr>
            <p:grpSpPr>
              <a:xfrm>
                <a:off x="10005281" y="2289952"/>
                <a:ext cx="532759" cy="184809"/>
                <a:chOff x="2356" y="1300"/>
                <a:chExt cx="555" cy="194"/>
              </a:xfrm>
            </p:grpSpPr>
            <p:sp>
              <p:nvSpPr>
                <p:cNvPr id="8975" name="Google Shape;8975;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76" name="Google Shape;8976;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77" name="Google Shape;8977;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978" name="Google Shape;8978;p122"/>
                <p:cNvGrpSpPr/>
                <p:nvPr/>
              </p:nvGrpSpPr>
              <p:grpSpPr>
                <a:xfrm>
                  <a:off x="2468" y="1332"/>
                  <a:ext cx="310" cy="60"/>
                  <a:chOff x="2468" y="1332"/>
                  <a:chExt cx="310" cy="60"/>
                </a:xfrm>
              </p:grpSpPr>
              <p:sp>
                <p:nvSpPr>
                  <p:cNvPr id="8979" name="Google Shape;8979;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80" name="Google Shape;8980;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981" name="Google Shape;8981;p122"/>
                <p:cNvCxnSpPr/>
                <p:nvPr/>
              </p:nvCxnSpPr>
              <p:spPr>
                <a:xfrm>
                  <a:off x="2358" y="1360"/>
                  <a:ext cx="0" cy="84"/>
                </a:xfrm>
                <a:prstGeom prst="straightConnector1">
                  <a:avLst/>
                </a:prstGeom>
                <a:noFill/>
                <a:ln cap="flat" cmpd="sng" w="9525">
                  <a:solidFill>
                    <a:schemeClr val="dk1"/>
                  </a:solidFill>
                  <a:prstDash val="solid"/>
                  <a:round/>
                  <a:headEnd len="med" w="med" type="none"/>
                  <a:tailEnd len="med" w="med" type="none"/>
                </a:ln>
              </p:spPr>
            </p:cxnSp>
            <p:cxnSp>
              <p:nvCxnSpPr>
                <p:cNvPr id="8982" name="Google Shape;8982;p122"/>
                <p:cNvCxnSpPr/>
                <p:nvPr/>
              </p:nvCxnSpPr>
              <p:spPr>
                <a:xfrm>
                  <a:off x="2906" y="1362"/>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983" name="Google Shape;8983;p122"/>
              <p:cNvGrpSpPr/>
              <p:nvPr/>
            </p:nvGrpSpPr>
            <p:grpSpPr>
              <a:xfrm>
                <a:off x="10232661" y="2882876"/>
                <a:ext cx="532759" cy="184809"/>
                <a:chOff x="2356" y="1300"/>
                <a:chExt cx="555" cy="194"/>
              </a:xfrm>
            </p:grpSpPr>
            <p:sp>
              <p:nvSpPr>
                <p:cNvPr id="8984" name="Google Shape;8984;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85" name="Google Shape;8985;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86" name="Google Shape;8986;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987" name="Google Shape;8987;p122"/>
                <p:cNvGrpSpPr/>
                <p:nvPr/>
              </p:nvGrpSpPr>
              <p:grpSpPr>
                <a:xfrm>
                  <a:off x="2468" y="1332"/>
                  <a:ext cx="310" cy="60"/>
                  <a:chOff x="2468" y="1332"/>
                  <a:chExt cx="310" cy="60"/>
                </a:xfrm>
              </p:grpSpPr>
              <p:sp>
                <p:nvSpPr>
                  <p:cNvPr id="8988" name="Google Shape;8988;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89" name="Google Shape;8989;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990" name="Google Shape;8990;p122"/>
                <p:cNvCxnSpPr/>
                <p:nvPr/>
              </p:nvCxnSpPr>
              <p:spPr>
                <a:xfrm>
                  <a:off x="2358" y="1362"/>
                  <a:ext cx="0" cy="82"/>
                </a:xfrm>
                <a:prstGeom prst="straightConnector1">
                  <a:avLst/>
                </a:prstGeom>
                <a:noFill/>
                <a:ln cap="flat" cmpd="sng" w="9525">
                  <a:solidFill>
                    <a:schemeClr val="dk1"/>
                  </a:solidFill>
                  <a:prstDash val="solid"/>
                  <a:round/>
                  <a:headEnd len="med" w="med" type="none"/>
                  <a:tailEnd len="med" w="med" type="none"/>
                </a:ln>
              </p:spPr>
            </p:cxnSp>
            <p:cxnSp>
              <p:nvCxnSpPr>
                <p:cNvPr id="8991" name="Google Shape;8991;p122"/>
                <p:cNvCxnSpPr/>
                <p:nvPr/>
              </p:nvCxnSpPr>
              <p:spPr>
                <a:xfrm>
                  <a:off x="2906" y="1364"/>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8992" name="Google Shape;8992;p122"/>
              <p:cNvGrpSpPr/>
              <p:nvPr/>
            </p:nvGrpSpPr>
            <p:grpSpPr>
              <a:xfrm>
                <a:off x="9330660" y="3072767"/>
                <a:ext cx="532759" cy="184809"/>
                <a:chOff x="2356" y="1300"/>
                <a:chExt cx="555" cy="194"/>
              </a:xfrm>
            </p:grpSpPr>
            <p:sp>
              <p:nvSpPr>
                <p:cNvPr id="8993" name="Google Shape;8993;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94" name="Google Shape;8994;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8995" name="Google Shape;8995;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8996" name="Google Shape;8996;p122"/>
                <p:cNvGrpSpPr/>
                <p:nvPr/>
              </p:nvGrpSpPr>
              <p:grpSpPr>
                <a:xfrm>
                  <a:off x="2468" y="1332"/>
                  <a:ext cx="310" cy="60"/>
                  <a:chOff x="2468" y="1332"/>
                  <a:chExt cx="310" cy="60"/>
                </a:xfrm>
              </p:grpSpPr>
              <p:sp>
                <p:nvSpPr>
                  <p:cNvPr id="8997" name="Google Shape;8997;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98" name="Google Shape;8998;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999" name="Google Shape;8999;p122"/>
                <p:cNvCxnSpPr/>
                <p:nvPr/>
              </p:nvCxnSpPr>
              <p:spPr>
                <a:xfrm>
                  <a:off x="2357" y="1362"/>
                  <a:ext cx="0" cy="82"/>
                </a:xfrm>
                <a:prstGeom prst="straightConnector1">
                  <a:avLst/>
                </a:prstGeom>
                <a:noFill/>
                <a:ln cap="flat" cmpd="sng" w="9525">
                  <a:solidFill>
                    <a:schemeClr val="dk1"/>
                  </a:solidFill>
                  <a:prstDash val="solid"/>
                  <a:round/>
                  <a:headEnd len="med" w="med" type="none"/>
                  <a:tailEnd len="med" w="med" type="none"/>
                </a:ln>
              </p:spPr>
            </p:cxnSp>
            <p:cxnSp>
              <p:nvCxnSpPr>
                <p:cNvPr id="9000" name="Google Shape;9000;p122"/>
                <p:cNvCxnSpPr/>
                <p:nvPr/>
              </p:nvCxnSpPr>
              <p:spPr>
                <a:xfrm>
                  <a:off x="2907" y="1364"/>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9001" name="Google Shape;9001;p122"/>
              <p:cNvGrpSpPr/>
              <p:nvPr/>
            </p:nvGrpSpPr>
            <p:grpSpPr>
              <a:xfrm>
                <a:off x="8438032" y="3018963"/>
                <a:ext cx="532759" cy="184809"/>
                <a:chOff x="2356" y="1300"/>
                <a:chExt cx="555" cy="194"/>
              </a:xfrm>
            </p:grpSpPr>
            <p:sp>
              <p:nvSpPr>
                <p:cNvPr id="9002" name="Google Shape;9002;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03" name="Google Shape;9003;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04" name="Google Shape;9004;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9005" name="Google Shape;9005;p122"/>
                <p:cNvGrpSpPr/>
                <p:nvPr/>
              </p:nvGrpSpPr>
              <p:grpSpPr>
                <a:xfrm>
                  <a:off x="2468" y="1332"/>
                  <a:ext cx="310" cy="60"/>
                  <a:chOff x="2468" y="1332"/>
                  <a:chExt cx="310" cy="60"/>
                </a:xfrm>
              </p:grpSpPr>
              <p:sp>
                <p:nvSpPr>
                  <p:cNvPr id="9006" name="Google Shape;9006;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07" name="Google Shape;9007;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9008" name="Google Shape;9008;p122"/>
                <p:cNvCxnSpPr/>
                <p:nvPr/>
              </p:nvCxnSpPr>
              <p:spPr>
                <a:xfrm>
                  <a:off x="2357" y="1361"/>
                  <a:ext cx="0" cy="79"/>
                </a:xfrm>
                <a:prstGeom prst="straightConnector1">
                  <a:avLst/>
                </a:prstGeom>
                <a:noFill/>
                <a:ln cap="flat" cmpd="sng" w="9525">
                  <a:solidFill>
                    <a:schemeClr val="dk1"/>
                  </a:solidFill>
                  <a:prstDash val="solid"/>
                  <a:round/>
                  <a:headEnd len="med" w="med" type="none"/>
                  <a:tailEnd len="med" w="med" type="none"/>
                </a:ln>
              </p:spPr>
            </p:cxnSp>
            <p:cxnSp>
              <p:nvCxnSpPr>
                <p:cNvPr id="9009" name="Google Shape;9009;p122"/>
                <p:cNvCxnSpPr/>
                <p:nvPr/>
              </p:nvCxnSpPr>
              <p:spPr>
                <a:xfrm>
                  <a:off x="2907" y="1363"/>
                  <a:ext cx="0" cy="84"/>
                </a:xfrm>
                <a:prstGeom prst="straightConnector1">
                  <a:avLst/>
                </a:prstGeom>
                <a:noFill/>
                <a:ln cap="flat" cmpd="sng" w="9525">
                  <a:solidFill>
                    <a:schemeClr val="dk1"/>
                  </a:solidFill>
                  <a:prstDash val="solid"/>
                  <a:round/>
                  <a:headEnd len="med" w="med" type="none"/>
                  <a:tailEnd len="med" w="med" type="none"/>
                </a:ln>
              </p:spPr>
            </p:cxnSp>
          </p:grpSp>
        </p:grpSp>
        <p:sp>
          <p:nvSpPr>
            <p:cNvPr id="9010" name="Google Shape;9010;p122"/>
            <p:cNvSpPr/>
            <p:nvPr/>
          </p:nvSpPr>
          <p:spPr>
            <a:xfrm>
              <a:off x="1498600" y="4165596"/>
              <a:ext cx="3086099" cy="11684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011" name="Google Shape;9011;p122"/>
            <p:cNvGrpSpPr/>
            <p:nvPr/>
          </p:nvGrpSpPr>
          <p:grpSpPr>
            <a:xfrm>
              <a:off x="2152273" y="4264500"/>
              <a:ext cx="513732" cy="157430"/>
              <a:chOff x="2356" y="1300"/>
              <a:chExt cx="555" cy="194"/>
            </a:xfrm>
          </p:grpSpPr>
          <p:sp>
            <p:nvSpPr>
              <p:cNvPr id="9012" name="Google Shape;9012;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13" name="Google Shape;9013;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14" name="Google Shape;9014;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9015" name="Google Shape;9015;p122"/>
              <p:cNvGrpSpPr/>
              <p:nvPr/>
            </p:nvGrpSpPr>
            <p:grpSpPr>
              <a:xfrm>
                <a:off x="2468" y="1332"/>
                <a:ext cx="310" cy="60"/>
                <a:chOff x="2468" y="1332"/>
                <a:chExt cx="310" cy="60"/>
              </a:xfrm>
            </p:grpSpPr>
            <p:sp>
              <p:nvSpPr>
                <p:cNvPr id="9016" name="Google Shape;9016;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17" name="Google Shape;9017;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9018" name="Google Shape;9018;p122"/>
              <p:cNvCxnSpPr/>
              <p:nvPr/>
            </p:nvCxnSpPr>
            <p:spPr>
              <a:xfrm>
                <a:off x="2358" y="1360"/>
                <a:ext cx="0" cy="80"/>
              </a:xfrm>
              <a:prstGeom prst="straightConnector1">
                <a:avLst/>
              </a:prstGeom>
              <a:noFill/>
              <a:ln cap="flat" cmpd="sng" w="9525">
                <a:solidFill>
                  <a:schemeClr val="dk1"/>
                </a:solidFill>
                <a:prstDash val="solid"/>
                <a:round/>
                <a:headEnd len="med" w="med" type="none"/>
                <a:tailEnd len="med" w="med" type="none"/>
              </a:ln>
            </p:spPr>
          </p:cxnSp>
          <p:cxnSp>
            <p:nvCxnSpPr>
              <p:cNvPr id="9019" name="Google Shape;9019;p122"/>
              <p:cNvCxnSpPr/>
              <p:nvPr/>
            </p:nvCxnSpPr>
            <p:spPr>
              <a:xfrm>
                <a:off x="2907" y="1362"/>
                <a:ext cx="0" cy="84"/>
              </a:xfrm>
              <a:prstGeom prst="straightConnector1">
                <a:avLst/>
              </a:prstGeom>
              <a:noFill/>
              <a:ln cap="flat" cmpd="sng" w="9525">
                <a:solidFill>
                  <a:schemeClr val="dk1"/>
                </a:solidFill>
                <a:prstDash val="solid"/>
                <a:round/>
                <a:headEnd len="med" w="med" type="none"/>
                <a:tailEnd len="med" w="med" type="none"/>
              </a:ln>
            </p:spPr>
          </p:cxnSp>
        </p:grpSp>
        <p:cxnSp>
          <p:nvCxnSpPr>
            <p:cNvPr id="9020" name="Google Shape;9020;p122"/>
            <p:cNvCxnSpPr>
              <a:stCxn id="9019" idx="0"/>
            </p:cNvCxnSpPr>
            <p:nvPr/>
          </p:nvCxnSpPr>
          <p:spPr>
            <a:xfrm>
              <a:off x="2662301" y="4315623"/>
              <a:ext cx="940500" cy="116400"/>
            </a:xfrm>
            <a:prstGeom prst="straightConnector1">
              <a:avLst/>
            </a:prstGeom>
            <a:noFill/>
            <a:ln cap="flat" cmpd="sng" w="9525">
              <a:solidFill>
                <a:schemeClr val="dk1"/>
              </a:solidFill>
              <a:prstDash val="solid"/>
              <a:round/>
              <a:headEnd len="med" w="med" type="none"/>
              <a:tailEnd len="med" w="med" type="none"/>
            </a:ln>
          </p:spPr>
        </p:cxnSp>
        <p:cxnSp>
          <p:nvCxnSpPr>
            <p:cNvPr id="9021" name="Google Shape;9021;p122"/>
            <p:cNvCxnSpPr/>
            <p:nvPr/>
          </p:nvCxnSpPr>
          <p:spPr>
            <a:xfrm>
              <a:off x="3112420" y="4624308"/>
              <a:ext cx="116433" cy="71038"/>
            </a:xfrm>
            <a:prstGeom prst="straightConnector1">
              <a:avLst/>
            </a:prstGeom>
            <a:noFill/>
            <a:ln cap="flat" cmpd="sng" w="9525">
              <a:solidFill>
                <a:schemeClr val="dk1"/>
              </a:solidFill>
              <a:prstDash val="solid"/>
              <a:round/>
              <a:headEnd len="med" w="med" type="none"/>
              <a:tailEnd len="med" w="med" type="none"/>
            </a:ln>
          </p:spPr>
        </p:cxnSp>
        <p:cxnSp>
          <p:nvCxnSpPr>
            <p:cNvPr id="9022" name="Google Shape;9022;p122"/>
            <p:cNvCxnSpPr/>
            <p:nvPr/>
          </p:nvCxnSpPr>
          <p:spPr>
            <a:xfrm flipH="1" rot="10800000">
              <a:off x="2920421" y="4797919"/>
              <a:ext cx="234667" cy="38864"/>
            </a:xfrm>
            <a:prstGeom prst="straightConnector1">
              <a:avLst/>
            </a:prstGeom>
            <a:noFill/>
            <a:ln cap="flat" cmpd="sng" w="9525">
              <a:solidFill>
                <a:schemeClr val="dk1"/>
              </a:solidFill>
              <a:prstDash val="solid"/>
              <a:round/>
              <a:headEnd len="med" w="med" type="none"/>
              <a:tailEnd len="med" w="med" type="none"/>
            </a:ln>
          </p:spPr>
        </p:cxnSp>
        <p:cxnSp>
          <p:nvCxnSpPr>
            <p:cNvPr id="9023" name="Google Shape;9023;p122"/>
            <p:cNvCxnSpPr/>
            <p:nvPr/>
          </p:nvCxnSpPr>
          <p:spPr>
            <a:xfrm flipH="1" rot="10800000">
              <a:off x="2636021" y="4648548"/>
              <a:ext cx="185893" cy="93348"/>
            </a:xfrm>
            <a:prstGeom prst="straightConnector1">
              <a:avLst/>
            </a:prstGeom>
            <a:noFill/>
            <a:ln cap="flat" cmpd="sng" w="9525">
              <a:solidFill>
                <a:schemeClr val="dk1"/>
              </a:solidFill>
              <a:prstDash val="solid"/>
              <a:round/>
              <a:headEnd len="med" w="med" type="none"/>
              <a:tailEnd len="med" w="med" type="none"/>
            </a:ln>
          </p:spPr>
        </p:cxnSp>
        <p:cxnSp>
          <p:nvCxnSpPr>
            <p:cNvPr id="9024" name="Google Shape;9024;p122"/>
            <p:cNvCxnSpPr/>
            <p:nvPr/>
          </p:nvCxnSpPr>
          <p:spPr>
            <a:xfrm flipH="1" rot="10800000">
              <a:off x="2348386" y="4902256"/>
              <a:ext cx="185893" cy="93348"/>
            </a:xfrm>
            <a:prstGeom prst="straightConnector1">
              <a:avLst/>
            </a:prstGeom>
            <a:noFill/>
            <a:ln cap="flat" cmpd="sng" w="9525">
              <a:solidFill>
                <a:schemeClr val="dk1"/>
              </a:solidFill>
              <a:prstDash val="solid"/>
              <a:round/>
              <a:headEnd len="med" w="med" type="none"/>
              <a:tailEnd len="med" w="med" type="none"/>
            </a:ln>
          </p:spPr>
        </p:cxnSp>
        <p:cxnSp>
          <p:nvCxnSpPr>
            <p:cNvPr id="9025" name="Google Shape;9025;p122"/>
            <p:cNvCxnSpPr/>
            <p:nvPr/>
          </p:nvCxnSpPr>
          <p:spPr>
            <a:xfrm flipH="1" rot="10800000">
              <a:off x="3127556" y="4839857"/>
              <a:ext cx="243934" cy="215470"/>
            </a:xfrm>
            <a:prstGeom prst="straightConnector1">
              <a:avLst/>
            </a:prstGeom>
            <a:noFill/>
            <a:ln cap="flat" cmpd="sng" w="9525">
              <a:solidFill>
                <a:schemeClr val="dk1"/>
              </a:solidFill>
              <a:prstDash val="solid"/>
              <a:round/>
              <a:headEnd len="med" w="med" type="none"/>
              <a:tailEnd len="med" w="med" type="none"/>
            </a:ln>
          </p:spPr>
        </p:cxnSp>
        <p:cxnSp>
          <p:nvCxnSpPr>
            <p:cNvPr id="9026" name="Google Shape;9026;p122"/>
            <p:cNvCxnSpPr/>
            <p:nvPr/>
          </p:nvCxnSpPr>
          <p:spPr>
            <a:xfrm rot="10800000">
              <a:off x="3601475" y="4827798"/>
              <a:ext cx="342282" cy="105961"/>
            </a:xfrm>
            <a:prstGeom prst="straightConnector1">
              <a:avLst/>
            </a:prstGeom>
            <a:noFill/>
            <a:ln cap="flat" cmpd="sng" w="9525">
              <a:solidFill>
                <a:schemeClr val="dk1"/>
              </a:solidFill>
              <a:prstDash val="solid"/>
              <a:round/>
              <a:headEnd len="med" w="med" type="none"/>
              <a:tailEnd len="med" w="med" type="none"/>
            </a:ln>
          </p:spPr>
        </p:cxnSp>
        <p:cxnSp>
          <p:nvCxnSpPr>
            <p:cNvPr id="9027" name="Google Shape;9027;p122"/>
            <p:cNvCxnSpPr/>
            <p:nvPr/>
          </p:nvCxnSpPr>
          <p:spPr>
            <a:xfrm flipH="1" rot="10800000">
              <a:off x="3587811" y="4532353"/>
              <a:ext cx="273243" cy="166677"/>
            </a:xfrm>
            <a:prstGeom prst="straightConnector1">
              <a:avLst/>
            </a:prstGeom>
            <a:noFill/>
            <a:ln cap="flat" cmpd="sng" w="9525">
              <a:solidFill>
                <a:schemeClr val="dk1"/>
              </a:solidFill>
              <a:prstDash val="solid"/>
              <a:round/>
              <a:headEnd len="med" w="med" type="none"/>
              <a:tailEnd len="med" w="med" type="none"/>
            </a:ln>
          </p:spPr>
        </p:cxnSp>
        <p:cxnSp>
          <p:nvCxnSpPr>
            <p:cNvPr id="9028" name="Google Shape;9028;p122"/>
            <p:cNvCxnSpPr>
              <a:endCxn id="9012" idx="4"/>
            </p:cNvCxnSpPr>
            <p:nvPr/>
          </p:nvCxnSpPr>
          <p:spPr>
            <a:xfrm rot="10800000">
              <a:off x="2408213" y="4421930"/>
              <a:ext cx="396300" cy="74400"/>
            </a:xfrm>
            <a:prstGeom prst="straightConnector1">
              <a:avLst/>
            </a:prstGeom>
            <a:noFill/>
            <a:ln cap="flat" cmpd="sng" w="9525">
              <a:solidFill>
                <a:schemeClr val="dk1"/>
              </a:solidFill>
              <a:prstDash val="solid"/>
              <a:round/>
              <a:headEnd len="med" w="med" type="none"/>
              <a:tailEnd len="med" w="med" type="none"/>
            </a:ln>
          </p:spPr>
        </p:cxnSp>
        <p:grpSp>
          <p:nvGrpSpPr>
            <p:cNvPr id="9029" name="Google Shape;9029;p122"/>
            <p:cNvGrpSpPr/>
            <p:nvPr/>
          </p:nvGrpSpPr>
          <p:grpSpPr>
            <a:xfrm>
              <a:off x="3144256" y="4681756"/>
              <a:ext cx="513732" cy="157430"/>
              <a:chOff x="2356" y="1300"/>
              <a:chExt cx="555" cy="194"/>
            </a:xfrm>
          </p:grpSpPr>
          <p:sp>
            <p:nvSpPr>
              <p:cNvPr id="9030" name="Google Shape;9030;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31" name="Google Shape;9031;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32" name="Google Shape;9032;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9033" name="Google Shape;9033;p122"/>
              <p:cNvGrpSpPr/>
              <p:nvPr/>
            </p:nvGrpSpPr>
            <p:grpSpPr>
              <a:xfrm>
                <a:off x="2468" y="1332"/>
                <a:ext cx="310" cy="60"/>
                <a:chOff x="2468" y="1332"/>
                <a:chExt cx="310" cy="60"/>
              </a:xfrm>
            </p:grpSpPr>
            <p:sp>
              <p:nvSpPr>
                <p:cNvPr id="9034" name="Google Shape;9034;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35" name="Google Shape;9035;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9036" name="Google Shape;9036;p122"/>
              <p:cNvCxnSpPr/>
              <p:nvPr/>
            </p:nvCxnSpPr>
            <p:spPr>
              <a:xfrm>
                <a:off x="2358" y="1360"/>
                <a:ext cx="0" cy="80"/>
              </a:xfrm>
              <a:prstGeom prst="straightConnector1">
                <a:avLst/>
              </a:prstGeom>
              <a:noFill/>
              <a:ln cap="flat" cmpd="sng" w="9525">
                <a:solidFill>
                  <a:schemeClr val="dk1"/>
                </a:solidFill>
                <a:prstDash val="solid"/>
                <a:round/>
                <a:headEnd len="med" w="med" type="none"/>
                <a:tailEnd len="med" w="med" type="none"/>
              </a:ln>
            </p:spPr>
          </p:cxnSp>
          <p:cxnSp>
            <p:nvCxnSpPr>
              <p:cNvPr id="9037" name="Google Shape;9037;p122"/>
              <p:cNvCxnSpPr/>
              <p:nvPr/>
            </p:nvCxnSpPr>
            <p:spPr>
              <a:xfrm>
                <a:off x="2907" y="1362"/>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9038" name="Google Shape;9038;p122"/>
            <p:cNvGrpSpPr/>
            <p:nvPr/>
          </p:nvGrpSpPr>
          <p:grpSpPr>
            <a:xfrm>
              <a:off x="2389607" y="4745631"/>
              <a:ext cx="513732" cy="157430"/>
              <a:chOff x="2356" y="1300"/>
              <a:chExt cx="555" cy="194"/>
            </a:xfrm>
          </p:grpSpPr>
          <p:sp>
            <p:nvSpPr>
              <p:cNvPr id="9039" name="Google Shape;9039;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40" name="Google Shape;9040;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41" name="Google Shape;9041;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9042" name="Google Shape;9042;p122"/>
              <p:cNvGrpSpPr/>
              <p:nvPr/>
            </p:nvGrpSpPr>
            <p:grpSpPr>
              <a:xfrm>
                <a:off x="2468" y="1332"/>
                <a:ext cx="310" cy="60"/>
                <a:chOff x="2468" y="1332"/>
                <a:chExt cx="310" cy="60"/>
              </a:xfrm>
            </p:grpSpPr>
            <p:sp>
              <p:nvSpPr>
                <p:cNvPr id="9043" name="Google Shape;9043;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44" name="Google Shape;9044;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9045" name="Google Shape;9045;p122"/>
              <p:cNvCxnSpPr/>
              <p:nvPr/>
            </p:nvCxnSpPr>
            <p:spPr>
              <a:xfrm>
                <a:off x="2357" y="1360"/>
                <a:ext cx="0" cy="86"/>
              </a:xfrm>
              <a:prstGeom prst="straightConnector1">
                <a:avLst/>
              </a:prstGeom>
              <a:noFill/>
              <a:ln cap="flat" cmpd="sng" w="9525">
                <a:solidFill>
                  <a:schemeClr val="dk1"/>
                </a:solidFill>
                <a:prstDash val="solid"/>
                <a:round/>
                <a:headEnd len="med" w="med" type="none"/>
                <a:tailEnd len="med" w="med" type="none"/>
              </a:ln>
            </p:spPr>
          </p:cxnSp>
          <p:cxnSp>
            <p:nvCxnSpPr>
              <p:cNvPr id="9046" name="Google Shape;9046;p122"/>
              <p:cNvCxnSpPr/>
              <p:nvPr/>
            </p:nvCxnSpPr>
            <p:spPr>
              <a:xfrm>
                <a:off x="2908" y="1362"/>
                <a:ext cx="0" cy="86"/>
              </a:xfrm>
              <a:prstGeom prst="straightConnector1">
                <a:avLst/>
              </a:prstGeom>
              <a:noFill/>
              <a:ln cap="flat" cmpd="sng" w="9525">
                <a:solidFill>
                  <a:schemeClr val="dk1"/>
                </a:solidFill>
                <a:prstDash val="solid"/>
                <a:round/>
                <a:headEnd len="med" w="med" type="none"/>
                <a:tailEnd len="med" w="med" type="none"/>
              </a:ln>
            </p:spPr>
          </p:cxnSp>
        </p:grpSp>
        <p:grpSp>
          <p:nvGrpSpPr>
            <p:cNvPr id="9047" name="Google Shape;9047;p122"/>
            <p:cNvGrpSpPr/>
            <p:nvPr/>
          </p:nvGrpSpPr>
          <p:grpSpPr>
            <a:xfrm>
              <a:off x="2667612" y="4492206"/>
              <a:ext cx="513732" cy="157430"/>
              <a:chOff x="2356" y="1300"/>
              <a:chExt cx="555" cy="194"/>
            </a:xfrm>
          </p:grpSpPr>
          <p:sp>
            <p:nvSpPr>
              <p:cNvPr id="9048" name="Google Shape;9048;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49" name="Google Shape;9049;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50" name="Google Shape;9050;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9051" name="Google Shape;9051;p122"/>
              <p:cNvGrpSpPr/>
              <p:nvPr/>
            </p:nvGrpSpPr>
            <p:grpSpPr>
              <a:xfrm>
                <a:off x="2468" y="1332"/>
                <a:ext cx="310" cy="60"/>
                <a:chOff x="2468" y="1332"/>
                <a:chExt cx="310" cy="60"/>
              </a:xfrm>
            </p:grpSpPr>
            <p:sp>
              <p:nvSpPr>
                <p:cNvPr id="9052" name="Google Shape;9052;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53" name="Google Shape;9053;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9054" name="Google Shape;9054;p122"/>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9055" name="Google Shape;9055;p122"/>
              <p:cNvCxnSpPr/>
              <p:nvPr/>
            </p:nvCxnSpPr>
            <p:spPr>
              <a:xfrm>
                <a:off x="2908"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9056" name="Google Shape;9056;p122"/>
            <p:cNvGrpSpPr/>
            <p:nvPr/>
          </p:nvGrpSpPr>
          <p:grpSpPr>
            <a:xfrm>
              <a:off x="3578257" y="4374514"/>
              <a:ext cx="513732" cy="157430"/>
              <a:chOff x="2356" y="1300"/>
              <a:chExt cx="555" cy="194"/>
            </a:xfrm>
          </p:grpSpPr>
          <p:sp>
            <p:nvSpPr>
              <p:cNvPr id="9057" name="Google Shape;9057;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58" name="Google Shape;9058;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59" name="Google Shape;9059;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9060" name="Google Shape;9060;p122"/>
              <p:cNvGrpSpPr/>
              <p:nvPr/>
            </p:nvGrpSpPr>
            <p:grpSpPr>
              <a:xfrm>
                <a:off x="2468" y="1332"/>
                <a:ext cx="310" cy="60"/>
                <a:chOff x="2468" y="1332"/>
                <a:chExt cx="310" cy="60"/>
              </a:xfrm>
            </p:grpSpPr>
            <p:sp>
              <p:nvSpPr>
                <p:cNvPr id="9061" name="Google Shape;9061;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62" name="Google Shape;9062;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9063" name="Google Shape;9063;p122"/>
              <p:cNvCxnSpPr/>
              <p:nvPr/>
            </p:nvCxnSpPr>
            <p:spPr>
              <a:xfrm>
                <a:off x="2358"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9064" name="Google Shape;9064;p122"/>
              <p:cNvCxnSpPr/>
              <p:nvPr/>
            </p:nvCxnSpPr>
            <p:spPr>
              <a:xfrm>
                <a:off x="2908"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9065" name="Google Shape;9065;p122"/>
            <p:cNvGrpSpPr/>
            <p:nvPr/>
          </p:nvGrpSpPr>
          <p:grpSpPr>
            <a:xfrm>
              <a:off x="3797517" y="4879598"/>
              <a:ext cx="513732" cy="157430"/>
              <a:chOff x="2356" y="1300"/>
              <a:chExt cx="555" cy="194"/>
            </a:xfrm>
          </p:grpSpPr>
          <p:sp>
            <p:nvSpPr>
              <p:cNvPr id="9066" name="Google Shape;9066;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67" name="Google Shape;9067;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68" name="Google Shape;9068;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9069" name="Google Shape;9069;p122"/>
              <p:cNvGrpSpPr/>
              <p:nvPr/>
            </p:nvGrpSpPr>
            <p:grpSpPr>
              <a:xfrm>
                <a:off x="2468" y="1332"/>
                <a:ext cx="310" cy="60"/>
                <a:chOff x="2468" y="1332"/>
                <a:chExt cx="310" cy="60"/>
              </a:xfrm>
            </p:grpSpPr>
            <p:sp>
              <p:nvSpPr>
                <p:cNvPr id="9070" name="Google Shape;9070;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71" name="Google Shape;9071;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9072" name="Google Shape;9072;p122"/>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9073" name="Google Shape;9073;p122"/>
              <p:cNvCxnSpPr/>
              <p:nvPr/>
            </p:nvCxnSpPr>
            <p:spPr>
              <a:xfrm>
                <a:off x="2908"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9074" name="Google Shape;9074;p122"/>
            <p:cNvGrpSpPr/>
            <p:nvPr/>
          </p:nvGrpSpPr>
          <p:grpSpPr>
            <a:xfrm>
              <a:off x="2927730" y="5041357"/>
              <a:ext cx="513732" cy="157430"/>
              <a:chOff x="2356" y="1300"/>
              <a:chExt cx="555" cy="194"/>
            </a:xfrm>
          </p:grpSpPr>
          <p:sp>
            <p:nvSpPr>
              <p:cNvPr id="9075" name="Google Shape;9075;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76" name="Google Shape;9076;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77" name="Google Shape;9077;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9078" name="Google Shape;9078;p122"/>
              <p:cNvGrpSpPr/>
              <p:nvPr/>
            </p:nvGrpSpPr>
            <p:grpSpPr>
              <a:xfrm>
                <a:off x="2468" y="1332"/>
                <a:ext cx="310" cy="60"/>
                <a:chOff x="2468" y="1332"/>
                <a:chExt cx="310" cy="60"/>
              </a:xfrm>
            </p:grpSpPr>
            <p:sp>
              <p:nvSpPr>
                <p:cNvPr id="9079" name="Google Shape;9079;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80" name="Google Shape;9080;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9081" name="Google Shape;9081;p122"/>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9082" name="Google Shape;9082;p122"/>
              <p:cNvCxnSpPr/>
              <p:nvPr/>
            </p:nvCxnSpPr>
            <p:spPr>
              <a:xfrm>
                <a:off x="2908"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9083" name="Google Shape;9083;p122"/>
            <p:cNvGrpSpPr/>
            <p:nvPr/>
          </p:nvGrpSpPr>
          <p:grpSpPr>
            <a:xfrm>
              <a:off x="2066981" y="4995523"/>
              <a:ext cx="513732" cy="157430"/>
              <a:chOff x="2356" y="1300"/>
              <a:chExt cx="555" cy="194"/>
            </a:xfrm>
          </p:grpSpPr>
          <p:sp>
            <p:nvSpPr>
              <p:cNvPr id="9084" name="Google Shape;9084;p12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85" name="Google Shape;9085;p122"/>
              <p:cNvSpPr/>
              <p:nvPr/>
            </p:nvSpPr>
            <p:spPr>
              <a:xfrm>
                <a:off x="2357" y="1374"/>
                <a:ext cx="554" cy="66"/>
              </a:xfrm>
              <a:prstGeom prst="rect">
                <a:avLst/>
              </a:prstGeom>
              <a:gradFill>
                <a:gsLst>
                  <a:gs pos="0">
                    <a:schemeClr val="hlink"/>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sp>
            <p:nvSpPr>
              <p:cNvPr id="9086" name="Google Shape;9086;p12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Times New Roman"/>
                  <a:ea typeface="Times New Roman"/>
                  <a:cs typeface="Times New Roman"/>
                  <a:sym typeface="Times New Roman"/>
                </a:endParaRPr>
              </a:p>
            </p:txBody>
          </p:sp>
          <p:grpSp>
            <p:nvGrpSpPr>
              <p:cNvPr id="9087" name="Google Shape;9087;p122"/>
              <p:cNvGrpSpPr/>
              <p:nvPr/>
            </p:nvGrpSpPr>
            <p:grpSpPr>
              <a:xfrm>
                <a:off x="2468" y="1332"/>
                <a:ext cx="310" cy="60"/>
                <a:chOff x="2468" y="1332"/>
                <a:chExt cx="310" cy="60"/>
              </a:xfrm>
            </p:grpSpPr>
            <p:sp>
              <p:nvSpPr>
                <p:cNvPr id="9088" name="Google Shape;9088;p12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89" name="Google Shape;9089;p12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9090" name="Google Shape;9090;p122"/>
              <p:cNvCxnSpPr/>
              <p:nvPr/>
            </p:nvCxnSpPr>
            <p:spPr>
              <a:xfrm>
                <a:off x="2358"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9091" name="Google Shape;9091;p122"/>
              <p:cNvCxnSpPr/>
              <p:nvPr/>
            </p:nvCxnSpPr>
            <p:spPr>
              <a:xfrm>
                <a:off x="2908" y="1363"/>
                <a:ext cx="0" cy="84"/>
              </a:xfrm>
              <a:prstGeom prst="straightConnector1">
                <a:avLst/>
              </a:prstGeom>
              <a:noFill/>
              <a:ln cap="flat" cmpd="sng" w="9525">
                <a:solidFill>
                  <a:schemeClr val="dk1"/>
                </a:solidFill>
                <a:prstDash val="solid"/>
                <a:round/>
                <a:headEnd len="med" w="med" type="none"/>
                <a:tailEnd len="med" w="med" type="none"/>
              </a:ln>
            </p:spPr>
          </p:cxnSp>
        </p:grpSp>
        <p:cxnSp>
          <p:nvCxnSpPr>
            <p:cNvPr id="9092" name="Google Shape;9092;p122"/>
            <p:cNvCxnSpPr>
              <a:endCxn id="8932" idx="1"/>
            </p:cNvCxnSpPr>
            <p:nvPr/>
          </p:nvCxnSpPr>
          <p:spPr>
            <a:xfrm>
              <a:off x="2383486" y="2610471"/>
              <a:ext cx="238200" cy="261900"/>
            </a:xfrm>
            <a:prstGeom prst="straightConnector1">
              <a:avLst/>
            </a:prstGeom>
            <a:noFill/>
            <a:ln cap="flat" cmpd="sng" w="9525">
              <a:solidFill>
                <a:schemeClr val="dk1"/>
              </a:solidFill>
              <a:prstDash val="solid"/>
              <a:round/>
              <a:headEnd len="med" w="med" type="none"/>
              <a:tailEnd len="med" w="med" type="none"/>
            </a:ln>
          </p:spPr>
        </p:cxnSp>
        <p:cxnSp>
          <p:nvCxnSpPr>
            <p:cNvPr id="9093" name="Google Shape;9093;p122"/>
            <p:cNvCxnSpPr>
              <a:stCxn id="8830" idx="8"/>
              <a:endCxn id="9094" idx="2"/>
            </p:cNvCxnSpPr>
            <p:nvPr/>
          </p:nvCxnSpPr>
          <p:spPr>
            <a:xfrm>
              <a:off x="1455738" y="2990809"/>
              <a:ext cx="38100" cy="309600"/>
            </a:xfrm>
            <a:prstGeom prst="straightConnector1">
              <a:avLst/>
            </a:prstGeom>
            <a:noFill/>
            <a:ln cap="flat" cmpd="sng" w="9525">
              <a:solidFill>
                <a:schemeClr val="dk1"/>
              </a:solidFill>
              <a:prstDash val="solid"/>
              <a:round/>
              <a:headEnd len="med" w="med" type="none"/>
              <a:tailEnd len="med" w="med" type="none"/>
            </a:ln>
          </p:spPr>
        </p:cxnSp>
        <p:cxnSp>
          <p:nvCxnSpPr>
            <p:cNvPr id="9095" name="Google Shape;9095;p122"/>
            <p:cNvCxnSpPr>
              <a:endCxn id="9094" idx="3"/>
            </p:cNvCxnSpPr>
            <p:nvPr/>
          </p:nvCxnSpPr>
          <p:spPr>
            <a:xfrm>
              <a:off x="1235234" y="3271138"/>
              <a:ext cx="123900" cy="212700"/>
            </a:xfrm>
            <a:prstGeom prst="straightConnector1">
              <a:avLst/>
            </a:prstGeom>
            <a:noFill/>
            <a:ln cap="flat" cmpd="sng" w="9525">
              <a:solidFill>
                <a:schemeClr val="dk1"/>
              </a:solidFill>
              <a:prstDash val="solid"/>
              <a:round/>
              <a:headEnd len="med" w="med" type="none"/>
              <a:tailEnd len="med" w="med" type="none"/>
            </a:ln>
          </p:spPr>
        </p:cxnSp>
        <p:cxnSp>
          <p:nvCxnSpPr>
            <p:cNvPr id="9096" name="Google Shape;9096;p122"/>
            <p:cNvCxnSpPr>
              <a:endCxn id="8977" idx="1"/>
            </p:cNvCxnSpPr>
            <p:nvPr/>
          </p:nvCxnSpPr>
          <p:spPr>
            <a:xfrm>
              <a:off x="3915619" y="2411778"/>
              <a:ext cx="308100" cy="573000"/>
            </a:xfrm>
            <a:prstGeom prst="straightConnector1">
              <a:avLst/>
            </a:prstGeom>
            <a:noFill/>
            <a:ln cap="flat" cmpd="sng" w="9525">
              <a:solidFill>
                <a:schemeClr val="dk1"/>
              </a:solidFill>
              <a:prstDash val="solid"/>
              <a:round/>
              <a:headEnd len="med" w="med" type="none"/>
              <a:tailEnd len="med" w="med" type="none"/>
            </a:ln>
          </p:spPr>
        </p:cxnSp>
        <p:cxnSp>
          <p:nvCxnSpPr>
            <p:cNvPr id="9097" name="Google Shape;9097;p122"/>
            <p:cNvCxnSpPr>
              <a:endCxn id="8977" idx="0"/>
            </p:cNvCxnSpPr>
            <p:nvPr/>
          </p:nvCxnSpPr>
          <p:spPr>
            <a:xfrm flipH="1">
              <a:off x="4426303" y="2390057"/>
              <a:ext cx="384300" cy="579300"/>
            </a:xfrm>
            <a:prstGeom prst="straightConnector1">
              <a:avLst/>
            </a:prstGeom>
            <a:noFill/>
            <a:ln cap="flat" cmpd="sng" w="9525">
              <a:solidFill>
                <a:schemeClr val="dk1"/>
              </a:solidFill>
              <a:prstDash val="solid"/>
              <a:round/>
              <a:headEnd len="med" w="med" type="none"/>
              <a:tailEnd len="med" w="med" type="none"/>
            </a:ln>
          </p:spPr>
        </p:cxnSp>
        <p:cxnSp>
          <p:nvCxnSpPr>
            <p:cNvPr id="9098" name="Google Shape;9098;p122"/>
            <p:cNvCxnSpPr>
              <a:endCxn id="8894" idx="0"/>
            </p:cNvCxnSpPr>
            <p:nvPr/>
          </p:nvCxnSpPr>
          <p:spPr>
            <a:xfrm>
              <a:off x="6770956" y="2900231"/>
              <a:ext cx="216000" cy="1046100"/>
            </a:xfrm>
            <a:prstGeom prst="straightConnector1">
              <a:avLst/>
            </a:prstGeom>
            <a:noFill/>
            <a:ln cap="flat" cmpd="sng" w="9525">
              <a:solidFill>
                <a:schemeClr val="dk1"/>
              </a:solidFill>
              <a:prstDash val="solid"/>
              <a:round/>
              <a:headEnd len="med" w="med" type="none"/>
              <a:tailEnd len="med" w="med" type="none"/>
            </a:ln>
          </p:spPr>
        </p:cxnSp>
        <p:cxnSp>
          <p:nvCxnSpPr>
            <p:cNvPr id="9099" name="Google Shape;9099;p122"/>
            <p:cNvCxnSpPr/>
            <p:nvPr/>
          </p:nvCxnSpPr>
          <p:spPr>
            <a:xfrm flipH="1">
              <a:off x="7137398" y="3251197"/>
              <a:ext cx="241300" cy="692150"/>
            </a:xfrm>
            <a:prstGeom prst="straightConnector1">
              <a:avLst/>
            </a:prstGeom>
            <a:noFill/>
            <a:ln cap="flat" cmpd="sng" w="9525">
              <a:solidFill>
                <a:schemeClr val="dk1"/>
              </a:solidFill>
              <a:prstDash val="solid"/>
              <a:round/>
              <a:headEnd len="med" w="med" type="none"/>
              <a:tailEnd len="med" w="med" type="none"/>
            </a:ln>
          </p:spPr>
        </p:cxnSp>
        <p:cxnSp>
          <p:nvCxnSpPr>
            <p:cNvPr id="9100" name="Google Shape;9100;p122"/>
            <p:cNvCxnSpPr>
              <a:stCxn id="8834" idx="4"/>
              <a:endCxn id="8908" idx="0"/>
            </p:cNvCxnSpPr>
            <p:nvPr/>
          </p:nvCxnSpPr>
          <p:spPr>
            <a:xfrm flipH="1">
              <a:off x="7483611" y="4229096"/>
              <a:ext cx="541200" cy="249300"/>
            </a:xfrm>
            <a:prstGeom prst="straightConnector1">
              <a:avLst/>
            </a:prstGeom>
            <a:noFill/>
            <a:ln cap="flat" cmpd="sng" w="9525">
              <a:solidFill>
                <a:schemeClr val="dk1"/>
              </a:solidFill>
              <a:prstDash val="solid"/>
              <a:round/>
              <a:headEnd len="med" w="med" type="none"/>
              <a:tailEnd len="med" w="med" type="none"/>
            </a:ln>
          </p:spPr>
        </p:cxnSp>
        <p:cxnSp>
          <p:nvCxnSpPr>
            <p:cNvPr id="9101" name="Google Shape;9101;p122"/>
            <p:cNvCxnSpPr/>
            <p:nvPr/>
          </p:nvCxnSpPr>
          <p:spPr>
            <a:xfrm rot="10800000">
              <a:off x="7454899" y="4573584"/>
              <a:ext cx="796925" cy="614362"/>
            </a:xfrm>
            <a:prstGeom prst="straightConnector1">
              <a:avLst/>
            </a:prstGeom>
            <a:noFill/>
            <a:ln cap="flat" cmpd="sng" w="9525">
              <a:solidFill>
                <a:schemeClr val="dk1"/>
              </a:solidFill>
              <a:prstDash val="solid"/>
              <a:round/>
              <a:headEnd len="med" w="med" type="none"/>
              <a:tailEnd len="med" w="med" type="none"/>
            </a:ln>
          </p:spPr>
        </p:cxnSp>
        <p:cxnSp>
          <p:nvCxnSpPr>
            <p:cNvPr id="9102" name="Google Shape;9102;p122"/>
            <p:cNvCxnSpPr>
              <a:endCxn id="8910" idx="5"/>
            </p:cNvCxnSpPr>
            <p:nvPr/>
          </p:nvCxnSpPr>
          <p:spPr>
            <a:xfrm rot="10800000">
              <a:off x="6496434" y="4722373"/>
              <a:ext cx="1047600" cy="966900"/>
            </a:xfrm>
            <a:prstGeom prst="straightConnector1">
              <a:avLst/>
            </a:prstGeom>
            <a:noFill/>
            <a:ln cap="flat" cmpd="sng" w="9525">
              <a:solidFill>
                <a:schemeClr val="dk1"/>
              </a:solidFill>
              <a:prstDash val="solid"/>
              <a:round/>
              <a:headEnd len="med" w="med" type="none"/>
              <a:tailEnd len="med" w="med" type="none"/>
            </a:ln>
          </p:spPr>
        </p:cxnSp>
        <p:cxnSp>
          <p:nvCxnSpPr>
            <p:cNvPr id="9103" name="Google Shape;9103;p122"/>
            <p:cNvCxnSpPr>
              <a:stCxn id="8835" idx="0"/>
              <a:endCxn id="9104" idx="5"/>
            </p:cNvCxnSpPr>
            <p:nvPr/>
          </p:nvCxnSpPr>
          <p:spPr>
            <a:xfrm rot="10800000">
              <a:off x="5085362" y="5684597"/>
              <a:ext cx="520800" cy="169800"/>
            </a:xfrm>
            <a:prstGeom prst="straightConnector1">
              <a:avLst/>
            </a:prstGeom>
            <a:noFill/>
            <a:ln cap="flat" cmpd="sng" w="9525">
              <a:solidFill>
                <a:schemeClr val="dk1"/>
              </a:solidFill>
              <a:prstDash val="solid"/>
              <a:round/>
              <a:headEnd len="med" w="med" type="none"/>
              <a:tailEnd len="med" w="med" type="none"/>
            </a:ln>
          </p:spPr>
        </p:cxnSp>
        <p:cxnSp>
          <p:nvCxnSpPr>
            <p:cNvPr id="9105" name="Google Shape;9105;p122"/>
            <p:cNvCxnSpPr/>
            <p:nvPr/>
          </p:nvCxnSpPr>
          <p:spPr>
            <a:xfrm rot="10800000">
              <a:off x="4068763" y="5045070"/>
              <a:ext cx="371475" cy="973138"/>
            </a:xfrm>
            <a:prstGeom prst="straightConnector1">
              <a:avLst/>
            </a:prstGeom>
            <a:noFill/>
            <a:ln cap="flat" cmpd="sng" w="9525">
              <a:solidFill>
                <a:schemeClr val="dk1"/>
              </a:solidFill>
              <a:prstDash val="solid"/>
              <a:round/>
              <a:headEnd len="med" w="med" type="none"/>
              <a:tailEnd len="med" w="med" type="none"/>
            </a:ln>
          </p:spPr>
        </p:cxnSp>
        <p:cxnSp>
          <p:nvCxnSpPr>
            <p:cNvPr id="9106" name="Google Shape;9106;p122"/>
            <p:cNvCxnSpPr/>
            <p:nvPr/>
          </p:nvCxnSpPr>
          <p:spPr>
            <a:xfrm flipH="1" rot="10800000">
              <a:off x="3389313" y="5689595"/>
              <a:ext cx="306387" cy="165099"/>
            </a:xfrm>
            <a:prstGeom prst="straightConnector1">
              <a:avLst/>
            </a:prstGeom>
            <a:noFill/>
            <a:ln cap="flat" cmpd="sng" w="9525">
              <a:solidFill>
                <a:schemeClr val="dk1"/>
              </a:solidFill>
              <a:prstDash val="solid"/>
              <a:round/>
              <a:headEnd len="med" w="med" type="none"/>
              <a:tailEnd len="med" w="med" type="none"/>
            </a:ln>
          </p:spPr>
        </p:cxnSp>
        <p:cxnSp>
          <p:nvCxnSpPr>
            <p:cNvPr id="9107" name="Google Shape;9107;p122"/>
            <p:cNvCxnSpPr/>
            <p:nvPr/>
          </p:nvCxnSpPr>
          <p:spPr>
            <a:xfrm flipH="1" rot="10800000">
              <a:off x="1790701" y="5160959"/>
              <a:ext cx="401638" cy="209549"/>
            </a:xfrm>
            <a:prstGeom prst="straightConnector1">
              <a:avLst/>
            </a:prstGeom>
            <a:noFill/>
            <a:ln cap="flat" cmpd="sng" w="9525">
              <a:solidFill>
                <a:schemeClr val="dk1"/>
              </a:solidFill>
              <a:prstDash val="solid"/>
              <a:round/>
              <a:headEnd len="med" w="med" type="none"/>
              <a:tailEnd len="med" w="med" type="none"/>
            </a:ln>
          </p:spPr>
        </p:cxnSp>
        <p:cxnSp>
          <p:nvCxnSpPr>
            <p:cNvPr id="9108" name="Google Shape;9108;p122"/>
            <p:cNvCxnSpPr/>
            <p:nvPr/>
          </p:nvCxnSpPr>
          <p:spPr>
            <a:xfrm flipH="1" rot="10800000">
              <a:off x="1179514" y="4467220"/>
              <a:ext cx="227012" cy="282574"/>
            </a:xfrm>
            <a:prstGeom prst="straightConnector1">
              <a:avLst/>
            </a:prstGeom>
            <a:noFill/>
            <a:ln cap="flat" cmpd="sng" w="9525">
              <a:solidFill>
                <a:schemeClr val="dk1"/>
              </a:solidFill>
              <a:prstDash val="solid"/>
              <a:round/>
              <a:headEnd len="med" w="med" type="none"/>
              <a:tailEnd len="med" w="med" type="none"/>
            </a:ln>
          </p:spPr>
        </p:cxnSp>
        <p:cxnSp>
          <p:nvCxnSpPr>
            <p:cNvPr id="9109" name="Google Shape;9109;p122"/>
            <p:cNvCxnSpPr>
              <a:endCxn id="9094" idx="5"/>
            </p:cNvCxnSpPr>
            <p:nvPr/>
          </p:nvCxnSpPr>
          <p:spPr>
            <a:xfrm flipH="1" rot="10800000">
              <a:off x="1156034" y="4369514"/>
              <a:ext cx="203100" cy="7800"/>
            </a:xfrm>
            <a:prstGeom prst="straightConnector1">
              <a:avLst/>
            </a:prstGeom>
            <a:noFill/>
            <a:ln cap="flat" cmpd="sng" w="9525">
              <a:solidFill>
                <a:schemeClr val="dk1"/>
              </a:solidFill>
              <a:prstDash val="solid"/>
              <a:round/>
              <a:headEnd len="med" w="med" type="none"/>
              <a:tailEnd len="med" w="med" type="none"/>
            </a:ln>
          </p:spPr>
        </p:cxnSp>
        <p:sp>
          <p:nvSpPr>
            <p:cNvPr id="9110" name="Google Shape;9110;p122"/>
            <p:cNvSpPr/>
            <p:nvPr/>
          </p:nvSpPr>
          <p:spPr>
            <a:xfrm>
              <a:off x="5677594" y="2896840"/>
              <a:ext cx="528046" cy="304770"/>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cxnSp>
          <p:nvCxnSpPr>
            <p:cNvPr id="9111" name="Google Shape;9111;p122"/>
            <p:cNvCxnSpPr/>
            <p:nvPr/>
          </p:nvCxnSpPr>
          <p:spPr>
            <a:xfrm>
              <a:off x="4713288" y="3051287"/>
              <a:ext cx="964306" cy="26892"/>
            </a:xfrm>
            <a:prstGeom prst="straightConnector1">
              <a:avLst/>
            </a:prstGeom>
            <a:noFill/>
            <a:ln cap="flat" cmpd="sng" w="12700">
              <a:solidFill>
                <a:srgbClr val="CC0000"/>
              </a:solidFill>
              <a:prstDash val="solid"/>
              <a:round/>
              <a:headEnd len="med" w="med" type="none"/>
              <a:tailEnd len="med" w="med" type="none"/>
            </a:ln>
          </p:spPr>
        </p:cxnSp>
        <p:cxnSp>
          <p:nvCxnSpPr>
            <p:cNvPr id="9112" name="Google Shape;9112;p122"/>
            <p:cNvCxnSpPr/>
            <p:nvPr/>
          </p:nvCxnSpPr>
          <p:spPr>
            <a:xfrm>
              <a:off x="6139457" y="3169610"/>
              <a:ext cx="691556" cy="784846"/>
            </a:xfrm>
            <a:prstGeom prst="straightConnector1">
              <a:avLst/>
            </a:prstGeom>
            <a:noFill/>
            <a:ln cap="flat" cmpd="sng" w="12700">
              <a:solidFill>
                <a:srgbClr val="CC0000"/>
              </a:solidFill>
              <a:prstDash val="solid"/>
              <a:round/>
              <a:headEnd len="med" w="med" type="none"/>
              <a:tailEnd len="med" w="med" type="none"/>
            </a:ln>
          </p:spPr>
        </p:cxnSp>
        <p:cxnSp>
          <p:nvCxnSpPr>
            <p:cNvPr id="9113" name="Google Shape;9113;p122"/>
            <p:cNvCxnSpPr>
              <a:stCxn id="9059" idx="0"/>
            </p:cNvCxnSpPr>
            <p:nvPr/>
          </p:nvCxnSpPr>
          <p:spPr>
            <a:xfrm flipH="1" rot="10800000">
              <a:off x="3833272" y="4233214"/>
              <a:ext cx="190500" cy="141300"/>
            </a:xfrm>
            <a:prstGeom prst="straightConnector1">
              <a:avLst/>
            </a:prstGeom>
            <a:noFill/>
            <a:ln cap="flat" cmpd="sng" w="12700">
              <a:solidFill>
                <a:srgbClr val="CC0000"/>
              </a:solidFill>
              <a:prstDash val="solid"/>
              <a:round/>
              <a:headEnd len="med" w="med" type="none"/>
              <a:tailEnd len="med" w="med" type="none"/>
            </a:ln>
          </p:spPr>
        </p:cxnSp>
        <p:sp>
          <p:nvSpPr>
            <p:cNvPr id="9114" name="Google Shape;9114;p122"/>
            <p:cNvSpPr/>
            <p:nvPr/>
          </p:nvSpPr>
          <p:spPr>
            <a:xfrm>
              <a:off x="3932543" y="3959555"/>
              <a:ext cx="528230" cy="305050"/>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2400"/>
                <a:buFont typeface="Arial"/>
                <a:buNone/>
              </a:pPr>
              <a:r>
                <a:rPr lang="en-US" sz="2400">
                  <a:solidFill>
                    <a:srgbClr val="000000"/>
                  </a:solidFill>
                  <a:latin typeface="Arial"/>
                  <a:ea typeface="Arial"/>
                  <a:cs typeface="Arial"/>
                  <a:sym typeface="Arial"/>
                </a:rPr>
                <a:t>   </a:t>
              </a:r>
              <a:endParaRPr/>
            </a:p>
          </p:txBody>
        </p:sp>
        <p:cxnSp>
          <p:nvCxnSpPr>
            <p:cNvPr id="9115" name="Google Shape;9115;p122"/>
            <p:cNvCxnSpPr>
              <a:stCxn id="9114" idx="6"/>
              <a:endCxn id="8853" idx="1"/>
            </p:cNvCxnSpPr>
            <p:nvPr/>
          </p:nvCxnSpPr>
          <p:spPr>
            <a:xfrm flipH="1" rot="10800000">
              <a:off x="4460773" y="3953980"/>
              <a:ext cx="770100" cy="158100"/>
            </a:xfrm>
            <a:prstGeom prst="straightConnector1">
              <a:avLst/>
            </a:prstGeom>
            <a:noFill/>
            <a:ln cap="flat" cmpd="sng" w="12700">
              <a:solidFill>
                <a:srgbClr val="CC0000"/>
              </a:solidFill>
              <a:prstDash val="solid"/>
              <a:round/>
              <a:headEnd len="med" w="med" type="none"/>
              <a:tailEnd len="med" w="med" type="none"/>
            </a:ln>
          </p:spPr>
        </p:cxnSp>
        <p:cxnSp>
          <p:nvCxnSpPr>
            <p:cNvPr id="9116" name="Google Shape;9116;p122"/>
            <p:cNvCxnSpPr/>
            <p:nvPr/>
          </p:nvCxnSpPr>
          <p:spPr>
            <a:xfrm>
              <a:off x="3692525" y="3789358"/>
              <a:ext cx="342828" cy="205015"/>
            </a:xfrm>
            <a:prstGeom prst="straightConnector1">
              <a:avLst/>
            </a:prstGeom>
            <a:noFill/>
            <a:ln cap="flat" cmpd="sng" w="12700">
              <a:solidFill>
                <a:srgbClr val="CC0000"/>
              </a:solidFill>
              <a:prstDash val="solid"/>
              <a:round/>
              <a:headEnd len="med" w="med" type="none"/>
              <a:tailEnd len="med" w="med" type="none"/>
            </a:ln>
          </p:spPr>
        </p:cxnSp>
        <p:cxnSp>
          <p:nvCxnSpPr>
            <p:cNvPr id="9117" name="Google Shape;9117;p122"/>
            <p:cNvCxnSpPr>
              <a:stCxn id="8984" idx="5"/>
              <a:endCxn id="8849" idx="1"/>
            </p:cNvCxnSpPr>
            <p:nvPr/>
          </p:nvCxnSpPr>
          <p:spPr>
            <a:xfrm>
              <a:off x="4876256" y="3633038"/>
              <a:ext cx="431700" cy="222600"/>
            </a:xfrm>
            <a:prstGeom prst="straightConnector1">
              <a:avLst/>
            </a:prstGeom>
            <a:noFill/>
            <a:ln cap="flat" cmpd="sng" w="12700">
              <a:solidFill>
                <a:srgbClr val="CC0000"/>
              </a:solidFill>
              <a:prstDash val="solid"/>
              <a:round/>
              <a:headEnd len="med" w="med" type="none"/>
              <a:tailEnd len="med" w="med" type="none"/>
            </a:ln>
          </p:spPr>
        </p:cxnSp>
        <p:cxnSp>
          <p:nvCxnSpPr>
            <p:cNvPr id="9118" name="Google Shape;9118;p122"/>
            <p:cNvCxnSpPr>
              <a:endCxn id="9014" idx="0"/>
            </p:cNvCxnSpPr>
            <p:nvPr/>
          </p:nvCxnSpPr>
          <p:spPr>
            <a:xfrm flipH="1">
              <a:off x="2407288" y="3753300"/>
              <a:ext cx="282600" cy="511200"/>
            </a:xfrm>
            <a:prstGeom prst="straightConnector1">
              <a:avLst/>
            </a:prstGeom>
            <a:noFill/>
            <a:ln cap="flat" cmpd="sng" w="12700">
              <a:solidFill>
                <a:srgbClr val="CC0000"/>
              </a:solidFill>
              <a:prstDash val="solid"/>
              <a:round/>
              <a:headEnd len="med" w="med" type="none"/>
              <a:tailEnd len="med" w="med" type="none"/>
            </a:ln>
          </p:spPr>
        </p:cxnSp>
        <p:cxnSp>
          <p:nvCxnSpPr>
            <p:cNvPr id="9119" name="Google Shape;9119;p122"/>
            <p:cNvCxnSpPr>
              <a:stCxn id="9073" idx="0"/>
            </p:cNvCxnSpPr>
            <p:nvPr/>
          </p:nvCxnSpPr>
          <p:spPr>
            <a:xfrm flipH="1" rot="10800000">
              <a:off x="4307762" y="4626568"/>
              <a:ext cx="843900" cy="304200"/>
            </a:xfrm>
            <a:prstGeom prst="straightConnector1">
              <a:avLst/>
            </a:prstGeom>
            <a:noFill/>
            <a:ln cap="flat" cmpd="sng" w="12700">
              <a:solidFill>
                <a:srgbClr val="CC0000"/>
              </a:solidFill>
              <a:prstDash val="solid"/>
              <a:round/>
              <a:headEnd len="med" w="med" type="none"/>
              <a:tailEnd len="med" w="med" type="none"/>
            </a:ln>
          </p:spPr>
        </p:cxnSp>
        <p:sp>
          <p:nvSpPr>
            <p:cNvPr id="9104" name="Google Shape;9104;p122"/>
            <p:cNvSpPr/>
            <p:nvPr/>
          </p:nvSpPr>
          <p:spPr>
            <a:xfrm>
              <a:off x="3340101" y="5359394"/>
              <a:ext cx="2044700" cy="380999"/>
            </a:xfrm>
            <a:prstGeom prst="ellipse">
              <a:avLst/>
            </a:prstGeom>
            <a:solidFill>
              <a:srgbClr val="CCCCFF"/>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094" name="Google Shape;9094;p122"/>
            <p:cNvSpPr/>
            <p:nvPr/>
          </p:nvSpPr>
          <p:spPr>
            <a:xfrm rot="5400000">
              <a:off x="867570" y="3736176"/>
              <a:ext cx="1252535" cy="381000"/>
            </a:xfrm>
            <a:prstGeom prst="ellipse">
              <a:avLst/>
            </a:prstGeom>
            <a:solidFill>
              <a:srgbClr val="CCCCFF"/>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cxnSp>
          <p:nvCxnSpPr>
            <p:cNvPr id="9120" name="Google Shape;9120;p122"/>
            <p:cNvCxnSpPr>
              <a:stCxn id="9094" idx="0"/>
              <a:endCxn id="9008" idx="0"/>
            </p:cNvCxnSpPr>
            <p:nvPr/>
          </p:nvCxnSpPr>
          <p:spPr>
            <a:xfrm flipH="1" rot="10800000">
              <a:off x="1684338" y="3653676"/>
              <a:ext cx="758700" cy="273000"/>
            </a:xfrm>
            <a:prstGeom prst="straightConnector1">
              <a:avLst/>
            </a:prstGeom>
            <a:noFill/>
            <a:ln cap="flat" cmpd="sng" w="9525">
              <a:solidFill>
                <a:schemeClr val="dk1"/>
              </a:solidFill>
              <a:prstDash val="solid"/>
              <a:round/>
              <a:headEnd len="med" w="med" type="none"/>
              <a:tailEnd len="med" w="med" type="none"/>
            </a:ln>
          </p:spPr>
        </p:cxnSp>
        <p:cxnSp>
          <p:nvCxnSpPr>
            <p:cNvPr id="9121" name="Google Shape;9121;p122"/>
            <p:cNvCxnSpPr>
              <a:endCxn id="9018" idx="1"/>
            </p:cNvCxnSpPr>
            <p:nvPr/>
          </p:nvCxnSpPr>
          <p:spPr>
            <a:xfrm>
              <a:off x="1685925" y="4111625"/>
              <a:ext cx="466800" cy="270000"/>
            </a:xfrm>
            <a:prstGeom prst="straightConnector1">
              <a:avLst/>
            </a:prstGeom>
            <a:noFill/>
            <a:ln cap="flat" cmpd="sng" w="9525">
              <a:solidFill>
                <a:schemeClr val="dk1"/>
              </a:solidFill>
              <a:prstDash val="solid"/>
              <a:round/>
              <a:headEnd len="med" w="med" type="none"/>
              <a:tailEnd len="med" w="med" type="none"/>
            </a:ln>
          </p:spPr>
        </p:cxnSp>
      </p:grpSp>
      <p:cxnSp>
        <p:nvCxnSpPr>
          <p:cNvPr id="9122" name="Google Shape;9122;p122"/>
          <p:cNvCxnSpPr/>
          <p:nvPr/>
        </p:nvCxnSpPr>
        <p:spPr>
          <a:xfrm flipH="1" rot="10800000">
            <a:off x="2686051" y="5276851"/>
            <a:ext cx="144463" cy="3175"/>
          </a:xfrm>
          <a:prstGeom prst="straightConnector1">
            <a:avLst/>
          </a:prstGeom>
          <a:noFill/>
          <a:ln cap="flat" cmpd="sng" w="9525">
            <a:solidFill>
              <a:schemeClr val="dk1"/>
            </a:solidFill>
            <a:prstDash val="solid"/>
            <a:round/>
            <a:headEnd len="med" w="med" type="none"/>
            <a:tailEnd len="med" w="med" type="none"/>
          </a:ln>
        </p:spPr>
      </p:cxnSp>
      <p:grpSp>
        <p:nvGrpSpPr>
          <p:cNvPr id="9123" name="Google Shape;9123;p122"/>
          <p:cNvGrpSpPr/>
          <p:nvPr/>
        </p:nvGrpSpPr>
        <p:grpSpPr>
          <a:xfrm>
            <a:off x="1963739" y="3552826"/>
            <a:ext cx="8258175" cy="2900363"/>
            <a:chOff x="439215" y="3555216"/>
            <a:chExt cx="8258951" cy="2901368"/>
          </a:xfrm>
        </p:grpSpPr>
        <p:grpSp>
          <p:nvGrpSpPr>
            <p:cNvPr id="9124" name="Google Shape;9124;p122"/>
            <p:cNvGrpSpPr/>
            <p:nvPr/>
          </p:nvGrpSpPr>
          <p:grpSpPr>
            <a:xfrm>
              <a:off x="1678362" y="3855145"/>
              <a:ext cx="347753" cy="680208"/>
              <a:chOff x="7923189" y="2486663"/>
              <a:chExt cx="360362" cy="884586"/>
            </a:xfrm>
          </p:grpSpPr>
          <p:pic>
            <p:nvPicPr>
              <p:cNvPr id="9125" name="Google Shape;9125;p122"/>
              <p:cNvPicPr preferRelativeResize="0"/>
              <p:nvPr/>
            </p:nvPicPr>
            <p:blipFill rotWithShape="1">
              <a:blip r:embed="rId3">
                <a:alphaModFix/>
              </a:blip>
              <a:srcRect b="0" l="0" r="0" t="0"/>
              <a:stretch/>
            </p:blipFill>
            <p:spPr>
              <a:xfrm>
                <a:off x="8043984" y="2486663"/>
                <a:ext cx="239567" cy="536525"/>
              </a:xfrm>
              <a:prstGeom prst="rect">
                <a:avLst/>
              </a:prstGeom>
              <a:noFill/>
              <a:ln>
                <a:noFill/>
              </a:ln>
            </p:spPr>
          </p:pic>
          <p:grpSp>
            <p:nvGrpSpPr>
              <p:cNvPr id="9126" name="Google Shape;9126;p122"/>
              <p:cNvGrpSpPr/>
              <p:nvPr/>
            </p:nvGrpSpPr>
            <p:grpSpPr>
              <a:xfrm>
                <a:off x="7923189" y="2890236"/>
                <a:ext cx="227012" cy="481013"/>
                <a:chOff x="4140" y="429"/>
                <a:chExt cx="1425" cy="2396"/>
              </a:xfrm>
            </p:grpSpPr>
            <p:sp>
              <p:nvSpPr>
                <p:cNvPr id="9127" name="Google Shape;9127;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28" name="Google Shape;9128;p12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29" name="Google Shape;9129;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30" name="Google Shape;9130;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31" name="Google Shape;9131;p12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132" name="Google Shape;9132;p122"/>
                <p:cNvGrpSpPr/>
                <p:nvPr/>
              </p:nvGrpSpPr>
              <p:grpSpPr>
                <a:xfrm>
                  <a:off x="4748" y="666"/>
                  <a:ext cx="578" cy="150"/>
                  <a:chOff x="613" y="2566"/>
                  <a:chExt cx="721" cy="144"/>
                </a:xfrm>
              </p:grpSpPr>
              <p:sp>
                <p:nvSpPr>
                  <p:cNvPr id="9133" name="Google Shape;9133;p12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34" name="Google Shape;9134;p12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135" name="Google Shape;9135;p12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136" name="Google Shape;9136;p122"/>
                <p:cNvGrpSpPr/>
                <p:nvPr/>
              </p:nvGrpSpPr>
              <p:grpSpPr>
                <a:xfrm>
                  <a:off x="4748" y="990"/>
                  <a:ext cx="578" cy="134"/>
                  <a:chOff x="615" y="2564"/>
                  <a:chExt cx="721" cy="139"/>
                </a:xfrm>
              </p:grpSpPr>
              <p:sp>
                <p:nvSpPr>
                  <p:cNvPr id="9137" name="Google Shape;9137;p12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38" name="Google Shape;9138;p12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139" name="Google Shape;9139;p12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40" name="Google Shape;9140;p12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141" name="Google Shape;9141;p122"/>
                <p:cNvGrpSpPr/>
                <p:nvPr/>
              </p:nvGrpSpPr>
              <p:grpSpPr>
                <a:xfrm>
                  <a:off x="4738" y="1647"/>
                  <a:ext cx="578" cy="135"/>
                  <a:chOff x="618" y="2586"/>
                  <a:chExt cx="720" cy="124"/>
                </a:xfrm>
              </p:grpSpPr>
              <p:sp>
                <p:nvSpPr>
                  <p:cNvPr id="9142" name="Google Shape;9142;p12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43" name="Google Shape;9143;p12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144" name="Google Shape;9144;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145" name="Google Shape;9145;p122"/>
                <p:cNvGrpSpPr/>
                <p:nvPr/>
              </p:nvGrpSpPr>
              <p:grpSpPr>
                <a:xfrm>
                  <a:off x="4738" y="1330"/>
                  <a:ext cx="588" cy="134"/>
                  <a:chOff x="613" y="2571"/>
                  <a:chExt cx="732" cy="134"/>
                </a:xfrm>
              </p:grpSpPr>
              <p:sp>
                <p:nvSpPr>
                  <p:cNvPr id="9146" name="Google Shape;9146;p12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47" name="Google Shape;9147;p12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148" name="Google Shape;9148;p12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49" name="Google Shape;9149;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50" name="Google Shape;9150;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51" name="Google Shape;9151;p12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52" name="Google Shape;9152;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53" name="Google Shape;9153;p12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54" name="Google Shape;9154;p12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55" name="Google Shape;9155;p12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56" name="Google Shape;9156;p12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9157" name="Google Shape;9157;p12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58" name="Google Shape;9158;p12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grpSp>
        <p:grpSp>
          <p:nvGrpSpPr>
            <p:cNvPr id="9159" name="Google Shape;9159;p122"/>
            <p:cNvGrpSpPr/>
            <p:nvPr/>
          </p:nvGrpSpPr>
          <p:grpSpPr>
            <a:xfrm>
              <a:off x="3221830" y="5776376"/>
              <a:ext cx="347753" cy="680208"/>
              <a:chOff x="7923189" y="2486663"/>
              <a:chExt cx="360362" cy="884586"/>
            </a:xfrm>
          </p:grpSpPr>
          <p:pic>
            <p:nvPicPr>
              <p:cNvPr id="9160" name="Google Shape;9160;p122"/>
              <p:cNvPicPr preferRelativeResize="0"/>
              <p:nvPr/>
            </p:nvPicPr>
            <p:blipFill rotWithShape="1">
              <a:blip r:embed="rId3">
                <a:alphaModFix/>
              </a:blip>
              <a:srcRect b="0" l="0" r="0" t="0"/>
              <a:stretch/>
            </p:blipFill>
            <p:spPr>
              <a:xfrm>
                <a:off x="8043984" y="2486663"/>
                <a:ext cx="239567" cy="536525"/>
              </a:xfrm>
              <a:prstGeom prst="rect">
                <a:avLst/>
              </a:prstGeom>
              <a:noFill/>
              <a:ln>
                <a:noFill/>
              </a:ln>
            </p:spPr>
          </p:pic>
          <p:grpSp>
            <p:nvGrpSpPr>
              <p:cNvPr id="9161" name="Google Shape;9161;p122"/>
              <p:cNvGrpSpPr/>
              <p:nvPr/>
            </p:nvGrpSpPr>
            <p:grpSpPr>
              <a:xfrm>
                <a:off x="7923189" y="2890236"/>
                <a:ext cx="227012" cy="481013"/>
                <a:chOff x="4140" y="429"/>
                <a:chExt cx="1425" cy="2396"/>
              </a:xfrm>
            </p:grpSpPr>
            <p:sp>
              <p:nvSpPr>
                <p:cNvPr id="9162" name="Google Shape;9162;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63" name="Google Shape;9163;p12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64" name="Google Shape;9164;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65" name="Google Shape;9165;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66" name="Google Shape;9166;p12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167" name="Google Shape;9167;p122"/>
                <p:cNvGrpSpPr/>
                <p:nvPr/>
              </p:nvGrpSpPr>
              <p:grpSpPr>
                <a:xfrm>
                  <a:off x="4748" y="666"/>
                  <a:ext cx="578" cy="150"/>
                  <a:chOff x="613" y="2566"/>
                  <a:chExt cx="721" cy="144"/>
                </a:xfrm>
              </p:grpSpPr>
              <p:sp>
                <p:nvSpPr>
                  <p:cNvPr id="9168" name="Google Shape;9168;p12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69" name="Google Shape;9169;p12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170" name="Google Shape;9170;p12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171" name="Google Shape;9171;p122"/>
                <p:cNvGrpSpPr/>
                <p:nvPr/>
              </p:nvGrpSpPr>
              <p:grpSpPr>
                <a:xfrm>
                  <a:off x="4748" y="990"/>
                  <a:ext cx="578" cy="134"/>
                  <a:chOff x="615" y="2564"/>
                  <a:chExt cx="721" cy="139"/>
                </a:xfrm>
              </p:grpSpPr>
              <p:sp>
                <p:nvSpPr>
                  <p:cNvPr id="9172" name="Google Shape;9172;p12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73" name="Google Shape;9173;p12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174" name="Google Shape;9174;p12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75" name="Google Shape;9175;p12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176" name="Google Shape;9176;p122"/>
                <p:cNvGrpSpPr/>
                <p:nvPr/>
              </p:nvGrpSpPr>
              <p:grpSpPr>
                <a:xfrm>
                  <a:off x="4738" y="1647"/>
                  <a:ext cx="578" cy="135"/>
                  <a:chOff x="618" y="2586"/>
                  <a:chExt cx="720" cy="124"/>
                </a:xfrm>
              </p:grpSpPr>
              <p:sp>
                <p:nvSpPr>
                  <p:cNvPr id="9177" name="Google Shape;9177;p12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78" name="Google Shape;9178;p12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179" name="Google Shape;9179;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180" name="Google Shape;9180;p122"/>
                <p:cNvGrpSpPr/>
                <p:nvPr/>
              </p:nvGrpSpPr>
              <p:grpSpPr>
                <a:xfrm>
                  <a:off x="4738" y="1330"/>
                  <a:ext cx="588" cy="134"/>
                  <a:chOff x="613" y="2571"/>
                  <a:chExt cx="732" cy="134"/>
                </a:xfrm>
              </p:grpSpPr>
              <p:sp>
                <p:nvSpPr>
                  <p:cNvPr id="9181" name="Google Shape;9181;p12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82" name="Google Shape;9182;p12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183" name="Google Shape;9183;p12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84" name="Google Shape;9184;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85" name="Google Shape;9185;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86" name="Google Shape;9186;p12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87" name="Google Shape;9187;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88" name="Google Shape;9188;p12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89" name="Google Shape;9189;p12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90" name="Google Shape;9190;p12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91" name="Google Shape;9191;p12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9192" name="Google Shape;9192;p12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93" name="Google Shape;9193;p12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grpSp>
        <p:grpSp>
          <p:nvGrpSpPr>
            <p:cNvPr id="9194" name="Google Shape;9194;p122"/>
            <p:cNvGrpSpPr/>
            <p:nvPr/>
          </p:nvGrpSpPr>
          <p:grpSpPr>
            <a:xfrm>
              <a:off x="4387291" y="3555216"/>
              <a:ext cx="347753" cy="680208"/>
              <a:chOff x="7923189" y="2486663"/>
              <a:chExt cx="360362" cy="884586"/>
            </a:xfrm>
          </p:grpSpPr>
          <p:pic>
            <p:nvPicPr>
              <p:cNvPr id="9195" name="Google Shape;9195;p122"/>
              <p:cNvPicPr preferRelativeResize="0"/>
              <p:nvPr/>
            </p:nvPicPr>
            <p:blipFill rotWithShape="1">
              <a:blip r:embed="rId3">
                <a:alphaModFix/>
              </a:blip>
              <a:srcRect b="0" l="0" r="0" t="0"/>
              <a:stretch/>
            </p:blipFill>
            <p:spPr>
              <a:xfrm>
                <a:off x="8043984" y="2486663"/>
                <a:ext cx="239567" cy="536525"/>
              </a:xfrm>
              <a:prstGeom prst="rect">
                <a:avLst/>
              </a:prstGeom>
              <a:noFill/>
              <a:ln>
                <a:noFill/>
              </a:ln>
            </p:spPr>
          </p:pic>
          <p:grpSp>
            <p:nvGrpSpPr>
              <p:cNvPr id="9196" name="Google Shape;9196;p122"/>
              <p:cNvGrpSpPr/>
              <p:nvPr/>
            </p:nvGrpSpPr>
            <p:grpSpPr>
              <a:xfrm>
                <a:off x="7923189" y="2890236"/>
                <a:ext cx="227012" cy="481013"/>
                <a:chOff x="4140" y="429"/>
                <a:chExt cx="1425" cy="2396"/>
              </a:xfrm>
            </p:grpSpPr>
            <p:sp>
              <p:nvSpPr>
                <p:cNvPr id="9197" name="Google Shape;9197;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98" name="Google Shape;9198;p12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199" name="Google Shape;9199;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00" name="Google Shape;9200;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01" name="Google Shape;9201;p12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202" name="Google Shape;9202;p122"/>
                <p:cNvGrpSpPr/>
                <p:nvPr/>
              </p:nvGrpSpPr>
              <p:grpSpPr>
                <a:xfrm>
                  <a:off x="4748" y="666"/>
                  <a:ext cx="578" cy="150"/>
                  <a:chOff x="613" y="2566"/>
                  <a:chExt cx="721" cy="144"/>
                </a:xfrm>
              </p:grpSpPr>
              <p:sp>
                <p:nvSpPr>
                  <p:cNvPr id="9203" name="Google Shape;9203;p12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04" name="Google Shape;9204;p12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205" name="Google Shape;9205;p12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206" name="Google Shape;9206;p122"/>
                <p:cNvGrpSpPr/>
                <p:nvPr/>
              </p:nvGrpSpPr>
              <p:grpSpPr>
                <a:xfrm>
                  <a:off x="4748" y="990"/>
                  <a:ext cx="578" cy="134"/>
                  <a:chOff x="615" y="2564"/>
                  <a:chExt cx="721" cy="139"/>
                </a:xfrm>
              </p:grpSpPr>
              <p:sp>
                <p:nvSpPr>
                  <p:cNvPr id="9207" name="Google Shape;9207;p12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08" name="Google Shape;9208;p12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209" name="Google Shape;9209;p12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10" name="Google Shape;9210;p12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211" name="Google Shape;9211;p122"/>
                <p:cNvGrpSpPr/>
                <p:nvPr/>
              </p:nvGrpSpPr>
              <p:grpSpPr>
                <a:xfrm>
                  <a:off x="4738" y="1647"/>
                  <a:ext cx="578" cy="135"/>
                  <a:chOff x="618" y="2586"/>
                  <a:chExt cx="720" cy="124"/>
                </a:xfrm>
              </p:grpSpPr>
              <p:sp>
                <p:nvSpPr>
                  <p:cNvPr id="9212" name="Google Shape;9212;p12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13" name="Google Shape;9213;p12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214" name="Google Shape;9214;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215" name="Google Shape;9215;p122"/>
                <p:cNvGrpSpPr/>
                <p:nvPr/>
              </p:nvGrpSpPr>
              <p:grpSpPr>
                <a:xfrm>
                  <a:off x="4738" y="1330"/>
                  <a:ext cx="588" cy="134"/>
                  <a:chOff x="613" y="2571"/>
                  <a:chExt cx="732" cy="134"/>
                </a:xfrm>
              </p:grpSpPr>
              <p:sp>
                <p:nvSpPr>
                  <p:cNvPr id="9216" name="Google Shape;9216;p12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17" name="Google Shape;9217;p12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218" name="Google Shape;9218;p12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19" name="Google Shape;9219;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20" name="Google Shape;9220;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21" name="Google Shape;9221;p12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22" name="Google Shape;9222;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23" name="Google Shape;9223;p12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24" name="Google Shape;9224;p12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25" name="Google Shape;9225;p12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26" name="Google Shape;9226;p12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9227" name="Google Shape;9227;p12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28" name="Google Shape;9228;p12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grpSp>
        <p:grpSp>
          <p:nvGrpSpPr>
            <p:cNvPr id="9229" name="Google Shape;9229;p122"/>
            <p:cNvGrpSpPr/>
            <p:nvPr/>
          </p:nvGrpSpPr>
          <p:grpSpPr>
            <a:xfrm>
              <a:off x="5084012" y="5612511"/>
              <a:ext cx="347767" cy="680207"/>
              <a:chOff x="7923189" y="2486664"/>
              <a:chExt cx="360377" cy="884585"/>
            </a:xfrm>
          </p:grpSpPr>
          <p:pic>
            <p:nvPicPr>
              <p:cNvPr id="9230" name="Google Shape;9230;p122"/>
              <p:cNvPicPr preferRelativeResize="0"/>
              <p:nvPr/>
            </p:nvPicPr>
            <p:blipFill rotWithShape="1">
              <a:blip r:embed="rId3">
                <a:alphaModFix/>
              </a:blip>
              <a:srcRect b="0" l="0" r="0" t="0"/>
              <a:stretch/>
            </p:blipFill>
            <p:spPr>
              <a:xfrm>
                <a:off x="8043998" y="2486664"/>
                <a:ext cx="239568" cy="536525"/>
              </a:xfrm>
              <a:prstGeom prst="rect">
                <a:avLst/>
              </a:prstGeom>
              <a:noFill/>
              <a:ln>
                <a:noFill/>
              </a:ln>
            </p:spPr>
          </p:pic>
          <p:grpSp>
            <p:nvGrpSpPr>
              <p:cNvPr id="9231" name="Google Shape;9231;p122"/>
              <p:cNvGrpSpPr/>
              <p:nvPr/>
            </p:nvGrpSpPr>
            <p:grpSpPr>
              <a:xfrm>
                <a:off x="7923189" y="2890236"/>
                <a:ext cx="227012" cy="481013"/>
                <a:chOff x="4140" y="429"/>
                <a:chExt cx="1425" cy="2396"/>
              </a:xfrm>
            </p:grpSpPr>
            <p:sp>
              <p:nvSpPr>
                <p:cNvPr id="9232" name="Google Shape;9232;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33" name="Google Shape;9233;p12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34" name="Google Shape;9234;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35" name="Google Shape;9235;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36" name="Google Shape;9236;p12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237" name="Google Shape;9237;p122"/>
                <p:cNvGrpSpPr/>
                <p:nvPr/>
              </p:nvGrpSpPr>
              <p:grpSpPr>
                <a:xfrm>
                  <a:off x="4748" y="666"/>
                  <a:ext cx="578" cy="150"/>
                  <a:chOff x="613" y="2566"/>
                  <a:chExt cx="721" cy="144"/>
                </a:xfrm>
              </p:grpSpPr>
              <p:sp>
                <p:nvSpPr>
                  <p:cNvPr id="9238" name="Google Shape;9238;p12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39" name="Google Shape;9239;p12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240" name="Google Shape;9240;p12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241" name="Google Shape;9241;p122"/>
                <p:cNvGrpSpPr/>
                <p:nvPr/>
              </p:nvGrpSpPr>
              <p:grpSpPr>
                <a:xfrm>
                  <a:off x="4748" y="990"/>
                  <a:ext cx="578" cy="134"/>
                  <a:chOff x="615" y="2564"/>
                  <a:chExt cx="721" cy="139"/>
                </a:xfrm>
              </p:grpSpPr>
              <p:sp>
                <p:nvSpPr>
                  <p:cNvPr id="9242" name="Google Shape;9242;p12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43" name="Google Shape;9243;p12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244" name="Google Shape;9244;p12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45" name="Google Shape;9245;p12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246" name="Google Shape;9246;p122"/>
                <p:cNvGrpSpPr/>
                <p:nvPr/>
              </p:nvGrpSpPr>
              <p:grpSpPr>
                <a:xfrm>
                  <a:off x="4738" y="1647"/>
                  <a:ext cx="578" cy="135"/>
                  <a:chOff x="618" y="2586"/>
                  <a:chExt cx="720" cy="124"/>
                </a:xfrm>
              </p:grpSpPr>
              <p:sp>
                <p:nvSpPr>
                  <p:cNvPr id="9247" name="Google Shape;9247;p12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48" name="Google Shape;9248;p12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249" name="Google Shape;9249;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250" name="Google Shape;9250;p122"/>
                <p:cNvGrpSpPr/>
                <p:nvPr/>
              </p:nvGrpSpPr>
              <p:grpSpPr>
                <a:xfrm>
                  <a:off x="4738" y="1330"/>
                  <a:ext cx="588" cy="134"/>
                  <a:chOff x="613" y="2571"/>
                  <a:chExt cx="732" cy="134"/>
                </a:xfrm>
              </p:grpSpPr>
              <p:sp>
                <p:nvSpPr>
                  <p:cNvPr id="9251" name="Google Shape;9251;p12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52" name="Google Shape;9252;p12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253" name="Google Shape;9253;p12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54" name="Google Shape;9254;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55" name="Google Shape;9255;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56" name="Google Shape;9256;p12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57" name="Google Shape;9257;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58" name="Google Shape;9258;p12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59" name="Google Shape;9259;p12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60" name="Google Shape;9260;p12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61" name="Google Shape;9261;p12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9262" name="Google Shape;9262;p12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63" name="Google Shape;9263;p12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grpSp>
        <p:grpSp>
          <p:nvGrpSpPr>
            <p:cNvPr id="9264" name="Google Shape;9264;p122"/>
            <p:cNvGrpSpPr/>
            <p:nvPr/>
          </p:nvGrpSpPr>
          <p:grpSpPr>
            <a:xfrm>
              <a:off x="6068038" y="3829780"/>
              <a:ext cx="347753" cy="680208"/>
              <a:chOff x="7923189" y="2486663"/>
              <a:chExt cx="360362" cy="884586"/>
            </a:xfrm>
          </p:grpSpPr>
          <p:pic>
            <p:nvPicPr>
              <p:cNvPr id="9265" name="Google Shape;9265;p122"/>
              <p:cNvPicPr preferRelativeResize="0"/>
              <p:nvPr/>
            </p:nvPicPr>
            <p:blipFill rotWithShape="1">
              <a:blip r:embed="rId3">
                <a:alphaModFix/>
              </a:blip>
              <a:srcRect b="0" l="0" r="0" t="0"/>
              <a:stretch/>
            </p:blipFill>
            <p:spPr>
              <a:xfrm>
                <a:off x="8043984" y="2486663"/>
                <a:ext cx="239567" cy="536525"/>
              </a:xfrm>
              <a:prstGeom prst="rect">
                <a:avLst/>
              </a:prstGeom>
              <a:noFill/>
              <a:ln>
                <a:noFill/>
              </a:ln>
            </p:spPr>
          </p:pic>
          <p:grpSp>
            <p:nvGrpSpPr>
              <p:cNvPr id="9266" name="Google Shape;9266;p122"/>
              <p:cNvGrpSpPr/>
              <p:nvPr/>
            </p:nvGrpSpPr>
            <p:grpSpPr>
              <a:xfrm>
                <a:off x="7923189" y="2890236"/>
                <a:ext cx="227012" cy="481013"/>
                <a:chOff x="4140" y="429"/>
                <a:chExt cx="1425" cy="2396"/>
              </a:xfrm>
            </p:grpSpPr>
            <p:sp>
              <p:nvSpPr>
                <p:cNvPr id="9267" name="Google Shape;9267;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68" name="Google Shape;9268;p12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69" name="Google Shape;9269;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70" name="Google Shape;9270;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71" name="Google Shape;9271;p12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272" name="Google Shape;9272;p122"/>
                <p:cNvGrpSpPr/>
                <p:nvPr/>
              </p:nvGrpSpPr>
              <p:grpSpPr>
                <a:xfrm>
                  <a:off x="4748" y="666"/>
                  <a:ext cx="578" cy="150"/>
                  <a:chOff x="613" y="2566"/>
                  <a:chExt cx="721" cy="144"/>
                </a:xfrm>
              </p:grpSpPr>
              <p:sp>
                <p:nvSpPr>
                  <p:cNvPr id="9273" name="Google Shape;9273;p12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74" name="Google Shape;9274;p12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275" name="Google Shape;9275;p12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276" name="Google Shape;9276;p122"/>
                <p:cNvGrpSpPr/>
                <p:nvPr/>
              </p:nvGrpSpPr>
              <p:grpSpPr>
                <a:xfrm>
                  <a:off x="4748" y="990"/>
                  <a:ext cx="578" cy="134"/>
                  <a:chOff x="615" y="2564"/>
                  <a:chExt cx="721" cy="139"/>
                </a:xfrm>
              </p:grpSpPr>
              <p:sp>
                <p:nvSpPr>
                  <p:cNvPr id="9277" name="Google Shape;9277;p12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78" name="Google Shape;9278;p12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279" name="Google Shape;9279;p12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80" name="Google Shape;9280;p12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281" name="Google Shape;9281;p122"/>
                <p:cNvGrpSpPr/>
                <p:nvPr/>
              </p:nvGrpSpPr>
              <p:grpSpPr>
                <a:xfrm>
                  <a:off x="4738" y="1647"/>
                  <a:ext cx="578" cy="135"/>
                  <a:chOff x="618" y="2586"/>
                  <a:chExt cx="720" cy="124"/>
                </a:xfrm>
              </p:grpSpPr>
              <p:sp>
                <p:nvSpPr>
                  <p:cNvPr id="9282" name="Google Shape;9282;p12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83" name="Google Shape;9283;p12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284" name="Google Shape;9284;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285" name="Google Shape;9285;p122"/>
                <p:cNvGrpSpPr/>
                <p:nvPr/>
              </p:nvGrpSpPr>
              <p:grpSpPr>
                <a:xfrm>
                  <a:off x="4738" y="1330"/>
                  <a:ext cx="588" cy="134"/>
                  <a:chOff x="613" y="2571"/>
                  <a:chExt cx="732" cy="134"/>
                </a:xfrm>
              </p:grpSpPr>
              <p:sp>
                <p:nvSpPr>
                  <p:cNvPr id="9286" name="Google Shape;9286;p12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87" name="Google Shape;9287;p12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288" name="Google Shape;9288;p12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89" name="Google Shape;9289;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90" name="Google Shape;9290;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91" name="Google Shape;9291;p12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92" name="Google Shape;9292;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93" name="Google Shape;9293;p12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94" name="Google Shape;9294;p12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95" name="Google Shape;9295;p12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96" name="Google Shape;9296;p12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9297" name="Google Shape;9297;p12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298" name="Google Shape;9298;p12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grpSp>
        <p:grpSp>
          <p:nvGrpSpPr>
            <p:cNvPr id="9299" name="Google Shape;9299;p122"/>
            <p:cNvGrpSpPr/>
            <p:nvPr/>
          </p:nvGrpSpPr>
          <p:grpSpPr>
            <a:xfrm>
              <a:off x="2122838" y="5630065"/>
              <a:ext cx="347753" cy="680208"/>
              <a:chOff x="7923189" y="2486663"/>
              <a:chExt cx="360362" cy="884586"/>
            </a:xfrm>
          </p:grpSpPr>
          <p:pic>
            <p:nvPicPr>
              <p:cNvPr id="9300" name="Google Shape;9300;p122"/>
              <p:cNvPicPr preferRelativeResize="0"/>
              <p:nvPr/>
            </p:nvPicPr>
            <p:blipFill rotWithShape="1">
              <a:blip r:embed="rId3">
                <a:alphaModFix/>
              </a:blip>
              <a:srcRect b="0" l="0" r="0" t="0"/>
              <a:stretch/>
            </p:blipFill>
            <p:spPr>
              <a:xfrm>
                <a:off x="8043984" y="2486663"/>
                <a:ext cx="239567" cy="536525"/>
              </a:xfrm>
              <a:prstGeom prst="rect">
                <a:avLst/>
              </a:prstGeom>
              <a:noFill/>
              <a:ln>
                <a:noFill/>
              </a:ln>
            </p:spPr>
          </p:pic>
          <p:grpSp>
            <p:nvGrpSpPr>
              <p:cNvPr id="9301" name="Google Shape;9301;p122"/>
              <p:cNvGrpSpPr/>
              <p:nvPr/>
            </p:nvGrpSpPr>
            <p:grpSpPr>
              <a:xfrm>
                <a:off x="7923189" y="2890236"/>
                <a:ext cx="227012" cy="481013"/>
                <a:chOff x="4140" y="429"/>
                <a:chExt cx="1425" cy="2396"/>
              </a:xfrm>
            </p:grpSpPr>
            <p:sp>
              <p:nvSpPr>
                <p:cNvPr id="9302" name="Google Shape;9302;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03" name="Google Shape;9303;p12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304" name="Google Shape;9304;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05" name="Google Shape;9305;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06" name="Google Shape;9306;p12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307" name="Google Shape;9307;p122"/>
                <p:cNvGrpSpPr/>
                <p:nvPr/>
              </p:nvGrpSpPr>
              <p:grpSpPr>
                <a:xfrm>
                  <a:off x="4748" y="666"/>
                  <a:ext cx="578" cy="150"/>
                  <a:chOff x="613" y="2566"/>
                  <a:chExt cx="721" cy="144"/>
                </a:xfrm>
              </p:grpSpPr>
              <p:sp>
                <p:nvSpPr>
                  <p:cNvPr id="9308" name="Google Shape;9308;p12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309" name="Google Shape;9309;p12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310" name="Google Shape;9310;p12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311" name="Google Shape;9311;p122"/>
                <p:cNvGrpSpPr/>
                <p:nvPr/>
              </p:nvGrpSpPr>
              <p:grpSpPr>
                <a:xfrm>
                  <a:off x="4748" y="990"/>
                  <a:ext cx="578" cy="134"/>
                  <a:chOff x="615" y="2564"/>
                  <a:chExt cx="721" cy="139"/>
                </a:xfrm>
              </p:grpSpPr>
              <p:sp>
                <p:nvSpPr>
                  <p:cNvPr id="9312" name="Google Shape;9312;p12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313" name="Google Shape;9313;p12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314" name="Google Shape;9314;p12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315" name="Google Shape;9315;p12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316" name="Google Shape;9316;p122"/>
                <p:cNvGrpSpPr/>
                <p:nvPr/>
              </p:nvGrpSpPr>
              <p:grpSpPr>
                <a:xfrm>
                  <a:off x="4738" y="1647"/>
                  <a:ext cx="578" cy="135"/>
                  <a:chOff x="618" y="2586"/>
                  <a:chExt cx="720" cy="124"/>
                </a:xfrm>
              </p:grpSpPr>
              <p:sp>
                <p:nvSpPr>
                  <p:cNvPr id="9317" name="Google Shape;9317;p12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318" name="Google Shape;9318;p12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319" name="Google Shape;9319;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320" name="Google Shape;9320;p122"/>
                <p:cNvGrpSpPr/>
                <p:nvPr/>
              </p:nvGrpSpPr>
              <p:grpSpPr>
                <a:xfrm>
                  <a:off x="4738" y="1330"/>
                  <a:ext cx="588" cy="134"/>
                  <a:chOff x="613" y="2571"/>
                  <a:chExt cx="732" cy="134"/>
                </a:xfrm>
              </p:grpSpPr>
              <p:sp>
                <p:nvSpPr>
                  <p:cNvPr id="9321" name="Google Shape;9321;p12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322" name="Google Shape;9322;p12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323" name="Google Shape;9323;p12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324" name="Google Shape;9324;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25" name="Google Shape;9325;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26" name="Google Shape;9326;p12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327" name="Google Shape;9327;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28" name="Google Shape;9328;p12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329" name="Google Shape;9329;p12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330" name="Google Shape;9330;p12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331" name="Google Shape;9331;p12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9332" name="Google Shape;9332;p12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333" name="Google Shape;9333;p12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grpSp>
        <p:grpSp>
          <p:nvGrpSpPr>
            <p:cNvPr id="9334" name="Google Shape;9334;p122"/>
            <p:cNvGrpSpPr/>
            <p:nvPr/>
          </p:nvGrpSpPr>
          <p:grpSpPr>
            <a:xfrm>
              <a:off x="7707456" y="4365068"/>
              <a:ext cx="990710" cy="735459"/>
              <a:chOff x="7707456" y="4365068"/>
              <a:chExt cx="990710" cy="735459"/>
            </a:xfrm>
          </p:grpSpPr>
          <p:pic>
            <p:nvPicPr>
              <p:cNvPr id="9335" name="Google Shape;9335;p122"/>
              <p:cNvPicPr preferRelativeResize="0"/>
              <p:nvPr/>
            </p:nvPicPr>
            <p:blipFill rotWithShape="1">
              <a:blip r:embed="rId4">
                <a:alphaModFix/>
              </a:blip>
              <a:srcRect b="0" l="0" r="0" t="0"/>
              <a:stretch/>
            </p:blipFill>
            <p:spPr>
              <a:xfrm>
                <a:off x="7771833" y="4640202"/>
                <a:ext cx="822008" cy="460325"/>
              </a:xfrm>
              <a:prstGeom prst="rect">
                <a:avLst/>
              </a:prstGeom>
              <a:noFill/>
              <a:ln>
                <a:noFill/>
              </a:ln>
            </p:spPr>
          </p:pic>
          <p:grpSp>
            <p:nvGrpSpPr>
              <p:cNvPr id="9336" name="Google Shape;9336;p122"/>
              <p:cNvGrpSpPr/>
              <p:nvPr/>
            </p:nvGrpSpPr>
            <p:grpSpPr>
              <a:xfrm flipH="1">
                <a:off x="7707456" y="4368231"/>
                <a:ext cx="225477" cy="394743"/>
                <a:chOff x="4144" y="425"/>
                <a:chExt cx="1422" cy="2389"/>
              </a:xfrm>
            </p:grpSpPr>
            <p:sp>
              <p:nvSpPr>
                <p:cNvPr id="9337" name="Google Shape;9337;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38" name="Google Shape;9338;p122"/>
                <p:cNvSpPr/>
                <p:nvPr/>
              </p:nvSpPr>
              <p:spPr>
                <a:xfrm>
                  <a:off x="4204" y="425"/>
                  <a:ext cx="1051" cy="2259"/>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39" name="Google Shape;9339;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40" name="Google Shape;9340;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41" name="Google Shape;9341;p122"/>
                <p:cNvSpPr/>
                <p:nvPr/>
              </p:nvSpPr>
              <p:spPr>
                <a:xfrm>
                  <a:off x="4214" y="685"/>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342" name="Google Shape;9342;p122"/>
                <p:cNvGrpSpPr/>
                <p:nvPr/>
              </p:nvGrpSpPr>
              <p:grpSpPr>
                <a:xfrm>
                  <a:off x="4775" y="666"/>
                  <a:ext cx="581" cy="144"/>
                  <a:chOff x="646" y="2566"/>
                  <a:chExt cx="725" cy="138"/>
                </a:xfrm>
              </p:grpSpPr>
              <p:sp>
                <p:nvSpPr>
                  <p:cNvPr id="9343" name="Google Shape;9343;p122"/>
                  <p:cNvSpPr/>
                  <p:nvPr/>
                </p:nvSpPr>
                <p:spPr>
                  <a:xfrm>
                    <a:off x="646" y="2566"/>
                    <a:ext cx="725"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44" name="Google Shape;9344;p122"/>
                  <p:cNvSpPr/>
                  <p:nvPr/>
                </p:nvSpPr>
                <p:spPr>
                  <a:xfrm>
                    <a:off x="659" y="2584"/>
                    <a:ext cx="700"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345" name="Google Shape;9345;p122"/>
                <p:cNvSpPr/>
                <p:nvPr/>
              </p:nvSpPr>
              <p:spPr>
                <a:xfrm>
                  <a:off x="4224" y="1012"/>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346" name="Google Shape;9346;p122"/>
                <p:cNvGrpSpPr/>
                <p:nvPr/>
              </p:nvGrpSpPr>
              <p:grpSpPr>
                <a:xfrm>
                  <a:off x="4745" y="992"/>
                  <a:ext cx="581" cy="135"/>
                  <a:chOff x="611" y="2566"/>
                  <a:chExt cx="725" cy="140"/>
                </a:xfrm>
              </p:grpSpPr>
              <p:sp>
                <p:nvSpPr>
                  <p:cNvPr id="9347" name="Google Shape;9347;p122"/>
                  <p:cNvSpPr/>
                  <p:nvPr/>
                </p:nvSpPr>
                <p:spPr>
                  <a:xfrm>
                    <a:off x="611" y="2566"/>
                    <a:ext cx="725"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48" name="Google Shape;9348;p122"/>
                  <p:cNvSpPr/>
                  <p:nvPr/>
                </p:nvSpPr>
                <p:spPr>
                  <a:xfrm>
                    <a:off x="624" y="2586"/>
                    <a:ext cx="687"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349" name="Google Shape;9349;p122"/>
                <p:cNvSpPr/>
                <p:nvPr/>
              </p:nvSpPr>
              <p:spPr>
                <a:xfrm>
                  <a:off x="4224" y="1358"/>
                  <a:ext cx="591" cy="2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50" name="Google Shape;9350;p122"/>
                <p:cNvSpPr/>
                <p:nvPr/>
              </p:nvSpPr>
              <p:spPr>
                <a:xfrm>
                  <a:off x="4234" y="1627"/>
                  <a:ext cx="59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351" name="Google Shape;9351;p122"/>
                <p:cNvGrpSpPr/>
                <p:nvPr/>
              </p:nvGrpSpPr>
              <p:grpSpPr>
                <a:xfrm>
                  <a:off x="4735" y="1627"/>
                  <a:ext cx="571" cy="125"/>
                  <a:chOff x="614" y="2568"/>
                  <a:chExt cx="711" cy="115"/>
                </a:xfrm>
              </p:grpSpPr>
              <p:sp>
                <p:nvSpPr>
                  <p:cNvPr id="9352" name="Google Shape;9352;p122"/>
                  <p:cNvSpPr/>
                  <p:nvPr/>
                </p:nvSpPr>
                <p:spPr>
                  <a:xfrm>
                    <a:off x="614" y="2568"/>
                    <a:ext cx="711" cy="115"/>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53" name="Google Shape;9353;p122"/>
                  <p:cNvSpPr/>
                  <p:nvPr/>
                </p:nvSpPr>
                <p:spPr>
                  <a:xfrm>
                    <a:off x="626" y="2585"/>
                    <a:ext cx="674" cy="8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354" name="Google Shape;9354;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355" name="Google Shape;9355;p122"/>
                <p:cNvGrpSpPr/>
                <p:nvPr/>
              </p:nvGrpSpPr>
              <p:grpSpPr>
                <a:xfrm>
                  <a:off x="4765" y="1300"/>
                  <a:ext cx="560" cy="163"/>
                  <a:chOff x="646" y="2541"/>
                  <a:chExt cx="698" cy="163"/>
                </a:xfrm>
              </p:grpSpPr>
              <p:sp>
                <p:nvSpPr>
                  <p:cNvPr id="9356" name="Google Shape;9356;p122"/>
                  <p:cNvSpPr/>
                  <p:nvPr/>
                </p:nvSpPr>
                <p:spPr>
                  <a:xfrm>
                    <a:off x="646" y="2541"/>
                    <a:ext cx="698" cy="16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57" name="Google Shape;9357;p122"/>
                  <p:cNvSpPr/>
                  <p:nvPr/>
                </p:nvSpPr>
                <p:spPr>
                  <a:xfrm>
                    <a:off x="659" y="2560"/>
                    <a:ext cx="661" cy="13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358" name="Google Shape;9358;p122"/>
                <p:cNvSpPr/>
                <p:nvPr/>
              </p:nvSpPr>
              <p:spPr>
                <a:xfrm>
                  <a:off x="5256" y="425"/>
                  <a:ext cx="60" cy="226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59" name="Google Shape;9359;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60" name="Google Shape;9360;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61" name="Google Shape;9361;p122"/>
                <p:cNvSpPr/>
                <p:nvPr/>
              </p:nvSpPr>
              <p:spPr>
                <a:xfrm>
                  <a:off x="5516" y="2588"/>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62" name="Google Shape;9362;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63" name="Google Shape;9363;p122"/>
                <p:cNvSpPr/>
                <p:nvPr/>
              </p:nvSpPr>
              <p:spPr>
                <a:xfrm>
                  <a:off x="4144" y="2655"/>
                  <a:ext cx="1202"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64" name="Google Shape;9364;p122"/>
                <p:cNvSpPr/>
                <p:nvPr/>
              </p:nvSpPr>
              <p:spPr>
                <a:xfrm>
                  <a:off x="4204" y="2684"/>
                  <a:ext cx="1071"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65" name="Google Shape;9365;p122"/>
                <p:cNvSpPr/>
                <p:nvPr/>
              </p:nvSpPr>
              <p:spPr>
                <a:xfrm>
                  <a:off x="4314" y="2357"/>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66" name="Google Shape;9366;p122"/>
                <p:cNvSpPr/>
                <p:nvPr/>
              </p:nvSpPr>
              <p:spPr>
                <a:xfrm>
                  <a:off x="4485" y="2357"/>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alibri"/>
                    <a:buNone/>
                  </a:pPr>
                  <a:r>
                    <a:t/>
                  </a:r>
                  <a:endParaRPr sz="2400">
                    <a:solidFill>
                      <a:srgbClr val="FF0000"/>
                    </a:solidFill>
                    <a:latin typeface="Arial"/>
                    <a:ea typeface="Arial"/>
                    <a:cs typeface="Arial"/>
                    <a:sym typeface="Arial"/>
                  </a:endParaRPr>
                </a:p>
              </p:txBody>
            </p:sp>
            <p:sp>
              <p:nvSpPr>
                <p:cNvPr id="9367" name="Google Shape;9367;p122"/>
                <p:cNvSpPr/>
                <p:nvPr/>
              </p:nvSpPr>
              <p:spPr>
                <a:xfrm>
                  <a:off x="4665" y="2357"/>
                  <a:ext cx="160" cy="13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68" name="Google Shape;9368;p122"/>
                <p:cNvSpPr/>
                <p:nvPr/>
              </p:nvSpPr>
              <p:spPr>
                <a:xfrm>
                  <a:off x="5065" y="1809"/>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grpSp>
            <p:nvGrpSpPr>
              <p:cNvPr id="9369" name="Google Shape;9369;p122"/>
              <p:cNvGrpSpPr/>
              <p:nvPr/>
            </p:nvGrpSpPr>
            <p:grpSpPr>
              <a:xfrm flipH="1">
                <a:off x="7939232" y="4365068"/>
                <a:ext cx="227063" cy="400196"/>
                <a:chOff x="4137" y="404"/>
                <a:chExt cx="1432" cy="2422"/>
              </a:xfrm>
            </p:grpSpPr>
            <p:sp>
              <p:nvSpPr>
                <p:cNvPr id="9370" name="Google Shape;9370;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71" name="Google Shape;9371;p122"/>
                <p:cNvSpPr/>
                <p:nvPr/>
              </p:nvSpPr>
              <p:spPr>
                <a:xfrm>
                  <a:off x="4207" y="404"/>
                  <a:ext cx="1051" cy="230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72" name="Google Shape;9372;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73" name="Google Shape;9373;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74" name="Google Shape;9374;p122"/>
                <p:cNvSpPr/>
                <p:nvPr/>
              </p:nvSpPr>
              <p:spPr>
                <a:xfrm>
                  <a:off x="4207" y="693"/>
                  <a:ext cx="601" cy="3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375" name="Google Shape;9375;p122"/>
                <p:cNvGrpSpPr/>
                <p:nvPr/>
              </p:nvGrpSpPr>
              <p:grpSpPr>
                <a:xfrm>
                  <a:off x="4747" y="664"/>
                  <a:ext cx="581" cy="125"/>
                  <a:chOff x="612" y="2564"/>
                  <a:chExt cx="725" cy="120"/>
                </a:xfrm>
              </p:grpSpPr>
              <p:sp>
                <p:nvSpPr>
                  <p:cNvPr id="9376" name="Google Shape;9376;p122"/>
                  <p:cNvSpPr/>
                  <p:nvPr/>
                </p:nvSpPr>
                <p:spPr>
                  <a:xfrm>
                    <a:off x="612" y="2564"/>
                    <a:ext cx="725" cy="12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77" name="Google Shape;9377;p122"/>
                  <p:cNvSpPr/>
                  <p:nvPr/>
                </p:nvSpPr>
                <p:spPr>
                  <a:xfrm>
                    <a:off x="625" y="2582"/>
                    <a:ext cx="700" cy="8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378" name="Google Shape;9378;p122"/>
                <p:cNvSpPr/>
                <p:nvPr/>
              </p:nvSpPr>
              <p:spPr>
                <a:xfrm>
                  <a:off x="4227" y="1019"/>
                  <a:ext cx="591" cy="3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379" name="Google Shape;9379;p122"/>
                <p:cNvGrpSpPr/>
                <p:nvPr/>
              </p:nvGrpSpPr>
              <p:grpSpPr>
                <a:xfrm>
                  <a:off x="4748" y="990"/>
                  <a:ext cx="581" cy="135"/>
                  <a:chOff x="615" y="2564"/>
                  <a:chExt cx="725" cy="140"/>
                </a:xfrm>
              </p:grpSpPr>
              <p:sp>
                <p:nvSpPr>
                  <p:cNvPr id="9380" name="Google Shape;9380;p122"/>
                  <p:cNvSpPr/>
                  <p:nvPr/>
                </p:nvSpPr>
                <p:spPr>
                  <a:xfrm>
                    <a:off x="615" y="2564"/>
                    <a:ext cx="725"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81" name="Google Shape;9381;p122"/>
                  <p:cNvSpPr/>
                  <p:nvPr/>
                </p:nvSpPr>
                <p:spPr>
                  <a:xfrm>
                    <a:off x="627" y="2584"/>
                    <a:ext cx="687"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382" name="Google Shape;9382;p122"/>
                <p:cNvSpPr/>
                <p:nvPr/>
              </p:nvSpPr>
              <p:spPr>
                <a:xfrm>
                  <a:off x="4217" y="1356"/>
                  <a:ext cx="59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83" name="Google Shape;9383;p122"/>
                <p:cNvSpPr/>
                <p:nvPr/>
              </p:nvSpPr>
              <p:spPr>
                <a:xfrm>
                  <a:off x="4227" y="1654"/>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384" name="Google Shape;9384;p122"/>
                <p:cNvGrpSpPr/>
                <p:nvPr/>
              </p:nvGrpSpPr>
              <p:grpSpPr>
                <a:xfrm>
                  <a:off x="4737" y="1625"/>
                  <a:ext cx="571" cy="154"/>
                  <a:chOff x="617" y="2566"/>
                  <a:chExt cx="711" cy="142"/>
                </a:xfrm>
              </p:grpSpPr>
              <p:sp>
                <p:nvSpPr>
                  <p:cNvPr id="9385" name="Google Shape;9385;p122"/>
                  <p:cNvSpPr/>
                  <p:nvPr/>
                </p:nvSpPr>
                <p:spPr>
                  <a:xfrm>
                    <a:off x="617" y="2566"/>
                    <a:ext cx="711" cy="142"/>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86" name="Google Shape;9386;p122"/>
                  <p:cNvSpPr/>
                  <p:nvPr/>
                </p:nvSpPr>
                <p:spPr>
                  <a:xfrm>
                    <a:off x="630" y="2584"/>
                    <a:ext cx="67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387" name="Google Shape;9387;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388" name="Google Shape;9388;p122"/>
                <p:cNvGrpSpPr/>
                <p:nvPr/>
              </p:nvGrpSpPr>
              <p:grpSpPr>
                <a:xfrm>
                  <a:off x="4737" y="1327"/>
                  <a:ext cx="611" cy="135"/>
                  <a:chOff x="612" y="2568"/>
                  <a:chExt cx="761" cy="135"/>
                </a:xfrm>
              </p:grpSpPr>
              <p:sp>
                <p:nvSpPr>
                  <p:cNvPr id="9389" name="Google Shape;9389;p122"/>
                  <p:cNvSpPr/>
                  <p:nvPr/>
                </p:nvSpPr>
                <p:spPr>
                  <a:xfrm>
                    <a:off x="612" y="2568"/>
                    <a:ext cx="761" cy="135"/>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90" name="Google Shape;9390;p122"/>
                  <p:cNvSpPr/>
                  <p:nvPr/>
                </p:nvSpPr>
                <p:spPr>
                  <a:xfrm>
                    <a:off x="625" y="2587"/>
                    <a:ext cx="72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391" name="Google Shape;9391;p122"/>
                <p:cNvSpPr/>
                <p:nvPr/>
              </p:nvSpPr>
              <p:spPr>
                <a:xfrm>
                  <a:off x="5248" y="404"/>
                  <a:ext cx="70" cy="231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92" name="Google Shape;9392;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93" name="Google Shape;9393;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94" name="Google Shape;9394;p122"/>
                <p:cNvSpPr/>
                <p:nvPr/>
              </p:nvSpPr>
              <p:spPr>
                <a:xfrm>
                  <a:off x="5519" y="2615"/>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95" name="Google Shape;9395;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96" name="Google Shape;9396;p122"/>
                <p:cNvSpPr/>
                <p:nvPr/>
              </p:nvSpPr>
              <p:spPr>
                <a:xfrm>
                  <a:off x="4137" y="2682"/>
                  <a:ext cx="1202"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97" name="Google Shape;9397;p122"/>
                <p:cNvSpPr/>
                <p:nvPr/>
              </p:nvSpPr>
              <p:spPr>
                <a:xfrm>
                  <a:off x="4207" y="2711"/>
                  <a:ext cx="1071" cy="87"/>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98" name="Google Shape;9398;p122"/>
                <p:cNvSpPr/>
                <p:nvPr/>
              </p:nvSpPr>
              <p:spPr>
                <a:xfrm>
                  <a:off x="4307" y="2384"/>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399" name="Google Shape;9399;p122"/>
                <p:cNvSpPr/>
                <p:nvPr/>
              </p:nvSpPr>
              <p:spPr>
                <a:xfrm>
                  <a:off x="4487" y="2384"/>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alibri"/>
                    <a:buNone/>
                  </a:pPr>
                  <a:r>
                    <a:t/>
                  </a:r>
                  <a:endParaRPr sz="2400">
                    <a:solidFill>
                      <a:srgbClr val="FF0000"/>
                    </a:solidFill>
                    <a:latin typeface="Arial"/>
                    <a:ea typeface="Arial"/>
                    <a:cs typeface="Arial"/>
                    <a:sym typeface="Arial"/>
                  </a:endParaRPr>
                </a:p>
              </p:txBody>
            </p:sp>
            <p:sp>
              <p:nvSpPr>
                <p:cNvPr id="9400" name="Google Shape;9400;p122"/>
                <p:cNvSpPr/>
                <p:nvPr/>
              </p:nvSpPr>
              <p:spPr>
                <a:xfrm>
                  <a:off x="4658" y="2384"/>
                  <a:ext cx="160" cy="13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401" name="Google Shape;9401;p122"/>
                <p:cNvSpPr/>
                <p:nvPr/>
              </p:nvSpPr>
              <p:spPr>
                <a:xfrm>
                  <a:off x="5068" y="1836"/>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grpSp>
            <p:nvGrpSpPr>
              <p:cNvPr id="9402" name="Google Shape;9402;p122"/>
              <p:cNvGrpSpPr/>
              <p:nvPr/>
            </p:nvGrpSpPr>
            <p:grpSpPr>
              <a:xfrm flipH="1">
                <a:off x="8472689" y="4384243"/>
                <a:ext cx="225477" cy="395404"/>
                <a:chOff x="4140" y="428"/>
                <a:chExt cx="1422" cy="2393"/>
              </a:xfrm>
            </p:grpSpPr>
            <p:sp>
              <p:nvSpPr>
                <p:cNvPr id="9403" name="Google Shape;9403;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04" name="Google Shape;9404;p122"/>
                <p:cNvSpPr/>
                <p:nvPr/>
              </p:nvSpPr>
              <p:spPr>
                <a:xfrm>
                  <a:off x="4200" y="428"/>
                  <a:ext cx="1051" cy="2278"/>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405" name="Google Shape;9405;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06" name="Google Shape;9406;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07" name="Google Shape;9407;p122"/>
                <p:cNvSpPr/>
                <p:nvPr/>
              </p:nvSpPr>
              <p:spPr>
                <a:xfrm>
                  <a:off x="4210" y="687"/>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408" name="Google Shape;9408;p122"/>
                <p:cNvGrpSpPr/>
                <p:nvPr/>
              </p:nvGrpSpPr>
              <p:grpSpPr>
                <a:xfrm>
                  <a:off x="4751" y="668"/>
                  <a:ext cx="581" cy="144"/>
                  <a:chOff x="616" y="2568"/>
                  <a:chExt cx="725" cy="138"/>
                </a:xfrm>
              </p:grpSpPr>
              <p:sp>
                <p:nvSpPr>
                  <p:cNvPr id="9409" name="Google Shape;9409;p122"/>
                  <p:cNvSpPr/>
                  <p:nvPr/>
                </p:nvSpPr>
                <p:spPr>
                  <a:xfrm>
                    <a:off x="616" y="2568"/>
                    <a:ext cx="725"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410" name="Google Shape;9410;p122"/>
                  <p:cNvSpPr/>
                  <p:nvPr/>
                </p:nvSpPr>
                <p:spPr>
                  <a:xfrm>
                    <a:off x="629" y="2586"/>
                    <a:ext cx="700"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411" name="Google Shape;9411;p122"/>
                <p:cNvSpPr/>
                <p:nvPr/>
              </p:nvSpPr>
              <p:spPr>
                <a:xfrm>
                  <a:off x="4220" y="1014"/>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412" name="Google Shape;9412;p122"/>
                <p:cNvGrpSpPr/>
                <p:nvPr/>
              </p:nvGrpSpPr>
              <p:grpSpPr>
                <a:xfrm>
                  <a:off x="4721" y="995"/>
                  <a:ext cx="581" cy="135"/>
                  <a:chOff x="581" y="2569"/>
                  <a:chExt cx="725" cy="140"/>
                </a:xfrm>
              </p:grpSpPr>
              <p:sp>
                <p:nvSpPr>
                  <p:cNvPr id="9413" name="Google Shape;9413;p122"/>
                  <p:cNvSpPr/>
                  <p:nvPr/>
                </p:nvSpPr>
                <p:spPr>
                  <a:xfrm>
                    <a:off x="581" y="2569"/>
                    <a:ext cx="725"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414" name="Google Shape;9414;p122"/>
                  <p:cNvSpPr/>
                  <p:nvPr/>
                </p:nvSpPr>
                <p:spPr>
                  <a:xfrm>
                    <a:off x="594" y="2589"/>
                    <a:ext cx="687"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415" name="Google Shape;9415;p122"/>
                <p:cNvSpPr/>
                <p:nvPr/>
              </p:nvSpPr>
              <p:spPr>
                <a:xfrm>
                  <a:off x="4220" y="1360"/>
                  <a:ext cx="591" cy="3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416" name="Google Shape;9416;p122"/>
                <p:cNvSpPr/>
                <p:nvPr/>
              </p:nvSpPr>
              <p:spPr>
                <a:xfrm>
                  <a:off x="4230" y="1648"/>
                  <a:ext cx="59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417" name="Google Shape;9417;p122"/>
                <p:cNvGrpSpPr/>
                <p:nvPr/>
              </p:nvGrpSpPr>
              <p:grpSpPr>
                <a:xfrm>
                  <a:off x="4731" y="1629"/>
                  <a:ext cx="551" cy="144"/>
                  <a:chOff x="609" y="2570"/>
                  <a:chExt cx="686" cy="133"/>
                </a:xfrm>
              </p:grpSpPr>
              <p:sp>
                <p:nvSpPr>
                  <p:cNvPr id="9418" name="Google Shape;9418;p122"/>
                  <p:cNvSpPr/>
                  <p:nvPr/>
                </p:nvSpPr>
                <p:spPr>
                  <a:xfrm>
                    <a:off x="609" y="2570"/>
                    <a:ext cx="686" cy="13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419" name="Google Shape;9419;p122"/>
                  <p:cNvSpPr/>
                  <p:nvPr/>
                </p:nvSpPr>
                <p:spPr>
                  <a:xfrm>
                    <a:off x="621" y="2588"/>
                    <a:ext cx="649"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420" name="Google Shape;9420;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421" name="Google Shape;9421;p122"/>
                <p:cNvGrpSpPr/>
                <p:nvPr/>
              </p:nvGrpSpPr>
              <p:grpSpPr>
                <a:xfrm>
                  <a:off x="4741" y="1302"/>
                  <a:ext cx="580" cy="163"/>
                  <a:chOff x="616" y="2543"/>
                  <a:chExt cx="723" cy="163"/>
                </a:xfrm>
              </p:grpSpPr>
              <p:sp>
                <p:nvSpPr>
                  <p:cNvPr id="9422" name="Google Shape;9422;p122"/>
                  <p:cNvSpPr/>
                  <p:nvPr/>
                </p:nvSpPr>
                <p:spPr>
                  <a:xfrm>
                    <a:off x="616" y="2543"/>
                    <a:ext cx="723" cy="16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423" name="Google Shape;9423;p122"/>
                  <p:cNvSpPr/>
                  <p:nvPr/>
                </p:nvSpPr>
                <p:spPr>
                  <a:xfrm>
                    <a:off x="629" y="2582"/>
                    <a:ext cx="686" cy="11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424" name="Google Shape;9424;p122"/>
                <p:cNvSpPr/>
                <p:nvPr/>
              </p:nvSpPr>
              <p:spPr>
                <a:xfrm>
                  <a:off x="5251" y="428"/>
                  <a:ext cx="60" cy="2287"/>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425" name="Google Shape;9425;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26" name="Google Shape;9426;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27" name="Google Shape;9427;p122"/>
                <p:cNvSpPr/>
                <p:nvPr/>
              </p:nvSpPr>
              <p:spPr>
                <a:xfrm>
                  <a:off x="5512" y="2609"/>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428" name="Google Shape;9428;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29" name="Google Shape;9429;p122"/>
                <p:cNvSpPr/>
                <p:nvPr/>
              </p:nvSpPr>
              <p:spPr>
                <a:xfrm>
                  <a:off x="4140" y="2677"/>
                  <a:ext cx="1202"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430" name="Google Shape;9430;p122"/>
                <p:cNvSpPr/>
                <p:nvPr/>
              </p:nvSpPr>
              <p:spPr>
                <a:xfrm>
                  <a:off x="4200" y="2705"/>
                  <a:ext cx="1071" cy="77"/>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431" name="Google Shape;9431;p122"/>
                <p:cNvSpPr/>
                <p:nvPr/>
              </p:nvSpPr>
              <p:spPr>
                <a:xfrm>
                  <a:off x="4310" y="2379"/>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432" name="Google Shape;9432;p122"/>
                <p:cNvSpPr/>
                <p:nvPr/>
              </p:nvSpPr>
              <p:spPr>
                <a:xfrm>
                  <a:off x="4480" y="2379"/>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alibri"/>
                    <a:buNone/>
                  </a:pPr>
                  <a:r>
                    <a:t/>
                  </a:r>
                  <a:endParaRPr sz="2400">
                    <a:solidFill>
                      <a:srgbClr val="FF0000"/>
                    </a:solidFill>
                    <a:latin typeface="Arial"/>
                    <a:ea typeface="Arial"/>
                    <a:cs typeface="Arial"/>
                    <a:sym typeface="Arial"/>
                  </a:endParaRPr>
                </a:p>
              </p:txBody>
            </p:sp>
            <p:sp>
              <p:nvSpPr>
                <p:cNvPr id="9433" name="Google Shape;9433;p122"/>
                <p:cNvSpPr/>
                <p:nvPr/>
              </p:nvSpPr>
              <p:spPr>
                <a:xfrm>
                  <a:off x="4661" y="2379"/>
                  <a:ext cx="160" cy="13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434" name="Google Shape;9434;p122"/>
                <p:cNvSpPr/>
                <p:nvPr/>
              </p:nvSpPr>
              <p:spPr>
                <a:xfrm>
                  <a:off x="5061" y="1831"/>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grpSp>
        <p:grpSp>
          <p:nvGrpSpPr>
            <p:cNvPr id="9435" name="Google Shape;9435;p122"/>
            <p:cNvGrpSpPr/>
            <p:nvPr/>
          </p:nvGrpSpPr>
          <p:grpSpPr>
            <a:xfrm>
              <a:off x="7186941" y="5734675"/>
              <a:ext cx="347753" cy="680208"/>
              <a:chOff x="7923189" y="2486663"/>
              <a:chExt cx="360362" cy="884586"/>
            </a:xfrm>
          </p:grpSpPr>
          <p:pic>
            <p:nvPicPr>
              <p:cNvPr id="9436" name="Google Shape;9436;p122"/>
              <p:cNvPicPr preferRelativeResize="0"/>
              <p:nvPr/>
            </p:nvPicPr>
            <p:blipFill rotWithShape="1">
              <a:blip r:embed="rId3">
                <a:alphaModFix/>
              </a:blip>
              <a:srcRect b="0" l="0" r="0" t="0"/>
              <a:stretch/>
            </p:blipFill>
            <p:spPr>
              <a:xfrm>
                <a:off x="8043984" y="2486663"/>
                <a:ext cx="239567" cy="536525"/>
              </a:xfrm>
              <a:prstGeom prst="rect">
                <a:avLst/>
              </a:prstGeom>
              <a:noFill/>
              <a:ln>
                <a:noFill/>
              </a:ln>
            </p:spPr>
          </p:pic>
          <p:grpSp>
            <p:nvGrpSpPr>
              <p:cNvPr id="9437" name="Google Shape;9437;p122"/>
              <p:cNvGrpSpPr/>
              <p:nvPr/>
            </p:nvGrpSpPr>
            <p:grpSpPr>
              <a:xfrm>
                <a:off x="7923189" y="2890236"/>
                <a:ext cx="227012" cy="481013"/>
                <a:chOff x="4140" y="429"/>
                <a:chExt cx="1425" cy="2396"/>
              </a:xfrm>
            </p:grpSpPr>
            <p:sp>
              <p:nvSpPr>
                <p:cNvPr id="9438" name="Google Shape;9438;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39" name="Google Shape;9439;p12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40" name="Google Shape;9440;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41" name="Google Shape;9441;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42" name="Google Shape;9442;p12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443" name="Google Shape;9443;p122"/>
                <p:cNvGrpSpPr/>
                <p:nvPr/>
              </p:nvGrpSpPr>
              <p:grpSpPr>
                <a:xfrm>
                  <a:off x="4748" y="666"/>
                  <a:ext cx="578" cy="150"/>
                  <a:chOff x="613" y="2566"/>
                  <a:chExt cx="721" cy="144"/>
                </a:xfrm>
              </p:grpSpPr>
              <p:sp>
                <p:nvSpPr>
                  <p:cNvPr id="9444" name="Google Shape;9444;p12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45" name="Google Shape;9445;p12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446" name="Google Shape;9446;p12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447" name="Google Shape;9447;p122"/>
                <p:cNvGrpSpPr/>
                <p:nvPr/>
              </p:nvGrpSpPr>
              <p:grpSpPr>
                <a:xfrm>
                  <a:off x="4748" y="990"/>
                  <a:ext cx="578" cy="134"/>
                  <a:chOff x="615" y="2564"/>
                  <a:chExt cx="721" cy="139"/>
                </a:xfrm>
              </p:grpSpPr>
              <p:sp>
                <p:nvSpPr>
                  <p:cNvPr id="9448" name="Google Shape;9448;p12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49" name="Google Shape;9449;p12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450" name="Google Shape;9450;p12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51" name="Google Shape;9451;p12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452" name="Google Shape;9452;p122"/>
                <p:cNvGrpSpPr/>
                <p:nvPr/>
              </p:nvGrpSpPr>
              <p:grpSpPr>
                <a:xfrm>
                  <a:off x="4738" y="1647"/>
                  <a:ext cx="578" cy="135"/>
                  <a:chOff x="618" y="2586"/>
                  <a:chExt cx="720" cy="124"/>
                </a:xfrm>
              </p:grpSpPr>
              <p:sp>
                <p:nvSpPr>
                  <p:cNvPr id="9453" name="Google Shape;9453;p12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54" name="Google Shape;9454;p12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455" name="Google Shape;9455;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456" name="Google Shape;9456;p122"/>
                <p:cNvGrpSpPr/>
                <p:nvPr/>
              </p:nvGrpSpPr>
              <p:grpSpPr>
                <a:xfrm>
                  <a:off x="4738" y="1330"/>
                  <a:ext cx="588" cy="134"/>
                  <a:chOff x="613" y="2571"/>
                  <a:chExt cx="732" cy="134"/>
                </a:xfrm>
              </p:grpSpPr>
              <p:sp>
                <p:nvSpPr>
                  <p:cNvPr id="9457" name="Google Shape;9457;p12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58" name="Google Shape;9458;p12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459" name="Google Shape;9459;p12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60" name="Google Shape;9460;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61" name="Google Shape;9461;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62" name="Google Shape;9462;p12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63" name="Google Shape;9463;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64" name="Google Shape;9464;p12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65" name="Google Shape;9465;p12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66" name="Google Shape;9466;p12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67" name="Google Shape;9467;p12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9468" name="Google Shape;9468;p12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69" name="Google Shape;9469;p12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grpSp>
        <p:grpSp>
          <p:nvGrpSpPr>
            <p:cNvPr id="9470" name="Google Shape;9470;p122"/>
            <p:cNvGrpSpPr/>
            <p:nvPr/>
          </p:nvGrpSpPr>
          <p:grpSpPr>
            <a:xfrm>
              <a:off x="439215" y="4827099"/>
              <a:ext cx="871949" cy="506826"/>
              <a:chOff x="439215" y="4827099"/>
              <a:chExt cx="871949" cy="506826"/>
            </a:xfrm>
          </p:grpSpPr>
          <p:grpSp>
            <p:nvGrpSpPr>
              <p:cNvPr id="9471" name="Google Shape;9471;p122"/>
              <p:cNvGrpSpPr/>
              <p:nvPr/>
            </p:nvGrpSpPr>
            <p:grpSpPr>
              <a:xfrm>
                <a:off x="439215" y="4827099"/>
                <a:ext cx="871949" cy="506826"/>
                <a:chOff x="2889" y="1631"/>
                <a:chExt cx="976" cy="743"/>
              </a:xfrm>
            </p:grpSpPr>
            <p:sp>
              <p:nvSpPr>
                <p:cNvPr id="9472" name="Google Shape;9472;p122"/>
                <p:cNvSpPr/>
                <p:nvPr/>
              </p:nvSpPr>
              <p:spPr>
                <a:xfrm>
                  <a:off x="3046" y="1841"/>
                  <a:ext cx="663" cy="53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73" name="Google Shape;9473;p122"/>
                <p:cNvSpPr/>
                <p:nvPr/>
              </p:nvSpPr>
              <p:spPr>
                <a:xfrm>
                  <a:off x="2889" y="1631"/>
                  <a:ext cx="976" cy="254"/>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alibri"/>
                    <a:buNone/>
                  </a:pPr>
                  <a:r>
                    <a:t/>
                  </a:r>
                  <a:endParaRPr sz="2400">
                    <a:solidFill>
                      <a:srgbClr val="00CCFF"/>
                    </a:solidFill>
                    <a:latin typeface="Arial"/>
                    <a:ea typeface="Arial"/>
                    <a:cs typeface="Arial"/>
                    <a:sym typeface="Arial"/>
                  </a:endParaRPr>
                </a:p>
              </p:txBody>
            </p:sp>
          </p:grpSp>
          <p:pic>
            <p:nvPicPr>
              <p:cNvPr id="9474" name="Google Shape;9474;p122"/>
              <p:cNvPicPr preferRelativeResize="0"/>
              <p:nvPr/>
            </p:nvPicPr>
            <p:blipFill rotWithShape="1">
              <a:blip r:embed="rId5">
                <a:alphaModFix/>
              </a:blip>
              <a:srcRect b="0" l="0" r="0" t="0"/>
              <a:stretch/>
            </p:blipFill>
            <p:spPr>
              <a:xfrm>
                <a:off x="683109" y="5014480"/>
                <a:ext cx="405029" cy="290834"/>
              </a:xfrm>
              <a:prstGeom prst="rect">
                <a:avLst/>
              </a:prstGeom>
              <a:noFill/>
              <a:ln>
                <a:noFill/>
              </a:ln>
            </p:spPr>
          </p:pic>
        </p:grpSp>
      </p:grpSp>
      <p:grpSp>
        <p:nvGrpSpPr>
          <p:cNvPr id="9475" name="Google Shape;9475;p122"/>
          <p:cNvGrpSpPr/>
          <p:nvPr/>
        </p:nvGrpSpPr>
        <p:grpSpPr>
          <a:xfrm>
            <a:off x="1949451" y="1181101"/>
            <a:ext cx="8258175" cy="5427663"/>
            <a:chOff x="425291" y="1016574"/>
            <a:chExt cx="8258951" cy="5427438"/>
          </a:xfrm>
        </p:grpSpPr>
        <p:grpSp>
          <p:nvGrpSpPr>
            <p:cNvPr id="9476" name="Google Shape;9476;p122"/>
            <p:cNvGrpSpPr/>
            <p:nvPr/>
          </p:nvGrpSpPr>
          <p:grpSpPr>
            <a:xfrm>
              <a:off x="861989" y="1488950"/>
              <a:ext cx="7326475" cy="4955062"/>
              <a:chOff x="861989" y="1488950"/>
              <a:chExt cx="7326475" cy="4955062"/>
            </a:xfrm>
          </p:grpSpPr>
          <p:cxnSp>
            <p:nvCxnSpPr>
              <p:cNvPr id="9477" name="Google Shape;9477;p122"/>
              <p:cNvCxnSpPr>
                <a:stCxn id="9474" idx="2"/>
              </p:cNvCxnSpPr>
              <p:nvPr/>
            </p:nvCxnSpPr>
            <p:spPr>
              <a:xfrm rot="10800000">
                <a:off x="861989" y="2767320"/>
                <a:ext cx="24000" cy="2370300"/>
              </a:xfrm>
              <a:prstGeom prst="straightConnector1">
                <a:avLst/>
              </a:prstGeom>
              <a:noFill/>
              <a:ln cap="flat" cmpd="sng" w="9525">
                <a:solidFill>
                  <a:schemeClr val="dk1"/>
                </a:solidFill>
                <a:prstDash val="solid"/>
                <a:round/>
                <a:headEnd len="med" w="med" type="none"/>
                <a:tailEnd len="med" w="med" type="none"/>
              </a:ln>
            </p:spPr>
          </p:cxnSp>
          <p:cxnSp>
            <p:nvCxnSpPr>
              <p:cNvPr id="9478" name="Google Shape;9478;p122"/>
              <p:cNvCxnSpPr>
                <a:stCxn id="9128" idx="2"/>
              </p:cNvCxnSpPr>
              <p:nvPr/>
            </p:nvCxnSpPr>
            <p:spPr>
              <a:xfrm flipH="1" rot="10800000">
                <a:off x="1769891" y="1937029"/>
                <a:ext cx="300" cy="2413800"/>
              </a:xfrm>
              <a:prstGeom prst="straightConnector1">
                <a:avLst/>
              </a:prstGeom>
              <a:noFill/>
              <a:ln cap="flat" cmpd="sng" w="9525">
                <a:solidFill>
                  <a:schemeClr val="dk1"/>
                </a:solidFill>
                <a:prstDash val="solid"/>
                <a:round/>
                <a:headEnd len="med" w="med" type="none"/>
                <a:tailEnd len="med" w="med" type="none"/>
              </a:ln>
            </p:spPr>
          </p:cxnSp>
          <p:cxnSp>
            <p:nvCxnSpPr>
              <p:cNvPr id="9479" name="Google Shape;9479;p122"/>
              <p:cNvCxnSpPr/>
              <p:nvPr/>
            </p:nvCxnSpPr>
            <p:spPr>
              <a:xfrm rot="10800000">
                <a:off x="2209958" y="3252851"/>
                <a:ext cx="0" cy="2539860"/>
              </a:xfrm>
              <a:prstGeom prst="straightConnector1">
                <a:avLst/>
              </a:prstGeom>
              <a:noFill/>
              <a:ln cap="flat" cmpd="sng" w="9525">
                <a:solidFill>
                  <a:schemeClr val="dk1"/>
                </a:solidFill>
                <a:prstDash val="solid"/>
                <a:round/>
                <a:headEnd len="med" w="med" type="none"/>
                <a:tailEnd len="med" w="med" type="none"/>
              </a:ln>
            </p:spPr>
          </p:cxnSp>
          <p:cxnSp>
            <p:nvCxnSpPr>
              <p:cNvPr id="9480" name="Google Shape;9480;p122"/>
              <p:cNvCxnSpPr/>
              <p:nvPr/>
            </p:nvCxnSpPr>
            <p:spPr>
              <a:xfrm rot="10800000">
                <a:off x="3314938" y="3904152"/>
                <a:ext cx="0" cy="2539860"/>
              </a:xfrm>
              <a:prstGeom prst="straightConnector1">
                <a:avLst/>
              </a:prstGeom>
              <a:noFill/>
              <a:ln cap="flat" cmpd="sng" w="9525">
                <a:solidFill>
                  <a:schemeClr val="dk1"/>
                </a:solidFill>
                <a:prstDash val="solid"/>
                <a:round/>
                <a:headEnd len="med" w="med" type="none"/>
                <a:tailEnd len="med" w="med" type="none"/>
              </a:ln>
            </p:spPr>
          </p:cxnSp>
          <p:cxnSp>
            <p:nvCxnSpPr>
              <p:cNvPr id="9481" name="Google Shape;9481;p122"/>
              <p:cNvCxnSpPr/>
              <p:nvPr/>
            </p:nvCxnSpPr>
            <p:spPr>
              <a:xfrm rot="10800000">
                <a:off x="4465279" y="1488950"/>
                <a:ext cx="0" cy="2539860"/>
              </a:xfrm>
              <a:prstGeom prst="straightConnector1">
                <a:avLst/>
              </a:prstGeom>
              <a:noFill/>
              <a:ln cap="flat" cmpd="sng" w="9525">
                <a:solidFill>
                  <a:schemeClr val="dk1"/>
                </a:solidFill>
                <a:prstDash val="solid"/>
                <a:round/>
                <a:headEnd len="med" w="med" type="none"/>
                <a:tailEnd len="med" w="med" type="none"/>
              </a:ln>
            </p:spPr>
          </p:cxnSp>
          <p:cxnSp>
            <p:nvCxnSpPr>
              <p:cNvPr id="9482" name="Google Shape;9482;p122"/>
              <p:cNvCxnSpPr/>
              <p:nvPr/>
            </p:nvCxnSpPr>
            <p:spPr>
              <a:xfrm rot="10800000">
                <a:off x="5162011" y="3561357"/>
                <a:ext cx="0" cy="2539860"/>
              </a:xfrm>
              <a:prstGeom prst="straightConnector1">
                <a:avLst/>
              </a:prstGeom>
              <a:noFill/>
              <a:ln cap="flat" cmpd="sng" w="9525">
                <a:solidFill>
                  <a:schemeClr val="dk1"/>
                </a:solidFill>
                <a:prstDash val="solid"/>
                <a:round/>
                <a:headEnd len="med" w="med" type="none"/>
                <a:tailEnd len="med" w="med" type="none"/>
              </a:ln>
            </p:spPr>
          </p:cxnSp>
          <p:cxnSp>
            <p:nvCxnSpPr>
              <p:cNvPr id="9483" name="Google Shape;9483;p122"/>
              <p:cNvCxnSpPr/>
              <p:nvPr/>
            </p:nvCxnSpPr>
            <p:spPr>
              <a:xfrm rot="10800000">
                <a:off x="6130907" y="1778447"/>
                <a:ext cx="0" cy="2539860"/>
              </a:xfrm>
              <a:prstGeom prst="straightConnector1">
                <a:avLst/>
              </a:prstGeom>
              <a:noFill/>
              <a:ln cap="flat" cmpd="sng" w="9525">
                <a:solidFill>
                  <a:schemeClr val="dk1"/>
                </a:solidFill>
                <a:prstDash val="solid"/>
                <a:round/>
                <a:headEnd len="med" w="med" type="none"/>
                <a:tailEnd len="med" w="med" type="none"/>
              </a:ln>
            </p:spPr>
          </p:cxnSp>
          <p:cxnSp>
            <p:nvCxnSpPr>
              <p:cNvPr id="9484" name="Google Shape;9484;p122"/>
              <p:cNvCxnSpPr/>
              <p:nvPr/>
            </p:nvCxnSpPr>
            <p:spPr>
              <a:xfrm rot="10800000">
                <a:off x="8188464" y="2384037"/>
                <a:ext cx="0" cy="2539860"/>
              </a:xfrm>
              <a:prstGeom prst="straightConnector1">
                <a:avLst/>
              </a:prstGeom>
              <a:noFill/>
              <a:ln cap="flat" cmpd="sng" w="9525">
                <a:solidFill>
                  <a:schemeClr val="dk1"/>
                </a:solidFill>
                <a:prstDash val="solid"/>
                <a:round/>
                <a:headEnd len="med" w="med" type="none"/>
                <a:tailEnd len="med" w="med" type="none"/>
              </a:ln>
            </p:spPr>
          </p:cxnSp>
          <p:cxnSp>
            <p:nvCxnSpPr>
              <p:cNvPr id="9485" name="Google Shape;9485;p122"/>
              <p:cNvCxnSpPr/>
              <p:nvPr/>
            </p:nvCxnSpPr>
            <p:spPr>
              <a:xfrm rot="10800000">
                <a:off x="7267323" y="3880001"/>
                <a:ext cx="0" cy="2539860"/>
              </a:xfrm>
              <a:prstGeom prst="straightConnector1">
                <a:avLst/>
              </a:prstGeom>
              <a:noFill/>
              <a:ln cap="flat" cmpd="sng" w="9525">
                <a:solidFill>
                  <a:schemeClr val="dk1"/>
                </a:solidFill>
                <a:prstDash val="solid"/>
                <a:round/>
                <a:headEnd len="med" w="med" type="none"/>
                <a:tailEnd len="med" w="med" type="none"/>
              </a:ln>
            </p:spPr>
          </p:cxnSp>
        </p:grpSp>
        <p:grpSp>
          <p:nvGrpSpPr>
            <p:cNvPr id="9486" name="Google Shape;9486;p122"/>
            <p:cNvGrpSpPr/>
            <p:nvPr/>
          </p:nvGrpSpPr>
          <p:grpSpPr>
            <a:xfrm>
              <a:off x="425291" y="1016574"/>
              <a:ext cx="8258951" cy="2901368"/>
              <a:chOff x="439215" y="3555216"/>
              <a:chExt cx="8258951" cy="2901368"/>
            </a:xfrm>
          </p:grpSpPr>
          <p:grpSp>
            <p:nvGrpSpPr>
              <p:cNvPr id="9487" name="Google Shape;9487;p122"/>
              <p:cNvGrpSpPr/>
              <p:nvPr/>
            </p:nvGrpSpPr>
            <p:grpSpPr>
              <a:xfrm>
                <a:off x="1678362" y="3855145"/>
                <a:ext cx="347753" cy="680208"/>
                <a:chOff x="7923189" y="2486663"/>
                <a:chExt cx="360362" cy="884586"/>
              </a:xfrm>
            </p:grpSpPr>
            <p:pic>
              <p:nvPicPr>
                <p:cNvPr id="9488" name="Google Shape;9488;p122"/>
                <p:cNvPicPr preferRelativeResize="0"/>
                <p:nvPr/>
              </p:nvPicPr>
              <p:blipFill rotWithShape="1">
                <a:blip r:embed="rId3">
                  <a:alphaModFix/>
                </a:blip>
                <a:srcRect b="0" l="0" r="0" t="0"/>
                <a:stretch/>
              </p:blipFill>
              <p:spPr>
                <a:xfrm>
                  <a:off x="8043984" y="2486663"/>
                  <a:ext cx="239567" cy="536525"/>
                </a:xfrm>
                <a:prstGeom prst="rect">
                  <a:avLst/>
                </a:prstGeom>
                <a:noFill/>
                <a:ln>
                  <a:noFill/>
                </a:ln>
              </p:spPr>
            </p:pic>
            <p:grpSp>
              <p:nvGrpSpPr>
                <p:cNvPr id="9489" name="Google Shape;9489;p122"/>
                <p:cNvGrpSpPr/>
                <p:nvPr/>
              </p:nvGrpSpPr>
              <p:grpSpPr>
                <a:xfrm>
                  <a:off x="7923189" y="2890236"/>
                  <a:ext cx="227012" cy="481013"/>
                  <a:chOff x="4140" y="429"/>
                  <a:chExt cx="1425" cy="2396"/>
                </a:xfrm>
              </p:grpSpPr>
              <p:sp>
                <p:nvSpPr>
                  <p:cNvPr id="9490" name="Google Shape;9490;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91" name="Google Shape;9491;p12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92" name="Google Shape;9492;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93" name="Google Shape;9493;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94" name="Google Shape;9494;p12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495" name="Google Shape;9495;p122"/>
                  <p:cNvGrpSpPr/>
                  <p:nvPr/>
                </p:nvGrpSpPr>
                <p:grpSpPr>
                  <a:xfrm>
                    <a:off x="4748" y="666"/>
                    <a:ext cx="578" cy="150"/>
                    <a:chOff x="613" y="2566"/>
                    <a:chExt cx="721" cy="144"/>
                  </a:xfrm>
                </p:grpSpPr>
                <p:sp>
                  <p:nvSpPr>
                    <p:cNvPr id="9496" name="Google Shape;9496;p12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497" name="Google Shape;9497;p12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498" name="Google Shape;9498;p12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499" name="Google Shape;9499;p122"/>
                  <p:cNvGrpSpPr/>
                  <p:nvPr/>
                </p:nvGrpSpPr>
                <p:grpSpPr>
                  <a:xfrm>
                    <a:off x="4748" y="990"/>
                    <a:ext cx="578" cy="134"/>
                    <a:chOff x="615" y="2564"/>
                    <a:chExt cx="721" cy="139"/>
                  </a:xfrm>
                </p:grpSpPr>
                <p:sp>
                  <p:nvSpPr>
                    <p:cNvPr id="9500" name="Google Shape;9500;p12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01" name="Google Shape;9501;p12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502" name="Google Shape;9502;p12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03" name="Google Shape;9503;p12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504" name="Google Shape;9504;p122"/>
                  <p:cNvGrpSpPr/>
                  <p:nvPr/>
                </p:nvGrpSpPr>
                <p:grpSpPr>
                  <a:xfrm>
                    <a:off x="4738" y="1647"/>
                    <a:ext cx="578" cy="135"/>
                    <a:chOff x="618" y="2586"/>
                    <a:chExt cx="720" cy="124"/>
                  </a:xfrm>
                </p:grpSpPr>
                <p:sp>
                  <p:nvSpPr>
                    <p:cNvPr id="9505" name="Google Shape;9505;p12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06" name="Google Shape;9506;p12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507" name="Google Shape;9507;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508" name="Google Shape;9508;p122"/>
                  <p:cNvGrpSpPr/>
                  <p:nvPr/>
                </p:nvGrpSpPr>
                <p:grpSpPr>
                  <a:xfrm>
                    <a:off x="4738" y="1330"/>
                    <a:ext cx="588" cy="134"/>
                    <a:chOff x="613" y="2571"/>
                    <a:chExt cx="732" cy="134"/>
                  </a:xfrm>
                </p:grpSpPr>
                <p:sp>
                  <p:nvSpPr>
                    <p:cNvPr id="9509" name="Google Shape;9509;p12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10" name="Google Shape;9510;p12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511" name="Google Shape;9511;p12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12" name="Google Shape;9512;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13" name="Google Shape;9513;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14" name="Google Shape;9514;p12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15" name="Google Shape;9515;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16" name="Google Shape;9516;p12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17" name="Google Shape;9517;p12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18" name="Google Shape;9518;p12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19" name="Google Shape;9519;p12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9520" name="Google Shape;9520;p12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21" name="Google Shape;9521;p12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grpSp>
          <p:grpSp>
            <p:nvGrpSpPr>
              <p:cNvPr id="9522" name="Google Shape;9522;p122"/>
              <p:cNvGrpSpPr/>
              <p:nvPr/>
            </p:nvGrpSpPr>
            <p:grpSpPr>
              <a:xfrm>
                <a:off x="3221830" y="5776376"/>
                <a:ext cx="347753" cy="680208"/>
                <a:chOff x="7923189" y="2486663"/>
                <a:chExt cx="360362" cy="884586"/>
              </a:xfrm>
            </p:grpSpPr>
            <p:pic>
              <p:nvPicPr>
                <p:cNvPr id="9523" name="Google Shape;9523;p122"/>
                <p:cNvPicPr preferRelativeResize="0"/>
                <p:nvPr/>
              </p:nvPicPr>
              <p:blipFill rotWithShape="1">
                <a:blip r:embed="rId3">
                  <a:alphaModFix/>
                </a:blip>
                <a:srcRect b="0" l="0" r="0" t="0"/>
                <a:stretch/>
              </p:blipFill>
              <p:spPr>
                <a:xfrm>
                  <a:off x="8043984" y="2486663"/>
                  <a:ext cx="239567" cy="536525"/>
                </a:xfrm>
                <a:prstGeom prst="rect">
                  <a:avLst/>
                </a:prstGeom>
                <a:noFill/>
                <a:ln>
                  <a:noFill/>
                </a:ln>
              </p:spPr>
            </p:pic>
            <p:grpSp>
              <p:nvGrpSpPr>
                <p:cNvPr id="9524" name="Google Shape;9524;p122"/>
                <p:cNvGrpSpPr/>
                <p:nvPr/>
              </p:nvGrpSpPr>
              <p:grpSpPr>
                <a:xfrm>
                  <a:off x="7923189" y="2890236"/>
                  <a:ext cx="227012" cy="481013"/>
                  <a:chOff x="4140" y="429"/>
                  <a:chExt cx="1425" cy="2396"/>
                </a:xfrm>
              </p:grpSpPr>
              <p:sp>
                <p:nvSpPr>
                  <p:cNvPr id="9525" name="Google Shape;9525;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26" name="Google Shape;9526;p12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27" name="Google Shape;9527;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28" name="Google Shape;9528;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29" name="Google Shape;9529;p12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530" name="Google Shape;9530;p122"/>
                  <p:cNvGrpSpPr/>
                  <p:nvPr/>
                </p:nvGrpSpPr>
                <p:grpSpPr>
                  <a:xfrm>
                    <a:off x="4748" y="666"/>
                    <a:ext cx="578" cy="150"/>
                    <a:chOff x="613" y="2566"/>
                    <a:chExt cx="721" cy="144"/>
                  </a:xfrm>
                </p:grpSpPr>
                <p:sp>
                  <p:nvSpPr>
                    <p:cNvPr id="9531" name="Google Shape;9531;p12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32" name="Google Shape;9532;p12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533" name="Google Shape;9533;p12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534" name="Google Shape;9534;p122"/>
                  <p:cNvGrpSpPr/>
                  <p:nvPr/>
                </p:nvGrpSpPr>
                <p:grpSpPr>
                  <a:xfrm>
                    <a:off x="4748" y="990"/>
                    <a:ext cx="578" cy="134"/>
                    <a:chOff x="615" y="2564"/>
                    <a:chExt cx="721" cy="139"/>
                  </a:xfrm>
                </p:grpSpPr>
                <p:sp>
                  <p:nvSpPr>
                    <p:cNvPr id="9535" name="Google Shape;9535;p12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36" name="Google Shape;9536;p12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537" name="Google Shape;9537;p12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38" name="Google Shape;9538;p12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539" name="Google Shape;9539;p122"/>
                  <p:cNvGrpSpPr/>
                  <p:nvPr/>
                </p:nvGrpSpPr>
                <p:grpSpPr>
                  <a:xfrm>
                    <a:off x="4738" y="1647"/>
                    <a:ext cx="578" cy="135"/>
                    <a:chOff x="618" y="2586"/>
                    <a:chExt cx="720" cy="124"/>
                  </a:xfrm>
                </p:grpSpPr>
                <p:sp>
                  <p:nvSpPr>
                    <p:cNvPr id="9540" name="Google Shape;9540;p12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41" name="Google Shape;9541;p12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542" name="Google Shape;9542;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543" name="Google Shape;9543;p122"/>
                  <p:cNvGrpSpPr/>
                  <p:nvPr/>
                </p:nvGrpSpPr>
                <p:grpSpPr>
                  <a:xfrm>
                    <a:off x="4738" y="1330"/>
                    <a:ext cx="588" cy="134"/>
                    <a:chOff x="613" y="2571"/>
                    <a:chExt cx="732" cy="134"/>
                  </a:xfrm>
                </p:grpSpPr>
                <p:sp>
                  <p:nvSpPr>
                    <p:cNvPr id="9544" name="Google Shape;9544;p12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45" name="Google Shape;9545;p12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546" name="Google Shape;9546;p12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47" name="Google Shape;9547;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48" name="Google Shape;9548;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49" name="Google Shape;9549;p12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50" name="Google Shape;9550;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51" name="Google Shape;9551;p12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52" name="Google Shape;9552;p12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53" name="Google Shape;9553;p12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54" name="Google Shape;9554;p12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9555" name="Google Shape;9555;p12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56" name="Google Shape;9556;p12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grpSp>
          <p:grpSp>
            <p:nvGrpSpPr>
              <p:cNvPr id="9557" name="Google Shape;9557;p122"/>
              <p:cNvGrpSpPr/>
              <p:nvPr/>
            </p:nvGrpSpPr>
            <p:grpSpPr>
              <a:xfrm>
                <a:off x="4387291" y="3555216"/>
                <a:ext cx="347753" cy="680208"/>
                <a:chOff x="7923189" y="2486663"/>
                <a:chExt cx="360362" cy="884586"/>
              </a:xfrm>
            </p:grpSpPr>
            <p:pic>
              <p:nvPicPr>
                <p:cNvPr id="9558" name="Google Shape;9558;p122"/>
                <p:cNvPicPr preferRelativeResize="0"/>
                <p:nvPr/>
              </p:nvPicPr>
              <p:blipFill rotWithShape="1">
                <a:blip r:embed="rId3">
                  <a:alphaModFix/>
                </a:blip>
                <a:srcRect b="0" l="0" r="0" t="0"/>
                <a:stretch/>
              </p:blipFill>
              <p:spPr>
                <a:xfrm>
                  <a:off x="8043984" y="2486663"/>
                  <a:ext cx="239567" cy="536525"/>
                </a:xfrm>
                <a:prstGeom prst="rect">
                  <a:avLst/>
                </a:prstGeom>
                <a:noFill/>
                <a:ln>
                  <a:noFill/>
                </a:ln>
              </p:spPr>
            </p:pic>
            <p:grpSp>
              <p:nvGrpSpPr>
                <p:cNvPr id="9559" name="Google Shape;9559;p122"/>
                <p:cNvGrpSpPr/>
                <p:nvPr/>
              </p:nvGrpSpPr>
              <p:grpSpPr>
                <a:xfrm>
                  <a:off x="7923189" y="2890236"/>
                  <a:ext cx="227012" cy="481013"/>
                  <a:chOff x="4140" y="429"/>
                  <a:chExt cx="1425" cy="2396"/>
                </a:xfrm>
              </p:grpSpPr>
              <p:sp>
                <p:nvSpPr>
                  <p:cNvPr id="9560" name="Google Shape;9560;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61" name="Google Shape;9561;p12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62" name="Google Shape;9562;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63" name="Google Shape;9563;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64" name="Google Shape;9564;p12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565" name="Google Shape;9565;p122"/>
                  <p:cNvGrpSpPr/>
                  <p:nvPr/>
                </p:nvGrpSpPr>
                <p:grpSpPr>
                  <a:xfrm>
                    <a:off x="4748" y="666"/>
                    <a:ext cx="578" cy="150"/>
                    <a:chOff x="613" y="2566"/>
                    <a:chExt cx="721" cy="144"/>
                  </a:xfrm>
                </p:grpSpPr>
                <p:sp>
                  <p:nvSpPr>
                    <p:cNvPr id="9566" name="Google Shape;9566;p12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67" name="Google Shape;9567;p12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568" name="Google Shape;9568;p12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569" name="Google Shape;9569;p122"/>
                  <p:cNvGrpSpPr/>
                  <p:nvPr/>
                </p:nvGrpSpPr>
                <p:grpSpPr>
                  <a:xfrm>
                    <a:off x="4748" y="990"/>
                    <a:ext cx="578" cy="134"/>
                    <a:chOff x="615" y="2564"/>
                    <a:chExt cx="721" cy="139"/>
                  </a:xfrm>
                </p:grpSpPr>
                <p:sp>
                  <p:nvSpPr>
                    <p:cNvPr id="9570" name="Google Shape;9570;p12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71" name="Google Shape;9571;p12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572" name="Google Shape;9572;p12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73" name="Google Shape;9573;p12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574" name="Google Shape;9574;p122"/>
                  <p:cNvGrpSpPr/>
                  <p:nvPr/>
                </p:nvGrpSpPr>
                <p:grpSpPr>
                  <a:xfrm>
                    <a:off x="4738" y="1647"/>
                    <a:ext cx="578" cy="135"/>
                    <a:chOff x="618" y="2586"/>
                    <a:chExt cx="720" cy="124"/>
                  </a:xfrm>
                </p:grpSpPr>
                <p:sp>
                  <p:nvSpPr>
                    <p:cNvPr id="9575" name="Google Shape;9575;p12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76" name="Google Shape;9576;p12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577" name="Google Shape;9577;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578" name="Google Shape;9578;p122"/>
                  <p:cNvGrpSpPr/>
                  <p:nvPr/>
                </p:nvGrpSpPr>
                <p:grpSpPr>
                  <a:xfrm>
                    <a:off x="4738" y="1330"/>
                    <a:ext cx="588" cy="134"/>
                    <a:chOff x="613" y="2571"/>
                    <a:chExt cx="732" cy="134"/>
                  </a:xfrm>
                </p:grpSpPr>
                <p:sp>
                  <p:nvSpPr>
                    <p:cNvPr id="9579" name="Google Shape;9579;p12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80" name="Google Shape;9580;p12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581" name="Google Shape;9581;p12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82" name="Google Shape;9582;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83" name="Google Shape;9583;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84" name="Google Shape;9584;p12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85" name="Google Shape;9585;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86" name="Google Shape;9586;p12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87" name="Google Shape;9587;p12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88" name="Google Shape;9588;p12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89" name="Google Shape;9589;p12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9590" name="Google Shape;9590;p12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91" name="Google Shape;9591;p12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grpSp>
          <p:grpSp>
            <p:nvGrpSpPr>
              <p:cNvPr id="9592" name="Google Shape;9592;p122"/>
              <p:cNvGrpSpPr/>
              <p:nvPr/>
            </p:nvGrpSpPr>
            <p:grpSpPr>
              <a:xfrm>
                <a:off x="5084012" y="5612511"/>
                <a:ext cx="347767" cy="680207"/>
                <a:chOff x="7923189" y="2486664"/>
                <a:chExt cx="360377" cy="884585"/>
              </a:xfrm>
            </p:grpSpPr>
            <p:pic>
              <p:nvPicPr>
                <p:cNvPr id="9593" name="Google Shape;9593;p122"/>
                <p:cNvPicPr preferRelativeResize="0"/>
                <p:nvPr/>
              </p:nvPicPr>
              <p:blipFill rotWithShape="1">
                <a:blip r:embed="rId3">
                  <a:alphaModFix/>
                </a:blip>
                <a:srcRect b="0" l="0" r="0" t="0"/>
                <a:stretch/>
              </p:blipFill>
              <p:spPr>
                <a:xfrm>
                  <a:off x="8043998" y="2486664"/>
                  <a:ext cx="239568" cy="536525"/>
                </a:xfrm>
                <a:prstGeom prst="rect">
                  <a:avLst/>
                </a:prstGeom>
                <a:noFill/>
                <a:ln>
                  <a:noFill/>
                </a:ln>
              </p:spPr>
            </p:pic>
            <p:grpSp>
              <p:nvGrpSpPr>
                <p:cNvPr id="9594" name="Google Shape;9594;p122"/>
                <p:cNvGrpSpPr/>
                <p:nvPr/>
              </p:nvGrpSpPr>
              <p:grpSpPr>
                <a:xfrm>
                  <a:off x="7923189" y="2890236"/>
                  <a:ext cx="227012" cy="481013"/>
                  <a:chOff x="4140" y="429"/>
                  <a:chExt cx="1425" cy="2396"/>
                </a:xfrm>
              </p:grpSpPr>
              <p:sp>
                <p:nvSpPr>
                  <p:cNvPr id="9595" name="Google Shape;9595;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96" name="Google Shape;9596;p12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597" name="Google Shape;9597;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98" name="Google Shape;9598;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99" name="Google Shape;9599;p12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600" name="Google Shape;9600;p122"/>
                  <p:cNvGrpSpPr/>
                  <p:nvPr/>
                </p:nvGrpSpPr>
                <p:grpSpPr>
                  <a:xfrm>
                    <a:off x="4748" y="666"/>
                    <a:ext cx="578" cy="150"/>
                    <a:chOff x="613" y="2566"/>
                    <a:chExt cx="721" cy="144"/>
                  </a:xfrm>
                </p:grpSpPr>
                <p:sp>
                  <p:nvSpPr>
                    <p:cNvPr id="9601" name="Google Shape;9601;p12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02" name="Google Shape;9602;p12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603" name="Google Shape;9603;p12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604" name="Google Shape;9604;p122"/>
                  <p:cNvGrpSpPr/>
                  <p:nvPr/>
                </p:nvGrpSpPr>
                <p:grpSpPr>
                  <a:xfrm>
                    <a:off x="4748" y="990"/>
                    <a:ext cx="578" cy="134"/>
                    <a:chOff x="615" y="2564"/>
                    <a:chExt cx="721" cy="139"/>
                  </a:xfrm>
                </p:grpSpPr>
                <p:sp>
                  <p:nvSpPr>
                    <p:cNvPr id="9605" name="Google Shape;9605;p12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06" name="Google Shape;9606;p12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607" name="Google Shape;9607;p12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08" name="Google Shape;9608;p12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609" name="Google Shape;9609;p122"/>
                  <p:cNvGrpSpPr/>
                  <p:nvPr/>
                </p:nvGrpSpPr>
                <p:grpSpPr>
                  <a:xfrm>
                    <a:off x="4738" y="1647"/>
                    <a:ext cx="578" cy="135"/>
                    <a:chOff x="618" y="2586"/>
                    <a:chExt cx="720" cy="124"/>
                  </a:xfrm>
                </p:grpSpPr>
                <p:sp>
                  <p:nvSpPr>
                    <p:cNvPr id="9610" name="Google Shape;9610;p12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11" name="Google Shape;9611;p12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612" name="Google Shape;9612;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613" name="Google Shape;9613;p122"/>
                  <p:cNvGrpSpPr/>
                  <p:nvPr/>
                </p:nvGrpSpPr>
                <p:grpSpPr>
                  <a:xfrm>
                    <a:off x="4738" y="1330"/>
                    <a:ext cx="588" cy="134"/>
                    <a:chOff x="613" y="2571"/>
                    <a:chExt cx="732" cy="134"/>
                  </a:xfrm>
                </p:grpSpPr>
                <p:sp>
                  <p:nvSpPr>
                    <p:cNvPr id="9614" name="Google Shape;9614;p12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15" name="Google Shape;9615;p12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616" name="Google Shape;9616;p12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17" name="Google Shape;9617;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18" name="Google Shape;9618;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19" name="Google Shape;9619;p12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20" name="Google Shape;9620;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21" name="Google Shape;9621;p12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22" name="Google Shape;9622;p12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23" name="Google Shape;9623;p12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24" name="Google Shape;9624;p12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9625" name="Google Shape;9625;p12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26" name="Google Shape;9626;p12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grpSp>
          <p:grpSp>
            <p:nvGrpSpPr>
              <p:cNvPr id="9627" name="Google Shape;9627;p122"/>
              <p:cNvGrpSpPr/>
              <p:nvPr/>
            </p:nvGrpSpPr>
            <p:grpSpPr>
              <a:xfrm>
                <a:off x="6068038" y="3829780"/>
                <a:ext cx="347753" cy="680208"/>
                <a:chOff x="7923189" y="2486663"/>
                <a:chExt cx="360362" cy="884586"/>
              </a:xfrm>
            </p:grpSpPr>
            <p:pic>
              <p:nvPicPr>
                <p:cNvPr id="9628" name="Google Shape;9628;p122"/>
                <p:cNvPicPr preferRelativeResize="0"/>
                <p:nvPr/>
              </p:nvPicPr>
              <p:blipFill rotWithShape="1">
                <a:blip r:embed="rId3">
                  <a:alphaModFix/>
                </a:blip>
                <a:srcRect b="0" l="0" r="0" t="0"/>
                <a:stretch/>
              </p:blipFill>
              <p:spPr>
                <a:xfrm>
                  <a:off x="8043984" y="2486663"/>
                  <a:ext cx="239567" cy="536525"/>
                </a:xfrm>
                <a:prstGeom prst="rect">
                  <a:avLst/>
                </a:prstGeom>
                <a:noFill/>
                <a:ln>
                  <a:noFill/>
                </a:ln>
              </p:spPr>
            </p:pic>
            <p:grpSp>
              <p:nvGrpSpPr>
                <p:cNvPr id="9629" name="Google Shape;9629;p122"/>
                <p:cNvGrpSpPr/>
                <p:nvPr/>
              </p:nvGrpSpPr>
              <p:grpSpPr>
                <a:xfrm>
                  <a:off x="7923189" y="2890236"/>
                  <a:ext cx="227012" cy="481013"/>
                  <a:chOff x="4140" y="429"/>
                  <a:chExt cx="1425" cy="2396"/>
                </a:xfrm>
              </p:grpSpPr>
              <p:sp>
                <p:nvSpPr>
                  <p:cNvPr id="9630" name="Google Shape;9630;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31" name="Google Shape;9631;p12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32" name="Google Shape;9632;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33" name="Google Shape;9633;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34" name="Google Shape;9634;p12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635" name="Google Shape;9635;p122"/>
                  <p:cNvGrpSpPr/>
                  <p:nvPr/>
                </p:nvGrpSpPr>
                <p:grpSpPr>
                  <a:xfrm>
                    <a:off x="4748" y="666"/>
                    <a:ext cx="578" cy="150"/>
                    <a:chOff x="613" y="2566"/>
                    <a:chExt cx="721" cy="144"/>
                  </a:xfrm>
                </p:grpSpPr>
                <p:sp>
                  <p:nvSpPr>
                    <p:cNvPr id="9636" name="Google Shape;9636;p12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37" name="Google Shape;9637;p12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638" name="Google Shape;9638;p12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639" name="Google Shape;9639;p122"/>
                  <p:cNvGrpSpPr/>
                  <p:nvPr/>
                </p:nvGrpSpPr>
                <p:grpSpPr>
                  <a:xfrm>
                    <a:off x="4748" y="990"/>
                    <a:ext cx="578" cy="134"/>
                    <a:chOff x="615" y="2564"/>
                    <a:chExt cx="721" cy="139"/>
                  </a:xfrm>
                </p:grpSpPr>
                <p:sp>
                  <p:nvSpPr>
                    <p:cNvPr id="9640" name="Google Shape;9640;p12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41" name="Google Shape;9641;p12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642" name="Google Shape;9642;p12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43" name="Google Shape;9643;p12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644" name="Google Shape;9644;p122"/>
                  <p:cNvGrpSpPr/>
                  <p:nvPr/>
                </p:nvGrpSpPr>
                <p:grpSpPr>
                  <a:xfrm>
                    <a:off x="4738" y="1647"/>
                    <a:ext cx="578" cy="135"/>
                    <a:chOff x="618" y="2586"/>
                    <a:chExt cx="720" cy="124"/>
                  </a:xfrm>
                </p:grpSpPr>
                <p:sp>
                  <p:nvSpPr>
                    <p:cNvPr id="9645" name="Google Shape;9645;p12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46" name="Google Shape;9646;p12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647" name="Google Shape;9647;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648" name="Google Shape;9648;p122"/>
                  <p:cNvGrpSpPr/>
                  <p:nvPr/>
                </p:nvGrpSpPr>
                <p:grpSpPr>
                  <a:xfrm>
                    <a:off x="4738" y="1330"/>
                    <a:ext cx="588" cy="134"/>
                    <a:chOff x="613" y="2571"/>
                    <a:chExt cx="732" cy="134"/>
                  </a:xfrm>
                </p:grpSpPr>
                <p:sp>
                  <p:nvSpPr>
                    <p:cNvPr id="9649" name="Google Shape;9649;p12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50" name="Google Shape;9650;p12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651" name="Google Shape;9651;p12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52" name="Google Shape;9652;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53" name="Google Shape;9653;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54" name="Google Shape;9654;p12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55" name="Google Shape;9655;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56" name="Google Shape;9656;p12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57" name="Google Shape;9657;p12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58" name="Google Shape;9658;p12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59" name="Google Shape;9659;p12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9660" name="Google Shape;9660;p12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61" name="Google Shape;9661;p12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grpSp>
          <p:grpSp>
            <p:nvGrpSpPr>
              <p:cNvPr id="9662" name="Google Shape;9662;p122"/>
              <p:cNvGrpSpPr/>
              <p:nvPr/>
            </p:nvGrpSpPr>
            <p:grpSpPr>
              <a:xfrm>
                <a:off x="2122838" y="5630065"/>
                <a:ext cx="347753" cy="680208"/>
                <a:chOff x="7923189" y="2486663"/>
                <a:chExt cx="360362" cy="884586"/>
              </a:xfrm>
            </p:grpSpPr>
            <p:pic>
              <p:nvPicPr>
                <p:cNvPr id="9663" name="Google Shape;9663;p122"/>
                <p:cNvPicPr preferRelativeResize="0"/>
                <p:nvPr/>
              </p:nvPicPr>
              <p:blipFill rotWithShape="1">
                <a:blip r:embed="rId3">
                  <a:alphaModFix/>
                </a:blip>
                <a:srcRect b="0" l="0" r="0" t="0"/>
                <a:stretch/>
              </p:blipFill>
              <p:spPr>
                <a:xfrm>
                  <a:off x="8043984" y="2486663"/>
                  <a:ext cx="239567" cy="536525"/>
                </a:xfrm>
                <a:prstGeom prst="rect">
                  <a:avLst/>
                </a:prstGeom>
                <a:noFill/>
                <a:ln>
                  <a:noFill/>
                </a:ln>
              </p:spPr>
            </p:pic>
            <p:grpSp>
              <p:nvGrpSpPr>
                <p:cNvPr id="9664" name="Google Shape;9664;p122"/>
                <p:cNvGrpSpPr/>
                <p:nvPr/>
              </p:nvGrpSpPr>
              <p:grpSpPr>
                <a:xfrm>
                  <a:off x="7923189" y="2890236"/>
                  <a:ext cx="227012" cy="481013"/>
                  <a:chOff x="4140" y="429"/>
                  <a:chExt cx="1425" cy="2396"/>
                </a:xfrm>
              </p:grpSpPr>
              <p:sp>
                <p:nvSpPr>
                  <p:cNvPr id="9665" name="Google Shape;9665;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66" name="Google Shape;9666;p12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67" name="Google Shape;9667;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68" name="Google Shape;9668;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69" name="Google Shape;9669;p12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670" name="Google Shape;9670;p122"/>
                  <p:cNvGrpSpPr/>
                  <p:nvPr/>
                </p:nvGrpSpPr>
                <p:grpSpPr>
                  <a:xfrm>
                    <a:off x="4748" y="666"/>
                    <a:ext cx="578" cy="150"/>
                    <a:chOff x="613" y="2566"/>
                    <a:chExt cx="721" cy="144"/>
                  </a:xfrm>
                </p:grpSpPr>
                <p:sp>
                  <p:nvSpPr>
                    <p:cNvPr id="9671" name="Google Shape;9671;p12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72" name="Google Shape;9672;p12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673" name="Google Shape;9673;p12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674" name="Google Shape;9674;p122"/>
                  <p:cNvGrpSpPr/>
                  <p:nvPr/>
                </p:nvGrpSpPr>
                <p:grpSpPr>
                  <a:xfrm>
                    <a:off x="4748" y="990"/>
                    <a:ext cx="578" cy="134"/>
                    <a:chOff x="615" y="2564"/>
                    <a:chExt cx="721" cy="139"/>
                  </a:xfrm>
                </p:grpSpPr>
                <p:sp>
                  <p:nvSpPr>
                    <p:cNvPr id="9675" name="Google Shape;9675;p12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76" name="Google Shape;9676;p12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677" name="Google Shape;9677;p12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78" name="Google Shape;9678;p12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679" name="Google Shape;9679;p122"/>
                  <p:cNvGrpSpPr/>
                  <p:nvPr/>
                </p:nvGrpSpPr>
                <p:grpSpPr>
                  <a:xfrm>
                    <a:off x="4738" y="1647"/>
                    <a:ext cx="578" cy="135"/>
                    <a:chOff x="618" y="2586"/>
                    <a:chExt cx="720" cy="124"/>
                  </a:xfrm>
                </p:grpSpPr>
                <p:sp>
                  <p:nvSpPr>
                    <p:cNvPr id="9680" name="Google Shape;9680;p12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81" name="Google Shape;9681;p12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682" name="Google Shape;9682;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683" name="Google Shape;9683;p122"/>
                  <p:cNvGrpSpPr/>
                  <p:nvPr/>
                </p:nvGrpSpPr>
                <p:grpSpPr>
                  <a:xfrm>
                    <a:off x="4738" y="1330"/>
                    <a:ext cx="588" cy="134"/>
                    <a:chOff x="613" y="2571"/>
                    <a:chExt cx="732" cy="134"/>
                  </a:xfrm>
                </p:grpSpPr>
                <p:sp>
                  <p:nvSpPr>
                    <p:cNvPr id="9684" name="Google Shape;9684;p12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85" name="Google Shape;9685;p12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686" name="Google Shape;9686;p12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87" name="Google Shape;9687;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88" name="Google Shape;9688;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89" name="Google Shape;9689;p12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90" name="Google Shape;9690;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91" name="Google Shape;9691;p12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92" name="Google Shape;9692;p12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93" name="Google Shape;9693;p12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94" name="Google Shape;9694;p12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9695" name="Google Shape;9695;p12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696" name="Google Shape;9696;p12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grpSp>
          <p:grpSp>
            <p:nvGrpSpPr>
              <p:cNvPr id="9697" name="Google Shape;9697;p122"/>
              <p:cNvGrpSpPr/>
              <p:nvPr/>
            </p:nvGrpSpPr>
            <p:grpSpPr>
              <a:xfrm>
                <a:off x="7707456" y="4369529"/>
                <a:ext cx="990710" cy="730998"/>
                <a:chOff x="7707456" y="4369529"/>
                <a:chExt cx="990710" cy="730998"/>
              </a:xfrm>
            </p:grpSpPr>
            <p:pic>
              <p:nvPicPr>
                <p:cNvPr id="9698" name="Google Shape;9698;p122"/>
                <p:cNvPicPr preferRelativeResize="0"/>
                <p:nvPr/>
              </p:nvPicPr>
              <p:blipFill rotWithShape="1">
                <a:blip r:embed="rId4">
                  <a:alphaModFix/>
                </a:blip>
                <a:srcRect b="0" l="0" r="0" t="0"/>
                <a:stretch/>
              </p:blipFill>
              <p:spPr>
                <a:xfrm>
                  <a:off x="7771833" y="4640202"/>
                  <a:ext cx="822008" cy="460325"/>
                </a:xfrm>
                <a:prstGeom prst="rect">
                  <a:avLst/>
                </a:prstGeom>
                <a:noFill/>
                <a:ln>
                  <a:noFill/>
                </a:ln>
              </p:spPr>
            </p:pic>
            <p:grpSp>
              <p:nvGrpSpPr>
                <p:cNvPr id="9699" name="Google Shape;9699;p122"/>
                <p:cNvGrpSpPr/>
                <p:nvPr/>
              </p:nvGrpSpPr>
              <p:grpSpPr>
                <a:xfrm flipH="1">
                  <a:off x="7707456" y="4369553"/>
                  <a:ext cx="225477" cy="395239"/>
                  <a:chOff x="4144" y="433"/>
                  <a:chExt cx="1422" cy="2392"/>
                </a:xfrm>
              </p:grpSpPr>
              <p:sp>
                <p:nvSpPr>
                  <p:cNvPr id="9700" name="Google Shape;9700;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01" name="Google Shape;9701;p122"/>
                  <p:cNvSpPr/>
                  <p:nvPr/>
                </p:nvSpPr>
                <p:spPr>
                  <a:xfrm>
                    <a:off x="4204" y="433"/>
                    <a:ext cx="1051" cy="227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02" name="Google Shape;9702;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03" name="Google Shape;9703;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04" name="Google Shape;9704;p122"/>
                  <p:cNvSpPr/>
                  <p:nvPr/>
                </p:nvSpPr>
                <p:spPr>
                  <a:xfrm>
                    <a:off x="4214" y="692"/>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705" name="Google Shape;9705;p122"/>
                  <p:cNvGrpSpPr/>
                  <p:nvPr/>
                </p:nvGrpSpPr>
                <p:grpSpPr>
                  <a:xfrm>
                    <a:off x="4775" y="692"/>
                    <a:ext cx="581" cy="125"/>
                    <a:chOff x="646" y="2591"/>
                    <a:chExt cx="725" cy="120"/>
                  </a:xfrm>
                </p:grpSpPr>
                <p:sp>
                  <p:nvSpPr>
                    <p:cNvPr id="9706" name="Google Shape;9706;p122"/>
                    <p:cNvSpPr/>
                    <p:nvPr/>
                  </p:nvSpPr>
                  <p:spPr>
                    <a:xfrm>
                      <a:off x="646" y="2591"/>
                      <a:ext cx="725" cy="12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07" name="Google Shape;9707;p122"/>
                    <p:cNvSpPr/>
                    <p:nvPr/>
                  </p:nvSpPr>
                  <p:spPr>
                    <a:xfrm>
                      <a:off x="659" y="2591"/>
                      <a:ext cx="700"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708" name="Google Shape;9708;p122"/>
                  <p:cNvSpPr/>
                  <p:nvPr/>
                </p:nvSpPr>
                <p:spPr>
                  <a:xfrm>
                    <a:off x="4224" y="1019"/>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709" name="Google Shape;9709;p122"/>
                  <p:cNvGrpSpPr/>
                  <p:nvPr/>
                </p:nvGrpSpPr>
                <p:grpSpPr>
                  <a:xfrm>
                    <a:off x="4745" y="1019"/>
                    <a:ext cx="581" cy="135"/>
                    <a:chOff x="611" y="2594"/>
                    <a:chExt cx="725" cy="140"/>
                  </a:xfrm>
                </p:grpSpPr>
                <p:sp>
                  <p:nvSpPr>
                    <p:cNvPr id="9710" name="Google Shape;9710;p122"/>
                    <p:cNvSpPr/>
                    <p:nvPr/>
                  </p:nvSpPr>
                  <p:spPr>
                    <a:xfrm>
                      <a:off x="611" y="2594"/>
                      <a:ext cx="725"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11" name="Google Shape;9711;p122"/>
                    <p:cNvSpPr/>
                    <p:nvPr/>
                  </p:nvSpPr>
                  <p:spPr>
                    <a:xfrm>
                      <a:off x="624" y="2614"/>
                      <a:ext cx="687"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712" name="Google Shape;9712;p122"/>
                  <p:cNvSpPr/>
                  <p:nvPr/>
                </p:nvSpPr>
                <p:spPr>
                  <a:xfrm>
                    <a:off x="4224" y="1365"/>
                    <a:ext cx="591" cy="3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13" name="Google Shape;9713;p122"/>
                  <p:cNvSpPr/>
                  <p:nvPr/>
                </p:nvSpPr>
                <p:spPr>
                  <a:xfrm>
                    <a:off x="4234" y="1653"/>
                    <a:ext cx="59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714" name="Google Shape;9714;p122"/>
                  <p:cNvGrpSpPr/>
                  <p:nvPr/>
                </p:nvGrpSpPr>
                <p:grpSpPr>
                  <a:xfrm>
                    <a:off x="4735" y="1653"/>
                    <a:ext cx="571" cy="125"/>
                    <a:chOff x="614" y="2592"/>
                    <a:chExt cx="711" cy="115"/>
                  </a:xfrm>
                </p:grpSpPr>
                <p:sp>
                  <p:nvSpPr>
                    <p:cNvPr id="9715" name="Google Shape;9715;p122"/>
                    <p:cNvSpPr/>
                    <p:nvPr/>
                  </p:nvSpPr>
                  <p:spPr>
                    <a:xfrm>
                      <a:off x="614" y="2592"/>
                      <a:ext cx="711" cy="115"/>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16" name="Google Shape;9716;p122"/>
                    <p:cNvSpPr/>
                    <p:nvPr/>
                  </p:nvSpPr>
                  <p:spPr>
                    <a:xfrm>
                      <a:off x="626" y="2610"/>
                      <a:ext cx="674" cy="8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717" name="Google Shape;9717;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718" name="Google Shape;9718;p122"/>
                  <p:cNvGrpSpPr/>
                  <p:nvPr/>
                </p:nvGrpSpPr>
                <p:grpSpPr>
                  <a:xfrm>
                    <a:off x="4765" y="1327"/>
                    <a:ext cx="560" cy="163"/>
                    <a:chOff x="646" y="2568"/>
                    <a:chExt cx="698" cy="163"/>
                  </a:xfrm>
                </p:grpSpPr>
                <p:sp>
                  <p:nvSpPr>
                    <p:cNvPr id="9719" name="Google Shape;9719;p122"/>
                    <p:cNvSpPr/>
                    <p:nvPr/>
                  </p:nvSpPr>
                  <p:spPr>
                    <a:xfrm>
                      <a:off x="646" y="2568"/>
                      <a:ext cx="698" cy="16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20" name="Google Shape;9720;p122"/>
                    <p:cNvSpPr/>
                    <p:nvPr/>
                  </p:nvSpPr>
                  <p:spPr>
                    <a:xfrm>
                      <a:off x="659" y="2587"/>
                      <a:ext cx="661" cy="11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721" name="Google Shape;9721;p122"/>
                  <p:cNvSpPr/>
                  <p:nvPr/>
                </p:nvSpPr>
                <p:spPr>
                  <a:xfrm>
                    <a:off x="5255" y="433"/>
                    <a:ext cx="60" cy="2287"/>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22" name="Google Shape;9722;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23" name="Google Shape;9723;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24" name="Google Shape;9724;p122"/>
                  <p:cNvSpPr/>
                  <p:nvPr/>
                </p:nvSpPr>
                <p:spPr>
                  <a:xfrm>
                    <a:off x="5516" y="2614"/>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25" name="Google Shape;9725;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26" name="Google Shape;9726;p122"/>
                  <p:cNvSpPr/>
                  <p:nvPr/>
                </p:nvSpPr>
                <p:spPr>
                  <a:xfrm>
                    <a:off x="4144" y="2681"/>
                    <a:ext cx="1202"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27" name="Google Shape;9727;p122"/>
                  <p:cNvSpPr/>
                  <p:nvPr/>
                </p:nvSpPr>
                <p:spPr>
                  <a:xfrm>
                    <a:off x="4204" y="2710"/>
                    <a:ext cx="1071"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28" name="Google Shape;9728;p122"/>
                  <p:cNvSpPr/>
                  <p:nvPr/>
                </p:nvSpPr>
                <p:spPr>
                  <a:xfrm>
                    <a:off x="4314" y="2383"/>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29" name="Google Shape;9729;p122"/>
                  <p:cNvSpPr/>
                  <p:nvPr/>
                </p:nvSpPr>
                <p:spPr>
                  <a:xfrm>
                    <a:off x="4485" y="2383"/>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alibri"/>
                      <a:buNone/>
                    </a:pPr>
                    <a:r>
                      <a:t/>
                    </a:r>
                    <a:endParaRPr sz="2400">
                      <a:solidFill>
                        <a:srgbClr val="FF0000"/>
                      </a:solidFill>
                      <a:latin typeface="Arial"/>
                      <a:ea typeface="Arial"/>
                      <a:cs typeface="Arial"/>
                      <a:sym typeface="Arial"/>
                    </a:endParaRPr>
                  </a:p>
                </p:txBody>
              </p:sp>
              <p:sp>
                <p:nvSpPr>
                  <p:cNvPr id="9730" name="Google Shape;9730;p122"/>
                  <p:cNvSpPr/>
                  <p:nvPr/>
                </p:nvSpPr>
                <p:spPr>
                  <a:xfrm>
                    <a:off x="4665" y="2383"/>
                    <a:ext cx="160" cy="13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31" name="Google Shape;9731;p122"/>
                  <p:cNvSpPr/>
                  <p:nvPr/>
                </p:nvSpPr>
                <p:spPr>
                  <a:xfrm>
                    <a:off x="5065" y="1836"/>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grpSp>
              <p:nvGrpSpPr>
                <p:cNvPr id="9732" name="Google Shape;9732;p122"/>
                <p:cNvGrpSpPr/>
                <p:nvPr/>
              </p:nvGrpSpPr>
              <p:grpSpPr>
                <a:xfrm flipH="1">
                  <a:off x="7939232" y="4369529"/>
                  <a:ext cx="227063" cy="400031"/>
                  <a:chOff x="4137" y="431"/>
                  <a:chExt cx="1432" cy="2421"/>
                </a:xfrm>
              </p:grpSpPr>
              <p:sp>
                <p:nvSpPr>
                  <p:cNvPr id="9733" name="Google Shape;9733;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34" name="Google Shape;9734;p122"/>
                  <p:cNvSpPr/>
                  <p:nvPr/>
                </p:nvSpPr>
                <p:spPr>
                  <a:xfrm>
                    <a:off x="4207" y="431"/>
                    <a:ext cx="1051" cy="230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35" name="Google Shape;9735;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36" name="Google Shape;9736;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37" name="Google Shape;9737;p122"/>
                  <p:cNvSpPr/>
                  <p:nvPr/>
                </p:nvSpPr>
                <p:spPr>
                  <a:xfrm>
                    <a:off x="4207" y="700"/>
                    <a:ext cx="601" cy="3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738" name="Google Shape;9738;p122"/>
                  <p:cNvGrpSpPr/>
                  <p:nvPr/>
                </p:nvGrpSpPr>
                <p:grpSpPr>
                  <a:xfrm>
                    <a:off x="4747" y="671"/>
                    <a:ext cx="581" cy="144"/>
                    <a:chOff x="612" y="2571"/>
                    <a:chExt cx="725" cy="138"/>
                  </a:xfrm>
                </p:grpSpPr>
                <p:sp>
                  <p:nvSpPr>
                    <p:cNvPr id="9739" name="Google Shape;9739;p122"/>
                    <p:cNvSpPr/>
                    <p:nvPr/>
                  </p:nvSpPr>
                  <p:spPr>
                    <a:xfrm>
                      <a:off x="612" y="2571"/>
                      <a:ext cx="725"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40" name="Google Shape;9740;p122"/>
                    <p:cNvSpPr/>
                    <p:nvPr/>
                  </p:nvSpPr>
                  <p:spPr>
                    <a:xfrm>
                      <a:off x="625" y="2590"/>
                      <a:ext cx="700"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741" name="Google Shape;9741;p122"/>
                  <p:cNvSpPr/>
                  <p:nvPr/>
                </p:nvSpPr>
                <p:spPr>
                  <a:xfrm>
                    <a:off x="4227" y="1027"/>
                    <a:ext cx="591" cy="3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742" name="Google Shape;9742;p122"/>
                  <p:cNvGrpSpPr/>
                  <p:nvPr/>
                </p:nvGrpSpPr>
                <p:grpSpPr>
                  <a:xfrm>
                    <a:off x="4748" y="998"/>
                    <a:ext cx="581" cy="144"/>
                    <a:chOff x="615" y="2572"/>
                    <a:chExt cx="725" cy="149"/>
                  </a:xfrm>
                </p:grpSpPr>
                <p:sp>
                  <p:nvSpPr>
                    <p:cNvPr id="9743" name="Google Shape;9743;p122"/>
                    <p:cNvSpPr/>
                    <p:nvPr/>
                  </p:nvSpPr>
                  <p:spPr>
                    <a:xfrm>
                      <a:off x="615" y="2572"/>
                      <a:ext cx="725" cy="14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44" name="Google Shape;9744;p122"/>
                    <p:cNvSpPr/>
                    <p:nvPr/>
                  </p:nvSpPr>
                  <p:spPr>
                    <a:xfrm>
                      <a:off x="627" y="2592"/>
                      <a:ext cx="687"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745" name="Google Shape;9745;p122"/>
                  <p:cNvSpPr/>
                  <p:nvPr/>
                </p:nvSpPr>
                <p:spPr>
                  <a:xfrm>
                    <a:off x="4217" y="1363"/>
                    <a:ext cx="59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46" name="Google Shape;9746;p122"/>
                  <p:cNvSpPr/>
                  <p:nvPr/>
                </p:nvSpPr>
                <p:spPr>
                  <a:xfrm>
                    <a:off x="4227" y="1680"/>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747" name="Google Shape;9747;p122"/>
                  <p:cNvGrpSpPr/>
                  <p:nvPr/>
                </p:nvGrpSpPr>
                <p:grpSpPr>
                  <a:xfrm>
                    <a:off x="4737" y="1651"/>
                    <a:ext cx="571" cy="154"/>
                    <a:chOff x="617" y="2590"/>
                    <a:chExt cx="711" cy="142"/>
                  </a:xfrm>
                </p:grpSpPr>
                <p:sp>
                  <p:nvSpPr>
                    <p:cNvPr id="9748" name="Google Shape;9748;p122"/>
                    <p:cNvSpPr/>
                    <p:nvPr/>
                  </p:nvSpPr>
                  <p:spPr>
                    <a:xfrm>
                      <a:off x="617" y="2590"/>
                      <a:ext cx="711" cy="142"/>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49" name="Google Shape;9749;p122"/>
                    <p:cNvSpPr/>
                    <p:nvPr/>
                  </p:nvSpPr>
                  <p:spPr>
                    <a:xfrm>
                      <a:off x="630" y="2608"/>
                      <a:ext cx="674"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750" name="Google Shape;9750;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751" name="Google Shape;9751;p122"/>
                  <p:cNvGrpSpPr/>
                  <p:nvPr/>
                </p:nvGrpSpPr>
                <p:grpSpPr>
                  <a:xfrm>
                    <a:off x="4737" y="1354"/>
                    <a:ext cx="611" cy="115"/>
                    <a:chOff x="612" y="2595"/>
                    <a:chExt cx="761" cy="115"/>
                  </a:xfrm>
                </p:grpSpPr>
                <p:sp>
                  <p:nvSpPr>
                    <p:cNvPr id="9752" name="Google Shape;9752;p122"/>
                    <p:cNvSpPr/>
                    <p:nvPr/>
                  </p:nvSpPr>
                  <p:spPr>
                    <a:xfrm>
                      <a:off x="612" y="2595"/>
                      <a:ext cx="761" cy="115"/>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53" name="Google Shape;9753;p122"/>
                    <p:cNvSpPr/>
                    <p:nvPr/>
                  </p:nvSpPr>
                  <p:spPr>
                    <a:xfrm>
                      <a:off x="625" y="2614"/>
                      <a:ext cx="723" cy="8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754" name="Google Shape;9754;p122"/>
                  <p:cNvSpPr/>
                  <p:nvPr/>
                </p:nvSpPr>
                <p:spPr>
                  <a:xfrm>
                    <a:off x="5248" y="431"/>
                    <a:ext cx="70" cy="231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55" name="Google Shape;9755;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56" name="Google Shape;9756;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57" name="Google Shape;9757;p122"/>
                  <p:cNvSpPr/>
                  <p:nvPr/>
                </p:nvSpPr>
                <p:spPr>
                  <a:xfrm>
                    <a:off x="5519" y="2641"/>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58" name="Google Shape;9758;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59" name="Google Shape;9759;p122"/>
                  <p:cNvSpPr/>
                  <p:nvPr/>
                </p:nvSpPr>
                <p:spPr>
                  <a:xfrm>
                    <a:off x="4137" y="2708"/>
                    <a:ext cx="1202"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60" name="Google Shape;9760;p122"/>
                  <p:cNvSpPr/>
                  <p:nvPr/>
                </p:nvSpPr>
                <p:spPr>
                  <a:xfrm>
                    <a:off x="4207" y="2737"/>
                    <a:ext cx="1071"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61" name="Google Shape;9761;p122"/>
                  <p:cNvSpPr/>
                  <p:nvPr/>
                </p:nvSpPr>
                <p:spPr>
                  <a:xfrm>
                    <a:off x="4307" y="2410"/>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62" name="Google Shape;9762;p122"/>
                  <p:cNvSpPr/>
                  <p:nvPr/>
                </p:nvSpPr>
                <p:spPr>
                  <a:xfrm>
                    <a:off x="4487" y="2410"/>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alibri"/>
                      <a:buNone/>
                    </a:pPr>
                    <a:r>
                      <a:t/>
                    </a:r>
                    <a:endParaRPr sz="2400">
                      <a:solidFill>
                        <a:srgbClr val="FF0000"/>
                      </a:solidFill>
                      <a:latin typeface="Arial"/>
                      <a:ea typeface="Arial"/>
                      <a:cs typeface="Arial"/>
                      <a:sym typeface="Arial"/>
                    </a:endParaRPr>
                  </a:p>
                </p:txBody>
              </p:sp>
              <p:sp>
                <p:nvSpPr>
                  <p:cNvPr id="9763" name="Google Shape;9763;p122"/>
                  <p:cNvSpPr/>
                  <p:nvPr/>
                </p:nvSpPr>
                <p:spPr>
                  <a:xfrm>
                    <a:off x="4658" y="2410"/>
                    <a:ext cx="160" cy="13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64" name="Google Shape;9764;p122"/>
                  <p:cNvSpPr/>
                  <p:nvPr/>
                </p:nvSpPr>
                <p:spPr>
                  <a:xfrm>
                    <a:off x="5068" y="1863"/>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grpSp>
              <p:nvGrpSpPr>
                <p:cNvPr id="9765" name="Google Shape;9765;p122"/>
                <p:cNvGrpSpPr/>
                <p:nvPr/>
              </p:nvGrpSpPr>
              <p:grpSpPr>
                <a:xfrm flipH="1">
                  <a:off x="8472689" y="4385069"/>
                  <a:ext cx="225477" cy="395570"/>
                  <a:chOff x="4140" y="433"/>
                  <a:chExt cx="1422" cy="2394"/>
                </a:xfrm>
              </p:grpSpPr>
              <p:sp>
                <p:nvSpPr>
                  <p:cNvPr id="9766" name="Google Shape;9766;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67" name="Google Shape;9767;p122"/>
                  <p:cNvSpPr/>
                  <p:nvPr/>
                </p:nvSpPr>
                <p:spPr>
                  <a:xfrm>
                    <a:off x="4200" y="454"/>
                    <a:ext cx="1051" cy="2258"/>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68" name="Google Shape;9768;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69" name="Google Shape;9769;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70" name="Google Shape;9770;p122"/>
                  <p:cNvSpPr/>
                  <p:nvPr/>
                </p:nvSpPr>
                <p:spPr>
                  <a:xfrm>
                    <a:off x="4210" y="714"/>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771" name="Google Shape;9771;p122"/>
                  <p:cNvGrpSpPr/>
                  <p:nvPr/>
                </p:nvGrpSpPr>
                <p:grpSpPr>
                  <a:xfrm>
                    <a:off x="4751" y="695"/>
                    <a:ext cx="581" cy="144"/>
                    <a:chOff x="616" y="2594"/>
                    <a:chExt cx="725" cy="138"/>
                  </a:xfrm>
                </p:grpSpPr>
                <p:sp>
                  <p:nvSpPr>
                    <p:cNvPr id="9772" name="Google Shape;9772;p122"/>
                    <p:cNvSpPr/>
                    <p:nvPr/>
                  </p:nvSpPr>
                  <p:spPr>
                    <a:xfrm>
                      <a:off x="616" y="2594"/>
                      <a:ext cx="725"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73" name="Google Shape;9773;p122"/>
                    <p:cNvSpPr/>
                    <p:nvPr/>
                  </p:nvSpPr>
                  <p:spPr>
                    <a:xfrm>
                      <a:off x="629" y="2612"/>
                      <a:ext cx="700"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774" name="Google Shape;9774;p122"/>
                  <p:cNvSpPr/>
                  <p:nvPr/>
                </p:nvSpPr>
                <p:spPr>
                  <a:xfrm>
                    <a:off x="4220" y="1041"/>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775" name="Google Shape;9775;p122"/>
                  <p:cNvGrpSpPr/>
                  <p:nvPr/>
                </p:nvGrpSpPr>
                <p:grpSpPr>
                  <a:xfrm>
                    <a:off x="4721" y="1021"/>
                    <a:ext cx="581" cy="135"/>
                    <a:chOff x="581" y="2596"/>
                    <a:chExt cx="725" cy="140"/>
                  </a:xfrm>
                </p:grpSpPr>
                <p:sp>
                  <p:nvSpPr>
                    <p:cNvPr id="9776" name="Google Shape;9776;p122"/>
                    <p:cNvSpPr/>
                    <p:nvPr/>
                  </p:nvSpPr>
                  <p:spPr>
                    <a:xfrm>
                      <a:off x="581" y="2596"/>
                      <a:ext cx="725"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77" name="Google Shape;9777;p122"/>
                    <p:cNvSpPr/>
                    <p:nvPr/>
                  </p:nvSpPr>
                  <p:spPr>
                    <a:xfrm>
                      <a:off x="594" y="2616"/>
                      <a:ext cx="687"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778" name="Google Shape;9778;p122"/>
                  <p:cNvSpPr/>
                  <p:nvPr/>
                </p:nvSpPr>
                <p:spPr>
                  <a:xfrm>
                    <a:off x="4220" y="1367"/>
                    <a:ext cx="591" cy="3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79" name="Google Shape;9779;p122"/>
                  <p:cNvSpPr/>
                  <p:nvPr/>
                </p:nvSpPr>
                <p:spPr>
                  <a:xfrm>
                    <a:off x="4230" y="1655"/>
                    <a:ext cx="59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nvGrpSpPr>
                  <p:cNvPr id="9780" name="Google Shape;9780;p122"/>
                  <p:cNvGrpSpPr/>
                  <p:nvPr/>
                </p:nvGrpSpPr>
                <p:grpSpPr>
                  <a:xfrm>
                    <a:off x="4731" y="1655"/>
                    <a:ext cx="551" cy="125"/>
                    <a:chOff x="609" y="2594"/>
                    <a:chExt cx="686" cy="115"/>
                  </a:xfrm>
                </p:grpSpPr>
                <p:sp>
                  <p:nvSpPr>
                    <p:cNvPr id="9781" name="Google Shape;9781;p122"/>
                    <p:cNvSpPr/>
                    <p:nvPr/>
                  </p:nvSpPr>
                  <p:spPr>
                    <a:xfrm>
                      <a:off x="609" y="2594"/>
                      <a:ext cx="686" cy="115"/>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82" name="Google Shape;9782;p122"/>
                    <p:cNvSpPr/>
                    <p:nvPr/>
                  </p:nvSpPr>
                  <p:spPr>
                    <a:xfrm>
                      <a:off x="621" y="2612"/>
                      <a:ext cx="649" cy="8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783" name="Google Shape;9783;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784" name="Google Shape;9784;p122"/>
                  <p:cNvGrpSpPr/>
                  <p:nvPr/>
                </p:nvGrpSpPr>
                <p:grpSpPr>
                  <a:xfrm>
                    <a:off x="4741" y="1329"/>
                    <a:ext cx="580" cy="163"/>
                    <a:chOff x="616" y="2570"/>
                    <a:chExt cx="723" cy="163"/>
                  </a:xfrm>
                </p:grpSpPr>
                <p:sp>
                  <p:nvSpPr>
                    <p:cNvPr id="9785" name="Google Shape;9785;p122"/>
                    <p:cNvSpPr/>
                    <p:nvPr/>
                  </p:nvSpPr>
                  <p:spPr>
                    <a:xfrm>
                      <a:off x="616" y="2570"/>
                      <a:ext cx="723" cy="16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86" name="Google Shape;9786;p122"/>
                    <p:cNvSpPr/>
                    <p:nvPr/>
                  </p:nvSpPr>
                  <p:spPr>
                    <a:xfrm>
                      <a:off x="629" y="2589"/>
                      <a:ext cx="686" cy="13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sp>
                <p:nvSpPr>
                  <p:cNvPr id="9787" name="Google Shape;9787;p122"/>
                  <p:cNvSpPr/>
                  <p:nvPr/>
                </p:nvSpPr>
                <p:spPr>
                  <a:xfrm>
                    <a:off x="5251" y="454"/>
                    <a:ext cx="60" cy="2267"/>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88" name="Google Shape;9788;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89" name="Google Shape;9789;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90" name="Google Shape;9790;p122"/>
                  <p:cNvSpPr/>
                  <p:nvPr/>
                </p:nvSpPr>
                <p:spPr>
                  <a:xfrm>
                    <a:off x="5512" y="2616"/>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91" name="Google Shape;9791;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92" name="Google Shape;9792;p122"/>
                  <p:cNvSpPr/>
                  <p:nvPr/>
                </p:nvSpPr>
                <p:spPr>
                  <a:xfrm>
                    <a:off x="4140" y="2683"/>
                    <a:ext cx="1202"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93" name="Google Shape;9793;p122"/>
                  <p:cNvSpPr/>
                  <p:nvPr/>
                </p:nvSpPr>
                <p:spPr>
                  <a:xfrm>
                    <a:off x="4200" y="2712"/>
                    <a:ext cx="1071"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94" name="Google Shape;9794;p122"/>
                  <p:cNvSpPr/>
                  <p:nvPr/>
                </p:nvSpPr>
                <p:spPr>
                  <a:xfrm>
                    <a:off x="4310" y="2386"/>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95" name="Google Shape;9795;p122"/>
                  <p:cNvSpPr/>
                  <p:nvPr/>
                </p:nvSpPr>
                <p:spPr>
                  <a:xfrm>
                    <a:off x="4480" y="2386"/>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alibri"/>
                      <a:buNone/>
                    </a:pPr>
                    <a:r>
                      <a:t/>
                    </a:r>
                    <a:endParaRPr sz="2400">
                      <a:solidFill>
                        <a:srgbClr val="FF0000"/>
                      </a:solidFill>
                      <a:latin typeface="Arial"/>
                      <a:ea typeface="Arial"/>
                      <a:cs typeface="Arial"/>
                      <a:sym typeface="Arial"/>
                    </a:endParaRPr>
                  </a:p>
                </p:txBody>
              </p:sp>
              <p:sp>
                <p:nvSpPr>
                  <p:cNvPr id="9796" name="Google Shape;9796;p122"/>
                  <p:cNvSpPr/>
                  <p:nvPr/>
                </p:nvSpPr>
                <p:spPr>
                  <a:xfrm>
                    <a:off x="4661" y="2386"/>
                    <a:ext cx="160" cy="13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797" name="Google Shape;9797;p122"/>
                  <p:cNvSpPr/>
                  <p:nvPr/>
                </p:nvSpPr>
                <p:spPr>
                  <a:xfrm>
                    <a:off x="5061" y="1838"/>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grpSp>
          </p:grpSp>
          <p:grpSp>
            <p:nvGrpSpPr>
              <p:cNvPr id="9798" name="Google Shape;9798;p122"/>
              <p:cNvGrpSpPr/>
              <p:nvPr/>
            </p:nvGrpSpPr>
            <p:grpSpPr>
              <a:xfrm>
                <a:off x="7186941" y="5734675"/>
                <a:ext cx="347753" cy="680208"/>
                <a:chOff x="7923189" y="2486663"/>
                <a:chExt cx="360362" cy="884586"/>
              </a:xfrm>
            </p:grpSpPr>
            <p:pic>
              <p:nvPicPr>
                <p:cNvPr id="9799" name="Google Shape;9799;p122"/>
                <p:cNvPicPr preferRelativeResize="0"/>
                <p:nvPr/>
              </p:nvPicPr>
              <p:blipFill rotWithShape="1">
                <a:blip r:embed="rId3">
                  <a:alphaModFix/>
                </a:blip>
                <a:srcRect b="0" l="0" r="0" t="0"/>
                <a:stretch/>
              </p:blipFill>
              <p:spPr>
                <a:xfrm>
                  <a:off x="8043984" y="2486663"/>
                  <a:ext cx="239567" cy="536525"/>
                </a:xfrm>
                <a:prstGeom prst="rect">
                  <a:avLst/>
                </a:prstGeom>
                <a:noFill/>
                <a:ln>
                  <a:noFill/>
                </a:ln>
              </p:spPr>
            </p:pic>
            <p:grpSp>
              <p:nvGrpSpPr>
                <p:cNvPr id="9800" name="Google Shape;9800;p122"/>
                <p:cNvGrpSpPr/>
                <p:nvPr/>
              </p:nvGrpSpPr>
              <p:grpSpPr>
                <a:xfrm>
                  <a:off x="7923189" y="2890236"/>
                  <a:ext cx="227012" cy="481013"/>
                  <a:chOff x="4140" y="429"/>
                  <a:chExt cx="1425" cy="2396"/>
                </a:xfrm>
              </p:grpSpPr>
              <p:sp>
                <p:nvSpPr>
                  <p:cNvPr id="9801" name="Google Shape;9801;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02" name="Google Shape;9802;p12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803" name="Google Shape;9803;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04" name="Google Shape;9804;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05" name="Google Shape;9805;p12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806" name="Google Shape;9806;p122"/>
                  <p:cNvGrpSpPr/>
                  <p:nvPr/>
                </p:nvGrpSpPr>
                <p:grpSpPr>
                  <a:xfrm>
                    <a:off x="4748" y="666"/>
                    <a:ext cx="578" cy="150"/>
                    <a:chOff x="613" y="2566"/>
                    <a:chExt cx="721" cy="144"/>
                  </a:xfrm>
                </p:grpSpPr>
                <p:sp>
                  <p:nvSpPr>
                    <p:cNvPr id="9807" name="Google Shape;9807;p12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808" name="Google Shape;9808;p12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809" name="Google Shape;9809;p12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810" name="Google Shape;9810;p122"/>
                  <p:cNvGrpSpPr/>
                  <p:nvPr/>
                </p:nvGrpSpPr>
                <p:grpSpPr>
                  <a:xfrm>
                    <a:off x="4748" y="990"/>
                    <a:ext cx="578" cy="134"/>
                    <a:chOff x="615" y="2564"/>
                    <a:chExt cx="721" cy="139"/>
                  </a:xfrm>
                </p:grpSpPr>
                <p:sp>
                  <p:nvSpPr>
                    <p:cNvPr id="9811" name="Google Shape;9811;p12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812" name="Google Shape;9812;p12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813" name="Google Shape;9813;p12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814" name="Google Shape;9814;p12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815" name="Google Shape;9815;p122"/>
                  <p:cNvGrpSpPr/>
                  <p:nvPr/>
                </p:nvGrpSpPr>
                <p:grpSpPr>
                  <a:xfrm>
                    <a:off x="4738" y="1647"/>
                    <a:ext cx="578" cy="135"/>
                    <a:chOff x="618" y="2586"/>
                    <a:chExt cx="720" cy="124"/>
                  </a:xfrm>
                </p:grpSpPr>
                <p:sp>
                  <p:nvSpPr>
                    <p:cNvPr id="9816" name="Google Shape;9816;p12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817" name="Google Shape;9817;p12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818" name="Google Shape;9818;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819" name="Google Shape;9819;p122"/>
                  <p:cNvGrpSpPr/>
                  <p:nvPr/>
                </p:nvGrpSpPr>
                <p:grpSpPr>
                  <a:xfrm>
                    <a:off x="4738" y="1330"/>
                    <a:ext cx="588" cy="134"/>
                    <a:chOff x="613" y="2571"/>
                    <a:chExt cx="732" cy="134"/>
                  </a:xfrm>
                </p:grpSpPr>
                <p:sp>
                  <p:nvSpPr>
                    <p:cNvPr id="9820" name="Google Shape;9820;p12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821" name="Google Shape;9821;p12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sp>
                <p:nvSpPr>
                  <p:cNvPr id="9822" name="Google Shape;9822;p12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823" name="Google Shape;9823;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24" name="Google Shape;9824;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25" name="Google Shape;9825;p12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826" name="Google Shape;9826;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27" name="Google Shape;9827;p12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828" name="Google Shape;9828;p12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829" name="Google Shape;9829;p12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830" name="Google Shape;9830;p12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9831" name="Google Shape;9831;p12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832" name="Google Shape;9832;p12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grpSp>
          <p:grpSp>
            <p:nvGrpSpPr>
              <p:cNvPr id="9833" name="Google Shape;9833;p122"/>
              <p:cNvGrpSpPr/>
              <p:nvPr/>
            </p:nvGrpSpPr>
            <p:grpSpPr>
              <a:xfrm>
                <a:off x="439215" y="4826417"/>
                <a:ext cx="871949" cy="507508"/>
                <a:chOff x="439215" y="4826417"/>
                <a:chExt cx="871949" cy="507508"/>
              </a:xfrm>
            </p:grpSpPr>
            <p:grpSp>
              <p:nvGrpSpPr>
                <p:cNvPr id="9834" name="Google Shape;9834;p122"/>
                <p:cNvGrpSpPr/>
                <p:nvPr/>
              </p:nvGrpSpPr>
              <p:grpSpPr>
                <a:xfrm>
                  <a:off x="439215" y="4826417"/>
                  <a:ext cx="871949" cy="507508"/>
                  <a:chOff x="2889" y="1630"/>
                  <a:chExt cx="976" cy="744"/>
                </a:xfrm>
              </p:grpSpPr>
              <p:sp>
                <p:nvSpPr>
                  <p:cNvPr id="9835" name="Google Shape;9835;p122"/>
                  <p:cNvSpPr/>
                  <p:nvPr/>
                </p:nvSpPr>
                <p:spPr>
                  <a:xfrm>
                    <a:off x="3046" y="1841"/>
                    <a:ext cx="663" cy="53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sp>
                <p:nvSpPr>
                  <p:cNvPr id="9836" name="Google Shape;9836;p122"/>
                  <p:cNvSpPr/>
                  <p:nvPr/>
                </p:nvSpPr>
                <p:spPr>
                  <a:xfrm>
                    <a:off x="2889" y="1630"/>
                    <a:ext cx="976" cy="254"/>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alibri"/>
                      <a:buNone/>
                    </a:pPr>
                    <a:r>
                      <a:t/>
                    </a:r>
                    <a:endParaRPr sz="2400">
                      <a:solidFill>
                        <a:srgbClr val="00CCFF"/>
                      </a:solidFill>
                      <a:latin typeface="Arial"/>
                      <a:ea typeface="Arial"/>
                      <a:cs typeface="Arial"/>
                      <a:sym typeface="Arial"/>
                    </a:endParaRPr>
                  </a:p>
                </p:txBody>
              </p:sp>
            </p:grpSp>
            <p:pic>
              <p:nvPicPr>
                <p:cNvPr id="9837" name="Google Shape;9837;p122"/>
                <p:cNvPicPr preferRelativeResize="0"/>
                <p:nvPr/>
              </p:nvPicPr>
              <p:blipFill rotWithShape="1">
                <a:blip r:embed="rId5">
                  <a:alphaModFix/>
                </a:blip>
                <a:srcRect b="0" l="0" r="0" t="0"/>
                <a:stretch/>
              </p:blipFill>
              <p:spPr>
                <a:xfrm>
                  <a:off x="683109" y="5014480"/>
                  <a:ext cx="405029" cy="290834"/>
                </a:xfrm>
                <a:prstGeom prst="rect">
                  <a:avLst/>
                </a:prstGeom>
                <a:noFill/>
                <a:ln>
                  <a:noFill/>
                </a:ln>
              </p:spPr>
            </p:pic>
          </p:grpSp>
        </p:grpSp>
      </p:grpSp>
      <p:sp>
        <p:nvSpPr>
          <p:cNvPr id="9838" name="Google Shape;9838;p122"/>
          <p:cNvSpPr/>
          <p:nvPr/>
        </p:nvSpPr>
        <p:spPr>
          <a:xfrm>
            <a:off x="1459847" y="4108856"/>
            <a:ext cx="9037638" cy="250348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p:txBody>
      </p:sp>
      <p:grpSp>
        <p:nvGrpSpPr>
          <p:cNvPr id="9839" name="Google Shape;9839;p122"/>
          <p:cNvGrpSpPr/>
          <p:nvPr/>
        </p:nvGrpSpPr>
        <p:grpSpPr>
          <a:xfrm>
            <a:off x="1925639" y="4171941"/>
            <a:ext cx="8074025" cy="523220"/>
            <a:chOff x="379080" y="5456397"/>
            <a:chExt cx="8074239" cy="524687"/>
          </a:xfrm>
        </p:grpSpPr>
        <p:sp>
          <p:nvSpPr>
            <p:cNvPr id="9840" name="Google Shape;9840;p122"/>
            <p:cNvSpPr/>
            <p:nvPr/>
          </p:nvSpPr>
          <p:spPr>
            <a:xfrm>
              <a:off x="379080" y="5489828"/>
              <a:ext cx="8074239" cy="421866"/>
            </a:xfrm>
            <a:prstGeom prst="rect">
              <a:avLst/>
            </a:prstGeom>
            <a:noFill/>
            <a:ln cap="flat" cmpd="sng" w="952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alibri"/>
                <a:buNone/>
              </a:pPr>
              <a:r>
                <a:t/>
              </a:r>
              <a:endParaRPr sz="2400">
                <a:solidFill>
                  <a:srgbClr val="000000"/>
                </a:solidFill>
                <a:latin typeface="Arial"/>
                <a:ea typeface="Arial"/>
                <a:cs typeface="Arial"/>
                <a:sym typeface="Arial"/>
              </a:endParaRPr>
            </a:p>
          </p:txBody>
        </p:sp>
        <p:sp>
          <p:nvSpPr>
            <p:cNvPr id="9841" name="Google Shape;9841;p122"/>
            <p:cNvSpPr txBox="1"/>
            <p:nvPr/>
          </p:nvSpPr>
          <p:spPr>
            <a:xfrm>
              <a:off x="1081801" y="5456397"/>
              <a:ext cx="6920219" cy="5246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Internet host-host communication as a service</a:t>
              </a:r>
              <a:endParaRPr/>
            </a:p>
          </p:txBody>
        </p:sp>
      </p:grpSp>
      <p:sp>
        <p:nvSpPr>
          <p:cNvPr id="9842" name="Google Shape;9842;p122"/>
          <p:cNvSpPr txBox="1"/>
          <p:nvPr>
            <p:ph idx="1" type="body"/>
          </p:nvPr>
        </p:nvSpPr>
        <p:spPr>
          <a:xfrm>
            <a:off x="2519090" y="4917973"/>
            <a:ext cx="7772400" cy="18208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00A8"/>
              </a:buClr>
              <a:buSzPts val="2800"/>
              <a:buNone/>
            </a:pPr>
            <a:r>
              <a:rPr i="1" lang="en-US">
                <a:solidFill>
                  <a:srgbClr val="990000"/>
                </a:solidFill>
                <a:latin typeface="Calibri"/>
                <a:ea typeface="Calibri"/>
                <a:cs typeface="Calibri"/>
                <a:sym typeface="Calibri"/>
              </a:rPr>
              <a:t>OTT challenges: </a:t>
            </a:r>
            <a:r>
              <a:rPr lang="en-US">
                <a:latin typeface="Calibri"/>
                <a:ea typeface="Calibri"/>
                <a:cs typeface="Calibri"/>
                <a:sym typeface="Calibri"/>
              </a:rPr>
              <a:t>coping with a congested Internet</a:t>
            </a:r>
            <a:endParaRPr/>
          </a:p>
          <a:p>
            <a:pPr indent="-233363" lvl="1" marL="466725" rtl="0" algn="l">
              <a:lnSpc>
                <a:spcPct val="90000"/>
              </a:lnSpc>
              <a:spcBef>
                <a:spcPts val="500"/>
              </a:spcBef>
              <a:spcAft>
                <a:spcPts val="0"/>
              </a:spcAft>
              <a:buSzPts val="2400"/>
              <a:buFont typeface="Noto Sans Symbols"/>
              <a:buChar char="▪"/>
            </a:pPr>
            <a:r>
              <a:rPr lang="en-US">
                <a:latin typeface="Calibri"/>
                <a:ea typeface="Calibri"/>
                <a:cs typeface="Calibri"/>
                <a:sym typeface="Calibri"/>
              </a:rPr>
              <a:t>from which CDN node to retrieve content?</a:t>
            </a:r>
            <a:endParaRPr/>
          </a:p>
          <a:p>
            <a:pPr indent="-233363" lvl="1" marL="466725" rtl="0" algn="l">
              <a:lnSpc>
                <a:spcPct val="90000"/>
              </a:lnSpc>
              <a:spcBef>
                <a:spcPts val="500"/>
              </a:spcBef>
              <a:spcAft>
                <a:spcPts val="0"/>
              </a:spcAft>
              <a:buSzPts val="2400"/>
              <a:buFont typeface="Noto Sans Symbols"/>
              <a:buChar char="▪"/>
            </a:pPr>
            <a:r>
              <a:rPr lang="en-US">
                <a:latin typeface="Calibri"/>
                <a:ea typeface="Calibri"/>
                <a:cs typeface="Calibri"/>
                <a:sym typeface="Calibri"/>
              </a:rPr>
              <a:t>viewer behavior in presence of congestion?</a:t>
            </a:r>
            <a:endParaRPr/>
          </a:p>
          <a:p>
            <a:pPr indent="-233363" lvl="1" marL="466725" rtl="0" algn="l">
              <a:lnSpc>
                <a:spcPct val="90000"/>
              </a:lnSpc>
              <a:spcBef>
                <a:spcPts val="500"/>
              </a:spcBef>
              <a:spcAft>
                <a:spcPts val="0"/>
              </a:spcAft>
              <a:buSzPts val="2400"/>
              <a:buFont typeface="Noto Sans Symbols"/>
              <a:buChar char="▪"/>
            </a:pPr>
            <a:r>
              <a:rPr lang="en-US">
                <a:latin typeface="Calibri"/>
                <a:ea typeface="Calibri"/>
                <a:cs typeface="Calibri"/>
                <a:sym typeface="Calibri"/>
              </a:rPr>
              <a:t>what content to place in which CDN node?</a:t>
            </a:r>
            <a:endParaRPr/>
          </a:p>
        </p:txBody>
      </p:sp>
      <p:sp>
        <p:nvSpPr>
          <p:cNvPr id="9843" name="Google Shape;9843;p122"/>
          <p:cNvSpPr txBox="1"/>
          <p:nvPr/>
        </p:nvSpPr>
        <p:spPr>
          <a:xfrm>
            <a:off x="3409501" y="2041781"/>
            <a:ext cx="4571829"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4400"/>
              <a:buFont typeface="Calibri"/>
              <a:buNone/>
            </a:pPr>
            <a:r>
              <a:rPr i="1" lang="en-US" sz="4400">
                <a:solidFill>
                  <a:srgbClr val="000099"/>
                </a:solidFill>
                <a:latin typeface="Calibri"/>
                <a:ea typeface="Calibri"/>
                <a:cs typeface="Calibri"/>
                <a:sym typeface="Calibri"/>
              </a:rPr>
              <a:t>OTT: “over the top”</a:t>
            </a:r>
            <a:endParaRPr/>
          </a:p>
        </p:txBody>
      </p:sp>
      <p:sp>
        <p:nvSpPr>
          <p:cNvPr id="9844" name="Google Shape;9844;p12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Content distribution </a:t>
            </a:r>
            <a:r>
              <a:rPr lang="en-US"/>
              <a:t>n</a:t>
            </a:r>
            <a:r>
              <a:rPr lang="en-US" sz="4400"/>
              <a:t>etworks (CDNs)</a:t>
            </a:r>
            <a:endParaRPr/>
          </a:p>
        </p:txBody>
      </p:sp>
      <p:sp>
        <p:nvSpPr>
          <p:cNvPr id="9845" name="Google Shape;9845;p1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843"/>
                                        </p:tgtEl>
                                      </p:cBhvr>
                                    </p:animEffect>
                                    <p:set>
                                      <p:cBhvr>
                                        <p:cTn dur="1" fill="hold">
                                          <p:stCondLst>
                                            <p:cond delay="500"/>
                                          </p:stCondLst>
                                        </p:cTn>
                                        <p:tgtEl>
                                          <p:spTgt spid="984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475"/>
                                        </p:tgtEl>
                                        <p:attrNameLst>
                                          <p:attrName>style.visibility</p:attrName>
                                        </p:attrNameLst>
                                      </p:cBhvr>
                                      <p:to>
                                        <p:strVal val="visible"/>
                                      </p:to>
                                    </p:set>
                                    <p:animEffect filter="fade" transition="in">
                                      <p:cBhvr>
                                        <p:cTn dur="1000"/>
                                        <p:tgtEl>
                                          <p:spTgt spid="9475"/>
                                        </p:tgtEl>
                                      </p:cBhvr>
                                    </p:animEffect>
                                  </p:childTnLst>
                                </p:cTn>
                              </p:par>
                              <p:par>
                                <p:cTn fill="hold" nodeType="withEffect" presetClass="exit" presetID="10" presetSubtype="0">
                                  <p:stCondLst>
                                    <p:cond delay="0"/>
                                  </p:stCondLst>
                                  <p:childTnLst>
                                    <p:animEffect filter="fade" transition="out">
                                      <p:cBhvr>
                                        <p:cTn dur="500"/>
                                        <p:tgtEl>
                                          <p:spTgt spid="9123"/>
                                        </p:tgtEl>
                                      </p:cBhvr>
                                    </p:animEffect>
                                    <p:set>
                                      <p:cBhvr>
                                        <p:cTn dur="1" fill="hold">
                                          <p:stCondLst>
                                            <p:cond delay="500"/>
                                          </p:stCondLst>
                                        </p:cTn>
                                        <p:tgtEl>
                                          <p:spTgt spid="912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38"/>
                                        </p:tgtEl>
                                        <p:attrNameLst>
                                          <p:attrName>style.visibility</p:attrName>
                                        </p:attrNameLst>
                                      </p:cBhvr>
                                      <p:to>
                                        <p:strVal val="visible"/>
                                      </p:to>
                                    </p:set>
                                    <p:animEffect filter="fade" transition="in">
                                      <p:cBhvr>
                                        <p:cTn dur="500"/>
                                        <p:tgtEl>
                                          <p:spTgt spid="9838"/>
                                        </p:tgtEl>
                                      </p:cBhvr>
                                    </p:animEffect>
                                  </p:childTnLst>
                                </p:cTn>
                              </p:par>
                              <p:par>
                                <p:cTn fill="hold" nodeType="withEffect" presetClass="entr" presetID="10" presetSubtype="0">
                                  <p:stCondLst>
                                    <p:cond delay="0"/>
                                  </p:stCondLst>
                                  <p:childTnLst>
                                    <p:set>
                                      <p:cBhvr>
                                        <p:cTn dur="1" fill="hold">
                                          <p:stCondLst>
                                            <p:cond delay="0"/>
                                          </p:stCondLst>
                                        </p:cTn>
                                        <p:tgtEl>
                                          <p:spTgt spid="9839"/>
                                        </p:tgtEl>
                                        <p:attrNameLst>
                                          <p:attrName>style.visibility</p:attrName>
                                        </p:attrNameLst>
                                      </p:cBhvr>
                                      <p:to>
                                        <p:strVal val="visible"/>
                                      </p:to>
                                    </p:set>
                                    <p:animEffect filter="fade" transition="in">
                                      <p:cBhvr>
                                        <p:cTn dur="2000"/>
                                        <p:tgtEl>
                                          <p:spTgt spid="9839"/>
                                        </p:tgtEl>
                                      </p:cBhvr>
                                    </p:animEffect>
                                  </p:childTnLst>
                                </p:cTn>
                              </p:par>
                              <p:par>
                                <p:cTn fill="hold" nodeType="withEffect" presetClass="exit" presetID="1" presetSubtype="0">
                                  <p:stCondLst>
                                    <p:cond delay="0"/>
                                  </p:stCondLst>
                                  <p:childTnLst>
                                    <p:set>
                                      <p:cBhvr>
                                        <p:cTn dur="1" fill="hold">
                                          <p:stCondLst>
                                            <p:cond delay="1"/>
                                          </p:stCondLst>
                                        </p:cTn>
                                        <p:tgtEl>
                                          <p:spTgt spid="882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2">
                                            <p:txEl>
                                              <p:pRg end="0" st="0"/>
                                            </p:txEl>
                                          </p:spTgt>
                                        </p:tgtEl>
                                        <p:attrNameLst>
                                          <p:attrName>style.visibility</p:attrName>
                                        </p:attrNameLst>
                                      </p:cBhvr>
                                      <p:to>
                                        <p:strVal val="visible"/>
                                      </p:to>
                                    </p:set>
                                    <p:animEffect filter="fade" transition="in">
                                      <p:cBhvr>
                                        <p:cTn dur="500"/>
                                        <p:tgtEl>
                                          <p:spTgt spid="98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2">
                                            <p:txEl>
                                              <p:pRg end="1" st="1"/>
                                            </p:txEl>
                                          </p:spTgt>
                                        </p:tgtEl>
                                        <p:attrNameLst>
                                          <p:attrName>style.visibility</p:attrName>
                                        </p:attrNameLst>
                                      </p:cBhvr>
                                      <p:to>
                                        <p:strVal val="visible"/>
                                      </p:to>
                                    </p:set>
                                    <p:animEffect filter="fade" transition="in">
                                      <p:cBhvr>
                                        <p:cTn dur="500"/>
                                        <p:tgtEl>
                                          <p:spTgt spid="98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2">
                                            <p:txEl>
                                              <p:pRg end="2" st="2"/>
                                            </p:txEl>
                                          </p:spTgt>
                                        </p:tgtEl>
                                        <p:attrNameLst>
                                          <p:attrName>style.visibility</p:attrName>
                                        </p:attrNameLst>
                                      </p:cBhvr>
                                      <p:to>
                                        <p:strVal val="visible"/>
                                      </p:to>
                                    </p:set>
                                    <p:animEffect filter="fade" transition="in">
                                      <p:cBhvr>
                                        <p:cTn dur="500"/>
                                        <p:tgtEl>
                                          <p:spTgt spid="98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2">
                                            <p:txEl>
                                              <p:pRg end="3" st="3"/>
                                            </p:txEl>
                                          </p:spTgt>
                                        </p:tgtEl>
                                        <p:attrNameLst>
                                          <p:attrName>style.visibility</p:attrName>
                                        </p:attrNameLst>
                                      </p:cBhvr>
                                      <p:to>
                                        <p:strVal val="visible"/>
                                      </p:to>
                                    </p:set>
                                    <p:animEffect filter="fade" transition="in">
                                      <p:cBhvr>
                                        <p:cTn dur="500"/>
                                        <p:tgtEl>
                                          <p:spTgt spid="984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0" name="Shape 9850"/>
        <p:cNvGrpSpPr/>
        <p:nvPr/>
      </p:nvGrpSpPr>
      <p:grpSpPr>
        <a:xfrm>
          <a:off x="0" y="0"/>
          <a:ext cx="0" cy="0"/>
          <a:chOff x="0" y="0"/>
          <a:chExt cx="0" cy="0"/>
        </a:xfrm>
      </p:grpSpPr>
      <p:sp>
        <p:nvSpPr>
          <p:cNvPr id="9851" name="Google Shape;9851;p12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CDN content access: a closer look</a:t>
            </a:r>
            <a:endParaRPr/>
          </a:p>
        </p:txBody>
      </p:sp>
      <p:sp>
        <p:nvSpPr>
          <p:cNvPr id="9852" name="Google Shape;9852;p123"/>
          <p:cNvSpPr/>
          <p:nvPr/>
        </p:nvSpPr>
        <p:spPr>
          <a:xfrm rot="5400000">
            <a:off x="2597150" y="4305582"/>
            <a:ext cx="2554288" cy="1422400"/>
          </a:xfrm>
          <a:custGeom>
            <a:rect b="b" l="l" r="r" t="t"/>
            <a:pathLst>
              <a:path extrusionOk="0" h="10000" w="10000">
                <a:moveTo>
                  <a:pt x="6270" y="126"/>
                </a:moveTo>
                <a:cubicBezTo>
                  <a:pt x="5642" y="245"/>
                  <a:pt x="4469" y="528"/>
                  <a:pt x="3738" y="756"/>
                </a:cubicBezTo>
                <a:cubicBezTo>
                  <a:pt x="3007" y="984"/>
                  <a:pt x="2405" y="1322"/>
                  <a:pt x="1887" y="1495"/>
                </a:cubicBezTo>
                <a:cubicBezTo>
                  <a:pt x="1369" y="1668"/>
                  <a:pt x="1195" y="1105"/>
                  <a:pt x="629" y="1793"/>
                </a:cubicBezTo>
                <a:cubicBezTo>
                  <a:pt x="63" y="2481"/>
                  <a:pt x="218" y="3574"/>
                  <a:pt x="128" y="4417"/>
                </a:cubicBezTo>
                <a:cubicBezTo>
                  <a:pt x="39" y="5260"/>
                  <a:pt x="-87" y="6368"/>
                  <a:pt x="89" y="6848"/>
                </a:cubicBezTo>
                <a:cubicBezTo>
                  <a:pt x="265" y="7328"/>
                  <a:pt x="491" y="7223"/>
                  <a:pt x="1207" y="7298"/>
                </a:cubicBezTo>
                <a:cubicBezTo>
                  <a:pt x="1924" y="7374"/>
                  <a:pt x="3641" y="7133"/>
                  <a:pt x="4406" y="7298"/>
                </a:cubicBezTo>
                <a:cubicBezTo>
                  <a:pt x="5171" y="7463"/>
                  <a:pt x="5298" y="7868"/>
                  <a:pt x="5779" y="8288"/>
                </a:cubicBezTo>
                <a:cubicBezTo>
                  <a:pt x="6260" y="8709"/>
                  <a:pt x="6848" y="9549"/>
                  <a:pt x="7290" y="9819"/>
                </a:cubicBezTo>
                <a:cubicBezTo>
                  <a:pt x="7731" y="10089"/>
                  <a:pt x="8124" y="10014"/>
                  <a:pt x="8448" y="9879"/>
                </a:cubicBezTo>
                <a:cubicBezTo>
                  <a:pt x="8771" y="9744"/>
                  <a:pt x="9056" y="9549"/>
                  <a:pt x="9252" y="9008"/>
                </a:cubicBezTo>
                <a:cubicBezTo>
                  <a:pt x="9448" y="8469"/>
                  <a:pt x="9537" y="7418"/>
                  <a:pt x="9644" y="6639"/>
                </a:cubicBezTo>
                <a:cubicBezTo>
                  <a:pt x="9752" y="5858"/>
                  <a:pt x="9851" y="5168"/>
                  <a:pt x="9899" y="4327"/>
                </a:cubicBezTo>
                <a:cubicBezTo>
                  <a:pt x="9949" y="3486"/>
                  <a:pt x="10076" y="2256"/>
                  <a:pt x="9939" y="1566"/>
                </a:cubicBezTo>
                <a:cubicBezTo>
                  <a:pt x="9802" y="876"/>
                  <a:pt x="9478" y="471"/>
                  <a:pt x="9075" y="216"/>
                </a:cubicBezTo>
                <a:cubicBezTo>
                  <a:pt x="8674" y="-39"/>
                  <a:pt x="7997" y="20"/>
                  <a:pt x="7525" y="5"/>
                </a:cubicBezTo>
                <a:cubicBezTo>
                  <a:pt x="7055" y="-9"/>
                  <a:pt x="6898" y="5"/>
                  <a:pt x="6270" y="126"/>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CC"/>
              </a:buClr>
              <a:buSzPts val="1700"/>
              <a:buFont typeface="Arial"/>
              <a:buNone/>
            </a:pPr>
            <a:r>
              <a:t/>
            </a:r>
            <a:endParaRPr sz="2000">
              <a:solidFill>
                <a:srgbClr val="000000"/>
              </a:solidFill>
              <a:latin typeface="Arial"/>
              <a:ea typeface="Arial"/>
              <a:cs typeface="Arial"/>
              <a:sym typeface="Arial"/>
            </a:endParaRPr>
          </a:p>
        </p:txBody>
      </p:sp>
      <p:sp>
        <p:nvSpPr>
          <p:cNvPr id="9853" name="Google Shape;9853;p123"/>
          <p:cNvSpPr/>
          <p:nvPr/>
        </p:nvSpPr>
        <p:spPr>
          <a:xfrm>
            <a:off x="5650706" y="5181088"/>
            <a:ext cx="3467100" cy="1422400"/>
          </a:xfrm>
          <a:custGeom>
            <a:rect b="b" l="l" r="r" t="t"/>
            <a:pathLst>
              <a:path extrusionOk="0" h="10000" w="10000">
                <a:moveTo>
                  <a:pt x="6270" y="126"/>
                </a:moveTo>
                <a:cubicBezTo>
                  <a:pt x="5642" y="245"/>
                  <a:pt x="4469" y="528"/>
                  <a:pt x="3738" y="756"/>
                </a:cubicBezTo>
                <a:cubicBezTo>
                  <a:pt x="3007" y="984"/>
                  <a:pt x="2405" y="1322"/>
                  <a:pt x="1887" y="1495"/>
                </a:cubicBezTo>
                <a:cubicBezTo>
                  <a:pt x="1369" y="1668"/>
                  <a:pt x="1195" y="1105"/>
                  <a:pt x="629" y="1793"/>
                </a:cubicBezTo>
                <a:cubicBezTo>
                  <a:pt x="63" y="2481"/>
                  <a:pt x="218" y="3574"/>
                  <a:pt x="128" y="4417"/>
                </a:cubicBezTo>
                <a:cubicBezTo>
                  <a:pt x="39" y="5260"/>
                  <a:pt x="-87" y="6368"/>
                  <a:pt x="89" y="6848"/>
                </a:cubicBezTo>
                <a:cubicBezTo>
                  <a:pt x="265" y="7328"/>
                  <a:pt x="491" y="7223"/>
                  <a:pt x="1207" y="7298"/>
                </a:cubicBezTo>
                <a:cubicBezTo>
                  <a:pt x="1924" y="7374"/>
                  <a:pt x="3641" y="7133"/>
                  <a:pt x="4406" y="7298"/>
                </a:cubicBezTo>
                <a:cubicBezTo>
                  <a:pt x="5171" y="7463"/>
                  <a:pt x="5298" y="7868"/>
                  <a:pt x="5779" y="8288"/>
                </a:cubicBezTo>
                <a:cubicBezTo>
                  <a:pt x="6260" y="8709"/>
                  <a:pt x="6848" y="9549"/>
                  <a:pt x="7290" y="9819"/>
                </a:cubicBezTo>
                <a:cubicBezTo>
                  <a:pt x="7731" y="10089"/>
                  <a:pt x="8124" y="10014"/>
                  <a:pt x="8448" y="9879"/>
                </a:cubicBezTo>
                <a:cubicBezTo>
                  <a:pt x="8771" y="9744"/>
                  <a:pt x="9056" y="9549"/>
                  <a:pt x="9252" y="9008"/>
                </a:cubicBezTo>
                <a:cubicBezTo>
                  <a:pt x="9448" y="8469"/>
                  <a:pt x="9537" y="7418"/>
                  <a:pt x="9644" y="6639"/>
                </a:cubicBezTo>
                <a:cubicBezTo>
                  <a:pt x="9752" y="5858"/>
                  <a:pt x="9851" y="5168"/>
                  <a:pt x="9899" y="4327"/>
                </a:cubicBezTo>
                <a:cubicBezTo>
                  <a:pt x="9949" y="3486"/>
                  <a:pt x="10076" y="2256"/>
                  <a:pt x="9939" y="1566"/>
                </a:cubicBezTo>
                <a:cubicBezTo>
                  <a:pt x="9802" y="876"/>
                  <a:pt x="9478" y="471"/>
                  <a:pt x="9075" y="216"/>
                </a:cubicBezTo>
                <a:cubicBezTo>
                  <a:pt x="8674" y="-39"/>
                  <a:pt x="7997" y="20"/>
                  <a:pt x="7525" y="5"/>
                </a:cubicBezTo>
                <a:cubicBezTo>
                  <a:pt x="7055" y="-9"/>
                  <a:pt x="6898" y="5"/>
                  <a:pt x="6270" y="126"/>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CC"/>
              </a:buClr>
              <a:buSzPts val="1700"/>
              <a:buFont typeface="Arial"/>
              <a:buNone/>
            </a:pPr>
            <a:r>
              <a:t/>
            </a:r>
            <a:endParaRPr sz="2000">
              <a:solidFill>
                <a:srgbClr val="000000"/>
              </a:solidFill>
              <a:latin typeface="Arial"/>
              <a:ea typeface="Arial"/>
              <a:cs typeface="Arial"/>
              <a:sym typeface="Arial"/>
            </a:endParaRPr>
          </a:p>
        </p:txBody>
      </p:sp>
      <p:grpSp>
        <p:nvGrpSpPr>
          <p:cNvPr id="9854" name="Google Shape;9854;p123"/>
          <p:cNvGrpSpPr/>
          <p:nvPr/>
        </p:nvGrpSpPr>
        <p:grpSpPr>
          <a:xfrm>
            <a:off x="3766344" y="3952363"/>
            <a:ext cx="460375" cy="638175"/>
            <a:chOff x="4140" y="429"/>
            <a:chExt cx="1425" cy="2396"/>
          </a:xfrm>
        </p:grpSpPr>
        <p:sp>
          <p:nvSpPr>
            <p:cNvPr id="9855" name="Google Shape;9855;p12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856" name="Google Shape;9856;p123"/>
            <p:cNvSpPr/>
            <p:nvPr/>
          </p:nvSpPr>
          <p:spPr>
            <a:xfrm>
              <a:off x="4204" y="429"/>
              <a:ext cx="1047"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857" name="Google Shape;9857;p12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858" name="Google Shape;9858;p12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859" name="Google Shape;9859;p123"/>
            <p:cNvSpPr/>
            <p:nvPr/>
          </p:nvSpPr>
          <p:spPr>
            <a:xfrm>
              <a:off x="4214" y="691"/>
              <a:ext cx="595"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nvGrpSpPr>
            <p:cNvPr id="9860" name="Google Shape;9860;p123"/>
            <p:cNvGrpSpPr/>
            <p:nvPr/>
          </p:nvGrpSpPr>
          <p:grpSpPr>
            <a:xfrm>
              <a:off x="4749" y="667"/>
              <a:ext cx="580" cy="131"/>
              <a:chOff x="614" y="2567"/>
              <a:chExt cx="724" cy="126"/>
            </a:xfrm>
          </p:grpSpPr>
          <p:sp>
            <p:nvSpPr>
              <p:cNvPr id="9861" name="Google Shape;9861;p123"/>
              <p:cNvSpPr/>
              <p:nvPr/>
            </p:nvSpPr>
            <p:spPr>
              <a:xfrm>
                <a:off x="614" y="2567"/>
                <a:ext cx="724" cy="12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862" name="Google Shape;9862;p123"/>
              <p:cNvSpPr/>
              <p:nvPr/>
            </p:nvSpPr>
            <p:spPr>
              <a:xfrm>
                <a:off x="633" y="2585"/>
                <a:ext cx="687"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sp>
          <p:nvSpPr>
            <p:cNvPr id="9863" name="Google Shape;9863;p123"/>
            <p:cNvSpPr/>
            <p:nvPr/>
          </p:nvSpPr>
          <p:spPr>
            <a:xfrm>
              <a:off x="4224" y="1019"/>
              <a:ext cx="595"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nvGrpSpPr>
            <p:cNvPr id="9864" name="Google Shape;9864;p123"/>
            <p:cNvGrpSpPr/>
            <p:nvPr/>
          </p:nvGrpSpPr>
          <p:grpSpPr>
            <a:xfrm>
              <a:off x="4749" y="995"/>
              <a:ext cx="580" cy="131"/>
              <a:chOff x="617" y="2569"/>
              <a:chExt cx="724" cy="136"/>
            </a:xfrm>
          </p:grpSpPr>
          <p:sp>
            <p:nvSpPr>
              <p:cNvPr id="9865" name="Google Shape;9865;p123"/>
              <p:cNvSpPr/>
              <p:nvPr/>
            </p:nvSpPr>
            <p:spPr>
              <a:xfrm>
                <a:off x="617" y="2569"/>
                <a:ext cx="724" cy="13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866" name="Google Shape;9866;p123"/>
              <p:cNvSpPr/>
              <p:nvPr/>
            </p:nvSpPr>
            <p:spPr>
              <a:xfrm>
                <a:off x="629" y="2588"/>
                <a:ext cx="693" cy="9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sp>
          <p:nvSpPr>
            <p:cNvPr id="9867" name="Google Shape;9867;p123"/>
            <p:cNvSpPr/>
            <p:nvPr/>
          </p:nvSpPr>
          <p:spPr>
            <a:xfrm>
              <a:off x="4219" y="1359"/>
              <a:ext cx="595"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868" name="Google Shape;9868;p123"/>
            <p:cNvSpPr/>
            <p:nvPr/>
          </p:nvSpPr>
          <p:spPr>
            <a:xfrm>
              <a:off x="4228" y="1657"/>
              <a:ext cx="595"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nvGrpSpPr>
            <p:cNvPr id="9869" name="Google Shape;9869;p123"/>
            <p:cNvGrpSpPr/>
            <p:nvPr/>
          </p:nvGrpSpPr>
          <p:grpSpPr>
            <a:xfrm>
              <a:off x="4734" y="1627"/>
              <a:ext cx="580" cy="149"/>
              <a:chOff x="613" y="2568"/>
              <a:chExt cx="722" cy="137"/>
            </a:xfrm>
          </p:grpSpPr>
          <p:sp>
            <p:nvSpPr>
              <p:cNvPr id="9870" name="Google Shape;9870;p123"/>
              <p:cNvSpPr/>
              <p:nvPr/>
            </p:nvSpPr>
            <p:spPr>
              <a:xfrm>
                <a:off x="613" y="2568"/>
                <a:ext cx="722"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871" name="Google Shape;9871;p123"/>
              <p:cNvSpPr/>
              <p:nvPr/>
            </p:nvSpPr>
            <p:spPr>
              <a:xfrm>
                <a:off x="626" y="2584"/>
                <a:ext cx="698"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sp>
          <p:nvSpPr>
            <p:cNvPr id="9872" name="Google Shape;9872;p12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9873" name="Google Shape;9873;p123"/>
            <p:cNvGrpSpPr/>
            <p:nvPr/>
          </p:nvGrpSpPr>
          <p:grpSpPr>
            <a:xfrm>
              <a:off x="4740" y="1329"/>
              <a:ext cx="580" cy="137"/>
              <a:chOff x="615" y="2570"/>
              <a:chExt cx="722" cy="137"/>
            </a:xfrm>
          </p:grpSpPr>
          <p:sp>
            <p:nvSpPr>
              <p:cNvPr id="9874" name="Google Shape;9874;p123"/>
              <p:cNvSpPr/>
              <p:nvPr/>
            </p:nvSpPr>
            <p:spPr>
              <a:xfrm>
                <a:off x="615" y="2570"/>
                <a:ext cx="722"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875" name="Google Shape;9875;p123"/>
              <p:cNvSpPr/>
              <p:nvPr/>
            </p:nvSpPr>
            <p:spPr>
              <a:xfrm>
                <a:off x="633" y="2588"/>
                <a:ext cx="68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sp>
          <p:nvSpPr>
            <p:cNvPr id="9876" name="Google Shape;9876;p123"/>
            <p:cNvSpPr/>
            <p:nvPr/>
          </p:nvSpPr>
          <p:spPr>
            <a:xfrm>
              <a:off x="5246" y="429"/>
              <a:ext cx="69" cy="2289"/>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877" name="Google Shape;9877;p12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878" name="Google Shape;9878;p12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879" name="Google Shape;9879;p123"/>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880" name="Google Shape;9880;p12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881" name="Google Shape;9881;p123"/>
            <p:cNvSpPr/>
            <p:nvPr/>
          </p:nvSpPr>
          <p:spPr>
            <a:xfrm>
              <a:off x="4140" y="2682"/>
              <a:ext cx="1199" cy="143"/>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882" name="Google Shape;9882;p123"/>
            <p:cNvSpPr/>
            <p:nvPr/>
          </p:nvSpPr>
          <p:spPr>
            <a:xfrm>
              <a:off x="4204" y="2712"/>
              <a:ext cx="1071" cy="77"/>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883" name="Google Shape;9883;p123"/>
            <p:cNvSpPr/>
            <p:nvPr/>
          </p:nvSpPr>
          <p:spPr>
            <a:xfrm>
              <a:off x="4307" y="2384"/>
              <a:ext cx="162"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884" name="Google Shape;9884;p123"/>
            <p:cNvSpPr/>
            <p:nvPr/>
          </p:nvSpPr>
          <p:spPr>
            <a:xfrm>
              <a:off x="4484" y="2384"/>
              <a:ext cx="162"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33CC"/>
                </a:buClr>
                <a:buSzPts val="1530"/>
                <a:buFont typeface="Arial"/>
                <a:buNone/>
              </a:pPr>
              <a:r>
                <a:t/>
              </a:r>
              <a:endParaRPr b="0" i="0" sz="1800" u="none" cap="none" strike="noStrike">
                <a:solidFill>
                  <a:srgbClr val="FF0000"/>
                </a:solidFill>
                <a:latin typeface="Arial"/>
                <a:ea typeface="Arial"/>
                <a:cs typeface="Arial"/>
                <a:sym typeface="Arial"/>
              </a:endParaRPr>
            </a:p>
          </p:txBody>
        </p:sp>
        <p:sp>
          <p:nvSpPr>
            <p:cNvPr id="9885" name="Google Shape;9885;p123"/>
            <p:cNvSpPr/>
            <p:nvPr/>
          </p:nvSpPr>
          <p:spPr>
            <a:xfrm>
              <a:off x="4661" y="2378"/>
              <a:ext cx="157"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886" name="Google Shape;9886;p123"/>
            <p:cNvSpPr/>
            <p:nvPr/>
          </p:nvSpPr>
          <p:spPr>
            <a:xfrm>
              <a:off x="5064" y="1836"/>
              <a:ext cx="84" cy="763"/>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sp>
        <p:nvSpPr>
          <p:cNvPr id="9887" name="Google Shape;9887;p123"/>
          <p:cNvSpPr txBox="1"/>
          <p:nvPr/>
        </p:nvSpPr>
        <p:spPr>
          <a:xfrm>
            <a:off x="2982119" y="4527038"/>
            <a:ext cx="15049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3333CC"/>
              </a:buClr>
              <a:buSzPts val="1530"/>
              <a:buFont typeface="Arial"/>
              <a:buNone/>
            </a:pPr>
            <a:r>
              <a:rPr lang="en-US" sz="1800">
                <a:solidFill>
                  <a:srgbClr val="000000"/>
                </a:solidFill>
                <a:latin typeface="Arial Narrow"/>
                <a:ea typeface="Arial Narrow"/>
                <a:cs typeface="Arial Narrow"/>
                <a:sym typeface="Arial Narrow"/>
              </a:rPr>
              <a:t>netcinema.com</a:t>
            </a:r>
            <a:endParaRPr i="1" sz="1800">
              <a:solidFill>
                <a:srgbClr val="000000"/>
              </a:solidFill>
              <a:latin typeface="Arial Narrow"/>
              <a:ea typeface="Arial Narrow"/>
              <a:cs typeface="Arial Narrow"/>
              <a:sym typeface="Arial Narrow"/>
            </a:endParaRPr>
          </a:p>
        </p:txBody>
      </p:sp>
      <p:grpSp>
        <p:nvGrpSpPr>
          <p:cNvPr id="9888" name="Google Shape;9888;p123"/>
          <p:cNvGrpSpPr/>
          <p:nvPr/>
        </p:nvGrpSpPr>
        <p:grpSpPr>
          <a:xfrm>
            <a:off x="5838031" y="2339463"/>
            <a:ext cx="963613" cy="835025"/>
            <a:chOff x="-44" y="1473"/>
            <a:chExt cx="981" cy="1105"/>
          </a:xfrm>
        </p:grpSpPr>
        <p:pic>
          <p:nvPicPr>
            <p:cNvPr descr="desktop_computer_stylized_medium" id="9889" name="Google Shape;9889;p12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890" name="Google Shape;9890;p12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9891" name="Google Shape;9891;p123"/>
          <p:cNvGrpSpPr/>
          <p:nvPr/>
        </p:nvGrpSpPr>
        <p:grpSpPr>
          <a:xfrm>
            <a:off x="6063456" y="5498588"/>
            <a:ext cx="377825" cy="636588"/>
            <a:chOff x="4140" y="429"/>
            <a:chExt cx="1425" cy="2396"/>
          </a:xfrm>
        </p:grpSpPr>
        <p:sp>
          <p:nvSpPr>
            <p:cNvPr id="9892" name="Google Shape;9892;p12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893" name="Google Shape;9893;p123"/>
            <p:cNvSpPr/>
            <p:nvPr/>
          </p:nvSpPr>
          <p:spPr>
            <a:xfrm>
              <a:off x="4206" y="429"/>
              <a:ext cx="1048"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894" name="Google Shape;9894;p12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895" name="Google Shape;9895;p12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896" name="Google Shape;9896;p123"/>
            <p:cNvSpPr/>
            <p:nvPr/>
          </p:nvSpPr>
          <p:spPr>
            <a:xfrm>
              <a:off x="4212" y="692"/>
              <a:ext cx="599"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9897" name="Google Shape;9897;p123"/>
            <p:cNvGrpSpPr/>
            <p:nvPr/>
          </p:nvGrpSpPr>
          <p:grpSpPr>
            <a:xfrm>
              <a:off x="4751" y="668"/>
              <a:ext cx="581" cy="143"/>
              <a:chOff x="616" y="2568"/>
              <a:chExt cx="725" cy="137"/>
            </a:xfrm>
          </p:grpSpPr>
          <p:sp>
            <p:nvSpPr>
              <p:cNvPr id="9898" name="Google Shape;9898;p123"/>
              <p:cNvSpPr/>
              <p:nvPr/>
            </p:nvSpPr>
            <p:spPr>
              <a:xfrm>
                <a:off x="616" y="2568"/>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899" name="Google Shape;9899;p123"/>
              <p:cNvSpPr/>
              <p:nvPr/>
            </p:nvSpPr>
            <p:spPr>
              <a:xfrm>
                <a:off x="639" y="2585"/>
                <a:ext cx="687"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9900" name="Google Shape;9900;p123"/>
            <p:cNvSpPr/>
            <p:nvPr/>
          </p:nvSpPr>
          <p:spPr>
            <a:xfrm>
              <a:off x="4224" y="1021"/>
              <a:ext cx="593"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9901" name="Google Shape;9901;p123"/>
            <p:cNvGrpSpPr/>
            <p:nvPr/>
          </p:nvGrpSpPr>
          <p:grpSpPr>
            <a:xfrm>
              <a:off x="4745" y="997"/>
              <a:ext cx="581" cy="131"/>
              <a:chOff x="611" y="2571"/>
              <a:chExt cx="725" cy="136"/>
            </a:xfrm>
          </p:grpSpPr>
          <p:sp>
            <p:nvSpPr>
              <p:cNvPr id="9902" name="Google Shape;9902;p123"/>
              <p:cNvSpPr/>
              <p:nvPr/>
            </p:nvSpPr>
            <p:spPr>
              <a:xfrm>
                <a:off x="611" y="2571"/>
                <a:ext cx="725" cy="13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03" name="Google Shape;9903;p123"/>
              <p:cNvSpPr/>
              <p:nvPr/>
            </p:nvSpPr>
            <p:spPr>
              <a:xfrm>
                <a:off x="619" y="2589"/>
                <a:ext cx="695" cy="9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9904" name="Google Shape;9904;p123"/>
            <p:cNvSpPr/>
            <p:nvPr/>
          </p:nvSpPr>
          <p:spPr>
            <a:xfrm>
              <a:off x="4218" y="1355"/>
              <a:ext cx="593"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05" name="Google Shape;9905;p123"/>
            <p:cNvSpPr/>
            <p:nvPr/>
          </p:nvSpPr>
          <p:spPr>
            <a:xfrm>
              <a:off x="4230" y="1654"/>
              <a:ext cx="593"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9906" name="Google Shape;9906;p123"/>
            <p:cNvGrpSpPr/>
            <p:nvPr/>
          </p:nvGrpSpPr>
          <p:grpSpPr>
            <a:xfrm>
              <a:off x="4733" y="1636"/>
              <a:ext cx="580" cy="143"/>
              <a:chOff x="611" y="2576"/>
              <a:chExt cx="723" cy="132"/>
            </a:xfrm>
          </p:grpSpPr>
          <p:sp>
            <p:nvSpPr>
              <p:cNvPr id="9907" name="Google Shape;9907;p123"/>
              <p:cNvSpPr/>
              <p:nvPr/>
            </p:nvSpPr>
            <p:spPr>
              <a:xfrm>
                <a:off x="611" y="2576"/>
                <a:ext cx="723" cy="13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08" name="Google Shape;9908;p123"/>
              <p:cNvSpPr/>
              <p:nvPr/>
            </p:nvSpPr>
            <p:spPr>
              <a:xfrm>
                <a:off x="626" y="2587"/>
                <a:ext cx="694"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9909" name="Google Shape;9909;p12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9910" name="Google Shape;9910;p123"/>
            <p:cNvGrpSpPr/>
            <p:nvPr/>
          </p:nvGrpSpPr>
          <p:grpSpPr>
            <a:xfrm>
              <a:off x="4739" y="1325"/>
              <a:ext cx="580" cy="143"/>
              <a:chOff x="614" y="2566"/>
              <a:chExt cx="723" cy="143"/>
            </a:xfrm>
          </p:grpSpPr>
          <p:sp>
            <p:nvSpPr>
              <p:cNvPr id="9911" name="Google Shape;9911;p123"/>
              <p:cNvSpPr/>
              <p:nvPr/>
            </p:nvSpPr>
            <p:spPr>
              <a:xfrm>
                <a:off x="614" y="2566"/>
                <a:ext cx="723" cy="14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12" name="Google Shape;9912;p123"/>
              <p:cNvSpPr/>
              <p:nvPr/>
            </p:nvSpPr>
            <p:spPr>
              <a:xfrm>
                <a:off x="636" y="2584"/>
                <a:ext cx="68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9913" name="Google Shape;9913;p123"/>
            <p:cNvSpPr/>
            <p:nvPr/>
          </p:nvSpPr>
          <p:spPr>
            <a:xfrm>
              <a:off x="5248" y="429"/>
              <a:ext cx="66"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14" name="Google Shape;9914;p12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15" name="Google Shape;9915;p12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16" name="Google Shape;9916;p123"/>
            <p:cNvSpPr/>
            <p:nvPr/>
          </p:nvSpPr>
          <p:spPr>
            <a:xfrm>
              <a:off x="5517" y="2610"/>
              <a:ext cx="48"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17" name="Google Shape;9917;p12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18" name="Google Shape;9918;p123"/>
            <p:cNvSpPr/>
            <p:nvPr/>
          </p:nvSpPr>
          <p:spPr>
            <a:xfrm>
              <a:off x="4140" y="2682"/>
              <a:ext cx="1203" cy="143"/>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19" name="Google Shape;9919;p123"/>
            <p:cNvSpPr/>
            <p:nvPr/>
          </p:nvSpPr>
          <p:spPr>
            <a:xfrm>
              <a:off x="4206" y="2711"/>
              <a:ext cx="1072"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20" name="Google Shape;9920;p123"/>
            <p:cNvSpPr/>
            <p:nvPr/>
          </p:nvSpPr>
          <p:spPr>
            <a:xfrm>
              <a:off x="4308" y="2383"/>
              <a:ext cx="162"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21" name="Google Shape;9921;p123"/>
            <p:cNvSpPr/>
            <p:nvPr/>
          </p:nvSpPr>
          <p:spPr>
            <a:xfrm>
              <a:off x="4487" y="2383"/>
              <a:ext cx="162"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33CC"/>
                </a:buClr>
                <a:buSzPts val="1700"/>
                <a:buFont typeface="Arial"/>
                <a:buNone/>
              </a:pPr>
              <a:r>
                <a:t/>
              </a:r>
              <a:endParaRPr b="0" i="0" sz="2000" u="none" cap="none" strike="noStrike">
                <a:solidFill>
                  <a:srgbClr val="FF0000"/>
                </a:solidFill>
                <a:latin typeface="Arial"/>
                <a:ea typeface="Arial"/>
                <a:cs typeface="Arial"/>
                <a:sym typeface="Arial"/>
              </a:endParaRPr>
            </a:p>
          </p:txBody>
        </p:sp>
        <p:sp>
          <p:nvSpPr>
            <p:cNvPr id="9922" name="Google Shape;9922;p123"/>
            <p:cNvSpPr/>
            <p:nvPr/>
          </p:nvSpPr>
          <p:spPr>
            <a:xfrm>
              <a:off x="4661" y="2383"/>
              <a:ext cx="156" cy="13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23" name="Google Shape;9923;p123"/>
            <p:cNvSpPr/>
            <p:nvPr/>
          </p:nvSpPr>
          <p:spPr>
            <a:xfrm>
              <a:off x="5062" y="1833"/>
              <a:ext cx="84" cy="765"/>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9924" name="Google Shape;9924;p123"/>
          <p:cNvGrpSpPr/>
          <p:nvPr/>
        </p:nvGrpSpPr>
        <p:grpSpPr>
          <a:xfrm>
            <a:off x="3871119" y="5217601"/>
            <a:ext cx="420687" cy="636587"/>
            <a:chOff x="4140" y="429"/>
            <a:chExt cx="1425" cy="2396"/>
          </a:xfrm>
        </p:grpSpPr>
        <p:sp>
          <p:nvSpPr>
            <p:cNvPr id="9925" name="Google Shape;9925;p12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26" name="Google Shape;9926;p123"/>
            <p:cNvSpPr/>
            <p:nvPr/>
          </p:nvSpPr>
          <p:spPr>
            <a:xfrm>
              <a:off x="4205" y="429"/>
              <a:ext cx="1049"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927" name="Google Shape;9927;p12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28" name="Google Shape;9928;p12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29" name="Google Shape;9929;p123"/>
            <p:cNvSpPr/>
            <p:nvPr/>
          </p:nvSpPr>
          <p:spPr>
            <a:xfrm>
              <a:off x="4215" y="692"/>
              <a:ext cx="592"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nvGrpSpPr>
            <p:cNvPr id="9930" name="Google Shape;9930;p123"/>
            <p:cNvGrpSpPr/>
            <p:nvPr/>
          </p:nvGrpSpPr>
          <p:grpSpPr>
            <a:xfrm>
              <a:off x="4747" y="668"/>
              <a:ext cx="581" cy="143"/>
              <a:chOff x="612" y="2568"/>
              <a:chExt cx="725" cy="137"/>
            </a:xfrm>
          </p:grpSpPr>
          <p:sp>
            <p:nvSpPr>
              <p:cNvPr id="9931" name="Google Shape;9931;p123"/>
              <p:cNvSpPr/>
              <p:nvPr/>
            </p:nvSpPr>
            <p:spPr>
              <a:xfrm>
                <a:off x="612" y="2568"/>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932" name="Google Shape;9932;p123"/>
              <p:cNvSpPr/>
              <p:nvPr/>
            </p:nvSpPr>
            <p:spPr>
              <a:xfrm>
                <a:off x="632" y="2585"/>
                <a:ext cx="684"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sp>
          <p:nvSpPr>
            <p:cNvPr id="9933" name="Google Shape;9933;p123"/>
            <p:cNvSpPr/>
            <p:nvPr/>
          </p:nvSpPr>
          <p:spPr>
            <a:xfrm>
              <a:off x="4221" y="1021"/>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nvGrpSpPr>
            <p:cNvPr id="9934" name="Google Shape;9934;p123"/>
            <p:cNvGrpSpPr/>
            <p:nvPr/>
          </p:nvGrpSpPr>
          <p:grpSpPr>
            <a:xfrm>
              <a:off x="4748" y="997"/>
              <a:ext cx="581" cy="131"/>
              <a:chOff x="615" y="2571"/>
              <a:chExt cx="725" cy="136"/>
            </a:xfrm>
          </p:grpSpPr>
          <p:sp>
            <p:nvSpPr>
              <p:cNvPr id="9935" name="Google Shape;9935;p123"/>
              <p:cNvSpPr/>
              <p:nvPr/>
            </p:nvSpPr>
            <p:spPr>
              <a:xfrm>
                <a:off x="615" y="2571"/>
                <a:ext cx="725" cy="13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936" name="Google Shape;9936;p123"/>
              <p:cNvSpPr/>
              <p:nvPr/>
            </p:nvSpPr>
            <p:spPr>
              <a:xfrm>
                <a:off x="622" y="2589"/>
                <a:ext cx="698" cy="9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sp>
          <p:nvSpPr>
            <p:cNvPr id="9937" name="Google Shape;9937;p123"/>
            <p:cNvSpPr/>
            <p:nvPr/>
          </p:nvSpPr>
          <p:spPr>
            <a:xfrm>
              <a:off x="4221" y="1355"/>
              <a:ext cx="592"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938" name="Google Shape;9938;p123"/>
            <p:cNvSpPr/>
            <p:nvPr/>
          </p:nvSpPr>
          <p:spPr>
            <a:xfrm>
              <a:off x="4226" y="1654"/>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nvGrpSpPr>
            <p:cNvPr id="9939" name="Google Shape;9939;p123"/>
            <p:cNvGrpSpPr/>
            <p:nvPr/>
          </p:nvGrpSpPr>
          <p:grpSpPr>
            <a:xfrm>
              <a:off x="4737" y="1636"/>
              <a:ext cx="576" cy="143"/>
              <a:chOff x="616" y="2576"/>
              <a:chExt cx="717" cy="132"/>
            </a:xfrm>
          </p:grpSpPr>
          <p:sp>
            <p:nvSpPr>
              <p:cNvPr id="9940" name="Google Shape;9940;p123"/>
              <p:cNvSpPr/>
              <p:nvPr/>
            </p:nvSpPr>
            <p:spPr>
              <a:xfrm>
                <a:off x="616" y="2576"/>
                <a:ext cx="717" cy="13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941" name="Google Shape;9941;p123"/>
              <p:cNvSpPr/>
              <p:nvPr/>
            </p:nvSpPr>
            <p:spPr>
              <a:xfrm>
                <a:off x="630" y="2587"/>
                <a:ext cx="683"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sp>
          <p:nvSpPr>
            <p:cNvPr id="9942" name="Google Shape;9942;p12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9943" name="Google Shape;9943;p123"/>
            <p:cNvGrpSpPr/>
            <p:nvPr/>
          </p:nvGrpSpPr>
          <p:grpSpPr>
            <a:xfrm>
              <a:off x="4737" y="1325"/>
              <a:ext cx="586" cy="143"/>
              <a:chOff x="611" y="2566"/>
              <a:chExt cx="730" cy="143"/>
            </a:xfrm>
          </p:grpSpPr>
          <p:sp>
            <p:nvSpPr>
              <p:cNvPr id="9944" name="Google Shape;9944;p123"/>
              <p:cNvSpPr/>
              <p:nvPr/>
            </p:nvSpPr>
            <p:spPr>
              <a:xfrm>
                <a:off x="611" y="2566"/>
                <a:ext cx="730" cy="14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945" name="Google Shape;9945;p123"/>
              <p:cNvSpPr/>
              <p:nvPr/>
            </p:nvSpPr>
            <p:spPr>
              <a:xfrm>
                <a:off x="631" y="2584"/>
                <a:ext cx="690"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sp>
          <p:nvSpPr>
            <p:cNvPr id="9946" name="Google Shape;9946;p123"/>
            <p:cNvSpPr/>
            <p:nvPr/>
          </p:nvSpPr>
          <p:spPr>
            <a:xfrm>
              <a:off x="5248" y="429"/>
              <a:ext cx="70"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947" name="Google Shape;9947;p12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48" name="Google Shape;9948;p12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49" name="Google Shape;9949;p123"/>
            <p:cNvSpPr/>
            <p:nvPr/>
          </p:nvSpPr>
          <p:spPr>
            <a:xfrm>
              <a:off x="5517" y="2610"/>
              <a:ext cx="48"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950" name="Google Shape;9950;p12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51" name="Google Shape;9951;p123"/>
            <p:cNvSpPr/>
            <p:nvPr/>
          </p:nvSpPr>
          <p:spPr>
            <a:xfrm>
              <a:off x="4140" y="2682"/>
              <a:ext cx="1199" cy="143"/>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952" name="Google Shape;9952;p123"/>
            <p:cNvSpPr/>
            <p:nvPr/>
          </p:nvSpPr>
          <p:spPr>
            <a:xfrm>
              <a:off x="4205" y="2711"/>
              <a:ext cx="1070"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953" name="Google Shape;9953;p123"/>
            <p:cNvSpPr/>
            <p:nvPr/>
          </p:nvSpPr>
          <p:spPr>
            <a:xfrm>
              <a:off x="4307" y="2383"/>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954" name="Google Shape;9954;p123"/>
            <p:cNvSpPr/>
            <p:nvPr/>
          </p:nvSpPr>
          <p:spPr>
            <a:xfrm>
              <a:off x="4484" y="2383"/>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33CC"/>
                </a:buClr>
                <a:buSzPts val="1530"/>
                <a:buFont typeface="Arial"/>
                <a:buNone/>
              </a:pPr>
              <a:r>
                <a:t/>
              </a:r>
              <a:endParaRPr b="0" i="0" sz="1800" u="none" cap="none" strike="noStrike">
                <a:solidFill>
                  <a:srgbClr val="FF0000"/>
                </a:solidFill>
                <a:latin typeface="Arial"/>
                <a:ea typeface="Arial"/>
                <a:cs typeface="Arial"/>
                <a:sym typeface="Arial"/>
              </a:endParaRPr>
            </a:p>
          </p:txBody>
        </p:sp>
        <p:sp>
          <p:nvSpPr>
            <p:cNvPr id="9955" name="Google Shape;9955;p123"/>
            <p:cNvSpPr/>
            <p:nvPr/>
          </p:nvSpPr>
          <p:spPr>
            <a:xfrm>
              <a:off x="4662" y="2383"/>
              <a:ext cx="156" cy="13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956" name="Google Shape;9956;p123"/>
            <p:cNvSpPr/>
            <p:nvPr/>
          </p:nvSpPr>
          <p:spPr>
            <a:xfrm>
              <a:off x="5060" y="1833"/>
              <a:ext cx="86" cy="765"/>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grpSp>
        <p:nvGrpSpPr>
          <p:cNvPr id="9957" name="Google Shape;9957;p123"/>
          <p:cNvGrpSpPr/>
          <p:nvPr/>
        </p:nvGrpSpPr>
        <p:grpSpPr>
          <a:xfrm>
            <a:off x="8281194" y="5430326"/>
            <a:ext cx="344487" cy="638175"/>
            <a:chOff x="4140" y="429"/>
            <a:chExt cx="1425" cy="2396"/>
          </a:xfrm>
        </p:grpSpPr>
        <p:sp>
          <p:nvSpPr>
            <p:cNvPr id="9958" name="Google Shape;9958;p12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59" name="Google Shape;9959;p123"/>
            <p:cNvSpPr/>
            <p:nvPr/>
          </p:nvSpPr>
          <p:spPr>
            <a:xfrm>
              <a:off x="4206" y="429"/>
              <a:ext cx="1044"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60" name="Google Shape;9960;p12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61" name="Google Shape;9961;p12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62" name="Google Shape;9962;p123"/>
            <p:cNvSpPr/>
            <p:nvPr/>
          </p:nvSpPr>
          <p:spPr>
            <a:xfrm>
              <a:off x="4212" y="691"/>
              <a:ext cx="598"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9963" name="Google Shape;9963;p123"/>
            <p:cNvGrpSpPr/>
            <p:nvPr/>
          </p:nvGrpSpPr>
          <p:grpSpPr>
            <a:xfrm>
              <a:off x="4751" y="667"/>
              <a:ext cx="578" cy="131"/>
              <a:chOff x="616" y="2567"/>
              <a:chExt cx="721" cy="126"/>
            </a:xfrm>
          </p:grpSpPr>
          <p:sp>
            <p:nvSpPr>
              <p:cNvPr id="9964" name="Google Shape;9964;p123"/>
              <p:cNvSpPr/>
              <p:nvPr/>
            </p:nvSpPr>
            <p:spPr>
              <a:xfrm>
                <a:off x="616" y="2567"/>
                <a:ext cx="721" cy="12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65" name="Google Shape;9965;p123"/>
              <p:cNvSpPr/>
              <p:nvPr/>
            </p:nvSpPr>
            <p:spPr>
              <a:xfrm>
                <a:off x="633" y="2585"/>
                <a:ext cx="688"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9966" name="Google Shape;9966;p123"/>
            <p:cNvSpPr/>
            <p:nvPr/>
          </p:nvSpPr>
          <p:spPr>
            <a:xfrm>
              <a:off x="4225" y="1019"/>
              <a:ext cx="591"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9967" name="Google Shape;9967;p123"/>
            <p:cNvGrpSpPr/>
            <p:nvPr/>
          </p:nvGrpSpPr>
          <p:grpSpPr>
            <a:xfrm>
              <a:off x="4744" y="995"/>
              <a:ext cx="584" cy="131"/>
              <a:chOff x="610" y="2569"/>
              <a:chExt cx="729" cy="136"/>
            </a:xfrm>
          </p:grpSpPr>
          <p:sp>
            <p:nvSpPr>
              <p:cNvPr id="9968" name="Google Shape;9968;p123"/>
              <p:cNvSpPr/>
              <p:nvPr/>
            </p:nvSpPr>
            <p:spPr>
              <a:xfrm>
                <a:off x="610" y="2569"/>
                <a:ext cx="729" cy="13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69" name="Google Shape;9969;p123"/>
              <p:cNvSpPr/>
              <p:nvPr/>
            </p:nvSpPr>
            <p:spPr>
              <a:xfrm>
                <a:off x="619" y="2588"/>
                <a:ext cx="697" cy="9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9970" name="Google Shape;9970;p123"/>
            <p:cNvSpPr/>
            <p:nvPr/>
          </p:nvSpPr>
          <p:spPr>
            <a:xfrm>
              <a:off x="4219" y="1359"/>
              <a:ext cx="591"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71" name="Google Shape;9971;p123"/>
            <p:cNvSpPr/>
            <p:nvPr/>
          </p:nvSpPr>
          <p:spPr>
            <a:xfrm>
              <a:off x="4225" y="1657"/>
              <a:ext cx="598"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9972" name="Google Shape;9972;p123"/>
            <p:cNvGrpSpPr/>
            <p:nvPr/>
          </p:nvGrpSpPr>
          <p:grpSpPr>
            <a:xfrm>
              <a:off x="4737" y="1627"/>
              <a:ext cx="572" cy="149"/>
              <a:chOff x="617" y="2568"/>
              <a:chExt cx="712" cy="137"/>
            </a:xfrm>
          </p:grpSpPr>
          <p:sp>
            <p:nvSpPr>
              <p:cNvPr id="9973" name="Google Shape;9973;p123"/>
              <p:cNvSpPr/>
              <p:nvPr/>
            </p:nvSpPr>
            <p:spPr>
              <a:xfrm>
                <a:off x="617" y="2568"/>
                <a:ext cx="712"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74" name="Google Shape;9974;p123"/>
              <p:cNvSpPr/>
              <p:nvPr/>
            </p:nvSpPr>
            <p:spPr>
              <a:xfrm>
                <a:off x="634" y="2584"/>
                <a:ext cx="679"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9975" name="Google Shape;9975;p12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9976" name="Google Shape;9976;p123"/>
            <p:cNvGrpSpPr/>
            <p:nvPr/>
          </p:nvGrpSpPr>
          <p:grpSpPr>
            <a:xfrm>
              <a:off x="4737" y="1329"/>
              <a:ext cx="584" cy="137"/>
              <a:chOff x="612" y="2570"/>
              <a:chExt cx="728" cy="137"/>
            </a:xfrm>
          </p:grpSpPr>
          <p:sp>
            <p:nvSpPr>
              <p:cNvPr id="9977" name="Google Shape;9977;p123"/>
              <p:cNvSpPr/>
              <p:nvPr/>
            </p:nvSpPr>
            <p:spPr>
              <a:xfrm>
                <a:off x="612" y="2570"/>
                <a:ext cx="728"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78" name="Google Shape;9978;p123"/>
              <p:cNvSpPr/>
              <p:nvPr/>
            </p:nvSpPr>
            <p:spPr>
              <a:xfrm>
                <a:off x="629" y="2588"/>
                <a:ext cx="69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9979" name="Google Shape;9979;p123"/>
            <p:cNvSpPr/>
            <p:nvPr/>
          </p:nvSpPr>
          <p:spPr>
            <a:xfrm>
              <a:off x="5250" y="429"/>
              <a:ext cx="66" cy="2289"/>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80" name="Google Shape;9980;p12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81" name="Google Shape;9981;p12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82" name="Google Shape;9982;p123"/>
            <p:cNvSpPr/>
            <p:nvPr/>
          </p:nvSpPr>
          <p:spPr>
            <a:xfrm>
              <a:off x="5519" y="2610"/>
              <a:ext cx="46"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83" name="Google Shape;9983;p12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84" name="Google Shape;9984;p123"/>
            <p:cNvSpPr/>
            <p:nvPr/>
          </p:nvSpPr>
          <p:spPr>
            <a:xfrm>
              <a:off x="4140" y="2682"/>
              <a:ext cx="1202" cy="143"/>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85" name="Google Shape;9985;p123"/>
            <p:cNvSpPr/>
            <p:nvPr/>
          </p:nvSpPr>
          <p:spPr>
            <a:xfrm>
              <a:off x="4206" y="2712"/>
              <a:ext cx="1070" cy="77"/>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86" name="Google Shape;9986;p123"/>
            <p:cNvSpPr/>
            <p:nvPr/>
          </p:nvSpPr>
          <p:spPr>
            <a:xfrm>
              <a:off x="4304" y="2384"/>
              <a:ext cx="164"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87" name="Google Shape;9987;p123"/>
            <p:cNvSpPr/>
            <p:nvPr/>
          </p:nvSpPr>
          <p:spPr>
            <a:xfrm>
              <a:off x="4488" y="2384"/>
              <a:ext cx="158"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33CC"/>
                </a:buClr>
                <a:buSzPts val="1700"/>
                <a:buFont typeface="Arial"/>
                <a:buNone/>
              </a:pPr>
              <a:r>
                <a:t/>
              </a:r>
              <a:endParaRPr b="0" i="0" sz="2000" u="none" cap="none" strike="noStrike">
                <a:solidFill>
                  <a:srgbClr val="FF0000"/>
                </a:solidFill>
                <a:latin typeface="Arial"/>
                <a:ea typeface="Arial"/>
                <a:cs typeface="Arial"/>
                <a:sym typeface="Arial"/>
              </a:endParaRPr>
            </a:p>
          </p:txBody>
        </p:sp>
        <p:sp>
          <p:nvSpPr>
            <p:cNvPr id="9988" name="Google Shape;9988;p123"/>
            <p:cNvSpPr/>
            <p:nvPr/>
          </p:nvSpPr>
          <p:spPr>
            <a:xfrm>
              <a:off x="4659" y="2378"/>
              <a:ext cx="158"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89" name="Google Shape;9989;p123"/>
            <p:cNvSpPr/>
            <p:nvPr/>
          </p:nvSpPr>
          <p:spPr>
            <a:xfrm>
              <a:off x="5059" y="1836"/>
              <a:ext cx="85" cy="763"/>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9990" name="Google Shape;9990;p123"/>
          <p:cNvGrpSpPr/>
          <p:nvPr/>
        </p:nvGrpSpPr>
        <p:grpSpPr>
          <a:xfrm>
            <a:off x="7550944" y="3671376"/>
            <a:ext cx="342900" cy="636587"/>
            <a:chOff x="4140" y="429"/>
            <a:chExt cx="1425" cy="2396"/>
          </a:xfrm>
        </p:grpSpPr>
        <p:sp>
          <p:nvSpPr>
            <p:cNvPr id="9991" name="Google Shape;9991;p12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92" name="Google Shape;9992;p123"/>
            <p:cNvSpPr/>
            <p:nvPr/>
          </p:nvSpPr>
          <p:spPr>
            <a:xfrm>
              <a:off x="4206" y="429"/>
              <a:ext cx="1049"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993" name="Google Shape;9993;p12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94" name="Google Shape;9994;p12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9995" name="Google Shape;9995;p123"/>
            <p:cNvSpPr/>
            <p:nvPr/>
          </p:nvSpPr>
          <p:spPr>
            <a:xfrm>
              <a:off x="4213" y="692"/>
              <a:ext cx="594"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nvGrpSpPr>
            <p:cNvPr id="9996" name="Google Shape;9996;p123"/>
            <p:cNvGrpSpPr/>
            <p:nvPr/>
          </p:nvGrpSpPr>
          <p:grpSpPr>
            <a:xfrm>
              <a:off x="4747" y="668"/>
              <a:ext cx="580" cy="143"/>
              <a:chOff x="611" y="2568"/>
              <a:chExt cx="724" cy="137"/>
            </a:xfrm>
          </p:grpSpPr>
          <p:sp>
            <p:nvSpPr>
              <p:cNvPr id="9997" name="Google Shape;9997;p123"/>
              <p:cNvSpPr/>
              <p:nvPr/>
            </p:nvSpPr>
            <p:spPr>
              <a:xfrm>
                <a:off x="611" y="2568"/>
                <a:ext cx="724"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9998" name="Google Shape;9998;p123"/>
              <p:cNvSpPr/>
              <p:nvPr/>
            </p:nvSpPr>
            <p:spPr>
              <a:xfrm>
                <a:off x="628" y="2585"/>
                <a:ext cx="692"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sp>
          <p:nvSpPr>
            <p:cNvPr id="9999" name="Google Shape;9999;p123"/>
            <p:cNvSpPr/>
            <p:nvPr/>
          </p:nvSpPr>
          <p:spPr>
            <a:xfrm>
              <a:off x="4226" y="1021"/>
              <a:ext cx="594"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nvGrpSpPr>
            <p:cNvPr id="10000" name="Google Shape;10000;p123"/>
            <p:cNvGrpSpPr/>
            <p:nvPr/>
          </p:nvGrpSpPr>
          <p:grpSpPr>
            <a:xfrm>
              <a:off x="4747" y="997"/>
              <a:ext cx="580" cy="131"/>
              <a:chOff x="614" y="2571"/>
              <a:chExt cx="724" cy="136"/>
            </a:xfrm>
          </p:grpSpPr>
          <p:sp>
            <p:nvSpPr>
              <p:cNvPr id="10001" name="Google Shape;10001;p123"/>
              <p:cNvSpPr/>
              <p:nvPr/>
            </p:nvSpPr>
            <p:spPr>
              <a:xfrm>
                <a:off x="614" y="2571"/>
                <a:ext cx="724" cy="13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02" name="Google Shape;10002;p123"/>
              <p:cNvSpPr/>
              <p:nvPr/>
            </p:nvSpPr>
            <p:spPr>
              <a:xfrm>
                <a:off x="622" y="2589"/>
                <a:ext cx="692" cy="9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sp>
          <p:nvSpPr>
            <p:cNvPr id="10003" name="Google Shape;10003;p123"/>
            <p:cNvSpPr/>
            <p:nvPr/>
          </p:nvSpPr>
          <p:spPr>
            <a:xfrm>
              <a:off x="4219" y="1355"/>
              <a:ext cx="594"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04" name="Google Shape;10004;p123"/>
            <p:cNvSpPr/>
            <p:nvPr/>
          </p:nvSpPr>
          <p:spPr>
            <a:xfrm>
              <a:off x="4226" y="1654"/>
              <a:ext cx="600"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nvGrpSpPr>
            <p:cNvPr id="10005" name="Google Shape;10005;p123"/>
            <p:cNvGrpSpPr/>
            <p:nvPr/>
          </p:nvGrpSpPr>
          <p:grpSpPr>
            <a:xfrm>
              <a:off x="4733" y="1636"/>
              <a:ext cx="574" cy="143"/>
              <a:chOff x="612" y="2576"/>
              <a:chExt cx="715" cy="132"/>
            </a:xfrm>
          </p:grpSpPr>
          <p:sp>
            <p:nvSpPr>
              <p:cNvPr id="10006" name="Google Shape;10006;p123"/>
              <p:cNvSpPr/>
              <p:nvPr/>
            </p:nvSpPr>
            <p:spPr>
              <a:xfrm>
                <a:off x="612" y="2576"/>
                <a:ext cx="715" cy="13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07" name="Google Shape;10007;p123"/>
              <p:cNvSpPr/>
              <p:nvPr/>
            </p:nvSpPr>
            <p:spPr>
              <a:xfrm>
                <a:off x="629" y="2587"/>
                <a:ext cx="68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sp>
          <p:nvSpPr>
            <p:cNvPr id="10008" name="Google Shape;10008;p12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nvGrpSpPr>
            <p:cNvPr id="10009" name="Google Shape;10009;p123"/>
            <p:cNvGrpSpPr/>
            <p:nvPr/>
          </p:nvGrpSpPr>
          <p:grpSpPr>
            <a:xfrm>
              <a:off x="4741" y="1325"/>
              <a:ext cx="580" cy="143"/>
              <a:chOff x="616" y="2566"/>
              <a:chExt cx="723" cy="143"/>
            </a:xfrm>
          </p:grpSpPr>
          <p:sp>
            <p:nvSpPr>
              <p:cNvPr id="10010" name="Google Shape;10010;p123"/>
              <p:cNvSpPr/>
              <p:nvPr/>
            </p:nvSpPr>
            <p:spPr>
              <a:xfrm>
                <a:off x="616" y="2566"/>
                <a:ext cx="723" cy="14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11" name="Google Shape;10011;p123"/>
              <p:cNvSpPr/>
              <p:nvPr/>
            </p:nvSpPr>
            <p:spPr>
              <a:xfrm>
                <a:off x="632" y="2584"/>
                <a:ext cx="690"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sp>
          <p:nvSpPr>
            <p:cNvPr id="10012" name="Google Shape;10012;p123"/>
            <p:cNvSpPr/>
            <p:nvPr/>
          </p:nvSpPr>
          <p:spPr>
            <a:xfrm>
              <a:off x="5248" y="429"/>
              <a:ext cx="66"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13" name="Google Shape;10013;p12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0014" name="Google Shape;10014;p12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0015" name="Google Shape;10015;p123"/>
            <p:cNvSpPr/>
            <p:nvPr/>
          </p:nvSpPr>
          <p:spPr>
            <a:xfrm>
              <a:off x="5519" y="2610"/>
              <a:ext cx="46"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16" name="Google Shape;10016;p12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0017" name="Google Shape;10017;p123"/>
            <p:cNvSpPr/>
            <p:nvPr/>
          </p:nvSpPr>
          <p:spPr>
            <a:xfrm>
              <a:off x="4140" y="2682"/>
              <a:ext cx="1201" cy="143"/>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18" name="Google Shape;10018;p123"/>
            <p:cNvSpPr/>
            <p:nvPr/>
          </p:nvSpPr>
          <p:spPr>
            <a:xfrm>
              <a:off x="4206" y="2711"/>
              <a:ext cx="1069"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19" name="Google Shape;10019;p123"/>
            <p:cNvSpPr/>
            <p:nvPr/>
          </p:nvSpPr>
          <p:spPr>
            <a:xfrm>
              <a:off x="4305" y="2383"/>
              <a:ext cx="165"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20" name="Google Shape;10020;p123"/>
            <p:cNvSpPr/>
            <p:nvPr/>
          </p:nvSpPr>
          <p:spPr>
            <a:xfrm>
              <a:off x="4483" y="2383"/>
              <a:ext cx="165"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33CC"/>
                </a:buClr>
                <a:buSzPts val="1530"/>
                <a:buFont typeface="Arial"/>
                <a:buNone/>
              </a:pPr>
              <a:r>
                <a:t/>
              </a:r>
              <a:endParaRPr b="0" i="0" sz="1800" u="none" cap="none" strike="noStrike">
                <a:solidFill>
                  <a:srgbClr val="FF0000"/>
                </a:solidFill>
                <a:latin typeface="Arial"/>
                <a:ea typeface="Arial"/>
                <a:cs typeface="Arial"/>
                <a:sym typeface="Arial"/>
              </a:endParaRPr>
            </a:p>
          </p:txBody>
        </p:sp>
        <p:sp>
          <p:nvSpPr>
            <p:cNvPr id="10021" name="Google Shape;10021;p123"/>
            <p:cNvSpPr/>
            <p:nvPr/>
          </p:nvSpPr>
          <p:spPr>
            <a:xfrm>
              <a:off x="4661" y="2383"/>
              <a:ext cx="158" cy="13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22" name="Google Shape;10022;p123"/>
            <p:cNvSpPr/>
            <p:nvPr/>
          </p:nvSpPr>
          <p:spPr>
            <a:xfrm>
              <a:off x="5064" y="1833"/>
              <a:ext cx="79" cy="765"/>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grpSp>
      <p:sp>
        <p:nvSpPr>
          <p:cNvPr id="10023" name="Google Shape;10023;p123"/>
          <p:cNvSpPr txBox="1"/>
          <p:nvPr/>
        </p:nvSpPr>
        <p:spPr>
          <a:xfrm>
            <a:off x="5607844" y="6073263"/>
            <a:ext cx="1420812"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3333CC"/>
              </a:buClr>
              <a:buSzPts val="1530"/>
              <a:buFont typeface="Arial"/>
              <a:buNone/>
            </a:pPr>
            <a:r>
              <a:rPr lang="en-US" sz="1800">
                <a:solidFill>
                  <a:srgbClr val="000000"/>
                </a:solidFill>
                <a:latin typeface="Arial Narrow"/>
                <a:ea typeface="Arial Narrow"/>
                <a:cs typeface="Arial Narrow"/>
                <a:sym typeface="Arial Narrow"/>
              </a:rPr>
              <a:t>KingCDN.com</a:t>
            </a:r>
            <a:endParaRPr i="1" sz="1800">
              <a:solidFill>
                <a:srgbClr val="000000"/>
              </a:solidFill>
              <a:latin typeface="Arial Narrow"/>
              <a:ea typeface="Arial Narrow"/>
              <a:cs typeface="Arial Narrow"/>
              <a:sym typeface="Arial Narrow"/>
            </a:endParaRPr>
          </a:p>
        </p:txBody>
      </p:sp>
      <p:pic>
        <p:nvPicPr>
          <p:cNvPr descr="Bob" id="10024" name="Google Shape;10024;p123"/>
          <p:cNvPicPr preferRelativeResize="0"/>
          <p:nvPr/>
        </p:nvPicPr>
        <p:blipFill rotWithShape="1">
          <a:blip r:embed="rId4">
            <a:alphaModFix/>
          </a:blip>
          <a:srcRect b="0" l="0" r="0" t="0"/>
          <a:stretch/>
        </p:blipFill>
        <p:spPr>
          <a:xfrm>
            <a:off x="6887369" y="2274376"/>
            <a:ext cx="533400" cy="544512"/>
          </a:xfrm>
          <a:prstGeom prst="rect">
            <a:avLst/>
          </a:prstGeom>
          <a:noFill/>
          <a:ln>
            <a:noFill/>
          </a:ln>
        </p:spPr>
      </p:pic>
      <p:grpSp>
        <p:nvGrpSpPr>
          <p:cNvPr id="10025" name="Google Shape;10025;p123"/>
          <p:cNvGrpSpPr/>
          <p:nvPr/>
        </p:nvGrpSpPr>
        <p:grpSpPr>
          <a:xfrm>
            <a:off x="4318794" y="2918901"/>
            <a:ext cx="1628775" cy="1063625"/>
            <a:chOff x="1490926" y="3037262"/>
            <a:chExt cx="1628976" cy="1063042"/>
          </a:xfrm>
        </p:grpSpPr>
        <p:cxnSp>
          <p:nvCxnSpPr>
            <p:cNvPr id="10026" name="Google Shape;10026;p123"/>
            <p:cNvCxnSpPr/>
            <p:nvPr/>
          </p:nvCxnSpPr>
          <p:spPr>
            <a:xfrm flipH="1">
              <a:off x="1490926" y="3037262"/>
              <a:ext cx="1628976" cy="1063042"/>
            </a:xfrm>
            <a:prstGeom prst="straightConnector1">
              <a:avLst/>
            </a:prstGeom>
            <a:noFill/>
            <a:ln cap="flat" cmpd="sng" w="25400">
              <a:solidFill>
                <a:srgbClr val="000000"/>
              </a:solidFill>
              <a:prstDash val="solid"/>
              <a:round/>
              <a:headEnd len="med" w="med" type="triangle"/>
              <a:tailEnd len="med" w="med" type="triangle"/>
            </a:ln>
          </p:spPr>
        </p:cxnSp>
        <p:grpSp>
          <p:nvGrpSpPr>
            <p:cNvPr id="10027" name="Google Shape;10027;p123"/>
            <p:cNvGrpSpPr/>
            <p:nvPr/>
          </p:nvGrpSpPr>
          <p:grpSpPr>
            <a:xfrm>
              <a:off x="2056927" y="3410016"/>
              <a:ext cx="317511" cy="345125"/>
              <a:chOff x="7454630" y="3313376"/>
              <a:chExt cx="317511" cy="345125"/>
            </a:xfrm>
          </p:grpSpPr>
          <p:sp>
            <p:nvSpPr>
              <p:cNvPr id="10028" name="Google Shape;10028;p123"/>
              <p:cNvSpPr/>
              <p:nvPr/>
            </p:nvSpPr>
            <p:spPr>
              <a:xfrm>
                <a:off x="7468434" y="3354794"/>
                <a:ext cx="303707" cy="303707"/>
              </a:xfrm>
              <a:prstGeom prst="ellipse">
                <a:avLst/>
              </a:prstGeom>
              <a:solidFill>
                <a:srgbClr val="FFFFFF"/>
              </a:solidFill>
              <a:ln cap="flat" cmpd="sng" w="158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29" name="Google Shape;10029;p123"/>
              <p:cNvSpPr txBox="1"/>
              <p:nvPr/>
            </p:nvSpPr>
            <p:spPr>
              <a:xfrm>
                <a:off x="7454630" y="3313376"/>
                <a:ext cx="298817" cy="3383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a:ea typeface="Arial"/>
                    <a:cs typeface="Arial"/>
                    <a:sym typeface="Arial"/>
                  </a:rPr>
                  <a:t>1</a:t>
                </a:r>
                <a:endParaRPr/>
              </a:p>
            </p:txBody>
          </p:sp>
        </p:grpSp>
      </p:grpSp>
      <p:sp>
        <p:nvSpPr>
          <p:cNvPr id="10030" name="Google Shape;10030;p123"/>
          <p:cNvSpPr txBox="1"/>
          <p:nvPr/>
        </p:nvSpPr>
        <p:spPr>
          <a:xfrm>
            <a:off x="3091656" y="2344226"/>
            <a:ext cx="2862263" cy="857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3333CC"/>
              </a:buClr>
              <a:buSzPts val="1360"/>
              <a:buFont typeface="Arial"/>
              <a:buNone/>
            </a:pPr>
            <a:r>
              <a:rPr lang="en-US" sz="1600">
                <a:solidFill>
                  <a:srgbClr val="000000"/>
                </a:solidFill>
                <a:latin typeface="Arial Narrow"/>
                <a:ea typeface="Arial Narrow"/>
                <a:cs typeface="Arial Narrow"/>
                <a:sym typeface="Arial Narrow"/>
              </a:rPr>
              <a:t>1. Bob gets URL for video http://netcinema.com/6Y7B23V</a:t>
            </a:r>
            <a:endParaRPr/>
          </a:p>
          <a:p>
            <a:pPr indent="0" lvl="0" marL="0" marR="0" rtl="0" algn="l">
              <a:spcBef>
                <a:spcPts val="200"/>
              </a:spcBef>
              <a:spcAft>
                <a:spcPts val="0"/>
              </a:spcAft>
              <a:buClr>
                <a:srgbClr val="3333CC"/>
              </a:buClr>
              <a:buSzPts val="1360"/>
              <a:buFont typeface="Arial"/>
              <a:buNone/>
            </a:pPr>
            <a:r>
              <a:rPr lang="en-US" sz="1600">
                <a:solidFill>
                  <a:srgbClr val="000000"/>
                </a:solidFill>
                <a:latin typeface="Arial Narrow"/>
                <a:ea typeface="Arial Narrow"/>
                <a:cs typeface="Arial Narrow"/>
                <a:sym typeface="Arial Narrow"/>
              </a:rPr>
              <a:t>from netcinema.com web page</a:t>
            </a:r>
            <a:endParaRPr/>
          </a:p>
        </p:txBody>
      </p:sp>
      <p:grpSp>
        <p:nvGrpSpPr>
          <p:cNvPr id="10031" name="Google Shape;10031;p123"/>
          <p:cNvGrpSpPr/>
          <p:nvPr/>
        </p:nvGrpSpPr>
        <p:grpSpPr>
          <a:xfrm>
            <a:off x="6747669" y="3107813"/>
            <a:ext cx="714375" cy="684213"/>
            <a:chOff x="3924463" y="3239045"/>
            <a:chExt cx="713539" cy="684908"/>
          </a:xfrm>
        </p:grpSpPr>
        <p:cxnSp>
          <p:nvCxnSpPr>
            <p:cNvPr id="10032" name="Google Shape;10032;p123"/>
            <p:cNvCxnSpPr/>
            <p:nvPr/>
          </p:nvCxnSpPr>
          <p:spPr>
            <a:xfrm>
              <a:off x="3924463" y="3239045"/>
              <a:ext cx="713539" cy="684908"/>
            </a:xfrm>
            <a:prstGeom prst="straightConnector1">
              <a:avLst/>
            </a:prstGeom>
            <a:noFill/>
            <a:ln cap="flat" cmpd="sng" w="25400">
              <a:solidFill>
                <a:srgbClr val="000000"/>
              </a:solidFill>
              <a:prstDash val="solid"/>
              <a:round/>
              <a:headEnd len="med" w="med" type="none"/>
              <a:tailEnd len="med" w="med" type="triangle"/>
            </a:ln>
          </p:spPr>
        </p:cxnSp>
        <p:grpSp>
          <p:nvGrpSpPr>
            <p:cNvPr id="10033" name="Google Shape;10033;p123"/>
            <p:cNvGrpSpPr/>
            <p:nvPr/>
          </p:nvGrpSpPr>
          <p:grpSpPr>
            <a:xfrm>
              <a:off x="4061324" y="3293627"/>
              <a:ext cx="322117" cy="358925"/>
              <a:chOff x="7408615" y="3244352"/>
              <a:chExt cx="322117" cy="358925"/>
            </a:xfrm>
          </p:grpSpPr>
          <p:sp>
            <p:nvSpPr>
              <p:cNvPr id="10034" name="Google Shape;10034;p123"/>
              <p:cNvSpPr/>
              <p:nvPr/>
            </p:nvSpPr>
            <p:spPr>
              <a:xfrm>
                <a:off x="7427025" y="3299570"/>
                <a:ext cx="303707" cy="303707"/>
              </a:xfrm>
              <a:prstGeom prst="ellipse">
                <a:avLst/>
              </a:prstGeom>
              <a:solidFill>
                <a:srgbClr val="FFFFFF"/>
              </a:solidFill>
              <a:ln cap="flat" cmpd="sng" w="158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35" name="Google Shape;10035;p123"/>
              <p:cNvSpPr txBox="1"/>
              <p:nvPr/>
            </p:nvSpPr>
            <p:spPr>
              <a:xfrm>
                <a:off x="7408615" y="3244352"/>
                <a:ext cx="298431" cy="3388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a:ea typeface="Arial"/>
                    <a:cs typeface="Arial"/>
                    <a:sym typeface="Arial"/>
                  </a:rPr>
                  <a:t>2</a:t>
                </a:r>
                <a:endParaRPr/>
              </a:p>
            </p:txBody>
          </p:sp>
        </p:grpSp>
      </p:grpSp>
      <p:sp>
        <p:nvSpPr>
          <p:cNvPr id="10036" name="Google Shape;10036;p123"/>
          <p:cNvSpPr txBox="1"/>
          <p:nvPr/>
        </p:nvSpPr>
        <p:spPr>
          <a:xfrm>
            <a:off x="7200106" y="2863338"/>
            <a:ext cx="3849688" cy="55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1360"/>
              <a:buFont typeface="Arial"/>
              <a:buNone/>
            </a:pPr>
            <a:r>
              <a:rPr lang="en-US" sz="1600">
                <a:solidFill>
                  <a:srgbClr val="000000"/>
                </a:solidFill>
                <a:latin typeface="Arial Narrow"/>
                <a:ea typeface="Arial Narrow"/>
                <a:cs typeface="Arial Narrow"/>
                <a:sym typeface="Arial Narrow"/>
              </a:rPr>
              <a:t>2. resolve http://netcinema.com/6Y7B23V</a:t>
            </a:r>
            <a:endParaRPr/>
          </a:p>
          <a:p>
            <a:pPr indent="0" lvl="0" marL="0" marR="0" rtl="0" algn="l">
              <a:lnSpc>
                <a:spcPct val="100000"/>
              </a:lnSpc>
              <a:spcBef>
                <a:spcPts val="320"/>
              </a:spcBef>
              <a:spcAft>
                <a:spcPts val="0"/>
              </a:spcAft>
              <a:buClr>
                <a:srgbClr val="3333CC"/>
              </a:buClr>
              <a:buSzPts val="1360"/>
              <a:buFont typeface="Arial"/>
              <a:buNone/>
            </a:pPr>
            <a:r>
              <a:rPr lang="en-US" sz="1600">
                <a:solidFill>
                  <a:srgbClr val="000000"/>
                </a:solidFill>
                <a:latin typeface="Arial Narrow"/>
                <a:ea typeface="Arial Narrow"/>
                <a:cs typeface="Arial Narrow"/>
                <a:sym typeface="Arial Narrow"/>
              </a:rPr>
              <a:t>via Bob’s local DNS</a:t>
            </a:r>
            <a:endParaRPr/>
          </a:p>
        </p:txBody>
      </p:sp>
      <p:sp>
        <p:nvSpPr>
          <p:cNvPr id="10037" name="Google Shape;10037;p123"/>
          <p:cNvSpPr txBox="1"/>
          <p:nvPr/>
        </p:nvSpPr>
        <p:spPr>
          <a:xfrm>
            <a:off x="3183731" y="5809738"/>
            <a:ext cx="1768475" cy="569913"/>
          </a:xfrm>
          <a:prstGeom prst="rect">
            <a:avLst/>
          </a:prstGeom>
          <a:noFill/>
          <a:ln>
            <a:noFill/>
          </a:ln>
        </p:spPr>
        <p:txBody>
          <a:bodyPr anchorCtr="0" anchor="t" bIns="45700" lIns="91425" spcFirstLastPara="1" rIns="91425" wrap="square" tIns="45700">
            <a:spAutoFit/>
          </a:bodyPr>
          <a:lstStyle/>
          <a:p>
            <a:pPr indent="0" lvl="0" marL="0" marR="0" rtl="0" algn="ctr">
              <a:lnSpc>
                <a:spcPct val="88888"/>
              </a:lnSpc>
              <a:spcBef>
                <a:spcPts val="0"/>
              </a:spcBef>
              <a:spcAft>
                <a:spcPts val="0"/>
              </a:spcAft>
              <a:buClr>
                <a:srgbClr val="3333CC"/>
              </a:buClr>
              <a:buSzPts val="1530"/>
              <a:buFont typeface="Arial"/>
              <a:buNone/>
            </a:pPr>
            <a:r>
              <a:rPr lang="en-US" sz="1800">
                <a:solidFill>
                  <a:srgbClr val="000000"/>
                </a:solidFill>
                <a:latin typeface="Arial Narrow"/>
                <a:ea typeface="Arial Narrow"/>
                <a:cs typeface="Arial Narrow"/>
                <a:sym typeface="Arial Narrow"/>
              </a:rPr>
              <a:t>netcinema’s</a:t>
            </a:r>
            <a:endParaRPr/>
          </a:p>
          <a:p>
            <a:pPr indent="0" lvl="0" marL="0" marR="0" rtl="0" algn="ctr">
              <a:lnSpc>
                <a:spcPct val="88888"/>
              </a:lnSpc>
              <a:spcBef>
                <a:spcPts val="360"/>
              </a:spcBef>
              <a:spcAft>
                <a:spcPts val="0"/>
              </a:spcAft>
              <a:buClr>
                <a:srgbClr val="3333CC"/>
              </a:buClr>
              <a:buSzPts val="1530"/>
              <a:buFont typeface="Arial"/>
              <a:buNone/>
            </a:pPr>
            <a:r>
              <a:rPr lang="en-US" sz="1800">
                <a:solidFill>
                  <a:srgbClr val="000000"/>
                </a:solidFill>
                <a:latin typeface="Arial Narrow"/>
                <a:ea typeface="Arial Narrow"/>
                <a:cs typeface="Arial Narrow"/>
                <a:sym typeface="Arial Narrow"/>
              </a:rPr>
              <a:t>authoratative DNS</a:t>
            </a:r>
            <a:endParaRPr i="1" sz="1800">
              <a:solidFill>
                <a:srgbClr val="000000"/>
              </a:solidFill>
              <a:latin typeface="Arial Narrow"/>
              <a:ea typeface="Arial Narrow"/>
              <a:cs typeface="Arial Narrow"/>
              <a:sym typeface="Arial Narrow"/>
            </a:endParaRPr>
          </a:p>
        </p:txBody>
      </p:sp>
      <p:cxnSp>
        <p:nvCxnSpPr>
          <p:cNvPr id="10038" name="Google Shape;10038;p123"/>
          <p:cNvCxnSpPr/>
          <p:nvPr/>
        </p:nvCxnSpPr>
        <p:spPr>
          <a:xfrm flipH="1">
            <a:off x="4441031" y="4041263"/>
            <a:ext cx="3100388" cy="1376363"/>
          </a:xfrm>
          <a:prstGeom prst="straightConnector1">
            <a:avLst/>
          </a:prstGeom>
          <a:noFill/>
          <a:ln cap="flat" cmpd="sng" w="25400">
            <a:solidFill>
              <a:srgbClr val="000000"/>
            </a:solidFill>
            <a:prstDash val="solid"/>
            <a:round/>
            <a:headEnd len="med" w="med" type="none"/>
            <a:tailEnd len="med" w="med" type="triangle"/>
          </a:ln>
        </p:spPr>
      </p:cxnSp>
      <p:cxnSp>
        <p:nvCxnSpPr>
          <p:cNvPr id="10039" name="Google Shape;10039;p123"/>
          <p:cNvCxnSpPr/>
          <p:nvPr/>
        </p:nvCxnSpPr>
        <p:spPr>
          <a:xfrm flipH="1">
            <a:off x="4421981" y="4150801"/>
            <a:ext cx="3100388" cy="1376362"/>
          </a:xfrm>
          <a:prstGeom prst="straightConnector1">
            <a:avLst/>
          </a:prstGeom>
          <a:noFill/>
          <a:ln cap="flat" cmpd="sng" w="25400">
            <a:solidFill>
              <a:srgbClr val="000000"/>
            </a:solidFill>
            <a:prstDash val="solid"/>
            <a:round/>
            <a:headEnd len="med" w="med" type="triangle"/>
            <a:tailEnd len="med" w="med" type="none"/>
          </a:ln>
        </p:spPr>
      </p:cxnSp>
      <p:grpSp>
        <p:nvGrpSpPr>
          <p:cNvPr id="10040" name="Google Shape;10040;p123"/>
          <p:cNvGrpSpPr/>
          <p:nvPr/>
        </p:nvGrpSpPr>
        <p:grpSpPr>
          <a:xfrm>
            <a:off x="4666456" y="5100126"/>
            <a:ext cx="317500" cy="344487"/>
            <a:chOff x="7454630" y="3313376"/>
            <a:chExt cx="317511" cy="345125"/>
          </a:xfrm>
        </p:grpSpPr>
        <p:sp>
          <p:nvSpPr>
            <p:cNvPr id="10041" name="Google Shape;10041;p123"/>
            <p:cNvSpPr/>
            <p:nvPr/>
          </p:nvSpPr>
          <p:spPr>
            <a:xfrm>
              <a:off x="7468434" y="3354794"/>
              <a:ext cx="303707" cy="303707"/>
            </a:xfrm>
            <a:prstGeom prst="ellipse">
              <a:avLst/>
            </a:prstGeom>
            <a:solidFill>
              <a:srgbClr val="FFFFFF"/>
            </a:solidFill>
            <a:ln cap="flat" cmpd="sng" w="158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42" name="Google Shape;10042;p123"/>
            <p:cNvSpPr txBox="1"/>
            <p:nvPr/>
          </p:nvSpPr>
          <p:spPr>
            <a:xfrm>
              <a:off x="7454630" y="3313376"/>
              <a:ext cx="298790" cy="3395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a:ea typeface="Arial"/>
                  <a:cs typeface="Arial"/>
                  <a:sym typeface="Arial"/>
                </a:rPr>
                <a:t>3</a:t>
              </a:r>
              <a:endParaRPr/>
            </a:p>
          </p:txBody>
        </p:sp>
      </p:grpSp>
      <p:sp>
        <p:nvSpPr>
          <p:cNvPr id="10043" name="Google Shape;10043;p123"/>
          <p:cNvSpPr txBox="1"/>
          <p:nvPr/>
        </p:nvSpPr>
        <p:spPr>
          <a:xfrm>
            <a:off x="4636294" y="4474651"/>
            <a:ext cx="3200400" cy="569912"/>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Narrow"/>
                <a:ea typeface="Arial Narrow"/>
                <a:cs typeface="Arial Narrow"/>
                <a:sym typeface="Arial Narrow"/>
              </a:rPr>
              <a:t>3. netcinema’s DNS returns CNAME for </a:t>
            </a:r>
            <a:endParaRPr/>
          </a:p>
          <a:p>
            <a:pPr indent="0" lvl="0" marL="0" marR="0" rtl="0" algn="l">
              <a:lnSpc>
                <a:spcPct val="88888"/>
              </a:lnSpc>
              <a:spcBef>
                <a:spcPts val="360"/>
              </a:spcBef>
              <a:spcAft>
                <a:spcPts val="0"/>
              </a:spcAft>
              <a:buClr>
                <a:srgbClr val="3333CC"/>
              </a:buClr>
              <a:buSzPts val="1360"/>
              <a:buFont typeface="Arial"/>
              <a:buNone/>
            </a:pPr>
            <a:r>
              <a:rPr b="0" i="0" lang="en-US" sz="1600" u="none" cap="none" strike="noStrike">
                <a:solidFill>
                  <a:srgbClr val="000000"/>
                </a:solidFill>
                <a:latin typeface="Arial Narrow"/>
                <a:ea typeface="Arial Narrow"/>
                <a:cs typeface="Arial Narrow"/>
                <a:sym typeface="Arial Narrow"/>
              </a:rPr>
              <a:t>http://KingCDN.com/NetC6y&amp;B</a:t>
            </a:r>
            <a:r>
              <a:rPr b="0" i="0" lang="en-US" sz="1800" u="none" cap="none" strike="noStrike">
                <a:solidFill>
                  <a:srgbClr val="000000"/>
                </a:solidFill>
                <a:latin typeface="Arial Narrow"/>
                <a:ea typeface="Arial Narrow"/>
                <a:cs typeface="Arial Narrow"/>
                <a:sym typeface="Arial Narrow"/>
              </a:rPr>
              <a:t>23V</a:t>
            </a:r>
            <a:endParaRPr/>
          </a:p>
        </p:txBody>
      </p:sp>
      <p:cxnSp>
        <p:nvCxnSpPr>
          <p:cNvPr id="10044" name="Google Shape;10044;p123"/>
          <p:cNvCxnSpPr/>
          <p:nvPr/>
        </p:nvCxnSpPr>
        <p:spPr>
          <a:xfrm>
            <a:off x="7860506" y="4357176"/>
            <a:ext cx="447675" cy="962025"/>
          </a:xfrm>
          <a:prstGeom prst="straightConnector1">
            <a:avLst/>
          </a:prstGeom>
          <a:noFill/>
          <a:ln cap="flat" cmpd="sng" w="25400">
            <a:solidFill>
              <a:srgbClr val="000000"/>
            </a:solidFill>
            <a:prstDash val="solid"/>
            <a:round/>
            <a:headEnd len="med" w="med" type="none"/>
            <a:tailEnd len="med" w="med" type="triangle"/>
          </a:ln>
        </p:spPr>
      </p:cxnSp>
      <p:cxnSp>
        <p:nvCxnSpPr>
          <p:cNvPr id="10045" name="Google Shape;10045;p123"/>
          <p:cNvCxnSpPr/>
          <p:nvPr/>
        </p:nvCxnSpPr>
        <p:spPr>
          <a:xfrm>
            <a:off x="7955756" y="4368288"/>
            <a:ext cx="447675" cy="960438"/>
          </a:xfrm>
          <a:prstGeom prst="straightConnector1">
            <a:avLst/>
          </a:prstGeom>
          <a:noFill/>
          <a:ln cap="flat" cmpd="sng" w="25400">
            <a:solidFill>
              <a:srgbClr val="000000"/>
            </a:solidFill>
            <a:prstDash val="solid"/>
            <a:round/>
            <a:headEnd len="med" w="med" type="triangle"/>
            <a:tailEnd len="med" w="med" type="none"/>
          </a:ln>
        </p:spPr>
      </p:cxnSp>
      <p:grpSp>
        <p:nvGrpSpPr>
          <p:cNvPr id="10046" name="Google Shape;10046;p123"/>
          <p:cNvGrpSpPr/>
          <p:nvPr/>
        </p:nvGrpSpPr>
        <p:grpSpPr>
          <a:xfrm>
            <a:off x="7944644" y="4609588"/>
            <a:ext cx="317500" cy="346075"/>
            <a:chOff x="7454630" y="3313376"/>
            <a:chExt cx="317511" cy="345125"/>
          </a:xfrm>
        </p:grpSpPr>
        <p:sp>
          <p:nvSpPr>
            <p:cNvPr id="10047" name="Google Shape;10047;p123"/>
            <p:cNvSpPr/>
            <p:nvPr/>
          </p:nvSpPr>
          <p:spPr>
            <a:xfrm>
              <a:off x="7468434" y="3354794"/>
              <a:ext cx="303707" cy="303707"/>
            </a:xfrm>
            <a:prstGeom prst="ellipse">
              <a:avLst/>
            </a:prstGeom>
            <a:solidFill>
              <a:srgbClr val="FFFFFF"/>
            </a:solidFill>
            <a:ln cap="flat" cmpd="sng" w="158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48" name="Google Shape;10048;p123"/>
            <p:cNvSpPr txBox="1"/>
            <p:nvPr/>
          </p:nvSpPr>
          <p:spPr>
            <a:xfrm>
              <a:off x="7454630" y="3313376"/>
              <a:ext cx="298790" cy="3380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a:ea typeface="Arial"/>
                  <a:cs typeface="Arial"/>
                  <a:sym typeface="Arial"/>
                </a:rPr>
                <a:t>4</a:t>
              </a:r>
              <a:endParaRPr/>
            </a:p>
          </p:txBody>
        </p:sp>
      </p:grpSp>
      <p:cxnSp>
        <p:nvCxnSpPr>
          <p:cNvPr id="10049" name="Google Shape;10049;p123"/>
          <p:cNvCxnSpPr/>
          <p:nvPr/>
        </p:nvCxnSpPr>
        <p:spPr>
          <a:xfrm>
            <a:off x="6611144" y="3204651"/>
            <a:ext cx="812800" cy="822325"/>
          </a:xfrm>
          <a:prstGeom prst="straightConnector1">
            <a:avLst/>
          </a:prstGeom>
          <a:noFill/>
          <a:ln cap="flat" cmpd="sng" w="25400">
            <a:solidFill>
              <a:srgbClr val="000000"/>
            </a:solidFill>
            <a:prstDash val="solid"/>
            <a:round/>
            <a:headEnd len="med" w="med" type="triangle"/>
            <a:tailEnd len="med" w="med" type="none"/>
          </a:ln>
        </p:spPr>
      </p:cxnSp>
      <p:grpSp>
        <p:nvGrpSpPr>
          <p:cNvPr id="10050" name="Google Shape;10050;p123"/>
          <p:cNvGrpSpPr/>
          <p:nvPr/>
        </p:nvGrpSpPr>
        <p:grpSpPr>
          <a:xfrm>
            <a:off x="6982619" y="3549138"/>
            <a:ext cx="317500" cy="346075"/>
            <a:chOff x="7454630" y="3313376"/>
            <a:chExt cx="317511" cy="345125"/>
          </a:xfrm>
        </p:grpSpPr>
        <p:sp>
          <p:nvSpPr>
            <p:cNvPr id="10051" name="Google Shape;10051;p123"/>
            <p:cNvSpPr/>
            <p:nvPr/>
          </p:nvSpPr>
          <p:spPr>
            <a:xfrm>
              <a:off x="7468434" y="3354794"/>
              <a:ext cx="303707" cy="303707"/>
            </a:xfrm>
            <a:prstGeom prst="ellipse">
              <a:avLst/>
            </a:prstGeom>
            <a:solidFill>
              <a:srgbClr val="FFFFFF"/>
            </a:solidFill>
            <a:ln cap="flat" cmpd="sng" w="158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530"/>
                <a:buFont typeface="Arial"/>
                <a:buNone/>
              </a:pPr>
              <a:r>
                <a:t/>
              </a:r>
              <a:endParaRPr b="0" i="0" sz="1800" u="none" cap="none" strike="noStrike">
                <a:solidFill>
                  <a:srgbClr val="000000"/>
                </a:solidFill>
                <a:latin typeface="Arial"/>
                <a:ea typeface="Arial"/>
                <a:cs typeface="Arial"/>
                <a:sym typeface="Arial"/>
              </a:endParaRPr>
            </a:p>
          </p:txBody>
        </p:sp>
        <p:sp>
          <p:nvSpPr>
            <p:cNvPr id="10052" name="Google Shape;10052;p123"/>
            <p:cNvSpPr txBox="1"/>
            <p:nvPr/>
          </p:nvSpPr>
          <p:spPr>
            <a:xfrm>
              <a:off x="7454630" y="3313376"/>
              <a:ext cx="298790" cy="3380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a:ea typeface="Arial"/>
                  <a:cs typeface="Arial"/>
                  <a:sym typeface="Arial"/>
                </a:rPr>
                <a:t>5</a:t>
              </a:r>
              <a:endParaRPr/>
            </a:p>
          </p:txBody>
        </p:sp>
      </p:grpSp>
      <p:cxnSp>
        <p:nvCxnSpPr>
          <p:cNvPr id="10053" name="Google Shape;10053;p123"/>
          <p:cNvCxnSpPr/>
          <p:nvPr/>
        </p:nvCxnSpPr>
        <p:spPr>
          <a:xfrm flipH="1">
            <a:off x="6139656" y="3084001"/>
            <a:ext cx="4763" cy="2362200"/>
          </a:xfrm>
          <a:prstGeom prst="straightConnector1">
            <a:avLst/>
          </a:prstGeom>
          <a:noFill/>
          <a:ln cap="flat" cmpd="sng" w="25400">
            <a:solidFill>
              <a:srgbClr val="000000"/>
            </a:solidFill>
            <a:prstDash val="solid"/>
            <a:round/>
            <a:headEnd len="med" w="med" type="none"/>
            <a:tailEnd len="med" w="med" type="triangle"/>
          </a:ln>
        </p:spPr>
      </p:cxnSp>
      <p:sp>
        <p:nvSpPr>
          <p:cNvPr id="10054" name="Google Shape;10054;p123"/>
          <p:cNvSpPr/>
          <p:nvPr/>
        </p:nvSpPr>
        <p:spPr>
          <a:xfrm>
            <a:off x="6168231" y="3077651"/>
            <a:ext cx="298450" cy="2284412"/>
          </a:xfrm>
          <a:prstGeom prst="upArrow">
            <a:avLst>
              <a:gd fmla="val 50000" name="adj1"/>
              <a:gd fmla="val 50249" name="adj2"/>
            </a:avLst>
          </a:prstGeom>
          <a:gradFill>
            <a:gsLst>
              <a:gs pos="0">
                <a:srgbClr val="000090"/>
              </a:gs>
              <a:gs pos="64000">
                <a:srgbClr val="000090"/>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CC"/>
              </a:buClr>
              <a:buSzPts val="1530"/>
              <a:buFont typeface="Arial"/>
              <a:buNone/>
            </a:pPr>
            <a:r>
              <a:t/>
            </a:r>
            <a:endParaRPr sz="1800">
              <a:solidFill>
                <a:srgbClr val="000000"/>
              </a:solidFill>
              <a:latin typeface="Arial"/>
              <a:ea typeface="Arial"/>
              <a:cs typeface="Arial"/>
              <a:sym typeface="Arial"/>
            </a:endParaRPr>
          </a:p>
        </p:txBody>
      </p:sp>
      <p:sp>
        <p:nvSpPr>
          <p:cNvPr id="10055" name="Google Shape;10055;p123"/>
          <p:cNvSpPr txBox="1"/>
          <p:nvPr/>
        </p:nvSpPr>
        <p:spPr>
          <a:xfrm>
            <a:off x="5082381" y="3614226"/>
            <a:ext cx="2027238" cy="8128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1360"/>
              <a:buFont typeface="Arial"/>
              <a:buNone/>
            </a:pPr>
            <a:r>
              <a:rPr b="0" i="0" lang="en-US" sz="1600" u="none" cap="none" strike="noStrike">
                <a:solidFill>
                  <a:srgbClr val="000000"/>
                </a:solidFill>
                <a:latin typeface="Arial Narrow"/>
                <a:ea typeface="Arial Narrow"/>
                <a:cs typeface="Arial Narrow"/>
                <a:sym typeface="Arial Narrow"/>
              </a:rPr>
              <a:t>6. request video from</a:t>
            </a:r>
            <a:endParaRPr/>
          </a:p>
          <a:p>
            <a:pPr indent="0" lvl="0" marL="0" marR="0" rtl="0" algn="l">
              <a:lnSpc>
                <a:spcPct val="100000"/>
              </a:lnSpc>
              <a:spcBef>
                <a:spcPts val="320"/>
              </a:spcBef>
              <a:spcAft>
                <a:spcPts val="0"/>
              </a:spcAft>
              <a:buClr>
                <a:srgbClr val="3333CC"/>
              </a:buClr>
              <a:buSzPts val="1360"/>
              <a:buFont typeface="Arial"/>
              <a:buNone/>
            </a:pPr>
            <a:r>
              <a:rPr b="0" i="0" lang="en-US" sz="1600" u="none" cap="none" strike="noStrike">
                <a:solidFill>
                  <a:srgbClr val="000000"/>
                </a:solidFill>
                <a:latin typeface="Arial Narrow"/>
                <a:ea typeface="Arial Narrow"/>
                <a:cs typeface="Arial Narrow"/>
                <a:sym typeface="Arial Narrow"/>
              </a:rPr>
              <a:t>KINGCDN server,</a:t>
            </a:r>
            <a:endParaRPr/>
          </a:p>
          <a:p>
            <a:pPr indent="0" lvl="0" marL="0" marR="0" rtl="0" algn="l">
              <a:lnSpc>
                <a:spcPct val="100000"/>
              </a:lnSpc>
              <a:spcBef>
                <a:spcPts val="320"/>
              </a:spcBef>
              <a:spcAft>
                <a:spcPts val="0"/>
              </a:spcAft>
              <a:buClr>
                <a:srgbClr val="3333CC"/>
              </a:buClr>
              <a:buSzPts val="1360"/>
              <a:buFont typeface="Arial"/>
              <a:buNone/>
            </a:pPr>
            <a:r>
              <a:rPr b="0" i="0" lang="en-US" sz="1600" u="none" cap="none" strike="noStrike">
                <a:solidFill>
                  <a:srgbClr val="000000"/>
                </a:solidFill>
                <a:latin typeface="Arial Narrow"/>
                <a:ea typeface="Arial Narrow"/>
                <a:cs typeface="Arial Narrow"/>
                <a:sym typeface="Arial Narrow"/>
              </a:rPr>
              <a:t>streamed via HTTP</a:t>
            </a:r>
            <a:endParaRPr/>
          </a:p>
        </p:txBody>
      </p:sp>
      <p:sp>
        <p:nvSpPr>
          <p:cNvPr id="10056" name="Google Shape;10056;p123"/>
          <p:cNvSpPr txBox="1"/>
          <p:nvPr/>
        </p:nvSpPr>
        <p:spPr>
          <a:xfrm>
            <a:off x="7631906" y="6035163"/>
            <a:ext cx="1706563" cy="569913"/>
          </a:xfrm>
          <a:prstGeom prst="rect">
            <a:avLst/>
          </a:prstGeom>
          <a:noFill/>
          <a:ln>
            <a:noFill/>
          </a:ln>
        </p:spPr>
        <p:txBody>
          <a:bodyPr anchorCtr="0" anchor="t" bIns="45700" lIns="91425" spcFirstLastPara="1" rIns="91425" wrap="square" tIns="45700">
            <a:spAutoFit/>
          </a:bodyPr>
          <a:lstStyle/>
          <a:p>
            <a:pPr indent="0" lvl="0" marL="0" marR="0" rtl="0" algn="ctr">
              <a:lnSpc>
                <a:spcPct val="88888"/>
              </a:lnSpc>
              <a:spcBef>
                <a:spcPts val="0"/>
              </a:spcBef>
              <a:spcAft>
                <a:spcPts val="0"/>
              </a:spcAft>
              <a:buClr>
                <a:srgbClr val="3333CC"/>
              </a:buClr>
              <a:buSzPts val="1530"/>
              <a:buFont typeface="Arial"/>
              <a:buNone/>
            </a:pPr>
            <a:r>
              <a:rPr lang="en-US" sz="1800">
                <a:solidFill>
                  <a:srgbClr val="000000"/>
                </a:solidFill>
                <a:latin typeface="Arial Narrow"/>
                <a:ea typeface="Arial Narrow"/>
                <a:cs typeface="Arial Narrow"/>
                <a:sym typeface="Arial Narrow"/>
              </a:rPr>
              <a:t>KingCDN</a:t>
            </a:r>
            <a:endParaRPr/>
          </a:p>
          <a:p>
            <a:pPr indent="0" lvl="0" marL="0" marR="0" rtl="0" algn="ctr">
              <a:lnSpc>
                <a:spcPct val="88888"/>
              </a:lnSpc>
              <a:spcBef>
                <a:spcPts val="360"/>
              </a:spcBef>
              <a:spcAft>
                <a:spcPts val="0"/>
              </a:spcAft>
              <a:buClr>
                <a:srgbClr val="3333CC"/>
              </a:buClr>
              <a:buSzPts val="1530"/>
              <a:buFont typeface="Arial"/>
              <a:buNone/>
            </a:pPr>
            <a:r>
              <a:rPr lang="en-US" sz="1800">
                <a:solidFill>
                  <a:srgbClr val="000000"/>
                </a:solidFill>
                <a:latin typeface="Arial Narrow"/>
                <a:ea typeface="Arial Narrow"/>
                <a:cs typeface="Arial Narrow"/>
                <a:sym typeface="Arial Narrow"/>
              </a:rPr>
              <a:t>authoritative DNS</a:t>
            </a:r>
            <a:endParaRPr i="1" sz="1800">
              <a:solidFill>
                <a:srgbClr val="000000"/>
              </a:solidFill>
              <a:latin typeface="Arial Narrow"/>
              <a:ea typeface="Arial Narrow"/>
              <a:cs typeface="Arial Narrow"/>
              <a:sym typeface="Arial Narrow"/>
            </a:endParaRPr>
          </a:p>
        </p:txBody>
      </p:sp>
      <p:sp>
        <p:nvSpPr>
          <p:cNvPr id="10057" name="Google Shape;10057;p123"/>
          <p:cNvSpPr txBox="1"/>
          <p:nvPr/>
        </p:nvSpPr>
        <p:spPr>
          <a:xfrm>
            <a:off x="7862094" y="3595176"/>
            <a:ext cx="1025525" cy="830262"/>
          </a:xfrm>
          <a:prstGeom prst="rect">
            <a:avLst/>
          </a:prstGeom>
          <a:noFill/>
          <a:ln>
            <a:noFill/>
          </a:ln>
        </p:spPr>
        <p:txBody>
          <a:bodyPr anchorCtr="0" anchor="t" bIns="45700" lIns="91425" spcFirstLastPara="1" rIns="91425" wrap="square" tIns="45700">
            <a:spAutoFit/>
          </a:bodyPr>
          <a:lstStyle/>
          <a:p>
            <a:pPr indent="0" lvl="0" marL="0" marR="0" rtl="0" algn="l">
              <a:lnSpc>
                <a:spcPct val="88888"/>
              </a:lnSpc>
              <a:spcBef>
                <a:spcPts val="0"/>
              </a:spcBef>
              <a:spcAft>
                <a:spcPts val="0"/>
              </a:spcAft>
              <a:buClr>
                <a:srgbClr val="3333CC"/>
              </a:buClr>
              <a:buSzPts val="1530"/>
              <a:buFont typeface="Arial"/>
              <a:buNone/>
            </a:pPr>
            <a:r>
              <a:rPr lang="en-US" sz="1800">
                <a:solidFill>
                  <a:srgbClr val="000000"/>
                </a:solidFill>
                <a:latin typeface="Arial Narrow"/>
                <a:ea typeface="Arial Narrow"/>
                <a:cs typeface="Arial Narrow"/>
                <a:sym typeface="Arial Narrow"/>
              </a:rPr>
              <a:t>Bob’s </a:t>
            </a:r>
            <a:endParaRPr/>
          </a:p>
          <a:p>
            <a:pPr indent="0" lvl="0" marL="0" marR="0" rtl="0" algn="l">
              <a:lnSpc>
                <a:spcPct val="88888"/>
              </a:lnSpc>
              <a:spcBef>
                <a:spcPts val="360"/>
              </a:spcBef>
              <a:spcAft>
                <a:spcPts val="0"/>
              </a:spcAft>
              <a:buClr>
                <a:srgbClr val="3333CC"/>
              </a:buClr>
              <a:buSzPts val="1530"/>
              <a:buFont typeface="Arial"/>
              <a:buNone/>
            </a:pPr>
            <a:r>
              <a:rPr lang="en-US" sz="1800">
                <a:solidFill>
                  <a:srgbClr val="000000"/>
                </a:solidFill>
                <a:latin typeface="Arial Narrow"/>
                <a:ea typeface="Arial Narrow"/>
                <a:cs typeface="Arial Narrow"/>
                <a:sym typeface="Arial Narrow"/>
              </a:rPr>
              <a:t>local DNS</a:t>
            </a:r>
            <a:endParaRPr/>
          </a:p>
          <a:p>
            <a:pPr indent="0" lvl="0" marL="0" marR="0" rtl="0" algn="l">
              <a:lnSpc>
                <a:spcPct val="88888"/>
              </a:lnSpc>
              <a:spcBef>
                <a:spcPts val="360"/>
              </a:spcBef>
              <a:spcAft>
                <a:spcPts val="0"/>
              </a:spcAft>
              <a:buClr>
                <a:srgbClr val="3333CC"/>
              </a:buClr>
              <a:buSzPts val="1530"/>
              <a:buFont typeface="Arial"/>
              <a:buNone/>
            </a:pPr>
            <a:r>
              <a:rPr lang="en-US" sz="1800">
                <a:solidFill>
                  <a:srgbClr val="000000"/>
                </a:solidFill>
                <a:latin typeface="Arial Narrow"/>
                <a:ea typeface="Arial Narrow"/>
                <a:cs typeface="Arial Narrow"/>
                <a:sym typeface="Arial Narrow"/>
              </a:rPr>
              <a:t>server</a:t>
            </a:r>
            <a:endParaRPr i="1" sz="1800">
              <a:solidFill>
                <a:srgbClr val="000000"/>
              </a:solidFill>
              <a:latin typeface="Arial Narrow"/>
              <a:ea typeface="Arial Narrow"/>
              <a:cs typeface="Arial Narrow"/>
              <a:sym typeface="Arial Narrow"/>
            </a:endParaRPr>
          </a:p>
        </p:txBody>
      </p:sp>
      <p:sp>
        <p:nvSpPr>
          <p:cNvPr id="10058" name="Google Shape;10058;p123"/>
          <p:cNvSpPr txBox="1"/>
          <p:nvPr/>
        </p:nvSpPr>
        <p:spPr>
          <a:xfrm>
            <a:off x="1143000" y="1238532"/>
            <a:ext cx="8183522" cy="8002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Arial"/>
              <a:buNone/>
            </a:pPr>
            <a:r>
              <a:rPr lang="en-US" sz="2800">
                <a:solidFill>
                  <a:schemeClr val="dk1"/>
                </a:solidFill>
                <a:latin typeface="Calibri"/>
                <a:ea typeface="Calibri"/>
                <a:cs typeface="Calibri"/>
                <a:sym typeface="Calibri"/>
              </a:rPr>
              <a:t>Bob (client) requests video </a:t>
            </a:r>
            <a:r>
              <a:rPr lang="en-US" sz="2400">
                <a:solidFill>
                  <a:schemeClr val="dk1"/>
                </a:solidFill>
                <a:latin typeface="Calibri"/>
                <a:ea typeface="Calibri"/>
                <a:cs typeface="Calibri"/>
                <a:sym typeface="Calibri"/>
              </a:rPr>
              <a:t>http://netcinema.com</a:t>
            </a:r>
            <a:r>
              <a:rPr lang="en-US" sz="2800">
                <a:solidFill>
                  <a:schemeClr val="dk1"/>
                </a:solidFill>
                <a:latin typeface="Calibri"/>
                <a:ea typeface="Calibri"/>
                <a:cs typeface="Calibri"/>
                <a:sym typeface="Calibri"/>
              </a:rPr>
              <a:t>/</a:t>
            </a:r>
            <a:r>
              <a:rPr lang="en-US" sz="2400">
                <a:solidFill>
                  <a:schemeClr val="dk1"/>
                </a:solidFill>
                <a:latin typeface="Calibri"/>
                <a:ea typeface="Calibri"/>
                <a:cs typeface="Calibri"/>
                <a:sym typeface="Calibri"/>
              </a:rPr>
              <a:t>6Y7B23V</a:t>
            </a:r>
            <a:endParaRPr/>
          </a:p>
          <a:p>
            <a:pPr indent="-230188" lvl="0" marL="457200" marR="0" rtl="0" algn="l">
              <a:spcBef>
                <a:spcPts val="0"/>
              </a:spcBef>
              <a:spcAft>
                <a:spcPts val="0"/>
              </a:spcAft>
              <a:buClr>
                <a:srgbClr val="0000A3"/>
              </a:buClr>
              <a:buSzPts val="1800"/>
              <a:buFont typeface="Noto Sans Symbols"/>
              <a:buChar char="▪"/>
            </a:pPr>
            <a:r>
              <a:rPr lang="en-US" sz="1800">
                <a:solidFill>
                  <a:schemeClr val="dk1"/>
                </a:solidFill>
                <a:latin typeface="Calibri"/>
                <a:ea typeface="Calibri"/>
                <a:cs typeface="Calibri"/>
                <a:sym typeface="Calibri"/>
              </a:rPr>
              <a:t>video stored in CDN at http://KingCDN.com/NetC6y&amp;B23V</a:t>
            </a:r>
            <a:endParaRPr/>
          </a:p>
        </p:txBody>
      </p:sp>
      <p:sp>
        <p:nvSpPr>
          <p:cNvPr id="10059" name="Google Shape;10059;p1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5"/>
                                        </p:tgtEl>
                                        <p:attrNameLst>
                                          <p:attrName>style.visibility</p:attrName>
                                        </p:attrNameLst>
                                      </p:cBhvr>
                                      <p:to>
                                        <p:strVal val="visible"/>
                                      </p:to>
                                    </p:set>
                                    <p:animEffect filter="fade" transition="in">
                                      <p:cBhvr>
                                        <p:cTn dur="500"/>
                                        <p:tgtEl>
                                          <p:spTgt spid="10025"/>
                                        </p:tgtEl>
                                      </p:cBhvr>
                                    </p:animEffect>
                                  </p:childTnLst>
                                </p:cTn>
                              </p:par>
                              <p:par>
                                <p:cTn fill="hold" nodeType="withEffect" presetClass="entr" presetID="10" presetSubtype="0">
                                  <p:stCondLst>
                                    <p:cond delay="0"/>
                                  </p:stCondLst>
                                  <p:childTnLst>
                                    <p:set>
                                      <p:cBhvr>
                                        <p:cTn dur="1" fill="hold">
                                          <p:stCondLst>
                                            <p:cond delay="0"/>
                                          </p:stCondLst>
                                        </p:cTn>
                                        <p:tgtEl>
                                          <p:spTgt spid="10030"/>
                                        </p:tgtEl>
                                        <p:attrNameLst>
                                          <p:attrName>style.visibility</p:attrName>
                                        </p:attrNameLst>
                                      </p:cBhvr>
                                      <p:to>
                                        <p:strVal val="visible"/>
                                      </p:to>
                                    </p:set>
                                    <p:animEffect filter="fade" transition="in">
                                      <p:cBhvr>
                                        <p:cTn dur="500"/>
                                        <p:tgtEl>
                                          <p:spTgt spid="100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030"/>
                                        </p:tgtEl>
                                      </p:cBhvr>
                                    </p:animEffect>
                                    <p:set>
                                      <p:cBhvr>
                                        <p:cTn dur="1" fill="hold">
                                          <p:stCondLst>
                                            <p:cond delay="500"/>
                                          </p:stCondLst>
                                        </p:cTn>
                                        <p:tgtEl>
                                          <p:spTgt spid="1003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031"/>
                                        </p:tgtEl>
                                        <p:attrNameLst>
                                          <p:attrName>style.visibility</p:attrName>
                                        </p:attrNameLst>
                                      </p:cBhvr>
                                      <p:to>
                                        <p:strVal val="visible"/>
                                      </p:to>
                                    </p:set>
                                    <p:animEffect filter="fade" transition="in">
                                      <p:cBhvr>
                                        <p:cTn dur="500"/>
                                        <p:tgtEl>
                                          <p:spTgt spid="10031"/>
                                        </p:tgtEl>
                                      </p:cBhvr>
                                    </p:animEffect>
                                  </p:childTnLst>
                                </p:cTn>
                              </p:par>
                              <p:par>
                                <p:cTn fill="hold" nodeType="withEffect" presetClass="entr" presetID="10" presetSubtype="0">
                                  <p:stCondLst>
                                    <p:cond delay="0"/>
                                  </p:stCondLst>
                                  <p:childTnLst>
                                    <p:set>
                                      <p:cBhvr>
                                        <p:cTn dur="1" fill="hold">
                                          <p:stCondLst>
                                            <p:cond delay="0"/>
                                          </p:stCondLst>
                                        </p:cTn>
                                        <p:tgtEl>
                                          <p:spTgt spid="10036"/>
                                        </p:tgtEl>
                                        <p:attrNameLst>
                                          <p:attrName>style.visibility</p:attrName>
                                        </p:attrNameLst>
                                      </p:cBhvr>
                                      <p:to>
                                        <p:strVal val="visible"/>
                                      </p:to>
                                    </p:set>
                                    <p:animEffect filter="fade" transition="in">
                                      <p:cBhvr>
                                        <p:cTn dur="500"/>
                                        <p:tgtEl>
                                          <p:spTgt spid="100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036"/>
                                        </p:tgtEl>
                                      </p:cBhvr>
                                    </p:animEffect>
                                    <p:set>
                                      <p:cBhvr>
                                        <p:cTn dur="1" fill="hold">
                                          <p:stCondLst>
                                            <p:cond delay="500"/>
                                          </p:stCondLst>
                                        </p:cTn>
                                        <p:tgtEl>
                                          <p:spTgt spid="1003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038"/>
                                        </p:tgtEl>
                                        <p:attrNameLst>
                                          <p:attrName>style.visibility</p:attrName>
                                        </p:attrNameLst>
                                      </p:cBhvr>
                                      <p:to>
                                        <p:strVal val="visible"/>
                                      </p:to>
                                    </p:set>
                                    <p:animEffect filter="fade" transition="in">
                                      <p:cBhvr>
                                        <p:cTn dur="500"/>
                                        <p:tgtEl>
                                          <p:spTgt spid="1003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039"/>
                                        </p:tgtEl>
                                        <p:attrNameLst>
                                          <p:attrName>style.visibility</p:attrName>
                                        </p:attrNameLst>
                                      </p:cBhvr>
                                      <p:to>
                                        <p:strVal val="visible"/>
                                      </p:to>
                                    </p:set>
                                    <p:animEffect filter="fade" transition="in">
                                      <p:cBhvr>
                                        <p:cTn dur="500"/>
                                        <p:tgtEl>
                                          <p:spTgt spid="1003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040"/>
                                        </p:tgtEl>
                                        <p:attrNameLst>
                                          <p:attrName>style.visibility</p:attrName>
                                        </p:attrNameLst>
                                      </p:cBhvr>
                                      <p:to>
                                        <p:strVal val="visible"/>
                                      </p:to>
                                    </p:set>
                                    <p:animEffect filter="fade" transition="in">
                                      <p:cBhvr>
                                        <p:cTn dur="500"/>
                                        <p:tgtEl>
                                          <p:spTgt spid="10040"/>
                                        </p:tgtEl>
                                      </p:cBhvr>
                                    </p:animEffect>
                                  </p:childTnLst>
                                </p:cTn>
                              </p:par>
                              <p:par>
                                <p:cTn fill="hold" nodeType="withEffect" presetClass="entr" presetID="10" presetSubtype="0">
                                  <p:stCondLst>
                                    <p:cond delay="0"/>
                                  </p:stCondLst>
                                  <p:childTnLst>
                                    <p:set>
                                      <p:cBhvr>
                                        <p:cTn dur="1" fill="hold">
                                          <p:stCondLst>
                                            <p:cond delay="0"/>
                                          </p:stCondLst>
                                        </p:cTn>
                                        <p:tgtEl>
                                          <p:spTgt spid="10043"/>
                                        </p:tgtEl>
                                        <p:attrNameLst>
                                          <p:attrName>style.visibility</p:attrName>
                                        </p:attrNameLst>
                                      </p:cBhvr>
                                      <p:to>
                                        <p:strVal val="visible"/>
                                      </p:to>
                                    </p:set>
                                    <p:animEffect filter="fade" transition="in">
                                      <p:cBhvr>
                                        <p:cTn dur="500"/>
                                        <p:tgtEl>
                                          <p:spTgt spid="100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043"/>
                                        </p:tgtEl>
                                      </p:cBhvr>
                                    </p:animEffect>
                                    <p:set>
                                      <p:cBhvr>
                                        <p:cTn dur="1" fill="hold">
                                          <p:stCondLst>
                                            <p:cond delay="500"/>
                                          </p:stCondLst>
                                        </p:cTn>
                                        <p:tgtEl>
                                          <p:spTgt spid="1004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044"/>
                                        </p:tgtEl>
                                        <p:attrNameLst>
                                          <p:attrName>style.visibility</p:attrName>
                                        </p:attrNameLst>
                                      </p:cBhvr>
                                      <p:to>
                                        <p:strVal val="visible"/>
                                      </p:to>
                                    </p:set>
                                    <p:animEffect filter="fade" transition="in">
                                      <p:cBhvr>
                                        <p:cTn dur="500"/>
                                        <p:tgtEl>
                                          <p:spTgt spid="100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045"/>
                                        </p:tgtEl>
                                        <p:attrNameLst>
                                          <p:attrName>style.visibility</p:attrName>
                                        </p:attrNameLst>
                                      </p:cBhvr>
                                      <p:to>
                                        <p:strVal val="visible"/>
                                      </p:to>
                                    </p:set>
                                    <p:animEffect filter="fade" transition="in">
                                      <p:cBhvr>
                                        <p:cTn dur="500"/>
                                        <p:tgtEl>
                                          <p:spTgt spid="100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046"/>
                                        </p:tgtEl>
                                        <p:attrNameLst>
                                          <p:attrName>style.visibility</p:attrName>
                                        </p:attrNameLst>
                                      </p:cBhvr>
                                      <p:to>
                                        <p:strVal val="visible"/>
                                      </p:to>
                                    </p:set>
                                    <p:animEffect filter="fade" transition="in">
                                      <p:cBhvr>
                                        <p:cTn dur="500"/>
                                        <p:tgtEl>
                                          <p:spTgt spid="1004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0049"/>
                                        </p:tgtEl>
                                        <p:attrNameLst>
                                          <p:attrName>style.visibility</p:attrName>
                                        </p:attrNameLst>
                                      </p:cBhvr>
                                      <p:to>
                                        <p:strVal val="visible"/>
                                      </p:to>
                                    </p:set>
                                    <p:animEffect filter="fade" transition="in">
                                      <p:cBhvr>
                                        <p:cTn dur="500"/>
                                        <p:tgtEl>
                                          <p:spTgt spid="1004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050"/>
                                        </p:tgtEl>
                                        <p:attrNameLst>
                                          <p:attrName>style.visibility</p:attrName>
                                        </p:attrNameLst>
                                      </p:cBhvr>
                                      <p:to>
                                        <p:strVal val="visible"/>
                                      </p:to>
                                    </p:set>
                                    <p:animEffect filter="fade" transition="in">
                                      <p:cBhvr>
                                        <p:cTn dur="500"/>
                                        <p:tgtEl>
                                          <p:spTgt spid="1005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0053"/>
                                        </p:tgtEl>
                                        <p:attrNameLst>
                                          <p:attrName>style.visibility</p:attrName>
                                        </p:attrNameLst>
                                      </p:cBhvr>
                                      <p:to>
                                        <p:strVal val="visible"/>
                                      </p:to>
                                    </p:set>
                                    <p:animEffect filter="fade" transition="in">
                                      <p:cBhvr>
                                        <p:cTn dur="500"/>
                                        <p:tgtEl>
                                          <p:spTgt spid="1005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0054"/>
                                        </p:tgtEl>
                                        <p:attrNameLst>
                                          <p:attrName>style.visibility</p:attrName>
                                        </p:attrNameLst>
                                      </p:cBhvr>
                                      <p:to>
                                        <p:strVal val="visible"/>
                                      </p:to>
                                    </p:set>
                                    <p:animEffect filter="fade" transition="in">
                                      <p:cBhvr>
                                        <p:cTn dur="500"/>
                                        <p:tgtEl>
                                          <p:spTgt spid="10054"/>
                                        </p:tgtEl>
                                      </p:cBhvr>
                                    </p:animEffect>
                                  </p:childTnLst>
                                </p:cTn>
                              </p:par>
                              <p:par>
                                <p:cTn fill="hold" nodeType="withEffect" presetClass="entr" presetID="10" presetSubtype="0">
                                  <p:stCondLst>
                                    <p:cond delay="0"/>
                                  </p:stCondLst>
                                  <p:childTnLst>
                                    <p:set>
                                      <p:cBhvr>
                                        <p:cTn dur="1" fill="hold">
                                          <p:stCondLst>
                                            <p:cond delay="0"/>
                                          </p:stCondLst>
                                        </p:cTn>
                                        <p:tgtEl>
                                          <p:spTgt spid="10055"/>
                                        </p:tgtEl>
                                        <p:attrNameLst>
                                          <p:attrName>style.visibility</p:attrName>
                                        </p:attrNameLst>
                                      </p:cBhvr>
                                      <p:to>
                                        <p:strVal val="visible"/>
                                      </p:to>
                                    </p:set>
                                    <p:animEffect filter="fade" transition="in">
                                      <p:cBhvr>
                                        <p:cTn dur="500"/>
                                        <p:tgtEl>
                                          <p:spTgt spid="100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4" name="Shape 10064"/>
        <p:cNvGrpSpPr/>
        <p:nvPr/>
      </p:nvGrpSpPr>
      <p:grpSpPr>
        <a:xfrm>
          <a:off x="0" y="0"/>
          <a:ext cx="0" cy="0"/>
          <a:chOff x="0" y="0"/>
          <a:chExt cx="0" cy="0"/>
        </a:xfrm>
      </p:grpSpPr>
      <p:sp>
        <p:nvSpPr>
          <p:cNvPr id="10065" name="Google Shape;10065;p12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Case study: Netflix</a:t>
            </a:r>
            <a:endParaRPr/>
          </a:p>
        </p:txBody>
      </p:sp>
      <p:grpSp>
        <p:nvGrpSpPr>
          <p:cNvPr id="10066" name="Google Shape;10066;p124"/>
          <p:cNvGrpSpPr/>
          <p:nvPr/>
        </p:nvGrpSpPr>
        <p:grpSpPr>
          <a:xfrm>
            <a:off x="2638476" y="3253801"/>
            <a:ext cx="463550" cy="638175"/>
            <a:chOff x="4140" y="429"/>
            <a:chExt cx="1425" cy="2396"/>
          </a:xfrm>
        </p:grpSpPr>
        <p:sp>
          <p:nvSpPr>
            <p:cNvPr id="10067" name="Google Shape;10067;p1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68" name="Google Shape;10068;p124"/>
            <p:cNvSpPr/>
            <p:nvPr/>
          </p:nvSpPr>
          <p:spPr>
            <a:xfrm>
              <a:off x="4203" y="429"/>
              <a:ext cx="1049"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069" name="Google Shape;10069;p1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70" name="Google Shape;10070;p1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71" name="Google Shape;10071;p124"/>
            <p:cNvSpPr/>
            <p:nvPr/>
          </p:nvSpPr>
          <p:spPr>
            <a:xfrm>
              <a:off x="4213" y="691"/>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072" name="Google Shape;10072;p124"/>
            <p:cNvGrpSpPr/>
            <p:nvPr/>
          </p:nvGrpSpPr>
          <p:grpSpPr>
            <a:xfrm>
              <a:off x="4750" y="667"/>
              <a:ext cx="581" cy="131"/>
              <a:chOff x="615" y="2567"/>
              <a:chExt cx="725" cy="126"/>
            </a:xfrm>
          </p:grpSpPr>
          <p:sp>
            <p:nvSpPr>
              <p:cNvPr id="10073" name="Google Shape;10073;p124"/>
              <p:cNvSpPr/>
              <p:nvPr/>
            </p:nvSpPr>
            <p:spPr>
              <a:xfrm>
                <a:off x="615" y="2567"/>
                <a:ext cx="725"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074" name="Google Shape;10074;p124"/>
              <p:cNvSpPr/>
              <p:nvPr/>
            </p:nvSpPr>
            <p:spPr>
              <a:xfrm>
                <a:off x="634" y="2585"/>
                <a:ext cx="688"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075" name="Google Shape;10075;p124"/>
            <p:cNvSpPr/>
            <p:nvPr/>
          </p:nvSpPr>
          <p:spPr>
            <a:xfrm>
              <a:off x="4223" y="1019"/>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076" name="Google Shape;10076;p124"/>
            <p:cNvGrpSpPr/>
            <p:nvPr/>
          </p:nvGrpSpPr>
          <p:grpSpPr>
            <a:xfrm>
              <a:off x="4745" y="995"/>
              <a:ext cx="581" cy="131"/>
              <a:chOff x="612" y="2569"/>
              <a:chExt cx="725" cy="136"/>
            </a:xfrm>
          </p:grpSpPr>
          <p:sp>
            <p:nvSpPr>
              <p:cNvPr id="10077" name="Google Shape;10077;p124"/>
              <p:cNvSpPr/>
              <p:nvPr/>
            </p:nvSpPr>
            <p:spPr>
              <a:xfrm>
                <a:off x="612" y="2569"/>
                <a:ext cx="725" cy="13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078" name="Google Shape;10078;p124"/>
              <p:cNvSpPr/>
              <p:nvPr/>
            </p:nvSpPr>
            <p:spPr>
              <a:xfrm>
                <a:off x="624" y="2588"/>
                <a:ext cx="694" cy="9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079" name="Google Shape;10079;p124"/>
            <p:cNvSpPr/>
            <p:nvPr/>
          </p:nvSpPr>
          <p:spPr>
            <a:xfrm>
              <a:off x="4218" y="1359"/>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080" name="Google Shape;10080;p124"/>
            <p:cNvSpPr/>
            <p:nvPr/>
          </p:nvSpPr>
          <p:spPr>
            <a:xfrm>
              <a:off x="4228" y="1657"/>
              <a:ext cx="595" cy="42"/>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081" name="Google Shape;10081;p124"/>
            <p:cNvGrpSpPr/>
            <p:nvPr/>
          </p:nvGrpSpPr>
          <p:grpSpPr>
            <a:xfrm>
              <a:off x="4735" y="1627"/>
              <a:ext cx="576" cy="149"/>
              <a:chOff x="614" y="2568"/>
              <a:chExt cx="717" cy="137"/>
            </a:xfrm>
          </p:grpSpPr>
          <p:sp>
            <p:nvSpPr>
              <p:cNvPr id="10082" name="Google Shape;10082;p124"/>
              <p:cNvSpPr/>
              <p:nvPr/>
            </p:nvSpPr>
            <p:spPr>
              <a:xfrm>
                <a:off x="614" y="2568"/>
                <a:ext cx="717"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083" name="Google Shape;10083;p124"/>
              <p:cNvSpPr/>
              <p:nvPr/>
            </p:nvSpPr>
            <p:spPr>
              <a:xfrm>
                <a:off x="627" y="2584"/>
                <a:ext cx="687"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084" name="Google Shape;10084;p1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085" name="Google Shape;10085;p124"/>
            <p:cNvGrpSpPr/>
            <p:nvPr/>
          </p:nvGrpSpPr>
          <p:grpSpPr>
            <a:xfrm>
              <a:off x="4741" y="1329"/>
              <a:ext cx="580" cy="137"/>
              <a:chOff x="616" y="2570"/>
              <a:chExt cx="723" cy="137"/>
            </a:xfrm>
          </p:grpSpPr>
          <p:sp>
            <p:nvSpPr>
              <p:cNvPr id="10086" name="Google Shape;10086;p124"/>
              <p:cNvSpPr/>
              <p:nvPr/>
            </p:nvSpPr>
            <p:spPr>
              <a:xfrm>
                <a:off x="616" y="2570"/>
                <a:ext cx="72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087" name="Google Shape;10087;p124"/>
              <p:cNvSpPr/>
              <p:nvPr/>
            </p:nvSpPr>
            <p:spPr>
              <a:xfrm>
                <a:off x="640" y="2588"/>
                <a:ext cx="681"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088" name="Google Shape;10088;p124"/>
            <p:cNvSpPr/>
            <p:nvPr/>
          </p:nvSpPr>
          <p:spPr>
            <a:xfrm>
              <a:off x="5248" y="429"/>
              <a:ext cx="68" cy="2289"/>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089" name="Google Shape;10089;p1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90" name="Google Shape;10090;p1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91" name="Google Shape;10091;p124"/>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092" name="Google Shape;10092;p1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93" name="Google Shape;10093;p124"/>
            <p:cNvSpPr/>
            <p:nvPr/>
          </p:nvSpPr>
          <p:spPr>
            <a:xfrm>
              <a:off x="4140" y="2682"/>
              <a:ext cx="1201" cy="143"/>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094" name="Google Shape;10094;p124"/>
            <p:cNvSpPr/>
            <p:nvPr/>
          </p:nvSpPr>
          <p:spPr>
            <a:xfrm>
              <a:off x="4203" y="2712"/>
              <a:ext cx="1074" cy="77"/>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095" name="Google Shape;10095;p124"/>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096" name="Google Shape;10096;p124"/>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10097" name="Google Shape;10097;p124"/>
            <p:cNvSpPr/>
            <p:nvPr/>
          </p:nvSpPr>
          <p:spPr>
            <a:xfrm>
              <a:off x="4662" y="2378"/>
              <a:ext cx="156"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098" name="Google Shape;10098;p124"/>
            <p:cNvSpPr/>
            <p:nvPr/>
          </p:nvSpPr>
          <p:spPr>
            <a:xfrm>
              <a:off x="5062" y="1836"/>
              <a:ext cx="83" cy="763"/>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grpSp>
        <p:nvGrpSpPr>
          <p:cNvPr id="10099" name="Google Shape;10099;p124"/>
          <p:cNvGrpSpPr/>
          <p:nvPr/>
        </p:nvGrpSpPr>
        <p:grpSpPr>
          <a:xfrm>
            <a:off x="4670476" y="5093714"/>
            <a:ext cx="963612" cy="835025"/>
            <a:chOff x="-44" y="1473"/>
            <a:chExt cx="981" cy="1105"/>
          </a:xfrm>
        </p:grpSpPr>
        <p:pic>
          <p:nvPicPr>
            <p:cNvPr descr="desktop_computer_stylized_medium" id="10100" name="Google Shape;10100;p1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0101" name="Google Shape;10101;p1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Bob" id="10102" name="Google Shape;10102;p124"/>
          <p:cNvPicPr preferRelativeResize="0"/>
          <p:nvPr/>
        </p:nvPicPr>
        <p:blipFill rotWithShape="1">
          <a:blip r:embed="rId4">
            <a:alphaModFix/>
          </a:blip>
          <a:srcRect b="0" l="0" r="0" t="0"/>
          <a:stretch/>
        </p:blipFill>
        <p:spPr>
          <a:xfrm>
            <a:off x="5134026" y="5898576"/>
            <a:ext cx="533400" cy="544513"/>
          </a:xfrm>
          <a:prstGeom prst="rect">
            <a:avLst/>
          </a:prstGeom>
          <a:noFill/>
          <a:ln>
            <a:noFill/>
          </a:ln>
        </p:spPr>
      </p:pic>
      <p:grpSp>
        <p:nvGrpSpPr>
          <p:cNvPr id="10103" name="Google Shape;10103;p124"/>
          <p:cNvGrpSpPr/>
          <p:nvPr/>
        </p:nvGrpSpPr>
        <p:grpSpPr>
          <a:xfrm>
            <a:off x="3016301" y="3906264"/>
            <a:ext cx="1804987" cy="1489075"/>
            <a:chOff x="3016301" y="3906264"/>
            <a:chExt cx="1804987" cy="1489075"/>
          </a:xfrm>
        </p:grpSpPr>
        <p:cxnSp>
          <p:nvCxnSpPr>
            <p:cNvPr id="10104" name="Google Shape;10104;p124"/>
            <p:cNvCxnSpPr/>
            <p:nvPr/>
          </p:nvCxnSpPr>
          <p:spPr>
            <a:xfrm>
              <a:off x="3016301" y="3906264"/>
              <a:ext cx="1804987" cy="1489075"/>
            </a:xfrm>
            <a:prstGeom prst="straightConnector1">
              <a:avLst/>
            </a:prstGeom>
            <a:noFill/>
            <a:ln cap="flat" cmpd="sng" w="25400">
              <a:solidFill>
                <a:schemeClr val="dk1"/>
              </a:solidFill>
              <a:prstDash val="solid"/>
              <a:round/>
              <a:headEnd len="med" w="med" type="triangle"/>
              <a:tailEnd len="med" w="med" type="triangle"/>
            </a:ln>
          </p:spPr>
        </p:cxnSp>
        <p:grpSp>
          <p:nvGrpSpPr>
            <p:cNvPr id="10105" name="Google Shape;10105;p124"/>
            <p:cNvGrpSpPr/>
            <p:nvPr/>
          </p:nvGrpSpPr>
          <p:grpSpPr>
            <a:xfrm>
              <a:off x="3403651" y="4149151"/>
              <a:ext cx="317500" cy="368300"/>
              <a:chOff x="1614533" y="4280420"/>
              <a:chExt cx="317511" cy="369332"/>
            </a:xfrm>
          </p:grpSpPr>
          <p:sp>
            <p:nvSpPr>
              <p:cNvPr id="10106" name="Google Shape;10106;p124"/>
              <p:cNvSpPr/>
              <p:nvPr/>
            </p:nvSpPr>
            <p:spPr>
              <a:xfrm>
                <a:off x="1628337" y="4321838"/>
                <a:ext cx="303707" cy="303707"/>
              </a:xfrm>
              <a:prstGeom prst="ellipse">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0107" name="Google Shape;10107;p124"/>
              <p:cNvSpPr txBox="1"/>
              <p:nvPr/>
            </p:nvSpPr>
            <p:spPr>
              <a:xfrm>
                <a:off x="1614533" y="4280420"/>
                <a:ext cx="3130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1</a:t>
                </a:r>
                <a:endParaRPr/>
              </a:p>
            </p:txBody>
          </p:sp>
        </p:grpSp>
      </p:grpSp>
      <p:sp>
        <p:nvSpPr>
          <p:cNvPr id="10108" name="Google Shape;10108;p124"/>
          <p:cNvSpPr txBox="1"/>
          <p:nvPr/>
        </p:nvSpPr>
        <p:spPr>
          <a:xfrm>
            <a:off x="2317984" y="4489458"/>
            <a:ext cx="2033587" cy="56528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1800">
                <a:solidFill>
                  <a:schemeClr val="dk1"/>
                </a:solidFill>
                <a:latin typeface="Calibri"/>
                <a:ea typeface="Calibri"/>
                <a:cs typeface="Calibri"/>
                <a:sym typeface="Calibri"/>
              </a:rPr>
              <a:t>Bob manages      Netflix account</a:t>
            </a:r>
            <a:endParaRPr/>
          </a:p>
        </p:txBody>
      </p:sp>
      <p:sp>
        <p:nvSpPr>
          <p:cNvPr id="10109" name="Google Shape;10109;p124"/>
          <p:cNvSpPr txBox="1"/>
          <p:nvPr/>
        </p:nvSpPr>
        <p:spPr>
          <a:xfrm>
            <a:off x="1932038" y="2701351"/>
            <a:ext cx="2033588" cy="571500"/>
          </a:xfrm>
          <a:prstGeom prst="rect">
            <a:avLst/>
          </a:prstGeom>
          <a:noFill/>
          <a:ln>
            <a:noFill/>
          </a:ln>
        </p:spPr>
        <p:txBody>
          <a:bodyPr anchorCtr="0" anchor="t" bIns="45700" lIns="91425" spcFirstLastPara="1" rIns="91425" wrap="square" tIns="45700">
            <a:spAutoFit/>
          </a:bodyPr>
          <a:lstStyle/>
          <a:p>
            <a:pPr indent="0" lvl="0" marL="0" marR="0" rtl="0" algn="ctr">
              <a:lnSpc>
                <a:spcPct val="88888"/>
              </a:lnSpc>
              <a:spcBef>
                <a:spcPts val="0"/>
              </a:spcBef>
              <a:spcAft>
                <a:spcPts val="0"/>
              </a:spcAft>
              <a:buNone/>
            </a:pPr>
            <a:r>
              <a:rPr lang="en-US" sz="1800">
                <a:solidFill>
                  <a:schemeClr val="dk1"/>
                </a:solidFill>
                <a:latin typeface="Arial Narrow"/>
                <a:ea typeface="Arial Narrow"/>
                <a:cs typeface="Arial Narrow"/>
                <a:sym typeface="Arial Narrow"/>
              </a:rPr>
              <a:t>Netflix registration,</a:t>
            </a:r>
            <a:endParaRPr/>
          </a:p>
          <a:p>
            <a:pPr indent="0" lvl="0" marL="0" marR="0" rtl="0" algn="ctr">
              <a:lnSpc>
                <a:spcPct val="88888"/>
              </a:lnSpc>
              <a:spcBef>
                <a:spcPts val="0"/>
              </a:spcBef>
              <a:spcAft>
                <a:spcPts val="0"/>
              </a:spcAft>
              <a:buNone/>
            </a:pPr>
            <a:r>
              <a:rPr lang="en-US" sz="1800">
                <a:solidFill>
                  <a:schemeClr val="dk1"/>
                </a:solidFill>
                <a:latin typeface="Arial Narrow"/>
                <a:ea typeface="Arial Narrow"/>
                <a:cs typeface="Arial Narrow"/>
                <a:sym typeface="Arial Narrow"/>
              </a:rPr>
              <a:t>accounting servers</a:t>
            </a:r>
            <a:endParaRPr/>
          </a:p>
        </p:txBody>
      </p:sp>
      <p:sp>
        <p:nvSpPr>
          <p:cNvPr id="10110" name="Google Shape;10110;p124"/>
          <p:cNvSpPr/>
          <p:nvPr/>
        </p:nvSpPr>
        <p:spPr>
          <a:xfrm>
            <a:off x="4197401" y="1571051"/>
            <a:ext cx="3133725" cy="1508125"/>
          </a:xfrm>
          <a:custGeom>
            <a:rect b="b" l="l" r="r" t="t"/>
            <a:pathLst>
              <a:path extrusionOk="0" h="10000" w="10000">
                <a:moveTo>
                  <a:pt x="6270" y="126"/>
                </a:moveTo>
                <a:cubicBezTo>
                  <a:pt x="5642" y="245"/>
                  <a:pt x="4469" y="528"/>
                  <a:pt x="3738" y="756"/>
                </a:cubicBezTo>
                <a:cubicBezTo>
                  <a:pt x="3007" y="984"/>
                  <a:pt x="2405" y="1322"/>
                  <a:pt x="1887" y="1495"/>
                </a:cubicBezTo>
                <a:cubicBezTo>
                  <a:pt x="1369" y="1668"/>
                  <a:pt x="1195" y="1105"/>
                  <a:pt x="629" y="1793"/>
                </a:cubicBezTo>
                <a:cubicBezTo>
                  <a:pt x="63" y="2481"/>
                  <a:pt x="218" y="3574"/>
                  <a:pt x="128" y="4417"/>
                </a:cubicBezTo>
                <a:cubicBezTo>
                  <a:pt x="39" y="5260"/>
                  <a:pt x="-87" y="6368"/>
                  <a:pt x="89" y="6848"/>
                </a:cubicBezTo>
                <a:cubicBezTo>
                  <a:pt x="265" y="7328"/>
                  <a:pt x="491" y="7223"/>
                  <a:pt x="1207" y="7298"/>
                </a:cubicBezTo>
                <a:cubicBezTo>
                  <a:pt x="1924" y="7374"/>
                  <a:pt x="3641" y="7133"/>
                  <a:pt x="4406" y="7298"/>
                </a:cubicBezTo>
                <a:cubicBezTo>
                  <a:pt x="5171" y="7463"/>
                  <a:pt x="5298" y="7868"/>
                  <a:pt x="5779" y="8288"/>
                </a:cubicBezTo>
                <a:cubicBezTo>
                  <a:pt x="6260" y="8709"/>
                  <a:pt x="6848" y="9549"/>
                  <a:pt x="7290" y="9819"/>
                </a:cubicBezTo>
                <a:cubicBezTo>
                  <a:pt x="7731" y="10089"/>
                  <a:pt x="8124" y="10014"/>
                  <a:pt x="8448" y="9879"/>
                </a:cubicBezTo>
                <a:cubicBezTo>
                  <a:pt x="8771" y="9744"/>
                  <a:pt x="9056" y="9549"/>
                  <a:pt x="9252" y="9008"/>
                </a:cubicBezTo>
                <a:cubicBezTo>
                  <a:pt x="9448" y="8469"/>
                  <a:pt x="9537" y="7418"/>
                  <a:pt x="9644" y="6639"/>
                </a:cubicBezTo>
                <a:cubicBezTo>
                  <a:pt x="9752" y="5858"/>
                  <a:pt x="9851" y="5168"/>
                  <a:pt x="9899" y="4327"/>
                </a:cubicBezTo>
                <a:cubicBezTo>
                  <a:pt x="9949" y="3486"/>
                  <a:pt x="10076" y="2256"/>
                  <a:pt x="9939" y="1566"/>
                </a:cubicBezTo>
                <a:cubicBezTo>
                  <a:pt x="9802" y="876"/>
                  <a:pt x="9478" y="471"/>
                  <a:pt x="9075" y="216"/>
                </a:cubicBezTo>
                <a:cubicBezTo>
                  <a:pt x="8674" y="-39"/>
                  <a:pt x="7997" y="20"/>
                  <a:pt x="7525" y="5"/>
                </a:cubicBezTo>
                <a:cubicBezTo>
                  <a:pt x="7055" y="-9"/>
                  <a:pt x="6898" y="5"/>
                  <a:pt x="6270" y="1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111" name="Google Shape;10111;p124"/>
          <p:cNvGrpSpPr/>
          <p:nvPr/>
        </p:nvGrpSpPr>
        <p:grpSpPr>
          <a:xfrm>
            <a:off x="4443463" y="1937239"/>
            <a:ext cx="365125" cy="635525"/>
            <a:chOff x="4140" y="433"/>
            <a:chExt cx="1425" cy="2392"/>
          </a:xfrm>
        </p:grpSpPr>
        <p:sp>
          <p:nvSpPr>
            <p:cNvPr id="10112" name="Google Shape;10112;p1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13" name="Google Shape;10113;p124"/>
            <p:cNvSpPr/>
            <p:nvPr/>
          </p:nvSpPr>
          <p:spPr>
            <a:xfrm>
              <a:off x="4202" y="435"/>
              <a:ext cx="1053" cy="227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14" name="Google Shape;10114;p1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15" name="Google Shape;10115;p1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16" name="Google Shape;10116;p124"/>
            <p:cNvSpPr/>
            <p:nvPr/>
          </p:nvSpPr>
          <p:spPr>
            <a:xfrm>
              <a:off x="4214" y="692"/>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117" name="Google Shape;10117;p124"/>
            <p:cNvGrpSpPr/>
            <p:nvPr/>
          </p:nvGrpSpPr>
          <p:grpSpPr>
            <a:xfrm>
              <a:off x="4747" y="668"/>
              <a:ext cx="583" cy="143"/>
              <a:chOff x="612" y="2568"/>
              <a:chExt cx="727" cy="137"/>
            </a:xfrm>
          </p:grpSpPr>
          <p:sp>
            <p:nvSpPr>
              <p:cNvPr id="10118" name="Google Shape;10118;p124"/>
              <p:cNvSpPr/>
              <p:nvPr/>
            </p:nvSpPr>
            <p:spPr>
              <a:xfrm>
                <a:off x="612" y="2568"/>
                <a:ext cx="727"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19" name="Google Shape;10119;p124"/>
              <p:cNvSpPr/>
              <p:nvPr/>
            </p:nvSpPr>
            <p:spPr>
              <a:xfrm>
                <a:off x="627" y="2585"/>
                <a:ext cx="696"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120" name="Google Shape;10120;p124"/>
            <p:cNvSpPr/>
            <p:nvPr/>
          </p:nvSpPr>
          <p:spPr>
            <a:xfrm>
              <a:off x="4227" y="1021"/>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121" name="Google Shape;10121;p124"/>
            <p:cNvGrpSpPr/>
            <p:nvPr/>
          </p:nvGrpSpPr>
          <p:grpSpPr>
            <a:xfrm>
              <a:off x="4747" y="1003"/>
              <a:ext cx="583" cy="125"/>
              <a:chOff x="614" y="2577"/>
              <a:chExt cx="727" cy="130"/>
            </a:xfrm>
          </p:grpSpPr>
          <p:sp>
            <p:nvSpPr>
              <p:cNvPr id="10122" name="Google Shape;10122;p124"/>
              <p:cNvSpPr/>
              <p:nvPr/>
            </p:nvSpPr>
            <p:spPr>
              <a:xfrm>
                <a:off x="614" y="2577"/>
                <a:ext cx="727" cy="13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23" name="Google Shape;10123;p124"/>
              <p:cNvSpPr/>
              <p:nvPr/>
            </p:nvSpPr>
            <p:spPr>
              <a:xfrm>
                <a:off x="630" y="2596"/>
                <a:ext cx="696" cy="9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124" name="Google Shape;10124;p124"/>
            <p:cNvSpPr/>
            <p:nvPr/>
          </p:nvSpPr>
          <p:spPr>
            <a:xfrm>
              <a:off x="4214" y="1355"/>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25" name="Google Shape;10125;p124"/>
            <p:cNvSpPr/>
            <p:nvPr/>
          </p:nvSpPr>
          <p:spPr>
            <a:xfrm>
              <a:off x="4227" y="1654"/>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126" name="Google Shape;10126;p124"/>
            <p:cNvGrpSpPr/>
            <p:nvPr/>
          </p:nvGrpSpPr>
          <p:grpSpPr>
            <a:xfrm>
              <a:off x="4735" y="1636"/>
              <a:ext cx="576" cy="143"/>
              <a:chOff x="614" y="2576"/>
              <a:chExt cx="718" cy="132"/>
            </a:xfrm>
          </p:grpSpPr>
          <p:sp>
            <p:nvSpPr>
              <p:cNvPr id="10127" name="Google Shape;10127;p124"/>
              <p:cNvSpPr/>
              <p:nvPr/>
            </p:nvSpPr>
            <p:spPr>
              <a:xfrm>
                <a:off x="614" y="2576"/>
                <a:ext cx="718" cy="132"/>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28" name="Google Shape;10128;p124"/>
              <p:cNvSpPr/>
              <p:nvPr/>
            </p:nvSpPr>
            <p:spPr>
              <a:xfrm>
                <a:off x="629" y="2593"/>
                <a:ext cx="687" cy="9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129" name="Google Shape;10129;p1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130" name="Google Shape;10130;p124"/>
            <p:cNvGrpSpPr/>
            <p:nvPr/>
          </p:nvGrpSpPr>
          <p:grpSpPr>
            <a:xfrm>
              <a:off x="4741" y="1325"/>
              <a:ext cx="582" cy="149"/>
              <a:chOff x="616" y="2566"/>
              <a:chExt cx="725" cy="149"/>
            </a:xfrm>
          </p:grpSpPr>
          <p:sp>
            <p:nvSpPr>
              <p:cNvPr id="10131" name="Google Shape;10131;p124"/>
              <p:cNvSpPr/>
              <p:nvPr/>
            </p:nvSpPr>
            <p:spPr>
              <a:xfrm>
                <a:off x="616" y="2566"/>
                <a:ext cx="725" cy="14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32" name="Google Shape;10132;p124"/>
              <p:cNvSpPr/>
              <p:nvPr/>
            </p:nvSpPr>
            <p:spPr>
              <a:xfrm>
                <a:off x="632" y="2584"/>
                <a:ext cx="695" cy="11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133" name="Google Shape;10133;p124"/>
            <p:cNvSpPr/>
            <p:nvPr/>
          </p:nvSpPr>
          <p:spPr>
            <a:xfrm>
              <a:off x="5249" y="435"/>
              <a:ext cx="68" cy="2282"/>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34" name="Google Shape;10134;p1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35" name="Google Shape;10135;p1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36" name="Google Shape;10136;p124"/>
            <p:cNvSpPr/>
            <p:nvPr/>
          </p:nvSpPr>
          <p:spPr>
            <a:xfrm>
              <a:off x="5515" y="2610"/>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37" name="Google Shape;10137;p1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38" name="Google Shape;10138;p124"/>
            <p:cNvSpPr/>
            <p:nvPr/>
          </p:nvSpPr>
          <p:spPr>
            <a:xfrm>
              <a:off x="4140" y="2682"/>
              <a:ext cx="1202" cy="143"/>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39" name="Google Shape;10139;p124"/>
            <p:cNvSpPr/>
            <p:nvPr/>
          </p:nvSpPr>
          <p:spPr>
            <a:xfrm>
              <a:off x="4202" y="2711"/>
              <a:ext cx="1078" cy="78"/>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40" name="Google Shape;10140;p124"/>
            <p:cNvSpPr/>
            <p:nvPr/>
          </p:nvSpPr>
          <p:spPr>
            <a:xfrm>
              <a:off x="4307" y="2383"/>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41" name="Google Shape;10141;p124"/>
            <p:cNvSpPr/>
            <p:nvPr/>
          </p:nvSpPr>
          <p:spPr>
            <a:xfrm>
              <a:off x="4487" y="2383"/>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10142" name="Google Shape;10142;p124"/>
            <p:cNvSpPr/>
            <p:nvPr/>
          </p:nvSpPr>
          <p:spPr>
            <a:xfrm>
              <a:off x="4660" y="2383"/>
              <a:ext cx="161" cy="13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43" name="Google Shape;10143;p124"/>
            <p:cNvSpPr/>
            <p:nvPr/>
          </p:nvSpPr>
          <p:spPr>
            <a:xfrm>
              <a:off x="5063" y="1833"/>
              <a:ext cx="87" cy="765"/>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grpSp>
        <p:nvGrpSpPr>
          <p:cNvPr id="10144" name="Google Shape;10144;p124"/>
          <p:cNvGrpSpPr/>
          <p:nvPr/>
        </p:nvGrpSpPr>
        <p:grpSpPr>
          <a:xfrm>
            <a:off x="5880151" y="2103927"/>
            <a:ext cx="365125" cy="635524"/>
            <a:chOff x="4140" y="433"/>
            <a:chExt cx="1425" cy="2392"/>
          </a:xfrm>
        </p:grpSpPr>
        <p:sp>
          <p:nvSpPr>
            <p:cNvPr id="10145" name="Google Shape;10145;p1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46" name="Google Shape;10146;p124"/>
            <p:cNvSpPr/>
            <p:nvPr/>
          </p:nvSpPr>
          <p:spPr>
            <a:xfrm>
              <a:off x="4202" y="435"/>
              <a:ext cx="1053" cy="227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47" name="Google Shape;10147;p1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48" name="Google Shape;10148;p1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49" name="Google Shape;10149;p124"/>
            <p:cNvSpPr/>
            <p:nvPr/>
          </p:nvSpPr>
          <p:spPr>
            <a:xfrm>
              <a:off x="4214" y="692"/>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150" name="Google Shape;10150;p124"/>
            <p:cNvGrpSpPr/>
            <p:nvPr/>
          </p:nvGrpSpPr>
          <p:grpSpPr>
            <a:xfrm>
              <a:off x="4741" y="674"/>
              <a:ext cx="588" cy="138"/>
              <a:chOff x="604" y="2574"/>
              <a:chExt cx="734" cy="132"/>
            </a:xfrm>
          </p:grpSpPr>
          <p:sp>
            <p:nvSpPr>
              <p:cNvPr id="10151" name="Google Shape;10151;p124"/>
              <p:cNvSpPr/>
              <p:nvPr/>
            </p:nvSpPr>
            <p:spPr>
              <a:xfrm>
                <a:off x="604" y="2574"/>
                <a:ext cx="734" cy="132"/>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52" name="Google Shape;10152;p124"/>
              <p:cNvSpPr/>
              <p:nvPr/>
            </p:nvSpPr>
            <p:spPr>
              <a:xfrm>
                <a:off x="627" y="2585"/>
                <a:ext cx="696"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153" name="Google Shape;10153;p124"/>
            <p:cNvSpPr/>
            <p:nvPr/>
          </p:nvSpPr>
          <p:spPr>
            <a:xfrm>
              <a:off x="4227" y="1021"/>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154" name="Google Shape;10154;p124"/>
            <p:cNvGrpSpPr/>
            <p:nvPr/>
          </p:nvGrpSpPr>
          <p:grpSpPr>
            <a:xfrm>
              <a:off x="4747" y="1003"/>
              <a:ext cx="583" cy="125"/>
              <a:chOff x="614" y="2577"/>
              <a:chExt cx="727" cy="130"/>
            </a:xfrm>
          </p:grpSpPr>
          <p:sp>
            <p:nvSpPr>
              <p:cNvPr id="10155" name="Google Shape;10155;p124"/>
              <p:cNvSpPr/>
              <p:nvPr/>
            </p:nvSpPr>
            <p:spPr>
              <a:xfrm>
                <a:off x="614" y="2577"/>
                <a:ext cx="727" cy="13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56" name="Google Shape;10156;p124"/>
              <p:cNvSpPr/>
              <p:nvPr/>
            </p:nvSpPr>
            <p:spPr>
              <a:xfrm>
                <a:off x="630" y="2596"/>
                <a:ext cx="696" cy="9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157" name="Google Shape;10157;p124"/>
            <p:cNvSpPr/>
            <p:nvPr/>
          </p:nvSpPr>
          <p:spPr>
            <a:xfrm>
              <a:off x="4214" y="1355"/>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58" name="Google Shape;10158;p124"/>
            <p:cNvSpPr/>
            <p:nvPr/>
          </p:nvSpPr>
          <p:spPr>
            <a:xfrm>
              <a:off x="4227" y="1654"/>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159" name="Google Shape;10159;p124"/>
            <p:cNvGrpSpPr/>
            <p:nvPr/>
          </p:nvGrpSpPr>
          <p:grpSpPr>
            <a:xfrm>
              <a:off x="4735" y="1636"/>
              <a:ext cx="576" cy="143"/>
              <a:chOff x="614" y="2576"/>
              <a:chExt cx="718" cy="132"/>
            </a:xfrm>
          </p:grpSpPr>
          <p:sp>
            <p:nvSpPr>
              <p:cNvPr id="10160" name="Google Shape;10160;p124"/>
              <p:cNvSpPr/>
              <p:nvPr/>
            </p:nvSpPr>
            <p:spPr>
              <a:xfrm>
                <a:off x="614" y="2576"/>
                <a:ext cx="718" cy="132"/>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61" name="Google Shape;10161;p124"/>
              <p:cNvSpPr/>
              <p:nvPr/>
            </p:nvSpPr>
            <p:spPr>
              <a:xfrm>
                <a:off x="629" y="2593"/>
                <a:ext cx="687" cy="9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162" name="Google Shape;10162;p1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163" name="Google Shape;10163;p124"/>
            <p:cNvGrpSpPr/>
            <p:nvPr/>
          </p:nvGrpSpPr>
          <p:grpSpPr>
            <a:xfrm>
              <a:off x="4741" y="1325"/>
              <a:ext cx="582" cy="149"/>
              <a:chOff x="616" y="2566"/>
              <a:chExt cx="725" cy="149"/>
            </a:xfrm>
          </p:grpSpPr>
          <p:sp>
            <p:nvSpPr>
              <p:cNvPr id="10164" name="Google Shape;10164;p124"/>
              <p:cNvSpPr/>
              <p:nvPr/>
            </p:nvSpPr>
            <p:spPr>
              <a:xfrm>
                <a:off x="616" y="2566"/>
                <a:ext cx="725" cy="14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65" name="Google Shape;10165;p124"/>
              <p:cNvSpPr/>
              <p:nvPr/>
            </p:nvSpPr>
            <p:spPr>
              <a:xfrm>
                <a:off x="632" y="2584"/>
                <a:ext cx="695" cy="11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166" name="Google Shape;10166;p124"/>
            <p:cNvSpPr/>
            <p:nvPr/>
          </p:nvSpPr>
          <p:spPr>
            <a:xfrm>
              <a:off x="5249" y="435"/>
              <a:ext cx="68" cy="2282"/>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67" name="Google Shape;10167;p1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68" name="Google Shape;10168;p1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69" name="Google Shape;10169;p124"/>
            <p:cNvSpPr/>
            <p:nvPr/>
          </p:nvSpPr>
          <p:spPr>
            <a:xfrm>
              <a:off x="5515" y="2610"/>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70" name="Google Shape;10170;p1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71" name="Google Shape;10171;p124"/>
            <p:cNvSpPr/>
            <p:nvPr/>
          </p:nvSpPr>
          <p:spPr>
            <a:xfrm>
              <a:off x="4140" y="2682"/>
              <a:ext cx="1202" cy="143"/>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72" name="Google Shape;10172;p124"/>
            <p:cNvSpPr/>
            <p:nvPr/>
          </p:nvSpPr>
          <p:spPr>
            <a:xfrm>
              <a:off x="4202" y="2711"/>
              <a:ext cx="1078" cy="78"/>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73" name="Google Shape;10173;p124"/>
            <p:cNvSpPr/>
            <p:nvPr/>
          </p:nvSpPr>
          <p:spPr>
            <a:xfrm>
              <a:off x="4307" y="2383"/>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74" name="Google Shape;10174;p124"/>
            <p:cNvSpPr/>
            <p:nvPr/>
          </p:nvSpPr>
          <p:spPr>
            <a:xfrm>
              <a:off x="4487" y="2383"/>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10175" name="Google Shape;10175;p124"/>
            <p:cNvSpPr/>
            <p:nvPr/>
          </p:nvSpPr>
          <p:spPr>
            <a:xfrm>
              <a:off x="4660" y="2383"/>
              <a:ext cx="161" cy="13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76" name="Google Shape;10176;p124"/>
            <p:cNvSpPr/>
            <p:nvPr/>
          </p:nvSpPr>
          <p:spPr>
            <a:xfrm>
              <a:off x="5063" y="1833"/>
              <a:ext cx="87" cy="765"/>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grpSp>
        <p:nvGrpSpPr>
          <p:cNvPr id="10177" name="Google Shape;10177;p124"/>
          <p:cNvGrpSpPr/>
          <p:nvPr/>
        </p:nvGrpSpPr>
        <p:grpSpPr>
          <a:xfrm>
            <a:off x="6418313" y="2367976"/>
            <a:ext cx="365125" cy="638175"/>
            <a:chOff x="4140" y="429"/>
            <a:chExt cx="1425" cy="2396"/>
          </a:xfrm>
        </p:grpSpPr>
        <p:sp>
          <p:nvSpPr>
            <p:cNvPr id="10178" name="Google Shape;10178;p1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79" name="Google Shape;10179;p124"/>
            <p:cNvSpPr/>
            <p:nvPr/>
          </p:nvSpPr>
          <p:spPr>
            <a:xfrm>
              <a:off x="4202"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80" name="Google Shape;10180;p1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81" name="Google Shape;10181;p1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82" name="Google Shape;10182;p124"/>
            <p:cNvSpPr/>
            <p:nvPr/>
          </p:nvSpPr>
          <p:spPr>
            <a:xfrm>
              <a:off x="4214" y="691"/>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183" name="Google Shape;10183;p124"/>
            <p:cNvGrpSpPr/>
            <p:nvPr/>
          </p:nvGrpSpPr>
          <p:grpSpPr>
            <a:xfrm>
              <a:off x="4747" y="662"/>
              <a:ext cx="583" cy="143"/>
              <a:chOff x="612" y="2562"/>
              <a:chExt cx="727" cy="137"/>
            </a:xfrm>
          </p:grpSpPr>
          <p:sp>
            <p:nvSpPr>
              <p:cNvPr id="10184" name="Google Shape;10184;p124"/>
              <p:cNvSpPr/>
              <p:nvPr/>
            </p:nvSpPr>
            <p:spPr>
              <a:xfrm>
                <a:off x="612" y="2562"/>
                <a:ext cx="727"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85" name="Google Shape;10185;p124"/>
              <p:cNvSpPr/>
              <p:nvPr/>
            </p:nvSpPr>
            <p:spPr>
              <a:xfrm>
                <a:off x="627" y="2585"/>
                <a:ext cx="696"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186" name="Google Shape;10186;p124"/>
            <p:cNvSpPr/>
            <p:nvPr/>
          </p:nvSpPr>
          <p:spPr>
            <a:xfrm>
              <a:off x="4227" y="1019"/>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187" name="Google Shape;10187;p124"/>
            <p:cNvGrpSpPr/>
            <p:nvPr/>
          </p:nvGrpSpPr>
          <p:grpSpPr>
            <a:xfrm>
              <a:off x="4747" y="995"/>
              <a:ext cx="583" cy="125"/>
              <a:chOff x="614" y="2569"/>
              <a:chExt cx="727" cy="130"/>
            </a:xfrm>
          </p:grpSpPr>
          <p:sp>
            <p:nvSpPr>
              <p:cNvPr id="10188" name="Google Shape;10188;p124"/>
              <p:cNvSpPr/>
              <p:nvPr/>
            </p:nvSpPr>
            <p:spPr>
              <a:xfrm>
                <a:off x="614" y="2569"/>
                <a:ext cx="727" cy="13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89" name="Google Shape;10189;p124"/>
              <p:cNvSpPr/>
              <p:nvPr/>
            </p:nvSpPr>
            <p:spPr>
              <a:xfrm>
                <a:off x="630" y="2588"/>
                <a:ext cx="696" cy="9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190" name="Google Shape;10190;p124"/>
            <p:cNvSpPr/>
            <p:nvPr/>
          </p:nvSpPr>
          <p:spPr>
            <a:xfrm>
              <a:off x="4214" y="1359"/>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91" name="Google Shape;10191;p124"/>
            <p:cNvSpPr/>
            <p:nvPr/>
          </p:nvSpPr>
          <p:spPr>
            <a:xfrm>
              <a:off x="4227" y="1657"/>
              <a:ext cx="601" cy="42"/>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192" name="Google Shape;10192;p124"/>
            <p:cNvGrpSpPr/>
            <p:nvPr/>
          </p:nvGrpSpPr>
          <p:grpSpPr>
            <a:xfrm>
              <a:off x="4735" y="1627"/>
              <a:ext cx="576" cy="143"/>
              <a:chOff x="614" y="2568"/>
              <a:chExt cx="718" cy="132"/>
            </a:xfrm>
          </p:grpSpPr>
          <p:sp>
            <p:nvSpPr>
              <p:cNvPr id="10193" name="Google Shape;10193;p124"/>
              <p:cNvSpPr/>
              <p:nvPr/>
            </p:nvSpPr>
            <p:spPr>
              <a:xfrm>
                <a:off x="614" y="2568"/>
                <a:ext cx="718" cy="132"/>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94" name="Google Shape;10194;p124"/>
              <p:cNvSpPr/>
              <p:nvPr/>
            </p:nvSpPr>
            <p:spPr>
              <a:xfrm>
                <a:off x="629" y="2584"/>
                <a:ext cx="687" cy="9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195" name="Google Shape;10195;p1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196" name="Google Shape;10196;p124"/>
            <p:cNvGrpSpPr/>
            <p:nvPr/>
          </p:nvGrpSpPr>
          <p:grpSpPr>
            <a:xfrm>
              <a:off x="4741" y="1329"/>
              <a:ext cx="582" cy="137"/>
              <a:chOff x="616" y="2570"/>
              <a:chExt cx="725" cy="137"/>
            </a:xfrm>
          </p:grpSpPr>
          <p:sp>
            <p:nvSpPr>
              <p:cNvPr id="10197" name="Google Shape;10197;p124"/>
              <p:cNvSpPr/>
              <p:nvPr/>
            </p:nvSpPr>
            <p:spPr>
              <a:xfrm>
                <a:off x="616"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198" name="Google Shape;10198;p124"/>
              <p:cNvSpPr/>
              <p:nvPr/>
            </p:nvSpPr>
            <p:spPr>
              <a:xfrm>
                <a:off x="632" y="2588"/>
                <a:ext cx="69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199" name="Google Shape;10199;p124"/>
            <p:cNvSpPr/>
            <p:nvPr/>
          </p:nvSpPr>
          <p:spPr>
            <a:xfrm>
              <a:off x="5249" y="429"/>
              <a:ext cx="68" cy="2289"/>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00" name="Google Shape;10200;p1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01" name="Google Shape;10201;p1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02" name="Google Shape;10202;p124"/>
            <p:cNvSpPr/>
            <p:nvPr/>
          </p:nvSpPr>
          <p:spPr>
            <a:xfrm>
              <a:off x="5515" y="2610"/>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03" name="Google Shape;10203;p1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04" name="Google Shape;10204;p124"/>
            <p:cNvSpPr/>
            <p:nvPr/>
          </p:nvSpPr>
          <p:spPr>
            <a:xfrm>
              <a:off x="4140" y="2682"/>
              <a:ext cx="1202" cy="143"/>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05" name="Google Shape;10205;p124"/>
            <p:cNvSpPr/>
            <p:nvPr/>
          </p:nvSpPr>
          <p:spPr>
            <a:xfrm>
              <a:off x="4202" y="2712"/>
              <a:ext cx="1078" cy="77"/>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06" name="Google Shape;10206;p124"/>
            <p:cNvSpPr/>
            <p:nvPr/>
          </p:nvSpPr>
          <p:spPr>
            <a:xfrm>
              <a:off x="4307"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07" name="Google Shape;10207;p124"/>
            <p:cNvSpPr/>
            <p:nvPr/>
          </p:nvSpPr>
          <p:spPr>
            <a:xfrm>
              <a:off x="4487"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10208" name="Google Shape;10208;p124"/>
            <p:cNvSpPr/>
            <p:nvPr/>
          </p:nvSpPr>
          <p:spPr>
            <a:xfrm>
              <a:off x="4660" y="2378"/>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09" name="Google Shape;10209;p124"/>
            <p:cNvSpPr/>
            <p:nvPr/>
          </p:nvSpPr>
          <p:spPr>
            <a:xfrm>
              <a:off x="5063" y="1836"/>
              <a:ext cx="87" cy="763"/>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210" name="Google Shape;10210;p124"/>
          <p:cNvSpPr txBox="1"/>
          <p:nvPr/>
        </p:nvSpPr>
        <p:spPr>
          <a:xfrm>
            <a:off x="5026076" y="1707576"/>
            <a:ext cx="1501775"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Narrow"/>
                <a:ea typeface="Arial Narrow"/>
                <a:cs typeface="Arial Narrow"/>
                <a:sym typeface="Arial Narrow"/>
              </a:rPr>
              <a:t>Amazon cloud</a:t>
            </a:r>
            <a:endParaRPr/>
          </a:p>
        </p:txBody>
      </p:sp>
      <p:grpSp>
        <p:nvGrpSpPr>
          <p:cNvPr id="10211" name="Google Shape;10211;p124"/>
          <p:cNvGrpSpPr/>
          <p:nvPr/>
        </p:nvGrpSpPr>
        <p:grpSpPr>
          <a:xfrm>
            <a:off x="8856713" y="1799651"/>
            <a:ext cx="1376363" cy="1355725"/>
            <a:chOff x="7030938" y="1184076"/>
            <a:chExt cx="1375947" cy="1355492"/>
          </a:xfrm>
        </p:grpSpPr>
        <p:sp>
          <p:nvSpPr>
            <p:cNvPr id="10212" name="Google Shape;10212;p124"/>
            <p:cNvSpPr/>
            <p:nvPr/>
          </p:nvSpPr>
          <p:spPr>
            <a:xfrm rot="10800000">
              <a:off x="7030938" y="1184076"/>
              <a:ext cx="1300345" cy="1355492"/>
            </a:xfrm>
            <a:custGeom>
              <a:rect b="b" l="l" r="r" t="t"/>
              <a:pathLst>
                <a:path extrusionOk="0" h="10000" w="10000">
                  <a:moveTo>
                    <a:pt x="6270" y="126"/>
                  </a:moveTo>
                  <a:cubicBezTo>
                    <a:pt x="5642" y="245"/>
                    <a:pt x="4469" y="528"/>
                    <a:pt x="3738" y="756"/>
                  </a:cubicBezTo>
                  <a:cubicBezTo>
                    <a:pt x="3007" y="984"/>
                    <a:pt x="2405" y="1322"/>
                    <a:pt x="1887" y="1495"/>
                  </a:cubicBezTo>
                  <a:cubicBezTo>
                    <a:pt x="1369" y="1668"/>
                    <a:pt x="1195" y="1105"/>
                    <a:pt x="629" y="1793"/>
                  </a:cubicBezTo>
                  <a:cubicBezTo>
                    <a:pt x="63" y="2481"/>
                    <a:pt x="218" y="3574"/>
                    <a:pt x="128" y="4417"/>
                  </a:cubicBezTo>
                  <a:cubicBezTo>
                    <a:pt x="39" y="5260"/>
                    <a:pt x="-87" y="6368"/>
                    <a:pt x="89" y="6848"/>
                  </a:cubicBezTo>
                  <a:cubicBezTo>
                    <a:pt x="265" y="7328"/>
                    <a:pt x="491" y="7223"/>
                    <a:pt x="1207" y="7298"/>
                  </a:cubicBezTo>
                  <a:cubicBezTo>
                    <a:pt x="1924" y="7374"/>
                    <a:pt x="3641" y="7133"/>
                    <a:pt x="4406" y="7298"/>
                  </a:cubicBezTo>
                  <a:cubicBezTo>
                    <a:pt x="5171" y="7463"/>
                    <a:pt x="5298" y="7868"/>
                    <a:pt x="5779" y="8288"/>
                  </a:cubicBezTo>
                  <a:cubicBezTo>
                    <a:pt x="6260" y="8709"/>
                    <a:pt x="6848" y="9549"/>
                    <a:pt x="7290" y="9819"/>
                  </a:cubicBezTo>
                  <a:cubicBezTo>
                    <a:pt x="7731" y="10089"/>
                    <a:pt x="8124" y="10014"/>
                    <a:pt x="8448" y="9879"/>
                  </a:cubicBezTo>
                  <a:cubicBezTo>
                    <a:pt x="8771" y="9744"/>
                    <a:pt x="9056" y="9549"/>
                    <a:pt x="9252" y="9008"/>
                  </a:cubicBezTo>
                  <a:cubicBezTo>
                    <a:pt x="9448" y="8469"/>
                    <a:pt x="9537" y="7418"/>
                    <a:pt x="9644" y="6639"/>
                  </a:cubicBezTo>
                  <a:cubicBezTo>
                    <a:pt x="9752" y="5858"/>
                    <a:pt x="9851" y="5168"/>
                    <a:pt x="9899" y="4327"/>
                  </a:cubicBezTo>
                  <a:cubicBezTo>
                    <a:pt x="9949" y="3486"/>
                    <a:pt x="10076" y="2256"/>
                    <a:pt x="9939" y="1566"/>
                  </a:cubicBezTo>
                  <a:cubicBezTo>
                    <a:pt x="9802" y="876"/>
                    <a:pt x="9478" y="471"/>
                    <a:pt x="9075" y="216"/>
                  </a:cubicBezTo>
                  <a:cubicBezTo>
                    <a:pt x="8674" y="-39"/>
                    <a:pt x="7997" y="20"/>
                    <a:pt x="7525" y="5"/>
                  </a:cubicBezTo>
                  <a:cubicBezTo>
                    <a:pt x="7055" y="-9"/>
                    <a:pt x="6898" y="5"/>
                    <a:pt x="6270" y="1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213" name="Google Shape;10213;p124"/>
            <p:cNvGrpSpPr/>
            <p:nvPr/>
          </p:nvGrpSpPr>
          <p:grpSpPr>
            <a:xfrm>
              <a:off x="7191141" y="1666633"/>
              <a:ext cx="365020" cy="636487"/>
              <a:chOff x="4140" y="433"/>
              <a:chExt cx="1423" cy="2392"/>
            </a:xfrm>
          </p:grpSpPr>
          <p:sp>
            <p:nvSpPr>
              <p:cNvPr id="10214" name="Google Shape;10214;p1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15" name="Google Shape;10215;p124"/>
              <p:cNvSpPr/>
              <p:nvPr/>
            </p:nvSpPr>
            <p:spPr>
              <a:xfrm>
                <a:off x="4202" y="433"/>
                <a:ext cx="1052" cy="2279"/>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16" name="Google Shape;10216;p1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17" name="Google Shape;10217;p1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18" name="Google Shape;10218;p124"/>
              <p:cNvSpPr/>
              <p:nvPr/>
            </p:nvSpPr>
            <p:spPr>
              <a:xfrm>
                <a:off x="4215" y="695"/>
                <a:ext cx="594"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219" name="Google Shape;10219;p124"/>
              <p:cNvGrpSpPr/>
              <p:nvPr/>
            </p:nvGrpSpPr>
            <p:grpSpPr>
              <a:xfrm>
                <a:off x="4747" y="671"/>
                <a:ext cx="582" cy="131"/>
                <a:chOff x="611" y="2571"/>
                <a:chExt cx="726" cy="126"/>
              </a:xfrm>
            </p:grpSpPr>
            <p:sp>
              <p:nvSpPr>
                <p:cNvPr id="10220" name="Google Shape;10220;p124"/>
                <p:cNvSpPr/>
                <p:nvPr/>
              </p:nvSpPr>
              <p:spPr>
                <a:xfrm>
                  <a:off x="611" y="2571"/>
                  <a:ext cx="726"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21" name="Google Shape;10221;p124"/>
                <p:cNvSpPr/>
                <p:nvPr/>
              </p:nvSpPr>
              <p:spPr>
                <a:xfrm>
                  <a:off x="627" y="2583"/>
                  <a:ext cx="695"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222" name="Google Shape;10222;p124"/>
              <p:cNvSpPr/>
              <p:nvPr/>
            </p:nvSpPr>
            <p:spPr>
              <a:xfrm>
                <a:off x="4227" y="1023"/>
                <a:ext cx="594"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223" name="Google Shape;10223;p124"/>
              <p:cNvGrpSpPr/>
              <p:nvPr/>
            </p:nvGrpSpPr>
            <p:grpSpPr>
              <a:xfrm>
                <a:off x="4747" y="1000"/>
                <a:ext cx="582" cy="125"/>
                <a:chOff x="614" y="2574"/>
                <a:chExt cx="726" cy="130"/>
              </a:xfrm>
            </p:grpSpPr>
            <p:sp>
              <p:nvSpPr>
                <p:cNvPr id="10224" name="Google Shape;10224;p124"/>
                <p:cNvSpPr/>
                <p:nvPr/>
              </p:nvSpPr>
              <p:spPr>
                <a:xfrm>
                  <a:off x="614" y="2574"/>
                  <a:ext cx="726" cy="13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25" name="Google Shape;10225;p124"/>
                <p:cNvSpPr/>
                <p:nvPr/>
              </p:nvSpPr>
              <p:spPr>
                <a:xfrm>
                  <a:off x="629" y="2592"/>
                  <a:ext cx="695" cy="9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226" name="Google Shape;10226;p124"/>
              <p:cNvSpPr/>
              <p:nvPr/>
            </p:nvSpPr>
            <p:spPr>
              <a:xfrm>
                <a:off x="4215" y="1357"/>
                <a:ext cx="594"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27" name="Google Shape;10227;p124"/>
              <p:cNvSpPr/>
              <p:nvPr/>
            </p:nvSpPr>
            <p:spPr>
              <a:xfrm>
                <a:off x="4227" y="1656"/>
                <a:ext cx="600"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228" name="Google Shape;10228;p124"/>
              <p:cNvGrpSpPr/>
              <p:nvPr/>
            </p:nvGrpSpPr>
            <p:grpSpPr>
              <a:xfrm>
                <a:off x="4734" y="1631"/>
                <a:ext cx="576" cy="137"/>
                <a:chOff x="613" y="2572"/>
                <a:chExt cx="717" cy="126"/>
              </a:xfrm>
            </p:grpSpPr>
            <p:sp>
              <p:nvSpPr>
                <p:cNvPr id="10229" name="Google Shape;10229;p124"/>
                <p:cNvSpPr/>
                <p:nvPr/>
              </p:nvSpPr>
              <p:spPr>
                <a:xfrm>
                  <a:off x="613" y="2572"/>
                  <a:ext cx="717"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30" name="Google Shape;10230;p124"/>
                <p:cNvSpPr/>
                <p:nvPr/>
              </p:nvSpPr>
              <p:spPr>
                <a:xfrm>
                  <a:off x="629" y="2589"/>
                  <a:ext cx="686" cy="9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231" name="Google Shape;10231;p1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232" name="Google Shape;10232;p124"/>
              <p:cNvGrpSpPr/>
              <p:nvPr/>
            </p:nvGrpSpPr>
            <p:grpSpPr>
              <a:xfrm>
                <a:off x="4741" y="1328"/>
                <a:ext cx="581" cy="143"/>
                <a:chOff x="616" y="2569"/>
                <a:chExt cx="724" cy="143"/>
              </a:xfrm>
            </p:grpSpPr>
            <p:sp>
              <p:nvSpPr>
                <p:cNvPr id="10233" name="Google Shape;10233;p124"/>
                <p:cNvSpPr/>
                <p:nvPr/>
              </p:nvSpPr>
              <p:spPr>
                <a:xfrm>
                  <a:off x="616" y="2569"/>
                  <a:ext cx="724"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34" name="Google Shape;10234;p124"/>
                <p:cNvSpPr/>
                <p:nvPr/>
              </p:nvSpPr>
              <p:spPr>
                <a:xfrm>
                  <a:off x="631" y="2586"/>
                  <a:ext cx="694" cy="11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235" name="Google Shape;10235;p124"/>
              <p:cNvSpPr/>
              <p:nvPr/>
            </p:nvSpPr>
            <p:spPr>
              <a:xfrm>
                <a:off x="5248" y="433"/>
                <a:ext cx="68"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36" name="Google Shape;10236;p1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37" name="Google Shape;10237;p1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38" name="Google Shape;10238;p124"/>
              <p:cNvSpPr/>
              <p:nvPr/>
            </p:nvSpPr>
            <p:spPr>
              <a:xfrm>
                <a:off x="5514"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39" name="Google Shape;10239;p1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40" name="Google Shape;10240;p124"/>
              <p:cNvSpPr/>
              <p:nvPr/>
            </p:nvSpPr>
            <p:spPr>
              <a:xfrm>
                <a:off x="4140" y="2682"/>
                <a:ext cx="1200" cy="143"/>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41" name="Google Shape;10241;p124"/>
              <p:cNvSpPr/>
              <p:nvPr/>
            </p:nvSpPr>
            <p:spPr>
              <a:xfrm>
                <a:off x="4202" y="2711"/>
                <a:ext cx="1077" cy="78"/>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42" name="Google Shape;10242;p124"/>
              <p:cNvSpPr/>
              <p:nvPr/>
            </p:nvSpPr>
            <p:spPr>
              <a:xfrm>
                <a:off x="4307" y="2383"/>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43" name="Google Shape;10243;p124"/>
              <p:cNvSpPr/>
              <p:nvPr/>
            </p:nvSpPr>
            <p:spPr>
              <a:xfrm>
                <a:off x="4487" y="2383"/>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10244" name="Google Shape;10244;p124"/>
              <p:cNvSpPr/>
              <p:nvPr/>
            </p:nvSpPr>
            <p:spPr>
              <a:xfrm>
                <a:off x="4660" y="2383"/>
                <a:ext cx="161" cy="13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45" name="Google Shape;10245;p124"/>
              <p:cNvSpPr/>
              <p:nvPr/>
            </p:nvSpPr>
            <p:spPr>
              <a:xfrm>
                <a:off x="5062" y="1835"/>
                <a:ext cx="87" cy="764"/>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246" name="Google Shape;10246;p124"/>
            <p:cNvSpPr txBox="1"/>
            <p:nvPr/>
          </p:nvSpPr>
          <p:spPr>
            <a:xfrm>
              <a:off x="7600043" y="1655943"/>
              <a:ext cx="806842" cy="6170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1800">
                  <a:solidFill>
                    <a:schemeClr val="dk1"/>
                  </a:solidFill>
                  <a:latin typeface="Arial Narrow"/>
                  <a:ea typeface="Arial Narrow"/>
                  <a:cs typeface="Arial Narrow"/>
                  <a:sym typeface="Arial Narrow"/>
                </a:rPr>
                <a:t>CDN</a:t>
              </a:r>
              <a:endParaRPr/>
            </a:p>
            <a:p>
              <a:pPr indent="0" lvl="0" marL="0" marR="0" rtl="0" algn="l">
                <a:lnSpc>
                  <a:spcPct val="100000"/>
                </a:lnSpc>
                <a:spcBef>
                  <a:spcPts val="0"/>
                </a:spcBef>
                <a:spcAft>
                  <a:spcPts val="0"/>
                </a:spcAft>
                <a:buNone/>
              </a:pPr>
              <a:r>
                <a:rPr lang="en-US" sz="1800">
                  <a:solidFill>
                    <a:schemeClr val="dk1"/>
                  </a:solidFill>
                  <a:latin typeface="Arial Narrow"/>
                  <a:ea typeface="Arial Narrow"/>
                  <a:cs typeface="Arial Narrow"/>
                  <a:sym typeface="Arial Narrow"/>
                </a:rPr>
                <a:t>server </a:t>
              </a:r>
              <a:endParaRPr/>
            </a:p>
          </p:txBody>
        </p:sp>
      </p:grpSp>
      <p:cxnSp>
        <p:nvCxnSpPr>
          <p:cNvPr id="10247" name="Google Shape;10247;p124"/>
          <p:cNvCxnSpPr/>
          <p:nvPr/>
        </p:nvCxnSpPr>
        <p:spPr>
          <a:xfrm flipH="1">
            <a:off x="5170538" y="2728339"/>
            <a:ext cx="7938" cy="2376487"/>
          </a:xfrm>
          <a:prstGeom prst="straightConnector1">
            <a:avLst/>
          </a:prstGeom>
          <a:noFill/>
          <a:ln cap="flat" cmpd="sng" w="25400">
            <a:solidFill>
              <a:schemeClr val="dk1"/>
            </a:solidFill>
            <a:prstDash val="solid"/>
            <a:round/>
            <a:headEnd len="med" w="med" type="triangle"/>
            <a:tailEnd len="med" w="med" type="triangle"/>
          </a:ln>
        </p:spPr>
      </p:cxnSp>
      <p:grpSp>
        <p:nvGrpSpPr>
          <p:cNvPr id="10248" name="Google Shape;10248;p124"/>
          <p:cNvGrpSpPr/>
          <p:nvPr/>
        </p:nvGrpSpPr>
        <p:grpSpPr>
          <a:xfrm>
            <a:off x="5011788" y="3701476"/>
            <a:ext cx="317500" cy="369888"/>
            <a:chOff x="1614533" y="4280420"/>
            <a:chExt cx="317511" cy="369332"/>
          </a:xfrm>
        </p:grpSpPr>
        <p:sp>
          <p:nvSpPr>
            <p:cNvPr id="10249" name="Google Shape;10249;p124"/>
            <p:cNvSpPr/>
            <p:nvPr/>
          </p:nvSpPr>
          <p:spPr>
            <a:xfrm>
              <a:off x="1628337" y="4321838"/>
              <a:ext cx="303707" cy="303707"/>
            </a:xfrm>
            <a:prstGeom prst="ellipse">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0250" name="Google Shape;10250;p124"/>
            <p:cNvSpPr txBox="1"/>
            <p:nvPr/>
          </p:nvSpPr>
          <p:spPr>
            <a:xfrm>
              <a:off x="1614533" y="4280420"/>
              <a:ext cx="3130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2</a:t>
              </a:r>
              <a:endParaRPr/>
            </a:p>
          </p:txBody>
        </p:sp>
      </p:grpSp>
      <p:sp>
        <p:nvSpPr>
          <p:cNvPr id="10251" name="Google Shape;10251;p124"/>
          <p:cNvSpPr txBox="1"/>
          <p:nvPr/>
        </p:nvSpPr>
        <p:spPr>
          <a:xfrm>
            <a:off x="3710826" y="3221785"/>
            <a:ext cx="2033587" cy="61786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2000">
                <a:solidFill>
                  <a:schemeClr val="dk1"/>
                </a:solidFill>
                <a:latin typeface="Calibri"/>
                <a:ea typeface="Calibri"/>
                <a:cs typeface="Calibri"/>
                <a:sym typeface="Calibri"/>
              </a:rPr>
              <a:t>Bob browses</a:t>
            </a:r>
            <a:endParaRPr/>
          </a:p>
          <a:p>
            <a:pPr indent="0" lvl="0" marL="0" marR="0" rtl="0" algn="l">
              <a:lnSpc>
                <a:spcPct val="85000"/>
              </a:lnSpc>
              <a:spcBef>
                <a:spcPts val="0"/>
              </a:spcBef>
              <a:spcAft>
                <a:spcPts val="0"/>
              </a:spcAft>
              <a:buNone/>
            </a:pPr>
            <a:r>
              <a:rPr lang="en-US" sz="2000">
                <a:solidFill>
                  <a:schemeClr val="dk1"/>
                </a:solidFill>
                <a:latin typeface="Calibri"/>
                <a:ea typeface="Calibri"/>
                <a:cs typeface="Calibri"/>
                <a:sym typeface="Calibri"/>
              </a:rPr>
              <a:t>Netflix video</a:t>
            </a:r>
            <a:endParaRPr/>
          </a:p>
        </p:txBody>
      </p:sp>
      <p:cxnSp>
        <p:nvCxnSpPr>
          <p:cNvPr id="10252" name="Google Shape;10252;p124"/>
          <p:cNvCxnSpPr/>
          <p:nvPr/>
        </p:nvCxnSpPr>
        <p:spPr>
          <a:xfrm flipH="1">
            <a:off x="5603035" y="2752151"/>
            <a:ext cx="3175" cy="2352675"/>
          </a:xfrm>
          <a:prstGeom prst="straightConnector1">
            <a:avLst/>
          </a:prstGeom>
          <a:noFill/>
          <a:ln cap="flat" cmpd="sng" w="25400">
            <a:solidFill>
              <a:schemeClr val="dk1"/>
            </a:solidFill>
            <a:prstDash val="solid"/>
            <a:round/>
            <a:headEnd len="med" w="med" type="none"/>
            <a:tailEnd len="med" w="med" type="triangle"/>
          </a:ln>
        </p:spPr>
      </p:cxnSp>
      <p:sp>
        <p:nvSpPr>
          <p:cNvPr id="10253" name="Google Shape;10253;p124"/>
          <p:cNvSpPr txBox="1"/>
          <p:nvPr/>
        </p:nvSpPr>
        <p:spPr>
          <a:xfrm>
            <a:off x="5730631" y="3620486"/>
            <a:ext cx="1785938" cy="12003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2000">
                <a:solidFill>
                  <a:schemeClr val="dk1"/>
                </a:solidFill>
                <a:latin typeface="Calibri"/>
                <a:ea typeface="Calibri"/>
                <a:cs typeface="Calibri"/>
                <a:sym typeface="Calibri"/>
              </a:rPr>
              <a:t>Manifest file, requested</a:t>
            </a:r>
            <a:endParaRPr/>
          </a:p>
          <a:p>
            <a:pPr indent="0" lvl="0" marL="0" marR="0" rtl="0" algn="l">
              <a:lnSpc>
                <a:spcPct val="90000"/>
              </a:lnSpc>
              <a:spcBef>
                <a:spcPts val="0"/>
              </a:spcBef>
              <a:spcAft>
                <a:spcPts val="0"/>
              </a:spcAft>
              <a:buNone/>
            </a:pPr>
            <a:r>
              <a:rPr lang="en-US" sz="2000">
                <a:solidFill>
                  <a:schemeClr val="dk1"/>
                </a:solidFill>
                <a:latin typeface="Calibri"/>
                <a:ea typeface="Calibri"/>
                <a:cs typeface="Calibri"/>
                <a:sym typeface="Calibri"/>
              </a:rPr>
              <a:t>returned for </a:t>
            </a:r>
            <a:endParaRPr/>
          </a:p>
          <a:p>
            <a:pPr indent="0" lvl="0" marL="0" marR="0" rtl="0" algn="l">
              <a:lnSpc>
                <a:spcPct val="90000"/>
              </a:lnSpc>
              <a:spcBef>
                <a:spcPts val="0"/>
              </a:spcBef>
              <a:spcAft>
                <a:spcPts val="0"/>
              </a:spcAft>
              <a:buNone/>
            </a:pPr>
            <a:r>
              <a:rPr lang="en-US" sz="2000">
                <a:solidFill>
                  <a:schemeClr val="dk1"/>
                </a:solidFill>
                <a:latin typeface="Calibri"/>
                <a:ea typeface="Calibri"/>
                <a:cs typeface="Calibri"/>
                <a:sym typeface="Calibri"/>
              </a:rPr>
              <a:t>specific video</a:t>
            </a:r>
            <a:endParaRPr/>
          </a:p>
        </p:txBody>
      </p:sp>
      <p:sp>
        <p:nvSpPr>
          <p:cNvPr id="10254" name="Google Shape;10254;p124"/>
          <p:cNvSpPr/>
          <p:nvPr/>
        </p:nvSpPr>
        <p:spPr>
          <a:xfrm rot="10543217">
            <a:off x="5647410" y="5245456"/>
            <a:ext cx="2215511" cy="391437"/>
          </a:xfrm>
          <a:prstGeom prst="rightArrow">
            <a:avLst>
              <a:gd fmla="val 50000" name="adj1"/>
              <a:gd fmla="val 50000" name="adj2"/>
            </a:avLst>
          </a:prstGeom>
          <a:gradFill>
            <a:gsLst>
              <a:gs pos="0">
                <a:srgbClr val="000090"/>
              </a:gs>
              <a:gs pos="100000">
                <a:srgbClr val="FFFFFF"/>
              </a:gs>
            </a:gsLst>
            <a:lin ang="10260000" scaled="0"/>
          </a:gradFill>
          <a:ln cap="flat" cmpd="sng" w="1587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Comic Sans MS"/>
              <a:ea typeface="Comic Sans MS"/>
              <a:cs typeface="Comic Sans MS"/>
              <a:sym typeface="Comic Sans MS"/>
            </a:endParaRPr>
          </a:p>
        </p:txBody>
      </p:sp>
      <p:cxnSp>
        <p:nvCxnSpPr>
          <p:cNvPr id="10255" name="Google Shape;10255;p124"/>
          <p:cNvCxnSpPr/>
          <p:nvPr/>
        </p:nvCxnSpPr>
        <p:spPr>
          <a:xfrm flipH="1" rot="10800000">
            <a:off x="5830938" y="5106414"/>
            <a:ext cx="1892300" cy="147637"/>
          </a:xfrm>
          <a:prstGeom prst="straightConnector1">
            <a:avLst/>
          </a:prstGeom>
          <a:noFill/>
          <a:ln cap="flat" cmpd="sng" w="25400">
            <a:solidFill>
              <a:schemeClr val="dk1"/>
            </a:solidFill>
            <a:prstDash val="solid"/>
            <a:round/>
            <a:headEnd len="med" w="med" type="none"/>
            <a:tailEnd len="med" w="med" type="triangle"/>
          </a:ln>
        </p:spPr>
      </p:cxnSp>
      <p:sp>
        <p:nvSpPr>
          <p:cNvPr id="10256" name="Google Shape;10256;p124"/>
          <p:cNvSpPr txBox="1"/>
          <p:nvPr/>
        </p:nvSpPr>
        <p:spPr>
          <a:xfrm>
            <a:off x="6094462" y="5619176"/>
            <a:ext cx="2354263" cy="83715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lang="en-US" sz="2000">
                <a:solidFill>
                  <a:schemeClr val="dk1"/>
                </a:solidFill>
                <a:latin typeface="Calibri"/>
                <a:ea typeface="Calibri"/>
                <a:cs typeface="Calibri"/>
                <a:sym typeface="Calibri"/>
              </a:rPr>
              <a:t>DASH server selected, contacted, streaming begins</a:t>
            </a:r>
            <a:endParaRPr/>
          </a:p>
        </p:txBody>
      </p:sp>
      <p:cxnSp>
        <p:nvCxnSpPr>
          <p:cNvPr id="10257" name="Google Shape;10257;p124"/>
          <p:cNvCxnSpPr/>
          <p:nvPr/>
        </p:nvCxnSpPr>
        <p:spPr>
          <a:xfrm>
            <a:off x="6897738" y="2493389"/>
            <a:ext cx="2049463" cy="26987"/>
          </a:xfrm>
          <a:prstGeom prst="straightConnector1">
            <a:avLst/>
          </a:prstGeom>
          <a:noFill/>
          <a:ln cap="flat" cmpd="sng" w="25400">
            <a:solidFill>
              <a:schemeClr val="dk1"/>
            </a:solidFill>
            <a:prstDash val="dash"/>
            <a:round/>
            <a:headEnd len="med" w="med" type="none"/>
            <a:tailEnd len="med" w="med" type="triangle"/>
          </a:ln>
        </p:spPr>
      </p:cxnSp>
      <p:cxnSp>
        <p:nvCxnSpPr>
          <p:cNvPr id="10258" name="Google Shape;10258;p124"/>
          <p:cNvCxnSpPr/>
          <p:nvPr/>
        </p:nvCxnSpPr>
        <p:spPr>
          <a:xfrm>
            <a:off x="6907263" y="2536251"/>
            <a:ext cx="1541463" cy="1133475"/>
          </a:xfrm>
          <a:prstGeom prst="straightConnector1">
            <a:avLst/>
          </a:prstGeom>
          <a:noFill/>
          <a:ln cap="flat" cmpd="sng" w="25400">
            <a:solidFill>
              <a:schemeClr val="dk1"/>
            </a:solidFill>
            <a:prstDash val="dash"/>
            <a:round/>
            <a:headEnd len="med" w="med" type="none"/>
            <a:tailEnd len="med" w="med" type="triangle"/>
          </a:ln>
        </p:spPr>
      </p:cxnSp>
      <p:cxnSp>
        <p:nvCxnSpPr>
          <p:cNvPr id="10259" name="Google Shape;10259;p124"/>
          <p:cNvCxnSpPr/>
          <p:nvPr/>
        </p:nvCxnSpPr>
        <p:spPr>
          <a:xfrm>
            <a:off x="6897738" y="2550539"/>
            <a:ext cx="2019300" cy="2706687"/>
          </a:xfrm>
          <a:prstGeom prst="straightConnector1">
            <a:avLst/>
          </a:prstGeom>
          <a:noFill/>
          <a:ln cap="flat" cmpd="sng" w="25400">
            <a:solidFill>
              <a:schemeClr val="dk1"/>
            </a:solidFill>
            <a:prstDash val="dash"/>
            <a:round/>
            <a:headEnd len="med" w="med" type="none"/>
            <a:tailEnd len="med" w="med" type="triangle"/>
          </a:ln>
        </p:spPr>
      </p:cxnSp>
      <p:sp>
        <p:nvSpPr>
          <p:cNvPr id="10260" name="Google Shape;10260;p124"/>
          <p:cNvSpPr txBox="1"/>
          <p:nvPr/>
        </p:nvSpPr>
        <p:spPr>
          <a:xfrm>
            <a:off x="6645326" y="1640901"/>
            <a:ext cx="2033587" cy="7921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1800">
                <a:solidFill>
                  <a:schemeClr val="dk1"/>
                </a:solidFill>
                <a:latin typeface="Arial Narrow"/>
                <a:ea typeface="Arial Narrow"/>
                <a:cs typeface="Arial Narrow"/>
                <a:sym typeface="Arial Narrow"/>
              </a:rPr>
              <a:t>upload copies of multiple versions of video to CDN servers</a:t>
            </a:r>
            <a:endParaRPr/>
          </a:p>
        </p:txBody>
      </p:sp>
      <p:grpSp>
        <p:nvGrpSpPr>
          <p:cNvPr id="10261" name="Google Shape;10261;p124"/>
          <p:cNvGrpSpPr/>
          <p:nvPr/>
        </p:nvGrpSpPr>
        <p:grpSpPr>
          <a:xfrm>
            <a:off x="8329663" y="3056951"/>
            <a:ext cx="1374775" cy="1354138"/>
            <a:chOff x="7030938" y="1184076"/>
            <a:chExt cx="1375947" cy="1355492"/>
          </a:xfrm>
        </p:grpSpPr>
        <p:sp>
          <p:nvSpPr>
            <p:cNvPr id="10262" name="Google Shape;10262;p124"/>
            <p:cNvSpPr/>
            <p:nvPr/>
          </p:nvSpPr>
          <p:spPr>
            <a:xfrm rot="10800000">
              <a:off x="7030938" y="1184076"/>
              <a:ext cx="1300345" cy="1355492"/>
            </a:xfrm>
            <a:custGeom>
              <a:rect b="b" l="l" r="r" t="t"/>
              <a:pathLst>
                <a:path extrusionOk="0" h="10000" w="10000">
                  <a:moveTo>
                    <a:pt x="6270" y="126"/>
                  </a:moveTo>
                  <a:cubicBezTo>
                    <a:pt x="5642" y="245"/>
                    <a:pt x="4469" y="528"/>
                    <a:pt x="3738" y="756"/>
                  </a:cubicBezTo>
                  <a:cubicBezTo>
                    <a:pt x="3007" y="984"/>
                    <a:pt x="2405" y="1322"/>
                    <a:pt x="1887" y="1495"/>
                  </a:cubicBezTo>
                  <a:cubicBezTo>
                    <a:pt x="1369" y="1668"/>
                    <a:pt x="1195" y="1105"/>
                    <a:pt x="629" y="1793"/>
                  </a:cubicBezTo>
                  <a:cubicBezTo>
                    <a:pt x="63" y="2481"/>
                    <a:pt x="218" y="3574"/>
                    <a:pt x="128" y="4417"/>
                  </a:cubicBezTo>
                  <a:cubicBezTo>
                    <a:pt x="39" y="5260"/>
                    <a:pt x="-87" y="6368"/>
                    <a:pt x="89" y="6848"/>
                  </a:cubicBezTo>
                  <a:cubicBezTo>
                    <a:pt x="265" y="7328"/>
                    <a:pt x="491" y="7223"/>
                    <a:pt x="1207" y="7298"/>
                  </a:cubicBezTo>
                  <a:cubicBezTo>
                    <a:pt x="1924" y="7374"/>
                    <a:pt x="3641" y="7133"/>
                    <a:pt x="4406" y="7298"/>
                  </a:cubicBezTo>
                  <a:cubicBezTo>
                    <a:pt x="5171" y="7463"/>
                    <a:pt x="5298" y="7868"/>
                    <a:pt x="5779" y="8288"/>
                  </a:cubicBezTo>
                  <a:cubicBezTo>
                    <a:pt x="6260" y="8709"/>
                    <a:pt x="6848" y="9549"/>
                    <a:pt x="7290" y="9819"/>
                  </a:cubicBezTo>
                  <a:cubicBezTo>
                    <a:pt x="7731" y="10089"/>
                    <a:pt x="8124" y="10014"/>
                    <a:pt x="8448" y="9879"/>
                  </a:cubicBezTo>
                  <a:cubicBezTo>
                    <a:pt x="8771" y="9744"/>
                    <a:pt x="9056" y="9549"/>
                    <a:pt x="9252" y="9008"/>
                  </a:cubicBezTo>
                  <a:cubicBezTo>
                    <a:pt x="9448" y="8469"/>
                    <a:pt x="9537" y="7418"/>
                    <a:pt x="9644" y="6639"/>
                  </a:cubicBezTo>
                  <a:cubicBezTo>
                    <a:pt x="9752" y="5858"/>
                    <a:pt x="9851" y="5168"/>
                    <a:pt x="9899" y="4327"/>
                  </a:cubicBezTo>
                  <a:cubicBezTo>
                    <a:pt x="9949" y="3486"/>
                    <a:pt x="10076" y="2256"/>
                    <a:pt x="9939" y="1566"/>
                  </a:cubicBezTo>
                  <a:cubicBezTo>
                    <a:pt x="9802" y="876"/>
                    <a:pt x="9478" y="471"/>
                    <a:pt x="9075" y="216"/>
                  </a:cubicBezTo>
                  <a:cubicBezTo>
                    <a:pt x="8674" y="-39"/>
                    <a:pt x="7997" y="20"/>
                    <a:pt x="7525" y="5"/>
                  </a:cubicBezTo>
                  <a:cubicBezTo>
                    <a:pt x="7055" y="-9"/>
                    <a:pt x="6898" y="5"/>
                    <a:pt x="6270" y="1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263" name="Google Shape;10263;p124"/>
            <p:cNvGrpSpPr/>
            <p:nvPr/>
          </p:nvGrpSpPr>
          <p:grpSpPr>
            <a:xfrm>
              <a:off x="7191398" y="1666633"/>
              <a:ext cx="365533" cy="635954"/>
              <a:chOff x="4141" y="433"/>
              <a:chExt cx="1425" cy="2390"/>
            </a:xfrm>
          </p:grpSpPr>
          <p:sp>
            <p:nvSpPr>
              <p:cNvPr id="10264" name="Google Shape;10264;p1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65" name="Google Shape;10265;p124"/>
              <p:cNvSpPr/>
              <p:nvPr/>
            </p:nvSpPr>
            <p:spPr>
              <a:xfrm>
                <a:off x="4203" y="435"/>
                <a:ext cx="1053" cy="227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66" name="Google Shape;10266;p1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67" name="Google Shape;10267;p1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68" name="Google Shape;10268;p124"/>
              <p:cNvSpPr/>
              <p:nvPr/>
            </p:nvSpPr>
            <p:spPr>
              <a:xfrm>
                <a:off x="4215" y="698"/>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269" name="Google Shape;10269;p124"/>
              <p:cNvGrpSpPr/>
              <p:nvPr/>
            </p:nvGrpSpPr>
            <p:grpSpPr>
              <a:xfrm>
                <a:off x="4748" y="674"/>
                <a:ext cx="583" cy="138"/>
                <a:chOff x="613" y="2574"/>
                <a:chExt cx="727" cy="132"/>
              </a:xfrm>
            </p:grpSpPr>
            <p:sp>
              <p:nvSpPr>
                <p:cNvPr id="10270" name="Google Shape;10270;p124"/>
                <p:cNvSpPr/>
                <p:nvPr/>
              </p:nvSpPr>
              <p:spPr>
                <a:xfrm>
                  <a:off x="613" y="2574"/>
                  <a:ext cx="727" cy="132"/>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71" name="Google Shape;10271;p124"/>
                <p:cNvSpPr/>
                <p:nvPr/>
              </p:nvSpPr>
              <p:spPr>
                <a:xfrm>
                  <a:off x="628" y="2585"/>
                  <a:ext cx="696"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272" name="Google Shape;10272;p124"/>
              <p:cNvSpPr/>
              <p:nvPr/>
            </p:nvSpPr>
            <p:spPr>
              <a:xfrm>
                <a:off x="4228" y="1020"/>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273" name="Google Shape;10273;p124"/>
              <p:cNvGrpSpPr/>
              <p:nvPr/>
            </p:nvGrpSpPr>
            <p:grpSpPr>
              <a:xfrm>
                <a:off x="4748" y="1003"/>
                <a:ext cx="583" cy="125"/>
                <a:chOff x="615" y="2577"/>
                <a:chExt cx="727" cy="130"/>
              </a:xfrm>
            </p:grpSpPr>
            <p:sp>
              <p:nvSpPr>
                <p:cNvPr id="10274" name="Google Shape;10274;p124"/>
                <p:cNvSpPr/>
                <p:nvPr/>
              </p:nvSpPr>
              <p:spPr>
                <a:xfrm>
                  <a:off x="615" y="2577"/>
                  <a:ext cx="727" cy="13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75" name="Google Shape;10275;p124"/>
                <p:cNvSpPr/>
                <p:nvPr/>
              </p:nvSpPr>
              <p:spPr>
                <a:xfrm>
                  <a:off x="631" y="2595"/>
                  <a:ext cx="696" cy="9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276" name="Google Shape;10276;p124"/>
              <p:cNvSpPr/>
              <p:nvPr/>
            </p:nvSpPr>
            <p:spPr>
              <a:xfrm>
                <a:off x="4215" y="1355"/>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77" name="Google Shape;10277;p124"/>
              <p:cNvSpPr/>
              <p:nvPr/>
            </p:nvSpPr>
            <p:spPr>
              <a:xfrm>
                <a:off x="4228" y="1653"/>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278" name="Google Shape;10278;p124"/>
              <p:cNvGrpSpPr/>
              <p:nvPr/>
            </p:nvGrpSpPr>
            <p:grpSpPr>
              <a:xfrm>
                <a:off x="4736" y="1636"/>
                <a:ext cx="576" cy="143"/>
                <a:chOff x="615" y="2576"/>
                <a:chExt cx="718" cy="132"/>
              </a:xfrm>
            </p:grpSpPr>
            <p:sp>
              <p:nvSpPr>
                <p:cNvPr id="10279" name="Google Shape;10279;p124"/>
                <p:cNvSpPr/>
                <p:nvPr/>
              </p:nvSpPr>
              <p:spPr>
                <a:xfrm>
                  <a:off x="615" y="2576"/>
                  <a:ext cx="718" cy="132"/>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80" name="Google Shape;10280;p124"/>
                <p:cNvSpPr/>
                <p:nvPr/>
              </p:nvSpPr>
              <p:spPr>
                <a:xfrm>
                  <a:off x="630" y="2592"/>
                  <a:ext cx="687" cy="9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281" name="Google Shape;10281;p1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282" name="Google Shape;10282;p124"/>
              <p:cNvGrpSpPr/>
              <p:nvPr/>
            </p:nvGrpSpPr>
            <p:grpSpPr>
              <a:xfrm>
                <a:off x="4748" y="1325"/>
                <a:ext cx="582" cy="149"/>
                <a:chOff x="625" y="2566"/>
                <a:chExt cx="725" cy="149"/>
              </a:xfrm>
            </p:grpSpPr>
            <p:sp>
              <p:nvSpPr>
                <p:cNvPr id="10283" name="Google Shape;10283;p124"/>
                <p:cNvSpPr/>
                <p:nvPr/>
              </p:nvSpPr>
              <p:spPr>
                <a:xfrm>
                  <a:off x="625" y="2566"/>
                  <a:ext cx="725" cy="14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84" name="Google Shape;10284;p124"/>
                <p:cNvSpPr/>
                <p:nvPr/>
              </p:nvSpPr>
              <p:spPr>
                <a:xfrm>
                  <a:off x="633" y="2584"/>
                  <a:ext cx="694" cy="11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285" name="Google Shape;10285;p124"/>
              <p:cNvSpPr/>
              <p:nvPr/>
            </p:nvSpPr>
            <p:spPr>
              <a:xfrm>
                <a:off x="5250" y="435"/>
                <a:ext cx="68" cy="2281"/>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86" name="Google Shape;10286;p1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87" name="Google Shape;10287;p1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88" name="Google Shape;10288;p124"/>
              <p:cNvSpPr/>
              <p:nvPr/>
            </p:nvSpPr>
            <p:spPr>
              <a:xfrm>
                <a:off x="5516" y="2609"/>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89" name="Google Shape;10289;p1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90" name="Google Shape;10290;p124"/>
              <p:cNvSpPr/>
              <p:nvPr/>
            </p:nvSpPr>
            <p:spPr>
              <a:xfrm>
                <a:off x="4141" y="2680"/>
                <a:ext cx="1202" cy="143"/>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91" name="Google Shape;10291;p124"/>
              <p:cNvSpPr/>
              <p:nvPr/>
            </p:nvSpPr>
            <p:spPr>
              <a:xfrm>
                <a:off x="4203" y="2710"/>
                <a:ext cx="1078" cy="78"/>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92" name="Google Shape;10292;p124"/>
              <p:cNvSpPr/>
              <p:nvPr/>
            </p:nvSpPr>
            <p:spPr>
              <a:xfrm>
                <a:off x="4308" y="2382"/>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93" name="Google Shape;10293;p124"/>
              <p:cNvSpPr/>
              <p:nvPr/>
            </p:nvSpPr>
            <p:spPr>
              <a:xfrm>
                <a:off x="4488" y="2382"/>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10294" name="Google Shape;10294;p124"/>
              <p:cNvSpPr/>
              <p:nvPr/>
            </p:nvSpPr>
            <p:spPr>
              <a:xfrm>
                <a:off x="4661" y="2382"/>
                <a:ext cx="161" cy="13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295" name="Google Shape;10295;p124"/>
              <p:cNvSpPr/>
              <p:nvPr/>
            </p:nvSpPr>
            <p:spPr>
              <a:xfrm>
                <a:off x="5064" y="1832"/>
                <a:ext cx="87" cy="764"/>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296" name="Google Shape;10296;p124"/>
            <p:cNvSpPr txBox="1"/>
            <p:nvPr/>
          </p:nvSpPr>
          <p:spPr>
            <a:xfrm>
              <a:off x="7600043" y="1655943"/>
              <a:ext cx="806842" cy="6170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1800">
                  <a:solidFill>
                    <a:schemeClr val="dk1"/>
                  </a:solidFill>
                  <a:latin typeface="Arial Narrow"/>
                  <a:ea typeface="Arial Narrow"/>
                  <a:cs typeface="Arial Narrow"/>
                  <a:sym typeface="Arial Narrow"/>
                </a:rPr>
                <a:t>CDN</a:t>
              </a:r>
              <a:endParaRPr/>
            </a:p>
            <a:p>
              <a:pPr indent="0" lvl="0" marL="0" marR="0" rtl="0" algn="l">
                <a:lnSpc>
                  <a:spcPct val="100000"/>
                </a:lnSpc>
                <a:spcBef>
                  <a:spcPts val="0"/>
                </a:spcBef>
                <a:spcAft>
                  <a:spcPts val="0"/>
                </a:spcAft>
                <a:buNone/>
              </a:pPr>
              <a:r>
                <a:rPr lang="en-US" sz="1800">
                  <a:solidFill>
                    <a:schemeClr val="dk1"/>
                  </a:solidFill>
                  <a:latin typeface="Arial Narrow"/>
                  <a:ea typeface="Arial Narrow"/>
                  <a:cs typeface="Arial Narrow"/>
                  <a:sym typeface="Arial Narrow"/>
                </a:rPr>
                <a:t>server </a:t>
              </a:r>
              <a:endParaRPr/>
            </a:p>
          </p:txBody>
        </p:sp>
      </p:grpSp>
      <p:grpSp>
        <p:nvGrpSpPr>
          <p:cNvPr id="10297" name="Google Shape;10297;p124"/>
          <p:cNvGrpSpPr/>
          <p:nvPr/>
        </p:nvGrpSpPr>
        <p:grpSpPr>
          <a:xfrm>
            <a:off x="7966126" y="4447601"/>
            <a:ext cx="1376362" cy="1355725"/>
            <a:chOff x="7030938" y="1184076"/>
            <a:chExt cx="1375947" cy="1355492"/>
          </a:xfrm>
        </p:grpSpPr>
        <p:sp>
          <p:nvSpPr>
            <p:cNvPr id="10298" name="Google Shape;10298;p124"/>
            <p:cNvSpPr/>
            <p:nvPr/>
          </p:nvSpPr>
          <p:spPr>
            <a:xfrm rot="10800000">
              <a:off x="7030938" y="1184076"/>
              <a:ext cx="1300345" cy="1355492"/>
            </a:xfrm>
            <a:custGeom>
              <a:rect b="b" l="l" r="r" t="t"/>
              <a:pathLst>
                <a:path extrusionOk="0" h="10000" w="10000">
                  <a:moveTo>
                    <a:pt x="6270" y="126"/>
                  </a:moveTo>
                  <a:cubicBezTo>
                    <a:pt x="5642" y="245"/>
                    <a:pt x="4469" y="528"/>
                    <a:pt x="3738" y="756"/>
                  </a:cubicBezTo>
                  <a:cubicBezTo>
                    <a:pt x="3007" y="984"/>
                    <a:pt x="2405" y="1322"/>
                    <a:pt x="1887" y="1495"/>
                  </a:cubicBezTo>
                  <a:cubicBezTo>
                    <a:pt x="1369" y="1668"/>
                    <a:pt x="1195" y="1105"/>
                    <a:pt x="629" y="1793"/>
                  </a:cubicBezTo>
                  <a:cubicBezTo>
                    <a:pt x="63" y="2481"/>
                    <a:pt x="218" y="3574"/>
                    <a:pt x="128" y="4417"/>
                  </a:cubicBezTo>
                  <a:cubicBezTo>
                    <a:pt x="39" y="5260"/>
                    <a:pt x="-87" y="6368"/>
                    <a:pt x="89" y="6848"/>
                  </a:cubicBezTo>
                  <a:cubicBezTo>
                    <a:pt x="265" y="7328"/>
                    <a:pt x="491" y="7223"/>
                    <a:pt x="1207" y="7298"/>
                  </a:cubicBezTo>
                  <a:cubicBezTo>
                    <a:pt x="1924" y="7374"/>
                    <a:pt x="3641" y="7133"/>
                    <a:pt x="4406" y="7298"/>
                  </a:cubicBezTo>
                  <a:cubicBezTo>
                    <a:pt x="5171" y="7463"/>
                    <a:pt x="5298" y="7868"/>
                    <a:pt x="5779" y="8288"/>
                  </a:cubicBezTo>
                  <a:cubicBezTo>
                    <a:pt x="6260" y="8709"/>
                    <a:pt x="6848" y="9549"/>
                    <a:pt x="7290" y="9819"/>
                  </a:cubicBezTo>
                  <a:cubicBezTo>
                    <a:pt x="7731" y="10089"/>
                    <a:pt x="8124" y="10014"/>
                    <a:pt x="8448" y="9879"/>
                  </a:cubicBezTo>
                  <a:cubicBezTo>
                    <a:pt x="8771" y="9744"/>
                    <a:pt x="9056" y="9549"/>
                    <a:pt x="9252" y="9008"/>
                  </a:cubicBezTo>
                  <a:cubicBezTo>
                    <a:pt x="9448" y="8469"/>
                    <a:pt x="9537" y="7418"/>
                    <a:pt x="9644" y="6639"/>
                  </a:cubicBezTo>
                  <a:cubicBezTo>
                    <a:pt x="9752" y="5858"/>
                    <a:pt x="9851" y="5168"/>
                    <a:pt x="9899" y="4327"/>
                  </a:cubicBezTo>
                  <a:cubicBezTo>
                    <a:pt x="9949" y="3486"/>
                    <a:pt x="10076" y="2256"/>
                    <a:pt x="9939" y="1566"/>
                  </a:cubicBezTo>
                  <a:cubicBezTo>
                    <a:pt x="9802" y="876"/>
                    <a:pt x="9478" y="471"/>
                    <a:pt x="9075" y="216"/>
                  </a:cubicBezTo>
                  <a:cubicBezTo>
                    <a:pt x="8674" y="-39"/>
                    <a:pt x="7997" y="20"/>
                    <a:pt x="7525" y="5"/>
                  </a:cubicBezTo>
                  <a:cubicBezTo>
                    <a:pt x="7055" y="-9"/>
                    <a:pt x="6898" y="5"/>
                    <a:pt x="6270" y="1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299" name="Google Shape;10299;p124"/>
            <p:cNvGrpSpPr/>
            <p:nvPr/>
          </p:nvGrpSpPr>
          <p:grpSpPr>
            <a:xfrm>
              <a:off x="7191141" y="1666633"/>
              <a:ext cx="365020" cy="636487"/>
              <a:chOff x="4140" y="433"/>
              <a:chExt cx="1423" cy="2392"/>
            </a:xfrm>
          </p:grpSpPr>
          <p:sp>
            <p:nvSpPr>
              <p:cNvPr id="10300" name="Google Shape;10300;p1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01" name="Google Shape;10301;p124"/>
              <p:cNvSpPr/>
              <p:nvPr/>
            </p:nvSpPr>
            <p:spPr>
              <a:xfrm>
                <a:off x="4202" y="433"/>
                <a:ext cx="1052" cy="2279"/>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302" name="Google Shape;10302;p1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03" name="Google Shape;10303;p1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04" name="Google Shape;10304;p124"/>
              <p:cNvSpPr/>
              <p:nvPr/>
            </p:nvSpPr>
            <p:spPr>
              <a:xfrm>
                <a:off x="4215" y="695"/>
                <a:ext cx="594"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305" name="Google Shape;10305;p124"/>
              <p:cNvGrpSpPr/>
              <p:nvPr/>
            </p:nvGrpSpPr>
            <p:grpSpPr>
              <a:xfrm>
                <a:off x="4747" y="671"/>
                <a:ext cx="582" cy="131"/>
                <a:chOff x="611" y="2571"/>
                <a:chExt cx="726" cy="126"/>
              </a:xfrm>
            </p:grpSpPr>
            <p:sp>
              <p:nvSpPr>
                <p:cNvPr id="10306" name="Google Shape;10306;p124"/>
                <p:cNvSpPr/>
                <p:nvPr/>
              </p:nvSpPr>
              <p:spPr>
                <a:xfrm>
                  <a:off x="611" y="2571"/>
                  <a:ext cx="726"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307" name="Google Shape;10307;p124"/>
                <p:cNvSpPr/>
                <p:nvPr/>
              </p:nvSpPr>
              <p:spPr>
                <a:xfrm>
                  <a:off x="627" y="2583"/>
                  <a:ext cx="695"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308" name="Google Shape;10308;p124"/>
              <p:cNvSpPr/>
              <p:nvPr/>
            </p:nvSpPr>
            <p:spPr>
              <a:xfrm>
                <a:off x="4227" y="1023"/>
                <a:ext cx="594"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309" name="Google Shape;10309;p124"/>
              <p:cNvGrpSpPr/>
              <p:nvPr/>
            </p:nvGrpSpPr>
            <p:grpSpPr>
              <a:xfrm>
                <a:off x="4747" y="1000"/>
                <a:ext cx="582" cy="125"/>
                <a:chOff x="614" y="2574"/>
                <a:chExt cx="726" cy="130"/>
              </a:xfrm>
            </p:grpSpPr>
            <p:sp>
              <p:nvSpPr>
                <p:cNvPr id="10310" name="Google Shape;10310;p124"/>
                <p:cNvSpPr/>
                <p:nvPr/>
              </p:nvSpPr>
              <p:spPr>
                <a:xfrm>
                  <a:off x="614" y="2574"/>
                  <a:ext cx="726" cy="13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311" name="Google Shape;10311;p124"/>
                <p:cNvSpPr/>
                <p:nvPr/>
              </p:nvSpPr>
              <p:spPr>
                <a:xfrm>
                  <a:off x="629" y="2592"/>
                  <a:ext cx="695" cy="9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312" name="Google Shape;10312;p124"/>
              <p:cNvSpPr/>
              <p:nvPr/>
            </p:nvSpPr>
            <p:spPr>
              <a:xfrm>
                <a:off x="4215" y="1357"/>
                <a:ext cx="594"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313" name="Google Shape;10313;p124"/>
              <p:cNvSpPr/>
              <p:nvPr/>
            </p:nvSpPr>
            <p:spPr>
              <a:xfrm>
                <a:off x="4227" y="1656"/>
                <a:ext cx="600"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10314" name="Google Shape;10314;p124"/>
              <p:cNvGrpSpPr/>
              <p:nvPr/>
            </p:nvGrpSpPr>
            <p:grpSpPr>
              <a:xfrm>
                <a:off x="4734" y="1631"/>
                <a:ext cx="576" cy="137"/>
                <a:chOff x="613" y="2572"/>
                <a:chExt cx="717" cy="126"/>
              </a:xfrm>
            </p:grpSpPr>
            <p:sp>
              <p:nvSpPr>
                <p:cNvPr id="10315" name="Google Shape;10315;p124"/>
                <p:cNvSpPr/>
                <p:nvPr/>
              </p:nvSpPr>
              <p:spPr>
                <a:xfrm>
                  <a:off x="613" y="2572"/>
                  <a:ext cx="717"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316" name="Google Shape;10316;p124"/>
                <p:cNvSpPr/>
                <p:nvPr/>
              </p:nvSpPr>
              <p:spPr>
                <a:xfrm>
                  <a:off x="629" y="2589"/>
                  <a:ext cx="686" cy="9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317" name="Google Shape;10317;p1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318" name="Google Shape;10318;p124"/>
              <p:cNvGrpSpPr/>
              <p:nvPr/>
            </p:nvGrpSpPr>
            <p:grpSpPr>
              <a:xfrm>
                <a:off x="4741" y="1328"/>
                <a:ext cx="581" cy="143"/>
                <a:chOff x="616" y="2569"/>
                <a:chExt cx="724" cy="143"/>
              </a:xfrm>
            </p:grpSpPr>
            <p:sp>
              <p:nvSpPr>
                <p:cNvPr id="10319" name="Google Shape;10319;p124"/>
                <p:cNvSpPr/>
                <p:nvPr/>
              </p:nvSpPr>
              <p:spPr>
                <a:xfrm>
                  <a:off x="616" y="2569"/>
                  <a:ext cx="724"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320" name="Google Shape;10320;p124"/>
                <p:cNvSpPr/>
                <p:nvPr/>
              </p:nvSpPr>
              <p:spPr>
                <a:xfrm>
                  <a:off x="631" y="2586"/>
                  <a:ext cx="694" cy="11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321" name="Google Shape;10321;p124"/>
              <p:cNvSpPr/>
              <p:nvPr/>
            </p:nvSpPr>
            <p:spPr>
              <a:xfrm>
                <a:off x="5248" y="433"/>
                <a:ext cx="68"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322" name="Google Shape;10322;p1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23" name="Google Shape;10323;p1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24" name="Google Shape;10324;p124"/>
              <p:cNvSpPr/>
              <p:nvPr/>
            </p:nvSpPr>
            <p:spPr>
              <a:xfrm>
                <a:off x="5514"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325" name="Google Shape;10325;p1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26" name="Google Shape;10326;p124"/>
              <p:cNvSpPr/>
              <p:nvPr/>
            </p:nvSpPr>
            <p:spPr>
              <a:xfrm>
                <a:off x="4140" y="2682"/>
                <a:ext cx="1200" cy="143"/>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327" name="Google Shape;10327;p124"/>
              <p:cNvSpPr/>
              <p:nvPr/>
            </p:nvSpPr>
            <p:spPr>
              <a:xfrm>
                <a:off x="4202" y="2711"/>
                <a:ext cx="1077" cy="78"/>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328" name="Google Shape;10328;p124"/>
              <p:cNvSpPr/>
              <p:nvPr/>
            </p:nvSpPr>
            <p:spPr>
              <a:xfrm>
                <a:off x="4307" y="2383"/>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329" name="Google Shape;10329;p124"/>
              <p:cNvSpPr/>
              <p:nvPr/>
            </p:nvSpPr>
            <p:spPr>
              <a:xfrm>
                <a:off x="4487" y="2383"/>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Arial"/>
                  <a:ea typeface="Arial"/>
                  <a:cs typeface="Arial"/>
                  <a:sym typeface="Arial"/>
                </a:endParaRPr>
              </a:p>
            </p:txBody>
          </p:sp>
          <p:sp>
            <p:nvSpPr>
              <p:cNvPr id="10330" name="Google Shape;10330;p124"/>
              <p:cNvSpPr/>
              <p:nvPr/>
            </p:nvSpPr>
            <p:spPr>
              <a:xfrm>
                <a:off x="4660" y="2383"/>
                <a:ext cx="161" cy="13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0331" name="Google Shape;10331;p124"/>
              <p:cNvSpPr/>
              <p:nvPr/>
            </p:nvSpPr>
            <p:spPr>
              <a:xfrm>
                <a:off x="5062" y="1835"/>
                <a:ext cx="87" cy="764"/>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0332" name="Google Shape;10332;p124"/>
            <p:cNvSpPr txBox="1"/>
            <p:nvPr/>
          </p:nvSpPr>
          <p:spPr>
            <a:xfrm>
              <a:off x="7600043" y="1655943"/>
              <a:ext cx="806842" cy="6170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1800">
                  <a:solidFill>
                    <a:schemeClr val="dk1"/>
                  </a:solidFill>
                  <a:latin typeface="Arial Narrow"/>
                  <a:ea typeface="Arial Narrow"/>
                  <a:cs typeface="Arial Narrow"/>
                  <a:sym typeface="Arial Narrow"/>
                </a:rPr>
                <a:t>CDN</a:t>
              </a:r>
              <a:endParaRPr/>
            </a:p>
            <a:p>
              <a:pPr indent="0" lvl="0" marL="0" marR="0" rtl="0" algn="l">
                <a:lnSpc>
                  <a:spcPct val="100000"/>
                </a:lnSpc>
                <a:spcBef>
                  <a:spcPts val="0"/>
                </a:spcBef>
                <a:spcAft>
                  <a:spcPts val="0"/>
                </a:spcAft>
                <a:buNone/>
              </a:pPr>
              <a:r>
                <a:rPr lang="en-US" sz="1800">
                  <a:solidFill>
                    <a:schemeClr val="dk1"/>
                  </a:solidFill>
                  <a:latin typeface="Arial Narrow"/>
                  <a:ea typeface="Arial Narrow"/>
                  <a:cs typeface="Arial Narrow"/>
                  <a:sym typeface="Arial Narrow"/>
                </a:rPr>
                <a:t>server </a:t>
              </a:r>
              <a:endParaRPr/>
            </a:p>
          </p:txBody>
        </p:sp>
      </p:grpSp>
      <p:cxnSp>
        <p:nvCxnSpPr>
          <p:cNvPr id="10333" name="Google Shape;10333;p124"/>
          <p:cNvCxnSpPr/>
          <p:nvPr/>
        </p:nvCxnSpPr>
        <p:spPr>
          <a:xfrm rot="10800000">
            <a:off x="5509310" y="2754538"/>
            <a:ext cx="3175" cy="2352675"/>
          </a:xfrm>
          <a:prstGeom prst="straightConnector1">
            <a:avLst/>
          </a:prstGeom>
          <a:noFill/>
          <a:ln cap="flat" cmpd="sng" w="25400">
            <a:solidFill>
              <a:schemeClr val="dk1"/>
            </a:solidFill>
            <a:prstDash val="solid"/>
            <a:round/>
            <a:headEnd len="med" w="med" type="none"/>
            <a:tailEnd len="med" w="med" type="triangle"/>
          </a:ln>
        </p:spPr>
      </p:cxnSp>
      <p:grpSp>
        <p:nvGrpSpPr>
          <p:cNvPr id="10334" name="Google Shape;10334;p124"/>
          <p:cNvGrpSpPr/>
          <p:nvPr/>
        </p:nvGrpSpPr>
        <p:grpSpPr>
          <a:xfrm>
            <a:off x="5403711" y="4070974"/>
            <a:ext cx="313443" cy="369887"/>
            <a:chOff x="1628337" y="4280420"/>
            <a:chExt cx="313454" cy="369332"/>
          </a:xfrm>
        </p:grpSpPr>
        <p:sp>
          <p:nvSpPr>
            <p:cNvPr id="10335" name="Google Shape;10335;p124"/>
            <p:cNvSpPr/>
            <p:nvPr/>
          </p:nvSpPr>
          <p:spPr>
            <a:xfrm>
              <a:off x="1628337" y="4321838"/>
              <a:ext cx="303707" cy="303707"/>
            </a:xfrm>
            <a:prstGeom prst="ellipse">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0336" name="Google Shape;10336;p124"/>
            <p:cNvSpPr txBox="1"/>
            <p:nvPr/>
          </p:nvSpPr>
          <p:spPr>
            <a:xfrm>
              <a:off x="1628747" y="4280420"/>
              <a:ext cx="3130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3</a:t>
              </a:r>
              <a:endParaRPr/>
            </a:p>
          </p:txBody>
        </p:sp>
      </p:grpSp>
      <p:grpSp>
        <p:nvGrpSpPr>
          <p:cNvPr id="10337" name="Google Shape;10337;p124"/>
          <p:cNvGrpSpPr/>
          <p:nvPr/>
        </p:nvGrpSpPr>
        <p:grpSpPr>
          <a:xfrm>
            <a:off x="6589730" y="5116123"/>
            <a:ext cx="313033" cy="368300"/>
            <a:chOff x="1624009" y="4280420"/>
            <a:chExt cx="313044" cy="369332"/>
          </a:xfrm>
        </p:grpSpPr>
        <p:sp>
          <p:nvSpPr>
            <p:cNvPr id="10338" name="Google Shape;10338;p124"/>
            <p:cNvSpPr/>
            <p:nvPr/>
          </p:nvSpPr>
          <p:spPr>
            <a:xfrm>
              <a:off x="1628337" y="4321838"/>
              <a:ext cx="303707" cy="303707"/>
            </a:xfrm>
            <a:prstGeom prst="ellipse">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0339" name="Google Shape;10339;p124"/>
            <p:cNvSpPr txBox="1"/>
            <p:nvPr/>
          </p:nvSpPr>
          <p:spPr>
            <a:xfrm>
              <a:off x="1624009" y="4280420"/>
              <a:ext cx="3130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4</a:t>
              </a:r>
              <a:endParaRPr/>
            </a:p>
          </p:txBody>
        </p:sp>
      </p:grpSp>
      <p:sp>
        <p:nvSpPr>
          <p:cNvPr id="10340" name="Google Shape;10340;p1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03"/>
                                        </p:tgtEl>
                                        <p:attrNameLst>
                                          <p:attrName>style.visibility</p:attrName>
                                        </p:attrNameLst>
                                      </p:cBhvr>
                                      <p:to>
                                        <p:strVal val="visible"/>
                                      </p:to>
                                    </p:set>
                                    <p:animEffect filter="fade" transition="in">
                                      <p:cBhvr>
                                        <p:cTn dur="500"/>
                                        <p:tgtEl>
                                          <p:spTgt spid="10103"/>
                                        </p:tgtEl>
                                      </p:cBhvr>
                                    </p:animEffect>
                                  </p:childTnLst>
                                </p:cTn>
                              </p:par>
                              <p:par>
                                <p:cTn fill="hold" nodeType="withEffect" presetClass="entr" presetID="10" presetSubtype="0">
                                  <p:stCondLst>
                                    <p:cond delay="0"/>
                                  </p:stCondLst>
                                  <p:childTnLst>
                                    <p:set>
                                      <p:cBhvr>
                                        <p:cTn dur="1" fill="hold">
                                          <p:stCondLst>
                                            <p:cond delay="0"/>
                                          </p:stCondLst>
                                        </p:cTn>
                                        <p:tgtEl>
                                          <p:spTgt spid="10108"/>
                                        </p:tgtEl>
                                        <p:attrNameLst>
                                          <p:attrName>style.visibility</p:attrName>
                                        </p:attrNameLst>
                                      </p:cBhvr>
                                      <p:to>
                                        <p:strVal val="visible"/>
                                      </p:to>
                                    </p:set>
                                    <p:animEffect filter="fade" transition="in">
                                      <p:cBhvr>
                                        <p:cTn dur="500"/>
                                        <p:tgtEl>
                                          <p:spTgt spid="10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51"/>
                                        </p:tgtEl>
                                        <p:attrNameLst>
                                          <p:attrName>style.visibility</p:attrName>
                                        </p:attrNameLst>
                                      </p:cBhvr>
                                      <p:to>
                                        <p:strVal val="visible"/>
                                      </p:to>
                                    </p:set>
                                    <p:animEffect filter="fade" transition="in">
                                      <p:cBhvr>
                                        <p:cTn dur="500"/>
                                        <p:tgtEl>
                                          <p:spTgt spid="10251"/>
                                        </p:tgtEl>
                                      </p:cBhvr>
                                    </p:animEffect>
                                  </p:childTnLst>
                                </p:cTn>
                              </p:par>
                              <p:par>
                                <p:cTn fill="hold" nodeType="withEffect" presetClass="entr" presetID="10" presetSubtype="0">
                                  <p:stCondLst>
                                    <p:cond delay="0"/>
                                  </p:stCondLst>
                                  <p:childTnLst>
                                    <p:set>
                                      <p:cBhvr>
                                        <p:cTn dur="1" fill="hold">
                                          <p:stCondLst>
                                            <p:cond delay="0"/>
                                          </p:stCondLst>
                                        </p:cTn>
                                        <p:tgtEl>
                                          <p:spTgt spid="10247"/>
                                        </p:tgtEl>
                                        <p:attrNameLst>
                                          <p:attrName>style.visibility</p:attrName>
                                        </p:attrNameLst>
                                      </p:cBhvr>
                                      <p:to>
                                        <p:strVal val="visible"/>
                                      </p:to>
                                    </p:set>
                                    <p:animEffect filter="fade" transition="in">
                                      <p:cBhvr>
                                        <p:cTn dur="500"/>
                                        <p:tgtEl>
                                          <p:spTgt spid="10247"/>
                                        </p:tgtEl>
                                      </p:cBhvr>
                                    </p:animEffect>
                                  </p:childTnLst>
                                </p:cTn>
                              </p:par>
                              <p:par>
                                <p:cTn fill="hold" nodeType="withEffect" presetClass="entr" presetID="10" presetSubtype="0">
                                  <p:stCondLst>
                                    <p:cond delay="0"/>
                                  </p:stCondLst>
                                  <p:childTnLst>
                                    <p:set>
                                      <p:cBhvr>
                                        <p:cTn dur="1" fill="hold">
                                          <p:stCondLst>
                                            <p:cond delay="0"/>
                                          </p:stCondLst>
                                        </p:cTn>
                                        <p:tgtEl>
                                          <p:spTgt spid="10248"/>
                                        </p:tgtEl>
                                        <p:attrNameLst>
                                          <p:attrName>style.visibility</p:attrName>
                                        </p:attrNameLst>
                                      </p:cBhvr>
                                      <p:to>
                                        <p:strVal val="visible"/>
                                      </p:to>
                                    </p:set>
                                    <p:animEffect filter="fade" transition="in">
                                      <p:cBhvr>
                                        <p:cTn dur="500"/>
                                        <p:tgtEl>
                                          <p:spTgt spid="10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33"/>
                                        </p:tgtEl>
                                        <p:attrNameLst>
                                          <p:attrName>style.visibility</p:attrName>
                                        </p:attrNameLst>
                                      </p:cBhvr>
                                      <p:to>
                                        <p:strVal val="visible"/>
                                      </p:to>
                                    </p:set>
                                    <p:animEffect filter="fade" transition="in">
                                      <p:cBhvr>
                                        <p:cTn dur="500"/>
                                        <p:tgtEl>
                                          <p:spTgt spid="1033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252"/>
                                        </p:tgtEl>
                                        <p:attrNameLst>
                                          <p:attrName>style.visibility</p:attrName>
                                        </p:attrNameLst>
                                      </p:cBhvr>
                                      <p:to>
                                        <p:strVal val="visible"/>
                                      </p:to>
                                    </p:set>
                                    <p:animEffect filter="fade" transition="in">
                                      <p:cBhvr>
                                        <p:cTn dur="500"/>
                                        <p:tgtEl>
                                          <p:spTgt spid="10252"/>
                                        </p:tgtEl>
                                      </p:cBhvr>
                                    </p:animEffect>
                                  </p:childTnLst>
                                </p:cTn>
                              </p:par>
                              <p:par>
                                <p:cTn fill="hold" nodeType="withEffect" presetClass="entr" presetID="10" presetSubtype="0">
                                  <p:stCondLst>
                                    <p:cond delay="0"/>
                                  </p:stCondLst>
                                  <p:childTnLst>
                                    <p:set>
                                      <p:cBhvr>
                                        <p:cTn dur="1" fill="hold">
                                          <p:stCondLst>
                                            <p:cond delay="0"/>
                                          </p:stCondLst>
                                        </p:cTn>
                                        <p:tgtEl>
                                          <p:spTgt spid="10334"/>
                                        </p:tgtEl>
                                        <p:attrNameLst>
                                          <p:attrName>style.visibility</p:attrName>
                                        </p:attrNameLst>
                                      </p:cBhvr>
                                      <p:to>
                                        <p:strVal val="visible"/>
                                      </p:to>
                                    </p:set>
                                    <p:animEffect filter="fade" transition="in">
                                      <p:cBhvr>
                                        <p:cTn dur="500"/>
                                        <p:tgtEl>
                                          <p:spTgt spid="10334"/>
                                        </p:tgtEl>
                                      </p:cBhvr>
                                    </p:animEffect>
                                  </p:childTnLst>
                                </p:cTn>
                              </p:par>
                              <p:par>
                                <p:cTn fill="hold" nodeType="withEffect" presetClass="entr" presetID="10" presetSubtype="0">
                                  <p:stCondLst>
                                    <p:cond delay="0"/>
                                  </p:stCondLst>
                                  <p:childTnLst>
                                    <p:set>
                                      <p:cBhvr>
                                        <p:cTn dur="1" fill="hold">
                                          <p:stCondLst>
                                            <p:cond delay="0"/>
                                          </p:stCondLst>
                                        </p:cTn>
                                        <p:tgtEl>
                                          <p:spTgt spid="10253"/>
                                        </p:tgtEl>
                                        <p:attrNameLst>
                                          <p:attrName>style.visibility</p:attrName>
                                        </p:attrNameLst>
                                      </p:cBhvr>
                                      <p:to>
                                        <p:strVal val="visible"/>
                                      </p:to>
                                    </p:set>
                                    <p:animEffect filter="fade" transition="in">
                                      <p:cBhvr>
                                        <p:cTn dur="500"/>
                                        <p:tgtEl>
                                          <p:spTgt spid="10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55"/>
                                        </p:tgtEl>
                                        <p:attrNameLst>
                                          <p:attrName>style.visibility</p:attrName>
                                        </p:attrNameLst>
                                      </p:cBhvr>
                                      <p:to>
                                        <p:strVal val="visible"/>
                                      </p:to>
                                    </p:set>
                                    <p:animEffect filter="fade" transition="in">
                                      <p:cBhvr>
                                        <p:cTn dur="500"/>
                                        <p:tgtEl>
                                          <p:spTgt spid="1025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254"/>
                                        </p:tgtEl>
                                        <p:attrNameLst>
                                          <p:attrName>style.visibility</p:attrName>
                                        </p:attrNameLst>
                                      </p:cBhvr>
                                      <p:to>
                                        <p:strVal val="visible"/>
                                      </p:to>
                                    </p:set>
                                    <p:animEffect filter="fade" transition="in">
                                      <p:cBhvr>
                                        <p:cTn dur="500"/>
                                        <p:tgtEl>
                                          <p:spTgt spid="1025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337"/>
                                        </p:tgtEl>
                                        <p:attrNameLst>
                                          <p:attrName>style.visibility</p:attrName>
                                        </p:attrNameLst>
                                      </p:cBhvr>
                                      <p:to>
                                        <p:strVal val="visible"/>
                                      </p:to>
                                    </p:set>
                                    <p:animEffect filter="fade" transition="in">
                                      <p:cBhvr>
                                        <p:cTn dur="500"/>
                                        <p:tgtEl>
                                          <p:spTgt spid="10337"/>
                                        </p:tgtEl>
                                      </p:cBhvr>
                                    </p:animEffect>
                                  </p:childTnLst>
                                </p:cTn>
                              </p:par>
                              <p:par>
                                <p:cTn fill="hold" nodeType="withEffect" presetClass="entr" presetID="10" presetSubtype="0">
                                  <p:stCondLst>
                                    <p:cond delay="0"/>
                                  </p:stCondLst>
                                  <p:childTnLst>
                                    <p:set>
                                      <p:cBhvr>
                                        <p:cTn dur="1" fill="hold">
                                          <p:stCondLst>
                                            <p:cond delay="0"/>
                                          </p:stCondLst>
                                        </p:cTn>
                                        <p:tgtEl>
                                          <p:spTgt spid="10256"/>
                                        </p:tgtEl>
                                        <p:attrNameLst>
                                          <p:attrName>style.visibility</p:attrName>
                                        </p:attrNameLst>
                                      </p:cBhvr>
                                      <p:to>
                                        <p:strVal val="visible"/>
                                      </p:to>
                                    </p:set>
                                    <p:animEffect filter="fade" transition="in">
                                      <p:cBhvr>
                                        <p:cTn dur="500"/>
                                        <p:tgtEl>
                                          <p:spTgt spid="10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5" name="Shape 10345"/>
        <p:cNvGrpSpPr/>
        <p:nvPr/>
      </p:nvGrpSpPr>
      <p:grpSpPr>
        <a:xfrm>
          <a:off x="0" y="0"/>
          <a:ext cx="0" cy="0"/>
          <a:chOff x="0" y="0"/>
          <a:chExt cx="0" cy="0"/>
        </a:xfrm>
      </p:grpSpPr>
      <p:pic>
        <p:nvPicPr>
          <p:cNvPr descr="underline_base" id="10346" name="Google Shape;10346;p125"/>
          <p:cNvPicPr preferRelativeResize="0"/>
          <p:nvPr/>
        </p:nvPicPr>
        <p:blipFill rotWithShape="1">
          <a:blip r:embed="rId3">
            <a:alphaModFix/>
          </a:blip>
          <a:srcRect b="0" l="0" r="0" t="0"/>
          <a:stretch/>
        </p:blipFill>
        <p:spPr>
          <a:xfrm>
            <a:off x="1978025" y="914400"/>
            <a:ext cx="4440238" cy="184150"/>
          </a:xfrm>
          <a:prstGeom prst="rect">
            <a:avLst/>
          </a:prstGeom>
          <a:noFill/>
          <a:ln>
            <a:noFill/>
          </a:ln>
        </p:spPr>
      </p:pic>
      <p:sp>
        <p:nvSpPr>
          <p:cNvPr id="10347" name="Google Shape;10347;p125"/>
          <p:cNvSpPr txBox="1"/>
          <p:nvPr>
            <p:ph type="title"/>
          </p:nvPr>
        </p:nvSpPr>
        <p:spPr>
          <a:xfrm>
            <a:off x="1885950" y="228600"/>
            <a:ext cx="8172450" cy="8715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Case study: Netflix</a:t>
            </a:r>
            <a:endParaRPr/>
          </a:p>
        </p:txBody>
      </p:sp>
      <p:sp>
        <p:nvSpPr>
          <p:cNvPr id="10348" name="Google Shape;10348;p125"/>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1020"/>
              <a:buFont typeface="Arial"/>
              <a:buNone/>
            </a:pPr>
            <a:r>
              <a:rPr lang="en-US" sz="1200">
                <a:solidFill>
                  <a:srgbClr val="000000"/>
                </a:solidFill>
                <a:latin typeface="Tahoma"/>
                <a:ea typeface="Tahoma"/>
                <a:cs typeface="Tahoma"/>
                <a:sym typeface="Tahoma"/>
              </a:rPr>
              <a:t>Introduction</a:t>
            </a:r>
            <a:endParaRPr sz="1200">
              <a:solidFill>
                <a:srgbClr val="000000"/>
              </a:solidFill>
              <a:latin typeface="Tahoma"/>
              <a:ea typeface="Tahoma"/>
              <a:cs typeface="Tahoma"/>
              <a:sym typeface="Tahoma"/>
            </a:endParaRPr>
          </a:p>
        </p:txBody>
      </p:sp>
      <p:sp>
        <p:nvSpPr>
          <p:cNvPr id="10349" name="Google Shape;10349;p125"/>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020"/>
              <a:buFont typeface="Arial"/>
              <a:buNone/>
            </a:pPr>
            <a:r>
              <a:rPr lang="en-US" sz="1200">
                <a:solidFill>
                  <a:srgbClr val="000000"/>
                </a:solidFill>
                <a:latin typeface="Tahoma"/>
                <a:ea typeface="Tahoma"/>
                <a:cs typeface="Tahoma"/>
                <a:sym typeface="Tahoma"/>
              </a:rPr>
              <a:t>2-</a:t>
            </a:r>
            <a:fld id="{00000000-1234-1234-1234-123412341234}" type="slidenum">
              <a:rPr lang="en-US" sz="1200">
                <a:solidFill>
                  <a:srgbClr val="000000"/>
                </a:solidFill>
                <a:latin typeface="Tahoma"/>
                <a:ea typeface="Tahoma"/>
                <a:cs typeface="Tahoma"/>
                <a:sym typeface="Tahoma"/>
              </a:rPr>
              <a:t>‹#›</a:t>
            </a:fld>
            <a:endParaRPr sz="1200">
              <a:solidFill>
                <a:srgbClr val="000000"/>
              </a:solidFill>
              <a:latin typeface="Tahoma"/>
              <a:ea typeface="Tahoma"/>
              <a:cs typeface="Tahoma"/>
              <a:sym typeface="Tahoma"/>
            </a:endParaRPr>
          </a:p>
        </p:txBody>
      </p:sp>
      <p:pic>
        <p:nvPicPr>
          <p:cNvPr id="10350" name="Google Shape;10350;p125"/>
          <p:cNvPicPr preferRelativeResize="0"/>
          <p:nvPr/>
        </p:nvPicPr>
        <p:blipFill rotWithShape="1">
          <a:blip r:embed="rId4">
            <a:alphaModFix/>
          </a:blip>
          <a:srcRect b="0" l="0" r="0" t="0"/>
          <a:stretch/>
        </p:blipFill>
        <p:spPr>
          <a:xfrm>
            <a:off x="5516322" y="1778400"/>
            <a:ext cx="4670666" cy="3830830"/>
          </a:xfrm>
          <a:prstGeom prst="rect">
            <a:avLst/>
          </a:prstGeom>
          <a:noFill/>
          <a:ln>
            <a:noFill/>
          </a:ln>
        </p:spPr>
      </p:pic>
      <p:sp>
        <p:nvSpPr>
          <p:cNvPr id="10351" name="Google Shape;10351;p125"/>
          <p:cNvSpPr txBox="1"/>
          <p:nvPr/>
        </p:nvSpPr>
        <p:spPr>
          <a:xfrm>
            <a:off x="614149" y="1589872"/>
            <a:ext cx="5495495" cy="4510680"/>
          </a:xfrm>
          <a:prstGeom prst="rect">
            <a:avLst/>
          </a:prstGeom>
          <a:noFill/>
          <a:ln>
            <a:noFill/>
          </a:ln>
        </p:spPr>
        <p:txBody>
          <a:bodyPr anchorCtr="0" anchor="t" bIns="45700" lIns="91425" spcFirstLastPara="1" rIns="91425" wrap="square" tIns="45700">
            <a:noAutofit/>
          </a:bodyPr>
          <a:lstStyle/>
          <a:p>
            <a:pPr indent="-457200" lvl="0" marL="457200" marR="0" rtl="0" algn="l">
              <a:lnSpc>
                <a:spcPct val="85000"/>
              </a:lnSpc>
              <a:spcBef>
                <a:spcPts val="0"/>
              </a:spcBef>
              <a:spcAft>
                <a:spcPts val="0"/>
              </a:spcAft>
              <a:buClr>
                <a:srgbClr val="000099"/>
              </a:buClr>
              <a:buSzPts val="1560"/>
              <a:buFont typeface="Noto Sans Symbols"/>
              <a:buChar char="▪"/>
            </a:pPr>
            <a:r>
              <a:rPr b="1" i="1" lang="en-US" sz="2400">
                <a:solidFill>
                  <a:schemeClr val="dk1"/>
                </a:solidFill>
                <a:latin typeface="Calibri"/>
                <a:ea typeface="Calibri"/>
                <a:cs typeface="Calibri"/>
                <a:sym typeface="Calibri"/>
              </a:rPr>
              <a:t>Content ingestion. </a:t>
            </a:r>
            <a:r>
              <a:rPr lang="en-US" sz="2400">
                <a:solidFill>
                  <a:schemeClr val="dk1"/>
                </a:solidFill>
                <a:latin typeface="Calibri"/>
                <a:ea typeface="Calibri"/>
                <a:cs typeface="Calibri"/>
                <a:sym typeface="Calibri"/>
              </a:rPr>
              <a:t>Ingest and process the movie. Netflix receives studio master versions of movies and uploads them to hosts in the Amazon cloud. </a:t>
            </a:r>
            <a:endParaRPr/>
          </a:p>
          <a:p>
            <a:pPr indent="-457200" lvl="0" marL="457200" marR="0" rtl="0" algn="l">
              <a:lnSpc>
                <a:spcPct val="85000"/>
              </a:lnSpc>
              <a:spcBef>
                <a:spcPts val="480"/>
              </a:spcBef>
              <a:spcAft>
                <a:spcPts val="0"/>
              </a:spcAft>
              <a:buClr>
                <a:srgbClr val="000099"/>
              </a:buClr>
              <a:buSzPts val="1560"/>
              <a:buFont typeface="Noto Sans Symbols"/>
              <a:buChar char="▪"/>
            </a:pPr>
            <a:r>
              <a:rPr b="1" i="1" lang="en-US" sz="2400">
                <a:solidFill>
                  <a:schemeClr val="dk1"/>
                </a:solidFill>
                <a:latin typeface="Calibri"/>
                <a:ea typeface="Calibri"/>
                <a:cs typeface="Calibri"/>
                <a:sym typeface="Calibri"/>
              </a:rPr>
              <a:t>Content processing. </a:t>
            </a:r>
            <a:r>
              <a:rPr lang="en-US" sz="2400">
                <a:solidFill>
                  <a:schemeClr val="dk1"/>
                </a:solidFill>
                <a:latin typeface="Calibri"/>
                <a:ea typeface="Calibri"/>
                <a:cs typeface="Calibri"/>
                <a:sym typeface="Calibri"/>
              </a:rPr>
              <a:t>create many different formats for each movie. A different version is created for each of these formats and at multiple bit rates, streaming over HTTP using DASH. </a:t>
            </a:r>
            <a:endParaRPr/>
          </a:p>
          <a:p>
            <a:pPr indent="-457200" lvl="0" marL="457200" marR="0" rtl="0" algn="l">
              <a:lnSpc>
                <a:spcPct val="85000"/>
              </a:lnSpc>
              <a:spcBef>
                <a:spcPts val="480"/>
              </a:spcBef>
              <a:spcAft>
                <a:spcPts val="0"/>
              </a:spcAft>
              <a:buClr>
                <a:srgbClr val="000099"/>
              </a:buClr>
              <a:buSzPts val="1560"/>
              <a:buFont typeface="Noto Sans Symbols"/>
              <a:buChar char="▪"/>
            </a:pPr>
            <a:r>
              <a:rPr b="1" i="1" lang="en-US" sz="2400">
                <a:solidFill>
                  <a:schemeClr val="dk1"/>
                </a:solidFill>
                <a:latin typeface="Calibri"/>
                <a:ea typeface="Calibri"/>
                <a:cs typeface="Calibri"/>
                <a:sym typeface="Calibri"/>
              </a:rPr>
              <a:t>Uploading versions to its CDN. </a:t>
            </a:r>
            <a:r>
              <a:rPr lang="en-US" sz="2400">
                <a:solidFill>
                  <a:schemeClr val="dk1"/>
                </a:solidFill>
                <a:latin typeface="Calibri"/>
                <a:ea typeface="Calibri"/>
                <a:cs typeface="Calibri"/>
                <a:sym typeface="Calibri"/>
              </a:rPr>
              <a:t>Once all of the versions of a movie have been created, the hosts in the Amazon cloud upload the versions to its CDN. </a:t>
            </a:r>
            <a:endParaRPr/>
          </a:p>
          <a:p>
            <a:pPr indent="-358140" lvl="0" marL="457200" marR="0" rtl="0" algn="l">
              <a:lnSpc>
                <a:spcPct val="85000"/>
              </a:lnSpc>
              <a:spcBef>
                <a:spcPts val="480"/>
              </a:spcBef>
              <a:spcAft>
                <a:spcPts val="0"/>
              </a:spcAft>
              <a:buClr>
                <a:srgbClr val="000099"/>
              </a:buClr>
              <a:buSzPts val="1560"/>
              <a:buFont typeface="Noto Sans Symbols"/>
              <a:buNone/>
            </a:pPr>
            <a:r>
              <a:t/>
            </a:r>
            <a:endParaRPr sz="2400">
              <a:solidFill>
                <a:schemeClr val="dk1"/>
              </a:solidFill>
              <a:latin typeface="Calibri"/>
              <a:ea typeface="Calibri"/>
              <a:cs typeface="Calibri"/>
              <a:sym typeface="Calibri"/>
            </a:endParaRPr>
          </a:p>
          <a:p>
            <a:pPr indent="-358140" lvl="0" marL="457200" marR="0" rtl="0" algn="l">
              <a:lnSpc>
                <a:spcPct val="85000"/>
              </a:lnSpc>
              <a:spcBef>
                <a:spcPts val="480"/>
              </a:spcBef>
              <a:spcAft>
                <a:spcPts val="0"/>
              </a:spcAft>
              <a:buClr>
                <a:srgbClr val="000099"/>
              </a:buClr>
              <a:buSzPts val="1560"/>
              <a:buFont typeface="Noto Sans Symbols"/>
              <a:buNone/>
            </a:pPr>
            <a:r>
              <a:t/>
            </a:r>
            <a:endParaRPr sz="2400">
              <a:solidFill>
                <a:schemeClr val="dk1"/>
              </a:solidFill>
              <a:latin typeface="Calibri"/>
              <a:ea typeface="Calibri"/>
              <a:cs typeface="Calibri"/>
              <a:sym typeface="Calibri"/>
            </a:endParaRPr>
          </a:p>
          <a:p>
            <a:pPr indent="-358140" lvl="0" marL="457200" marR="0" rtl="0" algn="l">
              <a:lnSpc>
                <a:spcPct val="85000"/>
              </a:lnSpc>
              <a:spcBef>
                <a:spcPts val="480"/>
              </a:spcBef>
              <a:spcAft>
                <a:spcPts val="0"/>
              </a:spcAft>
              <a:buClr>
                <a:srgbClr val="000099"/>
              </a:buClr>
              <a:buSzPts val="1560"/>
              <a:buFont typeface="Noto Sans Symbols"/>
              <a:buNone/>
            </a:pPr>
            <a:r>
              <a:t/>
            </a:r>
            <a:endParaRPr sz="2400">
              <a:solidFill>
                <a:schemeClr val="dk1"/>
              </a:solidFill>
              <a:latin typeface="Gill Sans"/>
              <a:ea typeface="Gill Sans"/>
              <a:cs typeface="Gill Sans"/>
              <a:sym typeface="Gill Sans"/>
            </a:endParaRPr>
          </a:p>
        </p:txBody>
      </p:sp>
      <p:pic>
        <p:nvPicPr>
          <p:cNvPr descr="Puzzle with solid fill" id="10352" name="Google Shape;10352;p125"/>
          <p:cNvPicPr preferRelativeResize="0"/>
          <p:nvPr/>
        </p:nvPicPr>
        <p:blipFill rotWithShape="1">
          <a:blip r:embed="rId5">
            <a:alphaModFix/>
          </a:blip>
          <a:srcRect b="0" l="0" r="0" t="0"/>
          <a:stretch/>
        </p:blipFill>
        <p:spPr>
          <a:xfrm>
            <a:off x="9328150" y="423864"/>
            <a:ext cx="579438" cy="579437"/>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7" name="Shape 10357"/>
        <p:cNvGrpSpPr/>
        <p:nvPr/>
      </p:nvGrpSpPr>
      <p:grpSpPr>
        <a:xfrm>
          <a:off x="0" y="0"/>
          <a:ext cx="0" cy="0"/>
          <a:chOff x="0" y="0"/>
          <a:chExt cx="0" cy="0"/>
        </a:xfrm>
      </p:grpSpPr>
      <p:sp>
        <p:nvSpPr>
          <p:cNvPr id="10358" name="Google Shape;10358;p12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Application Layer: Overview</a:t>
            </a:r>
            <a:endParaRPr/>
          </a:p>
        </p:txBody>
      </p:sp>
      <p:sp>
        <p:nvSpPr>
          <p:cNvPr id="10359" name="Google Shape;10359;p126"/>
          <p:cNvSpPr txBox="1"/>
          <p:nvPr/>
        </p:nvSpPr>
        <p:spPr>
          <a:xfrm>
            <a:off x="809242" y="1870563"/>
            <a:ext cx="5309184" cy="4351338"/>
          </a:xfrm>
          <a:prstGeom prst="rect">
            <a:avLst/>
          </a:prstGeom>
          <a:noFill/>
          <a:ln>
            <a:noFill/>
          </a:ln>
        </p:spPr>
        <p:txBody>
          <a:bodyPr anchorCtr="0" anchor="t" bIns="45700" lIns="91425" spcFirstLastPara="1" rIns="91425" wrap="square" tIns="45700">
            <a:noAutofit/>
          </a:bodyPr>
          <a:lstStyle/>
          <a:p>
            <a:pPr indent="-401638" lvl="0" marL="401638" marR="0" rtl="0" algn="l">
              <a:lnSpc>
                <a:spcPct val="90000"/>
              </a:lnSpc>
              <a:spcBef>
                <a:spcPts val="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Principles of network applications</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Web and HTTP</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E-mail, SMTP, IMAP</a:t>
            </a:r>
            <a:endParaRPr/>
          </a:p>
          <a:p>
            <a:pPr indent="-401638" lvl="0" marL="401638"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The Domain Name System DNS</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
        <p:nvSpPr>
          <p:cNvPr id="10360" name="Google Shape;10360;p126"/>
          <p:cNvSpPr txBox="1"/>
          <p:nvPr/>
        </p:nvSpPr>
        <p:spPr>
          <a:xfrm>
            <a:off x="6557554" y="1029493"/>
            <a:ext cx="5405262" cy="4799013"/>
          </a:xfrm>
          <a:prstGeom prst="rect">
            <a:avLst/>
          </a:prstGeom>
          <a:noFill/>
          <a:ln>
            <a:noFill/>
          </a:ln>
        </p:spPr>
        <p:txBody>
          <a:bodyPr anchorCtr="0" anchor="t" bIns="45700" lIns="91425" spcFirstLastPara="1" rIns="91425" wrap="square" tIns="45700">
            <a:normAutofit/>
          </a:bodyPr>
          <a:lstStyle/>
          <a:p>
            <a:pPr indent="-349250" lvl="0" marL="349250" marR="0" rtl="0" algn="l">
              <a:lnSpc>
                <a:spcPct val="90000"/>
              </a:lnSpc>
              <a:spcBef>
                <a:spcPts val="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P2P applications</a:t>
            </a:r>
            <a:endParaRPr/>
          </a:p>
          <a:p>
            <a:pPr indent="-349250" lvl="0" marL="349250" marR="0" rtl="0" algn="l">
              <a:lnSpc>
                <a:spcPct val="90000"/>
              </a:lnSpc>
              <a:spcBef>
                <a:spcPts val="10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video streaming and content distribution networks</a:t>
            </a:r>
            <a:endParaRPr/>
          </a:p>
          <a:p>
            <a:pPr indent="-349250" lvl="0" marL="349250" marR="0" rtl="0" algn="l">
              <a:lnSpc>
                <a:spcPct val="90000"/>
              </a:lnSpc>
              <a:spcBef>
                <a:spcPts val="1000"/>
              </a:spcBef>
              <a:spcAft>
                <a:spcPts val="0"/>
              </a:spcAft>
              <a:buClr>
                <a:srgbClr val="0000A8"/>
              </a:buClr>
              <a:buSzPts val="3200"/>
              <a:buFont typeface="Noto Sans Symbols"/>
              <a:buChar char="▪"/>
            </a:pPr>
            <a:r>
              <a:rPr lang="en-US" sz="3200">
                <a:solidFill>
                  <a:schemeClr val="dk1"/>
                </a:solidFill>
                <a:latin typeface="Calibri"/>
                <a:ea typeface="Calibri"/>
                <a:cs typeface="Calibri"/>
                <a:sym typeface="Calibri"/>
              </a:rPr>
              <a:t>socket programming with UDP and TCP (Syllabus not covered)</a:t>
            </a:r>
            <a:endParaRPr/>
          </a:p>
          <a:p>
            <a:pPr indent="-222250" lvl="0" marL="352425" marR="0" rtl="0" algn="l">
              <a:lnSpc>
                <a:spcPct val="90000"/>
              </a:lnSpc>
              <a:spcBef>
                <a:spcPts val="1000"/>
              </a:spcBef>
              <a:spcAft>
                <a:spcPts val="0"/>
              </a:spcAft>
              <a:buClr>
                <a:srgbClr val="0000A3"/>
              </a:buClr>
              <a:buSzPts val="2400"/>
              <a:buFont typeface="Noto Sans Symbols"/>
              <a:buNone/>
            </a:pPr>
            <a:r>
              <a:t/>
            </a:r>
            <a:endParaRPr sz="2400">
              <a:solidFill>
                <a:schemeClr val="dk1"/>
              </a:solidFill>
              <a:latin typeface="Calibri"/>
              <a:ea typeface="Calibri"/>
              <a:cs typeface="Calibri"/>
              <a:sym typeface="Calibri"/>
            </a:endParaRPr>
          </a:p>
        </p:txBody>
      </p:sp>
      <p:sp>
        <p:nvSpPr>
          <p:cNvPr id="10361" name="Google Shape;10361;p1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pic>
        <p:nvPicPr>
          <p:cNvPr descr="Kurose&amp;Ross 8th edition photo" id="10362" name="Google Shape;10362;p126"/>
          <p:cNvPicPr preferRelativeResize="0"/>
          <p:nvPr/>
        </p:nvPicPr>
        <p:blipFill rotWithShape="1">
          <a:blip r:embed="rId3">
            <a:alphaModFix/>
          </a:blip>
          <a:srcRect b="0" l="0" r="0" t="0"/>
          <a:stretch/>
        </p:blipFill>
        <p:spPr>
          <a:xfrm>
            <a:off x="6957391" y="4125913"/>
            <a:ext cx="3087757" cy="2315818"/>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7" name="Shape 10367"/>
        <p:cNvGrpSpPr/>
        <p:nvPr/>
      </p:nvGrpSpPr>
      <p:grpSpPr>
        <a:xfrm>
          <a:off x="0" y="0"/>
          <a:ext cx="0" cy="0"/>
          <a:chOff x="0" y="0"/>
          <a:chExt cx="0" cy="0"/>
        </a:xfrm>
      </p:grpSpPr>
      <p:sp>
        <p:nvSpPr>
          <p:cNvPr id="10368" name="Google Shape;10368;p12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Socket programming (Syllabus not covered) </a:t>
            </a:r>
            <a:endParaRPr/>
          </a:p>
        </p:txBody>
      </p:sp>
      <p:sp>
        <p:nvSpPr>
          <p:cNvPr id="10369" name="Google Shape;10369;p127"/>
          <p:cNvSpPr txBox="1"/>
          <p:nvPr/>
        </p:nvSpPr>
        <p:spPr>
          <a:xfrm>
            <a:off x="838200" y="1446842"/>
            <a:ext cx="11124616" cy="15335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3200"/>
              <a:buFont typeface="Noto Sans Symbols"/>
              <a:buNone/>
            </a:pPr>
            <a:r>
              <a:rPr i="1" lang="en-US" sz="3200">
                <a:solidFill>
                  <a:srgbClr val="CC0000"/>
                </a:solidFill>
                <a:latin typeface="Calibri"/>
                <a:ea typeface="Calibri"/>
                <a:cs typeface="Calibri"/>
                <a:sym typeface="Calibri"/>
              </a:rPr>
              <a:t>goal:</a:t>
            </a:r>
            <a:r>
              <a:rPr lang="en-US" sz="3200">
                <a:solidFill>
                  <a:srgbClr val="000000"/>
                </a:solidFill>
                <a:latin typeface="Calibri"/>
                <a:ea typeface="Calibri"/>
                <a:cs typeface="Calibri"/>
                <a:sym typeface="Calibri"/>
              </a:rPr>
              <a:t> learn how to build client/server applications that communicate using sockets</a:t>
            </a:r>
            <a:endParaRPr i="1" sz="3200">
              <a:solidFill>
                <a:srgbClr val="CC0000"/>
              </a:solidFill>
              <a:latin typeface="Calibri"/>
              <a:ea typeface="Calibri"/>
              <a:cs typeface="Calibri"/>
              <a:sym typeface="Calibri"/>
            </a:endParaRPr>
          </a:p>
          <a:p>
            <a:pPr indent="-342900" lvl="0" marL="342900" marR="0" rtl="0" algn="l">
              <a:lnSpc>
                <a:spcPct val="85000"/>
              </a:lnSpc>
              <a:spcBef>
                <a:spcPts val="640"/>
              </a:spcBef>
              <a:spcAft>
                <a:spcPts val="0"/>
              </a:spcAft>
              <a:buClr>
                <a:srgbClr val="000099"/>
              </a:buClr>
              <a:buSzPts val="3200"/>
              <a:buFont typeface="Noto Sans Symbols"/>
              <a:buNone/>
            </a:pPr>
            <a:r>
              <a:rPr i="1" lang="en-US" sz="3200">
                <a:solidFill>
                  <a:srgbClr val="CC0000"/>
                </a:solidFill>
                <a:latin typeface="Calibri"/>
                <a:ea typeface="Calibri"/>
                <a:cs typeface="Calibri"/>
                <a:sym typeface="Calibri"/>
              </a:rPr>
              <a:t>socket:</a:t>
            </a:r>
            <a:r>
              <a:rPr lang="en-US" sz="3200">
                <a:solidFill>
                  <a:schemeClr val="dk1"/>
                </a:solidFill>
                <a:latin typeface="Calibri"/>
                <a:ea typeface="Calibri"/>
                <a:cs typeface="Calibri"/>
                <a:sym typeface="Calibri"/>
              </a:rPr>
              <a:t> door between application process and end-end-transport protocol </a:t>
            </a:r>
            <a:endParaRPr/>
          </a:p>
        </p:txBody>
      </p:sp>
      <p:sp>
        <p:nvSpPr>
          <p:cNvPr id="10370" name="Google Shape;10370;p127"/>
          <p:cNvSpPr/>
          <p:nvPr/>
        </p:nvSpPr>
        <p:spPr>
          <a:xfrm>
            <a:off x="8379242" y="3598233"/>
            <a:ext cx="736600" cy="1998662"/>
          </a:xfrm>
          <a:custGeom>
            <a:rect b="b" l="l" r="r" t="t"/>
            <a:pathLst>
              <a:path extrusionOk="0" h="1259" w="464">
                <a:moveTo>
                  <a:pt x="464" y="1060"/>
                </a:moveTo>
                <a:lnTo>
                  <a:pt x="0" y="0"/>
                </a:lnTo>
                <a:lnTo>
                  <a:pt x="6" y="1258"/>
                </a:lnTo>
                <a:lnTo>
                  <a:pt x="382" y="1259"/>
                </a:lnTo>
                <a:lnTo>
                  <a:pt x="464" y="1060"/>
                </a:lnTo>
                <a:close/>
              </a:path>
            </a:pathLst>
          </a:custGeom>
          <a:gradFill>
            <a:gsLst>
              <a:gs pos="0">
                <a:srgbClr val="FFFFFF"/>
              </a:gs>
              <a:gs pos="100000">
                <a:srgbClr val="2F5496"/>
              </a:gs>
            </a:gsLst>
            <a:lin ang="1080000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0371" name="Google Shape;10371;p127"/>
          <p:cNvSpPr/>
          <p:nvPr/>
        </p:nvSpPr>
        <p:spPr>
          <a:xfrm>
            <a:off x="5064542" y="4895220"/>
            <a:ext cx="1808162" cy="1031875"/>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CC"/>
              </a:buClr>
              <a:buSzPts val="1700"/>
              <a:buFont typeface="Arial"/>
              <a:buNone/>
            </a:pPr>
            <a:r>
              <a:t/>
            </a:r>
            <a:endParaRPr sz="2000">
              <a:solidFill>
                <a:srgbClr val="000000"/>
              </a:solidFill>
              <a:latin typeface="Arial"/>
              <a:ea typeface="Arial"/>
              <a:cs typeface="Arial"/>
              <a:sym typeface="Arial"/>
            </a:endParaRPr>
          </a:p>
        </p:txBody>
      </p:sp>
      <p:sp>
        <p:nvSpPr>
          <p:cNvPr id="10372" name="Google Shape;10372;p127"/>
          <p:cNvSpPr txBox="1"/>
          <p:nvPr/>
        </p:nvSpPr>
        <p:spPr>
          <a:xfrm>
            <a:off x="5502692" y="5026983"/>
            <a:ext cx="87471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Internet</a:t>
            </a:r>
            <a:endParaRPr/>
          </a:p>
        </p:txBody>
      </p:sp>
      <p:cxnSp>
        <p:nvCxnSpPr>
          <p:cNvPr id="10373" name="Google Shape;10373;p127"/>
          <p:cNvCxnSpPr/>
          <p:nvPr/>
        </p:nvCxnSpPr>
        <p:spPr>
          <a:xfrm>
            <a:off x="4823242" y="5438145"/>
            <a:ext cx="2211387" cy="0"/>
          </a:xfrm>
          <a:prstGeom prst="straightConnector1">
            <a:avLst/>
          </a:prstGeom>
          <a:noFill/>
          <a:ln cap="flat" cmpd="sng" w="9525">
            <a:solidFill>
              <a:srgbClr val="000000"/>
            </a:solidFill>
            <a:prstDash val="solid"/>
            <a:round/>
            <a:headEnd len="med" w="med" type="triangle"/>
            <a:tailEnd len="med" w="med" type="triangle"/>
          </a:ln>
        </p:spPr>
      </p:cxnSp>
      <p:sp>
        <p:nvSpPr>
          <p:cNvPr id="10374" name="Google Shape;10374;p127"/>
          <p:cNvSpPr txBox="1"/>
          <p:nvPr/>
        </p:nvSpPr>
        <p:spPr>
          <a:xfrm>
            <a:off x="8844379" y="4663445"/>
            <a:ext cx="1063625" cy="82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controlled</a:t>
            </a:r>
            <a:endParaRPr/>
          </a:p>
          <a:p>
            <a:pPr indent="0" lvl="0" marL="0" marR="0" rtl="0" algn="l">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by OS</a:t>
            </a:r>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rgbClr val="CC0000"/>
              </a:solidFill>
              <a:latin typeface="Times New Roman"/>
              <a:ea typeface="Times New Roman"/>
              <a:cs typeface="Times New Roman"/>
              <a:sym typeface="Times New Roman"/>
            </a:endParaRPr>
          </a:p>
        </p:txBody>
      </p:sp>
      <p:sp>
        <p:nvSpPr>
          <p:cNvPr id="10375" name="Google Shape;10375;p127"/>
          <p:cNvSpPr txBox="1"/>
          <p:nvPr/>
        </p:nvSpPr>
        <p:spPr>
          <a:xfrm>
            <a:off x="8822154" y="3763333"/>
            <a:ext cx="1470025" cy="533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controlled by</a:t>
            </a:r>
            <a:endParaRPr/>
          </a:p>
          <a:p>
            <a:pPr indent="0" lvl="0" marL="0" marR="0" rtl="0" algn="l">
              <a:lnSpc>
                <a:spcPct val="9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app developer</a:t>
            </a:r>
            <a:endParaRPr/>
          </a:p>
        </p:txBody>
      </p:sp>
      <p:sp>
        <p:nvSpPr>
          <p:cNvPr id="10376" name="Google Shape;10376;p127"/>
          <p:cNvSpPr/>
          <p:nvPr/>
        </p:nvSpPr>
        <p:spPr>
          <a:xfrm>
            <a:off x="2638842" y="3661733"/>
            <a:ext cx="758825" cy="1997075"/>
          </a:xfrm>
          <a:custGeom>
            <a:rect b="b" l="l" r="r" t="t"/>
            <a:pathLst>
              <a:path extrusionOk="0" h="1258" w="478">
                <a:moveTo>
                  <a:pt x="0" y="1040"/>
                </a:moveTo>
                <a:lnTo>
                  <a:pt x="478" y="0"/>
                </a:lnTo>
                <a:lnTo>
                  <a:pt x="472" y="1258"/>
                </a:lnTo>
                <a:lnTo>
                  <a:pt x="41" y="1246"/>
                </a:lnTo>
                <a:lnTo>
                  <a:pt x="0" y="1040"/>
                </a:lnTo>
                <a:close/>
              </a:path>
            </a:pathLst>
          </a:custGeom>
          <a:gradFill>
            <a:gsLst>
              <a:gs pos="0">
                <a:srgbClr val="FFFFFF"/>
              </a:gs>
              <a:gs pos="100000">
                <a:srgbClr val="2F5496"/>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0377" name="Google Shape;10377;p127"/>
          <p:cNvSpPr/>
          <p:nvPr/>
        </p:nvSpPr>
        <p:spPr>
          <a:xfrm>
            <a:off x="3442117" y="3617283"/>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378" name="Google Shape;10378;p127"/>
          <p:cNvSpPr/>
          <p:nvPr/>
        </p:nvSpPr>
        <p:spPr>
          <a:xfrm>
            <a:off x="3404017" y="3671258"/>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0379" name="Google Shape;10379;p127"/>
          <p:cNvCxnSpPr/>
          <p:nvPr/>
        </p:nvCxnSpPr>
        <p:spPr>
          <a:xfrm>
            <a:off x="3413542" y="4431670"/>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0380" name="Google Shape;10380;p127"/>
          <p:cNvSpPr txBox="1"/>
          <p:nvPr/>
        </p:nvSpPr>
        <p:spPr>
          <a:xfrm>
            <a:off x="3370679" y="4414208"/>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transport</a:t>
            </a:r>
            <a:endParaRPr/>
          </a:p>
        </p:txBody>
      </p:sp>
      <p:cxnSp>
        <p:nvCxnSpPr>
          <p:cNvPr id="10381" name="Google Shape;10381;p127"/>
          <p:cNvCxnSpPr/>
          <p:nvPr/>
        </p:nvCxnSpPr>
        <p:spPr>
          <a:xfrm>
            <a:off x="3421479" y="4752345"/>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0382" name="Google Shape;10382;p127"/>
          <p:cNvCxnSpPr/>
          <p:nvPr/>
        </p:nvCxnSpPr>
        <p:spPr>
          <a:xfrm>
            <a:off x="3407192" y="5061908"/>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0383" name="Google Shape;10383;p127"/>
          <p:cNvCxnSpPr/>
          <p:nvPr/>
        </p:nvCxnSpPr>
        <p:spPr>
          <a:xfrm>
            <a:off x="3407192" y="5347658"/>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0384" name="Google Shape;10384;p127"/>
          <p:cNvSpPr txBox="1"/>
          <p:nvPr/>
        </p:nvSpPr>
        <p:spPr>
          <a:xfrm>
            <a:off x="3405604" y="3661733"/>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000000"/>
                </a:solidFill>
                <a:latin typeface="Tahoma"/>
                <a:ea typeface="Tahoma"/>
                <a:cs typeface="Tahoma"/>
                <a:sym typeface="Tahoma"/>
              </a:rPr>
              <a:t>application</a:t>
            </a:r>
            <a:endParaRPr/>
          </a:p>
        </p:txBody>
      </p:sp>
      <p:sp>
        <p:nvSpPr>
          <p:cNvPr id="10385" name="Google Shape;10385;p127"/>
          <p:cNvSpPr txBox="1"/>
          <p:nvPr/>
        </p:nvSpPr>
        <p:spPr>
          <a:xfrm>
            <a:off x="3361154" y="5319083"/>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physical</a:t>
            </a:r>
            <a:endParaRPr/>
          </a:p>
        </p:txBody>
      </p:sp>
      <p:sp>
        <p:nvSpPr>
          <p:cNvPr id="10386" name="Google Shape;10386;p127"/>
          <p:cNvSpPr txBox="1"/>
          <p:nvPr/>
        </p:nvSpPr>
        <p:spPr>
          <a:xfrm>
            <a:off x="3380204" y="5033333"/>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link</a:t>
            </a:r>
            <a:endParaRPr/>
          </a:p>
        </p:txBody>
      </p:sp>
      <p:sp>
        <p:nvSpPr>
          <p:cNvPr id="10387" name="Google Shape;10387;p127"/>
          <p:cNvSpPr txBox="1"/>
          <p:nvPr/>
        </p:nvSpPr>
        <p:spPr>
          <a:xfrm>
            <a:off x="3370679" y="4738058"/>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network</a:t>
            </a:r>
            <a:endParaRPr/>
          </a:p>
        </p:txBody>
      </p:sp>
      <p:sp>
        <p:nvSpPr>
          <p:cNvPr id="10388" name="Google Shape;10388;p127"/>
          <p:cNvSpPr/>
          <p:nvPr/>
        </p:nvSpPr>
        <p:spPr>
          <a:xfrm>
            <a:off x="3538954" y="3936370"/>
            <a:ext cx="990600"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10389" name="Google Shape;10389;p127"/>
          <p:cNvGrpSpPr/>
          <p:nvPr/>
        </p:nvGrpSpPr>
        <p:grpSpPr>
          <a:xfrm>
            <a:off x="3786604" y="4296733"/>
            <a:ext cx="546100" cy="225425"/>
            <a:chOff x="1287" y="2524"/>
            <a:chExt cx="260" cy="100"/>
          </a:xfrm>
        </p:grpSpPr>
        <p:sp>
          <p:nvSpPr>
            <p:cNvPr id="10390" name="Google Shape;10390;p127"/>
            <p:cNvSpPr/>
            <p:nvPr/>
          </p:nvSpPr>
          <p:spPr>
            <a:xfrm>
              <a:off x="1287" y="2524"/>
              <a:ext cx="260" cy="100"/>
            </a:xfrm>
            <a:prstGeom prst="rect">
              <a:avLst/>
            </a:prstGeom>
            <a:solidFill>
              <a:srgbClr val="C96B72"/>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0391" name="Google Shape;10391;p127"/>
            <p:cNvSpPr/>
            <p:nvPr/>
          </p:nvSpPr>
          <p:spPr>
            <a:xfrm>
              <a:off x="1338" y="2537"/>
              <a:ext cx="156" cy="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0392" name="Google Shape;10392;p127"/>
            <p:cNvSpPr/>
            <p:nvPr/>
          </p:nvSpPr>
          <p:spPr>
            <a:xfrm>
              <a:off x="1503" y="2582"/>
              <a:ext cx="27"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0393" name="Google Shape;10393;p127"/>
            <p:cNvSpPr/>
            <p:nvPr/>
          </p:nvSpPr>
          <p:spPr>
            <a:xfrm>
              <a:off x="1298" y="2583"/>
              <a:ext cx="26"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0394" name="Google Shape;10394;p127"/>
          <p:cNvSpPr/>
          <p:nvPr/>
        </p:nvSpPr>
        <p:spPr>
          <a:xfrm>
            <a:off x="7104479" y="3588708"/>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395" name="Google Shape;10395;p127"/>
          <p:cNvSpPr/>
          <p:nvPr/>
        </p:nvSpPr>
        <p:spPr>
          <a:xfrm>
            <a:off x="7066379" y="3642683"/>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0396" name="Google Shape;10396;p127"/>
          <p:cNvCxnSpPr/>
          <p:nvPr/>
        </p:nvCxnSpPr>
        <p:spPr>
          <a:xfrm>
            <a:off x="7075904" y="4403095"/>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0397" name="Google Shape;10397;p127"/>
          <p:cNvSpPr txBox="1"/>
          <p:nvPr/>
        </p:nvSpPr>
        <p:spPr>
          <a:xfrm>
            <a:off x="7033042" y="4385633"/>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transport</a:t>
            </a:r>
            <a:endParaRPr/>
          </a:p>
        </p:txBody>
      </p:sp>
      <p:cxnSp>
        <p:nvCxnSpPr>
          <p:cNvPr id="10398" name="Google Shape;10398;p127"/>
          <p:cNvCxnSpPr/>
          <p:nvPr/>
        </p:nvCxnSpPr>
        <p:spPr>
          <a:xfrm>
            <a:off x="7083842" y="4723770"/>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0399" name="Google Shape;10399;p127"/>
          <p:cNvCxnSpPr/>
          <p:nvPr/>
        </p:nvCxnSpPr>
        <p:spPr>
          <a:xfrm>
            <a:off x="7069554" y="5033333"/>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0400" name="Google Shape;10400;p127"/>
          <p:cNvCxnSpPr/>
          <p:nvPr/>
        </p:nvCxnSpPr>
        <p:spPr>
          <a:xfrm>
            <a:off x="7069554" y="5319083"/>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0401" name="Google Shape;10401;p127"/>
          <p:cNvSpPr txBox="1"/>
          <p:nvPr/>
        </p:nvSpPr>
        <p:spPr>
          <a:xfrm>
            <a:off x="7067967" y="3633158"/>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000000"/>
                </a:solidFill>
                <a:latin typeface="Tahoma"/>
                <a:ea typeface="Tahoma"/>
                <a:cs typeface="Tahoma"/>
                <a:sym typeface="Tahoma"/>
              </a:rPr>
              <a:t>application</a:t>
            </a:r>
            <a:endParaRPr/>
          </a:p>
        </p:txBody>
      </p:sp>
      <p:sp>
        <p:nvSpPr>
          <p:cNvPr id="10402" name="Google Shape;10402;p127"/>
          <p:cNvSpPr txBox="1"/>
          <p:nvPr/>
        </p:nvSpPr>
        <p:spPr>
          <a:xfrm>
            <a:off x="7023517" y="5290508"/>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physical</a:t>
            </a:r>
            <a:endParaRPr/>
          </a:p>
        </p:txBody>
      </p:sp>
      <p:sp>
        <p:nvSpPr>
          <p:cNvPr id="10403" name="Google Shape;10403;p127"/>
          <p:cNvSpPr txBox="1"/>
          <p:nvPr/>
        </p:nvSpPr>
        <p:spPr>
          <a:xfrm>
            <a:off x="7042567" y="5004758"/>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link</a:t>
            </a:r>
            <a:endParaRPr/>
          </a:p>
        </p:txBody>
      </p:sp>
      <p:sp>
        <p:nvSpPr>
          <p:cNvPr id="10404" name="Google Shape;10404;p127"/>
          <p:cNvSpPr txBox="1"/>
          <p:nvPr/>
        </p:nvSpPr>
        <p:spPr>
          <a:xfrm>
            <a:off x="7033042" y="4709483"/>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en-US" sz="1400">
                <a:solidFill>
                  <a:srgbClr val="969696"/>
                </a:solidFill>
                <a:latin typeface="Tahoma"/>
                <a:ea typeface="Tahoma"/>
                <a:cs typeface="Tahoma"/>
                <a:sym typeface="Tahoma"/>
              </a:rPr>
              <a:t>network</a:t>
            </a:r>
            <a:endParaRPr/>
          </a:p>
        </p:txBody>
      </p:sp>
      <p:sp>
        <p:nvSpPr>
          <p:cNvPr id="10405" name="Google Shape;10405;p127"/>
          <p:cNvSpPr/>
          <p:nvPr/>
        </p:nvSpPr>
        <p:spPr>
          <a:xfrm>
            <a:off x="7201317" y="3907795"/>
            <a:ext cx="990600"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10406" name="Google Shape;10406;p127"/>
          <p:cNvGrpSpPr/>
          <p:nvPr/>
        </p:nvGrpSpPr>
        <p:grpSpPr>
          <a:xfrm>
            <a:off x="7448967" y="4268158"/>
            <a:ext cx="546100" cy="225425"/>
            <a:chOff x="1287" y="2524"/>
            <a:chExt cx="260" cy="100"/>
          </a:xfrm>
        </p:grpSpPr>
        <p:sp>
          <p:nvSpPr>
            <p:cNvPr id="10407" name="Google Shape;10407;p127"/>
            <p:cNvSpPr/>
            <p:nvPr/>
          </p:nvSpPr>
          <p:spPr>
            <a:xfrm>
              <a:off x="1287" y="2524"/>
              <a:ext cx="260" cy="100"/>
            </a:xfrm>
            <a:prstGeom prst="rect">
              <a:avLst/>
            </a:prstGeom>
            <a:solidFill>
              <a:srgbClr val="C96B7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0408" name="Google Shape;10408;p127"/>
            <p:cNvSpPr/>
            <p:nvPr/>
          </p:nvSpPr>
          <p:spPr>
            <a:xfrm>
              <a:off x="1338" y="2537"/>
              <a:ext cx="156" cy="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0409" name="Google Shape;10409;p127"/>
            <p:cNvSpPr/>
            <p:nvPr/>
          </p:nvSpPr>
          <p:spPr>
            <a:xfrm>
              <a:off x="1503" y="2582"/>
              <a:ext cx="27"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10410" name="Google Shape;10410;p127"/>
            <p:cNvSpPr/>
            <p:nvPr/>
          </p:nvSpPr>
          <p:spPr>
            <a:xfrm>
              <a:off x="1298" y="2583"/>
              <a:ext cx="26"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cxnSp>
        <p:nvCxnSpPr>
          <p:cNvPr id="10411" name="Google Shape;10411;p127"/>
          <p:cNvCxnSpPr/>
          <p:nvPr/>
        </p:nvCxnSpPr>
        <p:spPr>
          <a:xfrm rot="10800000">
            <a:off x="8258592" y="4039558"/>
            <a:ext cx="609600" cy="0"/>
          </a:xfrm>
          <a:prstGeom prst="straightConnector1">
            <a:avLst/>
          </a:prstGeom>
          <a:noFill/>
          <a:ln cap="flat" cmpd="sng" w="19050">
            <a:solidFill>
              <a:srgbClr val="CC0000"/>
            </a:solidFill>
            <a:prstDash val="solid"/>
            <a:round/>
            <a:headEnd len="med" w="med" type="none"/>
            <a:tailEnd len="med" w="med" type="none"/>
          </a:ln>
        </p:spPr>
      </p:cxnSp>
      <p:cxnSp>
        <p:nvCxnSpPr>
          <p:cNvPr id="10412" name="Google Shape;10412;p127"/>
          <p:cNvCxnSpPr/>
          <p:nvPr/>
        </p:nvCxnSpPr>
        <p:spPr>
          <a:xfrm>
            <a:off x="8484017" y="4465008"/>
            <a:ext cx="0" cy="1022350"/>
          </a:xfrm>
          <a:prstGeom prst="straightConnector1">
            <a:avLst/>
          </a:prstGeom>
          <a:noFill/>
          <a:ln cap="flat" cmpd="sng" w="19050">
            <a:solidFill>
              <a:srgbClr val="CC0000"/>
            </a:solidFill>
            <a:prstDash val="solid"/>
            <a:round/>
            <a:headEnd len="med" w="med" type="none"/>
            <a:tailEnd len="med" w="med" type="none"/>
          </a:ln>
        </p:spPr>
      </p:cxnSp>
      <p:cxnSp>
        <p:nvCxnSpPr>
          <p:cNvPr id="10413" name="Google Shape;10413;p127"/>
          <p:cNvCxnSpPr/>
          <p:nvPr/>
        </p:nvCxnSpPr>
        <p:spPr>
          <a:xfrm rot="10800000">
            <a:off x="8507829" y="4965070"/>
            <a:ext cx="609600" cy="0"/>
          </a:xfrm>
          <a:prstGeom prst="straightConnector1">
            <a:avLst/>
          </a:prstGeom>
          <a:noFill/>
          <a:ln cap="flat" cmpd="sng" w="19050">
            <a:solidFill>
              <a:srgbClr val="CC0000"/>
            </a:solidFill>
            <a:prstDash val="solid"/>
            <a:round/>
            <a:headEnd len="med" w="med" type="none"/>
            <a:tailEnd len="med" w="med" type="none"/>
          </a:ln>
        </p:spPr>
      </p:cxnSp>
      <p:sp>
        <p:nvSpPr>
          <p:cNvPr id="10414" name="Google Shape;10414;p127"/>
          <p:cNvSpPr txBox="1"/>
          <p:nvPr/>
        </p:nvSpPr>
        <p:spPr>
          <a:xfrm>
            <a:off x="5421729" y="3720470"/>
            <a:ext cx="917575" cy="36671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socket</a:t>
            </a:r>
            <a:endParaRPr/>
          </a:p>
        </p:txBody>
      </p:sp>
      <p:cxnSp>
        <p:nvCxnSpPr>
          <p:cNvPr id="10415" name="Google Shape;10415;p127"/>
          <p:cNvCxnSpPr/>
          <p:nvPr/>
        </p:nvCxnSpPr>
        <p:spPr>
          <a:xfrm flipH="1" rot="10800000">
            <a:off x="4424779" y="3920495"/>
            <a:ext cx="968375" cy="434975"/>
          </a:xfrm>
          <a:prstGeom prst="straightConnector1">
            <a:avLst/>
          </a:prstGeom>
          <a:noFill/>
          <a:ln cap="flat" cmpd="sng" w="19050">
            <a:solidFill>
              <a:srgbClr val="CC0000"/>
            </a:solidFill>
            <a:prstDash val="solid"/>
            <a:round/>
            <a:headEnd len="med" w="med" type="none"/>
            <a:tailEnd len="med" w="med" type="none"/>
          </a:ln>
        </p:spPr>
      </p:cxnSp>
      <p:cxnSp>
        <p:nvCxnSpPr>
          <p:cNvPr id="10416" name="Google Shape;10416;p127"/>
          <p:cNvCxnSpPr/>
          <p:nvPr/>
        </p:nvCxnSpPr>
        <p:spPr>
          <a:xfrm rot="10800000">
            <a:off x="6359942" y="3909383"/>
            <a:ext cx="968375" cy="434975"/>
          </a:xfrm>
          <a:prstGeom prst="straightConnector1">
            <a:avLst/>
          </a:prstGeom>
          <a:noFill/>
          <a:ln cap="flat" cmpd="sng" w="19050">
            <a:solidFill>
              <a:srgbClr val="CC0000"/>
            </a:solidFill>
            <a:prstDash val="solid"/>
            <a:round/>
            <a:headEnd len="med" w="med" type="none"/>
            <a:tailEnd len="med" w="med" type="none"/>
          </a:ln>
        </p:spPr>
      </p:cxnSp>
      <p:grpSp>
        <p:nvGrpSpPr>
          <p:cNvPr id="10417" name="Google Shape;10417;p127"/>
          <p:cNvGrpSpPr/>
          <p:nvPr/>
        </p:nvGrpSpPr>
        <p:grpSpPr>
          <a:xfrm>
            <a:off x="2214979" y="4974595"/>
            <a:ext cx="719138" cy="773113"/>
            <a:chOff x="-44" y="1473"/>
            <a:chExt cx="981" cy="1105"/>
          </a:xfrm>
        </p:grpSpPr>
        <p:pic>
          <p:nvPicPr>
            <p:cNvPr descr="desktop_computer_stylized_medium" id="10418" name="Google Shape;10418;p1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0419" name="Google Shape;10419;p1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10420" name="Google Shape;10420;p127"/>
          <p:cNvGrpSpPr/>
          <p:nvPr/>
        </p:nvGrpSpPr>
        <p:grpSpPr>
          <a:xfrm flipH="1">
            <a:off x="8911054" y="5169858"/>
            <a:ext cx="719138" cy="773112"/>
            <a:chOff x="-44" y="1473"/>
            <a:chExt cx="981" cy="1105"/>
          </a:xfrm>
        </p:grpSpPr>
        <p:pic>
          <p:nvPicPr>
            <p:cNvPr descr="desktop_computer_stylized_medium" id="10421" name="Google Shape;10421;p1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0422" name="Google Shape;10422;p1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10423" name="Google Shape;10423;p1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8" name="Shape 10428"/>
        <p:cNvGrpSpPr/>
        <p:nvPr/>
      </p:nvGrpSpPr>
      <p:grpSpPr>
        <a:xfrm>
          <a:off x="0" y="0"/>
          <a:ext cx="0" cy="0"/>
          <a:chOff x="0" y="0"/>
          <a:chExt cx="0" cy="0"/>
        </a:xfrm>
      </p:grpSpPr>
      <p:sp>
        <p:nvSpPr>
          <p:cNvPr id="10429" name="Google Shape;10429;p12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Socket programming (Syllabus not covered) </a:t>
            </a:r>
            <a:endParaRPr/>
          </a:p>
        </p:txBody>
      </p:sp>
      <p:sp>
        <p:nvSpPr>
          <p:cNvPr id="10430" name="Google Shape;10430;p128"/>
          <p:cNvSpPr txBox="1"/>
          <p:nvPr>
            <p:ph idx="1" type="body"/>
          </p:nvPr>
        </p:nvSpPr>
        <p:spPr>
          <a:xfrm>
            <a:off x="838199" y="1513591"/>
            <a:ext cx="10798277" cy="1742641"/>
          </a:xfrm>
          <a:prstGeom prst="rect">
            <a:avLst/>
          </a:prstGeom>
          <a:noFill/>
          <a:ln>
            <a:noFill/>
          </a:ln>
        </p:spPr>
        <p:txBody>
          <a:bodyPr anchorCtr="0" anchor="t" bIns="45700" lIns="91425" spcFirstLastPara="1" rIns="91425" wrap="square" tIns="45700">
            <a:normAutofit/>
          </a:bodyPr>
          <a:lstStyle/>
          <a:p>
            <a:pPr indent="-342900" lvl="1" marL="342900" rtl="0" algn="l">
              <a:lnSpc>
                <a:spcPct val="90000"/>
              </a:lnSpc>
              <a:spcBef>
                <a:spcPts val="0"/>
              </a:spcBef>
              <a:spcAft>
                <a:spcPts val="0"/>
              </a:spcAft>
              <a:buSzPts val="2080"/>
              <a:buFont typeface="Noto Sans Symbols"/>
              <a:buNone/>
            </a:pPr>
            <a:r>
              <a:rPr lang="en-US" sz="3200">
                <a:solidFill>
                  <a:srgbClr val="22228B"/>
                </a:solidFill>
              </a:rPr>
              <a:t>Two socket types for two transport services:</a:t>
            </a:r>
            <a:endParaRPr/>
          </a:p>
          <a:p>
            <a:pPr indent="-457200" lvl="1" marL="631825" rtl="0" algn="l">
              <a:lnSpc>
                <a:spcPct val="90000"/>
              </a:lnSpc>
              <a:spcBef>
                <a:spcPts val="500"/>
              </a:spcBef>
              <a:spcAft>
                <a:spcPts val="0"/>
              </a:spcAft>
              <a:buSzPts val="3200"/>
              <a:buFont typeface="Noto Sans Symbols"/>
              <a:buChar char="▪"/>
            </a:pPr>
            <a:r>
              <a:rPr i="1" lang="en-US" sz="3200">
                <a:solidFill>
                  <a:srgbClr val="CC0000"/>
                </a:solidFill>
              </a:rPr>
              <a:t>UDP:</a:t>
            </a:r>
            <a:r>
              <a:rPr lang="en-US" sz="3200">
                <a:solidFill>
                  <a:srgbClr val="000000"/>
                </a:solidFill>
              </a:rPr>
              <a:t> </a:t>
            </a:r>
            <a:r>
              <a:rPr lang="en-US" sz="3200"/>
              <a:t>unreliable datagram</a:t>
            </a:r>
            <a:endParaRPr i="1" sz="2800">
              <a:solidFill>
                <a:srgbClr val="CC0000"/>
              </a:solidFill>
            </a:endParaRPr>
          </a:p>
          <a:p>
            <a:pPr indent="-457200" lvl="1" marL="631825" rtl="0" algn="l">
              <a:lnSpc>
                <a:spcPct val="90000"/>
              </a:lnSpc>
              <a:spcBef>
                <a:spcPts val="500"/>
              </a:spcBef>
              <a:spcAft>
                <a:spcPts val="0"/>
              </a:spcAft>
              <a:buSzPts val="3200"/>
              <a:buFont typeface="Noto Sans Symbols"/>
              <a:buChar char="▪"/>
            </a:pPr>
            <a:r>
              <a:rPr i="1" lang="en-US" sz="3200">
                <a:solidFill>
                  <a:srgbClr val="CC0000"/>
                </a:solidFill>
              </a:rPr>
              <a:t>TCP:</a:t>
            </a:r>
            <a:r>
              <a:rPr lang="en-US" sz="3200"/>
              <a:t> reliable, byte stream-oriented </a:t>
            </a:r>
            <a:endParaRPr/>
          </a:p>
          <a:p>
            <a:pPr indent="-222250" lvl="0" marL="352425" rtl="0" algn="l">
              <a:lnSpc>
                <a:spcPct val="90000"/>
              </a:lnSpc>
              <a:spcBef>
                <a:spcPts val="1000"/>
              </a:spcBef>
              <a:spcAft>
                <a:spcPts val="0"/>
              </a:spcAft>
              <a:buSzPts val="2800"/>
              <a:buFont typeface="Noto Sans Symbols"/>
              <a:buNone/>
            </a:pPr>
            <a:r>
              <a:t/>
            </a:r>
            <a:endParaRPr>
              <a:latin typeface="Gill Sans"/>
              <a:ea typeface="Gill Sans"/>
              <a:cs typeface="Gill Sans"/>
              <a:sym typeface="Gill Sans"/>
            </a:endParaRPr>
          </a:p>
        </p:txBody>
      </p:sp>
      <p:sp>
        <p:nvSpPr>
          <p:cNvPr id="10431" name="Google Shape;10431;p128"/>
          <p:cNvSpPr txBox="1"/>
          <p:nvPr/>
        </p:nvSpPr>
        <p:spPr>
          <a:xfrm>
            <a:off x="878760" y="3291529"/>
            <a:ext cx="10798277" cy="3481388"/>
          </a:xfrm>
          <a:prstGeom prst="rect">
            <a:avLst/>
          </a:prstGeom>
          <a:noFill/>
          <a:ln>
            <a:noFill/>
          </a:ln>
        </p:spPr>
        <p:txBody>
          <a:bodyPr anchorCtr="0" anchor="t" bIns="45700" lIns="91425" spcFirstLastPara="1" rIns="91425" wrap="square" tIns="45700">
            <a:noAutofit/>
          </a:bodyPr>
          <a:lstStyle/>
          <a:p>
            <a:pPr indent="-342900" lvl="1" marL="342900" marR="0" rtl="0" algn="l">
              <a:lnSpc>
                <a:spcPct val="85000"/>
              </a:lnSpc>
              <a:spcBef>
                <a:spcPts val="0"/>
              </a:spcBef>
              <a:spcAft>
                <a:spcPts val="0"/>
              </a:spcAft>
              <a:buClr>
                <a:srgbClr val="000099"/>
              </a:buClr>
              <a:buSzPts val="2080"/>
              <a:buFont typeface="Noto Sans Symbols"/>
              <a:buNone/>
            </a:pPr>
            <a:r>
              <a:rPr b="0" i="0" lang="en-US" sz="3200" u="none" cap="none" strike="noStrike">
                <a:solidFill>
                  <a:srgbClr val="0000A3"/>
                </a:solidFill>
                <a:latin typeface="Calibri"/>
                <a:ea typeface="Calibri"/>
                <a:cs typeface="Calibri"/>
                <a:sym typeface="Calibri"/>
              </a:rPr>
              <a:t>Application Example:</a:t>
            </a:r>
            <a:endParaRPr/>
          </a:p>
          <a:p>
            <a:pPr indent="-287338" lvl="0" marL="514350" marR="0" rtl="0" algn="l">
              <a:spcBef>
                <a:spcPts val="0"/>
              </a:spcBef>
              <a:spcAft>
                <a:spcPts val="0"/>
              </a:spcAft>
              <a:buClr>
                <a:srgbClr val="000099"/>
              </a:buClr>
              <a:buSzPts val="1820"/>
              <a:buFont typeface="Calibri"/>
              <a:buAutoNum type="arabicPeriod"/>
            </a:pPr>
            <a:r>
              <a:rPr lang="en-US" sz="2800">
                <a:solidFill>
                  <a:schemeClr val="dk1"/>
                </a:solidFill>
                <a:latin typeface="Calibri"/>
                <a:ea typeface="Calibri"/>
                <a:cs typeface="Calibri"/>
                <a:sym typeface="Calibri"/>
              </a:rPr>
              <a:t>client reads a line of characters (data) from its keyboard and sends data to server</a:t>
            </a:r>
            <a:endParaRPr/>
          </a:p>
          <a:p>
            <a:pPr indent="-287338" lvl="0" marL="514350" marR="0" rtl="0" algn="l">
              <a:spcBef>
                <a:spcPts val="0"/>
              </a:spcBef>
              <a:spcAft>
                <a:spcPts val="0"/>
              </a:spcAft>
              <a:buClr>
                <a:srgbClr val="000099"/>
              </a:buClr>
              <a:buSzPts val="1820"/>
              <a:buFont typeface="Calibri"/>
              <a:buAutoNum type="arabicPeriod"/>
            </a:pPr>
            <a:r>
              <a:rPr lang="en-US" sz="2800">
                <a:solidFill>
                  <a:schemeClr val="dk1"/>
                </a:solidFill>
                <a:latin typeface="Calibri"/>
                <a:ea typeface="Calibri"/>
                <a:cs typeface="Calibri"/>
                <a:sym typeface="Calibri"/>
              </a:rPr>
              <a:t>server receives the data and converts characters to uppercase</a:t>
            </a:r>
            <a:endParaRPr/>
          </a:p>
          <a:p>
            <a:pPr indent="-287338" lvl="0" marL="514350" marR="0" rtl="0" algn="l">
              <a:spcBef>
                <a:spcPts val="0"/>
              </a:spcBef>
              <a:spcAft>
                <a:spcPts val="0"/>
              </a:spcAft>
              <a:buClr>
                <a:srgbClr val="000099"/>
              </a:buClr>
              <a:buSzPts val="1820"/>
              <a:buFont typeface="Calibri"/>
              <a:buAutoNum type="arabicPeriod"/>
            </a:pPr>
            <a:r>
              <a:rPr lang="en-US" sz="2800">
                <a:solidFill>
                  <a:schemeClr val="dk1"/>
                </a:solidFill>
                <a:latin typeface="Calibri"/>
                <a:ea typeface="Calibri"/>
                <a:cs typeface="Calibri"/>
                <a:sym typeface="Calibri"/>
              </a:rPr>
              <a:t>server sends modified data to client</a:t>
            </a:r>
            <a:endParaRPr/>
          </a:p>
          <a:p>
            <a:pPr indent="-287338" lvl="0" marL="514350" marR="0" rtl="0" algn="l">
              <a:spcBef>
                <a:spcPts val="0"/>
              </a:spcBef>
              <a:spcAft>
                <a:spcPts val="0"/>
              </a:spcAft>
              <a:buClr>
                <a:srgbClr val="000099"/>
              </a:buClr>
              <a:buSzPts val="1820"/>
              <a:buFont typeface="Calibri"/>
              <a:buAutoNum type="arabicPeriod"/>
            </a:pPr>
            <a:r>
              <a:rPr lang="en-US" sz="2800">
                <a:solidFill>
                  <a:schemeClr val="dk1"/>
                </a:solidFill>
                <a:latin typeface="Calibri"/>
                <a:ea typeface="Calibri"/>
                <a:cs typeface="Calibri"/>
                <a:sym typeface="Calibri"/>
              </a:rPr>
              <a:t>client receives modified data and displays line on its screen</a:t>
            </a:r>
            <a:endParaRPr/>
          </a:p>
        </p:txBody>
      </p:sp>
      <p:sp>
        <p:nvSpPr>
          <p:cNvPr id="10432" name="Google Shape;10432;p1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1"/>
                                        </p:tgtEl>
                                        <p:attrNameLst>
                                          <p:attrName>style.visibility</p:attrName>
                                        </p:attrNameLst>
                                      </p:cBhvr>
                                      <p:to>
                                        <p:strVal val="visible"/>
                                      </p:to>
                                    </p:set>
                                    <p:animEffect filter="fade" transition="in">
                                      <p:cBhvr>
                                        <p:cTn dur="500"/>
                                        <p:tgtEl>
                                          <p:spTgt spid="10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7" name="Shape 10437"/>
        <p:cNvGrpSpPr/>
        <p:nvPr/>
      </p:nvGrpSpPr>
      <p:grpSpPr>
        <a:xfrm>
          <a:off x="0" y="0"/>
          <a:ext cx="0" cy="0"/>
          <a:chOff x="0" y="0"/>
          <a:chExt cx="0" cy="0"/>
        </a:xfrm>
      </p:grpSpPr>
      <p:sp>
        <p:nvSpPr>
          <p:cNvPr id="10438" name="Google Shape;10438;p129"/>
          <p:cNvSpPr txBox="1"/>
          <p:nvPr>
            <p:ph type="title"/>
          </p:nvPr>
        </p:nvSpPr>
        <p:spPr>
          <a:xfrm>
            <a:off x="838199" y="451821"/>
            <a:ext cx="10824411"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400"/>
              <a:t>Socket programming with UDP (Syllabus not covered)</a:t>
            </a:r>
            <a:endParaRPr/>
          </a:p>
        </p:txBody>
      </p:sp>
      <p:sp>
        <p:nvSpPr>
          <p:cNvPr id="10439" name="Google Shape;10439;p129"/>
          <p:cNvSpPr txBox="1"/>
          <p:nvPr>
            <p:ph idx="1" type="body"/>
          </p:nvPr>
        </p:nvSpPr>
        <p:spPr>
          <a:xfrm>
            <a:off x="782536" y="1589753"/>
            <a:ext cx="10352496" cy="485333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Font typeface="Noto Sans Symbols"/>
              <a:buNone/>
            </a:pPr>
            <a:r>
              <a:rPr lang="en-US" sz="3200">
                <a:solidFill>
                  <a:srgbClr val="CC0000"/>
                </a:solidFill>
              </a:rPr>
              <a:t>UDP: </a:t>
            </a:r>
            <a:r>
              <a:rPr lang="en-US" sz="3200">
                <a:solidFill>
                  <a:srgbClr val="0000A3"/>
                </a:solidFill>
              </a:rPr>
              <a:t>no “connection” between client &amp; server</a:t>
            </a:r>
            <a:endParaRPr/>
          </a:p>
          <a:p>
            <a:pPr indent="-292100" lvl="0" marL="466725" rtl="0" algn="l">
              <a:lnSpc>
                <a:spcPct val="90000"/>
              </a:lnSpc>
              <a:spcBef>
                <a:spcPts val="400"/>
              </a:spcBef>
              <a:spcAft>
                <a:spcPts val="0"/>
              </a:spcAft>
              <a:buSzPts val="2800"/>
              <a:buChar char="▪"/>
            </a:pPr>
            <a:r>
              <a:rPr lang="en-US"/>
              <a:t>no handshaking before sending data</a:t>
            </a:r>
            <a:endParaRPr/>
          </a:p>
          <a:p>
            <a:pPr indent="-292100" lvl="0" marL="466725" rtl="0" algn="l">
              <a:lnSpc>
                <a:spcPct val="90000"/>
              </a:lnSpc>
              <a:spcBef>
                <a:spcPts val="400"/>
              </a:spcBef>
              <a:spcAft>
                <a:spcPts val="0"/>
              </a:spcAft>
              <a:buSzPts val="2800"/>
              <a:buChar char="▪"/>
            </a:pPr>
            <a:r>
              <a:rPr lang="en-US"/>
              <a:t>sender explicitly attaches IP destination address and port # to each packet</a:t>
            </a:r>
            <a:endParaRPr/>
          </a:p>
          <a:p>
            <a:pPr indent="-292100" lvl="0" marL="466725" rtl="0" algn="l">
              <a:lnSpc>
                <a:spcPct val="90000"/>
              </a:lnSpc>
              <a:spcBef>
                <a:spcPts val="400"/>
              </a:spcBef>
              <a:spcAft>
                <a:spcPts val="0"/>
              </a:spcAft>
              <a:buSzPts val="2800"/>
              <a:buChar char="▪"/>
            </a:pPr>
            <a:r>
              <a:rPr lang="en-US"/>
              <a:t>receiver extracts sender IP address and port# from received packet</a:t>
            </a:r>
            <a:endParaRPr/>
          </a:p>
          <a:p>
            <a:pPr indent="-222250" lvl="0" marL="352425" rtl="0" algn="l">
              <a:lnSpc>
                <a:spcPct val="90000"/>
              </a:lnSpc>
              <a:spcBef>
                <a:spcPts val="1600"/>
              </a:spcBef>
              <a:spcAft>
                <a:spcPts val="0"/>
              </a:spcAft>
              <a:buSzPts val="3200"/>
              <a:buFont typeface="Noto Sans Symbols"/>
              <a:buNone/>
            </a:pPr>
            <a:r>
              <a:rPr lang="en-US" sz="3200">
                <a:solidFill>
                  <a:srgbClr val="CC0000"/>
                </a:solidFill>
              </a:rPr>
              <a:t>UDP: </a:t>
            </a:r>
            <a:r>
              <a:rPr lang="en-US" sz="3200">
                <a:solidFill>
                  <a:srgbClr val="0000A3"/>
                </a:solidFill>
              </a:rPr>
              <a:t>transmitted data may be lost or received out-of-order</a:t>
            </a:r>
            <a:endParaRPr/>
          </a:p>
          <a:p>
            <a:pPr indent="-222250" lvl="0" marL="352425" rtl="0" algn="l">
              <a:lnSpc>
                <a:spcPct val="90000"/>
              </a:lnSpc>
              <a:spcBef>
                <a:spcPts val="1600"/>
              </a:spcBef>
              <a:spcAft>
                <a:spcPts val="0"/>
              </a:spcAft>
              <a:buSzPts val="3200"/>
              <a:buFont typeface="Noto Sans Symbols"/>
              <a:buNone/>
            </a:pPr>
            <a:r>
              <a:rPr lang="en-US" sz="3200">
                <a:solidFill>
                  <a:srgbClr val="CC0000"/>
                </a:solidFill>
              </a:rPr>
              <a:t>Application viewpoint:</a:t>
            </a:r>
            <a:endParaRPr/>
          </a:p>
          <a:p>
            <a:pPr indent="-292100" lvl="0" marL="466725" rtl="0" algn="l">
              <a:lnSpc>
                <a:spcPct val="100000"/>
              </a:lnSpc>
              <a:spcBef>
                <a:spcPts val="0"/>
              </a:spcBef>
              <a:spcAft>
                <a:spcPts val="0"/>
              </a:spcAft>
              <a:buClr>
                <a:srgbClr val="010086"/>
              </a:buClr>
              <a:buSzPts val="2800"/>
              <a:buChar char="▪"/>
            </a:pPr>
            <a:r>
              <a:rPr lang="en-US"/>
              <a:t>UDP provides </a:t>
            </a:r>
            <a:r>
              <a:rPr i="1" lang="en-US"/>
              <a:t>unreliable</a:t>
            </a:r>
            <a:r>
              <a:rPr lang="en-US"/>
              <a:t> transfer  of groups of bytes (“datagrams”)  between client and server</a:t>
            </a:r>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a:p>
            <a:pPr indent="-222250" lvl="0" marL="352425" rtl="0" algn="l">
              <a:lnSpc>
                <a:spcPct val="90000"/>
              </a:lnSpc>
              <a:spcBef>
                <a:spcPts val="1400"/>
              </a:spcBef>
              <a:spcAft>
                <a:spcPts val="0"/>
              </a:spcAft>
              <a:buSzPts val="2800"/>
              <a:buFont typeface="Noto Sans Symbols"/>
              <a:buNone/>
            </a:pPr>
            <a:r>
              <a:t/>
            </a:r>
            <a:endParaRPr>
              <a:solidFill>
                <a:srgbClr val="CC0000"/>
              </a:solidFill>
            </a:endParaRPr>
          </a:p>
        </p:txBody>
      </p:sp>
      <p:sp>
        <p:nvSpPr>
          <p:cNvPr id="10440" name="Google Shape;10440;p1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5" name="Shape 10445"/>
        <p:cNvGrpSpPr/>
        <p:nvPr/>
      </p:nvGrpSpPr>
      <p:grpSpPr>
        <a:xfrm>
          <a:off x="0" y="0"/>
          <a:ext cx="0" cy="0"/>
          <a:chOff x="0" y="0"/>
          <a:chExt cx="0" cy="0"/>
        </a:xfrm>
      </p:grpSpPr>
      <p:sp>
        <p:nvSpPr>
          <p:cNvPr id="10446" name="Google Shape;10446;p130"/>
          <p:cNvSpPr txBox="1"/>
          <p:nvPr>
            <p:ph type="title"/>
          </p:nvPr>
        </p:nvSpPr>
        <p:spPr>
          <a:xfrm>
            <a:off x="838200" y="451821"/>
            <a:ext cx="11124616"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400"/>
              <a:t>Client/server socket interaction: UDP (Syllabus not covered)</a:t>
            </a:r>
            <a:endParaRPr/>
          </a:p>
        </p:txBody>
      </p:sp>
      <p:grpSp>
        <p:nvGrpSpPr>
          <p:cNvPr id="10447" name="Google Shape;10447;p130"/>
          <p:cNvGrpSpPr/>
          <p:nvPr/>
        </p:nvGrpSpPr>
        <p:grpSpPr>
          <a:xfrm>
            <a:off x="7008229" y="4140035"/>
            <a:ext cx="2211387" cy="2200275"/>
            <a:chOff x="3485" y="2494"/>
            <a:chExt cx="1393" cy="1386"/>
          </a:xfrm>
        </p:grpSpPr>
        <p:grpSp>
          <p:nvGrpSpPr>
            <p:cNvPr id="10448" name="Google Shape;10448;p130"/>
            <p:cNvGrpSpPr/>
            <p:nvPr/>
          </p:nvGrpSpPr>
          <p:grpSpPr>
            <a:xfrm>
              <a:off x="3485" y="2964"/>
              <a:ext cx="1393" cy="916"/>
              <a:chOff x="3485" y="2964"/>
              <a:chExt cx="1393" cy="916"/>
            </a:xfrm>
          </p:grpSpPr>
          <p:sp>
            <p:nvSpPr>
              <p:cNvPr id="10449" name="Google Shape;10449;p130"/>
              <p:cNvSpPr txBox="1"/>
              <p:nvPr/>
            </p:nvSpPr>
            <p:spPr>
              <a:xfrm>
                <a:off x="3509" y="3473"/>
                <a:ext cx="900" cy="40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close</a:t>
                </a:r>
                <a:endParaRPr/>
              </a:p>
              <a:p>
                <a:pPr indent="0" lvl="0" marL="0" marR="0" rtl="0" algn="l">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clientSocke</a:t>
                </a:r>
                <a:r>
                  <a:rPr b="0" i="0" lang="en-US" sz="1800" u="none" cap="none" strike="noStrike">
                    <a:solidFill>
                      <a:srgbClr val="FF0000"/>
                    </a:solidFill>
                    <a:latin typeface="Arial"/>
                    <a:ea typeface="Arial"/>
                    <a:cs typeface="Arial"/>
                    <a:sym typeface="Arial"/>
                  </a:rPr>
                  <a:t>t</a:t>
                </a:r>
                <a:endParaRPr b="0" i="0" sz="1800" u="none" cap="none" strike="noStrike">
                  <a:solidFill>
                    <a:srgbClr val="000000"/>
                  </a:solidFill>
                  <a:latin typeface="Times New Roman"/>
                  <a:ea typeface="Times New Roman"/>
                  <a:cs typeface="Times New Roman"/>
                  <a:sym typeface="Times New Roman"/>
                </a:endParaRPr>
              </a:p>
            </p:txBody>
          </p:sp>
          <p:cxnSp>
            <p:nvCxnSpPr>
              <p:cNvPr id="10450" name="Google Shape;10450;p130"/>
              <p:cNvCxnSpPr/>
              <p:nvPr/>
            </p:nvCxnSpPr>
            <p:spPr>
              <a:xfrm>
                <a:off x="3867" y="3335"/>
                <a:ext cx="0" cy="204"/>
              </a:xfrm>
              <a:prstGeom prst="straightConnector1">
                <a:avLst/>
              </a:prstGeom>
              <a:noFill/>
              <a:ln cap="flat" cmpd="sng" w="28575">
                <a:solidFill>
                  <a:srgbClr val="000099"/>
                </a:solidFill>
                <a:prstDash val="solid"/>
                <a:round/>
                <a:headEnd len="med" w="med" type="none"/>
                <a:tailEnd len="med" w="med" type="triangle"/>
              </a:ln>
            </p:spPr>
          </p:cxnSp>
          <p:sp>
            <p:nvSpPr>
              <p:cNvPr id="10451" name="Google Shape;10451;p130"/>
              <p:cNvSpPr txBox="1"/>
              <p:nvPr/>
            </p:nvSpPr>
            <p:spPr>
              <a:xfrm>
                <a:off x="3485" y="2964"/>
                <a:ext cx="1393" cy="40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read datagram from</a:t>
                </a:r>
                <a:endParaRPr/>
              </a:p>
              <a:p>
                <a:pPr indent="0" lvl="0" marL="0" marR="0" rtl="0" algn="l">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clientSocket</a:t>
                </a:r>
                <a:endParaRPr b="0" i="0" sz="1800" u="none" cap="none" strike="noStrike">
                  <a:solidFill>
                    <a:srgbClr val="CC0000"/>
                  </a:solidFill>
                  <a:latin typeface="Times New Roman"/>
                  <a:ea typeface="Times New Roman"/>
                  <a:cs typeface="Times New Roman"/>
                  <a:sym typeface="Times New Roman"/>
                </a:endParaRPr>
              </a:p>
            </p:txBody>
          </p:sp>
        </p:grpSp>
        <p:cxnSp>
          <p:nvCxnSpPr>
            <p:cNvPr id="10452" name="Google Shape;10452;p130"/>
            <p:cNvCxnSpPr/>
            <p:nvPr/>
          </p:nvCxnSpPr>
          <p:spPr>
            <a:xfrm>
              <a:off x="3864" y="2494"/>
              <a:ext cx="0" cy="522"/>
            </a:xfrm>
            <a:prstGeom prst="straightConnector1">
              <a:avLst/>
            </a:prstGeom>
            <a:noFill/>
            <a:ln cap="flat" cmpd="sng" w="28575">
              <a:solidFill>
                <a:srgbClr val="000099"/>
              </a:solidFill>
              <a:prstDash val="solid"/>
              <a:round/>
              <a:headEnd len="med" w="med" type="none"/>
              <a:tailEnd len="med" w="med" type="triangle"/>
            </a:ln>
          </p:spPr>
        </p:cxnSp>
      </p:grpSp>
      <p:grpSp>
        <p:nvGrpSpPr>
          <p:cNvPr id="10453" name="Google Shape;10453;p130"/>
          <p:cNvGrpSpPr/>
          <p:nvPr/>
        </p:nvGrpSpPr>
        <p:grpSpPr>
          <a:xfrm>
            <a:off x="4498391" y="1480972"/>
            <a:ext cx="6203950" cy="2690813"/>
            <a:chOff x="1890" y="840"/>
            <a:chExt cx="3908" cy="1695"/>
          </a:xfrm>
        </p:grpSpPr>
        <p:grpSp>
          <p:nvGrpSpPr>
            <p:cNvPr id="10454" name="Google Shape;10454;p130"/>
            <p:cNvGrpSpPr/>
            <p:nvPr/>
          </p:nvGrpSpPr>
          <p:grpSpPr>
            <a:xfrm>
              <a:off x="3397" y="1240"/>
              <a:ext cx="2290" cy="612"/>
              <a:chOff x="3241" y="1750"/>
              <a:chExt cx="2290" cy="612"/>
            </a:xfrm>
          </p:grpSpPr>
          <p:sp>
            <p:nvSpPr>
              <p:cNvPr id="10455" name="Google Shape;10455;p130"/>
              <p:cNvSpPr txBox="1"/>
              <p:nvPr/>
            </p:nvSpPr>
            <p:spPr>
              <a:xfrm>
                <a:off x="3241" y="1750"/>
                <a:ext cx="1021" cy="46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create socket:</a:t>
                </a:r>
                <a:endParaRPr/>
              </a:p>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0456" name="Google Shape;10456;p130"/>
              <p:cNvSpPr txBox="1"/>
              <p:nvPr/>
            </p:nvSpPr>
            <p:spPr>
              <a:xfrm>
                <a:off x="3241" y="1944"/>
                <a:ext cx="2290" cy="418"/>
              </a:xfrm>
              <a:prstGeom prst="rect">
                <a:avLst/>
              </a:prstGeom>
              <a:noFill/>
              <a:ln>
                <a:noFill/>
              </a:ln>
            </p:spPr>
            <p:txBody>
              <a:bodyPr anchorCtr="0" anchor="ctr" bIns="45700" lIns="91425" spcFirstLastPara="1" rIns="91425" wrap="square" tIns="45700">
                <a:spAutoFit/>
              </a:bodyPr>
              <a:lstStyle/>
              <a:p>
                <a:pPr indent="0" lvl="0" marL="0" marR="0" rtl="0" algn="l">
                  <a:lnSpc>
                    <a:spcPct val="111111"/>
                  </a:lnSpc>
                  <a:spcBef>
                    <a:spcPts val="0"/>
                  </a:spcBef>
                  <a:spcAft>
                    <a:spcPts val="0"/>
                  </a:spcAft>
                  <a:buClr>
                    <a:srgbClr val="3333CC"/>
                  </a:buClr>
                  <a:buSzPts val="1530"/>
                  <a:buFont typeface="Arial"/>
                  <a:buNone/>
                </a:pPr>
                <a:r>
                  <a:rPr b="0" i="0" lang="en-US" sz="1800" u="none" cap="none" strike="noStrike">
                    <a:solidFill>
                      <a:srgbClr val="CC0000"/>
                    </a:solidFill>
                    <a:latin typeface="Arial"/>
                    <a:ea typeface="Arial"/>
                    <a:cs typeface="Arial"/>
                    <a:sym typeface="Arial"/>
                  </a:rPr>
                  <a:t>clientSocket =</a:t>
                </a:r>
                <a:endParaRPr/>
              </a:p>
              <a:p>
                <a:pPr indent="0" lvl="0" marL="0" marR="0" rtl="0" algn="l">
                  <a:lnSpc>
                    <a:spcPct val="111111"/>
                  </a:lnSpc>
                  <a:spcBef>
                    <a:spcPts val="360"/>
                  </a:spcBef>
                  <a:spcAft>
                    <a:spcPts val="0"/>
                  </a:spcAft>
                  <a:buClr>
                    <a:srgbClr val="3333CC"/>
                  </a:buClr>
                  <a:buSzPts val="1530"/>
                  <a:buFont typeface="Arial"/>
                  <a:buNone/>
                </a:pPr>
                <a:r>
                  <a:rPr b="0" i="0" lang="en-US" sz="1800" u="none" cap="none" strike="noStrike">
                    <a:solidFill>
                      <a:srgbClr val="CC0000"/>
                    </a:solidFill>
                    <a:latin typeface="Arial"/>
                    <a:ea typeface="Arial"/>
                    <a:cs typeface="Arial"/>
                    <a:sym typeface="Arial"/>
                  </a:rPr>
                  <a:t>socket(AF_INET,SOCK_DGRAM)</a:t>
                </a:r>
                <a:endParaRPr b="0" i="0" sz="1800" u="none" cap="none" strike="noStrike">
                  <a:solidFill>
                    <a:srgbClr val="CC0000"/>
                  </a:solidFill>
                  <a:latin typeface="Times New Roman"/>
                  <a:ea typeface="Times New Roman"/>
                  <a:cs typeface="Times New Roman"/>
                  <a:sym typeface="Times New Roman"/>
                </a:endParaRPr>
              </a:p>
            </p:txBody>
          </p:sp>
        </p:grpSp>
        <p:sp>
          <p:nvSpPr>
            <p:cNvPr id="10457" name="Google Shape;10457;p130"/>
            <p:cNvSpPr txBox="1"/>
            <p:nvPr/>
          </p:nvSpPr>
          <p:spPr>
            <a:xfrm>
              <a:off x="3570" y="840"/>
              <a:ext cx="116" cy="28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0458" name="Google Shape;10458;p130"/>
            <p:cNvSpPr txBox="1"/>
            <p:nvPr/>
          </p:nvSpPr>
          <p:spPr>
            <a:xfrm>
              <a:off x="3389" y="1953"/>
              <a:ext cx="2409" cy="58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Create datagram with server IP and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port=x; send datagram via</a:t>
              </a:r>
              <a:br>
                <a:rPr b="0" i="0" lang="en-US" sz="1800" u="none" cap="none" strike="noStrike">
                  <a:solidFill>
                    <a:srgbClr val="CC0000"/>
                  </a:solidFill>
                  <a:latin typeface="Arial"/>
                  <a:ea typeface="Arial"/>
                  <a:cs typeface="Arial"/>
                  <a:sym typeface="Arial"/>
                </a:rPr>
              </a:br>
              <a:r>
                <a:rPr b="0" i="0" lang="en-US" sz="1800" u="none" cap="none" strike="noStrike">
                  <a:solidFill>
                    <a:srgbClr val="CC0000"/>
                  </a:solidFill>
                  <a:latin typeface="Arial"/>
                  <a:ea typeface="Arial"/>
                  <a:cs typeface="Arial"/>
                  <a:sym typeface="Arial"/>
                </a:rPr>
                <a:t>clientSocket</a:t>
              </a:r>
              <a:endParaRPr b="0" i="0" sz="1800" u="none" cap="none" strike="noStrike">
                <a:solidFill>
                  <a:srgbClr val="CC0000"/>
                </a:solidFill>
                <a:latin typeface="Times New Roman"/>
                <a:ea typeface="Times New Roman"/>
                <a:cs typeface="Times New Roman"/>
                <a:sym typeface="Times New Roman"/>
              </a:endParaRPr>
            </a:p>
          </p:txBody>
        </p:sp>
        <p:cxnSp>
          <p:nvCxnSpPr>
            <p:cNvPr id="10459" name="Google Shape;10459;p130"/>
            <p:cNvCxnSpPr/>
            <p:nvPr/>
          </p:nvCxnSpPr>
          <p:spPr>
            <a:xfrm>
              <a:off x="3828" y="1830"/>
              <a:ext cx="0" cy="204"/>
            </a:xfrm>
            <a:prstGeom prst="straightConnector1">
              <a:avLst/>
            </a:prstGeom>
            <a:noFill/>
            <a:ln cap="flat" cmpd="sng" w="28575">
              <a:solidFill>
                <a:srgbClr val="000099"/>
              </a:solidFill>
              <a:prstDash val="solid"/>
              <a:round/>
              <a:headEnd len="med" w="med" type="none"/>
              <a:tailEnd len="med" w="med" type="triangle"/>
            </a:ln>
          </p:spPr>
        </p:cxnSp>
        <p:cxnSp>
          <p:nvCxnSpPr>
            <p:cNvPr id="10460" name="Google Shape;10460;p130"/>
            <p:cNvCxnSpPr/>
            <p:nvPr/>
          </p:nvCxnSpPr>
          <p:spPr>
            <a:xfrm flipH="1">
              <a:off x="1890" y="2208"/>
              <a:ext cx="1518" cy="252"/>
            </a:xfrm>
            <a:prstGeom prst="straightConnector1">
              <a:avLst/>
            </a:prstGeom>
            <a:noFill/>
            <a:ln cap="flat" cmpd="sng" w="28575">
              <a:solidFill>
                <a:srgbClr val="CC0000"/>
              </a:solidFill>
              <a:prstDash val="solid"/>
              <a:round/>
              <a:headEnd len="med" w="med" type="none"/>
              <a:tailEnd len="med" w="med" type="triangle"/>
            </a:ln>
          </p:spPr>
        </p:cxnSp>
      </p:grpSp>
      <p:sp>
        <p:nvSpPr>
          <p:cNvPr id="10461" name="Google Shape;10461;p130"/>
          <p:cNvSpPr txBox="1"/>
          <p:nvPr/>
        </p:nvSpPr>
        <p:spPr>
          <a:xfrm>
            <a:off x="2318754" y="2335047"/>
            <a:ext cx="2462212" cy="36988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create socket, port= x:</a:t>
            </a:r>
            <a:endParaRPr b="0" i="0" sz="1800" u="none" cap="none" strike="noStrike">
              <a:solidFill>
                <a:srgbClr val="000000"/>
              </a:solidFill>
              <a:latin typeface="Times New Roman"/>
              <a:ea typeface="Times New Roman"/>
              <a:cs typeface="Times New Roman"/>
              <a:sym typeface="Times New Roman"/>
            </a:endParaRPr>
          </a:p>
        </p:txBody>
      </p:sp>
      <p:sp>
        <p:nvSpPr>
          <p:cNvPr id="10462" name="Google Shape;10462;p130"/>
          <p:cNvSpPr txBox="1"/>
          <p:nvPr/>
        </p:nvSpPr>
        <p:spPr>
          <a:xfrm>
            <a:off x="2331454" y="2630322"/>
            <a:ext cx="3635375" cy="663575"/>
          </a:xfrm>
          <a:prstGeom prst="rect">
            <a:avLst/>
          </a:prstGeom>
          <a:noFill/>
          <a:ln>
            <a:noFill/>
          </a:ln>
        </p:spPr>
        <p:txBody>
          <a:bodyPr anchorCtr="0" anchor="ctr" bIns="45700" lIns="91425" spcFirstLastPara="1" rIns="91425" wrap="square" tIns="45700">
            <a:spAutoFit/>
          </a:bodyPr>
          <a:lstStyle/>
          <a:p>
            <a:pPr indent="0" lvl="0" marL="0" marR="0" rtl="0" algn="l">
              <a:lnSpc>
                <a:spcPct val="111111"/>
              </a:lnSpc>
              <a:spcBef>
                <a:spcPts val="0"/>
              </a:spcBef>
              <a:spcAft>
                <a:spcPts val="0"/>
              </a:spcAft>
              <a:buClr>
                <a:srgbClr val="3333CC"/>
              </a:buClr>
              <a:buSzPts val="1530"/>
              <a:buFont typeface="Arial"/>
              <a:buNone/>
            </a:pPr>
            <a:r>
              <a:rPr b="0" i="0" lang="en-US" sz="1800" u="none" cap="none" strike="noStrike">
                <a:solidFill>
                  <a:srgbClr val="CC0000"/>
                </a:solidFill>
                <a:latin typeface="Arial"/>
                <a:ea typeface="Arial"/>
                <a:cs typeface="Arial"/>
                <a:sym typeface="Arial"/>
              </a:rPr>
              <a:t>serverSocket =</a:t>
            </a:r>
            <a:endParaRPr/>
          </a:p>
          <a:p>
            <a:pPr indent="0" lvl="0" marL="0" marR="0" rtl="0" algn="l">
              <a:lnSpc>
                <a:spcPct val="111111"/>
              </a:lnSpc>
              <a:spcBef>
                <a:spcPts val="360"/>
              </a:spcBef>
              <a:spcAft>
                <a:spcPts val="0"/>
              </a:spcAft>
              <a:buClr>
                <a:srgbClr val="3333CC"/>
              </a:buClr>
              <a:buSzPts val="1530"/>
              <a:buFont typeface="Arial"/>
              <a:buNone/>
            </a:pPr>
            <a:r>
              <a:rPr b="0" i="0" lang="en-US" sz="1800" u="none" cap="none" strike="noStrike">
                <a:solidFill>
                  <a:srgbClr val="CC0000"/>
                </a:solidFill>
                <a:latin typeface="Arial"/>
                <a:ea typeface="Arial"/>
                <a:cs typeface="Arial"/>
                <a:sym typeface="Arial"/>
              </a:rPr>
              <a:t>socket(AF_INET,SOCK_DGRAM)</a:t>
            </a:r>
            <a:endParaRPr b="0" i="0" sz="1800" u="none" cap="none" strike="noStrike">
              <a:solidFill>
                <a:srgbClr val="CC0000"/>
              </a:solidFill>
              <a:latin typeface="Times New Roman"/>
              <a:ea typeface="Times New Roman"/>
              <a:cs typeface="Times New Roman"/>
              <a:sym typeface="Times New Roman"/>
            </a:endParaRPr>
          </a:p>
        </p:txBody>
      </p:sp>
      <p:grpSp>
        <p:nvGrpSpPr>
          <p:cNvPr id="10463" name="Google Shape;10463;p130"/>
          <p:cNvGrpSpPr/>
          <p:nvPr/>
        </p:nvGrpSpPr>
        <p:grpSpPr>
          <a:xfrm>
            <a:off x="2344154" y="3293897"/>
            <a:ext cx="2211387" cy="1109663"/>
            <a:chOff x="589" y="1982"/>
            <a:chExt cx="1393" cy="699"/>
          </a:xfrm>
        </p:grpSpPr>
        <p:cxnSp>
          <p:nvCxnSpPr>
            <p:cNvPr id="10464" name="Google Shape;10464;p130"/>
            <p:cNvCxnSpPr/>
            <p:nvPr/>
          </p:nvCxnSpPr>
          <p:spPr>
            <a:xfrm>
              <a:off x="1276" y="1982"/>
              <a:ext cx="0" cy="366"/>
            </a:xfrm>
            <a:prstGeom prst="straightConnector1">
              <a:avLst/>
            </a:prstGeom>
            <a:noFill/>
            <a:ln cap="flat" cmpd="sng" w="28575">
              <a:solidFill>
                <a:srgbClr val="000099"/>
              </a:solidFill>
              <a:prstDash val="solid"/>
              <a:round/>
              <a:headEnd len="med" w="med" type="none"/>
              <a:tailEnd len="med" w="med" type="triangle"/>
            </a:ln>
          </p:spPr>
        </p:cxnSp>
        <p:sp>
          <p:nvSpPr>
            <p:cNvPr id="10465" name="Google Shape;10465;p130"/>
            <p:cNvSpPr txBox="1"/>
            <p:nvPr/>
          </p:nvSpPr>
          <p:spPr>
            <a:xfrm>
              <a:off x="589" y="2274"/>
              <a:ext cx="1393" cy="40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read datagram from</a:t>
              </a:r>
              <a:endParaRPr/>
            </a:p>
            <a:p>
              <a:pPr indent="0" lvl="0" marL="0" marR="0" rtl="0" algn="l">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serverSocke</a:t>
              </a:r>
              <a:r>
                <a:rPr b="0" i="0" lang="en-US" sz="1800" u="none" cap="none" strike="noStrike">
                  <a:solidFill>
                    <a:srgbClr val="FF0000"/>
                  </a:solidFill>
                  <a:latin typeface="Arial"/>
                  <a:ea typeface="Arial"/>
                  <a:cs typeface="Arial"/>
                  <a:sym typeface="Arial"/>
                </a:rPr>
                <a:t>t</a:t>
              </a:r>
              <a:endParaRPr b="0" i="0" sz="1800" u="none" cap="none" strike="noStrike">
                <a:solidFill>
                  <a:srgbClr val="000000"/>
                </a:solidFill>
                <a:latin typeface="Times New Roman"/>
                <a:ea typeface="Times New Roman"/>
                <a:cs typeface="Times New Roman"/>
                <a:sym typeface="Times New Roman"/>
              </a:endParaRPr>
            </a:p>
          </p:txBody>
        </p:sp>
      </p:grpSp>
      <p:grpSp>
        <p:nvGrpSpPr>
          <p:cNvPr id="10466" name="Google Shape;10466;p130"/>
          <p:cNvGrpSpPr/>
          <p:nvPr/>
        </p:nvGrpSpPr>
        <p:grpSpPr>
          <a:xfrm>
            <a:off x="2607679" y="4405147"/>
            <a:ext cx="4202112" cy="1698625"/>
            <a:chOff x="755" y="2696"/>
            <a:chExt cx="2647" cy="1070"/>
          </a:xfrm>
        </p:grpSpPr>
        <p:sp>
          <p:nvSpPr>
            <p:cNvPr id="10467" name="Google Shape;10467;p130"/>
            <p:cNvSpPr txBox="1"/>
            <p:nvPr/>
          </p:nvSpPr>
          <p:spPr>
            <a:xfrm>
              <a:off x="755" y="2835"/>
              <a:ext cx="1062" cy="9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write reply to</a:t>
              </a:r>
              <a:endParaRPr/>
            </a:p>
            <a:p>
              <a:pPr indent="0" lvl="0" marL="0" marR="0" rtl="0" algn="l">
                <a:lnSpc>
                  <a:spcPct val="100000"/>
                </a:lnSpc>
                <a:spcBef>
                  <a:spcPts val="0"/>
                </a:spcBef>
                <a:spcAft>
                  <a:spcPts val="0"/>
                </a:spcAft>
                <a:buClr>
                  <a:srgbClr val="CC0000"/>
                </a:buClr>
                <a:buSzPts val="1800"/>
                <a:buFont typeface="Arial"/>
                <a:buNone/>
              </a:pPr>
              <a:r>
                <a:rPr b="0" i="0" lang="en-US" sz="1800" u="none" cap="none" strike="noStrike">
                  <a:solidFill>
                    <a:srgbClr val="CC0000"/>
                  </a:solidFill>
                  <a:latin typeface="Arial"/>
                  <a:ea typeface="Arial"/>
                  <a:cs typeface="Arial"/>
                  <a:sym typeface="Arial"/>
                </a:rPr>
                <a:t>serverSocket</a:t>
              </a:r>
              <a:endParaRPr b="0" i="0" sz="1800" u="none" cap="none" strike="noStrike">
                <a:solidFill>
                  <a:srgbClr val="CC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specifying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client address,</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port number</a:t>
              </a:r>
              <a:endParaRPr b="0" i="0" sz="1800" u="none" cap="none" strike="noStrike">
                <a:solidFill>
                  <a:srgbClr val="000000"/>
                </a:solidFill>
                <a:latin typeface="Times New Roman"/>
                <a:ea typeface="Times New Roman"/>
                <a:cs typeface="Times New Roman"/>
                <a:sym typeface="Times New Roman"/>
              </a:endParaRPr>
            </a:p>
          </p:txBody>
        </p:sp>
        <p:cxnSp>
          <p:nvCxnSpPr>
            <p:cNvPr id="10468" name="Google Shape;10468;p130"/>
            <p:cNvCxnSpPr/>
            <p:nvPr/>
          </p:nvCxnSpPr>
          <p:spPr>
            <a:xfrm>
              <a:off x="1278" y="2696"/>
              <a:ext cx="0" cy="198"/>
            </a:xfrm>
            <a:prstGeom prst="straightConnector1">
              <a:avLst/>
            </a:prstGeom>
            <a:noFill/>
            <a:ln cap="flat" cmpd="sng" w="28575">
              <a:solidFill>
                <a:srgbClr val="000099"/>
              </a:solidFill>
              <a:prstDash val="solid"/>
              <a:round/>
              <a:headEnd len="med" w="med" type="none"/>
              <a:tailEnd len="med" w="med" type="triangle"/>
            </a:ln>
          </p:spPr>
        </p:cxnSp>
        <p:cxnSp>
          <p:nvCxnSpPr>
            <p:cNvPr id="10469" name="Google Shape;10469;p130"/>
            <p:cNvCxnSpPr/>
            <p:nvPr/>
          </p:nvCxnSpPr>
          <p:spPr>
            <a:xfrm>
              <a:off x="1866" y="2970"/>
              <a:ext cx="1536" cy="180"/>
            </a:xfrm>
            <a:prstGeom prst="straightConnector1">
              <a:avLst/>
            </a:prstGeom>
            <a:noFill/>
            <a:ln cap="flat" cmpd="sng" w="28575">
              <a:solidFill>
                <a:srgbClr val="CC0000"/>
              </a:solidFill>
              <a:prstDash val="solid"/>
              <a:round/>
              <a:headEnd len="med" w="med" type="none"/>
              <a:tailEnd len="med" w="med" type="triangle"/>
            </a:ln>
          </p:spPr>
        </p:cxnSp>
      </p:grpSp>
      <p:sp>
        <p:nvSpPr>
          <p:cNvPr id="10470" name="Google Shape;10470;p130"/>
          <p:cNvSpPr txBox="1"/>
          <p:nvPr/>
        </p:nvSpPr>
        <p:spPr>
          <a:xfrm>
            <a:off x="2036195" y="1465007"/>
            <a:ext cx="3286092" cy="5847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3200">
                <a:solidFill>
                  <a:srgbClr val="000000"/>
                </a:solidFill>
                <a:latin typeface="Calibri"/>
                <a:ea typeface="Calibri"/>
                <a:cs typeface="Calibri"/>
                <a:sym typeface="Calibri"/>
              </a:rPr>
              <a:t>server</a:t>
            </a:r>
            <a:r>
              <a:rPr lang="en-US" sz="2800">
                <a:solidFill>
                  <a:srgbClr val="000000"/>
                </a:solidFill>
                <a:latin typeface="Calibri"/>
                <a:ea typeface="Calibri"/>
                <a:cs typeface="Calibri"/>
                <a:sym typeface="Calibri"/>
              </a:rPr>
              <a:t> </a:t>
            </a:r>
            <a:r>
              <a:rPr lang="en-US" sz="1800">
                <a:solidFill>
                  <a:srgbClr val="000000"/>
                </a:solidFill>
                <a:latin typeface="Calibri"/>
                <a:ea typeface="Calibri"/>
                <a:cs typeface="Calibri"/>
                <a:sym typeface="Calibri"/>
              </a:rPr>
              <a:t>(running on serverIP)</a:t>
            </a:r>
            <a:endParaRPr/>
          </a:p>
        </p:txBody>
      </p:sp>
      <p:sp>
        <p:nvSpPr>
          <p:cNvPr id="10471" name="Google Shape;10471;p130"/>
          <p:cNvSpPr txBox="1"/>
          <p:nvPr/>
        </p:nvSpPr>
        <p:spPr>
          <a:xfrm>
            <a:off x="6840313" y="1416392"/>
            <a:ext cx="1101007" cy="5847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3200">
                <a:solidFill>
                  <a:srgbClr val="000000"/>
                </a:solidFill>
                <a:latin typeface="Calibri"/>
                <a:ea typeface="Calibri"/>
                <a:cs typeface="Calibri"/>
                <a:sym typeface="Calibri"/>
              </a:rPr>
              <a:t>client</a:t>
            </a:r>
            <a:endParaRPr/>
          </a:p>
        </p:txBody>
      </p:sp>
      <p:grpSp>
        <p:nvGrpSpPr>
          <p:cNvPr id="10472" name="Google Shape;10472;p130"/>
          <p:cNvGrpSpPr/>
          <p:nvPr/>
        </p:nvGrpSpPr>
        <p:grpSpPr>
          <a:xfrm>
            <a:off x="1534349" y="1399326"/>
            <a:ext cx="422275" cy="685800"/>
            <a:chOff x="4140" y="429"/>
            <a:chExt cx="1425" cy="2396"/>
          </a:xfrm>
        </p:grpSpPr>
        <p:sp>
          <p:nvSpPr>
            <p:cNvPr id="10473" name="Google Shape;10473;p13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74" name="Google Shape;10474;p130"/>
            <p:cNvSpPr/>
            <p:nvPr/>
          </p:nvSpPr>
          <p:spPr>
            <a:xfrm>
              <a:off x="4204" y="429"/>
              <a:ext cx="1050"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475" name="Google Shape;10475;p13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76" name="Google Shape;10476;p13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77" name="Google Shape;10477;p130"/>
            <p:cNvSpPr/>
            <p:nvPr/>
          </p:nvSpPr>
          <p:spPr>
            <a:xfrm>
              <a:off x="4210" y="695"/>
              <a:ext cx="600"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10478" name="Google Shape;10478;p130"/>
            <p:cNvGrpSpPr/>
            <p:nvPr/>
          </p:nvGrpSpPr>
          <p:grpSpPr>
            <a:xfrm>
              <a:off x="4751" y="668"/>
              <a:ext cx="579" cy="144"/>
              <a:chOff x="616" y="2568"/>
              <a:chExt cx="722" cy="138"/>
            </a:xfrm>
          </p:grpSpPr>
          <p:sp>
            <p:nvSpPr>
              <p:cNvPr id="10479" name="Google Shape;10479;p130"/>
              <p:cNvSpPr/>
              <p:nvPr/>
            </p:nvSpPr>
            <p:spPr>
              <a:xfrm>
                <a:off x="616" y="2568"/>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480" name="Google Shape;10480;p130"/>
              <p:cNvSpPr/>
              <p:nvPr/>
            </p:nvSpPr>
            <p:spPr>
              <a:xfrm>
                <a:off x="630" y="2583"/>
                <a:ext cx="689"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10481" name="Google Shape;10481;p130"/>
            <p:cNvSpPr/>
            <p:nvPr/>
          </p:nvSpPr>
          <p:spPr>
            <a:xfrm>
              <a:off x="4226" y="1017"/>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10482" name="Google Shape;10482;p130"/>
            <p:cNvGrpSpPr/>
            <p:nvPr/>
          </p:nvGrpSpPr>
          <p:grpSpPr>
            <a:xfrm>
              <a:off x="4745" y="995"/>
              <a:ext cx="584" cy="133"/>
              <a:chOff x="612" y="2569"/>
              <a:chExt cx="729" cy="138"/>
            </a:xfrm>
          </p:grpSpPr>
          <p:sp>
            <p:nvSpPr>
              <p:cNvPr id="10483" name="Google Shape;10483;p130"/>
              <p:cNvSpPr/>
              <p:nvPr/>
            </p:nvSpPr>
            <p:spPr>
              <a:xfrm>
                <a:off x="612" y="2569"/>
                <a:ext cx="72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484" name="Google Shape;10484;p130"/>
              <p:cNvSpPr/>
              <p:nvPr/>
            </p:nvSpPr>
            <p:spPr>
              <a:xfrm>
                <a:off x="625"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10485" name="Google Shape;10485;p130"/>
            <p:cNvSpPr/>
            <p:nvPr/>
          </p:nvSpPr>
          <p:spPr>
            <a:xfrm>
              <a:off x="4215" y="1355"/>
              <a:ext cx="600"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486" name="Google Shape;10486;p130"/>
            <p:cNvSpPr/>
            <p:nvPr/>
          </p:nvSpPr>
          <p:spPr>
            <a:xfrm>
              <a:off x="4226" y="1655"/>
              <a:ext cx="600"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10487" name="Google Shape;10487;p130"/>
            <p:cNvGrpSpPr/>
            <p:nvPr/>
          </p:nvGrpSpPr>
          <p:grpSpPr>
            <a:xfrm>
              <a:off x="4735" y="1627"/>
              <a:ext cx="584" cy="150"/>
              <a:chOff x="614" y="2568"/>
              <a:chExt cx="727" cy="138"/>
            </a:xfrm>
          </p:grpSpPr>
          <p:sp>
            <p:nvSpPr>
              <p:cNvPr id="10488" name="Google Shape;10488;p130"/>
              <p:cNvSpPr/>
              <p:nvPr/>
            </p:nvSpPr>
            <p:spPr>
              <a:xfrm>
                <a:off x="614" y="2568"/>
                <a:ext cx="72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489" name="Google Shape;10489;p130"/>
              <p:cNvSpPr/>
              <p:nvPr/>
            </p:nvSpPr>
            <p:spPr>
              <a:xfrm>
                <a:off x="627" y="2583"/>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10490" name="Google Shape;10490;p13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491" name="Google Shape;10491;p130"/>
            <p:cNvGrpSpPr/>
            <p:nvPr/>
          </p:nvGrpSpPr>
          <p:grpSpPr>
            <a:xfrm>
              <a:off x="4740" y="1327"/>
              <a:ext cx="579" cy="139"/>
              <a:chOff x="615" y="2568"/>
              <a:chExt cx="721" cy="139"/>
            </a:xfrm>
          </p:grpSpPr>
          <p:sp>
            <p:nvSpPr>
              <p:cNvPr id="10492" name="Google Shape;10492;p130"/>
              <p:cNvSpPr/>
              <p:nvPr/>
            </p:nvSpPr>
            <p:spPr>
              <a:xfrm>
                <a:off x="615" y="2568"/>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493" name="Google Shape;10493;p130"/>
              <p:cNvSpPr/>
              <p:nvPr/>
            </p:nvSpPr>
            <p:spPr>
              <a:xfrm>
                <a:off x="629" y="2585"/>
                <a:ext cx="687"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10494" name="Google Shape;10494;p130"/>
            <p:cNvSpPr/>
            <p:nvPr/>
          </p:nvSpPr>
          <p:spPr>
            <a:xfrm>
              <a:off x="5249" y="429"/>
              <a:ext cx="70" cy="2291"/>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495" name="Google Shape;10495;p13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96" name="Google Shape;10496;p13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97" name="Google Shape;10497;p130"/>
            <p:cNvSpPr/>
            <p:nvPr/>
          </p:nvSpPr>
          <p:spPr>
            <a:xfrm>
              <a:off x="5517" y="2609"/>
              <a:ext cx="48" cy="100"/>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498" name="Google Shape;10498;p13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99" name="Google Shape;10499;p130"/>
            <p:cNvSpPr/>
            <p:nvPr/>
          </p:nvSpPr>
          <p:spPr>
            <a:xfrm>
              <a:off x="4140" y="2675"/>
              <a:ext cx="1200"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500" name="Google Shape;10500;p130"/>
            <p:cNvSpPr/>
            <p:nvPr/>
          </p:nvSpPr>
          <p:spPr>
            <a:xfrm>
              <a:off x="4204" y="2709"/>
              <a:ext cx="107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501" name="Google Shape;10501;p130"/>
            <p:cNvSpPr/>
            <p:nvPr/>
          </p:nvSpPr>
          <p:spPr>
            <a:xfrm>
              <a:off x="4306" y="2381"/>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502" name="Google Shape;10502;p130"/>
            <p:cNvSpPr/>
            <p:nvPr/>
          </p:nvSpPr>
          <p:spPr>
            <a:xfrm>
              <a:off x="4488" y="2381"/>
              <a:ext cx="155"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Calibri"/>
                <a:ea typeface="Calibri"/>
                <a:cs typeface="Calibri"/>
                <a:sym typeface="Calibri"/>
              </a:endParaRPr>
            </a:p>
          </p:txBody>
        </p:sp>
        <p:sp>
          <p:nvSpPr>
            <p:cNvPr id="10503" name="Google Shape;10503;p130"/>
            <p:cNvSpPr/>
            <p:nvPr/>
          </p:nvSpPr>
          <p:spPr>
            <a:xfrm>
              <a:off x="4660" y="2381"/>
              <a:ext cx="161"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504" name="Google Shape;10504;p130"/>
            <p:cNvSpPr/>
            <p:nvPr/>
          </p:nvSpPr>
          <p:spPr>
            <a:xfrm>
              <a:off x="5061" y="1838"/>
              <a:ext cx="86"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10505" name="Google Shape;10505;p130"/>
          <p:cNvGrpSpPr/>
          <p:nvPr/>
        </p:nvGrpSpPr>
        <p:grpSpPr>
          <a:xfrm>
            <a:off x="7841666" y="1346443"/>
            <a:ext cx="742950" cy="742950"/>
            <a:chOff x="-44" y="1473"/>
            <a:chExt cx="981" cy="1105"/>
          </a:xfrm>
        </p:grpSpPr>
        <p:pic>
          <p:nvPicPr>
            <p:cNvPr descr="desktop_computer_stylized_medium" id="10506" name="Google Shape;10506;p13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0507" name="Google Shape;10507;p13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508" name="Google Shape;10508;p1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53"/>
                                        </p:tgtEl>
                                        <p:attrNameLst>
                                          <p:attrName>style.visibility</p:attrName>
                                        </p:attrNameLst>
                                      </p:cBhvr>
                                      <p:to>
                                        <p:strVal val="visible"/>
                                      </p:to>
                                    </p:set>
                                    <p:animEffect filter="fade" transition="in">
                                      <p:cBhvr>
                                        <p:cTn dur="500"/>
                                        <p:tgtEl>
                                          <p:spTgt spid="104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3"/>
                                        </p:tgtEl>
                                        <p:attrNameLst>
                                          <p:attrName>style.visibility</p:attrName>
                                        </p:attrNameLst>
                                      </p:cBhvr>
                                      <p:to>
                                        <p:strVal val="visible"/>
                                      </p:to>
                                    </p:set>
                                    <p:animEffect filter="fade" transition="in">
                                      <p:cBhvr>
                                        <p:cTn dur="500"/>
                                        <p:tgtEl>
                                          <p:spTgt spid="104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6"/>
                                        </p:tgtEl>
                                        <p:attrNameLst>
                                          <p:attrName>style.visibility</p:attrName>
                                        </p:attrNameLst>
                                      </p:cBhvr>
                                      <p:to>
                                        <p:strVal val="visible"/>
                                      </p:to>
                                    </p:set>
                                    <p:animEffect filter="fade" transition="in">
                                      <p:cBhvr>
                                        <p:cTn dur="500"/>
                                        <p:tgtEl>
                                          <p:spTgt spid="104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47"/>
                                        </p:tgtEl>
                                        <p:attrNameLst>
                                          <p:attrName>style.visibility</p:attrName>
                                        </p:attrNameLst>
                                      </p:cBhvr>
                                      <p:to>
                                        <p:strVal val="visible"/>
                                      </p:to>
                                    </p:set>
                                    <p:animEffect filter="fade" transition="in">
                                      <p:cBhvr>
                                        <p:cTn dur="500"/>
                                        <p:tgtEl>
                                          <p:spTgt spid="104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3" name="Shape 10513"/>
        <p:cNvGrpSpPr/>
        <p:nvPr/>
      </p:nvGrpSpPr>
      <p:grpSpPr>
        <a:xfrm>
          <a:off x="0" y="0"/>
          <a:ext cx="0" cy="0"/>
          <a:chOff x="0" y="0"/>
          <a:chExt cx="0" cy="0"/>
        </a:xfrm>
      </p:grpSpPr>
      <p:sp>
        <p:nvSpPr>
          <p:cNvPr id="10514" name="Google Shape;10514;p131"/>
          <p:cNvSpPr txBox="1"/>
          <p:nvPr>
            <p:ph type="title"/>
          </p:nvPr>
        </p:nvSpPr>
        <p:spPr>
          <a:xfrm>
            <a:off x="838200" y="451821"/>
            <a:ext cx="113538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9"/>
              </a:buClr>
              <a:buSzPct val="100000"/>
              <a:buFont typeface="Calibri"/>
              <a:buNone/>
            </a:pPr>
            <a:r>
              <a:rPr lang="en-US" sz="4400">
                <a:solidFill>
                  <a:srgbClr val="000099"/>
                </a:solidFill>
              </a:rPr>
              <a:t>Example app: UDP client </a:t>
            </a:r>
            <a:r>
              <a:rPr lang="en-US" sz="5400"/>
              <a:t>(Syllabus not covered)</a:t>
            </a:r>
            <a:endParaRPr sz="5400">
              <a:solidFill>
                <a:srgbClr val="000099"/>
              </a:solidFill>
            </a:endParaRPr>
          </a:p>
        </p:txBody>
      </p:sp>
      <p:sp>
        <p:nvSpPr>
          <p:cNvPr id="10515" name="Google Shape;10515;p131"/>
          <p:cNvSpPr txBox="1"/>
          <p:nvPr/>
        </p:nvSpPr>
        <p:spPr>
          <a:xfrm>
            <a:off x="5404044" y="1906313"/>
            <a:ext cx="5894388" cy="4960938"/>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from socket import *</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serverName = ‘hostname’</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serverPort = 12000</a:t>
            </a:r>
            <a:endParaRPr/>
          </a:p>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clientSocket = socket(AF_INET, </a:t>
            </a:r>
            <a:endParaRPr/>
          </a:p>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                                   SOCK_DGRAM)</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message = raw_input(’Input lowercase sentence:’)</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clientSocket.sendto</a:t>
            </a:r>
            <a:r>
              <a:rPr lang="en-US" sz="1800">
                <a:solidFill>
                  <a:schemeClr val="dk1"/>
                </a:solidFill>
                <a:latin typeface="Arial"/>
                <a:ea typeface="Arial"/>
                <a:cs typeface="Arial"/>
                <a:sym typeface="Arial"/>
              </a:rPr>
              <a:t>(message.encode(),</a:t>
            </a:r>
            <a:endParaRPr/>
          </a:p>
          <a:p>
            <a:pPr indent="0" lvl="0" marL="0" marR="0" rtl="0" algn="l">
              <a:lnSpc>
                <a:spcPct val="155555"/>
              </a:lnSpc>
              <a:spcBef>
                <a:spcPts val="0"/>
              </a:spcBef>
              <a:spcAft>
                <a:spcPts val="0"/>
              </a:spcAft>
              <a:buNone/>
            </a:pPr>
            <a:r>
              <a:rPr lang="en-US" sz="1800">
                <a:solidFill>
                  <a:schemeClr val="dk1"/>
                </a:solidFill>
                <a:latin typeface="Arial"/>
                <a:ea typeface="Arial"/>
                <a:cs typeface="Arial"/>
                <a:sym typeface="Arial"/>
              </a:rPr>
              <a:t>                                      (serverName, serverPort))</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modifiedMessage, serverAddress = </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                                   clientSocket.recvfrom(2048)</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print modifiedMessage.decode()</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clientSocket.close()</a:t>
            </a:r>
            <a:endParaRPr/>
          </a:p>
        </p:txBody>
      </p:sp>
      <p:sp>
        <p:nvSpPr>
          <p:cNvPr id="10516" name="Google Shape;10516;p131"/>
          <p:cNvSpPr txBox="1"/>
          <p:nvPr/>
        </p:nvSpPr>
        <p:spPr>
          <a:xfrm>
            <a:off x="5416744" y="1423713"/>
            <a:ext cx="274161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CC0000"/>
                </a:solidFill>
                <a:latin typeface="Arial"/>
                <a:ea typeface="Arial"/>
                <a:cs typeface="Arial"/>
                <a:sym typeface="Arial"/>
              </a:rPr>
              <a:t>Python UDPClient</a:t>
            </a:r>
            <a:endParaRPr/>
          </a:p>
        </p:txBody>
      </p:sp>
      <p:grpSp>
        <p:nvGrpSpPr>
          <p:cNvPr id="10517" name="Google Shape;10517;p131"/>
          <p:cNvGrpSpPr/>
          <p:nvPr/>
        </p:nvGrpSpPr>
        <p:grpSpPr>
          <a:xfrm>
            <a:off x="2456662" y="1963666"/>
            <a:ext cx="3023734" cy="297517"/>
            <a:chOff x="-242132" y="1766968"/>
            <a:chExt cx="3023579" cy="298280"/>
          </a:xfrm>
        </p:grpSpPr>
        <p:sp>
          <p:nvSpPr>
            <p:cNvPr id="10518" name="Google Shape;10518;p131"/>
            <p:cNvSpPr txBox="1"/>
            <p:nvPr/>
          </p:nvSpPr>
          <p:spPr>
            <a:xfrm>
              <a:off x="-242132" y="1766968"/>
              <a:ext cx="3023579" cy="298280"/>
            </a:xfrm>
            <a:prstGeom prst="rect">
              <a:avLst/>
            </a:prstGeom>
            <a:noFill/>
            <a:ln>
              <a:noFill/>
            </a:ln>
          </p:spPr>
          <p:txBody>
            <a:bodyPr anchorCtr="0" anchor="t" bIns="45700" lIns="91425" spcFirstLastPara="1" rIns="91425" wrap="square" tIns="45700">
              <a:spAutoFit/>
            </a:bodyPr>
            <a:lstStyle/>
            <a:p>
              <a:pPr indent="0" lvl="0" marL="0" marR="0" rtl="0" algn="l">
                <a:lnSpc>
                  <a:spcPct val="114285"/>
                </a:lnSpc>
                <a:spcBef>
                  <a:spcPts val="0"/>
                </a:spcBef>
                <a:spcAft>
                  <a:spcPts val="0"/>
                </a:spcAft>
                <a:buNone/>
              </a:pPr>
              <a:r>
                <a:rPr lang="en-US" sz="1400">
                  <a:solidFill>
                    <a:srgbClr val="000099"/>
                  </a:solidFill>
                  <a:latin typeface="Arial"/>
                  <a:ea typeface="Arial"/>
                  <a:cs typeface="Arial"/>
                  <a:sym typeface="Arial"/>
                </a:rPr>
                <a:t>include Python’s socket library</a:t>
              </a:r>
              <a:endParaRPr/>
            </a:p>
          </p:txBody>
        </p:sp>
        <p:cxnSp>
          <p:nvCxnSpPr>
            <p:cNvPr id="10519" name="Google Shape;10519;p131"/>
            <p:cNvCxnSpPr/>
            <p:nvPr/>
          </p:nvCxnSpPr>
          <p:spPr>
            <a:xfrm>
              <a:off x="2309371" y="1930400"/>
              <a:ext cx="370329" cy="0"/>
            </a:xfrm>
            <a:prstGeom prst="straightConnector1">
              <a:avLst/>
            </a:prstGeom>
            <a:noFill/>
            <a:ln cap="flat" cmpd="sng" w="12700">
              <a:solidFill>
                <a:srgbClr val="CC0000"/>
              </a:solidFill>
              <a:prstDash val="solid"/>
              <a:round/>
              <a:headEnd len="med" w="med" type="none"/>
              <a:tailEnd len="med" w="med" type="triangle"/>
            </a:ln>
          </p:spPr>
        </p:cxnSp>
      </p:grpSp>
      <p:grpSp>
        <p:nvGrpSpPr>
          <p:cNvPr id="10520" name="Google Shape;10520;p131"/>
          <p:cNvGrpSpPr/>
          <p:nvPr/>
        </p:nvGrpSpPr>
        <p:grpSpPr>
          <a:xfrm>
            <a:off x="2536716" y="2998275"/>
            <a:ext cx="2943680" cy="523875"/>
            <a:chOff x="588094" y="2905531"/>
            <a:chExt cx="2271818" cy="523220"/>
          </a:xfrm>
        </p:grpSpPr>
        <p:sp>
          <p:nvSpPr>
            <p:cNvPr id="10521" name="Google Shape;10521;p131"/>
            <p:cNvSpPr txBox="1"/>
            <p:nvPr/>
          </p:nvSpPr>
          <p:spPr>
            <a:xfrm>
              <a:off x="588094" y="2905531"/>
              <a:ext cx="227181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99"/>
                  </a:solidFill>
                  <a:latin typeface="Arial"/>
                  <a:ea typeface="Arial"/>
                  <a:cs typeface="Arial"/>
                  <a:sym typeface="Arial"/>
                </a:rPr>
                <a:t>create UDP socket for server</a:t>
              </a:r>
              <a:endParaRPr/>
            </a:p>
          </p:txBody>
        </p:sp>
        <p:cxnSp>
          <p:nvCxnSpPr>
            <p:cNvPr id="10522" name="Google Shape;10522;p131"/>
            <p:cNvCxnSpPr/>
            <p:nvPr/>
          </p:nvCxnSpPr>
          <p:spPr>
            <a:xfrm>
              <a:off x="2488965" y="3080272"/>
              <a:ext cx="288707" cy="0"/>
            </a:xfrm>
            <a:prstGeom prst="straightConnector1">
              <a:avLst/>
            </a:prstGeom>
            <a:noFill/>
            <a:ln cap="flat" cmpd="sng" w="12700">
              <a:solidFill>
                <a:srgbClr val="CC0000"/>
              </a:solidFill>
              <a:prstDash val="solid"/>
              <a:round/>
              <a:headEnd len="med" w="med" type="none"/>
              <a:tailEnd len="med" w="med" type="triangle"/>
            </a:ln>
          </p:spPr>
        </p:cxnSp>
      </p:grpSp>
      <p:grpSp>
        <p:nvGrpSpPr>
          <p:cNvPr id="10523" name="Google Shape;10523;p131"/>
          <p:cNvGrpSpPr/>
          <p:nvPr/>
        </p:nvGrpSpPr>
        <p:grpSpPr>
          <a:xfrm>
            <a:off x="2988803" y="3664103"/>
            <a:ext cx="2943680" cy="297517"/>
            <a:chOff x="320502" y="3822598"/>
            <a:chExt cx="2944213" cy="297415"/>
          </a:xfrm>
        </p:grpSpPr>
        <p:sp>
          <p:nvSpPr>
            <p:cNvPr id="10524" name="Google Shape;10524;p131"/>
            <p:cNvSpPr txBox="1"/>
            <p:nvPr/>
          </p:nvSpPr>
          <p:spPr>
            <a:xfrm>
              <a:off x="320502" y="3822598"/>
              <a:ext cx="2944213" cy="297415"/>
            </a:xfrm>
            <a:prstGeom prst="rect">
              <a:avLst/>
            </a:prstGeom>
            <a:noFill/>
            <a:ln>
              <a:noFill/>
            </a:ln>
          </p:spPr>
          <p:txBody>
            <a:bodyPr anchorCtr="0" anchor="t" bIns="45700" lIns="91425" spcFirstLastPara="1" rIns="91425" wrap="square" tIns="45700">
              <a:spAutoFit/>
            </a:bodyPr>
            <a:lstStyle/>
            <a:p>
              <a:pPr indent="0" lvl="0" marL="0" marR="0" rtl="0" algn="l">
                <a:lnSpc>
                  <a:spcPct val="114285"/>
                </a:lnSpc>
                <a:spcBef>
                  <a:spcPts val="0"/>
                </a:spcBef>
                <a:spcAft>
                  <a:spcPts val="0"/>
                </a:spcAft>
                <a:buNone/>
              </a:pPr>
              <a:r>
                <a:rPr lang="en-US" sz="1400">
                  <a:solidFill>
                    <a:srgbClr val="000099"/>
                  </a:solidFill>
                  <a:latin typeface="Arial"/>
                  <a:ea typeface="Arial"/>
                  <a:cs typeface="Arial"/>
                  <a:sym typeface="Arial"/>
                </a:rPr>
                <a:t>get user keyboard input </a:t>
              </a:r>
              <a:endParaRPr/>
            </a:p>
          </p:txBody>
        </p:sp>
        <p:cxnSp>
          <p:nvCxnSpPr>
            <p:cNvPr id="10525" name="Google Shape;10525;p131"/>
            <p:cNvCxnSpPr/>
            <p:nvPr/>
          </p:nvCxnSpPr>
          <p:spPr>
            <a:xfrm>
              <a:off x="2340360" y="3968752"/>
              <a:ext cx="381069" cy="0"/>
            </a:xfrm>
            <a:prstGeom prst="straightConnector1">
              <a:avLst/>
            </a:prstGeom>
            <a:noFill/>
            <a:ln cap="flat" cmpd="sng" w="12700">
              <a:solidFill>
                <a:srgbClr val="CC0000"/>
              </a:solidFill>
              <a:prstDash val="solid"/>
              <a:round/>
              <a:headEnd len="med" w="med" type="none"/>
              <a:tailEnd len="med" w="med" type="triangle"/>
            </a:ln>
          </p:spPr>
        </p:cxnSp>
      </p:grpSp>
      <p:grpSp>
        <p:nvGrpSpPr>
          <p:cNvPr id="10526" name="Google Shape;10526;p131"/>
          <p:cNvGrpSpPr/>
          <p:nvPr/>
        </p:nvGrpSpPr>
        <p:grpSpPr>
          <a:xfrm>
            <a:off x="589926" y="4010877"/>
            <a:ext cx="4778572" cy="307777"/>
            <a:chOff x="-2057015" y="4094341"/>
            <a:chExt cx="4779099" cy="307008"/>
          </a:xfrm>
        </p:grpSpPr>
        <p:sp>
          <p:nvSpPr>
            <p:cNvPr id="10527" name="Google Shape;10527;p131"/>
            <p:cNvSpPr txBox="1"/>
            <p:nvPr/>
          </p:nvSpPr>
          <p:spPr>
            <a:xfrm>
              <a:off x="-2057015" y="4094341"/>
              <a:ext cx="4723287" cy="3070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99"/>
                  </a:solidFill>
                  <a:latin typeface="Arial"/>
                  <a:ea typeface="Arial"/>
                  <a:cs typeface="Arial"/>
                  <a:sym typeface="Arial"/>
                </a:rPr>
                <a:t>attach server name, port to message; send into socket</a:t>
              </a:r>
              <a:endParaRPr/>
            </a:p>
          </p:txBody>
        </p:sp>
        <p:cxnSp>
          <p:nvCxnSpPr>
            <p:cNvPr id="10528" name="Google Shape;10528;p131"/>
            <p:cNvCxnSpPr/>
            <p:nvPr/>
          </p:nvCxnSpPr>
          <p:spPr>
            <a:xfrm flipH="1" rot="10800000">
              <a:off x="2360668" y="4261938"/>
              <a:ext cx="361416" cy="557"/>
            </a:xfrm>
            <a:prstGeom prst="straightConnector1">
              <a:avLst/>
            </a:prstGeom>
            <a:noFill/>
            <a:ln cap="flat" cmpd="sng" w="12700">
              <a:solidFill>
                <a:srgbClr val="CC0000"/>
              </a:solidFill>
              <a:prstDash val="solid"/>
              <a:round/>
              <a:headEnd len="med" w="med" type="none"/>
              <a:tailEnd len="med" w="med" type="triangle"/>
            </a:ln>
          </p:spPr>
        </p:cxnSp>
      </p:grpSp>
      <p:grpSp>
        <p:nvGrpSpPr>
          <p:cNvPr id="10529" name="Google Shape;10529;p131"/>
          <p:cNvGrpSpPr/>
          <p:nvPr/>
        </p:nvGrpSpPr>
        <p:grpSpPr>
          <a:xfrm>
            <a:off x="1645918" y="5411634"/>
            <a:ext cx="3787622" cy="307776"/>
            <a:chOff x="-1061954" y="5487008"/>
            <a:chExt cx="3788048" cy="307391"/>
          </a:xfrm>
        </p:grpSpPr>
        <p:sp>
          <p:nvSpPr>
            <p:cNvPr id="10530" name="Google Shape;10530;p131"/>
            <p:cNvSpPr txBox="1"/>
            <p:nvPr/>
          </p:nvSpPr>
          <p:spPr>
            <a:xfrm>
              <a:off x="-1061954" y="5487008"/>
              <a:ext cx="3684841" cy="3073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99"/>
                  </a:solidFill>
                  <a:latin typeface="Arial"/>
                  <a:ea typeface="Arial"/>
                  <a:cs typeface="Arial"/>
                  <a:sym typeface="Arial"/>
                </a:rPr>
                <a:t>print out received string and close socket</a:t>
              </a:r>
              <a:endParaRPr/>
            </a:p>
          </p:txBody>
        </p:sp>
        <p:cxnSp>
          <p:nvCxnSpPr>
            <p:cNvPr id="10531" name="Google Shape;10531;p131"/>
            <p:cNvCxnSpPr/>
            <p:nvPr/>
          </p:nvCxnSpPr>
          <p:spPr>
            <a:xfrm>
              <a:off x="2309661" y="5657831"/>
              <a:ext cx="416433" cy="0"/>
            </a:xfrm>
            <a:prstGeom prst="straightConnector1">
              <a:avLst/>
            </a:prstGeom>
            <a:noFill/>
            <a:ln cap="flat" cmpd="sng" w="12700">
              <a:solidFill>
                <a:srgbClr val="CC0000"/>
              </a:solidFill>
              <a:prstDash val="solid"/>
              <a:round/>
              <a:headEnd len="med" w="med" type="none"/>
              <a:tailEnd len="med" w="med" type="triangle"/>
            </a:ln>
          </p:spPr>
        </p:cxnSp>
      </p:grpSp>
      <p:grpSp>
        <p:nvGrpSpPr>
          <p:cNvPr id="10532" name="Google Shape;10532;p131"/>
          <p:cNvGrpSpPr/>
          <p:nvPr/>
        </p:nvGrpSpPr>
        <p:grpSpPr>
          <a:xfrm>
            <a:off x="1389301" y="4571818"/>
            <a:ext cx="4091095" cy="421119"/>
            <a:chOff x="-1241909" y="4530536"/>
            <a:chExt cx="4090757" cy="421402"/>
          </a:xfrm>
        </p:grpSpPr>
        <p:sp>
          <p:nvSpPr>
            <p:cNvPr id="10533" name="Google Shape;10533;p131"/>
            <p:cNvSpPr txBox="1"/>
            <p:nvPr/>
          </p:nvSpPr>
          <p:spPr>
            <a:xfrm>
              <a:off x="-1241909" y="4643955"/>
              <a:ext cx="4090757" cy="3079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99"/>
                  </a:solidFill>
                  <a:latin typeface="Arial"/>
                  <a:ea typeface="Arial"/>
                  <a:cs typeface="Arial"/>
                  <a:sym typeface="Arial"/>
                </a:rPr>
                <a:t>read reply characters from socket into string</a:t>
              </a:r>
              <a:endParaRPr/>
            </a:p>
          </p:txBody>
        </p:sp>
        <p:cxnSp>
          <p:nvCxnSpPr>
            <p:cNvPr id="10534" name="Google Shape;10534;p131"/>
            <p:cNvCxnSpPr/>
            <p:nvPr/>
          </p:nvCxnSpPr>
          <p:spPr>
            <a:xfrm flipH="1" rot="10800000">
              <a:off x="2415586" y="4830837"/>
              <a:ext cx="327418" cy="416"/>
            </a:xfrm>
            <a:prstGeom prst="straightConnector1">
              <a:avLst/>
            </a:prstGeom>
            <a:noFill/>
            <a:ln cap="flat" cmpd="sng" w="12700">
              <a:solidFill>
                <a:srgbClr val="CC0000"/>
              </a:solidFill>
              <a:prstDash val="solid"/>
              <a:round/>
              <a:headEnd len="med" w="med" type="none"/>
              <a:tailEnd len="med" w="med" type="triangle"/>
            </a:ln>
          </p:spPr>
        </p:cxnSp>
        <p:sp>
          <p:nvSpPr>
            <p:cNvPr id="10535" name="Google Shape;10535;p131"/>
            <p:cNvSpPr txBox="1"/>
            <p:nvPr/>
          </p:nvSpPr>
          <p:spPr>
            <a:xfrm>
              <a:off x="-157119" y="4530536"/>
              <a:ext cx="18466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sp>
        <p:nvSpPr>
          <p:cNvPr id="10536" name="Google Shape;10536;p1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17"/>
                                        </p:tgtEl>
                                        <p:attrNameLst>
                                          <p:attrName>style.visibility</p:attrName>
                                        </p:attrNameLst>
                                      </p:cBhvr>
                                      <p:to>
                                        <p:strVal val="visible"/>
                                      </p:to>
                                    </p:set>
                                    <p:animEffect filter="fade" transition="in">
                                      <p:cBhvr>
                                        <p:cTn dur="500"/>
                                        <p:tgtEl>
                                          <p:spTgt spid="105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517"/>
                                        </p:tgtEl>
                                      </p:cBhvr>
                                    </p:animEffect>
                                    <p:set>
                                      <p:cBhvr>
                                        <p:cTn dur="1" fill="hold">
                                          <p:stCondLst>
                                            <p:cond delay="500"/>
                                          </p:stCondLst>
                                        </p:cTn>
                                        <p:tgtEl>
                                          <p:spTgt spid="1051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520"/>
                                        </p:tgtEl>
                                        <p:attrNameLst>
                                          <p:attrName>style.visibility</p:attrName>
                                        </p:attrNameLst>
                                      </p:cBhvr>
                                      <p:to>
                                        <p:strVal val="visible"/>
                                      </p:to>
                                    </p:set>
                                    <p:animEffect filter="fade" transition="in">
                                      <p:cBhvr>
                                        <p:cTn dur="500"/>
                                        <p:tgtEl>
                                          <p:spTgt spid="10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520"/>
                                        </p:tgtEl>
                                      </p:cBhvr>
                                    </p:animEffect>
                                    <p:set>
                                      <p:cBhvr>
                                        <p:cTn dur="1" fill="hold">
                                          <p:stCondLst>
                                            <p:cond delay="500"/>
                                          </p:stCondLst>
                                        </p:cTn>
                                        <p:tgtEl>
                                          <p:spTgt spid="1052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523"/>
                                        </p:tgtEl>
                                        <p:attrNameLst>
                                          <p:attrName>style.visibility</p:attrName>
                                        </p:attrNameLst>
                                      </p:cBhvr>
                                      <p:to>
                                        <p:strVal val="visible"/>
                                      </p:to>
                                    </p:set>
                                    <p:animEffect filter="fade" transition="in">
                                      <p:cBhvr>
                                        <p:cTn dur="500"/>
                                        <p:tgtEl>
                                          <p:spTgt spid="105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523"/>
                                        </p:tgtEl>
                                      </p:cBhvr>
                                    </p:animEffect>
                                    <p:set>
                                      <p:cBhvr>
                                        <p:cTn dur="1" fill="hold">
                                          <p:stCondLst>
                                            <p:cond delay="500"/>
                                          </p:stCondLst>
                                        </p:cTn>
                                        <p:tgtEl>
                                          <p:spTgt spid="1052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526"/>
                                        </p:tgtEl>
                                        <p:attrNameLst>
                                          <p:attrName>style.visibility</p:attrName>
                                        </p:attrNameLst>
                                      </p:cBhvr>
                                      <p:to>
                                        <p:strVal val="visible"/>
                                      </p:to>
                                    </p:set>
                                    <p:animEffect filter="fade" transition="in">
                                      <p:cBhvr>
                                        <p:cTn dur="500"/>
                                        <p:tgtEl>
                                          <p:spTgt spid="105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526"/>
                                        </p:tgtEl>
                                      </p:cBhvr>
                                    </p:animEffect>
                                    <p:set>
                                      <p:cBhvr>
                                        <p:cTn dur="1" fill="hold">
                                          <p:stCondLst>
                                            <p:cond delay="500"/>
                                          </p:stCondLst>
                                        </p:cTn>
                                        <p:tgtEl>
                                          <p:spTgt spid="1052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532"/>
                                        </p:tgtEl>
                                        <p:attrNameLst>
                                          <p:attrName>style.visibility</p:attrName>
                                        </p:attrNameLst>
                                      </p:cBhvr>
                                      <p:to>
                                        <p:strVal val="visible"/>
                                      </p:to>
                                    </p:set>
                                    <p:animEffect filter="fade" transition="in">
                                      <p:cBhvr>
                                        <p:cTn dur="500"/>
                                        <p:tgtEl>
                                          <p:spTgt spid="105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532"/>
                                        </p:tgtEl>
                                      </p:cBhvr>
                                    </p:animEffect>
                                    <p:set>
                                      <p:cBhvr>
                                        <p:cTn dur="1" fill="hold">
                                          <p:stCondLst>
                                            <p:cond delay="500"/>
                                          </p:stCondLst>
                                        </p:cTn>
                                        <p:tgtEl>
                                          <p:spTgt spid="1053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529"/>
                                        </p:tgtEl>
                                        <p:attrNameLst>
                                          <p:attrName>style.visibility</p:attrName>
                                        </p:attrNameLst>
                                      </p:cBhvr>
                                      <p:to>
                                        <p:strVal val="visible"/>
                                      </p:to>
                                    </p:set>
                                    <p:animEffect filter="fade" transition="in">
                                      <p:cBhvr>
                                        <p:cTn dur="500"/>
                                        <p:tgtEl>
                                          <p:spTgt spid="105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1" name="Shape 10541"/>
        <p:cNvGrpSpPr/>
        <p:nvPr/>
      </p:nvGrpSpPr>
      <p:grpSpPr>
        <a:xfrm>
          <a:off x="0" y="0"/>
          <a:ext cx="0" cy="0"/>
          <a:chOff x="0" y="0"/>
          <a:chExt cx="0" cy="0"/>
        </a:xfrm>
      </p:grpSpPr>
      <p:sp>
        <p:nvSpPr>
          <p:cNvPr id="10542" name="Google Shape;10542;p132"/>
          <p:cNvSpPr txBox="1"/>
          <p:nvPr>
            <p:ph type="title"/>
          </p:nvPr>
        </p:nvSpPr>
        <p:spPr>
          <a:xfrm>
            <a:off x="838199" y="451821"/>
            <a:ext cx="10872537"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9"/>
              </a:buClr>
              <a:buSzPct val="100000"/>
              <a:buFont typeface="Calibri"/>
              <a:buNone/>
            </a:pPr>
            <a:r>
              <a:rPr lang="en-US" sz="4400">
                <a:solidFill>
                  <a:srgbClr val="000099"/>
                </a:solidFill>
              </a:rPr>
              <a:t>Example app: UDP server </a:t>
            </a:r>
            <a:r>
              <a:rPr lang="en-US" sz="5400"/>
              <a:t>(Syllabus not covered)</a:t>
            </a:r>
            <a:endParaRPr sz="5400">
              <a:solidFill>
                <a:srgbClr val="000099"/>
              </a:solidFill>
            </a:endParaRPr>
          </a:p>
        </p:txBody>
      </p:sp>
      <p:sp>
        <p:nvSpPr>
          <p:cNvPr id="10543" name="Google Shape;10543;p132"/>
          <p:cNvSpPr txBox="1"/>
          <p:nvPr/>
        </p:nvSpPr>
        <p:spPr>
          <a:xfrm>
            <a:off x="5416744" y="1423713"/>
            <a:ext cx="278634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CC0000"/>
                </a:solidFill>
                <a:latin typeface="Arial"/>
                <a:ea typeface="Arial"/>
                <a:cs typeface="Arial"/>
                <a:sym typeface="Arial"/>
              </a:rPr>
              <a:t>Python UDPServer</a:t>
            </a:r>
            <a:endParaRPr i="1" sz="2400">
              <a:solidFill>
                <a:srgbClr val="CC0000"/>
              </a:solidFill>
              <a:latin typeface="Arial"/>
              <a:ea typeface="Arial"/>
              <a:cs typeface="Arial"/>
              <a:sym typeface="Arial"/>
            </a:endParaRPr>
          </a:p>
        </p:txBody>
      </p:sp>
      <p:sp>
        <p:nvSpPr>
          <p:cNvPr id="10544" name="Google Shape;10544;p132"/>
          <p:cNvSpPr txBox="1"/>
          <p:nvPr/>
        </p:nvSpPr>
        <p:spPr>
          <a:xfrm>
            <a:off x="5416744" y="1962946"/>
            <a:ext cx="6143625" cy="4002088"/>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from socket import *</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serverPort = 12000</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serverSocket = socket(AF_INET, SOCK_DGRAM)</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serverSocket.bind(('', serverPort))</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print (“</a:t>
            </a:r>
            <a:r>
              <a:rPr i="1" lang="en-US" sz="2000">
                <a:solidFill>
                  <a:schemeClr val="dk1"/>
                </a:solidFill>
                <a:latin typeface="Arial"/>
                <a:ea typeface="Arial"/>
                <a:cs typeface="Arial"/>
                <a:sym typeface="Arial"/>
              </a:rPr>
              <a:t>The server is ready to receive</a:t>
            </a:r>
            <a:r>
              <a:rPr lang="en-US" sz="2000">
                <a:solidFill>
                  <a:schemeClr val="dk1"/>
                </a:solidFill>
                <a:latin typeface="Arial"/>
                <a:ea typeface="Arial"/>
                <a:cs typeface="Arial"/>
                <a:sym typeface="Arial"/>
              </a:rPr>
              <a:t>”)</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while True:</a:t>
            </a:r>
            <a:endParaRPr/>
          </a:p>
          <a:p>
            <a:pPr indent="0" lvl="0" marL="0" marR="0" rtl="0" algn="l">
              <a:lnSpc>
                <a:spcPct val="133333"/>
              </a:lnSpc>
              <a:spcBef>
                <a:spcPts val="0"/>
              </a:spcBef>
              <a:spcAft>
                <a:spcPts val="0"/>
              </a:spcAft>
              <a:buNone/>
            </a:pPr>
            <a:r>
              <a:rPr lang="en-US" sz="1800">
                <a:solidFill>
                  <a:schemeClr val="dk1"/>
                </a:solidFill>
                <a:latin typeface="Arial"/>
                <a:ea typeface="Arial"/>
                <a:cs typeface="Arial"/>
                <a:sym typeface="Arial"/>
              </a:rPr>
              <a:t>    message, clientAddress = serverSocket.recvfrom(2048)</a:t>
            </a:r>
            <a:endParaRPr/>
          </a:p>
          <a:p>
            <a:pPr indent="0" lvl="0" marL="0" marR="0" rtl="0" algn="l">
              <a:lnSpc>
                <a:spcPct val="133333"/>
              </a:lnSpc>
              <a:spcBef>
                <a:spcPts val="0"/>
              </a:spcBef>
              <a:spcAft>
                <a:spcPts val="0"/>
              </a:spcAft>
              <a:buNone/>
            </a:pPr>
            <a:r>
              <a:rPr lang="en-US" sz="1800">
                <a:solidFill>
                  <a:schemeClr val="dk1"/>
                </a:solidFill>
                <a:latin typeface="Arial"/>
                <a:ea typeface="Arial"/>
                <a:cs typeface="Arial"/>
                <a:sym typeface="Arial"/>
              </a:rPr>
              <a:t>    modifiedMessage = message.decode().upper()</a:t>
            </a:r>
            <a:endParaRPr/>
          </a:p>
          <a:p>
            <a:pPr indent="0" lvl="0" marL="0" marR="0" rtl="0" algn="l">
              <a:lnSpc>
                <a:spcPct val="133333"/>
              </a:lnSpc>
              <a:spcBef>
                <a:spcPts val="0"/>
              </a:spcBef>
              <a:spcAft>
                <a:spcPts val="0"/>
              </a:spcAft>
              <a:buNone/>
            </a:pPr>
            <a:r>
              <a:rPr lang="en-US" sz="1800">
                <a:solidFill>
                  <a:schemeClr val="dk1"/>
                </a:solidFill>
                <a:latin typeface="Arial"/>
                <a:ea typeface="Arial"/>
                <a:cs typeface="Arial"/>
                <a:sym typeface="Arial"/>
              </a:rPr>
              <a:t>    serverSocket.sendto(modifiedMessage.encode(),</a:t>
            </a:r>
            <a:endParaRPr/>
          </a:p>
          <a:p>
            <a:pPr indent="0" lvl="0" marL="0" marR="0" rtl="0" algn="l">
              <a:lnSpc>
                <a:spcPct val="133333"/>
              </a:lnSpc>
              <a:spcBef>
                <a:spcPts val="0"/>
              </a:spcBef>
              <a:spcAft>
                <a:spcPts val="0"/>
              </a:spcAft>
              <a:buNone/>
            </a:pPr>
            <a:r>
              <a:rPr lang="en-US" sz="1800">
                <a:solidFill>
                  <a:schemeClr val="dk1"/>
                </a:solidFill>
                <a:latin typeface="Arial"/>
                <a:ea typeface="Arial"/>
                <a:cs typeface="Arial"/>
                <a:sym typeface="Arial"/>
              </a:rPr>
              <a:t>                                      clientAddress)</a:t>
            </a:r>
            <a:endParaRPr/>
          </a:p>
        </p:txBody>
      </p:sp>
      <p:grpSp>
        <p:nvGrpSpPr>
          <p:cNvPr id="10545" name="Google Shape;10545;p132"/>
          <p:cNvGrpSpPr/>
          <p:nvPr/>
        </p:nvGrpSpPr>
        <p:grpSpPr>
          <a:xfrm>
            <a:off x="3352917" y="2744875"/>
            <a:ext cx="2558753" cy="307975"/>
            <a:chOff x="732830" y="2581901"/>
            <a:chExt cx="2559082" cy="307777"/>
          </a:xfrm>
        </p:grpSpPr>
        <p:sp>
          <p:nvSpPr>
            <p:cNvPr id="10546" name="Google Shape;10546;p132"/>
            <p:cNvSpPr txBox="1"/>
            <p:nvPr/>
          </p:nvSpPr>
          <p:spPr>
            <a:xfrm>
              <a:off x="732830" y="2581901"/>
              <a:ext cx="255908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99"/>
                  </a:solidFill>
                  <a:latin typeface="Arial"/>
                  <a:ea typeface="Arial"/>
                  <a:cs typeface="Arial"/>
                  <a:sym typeface="Arial"/>
                </a:rPr>
                <a:t>create UDP socket</a:t>
              </a:r>
              <a:endParaRPr/>
            </a:p>
          </p:txBody>
        </p:sp>
        <p:cxnSp>
          <p:nvCxnSpPr>
            <p:cNvPr id="10547" name="Google Shape;10547;p132"/>
            <p:cNvCxnSpPr/>
            <p:nvPr/>
          </p:nvCxnSpPr>
          <p:spPr>
            <a:xfrm>
              <a:off x="2394178" y="2749550"/>
              <a:ext cx="358094" cy="0"/>
            </a:xfrm>
            <a:prstGeom prst="straightConnector1">
              <a:avLst/>
            </a:prstGeom>
            <a:noFill/>
            <a:ln cap="flat" cmpd="sng" w="12700">
              <a:solidFill>
                <a:srgbClr val="CC0000"/>
              </a:solidFill>
              <a:prstDash val="solid"/>
              <a:round/>
              <a:headEnd len="med" w="med" type="none"/>
              <a:tailEnd len="med" w="med" type="triangle"/>
            </a:ln>
          </p:spPr>
        </p:cxnSp>
      </p:grpSp>
      <p:grpSp>
        <p:nvGrpSpPr>
          <p:cNvPr id="10548" name="Google Shape;10548;p132"/>
          <p:cNvGrpSpPr/>
          <p:nvPr/>
        </p:nvGrpSpPr>
        <p:grpSpPr>
          <a:xfrm>
            <a:off x="1773888" y="3108924"/>
            <a:ext cx="3605785" cy="307777"/>
            <a:chOff x="-896820" y="3018353"/>
            <a:chExt cx="3607385" cy="307392"/>
          </a:xfrm>
        </p:grpSpPr>
        <p:sp>
          <p:nvSpPr>
            <p:cNvPr id="10549" name="Google Shape;10549;p132"/>
            <p:cNvSpPr txBox="1"/>
            <p:nvPr/>
          </p:nvSpPr>
          <p:spPr>
            <a:xfrm>
              <a:off x="-896820" y="3018353"/>
              <a:ext cx="3607385" cy="3073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99"/>
                  </a:solidFill>
                  <a:latin typeface="Arial"/>
                  <a:ea typeface="Arial"/>
                  <a:cs typeface="Arial"/>
                  <a:sym typeface="Arial"/>
                </a:rPr>
                <a:t>bind socket to local port number 12000</a:t>
              </a:r>
              <a:endParaRPr/>
            </a:p>
          </p:txBody>
        </p:sp>
        <p:cxnSp>
          <p:nvCxnSpPr>
            <p:cNvPr id="10550" name="Google Shape;10550;p132"/>
            <p:cNvCxnSpPr/>
            <p:nvPr/>
          </p:nvCxnSpPr>
          <p:spPr>
            <a:xfrm>
              <a:off x="2375948" y="3171825"/>
              <a:ext cx="334255" cy="0"/>
            </a:xfrm>
            <a:prstGeom prst="straightConnector1">
              <a:avLst/>
            </a:prstGeom>
            <a:noFill/>
            <a:ln cap="flat" cmpd="sng" w="12700">
              <a:solidFill>
                <a:srgbClr val="CC0000"/>
              </a:solidFill>
              <a:prstDash val="solid"/>
              <a:round/>
              <a:headEnd len="med" w="med" type="none"/>
              <a:tailEnd len="med" w="med" type="triangle"/>
            </a:ln>
          </p:spPr>
        </p:cxnSp>
      </p:grpSp>
      <p:grpSp>
        <p:nvGrpSpPr>
          <p:cNvPr id="10551" name="Google Shape;10551;p132"/>
          <p:cNvGrpSpPr/>
          <p:nvPr/>
        </p:nvGrpSpPr>
        <p:grpSpPr>
          <a:xfrm>
            <a:off x="3884090" y="3825856"/>
            <a:ext cx="1488056" cy="298450"/>
            <a:chOff x="1222134" y="3803733"/>
            <a:chExt cx="1488522" cy="299227"/>
          </a:xfrm>
        </p:grpSpPr>
        <p:sp>
          <p:nvSpPr>
            <p:cNvPr id="10552" name="Google Shape;10552;p132"/>
            <p:cNvSpPr txBox="1"/>
            <p:nvPr/>
          </p:nvSpPr>
          <p:spPr>
            <a:xfrm>
              <a:off x="1222134" y="3803733"/>
              <a:ext cx="1194763" cy="299227"/>
            </a:xfrm>
            <a:prstGeom prst="rect">
              <a:avLst/>
            </a:prstGeom>
            <a:noFill/>
            <a:ln>
              <a:noFill/>
            </a:ln>
          </p:spPr>
          <p:txBody>
            <a:bodyPr anchorCtr="0" anchor="t" bIns="45700" lIns="91425" spcFirstLastPara="1" rIns="91425" wrap="square" tIns="45700">
              <a:spAutoFit/>
            </a:bodyPr>
            <a:lstStyle/>
            <a:p>
              <a:pPr indent="0" lvl="0" marL="0" marR="0" rtl="0" algn="l">
                <a:lnSpc>
                  <a:spcPct val="114285"/>
                </a:lnSpc>
                <a:spcBef>
                  <a:spcPts val="0"/>
                </a:spcBef>
                <a:spcAft>
                  <a:spcPts val="0"/>
                </a:spcAft>
                <a:buNone/>
              </a:pPr>
              <a:r>
                <a:rPr lang="en-US" sz="1400">
                  <a:solidFill>
                    <a:srgbClr val="000099"/>
                  </a:solidFill>
                  <a:latin typeface="Arial"/>
                  <a:ea typeface="Arial"/>
                  <a:cs typeface="Arial"/>
                  <a:sym typeface="Arial"/>
                </a:rPr>
                <a:t>loop forever</a:t>
              </a:r>
              <a:endParaRPr/>
            </a:p>
          </p:txBody>
        </p:sp>
        <p:cxnSp>
          <p:nvCxnSpPr>
            <p:cNvPr id="10553" name="Google Shape;10553;p132"/>
            <p:cNvCxnSpPr/>
            <p:nvPr/>
          </p:nvCxnSpPr>
          <p:spPr>
            <a:xfrm>
              <a:off x="2367604" y="3964781"/>
              <a:ext cx="343052" cy="1"/>
            </a:xfrm>
            <a:prstGeom prst="straightConnector1">
              <a:avLst/>
            </a:prstGeom>
            <a:noFill/>
            <a:ln cap="flat" cmpd="sng" w="12700">
              <a:solidFill>
                <a:srgbClr val="CC0000"/>
              </a:solidFill>
              <a:prstDash val="solid"/>
              <a:round/>
              <a:headEnd len="med" w="med" type="none"/>
              <a:tailEnd len="med" w="med" type="triangle"/>
            </a:ln>
          </p:spPr>
        </p:cxnSp>
      </p:grpSp>
      <p:grpSp>
        <p:nvGrpSpPr>
          <p:cNvPr id="10554" name="Google Shape;10554;p132"/>
          <p:cNvGrpSpPr/>
          <p:nvPr/>
        </p:nvGrpSpPr>
        <p:grpSpPr>
          <a:xfrm>
            <a:off x="1304089" y="4147117"/>
            <a:ext cx="4068011" cy="502702"/>
            <a:chOff x="-1394433" y="3835897"/>
            <a:chExt cx="4067973" cy="502591"/>
          </a:xfrm>
        </p:grpSpPr>
        <p:sp>
          <p:nvSpPr>
            <p:cNvPr id="10555" name="Google Shape;10555;p132"/>
            <p:cNvSpPr txBox="1"/>
            <p:nvPr/>
          </p:nvSpPr>
          <p:spPr>
            <a:xfrm>
              <a:off x="-1394433" y="3835897"/>
              <a:ext cx="3841634" cy="502591"/>
            </a:xfrm>
            <a:prstGeom prst="rect">
              <a:avLst/>
            </a:prstGeom>
            <a:noFill/>
            <a:ln>
              <a:noFill/>
            </a:ln>
          </p:spPr>
          <p:txBody>
            <a:bodyPr anchorCtr="0" anchor="t" bIns="45700" lIns="91425" spcFirstLastPara="1" rIns="91425" wrap="square" tIns="45700">
              <a:spAutoFit/>
            </a:bodyPr>
            <a:lstStyle/>
            <a:p>
              <a:pPr indent="0" lvl="0" marL="0" marR="0" rtl="0" algn="l">
                <a:lnSpc>
                  <a:spcPct val="114285"/>
                </a:lnSpc>
                <a:spcBef>
                  <a:spcPts val="0"/>
                </a:spcBef>
                <a:spcAft>
                  <a:spcPts val="0"/>
                </a:spcAft>
                <a:buNone/>
              </a:pPr>
              <a:r>
                <a:rPr lang="en-US" sz="1400">
                  <a:solidFill>
                    <a:srgbClr val="000099"/>
                  </a:solidFill>
                  <a:latin typeface="Arial"/>
                  <a:ea typeface="Arial"/>
                  <a:cs typeface="Arial"/>
                  <a:sym typeface="Arial"/>
                </a:rPr>
                <a:t>Read from UDP socket into message, getting client’s address (client IP and port)</a:t>
              </a:r>
              <a:endParaRPr/>
            </a:p>
          </p:txBody>
        </p:sp>
        <p:cxnSp>
          <p:nvCxnSpPr>
            <p:cNvPr id="10556" name="Google Shape;10556;p132"/>
            <p:cNvCxnSpPr/>
            <p:nvPr/>
          </p:nvCxnSpPr>
          <p:spPr>
            <a:xfrm>
              <a:off x="2330643" y="3987004"/>
              <a:ext cx="342897" cy="1"/>
            </a:xfrm>
            <a:prstGeom prst="straightConnector1">
              <a:avLst/>
            </a:prstGeom>
            <a:noFill/>
            <a:ln cap="flat" cmpd="sng" w="12700">
              <a:solidFill>
                <a:srgbClr val="CC0000"/>
              </a:solidFill>
              <a:prstDash val="solid"/>
              <a:round/>
              <a:headEnd len="med" w="med" type="none"/>
              <a:tailEnd len="med" w="med" type="triangle"/>
            </a:ln>
          </p:spPr>
        </p:cxnSp>
      </p:grpSp>
      <p:grpSp>
        <p:nvGrpSpPr>
          <p:cNvPr id="10557" name="Google Shape;10557;p132"/>
          <p:cNvGrpSpPr/>
          <p:nvPr/>
        </p:nvGrpSpPr>
        <p:grpSpPr>
          <a:xfrm>
            <a:off x="1619318" y="4783930"/>
            <a:ext cx="3841670" cy="307777"/>
            <a:chOff x="-1179917" y="4521468"/>
            <a:chExt cx="3842964" cy="307392"/>
          </a:xfrm>
        </p:grpSpPr>
        <p:sp>
          <p:nvSpPr>
            <p:cNvPr id="10558" name="Google Shape;10558;p132"/>
            <p:cNvSpPr txBox="1"/>
            <p:nvPr/>
          </p:nvSpPr>
          <p:spPr>
            <a:xfrm>
              <a:off x="-1179917" y="4521468"/>
              <a:ext cx="3842964" cy="3073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99"/>
                  </a:solidFill>
                  <a:latin typeface="Arial"/>
                  <a:ea typeface="Arial"/>
                  <a:cs typeface="Arial"/>
                  <a:sym typeface="Arial"/>
                </a:rPr>
                <a:t>send upper case string back to this client</a:t>
              </a:r>
              <a:endParaRPr/>
            </a:p>
          </p:txBody>
        </p:sp>
        <p:cxnSp>
          <p:nvCxnSpPr>
            <p:cNvPr id="10559" name="Google Shape;10559;p132"/>
            <p:cNvCxnSpPr/>
            <p:nvPr/>
          </p:nvCxnSpPr>
          <p:spPr>
            <a:xfrm>
              <a:off x="2217617" y="4675165"/>
              <a:ext cx="356512" cy="0"/>
            </a:xfrm>
            <a:prstGeom prst="straightConnector1">
              <a:avLst/>
            </a:prstGeom>
            <a:noFill/>
            <a:ln cap="flat" cmpd="sng" w="12700">
              <a:solidFill>
                <a:srgbClr val="CC0000"/>
              </a:solidFill>
              <a:prstDash val="solid"/>
              <a:round/>
              <a:headEnd len="med" w="med" type="none"/>
              <a:tailEnd len="med" w="med" type="triangle"/>
            </a:ln>
          </p:spPr>
        </p:cxnSp>
      </p:grpSp>
      <p:sp>
        <p:nvSpPr>
          <p:cNvPr id="10560" name="Google Shape;10560;p1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45"/>
                                        </p:tgtEl>
                                        <p:attrNameLst>
                                          <p:attrName>style.visibility</p:attrName>
                                        </p:attrNameLst>
                                      </p:cBhvr>
                                      <p:to>
                                        <p:strVal val="visible"/>
                                      </p:to>
                                    </p:set>
                                    <p:animEffect filter="fade" transition="in">
                                      <p:cBhvr>
                                        <p:cTn dur="500"/>
                                        <p:tgtEl>
                                          <p:spTgt spid="105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545"/>
                                        </p:tgtEl>
                                      </p:cBhvr>
                                    </p:animEffect>
                                    <p:set>
                                      <p:cBhvr>
                                        <p:cTn dur="1" fill="hold">
                                          <p:stCondLst>
                                            <p:cond delay="500"/>
                                          </p:stCondLst>
                                        </p:cTn>
                                        <p:tgtEl>
                                          <p:spTgt spid="1054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548"/>
                                        </p:tgtEl>
                                        <p:attrNameLst>
                                          <p:attrName>style.visibility</p:attrName>
                                        </p:attrNameLst>
                                      </p:cBhvr>
                                      <p:to>
                                        <p:strVal val="visible"/>
                                      </p:to>
                                    </p:set>
                                    <p:animEffect filter="fade" transition="in">
                                      <p:cBhvr>
                                        <p:cTn dur="500"/>
                                        <p:tgtEl>
                                          <p:spTgt spid="105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548"/>
                                        </p:tgtEl>
                                      </p:cBhvr>
                                    </p:animEffect>
                                    <p:set>
                                      <p:cBhvr>
                                        <p:cTn dur="1" fill="hold">
                                          <p:stCondLst>
                                            <p:cond delay="500"/>
                                          </p:stCondLst>
                                        </p:cTn>
                                        <p:tgtEl>
                                          <p:spTgt spid="1054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551"/>
                                        </p:tgtEl>
                                        <p:attrNameLst>
                                          <p:attrName>style.visibility</p:attrName>
                                        </p:attrNameLst>
                                      </p:cBhvr>
                                      <p:to>
                                        <p:strVal val="visible"/>
                                      </p:to>
                                    </p:set>
                                    <p:animEffect filter="fade" transition="in">
                                      <p:cBhvr>
                                        <p:cTn dur="500"/>
                                        <p:tgtEl>
                                          <p:spTgt spid="105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551"/>
                                        </p:tgtEl>
                                      </p:cBhvr>
                                    </p:animEffect>
                                    <p:set>
                                      <p:cBhvr>
                                        <p:cTn dur="1" fill="hold">
                                          <p:stCondLst>
                                            <p:cond delay="500"/>
                                          </p:stCondLst>
                                        </p:cTn>
                                        <p:tgtEl>
                                          <p:spTgt spid="1055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554"/>
                                        </p:tgtEl>
                                        <p:attrNameLst>
                                          <p:attrName>style.visibility</p:attrName>
                                        </p:attrNameLst>
                                      </p:cBhvr>
                                      <p:to>
                                        <p:strVal val="visible"/>
                                      </p:to>
                                    </p:set>
                                    <p:animEffect filter="fade" transition="in">
                                      <p:cBhvr>
                                        <p:cTn dur="500"/>
                                        <p:tgtEl>
                                          <p:spTgt spid="105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554"/>
                                        </p:tgtEl>
                                      </p:cBhvr>
                                    </p:animEffect>
                                    <p:set>
                                      <p:cBhvr>
                                        <p:cTn dur="1" fill="hold">
                                          <p:stCondLst>
                                            <p:cond delay="500"/>
                                          </p:stCondLst>
                                        </p:cTn>
                                        <p:tgtEl>
                                          <p:spTgt spid="1055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557"/>
                                        </p:tgtEl>
                                        <p:attrNameLst>
                                          <p:attrName>style.visibility</p:attrName>
                                        </p:attrNameLst>
                                      </p:cBhvr>
                                      <p:to>
                                        <p:strVal val="visible"/>
                                      </p:to>
                                    </p:set>
                                    <p:animEffect filter="fade" transition="in">
                                      <p:cBhvr>
                                        <p:cTn dur="500"/>
                                        <p:tgtEl>
                                          <p:spTgt spid="105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5" name="Shape 10565"/>
        <p:cNvGrpSpPr/>
        <p:nvPr/>
      </p:nvGrpSpPr>
      <p:grpSpPr>
        <a:xfrm>
          <a:off x="0" y="0"/>
          <a:ext cx="0" cy="0"/>
          <a:chOff x="0" y="0"/>
          <a:chExt cx="0" cy="0"/>
        </a:xfrm>
      </p:grpSpPr>
      <p:sp>
        <p:nvSpPr>
          <p:cNvPr id="10566" name="Google Shape;10566;p133"/>
          <p:cNvSpPr txBox="1"/>
          <p:nvPr>
            <p:ph type="title"/>
          </p:nvPr>
        </p:nvSpPr>
        <p:spPr>
          <a:xfrm>
            <a:off x="838199" y="451821"/>
            <a:ext cx="10968789"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9"/>
              </a:buClr>
              <a:buSzPct val="100000"/>
              <a:buFont typeface="Calibri"/>
              <a:buNone/>
            </a:pPr>
            <a:r>
              <a:rPr lang="en-US" sz="4400">
                <a:solidFill>
                  <a:srgbClr val="000099"/>
                </a:solidFill>
              </a:rPr>
              <a:t>Socket programming </a:t>
            </a:r>
            <a:r>
              <a:rPr lang="en-US" sz="4400">
                <a:solidFill>
                  <a:srgbClr val="C00000"/>
                </a:solidFill>
              </a:rPr>
              <a:t>with TCP </a:t>
            </a:r>
            <a:r>
              <a:rPr lang="en-US" sz="5400"/>
              <a:t>(Syllabus not covered)</a:t>
            </a:r>
            <a:endParaRPr sz="5400">
              <a:solidFill>
                <a:srgbClr val="C00000"/>
              </a:solidFill>
            </a:endParaRPr>
          </a:p>
        </p:txBody>
      </p:sp>
      <p:sp>
        <p:nvSpPr>
          <p:cNvPr id="10567" name="Google Shape;10567;p133"/>
          <p:cNvSpPr txBox="1"/>
          <p:nvPr>
            <p:ph idx="1" type="body"/>
          </p:nvPr>
        </p:nvSpPr>
        <p:spPr>
          <a:xfrm>
            <a:off x="661829" y="1455785"/>
            <a:ext cx="5074444" cy="5090539"/>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2800"/>
              <a:buFont typeface="Noto Sans Symbols"/>
              <a:buNone/>
            </a:pPr>
            <a:r>
              <a:rPr lang="en-US">
                <a:solidFill>
                  <a:srgbClr val="CC0000"/>
                </a:solidFill>
              </a:rPr>
              <a:t>Client must contact server</a:t>
            </a:r>
            <a:endParaRPr/>
          </a:p>
          <a:p>
            <a:pPr indent="-233363" lvl="0" marL="466725" rtl="0" algn="l">
              <a:lnSpc>
                <a:spcPct val="90000"/>
              </a:lnSpc>
              <a:spcBef>
                <a:spcPts val="1000"/>
              </a:spcBef>
              <a:spcAft>
                <a:spcPts val="0"/>
              </a:spcAft>
              <a:buSzPts val="2400"/>
              <a:buChar char="▪"/>
            </a:pPr>
            <a:r>
              <a:rPr lang="en-US" sz="2400"/>
              <a:t>server process must first be running</a:t>
            </a:r>
            <a:endParaRPr/>
          </a:p>
          <a:p>
            <a:pPr indent="-233363" lvl="0" marL="466725" rtl="0" algn="l">
              <a:lnSpc>
                <a:spcPct val="90000"/>
              </a:lnSpc>
              <a:spcBef>
                <a:spcPts val="1000"/>
              </a:spcBef>
              <a:spcAft>
                <a:spcPts val="0"/>
              </a:spcAft>
              <a:buSzPts val="2400"/>
              <a:buChar char="▪"/>
            </a:pPr>
            <a:r>
              <a:rPr lang="en-US" sz="2400"/>
              <a:t>server must have created socket (door) that welcomes client’s contact</a:t>
            </a:r>
            <a:endParaRPr/>
          </a:p>
          <a:p>
            <a:pPr indent="-222250" lvl="0" marL="352425" rtl="0" algn="l">
              <a:lnSpc>
                <a:spcPct val="90000"/>
              </a:lnSpc>
              <a:spcBef>
                <a:spcPts val="1400"/>
              </a:spcBef>
              <a:spcAft>
                <a:spcPts val="0"/>
              </a:spcAft>
              <a:buSzPts val="2800"/>
              <a:buFont typeface="Noto Sans Symbols"/>
              <a:buNone/>
            </a:pPr>
            <a:r>
              <a:rPr lang="en-US">
                <a:solidFill>
                  <a:srgbClr val="CC0000"/>
                </a:solidFill>
              </a:rPr>
              <a:t>Client contacts server by:</a:t>
            </a:r>
            <a:endParaRPr/>
          </a:p>
          <a:p>
            <a:pPr indent="-292100" lvl="0" marL="466725" rtl="0" algn="l">
              <a:lnSpc>
                <a:spcPct val="90000"/>
              </a:lnSpc>
              <a:spcBef>
                <a:spcPts val="1000"/>
              </a:spcBef>
              <a:spcAft>
                <a:spcPts val="0"/>
              </a:spcAft>
              <a:buSzPts val="2400"/>
              <a:buChar char="▪"/>
            </a:pPr>
            <a:r>
              <a:rPr lang="en-US" sz="2400"/>
              <a:t>Creating TCP socket, specifying IP address, port number of server process</a:t>
            </a:r>
            <a:endParaRPr/>
          </a:p>
          <a:p>
            <a:pPr indent="-233363" lvl="0" marL="466725" rtl="0" algn="l">
              <a:lnSpc>
                <a:spcPct val="90000"/>
              </a:lnSpc>
              <a:spcBef>
                <a:spcPts val="1000"/>
              </a:spcBef>
              <a:spcAft>
                <a:spcPts val="0"/>
              </a:spcAft>
              <a:buSzPts val="2400"/>
              <a:buChar char="▪"/>
            </a:pPr>
            <a:r>
              <a:rPr i="1" lang="en-US" sz="2400">
                <a:solidFill>
                  <a:srgbClr val="CC0000"/>
                </a:solidFill>
              </a:rPr>
              <a:t>when client creates socket:</a:t>
            </a:r>
            <a:r>
              <a:rPr lang="en-US" sz="2400"/>
              <a:t> client TCP establishes connection to server TCP</a:t>
            </a:r>
            <a:endParaRPr sz="2200"/>
          </a:p>
          <a:p>
            <a:pPr indent="-95250" lvl="0" marL="352425" rtl="0" algn="l">
              <a:lnSpc>
                <a:spcPct val="90000"/>
              </a:lnSpc>
              <a:spcBef>
                <a:spcPts val="1000"/>
              </a:spcBef>
              <a:spcAft>
                <a:spcPts val="0"/>
              </a:spcAft>
              <a:buSzPts val="2000"/>
              <a:buNone/>
            </a:pPr>
            <a:r>
              <a:t/>
            </a:r>
            <a:endParaRPr sz="2000">
              <a:latin typeface="Gill Sans"/>
              <a:ea typeface="Gill Sans"/>
              <a:cs typeface="Gill Sans"/>
              <a:sym typeface="Gill Sans"/>
            </a:endParaRPr>
          </a:p>
        </p:txBody>
      </p:sp>
      <p:sp>
        <p:nvSpPr>
          <p:cNvPr id="10568" name="Google Shape;10568;p133"/>
          <p:cNvSpPr txBox="1"/>
          <p:nvPr/>
        </p:nvSpPr>
        <p:spPr>
          <a:xfrm>
            <a:off x="5735469" y="1426964"/>
            <a:ext cx="5724832" cy="3000375"/>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when contacted by client, </a:t>
            </a:r>
            <a:r>
              <a:rPr i="1" lang="en-US" sz="2800">
                <a:solidFill>
                  <a:srgbClr val="CC0000"/>
                </a:solidFill>
                <a:latin typeface="Calibri"/>
                <a:ea typeface="Calibri"/>
                <a:cs typeface="Calibri"/>
                <a:sym typeface="Calibri"/>
              </a:rPr>
              <a:t>server TCP creates new socket</a:t>
            </a:r>
            <a:r>
              <a:rPr lang="en-US" sz="2800">
                <a:solidFill>
                  <a:schemeClr val="dk1"/>
                </a:solidFill>
                <a:latin typeface="Calibri"/>
                <a:ea typeface="Calibri"/>
                <a:cs typeface="Calibri"/>
                <a:sym typeface="Calibri"/>
              </a:rPr>
              <a:t> for server process to communicate with that particular client</a:t>
            </a:r>
            <a:endParaRPr/>
          </a:p>
          <a:p>
            <a:pPr indent="-231775" lvl="1" marL="695325" marR="0" rtl="0" algn="l">
              <a:lnSpc>
                <a:spcPct val="90000"/>
              </a:lnSpc>
              <a:spcBef>
                <a:spcPts val="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allows server to talk with multiple clients</a:t>
            </a:r>
            <a:endParaRPr/>
          </a:p>
          <a:p>
            <a:pPr indent="-231775" lvl="1" marL="695325" marR="0" rtl="0" algn="l">
              <a:lnSpc>
                <a:spcPct val="90000"/>
              </a:lnSpc>
              <a:spcBef>
                <a:spcPts val="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source port numbers used to distinguish clients (more in Chap 3)</a:t>
            </a:r>
            <a:endParaRPr b="0" i="1" sz="2400" u="none" cap="none" strike="noStrike">
              <a:solidFill>
                <a:schemeClr val="dk1"/>
              </a:solidFill>
              <a:latin typeface="Calibri"/>
              <a:ea typeface="Calibri"/>
              <a:cs typeface="Calibri"/>
              <a:sym typeface="Calibri"/>
            </a:endParaRPr>
          </a:p>
        </p:txBody>
      </p:sp>
      <p:grpSp>
        <p:nvGrpSpPr>
          <p:cNvPr id="10569" name="Google Shape;10569;p133"/>
          <p:cNvGrpSpPr/>
          <p:nvPr/>
        </p:nvGrpSpPr>
        <p:grpSpPr>
          <a:xfrm>
            <a:off x="6267640" y="4602113"/>
            <a:ext cx="4660490" cy="1688916"/>
            <a:chOff x="5928853" y="4608645"/>
            <a:chExt cx="4660490" cy="1688916"/>
          </a:xfrm>
        </p:grpSpPr>
        <p:sp>
          <p:nvSpPr>
            <p:cNvPr id="10570" name="Google Shape;10570;p133"/>
            <p:cNvSpPr/>
            <p:nvPr/>
          </p:nvSpPr>
          <p:spPr>
            <a:xfrm>
              <a:off x="5928853" y="4896465"/>
              <a:ext cx="4660490" cy="1401096"/>
            </a:xfrm>
            <a:prstGeom prst="rect">
              <a:avLst/>
            </a:prstGeom>
            <a:solidFill>
              <a:schemeClr val="lt1"/>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71" name="Google Shape;10571;p133"/>
            <p:cNvSpPr txBox="1"/>
            <p:nvPr/>
          </p:nvSpPr>
          <p:spPr>
            <a:xfrm>
              <a:off x="6393045" y="5134227"/>
              <a:ext cx="3953326" cy="1036887"/>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rgbClr val="000099"/>
                </a:buClr>
                <a:buSzPts val="2400"/>
                <a:buFont typeface="Calibri"/>
                <a:buNone/>
              </a:pPr>
              <a:r>
                <a:rPr lang="en-US" sz="2400">
                  <a:solidFill>
                    <a:srgbClr val="000099"/>
                  </a:solidFill>
                  <a:latin typeface="Calibri"/>
                  <a:ea typeface="Calibri"/>
                  <a:cs typeface="Calibri"/>
                  <a:sym typeface="Calibri"/>
                </a:rPr>
                <a:t>TCP provides reliable, in-order</a:t>
              </a:r>
              <a:endParaRPr/>
            </a:p>
            <a:p>
              <a:pPr indent="0" lvl="0" marL="0" marR="0" rtl="0" algn="l">
                <a:lnSpc>
                  <a:spcPct val="85000"/>
                </a:lnSpc>
                <a:spcBef>
                  <a:spcPts val="0"/>
                </a:spcBef>
                <a:spcAft>
                  <a:spcPts val="0"/>
                </a:spcAft>
                <a:buClr>
                  <a:srgbClr val="000099"/>
                </a:buClr>
                <a:buSzPts val="2400"/>
                <a:buFont typeface="Calibri"/>
                <a:buNone/>
              </a:pPr>
              <a:r>
                <a:rPr lang="en-US" sz="2400">
                  <a:solidFill>
                    <a:srgbClr val="000099"/>
                  </a:solidFill>
                  <a:latin typeface="Calibri"/>
                  <a:ea typeface="Calibri"/>
                  <a:cs typeface="Calibri"/>
                  <a:sym typeface="Calibri"/>
                </a:rPr>
                <a:t>byte-stream transfer (“pipe”) </a:t>
              </a:r>
              <a:endParaRPr/>
            </a:p>
            <a:p>
              <a:pPr indent="0" lvl="0" marL="0" marR="0" rtl="0" algn="l">
                <a:lnSpc>
                  <a:spcPct val="85000"/>
                </a:lnSpc>
                <a:spcBef>
                  <a:spcPts val="0"/>
                </a:spcBef>
                <a:spcAft>
                  <a:spcPts val="0"/>
                </a:spcAft>
                <a:buClr>
                  <a:srgbClr val="000099"/>
                </a:buClr>
                <a:buSzPts val="2400"/>
                <a:buFont typeface="Calibri"/>
                <a:buNone/>
              </a:pPr>
              <a:r>
                <a:rPr lang="en-US" sz="2400">
                  <a:solidFill>
                    <a:srgbClr val="000099"/>
                  </a:solidFill>
                  <a:latin typeface="Calibri"/>
                  <a:ea typeface="Calibri"/>
                  <a:cs typeface="Calibri"/>
                  <a:sym typeface="Calibri"/>
                </a:rPr>
                <a:t>between client and server</a:t>
              </a:r>
              <a:endParaRPr/>
            </a:p>
          </p:txBody>
        </p:sp>
        <p:grpSp>
          <p:nvGrpSpPr>
            <p:cNvPr id="10572" name="Google Shape;10572;p133"/>
            <p:cNvGrpSpPr/>
            <p:nvPr/>
          </p:nvGrpSpPr>
          <p:grpSpPr>
            <a:xfrm>
              <a:off x="6141246" y="4608645"/>
              <a:ext cx="3452811" cy="550863"/>
              <a:chOff x="-195" y="3766"/>
              <a:chExt cx="2175" cy="347"/>
            </a:xfrm>
          </p:grpSpPr>
          <p:sp>
            <p:nvSpPr>
              <p:cNvPr id="10573" name="Google Shape;10573;p133"/>
              <p:cNvSpPr/>
              <p:nvPr/>
            </p:nvSpPr>
            <p:spPr>
              <a:xfrm>
                <a:off x="96" y="3825"/>
                <a:ext cx="116" cy="288"/>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2400">
                  <a:solidFill>
                    <a:srgbClr val="000000"/>
                  </a:solidFill>
                  <a:latin typeface="Comic Sans MS"/>
                  <a:ea typeface="Comic Sans MS"/>
                  <a:cs typeface="Comic Sans MS"/>
                  <a:sym typeface="Comic Sans MS"/>
                </a:endParaRPr>
              </a:p>
            </p:txBody>
          </p:sp>
          <p:sp>
            <p:nvSpPr>
              <p:cNvPr id="10574" name="Google Shape;10574;p133"/>
              <p:cNvSpPr txBox="1"/>
              <p:nvPr/>
            </p:nvSpPr>
            <p:spPr>
              <a:xfrm>
                <a:off x="-195" y="3766"/>
                <a:ext cx="2175" cy="330"/>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ctr">
                  <a:spcBef>
                    <a:spcPts val="0"/>
                  </a:spcBef>
                  <a:spcAft>
                    <a:spcPts val="0"/>
                  </a:spcAft>
                  <a:buClr>
                    <a:srgbClr val="CC0000"/>
                  </a:buClr>
                  <a:buSzPts val="2800"/>
                  <a:buFont typeface="Calibri"/>
                  <a:buNone/>
                </a:pPr>
                <a:r>
                  <a:rPr lang="en-US" sz="2800">
                    <a:solidFill>
                      <a:srgbClr val="CC0000"/>
                    </a:solidFill>
                    <a:latin typeface="Calibri"/>
                    <a:ea typeface="Calibri"/>
                    <a:cs typeface="Calibri"/>
                    <a:sym typeface="Calibri"/>
                  </a:rPr>
                  <a:t>Application viewpoint</a:t>
                </a:r>
                <a:endParaRPr/>
              </a:p>
            </p:txBody>
          </p:sp>
        </p:grpSp>
      </p:grpSp>
      <p:sp>
        <p:nvSpPr>
          <p:cNvPr id="10575" name="Google Shape;10575;p1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8"/>
                                        </p:tgtEl>
                                        <p:attrNameLst>
                                          <p:attrName>style.visibility</p:attrName>
                                        </p:attrNameLst>
                                      </p:cBhvr>
                                      <p:to>
                                        <p:strVal val="visible"/>
                                      </p:to>
                                    </p:set>
                                    <p:animEffect filter="fade" transition="in">
                                      <p:cBhvr>
                                        <p:cTn dur="500"/>
                                        <p:tgtEl>
                                          <p:spTgt spid="105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9"/>
                                        </p:tgtEl>
                                        <p:attrNameLst>
                                          <p:attrName>style.visibility</p:attrName>
                                        </p:attrNameLst>
                                      </p:cBhvr>
                                      <p:to>
                                        <p:strVal val="visible"/>
                                      </p:to>
                                    </p:set>
                                    <p:animEffect filter="fade" transition="in">
                                      <p:cBhvr>
                                        <p:cTn dur="500"/>
                                        <p:tgtEl>
                                          <p:spTgt spid="105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0" name="Shape 10580"/>
        <p:cNvGrpSpPr/>
        <p:nvPr/>
      </p:nvGrpSpPr>
      <p:grpSpPr>
        <a:xfrm>
          <a:off x="0" y="0"/>
          <a:ext cx="0" cy="0"/>
          <a:chOff x="0" y="0"/>
          <a:chExt cx="0" cy="0"/>
        </a:xfrm>
      </p:grpSpPr>
      <p:sp>
        <p:nvSpPr>
          <p:cNvPr id="10581" name="Google Shape;10581;p13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400"/>
              <a:t>Client/server socket interaction: TCP (Syllabus not covered)</a:t>
            </a:r>
            <a:endParaRPr/>
          </a:p>
        </p:txBody>
      </p:sp>
      <p:sp>
        <p:nvSpPr>
          <p:cNvPr id="10582" name="Google Shape;10582;p134"/>
          <p:cNvSpPr txBox="1"/>
          <p:nvPr/>
        </p:nvSpPr>
        <p:spPr>
          <a:xfrm>
            <a:off x="2435141" y="1421154"/>
            <a:ext cx="3107324" cy="5847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3200">
                <a:solidFill>
                  <a:srgbClr val="000000"/>
                </a:solidFill>
                <a:latin typeface="Calibri"/>
                <a:ea typeface="Calibri"/>
                <a:cs typeface="Calibri"/>
                <a:sym typeface="Calibri"/>
              </a:rPr>
              <a:t>server</a:t>
            </a:r>
            <a:r>
              <a:rPr lang="en-US" sz="2800">
                <a:solidFill>
                  <a:srgbClr val="000000"/>
                </a:solidFill>
                <a:latin typeface="Calibri"/>
                <a:ea typeface="Calibri"/>
                <a:cs typeface="Calibri"/>
                <a:sym typeface="Calibri"/>
              </a:rPr>
              <a:t> </a:t>
            </a:r>
            <a:r>
              <a:rPr lang="en-US" sz="1800">
                <a:solidFill>
                  <a:srgbClr val="000000"/>
                </a:solidFill>
                <a:latin typeface="Calibri"/>
                <a:ea typeface="Calibri"/>
                <a:cs typeface="Calibri"/>
                <a:sym typeface="Calibri"/>
              </a:rPr>
              <a:t>(running on hostid)</a:t>
            </a:r>
            <a:endParaRPr/>
          </a:p>
        </p:txBody>
      </p:sp>
      <p:sp>
        <p:nvSpPr>
          <p:cNvPr id="10583" name="Google Shape;10583;p134"/>
          <p:cNvSpPr txBox="1"/>
          <p:nvPr/>
        </p:nvSpPr>
        <p:spPr>
          <a:xfrm>
            <a:off x="6840313" y="1416392"/>
            <a:ext cx="1101007" cy="5847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3200">
                <a:solidFill>
                  <a:srgbClr val="000000"/>
                </a:solidFill>
                <a:latin typeface="Calibri"/>
                <a:ea typeface="Calibri"/>
                <a:cs typeface="Calibri"/>
                <a:sym typeface="Calibri"/>
              </a:rPr>
              <a:t>client</a:t>
            </a:r>
            <a:endParaRPr/>
          </a:p>
        </p:txBody>
      </p:sp>
      <p:grpSp>
        <p:nvGrpSpPr>
          <p:cNvPr id="10584" name="Google Shape;10584;p134"/>
          <p:cNvGrpSpPr/>
          <p:nvPr/>
        </p:nvGrpSpPr>
        <p:grpSpPr>
          <a:xfrm>
            <a:off x="1947735" y="1365879"/>
            <a:ext cx="422275" cy="685800"/>
            <a:chOff x="4140" y="429"/>
            <a:chExt cx="1425" cy="2396"/>
          </a:xfrm>
        </p:grpSpPr>
        <p:sp>
          <p:nvSpPr>
            <p:cNvPr id="10585" name="Google Shape;10585;p13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86" name="Google Shape;10586;p134"/>
            <p:cNvSpPr/>
            <p:nvPr/>
          </p:nvSpPr>
          <p:spPr>
            <a:xfrm>
              <a:off x="4204" y="429"/>
              <a:ext cx="1050"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587" name="Google Shape;10587;p13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88" name="Google Shape;10588;p13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89" name="Google Shape;10589;p134"/>
            <p:cNvSpPr/>
            <p:nvPr/>
          </p:nvSpPr>
          <p:spPr>
            <a:xfrm>
              <a:off x="4210" y="695"/>
              <a:ext cx="600"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10590" name="Google Shape;10590;p134"/>
            <p:cNvGrpSpPr/>
            <p:nvPr/>
          </p:nvGrpSpPr>
          <p:grpSpPr>
            <a:xfrm>
              <a:off x="4751" y="668"/>
              <a:ext cx="579" cy="144"/>
              <a:chOff x="616" y="2568"/>
              <a:chExt cx="722" cy="138"/>
            </a:xfrm>
          </p:grpSpPr>
          <p:sp>
            <p:nvSpPr>
              <p:cNvPr id="10591" name="Google Shape;10591;p134"/>
              <p:cNvSpPr/>
              <p:nvPr/>
            </p:nvSpPr>
            <p:spPr>
              <a:xfrm>
                <a:off x="616" y="2568"/>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592" name="Google Shape;10592;p134"/>
              <p:cNvSpPr/>
              <p:nvPr/>
            </p:nvSpPr>
            <p:spPr>
              <a:xfrm>
                <a:off x="630" y="2583"/>
                <a:ext cx="689"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10593" name="Google Shape;10593;p134"/>
            <p:cNvSpPr/>
            <p:nvPr/>
          </p:nvSpPr>
          <p:spPr>
            <a:xfrm>
              <a:off x="4226" y="1017"/>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10594" name="Google Shape;10594;p134"/>
            <p:cNvGrpSpPr/>
            <p:nvPr/>
          </p:nvGrpSpPr>
          <p:grpSpPr>
            <a:xfrm>
              <a:off x="4745" y="995"/>
              <a:ext cx="584" cy="133"/>
              <a:chOff x="612" y="2569"/>
              <a:chExt cx="729" cy="138"/>
            </a:xfrm>
          </p:grpSpPr>
          <p:sp>
            <p:nvSpPr>
              <p:cNvPr id="10595" name="Google Shape;10595;p134"/>
              <p:cNvSpPr/>
              <p:nvPr/>
            </p:nvSpPr>
            <p:spPr>
              <a:xfrm>
                <a:off x="612" y="2569"/>
                <a:ext cx="72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596" name="Google Shape;10596;p134"/>
              <p:cNvSpPr/>
              <p:nvPr/>
            </p:nvSpPr>
            <p:spPr>
              <a:xfrm>
                <a:off x="625"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10597" name="Google Shape;10597;p134"/>
            <p:cNvSpPr/>
            <p:nvPr/>
          </p:nvSpPr>
          <p:spPr>
            <a:xfrm>
              <a:off x="4215" y="1355"/>
              <a:ext cx="600"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598" name="Google Shape;10598;p134"/>
            <p:cNvSpPr/>
            <p:nvPr/>
          </p:nvSpPr>
          <p:spPr>
            <a:xfrm>
              <a:off x="4226" y="1655"/>
              <a:ext cx="600"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10599" name="Google Shape;10599;p134"/>
            <p:cNvGrpSpPr/>
            <p:nvPr/>
          </p:nvGrpSpPr>
          <p:grpSpPr>
            <a:xfrm>
              <a:off x="4735" y="1627"/>
              <a:ext cx="584" cy="150"/>
              <a:chOff x="614" y="2568"/>
              <a:chExt cx="727" cy="138"/>
            </a:xfrm>
          </p:grpSpPr>
          <p:sp>
            <p:nvSpPr>
              <p:cNvPr id="10600" name="Google Shape;10600;p134"/>
              <p:cNvSpPr/>
              <p:nvPr/>
            </p:nvSpPr>
            <p:spPr>
              <a:xfrm>
                <a:off x="614" y="2568"/>
                <a:ext cx="72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601" name="Google Shape;10601;p134"/>
              <p:cNvSpPr/>
              <p:nvPr/>
            </p:nvSpPr>
            <p:spPr>
              <a:xfrm>
                <a:off x="627" y="2583"/>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10602" name="Google Shape;10602;p13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603" name="Google Shape;10603;p134"/>
            <p:cNvGrpSpPr/>
            <p:nvPr/>
          </p:nvGrpSpPr>
          <p:grpSpPr>
            <a:xfrm>
              <a:off x="4740" y="1327"/>
              <a:ext cx="579" cy="139"/>
              <a:chOff x="615" y="2568"/>
              <a:chExt cx="721" cy="139"/>
            </a:xfrm>
          </p:grpSpPr>
          <p:sp>
            <p:nvSpPr>
              <p:cNvPr id="10604" name="Google Shape;10604;p134"/>
              <p:cNvSpPr/>
              <p:nvPr/>
            </p:nvSpPr>
            <p:spPr>
              <a:xfrm>
                <a:off x="615" y="2568"/>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605" name="Google Shape;10605;p134"/>
              <p:cNvSpPr/>
              <p:nvPr/>
            </p:nvSpPr>
            <p:spPr>
              <a:xfrm>
                <a:off x="629" y="2585"/>
                <a:ext cx="687"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10606" name="Google Shape;10606;p134"/>
            <p:cNvSpPr/>
            <p:nvPr/>
          </p:nvSpPr>
          <p:spPr>
            <a:xfrm>
              <a:off x="5249" y="429"/>
              <a:ext cx="70" cy="2291"/>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607" name="Google Shape;10607;p13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08" name="Google Shape;10608;p13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09" name="Google Shape;10609;p134"/>
            <p:cNvSpPr/>
            <p:nvPr/>
          </p:nvSpPr>
          <p:spPr>
            <a:xfrm>
              <a:off x="5517" y="2609"/>
              <a:ext cx="48" cy="100"/>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610" name="Google Shape;10610;p13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11" name="Google Shape;10611;p134"/>
            <p:cNvSpPr/>
            <p:nvPr/>
          </p:nvSpPr>
          <p:spPr>
            <a:xfrm>
              <a:off x="4140" y="2675"/>
              <a:ext cx="1200"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612" name="Google Shape;10612;p134"/>
            <p:cNvSpPr/>
            <p:nvPr/>
          </p:nvSpPr>
          <p:spPr>
            <a:xfrm>
              <a:off x="4204" y="2709"/>
              <a:ext cx="107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613" name="Google Shape;10613;p134"/>
            <p:cNvSpPr/>
            <p:nvPr/>
          </p:nvSpPr>
          <p:spPr>
            <a:xfrm>
              <a:off x="4306" y="2381"/>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614" name="Google Shape;10614;p134"/>
            <p:cNvSpPr/>
            <p:nvPr/>
          </p:nvSpPr>
          <p:spPr>
            <a:xfrm>
              <a:off x="4488" y="2381"/>
              <a:ext cx="155"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rgbClr val="FF0000"/>
                </a:solidFill>
                <a:latin typeface="Calibri"/>
                <a:ea typeface="Calibri"/>
                <a:cs typeface="Calibri"/>
                <a:sym typeface="Calibri"/>
              </a:endParaRPr>
            </a:p>
          </p:txBody>
        </p:sp>
        <p:sp>
          <p:nvSpPr>
            <p:cNvPr id="10615" name="Google Shape;10615;p134"/>
            <p:cNvSpPr/>
            <p:nvPr/>
          </p:nvSpPr>
          <p:spPr>
            <a:xfrm>
              <a:off x="4660" y="2381"/>
              <a:ext cx="161"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0616" name="Google Shape;10616;p134"/>
            <p:cNvSpPr/>
            <p:nvPr/>
          </p:nvSpPr>
          <p:spPr>
            <a:xfrm>
              <a:off x="5061" y="1838"/>
              <a:ext cx="86"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10617" name="Google Shape;10617;p134"/>
          <p:cNvGrpSpPr/>
          <p:nvPr/>
        </p:nvGrpSpPr>
        <p:grpSpPr>
          <a:xfrm>
            <a:off x="7841666" y="1346443"/>
            <a:ext cx="742950" cy="742950"/>
            <a:chOff x="-44" y="1473"/>
            <a:chExt cx="981" cy="1105"/>
          </a:xfrm>
        </p:grpSpPr>
        <p:pic>
          <p:nvPicPr>
            <p:cNvPr descr="desktop_computer_stylized_medium" id="10618" name="Google Shape;10618;p13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0619" name="Google Shape;10619;p13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620" name="Google Shape;10620;p134"/>
          <p:cNvGrpSpPr/>
          <p:nvPr/>
        </p:nvGrpSpPr>
        <p:grpSpPr>
          <a:xfrm>
            <a:off x="3761300" y="3384960"/>
            <a:ext cx="1931987" cy="930275"/>
            <a:chOff x="827" y="2027"/>
            <a:chExt cx="1217" cy="586"/>
          </a:xfrm>
        </p:grpSpPr>
        <p:sp>
          <p:nvSpPr>
            <p:cNvPr id="10621" name="Google Shape;10621;p134"/>
            <p:cNvSpPr txBox="1"/>
            <p:nvPr/>
          </p:nvSpPr>
          <p:spPr>
            <a:xfrm>
              <a:off x="827" y="2027"/>
              <a:ext cx="1059" cy="32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wait for incoming</a:t>
              </a:r>
              <a:endParaRPr/>
            </a:p>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connection request</a:t>
              </a:r>
              <a:endParaRPr sz="2400">
                <a:solidFill>
                  <a:srgbClr val="000000"/>
                </a:solidFill>
                <a:latin typeface="Times New Roman"/>
                <a:ea typeface="Times New Roman"/>
                <a:cs typeface="Times New Roman"/>
                <a:sym typeface="Times New Roman"/>
              </a:endParaRPr>
            </a:p>
          </p:txBody>
        </p:sp>
        <p:sp>
          <p:nvSpPr>
            <p:cNvPr id="10622" name="Google Shape;10622;p134"/>
            <p:cNvSpPr txBox="1"/>
            <p:nvPr/>
          </p:nvSpPr>
          <p:spPr>
            <a:xfrm>
              <a:off x="828" y="2283"/>
              <a:ext cx="1216"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connectionSocket =</a:t>
              </a:r>
              <a:endParaRPr/>
            </a:p>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serverSocket.accept()</a:t>
              </a:r>
              <a:endParaRPr sz="2400">
                <a:solidFill>
                  <a:srgbClr val="CC0000"/>
                </a:solidFill>
                <a:latin typeface="Times New Roman"/>
                <a:ea typeface="Times New Roman"/>
                <a:cs typeface="Times New Roman"/>
                <a:sym typeface="Times New Roman"/>
              </a:endParaRPr>
            </a:p>
          </p:txBody>
        </p:sp>
      </p:grpSp>
      <p:grpSp>
        <p:nvGrpSpPr>
          <p:cNvPr id="10623" name="Google Shape;10623;p134"/>
          <p:cNvGrpSpPr/>
          <p:nvPr/>
        </p:nvGrpSpPr>
        <p:grpSpPr>
          <a:xfrm>
            <a:off x="3742250" y="2145123"/>
            <a:ext cx="2357437" cy="1317625"/>
            <a:chOff x="821" y="1246"/>
            <a:chExt cx="1485" cy="830"/>
          </a:xfrm>
        </p:grpSpPr>
        <p:grpSp>
          <p:nvGrpSpPr>
            <p:cNvPr id="10624" name="Google Shape;10624;p134"/>
            <p:cNvGrpSpPr/>
            <p:nvPr/>
          </p:nvGrpSpPr>
          <p:grpSpPr>
            <a:xfrm>
              <a:off x="821" y="1246"/>
              <a:ext cx="1485" cy="586"/>
              <a:chOff x="329" y="1270"/>
              <a:chExt cx="1485" cy="586"/>
            </a:xfrm>
          </p:grpSpPr>
          <p:sp>
            <p:nvSpPr>
              <p:cNvPr id="10625" name="Google Shape;10625;p134"/>
              <p:cNvSpPr txBox="1"/>
              <p:nvPr/>
            </p:nvSpPr>
            <p:spPr>
              <a:xfrm>
                <a:off x="329" y="1270"/>
                <a:ext cx="1213" cy="46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create socket,</a:t>
                </a:r>
                <a:endParaRPr/>
              </a:p>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port=</a:t>
                </a:r>
                <a:r>
                  <a:rPr b="1" lang="en-US" sz="1400">
                    <a:solidFill>
                      <a:srgbClr val="000000"/>
                    </a:solidFill>
                    <a:latin typeface="Courier New"/>
                    <a:ea typeface="Courier New"/>
                    <a:cs typeface="Courier New"/>
                    <a:sym typeface="Courier New"/>
                  </a:rPr>
                  <a:t>x</a:t>
                </a:r>
                <a:r>
                  <a:rPr lang="en-US" sz="1400">
                    <a:solidFill>
                      <a:srgbClr val="000000"/>
                    </a:solidFill>
                    <a:latin typeface="Arial"/>
                    <a:ea typeface="Arial"/>
                    <a:cs typeface="Arial"/>
                    <a:sym typeface="Arial"/>
                  </a:rPr>
                  <a:t>, for incoming request:</a:t>
                </a:r>
                <a:endParaRPr sz="2400">
                  <a:solidFill>
                    <a:srgbClr val="000000"/>
                  </a:solidFill>
                  <a:latin typeface="Times New Roman"/>
                  <a:ea typeface="Times New Roman"/>
                  <a:cs typeface="Times New Roman"/>
                  <a:sym typeface="Times New Roman"/>
                </a:endParaRPr>
              </a:p>
            </p:txBody>
          </p:sp>
          <p:sp>
            <p:nvSpPr>
              <p:cNvPr id="10626" name="Google Shape;10626;p134"/>
              <p:cNvSpPr txBox="1"/>
              <p:nvPr/>
            </p:nvSpPr>
            <p:spPr>
              <a:xfrm>
                <a:off x="333" y="1662"/>
                <a:ext cx="1481" cy="19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400">
                    <a:solidFill>
                      <a:srgbClr val="CC0000"/>
                    </a:solidFill>
                    <a:latin typeface="Arial"/>
                    <a:ea typeface="Arial"/>
                    <a:cs typeface="Arial"/>
                    <a:sym typeface="Arial"/>
                  </a:rPr>
                  <a:t>serverSocket = socket()</a:t>
                </a:r>
                <a:endParaRPr sz="2400">
                  <a:solidFill>
                    <a:srgbClr val="CC0000"/>
                  </a:solidFill>
                  <a:latin typeface="Times New Roman"/>
                  <a:ea typeface="Times New Roman"/>
                  <a:cs typeface="Times New Roman"/>
                  <a:sym typeface="Times New Roman"/>
                </a:endParaRPr>
              </a:p>
            </p:txBody>
          </p:sp>
        </p:grpSp>
        <p:cxnSp>
          <p:nvCxnSpPr>
            <p:cNvPr id="10627" name="Google Shape;10627;p134"/>
            <p:cNvCxnSpPr/>
            <p:nvPr/>
          </p:nvCxnSpPr>
          <p:spPr>
            <a:xfrm>
              <a:off x="1284" y="1872"/>
              <a:ext cx="0" cy="204"/>
            </a:xfrm>
            <a:prstGeom prst="straightConnector1">
              <a:avLst/>
            </a:prstGeom>
            <a:noFill/>
            <a:ln cap="flat" cmpd="sng" w="28575">
              <a:solidFill>
                <a:srgbClr val="000099"/>
              </a:solidFill>
              <a:prstDash val="solid"/>
              <a:round/>
              <a:headEnd len="med" w="med" type="none"/>
              <a:tailEnd len="med" w="med" type="triangle"/>
            </a:ln>
          </p:spPr>
        </p:cxnSp>
      </p:grpSp>
      <p:grpSp>
        <p:nvGrpSpPr>
          <p:cNvPr id="10628" name="Google Shape;10628;p134"/>
          <p:cNvGrpSpPr/>
          <p:nvPr/>
        </p:nvGrpSpPr>
        <p:grpSpPr>
          <a:xfrm>
            <a:off x="7539550" y="3389723"/>
            <a:ext cx="2357437" cy="731837"/>
            <a:chOff x="3333" y="1202"/>
            <a:chExt cx="1485" cy="461"/>
          </a:xfrm>
        </p:grpSpPr>
        <p:sp>
          <p:nvSpPr>
            <p:cNvPr id="10629" name="Google Shape;10629;p134"/>
            <p:cNvSpPr txBox="1"/>
            <p:nvPr/>
          </p:nvSpPr>
          <p:spPr>
            <a:xfrm>
              <a:off x="3335" y="1202"/>
              <a:ext cx="1468"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create socket,</a:t>
              </a:r>
              <a:endParaRPr/>
            </a:p>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connect to </a:t>
              </a:r>
              <a:r>
                <a:rPr b="1" lang="en-US" sz="1400">
                  <a:solidFill>
                    <a:srgbClr val="000000"/>
                  </a:solidFill>
                  <a:latin typeface="Courier New"/>
                  <a:ea typeface="Courier New"/>
                  <a:cs typeface="Courier New"/>
                  <a:sym typeface="Courier New"/>
                </a:rPr>
                <a:t>hostid</a:t>
              </a:r>
              <a:r>
                <a:rPr lang="en-US" sz="1400">
                  <a:solidFill>
                    <a:srgbClr val="000000"/>
                  </a:solidFill>
                  <a:latin typeface="Arial"/>
                  <a:ea typeface="Arial"/>
                  <a:cs typeface="Arial"/>
                  <a:sym typeface="Arial"/>
                </a:rPr>
                <a:t>, port=</a:t>
              </a:r>
              <a:r>
                <a:rPr b="1" lang="en-US" sz="1400">
                  <a:solidFill>
                    <a:srgbClr val="000000"/>
                  </a:solidFill>
                  <a:latin typeface="Courier New"/>
                  <a:ea typeface="Courier New"/>
                  <a:cs typeface="Courier New"/>
                  <a:sym typeface="Courier New"/>
                </a:rPr>
                <a:t>x</a:t>
              </a:r>
              <a:endParaRPr sz="2400">
                <a:solidFill>
                  <a:srgbClr val="000000"/>
                </a:solidFill>
                <a:latin typeface="Times New Roman"/>
                <a:ea typeface="Times New Roman"/>
                <a:cs typeface="Times New Roman"/>
                <a:sym typeface="Times New Roman"/>
              </a:endParaRPr>
            </a:p>
          </p:txBody>
        </p:sp>
        <p:sp>
          <p:nvSpPr>
            <p:cNvPr id="10630" name="Google Shape;10630;p134"/>
            <p:cNvSpPr txBox="1"/>
            <p:nvPr/>
          </p:nvSpPr>
          <p:spPr>
            <a:xfrm>
              <a:off x="3333" y="1469"/>
              <a:ext cx="1485" cy="19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clientSocket = socket()</a:t>
              </a:r>
              <a:endParaRPr sz="2400">
                <a:solidFill>
                  <a:srgbClr val="CC0000"/>
                </a:solidFill>
                <a:latin typeface="Times New Roman"/>
                <a:ea typeface="Times New Roman"/>
                <a:cs typeface="Times New Roman"/>
                <a:sym typeface="Times New Roman"/>
              </a:endParaRPr>
            </a:p>
          </p:txBody>
        </p:sp>
      </p:grpSp>
      <p:grpSp>
        <p:nvGrpSpPr>
          <p:cNvPr id="10631" name="Google Shape;10631;p134"/>
          <p:cNvGrpSpPr/>
          <p:nvPr/>
        </p:nvGrpSpPr>
        <p:grpSpPr>
          <a:xfrm>
            <a:off x="5382137" y="4177123"/>
            <a:ext cx="4062413" cy="1371600"/>
            <a:chOff x="1848" y="2526"/>
            <a:chExt cx="2559" cy="864"/>
          </a:xfrm>
        </p:grpSpPr>
        <p:cxnSp>
          <p:nvCxnSpPr>
            <p:cNvPr id="10632" name="Google Shape;10632;p134"/>
            <p:cNvCxnSpPr/>
            <p:nvPr/>
          </p:nvCxnSpPr>
          <p:spPr>
            <a:xfrm flipH="1">
              <a:off x="3792" y="2964"/>
              <a:ext cx="6" cy="426"/>
            </a:xfrm>
            <a:prstGeom prst="straightConnector1">
              <a:avLst/>
            </a:prstGeom>
            <a:noFill/>
            <a:ln cap="flat" cmpd="sng" w="28575">
              <a:solidFill>
                <a:srgbClr val="000099"/>
              </a:solidFill>
              <a:prstDash val="solid"/>
              <a:round/>
              <a:headEnd len="med" w="med" type="none"/>
              <a:tailEnd len="med" w="med" type="triangle"/>
            </a:ln>
          </p:spPr>
        </p:cxnSp>
        <p:grpSp>
          <p:nvGrpSpPr>
            <p:cNvPr id="10633" name="Google Shape;10633;p134"/>
            <p:cNvGrpSpPr/>
            <p:nvPr/>
          </p:nvGrpSpPr>
          <p:grpSpPr>
            <a:xfrm>
              <a:off x="1848" y="2526"/>
              <a:ext cx="2559" cy="516"/>
              <a:chOff x="1848" y="2526"/>
              <a:chExt cx="2559" cy="516"/>
            </a:xfrm>
          </p:grpSpPr>
          <p:sp>
            <p:nvSpPr>
              <p:cNvPr id="10634" name="Google Shape;10634;p134"/>
              <p:cNvSpPr txBox="1"/>
              <p:nvPr/>
            </p:nvSpPr>
            <p:spPr>
              <a:xfrm>
                <a:off x="3335" y="2673"/>
                <a:ext cx="1072"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send request using</a:t>
                </a:r>
                <a:endParaRPr/>
              </a:p>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clientSocket</a:t>
                </a:r>
                <a:endParaRPr sz="2400">
                  <a:solidFill>
                    <a:srgbClr val="CC0000"/>
                  </a:solidFill>
                  <a:latin typeface="Times New Roman"/>
                  <a:ea typeface="Times New Roman"/>
                  <a:cs typeface="Times New Roman"/>
                  <a:sym typeface="Times New Roman"/>
                </a:endParaRPr>
              </a:p>
            </p:txBody>
          </p:sp>
          <p:cxnSp>
            <p:nvCxnSpPr>
              <p:cNvPr id="10635" name="Google Shape;10635;p134"/>
              <p:cNvCxnSpPr/>
              <p:nvPr/>
            </p:nvCxnSpPr>
            <p:spPr>
              <a:xfrm>
                <a:off x="3792" y="2526"/>
                <a:ext cx="0" cy="204"/>
              </a:xfrm>
              <a:prstGeom prst="straightConnector1">
                <a:avLst/>
              </a:prstGeom>
              <a:noFill/>
              <a:ln cap="flat" cmpd="sng" w="28575">
                <a:solidFill>
                  <a:srgbClr val="000099"/>
                </a:solidFill>
                <a:prstDash val="solid"/>
                <a:round/>
                <a:headEnd len="med" w="med" type="none"/>
                <a:tailEnd len="med" w="med" type="triangle"/>
              </a:ln>
            </p:spPr>
          </p:cxnSp>
          <p:cxnSp>
            <p:nvCxnSpPr>
              <p:cNvPr id="10636" name="Google Shape;10636;p134"/>
              <p:cNvCxnSpPr/>
              <p:nvPr/>
            </p:nvCxnSpPr>
            <p:spPr>
              <a:xfrm flipH="1">
                <a:off x="1848" y="2790"/>
                <a:ext cx="1518" cy="252"/>
              </a:xfrm>
              <a:prstGeom prst="straightConnector1">
                <a:avLst/>
              </a:prstGeom>
              <a:noFill/>
              <a:ln cap="flat" cmpd="sng" w="28575">
                <a:solidFill>
                  <a:srgbClr val="CC0000"/>
                </a:solidFill>
                <a:prstDash val="solid"/>
                <a:round/>
                <a:headEnd len="med" w="med" type="none"/>
                <a:tailEnd len="med" w="med" type="triangle"/>
              </a:ln>
            </p:spPr>
          </p:cxnSp>
        </p:grpSp>
      </p:grpSp>
      <p:grpSp>
        <p:nvGrpSpPr>
          <p:cNvPr id="10637" name="Google Shape;10637;p134"/>
          <p:cNvGrpSpPr/>
          <p:nvPr/>
        </p:nvGrpSpPr>
        <p:grpSpPr>
          <a:xfrm>
            <a:off x="3751775" y="4272373"/>
            <a:ext cx="4097337" cy="1490662"/>
            <a:chOff x="821" y="2586"/>
            <a:chExt cx="2581" cy="939"/>
          </a:xfrm>
        </p:grpSpPr>
        <p:sp>
          <p:nvSpPr>
            <p:cNvPr id="10638" name="Google Shape;10638;p134"/>
            <p:cNvSpPr txBox="1"/>
            <p:nvPr/>
          </p:nvSpPr>
          <p:spPr>
            <a:xfrm>
              <a:off x="821" y="2787"/>
              <a:ext cx="1013"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read request from</a:t>
              </a:r>
              <a:endParaRPr/>
            </a:p>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connectionSocke</a:t>
              </a:r>
              <a:r>
                <a:rPr lang="en-US" sz="1400">
                  <a:solidFill>
                    <a:srgbClr val="FF0000"/>
                  </a:solidFill>
                  <a:latin typeface="Arial"/>
                  <a:ea typeface="Arial"/>
                  <a:cs typeface="Arial"/>
                  <a:sym typeface="Arial"/>
                </a:rPr>
                <a:t>t</a:t>
              </a:r>
              <a:endParaRPr sz="2400">
                <a:solidFill>
                  <a:srgbClr val="000000"/>
                </a:solidFill>
                <a:latin typeface="Times New Roman"/>
                <a:ea typeface="Times New Roman"/>
                <a:cs typeface="Times New Roman"/>
                <a:sym typeface="Times New Roman"/>
              </a:endParaRPr>
            </a:p>
          </p:txBody>
        </p:sp>
        <p:sp>
          <p:nvSpPr>
            <p:cNvPr id="10639" name="Google Shape;10639;p134"/>
            <p:cNvSpPr txBox="1"/>
            <p:nvPr/>
          </p:nvSpPr>
          <p:spPr>
            <a:xfrm>
              <a:off x="851" y="3195"/>
              <a:ext cx="1013"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write reply to</a:t>
              </a:r>
              <a:endParaRPr/>
            </a:p>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connectionSocket</a:t>
              </a:r>
              <a:endParaRPr sz="2400">
                <a:solidFill>
                  <a:srgbClr val="CC0000"/>
                </a:solidFill>
                <a:latin typeface="Times New Roman"/>
                <a:ea typeface="Times New Roman"/>
                <a:cs typeface="Times New Roman"/>
                <a:sym typeface="Times New Roman"/>
              </a:endParaRPr>
            </a:p>
          </p:txBody>
        </p:sp>
        <p:cxnSp>
          <p:nvCxnSpPr>
            <p:cNvPr id="10640" name="Google Shape;10640;p134"/>
            <p:cNvCxnSpPr/>
            <p:nvPr/>
          </p:nvCxnSpPr>
          <p:spPr>
            <a:xfrm>
              <a:off x="1278" y="2586"/>
              <a:ext cx="0" cy="240"/>
            </a:xfrm>
            <a:prstGeom prst="straightConnector1">
              <a:avLst/>
            </a:prstGeom>
            <a:noFill/>
            <a:ln cap="flat" cmpd="sng" w="28575">
              <a:solidFill>
                <a:srgbClr val="000099"/>
              </a:solidFill>
              <a:prstDash val="solid"/>
              <a:round/>
              <a:headEnd len="med" w="med" type="none"/>
              <a:tailEnd len="med" w="med" type="triangle"/>
            </a:ln>
          </p:spPr>
        </p:cxnSp>
        <p:cxnSp>
          <p:nvCxnSpPr>
            <p:cNvPr id="10641" name="Google Shape;10641;p134"/>
            <p:cNvCxnSpPr/>
            <p:nvPr/>
          </p:nvCxnSpPr>
          <p:spPr>
            <a:xfrm flipH="1">
              <a:off x="1284" y="3090"/>
              <a:ext cx="6" cy="156"/>
            </a:xfrm>
            <a:prstGeom prst="straightConnector1">
              <a:avLst/>
            </a:prstGeom>
            <a:noFill/>
            <a:ln cap="flat" cmpd="sng" w="28575">
              <a:solidFill>
                <a:srgbClr val="000099"/>
              </a:solidFill>
              <a:prstDash val="solid"/>
              <a:round/>
              <a:headEnd len="med" w="med" type="none"/>
              <a:tailEnd len="med" w="med" type="triangle"/>
            </a:ln>
          </p:spPr>
        </p:cxnSp>
        <p:cxnSp>
          <p:nvCxnSpPr>
            <p:cNvPr id="10642" name="Google Shape;10642;p134"/>
            <p:cNvCxnSpPr/>
            <p:nvPr/>
          </p:nvCxnSpPr>
          <p:spPr>
            <a:xfrm>
              <a:off x="1866" y="3306"/>
              <a:ext cx="1536" cy="180"/>
            </a:xfrm>
            <a:prstGeom prst="straightConnector1">
              <a:avLst/>
            </a:prstGeom>
            <a:noFill/>
            <a:ln cap="flat" cmpd="sng" w="28575">
              <a:solidFill>
                <a:srgbClr val="CC0000"/>
              </a:solidFill>
              <a:prstDash val="solid"/>
              <a:round/>
              <a:headEnd len="med" w="med" type="none"/>
              <a:tailEnd len="med" w="med" type="triangle"/>
            </a:ln>
          </p:spPr>
        </p:cxnSp>
      </p:grpSp>
      <p:grpSp>
        <p:nvGrpSpPr>
          <p:cNvPr id="10643" name="Google Shape;10643;p134"/>
          <p:cNvGrpSpPr/>
          <p:nvPr/>
        </p:nvGrpSpPr>
        <p:grpSpPr>
          <a:xfrm>
            <a:off x="5371025" y="3472273"/>
            <a:ext cx="2200275" cy="587375"/>
            <a:chOff x="3043" y="1189"/>
            <a:chExt cx="1386" cy="370"/>
          </a:xfrm>
        </p:grpSpPr>
        <p:cxnSp>
          <p:nvCxnSpPr>
            <p:cNvPr id="10644" name="Google Shape;10644;p134"/>
            <p:cNvCxnSpPr/>
            <p:nvPr/>
          </p:nvCxnSpPr>
          <p:spPr>
            <a:xfrm>
              <a:off x="3043" y="1372"/>
              <a:ext cx="1386" cy="0"/>
            </a:xfrm>
            <a:prstGeom prst="straightConnector1">
              <a:avLst/>
            </a:prstGeom>
            <a:noFill/>
            <a:ln cap="flat" cmpd="sng" w="38100">
              <a:solidFill>
                <a:srgbClr val="CC0000"/>
              </a:solidFill>
              <a:prstDash val="dash"/>
              <a:round/>
              <a:headEnd len="med" w="med" type="triangle"/>
              <a:tailEnd len="med" w="med" type="triangle"/>
            </a:ln>
          </p:spPr>
        </p:cxnSp>
        <p:sp>
          <p:nvSpPr>
            <p:cNvPr id="10645" name="Google Shape;10645;p134"/>
            <p:cNvSpPr txBox="1"/>
            <p:nvPr/>
          </p:nvSpPr>
          <p:spPr>
            <a:xfrm>
              <a:off x="3106" y="1189"/>
              <a:ext cx="1204" cy="370"/>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TCP </a:t>
              </a:r>
              <a:endParaRPr/>
            </a:p>
            <a:p>
              <a:pPr indent="0" lvl="0" marL="0" marR="0" rtl="0" algn="ctr">
                <a:lnSpc>
                  <a:spcPct val="90000"/>
                </a:lnSpc>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connection setup</a:t>
              </a:r>
              <a:endParaRPr sz="2400">
                <a:solidFill>
                  <a:srgbClr val="CC0000"/>
                </a:solidFill>
                <a:latin typeface="Arial"/>
                <a:ea typeface="Arial"/>
                <a:cs typeface="Arial"/>
                <a:sym typeface="Arial"/>
              </a:endParaRPr>
            </a:p>
          </p:txBody>
        </p:sp>
      </p:grpSp>
      <p:grpSp>
        <p:nvGrpSpPr>
          <p:cNvPr id="10646" name="Google Shape;10646;p134"/>
          <p:cNvGrpSpPr/>
          <p:nvPr/>
        </p:nvGrpSpPr>
        <p:grpSpPr>
          <a:xfrm>
            <a:off x="3702562" y="4620035"/>
            <a:ext cx="5457825" cy="1954213"/>
            <a:chOff x="832" y="2713"/>
            <a:chExt cx="3438" cy="1231"/>
          </a:xfrm>
        </p:grpSpPr>
        <p:sp>
          <p:nvSpPr>
            <p:cNvPr id="10647" name="Google Shape;10647;p134"/>
            <p:cNvSpPr txBox="1"/>
            <p:nvPr/>
          </p:nvSpPr>
          <p:spPr>
            <a:xfrm>
              <a:off x="867" y="3512"/>
              <a:ext cx="1013"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close</a:t>
              </a:r>
              <a:endParaRPr/>
            </a:p>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connectionSocket</a:t>
              </a:r>
              <a:endParaRPr sz="2400">
                <a:solidFill>
                  <a:srgbClr val="CC0000"/>
                </a:solidFill>
                <a:latin typeface="Times New Roman"/>
                <a:ea typeface="Times New Roman"/>
                <a:cs typeface="Times New Roman"/>
                <a:sym typeface="Times New Roman"/>
              </a:endParaRPr>
            </a:p>
          </p:txBody>
        </p:sp>
        <p:cxnSp>
          <p:nvCxnSpPr>
            <p:cNvPr id="10648" name="Google Shape;10648;p134"/>
            <p:cNvCxnSpPr/>
            <p:nvPr/>
          </p:nvCxnSpPr>
          <p:spPr>
            <a:xfrm>
              <a:off x="1318" y="3437"/>
              <a:ext cx="0" cy="204"/>
            </a:xfrm>
            <a:prstGeom prst="straightConnector1">
              <a:avLst/>
            </a:prstGeom>
            <a:noFill/>
            <a:ln cap="flat" cmpd="sng" w="28575">
              <a:solidFill>
                <a:srgbClr val="000099"/>
              </a:solidFill>
              <a:prstDash val="solid"/>
              <a:round/>
              <a:headEnd len="med" w="med" type="none"/>
              <a:tailEnd len="med" w="med" type="triangle"/>
            </a:ln>
          </p:spPr>
        </p:cxnSp>
        <p:sp>
          <p:nvSpPr>
            <p:cNvPr id="10649" name="Google Shape;10649;p134"/>
            <p:cNvSpPr/>
            <p:nvPr/>
          </p:nvSpPr>
          <p:spPr>
            <a:xfrm>
              <a:off x="832" y="2713"/>
              <a:ext cx="492" cy="306"/>
            </a:xfrm>
            <a:custGeom>
              <a:rect b="b" l="l" r="r" t="t"/>
              <a:pathLst>
                <a:path extrusionOk="0" h="2112" w="492">
                  <a:moveTo>
                    <a:pt x="492" y="1968"/>
                  </a:moveTo>
                  <a:lnTo>
                    <a:pt x="492" y="2112"/>
                  </a:lnTo>
                  <a:lnTo>
                    <a:pt x="0" y="2112"/>
                  </a:lnTo>
                  <a:lnTo>
                    <a:pt x="0" y="0"/>
                  </a:lnTo>
                  <a:lnTo>
                    <a:pt x="402" y="0"/>
                  </a:lnTo>
                </a:path>
              </a:pathLst>
            </a:custGeom>
            <a:noFill/>
            <a:ln cap="flat" cmpd="sng" w="28575">
              <a:solidFill>
                <a:srgbClr val="000099"/>
              </a:solidFill>
              <a:prstDash val="solid"/>
              <a:round/>
              <a:headEnd len="med" w="med" type="none"/>
              <a:tailEnd len="med" w="med" type="triangl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650" name="Google Shape;10650;p134"/>
            <p:cNvGrpSpPr/>
            <p:nvPr/>
          </p:nvGrpSpPr>
          <p:grpSpPr>
            <a:xfrm>
              <a:off x="3393" y="3248"/>
              <a:ext cx="877" cy="696"/>
              <a:chOff x="3365" y="3375"/>
              <a:chExt cx="877" cy="696"/>
            </a:xfrm>
          </p:grpSpPr>
          <p:sp>
            <p:nvSpPr>
              <p:cNvPr id="10651" name="Google Shape;10651;p134"/>
              <p:cNvSpPr txBox="1"/>
              <p:nvPr/>
            </p:nvSpPr>
            <p:spPr>
              <a:xfrm>
                <a:off x="3365" y="3375"/>
                <a:ext cx="877"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read reply from</a:t>
                </a:r>
                <a:endParaRPr/>
              </a:p>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clientSocket</a:t>
                </a:r>
                <a:endParaRPr sz="2400">
                  <a:solidFill>
                    <a:srgbClr val="CC0000"/>
                  </a:solidFill>
                  <a:latin typeface="Times New Roman"/>
                  <a:ea typeface="Times New Roman"/>
                  <a:cs typeface="Times New Roman"/>
                  <a:sym typeface="Times New Roman"/>
                </a:endParaRPr>
              </a:p>
            </p:txBody>
          </p:sp>
          <p:sp>
            <p:nvSpPr>
              <p:cNvPr id="10652" name="Google Shape;10652;p134"/>
              <p:cNvSpPr txBox="1"/>
              <p:nvPr/>
            </p:nvSpPr>
            <p:spPr>
              <a:xfrm>
                <a:off x="3389" y="3741"/>
                <a:ext cx="730"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close</a:t>
                </a:r>
                <a:endParaRPr/>
              </a:p>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clientSocket</a:t>
                </a:r>
                <a:endParaRPr sz="2400">
                  <a:solidFill>
                    <a:srgbClr val="CC0000"/>
                  </a:solidFill>
                  <a:latin typeface="Times New Roman"/>
                  <a:ea typeface="Times New Roman"/>
                  <a:cs typeface="Times New Roman"/>
                  <a:sym typeface="Times New Roman"/>
                </a:endParaRPr>
              </a:p>
            </p:txBody>
          </p:sp>
          <p:cxnSp>
            <p:nvCxnSpPr>
              <p:cNvPr id="10653" name="Google Shape;10653;p134"/>
              <p:cNvCxnSpPr/>
              <p:nvPr/>
            </p:nvCxnSpPr>
            <p:spPr>
              <a:xfrm>
                <a:off x="3816" y="3690"/>
                <a:ext cx="0" cy="204"/>
              </a:xfrm>
              <a:prstGeom prst="straightConnector1">
                <a:avLst/>
              </a:prstGeom>
              <a:noFill/>
              <a:ln cap="flat" cmpd="sng" w="28575">
                <a:solidFill>
                  <a:srgbClr val="000099"/>
                </a:solidFill>
                <a:prstDash val="solid"/>
                <a:round/>
                <a:headEnd len="med" w="med" type="none"/>
                <a:tailEnd len="med" w="med" type="triangle"/>
              </a:ln>
            </p:spPr>
          </p:cxnSp>
        </p:grpSp>
      </p:grpSp>
      <p:sp>
        <p:nvSpPr>
          <p:cNvPr id="10654" name="Google Shape;10654;p1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23"/>
                                        </p:tgtEl>
                                        <p:attrNameLst>
                                          <p:attrName>style.visibility</p:attrName>
                                        </p:attrNameLst>
                                      </p:cBhvr>
                                      <p:to>
                                        <p:strVal val="visible"/>
                                      </p:to>
                                    </p:set>
                                    <p:animEffect filter="fade" transition="in">
                                      <p:cBhvr>
                                        <p:cTn dur="500"/>
                                        <p:tgtEl>
                                          <p:spTgt spid="106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20"/>
                                        </p:tgtEl>
                                        <p:attrNameLst>
                                          <p:attrName>style.visibility</p:attrName>
                                        </p:attrNameLst>
                                      </p:cBhvr>
                                      <p:to>
                                        <p:strVal val="visible"/>
                                      </p:to>
                                    </p:set>
                                    <p:animEffect filter="fade" transition="in">
                                      <p:cBhvr>
                                        <p:cTn dur="500"/>
                                        <p:tgtEl>
                                          <p:spTgt spid="106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28"/>
                                        </p:tgtEl>
                                        <p:attrNameLst>
                                          <p:attrName>style.visibility</p:attrName>
                                        </p:attrNameLst>
                                      </p:cBhvr>
                                      <p:to>
                                        <p:strVal val="visible"/>
                                      </p:to>
                                    </p:set>
                                    <p:animEffect filter="fade" transition="in">
                                      <p:cBhvr>
                                        <p:cTn dur="500"/>
                                        <p:tgtEl>
                                          <p:spTgt spid="10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3"/>
                                        </p:tgtEl>
                                        <p:attrNameLst>
                                          <p:attrName>style.visibility</p:attrName>
                                        </p:attrNameLst>
                                      </p:cBhvr>
                                      <p:to>
                                        <p:strVal val="visible"/>
                                      </p:to>
                                    </p:set>
                                    <p:animEffect filter="fade" transition="in">
                                      <p:cBhvr>
                                        <p:cTn dur="500"/>
                                        <p:tgtEl>
                                          <p:spTgt spid="106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643"/>
                                        </p:tgtEl>
                                      </p:cBhvr>
                                    </p:animEffect>
                                    <p:set>
                                      <p:cBhvr>
                                        <p:cTn dur="1" fill="hold">
                                          <p:stCondLst>
                                            <p:cond delay="500"/>
                                          </p:stCondLst>
                                        </p:cTn>
                                        <p:tgtEl>
                                          <p:spTgt spid="1064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631"/>
                                        </p:tgtEl>
                                        <p:attrNameLst>
                                          <p:attrName>style.visibility</p:attrName>
                                        </p:attrNameLst>
                                      </p:cBhvr>
                                      <p:to>
                                        <p:strVal val="visible"/>
                                      </p:to>
                                    </p:set>
                                    <p:animEffect filter="fade" transition="in">
                                      <p:cBhvr>
                                        <p:cTn dur="500"/>
                                        <p:tgtEl>
                                          <p:spTgt spid="106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37"/>
                                        </p:tgtEl>
                                        <p:attrNameLst>
                                          <p:attrName>style.visibility</p:attrName>
                                        </p:attrNameLst>
                                      </p:cBhvr>
                                      <p:to>
                                        <p:strVal val="visible"/>
                                      </p:to>
                                    </p:set>
                                    <p:animEffect filter="fade" transition="in">
                                      <p:cBhvr>
                                        <p:cTn dur="500"/>
                                        <p:tgtEl>
                                          <p:spTgt spid="106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6"/>
                                        </p:tgtEl>
                                        <p:attrNameLst>
                                          <p:attrName>style.visibility</p:attrName>
                                        </p:attrNameLst>
                                      </p:cBhvr>
                                      <p:to>
                                        <p:strVal val="visible"/>
                                      </p:to>
                                    </p:set>
                                    <p:animEffect filter="fade" transition="in">
                                      <p:cBhvr>
                                        <p:cTn dur="500"/>
                                        <p:tgtEl>
                                          <p:spTgt spid="106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9" name="Shape 10659"/>
        <p:cNvGrpSpPr/>
        <p:nvPr/>
      </p:nvGrpSpPr>
      <p:grpSpPr>
        <a:xfrm>
          <a:off x="0" y="0"/>
          <a:ext cx="0" cy="0"/>
          <a:chOff x="0" y="0"/>
          <a:chExt cx="0" cy="0"/>
        </a:xfrm>
      </p:grpSpPr>
      <p:sp>
        <p:nvSpPr>
          <p:cNvPr id="10660" name="Google Shape;10660;p13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9"/>
              </a:buClr>
              <a:buSzPct val="100000"/>
              <a:buFont typeface="Calibri"/>
              <a:buNone/>
            </a:pPr>
            <a:r>
              <a:rPr lang="en-US" sz="4400">
                <a:solidFill>
                  <a:srgbClr val="000099"/>
                </a:solidFill>
              </a:rPr>
              <a:t>Example app: TCP client </a:t>
            </a:r>
            <a:r>
              <a:rPr lang="en-US" sz="5400"/>
              <a:t>(Syllabus not covered)</a:t>
            </a:r>
            <a:endParaRPr sz="5400">
              <a:solidFill>
                <a:srgbClr val="000099"/>
              </a:solidFill>
            </a:endParaRPr>
          </a:p>
        </p:txBody>
      </p:sp>
      <p:sp>
        <p:nvSpPr>
          <p:cNvPr id="10661" name="Google Shape;10661;p135"/>
          <p:cNvSpPr txBox="1"/>
          <p:nvPr/>
        </p:nvSpPr>
        <p:spPr>
          <a:xfrm>
            <a:off x="5153332" y="2021516"/>
            <a:ext cx="5894388" cy="42291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from socket import *</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serverName = ’servername’</a:t>
            </a:r>
            <a:endParaRPr sz="2000">
              <a:solidFill>
                <a:schemeClr val="dk1"/>
              </a:solidFill>
              <a:latin typeface="Arial"/>
              <a:ea typeface="Arial"/>
              <a:cs typeface="Arial"/>
              <a:sym typeface="Arial"/>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serverPort = 12000</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clientSocket = socket(AF_INET, SOCK_STREAM)</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clientSocket.connect((serverName,serverPort))</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sentence = raw_input(‘Input lowercase sentence:’)</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clientSocket.send(sentence.encode())</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modifiedSentence = clientSocket.recv(1024)</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print (‘From Server:’, modifiedSentence.decode())</a:t>
            </a:r>
            <a:endParaRPr/>
          </a:p>
          <a:p>
            <a:pPr indent="0" lvl="0" marL="0" marR="0" rtl="0" algn="l">
              <a:lnSpc>
                <a:spcPct val="140000"/>
              </a:lnSpc>
              <a:spcBef>
                <a:spcPts val="0"/>
              </a:spcBef>
              <a:spcAft>
                <a:spcPts val="0"/>
              </a:spcAft>
              <a:buNone/>
            </a:pPr>
            <a:r>
              <a:rPr lang="en-US" sz="2000">
                <a:solidFill>
                  <a:schemeClr val="dk1"/>
                </a:solidFill>
                <a:latin typeface="Arial"/>
                <a:ea typeface="Arial"/>
                <a:cs typeface="Arial"/>
                <a:sym typeface="Arial"/>
              </a:rPr>
              <a:t>clientSocket.close()</a:t>
            </a:r>
            <a:endParaRPr/>
          </a:p>
        </p:txBody>
      </p:sp>
      <p:sp>
        <p:nvSpPr>
          <p:cNvPr id="10662" name="Google Shape;10662;p135"/>
          <p:cNvSpPr txBox="1"/>
          <p:nvPr/>
        </p:nvSpPr>
        <p:spPr>
          <a:xfrm>
            <a:off x="5166032" y="1538916"/>
            <a:ext cx="270668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CC0000"/>
                </a:solidFill>
                <a:latin typeface="Arial"/>
                <a:ea typeface="Arial"/>
                <a:cs typeface="Arial"/>
                <a:sym typeface="Arial"/>
              </a:rPr>
              <a:t>Python TCPClient</a:t>
            </a:r>
            <a:endParaRPr/>
          </a:p>
        </p:txBody>
      </p:sp>
      <p:grpSp>
        <p:nvGrpSpPr>
          <p:cNvPr id="10663" name="Google Shape;10663;p135"/>
          <p:cNvGrpSpPr/>
          <p:nvPr/>
        </p:nvGrpSpPr>
        <p:grpSpPr>
          <a:xfrm>
            <a:off x="1656643" y="3166108"/>
            <a:ext cx="3481226" cy="584775"/>
            <a:chOff x="-792500" y="2796587"/>
            <a:chExt cx="3481672" cy="584044"/>
          </a:xfrm>
        </p:grpSpPr>
        <p:sp>
          <p:nvSpPr>
            <p:cNvPr id="10664" name="Google Shape;10664;p135"/>
            <p:cNvSpPr txBox="1"/>
            <p:nvPr/>
          </p:nvSpPr>
          <p:spPr>
            <a:xfrm>
              <a:off x="-792500" y="2796587"/>
              <a:ext cx="2888177" cy="5840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99"/>
                  </a:solidFill>
                  <a:latin typeface="Arial"/>
                  <a:ea typeface="Arial"/>
                  <a:cs typeface="Arial"/>
                  <a:sym typeface="Arial"/>
                </a:rPr>
                <a:t>create TCP socket for server, remote port 12000</a:t>
              </a:r>
              <a:endParaRPr/>
            </a:p>
          </p:txBody>
        </p:sp>
        <p:cxnSp>
          <p:nvCxnSpPr>
            <p:cNvPr id="10665" name="Google Shape;10665;p135"/>
            <p:cNvCxnSpPr/>
            <p:nvPr/>
          </p:nvCxnSpPr>
          <p:spPr>
            <a:xfrm>
              <a:off x="1961643" y="2959715"/>
              <a:ext cx="727529" cy="2721"/>
            </a:xfrm>
            <a:prstGeom prst="straightConnector1">
              <a:avLst/>
            </a:prstGeom>
            <a:noFill/>
            <a:ln cap="flat" cmpd="sng" w="12700">
              <a:solidFill>
                <a:srgbClr val="CC0000"/>
              </a:solidFill>
              <a:prstDash val="solid"/>
              <a:round/>
              <a:headEnd len="med" w="med" type="none"/>
              <a:tailEnd len="med" w="med" type="triangle"/>
            </a:ln>
          </p:spPr>
        </p:cxnSp>
      </p:grpSp>
      <p:sp>
        <p:nvSpPr>
          <p:cNvPr id="10666" name="Google Shape;10666;p135"/>
          <p:cNvSpPr/>
          <p:nvPr/>
        </p:nvSpPr>
        <p:spPr>
          <a:xfrm>
            <a:off x="8760541" y="2993923"/>
            <a:ext cx="2133599" cy="589517"/>
          </a:xfrm>
          <a:prstGeom prst="ellipse">
            <a:avLst/>
          </a:prstGeom>
          <a:noFill/>
          <a:ln cap="flat" cmpd="sng" w="19050">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grpSp>
        <p:nvGrpSpPr>
          <p:cNvPr id="10667" name="Google Shape;10667;p135"/>
          <p:cNvGrpSpPr/>
          <p:nvPr/>
        </p:nvGrpSpPr>
        <p:grpSpPr>
          <a:xfrm>
            <a:off x="970933" y="4616284"/>
            <a:ext cx="4182811" cy="338554"/>
            <a:chOff x="-1495096" y="3006031"/>
            <a:chExt cx="4184250" cy="337708"/>
          </a:xfrm>
        </p:grpSpPr>
        <p:sp>
          <p:nvSpPr>
            <p:cNvPr id="10668" name="Google Shape;10668;p135"/>
            <p:cNvSpPr txBox="1"/>
            <p:nvPr/>
          </p:nvSpPr>
          <p:spPr>
            <a:xfrm>
              <a:off x="-1495096" y="3006031"/>
              <a:ext cx="3779615" cy="3377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99"/>
                  </a:solidFill>
                  <a:latin typeface="Arial"/>
                  <a:ea typeface="Arial"/>
                  <a:cs typeface="Arial"/>
                  <a:sym typeface="Arial"/>
                </a:rPr>
                <a:t>No need to attach server name, port </a:t>
              </a:r>
              <a:endParaRPr/>
            </a:p>
          </p:txBody>
        </p:sp>
        <p:cxnSp>
          <p:nvCxnSpPr>
            <p:cNvPr id="10669" name="Google Shape;10669;p135"/>
            <p:cNvCxnSpPr/>
            <p:nvPr/>
          </p:nvCxnSpPr>
          <p:spPr>
            <a:xfrm>
              <a:off x="1961625" y="3165929"/>
              <a:ext cx="727529" cy="2721"/>
            </a:xfrm>
            <a:prstGeom prst="straightConnector1">
              <a:avLst/>
            </a:prstGeom>
            <a:noFill/>
            <a:ln cap="flat" cmpd="sng" w="12700">
              <a:solidFill>
                <a:srgbClr val="CC0000"/>
              </a:solidFill>
              <a:prstDash val="solid"/>
              <a:round/>
              <a:headEnd len="med" w="med" type="none"/>
              <a:tailEnd len="med" w="med" type="triangle"/>
            </a:ln>
          </p:spPr>
        </p:cxnSp>
      </p:grpSp>
      <p:sp>
        <p:nvSpPr>
          <p:cNvPr id="10670" name="Google Shape;10670;p1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63"/>
                                        </p:tgtEl>
                                        <p:attrNameLst>
                                          <p:attrName>style.visibility</p:attrName>
                                        </p:attrNameLst>
                                      </p:cBhvr>
                                      <p:to>
                                        <p:strVal val="visible"/>
                                      </p:to>
                                    </p:set>
                                    <p:animEffect filter="fade" transition="in">
                                      <p:cBhvr>
                                        <p:cTn dur="500"/>
                                        <p:tgtEl>
                                          <p:spTgt spid="10663"/>
                                        </p:tgtEl>
                                      </p:cBhvr>
                                    </p:animEffect>
                                  </p:childTnLst>
                                </p:cTn>
                              </p:par>
                              <p:par>
                                <p:cTn fill="hold" nodeType="withEffect" presetClass="entr" presetID="10" presetSubtype="0">
                                  <p:stCondLst>
                                    <p:cond delay="0"/>
                                  </p:stCondLst>
                                  <p:childTnLst>
                                    <p:set>
                                      <p:cBhvr>
                                        <p:cTn dur="1" fill="hold">
                                          <p:stCondLst>
                                            <p:cond delay="0"/>
                                          </p:stCondLst>
                                        </p:cTn>
                                        <p:tgtEl>
                                          <p:spTgt spid="10666"/>
                                        </p:tgtEl>
                                        <p:attrNameLst>
                                          <p:attrName>style.visibility</p:attrName>
                                        </p:attrNameLst>
                                      </p:cBhvr>
                                      <p:to>
                                        <p:strVal val="visible"/>
                                      </p:to>
                                    </p:set>
                                    <p:animEffect filter="fade" transition="in">
                                      <p:cBhvr>
                                        <p:cTn dur="500"/>
                                        <p:tgtEl>
                                          <p:spTgt spid="106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67"/>
                                        </p:tgtEl>
                                        <p:attrNameLst>
                                          <p:attrName>style.visibility</p:attrName>
                                        </p:attrNameLst>
                                      </p:cBhvr>
                                      <p:to>
                                        <p:strVal val="visible"/>
                                      </p:to>
                                    </p:set>
                                    <p:animEffect filter="fade" transition="in">
                                      <p:cBhvr>
                                        <p:cTn dur="500"/>
                                        <p:tgtEl>
                                          <p:spTgt spid="106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5" name="Shape 10675"/>
        <p:cNvGrpSpPr/>
        <p:nvPr/>
      </p:nvGrpSpPr>
      <p:grpSpPr>
        <a:xfrm>
          <a:off x="0" y="0"/>
          <a:ext cx="0" cy="0"/>
          <a:chOff x="0" y="0"/>
          <a:chExt cx="0" cy="0"/>
        </a:xfrm>
      </p:grpSpPr>
      <p:sp>
        <p:nvSpPr>
          <p:cNvPr id="10676" name="Google Shape;10676;p136"/>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9"/>
              </a:buClr>
              <a:buSzPct val="100000"/>
              <a:buFont typeface="Calibri"/>
              <a:buNone/>
            </a:pPr>
            <a:r>
              <a:rPr lang="en-US" sz="4400">
                <a:solidFill>
                  <a:srgbClr val="000099"/>
                </a:solidFill>
              </a:rPr>
              <a:t>Example app: TCP server </a:t>
            </a:r>
            <a:r>
              <a:rPr lang="en-US" sz="5400"/>
              <a:t>(Syllabus not covered)</a:t>
            </a:r>
            <a:endParaRPr sz="5400">
              <a:solidFill>
                <a:srgbClr val="000099"/>
              </a:solidFill>
            </a:endParaRPr>
          </a:p>
        </p:txBody>
      </p:sp>
      <p:sp>
        <p:nvSpPr>
          <p:cNvPr id="10677" name="Google Shape;10677;p136"/>
          <p:cNvSpPr txBox="1"/>
          <p:nvPr/>
        </p:nvSpPr>
        <p:spPr>
          <a:xfrm>
            <a:off x="5184060" y="1922450"/>
            <a:ext cx="6292850" cy="52006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 from socket import *</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serverPort = 12000</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serverSocket = socket(AF_INET,SOCK_STREAM)</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serverSocket.bind((‘’,serverPort))</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serverSocket.listen(1)</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print ‘The server is ready to receive’</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while True:</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connectionSocket, addr = serverSocket.accept()</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sentence = connectionSocket.recv(1024).decode()</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capitalizedSentence = sentence.upper()</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connectionSocket.send(capitalizedSentence.</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encode())</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connectionSocket.close()</a:t>
            </a:r>
            <a:endParaRPr sz="1800">
              <a:solidFill>
                <a:schemeClr val="dk1"/>
              </a:solidFill>
              <a:latin typeface="Arial"/>
              <a:ea typeface="Arial"/>
              <a:cs typeface="Arial"/>
              <a:sym typeface="Arial"/>
            </a:endParaRPr>
          </a:p>
        </p:txBody>
      </p:sp>
      <p:sp>
        <p:nvSpPr>
          <p:cNvPr id="10678" name="Google Shape;10678;p136"/>
          <p:cNvSpPr txBox="1"/>
          <p:nvPr/>
        </p:nvSpPr>
        <p:spPr>
          <a:xfrm>
            <a:off x="5184060" y="1439850"/>
            <a:ext cx="2827338"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CC0000"/>
                </a:solidFill>
                <a:latin typeface="Arial"/>
                <a:ea typeface="Arial"/>
                <a:cs typeface="Arial"/>
                <a:sym typeface="Arial"/>
              </a:rPr>
              <a:t>Python TCPServer</a:t>
            </a:r>
            <a:endParaRPr i="1" sz="2400">
              <a:solidFill>
                <a:srgbClr val="CC0000"/>
              </a:solidFill>
              <a:latin typeface="Arial"/>
              <a:ea typeface="Arial"/>
              <a:cs typeface="Arial"/>
              <a:sym typeface="Arial"/>
            </a:endParaRPr>
          </a:p>
        </p:txBody>
      </p:sp>
      <p:grpSp>
        <p:nvGrpSpPr>
          <p:cNvPr id="10679" name="Google Shape;10679;p136"/>
          <p:cNvGrpSpPr/>
          <p:nvPr/>
        </p:nvGrpSpPr>
        <p:grpSpPr>
          <a:xfrm>
            <a:off x="1724351" y="2556715"/>
            <a:ext cx="3374285" cy="338554"/>
            <a:chOff x="-749058" y="2414108"/>
            <a:chExt cx="3374330" cy="338257"/>
          </a:xfrm>
        </p:grpSpPr>
        <p:sp>
          <p:nvSpPr>
            <p:cNvPr id="10680" name="Google Shape;10680;p136"/>
            <p:cNvSpPr txBox="1"/>
            <p:nvPr/>
          </p:nvSpPr>
          <p:spPr>
            <a:xfrm>
              <a:off x="-749058" y="2414108"/>
              <a:ext cx="3062331" cy="3382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99"/>
                  </a:solidFill>
                  <a:latin typeface="Arial"/>
                  <a:ea typeface="Arial"/>
                  <a:cs typeface="Arial"/>
                  <a:sym typeface="Arial"/>
                </a:rPr>
                <a:t>create TCP welcoming socket</a:t>
              </a:r>
              <a:endParaRPr/>
            </a:p>
          </p:txBody>
        </p:sp>
        <p:cxnSp>
          <p:nvCxnSpPr>
            <p:cNvPr id="10681" name="Google Shape;10681;p136"/>
            <p:cNvCxnSpPr/>
            <p:nvPr/>
          </p:nvCxnSpPr>
          <p:spPr>
            <a:xfrm>
              <a:off x="2136730" y="2597150"/>
              <a:ext cx="488542" cy="0"/>
            </a:xfrm>
            <a:prstGeom prst="straightConnector1">
              <a:avLst/>
            </a:prstGeom>
            <a:noFill/>
            <a:ln cap="flat" cmpd="sng" w="12700">
              <a:solidFill>
                <a:srgbClr val="CC0000"/>
              </a:solidFill>
              <a:prstDash val="solid"/>
              <a:round/>
              <a:headEnd len="med" w="med" type="none"/>
              <a:tailEnd len="med" w="med" type="triangle"/>
            </a:ln>
          </p:spPr>
        </p:cxnSp>
      </p:grpSp>
      <p:grpSp>
        <p:nvGrpSpPr>
          <p:cNvPr id="10682" name="Google Shape;10682;p136"/>
          <p:cNvGrpSpPr/>
          <p:nvPr/>
        </p:nvGrpSpPr>
        <p:grpSpPr>
          <a:xfrm>
            <a:off x="2080634" y="3063061"/>
            <a:ext cx="3036870" cy="584775"/>
            <a:chOff x="-1667664" y="2908339"/>
            <a:chExt cx="4371910" cy="584044"/>
          </a:xfrm>
        </p:grpSpPr>
        <p:sp>
          <p:nvSpPr>
            <p:cNvPr id="10683" name="Google Shape;10683;p136"/>
            <p:cNvSpPr txBox="1"/>
            <p:nvPr/>
          </p:nvSpPr>
          <p:spPr>
            <a:xfrm>
              <a:off x="-1667664" y="2908339"/>
              <a:ext cx="4139198" cy="5840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99"/>
                  </a:solidFill>
                  <a:latin typeface="Arial"/>
                  <a:ea typeface="Arial"/>
                  <a:cs typeface="Arial"/>
                  <a:sym typeface="Arial"/>
                </a:rPr>
                <a:t>server begins listening for  incoming TCP requests</a:t>
              </a:r>
              <a:endParaRPr/>
            </a:p>
          </p:txBody>
        </p:sp>
        <p:cxnSp>
          <p:nvCxnSpPr>
            <p:cNvPr id="10684" name="Google Shape;10684;p136"/>
            <p:cNvCxnSpPr/>
            <p:nvPr/>
          </p:nvCxnSpPr>
          <p:spPr>
            <a:xfrm>
              <a:off x="1967825" y="3217286"/>
              <a:ext cx="736421" cy="0"/>
            </a:xfrm>
            <a:prstGeom prst="straightConnector1">
              <a:avLst/>
            </a:prstGeom>
            <a:noFill/>
            <a:ln cap="flat" cmpd="sng" w="12700">
              <a:solidFill>
                <a:srgbClr val="CC0000"/>
              </a:solidFill>
              <a:prstDash val="solid"/>
              <a:round/>
              <a:headEnd len="med" w="med" type="none"/>
              <a:tailEnd len="med" w="med" type="triangle"/>
            </a:ln>
          </p:spPr>
        </p:cxnSp>
      </p:grpSp>
      <p:grpSp>
        <p:nvGrpSpPr>
          <p:cNvPr id="10685" name="Google Shape;10685;p136"/>
          <p:cNvGrpSpPr/>
          <p:nvPr/>
        </p:nvGrpSpPr>
        <p:grpSpPr>
          <a:xfrm>
            <a:off x="3328500" y="3824136"/>
            <a:ext cx="1858624" cy="297517"/>
            <a:chOff x="905004" y="3819988"/>
            <a:chExt cx="1859872" cy="298292"/>
          </a:xfrm>
        </p:grpSpPr>
        <p:sp>
          <p:nvSpPr>
            <p:cNvPr id="10686" name="Google Shape;10686;p136"/>
            <p:cNvSpPr txBox="1"/>
            <p:nvPr/>
          </p:nvSpPr>
          <p:spPr>
            <a:xfrm>
              <a:off x="905004" y="3819988"/>
              <a:ext cx="1859872" cy="2982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1600">
                  <a:solidFill>
                    <a:srgbClr val="000099"/>
                  </a:solidFill>
                  <a:latin typeface="Arial"/>
                  <a:ea typeface="Arial"/>
                  <a:cs typeface="Arial"/>
                  <a:sym typeface="Arial"/>
                </a:rPr>
                <a:t>loop forever</a:t>
              </a:r>
              <a:endParaRPr/>
            </a:p>
          </p:txBody>
        </p:sp>
        <p:cxnSp>
          <p:nvCxnSpPr>
            <p:cNvPr id="10687" name="Google Shape;10687;p136"/>
            <p:cNvCxnSpPr/>
            <p:nvPr/>
          </p:nvCxnSpPr>
          <p:spPr>
            <a:xfrm>
              <a:off x="2187464" y="3964782"/>
              <a:ext cx="523192" cy="0"/>
            </a:xfrm>
            <a:prstGeom prst="straightConnector1">
              <a:avLst/>
            </a:prstGeom>
            <a:noFill/>
            <a:ln cap="flat" cmpd="sng" w="12700">
              <a:solidFill>
                <a:srgbClr val="CC0000"/>
              </a:solidFill>
              <a:prstDash val="solid"/>
              <a:round/>
              <a:headEnd len="med" w="med" type="none"/>
              <a:tailEnd len="med" w="med" type="triangle"/>
            </a:ln>
          </p:spPr>
        </p:cxnSp>
      </p:grpSp>
      <p:grpSp>
        <p:nvGrpSpPr>
          <p:cNvPr id="10688" name="Google Shape;10688;p136"/>
          <p:cNvGrpSpPr/>
          <p:nvPr/>
        </p:nvGrpSpPr>
        <p:grpSpPr>
          <a:xfrm>
            <a:off x="906051" y="4140995"/>
            <a:ext cx="4273089" cy="502702"/>
            <a:chOff x="-812680" y="4044670"/>
            <a:chExt cx="3634217" cy="502843"/>
          </a:xfrm>
        </p:grpSpPr>
        <p:sp>
          <p:nvSpPr>
            <p:cNvPr id="10689" name="Google Shape;10689;p136"/>
            <p:cNvSpPr txBox="1"/>
            <p:nvPr/>
          </p:nvSpPr>
          <p:spPr>
            <a:xfrm>
              <a:off x="-812680" y="4044670"/>
              <a:ext cx="3634217" cy="5028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1600">
                  <a:solidFill>
                    <a:srgbClr val="000099"/>
                  </a:solidFill>
                  <a:latin typeface="Arial"/>
                  <a:ea typeface="Arial"/>
                  <a:cs typeface="Arial"/>
                  <a:sym typeface="Arial"/>
                </a:rPr>
                <a:t>server waits on accept() for incoming requests, new socket created on return</a:t>
              </a:r>
              <a:endParaRPr/>
            </a:p>
          </p:txBody>
        </p:sp>
        <p:cxnSp>
          <p:nvCxnSpPr>
            <p:cNvPr id="10690" name="Google Shape;10690;p136"/>
            <p:cNvCxnSpPr/>
            <p:nvPr/>
          </p:nvCxnSpPr>
          <p:spPr>
            <a:xfrm>
              <a:off x="2337575" y="4188416"/>
              <a:ext cx="435213" cy="1"/>
            </a:xfrm>
            <a:prstGeom prst="straightConnector1">
              <a:avLst/>
            </a:prstGeom>
            <a:noFill/>
            <a:ln cap="flat" cmpd="sng" w="12700">
              <a:solidFill>
                <a:srgbClr val="CC0000"/>
              </a:solidFill>
              <a:prstDash val="solid"/>
              <a:round/>
              <a:headEnd len="med" w="med" type="none"/>
              <a:tailEnd len="med" w="med" type="triangle"/>
            </a:ln>
          </p:spPr>
        </p:cxnSp>
      </p:grpSp>
      <p:grpSp>
        <p:nvGrpSpPr>
          <p:cNvPr id="10691" name="Google Shape;10691;p136"/>
          <p:cNvGrpSpPr/>
          <p:nvPr/>
        </p:nvGrpSpPr>
        <p:grpSpPr>
          <a:xfrm>
            <a:off x="1951002" y="4771416"/>
            <a:ext cx="3154397" cy="584775"/>
            <a:chOff x="-463314" y="4140337"/>
            <a:chExt cx="3153124" cy="585085"/>
          </a:xfrm>
        </p:grpSpPr>
        <p:sp>
          <p:nvSpPr>
            <p:cNvPr id="10692" name="Google Shape;10692;p136"/>
            <p:cNvSpPr txBox="1"/>
            <p:nvPr/>
          </p:nvSpPr>
          <p:spPr>
            <a:xfrm>
              <a:off x="-463314" y="4140337"/>
              <a:ext cx="2746043" cy="5850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99"/>
                  </a:solidFill>
                  <a:latin typeface="Arial"/>
                  <a:ea typeface="Arial"/>
                  <a:cs typeface="Arial"/>
                  <a:sym typeface="Arial"/>
                </a:rPr>
                <a:t>read bytes from socket (but not address as in UDP)</a:t>
              </a:r>
              <a:endParaRPr/>
            </a:p>
          </p:txBody>
        </p:sp>
        <p:cxnSp>
          <p:nvCxnSpPr>
            <p:cNvPr id="10693" name="Google Shape;10693;p136"/>
            <p:cNvCxnSpPr/>
            <p:nvPr/>
          </p:nvCxnSpPr>
          <p:spPr>
            <a:xfrm>
              <a:off x="2194710" y="4288764"/>
              <a:ext cx="495100" cy="0"/>
            </a:xfrm>
            <a:prstGeom prst="straightConnector1">
              <a:avLst/>
            </a:prstGeom>
            <a:noFill/>
            <a:ln cap="flat" cmpd="sng" w="12700">
              <a:solidFill>
                <a:srgbClr val="CC0000"/>
              </a:solidFill>
              <a:prstDash val="solid"/>
              <a:round/>
              <a:headEnd len="med" w="med" type="none"/>
              <a:tailEnd len="med" w="med" type="triangle"/>
            </a:ln>
          </p:spPr>
        </p:cxnSp>
      </p:grpSp>
      <p:grpSp>
        <p:nvGrpSpPr>
          <p:cNvPr id="10694" name="Google Shape;10694;p136"/>
          <p:cNvGrpSpPr/>
          <p:nvPr/>
        </p:nvGrpSpPr>
        <p:grpSpPr>
          <a:xfrm>
            <a:off x="1026276" y="5902558"/>
            <a:ext cx="4079124" cy="584775"/>
            <a:chOff x="-1411416" y="4686923"/>
            <a:chExt cx="4079374" cy="585153"/>
          </a:xfrm>
        </p:grpSpPr>
        <p:sp>
          <p:nvSpPr>
            <p:cNvPr id="10695" name="Google Shape;10695;p136"/>
            <p:cNvSpPr txBox="1"/>
            <p:nvPr/>
          </p:nvSpPr>
          <p:spPr>
            <a:xfrm>
              <a:off x="-1411416" y="4686923"/>
              <a:ext cx="3902071" cy="58515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99"/>
                  </a:solidFill>
                  <a:latin typeface="Arial"/>
                  <a:ea typeface="Arial"/>
                  <a:cs typeface="Arial"/>
                  <a:sym typeface="Arial"/>
                </a:rPr>
                <a:t>close connection to this client (but </a:t>
              </a:r>
              <a:r>
                <a:rPr i="1" lang="en-US" sz="1600">
                  <a:solidFill>
                    <a:srgbClr val="000099"/>
                  </a:solidFill>
                  <a:latin typeface="Arial"/>
                  <a:ea typeface="Arial"/>
                  <a:cs typeface="Arial"/>
                  <a:sym typeface="Arial"/>
                </a:rPr>
                <a:t>not</a:t>
              </a:r>
              <a:r>
                <a:rPr lang="en-US" sz="1600">
                  <a:solidFill>
                    <a:srgbClr val="000099"/>
                  </a:solidFill>
                  <a:latin typeface="Arial"/>
                  <a:ea typeface="Arial"/>
                  <a:cs typeface="Arial"/>
                  <a:sym typeface="Arial"/>
                </a:rPr>
                <a:t> welcoming socket)</a:t>
              </a:r>
              <a:endParaRPr/>
            </a:p>
          </p:txBody>
        </p:sp>
        <p:cxnSp>
          <p:nvCxnSpPr>
            <p:cNvPr id="10696" name="Google Shape;10696;p136"/>
            <p:cNvCxnSpPr/>
            <p:nvPr/>
          </p:nvCxnSpPr>
          <p:spPr>
            <a:xfrm>
              <a:off x="2172628" y="4843734"/>
              <a:ext cx="495330" cy="0"/>
            </a:xfrm>
            <a:prstGeom prst="straightConnector1">
              <a:avLst/>
            </a:prstGeom>
            <a:noFill/>
            <a:ln cap="flat" cmpd="sng" w="12700">
              <a:solidFill>
                <a:srgbClr val="CC0000"/>
              </a:solidFill>
              <a:prstDash val="solid"/>
              <a:round/>
              <a:headEnd len="med" w="med" type="none"/>
              <a:tailEnd len="med" w="med" type="triangle"/>
            </a:ln>
          </p:spPr>
        </p:cxnSp>
      </p:grpSp>
      <p:sp>
        <p:nvSpPr>
          <p:cNvPr id="10697" name="Google Shape;10697;p1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79"/>
                                        </p:tgtEl>
                                        <p:attrNameLst>
                                          <p:attrName>style.visibility</p:attrName>
                                        </p:attrNameLst>
                                      </p:cBhvr>
                                      <p:to>
                                        <p:strVal val="visible"/>
                                      </p:to>
                                    </p:set>
                                    <p:animEffect filter="fade" transition="in">
                                      <p:cBhvr>
                                        <p:cTn dur="500"/>
                                        <p:tgtEl>
                                          <p:spTgt spid="106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679"/>
                                        </p:tgtEl>
                                      </p:cBhvr>
                                    </p:animEffect>
                                    <p:set>
                                      <p:cBhvr>
                                        <p:cTn dur="1" fill="hold">
                                          <p:stCondLst>
                                            <p:cond delay="500"/>
                                          </p:stCondLst>
                                        </p:cTn>
                                        <p:tgtEl>
                                          <p:spTgt spid="1067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682"/>
                                        </p:tgtEl>
                                        <p:attrNameLst>
                                          <p:attrName>style.visibility</p:attrName>
                                        </p:attrNameLst>
                                      </p:cBhvr>
                                      <p:to>
                                        <p:strVal val="visible"/>
                                      </p:to>
                                    </p:set>
                                    <p:animEffect filter="fade" transition="in">
                                      <p:cBhvr>
                                        <p:cTn dur="500"/>
                                        <p:tgtEl>
                                          <p:spTgt spid="106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682"/>
                                        </p:tgtEl>
                                      </p:cBhvr>
                                    </p:animEffect>
                                    <p:set>
                                      <p:cBhvr>
                                        <p:cTn dur="1" fill="hold">
                                          <p:stCondLst>
                                            <p:cond delay="500"/>
                                          </p:stCondLst>
                                        </p:cTn>
                                        <p:tgtEl>
                                          <p:spTgt spid="1068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685"/>
                                        </p:tgtEl>
                                        <p:attrNameLst>
                                          <p:attrName>style.visibility</p:attrName>
                                        </p:attrNameLst>
                                      </p:cBhvr>
                                      <p:to>
                                        <p:strVal val="visible"/>
                                      </p:to>
                                    </p:set>
                                    <p:animEffect filter="fade" transition="in">
                                      <p:cBhvr>
                                        <p:cTn dur="500"/>
                                        <p:tgtEl>
                                          <p:spTgt spid="106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685"/>
                                        </p:tgtEl>
                                      </p:cBhvr>
                                    </p:animEffect>
                                    <p:set>
                                      <p:cBhvr>
                                        <p:cTn dur="1" fill="hold">
                                          <p:stCondLst>
                                            <p:cond delay="500"/>
                                          </p:stCondLst>
                                        </p:cTn>
                                        <p:tgtEl>
                                          <p:spTgt spid="1068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688"/>
                                        </p:tgtEl>
                                        <p:attrNameLst>
                                          <p:attrName>style.visibility</p:attrName>
                                        </p:attrNameLst>
                                      </p:cBhvr>
                                      <p:to>
                                        <p:strVal val="visible"/>
                                      </p:to>
                                    </p:set>
                                    <p:animEffect filter="fade" transition="in">
                                      <p:cBhvr>
                                        <p:cTn dur="500"/>
                                        <p:tgtEl>
                                          <p:spTgt spid="106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688"/>
                                        </p:tgtEl>
                                      </p:cBhvr>
                                    </p:animEffect>
                                    <p:set>
                                      <p:cBhvr>
                                        <p:cTn dur="1" fill="hold">
                                          <p:stCondLst>
                                            <p:cond delay="500"/>
                                          </p:stCondLst>
                                        </p:cTn>
                                        <p:tgtEl>
                                          <p:spTgt spid="1068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691"/>
                                        </p:tgtEl>
                                        <p:attrNameLst>
                                          <p:attrName>style.visibility</p:attrName>
                                        </p:attrNameLst>
                                      </p:cBhvr>
                                      <p:to>
                                        <p:strVal val="visible"/>
                                      </p:to>
                                    </p:set>
                                    <p:animEffect filter="fade" transition="in">
                                      <p:cBhvr>
                                        <p:cTn dur="500"/>
                                        <p:tgtEl>
                                          <p:spTgt spid="106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691"/>
                                        </p:tgtEl>
                                      </p:cBhvr>
                                    </p:animEffect>
                                    <p:set>
                                      <p:cBhvr>
                                        <p:cTn dur="1" fill="hold">
                                          <p:stCondLst>
                                            <p:cond delay="500"/>
                                          </p:stCondLst>
                                        </p:cTn>
                                        <p:tgtEl>
                                          <p:spTgt spid="1069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694"/>
                                        </p:tgtEl>
                                        <p:attrNameLst>
                                          <p:attrName>style.visibility</p:attrName>
                                        </p:attrNameLst>
                                      </p:cBhvr>
                                      <p:to>
                                        <p:strVal val="visible"/>
                                      </p:to>
                                    </p:set>
                                    <p:animEffect filter="fade" transition="in">
                                      <p:cBhvr>
                                        <p:cTn dur="500"/>
                                        <p:tgtEl>
                                          <p:spTgt spid="106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2" name="Shape 10702"/>
        <p:cNvGrpSpPr/>
        <p:nvPr/>
      </p:nvGrpSpPr>
      <p:grpSpPr>
        <a:xfrm>
          <a:off x="0" y="0"/>
          <a:ext cx="0" cy="0"/>
          <a:chOff x="0" y="0"/>
          <a:chExt cx="0" cy="0"/>
        </a:xfrm>
      </p:grpSpPr>
      <p:sp>
        <p:nvSpPr>
          <p:cNvPr id="10703" name="Google Shape;10703;p13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99"/>
              </a:buClr>
              <a:buSzPts val="4400"/>
              <a:buFont typeface="Calibri"/>
              <a:buNone/>
            </a:pPr>
            <a:r>
              <a:rPr lang="en-US" sz="4400">
                <a:solidFill>
                  <a:srgbClr val="000099"/>
                </a:solidFill>
              </a:rPr>
              <a:t>Chapter 2: Summary</a:t>
            </a:r>
            <a:endParaRPr sz="5400">
              <a:solidFill>
                <a:srgbClr val="000099"/>
              </a:solidFill>
            </a:endParaRPr>
          </a:p>
        </p:txBody>
      </p:sp>
      <p:sp>
        <p:nvSpPr>
          <p:cNvPr id="10704" name="Google Shape;10704;p137"/>
          <p:cNvSpPr txBox="1"/>
          <p:nvPr>
            <p:ph idx="1" type="body"/>
          </p:nvPr>
        </p:nvSpPr>
        <p:spPr>
          <a:xfrm>
            <a:off x="838200" y="2094161"/>
            <a:ext cx="5710084" cy="4194034"/>
          </a:xfrm>
          <a:prstGeom prst="rect">
            <a:avLst/>
          </a:prstGeom>
          <a:noFill/>
          <a:ln>
            <a:noFill/>
          </a:ln>
        </p:spPr>
        <p:txBody>
          <a:bodyPr anchorCtr="0" anchor="t" bIns="45700" lIns="91425" spcFirstLastPara="1" rIns="91425" wrap="square" tIns="45700">
            <a:normAutofit/>
          </a:bodyPr>
          <a:lstStyle/>
          <a:p>
            <a:pPr indent="-287338" lvl="0" marL="287338" rtl="0" algn="l">
              <a:lnSpc>
                <a:spcPct val="90000"/>
              </a:lnSpc>
              <a:spcBef>
                <a:spcPts val="0"/>
              </a:spcBef>
              <a:spcAft>
                <a:spcPts val="0"/>
              </a:spcAft>
              <a:buSzPts val="2800"/>
              <a:buFont typeface="Noto Sans Symbols"/>
              <a:buChar char="▪"/>
            </a:pPr>
            <a:r>
              <a:rPr lang="en-US"/>
              <a:t>application architectures</a:t>
            </a:r>
            <a:endParaRPr/>
          </a:p>
          <a:p>
            <a:pPr indent="-223837" lvl="1" marL="681038" rtl="0" algn="l">
              <a:lnSpc>
                <a:spcPct val="90000"/>
              </a:lnSpc>
              <a:spcBef>
                <a:spcPts val="500"/>
              </a:spcBef>
              <a:spcAft>
                <a:spcPts val="0"/>
              </a:spcAft>
              <a:buSzPts val="2400"/>
              <a:buFont typeface="Arial"/>
              <a:buChar char="•"/>
            </a:pPr>
            <a:r>
              <a:rPr lang="en-US"/>
              <a:t>client-server</a:t>
            </a:r>
            <a:endParaRPr/>
          </a:p>
          <a:p>
            <a:pPr indent="-223837" lvl="1" marL="681038" rtl="0" algn="l">
              <a:lnSpc>
                <a:spcPct val="90000"/>
              </a:lnSpc>
              <a:spcBef>
                <a:spcPts val="500"/>
              </a:spcBef>
              <a:spcAft>
                <a:spcPts val="0"/>
              </a:spcAft>
              <a:buSzPts val="2400"/>
              <a:buFont typeface="Arial"/>
              <a:buChar char="•"/>
            </a:pPr>
            <a:r>
              <a:rPr lang="en-US"/>
              <a:t>P2P</a:t>
            </a:r>
            <a:endParaRPr/>
          </a:p>
          <a:p>
            <a:pPr indent="-287338" lvl="0" marL="287338" rtl="0" algn="l">
              <a:lnSpc>
                <a:spcPct val="90000"/>
              </a:lnSpc>
              <a:spcBef>
                <a:spcPts val="1000"/>
              </a:spcBef>
              <a:spcAft>
                <a:spcPts val="0"/>
              </a:spcAft>
              <a:buSzPts val="2800"/>
              <a:buFont typeface="Noto Sans Symbols"/>
              <a:buChar char="▪"/>
            </a:pPr>
            <a:r>
              <a:rPr lang="en-US"/>
              <a:t>application service requirements:</a:t>
            </a:r>
            <a:endParaRPr/>
          </a:p>
          <a:p>
            <a:pPr indent="-228600" lvl="1" marL="682625" rtl="0" algn="l">
              <a:lnSpc>
                <a:spcPct val="90000"/>
              </a:lnSpc>
              <a:spcBef>
                <a:spcPts val="500"/>
              </a:spcBef>
              <a:spcAft>
                <a:spcPts val="0"/>
              </a:spcAft>
              <a:buSzPts val="2400"/>
              <a:buFont typeface="Arial"/>
              <a:buChar char="•"/>
            </a:pPr>
            <a:r>
              <a:rPr lang="en-US"/>
              <a:t>reliability, bandwidth, delay</a:t>
            </a:r>
            <a:endParaRPr/>
          </a:p>
          <a:p>
            <a:pPr indent="-287338" lvl="0" marL="287338" rtl="0" algn="l">
              <a:lnSpc>
                <a:spcPct val="90000"/>
              </a:lnSpc>
              <a:spcBef>
                <a:spcPts val="1000"/>
              </a:spcBef>
              <a:spcAft>
                <a:spcPts val="0"/>
              </a:spcAft>
              <a:buSzPts val="2800"/>
              <a:buFont typeface="Noto Sans Symbols"/>
              <a:buChar char="▪"/>
            </a:pPr>
            <a:r>
              <a:rPr lang="en-US"/>
              <a:t>Internet transport service model</a:t>
            </a:r>
            <a:endParaRPr/>
          </a:p>
          <a:p>
            <a:pPr indent="-223837" lvl="1" marL="681038" rtl="0" algn="l">
              <a:lnSpc>
                <a:spcPct val="90000"/>
              </a:lnSpc>
              <a:spcBef>
                <a:spcPts val="500"/>
              </a:spcBef>
              <a:spcAft>
                <a:spcPts val="0"/>
              </a:spcAft>
              <a:buSzPts val="2400"/>
              <a:buFont typeface="Arial"/>
              <a:buChar char="•"/>
            </a:pPr>
            <a:r>
              <a:rPr lang="en-US"/>
              <a:t>connection-oriented, reliable: TCP</a:t>
            </a:r>
            <a:endParaRPr/>
          </a:p>
          <a:p>
            <a:pPr indent="-223837" lvl="1" marL="681038" rtl="0" algn="l">
              <a:lnSpc>
                <a:spcPct val="90000"/>
              </a:lnSpc>
              <a:spcBef>
                <a:spcPts val="500"/>
              </a:spcBef>
              <a:spcAft>
                <a:spcPts val="0"/>
              </a:spcAft>
              <a:buSzPts val="2400"/>
              <a:buFont typeface="Arial"/>
              <a:buChar char="•"/>
            </a:pPr>
            <a:r>
              <a:rPr lang="en-US"/>
              <a:t>unreliable, datagrams: UDP</a:t>
            </a:r>
            <a:endParaRPr sz="2000"/>
          </a:p>
        </p:txBody>
      </p:sp>
      <p:sp>
        <p:nvSpPr>
          <p:cNvPr id="10705" name="Google Shape;10705;p137"/>
          <p:cNvSpPr txBox="1"/>
          <p:nvPr/>
        </p:nvSpPr>
        <p:spPr>
          <a:xfrm>
            <a:off x="704849" y="1392072"/>
            <a:ext cx="10208957" cy="676275"/>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our study of network application layer is now complete!</a:t>
            </a:r>
            <a:endParaRPr/>
          </a:p>
        </p:txBody>
      </p:sp>
      <p:sp>
        <p:nvSpPr>
          <p:cNvPr id="10706" name="Google Shape;10706;p137"/>
          <p:cNvSpPr/>
          <p:nvPr/>
        </p:nvSpPr>
        <p:spPr>
          <a:xfrm>
            <a:off x="7310006" y="2054984"/>
            <a:ext cx="4652810" cy="3676650"/>
          </a:xfrm>
          <a:prstGeom prst="rect">
            <a:avLst/>
          </a:prstGeom>
          <a:noFill/>
          <a:ln>
            <a:noFill/>
          </a:ln>
        </p:spPr>
        <p:txBody>
          <a:bodyPr anchorCtr="0" anchor="t" bIns="45700" lIns="91425" spcFirstLastPara="1" rIns="91425" wrap="square" tIns="45700">
            <a:noAutofit/>
          </a:bodyPr>
          <a:lstStyle/>
          <a:p>
            <a:pPr indent="-287338" lvl="0" marL="287338" marR="0" rtl="0" algn="l">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specific protocols:</a:t>
            </a:r>
            <a:endParaRPr/>
          </a:p>
          <a:p>
            <a:pPr indent="-223837" lvl="1" marL="681038" marR="0" rtl="0" algn="l">
              <a:spcBef>
                <a:spcPts val="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HTTP</a:t>
            </a:r>
            <a:endParaRPr/>
          </a:p>
          <a:p>
            <a:pPr indent="-223837" lvl="1" marL="681038" marR="0" rtl="0" algn="l">
              <a:spcBef>
                <a:spcPts val="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SMTP, IMAP</a:t>
            </a:r>
            <a:endParaRPr/>
          </a:p>
          <a:p>
            <a:pPr indent="-223837" lvl="1" marL="681038" marR="0" rtl="0" algn="l">
              <a:spcBef>
                <a:spcPts val="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DNS</a:t>
            </a:r>
            <a:endParaRPr/>
          </a:p>
          <a:p>
            <a:pPr indent="-223837" lvl="1" marL="681038" marR="0" rtl="0" algn="l">
              <a:spcBef>
                <a:spcPts val="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P2P: BitTorrent</a:t>
            </a:r>
            <a:endParaRPr/>
          </a:p>
          <a:p>
            <a:pPr indent="-287338" lvl="0" marL="287338" marR="0" rtl="0" algn="l">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video streaming, CDNs</a:t>
            </a:r>
            <a:endParaRPr/>
          </a:p>
          <a:p>
            <a:pPr indent="-287338" lvl="0" marL="287338" marR="0" rtl="0" algn="l">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socket programming: </a:t>
            </a:r>
            <a:endParaRPr/>
          </a:p>
          <a:p>
            <a:pPr indent="0" lvl="0" marL="0" marR="0" rtl="0" algn="l">
              <a:spcBef>
                <a:spcPts val="0"/>
              </a:spcBef>
              <a:spcAft>
                <a:spcPts val="0"/>
              </a:spcAft>
              <a:buClr>
                <a:srgbClr val="000099"/>
              </a:buClr>
              <a:buSzPts val="2800"/>
              <a:buFont typeface="Arial"/>
              <a:buNone/>
            </a:pPr>
            <a:r>
              <a:rPr lang="en-US" sz="2800">
                <a:solidFill>
                  <a:srgbClr val="000000"/>
                </a:solidFill>
                <a:latin typeface="Calibri"/>
                <a:ea typeface="Calibri"/>
                <a:cs typeface="Calibri"/>
                <a:sym typeface="Calibri"/>
              </a:rPr>
              <a:t>    TCP, UDP sockets</a:t>
            </a:r>
            <a:endParaRPr/>
          </a:p>
        </p:txBody>
      </p:sp>
      <p:sp>
        <p:nvSpPr>
          <p:cNvPr id="10707" name="Google Shape;10707;p1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2" name="Shape 10712"/>
        <p:cNvGrpSpPr/>
        <p:nvPr/>
      </p:nvGrpSpPr>
      <p:grpSpPr>
        <a:xfrm>
          <a:off x="0" y="0"/>
          <a:ext cx="0" cy="0"/>
          <a:chOff x="0" y="0"/>
          <a:chExt cx="0" cy="0"/>
        </a:xfrm>
      </p:grpSpPr>
      <p:sp>
        <p:nvSpPr>
          <p:cNvPr id="10713" name="Google Shape;10713;p13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99"/>
              </a:buClr>
              <a:buSzPts val="4400"/>
              <a:buFont typeface="Calibri"/>
              <a:buNone/>
            </a:pPr>
            <a:r>
              <a:rPr lang="en-US" sz="4400">
                <a:solidFill>
                  <a:srgbClr val="000099"/>
                </a:solidFill>
              </a:rPr>
              <a:t>Chapter 2: Summary</a:t>
            </a:r>
            <a:endParaRPr sz="5400">
              <a:solidFill>
                <a:srgbClr val="000099"/>
              </a:solidFill>
            </a:endParaRPr>
          </a:p>
        </p:txBody>
      </p:sp>
      <p:sp>
        <p:nvSpPr>
          <p:cNvPr id="10714" name="Google Shape;10714;p138"/>
          <p:cNvSpPr txBox="1"/>
          <p:nvPr/>
        </p:nvSpPr>
        <p:spPr>
          <a:xfrm>
            <a:off x="704849" y="1392072"/>
            <a:ext cx="10208957" cy="676275"/>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Most importantly: learned about </a:t>
            </a:r>
            <a:r>
              <a:rPr i="1" lang="en-US" sz="3200">
                <a:solidFill>
                  <a:srgbClr val="CC0000"/>
                </a:solidFill>
                <a:latin typeface="Calibri"/>
                <a:ea typeface="Calibri"/>
                <a:cs typeface="Calibri"/>
                <a:sym typeface="Calibri"/>
              </a:rPr>
              <a:t>protocols</a:t>
            </a:r>
            <a:r>
              <a:rPr lang="en-US" sz="3200">
                <a:solidFill>
                  <a:srgbClr val="CC0000"/>
                </a:solidFill>
                <a:latin typeface="Calibri"/>
                <a:ea typeface="Calibri"/>
                <a:cs typeface="Calibri"/>
                <a:sym typeface="Calibri"/>
              </a:rPr>
              <a:t>!</a:t>
            </a:r>
            <a:endParaRPr/>
          </a:p>
        </p:txBody>
      </p:sp>
      <p:sp>
        <p:nvSpPr>
          <p:cNvPr id="10715" name="Google Shape;10715;p138"/>
          <p:cNvSpPr txBox="1"/>
          <p:nvPr>
            <p:ph idx="1" type="body"/>
          </p:nvPr>
        </p:nvSpPr>
        <p:spPr>
          <a:xfrm>
            <a:off x="838200" y="2069589"/>
            <a:ext cx="5695335" cy="4351338"/>
          </a:xfrm>
          <a:prstGeom prst="rect">
            <a:avLst/>
          </a:prstGeom>
          <a:noFill/>
          <a:ln>
            <a:noFill/>
          </a:ln>
        </p:spPr>
        <p:txBody>
          <a:bodyPr anchorCtr="0" anchor="t" bIns="45700" lIns="91425" spcFirstLastPara="1" rIns="91425" wrap="square" tIns="45700">
            <a:normAutofit/>
          </a:bodyPr>
          <a:lstStyle/>
          <a:p>
            <a:pPr indent="-287338" lvl="0" marL="287338" rtl="0" algn="l">
              <a:lnSpc>
                <a:spcPct val="90000"/>
              </a:lnSpc>
              <a:spcBef>
                <a:spcPts val="0"/>
              </a:spcBef>
              <a:spcAft>
                <a:spcPts val="0"/>
              </a:spcAft>
              <a:buSzPts val="2800"/>
              <a:buChar char="▪"/>
            </a:pPr>
            <a:r>
              <a:rPr lang="en-US"/>
              <a:t>typical request/reply message exchange:</a:t>
            </a:r>
            <a:endParaRPr/>
          </a:p>
          <a:p>
            <a:pPr indent="-223837" lvl="1" marL="681038" rtl="0" algn="l">
              <a:lnSpc>
                <a:spcPct val="90000"/>
              </a:lnSpc>
              <a:spcBef>
                <a:spcPts val="500"/>
              </a:spcBef>
              <a:spcAft>
                <a:spcPts val="0"/>
              </a:spcAft>
              <a:buSzPts val="2400"/>
              <a:buChar char="•"/>
            </a:pPr>
            <a:r>
              <a:rPr lang="en-US"/>
              <a:t>client requests info or service</a:t>
            </a:r>
            <a:endParaRPr/>
          </a:p>
          <a:p>
            <a:pPr indent="-223837" lvl="1" marL="681038" rtl="0" algn="l">
              <a:lnSpc>
                <a:spcPct val="90000"/>
              </a:lnSpc>
              <a:spcBef>
                <a:spcPts val="500"/>
              </a:spcBef>
              <a:spcAft>
                <a:spcPts val="0"/>
              </a:spcAft>
              <a:buSzPts val="2400"/>
              <a:buChar char="•"/>
            </a:pPr>
            <a:r>
              <a:rPr lang="en-US"/>
              <a:t>server responds with data, status code</a:t>
            </a:r>
            <a:endParaRPr/>
          </a:p>
          <a:p>
            <a:pPr indent="-287338" lvl="0" marL="287338" rtl="0" algn="l">
              <a:lnSpc>
                <a:spcPct val="90000"/>
              </a:lnSpc>
              <a:spcBef>
                <a:spcPts val="1000"/>
              </a:spcBef>
              <a:spcAft>
                <a:spcPts val="0"/>
              </a:spcAft>
              <a:buSzPts val="2800"/>
              <a:buChar char="▪"/>
            </a:pPr>
            <a:r>
              <a:rPr lang="en-US"/>
              <a:t>message formats:</a:t>
            </a:r>
            <a:endParaRPr/>
          </a:p>
          <a:p>
            <a:pPr indent="-223837" lvl="1" marL="681038" rtl="0" algn="l">
              <a:lnSpc>
                <a:spcPct val="90000"/>
              </a:lnSpc>
              <a:spcBef>
                <a:spcPts val="500"/>
              </a:spcBef>
              <a:spcAft>
                <a:spcPts val="0"/>
              </a:spcAft>
              <a:buSzPts val="2400"/>
              <a:buChar char="•"/>
            </a:pPr>
            <a:r>
              <a:rPr i="1" lang="en-US">
                <a:solidFill>
                  <a:srgbClr val="000090"/>
                </a:solidFill>
              </a:rPr>
              <a:t>headers</a:t>
            </a:r>
            <a:r>
              <a:rPr lang="en-US"/>
              <a:t>: fields giving info about data</a:t>
            </a:r>
            <a:endParaRPr/>
          </a:p>
          <a:p>
            <a:pPr indent="-223837" lvl="1" marL="681038" rtl="0" algn="l">
              <a:lnSpc>
                <a:spcPct val="90000"/>
              </a:lnSpc>
              <a:spcBef>
                <a:spcPts val="500"/>
              </a:spcBef>
              <a:spcAft>
                <a:spcPts val="0"/>
              </a:spcAft>
              <a:buSzPts val="2400"/>
              <a:buChar char="•"/>
            </a:pPr>
            <a:r>
              <a:rPr i="1" lang="en-US">
                <a:solidFill>
                  <a:srgbClr val="000090"/>
                </a:solidFill>
              </a:rPr>
              <a:t>data: </a:t>
            </a:r>
            <a:r>
              <a:rPr lang="en-US"/>
              <a:t>info(payload)  being communicated</a:t>
            </a:r>
            <a:endParaRPr/>
          </a:p>
        </p:txBody>
      </p:sp>
      <p:sp>
        <p:nvSpPr>
          <p:cNvPr id="10716" name="Google Shape;10716;p138"/>
          <p:cNvSpPr/>
          <p:nvPr/>
        </p:nvSpPr>
        <p:spPr>
          <a:xfrm>
            <a:off x="6832343" y="2015039"/>
            <a:ext cx="4654808" cy="3676650"/>
          </a:xfrm>
          <a:prstGeom prst="rect">
            <a:avLst/>
          </a:prstGeom>
          <a:noFill/>
          <a:ln>
            <a:noFill/>
          </a:ln>
        </p:spPr>
        <p:txBody>
          <a:bodyPr anchorCtr="0" anchor="t" bIns="45700" lIns="91425" spcFirstLastPara="1" rIns="91425" wrap="square" tIns="45700">
            <a:noAutofit/>
          </a:bodyPr>
          <a:lstStyle/>
          <a:p>
            <a:pPr indent="-227013" lvl="0" marL="227013" marR="0" rtl="0" algn="l">
              <a:spcBef>
                <a:spcPts val="0"/>
              </a:spcBef>
              <a:spcAft>
                <a:spcPts val="0"/>
              </a:spcAft>
              <a:buNone/>
            </a:pPr>
            <a:r>
              <a:rPr lang="en-US" sz="2800">
                <a:solidFill>
                  <a:srgbClr val="CC0000"/>
                </a:solidFill>
                <a:latin typeface="Calibri"/>
                <a:ea typeface="Calibri"/>
                <a:cs typeface="Calibri"/>
                <a:sym typeface="Calibri"/>
              </a:rPr>
              <a:t>important themes:</a:t>
            </a:r>
            <a:r>
              <a:rPr lang="en-US" sz="2400">
                <a:solidFill>
                  <a:srgbClr val="FF3300"/>
                </a:solidFill>
                <a:latin typeface="Calibri"/>
                <a:ea typeface="Calibri"/>
                <a:cs typeface="Calibri"/>
                <a:sym typeface="Calibri"/>
              </a:rPr>
              <a:t> </a:t>
            </a:r>
            <a:endParaRPr/>
          </a:p>
          <a:p>
            <a:pPr indent="-219075" lvl="0" marL="349250" marR="0" rtl="0" algn="l">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centralized vs. decentralized </a:t>
            </a:r>
            <a:endParaRPr/>
          </a:p>
          <a:p>
            <a:pPr indent="-219075" lvl="0" marL="349250" marR="0" rtl="0" algn="l">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stateless vs. stateful</a:t>
            </a:r>
            <a:endParaRPr/>
          </a:p>
          <a:p>
            <a:pPr indent="-219075" lvl="0" marL="349250" marR="0" rtl="0" algn="l">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scalability</a:t>
            </a:r>
            <a:endParaRPr/>
          </a:p>
          <a:p>
            <a:pPr indent="-219075" lvl="0" marL="349250" marR="0" rtl="0" algn="l">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reliable vs. unreliable message transfer </a:t>
            </a:r>
            <a:endParaRPr/>
          </a:p>
          <a:p>
            <a:pPr indent="-219075" lvl="0" marL="349250" marR="0" rtl="0" algn="l">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“complexity at network edge”</a:t>
            </a:r>
            <a:endParaRPr sz="2800">
              <a:solidFill>
                <a:srgbClr val="000000"/>
              </a:solidFill>
              <a:latin typeface="Calibri"/>
              <a:ea typeface="Calibri"/>
              <a:cs typeface="Calibri"/>
              <a:sym typeface="Calibri"/>
            </a:endParaRPr>
          </a:p>
        </p:txBody>
      </p:sp>
      <p:sp>
        <p:nvSpPr>
          <p:cNvPr id="10717" name="Google Shape;10717;p1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2" name="Shape 10722"/>
        <p:cNvGrpSpPr/>
        <p:nvPr/>
      </p:nvGrpSpPr>
      <p:grpSpPr>
        <a:xfrm>
          <a:off x="0" y="0"/>
          <a:ext cx="0" cy="0"/>
          <a:chOff x="0" y="0"/>
          <a:chExt cx="0" cy="0"/>
        </a:xfrm>
      </p:grpSpPr>
      <p:sp>
        <p:nvSpPr>
          <p:cNvPr id="10723" name="Google Shape;10723;p1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Application Layer: 2-</a:t>
            </a:r>
            <a:fld id="{00000000-1234-1234-1234-123412341234}" type="slidenum">
              <a:rPr lang="en-US"/>
              <a:t>‹#›</a:t>
            </a:fld>
            <a:endParaRPr/>
          </a:p>
        </p:txBody>
      </p:sp>
      <p:sp>
        <p:nvSpPr>
          <p:cNvPr id="10724" name="Google Shape;10724;p139"/>
          <p:cNvSpPr txBox="1"/>
          <p:nvPr>
            <p:ph type="title"/>
          </p:nvPr>
        </p:nvSpPr>
        <p:spPr>
          <a:xfrm>
            <a:off x="838200" y="2981689"/>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A3"/>
              </a:buClr>
              <a:buSzPts val="4400"/>
              <a:buFont typeface="Calibri"/>
              <a:buNone/>
            </a:pPr>
            <a:r>
              <a:rPr lang="en-US" sz="4400"/>
              <a:t>Additional Chapter 2 slides</a:t>
            </a:r>
            <a:endParaRPr sz="44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2020-01-18T07:24:59Z</dcterms:created>
  <dc:creator>James Kurose</dc:creator>
</cp:coreProperties>
</file>