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Lst>
  <p:sldSz cy="6858000" cx="12192000"/>
  <p:notesSz cx="6858000" cy="9144000"/>
  <p:embeddedFontLst>
    <p:embeddedFont>
      <p:font typeface="Arial Narrow"/>
      <p:regular r:id="rId201"/>
      <p:bold r:id="rId202"/>
      <p:italic r:id="rId203"/>
      <p:boldItalic r:id="rId204"/>
    </p:embeddedFont>
    <p:embeddedFont>
      <p:font typeface="Tahoma"/>
      <p:regular r:id="rId205"/>
      <p:bold r:id="rId206"/>
    </p:embeddedFont>
    <p:embeddedFont>
      <p:font typeface="Noto Sans Symbols"/>
      <p:regular r:id="rId207"/>
      <p:bold r:id="rId208"/>
    </p:embeddedFont>
    <p:embeddedFont>
      <p:font typeface="Gill Sans"/>
      <p:regular r:id="rId209"/>
      <p:bold r:id="rId2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1" roundtripDataSignature="AMtx7mjSlbTG29hBUm5gjBRBrd2Bd/TT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A801659-9FE2-4FBA-BB42-B8B3FDABCD59}">
  <a:tblStyle styleId="{6A801659-9FE2-4FBA-BB42-B8B3FDABCD59}" styleName="Table_0">
    <a:wholeTbl>
      <a:tcTxStyle b="off" i="off">
        <a:font>
          <a:latin typeface="Gill Sans MT"/>
          <a:ea typeface="Gill Sans MT"/>
          <a:cs typeface="Gill Sans M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F6EF"/>
          </a:solidFill>
        </a:fill>
      </a:tcStyle>
    </a:wholeTbl>
    <a:band1H>
      <a:tcTxStyle/>
      <a:tcStyle>
        <a:fill>
          <a:solidFill>
            <a:srgbClr val="CAECDD"/>
          </a:solidFill>
        </a:fill>
      </a:tcStyle>
    </a:band1H>
    <a:band2H>
      <a:tcTxStyle/>
    </a:band2H>
    <a:band1V>
      <a:tcTxStyle/>
      <a:tcStyle>
        <a:fill>
          <a:solidFill>
            <a:srgbClr val="CAECDD"/>
          </a:solidFill>
        </a:fill>
      </a:tcStyle>
    </a:band1V>
    <a:band2V>
      <a:tcTxStyle/>
    </a:band2V>
    <a:lastCol>
      <a:tcTxStyle b="on" i="off">
        <a:font>
          <a:latin typeface="Gill Sans MT"/>
          <a:ea typeface="Gill Sans MT"/>
          <a:cs typeface="Gill Sans MT"/>
        </a:font>
        <a:schemeClr val="lt1"/>
      </a:tcTxStyle>
      <a:tcStyle>
        <a:fill>
          <a:solidFill>
            <a:schemeClr val="accent1"/>
          </a:solidFill>
        </a:fill>
      </a:tcStyle>
    </a:lastCol>
    <a:firstCol>
      <a:tcTxStyle b="on" i="off">
        <a:font>
          <a:latin typeface="Gill Sans MT"/>
          <a:ea typeface="Gill Sans MT"/>
          <a:cs typeface="Gill Sans MT"/>
        </a:font>
        <a:schemeClr val="lt1"/>
      </a:tcTxStyle>
      <a:tcStyle>
        <a:fill>
          <a:solidFill>
            <a:schemeClr val="accent1"/>
          </a:solidFill>
        </a:fill>
      </a:tcStyle>
    </a:firstCol>
    <a:lastRow>
      <a:tcTxStyle b="on" i="off">
        <a:font>
          <a:latin typeface="Gill Sans MT"/>
          <a:ea typeface="Gill Sans MT"/>
          <a:cs typeface="Gill Sans MT"/>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Gill Sans MT"/>
          <a:ea typeface="Gill Sans MT"/>
          <a:cs typeface="Gill Sans MT"/>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C3E26C75-72DA-4143-825E-67AC7ED1B077}"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190" Type="http://schemas.openxmlformats.org/officeDocument/2006/relationships/slide" Target="slides/slide18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194" Type="http://schemas.openxmlformats.org/officeDocument/2006/relationships/slide" Target="slides/slide188.xml"/><Relationship Id="rId43" Type="http://schemas.openxmlformats.org/officeDocument/2006/relationships/slide" Target="slides/slide37.xml"/><Relationship Id="rId193" Type="http://schemas.openxmlformats.org/officeDocument/2006/relationships/slide" Target="slides/slide187.xml"/><Relationship Id="rId46" Type="http://schemas.openxmlformats.org/officeDocument/2006/relationships/slide" Target="slides/slide40.xml"/><Relationship Id="rId192" Type="http://schemas.openxmlformats.org/officeDocument/2006/relationships/slide" Target="slides/slide186.xml"/><Relationship Id="rId45" Type="http://schemas.openxmlformats.org/officeDocument/2006/relationships/slide" Target="slides/slide39.xml"/><Relationship Id="rId191" Type="http://schemas.openxmlformats.org/officeDocument/2006/relationships/slide" Target="slides/slide185.xml"/><Relationship Id="rId48" Type="http://schemas.openxmlformats.org/officeDocument/2006/relationships/slide" Target="slides/slide42.xml"/><Relationship Id="rId187" Type="http://schemas.openxmlformats.org/officeDocument/2006/relationships/slide" Target="slides/slide181.xml"/><Relationship Id="rId47" Type="http://schemas.openxmlformats.org/officeDocument/2006/relationships/slide" Target="slides/slide41.xml"/><Relationship Id="rId186" Type="http://schemas.openxmlformats.org/officeDocument/2006/relationships/slide" Target="slides/slide180.xml"/><Relationship Id="rId185" Type="http://schemas.openxmlformats.org/officeDocument/2006/relationships/slide" Target="slides/slide179.xml"/><Relationship Id="rId49" Type="http://schemas.openxmlformats.org/officeDocument/2006/relationships/slide" Target="slides/slide43.xml"/><Relationship Id="rId184" Type="http://schemas.openxmlformats.org/officeDocument/2006/relationships/slide" Target="slides/slide178.xml"/><Relationship Id="rId189" Type="http://schemas.openxmlformats.org/officeDocument/2006/relationships/slide" Target="slides/slide183.xml"/><Relationship Id="rId188" Type="http://schemas.openxmlformats.org/officeDocument/2006/relationships/slide" Target="slides/slide18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183" Type="http://schemas.openxmlformats.org/officeDocument/2006/relationships/slide" Target="slides/slide177.xml"/><Relationship Id="rId32" Type="http://schemas.openxmlformats.org/officeDocument/2006/relationships/slide" Target="slides/slide26.xml"/><Relationship Id="rId182" Type="http://schemas.openxmlformats.org/officeDocument/2006/relationships/slide" Target="slides/slide176.xml"/><Relationship Id="rId35" Type="http://schemas.openxmlformats.org/officeDocument/2006/relationships/slide" Target="slides/slide29.xml"/><Relationship Id="rId181" Type="http://schemas.openxmlformats.org/officeDocument/2006/relationships/slide" Target="slides/slide175.xml"/><Relationship Id="rId34" Type="http://schemas.openxmlformats.org/officeDocument/2006/relationships/slide" Target="slides/slide28.xml"/><Relationship Id="rId180" Type="http://schemas.openxmlformats.org/officeDocument/2006/relationships/slide" Target="slides/slide174.xml"/><Relationship Id="rId37" Type="http://schemas.openxmlformats.org/officeDocument/2006/relationships/slide" Target="slides/slide31.xml"/><Relationship Id="rId176" Type="http://schemas.openxmlformats.org/officeDocument/2006/relationships/slide" Target="slides/slide170.xml"/><Relationship Id="rId36" Type="http://schemas.openxmlformats.org/officeDocument/2006/relationships/slide" Target="slides/slide30.xml"/><Relationship Id="rId175" Type="http://schemas.openxmlformats.org/officeDocument/2006/relationships/slide" Target="slides/slide169.xml"/><Relationship Id="rId39" Type="http://schemas.openxmlformats.org/officeDocument/2006/relationships/slide" Target="slides/slide33.xml"/><Relationship Id="rId174" Type="http://schemas.openxmlformats.org/officeDocument/2006/relationships/slide" Target="slides/slide168.xml"/><Relationship Id="rId38" Type="http://schemas.openxmlformats.org/officeDocument/2006/relationships/slide" Target="slides/slide32.xml"/><Relationship Id="rId173" Type="http://schemas.openxmlformats.org/officeDocument/2006/relationships/slide" Target="slides/slide167.xml"/><Relationship Id="rId179" Type="http://schemas.openxmlformats.org/officeDocument/2006/relationships/slide" Target="slides/slide173.xml"/><Relationship Id="rId178" Type="http://schemas.openxmlformats.org/officeDocument/2006/relationships/slide" Target="slides/slide172.xml"/><Relationship Id="rId177" Type="http://schemas.openxmlformats.org/officeDocument/2006/relationships/slide" Target="slides/slide171.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98" Type="http://schemas.openxmlformats.org/officeDocument/2006/relationships/slide" Target="slides/slide192.xml"/><Relationship Id="rId14" Type="http://schemas.openxmlformats.org/officeDocument/2006/relationships/slide" Target="slides/slide8.xml"/><Relationship Id="rId197" Type="http://schemas.openxmlformats.org/officeDocument/2006/relationships/slide" Target="slides/slide191.xml"/><Relationship Id="rId17" Type="http://schemas.openxmlformats.org/officeDocument/2006/relationships/slide" Target="slides/slide11.xml"/><Relationship Id="rId196" Type="http://schemas.openxmlformats.org/officeDocument/2006/relationships/slide" Target="slides/slide190.xml"/><Relationship Id="rId16" Type="http://schemas.openxmlformats.org/officeDocument/2006/relationships/slide" Target="slides/slide10.xml"/><Relationship Id="rId195" Type="http://schemas.openxmlformats.org/officeDocument/2006/relationships/slide" Target="slides/slide189.xml"/><Relationship Id="rId19" Type="http://schemas.openxmlformats.org/officeDocument/2006/relationships/slide" Target="slides/slide13.xml"/><Relationship Id="rId18" Type="http://schemas.openxmlformats.org/officeDocument/2006/relationships/slide" Target="slides/slide12.xml"/><Relationship Id="rId199" Type="http://schemas.openxmlformats.org/officeDocument/2006/relationships/slide" Target="slides/slide193.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149" Type="http://schemas.openxmlformats.org/officeDocument/2006/relationships/slide" Target="slides/slide143.xml"/><Relationship Id="rId4" Type="http://schemas.openxmlformats.org/officeDocument/2006/relationships/slideMaster" Target="slideMasters/slideMaster1.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2.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slide" Target="slides/slide166.xml"/><Relationship Id="rId65" Type="http://schemas.openxmlformats.org/officeDocument/2006/relationships/slide" Target="slides/slide59.xml"/><Relationship Id="rId171" Type="http://schemas.openxmlformats.org/officeDocument/2006/relationships/slide" Target="slides/slide165.xml"/><Relationship Id="rId68" Type="http://schemas.openxmlformats.org/officeDocument/2006/relationships/slide" Target="slides/slide62.xml"/><Relationship Id="rId170" Type="http://schemas.openxmlformats.org/officeDocument/2006/relationships/slide" Target="slides/slide164.xml"/><Relationship Id="rId67" Type="http://schemas.openxmlformats.org/officeDocument/2006/relationships/slide" Target="slides/slide61.xml"/><Relationship Id="rId60" Type="http://schemas.openxmlformats.org/officeDocument/2006/relationships/slide" Target="slides/slide54.xml"/><Relationship Id="rId165" Type="http://schemas.openxmlformats.org/officeDocument/2006/relationships/slide" Target="slides/slide159.xml"/><Relationship Id="rId69" Type="http://schemas.openxmlformats.org/officeDocument/2006/relationships/slide" Target="slides/slide63.xml"/><Relationship Id="rId164" Type="http://schemas.openxmlformats.org/officeDocument/2006/relationships/slide" Target="slides/slide158.xml"/><Relationship Id="rId163" Type="http://schemas.openxmlformats.org/officeDocument/2006/relationships/slide" Target="slides/slide157.xml"/><Relationship Id="rId162" Type="http://schemas.openxmlformats.org/officeDocument/2006/relationships/slide" Target="slides/slide156.xml"/><Relationship Id="rId169" Type="http://schemas.openxmlformats.org/officeDocument/2006/relationships/slide" Target="slides/slide163.xml"/><Relationship Id="rId168" Type="http://schemas.openxmlformats.org/officeDocument/2006/relationships/slide" Target="slides/slide162.xml"/><Relationship Id="rId167" Type="http://schemas.openxmlformats.org/officeDocument/2006/relationships/slide" Target="slides/slide161.xml"/><Relationship Id="rId166" Type="http://schemas.openxmlformats.org/officeDocument/2006/relationships/slide" Target="slides/slide160.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54" Type="http://schemas.openxmlformats.org/officeDocument/2006/relationships/slide" Target="slides/slide48.xml"/><Relationship Id="rId160" Type="http://schemas.openxmlformats.org/officeDocument/2006/relationships/slide" Target="slides/slide154.xml"/><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58" Type="http://schemas.openxmlformats.org/officeDocument/2006/relationships/slide" Target="slides/slide52.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8" Type="http://schemas.openxmlformats.org/officeDocument/2006/relationships/slide" Target="slides/slide152.xml"/><Relationship Id="rId157" Type="http://schemas.openxmlformats.org/officeDocument/2006/relationships/slide" Target="slides/slide151.xml"/><Relationship Id="rId156" Type="http://schemas.openxmlformats.org/officeDocument/2006/relationships/slide" Target="slides/slide150.xml"/><Relationship Id="rId155" Type="http://schemas.openxmlformats.org/officeDocument/2006/relationships/slide" Target="slides/slide14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211" Type="http://customschemas.google.com/relationships/presentationmetadata" Target="metadata"/><Relationship Id="rId210" Type="http://schemas.openxmlformats.org/officeDocument/2006/relationships/font" Target="fonts/GillSans-bold.fntdata"/><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121" Type="http://schemas.openxmlformats.org/officeDocument/2006/relationships/slide" Target="slides/slide115.xml"/><Relationship Id="rId120" Type="http://schemas.openxmlformats.org/officeDocument/2006/relationships/slide" Target="slides/slide114.xml"/><Relationship Id="rId125" Type="http://schemas.openxmlformats.org/officeDocument/2006/relationships/slide" Target="slides/slide119.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99" Type="http://schemas.openxmlformats.org/officeDocument/2006/relationships/slide" Target="slides/slide93.xml"/><Relationship Id="rId98" Type="http://schemas.openxmlformats.org/officeDocument/2006/relationships/slide" Target="slides/slide92.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10" Type="http://schemas.openxmlformats.org/officeDocument/2006/relationships/slide" Target="slides/slide104.xml"/><Relationship Id="rId114" Type="http://schemas.openxmlformats.org/officeDocument/2006/relationships/slide" Target="slides/slide108.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206" Type="http://schemas.openxmlformats.org/officeDocument/2006/relationships/font" Target="fonts/Tahoma-bold.fntdata"/><Relationship Id="rId205" Type="http://schemas.openxmlformats.org/officeDocument/2006/relationships/font" Target="fonts/Tahoma-regular.fntdata"/><Relationship Id="rId204" Type="http://schemas.openxmlformats.org/officeDocument/2006/relationships/font" Target="fonts/ArialNarrow-boldItalic.fntdata"/><Relationship Id="rId203" Type="http://schemas.openxmlformats.org/officeDocument/2006/relationships/font" Target="fonts/ArialNarrow-italic.fntdata"/><Relationship Id="rId209" Type="http://schemas.openxmlformats.org/officeDocument/2006/relationships/font" Target="fonts/GillSans-regular.fntdata"/><Relationship Id="rId208" Type="http://schemas.openxmlformats.org/officeDocument/2006/relationships/font" Target="fonts/NotoSansSymbols-bold.fntdata"/><Relationship Id="rId207" Type="http://schemas.openxmlformats.org/officeDocument/2006/relationships/font" Target="fonts/NotoSansSymbols-regular.fntdata"/><Relationship Id="rId202" Type="http://schemas.openxmlformats.org/officeDocument/2006/relationships/font" Target="fonts/ArialNarrow-bold.fntdata"/><Relationship Id="rId201" Type="http://schemas.openxmlformats.org/officeDocument/2006/relationships/font" Target="fonts/ArialNarrow-regular.fntdata"/><Relationship Id="rId200" Type="http://schemas.openxmlformats.org/officeDocument/2006/relationships/slide" Target="slides/slide19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Version History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8.0  (April 2020)</a:t>
            </a:r>
            <a:endParaRPr/>
          </a:p>
          <a:p>
            <a:pPr indent="-171450" lvl="0" marL="171450" rtl="0" algn="l">
              <a:spcBef>
                <a:spcPts val="0"/>
              </a:spcBef>
              <a:spcAft>
                <a:spcPts val="0"/>
              </a:spcAft>
              <a:buClr>
                <a:schemeClr val="dk1"/>
              </a:buClr>
              <a:buSzPts val="1200"/>
              <a:buFont typeface="Arial"/>
              <a:buChar char="•"/>
            </a:pPr>
            <a:r>
              <a:rPr lang="en-US"/>
              <a:t>All slides reformatted for 16:9 aspect ratio</a:t>
            </a:r>
            <a:endParaRPr/>
          </a:p>
          <a:p>
            <a:pPr indent="-171450" lvl="0" marL="171450" rtl="0" algn="l">
              <a:spcBef>
                <a:spcPts val="0"/>
              </a:spcBef>
              <a:spcAft>
                <a:spcPts val="0"/>
              </a:spcAft>
              <a:buClr>
                <a:schemeClr val="dk1"/>
              </a:buClr>
              <a:buSzPts val="1200"/>
              <a:buFont typeface="Arial"/>
              <a:buChar char="•"/>
            </a:pPr>
            <a:r>
              <a:rPr lang="en-US"/>
              <a:t>All slides updated to 8</a:t>
            </a:r>
            <a:r>
              <a:rPr baseline="30000" lang="en-US"/>
              <a:t>th</a:t>
            </a:r>
            <a:r>
              <a:rPr lang="en-US"/>
              <a:t> edition material</a:t>
            </a:r>
            <a:endParaRPr/>
          </a:p>
          <a:p>
            <a:pPr indent="-171450" lvl="0" marL="171450" rtl="0" algn="l">
              <a:spcBef>
                <a:spcPts val="0"/>
              </a:spcBef>
              <a:spcAft>
                <a:spcPts val="0"/>
              </a:spcAft>
              <a:buClr>
                <a:schemeClr val="dk1"/>
              </a:buClr>
              <a:buSzPts val="1200"/>
              <a:buFont typeface="Arial"/>
              <a:buChar char="•"/>
            </a:pPr>
            <a:r>
              <a:rPr lang="en-US"/>
              <a:t>Use of Calibri font, rather that Gill Sans MT</a:t>
            </a:r>
            <a:endParaRPr/>
          </a:p>
          <a:p>
            <a:pPr indent="-171450" lvl="0" marL="171450" rtl="0" algn="l">
              <a:spcBef>
                <a:spcPts val="0"/>
              </a:spcBef>
              <a:spcAft>
                <a:spcPts val="0"/>
              </a:spcAft>
              <a:buClr>
                <a:schemeClr val="dk1"/>
              </a:buClr>
              <a:buSzPts val="1200"/>
              <a:buFont typeface="Arial"/>
              <a:buChar char="•"/>
            </a:pPr>
            <a:r>
              <a:rPr lang="en-US"/>
              <a:t>Add LOTS more animation throughout</a:t>
            </a:r>
            <a:endParaRPr/>
          </a:p>
          <a:p>
            <a:pPr indent="-171450" lvl="0" marL="171450" rtl="0" algn="l">
              <a:spcBef>
                <a:spcPts val="0"/>
              </a:spcBef>
              <a:spcAft>
                <a:spcPts val="0"/>
              </a:spcAft>
              <a:buClr>
                <a:schemeClr val="dk1"/>
              </a:buClr>
              <a:buSzPts val="1200"/>
              <a:buFont typeface="Arial"/>
              <a:buChar char="•"/>
            </a:pPr>
            <a:r>
              <a:rPr lang="en-US"/>
              <a:t>added new  8</a:t>
            </a:r>
            <a:r>
              <a:rPr baseline="30000" lang="en-US"/>
              <a:t>th</a:t>
            </a:r>
            <a:r>
              <a:rPr lang="en-US"/>
              <a:t> edition material on QUIC, CUBIC, delay-based congestion control</a:t>
            </a:r>
            <a:endParaRPr/>
          </a:p>
          <a:p>
            <a:pPr indent="-171450" lvl="0" marL="171450" rtl="0" algn="l">
              <a:spcBef>
                <a:spcPts val="0"/>
              </a:spcBef>
              <a:spcAft>
                <a:spcPts val="0"/>
              </a:spcAft>
              <a:buClr>
                <a:schemeClr val="dk1"/>
              </a:buClr>
              <a:buSzPts val="1200"/>
              <a:buFont typeface="Arial"/>
              <a:buChar char="•"/>
            </a:pPr>
            <a:r>
              <a:rPr lang="en-US"/>
              <a:t>lighter header font</a:t>
            </a:r>
            <a:endParaRPr/>
          </a:p>
        </p:txBody>
      </p:sp>
      <p:sp>
        <p:nvSpPr>
          <p:cNvPr id="107" name="Google Shape;10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76200" lvl="0" marL="455613" rtl="0" algn="l">
              <a:spcBef>
                <a:spcPts val="0"/>
              </a:spcBef>
              <a:spcAft>
                <a:spcPts val="0"/>
              </a:spcAft>
              <a:buClr>
                <a:schemeClr val="dk1"/>
              </a:buClr>
              <a:buSzPts val="1200"/>
              <a:buFont typeface="Arial"/>
              <a:buChar char="•"/>
            </a:pPr>
            <a:r>
              <a:rPr lang="en-US"/>
              <a:t>Add:</a:t>
            </a:r>
            <a:endParaRPr/>
          </a:p>
          <a:p>
            <a:pPr indent="-76200" lvl="1" marL="912813" rtl="0" algn="l">
              <a:spcBef>
                <a:spcPts val="0"/>
              </a:spcBef>
              <a:spcAft>
                <a:spcPts val="0"/>
              </a:spcAft>
              <a:buClr>
                <a:schemeClr val="dk1"/>
              </a:buClr>
              <a:buSzPts val="1200"/>
              <a:buFont typeface="Arial"/>
              <a:buChar char="•"/>
            </a:pPr>
            <a:r>
              <a:rPr lang="en-US"/>
              <a:t>segment structure</a:t>
            </a:r>
            <a:endParaRPr/>
          </a:p>
          <a:p>
            <a:pPr indent="-76200" lvl="1" marL="912813" rtl="0" algn="l">
              <a:spcBef>
                <a:spcPts val="0"/>
              </a:spcBef>
              <a:spcAft>
                <a:spcPts val="0"/>
              </a:spcAft>
              <a:buClr>
                <a:schemeClr val="dk1"/>
              </a:buClr>
              <a:buSzPts val="1200"/>
              <a:buFont typeface="Arial"/>
              <a:buChar char="•"/>
            </a:pPr>
            <a:r>
              <a:rPr lang="en-US"/>
              <a:t>reliable data transfer</a:t>
            </a:r>
            <a:endParaRPr/>
          </a:p>
          <a:p>
            <a:pPr indent="-76200" lvl="1" marL="912813" rtl="0" algn="l">
              <a:spcBef>
                <a:spcPts val="0"/>
              </a:spcBef>
              <a:spcAft>
                <a:spcPts val="0"/>
              </a:spcAft>
              <a:buClr>
                <a:schemeClr val="dk1"/>
              </a:buClr>
              <a:buSzPts val="1200"/>
              <a:buFont typeface="Arial"/>
              <a:buChar char="•"/>
            </a:pPr>
            <a:r>
              <a:rPr lang="en-US"/>
              <a:t>flow control</a:t>
            </a:r>
            <a:endParaRPr/>
          </a:p>
          <a:p>
            <a:pPr indent="-76200" lvl="1" marL="912813" rtl="0" algn="l">
              <a:spcBef>
                <a:spcPts val="0"/>
              </a:spcBef>
              <a:spcAft>
                <a:spcPts val="0"/>
              </a:spcAft>
              <a:buClr>
                <a:schemeClr val="dk1"/>
              </a:buClr>
              <a:buSzPts val="1200"/>
              <a:buFont typeface="Arial"/>
              <a:buChar char="•"/>
            </a:pPr>
            <a:r>
              <a:rPr lang="en-US"/>
              <a:t>connection management</a:t>
            </a:r>
            <a:endParaRPr/>
          </a:p>
        </p:txBody>
      </p:sp>
      <p:sp>
        <p:nvSpPr>
          <p:cNvPr id="127" name="Google Shape;12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By logical communication , we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mean that from an application’s perspective, it is as if the hosts running the processes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were directly connected; in reality, the hosts may be on opposite sides of the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planet, connected via numerous routers and a wide range of link types. Application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processes use the logical communication provided by the transport layer to send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messages to each other, free from the worry of the details of the physical infrastructure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used to carry these messages.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Let’s look at each of these three (logical communications, actions, </a:t>
            </a:r>
            <a:endParaRPr/>
          </a:p>
        </p:txBody>
      </p:sp>
      <p:sp>
        <p:nvSpPr>
          <p:cNvPr id="136" name="Google Shape;13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2" name="Google Shape;64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3" name="Google Shape;64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6" name="Google Shape;65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7" name="Google Shape;65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0" name="Google Shape;67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1" name="Google Shape;67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9" name="Google Shape;77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0" name="Google Shape;78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1" name="Google Shape;89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2" name="Google Shape;89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4" name="Google Shape;139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5" name="Google Shape;139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1" name="Shape 1401"/>
        <p:cNvGrpSpPr/>
        <p:nvPr/>
      </p:nvGrpSpPr>
      <p:grpSpPr>
        <a:xfrm>
          <a:off x="0" y="0"/>
          <a:ext cx="0" cy="0"/>
          <a:chOff x="0" y="0"/>
          <a:chExt cx="0" cy="0"/>
        </a:xfrm>
      </p:grpSpPr>
      <p:sp>
        <p:nvSpPr>
          <p:cNvPr id="1402" name="Google Shape;140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3" name="Google Shape;140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4" name="Google Shape;140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6" name="Shape 1496"/>
        <p:cNvGrpSpPr/>
        <p:nvPr/>
      </p:nvGrpSpPr>
      <p:grpSpPr>
        <a:xfrm>
          <a:off x="0" y="0"/>
          <a:ext cx="0" cy="0"/>
          <a:chOff x="0" y="0"/>
          <a:chExt cx="0" cy="0"/>
        </a:xfrm>
      </p:grpSpPr>
      <p:sp>
        <p:nvSpPr>
          <p:cNvPr id="1497" name="Google Shape;149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8" name="Google Shape;149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9" name="Google Shape;149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6" name="Shape 1596"/>
        <p:cNvGrpSpPr/>
        <p:nvPr/>
      </p:nvGrpSpPr>
      <p:grpSpPr>
        <a:xfrm>
          <a:off x="0" y="0"/>
          <a:ext cx="0" cy="0"/>
          <a:chOff x="0" y="0"/>
          <a:chExt cx="0" cy="0"/>
        </a:xfrm>
      </p:grpSpPr>
      <p:sp>
        <p:nvSpPr>
          <p:cNvPr id="1597" name="Google Shape;159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8" name="Google Shape;159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9" name="Google Shape;159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2" name="Shape 1702"/>
        <p:cNvGrpSpPr/>
        <p:nvPr/>
      </p:nvGrpSpPr>
      <p:grpSpPr>
        <a:xfrm>
          <a:off x="0" y="0"/>
          <a:ext cx="0" cy="0"/>
          <a:chOff x="0" y="0"/>
          <a:chExt cx="0" cy="0"/>
        </a:xfrm>
      </p:grpSpPr>
      <p:sp>
        <p:nvSpPr>
          <p:cNvPr id="1703" name="Google Shape;170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4" name="Google Shape;170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5" name="Google Shape;170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1" name="Shape 1801"/>
        <p:cNvGrpSpPr/>
        <p:nvPr/>
      </p:nvGrpSpPr>
      <p:grpSpPr>
        <a:xfrm>
          <a:off x="0" y="0"/>
          <a:ext cx="0" cy="0"/>
          <a:chOff x="0" y="0"/>
          <a:chExt cx="0" cy="0"/>
        </a:xfrm>
      </p:grpSpPr>
      <p:sp>
        <p:nvSpPr>
          <p:cNvPr id="1802" name="Google Shape;180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3" name="Google Shape;180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4" name="Google Shape;180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0" name="Shape 1900"/>
        <p:cNvGrpSpPr/>
        <p:nvPr/>
      </p:nvGrpSpPr>
      <p:grpSpPr>
        <a:xfrm>
          <a:off x="0" y="0"/>
          <a:ext cx="0" cy="0"/>
          <a:chOff x="0" y="0"/>
          <a:chExt cx="0" cy="0"/>
        </a:xfrm>
      </p:grpSpPr>
      <p:sp>
        <p:nvSpPr>
          <p:cNvPr id="1901" name="Google Shape;190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2" name="Google Shape;190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3" name="Google Shape;190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1" name="Shape 2041"/>
        <p:cNvGrpSpPr/>
        <p:nvPr/>
      </p:nvGrpSpPr>
      <p:grpSpPr>
        <a:xfrm>
          <a:off x="0" y="0"/>
          <a:ext cx="0" cy="0"/>
          <a:chOff x="0" y="0"/>
          <a:chExt cx="0" cy="0"/>
        </a:xfrm>
      </p:grpSpPr>
      <p:sp>
        <p:nvSpPr>
          <p:cNvPr id="2042" name="Google Shape;204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3" name="Google Shape;204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4" name="Google Shape;204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5" name="Shape 2065"/>
        <p:cNvGrpSpPr/>
        <p:nvPr/>
      </p:nvGrpSpPr>
      <p:grpSpPr>
        <a:xfrm>
          <a:off x="0" y="0"/>
          <a:ext cx="0" cy="0"/>
          <a:chOff x="0" y="0"/>
          <a:chExt cx="0" cy="0"/>
        </a:xfrm>
      </p:grpSpPr>
      <p:sp>
        <p:nvSpPr>
          <p:cNvPr id="2066" name="Google Shape;206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7" name="Google Shape;206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a:t>
            </a:r>
            <a:endParaRPr/>
          </a:p>
          <a:p>
            <a:pPr indent="0" lvl="0" marL="0" rtl="0" algn="l">
              <a:spcBef>
                <a:spcPts val="0"/>
              </a:spcBef>
              <a:spcAft>
                <a:spcPts val="0"/>
              </a:spcAft>
              <a:buNone/>
            </a:pPr>
            <a:r>
              <a:rPr lang="en-US" sz="1200">
                <a:solidFill>
                  <a:srgbClr val="000000"/>
                </a:solidFill>
                <a:latin typeface="Calibri"/>
                <a:ea typeface="Calibri"/>
                <a:cs typeface="Calibri"/>
                <a:sym typeface="Calibri"/>
              </a:rPr>
              <a:t>2-tuple</a:t>
            </a:r>
            <a:endParaRPr/>
          </a:p>
        </p:txBody>
      </p:sp>
      <p:sp>
        <p:nvSpPr>
          <p:cNvPr id="2068" name="Google Shape;2068;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8" name="Shape 2078"/>
        <p:cNvGrpSpPr/>
        <p:nvPr/>
      </p:nvGrpSpPr>
      <p:grpSpPr>
        <a:xfrm>
          <a:off x="0" y="0"/>
          <a:ext cx="0" cy="0"/>
          <a:chOff x="0" y="0"/>
          <a:chExt cx="0" cy="0"/>
        </a:xfrm>
      </p:grpSpPr>
      <p:sp>
        <p:nvSpPr>
          <p:cNvPr id="2079" name="Google Shape;207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0" name="Google Shape;208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a:t>
            </a:r>
            <a:br>
              <a:rPr lang="en-US"/>
            </a:br>
            <a:r>
              <a:rPr lang="en-US"/>
              <a:t>(DNS Server)</a:t>
            </a:r>
            <a:endParaRPr/>
          </a:p>
        </p:txBody>
      </p:sp>
      <p:sp>
        <p:nvSpPr>
          <p:cNvPr id="2081" name="Google Shape;208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9" name="Shape 2209"/>
        <p:cNvGrpSpPr/>
        <p:nvPr/>
      </p:nvGrpSpPr>
      <p:grpSpPr>
        <a:xfrm>
          <a:off x="0" y="0"/>
          <a:ext cx="0" cy="0"/>
          <a:chOff x="0" y="0"/>
          <a:chExt cx="0" cy="0"/>
        </a:xfrm>
      </p:grpSpPr>
      <p:sp>
        <p:nvSpPr>
          <p:cNvPr id="2210" name="Google Shape;221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1" name="Google Shape;221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76200" lvl="0" marL="0" rtl="0" algn="l">
              <a:spcBef>
                <a:spcPts val="0"/>
              </a:spcBef>
              <a:spcAft>
                <a:spcPts val="0"/>
              </a:spcAft>
              <a:buClr>
                <a:schemeClr val="dk1"/>
              </a:buClr>
              <a:buSzPts val="1200"/>
              <a:buFont typeface="Noto Sans Symbols"/>
              <a:buChar char="▪"/>
            </a:pPr>
            <a:r>
              <a:rPr lang="en-US"/>
              <a:t>Add:</a:t>
            </a:r>
            <a:br>
              <a:rPr lang="en-US"/>
            </a:br>
            <a:r>
              <a:rPr lang="en-US"/>
              <a:t>web servers have different sockets for each connecting client</a:t>
            </a:r>
            <a:endParaRPr/>
          </a:p>
          <a:p>
            <a:pPr indent="-76200" lvl="1" marL="457200" rtl="0" algn="l">
              <a:spcBef>
                <a:spcPts val="0"/>
              </a:spcBef>
              <a:spcAft>
                <a:spcPts val="0"/>
              </a:spcAft>
              <a:buClr>
                <a:schemeClr val="dk1"/>
              </a:buClr>
              <a:buSzPts val="1200"/>
              <a:buFont typeface="Arial"/>
              <a:buChar char="•"/>
            </a:pPr>
            <a:r>
              <a:rPr lang="en-US"/>
              <a:t>non-persistent HTTP will have different socket for each request</a:t>
            </a:r>
            <a:endParaRPr/>
          </a:p>
          <a:p>
            <a:pPr indent="0" lvl="0" marL="0" rtl="0" algn="l">
              <a:spcBef>
                <a:spcPts val="0"/>
              </a:spcBef>
              <a:spcAft>
                <a:spcPts val="0"/>
              </a:spcAft>
              <a:buNone/>
            </a:pPr>
            <a:r>
              <a:t/>
            </a:r>
            <a:endParaRPr/>
          </a:p>
        </p:txBody>
      </p:sp>
      <p:sp>
        <p:nvSpPr>
          <p:cNvPr id="2212" name="Google Shape;221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9" name="Shape 2219"/>
        <p:cNvGrpSpPr/>
        <p:nvPr/>
      </p:nvGrpSpPr>
      <p:grpSpPr>
        <a:xfrm>
          <a:off x="0" y="0"/>
          <a:ext cx="0" cy="0"/>
          <a:chOff x="0" y="0"/>
          <a:chExt cx="0" cy="0"/>
        </a:xfrm>
      </p:grpSpPr>
      <p:sp>
        <p:nvSpPr>
          <p:cNvPr id="2220" name="Google Shape;222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1" name="Google Shape;222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2" name="Google Shape;2222;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7" name="Shape 2367"/>
        <p:cNvGrpSpPr/>
        <p:nvPr/>
      </p:nvGrpSpPr>
      <p:grpSpPr>
        <a:xfrm>
          <a:off x="0" y="0"/>
          <a:ext cx="0" cy="0"/>
          <a:chOff x="0" y="0"/>
          <a:chExt cx="0" cy="0"/>
        </a:xfrm>
      </p:grpSpPr>
      <p:sp>
        <p:nvSpPr>
          <p:cNvPr id="2368" name="Google Shape;2368;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9" name="Google Shape;236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4" name="Shape 2384"/>
        <p:cNvGrpSpPr/>
        <p:nvPr/>
      </p:nvGrpSpPr>
      <p:grpSpPr>
        <a:xfrm>
          <a:off x="0" y="0"/>
          <a:ext cx="0" cy="0"/>
          <a:chOff x="0" y="0"/>
          <a:chExt cx="0" cy="0"/>
        </a:xfrm>
      </p:grpSpPr>
      <p:sp>
        <p:nvSpPr>
          <p:cNvPr id="2385" name="Google Shape;238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6" name="Google Shape;238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7" name="Google Shape;2387;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2" name="Shape 2392"/>
        <p:cNvGrpSpPr/>
        <p:nvPr/>
      </p:nvGrpSpPr>
      <p:grpSpPr>
        <a:xfrm>
          <a:off x="0" y="0"/>
          <a:ext cx="0" cy="0"/>
          <a:chOff x="0" y="0"/>
          <a:chExt cx="0" cy="0"/>
        </a:xfrm>
      </p:grpSpPr>
      <p:sp>
        <p:nvSpPr>
          <p:cNvPr id="2393" name="Google Shape;239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4" name="Google Shape;239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5" name="Google Shape;2395;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1" name="Shape 2401"/>
        <p:cNvGrpSpPr/>
        <p:nvPr/>
      </p:nvGrpSpPr>
      <p:grpSpPr>
        <a:xfrm>
          <a:off x="0" y="0"/>
          <a:ext cx="0" cy="0"/>
          <a:chOff x="0" y="0"/>
          <a:chExt cx="0" cy="0"/>
        </a:xfrm>
      </p:grpSpPr>
      <p:sp>
        <p:nvSpPr>
          <p:cNvPr id="2402" name="Google Shape;240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3" name="Google Shape;2403;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4" name="Google Shape;2404;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4" name="Shape 2414"/>
        <p:cNvGrpSpPr/>
        <p:nvPr/>
      </p:nvGrpSpPr>
      <p:grpSpPr>
        <a:xfrm>
          <a:off x="0" y="0"/>
          <a:ext cx="0" cy="0"/>
          <a:chOff x="0" y="0"/>
          <a:chExt cx="0" cy="0"/>
        </a:xfrm>
      </p:grpSpPr>
      <p:sp>
        <p:nvSpPr>
          <p:cNvPr id="2415" name="Google Shape;241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6" name="Google Shape;241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7" name="Google Shape;241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2" name="Shape 2422"/>
        <p:cNvGrpSpPr/>
        <p:nvPr/>
      </p:nvGrpSpPr>
      <p:grpSpPr>
        <a:xfrm>
          <a:off x="0" y="0"/>
          <a:ext cx="0" cy="0"/>
          <a:chOff x="0" y="0"/>
          <a:chExt cx="0" cy="0"/>
        </a:xfrm>
      </p:grpSpPr>
      <p:sp>
        <p:nvSpPr>
          <p:cNvPr id="2423" name="Google Shape;242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4" name="Google Shape;242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this RFC – it’s only 2.5 pages!</a:t>
            </a:r>
            <a:endParaRPr/>
          </a:p>
        </p:txBody>
      </p:sp>
      <p:sp>
        <p:nvSpPr>
          <p:cNvPr id="2425" name="Google Shape;2425;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0" name="Shape 2430"/>
        <p:cNvGrpSpPr/>
        <p:nvPr/>
      </p:nvGrpSpPr>
      <p:grpSpPr>
        <a:xfrm>
          <a:off x="0" y="0"/>
          <a:ext cx="0" cy="0"/>
          <a:chOff x="0" y="0"/>
          <a:chExt cx="0" cy="0"/>
        </a:xfrm>
      </p:grpSpPr>
      <p:sp>
        <p:nvSpPr>
          <p:cNvPr id="2431" name="Google Shape;243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2" name="Google Shape;243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3" name="Google Shape;2433;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9" name="Shape 2519"/>
        <p:cNvGrpSpPr/>
        <p:nvPr/>
      </p:nvGrpSpPr>
      <p:grpSpPr>
        <a:xfrm>
          <a:off x="0" y="0"/>
          <a:ext cx="0" cy="0"/>
          <a:chOff x="0" y="0"/>
          <a:chExt cx="0" cy="0"/>
        </a:xfrm>
      </p:grpSpPr>
      <p:sp>
        <p:nvSpPr>
          <p:cNvPr id="2520" name="Google Shape;252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1" name="Google Shape;2521;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2" name="Google Shape;2522;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0" name="Shape 2630"/>
        <p:cNvGrpSpPr/>
        <p:nvPr/>
      </p:nvGrpSpPr>
      <p:grpSpPr>
        <a:xfrm>
          <a:off x="0" y="0"/>
          <a:ext cx="0" cy="0"/>
          <a:chOff x="0" y="0"/>
          <a:chExt cx="0" cy="0"/>
        </a:xfrm>
      </p:grpSpPr>
      <p:sp>
        <p:nvSpPr>
          <p:cNvPr id="2631" name="Google Shape;263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2" name="Google Shape;2632;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3" name="Google Shape;2633;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7" name="Shape 2737"/>
        <p:cNvGrpSpPr/>
        <p:nvPr/>
      </p:nvGrpSpPr>
      <p:grpSpPr>
        <a:xfrm>
          <a:off x="0" y="0"/>
          <a:ext cx="0" cy="0"/>
          <a:chOff x="0" y="0"/>
          <a:chExt cx="0" cy="0"/>
        </a:xfrm>
      </p:grpSpPr>
      <p:sp>
        <p:nvSpPr>
          <p:cNvPr id="2738" name="Google Shape;2738;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9" name="Google Shape;2739;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0" name="Google Shape;2740;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7" name="Shape 2767"/>
        <p:cNvGrpSpPr/>
        <p:nvPr/>
      </p:nvGrpSpPr>
      <p:grpSpPr>
        <a:xfrm>
          <a:off x="0" y="0"/>
          <a:ext cx="0" cy="0"/>
          <a:chOff x="0" y="0"/>
          <a:chExt cx="0" cy="0"/>
        </a:xfrm>
      </p:grpSpPr>
      <p:sp>
        <p:nvSpPr>
          <p:cNvPr id="2768" name="Google Shape;276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9" name="Google Shape;276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0" name="Google Shape;2770;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2" name="Shape 2792"/>
        <p:cNvGrpSpPr/>
        <p:nvPr/>
      </p:nvGrpSpPr>
      <p:grpSpPr>
        <a:xfrm>
          <a:off x="0" y="0"/>
          <a:ext cx="0" cy="0"/>
          <a:chOff x="0" y="0"/>
          <a:chExt cx="0" cy="0"/>
        </a:xfrm>
      </p:grpSpPr>
      <p:sp>
        <p:nvSpPr>
          <p:cNvPr id="2793" name="Google Shape;279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4" name="Google Shape;2794;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a:t>
            </a:r>
            <a:br>
              <a:rPr lang="en-US"/>
            </a:br>
            <a:r>
              <a:rPr lang="en-US" sz="1200"/>
              <a:t>sender puts in Sender point no 3.</a:t>
            </a:r>
            <a:endParaRPr/>
          </a:p>
        </p:txBody>
      </p:sp>
      <p:sp>
        <p:nvSpPr>
          <p:cNvPr id="2795" name="Google Shape;2795;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2" name="Shape 2802"/>
        <p:cNvGrpSpPr/>
        <p:nvPr/>
      </p:nvGrpSpPr>
      <p:grpSpPr>
        <a:xfrm>
          <a:off x="0" y="0"/>
          <a:ext cx="0" cy="0"/>
          <a:chOff x="0" y="0"/>
          <a:chExt cx="0" cy="0"/>
        </a:xfrm>
      </p:grpSpPr>
      <p:sp>
        <p:nvSpPr>
          <p:cNvPr id="2803" name="Google Shape;280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4" name="Google Shape;2804;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no 34</a:t>
            </a:r>
            <a:endParaRPr/>
          </a:p>
        </p:txBody>
      </p:sp>
      <p:sp>
        <p:nvSpPr>
          <p:cNvPr id="2805" name="Google Shape;2805;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7" name="Shape 2817"/>
        <p:cNvGrpSpPr/>
        <p:nvPr/>
      </p:nvGrpSpPr>
      <p:grpSpPr>
        <a:xfrm>
          <a:off x="0" y="0"/>
          <a:ext cx="0" cy="0"/>
          <a:chOff x="0" y="0"/>
          <a:chExt cx="0" cy="0"/>
        </a:xfrm>
      </p:grpSpPr>
      <p:sp>
        <p:nvSpPr>
          <p:cNvPr id="2818" name="Google Shape;2818;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9" name="Google Shape;2819;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0" name="Google Shape;2820;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9" name="Shape 2839"/>
        <p:cNvGrpSpPr/>
        <p:nvPr/>
      </p:nvGrpSpPr>
      <p:grpSpPr>
        <a:xfrm>
          <a:off x="0" y="0"/>
          <a:ext cx="0" cy="0"/>
          <a:chOff x="0" y="0"/>
          <a:chExt cx="0" cy="0"/>
        </a:xfrm>
      </p:grpSpPr>
      <p:sp>
        <p:nvSpPr>
          <p:cNvPr id="2840" name="Google Shape;284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1" name="Google Shape;2841;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2" name="Google Shape;2842;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1" name="Shape 2871"/>
        <p:cNvGrpSpPr/>
        <p:nvPr/>
      </p:nvGrpSpPr>
      <p:grpSpPr>
        <a:xfrm>
          <a:off x="0" y="0"/>
          <a:ext cx="0" cy="0"/>
          <a:chOff x="0" y="0"/>
          <a:chExt cx="0" cy="0"/>
        </a:xfrm>
      </p:grpSpPr>
      <p:sp>
        <p:nvSpPr>
          <p:cNvPr id="2872" name="Google Shape;2872;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3" name="Google Shape;2873;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no37</a:t>
            </a:r>
            <a:endParaRPr/>
          </a:p>
        </p:txBody>
      </p:sp>
      <p:sp>
        <p:nvSpPr>
          <p:cNvPr id="2874" name="Google Shape;2874;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1" name="Shape 2901"/>
        <p:cNvGrpSpPr/>
        <p:nvPr/>
      </p:nvGrpSpPr>
      <p:grpSpPr>
        <a:xfrm>
          <a:off x="0" y="0"/>
          <a:ext cx="0" cy="0"/>
          <a:chOff x="0" y="0"/>
          <a:chExt cx="0" cy="0"/>
        </a:xfrm>
      </p:grpSpPr>
      <p:sp>
        <p:nvSpPr>
          <p:cNvPr id="2902" name="Google Shape;2902;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03" name="Google Shape;2903;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Times New Roman"/>
                <a:ea typeface="Times New Roman"/>
                <a:cs typeface="Times New Roman"/>
                <a:sym typeface="Times New Roman"/>
              </a:rPr>
              <a:t>Add slide no 38</a:t>
            </a:r>
            <a:endParaRPr/>
          </a:p>
        </p:txBody>
      </p:sp>
      <p:sp>
        <p:nvSpPr>
          <p:cNvPr id="2904" name="Google Shape;2904;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0" name="Shape 2920"/>
        <p:cNvGrpSpPr/>
        <p:nvPr/>
      </p:nvGrpSpPr>
      <p:grpSpPr>
        <a:xfrm>
          <a:off x="0" y="0"/>
          <a:ext cx="0" cy="0"/>
          <a:chOff x="0" y="0"/>
          <a:chExt cx="0" cy="0"/>
        </a:xfrm>
      </p:grpSpPr>
      <p:sp>
        <p:nvSpPr>
          <p:cNvPr id="2921" name="Google Shape;2921;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2" name="Google Shape;2922;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3" name="Google Shape;2923;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8" name="Shape 2928"/>
        <p:cNvGrpSpPr/>
        <p:nvPr/>
      </p:nvGrpSpPr>
      <p:grpSpPr>
        <a:xfrm>
          <a:off x="0" y="0"/>
          <a:ext cx="0" cy="0"/>
          <a:chOff x="0" y="0"/>
          <a:chExt cx="0" cy="0"/>
        </a:xfrm>
      </p:grpSpPr>
      <p:sp>
        <p:nvSpPr>
          <p:cNvPr id="2929" name="Google Shape;292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0" name="Google Shape;2930;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1" name="Google Shape;2931;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7" name="Shape 2937"/>
        <p:cNvGrpSpPr/>
        <p:nvPr/>
      </p:nvGrpSpPr>
      <p:grpSpPr>
        <a:xfrm>
          <a:off x="0" y="0"/>
          <a:ext cx="0" cy="0"/>
          <a:chOff x="0" y="0"/>
          <a:chExt cx="0" cy="0"/>
        </a:xfrm>
      </p:grpSpPr>
      <p:sp>
        <p:nvSpPr>
          <p:cNvPr id="2938" name="Google Shape;293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9" name="Google Shape;2939;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note arrows through reliable data transfer channel is just one way – reliably send from sender to receiver</a:t>
            </a:r>
            <a:endParaRPr/>
          </a:p>
        </p:txBody>
      </p:sp>
      <p:sp>
        <p:nvSpPr>
          <p:cNvPr id="2940" name="Google Shape;2940;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7" name="Shape 3007"/>
        <p:cNvGrpSpPr/>
        <p:nvPr/>
      </p:nvGrpSpPr>
      <p:grpSpPr>
        <a:xfrm>
          <a:off x="0" y="0"/>
          <a:ext cx="0" cy="0"/>
          <a:chOff x="0" y="0"/>
          <a:chExt cx="0" cy="0"/>
        </a:xfrm>
      </p:grpSpPr>
      <p:sp>
        <p:nvSpPr>
          <p:cNvPr id="3008" name="Google Shape;3008;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9" name="Google Shape;3009;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Spend some time talking about how its to the sender and receiver side protocol that IMPLEMENTS reliable data transfer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Communication over unreliable channel is TWO-way: sender and receiver will exchange messages back and forth to IMPLEMENT one-way  reliable data transfer</a:t>
            </a:r>
            <a:endParaRPr/>
          </a:p>
          <a:p>
            <a:pPr indent="0" lvl="0" marL="0" rtl="0" algn="l">
              <a:spcBef>
                <a:spcPts val="0"/>
              </a:spcBef>
              <a:spcAft>
                <a:spcPts val="0"/>
              </a:spcAft>
              <a:buNone/>
            </a:pPr>
            <a:r>
              <a:t/>
            </a:r>
            <a:endParaRPr/>
          </a:p>
        </p:txBody>
      </p:sp>
      <p:sp>
        <p:nvSpPr>
          <p:cNvPr id="3010" name="Google Shape;3010;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7" name="Shape 3157"/>
        <p:cNvGrpSpPr/>
        <p:nvPr/>
      </p:nvGrpSpPr>
      <p:grpSpPr>
        <a:xfrm>
          <a:off x="0" y="0"/>
          <a:ext cx="0" cy="0"/>
          <a:chOff x="0" y="0"/>
          <a:chExt cx="0" cy="0"/>
        </a:xfrm>
      </p:grpSpPr>
      <p:sp>
        <p:nvSpPr>
          <p:cNvPr id="3158" name="Google Shape;3158;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9" name="Google Shape;3159;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So we have a sender side and a receiver side. How much work they’ll have to do depends on the  IMPAIRMENTS introduced by channel – if the channel is perfect – no problem!</a:t>
            </a:r>
            <a:endParaRPr/>
          </a:p>
        </p:txBody>
      </p:sp>
      <p:sp>
        <p:nvSpPr>
          <p:cNvPr id="3160" name="Google Shape;3160;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6" name="Shape 3246"/>
        <p:cNvGrpSpPr/>
        <p:nvPr/>
      </p:nvGrpSpPr>
      <p:grpSpPr>
        <a:xfrm>
          <a:off x="0" y="0"/>
          <a:ext cx="0" cy="0"/>
          <a:chOff x="0" y="0"/>
          <a:chExt cx="0" cy="0"/>
        </a:xfrm>
      </p:grpSpPr>
      <p:sp>
        <p:nvSpPr>
          <p:cNvPr id="3247" name="Google Shape;3247;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8" name="Google Shape;3248;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a point of view to keep in mind – it’s easy for US to look at sender and receiver together and see what is happening.  OH – that message sent was lost.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But think about it say from senders POV How does the sender know if its transmitted message over the unreliable channel got though??  ONLY if receiver somehow signals to the sender that it was received.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key point here is that one side does NOT know what is going on at the other side – it’s as if there’s a curtain between them.  Everything they know about the other can ONLY be learned by sending/receiving messages.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Sender process wants to make sure a segment got through.  But it can just somehow magically look through curtain to see if receiver got it.  It will be up to the receiver to let the sender KNOW that it (the receiver) has correctly received the segment.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 will the sender and receiver do that – that’s the PROTOCOL.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Before starting to develop a protocol, let’s look more closely at the interface (the API if you will) </a:t>
            </a:r>
            <a:endParaRPr/>
          </a:p>
        </p:txBody>
      </p:sp>
      <p:sp>
        <p:nvSpPr>
          <p:cNvPr id="3249" name="Google Shape;3249;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7" name="Shape 3337"/>
        <p:cNvGrpSpPr/>
        <p:nvPr/>
      </p:nvGrpSpPr>
      <p:grpSpPr>
        <a:xfrm>
          <a:off x="0" y="0"/>
          <a:ext cx="0" cy="0"/>
          <a:chOff x="0" y="0"/>
          <a:chExt cx="0" cy="0"/>
        </a:xfrm>
      </p:grpSpPr>
      <p:sp>
        <p:nvSpPr>
          <p:cNvPr id="3338" name="Google Shape;333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9" name="Google Shape;3339;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0" name="Google Shape;3340;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8" name="Shape 3468"/>
        <p:cNvGrpSpPr/>
        <p:nvPr/>
      </p:nvGrpSpPr>
      <p:grpSpPr>
        <a:xfrm>
          <a:off x="0" y="0"/>
          <a:ext cx="0" cy="0"/>
          <a:chOff x="0" y="0"/>
          <a:chExt cx="0" cy="0"/>
        </a:xfrm>
      </p:grpSpPr>
      <p:sp>
        <p:nvSpPr>
          <p:cNvPr id="3469" name="Google Shape;3469;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0" name="Google Shape;3470;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SO let’s get started in developing our reliable data transfer protocol, which we’ll call rdt (need a good acronym for protocol – like HTTP, TCP, UDP, IP)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Bullet points 1 and 2</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NOW if we are going to develop a protocol, so we’ll need some way to SPECIFY a protocol.  </a:t>
            </a:r>
            <a:r>
              <a:rPr b="1" i="1" lang="en-US"/>
              <a:t>How</a:t>
            </a:r>
            <a:r>
              <a:rPr lang="en-US"/>
              <a:t> do we do that?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could write text, but as all know, that’s prone to misinterpretation, and might be incomplete.  You might write a specification, and then think “oh yeah – I forgot about that case”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What we need is more </a:t>
            </a:r>
            <a:r>
              <a:rPr b="1" i="1" lang="en-US"/>
              <a:t>formal</a:t>
            </a:r>
            <a:r>
              <a:rPr lang="en-US"/>
              <a:t> way to specify a protocol.  In fact, with a formal specification there may be ways to PROVE PROPERTIES about a specification.  But that’s an advanced topic we won’t get into here. We’ll start here by adopting a fairly simple protocol specification technique known as finite state machines (FSM)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as the name might suggest, a central notion of finite state machines is the notion of STATE </a:t>
            </a:r>
            <a:endParaRPr/>
          </a:p>
          <a:p>
            <a:pPr indent="0" lvl="0" marL="0" rtl="0" algn="l">
              <a:spcBef>
                <a:spcPts val="0"/>
              </a:spcBef>
              <a:spcAft>
                <a:spcPts val="0"/>
              </a:spcAft>
              <a:buNone/>
            </a:pPr>
            <a:r>
              <a:rPr lang="en-US"/>
              <a:t>&lt;talk about state&gt;</a:t>
            </a:r>
            <a:endParaRPr/>
          </a:p>
        </p:txBody>
      </p:sp>
      <p:sp>
        <p:nvSpPr>
          <p:cNvPr id="3471" name="Google Shape;3471;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6" name="Shape 3476"/>
        <p:cNvGrpSpPr/>
        <p:nvPr/>
      </p:nvGrpSpPr>
      <p:grpSpPr>
        <a:xfrm>
          <a:off x="0" y="0"/>
          <a:ext cx="0" cy="0"/>
          <a:chOff x="0" y="0"/>
          <a:chExt cx="0" cy="0"/>
        </a:xfrm>
      </p:grpSpPr>
      <p:sp>
        <p:nvSpPr>
          <p:cNvPr id="3477" name="Google Shape;3477;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8" name="Google Shape;3478;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76200" lvl="0" marL="0" rtl="0" algn="l">
              <a:lnSpc>
                <a:spcPct val="70000"/>
              </a:lnSpc>
              <a:spcBef>
                <a:spcPts val="0"/>
              </a:spcBef>
              <a:spcAft>
                <a:spcPts val="0"/>
              </a:spcAft>
              <a:buClr>
                <a:schemeClr val="dk1"/>
              </a:buClr>
              <a:buSzPts val="1200"/>
              <a:buFont typeface="Noto Sans Symbols"/>
              <a:buChar char="▪"/>
            </a:pPr>
            <a:r>
              <a:rPr lang="en-US"/>
              <a:t> We’ll start with the simplest case possible - an unreliable channel that is, in fact perfect – no segments are lost, corrupted, dupplicated or reordered.  The sender just sends and it pops out the other side(perhaps after some delay) perfectly.</a:t>
            </a:r>
            <a:br>
              <a:rPr lang="en-US"/>
            </a:br>
            <a:br>
              <a:rPr lang="en-US"/>
            </a:br>
            <a:r>
              <a:rPr lang="en-US"/>
              <a:t>Add:</a:t>
            </a:r>
            <a:br>
              <a:rPr lang="en-US"/>
            </a:br>
            <a:r>
              <a:rPr lang="en-US">
                <a:solidFill>
                  <a:srgbClr val="000000"/>
                </a:solidFill>
                <a:latin typeface="Calibri"/>
                <a:ea typeface="Calibri"/>
                <a:cs typeface="Calibri"/>
                <a:sym typeface="Calibri"/>
              </a:rPr>
              <a:t>no need to provide feedback to sender</a:t>
            </a:r>
            <a:endParaRPr/>
          </a:p>
          <a:p>
            <a:pPr indent="-76200" lvl="0" marL="0" rtl="0" algn="l">
              <a:lnSpc>
                <a:spcPct val="70000"/>
              </a:lnSpc>
              <a:spcBef>
                <a:spcPts val="0"/>
              </a:spcBef>
              <a:spcAft>
                <a:spcPts val="0"/>
              </a:spcAft>
              <a:buClr>
                <a:srgbClr val="000000"/>
              </a:buClr>
              <a:buSzPts val="1200"/>
              <a:buFont typeface="Noto Sans Symbols"/>
              <a:buChar char="▪"/>
            </a:pPr>
            <a:r>
              <a:rPr lang="en-US">
                <a:solidFill>
                  <a:srgbClr val="000000"/>
                </a:solidFill>
                <a:latin typeface="Calibri"/>
                <a:ea typeface="Calibri"/>
                <a:cs typeface="Calibri"/>
                <a:sym typeface="Calibri"/>
              </a:rPr>
              <a:t>no need for the rcv to ask sender to slow down sending rate</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rtl="0" algn="l">
              <a:spcBef>
                <a:spcPts val="0"/>
              </a:spcBef>
              <a:spcAft>
                <a:spcPts val="0"/>
              </a:spcAft>
              <a:buNone/>
            </a:pPr>
            <a:r>
              <a:t/>
            </a:r>
            <a:endParaRPr/>
          </a:p>
        </p:txBody>
      </p:sp>
      <p:sp>
        <p:nvSpPr>
          <p:cNvPr id="3479" name="Google Shape;3479;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6" name="Shape 3486"/>
        <p:cNvGrpSpPr/>
        <p:nvPr/>
      </p:nvGrpSpPr>
      <p:grpSpPr>
        <a:xfrm>
          <a:off x="0" y="0"/>
          <a:ext cx="0" cy="0"/>
          <a:chOff x="0" y="0"/>
          <a:chExt cx="0" cy="0"/>
        </a:xfrm>
      </p:grpSpPr>
      <p:sp>
        <p:nvSpPr>
          <p:cNvPr id="3487" name="Google Shape;3487;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8" name="Google Shape;3488;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9" name="Google Shape;3489;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5" name="Shape 3495"/>
        <p:cNvGrpSpPr/>
        <p:nvPr/>
      </p:nvGrpSpPr>
      <p:grpSpPr>
        <a:xfrm>
          <a:off x="0" y="0"/>
          <a:ext cx="0" cy="0"/>
          <a:chOff x="0" y="0"/>
          <a:chExt cx="0" cy="0"/>
        </a:xfrm>
      </p:grpSpPr>
      <p:sp>
        <p:nvSpPr>
          <p:cNvPr id="3496" name="Google Shape;3496;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7" name="Google Shape;3497;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76200" lvl="0" marL="0" rtl="0" algn="l">
              <a:lnSpc>
                <a:spcPct val="75000"/>
              </a:lnSpc>
              <a:spcBef>
                <a:spcPts val="0"/>
              </a:spcBef>
              <a:spcAft>
                <a:spcPts val="0"/>
              </a:spcAft>
              <a:buClr>
                <a:schemeClr val="dk1"/>
              </a:buClr>
              <a:buSzPts val="1200"/>
              <a:buFont typeface="Noto Sans Symbols"/>
              <a:buChar char="▪"/>
            </a:pPr>
            <a:r>
              <a:rPr lang="en-US"/>
              <a:t>Add:</a:t>
            </a:r>
            <a:br>
              <a:rPr lang="en-US"/>
            </a:br>
            <a:r>
              <a:rPr lang="en-US" sz="2000"/>
              <a:t>new mechanisms in </a:t>
            </a:r>
            <a:r>
              <a:rPr b="1" lang="en-US" sz="2000">
                <a:latin typeface="Courier New"/>
                <a:ea typeface="Courier New"/>
                <a:cs typeface="Courier New"/>
                <a:sym typeface="Courier New"/>
              </a:rPr>
              <a:t>rdt2.0</a:t>
            </a:r>
            <a:r>
              <a:rPr lang="en-US" sz="2000"/>
              <a:t> (beyond </a:t>
            </a:r>
            <a:r>
              <a:rPr b="1" lang="en-US" sz="2000">
                <a:latin typeface="Courier New"/>
                <a:ea typeface="Courier New"/>
                <a:cs typeface="Courier New"/>
                <a:sym typeface="Courier New"/>
              </a:rPr>
              <a:t>rdt1.0</a:t>
            </a:r>
            <a:r>
              <a:rPr lang="en-US" sz="2000"/>
              <a:t>):</a:t>
            </a:r>
            <a:endParaRPr/>
          </a:p>
          <a:p>
            <a:pPr indent="-127000" lvl="1" marL="457200" rtl="0" algn="l">
              <a:lnSpc>
                <a:spcPct val="75000"/>
              </a:lnSpc>
              <a:spcBef>
                <a:spcPts val="0"/>
              </a:spcBef>
              <a:spcAft>
                <a:spcPts val="0"/>
              </a:spcAft>
              <a:buClr>
                <a:schemeClr val="dk1"/>
              </a:buClr>
              <a:buSzPts val="2000"/>
              <a:buFont typeface="Arial"/>
              <a:buChar char="•"/>
            </a:pPr>
            <a:r>
              <a:rPr lang="en-US" sz="2000"/>
              <a:t>error detection</a:t>
            </a:r>
            <a:endParaRPr/>
          </a:p>
          <a:p>
            <a:pPr indent="-127000" lvl="1" marL="457200" rtl="0" algn="l">
              <a:lnSpc>
                <a:spcPct val="75000"/>
              </a:lnSpc>
              <a:spcBef>
                <a:spcPts val="0"/>
              </a:spcBef>
              <a:spcAft>
                <a:spcPts val="0"/>
              </a:spcAft>
              <a:buClr>
                <a:schemeClr val="dk1"/>
              </a:buClr>
              <a:buSzPts val="2000"/>
              <a:buFont typeface="Arial"/>
              <a:buChar char="•"/>
            </a:pPr>
            <a:r>
              <a:rPr lang="en-US" sz="2000"/>
              <a:t>feedback: control msgs (ACK,NAK) from receiver to sender</a:t>
            </a:r>
            <a:endParaRPr/>
          </a:p>
        </p:txBody>
      </p:sp>
      <p:sp>
        <p:nvSpPr>
          <p:cNvPr id="3498" name="Google Shape;3498;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9" name="Shape 3509"/>
        <p:cNvGrpSpPr/>
        <p:nvPr/>
      </p:nvGrpSpPr>
      <p:grpSpPr>
        <a:xfrm>
          <a:off x="0" y="0"/>
          <a:ext cx="0" cy="0"/>
          <a:chOff x="0" y="0"/>
          <a:chExt cx="0" cy="0"/>
        </a:xfrm>
      </p:grpSpPr>
      <p:sp>
        <p:nvSpPr>
          <p:cNvPr id="3510" name="Google Shape;3510;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1" name="Google Shape;3511;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2" name="Google Shape;3512;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3" name="Shape 3523"/>
        <p:cNvGrpSpPr/>
        <p:nvPr/>
      </p:nvGrpSpPr>
      <p:grpSpPr>
        <a:xfrm>
          <a:off x="0" y="0"/>
          <a:ext cx="0" cy="0"/>
          <a:chOff x="0" y="0"/>
          <a:chExt cx="0" cy="0"/>
        </a:xfrm>
      </p:grpSpPr>
      <p:sp>
        <p:nvSpPr>
          <p:cNvPr id="3524" name="Google Shape;3524;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5" name="Google Shape;3525;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6" name="Google Shape;3526;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3" name="Shape 3573"/>
        <p:cNvGrpSpPr/>
        <p:nvPr/>
      </p:nvGrpSpPr>
      <p:grpSpPr>
        <a:xfrm>
          <a:off x="0" y="0"/>
          <a:ext cx="0" cy="0"/>
          <a:chOff x="0" y="0"/>
          <a:chExt cx="0" cy="0"/>
        </a:xfrm>
      </p:grpSpPr>
      <p:sp>
        <p:nvSpPr>
          <p:cNvPr id="3574" name="Google Shape;3574;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5" name="Google Shape;3575;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6" name="Google Shape;3576;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8" name="Shape 3618"/>
        <p:cNvGrpSpPr/>
        <p:nvPr/>
      </p:nvGrpSpPr>
      <p:grpSpPr>
        <a:xfrm>
          <a:off x="0" y="0"/>
          <a:ext cx="0" cy="0"/>
          <a:chOff x="0" y="0"/>
          <a:chExt cx="0" cy="0"/>
        </a:xfrm>
      </p:grpSpPr>
      <p:sp>
        <p:nvSpPr>
          <p:cNvPr id="3619" name="Google Shape;3619;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0" name="Google Shape;3620;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1" name="Google Shape;3621;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7" name="Shape 3627"/>
        <p:cNvGrpSpPr/>
        <p:nvPr/>
      </p:nvGrpSpPr>
      <p:grpSpPr>
        <a:xfrm>
          <a:off x="0" y="0"/>
          <a:ext cx="0" cy="0"/>
          <a:chOff x="0" y="0"/>
          <a:chExt cx="0" cy="0"/>
        </a:xfrm>
      </p:grpSpPr>
      <p:sp>
        <p:nvSpPr>
          <p:cNvPr id="3628" name="Google Shape;3628;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9" name="Google Shape;3629;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0" name="Google Shape;3630;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6" name="Shape 3636"/>
        <p:cNvGrpSpPr/>
        <p:nvPr/>
      </p:nvGrpSpPr>
      <p:grpSpPr>
        <a:xfrm>
          <a:off x="0" y="0"/>
          <a:ext cx="0" cy="0"/>
          <a:chOff x="0" y="0"/>
          <a:chExt cx="0" cy="0"/>
        </a:xfrm>
      </p:grpSpPr>
      <p:sp>
        <p:nvSpPr>
          <p:cNvPr id="3637" name="Google Shape;3637;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8" name="Google Shape;3638;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9" name="Google Shape;3639;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5" name="Shape 3645"/>
        <p:cNvGrpSpPr/>
        <p:nvPr/>
      </p:nvGrpSpPr>
      <p:grpSpPr>
        <a:xfrm>
          <a:off x="0" y="0"/>
          <a:ext cx="0" cy="0"/>
          <a:chOff x="0" y="0"/>
          <a:chExt cx="0" cy="0"/>
        </a:xfrm>
      </p:grpSpPr>
      <p:sp>
        <p:nvSpPr>
          <p:cNvPr id="3646" name="Google Shape;3646;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7" name="Google Shape;3647;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8" name="Google Shape;3648;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7" name="Shape 3657"/>
        <p:cNvGrpSpPr/>
        <p:nvPr/>
      </p:nvGrpSpPr>
      <p:grpSpPr>
        <a:xfrm>
          <a:off x="0" y="0"/>
          <a:ext cx="0" cy="0"/>
          <a:chOff x="0" y="0"/>
          <a:chExt cx="0" cy="0"/>
        </a:xfrm>
      </p:grpSpPr>
      <p:sp>
        <p:nvSpPr>
          <p:cNvPr id="3658" name="Google Shape;3658;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59" name="Google Shape;3659;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0" name="Google Shape;3660;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0" name="Shape 3740"/>
        <p:cNvGrpSpPr/>
        <p:nvPr/>
      </p:nvGrpSpPr>
      <p:grpSpPr>
        <a:xfrm>
          <a:off x="0" y="0"/>
          <a:ext cx="0" cy="0"/>
          <a:chOff x="0" y="0"/>
          <a:chExt cx="0" cy="0"/>
        </a:xfrm>
      </p:grpSpPr>
      <p:sp>
        <p:nvSpPr>
          <p:cNvPr id="3741" name="Google Shape;3741;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2" name="Google Shape;3742;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3" name="Google Shape;3743;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7" name="Shape 3857"/>
        <p:cNvGrpSpPr/>
        <p:nvPr/>
      </p:nvGrpSpPr>
      <p:grpSpPr>
        <a:xfrm>
          <a:off x="0" y="0"/>
          <a:ext cx="0" cy="0"/>
          <a:chOff x="0" y="0"/>
          <a:chExt cx="0" cy="0"/>
        </a:xfrm>
      </p:grpSpPr>
      <p:sp>
        <p:nvSpPr>
          <p:cNvPr id="3858" name="Google Shape;3858;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9" name="Google Shape;3859;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66-75</a:t>
            </a:r>
            <a:endParaRPr/>
          </a:p>
        </p:txBody>
      </p:sp>
      <p:sp>
        <p:nvSpPr>
          <p:cNvPr id="3860" name="Google Shape;3860;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6" name="Shape 3916"/>
        <p:cNvGrpSpPr/>
        <p:nvPr/>
      </p:nvGrpSpPr>
      <p:grpSpPr>
        <a:xfrm>
          <a:off x="0" y="0"/>
          <a:ext cx="0" cy="0"/>
          <a:chOff x="0" y="0"/>
          <a:chExt cx="0" cy="0"/>
        </a:xfrm>
      </p:grpSpPr>
      <p:sp>
        <p:nvSpPr>
          <p:cNvPr id="3917" name="Google Shape;3917;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8" name="Google Shape;3918;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4" name="Shape 3974"/>
        <p:cNvGrpSpPr/>
        <p:nvPr/>
      </p:nvGrpSpPr>
      <p:grpSpPr>
        <a:xfrm>
          <a:off x="0" y="0"/>
          <a:ext cx="0" cy="0"/>
          <a:chOff x="0" y="0"/>
          <a:chExt cx="0" cy="0"/>
        </a:xfrm>
      </p:grpSpPr>
      <p:sp>
        <p:nvSpPr>
          <p:cNvPr id="3975" name="Google Shape;3975;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6" name="Google Shape;3976;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1" name="Shape 4041"/>
        <p:cNvGrpSpPr/>
        <p:nvPr/>
      </p:nvGrpSpPr>
      <p:grpSpPr>
        <a:xfrm>
          <a:off x="0" y="0"/>
          <a:ext cx="0" cy="0"/>
          <a:chOff x="0" y="0"/>
          <a:chExt cx="0" cy="0"/>
        </a:xfrm>
      </p:grpSpPr>
      <p:sp>
        <p:nvSpPr>
          <p:cNvPr id="4042" name="Google Shape;4042;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3" name="Google Shape;4043;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0" name="Shape 4100"/>
        <p:cNvGrpSpPr/>
        <p:nvPr/>
      </p:nvGrpSpPr>
      <p:grpSpPr>
        <a:xfrm>
          <a:off x="0" y="0"/>
          <a:ext cx="0" cy="0"/>
          <a:chOff x="0" y="0"/>
          <a:chExt cx="0" cy="0"/>
        </a:xfrm>
      </p:grpSpPr>
      <p:sp>
        <p:nvSpPr>
          <p:cNvPr id="4101" name="Google Shape;4101;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2" name="Google Shape;4102;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8" name="Shape 4168"/>
        <p:cNvGrpSpPr/>
        <p:nvPr/>
      </p:nvGrpSpPr>
      <p:grpSpPr>
        <a:xfrm>
          <a:off x="0" y="0"/>
          <a:ext cx="0" cy="0"/>
          <a:chOff x="0" y="0"/>
          <a:chExt cx="0" cy="0"/>
        </a:xfrm>
      </p:grpSpPr>
      <p:sp>
        <p:nvSpPr>
          <p:cNvPr id="4169" name="Google Shape;4169;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0" name="Google Shape;4170;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6" name="Shape 4226"/>
        <p:cNvGrpSpPr/>
        <p:nvPr/>
      </p:nvGrpSpPr>
      <p:grpSpPr>
        <a:xfrm>
          <a:off x="0" y="0"/>
          <a:ext cx="0" cy="0"/>
          <a:chOff x="0" y="0"/>
          <a:chExt cx="0" cy="0"/>
        </a:xfrm>
      </p:grpSpPr>
      <p:sp>
        <p:nvSpPr>
          <p:cNvPr id="4227" name="Google Shape;4227;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8" name="Google Shape;4228;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4" name="Shape 4294"/>
        <p:cNvGrpSpPr/>
        <p:nvPr/>
      </p:nvGrpSpPr>
      <p:grpSpPr>
        <a:xfrm>
          <a:off x="0" y="0"/>
          <a:ext cx="0" cy="0"/>
          <a:chOff x="0" y="0"/>
          <a:chExt cx="0" cy="0"/>
        </a:xfrm>
      </p:grpSpPr>
      <p:sp>
        <p:nvSpPr>
          <p:cNvPr id="4295" name="Google Shape;4295;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6" name="Google Shape;4296;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2" name="Shape 4352"/>
        <p:cNvGrpSpPr/>
        <p:nvPr/>
      </p:nvGrpSpPr>
      <p:grpSpPr>
        <a:xfrm>
          <a:off x="0" y="0"/>
          <a:ext cx="0" cy="0"/>
          <a:chOff x="0" y="0"/>
          <a:chExt cx="0" cy="0"/>
        </a:xfrm>
      </p:grpSpPr>
      <p:sp>
        <p:nvSpPr>
          <p:cNvPr id="4353" name="Google Shape;4353;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4" name="Google Shape;4354;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1" name="Shape 4421"/>
        <p:cNvGrpSpPr/>
        <p:nvPr/>
      </p:nvGrpSpPr>
      <p:grpSpPr>
        <a:xfrm>
          <a:off x="0" y="0"/>
          <a:ext cx="0" cy="0"/>
          <a:chOff x="0" y="0"/>
          <a:chExt cx="0" cy="0"/>
        </a:xfrm>
      </p:grpSpPr>
      <p:sp>
        <p:nvSpPr>
          <p:cNvPr id="4422" name="Google Shape;4422;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3" name="Google Shape;4423;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if RTT=30 msec, 1KB pkt every 30 msec: 33kB/sec thruput over 1 Gbps link</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network protocol limits use of physical resources</a:t>
            </a:r>
            <a:br>
              <a:rPr b="0" i="0" lang="en-US" sz="1200" u="none" cap="none" strike="noStrike">
                <a:solidFill>
                  <a:srgbClr val="000000"/>
                </a:solidFill>
                <a:latin typeface="Calibri"/>
                <a:ea typeface="Calibri"/>
                <a:cs typeface="Calibri"/>
                <a:sym typeface="Calibri"/>
              </a:rPr>
            </a:br>
            <a:br>
              <a:rPr b="0" i="0" lang="en-US" sz="1200" u="none" cap="none" strike="noStrike">
                <a:solidFill>
                  <a:srgbClr val="000000"/>
                </a:solidFill>
                <a:latin typeface="Calibri"/>
                <a:ea typeface="Calibri"/>
                <a:cs typeface="Calibri"/>
                <a:sym typeface="Calibri"/>
              </a:rPr>
            </a:br>
            <a:br>
              <a:rPr b="0" i="0" lang="en-US" sz="1200" u="none" cap="none" strike="noStrike">
                <a:solidFill>
                  <a:srgbClr val="000000"/>
                </a:solidFill>
                <a:latin typeface="Calibri"/>
                <a:ea typeface="Calibri"/>
                <a:cs typeface="Calibri"/>
                <a:sym typeface="Calibri"/>
              </a:rPr>
            </a:br>
            <a:r>
              <a:rPr b="0" i="0" lang="en-US" sz="1200" u="none" cap="none" strike="noStrike">
                <a:solidFill>
                  <a:srgbClr val="000000"/>
                </a:solidFill>
                <a:latin typeface="Calibri"/>
                <a:ea typeface="Calibri"/>
                <a:cs typeface="Calibri"/>
                <a:sym typeface="Calibri"/>
              </a:rPr>
              <a:t>Add:</a:t>
            </a:r>
            <a:endParaRPr/>
          </a:p>
          <a:p>
            <a:pPr indent="0" lvl="0" marL="0" marR="0" rtl="0" algn="l">
              <a:lnSpc>
                <a:spcPct val="100000"/>
              </a:lnSpc>
              <a:spcBef>
                <a:spcPts val="0"/>
              </a:spcBef>
              <a:spcAft>
                <a:spcPts val="0"/>
              </a:spcAft>
              <a:buClr>
                <a:schemeClr val="dk1"/>
              </a:buClr>
              <a:buSzPts val="1200"/>
              <a:buFont typeface="Calibri"/>
              <a:buNone/>
            </a:pPr>
            <a:r>
              <a:rPr lang="en-US"/>
              <a:t>rdt3.0 is functionally correct, but performance stinks (low)</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Let’s develop a formula for utilization</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t/>
            </a:r>
            <a:endParaRPr/>
          </a:p>
        </p:txBody>
      </p:sp>
      <p:sp>
        <p:nvSpPr>
          <p:cNvPr id="4424" name="Google Shape;4424;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5" name="Shape 4445"/>
        <p:cNvGrpSpPr/>
        <p:nvPr/>
      </p:nvGrpSpPr>
      <p:grpSpPr>
        <a:xfrm>
          <a:off x="0" y="0"/>
          <a:ext cx="0" cy="0"/>
          <a:chOff x="0" y="0"/>
          <a:chExt cx="0" cy="0"/>
        </a:xfrm>
      </p:grpSpPr>
      <p:sp>
        <p:nvSpPr>
          <p:cNvPr id="4446" name="Google Shape;4446;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7" name="Google Shape;4447;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79</a:t>
            </a:r>
            <a:endParaRPr/>
          </a:p>
          <a:p>
            <a:pPr indent="0" lvl="0" marL="0" rtl="0" algn="l">
              <a:spcBef>
                <a:spcPts val="0"/>
              </a:spcBef>
              <a:spcAft>
                <a:spcPts val="0"/>
              </a:spcAft>
              <a:buNone/>
            </a:pPr>
            <a:r>
              <a:t/>
            </a:r>
            <a:endParaRPr/>
          </a:p>
        </p:txBody>
      </p:sp>
      <p:sp>
        <p:nvSpPr>
          <p:cNvPr id="4448" name="Google Shape;4448;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6" name="Shape 4486"/>
        <p:cNvGrpSpPr/>
        <p:nvPr/>
      </p:nvGrpSpPr>
      <p:grpSpPr>
        <a:xfrm>
          <a:off x="0" y="0"/>
          <a:ext cx="0" cy="0"/>
          <a:chOff x="0" y="0"/>
          <a:chExt cx="0" cy="0"/>
        </a:xfrm>
      </p:grpSpPr>
      <p:sp>
        <p:nvSpPr>
          <p:cNvPr id="4487" name="Google Shape;4487;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8" name="Google Shape;4488;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9" name="Google Shape;4489;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4" name="Shape 4574"/>
        <p:cNvGrpSpPr/>
        <p:nvPr/>
      </p:nvGrpSpPr>
      <p:grpSpPr>
        <a:xfrm>
          <a:off x="0" y="0"/>
          <a:ext cx="0" cy="0"/>
          <a:chOff x="0" y="0"/>
          <a:chExt cx="0" cy="0"/>
        </a:xfrm>
      </p:grpSpPr>
      <p:sp>
        <p:nvSpPr>
          <p:cNvPr id="4575" name="Google Shape;4575;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6" name="Google Shape;4576;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two generic forms of pipelined protocols: </a:t>
            </a:r>
            <a:r>
              <a:rPr b="0" i="1" lang="en-US" sz="1200" u="none" cap="none" strike="noStrike">
                <a:solidFill>
                  <a:srgbClr val="CC0000"/>
                </a:solidFill>
                <a:latin typeface="Calibri"/>
                <a:ea typeface="Calibri"/>
                <a:cs typeface="Calibri"/>
                <a:sym typeface="Calibri"/>
              </a:rPr>
              <a:t>go-Back-N, selective repeat</a:t>
            </a:r>
            <a:endParaRPr/>
          </a:p>
          <a:p>
            <a:pPr indent="0" lvl="0" marL="0" rtl="0" algn="l">
              <a:spcBef>
                <a:spcPts val="0"/>
              </a:spcBef>
              <a:spcAft>
                <a:spcPts val="0"/>
              </a:spcAft>
              <a:buNone/>
            </a:pPr>
            <a:r>
              <a:t/>
            </a:r>
            <a:endParaRPr/>
          </a:p>
        </p:txBody>
      </p:sp>
      <p:sp>
        <p:nvSpPr>
          <p:cNvPr id="4577" name="Google Shape;4577;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2" name="Shape 4642"/>
        <p:cNvGrpSpPr/>
        <p:nvPr/>
      </p:nvGrpSpPr>
      <p:grpSpPr>
        <a:xfrm>
          <a:off x="0" y="0"/>
          <a:ext cx="0" cy="0"/>
          <a:chOff x="0" y="0"/>
          <a:chExt cx="0" cy="0"/>
        </a:xfrm>
      </p:grpSpPr>
      <p:sp>
        <p:nvSpPr>
          <p:cNvPr id="4643" name="Google Shape;4643;p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4" name="Google Shape;4644;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1" name="Shape 4651"/>
        <p:cNvGrpSpPr/>
        <p:nvPr/>
      </p:nvGrpSpPr>
      <p:grpSpPr>
        <a:xfrm>
          <a:off x="0" y="0"/>
          <a:ext cx="0" cy="0"/>
          <a:chOff x="0" y="0"/>
          <a:chExt cx="0" cy="0"/>
        </a:xfrm>
      </p:grpSpPr>
      <p:sp>
        <p:nvSpPr>
          <p:cNvPr id="4652" name="Google Shape;4652;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3" name="Google Shape;4653;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82</a:t>
            </a:r>
            <a:endParaRPr/>
          </a:p>
          <a:p>
            <a:pPr indent="0" lvl="0" marL="0" rtl="0" algn="l">
              <a:spcBef>
                <a:spcPts val="0"/>
              </a:spcBef>
              <a:spcAft>
                <a:spcPts val="0"/>
              </a:spcAft>
              <a:buNone/>
            </a:pPr>
            <a:r>
              <a:t/>
            </a:r>
            <a:endParaRPr/>
          </a:p>
        </p:txBody>
      </p:sp>
      <p:sp>
        <p:nvSpPr>
          <p:cNvPr id="4654" name="Google Shape;4654;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0" name="Shape 4660"/>
        <p:cNvGrpSpPr/>
        <p:nvPr/>
      </p:nvGrpSpPr>
      <p:grpSpPr>
        <a:xfrm>
          <a:off x="0" y="0"/>
          <a:ext cx="0" cy="0"/>
          <a:chOff x="0" y="0"/>
          <a:chExt cx="0" cy="0"/>
        </a:xfrm>
      </p:grpSpPr>
      <p:sp>
        <p:nvSpPr>
          <p:cNvPr id="4661" name="Google Shape;4661;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2" name="Google Shape;4662;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window size of 14, 8 have been sent but are not yet ackowledgedm 6 sequence numbers are available for us. In woindow, but no calls from above to use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Note – we’ll skip the Go-Back-N FSM specification you can chack that out in powerpoitn slides or book)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TCP uses cumulative ACK</a:t>
            </a:r>
            <a:endParaRPr/>
          </a:p>
        </p:txBody>
      </p:sp>
      <p:sp>
        <p:nvSpPr>
          <p:cNvPr id="4663" name="Google Shape;4663;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1" name="Shape 4671"/>
        <p:cNvGrpSpPr/>
        <p:nvPr/>
      </p:nvGrpSpPr>
      <p:grpSpPr>
        <a:xfrm>
          <a:off x="0" y="0"/>
          <a:ext cx="0" cy="0"/>
          <a:chOff x="0" y="0"/>
          <a:chExt cx="0" cy="0"/>
        </a:xfrm>
      </p:grpSpPr>
      <p:sp>
        <p:nvSpPr>
          <p:cNvPr id="4672" name="Google Shape;4672;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3" name="Google Shape;4673;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Note – we’ll skip the Go-Back-N FSM specification (actually it’s  </a:t>
            </a:r>
            <a:endParaRPr/>
          </a:p>
        </p:txBody>
      </p:sp>
      <p:sp>
        <p:nvSpPr>
          <p:cNvPr id="4674" name="Google Shape;4674;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6" name="Shape 4706"/>
        <p:cNvGrpSpPr/>
        <p:nvPr/>
      </p:nvGrpSpPr>
      <p:grpSpPr>
        <a:xfrm>
          <a:off x="0" y="0"/>
          <a:ext cx="0" cy="0"/>
          <a:chOff x="0" y="0"/>
          <a:chExt cx="0" cy="0"/>
        </a:xfrm>
      </p:grpSpPr>
      <p:sp>
        <p:nvSpPr>
          <p:cNvPr id="4707" name="Google Shape;4707;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8" name="Google Shape;4708;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Let’s skip FSM specification for GBN – check out the book or ppt – and let’s watch GBN sender and receivers  in action.</a:t>
            </a:r>
            <a:endParaRPr/>
          </a:p>
          <a:p>
            <a:pPr indent="0" lvl="0" marL="0" rtl="0" algn="l">
              <a:spcBef>
                <a:spcPts val="0"/>
              </a:spcBef>
              <a:spcAft>
                <a:spcPts val="0"/>
              </a:spcAft>
              <a:buNone/>
            </a:pPr>
            <a:r>
              <a:rPr lang="en-US"/>
              <a:t>Let assume a window size of 4.  at t=0, sender sends packets 0, 1, 2 3, 4, and packet 2 will be lost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the receiver:</a:t>
            </a:r>
            <a:endParaRPr/>
          </a:p>
          <a:p>
            <a:pPr indent="0" lvl="0" marL="0" rtl="0" algn="l">
              <a:spcBef>
                <a:spcPts val="0"/>
              </a:spcBef>
              <a:spcAft>
                <a:spcPts val="0"/>
              </a:spcAft>
              <a:buNone/>
            </a:pPr>
            <a:r>
              <a:rPr lang="en-US"/>
              <a:t>Packet 0 received ACK0 generated</a:t>
            </a:r>
            <a:endParaRPr/>
          </a:p>
          <a:p>
            <a:pPr indent="0" lvl="0" marL="0" rtl="0" algn="l">
              <a:spcBef>
                <a:spcPts val="0"/>
              </a:spcBef>
              <a:spcAft>
                <a:spcPts val="0"/>
              </a:spcAft>
              <a:buNone/>
            </a:pPr>
            <a:r>
              <a:rPr lang="en-US"/>
              <a:t>Packet 1 received ACK1 generated</a:t>
            </a:r>
            <a:endParaRPr/>
          </a:p>
          <a:p>
            <a:pPr indent="0" lvl="0" marL="0" rtl="0" algn="l">
              <a:spcBef>
                <a:spcPts val="0"/>
              </a:spcBef>
              <a:spcAft>
                <a:spcPts val="0"/>
              </a:spcAft>
              <a:buNone/>
            </a:pPr>
            <a:r>
              <a:rPr lang="en-US"/>
              <a:t>Packet 2 is lost, and so when packet 3 is received, ACK 1 is sent – that’s the cumulative ACK, re-Acknowledging the receipt of packet 1. and in this implementation packet 3 is discarded</a:t>
            </a:r>
            <a:endParaRPr/>
          </a:p>
          <a:p>
            <a:pPr indent="0" lvl="0" marL="0" rtl="0" algn="l">
              <a:spcBef>
                <a:spcPts val="0"/>
              </a:spcBef>
              <a:spcAft>
                <a:spcPts val="0"/>
              </a:spcAft>
              <a:buNone/>
            </a:pPr>
            <a:r>
              <a:t/>
            </a:r>
            <a:endParaRPr/>
          </a:p>
        </p:txBody>
      </p:sp>
      <p:sp>
        <p:nvSpPr>
          <p:cNvPr id="4709" name="Google Shape;4709;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3" name="Shape 4793"/>
        <p:cNvGrpSpPr/>
        <p:nvPr/>
      </p:nvGrpSpPr>
      <p:grpSpPr>
        <a:xfrm>
          <a:off x="0" y="0"/>
          <a:ext cx="0" cy="0"/>
          <a:chOff x="0" y="0"/>
          <a:chExt cx="0" cy="0"/>
        </a:xfrm>
      </p:grpSpPr>
      <p:sp>
        <p:nvSpPr>
          <p:cNvPr id="4794" name="Google Shape;4794;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5" name="Google Shape;4795;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88-89</a:t>
            </a:r>
            <a:endParaRPr/>
          </a:p>
          <a:p>
            <a:pPr indent="0" lvl="0" marL="0" rtl="0" algn="l">
              <a:spcBef>
                <a:spcPts val="0"/>
              </a:spcBef>
              <a:spcAft>
                <a:spcPts val="0"/>
              </a:spcAft>
              <a:buNone/>
            </a:pPr>
            <a:r>
              <a:t/>
            </a:r>
            <a:endParaRPr/>
          </a:p>
        </p:txBody>
      </p:sp>
      <p:sp>
        <p:nvSpPr>
          <p:cNvPr id="4796" name="Google Shape;4796;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3" name="Shape 4803"/>
        <p:cNvGrpSpPr/>
        <p:nvPr/>
      </p:nvGrpSpPr>
      <p:grpSpPr>
        <a:xfrm>
          <a:off x="0" y="0"/>
          <a:ext cx="0" cy="0"/>
          <a:chOff x="0" y="0"/>
          <a:chExt cx="0" cy="0"/>
        </a:xfrm>
      </p:grpSpPr>
      <p:sp>
        <p:nvSpPr>
          <p:cNvPr id="4804" name="Google Shape;4804;p8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5" name="Google Shape;4805;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0" name="Shape 4810"/>
        <p:cNvGrpSpPr/>
        <p:nvPr/>
      </p:nvGrpSpPr>
      <p:grpSpPr>
        <a:xfrm>
          <a:off x="0" y="0"/>
          <a:ext cx="0" cy="0"/>
          <a:chOff x="0" y="0"/>
          <a:chExt cx="0" cy="0"/>
        </a:xfrm>
      </p:grpSpPr>
      <p:sp>
        <p:nvSpPr>
          <p:cNvPr id="4811" name="Google Shape;4811;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2" name="Google Shape;4812;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An important mechanism of GBN was the use of the cumulative acknowledgements, and as we mentioned, cumulative ACKs are used in TCP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 alternate ACK mechanism would be for the receiver to indiviually acknowledge specific packets as they are received.  This mechanism is at the heart of the Selective repeat protocol.</a:t>
            </a:r>
            <a:endParaRPr/>
          </a:p>
          <a:p>
            <a:pPr indent="0" lvl="0" marL="0" rtl="0" algn="l">
              <a:spcBef>
                <a:spcPts val="0"/>
              </a:spcBef>
              <a:spcAft>
                <a:spcPts val="0"/>
              </a:spcAft>
              <a:buNone/>
            </a:pPr>
            <a:r>
              <a:t/>
            </a:r>
            <a:endParaRPr/>
          </a:p>
        </p:txBody>
      </p:sp>
      <p:sp>
        <p:nvSpPr>
          <p:cNvPr id="4813" name="Google Shape;4813;p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8" name="Shape 4818"/>
        <p:cNvGrpSpPr/>
        <p:nvPr/>
      </p:nvGrpSpPr>
      <p:grpSpPr>
        <a:xfrm>
          <a:off x="0" y="0"/>
          <a:ext cx="0" cy="0"/>
          <a:chOff x="0" y="0"/>
          <a:chExt cx="0" cy="0"/>
        </a:xfrm>
      </p:grpSpPr>
      <p:sp>
        <p:nvSpPr>
          <p:cNvPr id="4819" name="Google Shape;4819;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20" name="Google Shape;4820;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1" name="Google Shape;4821;p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5" name="Shape 4835"/>
        <p:cNvGrpSpPr/>
        <p:nvPr/>
      </p:nvGrpSpPr>
      <p:grpSpPr>
        <a:xfrm>
          <a:off x="0" y="0"/>
          <a:ext cx="0" cy="0"/>
          <a:chOff x="0" y="0"/>
          <a:chExt cx="0" cy="0"/>
        </a:xfrm>
      </p:grpSpPr>
      <p:sp>
        <p:nvSpPr>
          <p:cNvPr id="4836" name="Google Shape;4836;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7" name="Google Shape;4837;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If the packet is in order, its data will be delivered, as will any buffered data that can now be delived in order</a:t>
            </a:r>
            <a:endParaRPr/>
          </a:p>
        </p:txBody>
      </p:sp>
      <p:sp>
        <p:nvSpPr>
          <p:cNvPr id="4838" name="Google Shape;4838;p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3" name="Shape 4853"/>
        <p:cNvGrpSpPr/>
        <p:nvPr/>
      </p:nvGrpSpPr>
      <p:grpSpPr>
        <a:xfrm>
          <a:off x="0" y="0"/>
          <a:ext cx="0" cy="0"/>
          <a:chOff x="0" y="0"/>
          <a:chExt cx="0" cy="0"/>
        </a:xfrm>
      </p:grpSpPr>
      <p:sp>
        <p:nvSpPr>
          <p:cNvPr id="4854" name="Google Shape;4854;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5" name="Google Shape;4855;p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6" name="Google Shape;4856;p8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3" name="Shape 4933"/>
        <p:cNvGrpSpPr/>
        <p:nvPr/>
      </p:nvGrpSpPr>
      <p:grpSpPr>
        <a:xfrm>
          <a:off x="0" y="0"/>
          <a:ext cx="0" cy="0"/>
          <a:chOff x="0" y="0"/>
          <a:chExt cx="0" cy="0"/>
        </a:xfrm>
      </p:grpSpPr>
      <p:sp>
        <p:nvSpPr>
          <p:cNvPr id="4934" name="Google Shape;4934;p8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5" name="Google Shape;4935;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6" name="Shape 4956"/>
        <p:cNvGrpSpPr/>
        <p:nvPr/>
      </p:nvGrpSpPr>
      <p:grpSpPr>
        <a:xfrm>
          <a:off x="0" y="0"/>
          <a:ext cx="0" cy="0"/>
          <a:chOff x="0" y="0"/>
          <a:chExt cx="0" cy="0"/>
        </a:xfrm>
      </p:grpSpPr>
      <p:sp>
        <p:nvSpPr>
          <p:cNvPr id="4957" name="Google Shape;4957;p8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58" name="Google Shape;4958;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0" name="Shape 4970"/>
        <p:cNvGrpSpPr/>
        <p:nvPr/>
      </p:nvGrpSpPr>
      <p:grpSpPr>
        <a:xfrm>
          <a:off x="0" y="0"/>
          <a:ext cx="0" cy="0"/>
          <a:chOff x="0" y="0"/>
          <a:chExt cx="0" cy="0"/>
        </a:xfrm>
      </p:grpSpPr>
      <p:sp>
        <p:nvSpPr>
          <p:cNvPr id="4971" name="Google Shape;4971;p8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2" name="Google Shape;4972;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2" name="Shape 5062"/>
        <p:cNvGrpSpPr/>
        <p:nvPr/>
      </p:nvGrpSpPr>
      <p:grpSpPr>
        <a:xfrm>
          <a:off x="0" y="0"/>
          <a:ext cx="0" cy="0"/>
          <a:chOff x="0" y="0"/>
          <a:chExt cx="0" cy="0"/>
        </a:xfrm>
      </p:grpSpPr>
      <p:sp>
        <p:nvSpPr>
          <p:cNvPr id="5063" name="Google Shape;5063;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4" name="Google Shape;5064;p8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5" name="Google Shape;5065;p8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1" name="Shape 5071"/>
        <p:cNvGrpSpPr/>
        <p:nvPr/>
      </p:nvGrpSpPr>
      <p:grpSpPr>
        <a:xfrm>
          <a:off x="0" y="0"/>
          <a:ext cx="0" cy="0"/>
          <a:chOff x="0" y="0"/>
          <a:chExt cx="0" cy="0"/>
        </a:xfrm>
      </p:grpSpPr>
      <p:sp>
        <p:nvSpPr>
          <p:cNvPr id="5072" name="Google Shape;5072;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3" name="Google Shape;5073;p9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98</a:t>
            </a:r>
            <a:endParaRPr/>
          </a:p>
        </p:txBody>
      </p:sp>
      <p:sp>
        <p:nvSpPr>
          <p:cNvPr id="5074" name="Google Shape;5074;p9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4" name="Shape 5094"/>
        <p:cNvGrpSpPr/>
        <p:nvPr/>
      </p:nvGrpSpPr>
      <p:grpSpPr>
        <a:xfrm>
          <a:off x="0" y="0"/>
          <a:ext cx="0" cy="0"/>
          <a:chOff x="0" y="0"/>
          <a:chExt cx="0" cy="0"/>
        </a:xfrm>
      </p:grpSpPr>
      <p:sp>
        <p:nvSpPr>
          <p:cNvPr id="5095" name="Google Shape;5095;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6" name="Google Shape;5096;p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99-102</a:t>
            </a:r>
            <a:endParaRPr/>
          </a:p>
          <a:p>
            <a:pPr indent="0" lvl="0" marL="0" rtl="0" algn="l">
              <a:spcBef>
                <a:spcPts val="0"/>
              </a:spcBef>
              <a:spcAft>
                <a:spcPts val="0"/>
              </a:spcAft>
              <a:buNone/>
            </a:pPr>
            <a:r>
              <a:t/>
            </a:r>
            <a:endParaRPr/>
          </a:p>
        </p:txBody>
      </p:sp>
      <p:sp>
        <p:nvSpPr>
          <p:cNvPr id="5097" name="Google Shape;5097;p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4" name="Shape 5104"/>
        <p:cNvGrpSpPr/>
        <p:nvPr/>
      </p:nvGrpSpPr>
      <p:grpSpPr>
        <a:xfrm>
          <a:off x="0" y="0"/>
          <a:ext cx="0" cy="0"/>
          <a:chOff x="0" y="0"/>
          <a:chExt cx="0" cy="0"/>
        </a:xfrm>
      </p:grpSpPr>
      <p:sp>
        <p:nvSpPr>
          <p:cNvPr id="5105" name="Google Shape;5105;p9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6" name="Google Shape;5106;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8" name="Shape 5118"/>
        <p:cNvGrpSpPr/>
        <p:nvPr/>
      </p:nvGrpSpPr>
      <p:grpSpPr>
        <a:xfrm>
          <a:off x="0" y="0"/>
          <a:ext cx="0" cy="0"/>
          <a:chOff x="0" y="0"/>
          <a:chExt cx="0" cy="0"/>
        </a:xfrm>
      </p:grpSpPr>
      <p:sp>
        <p:nvSpPr>
          <p:cNvPr id="5119" name="Google Shape;5119;p9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0" name="Google Shape;5120;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7" name="Shape 5127"/>
        <p:cNvGrpSpPr/>
        <p:nvPr/>
      </p:nvGrpSpPr>
      <p:grpSpPr>
        <a:xfrm>
          <a:off x="0" y="0"/>
          <a:ext cx="0" cy="0"/>
          <a:chOff x="0" y="0"/>
          <a:chExt cx="0" cy="0"/>
        </a:xfrm>
      </p:grpSpPr>
      <p:sp>
        <p:nvSpPr>
          <p:cNvPr id="5128" name="Google Shape;5128;p9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9" name="Google Shape;5129;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5" name="Shape 5135"/>
        <p:cNvGrpSpPr/>
        <p:nvPr/>
      </p:nvGrpSpPr>
      <p:grpSpPr>
        <a:xfrm>
          <a:off x="0" y="0"/>
          <a:ext cx="0" cy="0"/>
          <a:chOff x="0" y="0"/>
          <a:chExt cx="0" cy="0"/>
        </a:xfrm>
      </p:grpSpPr>
      <p:sp>
        <p:nvSpPr>
          <p:cNvPr id="5136" name="Google Shape;5136;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37" name="Google Shape;5137;p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103-104</a:t>
            </a:r>
            <a:endParaRPr/>
          </a:p>
        </p:txBody>
      </p:sp>
      <p:sp>
        <p:nvSpPr>
          <p:cNvPr id="5138" name="Google Shape;5138;p9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9" name="Shape 5159"/>
        <p:cNvGrpSpPr/>
        <p:nvPr/>
      </p:nvGrpSpPr>
      <p:grpSpPr>
        <a:xfrm>
          <a:off x="0" y="0"/>
          <a:ext cx="0" cy="0"/>
          <a:chOff x="0" y="0"/>
          <a:chExt cx="0" cy="0"/>
        </a:xfrm>
      </p:grpSpPr>
      <p:sp>
        <p:nvSpPr>
          <p:cNvPr id="5160" name="Google Shape;5160;p9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61" name="Google Shape;5161;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7" name="Shape 5167"/>
        <p:cNvGrpSpPr/>
        <p:nvPr/>
      </p:nvGrpSpPr>
      <p:grpSpPr>
        <a:xfrm>
          <a:off x="0" y="0"/>
          <a:ext cx="0" cy="0"/>
          <a:chOff x="0" y="0"/>
          <a:chExt cx="0" cy="0"/>
        </a:xfrm>
      </p:grpSpPr>
      <p:sp>
        <p:nvSpPr>
          <p:cNvPr id="5168" name="Google Shape;5168;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9" name="Google Shape;5169;p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Hide slide 105</a:t>
            </a:r>
            <a:endParaRPr/>
          </a:p>
        </p:txBody>
      </p:sp>
      <p:sp>
        <p:nvSpPr>
          <p:cNvPr id="5170" name="Google Shape;5170;p9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0" name="Shape 5250"/>
        <p:cNvGrpSpPr/>
        <p:nvPr/>
      </p:nvGrpSpPr>
      <p:grpSpPr>
        <a:xfrm>
          <a:off x="0" y="0"/>
          <a:ext cx="0" cy="0"/>
          <a:chOff x="0" y="0"/>
          <a:chExt cx="0" cy="0"/>
        </a:xfrm>
      </p:grpSpPr>
      <p:sp>
        <p:nvSpPr>
          <p:cNvPr id="5251" name="Google Shape;5251;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52" name="Google Shape;5252;p9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106(more info)</a:t>
            </a:r>
            <a:endParaRPr/>
          </a:p>
        </p:txBody>
      </p:sp>
      <p:sp>
        <p:nvSpPr>
          <p:cNvPr id="5253" name="Google Shape;5253;p9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9" name="Shape 5309"/>
        <p:cNvGrpSpPr/>
        <p:nvPr/>
      </p:nvGrpSpPr>
      <p:grpSpPr>
        <a:xfrm>
          <a:off x="0" y="0"/>
          <a:ext cx="0" cy="0"/>
          <a:chOff x="0" y="0"/>
          <a:chExt cx="0" cy="0"/>
        </a:xfrm>
      </p:grpSpPr>
      <p:sp>
        <p:nvSpPr>
          <p:cNvPr id="5310" name="Google Shape;5310;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11" name="Google Shape;5311;p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107-108</a:t>
            </a:r>
            <a:endParaRPr/>
          </a:p>
        </p:txBody>
      </p:sp>
      <p:sp>
        <p:nvSpPr>
          <p:cNvPr id="5312" name="Google Shape;5312;p9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7" name="Shape 5317"/>
        <p:cNvGrpSpPr/>
        <p:nvPr/>
      </p:nvGrpSpPr>
      <p:grpSpPr>
        <a:xfrm>
          <a:off x="0" y="0"/>
          <a:ext cx="0" cy="0"/>
          <a:chOff x="0" y="0"/>
          <a:chExt cx="0" cy="0"/>
        </a:xfrm>
      </p:grpSpPr>
      <p:sp>
        <p:nvSpPr>
          <p:cNvPr id="5318" name="Google Shape;5318;p10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19" name="Google Shape;5319;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4" name="Shape 5324"/>
        <p:cNvGrpSpPr/>
        <p:nvPr/>
      </p:nvGrpSpPr>
      <p:grpSpPr>
        <a:xfrm>
          <a:off x="0" y="0"/>
          <a:ext cx="0" cy="0"/>
          <a:chOff x="0" y="0"/>
          <a:chExt cx="0" cy="0"/>
        </a:xfrm>
      </p:grpSpPr>
      <p:sp>
        <p:nvSpPr>
          <p:cNvPr id="5325" name="Google Shape;5325;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6" name="Google Shape;5326;p10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27" name="Google Shape;5327;p10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6" name="Shape 5436"/>
        <p:cNvGrpSpPr/>
        <p:nvPr/>
      </p:nvGrpSpPr>
      <p:grpSpPr>
        <a:xfrm>
          <a:off x="0" y="0"/>
          <a:ext cx="0" cy="0"/>
          <a:chOff x="0" y="0"/>
          <a:chExt cx="0" cy="0"/>
        </a:xfrm>
      </p:grpSpPr>
      <p:sp>
        <p:nvSpPr>
          <p:cNvPr id="5437" name="Google Shape;5437;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38" name="Google Shape;5438;p10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key thing to note here is that the ACK number (43) on the B-to-A segment is one more than the sequence number (42) on the A-toB segment that triggered that ACK</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rPr lang="en-US"/>
              <a:t>Similarly, the ACK number (80) on the last A-to-B segment is one more than the sequence number (79) on the B-to-A segment that triggered that ACK</a:t>
            </a:r>
            <a:endParaRPr/>
          </a:p>
          <a:p>
            <a:pPr indent="0" lvl="0" marL="0" rtl="0" algn="l">
              <a:spcBef>
                <a:spcPts val="0"/>
              </a:spcBef>
              <a:spcAft>
                <a:spcPts val="0"/>
              </a:spcAft>
              <a:buNone/>
            </a:pPr>
            <a:r>
              <a:t/>
            </a:r>
            <a:endParaRPr/>
          </a:p>
        </p:txBody>
      </p:sp>
      <p:sp>
        <p:nvSpPr>
          <p:cNvPr id="5439" name="Google Shape;5439;p10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7" name="Shape 5477"/>
        <p:cNvGrpSpPr/>
        <p:nvPr/>
      </p:nvGrpSpPr>
      <p:grpSpPr>
        <a:xfrm>
          <a:off x="0" y="0"/>
          <a:ext cx="0" cy="0"/>
          <a:chOff x="0" y="0"/>
          <a:chExt cx="0" cy="0"/>
        </a:xfrm>
      </p:grpSpPr>
      <p:sp>
        <p:nvSpPr>
          <p:cNvPr id="5478" name="Google Shape;5478;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79" name="Google Shape;5479;p10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111-113</a:t>
            </a:r>
            <a:endParaRPr/>
          </a:p>
          <a:p>
            <a:pPr indent="0" lvl="0" marL="0" rtl="0" algn="l">
              <a:spcBef>
                <a:spcPts val="0"/>
              </a:spcBef>
              <a:spcAft>
                <a:spcPts val="0"/>
              </a:spcAft>
              <a:buNone/>
            </a:pPr>
            <a:r>
              <a:t/>
            </a:r>
            <a:endParaRPr/>
          </a:p>
        </p:txBody>
      </p:sp>
      <p:sp>
        <p:nvSpPr>
          <p:cNvPr id="5480" name="Google Shape;5480;p10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5" name="Shape 5485"/>
        <p:cNvGrpSpPr/>
        <p:nvPr/>
      </p:nvGrpSpPr>
      <p:grpSpPr>
        <a:xfrm>
          <a:off x="0" y="0"/>
          <a:ext cx="0" cy="0"/>
          <a:chOff x="0" y="0"/>
          <a:chExt cx="0" cy="0"/>
        </a:xfrm>
      </p:grpSpPr>
      <p:sp>
        <p:nvSpPr>
          <p:cNvPr id="5486" name="Google Shape;5486;p10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87" name="Google Shape;5487;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1" name="Shape 5491"/>
        <p:cNvGrpSpPr/>
        <p:nvPr/>
      </p:nvGrpSpPr>
      <p:grpSpPr>
        <a:xfrm>
          <a:off x="0" y="0"/>
          <a:ext cx="0" cy="0"/>
          <a:chOff x="0" y="0"/>
          <a:chExt cx="0" cy="0"/>
        </a:xfrm>
      </p:grpSpPr>
      <p:sp>
        <p:nvSpPr>
          <p:cNvPr id="5492" name="Google Shape;5492;p10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93" name="Google Shape;5493;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7" name="Shape 5497"/>
        <p:cNvGrpSpPr/>
        <p:nvPr/>
      </p:nvGrpSpPr>
      <p:grpSpPr>
        <a:xfrm>
          <a:off x="0" y="0"/>
          <a:ext cx="0" cy="0"/>
          <a:chOff x="0" y="0"/>
          <a:chExt cx="0" cy="0"/>
        </a:xfrm>
      </p:grpSpPr>
      <p:sp>
        <p:nvSpPr>
          <p:cNvPr id="5498" name="Google Shape;5498;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9" name="Google Shape;5499;p10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00" name="Google Shape;5500;p10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6" name="Shape 5506"/>
        <p:cNvGrpSpPr/>
        <p:nvPr/>
      </p:nvGrpSpPr>
      <p:grpSpPr>
        <a:xfrm>
          <a:off x="0" y="0"/>
          <a:ext cx="0" cy="0"/>
          <a:chOff x="0" y="0"/>
          <a:chExt cx="0" cy="0"/>
        </a:xfrm>
      </p:grpSpPr>
      <p:sp>
        <p:nvSpPr>
          <p:cNvPr id="5507" name="Google Shape;5507;p10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08" name="Google Shape;5508;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7" name="Shape 5517"/>
        <p:cNvGrpSpPr/>
        <p:nvPr/>
      </p:nvGrpSpPr>
      <p:grpSpPr>
        <a:xfrm>
          <a:off x="0" y="0"/>
          <a:ext cx="0" cy="0"/>
          <a:chOff x="0" y="0"/>
          <a:chExt cx="0" cy="0"/>
        </a:xfrm>
      </p:grpSpPr>
      <p:sp>
        <p:nvSpPr>
          <p:cNvPr id="5518" name="Google Shape;5518;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9" name="Google Shape;5519;p10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20" name="Google Shape;5520;p10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6" name="Shape 5526"/>
        <p:cNvGrpSpPr/>
        <p:nvPr/>
      </p:nvGrpSpPr>
      <p:grpSpPr>
        <a:xfrm>
          <a:off x="0" y="0"/>
          <a:ext cx="0" cy="0"/>
          <a:chOff x="0" y="0"/>
          <a:chExt cx="0" cy="0"/>
        </a:xfrm>
      </p:grpSpPr>
      <p:sp>
        <p:nvSpPr>
          <p:cNvPr id="5527" name="Google Shape;5527;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8" name="Google Shape;5528;p10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This is how TCP re-computes the estimated RTT each time a new SampleRTT is taken.</a:t>
            </a:r>
            <a:endParaRPr/>
          </a:p>
          <a:p>
            <a:pPr indent="0" lvl="0" marL="0" rtl="0" algn="l">
              <a:spcBef>
                <a:spcPts val="0"/>
              </a:spcBef>
              <a:spcAft>
                <a:spcPts val="0"/>
              </a:spcAft>
              <a:buNone/>
            </a:pPr>
            <a:r>
              <a:rPr lang="en-US"/>
              <a:t>The process is knows as an exponeitally weighted moving average, shown by the equation here.</a:t>
            </a:r>
            <a:endParaRPr/>
          </a:p>
          <a:p>
            <a:pPr indent="0" lvl="0" marL="0" rtl="0" algn="l">
              <a:spcBef>
                <a:spcPts val="0"/>
              </a:spcBef>
              <a:spcAft>
                <a:spcPts val="0"/>
              </a:spcAft>
              <a:buNone/>
            </a:pPr>
            <a:r>
              <a:rPr lang="en-US"/>
              <a:t>&lt;say it&gt;</a:t>
            </a:r>
            <a:endParaRPr/>
          </a:p>
          <a:p>
            <a:pPr indent="0" lvl="0" marL="0" rtl="0" algn="l">
              <a:spcBef>
                <a:spcPts val="0"/>
              </a:spcBef>
              <a:spcAft>
                <a:spcPts val="0"/>
              </a:spcAft>
              <a:buNone/>
            </a:pPr>
            <a:r>
              <a:rPr lang="en-US"/>
              <a:t>Where alpha reflects the influence of the most recent measurements on the estimated RTT; a typical value of alpha used in implementaitons is .125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graph at the bottom show measured RTTs beween a host in the Massachusetts and a host in France, as well as the estimated, “smoothed”  RTT</a:t>
            </a:r>
            <a:endParaRPr/>
          </a:p>
        </p:txBody>
      </p:sp>
      <p:sp>
        <p:nvSpPr>
          <p:cNvPr id="5529" name="Google Shape;5529;p10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0" name="Shape 5550"/>
        <p:cNvGrpSpPr/>
        <p:nvPr/>
      </p:nvGrpSpPr>
      <p:grpSpPr>
        <a:xfrm>
          <a:off x="0" y="0"/>
          <a:ext cx="0" cy="0"/>
          <a:chOff x="0" y="0"/>
          <a:chExt cx="0" cy="0"/>
        </a:xfrm>
      </p:grpSpPr>
      <p:sp>
        <p:nvSpPr>
          <p:cNvPr id="5551" name="Google Shape;5551;p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2" name="Google Shape;5552;p1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Given this value of the estimated RTT, TCP computes the timeout interval to be the estimated RTT plus a “safety margin”</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And the intuition is that if we are seeing a large variation in SAMPLERTT – the RTT estimates are fluctuating a lot - then we’ll want a larger savety margin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TCP computes the Timeout interval to be the Estimated RTT plus 4 times a measure of deviation in the RTT.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deviation in the RTT is computed as the eWMA of the difference between the most recently measured SampleRTT from the Estimated RTT</a:t>
            </a:r>
            <a:endParaRPr/>
          </a:p>
        </p:txBody>
      </p:sp>
      <p:sp>
        <p:nvSpPr>
          <p:cNvPr id="5553" name="Google Shape;5553;p1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2" name="Shape 5572"/>
        <p:cNvGrpSpPr/>
        <p:nvPr/>
      </p:nvGrpSpPr>
      <p:grpSpPr>
        <a:xfrm>
          <a:off x="0" y="0"/>
          <a:ext cx="0" cy="0"/>
          <a:chOff x="0" y="0"/>
          <a:chExt cx="0" cy="0"/>
        </a:xfrm>
      </p:grpSpPr>
      <p:sp>
        <p:nvSpPr>
          <p:cNvPr id="5573" name="Google Shape;5573;p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74" name="Google Shape;5574;p1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Given these details of TCP sequence numbers, acks, and timers, we can now describe the big picture view of how the TCP sender and receiver operate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You can check out FSMs in book; let’s just give an English text description here and let’s start with the sender.</a:t>
            </a:r>
            <a:endParaRPr/>
          </a:p>
          <a:p>
            <a:pPr indent="0" lvl="0" marL="0" rtl="0" algn="l">
              <a:spcBef>
                <a:spcPts val="0"/>
              </a:spcBef>
              <a:spcAft>
                <a:spcPts val="0"/>
              </a:spcAft>
              <a:buNone/>
            </a:pPr>
            <a:r>
              <a:t/>
            </a:r>
            <a:endParaRPr/>
          </a:p>
        </p:txBody>
      </p:sp>
      <p:sp>
        <p:nvSpPr>
          <p:cNvPr id="5575" name="Google Shape;5575;p1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2" name="Shape 5582"/>
        <p:cNvGrpSpPr/>
        <p:nvPr/>
      </p:nvGrpSpPr>
      <p:grpSpPr>
        <a:xfrm>
          <a:off x="0" y="0"/>
          <a:ext cx="0" cy="0"/>
          <a:chOff x="0" y="0"/>
          <a:chExt cx="0" cy="0"/>
        </a:xfrm>
      </p:grpSpPr>
      <p:sp>
        <p:nvSpPr>
          <p:cNvPr id="5583" name="Google Shape;5583;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4" name="Google Shape;5584;p1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Rather than immediately ACKnowledig this segment, many TCP implementations will wait for half a second for another in-order segment to arrive, and then generate a single cumulative ACK for both segments – thus decreasing the amount of ACK traffic.  The arrival of this second in-order segment and the cumulative ACK generation that covers both segments is the second row in this table.</a:t>
            </a:r>
            <a:endParaRPr/>
          </a:p>
        </p:txBody>
      </p:sp>
      <p:sp>
        <p:nvSpPr>
          <p:cNvPr id="5585" name="Google Shape;5585;p1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6" name="Shape 5596"/>
        <p:cNvGrpSpPr/>
        <p:nvPr/>
      </p:nvGrpSpPr>
      <p:grpSpPr>
        <a:xfrm>
          <a:off x="0" y="0"/>
          <a:ext cx="0" cy="0"/>
          <a:chOff x="0" y="0"/>
          <a:chExt cx="0" cy="0"/>
        </a:xfrm>
      </p:grpSpPr>
      <p:sp>
        <p:nvSpPr>
          <p:cNvPr id="5597" name="Google Shape;5597;p1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5598" name="Google Shape;5598;p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99" name="Google Shape;5599;p1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7" name="Shape 5637"/>
        <p:cNvGrpSpPr/>
        <p:nvPr/>
      </p:nvGrpSpPr>
      <p:grpSpPr>
        <a:xfrm>
          <a:off x="0" y="0"/>
          <a:ext cx="0" cy="0"/>
          <a:chOff x="0" y="0"/>
          <a:chExt cx="0" cy="0"/>
        </a:xfrm>
      </p:grpSpPr>
      <p:sp>
        <p:nvSpPr>
          <p:cNvPr id="5638" name="Google Shape;5638;p1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5639" name="Google Shape;5639;p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40" name="Google Shape;5640;p1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1" name="Shape 5691"/>
        <p:cNvGrpSpPr/>
        <p:nvPr/>
      </p:nvGrpSpPr>
      <p:grpSpPr>
        <a:xfrm>
          <a:off x="0" y="0"/>
          <a:ext cx="0" cy="0"/>
          <a:chOff x="0" y="0"/>
          <a:chExt cx="0" cy="0"/>
        </a:xfrm>
      </p:grpSpPr>
      <p:sp>
        <p:nvSpPr>
          <p:cNvPr id="5692" name="Google Shape;5692;p1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5693" name="Google Shape;5693;p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94" name="Google Shape;5694;p1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9" name="Shape 5739"/>
        <p:cNvGrpSpPr/>
        <p:nvPr/>
      </p:nvGrpSpPr>
      <p:grpSpPr>
        <a:xfrm>
          <a:off x="0" y="0"/>
          <a:ext cx="0" cy="0"/>
          <a:chOff x="0" y="0"/>
          <a:chExt cx="0" cy="0"/>
        </a:xfrm>
      </p:grpSpPr>
      <p:sp>
        <p:nvSpPr>
          <p:cNvPr id="5740" name="Google Shape;5740;p1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41" name="Google Shape;5741;p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6" name="Shape 5746"/>
        <p:cNvGrpSpPr/>
        <p:nvPr/>
      </p:nvGrpSpPr>
      <p:grpSpPr>
        <a:xfrm>
          <a:off x="0" y="0"/>
          <a:ext cx="0" cy="0"/>
          <a:chOff x="0" y="0"/>
          <a:chExt cx="0" cy="0"/>
        </a:xfrm>
      </p:grpSpPr>
      <p:sp>
        <p:nvSpPr>
          <p:cNvPr id="5747" name="Google Shape;5747;p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8" name="Google Shape;5748;p1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Let’s wrap up our study of TCP reliability by discussing an optimization to the original TCP known as TCP fast retransmit,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Take a look at this example on the right where 5 segments are transmitted and the second segment is lost.  In this case the TCP receiver sends an ACK 100 acknowledging the first received segment.</a:t>
            </a:r>
            <a:endParaRPr/>
          </a:p>
          <a:p>
            <a:pPr indent="0" lvl="0" marL="0" rtl="0" algn="l">
              <a:spcBef>
                <a:spcPts val="0"/>
              </a:spcBef>
              <a:spcAft>
                <a:spcPts val="0"/>
              </a:spcAft>
              <a:buNone/>
            </a:pPr>
            <a:r>
              <a:rPr lang="en-US"/>
              <a:t>When the third segment arrives at the receiver, the TCP receiver sends another ACK 100 since the second segment has not arrived. And similarly for the 4</a:t>
            </a:r>
            <a:r>
              <a:rPr baseline="30000" lang="en-US"/>
              <a:t>th</a:t>
            </a:r>
            <a:r>
              <a:rPr lang="en-US"/>
              <a:t> and 5</a:t>
            </a:r>
            <a:r>
              <a:rPr baseline="30000" lang="en-US"/>
              <a:t>th</a:t>
            </a:r>
            <a:r>
              <a:rPr lang="en-US"/>
              <a:t> segments to arrive.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Now what does the sender see?  The sender receives the first ACK 100 it has been hoping for, but then three additional duplicate ACK100s arrive.  The sender knows that somethings’ wrong – it knows the first segment arrived at the receiver  but three later arriving segments at the receiver – the ones that generated the three duplicate ACKs – we received correctly but were not in order.  That is, that there was a missing segment at the receiver when each of the three duplicate ACK were generated.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With fast retransmit, the arrival of three duplicate ACK causes the sender to retransmit its oldest unACKed segment, without waiting for a timeout event.  This allows TCP to recover more quickly from what is very likely a loss event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specifically that the second segment has been lost, since three higher -numbered segments were received</a:t>
            </a:r>
            <a:endParaRPr/>
          </a:p>
        </p:txBody>
      </p:sp>
      <p:sp>
        <p:nvSpPr>
          <p:cNvPr id="5749" name="Google Shape;5749;p1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2" name="Shape 5802"/>
        <p:cNvGrpSpPr/>
        <p:nvPr/>
      </p:nvGrpSpPr>
      <p:grpSpPr>
        <a:xfrm>
          <a:off x="0" y="0"/>
          <a:ext cx="0" cy="0"/>
          <a:chOff x="0" y="0"/>
          <a:chExt cx="0" cy="0"/>
        </a:xfrm>
      </p:grpSpPr>
      <p:sp>
        <p:nvSpPr>
          <p:cNvPr id="5803" name="Google Shape;5803;p1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04" name="Google Shape;5804;p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8" name="Shape 5868"/>
        <p:cNvGrpSpPr/>
        <p:nvPr/>
      </p:nvGrpSpPr>
      <p:grpSpPr>
        <a:xfrm>
          <a:off x="0" y="0"/>
          <a:ext cx="0" cy="0"/>
          <a:chOff x="0" y="0"/>
          <a:chExt cx="0" cy="0"/>
        </a:xfrm>
      </p:grpSpPr>
      <p:sp>
        <p:nvSpPr>
          <p:cNvPr id="5869" name="Google Shape;5869;p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70" name="Google Shape;5870;p1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71" name="Google Shape;5871;p1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7" name="Shape 5877"/>
        <p:cNvGrpSpPr/>
        <p:nvPr/>
      </p:nvGrpSpPr>
      <p:grpSpPr>
        <a:xfrm>
          <a:off x="0" y="0"/>
          <a:ext cx="0" cy="0"/>
          <a:chOff x="0" y="0"/>
          <a:chExt cx="0" cy="0"/>
        </a:xfrm>
      </p:grpSpPr>
      <p:sp>
        <p:nvSpPr>
          <p:cNvPr id="5878" name="Google Shape;5878;p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79" name="Google Shape;5879;p1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Addslide 128-129</a:t>
            </a:r>
            <a:endParaRPr/>
          </a:p>
        </p:txBody>
      </p:sp>
      <p:sp>
        <p:nvSpPr>
          <p:cNvPr id="5880" name="Google Shape;5880;p1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5" name="Shape 5885"/>
        <p:cNvGrpSpPr/>
        <p:nvPr/>
      </p:nvGrpSpPr>
      <p:grpSpPr>
        <a:xfrm>
          <a:off x="0" y="0"/>
          <a:ext cx="0" cy="0"/>
          <a:chOff x="0" y="0"/>
          <a:chExt cx="0" cy="0"/>
        </a:xfrm>
      </p:grpSpPr>
      <p:sp>
        <p:nvSpPr>
          <p:cNvPr id="5886" name="Google Shape;5886;p1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7" name="Google Shape;5887;p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2" name="Shape 5892"/>
        <p:cNvGrpSpPr/>
        <p:nvPr/>
      </p:nvGrpSpPr>
      <p:grpSpPr>
        <a:xfrm>
          <a:off x="0" y="0"/>
          <a:ext cx="0" cy="0"/>
          <a:chOff x="0" y="0"/>
          <a:chExt cx="0" cy="0"/>
        </a:xfrm>
      </p:grpSpPr>
      <p:sp>
        <p:nvSpPr>
          <p:cNvPr id="5893" name="Google Shape;5893;p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94" name="Google Shape;5894;p1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5895" name="Google Shape;5895;p1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4" name="Shape 5944"/>
        <p:cNvGrpSpPr/>
        <p:nvPr/>
      </p:nvGrpSpPr>
      <p:grpSpPr>
        <a:xfrm>
          <a:off x="0" y="0"/>
          <a:ext cx="0" cy="0"/>
          <a:chOff x="0" y="0"/>
          <a:chExt cx="0" cy="0"/>
        </a:xfrm>
      </p:grpSpPr>
      <p:sp>
        <p:nvSpPr>
          <p:cNvPr id="5945" name="Google Shape;5945;p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46" name="Google Shape;5946;p1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5947" name="Google Shape;5947;p1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0" name="Shape 6000"/>
        <p:cNvGrpSpPr/>
        <p:nvPr/>
      </p:nvGrpSpPr>
      <p:grpSpPr>
        <a:xfrm>
          <a:off x="0" y="0"/>
          <a:ext cx="0" cy="0"/>
          <a:chOff x="0" y="0"/>
          <a:chExt cx="0" cy="0"/>
        </a:xfrm>
      </p:grpSpPr>
      <p:sp>
        <p:nvSpPr>
          <p:cNvPr id="6001" name="Google Shape;6001;p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02" name="Google Shape;6002;p1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6003" name="Google Shape;6003;p1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3" name="Shape 6063"/>
        <p:cNvGrpSpPr/>
        <p:nvPr/>
      </p:nvGrpSpPr>
      <p:grpSpPr>
        <a:xfrm>
          <a:off x="0" y="0"/>
          <a:ext cx="0" cy="0"/>
          <a:chOff x="0" y="0"/>
          <a:chExt cx="0" cy="0"/>
        </a:xfrm>
      </p:grpSpPr>
      <p:sp>
        <p:nvSpPr>
          <p:cNvPr id="6064" name="Google Shape;6064;p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65" name="Google Shape;6065;p1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(Presuming an intro)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diving into the details of TCP flow control, let’s first get the general context and motivate the need for flow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diagram show a typical transport-layer implementation</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Arial"/>
              <a:buChar char="•"/>
            </a:pPr>
            <a:r>
              <a:rPr lang="en-US"/>
              <a:t>A segment is brought up the protocol stack to the transport layer, and the segment’s payload is removed from the segment and written INTO  socket buffers.</a:t>
            </a:r>
            <a:endParaRPr/>
          </a:p>
          <a:p>
            <a:pPr indent="-95250" lvl="0" marL="171450" rtl="0" algn="l">
              <a:spcBef>
                <a:spcPts val="0"/>
              </a:spcBef>
              <a:spcAft>
                <a:spcPts val="0"/>
              </a:spcAft>
              <a:buClr>
                <a:schemeClr val="dk1"/>
              </a:buClr>
              <a:buSzPts val="1200"/>
              <a:buFont typeface="Arial"/>
              <a:buNone/>
            </a:pPr>
            <a:r>
              <a:t/>
            </a:r>
            <a:endParaRPr/>
          </a:p>
          <a:p>
            <a:pPr indent="-171450" lvl="0" marL="171450" rtl="0" algn="l">
              <a:spcBef>
                <a:spcPts val="0"/>
              </a:spcBef>
              <a:spcAft>
                <a:spcPts val="0"/>
              </a:spcAft>
              <a:buClr>
                <a:schemeClr val="dk1"/>
              </a:buClr>
              <a:buSzPts val="1200"/>
              <a:buFont typeface="Arial"/>
              <a:buChar char="•"/>
            </a:pPr>
            <a:r>
              <a:rPr lang="en-US"/>
              <a:t>How does data get taken OUT of socket buffers?  By applications performing socket reads, as we learned in Chapter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so the question is “</a:t>
            </a:r>
            <a:r>
              <a:rPr b="0" i="0" lang="en-US" sz="1200" u="none" cap="none" strike="noStrike">
                <a:solidFill>
                  <a:srgbClr val="000000"/>
                </a:solidFill>
                <a:latin typeface="Calibri"/>
                <a:ea typeface="Calibri"/>
                <a:cs typeface="Calibri"/>
                <a:sym typeface="Calibri"/>
              </a:rPr>
              <a:t>What happens if network layer delivers data faster than an application-layer process removes data from socket buffers?”</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Let’s watch a video of what happens when things arrive  way too fast to fast to be processed.</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&lt;video&gt;.   (I love that video).   Another human analogy showing the need for flow control is the saying – to use some English slang -  “no one can drink from a firehose”</a:t>
            </a:r>
            <a:endParaRPr/>
          </a:p>
          <a:p>
            <a:pPr indent="0" lvl="0" marL="0" rtl="0" algn="l">
              <a:spcBef>
                <a:spcPts val="0"/>
              </a:spcBef>
              <a:spcAft>
                <a:spcPts val="0"/>
              </a:spcAft>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rPr b="0" i="0" lang="en-US" sz="1200" u="none" cap="none" strike="noStrike">
                <a:solidFill>
                  <a:srgbClr val="000000"/>
                </a:solidFill>
                <a:latin typeface="Calibri"/>
                <a:ea typeface="Calibri"/>
                <a:cs typeface="Calibri"/>
                <a:sym typeface="Calibri"/>
              </a:rPr>
              <a:t>Flow control is a mechanism to the calamity of a receiver being over-run by a sender that is sending too fast – it allows the RECEIVER to explictly control the SENDER so sender won’t overflow receiver’s buffer by transmitting too much, too fast </a:t>
            </a:r>
            <a:endParaRPr/>
          </a:p>
          <a:p>
            <a:pPr indent="0" lvl="0" marL="0" rtl="0" algn="l">
              <a:spcBef>
                <a:spcPts val="0"/>
              </a:spcBef>
              <a:spcAft>
                <a:spcPts val="0"/>
              </a:spcAft>
              <a:buNone/>
            </a:pPr>
            <a:r>
              <a:t/>
            </a:r>
            <a:endParaRPr/>
          </a:p>
        </p:txBody>
      </p:sp>
      <p:sp>
        <p:nvSpPr>
          <p:cNvPr id="6066" name="Google Shape;6066;p1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9" name="Shape 6119"/>
        <p:cNvGrpSpPr/>
        <p:nvPr/>
      </p:nvGrpSpPr>
      <p:grpSpPr>
        <a:xfrm>
          <a:off x="0" y="0"/>
          <a:ext cx="0" cy="0"/>
          <a:chOff x="0" y="0"/>
          <a:chExt cx="0" cy="0"/>
        </a:xfrm>
      </p:grpSpPr>
      <p:sp>
        <p:nvSpPr>
          <p:cNvPr id="6120" name="Google Shape;6120;p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21" name="Google Shape;6121;p1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how TCP implement flow control.  The basic idea is simple – the receiver informs the sender how much free buffer space there is, and the sender is limited to send no more than this amount of data.  That the value o RWND in the diagram to the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information is carried from the receiver to the sender in the “receiver advertised window” (do a PIP of header) in the TCP header, and the value will change as the amount of free buffer space fluctuates over time.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122" name="Google Shape;6122;p1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5" name="Shape 6155"/>
        <p:cNvGrpSpPr/>
        <p:nvPr/>
      </p:nvGrpSpPr>
      <p:grpSpPr>
        <a:xfrm>
          <a:off x="0" y="0"/>
          <a:ext cx="0" cy="0"/>
          <a:chOff x="0" y="0"/>
          <a:chExt cx="0" cy="0"/>
        </a:xfrm>
      </p:grpSpPr>
      <p:sp>
        <p:nvSpPr>
          <p:cNvPr id="6156" name="Google Shape;6156;p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7" name="Google Shape;6157;p1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how TCP implement flow control.  The basic idea is simple – the receiver informs the sender how much free buffer space there is, and the sender is limited to send no more than this amount of data.  That the value o RWND in the diagram to the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information is carried from the receiver to the sender in the “receiver advertised window” (do a PIP of header) in the TCP header, and the value will change as the amount of free buffer space fluctuates over time.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158" name="Google Shape;6158;p1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9" name="Shape 6179"/>
        <p:cNvGrpSpPr/>
        <p:nvPr/>
      </p:nvGrpSpPr>
      <p:grpSpPr>
        <a:xfrm>
          <a:off x="0" y="0"/>
          <a:ext cx="0" cy="0"/>
          <a:chOff x="0" y="0"/>
          <a:chExt cx="0" cy="0"/>
        </a:xfrm>
      </p:grpSpPr>
      <p:sp>
        <p:nvSpPr>
          <p:cNvPr id="6180" name="Google Shape;6180;p1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81" name="Google Shape;6181;p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4" name="Shape 6194"/>
        <p:cNvGrpSpPr/>
        <p:nvPr/>
      </p:nvGrpSpPr>
      <p:grpSpPr>
        <a:xfrm>
          <a:off x="0" y="0"/>
          <a:ext cx="0" cy="0"/>
          <a:chOff x="0" y="0"/>
          <a:chExt cx="0" cy="0"/>
        </a:xfrm>
      </p:grpSpPr>
      <p:sp>
        <p:nvSpPr>
          <p:cNvPr id="6195" name="Google Shape;6195;p1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6" name="Google Shape;6196;p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9" name="Shape 6209"/>
        <p:cNvGrpSpPr/>
        <p:nvPr/>
      </p:nvGrpSpPr>
      <p:grpSpPr>
        <a:xfrm>
          <a:off x="0" y="0"/>
          <a:ext cx="0" cy="0"/>
          <a:chOff x="0" y="0"/>
          <a:chExt cx="0" cy="0"/>
        </a:xfrm>
      </p:grpSpPr>
      <p:sp>
        <p:nvSpPr>
          <p:cNvPr id="6210" name="Google Shape;6210;p1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11" name="Google Shape;6211;p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4" name="Shape 6224"/>
        <p:cNvGrpSpPr/>
        <p:nvPr/>
      </p:nvGrpSpPr>
      <p:grpSpPr>
        <a:xfrm>
          <a:off x="0" y="0"/>
          <a:ext cx="0" cy="0"/>
          <a:chOff x="0" y="0"/>
          <a:chExt cx="0" cy="0"/>
        </a:xfrm>
      </p:grpSpPr>
      <p:sp>
        <p:nvSpPr>
          <p:cNvPr id="6225" name="Google Shape;6225;p1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26" name="Google Shape;6226;p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8" name="Shape 6238"/>
        <p:cNvGrpSpPr/>
        <p:nvPr/>
      </p:nvGrpSpPr>
      <p:grpSpPr>
        <a:xfrm>
          <a:off x="0" y="0"/>
          <a:ext cx="0" cy="0"/>
          <a:chOff x="0" y="0"/>
          <a:chExt cx="0" cy="0"/>
        </a:xfrm>
      </p:grpSpPr>
      <p:sp>
        <p:nvSpPr>
          <p:cNvPr id="6239" name="Google Shape;6239;p1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0" name="Google Shape;6240;p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8" name="Shape 6248"/>
        <p:cNvGrpSpPr/>
        <p:nvPr/>
      </p:nvGrpSpPr>
      <p:grpSpPr>
        <a:xfrm>
          <a:off x="0" y="0"/>
          <a:ext cx="0" cy="0"/>
          <a:chOff x="0" y="0"/>
          <a:chExt cx="0" cy="0"/>
        </a:xfrm>
      </p:grpSpPr>
      <p:sp>
        <p:nvSpPr>
          <p:cNvPr id="6249" name="Google Shape;6249;p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50" name="Google Shape;6250;p1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The other TCP topic we’ll want to consider here is that of “connection  management”</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200"/>
              <a:buFont typeface="Arial"/>
              <a:buNone/>
            </a:pPr>
            <a:r>
              <a:rPr lang="en-US"/>
              <a:t>The TCP sender and reciver have a number of pieces of shared state that they must establish before actually communication</a:t>
            </a:r>
            <a:endParaRPr/>
          </a:p>
          <a:p>
            <a:pPr indent="-171450" lvl="0" marL="171450" rtl="0" algn="l">
              <a:spcBef>
                <a:spcPts val="0"/>
              </a:spcBef>
              <a:spcAft>
                <a:spcPts val="0"/>
              </a:spcAft>
              <a:buClr>
                <a:schemeClr val="dk1"/>
              </a:buClr>
              <a:buSzPts val="1200"/>
              <a:buFont typeface="Arial"/>
              <a:buChar char="•"/>
            </a:pPr>
            <a:r>
              <a:rPr lang="en-US"/>
              <a:t>FIRST theym ust both agree that they WANT to communicate with each other</a:t>
            </a:r>
            <a:endParaRPr/>
          </a:p>
          <a:p>
            <a:pPr indent="-171450" lvl="0" marL="171450" rtl="0" algn="l">
              <a:spcBef>
                <a:spcPts val="0"/>
              </a:spcBef>
              <a:spcAft>
                <a:spcPts val="0"/>
              </a:spcAft>
              <a:buClr>
                <a:schemeClr val="dk1"/>
              </a:buClr>
              <a:buSzPts val="1200"/>
              <a:buFont typeface="Arial"/>
              <a:buChar char="•"/>
            </a:pPr>
            <a:r>
              <a:rPr lang="en-US"/>
              <a:t>Secondly there are connection parameters – the initial sequence number and the initial receiver-advertised bufferspace that they’ll want to agree on</a:t>
            </a:r>
            <a:endParaRPr/>
          </a:p>
          <a:p>
            <a:pPr indent="-95250" lvl="0" marL="17145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US"/>
              <a:t>This is done via a so-called handshake protocol – the client reaching our to the server, and the server answering back.</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US"/>
              <a:t>And before diving into the TCP handshake protocol, let’s first consider the problem of handshaking, of establishing shared state. </a:t>
            </a:r>
            <a:endParaRPr/>
          </a:p>
        </p:txBody>
      </p:sp>
      <p:sp>
        <p:nvSpPr>
          <p:cNvPr id="6251" name="Google Shape;6251;p1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6" name="Shape 6326"/>
        <p:cNvGrpSpPr/>
        <p:nvPr/>
      </p:nvGrpSpPr>
      <p:grpSpPr>
        <a:xfrm>
          <a:off x="0" y="0"/>
          <a:ext cx="0" cy="0"/>
          <a:chOff x="0" y="0"/>
          <a:chExt cx="0" cy="0"/>
        </a:xfrm>
      </p:grpSpPr>
      <p:sp>
        <p:nvSpPr>
          <p:cNvPr id="6327" name="Google Shape;6327;p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28" name="Google Shape;6328;p1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Here’s an example of a two way handshake.  Alice reaches out to Bob and say’s “let’s talk” and Bob says OK, and they start their conversation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a network protocol, the equivalent protocol would be a client sending a “request connection” message saying ”let’s talk, the initial sequence number is x”</a:t>
            </a:r>
            <a:endParaRPr/>
          </a:p>
          <a:p>
            <a:pPr indent="0" lvl="0" marL="0" rtl="0" algn="l">
              <a:spcBef>
                <a:spcPts val="0"/>
              </a:spcBef>
              <a:spcAft>
                <a:spcPts val="0"/>
              </a:spcAft>
              <a:buNone/>
            </a:pPr>
            <a:r>
              <a:rPr lang="en-US"/>
              <a:t>And the server would respond with a message ”I accept your connect x”</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the question we want to ask ourselves is &lt;talk through&gt;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Will this work?  Let’s look at a few scenarios…</a:t>
            </a:r>
            <a:endParaRPr/>
          </a:p>
        </p:txBody>
      </p:sp>
      <p:sp>
        <p:nvSpPr>
          <p:cNvPr id="6329" name="Google Shape;6329;p1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9" name="Shape 6399"/>
        <p:cNvGrpSpPr/>
        <p:nvPr/>
      </p:nvGrpSpPr>
      <p:grpSpPr>
        <a:xfrm>
          <a:off x="0" y="0"/>
          <a:ext cx="0" cy="0"/>
          <a:chOff x="0" y="0"/>
          <a:chExt cx="0" cy="0"/>
        </a:xfrm>
      </p:grpSpPr>
      <p:sp>
        <p:nvSpPr>
          <p:cNvPr id="6400" name="Google Shape;6400;p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01" name="Google Shape;6401;p1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02" name="Google Shape;6402;p1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6" name="Shape 6476"/>
        <p:cNvGrpSpPr/>
        <p:nvPr/>
      </p:nvGrpSpPr>
      <p:grpSpPr>
        <a:xfrm>
          <a:off x="0" y="0"/>
          <a:ext cx="0" cy="0"/>
          <a:chOff x="0" y="0"/>
          <a:chExt cx="0" cy="0"/>
        </a:xfrm>
      </p:grpSpPr>
      <p:sp>
        <p:nvSpPr>
          <p:cNvPr id="6477" name="Google Shape;6477;p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78" name="Google Shape;6478;p1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79" name="Google Shape;6479;p1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1" name="Shape 6561"/>
        <p:cNvGrpSpPr/>
        <p:nvPr/>
      </p:nvGrpSpPr>
      <p:grpSpPr>
        <a:xfrm>
          <a:off x="0" y="0"/>
          <a:ext cx="0" cy="0"/>
          <a:chOff x="0" y="0"/>
          <a:chExt cx="0" cy="0"/>
        </a:xfrm>
      </p:grpSpPr>
      <p:sp>
        <p:nvSpPr>
          <p:cNvPr id="6562" name="Google Shape;6562;p1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63" name="Google Shape;6563;p1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64" name="Google Shape;6564;p1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8" name="Shape 6648"/>
        <p:cNvGrpSpPr/>
        <p:nvPr/>
      </p:nvGrpSpPr>
      <p:grpSpPr>
        <a:xfrm>
          <a:off x="0" y="0"/>
          <a:ext cx="0" cy="0"/>
          <a:chOff x="0" y="0"/>
          <a:chExt cx="0" cy="0"/>
        </a:xfrm>
      </p:grpSpPr>
      <p:sp>
        <p:nvSpPr>
          <p:cNvPr id="6649" name="Google Shape;6649;p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50" name="Google Shape;6650;p1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147-150</a:t>
            </a:r>
            <a:endParaRPr/>
          </a:p>
        </p:txBody>
      </p:sp>
      <p:sp>
        <p:nvSpPr>
          <p:cNvPr id="6651" name="Google Shape;6651;p1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6" name="Shape 6656"/>
        <p:cNvGrpSpPr/>
        <p:nvPr/>
      </p:nvGrpSpPr>
      <p:grpSpPr>
        <a:xfrm>
          <a:off x="0" y="0"/>
          <a:ext cx="0" cy="0"/>
          <a:chOff x="0" y="0"/>
          <a:chExt cx="0" cy="0"/>
        </a:xfrm>
      </p:grpSpPr>
      <p:sp>
        <p:nvSpPr>
          <p:cNvPr id="6657" name="Google Shape;6657;p1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58" name="Google Shape;6658;p1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4" name="Shape 6664"/>
        <p:cNvGrpSpPr/>
        <p:nvPr/>
      </p:nvGrpSpPr>
      <p:grpSpPr>
        <a:xfrm>
          <a:off x="0" y="0"/>
          <a:ext cx="0" cy="0"/>
          <a:chOff x="0" y="0"/>
          <a:chExt cx="0" cy="0"/>
        </a:xfrm>
      </p:grpSpPr>
      <p:sp>
        <p:nvSpPr>
          <p:cNvPr id="6665" name="Google Shape;6665;p1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66" name="Google Shape;6666;p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2" name="Shape 6672"/>
        <p:cNvGrpSpPr/>
        <p:nvPr/>
      </p:nvGrpSpPr>
      <p:grpSpPr>
        <a:xfrm>
          <a:off x="0" y="0"/>
          <a:ext cx="0" cy="0"/>
          <a:chOff x="0" y="0"/>
          <a:chExt cx="0" cy="0"/>
        </a:xfrm>
      </p:grpSpPr>
      <p:sp>
        <p:nvSpPr>
          <p:cNvPr id="6673" name="Google Shape;6673;p1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74" name="Google Shape;6674;p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0" name="Shape 6680"/>
        <p:cNvGrpSpPr/>
        <p:nvPr/>
      </p:nvGrpSpPr>
      <p:grpSpPr>
        <a:xfrm>
          <a:off x="0" y="0"/>
          <a:ext cx="0" cy="0"/>
          <a:chOff x="0" y="0"/>
          <a:chExt cx="0" cy="0"/>
        </a:xfrm>
      </p:grpSpPr>
      <p:sp>
        <p:nvSpPr>
          <p:cNvPr id="6681" name="Google Shape;6681;p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82" name="Google Shape;6682;p1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TCP’s three way handshake, that operates as follows</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Let’s say the client and server both create a TCP socket as we learned about in Chapter 2 and enter the LISTEN state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client then connects to the server sending a SYN message with a sequence number x (SYN Message is an TCP Segment with SYN but set in the header – you might want to go back and review the TCP segment format!)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server is waiting for a connection, and receives the SYN message enters the SYN received state (NOT the established state and sends a SYN ACK message back.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Finally the client sends an ACK message to the server, and when the server receiver this enters the ESTABLished state.  This is when the application process would see the return from the wait on the  socket accept() call </a:t>
            </a:r>
            <a:endParaRPr/>
          </a:p>
        </p:txBody>
      </p:sp>
      <p:sp>
        <p:nvSpPr>
          <p:cNvPr id="6683" name="Google Shape;6683;p1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9" name="Shape 6759"/>
        <p:cNvGrpSpPr/>
        <p:nvPr/>
      </p:nvGrpSpPr>
      <p:grpSpPr>
        <a:xfrm>
          <a:off x="0" y="0"/>
          <a:ext cx="0" cy="0"/>
          <a:chOff x="0" y="0"/>
          <a:chExt cx="0" cy="0"/>
        </a:xfrm>
      </p:grpSpPr>
      <p:sp>
        <p:nvSpPr>
          <p:cNvPr id="6760" name="Google Shape;6760;p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61" name="Google Shape;6761;p1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152-157</a:t>
            </a:r>
            <a:endParaRPr/>
          </a:p>
        </p:txBody>
      </p:sp>
      <p:sp>
        <p:nvSpPr>
          <p:cNvPr id="6762" name="Google Shape;6762;p1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0" name="Shape 6780"/>
        <p:cNvGrpSpPr/>
        <p:nvPr/>
      </p:nvGrpSpPr>
      <p:grpSpPr>
        <a:xfrm>
          <a:off x="0" y="0"/>
          <a:ext cx="0" cy="0"/>
          <a:chOff x="0" y="0"/>
          <a:chExt cx="0" cy="0"/>
        </a:xfrm>
      </p:grpSpPr>
      <p:sp>
        <p:nvSpPr>
          <p:cNvPr id="6781" name="Google Shape;6781;p1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82" name="Google Shape;6782;p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7" name="Shape 6787"/>
        <p:cNvGrpSpPr/>
        <p:nvPr/>
      </p:nvGrpSpPr>
      <p:grpSpPr>
        <a:xfrm>
          <a:off x="0" y="0"/>
          <a:ext cx="0" cy="0"/>
          <a:chOff x="0" y="0"/>
          <a:chExt cx="0" cy="0"/>
        </a:xfrm>
      </p:grpSpPr>
      <p:sp>
        <p:nvSpPr>
          <p:cNvPr id="6788" name="Google Shape;6788;p1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89" name="Google Shape;6789;p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7" name="Shape 6797"/>
        <p:cNvGrpSpPr/>
        <p:nvPr/>
      </p:nvGrpSpPr>
      <p:grpSpPr>
        <a:xfrm>
          <a:off x="0" y="0"/>
          <a:ext cx="0" cy="0"/>
          <a:chOff x="0" y="0"/>
          <a:chExt cx="0" cy="0"/>
        </a:xfrm>
      </p:grpSpPr>
      <p:sp>
        <p:nvSpPr>
          <p:cNvPr id="6798" name="Google Shape;6798;p1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99" name="Google Shape;6799;p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7" name="Shape 6807"/>
        <p:cNvGrpSpPr/>
        <p:nvPr/>
      </p:nvGrpSpPr>
      <p:grpSpPr>
        <a:xfrm>
          <a:off x="0" y="0"/>
          <a:ext cx="0" cy="0"/>
          <a:chOff x="0" y="0"/>
          <a:chExt cx="0" cy="0"/>
        </a:xfrm>
      </p:grpSpPr>
      <p:sp>
        <p:nvSpPr>
          <p:cNvPr id="6808" name="Google Shape;6808;p1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09" name="Google Shape;6809;p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7" name="Shape 6817"/>
        <p:cNvGrpSpPr/>
        <p:nvPr/>
      </p:nvGrpSpPr>
      <p:grpSpPr>
        <a:xfrm>
          <a:off x="0" y="0"/>
          <a:ext cx="0" cy="0"/>
          <a:chOff x="0" y="0"/>
          <a:chExt cx="0" cy="0"/>
        </a:xfrm>
      </p:grpSpPr>
      <p:sp>
        <p:nvSpPr>
          <p:cNvPr id="6818" name="Google Shape;6818;p1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19" name="Google Shape;6819;p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7" name="Shape 6827"/>
        <p:cNvGrpSpPr/>
        <p:nvPr/>
      </p:nvGrpSpPr>
      <p:grpSpPr>
        <a:xfrm>
          <a:off x="0" y="0"/>
          <a:ext cx="0" cy="0"/>
          <a:chOff x="0" y="0"/>
          <a:chExt cx="0" cy="0"/>
        </a:xfrm>
      </p:grpSpPr>
      <p:sp>
        <p:nvSpPr>
          <p:cNvPr id="6828" name="Google Shape;6828;p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29" name="Google Shape;6829;p1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 usual, there’s a human protocol analogy to the three way handshake, and I still remember thinking about this clinging for my life while climbing up a rockface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When you want start climbing you first say ON BELOW (meaning ARE YOU READY WITH MY SAFETY ROPE)</a:t>
            </a:r>
            <a:endParaRPr/>
          </a:p>
          <a:p>
            <a:pPr indent="0" lvl="0" marL="0" rtl="0" algn="l">
              <a:spcBef>
                <a:spcPts val="0"/>
              </a:spcBef>
              <a:spcAft>
                <a:spcPts val="0"/>
              </a:spcAft>
              <a:buNone/>
            </a:pPr>
            <a:r>
              <a:rPr lang="en-US"/>
              <a:t>THE BELYER (server) responds BELAY ON (that lets you know the belayer is ready for you)</a:t>
            </a:r>
            <a:endParaRPr/>
          </a:p>
          <a:p>
            <a:pPr indent="0" lvl="0" marL="0" rtl="0" algn="l">
              <a:spcBef>
                <a:spcPts val="0"/>
              </a:spcBef>
              <a:spcAft>
                <a:spcPts val="0"/>
              </a:spcAft>
              <a:buNone/>
            </a:pPr>
            <a:r>
              <a:rPr lang="en-US"/>
              <a:t>And then you say CLIMING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It’s amazing what can pass through your head when your clinging for your life o a </a:t>
            </a:r>
            <a:endParaRPr/>
          </a:p>
        </p:txBody>
      </p:sp>
      <p:sp>
        <p:nvSpPr>
          <p:cNvPr id="6830" name="Google Shape;6830;p1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5" name="Shape 6845"/>
        <p:cNvGrpSpPr/>
        <p:nvPr/>
      </p:nvGrpSpPr>
      <p:grpSpPr>
        <a:xfrm>
          <a:off x="0" y="0"/>
          <a:ext cx="0" cy="0"/>
          <a:chOff x="0" y="0"/>
          <a:chExt cx="0" cy="0"/>
        </a:xfrm>
      </p:grpSpPr>
      <p:sp>
        <p:nvSpPr>
          <p:cNvPr id="6846" name="Google Shape;6846;p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47" name="Google Shape;6847;p1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159</a:t>
            </a:r>
            <a:endParaRPr/>
          </a:p>
        </p:txBody>
      </p:sp>
      <p:sp>
        <p:nvSpPr>
          <p:cNvPr id="6848" name="Google Shape;6848;p1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3" name="Shape 6853"/>
        <p:cNvGrpSpPr/>
        <p:nvPr/>
      </p:nvGrpSpPr>
      <p:grpSpPr>
        <a:xfrm>
          <a:off x="0" y="0"/>
          <a:ext cx="0" cy="0"/>
          <a:chOff x="0" y="0"/>
          <a:chExt cx="0" cy="0"/>
        </a:xfrm>
      </p:grpSpPr>
      <p:sp>
        <p:nvSpPr>
          <p:cNvPr id="6854" name="Google Shape;6854;p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55" name="Google Shape;6855;p1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All good things must come to an end, and that’s true for a TCP connection as well.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of course there’s a protocol for one side to gracefully close of a TCP connection using a FIN message, to which the other side sends a FINACK message and waits around a bit to respond to any retransmitted FIN messages before timing out.</a:t>
            </a:r>
            <a:endParaRPr/>
          </a:p>
          <a:p>
            <a:pPr indent="0" lvl="0" marL="0" rtl="0" algn="l">
              <a:spcBef>
                <a:spcPts val="0"/>
              </a:spcBef>
              <a:spcAft>
                <a:spcPts val="0"/>
              </a:spcAft>
              <a:buNone/>
            </a:pPr>
            <a:r>
              <a:t/>
            </a:r>
            <a:endParaRPr/>
          </a:p>
        </p:txBody>
      </p:sp>
      <p:sp>
        <p:nvSpPr>
          <p:cNvPr id="6856" name="Google Shape;6856;p1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1" name="Shape 6861"/>
        <p:cNvGrpSpPr/>
        <p:nvPr/>
      </p:nvGrpSpPr>
      <p:grpSpPr>
        <a:xfrm>
          <a:off x="0" y="0"/>
          <a:ext cx="0" cy="0"/>
          <a:chOff x="0" y="0"/>
          <a:chExt cx="0" cy="0"/>
        </a:xfrm>
      </p:grpSpPr>
      <p:sp>
        <p:nvSpPr>
          <p:cNvPr id="6862" name="Google Shape;6862;p1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63" name="Google Shape;6863;p1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161-162</a:t>
            </a:r>
            <a:endParaRPr/>
          </a:p>
        </p:txBody>
      </p:sp>
      <p:sp>
        <p:nvSpPr>
          <p:cNvPr id="6864" name="Google Shape;6864;p1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7" name="Shape 6957"/>
        <p:cNvGrpSpPr/>
        <p:nvPr/>
      </p:nvGrpSpPr>
      <p:grpSpPr>
        <a:xfrm>
          <a:off x="0" y="0"/>
          <a:ext cx="0" cy="0"/>
          <a:chOff x="0" y="0"/>
          <a:chExt cx="0" cy="0"/>
        </a:xfrm>
      </p:grpSpPr>
      <p:sp>
        <p:nvSpPr>
          <p:cNvPr id="6958" name="Google Shape;6958;p1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59" name="Google Shape;6959;p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1" name="Shape 6991"/>
        <p:cNvGrpSpPr/>
        <p:nvPr/>
      </p:nvGrpSpPr>
      <p:grpSpPr>
        <a:xfrm>
          <a:off x="0" y="0"/>
          <a:ext cx="0" cy="0"/>
          <a:chOff x="0" y="0"/>
          <a:chExt cx="0" cy="0"/>
        </a:xfrm>
      </p:grpSpPr>
      <p:sp>
        <p:nvSpPr>
          <p:cNvPr id="6992" name="Google Shape;6992;p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93" name="Google Shape;6993;p1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94" name="Google Shape;6994;p1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0" name="Shape 7000"/>
        <p:cNvGrpSpPr/>
        <p:nvPr/>
      </p:nvGrpSpPr>
      <p:grpSpPr>
        <a:xfrm>
          <a:off x="0" y="0"/>
          <a:ext cx="0" cy="0"/>
          <a:chOff x="0" y="0"/>
          <a:chExt cx="0" cy="0"/>
        </a:xfrm>
      </p:grpSpPr>
      <p:sp>
        <p:nvSpPr>
          <p:cNvPr id="7001" name="Google Shape;7001;p1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02" name="Google Shape;7002;p1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03" name="Google Shape;7003;p1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8" name="Shape 7018"/>
        <p:cNvGrpSpPr/>
        <p:nvPr/>
      </p:nvGrpSpPr>
      <p:grpSpPr>
        <a:xfrm>
          <a:off x="0" y="0"/>
          <a:ext cx="0" cy="0"/>
          <a:chOff x="0" y="0"/>
          <a:chExt cx="0" cy="0"/>
        </a:xfrm>
      </p:grpSpPr>
      <p:sp>
        <p:nvSpPr>
          <p:cNvPr id="7019" name="Google Shape;7019;p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0" name="Google Shape;7020;p1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21" name="Google Shape;7021;p1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1" name="Shape 7151"/>
        <p:cNvGrpSpPr/>
        <p:nvPr/>
      </p:nvGrpSpPr>
      <p:grpSpPr>
        <a:xfrm>
          <a:off x="0" y="0"/>
          <a:ext cx="0" cy="0"/>
          <a:chOff x="0" y="0"/>
          <a:chExt cx="0" cy="0"/>
        </a:xfrm>
      </p:grpSpPr>
      <p:sp>
        <p:nvSpPr>
          <p:cNvPr id="7152" name="Google Shape;7152;p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53" name="Google Shape;7153;p1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54" name="Google Shape;7154;p1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8" name="Shape 7288"/>
        <p:cNvGrpSpPr/>
        <p:nvPr/>
      </p:nvGrpSpPr>
      <p:grpSpPr>
        <a:xfrm>
          <a:off x="0" y="0"/>
          <a:ext cx="0" cy="0"/>
          <a:chOff x="0" y="0"/>
          <a:chExt cx="0" cy="0"/>
        </a:xfrm>
      </p:grpSpPr>
      <p:sp>
        <p:nvSpPr>
          <p:cNvPr id="7289" name="Google Shape;7289;p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90" name="Google Shape;7290;p1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91" name="Google Shape;7291;p1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7" name="Shape 7297"/>
        <p:cNvGrpSpPr/>
        <p:nvPr/>
      </p:nvGrpSpPr>
      <p:grpSpPr>
        <a:xfrm>
          <a:off x="0" y="0"/>
          <a:ext cx="0" cy="0"/>
          <a:chOff x="0" y="0"/>
          <a:chExt cx="0" cy="0"/>
        </a:xfrm>
      </p:grpSpPr>
      <p:sp>
        <p:nvSpPr>
          <p:cNvPr id="7298" name="Google Shape;7298;p1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99" name="Google Shape;7299;p1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00" name="Google Shape;7300;p1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0" name="Shape 7350"/>
        <p:cNvGrpSpPr/>
        <p:nvPr/>
      </p:nvGrpSpPr>
      <p:grpSpPr>
        <a:xfrm>
          <a:off x="0" y="0"/>
          <a:ext cx="0" cy="0"/>
          <a:chOff x="0" y="0"/>
          <a:chExt cx="0" cy="0"/>
        </a:xfrm>
      </p:grpSpPr>
      <p:sp>
        <p:nvSpPr>
          <p:cNvPr id="7351" name="Google Shape;7351;p1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52" name="Google Shape;7352;p1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53" name="Google Shape;7353;p1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9" name="Shape 7359"/>
        <p:cNvGrpSpPr/>
        <p:nvPr/>
      </p:nvGrpSpPr>
      <p:grpSpPr>
        <a:xfrm>
          <a:off x="0" y="0"/>
          <a:ext cx="0" cy="0"/>
          <a:chOff x="0" y="0"/>
          <a:chExt cx="0" cy="0"/>
        </a:xfrm>
      </p:grpSpPr>
      <p:sp>
        <p:nvSpPr>
          <p:cNvPr id="7360" name="Google Shape;7360;p1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61" name="Google Shape;7361;p1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62" name="Google Shape;7362;p1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1" name="Shape 7451"/>
        <p:cNvGrpSpPr/>
        <p:nvPr/>
      </p:nvGrpSpPr>
      <p:grpSpPr>
        <a:xfrm>
          <a:off x="0" y="0"/>
          <a:ext cx="0" cy="0"/>
          <a:chOff x="0" y="0"/>
          <a:chExt cx="0" cy="0"/>
        </a:xfrm>
      </p:grpSpPr>
      <p:sp>
        <p:nvSpPr>
          <p:cNvPr id="7452" name="Google Shape;7452;p1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53" name="Google Shape;7453;p1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54" name="Google Shape;7454;p1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8" name="Shape 7528"/>
        <p:cNvGrpSpPr/>
        <p:nvPr/>
      </p:nvGrpSpPr>
      <p:grpSpPr>
        <a:xfrm>
          <a:off x="0" y="0"/>
          <a:ext cx="0" cy="0"/>
          <a:chOff x="0" y="0"/>
          <a:chExt cx="0" cy="0"/>
        </a:xfrm>
      </p:grpSpPr>
      <p:sp>
        <p:nvSpPr>
          <p:cNvPr id="7529" name="Google Shape;7529;p1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30" name="Google Shape;7530;p1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182-186</a:t>
            </a:r>
            <a:endParaRPr/>
          </a:p>
        </p:txBody>
      </p:sp>
      <p:sp>
        <p:nvSpPr>
          <p:cNvPr id="7531" name="Google Shape;7531;p1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6" name="Shape 7536"/>
        <p:cNvGrpSpPr/>
        <p:nvPr/>
      </p:nvGrpSpPr>
      <p:grpSpPr>
        <a:xfrm>
          <a:off x="0" y="0"/>
          <a:ext cx="0" cy="0"/>
          <a:chOff x="0" y="0"/>
          <a:chExt cx="0" cy="0"/>
        </a:xfrm>
      </p:grpSpPr>
      <p:sp>
        <p:nvSpPr>
          <p:cNvPr id="7537" name="Google Shape;7537;p1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38" name="Google Shape;7538;p1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4" name="Shape 7544"/>
        <p:cNvGrpSpPr/>
        <p:nvPr/>
      </p:nvGrpSpPr>
      <p:grpSpPr>
        <a:xfrm>
          <a:off x="0" y="0"/>
          <a:ext cx="0" cy="0"/>
          <a:chOff x="0" y="0"/>
          <a:chExt cx="0" cy="0"/>
        </a:xfrm>
      </p:grpSpPr>
      <p:sp>
        <p:nvSpPr>
          <p:cNvPr id="7545" name="Google Shape;7545;p1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46" name="Google Shape;7546;p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5" name="Shape 7555"/>
        <p:cNvGrpSpPr/>
        <p:nvPr/>
      </p:nvGrpSpPr>
      <p:grpSpPr>
        <a:xfrm>
          <a:off x="0" y="0"/>
          <a:ext cx="0" cy="0"/>
          <a:chOff x="0" y="0"/>
          <a:chExt cx="0" cy="0"/>
        </a:xfrm>
      </p:grpSpPr>
      <p:sp>
        <p:nvSpPr>
          <p:cNvPr id="7556" name="Google Shape;7556;p1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57" name="Google Shape;7557;p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8" name="Shape 7568"/>
        <p:cNvGrpSpPr/>
        <p:nvPr/>
      </p:nvGrpSpPr>
      <p:grpSpPr>
        <a:xfrm>
          <a:off x="0" y="0"/>
          <a:ext cx="0" cy="0"/>
          <a:chOff x="0" y="0"/>
          <a:chExt cx="0" cy="0"/>
        </a:xfrm>
      </p:grpSpPr>
      <p:sp>
        <p:nvSpPr>
          <p:cNvPr id="7569" name="Google Shape;7569;p1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70" name="Google Shape;7570;p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2" name="Shape 7582"/>
        <p:cNvGrpSpPr/>
        <p:nvPr/>
      </p:nvGrpSpPr>
      <p:grpSpPr>
        <a:xfrm>
          <a:off x="0" y="0"/>
          <a:ext cx="0" cy="0"/>
          <a:chOff x="0" y="0"/>
          <a:chExt cx="0" cy="0"/>
        </a:xfrm>
      </p:grpSpPr>
      <p:sp>
        <p:nvSpPr>
          <p:cNvPr id="7583" name="Google Shape;7583;p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84" name="Google Shape;7584;p1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 slide 187-198</a:t>
            </a:r>
            <a:endParaRPr/>
          </a:p>
        </p:txBody>
      </p:sp>
      <p:sp>
        <p:nvSpPr>
          <p:cNvPr id="7585" name="Google Shape;7585;p1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8" name="Shape 7598"/>
        <p:cNvGrpSpPr/>
        <p:nvPr/>
      </p:nvGrpSpPr>
      <p:grpSpPr>
        <a:xfrm>
          <a:off x="0" y="0"/>
          <a:ext cx="0" cy="0"/>
          <a:chOff x="0" y="0"/>
          <a:chExt cx="0" cy="0"/>
        </a:xfrm>
      </p:grpSpPr>
      <p:sp>
        <p:nvSpPr>
          <p:cNvPr id="7599" name="Google Shape;7599;p1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00" name="Google Shape;7600;p1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2" name="Shape 7612"/>
        <p:cNvGrpSpPr/>
        <p:nvPr/>
      </p:nvGrpSpPr>
      <p:grpSpPr>
        <a:xfrm>
          <a:off x="0" y="0"/>
          <a:ext cx="0" cy="0"/>
          <a:chOff x="0" y="0"/>
          <a:chExt cx="0" cy="0"/>
        </a:xfrm>
      </p:grpSpPr>
      <p:sp>
        <p:nvSpPr>
          <p:cNvPr id="7613" name="Google Shape;7613;p1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14" name="Google Shape;7614;p1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0" name="Shape 7630"/>
        <p:cNvGrpSpPr/>
        <p:nvPr/>
      </p:nvGrpSpPr>
      <p:grpSpPr>
        <a:xfrm>
          <a:off x="0" y="0"/>
          <a:ext cx="0" cy="0"/>
          <a:chOff x="0" y="0"/>
          <a:chExt cx="0" cy="0"/>
        </a:xfrm>
      </p:grpSpPr>
      <p:sp>
        <p:nvSpPr>
          <p:cNvPr id="7631" name="Google Shape;7631;p1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32" name="Google Shape;7632;p1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7" name="Shape 7647"/>
        <p:cNvGrpSpPr/>
        <p:nvPr/>
      </p:nvGrpSpPr>
      <p:grpSpPr>
        <a:xfrm>
          <a:off x="0" y="0"/>
          <a:ext cx="0" cy="0"/>
          <a:chOff x="0" y="0"/>
          <a:chExt cx="0" cy="0"/>
        </a:xfrm>
      </p:grpSpPr>
      <p:sp>
        <p:nvSpPr>
          <p:cNvPr id="7648" name="Google Shape;7648;p17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49" name="Google Shape;7649;p1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1" name="Shape 7661"/>
        <p:cNvGrpSpPr/>
        <p:nvPr/>
      </p:nvGrpSpPr>
      <p:grpSpPr>
        <a:xfrm>
          <a:off x="0" y="0"/>
          <a:ext cx="0" cy="0"/>
          <a:chOff x="0" y="0"/>
          <a:chExt cx="0" cy="0"/>
        </a:xfrm>
      </p:grpSpPr>
      <p:sp>
        <p:nvSpPr>
          <p:cNvPr id="7662" name="Google Shape;7662;p1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63" name="Google Shape;7663;p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3" name="Shape 7673"/>
        <p:cNvGrpSpPr/>
        <p:nvPr/>
      </p:nvGrpSpPr>
      <p:grpSpPr>
        <a:xfrm>
          <a:off x="0" y="0"/>
          <a:ext cx="0" cy="0"/>
          <a:chOff x="0" y="0"/>
          <a:chExt cx="0" cy="0"/>
        </a:xfrm>
      </p:grpSpPr>
      <p:sp>
        <p:nvSpPr>
          <p:cNvPr id="7674" name="Google Shape;7674;p1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75" name="Google Shape;7675;p1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5" name="Shape 7685"/>
        <p:cNvGrpSpPr/>
        <p:nvPr/>
      </p:nvGrpSpPr>
      <p:grpSpPr>
        <a:xfrm>
          <a:off x="0" y="0"/>
          <a:ext cx="0" cy="0"/>
          <a:chOff x="0" y="0"/>
          <a:chExt cx="0" cy="0"/>
        </a:xfrm>
      </p:grpSpPr>
      <p:sp>
        <p:nvSpPr>
          <p:cNvPr id="7686" name="Google Shape;7686;p1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87" name="Google Shape;7687;p1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3" name="Shape 7703"/>
        <p:cNvGrpSpPr/>
        <p:nvPr/>
      </p:nvGrpSpPr>
      <p:grpSpPr>
        <a:xfrm>
          <a:off x="0" y="0"/>
          <a:ext cx="0" cy="0"/>
          <a:chOff x="0" y="0"/>
          <a:chExt cx="0" cy="0"/>
        </a:xfrm>
      </p:grpSpPr>
      <p:sp>
        <p:nvSpPr>
          <p:cNvPr id="7704" name="Google Shape;7704;p17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05" name="Google Shape;7705;p1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8" name="Shape 7718"/>
        <p:cNvGrpSpPr/>
        <p:nvPr/>
      </p:nvGrpSpPr>
      <p:grpSpPr>
        <a:xfrm>
          <a:off x="0" y="0"/>
          <a:ext cx="0" cy="0"/>
          <a:chOff x="0" y="0"/>
          <a:chExt cx="0" cy="0"/>
        </a:xfrm>
      </p:grpSpPr>
      <p:sp>
        <p:nvSpPr>
          <p:cNvPr id="7719" name="Google Shape;7719;p17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20" name="Google Shape;7720;p1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5" name="Shape 7725"/>
        <p:cNvGrpSpPr/>
        <p:nvPr/>
      </p:nvGrpSpPr>
      <p:grpSpPr>
        <a:xfrm>
          <a:off x="0" y="0"/>
          <a:ext cx="0" cy="0"/>
          <a:chOff x="0" y="0"/>
          <a:chExt cx="0" cy="0"/>
        </a:xfrm>
      </p:grpSpPr>
      <p:sp>
        <p:nvSpPr>
          <p:cNvPr id="7726" name="Google Shape;7726;p1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27" name="Google Shape;7727;p1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28" name="Google Shape;7728;p1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5" name="Shape 7765"/>
        <p:cNvGrpSpPr/>
        <p:nvPr/>
      </p:nvGrpSpPr>
      <p:grpSpPr>
        <a:xfrm>
          <a:off x="0" y="0"/>
          <a:ext cx="0" cy="0"/>
          <a:chOff x="0" y="0"/>
          <a:chExt cx="0" cy="0"/>
        </a:xfrm>
      </p:grpSpPr>
      <p:sp>
        <p:nvSpPr>
          <p:cNvPr id="7766" name="Google Shape;7766;p1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67" name="Google Shape;7767;p1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68" name="Google Shape;7768;p1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6" name="Shape 7806"/>
        <p:cNvGrpSpPr/>
        <p:nvPr/>
      </p:nvGrpSpPr>
      <p:grpSpPr>
        <a:xfrm>
          <a:off x="0" y="0"/>
          <a:ext cx="0" cy="0"/>
          <a:chOff x="0" y="0"/>
          <a:chExt cx="0" cy="0"/>
        </a:xfrm>
      </p:grpSpPr>
      <p:sp>
        <p:nvSpPr>
          <p:cNvPr id="7807" name="Google Shape;7807;p1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08" name="Google Shape;7808;p1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09" name="Google Shape;7809;p1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9" name="Shape 7949"/>
        <p:cNvGrpSpPr/>
        <p:nvPr/>
      </p:nvGrpSpPr>
      <p:grpSpPr>
        <a:xfrm>
          <a:off x="0" y="0"/>
          <a:ext cx="0" cy="0"/>
          <a:chOff x="0" y="0"/>
          <a:chExt cx="0" cy="0"/>
        </a:xfrm>
      </p:grpSpPr>
      <p:sp>
        <p:nvSpPr>
          <p:cNvPr id="7950" name="Google Shape;7950;p1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51" name="Google Shape;7951;p1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52" name="Google Shape;7952;p1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9" name="Shape 8059"/>
        <p:cNvGrpSpPr/>
        <p:nvPr/>
      </p:nvGrpSpPr>
      <p:grpSpPr>
        <a:xfrm>
          <a:off x="0" y="0"/>
          <a:ext cx="0" cy="0"/>
          <a:chOff x="0" y="0"/>
          <a:chExt cx="0" cy="0"/>
        </a:xfrm>
      </p:grpSpPr>
      <p:sp>
        <p:nvSpPr>
          <p:cNvPr id="8060" name="Google Shape;8060;p1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61" name="Google Shape;8061;p1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62" name="Google Shape;8062;p1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6" name="Shape 8096"/>
        <p:cNvGrpSpPr/>
        <p:nvPr/>
      </p:nvGrpSpPr>
      <p:grpSpPr>
        <a:xfrm>
          <a:off x="0" y="0"/>
          <a:ext cx="0" cy="0"/>
          <a:chOff x="0" y="0"/>
          <a:chExt cx="0" cy="0"/>
        </a:xfrm>
      </p:grpSpPr>
      <p:sp>
        <p:nvSpPr>
          <p:cNvPr id="8097" name="Google Shape;8097;p1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98" name="Google Shape;8098;p1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99" name="Google Shape;8099;p1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5" name="Shape 8105"/>
        <p:cNvGrpSpPr/>
        <p:nvPr/>
      </p:nvGrpSpPr>
      <p:grpSpPr>
        <a:xfrm>
          <a:off x="0" y="0"/>
          <a:ext cx="0" cy="0"/>
          <a:chOff x="0" y="0"/>
          <a:chExt cx="0" cy="0"/>
        </a:xfrm>
      </p:grpSpPr>
      <p:sp>
        <p:nvSpPr>
          <p:cNvPr id="8106" name="Google Shape;8106;p1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07" name="Google Shape;8107;p1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08" name="Google Shape;8108;p1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0" name="Shape 8230"/>
        <p:cNvGrpSpPr/>
        <p:nvPr/>
      </p:nvGrpSpPr>
      <p:grpSpPr>
        <a:xfrm>
          <a:off x="0" y="0"/>
          <a:ext cx="0" cy="0"/>
          <a:chOff x="0" y="0"/>
          <a:chExt cx="0" cy="0"/>
        </a:xfrm>
      </p:grpSpPr>
      <p:sp>
        <p:nvSpPr>
          <p:cNvPr id="8231" name="Google Shape;8231;p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32" name="Google Shape;8232;p1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33" name="Google Shape;8233;p18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0" name="Shape 8270"/>
        <p:cNvGrpSpPr/>
        <p:nvPr/>
      </p:nvGrpSpPr>
      <p:grpSpPr>
        <a:xfrm>
          <a:off x="0" y="0"/>
          <a:ext cx="0" cy="0"/>
          <a:chOff x="0" y="0"/>
          <a:chExt cx="0" cy="0"/>
        </a:xfrm>
      </p:grpSpPr>
      <p:sp>
        <p:nvSpPr>
          <p:cNvPr id="8271" name="Google Shape;8271;p1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72" name="Google Shape;8272;p1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73" name="Google Shape;8273;p1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4" name="Shape 8304"/>
        <p:cNvGrpSpPr/>
        <p:nvPr/>
      </p:nvGrpSpPr>
      <p:grpSpPr>
        <a:xfrm>
          <a:off x="0" y="0"/>
          <a:ext cx="0" cy="0"/>
          <a:chOff x="0" y="0"/>
          <a:chExt cx="0" cy="0"/>
        </a:xfrm>
      </p:grpSpPr>
      <p:sp>
        <p:nvSpPr>
          <p:cNvPr id="8305" name="Google Shape;8305;p1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06" name="Google Shape;8306;p1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07" name="Google Shape;8307;p1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3" name="Shape 8313"/>
        <p:cNvGrpSpPr/>
        <p:nvPr/>
      </p:nvGrpSpPr>
      <p:grpSpPr>
        <a:xfrm>
          <a:off x="0" y="0"/>
          <a:ext cx="0" cy="0"/>
          <a:chOff x="0" y="0"/>
          <a:chExt cx="0" cy="0"/>
        </a:xfrm>
      </p:grpSpPr>
      <p:sp>
        <p:nvSpPr>
          <p:cNvPr id="8314" name="Google Shape;8314;p1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15" name="Google Shape;8315;p1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Not in Slide V7</a:t>
            </a:r>
            <a:endParaRPr/>
          </a:p>
        </p:txBody>
      </p:sp>
      <p:sp>
        <p:nvSpPr>
          <p:cNvPr id="8316" name="Google Shape;8316;p18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2" name="Shape 8322"/>
        <p:cNvGrpSpPr/>
        <p:nvPr/>
      </p:nvGrpSpPr>
      <p:grpSpPr>
        <a:xfrm>
          <a:off x="0" y="0"/>
          <a:ext cx="0" cy="0"/>
          <a:chOff x="0" y="0"/>
          <a:chExt cx="0" cy="0"/>
        </a:xfrm>
      </p:grpSpPr>
      <p:sp>
        <p:nvSpPr>
          <p:cNvPr id="8323" name="Google Shape;8323;p1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24" name="Google Shape;8324;p18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25" name="Google Shape;8325;p18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2" name="Shape 8332"/>
        <p:cNvGrpSpPr/>
        <p:nvPr/>
      </p:nvGrpSpPr>
      <p:grpSpPr>
        <a:xfrm>
          <a:off x="0" y="0"/>
          <a:ext cx="0" cy="0"/>
          <a:chOff x="0" y="0"/>
          <a:chExt cx="0" cy="0"/>
        </a:xfrm>
      </p:grpSpPr>
      <p:sp>
        <p:nvSpPr>
          <p:cNvPr id="8333" name="Google Shape;8333;p1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34" name="Google Shape;8334;p19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35" name="Google Shape;8335;p19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7" name="Shape 8367"/>
        <p:cNvGrpSpPr/>
        <p:nvPr/>
      </p:nvGrpSpPr>
      <p:grpSpPr>
        <a:xfrm>
          <a:off x="0" y="0"/>
          <a:ext cx="0" cy="0"/>
          <a:chOff x="0" y="0"/>
          <a:chExt cx="0" cy="0"/>
        </a:xfrm>
      </p:grpSpPr>
      <p:sp>
        <p:nvSpPr>
          <p:cNvPr id="8368" name="Google Shape;8368;p1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69" name="Google Shape;8369;p1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70" name="Google Shape;8370;p1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7" name="Shape 8377"/>
        <p:cNvGrpSpPr/>
        <p:nvPr/>
      </p:nvGrpSpPr>
      <p:grpSpPr>
        <a:xfrm>
          <a:off x="0" y="0"/>
          <a:ext cx="0" cy="0"/>
          <a:chOff x="0" y="0"/>
          <a:chExt cx="0" cy="0"/>
        </a:xfrm>
      </p:grpSpPr>
      <p:sp>
        <p:nvSpPr>
          <p:cNvPr id="8378" name="Google Shape;8378;p1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79" name="Google Shape;8379;p19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80" name="Google Shape;8380;p19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6" name="Shape 8476"/>
        <p:cNvGrpSpPr/>
        <p:nvPr/>
      </p:nvGrpSpPr>
      <p:grpSpPr>
        <a:xfrm>
          <a:off x="0" y="0"/>
          <a:ext cx="0" cy="0"/>
          <a:chOff x="0" y="0"/>
          <a:chExt cx="0" cy="0"/>
        </a:xfrm>
      </p:grpSpPr>
      <p:sp>
        <p:nvSpPr>
          <p:cNvPr id="8477" name="Google Shape;8477;p1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78" name="Google Shape;8478;p19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79" name="Google Shape;8479;p19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5" name="Shape 8665"/>
        <p:cNvGrpSpPr/>
        <p:nvPr/>
      </p:nvGrpSpPr>
      <p:grpSpPr>
        <a:xfrm>
          <a:off x="0" y="0"/>
          <a:ext cx="0" cy="0"/>
          <a:chOff x="0" y="0"/>
          <a:chExt cx="0" cy="0"/>
        </a:xfrm>
      </p:grpSpPr>
      <p:sp>
        <p:nvSpPr>
          <p:cNvPr id="8666" name="Google Shape;8666;p1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67" name="Google Shape;8667;p1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68" name="Google Shape;8668;p1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4" name="Shape 8674"/>
        <p:cNvGrpSpPr/>
        <p:nvPr/>
      </p:nvGrpSpPr>
      <p:grpSpPr>
        <a:xfrm>
          <a:off x="0" y="0"/>
          <a:ext cx="0" cy="0"/>
          <a:chOff x="0" y="0"/>
          <a:chExt cx="0" cy="0"/>
        </a:xfrm>
      </p:grpSpPr>
      <p:sp>
        <p:nvSpPr>
          <p:cNvPr id="8675" name="Google Shape;8675;p1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76" name="Google Shape;8676;p1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77" name="Google Shape;8677;p19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1" name="Shape 8681"/>
        <p:cNvGrpSpPr/>
        <p:nvPr/>
      </p:nvGrpSpPr>
      <p:grpSpPr>
        <a:xfrm>
          <a:off x="0" y="0"/>
          <a:ext cx="0" cy="0"/>
          <a:chOff x="0" y="0"/>
          <a:chExt cx="0" cy="0"/>
        </a:xfrm>
      </p:grpSpPr>
      <p:sp>
        <p:nvSpPr>
          <p:cNvPr id="8682" name="Google Shape;8682;p19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83" name="Google Shape;8683;p1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6" name="Shape 8706"/>
        <p:cNvGrpSpPr/>
        <p:nvPr/>
      </p:nvGrpSpPr>
      <p:grpSpPr>
        <a:xfrm>
          <a:off x="0" y="0"/>
          <a:ext cx="0" cy="0"/>
          <a:chOff x="0" y="0"/>
          <a:chExt cx="0" cy="0"/>
        </a:xfrm>
      </p:grpSpPr>
      <p:sp>
        <p:nvSpPr>
          <p:cNvPr id="8707" name="Google Shape;8707;p19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08" name="Google Shape;8708;p1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 name="Shape 13"/>
        <p:cNvGrpSpPr/>
        <p:nvPr/>
      </p:nvGrpSpPr>
      <p:grpSpPr>
        <a:xfrm>
          <a:off x="0" y="0"/>
          <a:ext cx="0" cy="0"/>
          <a:chOff x="0" y="0"/>
          <a:chExt cx="0" cy="0"/>
        </a:xfrm>
      </p:grpSpPr>
      <p:sp>
        <p:nvSpPr>
          <p:cNvPr id="14" name="Google Shape;14;p199"/>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19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 name="Shape 16"/>
        <p:cNvGrpSpPr/>
        <p:nvPr/>
      </p:nvGrpSpPr>
      <p:grpSpPr>
        <a:xfrm>
          <a:off x="0" y="0"/>
          <a:ext cx="0" cy="0"/>
          <a:chOff x="0" y="0"/>
          <a:chExt cx="0" cy="0"/>
        </a:xfrm>
      </p:grpSpPr>
      <p:sp>
        <p:nvSpPr>
          <p:cNvPr id="17" name="Google Shape;17;p200"/>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0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20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0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1" name="Shape 21"/>
        <p:cNvGrpSpPr/>
        <p:nvPr/>
      </p:nvGrpSpPr>
      <p:grpSpPr>
        <a:xfrm>
          <a:off x="0" y="0"/>
          <a:ext cx="0" cy="0"/>
          <a:chOff x="0" y="0"/>
          <a:chExt cx="0" cy="0"/>
        </a:xfrm>
      </p:grpSpPr>
      <p:sp>
        <p:nvSpPr>
          <p:cNvPr id="22" name="Google Shape;22;p203"/>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20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20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20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0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 name="Google Shape;28;p20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5" name="Shape 35"/>
        <p:cNvGrpSpPr/>
        <p:nvPr/>
      </p:nvGrpSpPr>
      <p:grpSpPr>
        <a:xfrm>
          <a:off x="0" y="0"/>
          <a:ext cx="0" cy="0"/>
          <a:chOff x="0" y="0"/>
          <a:chExt cx="0" cy="0"/>
        </a:xfrm>
      </p:grpSpPr>
      <p:sp>
        <p:nvSpPr>
          <p:cNvPr id="36" name="Google Shape;36;p202"/>
          <p:cNvSpPr txBox="1"/>
          <p:nvPr>
            <p:ph type="title"/>
          </p:nvPr>
        </p:nvSpPr>
        <p:spPr>
          <a:xfrm>
            <a:off x="711200" y="228600"/>
            <a:ext cx="103632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02"/>
          <p:cNvSpPr txBox="1"/>
          <p:nvPr>
            <p:ph idx="1" type="body"/>
          </p:nvPr>
        </p:nvSpPr>
        <p:spPr>
          <a:xfrm>
            <a:off x="711200" y="1600200"/>
            <a:ext cx="10363200" cy="4648200"/>
          </a:xfrm>
          <a:prstGeom prst="rect">
            <a:avLst/>
          </a:prstGeom>
          <a:noFill/>
          <a:ln>
            <a:noFill/>
          </a:ln>
        </p:spPr>
        <p:txBody>
          <a:bodyPr anchorCtr="0" anchor="t" bIns="45700" lIns="91425" spcFirstLastPara="1" rIns="91425" wrap="square" tIns="45700">
            <a:noAutofit/>
          </a:bodyPr>
          <a:lstStyle>
            <a:lvl1pPr indent="-342900" lvl="0" marL="457200" algn="l">
              <a:lnSpc>
                <a:spcPct val="85000"/>
              </a:lnSpc>
              <a:spcBef>
                <a:spcPts val="360"/>
              </a:spcBef>
              <a:spcAft>
                <a:spcPts val="0"/>
              </a:spcAft>
              <a:buSzPts val="1800"/>
              <a:buChar char="▪"/>
              <a:defRPr/>
            </a:lvl1pPr>
            <a:lvl2pPr indent="-342900" lvl="1" marL="914400" algn="l">
              <a:lnSpc>
                <a:spcPct val="85000"/>
              </a:lnSpc>
              <a:spcBef>
                <a:spcPts val="360"/>
              </a:spcBef>
              <a:spcAft>
                <a:spcPts val="0"/>
              </a:spcAft>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8" name="Google Shape;38;p202"/>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02"/>
          <p:cNvSpPr txBox="1"/>
          <p:nvPr>
            <p:ph idx="11" type="ftr"/>
          </p:nvPr>
        </p:nvSpPr>
        <p:spPr>
          <a:xfrm>
            <a:off x="7435851" y="6445250"/>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02"/>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i="0" sz="1200" u="none" cap="none" strike="noStrike">
                <a:solidFill>
                  <a:schemeClr val="dk1"/>
                </a:solidFill>
                <a:latin typeface="Gill Sans"/>
                <a:ea typeface="Gill Sans"/>
                <a:cs typeface="Gill Sans"/>
                <a:sym typeface="Gill Sans"/>
              </a:defRPr>
            </a:lvl1pPr>
            <a:lvl2pPr indent="0" lvl="1" marL="0" marR="0" algn="l">
              <a:spcBef>
                <a:spcPts val="0"/>
              </a:spcBef>
              <a:buNone/>
              <a:defRPr b="0" i="0" sz="1200" u="none" cap="none" strike="noStrike">
                <a:solidFill>
                  <a:schemeClr val="dk1"/>
                </a:solidFill>
                <a:latin typeface="Gill Sans"/>
                <a:ea typeface="Gill Sans"/>
                <a:cs typeface="Gill Sans"/>
                <a:sym typeface="Gill Sans"/>
              </a:defRPr>
            </a:lvl2pPr>
            <a:lvl3pPr indent="0" lvl="2" marL="0" marR="0" algn="l">
              <a:spcBef>
                <a:spcPts val="0"/>
              </a:spcBef>
              <a:buNone/>
              <a:defRPr b="0" i="0" sz="1200" u="none" cap="none" strike="noStrike">
                <a:solidFill>
                  <a:schemeClr val="dk1"/>
                </a:solidFill>
                <a:latin typeface="Gill Sans"/>
                <a:ea typeface="Gill Sans"/>
                <a:cs typeface="Gill Sans"/>
                <a:sym typeface="Gill Sans"/>
              </a:defRPr>
            </a:lvl3pPr>
            <a:lvl4pPr indent="0" lvl="3" marL="0" marR="0" algn="l">
              <a:spcBef>
                <a:spcPts val="0"/>
              </a:spcBef>
              <a:buNone/>
              <a:defRPr b="0" i="0" sz="1200" u="none" cap="none" strike="noStrike">
                <a:solidFill>
                  <a:schemeClr val="dk1"/>
                </a:solidFill>
                <a:latin typeface="Gill Sans"/>
                <a:ea typeface="Gill Sans"/>
                <a:cs typeface="Gill Sans"/>
                <a:sym typeface="Gill Sans"/>
              </a:defRPr>
            </a:lvl4pPr>
            <a:lvl5pPr indent="0" lvl="4" marL="0" marR="0" algn="l">
              <a:spcBef>
                <a:spcPts val="0"/>
              </a:spcBef>
              <a:buNone/>
              <a:defRPr b="0" i="0" sz="1200" u="none" cap="none" strike="noStrike">
                <a:solidFill>
                  <a:schemeClr val="dk1"/>
                </a:solidFill>
                <a:latin typeface="Gill Sans"/>
                <a:ea typeface="Gill Sans"/>
                <a:cs typeface="Gill Sans"/>
                <a:sym typeface="Gill Sans"/>
              </a:defRPr>
            </a:lvl5pPr>
            <a:lvl6pPr indent="0" lvl="5" marL="0" marR="0" algn="l">
              <a:spcBef>
                <a:spcPts val="0"/>
              </a:spcBef>
              <a:buNone/>
              <a:defRPr b="0" i="0" sz="1200" u="none" cap="none" strike="noStrike">
                <a:solidFill>
                  <a:schemeClr val="dk1"/>
                </a:solidFill>
                <a:latin typeface="Gill Sans"/>
                <a:ea typeface="Gill Sans"/>
                <a:cs typeface="Gill Sans"/>
                <a:sym typeface="Gill Sans"/>
              </a:defRPr>
            </a:lvl6pPr>
            <a:lvl7pPr indent="0" lvl="6" marL="0" marR="0" algn="l">
              <a:spcBef>
                <a:spcPts val="0"/>
              </a:spcBef>
              <a:buNone/>
              <a:defRPr b="0" i="0" sz="1200" u="none" cap="none" strike="noStrike">
                <a:solidFill>
                  <a:schemeClr val="dk1"/>
                </a:solidFill>
                <a:latin typeface="Gill Sans"/>
                <a:ea typeface="Gill Sans"/>
                <a:cs typeface="Gill Sans"/>
                <a:sym typeface="Gill Sans"/>
              </a:defRPr>
            </a:lvl7pPr>
            <a:lvl8pPr indent="0" lvl="7" marL="0" marR="0" algn="l">
              <a:spcBef>
                <a:spcPts val="0"/>
              </a:spcBef>
              <a:buNone/>
              <a:defRPr b="0" i="0" sz="1200" u="none" cap="none" strike="noStrike">
                <a:solidFill>
                  <a:schemeClr val="dk1"/>
                </a:solidFill>
                <a:latin typeface="Gill Sans"/>
                <a:ea typeface="Gill Sans"/>
                <a:cs typeface="Gill Sans"/>
                <a:sym typeface="Gill Sans"/>
              </a:defRPr>
            </a:lvl8pPr>
            <a:lvl9pPr indent="0" lvl="8" marL="0" marR="0" algn="l">
              <a:spcBef>
                <a:spcPts val="0"/>
              </a:spcBef>
              <a:buNone/>
              <a:defRPr b="0" i="0" sz="1200" u="none" cap="none" strike="noStrike">
                <a:solidFill>
                  <a:schemeClr val="dk1"/>
                </a:solidFill>
                <a:latin typeface="Gill Sans"/>
                <a:ea typeface="Gill Sans"/>
                <a:cs typeface="Gill Sans"/>
                <a:sym typeface="Gill Sans"/>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204"/>
          <p:cNvSpPr txBox="1"/>
          <p:nvPr>
            <p:ph type="title"/>
          </p:nvPr>
        </p:nvSpPr>
        <p:spPr>
          <a:xfrm>
            <a:off x="711200" y="228600"/>
            <a:ext cx="103632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04"/>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04"/>
          <p:cNvSpPr txBox="1"/>
          <p:nvPr>
            <p:ph idx="11" type="ftr"/>
          </p:nvPr>
        </p:nvSpPr>
        <p:spPr>
          <a:xfrm>
            <a:off x="7435851" y="6445250"/>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04"/>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chemeClr val="dk1"/>
                </a:solidFill>
                <a:latin typeface="Gill Sans"/>
                <a:ea typeface="Gill Sans"/>
                <a:cs typeface="Gill Sans"/>
                <a:sym typeface="Gill Sans"/>
              </a:defRPr>
            </a:lvl1pPr>
            <a:lvl2pPr indent="0" lvl="1" marL="0" marR="0" algn="l">
              <a:spcBef>
                <a:spcPts val="0"/>
              </a:spcBef>
              <a:buNone/>
              <a:defRPr sz="1200">
                <a:solidFill>
                  <a:schemeClr val="dk1"/>
                </a:solidFill>
                <a:latin typeface="Gill Sans"/>
                <a:ea typeface="Gill Sans"/>
                <a:cs typeface="Gill Sans"/>
                <a:sym typeface="Gill Sans"/>
              </a:defRPr>
            </a:lvl2pPr>
            <a:lvl3pPr indent="0" lvl="2" marL="0" marR="0" algn="l">
              <a:spcBef>
                <a:spcPts val="0"/>
              </a:spcBef>
              <a:buNone/>
              <a:defRPr sz="1200">
                <a:solidFill>
                  <a:schemeClr val="dk1"/>
                </a:solidFill>
                <a:latin typeface="Gill Sans"/>
                <a:ea typeface="Gill Sans"/>
                <a:cs typeface="Gill Sans"/>
                <a:sym typeface="Gill Sans"/>
              </a:defRPr>
            </a:lvl3pPr>
            <a:lvl4pPr indent="0" lvl="3" marL="0" marR="0" algn="l">
              <a:spcBef>
                <a:spcPts val="0"/>
              </a:spcBef>
              <a:buNone/>
              <a:defRPr sz="1200">
                <a:solidFill>
                  <a:schemeClr val="dk1"/>
                </a:solidFill>
                <a:latin typeface="Gill Sans"/>
                <a:ea typeface="Gill Sans"/>
                <a:cs typeface="Gill Sans"/>
                <a:sym typeface="Gill Sans"/>
              </a:defRPr>
            </a:lvl4pPr>
            <a:lvl5pPr indent="0" lvl="4" marL="0" marR="0" algn="l">
              <a:spcBef>
                <a:spcPts val="0"/>
              </a:spcBef>
              <a:buNone/>
              <a:defRPr sz="1200">
                <a:solidFill>
                  <a:schemeClr val="dk1"/>
                </a:solidFill>
                <a:latin typeface="Gill Sans"/>
                <a:ea typeface="Gill Sans"/>
                <a:cs typeface="Gill Sans"/>
                <a:sym typeface="Gill Sans"/>
              </a:defRPr>
            </a:lvl5pPr>
            <a:lvl6pPr indent="0" lvl="5" marL="0" marR="0" algn="l">
              <a:spcBef>
                <a:spcPts val="0"/>
              </a:spcBef>
              <a:buNone/>
              <a:defRPr sz="1200">
                <a:solidFill>
                  <a:schemeClr val="dk1"/>
                </a:solidFill>
                <a:latin typeface="Gill Sans"/>
                <a:ea typeface="Gill Sans"/>
                <a:cs typeface="Gill Sans"/>
                <a:sym typeface="Gill Sans"/>
              </a:defRPr>
            </a:lvl6pPr>
            <a:lvl7pPr indent="0" lvl="6" marL="0" marR="0" algn="l">
              <a:spcBef>
                <a:spcPts val="0"/>
              </a:spcBef>
              <a:buNone/>
              <a:defRPr sz="1200">
                <a:solidFill>
                  <a:schemeClr val="dk1"/>
                </a:solidFill>
                <a:latin typeface="Gill Sans"/>
                <a:ea typeface="Gill Sans"/>
                <a:cs typeface="Gill Sans"/>
                <a:sym typeface="Gill Sans"/>
              </a:defRPr>
            </a:lvl7pPr>
            <a:lvl8pPr indent="0" lvl="7" marL="0" marR="0" algn="l">
              <a:spcBef>
                <a:spcPts val="0"/>
              </a:spcBef>
              <a:buNone/>
              <a:defRPr sz="1200">
                <a:solidFill>
                  <a:schemeClr val="dk1"/>
                </a:solidFill>
                <a:latin typeface="Gill Sans"/>
                <a:ea typeface="Gill Sans"/>
                <a:cs typeface="Gill Sans"/>
                <a:sym typeface="Gill Sans"/>
              </a:defRPr>
            </a:lvl8pPr>
            <a:lvl9pPr indent="0" lvl="8" marL="0" marR="0" algn="l">
              <a:spcBef>
                <a:spcPts val="0"/>
              </a:spcBef>
              <a:buNone/>
              <a:defRPr sz="1200">
                <a:solidFill>
                  <a:schemeClr val="dk1"/>
                </a:solidFill>
                <a:latin typeface="Gill Sans"/>
                <a:ea typeface="Gill Sans"/>
                <a:cs typeface="Gill Sans"/>
                <a:sym typeface="Gill Sans"/>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6" name="Shape 46"/>
        <p:cNvGrpSpPr/>
        <p:nvPr/>
      </p:nvGrpSpPr>
      <p:grpSpPr>
        <a:xfrm>
          <a:off x="0" y="0"/>
          <a:ext cx="0" cy="0"/>
          <a:chOff x="0" y="0"/>
          <a:chExt cx="0" cy="0"/>
        </a:xfrm>
      </p:grpSpPr>
      <p:sp>
        <p:nvSpPr>
          <p:cNvPr id="47" name="Google Shape;47;p206"/>
          <p:cNvSpPr txBox="1"/>
          <p:nvPr>
            <p:ph type="ctrTitle"/>
          </p:nvPr>
        </p:nvSpPr>
        <p:spPr>
          <a:xfrm>
            <a:off x="914400" y="2130426"/>
            <a:ext cx="10363200" cy="14700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06"/>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Autofit/>
          </a:bodyPr>
          <a:lstStyle>
            <a:lvl1pPr lvl="0" algn="ctr">
              <a:lnSpc>
                <a:spcPct val="85000"/>
              </a:lnSpc>
              <a:spcBef>
                <a:spcPts val="640"/>
              </a:spcBef>
              <a:spcAft>
                <a:spcPts val="0"/>
              </a:spcAft>
              <a:buSzPts val="3200"/>
              <a:buNone/>
              <a:defRPr/>
            </a:lvl1pPr>
            <a:lvl2pPr lvl="1" algn="ctr">
              <a:lnSpc>
                <a:spcPct val="85000"/>
              </a:lnSpc>
              <a:spcBef>
                <a:spcPts val="560"/>
              </a:spcBef>
              <a:spcAft>
                <a:spcPts val="0"/>
              </a:spcAft>
              <a:buSzPts val="2800"/>
              <a:buNone/>
              <a:defRPr/>
            </a:lvl2pPr>
            <a:lvl3pPr lvl="2" algn="ctr">
              <a:spcBef>
                <a:spcPts val="480"/>
              </a:spcBef>
              <a:spcAft>
                <a:spcPts val="0"/>
              </a:spcAft>
              <a:buClr>
                <a:schemeClr val="dk1"/>
              </a:buClr>
              <a:buSzPts val="2400"/>
              <a:buFont typeface="Gill Sans"/>
              <a:buNone/>
              <a:defRPr/>
            </a:lvl3pPr>
            <a:lvl4pPr lvl="3" algn="ctr">
              <a:spcBef>
                <a:spcPts val="400"/>
              </a:spcBef>
              <a:spcAft>
                <a:spcPts val="0"/>
              </a:spcAft>
              <a:buClr>
                <a:schemeClr val="dk1"/>
              </a:buClr>
              <a:buSzPts val="2000"/>
              <a:buFont typeface="Times New Roman"/>
              <a:buNone/>
              <a:defRPr/>
            </a:lvl4pPr>
            <a:lvl5pPr lvl="4" algn="ctr">
              <a:spcBef>
                <a:spcPts val="400"/>
              </a:spcBef>
              <a:spcAft>
                <a:spcPts val="0"/>
              </a:spcAft>
              <a:buClr>
                <a:schemeClr val="dk1"/>
              </a:buClr>
              <a:buSzPts val="2000"/>
              <a:buFont typeface="Times New Roman"/>
              <a:buNone/>
              <a:defRPr/>
            </a:lvl5pPr>
            <a:lvl6pPr lvl="5" algn="ctr">
              <a:spcBef>
                <a:spcPts val="400"/>
              </a:spcBef>
              <a:spcAft>
                <a:spcPts val="0"/>
              </a:spcAft>
              <a:buClr>
                <a:schemeClr val="dk1"/>
              </a:buClr>
              <a:buSzPts val="2000"/>
              <a:buFont typeface="Times New Roman"/>
              <a:buNone/>
              <a:defRPr/>
            </a:lvl6pPr>
            <a:lvl7pPr lvl="6" algn="ctr">
              <a:spcBef>
                <a:spcPts val="400"/>
              </a:spcBef>
              <a:spcAft>
                <a:spcPts val="0"/>
              </a:spcAft>
              <a:buClr>
                <a:schemeClr val="dk1"/>
              </a:buClr>
              <a:buSzPts val="2000"/>
              <a:buFont typeface="Times New Roman"/>
              <a:buNone/>
              <a:defRPr/>
            </a:lvl7pPr>
            <a:lvl8pPr lvl="7" algn="ctr">
              <a:spcBef>
                <a:spcPts val="400"/>
              </a:spcBef>
              <a:spcAft>
                <a:spcPts val="0"/>
              </a:spcAft>
              <a:buClr>
                <a:schemeClr val="dk1"/>
              </a:buClr>
              <a:buSzPts val="2000"/>
              <a:buFont typeface="Times New Roman"/>
              <a:buNone/>
              <a:defRPr/>
            </a:lvl8pPr>
            <a:lvl9pPr lvl="8" algn="ctr">
              <a:spcBef>
                <a:spcPts val="400"/>
              </a:spcBef>
              <a:spcAft>
                <a:spcPts val="0"/>
              </a:spcAft>
              <a:buClr>
                <a:schemeClr val="dk1"/>
              </a:buClr>
              <a:buSzPts val="2000"/>
              <a:buFont typeface="Times New Roman"/>
              <a:buNone/>
              <a:defRPr/>
            </a:lvl9pPr>
          </a:lstStyle>
          <a:p/>
        </p:txBody>
      </p:sp>
      <p:sp>
        <p:nvSpPr>
          <p:cNvPr id="49" name="Google Shape;49;p206"/>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06"/>
          <p:cNvSpPr txBox="1"/>
          <p:nvPr>
            <p:ph idx="11" type="ftr"/>
          </p:nvPr>
        </p:nvSpPr>
        <p:spPr>
          <a:xfrm>
            <a:off x="7435851" y="6445250"/>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06"/>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chemeClr val="dk1"/>
                </a:solidFill>
                <a:latin typeface="Gill Sans"/>
                <a:ea typeface="Gill Sans"/>
                <a:cs typeface="Gill Sans"/>
                <a:sym typeface="Gill Sans"/>
              </a:defRPr>
            </a:lvl1pPr>
            <a:lvl2pPr indent="0" lvl="1" marL="0" marR="0" algn="l">
              <a:spcBef>
                <a:spcPts val="0"/>
              </a:spcBef>
              <a:buNone/>
              <a:defRPr sz="1200">
                <a:solidFill>
                  <a:schemeClr val="dk1"/>
                </a:solidFill>
                <a:latin typeface="Gill Sans"/>
                <a:ea typeface="Gill Sans"/>
                <a:cs typeface="Gill Sans"/>
                <a:sym typeface="Gill Sans"/>
              </a:defRPr>
            </a:lvl2pPr>
            <a:lvl3pPr indent="0" lvl="2" marL="0" marR="0" algn="l">
              <a:spcBef>
                <a:spcPts val="0"/>
              </a:spcBef>
              <a:buNone/>
              <a:defRPr sz="1200">
                <a:solidFill>
                  <a:schemeClr val="dk1"/>
                </a:solidFill>
                <a:latin typeface="Gill Sans"/>
                <a:ea typeface="Gill Sans"/>
                <a:cs typeface="Gill Sans"/>
                <a:sym typeface="Gill Sans"/>
              </a:defRPr>
            </a:lvl3pPr>
            <a:lvl4pPr indent="0" lvl="3" marL="0" marR="0" algn="l">
              <a:spcBef>
                <a:spcPts val="0"/>
              </a:spcBef>
              <a:buNone/>
              <a:defRPr sz="1200">
                <a:solidFill>
                  <a:schemeClr val="dk1"/>
                </a:solidFill>
                <a:latin typeface="Gill Sans"/>
                <a:ea typeface="Gill Sans"/>
                <a:cs typeface="Gill Sans"/>
                <a:sym typeface="Gill Sans"/>
              </a:defRPr>
            </a:lvl4pPr>
            <a:lvl5pPr indent="0" lvl="4" marL="0" marR="0" algn="l">
              <a:spcBef>
                <a:spcPts val="0"/>
              </a:spcBef>
              <a:buNone/>
              <a:defRPr sz="1200">
                <a:solidFill>
                  <a:schemeClr val="dk1"/>
                </a:solidFill>
                <a:latin typeface="Gill Sans"/>
                <a:ea typeface="Gill Sans"/>
                <a:cs typeface="Gill Sans"/>
                <a:sym typeface="Gill Sans"/>
              </a:defRPr>
            </a:lvl5pPr>
            <a:lvl6pPr indent="0" lvl="5" marL="0" marR="0" algn="l">
              <a:spcBef>
                <a:spcPts val="0"/>
              </a:spcBef>
              <a:buNone/>
              <a:defRPr sz="1200">
                <a:solidFill>
                  <a:schemeClr val="dk1"/>
                </a:solidFill>
                <a:latin typeface="Gill Sans"/>
                <a:ea typeface="Gill Sans"/>
                <a:cs typeface="Gill Sans"/>
                <a:sym typeface="Gill Sans"/>
              </a:defRPr>
            </a:lvl6pPr>
            <a:lvl7pPr indent="0" lvl="6" marL="0" marR="0" algn="l">
              <a:spcBef>
                <a:spcPts val="0"/>
              </a:spcBef>
              <a:buNone/>
              <a:defRPr sz="1200">
                <a:solidFill>
                  <a:schemeClr val="dk1"/>
                </a:solidFill>
                <a:latin typeface="Gill Sans"/>
                <a:ea typeface="Gill Sans"/>
                <a:cs typeface="Gill Sans"/>
                <a:sym typeface="Gill Sans"/>
              </a:defRPr>
            </a:lvl7pPr>
            <a:lvl8pPr indent="0" lvl="7" marL="0" marR="0" algn="l">
              <a:spcBef>
                <a:spcPts val="0"/>
              </a:spcBef>
              <a:buNone/>
              <a:defRPr sz="1200">
                <a:solidFill>
                  <a:schemeClr val="dk1"/>
                </a:solidFill>
                <a:latin typeface="Gill Sans"/>
                <a:ea typeface="Gill Sans"/>
                <a:cs typeface="Gill Sans"/>
                <a:sym typeface="Gill Sans"/>
              </a:defRPr>
            </a:lvl8pPr>
            <a:lvl9pPr indent="0" lvl="8" marL="0" marR="0" algn="l">
              <a:spcBef>
                <a:spcPts val="0"/>
              </a:spcBef>
              <a:buNone/>
              <a:defRPr sz="1200">
                <a:solidFill>
                  <a:schemeClr val="dk1"/>
                </a:solidFill>
                <a:latin typeface="Gill Sans"/>
                <a:ea typeface="Gill Sans"/>
                <a:cs typeface="Gill Sans"/>
                <a:sym typeface="Gill Sans"/>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2" name="Shape 52"/>
        <p:cNvGrpSpPr/>
        <p:nvPr/>
      </p:nvGrpSpPr>
      <p:grpSpPr>
        <a:xfrm>
          <a:off x="0" y="0"/>
          <a:ext cx="0" cy="0"/>
          <a:chOff x="0" y="0"/>
          <a:chExt cx="0" cy="0"/>
        </a:xfrm>
      </p:grpSpPr>
      <p:sp>
        <p:nvSpPr>
          <p:cNvPr id="53" name="Google Shape;53;p207"/>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07"/>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85000"/>
              </a:lnSpc>
              <a:spcBef>
                <a:spcPts val="400"/>
              </a:spcBef>
              <a:spcAft>
                <a:spcPts val="0"/>
              </a:spcAft>
              <a:buSzPts val="2000"/>
              <a:buNone/>
              <a:defRPr sz="2000"/>
            </a:lvl1pPr>
            <a:lvl2pPr indent="-228600" lvl="1" marL="914400" algn="l">
              <a:lnSpc>
                <a:spcPct val="85000"/>
              </a:lnSpc>
              <a:spcBef>
                <a:spcPts val="360"/>
              </a:spcBef>
              <a:spcAft>
                <a:spcPts val="0"/>
              </a:spcAft>
              <a:buSzPts val="1800"/>
              <a:buNone/>
              <a:defRPr sz="1800"/>
            </a:lvl2pPr>
            <a:lvl3pPr indent="-228600" lvl="2" marL="1371600" algn="l">
              <a:spcBef>
                <a:spcPts val="320"/>
              </a:spcBef>
              <a:spcAft>
                <a:spcPts val="0"/>
              </a:spcAft>
              <a:buClr>
                <a:schemeClr val="dk1"/>
              </a:buClr>
              <a:buSzPts val="1600"/>
              <a:buFont typeface="Gill Sans"/>
              <a:buNone/>
              <a:defRPr sz="1600"/>
            </a:lvl3pPr>
            <a:lvl4pPr indent="-228600" lvl="3" marL="1828800" algn="l">
              <a:spcBef>
                <a:spcPts val="280"/>
              </a:spcBef>
              <a:spcAft>
                <a:spcPts val="0"/>
              </a:spcAft>
              <a:buClr>
                <a:schemeClr val="dk1"/>
              </a:buClr>
              <a:buSzPts val="1400"/>
              <a:buFont typeface="Times New Roman"/>
              <a:buNone/>
              <a:defRPr sz="1400"/>
            </a:lvl4pPr>
            <a:lvl5pPr indent="-228600" lvl="4" marL="2286000" algn="l">
              <a:spcBef>
                <a:spcPts val="280"/>
              </a:spcBef>
              <a:spcAft>
                <a:spcPts val="0"/>
              </a:spcAft>
              <a:buClr>
                <a:schemeClr val="dk1"/>
              </a:buClr>
              <a:buSzPts val="1400"/>
              <a:buFont typeface="Times New Roman"/>
              <a:buNone/>
              <a:defRPr sz="1400"/>
            </a:lvl5pPr>
            <a:lvl6pPr indent="-228600" lvl="5" marL="2743200" algn="l">
              <a:spcBef>
                <a:spcPts val="280"/>
              </a:spcBef>
              <a:spcAft>
                <a:spcPts val="0"/>
              </a:spcAft>
              <a:buClr>
                <a:schemeClr val="dk1"/>
              </a:buClr>
              <a:buSzPts val="1400"/>
              <a:buFont typeface="Times New Roman"/>
              <a:buNone/>
              <a:defRPr sz="1400"/>
            </a:lvl6pPr>
            <a:lvl7pPr indent="-228600" lvl="6" marL="3200400" algn="l">
              <a:spcBef>
                <a:spcPts val="280"/>
              </a:spcBef>
              <a:spcAft>
                <a:spcPts val="0"/>
              </a:spcAft>
              <a:buClr>
                <a:schemeClr val="dk1"/>
              </a:buClr>
              <a:buSzPts val="1400"/>
              <a:buFont typeface="Times New Roman"/>
              <a:buNone/>
              <a:defRPr sz="1400"/>
            </a:lvl7pPr>
            <a:lvl8pPr indent="-228600" lvl="7" marL="3657600" algn="l">
              <a:spcBef>
                <a:spcPts val="280"/>
              </a:spcBef>
              <a:spcAft>
                <a:spcPts val="0"/>
              </a:spcAft>
              <a:buClr>
                <a:schemeClr val="dk1"/>
              </a:buClr>
              <a:buSzPts val="1400"/>
              <a:buFont typeface="Times New Roman"/>
              <a:buNone/>
              <a:defRPr sz="1400"/>
            </a:lvl8pPr>
            <a:lvl9pPr indent="-228600" lvl="8" marL="4114800" algn="l">
              <a:spcBef>
                <a:spcPts val="280"/>
              </a:spcBef>
              <a:spcAft>
                <a:spcPts val="0"/>
              </a:spcAft>
              <a:buClr>
                <a:schemeClr val="dk1"/>
              </a:buClr>
              <a:buSzPts val="1400"/>
              <a:buFont typeface="Times New Roman"/>
              <a:buNone/>
              <a:defRPr sz="1400"/>
            </a:lvl9pPr>
          </a:lstStyle>
          <a:p/>
        </p:txBody>
      </p:sp>
      <p:sp>
        <p:nvSpPr>
          <p:cNvPr id="55" name="Google Shape;55;p207"/>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07"/>
          <p:cNvSpPr txBox="1"/>
          <p:nvPr>
            <p:ph idx="11" type="ftr"/>
          </p:nvPr>
        </p:nvSpPr>
        <p:spPr>
          <a:xfrm>
            <a:off x="7435851" y="6445250"/>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07"/>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chemeClr val="dk1"/>
                </a:solidFill>
                <a:latin typeface="Gill Sans"/>
                <a:ea typeface="Gill Sans"/>
                <a:cs typeface="Gill Sans"/>
                <a:sym typeface="Gill Sans"/>
              </a:defRPr>
            </a:lvl1pPr>
            <a:lvl2pPr indent="0" lvl="1" marL="0" marR="0" algn="l">
              <a:spcBef>
                <a:spcPts val="0"/>
              </a:spcBef>
              <a:buNone/>
              <a:defRPr sz="1200">
                <a:solidFill>
                  <a:schemeClr val="dk1"/>
                </a:solidFill>
                <a:latin typeface="Gill Sans"/>
                <a:ea typeface="Gill Sans"/>
                <a:cs typeface="Gill Sans"/>
                <a:sym typeface="Gill Sans"/>
              </a:defRPr>
            </a:lvl2pPr>
            <a:lvl3pPr indent="0" lvl="2" marL="0" marR="0" algn="l">
              <a:spcBef>
                <a:spcPts val="0"/>
              </a:spcBef>
              <a:buNone/>
              <a:defRPr sz="1200">
                <a:solidFill>
                  <a:schemeClr val="dk1"/>
                </a:solidFill>
                <a:latin typeface="Gill Sans"/>
                <a:ea typeface="Gill Sans"/>
                <a:cs typeface="Gill Sans"/>
                <a:sym typeface="Gill Sans"/>
              </a:defRPr>
            </a:lvl3pPr>
            <a:lvl4pPr indent="0" lvl="3" marL="0" marR="0" algn="l">
              <a:spcBef>
                <a:spcPts val="0"/>
              </a:spcBef>
              <a:buNone/>
              <a:defRPr sz="1200">
                <a:solidFill>
                  <a:schemeClr val="dk1"/>
                </a:solidFill>
                <a:latin typeface="Gill Sans"/>
                <a:ea typeface="Gill Sans"/>
                <a:cs typeface="Gill Sans"/>
                <a:sym typeface="Gill Sans"/>
              </a:defRPr>
            </a:lvl4pPr>
            <a:lvl5pPr indent="0" lvl="4" marL="0" marR="0" algn="l">
              <a:spcBef>
                <a:spcPts val="0"/>
              </a:spcBef>
              <a:buNone/>
              <a:defRPr sz="1200">
                <a:solidFill>
                  <a:schemeClr val="dk1"/>
                </a:solidFill>
                <a:latin typeface="Gill Sans"/>
                <a:ea typeface="Gill Sans"/>
                <a:cs typeface="Gill Sans"/>
                <a:sym typeface="Gill Sans"/>
              </a:defRPr>
            </a:lvl5pPr>
            <a:lvl6pPr indent="0" lvl="5" marL="0" marR="0" algn="l">
              <a:spcBef>
                <a:spcPts val="0"/>
              </a:spcBef>
              <a:buNone/>
              <a:defRPr sz="1200">
                <a:solidFill>
                  <a:schemeClr val="dk1"/>
                </a:solidFill>
                <a:latin typeface="Gill Sans"/>
                <a:ea typeface="Gill Sans"/>
                <a:cs typeface="Gill Sans"/>
                <a:sym typeface="Gill Sans"/>
              </a:defRPr>
            </a:lvl6pPr>
            <a:lvl7pPr indent="0" lvl="6" marL="0" marR="0" algn="l">
              <a:spcBef>
                <a:spcPts val="0"/>
              </a:spcBef>
              <a:buNone/>
              <a:defRPr sz="1200">
                <a:solidFill>
                  <a:schemeClr val="dk1"/>
                </a:solidFill>
                <a:latin typeface="Gill Sans"/>
                <a:ea typeface="Gill Sans"/>
                <a:cs typeface="Gill Sans"/>
                <a:sym typeface="Gill Sans"/>
              </a:defRPr>
            </a:lvl7pPr>
            <a:lvl8pPr indent="0" lvl="7" marL="0" marR="0" algn="l">
              <a:spcBef>
                <a:spcPts val="0"/>
              </a:spcBef>
              <a:buNone/>
              <a:defRPr sz="1200">
                <a:solidFill>
                  <a:schemeClr val="dk1"/>
                </a:solidFill>
                <a:latin typeface="Gill Sans"/>
                <a:ea typeface="Gill Sans"/>
                <a:cs typeface="Gill Sans"/>
                <a:sym typeface="Gill Sans"/>
              </a:defRPr>
            </a:lvl8pPr>
            <a:lvl9pPr indent="0" lvl="8" marL="0" marR="0" algn="l">
              <a:spcBef>
                <a:spcPts val="0"/>
              </a:spcBef>
              <a:buNone/>
              <a:defRPr sz="1200">
                <a:solidFill>
                  <a:schemeClr val="dk1"/>
                </a:solidFill>
                <a:latin typeface="Gill Sans"/>
                <a:ea typeface="Gill Sans"/>
                <a:cs typeface="Gill Sans"/>
                <a:sym typeface="Gill Sans"/>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8" name="Shape 58"/>
        <p:cNvGrpSpPr/>
        <p:nvPr/>
      </p:nvGrpSpPr>
      <p:grpSpPr>
        <a:xfrm>
          <a:off x="0" y="0"/>
          <a:ext cx="0" cy="0"/>
          <a:chOff x="0" y="0"/>
          <a:chExt cx="0" cy="0"/>
        </a:xfrm>
      </p:grpSpPr>
      <p:sp>
        <p:nvSpPr>
          <p:cNvPr id="59" name="Google Shape;59;p208"/>
          <p:cNvSpPr txBox="1"/>
          <p:nvPr>
            <p:ph type="title"/>
          </p:nvPr>
        </p:nvSpPr>
        <p:spPr>
          <a:xfrm>
            <a:off x="711200" y="228600"/>
            <a:ext cx="103632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08"/>
          <p:cNvSpPr txBox="1"/>
          <p:nvPr>
            <p:ph idx="1" type="body"/>
          </p:nvPr>
        </p:nvSpPr>
        <p:spPr>
          <a:xfrm>
            <a:off x="711200" y="1600200"/>
            <a:ext cx="5080000" cy="4648200"/>
          </a:xfrm>
          <a:prstGeom prst="rect">
            <a:avLst/>
          </a:prstGeom>
          <a:noFill/>
          <a:ln>
            <a:noFill/>
          </a:ln>
        </p:spPr>
        <p:txBody>
          <a:bodyPr anchorCtr="0" anchor="t" bIns="45700" lIns="91425" spcFirstLastPara="1" rIns="91425" wrap="square" tIns="45700">
            <a:noAutofit/>
          </a:bodyPr>
          <a:lstStyle>
            <a:lvl1pPr indent="-406400" lvl="0" marL="457200" algn="l">
              <a:lnSpc>
                <a:spcPct val="85000"/>
              </a:lnSpc>
              <a:spcBef>
                <a:spcPts val="560"/>
              </a:spcBef>
              <a:spcAft>
                <a:spcPts val="0"/>
              </a:spcAft>
              <a:buSzPts val="2800"/>
              <a:buChar char="▪"/>
              <a:defRPr sz="2800"/>
            </a:lvl1pPr>
            <a:lvl2pPr indent="-381000" lvl="1" marL="914400" algn="l">
              <a:lnSpc>
                <a:spcPct val="85000"/>
              </a:lnSpc>
              <a:spcBef>
                <a:spcPts val="480"/>
              </a:spcBef>
              <a:spcAft>
                <a:spcPts val="0"/>
              </a:spcAft>
              <a:buSzPts val="2400"/>
              <a:buChar char="•"/>
              <a:defRPr sz="2400"/>
            </a:lvl2pPr>
            <a:lvl3pPr indent="-355600" lvl="2" marL="1371600" algn="l">
              <a:spcBef>
                <a:spcPts val="400"/>
              </a:spcBef>
              <a:spcAft>
                <a:spcPts val="0"/>
              </a:spcAft>
              <a:buClr>
                <a:schemeClr val="dk1"/>
              </a:buClr>
              <a:buSzPts val="2000"/>
              <a:buFont typeface="Gill Sans"/>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61" name="Google Shape;61;p208"/>
          <p:cNvSpPr txBox="1"/>
          <p:nvPr>
            <p:ph idx="2" type="body"/>
          </p:nvPr>
        </p:nvSpPr>
        <p:spPr>
          <a:xfrm>
            <a:off x="5994400" y="1600200"/>
            <a:ext cx="5080000" cy="4648200"/>
          </a:xfrm>
          <a:prstGeom prst="rect">
            <a:avLst/>
          </a:prstGeom>
          <a:noFill/>
          <a:ln>
            <a:noFill/>
          </a:ln>
        </p:spPr>
        <p:txBody>
          <a:bodyPr anchorCtr="0" anchor="t" bIns="45700" lIns="91425" spcFirstLastPara="1" rIns="91425" wrap="square" tIns="45700">
            <a:noAutofit/>
          </a:bodyPr>
          <a:lstStyle>
            <a:lvl1pPr indent="-406400" lvl="0" marL="457200" algn="l">
              <a:lnSpc>
                <a:spcPct val="85000"/>
              </a:lnSpc>
              <a:spcBef>
                <a:spcPts val="560"/>
              </a:spcBef>
              <a:spcAft>
                <a:spcPts val="0"/>
              </a:spcAft>
              <a:buSzPts val="2800"/>
              <a:buChar char="▪"/>
              <a:defRPr sz="2800"/>
            </a:lvl1pPr>
            <a:lvl2pPr indent="-381000" lvl="1" marL="914400" algn="l">
              <a:lnSpc>
                <a:spcPct val="85000"/>
              </a:lnSpc>
              <a:spcBef>
                <a:spcPts val="480"/>
              </a:spcBef>
              <a:spcAft>
                <a:spcPts val="0"/>
              </a:spcAft>
              <a:buSzPts val="2400"/>
              <a:buChar char="•"/>
              <a:defRPr sz="2400"/>
            </a:lvl2pPr>
            <a:lvl3pPr indent="-355600" lvl="2" marL="1371600" algn="l">
              <a:spcBef>
                <a:spcPts val="400"/>
              </a:spcBef>
              <a:spcAft>
                <a:spcPts val="0"/>
              </a:spcAft>
              <a:buClr>
                <a:schemeClr val="dk1"/>
              </a:buClr>
              <a:buSzPts val="2000"/>
              <a:buFont typeface="Gill Sans"/>
              <a:buChar char="•"/>
              <a:defRPr sz="2000"/>
            </a:lvl3pPr>
            <a:lvl4pPr indent="-342900" lvl="3" marL="1828800" algn="l">
              <a:spcBef>
                <a:spcPts val="360"/>
              </a:spcBef>
              <a:spcAft>
                <a:spcPts val="0"/>
              </a:spcAft>
              <a:buClr>
                <a:schemeClr val="dk1"/>
              </a:buClr>
              <a:buSzPts val="1800"/>
              <a:buFont typeface="Times New Roman"/>
              <a:buChar char="–"/>
              <a:defRPr sz="1800"/>
            </a:lvl4pPr>
            <a:lvl5pPr indent="-342900" lvl="4" marL="2286000" algn="l">
              <a:spcBef>
                <a:spcPts val="360"/>
              </a:spcBef>
              <a:spcAft>
                <a:spcPts val="0"/>
              </a:spcAft>
              <a:buClr>
                <a:schemeClr val="dk1"/>
              </a:buClr>
              <a:buSzPts val="1800"/>
              <a:buFont typeface="Times New Roman"/>
              <a:buChar char="»"/>
              <a:defRPr sz="1800"/>
            </a:lvl5pPr>
            <a:lvl6pPr indent="-342900" lvl="5" marL="2743200" algn="l">
              <a:spcBef>
                <a:spcPts val="360"/>
              </a:spcBef>
              <a:spcAft>
                <a:spcPts val="0"/>
              </a:spcAft>
              <a:buClr>
                <a:schemeClr val="dk1"/>
              </a:buClr>
              <a:buSzPts val="1800"/>
              <a:buFont typeface="Times New Roman"/>
              <a:buChar char="»"/>
              <a:defRPr sz="1800"/>
            </a:lvl6pPr>
            <a:lvl7pPr indent="-342900" lvl="6" marL="3200400" algn="l">
              <a:spcBef>
                <a:spcPts val="360"/>
              </a:spcBef>
              <a:spcAft>
                <a:spcPts val="0"/>
              </a:spcAft>
              <a:buClr>
                <a:schemeClr val="dk1"/>
              </a:buClr>
              <a:buSzPts val="1800"/>
              <a:buFont typeface="Times New Roman"/>
              <a:buChar char="»"/>
              <a:defRPr sz="1800"/>
            </a:lvl7pPr>
            <a:lvl8pPr indent="-342900" lvl="7" marL="3657600" algn="l">
              <a:spcBef>
                <a:spcPts val="360"/>
              </a:spcBef>
              <a:spcAft>
                <a:spcPts val="0"/>
              </a:spcAft>
              <a:buClr>
                <a:schemeClr val="dk1"/>
              </a:buClr>
              <a:buSzPts val="1800"/>
              <a:buFont typeface="Times New Roman"/>
              <a:buChar char="»"/>
              <a:defRPr sz="1800"/>
            </a:lvl8pPr>
            <a:lvl9pPr indent="-342900" lvl="8" marL="4114800" algn="l">
              <a:spcBef>
                <a:spcPts val="360"/>
              </a:spcBef>
              <a:spcAft>
                <a:spcPts val="0"/>
              </a:spcAft>
              <a:buClr>
                <a:schemeClr val="dk1"/>
              </a:buClr>
              <a:buSzPts val="1800"/>
              <a:buFont typeface="Times New Roman"/>
              <a:buChar char="»"/>
              <a:defRPr sz="1800"/>
            </a:lvl9pPr>
          </a:lstStyle>
          <a:p/>
        </p:txBody>
      </p:sp>
      <p:sp>
        <p:nvSpPr>
          <p:cNvPr id="62" name="Google Shape;62;p208"/>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08"/>
          <p:cNvSpPr txBox="1"/>
          <p:nvPr>
            <p:ph idx="11" type="ftr"/>
          </p:nvPr>
        </p:nvSpPr>
        <p:spPr>
          <a:xfrm>
            <a:off x="7435851" y="6445250"/>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08"/>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chemeClr val="dk1"/>
                </a:solidFill>
                <a:latin typeface="Gill Sans"/>
                <a:ea typeface="Gill Sans"/>
                <a:cs typeface="Gill Sans"/>
                <a:sym typeface="Gill Sans"/>
              </a:defRPr>
            </a:lvl1pPr>
            <a:lvl2pPr indent="0" lvl="1" marL="0" marR="0" algn="l">
              <a:spcBef>
                <a:spcPts val="0"/>
              </a:spcBef>
              <a:buNone/>
              <a:defRPr sz="1200">
                <a:solidFill>
                  <a:schemeClr val="dk1"/>
                </a:solidFill>
                <a:latin typeface="Gill Sans"/>
                <a:ea typeface="Gill Sans"/>
                <a:cs typeface="Gill Sans"/>
                <a:sym typeface="Gill Sans"/>
              </a:defRPr>
            </a:lvl2pPr>
            <a:lvl3pPr indent="0" lvl="2" marL="0" marR="0" algn="l">
              <a:spcBef>
                <a:spcPts val="0"/>
              </a:spcBef>
              <a:buNone/>
              <a:defRPr sz="1200">
                <a:solidFill>
                  <a:schemeClr val="dk1"/>
                </a:solidFill>
                <a:latin typeface="Gill Sans"/>
                <a:ea typeface="Gill Sans"/>
                <a:cs typeface="Gill Sans"/>
                <a:sym typeface="Gill Sans"/>
              </a:defRPr>
            </a:lvl3pPr>
            <a:lvl4pPr indent="0" lvl="3" marL="0" marR="0" algn="l">
              <a:spcBef>
                <a:spcPts val="0"/>
              </a:spcBef>
              <a:buNone/>
              <a:defRPr sz="1200">
                <a:solidFill>
                  <a:schemeClr val="dk1"/>
                </a:solidFill>
                <a:latin typeface="Gill Sans"/>
                <a:ea typeface="Gill Sans"/>
                <a:cs typeface="Gill Sans"/>
                <a:sym typeface="Gill Sans"/>
              </a:defRPr>
            </a:lvl4pPr>
            <a:lvl5pPr indent="0" lvl="4" marL="0" marR="0" algn="l">
              <a:spcBef>
                <a:spcPts val="0"/>
              </a:spcBef>
              <a:buNone/>
              <a:defRPr sz="1200">
                <a:solidFill>
                  <a:schemeClr val="dk1"/>
                </a:solidFill>
                <a:latin typeface="Gill Sans"/>
                <a:ea typeface="Gill Sans"/>
                <a:cs typeface="Gill Sans"/>
                <a:sym typeface="Gill Sans"/>
              </a:defRPr>
            </a:lvl5pPr>
            <a:lvl6pPr indent="0" lvl="5" marL="0" marR="0" algn="l">
              <a:spcBef>
                <a:spcPts val="0"/>
              </a:spcBef>
              <a:buNone/>
              <a:defRPr sz="1200">
                <a:solidFill>
                  <a:schemeClr val="dk1"/>
                </a:solidFill>
                <a:latin typeface="Gill Sans"/>
                <a:ea typeface="Gill Sans"/>
                <a:cs typeface="Gill Sans"/>
                <a:sym typeface="Gill Sans"/>
              </a:defRPr>
            </a:lvl6pPr>
            <a:lvl7pPr indent="0" lvl="6" marL="0" marR="0" algn="l">
              <a:spcBef>
                <a:spcPts val="0"/>
              </a:spcBef>
              <a:buNone/>
              <a:defRPr sz="1200">
                <a:solidFill>
                  <a:schemeClr val="dk1"/>
                </a:solidFill>
                <a:latin typeface="Gill Sans"/>
                <a:ea typeface="Gill Sans"/>
                <a:cs typeface="Gill Sans"/>
                <a:sym typeface="Gill Sans"/>
              </a:defRPr>
            </a:lvl7pPr>
            <a:lvl8pPr indent="0" lvl="7" marL="0" marR="0" algn="l">
              <a:spcBef>
                <a:spcPts val="0"/>
              </a:spcBef>
              <a:buNone/>
              <a:defRPr sz="1200">
                <a:solidFill>
                  <a:schemeClr val="dk1"/>
                </a:solidFill>
                <a:latin typeface="Gill Sans"/>
                <a:ea typeface="Gill Sans"/>
                <a:cs typeface="Gill Sans"/>
                <a:sym typeface="Gill Sans"/>
              </a:defRPr>
            </a:lvl8pPr>
            <a:lvl9pPr indent="0" lvl="8" marL="0" marR="0" algn="l">
              <a:spcBef>
                <a:spcPts val="0"/>
              </a:spcBef>
              <a:buNone/>
              <a:defRPr sz="1200">
                <a:solidFill>
                  <a:schemeClr val="dk1"/>
                </a:solidFill>
                <a:latin typeface="Gill Sans"/>
                <a:ea typeface="Gill Sans"/>
                <a:cs typeface="Gill Sans"/>
                <a:sym typeface="Gill Sans"/>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5" name="Shape 65"/>
        <p:cNvGrpSpPr/>
        <p:nvPr/>
      </p:nvGrpSpPr>
      <p:grpSpPr>
        <a:xfrm>
          <a:off x="0" y="0"/>
          <a:ext cx="0" cy="0"/>
          <a:chOff x="0" y="0"/>
          <a:chExt cx="0" cy="0"/>
        </a:xfrm>
      </p:grpSpPr>
      <p:sp>
        <p:nvSpPr>
          <p:cNvPr id="66" name="Google Shape;66;p20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09"/>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Autofit/>
          </a:bodyPr>
          <a:lstStyle>
            <a:lvl1pPr indent="-228600" lvl="0" marL="457200" algn="l">
              <a:lnSpc>
                <a:spcPct val="85000"/>
              </a:lnSpc>
              <a:spcBef>
                <a:spcPts val="480"/>
              </a:spcBef>
              <a:spcAft>
                <a:spcPts val="0"/>
              </a:spcAft>
              <a:buSzPts val="2400"/>
              <a:buNone/>
              <a:defRPr b="1" sz="2400"/>
            </a:lvl1pPr>
            <a:lvl2pPr indent="-228600" lvl="1" marL="914400" algn="l">
              <a:lnSpc>
                <a:spcPct val="85000"/>
              </a:lnSpc>
              <a:spcBef>
                <a:spcPts val="400"/>
              </a:spcBef>
              <a:spcAft>
                <a:spcPts val="0"/>
              </a:spcAft>
              <a:buSzPts val="2000"/>
              <a:buNone/>
              <a:defRPr b="1" sz="2000"/>
            </a:lvl2pPr>
            <a:lvl3pPr indent="-228600" lvl="2" marL="1371600" algn="l">
              <a:spcBef>
                <a:spcPts val="360"/>
              </a:spcBef>
              <a:spcAft>
                <a:spcPts val="0"/>
              </a:spcAft>
              <a:buClr>
                <a:schemeClr val="dk1"/>
              </a:buClr>
              <a:buSzPts val="1800"/>
              <a:buFont typeface="Gill Sans"/>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68" name="Google Shape;68;p209"/>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Autofit/>
          </a:bodyPr>
          <a:lstStyle>
            <a:lvl1pPr indent="-381000" lvl="0" marL="457200" algn="l">
              <a:lnSpc>
                <a:spcPct val="85000"/>
              </a:lnSpc>
              <a:spcBef>
                <a:spcPts val="480"/>
              </a:spcBef>
              <a:spcAft>
                <a:spcPts val="0"/>
              </a:spcAft>
              <a:buSzPts val="2400"/>
              <a:buChar char="▪"/>
              <a:defRPr sz="2400"/>
            </a:lvl1pPr>
            <a:lvl2pPr indent="-355600" lvl="1" marL="914400" algn="l">
              <a:lnSpc>
                <a:spcPct val="85000"/>
              </a:lnSpc>
              <a:spcBef>
                <a:spcPts val="400"/>
              </a:spcBef>
              <a:spcAft>
                <a:spcPts val="0"/>
              </a:spcAft>
              <a:buSzPts val="2000"/>
              <a:buChar char="•"/>
              <a:defRPr sz="2000"/>
            </a:lvl2pPr>
            <a:lvl3pPr indent="-342900" lvl="2" marL="1371600" algn="l">
              <a:spcBef>
                <a:spcPts val="360"/>
              </a:spcBef>
              <a:spcAft>
                <a:spcPts val="0"/>
              </a:spcAft>
              <a:buClr>
                <a:schemeClr val="dk1"/>
              </a:buClr>
              <a:buSzPts val="1800"/>
              <a:buFont typeface="Gill Sans"/>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69" name="Google Shape;69;p209"/>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Autofit/>
          </a:bodyPr>
          <a:lstStyle>
            <a:lvl1pPr indent="-228600" lvl="0" marL="457200" algn="l">
              <a:lnSpc>
                <a:spcPct val="85000"/>
              </a:lnSpc>
              <a:spcBef>
                <a:spcPts val="480"/>
              </a:spcBef>
              <a:spcAft>
                <a:spcPts val="0"/>
              </a:spcAft>
              <a:buSzPts val="2400"/>
              <a:buNone/>
              <a:defRPr b="1" sz="2400"/>
            </a:lvl1pPr>
            <a:lvl2pPr indent="-228600" lvl="1" marL="914400" algn="l">
              <a:lnSpc>
                <a:spcPct val="85000"/>
              </a:lnSpc>
              <a:spcBef>
                <a:spcPts val="400"/>
              </a:spcBef>
              <a:spcAft>
                <a:spcPts val="0"/>
              </a:spcAft>
              <a:buSzPts val="2000"/>
              <a:buNone/>
              <a:defRPr b="1" sz="2000"/>
            </a:lvl2pPr>
            <a:lvl3pPr indent="-228600" lvl="2" marL="1371600" algn="l">
              <a:spcBef>
                <a:spcPts val="360"/>
              </a:spcBef>
              <a:spcAft>
                <a:spcPts val="0"/>
              </a:spcAft>
              <a:buClr>
                <a:schemeClr val="dk1"/>
              </a:buClr>
              <a:buSzPts val="1800"/>
              <a:buFont typeface="Gill Sans"/>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spcBef>
                <a:spcPts val="320"/>
              </a:spcBef>
              <a:spcAft>
                <a:spcPts val="0"/>
              </a:spcAft>
              <a:buClr>
                <a:schemeClr val="dk1"/>
              </a:buClr>
              <a:buSzPts val="1600"/>
              <a:buFont typeface="Times New Roman"/>
              <a:buNone/>
              <a:defRPr b="1" sz="1600"/>
            </a:lvl6pPr>
            <a:lvl7pPr indent="-228600" lvl="6" marL="3200400" algn="l">
              <a:spcBef>
                <a:spcPts val="320"/>
              </a:spcBef>
              <a:spcAft>
                <a:spcPts val="0"/>
              </a:spcAft>
              <a:buClr>
                <a:schemeClr val="dk1"/>
              </a:buClr>
              <a:buSzPts val="1600"/>
              <a:buFont typeface="Times New Roman"/>
              <a:buNone/>
              <a:defRPr b="1" sz="1600"/>
            </a:lvl7pPr>
            <a:lvl8pPr indent="-228600" lvl="7" marL="3657600" algn="l">
              <a:spcBef>
                <a:spcPts val="320"/>
              </a:spcBef>
              <a:spcAft>
                <a:spcPts val="0"/>
              </a:spcAft>
              <a:buClr>
                <a:schemeClr val="dk1"/>
              </a:buClr>
              <a:buSzPts val="1600"/>
              <a:buFont typeface="Times New Roman"/>
              <a:buNone/>
              <a:defRPr b="1" sz="1600"/>
            </a:lvl8pPr>
            <a:lvl9pPr indent="-228600" lvl="8" marL="4114800" algn="l">
              <a:spcBef>
                <a:spcPts val="320"/>
              </a:spcBef>
              <a:spcAft>
                <a:spcPts val="0"/>
              </a:spcAft>
              <a:buClr>
                <a:schemeClr val="dk1"/>
              </a:buClr>
              <a:buSzPts val="1600"/>
              <a:buFont typeface="Times New Roman"/>
              <a:buNone/>
              <a:defRPr b="1" sz="1600"/>
            </a:lvl9pPr>
          </a:lstStyle>
          <a:p/>
        </p:txBody>
      </p:sp>
      <p:sp>
        <p:nvSpPr>
          <p:cNvPr id="70" name="Google Shape;70;p209"/>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Autofit/>
          </a:bodyPr>
          <a:lstStyle>
            <a:lvl1pPr indent="-381000" lvl="0" marL="457200" algn="l">
              <a:lnSpc>
                <a:spcPct val="85000"/>
              </a:lnSpc>
              <a:spcBef>
                <a:spcPts val="480"/>
              </a:spcBef>
              <a:spcAft>
                <a:spcPts val="0"/>
              </a:spcAft>
              <a:buSzPts val="2400"/>
              <a:buChar char="▪"/>
              <a:defRPr sz="2400"/>
            </a:lvl1pPr>
            <a:lvl2pPr indent="-355600" lvl="1" marL="914400" algn="l">
              <a:lnSpc>
                <a:spcPct val="85000"/>
              </a:lnSpc>
              <a:spcBef>
                <a:spcPts val="400"/>
              </a:spcBef>
              <a:spcAft>
                <a:spcPts val="0"/>
              </a:spcAft>
              <a:buSzPts val="2000"/>
              <a:buChar char="•"/>
              <a:defRPr sz="2000"/>
            </a:lvl2pPr>
            <a:lvl3pPr indent="-342900" lvl="2" marL="1371600" algn="l">
              <a:spcBef>
                <a:spcPts val="360"/>
              </a:spcBef>
              <a:spcAft>
                <a:spcPts val="0"/>
              </a:spcAft>
              <a:buClr>
                <a:schemeClr val="dk1"/>
              </a:buClr>
              <a:buSzPts val="1800"/>
              <a:buFont typeface="Gill Sans"/>
              <a:buChar char="•"/>
              <a:defRPr sz="1800"/>
            </a:lvl3pPr>
            <a:lvl4pPr indent="-330200" lvl="3" marL="1828800" algn="l">
              <a:spcBef>
                <a:spcPts val="320"/>
              </a:spcBef>
              <a:spcAft>
                <a:spcPts val="0"/>
              </a:spcAft>
              <a:buClr>
                <a:schemeClr val="dk1"/>
              </a:buClr>
              <a:buSzPts val="1600"/>
              <a:buFont typeface="Times New Roman"/>
              <a:buChar char="–"/>
              <a:defRPr sz="1600"/>
            </a:lvl4pPr>
            <a:lvl5pPr indent="-330200" lvl="4" marL="2286000" algn="l">
              <a:spcBef>
                <a:spcPts val="320"/>
              </a:spcBef>
              <a:spcAft>
                <a:spcPts val="0"/>
              </a:spcAft>
              <a:buClr>
                <a:schemeClr val="dk1"/>
              </a:buClr>
              <a:buSzPts val="1600"/>
              <a:buFont typeface="Times New Roman"/>
              <a:buChar char="»"/>
              <a:defRPr sz="1600"/>
            </a:lvl5pPr>
            <a:lvl6pPr indent="-330200" lvl="5" marL="2743200" algn="l">
              <a:spcBef>
                <a:spcPts val="320"/>
              </a:spcBef>
              <a:spcAft>
                <a:spcPts val="0"/>
              </a:spcAft>
              <a:buClr>
                <a:schemeClr val="dk1"/>
              </a:buClr>
              <a:buSzPts val="1600"/>
              <a:buFont typeface="Times New Roman"/>
              <a:buChar char="»"/>
              <a:defRPr sz="1600"/>
            </a:lvl6pPr>
            <a:lvl7pPr indent="-330200" lvl="6" marL="3200400" algn="l">
              <a:spcBef>
                <a:spcPts val="320"/>
              </a:spcBef>
              <a:spcAft>
                <a:spcPts val="0"/>
              </a:spcAft>
              <a:buClr>
                <a:schemeClr val="dk1"/>
              </a:buClr>
              <a:buSzPts val="1600"/>
              <a:buFont typeface="Times New Roman"/>
              <a:buChar char="»"/>
              <a:defRPr sz="1600"/>
            </a:lvl7pPr>
            <a:lvl8pPr indent="-330200" lvl="7" marL="3657600" algn="l">
              <a:spcBef>
                <a:spcPts val="320"/>
              </a:spcBef>
              <a:spcAft>
                <a:spcPts val="0"/>
              </a:spcAft>
              <a:buClr>
                <a:schemeClr val="dk1"/>
              </a:buClr>
              <a:buSzPts val="1600"/>
              <a:buFont typeface="Times New Roman"/>
              <a:buChar char="»"/>
              <a:defRPr sz="1600"/>
            </a:lvl8pPr>
            <a:lvl9pPr indent="-330200" lvl="8" marL="4114800" algn="l">
              <a:spcBef>
                <a:spcPts val="320"/>
              </a:spcBef>
              <a:spcAft>
                <a:spcPts val="0"/>
              </a:spcAft>
              <a:buClr>
                <a:schemeClr val="dk1"/>
              </a:buClr>
              <a:buSzPts val="1600"/>
              <a:buFont typeface="Times New Roman"/>
              <a:buChar char="»"/>
              <a:defRPr sz="1600"/>
            </a:lvl9pPr>
          </a:lstStyle>
          <a:p/>
        </p:txBody>
      </p:sp>
      <p:sp>
        <p:nvSpPr>
          <p:cNvPr id="71" name="Google Shape;71;p209"/>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09"/>
          <p:cNvSpPr txBox="1"/>
          <p:nvPr>
            <p:ph idx="11" type="ftr"/>
          </p:nvPr>
        </p:nvSpPr>
        <p:spPr>
          <a:xfrm>
            <a:off x="7435851" y="6445250"/>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09"/>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chemeClr val="dk1"/>
                </a:solidFill>
                <a:latin typeface="Gill Sans"/>
                <a:ea typeface="Gill Sans"/>
                <a:cs typeface="Gill Sans"/>
                <a:sym typeface="Gill Sans"/>
              </a:defRPr>
            </a:lvl1pPr>
            <a:lvl2pPr indent="0" lvl="1" marL="0" marR="0" algn="l">
              <a:spcBef>
                <a:spcPts val="0"/>
              </a:spcBef>
              <a:buNone/>
              <a:defRPr sz="1200">
                <a:solidFill>
                  <a:schemeClr val="dk1"/>
                </a:solidFill>
                <a:latin typeface="Gill Sans"/>
                <a:ea typeface="Gill Sans"/>
                <a:cs typeface="Gill Sans"/>
                <a:sym typeface="Gill Sans"/>
              </a:defRPr>
            </a:lvl2pPr>
            <a:lvl3pPr indent="0" lvl="2" marL="0" marR="0" algn="l">
              <a:spcBef>
                <a:spcPts val="0"/>
              </a:spcBef>
              <a:buNone/>
              <a:defRPr sz="1200">
                <a:solidFill>
                  <a:schemeClr val="dk1"/>
                </a:solidFill>
                <a:latin typeface="Gill Sans"/>
                <a:ea typeface="Gill Sans"/>
                <a:cs typeface="Gill Sans"/>
                <a:sym typeface="Gill Sans"/>
              </a:defRPr>
            </a:lvl3pPr>
            <a:lvl4pPr indent="0" lvl="3" marL="0" marR="0" algn="l">
              <a:spcBef>
                <a:spcPts val="0"/>
              </a:spcBef>
              <a:buNone/>
              <a:defRPr sz="1200">
                <a:solidFill>
                  <a:schemeClr val="dk1"/>
                </a:solidFill>
                <a:latin typeface="Gill Sans"/>
                <a:ea typeface="Gill Sans"/>
                <a:cs typeface="Gill Sans"/>
                <a:sym typeface="Gill Sans"/>
              </a:defRPr>
            </a:lvl4pPr>
            <a:lvl5pPr indent="0" lvl="4" marL="0" marR="0" algn="l">
              <a:spcBef>
                <a:spcPts val="0"/>
              </a:spcBef>
              <a:buNone/>
              <a:defRPr sz="1200">
                <a:solidFill>
                  <a:schemeClr val="dk1"/>
                </a:solidFill>
                <a:latin typeface="Gill Sans"/>
                <a:ea typeface="Gill Sans"/>
                <a:cs typeface="Gill Sans"/>
                <a:sym typeface="Gill Sans"/>
              </a:defRPr>
            </a:lvl5pPr>
            <a:lvl6pPr indent="0" lvl="5" marL="0" marR="0" algn="l">
              <a:spcBef>
                <a:spcPts val="0"/>
              </a:spcBef>
              <a:buNone/>
              <a:defRPr sz="1200">
                <a:solidFill>
                  <a:schemeClr val="dk1"/>
                </a:solidFill>
                <a:latin typeface="Gill Sans"/>
                <a:ea typeface="Gill Sans"/>
                <a:cs typeface="Gill Sans"/>
                <a:sym typeface="Gill Sans"/>
              </a:defRPr>
            </a:lvl6pPr>
            <a:lvl7pPr indent="0" lvl="6" marL="0" marR="0" algn="l">
              <a:spcBef>
                <a:spcPts val="0"/>
              </a:spcBef>
              <a:buNone/>
              <a:defRPr sz="1200">
                <a:solidFill>
                  <a:schemeClr val="dk1"/>
                </a:solidFill>
                <a:latin typeface="Gill Sans"/>
                <a:ea typeface="Gill Sans"/>
                <a:cs typeface="Gill Sans"/>
                <a:sym typeface="Gill Sans"/>
              </a:defRPr>
            </a:lvl7pPr>
            <a:lvl8pPr indent="0" lvl="7" marL="0" marR="0" algn="l">
              <a:spcBef>
                <a:spcPts val="0"/>
              </a:spcBef>
              <a:buNone/>
              <a:defRPr sz="1200">
                <a:solidFill>
                  <a:schemeClr val="dk1"/>
                </a:solidFill>
                <a:latin typeface="Gill Sans"/>
                <a:ea typeface="Gill Sans"/>
                <a:cs typeface="Gill Sans"/>
                <a:sym typeface="Gill Sans"/>
              </a:defRPr>
            </a:lvl8pPr>
            <a:lvl9pPr indent="0" lvl="8" marL="0" marR="0" algn="l">
              <a:spcBef>
                <a:spcPts val="0"/>
              </a:spcBef>
              <a:buNone/>
              <a:defRPr sz="1200">
                <a:solidFill>
                  <a:schemeClr val="dk1"/>
                </a:solidFill>
                <a:latin typeface="Gill Sans"/>
                <a:ea typeface="Gill Sans"/>
                <a:cs typeface="Gill Sans"/>
                <a:sym typeface="Gill Sans"/>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4" name="Shape 74"/>
        <p:cNvGrpSpPr/>
        <p:nvPr/>
      </p:nvGrpSpPr>
      <p:grpSpPr>
        <a:xfrm>
          <a:off x="0" y="0"/>
          <a:ext cx="0" cy="0"/>
          <a:chOff x="0" y="0"/>
          <a:chExt cx="0" cy="0"/>
        </a:xfrm>
      </p:grpSpPr>
      <p:sp>
        <p:nvSpPr>
          <p:cNvPr id="75" name="Google Shape;75;p210"/>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10"/>
          <p:cNvSpPr txBox="1"/>
          <p:nvPr>
            <p:ph idx="11" type="ftr"/>
          </p:nvPr>
        </p:nvSpPr>
        <p:spPr>
          <a:xfrm>
            <a:off x="7435851" y="6445250"/>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10"/>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chemeClr val="dk1"/>
                </a:solidFill>
                <a:latin typeface="Gill Sans"/>
                <a:ea typeface="Gill Sans"/>
                <a:cs typeface="Gill Sans"/>
                <a:sym typeface="Gill Sans"/>
              </a:defRPr>
            </a:lvl1pPr>
            <a:lvl2pPr indent="0" lvl="1" marL="0" marR="0" algn="l">
              <a:spcBef>
                <a:spcPts val="0"/>
              </a:spcBef>
              <a:buNone/>
              <a:defRPr sz="1200">
                <a:solidFill>
                  <a:schemeClr val="dk1"/>
                </a:solidFill>
                <a:latin typeface="Gill Sans"/>
                <a:ea typeface="Gill Sans"/>
                <a:cs typeface="Gill Sans"/>
                <a:sym typeface="Gill Sans"/>
              </a:defRPr>
            </a:lvl2pPr>
            <a:lvl3pPr indent="0" lvl="2" marL="0" marR="0" algn="l">
              <a:spcBef>
                <a:spcPts val="0"/>
              </a:spcBef>
              <a:buNone/>
              <a:defRPr sz="1200">
                <a:solidFill>
                  <a:schemeClr val="dk1"/>
                </a:solidFill>
                <a:latin typeface="Gill Sans"/>
                <a:ea typeface="Gill Sans"/>
                <a:cs typeface="Gill Sans"/>
                <a:sym typeface="Gill Sans"/>
              </a:defRPr>
            </a:lvl3pPr>
            <a:lvl4pPr indent="0" lvl="3" marL="0" marR="0" algn="l">
              <a:spcBef>
                <a:spcPts val="0"/>
              </a:spcBef>
              <a:buNone/>
              <a:defRPr sz="1200">
                <a:solidFill>
                  <a:schemeClr val="dk1"/>
                </a:solidFill>
                <a:latin typeface="Gill Sans"/>
                <a:ea typeface="Gill Sans"/>
                <a:cs typeface="Gill Sans"/>
                <a:sym typeface="Gill Sans"/>
              </a:defRPr>
            </a:lvl4pPr>
            <a:lvl5pPr indent="0" lvl="4" marL="0" marR="0" algn="l">
              <a:spcBef>
                <a:spcPts val="0"/>
              </a:spcBef>
              <a:buNone/>
              <a:defRPr sz="1200">
                <a:solidFill>
                  <a:schemeClr val="dk1"/>
                </a:solidFill>
                <a:latin typeface="Gill Sans"/>
                <a:ea typeface="Gill Sans"/>
                <a:cs typeface="Gill Sans"/>
                <a:sym typeface="Gill Sans"/>
              </a:defRPr>
            </a:lvl5pPr>
            <a:lvl6pPr indent="0" lvl="5" marL="0" marR="0" algn="l">
              <a:spcBef>
                <a:spcPts val="0"/>
              </a:spcBef>
              <a:buNone/>
              <a:defRPr sz="1200">
                <a:solidFill>
                  <a:schemeClr val="dk1"/>
                </a:solidFill>
                <a:latin typeface="Gill Sans"/>
                <a:ea typeface="Gill Sans"/>
                <a:cs typeface="Gill Sans"/>
                <a:sym typeface="Gill Sans"/>
              </a:defRPr>
            </a:lvl6pPr>
            <a:lvl7pPr indent="0" lvl="6" marL="0" marR="0" algn="l">
              <a:spcBef>
                <a:spcPts val="0"/>
              </a:spcBef>
              <a:buNone/>
              <a:defRPr sz="1200">
                <a:solidFill>
                  <a:schemeClr val="dk1"/>
                </a:solidFill>
                <a:latin typeface="Gill Sans"/>
                <a:ea typeface="Gill Sans"/>
                <a:cs typeface="Gill Sans"/>
                <a:sym typeface="Gill Sans"/>
              </a:defRPr>
            </a:lvl7pPr>
            <a:lvl8pPr indent="0" lvl="7" marL="0" marR="0" algn="l">
              <a:spcBef>
                <a:spcPts val="0"/>
              </a:spcBef>
              <a:buNone/>
              <a:defRPr sz="1200">
                <a:solidFill>
                  <a:schemeClr val="dk1"/>
                </a:solidFill>
                <a:latin typeface="Gill Sans"/>
                <a:ea typeface="Gill Sans"/>
                <a:cs typeface="Gill Sans"/>
                <a:sym typeface="Gill Sans"/>
              </a:defRPr>
            </a:lvl8pPr>
            <a:lvl9pPr indent="0" lvl="8" marL="0" marR="0" algn="l">
              <a:spcBef>
                <a:spcPts val="0"/>
              </a:spcBef>
              <a:buNone/>
              <a:defRPr sz="1200">
                <a:solidFill>
                  <a:schemeClr val="dk1"/>
                </a:solidFill>
                <a:latin typeface="Gill Sans"/>
                <a:ea typeface="Gill Sans"/>
                <a:cs typeface="Gill Sans"/>
                <a:sym typeface="Gill Sans"/>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8" name="Shape 78"/>
        <p:cNvGrpSpPr/>
        <p:nvPr/>
      </p:nvGrpSpPr>
      <p:grpSpPr>
        <a:xfrm>
          <a:off x="0" y="0"/>
          <a:ext cx="0" cy="0"/>
          <a:chOff x="0" y="0"/>
          <a:chExt cx="0" cy="0"/>
        </a:xfrm>
      </p:grpSpPr>
      <p:sp>
        <p:nvSpPr>
          <p:cNvPr id="79" name="Google Shape;79;p211"/>
          <p:cNvSpPr txBox="1"/>
          <p:nvPr>
            <p:ph type="title"/>
          </p:nvPr>
        </p:nvSpPr>
        <p:spPr>
          <a:xfrm>
            <a:off x="609601" y="273050"/>
            <a:ext cx="4011084"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11"/>
          <p:cNvSpPr txBox="1"/>
          <p:nvPr>
            <p:ph idx="1" type="body"/>
          </p:nvPr>
        </p:nvSpPr>
        <p:spPr>
          <a:xfrm>
            <a:off x="4766733" y="273051"/>
            <a:ext cx="6815667" cy="5853113"/>
          </a:xfrm>
          <a:prstGeom prst="rect">
            <a:avLst/>
          </a:prstGeom>
          <a:noFill/>
          <a:ln>
            <a:noFill/>
          </a:ln>
        </p:spPr>
        <p:txBody>
          <a:bodyPr anchorCtr="0" anchor="t" bIns="45700" lIns="91425" spcFirstLastPara="1" rIns="91425" wrap="square" tIns="45700">
            <a:noAutofit/>
          </a:bodyPr>
          <a:lstStyle>
            <a:lvl1pPr indent="-431800" lvl="0" marL="457200" algn="l">
              <a:lnSpc>
                <a:spcPct val="85000"/>
              </a:lnSpc>
              <a:spcBef>
                <a:spcPts val="640"/>
              </a:spcBef>
              <a:spcAft>
                <a:spcPts val="0"/>
              </a:spcAft>
              <a:buSzPts val="3200"/>
              <a:buChar char="▪"/>
              <a:defRPr sz="3200"/>
            </a:lvl1pPr>
            <a:lvl2pPr indent="-406400" lvl="1" marL="914400" algn="l">
              <a:lnSpc>
                <a:spcPct val="85000"/>
              </a:lnSpc>
              <a:spcBef>
                <a:spcPts val="560"/>
              </a:spcBef>
              <a:spcAft>
                <a:spcPts val="0"/>
              </a:spcAft>
              <a:buSzPts val="2800"/>
              <a:buChar char="•"/>
              <a:defRPr sz="2800"/>
            </a:lvl2pPr>
            <a:lvl3pPr indent="-381000" lvl="2" marL="1371600" algn="l">
              <a:spcBef>
                <a:spcPts val="480"/>
              </a:spcBef>
              <a:spcAft>
                <a:spcPts val="0"/>
              </a:spcAft>
              <a:buClr>
                <a:schemeClr val="dk1"/>
              </a:buClr>
              <a:buSzPts val="2400"/>
              <a:buFont typeface="Gill Sans"/>
              <a:buChar char="•"/>
              <a:defRPr sz="2400"/>
            </a:lvl3pPr>
            <a:lvl4pPr indent="-355600" lvl="3" marL="1828800" algn="l">
              <a:spcBef>
                <a:spcPts val="400"/>
              </a:spcBef>
              <a:spcAft>
                <a:spcPts val="0"/>
              </a:spcAft>
              <a:buClr>
                <a:schemeClr val="dk1"/>
              </a:buClr>
              <a:buSzPts val="2000"/>
              <a:buFont typeface="Times New Roman"/>
              <a:buChar char="–"/>
              <a:defRPr sz="2000"/>
            </a:lvl4pPr>
            <a:lvl5pPr indent="-355600" lvl="4" marL="2286000" algn="l">
              <a:spcBef>
                <a:spcPts val="400"/>
              </a:spcBef>
              <a:spcAft>
                <a:spcPts val="0"/>
              </a:spcAft>
              <a:buClr>
                <a:schemeClr val="dk1"/>
              </a:buClr>
              <a:buSzPts val="2000"/>
              <a:buFont typeface="Times New Roman"/>
              <a:buChar char="»"/>
              <a:defRPr sz="2000"/>
            </a:lvl5pPr>
            <a:lvl6pPr indent="-355600" lvl="5" marL="2743200" algn="l">
              <a:spcBef>
                <a:spcPts val="400"/>
              </a:spcBef>
              <a:spcAft>
                <a:spcPts val="0"/>
              </a:spcAft>
              <a:buClr>
                <a:schemeClr val="dk1"/>
              </a:buClr>
              <a:buSzPts val="2000"/>
              <a:buFont typeface="Times New Roman"/>
              <a:buChar char="»"/>
              <a:defRPr sz="2000"/>
            </a:lvl6pPr>
            <a:lvl7pPr indent="-355600" lvl="6" marL="3200400" algn="l">
              <a:spcBef>
                <a:spcPts val="400"/>
              </a:spcBef>
              <a:spcAft>
                <a:spcPts val="0"/>
              </a:spcAft>
              <a:buClr>
                <a:schemeClr val="dk1"/>
              </a:buClr>
              <a:buSzPts val="2000"/>
              <a:buFont typeface="Times New Roman"/>
              <a:buChar char="»"/>
              <a:defRPr sz="2000"/>
            </a:lvl7pPr>
            <a:lvl8pPr indent="-355600" lvl="7" marL="3657600" algn="l">
              <a:spcBef>
                <a:spcPts val="400"/>
              </a:spcBef>
              <a:spcAft>
                <a:spcPts val="0"/>
              </a:spcAft>
              <a:buClr>
                <a:schemeClr val="dk1"/>
              </a:buClr>
              <a:buSzPts val="2000"/>
              <a:buFont typeface="Times New Roman"/>
              <a:buChar char="»"/>
              <a:defRPr sz="2000"/>
            </a:lvl8pPr>
            <a:lvl9pPr indent="-355600" lvl="8" marL="4114800" algn="l">
              <a:spcBef>
                <a:spcPts val="400"/>
              </a:spcBef>
              <a:spcAft>
                <a:spcPts val="0"/>
              </a:spcAft>
              <a:buClr>
                <a:schemeClr val="dk1"/>
              </a:buClr>
              <a:buSzPts val="2000"/>
              <a:buFont typeface="Times New Roman"/>
              <a:buChar char="»"/>
              <a:defRPr sz="2000"/>
            </a:lvl9pPr>
          </a:lstStyle>
          <a:p/>
        </p:txBody>
      </p:sp>
      <p:sp>
        <p:nvSpPr>
          <p:cNvPr id="81" name="Google Shape;81;p211"/>
          <p:cNvSpPr txBox="1"/>
          <p:nvPr>
            <p:ph idx="2" type="body"/>
          </p:nvPr>
        </p:nvSpPr>
        <p:spPr>
          <a:xfrm>
            <a:off x="609601" y="1435101"/>
            <a:ext cx="4011084" cy="4691063"/>
          </a:xfrm>
          <a:prstGeom prst="rect">
            <a:avLst/>
          </a:prstGeom>
          <a:noFill/>
          <a:ln>
            <a:noFill/>
          </a:ln>
        </p:spPr>
        <p:txBody>
          <a:bodyPr anchorCtr="0" anchor="t" bIns="45700" lIns="91425" spcFirstLastPara="1" rIns="91425" wrap="square" tIns="45700">
            <a:noAutofit/>
          </a:bodyPr>
          <a:lstStyle>
            <a:lvl1pPr indent="-228600" lvl="0" marL="457200" algn="l">
              <a:lnSpc>
                <a:spcPct val="85000"/>
              </a:lnSpc>
              <a:spcBef>
                <a:spcPts val="280"/>
              </a:spcBef>
              <a:spcAft>
                <a:spcPts val="0"/>
              </a:spcAft>
              <a:buSzPts val="1400"/>
              <a:buNone/>
              <a:defRPr sz="1400"/>
            </a:lvl1pPr>
            <a:lvl2pPr indent="-228600" lvl="1" marL="914400" algn="l">
              <a:lnSpc>
                <a:spcPct val="85000"/>
              </a:lnSpc>
              <a:spcBef>
                <a:spcPts val="240"/>
              </a:spcBef>
              <a:spcAft>
                <a:spcPts val="0"/>
              </a:spcAft>
              <a:buSzPts val="1200"/>
              <a:buNone/>
              <a:defRPr sz="1200"/>
            </a:lvl2pPr>
            <a:lvl3pPr indent="-228600" lvl="2" marL="1371600" algn="l">
              <a:spcBef>
                <a:spcPts val="200"/>
              </a:spcBef>
              <a:spcAft>
                <a:spcPts val="0"/>
              </a:spcAft>
              <a:buClr>
                <a:schemeClr val="dk1"/>
              </a:buClr>
              <a:buSzPts val="1000"/>
              <a:buFont typeface="Gill Sans"/>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82" name="Google Shape;82;p211"/>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11"/>
          <p:cNvSpPr txBox="1"/>
          <p:nvPr>
            <p:ph idx="11" type="ftr"/>
          </p:nvPr>
        </p:nvSpPr>
        <p:spPr>
          <a:xfrm>
            <a:off x="7435851" y="6445250"/>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11"/>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chemeClr val="dk1"/>
                </a:solidFill>
                <a:latin typeface="Gill Sans"/>
                <a:ea typeface="Gill Sans"/>
                <a:cs typeface="Gill Sans"/>
                <a:sym typeface="Gill Sans"/>
              </a:defRPr>
            </a:lvl1pPr>
            <a:lvl2pPr indent="0" lvl="1" marL="0" marR="0" algn="l">
              <a:spcBef>
                <a:spcPts val="0"/>
              </a:spcBef>
              <a:buNone/>
              <a:defRPr sz="1200">
                <a:solidFill>
                  <a:schemeClr val="dk1"/>
                </a:solidFill>
                <a:latin typeface="Gill Sans"/>
                <a:ea typeface="Gill Sans"/>
                <a:cs typeface="Gill Sans"/>
                <a:sym typeface="Gill Sans"/>
              </a:defRPr>
            </a:lvl2pPr>
            <a:lvl3pPr indent="0" lvl="2" marL="0" marR="0" algn="l">
              <a:spcBef>
                <a:spcPts val="0"/>
              </a:spcBef>
              <a:buNone/>
              <a:defRPr sz="1200">
                <a:solidFill>
                  <a:schemeClr val="dk1"/>
                </a:solidFill>
                <a:latin typeface="Gill Sans"/>
                <a:ea typeface="Gill Sans"/>
                <a:cs typeface="Gill Sans"/>
                <a:sym typeface="Gill Sans"/>
              </a:defRPr>
            </a:lvl3pPr>
            <a:lvl4pPr indent="0" lvl="3" marL="0" marR="0" algn="l">
              <a:spcBef>
                <a:spcPts val="0"/>
              </a:spcBef>
              <a:buNone/>
              <a:defRPr sz="1200">
                <a:solidFill>
                  <a:schemeClr val="dk1"/>
                </a:solidFill>
                <a:latin typeface="Gill Sans"/>
                <a:ea typeface="Gill Sans"/>
                <a:cs typeface="Gill Sans"/>
                <a:sym typeface="Gill Sans"/>
              </a:defRPr>
            </a:lvl4pPr>
            <a:lvl5pPr indent="0" lvl="4" marL="0" marR="0" algn="l">
              <a:spcBef>
                <a:spcPts val="0"/>
              </a:spcBef>
              <a:buNone/>
              <a:defRPr sz="1200">
                <a:solidFill>
                  <a:schemeClr val="dk1"/>
                </a:solidFill>
                <a:latin typeface="Gill Sans"/>
                <a:ea typeface="Gill Sans"/>
                <a:cs typeface="Gill Sans"/>
                <a:sym typeface="Gill Sans"/>
              </a:defRPr>
            </a:lvl5pPr>
            <a:lvl6pPr indent="0" lvl="5" marL="0" marR="0" algn="l">
              <a:spcBef>
                <a:spcPts val="0"/>
              </a:spcBef>
              <a:buNone/>
              <a:defRPr sz="1200">
                <a:solidFill>
                  <a:schemeClr val="dk1"/>
                </a:solidFill>
                <a:latin typeface="Gill Sans"/>
                <a:ea typeface="Gill Sans"/>
                <a:cs typeface="Gill Sans"/>
                <a:sym typeface="Gill Sans"/>
              </a:defRPr>
            </a:lvl6pPr>
            <a:lvl7pPr indent="0" lvl="6" marL="0" marR="0" algn="l">
              <a:spcBef>
                <a:spcPts val="0"/>
              </a:spcBef>
              <a:buNone/>
              <a:defRPr sz="1200">
                <a:solidFill>
                  <a:schemeClr val="dk1"/>
                </a:solidFill>
                <a:latin typeface="Gill Sans"/>
                <a:ea typeface="Gill Sans"/>
                <a:cs typeface="Gill Sans"/>
                <a:sym typeface="Gill Sans"/>
              </a:defRPr>
            </a:lvl7pPr>
            <a:lvl8pPr indent="0" lvl="7" marL="0" marR="0" algn="l">
              <a:spcBef>
                <a:spcPts val="0"/>
              </a:spcBef>
              <a:buNone/>
              <a:defRPr sz="1200">
                <a:solidFill>
                  <a:schemeClr val="dk1"/>
                </a:solidFill>
                <a:latin typeface="Gill Sans"/>
                <a:ea typeface="Gill Sans"/>
                <a:cs typeface="Gill Sans"/>
                <a:sym typeface="Gill Sans"/>
              </a:defRPr>
            </a:lvl8pPr>
            <a:lvl9pPr indent="0" lvl="8" marL="0" marR="0" algn="l">
              <a:spcBef>
                <a:spcPts val="0"/>
              </a:spcBef>
              <a:buNone/>
              <a:defRPr sz="1200">
                <a:solidFill>
                  <a:schemeClr val="dk1"/>
                </a:solidFill>
                <a:latin typeface="Gill Sans"/>
                <a:ea typeface="Gill Sans"/>
                <a:cs typeface="Gill Sans"/>
                <a:sym typeface="Gill Sans"/>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212"/>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12"/>
          <p:cNvSpPr/>
          <p:nvPr>
            <p:ph idx="2" type="pic"/>
          </p:nvPr>
        </p:nvSpPr>
        <p:spPr>
          <a:xfrm>
            <a:off x="2389717" y="612775"/>
            <a:ext cx="7315200" cy="4114800"/>
          </a:xfrm>
          <a:prstGeom prst="rect">
            <a:avLst/>
          </a:prstGeom>
          <a:noFill/>
          <a:ln>
            <a:noFill/>
          </a:ln>
        </p:spPr>
      </p:sp>
      <p:sp>
        <p:nvSpPr>
          <p:cNvPr id="88" name="Google Shape;88;p212"/>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Autofit/>
          </a:bodyPr>
          <a:lstStyle>
            <a:lvl1pPr indent="-228600" lvl="0" marL="457200" algn="l">
              <a:lnSpc>
                <a:spcPct val="85000"/>
              </a:lnSpc>
              <a:spcBef>
                <a:spcPts val="280"/>
              </a:spcBef>
              <a:spcAft>
                <a:spcPts val="0"/>
              </a:spcAft>
              <a:buSzPts val="1400"/>
              <a:buNone/>
              <a:defRPr sz="1400"/>
            </a:lvl1pPr>
            <a:lvl2pPr indent="-228600" lvl="1" marL="914400" algn="l">
              <a:lnSpc>
                <a:spcPct val="85000"/>
              </a:lnSpc>
              <a:spcBef>
                <a:spcPts val="240"/>
              </a:spcBef>
              <a:spcAft>
                <a:spcPts val="0"/>
              </a:spcAft>
              <a:buSzPts val="1200"/>
              <a:buNone/>
              <a:defRPr sz="1200"/>
            </a:lvl2pPr>
            <a:lvl3pPr indent="-228600" lvl="2" marL="1371600" algn="l">
              <a:spcBef>
                <a:spcPts val="200"/>
              </a:spcBef>
              <a:spcAft>
                <a:spcPts val="0"/>
              </a:spcAft>
              <a:buClr>
                <a:schemeClr val="dk1"/>
              </a:buClr>
              <a:buSzPts val="1000"/>
              <a:buFont typeface="Gill Sans"/>
              <a:buNone/>
              <a:defRPr sz="1000"/>
            </a:lvl3pPr>
            <a:lvl4pPr indent="-228600" lvl="3" marL="1828800" algn="l">
              <a:spcBef>
                <a:spcPts val="180"/>
              </a:spcBef>
              <a:spcAft>
                <a:spcPts val="0"/>
              </a:spcAft>
              <a:buClr>
                <a:schemeClr val="dk1"/>
              </a:buClr>
              <a:buSzPts val="900"/>
              <a:buFont typeface="Times New Roman"/>
              <a:buNone/>
              <a:defRPr sz="900"/>
            </a:lvl4pPr>
            <a:lvl5pPr indent="-228600" lvl="4" marL="2286000" algn="l">
              <a:spcBef>
                <a:spcPts val="180"/>
              </a:spcBef>
              <a:spcAft>
                <a:spcPts val="0"/>
              </a:spcAft>
              <a:buClr>
                <a:schemeClr val="dk1"/>
              </a:buClr>
              <a:buSzPts val="900"/>
              <a:buFont typeface="Times New Roman"/>
              <a:buNone/>
              <a:defRPr sz="900"/>
            </a:lvl5pPr>
            <a:lvl6pPr indent="-228600" lvl="5" marL="2743200" algn="l">
              <a:spcBef>
                <a:spcPts val="180"/>
              </a:spcBef>
              <a:spcAft>
                <a:spcPts val="0"/>
              </a:spcAft>
              <a:buClr>
                <a:schemeClr val="dk1"/>
              </a:buClr>
              <a:buSzPts val="900"/>
              <a:buFont typeface="Times New Roman"/>
              <a:buNone/>
              <a:defRPr sz="900"/>
            </a:lvl6pPr>
            <a:lvl7pPr indent="-228600" lvl="6" marL="3200400" algn="l">
              <a:spcBef>
                <a:spcPts val="180"/>
              </a:spcBef>
              <a:spcAft>
                <a:spcPts val="0"/>
              </a:spcAft>
              <a:buClr>
                <a:schemeClr val="dk1"/>
              </a:buClr>
              <a:buSzPts val="900"/>
              <a:buFont typeface="Times New Roman"/>
              <a:buNone/>
              <a:defRPr sz="900"/>
            </a:lvl7pPr>
            <a:lvl8pPr indent="-228600" lvl="7" marL="3657600" algn="l">
              <a:spcBef>
                <a:spcPts val="180"/>
              </a:spcBef>
              <a:spcAft>
                <a:spcPts val="0"/>
              </a:spcAft>
              <a:buClr>
                <a:schemeClr val="dk1"/>
              </a:buClr>
              <a:buSzPts val="900"/>
              <a:buFont typeface="Times New Roman"/>
              <a:buNone/>
              <a:defRPr sz="900"/>
            </a:lvl8pPr>
            <a:lvl9pPr indent="-228600" lvl="8" marL="4114800" algn="l">
              <a:spcBef>
                <a:spcPts val="180"/>
              </a:spcBef>
              <a:spcAft>
                <a:spcPts val="0"/>
              </a:spcAft>
              <a:buClr>
                <a:schemeClr val="dk1"/>
              </a:buClr>
              <a:buSzPts val="900"/>
              <a:buFont typeface="Times New Roman"/>
              <a:buNone/>
              <a:defRPr sz="900"/>
            </a:lvl9pPr>
          </a:lstStyle>
          <a:p/>
        </p:txBody>
      </p:sp>
      <p:sp>
        <p:nvSpPr>
          <p:cNvPr id="89" name="Google Shape;89;p212"/>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12"/>
          <p:cNvSpPr txBox="1"/>
          <p:nvPr>
            <p:ph idx="11" type="ftr"/>
          </p:nvPr>
        </p:nvSpPr>
        <p:spPr>
          <a:xfrm>
            <a:off x="7435851" y="6445250"/>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12"/>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chemeClr val="dk1"/>
                </a:solidFill>
                <a:latin typeface="Gill Sans"/>
                <a:ea typeface="Gill Sans"/>
                <a:cs typeface="Gill Sans"/>
                <a:sym typeface="Gill Sans"/>
              </a:defRPr>
            </a:lvl1pPr>
            <a:lvl2pPr indent="0" lvl="1" marL="0" marR="0" algn="l">
              <a:spcBef>
                <a:spcPts val="0"/>
              </a:spcBef>
              <a:buNone/>
              <a:defRPr sz="1200">
                <a:solidFill>
                  <a:schemeClr val="dk1"/>
                </a:solidFill>
                <a:latin typeface="Gill Sans"/>
                <a:ea typeface="Gill Sans"/>
                <a:cs typeface="Gill Sans"/>
                <a:sym typeface="Gill Sans"/>
              </a:defRPr>
            </a:lvl2pPr>
            <a:lvl3pPr indent="0" lvl="2" marL="0" marR="0" algn="l">
              <a:spcBef>
                <a:spcPts val="0"/>
              </a:spcBef>
              <a:buNone/>
              <a:defRPr sz="1200">
                <a:solidFill>
                  <a:schemeClr val="dk1"/>
                </a:solidFill>
                <a:latin typeface="Gill Sans"/>
                <a:ea typeface="Gill Sans"/>
                <a:cs typeface="Gill Sans"/>
                <a:sym typeface="Gill Sans"/>
              </a:defRPr>
            </a:lvl3pPr>
            <a:lvl4pPr indent="0" lvl="3" marL="0" marR="0" algn="l">
              <a:spcBef>
                <a:spcPts val="0"/>
              </a:spcBef>
              <a:buNone/>
              <a:defRPr sz="1200">
                <a:solidFill>
                  <a:schemeClr val="dk1"/>
                </a:solidFill>
                <a:latin typeface="Gill Sans"/>
                <a:ea typeface="Gill Sans"/>
                <a:cs typeface="Gill Sans"/>
                <a:sym typeface="Gill Sans"/>
              </a:defRPr>
            </a:lvl4pPr>
            <a:lvl5pPr indent="0" lvl="4" marL="0" marR="0" algn="l">
              <a:spcBef>
                <a:spcPts val="0"/>
              </a:spcBef>
              <a:buNone/>
              <a:defRPr sz="1200">
                <a:solidFill>
                  <a:schemeClr val="dk1"/>
                </a:solidFill>
                <a:latin typeface="Gill Sans"/>
                <a:ea typeface="Gill Sans"/>
                <a:cs typeface="Gill Sans"/>
                <a:sym typeface="Gill Sans"/>
              </a:defRPr>
            </a:lvl5pPr>
            <a:lvl6pPr indent="0" lvl="5" marL="0" marR="0" algn="l">
              <a:spcBef>
                <a:spcPts val="0"/>
              </a:spcBef>
              <a:buNone/>
              <a:defRPr sz="1200">
                <a:solidFill>
                  <a:schemeClr val="dk1"/>
                </a:solidFill>
                <a:latin typeface="Gill Sans"/>
                <a:ea typeface="Gill Sans"/>
                <a:cs typeface="Gill Sans"/>
                <a:sym typeface="Gill Sans"/>
              </a:defRPr>
            </a:lvl6pPr>
            <a:lvl7pPr indent="0" lvl="6" marL="0" marR="0" algn="l">
              <a:spcBef>
                <a:spcPts val="0"/>
              </a:spcBef>
              <a:buNone/>
              <a:defRPr sz="1200">
                <a:solidFill>
                  <a:schemeClr val="dk1"/>
                </a:solidFill>
                <a:latin typeface="Gill Sans"/>
                <a:ea typeface="Gill Sans"/>
                <a:cs typeface="Gill Sans"/>
                <a:sym typeface="Gill Sans"/>
              </a:defRPr>
            </a:lvl7pPr>
            <a:lvl8pPr indent="0" lvl="7" marL="0" marR="0" algn="l">
              <a:spcBef>
                <a:spcPts val="0"/>
              </a:spcBef>
              <a:buNone/>
              <a:defRPr sz="1200">
                <a:solidFill>
                  <a:schemeClr val="dk1"/>
                </a:solidFill>
                <a:latin typeface="Gill Sans"/>
                <a:ea typeface="Gill Sans"/>
                <a:cs typeface="Gill Sans"/>
                <a:sym typeface="Gill Sans"/>
              </a:defRPr>
            </a:lvl8pPr>
            <a:lvl9pPr indent="0" lvl="8" marL="0" marR="0" algn="l">
              <a:spcBef>
                <a:spcPts val="0"/>
              </a:spcBef>
              <a:buNone/>
              <a:defRPr sz="1200">
                <a:solidFill>
                  <a:schemeClr val="dk1"/>
                </a:solidFill>
                <a:latin typeface="Gill Sans"/>
                <a:ea typeface="Gill Sans"/>
                <a:cs typeface="Gill Sans"/>
                <a:sym typeface="Gill Sans"/>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2" name="Shape 92"/>
        <p:cNvGrpSpPr/>
        <p:nvPr/>
      </p:nvGrpSpPr>
      <p:grpSpPr>
        <a:xfrm>
          <a:off x="0" y="0"/>
          <a:ext cx="0" cy="0"/>
          <a:chOff x="0" y="0"/>
          <a:chExt cx="0" cy="0"/>
        </a:xfrm>
      </p:grpSpPr>
      <p:sp>
        <p:nvSpPr>
          <p:cNvPr id="93" name="Google Shape;93;p213"/>
          <p:cNvSpPr txBox="1"/>
          <p:nvPr>
            <p:ph type="title"/>
          </p:nvPr>
        </p:nvSpPr>
        <p:spPr>
          <a:xfrm>
            <a:off x="711200" y="228600"/>
            <a:ext cx="103632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13"/>
          <p:cNvSpPr txBox="1"/>
          <p:nvPr>
            <p:ph idx="1" type="body"/>
          </p:nvPr>
        </p:nvSpPr>
        <p:spPr>
          <a:xfrm rot="5400000">
            <a:off x="3568700" y="-1257300"/>
            <a:ext cx="4648200" cy="10363200"/>
          </a:xfrm>
          <a:prstGeom prst="rect">
            <a:avLst/>
          </a:prstGeom>
          <a:noFill/>
          <a:ln>
            <a:noFill/>
          </a:ln>
        </p:spPr>
        <p:txBody>
          <a:bodyPr anchorCtr="0" anchor="t" bIns="45700" lIns="91425" spcFirstLastPara="1" rIns="91425" wrap="square" tIns="45700">
            <a:noAutofit/>
          </a:bodyPr>
          <a:lstStyle>
            <a:lvl1pPr indent="-342900" lvl="0" marL="457200" algn="l">
              <a:lnSpc>
                <a:spcPct val="85000"/>
              </a:lnSpc>
              <a:spcBef>
                <a:spcPts val="360"/>
              </a:spcBef>
              <a:spcAft>
                <a:spcPts val="0"/>
              </a:spcAft>
              <a:buSzPts val="1800"/>
              <a:buChar char="▪"/>
              <a:defRPr/>
            </a:lvl1pPr>
            <a:lvl2pPr indent="-342900" lvl="1" marL="914400" algn="l">
              <a:lnSpc>
                <a:spcPct val="85000"/>
              </a:lnSpc>
              <a:spcBef>
                <a:spcPts val="360"/>
              </a:spcBef>
              <a:spcAft>
                <a:spcPts val="0"/>
              </a:spcAft>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5" name="Google Shape;95;p213"/>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13"/>
          <p:cNvSpPr txBox="1"/>
          <p:nvPr>
            <p:ph idx="11" type="ftr"/>
          </p:nvPr>
        </p:nvSpPr>
        <p:spPr>
          <a:xfrm>
            <a:off x="7435851" y="6445250"/>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13"/>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chemeClr val="dk1"/>
                </a:solidFill>
                <a:latin typeface="Gill Sans"/>
                <a:ea typeface="Gill Sans"/>
                <a:cs typeface="Gill Sans"/>
                <a:sym typeface="Gill Sans"/>
              </a:defRPr>
            </a:lvl1pPr>
            <a:lvl2pPr indent="0" lvl="1" marL="0" marR="0" algn="l">
              <a:spcBef>
                <a:spcPts val="0"/>
              </a:spcBef>
              <a:buNone/>
              <a:defRPr sz="1200">
                <a:solidFill>
                  <a:schemeClr val="dk1"/>
                </a:solidFill>
                <a:latin typeface="Gill Sans"/>
                <a:ea typeface="Gill Sans"/>
                <a:cs typeface="Gill Sans"/>
                <a:sym typeface="Gill Sans"/>
              </a:defRPr>
            </a:lvl2pPr>
            <a:lvl3pPr indent="0" lvl="2" marL="0" marR="0" algn="l">
              <a:spcBef>
                <a:spcPts val="0"/>
              </a:spcBef>
              <a:buNone/>
              <a:defRPr sz="1200">
                <a:solidFill>
                  <a:schemeClr val="dk1"/>
                </a:solidFill>
                <a:latin typeface="Gill Sans"/>
                <a:ea typeface="Gill Sans"/>
                <a:cs typeface="Gill Sans"/>
                <a:sym typeface="Gill Sans"/>
              </a:defRPr>
            </a:lvl3pPr>
            <a:lvl4pPr indent="0" lvl="3" marL="0" marR="0" algn="l">
              <a:spcBef>
                <a:spcPts val="0"/>
              </a:spcBef>
              <a:buNone/>
              <a:defRPr sz="1200">
                <a:solidFill>
                  <a:schemeClr val="dk1"/>
                </a:solidFill>
                <a:latin typeface="Gill Sans"/>
                <a:ea typeface="Gill Sans"/>
                <a:cs typeface="Gill Sans"/>
                <a:sym typeface="Gill Sans"/>
              </a:defRPr>
            </a:lvl4pPr>
            <a:lvl5pPr indent="0" lvl="4" marL="0" marR="0" algn="l">
              <a:spcBef>
                <a:spcPts val="0"/>
              </a:spcBef>
              <a:buNone/>
              <a:defRPr sz="1200">
                <a:solidFill>
                  <a:schemeClr val="dk1"/>
                </a:solidFill>
                <a:latin typeface="Gill Sans"/>
                <a:ea typeface="Gill Sans"/>
                <a:cs typeface="Gill Sans"/>
                <a:sym typeface="Gill Sans"/>
              </a:defRPr>
            </a:lvl5pPr>
            <a:lvl6pPr indent="0" lvl="5" marL="0" marR="0" algn="l">
              <a:spcBef>
                <a:spcPts val="0"/>
              </a:spcBef>
              <a:buNone/>
              <a:defRPr sz="1200">
                <a:solidFill>
                  <a:schemeClr val="dk1"/>
                </a:solidFill>
                <a:latin typeface="Gill Sans"/>
                <a:ea typeface="Gill Sans"/>
                <a:cs typeface="Gill Sans"/>
                <a:sym typeface="Gill Sans"/>
              </a:defRPr>
            </a:lvl6pPr>
            <a:lvl7pPr indent="0" lvl="6" marL="0" marR="0" algn="l">
              <a:spcBef>
                <a:spcPts val="0"/>
              </a:spcBef>
              <a:buNone/>
              <a:defRPr sz="1200">
                <a:solidFill>
                  <a:schemeClr val="dk1"/>
                </a:solidFill>
                <a:latin typeface="Gill Sans"/>
                <a:ea typeface="Gill Sans"/>
                <a:cs typeface="Gill Sans"/>
                <a:sym typeface="Gill Sans"/>
              </a:defRPr>
            </a:lvl7pPr>
            <a:lvl8pPr indent="0" lvl="7" marL="0" marR="0" algn="l">
              <a:spcBef>
                <a:spcPts val="0"/>
              </a:spcBef>
              <a:buNone/>
              <a:defRPr sz="1200">
                <a:solidFill>
                  <a:schemeClr val="dk1"/>
                </a:solidFill>
                <a:latin typeface="Gill Sans"/>
                <a:ea typeface="Gill Sans"/>
                <a:cs typeface="Gill Sans"/>
                <a:sym typeface="Gill Sans"/>
              </a:defRPr>
            </a:lvl8pPr>
            <a:lvl9pPr indent="0" lvl="8" marL="0" marR="0" algn="l">
              <a:spcBef>
                <a:spcPts val="0"/>
              </a:spcBef>
              <a:buNone/>
              <a:defRPr sz="1200">
                <a:solidFill>
                  <a:schemeClr val="dk1"/>
                </a:solidFill>
                <a:latin typeface="Gill Sans"/>
                <a:ea typeface="Gill Sans"/>
                <a:cs typeface="Gill Sans"/>
                <a:sym typeface="Gill Sans"/>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8" name="Shape 98"/>
        <p:cNvGrpSpPr/>
        <p:nvPr/>
      </p:nvGrpSpPr>
      <p:grpSpPr>
        <a:xfrm>
          <a:off x="0" y="0"/>
          <a:ext cx="0" cy="0"/>
          <a:chOff x="0" y="0"/>
          <a:chExt cx="0" cy="0"/>
        </a:xfrm>
      </p:grpSpPr>
      <p:sp>
        <p:nvSpPr>
          <p:cNvPr id="99" name="Google Shape;99;p214"/>
          <p:cNvSpPr txBox="1"/>
          <p:nvPr>
            <p:ph type="title"/>
          </p:nvPr>
        </p:nvSpPr>
        <p:spPr>
          <a:xfrm rot="5400000">
            <a:off x="6769100" y="1943100"/>
            <a:ext cx="6019800" cy="2590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14"/>
          <p:cNvSpPr txBox="1"/>
          <p:nvPr>
            <p:ph idx="1" type="body"/>
          </p:nvPr>
        </p:nvSpPr>
        <p:spPr>
          <a:xfrm rot="5400000">
            <a:off x="1485900" y="-546100"/>
            <a:ext cx="6019800" cy="7569200"/>
          </a:xfrm>
          <a:prstGeom prst="rect">
            <a:avLst/>
          </a:prstGeom>
          <a:noFill/>
          <a:ln>
            <a:noFill/>
          </a:ln>
        </p:spPr>
        <p:txBody>
          <a:bodyPr anchorCtr="0" anchor="t" bIns="45700" lIns="91425" spcFirstLastPara="1" rIns="91425" wrap="square" tIns="45700">
            <a:noAutofit/>
          </a:bodyPr>
          <a:lstStyle>
            <a:lvl1pPr indent="-342900" lvl="0" marL="457200" algn="l">
              <a:lnSpc>
                <a:spcPct val="85000"/>
              </a:lnSpc>
              <a:spcBef>
                <a:spcPts val="360"/>
              </a:spcBef>
              <a:spcAft>
                <a:spcPts val="0"/>
              </a:spcAft>
              <a:buSzPts val="1800"/>
              <a:buChar char="▪"/>
              <a:defRPr/>
            </a:lvl1pPr>
            <a:lvl2pPr indent="-342900" lvl="1" marL="914400" algn="l">
              <a:lnSpc>
                <a:spcPct val="85000"/>
              </a:lnSpc>
              <a:spcBef>
                <a:spcPts val="360"/>
              </a:spcBef>
              <a:spcAft>
                <a:spcPts val="0"/>
              </a:spcAft>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1" name="Google Shape;101;p214"/>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14"/>
          <p:cNvSpPr txBox="1"/>
          <p:nvPr>
            <p:ph idx="11" type="ftr"/>
          </p:nvPr>
        </p:nvSpPr>
        <p:spPr>
          <a:xfrm>
            <a:off x="7435851" y="6445250"/>
            <a:ext cx="3860800" cy="28733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214"/>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sz="1200">
                <a:solidFill>
                  <a:schemeClr val="dk1"/>
                </a:solidFill>
                <a:latin typeface="Gill Sans"/>
                <a:ea typeface="Gill Sans"/>
                <a:cs typeface="Gill Sans"/>
                <a:sym typeface="Gill Sans"/>
              </a:defRPr>
            </a:lvl1pPr>
            <a:lvl2pPr indent="0" lvl="1" marL="0" marR="0" algn="l">
              <a:spcBef>
                <a:spcPts val="0"/>
              </a:spcBef>
              <a:buNone/>
              <a:defRPr sz="1200">
                <a:solidFill>
                  <a:schemeClr val="dk1"/>
                </a:solidFill>
                <a:latin typeface="Gill Sans"/>
                <a:ea typeface="Gill Sans"/>
                <a:cs typeface="Gill Sans"/>
                <a:sym typeface="Gill Sans"/>
              </a:defRPr>
            </a:lvl2pPr>
            <a:lvl3pPr indent="0" lvl="2" marL="0" marR="0" algn="l">
              <a:spcBef>
                <a:spcPts val="0"/>
              </a:spcBef>
              <a:buNone/>
              <a:defRPr sz="1200">
                <a:solidFill>
                  <a:schemeClr val="dk1"/>
                </a:solidFill>
                <a:latin typeface="Gill Sans"/>
                <a:ea typeface="Gill Sans"/>
                <a:cs typeface="Gill Sans"/>
                <a:sym typeface="Gill Sans"/>
              </a:defRPr>
            </a:lvl3pPr>
            <a:lvl4pPr indent="0" lvl="3" marL="0" marR="0" algn="l">
              <a:spcBef>
                <a:spcPts val="0"/>
              </a:spcBef>
              <a:buNone/>
              <a:defRPr sz="1200">
                <a:solidFill>
                  <a:schemeClr val="dk1"/>
                </a:solidFill>
                <a:latin typeface="Gill Sans"/>
                <a:ea typeface="Gill Sans"/>
                <a:cs typeface="Gill Sans"/>
                <a:sym typeface="Gill Sans"/>
              </a:defRPr>
            </a:lvl4pPr>
            <a:lvl5pPr indent="0" lvl="4" marL="0" marR="0" algn="l">
              <a:spcBef>
                <a:spcPts val="0"/>
              </a:spcBef>
              <a:buNone/>
              <a:defRPr sz="1200">
                <a:solidFill>
                  <a:schemeClr val="dk1"/>
                </a:solidFill>
                <a:latin typeface="Gill Sans"/>
                <a:ea typeface="Gill Sans"/>
                <a:cs typeface="Gill Sans"/>
                <a:sym typeface="Gill Sans"/>
              </a:defRPr>
            </a:lvl5pPr>
            <a:lvl6pPr indent="0" lvl="5" marL="0" marR="0" algn="l">
              <a:spcBef>
                <a:spcPts val="0"/>
              </a:spcBef>
              <a:buNone/>
              <a:defRPr sz="1200">
                <a:solidFill>
                  <a:schemeClr val="dk1"/>
                </a:solidFill>
                <a:latin typeface="Gill Sans"/>
                <a:ea typeface="Gill Sans"/>
                <a:cs typeface="Gill Sans"/>
                <a:sym typeface="Gill Sans"/>
              </a:defRPr>
            </a:lvl6pPr>
            <a:lvl7pPr indent="0" lvl="6" marL="0" marR="0" algn="l">
              <a:spcBef>
                <a:spcPts val="0"/>
              </a:spcBef>
              <a:buNone/>
              <a:defRPr sz="1200">
                <a:solidFill>
                  <a:schemeClr val="dk1"/>
                </a:solidFill>
                <a:latin typeface="Gill Sans"/>
                <a:ea typeface="Gill Sans"/>
                <a:cs typeface="Gill Sans"/>
                <a:sym typeface="Gill Sans"/>
              </a:defRPr>
            </a:lvl7pPr>
            <a:lvl8pPr indent="0" lvl="7" marL="0" marR="0" algn="l">
              <a:spcBef>
                <a:spcPts val="0"/>
              </a:spcBef>
              <a:buNone/>
              <a:defRPr sz="1200">
                <a:solidFill>
                  <a:schemeClr val="dk1"/>
                </a:solidFill>
                <a:latin typeface="Gill Sans"/>
                <a:ea typeface="Gill Sans"/>
                <a:cs typeface="Gill Sans"/>
                <a:sym typeface="Gill Sans"/>
              </a:defRPr>
            </a:lvl8pPr>
            <a:lvl9pPr indent="0" lvl="8" marL="0" marR="0" algn="l">
              <a:spcBef>
                <a:spcPts val="0"/>
              </a:spcBef>
              <a:buNone/>
              <a:defRPr sz="1200">
                <a:solidFill>
                  <a:schemeClr val="dk1"/>
                </a:solidFill>
                <a:latin typeface="Gill Sans"/>
                <a:ea typeface="Gill Sans"/>
                <a:cs typeface="Gill Sans"/>
                <a:sym typeface="Gill Sans"/>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Layout" Target="../slideLayouts/slideLayout6.xml"/><Relationship Id="rId3" Type="http://schemas.openxmlformats.org/officeDocument/2006/relationships/slideLayout" Target="../slideLayouts/slideLayout7.xml"/><Relationship Id="rId4" Type="http://schemas.openxmlformats.org/officeDocument/2006/relationships/slideLayout" Target="../slideLayouts/slideLayout8.xml"/><Relationship Id="rId11" Type="http://schemas.openxmlformats.org/officeDocument/2006/relationships/slideLayout" Target="../slideLayouts/slideLayout15.xml"/><Relationship Id="rId10" Type="http://schemas.openxmlformats.org/officeDocument/2006/relationships/slideLayout" Target="../slideLayouts/slideLayout14.xml"/><Relationship Id="rId12" Type="http://schemas.openxmlformats.org/officeDocument/2006/relationships/theme" Target="../theme/theme3.xml"/><Relationship Id="rId9" Type="http://schemas.openxmlformats.org/officeDocument/2006/relationships/slideLayout" Target="../slideLayouts/slideLayout13.xml"/><Relationship Id="rId5" Type="http://schemas.openxmlformats.org/officeDocument/2006/relationships/slideLayout" Target="../slideLayouts/slideLayout9.xml"/><Relationship Id="rId6" Type="http://schemas.openxmlformats.org/officeDocument/2006/relationships/slideLayout" Target="../slideLayouts/slideLayout10.xml"/><Relationship Id="rId7" Type="http://schemas.openxmlformats.org/officeDocument/2006/relationships/slideLayout" Target="../slideLayouts/slideLayout11.xml"/><Relationship Id="rId8"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98"/>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000"/>
              <a:buFont typeface="Calibri"/>
              <a:buNone/>
              <a:defRPr b="1" i="0" sz="40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9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9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 name="Shape 29"/>
        <p:cNvGrpSpPr/>
        <p:nvPr/>
      </p:nvGrpSpPr>
      <p:grpSpPr>
        <a:xfrm>
          <a:off x="0" y="0"/>
          <a:ext cx="0" cy="0"/>
          <a:chOff x="0" y="0"/>
          <a:chExt cx="0" cy="0"/>
        </a:xfrm>
      </p:grpSpPr>
      <p:sp>
        <p:nvSpPr>
          <p:cNvPr id="30" name="Google Shape;30;p201"/>
          <p:cNvSpPr txBox="1"/>
          <p:nvPr>
            <p:ph type="title"/>
          </p:nvPr>
        </p:nvSpPr>
        <p:spPr>
          <a:xfrm>
            <a:off x="711200" y="228600"/>
            <a:ext cx="103632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1pPr>
            <a:lvl2pPr lvl="1"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2pPr>
            <a:lvl3pPr lvl="2"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3pPr>
            <a:lvl4pPr lvl="3"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4pPr>
            <a:lvl5pPr lvl="4"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5pPr>
            <a:lvl6pPr lvl="5"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6pPr>
            <a:lvl7pPr lvl="6"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7pPr>
            <a:lvl8pPr lvl="7"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8pPr>
            <a:lvl9pPr lvl="8" marR="0" rtl="0" algn="l">
              <a:spcBef>
                <a:spcPts val="0"/>
              </a:spcBef>
              <a:spcAft>
                <a:spcPts val="0"/>
              </a:spcAft>
              <a:buSzPts val="1400"/>
              <a:buNone/>
              <a:defRPr b="0" i="0" sz="4400" u="none" cap="none" strike="noStrike">
                <a:solidFill>
                  <a:srgbClr val="000099"/>
                </a:solidFill>
                <a:latin typeface="Gill Sans"/>
                <a:ea typeface="Gill Sans"/>
                <a:cs typeface="Gill Sans"/>
                <a:sym typeface="Gill Sans"/>
              </a:defRPr>
            </a:lvl9pPr>
          </a:lstStyle>
          <a:p/>
        </p:txBody>
      </p:sp>
      <p:sp>
        <p:nvSpPr>
          <p:cNvPr id="31" name="Google Shape;31;p201"/>
          <p:cNvSpPr txBox="1"/>
          <p:nvPr>
            <p:ph idx="1" type="body"/>
          </p:nvPr>
        </p:nvSpPr>
        <p:spPr>
          <a:xfrm>
            <a:off x="711200" y="1600200"/>
            <a:ext cx="10363200" cy="46482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85000"/>
              </a:lnSpc>
              <a:spcBef>
                <a:spcPts val="640"/>
              </a:spcBef>
              <a:spcAft>
                <a:spcPts val="0"/>
              </a:spcAft>
              <a:buClr>
                <a:srgbClr val="000099"/>
              </a:buClr>
              <a:buSzPts val="3200"/>
              <a:buFont typeface="Noto Sans Symbols"/>
              <a:buChar char="▪"/>
              <a:defRPr b="0" i="0" sz="3200" u="none" cap="none" strike="noStrike">
                <a:solidFill>
                  <a:schemeClr val="dk1"/>
                </a:solidFill>
                <a:latin typeface="Gill Sans"/>
                <a:ea typeface="Gill Sans"/>
                <a:cs typeface="Gill Sans"/>
                <a:sym typeface="Gill Sans"/>
              </a:defRPr>
            </a:lvl1pPr>
            <a:lvl2pPr indent="-406400" lvl="1" marL="914400" marR="0" rtl="0" algn="l">
              <a:lnSpc>
                <a:spcPct val="85000"/>
              </a:lnSpc>
              <a:spcBef>
                <a:spcPts val="560"/>
              </a:spcBef>
              <a:spcAft>
                <a:spcPts val="0"/>
              </a:spcAft>
              <a:buClr>
                <a:srgbClr val="000099"/>
              </a:buClr>
              <a:buSzPts val="2800"/>
              <a:buFont typeface="Arial"/>
              <a:buChar char="•"/>
              <a:defRPr b="0" i="0" sz="2800" u="none" cap="none" strike="noStrike">
                <a:solidFill>
                  <a:schemeClr val="dk1"/>
                </a:solidFill>
                <a:latin typeface="Gill Sans"/>
                <a:ea typeface="Gill Sans"/>
                <a:cs typeface="Gill Sans"/>
                <a:sym typeface="Gill Sans"/>
              </a:defRPr>
            </a:lvl2pPr>
            <a:lvl3pPr indent="-381000" lvl="2" marL="1371600" marR="0" rtl="0" algn="l">
              <a:spcBef>
                <a:spcPts val="480"/>
              </a:spcBef>
              <a:spcAft>
                <a:spcPts val="0"/>
              </a:spcAft>
              <a:buClr>
                <a:schemeClr val="dk1"/>
              </a:buClr>
              <a:buSzPts val="2400"/>
              <a:buFont typeface="Gill Sans"/>
              <a:buChar char="•"/>
              <a:defRPr b="0" i="0" sz="2400" u="none" cap="none" strike="noStrike">
                <a:solidFill>
                  <a:schemeClr val="dk1"/>
                </a:solidFill>
                <a:latin typeface="Gill Sans"/>
                <a:ea typeface="Gill Sans"/>
                <a:cs typeface="Gill Sans"/>
                <a:sym typeface="Gill Sans"/>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32" name="Google Shape;32;p201"/>
          <p:cNvSpPr txBox="1"/>
          <p:nvPr>
            <p:ph idx="10" type="dt"/>
          </p:nvPr>
        </p:nvSpPr>
        <p:spPr>
          <a:xfrm>
            <a:off x="914400" y="6248400"/>
            <a:ext cx="25400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33" name="Google Shape;33;p201"/>
          <p:cNvSpPr txBox="1"/>
          <p:nvPr>
            <p:ph idx="11" type="ftr"/>
          </p:nvPr>
        </p:nvSpPr>
        <p:spPr>
          <a:xfrm>
            <a:off x="7435851" y="6445250"/>
            <a:ext cx="3860800" cy="28733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Tahoma"/>
                <a:ea typeface="Tahoma"/>
                <a:cs typeface="Tahoma"/>
                <a:sym typeface="Tahoma"/>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34" name="Google Shape;34;p201"/>
          <p:cNvSpPr txBox="1"/>
          <p:nvPr>
            <p:ph idx="12" type="sldNum"/>
          </p:nvPr>
        </p:nvSpPr>
        <p:spPr>
          <a:xfrm>
            <a:off x="11099801" y="6462714"/>
            <a:ext cx="901700" cy="2762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200" u="none" cap="none" strike="noStrike">
                <a:solidFill>
                  <a:schemeClr val="dk1"/>
                </a:solidFill>
                <a:latin typeface="Gill Sans"/>
                <a:ea typeface="Gill Sans"/>
                <a:cs typeface="Gill Sans"/>
                <a:sym typeface="Gill Sans"/>
              </a:defRPr>
            </a:lvl1pPr>
            <a:lvl2pPr indent="0" lvl="1" marL="0" marR="0" rtl="0" algn="l">
              <a:spcBef>
                <a:spcPts val="0"/>
              </a:spcBef>
              <a:buNone/>
              <a:defRPr b="0" i="0" sz="1200" u="none" cap="none" strike="noStrike">
                <a:solidFill>
                  <a:schemeClr val="dk1"/>
                </a:solidFill>
                <a:latin typeface="Gill Sans"/>
                <a:ea typeface="Gill Sans"/>
                <a:cs typeface="Gill Sans"/>
                <a:sym typeface="Gill Sans"/>
              </a:defRPr>
            </a:lvl2pPr>
            <a:lvl3pPr indent="0" lvl="2" marL="0" marR="0" rtl="0" algn="l">
              <a:spcBef>
                <a:spcPts val="0"/>
              </a:spcBef>
              <a:buNone/>
              <a:defRPr b="0" i="0" sz="1200" u="none" cap="none" strike="noStrike">
                <a:solidFill>
                  <a:schemeClr val="dk1"/>
                </a:solidFill>
                <a:latin typeface="Gill Sans"/>
                <a:ea typeface="Gill Sans"/>
                <a:cs typeface="Gill Sans"/>
                <a:sym typeface="Gill Sans"/>
              </a:defRPr>
            </a:lvl3pPr>
            <a:lvl4pPr indent="0" lvl="3" marL="0" marR="0" rtl="0" algn="l">
              <a:spcBef>
                <a:spcPts val="0"/>
              </a:spcBef>
              <a:buNone/>
              <a:defRPr b="0" i="0" sz="1200" u="none" cap="none" strike="noStrike">
                <a:solidFill>
                  <a:schemeClr val="dk1"/>
                </a:solidFill>
                <a:latin typeface="Gill Sans"/>
                <a:ea typeface="Gill Sans"/>
                <a:cs typeface="Gill Sans"/>
                <a:sym typeface="Gill Sans"/>
              </a:defRPr>
            </a:lvl4pPr>
            <a:lvl5pPr indent="0" lvl="4" marL="0" marR="0" rtl="0" algn="l">
              <a:spcBef>
                <a:spcPts val="0"/>
              </a:spcBef>
              <a:buNone/>
              <a:defRPr b="0" i="0" sz="1200" u="none" cap="none" strike="noStrike">
                <a:solidFill>
                  <a:schemeClr val="dk1"/>
                </a:solidFill>
                <a:latin typeface="Gill Sans"/>
                <a:ea typeface="Gill Sans"/>
                <a:cs typeface="Gill Sans"/>
                <a:sym typeface="Gill Sans"/>
              </a:defRPr>
            </a:lvl5pPr>
            <a:lvl6pPr indent="0" lvl="5" marL="0" marR="0" rtl="0" algn="l">
              <a:spcBef>
                <a:spcPts val="0"/>
              </a:spcBef>
              <a:buNone/>
              <a:defRPr b="0" i="0" sz="1200" u="none" cap="none" strike="noStrike">
                <a:solidFill>
                  <a:schemeClr val="dk1"/>
                </a:solidFill>
                <a:latin typeface="Gill Sans"/>
                <a:ea typeface="Gill Sans"/>
                <a:cs typeface="Gill Sans"/>
                <a:sym typeface="Gill Sans"/>
              </a:defRPr>
            </a:lvl6pPr>
            <a:lvl7pPr indent="0" lvl="6" marL="0" marR="0" rtl="0" algn="l">
              <a:spcBef>
                <a:spcPts val="0"/>
              </a:spcBef>
              <a:buNone/>
              <a:defRPr b="0" i="0" sz="1200" u="none" cap="none" strike="noStrike">
                <a:solidFill>
                  <a:schemeClr val="dk1"/>
                </a:solidFill>
                <a:latin typeface="Gill Sans"/>
                <a:ea typeface="Gill Sans"/>
                <a:cs typeface="Gill Sans"/>
                <a:sym typeface="Gill Sans"/>
              </a:defRPr>
            </a:lvl7pPr>
            <a:lvl8pPr indent="0" lvl="7" marL="0" marR="0" rtl="0" algn="l">
              <a:spcBef>
                <a:spcPts val="0"/>
              </a:spcBef>
              <a:buNone/>
              <a:defRPr b="0" i="0" sz="1200" u="none" cap="none" strike="noStrike">
                <a:solidFill>
                  <a:schemeClr val="dk1"/>
                </a:solidFill>
                <a:latin typeface="Gill Sans"/>
                <a:ea typeface="Gill Sans"/>
                <a:cs typeface="Gill Sans"/>
                <a:sym typeface="Gill Sans"/>
              </a:defRPr>
            </a:lvl8pPr>
            <a:lvl9pPr indent="0" lvl="8" marL="0" marR="0" rtl="0" algn="l">
              <a:spcBef>
                <a:spcPts val="0"/>
              </a:spcBef>
              <a:buNone/>
              <a:defRPr b="0" i="0" sz="1200" u="none" cap="none" strike="noStrike">
                <a:solidFill>
                  <a:schemeClr val="dk1"/>
                </a:solidFill>
                <a:latin typeface="Gill Sans"/>
                <a:ea typeface="Gill Sans"/>
                <a:cs typeface="Gill Sans"/>
                <a:sym typeface="Gill Sans"/>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20" Type="http://schemas.openxmlformats.org/officeDocument/2006/relationships/image" Target="../media/image29.png"/><Relationship Id="rId11" Type="http://schemas.openxmlformats.org/officeDocument/2006/relationships/image" Target="../media/image19.png"/><Relationship Id="rId22" Type="http://schemas.openxmlformats.org/officeDocument/2006/relationships/image" Target="../media/image18.png"/><Relationship Id="rId10" Type="http://schemas.openxmlformats.org/officeDocument/2006/relationships/image" Target="../media/image7.png"/><Relationship Id="rId21" Type="http://schemas.openxmlformats.org/officeDocument/2006/relationships/image" Target="../media/image15.png"/><Relationship Id="rId13" Type="http://schemas.openxmlformats.org/officeDocument/2006/relationships/image" Target="../media/image13.png"/><Relationship Id="rId12" Type="http://schemas.openxmlformats.org/officeDocument/2006/relationships/image" Target="../media/image14.png"/><Relationship Id="rId23" Type="http://schemas.openxmlformats.org/officeDocument/2006/relationships/image" Target="../media/image17.png"/><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8.png"/><Relationship Id="rId4" Type="http://schemas.openxmlformats.org/officeDocument/2006/relationships/image" Target="../media/image8.png"/><Relationship Id="rId9" Type="http://schemas.openxmlformats.org/officeDocument/2006/relationships/image" Target="../media/image21.png"/><Relationship Id="rId15" Type="http://schemas.openxmlformats.org/officeDocument/2006/relationships/image" Target="../media/image11.png"/><Relationship Id="rId14" Type="http://schemas.openxmlformats.org/officeDocument/2006/relationships/image" Target="../media/image6.png"/><Relationship Id="rId17" Type="http://schemas.openxmlformats.org/officeDocument/2006/relationships/image" Target="../media/image10.png"/><Relationship Id="rId16" Type="http://schemas.openxmlformats.org/officeDocument/2006/relationships/image" Target="../media/image9.png"/><Relationship Id="rId5" Type="http://schemas.openxmlformats.org/officeDocument/2006/relationships/image" Target="../media/image3.png"/><Relationship Id="rId19" Type="http://schemas.openxmlformats.org/officeDocument/2006/relationships/image" Target="../media/image31.png"/><Relationship Id="rId6" Type="http://schemas.openxmlformats.org/officeDocument/2006/relationships/image" Target="../media/image2.png"/><Relationship Id="rId18" Type="http://schemas.openxmlformats.org/officeDocument/2006/relationships/image" Target="../media/image23.png"/><Relationship Id="rId7" Type="http://schemas.openxmlformats.org/officeDocument/2006/relationships/image" Target="../media/image43.png"/><Relationship Id="rId8" Type="http://schemas.openxmlformats.org/officeDocument/2006/relationships/image" Target="../media/image3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0" Type="http://schemas.openxmlformats.org/officeDocument/2006/relationships/image" Target="../media/image29.png"/><Relationship Id="rId11" Type="http://schemas.openxmlformats.org/officeDocument/2006/relationships/image" Target="../media/image19.png"/><Relationship Id="rId22" Type="http://schemas.openxmlformats.org/officeDocument/2006/relationships/image" Target="../media/image18.png"/><Relationship Id="rId10" Type="http://schemas.openxmlformats.org/officeDocument/2006/relationships/image" Target="../media/image7.png"/><Relationship Id="rId21" Type="http://schemas.openxmlformats.org/officeDocument/2006/relationships/image" Target="../media/image15.png"/><Relationship Id="rId13" Type="http://schemas.openxmlformats.org/officeDocument/2006/relationships/image" Target="../media/image13.png"/><Relationship Id="rId12" Type="http://schemas.openxmlformats.org/officeDocument/2006/relationships/image" Target="../media/image14.png"/><Relationship Id="rId23" Type="http://schemas.openxmlformats.org/officeDocument/2006/relationships/image" Target="../media/image17.png"/><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8.png"/><Relationship Id="rId4" Type="http://schemas.openxmlformats.org/officeDocument/2006/relationships/image" Target="../media/image8.png"/><Relationship Id="rId9" Type="http://schemas.openxmlformats.org/officeDocument/2006/relationships/image" Target="../media/image21.png"/><Relationship Id="rId15" Type="http://schemas.openxmlformats.org/officeDocument/2006/relationships/image" Target="../media/image11.png"/><Relationship Id="rId14" Type="http://schemas.openxmlformats.org/officeDocument/2006/relationships/image" Target="../media/image6.png"/><Relationship Id="rId17" Type="http://schemas.openxmlformats.org/officeDocument/2006/relationships/image" Target="../media/image10.png"/><Relationship Id="rId16" Type="http://schemas.openxmlformats.org/officeDocument/2006/relationships/image" Target="../media/image9.png"/><Relationship Id="rId5" Type="http://schemas.openxmlformats.org/officeDocument/2006/relationships/image" Target="../media/image3.png"/><Relationship Id="rId19" Type="http://schemas.openxmlformats.org/officeDocument/2006/relationships/image" Target="../media/image31.png"/><Relationship Id="rId6" Type="http://schemas.openxmlformats.org/officeDocument/2006/relationships/image" Target="../media/image2.png"/><Relationship Id="rId18" Type="http://schemas.openxmlformats.org/officeDocument/2006/relationships/image" Target="../media/image23.png"/><Relationship Id="rId7" Type="http://schemas.openxmlformats.org/officeDocument/2006/relationships/image" Target="../media/image43.png"/><Relationship Id="rId8" Type="http://schemas.openxmlformats.org/officeDocument/2006/relationships/image" Target="../media/image3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3.png"/><Relationship Id="rId4" Type="http://schemas.openxmlformats.org/officeDocument/2006/relationships/image" Target="../media/image48.png"/><Relationship Id="rId5" Type="http://schemas.openxmlformats.org/officeDocument/2006/relationships/image" Target="../media/image46.jpg"/><Relationship Id="rId6" Type="http://schemas.openxmlformats.org/officeDocument/2006/relationships/image" Target="../media/image47.png"/><Relationship Id="rId7" Type="http://schemas.openxmlformats.org/officeDocument/2006/relationships/image" Target="../media/image1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3.png"/><Relationship Id="rId4" Type="http://schemas.openxmlformats.org/officeDocument/2006/relationships/image" Target="../media/image48.png"/><Relationship Id="rId5" Type="http://schemas.openxmlformats.org/officeDocument/2006/relationships/image" Target="../media/image46.jpg"/><Relationship Id="rId6" Type="http://schemas.openxmlformats.org/officeDocument/2006/relationships/image" Target="../media/image47.png"/><Relationship Id="rId7" Type="http://schemas.openxmlformats.org/officeDocument/2006/relationships/image" Target="../media/image1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3.png"/><Relationship Id="rId4" Type="http://schemas.openxmlformats.org/officeDocument/2006/relationships/image" Target="../media/image48.png"/><Relationship Id="rId5" Type="http://schemas.openxmlformats.org/officeDocument/2006/relationships/image" Target="../media/image46.jpg"/><Relationship Id="rId6" Type="http://schemas.openxmlformats.org/officeDocument/2006/relationships/image" Target="../media/image47.png"/><Relationship Id="rId7" Type="http://schemas.openxmlformats.org/officeDocument/2006/relationships/image" Target="../media/image1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3.png"/><Relationship Id="rId4" Type="http://schemas.openxmlformats.org/officeDocument/2006/relationships/image" Target="../media/image48.png"/><Relationship Id="rId5" Type="http://schemas.openxmlformats.org/officeDocument/2006/relationships/image" Target="../media/image46.jpg"/><Relationship Id="rId6" Type="http://schemas.openxmlformats.org/officeDocument/2006/relationships/image" Target="../media/image47.png"/><Relationship Id="rId7" Type="http://schemas.openxmlformats.org/officeDocument/2006/relationships/image" Target="../media/image1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3.png"/><Relationship Id="rId4" Type="http://schemas.openxmlformats.org/officeDocument/2006/relationships/image" Target="../media/image48.png"/><Relationship Id="rId5" Type="http://schemas.openxmlformats.org/officeDocument/2006/relationships/image" Target="../media/image46.jpg"/><Relationship Id="rId6" Type="http://schemas.openxmlformats.org/officeDocument/2006/relationships/image" Target="../media/image47.png"/><Relationship Id="rId7" Type="http://schemas.openxmlformats.org/officeDocument/2006/relationships/image" Target="../media/image121.png"/><Relationship Id="rId8" Type="http://schemas.openxmlformats.org/officeDocument/2006/relationships/image" Target="../media/image5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3.png"/><Relationship Id="rId4" Type="http://schemas.openxmlformats.org/officeDocument/2006/relationships/image" Target="../media/image4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57.png"/><Relationship Id="rId4" Type="http://schemas.openxmlformats.org/officeDocument/2006/relationships/image" Target="../media/image5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5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6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6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5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5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5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53.png"/><Relationship Id="rId4" Type="http://schemas.openxmlformats.org/officeDocument/2006/relationships/image" Target="../media/image6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5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62.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66.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6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6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vmlDrawing" Target="../drawings/vmlDrawing1.vml"/><Relationship Id="rId4" Type="http://schemas.openxmlformats.org/officeDocument/2006/relationships/image" Target="../media/image67.png"/><Relationship Id="rId5" Type="http://schemas.openxmlformats.org/officeDocument/2006/relationships/oleObject" Target="../embeddings/oleObject1.bin"/><Relationship Id="rId6" Type="http://schemas.openxmlformats.org/officeDocument/2006/relationships/oleObject" Target="../embeddings/oleObject1.bin"/><Relationship Id="rId7" Type="http://schemas.openxmlformats.org/officeDocument/2006/relationships/image" Target="../media/image8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70.png"/><Relationship Id="rId4" Type="http://schemas.openxmlformats.org/officeDocument/2006/relationships/image" Target="../media/image5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8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69.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6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64.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7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7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6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74.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74.jpg"/><Relationship Id="rId4" Type="http://schemas.openxmlformats.org/officeDocument/2006/relationships/image" Target="../media/image73.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75.png"/><Relationship Id="rId4" Type="http://schemas.openxmlformats.org/officeDocument/2006/relationships/image" Target="../media/image67.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4.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77.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53.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image" Target="../media/image4.jp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67.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 Id="rId3" Type="http://schemas.openxmlformats.org/officeDocument/2006/relationships/image" Target="../media/image79.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 Id="rId3" Type="http://schemas.openxmlformats.org/officeDocument/2006/relationships/image" Target="../media/image64.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image" Target="../media/image67.png"/><Relationship Id="rId4" Type="http://schemas.openxmlformats.org/officeDocument/2006/relationships/image" Target="../media/image5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image67.png"/><Relationship Id="rId4" Type="http://schemas.openxmlformats.org/officeDocument/2006/relationships/image" Target="../media/image53.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image67.png"/><Relationship Id="rId4" Type="http://schemas.openxmlformats.org/officeDocument/2006/relationships/image" Target="../media/image53.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 Id="rId3" Type="http://schemas.openxmlformats.org/officeDocument/2006/relationships/image" Target="../media/image53.png"/><Relationship Id="rId4" Type="http://schemas.openxmlformats.org/officeDocument/2006/relationships/image" Target="../media/image80.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 Id="rId3" Type="http://schemas.openxmlformats.org/officeDocument/2006/relationships/image" Target="../media/image67.png"/><Relationship Id="rId4" Type="http://schemas.openxmlformats.org/officeDocument/2006/relationships/image" Target="../media/image53.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 Id="rId3" Type="http://schemas.openxmlformats.org/officeDocument/2006/relationships/image" Target="../media/image4.jp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 Id="rId3" Type="http://schemas.openxmlformats.org/officeDocument/2006/relationships/image" Target="../media/image53.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 Id="rId3" Type="http://schemas.openxmlformats.org/officeDocument/2006/relationships/image" Target="../media/image53.png"/><Relationship Id="rId4" Type="http://schemas.openxmlformats.org/officeDocument/2006/relationships/image" Target="../media/image81.jpg"/><Relationship Id="rId5" Type="http://schemas.openxmlformats.org/officeDocument/2006/relationships/image" Target="../media/image84.jp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 Id="rId3" Type="http://schemas.openxmlformats.org/officeDocument/2006/relationships/image" Target="../media/image53.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 Id="rId3" Type="http://schemas.openxmlformats.org/officeDocument/2006/relationships/image" Target="../media/image53.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 Id="rId3" Type="http://schemas.openxmlformats.org/officeDocument/2006/relationships/image" Target="../media/image90.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 Id="rId3" Type="http://schemas.openxmlformats.org/officeDocument/2006/relationships/image" Target="../media/image88.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 Id="rId3" Type="http://schemas.openxmlformats.org/officeDocument/2006/relationships/image" Target="../media/image87.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image" Target="../media/image86.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 Id="rId3" Type="http://schemas.openxmlformats.org/officeDocument/2006/relationships/image" Target="../media/image86.png"/><Relationship Id="rId4" Type="http://schemas.openxmlformats.org/officeDocument/2006/relationships/image" Target="../media/image95.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 Id="rId3" Type="http://schemas.openxmlformats.org/officeDocument/2006/relationships/image" Target="../media/image53.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 Id="rId3" Type="http://schemas.openxmlformats.org/officeDocument/2006/relationships/image" Target="../media/image91.png"/><Relationship Id="rId4" Type="http://schemas.openxmlformats.org/officeDocument/2006/relationships/image" Target="../media/image89.png"/><Relationship Id="rId5" Type="http://schemas.openxmlformats.org/officeDocument/2006/relationships/image" Target="../media/image53.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 Id="rId3" Type="http://schemas.openxmlformats.org/officeDocument/2006/relationships/image" Target="../media/image53.png"/><Relationship Id="rId4" Type="http://schemas.openxmlformats.org/officeDocument/2006/relationships/image" Target="../media/image106.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 Id="rId3" Type="http://schemas.openxmlformats.org/officeDocument/2006/relationships/image" Target="../media/image53.png"/><Relationship Id="rId4" Type="http://schemas.openxmlformats.org/officeDocument/2006/relationships/image" Target="../media/image92.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 Id="rId3" Type="http://schemas.openxmlformats.org/officeDocument/2006/relationships/image" Target="../media/image53.png"/><Relationship Id="rId4" Type="http://schemas.openxmlformats.org/officeDocument/2006/relationships/image" Target="../media/image92.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 Id="rId3" Type="http://schemas.openxmlformats.org/officeDocument/2006/relationships/image" Target="../media/image101.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 Id="rId3" Type="http://schemas.openxmlformats.org/officeDocument/2006/relationships/image" Target="../media/image10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 Id="rId3" Type="http://schemas.openxmlformats.org/officeDocument/2006/relationships/image" Target="../media/image10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 Id="rId3" Type="http://schemas.openxmlformats.org/officeDocument/2006/relationships/image" Target="../media/image53.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 Id="rId3" Type="http://schemas.openxmlformats.org/officeDocument/2006/relationships/image" Target="../media/image96.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 Id="rId3" Type="http://schemas.openxmlformats.org/officeDocument/2006/relationships/image" Target="../media/image104.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 Id="rId3" Type="http://schemas.openxmlformats.org/officeDocument/2006/relationships/image" Target="../media/image102.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 Id="rId3" Type="http://schemas.openxmlformats.org/officeDocument/2006/relationships/image" Target="../media/image107.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 Id="rId3" Type="http://schemas.openxmlformats.org/officeDocument/2006/relationships/image" Target="../media/image97.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 Id="rId3" Type="http://schemas.openxmlformats.org/officeDocument/2006/relationships/image" Target="../media/image98.png"/><Relationship Id="rId4" Type="http://schemas.openxmlformats.org/officeDocument/2006/relationships/image" Target="../media/image100.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 Id="rId3" Type="http://schemas.openxmlformats.org/officeDocument/2006/relationships/image" Target="../media/image99.jp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 Id="rId3" Type="http://schemas.openxmlformats.org/officeDocument/2006/relationships/image" Target="../media/image53.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 Id="rId3" Type="http://schemas.openxmlformats.org/officeDocument/2006/relationships/image" Target="../media/image108.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 Id="rId3" Type="http://schemas.openxmlformats.org/officeDocument/2006/relationships/image" Target="../media/image4.jp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 Id="rId3" Type="http://schemas.openxmlformats.org/officeDocument/2006/relationships/image" Target="../media/image119.jpg"/><Relationship Id="rId4" Type="http://schemas.openxmlformats.org/officeDocument/2006/relationships/image" Target="../media/image81.jpg"/><Relationship Id="rId5" Type="http://schemas.openxmlformats.org/officeDocument/2006/relationships/image" Target="../media/image84.jp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3.xml"/><Relationship Id="rId3" Type="http://schemas.openxmlformats.org/officeDocument/2006/relationships/image" Target="../media/image53.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4.xml"/><Relationship Id="rId3" Type="http://schemas.openxmlformats.org/officeDocument/2006/relationships/image" Target="../media/image53.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 Id="rId3" Type="http://schemas.openxmlformats.org/officeDocument/2006/relationships/image" Target="../media/image4.jp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 Id="rId3" Type="http://schemas.openxmlformats.org/officeDocument/2006/relationships/image" Target="../media/image53.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 Id="rId3" Type="http://schemas.openxmlformats.org/officeDocument/2006/relationships/image" Target="../media/image112.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 Id="rId3" Type="http://schemas.openxmlformats.org/officeDocument/2006/relationships/image" Target="../media/image111.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 Id="rId3" Type="http://schemas.openxmlformats.org/officeDocument/2006/relationships/image" Target="../media/image109.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 Id="rId3" Type="http://schemas.openxmlformats.org/officeDocument/2006/relationships/image" Target="../media/image115.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 Id="rId3" Type="http://schemas.openxmlformats.org/officeDocument/2006/relationships/image" Target="../media/image110.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 Id="rId3" Type="http://schemas.openxmlformats.org/officeDocument/2006/relationships/image" Target="../media/image110.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 Id="rId3" Type="http://schemas.openxmlformats.org/officeDocument/2006/relationships/image" Target="../media/image110.png"/><Relationship Id="rId4" Type="http://schemas.openxmlformats.org/officeDocument/2006/relationships/image" Target="../media/image113.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 Id="rId3" Type="http://schemas.openxmlformats.org/officeDocument/2006/relationships/image" Target="../media/image110.png"/><Relationship Id="rId4" Type="http://schemas.openxmlformats.org/officeDocument/2006/relationships/image" Target="../media/image116.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9.xml"/><Relationship Id="rId3" Type="http://schemas.openxmlformats.org/officeDocument/2006/relationships/image" Target="../media/image67.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17.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18.jp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 Id="rId3" Type="http://schemas.openxmlformats.org/officeDocument/2006/relationships/image" Target="../media/image53.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 Id="rId3" Type="http://schemas.openxmlformats.org/officeDocument/2006/relationships/image" Target="../media/image53.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 Id="rId3" Type="http://schemas.openxmlformats.org/officeDocument/2006/relationships/image" Target="../media/image53.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 Id="rId3" Type="http://schemas.openxmlformats.org/officeDocument/2006/relationships/image" Target="../media/image53.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 Id="rId3" Type="http://schemas.openxmlformats.org/officeDocument/2006/relationships/image" Target="../media/image53.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 Id="rId3" Type="http://schemas.openxmlformats.org/officeDocument/2006/relationships/image" Target="../media/image4.jp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9.xml"/><Relationship Id="rId3" Type="http://schemas.openxmlformats.org/officeDocument/2006/relationships/image" Target="../media/image53.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0.xml"/><Relationship Id="rId3" Type="http://schemas.openxmlformats.org/officeDocument/2006/relationships/image" Target="../media/image53.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
          <p:cNvSpPr/>
          <p:nvPr/>
        </p:nvSpPr>
        <p:spPr>
          <a:xfrm>
            <a:off x="7981312" y="4289908"/>
            <a:ext cx="3981504" cy="2860675"/>
          </a:xfrm>
          <a:prstGeom prst="rect">
            <a:avLst/>
          </a:prstGeom>
          <a:no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0" i="1" lang="en-US" sz="2800" u="none" cap="none" strike="noStrike">
                <a:solidFill>
                  <a:srgbClr val="0000A3"/>
                </a:solidFill>
                <a:latin typeface="Calibri"/>
                <a:ea typeface="Calibri"/>
                <a:cs typeface="Calibri"/>
                <a:sym typeface="Calibri"/>
              </a:rPr>
              <a:t>Computer Networking: A Top-Down Approach </a:t>
            </a:r>
            <a:br>
              <a:rPr b="0" i="0" lang="en-US" sz="2800" u="none" cap="none" strike="noStrike">
                <a:solidFill>
                  <a:srgbClr val="008000"/>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8</a:t>
            </a:r>
            <a:r>
              <a:rPr b="0" baseline="30000" i="0" lang="en-US" sz="1800" u="none" cap="none" strike="noStrike">
                <a:solidFill>
                  <a:schemeClr val="dk1"/>
                </a:solidFill>
                <a:latin typeface="Calibri"/>
                <a:ea typeface="Calibri"/>
                <a:cs typeface="Calibri"/>
                <a:sym typeface="Calibri"/>
              </a:rPr>
              <a:t>th</a:t>
            </a:r>
            <a:r>
              <a:rPr b="0" i="0" lang="en-US" sz="1800" u="none" cap="none" strike="noStrike">
                <a:solidFill>
                  <a:schemeClr val="dk1"/>
                </a:solidFill>
                <a:latin typeface="Calibri"/>
                <a:ea typeface="Calibri"/>
                <a:cs typeface="Calibri"/>
                <a:sym typeface="Calibri"/>
              </a:rPr>
              <a:t> edition </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Jim Kurose, Keith Ross</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Pearson, 2020</a:t>
            </a:r>
            <a:endParaRPr b="0" i="0" sz="2000" u="none" cap="none" strike="noStrike">
              <a:solidFill>
                <a:schemeClr val="dk1"/>
              </a:solidFill>
              <a:latin typeface="Calibri"/>
              <a:ea typeface="Calibri"/>
              <a:cs typeface="Calibri"/>
              <a:sym typeface="Calibri"/>
            </a:endParaRPr>
          </a:p>
        </p:txBody>
      </p:sp>
      <p:sp>
        <p:nvSpPr>
          <p:cNvPr id="110" name="Google Shape;110;p1"/>
          <p:cNvSpPr/>
          <p:nvPr/>
        </p:nvSpPr>
        <p:spPr>
          <a:xfrm>
            <a:off x="1325035" y="561975"/>
            <a:ext cx="5052616" cy="1724025"/>
          </a:xfrm>
          <a:prstGeom prst="rect">
            <a:avLst/>
          </a:prstGeom>
          <a:no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1" i="0" lang="en-US" sz="5400" u="none" cap="none" strike="noStrike">
                <a:solidFill>
                  <a:srgbClr val="000099"/>
                </a:solidFill>
                <a:latin typeface="Calibri"/>
                <a:ea typeface="Calibri"/>
                <a:cs typeface="Calibri"/>
                <a:sym typeface="Calibri"/>
              </a:rPr>
              <a:t>Chapter 3</a:t>
            </a:r>
            <a:br>
              <a:rPr b="1" i="0" lang="en-US" sz="6000" u="none" cap="none" strike="noStrike">
                <a:solidFill>
                  <a:srgbClr val="000099"/>
                </a:solidFill>
                <a:latin typeface="Calibri"/>
                <a:ea typeface="Calibri"/>
                <a:cs typeface="Calibri"/>
                <a:sym typeface="Calibri"/>
              </a:rPr>
            </a:br>
            <a:r>
              <a:rPr b="1" i="0" lang="en-US" sz="5400" u="none" cap="none" strike="noStrike">
                <a:solidFill>
                  <a:srgbClr val="000099"/>
                </a:solidFill>
                <a:latin typeface="Calibri"/>
                <a:ea typeface="Calibri"/>
                <a:cs typeface="Calibri"/>
                <a:sym typeface="Calibri"/>
              </a:rPr>
              <a:t>Transport Layer</a:t>
            </a:r>
            <a:endParaRPr/>
          </a:p>
        </p:txBody>
      </p:sp>
      <p:sp>
        <p:nvSpPr>
          <p:cNvPr id="111" name="Google Shape;111;p1"/>
          <p:cNvSpPr txBox="1"/>
          <p:nvPr/>
        </p:nvSpPr>
        <p:spPr>
          <a:xfrm>
            <a:off x="1350014" y="2647662"/>
            <a:ext cx="5378450" cy="16296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A note on the use of these PowerPoint slides:</a:t>
            </a:r>
            <a:endParaRPr/>
          </a:p>
          <a:p>
            <a:pPr indent="0" lvl="0" marL="0" marR="0" rtl="0" algn="l">
              <a:spcBef>
                <a:spcPts val="0"/>
              </a:spcBef>
              <a:spcAft>
                <a:spcPts val="0"/>
              </a:spcAft>
              <a:buNone/>
            </a:pPr>
            <a:r>
              <a:rPr b="0" i="0" lang="en-US" sz="1400" u="none" cap="none" strike="noStrike">
                <a:solidFill>
                  <a:schemeClr val="dk1"/>
                </a:solidFill>
                <a:latin typeface="Calibri"/>
                <a:ea typeface="Calibri"/>
                <a:cs typeface="Calibri"/>
                <a:sym typeface="Calibri"/>
              </a:rPr>
              <a:t>We’re making these slides freely available to all (faculty, students, readers). They’re in PowerPoint form so you see the animations; and can add, modify, and delete slides  (including this one) and slide content to suit your needs. They obviously represent a </a:t>
            </a:r>
            <a:r>
              <a:rPr b="0" i="1" lang="en-US" sz="1400" u="none" cap="none" strike="noStrike">
                <a:solidFill>
                  <a:schemeClr val="dk1"/>
                </a:solidFill>
                <a:latin typeface="Calibri"/>
                <a:ea typeface="Calibri"/>
                <a:cs typeface="Calibri"/>
                <a:sym typeface="Calibri"/>
              </a:rPr>
              <a:t>lot</a:t>
            </a:r>
            <a:r>
              <a:rPr b="0" i="0" lang="en-US" sz="1400" u="none" cap="none" strike="noStrike">
                <a:solidFill>
                  <a:schemeClr val="dk1"/>
                </a:solidFill>
                <a:latin typeface="Calibri"/>
                <a:ea typeface="Calibri"/>
                <a:cs typeface="Calibri"/>
                <a:sym typeface="Calibri"/>
              </a:rPr>
              <a:t> of work on our part. In return for use, we only ask the following:</a:t>
            </a:r>
            <a:endParaRPr/>
          </a:p>
          <a:p>
            <a:pPr indent="0" lvl="0" marL="0" marR="0" rtl="0" algn="l">
              <a:lnSpc>
                <a:spcPct val="85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12" name="Google Shape;112;p1"/>
          <p:cNvSpPr txBox="1"/>
          <p:nvPr/>
        </p:nvSpPr>
        <p:spPr>
          <a:xfrm>
            <a:off x="1325035" y="3894603"/>
            <a:ext cx="5378450" cy="2636171"/>
          </a:xfrm>
          <a:prstGeom prst="rect">
            <a:avLst/>
          </a:prstGeom>
          <a:noFill/>
          <a:ln>
            <a:noFill/>
          </a:ln>
        </p:spPr>
        <p:txBody>
          <a:bodyPr anchorCtr="0" anchor="t" bIns="45700" lIns="91425" spcFirstLastPara="1" rIns="91425" wrap="square" tIns="45700">
            <a:spAutoFit/>
          </a:bodyPr>
          <a:lstStyle/>
          <a:p>
            <a:pPr indent="-173038" lvl="0" marL="173038" marR="0" rtl="0" algn="l">
              <a:lnSpc>
                <a:spcPct val="85000"/>
              </a:lnSpc>
              <a:spcBef>
                <a:spcPts val="0"/>
              </a:spcBef>
              <a:spcAft>
                <a:spcPts val="0"/>
              </a:spcAft>
              <a:buNone/>
            </a:pPr>
            <a:r>
              <a:t/>
            </a:r>
            <a:endParaRPr b="0" i="0" sz="1400" u="none" cap="none" strike="noStrike">
              <a:solidFill>
                <a:schemeClr val="dk1"/>
              </a:solidFill>
              <a:latin typeface="Gill Sans"/>
              <a:ea typeface="Gill Sans"/>
              <a:cs typeface="Gill Sans"/>
              <a:sym typeface="Gill Sans"/>
            </a:endParaRPr>
          </a:p>
          <a:p>
            <a:pPr indent="-168275" lvl="0" marL="290513" marR="0" rtl="0" algn="l">
              <a:spcBef>
                <a:spcPts val="0"/>
              </a:spcBef>
              <a:spcAft>
                <a:spcPts val="0"/>
              </a:spcAft>
              <a:buClr>
                <a:srgbClr val="0000A8"/>
              </a:buClr>
              <a:buSzPts val="1050"/>
              <a:buFont typeface="Noto Sans Symbols"/>
              <a:buChar char="▪"/>
            </a:pPr>
            <a:r>
              <a:rPr b="0" i="0" lang="en-US" sz="1400" u="none" cap="none" strike="noStrike">
                <a:solidFill>
                  <a:schemeClr val="dk1"/>
                </a:solidFill>
                <a:latin typeface="Calibri"/>
                <a:ea typeface="Calibri"/>
                <a:cs typeface="Calibri"/>
                <a:sym typeface="Calibri"/>
              </a:rPr>
              <a:t>If you use these slides (e.g., in a class) that you mention their source (after all, we’d like people to use our book!)</a:t>
            </a:r>
            <a:endParaRPr/>
          </a:p>
          <a:p>
            <a:pPr indent="-168275" lvl="0" marL="290513" marR="0" rtl="0" algn="l">
              <a:spcBef>
                <a:spcPts val="0"/>
              </a:spcBef>
              <a:spcAft>
                <a:spcPts val="0"/>
              </a:spcAft>
              <a:buClr>
                <a:srgbClr val="0000A8"/>
              </a:buClr>
              <a:buSzPts val="1050"/>
              <a:buFont typeface="Noto Sans Symbols"/>
              <a:buChar char="▪"/>
            </a:pPr>
            <a:r>
              <a:rPr b="0" i="0" lang="en-US" sz="1400" u="none" cap="none" strike="noStrike">
                <a:solidFill>
                  <a:schemeClr val="dk1"/>
                </a:solidFill>
                <a:latin typeface="Calibri"/>
                <a:ea typeface="Calibri"/>
                <a:cs typeface="Calibri"/>
                <a:sym typeface="Calibri"/>
              </a:rPr>
              <a:t>If you post any slides on a www site, that you note that they are adapted from (or perhaps identical to) our slides, and note our copyright of this material.</a:t>
            </a:r>
            <a:endParaRPr/>
          </a:p>
          <a:p>
            <a:pPr indent="-173038" lvl="0" marL="173038" marR="0" rtl="0" algn="l">
              <a:lnSpc>
                <a:spcPct val="85000"/>
              </a:lnSpc>
              <a:spcBef>
                <a:spcPts val="0"/>
              </a:spcBef>
              <a:spcAft>
                <a:spcPts val="0"/>
              </a:spcAft>
              <a:buClr>
                <a:schemeClr val="accent2"/>
              </a:buClr>
              <a:buSzPts val="1400"/>
              <a:buFont typeface="Noto Sans Symbols"/>
              <a:buNone/>
            </a:pPr>
            <a:r>
              <a:t/>
            </a:r>
            <a:endParaRPr b="0" i="0" sz="1400" u="none" cap="none" strike="noStrike">
              <a:solidFill>
                <a:schemeClr val="dk1"/>
              </a:solidFill>
              <a:latin typeface="Calibri"/>
              <a:ea typeface="Calibri"/>
              <a:cs typeface="Calibri"/>
              <a:sym typeface="Calibri"/>
            </a:endParaRPr>
          </a:p>
          <a:p>
            <a:pPr indent="0" lvl="0" marL="15875" marR="0" rtl="0" algn="l">
              <a:lnSpc>
                <a:spcPct val="85000"/>
              </a:lnSpc>
              <a:spcBef>
                <a:spcPts val="0"/>
              </a:spcBef>
              <a:spcAft>
                <a:spcPts val="0"/>
              </a:spcAft>
              <a:buClr>
                <a:schemeClr val="accent2"/>
              </a:buClr>
              <a:buSzPts val="1400"/>
              <a:buFont typeface="Noto Sans Symbols"/>
              <a:buNone/>
            </a:pPr>
            <a:r>
              <a:rPr b="0" i="0" lang="en-US" sz="1400" u="none" cap="none" strike="noStrike">
                <a:solidFill>
                  <a:schemeClr val="dk1"/>
                </a:solidFill>
                <a:latin typeface="Calibri"/>
                <a:ea typeface="Calibri"/>
                <a:cs typeface="Calibri"/>
                <a:sym typeface="Calibri"/>
              </a:rPr>
              <a:t>For a revision history, see the slide note for this page. </a:t>
            </a:r>
            <a:endParaRPr/>
          </a:p>
          <a:p>
            <a:pPr indent="0" lvl="0" marL="15875" marR="0" rtl="0" algn="l">
              <a:lnSpc>
                <a:spcPct val="85000"/>
              </a:lnSpc>
              <a:spcBef>
                <a:spcPts val="0"/>
              </a:spcBef>
              <a:spcAft>
                <a:spcPts val="0"/>
              </a:spcAft>
              <a:buClr>
                <a:schemeClr val="accent2"/>
              </a:buClr>
              <a:buSzPts val="1400"/>
              <a:buFont typeface="Noto Sans Symbols"/>
              <a:buNone/>
            </a:pPr>
            <a:r>
              <a:t/>
            </a:r>
            <a:endParaRPr b="0" i="0" sz="1400" u="none" cap="none" strike="noStrike">
              <a:solidFill>
                <a:schemeClr val="dk1"/>
              </a:solidFill>
              <a:latin typeface="Calibri"/>
              <a:ea typeface="Calibri"/>
              <a:cs typeface="Calibri"/>
              <a:sym typeface="Calibri"/>
            </a:endParaRPr>
          </a:p>
          <a:p>
            <a:pPr indent="0" lvl="0" marL="15875" marR="0" rtl="0" algn="l">
              <a:lnSpc>
                <a:spcPct val="85000"/>
              </a:lnSpc>
              <a:spcBef>
                <a:spcPts val="0"/>
              </a:spcBef>
              <a:spcAft>
                <a:spcPts val="0"/>
              </a:spcAft>
              <a:buClr>
                <a:schemeClr val="accent2"/>
              </a:buClr>
              <a:buSzPts val="1400"/>
              <a:buFont typeface="Noto Sans Symbols"/>
              <a:buNone/>
            </a:pPr>
            <a:r>
              <a:rPr b="0" i="0" lang="en-US" sz="1400" u="none" cap="none" strike="noStrike">
                <a:solidFill>
                  <a:schemeClr val="dk1"/>
                </a:solidFill>
                <a:latin typeface="Calibri"/>
                <a:ea typeface="Calibri"/>
                <a:cs typeface="Calibri"/>
                <a:sym typeface="Calibri"/>
              </a:rPr>
              <a:t>Thanks and enjoy!  JFK/KWR</a:t>
            </a:r>
            <a:endParaRPr/>
          </a:p>
          <a:p>
            <a:pPr indent="-173038" lvl="0" marL="173038" marR="0" rtl="0" algn="l">
              <a:lnSpc>
                <a:spcPct val="85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173038" lvl="0" marL="173038" marR="0" rtl="0" algn="l">
              <a:lnSpc>
                <a:spcPct val="85000"/>
              </a:lnSpc>
              <a:spcBef>
                <a:spcPts val="0"/>
              </a:spcBef>
              <a:spcAft>
                <a:spcPts val="0"/>
              </a:spcAft>
              <a:buNone/>
            </a:pPr>
            <a:r>
              <a:rPr b="0" i="0" lang="en-US" sz="1400" u="none" cap="none" strike="noStrike">
                <a:solidFill>
                  <a:schemeClr val="dk1"/>
                </a:solidFill>
                <a:latin typeface="Calibri"/>
                <a:ea typeface="Calibri"/>
                <a:cs typeface="Calibri"/>
                <a:sym typeface="Calibri"/>
              </a:rPr>
              <a:t>     All material copyright 1996-2020</a:t>
            </a:r>
            <a:endParaRPr/>
          </a:p>
          <a:p>
            <a:pPr indent="-173038" lvl="0" marL="173038" marR="0" rtl="0" algn="l">
              <a:lnSpc>
                <a:spcPct val="85000"/>
              </a:lnSpc>
              <a:spcBef>
                <a:spcPts val="0"/>
              </a:spcBef>
              <a:spcAft>
                <a:spcPts val="0"/>
              </a:spcAft>
              <a:buNone/>
            </a:pPr>
            <a:r>
              <a:rPr b="0" i="0" lang="en-US" sz="1400" u="none" cap="none" strike="noStrike">
                <a:solidFill>
                  <a:schemeClr val="dk1"/>
                </a:solidFill>
                <a:latin typeface="Calibri"/>
                <a:ea typeface="Calibri"/>
                <a:cs typeface="Calibri"/>
                <a:sym typeface="Calibri"/>
              </a:rPr>
              <a:t>     J.F Kurose and K.W. Ross, All Rights Reserved</a:t>
            </a:r>
            <a:endParaRPr b="0" i="0" sz="1200" u="none" cap="none" strike="noStrike">
              <a:solidFill>
                <a:schemeClr val="dk1"/>
              </a:solidFill>
              <a:latin typeface="Calibri"/>
              <a:ea typeface="Calibri"/>
              <a:cs typeface="Calibri"/>
              <a:sym typeface="Calibri"/>
            </a:endParaRPr>
          </a:p>
        </p:txBody>
      </p:sp>
      <p:sp>
        <p:nvSpPr>
          <p:cNvPr id="113" name="Google Shape;113;p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descr="A picture containing outdoor, water, bridge, building&#10;&#10;Description automatically generated" id="114" name="Google Shape;114;p1"/>
          <p:cNvPicPr preferRelativeResize="0"/>
          <p:nvPr/>
        </p:nvPicPr>
        <p:blipFill rotWithShape="1">
          <a:blip r:embed="rId3">
            <a:alphaModFix/>
          </a:blip>
          <a:srcRect b="0" l="0" r="0" t="0"/>
          <a:stretch/>
        </p:blipFill>
        <p:spPr>
          <a:xfrm>
            <a:off x="8135257" y="887185"/>
            <a:ext cx="3040743" cy="380092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overview</a:t>
            </a:r>
            <a:endParaRPr sz="4400"/>
          </a:p>
        </p:txBody>
      </p:sp>
      <p:sp>
        <p:nvSpPr>
          <p:cNvPr id="121" name="Google Shape;121;p2"/>
          <p:cNvSpPr txBox="1"/>
          <p:nvPr>
            <p:ph idx="1" type="body"/>
          </p:nvPr>
        </p:nvSpPr>
        <p:spPr>
          <a:xfrm>
            <a:off x="781763" y="1253331"/>
            <a:ext cx="4842088" cy="4351338"/>
          </a:xfrm>
          <a:prstGeom prst="rect">
            <a:avLst/>
          </a:prstGeom>
          <a:noFill/>
          <a:ln>
            <a:noFill/>
          </a:ln>
        </p:spPr>
        <p:txBody>
          <a:bodyPr anchorCtr="0" anchor="t" bIns="45700" lIns="91425" spcFirstLastPara="1" rIns="91425" wrap="square" tIns="45700">
            <a:noAutofit/>
          </a:bodyPr>
          <a:lstStyle/>
          <a:p>
            <a:pPr indent="0" lvl="0" marL="11113" rtl="0" algn="l">
              <a:lnSpc>
                <a:spcPct val="90000"/>
              </a:lnSpc>
              <a:spcBef>
                <a:spcPts val="0"/>
              </a:spcBef>
              <a:spcAft>
                <a:spcPts val="0"/>
              </a:spcAft>
              <a:buSzPts val="3200"/>
              <a:buNone/>
            </a:pPr>
            <a:r>
              <a:rPr i="1" lang="en-US" sz="3200">
                <a:solidFill>
                  <a:srgbClr val="CC0000"/>
                </a:solidFill>
                <a:latin typeface="Calibri"/>
                <a:ea typeface="Calibri"/>
                <a:cs typeface="Calibri"/>
                <a:sym typeface="Calibri"/>
              </a:rPr>
              <a:t>Our goal:</a:t>
            </a:r>
            <a:r>
              <a:rPr i="1" lang="en-US" sz="3200">
                <a:latin typeface="Calibri"/>
                <a:ea typeface="Calibri"/>
                <a:cs typeface="Calibri"/>
                <a:sym typeface="Calibri"/>
              </a:rPr>
              <a:t> </a:t>
            </a:r>
            <a:endParaRPr/>
          </a:p>
          <a:p>
            <a:pPr indent="-285750" lvl="0" marL="400050" rtl="0" algn="l">
              <a:lnSpc>
                <a:spcPct val="90000"/>
              </a:lnSpc>
              <a:spcBef>
                <a:spcPts val="1000"/>
              </a:spcBef>
              <a:spcAft>
                <a:spcPts val="0"/>
              </a:spcAft>
              <a:buSzPts val="3200"/>
              <a:buFont typeface="Noto Sans Symbols"/>
              <a:buChar char="▪"/>
            </a:pPr>
            <a:r>
              <a:rPr lang="en-US" sz="3200"/>
              <a:t>understand principles behind transport layer services:</a:t>
            </a:r>
            <a:endParaRPr/>
          </a:p>
          <a:p>
            <a:pPr indent="-231775" lvl="1" marL="695325" rtl="0" algn="l">
              <a:lnSpc>
                <a:spcPct val="90000"/>
              </a:lnSpc>
              <a:spcBef>
                <a:spcPts val="500"/>
              </a:spcBef>
              <a:spcAft>
                <a:spcPts val="0"/>
              </a:spcAft>
              <a:buSzPts val="2800"/>
              <a:buFont typeface="Arial"/>
              <a:buChar char="•"/>
            </a:pPr>
            <a:r>
              <a:rPr lang="en-US" sz="2800"/>
              <a:t>multiplexing, demultiplexing</a:t>
            </a:r>
            <a:endParaRPr/>
          </a:p>
          <a:p>
            <a:pPr indent="-231775" lvl="1" marL="695325" rtl="0" algn="l">
              <a:lnSpc>
                <a:spcPct val="90000"/>
              </a:lnSpc>
              <a:spcBef>
                <a:spcPts val="500"/>
              </a:spcBef>
              <a:spcAft>
                <a:spcPts val="0"/>
              </a:spcAft>
              <a:buSzPts val="2800"/>
              <a:buFont typeface="Arial"/>
              <a:buChar char="•"/>
            </a:pPr>
            <a:r>
              <a:rPr lang="en-US" sz="2800"/>
              <a:t>reliable data transfer</a:t>
            </a:r>
            <a:endParaRPr/>
          </a:p>
          <a:p>
            <a:pPr indent="-231775" lvl="1" marL="695325" rtl="0" algn="l">
              <a:lnSpc>
                <a:spcPct val="90000"/>
              </a:lnSpc>
              <a:spcBef>
                <a:spcPts val="500"/>
              </a:spcBef>
              <a:spcAft>
                <a:spcPts val="0"/>
              </a:spcAft>
              <a:buSzPts val="2800"/>
              <a:buFont typeface="Arial"/>
              <a:buChar char="•"/>
            </a:pPr>
            <a:r>
              <a:rPr lang="en-US" sz="2800"/>
              <a:t>flow control</a:t>
            </a:r>
            <a:endParaRPr/>
          </a:p>
          <a:p>
            <a:pPr indent="-231775" lvl="1" marL="695325" rtl="0" algn="l">
              <a:lnSpc>
                <a:spcPct val="90000"/>
              </a:lnSpc>
              <a:spcBef>
                <a:spcPts val="500"/>
              </a:spcBef>
              <a:spcAft>
                <a:spcPts val="0"/>
              </a:spcAft>
              <a:buSzPts val="2800"/>
              <a:buFont typeface="Arial"/>
              <a:buChar char="•"/>
            </a:pPr>
            <a:r>
              <a:rPr lang="en-US" sz="2800"/>
              <a:t>congestion control</a:t>
            </a:r>
            <a:endParaRPr sz="3200"/>
          </a:p>
          <a:p>
            <a:pPr indent="-44450" lvl="0" marL="352425" rtl="0" algn="l">
              <a:lnSpc>
                <a:spcPct val="90000"/>
              </a:lnSpc>
              <a:spcBef>
                <a:spcPts val="1000"/>
              </a:spcBef>
              <a:spcAft>
                <a:spcPts val="0"/>
              </a:spcAft>
              <a:buSzPts val="2800"/>
              <a:buNone/>
            </a:pPr>
            <a:r>
              <a:t/>
            </a:r>
            <a:endParaRPr/>
          </a:p>
        </p:txBody>
      </p:sp>
      <p:sp>
        <p:nvSpPr>
          <p:cNvPr id="122" name="Google Shape;122;p2"/>
          <p:cNvSpPr txBox="1"/>
          <p:nvPr>
            <p:ph idx="2" type="body"/>
          </p:nvPr>
        </p:nvSpPr>
        <p:spPr>
          <a:xfrm>
            <a:off x="5968416" y="1815962"/>
            <a:ext cx="5994400" cy="4799013"/>
          </a:xfrm>
          <a:prstGeom prst="rect">
            <a:avLst/>
          </a:prstGeom>
          <a:noFill/>
          <a:ln>
            <a:noFill/>
          </a:ln>
        </p:spPr>
        <p:txBody>
          <a:bodyPr anchorCtr="0" anchor="t" bIns="45700" lIns="91425" spcFirstLastPara="1" rIns="91425" wrap="square" tIns="45700">
            <a:normAutofit/>
          </a:bodyPr>
          <a:lstStyle/>
          <a:p>
            <a:pPr indent="-285750" lvl="0" marL="457200" rtl="0" algn="l">
              <a:lnSpc>
                <a:spcPct val="90000"/>
              </a:lnSpc>
              <a:spcBef>
                <a:spcPts val="0"/>
              </a:spcBef>
              <a:spcAft>
                <a:spcPts val="0"/>
              </a:spcAft>
              <a:buSzPts val="3200"/>
              <a:buFont typeface="Noto Sans Symbols"/>
              <a:buChar char="▪"/>
            </a:pPr>
            <a:r>
              <a:rPr lang="en-US" sz="3200"/>
              <a:t>learn about Internet transport layer protocols:</a:t>
            </a:r>
            <a:endParaRPr/>
          </a:p>
          <a:p>
            <a:pPr indent="-231775" lvl="1" marL="695325" rtl="0" algn="l">
              <a:lnSpc>
                <a:spcPct val="90000"/>
              </a:lnSpc>
              <a:spcBef>
                <a:spcPts val="500"/>
              </a:spcBef>
              <a:spcAft>
                <a:spcPts val="0"/>
              </a:spcAft>
              <a:buSzPts val="2800"/>
              <a:buFont typeface="Arial"/>
              <a:buChar char="•"/>
            </a:pPr>
            <a:r>
              <a:rPr lang="en-US" sz="2800"/>
              <a:t>UDP: connectionless transport</a:t>
            </a:r>
            <a:endParaRPr/>
          </a:p>
          <a:p>
            <a:pPr indent="-231775" lvl="1" marL="695325" rtl="0" algn="l">
              <a:lnSpc>
                <a:spcPct val="90000"/>
              </a:lnSpc>
              <a:spcBef>
                <a:spcPts val="500"/>
              </a:spcBef>
              <a:spcAft>
                <a:spcPts val="0"/>
              </a:spcAft>
              <a:buSzPts val="2800"/>
              <a:buFont typeface="Arial"/>
              <a:buChar char="•"/>
            </a:pPr>
            <a:r>
              <a:rPr lang="en-US" sz="2800"/>
              <a:t>TCP: connection-oriented reliable transport</a:t>
            </a:r>
            <a:endParaRPr/>
          </a:p>
          <a:p>
            <a:pPr indent="-231775" lvl="1" marL="695325" rtl="0" algn="l">
              <a:lnSpc>
                <a:spcPct val="90000"/>
              </a:lnSpc>
              <a:spcBef>
                <a:spcPts val="500"/>
              </a:spcBef>
              <a:spcAft>
                <a:spcPts val="0"/>
              </a:spcAft>
              <a:buSzPts val="2800"/>
              <a:buFont typeface="Arial"/>
              <a:buChar char="•"/>
            </a:pPr>
            <a:r>
              <a:rPr lang="en-US" sz="2800"/>
              <a:t>TCP congestion control</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123" name="Google Shape;123;p2"/>
          <p:cNvSpPr txBox="1"/>
          <p:nvPr>
            <p:ph idx="12" type="sldNum"/>
          </p:nvPr>
        </p:nvSpPr>
        <p:spPr>
          <a:xfrm>
            <a:off x="9219616" y="645466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3"/>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roadmap</a:t>
            </a:r>
            <a:endParaRPr sz="4400"/>
          </a:p>
        </p:txBody>
      </p:sp>
      <p:sp>
        <p:nvSpPr>
          <p:cNvPr id="130" name="Google Shape;130;p3"/>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SzPts val="3200"/>
              <a:buChar char="▪"/>
            </a:pPr>
            <a:r>
              <a:rPr lang="en-US" sz="3200">
                <a:solidFill>
                  <a:srgbClr val="C00000"/>
                </a:solidFill>
              </a:rPr>
              <a:t>Transport-layer services</a:t>
            </a:r>
            <a:endParaRPr/>
          </a:p>
          <a:p>
            <a:pPr indent="-285750" lvl="0" marL="403225" rtl="0" algn="l">
              <a:lnSpc>
                <a:spcPct val="90000"/>
              </a:lnSpc>
              <a:spcBef>
                <a:spcPts val="800"/>
              </a:spcBef>
              <a:spcAft>
                <a:spcPts val="0"/>
              </a:spcAft>
              <a:buSzPts val="3200"/>
              <a:buChar char="▪"/>
            </a:pPr>
            <a:r>
              <a:rPr lang="en-US" sz="3200"/>
              <a:t>Multiplexing and demultiplexing</a:t>
            </a:r>
            <a:endParaRPr/>
          </a:p>
          <a:p>
            <a:pPr indent="-285750" lvl="0" marL="403225" rtl="0" algn="l">
              <a:lnSpc>
                <a:spcPct val="90000"/>
              </a:lnSpc>
              <a:spcBef>
                <a:spcPts val="800"/>
              </a:spcBef>
              <a:spcAft>
                <a:spcPts val="0"/>
              </a:spcAft>
              <a:buSzPts val="3200"/>
              <a:buChar char="▪"/>
            </a:pPr>
            <a:r>
              <a:rPr lang="en-US" sz="3200"/>
              <a:t>Connectionless transport: UDP</a:t>
            </a:r>
            <a:endParaRPr/>
          </a:p>
          <a:p>
            <a:pPr indent="-285750" lvl="0" marL="403225" rtl="0" algn="l">
              <a:lnSpc>
                <a:spcPct val="90000"/>
              </a:lnSpc>
              <a:spcBef>
                <a:spcPts val="800"/>
              </a:spcBef>
              <a:spcAft>
                <a:spcPts val="0"/>
              </a:spcAft>
              <a:buSzPts val="3200"/>
              <a:buChar char="▪"/>
            </a:pPr>
            <a:r>
              <a:rPr lang="en-US" sz="3200"/>
              <a:t>Principles of reliable data transfer </a:t>
            </a:r>
            <a:endParaRPr/>
          </a:p>
          <a:p>
            <a:pPr indent="-285750" lvl="0" marL="403225" rtl="0" algn="l">
              <a:lnSpc>
                <a:spcPct val="90000"/>
              </a:lnSpc>
              <a:spcBef>
                <a:spcPts val="800"/>
              </a:spcBef>
              <a:spcAft>
                <a:spcPts val="0"/>
              </a:spcAft>
              <a:buSzPts val="3200"/>
              <a:buChar char="▪"/>
            </a:pPr>
            <a:r>
              <a:rPr lang="en-US" sz="3200"/>
              <a:t>Connection-oriented transport: TCP</a:t>
            </a:r>
            <a:endParaRPr/>
          </a:p>
          <a:p>
            <a:pPr indent="-285750" lvl="0" marL="403225" rtl="0" algn="l">
              <a:lnSpc>
                <a:spcPct val="90000"/>
              </a:lnSpc>
              <a:spcBef>
                <a:spcPts val="800"/>
              </a:spcBef>
              <a:spcAft>
                <a:spcPts val="0"/>
              </a:spcAft>
              <a:buSzPts val="3200"/>
              <a:buChar char="▪"/>
            </a:pPr>
            <a:r>
              <a:rPr lang="en-US" sz="3200"/>
              <a:t>Principles of congestion control</a:t>
            </a:r>
            <a:endParaRPr/>
          </a:p>
          <a:p>
            <a:pPr indent="-285750" lvl="0" marL="403225" rtl="0" algn="l">
              <a:lnSpc>
                <a:spcPct val="90000"/>
              </a:lnSpc>
              <a:spcBef>
                <a:spcPts val="800"/>
              </a:spcBef>
              <a:spcAft>
                <a:spcPts val="0"/>
              </a:spcAft>
              <a:buSzPts val="3200"/>
              <a:buChar char="▪"/>
            </a:pPr>
            <a:r>
              <a:rPr lang="en-US" sz="3200"/>
              <a:t>TCP congestion control</a:t>
            </a:r>
            <a:endParaRPr/>
          </a:p>
          <a:p>
            <a:pPr indent="-285750" lvl="0" marL="403225" rtl="0" algn="l">
              <a:lnSpc>
                <a:spcPct val="90000"/>
              </a:lnSpc>
              <a:spcBef>
                <a:spcPts val="800"/>
              </a:spcBef>
              <a:spcAft>
                <a:spcPts val="0"/>
              </a:spcAft>
              <a:buSzPts val="3200"/>
              <a:buChar char="▪"/>
            </a:pPr>
            <a:r>
              <a:rPr lang="en-US" sz="3200"/>
              <a:t>Evolution of transport-layer functionality</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131" name="Google Shape;131;p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descr="A train crossing a bridge over a body of water&#10;&#10;Description automatically generated" id="132" name="Google Shape;132;p3"/>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4"/>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services and protocols</a:t>
            </a:r>
            <a:endParaRPr sz="4400"/>
          </a:p>
        </p:txBody>
      </p:sp>
      <p:sp>
        <p:nvSpPr>
          <p:cNvPr id="139" name="Google Shape;139;p4"/>
          <p:cNvSpPr txBox="1"/>
          <p:nvPr/>
        </p:nvSpPr>
        <p:spPr>
          <a:xfrm>
            <a:off x="681218" y="1443831"/>
            <a:ext cx="5815703" cy="1621947"/>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provide</a:t>
            </a:r>
            <a:r>
              <a:rPr b="0" i="1" lang="en-US" sz="2800" u="none" cap="none" strike="noStrike">
                <a:solidFill>
                  <a:srgbClr val="FF0000"/>
                </a:solidFill>
                <a:latin typeface="Calibri"/>
                <a:ea typeface="Calibri"/>
                <a:cs typeface="Calibri"/>
                <a:sym typeface="Calibri"/>
              </a:rPr>
              <a:t> </a:t>
            </a:r>
            <a:r>
              <a:rPr b="0" i="1" lang="en-US" sz="2800" u="none" cap="none" strike="noStrike">
                <a:solidFill>
                  <a:srgbClr val="CC0000"/>
                </a:solidFill>
                <a:latin typeface="Calibri"/>
                <a:ea typeface="Calibri"/>
                <a:cs typeface="Calibri"/>
                <a:sym typeface="Calibri"/>
              </a:rPr>
              <a:t>logical communication</a:t>
            </a:r>
            <a:r>
              <a:rPr b="0" i="0" lang="en-US" sz="2800" u="none" cap="none" strike="noStrike">
                <a:solidFill>
                  <a:srgbClr val="000000"/>
                </a:solidFill>
                <a:latin typeface="Calibri"/>
                <a:ea typeface="Calibri"/>
                <a:cs typeface="Calibri"/>
                <a:sym typeface="Calibri"/>
              </a:rPr>
              <a:t> between application processes running on different hosts</a:t>
            </a:r>
            <a:endParaRPr/>
          </a:p>
        </p:txBody>
      </p:sp>
      <p:sp>
        <p:nvSpPr>
          <p:cNvPr id="140" name="Google Shape;140;p4"/>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1" name="Google Shape;141;p4"/>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42" name="Google Shape;142;p4"/>
          <p:cNvGrpSpPr/>
          <p:nvPr/>
        </p:nvGrpSpPr>
        <p:grpSpPr>
          <a:xfrm>
            <a:off x="7205350" y="3289251"/>
            <a:ext cx="1458912" cy="933450"/>
            <a:chOff x="2889" y="1631"/>
            <a:chExt cx="980" cy="743"/>
          </a:xfrm>
        </p:grpSpPr>
        <p:sp>
          <p:nvSpPr>
            <p:cNvPr id="143" name="Google Shape;143;p4"/>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44" name="Google Shape;144;p4"/>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145" name="Google Shape;145;p4"/>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46" name="Google Shape;146;p4"/>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a:p>
        </p:txBody>
      </p:sp>
      <p:sp>
        <p:nvSpPr>
          <p:cNvPr id="147" name="Google Shape;147;p4"/>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home network</a:t>
            </a:r>
            <a:endParaRPr/>
          </a:p>
        </p:txBody>
      </p:sp>
      <p:sp>
        <p:nvSpPr>
          <p:cNvPr id="148" name="Google Shape;148;p4"/>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sp>
        <p:nvSpPr>
          <p:cNvPr id="149" name="Google Shape;149;p4"/>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50" name="Google Shape;150;p4"/>
          <p:cNvGrpSpPr/>
          <p:nvPr/>
        </p:nvGrpSpPr>
        <p:grpSpPr>
          <a:xfrm>
            <a:off x="10837700" y="3928050"/>
            <a:ext cx="687393" cy="721548"/>
            <a:chOff x="5203089" y="1751190"/>
            <a:chExt cx="858331" cy="662414"/>
          </a:xfrm>
        </p:grpSpPr>
        <p:sp>
          <p:nvSpPr>
            <p:cNvPr id="151" name="Google Shape;151;p4"/>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2" name="Google Shape;152;p4"/>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53" name="Google Shape;153;p4"/>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54" name="Google Shape;154;p4"/>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55" name="Google Shape;155;p4"/>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56" name="Google Shape;156;p4"/>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57" name="Google Shape;157;p4"/>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58" name="Google Shape;158;p4"/>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159" name="Google Shape;159;p4"/>
          <p:cNvGrpSpPr/>
          <p:nvPr/>
        </p:nvGrpSpPr>
        <p:grpSpPr>
          <a:xfrm>
            <a:off x="10771171" y="3194171"/>
            <a:ext cx="594613" cy="648336"/>
            <a:chOff x="5203089" y="1751190"/>
            <a:chExt cx="858331" cy="662414"/>
          </a:xfrm>
        </p:grpSpPr>
        <p:sp>
          <p:nvSpPr>
            <p:cNvPr id="160" name="Google Shape;160;p4"/>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1" name="Google Shape;161;p4"/>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62" name="Google Shape;162;p4"/>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63" name="Google Shape;163;p4"/>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64" name="Google Shape;164;p4"/>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65" name="Google Shape;165;p4"/>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66" name="Google Shape;166;p4"/>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67" name="Google Shape;167;p4"/>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168" name="Google Shape;168;p4"/>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9" name="Google Shape;169;p4"/>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a:p>
        </p:txBody>
      </p:sp>
      <p:sp>
        <p:nvSpPr>
          <p:cNvPr id="170" name="Google Shape;170;p4"/>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1" name="Google Shape;171;p4"/>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local or regional ISP</a:t>
            </a:r>
            <a:endParaRPr/>
          </a:p>
        </p:txBody>
      </p:sp>
      <p:sp>
        <p:nvSpPr>
          <p:cNvPr id="172" name="Google Shape;172;p4"/>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a:p>
        </p:txBody>
      </p:sp>
      <p:sp>
        <p:nvSpPr>
          <p:cNvPr id="173" name="Google Shape;173;p4"/>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content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provider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000" u="none" cap="none" strike="noStrike">
              <a:solidFill>
                <a:srgbClr val="000000"/>
              </a:solidFill>
              <a:latin typeface="Calibri"/>
              <a:ea typeface="Calibri"/>
              <a:cs typeface="Calibri"/>
              <a:sym typeface="Calibri"/>
            </a:endParaRPr>
          </a:p>
        </p:txBody>
      </p:sp>
      <p:cxnSp>
        <p:nvCxnSpPr>
          <p:cNvPr id="174" name="Google Shape;174;p4"/>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175" name="Google Shape;175;p4"/>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176" name="Google Shape;176;p4"/>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177" name="Google Shape;177;p4"/>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178" name="Google Shape;178;p4"/>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179" name="Google Shape;179;p4"/>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80" name="Google Shape;180;p4"/>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81" name="Google Shape;181;p4"/>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182" name="Google Shape;182;p4"/>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183" name="Google Shape;183;p4"/>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184" name="Google Shape;184;p4"/>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185" name="Google Shape;185;p4"/>
          <p:cNvGrpSpPr/>
          <p:nvPr/>
        </p:nvGrpSpPr>
        <p:grpSpPr>
          <a:xfrm>
            <a:off x="7562238" y="2127325"/>
            <a:ext cx="3578867" cy="3640284"/>
            <a:chOff x="7562238" y="2127325"/>
            <a:chExt cx="3578867" cy="3640284"/>
          </a:xfrm>
        </p:grpSpPr>
        <p:grpSp>
          <p:nvGrpSpPr>
            <p:cNvPr id="186" name="Google Shape;186;p4"/>
            <p:cNvGrpSpPr/>
            <p:nvPr/>
          </p:nvGrpSpPr>
          <p:grpSpPr>
            <a:xfrm>
              <a:off x="7857253" y="2127325"/>
              <a:ext cx="3283852" cy="3640284"/>
              <a:chOff x="7881336" y="2104198"/>
              <a:chExt cx="3283852" cy="3640284"/>
            </a:xfrm>
          </p:grpSpPr>
          <p:cxnSp>
            <p:nvCxnSpPr>
              <p:cNvPr id="187" name="Google Shape;187;p4"/>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188" name="Google Shape;188;p4"/>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189" name="Google Shape;189;p4"/>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190" name="Google Shape;190;p4"/>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191" name="Google Shape;191;p4"/>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192" name="Google Shape;192;p4"/>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193" name="Google Shape;193;p4"/>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194" name="Google Shape;194;p4"/>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195" name="Google Shape;195;p4"/>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196" name="Google Shape;196;p4"/>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197" name="Google Shape;197;p4"/>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198" name="Google Shape;198;p4"/>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199" name="Google Shape;199;p4"/>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200" name="Google Shape;200;p4"/>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201" name="Google Shape;201;p4"/>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202" name="Google Shape;202;p4"/>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203" name="Google Shape;203;p4"/>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204" name="Google Shape;204;p4"/>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205" name="Google Shape;205;p4"/>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206" name="Google Shape;206;p4"/>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207" name="Google Shape;207;p4"/>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208" name="Google Shape;208;p4"/>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209" name="Google Shape;209;p4"/>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210" name="Google Shape;210;p4"/>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211" name="Google Shape;211;p4"/>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212" name="Google Shape;212;p4"/>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213" name="Google Shape;213;p4"/>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214" name="Google Shape;214;p4"/>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cxnSp>
        <p:nvCxnSpPr>
          <p:cNvPr id="215" name="Google Shape;215;p4"/>
          <p:cNvCxnSpPr/>
          <p:nvPr/>
        </p:nvCxnSpPr>
        <p:spPr>
          <a:xfrm>
            <a:off x="8207860" y="2700359"/>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216" name="Google Shape;216;p4"/>
          <p:cNvGrpSpPr/>
          <p:nvPr/>
        </p:nvGrpSpPr>
        <p:grpSpPr>
          <a:xfrm>
            <a:off x="8050698" y="2309376"/>
            <a:ext cx="298450" cy="464008"/>
            <a:chOff x="3130" y="3288"/>
            <a:chExt cx="410" cy="742"/>
          </a:xfrm>
        </p:grpSpPr>
        <p:cxnSp>
          <p:nvCxnSpPr>
            <p:cNvPr id="217" name="Google Shape;217;p4"/>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218" name="Google Shape;218;p4"/>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219" name="Google Shape;219;p4"/>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220" name="Google Shape;220;p4"/>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221" name="Google Shape;221;p4"/>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222" name="Google Shape;222;p4"/>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223" name="Google Shape;223;p4"/>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224" name="Google Shape;224;p4"/>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225" name="Google Shape;225;p4"/>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226" name="Google Shape;226;p4"/>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227" name="Google Shape;227;p4"/>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228" name="Google Shape;228;p4"/>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229" name="Google Shape;229;p4"/>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230" name="Google Shape;230;p4"/>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231" name="Google Shape;231;p4"/>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232" name="Google Shape;232;p4"/>
          <p:cNvPicPr preferRelativeResize="0"/>
          <p:nvPr/>
        </p:nvPicPr>
        <p:blipFill rotWithShape="1">
          <a:blip r:embed="rId6">
            <a:alphaModFix/>
          </a:blip>
          <a:srcRect b="0" l="0" r="0" t="0"/>
          <a:stretch/>
        </p:blipFill>
        <p:spPr>
          <a:xfrm>
            <a:off x="7613882" y="3861899"/>
            <a:ext cx="370169" cy="306751"/>
          </a:xfrm>
          <a:prstGeom prst="rect">
            <a:avLst/>
          </a:prstGeom>
          <a:noFill/>
          <a:ln>
            <a:noFill/>
          </a:ln>
        </p:spPr>
      </p:pic>
      <p:pic>
        <p:nvPicPr>
          <p:cNvPr descr="access_point_stylized_small" id="233" name="Google Shape;233;p4"/>
          <p:cNvPicPr preferRelativeResize="0"/>
          <p:nvPr/>
        </p:nvPicPr>
        <p:blipFill rotWithShape="1">
          <a:blip r:embed="rId6">
            <a:alphaModFix/>
          </a:blip>
          <a:srcRect b="0" l="0" r="0" t="0"/>
          <a:stretch/>
        </p:blipFill>
        <p:spPr>
          <a:xfrm>
            <a:off x="9290610" y="5524232"/>
            <a:ext cx="380935" cy="317464"/>
          </a:xfrm>
          <a:prstGeom prst="rect">
            <a:avLst/>
          </a:prstGeom>
          <a:noFill/>
          <a:ln>
            <a:noFill/>
          </a:ln>
        </p:spPr>
      </p:pic>
      <p:grpSp>
        <p:nvGrpSpPr>
          <p:cNvPr id="234" name="Google Shape;234;p4"/>
          <p:cNvGrpSpPr/>
          <p:nvPr/>
        </p:nvGrpSpPr>
        <p:grpSpPr>
          <a:xfrm>
            <a:off x="9783558" y="4989983"/>
            <a:ext cx="393760" cy="218578"/>
            <a:chOff x="7493876" y="2774731"/>
            <a:chExt cx="1481958" cy="894622"/>
          </a:xfrm>
        </p:grpSpPr>
        <p:sp>
          <p:nvSpPr>
            <p:cNvPr id="235" name="Google Shape;235;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36" name="Google Shape;236;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37" name="Google Shape;237;p4"/>
            <p:cNvGrpSpPr/>
            <p:nvPr/>
          </p:nvGrpSpPr>
          <p:grpSpPr>
            <a:xfrm>
              <a:off x="7713663" y="2848339"/>
              <a:ext cx="1042107" cy="425543"/>
              <a:chOff x="7786941" y="2884917"/>
              <a:chExt cx="897649" cy="353919"/>
            </a:xfrm>
          </p:grpSpPr>
          <p:sp>
            <p:nvSpPr>
              <p:cNvPr id="238" name="Google Shape;238;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9" name="Google Shape;239;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0" name="Google Shape;240;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1" name="Google Shape;241;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42" name="Google Shape;242;p4"/>
          <p:cNvGrpSpPr/>
          <p:nvPr/>
        </p:nvGrpSpPr>
        <p:grpSpPr>
          <a:xfrm>
            <a:off x="9849365" y="5339037"/>
            <a:ext cx="309740" cy="190838"/>
            <a:chOff x="3668110" y="2448910"/>
            <a:chExt cx="3794234" cy="2165130"/>
          </a:xfrm>
        </p:grpSpPr>
        <p:sp>
          <p:nvSpPr>
            <p:cNvPr id="243" name="Google Shape;243;p4"/>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4" name="Google Shape;244;p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45" name="Google Shape;245;p4"/>
            <p:cNvGrpSpPr/>
            <p:nvPr/>
          </p:nvGrpSpPr>
          <p:grpSpPr>
            <a:xfrm>
              <a:off x="3941378" y="2603243"/>
              <a:ext cx="3202061" cy="1066110"/>
              <a:chOff x="7939341" y="3037317"/>
              <a:chExt cx="897649" cy="353919"/>
            </a:xfrm>
          </p:grpSpPr>
          <p:sp>
            <p:nvSpPr>
              <p:cNvPr id="246" name="Google Shape;246;p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7" name="Google Shape;247;p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8" name="Google Shape;248;p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9" name="Google Shape;249;p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50" name="Google Shape;250;p4"/>
          <p:cNvGrpSpPr/>
          <p:nvPr/>
        </p:nvGrpSpPr>
        <p:grpSpPr>
          <a:xfrm>
            <a:off x="8676619" y="4967420"/>
            <a:ext cx="393760" cy="218578"/>
            <a:chOff x="7493876" y="2774731"/>
            <a:chExt cx="1481958" cy="894622"/>
          </a:xfrm>
        </p:grpSpPr>
        <p:sp>
          <p:nvSpPr>
            <p:cNvPr id="251" name="Google Shape;251;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2" name="Google Shape;252;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3" name="Google Shape;253;p4"/>
            <p:cNvGrpSpPr/>
            <p:nvPr/>
          </p:nvGrpSpPr>
          <p:grpSpPr>
            <a:xfrm>
              <a:off x="7713663" y="2848339"/>
              <a:ext cx="1042107" cy="425543"/>
              <a:chOff x="7786941" y="2884917"/>
              <a:chExt cx="897649" cy="353919"/>
            </a:xfrm>
          </p:grpSpPr>
          <p:sp>
            <p:nvSpPr>
              <p:cNvPr id="254" name="Google Shape;254;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5" name="Google Shape;255;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6" name="Google Shape;256;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7" name="Google Shape;257;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58" name="Google Shape;258;p4"/>
          <p:cNvGrpSpPr/>
          <p:nvPr/>
        </p:nvGrpSpPr>
        <p:grpSpPr>
          <a:xfrm>
            <a:off x="8311520" y="5194433"/>
            <a:ext cx="309740" cy="190838"/>
            <a:chOff x="3668110" y="2448910"/>
            <a:chExt cx="3794234" cy="2165130"/>
          </a:xfrm>
        </p:grpSpPr>
        <p:sp>
          <p:nvSpPr>
            <p:cNvPr id="259" name="Google Shape;259;p4"/>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0" name="Google Shape;260;p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61" name="Google Shape;261;p4"/>
            <p:cNvGrpSpPr/>
            <p:nvPr/>
          </p:nvGrpSpPr>
          <p:grpSpPr>
            <a:xfrm>
              <a:off x="3941378" y="2603243"/>
              <a:ext cx="3202061" cy="1066110"/>
              <a:chOff x="7939341" y="3037317"/>
              <a:chExt cx="897649" cy="353919"/>
            </a:xfrm>
          </p:grpSpPr>
          <p:sp>
            <p:nvSpPr>
              <p:cNvPr id="262" name="Google Shape;262;p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3" name="Google Shape;263;p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4" name="Google Shape;264;p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5" name="Google Shape;265;p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66" name="Google Shape;266;p4"/>
          <p:cNvGrpSpPr/>
          <p:nvPr/>
        </p:nvGrpSpPr>
        <p:grpSpPr>
          <a:xfrm>
            <a:off x="8439827" y="2812309"/>
            <a:ext cx="353678" cy="168275"/>
            <a:chOff x="7493876" y="2774731"/>
            <a:chExt cx="1481958" cy="894622"/>
          </a:xfrm>
        </p:grpSpPr>
        <p:sp>
          <p:nvSpPr>
            <p:cNvPr id="267" name="Google Shape;267;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68" name="Google Shape;268;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69" name="Google Shape;269;p4"/>
            <p:cNvGrpSpPr/>
            <p:nvPr/>
          </p:nvGrpSpPr>
          <p:grpSpPr>
            <a:xfrm>
              <a:off x="7713663" y="2848339"/>
              <a:ext cx="1042107" cy="425543"/>
              <a:chOff x="7786941" y="2884917"/>
              <a:chExt cx="897649" cy="353919"/>
            </a:xfrm>
          </p:grpSpPr>
          <p:sp>
            <p:nvSpPr>
              <p:cNvPr id="270" name="Google Shape;270;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1" name="Google Shape;271;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2" name="Google Shape;272;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3" name="Google Shape;273;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74" name="Google Shape;274;p4"/>
          <p:cNvGrpSpPr/>
          <p:nvPr/>
        </p:nvGrpSpPr>
        <p:grpSpPr>
          <a:xfrm>
            <a:off x="8050070" y="3965994"/>
            <a:ext cx="354986" cy="175668"/>
            <a:chOff x="7493876" y="2774731"/>
            <a:chExt cx="1481958" cy="894622"/>
          </a:xfrm>
        </p:grpSpPr>
        <p:sp>
          <p:nvSpPr>
            <p:cNvPr id="275" name="Google Shape;275;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76" name="Google Shape;276;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77" name="Google Shape;277;p4"/>
            <p:cNvGrpSpPr/>
            <p:nvPr/>
          </p:nvGrpSpPr>
          <p:grpSpPr>
            <a:xfrm>
              <a:off x="7713663" y="2848339"/>
              <a:ext cx="1042107" cy="425543"/>
              <a:chOff x="7786941" y="2884917"/>
              <a:chExt cx="897649" cy="353919"/>
            </a:xfrm>
          </p:grpSpPr>
          <p:sp>
            <p:nvSpPr>
              <p:cNvPr id="278" name="Google Shape;278;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9" name="Google Shape;279;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0" name="Google Shape;280;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1" name="Google Shape;281;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82" name="Google Shape;282;p4"/>
          <p:cNvGrpSpPr/>
          <p:nvPr/>
        </p:nvGrpSpPr>
        <p:grpSpPr>
          <a:xfrm>
            <a:off x="10884085" y="3601365"/>
            <a:ext cx="170989" cy="97052"/>
            <a:chOff x="7493876" y="2774731"/>
            <a:chExt cx="1481958" cy="894622"/>
          </a:xfrm>
        </p:grpSpPr>
        <p:sp>
          <p:nvSpPr>
            <p:cNvPr id="283" name="Google Shape;283;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84" name="Google Shape;284;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85" name="Google Shape;285;p4"/>
            <p:cNvGrpSpPr/>
            <p:nvPr/>
          </p:nvGrpSpPr>
          <p:grpSpPr>
            <a:xfrm>
              <a:off x="7713663" y="2848339"/>
              <a:ext cx="1042107" cy="425543"/>
              <a:chOff x="7786941" y="2884917"/>
              <a:chExt cx="897649" cy="353919"/>
            </a:xfrm>
          </p:grpSpPr>
          <p:sp>
            <p:nvSpPr>
              <p:cNvPr id="286" name="Google Shape;286;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7" name="Google Shape;287;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8" name="Google Shape;288;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9" name="Google Shape;289;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90" name="Google Shape;290;p4"/>
          <p:cNvGrpSpPr/>
          <p:nvPr/>
        </p:nvGrpSpPr>
        <p:grpSpPr>
          <a:xfrm>
            <a:off x="10410609" y="3496138"/>
            <a:ext cx="353678" cy="198344"/>
            <a:chOff x="7493876" y="2774731"/>
            <a:chExt cx="1481958" cy="894622"/>
          </a:xfrm>
        </p:grpSpPr>
        <p:sp>
          <p:nvSpPr>
            <p:cNvPr id="291" name="Google Shape;291;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92" name="Google Shape;292;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93" name="Google Shape;293;p4"/>
            <p:cNvGrpSpPr/>
            <p:nvPr/>
          </p:nvGrpSpPr>
          <p:grpSpPr>
            <a:xfrm>
              <a:off x="7713663" y="2848339"/>
              <a:ext cx="1042107" cy="425543"/>
              <a:chOff x="7786941" y="2884917"/>
              <a:chExt cx="897649" cy="353919"/>
            </a:xfrm>
          </p:grpSpPr>
          <p:sp>
            <p:nvSpPr>
              <p:cNvPr id="294" name="Google Shape;294;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5" name="Google Shape;295;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6" name="Google Shape;296;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7" name="Google Shape;297;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98" name="Google Shape;298;p4"/>
          <p:cNvGrpSpPr/>
          <p:nvPr/>
        </p:nvGrpSpPr>
        <p:grpSpPr>
          <a:xfrm>
            <a:off x="9948724" y="2202292"/>
            <a:ext cx="353678" cy="198344"/>
            <a:chOff x="7493876" y="2774731"/>
            <a:chExt cx="1481958" cy="894622"/>
          </a:xfrm>
        </p:grpSpPr>
        <p:sp>
          <p:nvSpPr>
            <p:cNvPr id="299" name="Google Shape;299;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00" name="Google Shape;300;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01" name="Google Shape;301;p4"/>
            <p:cNvGrpSpPr/>
            <p:nvPr/>
          </p:nvGrpSpPr>
          <p:grpSpPr>
            <a:xfrm>
              <a:off x="7713663" y="2848339"/>
              <a:ext cx="1042107" cy="425543"/>
              <a:chOff x="7786941" y="2884917"/>
              <a:chExt cx="897649" cy="353919"/>
            </a:xfrm>
          </p:grpSpPr>
          <p:sp>
            <p:nvSpPr>
              <p:cNvPr id="302" name="Google Shape;302;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3" name="Google Shape;303;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4" name="Google Shape;304;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5" name="Google Shape;305;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06" name="Google Shape;306;p4"/>
          <p:cNvGrpSpPr/>
          <p:nvPr/>
        </p:nvGrpSpPr>
        <p:grpSpPr>
          <a:xfrm>
            <a:off x="10527214" y="2613367"/>
            <a:ext cx="353678" cy="198344"/>
            <a:chOff x="7493876" y="2774731"/>
            <a:chExt cx="1481958" cy="894622"/>
          </a:xfrm>
        </p:grpSpPr>
        <p:sp>
          <p:nvSpPr>
            <p:cNvPr id="307" name="Google Shape;307;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08" name="Google Shape;308;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09" name="Google Shape;309;p4"/>
            <p:cNvGrpSpPr/>
            <p:nvPr/>
          </p:nvGrpSpPr>
          <p:grpSpPr>
            <a:xfrm>
              <a:off x="7713663" y="2848339"/>
              <a:ext cx="1042107" cy="425543"/>
              <a:chOff x="7786941" y="2884917"/>
              <a:chExt cx="897649" cy="353919"/>
            </a:xfrm>
          </p:grpSpPr>
          <p:sp>
            <p:nvSpPr>
              <p:cNvPr id="310" name="Google Shape;310;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1" name="Google Shape;311;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2" name="Google Shape;312;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3" name="Google Shape;313;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14" name="Google Shape;314;p4"/>
          <p:cNvGrpSpPr/>
          <p:nvPr/>
        </p:nvGrpSpPr>
        <p:grpSpPr>
          <a:xfrm>
            <a:off x="10643825" y="2107963"/>
            <a:ext cx="353678" cy="198344"/>
            <a:chOff x="7493876" y="2774731"/>
            <a:chExt cx="1481958" cy="894622"/>
          </a:xfrm>
        </p:grpSpPr>
        <p:sp>
          <p:nvSpPr>
            <p:cNvPr id="315" name="Google Shape;315;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16" name="Google Shape;316;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17" name="Google Shape;317;p4"/>
            <p:cNvGrpSpPr/>
            <p:nvPr/>
          </p:nvGrpSpPr>
          <p:grpSpPr>
            <a:xfrm>
              <a:off x="7713663" y="2848339"/>
              <a:ext cx="1042107" cy="425543"/>
              <a:chOff x="7786941" y="2884917"/>
              <a:chExt cx="897649" cy="353919"/>
            </a:xfrm>
          </p:grpSpPr>
          <p:sp>
            <p:nvSpPr>
              <p:cNvPr id="318" name="Google Shape;318;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9" name="Google Shape;319;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0" name="Google Shape;320;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1" name="Google Shape;321;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22" name="Google Shape;322;p4"/>
          <p:cNvGrpSpPr/>
          <p:nvPr/>
        </p:nvGrpSpPr>
        <p:grpSpPr>
          <a:xfrm>
            <a:off x="9098788" y="3956624"/>
            <a:ext cx="367224" cy="240304"/>
            <a:chOff x="7493876" y="2774731"/>
            <a:chExt cx="1481958" cy="894622"/>
          </a:xfrm>
        </p:grpSpPr>
        <p:sp>
          <p:nvSpPr>
            <p:cNvPr id="323" name="Google Shape;323;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24" name="Google Shape;324;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25" name="Google Shape;325;p4"/>
            <p:cNvGrpSpPr/>
            <p:nvPr/>
          </p:nvGrpSpPr>
          <p:grpSpPr>
            <a:xfrm>
              <a:off x="7713663" y="2848339"/>
              <a:ext cx="1042107" cy="425543"/>
              <a:chOff x="7786941" y="2884917"/>
              <a:chExt cx="897649" cy="353919"/>
            </a:xfrm>
          </p:grpSpPr>
          <p:sp>
            <p:nvSpPr>
              <p:cNvPr id="326" name="Google Shape;326;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7" name="Google Shape;327;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8" name="Google Shape;328;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9" name="Google Shape;329;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30" name="Google Shape;330;p4"/>
          <p:cNvGrpSpPr/>
          <p:nvPr/>
        </p:nvGrpSpPr>
        <p:grpSpPr>
          <a:xfrm>
            <a:off x="9980126" y="2661565"/>
            <a:ext cx="353678" cy="198344"/>
            <a:chOff x="7493876" y="2774731"/>
            <a:chExt cx="1481958" cy="894622"/>
          </a:xfrm>
        </p:grpSpPr>
        <p:sp>
          <p:nvSpPr>
            <p:cNvPr id="331" name="Google Shape;331;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32" name="Google Shape;332;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33" name="Google Shape;333;p4"/>
            <p:cNvGrpSpPr/>
            <p:nvPr/>
          </p:nvGrpSpPr>
          <p:grpSpPr>
            <a:xfrm>
              <a:off x="7713663" y="2848339"/>
              <a:ext cx="1042107" cy="425543"/>
              <a:chOff x="7786941" y="2884917"/>
              <a:chExt cx="897649" cy="353919"/>
            </a:xfrm>
          </p:grpSpPr>
          <p:sp>
            <p:nvSpPr>
              <p:cNvPr id="334" name="Google Shape;334;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5" name="Google Shape;335;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6" name="Google Shape;336;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7" name="Google Shape;337;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38" name="Google Shape;338;p4"/>
          <p:cNvGrpSpPr/>
          <p:nvPr/>
        </p:nvGrpSpPr>
        <p:grpSpPr>
          <a:xfrm>
            <a:off x="9497138" y="3394032"/>
            <a:ext cx="367224" cy="240304"/>
            <a:chOff x="7493876" y="2774731"/>
            <a:chExt cx="1481958" cy="894622"/>
          </a:xfrm>
        </p:grpSpPr>
        <p:sp>
          <p:nvSpPr>
            <p:cNvPr id="339" name="Google Shape;339;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40" name="Google Shape;340;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41" name="Google Shape;341;p4"/>
            <p:cNvGrpSpPr/>
            <p:nvPr/>
          </p:nvGrpSpPr>
          <p:grpSpPr>
            <a:xfrm>
              <a:off x="7713663" y="2848339"/>
              <a:ext cx="1042107" cy="425543"/>
              <a:chOff x="7786941" y="2884917"/>
              <a:chExt cx="897649" cy="353919"/>
            </a:xfrm>
          </p:grpSpPr>
          <p:sp>
            <p:nvSpPr>
              <p:cNvPr id="342" name="Google Shape;342;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3" name="Google Shape;343;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4" name="Google Shape;344;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5" name="Google Shape;345;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46" name="Google Shape;346;p4"/>
          <p:cNvGrpSpPr/>
          <p:nvPr/>
        </p:nvGrpSpPr>
        <p:grpSpPr>
          <a:xfrm>
            <a:off x="9601554" y="3999763"/>
            <a:ext cx="367224" cy="240304"/>
            <a:chOff x="7493876" y="2774731"/>
            <a:chExt cx="1481958" cy="894622"/>
          </a:xfrm>
        </p:grpSpPr>
        <p:sp>
          <p:nvSpPr>
            <p:cNvPr id="347" name="Google Shape;347;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48" name="Google Shape;348;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49" name="Google Shape;349;p4"/>
            <p:cNvGrpSpPr/>
            <p:nvPr/>
          </p:nvGrpSpPr>
          <p:grpSpPr>
            <a:xfrm>
              <a:off x="7713663" y="2848339"/>
              <a:ext cx="1042107" cy="425543"/>
              <a:chOff x="7786941" y="2884917"/>
              <a:chExt cx="897649" cy="353919"/>
            </a:xfrm>
          </p:grpSpPr>
          <p:sp>
            <p:nvSpPr>
              <p:cNvPr id="350" name="Google Shape;350;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51" name="Google Shape;351;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52" name="Google Shape;352;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53" name="Google Shape;353;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54" name="Google Shape;354;p4"/>
          <p:cNvGrpSpPr/>
          <p:nvPr/>
        </p:nvGrpSpPr>
        <p:grpSpPr>
          <a:xfrm>
            <a:off x="10375259" y="3992325"/>
            <a:ext cx="353678" cy="198344"/>
            <a:chOff x="7493876" y="2774731"/>
            <a:chExt cx="1481958" cy="894622"/>
          </a:xfrm>
        </p:grpSpPr>
        <p:sp>
          <p:nvSpPr>
            <p:cNvPr id="355" name="Google Shape;355;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56" name="Google Shape;356;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57" name="Google Shape;357;p4"/>
            <p:cNvGrpSpPr/>
            <p:nvPr/>
          </p:nvGrpSpPr>
          <p:grpSpPr>
            <a:xfrm>
              <a:off x="7713663" y="2848339"/>
              <a:ext cx="1042107" cy="425543"/>
              <a:chOff x="7786941" y="2884917"/>
              <a:chExt cx="897649" cy="353919"/>
            </a:xfrm>
          </p:grpSpPr>
          <p:sp>
            <p:nvSpPr>
              <p:cNvPr id="358" name="Google Shape;358;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59" name="Google Shape;359;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0" name="Google Shape;360;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1" name="Google Shape;361;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62" name="Google Shape;362;p4"/>
          <p:cNvGrpSpPr/>
          <p:nvPr/>
        </p:nvGrpSpPr>
        <p:grpSpPr>
          <a:xfrm>
            <a:off x="9247893" y="4775686"/>
            <a:ext cx="393760" cy="218578"/>
            <a:chOff x="7493876" y="2774731"/>
            <a:chExt cx="1481958" cy="894622"/>
          </a:xfrm>
        </p:grpSpPr>
        <p:sp>
          <p:nvSpPr>
            <p:cNvPr id="363" name="Google Shape;363;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64" name="Google Shape;364;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65" name="Google Shape;365;p4"/>
            <p:cNvGrpSpPr/>
            <p:nvPr/>
          </p:nvGrpSpPr>
          <p:grpSpPr>
            <a:xfrm>
              <a:off x="7713663" y="2848339"/>
              <a:ext cx="1042107" cy="425543"/>
              <a:chOff x="7786941" y="2884917"/>
              <a:chExt cx="897649" cy="353919"/>
            </a:xfrm>
          </p:grpSpPr>
          <p:sp>
            <p:nvSpPr>
              <p:cNvPr id="366" name="Google Shape;366;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7" name="Google Shape;367;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8" name="Google Shape;368;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9" name="Google Shape;369;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70" name="Google Shape;370;p4"/>
          <p:cNvGrpSpPr/>
          <p:nvPr/>
        </p:nvGrpSpPr>
        <p:grpSpPr>
          <a:xfrm>
            <a:off x="10925982" y="4369125"/>
            <a:ext cx="228295" cy="120400"/>
            <a:chOff x="7493876" y="2774731"/>
            <a:chExt cx="1481958" cy="894622"/>
          </a:xfrm>
        </p:grpSpPr>
        <p:sp>
          <p:nvSpPr>
            <p:cNvPr id="371" name="Google Shape;371;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72" name="Google Shape;372;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73" name="Google Shape;373;p4"/>
            <p:cNvGrpSpPr/>
            <p:nvPr/>
          </p:nvGrpSpPr>
          <p:grpSpPr>
            <a:xfrm>
              <a:off x="7713663" y="2848339"/>
              <a:ext cx="1042107" cy="425543"/>
              <a:chOff x="7786941" y="2884917"/>
              <a:chExt cx="897649" cy="353919"/>
            </a:xfrm>
          </p:grpSpPr>
          <p:sp>
            <p:nvSpPr>
              <p:cNvPr id="374" name="Google Shape;374;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5" name="Google Shape;375;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6" name="Google Shape;376;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7" name="Google Shape;377;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78" name="Google Shape;378;p4"/>
          <p:cNvGrpSpPr/>
          <p:nvPr/>
        </p:nvGrpSpPr>
        <p:grpSpPr>
          <a:xfrm>
            <a:off x="7439074" y="2356613"/>
            <a:ext cx="534987" cy="414882"/>
            <a:chOff x="7432700" y="2327293"/>
            <a:chExt cx="534987" cy="414882"/>
          </a:xfrm>
        </p:grpSpPr>
        <p:pic>
          <p:nvPicPr>
            <p:cNvPr descr="antenna_stylized" id="379" name="Google Shape;379;p4"/>
            <p:cNvPicPr preferRelativeResize="0"/>
            <p:nvPr/>
          </p:nvPicPr>
          <p:blipFill rotWithShape="1">
            <a:blip r:embed="rId7">
              <a:alphaModFix/>
            </a:blip>
            <a:srcRect b="0" l="0" r="0" t="0"/>
            <a:stretch/>
          </p:blipFill>
          <p:spPr>
            <a:xfrm>
              <a:off x="7432700" y="2327293"/>
              <a:ext cx="530702" cy="223756"/>
            </a:xfrm>
            <a:prstGeom prst="rect">
              <a:avLst/>
            </a:prstGeom>
            <a:noFill/>
            <a:ln>
              <a:noFill/>
            </a:ln>
          </p:spPr>
        </p:pic>
        <p:pic>
          <p:nvPicPr>
            <p:cNvPr descr="laptop_keyboard" id="380" name="Google Shape;380;p4"/>
            <p:cNvPicPr preferRelativeResize="0"/>
            <p:nvPr/>
          </p:nvPicPr>
          <p:blipFill rotWithShape="1">
            <a:blip r:embed="rId8">
              <a:alphaModFix/>
            </a:blip>
            <a:srcRect b="0" l="0" r="0" t="0"/>
            <a:stretch/>
          </p:blipFill>
          <p:spPr>
            <a:xfrm flipH="1" rot="109064">
              <a:off x="7458407" y="2575770"/>
              <a:ext cx="437221" cy="159511"/>
            </a:xfrm>
            <a:prstGeom prst="rect">
              <a:avLst/>
            </a:prstGeom>
            <a:noFill/>
            <a:ln>
              <a:noFill/>
            </a:ln>
          </p:spPr>
        </p:pic>
        <p:sp>
          <p:nvSpPr>
            <p:cNvPr id="381" name="Google Shape;381;p4"/>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82" name="Google Shape;382;p4"/>
            <p:cNvPicPr preferRelativeResize="0"/>
            <p:nvPr/>
          </p:nvPicPr>
          <p:blipFill rotWithShape="1">
            <a:blip r:embed="rId9">
              <a:alphaModFix/>
            </a:blip>
            <a:srcRect b="0" l="0" r="0" t="0"/>
            <a:stretch/>
          </p:blipFill>
          <p:spPr>
            <a:xfrm>
              <a:off x="7620637" y="2426338"/>
              <a:ext cx="319785" cy="189429"/>
            </a:xfrm>
            <a:prstGeom prst="rect">
              <a:avLst/>
            </a:prstGeom>
            <a:noFill/>
            <a:ln>
              <a:noFill/>
            </a:ln>
          </p:spPr>
        </p:pic>
        <p:sp>
          <p:nvSpPr>
            <p:cNvPr id="383" name="Google Shape;383;p4"/>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4" name="Google Shape;384;p4"/>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5" name="Google Shape;385;p4"/>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6" name="Google Shape;386;p4"/>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7" name="Google Shape;387;p4"/>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8" name="Google Shape;388;p4"/>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89" name="Google Shape;389;p4"/>
            <p:cNvGrpSpPr/>
            <p:nvPr/>
          </p:nvGrpSpPr>
          <p:grpSpPr>
            <a:xfrm>
              <a:off x="7594735" y="2642220"/>
              <a:ext cx="98740" cy="36846"/>
              <a:chOff x="1740" y="2642"/>
              <a:chExt cx="752" cy="327"/>
            </a:xfrm>
          </p:grpSpPr>
          <p:sp>
            <p:nvSpPr>
              <p:cNvPr id="390" name="Google Shape;390;p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1" name="Google Shape;391;p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2" name="Google Shape;392;p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3" name="Google Shape;393;p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4" name="Google Shape;394;p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5" name="Google Shape;395;p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96" name="Google Shape;396;p4"/>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7" name="Google Shape;397;p4"/>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8" name="Google Shape;398;p4"/>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9" name="Google Shape;399;p4"/>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0" name="Google Shape;400;p4"/>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1" name="Google Shape;401;p4"/>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02" name="Google Shape;402;p4"/>
          <p:cNvGrpSpPr/>
          <p:nvPr/>
        </p:nvGrpSpPr>
        <p:grpSpPr>
          <a:xfrm>
            <a:off x="8637781" y="2319727"/>
            <a:ext cx="530702" cy="478009"/>
            <a:chOff x="8631407" y="2290407"/>
            <a:chExt cx="530702" cy="478009"/>
          </a:xfrm>
        </p:grpSpPr>
        <p:pic>
          <p:nvPicPr>
            <p:cNvPr descr="light2.png" id="403" name="Google Shape;403;p4"/>
            <p:cNvPicPr preferRelativeResize="0"/>
            <p:nvPr/>
          </p:nvPicPr>
          <p:blipFill rotWithShape="1">
            <a:blip r:embed="rId10">
              <a:alphaModFix/>
            </a:blip>
            <a:srcRect b="0" l="0" r="0" t="0"/>
            <a:stretch/>
          </p:blipFill>
          <p:spPr>
            <a:xfrm flipH="1">
              <a:off x="8825293" y="2362969"/>
              <a:ext cx="92772" cy="405447"/>
            </a:xfrm>
            <a:prstGeom prst="rect">
              <a:avLst/>
            </a:prstGeom>
            <a:noFill/>
            <a:ln>
              <a:noFill/>
            </a:ln>
          </p:spPr>
        </p:pic>
        <p:pic>
          <p:nvPicPr>
            <p:cNvPr descr="antenna_stylized" id="404" name="Google Shape;404;p4"/>
            <p:cNvPicPr preferRelativeResize="0"/>
            <p:nvPr/>
          </p:nvPicPr>
          <p:blipFill rotWithShape="1">
            <a:blip r:embed="rId7">
              <a:alphaModFix/>
            </a:blip>
            <a:srcRect b="0" l="0" r="0" t="0"/>
            <a:stretch/>
          </p:blipFill>
          <p:spPr>
            <a:xfrm>
              <a:off x="8631407" y="2290407"/>
              <a:ext cx="530702" cy="223756"/>
            </a:xfrm>
            <a:prstGeom prst="rect">
              <a:avLst/>
            </a:prstGeom>
            <a:noFill/>
            <a:ln>
              <a:noFill/>
            </a:ln>
          </p:spPr>
        </p:pic>
      </p:grpSp>
      <p:grpSp>
        <p:nvGrpSpPr>
          <p:cNvPr id="405" name="Google Shape;405;p4"/>
          <p:cNvGrpSpPr/>
          <p:nvPr/>
        </p:nvGrpSpPr>
        <p:grpSpPr>
          <a:xfrm>
            <a:off x="8499539" y="2059124"/>
            <a:ext cx="849312" cy="226109"/>
            <a:chOff x="8493165" y="2029804"/>
            <a:chExt cx="849312" cy="226109"/>
          </a:xfrm>
        </p:grpSpPr>
        <p:pic>
          <p:nvPicPr>
            <p:cNvPr descr="car_icon_small" id="406" name="Google Shape;406;p4"/>
            <p:cNvPicPr preferRelativeResize="0"/>
            <p:nvPr/>
          </p:nvPicPr>
          <p:blipFill rotWithShape="1">
            <a:blip r:embed="rId11">
              <a:alphaModFix/>
            </a:blip>
            <a:srcRect b="0" l="0" r="0" t="0"/>
            <a:stretch/>
          </p:blipFill>
          <p:spPr>
            <a:xfrm>
              <a:off x="8493165" y="2087638"/>
              <a:ext cx="849312" cy="168275"/>
            </a:xfrm>
            <a:prstGeom prst="rect">
              <a:avLst/>
            </a:prstGeom>
            <a:noFill/>
            <a:ln>
              <a:noFill/>
            </a:ln>
          </p:spPr>
        </p:pic>
        <p:pic>
          <p:nvPicPr>
            <p:cNvPr descr="antenna_stylized" id="407" name="Google Shape;407;p4"/>
            <p:cNvPicPr preferRelativeResize="0"/>
            <p:nvPr/>
          </p:nvPicPr>
          <p:blipFill rotWithShape="1">
            <a:blip r:embed="rId7">
              <a:alphaModFix/>
            </a:blip>
            <a:srcRect b="0" l="0" r="0" t="0"/>
            <a:stretch/>
          </p:blipFill>
          <p:spPr>
            <a:xfrm>
              <a:off x="8704645" y="2029804"/>
              <a:ext cx="530702" cy="223756"/>
            </a:xfrm>
            <a:prstGeom prst="rect">
              <a:avLst/>
            </a:prstGeom>
            <a:noFill/>
            <a:ln>
              <a:noFill/>
            </a:ln>
          </p:spPr>
        </p:pic>
      </p:grpSp>
      <p:grpSp>
        <p:nvGrpSpPr>
          <p:cNvPr id="408" name="Google Shape;408;p4"/>
          <p:cNvGrpSpPr/>
          <p:nvPr/>
        </p:nvGrpSpPr>
        <p:grpSpPr>
          <a:xfrm>
            <a:off x="7493518" y="3325424"/>
            <a:ext cx="857739" cy="583764"/>
            <a:chOff x="7487144" y="3296104"/>
            <a:chExt cx="857739" cy="583764"/>
          </a:xfrm>
        </p:grpSpPr>
        <p:grpSp>
          <p:nvGrpSpPr>
            <p:cNvPr id="409" name="Google Shape;409;p4"/>
            <p:cNvGrpSpPr/>
            <p:nvPr/>
          </p:nvGrpSpPr>
          <p:grpSpPr>
            <a:xfrm>
              <a:off x="7487144" y="3389820"/>
              <a:ext cx="350807" cy="310034"/>
              <a:chOff x="7487144" y="3389820"/>
              <a:chExt cx="350807" cy="310034"/>
            </a:xfrm>
          </p:grpSpPr>
          <p:pic>
            <p:nvPicPr>
              <p:cNvPr descr="antenna_stylized" id="410" name="Google Shape;410;p4"/>
              <p:cNvPicPr preferRelativeResize="0"/>
              <p:nvPr/>
            </p:nvPicPr>
            <p:blipFill rotWithShape="1">
              <a:blip r:embed="rId12">
                <a:alphaModFix/>
              </a:blip>
              <a:srcRect b="0" l="0" r="0" t="0"/>
              <a:stretch/>
            </p:blipFill>
            <p:spPr>
              <a:xfrm>
                <a:off x="7487144" y="3389820"/>
                <a:ext cx="347997" cy="167557"/>
              </a:xfrm>
              <a:prstGeom prst="rect">
                <a:avLst/>
              </a:prstGeom>
              <a:noFill/>
              <a:ln>
                <a:noFill/>
              </a:ln>
            </p:spPr>
          </p:pic>
          <p:pic>
            <p:nvPicPr>
              <p:cNvPr descr="laptop_keyboard" id="411" name="Google Shape;411;p4"/>
              <p:cNvPicPr preferRelativeResize="0"/>
              <p:nvPr/>
            </p:nvPicPr>
            <p:blipFill rotWithShape="1">
              <a:blip r:embed="rId13">
                <a:alphaModFix/>
              </a:blip>
              <a:srcRect b="0" l="0" r="0" t="0"/>
              <a:stretch/>
            </p:blipFill>
            <p:spPr>
              <a:xfrm flipH="1" rot="109064">
                <a:off x="7504001" y="3575889"/>
                <a:ext cx="286699" cy="119448"/>
              </a:xfrm>
              <a:prstGeom prst="rect">
                <a:avLst/>
              </a:prstGeom>
              <a:noFill/>
              <a:ln>
                <a:noFill/>
              </a:ln>
            </p:spPr>
          </p:pic>
          <p:sp>
            <p:nvSpPr>
              <p:cNvPr id="412" name="Google Shape;412;p4"/>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413" name="Google Shape;413;p4"/>
              <p:cNvPicPr preferRelativeResize="0"/>
              <p:nvPr/>
            </p:nvPicPr>
            <p:blipFill rotWithShape="1">
              <a:blip r:embed="rId14">
                <a:alphaModFix/>
              </a:blip>
              <a:srcRect b="0" l="0" r="0" t="0"/>
              <a:stretch/>
            </p:blipFill>
            <p:spPr>
              <a:xfrm>
                <a:off x="7610380" y="3463988"/>
                <a:ext cx="209692" cy="141851"/>
              </a:xfrm>
              <a:prstGeom prst="rect">
                <a:avLst/>
              </a:prstGeom>
              <a:noFill/>
              <a:ln>
                <a:noFill/>
              </a:ln>
            </p:spPr>
          </p:pic>
          <p:sp>
            <p:nvSpPr>
              <p:cNvPr id="414" name="Google Shape;414;p4"/>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5" name="Google Shape;415;p4"/>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6" name="Google Shape;416;p4"/>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7" name="Google Shape;417;p4"/>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8" name="Google Shape;418;p4"/>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9" name="Google Shape;419;p4"/>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20" name="Google Shape;420;p4"/>
              <p:cNvGrpSpPr/>
              <p:nvPr/>
            </p:nvGrpSpPr>
            <p:grpSpPr>
              <a:xfrm>
                <a:off x="7593395" y="3625649"/>
                <a:ext cx="64747" cy="27592"/>
                <a:chOff x="1740" y="2642"/>
                <a:chExt cx="752" cy="327"/>
              </a:xfrm>
            </p:grpSpPr>
            <p:sp>
              <p:nvSpPr>
                <p:cNvPr id="421" name="Google Shape;421;p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2" name="Google Shape;422;p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3" name="Google Shape;423;p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4" name="Google Shape;424;p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5" name="Google Shape;425;p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6" name="Google Shape;426;p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427" name="Google Shape;427;p4"/>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8" name="Google Shape;428;p4"/>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9" name="Google Shape;429;p4"/>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0" name="Google Shape;430;p4"/>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1" name="Google Shape;431;p4"/>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2" name="Google Shape;432;p4"/>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33" name="Google Shape;433;p4"/>
            <p:cNvGrpSpPr/>
            <p:nvPr/>
          </p:nvGrpSpPr>
          <p:grpSpPr>
            <a:xfrm flipH="1">
              <a:off x="7985622" y="3537823"/>
              <a:ext cx="359261" cy="342045"/>
              <a:chOff x="2839" y="3501"/>
              <a:chExt cx="755" cy="803"/>
            </a:xfrm>
          </p:grpSpPr>
          <p:pic>
            <p:nvPicPr>
              <p:cNvPr descr="desktop_computer_stylized_medium" id="434" name="Google Shape;434;p4"/>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435" name="Google Shape;435;p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36" name="Google Shape;436;p4"/>
            <p:cNvGrpSpPr/>
            <p:nvPr/>
          </p:nvGrpSpPr>
          <p:grpSpPr>
            <a:xfrm>
              <a:off x="7797061" y="3296104"/>
              <a:ext cx="347997" cy="396620"/>
              <a:chOff x="7797061" y="3296104"/>
              <a:chExt cx="347997" cy="396620"/>
            </a:xfrm>
          </p:grpSpPr>
          <p:pic>
            <p:nvPicPr>
              <p:cNvPr descr="fridge2.png" id="437" name="Google Shape;437;p4"/>
              <p:cNvPicPr preferRelativeResize="0"/>
              <p:nvPr/>
            </p:nvPicPr>
            <p:blipFill rotWithShape="1">
              <a:blip r:embed="rId16">
                <a:alphaModFix/>
              </a:blip>
              <a:srcRect b="0" l="0" r="0" t="0"/>
              <a:stretch/>
            </p:blipFill>
            <p:spPr>
              <a:xfrm>
                <a:off x="7896825" y="3355697"/>
                <a:ext cx="189578" cy="337027"/>
              </a:xfrm>
              <a:prstGeom prst="rect">
                <a:avLst/>
              </a:prstGeom>
              <a:noFill/>
              <a:ln>
                <a:noFill/>
              </a:ln>
            </p:spPr>
          </p:pic>
          <p:pic>
            <p:nvPicPr>
              <p:cNvPr descr="antenna_stylized" id="438" name="Google Shape;438;p4"/>
              <p:cNvPicPr preferRelativeResize="0"/>
              <p:nvPr/>
            </p:nvPicPr>
            <p:blipFill rotWithShape="1">
              <a:blip r:embed="rId12">
                <a:alphaModFix/>
              </a:blip>
              <a:srcRect b="0" l="0" r="0" t="0"/>
              <a:stretch/>
            </p:blipFill>
            <p:spPr>
              <a:xfrm>
                <a:off x="7797061" y="3296104"/>
                <a:ext cx="347997" cy="167557"/>
              </a:xfrm>
              <a:prstGeom prst="rect">
                <a:avLst/>
              </a:prstGeom>
              <a:noFill/>
              <a:ln>
                <a:noFill/>
              </a:ln>
            </p:spPr>
          </p:pic>
        </p:grpSp>
      </p:grpSp>
      <p:grpSp>
        <p:nvGrpSpPr>
          <p:cNvPr id="439" name="Google Shape;439;p4"/>
          <p:cNvGrpSpPr/>
          <p:nvPr/>
        </p:nvGrpSpPr>
        <p:grpSpPr>
          <a:xfrm>
            <a:off x="11064947" y="3428485"/>
            <a:ext cx="518448" cy="1212242"/>
            <a:chOff x="11058573" y="3399165"/>
            <a:chExt cx="518448" cy="1212242"/>
          </a:xfrm>
        </p:grpSpPr>
        <p:grpSp>
          <p:nvGrpSpPr>
            <p:cNvPr id="440" name="Google Shape;440;p4"/>
            <p:cNvGrpSpPr/>
            <p:nvPr/>
          </p:nvGrpSpPr>
          <p:grpSpPr>
            <a:xfrm>
              <a:off x="11087182" y="4159591"/>
              <a:ext cx="489839" cy="451816"/>
              <a:chOff x="5103720" y="2693365"/>
              <a:chExt cx="611650" cy="414788"/>
            </a:xfrm>
          </p:grpSpPr>
          <p:cxnSp>
            <p:nvCxnSpPr>
              <p:cNvPr id="441" name="Google Shape;441;p4"/>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442" name="Google Shape;442;p4"/>
              <p:cNvGrpSpPr/>
              <p:nvPr/>
            </p:nvGrpSpPr>
            <p:grpSpPr>
              <a:xfrm>
                <a:off x="5275406" y="2693365"/>
                <a:ext cx="439964" cy="414788"/>
                <a:chOff x="5275406" y="2711455"/>
                <a:chExt cx="452949" cy="405518"/>
              </a:xfrm>
            </p:grpSpPr>
            <p:pic>
              <p:nvPicPr>
                <p:cNvPr descr="server_rack.png" id="443" name="Google Shape;443;p4"/>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444" name="Google Shape;444;p4"/>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445" name="Google Shape;445;p4"/>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nvGrpSpPr>
            <p:cNvPr id="446" name="Google Shape;446;p4"/>
            <p:cNvGrpSpPr/>
            <p:nvPr/>
          </p:nvGrpSpPr>
          <p:grpSpPr>
            <a:xfrm>
              <a:off x="11058573" y="3399165"/>
              <a:ext cx="423724" cy="405973"/>
              <a:chOff x="5103720" y="2693365"/>
              <a:chExt cx="611650" cy="414788"/>
            </a:xfrm>
          </p:grpSpPr>
          <p:cxnSp>
            <p:nvCxnSpPr>
              <p:cNvPr id="447" name="Google Shape;447;p4"/>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448" name="Google Shape;448;p4"/>
              <p:cNvGrpSpPr/>
              <p:nvPr/>
            </p:nvGrpSpPr>
            <p:grpSpPr>
              <a:xfrm>
                <a:off x="5275406" y="2693365"/>
                <a:ext cx="439964" cy="414788"/>
                <a:chOff x="5275406" y="2711455"/>
                <a:chExt cx="452949" cy="405518"/>
              </a:xfrm>
            </p:grpSpPr>
            <p:pic>
              <p:nvPicPr>
                <p:cNvPr descr="server_rack.png" id="449" name="Google Shape;449;p4"/>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450" name="Google Shape;450;p4"/>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451" name="Google Shape;451;p4"/>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grpSp>
        <p:nvGrpSpPr>
          <p:cNvPr id="452" name="Google Shape;452;p4"/>
          <p:cNvGrpSpPr/>
          <p:nvPr/>
        </p:nvGrpSpPr>
        <p:grpSpPr>
          <a:xfrm flipH="1">
            <a:off x="7980855" y="4900161"/>
            <a:ext cx="345630" cy="320302"/>
            <a:chOff x="2839" y="3501"/>
            <a:chExt cx="755" cy="803"/>
          </a:xfrm>
        </p:grpSpPr>
        <p:pic>
          <p:nvPicPr>
            <p:cNvPr descr="desktop_computer_stylized_medium" id="453" name="Google Shape;453;p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54" name="Google Shape;454;p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55" name="Google Shape;455;p4"/>
          <p:cNvGrpSpPr/>
          <p:nvPr/>
        </p:nvGrpSpPr>
        <p:grpSpPr>
          <a:xfrm>
            <a:off x="9201681" y="5852809"/>
            <a:ext cx="310186" cy="312008"/>
            <a:chOff x="877" y="1008"/>
            <a:chExt cx="2747" cy="2626"/>
          </a:xfrm>
        </p:grpSpPr>
        <p:pic>
          <p:nvPicPr>
            <p:cNvPr descr="antenna_stylized" id="456" name="Google Shape;456;p4"/>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457" name="Google Shape;457;p4"/>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458" name="Google Shape;458;p4"/>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459" name="Google Shape;459;p4"/>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460" name="Google Shape;460;p4"/>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1" name="Google Shape;461;p4"/>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2" name="Google Shape;462;p4"/>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3" name="Google Shape;463;p4"/>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4" name="Google Shape;464;p4"/>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5" name="Google Shape;465;p4"/>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66" name="Google Shape;466;p4"/>
            <p:cNvGrpSpPr/>
            <p:nvPr/>
          </p:nvGrpSpPr>
          <p:grpSpPr>
            <a:xfrm>
              <a:off x="1709" y="3008"/>
              <a:ext cx="507" cy="234"/>
              <a:chOff x="1740" y="2642"/>
              <a:chExt cx="752" cy="327"/>
            </a:xfrm>
          </p:grpSpPr>
          <p:sp>
            <p:nvSpPr>
              <p:cNvPr id="467" name="Google Shape;467;p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8" name="Google Shape;468;p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69" name="Google Shape;469;p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0" name="Google Shape;470;p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1" name="Google Shape;471;p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2" name="Google Shape;472;p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473" name="Google Shape;473;p4"/>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4" name="Google Shape;474;p4"/>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5" name="Google Shape;475;p4"/>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6" name="Google Shape;476;p4"/>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7" name="Google Shape;477;p4"/>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78" name="Google Shape;478;p4"/>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79" name="Google Shape;479;p4"/>
          <p:cNvGrpSpPr/>
          <p:nvPr/>
        </p:nvGrpSpPr>
        <p:grpSpPr>
          <a:xfrm flipH="1">
            <a:off x="8153909" y="5504657"/>
            <a:ext cx="345630" cy="320302"/>
            <a:chOff x="2839" y="3501"/>
            <a:chExt cx="755" cy="803"/>
          </a:xfrm>
        </p:grpSpPr>
        <p:pic>
          <p:nvPicPr>
            <p:cNvPr descr="desktop_computer_stylized_medium" id="480" name="Google Shape;480;p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81" name="Google Shape;481;p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82" name="Google Shape;482;p4"/>
          <p:cNvGrpSpPr/>
          <p:nvPr/>
        </p:nvGrpSpPr>
        <p:grpSpPr>
          <a:xfrm flipH="1">
            <a:off x="8552134" y="5526130"/>
            <a:ext cx="345630" cy="320302"/>
            <a:chOff x="2839" y="3501"/>
            <a:chExt cx="755" cy="803"/>
          </a:xfrm>
        </p:grpSpPr>
        <p:pic>
          <p:nvPicPr>
            <p:cNvPr descr="desktop_computer_stylized_medium" id="483" name="Google Shape;483;p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84" name="Google Shape;484;p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85" name="Google Shape;485;p4"/>
          <p:cNvGrpSpPr/>
          <p:nvPr/>
        </p:nvGrpSpPr>
        <p:grpSpPr>
          <a:xfrm>
            <a:off x="9534746" y="5795138"/>
            <a:ext cx="319264" cy="256836"/>
            <a:chOff x="877" y="1008"/>
            <a:chExt cx="2747" cy="2626"/>
          </a:xfrm>
        </p:grpSpPr>
        <p:pic>
          <p:nvPicPr>
            <p:cNvPr descr="antenna_stylized" id="486" name="Google Shape;486;p4"/>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487" name="Google Shape;487;p4"/>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488" name="Google Shape;488;p4"/>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489" name="Google Shape;489;p4"/>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490" name="Google Shape;490;p4"/>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1" name="Google Shape;491;p4"/>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2" name="Google Shape;492;p4"/>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3" name="Google Shape;493;p4"/>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4" name="Google Shape;494;p4"/>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5" name="Google Shape;495;p4"/>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96" name="Google Shape;496;p4"/>
            <p:cNvGrpSpPr/>
            <p:nvPr/>
          </p:nvGrpSpPr>
          <p:grpSpPr>
            <a:xfrm>
              <a:off x="1709" y="3008"/>
              <a:ext cx="507" cy="234"/>
              <a:chOff x="1740" y="2642"/>
              <a:chExt cx="752" cy="327"/>
            </a:xfrm>
          </p:grpSpPr>
          <p:sp>
            <p:nvSpPr>
              <p:cNvPr id="497" name="Google Shape;497;p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8" name="Google Shape;498;p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99" name="Google Shape;499;p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0" name="Google Shape;500;p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1" name="Google Shape;501;p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2" name="Google Shape;502;p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03" name="Google Shape;503;p4"/>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4" name="Google Shape;504;p4"/>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5" name="Google Shape;505;p4"/>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6" name="Google Shape;506;p4"/>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7" name="Google Shape;507;p4"/>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8" name="Google Shape;508;p4"/>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09" name="Google Shape;509;p4"/>
          <p:cNvSpPr/>
          <p:nvPr/>
        </p:nvSpPr>
        <p:spPr>
          <a:xfrm>
            <a:off x="10153593" y="5636971"/>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0" name="Google Shape;510;p4"/>
          <p:cNvSpPr/>
          <p:nvPr/>
        </p:nvSpPr>
        <p:spPr>
          <a:xfrm>
            <a:off x="10159970" y="5656923"/>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1" name="Google Shape;511;p4"/>
          <p:cNvSpPr/>
          <p:nvPr/>
        </p:nvSpPr>
        <p:spPr>
          <a:xfrm>
            <a:off x="10155518" y="5812753"/>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2" name="Google Shape;512;p4"/>
          <p:cNvSpPr/>
          <p:nvPr/>
        </p:nvSpPr>
        <p:spPr>
          <a:xfrm>
            <a:off x="10026299" y="5674399"/>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13" name="Google Shape;513;p4"/>
          <p:cNvGrpSpPr/>
          <p:nvPr/>
        </p:nvGrpSpPr>
        <p:grpSpPr>
          <a:xfrm>
            <a:off x="10091053" y="5670891"/>
            <a:ext cx="69517" cy="21877"/>
            <a:chOff x="613" y="2566"/>
            <a:chExt cx="721" cy="144"/>
          </a:xfrm>
        </p:grpSpPr>
        <p:sp>
          <p:nvSpPr>
            <p:cNvPr id="514" name="Google Shape;514;p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15" name="Google Shape;515;p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16" name="Google Shape;516;p4"/>
          <p:cNvSpPr/>
          <p:nvPr/>
        </p:nvSpPr>
        <p:spPr>
          <a:xfrm>
            <a:off x="10027502" y="5722750"/>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17" name="Google Shape;517;p4"/>
          <p:cNvGrpSpPr/>
          <p:nvPr/>
        </p:nvGrpSpPr>
        <p:grpSpPr>
          <a:xfrm>
            <a:off x="10091005" y="5718110"/>
            <a:ext cx="69517" cy="19515"/>
            <a:chOff x="615" y="2564"/>
            <a:chExt cx="721" cy="139"/>
          </a:xfrm>
        </p:grpSpPr>
        <p:sp>
          <p:nvSpPr>
            <p:cNvPr id="518" name="Google Shape;518;p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19" name="Google Shape;519;p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20" name="Google Shape;520;p4"/>
          <p:cNvSpPr/>
          <p:nvPr/>
        </p:nvSpPr>
        <p:spPr>
          <a:xfrm>
            <a:off x="10027502" y="5771101"/>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21" name="Google Shape;521;p4"/>
          <p:cNvSpPr/>
          <p:nvPr/>
        </p:nvSpPr>
        <p:spPr>
          <a:xfrm>
            <a:off x="10028705" y="5814938"/>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22" name="Google Shape;522;p4"/>
          <p:cNvGrpSpPr/>
          <p:nvPr/>
        </p:nvGrpSpPr>
        <p:grpSpPr>
          <a:xfrm>
            <a:off x="10089851" y="5813708"/>
            <a:ext cx="69541" cy="19618"/>
            <a:chOff x="618" y="2586"/>
            <a:chExt cx="720" cy="124"/>
          </a:xfrm>
        </p:grpSpPr>
        <p:sp>
          <p:nvSpPr>
            <p:cNvPr id="523" name="Google Shape;523;p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24" name="Google Shape;524;p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25" name="Google Shape;525;p4"/>
          <p:cNvSpPr/>
          <p:nvPr/>
        </p:nvSpPr>
        <p:spPr>
          <a:xfrm>
            <a:off x="10156000" y="5771101"/>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26" name="Google Shape;526;p4"/>
          <p:cNvGrpSpPr/>
          <p:nvPr/>
        </p:nvGrpSpPr>
        <p:grpSpPr>
          <a:xfrm>
            <a:off x="10089849" y="5767606"/>
            <a:ext cx="70700" cy="19515"/>
            <a:chOff x="613" y="2571"/>
            <a:chExt cx="732" cy="134"/>
          </a:xfrm>
        </p:grpSpPr>
        <p:sp>
          <p:nvSpPr>
            <p:cNvPr id="527" name="Google Shape;527;p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28" name="Google Shape;528;p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29" name="Google Shape;529;p4"/>
          <p:cNvSpPr/>
          <p:nvPr/>
        </p:nvSpPr>
        <p:spPr>
          <a:xfrm>
            <a:off x="10150946" y="5636388"/>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0" name="Google Shape;530;p4"/>
          <p:cNvSpPr/>
          <p:nvPr/>
        </p:nvSpPr>
        <p:spPr>
          <a:xfrm>
            <a:off x="10158887" y="5720566"/>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1" name="Google Shape;531;p4"/>
          <p:cNvSpPr/>
          <p:nvPr/>
        </p:nvSpPr>
        <p:spPr>
          <a:xfrm>
            <a:off x="10159248" y="5672943"/>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2" name="Google Shape;532;p4"/>
          <p:cNvSpPr/>
          <p:nvPr/>
        </p:nvSpPr>
        <p:spPr>
          <a:xfrm>
            <a:off x="10183311" y="5954166"/>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3" name="Google Shape;533;p4"/>
          <p:cNvSpPr/>
          <p:nvPr/>
        </p:nvSpPr>
        <p:spPr>
          <a:xfrm>
            <a:off x="10157684" y="5954603"/>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4" name="Google Shape;534;p4"/>
          <p:cNvSpPr/>
          <p:nvPr/>
        </p:nvSpPr>
        <p:spPr>
          <a:xfrm>
            <a:off x="10017877" y="5963487"/>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5" name="Google Shape;535;p4"/>
          <p:cNvSpPr/>
          <p:nvPr/>
        </p:nvSpPr>
        <p:spPr>
          <a:xfrm>
            <a:off x="10026299" y="5969166"/>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6" name="Google Shape;536;p4"/>
          <p:cNvSpPr/>
          <p:nvPr/>
        </p:nvSpPr>
        <p:spPr>
          <a:xfrm>
            <a:off x="10038210"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7" name="Google Shape;537;p4"/>
          <p:cNvSpPr/>
          <p:nvPr/>
        </p:nvSpPr>
        <p:spPr>
          <a:xfrm>
            <a:off x="10059867" y="5920815"/>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538" name="Google Shape;538;p4"/>
          <p:cNvSpPr/>
          <p:nvPr/>
        </p:nvSpPr>
        <p:spPr>
          <a:xfrm>
            <a:off x="10080201"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39" name="Google Shape;539;p4"/>
          <p:cNvSpPr/>
          <p:nvPr/>
        </p:nvSpPr>
        <p:spPr>
          <a:xfrm>
            <a:off x="10129410" y="5841444"/>
            <a:ext cx="9625" cy="11053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40" name="Google Shape;540;p4"/>
          <p:cNvGrpSpPr/>
          <p:nvPr/>
        </p:nvGrpSpPr>
        <p:grpSpPr>
          <a:xfrm flipH="1">
            <a:off x="7773981" y="5281060"/>
            <a:ext cx="345630" cy="320302"/>
            <a:chOff x="2839" y="3501"/>
            <a:chExt cx="755" cy="803"/>
          </a:xfrm>
        </p:grpSpPr>
        <p:pic>
          <p:nvPicPr>
            <p:cNvPr descr="desktop_computer_stylized_medium" id="541" name="Google Shape;541;p4"/>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542" name="Google Shape;542;p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43" name="Google Shape;543;p4"/>
          <p:cNvSpPr/>
          <p:nvPr/>
        </p:nvSpPr>
        <p:spPr>
          <a:xfrm>
            <a:off x="6406266" y="1372497"/>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44" name="Google Shape;544;p4"/>
          <p:cNvGrpSpPr/>
          <p:nvPr/>
        </p:nvGrpSpPr>
        <p:grpSpPr>
          <a:xfrm>
            <a:off x="7750224" y="1859725"/>
            <a:ext cx="415925" cy="385763"/>
            <a:chOff x="2751" y="1851"/>
            <a:chExt cx="462" cy="478"/>
          </a:xfrm>
        </p:grpSpPr>
        <p:pic>
          <p:nvPicPr>
            <p:cNvPr descr="iphone_stylized_small" id="545" name="Google Shape;545;p4"/>
            <p:cNvPicPr preferRelativeResize="0"/>
            <p:nvPr/>
          </p:nvPicPr>
          <p:blipFill rotWithShape="1">
            <a:blip r:embed="rId22">
              <a:alphaModFix/>
            </a:blip>
            <a:srcRect b="0" l="0" r="0" t="0"/>
            <a:stretch/>
          </p:blipFill>
          <p:spPr>
            <a:xfrm>
              <a:off x="2928" y="1922"/>
              <a:ext cx="152" cy="407"/>
            </a:xfrm>
            <a:prstGeom prst="rect">
              <a:avLst/>
            </a:prstGeom>
            <a:noFill/>
            <a:ln>
              <a:noFill/>
            </a:ln>
          </p:spPr>
        </p:pic>
        <p:pic>
          <p:nvPicPr>
            <p:cNvPr descr="antenna_radiation_stylized" id="546" name="Google Shape;546;p4"/>
            <p:cNvPicPr preferRelativeResize="0"/>
            <p:nvPr/>
          </p:nvPicPr>
          <p:blipFill rotWithShape="1">
            <a:blip r:embed="rId23">
              <a:alphaModFix/>
            </a:blip>
            <a:srcRect b="0" l="0" r="0" t="0"/>
            <a:stretch/>
          </p:blipFill>
          <p:spPr>
            <a:xfrm>
              <a:off x="2751" y="1851"/>
              <a:ext cx="462" cy="110"/>
            </a:xfrm>
            <a:prstGeom prst="rect">
              <a:avLst/>
            </a:prstGeom>
            <a:noFill/>
            <a:ln>
              <a:noFill/>
            </a:ln>
          </p:spPr>
        </p:pic>
      </p:grpSp>
      <p:grpSp>
        <p:nvGrpSpPr>
          <p:cNvPr id="547" name="Google Shape;547;p4"/>
          <p:cNvGrpSpPr/>
          <p:nvPr/>
        </p:nvGrpSpPr>
        <p:grpSpPr>
          <a:xfrm>
            <a:off x="10002508" y="5616400"/>
            <a:ext cx="214974" cy="403920"/>
            <a:chOff x="4140" y="429"/>
            <a:chExt cx="1425" cy="2396"/>
          </a:xfrm>
        </p:grpSpPr>
        <p:sp>
          <p:nvSpPr>
            <p:cNvPr id="548" name="Google Shape;548;p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9" name="Google Shape;549;p4"/>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50" name="Google Shape;550;p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1" name="Google Shape;551;p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52" name="Google Shape;552;p4"/>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53" name="Google Shape;553;p4"/>
            <p:cNvGrpSpPr/>
            <p:nvPr/>
          </p:nvGrpSpPr>
          <p:grpSpPr>
            <a:xfrm>
              <a:off x="4748" y="666"/>
              <a:ext cx="578" cy="150"/>
              <a:chOff x="613" y="2566"/>
              <a:chExt cx="721" cy="144"/>
            </a:xfrm>
          </p:grpSpPr>
          <p:sp>
            <p:nvSpPr>
              <p:cNvPr id="554" name="Google Shape;554;p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55" name="Google Shape;555;p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56" name="Google Shape;556;p4"/>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57" name="Google Shape;557;p4"/>
            <p:cNvGrpSpPr/>
            <p:nvPr/>
          </p:nvGrpSpPr>
          <p:grpSpPr>
            <a:xfrm>
              <a:off x="4748" y="990"/>
              <a:ext cx="578" cy="134"/>
              <a:chOff x="615" y="2564"/>
              <a:chExt cx="721" cy="139"/>
            </a:xfrm>
          </p:grpSpPr>
          <p:sp>
            <p:nvSpPr>
              <p:cNvPr id="558" name="Google Shape;558;p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59" name="Google Shape;559;p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60" name="Google Shape;560;p4"/>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61" name="Google Shape;561;p4"/>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62" name="Google Shape;562;p4"/>
            <p:cNvGrpSpPr/>
            <p:nvPr/>
          </p:nvGrpSpPr>
          <p:grpSpPr>
            <a:xfrm>
              <a:off x="4738" y="1647"/>
              <a:ext cx="578" cy="135"/>
              <a:chOff x="618" y="2586"/>
              <a:chExt cx="720" cy="124"/>
            </a:xfrm>
          </p:grpSpPr>
          <p:sp>
            <p:nvSpPr>
              <p:cNvPr id="563" name="Google Shape;563;p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64" name="Google Shape;564;p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65" name="Google Shape;565;p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66" name="Google Shape;566;p4"/>
            <p:cNvGrpSpPr/>
            <p:nvPr/>
          </p:nvGrpSpPr>
          <p:grpSpPr>
            <a:xfrm>
              <a:off x="4738" y="1330"/>
              <a:ext cx="588" cy="134"/>
              <a:chOff x="613" y="2571"/>
              <a:chExt cx="732" cy="134"/>
            </a:xfrm>
          </p:grpSpPr>
          <p:sp>
            <p:nvSpPr>
              <p:cNvPr id="567" name="Google Shape;567;p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68" name="Google Shape;568;p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69" name="Google Shape;569;p4"/>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70" name="Google Shape;570;p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1" name="Google Shape;571;p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2" name="Google Shape;572;p4"/>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73" name="Google Shape;573;p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4" name="Google Shape;574;p4"/>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75" name="Google Shape;575;p4"/>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76" name="Google Shape;576;p4"/>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77" name="Google Shape;577;p4"/>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578" name="Google Shape;578;p4"/>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79" name="Google Shape;579;p4"/>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580" name="Google Shape;580;p4"/>
          <p:cNvGrpSpPr/>
          <p:nvPr/>
        </p:nvGrpSpPr>
        <p:grpSpPr>
          <a:xfrm>
            <a:off x="7680324" y="1137866"/>
            <a:ext cx="3489213" cy="4926975"/>
            <a:chOff x="7680324" y="1137866"/>
            <a:chExt cx="3489213" cy="4926975"/>
          </a:xfrm>
        </p:grpSpPr>
        <p:sp>
          <p:nvSpPr>
            <p:cNvPr id="581" name="Google Shape;581;p4"/>
            <p:cNvSpPr/>
            <p:nvPr/>
          </p:nvSpPr>
          <p:spPr>
            <a:xfrm>
              <a:off x="8005845" y="1190714"/>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2" name="Google Shape;582;p4"/>
            <p:cNvSpPr/>
            <p:nvPr/>
          </p:nvSpPr>
          <p:spPr>
            <a:xfrm>
              <a:off x="10104523" y="4775289"/>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83" name="Google Shape;583;p4"/>
            <p:cNvGrpSpPr/>
            <p:nvPr/>
          </p:nvGrpSpPr>
          <p:grpSpPr>
            <a:xfrm>
              <a:off x="7680324" y="1137866"/>
              <a:ext cx="3489213" cy="4926975"/>
              <a:chOff x="7680324" y="1137866"/>
              <a:chExt cx="3489213" cy="4926975"/>
            </a:xfrm>
          </p:grpSpPr>
          <p:sp>
            <p:nvSpPr>
              <p:cNvPr id="584" name="Google Shape;584;p4"/>
              <p:cNvSpPr/>
              <p:nvPr/>
            </p:nvSpPr>
            <p:spPr>
              <a:xfrm>
                <a:off x="7680324" y="181417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5" name="Google Shape;585;p4"/>
              <p:cNvSpPr/>
              <p:nvPr/>
            </p:nvSpPr>
            <p:spPr>
              <a:xfrm>
                <a:off x="9823450" y="5554772"/>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86" name="Google Shape;586;p4"/>
              <p:cNvGrpSpPr/>
              <p:nvPr/>
            </p:nvGrpSpPr>
            <p:grpSpPr>
              <a:xfrm>
                <a:off x="10288915" y="4742972"/>
                <a:ext cx="880622" cy="861812"/>
                <a:chOff x="10288915" y="4742972"/>
                <a:chExt cx="880622" cy="861812"/>
              </a:xfrm>
            </p:grpSpPr>
            <p:grpSp>
              <p:nvGrpSpPr>
                <p:cNvPr id="587" name="Google Shape;587;p4"/>
                <p:cNvGrpSpPr/>
                <p:nvPr/>
              </p:nvGrpSpPr>
              <p:grpSpPr>
                <a:xfrm>
                  <a:off x="10288915" y="5273951"/>
                  <a:ext cx="177192" cy="330833"/>
                  <a:chOff x="4140" y="429"/>
                  <a:chExt cx="1425" cy="2396"/>
                </a:xfrm>
              </p:grpSpPr>
              <p:sp>
                <p:nvSpPr>
                  <p:cNvPr id="588" name="Google Shape;588;p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9" name="Google Shape;589;p4"/>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90" name="Google Shape;590;p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1" name="Google Shape;591;p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2" name="Google Shape;592;p4"/>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93" name="Google Shape;593;p4"/>
                  <p:cNvGrpSpPr/>
                  <p:nvPr/>
                </p:nvGrpSpPr>
                <p:grpSpPr>
                  <a:xfrm>
                    <a:off x="4748" y="666"/>
                    <a:ext cx="578" cy="150"/>
                    <a:chOff x="613" y="2566"/>
                    <a:chExt cx="721" cy="144"/>
                  </a:xfrm>
                </p:grpSpPr>
                <p:sp>
                  <p:nvSpPr>
                    <p:cNvPr id="594" name="Google Shape;594;p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95" name="Google Shape;595;p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96" name="Google Shape;596;p4"/>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597" name="Google Shape;597;p4"/>
                  <p:cNvGrpSpPr/>
                  <p:nvPr/>
                </p:nvGrpSpPr>
                <p:grpSpPr>
                  <a:xfrm>
                    <a:off x="4748" y="990"/>
                    <a:ext cx="578" cy="134"/>
                    <a:chOff x="615" y="2564"/>
                    <a:chExt cx="721" cy="139"/>
                  </a:xfrm>
                </p:grpSpPr>
                <p:sp>
                  <p:nvSpPr>
                    <p:cNvPr id="598" name="Google Shape;598;p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99" name="Google Shape;599;p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00" name="Google Shape;600;p4"/>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01" name="Google Shape;601;p4"/>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02" name="Google Shape;602;p4"/>
                  <p:cNvGrpSpPr/>
                  <p:nvPr/>
                </p:nvGrpSpPr>
                <p:grpSpPr>
                  <a:xfrm>
                    <a:off x="4738" y="1647"/>
                    <a:ext cx="578" cy="135"/>
                    <a:chOff x="618" y="2586"/>
                    <a:chExt cx="720" cy="124"/>
                  </a:xfrm>
                </p:grpSpPr>
                <p:sp>
                  <p:nvSpPr>
                    <p:cNvPr id="603" name="Google Shape;603;p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04" name="Google Shape;604;p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05" name="Google Shape;605;p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06" name="Google Shape;606;p4"/>
                  <p:cNvGrpSpPr/>
                  <p:nvPr/>
                </p:nvGrpSpPr>
                <p:grpSpPr>
                  <a:xfrm>
                    <a:off x="4738" y="1330"/>
                    <a:ext cx="588" cy="134"/>
                    <a:chOff x="613" y="2571"/>
                    <a:chExt cx="732" cy="134"/>
                  </a:xfrm>
                </p:grpSpPr>
                <p:sp>
                  <p:nvSpPr>
                    <p:cNvPr id="607" name="Google Shape;607;p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08" name="Google Shape;608;p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09" name="Google Shape;609;p4"/>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10" name="Google Shape;610;p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1" name="Google Shape;611;p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2" name="Google Shape;612;p4"/>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13" name="Google Shape;613;p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4" name="Google Shape;614;p4"/>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15" name="Google Shape;615;p4"/>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16" name="Google Shape;616;p4"/>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17" name="Google Shape;617;p4"/>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618" name="Google Shape;618;p4"/>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19" name="Google Shape;619;p4"/>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20" name="Google Shape;620;p4"/>
                <p:cNvSpPr/>
                <p:nvPr/>
              </p:nvSpPr>
              <p:spPr>
                <a:xfrm>
                  <a:off x="10452186" y="4753064"/>
                  <a:ext cx="676276" cy="776288"/>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21" name="Google Shape;621;p4"/>
                <p:cNvSpPr/>
                <p:nvPr/>
              </p:nvSpPr>
              <p:spPr>
                <a:xfrm>
                  <a:off x="10418848" y="4776877"/>
                  <a:ext cx="690563"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22" name="Google Shape;622;p4"/>
                <p:cNvSpPr/>
                <p:nvPr/>
              </p:nvSpPr>
              <p:spPr>
                <a:xfrm>
                  <a:off x="10425991" y="4930726"/>
                  <a:ext cx="676276" cy="18666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23" name="Google Shape;623;p4"/>
                <p:cNvSpPr txBox="1"/>
                <p:nvPr/>
              </p:nvSpPr>
              <p:spPr>
                <a:xfrm>
                  <a:off x="10355149" y="4742972"/>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624" name="Google Shape;624;p4"/>
                <p:cNvCxnSpPr/>
                <p:nvPr/>
              </p:nvCxnSpPr>
              <p:spPr>
                <a:xfrm>
                  <a:off x="10418848" y="5119777"/>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625" name="Google Shape;625;p4"/>
                <p:cNvCxnSpPr/>
                <p:nvPr/>
              </p:nvCxnSpPr>
              <p:spPr>
                <a:xfrm>
                  <a:off x="10428373" y="5257889"/>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626" name="Google Shape;626;p4"/>
                <p:cNvCxnSpPr/>
                <p:nvPr/>
              </p:nvCxnSpPr>
              <p:spPr>
                <a:xfrm>
                  <a:off x="10428373" y="5396002"/>
                  <a:ext cx="690563" cy="4763"/>
                </a:xfrm>
                <a:prstGeom prst="straightConnector1">
                  <a:avLst/>
                </a:prstGeom>
                <a:noFill/>
                <a:ln cap="flat" cmpd="sng" w="12700">
                  <a:solidFill>
                    <a:schemeClr val="dk1"/>
                  </a:solidFill>
                  <a:prstDash val="solid"/>
                  <a:round/>
                  <a:headEnd len="med" w="med" type="none"/>
                  <a:tailEnd len="med" w="med" type="none"/>
                </a:ln>
              </p:spPr>
            </p:cxnSp>
          </p:grpSp>
          <p:grpSp>
            <p:nvGrpSpPr>
              <p:cNvPr id="627" name="Google Shape;627;p4"/>
              <p:cNvGrpSpPr/>
              <p:nvPr/>
            </p:nvGrpSpPr>
            <p:grpSpPr>
              <a:xfrm>
                <a:off x="8252702" y="1137866"/>
                <a:ext cx="814388" cy="854075"/>
                <a:chOff x="9791027" y="656358"/>
                <a:chExt cx="814388" cy="854075"/>
              </a:xfrm>
            </p:grpSpPr>
            <p:sp>
              <p:nvSpPr>
                <p:cNvPr id="628" name="Google Shape;628;p4"/>
                <p:cNvSpPr/>
                <p:nvPr/>
              </p:nvSpPr>
              <p:spPr>
                <a:xfrm>
                  <a:off x="9888064" y="666450"/>
                  <a:ext cx="676276" cy="776288"/>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29" name="Google Shape;629;p4"/>
                <p:cNvSpPr/>
                <p:nvPr/>
              </p:nvSpPr>
              <p:spPr>
                <a:xfrm>
                  <a:off x="9854726" y="690263"/>
                  <a:ext cx="690563"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30" name="Google Shape;630;p4"/>
                <p:cNvSpPr/>
                <p:nvPr/>
              </p:nvSpPr>
              <p:spPr>
                <a:xfrm>
                  <a:off x="9861869" y="844112"/>
                  <a:ext cx="676276" cy="18666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31" name="Google Shape;631;p4"/>
                <p:cNvSpPr txBox="1"/>
                <p:nvPr/>
              </p:nvSpPr>
              <p:spPr>
                <a:xfrm>
                  <a:off x="9791027" y="656358"/>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632" name="Google Shape;632;p4"/>
                <p:cNvCxnSpPr/>
                <p:nvPr/>
              </p:nvCxnSpPr>
              <p:spPr>
                <a:xfrm>
                  <a:off x="9854726" y="1033163"/>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633" name="Google Shape;633;p4"/>
                <p:cNvCxnSpPr/>
                <p:nvPr/>
              </p:nvCxnSpPr>
              <p:spPr>
                <a:xfrm>
                  <a:off x="9864251" y="1171275"/>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634" name="Google Shape;634;p4"/>
                <p:cNvCxnSpPr/>
                <p:nvPr/>
              </p:nvCxnSpPr>
              <p:spPr>
                <a:xfrm>
                  <a:off x="9864251" y="1309388"/>
                  <a:ext cx="690563" cy="4763"/>
                </a:xfrm>
                <a:prstGeom prst="straightConnector1">
                  <a:avLst/>
                </a:prstGeom>
                <a:noFill/>
                <a:ln cap="flat" cmpd="sng" w="12700">
                  <a:solidFill>
                    <a:schemeClr val="dk1"/>
                  </a:solidFill>
                  <a:prstDash val="solid"/>
                  <a:round/>
                  <a:headEnd len="med" w="med" type="none"/>
                  <a:tailEnd len="med" w="med" type="none"/>
                </a:ln>
              </p:spPr>
            </p:cxnSp>
          </p:grpSp>
          <p:sp>
            <p:nvSpPr>
              <p:cNvPr id="635" name="Google Shape;635;p4"/>
              <p:cNvSpPr/>
              <p:nvPr/>
            </p:nvSpPr>
            <p:spPr>
              <a:xfrm rot="-1710802">
                <a:off x="9544123" y="1270072"/>
                <a:ext cx="626354" cy="3838406"/>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6" name="Google Shape;636;p4"/>
              <p:cNvSpPr txBox="1"/>
              <p:nvPr/>
            </p:nvSpPr>
            <p:spPr>
              <a:xfrm rot="3706861">
                <a:off x="8640694" y="3103268"/>
                <a:ext cx="255044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logical end-end transport</a:t>
                </a:r>
                <a:endParaRPr/>
              </a:p>
            </p:txBody>
          </p:sp>
        </p:grpSp>
      </p:grpSp>
      <p:sp>
        <p:nvSpPr>
          <p:cNvPr id="637" name="Google Shape;637;p4"/>
          <p:cNvSpPr txBox="1"/>
          <p:nvPr/>
        </p:nvSpPr>
        <p:spPr>
          <a:xfrm>
            <a:off x="684691" y="2787535"/>
            <a:ext cx="5815703" cy="232775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transport protocols actions in end systems: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sender: breaks application messages into </a:t>
            </a:r>
            <a:r>
              <a:rPr b="0" i="1" lang="en-US" sz="2400" u="none" cap="none" strike="noStrike">
                <a:solidFill>
                  <a:srgbClr val="CC0000"/>
                </a:solidFill>
                <a:latin typeface="Calibri"/>
                <a:ea typeface="Calibri"/>
                <a:cs typeface="Calibri"/>
                <a:sym typeface="Calibri"/>
              </a:rPr>
              <a:t>segments</a:t>
            </a:r>
            <a:r>
              <a:rPr b="0" i="0" lang="en-US" sz="2400" u="none" cap="none" strike="noStrike">
                <a:solidFill>
                  <a:srgbClr val="000000"/>
                </a:solidFill>
                <a:latin typeface="Calibri"/>
                <a:ea typeface="Calibri"/>
                <a:cs typeface="Calibri"/>
                <a:sym typeface="Calibri"/>
              </a:rPr>
              <a:t>, passes to  network layer</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receiver: reassembles segments into messages, passes to application layer</a:t>
            </a:r>
            <a:endParaRPr/>
          </a:p>
        </p:txBody>
      </p:sp>
      <p:sp>
        <p:nvSpPr>
          <p:cNvPr id="638" name="Google Shape;638;p4"/>
          <p:cNvSpPr txBox="1"/>
          <p:nvPr/>
        </p:nvSpPr>
        <p:spPr>
          <a:xfrm>
            <a:off x="681217" y="5165099"/>
            <a:ext cx="5815703" cy="1448546"/>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two transport protocols available to Internet applications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TCP, UDP</a:t>
            </a:r>
            <a:endParaRPr/>
          </a:p>
        </p:txBody>
      </p:sp>
      <p:sp>
        <p:nvSpPr>
          <p:cNvPr id="639" name="Google Shape;639;p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0"/>
                                        </p:tgtEl>
                                        <p:attrNameLst>
                                          <p:attrName>style.visibility</p:attrName>
                                        </p:attrNameLst>
                                      </p:cBhvr>
                                      <p:to>
                                        <p:strVal val="visible"/>
                                      </p:to>
                                    </p:set>
                                    <p:animEffect filter="fade" transition="in">
                                      <p:cBhvr>
                                        <p:cTn dur="500"/>
                                        <p:tgtEl>
                                          <p:spTgt spid="580"/>
                                        </p:tgtEl>
                                      </p:cBhvr>
                                    </p:animEffect>
                                  </p:childTnLst>
                                </p:cTn>
                              </p:par>
                              <p:par>
                                <p:cTn fill="hold" nodeType="withEffect" presetClass="entr" presetID="10" presetSubtype="0">
                                  <p:stCondLst>
                                    <p:cond delay="0"/>
                                  </p:stCondLst>
                                  <p:childTnLst>
                                    <p:set>
                                      <p:cBhvr>
                                        <p:cTn dur="1" fill="hold">
                                          <p:stCondLst>
                                            <p:cond delay="0"/>
                                          </p:stCondLst>
                                        </p:cTn>
                                        <p:tgtEl>
                                          <p:spTgt spid="543"/>
                                        </p:tgtEl>
                                        <p:attrNameLst>
                                          <p:attrName>style.visibility</p:attrName>
                                        </p:attrNameLst>
                                      </p:cBhvr>
                                      <p:to>
                                        <p:strVal val="visible"/>
                                      </p:to>
                                    </p:set>
                                    <p:animEffect filter="fade" transition="in">
                                      <p:cBhvr>
                                        <p:cTn dur="500"/>
                                        <p:tgtEl>
                                          <p:spTgt spid="5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7"/>
                                        </p:tgtEl>
                                        <p:attrNameLst>
                                          <p:attrName>style.visibility</p:attrName>
                                        </p:attrNameLst>
                                      </p:cBhvr>
                                      <p:to>
                                        <p:strVal val="visible"/>
                                      </p:to>
                                    </p:set>
                                    <p:animEffect filter="fade" transition="in">
                                      <p:cBhvr>
                                        <p:cTn dur="500"/>
                                        <p:tgtEl>
                                          <p:spTgt spid="6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gtEl>
                                        <p:attrNameLst>
                                          <p:attrName>style.visibility</p:attrName>
                                        </p:attrNameLst>
                                      </p:cBhvr>
                                      <p:to>
                                        <p:strVal val="visible"/>
                                      </p:to>
                                    </p:set>
                                    <p:animEffect filter="fade" transition="in">
                                      <p:cBhvr>
                                        <p:cTn dur="500"/>
                                        <p:tgtEl>
                                          <p:spTgt spid="6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a:t>Transport vs. network layer services and protocols</a:t>
            </a:r>
            <a:endParaRPr/>
          </a:p>
        </p:txBody>
      </p:sp>
      <p:grpSp>
        <p:nvGrpSpPr>
          <p:cNvPr id="646" name="Google Shape;646;p5"/>
          <p:cNvGrpSpPr/>
          <p:nvPr/>
        </p:nvGrpSpPr>
        <p:grpSpPr>
          <a:xfrm>
            <a:off x="6278709" y="1094882"/>
            <a:ext cx="5468536" cy="5077175"/>
            <a:chOff x="6430780" y="1365914"/>
            <a:chExt cx="5468536" cy="5077175"/>
          </a:xfrm>
        </p:grpSpPr>
        <p:sp>
          <p:nvSpPr>
            <p:cNvPr id="647" name="Google Shape;647;p5"/>
            <p:cNvSpPr/>
            <p:nvPr/>
          </p:nvSpPr>
          <p:spPr>
            <a:xfrm>
              <a:off x="6539916" y="1365914"/>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48" name="Google Shape;648;p5"/>
            <p:cNvSpPr/>
            <p:nvPr/>
          </p:nvSpPr>
          <p:spPr>
            <a:xfrm>
              <a:off x="6430780" y="1910777"/>
              <a:ext cx="5230917" cy="4409765"/>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49" name="Google Shape;649;p5"/>
            <p:cNvSpPr txBox="1"/>
            <p:nvPr/>
          </p:nvSpPr>
          <p:spPr>
            <a:xfrm>
              <a:off x="7104167" y="1686939"/>
              <a:ext cx="3025187" cy="44563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99"/>
                </a:buClr>
                <a:buSzPts val="1820"/>
                <a:buFont typeface="Noto Sans Symbols"/>
                <a:buNone/>
              </a:pPr>
              <a:r>
                <a:rPr b="0" i="1" lang="en-US" sz="2800" u="none" cap="none" strike="noStrike">
                  <a:solidFill>
                    <a:srgbClr val="000099"/>
                  </a:solidFill>
                  <a:latin typeface="Calibri"/>
                  <a:ea typeface="Calibri"/>
                  <a:cs typeface="Calibri"/>
                  <a:sym typeface="Calibri"/>
                </a:rPr>
                <a:t>household analogy:</a:t>
              </a:r>
              <a:endParaRPr b="0" i="1" sz="2800" u="none" cap="none" strike="noStrike">
                <a:solidFill>
                  <a:srgbClr val="000000"/>
                </a:solidFill>
                <a:latin typeface="Calibri"/>
                <a:ea typeface="Calibri"/>
                <a:cs typeface="Calibri"/>
                <a:sym typeface="Calibri"/>
              </a:endParaRPr>
            </a:p>
          </p:txBody>
        </p:sp>
        <p:sp>
          <p:nvSpPr>
            <p:cNvPr id="650" name="Google Shape;650;p5"/>
            <p:cNvSpPr txBox="1"/>
            <p:nvPr/>
          </p:nvSpPr>
          <p:spPr>
            <a:xfrm>
              <a:off x="6539915" y="2193352"/>
              <a:ext cx="4916773" cy="4249737"/>
            </a:xfrm>
            <a:prstGeom prst="rect">
              <a:avLst/>
            </a:prstGeom>
            <a:noFill/>
            <a:ln>
              <a:noFill/>
            </a:ln>
          </p:spPr>
          <p:txBody>
            <a:bodyPr anchorCtr="0" anchor="t" bIns="45700" lIns="91425" spcFirstLastPara="1" rIns="91425" wrap="square" tIns="45700">
              <a:normAutofit fontScale="92500" lnSpcReduction="20000"/>
            </a:bodyPr>
            <a:lstStyle/>
            <a:p>
              <a:pPr indent="-222250" lvl="0" marL="352425" marR="0" rtl="0" algn="l">
                <a:lnSpc>
                  <a:spcPct val="100000"/>
                </a:lnSpc>
                <a:spcBef>
                  <a:spcPts val="0"/>
                </a:spcBef>
                <a:spcAft>
                  <a:spcPts val="0"/>
                </a:spcAft>
                <a:buClr>
                  <a:srgbClr val="0000A3"/>
                </a:buClr>
                <a:buSzPct val="100000"/>
                <a:buFont typeface="Noto Sans Symbols"/>
                <a:buNone/>
              </a:pPr>
              <a:r>
                <a:rPr b="0" i="1" lang="en-US" sz="3000" u="none" cap="none" strike="noStrike">
                  <a:solidFill>
                    <a:srgbClr val="000000"/>
                  </a:solidFill>
                  <a:latin typeface="Calibri"/>
                  <a:ea typeface="Calibri"/>
                  <a:cs typeface="Calibri"/>
                  <a:sym typeface="Calibri"/>
                </a:rPr>
                <a:t>12 kids in Ann’s house sending letters to 12 kids in Bill’s house:</a:t>
              </a:r>
              <a:endParaRPr b="0" i="0" sz="3000" u="none" cap="none" strike="noStrike">
                <a:solidFill>
                  <a:srgbClr val="000000"/>
                </a:solidFill>
                <a:latin typeface="Calibri"/>
                <a:ea typeface="Calibri"/>
                <a:cs typeface="Calibri"/>
                <a:sym typeface="Calibri"/>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hosts = houses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processes = kids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app messages = letters in envelopes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transport protocol = Ann and Bill who demux to in-house siblings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network-layer protocol = postal service</a:t>
              </a:r>
              <a:endParaRPr/>
            </a:p>
            <a:p>
              <a:pPr indent="-222250" lvl="0" marL="352425" marR="0" rtl="0" algn="l">
                <a:lnSpc>
                  <a:spcPct val="70000"/>
                </a:lnSpc>
                <a:spcBef>
                  <a:spcPts val="1000"/>
                </a:spcBef>
                <a:spcAft>
                  <a:spcPts val="0"/>
                </a:spcAft>
                <a:buClr>
                  <a:srgbClr val="0000A3"/>
                </a:buClr>
                <a:buSzPct val="100000"/>
                <a:buFont typeface="Noto Sans Symbols"/>
                <a:buNone/>
              </a:pPr>
              <a:r>
                <a:t/>
              </a:r>
              <a:endParaRPr b="0" i="0" sz="2400" u="none" cap="none" strike="noStrike">
                <a:solidFill>
                  <a:srgbClr val="000000"/>
                </a:solidFill>
                <a:latin typeface="Calibri"/>
                <a:ea typeface="Calibri"/>
                <a:cs typeface="Calibri"/>
                <a:sym typeface="Calibri"/>
              </a:endParaRPr>
            </a:p>
          </p:txBody>
        </p:sp>
      </p:grpSp>
      <p:pic>
        <p:nvPicPr>
          <p:cNvPr id="651" name="Google Shape;651;p5"/>
          <p:cNvPicPr preferRelativeResize="0"/>
          <p:nvPr/>
        </p:nvPicPr>
        <p:blipFill rotWithShape="1">
          <a:blip r:embed="rId3">
            <a:alphaModFix/>
          </a:blip>
          <a:srcRect b="0" l="0" r="0" t="0"/>
          <a:stretch/>
        </p:blipFill>
        <p:spPr>
          <a:xfrm>
            <a:off x="1423754" y="1415907"/>
            <a:ext cx="3622416" cy="5035158"/>
          </a:xfrm>
          <a:prstGeom prst="rect">
            <a:avLst/>
          </a:prstGeom>
          <a:noFill/>
          <a:ln>
            <a:noFill/>
          </a:ln>
        </p:spPr>
      </p:pic>
      <p:sp>
        <p:nvSpPr>
          <p:cNvPr id="652" name="Google Shape;652;p5"/>
          <p:cNvSpPr/>
          <p:nvPr/>
        </p:nvSpPr>
        <p:spPr>
          <a:xfrm>
            <a:off x="6387844" y="4452079"/>
            <a:ext cx="5121782" cy="136410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3" name="Google Shape;653;p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51"/>
                                        </p:tgtEl>
                                        <p:attrNameLst>
                                          <p:attrName>style.visibility</p:attrName>
                                        </p:attrNameLst>
                                      </p:cBhvr>
                                      <p:to>
                                        <p:strVal val="visible"/>
                                      </p:to>
                                    </p:set>
                                    <p:animEffect filter="fade" transition="in">
                                      <p:cBhvr>
                                        <p:cTn dur="1000"/>
                                        <p:tgtEl>
                                          <p:spTgt spid="6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a:t>Transport vs. network layer services and protocols</a:t>
            </a:r>
            <a:endParaRPr/>
          </a:p>
        </p:txBody>
      </p:sp>
      <p:sp>
        <p:nvSpPr>
          <p:cNvPr id="660" name="Google Shape;660;p6"/>
          <p:cNvSpPr txBox="1"/>
          <p:nvPr/>
        </p:nvSpPr>
        <p:spPr>
          <a:xfrm>
            <a:off x="702363" y="1523857"/>
            <a:ext cx="5230917"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99"/>
                </a:solidFill>
                <a:latin typeface="Calibri"/>
                <a:ea typeface="Calibri"/>
                <a:cs typeface="Calibri"/>
                <a:sym typeface="Calibri"/>
              </a:rPr>
              <a:t>network layer:</a:t>
            </a:r>
            <a:r>
              <a:rPr b="0" i="0" lang="en-US" sz="3200" u="none" cap="none" strike="noStrike">
                <a:solidFill>
                  <a:srgbClr val="000000"/>
                </a:solidFill>
                <a:latin typeface="Calibri"/>
                <a:ea typeface="Calibri"/>
                <a:cs typeface="Calibri"/>
                <a:sym typeface="Calibri"/>
              </a:rPr>
              <a:t> logical communication between </a:t>
            </a:r>
            <a:r>
              <a:rPr b="0" i="1" lang="en-US" sz="3200" u="none" cap="none" strike="noStrike">
                <a:solidFill>
                  <a:srgbClr val="C00000"/>
                </a:solidFill>
                <a:latin typeface="Calibri"/>
                <a:ea typeface="Calibri"/>
                <a:cs typeface="Calibri"/>
                <a:sym typeface="Calibri"/>
              </a:rPr>
              <a:t>hosts</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99"/>
                </a:solidFill>
                <a:latin typeface="Calibri"/>
                <a:ea typeface="Calibri"/>
                <a:cs typeface="Calibri"/>
                <a:sym typeface="Calibri"/>
              </a:rPr>
              <a:t>transport layer</a:t>
            </a:r>
            <a:r>
              <a:rPr b="0" i="1" lang="en-US" sz="3200" u="none" cap="none" strike="noStrike">
                <a:solidFill>
                  <a:srgbClr val="000099"/>
                </a:solidFill>
                <a:latin typeface="Calibri"/>
                <a:ea typeface="Calibri"/>
                <a:cs typeface="Calibri"/>
                <a:sym typeface="Calibri"/>
              </a:rPr>
              <a:t>:</a:t>
            </a:r>
            <a:r>
              <a:rPr b="0" i="0" lang="en-US" sz="3200" u="none" cap="none" strike="noStrike">
                <a:solidFill>
                  <a:srgbClr val="000000"/>
                </a:solidFill>
                <a:latin typeface="Calibri"/>
                <a:ea typeface="Calibri"/>
                <a:cs typeface="Calibri"/>
                <a:sym typeface="Calibri"/>
              </a:rPr>
              <a:t> logical communication between </a:t>
            </a:r>
            <a:r>
              <a:rPr b="0" i="1" lang="en-US" sz="3200" u="none" cap="none" strike="noStrike">
                <a:solidFill>
                  <a:srgbClr val="C00000"/>
                </a:solidFill>
                <a:latin typeface="Calibri"/>
                <a:ea typeface="Calibri"/>
                <a:cs typeface="Calibri"/>
                <a:sym typeface="Calibri"/>
              </a:rPr>
              <a:t>processes</a:t>
            </a:r>
            <a:r>
              <a:rPr b="0" i="0" lang="en-US" sz="2800" u="none" cap="none" strike="noStrike">
                <a:solidFill>
                  <a:srgbClr val="000000"/>
                </a:solidFill>
                <a:latin typeface="Calibri"/>
                <a:ea typeface="Calibri"/>
                <a:cs typeface="Calibri"/>
                <a:sym typeface="Calibri"/>
              </a:rPr>
              <a:t> </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relies on, enhances, network layer services</a:t>
            </a:r>
            <a:endParaRPr/>
          </a:p>
        </p:txBody>
      </p:sp>
      <p:grpSp>
        <p:nvGrpSpPr>
          <p:cNvPr id="661" name="Google Shape;661;p6"/>
          <p:cNvGrpSpPr/>
          <p:nvPr/>
        </p:nvGrpSpPr>
        <p:grpSpPr>
          <a:xfrm>
            <a:off x="6278709" y="1094882"/>
            <a:ext cx="5468536" cy="5077175"/>
            <a:chOff x="6430780" y="1365914"/>
            <a:chExt cx="5468536" cy="5077175"/>
          </a:xfrm>
        </p:grpSpPr>
        <p:sp>
          <p:nvSpPr>
            <p:cNvPr id="662" name="Google Shape;662;p6"/>
            <p:cNvSpPr/>
            <p:nvPr/>
          </p:nvSpPr>
          <p:spPr>
            <a:xfrm>
              <a:off x="6539916" y="1365914"/>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3" name="Google Shape;663;p6"/>
            <p:cNvSpPr/>
            <p:nvPr/>
          </p:nvSpPr>
          <p:spPr>
            <a:xfrm>
              <a:off x="6430780" y="1910777"/>
              <a:ext cx="5230917" cy="4409765"/>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64" name="Google Shape;664;p6"/>
            <p:cNvSpPr txBox="1"/>
            <p:nvPr/>
          </p:nvSpPr>
          <p:spPr>
            <a:xfrm>
              <a:off x="7104167" y="1686939"/>
              <a:ext cx="3025187" cy="44563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99"/>
                </a:buClr>
                <a:buSzPts val="1820"/>
                <a:buFont typeface="Noto Sans Symbols"/>
                <a:buNone/>
              </a:pPr>
              <a:r>
                <a:rPr b="0" i="1" lang="en-US" sz="2800" u="none" cap="none" strike="noStrike">
                  <a:solidFill>
                    <a:srgbClr val="000099"/>
                  </a:solidFill>
                  <a:latin typeface="Calibri"/>
                  <a:ea typeface="Calibri"/>
                  <a:cs typeface="Calibri"/>
                  <a:sym typeface="Calibri"/>
                </a:rPr>
                <a:t>household analogy:</a:t>
              </a:r>
              <a:endParaRPr b="0" i="1" sz="2800" u="none" cap="none" strike="noStrike">
                <a:solidFill>
                  <a:srgbClr val="000000"/>
                </a:solidFill>
                <a:latin typeface="Calibri"/>
                <a:ea typeface="Calibri"/>
                <a:cs typeface="Calibri"/>
                <a:sym typeface="Calibri"/>
              </a:endParaRPr>
            </a:p>
          </p:txBody>
        </p:sp>
        <p:sp>
          <p:nvSpPr>
            <p:cNvPr id="665" name="Google Shape;665;p6"/>
            <p:cNvSpPr txBox="1"/>
            <p:nvPr/>
          </p:nvSpPr>
          <p:spPr>
            <a:xfrm>
              <a:off x="6539915" y="2193352"/>
              <a:ext cx="4916773" cy="4249737"/>
            </a:xfrm>
            <a:prstGeom prst="rect">
              <a:avLst/>
            </a:prstGeom>
            <a:noFill/>
            <a:ln>
              <a:noFill/>
            </a:ln>
          </p:spPr>
          <p:txBody>
            <a:bodyPr anchorCtr="0" anchor="t" bIns="45700" lIns="91425" spcFirstLastPara="1" rIns="91425" wrap="square" tIns="45700">
              <a:normAutofit fontScale="92500" lnSpcReduction="20000"/>
            </a:bodyPr>
            <a:lstStyle/>
            <a:p>
              <a:pPr indent="-222250" lvl="0" marL="352425" marR="0" rtl="0" algn="l">
                <a:lnSpc>
                  <a:spcPct val="100000"/>
                </a:lnSpc>
                <a:spcBef>
                  <a:spcPts val="0"/>
                </a:spcBef>
                <a:spcAft>
                  <a:spcPts val="0"/>
                </a:spcAft>
                <a:buClr>
                  <a:srgbClr val="0000A3"/>
                </a:buClr>
                <a:buSzPct val="100000"/>
                <a:buFont typeface="Noto Sans Symbols"/>
                <a:buNone/>
              </a:pPr>
              <a:r>
                <a:rPr b="0" i="1" lang="en-US" sz="3000" u="none" cap="none" strike="noStrike">
                  <a:solidFill>
                    <a:srgbClr val="000000"/>
                  </a:solidFill>
                  <a:latin typeface="Calibri"/>
                  <a:ea typeface="Calibri"/>
                  <a:cs typeface="Calibri"/>
                  <a:sym typeface="Calibri"/>
                </a:rPr>
                <a:t>12 kids in Ann’s house sending letters to 12 kids in Bill’s house:</a:t>
              </a:r>
              <a:endParaRPr b="0" i="0" sz="3000" u="none" cap="none" strike="noStrike">
                <a:solidFill>
                  <a:srgbClr val="000000"/>
                </a:solidFill>
                <a:latin typeface="Calibri"/>
                <a:ea typeface="Calibri"/>
                <a:cs typeface="Calibri"/>
                <a:sym typeface="Calibri"/>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hosts = houses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processes = kids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app messages = letters in envelopes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transport protocol = Ann and Bill who demux to in-house siblings</a:t>
              </a:r>
              <a:endParaRPr/>
            </a:p>
            <a:p>
              <a:pPr indent="-222250" lvl="0" marL="352425" marR="0" rtl="0" algn="l">
                <a:lnSpc>
                  <a:spcPct val="100000"/>
                </a:lnSpc>
                <a:spcBef>
                  <a:spcPts val="4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network-layer protocol = postal service</a:t>
              </a:r>
              <a:endParaRPr/>
            </a:p>
            <a:p>
              <a:pPr indent="-222250" lvl="0" marL="352425" marR="0" rtl="0" algn="l">
                <a:lnSpc>
                  <a:spcPct val="70000"/>
                </a:lnSpc>
                <a:spcBef>
                  <a:spcPts val="1000"/>
                </a:spcBef>
                <a:spcAft>
                  <a:spcPts val="0"/>
                </a:spcAft>
                <a:buClr>
                  <a:srgbClr val="0000A3"/>
                </a:buClr>
                <a:buSzPct val="100000"/>
                <a:buFont typeface="Noto Sans Symbols"/>
                <a:buNone/>
              </a:pPr>
              <a:r>
                <a:t/>
              </a:r>
              <a:endParaRPr b="0" i="0" sz="2400" u="none" cap="none" strike="noStrike">
                <a:solidFill>
                  <a:srgbClr val="000000"/>
                </a:solidFill>
                <a:latin typeface="Calibri"/>
                <a:ea typeface="Calibri"/>
                <a:cs typeface="Calibri"/>
                <a:sym typeface="Calibri"/>
              </a:endParaRPr>
            </a:p>
          </p:txBody>
        </p:sp>
      </p:grpSp>
      <p:sp>
        <p:nvSpPr>
          <p:cNvPr id="666" name="Google Shape;666;p6"/>
          <p:cNvSpPr/>
          <p:nvPr/>
        </p:nvSpPr>
        <p:spPr>
          <a:xfrm>
            <a:off x="6387844" y="4463368"/>
            <a:ext cx="5059089" cy="136410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7" name="Google Shape;667;p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xit" presetID="10" presetSubtype="0">
                                  <p:stCondLst>
                                    <p:cond delay="0"/>
                                  </p:stCondLst>
                                  <p:childTnLst>
                                    <p:animEffect filter="fade" transition="out">
                                      <p:cBhvr>
                                        <p:cTn dur="500"/>
                                        <p:tgtEl>
                                          <p:spTgt spid="666"/>
                                        </p:tgtEl>
                                      </p:cBhvr>
                                    </p:animEffect>
                                    <p:set>
                                      <p:cBhvr>
                                        <p:cTn dur="1" fill="hold">
                                          <p:stCondLst>
                                            <p:cond delay="500"/>
                                          </p:stCondLst>
                                        </p:cTn>
                                        <p:tgtEl>
                                          <p:spTgt spid="666"/>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60"/>
                                        </p:tgtEl>
                                        <p:attrNameLst>
                                          <p:attrName>style.visibility</p:attrName>
                                        </p:attrNameLst>
                                      </p:cBhvr>
                                      <p:to>
                                        <p:strVal val="visible"/>
                                      </p:to>
                                    </p:set>
                                    <p:animEffect filter="fade" transition="in">
                                      <p:cBhvr>
                                        <p:cTn dur="500"/>
                                        <p:tgtEl>
                                          <p:spTgt spid="6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grpSp>
        <p:nvGrpSpPr>
          <p:cNvPr id="673" name="Google Shape;673;p7"/>
          <p:cNvGrpSpPr/>
          <p:nvPr/>
        </p:nvGrpSpPr>
        <p:grpSpPr>
          <a:xfrm>
            <a:off x="2578811" y="4965666"/>
            <a:ext cx="6866725" cy="1028731"/>
            <a:chOff x="2578811" y="4965666"/>
            <a:chExt cx="6866725" cy="1028731"/>
          </a:xfrm>
        </p:grpSpPr>
        <p:cxnSp>
          <p:nvCxnSpPr>
            <p:cNvPr id="674" name="Google Shape;674;p7"/>
            <p:cNvCxnSpPr/>
            <p:nvPr/>
          </p:nvCxnSpPr>
          <p:spPr>
            <a:xfrm>
              <a:off x="2578811" y="5062556"/>
              <a:ext cx="1582832" cy="302617"/>
            </a:xfrm>
            <a:prstGeom prst="straightConnector1">
              <a:avLst/>
            </a:prstGeom>
            <a:noFill/>
            <a:ln cap="flat" cmpd="sng" w="19050">
              <a:solidFill>
                <a:schemeClr val="dk1"/>
              </a:solidFill>
              <a:prstDash val="solid"/>
              <a:miter lim="800000"/>
              <a:headEnd len="sm" w="sm" type="none"/>
              <a:tailEnd len="sm" w="sm" type="none"/>
            </a:ln>
          </p:spPr>
        </p:cxnSp>
        <p:grpSp>
          <p:nvGrpSpPr>
            <p:cNvPr id="675" name="Google Shape;675;p7"/>
            <p:cNvGrpSpPr/>
            <p:nvPr/>
          </p:nvGrpSpPr>
          <p:grpSpPr>
            <a:xfrm>
              <a:off x="4062521" y="4965666"/>
              <a:ext cx="5383015" cy="1028731"/>
              <a:chOff x="4062521" y="4965666"/>
              <a:chExt cx="5383015" cy="1028731"/>
            </a:xfrm>
          </p:grpSpPr>
          <p:cxnSp>
            <p:nvCxnSpPr>
              <p:cNvPr id="676" name="Google Shape;676;p7"/>
              <p:cNvCxnSpPr/>
              <p:nvPr/>
            </p:nvCxnSpPr>
            <p:spPr>
              <a:xfrm flipH="1">
                <a:off x="7972023" y="4973372"/>
                <a:ext cx="1473513" cy="474391"/>
              </a:xfrm>
              <a:prstGeom prst="straightConnector1">
                <a:avLst/>
              </a:prstGeom>
              <a:noFill/>
              <a:ln cap="flat" cmpd="sng" w="19050">
                <a:solidFill>
                  <a:schemeClr val="dk1"/>
                </a:solidFill>
                <a:prstDash val="solid"/>
                <a:miter lim="800000"/>
                <a:headEnd len="sm" w="sm" type="none"/>
                <a:tailEnd len="sm" w="sm" type="none"/>
              </a:ln>
            </p:spPr>
          </p:cxnSp>
          <p:sp>
            <p:nvSpPr>
              <p:cNvPr id="677" name="Google Shape;677;p7"/>
              <p:cNvSpPr/>
              <p:nvPr/>
            </p:nvSpPr>
            <p:spPr>
              <a:xfrm>
                <a:off x="4062521" y="4965666"/>
                <a:ext cx="4036903" cy="1028731"/>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             </a:t>
                </a:r>
                <a:endParaRPr/>
              </a:p>
            </p:txBody>
          </p:sp>
        </p:grpSp>
      </p:grpSp>
      <p:sp>
        <p:nvSpPr>
          <p:cNvPr id="678" name="Google Shape;678;p7"/>
          <p:cNvSpPr/>
          <p:nvPr/>
        </p:nvSpPr>
        <p:spPr>
          <a:xfrm>
            <a:off x="10295012" y="2167472"/>
            <a:ext cx="890436" cy="291255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79" name="Google Shape;679;p7"/>
          <p:cNvSpPr/>
          <p:nvPr/>
        </p:nvSpPr>
        <p:spPr>
          <a:xfrm>
            <a:off x="854349" y="2256655"/>
            <a:ext cx="846644" cy="2922199"/>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680" name="Google Shape;680;p7"/>
          <p:cNvGrpSpPr/>
          <p:nvPr/>
        </p:nvGrpSpPr>
        <p:grpSpPr>
          <a:xfrm>
            <a:off x="10955688" y="4246759"/>
            <a:ext cx="549832" cy="1070215"/>
            <a:chOff x="4140" y="429"/>
            <a:chExt cx="1425" cy="2396"/>
          </a:xfrm>
        </p:grpSpPr>
        <p:sp>
          <p:nvSpPr>
            <p:cNvPr id="681" name="Google Shape;681;p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82" name="Google Shape;682;p7"/>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83" name="Google Shape;683;p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84" name="Google Shape;684;p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85" name="Google Shape;685;p7"/>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686" name="Google Shape;686;p7"/>
            <p:cNvGrpSpPr/>
            <p:nvPr/>
          </p:nvGrpSpPr>
          <p:grpSpPr>
            <a:xfrm>
              <a:off x="4751" y="667"/>
              <a:ext cx="580" cy="146"/>
              <a:chOff x="617" y="2567"/>
              <a:chExt cx="724" cy="140"/>
            </a:xfrm>
          </p:grpSpPr>
          <p:sp>
            <p:nvSpPr>
              <p:cNvPr id="687" name="Google Shape;687;p7"/>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88" name="Google Shape;688;p7"/>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689" name="Google Shape;689;p7"/>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690" name="Google Shape;690;p7"/>
            <p:cNvGrpSpPr/>
            <p:nvPr/>
          </p:nvGrpSpPr>
          <p:grpSpPr>
            <a:xfrm>
              <a:off x="4745" y="996"/>
              <a:ext cx="580" cy="156"/>
              <a:chOff x="612" y="2570"/>
              <a:chExt cx="724" cy="162"/>
            </a:xfrm>
          </p:grpSpPr>
          <p:sp>
            <p:nvSpPr>
              <p:cNvPr id="691" name="Google Shape;691;p7"/>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92" name="Google Shape;692;p7"/>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693" name="Google Shape;693;p7"/>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94" name="Google Shape;694;p7"/>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695" name="Google Shape;695;p7"/>
            <p:cNvGrpSpPr/>
            <p:nvPr/>
          </p:nvGrpSpPr>
          <p:grpSpPr>
            <a:xfrm>
              <a:off x="4733" y="1627"/>
              <a:ext cx="586" cy="151"/>
              <a:chOff x="611" y="2568"/>
              <a:chExt cx="730" cy="139"/>
            </a:xfrm>
          </p:grpSpPr>
          <p:sp>
            <p:nvSpPr>
              <p:cNvPr id="696" name="Google Shape;696;p7"/>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697" name="Google Shape;697;p7"/>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698" name="Google Shape;698;p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699" name="Google Shape;699;p7"/>
            <p:cNvGrpSpPr/>
            <p:nvPr/>
          </p:nvGrpSpPr>
          <p:grpSpPr>
            <a:xfrm>
              <a:off x="4739" y="1325"/>
              <a:ext cx="580" cy="140"/>
              <a:chOff x="614" y="2566"/>
              <a:chExt cx="723" cy="140"/>
            </a:xfrm>
          </p:grpSpPr>
          <p:sp>
            <p:nvSpPr>
              <p:cNvPr id="700" name="Google Shape;700;p7"/>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01" name="Google Shape;701;p7"/>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702" name="Google Shape;702;p7"/>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03" name="Google Shape;703;p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04" name="Google Shape;704;p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05" name="Google Shape;705;p7"/>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06" name="Google Shape;706;p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07" name="Google Shape;707;p7"/>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08" name="Google Shape;708;p7"/>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09" name="Google Shape;709;p7"/>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10" name="Google Shape;710;p7"/>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711" name="Google Shape;711;p7"/>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12" name="Google Shape;712;p7"/>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713" name="Google Shape;713;p7"/>
          <p:cNvGrpSpPr/>
          <p:nvPr/>
        </p:nvGrpSpPr>
        <p:grpSpPr>
          <a:xfrm>
            <a:off x="8510352" y="2078288"/>
            <a:ext cx="1946338" cy="2912558"/>
            <a:chOff x="8091785" y="2078288"/>
            <a:chExt cx="2364905" cy="2912558"/>
          </a:xfrm>
        </p:grpSpPr>
        <p:sp>
          <p:nvSpPr>
            <p:cNvPr id="714" name="Google Shape;714;p7"/>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715" name="Google Shape;715;p7"/>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716" name="Google Shape;716;p7"/>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cxnSp>
          <p:nvCxnSpPr>
            <p:cNvPr id="717" name="Google Shape;717;p7"/>
            <p:cNvCxnSpPr/>
            <p:nvPr/>
          </p:nvCxnSpPr>
          <p:spPr>
            <a:xfrm>
              <a:off x="8108201" y="3602458"/>
              <a:ext cx="2233387" cy="0"/>
            </a:xfrm>
            <a:prstGeom prst="straightConnector1">
              <a:avLst/>
            </a:prstGeom>
            <a:noFill/>
            <a:ln cap="flat" cmpd="sng" w="28575">
              <a:solidFill>
                <a:srgbClr val="000000"/>
              </a:solidFill>
              <a:prstDash val="solid"/>
              <a:round/>
              <a:headEnd len="med" w="med" type="none"/>
              <a:tailEnd len="med" w="med" type="none"/>
            </a:ln>
          </p:spPr>
        </p:cxnSp>
        <p:sp>
          <p:nvSpPr>
            <p:cNvPr id="718" name="Google Shape;718;p7"/>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719" name="Google Shape;719;p7"/>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720" name="Google Shape;720;p7"/>
            <p:cNvSpPr txBox="1"/>
            <p:nvPr/>
          </p:nvSpPr>
          <p:spPr>
            <a:xfrm>
              <a:off x="8218436" y="3646079"/>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721" name="Google Shape;721;p7"/>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722" name="Google Shape;722;p7"/>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723" name="Google Shape;723;p7"/>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724" name="Google Shape;724;p7"/>
          <p:cNvGrpSpPr/>
          <p:nvPr/>
        </p:nvGrpSpPr>
        <p:grpSpPr>
          <a:xfrm>
            <a:off x="1687770" y="2167472"/>
            <a:ext cx="2131701" cy="2912558"/>
            <a:chOff x="8091785" y="2078288"/>
            <a:chExt cx="2364905" cy="2912558"/>
          </a:xfrm>
        </p:grpSpPr>
        <p:sp>
          <p:nvSpPr>
            <p:cNvPr id="725" name="Google Shape;725;p7"/>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726" name="Google Shape;726;p7"/>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727" name="Google Shape;727;p7"/>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cxnSp>
          <p:nvCxnSpPr>
            <p:cNvPr id="728" name="Google Shape;728;p7"/>
            <p:cNvCxnSpPr/>
            <p:nvPr/>
          </p:nvCxnSpPr>
          <p:spPr>
            <a:xfrm>
              <a:off x="8121121" y="3602458"/>
              <a:ext cx="2233388" cy="0"/>
            </a:xfrm>
            <a:prstGeom prst="straightConnector1">
              <a:avLst/>
            </a:prstGeom>
            <a:noFill/>
            <a:ln cap="flat" cmpd="sng" w="28575">
              <a:solidFill>
                <a:srgbClr val="000000"/>
              </a:solidFill>
              <a:prstDash val="solid"/>
              <a:round/>
              <a:headEnd len="med" w="med" type="none"/>
              <a:tailEnd len="med" w="med" type="none"/>
            </a:ln>
          </p:spPr>
        </p:cxnSp>
        <p:sp>
          <p:nvSpPr>
            <p:cNvPr id="729" name="Google Shape;729;p7"/>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730" name="Google Shape;730;p7"/>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731" name="Google Shape;731;p7"/>
            <p:cNvSpPr txBox="1"/>
            <p:nvPr/>
          </p:nvSpPr>
          <p:spPr>
            <a:xfrm>
              <a:off x="8218436" y="3646079"/>
              <a:ext cx="2019294"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732" name="Google Shape;732;p7"/>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733" name="Google Shape;733;p7"/>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734" name="Google Shape;734;p7"/>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sp>
        <p:nvSpPr>
          <p:cNvPr id="735" name="Google Shape;735;p7"/>
          <p:cNvSpPr txBox="1"/>
          <p:nvPr/>
        </p:nvSpPr>
        <p:spPr>
          <a:xfrm>
            <a:off x="8732527" y="2993828"/>
            <a:ext cx="1401811"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grpSp>
        <p:nvGrpSpPr>
          <p:cNvPr id="736" name="Google Shape;736;p7"/>
          <p:cNvGrpSpPr/>
          <p:nvPr/>
        </p:nvGrpSpPr>
        <p:grpSpPr>
          <a:xfrm>
            <a:off x="500734" y="4943580"/>
            <a:ext cx="1026523" cy="597153"/>
            <a:chOff x="7493876" y="2774731"/>
            <a:chExt cx="1481958" cy="894622"/>
          </a:xfrm>
        </p:grpSpPr>
        <p:sp>
          <p:nvSpPr>
            <p:cNvPr id="737" name="Google Shape;737;p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38" name="Google Shape;738;p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39" name="Google Shape;739;p7"/>
            <p:cNvGrpSpPr/>
            <p:nvPr/>
          </p:nvGrpSpPr>
          <p:grpSpPr>
            <a:xfrm>
              <a:off x="7713663" y="2848339"/>
              <a:ext cx="1042107" cy="425543"/>
              <a:chOff x="7786941" y="2884917"/>
              <a:chExt cx="897649" cy="353919"/>
            </a:xfrm>
          </p:grpSpPr>
          <p:sp>
            <p:nvSpPr>
              <p:cNvPr id="740" name="Google Shape;740;p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1" name="Google Shape;741;p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2" name="Google Shape;742;p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3" name="Google Shape;743;p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744" name="Google Shape;744;p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Actions</a:t>
            </a:r>
            <a:endParaRPr/>
          </a:p>
        </p:txBody>
      </p:sp>
      <p:grpSp>
        <p:nvGrpSpPr>
          <p:cNvPr id="745" name="Google Shape;745;p7"/>
          <p:cNvGrpSpPr/>
          <p:nvPr/>
        </p:nvGrpSpPr>
        <p:grpSpPr>
          <a:xfrm>
            <a:off x="2462207" y="2756023"/>
            <a:ext cx="412750" cy="158750"/>
            <a:chOff x="1287" y="2524"/>
            <a:chExt cx="260" cy="100"/>
          </a:xfrm>
        </p:grpSpPr>
        <p:sp>
          <p:nvSpPr>
            <p:cNvPr id="746" name="Google Shape;746;p7"/>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7" name="Google Shape;747;p7"/>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8" name="Google Shape;748;p7"/>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9" name="Google Shape;749;p7"/>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50" name="Google Shape;750;p7"/>
          <p:cNvGrpSpPr/>
          <p:nvPr/>
        </p:nvGrpSpPr>
        <p:grpSpPr>
          <a:xfrm>
            <a:off x="9681144" y="2673610"/>
            <a:ext cx="412750" cy="158750"/>
            <a:chOff x="1287" y="2524"/>
            <a:chExt cx="260" cy="100"/>
          </a:xfrm>
        </p:grpSpPr>
        <p:sp>
          <p:nvSpPr>
            <p:cNvPr id="751" name="Google Shape;751;p7"/>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2" name="Google Shape;752;p7"/>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3" name="Google Shape;753;p7"/>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4" name="Google Shape;754;p7"/>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55" name="Google Shape;755;p7"/>
          <p:cNvSpPr txBox="1"/>
          <p:nvPr/>
        </p:nvSpPr>
        <p:spPr>
          <a:xfrm>
            <a:off x="4212477" y="1830701"/>
            <a:ext cx="389834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Sender:</a:t>
            </a:r>
            <a:endParaRPr/>
          </a:p>
          <a:p>
            <a:pPr indent="-92075" lvl="0" marL="285750" marR="0" rtl="0" algn="l">
              <a:lnSpc>
                <a:spcPct val="100000"/>
              </a:lnSpc>
              <a:spcBef>
                <a:spcPts val="0"/>
              </a:spcBef>
              <a:spcAft>
                <a:spcPts val="0"/>
              </a:spcAft>
              <a:buClr>
                <a:srgbClr val="0200A3"/>
              </a:buClr>
              <a:buSzPts val="2000"/>
              <a:buFont typeface="Noto Sans Symbols"/>
              <a:buNone/>
            </a:pPr>
            <a:r>
              <a:t/>
            </a:r>
            <a:endParaRPr b="0" i="0" sz="2000" u="none" cap="none" strike="noStrike">
              <a:solidFill>
                <a:srgbClr val="000000"/>
              </a:solidFill>
              <a:latin typeface="Calibri"/>
              <a:ea typeface="Calibri"/>
              <a:cs typeface="Calibri"/>
              <a:sym typeface="Calibri"/>
            </a:endParaRPr>
          </a:p>
        </p:txBody>
      </p:sp>
      <p:sp>
        <p:nvSpPr>
          <p:cNvPr id="756" name="Google Shape;756;p7"/>
          <p:cNvSpPr/>
          <p:nvPr/>
        </p:nvSpPr>
        <p:spPr>
          <a:xfrm>
            <a:off x="8071146" y="2078287"/>
            <a:ext cx="2415414" cy="3369475"/>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57" name="Google Shape;757;p7"/>
          <p:cNvGrpSpPr/>
          <p:nvPr/>
        </p:nvGrpSpPr>
        <p:grpSpPr>
          <a:xfrm>
            <a:off x="9130164" y="2303106"/>
            <a:ext cx="1259074" cy="369332"/>
            <a:chOff x="8934916" y="2775692"/>
            <a:chExt cx="1259074" cy="369332"/>
          </a:xfrm>
        </p:grpSpPr>
        <p:sp>
          <p:nvSpPr>
            <p:cNvPr id="758" name="Google Shape;758;p7"/>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9" name="Google Shape;759;p7"/>
            <p:cNvSpPr txBox="1"/>
            <p:nvPr/>
          </p:nvSpPr>
          <p:spPr>
            <a:xfrm>
              <a:off x="8934916" y="2775692"/>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 msg</a:t>
              </a:r>
              <a:endParaRPr/>
            </a:p>
          </p:txBody>
        </p:sp>
      </p:grpSp>
      <p:sp>
        <p:nvSpPr>
          <p:cNvPr id="760" name="Google Shape;760;p7"/>
          <p:cNvSpPr txBox="1"/>
          <p:nvPr/>
        </p:nvSpPr>
        <p:spPr>
          <a:xfrm>
            <a:off x="4391544" y="2325099"/>
            <a:ext cx="3825456" cy="1036887"/>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is passed an application-layer message</a:t>
            </a:r>
            <a:endParaRPr/>
          </a:p>
        </p:txBody>
      </p:sp>
      <p:sp>
        <p:nvSpPr>
          <p:cNvPr id="761" name="Google Shape;761;p7"/>
          <p:cNvSpPr txBox="1"/>
          <p:nvPr/>
        </p:nvSpPr>
        <p:spPr>
          <a:xfrm>
            <a:off x="4388186" y="2990916"/>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determines segment header fields values</a:t>
            </a:r>
            <a:endParaRPr/>
          </a:p>
        </p:txBody>
      </p:sp>
      <p:sp>
        <p:nvSpPr>
          <p:cNvPr id="762" name="Google Shape;762;p7"/>
          <p:cNvSpPr txBox="1"/>
          <p:nvPr/>
        </p:nvSpPr>
        <p:spPr>
          <a:xfrm>
            <a:off x="4376692" y="3592863"/>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creates segment</a:t>
            </a:r>
            <a:endParaRPr/>
          </a:p>
        </p:txBody>
      </p:sp>
      <p:sp>
        <p:nvSpPr>
          <p:cNvPr id="763" name="Google Shape;763;p7"/>
          <p:cNvSpPr txBox="1"/>
          <p:nvPr/>
        </p:nvSpPr>
        <p:spPr>
          <a:xfrm>
            <a:off x="4381369" y="4025163"/>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passes segment to IP</a:t>
            </a:r>
            <a:endParaRPr/>
          </a:p>
        </p:txBody>
      </p:sp>
      <p:sp>
        <p:nvSpPr>
          <p:cNvPr id="764" name="Google Shape;764;p7"/>
          <p:cNvSpPr txBox="1"/>
          <p:nvPr/>
        </p:nvSpPr>
        <p:spPr>
          <a:xfrm>
            <a:off x="1944359" y="3086580"/>
            <a:ext cx="1535315"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sp>
        <p:nvSpPr>
          <p:cNvPr id="765" name="Google Shape;765;p7"/>
          <p:cNvSpPr/>
          <p:nvPr/>
        </p:nvSpPr>
        <p:spPr>
          <a:xfrm>
            <a:off x="270781" y="1644192"/>
            <a:ext cx="3715697" cy="4052070"/>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66" name="Google Shape;766;p7"/>
          <p:cNvGrpSpPr/>
          <p:nvPr/>
        </p:nvGrpSpPr>
        <p:grpSpPr>
          <a:xfrm>
            <a:off x="8473556" y="2992506"/>
            <a:ext cx="1259074" cy="338554"/>
            <a:chOff x="8964789" y="2639236"/>
            <a:chExt cx="1259074" cy="338554"/>
          </a:xfrm>
        </p:grpSpPr>
        <p:sp>
          <p:nvSpPr>
            <p:cNvPr id="767" name="Google Shape;767;p7"/>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8" name="Google Shape;768;p7"/>
            <p:cNvSpPr txBox="1"/>
            <p:nvPr/>
          </p:nvSpPr>
          <p:spPr>
            <a:xfrm>
              <a:off x="8964789" y="2639236"/>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   T</a:t>
              </a:r>
              <a:r>
                <a:rPr b="0" baseline="-25000" i="0" lang="en-US" sz="1600" u="none" cap="none" strike="noStrike">
                  <a:solidFill>
                    <a:srgbClr val="000000"/>
                  </a:solidFill>
                  <a:latin typeface="Calibri"/>
                  <a:ea typeface="Calibri"/>
                  <a:cs typeface="Calibri"/>
                  <a:sym typeface="Calibri"/>
                </a:rPr>
                <a:t>h</a:t>
              </a:r>
              <a:endParaRPr/>
            </a:p>
          </p:txBody>
        </p:sp>
      </p:grpSp>
      <p:grpSp>
        <p:nvGrpSpPr>
          <p:cNvPr id="769" name="Google Shape;769;p7"/>
          <p:cNvGrpSpPr/>
          <p:nvPr/>
        </p:nvGrpSpPr>
        <p:grpSpPr>
          <a:xfrm>
            <a:off x="8549491" y="2999047"/>
            <a:ext cx="1818022" cy="369332"/>
            <a:chOff x="7863122" y="5632673"/>
            <a:chExt cx="1818022" cy="369332"/>
          </a:xfrm>
        </p:grpSpPr>
        <p:grpSp>
          <p:nvGrpSpPr>
            <p:cNvPr id="770" name="Google Shape;770;p7"/>
            <p:cNvGrpSpPr/>
            <p:nvPr/>
          </p:nvGrpSpPr>
          <p:grpSpPr>
            <a:xfrm>
              <a:off x="7863122" y="5638955"/>
              <a:ext cx="1259074" cy="338554"/>
              <a:chOff x="8964789" y="2648929"/>
              <a:chExt cx="1259074" cy="338554"/>
            </a:xfrm>
          </p:grpSpPr>
          <p:sp>
            <p:nvSpPr>
              <p:cNvPr id="771" name="Google Shape;771;p7"/>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2" name="Google Shape;772;p7"/>
              <p:cNvSpPr txBox="1"/>
              <p:nvPr/>
            </p:nvSpPr>
            <p:spPr>
              <a:xfrm>
                <a:off x="8964789" y="2648929"/>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   T</a:t>
                </a:r>
                <a:r>
                  <a:rPr b="0" baseline="-25000" i="0" lang="en-US" sz="1600" u="none" cap="none" strike="noStrike">
                    <a:solidFill>
                      <a:srgbClr val="000000"/>
                    </a:solidFill>
                    <a:latin typeface="Calibri"/>
                    <a:ea typeface="Calibri"/>
                    <a:cs typeface="Calibri"/>
                    <a:sym typeface="Calibri"/>
                  </a:rPr>
                  <a:t>h</a:t>
                </a:r>
                <a:endParaRPr/>
              </a:p>
            </p:txBody>
          </p:sp>
        </p:grpSp>
        <p:grpSp>
          <p:nvGrpSpPr>
            <p:cNvPr id="773" name="Google Shape;773;p7"/>
            <p:cNvGrpSpPr/>
            <p:nvPr/>
          </p:nvGrpSpPr>
          <p:grpSpPr>
            <a:xfrm>
              <a:off x="8422070" y="5632673"/>
              <a:ext cx="1259074" cy="369332"/>
              <a:chOff x="8934916" y="2778923"/>
              <a:chExt cx="1259074" cy="369332"/>
            </a:xfrm>
          </p:grpSpPr>
          <p:sp>
            <p:nvSpPr>
              <p:cNvPr id="774" name="Google Shape;774;p7"/>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5" name="Google Shape;775;p7"/>
              <p:cNvSpPr txBox="1"/>
              <p:nvPr/>
            </p:nvSpPr>
            <p:spPr>
              <a:xfrm>
                <a:off x="8934916" y="2778923"/>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 msg</a:t>
                </a:r>
                <a:endParaRPr/>
              </a:p>
            </p:txBody>
          </p:sp>
        </p:grpSp>
      </p:grpSp>
      <p:sp>
        <p:nvSpPr>
          <p:cNvPr id="776" name="Google Shape;776;p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6"/>
                                        </p:tgtEl>
                                        <p:attrNameLst>
                                          <p:attrName>style.visibility</p:attrName>
                                        </p:attrNameLst>
                                      </p:cBhvr>
                                      <p:to>
                                        <p:strVal val="visible"/>
                                      </p:to>
                                    </p:set>
                                    <p:animEffect filter="fade" transition="in">
                                      <p:cBhvr>
                                        <p:cTn dur="500"/>
                                        <p:tgtEl>
                                          <p:spTgt spid="7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7"/>
                                        </p:tgtEl>
                                        <p:attrNameLst>
                                          <p:attrName>style.visibility</p:attrName>
                                        </p:attrNameLst>
                                      </p:cBhvr>
                                      <p:to>
                                        <p:strVal val="visible"/>
                                      </p:to>
                                    </p:set>
                                    <p:animEffect filter="fade" transition="in">
                                      <p:cBhvr>
                                        <p:cTn dur="500"/>
                                        <p:tgtEl>
                                          <p:spTgt spid="757"/>
                                        </p:tgtEl>
                                      </p:cBhvr>
                                    </p:animEffect>
                                  </p:childTnLst>
                                </p:cTn>
                              </p:par>
                              <p:par>
                                <p:cTn fill="hold" nodeType="withEffect" presetClass="entr" presetID="10" presetSubtype="0">
                                  <p:stCondLst>
                                    <p:cond delay="0"/>
                                  </p:stCondLst>
                                  <p:childTnLst>
                                    <p:set>
                                      <p:cBhvr>
                                        <p:cTn dur="1" fill="hold">
                                          <p:stCondLst>
                                            <p:cond delay="0"/>
                                          </p:stCondLst>
                                        </p:cTn>
                                        <p:tgtEl>
                                          <p:spTgt spid="760"/>
                                        </p:tgtEl>
                                        <p:attrNameLst>
                                          <p:attrName>style.visibility</p:attrName>
                                        </p:attrNameLst>
                                      </p:cBhvr>
                                      <p:to>
                                        <p:strVal val="visible"/>
                                      </p:to>
                                    </p:set>
                                    <p:animEffect filter="fade" transition="in">
                                      <p:cBhvr>
                                        <p:cTn dur="500"/>
                                        <p:tgtEl>
                                          <p:spTgt spid="7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6"/>
                                        </p:tgtEl>
                                        <p:attrNameLst>
                                          <p:attrName>style.visibility</p:attrName>
                                        </p:attrNameLst>
                                      </p:cBhvr>
                                      <p:to>
                                        <p:strVal val="visible"/>
                                      </p:to>
                                    </p:set>
                                    <p:animEffect filter="fade" transition="in">
                                      <p:cBhvr>
                                        <p:cTn dur="500"/>
                                        <p:tgtEl>
                                          <p:spTgt spid="766"/>
                                        </p:tgtEl>
                                      </p:cBhvr>
                                    </p:animEffect>
                                  </p:childTnLst>
                                </p:cTn>
                              </p:par>
                              <p:par>
                                <p:cTn fill="hold" nodeType="withEffect" presetClass="entr" presetID="10" presetSubtype="0">
                                  <p:stCondLst>
                                    <p:cond delay="0"/>
                                  </p:stCondLst>
                                  <p:childTnLst>
                                    <p:set>
                                      <p:cBhvr>
                                        <p:cTn dur="1" fill="hold">
                                          <p:stCondLst>
                                            <p:cond delay="0"/>
                                          </p:stCondLst>
                                        </p:cTn>
                                        <p:tgtEl>
                                          <p:spTgt spid="761"/>
                                        </p:tgtEl>
                                        <p:attrNameLst>
                                          <p:attrName>style.visibility</p:attrName>
                                        </p:attrNameLst>
                                      </p:cBhvr>
                                      <p:to>
                                        <p:strVal val="visible"/>
                                      </p:to>
                                    </p:set>
                                    <p:animEffect filter="fade" transition="in">
                                      <p:cBhvr>
                                        <p:cTn dur="500"/>
                                        <p:tgtEl>
                                          <p:spTgt spid="7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66"/>
                                        </p:tgtEl>
                                      </p:cBhvr>
                                    </p:animEffect>
                                    <p:set>
                                      <p:cBhvr>
                                        <p:cTn dur="1" fill="hold">
                                          <p:stCondLst>
                                            <p:cond delay="500"/>
                                          </p:stCondLst>
                                        </p:cTn>
                                        <p:tgtEl>
                                          <p:spTgt spid="76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757"/>
                                        </p:tgtEl>
                                      </p:cBhvr>
                                    </p:animEffect>
                                    <p:set>
                                      <p:cBhvr>
                                        <p:cTn dur="1" fill="hold">
                                          <p:stCondLst>
                                            <p:cond delay="500"/>
                                          </p:stCondLst>
                                        </p:cTn>
                                        <p:tgtEl>
                                          <p:spTgt spid="757"/>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69"/>
                                        </p:tgtEl>
                                        <p:attrNameLst>
                                          <p:attrName>style.visibility</p:attrName>
                                        </p:attrNameLst>
                                      </p:cBhvr>
                                      <p:to>
                                        <p:strVal val="visible"/>
                                      </p:to>
                                    </p:set>
                                    <p:animEffect filter="fade" transition="in">
                                      <p:cBhvr>
                                        <p:cTn dur="500"/>
                                        <p:tgtEl>
                                          <p:spTgt spid="769"/>
                                        </p:tgtEl>
                                      </p:cBhvr>
                                    </p:animEffect>
                                  </p:childTnLst>
                                </p:cTn>
                              </p:par>
                              <p:par>
                                <p:cTn fill="hold" nodeType="withEffect" presetClass="entr" presetID="10" presetSubtype="0">
                                  <p:stCondLst>
                                    <p:cond delay="0"/>
                                  </p:stCondLst>
                                  <p:childTnLst>
                                    <p:set>
                                      <p:cBhvr>
                                        <p:cTn dur="1" fill="hold">
                                          <p:stCondLst>
                                            <p:cond delay="0"/>
                                          </p:stCondLst>
                                        </p:cTn>
                                        <p:tgtEl>
                                          <p:spTgt spid="762"/>
                                        </p:tgtEl>
                                        <p:attrNameLst>
                                          <p:attrName>style.visibility</p:attrName>
                                        </p:attrNameLst>
                                      </p:cBhvr>
                                      <p:to>
                                        <p:strVal val="visible"/>
                                      </p:to>
                                    </p:set>
                                    <p:animEffect filter="fade" transition="in">
                                      <p:cBhvr>
                                        <p:cTn dur="500"/>
                                        <p:tgtEl>
                                          <p:spTgt spid="7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3"/>
                                        </p:tgtEl>
                                        <p:attrNameLst>
                                          <p:attrName>style.visibility</p:attrName>
                                        </p:attrNameLst>
                                      </p:cBhvr>
                                      <p:to>
                                        <p:strVal val="visible"/>
                                      </p:to>
                                    </p:set>
                                    <p:animEffect filter="fade" transition="in">
                                      <p:cBhvr>
                                        <p:cTn dur="500"/>
                                        <p:tgtEl>
                                          <p:spTgt spid="7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grpSp>
        <p:nvGrpSpPr>
          <p:cNvPr id="782" name="Google Shape;782;p8"/>
          <p:cNvGrpSpPr/>
          <p:nvPr/>
        </p:nvGrpSpPr>
        <p:grpSpPr>
          <a:xfrm>
            <a:off x="2578811" y="4965666"/>
            <a:ext cx="6866725" cy="1028731"/>
            <a:chOff x="2578811" y="4965666"/>
            <a:chExt cx="6866725" cy="1028731"/>
          </a:xfrm>
        </p:grpSpPr>
        <p:cxnSp>
          <p:nvCxnSpPr>
            <p:cNvPr id="783" name="Google Shape;783;p8"/>
            <p:cNvCxnSpPr/>
            <p:nvPr/>
          </p:nvCxnSpPr>
          <p:spPr>
            <a:xfrm>
              <a:off x="2578811" y="5062556"/>
              <a:ext cx="1582832" cy="302617"/>
            </a:xfrm>
            <a:prstGeom prst="straightConnector1">
              <a:avLst/>
            </a:prstGeom>
            <a:noFill/>
            <a:ln cap="flat" cmpd="sng" w="19050">
              <a:solidFill>
                <a:schemeClr val="dk1"/>
              </a:solidFill>
              <a:prstDash val="solid"/>
              <a:miter lim="800000"/>
              <a:headEnd len="sm" w="sm" type="none"/>
              <a:tailEnd len="sm" w="sm" type="none"/>
            </a:ln>
          </p:spPr>
        </p:cxnSp>
        <p:grpSp>
          <p:nvGrpSpPr>
            <p:cNvPr id="784" name="Google Shape;784;p8"/>
            <p:cNvGrpSpPr/>
            <p:nvPr/>
          </p:nvGrpSpPr>
          <p:grpSpPr>
            <a:xfrm>
              <a:off x="4062521" y="4965666"/>
              <a:ext cx="5383015" cy="1028731"/>
              <a:chOff x="4062521" y="4965666"/>
              <a:chExt cx="5383015" cy="1028731"/>
            </a:xfrm>
          </p:grpSpPr>
          <p:cxnSp>
            <p:nvCxnSpPr>
              <p:cNvPr id="785" name="Google Shape;785;p8"/>
              <p:cNvCxnSpPr/>
              <p:nvPr/>
            </p:nvCxnSpPr>
            <p:spPr>
              <a:xfrm flipH="1">
                <a:off x="7972023" y="4973372"/>
                <a:ext cx="1473513" cy="474391"/>
              </a:xfrm>
              <a:prstGeom prst="straightConnector1">
                <a:avLst/>
              </a:prstGeom>
              <a:noFill/>
              <a:ln cap="flat" cmpd="sng" w="19050">
                <a:solidFill>
                  <a:schemeClr val="dk1"/>
                </a:solidFill>
                <a:prstDash val="solid"/>
                <a:miter lim="800000"/>
                <a:headEnd len="sm" w="sm" type="none"/>
                <a:tailEnd len="sm" w="sm" type="none"/>
              </a:ln>
            </p:spPr>
          </p:cxnSp>
          <p:sp>
            <p:nvSpPr>
              <p:cNvPr id="786" name="Google Shape;786;p8"/>
              <p:cNvSpPr/>
              <p:nvPr/>
            </p:nvSpPr>
            <p:spPr>
              <a:xfrm>
                <a:off x="4062521" y="4965666"/>
                <a:ext cx="4036903" cy="1028731"/>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             </a:t>
                </a:r>
                <a:endParaRPr/>
              </a:p>
            </p:txBody>
          </p:sp>
        </p:grpSp>
      </p:grpSp>
      <p:sp>
        <p:nvSpPr>
          <p:cNvPr id="787" name="Google Shape;787;p8"/>
          <p:cNvSpPr/>
          <p:nvPr/>
        </p:nvSpPr>
        <p:spPr>
          <a:xfrm>
            <a:off x="10295012" y="2167472"/>
            <a:ext cx="890436" cy="291255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88" name="Google Shape;788;p8"/>
          <p:cNvSpPr/>
          <p:nvPr/>
        </p:nvSpPr>
        <p:spPr>
          <a:xfrm>
            <a:off x="854349" y="2256655"/>
            <a:ext cx="846644" cy="2922199"/>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789" name="Google Shape;789;p8"/>
          <p:cNvGrpSpPr/>
          <p:nvPr/>
        </p:nvGrpSpPr>
        <p:grpSpPr>
          <a:xfrm>
            <a:off x="10955688" y="4246759"/>
            <a:ext cx="549832" cy="1070215"/>
            <a:chOff x="4140" y="429"/>
            <a:chExt cx="1425" cy="2396"/>
          </a:xfrm>
        </p:grpSpPr>
        <p:sp>
          <p:nvSpPr>
            <p:cNvPr id="790" name="Google Shape;790;p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91" name="Google Shape;791;p8"/>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92" name="Google Shape;792;p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93" name="Google Shape;793;p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94" name="Google Shape;794;p8"/>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795" name="Google Shape;795;p8"/>
            <p:cNvGrpSpPr/>
            <p:nvPr/>
          </p:nvGrpSpPr>
          <p:grpSpPr>
            <a:xfrm>
              <a:off x="4751" y="667"/>
              <a:ext cx="580" cy="146"/>
              <a:chOff x="617" y="2567"/>
              <a:chExt cx="724" cy="140"/>
            </a:xfrm>
          </p:grpSpPr>
          <p:sp>
            <p:nvSpPr>
              <p:cNvPr id="796" name="Google Shape;796;p8"/>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797" name="Google Shape;797;p8"/>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798" name="Google Shape;798;p8"/>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799" name="Google Shape;799;p8"/>
            <p:cNvGrpSpPr/>
            <p:nvPr/>
          </p:nvGrpSpPr>
          <p:grpSpPr>
            <a:xfrm>
              <a:off x="4745" y="996"/>
              <a:ext cx="580" cy="156"/>
              <a:chOff x="612" y="2570"/>
              <a:chExt cx="724" cy="162"/>
            </a:xfrm>
          </p:grpSpPr>
          <p:sp>
            <p:nvSpPr>
              <p:cNvPr id="800" name="Google Shape;800;p8"/>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801" name="Google Shape;801;p8"/>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802" name="Google Shape;802;p8"/>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803" name="Google Shape;803;p8"/>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804" name="Google Shape;804;p8"/>
            <p:cNvGrpSpPr/>
            <p:nvPr/>
          </p:nvGrpSpPr>
          <p:grpSpPr>
            <a:xfrm>
              <a:off x="4733" y="1627"/>
              <a:ext cx="586" cy="151"/>
              <a:chOff x="611" y="2568"/>
              <a:chExt cx="730" cy="139"/>
            </a:xfrm>
          </p:grpSpPr>
          <p:sp>
            <p:nvSpPr>
              <p:cNvPr id="805" name="Google Shape;805;p8"/>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806" name="Google Shape;806;p8"/>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807" name="Google Shape;807;p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808" name="Google Shape;808;p8"/>
            <p:cNvGrpSpPr/>
            <p:nvPr/>
          </p:nvGrpSpPr>
          <p:grpSpPr>
            <a:xfrm>
              <a:off x="4739" y="1325"/>
              <a:ext cx="580" cy="140"/>
              <a:chOff x="614" y="2566"/>
              <a:chExt cx="723" cy="140"/>
            </a:xfrm>
          </p:grpSpPr>
          <p:sp>
            <p:nvSpPr>
              <p:cNvPr id="809" name="Google Shape;809;p8"/>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810" name="Google Shape;810;p8"/>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811" name="Google Shape;811;p8"/>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812" name="Google Shape;812;p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813" name="Google Shape;813;p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814" name="Google Shape;814;p8"/>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815" name="Google Shape;815;p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816" name="Google Shape;816;p8"/>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817" name="Google Shape;817;p8"/>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818" name="Google Shape;818;p8"/>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819" name="Google Shape;819;p8"/>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820" name="Google Shape;820;p8"/>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821" name="Google Shape;821;p8"/>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822" name="Google Shape;822;p8"/>
          <p:cNvGrpSpPr/>
          <p:nvPr/>
        </p:nvGrpSpPr>
        <p:grpSpPr>
          <a:xfrm>
            <a:off x="8510352" y="2078288"/>
            <a:ext cx="1946338" cy="2912558"/>
            <a:chOff x="8091785" y="2078288"/>
            <a:chExt cx="2364905" cy="2912558"/>
          </a:xfrm>
        </p:grpSpPr>
        <p:sp>
          <p:nvSpPr>
            <p:cNvPr id="823" name="Google Shape;823;p8"/>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824" name="Google Shape;824;p8"/>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825" name="Google Shape;825;p8"/>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cxnSp>
          <p:nvCxnSpPr>
            <p:cNvPr id="826" name="Google Shape;826;p8"/>
            <p:cNvCxnSpPr/>
            <p:nvPr/>
          </p:nvCxnSpPr>
          <p:spPr>
            <a:xfrm>
              <a:off x="8108201" y="3602458"/>
              <a:ext cx="2233387" cy="0"/>
            </a:xfrm>
            <a:prstGeom prst="straightConnector1">
              <a:avLst/>
            </a:prstGeom>
            <a:noFill/>
            <a:ln cap="flat" cmpd="sng" w="28575">
              <a:solidFill>
                <a:srgbClr val="000000"/>
              </a:solidFill>
              <a:prstDash val="solid"/>
              <a:round/>
              <a:headEnd len="med" w="med" type="none"/>
              <a:tailEnd len="med" w="med" type="none"/>
            </a:ln>
          </p:spPr>
        </p:cxnSp>
        <p:sp>
          <p:nvSpPr>
            <p:cNvPr id="827" name="Google Shape;827;p8"/>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828" name="Google Shape;828;p8"/>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829" name="Google Shape;829;p8"/>
            <p:cNvSpPr txBox="1"/>
            <p:nvPr/>
          </p:nvSpPr>
          <p:spPr>
            <a:xfrm>
              <a:off x="8218436" y="3646079"/>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830" name="Google Shape;830;p8"/>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831" name="Google Shape;831;p8"/>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832" name="Google Shape;832;p8"/>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833" name="Google Shape;833;p8"/>
          <p:cNvGrpSpPr/>
          <p:nvPr/>
        </p:nvGrpSpPr>
        <p:grpSpPr>
          <a:xfrm>
            <a:off x="1687770" y="2167472"/>
            <a:ext cx="2131701" cy="2912558"/>
            <a:chOff x="8091785" y="2078288"/>
            <a:chExt cx="2364905" cy="2912558"/>
          </a:xfrm>
        </p:grpSpPr>
        <p:sp>
          <p:nvSpPr>
            <p:cNvPr id="834" name="Google Shape;834;p8"/>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835" name="Google Shape;835;p8"/>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836" name="Google Shape;836;p8"/>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cxnSp>
          <p:nvCxnSpPr>
            <p:cNvPr id="837" name="Google Shape;837;p8"/>
            <p:cNvCxnSpPr/>
            <p:nvPr/>
          </p:nvCxnSpPr>
          <p:spPr>
            <a:xfrm>
              <a:off x="8121121" y="3602458"/>
              <a:ext cx="2233388" cy="0"/>
            </a:xfrm>
            <a:prstGeom prst="straightConnector1">
              <a:avLst/>
            </a:prstGeom>
            <a:noFill/>
            <a:ln cap="flat" cmpd="sng" w="28575">
              <a:solidFill>
                <a:srgbClr val="000000"/>
              </a:solidFill>
              <a:prstDash val="solid"/>
              <a:round/>
              <a:headEnd len="med" w="med" type="none"/>
              <a:tailEnd len="med" w="med" type="none"/>
            </a:ln>
          </p:spPr>
        </p:cxnSp>
        <p:sp>
          <p:nvSpPr>
            <p:cNvPr id="838" name="Google Shape;838;p8"/>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839" name="Google Shape;839;p8"/>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840" name="Google Shape;840;p8"/>
            <p:cNvSpPr txBox="1"/>
            <p:nvPr/>
          </p:nvSpPr>
          <p:spPr>
            <a:xfrm>
              <a:off x="8218436" y="3646079"/>
              <a:ext cx="2019294"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841" name="Google Shape;841;p8"/>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842" name="Google Shape;842;p8"/>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843" name="Google Shape;843;p8"/>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sp>
        <p:nvSpPr>
          <p:cNvPr id="844" name="Google Shape;844;p8"/>
          <p:cNvSpPr txBox="1"/>
          <p:nvPr/>
        </p:nvSpPr>
        <p:spPr>
          <a:xfrm>
            <a:off x="8732527" y="2993828"/>
            <a:ext cx="1401811"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grpSp>
        <p:nvGrpSpPr>
          <p:cNvPr id="845" name="Google Shape;845;p8"/>
          <p:cNvGrpSpPr/>
          <p:nvPr/>
        </p:nvGrpSpPr>
        <p:grpSpPr>
          <a:xfrm>
            <a:off x="500734" y="4943580"/>
            <a:ext cx="1026523" cy="597153"/>
            <a:chOff x="7493876" y="2774731"/>
            <a:chExt cx="1481958" cy="894622"/>
          </a:xfrm>
        </p:grpSpPr>
        <p:sp>
          <p:nvSpPr>
            <p:cNvPr id="846" name="Google Shape;846;p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47" name="Google Shape;847;p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48" name="Google Shape;848;p8"/>
            <p:cNvGrpSpPr/>
            <p:nvPr/>
          </p:nvGrpSpPr>
          <p:grpSpPr>
            <a:xfrm>
              <a:off x="7713663" y="2848339"/>
              <a:ext cx="1042107" cy="425543"/>
              <a:chOff x="7786941" y="2884917"/>
              <a:chExt cx="897649" cy="353919"/>
            </a:xfrm>
          </p:grpSpPr>
          <p:sp>
            <p:nvSpPr>
              <p:cNvPr id="849" name="Google Shape;849;p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0" name="Google Shape;850;p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1" name="Google Shape;851;p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2" name="Google Shape;852;p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53" name="Google Shape;853;p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Actions</a:t>
            </a:r>
            <a:endParaRPr/>
          </a:p>
        </p:txBody>
      </p:sp>
      <p:grpSp>
        <p:nvGrpSpPr>
          <p:cNvPr id="854" name="Google Shape;854;p8"/>
          <p:cNvGrpSpPr/>
          <p:nvPr/>
        </p:nvGrpSpPr>
        <p:grpSpPr>
          <a:xfrm>
            <a:off x="2462207" y="2756023"/>
            <a:ext cx="412750" cy="158750"/>
            <a:chOff x="1287" y="2524"/>
            <a:chExt cx="260" cy="100"/>
          </a:xfrm>
        </p:grpSpPr>
        <p:sp>
          <p:nvSpPr>
            <p:cNvPr id="855" name="Google Shape;855;p8"/>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6" name="Google Shape;856;p8"/>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7" name="Google Shape;857;p8"/>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8" name="Google Shape;858;p8"/>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59" name="Google Shape;859;p8"/>
          <p:cNvGrpSpPr/>
          <p:nvPr/>
        </p:nvGrpSpPr>
        <p:grpSpPr>
          <a:xfrm>
            <a:off x="9681144" y="2673610"/>
            <a:ext cx="412750" cy="158750"/>
            <a:chOff x="1287" y="2524"/>
            <a:chExt cx="260" cy="100"/>
          </a:xfrm>
        </p:grpSpPr>
        <p:sp>
          <p:nvSpPr>
            <p:cNvPr id="860" name="Google Shape;860;p8"/>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1" name="Google Shape;861;p8"/>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2" name="Google Shape;862;p8"/>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3" name="Google Shape;863;p8"/>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64" name="Google Shape;864;p8"/>
          <p:cNvSpPr/>
          <p:nvPr/>
        </p:nvSpPr>
        <p:spPr>
          <a:xfrm>
            <a:off x="8043548" y="2078287"/>
            <a:ext cx="2443011" cy="3369475"/>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5" name="Google Shape;865;p8"/>
          <p:cNvSpPr txBox="1"/>
          <p:nvPr/>
        </p:nvSpPr>
        <p:spPr>
          <a:xfrm>
            <a:off x="1944359" y="3086580"/>
            <a:ext cx="1535315"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sp>
        <p:nvSpPr>
          <p:cNvPr id="866" name="Google Shape;866;p8"/>
          <p:cNvSpPr/>
          <p:nvPr/>
        </p:nvSpPr>
        <p:spPr>
          <a:xfrm>
            <a:off x="425009" y="1191386"/>
            <a:ext cx="3666301" cy="4459905"/>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67" name="Google Shape;867;p8"/>
          <p:cNvGrpSpPr/>
          <p:nvPr/>
        </p:nvGrpSpPr>
        <p:grpSpPr>
          <a:xfrm>
            <a:off x="2462207" y="2756023"/>
            <a:ext cx="412750" cy="158750"/>
            <a:chOff x="1287" y="2524"/>
            <a:chExt cx="260" cy="100"/>
          </a:xfrm>
        </p:grpSpPr>
        <p:sp>
          <p:nvSpPr>
            <p:cNvPr id="868" name="Google Shape;868;p8"/>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9" name="Google Shape;869;p8"/>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70" name="Google Shape;870;p8"/>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71" name="Google Shape;871;p8"/>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72" name="Google Shape;872;p8"/>
          <p:cNvSpPr txBox="1"/>
          <p:nvPr/>
        </p:nvSpPr>
        <p:spPr>
          <a:xfrm>
            <a:off x="4212477" y="1830701"/>
            <a:ext cx="389834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Receiver:</a:t>
            </a:r>
            <a:endParaRPr/>
          </a:p>
          <a:p>
            <a:pPr indent="-92075" lvl="0" marL="285750" marR="0" rtl="0" algn="l">
              <a:lnSpc>
                <a:spcPct val="100000"/>
              </a:lnSpc>
              <a:spcBef>
                <a:spcPts val="0"/>
              </a:spcBef>
              <a:spcAft>
                <a:spcPts val="0"/>
              </a:spcAft>
              <a:buClr>
                <a:srgbClr val="0200A3"/>
              </a:buClr>
              <a:buSzPts val="2000"/>
              <a:buFont typeface="Noto Sans Symbols"/>
              <a:buNone/>
            </a:pPr>
            <a:r>
              <a:t/>
            </a:r>
            <a:endParaRPr b="0" i="0" sz="2000" u="none" cap="none" strike="noStrike">
              <a:solidFill>
                <a:srgbClr val="000000"/>
              </a:solidFill>
              <a:latin typeface="Calibri"/>
              <a:ea typeface="Calibri"/>
              <a:cs typeface="Calibri"/>
              <a:sym typeface="Calibri"/>
            </a:endParaRPr>
          </a:p>
        </p:txBody>
      </p:sp>
      <p:grpSp>
        <p:nvGrpSpPr>
          <p:cNvPr id="873" name="Google Shape;873;p8"/>
          <p:cNvGrpSpPr/>
          <p:nvPr/>
        </p:nvGrpSpPr>
        <p:grpSpPr>
          <a:xfrm>
            <a:off x="2355694" y="3088859"/>
            <a:ext cx="1259074" cy="369332"/>
            <a:chOff x="8934916" y="2775692"/>
            <a:chExt cx="1259074" cy="369332"/>
          </a:xfrm>
        </p:grpSpPr>
        <p:sp>
          <p:nvSpPr>
            <p:cNvPr id="874" name="Google Shape;874;p8"/>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5" name="Google Shape;875;p8"/>
            <p:cNvSpPr txBox="1"/>
            <p:nvPr/>
          </p:nvSpPr>
          <p:spPr>
            <a:xfrm>
              <a:off x="8934916" y="2775692"/>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  msg</a:t>
              </a:r>
              <a:endParaRPr/>
            </a:p>
          </p:txBody>
        </p:sp>
      </p:grpSp>
      <p:sp>
        <p:nvSpPr>
          <p:cNvPr id="876" name="Google Shape;876;p8"/>
          <p:cNvSpPr txBox="1"/>
          <p:nvPr/>
        </p:nvSpPr>
        <p:spPr>
          <a:xfrm>
            <a:off x="4391041" y="3125909"/>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extracts application-layer message</a:t>
            </a:r>
            <a:endParaRPr/>
          </a:p>
        </p:txBody>
      </p:sp>
      <p:sp>
        <p:nvSpPr>
          <p:cNvPr id="877" name="Google Shape;877;p8"/>
          <p:cNvSpPr txBox="1"/>
          <p:nvPr/>
        </p:nvSpPr>
        <p:spPr>
          <a:xfrm>
            <a:off x="4389103" y="2734423"/>
            <a:ext cx="3825456" cy="409023"/>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checks header values</a:t>
            </a:r>
            <a:endParaRPr/>
          </a:p>
        </p:txBody>
      </p:sp>
      <p:sp>
        <p:nvSpPr>
          <p:cNvPr id="878" name="Google Shape;878;p8"/>
          <p:cNvSpPr txBox="1"/>
          <p:nvPr/>
        </p:nvSpPr>
        <p:spPr>
          <a:xfrm>
            <a:off x="4388103" y="2278130"/>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receives segment from IP</a:t>
            </a:r>
            <a:endParaRPr/>
          </a:p>
        </p:txBody>
      </p:sp>
      <p:grpSp>
        <p:nvGrpSpPr>
          <p:cNvPr id="879" name="Google Shape;879;p8"/>
          <p:cNvGrpSpPr/>
          <p:nvPr/>
        </p:nvGrpSpPr>
        <p:grpSpPr>
          <a:xfrm>
            <a:off x="1745737" y="4814948"/>
            <a:ext cx="1818022" cy="369332"/>
            <a:chOff x="7863122" y="5632673"/>
            <a:chExt cx="1818022" cy="369332"/>
          </a:xfrm>
        </p:grpSpPr>
        <p:grpSp>
          <p:nvGrpSpPr>
            <p:cNvPr id="880" name="Google Shape;880;p8"/>
            <p:cNvGrpSpPr/>
            <p:nvPr/>
          </p:nvGrpSpPr>
          <p:grpSpPr>
            <a:xfrm>
              <a:off x="7863122" y="5638955"/>
              <a:ext cx="1259074" cy="338554"/>
              <a:chOff x="8964789" y="2648929"/>
              <a:chExt cx="1259074" cy="338554"/>
            </a:xfrm>
          </p:grpSpPr>
          <p:sp>
            <p:nvSpPr>
              <p:cNvPr id="881" name="Google Shape;881;p8"/>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2" name="Google Shape;882;p8"/>
              <p:cNvSpPr txBox="1"/>
              <p:nvPr/>
            </p:nvSpPr>
            <p:spPr>
              <a:xfrm>
                <a:off x="8964789" y="2648929"/>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   T</a:t>
                </a:r>
                <a:r>
                  <a:rPr b="0" baseline="-25000" i="0" lang="en-US" sz="1600" u="none" cap="none" strike="noStrike">
                    <a:solidFill>
                      <a:srgbClr val="000000"/>
                    </a:solidFill>
                    <a:latin typeface="Calibri"/>
                    <a:ea typeface="Calibri"/>
                    <a:cs typeface="Calibri"/>
                    <a:sym typeface="Calibri"/>
                  </a:rPr>
                  <a:t>h</a:t>
                </a:r>
                <a:endParaRPr/>
              </a:p>
            </p:txBody>
          </p:sp>
        </p:grpSp>
        <p:grpSp>
          <p:nvGrpSpPr>
            <p:cNvPr id="883" name="Google Shape;883;p8"/>
            <p:cNvGrpSpPr/>
            <p:nvPr/>
          </p:nvGrpSpPr>
          <p:grpSpPr>
            <a:xfrm>
              <a:off x="8422070" y="5632673"/>
              <a:ext cx="1259074" cy="369332"/>
              <a:chOff x="8934916" y="2778923"/>
              <a:chExt cx="1259074" cy="369332"/>
            </a:xfrm>
          </p:grpSpPr>
          <p:sp>
            <p:nvSpPr>
              <p:cNvPr id="884" name="Google Shape;884;p8"/>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5" name="Google Shape;885;p8"/>
              <p:cNvSpPr txBox="1"/>
              <p:nvPr/>
            </p:nvSpPr>
            <p:spPr>
              <a:xfrm>
                <a:off x="8934916" y="2778923"/>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 msg</a:t>
                </a:r>
                <a:endParaRPr/>
              </a:p>
            </p:txBody>
          </p:sp>
        </p:grpSp>
      </p:grpSp>
      <p:sp>
        <p:nvSpPr>
          <p:cNvPr id="886" name="Google Shape;886;p8"/>
          <p:cNvSpPr txBox="1"/>
          <p:nvPr/>
        </p:nvSpPr>
        <p:spPr>
          <a:xfrm>
            <a:off x="4395862" y="3809729"/>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demultiplexes message up to application via socket</a:t>
            </a:r>
            <a:endParaRPr/>
          </a:p>
        </p:txBody>
      </p:sp>
      <p:sp>
        <p:nvSpPr>
          <p:cNvPr id="887" name="Google Shape;887;p8"/>
          <p:cNvSpPr/>
          <p:nvPr/>
        </p:nvSpPr>
        <p:spPr>
          <a:xfrm>
            <a:off x="1741367" y="2989161"/>
            <a:ext cx="763166" cy="541031"/>
          </a:xfrm>
          <a:prstGeom prst="ellipse">
            <a:avLst/>
          </a:prstGeom>
          <a:noFill/>
          <a:ln cap="flat" cmpd="sng" w="254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8" name="Google Shape;888;p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gtEl>
                                        <p:attrNameLst>
                                          <p:attrName>style.visibility</p:attrName>
                                        </p:attrNameLst>
                                      </p:cBhvr>
                                      <p:to>
                                        <p:strVal val="visible"/>
                                      </p:to>
                                    </p:set>
                                    <p:animEffect filter="fade" transition="in">
                                      <p:cBhvr>
                                        <p:cTn dur="500"/>
                                        <p:tgtEl>
                                          <p:spTgt spid="8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7"/>
                                        </p:tgtEl>
                                        <p:attrNameLst>
                                          <p:attrName>style.visibility</p:attrName>
                                        </p:attrNameLst>
                                      </p:cBhvr>
                                      <p:to>
                                        <p:strVal val="visible"/>
                                      </p:to>
                                    </p:set>
                                    <p:animEffect filter="fade" transition="in">
                                      <p:cBhvr>
                                        <p:cTn dur="500"/>
                                        <p:tgtEl>
                                          <p:spTgt spid="887"/>
                                        </p:tgtEl>
                                      </p:cBhvr>
                                    </p:animEffect>
                                  </p:childTnLst>
                                </p:cTn>
                              </p:par>
                              <p:par>
                                <p:cTn fill="hold" nodeType="withEffect" presetClass="entr" presetID="10" presetSubtype="0">
                                  <p:stCondLst>
                                    <p:cond delay="0"/>
                                  </p:stCondLst>
                                  <p:childTnLst>
                                    <p:set>
                                      <p:cBhvr>
                                        <p:cTn dur="1" fill="hold">
                                          <p:stCondLst>
                                            <p:cond delay="0"/>
                                          </p:stCondLst>
                                        </p:cTn>
                                        <p:tgtEl>
                                          <p:spTgt spid="877"/>
                                        </p:tgtEl>
                                        <p:attrNameLst>
                                          <p:attrName>style.visibility</p:attrName>
                                        </p:attrNameLst>
                                      </p:cBhvr>
                                      <p:to>
                                        <p:strVal val="visible"/>
                                      </p:to>
                                    </p:set>
                                    <p:animEffect filter="fade" transition="in">
                                      <p:cBhvr>
                                        <p:cTn dur="500"/>
                                        <p:tgtEl>
                                          <p:spTgt spid="8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79"/>
                                        </p:tgtEl>
                                      </p:cBhvr>
                                    </p:animEffect>
                                    <p:set>
                                      <p:cBhvr>
                                        <p:cTn dur="1" fill="hold">
                                          <p:stCondLst>
                                            <p:cond delay="500"/>
                                          </p:stCondLst>
                                        </p:cTn>
                                        <p:tgtEl>
                                          <p:spTgt spid="87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887"/>
                                        </p:tgtEl>
                                      </p:cBhvr>
                                    </p:animEffect>
                                    <p:set>
                                      <p:cBhvr>
                                        <p:cTn dur="1" fill="hold">
                                          <p:stCondLst>
                                            <p:cond delay="500"/>
                                          </p:stCondLst>
                                        </p:cTn>
                                        <p:tgtEl>
                                          <p:spTgt spid="88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73"/>
                                        </p:tgtEl>
                                        <p:attrNameLst>
                                          <p:attrName>style.visibility</p:attrName>
                                        </p:attrNameLst>
                                      </p:cBhvr>
                                      <p:to>
                                        <p:strVal val="visible"/>
                                      </p:to>
                                    </p:set>
                                    <p:animEffect filter="fade" transition="in">
                                      <p:cBhvr>
                                        <p:cTn dur="500"/>
                                        <p:tgtEl>
                                          <p:spTgt spid="873"/>
                                        </p:tgtEl>
                                      </p:cBhvr>
                                    </p:animEffect>
                                  </p:childTnLst>
                                </p:cTn>
                              </p:par>
                              <p:par>
                                <p:cTn fill="hold" nodeType="withEffect" presetClass="entr" presetID="10" presetSubtype="0">
                                  <p:stCondLst>
                                    <p:cond delay="0"/>
                                  </p:stCondLst>
                                  <p:childTnLst>
                                    <p:set>
                                      <p:cBhvr>
                                        <p:cTn dur="1" fill="hold">
                                          <p:stCondLst>
                                            <p:cond delay="0"/>
                                          </p:stCondLst>
                                        </p:cTn>
                                        <p:tgtEl>
                                          <p:spTgt spid="876"/>
                                        </p:tgtEl>
                                        <p:attrNameLst>
                                          <p:attrName>style.visibility</p:attrName>
                                        </p:attrNameLst>
                                      </p:cBhvr>
                                      <p:to>
                                        <p:strVal val="visible"/>
                                      </p:to>
                                    </p:set>
                                    <p:animEffect filter="fade" transition="in">
                                      <p:cBhvr>
                                        <p:cTn dur="500"/>
                                        <p:tgtEl>
                                          <p:spTgt spid="8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gtEl>
                                        <p:attrNameLst>
                                          <p:attrName>style.visibility</p:attrName>
                                        </p:attrNameLst>
                                      </p:cBhvr>
                                      <p:to>
                                        <p:strVal val="visible"/>
                                      </p:to>
                                    </p:set>
                                    <p:animEffect filter="fade" transition="in">
                                      <p:cBhvr>
                                        <p:cTn dur="500"/>
                                        <p:tgtEl>
                                          <p:spTgt spid="8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9"/>
          <p:cNvSpPr txBox="1"/>
          <p:nvPr>
            <p:ph type="title"/>
          </p:nvPr>
        </p:nvSpPr>
        <p:spPr>
          <a:xfrm>
            <a:off x="768711" y="25934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Two principal Internet transport protocols</a:t>
            </a:r>
            <a:endParaRPr sz="4800"/>
          </a:p>
        </p:txBody>
      </p:sp>
      <p:sp>
        <p:nvSpPr>
          <p:cNvPr id="895" name="Google Shape;895;p9"/>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96" name="Google Shape;896;p9"/>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897" name="Google Shape;897;p9"/>
          <p:cNvGrpSpPr/>
          <p:nvPr/>
        </p:nvGrpSpPr>
        <p:grpSpPr>
          <a:xfrm>
            <a:off x="7205350" y="3289251"/>
            <a:ext cx="1458912" cy="933450"/>
            <a:chOff x="2889" y="1631"/>
            <a:chExt cx="980" cy="743"/>
          </a:xfrm>
        </p:grpSpPr>
        <p:sp>
          <p:nvSpPr>
            <p:cNvPr id="898" name="Google Shape;898;p9"/>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899" name="Google Shape;899;p9"/>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900" name="Google Shape;900;p9"/>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01" name="Google Shape;901;p9"/>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a:p>
        </p:txBody>
      </p:sp>
      <p:sp>
        <p:nvSpPr>
          <p:cNvPr id="902" name="Google Shape;902;p9"/>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home network</a:t>
            </a:r>
            <a:endParaRPr/>
          </a:p>
        </p:txBody>
      </p:sp>
      <p:sp>
        <p:nvSpPr>
          <p:cNvPr id="903" name="Google Shape;903;p9"/>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sp>
        <p:nvSpPr>
          <p:cNvPr id="904" name="Google Shape;904;p9"/>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905" name="Google Shape;905;p9"/>
          <p:cNvGrpSpPr/>
          <p:nvPr/>
        </p:nvGrpSpPr>
        <p:grpSpPr>
          <a:xfrm>
            <a:off x="10837700" y="3928050"/>
            <a:ext cx="687393" cy="721548"/>
            <a:chOff x="5203089" y="1751190"/>
            <a:chExt cx="858331" cy="662414"/>
          </a:xfrm>
        </p:grpSpPr>
        <p:sp>
          <p:nvSpPr>
            <p:cNvPr id="906" name="Google Shape;906;p9"/>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07" name="Google Shape;907;p9"/>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908" name="Google Shape;908;p9"/>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909" name="Google Shape;909;p9"/>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910" name="Google Shape;910;p9"/>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911" name="Google Shape;911;p9"/>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912" name="Google Shape;912;p9"/>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913" name="Google Shape;913;p9"/>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914" name="Google Shape;914;p9"/>
          <p:cNvGrpSpPr/>
          <p:nvPr/>
        </p:nvGrpSpPr>
        <p:grpSpPr>
          <a:xfrm>
            <a:off x="10771171" y="3194171"/>
            <a:ext cx="594613" cy="648336"/>
            <a:chOff x="5203089" y="1751190"/>
            <a:chExt cx="858331" cy="662414"/>
          </a:xfrm>
        </p:grpSpPr>
        <p:sp>
          <p:nvSpPr>
            <p:cNvPr id="915" name="Google Shape;915;p9"/>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16" name="Google Shape;916;p9"/>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917" name="Google Shape;917;p9"/>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918" name="Google Shape;918;p9"/>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919" name="Google Shape;919;p9"/>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920" name="Google Shape;920;p9"/>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921" name="Google Shape;921;p9"/>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922" name="Google Shape;922;p9"/>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923" name="Google Shape;923;p9"/>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4" name="Google Shape;924;p9"/>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a:p>
        </p:txBody>
      </p:sp>
      <p:sp>
        <p:nvSpPr>
          <p:cNvPr id="925" name="Google Shape;925;p9"/>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26" name="Google Shape;926;p9"/>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local or regional ISP</a:t>
            </a:r>
            <a:endParaRPr/>
          </a:p>
        </p:txBody>
      </p:sp>
      <p:sp>
        <p:nvSpPr>
          <p:cNvPr id="927" name="Google Shape;927;p9"/>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a:p>
        </p:txBody>
      </p:sp>
      <p:sp>
        <p:nvSpPr>
          <p:cNvPr id="928" name="Google Shape;928;p9"/>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content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provider </a:t>
            </a:r>
            <a:endParaRPr/>
          </a:p>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000" u="none" cap="none" strike="noStrike">
              <a:solidFill>
                <a:srgbClr val="000000"/>
              </a:solidFill>
              <a:latin typeface="Calibri"/>
              <a:ea typeface="Calibri"/>
              <a:cs typeface="Calibri"/>
              <a:sym typeface="Calibri"/>
            </a:endParaRPr>
          </a:p>
        </p:txBody>
      </p:sp>
      <p:cxnSp>
        <p:nvCxnSpPr>
          <p:cNvPr id="929" name="Google Shape;929;p9"/>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930" name="Google Shape;930;p9"/>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931" name="Google Shape;931;p9"/>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932" name="Google Shape;932;p9"/>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933" name="Google Shape;933;p9"/>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934" name="Google Shape;934;p9"/>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935" name="Google Shape;935;p9"/>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936" name="Google Shape;936;p9"/>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937" name="Google Shape;937;p9"/>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938" name="Google Shape;938;p9"/>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939" name="Google Shape;939;p9"/>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940" name="Google Shape;940;p9"/>
          <p:cNvGrpSpPr/>
          <p:nvPr/>
        </p:nvGrpSpPr>
        <p:grpSpPr>
          <a:xfrm>
            <a:off x="7562238" y="2127325"/>
            <a:ext cx="3578867" cy="3640284"/>
            <a:chOff x="7562238" y="2127325"/>
            <a:chExt cx="3578867" cy="3640284"/>
          </a:xfrm>
        </p:grpSpPr>
        <p:grpSp>
          <p:nvGrpSpPr>
            <p:cNvPr id="941" name="Google Shape;941;p9"/>
            <p:cNvGrpSpPr/>
            <p:nvPr/>
          </p:nvGrpSpPr>
          <p:grpSpPr>
            <a:xfrm>
              <a:off x="7857253" y="2127325"/>
              <a:ext cx="3283852" cy="3640284"/>
              <a:chOff x="7881336" y="2104198"/>
              <a:chExt cx="3283852" cy="3640284"/>
            </a:xfrm>
          </p:grpSpPr>
          <p:cxnSp>
            <p:nvCxnSpPr>
              <p:cNvPr id="942" name="Google Shape;942;p9"/>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943" name="Google Shape;943;p9"/>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944" name="Google Shape;944;p9"/>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945" name="Google Shape;945;p9"/>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946" name="Google Shape;946;p9"/>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947" name="Google Shape;947;p9"/>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948" name="Google Shape;948;p9"/>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949" name="Google Shape;949;p9"/>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950" name="Google Shape;950;p9"/>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951" name="Google Shape;951;p9"/>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952" name="Google Shape;952;p9"/>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953" name="Google Shape;953;p9"/>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954" name="Google Shape;954;p9"/>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955" name="Google Shape;955;p9"/>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956" name="Google Shape;956;p9"/>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957" name="Google Shape;957;p9"/>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958" name="Google Shape;958;p9"/>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959" name="Google Shape;959;p9"/>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960" name="Google Shape;960;p9"/>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961" name="Google Shape;961;p9"/>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962" name="Google Shape;962;p9"/>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963" name="Google Shape;963;p9"/>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964" name="Google Shape;964;p9"/>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965" name="Google Shape;965;p9"/>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966" name="Google Shape;966;p9"/>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967" name="Google Shape;967;p9"/>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968" name="Google Shape;968;p9"/>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969" name="Google Shape;969;p9"/>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cxnSp>
        <p:nvCxnSpPr>
          <p:cNvPr id="970" name="Google Shape;970;p9"/>
          <p:cNvCxnSpPr/>
          <p:nvPr/>
        </p:nvCxnSpPr>
        <p:spPr>
          <a:xfrm>
            <a:off x="8207860" y="2700359"/>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971" name="Google Shape;971;p9"/>
          <p:cNvGrpSpPr/>
          <p:nvPr/>
        </p:nvGrpSpPr>
        <p:grpSpPr>
          <a:xfrm>
            <a:off x="8050698" y="2309376"/>
            <a:ext cx="298450" cy="464008"/>
            <a:chOff x="3130" y="3288"/>
            <a:chExt cx="410" cy="742"/>
          </a:xfrm>
        </p:grpSpPr>
        <p:cxnSp>
          <p:nvCxnSpPr>
            <p:cNvPr id="972" name="Google Shape;972;p9"/>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973" name="Google Shape;973;p9"/>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974" name="Google Shape;974;p9"/>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975" name="Google Shape;975;p9"/>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976" name="Google Shape;976;p9"/>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977" name="Google Shape;977;p9"/>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978" name="Google Shape;978;p9"/>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979" name="Google Shape;979;p9"/>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980" name="Google Shape;980;p9"/>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981" name="Google Shape;981;p9"/>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982" name="Google Shape;982;p9"/>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983" name="Google Shape;983;p9"/>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984" name="Google Shape;984;p9"/>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985" name="Google Shape;985;p9"/>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986" name="Google Shape;986;p9"/>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987" name="Google Shape;987;p9"/>
          <p:cNvPicPr preferRelativeResize="0"/>
          <p:nvPr/>
        </p:nvPicPr>
        <p:blipFill rotWithShape="1">
          <a:blip r:embed="rId6">
            <a:alphaModFix/>
          </a:blip>
          <a:srcRect b="0" l="0" r="0" t="0"/>
          <a:stretch/>
        </p:blipFill>
        <p:spPr>
          <a:xfrm>
            <a:off x="7613882" y="3861899"/>
            <a:ext cx="370169" cy="306751"/>
          </a:xfrm>
          <a:prstGeom prst="rect">
            <a:avLst/>
          </a:prstGeom>
          <a:noFill/>
          <a:ln>
            <a:noFill/>
          </a:ln>
        </p:spPr>
      </p:pic>
      <p:pic>
        <p:nvPicPr>
          <p:cNvPr descr="access_point_stylized_small" id="988" name="Google Shape;988;p9"/>
          <p:cNvPicPr preferRelativeResize="0"/>
          <p:nvPr/>
        </p:nvPicPr>
        <p:blipFill rotWithShape="1">
          <a:blip r:embed="rId6">
            <a:alphaModFix/>
          </a:blip>
          <a:srcRect b="0" l="0" r="0" t="0"/>
          <a:stretch/>
        </p:blipFill>
        <p:spPr>
          <a:xfrm>
            <a:off x="9290610" y="5524232"/>
            <a:ext cx="380935" cy="317464"/>
          </a:xfrm>
          <a:prstGeom prst="rect">
            <a:avLst/>
          </a:prstGeom>
          <a:noFill/>
          <a:ln>
            <a:noFill/>
          </a:ln>
        </p:spPr>
      </p:pic>
      <p:grpSp>
        <p:nvGrpSpPr>
          <p:cNvPr id="989" name="Google Shape;989;p9"/>
          <p:cNvGrpSpPr/>
          <p:nvPr/>
        </p:nvGrpSpPr>
        <p:grpSpPr>
          <a:xfrm>
            <a:off x="9783558" y="4989983"/>
            <a:ext cx="393760" cy="218578"/>
            <a:chOff x="7493876" y="2774731"/>
            <a:chExt cx="1481958" cy="894622"/>
          </a:xfrm>
        </p:grpSpPr>
        <p:sp>
          <p:nvSpPr>
            <p:cNvPr id="990" name="Google Shape;99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991" name="Google Shape;99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992" name="Google Shape;992;p9"/>
            <p:cNvGrpSpPr/>
            <p:nvPr/>
          </p:nvGrpSpPr>
          <p:grpSpPr>
            <a:xfrm>
              <a:off x="7713663" y="2848339"/>
              <a:ext cx="1042107" cy="425543"/>
              <a:chOff x="7786941" y="2884917"/>
              <a:chExt cx="897649" cy="353919"/>
            </a:xfrm>
          </p:grpSpPr>
          <p:sp>
            <p:nvSpPr>
              <p:cNvPr id="993" name="Google Shape;99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4" name="Google Shape;99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5" name="Google Shape;99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6" name="Google Shape;99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997" name="Google Shape;997;p9"/>
          <p:cNvGrpSpPr/>
          <p:nvPr/>
        </p:nvGrpSpPr>
        <p:grpSpPr>
          <a:xfrm>
            <a:off x="9849365" y="5339037"/>
            <a:ext cx="309740" cy="190838"/>
            <a:chOff x="3668110" y="2448910"/>
            <a:chExt cx="3794234" cy="2165130"/>
          </a:xfrm>
        </p:grpSpPr>
        <p:sp>
          <p:nvSpPr>
            <p:cNvPr id="998" name="Google Shape;998;p9"/>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99" name="Google Shape;999;p9"/>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000" name="Google Shape;1000;p9"/>
            <p:cNvGrpSpPr/>
            <p:nvPr/>
          </p:nvGrpSpPr>
          <p:grpSpPr>
            <a:xfrm>
              <a:off x="3941378" y="2603243"/>
              <a:ext cx="3202061" cy="1066110"/>
              <a:chOff x="7939341" y="3037317"/>
              <a:chExt cx="897649" cy="353919"/>
            </a:xfrm>
          </p:grpSpPr>
          <p:sp>
            <p:nvSpPr>
              <p:cNvPr id="1001" name="Google Shape;1001;p9"/>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02" name="Google Shape;1002;p9"/>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03" name="Google Shape;1003;p9"/>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04" name="Google Shape;1004;p9"/>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05" name="Google Shape;1005;p9"/>
          <p:cNvGrpSpPr/>
          <p:nvPr/>
        </p:nvGrpSpPr>
        <p:grpSpPr>
          <a:xfrm>
            <a:off x="8676619" y="4967420"/>
            <a:ext cx="393760" cy="218578"/>
            <a:chOff x="7493876" y="2774731"/>
            <a:chExt cx="1481958" cy="894622"/>
          </a:xfrm>
        </p:grpSpPr>
        <p:sp>
          <p:nvSpPr>
            <p:cNvPr id="1006" name="Google Shape;100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07" name="Google Shape;100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08" name="Google Shape;1008;p9"/>
            <p:cNvGrpSpPr/>
            <p:nvPr/>
          </p:nvGrpSpPr>
          <p:grpSpPr>
            <a:xfrm>
              <a:off x="7713663" y="2848339"/>
              <a:ext cx="1042107" cy="425543"/>
              <a:chOff x="7786941" y="2884917"/>
              <a:chExt cx="897649" cy="353919"/>
            </a:xfrm>
          </p:grpSpPr>
          <p:sp>
            <p:nvSpPr>
              <p:cNvPr id="1009" name="Google Shape;100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0" name="Google Shape;101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1" name="Google Shape;101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2" name="Google Shape;101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13" name="Google Shape;1013;p9"/>
          <p:cNvGrpSpPr/>
          <p:nvPr/>
        </p:nvGrpSpPr>
        <p:grpSpPr>
          <a:xfrm>
            <a:off x="8311520" y="5194433"/>
            <a:ext cx="309740" cy="190838"/>
            <a:chOff x="3668110" y="2448910"/>
            <a:chExt cx="3794234" cy="2165130"/>
          </a:xfrm>
        </p:grpSpPr>
        <p:sp>
          <p:nvSpPr>
            <p:cNvPr id="1014" name="Google Shape;1014;p9"/>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5" name="Google Shape;1015;p9"/>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016" name="Google Shape;1016;p9"/>
            <p:cNvGrpSpPr/>
            <p:nvPr/>
          </p:nvGrpSpPr>
          <p:grpSpPr>
            <a:xfrm>
              <a:off x="3941378" y="2603243"/>
              <a:ext cx="3202061" cy="1066110"/>
              <a:chOff x="7939341" y="3037317"/>
              <a:chExt cx="897649" cy="353919"/>
            </a:xfrm>
          </p:grpSpPr>
          <p:sp>
            <p:nvSpPr>
              <p:cNvPr id="1017" name="Google Shape;1017;p9"/>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8" name="Google Shape;1018;p9"/>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9" name="Google Shape;1019;p9"/>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20" name="Google Shape;1020;p9"/>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21" name="Google Shape;1021;p9"/>
          <p:cNvGrpSpPr/>
          <p:nvPr/>
        </p:nvGrpSpPr>
        <p:grpSpPr>
          <a:xfrm>
            <a:off x="8439827" y="2812309"/>
            <a:ext cx="353678" cy="168275"/>
            <a:chOff x="7493876" y="2774731"/>
            <a:chExt cx="1481958" cy="894622"/>
          </a:xfrm>
        </p:grpSpPr>
        <p:sp>
          <p:nvSpPr>
            <p:cNvPr id="1022" name="Google Shape;1022;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23" name="Google Shape;1023;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24" name="Google Shape;1024;p9"/>
            <p:cNvGrpSpPr/>
            <p:nvPr/>
          </p:nvGrpSpPr>
          <p:grpSpPr>
            <a:xfrm>
              <a:off x="7713663" y="2848339"/>
              <a:ext cx="1042107" cy="425543"/>
              <a:chOff x="7786941" y="2884917"/>
              <a:chExt cx="897649" cy="353919"/>
            </a:xfrm>
          </p:grpSpPr>
          <p:sp>
            <p:nvSpPr>
              <p:cNvPr id="1025" name="Google Shape;1025;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26" name="Google Shape;1026;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27" name="Google Shape;1027;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28" name="Google Shape;1028;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29" name="Google Shape;1029;p9"/>
          <p:cNvGrpSpPr/>
          <p:nvPr/>
        </p:nvGrpSpPr>
        <p:grpSpPr>
          <a:xfrm>
            <a:off x="8050070" y="3965994"/>
            <a:ext cx="354986" cy="175668"/>
            <a:chOff x="7493876" y="2774731"/>
            <a:chExt cx="1481958" cy="894622"/>
          </a:xfrm>
        </p:grpSpPr>
        <p:sp>
          <p:nvSpPr>
            <p:cNvPr id="1030" name="Google Shape;103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31" name="Google Shape;103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32" name="Google Shape;1032;p9"/>
            <p:cNvGrpSpPr/>
            <p:nvPr/>
          </p:nvGrpSpPr>
          <p:grpSpPr>
            <a:xfrm>
              <a:off x="7713663" y="2848339"/>
              <a:ext cx="1042107" cy="425543"/>
              <a:chOff x="7786941" y="2884917"/>
              <a:chExt cx="897649" cy="353919"/>
            </a:xfrm>
          </p:grpSpPr>
          <p:sp>
            <p:nvSpPr>
              <p:cNvPr id="1033" name="Google Shape;103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34" name="Google Shape;103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35" name="Google Shape;103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36" name="Google Shape;103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37" name="Google Shape;1037;p9"/>
          <p:cNvGrpSpPr/>
          <p:nvPr/>
        </p:nvGrpSpPr>
        <p:grpSpPr>
          <a:xfrm>
            <a:off x="10884085" y="3601365"/>
            <a:ext cx="170989" cy="97052"/>
            <a:chOff x="7493876" y="2774731"/>
            <a:chExt cx="1481958" cy="894622"/>
          </a:xfrm>
        </p:grpSpPr>
        <p:sp>
          <p:nvSpPr>
            <p:cNvPr id="1038" name="Google Shape;1038;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39" name="Google Shape;1039;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40" name="Google Shape;1040;p9"/>
            <p:cNvGrpSpPr/>
            <p:nvPr/>
          </p:nvGrpSpPr>
          <p:grpSpPr>
            <a:xfrm>
              <a:off x="7713663" y="2848339"/>
              <a:ext cx="1042107" cy="425543"/>
              <a:chOff x="7786941" y="2884917"/>
              <a:chExt cx="897649" cy="353919"/>
            </a:xfrm>
          </p:grpSpPr>
          <p:sp>
            <p:nvSpPr>
              <p:cNvPr id="1041" name="Google Shape;1041;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2" name="Google Shape;1042;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3" name="Google Shape;1043;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4" name="Google Shape;1044;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45" name="Google Shape;1045;p9"/>
          <p:cNvGrpSpPr/>
          <p:nvPr/>
        </p:nvGrpSpPr>
        <p:grpSpPr>
          <a:xfrm>
            <a:off x="10410609" y="3496138"/>
            <a:ext cx="353678" cy="198344"/>
            <a:chOff x="7493876" y="2774731"/>
            <a:chExt cx="1481958" cy="894622"/>
          </a:xfrm>
        </p:grpSpPr>
        <p:sp>
          <p:nvSpPr>
            <p:cNvPr id="1046" name="Google Shape;104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47" name="Google Shape;104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48" name="Google Shape;1048;p9"/>
            <p:cNvGrpSpPr/>
            <p:nvPr/>
          </p:nvGrpSpPr>
          <p:grpSpPr>
            <a:xfrm>
              <a:off x="7713663" y="2848339"/>
              <a:ext cx="1042107" cy="425543"/>
              <a:chOff x="7786941" y="2884917"/>
              <a:chExt cx="897649" cy="353919"/>
            </a:xfrm>
          </p:grpSpPr>
          <p:sp>
            <p:nvSpPr>
              <p:cNvPr id="1049" name="Google Shape;104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50" name="Google Shape;105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51" name="Google Shape;105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52" name="Google Shape;105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53" name="Google Shape;1053;p9"/>
          <p:cNvGrpSpPr/>
          <p:nvPr/>
        </p:nvGrpSpPr>
        <p:grpSpPr>
          <a:xfrm>
            <a:off x="9948724" y="2202292"/>
            <a:ext cx="353678" cy="198344"/>
            <a:chOff x="7493876" y="2774731"/>
            <a:chExt cx="1481958" cy="894622"/>
          </a:xfrm>
        </p:grpSpPr>
        <p:sp>
          <p:nvSpPr>
            <p:cNvPr id="1054" name="Google Shape;1054;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55" name="Google Shape;1055;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56" name="Google Shape;1056;p9"/>
            <p:cNvGrpSpPr/>
            <p:nvPr/>
          </p:nvGrpSpPr>
          <p:grpSpPr>
            <a:xfrm>
              <a:off x="7713663" y="2848339"/>
              <a:ext cx="1042107" cy="425543"/>
              <a:chOff x="7786941" y="2884917"/>
              <a:chExt cx="897649" cy="353919"/>
            </a:xfrm>
          </p:grpSpPr>
          <p:sp>
            <p:nvSpPr>
              <p:cNvPr id="1057" name="Google Shape;1057;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58" name="Google Shape;1058;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59" name="Google Shape;1059;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60" name="Google Shape;1060;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61" name="Google Shape;1061;p9"/>
          <p:cNvGrpSpPr/>
          <p:nvPr/>
        </p:nvGrpSpPr>
        <p:grpSpPr>
          <a:xfrm>
            <a:off x="10527214" y="2613367"/>
            <a:ext cx="353678" cy="198344"/>
            <a:chOff x="7493876" y="2774731"/>
            <a:chExt cx="1481958" cy="894622"/>
          </a:xfrm>
        </p:grpSpPr>
        <p:sp>
          <p:nvSpPr>
            <p:cNvPr id="1062" name="Google Shape;1062;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63" name="Google Shape;1063;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64" name="Google Shape;1064;p9"/>
            <p:cNvGrpSpPr/>
            <p:nvPr/>
          </p:nvGrpSpPr>
          <p:grpSpPr>
            <a:xfrm>
              <a:off x="7713663" y="2848339"/>
              <a:ext cx="1042107" cy="425543"/>
              <a:chOff x="7786941" y="2884917"/>
              <a:chExt cx="897649" cy="353919"/>
            </a:xfrm>
          </p:grpSpPr>
          <p:sp>
            <p:nvSpPr>
              <p:cNvPr id="1065" name="Google Shape;1065;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66" name="Google Shape;1066;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67" name="Google Shape;1067;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68" name="Google Shape;1068;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69" name="Google Shape;1069;p9"/>
          <p:cNvGrpSpPr/>
          <p:nvPr/>
        </p:nvGrpSpPr>
        <p:grpSpPr>
          <a:xfrm>
            <a:off x="10643825" y="2107963"/>
            <a:ext cx="353678" cy="198344"/>
            <a:chOff x="7493876" y="2774731"/>
            <a:chExt cx="1481958" cy="894622"/>
          </a:xfrm>
        </p:grpSpPr>
        <p:sp>
          <p:nvSpPr>
            <p:cNvPr id="1070" name="Google Shape;107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71" name="Google Shape;107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72" name="Google Shape;1072;p9"/>
            <p:cNvGrpSpPr/>
            <p:nvPr/>
          </p:nvGrpSpPr>
          <p:grpSpPr>
            <a:xfrm>
              <a:off x="7713663" y="2848339"/>
              <a:ext cx="1042107" cy="425543"/>
              <a:chOff x="7786941" y="2884917"/>
              <a:chExt cx="897649" cy="353919"/>
            </a:xfrm>
          </p:grpSpPr>
          <p:sp>
            <p:nvSpPr>
              <p:cNvPr id="1073" name="Google Shape;107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74" name="Google Shape;107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75" name="Google Shape;107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76" name="Google Shape;107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77" name="Google Shape;1077;p9"/>
          <p:cNvGrpSpPr/>
          <p:nvPr/>
        </p:nvGrpSpPr>
        <p:grpSpPr>
          <a:xfrm>
            <a:off x="9098788" y="3956624"/>
            <a:ext cx="367224" cy="240304"/>
            <a:chOff x="7493876" y="2774731"/>
            <a:chExt cx="1481958" cy="894622"/>
          </a:xfrm>
        </p:grpSpPr>
        <p:sp>
          <p:nvSpPr>
            <p:cNvPr id="1078" name="Google Shape;1078;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79" name="Google Shape;1079;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80" name="Google Shape;1080;p9"/>
            <p:cNvGrpSpPr/>
            <p:nvPr/>
          </p:nvGrpSpPr>
          <p:grpSpPr>
            <a:xfrm>
              <a:off x="7713663" y="2848339"/>
              <a:ext cx="1042107" cy="425543"/>
              <a:chOff x="7786941" y="2884917"/>
              <a:chExt cx="897649" cy="353919"/>
            </a:xfrm>
          </p:grpSpPr>
          <p:sp>
            <p:nvSpPr>
              <p:cNvPr id="1081" name="Google Shape;1081;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82" name="Google Shape;1082;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83" name="Google Shape;1083;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84" name="Google Shape;1084;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85" name="Google Shape;1085;p9"/>
          <p:cNvGrpSpPr/>
          <p:nvPr/>
        </p:nvGrpSpPr>
        <p:grpSpPr>
          <a:xfrm>
            <a:off x="9980126" y="2661565"/>
            <a:ext cx="353678" cy="198344"/>
            <a:chOff x="7493876" y="2774731"/>
            <a:chExt cx="1481958" cy="894622"/>
          </a:xfrm>
        </p:grpSpPr>
        <p:sp>
          <p:nvSpPr>
            <p:cNvPr id="1086" name="Google Shape;108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87" name="Google Shape;108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88" name="Google Shape;1088;p9"/>
            <p:cNvGrpSpPr/>
            <p:nvPr/>
          </p:nvGrpSpPr>
          <p:grpSpPr>
            <a:xfrm>
              <a:off x="7713663" y="2848339"/>
              <a:ext cx="1042107" cy="425543"/>
              <a:chOff x="7786941" y="2884917"/>
              <a:chExt cx="897649" cy="353919"/>
            </a:xfrm>
          </p:grpSpPr>
          <p:sp>
            <p:nvSpPr>
              <p:cNvPr id="1089" name="Google Shape;108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90" name="Google Shape;109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91" name="Google Shape;109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92" name="Google Shape;109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093" name="Google Shape;1093;p9"/>
          <p:cNvGrpSpPr/>
          <p:nvPr/>
        </p:nvGrpSpPr>
        <p:grpSpPr>
          <a:xfrm>
            <a:off x="9497138" y="3394032"/>
            <a:ext cx="367224" cy="240304"/>
            <a:chOff x="7493876" y="2774731"/>
            <a:chExt cx="1481958" cy="894622"/>
          </a:xfrm>
        </p:grpSpPr>
        <p:sp>
          <p:nvSpPr>
            <p:cNvPr id="1094" name="Google Shape;1094;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095" name="Google Shape;1095;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096" name="Google Shape;1096;p9"/>
            <p:cNvGrpSpPr/>
            <p:nvPr/>
          </p:nvGrpSpPr>
          <p:grpSpPr>
            <a:xfrm>
              <a:off x="7713663" y="2848339"/>
              <a:ext cx="1042107" cy="425543"/>
              <a:chOff x="7786941" y="2884917"/>
              <a:chExt cx="897649" cy="353919"/>
            </a:xfrm>
          </p:grpSpPr>
          <p:sp>
            <p:nvSpPr>
              <p:cNvPr id="1097" name="Google Shape;1097;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98" name="Google Shape;1098;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99" name="Google Shape;1099;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00" name="Google Shape;1100;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101" name="Google Shape;1101;p9"/>
          <p:cNvGrpSpPr/>
          <p:nvPr/>
        </p:nvGrpSpPr>
        <p:grpSpPr>
          <a:xfrm>
            <a:off x="9601554" y="3999763"/>
            <a:ext cx="367224" cy="240304"/>
            <a:chOff x="7493876" y="2774731"/>
            <a:chExt cx="1481958" cy="894622"/>
          </a:xfrm>
        </p:grpSpPr>
        <p:sp>
          <p:nvSpPr>
            <p:cNvPr id="1102" name="Google Shape;1102;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103" name="Google Shape;1103;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104" name="Google Shape;1104;p9"/>
            <p:cNvGrpSpPr/>
            <p:nvPr/>
          </p:nvGrpSpPr>
          <p:grpSpPr>
            <a:xfrm>
              <a:off x="7713663" y="2848339"/>
              <a:ext cx="1042107" cy="425543"/>
              <a:chOff x="7786941" y="2884917"/>
              <a:chExt cx="897649" cy="353919"/>
            </a:xfrm>
          </p:grpSpPr>
          <p:sp>
            <p:nvSpPr>
              <p:cNvPr id="1105" name="Google Shape;1105;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06" name="Google Shape;1106;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07" name="Google Shape;1107;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08" name="Google Shape;1108;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109" name="Google Shape;1109;p9"/>
          <p:cNvGrpSpPr/>
          <p:nvPr/>
        </p:nvGrpSpPr>
        <p:grpSpPr>
          <a:xfrm>
            <a:off x="10375259" y="3992325"/>
            <a:ext cx="353678" cy="198344"/>
            <a:chOff x="7493876" y="2774731"/>
            <a:chExt cx="1481958" cy="894622"/>
          </a:xfrm>
        </p:grpSpPr>
        <p:sp>
          <p:nvSpPr>
            <p:cNvPr id="1110" name="Google Shape;111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111" name="Google Shape;111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112" name="Google Shape;1112;p9"/>
            <p:cNvGrpSpPr/>
            <p:nvPr/>
          </p:nvGrpSpPr>
          <p:grpSpPr>
            <a:xfrm>
              <a:off x="7713663" y="2848339"/>
              <a:ext cx="1042107" cy="425543"/>
              <a:chOff x="7786941" y="2884917"/>
              <a:chExt cx="897649" cy="353919"/>
            </a:xfrm>
          </p:grpSpPr>
          <p:sp>
            <p:nvSpPr>
              <p:cNvPr id="1113" name="Google Shape;111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14" name="Google Shape;111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15" name="Google Shape;111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16" name="Google Shape;111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117" name="Google Shape;1117;p9"/>
          <p:cNvGrpSpPr/>
          <p:nvPr/>
        </p:nvGrpSpPr>
        <p:grpSpPr>
          <a:xfrm>
            <a:off x="9247893" y="4775686"/>
            <a:ext cx="393760" cy="218578"/>
            <a:chOff x="7493876" y="2774731"/>
            <a:chExt cx="1481958" cy="894622"/>
          </a:xfrm>
        </p:grpSpPr>
        <p:sp>
          <p:nvSpPr>
            <p:cNvPr id="1118" name="Google Shape;1118;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119" name="Google Shape;1119;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120" name="Google Shape;1120;p9"/>
            <p:cNvGrpSpPr/>
            <p:nvPr/>
          </p:nvGrpSpPr>
          <p:grpSpPr>
            <a:xfrm>
              <a:off x="7713663" y="2848339"/>
              <a:ext cx="1042107" cy="425543"/>
              <a:chOff x="7786941" y="2884917"/>
              <a:chExt cx="897649" cy="353919"/>
            </a:xfrm>
          </p:grpSpPr>
          <p:sp>
            <p:nvSpPr>
              <p:cNvPr id="1121" name="Google Shape;1121;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22" name="Google Shape;1122;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23" name="Google Shape;1123;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24" name="Google Shape;1124;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125" name="Google Shape;1125;p9"/>
          <p:cNvGrpSpPr/>
          <p:nvPr/>
        </p:nvGrpSpPr>
        <p:grpSpPr>
          <a:xfrm>
            <a:off x="10925982" y="4369125"/>
            <a:ext cx="228295" cy="120400"/>
            <a:chOff x="7493876" y="2774731"/>
            <a:chExt cx="1481958" cy="894622"/>
          </a:xfrm>
        </p:grpSpPr>
        <p:sp>
          <p:nvSpPr>
            <p:cNvPr id="1126" name="Google Shape;112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127" name="Google Shape;112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128" name="Google Shape;1128;p9"/>
            <p:cNvGrpSpPr/>
            <p:nvPr/>
          </p:nvGrpSpPr>
          <p:grpSpPr>
            <a:xfrm>
              <a:off x="7713663" y="2848339"/>
              <a:ext cx="1042107" cy="425543"/>
              <a:chOff x="7786941" y="2884917"/>
              <a:chExt cx="897649" cy="353919"/>
            </a:xfrm>
          </p:grpSpPr>
          <p:sp>
            <p:nvSpPr>
              <p:cNvPr id="1129" name="Google Shape;112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30" name="Google Shape;113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31" name="Google Shape;113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32" name="Google Shape;113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133" name="Google Shape;1133;p9"/>
          <p:cNvGrpSpPr/>
          <p:nvPr/>
        </p:nvGrpSpPr>
        <p:grpSpPr>
          <a:xfrm>
            <a:off x="7439074" y="2356613"/>
            <a:ext cx="534987" cy="414882"/>
            <a:chOff x="7432700" y="2327293"/>
            <a:chExt cx="534987" cy="414882"/>
          </a:xfrm>
        </p:grpSpPr>
        <p:pic>
          <p:nvPicPr>
            <p:cNvPr descr="antenna_stylized" id="1134" name="Google Shape;1134;p9"/>
            <p:cNvPicPr preferRelativeResize="0"/>
            <p:nvPr/>
          </p:nvPicPr>
          <p:blipFill rotWithShape="1">
            <a:blip r:embed="rId7">
              <a:alphaModFix/>
            </a:blip>
            <a:srcRect b="0" l="0" r="0" t="0"/>
            <a:stretch/>
          </p:blipFill>
          <p:spPr>
            <a:xfrm>
              <a:off x="7432700" y="2327293"/>
              <a:ext cx="530702" cy="223756"/>
            </a:xfrm>
            <a:prstGeom prst="rect">
              <a:avLst/>
            </a:prstGeom>
            <a:noFill/>
            <a:ln>
              <a:noFill/>
            </a:ln>
          </p:spPr>
        </p:pic>
        <p:pic>
          <p:nvPicPr>
            <p:cNvPr descr="laptop_keyboard" id="1135" name="Google Shape;1135;p9"/>
            <p:cNvPicPr preferRelativeResize="0"/>
            <p:nvPr/>
          </p:nvPicPr>
          <p:blipFill rotWithShape="1">
            <a:blip r:embed="rId8">
              <a:alphaModFix/>
            </a:blip>
            <a:srcRect b="0" l="0" r="0" t="0"/>
            <a:stretch/>
          </p:blipFill>
          <p:spPr>
            <a:xfrm flipH="1" rot="109064">
              <a:off x="7458407" y="2575770"/>
              <a:ext cx="437221" cy="159511"/>
            </a:xfrm>
            <a:prstGeom prst="rect">
              <a:avLst/>
            </a:prstGeom>
            <a:noFill/>
            <a:ln>
              <a:noFill/>
            </a:ln>
          </p:spPr>
        </p:pic>
        <p:sp>
          <p:nvSpPr>
            <p:cNvPr id="1136" name="Google Shape;1136;p9"/>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137" name="Google Shape;1137;p9"/>
            <p:cNvPicPr preferRelativeResize="0"/>
            <p:nvPr/>
          </p:nvPicPr>
          <p:blipFill rotWithShape="1">
            <a:blip r:embed="rId9">
              <a:alphaModFix/>
            </a:blip>
            <a:srcRect b="0" l="0" r="0" t="0"/>
            <a:stretch/>
          </p:blipFill>
          <p:spPr>
            <a:xfrm>
              <a:off x="7620637" y="2426338"/>
              <a:ext cx="319785" cy="189429"/>
            </a:xfrm>
            <a:prstGeom prst="rect">
              <a:avLst/>
            </a:prstGeom>
            <a:noFill/>
            <a:ln>
              <a:noFill/>
            </a:ln>
          </p:spPr>
        </p:pic>
        <p:sp>
          <p:nvSpPr>
            <p:cNvPr id="1138" name="Google Shape;1138;p9"/>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39" name="Google Shape;1139;p9"/>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0" name="Google Shape;1140;p9"/>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1" name="Google Shape;1141;p9"/>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2" name="Google Shape;1142;p9"/>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3" name="Google Shape;1143;p9"/>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144" name="Google Shape;1144;p9"/>
            <p:cNvGrpSpPr/>
            <p:nvPr/>
          </p:nvGrpSpPr>
          <p:grpSpPr>
            <a:xfrm>
              <a:off x="7594735" y="2642220"/>
              <a:ext cx="98740" cy="36846"/>
              <a:chOff x="1740" y="2642"/>
              <a:chExt cx="752" cy="327"/>
            </a:xfrm>
          </p:grpSpPr>
          <p:sp>
            <p:nvSpPr>
              <p:cNvPr id="1145" name="Google Shape;1145;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6" name="Google Shape;1146;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7" name="Google Shape;1147;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8" name="Google Shape;1148;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9" name="Google Shape;1149;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0" name="Google Shape;1150;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151" name="Google Shape;1151;p9"/>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2" name="Google Shape;1152;p9"/>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3" name="Google Shape;1153;p9"/>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4" name="Google Shape;1154;p9"/>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5" name="Google Shape;1155;p9"/>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6" name="Google Shape;1156;p9"/>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57" name="Google Shape;1157;p9"/>
          <p:cNvGrpSpPr/>
          <p:nvPr/>
        </p:nvGrpSpPr>
        <p:grpSpPr>
          <a:xfrm>
            <a:off x="8637781" y="2319727"/>
            <a:ext cx="530702" cy="478009"/>
            <a:chOff x="8631407" y="2290407"/>
            <a:chExt cx="530702" cy="478009"/>
          </a:xfrm>
        </p:grpSpPr>
        <p:pic>
          <p:nvPicPr>
            <p:cNvPr descr="light2.png" id="1158" name="Google Shape;1158;p9"/>
            <p:cNvPicPr preferRelativeResize="0"/>
            <p:nvPr/>
          </p:nvPicPr>
          <p:blipFill rotWithShape="1">
            <a:blip r:embed="rId10">
              <a:alphaModFix/>
            </a:blip>
            <a:srcRect b="0" l="0" r="0" t="0"/>
            <a:stretch/>
          </p:blipFill>
          <p:spPr>
            <a:xfrm flipH="1">
              <a:off x="8825293" y="2362969"/>
              <a:ext cx="92772" cy="405447"/>
            </a:xfrm>
            <a:prstGeom prst="rect">
              <a:avLst/>
            </a:prstGeom>
            <a:noFill/>
            <a:ln>
              <a:noFill/>
            </a:ln>
          </p:spPr>
        </p:pic>
        <p:pic>
          <p:nvPicPr>
            <p:cNvPr descr="antenna_stylized" id="1159" name="Google Shape;1159;p9"/>
            <p:cNvPicPr preferRelativeResize="0"/>
            <p:nvPr/>
          </p:nvPicPr>
          <p:blipFill rotWithShape="1">
            <a:blip r:embed="rId7">
              <a:alphaModFix/>
            </a:blip>
            <a:srcRect b="0" l="0" r="0" t="0"/>
            <a:stretch/>
          </p:blipFill>
          <p:spPr>
            <a:xfrm>
              <a:off x="8631407" y="2290407"/>
              <a:ext cx="530702" cy="223756"/>
            </a:xfrm>
            <a:prstGeom prst="rect">
              <a:avLst/>
            </a:prstGeom>
            <a:noFill/>
            <a:ln>
              <a:noFill/>
            </a:ln>
          </p:spPr>
        </p:pic>
      </p:grpSp>
      <p:grpSp>
        <p:nvGrpSpPr>
          <p:cNvPr id="1160" name="Google Shape;1160;p9"/>
          <p:cNvGrpSpPr/>
          <p:nvPr/>
        </p:nvGrpSpPr>
        <p:grpSpPr>
          <a:xfrm>
            <a:off x="8499539" y="2059124"/>
            <a:ext cx="849312" cy="226109"/>
            <a:chOff x="8493165" y="2029804"/>
            <a:chExt cx="849312" cy="226109"/>
          </a:xfrm>
        </p:grpSpPr>
        <p:pic>
          <p:nvPicPr>
            <p:cNvPr descr="car_icon_small" id="1161" name="Google Shape;1161;p9"/>
            <p:cNvPicPr preferRelativeResize="0"/>
            <p:nvPr/>
          </p:nvPicPr>
          <p:blipFill rotWithShape="1">
            <a:blip r:embed="rId11">
              <a:alphaModFix/>
            </a:blip>
            <a:srcRect b="0" l="0" r="0" t="0"/>
            <a:stretch/>
          </p:blipFill>
          <p:spPr>
            <a:xfrm>
              <a:off x="8493165" y="2087638"/>
              <a:ext cx="849312" cy="168275"/>
            </a:xfrm>
            <a:prstGeom prst="rect">
              <a:avLst/>
            </a:prstGeom>
            <a:noFill/>
            <a:ln>
              <a:noFill/>
            </a:ln>
          </p:spPr>
        </p:pic>
        <p:pic>
          <p:nvPicPr>
            <p:cNvPr descr="antenna_stylized" id="1162" name="Google Shape;1162;p9"/>
            <p:cNvPicPr preferRelativeResize="0"/>
            <p:nvPr/>
          </p:nvPicPr>
          <p:blipFill rotWithShape="1">
            <a:blip r:embed="rId7">
              <a:alphaModFix/>
            </a:blip>
            <a:srcRect b="0" l="0" r="0" t="0"/>
            <a:stretch/>
          </p:blipFill>
          <p:spPr>
            <a:xfrm>
              <a:off x="8704645" y="2029804"/>
              <a:ext cx="530702" cy="223756"/>
            </a:xfrm>
            <a:prstGeom prst="rect">
              <a:avLst/>
            </a:prstGeom>
            <a:noFill/>
            <a:ln>
              <a:noFill/>
            </a:ln>
          </p:spPr>
        </p:pic>
      </p:grpSp>
      <p:grpSp>
        <p:nvGrpSpPr>
          <p:cNvPr id="1163" name="Google Shape;1163;p9"/>
          <p:cNvGrpSpPr/>
          <p:nvPr/>
        </p:nvGrpSpPr>
        <p:grpSpPr>
          <a:xfrm>
            <a:off x="7493518" y="3325424"/>
            <a:ext cx="857739" cy="583764"/>
            <a:chOff x="7487144" y="3296104"/>
            <a:chExt cx="857739" cy="583764"/>
          </a:xfrm>
        </p:grpSpPr>
        <p:grpSp>
          <p:nvGrpSpPr>
            <p:cNvPr id="1164" name="Google Shape;1164;p9"/>
            <p:cNvGrpSpPr/>
            <p:nvPr/>
          </p:nvGrpSpPr>
          <p:grpSpPr>
            <a:xfrm>
              <a:off x="7487144" y="3389820"/>
              <a:ext cx="350807" cy="310034"/>
              <a:chOff x="7487144" y="3389820"/>
              <a:chExt cx="350807" cy="310034"/>
            </a:xfrm>
          </p:grpSpPr>
          <p:pic>
            <p:nvPicPr>
              <p:cNvPr descr="antenna_stylized" id="1165" name="Google Shape;1165;p9"/>
              <p:cNvPicPr preferRelativeResize="0"/>
              <p:nvPr/>
            </p:nvPicPr>
            <p:blipFill rotWithShape="1">
              <a:blip r:embed="rId12">
                <a:alphaModFix/>
              </a:blip>
              <a:srcRect b="0" l="0" r="0" t="0"/>
              <a:stretch/>
            </p:blipFill>
            <p:spPr>
              <a:xfrm>
                <a:off x="7487144" y="3389820"/>
                <a:ext cx="347997" cy="167557"/>
              </a:xfrm>
              <a:prstGeom prst="rect">
                <a:avLst/>
              </a:prstGeom>
              <a:noFill/>
              <a:ln>
                <a:noFill/>
              </a:ln>
            </p:spPr>
          </p:pic>
          <p:pic>
            <p:nvPicPr>
              <p:cNvPr descr="laptop_keyboard" id="1166" name="Google Shape;1166;p9"/>
              <p:cNvPicPr preferRelativeResize="0"/>
              <p:nvPr/>
            </p:nvPicPr>
            <p:blipFill rotWithShape="1">
              <a:blip r:embed="rId13">
                <a:alphaModFix/>
              </a:blip>
              <a:srcRect b="0" l="0" r="0" t="0"/>
              <a:stretch/>
            </p:blipFill>
            <p:spPr>
              <a:xfrm flipH="1" rot="109064">
                <a:off x="7504001" y="3575889"/>
                <a:ext cx="286699" cy="119448"/>
              </a:xfrm>
              <a:prstGeom prst="rect">
                <a:avLst/>
              </a:prstGeom>
              <a:noFill/>
              <a:ln>
                <a:noFill/>
              </a:ln>
            </p:spPr>
          </p:pic>
          <p:sp>
            <p:nvSpPr>
              <p:cNvPr id="1167" name="Google Shape;1167;p9"/>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168" name="Google Shape;1168;p9"/>
              <p:cNvPicPr preferRelativeResize="0"/>
              <p:nvPr/>
            </p:nvPicPr>
            <p:blipFill rotWithShape="1">
              <a:blip r:embed="rId14">
                <a:alphaModFix/>
              </a:blip>
              <a:srcRect b="0" l="0" r="0" t="0"/>
              <a:stretch/>
            </p:blipFill>
            <p:spPr>
              <a:xfrm>
                <a:off x="7610380" y="3463988"/>
                <a:ext cx="209692" cy="141851"/>
              </a:xfrm>
              <a:prstGeom prst="rect">
                <a:avLst/>
              </a:prstGeom>
              <a:noFill/>
              <a:ln>
                <a:noFill/>
              </a:ln>
            </p:spPr>
          </p:pic>
          <p:sp>
            <p:nvSpPr>
              <p:cNvPr id="1169" name="Google Shape;1169;p9"/>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0" name="Google Shape;1170;p9"/>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1" name="Google Shape;1171;p9"/>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2" name="Google Shape;1172;p9"/>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3" name="Google Shape;1173;p9"/>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4" name="Google Shape;1174;p9"/>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175" name="Google Shape;1175;p9"/>
              <p:cNvGrpSpPr/>
              <p:nvPr/>
            </p:nvGrpSpPr>
            <p:grpSpPr>
              <a:xfrm>
                <a:off x="7593395" y="3625649"/>
                <a:ext cx="64747" cy="27592"/>
                <a:chOff x="1740" y="2642"/>
                <a:chExt cx="752" cy="327"/>
              </a:xfrm>
            </p:grpSpPr>
            <p:sp>
              <p:nvSpPr>
                <p:cNvPr id="1176" name="Google Shape;1176;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7" name="Google Shape;1177;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8" name="Google Shape;1178;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9" name="Google Shape;1179;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0" name="Google Shape;1180;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1" name="Google Shape;1181;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182" name="Google Shape;1182;p9"/>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3" name="Google Shape;1183;p9"/>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4" name="Google Shape;1184;p9"/>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5" name="Google Shape;1185;p9"/>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6" name="Google Shape;1186;p9"/>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7" name="Google Shape;1187;p9"/>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88" name="Google Shape;1188;p9"/>
            <p:cNvGrpSpPr/>
            <p:nvPr/>
          </p:nvGrpSpPr>
          <p:grpSpPr>
            <a:xfrm flipH="1">
              <a:off x="7985622" y="3537823"/>
              <a:ext cx="359261" cy="342045"/>
              <a:chOff x="2839" y="3501"/>
              <a:chExt cx="755" cy="803"/>
            </a:xfrm>
          </p:grpSpPr>
          <p:pic>
            <p:nvPicPr>
              <p:cNvPr descr="desktop_computer_stylized_medium" id="1189" name="Google Shape;1189;p9"/>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1190" name="Google Shape;1190;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191" name="Google Shape;1191;p9"/>
            <p:cNvGrpSpPr/>
            <p:nvPr/>
          </p:nvGrpSpPr>
          <p:grpSpPr>
            <a:xfrm>
              <a:off x="7797061" y="3296104"/>
              <a:ext cx="347997" cy="396620"/>
              <a:chOff x="7797061" y="3296104"/>
              <a:chExt cx="347997" cy="396620"/>
            </a:xfrm>
          </p:grpSpPr>
          <p:pic>
            <p:nvPicPr>
              <p:cNvPr descr="fridge2.png" id="1192" name="Google Shape;1192;p9"/>
              <p:cNvPicPr preferRelativeResize="0"/>
              <p:nvPr/>
            </p:nvPicPr>
            <p:blipFill rotWithShape="1">
              <a:blip r:embed="rId16">
                <a:alphaModFix/>
              </a:blip>
              <a:srcRect b="0" l="0" r="0" t="0"/>
              <a:stretch/>
            </p:blipFill>
            <p:spPr>
              <a:xfrm>
                <a:off x="7896825" y="3355697"/>
                <a:ext cx="189578" cy="337027"/>
              </a:xfrm>
              <a:prstGeom prst="rect">
                <a:avLst/>
              </a:prstGeom>
              <a:noFill/>
              <a:ln>
                <a:noFill/>
              </a:ln>
            </p:spPr>
          </p:pic>
          <p:pic>
            <p:nvPicPr>
              <p:cNvPr descr="antenna_stylized" id="1193" name="Google Shape;1193;p9"/>
              <p:cNvPicPr preferRelativeResize="0"/>
              <p:nvPr/>
            </p:nvPicPr>
            <p:blipFill rotWithShape="1">
              <a:blip r:embed="rId12">
                <a:alphaModFix/>
              </a:blip>
              <a:srcRect b="0" l="0" r="0" t="0"/>
              <a:stretch/>
            </p:blipFill>
            <p:spPr>
              <a:xfrm>
                <a:off x="7797061" y="3296104"/>
                <a:ext cx="347997" cy="167557"/>
              </a:xfrm>
              <a:prstGeom prst="rect">
                <a:avLst/>
              </a:prstGeom>
              <a:noFill/>
              <a:ln>
                <a:noFill/>
              </a:ln>
            </p:spPr>
          </p:pic>
        </p:grpSp>
      </p:grpSp>
      <p:grpSp>
        <p:nvGrpSpPr>
          <p:cNvPr id="1194" name="Google Shape;1194;p9"/>
          <p:cNvGrpSpPr/>
          <p:nvPr/>
        </p:nvGrpSpPr>
        <p:grpSpPr>
          <a:xfrm>
            <a:off x="11064947" y="3428485"/>
            <a:ext cx="518448" cy="1212242"/>
            <a:chOff x="11058573" y="3399165"/>
            <a:chExt cx="518448" cy="1212242"/>
          </a:xfrm>
        </p:grpSpPr>
        <p:grpSp>
          <p:nvGrpSpPr>
            <p:cNvPr id="1195" name="Google Shape;1195;p9"/>
            <p:cNvGrpSpPr/>
            <p:nvPr/>
          </p:nvGrpSpPr>
          <p:grpSpPr>
            <a:xfrm>
              <a:off x="11087182" y="4159591"/>
              <a:ext cx="489839" cy="451816"/>
              <a:chOff x="5103720" y="2693365"/>
              <a:chExt cx="611650" cy="414788"/>
            </a:xfrm>
          </p:grpSpPr>
          <p:cxnSp>
            <p:nvCxnSpPr>
              <p:cNvPr id="1196" name="Google Shape;1196;p9"/>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1197" name="Google Shape;1197;p9"/>
              <p:cNvGrpSpPr/>
              <p:nvPr/>
            </p:nvGrpSpPr>
            <p:grpSpPr>
              <a:xfrm>
                <a:off x="5275406" y="2693365"/>
                <a:ext cx="439964" cy="414788"/>
                <a:chOff x="5275406" y="2711455"/>
                <a:chExt cx="452949" cy="405518"/>
              </a:xfrm>
            </p:grpSpPr>
            <p:pic>
              <p:nvPicPr>
                <p:cNvPr descr="server_rack.png" id="1198" name="Google Shape;1198;p9"/>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1199" name="Google Shape;1199;p9"/>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1200" name="Google Shape;1200;p9"/>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nvGrpSpPr>
            <p:cNvPr id="1201" name="Google Shape;1201;p9"/>
            <p:cNvGrpSpPr/>
            <p:nvPr/>
          </p:nvGrpSpPr>
          <p:grpSpPr>
            <a:xfrm>
              <a:off x="11058573" y="3399165"/>
              <a:ext cx="423724" cy="405973"/>
              <a:chOff x="5103720" y="2693365"/>
              <a:chExt cx="611650" cy="414788"/>
            </a:xfrm>
          </p:grpSpPr>
          <p:cxnSp>
            <p:nvCxnSpPr>
              <p:cNvPr id="1202" name="Google Shape;1202;p9"/>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1203" name="Google Shape;1203;p9"/>
              <p:cNvGrpSpPr/>
              <p:nvPr/>
            </p:nvGrpSpPr>
            <p:grpSpPr>
              <a:xfrm>
                <a:off x="5275406" y="2693365"/>
                <a:ext cx="439964" cy="414788"/>
                <a:chOff x="5275406" y="2711455"/>
                <a:chExt cx="452949" cy="405518"/>
              </a:xfrm>
            </p:grpSpPr>
            <p:pic>
              <p:nvPicPr>
                <p:cNvPr descr="server_rack.png" id="1204" name="Google Shape;1204;p9"/>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1205" name="Google Shape;1205;p9"/>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1206" name="Google Shape;1206;p9"/>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grpSp>
        <p:nvGrpSpPr>
          <p:cNvPr id="1207" name="Google Shape;1207;p9"/>
          <p:cNvGrpSpPr/>
          <p:nvPr/>
        </p:nvGrpSpPr>
        <p:grpSpPr>
          <a:xfrm flipH="1">
            <a:off x="7980855" y="4900161"/>
            <a:ext cx="345630" cy="320302"/>
            <a:chOff x="2839" y="3501"/>
            <a:chExt cx="755" cy="803"/>
          </a:xfrm>
        </p:grpSpPr>
        <p:pic>
          <p:nvPicPr>
            <p:cNvPr descr="desktop_computer_stylized_medium" id="1208" name="Google Shape;1208;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1209" name="Google Shape;1209;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210" name="Google Shape;1210;p9"/>
          <p:cNvGrpSpPr/>
          <p:nvPr/>
        </p:nvGrpSpPr>
        <p:grpSpPr>
          <a:xfrm>
            <a:off x="9201681" y="5852809"/>
            <a:ext cx="310186" cy="312008"/>
            <a:chOff x="877" y="1008"/>
            <a:chExt cx="2747" cy="2626"/>
          </a:xfrm>
        </p:grpSpPr>
        <p:pic>
          <p:nvPicPr>
            <p:cNvPr descr="antenna_stylized" id="1211" name="Google Shape;1211;p9"/>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1212" name="Google Shape;1212;p9"/>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1213" name="Google Shape;1213;p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214" name="Google Shape;1214;p9"/>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1215" name="Google Shape;1215;p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16" name="Google Shape;1216;p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17" name="Google Shape;1217;p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18" name="Google Shape;1218;p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19" name="Google Shape;1219;p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20" name="Google Shape;1220;p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21" name="Google Shape;1221;p9"/>
            <p:cNvGrpSpPr/>
            <p:nvPr/>
          </p:nvGrpSpPr>
          <p:grpSpPr>
            <a:xfrm>
              <a:off x="1709" y="3008"/>
              <a:ext cx="507" cy="234"/>
              <a:chOff x="1740" y="2642"/>
              <a:chExt cx="752" cy="327"/>
            </a:xfrm>
          </p:grpSpPr>
          <p:sp>
            <p:nvSpPr>
              <p:cNvPr id="1222" name="Google Shape;1222;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23" name="Google Shape;1223;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24" name="Google Shape;1224;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25" name="Google Shape;1225;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26" name="Google Shape;1226;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27" name="Google Shape;1227;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228" name="Google Shape;1228;p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29" name="Google Shape;1229;p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30" name="Google Shape;1230;p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31" name="Google Shape;1231;p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32" name="Google Shape;1232;p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33" name="Google Shape;1233;p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234" name="Google Shape;1234;p9"/>
          <p:cNvGrpSpPr/>
          <p:nvPr/>
        </p:nvGrpSpPr>
        <p:grpSpPr>
          <a:xfrm flipH="1">
            <a:off x="8153909" y="5504657"/>
            <a:ext cx="345630" cy="320302"/>
            <a:chOff x="2839" y="3501"/>
            <a:chExt cx="755" cy="803"/>
          </a:xfrm>
        </p:grpSpPr>
        <p:pic>
          <p:nvPicPr>
            <p:cNvPr descr="desktop_computer_stylized_medium" id="1235" name="Google Shape;1235;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1236" name="Google Shape;1236;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237" name="Google Shape;1237;p9"/>
          <p:cNvGrpSpPr/>
          <p:nvPr/>
        </p:nvGrpSpPr>
        <p:grpSpPr>
          <a:xfrm flipH="1">
            <a:off x="8552134" y="5526130"/>
            <a:ext cx="345630" cy="320302"/>
            <a:chOff x="2839" y="3501"/>
            <a:chExt cx="755" cy="803"/>
          </a:xfrm>
        </p:grpSpPr>
        <p:pic>
          <p:nvPicPr>
            <p:cNvPr descr="desktop_computer_stylized_medium" id="1238" name="Google Shape;1238;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1239" name="Google Shape;1239;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1240" name="Google Shape;1240;p9"/>
          <p:cNvGrpSpPr/>
          <p:nvPr/>
        </p:nvGrpSpPr>
        <p:grpSpPr>
          <a:xfrm>
            <a:off x="9534746" y="5795138"/>
            <a:ext cx="319264" cy="256836"/>
            <a:chOff x="877" y="1008"/>
            <a:chExt cx="2747" cy="2626"/>
          </a:xfrm>
        </p:grpSpPr>
        <p:pic>
          <p:nvPicPr>
            <p:cNvPr descr="antenna_stylized" id="1241" name="Google Shape;1241;p9"/>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1242" name="Google Shape;1242;p9"/>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1243" name="Google Shape;1243;p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1244" name="Google Shape;1244;p9"/>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1245" name="Google Shape;1245;p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46" name="Google Shape;1246;p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47" name="Google Shape;1247;p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48" name="Google Shape;1248;p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49" name="Google Shape;1249;p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0" name="Google Shape;1250;p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51" name="Google Shape;1251;p9"/>
            <p:cNvGrpSpPr/>
            <p:nvPr/>
          </p:nvGrpSpPr>
          <p:grpSpPr>
            <a:xfrm>
              <a:off x="1709" y="3008"/>
              <a:ext cx="507" cy="234"/>
              <a:chOff x="1740" y="2642"/>
              <a:chExt cx="752" cy="327"/>
            </a:xfrm>
          </p:grpSpPr>
          <p:sp>
            <p:nvSpPr>
              <p:cNvPr id="1252" name="Google Shape;1252;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3" name="Google Shape;1253;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4" name="Google Shape;1254;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5" name="Google Shape;1255;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6" name="Google Shape;1256;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7" name="Google Shape;1257;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258" name="Google Shape;1258;p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9" name="Google Shape;1259;p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60" name="Google Shape;1260;p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61" name="Google Shape;1261;p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62" name="Google Shape;1262;p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63" name="Google Shape;1263;p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264" name="Google Shape;1264;p9"/>
          <p:cNvSpPr/>
          <p:nvPr/>
        </p:nvSpPr>
        <p:spPr>
          <a:xfrm>
            <a:off x="10153593" y="5636971"/>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65" name="Google Shape;1265;p9"/>
          <p:cNvSpPr/>
          <p:nvPr/>
        </p:nvSpPr>
        <p:spPr>
          <a:xfrm>
            <a:off x="10159970" y="5656923"/>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66" name="Google Shape;1266;p9"/>
          <p:cNvSpPr/>
          <p:nvPr/>
        </p:nvSpPr>
        <p:spPr>
          <a:xfrm>
            <a:off x="10155518" y="5812753"/>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67" name="Google Shape;1267;p9"/>
          <p:cNvSpPr/>
          <p:nvPr/>
        </p:nvSpPr>
        <p:spPr>
          <a:xfrm>
            <a:off x="10026299" y="5674399"/>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68" name="Google Shape;1268;p9"/>
          <p:cNvGrpSpPr/>
          <p:nvPr/>
        </p:nvGrpSpPr>
        <p:grpSpPr>
          <a:xfrm>
            <a:off x="10091053" y="5670891"/>
            <a:ext cx="69517" cy="21877"/>
            <a:chOff x="613" y="2566"/>
            <a:chExt cx="721" cy="144"/>
          </a:xfrm>
        </p:grpSpPr>
        <p:sp>
          <p:nvSpPr>
            <p:cNvPr id="1269" name="Google Shape;1269;p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70" name="Google Shape;1270;p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71" name="Google Shape;1271;p9"/>
          <p:cNvSpPr/>
          <p:nvPr/>
        </p:nvSpPr>
        <p:spPr>
          <a:xfrm>
            <a:off x="10027502" y="5722750"/>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72" name="Google Shape;1272;p9"/>
          <p:cNvGrpSpPr/>
          <p:nvPr/>
        </p:nvGrpSpPr>
        <p:grpSpPr>
          <a:xfrm>
            <a:off x="10091005" y="5718110"/>
            <a:ext cx="69517" cy="19515"/>
            <a:chOff x="615" y="2564"/>
            <a:chExt cx="721" cy="139"/>
          </a:xfrm>
        </p:grpSpPr>
        <p:sp>
          <p:nvSpPr>
            <p:cNvPr id="1273" name="Google Shape;1273;p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74" name="Google Shape;1274;p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75" name="Google Shape;1275;p9"/>
          <p:cNvSpPr/>
          <p:nvPr/>
        </p:nvSpPr>
        <p:spPr>
          <a:xfrm>
            <a:off x="10027502" y="5771101"/>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76" name="Google Shape;1276;p9"/>
          <p:cNvSpPr/>
          <p:nvPr/>
        </p:nvSpPr>
        <p:spPr>
          <a:xfrm>
            <a:off x="10028705" y="5814938"/>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77" name="Google Shape;1277;p9"/>
          <p:cNvGrpSpPr/>
          <p:nvPr/>
        </p:nvGrpSpPr>
        <p:grpSpPr>
          <a:xfrm>
            <a:off x="10089851" y="5813708"/>
            <a:ext cx="69541" cy="19618"/>
            <a:chOff x="618" y="2586"/>
            <a:chExt cx="720" cy="124"/>
          </a:xfrm>
        </p:grpSpPr>
        <p:sp>
          <p:nvSpPr>
            <p:cNvPr id="1278" name="Google Shape;1278;p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79" name="Google Shape;1279;p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80" name="Google Shape;1280;p9"/>
          <p:cNvSpPr/>
          <p:nvPr/>
        </p:nvSpPr>
        <p:spPr>
          <a:xfrm>
            <a:off x="10156000" y="5771101"/>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81" name="Google Shape;1281;p9"/>
          <p:cNvGrpSpPr/>
          <p:nvPr/>
        </p:nvGrpSpPr>
        <p:grpSpPr>
          <a:xfrm>
            <a:off x="10089849" y="5767606"/>
            <a:ext cx="70700" cy="19515"/>
            <a:chOff x="613" y="2571"/>
            <a:chExt cx="732" cy="134"/>
          </a:xfrm>
        </p:grpSpPr>
        <p:sp>
          <p:nvSpPr>
            <p:cNvPr id="1282" name="Google Shape;1282;p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83" name="Google Shape;1283;p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284" name="Google Shape;1284;p9"/>
          <p:cNvSpPr/>
          <p:nvPr/>
        </p:nvSpPr>
        <p:spPr>
          <a:xfrm>
            <a:off x="10150946" y="5636388"/>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85" name="Google Shape;1285;p9"/>
          <p:cNvSpPr/>
          <p:nvPr/>
        </p:nvSpPr>
        <p:spPr>
          <a:xfrm>
            <a:off x="10158887" y="5720566"/>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86" name="Google Shape;1286;p9"/>
          <p:cNvSpPr/>
          <p:nvPr/>
        </p:nvSpPr>
        <p:spPr>
          <a:xfrm>
            <a:off x="10159248" y="5672943"/>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87" name="Google Shape;1287;p9"/>
          <p:cNvSpPr/>
          <p:nvPr/>
        </p:nvSpPr>
        <p:spPr>
          <a:xfrm>
            <a:off x="10183311" y="5954166"/>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88" name="Google Shape;1288;p9"/>
          <p:cNvSpPr/>
          <p:nvPr/>
        </p:nvSpPr>
        <p:spPr>
          <a:xfrm>
            <a:off x="10157684" y="5954603"/>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89" name="Google Shape;1289;p9"/>
          <p:cNvSpPr/>
          <p:nvPr/>
        </p:nvSpPr>
        <p:spPr>
          <a:xfrm>
            <a:off x="10017877" y="5963487"/>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90" name="Google Shape;1290;p9"/>
          <p:cNvSpPr/>
          <p:nvPr/>
        </p:nvSpPr>
        <p:spPr>
          <a:xfrm>
            <a:off x="10026299" y="5969166"/>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91" name="Google Shape;1291;p9"/>
          <p:cNvSpPr/>
          <p:nvPr/>
        </p:nvSpPr>
        <p:spPr>
          <a:xfrm>
            <a:off x="10038210"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92" name="Google Shape;1292;p9"/>
          <p:cNvSpPr/>
          <p:nvPr/>
        </p:nvSpPr>
        <p:spPr>
          <a:xfrm>
            <a:off x="10059867" y="5920815"/>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293" name="Google Shape;1293;p9"/>
          <p:cNvSpPr/>
          <p:nvPr/>
        </p:nvSpPr>
        <p:spPr>
          <a:xfrm>
            <a:off x="10080201"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294" name="Google Shape;1294;p9"/>
          <p:cNvSpPr/>
          <p:nvPr/>
        </p:nvSpPr>
        <p:spPr>
          <a:xfrm>
            <a:off x="10129410" y="5841444"/>
            <a:ext cx="9625" cy="11053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295" name="Google Shape;1295;p9"/>
          <p:cNvGrpSpPr/>
          <p:nvPr/>
        </p:nvGrpSpPr>
        <p:grpSpPr>
          <a:xfrm flipH="1">
            <a:off x="7773981" y="5281060"/>
            <a:ext cx="345630" cy="320302"/>
            <a:chOff x="2839" y="3501"/>
            <a:chExt cx="755" cy="803"/>
          </a:xfrm>
        </p:grpSpPr>
        <p:pic>
          <p:nvPicPr>
            <p:cNvPr descr="desktop_computer_stylized_medium" id="1296" name="Google Shape;1296;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1297" name="Google Shape;1297;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298" name="Google Shape;1298;p9"/>
          <p:cNvSpPr/>
          <p:nvPr/>
        </p:nvSpPr>
        <p:spPr>
          <a:xfrm>
            <a:off x="6539916" y="1365914"/>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299" name="Google Shape;1299;p9"/>
          <p:cNvGrpSpPr/>
          <p:nvPr/>
        </p:nvGrpSpPr>
        <p:grpSpPr>
          <a:xfrm>
            <a:off x="7750224" y="1859725"/>
            <a:ext cx="415925" cy="385763"/>
            <a:chOff x="2751" y="1851"/>
            <a:chExt cx="462" cy="478"/>
          </a:xfrm>
        </p:grpSpPr>
        <p:pic>
          <p:nvPicPr>
            <p:cNvPr descr="iphone_stylized_small" id="1300" name="Google Shape;1300;p9"/>
            <p:cNvPicPr preferRelativeResize="0"/>
            <p:nvPr/>
          </p:nvPicPr>
          <p:blipFill rotWithShape="1">
            <a:blip r:embed="rId22">
              <a:alphaModFix/>
            </a:blip>
            <a:srcRect b="0" l="0" r="0" t="0"/>
            <a:stretch/>
          </p:blipFill>
          <p:spPr>
            <a:xfrm>
              <a:off x="2928" y="1922"/>
              <a:ext cx="152" cy="407"/>
            </a:xfrm>
            <a:prstGeom prst="rect">
              <a:avLst/>
            </a:prstGeom>
            <a:noFill/>
            <a:ln>
              <a:noFill/>
            </a:ln>
          </p:spPr>
        </p:pic>
        <p:pic>
          <p:nvPicPr>
            <p:cNvPr descr="antenna_radiation_stylized" id="1301" name="Google Shape;1301;p9"/>
            <p:cNvPicPr preferRelativeResize="0"/>
            <p:nvPr/>
          </p:nvPicPr>
          <p:blipFill rotWithShape="1">
            <a:blip r:embed="rId23">
              <a:alphaModFix/>
            </a:blip>
            <a:srcRect b="0" l="0" r="0" t="0"/>
            <a:stretch/>
          </p:blipFill>
          <p:spPr>
            <a:xfrm>
              <a:off x="2751" y="1851"/>
              <a:ext cx="462" cy="110"/>
            </a:xfrm>
            <a:prstGeom prst="rect">
              <a:avLst/>
            </a:prstGeom>
            <a:noFill/>
            <a:ln>
              <a:noFill/>
            </a:ln>
          </p:spPr>
        </p:pic>
      </p:grpSp>
      <p:sp>
        <p:nvSpPr>
          <p:cNvPr id="1302" name="Google Shape;1302;p9"/>
          <p:cNvSpPr/>
          <p:nvPr/>
        </p:nvSpPr>
        <p:spPr>
          <a:xfrm>
            <a:off x="7680324" y="181417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03" name="Google Shape;1303;p9"/>
          <p:cNvSpPr/>
          <p:nvPr/>
        </p:nvSpPr>
        <p:spPr>
          <a:xfrm>
            <a:off x="9823450" y="5554772"/>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04" name="Google Shape;1304;p9"/>
          <p:cNvSpPr/>
          <p:nvPr/>
        </p:nvSpPr>
        <p:spPr>
          <a:xfrm>
            <a:off x="8005845" y="1190714"/>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305" name="Google Shape;1305;p9"/>
          <p:cNvGrpSpPr/>
          <p:nvPr/>
        </p:nvGrpSpPr>
        <p:grpSpPr>
          <a:xfrm>
            <a:off x="10288915" y="4742972"/>
            <a:ext cx="880622" cy="861812"/>
            <a:chOff x="10288915" y="4742972"/>
            <a:chExt cx="880622" cy="861812"/>
          </a:xfrm>
        </p:grpSpPr>
        <p:grpSp>
          <p:nvGrpSpPr>
            <p:cNvPr id="1306" name="Google Shape;1306;p9"/>
            <p:cNvGrpSpPr/>
            <p:nvPr/>
          </p:nvGrpSpPr>
          <p:grpSpPr>
            <a:xfrm>
              <a:off x="10288915" y="5273951"/>
              <a:ext cx="177192" cy="330833"/>
              <a:chOff x="4140" y="429"/>
              <a:chExt cx="1425" cy="2396"/>
            </a:xfrm>
          </p:grpSpPr>
          <p:sp>
            <p:nvSpPr>
              <p:cNvPr id="1307" name="Google Shape;1307;p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08" name="Google Shape;1308;p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09" name="Google Shape;1309;p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10" name="Google Shape;1310;p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11" name="Google Shape;1311;p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312" name="Google Shape;1312;p9"/>
              <p:cNvGrpSpPr/>
              <p:nvPr/>
            </p:nvGrpSpPr>
            <p:grpSpPr>
              <a:xfrm>
                <a:off x="4748" y="666"/>
                <a:ext cx="578" cy="150"/>
                <a:chOff x="613" y="2566"/>
                <a:chExt cx="721" cy="144"/>
              </a:xfrm>
            </p:grpSpPr>
            <p:sp>
              <p:nvSpPr>
                <p:cNvPr id="1313" name="Google Shape;1313;p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14" name="Google Shape;1314;p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15" name="Google Shape;1315;p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316" name="Google Shape;1316;p9"/>
              <p:cNvGrpSpPr/>
              <p:nvPr/>
            </p:nvGrpSpPr>
            <p:grpSpPr>
              <a:xfrm>
                <a:off x="4748" y="990"/>
                <a:ext cx="578" cy="134"/>
                <a:chOff x="615" y="2564"/>
                <a:chExt cx="721" cy="139"/>
              </a:xfrm>
            </p:grpSpPr>
            <p:sp>
              <p:nvSpPr>
                <p:cNvPr id="1317" name="Google Shape;1317;p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18" name="Google Shape;1318;p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19" name="Google Shape;1319;p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20" name="Google Shape;1320;p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321" name="Google Shape;1321;p9"/>
              <p:cNvGrpSpPr/>
              <p:nvPr/>
            </p:nvGrpSpPr>
            <p:grpSpPr>
              <a:xfrm>
                <a:off x="4738" y="1647"/>
                <a:ext cx="578" cy="135"/>
                <a:chOff x="618" y="2586"/>
                <a:chExt cx="720" cy="124"/>
              </a:xfrm>
            </p:grpSpPr>
            <p:sp>
              <p:nvSpPr>
                <p:cNvPr id="1322" name="Google Shape;1322;p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23" name="Google Shape;1323;p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24" name="Google Shape;1324;p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325" name="Google Shape;1325;p9"/>
              <p:cNvGrpSpPr/>
              <p:nvPr/>
            </p:nvGrpSpPr>
            <p:grpSpPr>
              <a:xfrm>
                <a:off x="4738" y="1330"/>
                <a:ext cx="588" cy="134"/>
                <a:chOff x="613" y="2571"/>
                <a:chExt cx="732" cy="134"/>
              </a:xfrm>
            </p:grpSpPr>
            <p:sp>
              <p:nvSpPr>
                <p:cNvPr id="1326" name="Google Shape;1326;p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27" name="Google Shape;1327;p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28" name="Google Shape;1328;p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29" name="Google Shape;1329;p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30" name="Google Shape;1330;p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31" name="Google Shape;1331;p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32" name="Google Shape;1332;p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33" name="Google Shape;1333;p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34" name="Google Shape;1334;p9"/>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35" name="Google Shape;1335;p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36" name="Google Shape;1336;p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337" name="Google Shape;1337;p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38" name="Google Shape;1338;p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39" name="Google Shape;1339;p9"/>
            <p:cNvSpPr/>
            <p:nvPr/>
          </p:nvSpPr>
          <p:spPr>
            <a:xfrm>
              <a:off x="10452186" y="4753064"/>
              <a:ext cx="676276" cy="776288"/>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340" name="Google Shape;1340;p9"/>
            <p:cNvSpPr/>
            <p:nvPr/>
          </p:nvSpPr>
          <p:spPr>
            <a:xfrm>
              <a:off x="10418848" y="4776877"/>
              <a:ext cx="690563"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341" name="Google Shape;1341;p9"/>
            <p:cNvSpPr/>
            <p:nvPr/>
          </p:nvSpPr>
          <p:spPr>
            <a:xfrm>
              <a:off x="10425991" y="4930726"/>
              <a:ext cx="676276" cy="18666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342" name="Google Shape;1342;p9"/>
            <p:cNvSpPr txBox="1"/>
            <p:nvPr/>
          </p:nvSpPr>
          <p:spPr>
            <a:xfrm>
              <a:off x="10355149" y="4742972"/>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1343" name="Google Shape;1343;p9"/>
            <p:cNvCxnSpPr/>
            <p:nvPr/>
          </p:nvCxnSpPr>
          <p:spPr>
            <a:xfrm>
              <a:off x="10418848" y="5119777"/>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1344" name="Google Shape;1344;p9"/>
            <p:cNvCxnSpPr/>
            <p:nvPr/>
          </p:nvCxnSpPr>
          <p:spPr>
            <a:xfrm>
              <a:off x="10428373" y="5257889"/>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1345" name="Google Shape;1345;p9"/>
            <p:cNvCxnSpPr/>
            <p:nvPr/>
          </p:nvCxnSpPr>
          <p:spPr>
            <a:xfrm>
              <a:off x="10428373" y="5396002"/>
              <a:ext cx="690563" cy="4763"/>
            </a:xfrm>
            <a:prstGeom prst="straightConnector1">
              <a:avLst/>
            </a:prstGeom>
            <a:noFill/>
            <a:ln cap="flat" cmpd="sng" w="12700">
              <a:solidFill>
                <a:schemeClr val="dk1"/>
              </a:solidFill>
              <a:prstDash val="solid"/>
              <a:round/>
              <a:headEnd len="med" w="med" type="none"/>
              <a:tailEnd len="med" w="med" type="none"/>
            </a:ln>
          </p:spPr>
        </p:cxnSp>
      </p:grpSp>
      <p:sp>
        <p:nvSpPr>
          <p:cNvPr id="1346" name="Google Shape;1346;p9"/>
          <p:cNvSpPr/>
          <p:nvPr/>
        </p:nvSpPr>
        <p:spPr>
          <a:xfrm>
            <a:off x="10104523" y="4775289"/>
            <a:ext cx="304800" cy="942975"/>
          </a:xfrm>
          <a:custGeom>
            <a:rect b="b" l="l" r="r" t="t"/>
            <a:pathLst>
              <a:path extrusionOk="0" h="594" w="192">
                <a:moveTo>
                  <a:pt x="0" y="594"/>
                </a:moveTo>
                <a:lnTo>
                  <a:pt x="192" y="0"/>
                </a:lnTo>
                <a:lnTo>
                  <a:pt x="192" y="515"/>
                </a:lnTo>
                <a:lnTo>
                  <a:pt x="0" y="594"/>
                </a:lnTo>
                <a:close/>
              </a:path>
            </a:pathLst>
          </a:custGeom>
          <a:gradFill>
            <a:gsLst>
              <a:gs pos="0">
                <a:schemeClr val="lt1"/>
              </a:gs>
              <a:gs pos="100000">
                <a:srgbClr val="CC000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347" name="Google Shape;1347;p9"/>
          <p:cNvGrpSpPr/>
          <p:nvPr/>
        </p:nvGrpSpPr>
        <p:grpSpPr>
          <a:xfrm>
            <a:off x="10002508" y="5616400"/>
            <a:ext cx="214974" cy="403920"/>
            <a:chOff x="4140" y="429"/>
            <a:chExt cx="1425" cy="2396"/>
          </a:xfrm>
        </p:grpSpPr>
        <p:sp>
          <p:nvSpPr>
            <p:cNvPr id="1348" name="Google Shape;1348;p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49" name="Google Shape;1349;p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50" name="Google Shape;1350;p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51" name="Google Shape;1351;p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52" name="Google Shape;1352;p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353" name="Google Shape;1353;p9"/>
            <p:cNvGrpSpPr/>
            <p:nvPr/>
          </p:nvGrpSpPr>
          <p:grpSpPr>
            <a:xfrm>
              <a:off x="4748" y="666"/>
              <a:ext cx="578" cy="150"/>
              <a:chOff x="613" y="2566"/>
              <a:chExt cx="721" cy="144"/>
            </a:xfrm>
          </p:grpSpPr>
          <p:sp>
            <p:nvSpPr>
              <p:cNvPr id="1354" name="Google Shape;1354;p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55" name="Google Shape;1355;p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56" name="Google Shape;1356;p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357" name="Google Shape;1357;p9"/>
            <p:cNvGrpSpPr/>
            <p:nvPr/>
          </p:nvGrpSpPr>
          <p:grpSpPr>
            <a:xfrm>
              <a:off x="4748" y="990"/>
              <a:ext cx="578" cy="134"/>
              <a:chOff x="615" y="2564"/>
              <a:chExt cx="721" cy="139"/>
            </a:xfrm>
          </p:grpSpPr>
          <p:sp>
            <p:nvSpPr>
              <p:cNvPr id="1358" name="Google Shape;1358;p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59" name="Google Shape;1359;p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60" name="Google Shape;1360;p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61" name="Google Shape;1361;p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1362" name="Google Shape;1362;p9"/>
            <p:cNvGrpSpPr/>
            <p:nvPr/>
          </p:nvGrpSpPr>
          <p:grpSpPr>
            <a:xfrm>
              <a:off x="4738" y="1647"/>
              <a:ext cx="578" cy="135"/>
              <a:chOff x="618" y="2586"/>
              <a:chExt cx="720" cy="124"/>
            </a:xfrm>
          </p:grpSpPr>
          <p:sp>
            <p:nvSpPr>
              <p:cNvPr id="1363" name="Google Shape;1363;p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64" name="Google Shape;1364;p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65" name="Google Shape;1365;p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366" name="Google Shape;1366;p9"/>
            <p:cNvGrpSpPr/>
            <p:nvPr/>
          </p:nvGrpSpPr>
          <p:grpSpPr>
            <a:xfrm>
              <a:off x="4738" y="1330"/>
              <a:ext cx="588" cy="134"/>
              <a:chOff x="613" y="2571"/>
              <a:chExt cx="732" cy="134"/>
            </a:xfrm>
          </p:grpSpPr>
          <p:sp>
            <p:nvSpPr>
              <p:cNvPr id="1367" name="Google Shape;1367;p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68" name="Google Shape;1368;p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1369" name="Google Shape;1369;p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70" name="Google Shape;1370;p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71" name="Google Shape;1371;p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72" name="Google Shape;1372;p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73" name="Google Shape;1373;p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74" name="Google Shape;1374;p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75" name="Google Shape;1375;p9"/>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76" name="Google Shape;1376;p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77" name="Google Shape;1377;p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1378" name="Google Shape;1378;p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1379" name="Google Shape;1379;p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1380" name="Google Shape;1380;p9"/>
          <p:cNvGrpSpPr/>
          <p:nvPr/>
        </p:nvGrpSpPr>
        <p:grpSpPr>
          <a:xfrm>
            <a:off x="8252702" y="1137866"/>
            <a:ext cx="814388" cy="854075"/>
            <a:chOff x="9791027" y="656358"/>
            <a:chExt cx="814388" cy="854075"/>
          </a:xfrm>
        </p:grpSpPr>
        <p:sp>
          <p:nvSpPr>
            <p:cNvPr id="1381" name="Google Shape;1381;p9"/>
            <p:cNvSpPr/>
            <p:nvPr/>
          </p:nvSpPr>
          <p:spPr>
            <a:xfrm>
              <a:off x="9888064" y="666450"/>
              <a:ext cx="676276" cy="776288"/>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382" name="Google Shape;1382;p9"/>
            <p:cNvSpPr/>
            <p:nvPr/>
          </p:nvSpPr>
          <p:spPr>
            <a:xfrm>
              <a:off x="9854726" y="690263"/>
              <a:ext cx="690563" cy="80010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383" name="Google Shape;1383;p9"/>
            <p:cNvSpPr/>
            <p:nvPr/>
          </p:nvSpPr>
          <p:spPr>
            <a:xfrm>
              <a:off x="9861869" y="844112"/>
              <a:ext cx="676276" cy="186668"/>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384" name="Google Shape;1384;p9"/>
            <p:cNvSpPr txBox="1"/>
            <p:nvPr/>
          </p:nvSpPr>
          <p:spPr>
            <a:xfrm>
              <a:off x="9791027" y="656358"/>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transport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network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link</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physical</a:t>
              </a:r>
              <a:endParaRPr b="0" i="0" sz="2400" u="none" cap="none" strike="noStrike">
                <a:solidFill>
                  <a:srgbClr val="000000"/>
                </a:solidFill>
                <a:latin typeface="Arial"/>
                <a:ea typeface="Arial"/>
                <a:cs typeface="Arial"/>
                <a:sym typeface="Arial"/>
              </a:endParaRPr>
            </a:p>
          </p:txBody>
        </p:sp>
        <p:cxnSp>
          <p:nvCxnSpPr>
            <p:cNvPr id="1385" name="Google Shape;1385;p9"/>
            <p:cNvCxnSpPr/>
            <p:nvPr/>
          </p:nvCxnSpPr>
          <p:spPr>
            <a:xfrm>
              <a:off x="9854726" y="1033163"/>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1386" name="Google Shape;1386;p9"/>
            <p:cNvCxnSpPr/>
            <p:nvPr/>
          </p:nvCxnSpPr>
          <p:spPr>
            <a:xfrm>
              <a:off x="9864251" y="1171275"/>
              <a:ext cx="690563" cy="4763"/>
            </a:xfrm>
            <a:prstGeom prst="straightConnector1">
              <a:avLst/>
            </a:prstGeom>
            <a:noFill/>
            <a:ln cap="flat" cmpd="sng" w="12700">
              <a:solidFill>
                <a:schemeClr val="dk1"/>
              </a:solidFill>
              <a:prstDash val="solid"/>
              <a:round/>
              <a:headEnd len="med" w="med" type="none"/>
              <a:tailEnd len="med" w="med" type="none"/>
            </a:ln>
          </p:spPr>
        </p:cxnSp>
        <p:cxnSp>
          <p:nvCxnSpPr>
            <p:cNvPr id="1387" name="Google Shape;1387;p9"/>
            <p:cNvCxnSpPr/>
            <p:nvPr/>
          </p:nvCxnSpPr>
          <p:spPr>
            <a:xfrm>
              <a:off x="9864251" y="1309388"/>
              <a:ext cx="690563" cy="4763"/>
            </a:xfrm>
            <a:prstGeom prst="straightConnector1">
              <a:avLst/>
            </a:prstGeom>
            <a:noFill/>
            <a:ln cap="flat" cmpd="sng" w="12700">
              <a:solidFill>
                <a:schemeClr val="dk1"/>
              </a:solidFill>
              <a:prstDash val="solid"/>
              <a:round/>
              <a:headEnd len="med" w="med" type="none"/>
              <a:tailEnd len="med" w="med" type="none"/>
            </a:ln>
          </p:spPr>
        </p:cxnSp>
      </p:grpSp>
      <p:sp>
        <p:nvSpPr>
          <p:cNvPr id="1388" name="Google Shape;1388;p9"/>
          <p:cNvSpPr/>
          <p:nvPr/>
        </p:nvSpPr>
        <p:spPr>
          <a:xfrm rot="-1710802">
            <a:off x="9544123" y="1270072"/>
            <a:ext cx="626354" cy="3838406"/>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89" name="Google Shape;1389;p9"/>
          <p:cNvSpPr txBox="1"/>
          <p:nvPr/>
        </p:nvSpPr>
        <p:spPr>
          <a:xfrm rot="3706861">
            <a:off x="8640694" y="3103268"/>
            <a:ext cx="255044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logical end-end transport</a:t>
            </a:r>
            <a:endParaRPr/>
          </a:p>
        </p:txBody>
      </p:sp>
      <p:sp>
        <p:nvSpPr>
          <p:cNvPr id="1390" name="Google Shape;1390;p9"/>
          <p:cNvSpPr txBox="1"/>
          <p:nvPr/>
        </p:nvSpPr>
        <p:spPr>
          <a:xfrm>
            <a:off x="736738" y="1365914"/>
            <a:ext cx="6288757" cy="5114925"/>
          </a:xfrm>
          <a:prstGeom prst="rect">
            <a:avLst/>
          </a:prstGeom>
          <a:noFill/>
          <a:ln>
            <a:noFill/>
          </a:ln>
        </p:spPr>
        <p:txBody>
          <a:bodyPr anchorCtr="0" anchor="t" bIns="45700" lIns="91425" spcFirstLastPara="1" rIns="91425" wrap="square" tIns="45700">
            <a:normAutofit fontScale="92500" lnSpcReduction="10000"/>
          </a:bodyPr>
          <a:lstStyle/>
          <a:p>
            <a:pPr indent="-222250" lvl="0" marL="352425" marR="0" rtl="0" algn="l">
              <a:lnSpc>
                <a:spcPct val="100000"/>
              </a:lnSpc>
              <a:spcBef>
                <a:spcPts val="0"/>
              </a:spcBef>
              <a:spcAft>
                <a:spcPts val="0"/>
              </a:spcAft>
              <a:buClr>
                <a:srgbClr val="0000A3"/>
              </a:buClr>
              <a:buSzPct val="100000"/>
              <a:buFont typeface="Noto Sans Symbols"/>
              <a:buChar char="▪"/>
            </a:pPr>
            <a:r>
              <a:rPr b="1" i="0" lang="en-US" sz="3200" u="none" cap="none" strike="noStrike">
                <a:solidFill>
                  <a:srgbClr val="CD0004"/>
                </a:solidFill>
                <a:latin typeface="Calibri"/>
                <a:ea typeface="Calibri"/>
                <a:cs typeface="Calibri"/>
                <a:sym typeface="Calibri"/>
              </a:rPr>
              <a:t>TCP: </a:t>
            </a:r>
            <a:r>
              <a:rPr b="0" i="0" lang="en-US" sz="3200" u="none" cap="none" strike="noStrike">
                <a:solidFill>
                  <a:srgbClr val="000000"/>
                </a:solidFill>
                <a:latin typeface="Calibri"/>
                <a:ea typeface="Calibri"/>
                <a:cs typeface="Calibri"/>
                <a:sym typeface="Calibri"/>
              </a:rPr>
              <a:t>Transmission Control Protocol</a:t>
            </a:r>
            <a:endParaRPr/>
          </a:p>
          <a:p>
            <a:pPr indent="-231775" lvl="1" marL="695325" marR="0" rtl="0" algn="l">
              <a:lnSpc>
                <a:spcPct val="100000"/>
              </a:lnSpc>
              <a:spcBef>
                <a:spcPts val="6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reliable, in-order delivery</a:t>
            </a:r>
            <a:endParaRPr/>
          </a:p>
          <a:p>
            <a:pPr indent="-231775" lvl="1" marL="695325" marR="0" rtl="0" algn="l">
              <a:lnSpc>
                <a:spcPct val="100000"/>
              </a:lnSpc>
              <a:spcBef>
                <a:spcPts val="6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congestion control </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flow control</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connection setup</a:t>
            </a:r>
            <a:endParaRPr b="0" i="0" sz="3200" u="none" cap="none" strike="noStrike">
              <a:solidFill>
                <a:srgbClr val="000000"/>
              </a:solidFill>
              <a:latin typeface="Calibri"/>
              <a:ea typeface="Calibri"/>
              <a:cs typeface="Calibri"/>
              <a:sym typeface="Calibri"/>
            </a:endParaRPr>
          </a:p>
          <a:p>
            <a:pPr indent="-222250" lvl="0" marL="352425" marR="0" rtl="0" algn="l">
              <a:lnSpc>
                <a:spcPct val="100000"/>
              </a:lnSpc>
              <a:spcBef>
                <a:spcPts val="600"/>
              </a:spcBef>
              <a:spcAft>
                <a:spcPts val="0"/>
              </a:spcAft>
              <a:buClr>
                <a:srgbClr val="0000A3"/>
              </a:buClr>
              <a:buSzPct val="100000"/>
              <a:buFont typeface="Noto Sans Symbols"/>
              <a:buChar char="▪"/>
            </a:pPr>
            <a:r>
              <a:rPr b="1" i="0" lang="en-US" sz="3200" u="none" cap="none" strike="noStrike">
                <a:solidFill>
                  <a:srgbClr val="CD0004"/>
                </a:solidFill>
                <a:latin typeface="Calibri"/>
                <a:ea typeface="Calibri"/>
                <a:cs typeface="Calibri"/>
                <a:sym typeface="Calibri"/>
              </a:rPr>
              <a:t>UDP: </a:t>
            </a:r>
            <a:r>
              <a:rPr b="0" i="0" lang="en-US" sz="3200" u="none" cap="none" strike="noStrike">
                <a:solidFill>
                  <a:srgbClr val="000000"/>
                </a:solidFill>
                <a:latin typeface="Calibri"/>
                <a:ea typeface="Calibri"/>
                <a:cs typeface="Calibri"/>
                <a:sym typeface="Calibri"/>
              </a:rPr>
              <a:t>User Datagram Protocol</a:t>
            </a:r>
            <a:endParaRPr/>
          </a:p>
          <a:p>
            <a:pPr indent="-274638" lvl="1" marL="747713" marR="0" rtl="0" algn="l">
              <a:lnSpc>
                <a:spcPct val="100000"/>
              </a:lnSpc>
              <a:spcBef>
                <a:spcPts val="600"/>
              </a:spcBef>
              <a:spcAft>
                <a:spcPts val="0"/>
              </a:spcAft>
              <a:buClr>
                <a:srgbClr val="0000A3"/>
              </a:buClr>
              <a:buSzPct val="100000"/>
              <a:buFont typeface="Arial"/>
              <a:buChar char="•"/>
            </a:pPr>
            <a:r>
              <a:rPr b="0" i="0" lang="en-US" sz="2800" u="none" cap="none" strike="noStrike">
                <a:solidFill>
                  <a:srgbClr val="000000"/>
                </a:solidFill>
                <a:latin typeface="Calibri"/>
                <a:ea typeface="Calibri"/>
                <a:cs typeface="Calibri"/>
                <a:sym typeface="Calibri"/>
              </a:rPr>
              <a:t>unreliable, unordered delivery</a:t>
            </a:r>
            <a:endParaRPr/>
          </a:p>
          <a:p>
            <a:pPr indent="-274638" lvl="1" marL="747713" marR="0" rtl="0" algn="l">
              <a:lnSpc>
                <a:spcPct val="100000"/>
              </a:lnSpc>
              <a:spcBef>
                <a:spcPts val="600"/>
              </a:spcBef>
              <a:spcAft>
                <a:spcPts val="0"/>
              </a:spcAft>
              <a:buClr>
                <a:srgbClr val="0000A3"/>
              </a:buClr>
              <a:buSzPct val="100000"/>
              <a:buFont typeface="Arial"/>
              <a:buChar char="•"/>
            </a:pPr>
            <a:r>
              <a:rPr b="0" i="0" lang="en-US" sz="2800" u="none" cap="none" strike="noStrike">
                <a:solidFill>
                  <a:srgbClr val="000000"/>
                </a:solidFill>
                <a:latin typeface="Calibri"/>
                <a:ea typeface="Calibri"/>
                <a:cs typeface="Calibri"/>
                <a:sym typeface="Calibri"/>
              </a:rPr>
              <a:t>no-frills extension of “best-effort” IP</a:t>
            </a:r>
            <a:endParaRPr/>
          </a:p>
          <a:p>
            <a:pPr indent="-222250" lvl="0" marL="352425" marR="0" rtl="0" algn="l">
              <a:lnSpc>
                <a:spcPct val="100000"/>
              </a:lnSpc>
              <a:spcBef>
                <a:spcPts val="600"/>
              </a:spcBef>
              <a:spcAft>
                <a:spcPts val="0"/>
              </a:spcAft>
              <a:buClr>
                <a:srgbClr val="0000A3"/>
              </a:buClr>
              <a:buSzPct val="100000"/>
              <a:buFont typeface="Noto Sans Symbols"/>
              <a:buChar char="▪"/>
            </a:pPr>
            <a:r>
              <a:rPr b="0" i="0" lang="en-US" sz="3200" u="none" cap="none" strike="noStrike">
                <a:solidFill>
                  <a:srgbClr val="000000"/>
                </a:solidFill>
                <a:latin typeface="Calibri"/>
                <a:ea typeface="Calibri"/>
                <a:cs typeface="Calibri"/>
                <a:sym typeface="Calibri"/>
              </a:rPr>
              <a:t>services not available: </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delay guarantees</a:t>
            </a:r>
            <a:endParaRPr/>
          </a:p>
          <a:p>
            <a:pPr indent="-231775" lvl="1" marL="695325" marR="0" rtl="0" algn="l">
              <a:lnSpc>
                <a:spcPct val="100000"/>
              </a:lnSpc>
              <a:spcBef>
                <a:spcPts val="4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bandwidth guarantees</a:t>
            </a:r>
            <a:endParaRPr b="0" i="0" sz="2400" u="none" cap="none" strike="noStrike">
              <a:solidFill>
                <a:srgbClr val="000000"/>
              </a:solidFill>
              <a:latin typeface="Calibri"/>
              <a:ea typeface="Calibri"/>
              <a:cs typeface="Calibri"/>
              <a:sym typeface="Calibri"/>
            </a:endParaRPr>
          </a:p>
        </p:txBody>
      </p:sp>
      <p:sp>
        <p:nvSpPr>
          <p:cNvPr id="1391" name="Google Shape;1391;p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xEl>
                                              <p:pRg end="0" st="0"/>
                                            </p:txEl>
                                          </p:spTgt>
                                        </p:tgtEl>
                                        <p:attrNameLst>
                                          <p:attrName>style.visibility</p:attrName>
                                        </p:attrNameLst>
                                      </p:cBhvr>
                                      <p:to>
                                        <p:strVal val="visible"/>
                                      </p:to>
                                    </p:set>
                                    <p:animEffect filter="fade" transition="in">
                                      <p:cBhvr>
                                        <p:cTn dur="500"/>
                                        <p:tgtEl>
                                          <p:spTgt spid="13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xEl>
                                              <p:pRg end="1" st="1"/>
                                            </p:txEl>
                                          </p:spTgt>
                                        </p:tgtEl>
                                        <p:attrNameLst>
                                          <p:attrName>style.visibility</p:attrName>
                                        </p:attrNameLst>
                                      </p:cBhvr>
                                      <p:to>
                                        <p:strVal val="visible"/>
                                      </p:to>
                                    </p:set>
                                    <p:animEffect filter="fade" transition="in">
                                      <p:cBhvr>
                                        <p:cTn dur="500"/>
                                        <p:tgtEl>
                                          <p:spTgt spid="13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xEl>
                                              <p:pRg end="2" st="2"/>
                                            </p:txEl>
                                          </p:spTgt>
                                        </p:tgtEl>
                                        <p:attrNameLst>
                                          <p:attrName>style.visibility</p:attrName>
                                        </p:attrNameLst>
                                      </p:cBhvr>
                                      <p:to>
                                        <p:strVal val="visible"/>
                                      </p:to>
                                    </p:set>
                                    <p:animEffect filter="fade" transition="in">
                                      <p:cBhvr>
                                        <p:cTn dur="500"/>
                                        <p:tgtEl>
                                          <p:spTgt spid="139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xEl>
                                              <p:pRg end="3" st="3"/>
                                            </p:txEl>
                                          </p:spTgt>
                                        </p:tgtEl>
                                        <p:attrNameLst>
                                          <p:attrName>style.visibility</p:attrName>
                                        </p:attrNameLst>
                                      </p:cBhvr>
                                      <p:to>
                                        <p:strVal val="visible"/>
                                      </p:to>
                                    </p:set>
                                    <p:animEffect filter="fade" transition="in">
                                      <p:cBhvr>
                                        <p:cTn dur="500"/>
                                        <p:tgtEl>
                                          <p:spTgt spid="139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xEl>
                                              <p:pRg end="4" st="4"/>
                                            </p:txEl>
                                          </p:spTgt>
                                        </p:tgtEl>
                                        <p:attrNameLst>
                                          <p:attrName>style.visibility</p:attrName>
                                        </p:attrNameLst>
                                      </p:cBhvr>
                                      <p:to>
                                        <p:strVal val="visible"/>
                                      </p:to>
                                    </p:set>
                                    <p:animEffect filter="fade" transition="in">
                                      <p:cBhvr>
                                        <p:cTn dur="500"/>
                                        <p:tgtEl>
                                          <p:spTgt spid="139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xEl>
                                              <p:pRg end="5" st="5"/>
                                            </p:txEl>
                                          </p:spTgt>
                                        </p:tgtEl>
                                        <p:attrNameLst>
                                          <p:attrName>style.visibility</p:attrName>
                                        </p:attrNameLst>
                                      </p:cBhvr>
                                      <p:to>
                                        <p:strVal val="visible"/>
                                      </p:to>
                                    </p:set>
                                    <p:animEffect filter="fade" transition="in">
                                      <p:cBhvr>
                                        <p:cTn dur="500"/>
                                        <p:tgtEl>
                                          <p:spTgt spid="139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xEl>
                                              <p:pRg end="6" st="6"/>
                                            </p:txEl>
                                          </p:spTgt>
                                        </p:tgtEl>
                                        <p:attrNameLst>
                                          <p:attrName>style.visibility</p:attrName>
                                        </p:attrNameLst>
                                      </p:cBhvr>
                                      <p:to>
                                        <p:strVal val="visible"/>
                                      </p:to>
                                    </p:set>
                                    <p:animEffect filter="fade" transition="in">
                                      <p:cBhvr>
                                        <p:cTn dur="500"/>
                                        <p:tgtEl>
                                          <p:spTgt spid="139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xEl>
                                              <p:pRg end="7" st="7"/>
                                            </p:txEl>
                                          </p:spTgt>
                                        </p:tgtEl>
                                        <p:attrNameLst>
                                          <p:attrName>style.visibility</p:attrName>
                                        </p:attrNameLst>
                                      </p:cBhvr>
                                      <p:to>
                                        <p:strVal val="visible"/>
                                      </p:to>
                                    </p:set>
                                    <p:animEffect filter="fade" transition="in">
                                      <p:cBhvr>
                                        <p:cTn dur="500"/>
                                        <p:tgtEl>
                                          <p:spTgt spid="139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xEl>
                                              <p:pRg end="8" st="8"/>
                                            </p:txEl>
                                          </p:spTgt>
                                        </p:tgtEl>
                                        <p:attrNameLst>
                                          <p:attrName>style.visibility</p:attrName>
                                        </p:attrNameLst>
                                      </p:cBhvr>
                                      <p:to>
                                        <p:strVal val="visible"/>
                                      </p:to>
                                    </p:set>
                                    <p:animEffect filter="fade" transition="in">
                                      <p:cBhvr>
                                        <p:cTn dur="500"/>
                                        <p:tgtEl>
                                          <p:spTgt spid="139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xEl>
                                              <p:pRg end="9" st="9"/>
                                            </p:txEl>
                                          </p:spTgt>
                                        </p:tgtEl>
                                        <p:attrNameLst>
                                          <p:attrName>style.visibility</p:attrName>
                                        </p:attrNameLst>
                                      </p:cBhvr>
                                      <p:to>
                                        <p:strVal val="visible"/>
                                      </p:to>
                                    </p:set>
                                    <p:animEffect filter="fade" transition="in">
                                      <p:cBhvr>
                                        <p:cTn dur="500"/>
                                        <p:tgtEl>
                                          <p:spTgt spid="139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xEl>
                                              <p:pRg end="10" st="10"/>
                                            </p:txEl>
                                          </p:spTgt>
                                        </p:tgtEl>
                                        <p:attrNameLst>
                                          <p:attrName>style.visibility</p:attrName>
                                        </p:attrNameLst>
                                      </p:cBhvr>
                                      <p:to>
                                        <p:strVal val="visible"/>
                                      </p:to>
                                    </p:set>
                                    <p:animEffect filter="fade" transition="in">
                                      <p:cBhvr>
                                        <p:cTn dur="500"/>
                                        <p:tgtEl>
                                          <p:spTgt spid="1390">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6" name="Shape 1396"/>
        <p:cNvGrpSpPr/>
        <p:nvPr/>
      </p:nvGrpSpPr>
      <p:grpSpPr>
        <a:xfrm>
          <a:off x="0" y="0"/>
          <a:ext cx="0" cy="0"/>
          <a:chOff x="0" y="0"/>
          <a:chExt cx="0" cy="0"/>
        </a:xfrm>
      </p:grpSpPr>
      <p:sp>
        <p:nvSpPr>
          <p:cNvPr id="1397" name="Google Shape;1397;p10"/>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1398" name="Google Shape;1398;p10"/>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010086"/>
              </a:buClr>
              <a:buSzPts val="3200"/>
              <a:buChar char="▪"/>
            </a:pPr>
            <a:r>
              <a:rPr lang="en-US" sz="3200">
                <a:solidFill>
                  <a:srgbClr val="C00000"/>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Evolution of transport-layer functionality</a:t>
            </a:r>
            <a:endParaRPr/>
          </a:p>
          <a:p>
            <a:pPr indent="-82550" lvl="0" marL="403225" rtl="0" algn="l">
              <a:lnSpc>
                <a:spcPct val="90000"/>
              </a:lnSpc>
              <a:spcBef>
                <a:spcPts val="800"/>
              </a:spcBef>
              <a:spcAft>
                <a:spcPts val="0"/>
              </a:spcAft>
              <a:buClr>
                <a:srgbClr val="BFBFBF"/>
              </a:buClr>
              <a:buSzPts val="3200"/>
              <a:buNone/>
            </a:pPr>
            <a:r>
              <a:t/>
            </a:r>
            <a:endParaRPr sz="3200">
              <a:solidFill>
                <a:srgbClr val="BFBFBF"/>
              </a:solidFill>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1399" name="Google Shape;1399;p1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1400" name="Google Shape;1400;p10"/>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5" name="Shape 1405"/>
        <p:cNvGrpSpPr/>
        <p:nvPr/>
      </p:nvGrpSpPr>
      <p:grpSpPr>
        <a:xfrm>
          <a:off x="0" y="0"/>
          <a:ext cx="0" cy="0"/>
          <a:chOff x="0" y="0"/>
          <a:chExt cx="0" cy="0"/>
        </a:xfrm>
      </p:grpSpPr>
      <p:grpSp>
        <p:nvGrpSpPr>
          <p:cNvPr id="1406" name="Google Shape;1406;p11"/>
          <p:cNvGrpSpPr/>
          <p:nvPr/>
        </p:nvGrpSpPr>
        <p:grpSpPr>
          <a:xfrm>
            <a:off x="141514" y="827314"/>
            <a:ext cx="11908971" cy="4739615"/>
            <a:chOff x="2511281" y="3262667"/>
            <a:chExt cx="7770812" cy="3121540"/>
          </a:xfrm>
        </p:grpSpPr>
        <p:sp>
          <p:nvSpPr>
            <p:cNvPr id="1407" name="Google Shape;1407;p11"/>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08" name="Google Shape;1408;p11"/>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09" name="Google Shape;1409;p11"/>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410" name="Google Shape;1410;p11"/>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411" name="Google Shape;1411;p11"/>
            <p:cNvSpPr txBox="1"/>
            <p:nvPr/>
          </p:nvSpPr>
          <p:spPr>
            <a:xfrm>
              <a:off x="5698981" y="4480178"/>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412" name="Google Shape;1412;p11"/>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413" name="Google Shape;1413;p11"/>
            <p:cNvSpPr txBox="1"/>
            <p:nvPr/>
          </p:nvSpPr>
          <p:spPr>
            <a:xfrm>
              <a:off x="5692631" y="53778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414" name="Google Shape;1414;p11"/>
            <p:cNvSpPr txBox="1"/>
            <p:nvPr/>
          </p:nvSpPr>
          <p:spPr>
            <a:xfrm>
              <a:off x="5692631" y="5084965"/>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415" name="Google Shape;1415;p11"/>
            <p:cNvSpPr txBox="1"/>
            <p:nvPr/>
          </p:nvSpPr>
          <p:spPr>
            <a:xfrm>
              <a:off x="5692631" y="479368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cxnSp>
          <p:nvCxnSpPr>
            <p:cNvPr id="1416" name="Google Shape;1416;p11"/>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417" name="Google Shape;1417;p11"/>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418" name="Google Shape;1418;p11"/>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19" name="Google Shape;1419;p11"/>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420" name="Google Shape;1420;p11"/>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421" name="Google Shape;1421;p11"/>
            <p:cNvSpPr txBox="1"/>
            <p:nvPr/>
          </p:nvSpPr>
          <p:spPr>
            <a:xfrm>
              <a:off x="7846868" y="483337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422" name="Google Shape;1422;p11"/>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423" name="Google Shape;1423;p11"/>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424" name="Google Shape;1424;p11"/>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425" name="Google Shape;1425;p11"/>
            <p:cNvSpPr txBox="1"/>
            <p:nvPr/>
          </p:nvSpPr>
          <p:spPr>
            <a:xfrm>
              <a:off x="7881793" y="403788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426" name="Google Shape;1426;p11"/>
            <p:cNvSpPr txBox="1"/>
            <p:nvPr/>
          </p:nvSpPr>
          <p:spPr>
            <a:xfrm>
              <a:off x="7837343" y="574541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427" name="Google Shape;1427;p11"/>
            <p:cNvSpPr txBox="1"/>
            <p:nvPr/>
          </p:nvSpPr>
          <p:spPr>
            <a:xfrm>
              <a:off x="7849290" y="543815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428" name="Google Shape;1428;p11"/>
            <p:cNvSpPr txBox="1"/>
            <p:nvPr/>
          </p:nvSpPr>
          <p:spPr>
            <a:xfrm>
              <a:off x="7846868" y="5150053"/>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sp>
          <p:nvSpPr>
            <p:cNvPr id="1429" name="Google Shape;1429;p11"/>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30" name="Google Shape;1430;p11"/>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31" name="Google Shape;1431;p11"/>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432" name="Google Shape;1432;p11"/>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433" name="Google Shape;1433;p11"/>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434" name="Google Shape;1434;p11"/>
            <p:cNvSpPr txBox="1"/>
            <p:nvPr/>
          </p:nvSpPr>
          <p:spPr>
            <a:xfrm>
              <a:off x="3501881" y="484130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435" name="Google Shape;1435;p11"/>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436" name="Google Shape;1436;p11"/>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437" name="Google Shape;1437;p11"/>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438" name="Google Shape;1438;p11"/>
            <p:cNvSpPr txBox="1"/>
            <p:nvPr/>
          </p:nvSpPr>
          <p:spPr>
            <a:xfrm>
              <a:off x="3536806" y="404581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439" name="Google Shape;1439;p11"/>
            <p:cNvSpPr txBox="1"/>
            <p:nvPr/>
          </p:nvSpPr>
          <p:spPr>
            <a:xfrm>
              <a:off x="3492356" y="57461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440" name="Google Shape;1440;p11"/>
            <p:cNvSpPr txBox="1"/>
            <p:nvPr/>
          </p:nvSpPr>
          <p:spPr>
            <a:xfrm>
              <a:off x="3511406" y="545326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441" name="Google Shape;1441;p11"/>
            <p:cNvSpPr txBox="1"/>
            <p:nvPr/>
          </p:nvSpPr>
          <p:spPr>
            <a:xfrm>
              <a:off x="3501881" y="5157990"/>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grpSp>
          <p:nvGrpSpPr>
            <p:cNvPr id="1442" name="Google Shape;1442;p11"/>
            <p:cNvGrpSpPr/>
            <p:nvPr/>
          </p:nvGrpSpPr>
          <p:grpSpPr>
            <a:xfrm>
              <a:off x="2511281" y="5555532"/>
              <a:ext cx="800100" cy="828675"/>
              <a:chOff x="-44" y="1473"/>
              <a:chExt cx="981" cy="1105"/>
            </a:xfrm>
          </p:grpSpPr>
          <p:pic>
            <p:nvPicPr>
              <p:cNvPr descr="desktop_computer_stylized_medium" id="1443" name="Google Shape;1443;p1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444" name="Google Shape;1444;p1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445" name="Google Shape;1445;p11"/>
            <p:cNvGrpSpPr/>
            <p:nvPr/>
          </p:nvGrpSpPr>
          <p:grpSpPr>
            <a:xfrm flipH="1">
              <a:off x="9493106" y="5469807"/>
              <a:ext cx="788987" cy="782637"/>
              <a:chOff x="-44" y="1473"/>
              <a:chExt cx="981" cy="1105"/>
            </a:xfrm>
          </p:grpSpPr>
          <p:pic>
            <p:nvPicPr>
              <p:cNvPr descr="desktop_computer_stylized_medium" id="1446" name="Google Shape;1446;p1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447" name="Google Shape;1447;p1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448" name="Google Shape;1448;p11"/>
            <p:cNvGrpSpPr/>
            <p:nvPr/>
          </p:nvGrpSpPr>
          <p:grpSpPr>
            <a:xfrm>
              <a:off x="5083031" y="5055469"/>
              <a:ext cx="358775" cy="704850"/>
              <a:chOff x="4140" y="429"/>
              <a:chExt cx="1425" cy="2396"/>
            </a:xfrm>
          </p:grpSpPr>
          <p:sp>
            <p:nvSpPr>
              <p:cNvPr id="1449" name="Google Shape;1449;p1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50" name="Google Shape;1450;p11"/>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51" name="Google Shape;1451;p1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52" name="Google Shape;1452;p1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53" name="Google Shape;1453;p11"/>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454" name="Google Shape;1454;p11"/>
              <p:cNvGrpSpPr/>
              <p:nvPr/>
            </p:nvGrpSpPr>
            <p:grpSpPr>
              <a:xfrm>
                <a:off x="4751" y="667"/>
                <a:ext cx="580" cy="146"/>
                <a:chOff x="617" y="2567"/>
                <a:chExt cx="724" cy="140"/>
              </a:xfrm>
            </p:grpSpPr>
            <p:sp>
              <p:nvSpPr>
                <p:cNvPr id="1455" name="Google Shape;1455;p11"/>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56" name="Google Shape;1456;p11"/>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457" name="Google Shape;1457;p11"/>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458" name="Google Shape;1458;p11"/>
              <p:cNvGrpSpPr/>
              <p:nvPr/>
            </p:nvGrpSpPr>
            <p:grpSpPr>
              <a:xfrm>
                <a:off x="4745" y="996"/>
                <a:ext cx="580" cy="156"/>
                <a:chOff x="612" y="2570"/>
                <a:chExt cx="724" cy="162"/>
              </a:xfrm>
            </p:grpSpPr>
            <p:sp>
              <p:nvSpPr>
                <p:cNvPr id="1459" name="Google Shape;1459;p11"/>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60" name="Google Shape;1460;p11"/>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461" name="Google Shape;1461;p11"/>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62" name="Google Shape;1462;p11"/>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463" name="Google Shape;1463;p11"/>
              <p:cNvGrpSpPr/>
              <p:nvPr/>
            </p:nvGrpSpPr>
            <p:grpSpPr>
              <a:xfrm>
                <a:off x="4733" y="1627"/>
                <a:ext cx="586" cy="151"/>
                <a:chOff x="611" y="2568"/>
                <a:chExt cx="730" cy="139"/>
              </a:xfrm>
            </p:grpSpPr>
            <p:sp>
              <p:nvSpPr>
                <p:cNvPr id="1464" name="Google Shape;1464;p11"/>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65" name="Google Shape;1465;p11"/>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466" name="Google Shape;1466;p1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467" name="Google Shape;1467;p11"/>
              <p:cNvGrpSpPr/>
              <p:nvPr/>
            </p:nvGrpSpPr>
            <p:grpSpPr>
              <a:xfrm>
                <a:off x="4739" y="1325"/>
                <a:ext cx="580" cy="140"/>
                <a:chOff x="614" y="2566"/>
                <a:chExt cx="723" cy="140"/>
              </a:xfrm>
            </p:grpSpPr>
            <p:sp>
              <p:nvSpPr>
                <p:cNvPr id="1468" name="Google Shape;1468;p11"/>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69" name="Google Shape;1469;p11"/>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470" name="Google Shape;1470;p11"/>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1" name="Google Shape;1471;p1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2" name="Google Shape;1472;p1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3" name="Google Shape;1473;p11"/>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4" name="Google Shape;1474;p1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5" name="Google Shape;1475;p11"/>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6" name="Google Shape;1476;p11"/>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7" name="Google Shape;1477;p11"/>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78" name="Google Shape;1478;p11"/>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1479" name="Google Shape;1479;p11"/>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480" name="Google Shape;1480;p11"/>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pic>
          <p:nvPicPr>
            <p:cNvPr descr="Image result for firefox logo" id="1481" name="Google Shape;1481;p11"/>
            <p:cNvPicPr preferRelativeResize="0"/>
            <p:nvPr/>
          </p:nvPicPr>
          <p:blipFill rotWithShape="1">
            <a:blip r:embed="rId4">
              <a:alphaModFix/>
            </a:blip>
            <a:srcRect b="0" l="0" r="0" t="0"/>
            <a:stretch/>
          </p:blipFill>
          <p:spPr>
            <a:xfrm>
              <a:off x="4326336" y="4363319"/>
              <a:ext cx="387318" cy="362674"/>
            </a:xfrm>
            <a:prstGeom prst="rect">
              <a:avLst/>
            </a:prstGeom>
            <a:noFill/>
            <a:ln>
              <a:noFill/>
            </a:ln>
          </p:spPr>
        </p:pic>
        <p:sp>
          <p:nvSpPr>
            <p:cNvPr id="1482" name="Google Shape;1482;p11"/>
            <p:cNvSpPr txBox="1"/>
            <p:nvPr/>
          </p:nvSpPr>
          <p:spPr>
            <a:xfrm>
              <a:off x="5723493" y="3262667"/>
              <a:ext cx="126581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HTTP server</a:t>
              </a:r>
              <a:endParaRPr/>
            </a:p>
          </p:txBody>
        </p:sp>
        <p:pic>
          <p:nvPicPr>
            <p:cNvPr descr="Image result for apache web server logo" id="1483" name="Google Shape;1483;p11"/>
            <p:cNvPicPr preferRelativeResize="0"/>
            <p:nvPr/>
          </p:nvPicPr>
          <p:blipFill rotWithShape="1">
            <a:blip r:embed="rId5">
              <a:alphaModFix/>
            </a:blip>
            <a:srcRect b="0" l="0" r="0" t="0"/>
            <a:stretch/>
          </p:blipFill>
          <p:spPr>
            <a:xfrm>
              <a:off x="5649399" y="3712220"/>
              <a:ext cx="1425575" cy="629170"/>
            </a:xfrm>
            <a:prstGeom prst="rect">
              <a:avLst/>
            </a:prstGeom>
            <a:noFill/>
            <a:ln>
              <a:noFill/>
            </a:ln>
          </p:spPr>
        </p:pic>
        <p:pic>
          <p:nvPicPr>
            <p:cNvPr descr="Image result for firefox logo" id="1484" name="Google Shape;1484;p11"/>
            <p:cNvPicPr preferRelativeResize="0"/>
            <p:nvPr/>
          </p:nvPicPr>
          <p:blipFill rotWithShape="1">
            <a:blip r:embed="rId4">
              <a:alphaModFix/>
            </a:blip>
            <a:srcRect b="0" l="0" r="0" t="0"/>
            <a:stretch/>
          </p:blipFill>
          <p:spPr>
            <a:xfrm>
              <a:off x="8557699" y="4326644"/>
              <a:ext cx="387318" cy="362674"/>
            </a:xfrm>
            <a:prstGeom prst="rect">
              <a:avLst/>
            </a:prstGeom>
            <a:noFill/>
            <a:ln>
              <a:noFill/>
            </a:ln>
          </p:spPr>
        </p:pic>
        <p:pic>
          <p:nvPicPr>
            <p:cNvPr descr="Image result for skype logo" id="1485" name="Google Shape;1485;p11"/>
            <p:cNvPicPr preferRelativeResize="0"/>
            <p:nvPr/>
          </p:nvPicPr>
          <p:blipFill rotWithShape="1">
            <a:blip r:embed="rId6">
              <a:alphaModFix/>
            </a:blip>
            <a:srcRect b="0" l="0" r="0" t="0"/>
            <a:stretch/>
          </p:blipFill>
          <p:spPr>
            <a:xfrm>
              <a:off x="3374515" y="4091654"/>
              <a:ext cx="387318" cy="392958"/>
            </a:xfrm>
            <a:prstGeom prst="rect">
              <a:avLst/>
            </a:prstGeom>
            <a:noFill/>
            <a:ln>
              <a:noFill/>
            </a:ln>
          </p:spPr>
        </p:pic>
        <p:sp>
          <p:nvSpPr>
            <p:cNvPr id="1486" name="Google Shape;1486;p11"/>
            <p:cNvSpPr txBox="1"/>
            <p:nvPr/>
          </p:nvSpPr>
          <p:spPr>
            <a:xfrm>
              <a:off x="3822815" y="3627317"/>
              <a:ext cx="64236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endParaRPr/>
            </a:p>
          </p:txBody>
        </p:sp>
        <p:pic>
          <p:nvPicPr>
            <p:cNvPr descr="Image result for netflix logo png" id="1487" name="Google Shape;1487;p11"/>
            <p:cNvPicPr preferRelativeResize="0"/>
            <p:nvPr/>
          </p:nvPicPr>
          <p:blipFill rotWithShape="1">
            <a:blip r:embed="rId7">
              <a:alphaModFix/>
            </a:blip>
            <a:srcRect b="0" l="0" r="0" t="0"/>
            <a:stretch/>
          </p:blipFill>
          <p:spPr>
            <a:xfrm>
              <a:off x="3632599" y="4424842"/>
              <a:ext cx="691469" cy="388951"/>
            </a:xfrm>
            <a:prstGeom prst="rect">
              <a:avLst/>
            </a:prstGeom>
            <a:noFill/>
            <a:ln>
              <a:noFill/>
            </a:ln>
          </p:spPr>
        </p:pic>
      </p:grpSp>
      <p:sp>
        <p:nvSpPr>
          <p:cNvPr id="1488" name="Google Shape;1488;p11"/>
          <p:cNvSpPr/>
          <p:nvPr/>
        </p:nvSpPr>
        <p:spPr>
          <a:xfrm>
            <a:off x="4356586" y="4965666"/>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1489" name="Google Shape;1489;p11"/>
          <p:cNvSpPr/>
          <p:nvPr/>
        </p:nvSpPr>
        <p:spPr>
          <a:xfrm>
            <a:off x="4944218" y="2675931"/>
            <a:ext cx="2194145" cy="1745839"/>
          </a:xfrm>
          <a:prstGeom prst="rect">
            <a:avLst/>
          </a:prstGeom>
          <a:solidFill>
            <a:schemeClr val="lt1">
              <a:alpha val="8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490" name="Google Shape;1490;p11"/>
          <p:cNvCxnSpPr/>
          <p:nvPr/>
        </p:nvCxnSpPr>
        <p:spPr>
          <a:xfrm rot="10800000">
            <a:off x="3204457" y="2995594"/>
            <a:ext cx="0" cy="2502331"/>
          </a:xfrm>
          <a:prstGeom prst="straightConnector1">
            <a:avLst/>
          </a:prstGeom>
          <a:noFill/>
          <a:ln cap="flat" cmpd="sng" w="44450">
            <a:solidFill>
              <a:schemeClr val="accent1"/>
            </a:solidFill>
            <a:prstDash val="solid"/>
            <a:miter lim="800000"/>
            <a:headEnd len="sm" w="sm" type="none"/>
            <a:tailEnd len="med" w="med" type="triangle"/>
          </a:ln>
        </p:spPr>
      </p:cxnSp>
      <p:sp>
        <p:nvSpPr>
          <p:cNvPr id="1491" name="Google Shape;1491;p11"/>
          <p:cNvSpPr/>
          <p:nvPr/>
        </p:nvSpPr>
        <p:spPr>
          <a:xfrm>
            <a:off x="5864224" y="2340021"/>
            <a:ext cx="1063879" cy="266167"/>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92" name="Google Shape;1492;p11"/>
          <p:cNvSpPr txBox="1"/>
          <p:nvPr/>
        </p:nvSpPr>
        <p:spPr>
          <a:xfrm>
            <a:off x="5819897" y="2291365"/>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cxnSp>
        <p:nvCxnSpPr>
          <p:cNvPr id="1493" name="Google Shape;1493;p11"/>
          <p:cNvCxnSpPr/>
          <p:nvPr/>
        </p:nvCxnSpPr>
        <p:spPr>
          <a:xfrm>
            <a:off x="7011397" y="2484139"/>
            <a:ext cx="0" cy="3013786"/>
          </a:xfrm>
          <a:prstGeom prst="straightConnector1">
            <a:avLst/>
          </a:prstGeom>
          <a:noFill/>
          <a:ln cap="flat" cmpd="sng" w="44450">
            <a:solidFill>
              <a:schemeClr val="accent1"/>
            </a:solidFill>
            <a:prstDash val="solid"/>
            <a:miter lim="800000"/>
            <a:headEnd len="sm" w="sm" type="none"/>
            <a:tailEnd len="sm" w="sm" type="none"/>
          </a:ln>
        </p:spPr>
      </p:cxnSp>
      <p:cxnSp>
        <p:nvCxnSpPr>
          <p:cNvPr id="1494" name="Google Shape;1494;p11"/>
          <p:cNvCxnSpPr/>
          <p:nvPr/>
        </p:nvCxnSpPr>
        <p:spPr>
          <a:xfrm>
            <a:off x="3184573" y="5478673"/>
            <a:ext cx="3851736" cy="0"/>
          </a:xfrm>
          <a:prstGeom prst="straightConnector1">
            <a:avLst/>
          </a:prstGeom>
          <a:noFill/>
          <a:ln cap="flat" cmpd="sng" w="44450">
            <a:solidFill>
              <a:schemeClr val="accent1"/>
            </a:solidFill>
            <a:prstDash val="solid"/>
            <a:miter lim="800000"/>
            <a:headEnd len="sm" w="sm" type="none"/>
            <a:tailEnd len="sm" w="sm" type="none"/>
          </a:ln>
        </p:spPr>
      </p:cxnSp>
      <p:sp>
        <p:nvSpPr>
          <p:cNvPr id="1495" name="Google Shape;1495;p1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0" name="Shape 1500"/>
        <p:cNvGrpSpPr/>
        <p:nvPr/>
      </p:nvGrpSpPr>
      <p:grpSpPr>
        <a:xfrm>
          <a:off x="0" y="0"/>
          <a:ext cx="0" cy="0"/>
          <a:chOff x="0" y="0"/>
          <a:chExt cx="0" cy="0"/>
        </a:xfrm>
      </p:grpSpPr>
      <p:grpSp>
        <p:nvGrpSpPr>
          <p:cNvPr id="1501" name="Google Shape;1501;p12"/>
          <p:cNvGrpSpPr/>
          <p:nvPr/>
        </p:nvGrpSpPr>
        <p:grpSpPr>
          <a:xfrm>
            <a:off x="141514" y="827314"/>
            <a:ext cx="11908971" cy="4739615"/>
            <a:chOff x="2511281" y="3262667"/>
            <a:chExt cx="7770812" cy="3121540"/>
          </a:xfrm>
        </p:grpSpPr>
        <p:sp>
          <p:nvSpPr>
            <p:cNvPr id="1502" name="Google Shape;1502;p12"/>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03" name="Google Shape;1503;p12"/>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04" name="Google Shape;1504;p12"/>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505" name="Google Shape;1505;p12"/>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506" name="Google Shape;1506;p12"/>
            <p:cNvSpPr txBox="1"/>
            <p:nvPr/>
          </p:nvSpPr>
          <p:spPr>
            <a:xfrm>
              <a:off x="5698981" y="4480178"/>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507" name="Google Shape;1507;p12"/>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508" name="Google Shape;1508;p12"/>
            <p:cNvSpPr txBox="1"/>
            <p:nvPr/>
          </p:nvSpPr>
          <p:spPr>
            <a:xfrm>
              <a:off x="5692631" y="53778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509" name="Google Shape;1509;p12"/>
            <p:cNvSpPr txBox="1"/>
            <p:nvPr/>
          </p:nvSpPr>
          <p:spPr>
            <a:xfrm>
              <a:off x="5692631" y="5084965"/>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510" name="Google Shape;1510;p12"/>
            <p:cNvSpPr txBox="1"/>
            <p:nvPr/>
          </p:nvSpPr>
          <p:spPr>
            <a:xfrm>
              <a:off x="5692631" y="479368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cxnSp>
          <p:nvCxnSpPr>
            <p:cNvPr id="1511" name="Google Shape;1511;p12"/>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512" name="Google Shape;1512;p12"/>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513" name="Google Shape;1513;p12"/>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14" name="Google Shape;1514;p12"/>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515" name="Google Shape;1515;p12"/>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516" name="Google Shape;1516;p12"/>
            <p:cNvSpPr txBox="1"/>
            <p:nvPr/>
          </p:nvSpPr>
          <p:spPr>
            <a:xfrm>
              <a:off x="7846868" y="483337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517" name="Google Shape;1517;p12"/>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518" name="Google Shape;1518;p12"/>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519" name="Google Shape;1519;p12"/>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520" name="Google Shape;1520;p12"/>
            <p:cNvSpPr txBox="1"/>
            <p:nvPr/>
          </p:nvSpPr>
          <p:spPr>
            <a:xfrm>
              <a:off x="7881793" y="403788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521" name="Google Shape;1521;p12"/>
            <p:cNvSpPr txBox="1"/>
            <p:nvPr/>
          </p:nvSpPr>
          <p:spPr>
            <a:xfrm>
              <a:off x="7837343" y="574541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522" name="Google Shape;1522;p12"/>
            <p:cNvSpPr txBox="1"/>
            <p:nvPr/>
          </p:nvSpPr>
          <p:spPr>
            <a:xfrm>
              <a:off x="7849290" y="543815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523" name="Google Shape;1523;p12"/>
            <p:cNvSpPr txBox="1"/>
            <p:nvPr/>
          </p:nvSpPr>
          <p:spPr>
            <a:xfrm>
              <a:off x="7846868" y="5150053"/>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sp>
          <p:nvSpPr>
            <p:cNvPr id="1524" name="Google Shape;1524;p12"/>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25" name="Google Shape;1525;p12"/>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26" name="Google Shape;1526;p12"/>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527" name="Google Shape;1527;p12"/>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528" name="Google Shape;1528;p12"/>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529" name="Google Shape;1529;p12"/>
            <p:cNvSpPr txBox="1"/>
            <p:nvPr/>
          </p:nvSpPr>
          <p:spPr>
            <a:xfrm>
              <a:off x="3501881" y="484130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530" name="Google Shape;1530;p12"/>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531" name="Google Shape;1531;p12"/>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532" name="Google Shape;1532;p12"/>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533" name="Google Shape;1533;p12"/>
            <p:cNvSpPr txBox="1"/>
            <p:nvPr/>
          </p:nvSpPr>
          <p:spPr>
            <a:xfrm>
              <a:off x="3536806" y="404581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534" name="Google Shape;1534;p12"/>
            <p:cNvSpPr txBox="1"/>
            <p:nvPr/>
          </p:nvSpPr>
          <p:spPr>
            <a:xfrm>
              <a:off x="3492356" y="57461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535" name="Google Shape;1535;p12"/>
            <p:cNvSpPr txBox="1"/>
            <p:nvPr/>
          </p:nvSpPr>
          <p:spPr>
            <a:xfrm>
              <a:off x="3511406" y="545326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536" name="Google Shape;1536;p12"/>
            <p:cNvSpPr txBox="1"/>
            <p:nvPr/>
          </p:nvSpPr>
          <p:spPr>
            <a:xfrm>
              <a:off x="3501881" y="5157990"/>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grpSp>
          <p:nvGrpSpPr>
            <p:cNvPr id="1537" name="Google Shape;1537;p12"/>
            <p:cNvGrpSpPr/>
            <p:nvPr/>
          </p:nvGrpSpPr>
          <p:grpSpPr>
            <a:xfrm>
              <a:off x="2511281" y="5555532"/>
              <a:ext cx="800100" cy="828675"/>
              <a:chOff x="-44" y="1473"/>
              <a:chExt cx="981" cy="1105"/>
            </a:xfrm>
          </p:grpSpPr>
          <p:pic>
            <p:nvPicPr>
              <p:cNvPr descr="desktop_computer_stylized_medium" id="1538" name="Google Shape;1538;p1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539" name="Google Shape;1539;p1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540" name="Google Shape;1540;p12"/>
            <p:cNvGrpSpPr/>
            <p:nvPr/>
          </p:nvGrpSpPr>
          <p:grpSpPr>
            <a:xfrm flipH="1">
              <a:off x="9493106" y="5469807"/>
              <a:ext cx="788987" cy="782637"/>
              <a:chOff x="-44" y="1473"/>
              <a:chExt cx="981" cy="1105"/>
            </a:xfrm>
          </p:grpSpPr>
          <p:pic>
            <p:nvPicPr>
              <p:cNvPr descr="desktop_computer_stylized_medium" id="1541" name="Google Shape;1541;p1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542" name="Google Shape;1542;p1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543" name="Google Shape;1543;p12"/>
            <p:cNvGrpSpPr/>
            <p:nvPr/>
          </p:nvGrpSpPr>
          <p:grpSpPr>
            <a:xfrm>
              <a:off x="5083031" y="5055469"/>
              <a:ext cx="358775" cy="704850"/>
              <a:chOff x="4140" y="429"/>
              <a:chExt cx="1425" cy="2396"/>
            </a:xfrm>
          </p:grpSpPr>
          <p:sp>
            <p:nvSpPr>
              <p:cNvPr id="1544" name="Google Shape;1544;p1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45" name="Google Shape;1545;p12"/>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46" name="Google Shape;1546;p1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47" name="Google Shape;1547;p1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48" name="Google Shape;1548;p12"/>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549" name="Google Shape;1549;p12"/>
              <p:cNvGrpSpPr/>
              <p:nvPr/>
            </p:nvGrpSpPr>
            <p:grpSpPr>
              <a:xfrm>
                <a:off x="4751" y="667"/>
                <a:ext cx="580" cy="146"/>
                <a:chOff x="617" y="2567"/>
                <a:chExt cx="724" cy="140"/>
              </a:xfrm>
            </p:grpSpPr>
            <p:sp>
              <p:nvSpPr>
                <p:cNvPr id="1550" name="Google Shape;1550;p12"/>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51" name="Google Shape;1551;p12"/>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552" name="Google Shape;1552;p12"/>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553" name="Google Shape;1553;p12"/>
              <p:cNvGrpSpPr/>
              <p:nvPr/>
            </p:nvGrpSpPr>
            <p:grpSpPr>
              <a:xfrm>
                <a:off x="4745" y="996"/>
                <a:ext cx="580" cy="156"/>
                <a:chOff x="612" y="2570"/>
                <a:chExt cx="724" cy="162"/>
              </a:xfrm>
            </p:grpSpPr>
            <p:sp>
              <p:nvSpPr>
                <p:cNvPr id="1554" name="Google Shape;1554;p12"/>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55" name="Google Shape;1555;p12"/>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556" name="Google Shape;1556;p12"/>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57" name="Google Shape;1557;p12"/>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558" name="Google Shape;1558;p12"/>
              <p:cNvGrpSpPr/>
              <p:nvPr/>
            </p:nvGrpSpPr>
            <p:grpSpPr>
              <a:xfrm>
                <a:off x="4733" y="1627"/>
                <a:ext cx="586" cy="151"/>
                <a:chOff x="611" y="2568"/>
                <a:chExt cx="730" cy="139"/>
              </a:xfrm>
            </p:grpSpPr>
            <p:sp>
              <p:nvSpPr>
                <p:cNvPr id="1559" name="Google Shape;1559;p12"/>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60" name="Google Shape;1560;p12"/>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561" name="Google Shape;1561;p1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562" name="Google Shape;1562;p12"/>
              <p:cNvGrpSpPr/>
              <p:nvPr/>
            </p:nvGrpSpPr>
            <p:grpSpPr>
              <a:xfrm>
                <a:off x="4739" y="1325"/>
                <a:ext cx="580" cy="140"/>
                <a:chOff x="614" y="2566"/>
                <a:chExt cx="723" cy="140"/>
              </a:xfrm>
            </p:grpSpPr>
            <p:sp>
              <p:nvSpPr>
                <p:cNvPr id="1563" name="Google Shape;1563;p12"/>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64" name="Google Shape;1564;p12"/>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565" name="Google Shape;1565;p12"/>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66" name="Google Shape;1566;p1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67" name="Google Shape;1567;p1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68" name="Google Shape;1568;p12"/>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69" name="Google Shape;1569;p1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70" name="Google Shape;1570;p12"/>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71" name="Google Shape;1571;p12"/>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72" name="Google Shape;1572;p12"/>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73" name="Google Shape;1573;p12"/>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1574" name="Google Shape;1574;p12"/>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575" name="Google Shape;1575;p12"/>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pic>
          <p:nvPicPr>
            <p:cNvPr descr="Image result for firefox logo" id="1576" name="Google Shape;1576;p12"/>
            <p:cNvPicPr preferRelativeResize="0"/>
            <p:nvPr/>
          </p:nvPicPr>
          <p:blipFill rotWithShape="1">
            <a:blip r:embed="rId4">
              <a:alphaModFix/>
            </a:blip>
            <a:srcRect b="0" l="0" r="0" t="0"/>
            <a:stretch/>
          </p:blipFill>
          <p:spPr>
            <a:xfrm>
              <a:off x="4326336" y="4363319"/>
              <a:ext cx="387318" cy="362674"/>
            </a:xfrm>
            <a:prstGeom prst="rect">
              <a:avLst/>
            </a:prstGeom>
            <a:noFill/>
            <a:ln>
              <a:noFill/>
            </a:ln>
          </p:spPr>
        </p:pic>
        <p:sp>
          <p:nvSpPr>
            <p:cNvPr id="1577" name="Google Shape;1577;p12"/>
            <p:cNvSpPr txBox="1"/>
            <p:nvPr/>
          </p:nvSpPr>
          <p:spPr>
            <a:xfrm>
              <a:off x="5723493" y="3262667"/>
              <a:ext cx="126581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HTTP server</a:t>
              </a:r>
              <a:endParaRPr/>
            </a:p>
          </p:txBody>
        </p:sp>
        <p:pic>
          <p:nvPicPr>
            <p:cNvPr descr="Image result for apache web server logo" id="1578" name="Google Shape;1578;p12"/>
            <p:cNvPicPr preferRelativeResize="0"/>
            <p:nvPr/>
          </p:nvPicPr>
          <p:blipFill rotWithShape="1">
            <a:blip r:embed="rId5">
              <a:alphaModFix/>
            </a:blip>
            <a:srcRect b="0" l="0" r="0" t="0"/>
            <a:stretch/>
          </p:blipFill>
          <p:spPr>
            <a:xfrm>
              <a:off x="5649399" y="3712220"/>
              <a:ext cx="1425575" cy="629170"/>
            </a:xfrm>
            <a:prstGeom prst="rect">
              <a:avLst/>
            </a:prstGeom>
            <a:noFill/>
            <a:ln>
              <a:noFill/>
            </a:ln>
          </p:spPr>
        </p:pic>
        <p:pic>
          <p:nvPicPr>
            <p:cNvPr descr="Image result for firefox logo" id="1579" name="Google Shape;1579;p12"/>
            <p:cNvPicPr preferRelativeResize="0"/>
            <p:nvPr/>
          </p:nvPicPr>
          <p:blipFill rotWithShape="1">
            <a:blip r:embed="rId4">
              <a:alphaModFix/>
            </a:blip>
            <a:srcRect b="0" l="0" r="0" t="0"/>
            <a:stretch/>
          </p:blipFill>
          <p:spPr>
            <a:xfrm>
              <a:off x="8557699" y="4326644"/>
              <a:ext cx="387318" cy="362674"/>
            </a:xfrm>
            <a:prstGeom prst="rect">
              <a:avLst/>
            </a:prstGeom>
            <a:noFill/>
            <a:ln>
              <a:noFill/>
            </a:ln>
          </p:spPr>
        </p:pic>
        <p:pic>
          <p:nvPicPr>
            <p:cNvPr descr="Image result for skype logo" id="1580" name="Google Shape;1580;p12"/>
            <p:cNvPicPr preferRelativeResize="0"/>
            <p:nvPr/>
          </p:nvPicPr>
          <p:blipFill rotWithShape="1">
            <a:blip r:embed="rId6">
              <a:alphaModFix/>
            </a:blip>
            <a:srcRect b="0" l="0" r="0" t="0"/>
            <a:stretch/>
          </p:blipFill>
          <p:spPr>
            <a:xfrm>
              <a:off x="3374515" y="4091654"/>
              <a:ext cx="387318" cy="392958"/>
            </a:xfrm>
            <a:prstGeom prst="rect">
              <a:avLst/>
            </a:prstGeom>
            <a:noFill/>
            <a:ln>
              <a:noFill/>
            </a:ln>
          </p:spPr>
        </p:pic>
        <p:sp>
          <p:nvSpPr>
            <p:cNvPr id="1581" name="Google Shape;1581;p12"/>
            <p:cNvSpPr txBox="1"/>
            <p:nvPr/>
          </p:nvSpPr>
          <p:spPr>
            <a:xfrm>
              <a:off x="3822815" y="3627317"/>
              <a:ext cx="64236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endParaRPr/>
            </a:p>
          </p:txBody>
        </p:sp>
        <p:pic>
          <p:nvPicPr>
            <p:cNvPr descr="Image result for netflix logo png" id="1582" name="Google Shape;1582;p12"/>
            <p:cNvPicPr preferRelativeResize="0"/>
            <p:nvPr/>
          </p:nvPicPr>
          <p:blipFill rotWithShape="1">
            <a:blip r:embed="rId7">
              <a:alphaModFix/>
            </a:blip>
            <a:srcRect b="0" l="0" r="0" t="0"/>
            <a:stretch/>
          </p:blipFill>
          <p:spPr>
            <a:xfrm>
              <a:off x="3632599" y="4424842"/>
              <a:ext cx="691469" cy="388951"/>
            </a:xfrm>
            <a:prstGeom prst="rect">
              <a:avLst/>
            </a:prstGeom>
            <a:noFill/>
            <a:ln>
              <a:noFill/>
            </a:ln>
          </p:spPr>
        </p:pic>
      </p:grpSp>
      <p:sp>
        <p:nvSpPr>
          <p:cNvPr id="1583" name="Google Shape;1583;p12"/>
          <p:cNvSpPr/>
          <p:nvPr/>
        </p:nvSpPr>
        <p:spPr>
          <a:xfrm>
            <a:off x="4356586" y="4965666"/>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1584" name="Google Shape;1584;p12"/>
          <p:cNvSpPr/>
          <p:nvPr/>
        </p:nvSpPr>
        <p:spPr>
          <a:xfrm>
            <a:off x="4944218" y="2675931"/>
            <a:ext cx="2194145" cy="1745839"/>
          </a:xfrm>
          <a:prstGeom prst="rect">
            <a:avLst/>
          </a:prstGeom>
          <a:solidFill>
            <a:schemeClr val="lt1">
              <a:alpha val="8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585" name="Google Shape;1585;p12"/>
          <p:cNvCxnSpPr/>
          <p:nvPr/>
        </p:nvCxnSpPr>
        <p:spPr>
          <a:xfrm rot="10800000">
            <a:off x="3204457" y="2995594"/>
            <a:ext cx="0" cy="2502331"/>
          </a:xfrm>
          <a:prstGeom prst="straightConnector1">
            <a:avLst/>
          </a:prstGeom>
          <a:noFill/>
          <a:ln cap="flat" cmpd="sng" w="44450">
            <a:solidFill>
              <a:schemeClr val="accent1"/>
            </a:solidFill>
            <a:prstDash val="solid"/>
            <a:miter lim="800000"/>
            <a:headEnd len="sm" w="sm" type="none"/>
            <a:tailEnd len="med" w="med" type="triangle"/>
          </a:ln>
        </p:spPr>
      </p:cxnSp>
      <p:grpSp>
        <p:nvGrpSpPr>
          <p:cNvPr id="1586" name="Google Shape;1586;p12"/>
          <p:cNvGrpSpPr/>
          <p:nvPr/>
        </p:nvGrpSpPr>
        <p:grpSpPr>
          <a:xfrm>
            <a:off x="5528837" y="2685375"/>
            <a:ext cx="1404036" cy="384588"/>
            <a:chOff x="8597346" y="692270"/>
            <a:chExt cx="1404036" cy="384588"/>
          </a:xfrm>
        </p:grpSpPr>
        <p:sp>
          <p:nvSpPr>
            <p:cNvPr id="1587" name="Google Shape;1587;p12"/>
            <p:cNvSpPr/>
            <p:nvPr/>
          </p:nvSpPr>
          <p:spPr>
            <a:xfrm>
              <a:off x="8597936" y="756182"/>
              <a:ext cx="1403446" cy="266167"/>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88" name="Google Shape;1588;p12"/>
            <p:cNvSpPr txBox="1"/>
            <p:nvPr/>
          </p:nvSpPr>
          <p:spPr>
            <a:xfrm>
              <a:off x="8893175" y="707526"/>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sp>
          <p:nvSpPr>
            <p:cNvPr id="1589" name="Google Shape;1589;p12"/>
            <p:cNvSpPr txBox="1"/>
            <p:nvPr/>
          </p:nvSpPr>
          <p:spPr>
            <a:xfrm>
              <a:off x="8597346" y="692270"/>
              <a:ext cx="3802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t</a:t>
              </a:r>
              <a:endParaRPr b="0" baseline="-25000" i="0" sz="1800" u="none" cap="none" strike="noStrike">
                <a:solidFill>
                  <a:srgbClr val="000000"/>
                </a:solidFill>
                <a:latin typeface="Calibri"/>
                <a:ea typeface="Calibri"/>
                <a:cs typeface="Calibri"/>
                <a:sym typeface="Calibri"/>
              </a:endParaRPr>
            </a:p>
          </p:txBody>
        </p:sp>
      </p:grpSp>
      <p:sp>
        <p:nvSpPr>
          <p:cNvPr id="1590" name="Google Shape;1590;p12"/>
          <p:cNvSpPr/>
          <p:nvPr/>
        </p:nvSpPr>
        <p:spPr>
          <a:xfrm>
            <a:off x="5864224" y="2340021"/>
            <a:ext cx="1063879" cy="266167"/>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91" name="Google Shape;1591;p12"/>
          <p:cNvSpPr txBox="1"/>
          <p:nvPr/>
        </p:nvSpPr>
        <p:spPr>
          <a:xfrm>
            <a:off x="5819897" y="2291365"/>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cxnSp>
        <p:nvCxnSpPr>
          <p:cNvPr id="1592" name="Google Shape;1592;p12"/>
          <p:cNvCxnSpPr/>
          <p:nvPr/>
        </p:nvCxnSpPr>
        <p:spPr>
          <a:xfrm>
            <a:off x="7011397" y="2484139"/>
            <a:ext cx="0" cy="3013786"/>
          </a:xfrm>
          <a:prstGeom prst="straightConnector1">
            <a:avLst/>
          </a:prstGeom>
          <a:noFill/>
          <a:ln cap="flat" cmpd="sng" w="44450">
            <a:solidFill>
              <a:schemeClr val="accent1"/>
            </a:solidFill>
            <a:prstDash val="solid"/>
            <a:miter lim="800000"/>
            <a:headEnd len="sm" w="sm" type="none"/>
            <a:tailEnd len="sm" w="sm" type="none"/>
          </a:ln>
        </p:spPr>
      </p:cxnSp>
      <p:cxnSp>
        <p:nvCxnSpPr>
          <p:cNvPr id="1593" name="Google Shape;1593;p12"/>
          <p:cNvCxnSpPr/>
          <p:nvPr/>
        </p:nvCxnSpPr>
        <p:spPr>
          <a:xfrm>
            <a:off x="3184573" y="5478673"/>
            <a:ext cx="3851736" cy="0"/>
          </a:xfrm>
          <a:prstGeom prst="straightConnector1">
            <a:avLst/>
          </a:prstGeom>
          <a:noFill/>
          <a:ln cap="flat" cmpd="sng" w="44450">
            <a:solidFill>
              <a:schemeClr val="accent1"/>
            </a:solidFill>
            <a:prstDash val="solid"/>
            <a:miter lim="800000"/>
            <a:headEnd len="sm" w="sm" type="none"/>
            <a:tailEnd len="sm" w="sm" type="none"/>
          </a:ln>
        </p:spPr>
      </p:cxnSp>
      <p:sp>
        <p:nvSpPr>
          <p:cNvPr id="1594" name="Google Shape;1594;p12"/>
          <p:cNvSpPr/>
          <p:nvPr/>
        </p:nvSpPr>
        <p:spPr>
          <a:xfrm>
            <a:off x="5864224" y="2291365"/>
            <a:ext cx="1063879" cy="300547"/>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95" name="Google Shape;1595;p1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0" name="Shape 1600"/>
        <p:cNvGrpSpPr/>
        <p:nvPr/>
      </p:nvGrpSpPr>
      <p:grpSpPr>
        <a:xfrm>
          <a:off x="0" y="0"/>
          <a:ext cx="0" cy="0"/>
          <a:chOff x="0" y="0"/>
          <a:chExt cx="0" cy="0"/>
        </a:xfrm>
      </p:grpSpPr>
      <p:grpSp>
        <p:nvGrpSpPr>
          <p:cNvPr id="1601" name="Google Shape;1601;p13"/>
          <p:cNvGrpSpPr/>
          <p:nvPr/>
        </p:nvGrpSpPr>
        <p:grpSpPr>
          <a:xfrm>
            <a:off x="141514" y="827314"/>
            <a:ext cx="11908971" cy="4739615"/>
            <a:chOff x="2511281" y="3262667"/>
            <a:chExt cx="7770812" cy="3121540"/>
          </a:xfrm>
        </p:grpSpPr>
        <p:sp>
          <p:nvSpPr>
            <p:cNvPr id="1602" name="Google Shape;1602;p13"/>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03" name="Google Shape;1603;p13"/>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604" name="Google Shape;1604;p13"/>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605" name="Google Shape;1605;p13"/>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606" name="Google Shape;1606;p13"/>
            <p:cNvSpPr txBox="1"/>
            <p:nvPr/>
          </p:nvSpPr>
          <p:spPr>
            <a:xfrm>
              <a:off x="5698981" y="4480178"/>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607" name="Google Shape;1607;p13"/>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608" name="Google Shape;1608;p13"/>
            <p:cNvSpPr txBox="1"/>
            <p:nvPr/>
          </p:nvSpPr>
          <p:spPr>
            <a:xfrm>
              <a:off x="5692631" y="53778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609" name="Google Shape;1609;p13"/>
            <p:cNvSpPr txBox="1"/>
            <p:nvPr/>
          </p:nvSpPr>
          <p:spPr>
            <a:xfrm>
              <a:off x="5692631" y="5084965"/>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610" name="Google Shape;1610;p13"/>
            <p:cNvSpPr txBox="1"/>
            <p:nvPr/>
          </p:nvSpPr>
          <p:spPr>
            <a:xfrm>
              <a:off x="5692631" y="479368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cxnSp>
          <p:nvCxnSpPr>
            <p:cNvPr id="1611" name="Google Shape;1611;p13"/>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612" name="Google Shape;1612;p13"/>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613" name="Google Shape;1613;p13"/>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614" name="Google Shape;1614;p13"/>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615" name="Google Shape;1615;p13"/>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616" name="Google Shape;1616;p13"/>
            <p:cNvSpPr txBox="1"/>
            <p:nvPr/>
          </p:nvSpPr>
          <p:spPr>
            <a:xfrm>
              <a:off x="7846868" y="483337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617" name="Google Shape;1617;p13"/>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618" name="Google Shape;1618;p13"/>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619" name="Google Shape;1619;p13"/>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620" name="Google Shape;1620;p13"/>
            <p:cNvSpPr txBox="1"/>
            <p:nvPr/>
          </p:nvSpPr>
          <p:spPr>
            <a:xfrm>
              <a:off x="7881793" y="403788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621" name="Google Shape;1621;p13"/>
            <p:cNvSpPr txBox="1"/>
            <p:nvPr/>
          </p:nvSpPr>
          <p:spPr>
            <a:xfrm>
              <a:off x="7837343" y="574541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622" name="Google Shape;1622;p13"/>
            <p:cNvSpPr txBox="1"/>
            <p:nvPr/>
          </p:nvSpPr>
          <p:spPr>
            <a:xfrm>
              <a:off x="7849290" y="543815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623" name="Google Shape;1623;p13"/>
            <p:cNvSpPr txBox="1"/>
            <p:nvPr/>
          </p:nvSpPr>
          <p:spPr>
            <a:xfrm>
              <a:off x="7846868" y="5150053"/>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sp>
          <p:nvSpPr>
            <p:cNvPr id="1624" name="Google Shape;1624;p13"/>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25" name="Google Shape;1625;p13"/>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26" name="Google Shape;1626;p13"/>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627" name="Google Shape;1627;p13"/>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628" name="Google Shape;1628;p13"/>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629" name="Google Shape;1629;p13"/>
            <p:cNvSpPr txBox="1"/>
            <p:nvPr/>
          </p:nvSpPr>
          <p:spPr>
            <a:xfrm>
              <a:off x="3501881" y="484130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630" name="Google Shape;1630;p13"/>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631" name="Google Shape;1631;p13"/>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632" name="Google Shape;1632;p13"/>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633" name="Google Shape;1633;p13"/>
            <p:cNvSpPr txBox="1"/>
            <p:nvPr/>
          </p:nvSpPr>
          <p:spPr>
            <a:xfrm>
              <a:off x="3536806" y="404581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634" name="Google Shape;1634;p13"/>
            <p:cNvSpPr txBox="1"/>
            <p:nvPr/>
          </p:nvSpPr>
          <p:spPr>
            <a:xfrm>
              <a:off x="3492356" y="57461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635" name="Google Shape;1635;p13"/>
            <p:cNvSpPr txBox="1"/>
            <p:nvPr/>
          </p:nvSpPr>
          <p:spPr>
            <a:xfrm>
              <a:off x="3511406" y="545326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636" name="Google Shape;1636;p13"/>
            <p:cNvSpPr txBox="1"/>
            <p:nvPr/>
          </p:nvSpPr>
          <p:spPr>
            <a:xfrm>
              <a:off x="3501881" y="5157990"/>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grpSp>
          <p:nvGrpSpPr>
            <p:cNvPr id="1637" name="Google Shape;1637;p13"/>
            <p:cNvGrpSpPr/>
            <p:nvPr/>
          </p:nvGrpSpPr>
          <p:grpSpPr>
            <a:xfrm>
              <a:off x="2511281" y="5555532"/>
              <a:ext cx="800100" cy="828675"/>
              <a:chOff x="-44" y="1473"/>
              <a:chExt cx="981" cy="1105"/>
            </a:xfrm>
          </p:grpSpPr>
          <p:pic>
            <p:nvPicPr>
              <p:cNvPr descr="desktop_computer_stylized_medium" id="1638" name="Google Shape;1638;p1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639" name="Google Shape;1639;p1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640" name="Google Shape;1640;p13"/>
            <p:cNvGrpSpPr/>
            <p:nvPr/>
          </p:nvGrpSpPr>
          <p:grpSpPr>
            <a:xfrm flipH="1">
              <a:off x="9493106" y="5469807"/>
              <a:ext cx="788987" cy="782637"/>
              <a:chOff x="-44" y="1473"/>
              <a:chExt cx="981" cy="1105"/>
            </a:xfrm>
          </p:grpSpPr>
          <p:pic>
            <p:nvPicPr>
              <p:cNvPr descr="desktop_computer_stylized_medium" id="1641" name="Google Shape;1641;p1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642" name="Google Shape;1642;p1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643" name="Google Shape;1643;p13"/>
            <p:cNvGrpSpPr/>
            <p:nvPr/>
          </p:nvGrpSpPr>
          <p:grpSpPr>
            <a:xfrm>
              <a:off x="5083031" y="5055469"/>
              <a:ext cx="358775" cy="704850"/>
              <a:chOff x="4140" y="429"/>
              <a:chExt cx="1425" cy="2396"/>
            </a:xfrm>
          </p:grpSpPr>
          <p:sp>
            <p:nvSpPr>
              <p:cNvPr id="1644" name="Google Shape;1644;p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45" name="Google Shape;1645;p13"/>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46" name="Google Shape;1646;p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47" name="Google Shape;1647;p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48" name="Google Shape;1648;p13"/>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649" name="Google Shape;1649;p13"/>
              <p:cNvGrpSpPr/>
              <p:nvPr/>
            </p:nvGrpSpPr>
            <p:grpSpPr>
              <a:xfrm>
                <a:off x="4751" y="667"/>
                <a:ext cx="580" cy="146"/>
                <a:chOff x="617" y="2567"/>
                <a:chExt cx="724" cy="140"/>
              </a:xfrm>
            </p:grpSpPr>
            <p:sp>
              <p:nvSpPr>
                <p:cNvPr id="1650" name="Google Shape;1650;p13"/>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51" name="Google Shape;1651;p13"/>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652" name="Google Shape;1652;p13"/>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653" name="Google Shape;1653;p13"/>
              <p:cNvGrpSpPr/>
              <p:nvPr/>
            </p:nvGrpSpPr>
            <p:grpSpPr>
              <a:xfrm>
                <a:off x="4745" y="996"/>
                <a:ext cx="580" cy="156"/>
                <a:chOff x="612" y="2570"/>
                <a:chExt cx="724" cy="162"/>
              </a:xfrm>
            </p:grpSpPr>
            <p:sp>
              <p:nvSpPr>
                <p:cNvPr id="1654" name="Google Shape;1654;p13"/>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55" name="Google Shape;1655;p13"/>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656" name="Google Shape;1656;p13"/>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57" name="Google Shape;1657;p13"/>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658" name="Google Shape;1658;p13"/>
              <p:cNvGrpSpPr/>
              <p:nvPr/>
            </p:nvGrpSpPr>
            <p:grpSpPr>
              <a:xfrm>
                <a:off x="4733" y="1627"/>
                <a:ext cx="586" cy="151"/>
                <a:chOff x="611" y="2568"/>
                <a:chExt cx="730" cy="139"/>
              </a:xfrm>
            </p:grpSpPr>
            <p:sp>
              <p:nvSpPr>
                <p:cNvPr id="1659" name="Google Shape;1659;p13"/>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60" name="Google Shape;1660;p13"/>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661" name="Google Shape;1661;p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662" name="Google Shape;1662;p13"/>
              <p:cNvGrpSpPr/>
              <p:nvPr/>
            </p:nvGrpSpPr>
            <p:grpSpPr>
              <a:xfrm>
                <a:off x="4739" y="1325"/>
                <a:ext cx="580" cy="140"/>
                <a:chOff x="614" y="2566"/>
                <a:chExt cx="723" cy="140"/>
              </a:xfrm>
            </p:grpSpPr>
            <p:sp>
              <p:nvSpPr>
                <p:cNvPr id="1663" name="Google Shape;1663;p13"/>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64" name="Google Shape;1664;p13"/>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665" name="Google Shape;1665;p13"/>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66" name="Google Shape;1666;p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67" name="Google Shape;1667;p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68" name="Google Shape;1668;p13"/>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69" name="Google Shape;1669;p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70" name="Google Shape;1670;p13"/>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71" name="Google Shape;1671;p13"/>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72" name="Google Shape;1672;p13"/>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73" name="Google Shape;1673;p13"/>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1674" name="Google Shape;1674;p13"/>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675" name="Google Shape;1675;p13"/>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pic>
          <p:nvPicPr>
            <p:cNvPr descr="Image result for firefox logo" id="1676" name="Google Shape;1676;p13"/>
            <p:cNvPicPr preferRelativeResize="0"/>
            <p:nvPr/>
          </p:nvPicPr>
          <p:blipFill rotWithShape="1">
            <a:blip r:embed="rId4">
              <a:alphaModFix/>
            </a:blip>
            <a:srcRect b="0" l="0" r="0" t="0"/>
            <a:stretch/>
          </p:blipFill>
          <p:spPr>
            <a:xfrm>
              <a:off x="4326336" y="4363319"/>
              <a:ext cx="387318" cy="362674"/>
            </a:xfrm>
            <a:prstGeom prst="rect">
              <a:avLst/>
            </a:prstGeom>
            <a:noFill/>
            <a:ln>
              <a:noFill/>
            </a:ln>
          </p:spPr>
        </p:pic>
        <p:sp>
          <p:nvSpPr>
            <p:cNvPr id="1677" name="Google Shape;1677;p13"/>
            <p:cNvSpPr txBox="1"/>
            <p:nvPr/>
          </p:nvSpPr>
          <p:spPr>
            <a:xfrm>
              <a:off x="5723493" y="3262667"/>
              <a:ext cx="126581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HTTP server</a:t>
              </a:r>
              <a:endParaRPr/>
            </a:p>
          </p:txBody>
        </p:sp>
        <p:pic>
          <p:nvPicPr>
            <p:cNvPr descr="Image result for apache web server logo" id="1678" name="Google Shape;1678;p13"/>
            <p:cNvPicPr preferRelativeResize="0"/>
            <p:nvPr/>
          </p:nvPicPr>
          <p:blipFill rotWithShape="1">
            <a:blip r:embed="rId5">
              <a:alphaModFix/>
            </a:blip>
            <a:srcRect b="0" l="0" r="0" t="0"/>
            <a:stretch/>
          </p:blipFill>
          <p:spPr>
            <a:xfrm>
              <a:off x="5649399" y="3712220"/>
              <a:ext cx="1425575" cy="629170"/>
            </a:xfrm>
            <a:prstGeom prst="rect">
              <a:avLst/>
            </a:prstGeom>
            <a:noFill/>
            <a:ln>
              <a:noFill/>
            </a:ln>
          </p:spPr>
        </p:pic>
        <p:pic>
          <p:nvPicPr>
            <p:cNvPr descr="Image result for firefox logo" id="1679" name="Google Shape;1679;p13"/>
            <p:cNvPicPr preferRelativeResize="0"/>
            <p:nvPr/>
          </p:nvPicPr>
          <p:blipFill rotWithShape="1">
            <a:blip r:embed="rId4">
              <a:alphaModFix/>
            </a:blip>
            <a:srcRect b="0" l="0" r="0" t="0"/>
            <a:stretch/>
          </p:blipFill>
          <p:spPr>
            <a:xfrm>
              <a:off x="8557699" y="4326644"/>
              <a:ext cx="387318" cy="362674"/>
            </a:xfrm>
            <a:prstGeom prst="rect">
              <a:avLst/>
            </a:prstGeom>
            <a:noFill/>
            <a:ln>
              <a:noFill/>
            </a:ln>
          </p:spPr>
        </p:pic>
        <p:pic>
          <p:nvPicPr>
            <p:cNvPr descr="Image result for skype logo" id="1680" name="Google Shape;1680;p13"/>
            <p:cNvPicPr preferRelativeResize="0"/>
            <p:nvPr/>
          </p:nvPicPr>
          <p:blipFill rotWithShape="1">
            <a:blip r:embed="rId6">
              <a:alphaModFix/>
            </a:blip>
            <a:srcRect b="0" l="0" r="0" t="0"/>
            <a:stretch/>
          </p:blipFill>
          <p:spPr>
            <a:xfrm>
              <a:off x="3374515" y="4091654"/>
              <a:ext cx="387318" cy="392958"/>
            </a:xfrm>
            <a:prstGeom prst="rect">
              <a:avLst/>
            </a:prstGeom>
            <a:noFill/>
            <a:ln>
              <a:noFill/>
            </a:ln>
          </p:spPr>
        </p:pic>
        <p:sp>
          <p:nvSpPr>
            <p:cNvPr id="1681" name="Google Shape;1681;p13"/>
            <p:cNvSpPr txBox="1"/>
            <p:nvPr/>
          </p:nvSpPr>
          <p:spPr>
            <a:xfrm>
              <a:off x="3822815" y="3627317"/>
              <a:ext cx="64236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endParaRPr/>
            </a:p>
          </p:txBody>
        </p:sp>
        <p:pic>
          <p:nvPicPr>
            <p:cNvPr descr="Image result for netflix logo png" id="1682" name="Google Shape;1682;p13"/>
            <p:cNvPicPr preferRelativeResize="0"/>
            <p:nvPr/>
          </p:nvPicPr>
          <p:blipFill rotWithShape="1">
            <a:blip r:embed="rId7">
              <a:alphaModFix/>
            </a:blip>
            <a:srcRect b="0" l="0" r="0" t="0"/>
            <a:stretch/>
          </p:blipFill>
          <p:spPr>
            <a:xfrm>
              <a:off x="3632599" y="4424842"/>
              <a:ext cx="691469" cy="388951"/>
            </a:xfrm>
            <a:prstGeom prst="rect">
              <a:avLst/>
            </a:prstGeom>
            <a:noFill/>
            <a:ln>
              <a:noFill/>
            </a:ln>
          </p:spPr>
        </p:pic>
      </p:grpSp>
      <p:sp>
        <p:nvSpPr>
          <p:cNvPr id="1683" name="Google Shape;1683;p13"/>
          <p:cNvSpPr/>
          <p:nvPr/>
        </p:nvSpPr>
        <p:spPr>
          <a:xfrm>
            <a:off x="4356586" y="4965666"/>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1684" name="Google Shape;1684;p13"/>
          <p:cNvSpPr/>
          <p:nvPr/>
        </p:nvSpPr>
        <p:spPr>
          <a:xfrm>
            <a:off x="4944218" y="2675931"/>
            <a:ext cx="2194145" cy="1745839"/>
          </a:xfrm>
          <a:prstGeom prst="rect">
            <a:avLst/>
          </a:prstGeom>
          <a:solidFill>
            <a:schemeClr val="lt1">
              <a:alpha val="8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685" name="Google Shape;1685;p13"/>
          <p:cNvCxnSpPr/>
          <p:nvPr/>
        </p:nvCxnSpPr>
        <p:spPr>
          <a:xfrm rot="10800000">
            <a:off x="3204457" y="2995594"/>
            <a:ext cx="0" cy="2502331"/>
          </a:xfrm>
          <a:prstGeom prst="straightConnector1">
            <a:avLst/>
          </a:prstGeom>
          <a:noFill/>
          <a:ln cap="flat" cmpd="sng" w="44450">
            <a:solidFill>
              <a:schemeClr val="accent1"/>
            </a:solidFill>
            <a:prstDash val="solid"/>
            <a:miter lim="800000"/>
            <a:headEnd len="sm" w="sm" type="none"/>
            <a:tailEnd len="med" w="med" type="triangle"/>
          </a:ln>
        </p:spPr>
      </p:cxnSp>
      <p:grpSp>
        <p:nvGrpSpPr>
          <p:cNvPr id="1686" name="Google Shape;1686;p13"/>
          <p:cNvGrpSpPr/>
          <p:nvPr/>
        </p:nvGrpSpPr>
        <p:grpSpPr>
          <a:xfrm>
            <a:off x="5525255" y="2683797"/>
            <a:ext cx="1407618" cy="386166"/>
            <a:chOff x="8593764" y="690692"/>
            <a:chExt cx="1407618" cy="386166"/>
          </a:xfrm>
        </p:grpSpPr>
        <p:sp>
          <p:nvSpPr>
            <p:cNvPr id="1687" name="Google Shape;1687;p13"/>
            <p:cNvSpPr/>
            <p:nvPr/>
          </p:nvSpPr>
          <p:spPr>
            <a:xfrm>
              <a:off x="8597936" y="756182"/>
              <a:ext cx="1403446" cy="266167"/>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88" name="Google Shape;1688;p13"/>
            <p:cNvSpPr txBox="1"/>
            <p:nvPr/>
          </p:nvSpPr>
          <p:spPr>
            <a:xfrm>
              <a:off x="8893175" y="707526"/>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sp>
          <p:nvSpPr>
            <p:cNvPr id="1689" name="Google Shape;1689;p13"/>
            <p:cNvSpPr txBox="1"/>
            <p:nvPr/>
          </p:nvSpPr>
          <p:spPr>
            <a:xfrm>
              <a:off x="8593764" y="690692"/>
              <a:ext cx="3802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t</a:t>
              </a:r>
              <a:endParaRPr b="0" baseline="-25000" i="0" sz="1800" u="none" cap="none" strike="noStrike">
                <a:solidFill>
                  <a:srgbClr val="000000"/>
                </a:solidFill>
                <a:latin typeface="Calibri"/>
                <a:ea typeface="Calibri"/>
                <a:cs typeface="Calibri"/>
                <a:sym typeface="Calibri"/>
              </a:endParaRPr>
            </a:p>
          </p:txBody>
        </p:sp>
      </p:grpSp>
      <p:grpSp>
        <p:nvGrpSpPr>
          <p:cNvPr id="1690" name="Google Shape;1690;p13"/>
          <p:cNvGrpSpPr/>
          <p:nvPr/>
        </p:nvGrpSpPr>
        <p:grpSpPr>
          <a:xfrm>
            <a:off x="5272320" y="3145339"/>
            <a:ext cx="1651423" cy="389371"/>
            <a:chOff x="8349959" y="687487"/>
            <a:chExt cx="1651423" cy="389371"/>
          </a:xfrm>
        </p:grpSpPr>
        <p:sp>
          <p:nvSpPr>
            <p:cNvPr id="1691" name="Google Shape;1691;p13"/>
            <p:cNvSpPr/>
            <p:nvPr/>
          </p:nvSpPr>
          <p:spPr>
            <a:xfrm>
              <a:off x="8369532" y="756182"/>
              <a:ext cx="1631850" cy="266167"/>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92" name="Google Shape;1692;p13"/>
            <p:cNvSpPr txBox="1"/>
            <p:nvPr/>
          </p:nvSpPr>
          <p:spPr>
            <a:xfrm>
              <a:off x="8893175" y="707526"/>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sp>
          <p:nvSpPr>
            <p:cNvPr id="1693" name="Google Shape;1693;p13"/>
            <p:cNvSpPr txBox="1"/>
            <p:nvPr/>
          </p:nvSpPr>
          <p:spPr>
            <a:xfrm>
              <a:off x="8593764" y="690692"/>
              <a:ext cx="3802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t</a:t>
              </a:r>
              <a:endParaRPr b="0" baseline="-25000" i="0" sz="1800" u="none" cap="none" strike="noStrike">
                <a:solidFill>
                  <a:srgbClr val="000000"/>
                </a:solidFill>
                <a:latin typeface="Calibri"/>
                <a:ea typeface="Calibri"/>
                <a:cs typeface="Calibri"/>
                <a:sym typeface="Calibri"/>
              </a:endParaRPr>
            </a:p>
          </p:txBody>
        </p:sp>
        <p:sp>
          <p:nvSpPr>
            <p:cNvPr id="1694" name="Google Shape;1694;p13"/>
            <p:cNvSpPr txBox="1"/>
            <p:nvPr/>
          </p:nvSpPr>
          <p:spPr>
            <a:xfrm>
              <a:off x="8349959" y="687487"/>
              <a:ext cx="4090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n</a:t>
              </a:r>
              <a:endParaRPr b="0" baseline="-25000" i="0" sz="1800" u="none" cap="none" strike="noStrike">
                <a:solidFill>
                  <a:srgbClr val="000000"/>
                </a:solidFill>
                <a:latin typeface="Calibri"/>
                <a:ea typeface="Calibri"/>
                <a:cs typeface="Calibri"/>
                <a:sym typeface="Calibri"/>
              </a:endParaRPr>
            </a:p>
          </p:txBody>
        </p:sp>
      </p:grpSp>
      <p:sp>
        <p:nvSpPr>
          <p:cNvPr id="1695" name="Google Shape;1695;p13"/>
          <p:cNvSpPr/>
          <p:nvPr/>
        </p:nvSpPr>
        <p:spPr>
          <a:xfrm>
            <a:off x="5864224" y="2340021"/>
            <a:ext cx="1063879" cy="266167"/>
          </a:xfrm>
          <a:prstGeom prst="rect">
            <a:avLst/>
          </a:prstGeom>
          <a:solidFill>
            <a:schemeClr val="l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96" name="Google Shape;1696;p13"/>
          <p:cNvSpPr txBox="1"/>
          <p:nvPr/>
        </p:nvSpPr>
        <p:spPr>
          <a:xfrm>
            <a:off x="5819897" y="2291365"/>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cxnSp>
        <p:nvCxnSpPr>
          <p:cNvPr id="1697" name="Google Shape;1697;p13"/>
          <p:cNvCxnSpPr/>
          <p:nvPr/>
        </p:nvCxnSpPr>
        <p:spPr>
          <a:xfrm>
            <a:off x="7011397" y="2484139"/>
            <a:ext cx="0" cy="3013786"/>
          </a:xfrm>
          <a:prstGeom prst="straightConnector1">
            <a:avLst/>
          </a:prstGeom>
          <a:noFill/>
          <a:ln cap="flat" cmpd="sng" w="44450">
            <a:solidFill>
              <a:schemeClr val="accent1"/>
            </a:solidFill>
            <a:prstDash val="solid"/>
            <a:miter lim="800000"/>
            <a:headEnd len="sm" w="sm" type="none"/>
            <a:tailEnd len="sm" w="sm" type="none"/>
          </a:ln>
        </p:spPr>
      </p:cxnSp>
      <p:cxnSp>
        <p:nvCxnSpPr>
          <p:cNvPr id="1698" name="Google Shape;1698;p13"/>
          <p:cNvCxnSpPr/>
          <p:nvPr/>
        </p:nvCxnSpPr>
        <p:spPr>
          <a:xfrm>
            <a:off x="3184573" y="5478673"/>
            <a:ext cx="3851736" cy="0"/>
          </a:xfrm>
          <a:prstGeom prst="straightConnector1">
            <a:avLst/>
          </a:prstGeom>
          <a:noFill/>
          <a:ln cap="flat" cmpd="sng" w="44450">
            <a:solidFill>
              <a:schemeClr val="accent1"/>
            </a:solidFill>
            <a:prstDash val="solid"/>
            <a:miter lim="800000"/>
            <a:headEnd len="sm" w="sm" type="none"/>
            <a:tailEnd len="sm" w="sm" type="none"/>
          </a:ln>
        </p:spPr>
      </p:cxnSp>
      <p:sp>
        <p:nvSpPr>
          <p:cNvPr id="1699" name="Google Shape;1699;p13"/>
          <p:cNvSpPr/>
          <p:nvPr/>
        </p:nvSpPr>
        <p:spPr>
          <a:xfrm>
            <a:off x="5864224" y="2291365"/>
            <a:ext cx="1063879" cy="300547"/>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00" name="Google Shape;1700;p13"/>
          <p:cNvSpPr/>
          <p:nvPr/>
        </p:nvSpPr>
        <p:spPr>
          <a:xfrm>
            <a:off x="5474955" y="2744519"/>
            <a:ext cx="1478052" cy="284266"/>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01" name="Google Shape;1701;p1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6" name="Shape 1706"/>
        <p:cNvGrpSpPr/>
        <p:nvPr/>
      </p:nvGrpSpPr>
      <p:grpSpPr>
        <a:xfrm>
          <a:off x="0" y="0"/>
          <a:ext cx="0" cy="0"/>
          <a:chOff x="0" y="0"/>
          <a:chExt cx="0" cy="0"/>
        </a:xfrm>
      </p:grpSpPr>
      <p:grpSp>
        <p:nvGrpSpPr>
          <p:cNvPr id="1707" name="Google Shape;1707;p14"/>
          <p:cNvGrpSpPr/>
          <p:nvPr/>
        </p:nvGrpSpPr>
        <p:grpSpPr>
          <a:xfrm>
            <a:off x="141514" y="827314"/>
            <a:ext cx="11908971" cy="4739615"/>
            <a:chOff x="2511281" y="3262667"/>
            <a:chExt cx="7770812" cy="3121540"/>
          </a:xfrm>
        </p:grpSpPr>
        <p:sp>
          <p:nvSpPr>
            <p:cNvPr id="1708" name="Google Shape;1708;p14"/>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09" name="Google Shape;1709;p14"/>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710" name="Google Shape;1710;p14"/>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711" name="Google Shape;1711;p14"/>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712" name="Google Shape;1712;p14"/>
            <p:cNvSpPr txBox="1"/>
            <p:nvPr/>
          </p:nvSpPr>
          <p:spPr>
            <a:xfrm>
              <a:off x="5698981" y="4480178"/>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713" name="Google Shape;1713;p14"/>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714" name="Google Shape;1714;p14"/>
            <p:cNvSpPr txBox="1"/>
            <p:nvPr/>
          </p:nvSpPr>
          <p:spPr>
            <a:xfrm>
              <a:off x="5692631" y="53778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715" name="Google Shape;1715;p14"/>
            <p:cNvSpPr txBox="1"/>
            <p:nvPr/>
          </p:nvSpPr>
          <p:spPr>
            <a:xfrm>
              <a:off x="5692631" y="5084965"/>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716" name="Google Shape;1716;p14"/>
            <p:cNvSpPr txBox="1"/>
            <p:nvPr/>
          </p:nvSpPr>
          <p:spPr>
            <a:xfrm>
              <a:off x="5692631" y="479368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cxnSp>
          <p:nvCxnSpPr>
            <p:cNvPr id="1717" name="Google Shape;1717;p14"/>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718" name="Google Shape;1718;p14"/>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719" name="Google Shape;1719;p14"/>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720" name="Google Shape;1720;p14"/>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721" name="Google Shape;1721;p14"/>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722" name="Google Shape;1722;p14"/>
            <p:cNvSpPr txBox="1"/>
            <p:nvPr/>
          </p:nvSpPr>
          <p:spPr>
            <a:xfrm>
              <a:off x="7846868" y="483337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723" name="Google Shape;1723;p14"/>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724" name="Google Shape;1724;p14"/>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725" name="Google Shape;1725;p14"/>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726" name="Google Shape;1726;p14"/>
            <p:cNvSpPr txBox="1"/>
            <p:nvPr/>
          </p:nvSpPr>
          <p:spPr>
            <a:xfrm>
              <a:off x="7881793" y="403788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727" name="Google Shape;1727;p14"/>
            <p:cNvSpPr txBox="1"/>
            <p:nvPr/>
          </p:nvSpPr>
          <p:spPr>
            <a:xfrm>
              <a:off x="7837343" y="574541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728" name="Google Shape;1728;p14"/>
            <p:cNvSpPr txBox="1"/>
            <p:nvPr/>
          </p:nvSpPr>
          <p:spPr>
            <a:xfrm>
              <a:off x="7849290" y="543815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729" name="Google Shape;1729;p14"/>
            <p:cNvSpPr txBox="1"/>
            <p:nvPr/>
          </p:nvSpPr>
          <p:spPr>
            <a:xfrm>
              <a:off x="7846868" y="5150053"/>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sp>
          <p:nvSpPr>
            <p:cNvPr id="1730" name="Google Shape;1730;p14"/>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31" name="Google Shape;1731;p14"/>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32" name="Google Shape;1732;p14"/>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733" name="Google Shape;1733;p14"/>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734" name="Google Shape;1734;p14"/>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735" name="Google Shape;1735;p14"/>
            <p:cNvSpPr txBox="1"/>
            <p:nvPr/>
          </p:nvSpPr>
          <p:spPr>
            <a:xfrm>
              <a:off x="3501881" y="484130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736" name="Google Shape;1736;p14"/>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737" name="Google Shape;1737;p14"/>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738" name="Google Shape;1738;p14"/>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739" name="Google Shape;1739;p14"/>
            <p:cNvSpPr txBox="1"/>
            <p:nvPr/>
          </p:nvSpPr>
          <p:spPr>
            <a:xfrm>
              <a:off x="3536806" y="404581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740" name="Google Shape;1740;p14"/>
            <p:cNvSpPr txBox="1"/>
            <p:nvPr/>
          </p:nvSpPr>
          <p:spPr>
            <a:xfrm>
              <a:off x="3492356" y="57461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741" name="Google Shape;1741;p14"/>
            <p:cNvSpPr txBox="1"/>
            <p:nvPr/>
          </p:nvSpPr>
          <p:spPr>
            <a:xfrm>
              <a:off x="3511406" y="545326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742" name="Google Shape;1742;p14"/>
            <p:cNvSpPr txBox="1"/>
            <p:nvPr/>
          </p:nvSpPr>
          <p:spPr>
            <a:xfrm>
              <a:off x="3501881" y="5157990"/>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grpSp>
          <p:nvGrpSpPr>
            <p:cNvPr id="1743" name="Google Shape;1743;p14"/>
            <p:cNvGrpSpPr/>
            <p:nvPr/>
          </p:nvGrpSpPr>
          <p:grpSpPr>
            <a:xfrm>
              <a:off x="2511281" y="5555532"/>
              <a:ext cx="800100" cy="828675"/>
              <a:chOff x="-44" y="1473"/>
              <a:chExt cx="981" cy="1105"/>
            </a:xfrm>
          </p:grpSpPr>
          <p:pic>
            <p:nvPicPr>
              <p:cNvPr descr="desktop_computer_stylized_medium" id="1744" name="Google Shape;1744;p1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745" name="Google Shape;1745;p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746" name="Google Shape;1746;p14"/>
            <p:cNvGrpSpPr/>
            <p:nvPr/>
          </p:nvGrpSpPr>
          <p:grpSpPr>
            <a:xfrm flipH="1">
              <a:off x="9493106" y="5469807"/>
              <a:ext cx="788987" cy="782637"/>
              <a:chOff x="-44" y="1473"/>
              <a:chExt cx="981" cy="1105"/>
            </a:xfrm>
          </p:grpSpPr>
          <p:pic>
            <p:nvPicPr>
              <p:cNvPr descr="desktop_computer_stylized_medium" id="1747" name="Google Shape;1747;p1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748" name="Google Shape;1748;p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749" name="Google Shape;1749;p14"/>
            <p:cNvGrpSpPr/>
            <p:nvPr/>
          </p:nvGrpSpPr>
          <p:grpSpPr>
            <a:xfrm>
              <a:off x="5083031" y="5055469"/>
              <a:ext cx="358775" cy="704850"/>
              <a:chOff x="4140" y="429"/>
              <a:chExt cx="1425" cy="2396"/>
            </a:xfrm>
          </p:grpSpPr>
          <p:sp>
            <p:nvSpPr>
              <p:cNvPr id="1750" name="Google Shape;1750;p1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51" name="Google Shape;1751;p14"/>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52" name="Google Shape;1752;p1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53" name="Google Shape;1753;p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54" name="Google Shape;1754;p14"/>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755" name="Google Shape;1755;p14"/>
              <p:cNvGrpSpPr/>
              <p:nvPr/>
            </p:nvGrpSpPr>
            <p:grpSpPr>
              <a:xfrm>
                <a:off x="4751" y="667"/>
                <a:ext cx="580" cy="146"/>
                <a:chOff x="617" y="2567"/>
                <a:chExt cx="724" cy="140"/>
              </a:xfrm>
            </p:grpSpPr>
            <p:sp>
              <p:nvSpPr>
                <p:cNvPr id="1756" name="Google Shape;1756;p14"/>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57" name="Google Shape;1757;p14"/>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758" name="Google Shape;1758;p14"/>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759" name="Google Shape;1759;p14"/>
              <p:cNvGrpSpPr/>
              <p:nvPr/>
            </p:nvGrpSpPr>
            <p:grpSpPr>
              <a:xfrm>
                <a:off x="4745" y="996"/>
                <a:ext cx="580" cy="156"/>
                <a:chOff x="612" y="2570"/>
                <a:chExt cx="724" cy="162"/>
              </a:xfrm>
            </p:grpSpPr>
            <p:sp>
              <p:nvSpPr>
                <p:cNvPr id="1760" name="Google Shape;1760;p14"/>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61" name="Google Shape;1761;p14"/>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762" name="Google Shape;1762;p14"/>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63" name="Google Shape;1763;p14"/>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764" name="Google Shape;1764;p14"/>
              <p:cNvGrpSpPr/>
              <p:nvPr/>
            </p:nvGrpSpPr>
            <p:grpSpPr>
              <a:xfrm>
                <a:off x="4733" y="1627"/>
                <a:ext cx="586" cy="151"/>
                <a:chOff x="611" y="2568"/>
                <a:chExt cx="730" cy="139"/>
              </a:xfrm>
            </p:grpSpPr>
            <p:sp>
              <p:nvSpPr>
                <p:cNvPr id="1765" name="Google Shape;1765;p14"/>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66" name="Google Shape;1766;p14"/>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767" name="Google Shape;1767;p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768" name="Google Shape;1768;p14"/>
              <p:cNvGrpSpPr/>
              <p:nvPr/>
            </p:nvGrpSpPr>
            <p:grpSpPr>
              <a:xfrm>
                <a:off x="4739" y="1325"/>
                <a:ext cx="580" cy="140"/>
                <a:chOff x="614" y="2566"/>
                <a:chExt cx="723" cy="140"/>
              </a:xfrm>
            </p:grpSpPr>
            <p:sp>
              <p:nvSpPr>
                <p:cNvPr id="1769" name="Google Shape;1769;p14"/>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0" name="Google Shape;1770;p14"/>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771" name="Google Shape;1771;p14"/>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2" name="Google Shape;1772;p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3" name="Google Shape;1773;p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4" name="Google Shape;1774;p14"/>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5" name="Google Shape;1775;p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6" name="Google Shape;1776;p14"/>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7" name="Google Shape;1777;p14"/>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8" name="Google Shape;1778;p14"/>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79" name="Google Shape;1779;p14"/>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1780" name="Google Shape;1780;p14"/>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781" name="Google Shape;1781;p14"/>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pic>
          <p:nvPicPr>
            <p:cNvPr descr="Image result for firefox logo" id="1782" name="Google Shape;1782;p14"/>
            <p:cNvPicPr preferRelativeResize="0"/>
            <p:nvPr/>
          </p:nvPicPr>
          <p:blipFill rotWithShape="1">
            <a:blip r:embed="rId4">
              <a:alphaModFix/>
            </a:blip>
            <a:srcRect b="0" l="0" r="0" t="0"/>
            <a:stretch/>
          </p:blipFill>
          <p:spPr>
            <a:xfrm>
              <a:off x="4326336" y="4363319"/>
              <a:ext cx="387318" cy="362674"/>
            </a:xfrm>
            <a:prstGeom prst="rect">
              <a:avLst/>
            </a:prstGeom>
            <a:noFill/>
            <a:ln>
              <a:noFill/>
            </a:ln>
          </p:spPr>
        </p:pic>
        <p:sp>
          <p:nvSpPr>
            <p:cNvPr id="1783" name="Google Shape;1783;p14"/>
            <p:cNvSpPr txBox="1"/>
            <p:nvPr/>
          </p:nvSpPr>
          <p:spPr>
            <a:xfrm>
              <a:off x="5723493" y="3262667"/>
              <a:ext cx="126581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HTTP server</a:t>
              </a:r>
              <a:endParaRPr/>
            </a:p>
          </p:txBody>
        </p:sp>
        <p:pic>
          <p:nvPicPr>
            <p:cNvPr descr="Image result for apache web server logo" id="1784" name="Google Shape;1784;p14"/>
            <p:cNvPicPr preferRelativeResize="0"/>
            <p:nvPr/>
          </p:nvPicPr>
          <p:blipFill rotWithShape="1">
            <a:blip r:embed="rId5">
              <a:alphaModFix/>
            </a:blip>
            <a:srcRect b="0" l="0" r="0" t="0"/>
            <a:stretch/>
          </p:blipFill>
          <p:spPr>
            <a:xfrm>
              <a:off x="5649399" y="3712220"/>
              <a:ext cx="1425575" cy="629170"/>
            </a:xfrm>
            <a:prstGeom prst="rect">
              <a:avLst/>
            </a:prstGeom>
            <a:noFill/>
            <a:ln>
              <a:noFill/>
            </a:ln>
          </p:spPr>
        </p:pic>
        <p:pic>
          <p:nvPicPr>
            <p:cNvPr descr="Image result for firefox logo" id="1785" name="Google Shape;1785;p14"/>
            <p:cNvPicPr preferRelativeResize="0"/>
            <p:nvPr/>
          </p:nvPicPr>
          <p:blipFill rotWithShape="1">
            <a:blip r:embed="rId4">
              <a:alphaModFix/>
            </a:blip>
            <a:srcRect b="0" l="0" r="0" t="0"/>
            <a:stretch/>
          </p:blipFill>
          <p:spPr>
            <a:xfrm>
              <a:off x="8557699" y="4326644"/>
              <a:ext cx="387318" cy="362674"/>
            </a:xfrm>
            <a:prstGeom prst="rect">
              <a:avLst/>
            </a:prstGeom>
            <a:noFill/>
            <a:ln>
              <a:noFill/>
            </a:ln>
          </p:spPr>
        </p:pic>
        <p:pic>
          <p:nvPicPr>
            <p:cNvPr descr="Image result for skype logo" id="1786" name="Google Shape;1786;p14"/>
            <p:cNvPicPr preferRelativeResize="0"/>
            <p:nvPr/>
          </p:nvPicPr>
          <p:blipFill rotWithShape="1">
            <a:blip r:embed="rId6">
              <a:alphaModFix/>
            </a:blip>
            <a:srcRect b="0" l="0" r="0" t="0"/>
            <a:stretch/>
          </p:blipFill>
          <p:spPr>
            <a:xfrm>
              <a:off x="3374515" y="4091654"/>
              <a:ext cx="387318" cy="392958"/>
            </a:xfrm>
            <a:prstGeom prst="rect">
              <a:avLst/>
            </a:prstGeom>
            <a:noFill/>
            <a:ln>
              <a:noFill/>
            </a:ln>
          </p:spPr>
        </p:pic>
        <p:sp>
          <p:nvSpPr>
            <p:cNvPr id="1787" name="Google Shape;1787;p14"/>
            <p:cNvSpPr txBox="1"/>
            <p:nvPr/>
          </p:nvSpPr>
          <p:spPr>
            <a:xfrm>
              <a:off x="3822815" y="3627317"/>
              <a:ext cx="64236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endParaRPr/>
            </a:p>
          </p:txBody>
        </p:sp>
        <p:pic>
          <p:nvPicPr>
            <p:cNvPr descr="Image result for netflix logo png" id="1788" name="Google Shape;1788;p14"/>
            <p:cNvPicPr preferRelativeResize="0"/>
            <p:nvPr/>
          </p:nvPicPr>
          <p:blipFill rotWithShape="1">
            <a:blip r:embed="rId7">
              <a:alphaModFix/>
            </a:blip>
            <a:srcRect b="0" l="0" r="0" t="0"/>
            <a:stretch/>
          </p:blipFill>
          <p:spPr>
            <a:xfrm>
              <a:off x="3632599" y="4424842"/>
              <a:ext cx="691469" cy="388951"/>
            </a:xfrm>
            <a:prstGeom prst="rect">
              <a:avLst/>
            </a:prstGeom>
            <a:noFill/>
            <a:ln>
              <a:noFill/>
            </a:ln>
          </p:spPr>
        </p:pic>
      </p:grpSp>
      <p:sp>
        <p:nvSpPr>
          <p:cNvPr id="1789" name="Google Shape;1789;p14"/>
          <p:cNvSpPr/>
          <p:nvPr/>
        </p:nvSpPr>
        <p:spPr>
          <a:xfrm>
            <a:off x="4356586" y="4965666"/>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1790" name="Google Shape;1790;p14"/>
          <p:cNvSpPr/>
          <p:nvPr/>
        </p:nvSpPr>
        <p:spPr>
          <a:xfrm>
            <a:off x="4944218" y="2675931"/>
            <a:ext cx="2194145" cy="1745839"/>
          </a:xfrm>
          <a:prstGeom prst="rect">
            <a:avLst/>
          </a:prstGeom>
          <a:solidFill>
            <a:schemeClr val="lt1">
              <a:alpha val="8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791" name="Google Shape;1791;p14"/>
          <p:cNvCxnSpPr/>
          <p:nvPr/>
        </p:nvCxnSpPr>
        <p:spPr>
          <a:xfrm rot="10800000">
            <a:off x="3204457" y="2995594"/>
            <a:ext cx="0" cy="2502331"/>
          </a:xfrm>
          <a:prstGeom prst="straightConnector1">
            <a:avLst/>
          </a:prstGeom>
          <a:noFill/>
          <a:ln cap="flat" cmpd="sng" w="44450">
            <a:solidFill>
              <a:schemeClr val="accent1"/>
            </a:solidFill>
            <a:prstDash val="solid"/>
            <a:miter lim="800000"/>
            <a:headEnd len="sm" w="sm" type="none"/>
            <a:tailEnd len="med" w="med" type="triangle"/>
          </a:ln>
        </p:spPr>
      </p:cxnSp>
      <p:grpSp>
        <p:nvGrpSpPr>
          <p:cNvPr id="1792" name="Google Shape;1792;p14"/>
          <p:cNvGrpSpPr/>
          <p:nvPr/>
        </p:nvGrpSpPr>
        <p:grpSpPr>
          <a:xfrm>
            <a:off x="4107096" y="5561831"/>
            <a:ext cx="1651423" cy="389371"/>
            <a:chOff x="8349959" y="687487"/>
            <a:chExt cx="1651423" cy="389371"/>
          </a:xfrm>
        </p:grpSpPr>
        <p:sp>
          <p:nvSpPr>
            <p:cNvPr id="1793" name="Google Shape;1793;p14"/>
            <p:cNvSpPr/>
            <p:nvPr/>
          </p:nvSpPr>
          <p:spPr>
            <a:xfrm>
              <a:off x="8369532" y="756182"/>
              <a:ext cx="1631850" cy="266167"/>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94" name="Google Shape;1794;p14"/>
            <p:cNvSpPr txBox="1"/>
            <p:nvPr/>
          </p:nvSpPr>
          <p:spPr>
            <a:xfrm>
              <a:off x="8893175" y="707526"/>
              <a:ext cx="11082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 msg</a:t>
              </a:r>
              <a:endParaRPr/>
            </a:p>
          </p:txBody>
        </p:sp>
        <p:sp>
          <p:nvSpPr>
            <p:cNvPr id="1795" name="Google Shape;1795;p14"/>
            <p:cNvSpPr txBox="1"/>
            <p:nvPr/>
          </p:nvSpPr>
          <p:spPr>
            <a:xfrm>
              <a:off x="8593764" y="690692"/>
              <a:ext cx="3802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t</a:t>
              </a:r>
              <a:endParaRPr b="0" baseline="-25000" i="0" sz="1800" u="none" cap="none" strike="noStrike">
                <a:solidFill>
                  <a:srgbClr val="000000"/>
                </a:solidFill>
                <a:latin typeface="Calibri"/>
                <a:ea typeface="Calibri"/>
                <a:cs typeface="Calibri"/>
                <a:sym typeface="Calibri"/>
              </a:endParaRPr>
            </a:p>
          </p:txBody>
        </p:sp>
        <p:sp>
          <p:nvSpPr>
            <p:cNvPr id="1796" name="Google Shape;1796;p14"/>
            <p:cNvSpPr txBox="1"/>
            <p:nvPr/>
          </p:nvSpPr>
          <p:spPr>
            <a:xfrm>
              <a:off x="8349959" y="687487"/>
              <a:ext cx="4090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a:t>
              </a:r>
              <a:r>
                <a:rPr b="0" baseline="-25000" i="0" lang="en-US" sz="1800" u="none" cap="none" strike="noStrike">
                  <a:solidFill>
                    <a:srgbClr val="000000"/>
                  </a:solidFill>
                  <a:latin typeface="Calibri"/>
                  <a:ea typeface="Calibri"/>
                  <a:cs typeface="Calibri"/>
                  <a:sym typeface="Calibri"/>
                </a:rPr>
                <a:t>n</a:t>
              </a:r>
              <a:endParaRPr b="0" baseline="-25000" i="0" sz="1800" u="none" cap="none" strike="noStrike">
                <a:solidFill>
                  <a:srgbClr val="000000"/>
                </a:solidFill>
                <a:latin typeface="Calibri"/>
                <a:ea typeface="Calibri"/>
                <a:cs typeface="Calibri"/>
                <a:sym typeface="Calibri"/>
              </a:endParaRPr>
            </a:p>
          </p:txBody>
        </p:sp>
      </p:grpSp>
      <p:cxnSp>
        <p:nvCxnSpPr>
          <p:cNvPr id="1797" name="Google Shape;1797;p14"/>
          <p:cNvCxnSpPr/>
          <p:nvPr/>
        </p:nvCxnSpPr>
        <p:spPr>
          <a:xfrm>
            <a:off x="7011397" y="2484139"/>
            <a:ext cx="0" cy="3013786"/>
          </a:xfrm>
          <a:prstGeom prst="straightConnector1">
            <a:avLst/>
          </a:prstGeom>
          <a:noFill/>
          <a:ln cap="flat" cmpd="sng" w="44450">
            <a:solidFill>
              <a:schemeClr val="accent1"/>
            </a:solidFill>
            <a:prstDash val="solid"/>
            <a:miter lim="800000"/>
            <a:headEnd len="sm" w="sm" type="none"/>
            <a:tailEnd len="sm" w="sm" type="none"/>
          </a:ln>
        </p:spPr>
      </p:cxnSp>
      <p:cxnSp>
        <p:nvCxnSpPr>
          <p:cNvPr id="1798" name="Google Shape;1798;p14"/>
          <p:cNvCxnSpPr/>
          <p:nvPr/>
        </p:nvCxnSpPr>
        <p:spPr>
          <a:xfrm>
            <a:off x="3184573" y="5478673"/>
            <a:ext cx="3851736" cy="0"/>
          </a:xfrm>
          <a:prstGeom prst="straightConnector1">
            <a:avLst/>
          </a:prstGeom>
          <a:noFill/>
          <a:ln cap="flat" cmpd="sng" w="44450">
            <a:solidFill>
              <a:schemeClr val="accent1"/>
            </a:solidFill>
            <a:prstDash val="solid"/>
            <a:miter lim="800000"/>
            <a:headEnd len="sm" w="sm" type="none"/>
            <a:tailEnd len="sm" w="sm" type="none"/>
          </a:ln>
        </p:spPr>
      </p:cxnSp>
      <p:cxnSp>
        <p:nvCxnSpPr>
          <p:cNvPr id="1799" name="Google Shape;1799;p14"/>
          <p:cNvCxnSpPr/>
          <p:nvPr/>
        </p:nvCxnSpPr>
        <p:spPr>
          <a:xfrm rot="10800000">
            <a:off x="3701909" y="5774614"/>
            <a:ext cx="300263" cy="0"/>
          </a:xfrm>
          <a:prstGeom prst="straightConnector1">
            <a:avLst/>
          </a:prstGeom>
          <a:noFill/>
          <a:ln cap="flat" cmpd="sng" w="25400">
            <a:solidFill>
              <a:schemeClr val="accent1"/>
            </a:solidFill>
            <a:prstDash val="solid"/>
            <a:miter lim="800000"/>
            <a:headEnd len="sm" w="sm" type="none"/>
            <a:tailEnd len="med" w="med" type="triangle"/>
          </a:ln>
        </p:spPr>
      </p:cxnSp>
      <p:sp>
        <p:nvSpPr>
          <p:cNvPr id="1800" name="Google Shape;1800;p1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92"/>
                                        </p:tgtEl>
                                        <p:attrNameLst>
                                          <p:attrName>style.visibility</p:attrName>
                                        </p:attrNameLst>
                                      </p:cBhvr>
                                      <p:to>
                                        <p:strVal val="visible"/>
                                      </p:to>
                                    </p:set>
                                    <p:animEffect filter="fade" transition="in">
                                      <p:cBhvr>
                                        <p:cTn dur="500"/>
                                        <p:tgtEl>
                                          <p:spTgt spid="179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799"/>
                                        </p:tgtEl>
                                        <p:attrNameLst>
                                          <p:attrName>style.visibility</p:attrName>
                                        </p:attrNameLst>
                                      </p:cBhvr>
                                      <p:to>
                                        <p:strVal val="visible"/>
                                      </p:to>
                                    </p:set>
                                    <p:animEffect filter="fade" transition="in">
                                      <p:cBhvr>
                                        <p:cTn dur="500"/>
                                        <p:tgtEl>
                                          <p:spTgt spid="17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5" name="Shape 1805"/>
        <p:cNvGrpSpPr/>
        <p:nvPr/>
      </p:nvGrpSpPr>
      <p:grpSpPr>
        <a:xfrm>
          <a:off x="0" y="0"/>
          <a:ext cx="0" cy="0"/>
          <a:chOff x="0" y="0"/>
          <a:chExt cx="0" cy="0"/>
        </a:xfrm>
      </p:grpSpPr>
      <p:grpSp>
        <p:nvGrpSpPr>
          <p:cNvPr id="1806" name="Google Shape;1806;p15"/>
          <p:cNvGrpSpPr/>
          <p:nvPr/>
        </p:nvGrpSpPr>
        <p:grpSpPr>
          <a:xfrm>
            <a:off x="141514" y="827314"/>
            <a:ext cx="11908971" cy="4739615"/>
            <a:chOff x="2511281" y="3262667"/>
            <a:chExt cx="7770812" cy="3121540"/>
          </a:xfrm>
        </p:grpSpPr>
        <p:sp>
          <p:nvSpPr>
            <p:cNvPr id="1807" name="Google Shape;1807;p15"/>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08" name="Google Shape;1808;p15"/>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809" name="Google Shape;1809;p15"/>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810" name="Google Shape;1810;p15"/>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811" name="Google Shape;1811;p15"/>
            <p:cNvSpPr txBox="1"/>
            <p:nvPr/>
          </p:nvSpPr>
          <p:spPr>
            <a:xfrm>
              <a:off x="5698981" y="4480178"/>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812" name="Google Shape;1812;p15"/>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813" name="Google Shape;1813;p15"/>
            <p:cNvSpPr txBox="1"/>
            <p:nvPr/>
          </p:nvSpPr>
          <p:spPr>
            <a:xfrm>
              <a:off x="5692631" y="53778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814" name="Google Shape;1814;p15"/>
            <p:cNvSpPr txBox="1"/>
            <p:nvPr/>
          </p:nvSpPr>
          <p:spPr>
            <a:xfrm>
              <a:off x="5692631" y="5084965"/>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815" name="Google Shape;1815;p15"/>
            <p:cNvSpPr txBox="1"/>
            <p:nvPr/>
          </p:nvSpPr>
          <p:spPr>
            <a:xfrm>
              <a:off x="5692631" y="479368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cxnSp>
          <p:nvCxnSpPr>
            <p:cNvPr id="1816" name="Google Shape;1816;p15"/>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817" name="Google Shape;1817;p15"/>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818" name="Google Shape;1818;p15"/>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819" name="Google Shape;1819;p15"/>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820" name="Google Shape;1820;p15"/>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821" name="Google Shape;1821;p15"/>
            <p:cNvSpPr txBox="1"/>
            <p:nvPr/>
          </p:nvSpPr>
          <p:spPr>
            <a:xfrm>
              <a:off x="7846868" y="483337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822" name="Google Shape;1822;p15"/>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823" name="Google Shape;1823;p15"/>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824" name="Google Shape;1824;p15"/>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825" name="Google Shape;1825;p15"/>
            <p:cNvSpPr txBox="1"/>
            <p:nvPr/>
          </p:nvSpPr>
          <p:spPr>
            <a:xfrm>
              <a:off x="7881793" y="4037882"/>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826" name="Google Shape;1826;p15"/>
            <p:cNvSpPr txBox="1"/>
            <p:nvPr/>
          </p:nvSpPr>
          <p:spPr>
            <a:xfrm>
              <a:off x="7837343" y="574541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827" name="Google Shape;1827;p15"/>
            <p:cNvSpPr txBox="1"/>
            <p:nvPr/>
          </p:nvSpPr>
          <p:spPr>
            <a:xfrm>
              <a:off x="7849290" y="543815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828" name="Google Shape;1828;p15"/>
            <p:cNvSpPr txBox="1"/>
            <p:nvPr/>
          </p:nvSpPr>
          <p:spPr>
            <a:xfrm>
              <a:off x="7846868" y="5150053"/>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sp>
          <p:nvSpPr>
            <p:cNvPr id="1829" name="Google Shape;1829;p15"/>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30" name="Google Shape;1830;p15"/>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31" name="Google Shape;1831;p15"/>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1832" name="Google Shape;1832;p15"/>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1833" name="Google Shape;1833;p15"/>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834" name="Google Shape;1834;p15"/>
            <p:cNvSpPr txBox="1"/>
            <p:nvPr/>
          </p:nvSpPr>
          <p:spPr>
            <a:xfrm>
              <a:off x="3501881" y="484130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p:txBody>
        </p:sp>
        <p:cxnSp>
          <p:nvCxnSpPr>
            <p:cNvPr id="1835" name="Google Shape;1835;p15"/>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836" name="Google Shape;1836;p15"/>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837" name="Google Shape;1837;p15"/>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838" name="Google Shape;1838;p15"/>
            <p:cNvSpPr txBox="1"/>
            <p:nvPr/>
          </p:nvSpPr>
          <p:spPr>
            <a:xfrm>
              <a:off x="3536806" y="4045819"/>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sp>
          <p:nvSpPr>
            <p:cNvPr id="1839" name="Google Shape;1839;p15"/>
            <p:cNvSpPr txBox="1"/>
            <p:nvPr/>
          </p:nvSpPr>
          <p:spPr>
            <a:xfrm>
              <a:off x="3492356" y="5746184"/>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1840" name="Google Shape;1840;p15"/>
            <p:cNvSpPr txBox="1"/>
            <p:nvPr/>
          </p:nvSpPr>
          <p:spPr>
            <a:xfrm>
              <a:off x="3511406" y="5453266"/>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1841" name="Google Shape;1841;p15"/>
            <p:cNvSpPr txBox="1"/>
            <p:nvPr/>
          </p:nvSpPr>
          <p:spPr>
            <a:xfrm>
              <a:off x="3501881" y="5157990"/>
              <a:ext cx="1317625" cy="28996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a:t>
              </a:r>
              <a:endParaRPr/>
            </a:p>
          </p:txBody>
        </p:sp>
        <p:grpSp>
          <p:nvGrpSpPr>
            <p:cNvPr id="1842" name="Google Shape;1842;p15"/>
            <p:cNvGrpSpPr/>
            <p:nvPr/>
          </p:nvGrpSpPr>
          <p:grpSpPr>
            <a:xfrm>
              <a:off x="2511281" y="5555532"/>
              <a:ext cx="800100" cy="828675"/>
              <a:chOff x="-44" y="1473"/>
              <a:chExt cx="981" cy="1105"/>
            </a:xfrm>
          </p:grpSpPr>
          <p:pic>
            <p:nvPicPr>
              <p:cNvPr descr="desktop_computer_stylized_medium" id="1843" name="Google Shape;1843;p1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844" name="Google Shape;1844;p1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845" name="Google Shape;1845;p15"/>
            <p:cNvGrpSpPr/>
            <p:nvPr/>
          </p:nvGrpSpPr>
          <p:grpSpPr>
            <a:xfrm flipH="1">
              <a:off x="9493106" y="5469807"/>
              <a:ext cx="788987" cy="782637"/>
              <a:chOff x="-44" y="1473"/>
              <a:chExt cx="981" cy="1105"/>
            </a:xfrm>
          </p:grpSpPr>
          <p:pic>
            <p:nvPicPr>
              <p:cNvPr descr="desktop_computer_stylized_medium" id="1846" name="Google Shape;1846;p1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847" name="Google Shape;1847;p1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grpSp>
          <p:nvGrpSpPr>
            <p:cNvPr id="1848" name="Google Shape;1848;p15"/>
            <p:cNvGrpSpPr/>
            <p:nvPr/>
          </p:nvGrpSpPr>
          <p:grpSpPr>
            <a:xfrm>
              <a:off x="5083031" y="5055469"/>
              <a:ext cx="358775" cy="704850"/>
              <a:chOff x="4140" y="429"/>
              <a:chExt cx="1425" cy="2396"/>
            </a:xfrm>
          </p:grpSpPr>
          <p:sp>
            <p:nvSpPr>
              <p:cNvPr id="1849" name="Google Shape;1849;p1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50" name="Google Shape;1850;p15"/>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51" name="Google Shape;1851;p1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52" name="Google Shape;1852;p1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53" name="Google Shape;1853;p15"/>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854" name="Google Shape;1854;p15"/>
              <p:cNvGrpSpPr/>
              <p:nvPr/>
            </p:nvGrpSpPr>
            <p:grpSpPr>
              <a:xfrm>
                <a:off x="4751" y="667"/>
                <a:ext cx="580" cy="146"/>
                <a:chOff x="617" y="2567"/>
                <a:chExt cx="724" cy="140"/>
              </a:xfrm>
            </p:grpSpPr>
            <p:sp>
              <p:nvSpPr>
                <p:cNvPr id="1855" name="Google Shape;1855;p15"/>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56" name="Google Shape;1856;p15"/>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857" name="Google Shape;1857;p15"/>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858" name="Google Shape;1858;p15"/>
              <p:cNvGrpSpPr/>
              <p:nvPr/>
            </p:nvGrpSpPr>
            <p:grpSpPr>
              <a:xfrm>
                <a:off x="4745" y="996"/>
                <a:ext cx="580" cy="156"/>
                <a:chOff x="612" y="2570"/>
                <a:chExt cx="724" cy="162"/>
              </a:xfrm>
            </p:grpSpPr>
            <p:sp>
              <p:nvSpPr>
                <p:cNvPr id="1859" name="Google Shape;1859;p15"/>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60" name="Google Shape;1860;p15"/>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861" name="Google Shape;1861;p15"/>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62" name="Google Shape;1862;p15"/>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863" name="Google Shape;1863;p15"/>
              <p:cNvGrpSpPr/>
              <p:nvPr/>
            </p:nvGrpSpPr>
            <p:grpSpPr>
              <a:xfrm>
                <a:off x="4733" y="1627"/>
                <a:ext cx="586" cy="151"/>
                <a:chOff x="611" y="2568"/>
                <a:chExt cx="730" cy="139"/>
              </a:xfrm>
            </p:grpSpPr>
            <p:sp>
              <p:nvSpPr>
                <p:cNvPr id="1864" name="Google Shape;1864;p15"/>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65" name="Google Shape;1865;p15"/>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866" name="Google Shape;1866;p1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1867" name="Google Shape;1867;p15"/>
              <p:cNvGrpSpPr/>
              <p:nvPr/>
            </p:nvGrpSpPr>
            <p:grpSpPr>
              <a:xfrm>
                <a:off x="4739" y="1325"/>
                <a:ext cx="580" cy="140"/>
                <a:chOff x="614" y="2566"/>
                <a:chExt cx="723" cy="140"/>
              </a:xfrm>
            </p:grpSpPr>
            <p:sp>
              <p:nvSpPr>
                <p:cNvPr id="1868" name="Google Shape;1868;p15"/>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69" name="Google Shape;1869;p15"/>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1870" name="Google Shape;1870;p15"/>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71" name="Google Shape;1871;p1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72" name="Google Shape;1872;p1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73" name="Google Shape;1873;p15"/>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74" name="Google Shape;1874;p1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75" name="Google Shape;1875;p15"/>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76" name="Google Shape;1876;p15"/>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77" name="Google Shape;1877;p15"/>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78" name="Google Shape;1878;p15"/>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1879" name="Google Shape;1879;p15"/>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1880" name="Google Shape;1880;p15"/>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pic>
          <p:nvPicPr>
            <p:cNvPr descr="Image result for firefox logo" id="1881" name="Google Shape;1881;p15"/>
            <p:cNvPicPr preferRelativeResize="0"/>
            <p:nvPr/>
          </p:nvPicPr>
          <p:blipFill rotWithShape="1">
            <a:blip r:embed="rId4">
              <a:alphaModFix/>
            </a:blip>
            <a:srcRect b="0" l="0" r="0" t="0"/>
            <a:stretch/>
          </p:blipFill>
          <p:spPr>
            <a:xfrm>
              <a:off x="4326336" y="4363319"/>
              <a:ext cx="387318" cy="362674"/>
            </a:xfrm>
            <a:prstGeom prst="rect">
              <a:avLst/>
            </a:prstGeom>
            <a:noFill/>
            <a:ln>
              <a:noFill/>
            </a:ln>
          </p:spPr>
        </p:pic>
        <p:sp>
          <p:nvSpPr>
            <p:cNvPr id="1882" name="Google Shape;1882;p15"/>
            <p:cNvSpPr txBox="1"/>
            <p:nvPr/>
          </p:nvSpPr>
          <p:spPr>
            <a:xfrm>
              <a:off x="5723493" y="3262667"/>
              <a:ext cx="1265812" cy="380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HTTP server</a:t>
              </a:r>
              <a:endParaRPr/>
            </a:p>
          </p:txBody>
        </p:sp>
        <p:pic>
          <p:nvPicPr>
            <p:cNvPr descr="Image result for apache web server logo" id="1883" name="Google Shape;1883;p15"/>
            <p:cNvPicPr preferRelativeResize="0"/>
            <p:nvPr/>
          </p:nvPicPr>
          <p:blipFill rotWithShape="1">
            <a:blip r:embed="rId5">
              <a:alphaModFix/>
            </a:blip>
            <a:srcRect b="0" l="0" r="0" t="0"/>
            <a:stretch/>
          </p:blipFill>
          <p:spPr>
            <a:xfrm>
              <a:off x="5649399" y="3712220"/>
              <a:ext cx="1425575" cy="629170"/>
            </a:xfrm>
            <a:prstGeom prst="rect">
              <a:avLst/>
            </a:prstGeom>
            <a:noFill/>
            <a:ln>
              <a:noFill/>
            </a:ln>
          </p:spPr>
        </p:pic>
        <p:pic>
          <p:nvPicPr>
            <p:cNvPr descr="Image result for firefox logo" id="1884" name="Google Shape;1884;p15"/>
            <p:cNvPicPr preferRelativeResize="0"/>
            <p:nvPr/>
          </p:nvPicPr>
          <p:blipFill rotWithShape="1">
            <a:blip r:embed="rId4">
              <a:alphaModFix/>
            </a:blip>
            <a:srcRect b="0" l="0" r="0" t="0"/>
            <a:stretch/>
          </p:blipFill>
          <p:spPr>
            <a:xfrm>
              <a:off x="8557699" y="4326644"/>
              <a:ext cx="387318" cy="362674"/>
            </a:xfrm>
            <a:prstGeom prst="rect">
              <a:avLst/>
            </a:prstGeom>
            <a:noFill/>
            <a:ln>
              <a:noFill/>
            </a:ln>
          </p:spPr>
        </p:pic>
        <p:pic>
          <p:nvPicPr>
            <p:cNvPr descr="Image result for skype logo" id="1885" name="Google Shape;1885;p15"/>
            <p:cNvPicPr preferRelativeResize="0"/>
            <p:nvPr/>
          </p:nvPicPr>
          <p:blipFill rotWithShape="1">
            <a:blip r:embed="rId6">
              <a:alphaModFix/>
            </a:blip>
            <a:srcRect b="0" l="0" r="0" t="0"/>
            <a:stretch/>
          </p:blipFill>
          <p:spPr>
            <a:xfrm>
              <a:off x="3374515" y="4091654"/>
              <a:ext cx="387318" cy="392958"/>
            </a:xfrm>
            <a:prstGeom prst="rect">
              <a:avLst/>
            </a:prstGeom>
            <a:noFill/>
            <a:ln>
              <a:noFill/>
            </a:ln>
          </p:spPr>
        </p:pic>
        <p:sp>
          <p:nvSpPr>
            <p:cNvPr id="1886" name="Google Shape;1886;p15"/>
            <p:cNvSpPr txBox="1"/>
            <p:nvPr/>
          </p:nvSpPr>
          <p:spPr>
            <a:xfrm>
              <a:off x="3822815" y="3627317"/>
              <a:ext cx="721857" cy="3445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r>
                <a:rPr b="0" baseline="-25000" i="0" lang="en-US" sz="2800" u="none" cap="none" strike="noStrike">
                  <a:solidFill>
                    <a:srgbClr val="000000"/>
                  </a:solidFill>
                  <a:latin typeface="Calibri"/>
                  <a:ea typeface="Calibri"/>
                  <a:cs typeface="Calibri"/>
                  <a:sym typeface="Calibri"/>
                </a:rPr>
                <a:t>1</a:t>
              </a:r>
              <a:endParaRPr/>
            </a:p>
          </p:txBody>
        </p:sp>
        <p:pic>
          <p:nvPicPr>
            <p:cNvPr descr="Image result for netflix logo png" id="1887" name="Google Shape;1887;p15"/>
            <p:cNvPicPr preferRelativeResize="0"/>
            <p:nvPr/>
          </p:nvPicPr>
          <p:blipFill rotWithShape="1">
            <a:blip r:embed="rId7">
              <a:alphaModFix/>
            </a:blip>
            <a:srcRect b="0" l="0" r="0" t="0"/>
            <a:stretch/>
          </p:blipFill>
          <p:spPr>
            <a:xfrm>
              <a:off x="3632599" y="4424842"/>
              <a:ext cx="691469" cy="388951"/>
            </a:xfrm>
            <a:prstGeom prst="rect">
              <a:avLst/>
            </a:prstGeom>
            <a:noFill/>
            <a:ln>
              <a:noFill/>
            </a:ln>
          </p:spPr>
        </p:pic>
        <p:sp>
          <p:nvSpPr>
            <p:cNvPr id="1888" name="Google Shape;1888;p15"/>
            <p:cNvSpPr txBox="1"/>
            <p:nvPr/>
          </p:nvSpPr>
          <p:spPr>
            <a:xfrm>
              <a:off x="8196770" y="3636485"/>
              <a:ext cx="721857" cy="3445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client</a:t>
              </a:r>
              <a:r>
                <a:rPr b="0" baseline="-25000" i="0" lang="en-US" sz="2800" u="none" cap="none" strike="noStrike">
                  <a:solidFill>
                    <a:srgbClr val="000000"/>
                  </a:solidFill>
                  <a:latin typeface="Calibri"/>
                  <a:ea typeface="Calibri"/>
                  <a:cs typeface="Calibri"/>
                  <a:sym typeface="Calibri"/>
                </a:rPr>
                <a:t>2</a:t>
              </a:r>
              <a:endParaRPr/>
            </a:p>
          </p:txBody>
        </p:sp>
      </p:grpSp>
      <p:sp>
        <p:nvSpPr>
          <p:cNvPr id="1889" name="Google Shape;1889;p15"/>
          <p:cNvSpPr/>
          <p:nvPr/>
        </p:nvSpPr>
        <p:spPr>
          <a:xfrm>
            <a:off x="4356586" y="4965666"/>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cxnSp>
        <p:nvCxnSpPr>
          <p:cNvPr id="1890" name="Google Shape;1890;p15"/>
          <p:cNvCxnSpPr/>
          <p:nvPr/>
        </p:nvCxnSpPr>
        <p:spPr>
          <a:xfrm>
            <a:off x="9704593" y="3018504"/>
            <a:ext cx="0" cy="2329600"/>
          </a:xfrm>
          <a:prstGeom prst="straightConnector1">
            <a:avLst/>
          </a:prstGeom>
          <a:noFill/>
          <a:ln cap="flat" cmpd="sng" w="44450">
            <a:solidFill>
              <a:schemeClr val="accent1"/>
            </a:solidFill>
            <a:prstDash val="solid"/>
            <a:miter lim="800000"/>
            <a:headEnd len="sm" w="sm" type="none"/>
            <a:tailEnd len="sm" w="sm" type="none"/>
          </a:ln>
        </p:spPr>
      </p:cxnSp>
      <p:cxnSp>
        <p:nvCxnSpPr>
          <p:cNvPr id="1891" name="Google Shape;1891;p15"/>
          <p:cNvCxnSpPr/>
          <p:nvPr/>
        </p:nvCxnSpPr>
        <p:spPr>
          <a:xfrm>
            <a:off x="6146230" y="5329338"/>
            <a:ext cx="3558363" cy="0"/>
          </a:xfrm>
          <a:prstGeom prst="straightConnector1">
            <a:avLst/>
          </a:prstGeom>
          <a:noFill/>
          <a:ln cap="flat" cmpd="sng" w="44450">
            <a:solidFill>
              <a:schemeClr val="accent1"/>
            </a:solidFill>
            <a:prstDash val="solid"/>
            <a:miter lim="800000"/>
            <a:headEnd len="sm" w="sm" type="none"/>
            <a:tailEnd len="sm" w="sm" type="none"/>
          </a:ln>
        </p:spPr>
      </p:cxnSp>
      <p:sp>
        <p:nvSpPr>
          <p:cNvPr id="1892" name="Google Shape;1892;p15"/>
          <p:cNvSpPr/>
          <p:nvPr/>
        </p:nvSpPr>
        <p:spPr>
          <a:xfrm>
            <a:off x="4977190" y="1924156"/>
            <a:ext cx="1049472" cy="530701"/>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P-client</a:t>
            </a:r>
            <a:r>
              <a:rPr b="0" baseline="-25000" i="0" lang="en-US" sz="1600" u="none" cap="none" strike="noStrike">
                <a:solidFill>
                  <a:srgbClr val="000000"/>
                </a:solidFill>
                <a:latin typeface="Arial"/>
                <a:ea typeface="Arial"/>
                <a:cs typeface="Arial"/>
                <a:sym typeface="Arial"/>
              </a:rPr>
              <a:t>1</a:t>
            </a:r>
            <a:endParaRPr/>
          </a:p>
        </p:txBody>
      </p:sp>
      <p:sp>
        <p:nvSpPr>
          <p:cNvPr id="1893" name="Google Shape;1893;p15"/>
          <p:cNvSpPr/>
          <p:nvPr/>
        </p:nvSpPr>
        <p:spPr>
          <a:xfrm>
            <a:off x="6094177" y="1951196"/>
            <a:ext cx="1049472" cy="530701"/>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P-client</a:t>
            </a:r>
            <a:r>
              <a:rPr b="0" baseline="-25000" i="0" lang="en-US" sz="1600" u="none" cap="none" strike="noStrike">
                <a:solidFill>
                  <a:srgbClr val="000000"/>
                </a:solidFill>
                <a:latin typeface="Arial"/>
                <a:ea typeface="Arial"/>
                <a:cs typeface="Arial"/>
                <a:sym typeface="Arial"/>
              </a:rPr>
              <a:t>2</a:t>
            </a:r>
            <a:endParaRPr/>
          </a:p>
        </p:txBody>
      </p:sp>
      <p:sp>
        <p:nvSpPr>
          <p:cNvPr id="1894" name="Google Shape;1894;p15"/>
          <p:cNvSpPr/>
          <p:nvPr/>
        </p:nvSpPr>
        <p:spPr>
          <a:xfrm>
            <a:off x="6149438" y="2346690"/>
            <a:ext cx="163654" cy="3001414"/>
          </a:xfrm>
          <a:custGeom>
            <a:rect b="b" l="l" r="r" t="t"/>
            <a:pathLst>
              <a:path extrusionOk="0" h="3006247" w="125260">
                <a:moveTo>
                  <a:pt x="0" y="3006247"/>
                </a:moveTo>
                <a:lnTo>
                  <a:pt x="0" y="125260"/>
                </a:lnTo>
                <a:lnTo>
                  <a:pt x="125260" y="0"/>
                </a:lnTo>
              </a:path>
            </a:pathLst>
          </a:custGeom>
          <a:noFill/>
          <a:ln cap="flat" cmpd="sng" w="34925">
            <a:solidFill>
              <a:srgbClr val="0070C0"/>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95" name="Google Shape;1895;p15"/>
          <p:cNvSpPr/>
          <p:nvPr/>
        </p:nvSpPr>
        <p:spPr>
          <a:xfrm flipH="1">
            <a:off x="5797083" y="2342230"/>
            <a:ext cx="163654" cy="3099711"/>
          </a:xfrm>
          <a:custGeom>
            <a:rect b="b" l="l" r="r" t="t"/>
            <a:pathLst>
              <a:path extrusionOk="0" h="3006247" w="125260">
                <a:moveTo>
                  <a:pt x="0" y="3006247"/>
                </a:moveTo>
                <a:lnTo>
                  <a:pt x="0" y="125260"/>
                </a:lnTo>
                <a:lnTo>
                  <a:pt x="125260" y="0"/>
                </a:lnTo>
              </a:path>
            </a:pathLst>
          </a:custGeom>
          <a:noFill/>
          <a:ln cap="flat" cmpd="sng" w="38100">
            <a:solidFill>
              <a:srgbClr val="0070C0"/>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896" name="Google Shape;1896;p15"/>
          <p:cNvCxnSpPr/>
          <p:nvPr/>
        </p:nvCxnSpPr>
        <p:spPr>
          <a:xfrm>
            <a:off x="3218929" y="3094306"/>
            <a:ext cx="0" cy="2329600"/>
          </a:xfrm>
          <a:prstGeom prst="straightConnector1">
            <a:avLst/>
          </a:prstGeom>
          <a:noFill/>
          <a:ln cap="flat" cmpd="sng" w="44450">
            <a:solidFill>
              <a:schemeClr val="accent1"/>
            </a:solidFill>
            <a:prstDash val="solid"/>
            <a:miter lim="800000"/>
            <a:headEnd len="sm" w="sm" type="none"/>
            <a:tailEnd len="sm" w="sm" type="none"/>
          </a:ln>
        </p:spPr>
      </p:cxnSp>
      <p:cxnSp>
        <p:nvCxnSpPr>
          <p:cNvPr id="1897" name="Google Shape;1897;p15"/>
          <p:cNvCxnSpPr/>
          <p:nvPr/>
        </p:nvCxnSpPr>
        <p:spPr>
          <a:xfrm>
            <a:off x="3189176" y="5423906"/>
            <a:ext cx="2771561" cy="0"/>
          </a:xfrm>
          <a:prstGeom prst="straightConnector1">
            <a:avLst/>
          </a:prstGeom>
          <a:noFill/>
          <a:ln cap="flat" cmpd="sng" w="44450">
            <a:solidFill>
              <a:schemeClr val="accent1"/>
            </a:solidFill>
            <a:prstDash val="solid"/>
            <a:miter lim="800000"/>
            <a:headEnd len="sm" w="sm" type="none"/>
            <a:tailEnd len="sm" w="sm" type="none"/>
          </a:ln>
        </p:spPr>
      </p:cxnSp>
      <p:pic>
        <p:nvPicPr>
          <p:cNvPr descr="Image result for blue question mark icon" id="1898" name="Google Shape;1898;p15"/>
          <p:cNvPicPr preferRelativeResize="0"/>
          <p:nvPr/>
        </p:nvPicPr>
        <p:blipFill rotWithShape="1">
          <a:blip r:embed="rId8">
            <a:alphaModFix/>
          </a:blip>
          <a:srcRect b="0" l="0" r="0" t="0"/>
          <a:stretch/>
        </p:blipFill>
        <p:spPr>
          <a:xfrm>
            <a:off x="5285255" y="752589"/>
            <a:ext cx="1624375" cy="1624375"/>
          </a:xfrm>
          <a:prstGeom prst="rect">
            <a:avLst/>
          </a:prstGeom>
          <a:noFill/>
          <a:ln>
            <a:noFill/>
          </a:ln>
        </p:spPr>
      </p:pic>
      <p:sp>
        <p:nvSpPr>
          <p:cNvPr id="1899" name="Google Shape;1899;p1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000"/>
                                  </p:stCondLst>
                                  <p:childTnLst>
                                    <p:set>
                                      <p:cBhvr>
                                        <p:cTn dur="1" fill="hold">
                                          <p:stCondLst>
                                            <p:cond delay="0"/>
                                          </p:stCondLst>
                                        </p:cTn>
                                        <p:tgtEl>
                                          <p:spTgt spid="1898"/>
                                        </p:tgtEl>
                                        <p:attrNameLst>
                                          <p:attrName>style.visibility</p:attrName>
                                        </p:attrNameLst>
                                      </p:cBhvr>
                                      <p:to>
                                        <p:strVal val="visible"/>
                                      </p:to>
                                    </p:set>
                                    <p:animEffect filter="fade" transition="in">
                                      <p:cBhvr>
                                        <p:cTn dur="1000"/>
                                        <p:tgtEl>
                                          <p:spTgt spid="18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4" name="Shape 1904"/>
        <p:cNvGrpSpPr/>
        <p:nvPr/>
      </p:nvGrpSpPr>
      <p:grpSpPr>
        <a:xfrm>
          <a:off x="0" y="0"/>
          <a:ext cx="0" cy="0"/>
          <a:chOff x="0" y="0"/>
          <a:chExt cx="0" cy="0"/>
        </a:xfrm>
      </p:grpSpPr>
      <p:sp>
        <p:nvSpPr>
          <p:cNvPr id="1905" name="Google Shape;1905;p1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Multiplexing/demultiplexing</a:t>
            </a:r>
            <a:endParaRPr/>
          </a:p>
        </p:txBody>
      </p:sp>
      <p:sp>
        <p:nvSpPr>
          <p:cNvPr id="1906" name="Google Shape;1906;p16"/>
          <p:cNvSpPr/>
          <p:nvPr/>
        </p:nvSpPr>
        <p:spPr>
          <a:xfrm>
            <a:off x="5108431" y="357274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07" name="Google Shape;1907;p16"/>
          <p:cNvSpPr txBox="1"/>
          <p:nvPr/>
        </p:nvSpPr>
        <p:spPr>
          <a:xfrm>
            <a:off x="10348768" y="4498257"/>
            <a:ext cx="8953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sp>
        <p:nvSpPr>
          <p:cNvPr id="1908" name="Google Shape;1908;p16"/>
          <p:cNvSpPr txBox="1"/>
          <p:nvPr/>
        </p:nvSpPr>
        <p:spPr>
          <a:xfrm>
            <a:off x="10323368" y="4096619"/>
            <a:ext cx="7556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socket</a:t>
            </a:r>
            <a:endParaRPr/>
          </a:p>
        </p:txBody>
      </p:sp>
      <p:grpSp>
        <p:nvGrpSpPr>
          <p:cNvPr id="1909" name="Google Shape;1909;p16"/>
          <p:cNvGrpSpPr/>
          <p:nvPr/>
        </p:nvGrpSpPr>
        <p:grpSpPr>
          <a:xfrm>
            <a:off x="7016607" y="1655043"/>
            <a:ext cx="4836313" cy="1639889"/>
            <a:chOff x="7016607" y="1655043"/>
            <a:chExt cx="4836313" cy="1639889"/>
          </a:xfrm>
        </p:grpSpPr>
        <p:sp>
          <p:nvSpPr>
            <p:cNvPr id="1910" name="Google Shape;1910;p16"/>
            <p:cNvSpPr/>
            <p:nvPr/>
          </p:nvSpPr>
          <p:spPr>
            <a:xfrm>
              <a:off x="7016607" y="1945555"/>
              <a:ext cx="4508220" cy="1251692"/>
            </a:xfrm>
            <a:prstGeom prst="rect">
              <a:avLst/>
            </a:prstGeom>
            <a:solidFill>
              <a:schemeClr val="lt1"/>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911" name="Google Shape;1911;p16"/>
            <p:cNvGrpSpPr/>
            <p:nvPr/>
          </p:nvGrpSpPr>
          <p:grpSpPr>
            <a:xfrm>
              <a:off x="7172970" y="1655043"/>
              <a:ext cx="4679950" cy="1639889"/>
              <a:chOff x="2899" y="903"/>
              <a:chExt cx="2948" cy="1033"/>
            </a:xfrm>
          </p:grpSpPr>
          <p:sp>
            <p:nvSpPr>
              <p:cNvPr id="1912" name="Google Shape;1912;p16"/>
              <p:cNvSpPr/>
              <p:nvPr/>
            </p:nvSpPr>
            <p:spPr>
              <a:xfrm>
                <a:off x="2955" y="1148"/>
                <a:ext cx="2892" cy="788"/>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use header info to deliver</a:t>
                </a:r>
                <a:endParaRPr/>
              </a:p>
              <a:p>
                <a:pPr indent="0" lvl="0" marL="0" marR="0" rtl="0" algn="l">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received segments to correct </a:t>
                </a:r>
                <a:endParaRPr/>
              </a:p>
              <a:p>
                <a:pPr indent="0" lvl="0" marL="0" marR="0" rtl="0" algn="l">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socket</a:t>
                </a:r>
                <a:endParaRPr/>
              </a:p>
            </p:txBody>
          </p:sp>
          <p:grpSp>
            <p:nvGrpSpPr>
              <p:cNvPr id="1913" name="Google Shape;1913;p16"/>
              <p:cNvGrpSpPr/>
              <p:nvPr/>
            </p:nvGrpSpPr>
            <p:grpSpPr>
              <a:xfrm>
                <a:off x="2899" y="903"/>
                <a:ext cx="2553" cy="348"/>
                <a:chOff x="905" y="3594"/>
                <a:chExt cx="2049" cy="348"/>
              </a:xfrm>
            </p:grpSpPr>
            <p:sp>
              <p:nvSpPr>
                <p:cNvPr id="1914" name="Google Shape;1914;p16"/>
                <p:cNvSpPr/>
                <p:nvPr/>
              </p:nvSpPr>
              <p:spPr>
                <a:xfrm>
                  <a:off x="1422" y="3732"/>
                  <a:ext cx="1002" cy="21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15" name="Google Shape;1915;p16"/>
                <p:cNvSpPr txBox="1"/>
                <p:nvPr/>
              </p:nvSpPr>
              <p:spPr>
                <a:xfrm>
                  <a:off x="905" y="3594"/>
                  <a:ext cx="2049" cy="33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demultiplexing at receiver:</a:t>
                  </a:r>
                  <a:endParaRPr/>
                </a:p>
              </p:txBody>
            </p:sp>
          </p:grpSp>
        </p:grpSp>
      </p:grpSp>
      <p:grpSp>
        <p:nvGrpSpPr>
          <p:cNvPr id="1916" name="Google Shape;1916;p16"/>
          <p:cNvGrpSpPr/>
          <p:nvPr/>
        </p:nvGrpSpPr>
        <p:grpSpPr>
          <a:xfrm>
            <a:off x="9823306" y="4171232"/>
            <a:ext cx="533400" cy="206375"/>
            <a:chOff x="344" y="1846"/>
            <a:chExt cx="336" cy="130"/>
          </a:xfrm>
        </p:grpSpPr>
        <p:sp>
          <p:nvSpPr>
            <p:cNvPr id="1917" name="Google Shape;1917;p16"/>
            <p:cNvSpPr/>
            <p:nvPr/>
          </p:nvSpPr>
          <p:spPr>
            <a:xfrm>
              <a:off x="344" y="184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18" name="Google Shape;1918;p16"/>
            <p:cNvSpPr/>
            <p:nvPr/>
          </p:nvSpPr>
          <p:spPr>
            <a:xfrm>
              <a:off x="454" y="186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19" name="Google Shape;1919;p16"/>
            <p:cNvSpPr/>
            <p:nvPr/>
          </p:nvSpPr>
          <p:spPr>
            <a:xfrm>
              <a:off x="578" y="192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20" name="Google Shape;1920;p16"/>
            <p:cNvSpPr/>
            <p:nvPr/>
          </p:nvSpPr>
          <p:spPr>
            <a:xfrm>
              <a:off x="407" y="192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921" name="Google Shape;1921;p16"/>
          <p:cNvSpPr/>
          <p:nvPr/>
        </p:nvSpPr>
        <p:spPr>
          <a:xfrm>
            <a:off x="5656118" y="362354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1922" name="Google Shape;1922;p16"/>
          <p:cNvSpPr/>
          <p:nvPr/>
        </p:nvSpPr>
        <p:spPr>
          <a:xfrm>
            <a:off x="5621193" y="3677519"/>
            <a:ext cx="1473200"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1923" name="Google Shape;1923;p16"/>
          <p:cNvCxnSpPr/>
          <p:nvPr/>
        </p:nvCxnSpPr>
        <p:spPr>
          <a:xfrm>
            <a:off x="5627543" y="4447457"/>
            <a:ext cx="1460500" cy="3175"/>
          </a:xfrm>
          <a:prstGeom prst="straightConnector1">
            <a:avLst/>
          </a:prstGeom>
          <a:noFill/>
          <a:ln cap="flat" cmpd="sng" w="28575">
            <a:solidFill>
              <a:srgbClr val="000000"/>
            </a:solidFill>
            <a:prstDash val="solid"/>
            <a:round/>
            <a:headEnd len="med" w="med" type="none"/>
            <a:tailEnd len="med" w="med" type="none"/>
          </a:ln>
        </p:spPr>
      </p:cxnSp>
      <p:sp>
        <p:nvSpPr>
          <p:cNvPr id="1924" name="Google Shape;1924;p16"/>
          <p:cNvSpPr txBox="1"/>
          <p:nvPr/>
        </p:nvSpPr>
        <p:spPr>
          <a:xfrm>
            <a:off x="5698981" y="4429994"/>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1925" name="Google Shape;1925;p16"/>
          <p:cNvCxnSpPr/>
          <p:nvPr/>
        </p:nvCxnSpPr>
        <p:spPr>
          <a:xfrm>
            <a:off x="5629131" y="4764957"/>
            <a:ext cx="1457325" cy="0"/>
          </a:xfrm>
          <a:prstGeom prst="straightConnector1">
            <a:avLst/>
          </a:prstGeom>
          <a:noFill/>
          <a:ln cap="flat" cmpd="sng" w="28575">
            <a:solidFill>
              <a:srgbClr val="000000"/>
            </a:solidFill>
            <a:prstDash val="solid"/>
            <a:round/>
            <a:headEnd len="med" w="med" type="none"/>
            <a:tailEnd len="med" w="med" type="none"/>
          </a:ln>
        </p:spPr>
      </p:cxnSp>
      <p:sp>
        <p:nvSpPr>
          <p:cNvPr id="1926" name="Google Shape;1926;p16"/>
          <p:cNvSpPr txBox="1"/>
          <p:nvPr/>
        </p:nvSpPr>
        <p:spPr>
          <a:xfrm>
            <a:off x="5695806" y="364418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1927" name="Google Shape;1927;p16"/>
          <p:cNvSpPr txBox="1"/>
          <p:nvPr/>
        </p:nvSpPr>
        <p:spPr>
          <a:xfrm>
            <a:off x="5692631" y="533486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1928" name="Google Shape;1928;p16"/>
          <p:cNvSpPr txBox="1"/>
          <p:nvPr/>
        </p:nvSpPr>
        <p:spPr>
          <a:xfrm>
            <a:off x="5692631" y="504911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1929" name="Google Shape;1929;p16"/>
          <p:cNvSpPr txBox="1"/>
          <p:nvPr/>
        </p:nvSpPr>
        <p:spPr>
          <a:xfrm>
            <a:off x="5692631" y="475066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1930" name="Google Shape;1930;p16"/>
          <p:cNvSpPr/>
          <p:nvPr/>
        </p:nvSpPr>
        <p:spPr>
          <a:xfrm>
            <a:off x="6392718" y="4018832"/>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P2</a:t>
            </a:r>
            <a:endParaRPr/>
          </a:p>
        </p:txBody>
      </p:sp>
      <p:cxnSp>
        <p:nvCxnSpPr>
          <p:cNvPr id="1931" name="Google Shape;1931;p16"/>
          <p:cNvCxnSpPr/>
          <p:nvPr/>
        </p:nvCxnSpPr>
        <p:spPr>
          <a:xfrm>
            <a:off x="5625956" y="5076107"/>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1932" name="Google Shape;1932;p16"/>
          <p:cNvCxnSpPr/>
          <p:nvPr/>
        </p:nvCxnSpPr>
        <p:spPr>
          <a:xfrm>
            <a:off x="5622781" y="5374557"/>
            <a:ext cx="1457325" cy="0"/>
          </a:xfrm>
          <a:prstGeom prst="straightConnector1">
            <a:avLst/>
          </a:prstGeom>
          <a:noFill/>
          <a:ln cap="flat" cmpd="sng" w="28575">
            <a:solidFill>
              <a:srgbClr val="000000"/>
            </a:solidFill>
            <a:prstDash val="solid"/>
            <a:round/>
            <a:headEnd len="med" w="med" type="none"/>
            <a:tailEnd len="med" w="med" type="none"/>
          </a:ln>
        </p:spPr>
      </p:cxnSp>
      <p:sp>
        <p:nvSpPr>
          <p:cNvPr id="1933" name="Google Shape;1933;p16"/>
          <p:cNvSpPr/>
          <p:nvPr/>
        </p:nvSpPr>
        <p:spPr>
          <a:xfrm>
            <a:off x="5687868" y="4018832"/>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P1</a:t>
            </a:r>
            <a:endParaRPr/>
          </a:p>
        </p:txBody>
      </p:sp>
      <p:grpSp>
        <p:nvGrpSpPr>
          <p:cNvPr id="1934" name="Google Shape;1934;p16"/>
          <p:cNvGrpSpPr/>
          <p:nvPr/>
        </p:nvGrpSpPr>
        <p:grpSpPr>
          <a:xfrm>
            <a:off x="6468918" y="4377607"/>
            <a:ext cx="412750" cy="158750"/>
            <a:chOff x="1383" y="2620"/>
            <a:chExt cx="260" cy="100"/>
          </a:xfrm>
        </p:grpSpPr>
        <p:sp>
          <p:nvSpPr>
            <p:cNvPr id="1935" name="Google Shape;1935;p16"/>
            <p:cNvSpPr/>
            <p:nvPr/>
          </p:nvSpPr>
          <p:spPr>
            <a:xfrm>
              <a:off x="1383" y="2620"/>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36" name="Google Shape;1936;p16"/>
            <p:cNvSpPr/>
            <p:nvPr/>
          </p:nvSpPr>
          <p:spPr>
            <a:xfrm>
              <a:off x="1434" y="2633"/>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37" name="Google Shape;1937;p16"/>
            <p:cNvSpPr/>
            <p:nvPr/>
          </p:nvSpPr>
          <p:spPr>
            <a:xfrm>
              <a:off x="1599" y="2678"/>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38" name="Google Shape;1938;p16"/>
            <p:cNvSpPr/>
            <p:nvPr/>
          </p:nvSpPr>
          <p:spPr>
            <a:xfrm>
              <a:off x="1394" y="2679"/>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939" name="Google Shape;1939;p16"/>
          <p:cNvGrpSpPr/>
          <p:nvPr/>
        </p:nvGrpSpPr>
        <p:grpSpPr>
          <a:xfrm>
            <a:off x="5767243" y="4369669"/>
            <a:ext cx="412750" cy="158750"/>
            <a:chOff x="1383" y="2620"/>
            <a:chExt cx="260" cy="100"/>
          </a:xfrm>
        </p:grpSpPr>
        <p:sp>
          <p:nvSpPr>
            <p:cNvPr id="1940" name="Google Shape;1940;p16"/>
            <p:cNvSpPr/>
            <p:nvPr/>
          </p:nvSpPr>
          <p:spPr>
            <a:xfrm>
              <a:off x="1383" y="2620"/>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1" name="Google Shape;1941;p16"/>
            <p:cNvSpPr/>
            <p:nvPr/>
          </p:nvSpPr>
          <p:spPr>
            <a:xfrm>
              <a:off x="1434" y="2633"/>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2" name="Google Shape;1942;p16"/>
            <p:cNvSpPr/>
            <p:nvPr/>
          </p:nvSpPr>
          <p:spPr>
            <a:xfrm>
              <a:off x="1599" y="2678"/>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43" name="Google Shape;1943;p16"/>
            <p:cNvSpPr/>
            <p:nvPr/>
          </p:nvSpPr>
          <p:spPr>
            <a:xfrm>
              <a:off x="1394" y="2679"/>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944" name="Google Shape;1944;p16"/>
          <p:cNvSpPr/>
          <p:nvPr/>
        </p:nvSpPr>
        <p:spPr>
          <a:xfrm>
            <a:off x="7918306" y="3993432"/>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1945" name="Google Shape;1945;p16"/>
          <p:cNvSpPr/>
          <p:nvPr/>
        </p:nvSpPr>
        <p:spPr>
          <a:xfrm>
            <a:off x="7880206" y="4047407"/>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1946" name="Google Shape;1946;p16"/>
          <p:cNvCxnSpPr/>
          <p:nvPr/>
        </p:nvCxnSpPr>
        <p:spPr>
          <a:xfrm>
            <a:off x="7889731" y="4807819"/>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947" name="Google Shape;1947;p16"/>
          <p:cNvSpPr txBox="1"/>
          <p:nvPr/>
        </p:nvSpPr>
        <p:spPr>
          <a:xfrm>
            <a:off x="7846868" y="4790357"/>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1948" name="Google Shape;1948;p16"/>
          <p:cNvCxnSpPr/>
          <p:nvPr/>
        </p:nvCxnSpPr>
        <p:spPr>
          <a:xfrm>
            <a:off x="7897668" y="51284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949" name="Google Shape;1949;p16"/>
          <p:cNvCxnSpPr/>
          <p:nvPr/>
        </p:nvCxnSpPr>
        <p:spPr>
          <a:xfrm>
            <a:off x="7883381" y="5438057"/>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950" name="Google Shape;1950;p16"/>
          <p:cNvCxnSpPr/>
          <p:nvPr/>
        </p:nvCxnSpPr>
        <p:spPr>
          <a:xfrm>
            <a:off x="7883381" y="572380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951" name="Google Shape;1951;p16"/>
          <p:cNvSpPr txBox="1"/>
          <p:nvPr/>
        </p:nvSpPr>
        <p:spPr>
          <a:xfrm>
            <a:off x="7881793" y="403788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1952" name="Google Shape;1952;p16"/>
          <p:cNvSpPr txBox="1"/>
          <p:nvPr/>
        </p:nvSpPr>
        <p:spPr>
          <a:xfrm>
            <a:off x="7837343" y="569523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1953" name="Google Shape;1953;p16"/>
          <p:cNvSpPr txBox="1"/>
          <p:nvPr/>
        </p:nvSpPr>
        <p:spPr>
          <a:xfrm>
            <a:off x="7856393" y="5409482"/>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1954" name="Google Shape;1954;p16"/>
          <p:cNvSpPr txBox="1"/>
          <p:nvPr/>
        </p:nvSpPr>
        <p:spPr>
          <a:xfrm>
            <a:off x="7846868" y="5114207"/>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1955" name="Google Shape;1955;p16"/>
          <p:cNvSpPr/>
          <p:nvPr/>
        </p:nvSpPr>
        <p:spPr>
          <a:xfrm>
            <a:off x="8216756" y="4379194"/>
            <a:ext cx="598487"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P4</a:t>
            </a:r>
            <a:endParaRPr/>
          </a:p>
        </p:txBody>
      </p:sp>
      <p:sp>
        <p:nvSpPr>
          <p:cNvPr id="1956" name="Google Shape;1956;p16"/>
          <p:cNvSpPr/>
          <p:nvPr/>
        </p:nvSpPr>
        <p:spPr>
          <a:xfrm>
            <a:off x="9166081" y="4025182"/>
            <a:ext cx="581025" cy="20383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57" name="Google Shape;1957;p16"/>
          <p:cNvSpPr/>
          <p:nvPr/>
        </p:nvSpPr>
        <p:spPr>
          <a:xfrm>
            <a:off x="2976418" y="4045819"/>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58" name="Google Shape;1958;p16"/>
          <p:cNvSpPr/>
          <p:nvPr/>
        </p:nvSpPr>
        <p:spPr>
          <a:xfrm>
            <a:off x="3573318" y="400136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1959" name="Google Shape;1959;p16"/>
          <p:cNvSpPr/>
          <p:nvPr/>
        </p:nvSpPr>
        <p:spPr>
          <a:xfrm>
            <a:off x="3535218" y="4055344"/>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1960" name="Google Shape;1960;p16"/>
          <p:cNvCxnSpPr/>
          <p:nvPr/>
        </p:nvCxnSpPr>
        <p:spPr>
          <a:xfrm>
            <a:off x="3544743" y="4815757"/>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961" name="Google Shape;1961;p16"/>
          <p:cNvSpPr txBox="1"/>
          <p:nvPr/>
        </p:nvSpPr>
        <p:spPr>
          <a:xfrm>
            <a:off x="3501881" y="4798294"/>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1962" name="Google Shape;1962;p16"/>
          <p:cNvCxnSpPr/>
          <p:nvPr/>
        </p:nvCxnSpPr>
        <p:spPr>
          <a:xfrm>
            <a:off x="3552681" y="513643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963" name="Google Shape;1963;p16"/>
          <p:cNvCxnSpPr/>
          <p:nvPr/>
        </p:nvCxnSpPr>
        <p:spPr>
          <a:xfrm>
            <a:off x="3538393" y="544599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1964" name="Google Shape;1964;p16"/>
          <p:cNvCxnSpPr/>
          <p:nvPr/>
        </p:nvCxnSpPr>
        <p:spPr>
          <a:xfrm>
            <a:off x="3538393" y="573174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1965" name="Google Shape;1965;p16"/>
          <p:cNvSpPr txBox="1"/>
          <p:nvPr/>
        </p:nvSpPr>
        <p:spPr>
          <a:xfrm>
            <a:off x="3536806" y="404581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1966" name="Google Shape;1966;p16"/>
          <p:cNvSpPr txBox="1"/>
          <p:nvPr/>
        </p:nvSpPr>
        <p:spPr>
          <a:xfrm>
            <a:off x="3492356" y="570316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1967" name="Google Shape;1967;p16"/>
          <p:cNvSpPr txBox="1"/>
          <p:nvPr/>
        </p:nvSpPr>
        <p:spPr>
          <a:xfrm>
            <a:off x="3511406" y="5417419"/>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1968" name="Google Shape;1968;p16"/>
          <p:cNvSpPr txBox="1"/>
          <p:nvPr/>
        </p:nvSpPr>
        <p:spPr>
          <a:xfrm>
            <a:off x="3501881" y="5122144"/>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1969" name="Google Shape;1969;p16"/>
          <p:cNvSpPr/>
          <p:nvPr/>
        </p:nvSpPr>
        <p:spPr>
          <a:xfrm>
            <a:off x="3871768" y="4387132"/>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P3</a:t>
            </a:r>
            <a:endParaRPr/>
          </a:p>
        </p:txBody>
      </p:sp>
      <p:grpSp>
        <p:nvGrpSpPr>
          <p:cNvPr id="1970" name="Google Shape;1970;p16"/>
          <p:cNvGrpSpPr/>
          <p:nvPr/>
        </p:nvGrpSpPr>
        <p:grpSpPr>
          <a:xfrm>
            <a:off x="3962256" y="4725269"/>
            <a:ext cx="412750" cy="158750"/>
            <a:chOff x="1287" y="2524"/>
            <a:chExt cx="260" cy="100"/>
          </a:xfrm>
        </p:grpSpPr>
        <p:sp>
          <p:nvSpPr>
            <p:cNvPr id="1971" name="Google Shape;1971;p16"/>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72" name="Google Shape;1972;p16"/>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73" name="Google Shape;1973;p16"/>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74" name="Google Shape;1974;p16"/>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975" name="Google Shape;1975;p16"/>
          <p:cNvGrpSpPr/>
          <p:nvPr/>
        </p:nvGrpSpPr>
        <p:grpSpPr>
          <a:xfrm>
            <a:off x="8302481" y="4723682"/>
            <a:ext cx="412750" cy="158750"/>
            <a:chOff x="1287" y="2524"/>
            <a:chExt cx="260" cy="100"/>
          </a:xfrm>
        </p:grpSpPr>
        <p:sp>
          <p:nvSpPr>
            <p:cNvPr id="1976" name="Google Shape;1976;p16"/>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77" name="Google Shape;1977;p16"/>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78" name="Google Shape;1978;p16"/>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79" name="Google Shape;1979;p16"/>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980" name="Google Shape;1980;p16"/>
          <p:cNvSpPr/>
          <p:nvPr/>
        </p:nvSpPr>
        <p:spPr>
          <a:xfrm>
            <a:off x="6349856" y="4425232"/>
            <a:ext cx="2173287" cy="1989137"/>
          </a:xfrm>
          <a:custGeom>
            <a:rect b="b" l="l" r="r" t="t"/>
            <a:pathLst>
              <a:path extrusionOk="0" h="1253" w="1369">
                <a:moveTo>
                  <a:pt x="1369" y="216"/>
                </a:moveTo>
                <a:lnTo>
                  <a:pt x="1362" y="1252"/>
                </a:lnTo>
                <a:lnTo>
                  <a:pt x="16" y="1253"/>
                </a:lnTo>
                <a:lnTo>
                  <a:pt x="0" y="121"/>
                </a:lnTo>
                <a:lnTo>
                  <a:pt x="191" y="0"/>
                </a:lnTo>
              </a:path>
            </a:pathLst>
          </a:custGeom>
          <a:noFill/>
          <a:ln cap="flat" cmpd="sng" w="19050">
            <a:solidFill>
              <a:srgbClr val="000099"/>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81" name="Google Shape;1981;p16"/>
          <p:cNvSpPr/>
          <p:nvPr/>
        </p:nvSpPr>
        <p:spPr>
          <a:xfrm>
            <a:off x="6468918" y="4456982"/>
            <a:ext cx="1984375" cy="1876425"/>
          </a:xfrm>
          <a:custGeom>
            <a:rect b="b" l="l" r="r" t="t"/>
            <a:pathLst>
              <a:path extrusionOk="0" h="1182" w="1250">
                <a:moveTo>
                  <a:pt x="1250" y="190"/>
                </a:moveTo>
                <a:lnTo>
                  <a:pt x="1244" y="1182"/>
                </a:lnTo>
                <a:lnTo>
                  <a:pt x="19" y="1181"/>
                </a:lnTo>
                <a:lnTo>
                  <a:pt x="0" y="155"/>
                </a:lnTo>
                <a:lnTo>
                  <a:pt x="171" y="0"/>
                </a:lnTo>
              </a:path>
            </a:pathLst>
          </a:custGeom>
          <a:noFill/>
          <a:ln cap="flat" cmpd="sng" w="19050">
            <a:solidFill>
              <a:srgbClr val="000099"/>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82" name="Google Shape;1982;p16"/>
          <p:cNvSpPr/>
          <p:nvPr/>
        </p:nvSpPr>
        <p:spPr>
          <a:xfrm>
            <a:off x="9809018" y="4536357"/>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omic Sans MS"/>
              <a:ea typeface="Comic Sans MS"/>
              <a:cs typeface="Comic Sans MS"/>
              <a:sym typeface="Comic Sans MS"/>
            </a:endParaRPr>
          </a:p>
        </p:txBody>
      </p:sp>
      <p:grpSp>
        <p:nvGrpSpPr>
          <p:cNvPr id="1983" name="Google Shape;1983;p16"/>
          <p:cNvGrpSpPr/>
          <p:nvPr/>
        </p:nvGrpSpPr>
        <p:grpSpPr>
          <a:xfrm>
            <a:off x="6060931" y="4663331"/>
            <a:ext cx="555332" cy="71510"/>
            <a:chOff x="1420065" y="5012608"/>
            <a:chExt cx="555332" cy="71510"/>
          </a:xfrm>
        </p:grpSpPr>
        <p:sp>
          <p:nvSpPr>
            <p:cNvPr id="1984" name="Google Shape;1984;p16"/>
            <p:cNvSpPr/>
            <p:nvPr/>
          </p:nvSpPr>
          <p:spPr>
            <a:xfrm>
              <a:off x="1420065" y="5012608"/>
              <a:ext cx="196850" cy="69850"/>
            </a:xfrm>
            <a:prstGeom prst="ellipse">
              <a:avLst/>
            </a:pr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85" name="Google Shape;1985;p16"/>
            <p:cNvSpPr/>
            <p:nvPr/>
          </p:nvSpPr>
          <p:spPr>
            <a:xfrm>
              <a:off x="1778547" y="5014268"/>
              <a:ext cx="196850" cy="69850"/>
            </a:xfrm>
            <a:prstGeom prst="ellipse">
              <a:avLst/>
            </a:pr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986" name="Google Shape;1986;p16"/>
          <p:cNvSpPr/>
          <p:nvPr/>
        </p:nvSpPr>
        <p:spPr>
          <a:xfrm>
            <a:off x="5311630" y="3275882"/>
            <a:ext cx="688975" cy="1435100"/>
          </a:xfrm>
          <a:custGeom>
            <a:rect b="b" l="l" r="r" t="t"/>
            <a:pathLst>
              <a:path extrusionOk="0" h="904" w="434">
                <a:moveTo>
                  <a:pt x="434" y="904"/>
                </a:moveTo>
                <a:lnTo>
                  <a:pt x="2" y="902"/>
                </a:lnTo>
                <a:lnTo>
                  <a:pt x="0" y="0"/>
                </a:lnTo>
              </a:path>
            </a:pathLst>
          </a:custGeom>
          <a:noFill/>
          <a:ln cap="flat" cmpd="sng" w="19050">
            <a:solidFill>
              <a:srgbClr val="CC0000"/>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987" name="Google Shape;1987;p16"/>
          <p:cNvGrpSpPr/>
          <p:nvPr/>
        </p:nvGrpSpPr>
        <p:grpSpPr>
          <a:xfrm>
            <a:off x="6211743" y="3239369"/>
            <a:ext cx="1047750" cy="1441450"/>
            <a:chOff x="2432" y="1758"/>
            <a:chExt cx="660" cy="908"/>
          </a:xfrm>
        </p:grpSpPr>
        <p:sp>
          <p:nvSpPr>
            <p:cNvPr id="1988" name="Google Shape;1988;p16"/>
            <p:cNvSpPr/>
            <p:nvPr/>
          </p:nvSpPr>
          <p:spPr>
            <a:xfrm>
              <a:off x="2432" y="2564"/>
              <a:ext cx="144" cy="102"/>
            </a:xfrm>
            <a:prstGeom prst="ellipse">
              <a:avLst/>
            </a:pr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89" name="Google Shape;1989;p16"/>
            <p:cNvSpPr/>
            <p:nvPr/>
          </p:nvSpPr>
          <p:spPr>
            <a:xfrm>
              <a:off x="2506" y="1758"/>
              <a:ext cx="586" cy="810"/>
            </a:xfrm>
            <a:custGeom>
              <a:rect b="b" l="l" r="r" t="t"/>
              <a:pathLst>
                <a:path extrusionOk="0" h="810" w="586">
                  <a:moveTo>
                    <a:pt x="0" y="810"/>
                  </a:moveTo>
                  <a:lnTo>
                    <a:pt x="2" y="808"/>
                  </a:lnTo>
                  <a:lnTo>
                    <a:pt x="2" y="170"/>
                  </a:lnTo>
                  <a:lnTo>
                    <a:pt x="586" y="0"/>
                  </a:lnTo>
                </a:path>
              </a:pathLst>
            </a:custGeom>
            <a:noFill/>
            <a:ln cap="flat" cmpd="sng" w="12700">
              <a:solidFill>
                <a:srgbClr val="CC0000"/>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990" name="Google Shape;1990;p16"/>
          <p:cNvGrpSpPr/>
          <p:nvPr/>
        </p:nvGrpSpPr>
        <p:grpSpPr>
          <a:xfrm>
            <a:off x="2511281" y="5555532"/>
            <a:ext cx="800100" cy="828675"/>
            <a:chOff x="-44" y="1473"/>
            <a:chExt cx="981" cy="1105"/>
          </a:xfrm>
        </p:grpSpPr>
        <p:pic>
          <p:nvPicPr>
            <p:cNvPr descr="desktop_computer_stylized_medium" id="1991" name="Google Shape;1991;p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992" name="Google Shape;1992;p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993" name="Google Shape;1993;p16"/>
          <p:cNvGrpSpPr/>
          <p:nvPr/>
        </p:nvGrpSpPr>
        <p:grpSpPr>
          <a:xfrm flipH="1">
            <a:off x="9493106" y="5469807"/>
            <a:ext cx="788987" cy="782637"/>
            <a:chOff x="-44" y="1473"/>
            <a:chExt cx="981" cy="1105"/>
          </a:xfrm>
        </p:grpSpPr>
        <p:pic>
          <p:nvPicPr>
            <p:cNvPr descr="desktop_computer_stylized_medium" id="1994" name="Google Shape;1994;p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995" name="Google Shape;1995;p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996" name="Google Shape;1996;p16"/>
          <p:cNvGrpSpPr/>
          <p:nvPr/>
        </p:nvGrpSpPr>
        <p:grpSpPr>
          <a:xfrm>
            <a:off x="5083031" y="5055469"/>
            <a:ext cx="358775" cy="704850"/>
            <a:chOff x="4140" y="429"/>
            <a:chExt cx="1425" cy="2396"/>
          </a:xfrm>
        </p:grpSpPr>
        <p:sp>
          <p:nvSpPr>
            <p:cNvPr id="1997" name="Google Shape;1997;p1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98" name="Google Shape;1998;p16"/>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99" name="Google Shape;1999;p1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00" name="Google Shape;2000;p1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01" name="Google Shape;2001;p16"/>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002" name="Google Shape;2002;p16"/>
            <p:cNvGrpSpPr/>
            <p:nvPr/>
          </p:nvGrpSpPr>
          <p:grpSpPr>
            <a:xfrm>
              <a:off x="4751" y="667"/>
              <a:ext cx="580" cy="146"/>
              <a:chOff x="617" y="2567"/>
              <a:chExt cx="724" cy="140"/>
            </a:xfrm>
          </p:grpSpPr>
          <p:sp>
            <p:nvSpPr>
              <p:cNvPr id="2003" name="Google Shape;2003;p16"/>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04" name="Google Shape;2004;p16"/>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005" name="Google Shape;2005;p16"/>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006" name="Google Shape;2006;p16"/>
            <p:cNvGrpSpPr/>
            <p:nvPr/>
          </p:nvGrpSpPr>
          <p:grpSpPr>
            <a:xfrm>
              <a:off x="4745" y="996"/>
              <a:ext cx="580" cy="156"/>
              <a:chOff x="612" y="2570"/>
              <a:chExt cx="724" cy="162"/>
            </a:xfrm>
          </p:grpSpPr>
          <p:sp>
            <p:nvSpPr>
              <p:cNvPr id="2007" name="Google Shape;2007;p16"/>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08" name="Google Shape;2008;p16"/>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009" name="Google Shape;2009;p16"/>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10" name="Google Shape;2010;p16"/>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011" name="Google Shape;2011;p16"/>
            <p:cNvGrpSpPr/>
            <p:nvPr/>
          </p:nvGrpSpPr>
          <p:grpSpPr>
            <a:xfrm>
              <a:off x="4733" y="1627"/>
              <a:ext cx="586" cy="151"/>
              <a:chOff x="611" y="2568"/>
              <a:chExt cx="730" cy="139"/>
            </a:xfrm>
          </p:grpSpPr>
          <p:sp>
            <p:nvSpPr>
              <p:cNvPr id="2012" name="Google Shape;2012;p16"/>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13" name="Google Shape;2013;p16"/>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014" name="Google Shape;2014;p1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015" name="Google Shape;2015;p16"/>
            <p:cNvGrpSpPr/>
            <p:nvPr/>
          </p:nvGrpSpPr>
          <p:grpSpPr>
            <a:xfrm>
              <a:off x="4739" y="1325"/>
              <a:ext cx="580" cy="140"/>
              <a:chOff x="614" y="2566"/>
              <a:chExt cx="723" cy="140"/>
            </a:xfrm>
          </p:grpSpPr>
          <p:sp>
            <p:nvSpPr>
              <p:cNvPr id="2016" name="Google Shape;2016;p16"/>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17" name="Google Shape;2017;p16"/>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018" name="Google Shape;2018;p16"/>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19" name="Google Shape;2019;p1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0" name="Google Shape;2020;p1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1" name="Google Shape;2021;p16"/>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2" name="Google Shape;2022;p1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3" name="Google Shape;2023;p16"/>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4" name="Google Shape;2024;p16"/>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5" name="Google Shape;2025;p16"/>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6" name="Google Shape;2026;p16"/>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027" name="Google Shape;2027;p16"/>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8" name="Google Shape;2028;p16"/>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029" name="Google Shape;2029;p16"/>
          <p:cNvGrpSpPr/>
          <p:nvPr/>
        </p:nvGrpSpPr>
        <p:grpSpPr>
          <a:xfrm>
            <a:off x="1183088" y="1563001"/>
            <a:ext cx="4826032" cy="1719654"/>
            <a:chOff x="5" y="727"/>
            <a:chExt cx="2460" cy="1047"/>
          </a:xfrm>
        </p:grpSpPr>
        <p:sp>
          <p:nvSpPr>
            <p:cNvPr id="2030" name="Google Shape;2030;p16"/>
            <p:cNvSpPr txBox="1"/>
            <p:nvPr/>
          </p:nvSpPr>
          <p:spPr>
            <a:xfrm>
              <a:off x="133" y="1101"/>
              <a:ext cx="2332" cy="621"/>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handle data from multiple</a:t>
              </a:r>
              <a:endParaRPr/>
            </a:p>
            <a:p>
              <a:pPr indent="0" lvl="0" marL="0" marR="0" rtl="0" algn="l">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sockets, add transport header (later used for demultiplexing)</a:t>
              </a:r>
              <a:endParaRPr/>
            </a:p>
          </p:txBody>
        </p:sp>
        <p:sp>
          <p:nvSpPr>
            <p:cNvPr id="2031" name="Google Shape;2031;p16"/>
            <p:cNvSpPr/>
            <p:nvPr/>
          </p:nvSpPr>
          <p:spPr>
            <a:xfrm>
              <a:off x="5" y="901"/>
              <a:ext cx="2298" cy="873"/>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2032" name="Google Shape;2032;p16"/>
            <p:cNvGrpSpPr/>
            <p:nvPr/>
          </p:nvGrpSpPr>
          <p:grpSpPr>
            <a:xfrm>
              <a:off x="91" y="727"/>
              <a:ext cx="1854" cy="375"/>
              <a:chOff x="869" y="3567"/>
              <a:chExt cx="1780" cy="375"/>
            </a:xfrm>
          </p:grpSpPr>
          <p:sp>
            <p:nvSpPr>
              <p:cNvPr id="2033" name="Google Shape;2033;p16"/>
              <p:cNvSpPr/>
              <p:nvPr/>
            </p:nvSpPr>
            <p:spPr>
              <a:xfrm>
                <a:off x="1422" y="3732"/>
                <a:ext cx="1006" cy="2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2034" name="Google Shape;2034;p16"/>
              <p:cNvSpPr txBox="1"/>
              <p:nvPr/>
            </p:nvSpPr>
            <p:spPr>
              <a:xfrm>
                <a:off x="869" y="3567"/>
                <a:ext cx="1780" cy="33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multiplexing at sender:</a:t>
                </a:r>
                <a:endParaRPr/>
              </a:p>
            </p:txBody>
          </p:sp>
        </p:grpSp>
      </p:grpSp>
      <p:sp>
        <p:nvSpPr>
          <p:cNvPr id="2035" name="Google Shape;2035;p16"/>
          <p:cNvSpPr/>
          <p:nvPr/>
        </p:nvSpPr>
        <p:spPr>
          <a:xfrm>
            <a:off x="4198793" y="4458569"/>
            <a:ext cx="1962150" cy="1897063"/>
          </a:xfrm>
          <a:custGeom>
            <a:rect b="b" l="l" r="r" t="t"/>
            <a:pathLst>
              <a:path extrusionOk="0" h="1195" w="1236">
                <a:moveTo>
                  <a:pt x="0" y="202"/>
                </a:moveTo>
                <a:lnTo>
                  <a:pt x="6" y="1194"/>
                </a:lnTo>
                <a:lnTo>
                  <a:pt x="1236" y="1195"/>
                </a:lnTo>
                <a:lnTo>
                  <a:pt x="1227" y="150"/>
                </a:lnTo>
                <a:lnTo>
                  <a:pt x="1069" y="0"/>
                </a:lnTo>
              </a:path>
            </a:pathLst>
          </a:custGeom>
          <a:noFill/>
          <a:ln cap="flat" cmpd="sng" w="19050">
            <a:solidFill>
              <a:srgbClr val="000099"/>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36" name="Google Shape;2036;p16"/>
          <p:cNvSpPr/>
          <p:nvPr/>
        </p:nvSpPr>
        <p:spPr>
          <a:xfrm>
            <a:off x="4135293" y="4433169"/>
            <a:ext cx="2160588" cy="1989138"/>
          </a:xfrm>
          <a:custGeom>
            <a:rect b="b" l="l" r="r" t="t"/>
            <a:pathLst>
              <a:path extrusionOk="0" h="1253" w="1361">
                <a:moveTo>
                  <a:pt x="0" y="216"/>
                </a:moveTo>
                <a:lnTo>
                  <a:pt x="7" y="1252"/>
                </a:lnTo>
                <a:lnTo>
                  <a:pt x="1320" y="1253"/>
                </a:lnTo>
                <a:lnTo>
                  <a:pt x="1361" y="1252"/>
                </a:lnTo>
                <a:lnTo>
                  <a:pt x="1353" y="114"/>
                </a:lnTo>
                <a:lnTo>
                  <a:pt x="1178" y="0"/>
                </a:lnTo>
              </a:path>
            </a:pathLst>
          </a:custGeom>
          <a:noFill/>
          <a:ln cap="flat" cmpd="sng" w="19050">
            <a:solidFill>
              <a:srgbClr val="000099"/>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037" name="Google Shape;2037;p16"/>
          <p:cNvGrpSpPr/>
          <p:nvPr/>
        </p:nvGrpSpPr>
        <p:grpSpPr>
          <a:xfrm>
            <a:off x="4455343" y="4186543"/>
            <a:ext cx="3740163" cy="385304"/>
            <a:chOff x="4455343" y="4186543"/>
            <a:chExt cx="3740163" cy="385304"/>
          </a:xfrm>
        </p:grpSpPr>
        <p:sp>
          <p:nvSpPr>
            <p:cNvPr id="2038" name="Google Shape;2038;p16"/>
            <p:cNvSpPr/>
            <p:nvPr/>
          </p:nvSpPr>
          <p:spPr>
            <a:xfrm rot="-778188">
              <a:off x="4450940" y="4321755"/>
              <a:ext cx="1216152" cy="99004"/>
            </a:xfrm>
            <a:prstGeom prst="leftRightArrow">
              <a:avLst>
                <a:gd fmla="val 50000" name="adj1"/>
                <a:gd fmla="val 50000" name="adj2"/>
              </a:avLst>
            </a:prstGeom>
            <a:solidFill>
              <a:srgbClr val="000090"/>
            </a:solidFill>
            <a:ln cap="flat" cmpd="sng" w="9525">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39" name="Google Shape;2039;p16"/>
            <p:cNvSpPr/>
            <p:nvPr/>
          </p:nvSpPr>
          <p:spPr>
            <a:xfrm flipH="1" rot="-10021812">
              <a:off x="6983757" y="4337631"/>
              <a:ext cx="1216152" cy="99004"/>
            </a:xfrm>
            <a:prstGeom prst="leftRightArrow">
              <a:avLst>
                <a:gd fmla="val 50000" name="adj1"/>
                <a:gd fmla="val 50000" name="adj2"/>
              </a:avLst>
            </a:prstGeom>
            <a:solidFill>
              <a:srgbClr val="000090"/>
            </a:solidFill>
            <a:ln cap="flat" cmpd="sng" w="9525">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040" name="Google Shape;2040;p1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7"/>
                                        </p:tgtEl>
                                        <p:attrNameLst>
                                          <p:attrName>style.visibility</p:attrName>
                                        </p:attrNameLst>
                                      </p:cBhvr>
                                      <p:to>
                                        <p:strVal val="visible"/>
                                      </p:to>
                                    </p:set>
                                    <p:animEffect filter="fade" transition="in">
                                      <p:cBhvr>
                                        <p:cTn dur="500"/>
                                        <p:tgtEl>
                                          <p:spTgt spid="20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037"/>
                                        </p:tgtEl>
                                      </p:cBhvr>
                                    </p:animEffect>
                                    <p:set>
                                      <p:cBhvr>
                                        <p:cTn dur="1" fill="hold">
                                          <p:stCondLst>
                                            <p:cond delay="500"/>
                                          </p:stCondLst>
                                        </p:cTn>
                                        <p:tgtEl>
                                          <p:spTgt spid="203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029"/>
                                        </p:tgtEl>
                                        <p:attrNameLst>
                                          <p:attrName>style.visibility</p:attrName>
                                        </p:attrNameLst>
                                      </p:cBhvr>
                                      <p:to>
                                        <p:strVal val="visible"/>
                                      </p:to>
                                    </p:set>
                                    <p:animEffect filter="fade" transition="in">
                                      <p:cBhvr>
                                        <p:cTn dur="500"/>
                                        <p:tgtEl>
                                          <p:spTgt spid="2029"/>
                                        </p:tgtEl>
                                      </p:cBhvr>
                                    </p:animEffect>
                                  </p:childTnLst>
                                </p:cTn>
                              </p:par>
                              <p:par>
                                <p:cTn fill="hold" nodeType="withEffect" presetClass="entr" presetID="10" presetSubtype="0">
                                  <p:stCondLst>
                                    <p:cond delay="0"/>
                                  </p:stCondLst>
                                  <p:childTnLst>
                                    <p:set>
                                      <p:cBhvr>
                                        <p:cTn dur="1" fill="hold">
                                          <p:stCondLst>
                                            <p:cond delay="0"/>
                                          </p:stCondLst>
                                        </p:cTn>
                                        <p:tgtEl>
                                          <p:spTgt spid="1986"/>
                                        </p:tgtEl>
                                        <p:attrNameLst>
                                          <p:attrName>style.visibility</p:attrName>
                                        </p:attrNameLst>
                                      </p:cBhvr>
                                      <p:to>
                                        <p:strVal val="visible"/>
                                      </p:to>
                                    </p:set>
                                    <p:animEffect filter="fade" transition="in">
                                      <p:cBhvr>
                                        <p:cTn dur="500"/>
                                        <p:tgtEl>
                                          <p:spTgt spid="1986"/>
                                        </p:tgtEl>
                                      </p:cBhvr>
                                    </p:animEffect>
                                  </p:childTnLst>
                                </p:cTn>
                              </p:par>
                              <p:par>
                                <p:cTn fill="hold" nodeType="withEffect" presetClass="entr" presetID="10" presetSubtype="0">
                                  <p:stCondLst>
                                    <p:cond delay="0"/>
                                  </p:stCondLst>
                                  <p:childTnLst>
                                    <p:set>
                                      <p:cBhvr>
                                        <p:cTn dur="1" fill="hold">
                                          <p:stCondLst>
                                            <p:cond delay="0"/>
                                          </p:stCondLst>
                                        </p:cTn>
                                        <p:tgtEl>
                                          <p:spTgt spid="1983"/>
                                        </p:tgtEl>
                                        <p:attrNameLst>
                                          <p:attrName>style.visibility</p:attrName>
                                        </p:attrNameLst>
                                      </p:cBhvr>
                                      <p:to>
                                        <p:strVal val="visible"/>
                                      </p:to>
                                    </p:set>
                                    <p:animEffect filter="fade" transition="in">
                                      <p:cBhvr>
                                        <p:cTn dur="500"/>
                                        <p:tgtEl>
                                          <p:spTgt spid="19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7"/>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1909"/>
                                        </p:tgtEl>
                                        <p:attrNameLst>
                                          <p:attrName>style.visibility</p:attrName>
                                        </p:attrNameLst>
                                      </p:cBhvr>
                                      <p:to>
                                        <p:strVal val="visible"/>
                                      </p:to>
                                    </p:set>
                                    <p:animEffect filter="fade" transition="in">
                                      <p:cBhvr>
                                        <p:cTn dur="500"/>
                                        <p:tgtEl>
                                          <p:spTgt spid="1909"/>
                                        </p:tgtEl>
                                      </p:cBhvr>
                                    </p:animEffect>
                                  </p:childTnLst>
                                </p:cTn>
                              </p:par>
                              <p:par>
                                <p:cTn fill="hold" nodeType="withEffect" presetClass="entr" presetID="10" presetSubtype="0">
                                  <p:stCondLst>
                                    <p:cond delay="0"/>
                                  </p:stCondLst>
                                  <p:childTnLst>
                                    <p:set>
                                      <p:cBhvr>
                                        <p:cTn dur="1" fill="hold">
                                          <p:stCondLst>
                                            <p:cond delay="0"/>
                                          </p:stCondLst>
                                        </p:cTn>
                                        <p:tgtEl>
                                          <p:spTgt spid="2036"/>
                                        </p:tgtEl>
                                        <p:attrNameLst>
                                          <p:attrName>style.visibility</p:attrName>
                                        </p:attrNameLst>
                                      </p:cBhvr>
                                      <p:to>
                                        <p:strVal val="visible"/>
                                      </p:to>
                                    </p:set>
                                    <p:animEffect filter="fade" transition="in">
                                      <p:cBhvr>
                                        <p:cTn dur="500"/>
                                        <p:tgtEl>
                                          <p:spTgt spid="2036"/>
                                        </p:tgtEl>
                                      </p:cBhvr>
                                    </p:animEffect>
                                  </p:childTnLst>
                                </p:cTn>
                              </p:par>
                              <p:par>
                                <p:cTn fill="hold" nodeType="withEffect" presetClass="entr" presetID="10" presetSubtype="0">
                                  <p:stCondLst>
                                    <p:cond delay="0"/>
                                  </p:stCondLst>
                                  <p:childTnLst>
                                    <p:set>
                                      <p:cBhvr>
                                        <p:cTn dur="1" fill="hold">
                                          <p:stCondLst>
                                            <p:cond delay="0"/>
                                          </p:stCondLst>
                                        </p:cTn>
                                        <p:tgtEl>
                                          <p:spTgt spid="1980"/>
                                        </p:tgtEl>
                                        <p:attrNameLst>
                                          <p:attrName>style.visibility</p:attrName>
                                        </p:attrNameLst>
                                      </p:cBhvr>
                                      <p:to>
                                        <p:strVal val="visible"/>
                                      </p:to>
                                    </p:set>
                                    <p:animEffect filter="fade" transition="in">
                                      <p:cBhvr>
                                        <p:cTn dur="500"/>
                                        <p:tgtEl>
                                          <p:spTgt spid="1980"/>
                                        </p:tgtEl>
                                      </p:cBhvr>
                                    </p:animEffect>
                                  </p:childTnLst>
                                </p:cTn>
                              </p:par>
                              <p:par>
                                <p:cTn fill="hold" nodeType="withEffect" presetClass="exit" presetID="10" presetSubtype="0">
                                  <p:stCondLst>
                                    <p:cond delay="0"/>
                                  </p:stCondLst>
                                  <p:childTnLst>
                                    <p:animEffect filter="fade" transition="out">
                                      <p:cBhvr>
                                        <p:cTn dur="500"/>
                                        <p:tgtEl>
                                          <p:spTgt spid="2035"/>
                                        </p:tgtEl>
                                      </p:cBhvr>
                                    </p:animEffect>
                                    <p:set>
                                      <p:cBhvr>
                                        <p:cTn dur="1" fill="hold">
                                          <p:stCondLst>
                                            <p:cond delay="500"/>
                                          </p:stCondLst>
                                        </p:cTn>
                                        <p:tgtEl>
                                          <p:spTgt spid="203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983"/>
                                        </p:tgtEl>
                                      </p:cBhvr>
                                    </p:animEffect>
                                    <p:set>
                                      <p:cBhvr>
                                        <p:cTn dur="1" fill="hold">
                                          <p:stCondLst>
                                            <p:cond delay="500"/>
                                          </p:stCondLst>
                                        </p:cTn>
                                        <p:tgtEl>
                                          <p:spTgt spid="198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986"/>
                                        </p:tgtEl>
                                      </p:cBhvr>
                                    </p:animEffect>
                                    <p:set>
                                      <p:cBhvr>
                                        <p:cTn dur="1" fill="hold">
                                          <p:stCondLst>
                                            <p:cond delay="500"/>
                                          </p:stCondLst>
                                        </p:cTn>
                                        <p:tgtEl>
                                          <p:spTgt spid="198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029"/>
                                        </p:tgtEl>
                                      </p:cBhvr>
                                    </p:animEffect>
                                    <p:set>
                                      <p:cBhvr>
                                        <p:cTn dur="1" fill="hold">
                                          <p:stCondLst>
                                            <p:cond delay="500"/>
                                          </p:stCondLst>
                                        </p:cTn>
                                        <p:tgtEl>
                                          <p:spTgt spid="202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981"/>
                                        </p:tgtEl>
                                      </p:cBhvr>
                                    </p:animEffect>
                                    <p:set>
                                      <p:cBhvr>
                                        <p:cTn dur="1" fill="hold">
                                          <p:stCondLst>
                                            <p:cond delay="500"/>
                                          </p:stCondLst>
                                        </p:cTn>
                                        <p:tgtEl>
                                          <p:spTgt spid="198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5" name="Shape 2045"/>
        <p:cNvGrpSpPr/>
        <p:nvPr/>
      </p:nvGrpSpPr>
      <p:grpSpPr>
        <a:xfrm>
          <a:off x="0" y="0"/>
          <a:ext cx="0" cy="0"/>
          <a:chOff x="0" y="0"/>
          <a:chExt cx="0" cy="0"/>
        </a:xfrm>
      </p:grpSpPr>
      <p:sp>
        <p:nvSpPr>
          <p:cNvPr id="2046" name="Google Shape;2046;p1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How demultiplexing </a:t>
            </a:r>
            <a:r>
              <a:rPr lang="en-US"/>
              <a:t>w</a:t>
            </a:r>
            <a:r>
              <a:rPr lang="en-US" sz="4400"/>
              <a:t>orks</a:t>
            </a:r>
            <a:endParaRPr/>
          </a:p>
        </p:txBody>
      </p:sp>
      <p:sp>
        <p:nvSpPr>
          <p:cNvPr id="2047" name="Google Shape;2047;p17"/>
          <p:cNvSpPr txBox="1"/>
          <p:nvPr/>
        </p:nvSpPr>
        <p:spPr>
          <a:xfrm>
            <a:off x="812799" y="1565761"/>
            <a:ext cx="5703304" cy="279082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Char char="▪"/>
            </a:pPr>
            <a:r>
              <a:rPr b="0" i="0" lang="en-US" sz="3200" u="none" cap="none" strike="noStrike">
                <a:solidFill>
                  <a:srgbClr val="000000"/>
                </a:solidFill>
                <a:latin typeface="Calibri"/>
                <a:ea typeface="Calibri"/>
                <a:cs typeface="Calibri"/>
                <a:sym typeface="Calibri"/>
              </a:rPr>
              <a:t>host receives IP datagrams</a:t>
            </a:r>
            <a:endParaRPr/>
          </a:p>
          <a:p>
            <a:pPr indent="-230187" lvl="1" marL="687388"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each datagram has source IP address, destination IP address</a:t>
            </a:r>
            <a:endParaRPr/>
          </a:p>
          <a:p>
            <a:pPr indent="-230187" lvl="1" marL="687388"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each datagram carries one transport-layer segment</a:t>
            </a:r>
            <a:endParaRPr/>
          </a:p>
          <a:p>
            <a:pPr indent="-230187" lvl="1" marL="687388"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each segment has source, destination port number </a:t>
            </a:r>
            <a:endParaRPr/>
          </a:p>
          <a:p>
            <a:pPr indent="-284163" lvl="0" marL="284163" marR="0" rtl="0" algn="l">
              <a:lnSpc>
                <a:spcPct val="85000"/>
              </a:lnSpc>
              <a:spcBef>
                <a:spcPts val="640"/>
              </a:spcBef>
              <a:spcAft>
                <a:spcPts val="0"/>
              </a:spcAft>
              <a:buClr>
                <a:srgbClr val="000099"/>
              </a:buClr>
              <a:buSzPts val="3200"/>
              <a:buFont typeface="Noto Sans Symbols"/>
              <a:buChar char="▪"/>
            </a:pPr>
            <a:r>
              <a:rPr b="0" i="0" lang="en-US" sz="3200" u="none" cap="none" strike="noStrike">
                <a:solidFill>
                  <a:srgbClr val="000000"/>
                </a:solidFill>
                <a:latin typeface="Calibri"/>
                <a:ea typeface="Calibri"/>
                <a:cs typeface="Calibri"/>
                <a:sym typeface="Calibri"/>
              </a:rPr>
              <a:t>host uses </a:t>
            </a:r>
            <a:r>
              <a:rPr b="0" i="1" lang="en-US" sz="3200" u="none" cap="none" strike="noStrike">
                <a:solidFill>
                  <a:srgbClr val="CC0000"/>
                </a:solidFill>
                <a:latin typeface="Calibri"/>
                <a:ea typeface="Calibri"/>
                <a:cs typeface="Calibri"/>
                <a:sym typeface="Calibri"/>
              </a:rPr>
              <a:t>IP addresses &amp; port numbers</a:t>
            </a:r>
            <a:r>
              <a:rPr b="0" i="0" lang="en-US" sz="3200" u="none" cap="none" strike="noStrike">
                <a:solidFill>
                  <a:srgbClr val="000000"/>
                </a:solidFill>
                <a:latin typeface="Calibri"/>
                <a:ea typeface="Calibri"/>
                <a:cs typeface="Calibri"/>
                <a:sym typeface="Calibri"/>
              </a:rPr>
              <a:t> to direct segment to appropriate socket</a:t>
            </a:r>
            <a:endParaRPr/>
          </a:p>
        </p:txBody>
      </p:sp>
      <p:grpSp>
        <p:nvGrpSpPr>
          <p:cNvPr id="2048" name="Google Shape;2048;p17"/>
          <p:cNvGrpSpPr/>
          <p:nvPr/>
        </p:nvGrpSpPr>
        <p:grpSpPr>
          <a:xfrm>
            <a:off x="7543216" y="1704452"/>
            <a:ext cx="3414712" cy="4121150"/>
            <a:chOff x="7543216" y="1704452"/>
            <a:chExt cx="3414712" cy="4121150"/>
          </a:xfrm>
        </p:grpSpPr>
        <p:sp>
          <p:nvSpPr>
            <p:cNvPr id="2049" name="Google Shape;2049;p17"/>
            <p:cNvSpPr/>
            <p:nvPr/>
          </p:nvSpPr>
          <p:spPr>
            <a:xfrm>
              <a:off x="7633703" y="2048939"/>
              <a:ext cx="3324225" cy="32004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50" name="Google Shape;2050;p17"/>
            <p:cNvSpPr/>
            <p:nvPr/>
          </p:nvSpPr>
          <p:spPr>
            <a:xfrm>
              <a:off x="7557503" y="2144189"/>
              <a:ext cx="3324225" cy="3200400"/>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51" name="Google Shape;2051;p17"/>
            <p:cNvSpPr txBox="1"/>
            <p:nvPr/>
          </p:nvSpPr>
          <p:spPr>
            <a:xfrm>
              <a:off x="7597191" y="2156889"/>
              <a:ext cx="1563687"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source port #</a:t>
              </a:r>
              <a:endParaRPr b="0" i="0" sz="2400" u="none" cap="none" strike="noStrike">
                <a:solidFill>
                  <a:srgbClr val="CC0000"/>
                </a:solidFill>
                <a:latin typeface="Tahoma"/>
                <a:ea typeface="Tahoma"/>
                <a:cs typeface="Tahoma"/>
                <a:sym typeface="Tahoma"/>
              </a:endParaRPr>
            </a:p>
          </p:txBody>
        </p:sp>
        <p:sp>
          <p:nvSpPr>
            <p:cNvPr id="2052" name="Google Shape;2052;p17"/>
            <p:cNvSpPr txBox="1"/>
            <p:nvPr/>
          </p:nvSpPr>
          <p:spPr>
            <a:xfrm>
              <a:off x="9383128" y="2156889"/>
              <a:ext cx="1328738"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dest port #</a:t>
              </a:r>
              <a:endParaRPr b="0" i="0" sz="2400" u="none" cap="none" strike="noStrike">
                <a:solidFill>
                  <a:srgbClr val="CC0000"/>
                </a:solidFill>
                <a:latin typeface="Tahoma"/>
                <a:ea typeface="Tahoma"/>
                <a:cs typeface="Tahoma"/>
                <a:sym typeface="Tahoma"/>
              </a:endParaRPr>
            </a:p>
          </p:txBody>
        </p:sp>
        <p:cxnSp>
          <p:nvCxnSpPr>
            <p:cNvPr id="2053" name="Google Shape;2053;p17"/>
            <p:cNvCxnSpPr/>
            <p:nvPr/>
          </p:nvCxnSpPr>
          <p:spPr>
            <a:xfrm>
              <a:off x="7547978" y="2544239"/>
              <a:ext cx="3328988" cy="0"/>
            </a:xfrm>
            <a:prstGeom prst="straightConnector1">
              <a:avLst/>
            </a:prstGeom>
            <a:noFill/>
            <a:ln cap="flat" cmpd="sng" w="19050">
              <a:solidFill>
                <a:srgbClr val="000000"/>
              </a:solidFill>
              <a:prstDash val="solid"/>
              <a:round/>
              <a:headEnd len="med" w="med" type="none"/>
              <a:tailEnd len="med" w="med" type="none"/>
            </a:ln>
          </p:spPr>
        </p:cxnSp>
        <p:cxnSp>
          <p:nvCxnSpPr>
            <p:cNvPr id="2054" name="Google Shape;2054;p17"/>
            <p:cNvCxnSpPr/>
            <p:nvPr/>
          </p:nvCxnSpPr>
          <p:spPr>
            <a:xfrm>
              <a:off x="7557503" y="3534839"/>
              <a:ext cx="3324225" cy="0"/>
            </a:xfrm>
            <a:prstGeom prst="straightConnector1">
              <a:avLst/>
            </a:prstGeom>
            <a:noFill/>
            <a:ln cap="flat" cmpd="sng" w="19050">
              <a:solidFill>
                <a:srgbClr val="000000"/>
              </a:solidFill>
              <a:prstDash val="solid"/>
              <a:round/>
              <a:headEnd len="med" w="med" type="none"/>
              <a:tailEnd len="med" w="med" type="none"/>
            </a:ln>
          </p:spPr>
        </p:cxnSp>
        <p:cxnSp>
          <p:nvCxnSpPr>
            <p:cNvPr id="2055" name="Google Shape;2055;p17"/>
            <p:cNvCxnSpPr/>
            <p:nvPr/>
          </p:nvCxnSpPr>
          <p:spPr>
            <a:xfrm rot="10800000">
              <a:off x="9195803" y="2144189"/>
              <a:ext cx="0" cy="395288"/>
            </a:xfrm>
            <a:prstGeom prst="straightConnector1">
              <a:avLst/>
            </a:prstGeom>
            <a:noFill/>
            <a:ln cap="flat" cmpd="sng" w="19050">
              <a:solidFill>
                <a:srgbClr val="000000"/>
              </a:solidFill>
              <a:prstDash val="solid"/>
              <a:round/>
              <a:headEnd len="med" w="med" type="none"/>
              <a:tailEnd len="med" w="med" type="none"/>
            </a:ln>
          </p:spPr>
        </p:cxnSp>
        <p:sp>
          <p:nvSpPr>
            <p:cNvPr id="2056" name="Google Shape;2056;p17"/>
            <p:cNvSpPr txBox="1"/>
            <p:nvPr/>
          </p:nvSpPr>
          <p:spPr>
            <a:xfrm>
              <a:off x="8740191" y="1704452"/>
              <a:ext cx="86360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32 bits</a:t>
              </a:r>
              <a:endParaRPr b="0" i="0" sz="2400" u="none" cap="none" strike="noStrike">
                <a:solidFill>
                  <a:srgbClr val="000000"/>
                </a:solidFill>
                <a:latin typeface="Tahoma"/>
                <a:ea typeface="Tahoma"/>
                <a:cs typeface="Tahoma"/>
                <a:sym typeface="Tahoma"/>
              </a:endParaRPr>
            </a:p>
          </p:txBody>
        </p:sp>
        <p:cxnSp>
          <p:nvCxnSpPr>
            <p:cNvPr id="2057" name="Google Shape;2057;p17"/>
            <p:cNvCxnSpPr/>
            <p:nvPr/>
          </p:nvCxnSpPr>
          <p:spPr>
            <a:xfrm>
              <a:off x="9653003" y="1910827"/>
              <a:ext cx="1200150" cy="4762"/>
            </a:xfrm>
            <a:prstGeom prst="straightConnector1">
              <a:avLst/>
            </a:prstGeom>
            <a:noFill/>
            <a:ln cap="flat" cmpd="sng" w="19050">
              <a:solidFill>
                <a:srgbClr val="000000"/>
              </a:solidFill>
              <a:prstDash val="solid"/>
              <a:round/>
              <a:headEnd len="med" w="med" type="none"/>
              <a:tailEnd len="med" w="med" type="triangle"/>
            </a:ln>
          </p:spPr>
        </p:cxnSp>
        <p:cxnSp>
          <p:nvCxnSpPr>
            <p:cNvPr id="2058" name="Google Shape;2058;p17"/>
            <p:cNvCxnSpPr/>
            <p:nvPr/>
          </p:nvCxnSpPr>
          <p:spPr>
            <a:xfrm rot="10800000">
              <a:off x="7543216" y="1920352"/>
              <a:ext cx="1128712" cy="0"/>
            </a:xfrm>
            <a:prstGeom prst="straightConnector1">
              <a:avLst/>
            </a:prstGeom>
            <a:noFill/>
            <a:ln cap="flat" cmpd="sng" w="19050">
              <a:solidFill>
                <a:srgbClr val="000000"/>
              </a:solidFill>
              <a:prstDash val="solid"/>
              <a:round/>
              <a:headEnd len="med" w="med" type="none"/>
              <a:tailEnd len="med" w="med" type="triangle"/>
            </a:ln>
          </p:spPr>
        </p:cxnSp>
        <p:sp>
          <p:nvSpPr>
            <p:cNvPr id="2059" name="Google Shape;2059;p17"/>
            <p:cNvSpPr txBox="1"/>
            <p:nvPr/>
          </p:nvSpPr>
          <p:spPr>
            <a:xfrm>
              <a:off x="8451266" y="3865039"/>
              <a:ext cx="1389062" cy="1006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data </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(payload)</a:t>
              </a:r>
              <a:endParaRPr b="0" i="0" sz="2400" u="none" cap="none" strike="noStrike">
                <a:solidFill>
                  <a:srgbClr val="000000"/>
                </a:solidFill>
                <a:latin typeface="Tahoma"/>
                <a:ea typeface="Tahoma"/>
                <a:cs typeface="Tahoma"/>
                <a:sym typeface="Tahoma"/>
              </a:endParaRPr>
            </a:p>
          </p:txBody>
        </p:sp>
        <p:sp>
          <p:nvSpPr>
            <p:cNvPr id="2060" name="Google Shape;2060;p17"/>
            <p:cNvSpPr txBox="1"/>
            <p:nvPr/>
          </p:nvSpPr>
          <p:spPr>
            <a:xfrm>
              <a:off x="8067091" y="2898252"/>
              <a:ext cx="22907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other header fields</a:t>
              </a:r>
              <a:endParaRPr b="0" i="0" sz="2400" u="none" cap="none" strike="noStrike">
                <a:solidFill>
                  <a:srgbClr val="000000"/>
                </a:solidFill>
                <a:latin typeface="Tahoma"/>
                <a:ea typeface="Tahoma"/>
                <a:cs typeface="Tahoma"/>
                <a:sym typeface="Tahoma"/>
              </a:endParaRPr>
            </a:p>
          </p:txBody>
        </p:sp>
        <p:sp>
          <p:nvSpPr>
            <p:cNvPr id="2061" name="Google Shape;2061;p17"/>
            <p:cNvSpPr txBox="1"/>
            <p:nvPr/>
          </p:nvSpPr>
          <p:spPr>
            <a:xfrm>
              <a:off x="7770228" y="5428727"/>
              <a:ext cx="30607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TCP/UDP segment format</a:t>
              </a:r>
              <a:endParaRPr b="0" i="0" sz="2400" u="none" cap="none" strike="noStrike">
                <a:solidFill>
                  <a:srgbClr val="000000"/>
                </a:solidFill>
                <a:latin typeface="Tahoma"/>
                <a:ea typeface="Tahoma"/>
                <a:cs typeface="Tahoma"/>
                <a:sym typeface="Tahoma"/>
              </a:endParaRPr>
            </a:p>
          </p:txBody>
        </p:sp>
      </p:grpSp>
      <p:sp>
        <p:nvSpPr>
          <p:cNvPr id="2062" name="Google Shape;2062;p17"/>
          <p:cNvSpPr/>
          <p:nvPr/>
        </p:nvSpPr>
        <p:spPr>
          <a:xfrm>
            <a:off x="7299923" y="1976355"/>
            <a:ext cx="2083205" cy="689091"/>
          </a:xfrm>
          <a:prstGeom prst="ellipse">
            <a:avLst/>
          </a:prstGeom>
          <a:noFill/>
          <a:ln cap="flat" cmpd="sng" w="381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63" name="Google Shape;2063;p17"/>
          <p:cNvSpPr/>
          <p:nvPr/>
        </p:nvSpPr>
        <p:spPr>
          <a:xfrm>
            <a:off x="9014727" y="1985006"/>
            <a:ext cx="2083205" cy="689091"/>
          </a:xfrm>
          <a:prstGeom prst="ellipse">
            <a:avLst/>
          </a:prstGeom>
          <a:noFill/>
          <a:ln cap="flat" cmpd="sng" w="381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64" name="Google Shape;2064;p1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8"/>
                                        </p:tgtEl>
                                        <p:attrNameLst>
                                          <p:attrName>style.visibility</p:attrName>
                                        </p:attrNameLst>
                                      </p:cBhvr>
                                      <p:to>
                                        <p:strVal val="visible"/>
                                      </p:to>
                                    </p:set>
                                    <p:animEffect filter="fade" transition="in">
                                      <p:cBhvr>
                                        <p:cTn dur="500"/>
                                        <p:tgtEl>
                                          <p:spTgt spid="20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2"/>
                                        </p:tgtEl>
                                        <p:attrNameLst>
                                          <p:attrName>style.visibility</p:attrName>
                                        </p:attrNameLst>
                                      </p:cBhvr>
                                      <p:to>
                                        <p:strVal val="visible"/>
                                      </p:to>
                                    </p:set>
                                    <p:animEffect filter="fade" transition="in">
                                      <p:cBhvr>
                                        <p:cTn dur="500"/>
                                        <p:tgtEl>
                                          <p:spTgt spid="20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3"/>
                                        </p:tgtEl>
                                        <p:attrNameLst>
                                          <p:attrName>style.visibility</p:attrName>
                                        </p:attrNameLst>
                                      </p:cBhvr>
                                      <p:to>
                                        <p:strVal val="visible"/>
                                      </p:to>
                                    </p:set>
                                    <p:animEffect filter="fade" transition="in">
                                      <p:cBhvr>
                                        <p:cTn dur="500"/>
                                        <p:tgtEl>
                                          <p:spTgt spid="20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9" name="Shape 2069"/>
        <p:cNvGrpSpPr/>
        <p:nvPr/>
      </p:nvGrpSpPr>
      <p:grpSpPr>
        <a:xfrm>
          <a:off x="0" y="0"/>
          <a:ext cx="0" cy="0"/>
          <a:chOff x="0" y="0"/>
          <a:chExt cx="0" cy="0"/>
        </a:xfrm>
      </p:grpSpPr>
      <p:sp>
        <p:nvSpPr>
          <p:cNvPr id="2070" name="Google Shape;2070;p1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Connectionless demultiplexing</a:t>
            </a:r>
            <a:endParaRPr/>
          </a:p>
        </p:txBody>
      </p:sp>
      <p:sp>
        <p:nvSpPr>
          <p:cNvPr id="2071" name="Google Shape;2071;p18"/>
          <p:cNvSpPr txBox="1"/>
          <p:nvPr/>
        </p:nvSpPr>
        <p:spPr>
          <a:xfrm>
            <a:off x="798689" y="1523600"/>
            <a:ext cx="5254159" cy="2113756"/>
          </a:xfrm>
          <a:prstGeom prst="rect">
            <a:avLst/>
          </a:prstGeom>
          <a:noFill/>
          <a:ln>
            <a:noFill/>
          </a:ln>
        </p:spPr>
        <p:txBody>
          <a:bodyPr anchorCtr="0" anchor="t" bIns="45700" lIns="91425" spcFirstLastPara="1" rIns="91425" wrap="square" tIns="45700">
            <a:normAutofit fontScale="92500" lnSpcReduction="10000"/>
          </a:bodyPr>
          <a:lstStyle/>
          <a:p>
            <a:pPr indent="0" lvl="0" marL="57150" marR="0" rtl="0" algn="l">
              <a:lnSpc>
                <a:spcPct val="90000"/>
              </a:lnSpc>
              <a:spcBef>
                <a:spcPts val="0"/>
              </a:spcBef>
              <a:spcAft>
                <a:spcPts val="0"/>
              </a:spcAft>
              <a:buClr>
                <a:srgbClr val="0000A3"/>
              </a:buClr>
              <a:buSzPct val="100000"/>
              <a:buFont typeface="Noto Sans Symbols"/>
              <a:buNone/>
            </a:pPr>
            <a:r>
              <a:rPr b="0" i="1" lang="en-US" sz="3500" u="none" cap="none" strike="noStrike">
                <a:solidFill>
                  <a:srgbClr val="000000"/>
                </a:solidFill>
                <a:latin typeface="Calibri"/>
                <a:ea typeface="Calibri"/>
                <a:cs typeface="Calibri"/>
                <a:sym typeface="Calibri"/>
              </a:rPr>
              <a:t>Recall:</a:t>
            </a:r>
            <a:r>
              <a:rPr b="0" i="0" lang="en-US" sz="3500" u="none" cap="none" strike="noStrike">
                <a:solidFill>
                  <a:srgbClr val="000000"/>
                </a:solidFill>
                <a:latin typeface="Calibri"/>
                <a:ea typeface="Calibri"/>
                <a:cs typeface="Calibri"/>
                <a:sym typeface="Calibri"/>
              </a:rPr>
              <a:t> </a:t>
            </a:r>
            <a:endParaRPr/>
          </a:p>
          <a:p>
            <a:pPr indent="-290544" lvl="0" marL="347663" marR="0" rtl="0" algn="l">
              <a:lnSpc>
                <a:spcPct val="90000"/>
              </a:lnSpc>
              <a:spcBef>
                <a:spcPts val="1000"/>
              </a:spcBef>
              <a:spcAft>
                <a:spcPts val="0"/>
              </a:spcAft>
              <a:buClr>
                <a:srgbClr val="0000A3"/>
              </a:buClr>
              <a:buSzPct val="100000"/>
              <a:buFont typeface="Noto Sans Symbols"/>
              <a:buChar char="▪"/>
            </a:pPr>
            <a:r>
              <a:rPr b="0" i="0" lang="en-US" sz="3500" u="none" cap="none" strike="noStrike">
                <a:solidFill>
                  <a:srgbClr val="000000"/>
                </a:solidFill>
                <a:latin typeface="Calibri"/>
                <a:ea typeface="Calibri"/>
                <a:cs typeface="Calibri"/>
                <a:sym typeface="Calibri"/>
              </a:rPr>
              <a:t>when creating socket, must specify </a:t>
            </a:r>
            <a:r>
              <a:rPr b="0" i="1" lang="en-US" sz="3500" u="none" cap="none" strike="noStrike">
                <a:solidFill>
                  <a:srgbClr val="CD0004"/>
                </a:solidFill>
                <a:latin typeface="Calibri"/>
                <a:ea typeface="Calibri"/>
                <a:cs typeface="Calibri"/>
                <a:sym typeface="Calibri"/>
              </a:rPr>
              <a:t>host-local </a:t>
            </a:r>
            <a:r>
              <a:rPr b="0" i="0" lang="en-US" sz="3500" u="none" cap="none" strike="noStrike">
                <a:solidFill>
                  <a:srgbClr val="000000"/>
                </a:solidFill>
                <a:latin typeface="Calibri"/>
                <a:ea typeface="Calibri"/>
                <a:cs typeface="Calibri"/>
                <a:sym typeface="Calibri"/>
              </a:rPr>
              <a:t>port #:</a:t>
            </a:r>
            <a:endParaRPr/>
          </a:p>
          <a:p>
            <a:pPr indent="-290513" lvl="0" marL="347663" marR="0" rtl="0" algn="l">
              <a:lnSpc>
                <a:spcPct val="90000"/>
              </a:lnSpc>
              <a:spcBef>
                <a:spcPts val="1000"/>
              </a:spcBef>
              <a:spcAft>
                <a:spcPts val="0"/>
              </a:spcAft>
              <a:buClr>
                <a:srgbClr val="0000A3"/>
              </a:buClr>
              <a:buSzPct val="100000"/>
              <a:buFont typeface="Noto Sans Symbols"/>
              <a:buNone/>
            </a:pPr>
            <a:r>
              <a:rPr b="1" i="0" lang="en-US" sz="24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ourier"/>
                <a:ea typeface="Courier"/>
                <a:cs typeface="Courier"/>
                <a:sym typeface="Courier"/>
              </a:rPr>
              <a:t>DatagramSocket mySocket1        = new DatagramSocket(</a:t>
            </a:r>
            <a:r>
              <a:rPr b="0" i="0" lang="en-US" sz="2400" u="none" cap="none" strike="noStrike">
                <a:solidFill>
                  <a:srgbClr val="CC0000"/>
                </a:solidFill>
                <a:latin typeface="Courier"/>
                <a:ea typeface="Courier"/>
                <a:cs typeface="Courier"/>
                <a:sym typeface="Courier"/>
              </a:rPr>
              <a:t>12534</a:t>
            </a:r>
            <a:r>
              <a:rPr b="0" i="0" lang="en-US" sz="2400" u="none" cap="none" strike="noStrike">
                <a:solidFill>
                  <a:srgbClr val="000000"/>
                </a:solidFill>
                <a:latin typeface="Courier"/>
                <a:ea typeface="Courier"/>
                <a:cs typeface="Courier"/>
                <a:sym typeface="Courier"/>
              </a:rPr>
              <a:t>);</a:t>
            </a:r>
            <a:endParaRPr/>
          </a:p>
          <a:p>
            <a:pPr indent="-290513" lvl="0" marL="347663" marR="0" rtl="0" algn="l">
              <a:lnSpc>
                <a:spcPct val="90000"/>
              </a:lnSpc>
              <a:spcBef>
                <a:spcPts val="1000"/>
              </a:spcBef>
              <a:spcAft>
                <a:spcPts val="0"/>
              </a:spcAft>
              <a:buClr>
                <a:srgbClr val="0000A3"/>
              </a:buClr>
              <a:buSzPct val="100000"/>
              <a:buFont typeface="Noto Sans Symbols"/>
              <a:buNone/>
            </a:pPr>
            <a:r>
              <a:t/>
            </a:r>
            <a:endParaRPr b="0" i="0" sz="2400" u="none" cap="none" strike="noStrike">
              <a:solidFill>
                <a:srgbClr val="000000"/>
              </a:solidFill>
              <a:latin typeface="Calibri"/>
              <a:ea typeface="Calibri"/>
              <a:cs typeface="Calibri"/>
              <a:sym typeface="Calibri"/>
            </a:endParaRPr>
          </a:p>
        </p:txBody>
      </p:sp>
      <p:sp>
        <p:nvSpPr>
          <p:cNvPr id="2072" name="Google Shape;2072;p18"/>
          <p:cNvSpPr txBox="1"/>
          <p:nvPr/>
        </p:nvSpPr>
        <p:spPr>
          <a:xfrm>
            <a:off x="6774662" y="1514612"/>
            <a:ext cx="4894407" cy="2368550"/>
          </a:xfrm>
          <a:prstGeom prst="rect">
            <a:avLst/>
          </a:prstGeom>
          <a:noFill/>
          <a:ln>
            <a:noFill/>
          </a:ln>
        </p:spPr>
        <p:txBody>
          <a:bodyPr anchorCtr="0" anchor="t" bIns="45700" lIns="91425" spcFirstLastPara="1" rIns="91425" wrap="square" tIns="45700">
            <a:normAutofit fontScale="92500" lnSpcReduction="10000"/>
          </a:bodyPr>
          <a:lstStyle/>
          <a:p>
            <a:pPr indent="0" lvl="0" marL="130175" marR="0" rtl="0" algn="l">
              <a:lnSpc>
                <a:spcPct val="90000"/>
              </a:lnSpc>
              <a:spcBef>
                <a:spcPts val="0"/>
              </a:spcBef>
              <a:spcAft>
                <a:spcPts val="0"/>
              </a:spcAft>
              <a:buClr>
                <a:srgbClr val="0000A3"/>
              </a:buClr>
              <a:buSzPct val="100000"/>
              <a:buFont typeface="Noto Sans Symbols"/>
              <a:buNone/>
            </a:pPr>
            <a:r>
              <a:rPr b="0" i="0" lang="en-US" sz="3200" u="none" cap="none" strike="noStrike">
                <a:solidFill>
                  <a:srgbClr val="000000"/>
                </a:solidFill>
                <a:latin typeface="Calibri"/>
                <a:ea typeface="Calibri"/>
                <a:cs typeface="Calibri"/>
                <a:sym typeface="Calibri"/>
              </a:rPr>
              <a:t>when receiving host receives </a:t>
            </a:r>
            <a:r>
              <a:rPr b="0" i="1" lang="en-US" sz="3200" u="none" cap="none" strike="noStrike">
                <a:solidFill>
                  <a:srgbClr val="000000"/>
                </a:solidFill>
                <a:latin typeface="Calibri"/>
                <a:ea typeface="Calibri"/>
                <a:cs typeface="Calibri"/>
                <a:sym typeface="Calibri"/>
              </a:rPr>
              <a:t>UDP </a:t>
            </a:r>
            <a:r>
              <a:rPr b="0" i="0" lang="en-US" sz="3200" u="none" cap="none" strike="noStrike">
                <a:solidFill>
                  <a:srgbClr val="000000"/>
                </a:solidFill>
                <a:latin typeface="Calibri"/>
                <a:ea typeface="Calibri"/>
                <a:cs typeface="Calibri"/>
                <a:sym typeface="Calibri"/>
              </a:rPr>
              <a:t>segment:</a:t>
            </a:r>
            <a:endParaRPr/>
          </a:p>
          <a:p>
            <a:pPr indent="-231775" lvl="1" marL="695325" marR="0" rtl="0" algn="l">
              <a:lnSpc>
                <a:spcPct val="90000"/>
              </a:lnSpc>
              <a:spcBef>
                <a:spcPts val="5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checks destination port # in segment</a:t>
            </a:r>
            <a:endParaRPr/>
          </a:p>
          <a:p>
            <a:pPr indent="-231775" lvl="1" marL="695325" marR="0" rtl="0" algn="l">
              <a:lnSpc>
                <a:spcPct val="90000"/>
              </a:lnSpc>
              <a:spcBef>
                <a:spcPts val="5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directs UDP segment to socket with that port #</a:t>
            </a:r>
            <a:endParaRPr/>
          </a:p>
        </p:txBody>
      </p:sp>
      <p:sp>
        <p:nvSpPr>
          <p:cNvPr id="2073" name="Google Shape;2073;p18"/>
          <p:cNvSpPr/>
          <p:nvPr/>
        </p:nvSpPr>
        <p:spPr>
          <a:xfrm>
            <a:off x="883807" y="3328506"/>
            <a:ext cx="5227637" cy="2751815"/>
          </a:xfrm>
          <a:prstGeom prst="rect">
            <a:avLst/>
          </a:prstGeom>
          <a:noFill/>
          <a:ln>
            <a:noFill/>
          </a:ln>
        </p:spPr>
        <p:txBody>
          <a:bodyPr anchorCtr="0" anchor="t" bIns="45700" lIns="91425" spcFirstLastPara="1" rIns="91425" wrap="square" tIns="45700">
            <a:noAutofit/>
          </a:bodyPr>
          <a:lstStyle/>
          <a:p>
            <a:pPr indent="-191453" lvl="0" marL="347663" marR="0" rtl="0" algn="l">
              <a:lnSpc>
                <a:spcPct val="85000"/>
              </a:lnSpc>
              <a:spcBef>
                <a:spcPts val="0"/>
              </a:spcBef>
              <a:spcAft>
                <a:spcPts val="0"/>
              </a:spcAft>
              <a:buClr>
                <a:srgbClr val="000099"/>
              </a:buClr>
              <a:buSzPts val="1560"/>
              <a:buFont typeface="Noto Sans Symbols"/>
              <a:buNone/>
            </a:pPr>
            <a:r>
              <a:t/>
            </a:r>
            <a:endParaRPr b="0" i="0" sz="2400" u="none" cap="none" strike="noStrike">
              <a:solidFill>
                <a:srgbClr val="000000"/>
              </a:solidFill>
              <a:latin typeface="Calibri"/>
              <a:ea typeface="Calibri"/>
              <a:cs typeface="Calibri"/>
              <a:sym typeface="Calibri"/>
            </a:endParaRPr>
          </a:p>
          <a:p>
            <a:pPr indent="-292100" lvl="0" marL="292100" marR="0" rtl="0" algn="l">
              <a:lnSpc>
                <a:spcPct val="85000"/>
              </a:lnSpc>
              <a:spcBef>
                <a:spcPts val="640"/>
              </a:spcBef>
              <a:spcAft>
                <a:spcPts val="0"/>
              </a:spcAft>
              <a:buClr>
                <a:srgbClr val="000099"/>
              </a:buClr>
              <a:buSzPts val="3200"/>
              <a:buFont typeface="Noto Sans Symbols"/>
              <a:buChar char="▪"/>
            </a:pPr>
            <a:r>
              <a:rPr b="0" i="0" lang="en-US" sz="3200" u="none" cap="none" strike="noStrike">
                <a:solidFill>
                  <a:srgbClr val="000000"/>
                </a:solidFill>
                <a:latin typeface="Calibri"/>
                <a:ea typeface="Calibri"/>
                <a:cs typeface="Calibri"/>
                <a:sym typeface="Calibri"/>
              </a:rPr>
              <a:t>when creating datagram to send into UDP socket, must specify 2-tuple</a:t>
            </a:r>
            <a:endParaRPr b="0" i="0" sz="3200" u="none" cap="none" strike="noStrike">
              <a:solidFill>
                <a:srgbClr val="000000"/>
              </a:solidFill>
              <a:latin typeface="Calibri"/>
              <a:ea typeface="Calibri"/>
              <a:cs typeface="Calibri"/>
              <a:sym typeface="Calibri"/>
            </a:endParaRPr>
          </a:p>
          <a:p>
            <a:pPr indent="-239712" lvl="1" marL="858838"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destination IP address</a:t>
            </a:r>
            <a:endParaRPr/>
          </a:p>
          <a:p>
            <a:pPr indent="-239712" lvl="1" marL="858838"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destination port #</a:t>
            </a:r>
            <a:endParaRPr/>
          </a:p>
        </p:txBody>
      </p:sp>
      <p:sp>
        <p:nvSpPr>
          <p:cNvPr id="2074" name="Google Shape;2074;p18"/>
          <p:cNvSpPr/>
          <p:nvPr/>
        </p:nvSpPr>
        <p:spPr>
          <a:xfrm>
            <a:off x="6349002" y="4420787"/>
            <a:ext cx="5188153" cy="233688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000099"/>
              </a:buClr>
              <a:buSzPts val="1820"/>
              <a:buFont typeface="Noto Sans Symbols"/>
              <a:buNone/>
            </a:pPr>
            <a:r>
              <a:rPr b="0" i="0" lang="en-US" sz="2800" u="none" cap="none" strike="noStrike">
                <a:solidFill>
                  <a:srgbClr val="000000"/>
                </a:solidFill>
                <a:latin typeface="Calibri"/>
                <a:ea typeface="Calibri"/>
                <a:cs typeface="Calibri"/>
                <a:sym typeface="Calibri"/>
              </a:rPr>
              <a:t>IP/UDP datagrams with </a:t>
            </a:r>
            <a:r>
              <a:rPr b="0" i="1" lang="en-US" sz="2800" u="none" cap="none" strike="noStrike">
                <a:solidFill>
                  <a:srgbClr val="CC0000"/>
                </a:solidFill>
                <a:latin typeface="Calibri"/>
                <a:ea typeface="Calibri"/>
                <a:cs typeface="Calibri"/>
                <a:sym typeface="Calibri"/>
              </a:rPr>
              <a:t>same dest. port #,</a:t>
            </a:r>
            <a:r>
              <a:rPr b="0" i="0" lang="en-US" sz="2800" u="none" cap="none" strike="noStrike">
                <a:solidFill>
                  <a:srgbClr val="000000"/>
                </a:solidFill>
                <a:latin typeface="Calibri"/>
                <a:ea typeface="Calibri"/>
                <a:cs typeface="Calibri"/>
                <a:sym typeface="Calibri"/>
              </a:rPr>
              <a:t> but different source IP addresses and/or source port numbers will be directed to </a:t>
            </a:r>
            <a:r>
              <a:rPr b="0" i="1" lang="en-US" sz="2800" u="none" cap="none" strike="noStrike">
                <a:solidFill>
                  <a:srgbClr val="CC0000"/>
                </a:solidFill>
                <a:latin typeface="Calibri"/>
                <a:ea typeface="Calibri"/>
                <a:cs typeface="Calibri"/>
                <a:sym typeface="Calibri"/>
              </a:rPr>
              <a:t>same socket </a:t>
            </a:r>
            <a:r>
              <a:rPr b="0" i="0" lang="en-US" sz="2800" u="none" cap="none" strike="noStrike">
                <a:solidFill>
                  <a:srgbClr val="000000"/>
                </a:solidFill>
                <a:latin typeface="Calibri"/>
                <a:ea typeface="Calibri"/>
                <a:cs typeface="Calibri"/>
                <a:sym typeface="Calibri"/>
              </a:rPr>
              <a:t>at receiving host</a:t>
            </a:r>
            <a:endParaRPr/>
          </a:p>
        </p:txBody>
      </p:sp>
      <p:sp>
        <p:nvSpPr>
          <p:cNvPr id="2075" name="Google Shape;2075;p18"/>
          <p:cNvSpPr/>
          <p:nvPr/>
        </p:nvSpPr>
        <p:spPr>
          <a:xfrm rot="5400000">
            <a:off x="8662884" y="3896801"/>
            <a:ext cx="560388" cy="311150"/>
          </a:xfrm>
          <a:prstGeom prst="rightArrow">
            <a:avLst>
              <a:gd fmla="val 50000" name="adj1"/>
              <a:gd fmla="val 45026" name="adj2"/>
            </a:avLst>
          </a:prstGeom>
          <a:solidFill>
            <a:srgbClr val="CC0000"/>
          </a:soli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2076" name="Google Shape;2076;p18"/>
          <p:cNvSpPr/>
          <p:nvPr/>
        </p:nvSpPr>
        <p:spPr>
          <a:xfrm>
            <a:off x="4202130" y="2887038"/>
            <a:ext cx="1909314" cy="996124"/>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77" name="Google Shape;2077;p1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6"/>
                                        </p:tgtEl>
                                        <p:attrNameLst>
                                          <p:attrName>style.visibility</p:attrName>
                                        </p:attrNameLst>
                                      </p:cBhvr>
                                      <p:to>
                                        <p:strVal val="visible"/>
                                      </p:to>
                                    </p:set>
                                    <p:animEffect filter="fade" transition="in">
                                      <p:cBhvr>
                                        <p:cTn dur="500"/>
                                        <p:tgtEl>
                                          <p:spTgt spid="20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3"/>
                                        </p:tgtEl>
                                        <p:attrNameLst>
                                          <p:attrName>style.visibility</p:attrName>
                                        </p:attrNameLst>
                                      </p:cBhvr>
                                      <p:to>
                                        <p:strVal val="visible"/>
                                      </p:to>
                                    </p:set>
                                    <p:animEffect filter="fade" transition="in">
                                      <p:cBhvr>
                                        <p:cTn dur="500"/>
                                        <p:tgtEl>
                                          <p:spTgt spid="2073"/>
                                        </p:tgtEl>
                                      </p:cBhvr>
                                    </p:animEffect>
                                  </p:childTnLst>
                                </p:cTn>
                              </p:par>
                              <p:par>
                                <p:cTn fill="hold" nodeType="withEffect" presetClass="exit" presetID="10" presetSubtype="0">
                                  <p:stCondLst>
                                    <p:cond delay="0"/>
                                  </p:stCondLst>
                                  <p:childTnLst>
                                    <p:animEffect filter="fade" transition="out">
                                      <p:cBhvr>
                                        <p:cTn dur="500"/>
                                        <p:tgtEl>
                                          <p:spTgt spid="2076"/>
                                        </p:tgtEl>
                                      </p:cBhvr>
                                    </p:animEffect>
                                    <p:set>
                                      <p:cBhvr>
                                        <p:cTn dur="1" fill="hold">
                                          <p:stCondLst>
                                            <p:cond delay="500"/>
                                          </p:stCondLst>
                                        </p:cTn>
                                        <p:tgtEl>
                                          <p:spTgt spid="207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2"/>
                                        </p:tgtEl>
                                        <p:attrNameLst>
                                          <p:attrName>style.visibility</p:attrName>
                                        </p:attrNameLst>
                                      </p:cBhvr>
                                      <p:to>
                                        <p:strVal val="visible"/>
                                      </p:to>
                                    </p:set>
                                    <p:animEffect filter="fade" transition="in">
                                      <p:cBhvr>
                                        <p:cTn dur="500"/>
                                        <p:tgtEl>
                                          <p:spTgt spid="20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4"/>
                                        </p:tgtEl>
                                        <p:attrNameLst>
                                          <p:attrName>style.visibility</p:attrName>
                                        </p:attrNameLst>
                                      </p:cBhvr>
                                      <p:to>
                                        <p:strVal val="visible"/>
                                      </p:to>
                                    </p:set>
                                    <p:animEffect filter="fade" transition="in">
                                      <p:cBhvr>
                                        <p:cTn dur="500"/>
                                        <p:tgtEl>
                                          <p:spTgt spid="2074"/>
                                        </p:tgtEl>
                                      </p:cBhvr>
                                    </p:animEffect>
                                  </p:childTnLst>
                                </p:cTn>
                              </p:par>
                              <p:par>
                                <p:cTn fill="hold" nodeType="withEffect" presetClass="entr" presetID="10" presetSubtype="0">
                                  <p:stCondLst>
                                    <p:cond delay="0"/>
                                  </p:stCondLst>
                                  <p:childTnLst>
                                    <p:set>
                                      <p:cBhvr>
                                        <p:cTn dur="1" fill="hold">
                                          <p:stCondLst>
                                            <p:cond delay="0"/>
                                          </p:stCondLst>
                                        </p:cTn>
                                        <p:tgtEl>
                                          <p:spTgt spid="2075"/>
                                        </p:tgtEl>
                                        <p:attrNameLst>
                                          <p:attrName>style.visibility</p:attrName>
                                        </p:attrNameLst>
                                      </p:cBhvr>
                                      <p:to>
                                        <p:strVal val="visible"/>
                                      </p:to>
                                    </p:set>
                                    <p:animEffect filter="fade" transition="in">
                                      <p:cBhvr>
                                        <p:cTn dur="500"/>
                                        <p:tgtEl>
                                          <p:spTgt spid="20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2" name="Shape 2082"/>
        <p:cNvGrpSpPr/>
        <p:nvPr/>
      </p:nvGrpSpPr>
      <p:grpSpPr>
        <a:xfrm>
          <a:off x="0" y="0"/>
          <a:ext cx="0" cy="0"/>
          <a:chOff x="0" y="0"/>
          <a:chExt cx="0" cy="0"/>
        </a:xfrm>
      </p:grpSpPr>
      <p:sp>
        <p:nvSpPr>
          <p:cNvPr id="2083" name="Google Shape;2083;p1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Connectionless demultiplexing: an example</a:t>
            </a:r>
            <a:endParaRPr/>
          </a:p>
        </p:txBody>
      </p:sp>
      <p:sp>
        <p:nvSpPr>
          <p:cNvPr id="2084" name="Google Shape;2084;p19"/>
          <p:cNvSpPr txBox="1"/>
          <p:nvPr/>
        </p:nvSpPr>
        <p:spPr>
          <a:xfrm>
            <a:off x="4598987" y="1387147"/>
            <a:ext cx="4217987" cy="725488"/>
          </a:xfrm>
          <a:prstGeom prst="rect">
            <a:avLst/>
          </a:prstGeom>
          <a:noFill/>
          <a:ln>
            <a:noFill/>
          </a:ln>
        </p:spPr>
        <p:txBody>
          <a:bodyPr anchorCtr="0" anchor="t" bIns="45700" lIns="91425" spcFirstLastPara="1" rIns="91425" wrap="square" tIns="45700">
            <a:noAutofit/>
          </a:bodyPr>
          <a:lstStyle/>
          <a:p>
            <a:pPr indent="-173038" lvl="0" marL="173038" marR="0" rtl="0" algn="l">
              <a:lnSpc>
                <a:spcPct val="85000"/>
              </a:lnSpc>
              <a:spcBef>
                <a:spcPts val="0"/>
              </a:spcBef>
              <a:spcAft>
                <a:spcPts val="0"/>
              </a:spcAft>
              <a:buClr>
                <a:srgbClr val="000099"/>
              </a:buClr>
              <a:buSzPts val="2000"/>
              <a:buFont typeface="Noto Sans Symbols"/>
              <a:buNone/>
            </a:pPr>
            <a:r>
              <a:rPr b="1" i="0" lang="en-US" sz="2000" u="none" cap="none" strike="noStrike">
                <a:solidFill>
                  <a:srgbClr val="000000"/>
                </a:solidFill>
                <a:latin typeface="Courier New"/>
                <a:ea typeface="Courier New"/>
                <a:cs typeface="Courier New"/>
                <a:sym typeface="Courier New"/>
              </a:rPr>
              <a:t>DatagramSocket serverSocket = new DatagramSocket</a:t>
            </a:r>
            <a:endParaRPr b="1" i="0" sz="2000" u="none" cap="none" strike="noStrike">
              <a:solidFill>
                <a:srgbClr val="000000"/>
              </a:solidFill>
              <a:latin typeface="Courier New"/>
              <a:ea typeface="Courier New"/>
              <a:cs typeface="Courier New"/>
              <a:sym typeface="Courier New"/>
            </a:endParaRPr>
          </a:p>
          <a:p>
            <a:pPr indent="-173038" lvl="0" marL="173038" marR="0" rtl="0" algn="l">
              <a:lnSpc>
                <a:spcPct val="85000"/>
              </a:lnSpc>
              <a:spcBef>
                <a:spcPts val="400"/>
              </a:spcBef>
              <a:spcAft>
                <a:spcPts val="0"/>
              </a:spcAft>
              <a:buClr>
                <a:srgbClr val="000099"/>
              </a:buClr>
              <a:buSzPts val="2000"/>
              <a:buFont typeface="Noto Sans Symbols"/>
              <a:buNone/>
            </a:pPr>
            <a:r>
              <a:rPr b="1" i="0" lang="en-US" sz="2000" u="none" cap="none" strike="noStrike">
                <a:solidFill>
                  <a:srgbClr val="000000"/>
                </a:solidFill>
                <a:latin typeface="Courier New"/>
                <a:ea typeface="Courier New"/>
                <a:cs typeface="Courier New"/>
                <a:sym typeface="Courier New"/>
              </a:rPr>
              <a:t> (</a:t>
            </a:r>
            <a:r>
              <a:rPr b="1" i="0" lang="en-US" sz="2000" u="none" cap="none" strike="noStrike">
                <a:solidFill>
                  <a:srgbClr val="CC0000"/>
                </a:solidFill>
                <a:latin typeface="Courier New"/>
                <a:ea typeface="Courier New"/>
                <a:cs typeface="Courier New"/>
                <a:sym typeface="Courier New"/>
              </a:rPr>
              <a:t>6428</a:t>
            </a:r>
            <a:r>
              <a:rPr b="1" i="0" lang="en-US" sz="2000" u="none" cap="none" strike="noStrike">
                <a:solidFill>
                  <a:srgbClr val="000000"/>
                </a:solidFill>
                <a:latin typeface="Courier New"/>
                <a:ea typeface="Courier New"/>
                <a:cs typeface="Courier New"/>
                <a:sym typeface="Courier New"/>
              </a:rPr>
              <a:t>);</a:t>
            </a:r>
            <a:endParaRPr/>
          </a:p>
          <a:p>
            <a:pPr indent="0" lvl="0" marL="173038" marR="0" rtl="0" algn="l">
              <a:lnSpc>
                <a:spcPct val="85000"/>
              </a:lnSpc>
              <a:spcBef>
                <a:spcPts val="800"/>
              </a:spcBef>
              <a:spcAft>
                <a:spcPts val="0"/>
              </a:spcAft>
              <a:buClr>
                <a:srgbClr val="000099"/>
              </a:buClr>
              <a:buSzPts val="4000"/>
              <a:buFont typeface="Noto Sans Symbols"/>
              <a:buNone/>
            </a:pPr>
            <a:r>
              <a:t/>
            </a:r>
            <a:endParaRPr b="0" i="0" sz="4000" u="none" cap="none" strike="noStrike">
              <a:solidFill>
                <a:srgbClr val="000000"/>
              </a:solidFill>
              <a:latin typeface="Gill Sans"/>
              <a:ea typeface="Gill Sans"/>
              <a:cs typeface="Gill Sans"/>
              <a:sym typeface="Gill Sans"/>
            </a:endParaRPr>
          </a:p>
        </p:txBody>
      </p:sp>
      <p:sp>
        <p:nvSpPr>
          <p:cNvPr id="2085" name="Google Shape;2085;p19"/>
          <p:cNvSpPr/>
          <p:nvPr/>
        </p:nvSpPr>
        <p:spPr>
          <a:xfrm>
            <a:off x="4799806" y="2502914"/>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86" name="Google Shape;2086;p19"/>
          <p:cNvSpPr/>
          <p:nvPr/>
        </p:nvSpPr>
        <p:spPr>
          <a:xfrm>
            <a:off x="2015331" y="2807714"/>
            <a:ext cx="460375" cy="2193925"/>
          </a:xfrm>
          <a:custGeom>
            <a:rect b="b" l="l" r="r" t="t"/>
            <a:pathLst>
              <a:path extrusionOk="0" h="1382" w="290">
                <a:moveTo>
                  <a:pt x="15" y="1382"/>
                </a:moveTo>
                <a:lnTo>
                  <a:pt x="0" y="1360"/>
                </a:lnTo>
                <a:lnTo>
                  <a:pt x="290" y="0"/>
                </a:lnTo>
                <a:lnTo>
                  <a:pt x="284" y="1258"/>
                </a:lnTo>
                <a:lnTo>
                  <a:pt x="182" y="1382"/>
                </a:lnTo>
                <a:lnTo>
                  <a:pt x="15" y="1382"/>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87" name="Google Shape;2087;p19"/>
          <p:cNvSpPr/>
          <p:nvPr/>
        </p:nvSpPr>
        <p:spPr>
          <a:xfrm>
            <a:off x="2520156" y="2774376"/>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088" name="Google Shape;2088;p19"/>
          <p:cNvSpPr/>
          <p:nvPr/>
        </p:nvSpPr>
        <p:spPr>
          <a:xfrm>
            <a:off x="2482056" y="2828351"/>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2089" name="Google Shape;2089;p19"/>
          <p:cNvCxnSpPr/>
          <p:nvPr/>
        </p:nvCxnSpPr>
        <p:spPr>
          <a:xfrm>
            <a:off x="2491581" y="358876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090" name="Google Shape;2090;p19"/>
          <p:cNvSpPr txBox="1"/>
          <p:nvPr/>
        </p:nvSpPr>
        <p:spPr>
          <a:xfrm>
            <a:off x="2448718" y="3571301"/>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2091" name="Google Shape;2091;p19"/>
          <p:cNvCxnSpPr/>
          <p:nvPr/>
        </p:nvCxnSpPr>
        <p:spPr>
          <a:xfrm>
            <a:off x="2499518" y="3909439"/>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092" name="Google Shape;2092;p19"/>
          <p:cNvCxnSpPr/>
          <p:nvPr/>
        </p:nvCxnSpPr>
        <p:spPr>
          <a:xfrm>
            <a:off x="2485231" y="4219001"/>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093" name="Google Shape;2093;p19"/>
          <p:cNvCxnSpPr/>
          <p:nvPr/>
        </p:nvCxnSpPr>
        <p:spPr>
          <a:xfrm>
            <a:off x="2485231" y="4504751"/>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094" name="Google Shape;2094;p19"/>
          <p:cNvSpPr txBox="1"/>
          <p:nvPr/>
        </p:nvSpPr>
        <p:spPr>
          <a:xfrm>
            <a:off x="2483643" y="2818826"/>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095" name="Google Shape;2095;p19"/>
          <p:cNvSpPr txBox="1"/>
          <p:nvPr/>
        </p:nvSpPr>
        <p:spPr>
          <a:xfrm>
            <a:off x="2439193" y="4476176"/>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096" name="Google Shape;2096;p19"/>
          <p:cNvSpPr txBox="1"/>
          <p:nvPr/>
        </p:nvSpPr>
        <p:spPr>
          <a:xfrm>
            <a:off x="2458243" y="4190426"/>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097" name="Google Shape;2097;p19"/>
          <p:cNvSpPr txBox="1"/>
          <p:nvPr/>
        </p:nvSpPr>
        <p:spPr>
          <a:xfrm>
            <a:off x="2448718" y="3895151"/>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2098" name="Google Shape;2098;p19"/>
          <p:cNvSpPr/>
          <p:nvPr/>
        </p:nvSpPr>
        <p:spPr>
          <a:xfrm>
            <a:off x="2818606" y="3104576"/>
            <a:ext cx="598487"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P3</a:t>
            </a:r>
            <a:endParaRPr/>
          </a:p>
        </p:txBody>
      </p:sp>
      <p:grpSp>
        <p:nvGrpSpPr>
          <p:cNvPr id="2099" name="Google Shape;2099;p19"/>
          <p:cNvGrpSpPr/>
          <p:nvPr/>
        </p:nvGrpSpPr>
        <p:grpSpPr>
          <a:xfrm>
            <a:off x="2786856" y="3428426"/>
            <a:ext cx="620712" cy="228600"/>
            <a:chOff x="1287" y="2524"/>
            <a:chExt cx="260" cy="100"/>
          </a:xfrm>
        </p:grpSpPr>
        <p:sp>
          <p:nvSpPr>
            <p:cNvPr id="2100" name="Google Shape;2100;p19"/>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01" name="Google Shape;2101;p19"/>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02" name="Google Shape;2102;p19"/>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03" name="Google Shape;2103;p19"/>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04" name="Google Shape;2104;p19"/>
          <p:cNvSpPr/>
          <p:nvPr/>
        </p:nvSpPr>
        <p:spPr>
          <a:xfrm>
            <a:off x="5347493" y="2541014"/>
            <a:ext cx="1497013"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105" name="Google Shape;2105;p19"/>
          <p:cNvSpPr/>
          <p:nvPr/>
        </p:nvSpPr>
        <p:spPr>
          <a:xfrm>
            <a:off x="5312568" y="2594989"/>
            <a:ext cx="1473200"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2106" name="Google Shape;2106;p19"/>
          <p:cNvCxnSpPr/>
          <p:nvPr/>
        </p:nvCxnSpPr>
        <p:spPr>
          <a:xfrm>
            <a:off x="5318918" y="3364926"/>
            <a:ext cx="1460500" cy="3175"/>
          </a:xfrm>
          <a:prstGeom prst="straightConnector1">
            <a:avLst/>
          </a:prstGeom>
          <a:noFill/>
          <a:ln cap="flat" cmpd="sng" w="28575">
            <a:solidFill>
              <a:srgbClr val="000000"/>
            </a:solidFill>
            <a:prstDash val="solid"/>
            <a:round/>
            <a:headEnd len="med" w="med" type="none"/>
            <a:tailEnd len="med" w="med" type="none"/>
          </a:ln>
        </p:spPr>
      </p:cxnSp>
      <p:sp>
        <p:nvSpPr>
          <p:cNvPr id="2107" name="Google Shape;2107;p19"/>
          <p:cNvSpPr txBox="1"/>
          <p:nvPr/>
        </p:nvSpPr>
        <p:spPr>
          <a:xfrm>
            <a:off x="5390356" y="3347464"/>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2108" name="Google Shape;2108;p19"/>
          <p:cNvCxnSpPr/>
          <p:nvPr/>
        </p:nvCxnSpPr>
        <p:spPr>
          <a:xfrm>
            <a:off x="5320506" y="3682426"/>
            <a:ext cx="1457325" cy="0"/>
          </a:xfrm>
          <a:prstGeom prst="straightConnector1">
            <a:avLst/>
          </a:prstGeom>
          <a:noFill/>
          <a:ln cap="flat" cmpd="sng" w="28575">
            <a:solidFill>
              <a:srgbClr val="000000"/>
            </a:solidFill>
            <a:prstDash val="solid"/>
            <a:round/>
            <a:headEnd len="med" w="med" type="none"/>
            <a:tailEnd len="med" w="med" type="none"/>
          </a:ln>
        </p:spPr>
      </p:cxnSp>
      <p:sp>
        <p:nvSpPr>
          <p:cNvPr id="2109" name="Google Shape;2109;p19"/>
          <p:cNvSpPr txBox="1"/>
          <p:nvPr/>
        </p:nvSpPr>
        <p:spPr>
          <a:xfrm>
            <a:off x="5332874" y="2458963"/>
            <a:ext cx="1496844" cy="5439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br>
              <a:rPr b="0" i="0" lang="en-US" sz="1400" u="none" cap="none" strike="noStrike">
                <a:solidFill>
                  <a:srgbClr val="000000"/>
                </a:solidFill>
                <a:latin typeface="Tahoma"/>
                <a:ea typeface="Tahoma"/>
                <a:cs typeface="Tahoma"/>
                <a:sym typeface="Tahoma"/>
              </a:rPr>
            </a:br>
            <a:r>
              <a:rPr b="0" i="0" lang="en-US" sz="1400" u="none" cap="none" strike="noStrike">
                <a:solidFill>
                  <a:srgbClr val="000000"/>
                </a:solidFill>
                <a:latin typeface="Tahoma"/>
                <a:ea typeface="Tahoma"/>
                <a:cs typeface="Tahoma"/>
                <a:sym typeface="Tahoma"/>
              </a:rPr>
              <a:t>(DNS Server)</a:t>
            </a:r>
            <a:endParaRPr/>
          </a:p>
        </p:txBody>
      </p:sp>
      <p:sp>
        <p:nvSpPr>
          <p:cNvPr id="2110" name="Google Shape;2110;p19"/>
          <p:cNvSpPr txBox="1"/>
          <p:nvPr/>
        </p:nvSpPr>
        <p:spPr>
          <a:xfrm>
            <a:off x="5384006" y="425233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111" name="Google Shape;2111;p19"/>
          <p:cNvSpPr txBox="1"/>
          <p:nvPr/>
        </p:nvSpPr>
        <p:spPr>
          <a:xfrm>
            <a:off x="5384006" y="396658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112" name="Google Shape;2112;p19"/>
          <p:cNvSpPr txBox="1"/>
          <p:nvPr/>
        </p:nvSpPr>
        <p:spPr>
          <a:xfrm>
            <a:off x="5384006" y="366813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cxnSp>
        <p:nvCxnSpPr>
          <p:cNvPr id="2113" name="Google Shape;2113;p19"/>
          <p:cNvCxnSpPr/>
          <p:nvPr/>
        </p:nvCxnSpPr>
        <p:spPr>
          <a:xfrm>
            <a:off x="5317331" y="3993576"/>
            <a:ext cx="1457325" cy="0"/>
          </a:xfrm>
          <a:prstGeom prst="straightConnector1">
            <a:avLst/>
          </a:prstGeom>
          <a:noFill/>
          <a:ln cap="flat" cmpd="sng" w="28575">
            <a:solidFill>
              <a:srgbClr val="000000"/>
            </a:solidFill>
            <a:prstDash val="solid"/>
            <a:round/>
            <a:headEnd len="med" w="med" type="none"/>
            <a:tailEnd len="med" w="med" type="none"/>
          </a:ln>
        </p:spPr>
      </p:cxnSp>
      <p:cxnSp>
        <p:nvCxnSpPr>
          <p:cNvPr id="2114" name="Google Shape;2114;p19"/>
          <p:cNvCxnSpPr/>
          <p:nvPr/>
        </p:nvCxnSpPr>
        <p:spPr>
          <a:xfrm>
            <a:off x="5314156" y="4292026"/>
            <a:ext cx="1457325" cy="0"/>
          </a:xfrm>
          <a:prstGeom prst="straightConnector1">
            <a:avLst/>
          </a:prstGeom>
          <a:noFill/>
          <a:ln cap="flat" cmpd="sng" w="28575">
            <a:solidFill>
              <a:srgbClr val="000000"/>
            </a:solidFill>
            <a:prstDash val="solid"/>
            <a:round/>
            <a:headEnd len="med" w="med" type="none"/>
            <a:tailEnd len="med" w="med" type="none"/>
          </a:ln>
        </p:spPr>
      </p:cxnSp>
      <p:sp>
        <p:nvSpPr>
          <p:cNvPr id="2115" name="Google Shape;2115;p19"/>
          <p:cNvSpPr/>
          <p:nvPr/>
        </p:nvSpPr>
        <p:spPr>
          <a:xfrm>
            <a:off x="5731668" y="2901376"/>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P1</a:t>
            </a:r>
            <a:endParaRPr/>
          </a:p>
        </p:txBody>
      </p:sp>
      <p:grpSp>
        <p:nvGrpSpPr>
          <p:cNvPr id="2116" name="Google Shape;2116;p19"/>
          <p:cNvGrpSpPr/>
          <p:nvPr/>
        </p:nvGrpSpPr>
        <p:grpSpPr>
          <a:xfrm>
            <a:off x="5603081" y="3217289"/>
            <a:ext cx="887412" cy="228600"/>
            <a:chOff x="1383" y="2620"/>
            <a:chExt cx="260" cy="100"/>
          </a:xfrm>
        </p:grpSpPr>
        <p:sp>
          <p:nvSpPr>
            <p:cNvPr id="2117" name="Google Shape;2117;p19"/>
            <p:cNvSpPr/>
            <p:nvPr/>
          </p:nvSpPr>
          <p:spPr>
            <a:xfrm>
              <a:off x="1383" y="2620"/>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18" name="Google Shape;2118;p19"/>
            <p:cNvSpPr/>
            <p:nvPr/>
          </p:nvSpPr>
          <p:spPr>
            <a:xfrm>
              <a:off x="1434" y="2633"/>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19" name="Google Shape;2119;p19"/>
            <p:cNvSpPr/>
            <p:nvPr/>
          </p:nvSpPr>
          <p:spPr>
            <a:xfrm>
              <a:off x="1599" y="2678"/>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20" name="Google Shape;2120;p19"/>
            <p:cNvSpPr/>
            <p:nvPr/>
          </p:nvSpPr>
          <p:spPr>
            <a:xfrm>
              <a:off x="1394" y="2679"/>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21" name="Google Shape;2121;p19"/>
          <p:cNvSpPr/>
          <p:nvPr/>
        </p:nvSpPr>
        <p:spPr>
          <a:xfrm>
            <a:off x="8354218" y="2766439"/>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122" name="Google Shape;2122;p19"/>
          <p:cNvSpPr/>
          <p:nvPr/>
        </p:nvSpPr>
        <p:spPr>
          <a:xfrm>
            <a:off x="8316118" y="2820414"/>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2123" name="Google Shape;2123;p19"/>
          <p:cNvCxnSpPr/>
          <p:nvPr/>
        </p:nvCxnSpPr>
        <p:spPr>
          <a:xfrm>
            <a:off x="8325643" y="3580826"/>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124" name="Google Shape;2124;p19"/>
          <p:cNvSpPr txBox="1"/>
          <p:nvPr/>
        </p:nvSpPr>
        <p:spPr>
          <a:xfrm>
            <a:off x="8282781" y="3563364"/>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2125" name="Google Shape;2125;p19"/>
          <p:cNvCxnSpPr/>
          <p:nvPr/>
        </p:nvCxnSpPr>
        <p:spPr>
          <a:xfrm>
            <a:off x="8333581" y="3901501"/>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126" name="Google Shape;2126;p19"/>
          <p:cNvCxnSpPr/>
          <p:nvPr/>
        </p:nvCxnSpPr>
        <p:spPr>
          <a:xfrm>
            <a:off x="8319293" y="4211064"/>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127" name="Google Shape;2127;p19"/>
          <p:cNvCxnSpPr/>
          <p:nvPr/>
        </p:nvCxnSpPr>
        <p:spPr>
          <a:xfrm>
            <a:off x="8319293" y="4496814"/>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128" name="Google Shape;2128;p19"/>
          <p:cNvSpPr txBox="1"/>
          <p:nvPr/>
        </p:nvSpPr>
        <p:spPr>
          <a:xfrm>
            <a:off x="8317706" y="281088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129" name="Google Shape;2129;p19"/>
          <p:cNvSpPr txBox="1"/>
          <p:nvPr/>
        </p:nvSpPr>
        <p:spPr>
          <a:xfrm>
            <a:off x="8273256" y="446823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130" name="Google Shape;2130;p19"/>
          <p:cNvSpPr txBox="1"/>
          <p:nvPr/>
        </p:nvSpPr>
        <p:spPr>
          <a:xfrm>
            <a:off x="8292306" y="4182489"/>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131" name="Google Shape;2131;p19"/>
          <p:cNvSpPr txBox="1"/>
          <p:nvPr/>
        </p:nvSpPr>
        <p:spPr>
          <a:xfrm>
            <a:off x="8282781" y="3887214"/>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2132" name="Google Shape;2132;p19"/>
          <p:cNvSpPr/>
          <p:nvPr/>
        </p:nvSpPr>
        <p:spPr>
          <a:xfrm>
            <a:off x="8652668" y="3118864"/>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P4</a:t>
            </a:r>
            <a:endParaRPr/>
          </a:p>
        </p:txBody>
      </p:sp>
      <p:sp>
        <p:nvSpPr>
          <p:cNvPr id="2133" name="Google Shape;2133;p19"/>
          <p:cNvSpPr/>
          <p:nvPr/>
        </p:nvSpPr>
        <p:spPr>
          <a:xfrm>
            <a:off x="9613106" y="2787076"/>
            <a:ext cx="504825" cy="2133600"/>
          </a:xfrm>
          <a:custGeom>
            <a:rect b="b" l="l" r="r" t="t"/>
            <a:pathLst>
              <a:path extrusionOk="0" h="1344" w="318">
                <a:moveTo>
                  <a:pt x="318" y="1344"/>
                </a:moveTo>
                <a:lnTo>
                  <a:pt x="12" y="0"/>
                </a:lnTo>
                <a:lnTo>
                  <a:pt x="0" y="1224"/>
                </a:lnTo>
                <a:lnTo>
                  <a:pt x="121" y="1344"/>
                </a:lnTo>
                <a:lnTo>
                  <a:pt x="318" y="1344"/>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134" name="Google Shape;2134;p19"/>
          <p:cNvGrpSpPr/>
          <p:nvPr/>
        </p:nvGrpSpPr>
        <p:grpSpPr>
          <a:xfrm>
            <a:off x="8646318" y="3450651"/>
            <a:ext cx="620713" cy="204788"/>
            <a:chOff x="1287" y="2524"/>
            <a:chExt cx="260" cy="100"/>
          </a:xfrm>
        </p:grpSpPr>
        <p:sp>
          <p:nvSpPr>
            <p:cNvPr id="2135" name="Google Shape;2135;p19"/>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36" name="Google Shape;2136;p19"/>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37" name="Google Shape;2137;p19"/>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38" name="Google Shape;2138;p19"/>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39" name="Google Shape;2139;p19"/>
          <p:cNvSpPr/>
          <p:nvPr/>
        </p:nvSpPr>
        <p:spPr>
          <a:xfrm>
            <a:off x="7968800" y="2094763"/>
            <a:ext cx="4189623" cy="655638"/>
          </a:xfrm>
          <a:prstGeom prst="rect">
            <a:avLst/>
          </a:prstGeom>
          <a:noFill/>
          <a:ln>
            <a:noFill/>
          </a:ln>
        </p:spPr>
        <p:txBody>
          <a:bodyPr anchorCtr="0" anchor="t" bIns="45700" lIns="91425" spcFirstLastPara="1" rIns="91425" wrap="square" tIns="45700">
            <a:noAutofit/>
          </a:bodyPr>
          <a:lstStyle/>
          <a:p>
            <a:pPr indent="-115888" lvl="0" marL="115888" marR="0" rtl="0" algn="l">
              <a:lnSpc>
                <a:spcPct val="85000"/>
              </a:lnSpc>
              <a:spcBef>
                <a:spcPts val="0"/>
              </a:spcBef>
              <a:spcAft>
                <a:spcPts val="0"/>
              </a:spcAft>
              <a:buClr>
                <a:srgbClr val="000099"/>
              </a:buClr>
              <a:buSzPts val="1170"/>
              <a:buFont typeface="Noto Sans Symbols"/>
              <a:buNone/>
            </a:pPr>
            <a:r>
              <a:rPr b="1" i="0" lang="en-US" sz="1800" u="none" cap="none" strike="noStrike">
                <a:solidFill>
                  <a:srgbClr val="000000"/>
                </a:solidFill>
                <a:latin typeface="Courier New"/>
                <a:ea typeface="Courier New"/>
                <a:cs typeface="Courier New"/>
                <a:sym typeface="Courier New"/>
              </a:rPr>
              <a:t>DatagramSocket mySocket1 = new DatagramSocket (</a:t>
            </a:r>
            <a:r>
              <a:rPr b="1" i="0" lang="en-US" sz="1800" u="none" cap="none" strike="noStrike">
                <a:solidFill>
                  <a:srgbClr val="CC0000"/>
                </a:solidFill>
                <a:latin typeface="Courier New"/>
                <a:ea typeface="Courier New"/>
                <a:cs typeface="Courier New"/>
                <a:sym typeface="Courier New"/>
              </a:rPr>
              <a:t>5775</a:t>
            </a:r>
            <a:r>
              <a:rPr b="1" i="0" lang="en-US" sz="1800" u="none" cap="none" strike="noStrike">
                <a:solidFill>
                  <a:srgbClr val="000000"/>
                </a:solidFill>
                <a:latin typeface="Courier New"/>
                <a:ea typeface="Courier New"/>
                <a:cs typeface="Courier New"/>
                <a:sym typeface="Courier New"/>
              </a:rPr>
              <a:t>);</a:t>
            </a:r>
            <a:endParaRPr/>
          </a:p>
          <a:p>
            <a:pPr indent="-115888" lvl="0" marL="115888" marR="0" rtl="0" algn="l">
              <a:lnSpc>
                <a:spcPct val="85000"/>
              </a:lnSpc>
              <a:spcBef>
                <a:spcPts val="360"/>
              </a:spcBef>
              <a:spcAft>
                <a:spcPts val="0"/>
              </a:spcAft>
              <a:buClr>
                <a:srgbClr val="000099"/>
              </a:buClr>
              <a:buSzPts val="1170"/>
              <a:buFont typeface="Noto Sans Symbols"/>
              <a:buNone/>
            </a:pPr>
            <a:r>
              <a:t/>
            </a:r>
            <a:endParaRPr b="0" i="0" sz="1800" u="none" cap="none" strike="noStrike">
              <a:solidFill>
                <a:srgbClr val="000000"/>
              </a:solidFill>
              <a:latin typeface="Courier New"/>
              <a:ea typeface="Courier New"/>
              <a:cs typeface="Courier New"/>
              <a:sym typeface="Courier New"/>
            </a:endParaRPr>
          </a:p>
        </p:txBody>
      </p:sp>
      <p:sp>
        <p:nvSpPr>
          <p:cNvPr id="2140" name="Google Shape;2140;p19"/>
          <p:cNvSpPr/>
          <p:nvPr/>
        </p:nvSpPr>
        <p:spPr>
          <a:xfrm>
            <a:off x="496329" y="2088579"/>
            <a:ext cx="3755375" cy="655637"/>
          </a:xfrm>
          <a:prstGeom prst="rect">
            <a:avLst/>
          </a:prstGeom>
          <a:noFill/>
          <a:ln>
            <a:noFill/>
          </a:ln>
        </p:spPr>
        <p:txBody>
          <a:bodyPr anchorCtr="0" anchor="t" bIns="45700" lIns="91425" spcFirstLastPara="1" rIns="91425" wrap="square" tIns="45700">
            <a:noAutofit/>
          </a:bodyPr>
          <a:lstStyle/>
          <a:p>
            <a:pPr indent="-115888" lvl="0" marL="115888" marR="0" rtl="0" algn="l">
              <a:lnSpc>
                <a:spcPct val="85000"/>
              </a:lnSpc>
              <a:spcBef>
                <a:spcPts val="0"/>
              </a:spcBef>
              <a:spcAft>
                <a:spcPts val="0"/>
              </a:spcAft>
              <a:buClr>
                <a:srgbClr val="000099"/>
              </a:buClr>
              <a:buSzPts val="1170"/>
              <a:buFont typeface="Noto Sans Symbols"/>
              <a:buNone/>
            </a:pPr>
            <a:r>
              <a:rPr b="1" i="0" lang="en-US" sz="1800" u="none" cap="none" strike="noStrike">
                <a:solidFill>
                  <a:srgbClr val="000000"/>
                </a:solidFill>
                <a:latin typeface="Courier New"/>
                <a:ea typeface="Courier New"/>
                <a:cs typeface="Courier New"/>
                <a:sym typeface="Courier New"/>
              </a:rPr>
              <a:t>DatagramSocket mySocket2 = new DatagramSocket</a:t>
            </a:r>
            <a:endParaRPr b="1" i="0" sz="1800" u="none" cap="none" strike="noStrike">
              <a:solidFill>
                <a:srgbClr val="000000"/>
              </a:solidFill>
              <a:latin typeface="Courier New"/>
              <a:ea typeface="Courier New"/>
              <a:cs typeface="Courier New"/>
              <a:sym typeface="Courier New"/>
            </a:endParaRPr>
          </a:p>
          <a:p>
            <a:pPr indent="-115888" lvl="0" marL="115888" marR="0" rtl="0" algn="l">
              <a:lnSpc>
                <a:spcPct val="85000"/>
              </a:lnSpc>
              <a:spcBef>
                <a:spcPts val="360"/>
              </a:spcBef>
              <a:spcAft>
                <a:spcPts val="0"/>
              </a:spcAft>
              <a:buClr>
                <a:srgbClr val="000099"/>
              </a:buClr>
              <a:buSzPts val="1170"/>
              <a:buFont typeface="Noto Sans Symbols"/>
              <a:buNone/>
            </a:pPr>
            <a:r>
              <a:rPr b="1" i="0" lang="en-US" sz="1800" u="none" cap="none" strike="noStrike">
                <a:solidFill>
                  <a:srgbClr val="000000"/>
                </a:solidFill>
                <a:latin typeface="Courier New"/>
                <a:ea typeface="Courier New"/>
                <a:cs typeface="Courier New"/>
                <a:sym typeface="Courier New"/>
              </a:rPr>
              <a:t> (</a:t>
            </a:r>
            <a:r>
              <a:rPr b="1" i="0" lang="en-US" sz="1800" u="none" cap="none" strike="noStrike">
                <a:solidFill>
                  <a:srgbClr val="CC0000"/>
                </a:solidFill>
                <a:latin typeface="Courier New"/>
                <a:ea typeface="Courier New"/>
                <a:cs typeface="Courier New"/>
                <a:sym typeface="Courier New"/>
              </a:rPr>
              <a:t>9157</a:t>
            </a:r>
            <a:r>
              <a:rPr b="1" i="0" lang="en-US" sz="1800" u="none" cap="none" strike="noStrike">
                <a:solidFill>
                  <a:srgbClr val="000000"/>
                </a:solidFill>
                <a:latin typeface="Courier New"/>
                <a:ea typeface="Courier New"/>
                <a:cs typeface="Courier New"/>
                <a:sym typeface="Courier New"/>
              </a:rPr>
              <a:t>);</a:t>
            </a:r>
            <a:endParaRPr/>
          </a:p>
          <a:p>
            <a:pPr indent="-115888" lvl="0" marL="115888" marR="0" rtl="0" algn="l">
              <a:lnSpc>
                <a:spcPct val="85000"/>
              </a:lnSpc>
              <a:spcBef>
                <a:spcPts val="400"/>
              </a:spcBef>
              <a:spcAft>
                <a:spcPts val="0"/>
              </a:spcAft>
              <a:buClr>
                <a:srgbClr val="000099"/>
              </a:buClr>
              <a:buSzPts val="1300"/>
              <a:buFont typeface="Noto Sans Symbols"/>
              <a:buNone/>
            </a:pPr>
            <a:r>
              <a:t/>
            </a:r>
            <a:endParaRPr b="0" i="0" sz="2000" u="none" cap="none" strike="noStrike">
              <a:solidFill>
                <a:srgbClr val="000000"/>
              </a:solidFill>
              <a:latin typeface="Courier New"/>
              <a:ea typeface="Courier New"/>
              <a:cs typeface="Courier New"/>
              <a:sym typeface="Courier New"/>
            </a:endParaRPr>
          </a:p>
        </p:txBody>
      </p:sp>
      <p:cxnSp>
        <p:nvCxnSpPr>
          <p:cNvPr id="2141" name="Google Shape;2141;p19"/>
          <p:cNvCxnSpPr/>
          <p:nvPr/>
        </p:nvCxnSpPr>
        <p:spPr>
          <a:xfrm>
            <a:off x="3023393" y="3531614"/>
            <a:ext cx="0" cy="2176462"/>
          </a:xfrm>
          <a:prstGeom prst="straightConnector1">
            <a:avLst/>
          </a:prstGeom>
          <a:noFill/>
          <a:ln cap="flat" cmpd="sng" w="19050">
            <a:solidFill>
              <a:srgbClr val="CC0000"/>
            </a:solidFill>
            <a:prstDash val="solid"/>
            <a:round/>
            <a:headEnd len="med" w="med" type="none"/>
            <a:tailEnd len="med" w="med" type="triangle"/>
          </a:ln>
        </p:spPr>
      </p:cxnSp>
      <p:cxnSp>
        <p:nvCxnSpPr>
          <p:cNvPr id="2142" name="Google Shape;2142;p19"/>
          <p:cNvCxnSpPr/>
          <p:nvPr/>
        </p:nvCxnSpPr>
        <p:spPr>
          <a:xfrm>
            <a:off x="5953918" y="3290314"/>
            <a:ext cx="12700" cy="2408237"/>
          </a:xfrm>
          <a:prstGeom prst="straightConnector1">
            <a:avLst/>
          </a:prstGeom>
          <a:noFill/>
          <a:ln cap="flat" cmpd="sng" w="19050">
            <a:solidFill>
              <a:srgbClr val="CC0000"/>
            </a:solidFill>
            <a:prstDash val="solid"/>
            <a:round/>
            <a:headEnd len="med" w="med" type="triangle"/>
            <a:tailEnd len="med" w="med" type="none"/>
          </a:ln>
        </p:spPr>
      </p:cxnSp>
      <p:cxnSp>
        <p:nvCxnSpPr>
          <p:cNvPr id="2143" name="Google Shape;2143;p19"/>
          <p:cNvCxnSpPr/>
          <p:nvPr/>
        </p:nvCxnSpPr>
        <p:spPr>
          <a:xfrm>
            <a:off x="3023393" y="5690614"/>
            <a:ext cx="2936875" cy="0"/>
          </a:xfrm>
          <a:prstGeom prst="straightConnector1">
            <a:avLst/>
          </a:prstGeom>
          <a:noFill/>
          <a:ln cap="flat" cmpd="sng" w="19050">
            <a:solidFill>
              <a:srgbClr val="CC0000"/>
            </a:solidFill>
            <a:prstDash val="solid"/>
            <a:round/>
            <a:headEnd len="med" w="med" type="none"/>
            <a:tailEnd len="med" w="med" type="triangle"/>
          </a:ln>
        </p:spPr>
      </p:cxnSp>
      <p:cxnSp>
        <p:nvCxnSpPr>
          <p:cNvPr id="2144" name="Google Shape;2144;p19"/>
          <p:cNvCxnSpPr/>
          <p:nvPr/>
        </p:nvCxnSpPr>
        <p:spPr>
          <a:xfrm>
            <a:off x="5830093" y="3303014"/>
            <a:ext cx="0" cy="2246312"/>
          </a:xfrm>
          <a:prstGeom prst="straightConnector1">
            <a:avLst/>
          </a:prstGeom>
          <a:noFill/>
          <a:ln cap="flat" cmpd="sng" w="19050">
            <a:solidFill>
              <a:srgbClr val="CC0000"/>
            </a:solidFill>
            <a:prstDash val="solid"/>
            <a:round/>
            <a:headEnd len="med" w="med" type="none"/>
            <a:tailEnd len="med" w="med" type="triangle"/>
          </a:ln>
        </p:spPr>
      </p:cxnSp>
      <p:cxnSp>
        <p:nvCxnSpPr>
          <p:cNvPr id="2145" name="Google Shape;2145;p19"/>
          <p:cNvCxnSpPr/>
          <p:nvPr/>
        </p:nvCxnSpPr>
        <p:spPr>
          <a:xfrm>
            <a:off x="3131343" y="5531864"/>
            <a:ext cx="2740025" cy="0"/>
          </a:xfrm>
          <a:prstGeom prst="straightConnector1">
            <a:avLst/>
          </a:prstGeom>
          <a:noFill/>
          <a:ln cap="flat" cmpd="sng" w="19050">
            <a:solidFill>
              <a:srgbClr val="CC0000"/>
            </a:solidFill>
            <a:prstDash val="solid"/>
            <a:round/>
            <a:headEnd len="med" w="med" type="triangle"/>
            <a:tailEnd len="med" w="med" type="none"/>
          </a:ln>
        </p:spPr>
      </p:cxnSp>
      <p:cxnSp>
        <p:nvCxnSpPr>
          <p:cNvPr id="2146" name="Google Shape;2146;p19"/>
          <p:cNvCxnSpPr/>
          <p:nvPr/>
        </p:nvCxnSpPr>
        <p:spPr>
          <a:xfrm>
            <a:off x="3124993" y="3518914"/>
            <a:ext cx="12700" cy="2017712"/>
          </a:xfrm>
          <a:prstGeom prst="straightConnector1">
            <a:avLst/>
          </a:prstGeom>
          <a:noFill/>
          <a:ln cap="flat" cmpd="sng" w="19050">
            <a:solidFill>
              <a:srgbClr val="CC0000"/>
            </a:solidFill>
            <a:prstDash val="solid"/>
            <a:round/>
            <a:headEnd len="med" w="med" type="triangle"/>
            <a:tailEnd len="med" w="med" type="none"/>
          </a:ln>
        </p:spPr>
      </p:cxnSp>
      <p:cxnSp>
        <p:nvCxnSpPr>
          <p:cNvPr id="2147" name="Google Shape;2147;p19"/>
          <p:cNvCxnSpPr/>
          <p:nvPr/>
        </p:nvCxnSpPr>
        <p:spPr>
          <a:xfrm>
            <a:off x="9033668" y="3569714"/>
            <a:ext cx="0" cy="2176462"/>
          </a:xfrm>
          <a:prstGeom prst="straightConnector1">
            <a:avLst/>
          </a:prstGeom>
          <a:noFill/>
          <a:ln cap="flat" cmpd="sng" w="19050">
            <a:solidFill>
              <a:srgbClr val="CC0000"/>
            </a:solidFill>
            <a:prstDash val="solid"/>
            <a:round/>
            <a:headEnd len="med" w="med" type="none"/>
            <a:tailEnd len="med" w="med" type="triangle"/>
          </a:ln>
        </p:spPr>
      </p:cxnSp>
      <p:cxnSp>
        <p:nvCxnSpPr>
          <p:cNvPr id="2148" name="Google Shape;2148;p19"/>
          <p:cNvCxnSpPr/>
          <p:nvPr/>
        </p:nvCxnSpPr>
        <p:spPr>
          <a:xfrm>
            <a:off x="8916193" y="3537964"/>
            <a:ext cx="12700" cy="2017712"/>
          </a:xfrm>
          <a:prstGeom prst="straightConnector1">
            <a:avLst/>
          </a:prstGeom>
          <a:noFill/>
          <a:ln cap="flat" cmpd="sng" w="19050">
            <a:solidFill>
              <a:srgbClr val="CC0000"/>
            </a:solidFill>
            <a:prstDash val="solid"/>
            <a:round/>
            <a:headEnd len="med" w="med" type="triangle"/>
            <a:tailEnd len="med" w="med" type="none"/>
          </a:ln>
        </p:spPr>
      </p:cxnSp>
      <p:cxnSp>
        <p:nvCxnSpPr>
          <p:cNvPr id="2149" name="Google Shape;2149;p19"/>
          <p:cNvCxnSpPr/>
          <p:nvPr/>
        </p:nvCxnSpPr>
        <p:spPr>
          <a:xfrm>
            <a:off x="6096793" y="3309364"/>
            <a:ext cx="12700" cy="2408237"/>
          </a:xfrm>
          <a:prstGeom prst="straightConnector1">
            <a:avLst/>
          </a:prstGeom>
          <a:noFill/>
          <a:ln cap="flat" cmpd="sng" w="19050">
            <a:solidFill>
              <a:srgbClr val="CC0000"/>
            </a:solidFill>
            <a:prstDash val="solid"/>
            <a:round/>
            <a:headEnd len="med" w="med" type="triangle"/>
            <a:tailEnd len="med" w="med" type="none"/>
          </a:ln>
        </p:spPr>
      </p:cxnSp>
      <p:cxnSp>
        <p:nvCxnSpPr>
          <p:cNvPr id="2150" name="Google Shape;2150;p19"/>
          <p:cNvCxnSpPr/>
          <p:nvPr/>
        </p:nvCxnSpPr>
        <p:spPr>
          <a:xfrm>
            <a:off x="6230143" y="3322064"/>
            <a:ext cx="0" cy="2246312"/>
          </a:xfrm>
          <a:prstGeom prst="straightConnector1">
            <a:avLst/>
          </a:prstGeom>
          <a:noFill/>
          <a:ln cap="flat" cmpd="sng" w="19050">
            <a:solidFill>
              <a:srgbClr val="CC0000"/>
            </a:solidFill>
            <a:prstDash val="solid"/>
            <a:round/>
            <a:headEnd len="med" w="med" type="none"/>
            <a:tailEnd len="med" w="med" type="triangle"/>
          </a:ln>
        </p:spPr>
      </p:cxnSp>
      <p:cxnSp>
        <p:nvCxnSpPr>
          <p:cNvPr id="2151" name="Google Shape;2151;p19"/>
          <p:cNvCxnSpPr/>
          <p:nvPr/>
        </p:nvCxnSpPr>
        <p:spPr>
          <a:xfrm>
            <a:off x="6119018" y="5709664"/>
            <a:ext cx="2936875" cy="0"/>
          </a:xfrm>
          <a:prstGeom prst="straightConnector1">
            <a:avLst/>
          </a:prstGeom>
          <a:noFill/>
          <a:ln cap="flat" cmpd="sng" w="19050">
            <a:solidFill>
              <a:srgbClr val="CC0000"/>
            </a:solidFill>
            <a:prstDash val="solid"/>
            <a:round/>
            <a:headEnd len="med" w="med" type="triangle"/>
            <a:tailEnd len="med" w="med" type="none"/>
          </a:ln>
        </p:spPr>
      </p:cxnSp>
      <p:cxnSp>
        <p:nvCxnSpPr>
          <p:cNvPr id="2152" name="Google Shape;2152;p19"/>
          <p:cNvCxnSpPr/>
          <p:nvPr/>
        </p:nvCxnSpPr>
        <p:spPr>
          <a:xfrm>
            <a:off x="6204743" y="5541389"/>
            <a:ext cx="2740025" cy="0"/>
          </a:xfrm>
          <a:prstGeom prst="straightConnector1">
            <a:avLst/>
          </a:prstGeom>
          <a:noFill/>
          <a:ln cap="flat" cmpd="sng" w="19050">
            <a:solidFill>
              <a:srgbClr val="CC0000"/>
            </a:solidFill>
            <a:prstDash val="solid"/>
            <a:round/>
            <a:headEnd len="med" w="med" type="none"/>
            <a:tailEnd len="med" w="med" type="triangle"/>
          </a:ln>
        </p:spPr>
      </p:cxnSp>
      <p:grpSp>
        <p:nvGrpSpPr>
          <p:cNvPr id="2153" name="Google Shape;2153;p19"/>
          <p:cNvGrpSpPr/>
          <p:nvPr/>
        </p:nvGrpSpPr>
        <p:grpSpPr>
          <a:xfrm>
            <a:off x="2740818" y="5790626"/>
            <a:ext cx="1644650" cy="652463"/>
            <a:chOff x="1318" y="3697"/>
            <a:chExt cx="1036" cy="411"/>
          </a:xfrm>
        </p:grpSpPr>
        <p:sp>
          <p:nvSpPr>
            <p:cNvPr id="2154" name="Google Shape;2154;p19"/>
            <p:cNvSpPr/>
            <p:nvPr/>
          </p:nvSpPr>
          <p:spPr>
            <a:xfrm>
              <a:off x="1553" y="3697"/>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155" name="Google Shape;2155;p19"/>
            <p:cNvCxnSpPr/>
            <p:nvPr/>
          </p:nvCxnSpPr>
          <p:spPr>
            <a:xfrm>
              <a:off x="2179" y="3770"/>
              <a:ext cx="175" cy="0"/>
            </a:xfrm>
            <a:prstGeom prst="straightConnector1">
              <a:avLst/>
            </a:prstGeom>
            <a:noFill/>
            <a:ln cap="flat" cmpd="sng" w="38100">
              <a:solidFill>
                <a:srgbClr val="CC0000"/>
              </a:solidFill>
              <a:prstDash val="solid"/>
              <a:round/>
              <a:headEnd len="med" w="med" type="none"/>
              <a:tailEnd len="med" w="med" type="triangle"/>
            </a:ln>
          </p:spPr>
        </p:cxnSp>
        <p:sp>
          <p:nvSpPr>
            <p:cNvPr id="2156" name="Google Shape;2156;p19"/>
            <p:cNvSpPr txBox="1"/>
            <p:nvPr/>
          </p:nvSpPr>
          <p:spPr>
            <a:xfrm>
              <a:off x="1318" y="3822"/>
              <a:ext cx="994" cy="28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port: 9157</a:t>
              </a:r>
              <a:endParaRPr/>
            </a:p>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port: 6428</a:t>
              </a:r>
              <a:endParaRPr/>
            </a:p>
          </p:txBody>
        </p:sp>
      </p:grpSp>
      <p:grpSp>
        <p:nvGrpSpPr>
          <p:cNvPr id="2157" name="Google Shape;2157;p19"/>
          <p:cNvGrpSpPr/>
          <p:nvPr/>
        </p:nvGrpSpPr>
        <p:grpSpPr>
          <a:xfrm>
            <a:off x="4039393" y="4914326"/>
            <a:ext cx="1692275" cy="652463"/>
            <a:chOff x="2741" y="3750"/>
            <a:chExt cx="1066" cy="411"/>
          </a:xfrm>
        </p:grpSpPr>
        <p:sp>
          <p:nvSpPr>
            <p:cNvPr id="2158" name="Google Shape;2158;p19"/>
            <p:cNvSpPr/>
            <p:nvPr/>
          </p:nvSpPr>
          <p:spPr>
            <a:xfrm>
              <a:off x="2859" y="3750"/>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159" name="Google Shape;2159;p19"/>
            <p:cNvCxnSpPr/>
            <p:nvPr/>
          </p:nvCxnSpPr>
          <p:spPr>
            <a:xfrm>
              <a:off x="2741" y="3837"/>
              <a:ext cx="175" cy="0"/>
            </a:xfrm>
            <a:prstGeom prst="straightConnector1">
              <a:avLst/>
            </a:prstGeom>
            <a:noFill/>
            <a:ln cap="flat" cmpd="sng" w="38100">
              <a:solidFill>
                <a:srgbClr val="CC0000"/>
              </a:solidFill>
              <a:prstDash val="solid"/>
              <a:round/>
              <a:headEnd len="med" w="med" type="triangle"/>
              <a:tailEnd len="med" w="med" type="none"/>
            </a:ln>
          </p:spPr>
        </p:cxnSp>
        <p:sp>
          <p:nvSpPr>
            <p:cNvPr id="2160" name="Google Shape;2160;p19"/>
            <p:cNvSpPr txBox="1"/>
            <p:nvPr/>
          </p:nvSpPr>
          <p:spPr>
            <a:xfrm>
              <a:off x="2813" y="3875"/>
              <a:ext cx="994" cy="286"/>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port: 6428</a:t>
              </a:r>
              <a:endParaRPr/>
            </a:p>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port: 9157</a:t>
              </a:r>
              <a:endParaRPr/>
            </a:p>
          </p:txBody>
        </p:sp>
      </p:grpSp>
      <p:grpSp>
        <p:nvGrpSpPr>
          <p:cNvPr id="2161" name="Google Shape;2161;p19"/>
          <p:cNvGrpSpPr/>
          <p:nvPr/>
        </p:nvGrpSpPr>
        <p:grpSpPr>
          <a:xfrm>
            <a:off x="7063581" y="4914326"/>
            <a:ext cx="1341437" cy="652463"/>
            <a:chOff x="1509" y="3697"/>
            <a:chExt cx="845" cy="411"/>
          </a:xfrm>
        </p:grpSpPr>
        <p:sp>
          <p:nvSpPr>
            <p:cNvPr id="2162" name="Google Shape;2162;p19"/>
            <p:cNvSpPr/>
            <p:nvPr/>
          </p:nvSpPr>
          <p:spPr>
            <a:xfrm>
              <a:off x="1553" y="3697"/>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163" name="Google Shape;2163;p19"/>
            <p:cNvCxnSpPr/>
            <p:nvPr/>
          </p:nvCxnSpPr>
          <p:spPr>
            <a:xfrm>
              <a:off x="2179" y="3770"/>
              <a:ext cx="175" cy="0"/>
            </a:xfrm>
            <a:prstGeom prst="straightConnector1">
              <a:avLst/>
            </a:prstGeom>
            <a:noFill/>
            <a:ln cap="flat" cmpd="sng" w="38100">
              <a:solidFill>
                <a:srgbClr val="CC0000"/>
              </a:solidFill>
              <a:prstDash val="solid"/>
              <a:round/>
              <a:headEnd len="med" w="med" type="none"/>
              <a:tailEnd len="med" w="med" type="triangle"/>
            </a:ln>
          </p:spPr>
        </p:cxnSp>
        <p:sp>
          <p:nvSpPr>
            <p:cNvPr id="2164" name="Google Shape;2164;p19"/>
            <p:cNvSpPr txBox="1"/>
            <p:nvPr/>
          </p:nvSpPr>
          <p:spPr>
            <a:xfrm>
              <a:off x="1509" y="3822"/>
              <a:ext cx="803" cy="28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port: ?</a:t>
              </a:r>
              <a:endParaRPr/>
            </a:p>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port: ?</a:t>
              </a:r>
              <a:endParaRPr/>
            </a:p>
          </p:txBody>
        </p:sp>
      </p:grpSp>
      <p:grpSp>
        <p:nvGrpSpPr>
          <p:cNvPr id="2165" name="Google Shape;2165;p19"/>
          <p:cNvGrpSpPr/>
          <p:nvPr/>
        </p:nvGrpSpPr>
        <p:grpSpPr>
          <a:xfrm>
            <a:off x="6304756" y="5768401"/>
            <a:ext cx="1389062" cy="652463"/>
            <a:chOff x="2741" y="3750"/>
            <a:chExt cx="875" cy="411"/>
          </a:xfrm>
        </p:grpSpPr>
        <p:sp>
          <p:nvSpPr>
            <p:cNvPr id="2166" name="Google Shape;2166;p19"/>
            <p:cNvSpPr/>
            <p:nvPr/>
          </p:nvSpPr>
          <p:spPr>
            <a:xfrm>
              <a:off x="2859" y="3750"/>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167" name="Google Shape;2167;p19"/>
            <p:cNvCxnSpPr/>
            <p:nvPr/>
          </p:nvCxnSpPr>
          <p:spPr>
            <a:xfrm>
              <a:off x="2741" y="3837"/>
              <a:ext cx="175" cy="0"/>
            </a:xfrm>
            <a:prstGeom prst="straightConnector1">
              <a:avLst/>
            </a:prstGeom>
            <a:noFill/>
            <a:ln cap="flat" cmpd="sng" w="38100">
              <a:solidFill>
                <a:srgbClr val="CC0000"/>
              </a:solidFill>
              <a:prstDash val="solid"/>
              <a:round/>
              <a:headEnd len="med" w="med" type="triangle"/>
              <a:tailEnd len="med" w="med" type="none"/>
            </a:ln>
          </p:spPr>
        </p:cxnSp>
        <p:sp>
          <p:nvSpPr>
            <p:cNvPr id="2168" name="Google Shape;2168;p19"/>
            <p:cNvSpPr txBox="1"/>
            <p:nvPr/>
          </p:nvSpPr>
          <p:spPr>
            <a:xfrm>
              <a:off x="2813" y="3875"/>
              <a:ext cx="803" cy="286"/>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port: ?</a:t>
              </a:r>
              <a:endParaRPr/>
            </a:p>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port: ?</a:t>
              </a:r>
              <a:endParaRPr/>
            </a:p>
          </p:txBody>
        </p:sp>
      </p:grpSp>
      <p:grpSp>
        <p:nvGrpSpPr>
          <p:cNvPr id="2169" name="Google Shape;2169;p19"/>
          <p:cNvGrpSpPr/>
          <p:nvPr/>
        </p:nvGrpSpPr>
        <p:grpSpPr>
          <a:xfrm>
            <a:off x="1610518" y="4406326"/>
            <a:ext cx="711200" cy="669925"/>
            <a:chOff x="-44" y="1473"/>
            <a:chExt cx="981" cy="1105"/>
          </a:xfrm>
        </p:grpSpPr>
        <p:pic>
          <p:nvPicPr>
            <p:cNvPr descr="desktop_computer_stylized_medium" id="2170" name="Google Shape;2170;p1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171" name="Google Shape;2171;p1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172" name="Google Shape;2172;p19"/>
          <p:cNvGrpSpPr/>
          <p:nvPr/>
        </p:nvGrpSpPr>
        <p:grpSpPr>
          <a:xfrm flipH="1">
            <a:off x="9879806" y="4530151"/>
            <a:ext cx="711200" cy="669925"/>
            <a:chOff x="-44" y="1473"/>
            <a:chExt cx="981" cy="1105"/>
          </a:xfrm>
        </p:grpSpPr>
        <p:pic>
          <p:nvPicPr>
            <p:cNvPr descr="desktop_computer_stylized_medium" id="2173" name="Google Shape;2173;p1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174" name="Google Shape;2174;p1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175" name="Google Shape;2175;p19"/>
          <p:cNvGrpSpPr/>
          <p:nvPr/>
        </p:nvGrpSpPr>
        <p:grpSpPr>
          <a:xfrm>
            <a:off x="4702968" y="3928489"/>
            <a:ext cx="358775" cy="704850"/>
            <a:chOff x="4140" y="429"/>
            <a:chExt cx="1425" cy="2396"/>
          </a:xfrm>
        </p:grpSpPr>
        <p:sp>
          <p:nvSpPr>
            <p:cNvPr id="2176" name="Google Shape;2176;p1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77" name="Google Shape;2177;p19"/>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78" name="Google Shape;2178;p1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79" name="Google Shape;2179;p1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80" name="Google Shape;2180;p19"/>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181" name="Google Shape;2181;p19"/>
            <p:cNvGrpSpPr/>
            <p:nvPr/>
          </p:nvGrpSpPr>
          <p:grpSpPr>
            <a:xfrm>
              <a:off x="4751" y="667"/>
              <a:ext cx="580" cy="146"/>
              <a:chOff x="617" y="2567"/>
              <a:chExt cx="724" cy="140"/>
            </a:xfrm>
          </p:grpSpPr>
          <p:sp>
            <p:nvSpPr>
              <p:cNvPr id="2182" name="Google Shape;2182;p19"/>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83" name="Google Shape;2183;p19"/>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84" name="Google Shape;2184;p19"/>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185" name="Google Shape;2185;p19"/>
            <p:cNvGrpSpPr/>
            <p:nvPr/>
          </p:nvGrpSpPr>
          <p:grpSpPr>
            <a:xfrm>
              <a:off x="4745" y="996"/>
              <a:ext cx="580" cy="156"/>
              <a:chOff x="612" y="2570"/>
              <a:chExt cx="724" cy="162"/>
            </a:xfrm>
          </p:grpSpPr>
          <p:sp>
            <p:nvSpPr>
              <p:cNvPr id="2186" name="Google Shape;2186;p19"/>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87" name="Google Shape;2187;p19"/>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88" name="Google Shape;2188;p19"/>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89" name="Google Shape;2189;p19"/>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190" name="Google Shape;2190;p19"/>
            <p:cNvGrpSpPr/>
            <p:nvPr/>
          </p:nvGrpSpPr>
          <p:grpSpPr>
            <a:xfrm>
              <a:off x="4733" y="1627"/>
              <a:ext cx="586" cy="151"/>
              <a:chOff x="611" y="2568"/>
              <a:chExt cx="730" cy="139"/>
            </a:xfrm>
          </p:grpSpPr>
          <p:sp>
            <p:nvSpPr>
              <p:cNvPr id="2191" name="Google Shape;2191;p19"/>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92" name="Google Shape;2192;p19"/>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93" name="Google Shape;2193;p1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194" name="Google Shape;2194;p19"/>
            <p:cNvGrpSpPr/>
            <p:nvPr/>
          </p:nvGrpSpPr>
          <p:grpSpPr>
            <a:xfrm>
              <a:off x="4739" y="1325"/>
              <a:ext cx="580" cy="140"/>
              <a:chOff x="614" y="2566"/>
              <a:chExt cx="723" cy="140"/>
            </a:xfrm>
          </p:grpSpPr>
          <p:sp>
            <p:nvSpPr>
              <p:cNvPr id="2195" name="Google Shape;2195;p19"/>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96" name="Google Shape;2196;p19"/>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97" name="Google Shape;2197;p19"/>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98" name="Google Shape;2198;p1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99" name="Google Shape;2199;p1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0" name="Google Shape;2200;p19"/>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1" name="Google Shape;2201;p1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2" name="Google Shape;2202;p19"/>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3" name="Google Shape;2203;p19"/>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4" name="Google Shape;2204;p19"/>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5" name="Google Shape;2205;p19"/>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206" name="Google Shape;2206;p19"/>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07" name="Google Shape;2207;p19"/>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08" name="Google Shape;2208;p1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9"/>
                                        </p:tgtEl>
                                        <p:attrNameLst>
                                          <p:attrName>style.visibility</p:attrName>
                                        </p:attrNameLst>
                                      </p:cBhvr>
                                      <p:to>
                                        <p:strVal val="visible"/>
                                      </p:to>
                                    </p:set>
                                    <p:animEffect filter="fade" transition="in">
                                      <p:cBhvr>
                                        <p:cTn dur="500"/>
                                        <p:tgtEl>
                                          <p:spTgt spid="2099"/>
                                        </p:tgtEl>
                                      </p:cBhvr>
                                    </p:animEffect>
                                  </p:childTnLst>
                                </p:cTn>
                              </p:par>
                              <p:par>
                                <p:cTn fill="hold" nodeType="withEffect" presetClass="entr" presetID="10" presetSubtype="0">
                                  <p:stCondLst>
                                    <p:cond delay="0"/>
                                  </p:stCondLst>
                                  <p:childTnLst>
                                    <p:set>
                                      <p:cBhvr>
                                        <p:cTn dur="1" fill="hold">
                                          <p:stCondLst>
                                            <p:cond delay="0"/>
                                          </p:stCondLst>
                                        </p:cTn>
                                        <p:tgtEl>
                                          <p:spTgt spid="2140"/>
                                        </p:tgtEl>
                                        <p:attrNameLst>
                                          <p:attrName>style.visibility</p:attrName>
                                        </p:attrNameLst>
                                      </p:cBhvr>
                                      <p:to>
                                        <p:strVal val="visible"/>
                                      </p:to>
                                    </p:set>
                                    <p:animEffect filter="fade" transition="in">
                                      <p:cBhvr>
                                        <p:cTn dur="500"/>
                                        <p:tgtEl>
                                          <p:spTgt spid="2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4"/>
                                        </p:tgtEl>
                                        <p:attrNameLst>
                                          <p:attrName>style.visibility</p:attrName>
                                        </p:attrNameLst>
                                      </p:cBhvr>
                                      <p:to>
                                        <p:strVal val="visible"/>
                                      </p:to>
                                    </p:set>
                                    <p:animEffect filter="fade" transition="in">
                                      <p:cBhvr>
                                        <p:cTn dur="500"/>
                                        <p:tgtEl>
                                          <p:spTgt spid="2134"/>
                                        </p:tgtEl>
                                      </p:cBhvr>
                                    </p:animEffect>
                                  </p:childTnLst>
                                </p:cTn>
                              </p:par>
                              <p:par>
                                <p:cTn fill="hold" nodeType="withEffect" presetClass="entr" presetID="10" presetSubtype="0">
                                  <p:stCondLst>
                                    <p:cond delay="0"/>
                                  </p:stCondLst>
                                  <p:childTnLst>
                                    <p:set>
                                      <p:cBhvr>
                                        <p:cTn dur="1" fill="hold">
                                          <p:stCondLst>
                                            <p:cond delay="0"/>
                                          </p:stCondLst>
                                        </p:cTn>
                                        <p:tgtEl>
                                          <p:spTgt spid="2139">
                                            <p:txEl>
                                              <p:pRg end="0" st="0"/>
                                            </p:txEl>
                                          </p:spTgt>
                                        </p:tgtEl>
                                        <p:attrNameLst>
                                          <p:attrName>style.visibility</p:attrName>
                                        </p:attrNameLst>
                                      </p:cBhvr>
                                      <p:to>
                                        <p:strVal val="visible"/>
                                      </p:to>
                                    </p:set>
                                    <p:animEffect filter="fade" transition="in">
                                      <p:cBhvr>
                                        <p:cTn dur="500"/>
                                        <p:tgtEl>
                                          <p:spTgt spid="2139">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139">
                                            <p:txEl>
                                              <p:pRg end="1" st="1"/>
                                            </p:txEl>
                                          </p:spTgt>
                                        </p:tgtEl>
                                        <p:attrNameLst>
                                          <p:attrName>style.visibility</p:attrName>
                                        </p:attrNameLst>
                                      </p:cBhvr>
                                      <p:to>
                                        <p:strVal val="visible"/>
                                      </p:to>
                                    </p:set>
                                    <p:animEffect filter="fade" transition="in">
                                      <p:cBhvr>
                                        <p:cTn dur="500"/>
                                        <p:tgtEl>
                                          <p:spTgt spid="213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6"/>
                                        </p:tgtEl>
                                        <p:attrNameLst>
                                          <p:attrName>style.visibility</p:attrName>
                                        </p:attrNameLst>
                                      </p:cBhvr>
                                      <p:to>
                                        <p:strVal val="visible"/>
                                      </p:to>
                                    </p:set>
                                    <p:animEffect filter="fade" transition="in">
                                      <p:cBhvr>
                                        <p:cTn dur="500"/>
                                        <p:tgtEl>
                                          <p:spTgt spid="2116"/>
                                        </p:tgtEl>
                                      </p:cBhvr>
                                    </p:animEffect>
                                  </p:childTnLst>
                                </p:cTn>
                              </p:par>
                              <p:par>
                                <p:cTn fill="hold" nodeType="withEffect" presetClass="entr" presetID="1" presetSubtype="0">
                                  <p:stCondLst>
                                    <p:cond delay="0"/>
                                  </p:stCondLst>
                                  <p:childTnLst>
                                    <p:set>
                                      <p:cBhvr>
                                        <p:cTn dur="1" fill="hold">
                                          <p:stCondLst>
                                            <p:cond delay="0"/>
                                          </p:stCondLst>
                                        </p:cTn>
                                        <p:tgtEl>
                                          <p:spTgt spid="2084">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84">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8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1"/>
                                        </p:tgtEl>
                                        <p:attrNameLst>
                                          <p:attrName>style.visibility</p:attrName>
                                        </p:attrNameLst>
                                      </p:cBhvr>
                                      <p:to>
                                        <p:strVal val="visible"/>
                                      </p:to>
                                    </p:set>
                                    <p:animEffect filter="fade" transition="in">
                                      <p:cBhvr>
                                        <p:cTn dur="500"/>
                                        <p:tgtEl>
                                          <p:spTgt spid="214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143"/>
                                        </p:tgtEl>
                                        <p:attrNameLst>
                                          <p:attrName>style.visibility</p:attrName>
                                        </p:attrNameLst>
                                      </p:cBhvr>
                                      <p:to>
                                        <p:strVal val="visible"/>
                                      </p:to>
                                    </p:set>
                                    <p:animEffect filter="fade" transition="in">
                                      <p:cBhvr>
                                        <p:cTn dur="500"/>
                                        <p:tgtEl>
                                          <p:spTgt spid="2143"/>
                                        </p:tgtEl>
                                      </p:cBhvr>
                                    </p:animEffect>
                                  </p:childTnLst>
                                </p:cTn>
                              </p:par>
                              <p:par>
                                <p:cTn fill="hold" nodeType="withEffect" presetClass="entr" presetID="10" presetSubtype="0">
                                  <p:stCondLst>
                                    <p:cond delay="0"/>
                                  </p:stCondLst>
                                  <p:childTnLst>
                                    <p:set>
                                      <p:cBhvr>
                                        <p:cTn dur="1" fill="hold">
                                          <p:stCondLst>
                                            <p:cond delay="0"/>
                                          </p:stCondLst>
                                        </p:cTn>
                                        <p:tgtEl>
                                          <p:spTgt spid="2153"/>
                                        </p:tgtEl>
                                        <p:attrNameLst>
                                          <p:attrName>style.visibility</p:attrName>
                                        </p:attrNameLst>
                                      </p:cBhvr>
                                      <p:to>
                                        <p:strVal val="visible"/>
                                      </p:to>
                                    </p:set>
                                    <p:animEffect filter="fade" transition="in">
                                      <p:cBhvr>
                                        <p:cTn dur="500"/>
                                        <p:tgtEl>
                                          <p:spTgt spid="215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142"/>
                                        </p:tgtEl>
                                        <p:attrNameLst>
                                          <p:attrName>style.visibility</p:attrName>
                                        </p:attrNameLst>
                                      </p:cBhvr>
                                      <p:to>
                                        <p:strVal val="visible"/>
                                      </p:to>
                                    </p:set>
                                    <p:animEffect filter="fade" transition="in">
                                      <p:cBhvr>
                                        <p:cTn dur="500"/>
                                        <p:tgtEl>
                                          <p:spTgt spid="2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4"/>
                                        </p:tgtEl>
                                        <p:attrNameLst>
                                          <p:attrName>style.visibility</p:attrName>
                                        </p:attrNameLst>
                                      </p:cBhvr>
                                      <p:to>
                                        <p:strVal val="visible"/>
                                      </p:to>
                                    </p:set>
                                    <p:animEffect filter="fade" transition="in">
                                      <p:cBhvr>
                                        <p:cTn dur="500"/>
                                        <p:tgtEl>
                                          <p:spTgt spid="214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145"/>
                                        </p:tgtEl>
                                        <p:attrNameLst>
                                          <p:attrName>style.visibility</p:attrName>
                                        </p:attrNameLst>
                                      </p:cBhvr>
                                      <p:to>
                                        <p:strVal val="visible"/>
                                      </p:to>
                                    </p:set>
                                    <p:animEffect filter="fade" transition="in">
                                      <p:cBhvr>
                                        <p:cTn dur="500"/>
                                        <p:tgtEl>
                                          <p:spTgt spid="2145"/>
                                        </p:tgtEl>
                                      </p:cBhvr>
                                    </p:animEffect>
                                  </p:childTnLst>
                                </p:cTn>
                              </p:par>
                              <p:par>
                                <p:cTn fill="hold" nodeType="withEffect" presetClass="entr" presetID="10" presetSubtype="0">
                                  <p:stCondLst>
                                    <p:cond delay="0"/>
                                  </p:stCondLst>
                                  <p:childTnLst>
                                    <p:set>
                                      <p:cBhvr>
                                        <p:cTn dur="1" fill="hold">
                                          <p:stCondLst>
                                            <p:cond delay="0"/>
                                          </p:stCondLst>
                                        </p:cTn>
                                        <p:tgtEl>
                                          <p:spTgt spid="2157"/>
                                        </p:tgtEl>
                                        <p:attrNameLst>
                                          <p:attrName>style.visibility</p:attrName>
                                        </p:attrNameLst>
                                      </p:cBhvr>
                                      <p:to>
                                        <p:strVal val="visible"/>
                                      </p:to>
                                    </p:set>
                                    <p:animEffect filter="fade" transition="in">
                                      <p:cBhvr>
                                        <p:cTn dur="500"/>
                                        <p:tgtEl>
                                          <p:spTgt spid="215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146"/>
                                        </p:tgtEl>
                                        <p:attrNameLst>
                                          <p:attrName>style.visibility</p:attrName>
                                        </p:attrNameLst>
                                      </p:cBhvr>
                                      <p:to>
                                        <p:strVal val="visible"/>
                                      </p:to>
                                    </p:set>
                                    <p:animEffect filter="fade" transition="in">
                                      <p:cBhvr>
                                        <p:cTn dur="500"/>
                                        <p:tgtEl>
                                          <p:spTgt spid="21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0"/>
                                        </p:tgtEl>
                                        <p:attrNameLst>
                                          <p:attrName>style.visibility</p:attrName>
                                        </p:attrNameLst>
                                      </p:cBhvr>
                                      <p:to>
                                        <p:strVal val="visible"/>
                                      </p:to>
                                    </p:set>
                                    <p:animEffect filter="fade" transition="in">
                                      <p:cBhvr>
                                        <p:cTn dur="500"/>
                                        <p:tgtEl>
                                          <p:spTgt spid="215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152"/>
                                        </p:tgtEl>
                                        <p:attrNameLst>
                                          <p:attrName>style.visibility</p:attrName>
                                        </p:attrNameLst>
                                      </p:cBhvr>
                                      <p:to>
                                        <p:strVal val="visible"/>
                                      </p:to>
                                    </p:set>
                                    <p:animEffect filter="fade" transition="in">
                                      <p:cBhvr>
                                        <p:cTn dur="500"/>
                                        <p:tgtEl>
                                          <p:spTgt spid="2152"/>
                                        </p:tgtEl>
                                      </p:cBhvr>
                                    </p:animEffect>
                                  </p:childTnLst>
                                </p:cTn>
                              </p:par>
                              <p:par>
                                <p:cTn fill="hold" nodeType="withEffect" presetClass="entr" presetID="10" presetSubtype="0">
                                  <p:stCondLst>
                                    <p:cond delay="0"/>
                                  </p:stCondLst>
                                  <p:childTnLst>
                                    <p:set>
                                      <p:cBhvr>
                                        <p:cTn dur="1" fill="hold">
                                          <p:stCondLst>
                                            <p:cond delay="0"/>
                                          </p:stCondLst>
                                        </p:cTn>
                                        <p:tgtEl>
                                          <p:spTgt spid="2161"/>
                                        </p:tgtEl>
                                        <p:attrNameLst>
                                          <p:attrName>style.visibility</p:attrName>
                                        </p:attrNameLst>
                                      </p:cBhvr>
                                      <p:to>
                                        <p:strVal val="visible"/>
                                      </p:to>
                                    </p:set>
                                    <p:animEffect filter="fade" transition="in">
                                      <p:cBhvr>
                                        <p:cTn dur="500"/>
                                        <p:tgtEl>
                                          <p:spTgt spid="216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148"/>
                                        </p:tgtEl>
                                        <p:attrNameLst>
                                          <p:attrName>style.visibility</p:attrName>
                                        </p:attrNameLst>
                                      </p:cBhvr>
                                      <p:to>
                                        <p:strVal val="visible"/>
                                      </p:to>
                                    </p:set>
                                    <p:animEffect filter="fade" transition="in">
                                      <p:cBhvr>
                                        <p:cTn dur="500"/>
                                        <p:tgtEl>
                                          <p:spTgt spid="214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147"/>
                                        </p:tgtEl>
                                        <p:attrNameLst>
                                          <p:attrName>style.visibility</p:attrName>
                                        </p:attrNameLst>
                                      </p:cBhvr>
                                      <p:to>
                                        <p:strVal val="visible"/>
                                      </p:to>
                                    </p:set>
                                    <p:animEffect filter="fade" transition="in">
                                      <p:cBhvr>
                                        <p:cTn dur="500"/>
                                        <p:tgtEl>
                                          <p:spTgt spid="214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151"/>
                                        </p:tgtEl>
                                        <p:attrNameLst>
                                          <p:attrName>style.visibility</p:attrName>
                                        </p:attrNameLst>
                                      </p:cBhvr>
                                      <p:to>
                                        <p:strVal val="visible"/>
                                      </p:to>
                                    </p:set>
                                    <p:animEffect filter="fade" transition="in">
                                      <p:cBhvr>
                                        <p:cTn dur="500"/>
                                        <p:tgtEl>
                                          <p:spTgt spid="2151"/>
                                        </p:tgtEl>
                                      </p:cBhvr>
                                    </p:animEffect>
                                  </p:childTnLst>
                                </p:cTn>
                              </p:par>
                              <p:par>
                                <p:cTn fill="hold" nodeType="withEffect" presetClass="entr" presetID="10" presetSubtype="0">
                                  <p:stCondLst>
                                    <p:cond delay="0"/>
                                  </p:stCondLst>
                                  <p:childTnLst>
                                    <p:set>
                                      <p:cBhvr>
                                        <p:cTn dur="1" fill="hold">
                                          <p:stCondLst>
                                            <p:cond delay="0"/>
                                          </p:stCondLst>
                                        </p:cTn>
                                        <p:tgtEl>
                                          <p:spTgt spid="2165"/>
                                        </p:tgtEl>
                                        <p:attrNameLst>
                                          <p:attrName>style.visibility</p:attrName>
                                        </p:attrNameLst>
                                      </p:cBhvr>
                                      <p:to>
                                        <p:strVal val="visible"/>
                                      </p:to>
                                    </p:set>
                                    <p:animEffect filter="fade" transition="in">
                                      <p:cBhvr>
                                        <p:cTn dur="500"/>
                                        <p:tgtEl>
                                          <p:spTgt spid="2165"/>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149"/>
                                        </p:tgtEl>
                                        <p:attrNameLst>
                                          <p:attrName>style.visibility</p:attrName>
                                        </p:attrNameLst>
                                      </p:cBhvr>
                                      <p:to>
                                        <p:strVal val="visible"/>
                                      </p:to>
                                    </p:set>
                                    <p:animEffect filter="fade" transition="in">
                                      <p:cBhvr>
                                        <p:cTn dur="500"/>
                                        <p:tgtEl>
                                          <p:spTgt spid="21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3" name="Shape 2213"/>
        <p:cNvGrpSpPr/>
        <p:nvPr/>
      </p:nvGrpSpPr>
      <p:grpSpPr>
        <a:xfrm>
          <a:off x="0" y="0"/>
          <a:ext cx="0" cy="0"/>
          <a:chOff x="0" y="0"/>
          <a:chExt cx="0" cy="0"/>
        </a:xfrm>
      </p:grpSpPr>
      <p:sp>
        <p:nvSpPr>
          <p:cNvPr id="2214" name="Google Shape;2214;p2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Connection-oriented demultiplexing</a:t>
            </a:r>
            <a:endParaRPr/>
          </a:p>
        </p:txBody>
      </p:sp>
      <p:sp>
        <p:nvSpPr>
          <p:cNvPr id="2215" name="Google Shape;2215;p20"/>
          <p:cNvSpPr txBox="1"/>
          <p:nvPr/>
        </p:nvSpPr>
        <p:spPr>
          <a:xfrm>
            <a:off x="798689" y="1495768"/>
            <a:ext cx="4770837" cy="2942610"/>
          </a:xfrm>
          <a:prstGeom prst="rect">
            <a:avLst/>
          </a:prstGeom>
          <a:noFill/>
          <a:ln>
            <a:noFill/>
          </a:ln>
        </p:spPr>
        <p:txBody>
          <a:bodyPr anchorCtr="0" anchor="t" bIns="45700" lIns="91425" spcFirstLastPara="1" rIns="91425" wrap="square" tIns="45700">
            <a:normAutofit lnSpcReduction="10000"/>
          </a:bodyPr>
          <a:lstStyle/>
          <a:p>
            <a:pPr indent="-276225" lvl="0" marL="4000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TCP socket identified by </a:t>
            </a:r>
            <a:r>
              <a:rPr b="0" i="0" lang="en-US" sz="3200" u="none" cap="none" strike="noStrike">
                <a:solidFill>
                  <a:srgbClr val="C00000"/>
                </a:solidFill>
                <a:latin typeface="Calibri"/>
                <a:ea typeface="Calibri"/>
                <a:cs typeface="Calibri"/>
                <a:sym typeface="Calibri"/>
              </a:rPr>
              <a:t>4-tuple: </a:t>
            </a:r>
            <a:endParaRPr/>
          </a:p>
          <a:p>
            <a:pPr indent="-231775" lvl="1" marL="695325" marR="0" rtl="0" algn="l">
              <a:lnSpc>
                <a:spcPct val="90000"/>
              </a:lnSpc>
              <a:spcBef>
                <a:spcPts val="500"/>
              </a:spcBef>
              <a:spcAft>
                <a:spcPts val="0"/>
              </a:spcAft>
              <a:buClr>
                <a:srgbClr val="0000A8"/>
              </a:buClr>
              <a:buSzPts val="3200"/>
              <a:buFont typeface="Arial"/>
              <a:buChar char="•"/>
            </a:pPr>
            <a:r>
              <a:rPr b="0" i="0" lang="en-US" sz="3200" u="none" cap="none" strike="noStrike">
                <a:solidFill>
                  <a:srgbClr val="C00000"/>
                </a:solidFill>
                <a:latin typeface="Calibri"/>
                <a:ea typeface="Calibri"/>
                <a:cs typeface="Calibri"/>
                <a:sym typeface="Calibri"/>
              </a:rPr>
              <a:t>source IP address</a:t>
            </a:r>
            <a:endParaRPr/>
          </a:p>
          <a:p>
            <a:pPr indent="-231775" lvl="1" marL="695325" marR="0" rtl="0" algn="l">
              <a:lnSpc>
                <a:spcPct val="90000"/>
              </a:lnSpc>
              <a:spcBef>
                <a:spcPts val="500"/>
              </a:spcBef>
              <a:spcAft>
                <a:spcPts val="0"/>
              </a:spcAft>
              <a:buClr>
                <a:srgbClr val="0000A8"/>
              </a:buClr>
              <a:buSzPts val="3200"/>
              <a:buFont typeface="Arial"/>
              <a:buChar char="•"/>
            </a:pPr>
            <a:r>
              <a:rPr b="0" i="0" lang="en-US" sz="3200" u="none" cap="none" strike="noStrike">
                <a:solidFill>
                  <a:srgbClr val="C00000"/>
                </a:solidFill>
                <a:latin typeface="Calibri"/>
                <a:ea typeface="Calibri"/>
                <a:cs typeface="Calibri"/>
                <a:sym typeface="Calibri"/>
              </a:rPr>
              <a:t>source port number</a:t>
            </a:r>
            <a:endParaRPr/>
          </a:p>
          <a:p>
            <a:pPr indent="-231775" lvl="1" marL="695325" marR="0" rtl="0" algn="l">
              <a:lnSpc>
                <a:spcPct val="90000"/>
              </a:lnSpc>
              <a:spcBef>
                <a:spcPts val="500"/>
              </a:spcBef>
              <a:spcAft>
                <a:spcPts val="0"/>
              </a:spcAft>
              <a:buClr>
                <a:srgbClr val="0000A8"/>
              </a:buClr>
              <a:buSzPts val="3200"/>
              <a:buFont typeface="Arial"/>
              <a:buChar char="•"/>
            </a:pPr>
            <a:r>
              <a:rPr b="0" i="0" lang="en-US" sz="3200" u="none" cap="none" strike="noStrike">
                <a:solidFill>
                  <a:srgbClr val="C00000"/>
                </a:solidFill>
                <a:latin typeface="Calibri"/>
                <a:ea typeface="Calibri"/>
                <a:cs typeface="Calibri"/>
                <a:sym typeface="Calibri"/>
              </a:rPr>
              <a:t>dest IP address</a:t>
            </a:r>
            <a:endParaRPr/>
          </a:p>
          <a:p>
            <a:pPr indent="-231775" lvl="1" marL="695325" marR="0" rtl="0" algn="l">
              <a:lnSpc>
                <a:spcPct val="90000"/>
              </a:lnSpc>
              <a:spcBef>
                <a:spcPts val="500"/>
              </a:spcBef>
              <a:spcAft>
                <a:spcPts val="0"/>
              </a:spcAft>
              <a:buClr>
                <a:srgbClr val="0000A8"/>
              </a:buClr>
              <a:buSzPts val="3200"/>
              <a:buFont typeface="Arial"/>
              <a:buChar char="•"/>
            </a:pPr>
            <a:r>
              <a:rPr b="0" i="0" lang="en-US" sz="3200" u="none" cap="none" strike="noStrike">
                <a:solidFill>
                  <a:srgbClr val="C00000"/>
                </a:solidFill>
                <a:latin typeface="Calibri"/>
                <a:ea typeface="Calibri"/>
                <a:cs typeface="Calibri"/>
                <a:sym typeface="Calibri"/>
              </a:rPr>
              <a:t>dest port number</a:t>
            </a:r>
            <a:endParaRPr/>
          </a:p>
        </p:txBody>
      </p:sp>
      <p:sp>
        <p:nvSpPr>
          <p:cNvPr id="2216" name="Google Shape;2216;p20"/>
          <p:cNvSpPr txBox="1"/>
          <p:nvPr/>
        </p:nvSpPr>
        <p:spPr>
          <a:xfrm>
            <a:off x="6476415" y="1510775"/>
            <a:ext cx="5036711" cy="4974770"/>
          </a:xfrm>
          <a:prstGeom prst="rect">
            <a:avLst/>
          </a:prstGeom>
          <a:noFill/>
          <a:ln>
            <a:noFill/>
          </a:ln>
        </p:spPr>
        <p:txBody>
          <a:bodyPr anchorCtr="0" anchor="t" bIns="45700" lIns="91425" spcFirstLastPara="1" rIns="91425" wrap="square" tIns="45700">
            <a:normAutofit/>
          </a:bodyPr>
          <a:lstStyle/>
          <a:p>
            <a:pPr indent="-288925" lvl="0" marL="468313"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server may support many simultaneous TCP sockets: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each socket identified by its own 4-tuple</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each socket associated with a different connecting client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chemeClr val="dk1"/>
                </a:solidFill>
                <a:latin typeface="Calibri"/>
                <a:ea typeface="Calibri"/>
                <a:cs typeface="Calibri"/>
                <a:sym typeface="Calibri"/>
              </a:rPr>
              <a:t>web servers have different sockets for each connecting client</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non-persistent HTTP will have different socket for each request</a:t>
            </a:r>
            <a:endParaRPr/>
          </a:p>
        </p:txBody>
      </p:sp>
      <p:sp>
        <p:nvSpPr>
          <p:cNvPr id="2217" name="Google Shape;2217;p20"/>
          <p:cNvSpPr txBox="1"/>
          <p:nvPr/>
        </p:nvSpPr>
        <p:spPr>
          <a:xfrm>
            <a:off x="784324" y="4284442"/>
            <a:ext cx="4770837" cy="2228578"/>
          </a:xfrm>
          <a:prstGeom prst="rect">
            <a:avLst/>
          </a:prstGeom>
          <a:noFill/>
          <a:ln>
            <a:noFill/>
          </a:ln>
        </p:spPr>
        <p:txBody>
          <a:bodyPr anchorCtr="0" anchor="t" bIns="45700" lIns="91425" spcFirstLastPara="1" rIns="91425" wrap="square" tIns="45700">
            <a:normAutofit/>
          </a:bodyPr>
          <a:lstStyle/>
          <a:p>
            <a:pPr indent="-269875" lvl="0" marL="4000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demux: receiver uses </a:t>
            </a:r>
            <a:r>
              <a:rPr b="0" i="1" lang="en-US" sz="3200" u="none" cap="none" strike="noStrike">
                <a:solidFill>
                  <a:srgbClr val="C00000"/>
                </a:solidFill>
                <a:latin typeface="Calibri"/>
                <a:ea typeface="Calibri"/>
                <a:cs typeface="Calibri"/>
                <a:sym typeface="Calibri"/>
              </a:rPr>
              <a:t>all four values </a:t>
            </a:r>
            <a:r>
              <a:rPr b="0" i="1" lang="en-US" sz="3200" u="none" cap="none" strike="noStrike">
                <a:solidFill>
                  <a:srgbClr val="000000"/>
                </a:solidFill>
                <a:latin typeface="Calibri"/>
                <a:ea typeface="Calibri"/>
                <a:cs typeface="Calibri"/>
                <a:sym typeface="Calibri"/>
              </a:rPr>
              <a:t>(4-tuple)</a:t>
            </a:r>
            <a:r>
              <a:rPr b="0" i="0" lang="en-US" sz="3200" u="none" cap="none" strike="noStrike">
                <a:solidFill>
                  <a:srgbClr val="000000"/>
                </a:solidFill>
                <a:latin typeface="Calibri"/>
                <a:ea typeface="Calibri"/>
                <a:cs typeface="Calibri"/>
                <a:sym typeface="Calibri"/>
              </a:rPr>
              <a:t> to direct segment to appropriate socket</a:t>
            </a:r>
            <a:endParaRPr/>
          </a:p>
        </p:txBody>
      </p:sp>
      <p:sp>
        <p:nvSpPr>
          <p:cNvPr id="2218" name="Google Shape;2218;p2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7"/>
                                        </p:tgtEl>
                                        <p:attrNameLst>
                                          <p:attrName>style.visibility</p:attrName>
                                        </p:attrNameLst>
                                      </p:cBhvr>
                                      <p:to>
                                        <p:strVal val="visible"/>
                                      </p:to>
                                    </p:set>
                                    <p:animEffect filter="fade" transition="in">
                                      <p:cBhvr>
                                        <p:cTn dur="500"/>
                                        <p:tgtEl>
                                          <p:spTgt spid="22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6"/>
                                        </p:tgtEl>
                                        <p:attrNameLst>
                                          <p:attrName>style.visibility</p:attrName>
                                        </p:attrNameLst>
                                      </p:cBhvr>
                                      <p:to>
                                        <p:strVal val="visible"/>
                                      </p:to>
                                    </p:set>
                                    <p:animEffect filter="fade" transition="in">
                                      <p:cBhvr>
                                        <p:cTn dur="500"/>
                                        <p:tgtEl>
                                          <p:spTgt spid="22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3" name="Shape 2223"/>
        <p:cNvGrpSpPr/>
        <p:nvPr/>
      </p:nvGrpSpPr>
      <p:grpSpPr>
        <a:xfrm>
          <a:off x="0" y="0"/>
          <a:ext cx="0" cy="0"/>
          <a:chOff x="0" y="0"/>
          <a:chExt cx="0" cy="0"/>
        </a:xfrm>
      </p:grpSpPr>
      <p:sp>
        <p:nvSpPr>
          <p:cNvPr id="2224" name="Google Shape;2224;p2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Connection-oriented demultiplexing: example</a:t>
            </a:r>
            <a:endParaRPr/>
          </a:p>
        </p:txBody>
      </p:sp>
      <p:sp>
        <p:nvSpPr>
          <p:cNvPr id="2225" name="Google Shape;2225;p21"/>
          <p:cNvSpPr/>
          <p:nvPr/>
        </p:nvSpPr>
        <p:spPr>
          <a:xfrm>
            <a:off x="4454236" y="1478017"/>
            <a:ext cx="552450" cy="2082800"/>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26" name="Google Shape;2226;p21"/>
          <p:cNvSpPr/>
          <p:nvPr/>
        </p:nvSpPr>
        <p:spPr>
          <a:xfrm>
            <a:off x="2052349" y="1657405"/>
            <a:ext cx="460375" cy="2193925"/>
          </a:xfrm>
          <a:custGeom>
            <a:rect b="b" l="l" r="r" t="t"/>
            <a:pathLst>
              <a:path extrusionOk="0" h="1382" w="290">
                <a:moveTo>
                  <a:pt x="15" y="1382"/>
                </a:moveTo>
                <a:lnTo>
                  <a:pt x="0" y="1360"/>
                </a:lnTo>
                <a:lnTo>
                  <a:pt x="290" y="0"/>
                </a:lnTo>
                <a:lnTo>
                  <a:pt x="284" y="1258"/>
                </a:lnTo>
                <a:lnTo>
                  <a:pt x="182" y="1382"/>
                </a:lnTo>
                <a:lnTo>
                  <a:pt x="15" y="1382"/>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27" name="Google Shape;2227;p21"/>
          <p:cNvSpPr/>
          <p:nvPr/>
        </p:nvSpPr>
        <p:spPr>
          <a:xfrm>
            <a:off x="2568286" y="1624067"/>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228" name="Google Shape;2228;p21"/>
          <p:cNvSpPr/>
          <p:nvPr/>
        </p:nvSpPr>
        <p:spPr>
          <a:xfrm>
            <a:off x="2530186" y="1678042"/>
            <a:ext cx="12731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2229" name="Google Shape;2229;p21"/>
          <p:cNvCxnSpPr/>
          <p:nvPr/>
        </p:nvCxnSpPr>
        <p:spPr>
          <a:xfrm>
            <a:off x="2539711" y="2438455"/>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230" name="Google Shape;2230;p21"/>
          <p:cNvSpPr txBox="1"/>
          <p:nvPr/>
        </p:nvSpPr>
        <p:spPr>
          <a:xfrm>
            <a:off x="2496849" y="2420992"/>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cxnSp>
        <p:nvCxnSpPr>
          <p:cNvPr id="2231" name="Google Shape;2231;p21"/>
          <p:cNvCxnSpPr/>
          <p:nvPr/>
        </p:nvCxnSpPr>
        <p:spPr>
          <a:xfrm>
            <a:off x="2547649" y="2759130"/>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232" name="Google Shape;2232;p21"/>
          <p:cNvCxnSpPr/>
          <p:nvPr/>
        </p:nvCxnSpPr>
        <p:spPr>
          <a:xfrm>
            <a:off x="2533361" y="3068692"/>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2233" name="Google Shape;2233;p21"/>
          <p:cNvCxnSpPr/>
          <p:nvPr/>
        </p:nvCxnSpPr>
        <p:spPr>
          <a:xfrm>
            <a:off x="2533361" y="3354442"/>
            <a:ext cx="1263650" cy="3175"/>
          </a:xfrm>
          <a:prstGeom prst="straightConnector1">
            <a:avLst/>
          </a:prstGeom>
          <a:noFill/>
          <a:ln cap="flat" cmpd="sng" w="28575">
            <a:solidFill>
              <a:srgbClr val="000000"/>
            </a:solidFill>
            <a:prstDash val="solid"/>
            <a:round/>
            <a:headEnd len="med" w="med" type="none"/>
            <a:tailEnd len="med" w="med" type="none"/>
          </a:ln>
        </p:spPr>
      </p:cxnSp>
      <p:sp>
        <p:nvSpPr>
          <p:cNvPr id="2234" name="Google Shape;2234;p21"/>
          <p:cNvSpPr txBox="1"/>
          <p:nvPr/>
        </p:nvSpPr>
        <p:spPr>
          <a:xfrm>
            <a:off x="2531774" y="1668517"/>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235" name="Google Shape;2235;p21"/>
          <p:cNvSpPr txBox="1"/>
          <p:nvPr/>
        </p:nvSpPr>
        <p:spPr>
          <a:xfrm>
            <a:off x="2487324" y="3325867"/>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236" name="Google Shape;2236;p21"/>
          <p:cNvSpPr txBox="1"/>
          <p:nvPr/>
        </p:nvSpPr>
        <p:spPr>
          <a:xfrm>
            <a:off x="2506374" y="3040117"/>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237" name="Google Shape;2237;p21"/>
          <p:cNvSpPr txBox="1"/>
          <p:nvPr/>
        </p:nvSpPr>
        <p:spPr>
          <a:xfrm>
            <a:off x="2496849" y="2744842"/>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2238" name="Google Shape;2238;p21"/>
          <p:cNvSpPr/>
          <p:nvPr/>
        </p:nvSpPr>
        <p:spPr>
          <a:xfrm>
            <a:off x="2866736" y="1954267"/>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P1</a:t>
            </a:r>
            <a:endParaRPr b="0" i="0" sz="1600" u="none" cap="none" strike="noStrike">
              <a:solidFill>
                <a:srgbClr val="000000"/>
              </a:solidFill>
              <a:latin typeface="Arial"/>
              <a:ea typeface="Arial"/>
              <a:cs typeface="Arial"/>
              <a:sym typeface="Arial"/>
            </a:endParaRPr>
          </a:p>
        </p:txBody>
      </p:sp>
      <p:grpSp>
        <p:nvGrpSpPr>
          <p:cNvPr id="2239" name="Google Shape;2239;p21"/>
          <p:cNvGrpSpPr/>
          <p:nvPr/>
        </p:nvGrpSpPr>
        <p:grpSpPr>
          <a:xfrm>
            <a:off x="2834986" y="2278117"/>
            <a:ext cx="620713" cy="228600"/>
            <a:chOff x="1287" y="2524"/>
            <a:chExt cx="260" cy="100"/>
          </a:xfrm>
        </p:grpSpPr>
        <p:sp>
          <p:nvSpPr>
            <p:cNvPr id="2240" name="Google Shape;2240;p21"/>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41" name="Google Shape;2241;p21"/>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42" name="Google Shape;2242;p21"/>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43" name="Google Shape;2243;p21"/>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44" name="Google Shape;2244;p21"/>
          <p:cNvSpPr/>
          <p:nvPr/>
        </p:nvSpPr>
        <p:spPr>
          <a:xfrm>
            <a:off x="5067011" y="1390705"/>
            <a:ext cx="2254250"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245" name="Google Shape;2245;p21"/>
          <p:cNvSpPr/>
          <p:nvPr/>
        </p:nvSpPr>
        <p:spPr>
          <a:xfrm>
            <a:off x="5013036" y="1468492"/>
            <a:ext cx="2225675" cy="1979613"/>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246" name="Google Shape;2246;p21"/>
          <p:cNvSpPr txBox="1"/>
          <p:nvPr/>
        </p:nvSpPr>
        <p:spPr>
          <a:xfrm>
            <a:off x="5438486" y="2197155"/>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sp>
        <p:nvSpPr>
          <p:cNvPr id="2247" name="Google Shape;2247;p21"/>
          <p:cNvSpPr txBox="1"/>
          <p:nvPr/>
        </p:nvSpPr>
        <p:spPr>
          <a:xfrm>
            <a:off x="5492461" y="1420867"/>
            <a:ext cx="1317625" cy="325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248" name="Google Shape;2248;p21"/>
          <p:cNvSpPr txBox="1"/>
          <p:nvPr/>
        </p:nvSpPr>
        <p:spPr>
          <a:xfrm>
            <a:off x="5432136" y="3102030"/>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249" name="Google Shape;2249;p21"/>
          <p:cNvSpPr txBox="1"/>
          <p:nvPr/>
        </p:nvSpPr>
        <p:spPr>
          <a:xfrm>
            <a:off x="5432136" y="2816280"/>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250" name="Google Shape;2250;p21"/>
          <p:cNvSpPr/>
          <p:nvPr/>
        </p:nvSpPr>
        <p:spPr>
          <a:xfrm>
            <a:off x="5132099" y="1727255"/>
            <a:ext cx="598487"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P4</a:t>
            </a:r>
            <a:endParaRPr/>
          </a:p>
        </p:txBody>
      </p:sp>
      <p:sp>
        <p:nvSpPr>
          <p:cNvPr id="2251" name="Google Shape;2251;p21"/>
          <p:cNvSpPr/>
          <p:nvPr/>
        </p:nvSpPr>
        <p:spPr>
          <a:xfrm>
            <a:off x="8202324" y="1616130"/>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252" name="Google Shape;2252;p21"/>
          <p:cNvSpPr/>
          <p:nvPr/>
        </p:nvSpPr>
        <p:spPr>
          <a:xfrm>
            <a:off x="8005474" y="1657405"/>
            <a:ext cx="1631950"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253" name="Google Shape;2253;p21"/>
          <p:cNvSpPr txBox="1"/>
          <p:nvPr/>
        </p:nvSpPr>
        <p:spPr>
          <a:xfrm>
            <a:off x="8130886" y="2413055"/>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transport</a:t>
            </a:r>
            <a:endParaRPr/>
          </a:p>
        </p:txBody>
      </p:sp>
      <p:sp>
        <p:nvSpPr>
          <p:cNvPr id="2254" name="Google Shape;2254;p21"/>
          <p:cNvSpPr txBox="1"/>
          <p:nvPr/>
        </p:nvSpPr>
        <p:spPr>
          <a:xfrm>
            <a:off x="8165811" y="1660580"/>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2255" name="Google Shape;2255;p21"/>
          <p:cNvSpPr txBox="1"/>
          <p:nvPr/>
        </p:nvSpPr>
        <p:spPr>
          <a:xfrm>
            <a:off x="8173749" y="3317930"/>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physical</a:t>
            </a:r>
            <a:endParaRPr/>
          </a:p>
        </p:txBody>
      </p:sp>
      <p:sp>
        <p:nvSpPr>
          <p:cNvPr id="2256" name="Google Shape;2256;p21"/>
          <p:cNvSpPr txBox="1"/>
          <p:nvPr/>
        </p:nvSpPr>
        <p:spPr>
          <a:xfrm>
            <a:off x="8140411" y="3032180"/>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link</a:t>
            </a:r>
            <a:endParaRPr/>
          </a:p>
        </p:txBody>
      </p:sp>
      <p:sp>
        <p:nvSpPr>
          <p:cNvPr id="2257" name="Google Shape;2257;p21"/>
          <p:cNvSpPr txBox="1"/>
          <p:nvPr/>
        </p:nvSpPr>
        <p:spPr>
          <a:xfrm>
            <a:off x="8130886" y="2736905"/>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sp>
        <p:nvSpPr>
          <p:cNvPr id="2258" name="Google Shape;2258;p21"/>
          <p:cNvSpPr/>
          <p:nvPr/>
        </p:nvSpPr>
        <p:spPr>
          <a:xfrm>
            <a:off x="8086436" y="1954267"/>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P2</a:t>
            </a:r>
            <a:endParaRPr/>
          </a:p>
        </p:txBody>
      </p:sp>
      <p:sp>
        <p:nvSpPr>
          <p:cNvPr id="2259" name="Google Shape;2259;p21"/>
          <p:cNvSpPr/>
          <p:nvPr/>
        </p:nvSpPr>
        <p:spPr>
          <a:xfrm>
            <a:off x="9661236" y="1636767"/>
            <a:ext cx="504825" cy="2133600"/>
          </a:xfrm>
          <a:custGeom>
            <a:rect b="b" l="l" r="r" t="t"/>
            <a:pathLst>
              <a:path extrusionOk="0" h="1344" w="318">
                <a:moveTo>
                  <a:pt x="318" y="1344"/>
                </a:moveTo>
                <a:lnTo>
                  <a:pt x="12" y="0"/>
                </a:lnTo>
                <a:lnTo>
                  <a:pt x="0" y="1224"/>
                </a:lnTo>
                <a:lnTo>
                  <a:pt x="121" y="1344"/>
                </a:lnTo>
                <a:lnTo>
                  <a:pt x="318" y="1344"/>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60" name="Google Shape;2260;p21"/>
          <p:cNvSpPr txBox="1"/>
          <p:nvPr/>
        </p:nvSpPr>
        <p:spPr>
          <a:xfrm flipH="1">
            <a:off x="1723736" y="4418067"/>
            <a:ext cx="1147763" cy="530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Gill Sans"/>
              <a:buNone/>
            </a:pPr>
            <a:r>
              <a:rPr b="0" i="0" lang="en-US" sz="1800" u="none" cap="none" strike="noStrike">
                <a:solidFill>
                  <a:srgbClr val="000000"/>
                </a:solidFill>
                <a:latin typeface="Gill Sans"/>
                <a:ea typeface="Gill Sans"/>
                <a:cs typeface="Gill Sans"/>
                <a:sym typeface="Gill Sans"/>
              </a:rPr>
              <a:t>host: IP address A</a:t>
            </a:r>
            <a:endParaRPr/>
          </a:p>
        </p:txBody>
      </p:sp>
      <p:sp>
        <p:nvSpPr>
          <p:cNvPr id="2261" name="Google Shape;2261;p21"/>
          <p:cNvSpPr txBox="1"/>
          <p:nvPr/>
        </p:nvSpPr>
        <p:spPr>
          <a:xfrm flipH="1">
            <a:off x="9480261" y="4314880"/>
            <a:ext cx="1147763" cy="530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Gill Sans"/>
              <a:buNone/>
            </a:pPr>
            <a:r>
              <a:rPr b="0" i="0" lang="en-US" sz="1800" u="none" cap="none" strike="noStrike">
                <a:solidFill>
                  <a:srgbClr val="000000"/>
                </a:solidFill>
                <a:latin typeface="Gill Sans"/>
                <a:ea typeface="Gill Sans"/>
                <a:cs typeface="Gill Sans"/>
                <a:sym typeface="Gill Sans"/>
              </a:rPr>
              <a:t>host: IP address C</a:t>
            </a:r>
            <a:endParaRPr/>
          </a:p>
        </p:txBody>
      </p:sp>
      <p:cxnSp>
        <p:nvCxnSpPr>
          <p:cNvPr id="2262" name="Google Shape;2262;p21"/>
          <p:cNvCxnSpPr/>
          <p:nvPr/>
        </p:nvCxnSpPr>
        <p:spPr>
          <a:xfrm>
            <a:off x="4989224" y="3144892"/>
            <a:ext cx="2233612" cy="0"/>
          </a:xfrm>
          <a:prstGeom prst="straightConnector1">
            <a:avLst/>
          </a:prstGeom>
          <a:noFill/>
          <a:ln cap="flat" cmpd="sng" w="19050">
            <a:solidFill>
              <a:srgbClr val="000000"/>
            </a:solidFill>
            <a:prstDash val="solid"/>
            <a:round/>
            <a:headEnd len="med" w="med" type="none"/>
            <a:tailEnd len="med" w="med" type="none"/>
          </a:ln>
        </p:spPr>
      </p:cxnSp>
      <p:cxnSp>
        <p:nvCxnSpPr>
          <p:cNvPr id="2263" name="Google Shape;2263;p21"/>
          <p:cNvCxnSpPr/>
          <p:nvPr/>
        </p:nvCxnSpPr>
        <p:spPr>
          <a:xfrm>
            <a:off x="5005099" y="2843267"/>
            <a:ext cx="2233612" cy="0"/>
          </a:xfrm>
          <a:prstGeom prst="straightConnector1">
            <a:avLst/>
          </a:prstGeom>
          <a:noFill/>
          <a:ln cap="flat" cmpd="sng" w="19050">
            <a:solidFill>
              <a:srgbClr val="000000"/>
            </a:solidFill>
            <a:prstDash val="solid"/>
            <a:round/>
            <a:headEnd len="med" w="med" type="none"/>
            <a:tailEnd len="med" w="med" type="none"/>
          </a:ln>
        </p:spPr>
      </p:cxnSp>
      <p:sp>
        <p:nvSpPr>
          <p:cNvPr id="2264" name="Google Shape;2264;p21"/>
          <p:cNvSpPr txBox="1"/>
          <p:nvPr/>
        </p:nvSpPr>
        <p:spPr>
          <a:xfrm>
            <a:off x="5392449" y="2508305"/>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network</a:t>
            </a:r>
            <a:endParaRPr/>
          </a:p>
        </p:txBody>
      </p:sp>
      <p:cxnSp>
        <p:nvCxnSpPr>
          <p:cNvPr id="2265" name="Google Shape;2265;p21"/>
          <p:cNvCxnSpPr/>
          <p:nvPr/>
        </p:nvCxnSpPr>
        <p:spPr>
          <a:xfrm>
            <a:off x="5008274" y="2521005"/>
            <a:ext cx="2233612" cy="0"/>
          </a:xfrm>
          <a:prstGeom prst="straightConnector1">
            <a:avLst/>
          </a:prstGeom>
          <a:noFill/>
          <a:ln cap="flat" cmpd="sng" w="19050">
            <a:solidFill>
              <a:srgbClr val="000000"/>
            </a:solidFill>
            <a:prstDash val="solid"/>
            <a:round/>
            <a:headEnd len="med" w="med" type="none"/>
            <a:tailEnd len="med" w="med" type="none"/>
          </a:ln>
        </p:spPr>
      </p:cxnSp>
      <p:cxnSp>
        <p:nvCxnSpPr>
          <p:cNvPr id="2266" name="Google Shape;2266;p21"/>
          <p:cNvCxnSpPr/>
          <p:nvPr/>
        </p:nvCxnSpPr>
        <p:spPr>
          <a:xfrm>
            <a:off x="5011449" y="2198742"/>
            <a:ext cx="2233612" cy="0"/>
          </a:xfrm>
          <a:prstGeom prst="straightConnector1">
            <a:avLst/>
          </a:prstGeom>
          <a:noFill/>
          <a:ln cap="flat" cmpd="sng" w="19050">
            <a:solidFill>
              <a:srgbClr val="000000"/>
            </a:solidFill>
            <a:prstDash val="solid"/>
            <a:round/>
            <a:headEnd len="med" w="med" type="none"/>
            <a:tailEnd len="med" w="med" type="none"/>
          </a:ln>
        </p:spPr>
      </p:cxnSp>
      <p:grpSp>
        <p:nvGrpSpPr>
          <p:cNvPr id="2267" name="Google Shape;2267;p21"/>
          <p:cNvGrpSpPr/>
          <p:nvPr/>
        </p:nvGrpSpPr>
        <p:grpSpPr>
          <a:xfrm>
            <a:off x="5187661" y="2060630"/>
            <a:ext cx="473075" cy="228600"/>
            <a:chOff x="1287" y="2524"/>
            <a:chExt cx="260" cy="100"/>
          </a:xfrm>
        </p:grpSpPr>
        <p:sp>
          <p:nvSpPr>
            <p:cNvPr id="2268" name="Google Shape;2268;p21"/>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69" name="Google Shape;2269;p21"/>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0" name="Google Shape;2270;p21"/>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1" name="Google Shape;2271;p21"/>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72" name="Google Shape;2272;p21"/>
          <p:cNvSpPr/>
          <p:nvPr/>
        </p:nvSpPr>
        <p:spPr>
          <a:xfrm>
            <a:off x="6498936" y="1732017"/>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P6</a:t>
            </a:r>
            <a:endParaRPr/>
          </a:p>
        </p:txBody>
      </p:sp>
      <p:sp>
        <p:nvSpPr>
          <p:cNvPr id="2273" name="Google Shape;2273;p21"/>
          <p:cNvSpPr/>
          <p:nvPr/>
        </p:nvSpPr>
        <p:spPr>
          <a:xfrm>
            <a:off x="5827424" y="1730430"/>
            <a:ext cx="598487"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P5</a:t>
            </a:r>
            <a:endParaRPr/>
          </a:p>
        </p:txBody>
      </p:sp>
      <p:grpSp>
        <p:nvGrpSpPr>
          <p:cNvPr id="2274" name="Google Shape;2274;p21"/>
          <p:cNvGrpSpPr/>
          <p:nvPr/>
        </p:nvGrpSpPr>
        <p:grpSpPr>
          <a:xfrm>
            <a:off x="5892511" y="2065392"/>
            <a:ext cx="473075" cy="228600"/>
            <a:chOff x="1287" y="2524"/>
            <a:chExt cx="260" cy="100"/>
          </a:xfrm>
        </p:grpSpPr>
        <p:sp>
          <p:nvSpPr>
            <p:cNvPr id="2275" name="Google Shape;2275;p21"/>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6" name="Google Shape;2276;p21"/>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7" name="Google Shape;2277;p21"/>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8" name="Google Shape;2278;p21"/>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279" name="Google Shape;2279;p21"/>
          <p:cNvGrpSpPr/>
          <p:nvPr/>
        </p:nvGrpSpPr>
        <p:grpSpPr>
          <a:xfrm>
            <a:off x="6564024" y="2070155"/>
            <a:ext cx="473075" cy="228600"/>
            <a:chOff x="1287" y="2524"/>
            <a:chExt cx="260" cy="100"/>
          </a:xfrm>
        </p:grpSpPr>
        <p:sp>
          <p:nvSpPr>
            <p:cNvPr id="2280" name="Google Shape;2280;p21"/>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81" name="Google Shape;2281;p21"/>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82" name="Google Shape;2282;p21"/>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83" name="Google Shape;2283;p21"/>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2284" name="Google Shape;2284;p21"/>
          <p:cNvCxnSpPr/>
          <p:nvPr/>
        </p:nvCxnSpPr>
        <p:spPr>
          <a:xfrm>
            <a:off x="7997536" y="3360792"/>
            <a:ext cx="1638300" cy="0"/>
          </a:xfrm>
          <a:prstGeom prst="straightConnector1">
            <a:avLst/>
          </a:prstGeom>
          <a:noFill/>
          <a:ln cap="flat" cmpd="sng" w="19050">
            <a:solidFill>
              <a:srgbClr val="000000"/>
            </a:solidFill>
            <a:prstDash val="solid"/>
            <a:round/>
            <a:headEnd len="med" w="med" type="none"/>
            <a:tailEnd len="med" w="med" type="none"/>
          </a:ln>
        </p:spPr>
      </p:cxnSp>
      <p:cxnSp>
        <p:nvCxnSpPr>
          <p:cNvPr id="2285" name="Google Shape;2285;p21"/>
          <p:cNvCxnSpPr/>
          <p:nvPr/>
        </p:nvCxnSpPr>
        <p:spPr>
          <a:xfrm>
            <a:off x="7988011" y="3065517"/>
            <a:ext cx="1638300" cy="0"/>
          </a:xfrm>
          <a:prstGeom prst="straightConnector1">
            <a:avLst/>
          </a:prstGeom>
          <a:noFill/>
          <a:ln cap="flat" cmpd="sng" w="19050">
            <a:solidFill>
              <a:srgbClr val="000000"/>
            </a:solidFill>
            <a:prstDash val="solid"/>
            <a:round/>
            <a:headEnd len="med" w="med" type="none"/>
            <a:tailEnd len="med" w="med" type="none"/>
          </a:ln>
        </p:spPr>
      </p:cxnSp>
      <p:cxnSp>
        <p:nvCxnSpPr>
          <p:cNvPr id="2286" name="Google Shape;2286;p21"/>
          <p:cNvCxnSpPr/>
          <p:nvPr/>
        </p:nvCxnSpPr>
        <p:spPr>
          <a:xfrm>
            <a:off x="7988011" y="2770242"/>
            <a:ext cx="1638300" cy="0"/>
          </a:xfrm>
          <a:prstGeom prst="straightConnector1">
            <a:avLst/>
          </a:prstGeom>
          <a:noFill/>
          <a:ln cap="flat" cmpd="sng" w="19050">
            <a:solidFill>
              <a:srgbClr val="000000"/>
            </a:solidFill>
            <a:prstDash val="solid"/>
            <a:round/>
            <a:headEnd len="med" w="med" type="none"/>
            <a:tailEnd len="med" w="med" type="none"/>
          </a:ln>
        </p:spPr>
      </p:cxnSp>
      <p:cxnSp>
        <p:nvCxnSpPr>
          <p:cNvPr id="2287" name="Google Shape;2287;p21"/>
          <p:cNvCxnSpPr/>
          <p:nvPr/>
        </p:nvCxnSpPr>
        <p:spPr>
          <a:xfrm>
            <a:off x="7988011" y="2465442"/>
            <a:ext cx="1638300" cy="0"/>
          </a:xfrm>
          <a:prstGeom prst="straightConnector1">
            <a:avLst/>
          </a:prstGeom>
          <a:noFill/>
          <a:ln cap="flat" cmpd="sng" w="19050">
            <a:solidFill>
              <a:srgbClr val="000000"/>
            </a:solidFill>
            <a:prstDash val="solid"/>
            <a:round/>
            <a:headEnd len="med" w="med" type="none"/>
            <a:tailEnd len="med" w="med" type="none"/>
          </a:ln>
        </p:spPr>
      </p:cxnSp>
      <p:grpSp>
        <p:nvGrpSpPr>
          <p:cNvPr id="2288" name="Google Shape;2288;p21"/>
          <p:cNvGrpSpPr/>
          <p:nvPr/>
        </p:nvGrpSpPr>
        <p:grpSpPr>
          <a:xfrm>
            <a:off x="8140411" y="2292405"/>
            <a:ext cx="473075" cy="228600"/>
            <a:chOff x="1287" y="2524"/>
            <a:chExt cx="260" cy="100"/>
          </a:xfrm>
        </p:grpSpPr>
        <p:sp>
          <p:nvSpPr>
            <p:cNvPr id="2289" name="Google Shape;2289;p21"/>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90" name="Google Shape;2290;p21"/>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91" name="Google Shape;2291;p21"/>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92" name="Google Shape;2292;p21"/>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293" name="Google Shape;2293;p21"/>
          <p:cNvGrpSpPr/>
          <p:nvPr/>
        </p:nvGrpSpPr>
        <p:grpSpPr>
          <a:xfrm>
            <a:off x="8935749" y="2282880"/>
            <a:ext cx="473075" cy="228600"/>
            <a:chOff x="1287" y="2524"/>
            <a:chExt cx="260" cy="100"/>
          </a:xfrm>
        </p:grpSpPr>
        <p:sp>
          <p:nvSpPr>
            <p:cNvPr id="2294" name="Google Shape;2294;p21"/>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95" name="Google Shape;2295;p21"/>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96" name="Google Shape;2296;p21"/>
            <p:cNvSpPr/>
            <p:nvPr/>
          </p:nvSpPr>
          <p:spPr>
            <a:xfrm>
              <a:off x="1503" y="2582"/>
              <a:ext cx="27" cy="26"/>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97" name="Google Shape;2297;p21"/>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98" name="Google Shape;2298;p21"/>
          <p:cNvSpPr/>
          <p:nvPr/>
        </p:nvSpPr>
        <p:spPr>
          <a:xfrm>
            <a:off x="8877011" y="1949505"/>
            <a:ext cx="598488"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P3</a:t>
            </a:r>
            <a:endParaRPr/>
          </a:p>
        </p:txBody>
      </p:sp>
      <p:grpSp>
        <p:nvGrpSpPr>
          <p:cNvPr id="2299" name="Google Shape;2299;p21"/>
          <p:cNvGrpSpPr/>
          <p:nvPr/>
        </p:nvGrpSpPr>
        <p:grpSpPr>
          <a:xfrm>
            <a:off x="3128674" y="2152705"/>
            <a:ext cx="2695575" cy="3382962"/>
            <a:chOff x="3128674" y="2152705"/>
            <a:chExt cx="2695575" cy="3382962"/>
          </a:xfrm>
        </p:grpSpPr>
        <p:grpSp>
          <p:nvGrpSpPr>
            <p:cNvPr id="2300" name="Google Shape;2300;p21"/>
            <p:cNvGrpSpPr/>
            <p:nvPr/>
          </p:nvGrpSpPr>
          <p:grpSpPr>
            <a:xfrm>
              <a:off x="3301711" y="4192642"/>
              <a:ext cx="2173288" cy="1343025"/>
              <a:chOff x="3301711" y="4192642"/>
              <a:chExt cx="2173288" cy="1343025"/>
            </a:xfrm>
          </p:grpSpPr>
          <p:grpSp>
            <p:nvGrpSpPr>
              <p:cNvPr id="2301" name="Google Shape;2301;p21"/>
              <p:cNvGrpSpPr/>
              <p:nvPr/>
            </p:nvGrpSpPr>
            <p:grpSpPr>
              <a:xfrm>
                <a:off x="3450936" y="4883205"/>
                <a:ext cx="2024063" cy="652462"/>
                <a:chOff x="1079" y="3697"/>
                <a:chExt cx="1275" cy="411"/>
              </a:xfrm>
            </p:grpSpPr>
            <p:sp>
              <p:nvSpPr>
                <p:cNvPr id="2302" name="Google Shape;2302;p21"/>
                <p:cNvSpPr/>
                <p:nvPr/>
              </p:nvSpPr>
              <p:spPr>
                <a:xfrm>
                  <a:off x="1553" y="3697"/>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303" name="Google Shape;2303;p21"/>
                <p:cNvCxnSpPr/>
                <p:nvPr/>
              </p:nvCxnSpPr>
              <p:spPr>
                <a:xfrm>
                  <a:off x="2179" y="3770"/>
                  <a:ext cx="175" cy="0"/>
                </a:xfrm>
                <a:prstGeom prst="straightConnector1">
                  <a:avLst/>
                </a:prstGeom>
                <a:noFill/>
                <a:ln cap="flat" cmpd="sng" w="38100">
                  <a:solidFill>
                    <a:srgbClr val="CC0000"/>
                  </a:solidFill>
                  <a:prstDash val="solid"/>
                  <a:round/>
                  <a:headEnd len="med" w="med" type="none"/>
                  <a:tailEnd len="med" w="med" type="triangle"/>
                </a:ln>
              </p:spPr>
            </p:cxnSp>
            <p:sp>
              <p:nvSpPr>
                <p:cNvPr id="2304" name="Google Shape;2304;p21"/>
                <p:cNvSpPr txBox="1"/>
                <p:nvPr/>
              </p:nvSpPr>
              <p:spPr>
                <a:xfrm>
                  <a:off x="1079" y="3822"/>
                  <a:ext cx="1233" cy="28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IP,port: A,9157</a:t>
                  </a:r>
                  <a:endParaRPr/>
                </a:p>
                <a:p>
                  <a:pPr indent="0" lvl="0" marL="0" marR="0" rtl="0" algn="r">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IP, port: B,80</a:t>
                  </a:r>
                  <a:endParaRPr/>
                </a:p>
              </p:txBody>
            </p:sp>
          </p:grpSp>
          <p:grpSp>
            <p:nvGrpSpPr>
              <p:cNvPr id="2305" name="Google Shape;2305;p21"/>
              <p:cNvGrpSpPr/>
              <p:nvPr/>
            </p:nvGrpSpPr>
            <p:grpSpPr>
              <a:xfrm>
                <a:off x="3301711" y="4192642"/>
                <a:ext cx="1887538" cy="652463"/>
                <a:chOff x="2741" y="3750"/>
                <a:chExt cx="1189" cy="411"/>
              </a:xfrm>
            </p:grpSpPr>
            <p:sp>
              <p:nvSpPr>
                <p:cNvPr id="2306" name="Google Shape;2306;p21"/>
                <p:cNvSpPr/>
                <p:nvPr/>
              </p:nvSpPr>
              <p:spPr>
                <a:xfrm>
                  <a:off x="2859" y="3750"/>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307" name="Google Shape;2307;p21"/>
                <p:cNvCxnSpPr/>
                <p:nvPr/>
              </p:nvCxnSpPr>
              <p:spPr>
                <a:xfrm>
                  <a:off x="2741" y="3837"/>
                  <a:ext cx="175" cy="0"/>
                </a:xfrm>
                <a:prstGeom prst="straightConnector1">
                  <a:avLst/>
                </a:prstGeom>
                <a:noFill/>
                <a:ln cap="flat" cmpd="sng" w="38100">
                  <a:solidFill>
                    <a:srgbClr val="CC0000"/>
                  </a:solidFill>
                  <a:prstDash val="solid"/>
                  <a:round/>
                  <a:headEnd len="med" w="med" type="triangle"/>
                  <a:tailEnd len="med" w="med" type="none"/>
                </a:ln>
              </p:spPr>
            </p:cxnSp>
            <p:sp>
              <p:nvSpPr>
                <p:cNvPr id="2308" name="Google Shape;2308;p21"/>
                <p:cNvSpPr txBox="1"/>
                <p:nvPr/>
              </p:nvSpPr>
              <p:spPr>
                <a:xfrm>
                  <a:off x="2813" y="3875"/>
                  <a:ext cx="1117" cy="286"/>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IP,port: B,80</a:t>
                  </a:r>
                  <a:endParaRPr/>
                </a:p>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IP,port: A,9157</a:t>
                  </a:r>
                  <a:endParaRPr/>
                </a:p>
              </p:txBody>
            </p:sp>
          </p:grpSp>
        </p:grpSp>
        <p:sp>
          <p:nvSpPr>
            <p:cNvPr id="2309" name="Google Shape;2309;p21"/>
            <p:cNvSpPr/>
            <p:nvPr/>
          </p:nvSpPr>
          <p:spPr>
            <a:xfrm>
              <a:off x="3128674" y="2152705"/>
              <a:ext cx="2695575" cy="2695575"/>
            </a:xfrm>
            <a:custGeom>
              <a:rect b="b" l="l" r="r" t="t"/>
              <a:pathLst>
                <a:path extrusionOk="0" h="1698" w="1698">
                  <a:moveTo>
                    <a:pt x="0" y="131"/>
                  </a:moveTo>
                  <a:lnTo>
                    <a:pt x="0" y="1698"/>
                  </a:lnTo>
                  <a:lnTo>
                    <a:pt x="1698" y="1690"/>
                  </a:lnTo>
                  <a:lnTo>
                    <a:pt x="1691" y="148"/>
                  </a:lnTo>
                  <a:lnTo>
                    <a:pt x="1443" y="0"/>
                  </a:lnTo>
                </a:path>
              </a:pathLst>
            </a:custGeom>
            <a:noFill/>
            <a:ln cap="flat" cmpd="sng" w="28575">
              <a:solidFill>
                <a:srgbClr val="CC0000"/>
              </a:solidFill>
              <a:prstDash val="solid"/>
              <a:round/>
              <a:headEnd len="med" w="med" type="triangl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310" name="Google Shape;2310;p21"/>
          <p:cNvSpPr/>
          <p:nvPr/>
        </p:nvSpPr>
        <p:spPr>
          <a:xfrm>
            <a:off x="6114761" y="2184455"/>
            <a:ext cx="3089275" cy="3252787"/>
          </a:xfrm>
          <a:custGeom>
            <a:rect b="b" l="l" r="r" t="t"/>
            <a:pathLst>
              <a:path extrusionOk="0" h="1801" w="1946">
                <a:moveTo>
                  <a:pt x="0" y="0"/>
                </a:moveTo>
                <a:lnTo>
                  <a:pt x="0" y="1801"/>
                </a:lnTo>
                <a:lnTo>
                  <a:pt x="1946" y="1794"/>
                </a:lnTo>
                <a:lnTo>
                  <a:pt x="1925" y="132"/>
                </a:lnTo>
              </a:path>
            </a:pathLst>
          </a:custGeom>
          <a:noFill/>
          <a:ln cap="flat" cmpd="sng" w="28575">
            <a:solidFill>
              <a:srgbClr val="CC0000"/>
            </a:solidFill>
            <a:prstDash val="solid"/>
            <a:round/>
            <a:headEnd len="med" w="med" type="triangl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311" name="Google Shape;2311;p21"/>
          <p:cNvGrpSpPr/>
          <p:nvPr/>
        </p:nvGrpSpPr>
        <p:grpSpPr>
          <a:xfrm>
            <a:off x="6773574" y="2173342"/>
            <a:ext cx="2170112" cy="2876550"/>
            <a:chOff x="6773574" y="2173342"/>
            <a:chExt cx="2170112" cy="2876550"/>
          </a:xfrm>
        </p:grpSpPr>
        <p:sp>
          <p:nvSpPr>
            <p:cNvPr id="2312" name="Google Shape;2312;p21"/>
            <p:cNvSpPr/>
            <p:nvPr/>
          </p:nvSpPr>
          <p:spPr>
            <a:xfrm>
              <a:off x="6773574" y="2173342"/>
              <a:ext cx="1609725" cy="2465388"/>
            </a:xfrm>
            <a:custGeom>
              <a:rect b="b" l="l" r="r" t="t"/>
              <a:pathLst>
                <a:path extrusionOk="0" h="1480" w="1014">
                  <a:moveTo>
                    <a:pt x="0" y="0"/>
                  </a:moveTo>
                  <a:lnTo>
                    <a:pt x="0" y="1480"/>
                  </a:lnTo>
                  <a:lnTo>
                    <a:pt x="1014" y="1480"/>
                  </a:lnTo>
                  <a:lnTo>
                    <a:pt x="1014" y="146"/>
                  </a:lnTo>
                </a:path>
              </a:pathLst>
            </a:custGeom>
            <a:noFill/>
            <a:ln cap="flat" cmpd="sng" w="28575">
              <a:solidFill>
                <a:srgbClr val="CC0000"/>
              </a:solidFill>
              <a:prstDash val="solid"/>
              <a:round/>
              <a:headEnd len="med" w="med" type="triangl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313" name="Google Shape;2313;p21"/>
            <p:cNvGrpSpPr/>
            <p:nvPr/>
          </p:nvGrpSpPr>
          <p:grpSpPr>
            <a:xfrm>
              <a:off x="6871999" y="4397430"/>
              <a:ext cx="2071687" cy="652462"/>
              <a:chOff x="2741" y="3750"/>
              <a:chExt cx="1305" cy="411"/>
            </a:xfrm>
          </p:grpSpPr>
          <p:sp>
            <p:nvSpPr>
              <p:cNvPr id="2314" name="Google Shape;2314;p21"/>
              <p:cNvSpPr/>
              <p:nvPr/>
            </p:nvSpPr>
            <p:spPr>
              <a:xfrm>
                <a:off x="2859" y="3750"/>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315" name="Google Shape;2315;p21"/>
              <p:cNvCxnSpPr/>
              <p:nvPr/>
            </p:nvCxnSpPr>
            <p:spPr>
              <a:xfrm>
                <a:off x="2741" y="3837"/>
                <a:ext cx="175" cy="0"/>
              </a:xfrm>
              <a:prstGeom prst="straightConnector1">
                <a:avLst/>
              </a:prstGeom>
              <a:noFill/>
              <a:ln cap="flat" cmpd="sng" w="38100">
                <a:solidFill>
                  <a:srgbClr val="CC0000"/>
                </a:solidFill>
                <a:prstDash val="solid"/>
                <a:round/>
                <a:headEnd len="med" w="med" type="triangle"/>
                <a:tailEnd len="med" w="med" type="none"/>
              </a:ln>
            </p:spPr>
          </p:cxnSp>
          <p:sp>
            <p:nvSpPr>
              <p:cNvPr id="2316" name="Google Shape;2316;p21"/>
              <p:cNvSpPr txBox="1"/>
              <p:nvPr/>
            </p:nvSpPr>
            <p:spPr>
              <a:xfrm>
                <a:off x="2813" y="3875"/>
                <a:ext cx="1233" cy="286"/>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IP,port: C,5775</a:t>
                </a:r>
                <a:endParaRPr/>
              </a:p>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IP,port: B,80</a:t>
                </a:r>
                <a:endParaRPr/>
              </a:p>
            </p:txBody>
          </p:sp>
        </p:grpSp>
      </p:grpSp>
      <p:grpSp>
        <p:nvGrpSpPr>
          <p:cNvPr id="2317" name="Google Shape;2317;p21"/>
          <p:cNvGrpSpPr/>
          <p:nvPr/>
        </p:nvGrpSpPr>
        <p:grpSpPr>
          <a:xfrm>
            <a:off x="6941849" y="5186417"/>
            <a:ext cx="2063750" cy="661988"/>
            <a:chOff x="2741" y="3750"/>
            <a:chExt cx="1300" cy="417"/>
          </a:xfrm>
        </p:grpSpPr>
        <p:sp>
          <p:nvSpPr>
            <p:cNvPr id="2318" name="Google Shape;2318;p21"/>
            <p:cNvSpPr/>
            <p:nvPr/>
          </p:nvSpPr>
          <p:spPr>
            <a:xfrm>
              <a:off x="2859" y="3750"/>
              <a:ext cx="678" cy="138"/>
            </a:xfrm>
            <a:prstGeom prst="rect">
              <a:avLst/>
            </a:prstGeom>
            <a:solidFill>
              <a:srgbClr val="3C6CD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2319" name="Google Shape;2319;p21"/>
            <p:cNvCxnSpPr/>
            <p:nvPr/>
          </p:nvCxnSpPr>
          <p:spPr>
            <a:xfrm>
              <a:off x="2741" y="3837"/>
              <a:ext cx="175" cy="0"/>
            </a:xfrm>
            <a:prstGeom prst="straightConnector1">
              <a:avLst/>
            </a:prstGeom>
            <a:noFill/>
            <a:ln cap="flat" cmpd="sng" w="38100">
              <a:solidFill>
                <a:srgbClr val="CC0000"/>
              </a:solidFill>
              <a:prstDash val="solid"/>
              <a:round/>
              <a:headEnd len="med" w="med" type="triangle"/>
              <a:tailEnd len="med" w="med" type="none"/>
            </a:ln>
          </p:spPr>
        </p:cxnSp>
        <p:sp>
          <p:nvSpPr>
            <p:cNvPr id="2320" name="Google Shape;2320;p21"/>
            <p:cNvSpPr txBox="1"/>
            <p:nvPr/>
          </p:nvSpPr>
          <p:spPr>
            <a:xfrm>
              <a:off x="2813" y="3875"/>
              <a:ext cx="1228" cy="292"/>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source IP,port: C,9157</a:t>
              </a:r>
              <a:endParaRPr/>
            </a:p>
            <a:p>
              <a:pPr indent="0" lvl="0" marL="0" marR="0" rtl="0" algn="l">
                <a:lnSpc>
                  <a:spcPct val="85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dest IP,port: B,80</a:t>
              </a:r>
              <a:endParaRPr/>
            </a:p>
          </p:txBody>
        </p:sp>
      </p:grpSp>
      <p:sp>
        <p:nvSpPr>
          <p:cNvPr id="2321" name="Google Shape;2321;p21"/>
          <p:cNvSpPr txBox="1"/>
          <p:nvPr/>
        </p:nvSpPr>
        <p:spPr>
          <a:xfrm flipH="1">
            <a:off x="6681499" y="3414767"/>
            <a:ext cx="1147762" cy="530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Gill Sans"/>
              <a:buNone/>
            </a:pPr>
            <a:r>
              <a:rPr b="0" i="0" lang="en-US" sz="1800" u="none" cap="none" strike="noStrike">
                <a:solidFill>
                  <a:srgbClr val="000000"/>
                </a:solidFill>
                <a:latin typeface="Gill Sans"/>
                <a:ea typeface="Gill Sans"/>
                <a:cs typeface="Gill Sans"/>
                <a:sym typeface="Gill Sans"/>
              </a:rPr>
              <a:t>server: IP address B</a:t>
            </a:r>
            <a:endParaRPr/>
          </a:p>
        </p:txBody>
      </p:sp>
      <p:grpSp>
        <p:nvGrpSpPr>
          <p:cNvPr id="2322" name="Google Shape;2322;p21"/>
          <p:cNvGrpSpPr/>
          <p:nvPr/>
        </p:nvGrpSpPr>
        <p:grpSpPr>
          <a:xfrm>
            <a:off x="4455824" y="2905180"/>
            <a:ext cx="358775" cy="704850"/>
            <a:chOff x="4140" y="429"/>
            <a:chExt cx="1425" cy="2396"/>
          </a:xfrm>
        </p:grpSpPr>
        <p:sp>
          <p:nvSpPr>
            <p:cNvPr id="2323" name="Google Shape;2323;p2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24" name="Google Shape;2324;p21"/>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25" name="Google Shape;2325;p2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26" name="Google Shape;2326;p2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27" name="Google Shape;2327;p21"/>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328" name="Google Shape;2328;p21"/>
            <p:cNvGrpSpPr/>
            <p:nvPr/>
          </p:nvGrpSpPr>
          <p:grpSpPr>
            <a:xfrm>
              <a:off x="4751" y="667"/>
              <a:ext cx="580" cy="146"/>
              <a:chOff x="617" y="2567"/>
              <a:chExt cx="724" cy="140"/>
            </a:xfrm>
          </p:grpSpPr>
          <p:sp>
            <p:nvSpPr>
              <p:cNvPr id="2329" name="Google Shape;2329;p21"/>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30" name="Google Shape;2330;p21"/>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331" name="Google Shape;2331;p21"/>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332" name="Google Shape;2332;p21"/>
            <p:cNvGrpSpPr/>
            <p:nvPr/>
          </p:nvGrpSpPr>
          <p:grpSpPr>
            <a:xfrm>
              <a:off x="4745" y="996"/>
              <a:ext cx="580" cy="156"/>
              <a:chOff x="612" y="2570"/>
              <a:chExt cx="724" cy="162"/>
            </a:xfrm>
          </p:grpSpPr>
          <p:sp>
            <p:nvSpPr>
              <p:cNvPr id="2333" name="Google Shape;2333;p21"/>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34" name="Google Shape;2334;p21"/>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335" name="Google Shape;2335;p21"/>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36" name="Google Shape;2336;p21"/>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337" name="Google Shape;2337;p21"/>
            <p:cNvGrpSpPr/>
            <p:nvPr/>
          </p:nvGrpSpPr>
          <p:grpSpPr>
            <a:xfrm>
              <a:off x="4733" y="1627"/>
              <a:ext cx="586" cy="151"/>
              <a:chOff x="611" y="2568"/>
              <a:chExt cx="730" cy="139"/>
            </a:xfrm>
          </p:grpSpPr>
          <p:sp>
            <p:nvSpPr>
              <p:cNvPr id="2338" name="Google Shape;2338;p21"/>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39" name="Google Shape;2339;p21"/>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340" name="Google Shape;2340;p2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341" name="Google Shape;2341;p21"/>
            <p:cNvGrpSpPr/>
            <p:nvPr/>
          </p:nvGrpSpPr>
          <p:grpSpPr>
            <a:xfrm>
              <a:off x="4739" y="1325"/>
              <a:ext cx="580" cy="140"/>
              <a:chOff x="614" y="2566"/>
              <a:chExt cx="723" cy="140"/>
            </a:xfrm>
          </p:grpSpPr>
          <p:sp>
            <p:nvSpPr>
              <p:cNvPr id="2342" name="Google Shape;2342;p21"/>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43" name="Google Shape;2343;p21"/>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344" name="Google Shape;2344;p21"/>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45" name="Google Shape;2345;p2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46" name="Google Shape;2346;p2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47" name="Google Shape;2347;p21"/>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48" name="Google Shape;2348;p2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49" name="Google Shape;2349;p21"/>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50" name="Google Shape;2350;p21"/>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51" name="Google Shape;2351;p21"/>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52" name="Google Shape;2352;p21"/>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353" name="Google Shape;2353;p21"/>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54" name="Google Shape;2354;p21"/>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355" name="Google Shape;2355;p21"/>
          <p:cNvGrpSpPr/>
          <p:nvPr/>
        </p:nvGrpSpPr>
        <p:grpSpPr>
          <a:xfrm>
            <a:off x="1590386" y="3325867"/>
            <a:ext cx="711200" cy="669925"/>
            <a:chOff x="-44" y="1473"/>
            <a:chExt cx="981" cy="1105"/>
          </a:xfrm>
        </p:grpSpPr>
        <p:pic>
          <p:nvPicPr>
            <p:cNvPr descr="desktop_computer_stylized_medium" id="2356" name="Google Shape;2356;p2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357" name="Google Shape;2357;p2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358" name="Google Shape;2358;p21"/>
          <p:cNvGrpSpPr/>
          <p:nvPr/>
        </p:nvGrpSpPr>
        <p:grpSpPr>
          <a:xfrm flipH="1">
            <a:off x="9893011" y="3241730"/>
            <a:ext cx="711200" cy="669925"/>
            <a:chOff x="-44" y="1473"/>
            <a:chExt cx="981" cy="1105"/>
          </a:xfrm>
        </p:grpSpPr>
        <p:pic>
          <p:nvPicPr>
            <p:cNvPr descr="desktop_computer_stylized_medium" id="2359" name="Google Shape;2359;p2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360" name="Google Shape;2360;p2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361" name="Google Shape;2361;p21"/>
          <p:cNvSpPr txBox="1"/>
          <p:nvPr/>
        </p:nvSpPr>
        <p:spPr>
          <a:xfrm>
            <a:off x="822086" y="5737235"/>
            <a:ext cx="664284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Three segments, all destined to IP address: B,</a:t>
            </a:r>
            <a:endParaRPr/>
          </a:p>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 dest port: 80 are demultiplexed to </a:t>
            </a:r>
            <a:r>
              <a:rPr b="0" i="1" lang="en-US" sz="2400" u="none" cap="none" strike="noStrike">
                <a:solidFill>
                  <a:srgbClr val="C00000"/>
                </a:solidFill>
                <a:latin typeface="Calibri"/>
                <a:ea typeface="Calibri"/>
                <a:cs typeface="Calibri"/>
                <a:sym typeface="Calibri"/>
              </a:rPr>
              <a:t>different </a:t>
            </a:r>
            <a:r>
              <a:rPr b="0" i="0" lang="en-US" sz="2400" u="none" cap="none" strike="noStrike">
                <a:solidFill>
                  <a:srgbClr val="C00000"/>
                </a:solidFill>
                <a:latin typeface="Calibri"/>
                <a:ea typeface="Calibri"/>
                <a:cs typeface="Calibri"/>
                <a:sym typeface="Calibri"/>
              </a:rPr>
              <a:t>sockets</a:t>
            </a:r>
            <a:endParaRPr/>
          </a:p>
        </p:txBody>
      </p:sp>
      <p:sp>
        <p:nvSpPr>
          <p:cNvPr id="2362" name="Google Shape;2362;p21"/>
          <p:cNvSpPr/>
          <p:nvPr/>
        </p:nvSpPr>
        <p:spPr>
          <a:xfrm>
            <a:off x="4454237" y="5186417"/>
            <a:ext cx="1017672" cy="412705"/>
          </a:xfrm>
          <a:prstGeom prst="ellipse">
            <a:avLst/>
          </a:prstGeom>
          <a:noFill/>
          <a:ln cap="flat" cmpd="sng" w="381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63" name="Google Shape;2363;p21"/>
          <p:cNvSpPr/>
          <p:nvPr/>
        </p:nvSpPr>
        <p:spPr>
          <a:xfrm>
            <a:off x="7577600" y="4694310"/>
            <a:ext cx="1017672" cy="412705"/>
          </a:xfrm>
          <a:prstGeom prst="ellipse">
            <a:avLst/>
          </a:prstGeom>
          <a:noFill/>
          <a:ln cap="flat" cmpd="sng" w="381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64" name="Google Shape;2364;p21"/>
          <p:cNvSpPr/>
          <p:nvPr/>
        </p:nvSpPr>
        <p:spPr>
          <a:xfrm>
            <a:off x="7631575" y="5530882"/>
            <a:ext cx="1017672" cy="412705"/>
          </a:xfrm>
          <a:prstGeom prst="ellipse">
            <a:avLst/>
          </a:prstGeom>
          <a:noFill/>
          <a:ln cap="flat" cmpd="sng" w="381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descr="Image result for apache web server logo" id="2365" name="Google Shape;2365;p21"/>
          <p:cNvPicPr preferRelativeResize="0"/>
          <p:nvPr/>
        </p:nvPicPr>
        <p:blipFill rotWithShape="1">
          <a:blip r:embed="rId4">
            <a:alphaModFix/>
          </a:blip>
          <a:srcRect b="0" l="0" r="0" t="0"/>
          <a:stretch/>
        </p:blipFill>
        <p:spPr>
          <a:xfrm>
            <a:off x="5392538" y="1073700"/>
            <a:ext cx="1474756" cy="644858"/>
          </a:xfrm>
          <a:prstGeom prst="rect">
            <a:avLst/>
          </a:prstGeom>
          <a:noFill/>
          <a:ln>
            <a:noFill/>
          </a:ln>
        </p:spPr>
      </p:pic>
      <p:sp>
        <p:nvSpPr>
          <p:cNvPr id="2366" name="Google Shape;2366;p2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9"/>
                                        </p:tgtEl>
                                        <p:attrNameLst>
                                          <p:attrName>style.visibility</p:attrName>
                                        </p:attrNameLst>
                                      </p:cBhvr>
                                      <p:to>
                                        <p:strVal val="visible"/>
                                      </p:to>
                                    </p:set>
                                    <p:animEffect filter="fade" transition="in">
                                      <p:cBhvr>
                                        <p:cTn dur="500"/>
                                        <p:tgtEl>
                                          <p:spTgt spid="22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1"/>
                                        </p:tgtEl>
                                        <p:attrNameLst>
                                          <p:attrName>style.visibility</p:attrName>
                                        </p:attrNameLst>
                                      </p:cBhvr>
                                      <p:to>
                                        <p:strVal val="visible"/>
                                      </p:to>
                                    </p:set>
                                    <p:animEffect filter="fade" transition="in">
                                      <p:cBhvr>
                                        <p:cTn dur="500"/>
                                        <p:tgtEl>
                                          <p:spTgt spid="23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0"/>
                                        </p:tgtEl>
                                        <p:attrNameLst>
                                          <p:attrName>style.visibility</p:attrName>
                                        </p:attrNameLst>
                                      </p:cBhvr>
                                      <p:to>
                                        <p:strVal val="visible"/>
                                      </p:to>
                                    </p:set>
                                    <p:animEffect filter="fade" transition="in">
                                      <p:cBhvr>
                                        <p:cTn dur="500"/>
                                        <p:tgtEl>
                                          <p:spTgt spid="2310"/>
                                        </p:tgtEl>
                                      </p:cBhvr>
                                    </p:animEffect>
                                  </p:childTnLst>
                                </p:cTn>
                              </p:par>
                              <p:par>
                                <p:cTn fill="hold" nodeType="withEffect" presetClass="entr" presetID="10" presetSubtype="0">
                                  <p:stCondLst>
                                    <p:cond delay="0"/>
                                  </p:stCondLst>
                                  <p:childTnLst>
                                    <p:set>
                                      <p:cBhvr>
                                        <p:cTn dur="1" fill="hold">
                                          <p:stCondLst>
                                            <p:cond delay="0"/>
                                          </p:stCondLst>
                                        </p:cTn>
                                        <p:tgtEl>
                                          <p:spTgt spid="2317"/>
                                        </p:tgtEl>
                                        <p:attrNameLst>
                                          <p:attrName>style.visibility</p:attrName>
                                        </p:attrNameLst>
                                      </p:cBhvr>
                                      <p:to>
                                        <p:strVal val="visible"/>
                                      </p:to>
                                    </p:set>
                                    <p:animEffect filter="fade" transition="in">
                                      <p:cBhvr>
                                        <p:cTn dur="500"/>
                                        <p:tgtEl>
                                          <p:spTgt spid="23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2"/>
                                        </p:tgtEl>
                                        <p:attrNameLst>
                                          <p:attrName>style.visibility</p:attrName>
                                        </p:attrNameLst>
                                      </p:cBhvr>
                                      <p:to>
                                        <p:strVal val="visible"/>
                                      </p:to>
                                    </p:set>
                                    <p:animEffect filter="fade" transition="in">
                                      <p:cBhvr>
                                        <p:cTn dur="500"/>
                                        <p:tgtEl>
                                          <p:spTgt spid="2362"/>
                                        </p:tgtEl>
                                      </p:cBhvr>
                                    </p:animEffect>
                                  </p:childTnLst>
                                </p:cTn>
                              </p:par>
                              <p:par>
                                <p:cTn fill="hold" nodeType="withEffect" presetClass="entr" presetID="10" presetSubtype="0">
                                  <p:stCondLst>
                                    <p:cond delay="0"/>
                                  </p:stCondLst>
                                  <p:childTnLst>
                                    <p:set>
                                      <p:cBhvr>
                                        <p:cTn dur="1" fill="hold">
                                          <p:stCondLst>
                                            <p:cond delay="0"/>
                                          </p:stCondLst>
                                        </p:cTn>
                                        <p:tgtEl>
                                          <p:spTgt spid="2363"/>
                                        </p:tgtEl>
                                        <p:attrNameLst>
                                          <p:attrName>style.visibility</p:attrName>
                                        </p:attrNameLst>
                                      </p:cBhvr>
                                      <p:to>
                                        <p:strVal val="visible"/>
                                      </p:to>
                                    </p:set>
                                    <p:animEffect filter="fade" transition="in">
                                      <p:cBhvr>
                                        <p:cTn dur="500"/>
                                        <p:tgtEl>
                                          <p:spTgt spid="2363"/>
                                        </p:tgtEl>
                                      </p:cBhvr>
                                    </p:animEffect>
                                  </p:childTnLst>
                                </p:cTn>
                              </p:par>
                              <p:par>
                                <p:cTn fill="hold" nodeType="withEffect" presetClass="entr" presetID="10" presetSubtype="0">
                                  <p:stCondLst>
                                    <p:cond delay="0"/>
                                  </p:stCondLst>
                                  <p:childTnLst>
                                    <p:set>
                                      <p:cBhvr>
                                        <p:cTn dur="1" fill="hold">
                                          <p:stCondLst>
                                            <p:cond delay="0"/>
                                          </p:stCondLst>
                                        </p:cTn>
                                        <p:tgtEl>
                                          <p:spTgt spid="2364"/>
                                        </p:tgtEl>
                                        <p:attrNameLst>
                                          <p:attrName>style.visibility</p:attrName>
                                        </p:attrNameLst>
                                      </p:cBhvr>
                                      <p:to>
                                        <p:strVal val="visible"/>
                                      </p:to>
                                    </p:set>
                                    <p:animEffect filter="fade" transition="in">
                                      <p:cBhvr>
                                        <p:cTn dur="500"/>
                                        <p:tgtEl>
                                          <p:spTgt spid="2364"/>
                                        </p:tgtEl>
                                      </p:cBhvr>
                                    </p:animEffect>
                                  </p:childTnLst>
                                </p:cTn>
                              </p:par>
                              <p:par>
                                <p:cTn fill="hold" nodeType="withEffect" presetClass="entr" presetID="10" presetSubtype="0">
                                  <p:stCondLst>
                                    <p:cond delay="0"/>
                                  </p:stCondLst>
                                  <p:childTnLst>
                                    <p:set>
                                      <p:cBhvr>
                                        <p:cTn dur="1" fill="hold">
                                          <p:stCondLst>
                                            <p:cond delay="0"/>
                                          </p:stCondLst>
                                        </p:cTn>
                                        <p:tgtEl>
                                          <p:spTgt spid="2361"/>
                                        </p:tgtEl>
                                        <p:attrNameLst>
                                          <p:attrName>style.visibility</p:attrName>
                                        </p:attrNameLst>
                                      </p:cBhvr>
                                      <p:to>
                                        <p:strVal val="visible"/>
                                      </p:to>
                                    </p:set>
                                    <p:animEffect filter="fade" transition="in">
                                      <p:cBhvr>
                                        <p:cTn dur="500"/>
                                        <p:tgtEl>
                                          <p:spTgt spid="23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0" name="Shape 2370"/>
        <p:cNvGrpSpPr/>
        <p:nvPr/>
      </p:nvGrpSpPr>
      <p:grpSpPr>
        <a:xfrm>
          <a:off x="0" y="0"/>
          <a:ext cx="0" cy="0"/>
          <a:chOff x="0" y="0"/>
          <a:chExt cx="0" cy="0"/>
        </a:xfrm>
      </p:grpSpPr>
      <p:pic>
        <p:nvPicPr>
          <p:cNvPr descr="Screen Shot 2016-03-15 at 11.13.50 AM.png" id="2371" name="Google Shape;2371;p22"/>
          <p:cNvPicPr preferRelativeResize="0"/>
          <p:nvPr/>
        </p:nvPicPr>
        <p:blipFill rotWithShape="1">
          <a:blip r:embed="rId3">
            <a:alphaModFix/>
          </a:blip>
          <a:srcRect b="0" l="0" r="0" t="0"/>
          <a:stretch/>
        </p:blipFill>
        <p:spPr>
          <a:xfrm>
            <a:off x="1937645" y="1653966"/>
            <a:ext cx="8316710" cy="5078518"/>
          </a:xfrm>
          <a:prstGeom prst="rect">
            <a:avLst/>
          </a:prstGeom>
          <a:noFill/>
          <a:ln>
            <a:noFill/>
          </a:ln>
        </p:spPr>
      </p:pic>
      <p:grpSp>
        <p:nvGrpSpPr>
          <p:cNvPr id="2372" name="Google Shape;2372;p22"/>
          <p:cNvGrpSpPr/>
          <p:nvPr/>
        </p:nvGrpSpPr>
        <p:grpSpPr>
          <a:xfrm>
            <a:off x="4473576" y="4311650"/>
            <a:ext cx="1882775" cy="592138"/>
            <a:chOff x="2589599" y="4301777"/>
            <a:chExt cx="1882594" cy="592676"/>
          </a:xfrm>
        </p:grpSpPr>
        <p:sp>
          <p:nvSpPr>
            <p:cNvPr id="2373" name="Google Shape;2373;p22"/>
            <p:cNvSpPr txBox="1"/>
            <p:nvPr/>
          </p:nvSpPr>
          <p:spPr>
            <a:xfrm>
              <a:off x="2676509" y="4301777"/>
              <a:ext cx="179568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1" i="0" lang="en-US" sz="1400" u="none" cap="none" strike="noStrike">
                  <a:solidFill>
                    <a:srgbClr val="FF0000"/>
                  </a:solidFill>
                  <a:latin typeface="Courier New"/>
                  <a:ea typeface="Courier New"/>
                  <a:cs typeface="Courier New"/>
                  <a:sym typeface="Courier New"/>
                </a:rPr>
                <a:t>HTTP session 2 </a:t>
              </a:r>
              <a:endParaRPr/>
            </a:p>
          </p:txBody>
        </p:sp>
        <p:sp>
          <p:nvSpPr>
            <p:cNvPr id="2374" name="Google Shape;2374;p22"/>
            <p:cNvSpPr txBox="1"/>
            <p:nvPr/>
          </p:nvSpPr>
          <p:spPr>
            <a:xfrm>
              <a:off x="2589599" y="4586676"/>
              <a:ext cx="179568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1" i="0" lang="en-US" sz="1400" u="none" cap="none" strike="noStrike">
                  <a:solidFill>
                    <a:srgbClr val="FF0000"/>
                  </a:solidFill>
                  <a:latin typeface="Courier New"/>
                  <a:ea typeface="Courier New"/>
                  <a:cs typeface="Courier New"/>
                  <a:sym typeface="Courier New"/>
                </a:rPr>
                <a:t>HTTP session 3 </a:t>
              </a:r>
              <a:endParaRPr/>
            </a:p>
          </p:txBody>
        </p:sp>
      </p:grpSp>
      <p:sp>
        <p:nvSpPr>
          <p:cNvPr id="2375" name="Google Shape;2375;p22"/>
          <p:cNvSpPr txBox="1"/>
          <p:nvPr/>
        </p:nvSpPr>
        <p:spPr>
          <a:xfrm>
            <a:off x="2535238" y="4741864"/>
            <a:ext cx="1795462"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1" i="0" lang="en-US" sz="1400" u="none" cap="none" strike="noStrike">
                <a:solidFill>
                  <a:srgbClr val="FF0000"/>
                </a:solidFill>
                <a:latin typeface="Courier New"/>
                <a:ea typeface="Courier New"/>
                <a:cs typeface="Courier New"/>
                <a:sym typeface="Courier New"/>
              </a:rPr>
              <a:t>HTTP session 1 </a:t>
            </a:r>
            <a:endParaRPr/>
          </a:p>
        </p:txBody>
      </p:sp>
      <p:sp>
        <p:nvSpPr>
          <p:cNvPr id="2376" name="Google Shape;2376;p22"/>
          <p:cNvSpPr txBox="1"/>
          <p:nvPr/>
        </p:nvSpPr>
        <p:spPr>
          <a:xfrm>
            <a:off x="6678152" y="2754895"/>
            <a:ext cx="93884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FF0000"/>
                </a:solidFill>
                <a:highlight>
                  <a:srgbClr val="00FFFF"/>
                </a:highlight>
                <a:latin typeface="Courier New"/>
                <a:ea typeface="Courier New"/>
                <a:cs typeface="Courier New"/>
                <a:sym typeface="Courier New"/>
              </a:rPr>
              <a:t>Port 80</a:t>
            </a:r>
            <a:endParaRPr/>
          </a:p>
        </p:txBody>
      </p:sp>
      <p:pic>
        <p:nvPicPr>
          <p:cNvPr id="2377" name="Google Shape;2377;p22"/>
          <p:cNvPicPr preferRelativeResize="0"/>
          <p:nvPr/>
        </p:nvPicPr>
        <p:blipFill rotWithShape="1">
          <a:blip r:embed="rId4">
            <a:alphaModFix/>
          </a:blip>
          <a:srcRect b="0" l="0" r="0" t="0"/>
          <a:stretch/>
        </p:blipFill>
        <p:spPr>
          <a:xfrm>
            <a:off x="7759948" y="5049839"/>
            <a:ext cx="4279900" cy="1257300"/>
          </a:xfrm>
          <a:prstGeom prst="rect">
            <a:avLst/>
          </a:prstGeom>
          <a:noFill/>
          <a:ln>
            <a:noFill/>
          </a:ln>
        </p:spPr>
      </p:pic>
      <p:cxnSp>
        <p:nvCxnSpPr>
          <p:cNvPr id="2378" name="Google Shape;2378;p22"/>
          <p:cNvCxnSpPr/>
          <p:nvPr/>
        </p:nvCxnSpPr>
        <p:spPr>
          <a:xfrm flipH="1" rot="10800000">
            <a:off x="7518400" y="2692400"/>
            <a:ext cx="393700" cy="215900"/>
          </a:xfrm>
          <a:prstGeom prst="straightConnector1">
            <a:avLst/>
          </a:prstGeom>
          <a:noFill/>
          <a:ln cap="flat" cmpd="sng" w="31750">
            <a:solidFill>
              <a:srgbClr val="FF0000"/>
            </a:solidFill>
            <a:prstDash val="solid"/>
            <a:round/>
            <a:headEnd len="med" w="med" type="none"/>
            <a:tailEnd len="med" w="med" type="triangle"/>
          </a:ln>
        </p:spPr>
      </p:cxnSp>
      <p:grpSp>
        <p:nvGrpSpPr>
          <p:cNvPr id="2379" name="Google Shape;2379;p22"/>
          <p:cNvGrpSpPr/>
          <p:nvPr/>
        </p:nvGrpSpPr>
        <p:grpSpPr>
          <a:xfrm>
            <a:off x="5144280" y="720120"/>
            <a:ext cx="2902440" cy="1551442"/>
            <a:chOff x="4052017" y="644965"/>
            <a:chExt cx="2503169" cy="1553992"/>
          </a:xfrm>
        </p:grpSpPr>
        <p:sp>
          <p:nvSpPr>
            <p:cNvPr id="2380" name="Google Shape;2380;p22"/>
            <p:cNvSpPr txBox="1"/>
            <p:nvPr/>
          </p:nvSpPr>
          <p:spPr>
            <a:xfrm>
              <a:off x="4052017" y="644965"/>
              <a:ext cx="2157411" cy="878146"/>
            </a:xfrm>
            <a:prstGeom prst="rect">
              <a:avLst/>
            </a:prstGeom>
            <a:solidFill>
              <a:srgbClr val="FFFF00"/>
            </a:solidFill>
            <a:ln cap="flat" cmpd="sng" w="38100">
              <a:solidFill>
                <a:srgbClr val="FF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Arial"/>
                  <a:ea typeface="Arial"/>
                  <a:cs typeface="Arial"/>
                  <a:sym typeface="Arial"/>
                </a:rPr>
                <a:t>web server have different sockets for each connecting client</a:t>
              </a:r>
              <a:endParaRPr b="0" i="0" sz="1600" u="none" cap="none" strike="noStrike">
                <a:solidFill>
                  <a:srgbClr val="000000"/>
                </a:solidFill>
                <a:latin typeface="Tahoma"/>
                <a:ea typeface="Tahoma"/>
                <a:cs typeface="Tahoma"/>
                <a:sym typeface="Tahoma"/>
              </a:endParaRPr>
            </a:p>
          </p:txBody>
        </p:sp>
        <p:cxnSp>
          <p:nvCxnSpPr>
            <p:cNvPr id="2381" name="Google Shape;2381;p22"/>
            <p:cNvCxnSpPr/>
            <p:nvPr/>
          </p:nvCxnSpPr>
          <p:spPr>
            <a:xfrm>
              <a:off x="6060541" y="1523111"/>
              <a:ext cx="494645" cy="675846"/>
            </a:xfrm>
            <a:prstGeom prst="straightConnector1">
              <a:avLst/>
            </a:prstGeom>
            <a:noFill/>
            <a:ln cap="flat" cmpd="sng" w="57150">
              <a:solidFill>
                <a:srgbClr val="FF0000"/>
              </a:solidFill>
              <a:prstDash val="solid"/>
              <a:round/>
              <a:headEnd len="med" w="med" type="none"/>
              <a:tailEnd len="med" w="med" type="triangle"/>
            </a:ln>
          </p:spPr>
        </p:cxnSp>
      </p:grpSp>
      <p:sp>
        <p:nvSpPr>
          <p:cNvPr id="2382" name="Google Shape;2382;p22"/>
          <p:cNvSpPr txBox="1"/>
          <p:nvPr>
            <p:ph type="title"/>
          </p:nvPr>
        </p:nvSpPr>
        <p:spPr>
          <a:xfrm>
            <a:off x="182397" y="-75121"/>
            <a:ext cx="8085137" cy="9350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3200"/>
              <a:t>Connection-oriented demultiplexing: example</a:t>
            </a:r>
            <a:endParaRPr/>
          </a:p>
        </p:txBody>
      </p:sp>
      <p:sp>
        <p:nvSpPr>
          <p:cNvPr id="2383" name="Google Shape;2383;p22"/>
          <p:cNvSpPr txBox="1"/>
          <p:nvPr/>
        </p:nvSpPr>
        <p:spPr>
          <a:xfrm>
            <a:off x="9219616" y="6443089"/>
            <a:ext cx="27432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100" u="none" cap="none" strike="noStrike">
                <a:solidFill>
                  <a:srgbClr val="7F7F7F"/>
                </a:solidFill>
                <a:latin typeface="Gill Sans"/>
                <a:ea typeface="Gill Sans"/>
                <a:cs typeface="Gill Sans"/>
                <a:sym typeface="Gill Sans"/>
              </a:rPr>
              <a:t>Transport Layer: 3-</a:t>
            </a:r>
            <a:fld id="{00000000-1234-1234-1234-123412341234}" type="slidenum">
              <a:rPr b="0" i="0" lang="en-US" sz="1100" u="none" cap="none" strike="noStrike">
                <a:solidFill>
                  <a:srgbClr val="7F7F7F"/>
                </a:solidFill>
                <a:latin typeface="Gill Sans"/>
                <a:ea typeface="Gill Sans"/>
                <a:cs typeface="Gill Sans"/>
                <a:sym typeface="Gill Sans"/>
              </a:rPr>
              <a:t>‹#›</a:t>
            </a:fld>
            <a:endParaRPr b="0" i="0" sz="1100" u="none" cap="none" strike="noStrike">
              <a:solidFill>
                <a:srgbClr val="7F7F7F"/>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8" name="Shape 2388"/>
        <p:cNvGrpSpPr/>
        <p:nvPr/>
      </p:nvGrpSpPr>
      <p:grpSpPr>
        <a:xfrm>
          <a:off x="0" y="0"/>
          <a:ext cx="0" cy="0"/>
          <a:chOff x="0" y="0"/>
          <a:chExt cx="0" cy="0"/>
        </a:xfrm>
      </p:grpSpPr>
      <p:sp>
        <p:nvSpPr>
          <p:cNvPr id="2389" name="Google Shape;2389;p23"/>
          <p:cNvSpPr txBox="1"/>
          <p:nvPr>
            <p:ph type="title"/>
          </p:nvPr>
        </p:nvSpPr>
        <p:spPr>
          <a:xfrm>
            <a:off x="798690" y="289325"/>
            <a:ext cx="11100625" cy="120644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5400"/>
              <a:buFont typeface="Calibri"/>
              <a:buNone/>
            </a:pPr>
            <a:r>
              <a:rPr lang="en-US" sz="5400"/>
              <a:t>Summary</a:t>
            </a:r>
            <a:endParaRPr sz="6000"/>
          </a:p>
        </p:txBody>
      </p:sp>
      <p:sp>
        <p:nvSpPr>
          <p:cNvPr id="2390" name="Google Shape;2390;p23"/>
          <p:cNvSpPr txBox="1"/>
          <p:nvPr/>
        </p:nvSpPr>
        <p:spPr>
          <a:xfrm>
            <a:off x="798690" y="1610067"/>
            <a:ext cx="11100625" cy="5247933"/>
          </a:xfrm>
          <a:prstGeom prst="rect">
            <a:avLst/>
          </a:prstGeom>
          <a:noFill/>
          <a:ln>
            <a:noFill/>
          </a:ln>
        </p:spPr>
        <p:txBody>
          <a:bodyPr anchorCtr="0" anchor="t" bIns="45700" lIns="91425" spcFirstLastPara="1" rIns="91425" wrap="square" tIns="45700">
            <a:normAutofit/>
          </a:bodyPr>
          <a:lstStyle/>
          <a:p>
            <a:pPr indent="-339725" lvl="0" marL="4635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Multiplexing, demultiplexing: based on segment, datagram header field values</a:t>
            </a:r>
            <a:endParaRPr/>
          </a:p>
          <a:p>
            <a:pPr indent="-339725" lvl="0" marL="463550" marR="0" rtl="0" algn="l">
              <a:lnSpc>
                <a:spcPct val="90000"/>
              </a:lnSpc>
              <a:spcBef>
                <a:spcPts val="1000"/>
              </a:spcBef>
              <a:spcAft>
                <a:spcPts val="0"/>
              </a:spcAft>
              <a:buClr>
                <a:srgbClr val="0000A3"/>
              </a:buClr>
              <a:buSzPts val="3200"/>
              <a:buFont typeface="Noto Sans Symbols"/>
              <a:buChar char="▪"/>
            </a:pPr>
            <a:r>
              <a:rPr b="1" i="0" lang="en-US" sz="3200" u="none" cap="none" strike="noStrike">
                <a:solidFill>
                  <a:srgbClr val="C00000"/>
                </a:solidFill>
                <a:latin typeface="Calibri"/>
                <a:ea typeface="Calibri"/>
                <a:cs typeface="Calibri"/>
                <a:sym typeface="Calibri"/>
              </a:rPr>
              <a:t>UDP: </a:t>
            </a:r>
            <a:r>
              <a:rPr b="0" i="0" lang="en-US" sz="3200" u="none" cap="none" strike="noStrike">
                <a:solidFill>
                  <a:srgbClr val="000000"/>
                </a:solidFill>
                <a:latin typeface="Calibri"/>
                <a:ea typeface="Calibri"/>
                <a:cs typeface="Calibri"/>
                <a:sym typeface="Calibri"/>
              </a:rPr>
              <a:t>demultiplexing using destination port number (only)</a:t>
            </a:r>
            <a:endParaRPr/>
          </a:p>
          <a:p>
            <a:pPr indent="-339725" lvl="0" marL="463550" marR="0" rtl="0" algn="l">
              <a:lnSpc>
                <a:spcPct val="90000"/>
              </a:lnSpc>
              <a:spcBef>
                <a:spcPts val="1000"/>
              </a:spcBef>
              <a:spcAft>
                <a:spcPts val="0"/>
              </a:spcAft>
              <a:buClr>
                <a:srgbClr val="0000A3"/>
              </a:buClr>
              <a:buSzPts val="3600"/>
              <a:buFont typeface="Noto Sans Symbols"/>
              <a:buChar char="▪"/>
            </a:pPr>
            <a:r>
              <a:rPr b="1" i="0" lang="en-US" sz="3600" u="none" cap="none" strike="noStrike">
                <a:solidFill>
                  <a:srgbClr val="C00000"/>
                </a:solidFill>
                <a:latin typeface="Calibri"/>
                <a:ea typeface="Calibri"/>
                <a:cs typeface="Calibri"/>
                <a:sym typeface="Calibri"/>
              </a:rPr>
              <a:t>TCP: </a:t>
            </a:r>
            <a:r>
              <a:rPr b="0" i="0" lang="en-US" sz="3200" u="none" cap="none" strike="noStrike">
                <a:solidFill>
                  <a:srgbClr val="000000"/>
                </a:solidFill>
                <a:latin typeface="Calibri"/>
                <a:ea typeface="Calibri"/>
                <a:cs typeface="Calibri"/>
                <a:sym typeface="Calibri"/>
              </a:rPr>
              <a:t>demultiplexing using 4-tuple: source and destination IP addresses, and port numbers</a:t>
            </a:r>
            <a:endParaRPr/>
          </a:p>
          <a:p>
            <a:pPr indent="-339725" lvl="0" marL="46355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Multiplexing/demultiplexing happen at </a:t>
            </a:r>
            <a:r>
              <a:rPr b="0" i="1" lang="en-US" sz="3200" u="none" cap="none" strike="noStrike">
                <a:solidFill>
                  <a:srgbClr val="000000"/>
                </a:solidFill>
                <a:latin typeface="Calibri"/>
                <a:ea typeface="Calibri"/>
                <a:cs typeface="Calibri"/>
                <a:sym typeface="Calibri"/>
              </a:rPr>
              <a:t>all</a:t>
            </a:r>
            <a:r>
              <a:rPr b="0" i="0" lang="en-US" sz="3200" u="none" cap="none" strike="noStrike">
                <a:solidFill>
                  <a:srgbClr val="000000"/>
                </a:solidFill>
                <a:latin typeface="Calibri"/>
                <a:ea typeface="Calibri"/>
                <a:cs typeface="Calibri"/>
                <a:sym typeface="Calibri"/>
              </a:rPr>
              <a:t> layers</a:t>
            </a:r>
            <a:endParaRPr b="0" i="0" sz="2400" u="none" cap="none" strike="noStrike">
              <a:solidFill>
                <a:srgbClr val="000000"/>
              </a:solidFill>
              <a:latin typeface="Calibri"/>
              <a:ea typeface="Calibri"/>
              <a:cs typeface="Calibri"/>
              <a:sym typeface="Calibri"/>
            </a:endParaRPr>
          </a:p>
        </p:txBody>
      </p:sp>
      <p:sp>
        <p:nvSpPr>
          <p:cNvPr id="2391" name="Google Shape;2391;p2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6" name="Shape 2396"/>
        <p:cNvGrpSpPr/>
        <p:nvPr/>
      </p:nvGrpSpPr>
      <p:grpSpPr>
        <a:xfrm>
          <a:off x="0" y="0"/>
          <a:ext cx="0" cy="0"/>
          <a:chOff x="0" y="0"/>
          <a:chExt cx="0" cy="0"/>
        </a:xfrm>
      </p:grpSpPr>
      <p:sp>
        <p:nvSpPr>
          <p:cNvPr id="2397" name="Google Shape;2397;p24"/>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2398" name="Google Shape;2398;p24"/>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SzPts val="3200"/>
              <a:buChar char="▪"/>
            </a:pPr>
            <a:r>
              <a:rPr lang="en-US" sz="3200">
                <a:solidFill>
                  <a:srgbClr val="C00000"/>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Evolution of transport-layer functionality</a:t>
            </a:r>
            <a:endParaRPr/>
          </a:p>
          <a:p>
            <a:pPr indent="0" lvl="0" marL="117475" rtl="0" algn="l">
              <a:lnSpc>
                <a:spcPct val="90000"/>
              </a:lnSpc>
              <a:spcBef>
                <a:spcPts val="800"/>
              </a:spcBef>
              <a:spcAft>
                <a:spcPts val="0"/>
              </a:spcAft>
              <a:buClr>
                <a:srgbClr val="BFBFBF"/>
              </a:buClr>
              <a:buSzPts val="3200"/>
              <a:buNone/>
            </a:pPr>
            <a:r>
              <a:t/>
            </a:r>
            <a:endParaRPr sz="3200">
              <a:solidFill>
                <a:srgbClr val="BFBFBF"/>
              </a:solidFill>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2399" name="Google Shape;2399;p2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2400" name="Google Shape;2400;p24"/>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5" name="Shape 2405"/>
        <p:cNvGrpSpPr/>
        <p:nvPr/>
      </p:nvGrpSpPr>
      <p:grpSpPr>
        <a:xfrm>
          <a:off x="0" y="0"/>
          <a:ext cx="0" cy="0"/>
          <a:chOff x="0" y="0"/>
          <a:chExt cx="0" cy="0"/>
        </a:xfrm>
      </p:grpSpPr>
      <p:sp>
        <p:nvSpPr>
          <p:cNvPr id="2406" name="Google Shape;2406;p2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User Datagram Protocol</a:t>
            </a:r>
            <a:endParaRPr/>
          </a:p>
        </p:txBody>
      </p:sp>
      <p:sp>
        <p:nvSpPr>
          <p:cNvPr id="2407" name="Google Shape;2407;p25"/>
          <p:cNvSpPr txBox="1"/>
          <p:nvPr/>
        </p:nvSpPr>
        <p:spPr>
          <a:xfrm>
            <a:off x="618385" y="1528553"/>
            <a:ext cx="5550595" cy="2927537"/>
          </a:xfrm>
          <a:prstGeom prst="rect">
            <a:avLst/>
          </a:prstGeom>
          <a:noFill/>
          <a:ln>
            <a:noFill/>
          </a:ln>
        </p:spPr>
        <p:txBody>
          <a:bodyPr anchorCtr="0" anchor="t" bIns="45700" lIns="91425" spcFirstLastPara="1" rIns="91425" wrap="square" tIns="45700">
            <a:normAutofit fontScale="92500"/>
          </a:bodyPr>
          <a:lstStyle/>
          <a:p>
            <a:pPr indent="-330200" lvl="0" marL="460375" marR="0" rtl="0" algn="l">
              <a:lnSpc>
                <a:spcPct val="90000"/>
              </a:lnSpc>
              <a:spcBef>
                <a:spcPts val="0"/>
              </a:spcBef>
              <a:spcAft>
                <a:spcPts val="0"/>
              </a:spcAft>
              <a:buClr>
                <a:srgbClr val="0000A3"/>
              </a:buClr>
              <a:buSzPct val="100000"/>
              <a:buFont typeface="Noto Sans Symbols"/>
              <a:buChar char="▪"/>
            </a:pPr>
            <a:r>
              <a:rPr b="0" i="0" lang="en-US" sz="3200" u="none" cap="none" strike="noStrike">
                <a:solidFill>
                  <a:srgbClr val="000000"/>
                </a:solidFill>
                <a:latin typeface="Calibri"/>
                <a:ea typeface="Calibri"/>
                <a:cs typeface="Calibri"/>
                <a:sym typeface="Calibri"/>
              </a:rPr>
              <a:t>“no frills,” “bare bones” Internet transport protocol</a:t>
            </a:r>
            <a:endParaRPr/>
          </a:p>
          <a:p>
            <a:pPr indent="-330200" lvl="0" marL="460375" marR="0" rtl="0" algn="l">
              <a:lnSpc>
                <a:spcPct val="90000"/>
              </a:lnSpc>
              <a:spcBef>
                <a:spcPts val="1000"/>
              </a:spcBef>
              <a:spcAft>
                <a:spcPts val="0"/>
              </a:spcAft>
              <a:buClr>
                <a:srgbClr val="0000A3"/>
              </a:buClr>
              <a:buSzPct val="100000"/>
              <a:buFont typeface="Noto Sans Symbols"/>
              <a:buChar char="▪"/>
            </a:pPr>
            <a:r>
              <a:rPr b="0" i="0" lang="en-US" sz="3200" u="none" cap="none" strike="noStrike">
                <a:solidFill>
                  <a:srgbClr val="000000"/>
                </a:solidFill>
                <a:latin typeface="Calibri"/>
                <a:ea typeface="Calibri"/>
                <a:cs typeface="Calibri"/>
                <a:sym typeface="Calibri"/>
              </a:rPr>
              <a:t>“best effort” service, UDP segments may be:</a:t>
            </a:r>
            <a:endParaRPr/>
          </a:p>
          <a:p>
            <a:pPr indent="-231775" lvl="1" marL="808038" marR="0" rtl="0" algn="l">
              <a:lnSpc>
                <a:spcPct val="90000"/>
              </a:lnSpc>
              <a:spcBef>
                <a:spcPts val="500"/>
              </a:spcBef>
              <a:spcAft>
                <a:spcPts val="0"/>
              </a:spcAft>
              <a:buClr>
                <a:srgbClr val="0000A8"/>
              </a:buClr>
              <a:buSzPct val="100000"/>
              <a:buFont typeface="Arial"/>
              <a:buChar char="•"/>
            </a:pPr>
            <a:r>
              <a:rPr b="0" i="0" lang="en-US" sz="3200" u="none" cap="none" strike="noStrike">
                <a:solidFill>
                  <a:srgbClr val="000000"/>
                </a:solidFill>
                <a:latin typeface="Calibri"/>
                <a:ea typeface="Calibri"/>
                <a:cs typeface="Calibri"/>
                <a:sym typeface="Calibri"/>
              </a:rPr>
              <a:t>lost</a:t>
            </a:r>
            <a:endParaRPr/>
          </a:p>
          <a:p>
            <a:pPr indent="-231775" lvl="1" marL="808038" marR="0" rtl="0" algn="l">
              <a:lnSpc>
                <a:spcPct val="90000"/>
              </a:lnSpc>
              <a:spcBef>
                <a:spcPts val="500"/>
              </a:spcBef>
              <a:spcAft>
                <a:spcPts val="0"/>
              </a:spcAft>
              <a:buClr>
                <a:srgbClr val="0000A8"/>
              </a:buClr>
              <a:buSzPct val="100000"/>
              <a:buFont typeface="Arial"/>
              <a:buChar char="•"/>
            </a:pPr>
            <a:r>
              <a:rPr b="0" i="0" lang="en-US" sz="3200" u="none" cap="none" strike="noStrike">
                <a:solidFill>
                  <a:srgbClr val="000000"/>
                </a:solidFill>
                <a:latin typeface="Calibri"/>
                <a:ea typeface="Calibri"/>
                <a:cs typeface="Calibri"/>
                <a:sym typeface="Calibri"/>
              </a:rPr>
              <a:t>delivered out-of-order to app</a:t>
            </a:r>
            <a:endParaRPr/>
          </a:p>
        </p:txBody>
      </p:sp>
      <p:grpSp>
        <p:nvGrpSpPr>
          <p:cNvPr id="2408" name="Google Shape;2408;p25"/>
          <p:cNvGrpSpPr/>
          <p:nvPr/>
        </p:nvGrpSpPr>
        <p:grpSpPr>
          <a:xfrm>
            <a:off x="6568225" y="1335368"/>
            <a:ext cx="5029004" cy="5014363"/>
            <a:chOff x="4979987" y="2821302"/>
            <a:chExt cx="6630121" cy="3829830"/>
          </a:xfrm>
        </p:grpSpPr>
        <p:sp>
          <p:nvSpPr>
            <p:cNvPr id="2409" name="Google Shape;2409;p25"/>
            <p:cNvSpPr txBox="1"/>
            <p:nvPr/>
          </p:nvSpPr>
          <p:spPr>
            <a:xfrm>
              <a:off x="5218112" y="3235273"/>
              <a:ext cx="6059488" cy="304482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no connection establishment (which can add RTT delay)</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simple: no connection state at sender, receiver</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small header size</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no congestion control</a:t>
              </a:r>
              <a:endParaRPr/>
            </a:p>
            <a:p>
              <a:pPr indent="-284163" lvl="1" marL="687388"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UDP can blast away as fast as desired!</a:t>
              </a:r>
              <a:endParaRPr/>
            </a:p>
            <a:p>
              <a:pPr indent="-284163" lvl="1" marL="687388"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can function in the face of congestion</a:t>
              </a:r>
              <a:endParaRPr/>
            </a:p>
          </p:txBody>
        </p:sp>
        <p:sp>
          <p:nvSpPr>
            <p:cNvPr id="2410" name="Google Shape;2410;p25"/>
            <p:cNvSpPr/>
            <p:nvPr/>
          </p:nvSpPr>
          <p:spPr>
            <a:xfrm>
              <a:off x="4979987" y="2988017"/>
              <a:ext cx="6630121" cy="3663115"/>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411" name="Google Shape;2411;p25"/>
            <p:cNvSpPr txBox="1"/>
            <p:nvPr/>
          </p:nvSpPr>
          <p:spPr>
            <a:xfrm>
              <a:off x="5124449" y="2821302"/>
              <a:ext cx="5102112" cy="378906"/>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99"/>
                </a:buClr>
                <a:buSzPts val="2080"/>
                <a:buFont typeface="Noto Sans Symbols"/>
                <a:buNone/>
              </a:pPr>
              <a:r>
                <a:rPr b="0" i="0" lang="en-US" sz="3200" u="none" cap="none" strike="noStrike">
                  <a:solidFill>
                    <a:srgbClr val="CC0000"/>
                  </a:solidFill>
                  <a:latin typeface="Calibri"/>
                  <a:ea typeface="Calibri"/>
                  <a:cs typeface="Calibri"/>
                  <a:sym typeface="Calibri"/>
                </a:rPr>
                <a:t>Why is there a UDP?</a:t>
              </a:r>
              <a:endParaRPr b="0" i="0" sz="1800" u="none" cap="none" strike="noStrike">
                <a:solidFill>
                  <a:srgbClr val="000000"/>
                </a:solidFill>
                <a:latin typeface="Calibri"/>
                <a:ea typeface="Calibri"/>
                <a:cs typeface="Calibri"/>
                <a:sym typeface="Calibri"/>
              </a:endParaRPr>
            </a:p>
          </p:txBody>
        </p:sp>
      </p:grpSp>
      <p:sp>
        <p:nvSpPr>
          <p:cNvPr id="2412" name="Google Shape;2412;p25"/>
          <p:cNvSpPr txBox="1"/>
          <p:nvPr/>
        </p:nvSpPr>
        <p:spPr>
          <a:xfrm>
            <a:off x="641997" y="4404835"/>
            <a:ext cx="5550595" cy="2060359"/>
          </a:xfrm>
          <a:prstGeom prst="rect">
            <a:avLst/>
          </a:prstGeom>
          <a:noFill/>
          <a:ln>
            <a:noFill/>
          </a:ln>
        </p:spPr>
        <p:txBody>
          <a:bodyPr anchorCtr="0" anchor="t" bIns="45700" lIns="91425" spcFirstLastPara="1" rIns="91425" wrap="square" tIns="45700">
            <a:normAutofit fontScale="92500" lnSpcReduction="10000"/>
          </a:bodyPr>
          <a:lstStyle/>
          <a:p>
            <a:pPr indent="-333375" lvl="0" marL="460375" marR="0" rtl="0" algn="l">
              <a:lnSpc>
                <a:spcPct val="90000"/>
              </a:lnSpc>
              <a:spcBef>
                <a:spcPts val="0"/>
              </a:spcBef>
              <a:spcAft>
                <a:spcPts val="0"/>
              </a:spcAft>
              <a:buClr>
                <a:srgbClr val="0000A3"/>
              </a:buClr>
              <a:buSzPct val="100000"/>
              <a:buFont typeface="Noto Sans Symbols"/>
              <a:buChar char="▪"/>
            </a:pPr>
            <a:r>
              <a:rPr b="0" i="1" lang="en-US" sz="3200" u="none" cap="none" strike="noStrike">
                <a:solidFill>
                  <a:srgbClr val="CC0000"/>
                </a:solidFill>
                <a:latin typeface="Calibri"/>
                <a:ea typeface="Calibri"/>
                <a:cs typeface="Calibri"/>
                <a:sym typeface="Calibri"/>
              </a:rPr>
              <a:t>connectionless:</a:t>
            </a:r>
            <a:endParaRPr b="0" i="0" sz="3600" u="none" cap="none" strike="noStrike">
              <a:solidFill>
                <a:srgbClr val="CC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ct val="100000"/>
              <a:buFont typeface="Arial"/>
              <a:buChar char="•"/>
            </a:pPr>
            <a:r>
              <a:rPr b="0" i="0" lang="en-US" sz="3200" u="none" cap="none" strike="noStrike">
                <a:solidFill>
                  <a:srgbClr val="000000"/>
                </a:solidFill>
                <a:latin typeface="Calibri"/>
                <a:ea typeface="Calibri"/>
                <a:cs typeface="Calibri"/>
                <a:sym typeface="Calibri"/>
              </a:rPr>
              <a:t>no handshaking between UDP sender, receiver</a:t>
            </a:r>
            <a:endParaRPr/>
          </a:p>
          <a:p>
            <a:pPr indent="-231775" lvl="1" marL="695325" marR="0" rtl="0" algn="l">
              <a:lnSpc>
                <a:spcPct val="90000"/>
              </a:lnSpc>
              <a:spcBef>
                <a:spcPts val="500"/>
              </a:spcBef>
              <a:spcAft>
                <a:spcPts val="0"/>
              </a:spcAft>
              <a:buClr>
                <a:srgbClr val="0000A8"/>
              </a:buClr>
              <a:buSzPct val="100000"/>
              <a:buFont typeface="Arial"/>
              <a:buChar char="•"/>
            </a:pPr>
            <a:r>
              <a:rPr b="0" i="0" lang="en-US" sz="3200" u="none" cap="none" strike="noStrike">
                <a:solidFill>
                  <a:srgbClr val="000000"/>
                </a:solidFill>
                <a:latin typeface="Calibri"/>
                <a:ea typeface="Calibri"/>
                <a:cs typeface="Calibri"/>
                <a:sym typeface="Calibri"/>
              </a:rPr>
              <a:t>each UDP segment handled independently of others</a:t>
            </a:r>
            <a:endParaRPr/>
          </a:p>
        </p:txBody>
      </p:sp>
      <p:sp>
        <p:nvSpPr>
          <p:cNvPr id="2413" name="Google Shape;2413;p2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2"/>
                                        </p:tgtEl>
                                        <p:attrNameLst>
                                          <p:attrName>style.visibility</p:attrName>
                                        </p:attrNameLst>
                                      </p:cBhvr>
                                      <p:to>
                                        <p:strVal val="visible"/>
                                      </p:to>
                                    </p:set>
                                    <p:animEffect filter="fade" transition="in">
                                      <p:cBhvr>
                                        <p:cTn dur="500"/>
                                        <p:tgtEl>
                                          <p:spTgt spid="24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8"/>
                                        </p:tgtEl>
                                        <p:attrNameLst>
                                          <p:attrName>style.visibility</p:attrName>
                                        </p:attrNameLst>
                                      </p:cBhvr>
                                      <p:to>
                                        <p:strVal val="visible"/>
                                      </p:to>
                                    </p:set>
                                    <p:animEffect filter="fade" transition="in">
                                      <p:cBhvr>
                                        <p:cTn dur="500"/>
                                        <p:tgtEl>
                                          <p:spTgt spid="24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8" name="Shape 2418"/>
        <p:cNvGrpSpPr/>
        <p:nvPr/>
      </p:nvGrpSpPr>
      <p:grpSpPr>
        <a:xfrm>
          <a:off x="0" y="0"/>
          <a:ext cx="0" cy="0"/>
          <a:chOff x="0" y="0"/>
          <a:chExt cx="0" cy="0"/>
        </a:xfrm>
      </p:grpSpPr>
      <p:sp>
        <p:nvSpPr>
          <p:cNvPr id="2419" name="Google Shape;2419;p2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User Datagram Protocol</a:t>
            </a:r>
            <a:endParaRPr/>
          </a:p>
        </p:txBody>
      </p:sp>
      <p:sp>
        <p:nvSpPr>
          <p:cNvPr id="2420" name="Google Shape;2420;p26"/>
          <p:cNvSpPr/>
          <p:nvPr/>
        </p:nvSpPr>
        <p:spPr>
          <a:xfrm>
            <a:off x="798690" y="1543058"/>
            <a:ext cx="11100625" cy="4888778"/>
          </a:xfrm>
          <a:prstGeom prst="rect">
            <a:avLst/>
          </a:prstGeom>
          <a:noFill/>
          <a:ln>
            <a:noFill/>
          </a:ln>
        </p:spPr>
        <p:txBody>
          <a:bodyPr anchorCtr="0" anchor="t" bIns="45700" lIns="91425" spcFirstLastPara="1" rIns="91425" wrap="square" tIns="45700">
            <a:noAutofit/>
          </a:bodyPr>
          <a:lstStyle/>
          <a:p>
            <a:pPr indent="-292100" lvl="0" marL="292100" marR="0" rtl="0" algn="l">
              <a:lnSpc>
                <a:spcPct val="85000"/>
              </a:lnSpc>
              <a:spcBef>
                <a:spcPts val="0"/>
              </a:spcBef>
              <a:spcAft>
                <a:spcPts val="0"/>
              </a:spcAft>
              <a:buClr>
                <a:srgbClr val="000099"/>
              </a:buClr>
              <a:buSzPts val="3200"/>
              <a:buFont typeface="Noto Sans Symbols"/>
              <a:buChar char="▪"/>
            </a:pPr>
            <a:r>
              <a:rPr b="0" i="0" lang="en-US" sz="3200" u="none" cap="none" strike="noStrike">
                <a:solidFill>
                  <a:srgbClr val="000000"/>
                </a:solidFill>
                <a:latin typeface="Calibri"/>
                <a:ea typeface="Calibri"/>
                <a:cs typeface="Calibri"/>
                <a:sym typeface="Calibri"/>
              </a:rPr>
              <a:t>UDP use:</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streaming multimedia apps (loss tolerant, rate sensitive)</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DNS</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SNMP</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HTTP/3</a:t>
            </a:r>
            <a:endParaRPr/>
          </a:p>
          <a:p>
            <a:pPr indent="-292100" lvl="0" marL="292100" marR="0" rtl="0" algn="l">
              <a:lnSpc>
                <a:spcPct val="85000"/>
              </a:lnSpc>
              <a:spcBef>
                <a:spcPts val="640"/>
              </a:spcBef>
              <a:spcAft>
                <a:spcPts val="0"/>
              </a:spcAft>
              <a:buClr>
                <a:srgbClr val="000099"/>
              </a:buClr>
              <a:buSzPts val="3200"/>
              <a:buFont typeface="Noto Sans Symbols"/>
              <a:buChar char="▪"/>
            </a:pPr>
            <a:r>
              <a:rPr b="0" i="0" lang="en-US" sz="3200" u="none" cap="none" strike="noStrike">
                <a:solidFill>
                  <a:srgbClr val="000000"/>
                </a:solidFill>
                <a:latin typeface="Calibri"/>
                <a:ea typeface="Calibri"/>
                <a:cs typeface="Calibri"/>
                <a:sym typeface="Calibri"/>
              </a:rPr>
              <a:t>if reliable transfer needed over UDP (e.g., HTTP/3): </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add needed reliability at application layer</a:t>
            </a:r>
            <a:endParaRPr/>
          </a:p>
          <a:p>
            <a:pPr indent="-231775" lvl="1" marL="688975"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add congestion control at application layer</a:t>
            </a:r>
            <a:endParaRPr/>
          </a:p>
        </p:txBody>
      </p:sp>
      <p:sp>
        <p:nvSpPr>
          <p:cNvPr id="2421" name="Google Shape;2421;p2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0"/>
                                        </p:tgtEl>
                                        <p:attrNameLst>
                                          <p:attrName>style.visibility</p:attrName>
                                        </p:attrNameLst>
                                      </p:cBhvr>
                                      <p:to>
                                        <p:strVal val="visible"/>
                                      </p:to>
                                    </p:set>
                                    <p:animEffect filter="fade" transition="in">
                                      <p:cBhvr>
                                        <p:cTn dur="500"/>
                                        <p:tgtEl>
                                          <p:spTgt spid="24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6" name="Shape 2426"/>
        <p:cNvGrpSpPr/>
        <p:nvPr/>
      </p:nvGrpSpPr>
      <p:grpSpPr>
        <a:xfrm>
          <a:off x="0" y="0"/>
          <a:ext cx="0" cy="0"/>
          <a:chOff x="0" y="0"/>
          <a:chExt cx="0" cy="0"/>
        </a:xfrm>
      </p:grpSpPr>
      <p:sp>
        <p:nvSpPr>
          <p:cNvPr id="2427" name="Google Shape;2427;p2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User Datagram Protocol </a:t>
            </a:r>
            <a:r>
              <a:rPr lang="en-US" sz="3600"/>
              <a:t>[RFC 768]</a:t>
            </a:r>
            <a:endParaRPr sz="4400"/>
          </a:p>
        </p:txBody>
      </p:sp>
      <p:pic>
        <p:nvPicPr>
          <p:cNvPr id="2428" name="Google Shape;2428;p27"/>
          <p:cNvPicPr preferRelativeResize="0"/>
          <p:nvPr/>
        </p:nvPicPr>
        <p:blipFill rotWithShape="1">
          <a:blip r:embed="rId3">
            <a:alphaModFix/>
          </a:blip>
          <a:srcRect b="0" l="0" r="0" t="0"/>
          <a:stretch/>
        </p:blipFill>
        <p:spPr>
          <a:xfrm>
            <a:off x="1885243" y="1232551"/>
            <a:ext cx="6509995" cy="5467403"/>
          </a:xfrm>
          <a:prstGeom prst="rect">
            <a:avLst/>
          </a:prstGeom>
          <a:noFill/>
          <a:ln>
            <a:noFill/>
          </a:ln>
        </p:spPr>
      </p:pic>
      <p:sp>
        <p:nvSpPr>
          <p:cNvPr id="2429" name="Google Shape;2429;p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4" name="Shape 2434"/>
        <p:cNvGrpSpPr/>
        <p:nvPr/>
      </p:nvGrpSpPr>
      <p:grpSpPr>
        <a:xfrm>
          <a:off x="0" y="0"/>
          <a:ext cx="0" cy="0"/>
          <a:chOff x="0" y="0"/>
          <a:chExt cx="0" cy="0"/>
        </a:xfrm>
      </p:grpSpPr>
      <p:sp>
        <p:nvSpPr>
          <p:cNvPr id="2435" name="Google Shape;2435;p28"/>
          <p:cNvSpPr/>
          <p:nvPr/>
        </p:nvSpPr>
        <p:spPr>
          <a:xfrm>
            <a:off x="10295012" y="2167472"/>
            <a:ext cx="890436" cy="291255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436" name="Google Shape;2436;p28"/>
          <p:cNvGrpSpPr/>
          <p:nvPr/>
        </p:nvGrpSpPr>
        <p:grpSpPr>
          <a:xfrm>
            <a:off x="10955688" y="4246759"/>
            <a:ext cx="549832" cy="1070215"/>
            <a:chOff x="4140" y="429"/>
            <a:chExt cx="1425" cy="2396"/>
          </a:xfrm>
        </p:grpSpPr>
        <p:sp>
          <p:nvSpPr>
            <p:cNvPr id="2437" name="Google Shape;2437;p2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38" name="Google Shape;2438;p28"/>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39" name="Google Shape;2439;p2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40" name="Google Shape;2440;p2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41" name="Google Shape;2441;p28"/>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442" name="Google Shape;2442;p28"/>
            <p:cNvGrpSpPr/>
            <p:nvPr/>
          </p:nvGrpSpPr>
          <p:grpSpPr>
            <a:xfrm>
              <a:off x="4751" y="667"/>
              <a:ext cx="580" cy="146"/>
              <a:chOff x="617" y="2567"/>
              <a:chExt cx="724" cy="140"/>
            </a:xfrm>
          </p:grpSpPr>
          <p:sp>
            <p:nvSpPr>
              <p:cNvPr id="2443" name="Google Shape;2443;p28"/>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44" name="Google Shape;2444;p28"/>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445" name="Google Shape;2445;p28"/>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446" name="Google Shape;2446;p28"/>
            <p:cNvGrpSpPr/>
            <p:nvPr/>
          </p:nvGrpSpPr>
          <p:grpSpPr>
            <a:xfrm>
              <a:off x="4745" y="996"/>
              <a:ext cx="580" cy="156"/>
              <a:chOff x="612" y="2570"/>
              <a:chExt cx="724" cy="162"/>
            </a:xfrm>
          </p:grpSpPr>
          <p:sp>
            <p:nvSpPr>
              <p:cNvPr id="2447" name="Google Shape;2447;p28"/>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48" name="Google Shape;2448;p28"/>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449" name="Google Shape;2449;p28"/>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50" name="Google Shape;2450;p28"/>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451" name="Google Shape;2451;p28"/>
            <p:cNvGrpSpPr/>
            <p:nvPr/>
          </p:nvGrpSpPr>
          <p:grpSpPr>
            <a:xfrm>
              <a:off x="4733" y="1627"/>
              <a:ext cx="586" cy="151"/>
              <a:chOff x="611" y="2568"/>
              <a:chExt cx="730" cy="139"/>
            </a:xfrm>
          </p:grpSpPr>
          <p:sp>
            <p:nvSpPr>
              <p:cNvPr id="2452" name="Google Shape;2452;p28"/>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53" name="Google Shape;2453;p28"/>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454" name="Google Shape;2454;p2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455" name="Google Shape;2455;p28"/>
            <p:cNvGrpSpPr/>
            <p:nvPr/>
          </p:nvGrpSpPr>
          <p:grpSpPr>
            <a:xfrm>
              <a:off x="4739" y="1325"/>
              <a:ext cx="580" cy="140"/>
              <a:chOff x="614" y="2566"/>
              <a:chExt cx="723" cy="140"/>
            </a:xfrm>
          </p:grpSpPr>
          <p:sp>
            <p:nvSpPr>
              <p:cNvPr id="2456" name="Google Shape;2456;p28"/>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57" name="Google Shape;2457;p28"/>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458" name="Google Shape;2458;p28"/>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59" name="Google Shape;2459;p2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0" name="Google Shape;2460;p2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1" name="Google Shape;2461;p28"/>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2" name="Google Shape;2462;p2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3" name="Google Shape;2463;p28"/>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4" name="Google Shape;2464;p28"/>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5" name="Google Shape;2465;p28"/>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6" name="Google Shape;2466;p28"/>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2467" name="Google Shape;2467;p28"/>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468" name="Google Shape;2468;p28"/>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469" name="Google Shape;2469;p28"/>
          <p:cNvSpPr txBox="1"/>
          <p:nvPr/>
        </p:nvSpPr>
        <p:spPr>
          <a:xfrm>
            <a:off x="8481037" y="1538123"/>
            <a:ext cx="20664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server</a:t>
            </a:r>
            <a:endParaRPr/>
          </a:p>
        </p:txBody>
      </p:sp>
      <p:sp>
        <p:nvSpPr>
          <p:cNvPr id="2470" name="Google Shape;2470;p28"/>
          <p:cNvSpPr txBox="1"/>
          <p:nvPr/>
        </p:nvSpPr>
        <p:spPr>
          <a:xfrm>
            <a:off x="1935319" y="1662731"/>
            <a:ext cx="195745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client</a:t>
            </a:r>
            <a:endParaRPr/>
          </a:p>
        </p:txBody>
      </p:sp>
      <p:grpSp>
        <p:nvGrpSpPr>
          <p:cNvPr id="2471" name="Google Shape;2471;p28"/>
          <p:cNvGrpSpPr/>
          <p:nvPr/>
        </p:nvGrpSpPr>
        <p:grpSpPr>
          <a:xfrm>
            <a:off x="8510352" y="2078288"/>
            <a:ext cx="1946338" cy="2912558"/>
            <a:chOff x="8091785" y="2078288"/>
            <a:chExt cx="2364905" cy="2912558"/>
          </a:xfrm>
        </p:grpSpPr>
        <p:sp>
          <p:nvSpPr>
            <p:cNvPr id="2472" name="Google Shape;2472;p28"/>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473" name="Google Shape;2473;p28"/>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474" name="Google Shape;2474;p28"/>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475" name="Google Shape;2475;p28"/>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476" name="Google Shape;2476;p28"/>
            <p:cNvCxnSpPr/>
            <p:nvPr/>
          </p:nvCxnSpPr>
          <p:spPr>
            <a:xfrm>
              <a:off x="8108201" y="3602458"/>
              <a:ext cx="2233387" cy="0"/>
            </a:xfrm>
            <a:prstGeom prst="straightConnector1">
              <a:avLst/>
            </a:prstGeom>
            <a:noFill/>
            <a:ln cap="flat" cmpd="sng" w="28575">
              <a:solidFill>
                <a:srgbClr val="000000"/>
              </a:solidFill>
              <a:prstDash val="solid"/>
              <a:round/>
              <a:headEnd len="med" w="med" type="none"/>
              <a:tailEnd len="med" w="med" type="none"/>
            </a:ln>
          </p:spPr>
        </p:cxnSp>
        <p:sp>
          <p:nvSpPr>
            <p:cNvPr id="2477" name="Google Shape;2477;p28"/>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478" name="Google Shape;2478;p28"/>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479" name="Google Shape;2479;p28"/>
            <p:cNvSpPr txBox="1"/>
            <p:nvPr/>
          </p:nvSpPr>
          <p:spPr>
            <a:xfrm>
              <a:off x="8218436" y="3646079"/>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480" name="Google Shape;2480;p28"/>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481" name="Google Shape;2481;p28"/>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482" name="Google Shape;2482;p28"/>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sp>
        <p:nvSpPr>
          <p:cNvPr id="2483" name="Google Shape;2483;p2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Transport Layer Actions</a:t>
            </a:r>
            <a:endParaRPr/>
          </a:p>
        </p:txBody>
      </p:sp>
      <p:cxnSp>
        <p:nvCxnSpPr>
          <p:cNvPr id="2484" name="Google Shape;2484;p28"/>
          <p:cNvCxnSpPr>
            <a:stCxn id="2477" idx="2"/>
          </p:cNvCxnSpPr>
          <p:nvPr/>
        </p:nvCxnSpPr>
        <p:spPr>
          <a:xfrm flipH="1">
            <a:off x="7971935" y="4973372"/>
            <a:ext cx="1473600" cy="474300"/>
          </a:xfrm>
          <a:prstGeom prst="straightConnector1">
            <a:avLst/>
          </a:prstGeom>
          <a:noFill/>
          <a:ln cap="flat" cmpd="sng" w="19050">
            <a:solidFill>
              <a:schemeClr val="dk1"/>
            </a:solidFill>
            <a:prstDash val="solid"/>
            <a:miter lim="800000"/>
            <a:headEnd len="sm" w="sm" type="none"/>
            <a:tailEnd len="sm" w="sm" type="none"/>
          </a:ln>
        </p:spPr>
      </p:cxnSp>
      <p:cxnSp>
        <p:nvCxnSpPr>
          <p:cNvPr id="2485" name="Google Shape;2485;p28"/>
          <p:cNvCxnSpPr/>
          <p:nvPr/>
        </p:nvCxnSpPr>
        <p:spPr>
          <a:xfrm>
            <a:off x="2578811" y="5062556"/>
            <a:ext cx="1582832" cy="302617"/>
          </a:xfrm>
          <a:prstGeom prst="straightConnector1">
            <a:avLst/>
          </a:prstGeom>
          <a:noFill/>
          <a:ln cap="flat" cmpd="sng" w="19050">
            <a:solidFill>
              <a:schemeClr val="dk1"/>
            </a:solidFill>
            <a:prstDash val="solid"/>
            <a:miter lim="800000"/>
            <a:headEnd len="sm" w="sm" type="none"/>
            <a:tailEnd len="sm" w="sm" type="none"/>
          </a:ln>
        </p:spPr>
      </p:cxnSp>
      <p:sp>
        <p:nvSpPr>
          <p:cNvPr id="2486" name="Google Shape;2486;p28"/>
          <p:cNvSpPr/>
          <p:nvPr/>
        </p:nvSpPr>
        <p:spPr>
          <a:xfrm>
            <a:off x="4062521" y="4965666"/>
            <a:ext cx="4036903" cy="1028731"/>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2487" name="Google Shape;2487;p28"/>
          <p:cNvSpPr/>
          <p:nvPr/>
        </p:nvSpPr>
        <p:spPr>
          <a:xfrm>
            <a:off x="854349" y="2256655"/>
            <a:ext cx="846644" cy="2922199"/>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488" name="Google Shape;2488;p28"/>
          <p:cNvGrpSpPr/>
          <p:nvPr/>
        </p:nvGrpSpPr>
        <p:grpSpPr>
          <a:xfrm>
            <a:off x="1687770" y="2167472"/>
            <a:ext cx="2131701" cy="2912558"/>
            <a:chOff x="8091785" y="2078288"/>
            <a:chExt cx="2364905" cy="2912558"/>
          </a:xfrm>
        </p:grpSpPr>
        <p:sp>
          <p:nvSpPr>
            <p:cNvPr id="2489" name="Google Shape;2489;p28"/>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490" name="Google Shape;2490;p28"/>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491" name="Google Shape;2491;p28"/>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492" name="Google Shape;2492;p28"/>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493" name="Google Shape;2493;p28"/>
            <p:cNvCxnSpPr/>
            <p:nvPr/>
          </p:nvCxnSpPr>
          <p:spPr>
            <a:xfrm>
              <a:off x="8121121" y="3602458"/>
              <a:ext cx="2233388" cy="0"/>
            </a:xfrm>
            <a:prstGeom prst="straightConnector1">
              <a:avLst/>
            </a:prstGeom>
            <a:noFill/>
            <a:ln cap="flat" cmpd="sng" w="28575">
              <a:solidFill>
                <a:srgbClr val="000000"/>
              </a:solidFill>
              <a:prstDash val="solid"/>
              <a:round/>
              <a:headEnd len="med" w="med" type="none"/>
              <a:tailEnd len="med" w="med" type="none"/>
            </a:ln>
          </p:spPr>
        </p:cxnSp>
        <p:sp>
          <p:nvSpPr>
            <p:cNvPr id="2494" name="Google Shape;2494;p28"/>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495" name="Google Shape;2495;p28"/>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496" name="Google Shape;2496;p28"/>
            <p:cNvSpPr txBox="1"/>
            <p:nvPr/>
          </p:nvSpPr>
          <p:spPr>
            <a:xfrm>
              <a:off x="8218436" y="3646079"/>
              <a:ext cx="2019294"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497" name="Google Shape;2497;p28"/>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498" name="Google Shape;2498;p28"/>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499" name="Google Shape;2499;p28"/>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2500" name="Google Shape;2500;p28"/>
          <p:cNvGrpSpPr/>
          <p:nvPr/>
        </p:nvGrpSpPr>
        <p:grpSpPr>
          <a:xfrm>
            <a:off x="500734" y="4943580"/>
            <a:ext cx="1026523" cy="597153"/>
            <a:chOff x="7493876" y="2774731"/>
            <a:chExt cx="1481958" cy="894622"/>
          </a:xfrm>
        </p:grpSpPr>
        <p:sp>
          <p:nvSpPr>
            <p:cNvPr id="2501" name="Google Shape;2501;p2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02" name="Google Shape;2502;p2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03" name="Google Shape;2503;p28"/>
            <p:cNvGrpSpPr/>
            <p:nvPr/>
          </p:nvGrpSpPr>
          <p:grpSpPr>
            <a:xfrm>
              <a:off x="7713663" y="2848339"/>
              <a:ext cx="1042107" cy="425543"/>
              <a:chOff x="7786941" y="2884917"/>
              <a:chExt cx="897649" cy="353919"/>
            </a:xfrm>
          </p:grpSpPr>
          <p:sp>
            <p:nvSpPr>
              <p:cNvPr id="2504" name="Google Shape;2504;p2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05" name="Google Shape;2505;p2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06" name="Google Shape;2506;p2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07" name="Google Shape;2507;p2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508" name="Google Shape;2508;p28"/>
          <p:cNvGrpSpPr/>
          <p:nvPr/>
        </p:nvGrpSpPr>
        <p:grpSpPr>
          <a:xfrm>
            <a:off x="2462207" y="2756023"/>
            <a:ext cx="412750" cy="158750"/>
            <a:chOff x="1287" y="2524"/>
            <a:chExt cx="260" cy="100"/>
          </a:xfrm>
        </p:grpSpPr>
        <p:sp>
          <p:nvSpPr>
            <p:cNvPr id="2509" name="Google Shape;2509;p28"/>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0" name="Google Shape;2510;p28"/>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1" name="Google Shape;2511;p28"/>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2" name="Google Shape;2512;p28"/>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513" name="Google Shape;2513;p28"/>
          <p:cNvGrpSpPr/>
          <p:nvPr/>
        </p:nvGrpSpPr>
        <p:grpSpPr>
          <a:xfrm>
            <a:off x="9681144" y="2673610"/>
            <a:ext cx="412750" cy="158750"/>
            <a:chOff x="1287" y="2524"/>
            <a:chExt cx="260" cy="100"/>
          </a:xfrm>
        </p:grpSpPr>
        <p:sp>
          <p:nvSpPr>
            <p:cNvPr id="2514" name="Google Shape;2514;p28"/>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5" name="Google Shape;2515;p28"/>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6" name="Google Shape;2516;p28"/>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17" name="Google Shape;2517;p28"/>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518" name="Google Shape;2518;p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3" name="Shape 2523"/>
        <p:cNvGrpSpPr/>
        <p:nvPr/>
      </p:nvGrpSpPr>
      <p:grpSpPr>
        <a:xfrm>
          <a:off x="0" y="0"/>
          <a:ext cx="0" cy="0"/>
          <a:chOff x="0" y="0"/>
          <a:chExt cx="0" cy="0"/>
        </a:xfrm>
      </p:grpSpPr>
      <p:grpSp>
        <p:nvGrpSpPr>
          <p:cNvPr id="2524" name="Google Shape;2524;p29"/>
          <p:cNvGrpSpPr/>
          <p:nvPr/>
        </p:nvGrpSpPr>
        <p:grpSpPr>
          <a:xfrm>
            <a:off x="2578811" y="4965666"/>
            <a:ext cx="6866725" cy="1028731"/>
            <a:chOff x="2578811" y="4965666"/>
            <a:chExt cx="6866725" cy="1028731"/>
          </a:xfrm>
        </p:grpSpPr>
        <p:cxnSp>
          <p:nvCxnSpPr>
            <p:cNvPr id="2525" name="Google Shape;2525;p29"/>
            <p:cNvCxnSpPr/>
            <p:nvPr/>
          </p:nvCxnSpPr>
          <p:spPr>
            <a:xfrm>
              <a:off x="2578811" y="5062556"/>
              <a:ext cx="1582832" cy="302617"/>
            </a:xfrm>
            <a:prstGeom prst="straightConnector1">
              <a:avLst/>
            </a:prstGeom>
            <a:noFill/>
            <a:ln cap="flat" cmpd="sng" w="19050">
              <a:solidFill>
                <a:schemeClr val="dk1"/>
              </a:solidFill>
              <a:prstDash val="solid"/>
              <a:miter lim="800000"/>
              <a:headEnd len="sm" w="sm" type="none"/>
              <a:tailEnd len="sm" w="sm" type="none"/>
            </a:ln>
          </p:spPr>
        </p:cxnSp>
        <p:grpSp>
          <p:nvGrpSpPr>
            <p:cNvPr id="2526" name="Google Shape;2526;p29"/>
            <p:cNvGrpSpPr/>
            <p:nvPr/>
          </p:nvGrpSpPr>
          <p:grpSpPr>
            <a:xfrm>
              <a:off x="4062521" y="4965666"/>
              <a:ext cx="5383015" cy="1028731"/>
              <a:chOff x="4062521" y="4965666"/>
              <a:chExt cx="5383015" cy="1028731"/>
            </a:xfrm>
          </p:grpSpPr>
          <p:cxnSp>
            <p:nvCxnSpPr>
              <p:cNvPr id="2527" name="Google Shape;2527;p29"/>
              <p:cNvCxnSpPr/>
              <p:nvPr/>
            </p:nvCxnSpPr>
            <p:spPr>
              <a:xfrm flipH="1">
                <a:off x="7972023" y="4973372"/>
                <a:ext cx="1473513" cy="474391"/>
              </a:xfrm>
              <a:prstGeom prst="straightConnector1">
                <a:avLst/>
              </a:prstGeom>
              <a:noFill/>
              <a:ln cap="flat" cmpd="sng" w="19050">
                <a:solidFill>
                  <a:schemeClr val="dk1"/>
                </a:solidFill>
                <a:prstDash val="solid"/>
                <a:miter lim="800000"/>
                <a:headEnd len="sm" w="sm" type="none"/>
                <a:tailEnd len="sm" w="sm" type="none"/>
              </a:ln>
            </p:spPr>
          </p:cxnSp>
          <p:sp>
            <p:nvSpPr>
              <p:cNvPr id="2528" name="Google Shape;2528;p29"/>
              <p:cNvSpPr/>
              <p:nvPr/>
            </p:nvSpPr>
            <p:spPr>
              <a:xfrm>
                <a:off x="4062521" y="4965666"/>
                <a:ext cx="4036903" cy="1028731"/>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             </a:t>
                </a:r>
                <a:endParaRPr/>
              </a:p>
            </p:txBody>
          </p:sp>
        </p:grpSp>
      </p:grpSp>
      <p:sp>
        <p:nvSpPr>
          <p:cNvPr id="2529" name="Google Shape;2529;p29"/>
          <p:cNvSpPr/>
          <p:nvPr/>
        </p:nvSpPr>
        <p:spPr>
          <a:xfrm>
            <a:off x="10295012" y="2167472"/>
            <a:ext cx="890436" cy="291255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30" name="Google Shape;2530;p29"/>
          <p:cNvSpPr/>
          <p:nvPr/>
        </p:nvSpPr>
        <p:spPr>
          <a:xfrm>
            <a:off x="854349" y="2256655"/>
            <a:ext cx="846644" cy="2922199"/>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531" name="Google Shape;2531;p29"/>
          <p:cNvGrpSpPr/>
          <p:nvPr/>
        </p:nvGrpSpPr>
        <p:grpSpPr>
          <a:xfrm>
            <a:off x="10955688" y="4246759"/>
            <a:ext cx="549832" cy="1070215"/>
            <a:chOff x="4140" y="429"/>
            <a:chExt cx="1425" cy="2396"/>
          </a:xfrm>
        </p:grpSpPr>
        <p:sp>
          <p:nvSpPr>
            <p:cNvPr id="2532" name="Google Shape;2532;p2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33" name="Google Shape;2533;p29"/>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34" name="Google Shape;2534;p2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35" name="Google Shape;2535;p2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36" name="Google Shape;2536;p29"/>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537" name="Google Shape;2537;p29"/>
            <p:cNvGrpSpPr/>
            <p:nvPr/>
          </p:nvGrpSpPr>
          <p:grpSpPr>
            <a:xfrm>
              <a:off x="4751" y="667"/>
              <a:ext cx="580" cy="146"/>
              <a:chOff x="617" y="2567"/>
              <a:chExt cx="724" cy="140"/>
            </a:xfrm>
          </p:grpSpPr>
          <p:sp>
            <p:nvSpPr>
              <p:cNvPr id="2538" name="Google Shape;2538;p29"/>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39" name="Google Shape;2539;p29"/>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540" name="Google Shape;2540;p29"/>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541" name="Google Shape;2541;p29"/>
            <p:cNvGrpSpPr/>
            <p:nvPr/>
          </p:nvGrpSpPr>
          <p:grpSpPr>
            <a:xfrm>
              <a:off x="4745" y="996"/>
              <a:ext cx="580" cy="156"/>
              <a:chOff x="612" y="2570"/>
              <a:chExt cx="724" cy="162"/>
            </a:xfrm>
          </p:grpSpPr>
          <p:sp>
            <p:nvSpPr>
              <p:cNvPr id="2542" name="Google Shape;2542;p29"/>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43" name="Google Shape;2543;p29"/>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544" name="Google Shape;2544;p29"/>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45" name="Google Shape;2545;p29"/>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546" name="Google Shape;2546;p29"/>
            <p:cNvGrpSpPr/>
            <p:nvPr/>
          </p:nvGrpSpPr>
          <p:grpSpPr>
            <a:xfrm>
              <a:off x="4733" y="1627"/>
              <a:ext cx="586" cy="151"/>
              <a:chOff x="611" y="2568"/>
              <a:chExt cx="730" cy="139"/>
            </a:xfrm>
          </p:grpSpPr>
          <p:sp>
            <p:nvSpPr>
              <p:cNvPr id="2547" name="Google Shape;2547;p29"/>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48" name="Google Shape;2548;p29"/>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549" name="Google Shape;2549;p2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550" name="Google Shape;2550;p29"/>
            <p:cNvGrpSpPr/>
            <p:nvPr/>
          </p:nvGrpSpPr>
          <p:grpSpPr>
            <a:xfrm>
              <a:off x="4739" y="1325"/>
              <a:ext cx="580" cy="140"/>
              <a:chOff x="614" y="2566"/>
              <a:chExt cx="723" cy="140"/>
            </a:xfrm>
          </p:grpSpPr>
          <p:sp>
            <p:nvSpPr>
              <p:cNvPr id="2551" name="Google Shape;2551;p29"/>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52" name="Google Shape;2552;p29"/>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553" name="Google Shape;2553;p29"/>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54" name="Google Shape;2554;p2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55" name="Google Shape;2555;p2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56" name="Google Shape;2556;p29"/>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57" name="Google Shape;2557;p2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58" name="Google Shape;2558;p29"/>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59" name="Google Shape;2559;p29"/>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60" name="Google Shape;2560;p29"/>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61" name="Google Shape;2561;p29"/>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2562" name="Google Shape;2562;p29"/>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563" name="Google Shape;2563;p29"/>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564" name="Google Shape;2564;p29"/>
          <p:cNvSpPr txBox="1"/>
          <p:nvPr/>
        </p:nvSpPr>
        <p:spPr>
          <a:xfrm>
            <a:off x="8481037" y="1538123"/>
            <a:ext cx="20664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server</a:t>
            </a:r>
            <a:endParaRPr/>
          </a:p>
        </p:txBody>
      </p:sp>
      <p:sp>
        <p:nvSpPr>
          <p:cNvPr id="2565" name="Google Shape;2565;p29"/>
          <p:cNvSpPr txBox="1"/>
          <p:nvPr/>
        </p:nvSpPr>
        <p:spPr>
          <a:xfrm>
            <a:off x="1935319" y="1662731"/>
            <a:ext cx="195745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client</a:t>
            </a:r>
            <a:endParaRPr/>
          </a:p>
        </p:txBody>
      </p:sp>
      <p:grpSp>
        <p:nvGrpSpPr>
          <p:cNvPr id="2566" name="Google Shape;2566;p29"/>
          <p:cNvGrpSpPr/>
          <p:nvPr/>
        </p:nvGrpSpPr>
        <p:grpSpPr>
          <a:xfrm>
            <a:off x="8510352" y="2078288"/>
            <a:ext cx="1946338" cy="2912558"/>
            <a:chOff x="8091785" y="2078288"/>
            <a:chExt cx="2364905" cy="2912558"/>
          </a:xfrm>
        </p:grpSpPr>
        <p:sp>
          <p:nvSpPr>
            <p:cNvPr id="2567" name="Google Shape;2567;p29"/>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568" name="Google Shape;2568;p29"/>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569" name="Google Shape;2569;p29"/>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570" name="Google Shape;2570;p29"/>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571" name="Google Shape;2571;p29"/>
            <p:cNvCxnSpPr/>
            <p:nvPr/>
          </p:nvCxnSpPr>
          <p:spPr>
            <a:xfrm>
              <a:off x="8108201" y="3602458"/>
              <a:ext cx="2233387" cy="0"/>
            </a:xfrm>
            <a:prstGeom prst="straightConnector1">
              <a:avLst/>
            </a:prstGeom>
            <a:noFill/>
            <a:ln cap="flat" cmpd="sng" w="28575">
              <a:solidFill>
                <a:srgbClr val="000000"/>
              </a:solidFill>
              <a:prstDash val="solid"/>
              <a:round/>
              <a:headEnd len="med" w="med" type="none"/>
              <a:tailEnd len="med" w="med" type="none"/>
            </a:ln>
          </p:spPr>
        </p:cxnSp>
        <p:sp>
          <p:nvSpPr>
            <p:cNvPr id="2572" name="Google Shape;2572;p29"/>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573" name="Google Shape;2573;p29"/>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574" name="Google Shape;2574;p29"/>
            <p:cNvSpPr txBox="1"/>
            <p:nvPr/>
          </p:nvSpPr>
          <p:spPr>
            <a:xfrm>
              <a:off x="8218436" y="3646079"/>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575" name="Google Shape;2575;p29"/>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576" name="Google Shape;2576;p29"/>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577" name="Google Shape;2577;p29"/>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2578" name="Google Shape;2578;p29"/>
          <p:cNvGrpSpPr/>
          <p:nvPr/>
        </p:nvGrpSpPr>
        <p:grpSpPr>
          <a:xfrm>
            <a:off x="1687770" y="2167472"/>
            <a:ext cx="2131701" cy="2912558"/>
            <a:chOff x="8091785" y="2078288"/>
            <a:chExt cx="2364905" cy="2912558"/>
          </a:xfrm>
        </p:grpSpPr>
        <p:sp>
          <p:nvSpPr>
            <p:cNvPr id="2579" name="Google Shape;2579;p29"/>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580" name="Google Shape;2580;p29"/>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581" name="Google Shape;2581;p29"/>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582" name="Google Shape;2582;p29"/>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583" name="Google Shape;2583;p29"/>
            <p:cNvCxnSpPr/>
            <p:nvPr/>
          </p:nvCxnSpPr>
          <p:spPr>
            <a:xfrm>
              <a:off x="8121121" y="3602458"/>
              <a:ext cx="2233388" cy="0"/>
            </a:xfrm>
            <a:prstGeom prst="straightConnector1">
              <a:avLst/>
            </a:prstGeom>
            <a:noFill/>
            <a:ln cap="flat" cmpd="sng" w="28575">
              <a:solidFill>
                <a:srgbClr val="000000"/>
              </a:solidFill>
              <a:prstDash val="solid"/>
              <a:round/>
              <a:headEnd len="med" w="med" type="none"/>
              <a:tailEnd len="med" w="med" type="none"/>
            </a:ln>
          </p:spPr>
        </p:cxnSp>
        <p:sp>
          <p:nvSpPr>
            <p:cNvPr id="2584" name="Google Shape;2584;p29"/>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585" name="Google Shape;2585;p29"/>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586" name="Google Shape;2586;p29"/>
            <p:cNvSpPr txBox="1"/>
            <p:nvPr/>
          </p:nvSpPr>
          <p:spPr>
            <a:xfrm>
              <a:off x="8218436" y="3646079"/>
              <a:ext cx="2019294"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587" name="Google Shape;2587;p29"/>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588" name="Google Shape;2588;p29"/>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589" name="Google Shape;2589;p29"/>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2590" name="Google Shape;2590;p29"/>
          <p:cNvGrpSpPr/>
          <p:nvPr/>
        </p:nvGrpSpPr>
        <p:grpSpPr>
          <a:xfrm>
            <a:off x="500734" y="4943580"/>
            <a:ext cx="1026523" cy="597153"/>
            <a:chOff x="7493876" y="2774731"/>
            <a:chExt cx="1481958" cy="894622"/>
          </a:xfrm>
        </p:grpSpPr>
        <p:sp>
          <p:nvSpPr>
            <p:cNvPr id="2591" name="Google Shape;2591;p2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92" name="Google Shape;2592;p2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93" name="Google Shape;2593;p29"/>
            <p:cNvGrpSpPr/>
            <p:nvPr/>
          </p:nvGrpSpPr>
          <p:grpSpPr>
            <a:xfrm>
              <a:off x="7713663" y="2848339"/>
              <a:ext cx="1042107" cy="425543"/>
              <a:chOff x="7786941" y="2884917"/>
              <a:chExt cx="897649" cy="353919"/>
            </a:xfrm>
          </p:grpSpPr>
          <p:sp>
            <p:nvSpPr>
              <p:cNvPr id="2594" name="Google Shape;2594;p2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95" name="Google Shape;2595;p2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96" name="Google Shape;2596;p2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97" name="Google Shape;2597;p2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2598" name="Google Shape;2598;p2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Transport Layer Actions</a:t>
            </a:r>
            <a:endParaRPr/>
          </a:p>
        </p:txBody>
      </p:sp>
      <p:grpSp>
        <p:nvGrpSpPr>
          <p:cNvPr id="2599" name="Google Shape;2599;p29"/>
          <p:cNvGrpSpPr/>
          <p:nvPr/>
        </p:nvGrpSpPr>
        <p:grpSpPr>
          <a:xfrm>
            <a:off x="2462207" y="2756023"/>
            <a:ext cx="412750" cy="158750"/>
            <a:chOff x="1287" y="2524"/>
            <a:chExt cx="260" cy="100"/>
          </a:xfrm>
        </p:grpSpPr>
        <p:sp>
          <p:nvSpPr>
            <p:cNvPr id="2600" name="Google Shape;2600;p29"/>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01" name="Google Shape;2601;p29"/>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02" name="Google Shape;2602;p29"/>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03" name="Google Shape;2603;p29"/>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604" name="Google Shape;2604;p29"/>
          <p:cNvGrpSpPr/>
          <p:nvPr/>
        </p:nvGrpSpPr>
        <p:grpSpPr>
          <a:xfrm>
            <a:off x="9681144" y="2673610"/>
            <a:ext cx="412750" cy="158750"/>
            <a:chOff x="1287" y="2524"/>
            <a:chExt cx="260" cy="100"/>
          </a:xfrm>
        </p:grpSpPr>
        <p:sp>
          <p:nvSpPr>
            <p:cNvPr id="2605" name="Google Shape;2605;p29"/>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06" name="Google Shape;2606;p29"/>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07" name="Google Shape;2607;p29"/>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608" name="Google Shape;2608;p29"/>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609" name="Google Shape;2609;p29"/>
          <p:cNvSpPr txBox="1"/>
          <p:nvPr/>
        </p:nvSpPr>
        <p:spPr>
          <a:xfrm>
            <a:off x="4212477" y="1830701"/>
            <a:ext cx="389834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UDP sender actions:</a:t>
            </a:r>
            <a:endParaRPr/>
          </a:p>
          <a:p>
            <a:pPr indent="-92075" lvl="0" marL="285750" marR="0" rtl="0" algn="l">
              <a:lnSpc>
                <a:spcPct val="100000"/>
              </a:lnSpc>
              <a:spcBef>
                <a:spcPts val="0"/>
              </a:spcBef>
              <a:spcAft>
                <a:spcPts val="0"/>
              </a:spcAft>
              <a:buClr>
                <a:srgbClr val="0200A3"/>
              </a:buClr>
              <a:buSzPts val="2000"/>
              <a:buFont typeface="Noto Sans Symbols"/>
              <a:buNone/>
            </a:pPr>
            <a:r>
              <a:t/>
            </a:r>
            <a:endParaRPr b="0" i="0" sz="2000" u="none" cap="none" strike="noStrike">
              <a:solidFill>
                <a:srgbClr val="000000"/>
              </a:solidFill>
              <a:latin typeface="Calibri"/>
              <a:ea typeface="Calibri"/>
              <a:cs typeface="Calibri"/>
              <a:sym typeface="Calibri"/>
            </a:endParaRPr>
          </a:p>
        </p:txBody>
      </p:sp>
      <p:sp>
        <p:nvSpPr>
          <p:cNvPr id="2610" name="Google Shape;2610;p29"/>
          <p:cNvSpPr/>
          <p:nvPr/>
        </p:nvSpPr>
        <p:spPr>
          <a:xfrm>
            <a:off x="8502120" y="2078245"/>
            <a:ext cx="1986815" cy="2938360"/>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611" name="Google Shape;2611;p29"/>
          <p:cNvGrpSpPr/>
          <p:nvPr/>
        </p:nvGrpSpPr>
        <p:grpSpPr>
          <a:xfrm>
            <a:off x="9130164" y="2303106"/>
            <a:ext cx="1259074" cy="369332"/>
            <a:chOff x="8934916" y="2775692"/>
            <a:chExt cx="1259074" cy="369332"/>
          </a:xfrm>
        </p:grpSpPr>
        <p:sp>
          <p:nvSpPr>
            <p:cNvPr id="2612" name="Google Shape;2612;p29"/>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13" name="Google Shape;2613;p29"/>
            <p:cNvSpPr txBox="1"/>
            <p:nvPr/>
          </p:nvSpPr>
          <p:spPr>
            <a:xfrm>
              <a:off x="8934916" y="2775692"/>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SNMP msg</a:t>
              </a:r>
              <a:endParaRPr/>
            </a:p>
          </p:txBody>
        </p:sp>
      </p:grpSp>
      <p:sp>
        <p:nvSpPr>
          <p:cNvPr id="2614" name="Google Shape;2614;p29"/>
          <p:cNvSpPr txBox="1"/>
          <p:nvPr/>
        </p:nvSpPr>
        <p:spPr>
          <a:xfrm>
            <a:off x="4391544" y="2325099"/>
            <a:ext cx="3825456" cy="1036887"/>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is passed an application-layer message</a:t>
            </a:r>
            <a:endParaRPr/>
          </a:p>
        </p:txBody>
      </p:sp>
      <p:sp>
        <p:nvSpPr>
          <p:cNvPr id="2615" name="Google Shape;2615;p29"/>
          <p:cNvSpPr txBox="1"/>
          <p:nvPr/>
        </p:nvSpPr>
        <p:spPr>
          <a:xfrm>
            <a:off x="4388186" y="2990916"/>
            <a:ext cx="3825456" cy="1036887"/>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determines UDP segment header fields values</a:t>
            </a:r>
            <a:endParaRPr/>
          </a:p>
        </p:txBody>
      </p:sp>
      <p:sp>
        <p:nvSpPr>
          <p:cNvPr id="2616" name="Google Shape;2616;p29"/>
          <p:cNvSpPr txBox="1"/>
          <p:nvPr/>
        </p:nvSpPr>
        <p:spPr>
          <a:xfrm>
            <a:off x="4376692" y="3592863"/>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creates UDP segment</a:t>
            </a:r>
            <a:endParaRPr/>
          </a:p>
        </p:txBody>
      </p:sp>
      <p:sp>
        <p:nvSpPr>
          <p:cNvPr id="2617" name="Google Shape;2617;p29"/>
          <p:cNvSpPr txBox="1"/>
          <p:nvPr/>
        </p:nvSpPr>
        <p:spPr>
          <a:xfrm>
            <a:off x="4381369" y="4025163"/>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passes segment to IP</a:t>
            </a:r>
            <a:endParaRPr/>
          </a:p>
        </p:txBody>
      </p:sp>
      <p:sp>
        <p:nvSpPr>
          <p:cNvPr id="2618" name="Google Shape;2618;p29"/>
          <p:cNvSpPr/>
          <p:nvPr/>
        </p:nvSpPr>
        <p:spPr>
          <a:xfrm>
            <a:off x="169333" y="1343378"/>
            <a:ext cx="3723445" cy="4402666"/>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619" name="Google Shape;2619;p29"/>
          <p:cNvGrpSpPr/>
          <p:nvPr/>
        </p:nvGrpSpPr>
        <p:grpSpPr>
          <a:xfrm>
            <a:off x="8473556" y="2992506"/>
            <a:ext cx="1259074" cy="338554"/>
            <a:chOff x="8964789" y="2639236"/>
            <a:chExt cx="1259074" cy="338554"/>
          </a:xfrm>
        </p:grpSpPr>
        <p:sp>
          <p:nvSpPr>
            <p:cNvPr id="2620" name="Google Shape;2620;p29"/>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21" name="Google Shape;2621;p29"/>
            <p:cNvSpPr txBox="1"/>
            <p:nvPr/>
          </p:nvSpPr>
          <p:spPr>
            <a:xfrm>
              <a:off x="8964789" y="2639236"/>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UDP</a:t>
              </a:r>
              <a:r>
                <a:rPr b="0" baseline="-25000" i="0" lang="en-US" sz="1600" u="none" cap="none" strike="noStrike">
                  <a:solidFill>
                    <a:srgbClr val="000000"/>
                  </a:solidFill>
                  <a:latin typeface="Calibri"/>
                  <a:ea typeface="Calibri"/>
                  <a:cs typeface="Calibri"/>
                  <a:sym typeface="Calibri"/>
                </a:rPr>
                <a:t>h</a:t>
              </a:r>
              <a:endParaRPr b="0" baseline="-25000" i="0" sz="1600" u="none" cap="none" strike="noStrike">
                <a:solidFill>
                  <a:srgbClr val="000000"/>
                </a:solidFill>
                <a:latin typeface="Calibri"/>
                <a:ea typeface="Calibri"/>
                <a:cs typeface="Calibri"/>
                <a:sym typeface="Calibri"/>
              </a:endParaRPr>
            </a:p>
          </p:txBody>
        </p:sp>
      </p:grpSp>
      <p:grpSp>
        <p:nvGrpSpPr>
          <p:cNvPr id="2622" name="Google Shape;2622;p29"/>
          <p:cNvGrpSpPr/>
          <p:nvPr/>
        </p:nvGrpSpPr>
        <p:grpSpPr>
          <a:xfrm>
            <a:off x="8545052" y="3003638"/>
            <a:ext cx="1818022" cy="369332"/>
            <a:chOff x="7863122" y="5632673"/>
            <a:chExt cx="1818022" cy="369332"/>
          </a:xfrm>
        </p:grpSpPr>
        <p:grpSp>
          <p:nvGrpSpPr>
            <p:cNvPr id="2623" name="Google Shape;2623;p29"/>
            <p:cNvGrpSpPr/>
            <p:nvPr/>
          </p:nvGrpSpPr>
          <p:grpSpPr>
            <a:xfrm>
              <a:off x="7863122" y="5638955"/>
              <a:ext cx="1259074" cy="338554"/>
              <a:chOff x="8964789" y="2648929"/>
              <a:chExt cx="1259074" cy="338554"/>
            </a:xfrm>
          </p:grpSpPr>
          <p:sp>
            <p:nvSpPr>
              <p:cNvPr id="2624" name="Google Shape;2624;p29"/>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25" name="Google Shape;2625;p29"/>
              <p:cNvSpPr txBox="1"/>
              <p:nvPr/>
            </p:nvSpPr>
            <p:spPr>
              <a:xfrm>
                <a:off x="8964789" y="2648929"/>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UDP</a:t>
                </a:r>
                <a:r>
                  <a:rPr b="0" baseline="-25000" i="0" lang="en-US" sz="1600" u="none" cap="none" strike="noStrike">
                    <a:solidFill>
                      <a:srgbClr val="000000"/>
                    </a:solidFill>
                    <a:latin typeface="Calibri"/>
                    <a:ea typeface="Calibri"/>
                    <a:cs typeface="Calibri"/>
                    <a:sym typeface="Calibri"/>
                  </a:rPr>
                  <a:t>h</a:t>
                </a:r>
                <a:endParaRPr b="0" baseline="-25000" i="0" sz="1600" u="none" cap="none" strike="noStrike">
                  <a:solidFill>
                    <a:srgbClr val="000000"/>
                  </a:solidFill>
                  <a:latin typeface="Calibri"/>
                  <a:ea typeface="Calibri"/>
                  <a:cs typeface="Calibri"/>
                  <a:sym typeface="Calibri"/>
                </a:endParaRPr>
              </a:p>
            </p:txBody>
          </p:sp>
        </p:grpSp>
        <p:grpSp>
          <p:nvGrpSpPr>
            <p:cNvPr id="2626" name="Google Shape;2626;p29"/>
            <p:cNvGrpSpPr/>
            <p:nvPr/>
          </p:nvGrpSpPr>
          <p:grpSpPr>
            <a:xfrm>
              <a:off x="8422070" y="5632673"/>
              <a:ext cx="1259074" cy="369332"/>
              <a:chOff x="8934916" y="2778923"/>
              <a:chExt cx="1259074" cy="369332"/>
            </a:xfrm>
          </p:grpSpPr>
          <p:sp>
            <p:nvSpPr>
              <p:cNvPr id="2627" name="Google Shape;2627;p29"/>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28" name="Google Shape;2628;p29"/>
              <p:cNvSpPr txBox="1"/>
              <p:nvPr/>
            </p:nvSpPr>
            <p:spPr>
              <a:xfrm>
                <a:off x="8934916" y="2778923"/>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SNMP msg</a:t>
                </a:r>
                <a:endParaRPr/>
              </a:p>
            </p:txBody>
          </p:sp>
        </p:grpSp>
      </p:grpSp>
      <p:sp>
        <p:nvSpPr>
          <p:cNvPr id="2629" name="Google Shape;2629;p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1"/>
                                        </p:tgtEl>
                                        <p:attrNameLst>
                                          <p:attrName>style.visibility</p:attrName>
                                        </p:attrNameLst>
                                      </p:cBhvr>
                                      <p:to>
                                        <p:strVal val="visible"/>
                                      </p:to>
                                    </p:set>
                                    <p:animEffect filter="fade" transition="in">
                                      <p:cBhvr>
                                        <p:cTn dur="500"/>
                                        <p:tgtEl>
                                          <p:spTgt spid="2611"/>
                                        </p:tgtEl>
                                      </p:cBhvr>
                                    </p:animEffect>
                                  </p:childTnLst>
                                </p:cTn>
                              </p:par>
                              <p:par>
                                <p:cTn fill="hold" nodeType="withEffect" presetClass="entr" presetID="10" presetSubtype="0">
                                  <p:stCondLst>
                                    <p:cond delay="0"/>
                                  </p:stCondLst>
                                  <p:childTnLst>
                                    <p:set>
                                      <p:cBhvr>
                                        <p:cTn dur="1" fill="hold">
                                          <p:stCondLst>
                                            <p:cond delay="0"/>
                                          </p:stCondLst>
                                        </p:cTn>
                                        <p:tgtEl>
                                          <p:spTgt spid="2614"/>
                                        </p:tgtEl>
                                        <p:attrNameLst>
                                          <p:attrName>style.visibility</p:attrName>
                                        </p:attrNameLst>
                                      </p:cBhvr>
                                      <p:to>
                                        <p:strVal val="visible"/>
                                      </p:to>
                                    </p:set>
                                    <p:animEffect filter="fade" transition="in">
                                      <p:cBhvr>
                                        <p:cTn dur="500"/>
                                        <p:tgtEl>
                                          <p:spTgt spid="26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9"/>
                                        </p:tgtEl>
                                        <p:attrNameLst>
                                          <p:attrName>style.visibility</p:attrName>
                                        </p:attrNameLst>
                                      </p:cBhvr>
                                      <p:to>
                                        <p:strVal val="visible"/>
                                      </p:to>
                                    </p:set>
                                    <p:animEffect filter="fade" transition="in">
                                      <p:cBhvr>
                                        <p:cTn dur="500"/>
                                        <p:tgtEl>
                                          <p:spTgt spid="2619"/>
                                        </p:tgtEl>
                                      </p:cBhvr>
                                    </p:animEffect>
                                  </p:childTnLst>
                                </p:cTn>
                              </p:par>
                              <p:par>
                                <p:cTn fill="hold" nodeType="withEffect" presetClass="entr" presetID="10" presetSubtype="0">
                                  <p:stCondLst>
                                    <p:cond delay="0"/>
                                  </p:stCondLst>
                                  <p:childTnLst>
                                    <p:set>
                                      <p:cBhvr>
                                        <p:cTn dur="1" fill="hold">
                                          <p:stCondLst>
                                            <p:cond delay="0"/>
                                          </p:stCondLst>
                                        </p:cTn>
                                        <p:tgtEl>
                                          <p:spTgt spid="2615"/>
                                        </p:tgtEl>
                                        <p:attrNameLst>
                                          <p:attrName>style.visibility</p:attrName>
                                        </p:attrNameLst>
                                      </p:cBhvr>
                                      <p:to>
                                        <p:strVal val="visible"/>
                                      </p:to>
                                    </p:set>
                                    <p:animEffect filter="fade" transition="in">
                                      <p:cBhvr>
                                        <p:cTn dur="500"/>
                                        <p:tgtEl>
                                          <p:spTgt spid="26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619"/>
                                        </p:tgtEl>
                                      </p:cBhvr>
                                    </p:animEffect>
                                    <p:set>
                                      <p:cBhvr>
                                        <p:cTn dur="1" fill="hold">
                                          <p:stCondLst>
                                            <p:cond delay="500"/>
                                          </p:stCondLst>
                                        </p:cTn>
                                        <p:tgtEl>
                                          <p:spTgt spid="261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611"/>
                                        </p:tgtEl>
                                      </p:cBhvr>
                                    </p:animEffect>
                                    <p:set>
                                      <p:cBhvr>
                                        <p:cTn dur="1" fill="hold">
                                          <p:stCondLst>
                                            <p:cond delay="500"/>
                                          </p:stCondLst>
                                        </p:cTn>
                                        <p:tgtEl>
                                          <p:spTgt spid="2611"/>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622"/>
                                        </p:tgtEl>
                                        <p:attrNameLst>
                                          <p:attrName>style.visibility</p:attrName>
                                        </p:attrNameLst>
                                      </p:cBhvr>
                                      <p:to>
                                        <p:strVal val="visible"/>
                                      </p:to>
                                    </p:set>
                                    <p:animEffect filter="fade" transition="in">
                                      <p:cBhvr>
                                        <p:cTn dur="500"/>
                                        <p:tgtEl>
                                          <p:spTgt spid="2622"/>
                                        </p:tgtEl>
                                      </p:cBhvr>
                                    </p:animEffect>
                                  </p:childTnLst>
                                </p:cTn>
                              </p:par>
                              <p:par>
                                <p:cTn fill="hold" nodeType="withEffect" presetClass="entr" presetID="10" presetSubtype="0">
                                  <p:stCondLst>
                                    <p:cond delay="0"/>
                                  </p:stCondLst>
                                  <p:childTnLst>
                                    <p:set>
                                      <p:cBhvr>
                                        <p:cTn dur="1" fill="hold">
                                          <p:stCondLst>
                                            <p:cond delay="0"/>
                                          </p:stCondLst>
                                        </p:cTn>
                                        <p:tgtEl>
                                          <p:spTgt spid="2616"/>
                                        </p:tgtEl>
                                        <p:attrNameLst>
                                          <p:attrName>style.visibility</p:attrName>
                                        </p:attrNameLst>
                                      </p:cBhvr>
                                      <p:to>
                                        <p:strVal val="visible"/>
                                      </p:to>
                                    </p:set>
                                    <p:animEffect filter="fade" transition="in">
                                      <p:cBhvr>
                                        <p:cTn dur="500"/>
                                        <p:tgtEl>
                                          <p:spTgt spid="26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7"/>
                                        </p:tgtEl>
                                        <p:attrNameLst>
                                          <p:attrName>style.visibility</p:attrName>
                                        </p:attrNameLst>
                                      </p:cBhvr>
                                      <p:to>
                                        <p:strVal val="visible"/>
                                      </p:to>
                                    </p:set>
                                    <p:animEffect filter="fade" transition="in">
                                      <p:cBhvr>
                                        <p:cTn dur="500"/>
                                        <p:tgtEl>
                                          <p:spTgt spid="26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4" name="Shape 2634"/>
        <p:cNvGrpSpPr/>
        <p:nvPr/>
      </p:nvGrpSpPr>
      <p:grpSpPr>
        <a:xfrm>
          <a:off x="0" y="0"/>
          <a:ext cx="0" cy="0"/>
          <a:chOff x="0" y="0"/>
          <a:chExt cx="0" cy="0"/>
        </a:xfrm>
      </p:grpSpPr>
      <p:sp>
        <p:nvSpPr>
          <p:cNvPr id="2635" name="Google Shape;2635;p30"/>
          <p:cNvSpPr/>
          <p:nvPr/>
        </p:nvSpPr>
        <p:spPr>
          <a:xfrm>
            <a:off x="10295012" y="2167472"/>
            <a:ext cx="890436" cy="291255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36" name="Google Shape;2636;p30"/>
          <p:cNvSpPr/>
          <p:nvPr/>
        </p:nvSpPr>
        <p:spPr>
          <a:xfrm>
            <a:off x="854349" y="2256655"/>
            <a:ext cx="846644" cy="2922199"/>
          </a:xfrm>
          <a:custGeom>
            <a:rect b="b" l="l" r="r" t="t"/>
            <a:pathLst>
              <a:path extrusionOk="0" h="1312" w="348">
                <a:moveTo>
                  <a:pt x="0" y="1306"/>
                </a:moveTo>
                <a:lnTo>
                  <a:pt x="348" y="0"/>
                </a:lnTo>
                <a:lnTo>
                  <a:pt x="342" y="1258"/>
                </a:lnTo>
                <a:lnTo>
                  <a:pt x="180" y="1312"/>
                </a:lnTo>
                <a:lnTo>
                  <a:pt x="0" y="1306"/>
                </a:lnTo>
                <a:close/>
              </a:path>
            </a:pathLst>
          </a:custGeom>
          <a:gradFill>
            <a:gsLst>
              <a:gs pos="0">
                <a:srgbClr val="FFFFFF"/>
              </a:gs>
              <a:gs pos="100000">
                <a:srgbClr val="B2B2B2"/>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637" name="Google Shape;2637;p30"/>
          <p:cNvGrpSpPr/>
          <p:nvPr/>
        </p:nvGrpSpPr>
        <p:grpSpPr>
          <a:xfrm>
            <a:off x="10955688" y="4246759"/>
            <a:ext cx="549832" cy="1070215"/>
            <a:chOff x="4140" y="429"/>
            <a:chExt cx="1425" cy="2396"/>
          </a:xfrm>
        </p:grpSpPr>
        <p:sp>
          <p:nvSpPr>
            <p:cNvPr id="2638" name="Google Shape;2638;p3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39" name="Google Shape;2639;p30"/>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40" name="Google Shape;2640;p3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41" name="Google Shape;2641;p3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42" name="Google Shape;2642;p30"/>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643" name="Google Shape;2643;p30"/>
            <p:cNvGrpSpPr/>
            <p:nvPr/>
          </p:nvGrpSpPr>
          <p:grpSpPr>
            <a:xfrm>
              <a:off x="4751" y="667"/>
              <a:ext cx="580" cy="146"/>
              <a:chOff x="617" y="2567"/>
              <a:chExt cx="724" cy="140"/>
            </a:xfrm>
          </p:grpSpPr>
          <p:sp>
            <p:nvSpPr>
              <p:cNvPr id="2644" name="Google Shape;2644;p30"/>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45" name="Google Shape;2645;p30"/>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646" name="Google Shape;2646;p30"/>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647" name="Google Shape;2647;p30"/>
            <p:cNvGrpSpPr/>
            <p:nvPr/>
          </p:nvGrpSpPr>
          <p:grpSpPr>
            <a:xfrm>
              <a:off x="4745" y="996"/>
              <a:ext cx="580" cy="156"/>
              <a:chOff x="612" y="2570"/>
              <a:chExt cx="724" cy="162"/>
            </a:xfrm>
          </p:grpSpPr>
          <p:sp>
            <p:nvSpPr>
              <p:cNvPr id="2648" name="Google Shape;2648;p30"/>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49" name="Google Shape;2649;p30"/>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650" name="Google Shape;2650;p30"/>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51" name="Google Shape;2651;p30"/>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652" name="Google Shape;2652;p30"/>
            <p:cNvGrpSpPr/>
            <p:nvPr/>
          </p:nvGrpSpPr>
          <p:grpSpPr>
            <a:xfrm>
              <a:off x="4733" y="1627"/>
              <a:ext cx="586" cy="151"/>
              <a:chOff x="611" y="2568"/>
              <a:chExt cx="730" cy="139"/>
            </a:xfrm>
          </p:grpSpPr>
          <p:sp>
            <p:nvSpPr>
              <p:cNvPr id="2653" name="Google Shape;2653;p30"/>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54" name="Google Shape;2654;p30"/>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655" name="Google Shape;2655;p3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nvGrpSpPr>
            <p:cNvPr id="2656" name="Google Shape;2656;p30"/>
            <p:cNvGrpSpPr/>
            <p:nvPr/>
          </p:nvGrpSpPr>
          <p:grpSpPr>
            <a:xfrm>
              <a:off x="4739" y="1325"/>
              <a:ext cx="580" cy="140"/>
              <a:chOff x="614" y="2566"/>
              <a:chExt cx="723" cy="140"/>
            </a:xfrm>
          </p:grpSpPr>
          <p:sp>
            <p:nvSpPr>
              <p:cNvPr id="2657" name="Google Shape;2657;p30"/>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58" name="Google Shape;2658;p30"/>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659" name="Google Shape;2659;p30"/>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60" name="Google Shape;2660;p3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61" name="Google Shape;2661;p3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62" name="Google Shape;2662;p30"/>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63" name="Google Shape;2663;p3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64" name="Google Shape;2664;p30"/>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65" name="Google Shape;2665;p30"/>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66" name="Google Shape;2666;p30"/>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67" name="Google Shape;2667;p30"/>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0000"/>
                </a:solidFill>
                <a:latin typeface="Arial"/>
                <a:ea typeface="Arial"/>
                <a:cs typeface="Arial"/>
                <a:sym typeface="Arial"/>
              </a:endParaRPr>
            </a:p>
          </p:txBody>
        </p:sp>
        <p:sp>
          <p:nvSpPr>
            <p:cNvPr id="2668" name="Google Shape;2668;p30"/>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sp>
          <p:nvSpPr>
            <p:cNvPr id="2669" name="Google Shape;2669;p30"/>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ahoma"/>
                <a:ea typeface="Tahoma"/>
                <a:cs typeface="Tahoma"/>
                <a:sym typeface="Tahoma"/>
              </a:endParaRPr>
            </a:p>
          </p:txBody>
        </p:sp>
      </p:grpSp>
      <p:sp>
        <p:nvSpPr>
          <p:cNvPr id="2670" name="Google Shape;2670;p30"/>
          <p:cNvSpPr txBox="1"/>
          <p:nvPr/>
        </p:nvSpPr>
        <p:spPr>
          <a:xfrm>
            <a:off x="8481037" y="1538123"/>
            <a:ext cx="20664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server</a:t>
            </a:r>
            <a:endParaRPr/>
          </a:p>
        </p:txBody>
      </p:sp>
      <p:sp>
        <p:nvSpPr>
          <p:cNvPr id="2671" name="Google Shape;2671;p30"/>
          <p:cNvSpPr txBox="1"/>
          <p:nvPr/>
        </p:nvSpPr>
        <p:spPr>
          <a:xfrm>
            <a:off x="1935319" y="1662731"/>
            <a:ext cx="195745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SNMP client</a:t>
            </a:r>
            <a:endParaRPr/>
          </a:p>
        </p:txBody>
      </p:sp>
      <p:grpSp>
        <p:nvGrpSpPr>
          <p:cNvPr id="2672" name="Google Shape;2672;p30"/>
          <p:cNvGrpSpPr/>
          <p:nvPr/>
        </p:nvGrpSpPr>
        <p:grpSpPr>
          <a:xfrm>
            <a:off x="8510352" y="2078288"/>
            <a:ext cx="1946338" cy="2912558"/>
            <a:chOff x="8091785" y="2078288"/>
            <a:chExt cx="2364905" cy="2912558"/>
          </a:xfrm>
        </p:grpSpPr>
        <p:sp>
          <p:nvSpPr>
            <p:cNvPr id="2673" name="Google Shape;2673;p30"/>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674" name="Google Shape;2674;p30"/>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675" name="Google Shape;2675;p30"/>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676" name="Google Shape;2676;p30"/>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677" name="Google Shape;2677;p30"/>
            <p:cNvCxnSpPr/>
            <p:nvPr/>
          </p:nvCxnSpPr>
          <p:spPr>
            <a:xfrm>
              <a:off x="8108201" y="3602458"/>
              <a:ext cx="2233387" cy="0"/>
            </a:xfrm>
            <a:prstGeom prst="straightConnector1">
              <a:avLst/>
            </a:prstGeom>
            <a:noFill/>
            <a:ln cap="flat" cmpd="sng" w="28575">
              <a:solidFill>
                <a:srgbClr val="000000"/>
              </a:solidFill>
              <a:prstDash val="solid"/>
              <a:round/>
              <a:headEnd len="med" w="med" type="none"/>
              <a:tailEnd len="med" w="med" type="none"/>
            </a:ln>
          </p:spPr>
        </p:cxnSp>
        <p:sp>
          <p:nvSpPr>
            <p:cNvPr id="2678" name="Google Shape;2678;p30"/>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679" name="Google Shape;2679;p30"/>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680" name="Google Shape;2680;p30"/>
            <p:cNvSpPr txBox="1"/>
            <p:nvPr/>
          </p:nvSpPr>
          <p:spPr>
            <a:xfrm>
              <a:off x="8218436" y="3646079"/>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681" name="Google Shape;2681;p30"/>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682" name="Google Shape;2682;p30"/>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683" name="Google Shape;2683;p30"/>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2684" name="Google Shape;2684;p30"/>
          <p:cNvGrpSpPr/>
          <p:nvPr/>
        </p:nvGrpSpPr>
        <p:grpSpPr>
          <a:xfrm>
            <a:off x="1687770" y="2167472"/>
            <a:ext cx="2131701" cy="2912558"/>
            <a:chOff x="8091785" y="2078288"/>
            <a:chExt cx="2364905" cy="2912558"/>
          </a:xfrm>
        </p:grpSpPr>
        <p:sp>
          <p:nvSpPr>
            <p:cNvPr id="2685" name="Google Shape;2685;p30"/>
            <p:cNvSpPr/>
            <p:nvPr/>
          </p:nvSpPr>
          <p:spPr>
            <a:xfrm>
              <a:off x="8179440" y="2078288"/>
              <a:ext cx="2277250" cy="2799267"/>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sp>
          <p:nvSpPr>
            <p:cNvPr id="2686" name="Google Shape;2686;p30"/>
            <p:cNvSpPr/>
            <p:nvPr/>
          </p:nvSpPr>
          <p:spPr>
            <a:xfrm>
              <a:off x="8091785" y="2167472"/>
              <a:ext cx="2254867" cy="2823374"/>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Tahoma"/>
                <a:buNone/>
              </a:pPr>
              <a:r>
                <a:t/>
              </a:r>
              <a:endParaRPr b="0" i="0" sz="3600" u="none" cap="none" strike="noStrike">
                <a:solidFill>
                  <a:srgbClr val="000000"/>
                </a:solidFill>
                <a:latin typeface="Times New Roman"/>
                <a:ea typeface="Times New Roman"/>
                <a:cs typeface="Times New Roman"/>
                <a:sym typeface="Times New Roman"/>
              </a:endParaRPr>
            </a:p>
          </p:txBody>
        </p:sp>
        <p:cxnSp>
          <p:nvCxnSpPr>
            <p:cNvPr id="2687" name="Google Shape;2687;p30"/>
            <p:cNvCxnSpPr/>
            <p:nvPr/>
          </p:nvCxnSpPr>
          <p:spPr>
            <a:xfrm>
              <a:off x="8108956" y="2749010"/>
              <a:ext cx="2238254" cy="4821"/>
            </a:xfrm>
            <a:prstGeom prst="straightConnector1">
              <a:avLst/>
            </a:prstGeom>
            <a:noFill/>
            <a:ln cap="flat" cmpd="sng" w="28575">
              <a:solidFill>
                <a:srgbClr val="000000"/>
              </a:solidFill>
              <a:prstDash val="solid"/>
              <a:round/>
              <a:headEnd len="med" w="med" type="none"/>
              <a:tailEnd len="med" w="med" type="none"/>
            </a:ln>
          </p:spPr>
        </p:cxnSp>
        <p:sp>
          <p:nvSpPr>
            <p:cNvPr id="2688" name="Google Shape;2688;p30"/>
            <p:cNvSpPr txBox="1"/>
            <p:nvPr/>
          </p:nvSpPr>
          <p:spPr>
            <a:xfrm>
              <a:off x="8376445" y="2832513"/>
              <a:ext cx="1703276"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transport</a:t>
              </a:r>
              <a:endParaRPr/>
            </a:p>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a:t>
              </a:r>
              <a:endParaRPr/>
            </a:p>
          </p:txBody>
        </p:sp>
        <p:cxnSp>
          <p:nvCxnSpPr>
            <p:cNvPr id="2689" name="Google Shape;2689;p30"/>
            <p:cNvCxnSpPr/>
            <p:nvPr/>
          </p:nvCxnSpPr>
          <p:spPr>
            <a:xfrm>
              <a:off x="8121121" y="3602458"/>
              <a:ext cx="2233388" cy="0"/>
            </a:xfrm>
            <a:prstGeom prst="straightConnector1">
              <a:avLst/>
            </a:prstGeom>
            <a:noFill/>
            <a:ln cap="flat" cmpd="sng" w="28575">
              <a:solidFill>
                <a:srgbClr val="000000"/>
              </a:solidFill>
              <a:prstDash val="solid"/>
              <a:round/>
              <a:headEnd len="med" w="med" type="none"/>
              <a:tailEnd len="med" w="med" type="none"/>
            </a:ln>
          </p:spPr>
        </p:cxnSp>
        <p:sp>
          <p:nvSpPr>
            <p:cNvPr id="2690" name="Google Shape;2690;p30"/>
            <p:cNvSpPr txBox="1"/>
            <p:nvPr/>
          </p:nvSpPr>
          <p:spPr>
            <a:xfrm>
              <a:off x="8218436" y="4533100"/>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physical</a:t>
              </a:r>
              <a:endParaRPr/>
            </a:p>
          </p:txBody>
        </p:sp>
        <p:sp>
          <p:nvSpPr>
            <p:cNvPr id="2691" name="Google Shape;2691;p30"/>
            <p:cNvSpPr txBox="1"/>
            <p:nvPr/>
          </p:nvSpPr>
          <p:spPr>
            <a:xfrm>
              <a:off x="8218436" y="4088345"/>
              <a:ext cx="2019294" cy="44027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link</a:t>
              </a:r>
              <a:endParaRPr/>
            </a:p>
          </p:txBody>
        </p:sp>
        <p:sp>
          <p:nvSpPr>
            <p:cNvPr id="2692" name="Google Shape;2692;p30"/>
            <p:cNvSpPr txBox="1"/>
            <p:nvPr/>
          </p:nvSpPr>
          <p:spPr>
            <a:xfrm>
              <a:off x="8218436" y="3646079"/>
              <a:ext cx="2019294" cy="737446"/>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network (IP)</a:t>
              </a:r>
              <a:endParaRPr/>
            </a:p>
          </p:txBody>
        </p:sp>
        <p:cxnSp>
          <p:nvCxnSpPr>
            <p:cNvPr id="2693" name="Google Shape;2693;p30"/>
            <p:cNvCxnSpPr/>
            <p:nvPr/>
          </p:nvCxnSpPr>
          <p:spPr>
            <a:xfrm>
              <a:off x="8116255" y="4074895"/>
              <a:ext cx="2233388" cy="0"/>
            </a:xfrm>
            <a:prstGeom prst="straightConnector1">
              <a:avLst/>
            </a:prstGeom>
            <a:noFill/>
            <a:ln cap="flat" cmpd="sng" w="28575">
              <a:solidFill>
                <a:srgbClr val="000000"/>
              </a:solidFill>
              <a:prstDash val="solid"/>
              <a:round/>
              <a:headEnd len="med" w="med" type="none"/>
              <a:tailEnd len="med" w="med" type="none"/>
            </a:ln>
          </p:spPr>
        </p:cxnSp>
        <p:cxnSp>
          <p:nvCxnSpPr>
            <p:cNvPr id="2694" name="Google Shape;2694;p30"/>
            <p:cNvCxnSpPr/>
            <p:nvPr/>
          </p:nvCxnSpPr>
          <p:spPr>
            <a:xfrm>
              <a:off x="8111389" y="4528049"/>
              <a:ext cx="2233388" cy="0"/>
            </a:xfrm>
            <a:prstGeom prst="straightConnector1">
              <a:avLst/>
            </a:prstGeom>
            <a:noFill/>
            <a:ln cap="flat" cmpd="sng" w="28575">
              <a:solidFill>
                <a:srgbClr val="000000"/>
              </a:solidFill>
              <a:prstDash val="solid"/>
              <a:round/>
              <a:headEnd len="med" w="med" type="none"/>
              <a:tailEnd len="med" w="med" type="none"/>
            </a:ln>
          </p:spPr>
        </p:cxnSp>
        <p:sp>
          <p:nvSpPr>
            <p:cNvPr id="2695" name="Google Shape;2695;p30"/>
            <p:cNvSpPr txBox="1"/>
            <p:nvPr/>
          </p:nvSpPr>
          <p:spPr>
            <a:xfrm>
              <a:off x="8179440" y="2284368"/>
              <a:ext cx="2019294" cy="39889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p:txBody>
        </p:sp>
      </p:grpSp>
      <p:grpSp>
        <p:nvGrpSpPr>
          <p:cNvPr id="2696" name="Google Shape;2696;p30"/>
          <p:cNvGrpSpPr/>
          <p:nvPr/>
        </p:nvGrpSpPr>
        <p:grpSpPr>
          <a:xfrm>
            <a:off x="500734" y="4943580"/>
            <a:ext cx="1026523" cy="597153"/>
            <a:chOff x="7493876" y="2774731"/>
            <a:chExt cx="1481958" cy="894622"/>
          </a:xfrm>
        </p:grpSpPr>
        <p:sp>
          <p:nvSpPr>
            <p:cNvPr id="2697" name="Google Shape;2697;p3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698" name="Google Shape;2698;p3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699" name="Google Shape;2699;p30"/>
            <p:cNvGrpSpPr/>
            <p:nvPr/>
          </p:nvGrpSpPr>
          <p:grpSpPr>
            <a:xfrm>
              <a:off x="7713663" y="2848339"/>
              <a:ext cx="1042107" cy="425543"/>
              <a:chOff x="7786941" y="2884917"/>
              <a:chExt cx="897649" cy="353919"/>
            </a:xfrm>
          </p:grpSpPr>
          <p:sp>
            <p:nvSpPr>
              <p:cNvPr id="2700" name="Google Shape;2700;p3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01" name="Google Shape;2701;p3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02" name="Google Shape;2702;p3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03" name="Google Shape;2703;p3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2704" name="Google Shape;2704;p3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Transport Layer Actions</a:t>
            </a:r>
            <a:endParaRPr/>
          </a:p>
        </p:txBody>
      </p:sp>
      <p:grpSp>
        <p:nvGrpSpPr>
          <p:cNvPr id="2705" name="Google Shape;2705;p30"/>
          <p:cNvGrpSpPr/>
          <p:nvPr/>
        </p:nvGrpSpPr>
        <p:grpSpPr>
          <a:xfrm>
            <a:off x="2462207" y="2756023"/>
            <a:ext cx="412750" cy="158750"/>
            <a:chOff x="1287" y="2524"/>
            <a:chExt cx="260" cy="100"/>
          </a:xfrm>
        </p:grpSpPr>
        <p:sp>
          <p:nvSpPr>
            <p:cNvPr id="2706" name="Google Shape;2706;p30"/>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707" name="Google Shape;2707;p30"/>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708" name="Google Shape;2708;p30"/>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709" name="Google Shape;2709;p30"/>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710" name="Google Shape;2710;p30"/>
          <p:cNvGrpSpPr/>
          <p:nvPr/>
        </p:nvGrpSpPr>
        <p:grpSpPr>
          <a:xfrm>
            <a:off x="9681144" y="2673610"/>
            <a:ext cx="412750" cy="158750"/>
            <a:chOff x="1287" y="2524"/>
            <a:chExt cx="260" cy="100"/>
          </a:xfrm>
        </p:grpSpPr>
        <p:sp>
          <p:nvSpPr>
            <p:cNvPr id="2711" name="Google Shape;2711;p30"/>
            <p:cNvSpPr/>
            <p:nvPr/>
          </p:nvSpPr>
          <p:spPr>
            <a:xfrm>
              <a:off x="1287" y="2524"/>
              <a:ext cx="260" cy="10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712" name="Google Shape;2712;p30"/>
            <p:cNvSpPr/>
            <p:nvPr/>
          </p:nvSpPr>
          <p:spPr>
            <a:xfrm>
              <a:off x="1338" y="2537"/>
              <a:ext cx="155" cy="76"/>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713" name="Google Shape;2713;p30"/>
            <p:cNvSpPr/>
            <p:nvPr/>
          </p:nvSpPr>
          <p:spPr>
            <a:xfrm>
              <a:off x="1503" y="2582"/>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714" name="Google Shape;2714;p30"/>
            <p:cNvSpPr/>
            <p:nvPr/>
          </p:nvSpPr>
          <p:spPr>
            <a:xfrm>
              <a:off x="1298" y="2583"/>
              <a:ext cx="27" cy="27"/>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715" name="Google Shape;2715;p30"/>
          <p:cNvSpPr txBox="1"/>
          <p:nvPr/>
        </p:nvSpPr>
        <p:spPr>
          <a:xfrm>
            <a:off x="4212477" y="1830701"/>
            <a:ext cx="389834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UDP receiver actions:</a:t>
            </a:r>
            <a:endParaRPr/>
          </a:p>
          <a:p>
            <a:pPr indent="-92075" lvl="0" marL="285750" marR="0" rtl="0" algn="l">
              <a:lnSpc>
                <a:spcPct val="100000"/>
              </a:lnSpc>
              <a:spcBef>
                <a:spcPts val="0"/>
              </a:spcBef>
              <a:spcAft>
                <a:spcPts val="0"/>
              </a:spcAft>
              <a:buClr>
                <a:srgbClr val="0200A3"/>
              </a:buClr>
              <a:buSzPts val="2000"/>
              <a:buFont typeface="Noto Sans Symbols"/>
              <a:buNone/>
            </a:pPr>
            <a:r>
              <a:t/>
            </a:r>
            <a:endParaRPr b="0" i="0" sz="2000" u="none" cap="none" strike="noStrike">
              <a:solidFill>
                <a:srgbClr val="000000"/>
              </a:solidFill>
              <a:latin typeface="Calibri"/>
              <a:ea typeface="Calibri"/>
              <a:cs typeface="Calibri"/>
              <a:sym typeface="Calibri"/>
            </a:endParaRPr>
          </a:p>
        </p:txBody>
      </p:sp>
      <p:sp>
        <p:nvSpPr>
          <p:cNvPr id="2716" name="Google Shape;2716;p30"/>
          <p:cNvSpPr/>
          <p:nvPr/>
        </p:nvSpPr>
        <p:spPr>
          <a:xfrm>
            <a:off x="1655121" y="2160335"/>
            <a:ext cx="2199790" cy="2938360"/>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717" name="Google Shape;2717;p30"/>
          <p:cNvGrpSpPr/>
          <p:nvPr/>
        </p:nvGrpSpPr>
        <p:grpSpPr>
          <a:xfrm>
            <a:off x="2355694" y="3088859"/>
            <a:ext cx="1259074" cy="369332"/>
            <a:chOff x="8934916" y="2775692"/>
            <a:chExt cx="1259074" cy="369332"/>
          </a:xfrm>
        </p:grpSpPr>
        <p:sp>
          <p:nvSpPr>
            <p:cNvPr id="2718" name="Google Shape;2718;p30"/>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19" name="Google Shape;2719;p30"/>
            <p:cNvSpPr txBox="1"/>
            <p:nvPr/>
          </p:nvSpPr>
          <p:spPr>
            <a:xfrm>
              <a:off x="8934916" y="2775692"/>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SNMP msg</a:t>
              </a:r>
              <a:endParaRPr/>
            </a:p>
          </p:txBody>
        </p:sp>
      </p:grpSp>
      <p:sp>
        <p:nvSpPr>
          <p:cNvPr id="2720" name="Google Shape;2720;p30"/>
          <p:cNvSpPr txBox="1"/>
          <p:nvPr/>
        </p:nvSpPr>
        <p:spPr>
          <a:xfrm>
            <a:off x="4380155" y="3324883"/>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extracts application-layer message</a:t>
            </a:r>
            <a:endParaRPr/>
          </a:p>
        </p:txBody>
      </p:sp>
      <p:sp>
        <p:nvSpPr>
          <p:cNvPr id="2721" name="Google Shape;2721;p30"/>
          <p:cNvSpPr txBox="1"/>
          <p:nvPr/>
        </p:nvSpPr>
        <p:spPr>
          <a:xfrm>
            <a:off x="4378217" y="2693557"/>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checks UDP checksum header value</a:t>
            </a:r>
            <a:endParaRPr/>
          </a:p>
        </p:txBody>
      </p:sp>
      <p:sp>
        <p:nvSpPr>
          <p:cNvPr id="2722" name="Google Shape;2722;p30"/>
          <p:cNvSpPr txBox="1"/>
          <p:nvPr/>
        </p:nvSpPr>
        <p:spPr>
          <a:xfrm>
            <a:off x="4388103" y="2278130"/>
            <a:ext cx="3825456" cy="461665"/>
          </a:xfrm>
          <a:prstGeom prst="rect">
            <a:avLst/>
          </a:prstGeom>
          <a:noFill/>
          <a:ln>
            <a:noFill/>
          </a:ln>
        </p:spPr>
        <p:txBody>
          <a:bodyPr anchorCtr="0" anchor="t" bIns="45700" lIns="91425" spcFirstLastPara="1" rIns="91425" wrap="square" tIns="45700">
            <a:spAutoFit/>
          </a:bodyPr>
          <a:lstStyle/>
          <a:p>
            <a:pPr indent="-219075" lvl="0" marL="285750" marR="0" rtl="0" algn="l">
              <a:lnSpc>
                <a:spcPct val="100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receives segment from IP</a:t>
            </a:r>
            <a:endParaRPr/>
          </a:p>
        </p:txBody>
      </p:sp>
      <p:grpSp>
        <p:nvGrpSpPr>
          <p:cNvPr id="2723" name="Google Shape;2723;p30"/>
          <p:cNvGrpSpPr/>
          <p:nvPr/>
        </p:nvGrpSpPr>
        <p:grpSpPr>
          <a:xfrm>
            <a:off x="1795827" y="3762839"/>
            <a:ext cx="1818022" cy="369332"/>
            <a:chOff x="7863122" y="5632673"/>
            <a:chExt cx="1818022" cy="369332"/>
          </a:xfrm>
        </p:grpSpPr>
        <p:grpSp>
          <p:nvGrpSpPr>
            <p:cNvPr id="2724" name="Google Shape;2724;p30"/>
            <p:cNvGrpSpPr/>
            <p:nvPr/>
          </p:nvGrpSpPr>
          <p:grpSpPr>
            <a:xfrm>
              <a:off x="7863122" y="5638955"/>
              <a:ext cx="1259074" cy="338554"/>
              <a:chOff x="8964789" y="2648929"/>
              <a:chExt cx="1259074" cy="338554"/>
            </a:xfrm>
          </p:grpSpPr>
          <p:sp>
            <p:nvSpPr>
              <p:cNvPr id="2725" name="Google Shape;2725;p30"/>
              <p:cNvSpPr/>
              <p:nvPr/>
            </p:nvSpPr>
            <p:spPr>
              <a:xfrm>
                <a:off x="9032744" y="2707400"/>
                <a:ext cx="543189"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26" name="Google Shape;2726;p30"/>
              <p:cNvSpPr txBox="1"/>
              <p:nvPr/>
            </p:nvSpPr>
            <p:spPr>
              <a:xfrm>
                <a:off x="8964789" y="2648929"/>
                <a:ext cx="125907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UDP</a:t>
                </a:r>
                <a:r>
                  <a:rPr b="0" baseline="-25000" i="0" lang="en-US" sz="1600" u="none" cap="none" strike="noStrike">
                    <a:solidFill>
                      <a:srgbClr val="000000"/>
                    </a:solidFill>
                    <a:latin typeface="Calibri"/>
                    <a:ea typeface="Calibri"/>
                    <a:cs typeface="Calibri"/>
                    <a:sym typeface="Calibri"/>
                  </a:rPr>
                  <a:t>h</a:t>
                </a:r>
                <a:endParaRPr b="0" baseline="-25000" i="0" sz="1600" u="none" cap="none" strike="noStrike">
                  <a:solidFill>
                    <a:srgbClr val="000000"/>
                  </a:solidFill>
                  <a:latin typeface="Calibri"/>
                  <a:ea typeface="Calibri"/>
                  <a:cs typeface="Calibri"/>
                  <a:sym typeface="Calibri"/>
                </a:endParaRPr>
              </a:p>
            </p:txBody>
          </p:sp>
        </p:grpSp>
        <p:grpSp>
          <p:nvGrpSpPr>
            <p:cNvPr id="2727" name="Google Shape;2727;p30"/>
            <p:cNvGrpSpPr/>
            <p:nvPr/>
          </p:nvGrpSpPr>
          <p:grpSpPr>
            <a:xfrm>
              <a:off x="8422070" y="5632673"/>
              <a:ext cx="1259074" cy="369332"/>
              <a:chOff x="8934916" y="2778923"/>
              <a:chExt cx="1259074" cy="369332"/>
            </a:xfrm>
          </p:grpSpPr>
          <p:sp>
            <p:nvSpPr>
              <p:cNvPr id="2728" name="Google Shape;2728;p30"/>
              <p:cNvSpPr/>
              <p:nvPr/>
            </p:nvSpPr>
            <p:spPr>
              <a:xfrm>
                <a:off x="8964931" y="2842303"/>
                <a:ext cx="1140727" cy="246705"/>
              </a:xfrm>
              <a:prstGeom prst="rect">
                <a:avLst/>
              </a:prstGeom>
              <a:solidFill>
                <a:schemeClr val="lt1"/>
              </a:solidFill>
              <a:ln cap="flat" cmpd="sng" w="254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29" name="Google Shape;2729;p30"/>
              <p:cNvSpPr txBox="1"/>
              <p:nvPr/>
            </p:nvSpPr>
            <p:spPr>
              <a:xfrm>
                <a:off x="8934916" y="2778923"/>
                <a:ext cx="12590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SNMP msg</a:t>
                </a:r>
                <a:endParaRPr/>
              </a:p>
            </p:txBody>
          </p:sp>
        </p:grpSp>
      </p:grpSp>
      <p:sp>
        <p:nvSpPr>
          <p:cNvPr id="2730" name="Google Shape;2730;p30"/>
          <p:cNvSpPr txBox="1"/>
          <p:nvPr/>
        </p:nvSpPr>
        <p:spPr>
          <a:xfrm>
            <a:off x="4379533" y="3932414"/>
            <a:ext cx="3825456" cy="722955"/>
          </a:xfrm>
          <a:prstGeom prst="rect">
            <a:avLst/>
          </a:prstGeom>
          <a:noFill/>
          <a:ln>
            <a:noFill/>
          </a:ln>
        </p:spPr>
        <p:txBody>
          <a:bodyPr anchorCtr="0" anchor="t" bIns="45700" lIns="91425" spcFirstLastPara="1" rIns="91425" wrap="square" tIns="45700">
            <a:spAutoFit/>
          </a:bodyPr>
          <a:lstStyle/>
          <a:p>
            <a:pPr indent="-219075" lvl="0" marL="285750" marR="0" rtl="0" algn="l">
              <a:lnSpc>
                <a:spcPct val="85000"/>
              </a:lnSpc>
              <a:spcBef>
                <a:spcPts val="0"/>
              </a:spcBef>
              <a:spcAft>
                <a:spcPts val="0"/>
              </a:spcAft>
              <a:buClr>
                <a:srgbClr val="0200A3"/>
              </a:buClr>
              <a:buSzPts val="2400"/>
              <a:buFont typeface="Noto Sans Symbols"/>
              <a:buChar char="▪"/>
            </a:pPr>
            <a:r>
              <a:rPr b="0" i="0" lang="en-US" sz="2400" u="none" cap="none" strike="noStrike">
                <a:solidFill>
                  <a:srgbClr val="000000"/>
                </a:solidFill>
                <a:latin typeface="Calibri"/>
                <a:ea typeface="Calibri"/>
                <a:cs typeface="Calibri"/>
                <a:sym typeface="Calibri"/>
              </a:rPr>
              <a:t>demultiplexes message up to application via socket</a:t>
            </a:r>
            <a:endParaRPr/>
          </a:p>
        </p:txBody>
      </p:sp>
      <p:sp>
        <p:nvSpPr>
          <p:cNvPr id="2731" name="Google Shape;2731;p30"/>
          <p:cNvSpPr/>
          <p:nvPr/>
        </p:nvSpPr>
        <p:spPr>
          <a:xfrm>
            <a:off x="8348341" y="2027305"/>
            <a:ext cx="3416536" cy="3302845"/>
          </a:xfrm>
          <a:prstGeom prst="rect">
            <a:avLst/>
          </a:prstGeom>
          <a:solidFill>
            <a:schemeClr val="lt1">
              <a:alpha val="8196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32" name="Google Shape;2732;p30"/>
          <p:cNvSpPr/>
          <p:nvPr/>
        </p:nvSpPr>
        <p:spPr>
          <a:xfrm>
            <a:off x="1741367" y="2989161"/>
            <a:ext cx="763166" cy="541031"/>
          </a:xfrm>
          <a:prstGeom prst="ellipse">
            <a:avLst/>
          </a:prstGeom>
          <a:noFill/>
          <a:ln cap="flat" cmpd="sng" w="2540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733" name="Google Shape;2733;p30"/>
          <p:cNvCxnSpPr/>
          <p:nvPr/>
        </p:nvCxnSpPr>
        <p:spPr>
          <a:xfrm flipH="1">
            <a:off x="7972023" y="4973372"/>
            <a:ext cx="1473513" cy="474391"/>
          </a:xfrm>
          <a:prstGeom prst="straightConnector1">
            <a:avLst/>
          </a:prstGeom>
          <a:noFill/>
          <a:ln cap="flat" cmpd="sng" w="19050">
            <a:solidFill>
              <a:schemeClr val="dk1"/>
            </a:solidFill>
            <a:prstDash val="solid"/>
            <a:miter lim="800000"/>
            <a:headEnd len="sm" w="sm" type="none"/>
            <a:tailEnd len="sm" w="sm" type="none"/>
          </a:ln>
        </p:spPr>
      </p:cxnSp>
      <p:cxnSp>
        <p:nvCxnSpPr>
          <p:cNvPr id="2734" name="Google Shape;2734;p30"/>
          <p:cNvCxnSpPr/>
          <p:nvPr/>
        </p:nvCxnSpPr>
        <p:spPr>
          <a:xfrm>
            <a:off x="2578811" y="5062556"/>
            <a:ext cx="1582832" cy="302617"/>
          </a:xfrm>
          <a:prstGeom prst="straightConnector1">
            <a:avLst/>
          </a:prstGeom>
          <a:noFill/>
          <a:ln cap="flat" cmpd="sng" w="19050">
            <a:solidFill>
              <a:schemeClr val="dk1"/>
            </a:solidFill>
            <a:prstDash val="solid"/>
            <a:miter lim="800000"/>
            <a:headEnd len="sm" w="sm" type="none"/>
            <a:tailEnd len="sm" w="sm" type="none"/>
          </a:ln>
        </p:spPr>
      </p:cxnSp>
      <p:sp>
        <p:nvSpPr>
          <p:cNvPr id="2735" name="Google Shape;2735;p30"/>
          <p:cNvSpPr/>
          <p:nvPr/>
        </p:nvSpPr>
        <p:spPr>
          <a:xfrm>
            <a:off x="4062521" y="4965666"/>
            <a:ext cx="4036903" cy="1028731"/>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2736" name="Google Shape;2736;p3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3"/>
                                        </p:tgtEl>
                                        <p:attrNameLst>
                                          <p:attrName>style.visibility</p:attrName>
                                        </p:attrNameLst>
                                      </p:cBhvr>
                                      <p:to>
                                        <p:strVal val="visible"/>
                                      </p:to>
                                    </p:set>
                                    <p:animEffect filter="fade" transition="in">
                                      <p:cBhvr>
                                        <p:cTn dur="500"/>
                                        <p:tgtEl>
                                          <p:spTgt spid="27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2"/>
                                        </p:tgtEl>
                                        <p:attrNameLst>
                                          <p:attrName>style.visibility</p:attrName>
                                        </p:attrNameLst>
                                      </p:cBhvr>
                                      <p:to>
                                        <p:strVal val="visible"/>
                                      </p:to>
                                    </p:set>
                                    <p:animEffect filter="fade" transition="in">
                                      <p:cBhvr>
                                        <p:cTn dur="500"/>
                                        <p:tgtEl>
                                          <p:spTgt spid="27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2"/>
                                        </p:tgtEl>
                                        <p:attrNameLst>
                                          <p:attrName>style.visibility</p:attrName>
                                        </p:attrNameLst>
                                      </p:cBhvr>
                                      <p:to>
                                        <p:strVal val="visible"/>
                                      </p:to>
                                    </p:set>
                                    <p:animEffect filter="fade" transition="in">
                                      <p:cBhvr>
                                        <p:cTn dur="500"/>
                                        <p:tgtEl>
                                          <p:spTgt spid="2732"/>
                                        </p:tgtEl>
                                      </p:cBhvr>
                                    </p:animEffect>
                                  </p:childTnLst>
                                </p:cTn>
                              </p:par>
                              <p:par>
                                <p:cTn fill="hold" nodeType="withEffect" presetClass="entr" presetID="10" presetSubtype="0">
                                  <p:stCondLst>
                                    <p:cond delay="0"/>
                                  </p:stCondLst>
                                  <p:childTnLst>
                                    <p:set>
                                      <p:cBhvr>
                                        <p:cTn dur="1" fill="hold">
                                          <p:stCondLst>
                                            <p:cond delay="0"/>
                                          </p:stCondLst>
                                        </p:cTn>
                                        <p:tgtEl>
                                          <p:spTgt spid="2721"/>
                                        </p:tgtEl>
                                        <p:attrNameLst>
                                          <p:attrName>style.visibility</p:attrName>
                                        </p:attrNameLst>
                                      </p:cBhvr>
                                      <p:to>
                                        <p:strVal val="visible"/>
                                      </p:to>
                                    </p:set>
                                    <p:animEffect filter="fade" transition="in">
                                      <p:cBhvr>
                                        <p:cTn dur="500"/>
                                        <p:tgtEl>
                                          <p:spTgt spid="27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723"/>
                                        </p:tgtEl>
                                      </p:cBhvr>
                                    </p:animEffect>
                                    <p:set>
                                      <p:cBhvr>
                                        <p:cTn dur="1" fill="hold">
                                          <p:stCondLst>
                                            <p:cond delay="500"/>
                                          </p:stCondLst>
                                        </p:cTn>
                                        <p:tgtEl>
                                          <p:spTgt spid="272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732"/>
                                        </p:tgtEl>
                                      </p:cBhvr>
                                    </p:animEffect>
                                    <p:set>
                                      <p:cBhvr>
                                        <p:cTn dur="1" fill="hold">
                                          <p:stCondLst>
                                            <p:cond delay="500"/>
                                          </p:stCondLst>
                                        </p:cTn>
                                        <p:tgtEl>
                                          <p:spTgt spid="273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717"/>
                                        </p:tgtEl>
                                        <p:attrNameLst>
                                          <p:attrName>style.visibility</p:attrName>
                                        </p:attrNameLst>
                                      </p:cBhvr>
                                      <p:to>
                                        <p:strVal val="visible"/>
                                      </p:to>
                                    </p:set>
                                    <p:animEffect filter="fade" transition="in">
                                      <p:cBhvr>
                                        <p:cTn dur="500"/>
                                        <p:tgtEl>
                                          <p:spTgt spid="2717"/>
                                        </p:tgtEl>
                                      </p:cBhvr>
                                    </p:animEffect>
                                  </p:childTnLst>
                                </p:cTn>
                              </p:par>
                              <p:par>
                                <p:cTn fill="hold" nodeType="withEffect" presetClass="entr" presetID="10" presetSubtype="0">
                                  <p:stCondLst>
                                    <p:cond delay="0"/>
                                  </p:stCondLst>
                                  <p:childTnLst>
                                    <p:set>
                                      <p:cBhvr>
                                        <p:cTn dur="1" fill="hold">
                                          <p:stCondLst>
                                            <p:cond delay="0"/>
                                          </p:stCondLst>
                                        </p:cTn>
                                        <p:tgtEl>
                                          <p:spTgt spid="2720"/>
                                        </p:tgtEl>
                                        <p:attrNameLst>
                                          <p:attrName>style.visibility</p:attrName>
                                        </p:attrNameLst>
                                      </p:cBhvr>
                                      <p:to>
                                        <p:strVal val="visible"/>
                                      </p:to>
                                    </p:set>
                                    <p:animEffect filter="fade" transition="in">
                                      <p:cBhvr>
                                        <p:cTn dur="500"/>
                                        <p:tgtEl>
                                          <p:spTgt spid="27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0"/>
                                        </p:tgtEl>
                                        <p:attrNameLst>
                                          <p:attrName>style.visibility</p:attrName>
                                        </p:attrNameLst>
                                      </p:cBhvr>
                                      <p:to>
                                        <p:strVal val="visible"/>
                                      </p:to>
                                    </p:set>
                                    <p:animEffect filter="fade" transition="in">
                                      <p:cBhvr>
                                        <p:cTn dur="500"/>
                                        <p:tgtEl>
                                          <p:spTgt spid="27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1" name="Shape 2741"/>
        <p:cNvGrpSpPr/>
        <p:nvPr/>
      </p:nvGrpSpPr>
      <p:grpSpPr>
        <a:xfrm>
          <a:off x="0" y="0"/>
          <a:ext cx="0" cy="0"/>
          <a:chOff x="0" y="0"/>
          <a:chExt cx="0" cy="0"/>
        </a:xfrm>
      </p:grpSpPr>
      <p:sp>
        <p:nvSpPr>
          <p:cNvPr id="2742" name="Google Shape;2742;p3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segment </a:t>
            </a:r>
            <a:r>
              <a:rPr lang="en-US"/>
              <a:t>h</a:t>
            </a:r>
            <a:r>
              <a:rPr lang="en-US" sz="4400"/>
              <a:t>eader</a:t>
            </a:r>
            <a:endParaRPr/>
          </a:p>
        </p:txBody>
      </p:sp>
      <p:sp>
        <p:nvSpPr>
          <p:cNvPr id="2743" name="Google Shape;2743;p31"/>
          <p:cNvSpPr/>
          <p:nvPr/>
        </p:nvSpPr>
        <p:spPr>
          <a:xfrm>
            <a:off x="3902299" y="2017713"/>
            <a:ext cx="3324225" cy="3200400"/>
          </a:xfrm>
          <a:prstGeom prst="rect">
            <a:avLst/>
          </a:prstGeom>
          <a:solidFill>
            <a:srgbClr val="FFFFFF"/>
          </a:solidFill>
          <a:ln cap="flat" cmpd="sng" w="349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744" name="Google Shape;2744;p31"/>
          <p:cNvSpPr txBox="1"/>
          <p:nvPr/>
        </p:nvSpPr>
        <p:spPr>
          <a:xfrm>
            <a:off x="3941987" y="2030413"/>
            <a:ext cx="1563687"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source port #</a:t>
            </a:r>
            <a:endParaRPr b="0" i="0" sz="2400" u="none" cap="none" strike="noStrike">
              <a:solidFill>
                <a:srgbClr val="000000"/>
              </a:solidFill>
              <a:latin typeface="Tahoma"/>
              <a:ea typeface="Tahoma"/>
              <a:cs typeface="Tahoma"/>
              <a:sym typeface="Tahoma"/>
            </a:endParaRPr>
          </a:p>
        </p:txBody>
      </p:sp>
      <p:sp>
        <p:nvSpPr>
          <p:cNvPr id="2745" name="Google Shape;2745;p31"/>
          <p:cNvSpPr txBox="1"/>
          <p:nvPr/>
        </p:nvSpPr>
        <p:spPr>
          <a:xfrm>
            <a:off x="5727924" y="2030413"/>
            <a:ext cx="1328738"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dest port #</a:t>
            </a:r>
            <a:endParaRPr/>
          </a:p>
        </p:txBody>
      </p:sp>
      <p:cxnSp>
        <p:nvCxnSpPr>
          <p:cNvPr id="2746" name="Google Shape;2746;p31"/>
          <p:cNvCxnSpPr/>
          <p:nvPr/>
        </p:nvCxnSpPr>
        <p:spPr>
          <a:xfrm>
            <a:off x="3892774" y="2417763"/>
            <a:ext cx="3328988" cy="0"/>
          </a:xfrm>
          <a:prstGeom prst="straightConnector1">
            <a:avLst/>
          </a:prstGeom>
          <a:noFill/>
          <a:ln cap="flat" cmpd="sng" w="19050">
            <a:solidFill>
              <a:srgbClr val="000000"/>
            </a:solidFill>
            <a:prstDash val="solid"/>
            <a:round/>
            <a:headEnd len="med" w="med" type="none"/>
            <a:tailEnd len="med" w="med" type="none"/>
          </a:ln>
        </p:spPr>
      </p:cxnSp>
      <p:cxnSp>
        <p:nvCxnSpPr>
          <p:cNvPr id="2747" name="Google Shape;2747;p31"/>
          <p:cNvCxnSpPr/>
          <p:nvPr/>
        </p:nvCxnSpPr>
        <p:spPr>
          <a:xfrm>
            <a:off x="3883249" y="2817813"/>
            <a:ext cx="3324225" cy="0"/>
          </a:xfrm>
          <a:prstGeom prst="straightConnector1">
            <a:avLst/>
          </a:prstGeom>
          <a:noFill/>
          <a:ln cap="flat" cmpd="sng" w="19050">
            <a:solidFill>
              <a:srgbClr val="000000"/>
            </a:solidFill>
            <a:prstDash val="solid"/>
            <a:round/>
            <a:headEnd len="med" w="med" type="none"/>
            <a:tailEnd len="med" w="med" type="none"/>
          </a:ln>
        </p:spPr>
      </p:cxnSp>
      <p:cxnSp>
        <p:nvCxnSpPr>
          <p:cNvPr id="2748" name="Google Shape;2748;p31"/>
          <p:cNvCxnSpPr/>
          <p:nvPr/>
        </p:nvCxnSpPr>
        <p:spPr>
          <a:xfrm rot="10800000">
            <a:off x="5540599" y="2017713"/>
            <a:ext cx="0" cy="395287"/>
          </a:xfrm>
          <a:prstGeom prst="straightConnector1">
            <a:avLst/>
          </a:prstGeom>
          <a:noFill/>
          <a:ln cap="flat" cmpd="sng" w="19050">
            <a:solidFill>
              <a:srgbClr val="000000"/>
            </a:solidFill>
            <a:prstDash val="solid"/>
            <a:round/>
            <a:headEnd len="med" w="med" type="none"/>
            <a:tailEnd len="med" w="med" type="none"/>
          </a:ln>
        </p:spPr>
      </p:cxnSp>
      <p:sp>
        <p:nvSpPr>
          <p:cNvPr id="2749" name="Google Shape;2749;p31"/>
          <p:cNvSpPr txBox="1"/>
          <p:nvPr/>
        </p:nvSpPr>
        <p:spPr>
          <a:xfrm>
            <a:off x="5048474" y="1552575"/>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32 bits</a:t>
            </a:r>
            <a:endParaRPr/>
          </a:p>
        </p:txBody>
      </p:sp>
      <p:cxnSp>
        <p:nvCxnSpPr>
          <p:cNvPr id="2750" name="Google Shape;2750;p31"/>
          <p:cNvCxnSpPr/>
          <p:nvPr/>
        </p:nvCxnSpPr>
        <p:spPr>
          <a:xfrm>
            <a:off x="5997799" y="1784350"/>
            <a:ext cx="1200150" cy="4763"/>
          </a:xfrm>
          <a:prstGeom prst="straightConnector1">
            <a:avLst/>
          </a:prstGeom>
          <a:noFill/>
          <a:ln cap="flat" cmpd="sng" w="19050">
            <a:solidFill>
              <a:srgbClr val="000000"/>
            </a:solidFill>
            <a:prstDash val="solid"/>
            <a:round/>
            <a:headEnd len="med" w="med" type="none"/>
            <a:tailEnd len="med" w="med" type="triangle"/>
          </a:ln>
        </p:spPr>
      </p:cxnSp>
      <p:cxnSp>
        <p:nvCxnSpPr>
          <p:cNvPr id="2751" name="Google Shape;2751;p31"/>
          <p:cNvCxnSpPr/>
          <p:nvPr/>
        </p:nvCxnSpPr>
        <p:spPr>
          <a:xfrm rot="10800000">
            <a:off x="3888012" y="1793875"/>
            <a:ext cx="1128712" cy="0"/>
          </a:xfrm>
          <a:prstGeom prst="straightConnector1">
            <a:avLst/>
          </a:prstGeom>
          <a:noFill/>
          <a:ln cap="flat" cmpd="sng" w="19050">
            <a:solidFill>
              <a:srgbClr val="000000"/>
            </a:solidFill>
            <a:prstDash val="solid"/>
            <a:round/>
            <a:headEnd len="med" w="med" type="none"/>
            <a:tailEnd len="med" w="med" type="triangle"/>
          </a:ln>
        </p:spPr>
      </p:cxnSp>
      <p:sp>
        <p:nvSpPr>
          <p:cNvPr id="2752" name="Google Shape;2752;p31"/>
          <p:cNvSpPr txBox="1"/>
          <p:nvPr/>
        </p:nvSpPr>
        <p:spPr>
          <a:xfrm>
            <a:off x="4745262" y="3376613"/>
            <a:ext cx="1389062" cy="1006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application</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data </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(payload)</a:t>
            </a:r>
            <a:endParaRPr b="0" i="0" sz="2400" u="none" cap="none" strike="noStrike">
              <a:solidFill>
                <a:srgbClr val="000000"/>
              </a:solidFill>
              <a:latin typeface="Tahoma"/>
              <a:ea typeface="Tahoma"/>
              <a:cs typeface="Tahoma"/>
              <a:sym typeface="Tahoma"/>
            </a:endParaRPr>
          </a:p>
        </p:txBody>
      </p:sp>
      <p:sp>
        <p:nvSpPr>
          <p:cNvPr id="2753" name="Google Shape;2753;p31"/>
          <p:cNvSpPr txBox="1"/>
          <p:nvPr/>
        </p:nvSpPr>
        <p:spPr>
          <a:xfrm>
            <a:off x="4338862" y="5292725"/>
            <a:ext cx="25241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UDP segment format</a:t>
            </a:r>
            <a:endParaRPr b="0" i="0" sz="2400" u="none" cap="none" strike="noStrike">
              <a:solidFill>
                <a:srgbClr val="000000"/>
              </a:solidFill>
              <a:latin typeface="Tahoma"/>
              <a:ea typeface="Tahoma"/>
              <a:cs typeface="Tahoma"/>
              <a:sym typeface="Tahoma"/>
            </a:endParaRPr>
          </a:p>
        </p:txBody>
      </p:sp>
      <p:cxnSp>
        <p:nvCxnSpPr>
          <p:cNvPr id="2754" name="Google Shape;2754;p31"/>
          <p:cNvCxnSpPr/>
          <p:nvPr/>
        </p:nvCxnSpPr>
        <p:spPr>
          <a:xfrm rot="10800000">
            <a:off x="5540599" y="2427288"/>
            <a:ext cx="0" cy="395287"/>
          </a:xfrm>
          <a:prstGeom prst="straightConnector1">
            <a:avLst/>
          </a:prstGeom>
          <a:noFill/>
          <a:ln cap="flat" cmpd="sng" w="19050">
            <a:solidFill>
              <a:srgbClr val="000000"/>
            </a:solidFill>
            <a:prstDash val="solid"/>
            <a:round/>
            <a:headEnd len="med" w="med" type="none"/>
            <a:tailEnd len="med" w="med" type="none"/>
          </a:ln>
        </p:spPr>
      </p:cxnSp>
      <p:sp>
        <p:nvSpPr>
          <p:cNvPr id="2755" name="Google Shape;2755;p31"/>
          <p:cNvSpPr txBox="1"/>
          <p:nvPr/>
        </p:nvSpPr>
        <p:spPr>
          <a:xfrm>
            <a:off x="4284887" y="2420938"/>
            <a:ext cx="814387"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length</a:t>
            </a:r>
            <a:endParaRPr b="0" i="0" sz="2400" u="none" cap="none" strike="noStrike">
              <a:solidFill>
                <a:srgbClr val="000000"/>
              </a:solidFill>
              <a:latin typeface="Tahoma"/>
              <a:ea typeface="Tahoma"/>
              <a:cs typeface="Tahoma"/>
              <a:sym typeface="Tahoma"/>
            </a:endParaRPr>
          </a:p>
        </p:txBody>
      </p:sp>
      <p:sp>
        <p:nvSpPr>
          <p:cNvPr id="2756" name="Google Shape;2756;p31"/>
          <p:cNvSpPr txBox="1"/>
          <p:nvPr/>
        </p:nvSpPr>
        <p:spPr>
          <a:xfrm>
            <a:off x="5831112" y="2411413"/>
            <a:ext cx="1176337"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checksum</a:t>
            </a:r>
            <a:endParaRPr b="0" i="0" sz="2400" u="none" cap="none" strike="noStrike">
              <a:solidFill>
                <a:srgbClr val="000000"/>
              </a:solidFill>
              <a:latin typeface="Tahoma"/>
              <a:ea typeface="Tahoma"/>
              <a:cs typeface="Tahoma"/>
              <a:sym typeface="Tahoma"/>
            </a:endParaRPr>
          </a:p>
        </p:txBody>
      </p:sp>
      <p:sp>
        <p:nvSpPr>
          <p:cNvPr id="2757" name="Google Shape;2757;p31"/>
          <p:cNvSpPr txBox="1"/>
          <p:nvPr/>
        </p:nvSpPr>
        <p:spPr>
          <a:xfrm>
            <a:off x="7623398" y="3421856"/>
            <a:ext cx="2406650" cy="91598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length, in bytes of UDP segment, including header</a:t>
            </a:r>
            <a:endParaRPr b="0" i="0" sz="2400" u="none" cap="none" strike="noStrike">
              <a:solidFill>
                <a:srgbClr val="000000"/>
              </a:solidFill>
              <a:latin typeface="Tahoma"/>
              <a:ea typeface="Tahoma"/>
              <a:cs typeface="Tahoma"/>
              <a:sym typeface="Tahoma"/>
            </a:endParaRPr>
          </a:p>
        </p:txBody>
      </p:sp>
      <p:cxnSp>
        <p:nvCxnSpPr>
          <p:cNvPr id="2758" name="Google Shape;2758;p31"/>
          <p:cNvCxnSpPr/>
          <p:nvPr/>
        </p:nvCxnSpPr>
        <p:spPr>
          <a:xfrm rot="10800000">
            <a:off x="5142136" y="2597149"/>
            <a:ext cx="3113157" cy="1285397"/>
          </a:xfrm>
          <a:prstGeom prst="straightConnector1">
            <a:avLst/>
          </a:prstGeom>
          <a:noFill/>
          <a:ln cap="flat" cmpd="sng" w="19050">
            <a:solidFill>
              <a:srgbClr val="000000"/>
            </a:solidFill>
            <a:prstDash val="solid"/>
            <a:round/>
            <a:headEnd len="med" w="med" type="none"/>
            <a:tailEnd len="med" w="med" type="triangle"/>
          </a:ln>
        </p:spPr>
      </p:cxnSp>
      <p:sp>
        <p:nvSpPr>
          <p:cNvPr id="2759" name="Google Shape;2759;p31"/>
          <p:cNvSpPr/>
          <p:nvPr/>
        </p:nvSpPr>
        <p:spPr>
          <a:xfrm>
            <a:off x="3695142" y="1957213"/>
            <a:ext cx="2097870" cy="534469"/>
          </a:xfrm>
          <a:prstGeom prst="ellipse">
            <a:avLst/>
          </a:prstGeom>
          <a:noFill/>
          <a:ln cap="flat" cmpd="sng" w="3175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60" name="Google Shape;2760;p31"/>
          <p:cNvSpPr/>
          <p:nvPr/>
        </p:nvSpPr>
        <p:spPr>
          <a:xfrm>
            <a:off x="5331049" y="1955208"/>
            <a:ext cx="2097870" cy="534469"/>
          </a:xfrm>
          <a:prstGeom prst="ellipse">
            <a:avLst/>
          </a:prstGeom>
          <a:noFill/>
          <a:ln cap="flat" cmpd="sng" w="3175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61" name="Google Shape;2761;p31"/>
          <p:cNvSpPr/>
          <p:nvPr/>
        </p:nvSpPr>
        <p:spPr>
          <a:xfrm>
            <a:off x="3657042" y="2362801"/>
            <a:ext cx="2097870" cy="534469"/>
          </a:xfrm>
          <a:prstGeom prst="ellipse">
            <a:avLst/>
          </a:prstGeom>
          <a:noFill/>
          <a:ln cap="flat" cmpd="sng" w="3175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62" name="Google Shape;2762;p31"/>
          <p:cNvSpPr/>
          <p:nvPr/>
        </p:nvSpPr>
        <p:spPr>
          <a:xfrm>
            <a:off x="5290176" y="2341229"/>
            <a:ext cx="2097870" cy="534469"/>
          </a:xfrm>
          <a:prstGeom prst="ellipse">
            <a:avLst/>
          </a:prstGeom>
          <a:noFill/>
          <a:ln cap="flat" cmpd="sng" w="3175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63" name="Google Shape;2763;p31"/>
          <p:cNvSpPr/>
          <p:nvPr/>
        </p:nvSpPr>
        <p:spPr>
          <a:xfrm>
            <a:off x="4386800" y="3148706"/>
            <a:ext cx="2097870" cy="1560711"/>
          </a:xfrm>
          <a:prstGeom prst="ellipse">
            <a:avLst/>
          </a:prstGeom>
          <a:noFill/>
          <a:ln cap="flat" cmpd="sng" w="31750">
            <a:solidFill>
              <a:srgbClr val="CD00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764" name="Google Shape;2764;p31"/>
          <p:cNvCxnSpPr/>
          <p:nvPr/>
        </p:nvCxnSpPr>
        <p:spPr>
          <a:xfrm rot="10800000">
            <a:off x="5915202" y="3972404"/>
            <a:ext cx="3113157" cy="1285397"/>
          </a:xfrm>
          <a:prstGeom prst="straightConnector1">
            <a:avLst/>
          </a:prstGeom>
          <a:noFill/>
          <a:ln cap="flat" cmpd="sng" w="19050">
            <a:solidFill>
              <a:srgbClr val="000000"/>
            </a:solidFill>
            <a:prstDash val="solid"/>
            <a:round/>
            <a:headEnd len="med" w="med" type="none"/>
            <a:tailEnd len="med" w="med" type="triangle"/>
          </a:ln>
        </p:spPr>
      </p:cxnSp>
      <p:sp>
        <p:nvSpPr>
          <p:cNvPr id="2765" name="Google Shape;2765;p31"/>
          <p:cNvSpPr txBox="1"/>
          <p:nvPr/>
        </p:nvSpPr>
        <p:spPr>
          <a:xfrm>
            <a:off x="8032927" y="4969559"/>
            <a:ext cx="2406650" cy="64633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data to/from application layer</a:t>
            </a:r>
            <a:endParaRPr b="0" i="0" sz="2400" u="none" cap="none" strike="noStrike">
              <a:solidFill>
                <a:srgbClr val="000000"/>
              </a:solidFill>
              <a:latin typeface="Tahoma"/>
              <a:ea typeface="Tahoma"/>
              <a:cs typeface="Tahoma"/>
              <a:sym typeface="Tahoma"/>
            </a:endParaRPr>
          </a:p>
        </p:txBody>
      </p:sp>
      <p:sp>
        <p:nvSpPr>
          <p:cNvPr id="2766" name="Google Shape;2766;p3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9"/>
                                        </p:tgtEl>
                                        <p:attrNameLst>
                                          <p:attrName>style.visibility</p:attrName>
                                        </p:attrNameLst>
                                      </p:cBhvr>
                                      <p:to>
                                        <p:strVal val="visible"/>
                                      </p:to>
                                    </p:set>
                                    <p:animEffect filter="fade" transition="in">
                                      <p:cBhvr>
                                        <p:cTn dur="500"/>
                                        <p:tgtEl>
                                          <p:spTgt spid="2759"/>
                                        </p:tgtEl>
                                      </p:cBhvr>
                                    </p:animEffect>
                                  </p:childTnLst>
                                </p:cTn>
                              </p:par>
                              <p:par>
                                <p:cTn fill="hold" nodeType="withEffect" presetClass="entr" presetID="10" presetSubtype="0">
                                  <p:stCondLst>
                                    <p:cond delay="0"/>
                                  </p:stCondLst>
                                  <p:childTnLst>
                                    <p:set>
                                      <p:cBhvr>
                                        <p:cTn dur="1" fill="hold">
                                          <p:stCondLst>
                                            <p:cond delay="0"/>
                                          </p:stCondLst>
                                        </p:cTn>
                                        <p:tgtEl>
                                          <p:spTgt spid="2760"/>
                                        </p:tgtEl>
                                        <p:attrNameLst>
                                          <p:attrName>style.visibility</p:attrName>
                                        </p:attrNameLst>
                                      </p:cBhvr>
                                      <p:to>
                                        <p:strVal val="visible"/>
                                      </p:to>
                                    </p:set>
                                    <p:animEffect filter="fade" transition="in">
                                      <p:cBhvr>
                                        <p:cTn dur="500"/>
                                        <p:tgtEl>
                                          <p:spTgt spid="27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1"/>
                                        </p:tgtEl>
                                        <p:attrNameLst>
                                          <p:attrName>style.visibility</p:attrName>
                                        </p:attrNameLst>
                                      </p:cBhvr>
                                      <p:to>
                                        <p:strVal val="visible"/>
                                      </p:to>
                                    </p:set>
                                    <p:animEffect filter="fade" transition="in">
                                      <p:cBhvr>
                                        <p:cTn dur="500"/>
                                        <p:tgtEl>
                                          <p:spTgt spid="2761"/>
                                        </p:tgtEl>
                                      </p:cBhvr>
                                    </p:animEffect>
                                  </p:childTnLst>
                                </p:cTn>
                              </p:par>
                              <p:par>
                                <p:cTn fill="hold" nodeType="withEffect" presetClass="entr" presetID="10" presetSubtype="0">
                                  <p:stCondLst>
                                    <p:cond delay="0"/>
                                  </p:stCondLst>
                                  <p:childTnLst>
                                    <p:set>
                                      <p:cBhvr>
                                        <p:cTn dur="1" fill="hold">
                                          <p:stCondLst>
                                            <p:cond delay="0"/>
                                          </p:stCondLst>
                                        </p:cTn>
                                        <p:tgtEl>
                                          <p:spTgt spid="2758"/>
                                        </p:tgtEl>
                                        <p:attrNameLst>
                                          <p:attrName>style.visibility</p:attrName>
                                        </p:attrNameLst>
                                      </p:cBhvr>
                                      <p:to>
                                        <p:strVal val="visible"/>
                                      </p:to>
                                    </p:set>
                                    <p:animEffect filter="fade" transition="in">
                                      <p:cBhvr>
                                        <p:cTn dur="500"/>
                                        <p:tgtEl>
                                          <p:spTgt spid="2758"/>
                                        </p:tgtEl>
                                      </p:cBhvr>
                                    </p:animEffect>
                                  </p:childTnLst>
                                </p:cTn>
                              </p:par>
                              <p:par>
                                <p:cTn fill="hold" nodeType="withEffect" presetClass="entr" presetID="10" presetSubtype="0">
                                  <p:stCondLst>
                                    <p:cond delay="0"/>
                                  </p:stCondLst>
                                  <p:childTnLst>
                                    <p:set>
                                      <p:cBhvr>
                                        <p:cTn dur="1" fill="hold">
                                          <p:stCondLst>
                                            <p:cond delay="0"/>
                                          </p:stCondLst>
                                        </p:cTn>
                                        <p:tgtEl>
                                          <p:spTgt spid="2757"/>
                                        </p:tgtEl>
                                        <p:attrNameLst>
                                          <p:attrName>style.visibility</p:attrName>
                                        </p:attrNameLst>
                                      </p:cBhvr>
                                      <p:to>
                                        <p:strVal val="visible"/>
                                      </p:to>
                                    </p:set>
                                    <p:animEffect filter="fade" transition="in">
                                      <p:cBhvr>
                                        <p:cTn dur="500"/>
                                        <p:tgtEl>
                                          <p:spTgt spid="27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3"/>
                                        </p:tgtEl>
                                        <p:attrNameLst>
                                          <p:attrName>style.visibility</p:attrName>
                                        </p:attrNameLst>
                                      </p:cBhvr>
                                      <p:to>
                                        <p:strVal val="visible"/>
                                      </p:to>
                                    </p:set>
                                    <p:animEffect filter="fade" transition="in">
                                      <p:cBhvr>
                                        <p:cTn dur="500"/>
                                        <p:tgtEl>
                                          <p:spTgt spid="2763"/>
                                        </p:tgtEl>
                                      </p:cBhvr>
                                    </p:animEffect>
                                  </p:childTnLst>
                                </p:cTn>
                              </p:par>
                              <p:par>
                                <p:cTn fill="hold" nodeType="withEffect" presetClass="entr" presetID="10" presetSubtype="0">
                                  <p:stCondLst>
                                    <p:cond delay="0"/>
                                  </p:stCondLst>
                                  <p:childTnLst>
                                    <p:set>
                                      <p:cBhvr>
                                        <p:cTn dur="1" fill="hold">
                                          <p:stCondLst>
                                            <p:cond delay="0"/>
                                          </p:stCondLst>
                                        </p:cTn>
                                        <p:tgtEl>
                                          <p:spTgt spid="2764"/>
                                        </p:tgtEl>
                                        <p:attrNameLst>
                                          <p:attrName>style.visibility</p:attrName>
                                        </p:attrNameLst>
                                      </p:cBhvr>
                                      <p:to>
                                        <p:strVal val="visible"/>
                                      </p:to>
                                    </p:set>
                                    <p:animEffect filter="fade" transition="in">
                                      <p:cBhvr>
                                        <p:cTn dur="500"/>
                                        <p:tgtEl>
                                          <p:spTgt spid="2764"/>
                                        </p:tgtEl>
                                      </p:cBhvr>
                                    </p:animEffect>
                                  </p:childTnLst>
                                </p:cTn>
                              </p:par>
                              <p:par>
                                <p:cTn fill="hold" nodeType="withEffect" presetClass="entr" presetID="10" presetSubtype="0">
                                  <p:stCondLst>
                                    <p:cond delay="0"/>
                                  </p:stCondLst>
                                  <p:childTnLst>
                                    <p:set>
                                      <p:cBhvr>
                                        <p:cTn dur="1" fill="hold">
                                          <p:stCondLst>
                                            <p:cond delay="0"/>
                                          </p:stCondLst>
                                        </p:cTn>
                                        <p:tgtEl>
                                          <p:spTgt spid="2765"/>
                                        </p:tgtEl>
                                        <p:attrNameLst>
                                          <p:attrName>style.visibility</p:attrName>
                                        </p:attrNameLst>
                                      </p:cBhvr>
                                      <p:to>
                                        <p:strVal val="visible"/>
                                      </p:to>
                                    </p:set>
                                    <p:animEffect filter="fade" transition="in">
                                      <p:cBhvr>
                                        <p:cTn dur="500"/>
                                        <p:tgtEl>
                                          <p:spTgt spid="27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2"/>
                                        </p:tgtEl>
                                        <p:attrNameLst>
                                          <p:attrName>style.visibility</p:attrName>
                                        </p:attrNameLst>
                                      </p:cBhvr>
                                      <p:to>
                                        <p:strVal val="visible"/>
                                      </p:to>
                                    </p:set>
                                    <p:animEffect filter="fade" transition="in">
                                      <p:cBhvr>
                                        <p:cTn dur="500"/>
                                        <p:tgtEl>
                                          <p:spTgt spid="27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1" name="Shape 2771"/>
        <p:cNvGrpSpPr/>
        <p:nvPr/>
      </p:nvGrpSpPr>
      <p:grpSpPr>
        <a:xfrm>
          <a:off x="0" y="0"/>
          <a:ext cx="0" cy="0"/>
          <a:chOff x="0" y="0"/>
          <a:chExt cx="0" cy="0"/>
        </a:xfrm>
      </p:grpSpPr>
      <p:sp>
        <p:nvSpPr>
          <p:cNvPr id="2772" name="Google Shape;2772;p3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checksum</a:t>
            </a:r>
            <a:endParaRPr/>
          </a:p>
        </p:txBody>
      </p:sp>
      <p:sp>
        <p:nvSpPr>
          <p:cNvPr id="2773" name="Google Shape;2773;p32"/>
          <p:cNvSpPr txBox="1"/>
          <p:nvPr/>
        </p:nvSpPr>
        <p:spPr>
          <a:xfrm>
            <a:off x="1270863" y="2652793"/>
            <a:ext cx="10241312" cy="573438"/>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Transmitted:            5               6                11</a:t>
            </a:r>
            <a:endParaRPr/>
          </a:p>
        </p:txBody>
      </p:sp>
      <p:sp>
        <p:nvSpPr>
          <p:cNvPr id="2774" name="Google Shape;2774;p32"/>
          <p:cNvSpPr/>
          <p:nvPr/>
        </p:nvSpPr>
        <p:spPr>
          <a:xfrm>
            <a:off x="798690" y="1371219"/>
            <a:ext cx="11100624" cy="847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080"/>
              <a:buFont typeface="Noto Sans Symbols"/>
              <a:buNone/>
            </a:pPr>
            <a:r>
              <a:rPr b="0" i="1" lang="en-US" sz="3200" u="none" cap="none" strike="noStrike">
                <a:solidFill>
                  <a:srgbClr val="CC0000"/>
                </a:solidFill>
                <a:latin typeface="Calibri"/>
                <a:ea typeface="Calibri"/>
                <a:cs typeface="Calibri"/>
                <a:sym typeface="Calibri"/>
              </a:rPr>
              <a:t>Goal:</a:t>
            </a:r>
            <a:r>
              <a:rPr b="0" i="0" lang="en-US" sz="3200" u="none" cap="none" strike="noStrike">
                <a:solidFill>
                  <a:srgbClr val="000000"/>
                </a:solidFill>
                <a:latin typeface="Calibri"/>
                <a:ea typeface="Calibri"/>
                <a:cs typeface="Calibri"/>
                <a:sym typeface="Calibri"/>
              </a:rPr>
              <a:t> detect errors (</a:t>
            </a:r>
            <a:r>
              <a:rPr b="0" i="1" lang="en-US" sz="3200" u="none" cap="none" strike="noStrike">
                <a:solidFill>
                  <a:srgbClr val="000000"/>
                </a:solidFill>
                <a:latin typeface="Calibri"/>
                <a:ea typeface="Calibri"/>
                <a:cs typeface="Calibri"/>
                <a:sym typeface="Calibri"/>
              </a:rPr>
              <a:t>i.e., </a:t>
            </a:r>
            <a:r>
              <a:rPr b="0" i="0" lang="en-US" sz="3200" u="none" cap="none" strike="noStrike">
                <a:solidFill>
                  <a:srgbClr val="000000"/>
                </a:solidFill>
                <a:latin typeface="Calibri"/>
                <a:ea typeface="Calibri"/>
                <a:cs typeface="Calibri"/>
                <a:sym typeface="Calibri"/>
              </a:rPr>
              <a:t>flipped bits) in transmitted segment</a:t>
            </a:r>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2775" name="Google Shape;2775;p32"/>
          <p:cNvSpPr txBox="1"/>
          <p:nvPr/>
        </p:nvSpPr>
        <p:spPr>
          <a:xfrm>
            <a:off x="1717730" y="4429929"/>
            <a:ext cx="10241312" cy="573438"/>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Received:            4               6                11</a:t>
            </a:r>
            <a:endParaRPr/>
          </a:p>
        </p:txBody>
      </p:sp>
      <p:grpSp>
        <p:nvGrpSpPr>
          <p:cNvPr id="2776" name="Google Shape;2776;p32"/>
          <p:cNvGrpSpPr/>
          <p:nvPr/>
        </p:nvGrpSpPr>
        <p:grpSpPr>
          <a:xfrm>
            <a:off x="3781587" y="2118101"/>
            <a:ext cx="3789990" cy="374499"/>
            <a:chOff x="3781587" y="2118101"/>
            <a:chExt cx="3789990" cy="374499"/>
          </a:xfrm>
        </p:grpSpPr>
        <p:sp>
          <p:nvSpPr>
            <p:cNvPr id="2777" name="Google Shape;2777;p32"/>
            <p:cNvSpPr txBox="1"/>
            <p:nvPr/>
          </p:nvSpPr>
          <p:spPr>
            <a:xfrm>
              <a:off x="3781587" y="2123268"/>
              <a:ext cx="121046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r>
                <a:rPr b="0" baseline="30000" i="0" lang="en-US" sz="1800" u="none" cap="none" strike="noStrike">
                  <a:solidFill>
                    <a:srgbClr val="000000"/>
                  </a:solidFill>
                  <a:latin typeface="Calibri"/>
                  <a:ea typeface="Calibri"/>
                  <a:cs typeface="Calibri"/>
                  <a:sym typeface="Calibri"/>
                </a:rPr>
                <a:t>st</a:t>
              </a:r>
              <a:r>
                <a:rPr b="0" i="0" lang="en-US" sz="1800" u="none" cap="none" strike="noStrike">
                  <a:solidFill>
                    <a:srgbClr val="000000"/>
                  </a:solidFill>
                  <a:latin typeface="Calibri"/>
                  <a:ea typeface="Calibri"/>
                  <a:cs typeface="Calibri"/>
                  <a:sym typeface="Calibri"/>
                </a:rPr>
                <a:t> number</a:t>
              </a:r>
              <a:endParaRPr/>
            </a:p>
          </p:txBody>
        </p:sp>
        <p:sp>
          <p:nvSpPr>
            <p:cNvPr id="2778" name="Google Shape;2778;p32"/>
            <p:cNvSpPr txBox="1"/>
            <p:nvPr/>
          </p:nvSpPr>
          <p:spPr>
            <a:xfrm>
              <a:off x="5173851" y="2120685"/>
              <a:ext cx="126028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r>
                <a:rPr b="0" baseline="30000" i="0" lang="en-US" sz="1800" u="none" cap="none" strike="noStrike">
                  <a:solidFill>
                    <a:srgbClr val="000000"/>
                  </a:solidFill>
                  <a:latin typeface="Calibri"/>
                  <a:ea typeface="Calibri"/>
                  <a:cs typeface="Calibri"/>
                  <a:sym typeface="Calibri"/>
                </a:rPr>
                <a:t>nd</a:t>
              </a:r>
              <a:r>
                <a:rPr b="0" i="0" lang="en-US" sz="1800" u="none" cap="none" strike="noStrike">
                  <a:solidFill>
                    <a:srgbClr val="000000"/>
                  </a:solidFill>
                  <a:latin typeface="Calibri"/>
                  <a:ea typeface="Calibri"/>
                  <a:cs typeface="Calibri"/>
                  <a:sym typeface="Calibri"/>
                </a:rPr>
                <a:t> number</a:t>
              </a:r>
              <a:endParaRPr/>
            </a:p>
          </p:txBody>
        </p:sp>
        <p:sp>
          <p:nvSpPr>
            <p:cNvPr id="2779" name="Google Shape;2779;p32"/>
            <p:cNvSpPr txBox="1"/>
            <p:nvPr/>
          </p:nvSpPr>
          <p:spPr>
            <a:xfrm>
              <a:off x="6938070" y="2118101"/>
              <a:ext cx="63350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sum</a:t>
              </a:r>
              <a:endParaRPr/>
            </a:p>
          </p:txBody>
        </p:sp>
      </p:grpSp>
      <p:sp>
        <p:nvSpPr>
          <p:cNvPr id="2780" name="Google Shape;2780;p32"/>
          <p:cNvSpPr/>
          <p:nvPr/>
        </p:nvSpPr>
        <p:spPr>
          <a:xfrm>
            <a:off x="5269424" y="3316637"/>
            <a:ext cx="1131376" cy="978408"/>
          </a:xfrm>
          <a:prstGeom prst="downArrow">
            <a:avLst>
              <a:gd fmla="val 50000" name="adj1"/>
              <a:gd fmla="val 50000" name="adj2"/>
            </a:avLst>
          </a:prstGeom>
          <a:gradFill>
            <a:gsLst>
              <a:gs pos="0">
                <a:srgbClr val="F5F7FC"/>
              </a:gs>
              <a:gs pos="55000">
                <a:srgbClr val="E47E9F"/>
              </a:gs>
              <a:gs pos="83000">
                <a:srgbClr val="CD0004"/>
              </a:gs>
              <a:gs pos="100000">
                <a:srgbClr val="C00000"/>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781" name="Google Shape;2781;p32"/>
          <p:cNvGrpSpPr/>
          <p:nvPr/>
        </p:nvGrpSpPr>
        <p:grpSpPr>
          <a:xfrm>
            <a:off x="4005390" y="4866468"/>
            <a:ext cx="2218236" cy="1079841"/>
            <a:chOff x="4005390" y="4866468"/>
            <a:chExt cx="2218236" cy="1079841"/>
          </a:xfrm>
        </p:grpSpPr>
        <p:sp>
          <p:nvSpPr>
            <p:cNvPr id="2782" name="Google Shape;2782;p32"/>
            <p:cNvSpPr txBox="1"/>
            <p:nvPr/>
          </p:nvSpPr>
          <p:spPr>
            <a:xfrm>
              <a:off x="4005390" y="5238423"/>
              <a:ext cx="2218236" cy="70788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receiver-computed </a:t>
              </a:r>
              <a:endParaRPr/>
            </a:p>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checksum</a:t>
              </a:r>
              <a:endParaRPr/>
            </a:p>
          </p:txBody>
        </p:sp>
        <p:sp>
          <p:nvSpPr>
            <p:cNvPr id="2783" name="Google Shape;2783;p32"/>
            <p:cNvSpPr/>
            <p:nvPr/>
          </p:nvSpPr>
          <p:spPr>
            <a:xfrm rot="5400000">
              <a:off x="5005953" y="4107051"/>
              <a:ext cx="302449" cy="1821283"/>
            </a:xfrm>
            <a:prstGeom prst="rightBrace">
              <a:avLst>
                <a:gd fmla="val 8333" name="adj1"/>
                <a:gd fmla="val 50000" name="adj2"/>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2784" name="Google Shape;2784;p32"/>
          <p:cNvGrpSpPr/>
          <p:nvPr/>
        </p:nvGrpSpPr>
        <p:grpSpPr>
          <a:xfrm>
            <a:off x="6880470" y="4879385"/>
            <a:ext cx="2604945" cy="1064343"/>
            <a:chOff x="6880470" y="4879385"/>
            <a:chExt cx="2604945" cy="1064343"/>
          </a:xfrm>
        </p:grpSpPr>
        <p:sp>
          <p:nvSpPr>
            <p:cNvPr id="2785" name="Google Shape;2785;p32"/>
            <p:cNvSpPr txBox="1"/>
            <p:nvPr/>
          </p:nvSpPr>
          <p:spPr>
            <a:xfrm>
              <a:off x="6880470" y="5235841"/>
              <a:ext cx="2604945"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sender-computed </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checksum (as received)</a:t>
              </a:r>
              <a:endParaRPr/>
            </a:p>
          </p:txBody>
        </p:sp>
        <p:sp>
          <p:nvSpPr>
            <p:cNvPr id="2786" name="Google Shape;2786;p32"/>
            <p:cNvSpPr/>
            <p:nvPr/>
          </p:nvSpPr>
          <p:spPr>
            <a:xfrm rot="5400000">
              <a:off x="7219627" y="4631412"/>
              <a:ext cx="266054" cy="761999"/>
            </a:xfrm>
            <a:prstGeom prst="rightBrace">
              <a:avLst>
                <a:gd fmla="val 8333" name="adj1"/>
                <a:gd fmla="val 50000" name="adj2"/>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2787" name="Google Shape;2787;p32"/>
          <p:cNvGrpSpPr/>
          <p:nvPr/>
        </p:nvGrpSpPr>
        <p:grpSpPr>
          <a:xfrm>
            <a:off x="6121831" y="5201334"/>
            <a:ext cx="821411" cy="1346699"/>
            <a:chOff x="6121831" y="5201334"/>
            <a:chExt cx="821411" cy="1346699"/>
          </a:xfrm>
        </p:grpSpPr>
        <p:pic>
          <p:nvPicPr>
            <p:cNvPr descr="Image result for error" id="2788" name="Google Shape;2788;p32"/>
            <p:cNvPicPr preferRelativeResize="0"/>
            <p:nvPr/>
          </p:nvPicPr>
          <p:blipFill rotWithShape="1">
            <a:blip r:embed="rId3">
              <a:alphaModFix/>
            </a:blip>
            <a:srcRect b="0" l="0" r="0" t="0"/>
            <a:stretch/>
          </p:blipFill>
          <p:spPr>
            <a:xfrm>
              <a:off x="6121831" y="5782776"/>
              <a:ext cx="821411" cy="765257"/>
            </a:xfrm>
            <a:prstGeom prst="rect">
              <a:avLst/>
            </a:prstGeom>
            <a:noFill/>
            <a:ln>
              <a:noFill/>
            </a:ln>
          </p:spPr>
        </p:pic>
        <p:sp>
          <p:nvSpPr>
            <p:cNvPr id="2789" name="Google Shape;2789;p32"/>
            <p:cNvSpPr txBox="1"/>
            <p:nvPr/>
          </p:nvSpPr>
          <p:spPr>
            <a:xfrm>
              <a:off x="6307811" y="5201334"/>
              <a:ext cx="41389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D0004"/>
                </a:buClr>
                <a:buSzPts val="3600"/>
                <a:buFont typeface="Calibri"/>
                <a:buNone/>
              </a:pPr>
              <a:r>
                <a:rPr b="1" i="0" lang="en-US" sz="3600" u="none" cap="none" strike="noStrike">
                  <a:solidFill>
                    <a:srgbClr val="CD0004"/>
                  </a:solidFill>
                  <a:latin typeface="Calibri"/>
                  <a:ea typeface="Calibri"/>
                  <a:cs typeface="Calibri"/>
                  <a:sym typeface="Calibri"/>
                </a:rPr>
                <a:t>=</a:t>
              </a:r>
              <a:endParaRPr/>
            </a:p>
          </p:txBody>
        </p:sp>
        <p:cxnSp>
          <p:nvCxnSpPr>
            <p:cNvPr id="2790" name="Google Shape;2790;p32"/>
            <p:cNvCxnSpPr/>
            <p:nvPr/>
          </p:nvCxnSpPr>
          <p:spPr>
            <a:xfrm flipH="1">
              <a:off x="6460174" y="5418195"/>
              <a:ext cx="108488" cy="247973"/>
            </a:xfrm>
            <a:prstGeom prst="straightConnector1">
              <a:avLst/>
            </a:prstGeom>
            <a:noFill/>
            <a:ln cap="flat" cmpd="sng" w="31750">
              <a:solidFill>
                <a:srgbClr val="CD0004"/>
              </a:solidFill>
              <a:prstDash val="solid"/>
              <a:miter lim="800000"/>
              <a:headEnd len="sm" w="sm" type="none"/>
              <a:tailEnd len="sm" w="sm" type="none"/>
            </a:ln>
          </p:spPr>
        </p:cxnSp>
      </p:grpSp>
      <p:sp>
        <p:nvSpPr>
          <p:cNvPr id="2791" name="Google Shape;2791;p3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6"/>
                                        </p:tgtEl>
                                        <p:attrNameLst>
                                          <p:attrName>style.visibility</p:attrName>
                                        </p:attrNameLst>
                                      </p:cBhvr>
                                      <p:to>
                                        <p:strVal val="visible"/>
                                      </p:to>
                                    </p:set>
                                    <p:animEffect filter="fade" transition="in">
                                      <p:cBhvr>
                                        <p:cTn dur="500"/>
                                        <p:tgtEl>
                                          <p:spTgt spid="2776"/>
                                        </p:tgtEl>
                                      </p:cBhvr>
                                    </p:animEffect>
                                  </p:childTnLst>
                                </p:cTn>
                              </p:par>
                              <p:par>
                                <p:cTn fill="hold" nodeType="withEffect" presetClass="entr" presetID="10" presetSubtype="0">
                                  <p:stCondLst>
                                    <p:cond delay="0"/>
                                  </p:stCondLst>
                                  <p:childTnLst>
                                    <p:set>
                                      <p:cBhvr>
                                        <p:cTn dur="1" fill="hold">
                                          <p:stCondLst>
                                            <p:cond delay="0"/>
                                          </p:stCondLst>
                                        </p:cTn>
                                        <p:tgtEl>
                                          <p:spTgt spid="2773"/>
                                        </p:tgtEl>
                                        <p:attrNameLst>
                                          <p:attrName>style.visibility</p:attrName>
                                        </p:attrNameLst>
                                      </p:cBhvr>
                                      <p:to>
                                        <p:strVal val="visible"/>
                                      </p:to>
                                    </p:set>
                                    <p:animEffect filter="fade" transition="in">
                                      <p:cBhvr>
                                        <p:cTn dur="500"/>
                                        <p:tgtEl>
                                          <p:spTgt spid="27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0"/>
                                        </p:tgtEl>
                                        <p:attrNameLst>
                                          <p:attrName>style.visibility</p:attrName>
                                        </p:attrNameLst>
                                      </p:cBhvr>
                                      <p:to>
                                        <p:strVal val="visible"/>
                                      </p:to>
                                    </p:set>
                                    <p:animEffect filter="fade" transition="in">
                                      <p:cBhvr>
                                        <p:cTn dur="500"/>
                                        <p:tgtEl>
                                          <p:spTgt spid="278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775"/>
                                        </p:tgtEl>
                                        <p:attrNameLst>
                                          <p:attrName>style.visibility</p:attrName>
                                        </p:attrNameLst>
                                      </p:cBhvr>
                                      <p:to>
                                        <p:strVal val="visible"/>
                                      </p:to>
                                    </p:set>
                                    <p:animEffect filter="fade" transition="in">
                                      <p:cBhvr>
                                        <p:cTn dur="500"/>
                                        <p:tgtEl>
                                          <p:spTgt spid="27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1"/>
                                        </p:tgtEl>
                                        <p:attrNameLst>
                                          <p:attrName>style.visibility</p:attrName>
                                        </p:attrNameLst>
                                      </p:cBhvr>
                                      <p:to>
                                        <p:strVal val="visible"/>
                                      </p:to>
                                    </p:set>
                                    <p:animEffect filter="fade" transition="in">
                                      <p:cBhvr>
                                        <p:cTn dur="1000"/>
                                        <p:tgtEl>
                                          <p:spTgt spid="27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4"/>
                                        </p:tgtEl>
                                        <p:attrNameLst>
                                          <p:attrName>style.visibility</p:attrName>
                                        </p:attrNameLst>
                                      </p:cBhvr>
                                      <p:to>
                                        <p:strVal val="visible"/>
                                      </p:to>
                                    </p:set>
                                    <p:animEffect filter="fade" transition="in">
                                      <p:cBhvr>
                                        <p:cTn dur="1000"/>
                                        <p:tgtEl>
                                          <p:spTgt spid="27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7"/>
                                        </p:tgtEl>
                                        <p:attrNameLst>
                                          <p:attrName>style.visibility</p:attrName>
                                        </p:attrNameLst>
                                      </p:cBhvr>
                                      <p:to>
                                        <p:strVal val="visible"/>
                                      </p:to>
                                    </p:set>
                                    <p:animEffect filter="fade" transition="in">
                                      <p:cBhvr>
                                        <p:cTn dur="1000"/>
                                        <p:tgtEl>
                                          <p:spTgt spid="27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6" name="Shape 2796"/>
        <p:cNvGrpSpPr/>
        <p:nvPr/>
      </p:nvGrpSpPr>
      <p:grpSpPr>
        <a:xfrm>
          <a:off x="0" y="0"/>
          <a:ext cx="0" cy="0"/>
          <a:chOff x="0" y="0"/>
          <a:chExt cx="0" cy="0"/>
        </a:xfrm>
      </p:grpSpPr>
      <p:sp>
        <p:nvSpPr>
          <p:cNvPr id="2797" name="Google Shape;2797;p3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UDP checksum</a:t>
            </a:r>
            <a:endParaRPr/>
          </a:p>
        </p:txBody>
      </p:sp>
      <p:sp>
        <p:nvSpPr>
          <p:cNvPr id="2798" name="Google Shape;2798;p33"/>
          <p:cNvSpPr txBox="1"/>
          <p:nvPr/>
        </p:nvSpPr>
        <p:spPr>
          <a:xfrm>
            <a:off x="990599" y="2218943"/>
            <a:ext cx="4662055" cy="4478069"/>
          </a:xfrm>
          <a:prstGeom prst="rect">
            <a:avLst/>
          </a:prstGeom>
          <a:noFill/>
          <a:ln>
            <a:noFill/>
          </a:ln>
        </p:spPr>
        <p:txBody>
          <a:bodyPr anchorCtr="0" anchor="t" bIns="45700" lIns="91425" spcFirstLastPara="1" rIns="91425" wrap="square" tIns="45700">
            <a:normAutofit/>
          </a:bodyPr>
          <a:lstStyle/>
          <a:p>
            <a:pPr indent="0" lvl="0" marL="12700" marR="0" rtl="0" algn="l">
              <a:lnSpc>
                <a:spcPct val="7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sender:</a:t>
            </a:r>
            <a:endParaRPr/>
          </a:p>
          <a:p>
            <a:pPr indent="-222250" lvl="0" marL="35242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treat contents of UDP segment </a:t>
            </a:r>
            <a:r>
              <a:rPr b="0" i="0" lang="en-US" sz="2400" u="none" cap="none" strike="noStrike">
                <a:solidFill>
                  <a:srgbClr val="000000"/>
                </a:solidFill>
                <a:latin typeface="Calibri"/>
                <a:ea typeface="Calibri"/>
                <a:cs typeface="Calibri"/>
                <a:sym typeface="Calibri"/>
              </a:rPr>
              <a:t>(including UDP header fields and IP addresses) </a:t>
            </a:r>
            <a:r>
              <a:rPr b="0" i="0" lang="en-US" sz="2800" u="none" cap="none" strike="noStrike">
                <a:solidFill>
                  <a:srgbClr val="000000"/>
                </a:solidFill>
                <a:latin typeface="Calibri"/>
                <a:ea typeface="Calibri"/>
                <a:cs typeface="Calibri"/>
                <a:sym typeface="Calibri"/>
              </a:rPr>
              <a:t>as sequence of 16-bit integers</a:t>
            </a:r>
            <a:endParaRPr/>
          </a:p>
          <a:p>
            <a:pPr indent="-222250" lvl="0" marL="35242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C00000"/>
                </a:solidFill>
                <a:latin typeface="Calibri"/>
                <a:ea typeface="Calibri"/>
                <a:cs typeface="Calibri"/>
                <a:sym typeface="Calibri"/>
              </a:rPr>
              <a:t>checksum: </a:t>
            </a:r>
            <a:r>
              <a:rPr b="0" i="0" lang="en-US" sz="2800" u="none" cap="none" strike="noStrike">
                <a:solidFill>
                  <a:srgbClr val="000000"/>
                </a:solidFill>
                <a:latin typeface="Calibri"/>
                <a:ea typeface="Calibri"/>
                <a:cs typeface="Calibri"/>
                <a:sym typeface="Calibri"/>
              </a:rPr>
              <a:t>addition </a:t>
            </a:r>
            <a:r>
              <a:rPr b="0" i="0" lang="en-US" sz="2400" u="none" cap="none" strike="noStrike">
                <a:solidFill>
                  <a:srgbClr val="000000"/>
                </a:solidFill>
                <a:latin typeface="Calibri"/>
                <a:ea typeface="Calibri"/>
                <a:cs typeface="Calibri"/>
                <a:sym typeface="Calibri"/>
              </a:rPr>
              <a:t>(one’s complement sum)</a:t>
            </a:r>
            <a:r>
              <a:rPr b="0" i="0" lang="en-US" sz="2800" u="none" cap="none" strike="noStrike">
                <a:solidFill>
                  <a:srgbClr val="000000"/>
                </a:solidFill>
                <a:latin typeface="Calibri"/>
                <a:ea typeface="Calibri"/>
                <a:cs typeface="Calibri"/>
                <a:sym typeface="Calibri"/>
              </a:rPr>
              <a:t> of segment content</a:t>
            </a:r>
            <a:endParaRPr/>
          </a:p>
          <a:p>
            <a:pPr indent="-222250" lvl="0" marL="35242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chemeClr val="dk1"/>
                </a:solidFill>
                <a:latin typeface="Calibri"/>
                <a:ea typeface="Calibri"/>
                <a:cs typeface="Calibri"/>
                <a:sym typeface="Calibri"/>
              </a:rPr>
              <a:t>sender puts </a:t>
            </a:r>
            <a:r>
              <a:rPr b="0" i="0" lang="en-US" sz="2800" u="none" cap="none" strike="noStrike">
                <a:solidFill>
                  <a:srgbClr val="000000"/>
                </a:solidFill>
                <a:latin typeface="Calibri"/>
                <a:ea typeface="Calibri"/>
                <a:cs typeface="Calibri"/>
                <a:sym typeface="Calibri"/>
              </a:rPr>
              <a:t>checksum value put into UDP checksum field</a:t>
            </a:r>
            <a:endParaRPr/>
          </a:p>
          <a:p>
            <a:pPr indent="-222250" lvl="0" marL="352425" marR="0" rtl="0" algn="l">
              <a:lnSpc>
                <a:spcPct val="7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19050" lvl="0" marL="352425" marR="0" rtl="0" algn="l">
              <a:lnSpc>
                <a:spcPct val="70000"/>
              </a:lnSpc>
              <a:spcBef>
                <a:spcPts val="1000"/>
              </a:spcBef>
              <a:spcAft>
                <a:spcPts val="0"/>
              </a:spcAft>
              <a:buClr>
                <a:srgbClr val="0000A3"/>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2799" name="Google Shape;2799;p33"/>
          <p:cNvSpPr txBox="1"/>
          <p:nvPr/>
        </p:nvSpPr>
        <p:spPr>
          <a:xfrm>
            <a:off x="5767820" y="2132890"/>
            <a:ext cx="5728855" cy="4082476"/>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receiver</a:t>
            </a:r>
            <a:r>
              <a:rPr b="0" i="0" lang="en-US" sz="3500" u="none" cap="none" strike="noStrike">
                <a:solidFill>
                  <a:srgbClr val="CC0000"/>
                </a:solidFill>
                <a:latin typeface="Calibri"/>
                <a:ea typeface="Calibri"/>
                <a:cs typeface="Calibri"/>
                <a:sym typeface="Calibri"/>
              </a:rPr>
              <a: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compute checksum of received segment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check if computed checksum equals checksum field value: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Not equal - error detected</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Equal - no error detected. </a:t>
            </a:r>
            <a:r>
              <a:rPr b="0" i="1" lang="en-US" sz="2400" u="none" cap="none" strike="noStrike">
                <a:solidFill>
                  <a:srgbClr val="000000"/>
                </a:solidFill>
                <a:latin typeface="Calibri"/>
                <a:ea typeface="Calibri"/>
                <a:cs typeface="Calibri"/>
                <a:sym typeface="Calibri"/>
              </a:rPr>
              <a:t>But maybe errors nonetheless?</a:t>
            </a:r>
            <a:r>
              <a:rPr b="0" i="0" lang="en-US" sz="2400" u="none" cap="none" strike="noStrike">
                <a:solidFill>
                  <a:srgbClr val="000000"/>
                </a:solidFill>
                <a:latin typeface="Calibri"/>
                <a:ea typeface="Calibri"/>
                <a:cs typeface="Calibri"/>
                <a:sym typeface="Calibri"/>
              </a:rPr>
              <a:t> More later ….</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2800" name="Google Shape;2800;p33"/>
          <p:cNvSpPr/>
          <p:nvPr/>
        </p:nvSpPr>
        <p:spPr>
          <a:xfrm>
            <a:off x="798690" y="1371219"/>
            <a:ext cx="11100624" cy="847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080"/>
              <a:buFont typeface="Noto Sans Symbols"/>
              <a:buNone/>
            </a:pPr>
            <a:r>
              <a:rPr b="0" i="1" lang="en-US" sz="3200" u="none" cap="none" strike="noStrike">
                <a:solidFill>
                  <a:srgbClr val="CC0000"/>
                </a:solidFill>
                <a:latin typeface="Calibri"/>
                <a:ea typeface="Calibri"/>
                <a:cs typeface="Calibri"/>
                <a:sym typeface="Calibri"/>
              </a:rPr>
              <a:t>Goal:</a:t>
            </a:r>
            <a:r>
              <a:rPr b="0" i="0" lang="en-US" sz="3200" u="none" cap="none" strike="noStrike">
                <a:solidFill>
                  <a:srgbClr val="000000"/>
                </a:solidFill>
                <a:latin typeface="Calibri"/>
                <a:ea typeface="Calibri"/>
                <a:cs typeface="Calibri"/>
                <a:sym typeface="Calibri"/>
              </a:rPr>
              <a:t> detect errors (</a:t>
            </a:r>
            <a:r>
              <a:rPr b="0" i="1" lang="en-US" sz="3200" u="none" cap="none" strike="noStrike">
                <a:solidFill>
                  <a:srgbClr val="000000"/>
                </a:solidFill>
                <a:latin typeface="Calibri"/>
                <a:ea typeface="Calibri"/>
                <a:cs typeface="Calibri"/>
                <a:sym typeface="Calibri"/>
              </a:rPr>
              <a:t>i.e., </a:t>
            </a:r>
            <a:r>
              <a:rPr b="0" i="0" lang="en-US" sz="3200" u="none" cap="none" strike="noStrike">
                <a:solidFill>
                  <a:srgbClr val="000000"/>
                </a:solidFill>
                <a:latin typeface="Calibri"/>
                <a:ea typeface="Calibri"/>
                <a:cs typeface="Calibri"/>
                <a:sym typeface="Calibri"/>
              </a:rPr>
              <a:t>flipped bits) in transmitted segment</a:t>
            </a:r>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2801" name="Google Shape;2801;p3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9"/>
                                        </p:tgtEl>
                                        <p:attrNameLst>
                                          <p:attrName>style.visibility</p:attrName>
                                        </p:attrNameLst>
                                      </p:cBhvr>
                                      <p:to>
                                        <p:strVal val="visible"/>
                                      </p:to>
                                    </p:set>
                                    <p:animEffect filter="fade" transition="in">
                                      <p:cBhvr>
                                        <p:cTn dur="500"/>
                                        <p:tgtEl>
                                          <p:spTgt spid="27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6" name="Shape 2806"/>
        <p:cNvGrpSpPr/>
        <p:nvPr/>
      </p:nvGrpSpPr>
      <p:grpSpPr>
        <a:xfrm>
          <a:off x="0" y="0"/>
          <a:ext cx="0" cy="0"/>
          <a:chOff x="0" y="0"/>
          <a:chExt cx="0" cy="0"/>
        </a:xfrm>
      </p:grpSpPr>
      <p:sp>
        <p:nvSpPr>
          <p:cNvPr id="2807" name="Google Shape;2807;p34"/>
          <p:cNvSpPr txBox="1"/>
          <p:nvPr>
            <p:ph type="title"/>
          </p:nvPr>
        </p:nvSpPr>
        <p:spPr>
          <a:xfrm>
            <a:off x="711200" y="228600"/>
            <a:ext cx="103632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Checksum Calculation</a:t>
            </a:r>
            <a:endParaRPr/>
          </a:p>
        </p:txBody>
      </p:sp>
      <p:graphicFrame>
        <p:nvGraphicFramePr>
          <p:cNvPr id="2808" name="Google Shape;2808;p34"/>
          <p:cNvGraphicFramePr/>
          <p:nvPr/>
        </p:nvGraphicFramePr>
        <p:xfrm>
          <a:off x="2057400" y="1666875"/>
          <a:ext cx="3000000" cy="3000000"/>
        </p:xfrm>
        <a:graphic>
          <a:graphicData uri="http://schemas.openxmlformats.org/drawingml/2006/table">
            <a:tbl>
              <a:tblPr bandRow="1" firstRow="1">
                <a:noFill/>
                <a:tableStyleId>{6A801659-9FE2-4FBA-BB42-B8B3FDABCD59}</a:tableStyleId>
              </a:tblPr>
              <a:tblGrid>
                <a:gridCol w="1676400"/>
                <a:gridCol w="1676400"/>
              </a:tblGrid>
              <a:tr h="560600">
                <a:tc>
                  <a:txBody>
                    <a:bodyPr/>
                    <a:lstStyle/>
                    <a:p>
                      <a:pPr indent="0" lvl="0" marL="0" marR="0" rtl="0" algn="ctr">
                        <a:spcBef>
                          <a:spcPts val="0"/>
                        </a:spcBef>
                        <a:spcAft>
                          <a:spcPts val="0"/>
                        </a:spcAft>
                        <a:buNone/>
                      </a:pPr>
                      <a:r>
                        <a:rPr lang="en-US" sz="1700" u="none" cap="none" strike="noStrike">
                          <a:solidFill>
                            <a:schemeClr val="lt1"/>
                          </a:solidFill>
                        </a:rPr>
                        <a:t>1087</a:t>
                      </a:r>
                      <a:endParaRPr/>
                    </a:p>
                  </a:txBody>
                  <a:tcPr marT="42975" marB="42975" marR="85925" marL="85925"/>
                </a:tc>
                <a:tc>
                  <a:txBody>
                    <a:bodyPr/>
                    <a:lstStyle/>
                    <a:p>
                      <a:pPr indent="0" lvl="0" marL="0" marR="0" rtl="0" algn="ctr">
                        <a:spcBef>
                          <a:spcPts val="0"/>
                        </a:spcBef>
                        <a:spcAft>
                          <a:spcPts val="0"/>
                        </a:spcAft>
                        <a:buNone/>
                      </a:pPr>
                      <a:r>
                        <a:rPr lang="en-US" sz="1700" u="none" cap="none" strike="noStrike"/>
                        <a:t>13</a:t>
                      </a:r>
                      <a:endParaRPr/>
                    </a:p>
                  </a:txBody>
                  <a:tcPr marT="42975" marB="42975" marR="85925" marL="85925"/>
                </a:tc>
              </a:tr>
              <a:tr h="560600">
                <a:tc>
                  <a:txBody>
                    <a:bodyPr/>
                    <a:lstStyle/>
                    <a:p>
                      <a:pPr indent="0" lvl="0" marL="0" marR="0" rtl="0" algn="ctr">
                        <a:spcBef>
                          <a:spcPts val="0"/>
                        </a:spcBef>
                        <a:spcAft>
                          <a:spcPts val="0"/>
                        </a:spcAft>
                        <a:buNone/>
                      </a:pPr>
                      <a:r>
                        <a:rPr b="1" lang="en-US" sz="1700" u="none" cap="none" strike="noStrike">
                          <a:solidFill>
                            <a:schemeClr val="lt1"/>
                          </a:solidFill>
                        </a:rPr>
                        <a:t>15</a:t>
                      </a:r>
                      <a:endParaRPr/>
                    </a:p>
                  </a:txBody>
                  <a:tcPr marT="42975" marB="42975" marR="85925" marL="85925"/>
                </a:tc>
                <a:tc>
                  <a:txBody>
                    <a:bodyPr/>
                    <a:lstStyle/>
                    <a:p>
                      <a:pPr indent="0" lvl="0" marL="0" marR="0" rtl="0" algn="ctr">
                        <a:spcBef>
                          <a:spcPts val="0"/>
                        </a:spcBef>
                        <a:spcAft>
                          <a:spcPts val="0"/>
                        </a:spcAft>
                        <a:buNone/>
                      </a:pPr>
                      <a:r>
                        <a:rPr lang="en-US" sz="1600" u="none" cap="none" strike="noStrike"/>
                        <a:t>FBA4</a:t>
                      </a:r>
                      <a:r>
                        <a:rPr lang="en-US" sz="1200" u="none" cap="none" strike="noStrike"/>
                        <a:t>H</a:t>
                      </a:r>
                      <a:endParaRPr sz="1700" u="none" cap="none" strike="noStrike"/>
                    </a:p>
                  </a:txBody>
                  <a:tcPr marT="42975" marB="42975" marR="85925" marL="85925"/>
                </a:tc>
              </a:tr>
              <a:tr h="604400">
                <a:tc gridSpan="2">
                  <a:txBody>
                    <a:bodyPr/>
                    <a:lstStyle/>
                    <a:p>
                      <a:pPr indent="0" lvl="0" marL="0" marR="0" rtl="0" algn="ctr">
                        <a:spcBef>
                          <a:spcPts val="0"/>
                        </a:spcBef>
                        <a:spcAft>
                          <a:spcPts val="0"/>
                        </a:spcAft>
                        <a:buNone/>
                      </a:pPr>
                      <a:r>
                        <a:rPr lang="en-US" sz="1700" u="none" cap="none" strike="noStrike"/>
                        <a:t>Application Data</a:t>
                      </a:r>
                      <a:br>
                        <a:rPr lang="en-US" sz="1700" u="none" cap="none" strike="noStrike"/>
                      </a:br>
                      <a:r>
                        <a:rPr lang="en-US" sz="1700" u="none" cap="none" strike="noStrike"/>
                        <a:t>(Payload)</a:t>
                      </a:r>
                      <a:endParaRPr/>
                    </a:p>
                  </a:txBody>
                  <a:tcPr marT="42975" marB="42975" marR="85925" marL="85925"/>
                </a:tc>
                <a:tc hMerge="1"/>
              </a:tr>
            </a:tbl>
          </a:graphicData>
        </a:graphic>
      </p:graphicFrame>
      <p:graphicFrame>
        <p:nvGraphicFramePr>
          <p:cNvPr id="2809" name="Google Shape;2809;p34"/>
          <p:cNvGraphicFramePr/>
          <p:nvPr/>
        </p:nvGraphicFramePr>
        <p:xfrm>
          <a:off x="2128838" y="4119563"/>
          <a:ext cx="3000000" cy="3000000"/>
        </p:xfrm>
        <a:graphic>
          <a:graphicData uri="http://schemas.openxmlformats.org/drawingml/2006/table">
            <a:tbl>
              <a:tblPr bandRow="1" firstRow="1">
                <a:noFill/>
                <a:tableStyleId>{6A801659-9FE2-4FBA-BB42-B8B3FDABCD59}</a:tableStyleId>
              </a:tblPr>
              <a:tblGrid>
                <a:gridCol w="1676400"/>
                <a:gridCol w="1676400"/>
              </a:tblGrid>
              <a:tr h="560000">
                <a:tc>
                  <a:txBody>
                    <a:bodyPr/>
                    <a:lstStyle/>
                    <a:p>
                      <a:pPr indent="0" lvl="0" marL="0" marR="0" rtl="0" algn="ctr">
                        <a:spcBef>
                          <a:spcPts val="0"/>
                        </a:spcBef>
                        <a:spcAft>
                          <a:spcPts val="0"/>
                        </a:spcAft>
                        <a:buNone/>
                      </a:pPr>
                      <a:r>
                        <a:rPr b="1" lang="en-US" sz="1700" u="none" cap="none" strike="noStrike">
                          <a:solidFill>
                            <a:schemeClr val="lt1"/>
                          </a:solidFill>
                        </a:rPr>
                        <a:t>1087</a:t>
                      </a:r>
                      <a:endParaRPr/>
                    </a:p>
                  </a:txBody>
                  <a:tcPr marT="42925" marB="42925" marR="85925" marL="85925">
                    <a:solidFill>
                      <a:srgbClr val="7676DE"/>
                    </a:solidFill>
                  </a:tcPr>
                </a:tc>
                <a:tc>
                  <a:txBody>
                    <a:bodyPr/>
                    <a:lstStyle/>
                    <a:p>
                      <a:pPr indent="0" lvl="0" marL="0" marR="0" rtl="0" algn="ctr">
                        <a:spcBef>
                          <a:spcPts val="0"/>
                        </a:spcBef>
                        <a:spcAft>
                          <a:spcPts val="0"/>
                        </a:spcAft>
                        <a:buNone/>
                      </a:pPr>
                      <a:r>
                        <a:rPr b="1" lang="en-US" sz="1700" u="none" cap="none" strike="noStrike">
                          <a:solidFill>
                            <a:schemeClr val="lt1"/>
                          </a:solidFill>
                        </a:rPr>
                        <a:t>13</a:t>
                      </a:r>
                      <a:endParaRPr/>
                    </a:p>
                  </a:txBody>
                  <a:tcPr marT="42925" marB="42925" marR="85925" marL="85925">
                    <a:solidFill>
                      <a:srgbClr val="7676DE"/>
                    </a:solidFill>
                  </a:tcPr>
                </a:tc>
              </a:tr>
              <a:tr h="560000">
                <a:tc>
                  <a:txBody>
                    <a:bodyPr/>
                    <a:lstStyle/>
                    <a:p>
                      <a:pPr indent="0" lvl="0" marL="0" marR="0" rtl="0" algn="ctr">
                        <a:spcBef>
                          <a:spcPts val="0"/>
                        </a:spcBef>
                        <a:spcAft>
                          <a:spcPts val="0"/>
                        </a:spcAft>
                        <a:buNone/>
                      </a:pPr>
                      <a:r>
                        <a:rPr b="1" lang="en-US" sz="1700" u="none" cap="none" strike="noStrike">
                          <a:solidFill>
                            <a:schemeClr val="lt1"/>
                          </a:solidFill>
                        </a:rPr>
                        <a:t>15</a:t>
                      </a:r>
                      <a:endParaRPr/>
                    </a:p>
                  </a:txBody>
                  <a:tcPr marT="42925" marB="42925" marR="85925" marL="85925">
                    <a:solidFill>
                      <a:srgbClr val="A3A3E9"/>
                    </a:solidFill>
                  </a:tcPr>
                </a:tc>
                <a:tc>
                  <a:txBody>
                    <a:bodyPr/>
                    <a:lstStyle/>
                    <a:p>
                      <a:pPr indent="0" lvl="0" marL="0" marR="0" rtl="0" algn="ctr">
                        <a:spcBef>
                          <a:spcPts val="0"/>
                        </a:spcBef>
                        <a:spcAft>
                          <a:spcPts val="0"/>
                        </a:spcAft>
                        <a:buNone/>
                      </a:pPr>
                      <a:r>
                        <a:rPr b="1" lang="en-US" sz="1700" u="none" cap="none" strike="noStrike">
                          <a:solidFill>
                            <a:schemeClr val="lt1"/>
                          </a:solidFill>
                        </a:rPr>
                        <a:t>FBA4</a:t>
                      </a:r>
                      <a:r>
                        <a:rPr b="1" lang="en-US" sz="1100" u="none" cap="none" strike="noStrike">
                          <a:solidFill>
                            <a:schemeClr val="lt1"/>
                          </a:solidFill>
                        </a:rPr>
                        <a:t>H</a:t>
                      </a:r>
                      <a:endParaRPr/>
                    </a:p>
                  </a:txBody>
                  <a:tcPr marT="42925" marB="42925" marR="85925" marL="85925">
                    <a:solidFill>
                      <a:srgbClr val="A3A3E9"/>
                    </a:solidFill>
                  </a:tcPr>
                </a:tc>
              </a:tr>
              <a:tr h="604025">
                <a:tc gridSpan="2">
                  <a:txBody>
                    <a:bodyPr/>
                    <a:lstStyle/>
                    <a:p>
                      <a:pPr indent="0" lvl="0" marL="0" marR="0" rtl="0" algn="ctr">
                        <a:spcBef>
                          <a:spcPts val="0"/>
                        </a:spcBef>
                        <a:spcAft>
                          <a:spcPts val="0"/>
                        </a:spcAft>
                        <a:buNone/>
                      </a:pPr>
                      <a:r>
                        <a:rPr lang="en-US" sz="1700" u="none" cap="none" strike="noStrike">
                          <a:solidFill>
                            <a:schemeClr val="dk1"/>
                          </a:solidFill>
                        </a:rPr>
                        <a:t>Application Data</a:t>
                      </a:r>
                      <a:br>
                        <a:rPr lang="en-US" sz="1700" u="none" cap="none" strike="noStrike">
                          <a:solidFill>
                            <a:schemeClr val="dk1"/>
                          </a:solidFill>
                        </a:rPr>
                      </a:br>
                      <a:r>
                        <a:rPr lang="en-US" sz="1700" u="none" cap="none" strike="noStrike">
                          <a:solidFill>
                            <a:schemeClr val="dk1"/>
                          </a:solidFill>
                        </a:rPr>
                        <a:t>(Payload)</a:t>
                      </a:r>
                      <a:endParaRPr/>
                    </a:p>
                  </a:txBody>
                  <a:tcPr marT="42925" marB="42925" marR="85925" marL="85925">
                    <a:solidFill>
                      <a:srgbClr val="D0D0F4"/>
                    </a:solidFill>
                  </a:tcPr>
                </a:tc>
                <a:tc hMerge="1"/>
              </a:tr>
            </a:tbl>
          </a:graphicData>
        </a:graphic>
      </p:graphicFrame>
      <p:pic>
        <p:nvPicPr>
          <p:cNvPr id="2810" name="Google Shape;2810;p34"/>
          <p:cNvPicPr preferRelativeResize="0"/>
          <p:nvPr/>
        </p:nvPicPr>
        <p:blipFill rotWithShape="1">
          <a:blip r:embed="rId3">
            <a:alphaModFix/>
          </a:blip>
          <a:srcRect b="48178" l="0" r="0" t="34506"/>
          <a:stretch/>
        </p:blipFill>
        <p:spPr>
          <a:xfrm>
            <a:off x="5907089" y="1720851"/>
            <a:ext cx="4067175" cy="658813"/>
          </a:xfrm>
          <a:prstGeom prst="rect">
            <a:avLst/>
          </a:prstGeom>
          <a:noFill/>
          <a:ln>
            <a:noFill/>
          </a:ln>
        </p:spPr>
      </p:pic>
      <p:sp>
        <p:nvSpPr>
          <p:cNvPr id="2811" name="Google Shape;2811;p34"/>
          <p:cNvSpPr txBox="1"/>
          <p:nvPr/>
        </p:nvSpPr>
        <p:spPr>
          <a:xfrm>
            <a:off x="5907089" y="2514601"/>
            <a:ext cx="4067175" cy="1323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Tahoma"/>
                <a:ea typeface="Tahoma"/>
                <a:cs typeface="Tahoma"/>
                <a:sym typeface="Tahoma"/>
              </a:rPr>
              <a:t>0000 0100 0101 1011      🡪 SUM</a:t>
            </a:r>
            <a:br>
              <a:rPr b="0" i="0" lang="en-US" sz="1600" u="none" cap="none" strike="noStrike">
                <a:solidFill>
                  <a:srgbClr val="000000"/>
                </a:solidFill>
                <a:latin typeface="Tahoma"/>
                <a:ea typeface="Tahoma"/>
                <a:cs typeface="Tahoma"/>
                <a:sym typeface="Tahoma"/>
              </a:rPr>
            </a:br>
            <a:endParaRPr b="0" i="0" sz="1600" u="none" cap="none" strike="noStrike">
              <a:solidFill>
                <a:srgbClr val="000000"/>
              </a:solidFill>
              <a:latin typeface="Tahoma"/>
              <a:ea typeface="Tahoma"/>
              <a:cs typeface="Tahoma"/>
              <a:sym typeface="Tahoma"/>
            </a:endParaRPr>
          </a:p>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Tahoma"/>
                <a:ea typeface="Tahoma"/>
                <a:cs typeface="Tahoma"/>
                <a:sym typeface="Tahoma"/>
              </a:rPr>
              <a:t>1</a:t>
            </a:r>
            <a:r>
              <a:rPr b="0" baseline="30000" i="0" lang="en-US" sz="1600" u="none" cap="none" strike="noStrike">
                <a:solidFill>
                  <a:srgbClr val="000000"/>
                </a:solidFill>
                <a:latin typeface="Tahoma"/>
                <a:ea typeface="Tahoma"/>
                <a:cs typeface="Tahoma"/>
                <a:sym typeface="Tahoma"/>
              </a:rPr>
              <a:t>st</a:t>
            </a:r>
            <a:r>
              <a:rPr b="0" i="0" lang="en-US" sz="1600" u="none" cap="none" strike="noStrike">
                <a:solidFill>
                  <a:srgbClr val="000000"/>
                </a:solidFill>
                <a:latin typeface="Tahoma"/>
                <a:ea typeface="Tahoma"/>
                <a:cs typeface="Tahoma"/>
                <a:sym typeface="Tahoma"/>
              </a:rPr>
              <a:t> compliment:</a:t>
            </a:r>
            <a:endParaRPr/>
          </a:p>
          <a:p>
            <a:pPr indent="0" lvl="0" marL="0" marR="0" rtl="0" algn="l">
              <a:lnSpc>
                <a:spcPct val="100000"/>
              </a:lnSpc>
              <a:spcBef>
                <a:spcPts val="0"/>
              </a:spcBef>
              <a:spcAft>
                <a:spcPts val="0"/>
              </a:spcAft>
              <a:buClr>
                <a:srgbClr val="000000"/>
              </a:buClr>
              <a:buSzPts val="1600"/>
              <a:buFont typeface="Noto Sans Symbols"/>
              <a:buNone/>
            </a:pPr>
            <a:r>
              <a:rPr b="1" i="0" lang="en-US" sz="1600" u="none" cap="none" strike="noStrike">
                <a:solidFill>
                  <a:srgbClr val="000000"/>
                </a:solidFill>
                <a:latin typeface="Tahoma"/>
                <a:ea typeface="Tahoma"/>
                <a:cs typeface="Tahoma"/>
                <a:sym typeface="Tahoma"/>
              </a:rPr>
              <a:t>1111 1011 1010 0100 </a:t>
            </a:r>
            <a:r>
              <a:rPr b="0" i="0" lang="en-US" sz="1600" u="none" cap="none" strike="noStrike">
                <a:solidFill>
                  <a:srgbClr val="000000"/>
                </a:solidFill>
                <a:latin typeface="Tahoma"/>
                <a:ea typeface="Tahoma"/>
                <a:cs typeface="Tahoma"/>
                <a:sym typeface="Tahoma"/>
              </a:rPr>
              <a:t>🡪 CHECKSUM</a:t>
            </a:r>
            <a:br>
              <a:rPr b="0" i="0" lang="en-US" sz="1600" u="none" cap="none" strike="noStrike">
                <a:solidFill>
                  <a:srgbClr val="000000"/>
                </a:solidFill>
                <a:latin typeface="Tahoma"/>
                <a:ea typeface="Tahoma"/>
                <a:cs typeface="Tahoma"/>
                <a:sym typeface="Tahoma"/>
              </a:rPr>
            </a:br>
            <a:r>
              <a:rPr b="0" i="0" lang="en-US" sz="1600" u="none" cap="none" strike="noStrike">
                <a:solidFill>
                  <a:srgbClr val="000000"/>
                </a:solidFill>
                <a:latin typeface="Tahoma"/>
                <a:ea typeface="Tahoma"/>
                <a:cs typeface="Tahoma"/>
                <a:sym typeface="Tahoma"/>
              </a:rPr>
              <a:t>= FBA4</a:t>
            </a:r>
            <a:r>
              <a:rPr b="0" i="0" lang="en-US" sz="1100" u="none" cap="none" strike="noStrike">
                <a:solidFill>
                  <a:srgbClr val="000000"/>
                </a:solidFill>
                <a:latin typeface="Tahoma"/>
                <a:ea typeface="Tahoma"/>
                <a:cs typeface="Tahoma"/>
                <a:sym typeface="Tahoma"/>
              </a:rPr>
              <a:t>H</a:t>
            </a:r>
            <a:endParaRPr b="0" i="0" sz="1600" u="none" cap="none" strike="noStrike">
              <a:solidFill>
                <a:srgbClr val="000000"/>
              </a:solidFill>
              <a:latin typeface="Tahoma"/>
              <a:ea typeface="Tahoma"/>
              <a:cs typeface="Tahoma"/>
              <a:sym typeface="Tahoma"/>
            </a:endParaRPr>
          </a:p>
        </p:txBody>
      </p:sp>
      <p:sp>
        <p:nvSpPr>
          <p:cNvPr id="2812" name="Google Shape;2812;p34"/>
          <p:cNvSpPr txBox="1"/>
          <p:nvPr/>
        </p:nvSpPr>
        <p:spPr>
          <a:xfrm>
            <a:off x="6059488" y="4173539"/>
            <a:ext cx="4367212" cy="17541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Noto Sans Symbols"/>
              <a:buNone/>
            </a:pPr>
            <a:r>
              <a:rPr b="0" i="0" lang="en-US" sz="1800" u="none" cap="none" strike="noStrike">
                <a:solidFill>
                  <a:srgbClr val="000000"/>
                </a:solidFill>
                <a:latin typeface="Tahoma"/>
                <a:ea typeface="Tahoma"/>
                <a:cs typeface="Tahoma"/>
                <a:sym typeface="Tahoma"/>
              </a:rPr>
              <a:t>   0000 0100 0011 1111 🡪 Source Port</a:t>
            </a:r>
            <a:br>
              <a:rPr b="0" i="0" lang="en-US" sz="1800" u="none" cap="none" strike="noStrike">
                <a:solidFill>
                  <a:srgbClr val="000000"/>
                </a:solidFill>
                <a:latin typeface="Tahoma"/>
                <a:ea typeface="Tahoma"/>
                <a:cs typeface="Tahoma"/>
                <a:sym typeface="Tahoma"/>
              </a:rPr>
            </a:br>
            <a:r>
              <a:rPr b="0" i="0" lang="en-US" sz="1800" u="none" cap="none" strike="noStrike">
                <a:solidFill>
                  <a:srgbClr val="000000"/>
                </a:solidFill>
                <a:latin typeface="Tahoma"/>
                <a:ea typeface="Tahoma"/>
                <a:cs typeface="Tahoma"/>
                <a:sym typeface="Tahoma"/>
              </a:rPr>
              <a:t>+ 0000 0000 0000 1101 🡪    Dest  Port</a:t>
            </a:r>
            <a:br>
              <a:rPr b="0" i="0" lang="en-US" sz="1800" u="none" cap="none" strike="noStrike">
                <a:solidFill>
                  <a:srgbClr val="000000"/>
                </a:solidFill>
                <a:latin typeface="Tahoma"/>
                <a:ea typeface="Tahoma"/>
                <a:cs typeface="Tahoma"/>
                <a:sym typeface="Tahoma"/>
              </a:rPr>
            </a:br>
            <a:r>
              <a:rPr b="0" i="0" lang="en-US" sz="1800" u="none" cap="none" strike="noStrike">
                <a:solidFill>
                  <a:srgbClr val="000000"/>
                </a:solidFill>
                <a:latin typeface="Tahoma"/>
                <a:ea typeface="Tahoma"/>
                <a:cs typeface="Tahoma"/>
                <a:sym typeface="Tahoma"/>
              </a:rPr>
              <a:t>+ 0000 0000 0000 1111 🡪         Length</a:t>
            </a:r>
            <a:endParaRPr b="0" i="0" sz="1800" u="none" cap="none" strike="noStrike">
              <a:solidFill>
                <a:srgbClr val="000000"/>
              </a:solidFill>
              <a:latin typeface="Tahoma"/>
              <a:ea typeface="Tahoma"/>
              <a:cs typeface="Tahoma"/>
              <a:sym typeface="Tahoma"/>
            </a:endParaRPr>
          </a:p>
          <a:p>
            <a:pPr indent="0" lvl="0" marL="0" marR="0" rtl="0" algn="ctr">
              <a:lnSpc>
                <a:spcPct val="100000"/>
              </a:lnSpc>
              <a:spcBef>
                <a:spcPts val="0"/>
              </a:spcBef>
              <a:spcAft>
                <a:spcPts val="0"/>
              </a:spcAft>
              <a:buClr>
                <a:srgbClr val="000000"/>
              </a:buClr>
              <a:buSzPts val="1800"/>
              <a:buFont typeface="Noto Sans Symbols"/>
              <a:buNone/>
            </a:pPr>
            <a:r>
              <a:rPr b="0" i="0" lang="en-US" sz="1800" u="sng" cap="none" strike="noStrike">
                <a:solidFill>
                  <a:srgbClr val="000000"/>
                </a:solidFill>
                <a:latin typeface="Tahoma"/>
                <a:ea typeface="Tahoma"/>
                <a:cs typeface="Tahoma"/>
                <a:sym typeface="Tahoma"/>
              </a:rPr>
              <a:t>+ 1111 1011 1010 0100 </a:t>
            </a:r>
            <a:r>
              <a:rPr b="0" i="0" lang="en-US" sz="1800" u="none" cap="none" strike="noStrike">
                <a:solidFill>
                  <a:srgbClr val="000000"/>
                </a:solidFill>
                <a:latin typeface="Tahoma"/>
                <a:ea typeface="Tahoma"/>
                <a:cs typeface="Tahoma"/>
                <a:sym typeface="Tahoma"/>
              </a:rPr>
              <a:t>🡪    Checksum</a:t>
            </a:r>
            <a:br>
              <a:rPr b="0" i="0" lang="en-US" sz="1800" u="none" cap="none" strike="noStrike">
                <a:solidFill>
                  <a:srgbClr val="000000"/>
                </a:solidFill>
                <a:latin typeface="Tahoma"/>
                <a:ea typeface="Tahoma"/>
                <a:cs typeface="Tahoma"/>
                <a:sym typeface="Tahoma"/>
              </a:rPr>
            </a:br>
            <a:r>
              <a:rPr b="1" i="0" lang="en-US" sz="1800" u="sng" cap="none" strike="noStrike">
                <a:solidFill>
                  <a:srgbClr val="000000"/>
                </a:solidFill>
                <a:latin typeface="Tahoma"/>
                <a:ea typeface="Tahoma"/>
                <a:cs typeface="Tahoma"/>
                <a:sym typeface="Tahoma"/>
              </a:rPr>
              <a:t>1111 1111 1111 1111 </a:t>
            </a:r>
            <a:r>
              <a:rPr b="1" i="0" lang="en-US" sz="1800" u="none" cap="none" strike="noStrike">
                <a:solidFill>
                  <a:srgbClr val="000000"/>
                </a:solidFill>
                <a:latin typeface="Tahoma"/>
                <a:ea typeface="Tahoma"/>
                <a:cs typeface="Tahoma"/>
                <a:sym typeface="Tahoma"/>
              </a:rPr>
              <a:t>     All 1’s</a:t>
            </a:r>
            <a:br>
              <a:rPr b="1" i="0" lang="en-US" sz="1800" u="none" cap="none" strike="noStrike">
                <a:solidFill>
                  <a:srgbClr val="000000"/>
                </a:solidFill>
                <a:latin typeface="Tahoma"/>
                <a:ea typeface="Tahoma"/>
                <a:cs typeface="Tahoma"/>
                <a:sym typeface="Tahoma"/>
              </a:rPr>
            </a:br>
            <a:r>
              <a:rPr b="1" i="0" lang="en-US" sz="1800" u="none" cap="none" strike="noStrike">
                <a:solidFill>
                  <a:srgbClr val="000000"/>
                </a:solidFill>
                <a:latin typeface="Tahoma"/>
                <a:ea typeface="Tahoma"/>
                <a:cs typeface="Tahoma"/>
                <a:sym typeface="Tahoma"/>
              </a:rPr>
              <a:t>            No Error</a:t>
            </a:r>
            <a:endParaRPr b="1" i="0" sz="1800" u="sng" cap="none" strike="noStrike">
              <a:solidFill>
                <a:srgbClr val="000000"/>
              </a:solidFill>
              <a:latin typeface="Tahoma"/>
              <a:ea typeface="Tahoma"/>
              <a:cs typeface="Tahoma"/>
              <a:sym typeface="Tahoma"/>
            </a:endParaRPr>
          </a:p>
        </p:txBody>
      </p:sp>
      <p:cxnSp>
        <p:nvCxnSpPr>
          <p:cNvPr id="2813" name="Google Shape;2813;p34"/>
          <p:cNvCxnSpPr/>
          <p:nvPr/>
        </p:nvCxnSpPr>
        <p:spPr>
          <a:xfrm rot="10800000">
            <a:off x="5132388" y="2530475"/>
            <a:ext cx="927100" cy="1117600"/>
          </a:xfrm>
          <a:prstGeom prst="straightConnector1">
            <a:avLst/>
          </a:prstGeom>
          <a:noFill/>
          <a:ln cap="flat" cmpd="sng" w="9525">
            <a:solidFill>
              <a:schemeClr val="dk1"/>
            </a:solidFill>
            <a:prstDash val="solid"/>
            <a:round/>
            <a:headEnd len="med" w="med" type="none"/>
            <a:tailEnd len="med" w="med" type="stealth"/>
          </a:ln>
        </p:spPr>
      </p:cxnSp>
      <p:sp>
        <p:nvSpPr>
          <p:cNvPr id="2814" name="Google Shape;2814;p34"/>
          <p:cNvSpPr txBox="1"/>
          <p:nvPr/>
        </p:nvSpPr>
        <p:spPr>
          <a:xfrm>
            <a:off x="2170113" y="1250950"/>
            <a:ext cx="2849562" cy="3381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Tahoma"/>
                <a:ea typeface="Tahoma"/>
                <a:cs typeface="Tahoma"/>
                <a:sym typeface="Tahoma"/>
              </a:rPr>
              <a:t>At the sender: </a:t>
            </a:r>
            <a:endParaRPr/>
          </a:p>
        </p:txBody>
      </p:sp>
      <p:sp>
        <p:nvSpPr>
          <p:cNvPr id="2815" name="Google Shape;2815;p34"/>
          <p:cNvSpPr txBox="1"/>
          <p:nvPr/>
        </p:nvSpPr>
        <p:spPr>
          <a:xfrm>
            <a:off x="2143126" y="3648076"/>
            <a:ext cx="2849563"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Tahoma"/>
                <a:ea typeface="Tahoma"/>
                <a:cs typeface="Tahoma"/>
                <a:sym typeface="Tahoma"/>
              </a:rPr>
              <a:t>At the receiver: </a:t>
            </a:r>
            <a:endParaRPr/>
          </a:p>
        </p:txBody>
      </p:sp>
      <p:sp>
        <p:nvSpPr>
          <p:cNvPr id="2816" name="Google Shape;2816;p34"/>
          <p:cNvSpPr txBox="1"/>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0" i="0" lang="en-US" sz="1100" u="none" cap="none" strike="noStrike">
                <a:solidFill>
                  <a:srgbClr val="7F7F7F"/>
                </a:solidFill>
                <a:latin typeface="Calibri"/>
                <a:ea typeface="Calibri"/>
                <a:cs typeface="Calibri"/>
                <a:sym typeface="Calibri"/>
              </a:rPr>
              <a:t>Transport Layer: 3-</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0"/>
                                        </p:tgtEl>
                                        <p:attrNameLst>
                                          <p:attrName>style.visibility</p:attrName>
                                        </p:attrNameLst>
                                      </p:cBhvr>
                                      <p:to>
                                        <p:strVal val="visible"/>
                                      </p:to>
                                    </p:set>
                                    <p:animEffect filter="fade" transition="in">
                                      <p:cBhvr>
                                        <p:cTn dur="5000"/>
                                        <p:tgtEl>
                                          <p:spTgt spid="28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1" name="Shape 2821"/>
        <p:cNvGrpSpPr/>
        <p:nvPr/>
      </p:nvGrpSpPr>
      <p:grpSpPr>
        <a:xfrm>
          <a:off x="0" y="0"/>
          <a:ext cx="0" cy="0"/>
          <a:chOff x="0" y="0"/>
          <a:chExt cx="0" cy="0"/>
        </a:xfrm>
      </p:grpSpPr>
      <p:sp>
        <p:nvSpPr>
          <p:cNvPr id="2822" name="Google Shape;2822;p3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Internet checksum: an example</a:t>
            </a:r>
            <a:endParaRPr/>
          </a:p>
        </p:txBody>
      </p:sp>
      <p:sp>
        <p:nvSpPr>
          <p:cNvPr id="2823" name="Google Shape;2823;p35"/>
          <p:cNvSpPr txBox="1"/>
          <p:nvPr/>
        </p:nvSpPr>
        <p:spPr>
          <a:xfrm>
            <a:off x="1215441" y="1452111"/>
            <a:ext cx="7772400" cy="2743200"/>
          </a:xfrm>
          <a:prstGeom prst="rect">
            <a:avLst/>
          </a:prstGeom>
          <a:noFill/>
          <a:ln>
            <a:noFill/>
          </a:ln>
        </p:spPr>
        <p:txBody>
          <a:bodyPr anchorCtr="0" anchor="t" bIns="45700" lIns="91425" spcFirstLastPara="1" rIns="91425" wrap="square" tIns="45700">
            <a:normAutofit/>
          </a:bodyPr>
          <a:lstStyle/>
          <a:p>
            <a:pPr indent="-233363" lvl="0" marL="233363" marR="0" rtl="0" algn="l">
              <a:lnSpc>
                <a:spcPct val="13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example: add two 16-bit integers</a:t>
            </a:r>
            <a:endParaRPr/>
          </a:p>
        </p:txBody>
      </p:sp>
      <p:cxnSp>
        <p:nvCxnSpPr>
          <p:cNvPr id="2824" name="Google Shape;2824;p35"/>
          <p:cNvCxnSpPr/>
          <p:nvPr/>
        </p:nvCxnSpPr>
        <p:spPr>
          <a:xfrm rot="10800000">
            <a:off x="2466391" y="3069774"/>
            <a:ext cx="6477000" cy="0"/>
          </a:xfrm>
          <a:prstGeom prst="straightConnector1">
            <a:avLst/>
          </a:prstGeom>
          <a:noFill/>
          <a:ln cap="flat" cmpd="sng" w="12700">
            <a:solidFill>
              <a:schemeClr val="dk1"/>
            </a:solidFill>
            <a:prstDash val="solid"/>
            <a:round/>
            <a:headEnd len="sm" w="sm" type="none"/>
            <a:tailEnd len="med" w="med" type="none"/>
          </a:ln>
        </p:spPr>
      </p:cxnSp>
      <p:sp>
        <p:nvSpPr>
          <p:cNvPr id="2825" name="Google Shape;2825;p35"/>
          <p:cNvSpPr txBox="1"/>
          <p:nvPr/>
        </p:nvSpPr>
        <p:spPr>
          <a:xfrm>
            <a:off x="1777296" y="3862762"/>
            <a:ext cx="6365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sum</a:t>
            </a:r>
            <a:endParaRPr/>
          </a:p>
        </p:txBody>
      </p:sp>
      <p:sp>
        <p:nvSpPr>
          <p:cNvPr id="2826" name="Google Shape;2826;p35"/>
          <p:cNvSpPr txBox="1"/>
          <p:nvPr/>
        </p:nvSpPr>
        <p:spPr>
          <a:xfrm>
            <a:off x="1192843" y="4300504"/>
            <a:ext cx="122104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checksum</a:t>
            </a:r>
            <a:endParaRPr/>
          </a:p>
        </p:txBody>
      </p:sp>
      <p:sp>
        <p:nvSpPr>
          <p:cNvPr id="2827" name="Google Shape;2827;p35"/>
          <p:cNvSpPr txBox="1"/>
          <p:nvPr/>
        </p:nvSpPr>
        <p:spPr>
          <a:xfrm>
            <a:off x="798690" y="5071610"/>
            <a:ext cx="10367961" cy="107950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99"/>
              </a:buClr>
              <a:buSzPts val="1560"/>
              <a:buFont typeface="Noto Sans Symbols"/>
              <a:buNone/>
            </a:pPr>
            <a:r>
              <a:rPr b="0" i="1" lang="en-US" sz="2400" u="none" cap="none" strike="noStrike">
                <a:solidFill>
                  <a:srgbClr val="000000"/>
                </a:solidFill>
                <a:latin typeface="Calibri"/>
                <a:ea typeface="Calibri"/>
                <a:cs typeface="Calibri"/>
                <a:sym typeface="Calibri"/>
              </a:rPr>
              <a:t>Note:</a:t>
            </a:r>
            <a:r>
              <a:rPr b="0" i="0" lang="en-US" sz="2400" u="none" cap="none" strike="noStrike">
                <a:solidFill>
                  <a:srgbClr val="000000"/>
                </a:solidFill>
                <a:latin typeface="Calibri"/>
                <a:ea typeface="Calibri"/>
                <a:cs typeface="Calibri"/>
                <a:sym typeface="Calibri"/>
              </a:rPr>
              <a:t> when adding numbers, a carryout from the most significant bit needs to be added to the result</a:t>
            </a:r>
            <a:endParaRPr/>
          </a:p>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ahoma"/>
              <a:ea typeface="Tahoma"/>
              <a:cs typeface="Tahoma"/>
              <a:sym typeface="Tahoma"/>
            </a:endParaRPr>
          </a:p>
        </p:txBody>
      </p:sp>
      <p:sp>
        <p:nvSpPr>
          <p:cNvPr id="2828" name="Google Shape;2828;p35"/>
          <p:cNvSpPr txBox="1"/>
          <p:nvPr/>
        </p:nvSpPr>
        <p:spPr>
          <a:xfrm>
            <a:off x="850466" y="6260898"/>
            <a:ext cx="985722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Check out the online interactive exercises for more examples: h</a:t>
            </a:r>
            <a:r>
              <a:rPr b="0" i="0" lang="en-US" sz="1200" u="none" cap="none" strike="noStrike">
                <a:solidFill>
                  <a:srgbClr val="000000"/>
                </a:solidFill>
                <a:latin typeface="Arial"/>
                <a:ea typeface="Arial"/>
                <a:cs typeface="Arial"/>
                <a:sym typeface="Arial"/>
              </a:rPr>
              <a:t>ttp://gaia.cs.umass.edu/kurose_ross/interactive/</a:t>
            </a:r>
            <a:endParaRPr/>
          </a:p>
        </p:txBody>
      </p:sp>
      <p:sp>
        <p:nvSpPr>
          <p:cNvPr id="2829" name="Google Shape;2829;p35"/>
          <p:cNvSpPr txBox="1"/>
          <p:nvPr/>
        </p:nvSpPr>
        <p:spPr>
          <a:xfrm>
            <a:off x="2863959" y="2205031"/>
            <a:ext cx="58993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1 1 1 0 0 1 1 0 0 1 1 0 0 1 1 0</a:t>
            </a:r>
            <a:endParaRPr/>
          </a:p>
        </p:txBody>
      </p:sp>
      <p:sp>
        <p:nvSpPr>
          <p:cNvPr id="2830" name="Google Shape;2830;p35"/>
          <p:cNvSpPr txBox="1"/>
          <p:nvPr/>
        </p:nvSpPr>
        <p:spPr>
          <a:xfrm>
            <a:off x="2868710" y="2580910"/>
            <a:ext cx="58993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1 1 0 1 0 1 0 1 0 1 0 1 0 1 0 1</a:t>
            </a:r>
            <a:endParaRPr/>
          </a:p>
        </p:txBody>
      </p:sp>
      <p:sp>
        <p:nvSpPr>
          <p:cNvPr id="2831" name="Google Shape;2831;p35"/>
          <p:cNvSpPr txBox="1"/>
          <p:nvPr/>
        </p:nvSpPr>
        <p:spPr>
          <a:xfrm>
            <a:off x="2501968" y="3194702"/>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1 1 0 1 1 1 0 1 1 1 0 1 1 1 0 1 1</a:t>
            </a:r>
            <a:endParaRPr/>
          </a:p>
        </p:txBody>
      </p:sp>
      <p:sp>
        <p:nvSpPr>
          <p:cNvPr id="2832" name="Google Shape;2832;p35"/>
          <p:cNvSpPr/>
          <p:nvPr/>
        </p:nvSpPr>
        <p:spPr>
          <a:xfrm>
            <a:off x="2516833" y="3264149"/>
            <a:ext cx="304800" cy="304800"/>
          </a:xfrm>
          <a:prstGeom prst="ellipse">
            <a:avLst/>
          </a:prstGeom>
          <a:no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833" name="Google Shape;2833;p35"/>
          <p:cNvSpPr txBox="1"/>
          <p:nvPr/>
        </p:nvSpPr>
        <p:spPr>
          <a:xfrm>
            <a:off x="916633" y="3201536"/>
            <a:ext cx="145770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wraparound</a:t>
            </a:r>
            <a:endParaRPr/>
          </a:p>
        </p:txBody>
      </p:sp>
      <p:cxnSp>
        <p:nvCxnSpPr>
          <p:cNvPr id="2834" name="Google Shape;2834;p35"/>
          <p:cNvCxnSpPr/>
          <p:nvPr/>
        </p:nvCxnSpPr>
        <p:spPr>
          <a:xfrm rot="10800000">
            <a:off x="2440633" y="3788911"/>
            <a:ext cx="6477000" cy="0"/>
          </a:xfrm>
          <a:prstGeom prst="straightConnector1">
            <a:avLst/>
          </a:prstGeom>
          <a:noFill/>
          <a:ln cap="flat" cmpd="sng" w="12700">
            <a:solidFill>
              <a:schemeClr val="dk1"/>
            </a:solidFill>
            <a:prstDash val="solid"/>
            <a:round/>
            <a:headEnd len="sm" w="sm" type="none"/>
            <a:tailEnd len="med" w="med" type="none"/>
          </a:ln>
        </p:spPr>
      </p:cxnSp>
      <p:sp>
        <p:nvSpPr>
          <p:cNvPr id="2835" name="Google Shape;2835;p35"/>
          <p:cNvSpPr/>
          <p:nvPr/>
        </p:nvSpPr>
        <p:spPr>
          <a:xfrm>
            <a:off x="2669233" y="3576532"/>
            <a:ext cx="5795540" cy="95077"/>
          </a:xfrm>
          <a:custGeom>
            <a:rect b="b" l="l" r="r" t="t"/>
            <a:pathLst>
              <a:path extrusionOk="0" h="58" w="3788">
                <a:moveTo>
                  <a:pt x="0" y="0"/>
                </a:moveTo>
                <a:lnTo>
                  <a:pt x="0" y="58"/>
                </a:lnTo>
                <a:lnTo>
                  <a:pt x="3788" y="58"/>
                </a:lnTo>
              </a:path>
            </a:pathLst>
          </a:custGeom>
          <a:noFill/>
          <a:ln cap="flat" cmpd="sng" w="9525">
            <a:solidFill>
              <a:srgbClr val="FF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36" name="Google Shape;2836;p35"/>
          <p:cNvSpPr txBox="1"/>
          <p:nvPr/>
        </p:nvSpPr>
        <p:spPr>
          <a:xfrm>
            <a:off x="2475478" y="3863610"/>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1 0 1 1 1 0 1 1 1 0 1 1 1 1 0 0</a:t>
            </a:r>
            <a:endParaRPr/>
          </a:p>
        </p:txBody>
      </p:sp>
      <p:sp>
        <p:nvSpPr>
          <p:cNvPr id="2837" name="Google Shape;2837;p35"/>
          <p:cNvSpPr txBox="1"/>
          <p:nvPr/>
        </p:nvSpPr>
        <p:spPr>
          <a:xfrm>
            <a:off x="2505831" y="4287924"/>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0 1 0 0 0 1 0 0 0 1 0 0 0 0 1 1</a:t>
            </a:r>
            <a:endParaRPr/>
          </a:p>
        </p:txBody>
      </p:sp>
      <p:sp>
        <p:nvSpPr>
          <p:cNvPr id="2838" name="Google Shape;2838;p3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1"/>
                                        </p:tgtEl>
                                        <p:attrNameLst>
                                          <p:attrName>style.visibility</p:attrName>
                                        </p:attrNameLst>
                                      </p:cBhvr>
                                      <p:to>
                                        <p:strVal val="visible"/>
                                      </p:to>
                                    </p:set>
                                    <p:animEffect filter="fade" transition="in">
                                      <p:cBhvr>
                                        <p:cTn dur="500"/>
                                        <p:tgtEl>
                                          <p:spTgt spid="28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3"/>
                                        </p:tgtEl>
                                        <p:attrNameLst>
                                          <p:attrName>style.visibility</p:attrName>
                                        </p:attrNameLst>
                                      </p:cBhvr>
                                      <p:to>
                                        <p:strVal val="visible"/>
                                      </p:to>
                                    </p:set>
                                    <p:animEffect filter="fade" transition="in">
                                      <p:cBhvr>
                                        <p:cTn dur="500"/>
                                        <p:tgtEl>
                                          <p:spTgt spid="2833"/>
                                        </p:tgtEl>
                                      </p:cBhvr>
                                    </p:animEffect>
                                  </p:childTnLst>
                                </p:cTn>
                              </p:par>
                              <p:par>
                                <p:cTn fill="hold" nodeType="withEffect" presetClass="entr" presetID="10" presetSubtype="0">
                                  <p:stCondLst>
                                    <p:cond delay="0"/>
                                  </p:stCondLst>
                                  <p:childTnLst>
                                    <p:set>
                                      <p:cBhvr>
                                        <p:cTn dur="1" fill="hold">
                                          <p:stCondLst>
                                            <p:cond delay="0"/>
                                          </p:stCondLst>
                                        </p:cTn>
                                        <p:tgtEl>
                                          <p:spTgt spid="2832"/>
                                        </p:tgtEl>
                                        <p:attrNameLst>
                                          <p:attrName>style.visibility</p:attrName>
                                        </p:attrNameLst>
                                      </p:cBhvr>
                                      <p:to>
                                        <p:strVal val="visible"/>
                                      </p:to>
                                    </p:set>
                                    <p:animEffect filter="fade" transition="in">
                                      <p:cBhvr>
                                        <p:cTn dur="500"/>
                                        <p:tgtEl>
                                          <p:spTgt spid="2832"/>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2835"/>
                                        </p:tgtEl>
                                        <p:attrNameLst>
                                          <p:attrName>style.visibility</p:attrName>
                                        </p:attrNameLst>
                                      </p:cBhvr>
                                      <p:to>
                                        <p:strVal val="visible"/>
                                      </p:to>
                                    </p:set>
                                    <p:animEffect filter="fade" transition="in">
                                      <p:cBhvr>
                                        <p:cTn dur="500"/>
                                        <p:tgtEl>
                                          <p:spTgt spid="2835"/>
                                        </p:tgtEl>
                                      </p:cBhvr>
                                    </p:animEffect>
                                  </p:childTnLst>
                                </p:cTn>
                              </p:par>
                            </p:childTnLst>
                          </p:cTn>
                        </p:par>
                        <p:par>
                          <p:cTn fill="hold">
                            <p:stCondLst>
                              <p:cond delay="1000"/>
                            </p:stCondLst>
                            <p:childTnLst>
                              <p:par>
                                <p:cTn fill="hold" nodeType="afterEffect" presetClass="entr" presetID="10" presetSubtype="0">
                                  <p:stCondLst>
                                    <p:cond delay="500"/>
                                  </p:stCondLst>
                                  <p:childTnLst>
                                    <p:set>
                                      <p:cBhvr>
                                        <p:cTn dur="1" fill="hold">
                                          <p:stCondLst>
                                            <p:cond delay="0"/>
                                          </p:stCondLst>
                                        </p:cTn>
                                        <p:tgtEl>
                                          <p:spTgt spid="2834"/>
                                        </p:tgtEl>
                                        <p:attrNameLst>
                                          <p:attrName>style.visibility</p:attrName>
                                        </p:attrNameLst>
                                      </p:cBhvr>
                                      <p:to>
                                        <p:strVal val="visible"/>
                                      </p:to>
                                    </p:set>
                                    <p:animEffect filter="fade" transition="in">
                                      <p:cBhvr>
                                        <p:cTn dur="500"/>
                                        <p:tgtEl>
                                          <p:spTgt spid="2834"/>
                                        </p:tgtEl>
                                      </p:cBhvr>
                                    </p:animEffect>
                                  </p:childTnLst>
                                </p:cTn>
                              </p:par>
                              <p:par>
                                <p:cTn fill="hold" nodeType="withEffect" presetClass="entr" presetID="10" presetSubtype="0">
                                  <p:stCondLst>
                                    <p:cond delay="0"/>
                                  </p:stCondLst>
                                  <p:childTnLst>
                                    <p:set>
                                      <p:cBhvr>
                                        <p:cTn dur="1" fill="hold">
                                          <p:stCondLst>
                                            <p:cond delay="0"/>
                                          </p:stCondLst>
                                        </p:cTn>
                                        <p:tgtEl>
                                          <p:spTgt spid="2827"/>
                                        </p:tgtEl>
                                        <p:attrNameLst>
                                          <p:attrName>style.visibility</p:attrName>
                                        </p:attrNameLst>
                                      </p:cBhvr>
                                      <p:to>
                                        <p:strVal val="visible"/>
                                      </p:to>
                                    </p:set>
                                    <p:animEffect filter="fade" transition="in">
                                      <p:cBhvr>
                                        <p:cTn dur="500"/>
                                        <p:tgtEl>
                                          <p:spTgt spid="28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6"/>
                                        </p:tgtEl>
                                        <p:attrNameLst>
                                          <p:attrName>style.visibility</p:attrName>
                                        </p:attrNameLst>
                                      </p:cBhvr>
                                      <p:to>
                                        <p:strVal val="visible"/>
                                      </p:to>
                                    </p:set>
                                    <p:animEffect filter="fade" transition="in">
                                      <p:cBhvr>
                                        <p:cTn dur="500"/>
                                        <p:tgtEl>
                                          <p:spTgt spid="2836"/>
                                        </p:tgtEl>
                                      </p:cBhvr>
                                    </p:animEffect>
                                  </p:childTnLst>
                                </p:cTn>
                              </p:par>
                              <p:par>
                                <p:cTn fill="hold" nodeType="withEffect" presetClass="entr" presetID="10" presetSubtype="0">
                                  <p:stCondLst>
                                    <p:cond delay="0"/>
                                  </p:stCondLst>
                                  <p:childTnLst>
                                    <p:set>
                                      <p:cBhvr>
                                        <p:cTn dur="1" fill="hold">
                                          <p:stCondLst>
                                            <p:cond delay="0"/>
                                          </p:stCondLst>
                                        </p:cTn>
                                        <p:tgtEl>
                                          <p:spTgt spid="2825"/>
                                        </p:tgtEl>
                                        <p:attrNameLst>
                                          <p:attrName>style.visibility</p:attrName>
                                        </p:attrNameLst>
                                      </p:cBhvr>
                                      <p:to>
                                        <p:strVal val="visible"/>
                                      </p:to>
                                    </p:set>
                                    <p:animEffect filter="fade" transition="in">
                                      <p:cBhvr>
                                        <p:cTn dur="500"/>
                                        <p:tgtEl>
                                          <p:spTgt spid="28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7"/>
                                        </p:tgtEl>
                                        <p:attrNameLst>
                                          <p:attrName>style.visibility</p:attrName>
                                        </p:attrNameLst>
                                      </p:cBhvr>
                                      <p:to>
                                        <p:strVal val="visible"/>
                                      </p:to>
                                    </p:set>
                                    <p:animEffect filter="fade" transition="in">
                                      <p:cBhvr>
                                        <p:cTn dur="500"/>
                                        <p:tgtEl>
                                          <p:spTgt spid="2837"/>
                                        </p:tgtEl>
                                      </p:cBhvr>
                                    </p:animEffect>
                                  </p:childTnLst>
                                </p:cTn>
                              </p:par>
                              <p:par>
                                <p:cTn fill="hold" nodeType="withEffect" presetClass="entr" presetID="10" presetSubtype="0">
                                  <p:stCondLst>
                                    <p:cond delay="0"/>
                                  </p:stCondLst>
                                  <p:childTnLst>
                                    <p:set>
                                      <p:cBhvr>
                                        <p:cTn dur="1" fill="hold">
                                          <p:stCondLst>
                                            <p:cond delay="0"/>
                                          </p:stCondLst>
                                        </p:cTn>
                                        <p:tgtEl>
                                          <p:spTgt spid="2826"/>
                                        </p:tgtEl>
                                        <p:attrNameLst>
                                          <p:attrName>style.visibility</p:attrName>
                                        </p:attrNameLst>
                                      </p:cBhvr>
                                      <p:to>
                                        <p:strVal val="visible"/>
                                      </p:to>
                                    </p:set>
                                    <p:animEffect filter="fade" transition="in">
                                      <p:cBhvr>
                                        <p:cTn dur="500"/>
                                        <p:tgtEl>
                                          <p:spTgt spid="28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3" name="Shape 2843"/>
        <p:cNvGrpSpPr/>
        <p:nvPr/>
      </p:nvGrpSpPr>
      <p:grpSpPr>
        <a:xfrm>
          <a:off x="0" y="0"/>
          <a:ext cx="0" cy="0"/>
          <a:chOff x="0" y="0"/>
          <a:chExt cx="0" cy="0"/>
        </a:xfrm>
      </p:grpSpPr>
      <p:sp>
        <p:nvSpPr>
          <p:cNvPr id="2844" name="Google Shape;2844;p3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Internet checksum: weak protection!</a:t>
            </a:r>
            <a:endParaRPr/>
          </a:p>
        </p:txBody>
      </p:sp>
      <p:sp>
        <p:nvSpPr>
          <p:cNvPr id="2845" name="Google Shape;2845;p36"/>
          <p:cNvSpPr txBox="1"/>
          <p:nvPr/>
        </p:nvSpPr>
        <p:spPr>
          <a:xfrm>
            <a:off x="1215441" y="1452111"/>
            <a:ext cx="7772400" cy="2743200"/>
          </a:xfrm>
          <a:prstGeom prst="rect">
            <a:avLst/>
          </a:prstGeom>
          <a:noFill/>
          <a:ln>
            <a:noFill/>
          </a:ln>
        </p:spPr>
        <p:txBody>
          <a:bodyPr anchorCtr="0" anchor="t" bIns="45700" lIns="91425" spcFirstLastPara="1" rIns="91425" wrap="square" tIns="45700">
            <a:normAutofit/>
          </a:bodyPr>
          <a:lstStyle/>
          <a:p>
            <a:pPr indent="-233363" lvl="0" marL="233363" marR="0" rtl="0" algn="l">
              <a:lnSpc>
                <a:spcPct val="13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example: add two 16-bit integers</a:t>
            </a:r>
            <a:endParaRPr/>
          </a:p>
        </p:txBody>
      </p:sp>
      <p:cxnSp>
        <p:nvCxnSpPr>
          <p:cNvPr id="2846" name="Google Shape;2846;p36"/>
          <p:cNvCxnSpPr/>
          <p:nvPr/>
        </p:nvCxnSpPr>
        <p:spPr>
          <a:xfrm rot="10800000">
            <a:off x="2466391" y="3069774"/>
            <a:ext cx="6477000" cy="0"/>
          </a:xfrm>
          <a:prstGeom prst="straightConnector1">
            <a:avLst/>
          </a:prstGeom>
          <a:noFill/>
          <a:ln cap="flat" cmpd="sng" w="12700">
            <a:solidFill>
              <a:schemeClr val="dk1"/>
            </a:solidFill>
            <a:prstDash val="solid"/>
            <a:round/>
            <a:headEnd len="sm" w="sm" type="none"/>
            <a:tailEnd len="med" w="med" type="none"/>
          </a:ln>
        </p:spPr>
      </p:cxnSp>
      <p:sp>
        <p:nvSpPr>
          <p:cNvPr id="2847" name="Google Shape;2847;p36"/>
          <p:cNvSpPr txBox="1"/>
          <p:nvPr/>
        </p:nvSpPr>
        <p:spPr>
          <a:xfrm>
            <a:off x="1777296" y="3862762"/>
            <a:ext cx="6365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sum</a:t>
            </a:r>
            <a:endParaRPr/>
          </a:p>
        </p:txBody>
      </p:sp>
      <p:sp>
        <p:nvSpPr>
          <p:cNvPr id="2848" name="Google Shape;2848;p36"/>
          <p:cNvSpPr txBox="1"/>
          <p:nvPr/>
        </p:nvSpPr>
        <p:spPr>
          <a:xfrm>
            <a:off x="1192843" y="4300504"/>
            <a:ext cx="122104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checksum</a:t>
            </a:r>
            <a:endParaRPr/>
          </a:p>
        </p:txBody>
      </p:sp>
      <p:sp>
        <p:nvSpPr>
          <p:cNvPr id="2849" name="Google Shape;2849;p36"/>
          <p:cNvSpPr txBox="1"/>
          <p:nvPr/>
        </p:nvSpPr>
        <p:spPr>
          <a:xfrm>
            <a:off x="2863959" y="2205031"/>
            <a:ext cx="58993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1 1 1 0 0 1 1 0 0 1 1 0 0 1 1 0</a:t>
            </a:r>
            <a:endParaRPr/>
          </a:p>
        </p:txBody>
      </p:sp>
      <p:sp>
        <p:nvSpPr>
          <p:cNvPr id="2850" name="Google Shape;2850;p36"/>
          <p:cNvSpPr txBox="1"/>
          <p:nvPr/>
        </p:nvSpPr>
        <p:spPr>
          <a:xfrm>
            <a:off x="2868710" y="2580910"/>
            <a:ext cx="58993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1 1 0 1 0 1 0 1 0 1 0 1 0 1 0 1</a:t>
            </a:r>
            <a:endParaRPr/>
          </a:p>
        </p:txBody>
      </p:sp>
      <p:sp>
        <p:nvSpPr>
          <p:cNvPr id="2851" name="Google Shape;2851;p36"/>
          <p:cNvSpPr txBox="1"/>
          <p:nvPr/>
        </p:nvSpPr>
        <p:spPr>
          <a:xfrm>
            <a:off x="2501968" y="3194702"/>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1 1 0 1 1 1 0 1 1 1 0 1 1 1 0 1 1</a:t>
            </a:r>
            <a:endParaRPr/>
          </a:p>
        </p:txBody>
      </p:sp>
      <p:grpSp>
        <p:nvGrpSpPr>
          <p:cNvPr id="2852" name="Google Shape;2852;p36"/>
          <p:cNvGrpSpPr/>
          <p:nvPr/>
        </p:nvGrpSpPr>
        <p:grpSpPr>
          <a:xfrm>
            <a:off x="942391" y="3201536"/>
            <a:ext cx="8001000" cy="1123739"/>
            <a:chOff x="942391" y="3201536"/>
            <a:chExt cx="8001000" cy="1123739"/>
          </a:xfrm>
        </p:grpSpPr>
        <p:sp>
          <p:nvSpPr>
            <p:cNvPr id="2853" name="Google Shape;2853;p36"/>
            <p:cNvSpPr/>
            <p:nvPr/>
          </p:nvSpPr>
          <p:spPr>
            <a:xfrm>
              <a:off x="2542591" y="3264149"/>
              <a:ext cx="304800" cy="304800"/>
            </a:xfrm>
            <a:prstGeom prst="ellipse">
              <a:avLst/>
            </a:prstGeom>
            <a:no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854" name="Google Shape;2854;p36"/>
            <p:cNvSpPr txBox="1"/>
            <p:nvPr/>
          </p:nvSpPr>
          <p:spPr>
            <a:xfrm>
              <a:off x="942391" y="3201536"/>
              <a:ext cx="145770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wraparound</a:t>
              </a:r>
              <a:endParaRPr/>
            </a:p>
          </p:txBody>
        </p:sp>
        <p:cxnSp>
          <p:nvCxnSpPr>
            <p:cNvPr id="2855" name="Google Shape;2855;p36"/>
            <p:cNvCxnSpPr/>
            <p:nvPr/>
          </p:nvCxnSpPr>
          <p:spPr>
            <a:xfrm rot="10800000">
              <a:off x="2466391" y="3788911"/>
              <a:ext cx="6477000" cy="0"/>
            </a:xfrm>
            <a:prstGeom prst="straightConnector1">
              <a:avLst/>
            </a:prstGeom>
            <a:noFill/>
            <a:ln cap="flat" cmpd="sng" w="12700">
              <a:solidFill>
                <a:schemeClr val="dk1"/>
              </a:solidFill>
              <a:prstDash val="solid"/>
              <a:round/>
              <a:headEnd len="sm" w="sm" type="none"/>
              <a:tailEnd len="med" w="med" type="none"/>
            </a:ln>
          </p:spPr>
        </p:cxnSp>
        <p:sp>
          <p:nvSpPr>
            <p:cNvPr id="2856" name="Google Shape;2856;p36"/>
            <p:cNvSpPr/>
            <p:nvPr/>
          </p:nvSpPr>
          <p:spPr>
            <a:xfrm>
              <a:off x="2694991" y="3576532"/>
              <a:ext cx="5795540" cy="95077"/>
            </a:xfrm>
            <a:custGeom>
              <a:rect b="b" l="l" r="r" t="t"/>
              <a:pathLst>
                <a:path extrusionOk="0" h="58" w="3788">
                  <a:moveTo>
                    <a:pt x="0" y="0"/>
                  </a:moveTo>
                  <a:lnTo>
                    <a:pt x="0" y="58"/>
                  </a:lnTo>
                  <a:lnTo>
                    <a:pt x="3788" y="58"/>
                  </a:lnTo>
                </a:path>
              </a:pathLst>
            </a:custGeom>
            <a:noFill/>
            <a:ln cap="flat" cmpd="sng" w="9525">
              <a:solidFill>
                <a:srgbClr val="FF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57" name="Google Shape;2857;p36"/>
            <p:cNvSpPr txBox="1"/>
            <p:nvPr/>
          </p:nvSpPr>
          <p:spPr>
            <a:xfrm>
              <a:off x="2501236" y="3863610"/>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1 0 1 1 1 0 1 1 1 0 1 1 1 1 0 0</a:t>
              </a:r>
              <a:endParaRPr/>
            </a:p>
          </p:txBody>
        </p:sp>
      </p:grpSp>
      <p:sp>
        <p:nvSpPr>
          <p:cNvPr id="2858" name="Google Shape;2858;p36"/>
          <p:cNvSpPr txBox="1"/>
          <p:nvPr/>
        </p:nvSpPr>
        <p:spPr>
          <a:xfrm>
            <a:off x="2505831" y="4287924"/>
            <a:ext cx="62680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0 1 0 0 0 1 0 0 0 1 0 0 0 0 1 1</a:t>
            </a:r>
            <a:endParaRPr/>
          </a:p>
        </p:txBody>
      </p:sp>
      <p:grpSp>
        <p:nvGrpSpPr>
          <p:cNvPr id="2859" name="Google Shape;2859;p36"/>
          <p:cNvGrpSpPr/>
          <p:nvPr/>
        </p:nvGrpSpPr>
        <p:grpSpPr>
          <a:xfrm>
            <a:off x="7895417" y="1927511"/>
            <a:ext cx="2249559" cy="712515"/>
            <a:chOff x="9436187" y="4862446"/>
            <a:chExt cx="2249559" cy="712515"/>
          </a:xfrm>
        </p:grpSpPr>
        <p:sp>
          <p:nvSpPr>
            <p:cNvPr id="2860" name="Google Shape;2860;p36"/>
            <p:cNvSpPr/>
            <p:nvPr/>
          </p:nvSpPr>
          <p:spPr>
            <a:xfrm>
              <a:off x="9436187" y="5113295"/>
              <a:ext cx="802095" cy="461666"/>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861" name="Google Shape;2861;p36"/>
            <p:cNvCxnSpPr/>
            <p:nvPr/>
          </p:nvCxnSpPr>
          <p:spPr>
            <a:xfrm flipH="1" rot="10800000">
              <a:off x="10238282" y="5111429"/>
              <a:ext cx="546739" cy="212682"/>
            </a:xfrm>
            <a:prstGeom prst="straightConnector1">
              <a:avLst/>
            </a:prstGeom>
            <a:noFill/>
            <a:ln cap="flat" cmpd="sng" w="38100">
              <a:solidFill>
                <a:srgbClr val="C00000"/>
              </a:solidFill>
              <a:prstDash val="solid"/>
              <a:miter lim="800000"/>
              <a:headEnd len="sm" w="sm" type="none"/>
              <a:tailEnd len="med" w="med" type="triangle"/>
            </a:ln>
          </p:spPr>
        </p:cxnSp>
        <p:sp>
          <p:nvSpPr>
            <p:cNvPr id="2862" name="Google Shape;2862;p36"/>
            <p:cNvSpPr txBox="1"/>
            <p:nvPr/>
          </p:nvSpPr>
          <p:spPr>
            <a:xfrm>
              <a:off x="10395008" y="4862446"/>
              <a:ext cx="129073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0 1 </a:t>
              </a:r>
              <a:endParaRPr/>
            </a:p>
          </p:txBody>
        </p:sp>
      </p:grpSp>
      <p:grpSp>
        <p:nvGrpSpPr>
          <p:cNvPr id="2863" name="Google Shape;2863;p36"/>
          <p:cNvGrpSpPr/>
          <p:nvPr/>
        </p:nvGrpSpPr>
        <p:grpSpPr>
          <a:xfrm>
            <a:off x="7910407" y="2289202"/>
            <a:ext cx="2249559" cy="712515"/>
            <a:chOff x="9436187" y="4862446"/>
            <a:chExt cx="2249559" cy="712515"/>
          </a:xfrm>
        </p:grpSpPr>
        <p:sp>
          <p:nvSpPr>
            <p:cNvPr id="2864" name="Google Shape;2864;p36"/>
            <p:cNvSpPr/>
            <p:nvPr/>
          </p:nvSpPr>
          <p:spPr>
            <a:xfrm>
              <a:off x="9436187" y="5113295"/>
              <a:ext cx="802095" cy="461666"/>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865" name="Google Shape;2865;p36"/>
            <p:cNvCxnSpPr/>
            <p:nvPr/>
          </p:nvCxnSpPr>
          <p:spPr>
            <a:xfrm flipH="1" rot="10800000">
              <a:off x="10238282" y="5111429"/>
              <a:ext cx="546739" cy="212682"/>
            </a:xfrm>
            <a:prstGeom prst="straightConnector1">
              <a:avLst/>
            </a:prstGeom>
            <a:noFill/>
            <a:ln cap="flat" cmpd="sng" w="38100">
              <a:solidFill>
                <a:srgbClr val="C00000"/>
              </a:solidFill>
              <a:prstDash val="solid"/>
              <a:miter lim="800000"/>
              <a:headEnd len="sm" w="sm" type="none"/>
              <a:tailEnd len="med" w="med" type="triangle"/>
            </a:ln>
          </p:spPr>
        </p:cxnSp>
        <p:sp>
          <p:nvSpPr>
            <p:cNvPr id="2866" name="Google Shape;2866;p36"/>
            <p:cNvSpPr txBox="1"/>
            <p:nvPr/>
          </p:nvSpPr>
          <p:spPr>
            <a:xfrm>
              <a:off x="10395008" y="4862446"/>
              <a:ext cx="129073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  1 0 </a:t>
              </a:r>
              <a:endParaRPr/>
            </a:p>
          </p:txBody>
        </p:sp>
      </p:grpSp>
      <p:grpSp>
        <p:nvGrpSpPr>
          <p:cNvPr id="2867" name="Google Shape;2867;p36"/>
          <p:cNvGrpSpPr/>
          <p:nvPr/>
        </p:nvGrpSpPr>
        <p:grpSpPr>
          <a:xfrm>
            <a:off x="8933167" y="3121843"/>
            <a:ext cx="2729496" cy="1754326"/>
            <a:chOff x="8933167" y="3121843"/>
            <a:chExt cx="2729496" cy="1754326"/>
          </a:xfrm>
        </p:grpSpPr>
        <p:sp>
          <p:nvSpPr>
            <p:cNvPr id="2868" name="Google Shape;2868;p36"/>
            <p:cNvSpPr/>
            <p:nvPr/>
          </p:nvSpPr>
          <p:spPr>
            <a:xfrm>
              <a:off x="8933167" y="3244723"/>
              <a:ext cx="247697" cy="1504855"/>
            </a:xfrm>
            <a:prstGeom prst="rightBrace">
              <a:avLst>
                <a:gd fmla="val 8333" name="adj1"/>
                <a:gd fmla="val 50000" name="adj2"/>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69" name="Google Shape;2869;p36"/>
            <p:cNvSpPr txBox="1"/>
            <p:nvPr/>
          </p:nvSpPr>
          <p:spPr>
            <a:xfrm>
              <a:off x="9259241" y="3121843"/>
              <a:ext cx="2403422" cy="1754326"/>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Even though numbers have changed (bit flips), </a:t>
              </a:r>
              <a:r>
                <a:rPr b="0" i="1" lang="en-US" sz="2400" u="none" cap="none" strike="noStrike">
                  <a:solidFill>
                    <a:srgbClr val="C00000"/>
                  </a:solidFill>
                  <a:latin typeface="Calibri"/>
                  <a:ea typeface="Calibri"/>
                  <a:cs typeface="Calibri"/>
                  <a:sym typeface="Calibri"/>
                </a:rPr>
                <a:t>no</a:t>
              </a:r>
              <a:r>
                <a:rPr b="0" i="0" lang="en-US" sz="2400" u="none" cap="none" strike="noStrike">
                  <a:solidFill>
                    <a:srgbClr val="000000"/>
                  </a:solidFill>
                  <a:latin typeface="Calibri"/>
                  <a:ea typeface="Calibri"/>
                  <a:cs typeface="Calibri"/>
                  <a:sym typeface="Calibri"/>
                </a:rPr>
                <a:t> change in checksum!</a:t>
              </a:r>
              <a:endParaRPr/>
            </a:p>
          </p:txBody>
        </p:sp>
      </p:grpSp>
      <p:sp>
        <p:nvSpPr>
          <p:cNvPr id="2870" name="Google Shape;2870;p3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9"/>
                                        </p:tgtEl>
                                        <p:attrNameLst>
                                          <p:attrName>style.visibility</p:attrName>
                                        </p:attrNameLst>
                                      </p:cBhvr>
                                      <p:to>
                                        <p:strVal val="visible"/>
                                      </p:to>
                                    </p:set>
                                    <p:animEffect filter="fade" transition="in">
                                      <p:cBhvr>
                                        <p:cTn dur="500"/>
                                        <p:tgtEl>
                                          <p:spTgt spid="28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3"/>
                                        </p:tgtEl>
                                        <p:attrNameLst>
                                          <p:attrName>style.visibility</p:attrName>
                                        </p:attrNameLst>
                                      </p:cBhvr>
                                      <p:to>
                                        <p:strVal val="visible"/>
                                      </p:to>
                                    </p:set>
                                    <p:animEffect filter="fade" transition="in">
                                      <p:cBhvr>
                                        <p:cTn dur="500"/>
                                        <p:tgtEl>
                                          <p:spTgt spid="28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7"/>
                                        </p:tgtEl>
                                        <p:attrNameLst>
                                          <p:attrName>style.visibility</p:attrName>
                                        </p:attrNameLst>
                                      </p:cBhvr>
                                      <p:to>
                                        <p:strVal val="visible"/>
                                      </p:to>
                                    </p:set>
                                    <p:animEffect filter="fade" transition="in">
                                      <p:cBhvr>
                                        <p:cTn dur="500"/>
                                        <p:tgtEl>
                                          <p:spTgt spid="28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5" name="Shape 2875"/>
        <p:cNvGrpSpPr/>
        <p:nvPr/>
      </p:nvGrpSpPr>
      <p:grpSpPr>
        <a:xfrm>
          <a:off x="0" y="0"/>
          <a:ext cx="0" cy="0"/>
          <a:chOff x="0" y="0"/>
          <a:chExt cx="0" cy="0"/>
        </a:xfrm>
      </p:grpSpPr>
      <p:grpSp>
        <p:nvGrpSpPr>
          <p:cNvPr id="2876" name="Google Shape;2876;p37"/>
          <p:cNvGrpSpPr/>
          <p:nvPr/>
        </p:nvGrpSpPr>
        <p:grpSpPr>
          <a:xfrm>
            <a:off x="4443883" y="-73155"/>
            <a:ext cx="2459687" cy="1556012"/>
            <a:chOff x="6697235" y="-249764"/>
            <a:chExt cx="2460203" cy="1558188"/>
          </a:xfrm>
        </p:grpSpPr>
        <p:sp>
          <p:nvSpPr>
            <p:cNvPr id="2877" name="Google Shape;2877;p37"/>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b="0" i="0" sz="2400" u="none" cap="none" strike="noStrike">
                <a:solidFill>
                  <a:srgbClr val="000000"/>
                </a:solidFill>
                <a:latin typeface="Comic Sans MS"/>
                <a:ea typeface="Comic Sans MS"/>
                <a:cs typeface="Comic Sans MS"/>
                <a:sym typeface="Comic Sans MS"/>
              </a:endParaRPr>
            </a:p>
          </p:txBody>
        </p:sp>
        <p:sp>
          <p:nvSpPr>
            <p:cNvPr id="2878" name="Google Shape;2878;p37"/>
            <p:cNvSpPr txBox="1"/>
            <p:nvPr/>
          </p:nvSpPr>
          <p:spPr>
            <a:xfrm>
              <a:off x="7283748" y="342294"/>
              <a:ext cx="112562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Tahoma"/>
                  <a:ea typeface="Tahoma"/>
                  <a:cs typeface="Tahoma"/>
                  <a:sym typeface="Tahoma"/>
                </a:rPr>
                <a:t>Example 1</a:t>
              </a:r>
              <a:endParaRPr/>
            </a:p>
          </p:txBody>
        </p:sp>
      </p:grpSp>
      <p:pic>
        <p:nvPicPr>
          <p:cNvPr id="2879" name="Google Shape;2879;p37"/>
          <p:cNvPicPr preferRelativeResize="0"/>
          <p:nvPr/>
        </p:nvPicPr>
        <p:blipFill rotWithShape="1">
          <a:blip r:embed="rId3">
            <a:alphaModFix/>
          </a:blip>
          <a:srcRect b="0" l="0" r="0" t="0"/>
          <a:stretch/>
        </p:blipFill>
        <p:spPr>
          <a:xfrm>
            <a:off x="7023100" y="1282700"/>
            <a:ext cx="3403600" cy="1866900"/>
          </a:xfrm>
          <a:prstGeom prst="rect">
            <a:avLst/>
          </a:prstGeom>
          <a:noFill/>
          <a:ln>
            <a:noFill/>
          </a:ln>
        </p:spPr>
      </p:pic>
      <p:sp>
        <p:nvSpPr>
          <p:cNvPr id="2880" name="Google Shape;2880;p37"/>
          <p:cNvSpPr txBox="1"/>
          <p:nvPr/>
        </p:nvSpPr>
        <p:spPr>
          <a:xfrm>
            <a:off x="1906588" y="1343026"/>
            <a:ext cx="4889500" cy="12604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0" i="0" lang="en-US" sz="2200" u="none" cap="none" strike="noStrike">
                <a:solidFill>
                  <a:srgbClr val="000000"/>
                </a:solidFill>
                <a:latin typeface="Arial"/>
                <a:ea typeface="Arial"/>
                <a:cs typeface="Arial"/>
                <a:sym typeface="Arial"/>
              </a:rPr>
              <a:t>Consider a receiver host received the segment with content given. Generate the checksum value.</a:t>
            </a:r>
            <a:endParaRPr/>
          </a:p>
        </p:txBody>
      </p:sp>
      <p:sp>
        <p:nvSpPr>
          <p:cNvPr id="2881" name="Google Shape;2881;p37"/>
          <p:cNvSpPr/>
          <p:nvPr/>
        </p:nvSpPr>
        <p:spPr>
          <a:xfrm>
            <a:off x="1698626" y="3122613"/>
            <a:ext cx="5102225" cy="12001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ourier New"/>
                <a:ea typeface="Courier New"/>
                <a:cs typeface="Courier New"/>
                <a:sym typeface="Courier New"/>
              </a:rPr>
              <a:t>50439 🡪 11000101 00000111</a:t>
            </a:r>
            <a:endParaRPr/>
          </a:p>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ourier New"/>
                <a:ea typeface="Courier New"/>
                <a:cs typeface="Courier New"/>
                <a:sym typeface="Courier New"/>
              </a:rPr>
              <a:t>16397 🡪 01000000 00001101</a:t>
            </a:r>
            <a:endParaRPr/>
          </a:p>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ourier New"/>
                <a:ea typeface="Courier New"/>
                <a:cs typeface="Courier New"/>
                <a:sym typeface="Courier New"/>
              </a:rPr>
              <a:t>   15 🡪 00000000 00001111</a:t>
            </a:r>
            <a:endParaRPr/>
          </a:p>
        </p:txBody>
      </p:sp>
      <p:grpSp>
        <p:nvGrpSpPr>
          <p:cNvPr id="2882" name="Google Shape;2882;p37"/>
          <p:cNvGrpSpPr/>
          <p:nvPr/>
        </p:nvGrpSpPr>
        <p:grpSpPr>
          <a:xfrm>
            <a:off x="3381376" y="5614988"/>
            <a:ext cx="6238875" cy="461962"/>
            <a:chOff x="2416515" y="5365952"/>
            <a:chExt cx="6237888" cy="461368"/>
          </a:xfrm>
        </p:grpSpPr>
        <p:sp>
          <p:nvSpPr>
            <p:cNvPr id="2883" name="Google Shape;2883;p37"/>
            <p:cNvSpPr/>
            <p:nvPr/>
          </p:nvSpPr>
          <p:spPr>
            <a:xfrm>
              <a:off x="2416515" y="5365952"/>
              <a:ext cx="3318012" cy="4613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Noto Sans Symbols"/>
                <a:buNone/>
              </a:pPr>
              <a:r>
                <a:rPr b="0" i="0" lang="en-US" sz="2400" u="none" cap="none" strike="noStrike">
                  <a:solidFill>
                    <a:srgbClr val="FF0000"/>
                  </a:solidFill>
                  <a:latin typeface="Courier New"/>
                  <a:ea typeface="Courier New"/>
                  <a:cs typeface="Courier New"/>
                  <a:sym typeface="Courier New"/>
                </a:rPr>
                <a:t>11111010 11011011</a:t>
              </a:r>
              <a:endParaRPr/>
            </a:p>
          </p:txBody>
        </p:sp>
        <p:sp>
          <p:nvSpPr>
            <p:cNvPr id="2884" name="Google Shape;2884;p37"/>
            <p:cNvSpPr txBox="1"/>
            <p:nvPr/>
          </p:nvSpPr>
          <p:spPr>
            <a:xfrm>
              <a:off x="5773787" y="5451223"/>
              <a:ext cx="2880616"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Arial"/>
                  <a:ea typeface="Arial"/>
                  <a:cs typeface="Arial"/>
                  <a:sym typeface="Arial"/>
                </a:rPr>
                <a:t>(Checksum: 1’s Complement)</a:t>
              </a:r>
              <a:endParaRPr/>
            </a:p>
          </p:txBody>
        </p:sp>
      </p:grpSp>
      <p:grpSp>
        <p:nvGrpSpPr>
          <p:cNvPr id="2885" name="Google Shape;2885;p37"/>
          <p:cNvGrpSpPr/>
          <p:nvPr/>
        </p:nvGrpSpPr>
        <p:grpSpPr>
          <a:xfrm>
            <a:off x="3198814" y="4395788"/>
            <a:ext cx="4256087" cy="468312"/>
            <a:chOff x="2299637" y="4904147"/>
            <a:chExt cx="4256402" cy="468231"/>
          </a:xfrm>
        </p:grpSpPr>
        <p:sp>
          <p:nvSpPr>
            <p:cNvPr id="2886" name="Google Shape;2886;p37"/>
            <p:cNvSpPr/>
            <p:nvPr/>
          </p:nvSpPr>
          <p:spPr>
            <a:xfrm>
              <a:off x="2299637" y="4910713"/>
              <a:ext cx="350919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Noto Sans Symbols"/>
                <a:buNone/>
              </a:pPr>
              <a:r>
                <a:rPr b="0" i="0" lang="en-US" sz="2400" u="none" cap="none" strike="noStrike">
                  <a:solidFill>
                    <a:srgbClr val="FF0000"/>
                  </a:solidFill>
                  <a:latin typeface="Courier New"/>
                  <a:ea typeface="Courier New"/>
                  <a:cs typeface="Courier New"/>
                  <a:sym typeface="Courier New"/>
                </a:rPr>
                <a:t>1</a:t>
              </a:r>
              <a:r>
                <a:rPr b="0" i="0" lang="en-US" sz="2400" u="none" cap="none" strike="noStrike">
                  <a:solidFill>
                    <a:srgbClr val="000000"/>
                  </a:solidFill>
                  <a:latin typeface="Courier New"/>
                  <a:ea typeface="Courier New"/>
                  <a:cs typeface="Courier New"/>
                  <a:sym typeface="Courier New"/>
                </a:rPr>
                <a:t>00000101 00100011</a:t>
              </a:r>
              <a:endParaRPr/>
            </a:p>
          </p:txBody>
        </p:sp>
        <p:cxnSp>
          <p:nvCxnSpPr>
            <p:cNvPr id="2887" name="Google Shape;2887;p37"/>
            <p:cNvCxnSpPr/>
            <p:nvPr/>
          </p:nvCxnSpPr>
          <p:spPr>
            <a:xfrm rot="10800000">
              <a:off x="2441143" y="4904147"/>
              <a:ext cx="3223847" cy="1"/>
            </a:xfrm>
            <a:prstGeom prst="straightConnector1">
              <a:avLst/>
            </a:prstGeom>
            <a:noFill/>
            <a:ln cap="flat" cmpd="sng" w="9525">
              <a:solidFill>
                <a:schemeClr val="dk1"/>
              </a:solidFill>
              <a:prstDash val="solid"/>
              <a:round/>
              <a:headEnd len="med" w="med" type="none"/>
              <a:tailEnd len="med" w="med" type="none"/>
            </a:ln>
          </p:spPr>
        </p:cxnSp>
        <p:sp>
          <p:nvSpPr>
            <p:cNvPr id="2888" name="Google Shape;2888;p37"/>
            <p:cNvSpPr txBox="1"/>
            <p:nvPr/>
          </p:nvSpPr>
          <p:spPr>
            <a:xfrm>
              <a:off x="5812827" y="4988160"/>
              <a:ext cx="74321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Arial"/>
                  <a:ea typeface="Arial"/>
                  <a:cs typeface="Arial"/>
                  <a:sym typeface="Arial"/>
                </a:rPr>
                <a:t>(Sum)</a:t>
              </a:r>
              <a:endParaRPr/>
            </a:p>
          </p:txBody>
        </p:sp>
      </p:grpSp>
      <p:grpSp>
        <p:nvGrpSpPr>
          <p:cNvPr id="2889" name="Google Shape;2889;p37"/>
          <p:cNvGrpSpPr/>
          <p:nvPr/>
        </p:nvGrpSpPr>
        <p:grpSpPr>
          <a:xfrm>
            <a:off x="5505451" y="6205538"/>
            <a:ext cx="3997325" cy="461962"/>
            <a:chOff x="4539943" y="5899352"/>
            <a:chExt cx="3997309" cy="461368"/>
          </a:xfrm>
        </p:grpSpPr>
        <p:sp>
          <p:nvSpPr>
            <p:cNvPr id="2890" name="Google Shape;2890;p37"/>
            <p:cNvSpPr txBox="1"/>
            <p:nvPr/>
          </p:nvSpPr>
          <p:spPr>
            <a:xfrm>
              <a:off x="5789384" y="5980717"/>
              <a:ext cx="2747868"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Arial"/>
                  <a:ea typeface="Arial"/>
                  <a:cs typeface="Arial"/>
                  <a:sym typeface="Arial"/>
                </a:rPr>
                <a:t>(Checksum </a:t>
              </a:r>
              <a:r>
                <a:rPr b="0" i="1" lang="en-US" sz="1600" u="none" cap="none" strike="noStrike">
                  <a:solidFill>
                    <a:srgbClr val="000000"/>
                  </a:solidFill>
                  <a:latin typeface="Arial"/>
                  <a:ea typeface="Arial"/>
                  <a:cs typeface="Arial"/>
                  <a:sym typeface="Arial"/>
                </a:rPr>
                <a:t>in hexadecimal</a:t>
              </a:r>
              <a:r>
                <a:rPr b="0" i="0" lang="en-US" sz="1600" u="none" cap="none" strike="noStrike">
                  <a:solidFill>
                    <a:srgbClr val="000000"/>
                  </a:solidFill>
                  <a:latin typeface="Arial"/>
                  <a:ea typeface="Arial"/>
                  <a:cs typeface="Arial"/>
                  <a:sym typeface="Arial"/>
                </a:rPr>
                <a:t>)</a:t>
              </a:r>
              <a:endParaRPr/>
            </a:p>
          </p:txBody>
        </p:sp>
        <p:sp>
          <p:nvSpPr>
            <p:cNvPr id="2891" name="Google Shape;2891;p37"/>
            <p:cNvSpPr/>
            <p:nvPr/>
          </p:nvSpPr>
          <p:spPr>
            <a:xfrm>
              <a:off x="4539943" y="5899352"/>
              <a:ext cx="1168729" cy="461368"/>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2400" u="none" cap="none" strike="noStrike">
                  <a:solidFill>
                    <a:srgbClr val="FF0000"/>
                  </a:solidFill>
                  <a:highlight>
                    <a:srgbClr val="00FFFF"/>
                  </a:highlight>
                  <a:latin typeface="Courier New"/>
                  <a:ea typeface="Courier New"/>
                  <a:cs typeface="Courier New"/>
                  <a:sym typeface="Courier New"/>
                </a:rPr>
                <a:t>FADB</a:t>
              </a:r>
              <a:r>
                <a:rPr b="1" baseline="-25000" i="0" lang="en-US" sz="2400" u="none" cap="none" strike="noStrike">
                  <a:solidFill>
                    <a:srgbClr val="FF0000"/>
                  </a:solidFill>
                  <a:highlight>
                    <a:srgbClr val="00FFFF"/>
                  </a:highlight>
                  <a:latin typeface="Courier New"/>
                  <a:ea typeface="Courier New"/>
                  <a:cs typeface="Courier New"/>
                  <a:sym typeface="Courier New"/>
                </a:rPr>
                <a:t>16</a:t>
              </a:r>
              <a:endParaRPr/>
            </a:p>
          </p:txBody>
        </p:sp>
      </p:grpSp>
      <p:sp>
        <p:nvSpPr>
          <p:cNvPr id="2892" name="Google Shape;2892;p37"/>
          <p:cNvSpPr txBox="1"/>
          <p:nvPr/>
        </p:nvSpPr>
        <p:spPr>
          <a:xfrm>
            <a:off x="1922463" y="2587625"/>
            <a:ext cx="4889500" cy="469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0" i="0" lang="en-US" sz="2200" u="sng" cap="none" strike="noStrike">
                <a:solidFill>
                  <a:srgbClr val="000000"/>
                </a:solidFill>
                <a:latin typeface="Arial"/>
                <a:ea typeface="Arial"/>
                <a:cs typeface="Arial"/>
                <a:sym typeface="Arial"/>
              </a:rPr>
              <a:t>Solution</a:t>
            </a:r>
            <a:r>
              <a:rPr b="0" i="0" lang="en-US" sz="2200" u="none" cap="none" strike="noStrike">
                <a:solidFill>
                  <a:srgbClr val="000000"/>
                </a:solidFill>
                <a:latin typeface="Arial"/>
                <a:ea typeface="Arial"/>
                <a:cs typeface="Arial"/>
                <a:sym typeface="Arial"/>
              </a:rPr>
              <a:t>:</a:t>
            </a:r>
            <a:endParaRPr/>
          </a:p>
        </p:txBody>
      </p:sp>
      <p:grpSp>
        <p:nvGrpSpPr>
          <p:cNvPr id="2893" name="Google Shape;2893;p37"/>
          <p:cNvGrpSpPr/>
          <p:nvPr/>
        </p:nvGrpSpPr>
        <p:grpSpPr>
          <a:xfrm>
            <a:off x="3349625" y="5183188"/>
            <a:ext cx="4114800" cy="468312"/>
            <a:chOff x="2441143" y="4904147"/>
            <a:chExt cx="4114896" cy="468231"/>
          </a:xfrm>
        </p:grpSpPr>
        <p:sp>
          <p:nvSpPr>
            <p:cNvPr id="2894" name="Google Shape;2894;p37"/>
            <p:cNvSpPr/>
            <p:nvPr/>
          </p:nvSpPr>
          <p:spPr>
            <a:xfrm>
              <a:off x="2467809" y="4910713"/>
              <a:ext cx="332449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ourier New"/>
                  <a:ea typeface="Courier New"/>
                  <a:cs typeface="Courier New"/>
                  <a:sym typeface="Courier New"/>
                </a:rPr>
                <a:t>00000101 00100100</a:t>
              </a:r>
              <a:endParaRPr/>
            </a:p>
          </p:txBody>
        </p:sp>
        <p:cxnSp>
          <p:nvCxnSpPr>
            <p:cNvPr id="2895" name="Google Shape;2895;p37"/>
            <p:cNvCxnSpPr/>
            <p:nvPr/>
          </p:nvCxnSpPr>
          <p:spPr>
            <a:xfrm rot="10800000">
              <a:off x="2441143" y="4904147"/>
              <a:ext cx="3223847" cy="1"/>
            </a:xfrm>
            <a:prstGeom prst="straightConnector1">
              <a:avLst/>
            </a:prstGeom>
            <a:noFill/>
            <a:ln cap="flat" cmpd="sng" w="9525">
              <a:solidFill>
                <a:schemeClr val="dk1"/>
              </a:solidFill>
              <a:prstDash val="solid"/>
              <a:round/>
              <a:headEnd len="med" w="med" type="none"/>
              <a:tailEnd len="med" w="med" type="none"/>
            </a:ln>
          </p:spPr>
        </p:cxnSp>
        <p:sp>
          <p:nvSpPr>
            <p:cNvPr id="2896" name="Google Shape;2896;p37"/>
            <p:cNvSpPr txBox="1"/>
            <p:nvPr/>
          </p:nvSpPr>
          <p:spPr>
            <a:xfrm>
              <a:off x="5812827" y="4988160"/>
              <a:ext cx="74321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Arial"/>
                  <a:ea typeface="Arial"/>
                  <a:cs typeface="Arial"/>
                  <a:sym typeface="Arial"/>
                </a:rPr>
                <a:t>(Sum)</a:t>
              </a:r>
              <a:endParaRPr/>
            </a:p>
          </p:txBody>
        </p:sp>
      </p:grpSp>
      <p:grpSp>
        <p:nvGrpSpPr>
          <p:cNvPr id="2897" name="Google Shape;2897;p37"/>
          <p:cNvGrpSpPr/>
          <p:nvPr/>
        </p:nvGrpSpPr>
        <p:grpSpPr>
          <a:xfrm>
            <a:off x="3230564" y="4400550"/>
            <a:ext cx="3457575" cy="781050"/>
            <a:chOff x="1706533" y="4400998"/>
            <a:chExt cx="3457707" cy="779912"/>
          </a:xfrm>
        </p:grpSpPr>
        <p:sp>
          <p:nvSpPr>
            <p:cNvPr id="2898" name="Google Shape;2898;p37"/>
            <p:cNvSpPr/>
            <p:nvPr/>
          </p:nvSpPr>
          <p:spPr>
            <a:xfrm>
              <a:off x="4794878" y="4719245"/>
              <a:ext cx="36936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Noto Sans Symbols"/>
                <a:buNone/>
              </a:pPr>
              <a:r>
                <a:rPr b="0" i="0" lang="en-US" sz="2400" u="none" cap="none" strike="noStrike">
                  <a:solidFill>
                    <a:srgbClr val="FF0000"/>
                  </a:solidFill>
                  <a:latin typeface="Courier New"/>
                  <a:ea typeface="Courier New"/>
                  <a:cs typeface="Courier New"/>
                  <a:sym typeface="Courier New"/>
                </a:rPr>
                <a:t>1</a:t>
              </a:r>
              <a:endParaRPr/>
            </a:p>
          </p:txBody>
        </p:sp>
        <p:sp>
          <p:nvSpPr>
            <p:cNvPr id="2899" name="Google Shape;2899;p37"/>
            <p:cNvSpPr/>
            <p:nvPr/>
          </p:nvSpPr>
          <p:spPr>
            <a:xfrm>
              <a:off x="1706533" y="4400998"/>
              <a:ext cx="36936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sngStrike">
                  <a:solidFill>
                    <a:srgbClr val="FF0000"/>
                  </a:solidFill>
                  <a:latin typeface="Courier New"/>
                  <a:ea typeface="Courier New"/>
                  <a:cs typeface="Courier New"/>
                  <a:sym typeface="Courier New"/>
                </a:rPr>
                <a:t>1</a:t>
              </a:r>
              <a:endParaRPr/>
            </a:p>
          </p:txBody>
        </p:sp>
      </p:grpSp>
      <p:sp>
        <p:nvSpPr>
          <p:cNvPr id="2900" name="Google Shape;2900;p37"/>
          <p:cNvSpPr txBox="1"/>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0" i="0" lang="en-US" sz="1100" u="none" cap="none" strike="noStrike">
                <a:solidFill>
                  <a:srgbClr val="7F7F7F"/>
                </a:solidFill>
                <a:latin typeface="Calibri"/>
                <a:ea typeface="Calibri"/>
                <a:cs typeface="Calibri"/>
                <a:sym typeface="Calibri"/>
              </a:rPr>
              <a:t>Transport Layer: 3-</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28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5" name="Shape 2905"/>
        <p:cNvGrpSpPr/>
        <p:nvPr/>
      </p:nvGrpSpPr>
      <p:grpSpPr>
        <a:xfrm>
          <a:off x="0" y="0"/>
          <a:ext cx="0" cy="0"/>
          <a:chOff x="0" y="0"/>
          <a:chExt cx="0" cy="0"/>
        </a:xfrm>
      </p:grpSpPr>
      <p:grpSp>
        <p:nvGrpSpPr>
          <p:cNvPr id="2906" name="Google Shape;2906;p38"/>
          <p:cNvGrpSpPr/>
          <p:nvPr/>
        </p:nvGrpSpPr>
        <p:grpSpPr>
          <a:xfrm>
            <a:off x="4524845" y="-164053"/>
            <a:ext cx="2459687" cy="1558421"/>
            <a:chOff x="6697235" y="-249764"/>
            <a:chExt cx="2460203" cy="1558188"/>
          </a:xfrm>
        </p:grpSpPr>
        <p:sp>
          <p:nvSpPr>
            <p:cNvPr id="2907" name="Google Shape;2907;p38"/>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b="0" i="0" sz="2400" u="none" cap="none" strike="noStrike">
                <a:solidFill>
                  <a:srgbClr val="000000"/>
                </a:solidFill>
                <a:latin typeface="Comic Sans MS"/>
                <a:ea typeface="Comic Sans MS"/>
                <a:cs typeface="Comic Sans MS"/>
                <a:sym typeface="Comic Sans MS"/>
              </a:endParaRPr>
            </a:p>
          </p:txBody>
        </p:sp>
        <p:sp>
          <p:nvSpPr>
            <p:cNvPr id="2908" name="Google Shape;2908;p38"/>
            <p:cNvSpPr txBox="1"/>
            <p:nvPr/>
          </p:nvSpPr>
          <p:spPr>
            <a:xfrm>
              <a:off x="7283748" y="342294"/>
              <a:ext cx="112562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Tahoma"/>
                  <a:ea typeface="Tahoma"/>
                  <a:cs typeface="Tahoma"/>
                  <a:sym typeface="Tahoma"/>
                </a:rPr>
                <a:t>Example 2</a:t>
              </a:r>
              <a:endParaRPr/>
            </a:p>
          </p:txBody>
        </p:sp>
      </p:grpSp>
      <p:graphicFrame>
        <p:nvGraphicFramePr>
          <p:cNvPr id="2909" name="Google Shape;2909;p38"/>
          <p:cNvGraphicFramePr/>
          <p:nvPr/>
        </p:nvGraphicFramePr>
        <p:xfrm>
          <a:off x="7042150" y="1330325"/>
          <a:ext cx="3000000" cy="3000000"/>
        </p:xfrm>
        <a:graphic>
          <a:graphicData uri="http://schemas.openxmlformats.org/drawingml/2006/table">
            <a:tbl>
              <a:tblPr bandRow="1" firstRow="1">
                <a:noFill/>
                <a:tableStyleId>{6A801659-9FE2-4FBA-BB42-B8B3FDABCD59}</a:tableStyleId>
              </a:tblPr>
              <a:tblGrid>
                <a:gridCol w="1676400"/>
                <a:gridCol w="1676400"/>
              </a:tblGrid>
              <a:tr h="560000">
                <a:tc>
                  <a:txBody>
                    <a:bodyPr/>
                    <a:lstStyle/>
                    <a:p>
                      <a:pPr indent="0" lvl="0" marL="0" marR="0" rtl="0" algn="ctr">
                        <a:spcBef>
                          <a:spcPts val="0"/>
                        </a:spcBef>
                        <a:spcAft>
                          <a:spcPts val="0"/>
                        </a:spcAft>
                        <a:buNone/>
                      </a:pPr>
                      <a:r>
                        <a:rPr b="0" lang="en-US" sz="2000" u="none" cap="none" strike="noStrike">
                          <a:solidFill>
                            <a:schemeClr val="lt1"/>
                          </a:solidFill>
                          <a:latin typeface="Courier New"/>
                          <a:ea typeface="Courier New"/>
                          <a:cs typeface="Courier New"/>
                          <a:sym typeface="Courier New"/>
                        </a:rPr>
                        <a:t>1287</a:t>
                      </a:r>
                      <a:endParaRPr/>
                    </a:p>
                  </a:txBody>
                  <a:tcPr marT="42925" marB="42925" marR="85925" marL="85925">
                    <a:solidFill>
                      <a:srgbClr val="7676DE"/>
                    </a:solidFill>
                  </a:tcPr>
                </a:tc>
                <a:tc>
                  <a:txBody>
                    <a:bodyPr/>
                    <a:lstStyle/>
                    <a:p>
                      <a:pPr indent="0" lvl="0" marL="0" marR="0" rtl="0" algn="ctr">
                        <a:spcBef>
                          <a:spcPts val="0"/>
                        </a:spcBef>
                        <a:spcAft>
                          <a:spcPts val="0"/>
                        </a:spcAft>
                        <a:buNone/>
                      </a:pPr>
                      <a:r>
                        <a:rPr b="0" lang="en-US" sz="2000" u="none" cap="none" strike="noStrike">
                          <a:solidFill>
                            <a:schemeClr val="lt1"/>
                          </a:solidFill>
                          <a:latin typeface="Courier New"/>
                          <a:ea typeface="Courier New"/>
                          <a:cs typeface="Courier New"/>
                          <a:sym typeface="Courier New"/>
                        </a:rPr>
                        <a:t>13</a:t>
                      </a:r>
                      <a:endParaRPr/>
                    </a:p>
                  </a:txBody>
                  <a:tcPr marT="42925" marB="42925" marR="85925" marL="85925">
                    <a:solidFill>
                      <a:srgbClr val="7676DE"/>
                    </a:solidFill>
                  </a:tcPr>
                </a:tc>
              </a:tr>
              <a:tr h="560000">
                <a:tc>
                  <a:txBody>
                    <a:bodyPr/>
                    <a:lstStyle/>
                    <a:p>
                      <a:pPr indent="0" lvl="0" marL="0" marR="0" rtl="0" algn="ctr">
                        <a:spcBef>
                          <a:spcPts val="0"/>
                        </a:spcBef>
                        <a:spcAft>
                          <a:spcPts val="0"/>
                        </a:spcAft>
                        <a:buNone/>
                      </a:pPr>
                      <a:r>
                        <a:rPr b="0" lang="en-US" sz="2000" u="none" cap="none" strike="noStrike">
                          <a:solidFill>
                            <a:schemeClr val="lt1"/>
                          </a:solidFill>
                          <a:latin typeface="Courier New"/>
                          <a:ea typeface="Courier New"/>
                          <a:cs typeface="Courier New"/>
                          <a:sym typeface="Courier New"/>
                        </a:rPr>
                        <a:t>15</a:t>
                      </a:r>
                      <a:endParaRPr/>
                    </a:p>
                  </a:txBody>
                  <a:tcPr marT="42925" marB="42925" marR="85925" marL="85925">
                    <a:solidFill>
                      <a:srgbClr val="A3A3E9"/>
                    </a:solidFill>
                  </a:tcPr>
                </a:tc>
                <a:tc>
                  <a:txBody>
                    <a:bodyPr/>
                    <a:lstStyle/>
                    <a:p>
                      <a:pPr indent="0" lvl="0" marL="0" marR="0" rtl="0" algn="ctr">
                        <a:spcBef>
                          <a:spcPts val="0"/>
                        </a:spcBef>
                        <a:spcAft>
                          <a:spcPts val="0"/>
                        </a:spcAft>
                        <a:buNone/>
                      </a:pPr>
                      <a:r>
                        <a:rPr b="1" lang="en-US" sz="2000" u="none" cap="none" strike="noStrike">
                          <a:solidFill>
                            <a:srgbClr val="C00000"/>
                          </a:solidFill>
                          <a:latin typeface="Courier New"/>
                          <a:ea typeface="Courier New"/>
                          <a:cs typeface="Courier New"/>
                          <a:sym typeface="Courier New"/>
                        </a:rPr>
                        <a:t>7ADC</a:t>
                      </a:r>
                      <a:r>
                        <a:rPr b="1" baseline="-25000" lang="en-US" sz="2000" u="none" cap="none" strike="noStrike">
                          <a:solidFill>
                            <a:srgbClr val="C00000"/>
                          </a:solidFill>
                          <a:latin typeface="Courier New"/>
                          <a:ea typeface="Courier New"/>
                          <a:cs typeface="Courier New"/>
                          <a:sym typeface="Courier New"/>
                        </a:rPr>
                        <a:t>16</a:t>
                      </a:r>
                      <a:endParaRPr/>
                    </a:p>
                  </a:txBody>
                  <a:tcPr marT="42925" marB="42925" marR="85925" marL="85925">
                    <a:solidFill>
                      <a:srgbClr val="A3A3E9"/>
                    </a:solidFill>
                  </a:tcPr>
                </a:tc>
              </a:tr>
              <a:tr h="604025">
                <a:tc gridSpan="2">
                  <a:txBody>
                    <a:bodyPr/>
                    <a:lstStyle/>
                    <a:p>
                      <a:pPr indent="0" lvl="0" marL="0" marR="0" rtl="0" algn="ctr">
                        <a:spcBef>
                          <a:spcPts val="0"/>
                        </a:spcBef>
                        <a:spcAft>
                          <a:spcPts val="0"/>
                        </a:spcAft>
                        <a:buNone/>
                      </a:pPr>
                      <a:r>
                        <a:rPr lang="en-US" sz="1700" u="none" cap="none" strike="noStrike">
                          <a:solidFill>
                            <a:schemeClr val="dk1"/>
                          </a:solidFill>
                          <a:latin typeface="Arial"/>
                          <a:ea typeface="Arial"/>
                          <a:cs typeface="Arial"/>
                          <a:sym typeface="Arial"/>
                        </a:rPr>
                        <a:t>Application Data</a:t>
                      </a:r>
                      <a:br>
                        <a:rPr lang="en-US" sz="1700" u="none" cap="none" strike="noStrike">
                          <a:solidFill>
                            <a:schemeClr val="dk1"/>
                          </a:solidFill>
                          <a:latin typeface="Arial"/>
                          <a:ea typeface="Arial"/>
                          <a:cs typeface="Arial"/>
                          <a:sym typeface="Arial"/>
                        </a:rPr>
                      </a:br>
                      <a:r>
                        <a:rPr lang="en-US" sz="1700" u="none" cap="none" strike="noStrike">
                          <a:solidFill>
                            <a:schemeClr val="dk1"/>
                          </a:solidFill>
                          <a:latin typeface="Arial"/>
                          <a:ea typeface="Arial"/>
                          <a:cs typeface="Arial"/>
                          <a:sym typeface="Arial"/>
                        </a:rPr>
                        <a:t>(Payload)</a:t>
                      </a:r>
                      <a:endParaRPr/>
                    </a:p>
                  </a:txBody>
                  <a:tcPr marT="42925" marB="42925" marR="85925" marL="85925">
                    <a:solidFill>
                      <a:srgbClr val="D0D0F4"/>
                    </a:solidFill>
                  </a:tcPr>
                </a:tc>
                <a:tc hMerge="1"/>
              </a:tr>
            </a:tbl>
          </a:graphicData>
        </a:graphic>
      </p:graphicFrame>
      <p:sp>
        <p:nvSpPr>
          <p:cNvPr id="2910" name="Google Shape;2910;p38"/>
          <p:cNvSpPr txBox="1"/>
          <p:nvPr/>
        </p:nvSpPr>
        <p:spPr>
          <a:xfrm>
            <a:off x="1906588" y="1343026"/>
            <a:ext cx="4889500" cy="12604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0" i="0" lang="en-US" sz="2200" u="none" cap="none" strike="noStrike">
                <a:solidFill>
                  <a:srgbClr val="000000"/>
                </a:solidFill>
                <a:latin typeface="Arial"/>
                <a:ea typeface="Arial"/>
                <a:cs typeface="Arial"/>
                <a:sym typeface="Arial"/>
              </a:rPr>
              <a:t>Consider a receiver host received the segment with content given, check if any error occurred.</a:t>
            </a:r>
            <a:endParaRPr/>
          </a:p>
        </p:txBody>
      </p:sp>
      <p:sp>
        <p:nvSpPr>
          <p:cNvPr id="2911" name="Google Shape;2911;p38"/>
          <p:cNvSpPr/>
          <p:nvPr/>
        </p:nvSpPr>
        <p:spPr>
          <a:xfrm>
            <a:off x="1847850" y="3235326"/>
            <a:ext cx="4802188" cy="193992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ourier New"/>
                <a:ea typeface="Courier New"/>
                <a:cs typeface="Courier New"/>
                <a:sym typeface="Courier New"/>
              </a:rPr>
              <a:t>1287 🡪 00000101 00000111</a:t>
            </a:r>
            <a:endParaRPr/>
          </a:p>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ourier New"/>
                <a:ea typeface="Courier New"/>
                <a:cs typeface="Courier New"/>
                <a:sym typeface="Courier New"/>
              </a:rPr>
              <a:t>  13 🡪 00000000 00001101</a:t>
            </a:r>
            <a:endParaRPr/>
          </a:p>
          <a:p>
            <a:pPr indent="0" lvl="0" marL="0" marR="0" rtl="0" algn="l">
              <a:lnSpc>
                <a:spcPct val="100000"/>
              </a:lnSpc>
              <a:spcBef>
                <a:spcPts val="0"/>
              </a:spcBef>
              <a:spcAft>
                <a:spcPts val="0"/>
              </a:spcAft>
              <a:buClr>
                <a:srgbClr val="000000"/>
              </a:buClr>
              <a:buSzPts val="2400"/>
              <a:buFont typeface="Noto Sans Symbols"/>
              <a:buNone/>
            </a:pPr>
            <a:r>
              <a:rPr b="0" i="0" lang="en-US" sz="2400" u="none" cap="none" strike="noStrike">
                <a:solidFill>
                  <a:srgbClr val="000000"/>
                </a:solidFill>
                <a:latin typeface="Courier New"/>
                <a:ea typeface="Courier New"/>
                <a:cs typeface="Courier New"/>
                <a:sym typeface="Courier New"/>
              </a:rPr>
              <a:t>  15 🡪 00000000 00001111</a:t>
            </a:r>
            <a:endParaRPr/>
          </a:p>
          <a:p>
            <a:pPr indent="0" lvl="0" marL="0" marR="0" rtl="0" algn="l">
              <a:lnSpc>
                <a:spcPct val="100000"/>
              </a:lnSpc>
              <a:spcBef>
                <a:spcPts val="0"/>
              </a:spcBef>
              <a:spcAft>
                <a:spcPts val="0"/>
              </a:spcAft>
              <a:buClr>
                <a:srgbClr val="C00000"/>
              </a:buClr>
              <a:buSzPts val="2400"/>
              <a:buFont typeface="Noto Sans Symbols"/>
              <a:buNone/>
            </a:pPr>
            <a:r>
              <a:rPr b="0" i="0" lang="en-US" sz="2400" u="none" cap="none" strike="noStrike">
                <a:solidFill>
                  <a:srgbClr val="C00000"/>
                </a:solidFill>
                <a:latin typeface="Courier New"/>
                <a:ea typeface="Courier New"/>
                <a:cs typeface="Courier New"/>
                <a:sym typeface="Courier New"/>
              </a:rPr>
              <a:t>7ADC 🡪 01111010 11011100</a:t>
            </a:r>
            <a:endParaRPr/>
          </a:p>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Courier New"/>
              <a:ea typeface="Courier New"/>
              <a:cs typeface="Courier New"/>
              <a:sym typeface="Courier New"/>
            </a:endParaRPr>
          </a:p>
        </p:txBody>
      </p:sp>
      <p:grpSp>
        <p:nvGrpSpPr>
          <p:cNvPr id="2912" name="Google Shape;2912;p38"/>
          <p:cNvGrpSpPr/>
          <p:nvPr/>
        </p:nvGrpSpPr>
        <p:grpSpPr>
          <a:xfrm>
            <a:off x="3290888" y="4887913"/>
            <a:ext cx="4164012" cy="468312"/>
            <a:chOff x="2391985" y="4904147"/>
            <a:chExt cx="4164054" cy="468231"/>
          </a:xfrm>
        </p:grpSpPr>
        <p:sp>
          <p:nvSpPr>
            <p:cNvPr id="2913" name="Google Shape;2913;p38"/>
            <p:cNvSpPr/>
            <p:nvPr/>
          </p:nvSpPr>
          <p:spPr>
            <a:xfrm>
              <a:off x="2391985" y="4910713"/>
              <a:ext cx="332449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Noto Sans Symbols"/>
                <a:buNone/>
              </a:pPr>
              <a:r>
                <a:rPr b="1" i="0" lang="en-US" sz="2400" u="none" cap="none" strike="noStrike">
                  <a:solidFill>
                    <a:srgbClr val="FF0000"/>
                  </a:solidFill>
                  <a:latin typeface="Courier New"/>
                  <a:ea typeface="Courier New"/>
                  <a:cs typeface="Courier New"/>
                  <a:sym typeface="Courier New"/>
                </a:rPr>
                <a:t>01111111 11111111</a:t>
              </a:r>
              <a:endParaRPr/>
            </a:p>
          </p:txBody>
        </p:sp>
        <p:cxnSp>
          <p:nvCxnSpPr>
            <p:cNvPr id="2914" name="Google Shape;2914;p38"/>
            <p:cNvCxnSpPr/>
            <p:nvPr/>
          </p:nvCxnSpPr>
          <p:spPr>
            <a:xfrm rot="10800000">
              <a:off x="2403231" y="4904147"/>
              <a:ext cx="3223847" cy="1"/>
            </a:xfrm>
            <a:prstGeom prst="straightConnector1">
              <a:avLst/>
            </a:prstGeom>
            <a:noFill/>
            <a:ln cap="flat" cmpd="sng" w="9525">
              <a:solidFill>
                <a:schemeClr val="dk1"/>
              </a:solidFill>
              <a:prstDash val="solid"/>
              <a:round/>
              <a:headEnd len="med" w="med" type="none"/>
              <a:tailEnd len="med" w="med" type="none"/>
            </a:ln>
          </p:spPr>
        </p:cxnSp>
        <p:sp>
          <p:nvSpPr>
            <p:cNvPr id="2915" name="Google Shape;2915;p38"/>
            <p:cNvSpPr txBox="1"/>
            <p:nvPr/>
          </p:nvSpPr>
          <p:spPr>
            <a:xfrm>
              <a:off x="5812827" y="4988160"/>
              <a:ext cx="74321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Arial"/>
                  <a:ea typeface="Arial"/>
                  <a:cs typeface="Arial"/>
                  <a:sym typeface="Arial"/>
                </a:rPr>
                <a:t>(Sum)</a:t>
              </a:r>
              <a:endParaRPr/>
            </a:p>
          </p:txBody>
        </p:sp>
      </p:grpSp>
      <p:sp>
        <p:nvSpPr>
          <p:cNvPr id="2916" name="Google Shape;2916;p38"/>
          <p:cNvSpPr txBox="1"/>
          <p:nvPr/>
        </p:nvSpPr>
        <p:spPr>
          <a:xfrm>
            <a:off x="1922463" y="2701926"/>
            <a:ext cx="4889500" cy="46831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0" i="0" lang="en-US" sz="2200" u="sng" cap="none" strike="noStrike">
                <a:solidFill>
                  <a:srgbClr val="000000"/>
                </a:solidFill>
                <a:latin typeface="Arial"/>
                <a:ea typeface="Arial"/>
                <a:cs typeface="Arial"/>
                <a:sym typeface="Arial"/>
              </a:rPr>
              <a:t>Solution</a:t>
            </a:r>
            <a:r>
              <a:rPr b="0" i="0" lang="en-US" sz="2200" u="none" cap="none" strike="noStrike">
                <a:solidFill>
                  <a:srgbClr val="000000"/>
                </a:solidFill>
                <a:latin typeface="Arial"/>
                <a:ea typeface="Arial"/>
                <a:cs typeface="Arial"/>
                <a:sym typeface="Arial"/>
              </a:rPr>
              <a:t>:</a:t>
            </a:r>
            <a:endParaRPr/>
          </a:p>
        </p:txBody>
      </p:sp>
      <p:sp>
        <p:nvSpPr>
          <p:cNvPr id="2917" name="Google Shape;2917;p38"/>
          <p:cNvSpPr txBox="1"/>
          <p:nvPr/>
        </p:nvSpPr>
        <p:spPr>
          <a:xfrm>
            <a:off x="5951539" y="5524500"/>
            <a:ext cx="1462087" cy="469900"/>
          </a:xfrm>
          <a:prstGeom prst="rect">
            <a:avLst/>
          </a:prstGeom>
          <a:solidFill>
            <a:srgbClr val="FFFF00"/>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99"/>
              </a:buClr>
              <a:buSzPts val="1430"/>
              <a:buFont typeface="Noto Sans Symbols"/>
              <a:buNone/>
            </a:pPr>
            <a:r>
              <a:rPr b="1" i="0" lang="en-US" sz="2200" u="none" cap="none" strike="noStrike">
                <a:solidFill>
                  <a:srgbClr val="FF0000"/>
                </a:solidFill>
                <a:latin typeface="Arial"/>
                <a:ea typeface="Arial"/>
                <a:cs typeface="Arial"/>
                <a:sym typeface="Arial"/>
              </a:rPr>
              <a:t>Error !</a:t>
            </a:r>
            <a:endParaRPr/>
          </a:p>
        </p:txBody>
      </p:sp>
      <p:sp>
        <p:nvSpPr>
          <p:cNvPr id="2918" name="Google Shape;2918;p38"/>
          <p:cNvSpPr/>
          <p:nvPr/>
        </p:nvSpPr>
        <p:spPr>
          <a:xfrm>
            <a:off x="7535863" y="3451225"/>
            <a:ext cx="3040062" cy="1589088"/>
          </a:xfrm>
          <a:prstGeom prst="cloudCallout">
            <a:avLst>
              <a:gd fmla="val -43736" name="adj1"/>
              <a:gd fmla="val 77532" name="adj2"/>
            </a:avLst>
          </a:prstGeom>
          <a:solidFill>
            <a:srgbClr val="FFFF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Tahoma"/>
                <a:ea typeface="Tahoma"/>
                <a:cs typeface="Tahoma"/>
                <a:sym typeface="Tahoma"/>
              </a:rPr>
              <a:t>Why error ???</a:t>
            </a:r>
            <a:endParaRPr/>
          </a:p>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rgbClr val="000000"/>
              </a:solidFill>
              <a:latin typeface="Tahoma"/>
              <a:ea typeface="Tahoma"/>
              <a:cs typeface="Tahoma"/>
              <a:sym typeface="Tahoma"/>
            </a:endParaRPr>
          </a:p>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Tahoma"/>
                <a:ea typeface="Tahoma"/>
                <a:cs typeface="Tahoma"/>
                <a:sym typeface="Tahoma"/>
              </a:rPr>
              <a:t>summation result </a:t>
            </a:r>
            <a:endParaRPr/>
          </a:p>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Tahoma"/>
                <a:ea typeface="Tahoma"/>
                <a:cs typeface="Tahoma"/>
                <a:sym typeface="Tahoma"/>
              </a:rPr>
              <a:t>not equal to all 1’s  </a:t>
            </a:r>
            <a:endParaRPr/>
          </a:p>
        </p:txBody>
      </p:sp>
      <p:sp>
        <p:nvSpPr>
          <p:cNvPr id="2919" name="Google Shape;2919;p38"/>
          <p:cNvSpPr txBox="1"/>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0" i="0" lang="en-US" sz="1100" u="none" cap="none" strike="noStrike">
                <a:solidFill>
                  <a:srgbClr val="7F7F7F"/>
                </a:solidFill>
                <a:latin typeface="Calibri"/>
                <a:ea typeface="Calibri"/>
                <a:cs typeface="Calibri"/>
                <a:sym typeface="Calibri"/>
              </a:rPr>
              <a:t>Transport Layer: 3-</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29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18"/>
                                        </p:tgtEl>
                                        <p:attrNameLst>
                                          <p:attrName>style.visibility</p:attrName>
                                        </p:attrNameLst>
                                      </p:cBhvr>
                                      <p:to>
                                        <p:strVal val="visible"/>
                                      </p:to>
                                    </p:set>
                                    <p:anim calcmode="lin" valueType="num">
                                      <p:cBhvr additive="base">
                                        <p:cTn dur="500"/>
                                        <p:tgtEl>
                                          <p:spTgt spid="291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4" name="Shape 2924"/>
        <p:cNvGrpSpPr/>
        <p:nvPr/>
      </p:nvGrpSpPr>
      <p:grpSpPr>
        <a:xfrm>
          <a:off x="0" y="0"/>
          <a:ext cx="0" cy="0"/>
          <a:chOff x="0" y="0"/>
          <a:chExt cx="0" cy="0"/>
        </a:xfrm>
      </p:grpSpPr>
      <p:sp>
        <p:nvSpPr>
          <p:cNvPr id="2925" name="Google Shape;2925;p39"/>
          <p:cNvSpPr txBox="1"/>
          <p:nvPr>
            <p:ph type="title"/>
          </p:nvPr>
        </p:nvSpPr>
        <p:spPr>
          <a:xfrm>
            <a:off x="662184" y="196879"/>
            <a:ext cx="11100625" cy="120644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5400"/>
              <a:buFont typeface="Calibri"/>
              <a:buNone/>
            </a:pPr>
            <a:r>
              <a:rPr b="0" lang="en-US" sz="5400"/>
              <a:t>Summary</a:t>
            </a:r>
            <a:r>
              <a:rPr b="0" lang="en-US" sz="4800"/>
              <a:t>: UDP</a:t>
            </a:r>
            <a:endParaRPr/>
          </a:p>
        </p:txBody>
      </p:sp>
      <p:sp>
        <p:nvSpPr>
          <p:cNvPr id="2926" name="Google Shape;2926;p39"/>
          <p:cNvSpPr txBox="1"/>
          <p:nvPr/>
        </p:nvSpPr>
        <p:spPr>
          <a:xfrm>
            <a:off x="525681" y="1403321"/>
            <a:ext cx="11373633" cy="5247933"/>
          </a:xfrm>
          <a:prstGeom prst="rect">
            <a:avLst/>
          </a:prstGeom>
          <a:noFill/>
          <a:ln>
            <a:noFill/>
          </a:ln>
        </p:spPr>
        <p:txBody>
          <a:bodyPr anchorCtr="0" anchor="t" bIns="45700" lIns="91425" spcFirstLastPara="1" rIns="91425" wrap="square" tIns="45700">
            <a:noAutofit/>
          </a:bodyPr>
          <a:lstStyle/>
          <a:p>
            <a:pPr indent="-339725" lvl="0" marL="4635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“no frills” protocol: </a:t>
            </a:r>
            <a:endParaRPr/>
          </a:p>
          <a:p>
            <a:pPr indent="-341313" lvl="1" marL="808038"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segments may be lost, delivered out of order</a:t>
            </a:r>
            <a:endParaRPr/>
          </a:p>
          <a:p>
            <a:pPr indent="-341313" lvl="1" marL="808038"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best effort service: “send and hope for the best”</a:t>
            </a:r>
            <a:endParaRPr/>
          </a:p>
          <a:p>
            <a:pPr indent="-339725" lvl="0" marL="46355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UDP has its plusses:</a:t>
            </a:r>
            <a:endParaRPr/>
          </a:p>
          <a:p>
            <a:pPr indent="-341313" lvl="1" marL="808038"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no setup/handshaking needed (no RTT incurred)</a:t>
            </a:r>
            <a:endParaRPr/>
          </a:p>
          <a:p>
            <a:pPr indent="-341313" lvl="1" marL="808038"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can function when network service is compromised</a:t>
            </a:r>
            <a:endParaRPr/>
          </a:p>
          <a:p>
            <a:pPr indent="-341313" lvl="1" marL="808038"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helps with reliability (checksum)</a:t>
            </a:r>
            <a:endParaRPr/>
          </a:p>
          <a:p>
            <a:pPr indent="-339725" lvl="0" marL="463550"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build additional functionality on top of UDP in application layer (e.g., HTTP/3)</a:t>
            </a:r>
            <a:endParaRPr b="0" i="0" sz="2400" u="none" cap="none" strike="noStrike">
              <a:solidFill>
                <a:srgbClr val="000000"/>
              </a:solidFill>
              <a:latin typeface="Calibri"/>
              <a:ea typeface="Calibri"/>
              <a:cs typeface="Calibri"/>
              <a:sym typeface="Calibri"/>
            </a:endParaRPr>
          </a:p>
        </p:txBody>
      </p:sp>
      <p:sp>
        <p:nvSpPr>
          <p:cNvPr id="2927" name="Google Shape;2927;p3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6">
                                            <p:txEl>
                                              <p:pRg end="0" st="0"/>
                                            </p:txEl>
                                          </p:spTgt>
                                        </p:tgtEl>
                                        <p:attrNameLst>
                                          <p:attrName>style.visibility</p:attrName>
                                        </p:attrNameLst>
                                      </p:cBhvr>
                                      <p:to>
                                        <p:strVal val="visible"/>
                                      </p:to>
                                    </p:set>
                                    <p:animEffect filter="fade" transition="in">
                                      <p:cBhvr>
                                        <p:cTn dur="500"/>
                                        <p:tgtEl>
                                          <p:spTgt spid="292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6">
                                            <p:txEl>
                                              <p:pRg end="1" st="1"/>
                                            </p:txEl>
                                          </p:spTgt>
                                        </p:tgtEl>
                                        <p:attrNameLst>
                                          <p:attrName>style.visibility</p:attrName>
                                        </p:attrNameLst>
                                      </p:cBhvr>
                                      <p:to>
                                        <p:strVal val="visible"/>
                                      </p:to>
                                    </p:set>
                                    <p:animEffect filter="fade" transition="in">
                                      <p:cBhvr>
                                        <p:cTn dur="500"/>
                                        <p:tgtEl>
                                          <p:spTgt spid="292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6">
                                            <p:txEl>
                                              <p:pRg end="2" st="2"/>
                                            </p:txEl>
                                          </p:spTgt>
                                        </p:tgtEl>
                                        <p:attrNameLst>
                                          <p:attrName>style.visibility</p:attrName>
                                        </p:attrNameLst>
                                      </p:cBhvr>
                                      <p:to>
                                        <p:strVal val="visible"/>
                                      </p:to>
                                    </p:set>
                                    <p:animEffect filter="fade" transition="in">
                                      <p:cBhvr>
                                        <p:cTn dur="500"/>
                                        <p:tgtEl>
                                          <p:spTgt spid="292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6">
                                            <p:txEl>
                                              <p:pRg end="3" st="3"/>
                                            </p:txEl>
                                          </p:spTgt>
                                        </p:tgtEl>
                                        <p:attrNameLst>
                                          <p:attrName>style.visibility</p:attrName>
                                        </p:attrNameLst>
                                      </p:cBhvr>
                                      <p:to>
                                        <p:strVal val="visible"/>
                                      </p:to>
                                    </p:set>
                                    <p:animEffect filter="fade" transition="in">
                                      <p:cBhvr>
                                        <p:cTn dur="500"/>
                                        <p:tgtEl>
                                          <p:spTgt spid="292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6">
                                            <p:txEl>
                                              <p:pRg end="4" st="4"/>
                                            </p:txEl>
                                          </p:spTgt>
                                        </p:tgtEl>
                                        <p:attrNameLst>
                                          <p:attrName>style.visibility</p:attrName>
                                        </p:attrNameLst>
                                      </p:cBhvr>
                                      <p:to>
                                        <p:strVal val="visible"/>
                                      </p:to>
                                    </p:set>
                                    <p:animEffect filter="fade" transition="in">
                                      <p:cBhvr>
                                        <p:cTn dur="500"/>
                                        <p:tgtEl>
                                          <p:spTgt spid="292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6">
                                            <p:txEl>
                                              <p:pRg end="5" st="5"/>
                                            </p:txEl>
                                          </p:spTgt>
                                        </p:tgtEl>
                                        <p:attrNameLst>
                                          <p:attrName>style.visibility</p:attrName>
                                        </p:attrNameLst>
                                      </p:cBhvr>
                                      <p:to>
                                        <p:strVal val="visible"/>
                                      </p:to>
                                    </p:set>
                                    <p:animEffect filter="fade" transition="in">
                                      <p:cBhvr>
                                        <p:cTn dur="500"/>
                                        <p:tgtEl>
                                          <p:spTgt spid="292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6">
                                            <p:txEl>
                                              <p:pRg end="6" st="6"/>
                                            </p:txEl>
                                          </p:spTgt>
                                        </p:tgtEl>
                                        <p:attrNameLst>
                                          <p:attrName>style.visibility</p:attrName>
                                        </p:attrNameLst>
                                      </p:cBhvr>
                                      <p:to>
                                        <p:strVal val="visible"/>
                                      </p:to>
                                    </p:set>
                                    <p:animEffect filter="fade" transition="in">
                                      <p:cBhvr>
                                        <p:cTn dur="500"/>
                                        <p:tgtEl>
                                          <p:spTgt spid="292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6">
                                            <p:txEl>
                                              <p:pRg end="7" st="7"/>
                                            </p:txEl>
                                          </p:spTgt>
                                        </p:tgtEl>
                                        <p:attrNameLst>
                                          <p:attrName>style.visibility</p:attrName>
                                        </p:attrNameLst>
                                      </p:cBhvr>
                                      <p:to>
                                        <p:strVal val="visible"/>
                                      </p:to>
                                    </p:set>
                                    <p:animEffect filter="fade" transition="in">
                                      <p:cBhvr>
                                        <p:cTn dur="500"/>
                                        <p:tgtEl>
                                          <p:spTgt spid="2926">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2" name="Shape 2932"/>
        <p:cNvGrpSpPr/>
        <p:nvPr/>
      </p:nvGrpSpPr>
      <p:grpSpPr>
        <a:xfrm>
          <a:off x="0" y="0"/>
          <a:ext cx="0" cy="0"/>
          <a:chOff x="0" y="0"/>
          <a:chExt cx="0" cy="0"/>
        </a:xfrm>
      </p:grpSpPr>
      <p:sp>
        <p:nvSpPr>
          <p:cNvPr id="2933" name="Google Shape;2933;p40"/>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2934" name="Google Shape;2934;p40"/>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010086"/>
              </a:buClr>
              <a:buSzPts val="3200"/>
              <a:buChar char="▪"/>
            </a:pPr>
            <a:r>
              <a:rPr lang="en-US" sz="3200">
                <a:solidFill>
                  <a:srgbClr val="C00000"/>
                </a:solidFill>
              </a:rPr>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Evolution of transport-layer functionality</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2935" name="Google Shape;2935;p4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2936" name="Google Shape;2936;p40"/>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1" name="Shape 2941"/>
        <p:cNvGrpSpPr/>
        <p:nvPr/>
      </p:nvGrpSpPr>
      <p:grpSpPr>
        <a:xfrm>
          <a:off x="0" y="0"/>
          <a:ext cx="0" cy="0"/>
          <a:chOff x="0" y="0"/>
          <a:chExt cx="0" cy="0"/>
        </a:xfrm>
      </p:grpSpPr>
      <p:sp>
        <p:nvSpPr>
          <p:cNvPr id="2942" name="Google Shape;2942;p4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(rdt)</a:t>
            </a:r>
            <a:endParaRPr/>
          </a:p>
        </p:txBody>
      </p:sp>
      <p:grpSp>
        <p:nvGrpSpPr>
          <p:cNvPr id="2943" name="Google Shape;2943;p41"/>
          <p:cNvGrpSpPr/>
          <p:nvPr/>
        </p:nvGrpSpPr>
        <p:grpSpPr>
          <a:xfrm>
            <a:off x="238849" y="1911780"/>
            <a:ext cx="5147343" cy="2073847"/>
            <a:chOff x="737513" y="2398718"/>
            <a:chExt cx="5595549" cy="2073847"/>
          </a:xfrm>
        </p:grpSpPr>
        <p:sp>
          <p:nvSpPr>
            <p:cNvPr id="2944" name="Google Shape;2944;p41"/>
            <p:cNvSpPr/>
            <p:nvPr/>
          </p:nvSpPr>
          <p:spPr>
            <a:xfrm>
              <a:off x="4575391" y="3206649"/>
              <a:ext cx="929535" cy="419742"/>
            </a:xfrm>
            <a:prstGeom prst="bentUpArrow">
              <a:avLst>
                <a:gd fmla="val 7688" name="adj1"/>
                <a:gd fmla="val 18199" name="adj2"/>
                <a:gd fmla="val 2019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945" name="Google Shape;2945;p41"/>
            <p:cNvGrpSpPr/>
            <p:nvPr/>
          </p:nvGrpSpPr>
          <p:grpSpPr>
            <a:xfrm>
              <a:off x="1442223" y="2551892"/>
              <a:ext cx="1245036" cy="593992"/>
              <a:chOff x="9852456" y="608434"/>
              <a:chExt cx="1245036" cy="593992"/>
            </a:xfrm>
          </p:grpSpPr>
          <p:sp>
            <p:nvSpPr>
              <p:cNvPr id="2946" name="Google Shape;2946;p41"/>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947" name="Google Shape;2947;p41"/>
              <p:cNvSpPr txBox="1"/>
              <p:nvPr/>
            </p:nvSpPr>
            <p:spPr>
              <a:xfrm>
                <a:off x="9935581"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sending process</a:t>
                </a:r>
                <a:endParaRPr/>
              </a:p>
            </p:txBody>
          </p:sp>
        </p:grpSp>
        <p:grpSp>
          <p:nvGrpSpPr>
            <p:cNvPr id="2948" name="Google Shape;2948;p41"/>
            <p:cNvGrpSpPr/>
            <p:nvPr/>
          </p:nvGrpSpPr>
          <p:grpSpPr>
            <a:xfrm>
              <a:off x="2038693" y="3003923"/>
              <a:ext cx="577241" cy="307777"/>
              <a:chOff x="9950444" y="999755"/>
              <a:chExt cx="577241" cy="307777"/>
            </a:xfrm>
          </p:grpSpPr>
          <p:sp>
            <p:nvSpPr>
              <p:cNvPr id="2949" name="Google Shape;2949;p41"/>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50" name="Google Shape;2950;p41"/>
              <p:cNvSpPr txBox="1"/>
              <p:nvPr/>
            </p:nvSpPr>
            <p:spPr>
              <a:xfrm>
                <a:off x="9950444" y="999755"/>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2951" name="Google Shape;2951;p41"/>
            <p:cNvGrpSpPr/>
            <p:nvPr/>
          </p:nvGrpSpPr>
          <p:grpSpPr>
            <a:xfrm>
              <a:off x="1175476" y="2432423"/>
              <a:ext cx="545509" cy="512284"/>
              <a:chOff x="-44" y="1473"/>
              <a:chExt cx="981" cy="1105"/>
            </a:xfrm>
          </p:grpSpPr>
          <p:pic>
            <p:nvPicPr>
              <p:cNvPr descr="desktop_computer_stylized_medium" id="2952" name="Google Shape;2952;p4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53" name="Google Shape;2953;p4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954" name="Google Shape;2954;p41"/>
            <p:cNvGrpSpPr/>
            <p:nvPr/>
          </p:nvGrpSpPr>
          <p:grpSpPr>
            <a:xfrm>
              <a:off x="4756576" y="2530702"/>
              <a:ext cx="1245036" cy="593992"/>
              <a:chOff x="9852456" y="608434"/>
              <a:chExt cx="1245036" cy="593992"/>
            </a:xfrm>
          </p:grpSpPr>
          <p:sp>
            <p:nvSpPr>
              <p:cNvPr id="2955" name="Google Shape;2955;p41"/>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956" name="Google Shape;2956;p41"/>
              <p:cNvSpPr txBox="1"/>
              <p:nvPr/>
            </p:nvSpPr>
            <p:spPr>
              <a:xfrm>
                <a:off x="9921965"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receiving process</a:t>
                </a:r>
                <a:endParaRPr/>
              </a:p>
            </p:txBody>
          </p:sp>
        </p:grpSp>
        <p:grpSp>
          <p:nvGrpSpPr>
            <p:cNvPr id="2957" name="Google Shape;2957;p41"/>
            <p:cNvGrpSpPr/>
            <p:nvPr/>
          </p:nvGrpSpPr>
          <p:grpSpPr>
            <a:xfrm>
              <a:off x="4815705" y="3003923"/>
              <a:ext cx="577241" cy="307777"/>
              <a:chOff x="9678159" y="981583"/>
              <a:chExt cx="577241" cy="307777"/>
            </a:xfrm>
          </p:grpSpPr>
          <p:sp>
            <p:nvSpPr>
              <p:cNvPr id="2958" name="Google Shape;2958;p41"/>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59" name="Google Shape;2959;p41"/>
              <p:cNvSpPr txBox="1"/>
              <p:nvPr/>
            </p:nvSpPr>
            <p:spPr>
              <a:xfrm>
                <a:off x="9678159" y="981583"/>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2960" name="Google Shape;2960;p41"/>
            <p:cNvGrpSpPr/>
            <p:nvPr/>
          </p:nvGrpSpPr>
          <p:grpSpPr>
            <a:xfrm>
              <a:off x="5854223" y="2398718"/>
              <a:ext cx="230514" cy="466725"/>
              <a:chOff x="4140" y="429"/>
              <a:chExt cx="1425" cy="2396"/>
            </a:xfrm>
          </p:grpSpPr>
          <p:sp>
            <p:nvSpPr>
              <p:cNvPr id="2961" name="Google Shape;2961;p4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62" name="Google Shape;2962;p41"/>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63" name="Google Shape;2963;p4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64" name="Google Shape;2964;p4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65" name="Google Shape;2965;p41"/>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966" name="Google Shape;2966;p41"/>
              <p:cNvGrpSpPr/>
              <p:nvPr/>
            </p:nvGrpSpPr>
            <p:grpSpPr>
              <a:xfrm>
                <a:off x="4751" y="667"/>
                <a:ext cx="580" cy="146"/>
                <a:chOff x="617" y="2567"/>
                <a:chExt cx="724" cy="140"/>
              </a:xfrm>
            </p:grpSpPr>
            <p:sp>
              <p:nvSpPr>
                <p:cNvPr id="2967" name="Google Shape;2967;p41"/>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68" name="Google Shape;2968;p41"/>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969" name="Google Shape;2969;p41"/>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970" name="Google Shape;2970;p41"/>
              <p:cNvGrpSpPr/>
              <p:nvPr/>
            </p:nvGrpSpPr>
            <p:grpSpPr>
              <a:xfrm>
                <a:off x="4745" y="996"/>
                <a:ext cx="580" cy="156"/>
                <a:chOff x="612" y="2570"/>
                <a:chExt cx="724" cy="162"/>
              </a:xfrm>
            </p:grpSpPr>
            <p:sp>
              <p:nvSpPr>
                <p:cNvPr id="2971" name="Google Shape;2971;p41"/>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2" name="Google Shape;2972;p41"/>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973" name="Google Shape;2973;p41"/>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4" name="Google Shape;2974;p41"/>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975" name="Google Shape;2975;p41"/>
              <p:cNvGrpSpPr/>
              <p:nvPr/>
            </p:nvGrpSpPr>
            <p:grpSpPr>
              <a:xfrm>
                <a:off x="4733" y="1627"/>
                <a:ext cx="586" cy="151"/>
                <a:chOff x="611" y="2568"/>
                <a:chExt cx="730" cy="139"/>
              </a:xfrm>
            </p:grpSpPr>
            <p:sp>
              <p:nvSpPr>
                <p:cNvPr id="2976" name="Google Shape;2976;p41"/>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77" name="Google Shape;2977;p41"/>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978" name="Google Shape;2978;p4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979" name="Google Shape;2979;p41"/>
              <p:cNvGrpSpPr/>
              <p:nvPr/>
            </p:nvGrpSpPr>
            <p:grpSpPr>
              <a:xfrm>
                <a:off x="4739" y="1325"/>
                <a:ext cx="580" cy="140"/>
                <a:chOff x="614" y="2566"/>
                <a:chExt cx="723" cy="140"/>
              </a:xfrm>
            </p:grpSpPr>
            <p:sp>
              <p:nvSpPr>
                <p:cNvPr id="2980" name="Google Shape;2980;p41"/>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81" name="Google Shape;2981;p41"/>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982" name="Google Shape;2982;p41"/>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83" name="Google Shape;2983;p4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84" name="Google Shape;2984;p4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85" name="Google Shape;2985;p41"/>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86" name="Google Shape;2986;p4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87" name="Google Shape;2987;p41"/>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88" name="Google Shape;2988;p41"/>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89" name="Google Shape;2989;p41"/>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90" name="Google Shape;2990;p41"/>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991" name="Google Shape;2991;p41"/>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92" name="Google Shape;2992;p41"/>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993" name="Google Shape;2993;p41"/>
            <p:cNvGrpSpPr/>
            <p:nvPr/>
          </p:nvGrpSpPr>
          <p:grpSpPr>
            <a:xfrm>
              <a:off x="2669417" y="3423937"/>
              <a:ext cx="2003932" cy="369332"/>
              <a:chOff x="7504363" y="3141846"/>
              <a:chExt cx="2003932" cy="369332"/>
            </a:xfrm>
          </p:grpSpPr>
          <p:grpSp>
            <p:nvGrpSpPr>
              <p:cNvPr id="2994" name="Google Shape;2994;p41"/>
              <p:cNvGrpSpPr/>
              <p:nvPr/>
            </p:nvGrpSpPr>
            <p:grpSpPr>
              <a:xfrm>
                <a:off x="7504363" y="3183676"/>
                <a:ext cx="2003932" cy="306163"/>
                <a:chOff x="1616358" y="2551230"/>
                <a:chExt cx="2141698" cy="218510"/>
              </a:xfrm>
            </p:grpSpPr>
            <p:sp>
              <p:nvSpPr>
                <p:cNvPr id="2995" name="Google Shape;2995;p41"/>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96" name="Google Shape;2996;p41"/>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97" name="Google Shape;2997;p41"/>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98" name="Google Shape;2998;p41"/>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999" name="Google Shape;2999;p41"/>
              <p:cNvSpPr txBox="1"/>
              <p:nvPr/>
            </p:nvSpPr>
            <p:spPr>
              <a:xfrm>
                <a:off x="7695752" y="3141846"/>
                <a:ext cx="167885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reliable channel</a:t>
                </a:r>
                <a:endParaRPr/>
              </a:p>
            </p:txBody>
          </p:sp>
        </p:grpSp>
        <p:cxnSp>
          <p:nvCxnSpPr>
            <p:cNvPr id="3000" name="Google Shape;3000;p41"/>
            <p:cNvCxnSpPr/>
            <p:nvPr/>
          </p:nvCxnSpPr>
          <p:spPr>
            <a:xfrm>
              <a:off x="1082232"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3001" name="Google Shape;3001;p41"/>
            <p:cNvSpPr/>
            <p:nvPr/>
          </p:nvSpPr>
          <p:spPr>
            <a:xfrm rot="5400000">
              <a:off x="2152182" y="3067004"/>
              <a:ext cx="462111" cy="773811"/>
            </a:xfrm>
            <a:prstGeom prst="bentUpArrow">
              <a:avLst>
                <a:gd fmla="val 7999" name="adj1"/>
                <a:gd fmla="val 16334" name="adj2"/>
                <a:gd fmla="val 2138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3002" name="Google Shape;3002;p41"/>
            <p:cNvCxnSpPr/>
            <p:nvPr/>
          </p:nvCxnSpPr>
          <p:spPr>
            <a:xfrm>
              <a:off x="4645151"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3003" name="Google Shape;3003;p41"/>
            <p:cNvSpPr txBox="1"/>
            <p:nvPr/>
          </p:nvSpPr>
          <p:spPr>
            <a:xfrm>
              <a:off x="737513" y="3044385"/>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3004" name="Google Shape;3004;p41"/>
            <p:cNvSpPr txBox="1"/>
            <p:nvPr/>
          </p:nvSpPr>
          <p:spPr>
            <a:xfrm>
              <a:off x="828116" y="3272133"/>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3005" name="Google Shape;3005;p41"/>
            <p:cNvSpPr txBox="1"/>
            <p:nvPr/>
          </p:nvSpPr>
          <p:spPr>
            <a:xfrm flipH="1">
              <a:off x="1817207" y="4010900"/>
              <a:ext cx="40256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abstraction</a:t>
              </a:r>
              <a:endParaRPr/>
            </a:p>
          </p:txBody>
        </p:sp>
      </p:grpSp>
      <p:sp>
        <p:nvSpPr>
          <p:cNvPr id="3006" name="Google Shape;3006;p4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1" name="Shape 3011"/>
        <p:cNvGrpSpPr/>
        <p:nvPr/>
      </p:nvGrpSpPr>
      <p:grpSpPr>
        <a:xfrm>
          <a:off x="0" y="0"/>
          <a:ext cx="0" cy="0"/>
          <a:chOff x="0" y="0"/>
          <a:chExt cx="0" cy="0"/>
        </a:xfrm>
      </p:grpSpPr>
      <p:sp>
        <p:nvSpPr>
          <p:cNvPr id="3012" name="Google Shape;3012;p42"/>
          <p:cNvSpPr txBox="1"/>
          <p:nvPr>
            <p:ph type="title"/>
          </p:nvPr>
        </p:nvSpPr>
        <p:spPr>
          <a:xfrm>
            <a:off x="737497"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(rdt)</a:t>
            </a:r>
            <a:endParaRPr/>
          </a:p>
        </p:txBody>
      </p:sp>
      <p:grpSp>
        <p:nvGrpSpPr>
          <p:cNvPr id="3013" name="Google Shape;3013;p42"/>
          <p:cNvGrpSpPr/>
          <p:nvPr/>
        </p:nvGrpSpPr>
        <p:grpSpPr>
          <a:xfrm>
            <a:off x="6226081" y="1900904"/>
            <a:ext cx="5598584" cy="4095684"/>
            <a:chOff x="6226081" y="2364366"/>
            <a:chExt cx="5598584" cy="4095684"/>
          </a:xfrm>
        </p:grpSpPr>
        <p:grpSp>
          <p:nvGrpSpPr>
            <p:cNvPr id="3014" name="Google Shape;3014;p42"/>
            <p:cNvGrpSpPr/>
            <p:nvPr/>
          </p:nvGrpSpPr>
          <p:grpSpPr>
            <a:xfrm>
              <a:off x="6944646" y="2545250"/>
              <a:ext cx="1245036" cy="593992"/>
              <a:chOff x="9852456" y="608434"/>
              <a:chExt cx="1245036" cy="593992"/>
            </a:xfrm>
          </p:grpSpPr>
          <p:sp>
            <p:nvSpPr>
              <p:cNvPr id="3015" name="Google Shape;3015;p42"/>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016" name="Google Shape;3016;p42"/>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3017" name="Google Shape;3017;p42"/>
            <p:cNvGrpSpPr/>
            <p:nvPr/>
          </p:nvGrpSpPr>
          <p:grpSpPr>
            <a:xfrm>
              <a:off x="7541116" y="2997281"/>
              <a:ext cx="577241" cy="338554"/>
              <a:chOff x="9950444" y="999755"/>
              <a:chExt cx="577241" cy="338554"/>
            </a:xfrm>
          </p:grpSpPr>
          <p:sp>
            <p:nvSpPr>
              <p:cNvPr id="3018" name="Google Shape;3018;p42"/>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19" name="Google Shape;3019;p42"/>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020" name="Google Shape;3020;p42"/>
            <p:cNvGrpSpPr/>
            <p:nvPr/>
          </p:nvGrpSpPr>
          <p:grpSpPr>
            <a:xfrm>
              <a:off x="6677899" y="2425781"/>
              <a:ext cx="545509" cy="512284"/>
              <a:chOff x="-44" y="1473"/>
              <a:chExt cx="981" cy="1105"/>
            </a:xfrm>
          </p:grpSpPr>
          <p:pic>
            <p:nvPicPr>
              <p:cNvPr descr="desktop_computer_stylized_medium" id="3021" name="Google Shape;3021;p4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22" name="Google Shape;3022;p4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023" name="Google Shape;3023;p42"/>
            <p:cNvGrpSpPr/>
            <p:nvPr/>
          </p:nvGrpSpPr>
          <p:grpSpPr>
            <a:xfrm>
              <a:off x="10189724" y="2496350"/>
              <a:ext cx="1245036" cy="593992"/>
              <a:chOff x="9852456" y="608434"/>
              <a:chExt cx="1245036" cy="593992"/>
            </a:xfrm>
          </p:grpSpPr>
          <p:sp>
            <p:nvSpPr>
              <p:cNvPr id="3024" name="Google Shape;3024;p42"/>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025" name="Google Shape;3025;p42"/>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3026" name="Google Shape;3026;p42"/>
            <p:cNvGrpSpPr/>
            <p:nvPr/>
          </p:nvGrpSpPr>
          <p:grpSpPr>
            <a:xfrm>
              <a:off x="10248853" y="2969571"/>
              <a:ext cx="577241" cy="338554"/>
              <a:chOff x="9678159" y="981583"/>
              <a:chExt cx="577241" cy="338554"/>
            </a:xfrm>
          </p:grpSpPr>
          <p:sp>
            <p:nvSpPr>
              <p:cNvPr id="3027" name="Google Shape;3027;p42"/>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28" name="Google Shape;3028;p42"/>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029" name="Google Shape;3029;p42"/>
            <p:cNvGrpSpPr/>
            <p:nvPr/>
          </p:nvGrpSpPr>
          <p:grpSpPr>
            <a:xfrm>
              <a:off x="11287371" y="2364366"/>
              <a:ext cx="230514" cy="466725"/>
              <a:chOff x="4140" y="429"/>
              <a:chExt cx="1425" cy="2396"/>
            </a:xfrm>
          </p:grpSpPr>
          <p:sp>
            <p:nvSpPr>
              <p:cNvPr id="3030" name="Google Shape;3030;p4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31" name="Google Shape;3031;p42"/>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32" name="Google Shape;3032;p4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33" name="Google Shape;3033;p4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34" name="Google Shape;3034;p42"/>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035" name="Google Shape;3035;p42"/>
              <p:cNvGrpSpPr/>
              <p:nvPr/>
            </p:nvGrpSpPr>
            <p:grpSpPr>
              <a:xfrm>
                <a:off x="4751" y="667"/>
                <a:ext cx="580" cy="146"/>
                <a:chOff x="617" y="2567"/>
                <a:chExt cx="724" cy="140"/>
              </a:xfrm>
            </p:grpSpPr>
            <p:sp>
              <p:nvSpPr>
                <p:cNvPr id="3036" name="Google Shape;3036;p42"/>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37" name="Google Shape;3037;p42"/>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038" name="Google Shape;3038;p42"/>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039" name="Google Shape;3039;p42"/>
              <p:cNvGrpSpPr/>
              <p:nvPr/>
            </p:nvGrpSpPr>
            <p:grpSpPr>
              <a:xfrm>
                <a:off x="4745" y="996"/>
                <a:ext cx="580" cy="156"/>
                <a:chOff x="612" y="2570"/>
                <a:chExt cx="724" cy="162"/>
              </a:xfrm>
            </p:grpSpPr>
            <p:sp>
              <p:nvSpPr>
                <p:cNvPr id="3040" name="Google Shape;3040;p42"/>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41" name="Google Shape;3041;p42"/>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042" name="Google Shape;3042;p42"/>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43" name="Google Shape;3043;p42"/>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044" name="Google Shape;3044;p42"/>
              <p:cNvGrpSpPr/>
              <p:nvPr/>
            </p:nvGrpSpPr>
            <p:grpSpPr>
              <a:xfrm>
                <a:off x="4733" y="1627"/>
                <a:ext cx="586" cy="151"/>
                <a:chOff x="611" y="2568"/>
                <a:chExt cx="730" cy="139"/>
              </a:xfrm>
            </p:grpSpPr>
            <p:sp>
              <p:nvSpPr>
                <p:cNvPr id="3045" name="Google Shape;3045;p42"/>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46" name="Google Shape;3046;p42"/>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047" name="Google Shape;3047;p4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048" name="Google Shape;3048;p42"/>
              <p:cNvGrpSpPr/>
              <p:nvPr/>
            </p:nvGrpSpPr>
            <p:grpSpPr>
              <a:xfrm>
                <a:off x="4739" y="1325"/>
                <a:ext cx="580" cy="140"/>
                <a:chOff x="614" y="2566"/>
                <a:chExt cx="723" cy="140"/>
              </a:xfrm>
            </p:grpSpPr>
            <p:sp>
              <p:nvSpPr>
                <p:cNvPr id="3049" name="Google Shape;3049;p42"/>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0" name="Google Shape;3050;p42"/>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051" name="Google Shape;3051;p42"/>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2" name="Google Shape;3052;p4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3" name="Google Shape;3053;p4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4" name="Google Shape;3054;p42"/>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5" name="Google Shape;3055;p4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6" name="Google Shape;3056;p42"/>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7" name="Google Shape;3057;p42"/>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8" name="Google Shape;3058;p42"/>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9" name="Google Shape;3059;p42"/>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3060" name="Google Shape;3060;p42"/>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61" name="Google Shape;3061;p42"/>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3062" name="Google Shape;3062;p42"/>
            <p:cNvCxnSpPr/>
            <p:nvPr/>
          </p:nvCxnSpPr>
          <p:spPr>
            <a:xfrm>
              <a:off x="6584655" y="33189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063" name="Google Shape;3063;p42"/>
            <p:cNvCxnSpPr/>
            <p:nvPr/>
          </p:nvCxnSpPr>
          <p:spPr>
            <a:xfrm>
              <a:off x="10078299" y="3291191"/>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3064" name="Google Shape;3064;p42"/>
            <p:cNvSpPr txBox="1"/>
            <p:nvPr/>
          </p:nvSpPr>
          <p:spPr>
            <a:xfrm>
              <a:off x="6226081" y="3037743"/>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3065" name="Google Shape;3065;p42"/>
            <p:cNvSpPr txBox="1"/>
            <p:nvPr/>
          </p:nvSpPr>
          <p:spPr>
            <a:xfrm>
              <a:off x="6344394" y="3265491"/>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3066" name="Google Shape;3066;p42"/>
            <p:cNvSpPr txBox="1"/>
            <p:nvPr/>
          </p:nvSpPr>
          <p:spPr>
            <a:xfrm flipH="1">
              <a:off x="7109034" y="5998385"/>
              <a:ext cx="4657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implementation</a:t>
              </a:r>
              <a:endParaRPr/>
            </a:p>
          </p:txBody>
        </p:sp>
        <p:grpSp>
          <p:nvGrpSpPr>
            <p:cNvPr id="3067" name="Google Shape;3067;p42"/>
            <p:cNvGrpSpPr/>
            <p:nvPr/>
          </p:nvGrpSpPr>
          <p:grpSpPr>
            <a:xfrm>
              <a:off x="6573835" y="5301907"/>
              <a:ext cx="5250830" cy="481581"/>
              <a:chOff x="6737055" y="3471301"/>
              <a:chExt cx="5250830" cy="481581"/>
            </a:xfrm>
          </p:grpSpPr>
          <p:grpSp>
            <p:nvGrpSpPr>
              <p:cNvPr id="3068" name="Google Shape;3068;p42"/>
              <p:cNvGrpSpPr/>
              <p:nvPr/>
            </p:nvGrpSpPr>
            <p:grpSpPr>
              <a:xfrm>
                <a:off x="8324240" y="3583550"/>
                <a:ext cx="2044628" cy="369332"/>
                <a:chOff x="7504363" y="3155701"/>
                <a:chExt cx="2044628" cy="369332"/>
              </a:xfrm>
            </p:grpSpPr>
            <p:grpSp>
              <p:nvGrpSpPr>
                <p:cNvPr id="3069" name="Google Shape;3069;p42"/>
                <p:cNvGrpSpPr/>
                <p:nvPr/>
              </p:nvGrpSpPr>
              <p:grpSpPr>
                <a:xfrm>
                  <a:off x="7504363" y="3183676"/>
                  <a:ext cx="2003932" cy="306163"/>
                  <a:chOff x="1616358" y="2551230"/>
                  <a:chExt cx="2141698" cy="218510"/>
                </a:xfrm>
              </p:grpSpPr>
              <p:sp>
                <p:nvSpPr>
                  <p:cNvPr id="3070" name="Google Shape;3070;p42"/>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71" name="Google Shape;3071;p42"/>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72" name="Google Shape;3072;p42"/>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73" name="Google Shape;3073;p42"/>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3074" name="Google Shape;3074;p42"/>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3075" name="Google Shape;3075;p42"/>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076" name="Google Shape;3076;p42"/>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sp>
          <p:nvSpPr>
            <p:cNvPr id="3077" name="Google Shape;3077;p42"/>
            <p:cNvSpPr txBox="1"/>
            <p:nvPr/>
          </p:nvSpPr>
          <p:spPr>
            <a:xfrm>
              <a:off x="6413644" y="5279980"/>
              <a:ext cx="79438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800" u="none" cap="none" strike="noStrike">
                <a:solidFill>
                  <a:srgbClr val="000000"/>
                </a:solidFill>
                <a:latin typeface="Calibri"/>
                <a:ea typeface="Calibri"/>
                <a:cs typeface="Calibri"/>
                <a:sym typeface="Calibri"/>
              </a:endParaRPr>
            </a:p>
          </p:txBody>
        </p:sp>
        <p:sp>
          <p:nvSpPr>
            <p:cNvPr id="3078" name="Google Shape;3078;p42"/>
            <p:cNvSpPr txBox="1"/>
            <p:nvPr/>
          </p:nvSpPr>
          <p:spPr>
            <a:xfrm>
              <a:off x="6358993" y="5023850"/>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cxnSp>
          <p:nvCxnSpPr>
            <p:cNvPr id="3079" name="Google Shape;3079;p42"/>
            <p:cNvCxnSpPr/>
            <p:nvPr/>
          </p:nvCxnSpPr>
          <p:spPr>
            <a:xfrm>
              <a:off x="7532988" y="3216212"/>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3080" name="Google Shape;3080;p42"/>
            <p:cNvCxnSpPr/>
            <p:nvPr/>
          </p:nvCxnSpPr>
          <p:spPr>
            <a:xfrm rot="10800000">
              <a:off x="10867079" y="3152635"/>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3081" name="Google Shape;3081;p42"/>
            <p:cNvSpPr txBox="1"/>
            <p:nvPr/>
          </p:nvSpPr>
          <p:spPr>
            <a:xfrm>
              <a:off x="6584496" y="3824138"/>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reliable data transfer protocol</a:t>
              </a:r>
              <a:endParaRPr/>
            </a:p>
          </p:txBody>
        </p:sp>
        <p:sp>
          <p:nvSpPr>
            <p:cNvPr id="3082" name="Google Shape;3082;p42"/>
            <p:cNvSpPr txBox="1"/>
            <p:nvPr/>
          </p:nvSpPr>
          <p:spPr>
            <a:xfrm>
              <a:off x="9914975" y="3826493"/>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of reliable data transfer protocol</a:t>
              </a:r>
              <a:endParaRPr/>
            </a:p>
          </p:txBody>
        </p:sp>
        <p:grpSp>
          <p:nvGrpSpPr>
            <p:cNvPr id="3083" name="Google Shape;3083;p42"/>
            <p:cNvGrpSpPr/>
            <p:nvPr/>
          </p:nvGrpSpPr>
          <p:grpSpPr>
            <a:xfrm>
              <a:off x="7535361" y="5023850"/>
              <a:ext cx="632009" cy="632009"/>
              <a:chOff x="7408199" y="4955748"/>
              <a:chExt cx="632009" cy="632009"/>
            </a:xfrm>
          </p:grpSpPr>
          <p:cxnSp>
            <p:nvCxnSpPr>
              <p:cNvPr id="3084" name="Google Shape;3084;p42"/>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085" name="Google Shape;3085;p42"/>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3086" name="Google Shape;3086;p42"/>
            <p:cNvGrpSpPr/>
            <p:nvPr/>
          </p:nvGrpSpPr>
          <p:grpSpPr>
            <a:xfrm rot="-5400000">
              <a:off x="10248530" y="5019008"/>
              <a:ext cx="632009" cy="632009"/>
              <a:chOff x="7408199" y="4948974"/>
              <a:chExt cx="632009" cy="632009"/>
            </a:xfrm>
          </p:grpSpPr>
          <p:cxnSp>
            <p:nvCxnSpPr>
              <p:cNvPr id="3087" name="Google Shape;3087;p42"/>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088" name="Google Shape;3088;p42"/>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grpSp>
        <p:nvGrpSpPr>
          <p:cNvPr id="3089" name="Google Shape;3089;p42"/>
          <p:cNvGrpSpPr/>
          <p:nvPr/>
        </p:nvGrpSpPr>
        <p:grpSpPr>
          <a:xfrm>
            <a:off x="238849" y="1911780"/>
            <a:ext cx="5147343" cy="2073847"/>
            <a:chOff x="737513" y="2398718"/>
            <a:chExt cx="5595549" cy="2073847"/>
          </a:xfrm>
        </p:grpSpPr>
        <p:sp>
          <p:nvSpPr>
            <p:cNvPr id="3090" name="Google Shape;3090;p42"/>
            <p:cNvSpPr/>
            <p:nvPr/>
          </p:nvSpPr>
          <p:spPr>
            <a:xfrm>
              <a:off x="4575391" y="3206649"/>
              <a:ext cx="929535" cy="419742"/>
            </a:xfrm>
            <a:prstGeom prst="bentUpArrow">
              <a:avLst>
                <a:gd fmla="val 7688" name="adj1"/>
                <a:gd fmla="val 18199" name="adj2"/>
                <a:gd fmla="val 2019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091" name="Google Shape;3091;p42"/>
            <p:cNvGrpSpPr/>
            <p:nvPr/>
          </p:nvGrpSpPr>
          <p:grpSpPr>
            <a:xfrm>
              <a:off x="1442223" y="2551892"/>
              <a:ext cx="1245036" cy="593992"/>
              <a:chOff x="9852456" y="608434"/>
              <a:chExt cx="1245036" cy="593992"/>
            </a:xfrm>
          </p:grpSpPr>
          <p:sp>
            <p:nvSpPr>
              <p:cNvPr id="3092" name="Google Shape;3092;p42"/>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093" name="Google Shape;3093;p42"/>
              <p:cNvSpPr txBox="1"/>
              <p:nvPr/>
            </p:nvSpPr>
            <p:spPr>
              <a:xfrm>
                <a:off x="9935581"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sending process</a:t>
                </a:r>
                <a:endParaRPr/>
              </a:p>
            </p:txBody>
          </p:sp>
        </p:grpSp>
        <p:grpSp>
          <p:nvGrpSpPr>
            <p:cNvPr id="3094" name="Google Shape;3094;p42"/>
            <p:cNvGrpSpPr/>
            <p:nvPr/>
          </p:nvGrpSpPr>
          <p:grpSpPr>
            <a:xfrm>
              <a:off x="2038693" y="3003923"/>
              <a:ext cx="577241" cy="307777"/>
              <a:chOff x="9950444" y="999755"/>
              <a:chExt cx="577241" cy="307777"/>
            </a:xfrm>
          </p:grpSpPr>
          <p:sp>
            <p:nvSpPr>
              <p:cNvPr id="3095" name="Google Shape;3095;p42"/>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96" name="Google Shape;3096;p42"/>
              <p:cNvSpPr txBox="1"/>
              <p:nvPr/>
            </p:nvSpPr>
            <p:spPr>
              <a:xfrm>
                <a:off x="9950444" y="999755"/>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097" name="Google Shape;3097;p42"/>
            <p:cNvGrpSpPr/>
            <p:nvPr/>
          </p:nvGrpSpPr>
          <p:grpSpPr>
            <a:xfrm>
              <a:off x="1175476" y="2432423"/>
              <a:ext cx="545509" cy="512284"/>
              <a:chOff x="-44" y="1473"/>
              <a:chExt cx="981" cy="1105"/>
            </a:xfrm>
          </p:grpSpPr>
          <p:pic>
            <p:nvPicPr>
              <p:cNvPr descr="desktop_computer_stylized_medium" id="3098" name="Google Shape;3098;p4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99" name="Google Shape;3099;p4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100" name="Google Shape;3100;p42"/>
            <p:cNvGrpSpPr/>
            <p:nvPr/>
          </p:nvGrpSpPr>
          <p:grpSpPr>
            <a:xfrm>
              <a:off x="4756576" y="2530702"/>
              <a:ext cx="1245036" cy="593992"/>
              <a:chOff x="9852456" y="608434"/>
              <a:chExt cx="1245036" cy="593992"/>
            </a:xfrm>
          </p:grpSpPr>
          <p:sp>
            <p:nvSpPr>
              <p:cNvPr id="3101" name="Google Shape;3101;p42"/>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102" name="Google Shape;3102;p42"/>
              <p:cNvSpPr txBox="1"/>
              <p:nvPr/>
            </p:nvSpPr>
            <p:spPr>
              <a:xfrm>
                <a:off x="9921965"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receiving process</a:t>
                </a:r>
                <a:endParaRPr/>
              </a:p>
            </p:txBody>
          </p:sp>
        </p:grpSp>
        <p:grpSp>
          <p:nvGrpSpPr>
            <p:cNvPr id="3103" name="Google Shape;3103;p42"/>
            <p:cNvGrpSpPr/>
            <p:nvPr/>
          </p:nvGrpSpPr>
          <p:grpSpPr>
            <a:xfrm>
              <a:off x="4815705" y="3003923"/>
              <a:ext cx="577241" cy="307777"/>
              <a:chOff x="9678159" y="981583"/>
              <a:chExt cx="577241" cy="307777"/>
            </a:xfrm>
          </p:grpSpPr>
          <p:sp>
            <p:nvSpPr>
              <p:cNvPr id="3104" name="Google Shape;3104;p42"/>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05" name="Google Shape;3105;p42"/>
              <p:cNvSpPr txBox="1"/>
              <p:nvPr/>
            </p:nvSpPr>
            <p:spPr>
              <a:xfrm>
                <a:off x="9678159" y="981583"/>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106" name="Google Shape;3106;p42"/>
            <p:cNvGrpSpPr/>
            <p:nvPr/>
          </p:nvGrpSpPr>
          <p:grpSpPr>
            <a:xfrm>
              <a:off x="5854223" y="2398718"/>
              <a:ext cx="230514" cy="466725"/>
              <a:chOff x="4140" y="429"/>
              <a:chExt cx="1425" cy="2396"/>
            </a:xfrm>
          </p:grpSpPr>
          <p:sp>
            <p:nvSpPr>
              <p:cNvPr id="3107" name="Google Shape;3107;p4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08" name="Google Shape;3108;p42"/>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09" name="Google Shape;3109;p4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10" name="Google Shape;3110;p4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11" name="Google Shape;3111;p42"/>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12" name="Google Shape;3112;p42"/>
              <p:cNvGrpSpPr/>
              <p:nvPr/>
            </p:nvGrpSpPr>
            <p:grpSpPr>
              <a:xfrm>
                <a:off x="4751" y="667"/>
                <a:ext cx="580" cy="146"/>
                <a:chOff x="617" y="2567"/>
                <a:chExt cx="724" cy="140"/>
              </a:xfrm>
            </p:grpSpPr>
            <p:sp>
              <p:nvSpPr>
                <p:cNvPr id="3113" name="Google Shape;3113;p42"/>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14" name="Google Shape;3114;p42"/>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15" name="Google Shape;3115;p42"/>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16" name="Google Shape;3116;p42"/>
              <p:cNvGrpSpPr/>
              <p:nvPr/>
            </p:nvGrpSpPr>
            <p:grpSpPr>
              <a:xfrm>
                <a:off x="4745" y="996"/>
                <a:ext cx="580" cy="156"/>
                <a:chOff x="612" y="2570"/>
                <a:chExt cx="724" cy="162"/>
              </a:xfrm>
            </p:grpSpPr>
            <p:sp>
              <p:nvSpPr>
                <p:cNvPr id="3117" name="Google Shape;3117;p42"/>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18" name="Google Shape;3118;p42"/>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19" name="Google Shape;3119;p42"/>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20" name="Google Shape;3120;p42"/>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21" name="Google Shape;3121;p42"/>
              <p:cNvGrpSpPr/>
              <p:nvPr/>
            </p:nvGrpSpPr>
            <p:grpSpPr>
              <a:xfrm>
                <a:off x="4733" y="1627"/>
                <a:ext cx="586" cy="151"/>
                <a:chOff x="611" y="2568"/>
                <a:chExt cx="730" cy="139"/>
              </a:xfrm>
            </p:grpSpPr>
            <p:sp>
              <p:nvSpPr>
                <p:cNvPr id="3122" name="Google Shape;3122;p42"/>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23" name="Google Shape;3123;p42"/>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24" name="Google Shape;3124;p4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25" name="Google Shape;3125;p42"/>
              <p:cNvGrpSpPr/>
              <p:nvPr/>
            </p:nvGrpSpPr>
            <p:grpSpPr>
              <a:xfrm>
                <a:off x="4739" y="1325"/>
                <a:ext cx="580" cy="140"/>
                <a:chOff x="614" y="2566"/>
                <a:chExt cx="723" cy="140"/>
              </a:xfrm>
            </p:grpSpPr>
            <p:sp>
              <p:nvSpPr>
                <p:cNvPr id="3126" name="Google Shape;3126;p42"/>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27" name="Google Shape;3127;p42"/>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28" name="Google Shape;3128;p42"/>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29" name="Google Shape;3129;p4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0" name="Google Shape;3130;p4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1" name="Google Shape;3131;p42"/>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2" name="Google Shape;3132;p4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3" name="Google Shape;3133;p42"/>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4" name="Google Shape;3134;p42"/>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5" name="Google Shape;3135;p42"/>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6" name="Google Shape;3136;p42"/>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3137" name="Google Shape;3137;p42"/>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38" name="Google Shape;3138;p42"/>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139" name="Google Shape;3139;p42"/>
            <p:cNvGrpSpPr/>
            <p:nvPr/>
          </p:nvGrpSpPr>
          <p:grpSpPr>
            <a:xfrm>
              <a:off x="2669417" y="3423937"/>
              <a:ext cx="2003932" cy="369332"/>
              <a:chOff x="7504363" y="3141846"/>
              <a:chExt cx="2003932" cy="369332"/>
            </a:xfrm>
          </p:grpSpPr>
          <p:grpSp>
            <p:nvGrpSpPr>
              <p:cNvPr id="3140" name="Google Shape;3140;p42"/>
              <p:cNvGrpSpPr/>
              <p:nvPr/>
            </p:nvGrpSpPr>
            <p:grpSpPr>
              <a:xfrm>
                <a:off x="7504363" y="3183676"/>
                <a:ext cx="2003932" cy="306163"/>
                <a:chOff x="1616358" y="2551230"/>
                <a:chExt cx="2141698" cy="218510"/>
              </a:xfrm>
            </p:grpSpPr>
            <p:sp>
              <p:nvSpPr>
                <p:cNvPr id="3141" name="Google Shape;3141;p42"/>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42" name="Google Shape;3142;p42"/>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43" name="Google Shape;3143;p42"/>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44" name="Google Shape;3144;p42"/>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3145" name="Google Shape;3145;p42"/>
              <p:cNvSpPr txBox="1"/>
              <p:nvPr/>
            </p:nvSpPr>
            <p:spPr>
              <a:xfrm>
                <a:off x="7695752" y="3141846"/>
                <a:ext cx="167885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reliable channel</a:t>
                </a:r>
                <a:endParaRPr/>
              </a:p>
            </p:txBody>
          </p:sp>
        </p:grpSp>
        <p:cxnSp>
          <p:nvCxnSpPr>
            <p:cNvPr id="3146" name="Google Shape;3146;p42"/>
            <p:cNvCxnSpPr/>
            <p:nvPr/>
          </p:nvCxnSpPr>
          <p:spPr>
            <a:xfrm>
              <a:off x="1082232"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3147" name="Google Shape;3147;p42"/>
            <p:cNvSpPr/>
            <p:nvPr/>
          </p:nvSpPr>
          <p:spPr>
            <a:xfrm rot="5400000">
              <a:off x="2152182" y="3067004"/>
              <a:ext cx="462111" cy="773811"/>
            </a:xfrm>
            <a:prstGeom prst="bentUpArrow">
              <a:avLst>
                <a:gd fmla="val 7999" name="adj1"/>
                <a:gd fmla="val 16334" name="adj2"/>
                <a:gd fmla="val 2138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3148" name="Google Shape;3148;p42"/>
            <p:cNvCxnSpPr/>
            <p:nvPr/>
          </p:nvCxnSpPr>
          <p:spPr>
            <a:xfrm>
              <a:off x="4645151"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3149" name="Google Shape;3149;p42"/>
            <p:cNvSpPr txBox="1"/>
            <p:nvPr/>
          </p:nvSpPr>
          <p:spPr>
            <a:xfrm>
              <a:off x="737513" y="3044385"/>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3150" name="Google Shape;3150;p42"/>
            <p:cNvSpPr txBox="1"/>
            <p:nvPr/>
          </p:nvSpPr>
          <p:spPr>
            <a:xfrm>
              <a:off x="828116" y="3272133"/>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3151" name="Google Shape;3151;p42"/>
            <p:cNvSpPr txBox="1"/>
            <p:nvPr/>
          </p:nvSpPr>
          <p:spPr>
            <a:xfrm flipH="1">
              <a:off x="1817207" y="4010900"/>
              <a:ext cx="40256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000000"/>
                  </a:solidFill>
                  <a:latin typeface="Calibri"/>
                  <a:ea typeface="Calibri"/>
                  <a:cs typeface="Calibri"/>
                  <a:sym typeface="Calibri"/>
                </a:rPr>
                <a:t>abstraction</a:t>
              </a:r>
              <a:endParaRPr/>
            </a:p>
          </p:txBody>
        </p:sp>
      </p:grpSp>
      <p:sp>
        <p:nvSpPr>
          <p:cNvPr id="3152" name="Google Shape;3152;p42"/>
          <p:cNvSpPr/>
          <p:nvPr/>
        </p:nvSpPr>
        <p:spPr>
          <a:xfrm>
            <a:off x="295893" y="1816276"/>
            <a:ext cx="5265664" cy="2394608"/>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53" name="Google Shape;3153;p42"/>
          <p:cNvSpPr/>
          <p:nvPr/>
        </p:nvSpPr>
        <p:spPr>
          <a:xfrm>
            <a:off x="5448822" y="3106456"/>
            <a:ext cx="638827" cy="1014608"/>
          </a:xfrm>
          <a:prstGeom prst="rightArrow">
            <a:avLst>
              <a:gd fmla="val 50000" name="adj1"/>
              <a:gd fmla="val 50000" name="adj2"/>
            </a:avLst>
          </a:prstGeom>
          <a:gradFill>
            <a:gsLst>
              <a:gs pos="0">
                <a:srgbClr val="F5F7FC"/>
              </a:gs>
              <a:gs pos="56000">
                <a:srgbClr val="C00000"/>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54" name="Google Shape;3154;p42"/>
          <p:cNvSpPr/>
          <p:nvPr/>
        </p:nvSpPr>
        <p:spPr>
          <a:xfrm>
            <a:off x="6586778" y="3177152"/>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55" name="Google Shape;3155;p42"/>
          <p:cNvSpPr/>
          <p:nvPr/>
        </p:nvSpPr>
        <p:spPr>
          <a:xfrm>
            <a:off x="9885335" y="3174569"/>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56" name="Google Shape;3156;p4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53"/>
                                        </p:tgtEl>
                                        <p:attrNameLst>
                                          <p:attrName>style.visibility</p:attrName>
                                        </p:attrNameLst>
                                      </p:cBhvr>
                                      <p:to>
                                        <p:strVal val="visible"/>
                                      </p:to>
                                    </p:set>
                                    <p:animEffect filter="fade" transition="in">
                                      <p:cBhvr>
                                        <p:cTn dur="500"/>
                                        <p:tgtEl>
                                          <p:spTgt spid="315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013"/>
                                        </p:tgtEl>
                                        <p:attrNameLst>
                                          <p:attrName>style.visibility</p:attrName>
                                        </p:attrNameLst>
                                      </p:cBhvr>
                                      <p:to>
                                        <p:strVal val="visible"/>
                                      </p:to>
                                    </p:set>
                                    <p:animEffect filter="fade" transition="in">
                                      <p:cBhvr>
                                        <p:cTn dur="1000"/>
                                        <p:tgtEl>
                                          <p:spTgt spid="3013"/>
                                        </p:tgtEl>
                                      </p:cBhvr>
                                    </p:animEffect>
                                  </p:childTnLst>
                                </p:cTn>
                              </p:par>
                            </p:childTnLst>
                          </p:cTn>
                        </p:par>
                        <p:par>
                          <p:cTn fill="hold">
                            <p:stCondLst>
                              <p:cond delay="1500"/>
                            </p:stCondLst>
                            <p:childTnLst>
                              <p:par>
                                <p:cTn fill="hold" nodeType="afterEffect" presetClass="exit" presetID="10" presetSubtype="0">
                                  <p:stCondLst>
                                    <p:cond delay="0"/>
                                  </p:stCondLst>
                                  <p:childTnLst>
                                    <p:animEffect filter="fade" transition="out">
                                      <p:cBhvr>
                                        <p:cTn dur="500"/>
                                        <p:tgtEl>
                                          <p:spTgt spid="3153"/>
                                        </p:tgtEl>
                                      </p:cBhvr>
                                    </p:animEffect>
                                    <p:set>
                                      <p:cBhvr>
                                        <p:cTn dur="1" fill="hold">
                                          <p:stCondLst>
                                            <p:cond delay="500"/>
                                          </p:stCondLst>
                                        </p:cTn>
                                        <p:tgtEl>
                                          <p:spTgt spid="315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4"/>
                                        </p:tgtEl>
                                        <p:attrNameLst>
                                          <p:attrName>style.visibility</p:attrName>
                                        </p:attrNameLst>
                                      </p:cBhvr>
                                      <p:to>
                                        <p:strVal val="visible"/>
                                      </p:to>
                                    </p:set>
                                    <p:animEffect filter="fade" transition="in">
                                      <p:cBhvr>
                                        <p:cTn dur="500"/>
                                        <p:tgtEl>
                                          <p:spTgt spid="3154"/>
                                        </p:tgtEl>
                                      </p:cBhvr>
                                    </p:animEffec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3155"/>
                                        </p:tgtEl>
                                        <p:attrNameLst>
                                          <p:attrName>style.visibility</p:attrName>
                                        </p:attrNameLst>
                                      </p:cBhvr>
                                      <p:to>
                                        <p:strVal val="visible"/>
                                      </p:to>
                                    </p:set>
                                    <p:animEffect filter="fade" transition="in">
                                      <p:cBhvr>
                                        <p:cTn dur="500"/>
                                        <p:tgtEl>
                                          <p:spTgt spid="31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1" name="Shape 3161"/>
        <p:cNvGrpSpPr/>
        <p:nvPr/>
      </p:nvGrpSpPr>
      <p:grpSpPr>
        <a:xfrm>
          <a:off x="0" y="0"/>
          <a:ext cx="0" cy="0"/>
          <a:chOff x="0" y="0"/>
          <a:chExt cx="0" cy="0"/>
        </a:xfrm>
      </p:grpSpPr>
      <p:sp>
        <p:nvSpPr>
          <p:cNvPr id="3162" name="Google Shape;3162;p4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(rdt) </a:t>
            </a:r>
            <a:endParaRPr/>
          </a:p>
        </p:txBody>
      </p:sp>
      <p:grpSp>
        <p:nvGrpSpPr>
          <p:cNvPr id="3163" name="Google Shape;3163;p43"/>
          <p:cNvGrpSpPr/>
          <p:nvPr/>
        </p:nvGrpSpPr>
        <p:grpSpPr>
          <a:xfrm>
            <a:off x="6226081" y="1900904"/>
            <a:ext cx="5598584" cy="4095684"/>
            <a:chOff x="6226081" y="2364366"/>
            <a:chExt cx="5598584" cy="4095684"/>
          </a:xfrm>
        </p:grpSpPr>
        <p:grpSp>
          <p:nvGrpSpPr>
            <p:cNvPr id="3164" name="Google Shape;3164;p43"/>
            <p:cNvGrpSpPr/>
            <p:nvPr/>
          </p:nvGrpSpPr>
          <p:grpSpPr>
            <a:xfrm>
              <a:off x="6944646" y="2545250"/>
              <a:ext cx="1245036" cy="593992"/>
              <a:chOff x="9852456" y="608434"/>
              <a:chExt cx="1245036" cy="593992"/>
            </a:xfrm>
          </p:grpSpPr>
          <p:sp>
            <p:nvSpPr>
              <p:cNvPr id="3165" name="Google Shape;3165;p43"/>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166" name="Google Shape;3166;p43"/>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3167" name="Google Shape;3167;p43"/>
            <p:cNvGrpSpPr/>
            <p:nvPr/>
          </p:nvGrpSpPr>
          <p:grpSpPr>
            <a:xfrm>
              <a:off x="7541116" y="2997281"/>
              <a:ext cx="577241" cy="338554"/>
              <a:chOff x="9950444" y="999755"/>
              <a:chExt cx="577241" cy="338554"/>
            </a:xfrm>
          </p:grpSpPr>
          <p:sp>
            <p:nvSpPr>
              <p:cNvPr id="3168" name="Google Shape;3168;p43"/>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69" name="Google Shape;3169;p43"/>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170" name="Google Shape;3170;p43"/>
            <p:cNvGrpSpPr/>
            <p:nvPr/>
          </p:nvGrpSpPr>
          <p:grpSpPr>
            <a:xfrm>
              <a:off x="6677899" y="2425781"/>
              <a:ext cx="545509" cy="512284"/>
              <a:chOff x="-44" y="1473"/>
              <a:chExt cx="981" cy="1105"/>
            </a:xfrm>
          </p:grpSpPr>
          <p:pic>
            <p:nvPicPr>
              <p:cNvPr descr="desktop_computer_stylized_medium" id="3171" name="Google Shape;3171;p4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72" name="Google Shape;3172;p4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173" name="Google Shape;3173;p43"/>
            <p:cNvGrpSpPr/>
            <p:nvPr/>
          </p:nvGrpSpPr>
          <p:grpSpPr>
            <a:xfrm>
              <a:off x="10189724" y="2496350"/>
              <a:ext cx="1245036" cy="593992"/>
              <a:chOff x="9852456" y="608434"/>
              <a:chExt cx="1245036" cy="593992"/>
            </a:xfrm>
          </p:grpSpPr>
          <p:sp>
            <p:nvSpPr>
              <p:cNvPr id="3174" name="Google Shape;3174;p43"/>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175" name="Google Shape;3175;p43"/>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3176" name="Google Shape;3176;p43"/>
            <p:cNvGrpSpPr/>
            <p:nvPr/>
          </p:nvGrpSpPr>
          <p:grpSpPr>
            <a:xfrm>
              <a:off x="10248853" y="2969571"/>
              <a:ext cx="577241" cy="338554"/>
              <a:chOff x="9678159" y="981583"/>
              <a:chExt cx="577241" cy="338554"/>
            </a:xfrm>
          </p:grpSpPr>
          <p:sp>
            <p:nvSpPr>
              <p:cNvPr id="3177" name="Google Shape;3177;p43"/>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78" name="Google Shape;3178;p43"/>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179" name="Google Shape;3179;p43"/>
            <p:cNvGrpSpPr/>
            <p:nvPr/>
          </p:nvGrpSpPr>
          <p:grpSpPr>
            <a:xfrm>
              <a:off x="11287371" y="2364366"/>
              <a:ext cx="230514" cy="466725"/>
              <a:chOff x="4140" y="429"/>
              <a:chExt cx="1425" cy="2396"/>
            </a:xfrm>
          </p:grpSpPr>
          <p:sp>
            <p:nvSpPr>
              <p:cNvPr id="3180" name="Google Shape;3180;p4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81" name="Google Shape;3181;p43"/>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82" name="Google Shape;3182;p4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83" name="Google Shape;3183;p4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84" name="Google Shape;3184;p43"/>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85" name="Google Shape;3185;p43"/>
              <p:cNvGrpSpPr/>
              <p:nvPr/>
            </p:nvGrpSpPr>
            <p:grpSpPr>
              <a:xfrm>
                <a:off x="4751" y="667"/>
                <a:ext cx="580" cy="146"/>
                <a:chOff x="617" y="2567"/>
                <a:chExt cx="724" cy="140"/>
              </a:xfrm>
            </p:grpSpPr>
            <p:sp>
              <p:nvSpPr>
                <p:cNvPr id="3186" name="Google Shape;3186;p43"/>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87" name="Google Shape;3187;p43"/>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88" name="Google Shape;3188;p43"/>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89" name="Google Shape;3189;p43"/>
              <p:cNvGrpSpPr/>
              <p:nvPr/>
            </p:nvGrpSpPr>
            <p:grpSpPr>
              <a:xfrm>
                <a:off x="4745" y="996"/>
                <a:ext cx="580" cy="156"/>
                <a:chOff x="612" y="2570"/>
                <a:chExt cx="724" cy="162"/>
              </a:xfrm>
            </p:grpSpPr>
            <p:sp>
              <p:nvSpPr>
                <p:cNvPr id="3190" name="Google Shape;3190;p43"/>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91" name="Google Shape;3191;p43"/>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92" name="Google Shape;3192;p43"/>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93" name="Google Shape;3193;p43"/>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94" name="Google Shape;3194;p43"/>
              <p:cNvGrpSpPr/>
              <p:nvPr/>
            </p:nvGrpSpPr>
            <p:grpSpPr>
              <a:xfrm>
                <a:off x="4733" y="1627"/>
                <a:ext cx="586" cy="151"/>
                <a:chOff x="611" y="2568"/>
                <a:chExt cx="730" cy="139"/>
              </a:xfrm>
            </p:grpSpPr>
            <p:sp>
              <p:nvSpPr>
                <p:cNvPr id="3195" name="Google Shape;3195;p43"/>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96" name="Google Shape;3196;p43"/>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197" name="Google Shape;3197;p4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198" name="Google Shape;3198;p43"/>
              <p:cNvGrpSpPr/>
              <p:nvPr/>
            </p:nvGrpSpPr>
            <p:grpSpPr>
              <a:xfrm>
                <a:off x="4739" y="1325"/>
                <a:ext cx="580" cy="140"/>
                <a:chOff x="614" y="2566"/>
                <a:chExt cx="723" cy="140"/>
              </a:xfrm>
            </p:grpSpPr>
            <p:sp>
              <p:nvSpPr>
                <p:cNvPr id="3199" name="Google Shape;3199;p43"/>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0" name="Google Shape;3200;p43"/>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201" name="Google Shape;3201;p43"/>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2" name="Google Shape;3202;p4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3" name="Google Shape;3203;p4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4" name="Google Shape;3204;p43"/>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5" name="Google Shape;3205;p4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6" name="Google Shape;3206;p43"/>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7" name="Google Shape;3207;p43"/>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8" name="Google Shape;3208;p43"/>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09" name="Google Shape;3209;p43"/>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3210" name="Google Shape;3210;p43"/>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11" name="Google Shape;3211;p43"/>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3212" name="Google Shape;3212;p43"/>
            <p:cNvCxnSpPr/>
            <p:nvPr/>
          </p:nvCxnSpPr>
          <p:spPr>
            <a:xfrm>
              <a:off x="6584655" y="33189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213" name="Google Shape;3213;p43"/>
            <p:cNvCxnSpPr/>
            <p:nvPr/>
          </p:nvCxnSpPr>
          <p:spPr>
            <a:xfrm>
              <a:off x="10078299" y="3291191"/>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3214" name="Google Shape;3214;p43"/>
            <p:cNvSpPr txBox="1"/>
            <p:nvPr/>
          </p:nvSpPr>
          <p:spPr>
            <a:xfrm>
              <a:off x="6226081" y="3037743"/>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3215" name="Google Shape;3215;p43"/>
            <p:cNvSpPr txBox="1"/>
            <p:nvPr/>
          </p:nvSpPr>
          <p:spPr>
            <a:xfrm>
              <a:off x="6344394" y="3265491"/>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3216" name="Google Shape;3216;p43"/>
            <p:cNvSpPr txBox="1"/>
            <p:nvPr/>
          </p:nvSpPr>
          <p:spPr>
            <a:xfrm flipH="1">
              <a:off x="7109034" y="5998385"/>
              <a:ext cx="4657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implementation</a:t>
              </a:r>
              <a:endParaRPr/>
            </a:p>
          </p:txBody>
        </p:sp>
        <p:grpSp>
          <p:nvGrpSpPr>
            <p:cNvPr id="3217" name="Google Shape;3217;p43"/>
            <p:cNvGrpSpPr/>
            <p:nvPr/>
          </p:nvGrpSpPr>
          <p:grpSpPr>
            <a:xfrm>
              <a:off x="6573835" y="5301907"/>
              <a:ext cx="5250830" cy="481581"/>
              <a:chOff x="6737055" y="3471301"/>
              <a:chExt cx="5250830" cy="481581"/>
            </a:xfrm>
          </p:grpSpPr>
          <p:grpSp>
            <p:nvGrpSpPr>
              <p:cNvPr id="3218" name="Google Shape;3218;p43"/>
              <p:cNvGrpSpPr/>
              <p:nvPr/>
            </p:nvGrpSpPr>
            <p:grpSpPr>
              <a:xfrm>
                <a:off x="8324240" y="3583550"/>
                <a:ext cx="2044628" cy="369332"/>
                <a:chOff x="7504363" y="3155701"/>
                <a:chExt cx="2044628" cy="369332"/>
              </a:xfrm>
            </p:grpSpPr>
            <p:grpSp>
              <p:nvGrpSpPr>
                <p:cNvPr id="3219" name="Google Shape;3219;p43"/>
                <p:cNvGrpSpPr/>
                <p:nvPr/>
              </p:nvGrpSpPr>
              <p:grpSpPr>
                <a:xfrm>
                  <a:off x="7504363" y="3183676"/>
                  <a:ext cx="2003932" cy="306163"/>
                  <a:chOff x="1616358" y="2551230"/>
                  <a:chExt cx="2141698" cy="218510"/>
                </a:xfrm>
              </p:grpSpPr>
              <p:sp>
                <p:nvSpPr>
                  <p:cNvPr id="3220" name="Google Shape;3220;p43"/>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21" name="Google Shape;3221;p43"/>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22" name="Google Shape;3222;p43"/>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23" name="Google Shape;3223;p43"/>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3224" name="Google Shape;3224;p43"/>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3225" name="Google Shape;3225;p43"/>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226" name="Google Shape;3226;p43"/>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sp>
          <p:nvSpPr>
            <p:cNvPr id="3227" name="Google Shape;3227;p43"/>
            <p:cNvSpPr txBox="1"/>
            <p:nvPr/>
          </p:nvSpPr>
          <p:spPr>
            <a:xfrm>
              <a:off x="6413644" y="5279980"/>
              <a:ext cx="79438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800" u="none" cap="none" strike="noStrike">
                <a:solidFill>
                  <a:srgbClr val="000000"/>
                </a:solidFill>
                <a:latin typeface="Calibri"/>
                <a:ea typeface="Calibri"/>
                <a:cs typeface="Calibri"/>
                <a:sym typeface="Calibri"/>
              </a:endParaRPr>
            </a:p>
          </p:txBody>
        </p:sp>
        <p:sp>
          <p:nvSpPr>
            <p:cNvPr id="3228" name="Google Shape;3228;p43"/>
            <p:cNvSpPr txBox="1"/>
            <p:nvPr/>
          </p:nvSpPr>
          <p:spPr>
            <a:xfrm>
              <a:off x="6358993" y="5023850"/>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cxnSp>
          <p:nvCxnSpPr>
            <p:cNvPr id="3229" name="Google Shape;3229;p43"/>
            <p:cNvCxnSpPr/>
            <p:nvPr/>
          </p:nvCxnSpPr>
          <p:spPr>
            <a:xfrm>
              <a:off x="7532988" y="3216212"/>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3230" name="Google Shape;3230;p43"/>
            <p:cNvCxnSpPr/>
            <p:nvPr/>
          </p:nvCxnSpPr>
          <p:spPr>
            <a:xfrm rot="10800000">
              <a:off x="10867079" y="3152635"/>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3231" name="Google Shape;3231;p43"/>
            <p:cNvSpPr txBox="1"/>
            <p:nvPr/>
          </p:nvSpPr>
          <p:spPr>
            <a:xfrm>
              <a:off x="6584496" y="3824138"/>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reliable data transfer protocol</a:t>
              </a:r>
              <a:endParaRPr/>
            </a:p>
          </p:txBody>
        </p:sp>
        <p:sp>
          <p:nvSpPr>
            <p:cNvPr id="3232" name="Google Shape;3232;p43"/>
            <p:cNvSpPr txBox="1"/>
            <p:nvPr/>
          </p:nvSpPr>
          <p:spPr>
            <a:xfrm>
              <a:off x="9914975" y="3826493"/>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of reliable data transfer protocol</a:t>
              </a:r>
              <a:endParaRPr/>
            </a:p>
          </p:txBody>
        </p:sp>
        <p:grpSp>
          <p:nvGrpSpPr>
            <p:cNvPr id="3233" name="Google Shape;3233;p43"/>
            <p:cNvGrpSpPr/>
            <p:nvPr/>
          </p:nvGrpSpPr>
          <p:grpSpPr>
            <a:xfrm>
              <a:off x="7535361" y="5023850"/>
              <a:ext cx="632009" cy="632009"/>
              <a:chOff x="7408199" y="4955748"/>
              <a:chExt cx="632009" cy="632009"/>
            </a:xfrm>
          </p:grpSpPr>
          <p:cxnSp>
            <p:nvCxnSpPr>
              <p:cNvPr id="3234" name="Google Shape;3234;p43"/>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235" name="Google Shape;3235;p43"/>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3236" name="Google Shape;3236;p43"/>
            <p:cNvGrpSpPr/>
            <p:nvPr/>
          </p:nvGrpSpPr>
          <p:grpSpPr>
            <a:xfrm rot="-5400000">
              <a:off x="10248530" y="5019008"/>
              <a:ext cx="632009" cy="632009"/>
              <a:chOff x="7408199" y="4948974"/>
              <a:chExt cx="632009" cy="632009"/>
            </a:xfrm>
          </p:grpSpPr>
          <p:cxnSp>
            <p:nvCxnSpPr>
              <p:cNvPr id="3237" name="Google Shape;3237;p43"/>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238" name="Google Shape;3238;p43"/>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grpSp>
        <p:nvGrpSpPr>
          <p:cNvPr id="3239" name="Google Shape;3239;p43"/>
          <p:cNvGrpSpPr/>
          <p:nvPr/>
        </p:nvGrpSpPr>
        <p:grpSpPr>
          <a:xfrm>
            <a:off x="995688" y="3550466"/>
            <a:ext cx="9016751" cy="2246769"/>
            <a:chOff x="995688" y="4013928"/>
            <a:chExt cx="9016751" cy="2246769"/>
          </a:xfrm>
        </p:grpSpPr>
        <p:sp>
          <p:nvSpPr>
            <p:cNvPr id="3240" name="Google Shape;3240;p43"/>
            <p:cNvSpPr txBox="1"/>
            <p:nvPr/>
          </p:nvSpPr>
          <p:spPr>
            <a:xfrm>
              <a:off x="995688" y="4013928"/>
              <a:ext cx="4815357" cy="224676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Complexity of reliable data transfer protocol  will depend (strongly) on characteristics of unreliable channel (lose, corrupt, reorder data?)</a:t>
              </a:r>
              <a:endParaRPr/>
            </a:p>
          </p:txBody>
        </p:sp>
        <p:cxnSp>
          <p:nvCxnSpPr>
            <p:cNvPr id="3241" name="Google Shape;3241;p43"/>
            <p:cNvCxnSpPr/>
            <p:nvPr/>
          </p:nvCxnSpPr>
          <p:spPr>
            <a:xfrm flipH="1">
              <a:off x="5799610" y="4167212"/>
              <a:ext cx="1091351" cy="1001120"/>
            </a:xfrm>
            <a:prstGeom prst="straightConnector1">
              <a:avLst/>
            </a:prstGeom>
            <a:noFill/>
            <a:ln cap="flat" cmpd="sng" w="9525">
              <a:solidFill>
                <a:srgbClr val="FF0000"/>
              </a:solidFill>
              <a:prstDash val="solid"/>
              <a:miter lim="800000"/>
              <a:headEnd len="sm" w="sm" type="none"/>
              <a:tailEnd len="sm" w="sm" type="none"/>
            </a:ln>
          </p:spPr>
        </p:cxnSp>
        <p:cxnSp>
          <p:nvCxnSpPr>
            <p:cNvPr id="3242" name="Google Shape;3242;p43"/>
            <p:cNvCxnSpPr/>
            <p:nvPr/>
          </p:nvCxnSpPr>
          <p:spPr>
            <a:xfrm flipH="1">
              <a:off x="5800941" y="4291381"/>
              <a:ext cx="4211498" cy="886357"/>
            </a:xfrm>
            <a:prstGeom prst="straightConnector1">
              <a:avLst/>
            </a:prstGeom>
            <a:noFill/>
            <a:ln cap="flat" cmpd="sng" w="9525">
              <a:solidFill>
                <a:srgbClr val="FF0000"/>
              </a:solidFill>
              <a:prstDash val="solid"/>
              <a:miter lim="800000"/>
              <a:headEnd len="sm" w="sm" type="none"/>
              <a:tailEnd len="sm" w="sm" type="none"/>
            </a:ln>
          </p:spPr>
        </p:cxnSp>
      </p:grpSp>
      <p:sp>
        <p:nvSpPr>
          <p:cNvPr id="3243" name="Google Shape;3243;p43"/>
          <p:cNvSpPr/>
          <p:nvPr/>
        </p:nvSpPr>
        <p:spPr>
          <a:xfrm>
            <a:off x="6586778" y="3177152"/>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44" name="Google Shape;3244;p43"/>
          <p:cNvSpPr/>
          <p:nvPr/>
        </p:nvSpPr>
        <p:spPr>
          <a:xfrm>
            <a:off x="9885335" y="3174569"/>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45" name="Google Shape;3245;p4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9"/>
                                        </p:tgtEl>
                                        <p:attrNameLst>
                                          <p:attrName>style.visibility</p:attrName>
                                        </p:attrNameLst>
                                      </p:cBhvr>
                                      <p:to>
                                        <p:strVal val="visible"/>
                                      </p:to>
                                    </p:set>
                                    <p:animEffect filter="fade" transition="in">
                                      <p:cBhvr>
                                        <p:cTn dur="1000"/>
                                        <p:tgtEl>
                                          <p:spTgt spid="32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0" name="Shape 3250"/>
        <p:cNvGrpSpPr/>
        <p:nvPr/>
      </p:nvGrpSpPr>
      <p:grpSpPr>
        <a:xfrm>
          <a:off x="0" y="0"/>
          <a:ext cx="0" cy="0"/>
          <a:chOff x="0" y="0"/>
          <a:chExt cx="0" cy="0"/>
        </a:xfrm>
      </p:grpSpPr>
      <p:sp>
        <p:nvSpPr>
          <p:cNvPr id="3251" name="Google Shape;3251;p4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(rdt)</a:t>
            </a:r>
            <a:endParaRPr/>
          </a:p>
        </p:txBody>
      </p:sp>
      <p:grpSp>
        <p:nvGrpSpPr>
          <p:cNvPr id="3252" name="Google Shape;3252;p44"/>
          <p:cNvGrpSpPr/>
          <p:nvPr/>
        </p:nvGrpSpPr>
        <p:grpSpPr>
          <a:xfrm>
            <a:off x="6226081" y="1900904"/>
            <a:ext cx="5598584" cy="4095684"/>
            <a:chOff x="6226081" y="2364366"/>
            <a:chExt cx="5598584" cy="4095684"/>
          </a:xfrm>
        </p:grpSpPr>
        <p:grpSp>
          <p:nvGrpSpPr>
            <p:cNvPr id="3253" name="Google Shape;3253;p44"/>
            <p:cNvGrpSpPr/>
            <p:nvPr/>
          </p:nvGrpSpPr>
          <p:grpSpPr>
            <a:xfrm>
              <a:off x="6944646" y="2545250"/>
              <a:ext cx="1245036" cy="593992"/>
              <a:chOff x="9852456" y="608434"/>
              <a:chExt cx="1245036" cy="593992"/>
            </a:xfrm>
          </p:grpSpPr>
          <p:sp>
            <p:nvSpPr>
              <p:cNvPr id="3254" name="Google Shape;3254;p44"/>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255" name="Google Shape;3255;p44"/>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3256" name="Google Shape;3256;p44"/>
            <p:cNvGrpSpPr/>
            <p:nvPr/>
          </p:nvGrpSpPr>
          <p:grpSpPr>
            <a:xfrm>
              <a:off x="7541116" y="2997281"/>
              <a:ext cx="577241" cy="338554"/>
              <a:chOff x="9950444" y="999755"/>
              <a:chExt cx="577241" cy="338554"/>
            </a:xfrm>
          </p:grpSpPr>
          <p:sp>
            <p:nvSpPr>
              <p:cNvPr id="3257" name="Google Shape;3257;p44"/>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58" name="Google Shape;3258;p44"/>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259" name="Google Shape;3259;p44"/>
            <p:cNvGrpSpPr/>
            <p:nvPr/>
          </p:nvGrpSpPr>
          <p:grpSpPr>
            <a:xfrm>
              <a:off x="6677899" y="2425781"/>
              <a:ext cx="545509" cy="512284"/>
              <a:chOff x="-44" y="1473"/>
              <a:chExt cx="981" cy="1105"/>
            </a:xfrm>
          </p:grpSpPr>
          <p:pic>
            <p:nvPicPr>
              <p:cNvPr descr="desktop_computer_stylized_medium" id="3260" name="Google Shape;3260;p4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261" name="Google Shape;3261;p4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262" name="Google Shape;3262;p44"/>
            <p:cNvGrpSpPr/>
            <p:nvPr/>
          </p:nvGrpSpPr>
          <p:grpSpPr>
            <a:xfrm>
              <a:off x="10189724" y="2496350"/>
              <a:ext cx="1245036" cy="593992"/>
              <a:chOff x="9852456" y="608434"/>
              <a:chExt cx="1245036" cy="593992"/>
            </a:xfrm>
          </p:grpSpPr>
          <p:sp>
            <p:nvSpPr>
              <p:cNvPr id="3263" name="Google Shape;3263;p44"/>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264" name="Google Shape;3264;p44"/>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3265" name="Google Shape;3265;p44"/>
            <p:cNvGrpSpPr/>
            <p:nvPr/>
          </p:nvGrpSpPr>
          <p:grpSpPr>
            <a:xfrm>
              <a:off x="10248853" y="2969571"/>
              <a:ext cx="577241" cy="338554"/>
              <a:chOff x="9678159" y="981583"/>
              <a:chExt cx="577241" cy="338554"/>
            </a:xfrm>
          </p:grpSpPr>
          <p:sp>
            <p:nvSpPr>
              <p:cNvPr id="3266" name="Google Shape;3266;p44"/>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67" name="Google Shape;3267;p44"/>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268" name="Google Shape;3268;p44"/>
            <p:cNvGrpSpPr/>
            <p:nvPr/>
          </p:nvGrpSpPr>
          <p:grpSpPr>
            <a:xfrm>
              <a:off x="11287371" y="2364366"/>
              <a:ext cx="230514" cy="466725"/>
              <a:chOff x="4140" y="429"/>
              <a:chExt cx="1425" cy="2396"/>
            </a:xfrm>
          </p:grpSpPr>
          <p:sp>
            <p:nvSpPr>
              <p:cNvPr id="3269" name="Google Shape;3269;p4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70" name="Google Shape;3270;p44"/>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71" name="Google Shape;3271;p4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72" name="Google Shape;3272;p4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73" name="Google Shape;3273;p44"/>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274" name="Google Shape;3274;p44"/>
              <p:cNvGrpSpPr/>
              <p:nvPr/>
            </p:nvGrpSpPr>
            <p:grpSpPr>
              <a:xfrm>
                <a:off x="4751" y="667"/>
                <a:ext cx="580" cy="146"/>
                <a:chOff x="617" y="2567"/>
                <a:chExt cx="724" cy="140"/>
              </a:xfrm>
            </p:grpSpPr>
            <p:sp>
              <p:nvSpPr>
                <p:cNvPr id="3275" name="Google Shape;3275;p44"/>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76" name="Google Shape;3276;p44"/>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277" name="Google Shape;3277;p44"/>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278" name="Google Shape;3278;p44"/>
              <p:cNvGrpSpPr/>
              <p:nvPr/>
            </p:nvGrpSpPr>
            <p:grpSpPr>
              <a:xfrm>
                <a:off x="4745" y="996"/>
                <a:ext cx="580" cy="156"/>
                <a:chOff x="612" y="2570"/>
                <a:chExt cx="724" cy="162"/>
              </a:xfrm>
            </p:grpSpPr>
            <p:sp>
              <p:nvSpPr>
                <p:cNvPr id="3279" name="Google Shape;3279;p44"/>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80" name="Google Shape;3280;p44"/>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281" name="Google Shape;3281;p44"/>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82" name="Google Shape;3282;p44"/>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283" name="Google Shape;3283;p44"/>
              <p:cNvGrpSpPr/>
              <p:nvPr/>
            </p:nvGrpSpPr>
            <p:grpSpPr>
              <a:xfrm>
                <a:off x="4733" y="1627"/>
                <a:ext cx="586" cy="151"/>
                <a:chOff x="611" y="2568"/>
                <a:chExt cx="730" cy="139"/>
              </a:xfrm>
            </p:grpSpPr>
            <p:sp>
              <p:nvSpPr>
                <p:cNvPr id="3284" name="Google Shape;3284;p44"/>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85" name="Google Shape;3285;p44"/>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286" name="Google Shape;3286;p4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287" name="Google Shape;3287;p44"/>
              <p:cNvGrpSpPr/>
              <p:nvPr/>
            </p:nvGrpSpPr>
            <p:grpSpPr>
              <a:xfrm>
                <a:off x="4739" y="1325"/>
                <a:ext cx="580" cy="140"/>
                <a:chOff x="614" y="2566"/>
                <a:chExt cx="723" cy="140"/>
              </a:xfrm>
            </p:grpSpPr>
            <p:sp>
              <p:nvSpPr>
                <p:cNvPr id="3288" name="Google Shape;3288;p44"/>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89" name="Google Shape;3289;p44"/>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290" name="Google Shape;3290;p44"/>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91" name="Google Shape;3291;p4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92" name="Google Shape;3292;p4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93" name="Google Shape;3293;p44"/>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94" name="Google Shape;3294;p4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95" name="Google Shape;3295;p44"/>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96" name="Google Shape;3296;p44"/>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97" name="Google Shape;3297;p44"/>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298" name="Google Shape;3298;p44"/>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3299" name="Google Shape;3299;p44"/>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00" name="Google Shape;3300;p44"/>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3301" name="Google Shape;3301;p44"/>
            <p:cNvCxnSpPr/>
            <p:nvPr/>
          </p:nvCxnSpPr>
          <p:spPr>
            <a:xfrm>
              <a:off x="6584655" y="33189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302" name="Google Shape;3302;p44"/>
            <p:cNvCxnSpPr/>
            <p:nvPr/>
          </p:nvCxnSpPr>
          <p:spPr>
            <a:xfrm>
              <a:off x="10078299" y="3291191"/>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3303" name="Google Shape;3303;p44"/>
            <p:cNvSpPr txBox="1"/>
            <p:nvPr/>
          </p:nvSpPr>
          <p:spPr>
            <a:xfrm>
              <a:off x="6226081" y="3037743"/>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3304" name="Google Shape;3304;p44"/>
            <p:cNvSpPr txBox="1"/>
            <p:nvPr/>
          </p:nvSpPr>
          <p:spPr>
            <a:xfrm>
              <a:off x="6344394" y="3265491"/>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3305" name="Google Shape;3305;p44"/>
            <p:cNvSpPr txBox="1"/>
            <p:nvPr/>
          </p:nvSpPr>
          <p:spPr>
            <a:xfrm flipH="1">
              <a:off x="7109034" y="5998385"/>
              <a:ext cx="4657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implementation</a:t>
              </a:r>
              <a:endParaRPr/>
            </a:p>
          </p:txBody>
        </p:sp>
        <p:grpSp>
          <p:nvGrpSpPr>
            <p:cNvPr id="3306" name="Google Shape;3306;p44"/>
            <p:cNvGrpSpPr/>
            <p:nvPr/>
          </p:nvGrpSpPr>
          <p:grpSpPr>
            <a:xfrm>
              <a:off x="6573835" y="5301907"/>
              <a:ext cx="5250830" cy="481581"/>
              <a:chOff x="6737055" y="3471301"/>
              <a:chExt cx="5250830" cy="481581"/>
            </a:xfrm>
          </p:grpSpPr>
          <p:grpSp>
            <p:nvGrpSpPr>
              <p:cNvPr id="3307" name="Google Shape;3307;p44"/>
              <p:cNvGrpSpPr/>
              <p:nvPr/>
            </p:nvGrpSpPr>
            <p:grpSpPr>
              <a:xfrm>
                <a:off x="8324240" y="3583550"/>
                <a:ext cx="2044628" cy="369332"/>
                <a:chOff x="7504363" y="3155701"/>
                <a:chExt cx="2044628" cy="369332"/>
              </a:xfrm>
            </p:grpSpPr>
            <p:grpSp>
              <p:nvGrpSpPr>
                <p:cNvPr id="3308" name="Google Shape;3308;p44"/>
                <p:cNvGrpSpPr/>
                <p:nvPr/>
              </p:nvGrpSpPr>
              <p:grpSpPr>
                <a:xfrm>
                  <a:off x="7504363" y="3183676"/>
                  <a:ext cx="2003932" cy="306163"/>
                  <a:chOff x="1616358" y="2551230"/>
                  <a:chExt cx="2141698" cy="218510"/>
                </a:xfrm>
              </p:grpSpPr>
              <p:sp>
                <p:nvSpPr>
                  <p:cNvPr id="3309" name="Google Shape;3309;p44"/>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10" name="Google Shape;3310;p44"/>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11" name="Google Shape;3311;p44"/>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12" name="Google Shape;3312;p44"/>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3313" name="Google Shape;3313;p44"/>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3314" name="Google Shape;3314;p44"/>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315" name="Google Shape;3315;p44"/>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sp>
          <p:nvSpPr>
            <p:cNvPr id="3316" name="Google Shape;3316;p44"/>
            <p:cNvSpPr txBox="1"/>
            <p:nvPr/>
          </p:nvSpPr>
          <p:spPr>
            <a:xfrm>
              <a:off x="6413644" y="5279980"/>
              <a:ext cx="79438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800" u="none" cap="none" strike="noStrike">
                <a:solidFill>
                  <a:srgbClr val="000000"/>
                </a:solidFill>
                <a:latin typeface="Calibri"/>
                <a:ea typeface="Calibri"/>
                <a:cs typeface="Calibri"/>
                <a:sym typeface="Calibri"/>
              </a:endParaRPr>
            </a:p>
          </p:txBody>
        </p:sp>
        <p:sp>
          <p:nvSpPr>
            <p:cNvPr id="3317" name="Google Shape;3317;p44"/>
            <p:cNvSpPr txBox="1"/>
            <p:nvPr/>
          </p:nvSpPr>
          <p:spPr>
            <a:xfrm>
              <a:off x="6358993" y="5023850"/>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cxnSp>
          <p:nvCxnSpPr>
            <p:cNvPr id="3318" name="Google Shape;3318;p44"/>
            <p:cNvCxnSpPr/>
            <p:nvPr/>
          </p:nvCxnSpPr>
          <p:spPr>
            <a:xfrm>
              <a:off x="7532988" y="3216212"/>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3319" name="Google Shape;3319;p44"/>
            <p:cNvCxnSpPr/>
            <p:nvPr/>
          </p:nvCxnSpPr>
          <p:spPr>
            <a:xfrm rot="10800000">
              <a:off x="10867079" y="3152635"/>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3320" name="Google Shape;3320;p44"/>
            <p:cNvSpPr txBox="1"/>
            <p:nvPr/>
          </p:nvSpPr>
          <p:spPr>
            <a:xfrm>
              <a:off x="6584496" y="3824138"/>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reliable data transfer protocol</a:t>
              </a:r>
              <a:endParaRPr/>
            </a:p>
          </p:txBody>
        </p:sp>
        <p:sp>
          <p:nvSpPr>
            <p:cNvPr id="3321" name="Google Shape;3321;p44"/>
            <p:cNvSpPr txBox="1"/>
            <p:nvPr/>
          </p:nvSpPr>
          <p:spPr>
            <a:xfrm>
              <a:off x="9914975" y="3826493"/>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of reliable data transfer protocol</a:t>
              </a:r>
              <a:endParaRPr/>
            </a:p>
          </p:txBody>
        </p:sp>
        <p:grpSp>
          <p:nvGrpSpPr>
            <p:cNvPr id="3322" name="Google Shape;3322;p44"/>
            <p:cNvGrpSpPr/>
            <p:nvPr/>
          </p:nvGrpSpPr>
          <p:grpSpPr>
            <a:xfrm>
              <a:off x="7535361" y="5023850"/>
              <a:ext cx="632009" cy="632009"/>
              <a:chOff x="7408199" y="4955748"/>
              <a:chExt cx="632009" cy="632009"/>
            </a:xfrm>
          </p:grpSpPr>
          <p:cxnSp>
            <p:nvCxnSpPr>
              <p:cNvPr id="3323" name="Google Shape;3323;p44"/>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324" name="Google Shape;3324;p44"/>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3325" name="Google Shape;3325;p44"/>
            <p:cNvGrpSpPr/>
            <p:nvPr/>
          </p:nvGrpSpPr>
          <p:grpSpPr>
            <a:xfrm rot="-5400000">
              <a:off x="10248530" y="5019008"/>
              <a:ext cx="632009" cy="632009"/>
              <a:chOff x="7408199" y="4948974"/>
              <a:chExt cx="632009" cy="632009"/>
            </a:xfrm>
          </p:grpSpPr>
          <p:cxnSp>
            <p:nvCxnSpPr>
              <p:cNvPr id="3326" name="Google Shape;3326;p44"/>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327" name="Google Shape;3327;p44"/>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grpSp>
        <p:nvGrpSpPr>
          <p:cNvPr id="3328" name="Google Shape;3328;p44"/>
          <p:cNvGrpSpPr/>
          <p:nvPr/>
        </p:nvGrpSpPr>
        <p:grpSpPr>
          <a:xfrm>
            <a:off x="1042183" y="3581463"/>
            <a:ext cx="8970256" cy="2246769"/>
            <a:chOff x="1042183" y="4044925"/>
            <a:chExt cx="8970256" cy="2246769"/>
          </a:xfrm>
        </p:grpSpPr>
        <p:sp>
          <p:nvSpPr>
            <p:cNvPr id="3329" name="Google Shape;3329;p44"/>
            <p:cNvSpPr txBox="1"/>
            <p:nvPr/>
          </p:nvSpPr>
          <p:spPr>
            <a:xfrm>
              <a:off x="1042183" y="4044925"/>
              <a:ext cx="4815357"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Sender, receiver do </a:t>
              </a:r>
              <a:r>
                <a:rPr b="0" i="1" lang="en-US" sz="2800" u="none" cap="none" strike="noStrike">
                  <a:solidFill>
                    <a:srgbClr val="000000"/>
                  </a:solidFill>
                  <a:latin typeface="Calibri"/>
                  <a:ea typeface="Calibri"/>
                  <a:cs typeface="Calibri"/>
                  <a:sym typeface="Calibri"/>
                </a:rPr>
                <a:t>not</a:t>
              </a:r>
              <a:r>
                <a:rPr b="0" i="0" lang="en-US" sz="2800" u="none" cap="none" strike="noStrike">
                  <a:solidFill>
                    <a:srgbClr val="000000"/>
                  </a:solidFill>
                  <a:latin typeface="Calibri"/>
                  <a:ea typeface="Calibri"/>
                  <a:cs typeface="Calibri"/>
                  <a:sym typeface="Calibri"/>
                </a:rPr>
                <a:t> know the “state” of each other, e.g., was a message received?</a:t>
              </a:r>
              <a:endParaRPr/>
            </a:p>
            <a:p>
              <a:pPr indent="-457200" lvl="0" marL="457200"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unless communicated via a message</a:t>
              </a:r>
              <a:endParaRPr/>
            </a:p>
          </p:txBody>
        </p:sp>
        <p:cxnSp>
          <p:nvCxnSpPr>
            <p:cNvPr id="3330" name="Google Shape;3330;p44"/>
            <p:cNvCxnSpPr/>
            <p:nvPr/>
          </p:nvCxnSpPr>
          <p:spPr>
            <a:xfrm flipH="1">
              <a:off x="5799610" y="4167212"/>
              <a:ext cx="1091351" cy="1001120"/>
            </a:xfrm>
            <a:prstGeom prst="straightConnector1">
              <a:avLst/>
            </a:prstGeom>
            <a:noFill/>
            <a:ln cap="flat" cmpd="sng" w="9525">
              <a:solidFill>
                <a:srgbClr val="FF0000"/>
              </a:solidFill>
              <a:prstDash val="solid"/>
              <a:miter lim="800000"/>
              <a:headEnd len="sm" w="sm" type="none"/>
              <a:tailEnd len="sm" w="sm" type="none"/>
            </a:ln>
          </p:spPr>
        </p:cxnSp>
        <p:cxnSp>
          <p:nvCxnSpPr>
            <p:cNvPr id="3331" name="Google Shape;3331;p44"/>
            <p:cNvCxnSpPr/>
            <p:nvPr/>
          </p:nvCxnSpPr>
          <p:spPr>
            <a:xfrm flipH="1">
              <a:off x="5800941" y="4291381"/>
              <a:ext cx="4211498" cy="886357"/>
            </a:xfrm>
            <a:prstGeom prst="straightConnector1">
              <a:avLst/>
            </a:prstGeom>
            <a:noFill/>
            <a:ln cap="flat" cmpd="sng" w="9525">
              <a:solidFill>
                <a:srgbClr val="FF0000"/>
              </a:solidFill>
              <a:prstDash val="solid"/>
              <a:miter lim="800000"/>
              <a:headEnd len="sm" w="sm" type="none"/>
              <a:tailEnd len="sm" w="sm" type="none"/>
            </a:ln>
          </p:spPr>
        </p:cxnSp>
      </p:grpSp>
      <p:sp>
        <p:nvSpPr>
          <p:cNvPr id="3332" name="Google Shape;3332;p44"/>
          <p:cNvSpPr/>
          <p:nvPr/>
        </p:nvSpPr>
        <p:spPr>
          <a:xfrm>
            <a:off x="6586778" y="3177152"/>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33" name="Google Shape;3333;p44"/>
          <p:cNvSpPr/>
          <p:nvPr/>
        </p:nvSpPr>
        <p:spPr>
          <a:xfrm>
            <a:off x="9885335" y="3174569"/>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descr="A shower curtain&#10;&#10;Description automatically generated" id="3334" name="Google Shape;3334;p44"/>
          <p:cNvPicPr preferRelativeResize="0"/>
          <p:nvPr/>
        </p:nvPicPr>
        <p:blipFill rotWithShape="1">
          <a:blip r:embed="rId4">
            <a:alphaModFix/>
          </a:blip>
          <a:srcRect b="0" l="0" r="0" t="0"/>
          <a:stretch/>
        </p:blipFill>
        <p:spPr>
          <a:xfrm>
            <a:off x="8292476" y="1291955"/>
            <a:ext cx="1976012" cy="4393769"/>
          </a:xfrm>
          <a:prstGeom prst="rect">
            <a:avLst/>
          </a:prstGeom>
          <a:noFill/>
          <a:ln>
            <a:noFill/>
          </a:ln>
        </p:spPr>
      </p:pic>
      <p:pic>
        <p:nvPicPr>
          <p:cNvPr descr="A shower curtain&#10;&#10;Description automatically generated" id="3335" name="Google Shape;3335;p44"/>
          <p:cNvPicPr preferRelativeResize="0"/>
          <p:nvPr/>
        </p:nvPicPr>
        <p:blipFill rotWithShape="1">
          <a:blip r:embed="rId4">
            <a:alphaModFix/>
          </a:blip>
          <a:srcRect b="0" l="0" r="0" t="0"/>
          <a:stretch/>
        </p:blipFill>
        <p:spPr>
          <a:xfrm>
            <a:off x="8219289" y="1165171"/>
            <a:ext cx="3972711" cy="4579749"/>
          </a:xfrm>
          <a:prstGeom prst="rect">
            <a:avLst/>
          </a:prstGeom>
          <a:noFill/>
          <a:ln>
            <a:noFill/>
          </a:ln>
        </p:spPr>
      </p:pic>
      <p:sp>
        <p:nvSpPr>
          <p:cNvPr id="3336" name="Google Shape;3336;p4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28"/>
                                        </p:tgtEl>
                                        <p:attrNameLst>
                                          <p:attrName>style.visibility</p:attrName>
                                        </p:attrNameLst>
                                      </p:cBhvr>
                                      <p:to>
                                        <p:strVal val="visible"/>
                                      </p:to>
                                    </p:set>
                                    <p:animEffect filter="fade" transition="in">
                                      <p:cBhvr>
                                        <p:cTn dur="1000"/>
                                        <p:tgtEl>
                                          <p:spTgt spid="33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4"/>
                                        </p:tgtEl>
                                        <p:attrNameLst>
                                          <p:attrName>style.visibility</p:attrName>
                                        </p:attrNameLst>
                                      </p:cBhvr>
                                      <p:to>
                                        <p:strVal val="visible"/>
                                      </p:to>
                                    </p:set>
                                    <p:animEffect filter="fade" transition="in">
                                      <p:cBhvr>
                                        <p:cTn dur="500"/>
                                        <p:tgtEl>
                                          <p:spTgt spid="33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5"/>
                                        </p:tgtEl>
                                        <p:attrNameLst>
                                          <p:attrName>style.visibility</p:attrName>
                                        </p:attrNameLst>
                                      </p:cBhvr>
                                      <p:to>
                                        <p:strVal val="visible"/>
                                      </p:to>
                                    </p:set>
                                    <p:animEffect filter="fade" transition="in">
                                      <p:cBhvr>
                                        <p:cTn dur="1000"/>
                                        <p:tgtEl>
                                          <p:spTgt spid="33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1" name="Shape 3341"/>
        <p:cNvGrpSpPr/>
        <p:nvPr/>
      </p:nvGrpSpPr>
      <p:grpSpPr>
        <a:xfrm>
          <a:off x="0" y="0"/>
          <a:ext cx="0" cy="0"/>
          <a:chOff x="0" y="0"/>
          <a:chExt cx="0" cy="0"/>
        </a:xfrm>
      </p:grpSpPr>
      <p:sp>
        <p:nvSpPr>
          <p:cNvPr id="3342" name="Google Shape;3342;p4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Reliable data transfer protocol (rdt): interfaces</a:t>
            </a:r>
            <a:endParaRPr/>
          </a:p>
        </p:txBody>
      </p:sp>
      <p:grpSp>
        <p:nvGrpSpPr>
          <p:cNvPr id="3343" name="Google Shape;3343;p45"/>
          <p:cNvGrpSpPr/>
          <p:nvPr/>
        </p:nvGrpSpPr>
        <p:grpSpPr>
          <a:xfrm>
            <a:off x="2579501" y="2165159"/>
            <a:ext cx="7088417" cy="3419122"/>
            <a:chOff x="2293693" y="1943479"/>
            <a:chExt cx="7088417" cy="3419122"/>
          </a:xfrm>
        </p:grpSpPr>
        <p:grpSp>
          <p:nvGrpSpPr>
            <p:cNvPr id="3344" name="Google Shape;3344;p45"/>
            <p:cNvGrpSpPr/>
            <p:nvPr/>
          </p:nvGrpSpPr>
          <p:grpSpPr>
            <a:xfrm>
              <a:off x="3481010" y="2124363"/>
              <a:ext cx="1245036" cy="593992"/>
              <a:chOff x="9852456" y="608434"/>
              <a:chExt cx="1245036" cy="593992"/>
            </a:xfrm>
          </p:grpSpPr>
          <p:sp>
            <p:nvSpPr>
              <p:cNvPr id="3345" name="Google Shape;3345;p45"/>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346" name="Google Shape;3346;p45"/>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3347" name="Google Shape;3347;p45"/>
            <p:cNvGrpSpPr/>
            <p:nvPr/>
          </p:nvGrpSpPr>
          <p:grpSpPr>
            <a:xfrm>
              <a:off x="4077480" y="2576394"/>
              <a:ext cx="577241" cy="338554"/>
              <a:chOff x="9950444" y="999755"/>
              <a:chExt cx="577241" cy="338554"/>
            </a:xfrm>
          </p:grpSpPr>
          <p:sp>
            <p:nvSpPr>
              <p:cNvPr id="3348" name="Google Shape;3348;p45"/>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49" name="Google Shape;3349;p45"/>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350" name="Google Shape;3350;p45"/>
            <p:cNvGrpSpPr/>
            <p:nvPr/>
          </p:nvGrpSpPr>
          <p:grpSpPr>
            <a:xfrm>
              <a:off x="3214263" y="2004894"/>
              <a:ext cx="545509" cy="512284"/>
              <a:chOff x="-44" y="1473"/>
              <a:chExt cx="981" cy="1105"/>
            </a:xfrm>
          </p:grpSpPr>
          <p:pic>
            <p:nvPicPr>
              <p:cNvPr descr="desktop_computer_stylized_medium" id="3351" name="Google Shape;3351;p4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352" name="Google Shape;3352;p4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353" name="Google Shape;3353;p45"/>
            <p:cNvGrpSpPr/>
            <p:nvPr/>
          </p:nvGrpSpPr>
          <p:grpSpPr>
            <a:xfrm>
              <a:off x="6726088" y="2075463"/>
              <a:ext cx="1245036" cy="593992"/>
              <a:chOff x="9852456" y="608434"/>
              <a:chExt cx="1245036" cy="593992"/>
            </a:xfrm>
          </p:grpSpPr>
          <p:sp>
            <p:nvSpPr>
              <p:cNvPr id="3354" name="Google Shape;3354;p45"/>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355" name="Google Shape;3355;p45"/>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3356" name="Google Shape;3356;p45"/>
            <p:cNvGrpSpPr/>
            <p:nvPr/>
          </p:nvGrpSpPr>
          <p:grpSpPr>
            <a:xfrm>
              <a:off x="6785217" y="2548684"/>
              <a:ext cx="577241" cy="338554"/>
              <a:chOff x="9678159" y="981583"/>
              <a:chExt cx="577241" cy="338554"/>
            </a:xfrm>
          </p:grpSpPr>
          <p:sp>
            <p:nvSpPr>
              <p:cNvPr id="3357" name="Google Shape;3357;p45"/>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58" name="Google Shape;3358;p45"/>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359" name="Google Shape;3359;p45"/>
            <p:cNvGrpSpPr/>
            <p:nvPr/>
          </p:nvGrpSpPr>
          <p:grpSpPr>
            <a:xfrm>
              <a:off x="7823735" y="1943479"/>
              <a:ext cx="230514" cy="466725"/>
              <a:chOff x="4140" y="429"/>
              <a:chExt cx="1425" cy="2396"/>
            </a:xfrm>
          </p:grpSpPr>
          <p:sp>
            <p:nvSpPr>
              <p:cNvPr id="3360" name="Google Shape;3360;p4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61" name="Google Shape;3361;p45"/>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62" name="Google Shape;3362;p4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63" name="Google Shape;3363;p4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64" name="Google Shape;3364;p45"/>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365" name="Google Shape;3365;p45"/>
              <p:cNvGrpSpPr/>
              <p:nvPr/>
            </p:nvGrpSpPr>
            <p:grpSpPr>
              <a:xfrm>
                <a:off x="4751" y="667"/>
                <a:ext cx="580" cy="146"/>
                <a:chOff x="617" y="2567"/>
                <a:chExt cx="724" cy="140"/>
              </a:xfrm>
            </p:grpSpPr>
            <p:sp>
              <p:nvSpPr>
                <p:cNvPr id="3366" name="Google Shape;3366;p45"/>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67" name="Google Shape;3367;p45"/>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368" name="Google Shape;3368;p45"/>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369" name="Google Shape;3369;p45"/>
              <p:cNvGrpSpPr/>
              <p:nvPr/>
            </p:nvGrpSpPr>
            <p:grpSpPr>
              <a:xfrm>
                <a:off x="4745" y="996"/>
                <a:ext cx="580" cy="156"/>
                <a:chOff x="612" y="2570"/>
                <a:chExt cx="724" cy="162"/>
              </a:xfrm>
            </p:grpSpPr>
            <p:sp>
              <p:nvSpPr>
                <p:cNvPr id="3370" name="Google Shape;3370;p45"/>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71" name="Google Shape;3371;p45"/>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372" name="Google Shape;3372;p45"/>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73" name="Google Shape;3373;p45"/>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374" name="Google Shape;3374;p45"/>
              <p:cNvGrpSpPr/>
              <p:nvPr/>
            </p:nvGrpSpPr>
            <p:grpSpPr>
              <a:xfrm>
                <a:off x="4733" y="1627"/>
                <a:ext cx="586" cy="151"/>
                <a:chOff x="611" y="2568"/>
                <a:chExt cx="730" cy="139"/>
              </a:xfrm>
            </p:grpSpPr>
            <p:sp>
              <p:nvSpPr>
                <p:cNvPr id="3375" name="Google Shape;3375;p45"/>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76" name="Google Shape;3376;p45"/>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377" name="Google Shape;3377;p4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378" name="Google Shape;3378;p45"/>
              <p:cNvGrpSpPr/>
              <p:nvPr/>
            </p:nvGrpSpPr>
            <p:grpSpPr>
              <a:xfrm>
                <a:off x="4739" y="1325"/>
                <a:ext cx="580" cy="140"/>
                <a:chOff x="614" y="2566"/>
                <a:chExt cx="723" cy="140"/>
              </a:xfrm>
            </p:grpSpPr>
            <p:sp>
              <p:nvSpPr>
                <p:cNvPr id="3379" name="Google Shape;3379;p45"/>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80" name="Google Shape;3380;p45"/>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381" name="Google Shape;3381;p45"/>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82" name="Google Shape;3382;p4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83" name="Google Shape;3383;p4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84" name="Google Shape;3384;p45"/>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85" name="Google Shape;3385;p4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86" name="Google Shape;3386;p45"/>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87" name="Google Shape;3387;p45"/>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88" name="Google Shape;3388;p45"/>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89" name="Google Shape;3389;p45"/>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3390" name="Google Shape;3390;p45"/>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391" name="Google Shape;3391;p45"/>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3392" name="Google Shape;3392;p45"/>
            <p:cNvCxnSpPr/>
            <p:nvPr/>
          </p:nvCxnSpPr>
          <p:spPr>
            <a:xfrm>
              <a:off x="3121019" y="2898014"/>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393" name="Google Shape;3393;p45"/>
            <p:cNvCxnSpPr/>
            <p:nvPr/>
          </p:nvCxnSpPr>
          <p:spPr>
            <a:xfrm>
              <a:off x="6614663" y="2870304"/>
              <a:ext cx="1687911" cy="0"/>
            </a:xfrm>
            <a:prstGeom prst="straightConnector1">
              <a:avLst/>
            </a:prstGeom>
            <a:noFill/>
            <a:ln cap="flat" cmpd="sng" w="22225">
              <a:solidFill>
                <a:srgbClr val="C00000"/>
              </a:solidFill>
              <a:prstDash val="solid"/>
              <a:miter lim="800000"/>
              <a:headEnd len="sm" w="sm" type="none"/>
              <a:tailEnd len="sm" w="sm" type="none"/>
            </a:ln>
          </p:spPr>
        </p:cxnSp>
        <p:grpSp>
          <p:nvGrpSpPr>
            <p:cNvPr id="3394" name="Google Shape;3394;p45"/>
            <p:cNvGrpSpPr/>
            <p:nvPr/>
          </p:nvGrpSpPr>
          <p:grpSpPr>
            <a:xfrm>
              <a:off x="3110199" y="4881020"/>
              <a:ext cx="5250830" cy="481581"/>
              <a:chOff x="6737055" y="3471301"/>
              <a:chExt cx="5250830" cy="481581"/>
            </a:xfrm>
          </p:grpSpPr>
          <p:grpSp>
            <p:nvGrpSpPr>
              <p:cNvPr id="3395" name="Google Shape;3395;p45"/>
              <p:cNvGrpSpPr/>
              <p:nvPr/>
            </p:nvGrpSpPr>
            <p:grpSpPr>
              <a:xfrm>
                <a:off x="8324240" y="3583550"/>
                <a:ext cx="2044628" cy="369332"/>
                <a:chOff x="7504363" y="3155701"/>
                <a:chExt cx="2044628" cy="369332"/>
              </a:xfrm>
            </p:grpSpPr>
            <p:grpSp>
              <p:nvGrpSpPr>
                <p:cNvPr id="3396" name="Google Shape;3396;p45"/>
                <p:cNvGrpSpPr/>
                <p:nvPr/>
              </p:nvGrpSpPr>
              <p:grpSpPr>
                <a:xfrm>
                  <a:off x="7504363" y="3183676"/>
                  <a:ext cx="2003932" cy="306163"/>
                  <a:chOff x="1616358" y="2551230"/>
                  <a:chExt cx="2141698" cy="218510"/>
                </a:xfrm>
              </p:grpSpPr>
              <p:sp>
                <p:nvSpPr>
                  <p:cNvPr id="3397" name="Google Shape;3397;p45"/>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98" name="Google Shape;3398;p45"/>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99" name="Google Shape;3399;p45"/>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00" name="Google Shape;3400;p45"/>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3401" name="Google Shape;3401;p45"/>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3402" name="Google Shape;3402;p45"/>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403" name="Google Shape;3403;p45"/>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cxnSp>
          <p:nvCxnSpPr>
            <p:cNvPr id="3404" name="Google Shape;3404;p45"/>
            <p:cNvCxnSpPr/>
            <p:nvPr/>
          </p:nvCxnSpPr>
          <p:spPr>
            <a:xfrm>
              <a:off x="4069352" y="2795325"/>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3405" name="Google Shape;3405;p45"/>
            <p:cNvCxnSpPr/>
            <p:nvPr/>
          </p:nvCxnSpPr>
          <p:spPr>
            <a:xfrm rot="10800000">
              <a:off x="7403443" y="2731748"/>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3406" name="Google Shape;3406;p45"/>
            <p:cNvSpPr txBox="1"/>
            <p:nvPr/>
          </p:nvSpPr>
          <p:spPr>
            <a:xfrm>
              <a:off x="3042206" y="3300756"/>
              <a:ext cx="2001038" cy="108952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a:t>
              </a:r>
              <a:endParaRPr/>
            </a:p>
            <a:p>
              <a:pPr indent="0" lvl="0" marL="0" marR="0" rtl="0" algn="ctr">
                <a:lnSpc>
                  <a:spcPct val="90000"/>
                </a:lnSpc>
                <a:spcBef>
                  <a:spcPts val="0"/>
                </a:spcBef>
                <a:spcAft>
                  <a:spcPts val="0"/>
                </a:spcAft>
                <a:buClr>
                  <a:srgbClr val="000000"/>
                </a:buClr>
                <a:buSzPts val="1800"/>
                <a:buFont typeface="Calibri"/>
                <a:buNone/>
              </a:pPr>
              <a:r>
                <a:rPr b="0" i="1" lang="en-US" sz="1800" u="none" cap="none" strike="noStrike">
                  <a:solidFill>
                    <a:srgbClr val="000000"/>
                  </a:solidFill>
                  <a:latin typeface="Calibri"/>
                  <a:ea typeface="Calibri"/>
                  <a:cs typeface="Calibri"/>
                  <a:sym typeface="Calibri"/>
                </a:rPr>
                <a:t>implementation</a:t>
              </a:r>
              <a:r>
                <a:rPr b="0" i="0" lang="en-US" sz="1800" u="none" cap="none" strike="noStrike">
                  <a:solidFill>
                    <a:srgbClr val="000000"/>
                  </a:solidFill>
                  <a:latin typeface="Calibri"/>
                  <a:ea typeface="Calibri"/>
                  <a:cs typeface="Calibri"/>
                  <a:sym typeface="Calibri"/>
                </a:rPr>
                <a:t> of </a:t>
              </a:r>
              <a:r>
                <a:rPr b="0" i="0" lang="en-US" sz="1800" u="none" cap="none" strike="noStrike">
                  <a:solidFill>
                    <a:srgbClr val="000000"/>
                  </a:solidFill>
                  <a:latin typeface="Courier"/>
                  <a:ea typeface="Courier"/>
                  <a:cs typeface="Courier"/>
                  <a:sym typeface="Courier"/>
                </a:rPr>
                <a:t>rdt</a:t>
              </a:r>
              <a:r>
                <a:rPr b="0" i="0" lang="en-US" sz="1800" u="none" cap="none" strike="noStrike">
                  <a:solidFill>
                    <a:srgbClr val="000000"/>
                  </a:solidFill>
                  <a:latin typeface="Calibri"/>
                  <a:ea typeface="Calibri"/>
                  <a:cs typeface="Calibri"/>
                  <a:sym typeface="Calibri"/>
                </a:rPr>
                <a:t> reliable data transfer protocol</a:t>
              </a:r>
              <a:endParaRPr/>
            </a:p>
          </p:txBody>
        </p:sp>
        <p:sp>
          <p:nvSpPr>
            <p:cNvPr id="3407" name="Google Shape;3407;p45"/>
            <p:cNvSpPr txBox="1"/>
            <p:nvPr/>
          </p:nvSpPr>
          <p:spPr>
            <a:xfrm>
              <a:off x="6413059" y="3328511"/>
              <a:ext cx="2001033" cy="108952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1" lang="en-US" sz="1800" u="none" cap="none" strike="noStrike">
                  <a:solidFill>
                    <a:srgbClr val="000000"/>
                  </a:solidFill>
                  <a:latin typeface="Calibri"/>
                  <a:ea typeface="Calibri"/>
                  <a:cs typeface="Calibri"/>
                  <a:sym typeface="Calibri"/>
                </a:rPr>
                <a:t>implementation</a:t>
              </a:r>
              <a:r>
                <a:rPr b="0" i="0" lang="en-US" sz="1800" u="none" cap="none" strike="noStrike">
                  <a:solidFill>
                    <a:srgbClr val="000000"/>
                  </a:solidFill>
                  <a:latin typeface="Calibri"/>
                  <a:ea typeface="Calibri"/>
                  <a:cs typeface="Calibri"/>
                  <a:sym typeface="Calibri"/>
                </a:rPr>
                <a:t> of </a:t>
              </a:r>
              <a:r>
                <a:rPr b="0" i="0" lang="en-US" sz="1800" u="none" cap="none" strike="noStrike">
                  <a:solidFill>
                    <a:srgbClr val="000000"/>
                  </a:solidFill>
                  <a:latin typeface="Courier"/>
                  <a:ea typeface="Courier"/>
                  <a:cs typeface="Courier"/>
                  <a:sym typeface="Courier"/>
                </a:rPr>
                <a:t>rdt </a:t>
              </a:r>
              <a:r>
                <a:rPr b="0" i="0" lang="en-US" sz="1800" u="none" cap="none" strike="noStrike">
                  <a:solidFill>
                    <a:srgbClr val="000000"/>
                  </a:solidFill>
                  <a:latin typeface="Calibri"/>
                  <a:ea typeface="Calibri"/>
                  <a:cs typeface="Calibri"/>
                  <a:sym typeface="Calibri"/>
                </a:rPr>
                <a:t>reliable data transfer protocol</a:t>
              </a:r>
              <a:endParaRPr/>
            </a:p>
          </p:txBody>
        </p:sp>
        <p:grpSp>
          <p:nvGrpSpPr>
            <p:cNvPr id="3408" name="Google Shape;3408;p45"/>
            <p:cNvGrpSpPr/>
            <p:nvPr/>
          </p:nvGrpSpPr>
          <p:grpSpPr>
            <a:xfrm>
              <a:off x="4071725" y="4602963"/>
              <a:ext cx="632009" cy="632009"/>
              <a:chOff x="7408199" y="4955748"/>
              <a:chExt cx="632009" cy="632009"/>
            </a:xfrm>
          </p:grpSpPr>
          <p:cxnSp>
            <p:nvCxnSpPr>
              <p:cNvPr id="3409" name="Google Shape;3409;p45"/>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410" name="Google Shape;3410;p45"/>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3411" name="Google Shape;3411;p45"/>
            <p:cNvGrpSpPr/>
            <p:nvPr/>
          </p:nvGrpSpPr>
          <p:grpSpPr>
            <a:xfrm rot="-5400000">
              <a:off x="6784894" y="4598122"/>
              <a:ext cx="632009" cy="632009"/>
              <a:chOff x="7408199" y="4948974"/>
              <a:chExt cx="632009" cy="632009"/>
            </a:xfrm>
          </p:grpSpPr>
          <p:cxnSp>
            <p:nvCxnSpPr>
              <p:cNvPr id="3412" name="Google Shape;3412;p45"/>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413" name="Google Shape;3413;p45"/>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sp>
          <p:nvSpPr>
            <p:cNvPr id="3414" name="Google Shape;3414;p45"/>
            <p:cNvSpPr txBox="1"/>
            <p:nvPr/>
          </p:nvSpPr>
          <p:spPr>
            <a:xfrm>
              <a:off x="2293693" y="2546898"/>
              <a:ext cx="16879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rdt_send()</a:t>
              </a:r>
              <a:endParaRPr/>
            </a:p>
          </p:txBody>
        </p:sp>
        <p:sp>
          <p:nvSpPr>
            <p:cNvPr id="3415" name="Google Shape;3415;p45"/>
            <p:cNvSpPr txBox="1"/>
            <p:nvPr/>
          </p:nvSpPr>
          <p:spPr>
            <a:xfrm>
              <a:off x="2637055" y="4529903"/>
              <a:ext cx="16879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udt_send()</a:t>
              </a:r>
              <a:endParaRPr/>
            </a:p>
          </p:txBody>
        </p:sp>
        <p:sp>
          <p:nvSpPr>
            <p:cNvPr id="3416" name="Google Shape;3416;p45"/>
            <p:cNvSpPr txBox="1"/>
            <p:nvPr/>
          </p:nvSpPr>
          <p:spPr>
            <a:xfrm>
              <a:off x="7460091" y="4522693"/>
              <a:ext cx="16879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rdt_rcv()</a:t>
              </a:r>
              <a:endParaRPr/>
            </a:p>
          </p:txBody>
        </p:sp>
        <p:sp>
          <p:nvSpPr>
            <p:cNvPr id="3417" name="Google Shape;3417;p45"/>
            <p:cNvSpPr txBox="1"/>
            <p:nvPr/>
          </p:nvSpPr>
          <p:spPr>
            <a:xfrm>
              <a:off x="7446811" y="2872208"/>
              <a:ext cx="193529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deliver_data()</a:t>
              </a:r>
              <a:endParaRPr/>
            </a:p>
          </p:txBody>
        </p:sp>
        <p:grpSp>
          <p:nvGrpSpPr>
            <p:cNvPr id="3418" name="Google Shape;3418;p45"/>
            <p:cNvGrpSpPr/>
            <p:nvPr/>
          </p:nvGrpSpPr>
          <p:grpSpPr>
            <a:xfrm>
              <a:off x="4198761" y="4538107"/>
              <a:ext cx="1129178" cy="338554"/>
              <a:chOff x="4492148" y="4699180"/>
              <a:chExt cx="1129178" cy="338554"/>
            </a:xfrm>
          </p:grpSpPr>
          <p:grpSp>
            <p:nvGrpSpPr>
              <p:cNvPr id="3419" name="Google Shape;3419;p45"/>
              <p:cNvGrpSpPr/>
              <p:nvPr/>
            </p:nvGrpSpPr>
            <p:grpSpPr>
              <a:xfrm>
                <a:off x="5044085" y="4699180"/>
                <a:ext cx="577241" cy="338554"/>
                <a:chOff x="9950444" y="999755"/>
                <a:chExt cx="577241" cy="338554"/>
              </a:xfrm>
            </p:grpSpPr>
            <p:sp>
              <p:nvSpPr>
                <p:cNvPr id="3420" name="Google Shape;3420;p45"/>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21" name="Google Shape;3421;p45"/>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422" name="Google Shape;3422;p45"/>
              <p:cNvGrpSpPr/>
              <p:nvPr/>
            </p:nvGrpSpPr>
            <p:grpSpPr>
              <a:xfrm>
                <a:off x="4492148" y="4738794"/>
                <a:ext cx="684009" cy="276999"/>
                <a:chOff x="9965227" y="1039458"/>
                <a:chExt cx="684009" cy="276999"/>
              </a:xfrm>
            </p:grpSpPr>
            <p:sp>
              <p:nvSpPr>
                <p:cNvPr id="3423" name="Google Shape;3423;p45"/>
                <p:cNvSpPr/>
                <p:nvPr/>
              </p:nvSpPr>
              <p:spPr>
                <a:xfrm>
                  <a:off x="10010632" y="1066693"/>
                  <a:ext cx="561043"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24" name="Google Shape;3424;p45"/>
                <p:cNvSpPr txBox="1"/>
                <p:nvPr/>
              </p:nvSpPr>
              <p:spPr>
                <a:xfrm>
                  <a:off x="9965227" y="1039458"/>
                  <a:ext cx="68400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Header</a:t>
                  </a:r>
                  <a:endParaRPr b="0" i="0" sz="1800" u="none" cap="none" strike="noStrike">
                    <a:solidFill>
                      <a:srgbClr val="FFFFFF"/>
                    </a:solidFill>
                    <a:latin typeface="Calibri"/>
                    <a:ea typeface="Calibri"/>
                    <a:cs typeface="Calibri"/>
                    <a:sym typeface="Calibri"/>
                  </a:endParaRPr>
                </a:p>
              </p:txBody>
            </p:sp>
          </p:grpSp>
        </p:grpSp>
        <p:grpSp>
          <p:nvGrpSpPr>
            <p:cNvPr id="3425" name="Google Shape;3425;p45"/>
            <p:cNvGrpSpPr/>
            <p:nvPr/>
          </p:nvGrpSpPr>
          <p:grpSpPr>
            <a:xfrm>
              <a:off x="6194588" y="4534824"/>
              <a:ext cx="1129178" cy="338554"/>
              <a:chOff x="4492148" y="4699180"/>
              <a:chExt cx="1129178" cy="338554"/>
            </a:xfrm>
          </p:grpSpPr>
          <p:grpSp>
            <p:nvGrpSpPr>
              <p:cNvPr id="3426" name="Google Shape;3426;p45"/>
              <p:cNvGrpSpPr/>
              <p:nvPr/>
            </p:nvGrpSpPr>
            <p:grpSpPr>
              <a:xfrm>
                <a:off x="5044085" y="4699180"/>
                <a:ext cx="577241" cy="338554"/>
                <a:chOff x="9950444" y="999755"/>
                <a:chExt cx="577241" cy="338554"/>
              </a:xfrm>
            </p:grpSpPr>
            <p:sp>
              <p:nvSpPr>
                <p:cNvPr id="3427" name="Google Shape;3427;p45"/>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28" name="Google Shape;3428;p45"/>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429" name="Google Shape;3429;p45"/>
              <p:cNvGrpSpPr/>
              <p:nvPr/>
            </p:nvGrpSpPr>
            <p:grpSpPr>
              <a:xfrm>
                <a:off x="4492148" y="4738794"/>
                <a:ext cx="684009" cy="276999"/>
                <a:chOff x="9965227" y="1039458"/>
                <a:chExt cx="684009" cy="276999"/>
              </a:xfrm>
            </p:grpSpPr>
            <p:sp>
              <p:nvSpPr>
                <p:cNvPr id="3430" name="Google Shape;3430;p45"/>
                <p:cNvSpPr/>
                <p:nvPr/>
              </p:nvSpPr>
              <p:spPr>
                <a:xfrm>
                  <a:off x="10010632" y="1066693"/>
                  <a:ext cx="561043"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31" name="Google Shape;3431;p45"/>
                <p:cNvSpPr txBox="1"/>
                <p:nvPr/>
              </p:nvSpPr>
              <p:spPr>
                <a:xfrm>
                  <a:off x="9965227" y="1039458"/>
                  <a:ext cx="68400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Header</a:t>
                  </a:r>
                  <a:endParaRPr b="0" i="0" sz="1800" u="none" cap="none" strike="noStrike">
                    <a:solidFill>
                      <a:srgbClr val="FFFFFF"/>
                    </a:solidFill>
                    <a:latin typeface="Calibri"/>
                    <a:ea typeface="Calibri"/>
                    <a:cs typeface="Calibri"/>
                    <a:sym typeface="Calibri"/>
                  </a:endParaRPr>
                </a:p>
              </p:txBody>
            </p:sp>
          </p:grpSp>
        </p:grpSp>
      </p:grpSp>
      <p:grpSp>
        <p:nvGrpSpPr>
          <p:cNvPr id="3432" name="Google Shape;3432;p45"/>
          <p:cNvGrpSpPr/>
          <p:nvPr/>
        </p:nvGrpSpPr>
        <p:grpSpPr>
          <a:xfrm>
            <a:off x="352441" y="1450769"/>
            <a:ext cx="3206750" cy="1430338"/>
            <a:chOff x="240" y="920"/>
            <a:chExt cx="2020" cy="901"/>
          </a:xfrm>
        </p:grpSpPr>
        <p:sp>
          <p:nvSpPr>
            <p:cNvPr id="3433" name="Google Shape;3433;p45"/>
            <p:cNvSpPr txBox="1"/>
            <p:nvPr/>
          </p:nvSpPr>
          <p:spPr>
            <a:xfrm>
              <a:off x="318" y="920"/>
              <a:ext cx="1895" cy="5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rdt_send():</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from above, (e.g., by app.). Passed data to deliver to receiver upper layer</a:t>
              </a:r>
              <a:endParaRPr b="0" i="0" sz="2400" u="none" cap="none" strike="noStrike">
                <a:solidFill>
                  <a:srgbClr val="000000"/>
                </a:solidFill>
                <a:latin typeface="Calibri"/>
                <a:ea typeface="Calibri"/>
                <a:cs typeface="Calibri"/>
                <a:sym typeface="Calibri"/>
              </a:endParaRPr>
            </a:p>
          </p:txBody>
        </p:sp>
        <p:grpSp>
          <p:nvGrpSpPr>
            <p:cNvPr id="3434" name="Google Shape;3434;p45"/>
            <p:cNvGrpSpPr/>
            <p:nvPr/>
          </p:nvGrpSpPr>
          <p:grpSpPr>
            <a:xfrm>
              <a:off x="240" y="921"/>
              <a:ext cx="2020" cy="900"/>
              <a:chOff x="240" y="933"/>
              <a:chExt cx="2020" cy="900"/>
            </a:xfrm>
          </p:grpSpPr>
          <p:cxnSp>
            <p:nvCxnSpPr>
              <p:cNvPr id="3435" name="Google Shape;3435;p45"/>
              <p:cNvCxnSpPr/>
              <p:nvPr/>
            </p:nvCxnSpPr>
            <p:spPr>
              <a:xfrm>
                <a:off x="1787" y="1509"/>
                <a:ext cx="174" cy="324"/>
              </a:xfrm>
              <a:prstGeom prst="straightConnector1">
                <a:avLst/>
              </a:prstGeom>
              <a:noFill/>
              <a:ln cap="flat" cmpd="sng" w="19050">
                <a:solidFill>
                  <a:srgbClr val="C00000"/>
                </a:solidFill>
                <a:prstDash val="solid"/>
                <a:round/>
                <a:headEnd len="med" w="med" type="none"/>
                <a:tailEnd len="med" w="med" type="triangle"/>
              </a:ln>
            </p:spPr>
          </p:cxnSp>
          <p:sp>
            <p:nvSpPr>
              <p:cNvPr id="3436" name="Google Shape;3436;p45"/>
              <p:cNvSpPr/>
              <p:nvPr/>
            </p:nvSpPr>
            <p:spPr>
              <a:xfrm>
                <a:off x="240" y="933"/>
                <a:ext cx="2020" cy="558"/>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3437" name="Google Shape;3437;p45"/>
          <p:cNvGrpSpPr/>
          <p:nvPr/>
        </p:nvGrpSpPr>
        <p:grpSpPr>
          <a:xfrm>
            <a:off x="665618" y="5097921"/>
            <a:ext cx="3074988" cy="1393825"/>
            <a:chOff x="218" y="3055"/>
            <a:chExt cx="1937" cy="878"/>
          </a:xfrm>
        </p:grpSpPr>
        <p:sp>
          <p:nvSpPr>
            <p:cNvPr id="3438" name="Google Shape;3438;p45"/>
            <p:cNvSpPr txBox="1"/>
            <p:nvPr/>
          </p:nvSpPr>
          <p:spPr>
            <a:xfrm>
              <a:off x="233" y="3356"/>
              <a:ext cx="1878" cy="5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udt_send():</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by </a:t>
              </a:r>
              <a:r>
                <a:rPr b="0" i="0" lang="en-US" sz="1800" u="none" cap="none" strike="noStrike">
                  <a:solidFill>
                    <a:srgbClr val="000000"/>
                  </a:solidFill>
                  <a:latin typeface="Courier"/>
                  <a:ea typeface="Courier"/>
                  <a:cs typeface="Courier"/>
                  <a:sym typeface="Courier"/>
                </a:rPr>
                <a:t>rdt</a:t>
              </a:r>
              <a:endParaRPr b="0" i="0" sz="1800" u="none" cap="none" strike="noStrike">
                <a:solidFill>
                  <a:srgbClr val="000000"/>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to transfer packet over </a:t>
              </a:r>
              <a:endParaRPr/>
            </a:p>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unreliable channel to receiver</a:t>
              </a:r>
              <a:endParaRPr b="0" i="0" sz="2400" u="none" cap="none" strike="noStrike">
                <a:solidFill>
                  <a:srgbClr val="000000"/>
                </a:solidFill>
                <a:latin typeface="Calibri"/>
                <a:ea typeface="Calibri"/>
                <a:cs typeface="Calibri"/>
                <a:sym typeface="Calibri"/>
              </a:endParaRPr>
            </a:p>
          </p:txBody>
        </p:sp>
        <p:grpSp>
          <p:nvGrpSpPr>
            <p:cNvPr id="3439" name="Google Shape;3439;p45"/>
            <p:cNvGrpSpPr/>
            <p:nvPr/>
          </p:nvGrpSpPr>
          <p:grpSpPr>
            <a:xfrm>
              <a:off x="218" y="3055"/>
              <a:ext cx="1937" cy="867"/>
              <a:chOff x="218" y="3055"/>
              <a:chExt cx="1937" cy="867"/>
            </a:xfrm>
          </p:grpSpPr>
          <p:cxnSp>
            <p:nvCxnSpPr>
              <p:cNvPr id="3440" name="Google Shape;3440;p45"/>
              <p:cNvCxnSpPr/>
              <p:nvPr/>
            </p:nvCxnSpPr>
            <p:spPr>
              <a:xfrm flipH="1" rot="10800000">
                <a:off x="1433" y="3055"/>
                <a:ext cx="359" cy="303"/>
              </a:xfrm>
              <a:prstGeom prst="straightConnector1">
                <a:avLst/>
              </a:prstGeom>
              <a:noFill/>
              <a:ln cap="flat" cmpd="sng" w="19050">
                <a:solidFill>
                  <a:srgbClr val="C00000"/>
                </a:solidFill>
                <a:prstDash val="solid"/>
                <a:round/>
                <a:headEnd len="med" w="med" type="none"/>
                <a:tailEnd len="med" w="med" type="triangle"/>
              </a:ln>
            </p:spPr>
          </p:cxnSp>
          <p:sp>
            <p:nvSpPr>
              <p:cNvPr id="3441" name="Google Shape;3441;p45"/>
              <p:cNvSpPr/>
              <p:nvPr/>
            </p:nvSpPr>
            <p:spPr>
              <a:xfrm>
                <a:off x="218" y="3364"/>
                <a:ext cx="1937" cy="558"/>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3442" name="Google Shape;3442;p45"/>
          <p:cNvGrpSpPr/>
          <p:nvPr/>
        </p:nvGrpSpPr>
        <p:grpSpPr>
          <a:xfrm>
            <a:off x="8446406" y="5042355"/>
            <a:ext cx="3122613" cy="1520825"/>
            <a:chOff x="3071" y="2986"/>
            <a:chExt cx="1967" cy="958"/>
          </a:xfrm>
        </p:grpSpPr>
        <p:sp>
          <p:nvSpPr>
            <p:cNvPr id="3443" name="Google Shape;3443;p45"/>
            <p:cNvSpPr txBox="1"/>
            <p:nvPr/>
          </p:nvSpPr>
          <p:spPr>
            <a:xfrm>
              <a:off x="3101" y="3362"/>
              <a:ext cx="1937" cy="5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rdt_rcv():</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when packet arrives on receiver side of channel</a:t>
              </a:r>
              <a:endParaRPr b="0" i="0" sz="2400" u="none" cap="none" strike="noStrike">
                <a:solidFill>
                  <a:srgbClr val="000000"/>
                </a:solidFill>
                <a:latin typeface="Calibri"/>
                <a:ea typeface="Calibri"/>
                <a:cs typeface="Calibri"/>
                <a:sym typeface="Calibri"/>
              </a:endParaRPr>
            </a:p>
          </p:txBody>
        </p:sp>
        <p:grpSp>
          <p:nvGrpSpPr>
            <p:cNvPr id="3444" name="Google Shape;3444;p45"/>
            <p:cNvGrpSpPr/>
            <p:nvPr/>
          </p:nvGrpSpPr>
          <p:grpSpPr>
            <a:xfrm>
              <a:off x="3071" y="2986"/>
              <a:ext cx="1937" cy="943"/>
              <a:chOff x="3071" y="2986"/>
              <a:chExt cx="1937" cy="943"/>
            </a:xfrm>
          </p:grpSpPr>
          <p:cxnSp>
            <p:nvCxnSpPr>
              <p:cNvPr id="3445" name="Google Shape;3445;p45"/>
              <p:cNvCxnSpPr/>
              <p:nvPr/>
            </p:nvCxnSpPr>
            <p:spPr>
              <a:xfrm rot="10800000">
                <a:off x="3312" y="2986"/>
                <a:ext cx="398" cy="371"/>
              </a:xfrm>
              <a:prstGeom prst="straightConnector1">
                <a:avLst/>
              </a:prstGeom>
              <a:noFill/>
              <a:ln cap="flat" cmpd="sng" w="19050">
                <a:solidFill>
                  <a:srgbClr val="C00000"/>
                </a:solidFill>
                <a:prstDash val="solid"/>
                <a:round/>
                <a:headEnd len="med" w="med" type="none"/>
                <a:tailEnd len="med" w="med" type="triangle"/>
              </a:ln>
            </p:spPr>
          </p:cxnSp>
          <p:sp>
            <p:nvSpPr>
              <p:cNvPr id="3446" name="Google Shape;3446;p45"/>
              <p:cNvSpPr/>
              <p:nvPr/>
            </p:nvSpPr>
            <p:spPr>
              <a:xfrm>
                <a:off x="3071" y="3348"/>
                <a:ext cx="1937" cy="581"/>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3447" name="Google Shape;3447;p45"/>
          <p:cNvGrpSpPr/>
          <p:nvPr/>
        </p:nvGrpSpPr>
        <p:grpSpPr>
          <a:xfrm>
            <a:off x="8824801" y="1555220"/>
            <a:ext cx="3063876" cy="1571625"/>
            <a:chOff x="3138" y="936"/>
            <a:chExt cx="1930" cy="990"/>
          </a:xfrm>
        </p:grpSpPr>
        <p:sp>
          <p:nvSpPr>
            <p:cNvPr id="3448" name="Google Shape;3448;p45"/>
            <p:cNvSpPr txBox="1"/>
            <p:nvPr/>
          </p:nvSpPr>
          <p:spPr>
            <a:xfrm>
              <a:off x="3168" y="936"/>
              <a:ext cx="1900" cy="4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deliver_data():</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by </a:t>
              </a:r>
              <a:r>
                <a:rPr b="0" i="0" lang="en-US" sz="1800" u="none" cap="none" strike="noStrike">
                  <a:solidFill>
                    <a:srgbClr val="000000"/>
                  </a:solidFill>
                  <a:latin typeface="Courier"/>
                  <a:ea typeface="Courier"/>
                  <a:cs typeface="Courier"/>
                  <a:sym typeface="Courier"/>
                </a:rPr>
                <a:t>rdt </a:t>
              </a:r>
              <a:r>
                <a:rPr b="0" i="0" lang="en-US" sz="1800" u="none" cap="none" strike="noStrike">
                  <a:solidFill>
                    <a:srgbClr val="000000"/>
                  </a:solidFill>
                  <a:latin typeface="Calibri"/>
                  <a:ea typeface="Calibri"/>
                  <a:cs typeface="Calibri"/>
                  <a:sym typeface="Calibri"/>
                </a:rPr>
                <a:t>to deliver data to upper layer</a:t>
              </a:r>
              <a:endParaRPr/>
            </a:p>
          </p:txBody>
        </p:sp>
        <p:grpSp>
          <p:nvGrpSpPr>
            <p:cNvPr id="3449" name="Google Shape;3449;p45"/>
            <p:cNvGrpSpPr/>
            <p:nvPr/>
          </p:nvGrpSpPr>
          <p:grpSpPr>
            <a:xfrm>
              <a:off x="3138" y="942"/>
              <a:ext cx="1899" cy="984"/>
              <a:chOff x="3138" y="942"/>
              <a:chExt cx="1899" cy="984"/>
            </a:xfrm>
          </p:grpSpPr>
          <p:cxnSp>
            <p:nvCxnSpPr>
              <p:cNvPr id="3450" name="Google Shape;3450;p45"/>
              <p:cNvCxnSpPr/>
              <p:nvPr/>
            </p:nvCxnSpPr>
            <p:spPr>
              <a:xfrm flipH="1">
                <a:off x="3328" y="1334"/>
                <a:ext cx="325" cy="592"/>
              </a:xfrm>
              <a:prstGeom prst="straightConnector1">
                <a:avLst/>
              </a:prstGeom>
              <a:noFill/>
              <a:ln cap="flat" cmpd="sng" w="19050">
                <a:solidFill>
                  <a:srgbClr val="C00000"/>
                </a:solidFill>
                <a:prstDash val="solid"/>
                <a:round/>
                <a:headEnd len="med" w="med" type="none"/>
                <a:tailEnd len="med" w="med" type="triangle"/>
              </a:ln>
            </p:spPr>
          </p:cxnSp>
          <p:sp>
            <p:nvSpPr>
              <p:cNvPr id="3451" name="Google Shape;3451;p45"/>
              <p:cNvSpPr/>
              <p:nvPr/>
            </p:nvSpPr>
            <p:spPr>
              <a:xfrm>
                <a:off x="3138" y="942"/>
                <a:ext cx="1899" cy="396"/>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3452" name="Google Shape;3452;p45"/>
          <p:cNvGrpSpPr/>
          <p:nvPr/>
        </p:nvGrpSpPr>
        <p:grpSpPr>
          <a:xfrm>
            <a:off x="4390890" y="5513755"/>
            <a:ext cx="3819165" cy="1064365"/>
            <a:chOff x="2631911" y="5334147"/>
            <a:chExt cx="3819165" cy="1064365"/>
          </a:xfrm>
        </p:grpSpPr>
        <p:sp>
          <p:nvSpPr>
            <p:cNvPr id="3453" name="Google Shape;3453;p45"/>
            <p:cNvSpPr txBox="1"/>
            <p:nvPr/>
          </p:nvSpPr>
          <p:spPr>
            <a:xfrm>
              <a:off x="2631911" y="5807581"/>
              <a:ext cx="3819165" cy="59093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Bi-directional communication over unreliable channel</a:t>
              </a:r>
              <a:endParaRPr/>
            </a:p>
          </p:txBody>
        </p:sp>
        <p:cxnSp>
          <p:nvCxnSpPr>
            <p:cNvPr id="3454" name="Google Shape;3454;p45"/>
            <p:cNvCxnSpPr/>
            <p:nvPr/>
          </p:nvCxnSpPr>
          <p:spPr>
            <a:xfrm>
              <a:off x="2905750" y="5334147"/>
              <a:ext cx="1431271" cy="473434"/>
            </a:xfrm>
            <a:prstGeom prst="straightConnector1">
              <a:avLst/>
            </a:prstGeom>
            <a:noFill/>
            <a:ln cap="flat" cmpd="sng" w="9525">
              <a:solidFill>
                <a:srgbClr val="FF0000"/>
              </a:solidFill>
              <a:prstDash val="solid"/>
              <a:miter lim="800000"/>
              <a:headEnd len="sm" w="sm" type="none"/>
              <a:tailEnd len="sm" w="sm" type="none"/>
            </a:ln>
          </p:spPr>
        </p:cxnSp>
        <p:cxnSp>
          <p:nvCxnSpPr>
            <p:cNvPr id="3455" name="Google Shape;3455;p45"/>
            <p:cNvCxnSpPr/>
            <p:nvPr/>
          </p:nvCxnSpPr>
          <p:spPr>
            <a:xfrm flipH="1">
              <a:off x="4339308" y="5338301"/>
              <a:ext cx="1358761" cy="469280"/>
            </a:xfrm>
            <a:prstGeom prst="straightConnector1">
              <a:avLst/>
            </a:prstGeom>
            <a:noFill/>
            <a:ln cap="flat" cmpd="sng" w="9525">
              <a:solidFill>
                <a:srgbClr val="FF0000"/>
              </a:solidFill>
              <a:prstDash val="solid"/>
              <a:miter lim="800000"/>
              <a:headEnd len="sm" w="sm" type="none"/>
              <a:tailEnd len="sm" w="sm" type="none"/>
            </a:ln>
          </p:spPr>
        </p:cxnSp>
      </p:grpSp>
      <p:grpSp>
        <p:nvGrpSpPr>
          <p:cNvPr id="3456" name="Google Shape;3456;p45"/>
          <p:cNvGrpSpPr/>
          <p:nvPr/>
        </p:nvGrpSpPr>
        <p:grpSpPr>
          <a:xfrm>
            <a:off x="4175224" y="3108918"/>
            <a:ext cx="3819165" cy="674861"/>
            <a:chOff x="2418275" y="5437546"/>
            <a:chExt cx="3819165" cy="674861"/>
          </a:xfrm>
        </p:grpSpPr>
        <p:sp>
          <p:nvSpPr>
            <p:cNvPr id="3457" name="Google Shape;3457;p45"/>
            <p:cNvSpPr txBox="1"/>
            <p:nvPr/>
          </p:nvSpPr>
          <p:spPr>
            <a:xfrm>
              <a:off x="2418275" y="5770775"/>
              <a:ext cx="3819165" cy="34163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data</a:t>
              </a:r>
              <a:endParaRPr/>
            </a:p>
          </p:txBody>
        </p:sp>
        <p:cxnSp>
          <p:nvCxnSpPr>
            <p:cNvPr id="3458" name="Google Shape;3458;p45"/>
            <p:cNvCxnSpPr>
              <a:stCxn id="3349" idx="2"/>
            </p:cNvCxnSpPr>
            <p:nvPr/>
          </p:nvCxnSpPr>
          <p:spPr>
            <a:xfrm>
              <a:off x="2894960" y="5465256"/>
              <a:ext cx="1454700" cy="401700"/>
            </a:xfrm>
            <a:prstGeom prst="straightConnector1">
              <a:avLst/>
            </a:prstGeom>
            <a:noFill/>
            <a:ln cap="flat" cmpd="sng" w="9525">
              <a:solidFill>
                <a:srgbClr val="FF0000"/>
              </a:solidFill>
              <a:prstDash val="solid"/>
              <a:miter lim="800000"/>
              <a:headEnd len="sm" w="sm" type="none"/>
              <a:tailEnd len="sm" w="sm" type="none"/>
            </a:ln>
          </p:spPr>
        </p:cxnSp>
        <p:cxnSp>
          <p:nvCxnSpPr>
            <p:cNvPr id="3459" name="Google Shape;3459;p45"/>
            <p:cNvCxnSpPr>
              <a:stCxn id="3358" idx="2"/>
            </p:cNvCxnSpPr>
            <p:nvPr/>
          </p:nvCxnSpPr>
          <p:spPr>
            <a:xfrm flipH="1">
              <a:off x="4351997" y="5437546"/>
              <a:ext cx="1250700" cy="429600"/>
            </a:xfrm>
            <a:prstGeom prst="straightConnector1">
              <a:avLst/>
            </a:prstGeom>
            <a:noFill/>
            <a:ln cap="flat" cmpd="sng" w="9525">
              <a:solidFill>
                <a:srgbClr val="FF0000"/>
              </a:solidFill>
              <a:prstDash val="solid"/>
              <a:miter lim="800000"/>
              <a:headEnd len="sm" w="sm" type="none"/>
              <a:tailEnd len="sm" w="sm" type="none"/>
            </a:ln>
          </p:spPr>
        </p:cxnSp>
      </p:grpSp>
      <p:grpSp>
        <p:nvGrpSpPr>
          <p:cNvPr id="3460" name="Google Shape;3460;p45"/>
          <p:cNvGrpSpPr/>
          <p:nvPr/>
        </p:nvGrpSpPr>
        <p:grpSpPr>
          <a:xfrm>
            <a:off x="5125651" y="4114827"/>
            <a:ext cx="1774588" cy="687847"/>
            <a:chOff x="5125651" y="4114827"/>
            <a:chExt cx="1774588" cy="687847"/>
          </a:xfrm>
        </p:grpSpPr>
        <p:sp>
          <p:nvSpPr>
            <p:cNvPr id="3461" name="Google Shape;3461;p45"/>
            <p:cNvSpPr txBox="1"/>
            <p:nvPr/>
          </p:nvSpPr>
          <p:spPr>
            <a:xfrm>
              <a:off x="5532497" y="4114827"/>
              <a:ext cx="1135642" cy="34163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packet</a:t>
              </a:r>
              <a:endParaRPr/>
            </a:p>
          </p:txBody>
        </p:sp>
        <p:grpSp>
          <p:nvGrpSpPr>
            <p:cNvPr id="3462" name="Google Shape;3462;p45"/>
            <p:cNvGrpSpPr/>
            <p:nvPr/>
          </p:nvGrpSpPr>
          <p:grpSpPr>
            <a:xfrm flipH="1" rot="10800000">
              <a:off x="5125651" y="4373167"/>
              <a:ext cx="1774588" cy="429507"/>
              <a:chOff x="8970705" y="3780959"/>
              <a:chExt cx="2707737" cy="429507"/>
            </a:xfrm>
          </p:grpSpPr>
          <p:cxnSp>
            <p:nvCxnSpPr>
              <p:cNvPr id="3463" name="Google Shape;3463;p45"/>
              <p:cNvCxnSpPr/>
              <p:nvPr/>
            </p:nvCxnSpPr>
            <p:spPr>
              <a:xfrm>
                <a:off x="8970705" y="3808669"/>
                <a:ext cx="1454761" cy="401797"/>
              </a:xfrm>
              <a:prstGeom prst="straightConnector1">
                <a:avLst/>
              </a:prstGeom>
              <a:noFill/>
              <a:ln cap="flat" cmpd="sng" w="9525">
                <a:solidFill>
                  <a:srgbClr val="FF0000"/>
                </a:solidFill>
                <a:prstDash val="solid"/>
                <a:miter lim="800000"/>
                <a:headEnd len="sm" w="sm" type="none"/>
                <a:tailEnd len="sm" w="sm" type="none"/>
              </a:ln>
            </p:spPr>
          </p:cxnSp>
          <p:cxnSp>
            <p:nvCxnSpPr>
              <p:cNvPr id="3464" name="Google Shape;3464;p45"/>
              <p:cNvCxnSpPr/>
              <p:nvPr/>
            </p:nvCxnSpPr>
            <p:spPr>
              <a:xfrm flipH="1">
                <a:off x="10427754" y="3780959"/>
                <a:ext cx="1250688" cy="429507"/>
              </a:xfrm>
              <a:prstGeom prst="straightConnector1">
                <a:avLst/>
              </a:prstGeom>
              <a:noFill/>
              <a:ln cap="flat" cmpd="sng" w="9525">
                <a:solidFill>
                  <a:srgbClr val="FF0000"/>
                </a:solidFill>
                <a:prstDash val="solid"/>
                <a:miter lim="800000"/>
                <a:headEnd len="sm" w="sm" type="none"/>
                <a:tailEnd len="sm" w="sm" type="none"/>
              </a:ln>
            </p:spPr>
          </p:cxnSp>
        </p:grpSp>
      </p:grpSp>
      <p:sp>
        <p:nvSpPr>
          <p:cNvPr id="3465" name="Google Shape;3465;p45"/>
          <p:cNvSpPr/>
          <p:nvPr/>
        </p:nvSpPr>
        <p:spPr>
          <a:xfrm>
            <a:off x="3233978" y="3481952"/>
            <a:ext cx="2201622"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66" name="Google Shape;3466;p45"/>
          <p:cNvSpPr/>
          <p:nvPr/>
        </p:nvSpPr>
        <p:spPr>
          <a:xfrm>
            <a:off x="6574078" y="3494652"/>
            <a:ext cx="2201622"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467" name="Google Shape;3467;p4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32"/>
                                        </p:tgtEl>
                                        <p:attrNameLst>
                                          <p:attrName>style.visibility</p:attrName>
                                        </p:attrNameLst>
                                      </p:cBhvr>
                                      <p:to>
                                        <p:strVal val="visible"/>
                                      </p:to>
                                    </p:set>
                                    <p:anim calcmode="lin" valueType="num">
                                      <p:cBhvr additive="base">
                                        <p:cTn dur="500"/>
                                        <p:tgtEl>
                                          <p:spTgt spid="343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37"/>
                                        </p:tgtEl>
                                        <p:attrNameLst>
                                          <p:attrName>style.visibility</p:attrName>
                                        </p:attrNameLst>
                                      </p:cBhvr>
                                      <p:to>
                                        <p:strVal val="visible"/>
                                      </p:to>
                                    </p:set>
                                    <p:anim calcmode="lin" valueType="num">
                                      <p:cBhvr additive="base">
                                        <p:cTn dur="500"/>
                                        <p:tgtEl>
                                          <p:spTgt spid="343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442"/>
                                        </p:tgtEl>
                                        <p:attrNameLst>
                                          <p:attrName>style.visibility</p:attrName>
                                        </p:attrNameLst>
                                      </p:cBhvr>
                                      <p:to>
                                        <p:strVal val="visible"/>
                                      </p:to>
                                    </p:set>
                                    <p:anim calcmode="lin" valueType="num">
                                      <p:cBhvr additive="base">
                                        <p:cTn dur="500"/>
                                        <p:tgtEl>
                                          <p:spTgt spid="344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447"/>
                                        </p:tgtEl>
                                        <p:attrNameLst>
                                          <p:attrName>style.visibility</p:attrName>
                                        </p:attrNameLst>
                                      </p:cBhvr>
                                      <p:to>
                                        <p:strVal val="visible"/>
                                      </p:to>
                                    </p:set>
                                    <p:anim calcmode="lin" valueType="num">
                                      <p:cBhvr additive="base">
                                        <p:cTn dur="500"/>
                                        <p:tgtEl>
                                          <p:spTgt spid="344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2"/>
                                        </p:tgtEl>
                                        <p:attrNameLst>
                                          <p:attrName>style.visibility</p:attrName>
                                        </p:attrNameLst>
                                      </p:cBhvr>
                                      <p:to>
                                        <p:strVal val="visible"/>
                                      </p:to>
                                    </p:set>
                                    <p:animEffect filter="fade" transition="in">
                                      <p:cBhvr>
                                        <p:cTn dur="500"/>
                                        <p:tgtEl>
                                          <p:spTgt spid="34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6"/>
                                        </p:tgtEl>
                                        <p:attrNameLst>
                                          <p:attrName>style.visibility</p:attrName>
                                        </p:attrNameLst>
                                      </p:cBhvr>
                                      <p:to>
                                        <p:strVal val="visible"/>
                                      </p:to>
                                    </p:set>
                                    <p:animEffect filter="fade" transition="in">
                                      <p:cBhvr>
                                        <p:cTn dur="500"/>
                                        <p:tgtEl>
                                          <p:spTgt spid="34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0"/>
                                        </p:tgtEl>
                                        <p:attrNameLst>
                                          <p:attrName>style.visibility</p:attrName>
                                        </p:attrNameLst>
                                      </p:cBhvr>
                                      <p:to>
                                        <p:strVal val="visible"/>
                                      </p:to>
                                    </p:set>
                                    <p:animEffect filter="fade" transition="in">
                                      <p:cBhvr>
                                        <p:cTn dur="500"/>
                                        <p:tgtEl>
                                          <p:spTgt spid="34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2" name="Shape 3472"/>
        <p:cNvGrpSpPr/>
        <p:nvPr/>
      </p:nvGrpSpPr>
      <p:grpSpPr>
        <a:xfrm>
          <a:off x="0" y="0"/>
          <a:ext cx="0" cy="0"/>
          <a:chOff x="0" y="0"/>
          <a:chExt cx="0" cy="0"/>
        </a:xfrm>
      </p:grpSpPr>
      <p:sp>
        <p:nvSpPr>
          <p:cNvPr id="3473" name="Google Shape;3473;p4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Reliable data transfer (rdt): getting started</a:t>
            </a:r>
            <a:endParaRPr/>
          </a:p>
        </p:txBody>
      </p:sp>
      <p:sp>
        <p:nvSpPr>
          <p:cNvPr id="3474" name="Google Shape;3474;p46"/>
          <p:cNvSpPr txBox="1"/>
          <p:nvPr/>
        </p:nvSpPr>
        <p:spPr>
          <a:xfrm>
            <a:off x="906239" y="1209675"/>
            <a:ext cx="11056577" cy="3352800"/>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None/>
            </a:pPr>
            <a:r>
              <a:rPr b="0" i="0" lang="en-US" sz="3200" u="none" cap="none" strike="noStrike">
                <a:solidFill>
                  <a:srgbClr val="C00000"/>
                </a:solidFill>
                <a:latin typeface="Calibri"/>
                <a:ea typeface="Calibri"/>
                <a:cs typeface="Calibri"/>
                <a:sym typeface="Calibri"/>
              </a:rPr>
              <a:t>We will:</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incrementally develop sender, receiver sides of </a:t>
            </a:r>
            <a:r>
              <a:rPr b="0" i="0" lang="en-US" sz="2800" u="sng" cap="none" strike="noStrike">
                <a:solidFill>
                  <a:srgbClr val="CC0000"/>
                </a:solidFill>
                <a:latin typeface="Calibri"/>
                <a:ea typeface="Calibri"/>
                <a:cs typeface="Calibri"/>
                <a:sym typeface="Calibri"/>
              </a:rPr>
              <a:t>r</a:t>
            </a:r>
            <a:r>
              <a:rPr b="0" i="0" lang="en-US" sz="2800" u="none" cap="none" strike="noStrike">
                <a:solidFill>
                  <a:srgbClr val="000000"/>
                </a:solidFill>
                <a:latin typeface="Calibri"/>
                <a:ea typeface="Calibri"/>
                <a:cs typeface="Calibri"/>
                <a:sym typeface="Calibri"/>
              </a:rPr>
              <a:t>eliable </a:t>
            </a:r>
            <a:r>
              <a:rPr b="0" i="0" lang="en-US" sz="2800" u="sng" cap="none" strike="noStrike">
                <a:solidFill>
                  <a:srgbClr val="CC0000"/>
                </a:solidFill>
                <a:latin typeface="Calibri"/>
                <a:ea typeface="Calibri"/>
                <a:cs typeface="Calibri"/>
                <a:sym typeface="Calibri"/>
              </a:rPr>
              <a:t>d</a:t>
            </a:r>
            <a:r>
              <a:rPr b="0" i="0" lang="en-US" sz="2800" u="none" cap="none" strike="noStrike">
                <a:solidFill>
                  <a:srgbClr val="000000"/>
                </a:solidFill>
                <a:latin typeface="Calibri"/>
                <a:ea typeface="Calibri"/>
                <a:cs typeface="Calibri"/>
                <a:sym typeface="Calibri"/>
              </a:rPr>
              <a:t>ata </a:t>
            </a:r>
            <a:r>
              <a:rPr b="0" i="0" lang="en-US" sz="2800" u="sng" cap="none" strike="noStrike">
                <a:solidFill>
                  <a:srgbClr val="CC0000"/>
                </a:solidFill>
                <a:latin typeface="Calibri"/>
                <a:ea typeface="Calibri"/>
                <a:cs typeface="Calibri"/>
                <a:sym typeface="Calibri"/>
              </a:rPr>
              <a:t>t</a:t>
            </a:r>
            <a:r>
              <a:rPr b="0" i="0" lang="en-US" sz="2800" u="none" cap="none" strike="noStrike">
                <a:solidFill>
                  <a:srgbClr val="000000"/>
                </a:solidFill>
                <a:latin typeface="Calibri"/>
                <a:ea typeface="Calibri"/>
                <a:cs typeface="Calibri"/>
                <a:sym typeface="Calibri"/>
              </a:rPr>
              <a:t>ransfer protocol (</a:t>
            </a:r>
            <a:r>
              <a:rPr b="0" i="0" lang="en-US" sz="2800" u="none" cap="none" strike="noStrike">
                <a:solidFill>
                  <a:srgbClr val="000000"/>
                </a:solidFill>
                <a:latin typeface="Courier"/>
                <a:ea typeface="Courier"/>
                <a:cs typeface="Courier"/>
                <a:sym typeface="Courier"/>
              </a:rPr>
              <a:t>rdt</a:t>
            </a:r>
            <a:r>
              <a:rPr b="0" i="0" lang="en-US" sz="2800" u="none" cap="none" strike="noStrike">
                <a:solidFill>
                  <a:srgbClr val="000000"/>
                </a:solidFill>
                <a:latin typeface="Calibri"/>
                <a:ea typeface="Calibri"/>
                <a:cs typeface="Calibri"/>
                <a:sym typeface="Calibri"/>
              </a:rPr>
              <a:t>)</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consider only unidirectional data transfer</a:t>
            </a:r>
            <a:endParaRPr/>
          </a:p>
          <a:p>
            <a:pPr indent="-230187" lvl="1" marL="687388" marR="0" rtl="0" algn="l">
              <a:lnSpc>
                <a:spcPct val="85000"/>
              </a:lnSpc>
              <a:spcBef>
                <a:spcPts val="480"/>
              </a:spcBef>
              <a:spcAft>
                <a:spcPts val="0"/>
              </a:spcAft>
              <a:buClr>
                <a:srgbClr val="000099"/>
              </a:buClr>
              <a:buSzPts val="2400"/>
              <a:buFont typeface="Arial"/>
              <a:buChar char="•"/>
            </a:pPr>
            <a:r>
              <a:rPr b="1" i="0" lang="en-US" sz="2400" u="none" cap="none" strike="noStrike">
                <a:solidFill>
                  <a:srgbClr val="000000"/>
                </a:solidFill>
                <a:latin typeface="Calibri"/>
                <a:ea typeface="Calibri"/>
                <a:cs typeface="Calibri"/>
                <a:sym typeface="Calibri"/>
              </a:rPr>
              <a:t>but control info will flow in</a:t>
            </a:r>
            <a:r>
              <a:rPr b="0" i="0" lang="en-US" sz="2400" u="none" cap="none" strike="noStrike">
                <a:solidFill>
                  <a:srgbClr val="000000"/>
                </a:solidFill>
                <a:latin typeface="Calibri"/>
                <a:ea typeface="Calibri"/>
                <a:cs typeface="Calibri"/>
                <a:sym typeface="Calibri"/>
              </a:rPr>
              <a:t> both directions!</a:t>
            </a:r>
            <a:endParaRPr/>
          </a:p>
        </p:txBody>
      </p:sp>
      <p:sp>
        <p:nvSpPr>
          <p:cNvPr id="3475" name="Google Shape;3475;p4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0" name="Shape 3480"/>
        <p:cNvGrpSpPr/>
        <p:nvPr/>
      </p:nvGrpSpPr>
      <p:grpSpPr>
        <a:xfrm>
          <a:off x="0" y="0"/>
          <a:ext cx="0" cy="0"/>
          <a:chOff x="0" y="0"/>
          <a:chExt cx="0" cy="0"/>
        </a:xfrm>
      </p:grpSpPr>
      <p:sp>
        <p:nvSpPr>
          <p:cNvPr id="3481" name="Google Shape;3481;p4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rdt1.0: </a:t>
            </a:r>
            <a:r>
              <a:rPr lang="en-US" sz="4400"/>
              <a:t>reliable transfer over a reliable channel</a:t>
            </a:r>
            <a:endParaRPr/>
          </a:p>
        </p:txBody>
      </p:sp>
      <p:sp>
        <p:nvSpPr>
          <p:cNvPr id="3482" name="Google Shape;3482;p47"/>
          <p:cNvSpPr txBox="1"/>
          <p:nvPr/>
        </p:nvSpPr>
        <p:spPr>
          <a:xfrm>
            <a:off x="798690" y="1168174"/>
            <a:ext cx="8984488" cy="301942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7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underlying channel perfectly reliable</a:t>
            </a:r>
            <a:endParaRPr/>
          </a:p>
          <a:p>
            <a:pPr indent="-231775" lvl="1" marL="695325" marR="0" rtl="0" algn="l">
              <a:lnSpc>
                <a:spcPct val="7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no bit errors</a:t>
            </a:r>
            <a:endParaRPr/>
          </a:p>
          <a:p>
            <a:pPr indent="-231775" lvl="1" marL="695325" marR="0" rtl="0" algn="l">
              <a:lnSpc>
                <a:spcPct val="7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no loss of packets</a:t>
            </a:r>
            <a:endParaRPr/>
          </a:p>
          <a:p>
            <a:pPr indent="-79375" lvl="1" marL="695325" marR="0" rtl="0" algn="l">
              <a:lnSpc>
                <a:spcPct val="70000"/>
              </a:lnSpc>
              <a:spcBef>
                <a:spcPts val="500"/>
              </a:spcBef>
              <a:spcAft>
                <a:spcPts val="0"/>
              </a:spcAft>
              <a:buClr>
                <a:srgbClr val="0000A8"/>
              </a:buClr>
              <a:buSzPts val="2400"/>
              <a:buFont typeface="Arial"/>
              <a:buNone/>
            </a:pPr>
            <a:r>
              <a:t/>
            </a:r>
            <a:endParaRPr b="0" i="0" sz="2400" u="none" cap="none" strike="noStrike">
              <a:solidFill>
                <a:srgbClr val="000000"/>
              </a:solidFill>
              <a:latin typeface="Calibri"/>
              <a:ea typeface="Calibri"/>
              <a:cs typeface="Calibri"/>
              <a:sym typeface="Calibri"/>
            </a:endParaRPr>
          </a:p>
          <a:p>
            <a:pPr indent="-222250" lvl="0" marL="352425" marR="0" rtl="0" algn="l">
              <a:lnSpc>
                <a:spcPct val="7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no need to provide feedback to sender</a:t>
            </a:r>
            <a:endParaRPr/>
          </a:p>
          <a:p>
            <a:pPr indent="-44450" lvl="0" marL="352425" marR="0" rtl="0" algn="l">
              <a:lnSpc>
                <a:spcPct val="7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222250" lvl="0" marL="352425" marR="0" rtl="0" algn="l">
              <a:lnSpc>
                <a:spcPct val="7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no need for the rcv to ask sender to slow down sending rate</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rgbClr val="000000"/>
              </a:solidFill>
              <a:latin typeface="Calibri"/>
              <a:ea typeface="Calibri"/>
              <a:cs typeface="Calibri"/>
              <a:sym typeface="Calibri"/>
            </a:endParaRPr>
          </a:p>
        </p:txBody>
      </p:sp>
      <p:pic>
        <p:nvPicPr>
          <p:cNvPr descr="Image result for easy button&quot;" id="3483" name="Google Shape;3483;p47"/>
          <p:cNvPicPr preferRelativeResize="0"/>
          <p:nvPr/>
        </p:nvPicPr>
        <p:blipFill rotWithShape="1">
          <a:blip r:embed="rId3">
            <a:alphaModFix/>
          </a:blip>
          <a:srcRect b="0" l="0" r="0" t="0"/>
          <a:stretch/>
        </p:blipFill>
        <p:spPr>
          <a:xfrm>
            <a:off x="9683166" y="1883974"/>
            <a:ext cx="2139751" cy="2139751"/>
          </a:xfrm>
          <a:prstGeom prst="rect">
            <a:avLst/>
          </a:prstGeom>
          <a:noFill/>
          <a:ln>
            <a:noFill/>
          </a:ln>
        </p:spPr>
      </p:pic>
      <p:sp>
        <p:nvSpPr>
          <p:cNvPr id="3484" name="Google Shape;3484;p47"/>
          <p:cNvSpPr txBox="1"/>
          <p:nvPr/>
        </p:nvSpPr>
        <p:spPr>
          <a:xfrm>
            <a:off x="798690" y="3389902"/>
            <a:ext cx="7896225" cy="1511300"/>
          </a:xfrm>
          <a:prstGeom prst="rect">
            <a:avLst/>
          </a:prstGeom>
          <a:noFill/>
          <a:ln>
            <a:noFill/>
          </a:ln>
        </p:spPr>
        <p:txBody>
          <a:bodyPr anchorCtr="0" anchor="t" bIns="45700" lIns="91425" spcFirstLastPara="1" rIns="91425" wrap="square" tIns="45700">
            <a:normAutofit/>
          </a:bodyPr>
          <a:lstStyle/>
          <a:p>
            <a:pPr indent="-69850" lvl="0" marL="352425" marR="0" rtl="0" algn="l">
              <a:lnSpc>
                <a:spcPct val="90000"/>
              </a:lnSpc>
              <a:spcBef>
                <a:spcPts val="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p:txBody>
      </p:sp>
      <p:sp>
        <p:nvSpPr>
          <p:cNvPr id="3485" name="Google Shape;3485;p4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4"/>
                                        </p:tgtEl>
                                        <p:attrNameLst>
                                          <p:attrName>style.visibility</p:attrName>
                                        </p:attrNameLst>
                                      </p:cBhvr>
                                      <p:to>
                                        <p:strVal val="visible"/>
                                      </p:to>
                                    </p:set>
                                    <p:animEffect filter="fade" transition="in">
                                      <p:cBhvr>
                                        <p:cTn dur="500"/>
                                        <p:tgtEl>
                                          <p:spTgt spid="34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3"/>
                                        </p:tgtEl>
                                        <p:attrNameLst>
                                          <p:attrName>style.visibility</p:attrName>
                                        </p:attrNameLst>
                                      </p:cBhvr>
                                      <p:to>
                                        <p:strVal val="visible"/>
                                      </p:to>
                                    </p:set>
                                    <p:animEffect filter="fade" transition="in">
                                      <p:cBhvr>
                                        <p:cTn dur="500"/>
                                        <p:tgtEl>
                                          <p:spTgt spid="34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0" name="Shape 3490"/>
        <p:cNvGrpSpPr/>
        <p:nvPr/>
      </p:nvGrpSpPr>
      <p:grpSpPr>
        <a:xfrm>
          <a:off x="0" y="0"/>
          <a:ext cx="0" cy="0"/>
          <a:chOff x="0" y="0"/>
          <a:chExt cx="0" cy="0"/>
        </a:xfrm>
      </p:grpSpPr>
      <p:sp>
        <p:nvSpPr>
          <p:cNvPr id="3491" name="Google Shape;3491;p4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channel with bit errors</a:t>
            </a:r>
            <a:endParaRPr sz="4400"/>
          </a:p>
        </p:txBody>
      </p:sp>
      <p:sp>
        <p:nvSpPr>
          <p:cNvPr id="3492" name="Google Shape;3492;p48"/>
          <p:cNvSpPr txBox="1"/>
          <p:nvPr/>
        </p:nvSpPr>
        <p:spPr>
          <a:xfrm>
            <a:off x="673994" y="1482748"/>
            <a:ext cx="11100625" cy="4448175"/>
          </a:xfrm>
          <a:prstGeom prst="rect">
            <a:avLst/>
          </a:prstGeom>
          <a:noFill/>
          <a:ln>
            <a:noFill/>
          </a:ln>
        </p:spPr>
        <p:txBody>
          <a:bodyPr anchorCtr="0" anchor="t" bIns="45700" lIns="91425" spcFirstLastPara="1" rIns="91425" wrap="square" tIns="45700">
            <a:normAutofit/>
          </a:bodyPr>
          <a:lstStyle/>
          <a:p>
            <a:pPr indent="-292100" lvl="0" marL="457200" marR="0" rtl="0" algn="l">
              <a:lnSpc>
                <a:spcPct val="75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underlying channel may flip bits in packet</a:t>
            </a:r>
            <a:endParaRPr/>
          </a:p>
          <a:p>
            <a:pPr indent="-228600" lvl="1" marL="800100" marR="0" rtl="0" algn="l">
              <a:lnSpc>
                <a:spcPct val="75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checksum (e.g., Internet checksum) to detect bit errors</a:t>
            </a:r>
            <a:endParaRPr/>
          </a:p>
          <a:p>
            <a:pPr indent="-292100" lvl="0" marL="457200" marR="0" rtl="0" algn="l">
              <a:lnSpc>
                <a:spcPct val="75000"/>
              </a:lnSpc>
              <a:spcBef>
                <a:spcPts val="1000"/>
              </a:spcBef>
              <a:spcAft>
                <a:spcPts val="0"/>
              </a:spcAft>
              <a:buClr>
                <a:srgbClr val="0000A3"/>
              </a:buClr>
              <a:buSzPts val="3200"/>
              <a:buFont typeface="Noto Sans Symbols"/>
              <a:buChar char="▪"/>
            </a:pPr>
            <a:r>
              <a:rPr b="0" i="1" lang="en-US" sz="3200" u="none" cap="none" strike="noStrike">
                <a:solidFill>
                  <a:srgbClr val="000000"/>
                </a:solidFill>
                <a:latin typeface="Calibri"/>
                <a:ea typeface="Calibri"/>
                <a:cs typeface="Calibri"/>
                <a:sym typeface="Calibri"/>
              </a:rPr>
              <a:t>the</a:t>
            </a:r>
            <a:r>
              <a:rPr b="0" i="0" lang="en-US" sz="3200" u="none" cap="none" strike="noStrike">
                <a:solidFill>
                  <a:srgbClr val="000000"/>
                </a:solidFill>
                <a:latin typeface="Calibri"/>
                <a:ea typeface="Calibri"/>
                <a:cs typeface="Calibri"/>
                <a:sym typeface="Calibri"/>
              </a:rPr>
              <a:t> question: how to recover from errors?</a:t>
            </a:r>
            <a:endParaRPr b="0" i="0" sz="2800" u="none" cap="none" strike="noStrike">
              <a:solidFill>
                <a:srgbClr val="000000"/>
              </a:solidFill>
              <a:latin typeface="Calibri"/>
              <a:ea typeface="Calibri"/>
              <a:cs typeface="Calibri"/>
              <a:sym typeface="Calibri"/>
            </a:endParaRPr>
          </a:p>
        </p:txBody>
      </p:sp>
      <p:sp>
        <p:nvSpPr>
          <p:cNvPr id="3493" name="Google Shape;3493;p48"/>
          <p:cNvSpPr txBox="1"/>
          <p:nvPr/>
        </p:nvSpPr>
        <p:spPr>
          <a:xfrm>
            <a:off x="1328236" y="3911182"/>
            <a:ext cx="10041531"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3200"/>
              <a:buFont typeface="Calibri"/>
              <a:buNone/>
            </a:pPr>
            <a:r>
              <a:rPr b="0" i="1" lang="en-US" sz="3200" u="none" cap="none" strike="noStrike">
                <a:solidFill>
                  <a:srgbClr val="CC0000"/>
                </a:solidFill>
                <a:latin typeface="Calibri"/>
                <a:ea typeface="Calibri"/>
                <a:cs typeface="Calibri"/>
                <a:sym typeface="Calibri"/>
              </a:rPr>
              <a:t>How do humans recover from “errors” during conversation?</a:t>
            </a:r>
            <a:endParaRPr/>
          </a:p>
        </p:txBody>
      </p:sp>
      <p:sp>
        <p:nvSpPr>
          <p:cNvPr id="3494" name="Google Shape;3494;p4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9" name="Shape 3499"/>
        <p:cNvGrpSpPr/>
        <p:nvPr/>
      </p:nvGrpSpPr>
      <p:grpSpPr>
        <a:xfrm>
          <a:off x="0" y="0"/>
          <a:ext cx="0" cy="0"/>
          <a:chOff x="0" y="0"/>
          <a:chExt cx="0" cy="0"/>
        </a:xfrm>
      </p:grpSpPr>
      <p:sp>
        <p:nvSpPr>
          <p:cNvPr id="3500" name="Google Shape;3500;p4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channel with bit errors</a:t>
            </a:r>
            <a:endParaRPr sz="4400"/>
          </a:p>
        </p:txBody>
      </p:sp>
      <p:sp>
        <p:nvSpPr>
          <p:cNvPr id="3501" name="Google Shape;3501;p49"/>
          <p:cNvSpPr txBox="1"/>
          <p:nvPr/>
        </p:nvSpPr>
        <p:spPr>
          <a:xfrm>
            <a:off x="673994" y="1274398"/>
            <a:ext cx="11100625" cy="4448175"/>
          </a:xfrm>
          <a:prstGeom prst="rect">
            <a:avLst/>
          </a:prstGeom>
          <a:noFill/>
          <a:ln>
            <a:noFill/>
          </a:ln>
        </p:spPr>
        <p:txBody>
          <a:bodyPr anchorCtr="0" anchor="t" bIns="45700" lIns="91425" spcFirstLastPara="1" rIns="91425" wrap="square" tIns="45700">
            <a:normAutofit/>
          </a:bodyPr>
          <a:lstStyle/>
          <a:p>
            <a:pPr indent="-295275" lvl="0" marL="409575" marR="0" rtl="0" algn="l">
              <a:lnSpc>
                <a:spcPct val="75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underlying channel may flip bits in packet</a:t>
            </a:r>
            <a:endParaRPr/>
          </a:p>
          <a:p>
            <a:pPr indent="-231775" lvl="1" marL="695325" marR="0" rtl="0" algn="l">
              <a:lnSpc>
                <a:spcPct val="80000"/>
              </a:lnSpc>
              <a:spcBef>
                <a:spcPts val="8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checksum to detect bit errors</a:t>
            </a:r>
            <a:endParaRPr/>
          </a:p>
          <a:p>
            <a:pPr indent="-279400" lvl="0" marL="409575" marR="0" rtl="0" algn="l">
              <a:lnSpc>
                <a:spcPct val="75000"/>
              </a:lnSpc>
              <a:spcBef>
                <a:spcPts val="1000"/>
              </a:spcBef>
              <a:spcAft>
                <a:spcPts val="0"/>
              </a:spcAft>
              <a:buClr>
                <a:srgbClr val="0000A3"/>
              </a:buClr>
              <a:buSzPts val="3200"/>
              <a:buFont typeface="Noto Sans Symbols"/>
              <a:buChar char="▪"/>
            </a:pPr>
            <a:r>
              <a:rPr b="0" i="1" lang="en-US" sz="3200" u="none" cap="none" strike="noStrike">
                <a:solidFill>
                  <a:srgbClr val="000000"/>
                </a:solidFill>
                <a:latin typeface="Calibri"/>
                <a:ea typeface="Calibri"/>
                <a:cs typeface="Calibri"/>
                <a:sym typeface="Calibri"/>
              </a:rPr>
              <a:t>the</a:t>
            </a:r>
            <a:r>
              <a:rPr b="0" i="0" lang="en-US" sz="3200" u="none" cap="none" strike="noStrike">
                <a:solidFill>
                  <a:srgbClr val="000000"/>
                </a:solidFill>
                <a:latin typeface="Calibri"/>
                <a:ea typeface="Calibri"/>
                <a:cs typeface="Calibri"/>
                <a:sym typeface="Calibri"/>
              </a:rPr>
              <a:t> question: how to recover from errors?</a:t>
            </a:r>
            <a:endParaRPr b="0" i="0" sz="2800" u="none" cap="none" strike="noStrike">
              <a:solidFill>
                <a:srgbClr val="000000"/>
              </a:solidFill>
              <a:latin typeface="Calibri"/>
              <a:ea typeface="Calibri"/>
              <a:cs typeface="Calibri"/>
              <a:sym typeface="Calibri"/>
            </a:endParaRPr>
          </a:p>
        </p:txBody>
      </p:sp>
      <p:sp>
        <p:nvSpPr>
          <p:cNvPr id="3502" name="Google Shape;3502;p49"/>
          <p:cNvSpPr txBox="1"/>
          <p:nvPr/>
        </p:nvSpPr>
        <p:spPr>
          <a:xfrm>
            <a:off x="662419" y="2680738"/>
            <a:ext cx="11004862" cy="2660626"/>
          </a:xfrm>
          <a:prstGeom prst="rect">
            <a:avLst/>
          </a:prstGeom>
          <a:noFill/>
          <a:ln>
            <a:noFill/>
          </a:ln>
        </p:spPr>
        <p:txBody>
          <a:bodyPr anchorCtr="0" anchor="t" bIns="45700" lIns="91425" spcFirstLastPara="1" rIns="91425" wrap="square" tIns="45700">
            <a:normAutofit fontScale="92500" lnSpcReduction="20000"/>
          </a:bodyPr>
          <a:lstStyle/>
          <a:p>
            <a:pPr indent="-231775" lvl="1" marL="695325" marR="0" rtl="0" algn="l">
              <a:lnSpc>
                <a:spcPct val="90000"/>
              </a:lnSpc>
              <a:spcBef>
                <a:spcPts val="0"/>
              </a:spcBef>
              <a:spcAft>
                <a:spcPts val="0"/>
              </a:spcAft>
              <a:buClr>
                <a:srgbClr val="0000A8"/>
              </a:buClr>
              <a:buSzPct val="100000"/>
              <a:buFont typeface="Arial"/>
              <a:buChar char="•"/>
            </a:pPr>
            <a:r>
              <a:rPr b="0" i="1" lang="en-US" sz="2800" u="none" cap="none" strike="noStrike">
                <a:solidFill>
                  <a:srgbClr val="CC0000"/>
                </a:solidFill>
                <a:latin typeface="Calibri"/>
                <a:ea typeface="Calibri"/>
                <a:cs typeface="Calibri"/>
                <a:sym typeface="Calibri"/>
              </a:rPr>
              <a:t>acknowledgements (ACKs):</a:t>
            </a:r>
            <a:r>
              <a:rPr b="0" i="0" lang="en-US" sz="2800" u="none" cap="none" strike="noStrike">
                <a:solidFill>
                  <a:srgbClr val="000000"/>
                </a:solidFill>
                <a:latin typeface="Calibri"/>
                <a:ea typeface="Calibri"/>
                <a:cs typeface="Calibri"/>
                <a:sym typeface="Calibri"/>
              </a:rPr>
              <a:t> receiver explicitly tells sender that pkt received OK</a:t>
            </a:r>
            <a:endParaRPr/>
          </a:p>
          <a:p>
            <a:pPr indent="-231775" lvl="1" marL="695325" marR="0" rtl="0" algn="l">
              <a:lnSpc>
                <a:spcPct val="90000"/>
              </a:lnSpc>
              <a:spcBef>
                <a:spcPts val="500"/>
              </a:spcBef>
              <a:spcAft>
                <a:spcPts val="0"/>
              </a:spcAft>
              <a:buClr>
                <a:srgbClr val="0000A8"/>
              </a:buClr>
              <a:buSzPct val="100000"/>
              <a:buFont typeface="Arial"/>
              <a:buChar char="•"/>
            </a:pPr>
            <a:r>
              <a:rPr b="0" i="1" lang="en-US" sz="2800" u="none" cap="none" strike="noStrike">
                <a:solidFill>
                  <a:srgbClr val="CC0000"/>
                </a:solidFill>
                <a:latin typeface="Calibri"/>
                <a:ea typeface="Calibri"/>
                <a:cs typeface="Calibri"/>
                <a:sym typeface="Calibri"/>
              </a:rPr>
              <a:t>negative acknowledgements (NAKs):</a:t>
            </a:r>
            <a:r>
              <a:rPr b="0" i="0" lang="en-US" sz="2800" u="none" cap="none" strike="noStrike">
                <a:solidFill>
                  <a:srgbClr val="000000"/>
                </a:solidFill>
                <a:latin typeface="Calibri"/>
                <a:ea typeface="Calibri"/>
                <a:cs typeface="Calibri"/>
                <a:sym typeface="Calibri"/>
              </a:rPr>
              <a:t> receiver explicitly tells sender that pkt had errors</a:t>
            </a:r>
            <a:endParaRPr/>
          </a:p>
          <a:p>
            <a:pPr indent="-231775" lvl="1" marL="695325" marR="0" rtl="0" algn="l">
              <a:lnSpc>
                <a:spcPct val="90000"/>
              </a:lnSpc>
              <a:spcBef>
                <a:spcPts val="500"/>
              </a:spcBef>
              <a:spcAft>
                <a:spcPts val="0"/>
              </a:spcAft>
              <a:buClr>
                <a:srgbClr val="0000A8"/>
              </a:buClr>
              <a:buSzPct val="100000"/>
              <a:buFont typeface="Arial"/>
              <a:buChar char="•"/>
            </a:pPr>
            <a:r>
              <a:rPr b="0" i="0" lang="en-US" sz="2800" u="none" cap="none" strike="noStrike">
                <a:solidFill>
                  <a:srgbClr val="000000"/>
                </a:solidFill>
                <a:latin typeface="Calibri"/>
                <a:ea typeface="Calibri"/>
                <a:cs typeface="Calibri"/>
                <a:sym typeface="Calibri"/>
              </a:rPr>
              <a:t>sender </a:t>
            </a:r>
            <a:r>
              <a:rPr b="0" i="1" lang="en-US" sz="2800" u="none" cap="none" strike="noStrike">
                <a:solidFill>
                  <a:srgbClr val="C00000"/>
                </a:solidFill>
                <a:latin typeface="Calibri"/>
                <a:ea typeface="Calibri"/>
                <a:cs typeface="Calibri"/>
                <a:sym typeface="Calibri"/>
              </a:rPr>
              <a:t>retransmits</a:t>
            </a:r>
            <a:r>
              <a:rPr b="0" i="0" lang="en-US" sz="2800" u="none" cap="none" strike="noStrike">
                <a:solidFill>
                  <a:srgbClr val="000000"/>
                </a:solidFill>
                <a:latin typeface="Calibri"/>
                <a:ea typeface="Calibri"/>
                <a:cs typeface="Calibri"/>
                <a:sym typeface="Calibri"/>
              </a:rPr>
              <a:t> pkt on receipt of NAK</a:t>
            </a:r>
            <a:endParaRPr/>
          </a:p>
          <a:p>
            <a:pPr indent="-222281" lvl="0" marL="352425" marR="0" rtl="0" algn="l">
              <a:lnSpc>
                <a:spcPct val="75000"/>
              </a:lnSpc>
              <a:spcBef>
                <a:spcPts val="1000"/>
              </a:spcBef>
              <a:spcAft>
                <a:spcPts val="0"/>
              </a:spcAft>
              <a:buClr>
                <a:srgbClr val="0000A3"/>
              </a:buClr>
              <a:buSzPct val="100000"/>
              <a:buFont typeface="Noto Sans Symbols"/>
              <a:buChar char="▪"/>
            </a:pPr>
            <a:r>
              <a:rPr b="0" i="0" lang="en-US" sz="3300" u="none" cap="none" strike="noStrike">
                <a:solidFill>
                  <a:schemeClr val="dk1"/>
                </a:solidFill>
                <a:latin typeface="Calibri"/>
                <a:ea typeface="Calibri"/>
                <a:cs typeface="Calibri"/>
                <a:sym typeface="Calibri"/>
              </a:rPr>
              <a:t>new mechanisms in </a:t>
            </a:r>
            <a:r>
              <a:rPr b="1" i="0" lang="en-US" sz="3300" u="none" cap="none" strike="noStrike">
                <a:solidFill>
                  <a:schemeClr val="dk1"/>
                </a:solidFill>
                <a:latin typeface="Courier New"/>
                <a:ea typeface="Courier New"/>
                <a:cs typeface="Courier New"/>
                <a:sym typeface="Courier New"/>
              </a:rPr>
              <a:t>rdt2.0</a:t>
            </a:r>
            <a:r>
              <a:rPr b="0" i="0" lang="en-US" sz="3300" u="none" cap="none" strike="noStrike">
                <a:solidFill>
                  <a:schemeClr val="dk1"/>
                </a:solidFill>
                <a:latin typeface="Calibri"/>
                <a:ea typeface="Calibri"/>
                <a:cs typeface="Calibri"/>
                <a:sym typeface="Calibri"/>
              </a:rPr>
              <a:t> (beyond </a:t>
            </a:r>
            <a:r>
              <a:rPr b="1" i="0" lang="en-US" sz="3300" u="none" cap="none" strike="noStrike">
                <a:solidFill>
                  <a:schemeClr val="dk1"/>
                </a:solidFill>
                <a:latin typeface="Courier New"/>
                <a:ea typeface="Courier New"/>
                <a:cs typeface="Courier New"/>
                <a:sym typeface="Courier New"/>
              </a:rPr>
              <a:t>rdt1.0</a:t>
            </a:r>
            <a:r>
              <a:rPr b="0" i="0" lang="en-US" sz="3300" u="none" cap="none" strike="noStrike">
                <a:solidFill>
                  <a:schemeClr val="dk1"/>
                </a:solidFill>
                <a:latin typeface="Calibri"/>
                <a:ea typeface="Calibri"/>
                <a:cs typeface="Calibri"/>
                <a:sym typeface="Calibri"/>
              </a:rPr>
              <a:t>):</a:t>
            </a:r>
            <a:endParaRPr/>
          </a:p>
          <a:p>
            <a:pPr indent="-231775" lvl="1" marL="695325" marR="0" rtl="0" algn="l">
              <a:lnSpc>
                <a:spcPct val="75000"/>
              </a:lnSpc>
              <a:spcBef>
                <a:spcPts val="500"/>
              </a:spcBef>
              <a:spcAft>
                <a:spcPts val="0"/>
              </a:spcAft>
              <a:buClr>
                <a:srgbClr val="0000A8"/>
              </a:buClr>
              <a:buSzPct val="100000"/>
              <a:buFont typeface="Arial"/>
              <a:buChar char="•"/>
            </a:pPr>
            <a:r>
              <a:rPr b="0" i="0" lang="en-US" sz="3000" u="none" cap="none" strike="noStrike">
                <a:solidFill>
                  <a:schemeClr val="dk1"/>
                </a:solidFill>
                <a:latin typeface="Calibri"/>
                <a:ea typeface="Calibri"/>
                <a:cs typeface="Calibri"/>
                <a:sym typeface="Calibri"/>
              </a:rPr>
              <a:t>error detection</a:t>
            </a:r>
            <a:endParaRPr/>
          </a:p>
          <a:p>
            <a:pPr indent="-231775" lvl="1" marL="695325" marR="0" rtl="0" algn="l">
              <a:lnSpc>
                <a:spcPct val="75000"/>
              </a:lnSpc>
              <a:spcBef>
                <a:spcPts val="500"/>
              </a:spcBef>
              <a:spcAft>
                <a:spcPts val="0"/>
              </a:spcAft>
              <a:buClr>
                <a:srgbClr val="0000A8"/>
              </a:buClr>
              <a:buSzPct val="100000"/>
              <a:buFont typeface="Arial"/>
              <a:buChar char="•"/>
            </a:pPr>
            <a:r>
              <a:rPr b="0" i="0" lang="en-US" sz="3000" u="none" cap="none" strike="noStrike">
                <a:solidFill>
                  <a:schemeClr val="dk1"/>
                </a:solidFill>
                <a:latin typeface="Calibri"/>
                <a:ea typeface="Calibri"/>
                <a:cs typeface="Calibri"/>
                <a:sym typeface="Calibri"/>
              </a:rPr>
              <a:t>feedback: control msgs (ACK,NAK) from receiver to sender</a:t>
            </a:r>
            <a:endParaRPr b="0" i="0" sz="3000" u="none" cap="none" strike="noStrike">
              <a:solidFill>
                <a:srgbClr val="000000"/>
              </a:solidFill>
              <a:latin typeface="Calibri"/>
              <a:ea typeface="Calibri"/>
              <a:cs typeface="Calibri"/>
              <a:sym typeface="Calibri"/>
            </a:endParaRPr>
          </a:p>
        </p:txBody>
      </p:sp>
      <p:grpSp>
        <p:nvGrpSpPr>
          <p:cNvPr id="3503" name="Google Shape;3503;p49"/>
          <p:cNvGrpSpPr/>
          <p:nvPr/>
        </p:nvGrpSpPr>
        <p:grpSpPr>
          <a:xfrm>
            <a:off x="937549" y="5341364"/>
            <a:ext cx="10729731" cy="1466850"/>
            <a:chOff x="1552" y="2800"/>
            <a:chExt cx="2578" cy="924"/>
          </a:xfrm>
        </p:grpSpPr>
        <p:sp>
          <p:nvSpPr>
            <p:cNvPr id="3504" name="Google Shape;3504;p49"/>
            <p:cNvSpPr/>
            <p:nvPr/>
          </p:nvSpPr>
          <p:spPr>
            <a:xfrm>
              <a:off x="1552" y="2974"/>
              <a:ext cx="2578" cy="595"/>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505" name="Google Shape;3505;p49"/>
            <p:cNvSpPr/>
            <p:nvPr/>
          </p:nvSpPr>
          <p:spPr>
            <a:xfrm>
              <a:off x="2226" y="2864"/>
              <a:ext cx="88" cy="2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506" name="Google Shape;3506;p49"/>
            <p:cNvSpPr txBox="1"/>
            <p:nvPr/>
          </p:nvSpPr>
          <p:spPr>
            <a:xfrm>
              <a:off x="1724" y="2800"/>
              <a:ext cx="687" cy="36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3200"/>
                <a:buFont typeface="Calibri"/>
                <a:buNone/>
              </a:pPr>
              <a:r>
                <a:rPr b="0" i="0" lang="en-US" sz="3200" u="none" cap="none" strike="noStrike">
                  <a:solidFill>
                    <a:srgbClr val="CC0000"/>
                  </a:solidFill>
                  <a:latin typeface="Calibri"/>
                  <a:ea typeface="Calibri"/>
                  <a:cs typeface="Calibri"/>
                  <a:sym typeface="Calibri"/>
                </a:rPr>
                <a:t>stop and wait</a:t>
              </a:r>
              <a:endParaRPr/>
            </a:p>
          </p:txBody>
        </p:sp>
        <p:sp>
          <p:nvSpPr>
            <p:cNvPr id="3507" name="Google Shape;3507;p49"/>
            <p:cNvSpPr txBox="1"/>
            <p:nvPr/>
          </p:nvSpPr>
          <p:spPr>
            <a:xfrm>
              <a:off x="1678" y="3136"/>
              <a:ext cx="2452" cy="588"/>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sender sends one packet,  then waits for receiver  response</a:t>
              </a:r>
              <a:endParaRPr/>
            </a:p>
          </p:txBody>
        </p:sp>
      </p:grpSp>
      <p:sp>
        <p:nvSpPr>
          <p:cNvPr id="3508" name="Google Shape;3508;p4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1"/>
                                        </p:tgtEl>
                                        <p:attrNameLst>
                                          <p:attrName>style.visibility</p:attrName>
                                        </p:attrNameLst>
                                      </p:cBhvr>
                                      <p:to>
                                        <p:strVal val="visible"/>
                                      </p:to>
                                    </p:set>
                                    <p:animEffect filter="fade" transition="in">
                                      <p:cBhvr>
                                        <p:cTn dur="500"/>
                                        <p:tgtEl>
                                          <p:spTgt spid="35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2">
                                            <p:txEl>
                                              <p:pRg end="0" st="0"/>
                                            </p:txEl>
                                          </p:spTgt>
                                        </p:tgtEl>
                                        <p:attrNameLst>
                                          <p:attrName>style.visibility</p:attrName>
                                        </p:attrNameLst>
                                      </p:cBhvr>
                                      <p:to>
                                        <p:strVal val="visible"/>
                                      </p:to>
                                    </p:set>
                                    <p:animEffect filter="fade" transition="in">
                                      <p:cBhvr>
                                        <p:cTn dur="500"/>
                                        <p:tgtEl>
                                          <p:spTgt spid="35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2">
                                            <p:txEl>
                                              <p:pRg end="1" st="1"/>
                                            </p:txEl>
                                          </p:spTgt>
                                        </p:tgtEl>
                                        <p:attrNameLst>
                                          <p:attrName>style.visibility</p:attrName>
                                        </p:attrNameLst>
                                      </p:cBhvr>
                                      <p:to>
                                        <p:strVal val="visible"/>
                                      </p:to>
                                    </p:set>
                                    <p:animEffect filter="fade" transition="in">
                                      <p:cBhvr>
                                        <p:cTn dur="500"/>
                                        <p:tgtEl>
                                          <p:spTgt spid="35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2">
                                            <p:txEl>
                                              <p:pRg end="2" st="2"/>
                                            </p:txEl>
                                          </p:spTgt>
                                        </p:tgtEl>
                                        <p:attrNameLst>
                                          <p:attrName>style.visibility</p:attrName>
                                        </p:attrNameLst>
                                      </p:cBhvr>
                                      <p:to>
                                        <p:strVal val="visible"/>
                                      </p:to>
                                    </p:set>
                                    <p:animEffect filter="fade" transition="in">
                                      <p:cBhvr>
                                        <p:cTn dur="500"/>
                                        <p:tgtEl>
                                          <p:spTgt spid="35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2">
                                            <p:txEl>
                                              <p:pRg end="3" st="3"/>
                                            </p:txEl>
                                          </p:spTgt>
                                        </p:tgtEl>
                                        <p:attrNameLst>
                                          <p:attrName>style.visibility</p:attrName>
                                        </p:attrNameLst>
                                      </p:cBhvr>
                                      <p:to>
                                        <p:strVal val="visible"/>
                                      </p:to>
                                    </p:set>
                                    <p:animEffect filter="fade" transition="in">
                                      <p:cBhvr>
                                        <p:cTn dur="500"/>
                                        <p:tgtEl>
                                          <p:spTgt spid="350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2">
                                            <p:txEl>
                                              <p:pRg end="4" st="4"/>
                                            </p:txEl>
                                          </p:spTgt>
                                        </p:tgtEl>
                                        <p:attrNameLst>
                                          <p:attrName>style.visibility</p:attrName>
                                        </p:attrNameLst>
                                      </p:cBhvr>
                                      <p:to>
                                        <p:strVal val="visible"/>
                                      </p:to>
                                    </p:set>
                                    <p:animEffect filter="fade" transition="in">
                                      <p:cBhvr>
                                        <p:cTn dur="500"/>
                                        <p:tgtEl>
                                          <p:spTgt spid="350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2">
                                            <p:txEl>
                                              <p:pRg end="5" st="5"/>
                                            </p:txEl>
                                          </p:spTgt>
                                        </p:tgtEl>
                                        <p:attrNameLst>
                                          <p:attrName>style.visibility</p:attrName>
                                        </p:attrNameLst>
                                      </p:cBhvr>
                                      <p:to>
                                        <p:strVal val="visible"/>
                                      </p:to>
                                    </p:set>
                                    <p:animEffect filter="fade" transition="in">
                                      <p:cBhvr>
                                        <p:cTn dur="500"/>
                                        <p:tgtEl>
                                          <p:spTgt spid="350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3"/>
                                        </p:tgtEl>
                                        <p:attrNameLst>
                                          <p:attrName>style.visibility</p:attrName>
                                        </p:attrNameLst>
                                      </p:cBhvr>
                                      <p:to>
                                        <p:strVal val="visible"/>
                                      </p:to>
                                    </p:set>
                                    <p:animEffect filter="fade" transition="in">
                                      <p:cBhvr>
                                        <p:cTn dur="500"/>
                                        <p:tgtEl>
                                          <p:spTgt spid="35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3" name="Shape 3513"/>
        <p:cNvGrpSpPr/>
        <p:nvPr/>
      </p:nvGrpSpPr>
      <p:grpSpPr>
        <a:xfrm>
          <a:off x="0" y="0"/>
          <a:ext cx="0" cy="0"/>
          <a:chOff x="0" y="0"/>
          <a:chExt cx="0" cy="0"/>
        </a:xfrm>
      </p:grpSpPr>
      <p:sp>
        <p:nvSpPr>
          <p:cNvPr id="3514" name="Google Shape;3514;p5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has a fatal flaw!</a:t>
            </a:r>
            <a:endParaRPr sz="4400"/>
          </a:p>
        </p:txBody>
      </p:sp>
      <p:sp>
        <p:nvSpPr>
          <p:cNvPr id="3515" name="Google Shape;3515;p50"/>
          <p:cNvSpPr txBox="1"/>
          <p:nvPr/>
        </p:nvSpPr>
        <p:spPr>
          <a:xfrm>
            <a:off x="691480" y="1384568"/>
            <a:ext cx="5825230"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8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what happens if ACK/NAK corrupted</a:t>
            </a:r>
            <a:r>
              <a:rPr b="0" i="0" lang="en-US" sz="2800" u="none" cap="none" strike="noStrike">
                <a:solidFill>
                  <a:srgbClr val="CC0000"/>
                </a:solidFill>
                <a:latin typeface="Calibri"/>
                <a:ea typeface="Calibri"/>
                <a:cs typeface="Calibri"/>
                <a:sym typeface="Calibri"/>
              </a:rPr>
              <a:t>?</a:t>
            </a:r>
            <a:endParaRPr/>
          </a:p>
          <a:p>
            <a:pPr indent="-217487" lvl="0" marL="46037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doesn’t know what happened at receiver!</a:t>
            </a:r>
            <a:endParaRPr/>
          </a:p>
          <a:p>
            <a:pPr indent="-217487" lvl="0" marL="46037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can’t just retransmit: possible duplicate</a:t>
            </a:r>
            <a:endParaRPr b="0" i="0" sz="3200" u="none" cap="none" strike="noStrike">
              <a:solidFill>
                <a:srgbClr val="000000"/>
              </a:solidFill>
              <a:latin typeface="Calibri"/>
              <a:ea typeface="Calibri"/>
              <a:cs typeface="Calibri"/>
              <a:sym typeface="Calibri"/>
            </a:endParaRPr>
          </a:p>
          <a:p>
            <a:pPr indent="-222250" lvl="0" marL="352425" marR="0" rtl="0" algn="l">
              <a:lnSpc>
                <a:spcPct val="80000"/>
              </a:lnSpc>
              <a:spcBef>
                <a:spcPts val="144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222250" lvl="0" marL="352425" marR="0" rtl="0" algn="l">
              <a:lnSpc>
                <a:spcPct val="7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222250" lvl="0" marL="352425" marR="0" rtl="0" algn="l">
              <a:lnSpc>
                <a:spcPct val="7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3516" name="Google Shape;3516;p50"/>
          <p:cNvSpPr txBox="1"/>
          <p:nvPr/>
        </p:nvSpPr>
        <p:spPr>
          <a:xfrm>
            <a:off x="6207334" y="1371689"/>
            <a:ext cx="5293186" cy="3063891"/>
          </a:xfrm>
          <a:prstGeom prst="rect">
            <a:avLst/>
          </a:prstGeom>
          <a:noFill/>
          <a:ln>
            <a:noFill/>
          </a:ln>
        </p:spPr>
        <p:txBody>
          <a:bodyPr anchorCtr="0" anchor="t" bIns="45700" lIns="91425" spcFirstLastPara="1" rIns="91425" wrap="square" tIns="45700">
            <a:normAutofit lnSpcReduction="10000"/>
          </a:bodyPr>
          <a:lstStyle/>
          <a:p>
            <a:pPr indent="-222250" lvl="0" marL="352425" marR="0" rtl="0" algn="l">
              <a:lnSpc>
                <a:spcPct val="90000"/>
              </a:lnSpc>
              <a:spcBef>
                <a:spcPts val="0"/>
              </a:spcBef>
              <a:spcAft>
                <a:spcPts val="0"/>
              </a:spcAft>
              <a:buClr>
                <a:srgbClr val="0000A3"/>
              </a:buClr>
              <a:buSzPts val="3500"/>
              <a:buFont typeface="Noto Sans Symbols"/>
              <a:buNone/>
            </a:pPr>
            <a:r>
              <a:rPr b="0" i="0" lang="en-US" sz="3500" u="none" cap="none" strike="noStrike">
                <a:solidFill>
                  <a:srgbClr val="CC0000"/>
                </a:solidFill>
                <a:latin typeface="Calibri"/>
                <a:ea typeface="Calibri"/>
                <a:cs typeface="Calibri"/>
                <a:sym typeface="Calibri"/>
              </a:rPr>
              <a:t>handling duplicates</a:t>
            </a:r>
            <a:r>
              <a:rPr b="0" i="0" lang="en-US" sz="3500" u="none" cap="none" strike="noStrike">
                <a:solidFill>
                  <a:srgbClr val="FF0000"/>
                </a:solidFill>
                <a:latin typeface="Calibri"/>
                <a:ea typeface="Calibri"/>
                <a:cs typeface="Calibri"/>
                <a:sym typeface="Calibri"/>
              </a:rPr>
              <a:t>: </a:t>
            </a:r>
            <a:endParaRPr/>
          </a:p>
          <a:p>
            <a:pPr indent="-217487" lvl="0" marL="4603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retransmits current pkt if ACK/NAK corrupted</a:t>
            </a:r>
            <a:endParaRPr/>
          </a:p>
          <a:p>
            <a:pPr indent="-217487" lvl="0" marL="4603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adds </a:t>
            </a:r>
            <a:r>
              <a:rPr b="0" i="1" lang="en-US" sz="2800" u="none" cap="none" strike="noStrike">
                <a:solidFill>
                  <a:srgbClr val="000099"/>
                </a:solidFill>
                <a:latin typeface="Calibri"/>
                <a:ea typeface="Calibri"/>
                <a:cs typeface="Calibri"/>
                <a:sym typeface="Calibri"/>
              </a:rPr>
              <a:t>sequence number</a:t>
            </a:r>
            <a:r>
              <a:rPr b="0" i="0" lang="en-US" sz="2800" u="none" cap="none" strike="noStrike">
                <a:solidFill>
                  <a:srgbClr val="000000"/>
                </a:solidFill>
                <a:latin typeface="Calibri"/>
                <a:ea typeface="Calibri"/>
                <a:cs typeface="Calibri"/>
                <a:sym typeface="Calibri"/>
              </a:rPr>
              <a:t> to each pkt</a:t>
            </a:r>
            <a:endParaRPr/>
          </a:p>
          <a:p>
            <a:pPr indent="-217487" lvl="0" marL="4603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receiver discards (doesn’t deliver up) duplicate pkt</a:t>
            </a:r>
            <a:endParaRPr b="0" i="0" sz="2800" u="none" cap="none" strike="noStrike">
              <a:solidFill>
                <a:srgbClr val="000000"/>
              </a:solidFill>
              <a:latin typeface="Calibri"/>
              <a:ea typeface="Calibri"/>
              <a:cs typeface="Calibri"/>
              <a:sym typeface="Calibri"/>
            </a:endParaRPr>
          </a:p>
        </p:txBody>
      </p:sp>
      <p:grpSp>
        <p:nvGrpSpPr>
          <p:cNvPr id="3517" name="Google Shape;3517;p50"/>
          <p:cNvGrpSpPr/>
          <p:nvPr/>
        </p:nvGrpSpPr>
        <p:grpSpPr>
          <a:xfrm>
            <a:off x="3103667" y="4578498"/>
            <a:ext cx="5984666" cy="1603375"/>
            <a:chOff x="1552" y="2800"/>
            <a:chExt cx="2578" cy="1010"/>
          </a:xfrm>
        </p:grpSpPr>
        <p:sp>
          <p:nvSpPr>
            <p:cNvPr id="3518" name="Google Shape;3518;p50"/>
            <p:cNvSpPr/>
            <p:nvPr/>
          </p:nvSpPr>
          <p:spPr>
            <a:xfrm>
              <a:off x="1552" y="2974"/>
              <a:ext cx="2578" cy="836"/>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519" name="Google Shape;3519;p50"/>
            <p:cNvSpPr/>
            <p:nvPr/>
          </p:nvSpPr>
          <p:spPr>
            <a:xfrm>
              <a:off x="2226" y="2864"/>
              <a:ext cx="596" cy="2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3520" name="Google Shape;3520;p50"/>
            <p:cNvSpPr txBox="1"/>
            <p:nvPr/>
          </p:nvSpPr>
          <p:spPr>
            <a:xfrm>
              <a:off x="1724" y="2800"/>
              <a:ext cx="1052" cy="36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3200"/>
                <a:buFont typeface="Calibri"/>
                <a:buNone/>
              </a:pPr>
              <a:r>
                <a:rPr b="0" i="0" lang="en-US" sz="3200" u="none" cap="none" strike="noStrike">
                  <a:solidFill>
                    <a:srgbClr val="CC0000"/>
                  </a:solidFill>
                  <a:latin typeface="Calibri"/>
                  <a:ea typeface="Calibri"/>
                  <a:cs typeface="Calibri"/>
                  <a:sym typeface="Calibri"/>
                </a:rPr>
                <a:t>stop and wait</a:t>
              </a:r>
              <a:endParaRPr/>
            </a:p>
          </p:txBody>
        </p:sp>
        <p:sp>
          <p:nvSpPr>
            <p:cNvPr id="3521" name="Google Shape;3521;p50"/>
            <p:cNvSpPr txBox="1"/>
            <p:nvPr/>
          </p:nvSpPr>
          <p:spPr>
            <a:xfrm>
              <a:off x="1678" y="3136"/>
              <a:ext cx="2452" cy="588"/>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sender sends one packet,  then waits for receiver  response</a:t>
              </a:r>
              <a:endParaRPr/>
            </a:p>
          </p:txBody>
        </p:sp>
      </p:grpSp>
      <p:sp>
        <p:nvSpPr>
          <p:cNvPr id="3522" name="Google Shape;3522;p5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5"/>
                                        </p:tgtEl>
                                        <p:attrNameLst>
                                          <p:attrName>style.visibility</p:attrName>
                                        </p:attrNameLst>
                                      </p:cBhvr>
                                      <p:to>
                                        <p:strVal val="visible"/>
                                      </p:to>
                                    </p:set>
                                    <p:animEffect filter="fade" transition="in">
                                      <p:cBhvr>
                                        <p:cTn dur="500"/>
                                        <p:tgtEl>
                                          <p:spTgt spid="35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6"/>
                                        </p:tgtEl>
                                        <p:attrNameLst>
                                          <p:attrName>style.visibility</p:attrName>
                                        </p:attrNameLst>
                                      </p:cBhvr>
                                      <p:to>
                                        <p:strVal val="visible"/>
                                      </p:to>
                                    </p:set>
                                    <p:animEffect filter="fade" transition="in">
                                      <p:cBhvr>
                                        <p:cTn dur="500"/>
                                        <p:tgtEl>
                                          <p:spTgt spid="35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7"/>
                                        </p:tgtEl>
                                        <p:attrNameLst>
                                          <p:attrName>style.visibility</p:attrName>
                                        </p:attrNameLst>
                                      </p:cBhvr>
                                      <p:to>
                                        <p:strVal val="visible"/>
                                      </p:to>
                                    </p:set>
                                    <p:animEffect filter="fade" transition="in">
                                      <p:cBhvr>
                                        <p:cTn dur="500"/>
                                        <p:tgtEl>
                                          <p:spTgt spid="35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7" name="Shape 3527"/>
        <p:cNvGrpSpPr/>
        <p:nvPr/>
      </p:nvGrpSpPr>
      <p:grpSpPr>
        <a:xfrm>
          <a:off x="0" y="0"/>
          <a:ext cx="0" cy="0"/>
          <a:chOff x="0" y="0"/>
          <a:chExt cx="0" cy="0"/>
        </a:xfrm>
      </p:grpSpPr>
      <p:sp>
        <p:nvSpPr>
          <p:cNvPr id="3528" name="Google Shape;3528;p5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rdt2.1: sender, handling garbled ACK/NAKs</a:t>
            </a:r>
            <a:endParaRPr sz="4400"/>
          </a:p>
        </p:txBody>
      </p:sp>
      <p:sp>
        <p:nvSpPr>
          <p:cNvPr id="3529" name="Google Shape;3529;p51"/>
          <p:cNvSpPr/>
          <p:nvPr/>
        </p:nvSpPr>
        <p:spPr>
          <a:xfrm>
            <a:off x="4658777" y="2435427"/>
            <a:ext cx="901700" cy="836612"/>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30" name="Google Shape;3530;p51"/>
          <p:cNvSpPr txBox="1"/>
          <p:nvPr/>
        </p:nvSpPr>
        <p:spPr>
          <a:xfrm>
            <a:off x="4567752" y="2511448"/>
            <a:ext cx="1090613"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call 0 from above</a:t>
            </a:r>
            <a:endParaRPr b="0" i="0" sz="1400" u="none" cap="none" strike="noStrike">
              <a:solidFill>
                <a:srgbClr val="000000"/>
              </a:solidFill>
              <a:latin typeface="Times New Roman"/>
              <a:ea typeface="Times New Roman"/>
              <a:cs typeface="Times New Roman"/>
              <a:sym typeface="Times New Roman"/>
            </a:endParaRPr>
          </a:p>
        </p:txBody>
      </p:sp>
      <p:cxnSp>
        <p:nvCxnSpPr>
          <p:cNvPr id="3531" name="Google Shape;3531;p51"/>
          <p:cNvCxnSpPr/>
          <p:nvPr/>
        </p:nvCxnSpPr>
        <p:spPr>
          <a:xfrm>
            <a:off x="4384139" y="2390977"/>
            <a:ext cx="377825" cy="190500"/>
          </a:xfrm>
          <a:prstGeom prst="straightConnector1">
            <a:avLst/>
          </a:prstGeom>
          <a:noFill/>
          <a:ln cap="flat" cmpd="sng" w="28575">
            <a:solidFill>
              <a:srgbClr val="000000"/>
            </a:solidFill>
            <a:prstDash val="dash"/>
            <a:round/>
            <a:headEnd len="med" w="med" type="none"/>
            <a:tailEnd len="med" w="med" type="triangle"/>
          </a:ln>
        </p:spPr>
      </p:cxnSp>
      <p:grpSp>
        <p:nvGrpSpPr>
          <p:cNvPr id="3532" name="Google Shape;3532;p51"/>
          <p:cNvGrpSpPr/>
          <p:nvPr/>
        </p:nvGrpSpPr>
        <p:grpSpPr>
          <a:xfrm>
            <a:off x="6492339" y="2383039"/>
            <a:ext cx="1089025" cy="865188"/>
            <a:chOff x="2848" y="1499"/>
            <a:chExt cx="660" cy="510"/>
          </a:xfrm>
        </p:grpSpPr>
        <p:sp>
          <p:nvSpPr>
            <p:cNvPr id="3533" name="Google Shape;3533;p51"/>
            <p:cNvSpPr/>
            <p:nvPr/>
          </p:nvSpPr>
          <p:spPr>
            <a:xfrm>
              <a:off x="2893" y="1499"/>
              <a:ext cx="568" cy="51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34" name="Google Shape;3534;p51"/>
            <p:cNvSpPr txBox="1"/>
            <p:nvPr/>
          </p:nvSpPr>
          <p:spPr>
            <a:xfrm>
              <a:off x="2848" y="1551"/>
              <a:ext cx="660"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 or NAK 0</a:t>
              </a:r>
              <a:endParaRPr b="0" i="0" sz="1400" u="none" cap="none" strike="noStrike">
                <a:solidFill>
                  <a:srgbClr val="000000"/>
                </a:solidFill>
                <a:latin typeface="Times New Roman"/>
                <a:ea typeface="Times New Roman"/>
                <a:cs typeface="Times New Roman"/>
                <a:sym typeface="Times New Roman"/>
              </a:endParaRPr>
            </a:p>
          </p:txBody>
        </p:sp>
      </p:grpSp>
      <p:grpSp>
        <p:nvGrpSpPr>
          <p:cNvPr id="3535" name="Google Shape;3535;p51"/>
          <p:cNvGrpSpPr/>
          <p:nvPr/>
        </p:nvGrpSpPr>
        <p:grpSpPr>
          <a:xfrm>
            <a:off x="4914364" y="1394027"/>
            <a:ext cx="3694113" cy="1087437"/>
            <a:chOff x="4914364" y="1394027"/>
            <a:chExt cx="3694113" cy="1087437"/>
          </a:xfrm>
        </p:grpSpPr>
        <p:sp>
          <p:nvSpPr>
            <p:cNvPr id="3536" name="Google Shape;3536;p51"/>
            <p:cNvSpPr txBox="1"/>
            <p:nvPr/>
          </p:nvSpPr>
          <p:spPr>
            <a:xfrm>
              <a:off x="4914364" y="1706764"/>
              <a:ext cx="36941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grpSp>
          <p:nvGrpSpPr>
            <p:cNvPr id="3537" name="Google Shape;3537;p51"/>
            <p:cNvGrpSpPr/>
            <p:nvPr/>
          </p:nvGrpSpPr>
          <p:grpSpPr>
            <a:xfrm>
              <a:off x="4928652" y="1394027"/>
              <a:ext cx="2852737" cy="1087437"/>
              <a:chOff x="4928652" y="1394027"/>
              <a:chExt cx="2852737" cy="1087437"/>
            </a:xfrm>
          </p:grpSpPr>
          <p:sp>
            <p:nvSpPr>
              <p:cNvPr id="3538" name="Google Shape;3538;p51"/>
              <p:cNvSpPr txBox="1"/>
              <p:nvPr/>
            </p:nvSpPr>
            <p:spPr>
              <a:xfrm>
                <a:off x="4928652" y="1394027"/>
                <a:ext cx="2111375" cy="3000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3539" name="Google Shape;3539;p51"/>
              <p:cNvCxnSpPr/>
              <p:nvPr/>
            </p:nvCxnSpPr>
            <p:spPr>
              <a:xfrm>
                <a:off x="5046127" y="1759152"/>
                <a:ext cx="2735262" cy="0"/>
              </a:xfrm>
              <a:prstGeom prst="straightConnector1">
                <a:avLst/>
              </a:prstGeom>
              <a:noFill/>
              <a:ln cap="flat" cmpd="sng" w="28575">
                <a:solidFill>
                  <a:srgbClr val="000000"/>
                </a:solidFill>
                <a:prstDash val="solid"/>
                <a:round/>
                <a:headEnd len="med" w="med" type="none"/>
                <a:tailEnd len="med" w="med" type="none"/>
              </a:ln>
            </p:spPr>
          </p:cxnSp>
          <p:sp>
            <p:nvSpPr>
              <p:cNvPr id="3540" name="Google Shape;3540;p51"/>
              <p:cNvSpPr/>
              <p:nvPr/>
            </p:nvSpPr>
            <p:spPr>
              <a:xfrm flipH="1" rot="10800000">
                <a:off x="5215989" y="2260802"/>
                <a:ext cx="1482725" cy="22066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grpSp>
        <p:nvGrpSpPr>
          <p:cNvPr id="3541" name="Google Shape;3541;p51"/>
          <p:cNvGrpSpPr/>
          <p:nvPr/>
        </p:nvGrpSpPr>
        <p:grpSpPr>
          <a:xfrm>
            <a:off x="7265819" y="1999849"/>
            <a:ext cx="3627361" cy="1207103"/>
            <a:chOff x="7265819" y="1999849"/>
            <a:chExt cx="3627361" cy="1207103"/>
          </a:xfrm>
        </p:grpSpPr>
        <p:sp>
          <p:nvSpPr>
            <p:cNvPr id="3542" name="Google Shape;3542;p51"/>
            <p:cNvSpPr/>
            <p:nvPr/>
          </p:nvSpPr>
          <p:spPr>
            <a:xfrm rot="-1357180">
              <a:off x="7379752" y="2244927"/>
              <a:ext cx="466725" cy="685800"/>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543" name="Google Shape;3543;p51"/>
            <p:cNvSpPr txBox="1"/>
            <p:nvPr/>
          </p:nvSpPr>
          <p:spPr>
            <a:xfrm>
              <a:off x="7742239" y="2806902"/>
              <a:ext cx="2262187"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3544" name="Google Shape;3544;p51"/>
            <p:cNvSpPr txBox="1"/>
            <p:nvPr/>
          </p:nvSpPr>
          <p:spPr>
            <a:xfrm>
              <a:off x="7714671" y="1999849"/>
              <a:ext cx="3178509"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 ||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isNAK(rcvpkt) )</a:t>
              </a:r>
              <a:endParaRPr b="0" i="0" sz="1600" u="none" cap="none" strike="noStrike">
                <a:solidFill>
                  <a:srgbClr val="000000"/>
                </a:solidFill>
                <a:latin typeface="Times New Roman"/>
                <a:ea typeface="Times New Roman"/>
                <a:cs typeface="Times New Roman"/>
                <a:sym typeface="Times New Roman"/>
              </a:endParaRPr>
            </a:p>
          </p:txBody>
        </p:sp>
        <p:cxnSp>
          <p:nvCxnSpPr>
            <p:cNvPr id="3545" name="Google Shape;3545;p51"/>
            <p:cNvCxnSpPr/>
            <p:nvPr/>
          </p:nvCxnSpPr>
          <p:spPr>
            <a:xfrm>
              <a:off x="7835364" y="2846589"/>
              <a:ext cx="1433513" cy="0"/>
            </a:xfrm>
            <a:prstGeom prst="straightConnector1">
              <a:avLst/>
            </a:prstGeom>
            <a:noFill/>
            <a:ln cap="flat" cmpd="sng" w="28575">
              <a:solidFill>
                <a:srgbClr val="000000"/>
              </a:solidFill>
              <a:prstDash val="solid"/>
              <a:round/>
              <a:headEnd len="med" w="med" type="none"/>
              <a:tailEnd len="med" w="med" type="none"/>
            </a:ln>
          </p:spPr>
        </p:cxnSp>
      </p:grpSp>
      <p:grpSp>
        <p:nvGrpSpPr>
          <p:cNvPr id="3546" name="Google Shape;3546;p51"/>
          <p:cNvGrpSpPr/>
          <p:nvPr/>
        </p:nvGrpSpPr>
        <p:grpSpPr>
          <a:xfrm>
            <a:off x="5155664" y="4908752"/>
            <a:ext cx="3763963" cy="984250"/>
            <a:chOff x="5155664" y="4908752"/>
            <a:chExt cx="3763963" cy="984250"/>
          </a:xfrm>
        </p:grpSpPr>
        <p:sp>
          <p:nvSpPr>
            <p:cNvPr id="3547" name="Google Shape;3547;p51"/>
            <p:cNvSpPr/>
            <p:nvPr/>
          </p:nvSpPr>
          <p:spPr>
            <a:xfrm>
              <a:off x="5390614" y="4908752"/>
              <a:ext cx="1606550" cy="247650"/>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548" name="Google Shape;3548;p51"/>
            <p:cNvSpPr txBox="1"/>
            <p:nvPr/>
          </p:nvSpPr>
          <p:spPr>
            <a:xfrm>
              <a:off x="5155664" y="5492952"/>
              <a:ext cx="376396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sndpkt = make_pkt(1, 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3549" name="Google Shape;3549;p51"/>
            <p:cNvSpPr txBox="1"/>
            <p:nvPr/>
          </p:nvSpPr>
          <p:spPr>
            <a:xfrm>
              <a:off x="5225514" y="5154814"/>
              <a:ext cx="2389188"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3550" name="Google Shape;3550;p51"/>
            <p:cNvCxnSpPr/>
            <p:nvPr/>
          </p:nvCxnSpPr>
          <p:spPr>
            <a:xfrm>
              <a:off x="5273139" y="5507239"/>
              <a:ext cx="2903538" cy="0"/>
            </a:xfrm>
            <a:prstGeom prst="straightConnector1">
              <a:avLst/>
            </a:prstGeom>
            <a:noFill/>
            <a:ln cap="flat" cmpd="sng" w="28575">
              <a:solidFill>
                <a:srgbClr val="000000"/>
              </a:solidFill>
              <a:prstDash val="solid"/>
              <a:round/>
              <a:headEnd len="med" w="med" type="none"/>
              <a:tailEnd len="med" w="med" type="none"/>
            </a:ln>
          </p:spPr>
        </p:cxnSp>
      </p:grpSp>
      <p:grpSp>
        <p:nvGrpSpPr>
          <p:cNvPr id="3551" name="Google Shape;3551;p51"/>
          <p:cNvGrpSpPr/>
          <p:nvPr/>
        </p:nvGrpSpPr>
        <p:grpSpPr>
          <a:xfrm>
            <a:off x="1859796" y="4436442"/>
            <a:ext cx="3008971" cy="1404172"/>
            <a:chOff x="1859796" y="4436442"/>
            <a:chExt cx="3008971" cy="1404172"/>
          </a:xfrm>
        </p:grpSpPr>
        <p:sp>
          <p:nvSpPr>
            <p:cNvPr id="3552" name="Google Shape;3552;p51"/>
            <p:cNvSpPr/>
            <p:nvPr/>
          </p:nvSpPr>
          <p:spPr>
            <a:xfrm rot="-6989453">
              <a:off x="3969802" y="4732539"/>
              <a:ext cx="952500" cy="469900"/>
            </a:xfrm>
            <a:custGeom>
              <a:rect b="b" l="l" r="r" t="t"/>
              <a:pathLst>
                <a:path extrusionOk="0" h="740" w="1500">
                  <a:moveTo>
                    <a:pt x="361" y="671"/>
                  </a:moveTo>
                  <a:cubicBezTo>
                    <a:pt x="0" y="0"/>
                    <a:pt x="1500" y="90"/>
                    <a:pt x="1017" y="74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553" name="Google Shape;3553;p51"/>
            <p:cNvSpPr txBox="1"/>
            <p:nvPr/>
          </p:nvSpPr>
          <p:spPr>
            <a:xfrm>
              <a:off x="2510889" y="5564389"/>
              <a:ext cx="1819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3554" name="Google Shape;3554;p51"/>
            <p:cNvSpPr txBox="1"/>
            <p:nvPr/>
          </p:nvSpPr>
          <p:spPr>
            <a:xfrm>
              <a:off x="1859796" y="4726939"/>
              <a:ext cx="2391034" cy="5715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(corrupt(rcvpkt)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isNAK(rcvpkt) )</a:t>
              </a:r>
              <a:endParaRPr b="0" i="0" sz="1600" u="none" cap="none" strike="noStrike">
                <a:solidFill>
                  <a:srgbClr val="000000"/>
                </a:solidFill>
                <a:latin typeface="Times New Roman"/>
                <a:ea typeface="Times New Roman"/>
                <a:cs typeface="Times New Roman"/>
                <a:sym typeface="Times New Roman"/>
              </a:endParaRPr>
            </a:p>
          </p:txBody>
        </p:sp>
        <p:cxnSp>
          <p:nvCxnSpPr>
            <p:cNvPr id="3555" name="Google Shape;3555;p51"/>
            <p:cNvCxnSpPr/>
            <p:nvPr/>
          </p:nvCxnSpPr>
          <p:spPr>
            <a:xfrm>
              <a:off x="2601377" y="5572327"/>
              <a:ext cx="1557337" cy="0"/>
            </a:xfrm>
            <a:prstGeom prst="straightConnector1">
              <a:avLst/>
            </a:prstGeom>
            <a:noFill/>
            <a:ln cap="flat" cmpd="sng" w="28575">
              <a:solidFill>
                <a:srgbClr val="000000"/>
              </a:solidFill>
              <a:prstDash val="solid"/>
              <a:round/>
              <a:headEnd len="med" w="med" type="none"/>
              <a:tailEnd len="med" w="med" type="none"/>
            </a:ln>
          </p:spPr>
        </p:cxnSp>
      </p:grpSp>
      <p:grpSp>
        <p:nvGrpSpPr>
          <p:cNvPr id="3556" name="Google Shape;3556;p51"/>
          <p:cNvGrpSpPr/>
          <p:nvPr/>
        </p:nvGrpSpPr>
        <p:grpSpPr>
          <a:xfrm>
            <a:off x="6643152" y="4329314"/>
            <a:ext cx="1117600" cy="823913"/>
            <a:chOff x="4156" y="2812"/>
            <a:chExt cx="704" cy="519"/>
          </a:xfrm>
        </p:grpSpPr>
        <p:sp>
          <p:nvSpPr>
            <p:cNvPr id="3557" name="Google Shape;3557;p51"/>
            <p:cNvSpPr/>
            <p:nvPr/>
          </p:nvSpPr>
          <p:spPr>
            <a:xfrm>
              <a:off x="4242" y="2812"/>
              <a:ext cx="567" cy="519"/>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58" name="Google Shape;3558;p51"/>
            <p:cNvSpPr txBox="1"/>
            <p:nvPr/>
          </p:nvSpPr>
          <p:spPr>
            <a:xfrm>
              <a:off x="4156" y="2870"/>
              <a:ext cx="7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call 1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3559" name="Google Shape;3559;p51"/>
          <p:cNvGrpSpPr/>
          <p:nvPr/>
        </p:nvGrpSpPr>
        <p:grpSpPr>
          <a:xfrm>
            <a:off x="4453989" y="4275339"/>
            <a:ext cx="1046163" cy="823913"/>
            <a:chOff x="4916" y="3266"/>
            <a:chExt cx="659" cy="519"/>
          </a:xfrm>
        </p:grpSpPr>
        <p:sp>
          <p:nvSpPr>
            <p:cNvPr id="3560" name="Google Shape;3560;p51"/>
            <p:cNvSpPr/>
            <p:nvPr/>
          </p:nvSpPr>
          <p:spPr>
            <a:xfrm>
              <a:off x="4957" y="3266"/>
              <a:ext cx="567" cy="519"/>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61" name="Google Shape;3561;p51"/>
            <p:cNvSpPr txBox="1"/>
            <p:nvPr/>
          </p:nvSpPr>
          <p:spPr>
            <a:xfrm>
              <a:off x="4916" y="3319"/>
              <a:ext cx="65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 or NAK 1</a:t>
              </a:r>
              <a:endParaRPr b="0" i="0" sz="1400" u="none" cap="none" strike="noStrike">
                <a:solidFill>
                  <a:srgbClr val="000000"/>
                </a:solidFill>
                <a:latin typeface="Times New Roman"/>
                <a:ea typeface="Times New Roman"/>
                <a:cs typeface="Times New Roman"/>
                <a:sym typeface="Times New Roman"/>
              </a:endParaRPr>
            </a:p>
          </p:txBody>
        </p:sp>
      </p:grpSp>
      <p:grpSp>
        <p:nvGrpSpPr>
          <p:cNvPr id="3562" name="Google Shape;3562;p51"/>
          <p:cNvGrpSpPr/>
          <p:nvPr/>
        </p:nvGrpSpPr>
        <p:grpSpPr>
          <a:xfrm>
            <a:off x="7340063" y="2989465"/>
            <a:ext cx="3184985" cy="1470025"/>
            <a:chOff x="7340063" y="2989464"/>
            <a:chExt cx="3184985" cy="1470025"/>
          </a:xfrm>
        </p:grpSpPr>
        <p:sp>
          <p:nvSpPr>
            <p:cNvPr id="3563" name="Google Shape;3563;p51"/>
            <p:cNvSpPr/>
            <p:nvPr/>
          </p:nvSpPr>
          <p:spPr>
            <a:xfrm rot="-5400000">
              <a:off x="6760626" y="3568902"/>
              <a:ext cx="1363663" cy="204788"/>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564" name="Google Shape;3564;p51"/>
            <p:cNvSpPr txBox="1"/>
            <p:nvPr/>
          </p:nvSpPr>
          <p:spPr>
            <a:xfrm>
              <a:off x="7529435" y="3255707"/>
              <a:ext cx="2995613"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isACK(rcvpkt) </a:t>
              </a:r>
              <a:endParaRPr/>
            </a:p>
          </p:txBody>
        </p:sp>
        <p:cxnSp>
          <p:nvCxnSpPr>
            <p:cNvPr id="3565" name="Google Shape;3565;p51"/>
            <p:cNvCxnSpPr/>
            <p:nvPr/>
          </p:nvCxnSpPr>
          <p:spPr>
            <a:xfrm>
              <a:off x="7611527" y="4113414"/>
              <a:ext cx="990600" cy="0"/>
            </a:xfrm>
            <a:prstGeom prst="straightConnector1">
              <a:avLst/>
            </a:prstGeom>
            <a:noFill/>
            <a:ln cap="flat" cmpd="sng" w="28575">
              <a:solidFill>
                <a:srgbClr val="000000"/>
              </a:solidFill>
              <a:prstDash val="solid"/>
              <a:round/>
              <a:headEnd len="med" w="med" type="none"/>
              <a:tailEnd len="med" w="med" type="none"/>
            </a:ln>
          </p:spPr>
        </p:cxnSp>
        <p:sp>
          <p:nvSpPr>
            <p:cNvPr id="3566" name="Google Shape;3566;p51"/>
            <p:cNvSpPr txBox="1"/>
            <p:nvPr/>
          </p:nvSpPr>
          <p:spPr>
            <a:xfrm>
              <a:off x="7994114" y="4122939"/>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nvGrpSpPr>
          <p:cNvPr id="3567" name="Google Shape;3567;p51"/>
          <p:cNvGrpSpPr/>
          <p:nvPr/>
        </p:nvGrpSpPr>
        <p:grpSpPr>
          <a:xfrm>
            <a:off x="768495" y="3049789"/>
            <a:ext cx="3918857" cy="1284288"/>
            <a:chOff x="768495" y="3049789"/>
            <a:chExt cx="3918857" cy="1284288"/>
          </a:xfrm>
        </p:grpSpPr>
        <p:sp>
          <p:nvSpPr>
            <p:cNvPr id="3568" name="Google Shape;3568;p51"/>
            <p:cNvSpPr/>
            <p:nvPr/>
          </p:nvSpPr>
          <p:spPr>
            <a:xfrm flipH="1" rot="5400000">
              <a:off x="3992027" y="3621289"/>
              <a:ext cx="1266825" cy="123825"/>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569" name="Google Shape;3569;p51"/>
            <p:cNvSpPr txBox="1"/>
            <p:nvPr/>
          </p:nvSpPr>
          <p:spPr>
            <a:xfrm>
              <a:off x="768495" y="3141125"/>
              <a:ext cx="3623727" cy="5715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notcorrupt(rcvpkt) &amp;&amp; isACK(rcvpkt)</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3570" name="Google Shape;3570;p51"/>
            <p:cNvCxnSpPr/>
            <p:nvPr/>
          </p:nvCxnSpPr>
          <p:spPr>
            <a:xfrm>
              <a:off x="2572802" y="3983239"/>
              <a:ext cx="1738312" cy="0"/>
            </a:xfrm>
            <a:prstGeom prst="straightConnector1">
              <a:avLst/>
            </a:prstGeom>
            <a:noFill/>
            <a:ln cap="flat" cmpd="sng" w="28575">
              <a:solidFill>
                <a:srgbClr val="000000"/>
              </a:solidFill>
              <a:prstDash val="solid"/>
              <a:round/>
              <a:headEnd len="med" w="med" type="none"/>
              <a:tailEnd len="med" w="med" type="none"/>
            </a:ln>
          </p:spPr>
        </p:cxnSp>
        <p:sp>
          <p:nvSpPr>
            <p:cNvPr id="3571" name="Google Shape;3571;p51"/>
            <p:cNvSpPr txBox="1"/>
            <p:nvPr/>
          </p:nvSpPr>
          <p:spPr>
            <a:xfrm>
              <a:off x="3144302" y="3997527"/>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sp>
        <p:nvSpPr>
          <p:cNvPr id="3572" name="Google Shape;3572;p5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5"/>
                                        </p:tgtEl>
                                        <p:attrNameLst>
                                          <p:attrName>style.visibility</p:attrName>
                                        </p:attrNameLst>
                                      </p:cBhvr>
                                      <p:to>
                                        <p:strVal val="visible"/>
                                      </p:to>
                                    </p:set>
                                    <p:animEffect filter="fade" transition="in">
                                      <p:cBhvr>
                                        <p:cTn dur="500"/>
                                        <p:tgtEl>
                                          <p:spTgt spid="35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2"/>
                                        </p:tgtEl>
                                        <p:attrNameLst>
                                          <p:attrName>style.visibility</p:attrName>
                                        </p:attrNameLst>
                                      </p:cBhvr>
                                      <p:to>
                                        <p:strVal val="visible"/>
                                      </p:to>
                                    </p:set>
                                    <p:animEffect filter="fade" transition="in">
                                      <p:cBhvr>
                                        <p:cTn dur="500"/>
                                        <p:tgtEl>
                                          <p:spTgt spid="35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6"/>
                                        </p:tgtEl>
                                        <p:attrNameLst>
                                          <p:attrName>style.visibility</p:attrName>
                                        </p:attrNameLst>
                                      </p:cBhvr>
                                      <p:to>
                                        <p:strVal val="visible"/>
                                      </p:to>
                                    </p:set>
                                    <p:animEffect filter="fade" transition="in">
                                      <p:cBhvr>
                                        <p:cTn dur="500"/>
                                        <p:tgtEl>
                                          <p:spTgt spid="35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7"/>
                                        </p:tgtEl>
                                        <p:attrNameLst>
                                          <p:attrName>style.visibility</p:attrName>
                                        </p:attrNameLst>
                                      </p:cBhvr>
                                      <p:to>
                                        <p:strVal val="visible"/>
                                      </p:to>
                                    </p:set>
                                    <p:animEffect filter="fade" transition="in">
                                      <p:cBhvr>
                                        <p:cTn dur="500"/>
                                        <p:tgtEl>
                                          <p:spTgt spid="35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1"/>
                                        </p:tgtEl>
                                        <p:attrNameLst>
                                          <p:attrName>style.visibility</p:attrName>
                                        </p:attrNameLst>
                                      </p:cBhvr>
                                      <p:to>
                                        <p:strVal val="visible"/>
                                      </p:to>
                                    </p:set>
                                    <p:animEffect filter="fade" transition="in">
                                      <p:cBhvr>
                                        <p:cTn dur="500"/>
                                        <p:tgtEl>
                                          <p:spTgt spid="35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1"/>
                                        </p:tgtEl>
                                        <p:attrNameLst>
                                          <p:attrName>style.visibility</p:attrName>
                                        </p:attrNameLst>
                                      </p:cBhvr>
                                      <p:to>
                                        <p:strVal val="visible"/>
                                      </p:to>
                                    </p:set>
                                    <p:animEffect filter="fade" transition="in">
                                      <p:cBhvr>
                                        <p:cTn dur="500"/>
                                        <p:tgtEl>
                                          <p:spTgt spid="35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7" name="Shape 3577"/>
        <p:cNvGrpSpPr/>
        <p:nvPr/>
      </p:nvGrpSpPr>
      <p:grpSpPr>
        <a:xfrm>
          <a:off x="0" y="0"/>
          <a:ext cx="0" cy="0"/>
          <a:chOff x="0" y="0"/>
          <a:chExt cx="0" cy="0"/>
        </a:xfrm>
      </p:grpSpPr>
      <p:sp>
        <p:nvSpPr>
          <p:cNvPr id="3578" name="Google Shape;3578;p5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rdt2.1: receiver, handling garbled ACK/NAKs</a:t>
            </a:r>
            <a:endParaRPr sz="4400"/>
          </a:p>
        </p:txBody>
      </p:sp>
      <p:grpSp>
        <p:nvGrpSpPr>
          <p:cNvPr id="3579" name="Google Shape;3579;p52"/>
          <p:cNvGrpSpPr/>
          <p:nvPr/>
        </p:nvGrpSpPr>
        <p:grpSpPr>
          <a:xfrm>
            <a:off x="4764244" y="3345999"/>
            <a:ext cx="817563" cy="795338"/>
            <a:chOff x="963" y="1131"/>
            <a:chExt cx="515" cy="501"/>
          </a:xfrm>
        </p:grpSpPr>
        <p:sp>
          <p:nvSpPr>
            <p:cNvPr id="3580" name="Google Shape;3580;p52"/>
            <p:cNvSpPr/>
            <p:nvPr/>
          </p:nvSpPr>
          <p:spPr>
            <a:xfrm>
              <a:off x="963" y="1131"/>
              <a:ext cx="490" cy="501"/>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81" name="Google Shape;3581;p52"/>
            <p:cNvSpPr txBox="1"/>
            <p:nvPr/>
          </p:nvSpPr>
          <p:spPr>
            <a:xfrm>
              <a:off x="974" y="1153"/>
              <a:ext cx="5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from below</a:t>
              </a:r>
              <a:endParaRPr b="0" i="0" sz="1400" u="none" cap="none" strike="noStrike">
                <a:solidFill>
                  <a:srgbClr val="000000"/>
                </a:solidFill>
                <a:latin typeface="Times New Roman"/>
                <a:ea typeface="Times New Roman"/>
                <a:cs typeface="Times New Roman"/>
                <a:sym typeface="Times New Roman"/>
              </a:endParaRPr>
            </a:p>
          </p:txBody>
        </p:sp>
      </p:grpSp>
      <p:cxnSp>
        <p:nvCxnSpPr>
          <p:cNvPr id="3582" name="Google Shape;3582;p52"/>
          <p:cNvCxnSpPr/>
          <p:nvPr/>
        </p:nvCxnSpPr>
        <p:spPr>
          <a:xfrm>
            <a:off x="4600732" y="2276024"/>
            <a:ext cx="419100" cy="1079500"/>
          </a:xfrm>
          <a:prstGeom prst="straightConnector1">
            <a:avLst/>
          </a:prstGeom>
          <a:noFill/>
          <a:ln cap="flat" cmpd="sng" w="28575">
            <a:solidFill>
              <a:srgbClr val="000000"/>
            </a:solidFill>
            <a:prstDash val="dash"/>
            <a:round/>
            <a:headEnd len="med" w="med" type="none"/>
            <a:tailEnd len="med" w="med" type="triangle"/>
          </a:ln>
        </p:spPr>
      </p:cxnSp>
      <p:grpSp>
        <p:nvGrpSpPr>
          <p:cNvPr id="3583" name="Google Shape;3583;p52"/>
          <p:cNvGrpSpPr/>
          <p:nvPr/>
        </p:nvGrpSpPr>
        <p:grpSpPr>
          <a:xfrm>
            <a:off x="4688044" y="4161974"/>
            <a:ext cx="3862388" cy="2187575"/>
            <a:chOff x="4688044" y="4161974"/>
            <a:chExt cx="3862388" cy="2187575"/>
          </a:xfrm>
        </p:grpSpPr>
        <p:sp>
          <p:nvSpPr>
            <p:cNvPr id="3584" name="Google Shape;3584;p52"/>
            <p:cNvSpPr/>
            <p:nvPr/>
          </p:nvSpPr>
          <p:spPr>
            <a:xfrm>
              <a:off x="5299232" y="4161974"/>
              <a:ext cx="1590675" cy="688975"/>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585" name="Google Shape;3585;p52"/>
            <p:cNvSpPr txBox="1"/>
            <p:nvPr/>
          </p:nvSpPr>
          <p:spPr>
            <a:xfrm>
              <a:off x="4688044" y="4742999"/>
              <a:ext cx="358140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has_seq1(rcvpkt)</a:t>
              </a:r>
              <a:r>
                <a:rPr b="0" i="0" lang="en-US" sz="1600" u="none" cap="none" strike="noStrike">
                  <a:solidFill>
                    <a:srgbClr val="000000"/>
                  </a:solidFill>
                  <a:latin typeface="Arial"/>
                  <a:ea typeface="Arial"/>
                  <a:cs typeface="Arial"/>
                  <a:sym typeface="Arial"/>
                </a:rPr>
                <a:t> </a:t>
              </a:r>
              <a:endParaRPr b="0" i="0" sz="1600" u="none" cap="none" strike="noStrike">
                <a:solidFill>
                  <a:srgbClr val="000000"/>
                </a:solidFill>
                <a:latin typeface="Times New Roman"/>
                <a:ea typeface="Times New Roman"/>
                <a:cs typeface="Times New Roman"/>
                <a:sym typeface="Times New Roman"/>
              </a:endParaRPr>
            </a:p>
          </p:txBody>
        </p:sp>
        <p:cxnSp>
          <p:nvCxnSpPr>
            <p:cNvPr id="3586" name="Google Shape;3586;p52"/>
            <p:cNvCxnSpPr/>
            <p:nvPr/>
          </p:nvCxnSpPr>
          <p:spPr>
            <a:xfrm>
              <a:off x="4754719" y="5300212"/>
              <a:ext cx="2898775" cy="0"/>
            </a:xfrm>
            <a:prstGeom prst="straightConnector1">
              <a:avLst/>
            </a:prstGeom>
            <a:noFill/>
            <a:ln cap="flat" cmpd="sng" w="28575">
              <a:solidFill>
                <a:srgbClr val="000000"/>
              </a:solidFill>
              <a:prstDash val="solid"/>
              <a:round/>
              <a:headEnd len="med" w="med" type="none"/>
              <a:tailEnd len="med" w="med" type="none"/>
            </a:ln>
          </p:spPr>
        </p:cxnSp>
        <p:sp>
          <p:nvSpPr>
            <p:cNvPr id="3587" name="Google Shape;3587;p52"/>
            <p:cNvSpPr txBox="1"/>
            <p:nvPr/>
          </p:nvSpPr>
          <p:spPr>
            <a:xfrm>
              <a:off x="4697569" y="5355774"/>
              <a:ext cx="3852863" cy="993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grpSp>
      <p:grpSp>
        <p:nvGrpSpPr>
          <p:cNvPr id="3588" name="Google Shape;3588;p52"/>
          <p:cNvGrpSpPr/>
          <p:nvPr/>
        </p:nvGrpSpPr>
        <p:grpSpPr>
          <a:xfrm>
            <a:off x="6462869" y="3380924"/>
            <a:ext cx="825500" cy="796925"/>
            <a:chOff x="4398" y="3133"/>
            <a:chExt cx="520" cy="502"/>
          </a:xfrm>
        </p:grpSpPr>
        <p:sp>
          <p:nvSpPr>
            <p:cNvPr id="3589" name="Google Shape;3589;p52"/>
            <p:cNvSpPr/>
            <p:nvPr/>
          </p:nvSpPr>
          <p:spPr>
            <a:xfrm>
              <a:off x="4398" y="3133"/>
              <a:ext cx="507" cy="502"/>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3590" name="Google Shape;3590;p52"/>
            <p:cNvSpPr txBox="1"/>
            <p:nvPr/>
          </p:nvSpPr>
          <p:spPr>
            <a:xfrm>
              <a:off x="4414" y="3163"/>
              <a:ext cx="5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 from below</a:t>
              </a:r>
              <a:endParaRPr b="0" i="0" sz="1400" u="none" cap="none" strike="noStrike">
                <a:solidFill>
                  <a:srgbClr val="000000"/>
                </a:solidFill>
                <a:latin typeface="Times New Roman"/>
                <a:ea typeface="Times New Roman"/>
                <a:cs typeface="Times New Roman"/>
                <a:sym typeface="Times New Roman"/>
              </a:endParaRPr>
            </a:p>
          </p:txBody>
        </p:sp>
      </p:grpSp>
      <p:grpSp>
        <p:nvGrpSpPr>
          <p:cNvPr id="3591" name="Google Shape;3591;p52"/>
          <p:cNvGrpSpPr/>
          <p:nvPr/>
        </p:nvGrpSpPr>
        <p:grpSpPr>
          <a:xfrm>
            <a:off x="4849969" y="1277487"/>
            <a:ext cx="3981450" cy="2101850"/>
            <a:chOff x="4849969" y="1277487"/>
            <a:chExt cx="3981450" cy="2101850"/>
          </a:xfrm>
        </p:grpSpPr>
        <p:sp>
          <p:nvSpPr>
            <p:cNvPr id="3592" name="Google Shape;3592;p52"/>
            <p:cNvSpPr/>
            <p:nvPr/>
          </p:nvSpPr>
          <p:spPr>
            <a:xfrm flipH="1" rot="10800000">
              <a:off x="5281769" y="2593524"/>
              <a:ext cx="1590675" cy="785813"/>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593" name="Google Shape;3593;p52"/>
            <p:cNvGrpSpPr/>
            <p:nvPr/>
          </p:nvGrpSpPr>
          <p:grpSpPr>
            <a:xfrm>
              <a:off x="4849969" y="1277487"/>
              <a:ext cx="3981450" cy="1231900"/>
              <a:chOff x="4849969" y="1277487"/>
              <a:chExt cx="3981450" cy="1231900"/>
            </a:xfrm>
          </p:grpSpPr>
          <p:sp>
            <p:nvSpPr>
              <p:cNvPr id="3594" name="Google Shape;3594;p52"/>
              <p:cNvSpPr txBox="1"/>
              <p:nvPr/>
            </p:nvSpPr>
            <p:spPr>
              <a:xfrm>
                <a:off x="4849969" y="1277487"/>
                <a:ext cx="39814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has_seq0(rcvpkt) </a:t>
                </a:r>
                <a:endParaRPr b="0" i="0" sz="1400" u="none" cap="none" strike="noStrike">
                  <a:solidFill>
                    <a:srgbClr val="000000"/>
                  </a:solidFill>
                  <a:latin typeface="Times New Roman"/>
                  <a:ea typeface="Times New Roman"/>
                  <a:cs typeface="Times New Roman"/>
                  <a:sym typeface="Times New Roman"/>
                </a:endParaRPr>
              </a:p>
            </p:txBody>
          </p:sp>
          <p:cxnSp>
            <p:nvCxnSpPr>
              <p:cNvPr id="3595" name="Google Shape;3595;p52"/>
              <p:cNvCxnSpPr/>
              <p:nvPr/>
            </p:nvCxnSpPr>
            <p:spPr>
              <a:xfrm>
                <a:off x="4959507" y="1847399"/>
                <a:ext cx="1914525" cy="0"/>
              </a:xfrm>
              <a:prstGeom prst="straightConnector1">
                <a:avLst/>
              </a:prstGeom>
              <a:noFill/>
              <a:ln cap="flat" cmpd="sng" w="28575">
                <a:solidFill>
                  <a:srgbClr val="000000"/>
                </a:solidFill>
                <a:prstDash val="solid"/>
                <a:round/>
                <a:headEnd len="med" w="med" type="none"/>
                <a:tailEnd len="med" w="med" type="none"/>
              </a:ln>
            </p:spPr>
          </p:cxnSp>
          <p:sp>
            <p:nvSpPr>
              <p:cNvPr id="3596" name="Google Shape;3596;p52"/>
              <p:cNvSpPr txBox="1"/>
              <p:nvPr/>
            </p:nvSpPr>
            <p:spPr>
              <a:xfrm>
                <a:off x="4862669" y="1804537"/>
                <a:ext cx="3475038" cy="7048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grpSp>
      </p:grpSp>
      <p:grpSp>
        <p:nvGrpSpPr>
          <p:cNvPr id="3597" name="Google Shape;3597;p52"/>
          <p:cNvGrpSpPr/>
          <p:nvPr/>
        </p:nvGrpSpPr>
        <p:grpSpPr>
          <a:xfrm>
            <a:off x="7028916" y="2655437"/>
            <a:ext cx="3840853" cy="1309628"/>
            <a:chOff x="7028916" y="2655437"/>
            <a:chExt cx="3840853" cy="1309628"/>
          </a:xfrm>
        </p:grpSpPr>
        <p:sp>
          <p:nvSpPr>
            <p:cNvPr id="3598" name="Google Shape;3598;p52"/>
            <p:cNvSpPr txBox="1"/>
            <p:nvPr/>
          </p:nvSpPr>
          <p:spPr>
            <a:xfrm>
              <a:off x="7842407" y="2952299"/>
              <a:ext cx="3027362"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make_pkt(NAK,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3599" name="Google Shape;3599;p52"/>
            <p:cNvSpPr/>
            <p:nvPr/>
          </p:nvSpPr>
          <p:spPr>
            <a:xfrm rot="-1361013">
              <a:off x="7162957" y="2972937"/>
              <a:ext cx="839787"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600" name="Google Shape;3600;p52"/>
            <p:cNvSpPr txBox="1"/>
            <p:nvPr/>
          </p:nvSpPr>
          <p:spPr>
            <a:xfrm>
              <a:off x="7793194" y="2655437"/>
              <a:ext cx="2871788"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(corrupt(rcvpkt)</a:t>
              </a:r>
              <a:endParaRPr b="0" i="0" sz="1400" u="none" cap="none" strike="noStrike">
                <a:solidFill>
                  <a:srgbClr val="000000"/>
                </a:solidFill>
                <a:latin typeface="Times New Roman"/>
                <a:ea typeface="Times New Roman"/>
                <a:cs typeface="Times New Roman"/>
                <a:sym typeface="Times New Roman"/>
              </a:endParaRPr>
            </a:p>
          </p:txBody>
        </p:sp>
        <p:cxnSp>
          <p:nvCxnSpPr>
            <p:cNvPr id="3601" name="Google Shape;3601;p52"/>
            <p:cNvCxnSpPr/>
            <p:nvPr/>
          </p:nvCxnSpPr>
          <p:spPr>
            <a:xfrm>
              <a:off x="7931307" y="2966587"/>
              <a:ext cx="1938337" cy="0"/>
            </a:xfrm>
            <a:prstGeom prst="straightConnector1">
              <a:avLst/>
            </a:prstGeom>
            <a:noFill/>
            <a:ln cap="flat" cmpd="sng" w="28575">
              <a:solidFill>
                <a:srgbClr val="000000"/>
              </a:solidFill>
              <a:prstDash val="solid"/>
              <a:round/>
              <a:headEnd len="med" w="med" type="none"/>
              <a:tailEnd len="med" w="med" type="none"/>
            </a:ln>
          </p:spPr>
        </p:cxnSp>
      </p:grpSp>
      <p:grpSp>
        <p:nvGrpSpPr>
          <p:cNvPr id="3602" name="Google Shape;3602;p52"/>
          <p:cNvGrpSpPr/>
          <p:nvPr/>
        </p:nvGrpSpPr>
        <p:grpSpPr>
          <a:xfrm>
            <a:off x="7078824" y="3592896"/>
            <a:ext cx="3662358" cy="1234241"/>
            <a:chOff x="7078824" y="3592896"/>
            <a:chExt cx="3662358" cy="1234241"/>
          </a:xfrm>
        </p:grpSpPr>
        <p:sp>
          <p:nvSpPr>
            <p:cNvPr id="3603" name="Google Shape;3603;p52"/>
            <p:cNvSpPr txBox="1"/>
            <p:nvPr/>
          </p:nvSpPr>
          <p:spPr>
            <a:xfrm>
              <a:off x="7845582" y="3665087"/>
              <a:ext cx="2624137"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not corrupt(rcvpkt) &amp;&amp;</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has_seq0(rcvpkt)</a:t>
              </a:r>
              <a:endParaRPr/>
            </a:p>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3604" name="Google Shape;3604;p52"/>
            <p:cNvCxnSpPr/>
            <p:nvPr/>
          </p:nvCxnSpPr>
          <p:spPr>
            <a:xfrm>
              <a:off x="7929719" y="4363587"/>
              <a:ext cx="1938338" cy="0"/>
            </a:xfrm>
            <a:prstGeom prst="straightConnector1">
              <a:avLst/>
            </a:prstGeom>
            <a:noFill/>
            <a:ln cap="flat" cmpd="sng" w="28575">
              <a:solidFill>
                <a:srgbClr val="000000"/>
              </a:solidFill>
              <a:prstDash val="solid"/>
              <a:round/>
              <a:headEnd len="med" w="med" type="none"/>
              <a:tailEnd len="med" w="med" type="none"/>
            </a:ln>
          </p:spPr>
        </p:cxnSp>
        <p:sp>
          <p:nvSpPr>
            <p:cNvPr id="3605" name="Google Shape;3605;p52"/>
            <p:cNvSpPr/>
            <p:nvPr/>
          </p:nvSpPr>
          <p:spPr>
            <a:xfrm rot="1020547">
              <a:off x="7186769" y="3696837"/>
              <a:ext cx="839788"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606" name="Google Shape;3606;p52"/>
            <p:cNvSpPr txBox="1"/>
            <p:nvPr/>
          </p:nvSpPr>
          <p:spPr>
            <a:xfrm>
              <a:off x="7801132" y="4417562"/>
              <a:ext cx="2940050"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grpSp>
      <p:grpSp>
        <p:nvGrpSpPr>
          <p:cNvPr id="3607" name="Google Shape;3607;p52"/>
          <p:cNvGrpSpPr/>
          <p:nvPr/>
        </p:nvGrpSpPr>
        <p:grpSpPr>
          <a:xfrm>
            <a:off x="1919444" y="3529396"/>
            <a:ext cx="2989258" cy="1254878"/>
            <a:chOff x="1919444" y="3529396"/>
            <a:chExt cx="2989258" cy="1254878"/>
          </a:xfrm>
        </p:grpSpPr>
        <p:sp>
          <p:nvSpPr>
            <p:cNvPr id="3608" name="Google Shape;3608;p52"/>
            <p:cNvSpPr txBox="1"/>
            <p:nvPr/>
          </p:nvSpPr>
          <p:spPr>
            <a:xfrm>
              <a:off x="1919444" y="3644449"/>
              <a:ext cx="2624138"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not corrupt(rcvpkt) &amp;&amp;</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has_seq1(rcvpkt)</a:t>
              </a:r>
              <a:endParaRPr/>
            </a:p>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3609" name="Google Shape;3609;p52"/>
            <p:cNvCxnSpPr/>
            <p:nvPr/>
          </p:nvCxnSpPr>
          <p:spPr>
            <a:xfrm>
              <a:off x="2003582" y="4352474"/>
              <a:ext cx="1938337" cy="0"/>
            </a:xfrm>
            <a:prstGeom prst="straightConnector1">
              <a:avLst/>
            </a:prstGeom>
            <a:noFill/>
            <a:ln cap="flat" cmpd="sng" w="28575">
              <a:solidFill>
                <a:srgbClr val="000000"/>
              </a:solidFill>
              <a:prstDash val="solid"/>
              <a:round/>
              <a:headEnd len="med" w="med" type="none"/>
              <a:tailEnd len="med" w="med" type="none"/>
            </a:ln>
          </p:spPr>
        </p:cxnSp>
        <p:sp>
          <p:nvSpPr>
            <p:cNvPr id="3610" name="Google Shape;3610;p52"/>
            <p:cNvSpPr txBox="1"/>
            <p:nvPr/>
          </p:nvSpPr>
          <p:spPr>
            <a:xfrm>
              <a:off x="1951194" y="4374699"/>
              <a:ext cx="2940050"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3611" name="Google Shape;3611;p52"/>
            <p:cNvSpPr/>
            <p:nvPr/>
          </p:nvSpPr>
          <p:spPr>
            <a:xfrm flipH="1" rot="-1020547">
              <a:off x="3960969" y="3633337"/>
              <a:ext cx="839788"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612" name="Google Shape;3612;p52"/>
          <p:cNvGrpSpPr/>
          <p:nvPr/>
        </p:nvGrpSpPr>
        <p:grpSpPr>
          <a:xfrm>
            <a:off x="1867057" y="2591937"/>
            <a:ext cx="3087687" cy="1385828"/>
            <a:chOff x="1867057" y="2591937"/>
            <a:chExt cx="3087687" cy="1385828"/>
          </a:xfrm>
        </p:grpSpPr>
        <p:sp>
          <p:nvSpPr>
            <p:cNvPr id="3613" name="Google Shape;3613;p52"/>
            <p:cNvSpPr txBox="1"/>
            <p:nvPr/>
          </p:nvSpPr>
          <p:spPr>
            <a:xfrm>
              <a:off x="1867057" y="2591937"/>
              <a:ext cx="2871787"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(corrupt(rcvpkt)</a:t>
              </a:r>
              <a:endParaRPr b="0" i="0" sz="1400" u="none" cap="none" strike="noStrike">
                <a:solidFill>
                  <a:srgbClr val="000000"/>
                </a:solidFill>
                <a:latin typeface="Times New Roman"/>
                <a:ea typeface="Times New Roman"/>
                <a:cs typeface="Times New Roman"/>
                <a:sym typeface="Times New Roman"/>
              </a:endParaRPr>
            </a:p>
          </p:txBody>
        </p:sp>
        <p:cxnSp>
          <p:nvCxnSpPr>
            <p:cNvPr id="3614" name="Google Shape;3614;p52"/>
            <p:cNvCxnSpPr/>
            <p:nvPr/>
          </p:nvCxnSpPr>
          <p:spPr>
            <a:xfrm>
              <a:off x="2005169" y="2966587"/>
              <a:ext cx="1938338" cy="0"/>
            </a:xfrm>
            <a:prstGeom prst="straightConnector1">
              <a:avLst/>
            </a:prstGeom>
            <a:noFill/>
            <a:ln cap="flat" cmpd="sng" w="28575">
              <a:solidFill>
                <a:srgbClr val="000000"/>
              </a:solidFill>
              <a:prstDash val="solid"/>
              <a:round/>
              <a:headEnd len="med" w="med" type="none"/>
              <a:tailEnd len="med" w="med" type="none"/>
            </a:ln>
          </p:spPr>
        </p:cxnSp>
        <p:sp>
          <p:nvSpPr>
            <p:cNvPr id="3615" name="Google Shape;3615;p52"/>
            <p:cNvSpPr txBox="1"/>
            <p:nvPr/>
          </p:nvSpPr>
          <p:spPr>
            <a:xfrm>
              <a:off x="1927382" y="2933249"/>
              <a:ext cx="3027362"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make_pkt(NAK,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3616" name="Google Shape;3616;p52"/>
            <p:cNvSpPr/>
            <p:nvPr/>
          </p:nvSpPr>
          <p:spPr>
            <a:xfrm flipH="1" rot="1361013">
              <a:off x="3948269" y="2985637"/>
              <a:ext cx="839788"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617" name="Google Shape;3617;p5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1"/>
                                        </p:tgtEl>
                                        <p:attrNameLst>
                                          <p:attrName>style.visibility</p:attrName>
                                        </p:attrNameLst>
                                      </p:cBhvr>
                                      <p:to>
                                        <p:strVal val="visible"/>
                                      </p:to>
                                    </p:set>
                                    <p:animEffect filter="fade" transition="in">
                                      <p:cBhvr>
                                        <p:cTn dur="500"/>
                                        <p:tgtEl>
                                          <p:spTgt spid="35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3"/>
                                        </p:tgtEl>
                                        <p:attrNameLst>
                                          <p:attrName>style.visibility</p:attrName>
                                        </p:attrNameLst>
                                      </p:cBhvr>
                                      <p:to>
                                        <p:strVal val="visible"/>
                                      </p:to>
                                    </p:set>
                                    <p:animEffect filter="fade" transition="in">
                                      <p:cBhvr>
                                        <p:cTn dur="500"/>
                                        <p:tgtEl>
                                          <p:spTgt spid="35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7"/>
                                        </p:tgtEl>
                                        <p:attrNameLst>
                                          <p:attrName>style.visibility</p:attrName>
                                        </p:attrNameLst>
                                      </p:cBhvr>
                                      <p:to>
                                        <p:strVal val="visible"/>
                                      </p:to>
                                    </p:set>
                                    <p:animEffect filter="fade" transition="in">
                                      <p:cBhvr>
                                        <p:cTn dur="500"/>
                                        <p:tgtEl>
                                          <p:spTgt spid="35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2"/>
                                        </p:tgtEl>
                                        <p:attrNameLst>
                                          <p:attrName>style.visibility</p:attrName>
                                        </p:attrNameLst>
                                      </p:cBhvr>
                                      <p:to>
                                        <p:strVal val="visible"/>
                                      </p:to>
                                    </p:set>
                                    <p:animEffect filter="fade" transition="in">
                                      <p:cBhvr>
                                        <p:cTn dur="500"/>
                                        <p:tgtEl>
                                          <p:spTgt spid="36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7"/>
                                        </p:tgtEl>
                                        <p:attrNameLst>
                                          <p:attrName>style.visibility</p:attrName>
                                        </p:attrNameLst>
                                      </p:cBhvr>
                                      <p:to>
                                        <p:strVal val="visible"/>
                                      </p:to>
                                    </p:set>
                                    <p:animEffect filter="fade" transition="in">
                                      <p:cBhvr>
                                        <p:cTn dur="500"/>
                                        <p:tgtEl>
                                          <p:spTgt spid="36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2"/>
                                        </p:tgtEl>
                                        <p:attrNameLst>
                                          <p:attrName>style.visibility</p:attrName>
                                        </p:attrNameLst>
                                      </p:cBhvr>
                                      <p:to>
                                        <p:strVal val="visible"/>
                                      </p:to>
                                    </p:set>
                                    <p:animEffect filter="fade" transition="in">
                                      <p:cBhvr>
                                        <p:cTn dur="500"/>
                                        <p:tgtEl>
                                          <p:spTgt spid="36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2" name="Shape 3622"/>
        <p:cNvGrpSpPr/>
        <p:nvPr/>
      </p:nvGrpSpPr>
      <p:grpSpPr>
        <a:xfrm>
          <a:off x="0" y="0"/>
          <a:ext cx="0" cy="0"/>
          <a:chOff x="0" y="0"/>
          <a:chExt cx="0" cy="0"/>
        </a:xfrm>
      </p:grpSpPr>
      <p:sp>
        <p:nvSpPr>
          <p:cNvPr id="3623" name="Google Shape;3623;p5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rdt2.1: discussion</a:t>
            </a:r>
            <a:endParaRPr sz="4400"/>
          </a:p>
        </p:txBody>
      </p:sp>
      <p:sp>
        <p:nvSpPr>
          <p:cNvPr id="3624" name="Google Shape;3624;p53"/>
          <p:cNvSpPr txBox="1"/>
          <p:nvPr/>
        </p:nvSpPr>
        <p:spPr>
          <a:xfrm>
            <a:off x="798690" y="1355502"/>
            <a:ext cx="5297310" cy="4648200"/>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0" lang="en-US" sz="3200" u="sng" cap="none" strike="noStrike">
                <a:solidFill>
                  <a:srgbClr val="CC0000"/>
                </a:solidFill>
                <a:latin typeface="Calibri"/>
                <a:ea typeface="Calibri"/>
                <a:cs typeface="Calibri"/>
                <a:sym typeface="Calibri"/>
              </a:rPr>
              <a:t>sender:</a:t>
            </a:r>
            <a:endParaRPr b="0" i="0" sz="3200" u="none" cap="none" strike="noStrike">
              <a:solidFill>
                <a:srgbClr val="CC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seq # added to pkt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two seq. #s (0,1) will suffice.  Why?</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must check if received ACK/NAK corrupted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twice as many states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state must “remember” whether “expected” pkt should have seq # of 0 or 1 </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3625" name="Google Shape;3625;p53"/>
          <p:cNvSpPr txBox="1"/>
          <p:nvPr/>
        </p:nvSpPr>
        <p:spPr>
          <a:xfrm>
            <a:off x="6543540" y="1355502"/>
            <a:ext cx="4849769" cy="4648200"/>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0" lang="en-US" sz="3200" u="sng" cap="none" strike="noStrike">
                <a:solidFill>
                  <a:srgbClr val="CC0000"/>
                </a:solidFill>
                <a:latin typeface="Calibri"/>
                <a:ea typeface="Calibri"/>
                <a:cs typeface="Calibri"/>
                <a:sym typeface="Calibri"/>
              </a:rPr>
              <a:t>receiver:</a:t>
            </a:r>
            <a:endParaRPr b="0" i="0" sz="3200" u="none" cap="none" strike="noStrike">
              <a:solidFill>
                <a:srgbClr val="CC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must check if received packet is duplicate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state indicates whether 0 or 1 is expected pkt seq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note: receiver can </a:t>
            </a:r>
            <a:r>
              <a:rPr b="0" i="1" lang="en-US" sz="2800" u="none" cap="none" strike="noStrike">
                <a:solidFill>
                  <a:srgbClr val="000000"/>
                </a:solidFill>
                <a:latin typeface="Calibri"/>
                <a:ea typeface="Calibri"/>
                <a:cs typeface="Calibri"/>
                <a:sym typeface="Calibri"/>
              </a:rPr>
              <a:t>not</a:t>
            </a:r>
            <a:r>
              <a:rPr b="0" i="0" lang="en-US" sz="2800" u="none" cap="none" strike="noStrike">
                <a:solidFill>
                  <a:srgbClr val="000000"/>
                </a:solidFill>
                <a:latin typeface="Calibri"/>
                <a:ea typeface="Calibri"/>
                <a:cs typeface="Calibri"/>
                <a:sym typeface="Calibri"/>
              </a:rPr>
              <a:t> know if its last ACK/NAK received OK at sender</a:t>
            </a:r>
            <a:endParaRPr/>
          </a:p>
        </p:txBody>
      </p:sp>
      <p:sp>
        <p:nvSpPr>
          <p:cNvPr id="3626" name="Google Shape;3626;p5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25"/>
                                        </p:tgtEl>
                                        <p:attrNameLst>
                                          <p:attrName>style.visibility</p:attrName>
                                        </p:attrNameLst>
                                      </p:cBhvr>
                                      <p:to>
                                        <p:strVal val="visible"/>
                                      </p:to>
                                    </p:set>
                                    <p:animEffect filter="fade" transition="in">
                                      <p:cBhvr>
                                        <p:cTn dur="500"/>
                                        <p:tgtEl>
                                          <p:spTgt spid="36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1" name="Shape 3631"/>
        <p:cNvGrpSpPr/>
        <p:nvPr/>
      </p:nvGrpSpPr>
      <p:grpSpPr>
        <a:xfrm>
          <a:off x="0" y="0"/>
          <a:ext cx="0" cy="0"/>
          <a:chOff x="0" y="0"/>
          <a:chExt cx="0" cy="0"/>
        </a:xfrm>
      </p:grpSpPr>
      <p:sp>
        <p:nvSpPr>
          <p:cNvPr id="3632" name="Google Shape;3632;p5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rdt2.2: a NAK-free protocol</a:t>
            </a:r>
            <a:endParaRPr sz="4400"/>
          </a:p>
        </p:txBody>
      </p:sp>
      <p:sp>
        <p:nvSpPr>
          <p:cNvPr id="3633" name="Google Shape;3633;p54"/>
          <p:cNvSpPr txBox="1"/>
          <p:nvPr/>
        </p:nvSpPr>
        <p:spPr>
          <a:xfrm>
            <a:off x="606648" y="1714500"/>
            <a:ext cx="10978703" cy="3385534"/>
          </a:xfrm>
          <a:prstGeom prst="rect">
            <a:avLst/>
          </a:prstGeom>
          <a:noFill/>
          <a:ln>
            <a:noFill/>
          </a:ln>
        </p:spPr>
        <p:txBody>
          <a:bodyPr anchorCtr="0" anchor="t" bIns="45700" lIns="91425" spcFirstLastPara="1" rIns="91425" wrap="square" tIns="45700">
            <a:normAutofit/>
          </a:bodyPr>
          <a:lstStyle/>
          <a:p>
            <a:pPr indent="-280988" lvl="0" marL="46037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same functionality as rdt2.1, using ACKs only</a:t>
            </a:r>
            <a:endParaRPr/>
          </a:p>
          <a:p>
            <a:pPr indent="-280988" lvl="0" marL="46037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instead of NAK, receiver sends ACK for last pkt received OK</a:t>
            </a:r>
            <a:endParaRPr/>
          </a:p>
          <a:p>
            <a:pPr indent="-219075" lvl="1" marL="808038"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receiver must </a:t>
            </a:r>
            <a:r>
              <a:rPr b="0" i="1" lang="en-US" sz="2800" u="none" cap="none" strike="noStrike">
                <a:solidFill>
                  <a:srgbClr val="000000"/>
                </a:solidFill>
                <a:latin typeface="Calibri"/>
                <a:ea typeface="Calibri"/>
                <a:cs typeface="Calibri"/>
                <a:sym typeface="Calibri"/>
              </a:rPr>
              <a:t>explicitly</a:t>
            </a:r>
            <a:r>
              <a:rPr b="0" i="0" lang="en-US" sz="2800" u="none" cap="none" strike="noStrike">
                <a:solidFill>
                  <a:srgbClr val="000000"/>
                </a:solidFill>
                <a:latin typeface="Calibri"/>
                <a:ea typeface="Calibri"/>
                <a:cs typeface="Calibri"/>
                <a:sym typeface="Calibri"/>
              </a:rPr>
              <a:t> include seq # of pkt being ACKed </a:t>
            </a:r>
            <a:endParaRPr/>
          </a:p>
          <a:p>
            <a:pPr indent="-280988" lvl="0" marL="46037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duplicate ACK at sender results in same action as NAK: </a:t>
            </a:r>
            <a:r>
              <a:rPr b="0" i="1" lang="en-US" sz="3200" u="none" cap="none" strike="noStrike">
                <a:solidFill>
                  <a:srgbClr val="000000"/>
                </a:solidFill>
                <a:latin typeface="Calibri"/>
                <a:ea typeface="Calibri"/>
                <a:cs typeface="Calibri"/>
                <a:sym typeface="Calibri"/>
              </a:rPr>
              <a:t>retransmit current pkt</a:t>
            </a:r>
            <a:endParaRPr b="0" i="0" sz="3200" u="none" cap="none" strike="noStrike">
              <a:solidFill>
                <a:srgbClr val="000000"/>
              </a:solidFill>
              <a:latin typeface="Calibri"/>
              <a:ea typeface="Calibri"/>
              <a:cs typeface="Calibri"/>
              <a:sym typeface="Calibri"/>
            </a:endParaRPr>
          </a:p>
        </p:txBody>
      </p:sp>
      <p:sp>
        <p:nvSpPr>
          <p:cNvPr id="3634" name="Google Shape;3634;p54"/>
          <p:cNvSpPr txBox="1"/>
          <p:nvPr/>
        </p:nvSpPr>
        <p:spPr>
          <a:xfrm>
            <a:off x="798690" y="4623515"/>
            <a:ext cx="906376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As we will see, TCP uses this approach to be NAK-free</a:t>
            </a:r>
            <a:endParaRPr/>
          </a:p>
        </p:txBody>
      </p:sp>
      <p:sp>
        <p:nvSpPr>
          <p:cNvPr id="3635" name="Google Shape;3635;p5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0" name="Shape 3640"/>
        <p:cNvGrpSpPr/>
        <p:nvPr/>
      </p:nvGrpSpPr>
      <p:grpSpPr>
        <a:xfrm>
          <a:off x="0" y="0"/>
          <a:ext cx="0" cy="0"/>
          <a:chOff x="0" y="0"/>
          <a:chExt cx="0" cy="0"/>
        </a:xfrm>
      </p:grpSpPr>
      <p:sp>
        <p:nvSpPr>
          <p:cNvPr id="3641" name="Google Shape;3641;p5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rdt3.0: channels with errors </a:t>
            </a:r>
            <a:r>
              <a:rPr i="1" lang="en-US"/>
              <a:t>and</a:t>
            </a:r>
            <a:r>
              <a:rPr lang="en-US"/>
              <a:t> loss</a:t>
            </a:r>
            <a:endParaRPr sz="4000"/>
          </a:p>
        </p:txBody>
      </p:sp>
      <p:sp>
        <p:nvSpPr>
          <p:cNvPr id="3642" name="Google Shape;3642;p55"/>
          <p:cNvSpPr txBox="1"/>
          <p:nvPr/>
        </p:nvSpPr>
        <p:spPr>
          <a:xfrm>
            <a:off x="700825" y="1291107"/>
            <a:ext cx="10533232" cy="4648200"/>
          </a:xfrm>
          <a:prstGeom prst="rect">
            <a:avLst/>
          </a:prstGeom>
          <a:noFill/>
          <a:ln>
            <a:noFill/>
          </a:ln>
        </p:spPr>
        <p:txBody>
          <a:bodyPr anchorCtr="0" anchor="t" bIns="45700" lIns="91425" spcFirstLastPara="1" rIns="91425" wrap="square" tIns="45700">
            <a:normAutofit/>
          </a:bodyPr>
          <a:lstStyle/>
          <a:p>
            <a:pPr indent="-12700" lvl="0" marL="114300"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New channel assumption:</a:t>
            </a:r>
            <a:r>
              <a:rPr b="0" i="1" lang="en-US" sz="32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underlying channel can also </a:t>
            </a:r>
            <a:r>
              <a:rPr b="0" i="1" lang="en-US" sz="3200" u="none" cap="none" strike="noStrike">
                <a:solidFill>
                  <a:srgbClr val="000000"/>
                </a:solidFill>
                <a:latin typeface="Calibri"/>
                <a:ea typeface="Calibri"/>
                <a:cs typeface="Calibri"/>
                <a:sym typeface="Calibri"/>
              </a:rPr>
              <a:t>lose</a:t>
            </a:r>
            <a:r>
              <a:rPr b="0" i="0" lang="en-US" sz="3200" u="none" cap="none" strike="noStrike">
                <a:solidFill>
                  <a:srgbClr val="000000"/>
                </a:solidFill>
                <a:latin typeface="Calibri"/>
                <a:ea typeface="Calibri"/>
                <a:cs typeface="Calibri"/>
                <a:sym typeface="Calibri"/>
              </a:rPr>
              <a:t> packets (data, ACKs)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checksum, sequence #s, ACKs, retransmissions will be of help … but not quite enough</a:t>
            </a:r>
            <a:endParaRPr/>
          </a:p>
        </p:txBody>
      </p:sp>
      <p:sp>
        <p:nvSpPr>
          <p:cNvPr id="3643" name="Google Shape;3643;p55"/>
          <p:cNvSpPr txBox="1"/>
          <p:nvPr/>
        </p:nvSpPr>
        <p:spPr>
          <a:xfrm>
            <a:off x="1351723" y="4023238"/>
            <a:ext cx="9435547" cy="1323439"/>
          </a:xfrm>
          <a:prstGeom prst="rect">
            <a:avLst/>
          </a:prstGeom>
          <a:noFill/>
          <a:ln>
            <a:noFill/>
          </a:ln>
        </p:spPr>
        <p:txBody>
          <a:bodyPr anchorCtr="0" anchor="t" bIns="45700" lIns="91425" spcFirstLastPara="1" rIns="91425" wrap="square" tIns="45700">
            <a:spAutoFit/>
          </a:bodyPr>
          <a:lstStyle/>
          <a:p>
            <a:pPr indent="-568325" lvl="0" marL="581025" marR="0" rtl="0" algn="ctr">
              <a:lnSpc>
                <a:spcPct val="100000"/>
              </a:lnSpc>
              <a:spcBef>
                <a:spcPts val="0"/>
              </a:spcBef>
              <a:spcAft>
                <a:spcPts val="0"/>
              </a:spcAft>
              <a:buClr>
                <a:srgbClr val="C00000"/>
              </a:buClr>
              <a:buSzPts val="4000"/>
              <a:buFont typeface="Calibri"/>
              <a:buNone/>
            </a:pPr>
            <a:r>
              <a:rPr b="0" i="1" lang="en-US" sz="4000" u="none" cap="none" strike="noStrike">
                <a:solidFill>
                  <a:srgbClr val="C00000"/>
                </a:solidFill>
                <a:latin typeface="Calibri"/>
                <a:ea typeface="Calibri"/>
                <a:cs typeface="Calibri"/>
                <a:sym typeface="Calibri"/>
              </a:rPr>
              <a:t>Q: </a:t>
            </a:r>
            <a:r>
              <a:rPr b="0" i="0" lang="en-US" sz="4000" u="none" cap="none" strike="noStrike">
                <a:solidFill>
                  <a:srgbClr val="000000"/>
                </a:solidFill>
                <a:latin typeface="Calibri"/>
                <a:ea typeface="Calibri"/>
                <a:cs typeface="Calibri"/>
                <a:sym typeface="Calibri"/>
              </a:rPr>
              <a:t>How do </a:t>
            </a:r>
            <a:r>
              <a:rPr b="0" i="1" lang="en-US" sz="4000" u="none" cap="none" strike="noStrike">
                <a:solidFill>
                  <a:srgbClr val="000000"/>
                </a:solidFill>
                <a:latin typeface="Calibri"/>
                <a:ea typeface="Calibri"/>
                <a:cs typeface="Calibri"/>
                <a:sym typeface="Calibri"/>
              </a:rPr>
              <a:t>humans</a:t>
            </a:r>
            <a:r>
              <a:rPr b="0" i="0" lang="en-US" sz="4000" u="none" cap="none" strike="noStrike">
                <a:solidFill>
                  <a:srgbClr val="000000"/>
                </a:solidFill>
                <a:latin typeface="Calibri"/>
                <a:ea typeface="Calibri"/>
                <a:cs typeface="Calibri"/>
                <a:sym typeface="Calibri"/>
              </a:rPr>
              <a:t> handle lost sender-to-receiver words in conversation?</a:t>
            </a:r>
            <a:endParaRPr/>
          </a:p>
        </p:txBody>
      </p:sp>
      <p:sp>
        <p:nvSpPr>
          <p:cNvPr id="3644" name="Google Shape;3644;p5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3"/>
                                        </p:tgtEl>
                                        <p:attrNameLst>
                                          <p:attrName>style.visibility</p:attrName>
                                        </p:attrNameLst>
                                      </p:cBhvr>
                                      <p:to>
                                        <p:strVal val="visible"/>
                                      </p:to>
                                    </p:set>
                                    <p:animEffect filter="fade" transition="in">
                                      <p:cBhvr>
                                        <p:cTn dur="500"/>
                                        <p:tgtEl>
                                          <p:spTgt spid="36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9" name="Shape 3649"/>
        <p:cNvGrpSpPr/>
        <p:nvPr/>
      </p:nvGrpSpPr>
      <p:grpSpPr>
        <a:xfrm>
          <a:off x="0" y="0"/>
          <a:ext cx="0" cy="0"/>
          <a:chOff x="0" y="0"/>
          <a:chExt cx="0" cy="0"/>
        </a:xfrm>
      </p:grpSpPr>
      <p:sp>
        <p:nvSpPr>
          <p:cNvPr id="3650" name="Google Shape;3650;p5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rdt3.0: channels with errors </a:t>
            </a:r>
            <a:r>
              <a:rPr i="1" lang="en-US"/>
              <a:t>and</a:t>
            </a:r>
            <a:r>
              <a:rPr lang="en-US"/>
              <a:t> loss</a:t>
            </a:r>
            <a:endParaRPr sz="4000"/>
          </a:p>
        </p:txBody>
      </p:sp>
      <p:sp>
        <p:nvSpPr>
          <p:cNvPr id="3651" name="Google Shape;3651;p56"/>
          <p:cNvSpPr txBox="1"/>
          <p:nvPr/>
        </p:nvSpPr>
        <p:spPr>
          <a:xfrm>
            <a:off x="751114" y="1355502"/>
            <a:ext cx="10924659" cy="5074708"/>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Approach:</a:t>
            </a:r>
            <a:r>
              <a:rPr b="0" i="1" lang="en-US" sz="32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sender waits “reasonable” amount of time for ACK </a:t>
            </a:r>
            <a:endParaRPr/>
          </a:p>
          <a:p>
            <a:pPr indent="-341313" lvl="0" marL="406400" marR="0" rtl="0" algn="l">
              <a:lnSpc>
                <a:spcPct val="80000"/>
              </a:lnSpc>
              <a:spcBef>
                <a:spcPts val="12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retransmits if no ACK received in this time</a:t>
            </a:r>
            <a:endParaRPr/>
          </a:p>
          <a:p>
            <a:pPr indent="-341313" lvl="0" marL="406400" marR="0" rtl="0" algn="l">
              <a:lnSpc>
                <a:spcPct val="70000"/>
              </a:lnSpc>
              <a:spcBef>
                <a:spcPts val="12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if pkt (or ACK) just delayed (not lost):</a:t>
            </a:r>
            <a:endParaRPr/>
          </a:p>
          <a:p>
            <a:pPr indent="-374650" lvl="2" marL="747713" marR="0" rtl="0" algn="l">
              <a:lnSpc>
                <a:spcPct val="90000"/>
              </a:lnSpc>
              <a:spcBef>
                <a:spcPts val="12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retransmission will be  duplicate, but seq #s already handles this!</a:t>
            </a:r>
            <a:endParaRPr/>
          </a:p>
          <a:p>
            <a:pPr indent="-374650" lvl="2" marL="747713" marR="0" rtl="0" algn="l">
              <a:lnSpc>
                <a:spcPct val="90000"/>
              </a:lnSpc>
              <a:spcBef>
                <a:spcPts val="12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receiver must specify seq # of packet being ACKed</a:t>
            </a:r>
            <a:endParaRPr b="0" i="0" sz="2800" u="none" cap="none" strike="noStrike">
              <a:solidFill>
                <a:srgbClr val="000000"/>
              </a:solidFill>
              <a:latin typeface="Calibri"/>
              <a:ea typeface="Calibri"/>
              <a:cs typeface="Calibri"/>
              <a:sym typeface="Calibri"/>
            </a:endParaRPr>
          </a:p>
        </p:txBody>
      </p:sp>
      <p:grpSp>
        <p:nvGrpSpPr>
          <p:cNvPr id="3652" name="Google Shape;3652;p56"/>
          <p:cNvGrpSpPr/>
          <p:nvPr/>
        </p:nvGrpSpPr>
        <p:grpSpPr>
          <a:xfrm>
            <a:off x="3852654" y="4876800"/>
            <a:ext cx="3484723" cy="1905000"/>
            <a:chOff x="3667124" y="4359729"/>
            <a:chExt cx="3484723" cy="1905000"/>
          </a:xfrm>
        </p:grpSpPr>
        <p:pic>
          <p:nvPicPr>
            <p:cNvPr descr="Image result for red alarm clock" id="3653" name="Google Shape;3653;p56"/>
            <p:cNvPicPr preferRelativeResize="0"/>
            <p:nvPr/>
          </p:nvPicPr>
          <p:blipFill rotWithShape="1">
            <a:blip r:embed="rId3">
              <a:alphaModFix/>
            </a:blip>
            <a:srcRect b="0" l="0" r="0" t="0"/>
            <a:stretch/>
          </p:blipFill>
          <p:spPr>
            <a:xfrm>
              <a:off x="3667124" y="4359729"/>
              <a:ext cx="3381375" cy="1905000"/>
            </a:xfrm>
            <a:prstGeom prst="rect">
              <a:avLst/>
            </a:prstGeom>
            <a:noFill/>
            <a:ln>
              <a:noFill/>
            </a:ln>
          </p:spPr>
        </p:pic>
        <p:sp>
          <p:nvSpPr>
            <p:cNvPr id="3654" name="Google Shape;3654;p56"/>
            <p:cNvSpPr txBox="1"/>
            <p:nvPr/>
          </p:nvSpPr>
          <p:spPr>
            <a:xfrm>
              <a:off x="5932303" y="4757575"/>
              <a:ext cx="1219544" cy="370396"/>
            </a:xfrm>
            <a:prstGeom prst="rect">
              <a:avLst/>
            </a:prstGeom>
            <a:noFill/>
            <a:ln>
              <a:noFill/>
            </a:ln>
          </p:spPr>
          <p:txBody>
            <a:bodyPr anchorCtr="0" anchor="t" bIns="45700" lIns="91425" spcFirstLastPara="1" rIns="91425" wrap="square" tIns="45700">
              <a:spAutoFit/>
            </a:bodyPr>
            <a:lstStyle/>
            <a:p>
              <a:pPr indent="0" lvl="0" marL="0" marR="0" rtl="0" algn="l">
                <a:lnSpc>
                  <a:spcPct val="75000"/>
                </a:lnSpc>
                <a:spcBef>
                  <a:spcPts val="0"/>
                </a:spcBef>
                <a:spcAft>
                  <a:spcPts val="0"/>
                </a:spcAft>
                <a:buClr>
                  <a:srgbClr val="C00000"/>
                </a:buClr>
                <a:buSzPts val="2400"/>
                <a:buFont typeface="Tahoma"/>
                <a:buNone/>
              </a:pPr>
              <a:r>
                <a:rPr b="0" i="1" lang="en-US" sz="2400" u="none" cap="none" strike="noStrike">
                  <a:solidFill>
                    <a:srgbClr val="C00000"/>
                  </a:solidFill>
                  <a:latin typeface="Tahoma"/>
                  <a:ea typeface="Tahoma"/>
                  <a:cs typeface="Tahoma"/>
                  <a:sym typeface="Tahoma"/>
                </a:rPr>
                <a:t>timeout</a:t>
              </a:r>
              <a:endParaRPr/>
            </a:p>
          </p:txBody>
        </p:sp>
      </p:grpSp>
      <p:sp>
        <p:nvSpPr>
          <p:cNvPr id="3655" name="Google Shape;3655;p56"/>
          <p:cNvSpPr txBox="1"/>
          <p:nvPr/>
        </p:nvSpPr>
        <p:spPr>
          <a:xfrm>
            <a:off x="808619" y="4059181"/>
            <a:ext cx="10924659" cy="1016402"/>
          </a:xfrm>
          <a:prstGeom prst="rect">
            <a:avLst/>
          </a:prstGeom>
          <a:noFill/>
          <a:ln>
            <a:noFill/>
          </a:ln>
        </p:spPr>
        <p:txBody>
          <a:bodyPr anchorCtr="0" anchor="t" bIns="45700" lIns="91425" spcFirstLastPara="1" rIns="91425" wrap="square" tIns="45700">
            <a:normAutofit lnSpcReduction="10000"/>
          </a:bodyPr>
          <a:lstStyle/>
          <a:p>
            <a:pPr indent="-341313" lvl="0" marL="406400" marR="0" rtl="0" algn="l">
              <a:lnSpc>
                <a:spcPct val="10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use countdown timer to interrupt after “reasonable” amount of time</a:t>
            </a:r>
            <a:endParaRPr/>
          </a:p>
        </p:txBody>
      </p:sp>
      <p:sp>
        <p:nvSpPr>
          <p:cNvPr id="3656" name="Google Shape;3656;p5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5"/>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3655">
                                            <p:txEl>
                                              <p:pRg end="0" st="0"/>
                                            </p:txEl>
                                          </p:spTgt>
                                        </p:tgtEl>
                                        <p:attrNameLst>
                                          <p:attrName>style.visibility</p:attrName>
                                        </p:attrNameLst>
                                      </p:cBhvr>
                                      <p:to>
                                        <p:strVal val="visible"/>
                                      </p:to>
                                    </p:set>
                                    <p:animEffect filter="fade" transition="in">
                                      <p:cBhvr>
                                        <p:cTn dur="500"/>
                                        <p:tgtEl>
                                          <p:spTgt spid="3655">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3652"/>
                                        </p:tgtEl>
                                        <p:attrNameLst>
                                          <p:attrName>style.visibility</p:attrName>
                                        </p:attrNameLst>
                                      </p:cBhvr>
                                      <p:to>
                                        <p:strVal val="visible"/>
                                      </p:to>
                                    </p:set>
                                    <p:animEffect filter="fade" transition="in">
                                      <p:cBhvr>
                                        <p:cTn dur="500"/>
                                        <p:tgtEl>
                                          <p:spTgt spid="36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1" name="Shape 3661"/>
        <p:cNvGrpSpPr/>
        <p:nvPr/>
      </p:nvGrpSpPr>
      <p:grpSpPr>
        <a:xfrm>
          <a:off x="0" y="0"/>
          <a:ext cx="0" cy="0"/>
          <a:chOff x="0" y="0"/>
          <a:chExt cx="0" cy="0"/>
        </a:xfrm>
      </p:grpSpPr>
      <p:sp>
        <p:nvSpPr>
          <p:cNvPr id="3662" name="Google Shape;3662;p5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in action (stop and wait)</a:t>
            </a:r>
            <a:endParaRPr sz="4400"/>
          </a:p>
        </p:txBody>
      </p:sp>
      <p:sp>
        <p:nvSpPr>
          <p:cNvPr id="3663" name="Google Shape;3663;p57"/>
          <p:cNvSpPr txBox="1"/>
          <p:nvPr/>
        </p:nvSpPr>
        <p:spPr>
          <a:xfrm>
            <a:off x="1363148" y="1512487"/>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3664" name="Google Shape;3664;p57"/>
          <p:cNvSpPr txBox="1"/>
          <p:nvPr/>
        </p:nvSpPr>
        <p:spPr>
          <a:xfrm>
            <a:off x="3803136" y="1507725"/>
            <a:ext cx="10715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3665" name="Google Shape;3665;p57"/>
          <p:cNvSpPr txBox="1"/>
          <p:nvPr/>
        </p:nvSpPr>
        <p:spPr>
          <a:xfrm>
            <a:off x="3806311" y="3131737"/>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3666" name="Google Shape;3666;p57"/>
          <p:cNvSpPr txBox="1"/>
          <p:nvPr/>
        </p:nvSpPr>
        <p:spPr>
          <a:xfrm>
            <a:off x="3812661" y="3987400"/>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3667" name="Google Shape;3667;p57"/>
          <p:cNvSpPr txBox="1"/>
          <p:nvPr/>
        </p:nvSpPr>
        <p:spPr>
          <a:xfrm>
            <a:off x="3809486" y="2445937"/>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3668" name="Google Shape;3668;p57"/>
          <p:cNvSpPr txBox="1"/>
          <p:nvPr/>
        </p:nvSpPr>
        <p:spPr>
          <a:xfrm>
            <a:off x="3806311" y="3357162"/>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3669" name="Google Shape;3669;p57"/>
          <p:cNvSpPr txBox="1"/>
          <p:nvPr/>
        </p:nvSpPr>
        <p:spPr>
          <a:xfrm>
            <a:off x="3806311" y="4182662"/>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3670" name="Google Shape;3670;p57"/>
          <p:cNvSpPr txBox="1"/>
          <p:nvPr/>
        </p:nvSpPr>
        <p:spPr>
          <a:xfrm>
            <a:off x="1291711" y="2695175"/>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3671" name="Google Shape;3671;p57"/>
          <p:cNvSpPr txBox="1"/>
          <p:nvPr/>
        </p:nvSpPr>
        <p:spPr>
          <a:xfrm>
            <a:off x="1136136" y="3788962"/>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672" name="Google Shape;3672;p57"/>
          <p:cNvSpPr txBox="1"/>
          <p:nvPr/>
        </p:nvSpPr>
        <p:spPr>
          <a:xfrm>
            <a:off x="1136136" y="2914250"/>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3673" name="Google Shape;3673;p57"/>
          <p:cNvSpPr txBox="1"/>
          <p:nvPr/>
        </p:nvSpPr>
        <p:spPr>
          <a:xfrm>
            <a:off x="1280598" y="3549250"/>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sp>
        <p:nvSpPr>
          <p:cNvPr id="3674" name="Google Shape;3674;p57"/>
          <p:cNvSpPr txBox="1"/>
          <p:nvPr/>
        </p:nvSpPr>
        <p:spPr>
          <a:xfrm>
            <a:off x="1125023" y="1952225"/>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675" name="Google Shape;3675;p57"/>
          <p:cNvSpPr txBox="1"/>
          <p:nvPr/>
        </p:nvSpPr>
        <p:spPr>
          <a:xfrm>
            <a:off x="3801548" y="2234800"/>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3676" name="Google Shape;3676;p57"/>
          <p:cNvGrpSpPr/>
          <p:nvPr/>
        </p:nvGrpSpPr>
        <p:grpSpPr>
          <a:xfrm>
            <a:off x="2341048" y="2022075"/>
            <a:ext cx="1471613" cy="512762"/>
            <a:chOff x="850" y="1159"/>
            <a:chExt cx="927" cy="323"/>
          </a:xfrm>
        </p:grpSpPr>
        <p:cxnSp>
          <p:nvCxnSpPr>
            <p:cNvPr id="3677" name="Google Shape;3677;p57"/>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3678" name="Google Shape;3678;p57"/>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679" name="Google Shape;3679;p57"/>
          <p:cNvGrpSpPr/>
          <p:nvPr/>
        </p:nvGrpSpPr>
        <p:grpSpPr>
          <a:xfrm>
            <a:off x="2334698" y="3758800"/>
            <a:ext cx="1471613" cy="487362"/>
            <a:chOff x="846" y="2253"/>
            <a:chExt cx="927" cy="307"/>
          </a:xfrm>
        </p:grpSpPr>
        <p:cxnSp>
          <p:nvCxnSpPr>
            <p:cNvPr id="3680" name="Google Shape;3680;p57"/>
            <p:cNvCxnSpPr/>
            <p:nvPr/>
          </p:nvCxnSpPr>
          <p:spPr>
            <a:xfrm>
              <a:off x="846" y="2335"/>
              <a:ext cx="927" cy="225"/>
            </a:xfrm>
            <a:prstGeom prst="straightConnector1">
              <a:avLst/>
            </a:prstGeom>
            <a:noFill/>
            <a:ln cap="flat" cmpd="sng" w="28575">
              <a:solidFill>
                <a:srgbClr val="000099"/>
              </a:solidFill>
              <a:prstDash val="solid"/>
              <a:round/>
              <a:headEnd len="med" w="med" type="none"/>
              <a:tailEnd len="med" w="med" type="triangle"/>
            </a:ln>
          </p:spPr>
        </p:cxnSp>
        <p:sp>
          <p:nvSpPr>
            <p:cNvPr id="3681" name="Google Shape;3681;p57"/>
            <p:cNvSpPr txBox="1"/>
            <p:nvPr/>
          </p:nvSpPr>
          <p:spPr>
            <a:xfrm>
              <a:off x="1097" y="225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682" name="Google Shape;3682;p57"/>
          <p:cNvGrpSpPr/>
          <p:nvPr/>
        </p:nvGrpSpPr>
        <p:grpSpPr>
          <a:xfrm>
            <a:off x="2348986" y="2896787"/>
            <a:ext cx="1471612" cy="504825"/>
            <a:chOff x="855" y="1710"/>
            <a:chExt cx="927" cy="318"/>
          </a:xfrm>
        </p:grpSpPr>
        <p:cxnSp>
          <p:nvCxnSpPr>
            <p:cNvPr id="3683" name="Google Shape;3683;p57"/>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3684" name="Google Shape;3684;p57"/>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3685" name="Google Shape;3685;p57"/>
          <p:cNvGrpSpPr/>
          <p:nvPr/>
        </p:nvGrpSpPr>
        <p:grpSpPr>
          <a:xfrm>
            <a:off x="2334698" y="3361925"/>
            <a:ext cx="1471613" cy="471487"/>
            <a:chOff x="846" y="2003"/>
            <a:chExt cx="927" cy="297"/>
          </a:xfrm>
        </p:grpSpPr>
        <p:cxnSp>
          <p:nvCxnSpPr>
            <p:cNvPr id="3686" name="Google Shape;3686;p57"/>
            <p:cNvCxnSpPr/>
            <p:nvPr/>
          </p:nvCxnSpPr>
          <p:spPr>
            <a:xfrm flipH="1">
              <a:off x="846" y="2075"/>
              <a:ext cx="927" cy="225"/>
            </a:xfrm>
            <a:prstGeom prst="straightConnector1">
              <a:avLst/>
            </a:prstGeom>
            <a:noFill/>
            <a:ln cap="flat" cmpd="sng" w="28575">
              <a:solidFill>
                <a:srgbClr val="008000"/>
              </a:solidFill>
              <a:prstDash val="solid"/>
              <a:round/>
              <a:headEnd len="med" w="med" type="none"/>
              <a:tailEnd len="med" w="med" type="triangle"/>
            </a:ln>
          </p:spPr>
        </p:cxnSp>
        <p:sp>
          <p:nvSpPr>
            <p:cNvPr id="3687" name="Google Shape;3687;p57"/>
            <p:cNvSpPr txBox="1"/>
            <p:nvPr/>
          </p:nvSpPr>
          <p:spPr>
            <a:xfrm>
              <a:off x="1092" y="2003"/>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grpSp>
        <p:nvGrpSpPr>
          <p:cNvPr id="3688" name="Google Shape;3688;p57"/>
          <p:cNvGrpSpPr/>
          <p:nvPr/>
        </p:nvGrpSpPr>
        <p:grpSpPr>
          <a:xfrm>
            <a:off x="2326761" y="2522137"/>
            <a:ext cx="1471612" cy="455613"/>
            <a:chOff x="841" y="1474"/>
            <a:chExt cx="927" cy="287"/>
          </a:xfrm>
        </p:grpSpPr>
        <p:cxnSp>
          <p:nvCxnSpPr>
            <p:cNvPr id="3689" name="Google Shape;3689;p57"/>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3690" name="Google Shape;3690;p57"/>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3691" name="Google Shape;3691;p57"/>
          <p:cNvGrpSpPr/>
          <p:nvPr/>
        </p:nvGrpSpPr>
        <p:grpSpPr>
          <a:xfrm>
            <a:off x="2320411" y="4214412"/>
            <a:ext cx="1471612" cy="461963"/>
            <a:chOff x="837" y="2540"/>
            <a:chExt cx="927" cy="291"/>
          </a:xfrm>
        </p:grpSpPr>
        <p:cxnSp>
          <p:nvCxnSpPr>
            <p:cNvPr id="3692" name="Google Shape;3692;p57"/>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3693" name="Google Shape;3693;p57"/>
            <p:cNvSpPr txBox="1"/>
            <p:nvPr/>
          </p:nvSpPr>
          <p:spPr>
            <a:xfrm>
              <a:off x="1086" y="2540"/>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3694" name="Google Shape;3694;p57"/>
          <p:cNvSpPr txBox="1"/>
          <p:nvPr/>
        </p:nvSpPr>
        <p:spPr>
          <a:xfrm>
            <a:off x="2628386" y="5293912"/>
            <a:ext cx="1252537"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 no loss</a:t>
            </a:r>
            <a:endParaRPr/>
          </a:p>
        </p:txBody>
      </p:sp>
      <p:sp>
        <p:nvSpPr>
          <p:cNvPr id="3695" name="Google Shape;3695;p57"/>
          <p:cNvSpPr txBox="1"/>
          <p:nvPr/>
        </p:nvSpPr>
        <p:spPr>
          <a:xfrm>
            <a:off x="7079959" y="1461687"/>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3696" name="Google Shape;3696;p57"/>
          <p:cNvSpPr txBox="1"/>
          <p:nvPr/>
        </p:nvSpPr>
        <p:spPr>
          <a:xfrm>
            <a:off x="9519946" y="1456925"/>
            <a:ext cx="107156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3697" name="Google Shape;3697;p57"/>
          <p:cNvSpPr txBox="1"/>
          <p:nvPr/>
        </p:nvSpPr>
        <p:spPr>
          <a:xfrm>
            <a:off x="9521534" y="4373162"/>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3698" name="Google Shape;3698;p57"/>
          <p:cNvSpPr txBox="1"/>
          <p:nvPr/>
        </p:nvSpPr>
        <p:spPr>
          <a:xfrm>
            <a:off x="9529471" y="5214537"/>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3699" name="Google Shape;3699;p57"/>
          <p:cNvSpPr txBox="1"/>
          <p:nvPr/>
        </p:nvSpPr>
        <p:spPr>
          <a:xfrm>
            <a:off x="9526296" y="2395137"/>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3700" name="Google Shape;3700;p57"/>
          <p:cNvSpPr txBox="1"/>
          <p:nvPr/>
        </p:nvSpPr>
        <p:spPr>
          <a:xfrm>
            <a:off x="9523121" y="4584300"/>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3701" name="Google Shape;3701;p57"/>
          <p:cNvSpPr txBox="1"/>
          <p:nvPr/>
        </p:nvSpPr>
        <p:spPr>
          <a:xfrm>
            <a:off x="9523121" y="5409800"/>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3702" name="Google Shape;3702;p57"/>
          <p:cNvSpPr txBox="1"/>
          <p:nvPr/>
        </p:nvSpPr>
        <p:spPr>
          <a:xfrm>
            <a:off x="7008521" y="2644375"/>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3703" name="Google Shape;3703;p57"/>
          <p:cNvSpPr txBox="1"/>
          <p:nvPr/>
        </p:nvSpPr>
        <p:spPr>
          <a:xfrm>
            <a:off x="6852946" y="5016100"/>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704" name="Google Shape;3704;p57"/>
          <p:cNvSpPr txBox="1"/>
          <p:nvPr/>
        </p:nvSpPr>
        <p:spPr>
          <a:xfrm>
            <a:off x="6852946" y="2863450"/>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3705" name="Google Shape;3705;p57"/>
          <p:cNvSpPr txBox="1"/>
          <p:nvPr/>
        </p:nvSpPr>
        <p:spPr>
          <a:xfrm>
            <a:off x="6997409" y="4776387"/>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sp>
        <p:nvSpPr>
          <p:cNvPr id="3706" name="Google Shape;3706;p57"/>
          <p:cNvSpPr txBox="1"/>
          <p:nvPr/>
        </p:nvSpPr>
        <p:spPr>
          <a:xfrm>
            <a:off x="6841834" y="1901425"/>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707" name="Google Shape;3707;p57"/>
          <p:cNvSpPr txBox="1"/>
          <p:nvPr/>
        </p:nvSpPr>
        <p:spPr>
          <a:xfrm>
            <a:off x="9518359" y="2184000"/>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3708" name="Google Shape;3708;p57"/>
          <p:cNvGrpSpPr/>
          <p:nvPr/>
        </p:nvGrpSpPr>
        <p:grpSpPr>
          <a:xfrm>
            <a:off x="8057859" y="1971275"/>
            <a:ext cx="1471612" cy="512762"/>
            <a:chOff x="850" y="1159"/>
            <a:chExt cx="927" cy="323"/>
          </a:xfrm>
        </p:grpSpPr>
        <p:cxnSp>
          <p:nvCxnSpPr>
            <p:cNvPr id="3709" name="Google Shape;3709;p57"/>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3710" name="Google Shape;3710;p57"/>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711" name="Google Shape;3711;p57"/>
          <p:cNvGrpSpPr/>
          <p:nvPr/>
        </p:nvGrpSpPr>
        <p:grpSpPr>
          <a:xfrm>
            <a:off x="8051509" y="4985937"/>
            <a:ext cx="1471612" cy="487363"/>
            <a:chOff x="846" y="2253"/>
            <a:chExt cx="927" cy="307"/>
          </a:xfrm>
        </p:grpSpPr>
        <p:cxnSp>
          <p:nvCxnSpPr>
            <p:cNvPr id="3712" name="Google Shape;3712;p57"/>
            <p:cNvCxnSpPr/>
            <p:nvPr/>
          </p:nvCxnSpPr>
          <p:spPr>
            <a:xfrm>
              <a:off x="846" y="2335"/>
              <a:ext cx="927" cy="225"/>
            </a:xfrm>
            <a:prstGeom prst="straightConnector1">
              <a:avLst/>
            </a:prstGeom>
            <a:noFill/>
            <a:ln cap="flat" cmpd="sng" w="28575">
              <a:solidFill>
                <a:srgbClr val="000099"/>
              </a:solidFill>
              <a:prstDash val="solid"/>
              <a:round/>
              <a:headEnd len="med" w="med" type="none"/>
              <a:tailEnd len="med" w="med" type="triangle"/>
            </a:ln>
          </p:spPr>
        </p:cxnSp>
        <p:sp>
          <p:nvSpPr>
            <p:cNvPr id="3713" name="Google Shape;3713;p57"/>
            <p:cNvSpPr txBox="1"/>
            <p:nvPr/>
          </p:nvSpPr>
          <p:spPr>
            <a:xfrm>
              <a:off x="1097" y="225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714" name="Google Shape;3714;p57"/>
          <p:cNvGrpSpPr/>
          <p:nvPr/>
        </p:nvGrpSpPr>
        <p:grpSpPr>
          <a:xfrm>
            <a:off x="8051509" y="4589062"/>
            <a:ext cx="1471612" cy="471488"/>
            <a:chOff x="846" y="2003"/>
            <a:chExt cx="927" cy="297"/>
          </a:xfrm>
        </p:grpSpPr>
        <p:cxnSp>
          <p:nvCxnSpPr>
            <p:cNvPr id="3715" name="Google Shape;3715;p57"/>
            <p:cNvCxnSpPr/>
            <p:nvPr/>
          </p:nvCxnSpPr>
          <p:spPr>
            <a:xfrm flipH="1">
              <a:off x="846" y="2075"/>
              <a:ext cx="927" cy="225"/>
            </a:xfrm>
            <a:prstGeom prst="straightConnector1">
              <a:avLst/>
            </a:prstGeom>
            <a:noFill/>
            <a:ln cap="flat" cmpd="sng" w="28575">
              <a:solidFill>
                <a:srgbClr val="008000"/>
              </a:solidFill>
              <a:prstDash val="solid"/>
              <a:round/>
              <a:headEnd len="med" w="med" type="none"/>
              <a:tailEnd len="med" w="med" type="triangle"/>
            </a:ln>
          </p:spPr>
        </p:cxnSp>
        <p:sp>
          <p:nvSpPr>
            <p:cNvPr id="3716" name="Google Shape;3716;p57"/>
            <p:cNvSpPr txBox="1"/>
            <p:nvPr/>
          </p:nvSpPr>
          <p:spPr>
            <a:xfrm>
              <a:off x="1092" y="2003"/>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grpSp>
        <p:nvGrpSpPr>
          <p:cNvPr id="3717" name="Google Shape;3717;p57"/>
          <p:cNvGrpSpPr/>
          <p:nvPr/>
        </p:nvGrpSpPr>
        <p:grpSpPr>
          <a:xfrm>
            <a:off x="8043571" y="2471337"/>
            <a:ext cx="1471613" cy="455613"/>
            <a:chOff x="841" y="1474"/>
            <a:chExt cx="927" cy="287"/>
          </a:xfrm>
        </p:grpSpPr>
        <p:cxnSp>
          <p:nvCxnSpPr>
            <p:cNvPr id="3718" name="Google Shape;3718;p57"/>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3719" name="Google Shape;3719;p57"/>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3720" name="Google Shape;3720;p57"/>
          <p:cNvGrpSpPr/>
          <p:nvPr/>
        </p:nvGrpSpPr>
        <p:grpSpPr>
          <a:xfrm>
            <a:off x="8037221" y="5436787"/>
            <a:ext cx="1471613" cy="466725"/>
            <a:chOff x="837" y="2537"/>
            <a:chExt cx="927" cy="294"/>
          </a:xfrm>
        </p:grpSpPr>
        <p:cxnSp>
          <p:nvCxnSpPr>
            <p:cNvPr id="3721" name="Google Shape;3721;p57"/>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3722" name="Google Shape;3722;p57"/>
            <p:cNvSpPr txBox="1"/>
            <p:nvPr/>
          </p:nvSpPr>
          <p:spPr>
            <a:xfrm>
              <a:off x="1091" y="2537"/>
              <a:ext cx="37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Tahoma"/>
                <a:buNone/>
              </a:pPr>
              <a:r>
                <a:rPr b="0" i="0" lang="en-US" sz="1600" u="none" cap="none" strike="noStrike">
                  <a:solidFill>
                    <a:srgbClr val="008000"/>
                  </a:solidFill>
                  <a:latin typeface="Tahoma"/>
                  <a:ea typeface="Tahoma"/>
                  <a:cs typeface="Tahoma"/>
                  <a:sym typeface="Tahoma"/>
                </a:rPr>
                <a:t>ack0</a:t>
              </a:r>
              <a:endParaRPr/>
            </a:p>
          </p:txBody>
        </p:sp>
      </p:grpSp>
      <p:sp>
        <p:nvSpPr>
          <p:cNvPr id="3723" name="Google Shape;3723;p57"/>
          <p:cNvSpPr txBox="1"/>
          <p:nvPr/>
        </p:nvSpPr>
        <p:spPr>
          <a:xfrm>
            <a:off x="8130884" y="6207345"/>
            <a:ext cx="1671637"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(b) packet loss</a:t>
            </a:r>
            <a:endParaRPr/>
          </a:p>
        </p:txBody>
      </p:sp>
      <p:grpSp>
        <p:nvGrpSpPr>
          <p:cNvPr id="3724" name="Google Shape;3724;p57"/>
          <p:cNvGrpSpPr/>
          <p:nvPr/>
        </p:nvGrpSpPr>
        <p:grpSpPr>
          <a:xfrm>
            <a:off x="8065796" y="2845987"/>
            <a:ext cx="1157288" cy="738188"/>
            <a:chOff x="3726" y="1687"/>
            <a:chExt cx="729" cy="465"/>
          </a:xfrm>
        </p:grpSpPr>
        <p:cxnSp>
          <p:nvCxnSpPr>
            <p:cNvPr id="3725" name="Google Shape;3725;p57"/>
            <p:cNvCxnSpPr/>
            <p:nvPr/>
          </p:nvCxnSpPr>
          <p:spPr>
            <a:xfrm>
              <a:off x="3726" y="1780"/>
              <a:ext cx="548" cy="148"/>
            </a:xfrm>
            <a:prstGeom prst="straightConnector1">
              <a:avLst/>
            </a:prstGeom>
            <a:noFill/>
            <a:ln cap="flat" cmpd="sng" w="28575">
              <a:solidFill>
                <a:srgbClr val="000099"/>
              </a:solidFill>
              <a:prstDash val="solid"/>
              <a:round/>
              <a:headEnd len="med" w="med" type="none"/>
              <a:tailEnd len="med" w="med" type="triangle"/>
            </a:ln>
          </p:spPr>
        </p:cxnSp>
        <p:sp>
          <p:nvSpPr>
            <p:cNvPr id="3726" name="Google Shape;3726;p57"/>
            <p:cNvSpPr txBox="1"/>
            <p:nvPr/>
          </p:nvSpPr>
          <p:spPr>
            <a:xfrm>
              <a:off x="3965" y="1687"/>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sp>
          <p:nvSpPr>
            <p:cNvPr id="3727" name="Google Shape;3727;p57"/>
            <p:cNvSpPr txBox="1"/>
            <p:nvPr/>
          </p:nvSpPr>
          <p:spPr>
            <a:xfrm>
              <a:off x="4185" y="1808"/>
              <a:ext cx="21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3728" name="Google Shape;3728;p57"/>
            <p:cNvSpPr txBox="1"/>
            <p:nvPr/>
          </p:nvSpPr>
          <p:spPr>
            <a:xfrm>
              <a:off x="4126" y="1940"/>
              <a:ext cx="32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grpSp>
        <p:nvGrpSpPr>
          <p:cNvPr id="3729" name="Google Shape;3729;p57"/>
          <p:cNvGrpSpPr/>
          <p:nvPr/>
        </p:nvGrpSpPr>
        <p:grpSpPr>
          <a:xfrm>
            <a:off x="7946734" y="3149200"/>
            <a:ext cx="122237" cy="1033462"/>
            <a:chOff x="3651" y="1878"/>
            <a:chExt cx="78" cy="963"/>
          </a:xfrm>
        </p:grpSpPr>
        <p:cxnSp>
          <p:nvCxnSpPr>
            <p:cNvPr id="3730" name="Google Shape;3730;p57"/>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3731" name="Google Shape;3731;p57"/>
            <p:cNvCxnSpPr/>
            <p:nvPr/>
          </p:nvCxnSpPr>
          <p:spPr>
            <a:xfrm rot="10800000">
              <a:off x="3651" y="1878"/>
              <a:ext cx="75" cy="0"/>
            </a:xfrm>
            <a:prstGeom prst="straightConnector1">
              <a:avLst/>
            </a:prstGeom>
            <a:noFill/>
            <a:ln cap="flat" cmpd="sng" w="28575">
              <a:solidFill>
                <a:srgbClr val="000000"/>
              </a:solidFill>
              <a:prstDash val="solid"/>
              <a:round/>
              <a:headEnd len="med" w="med" type="none"/>
              <a:tailEnd len="med" w="med" type="none"/>
            </a:ln>
          </p:spPr>
        </p:cxnSp>
        <p:cxnSp>
          <p:nvCxnSpPr>
            <p:cNvPr id="3732" name="Google Shape;3732;p57"/>
            <p:cNvCxnSpPr/>
            <p:nvPr/>
          </p:nvCxnSpPr>
          <p:spPr>
            <a:xfrm rot="10800000">
              <a:off x="3651" y="2841"/>
              <a:ext cx="75" cy="0"/>
            </a:xfrm>
            <a:prstGeom prst="straightConnector1">
              <a:avLst/>
            </a:prstGeom>
            <a:noFill/>
            <a:ln cap="flat" cmpd="sng" w="28575">
              <a:solidFill>
                <a:srgbClr val="000000"/>
              </a:solidFill>
              <a:prstDash val="solid"/>
              <a:round/>
              <a:headEnd len="med" w="med" type="none"/>
              <a:tailEnd len="med" w="med" type="none"/>
            </a:ln>
          </p:spPr>
        </p:cxnSp>
      </p:grpSp>
      <p:grpSp>
        <p:nvGrpSpPr>
          <p:cNvPr id="3733" name="Google Shape;3733;p57"/>
          <p:cNvGrpSpPr/>
          <p:nvPr/>
        </p:nvGrpSpPr>
        <p:grpSpPr>
          <a:xfrm>
            <a:off x="8075321" y="4138212"/>
            <a:ext cx="1471613" cy="504825"/>
            <a:chOff x="855" y="1710"/>
            <a:chExt cx="927" cy="318"/>
          </a:xfrm>
        </p:grpSpPr>
        <p:cxnSp>
          <p:nvCxnSpPr>
            <p:cNvPr id="3734" name="Google Shape;3734;p57"/>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3735" name="Google Shape;3735;p57"/>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3736" name="Google Shape;3736;p57"/>
          <p:cNvGrpSpPr/>
          <p:nvPr/>
        </p:nvGrpSpPr>
        <p:grpSpPr>
          <a:xfrm>
            <a:off x="6643396" y="3761975"/>
            <a:ext cx="1377950" cy="731837"/>
            <a:chOff x="2802" y="2348"/>
            <a:chExt cx="868" cy="461"/>
          </a:xfrm>
        </p:grpSpPr>
        <p:pic>
          <p:nvPicPr>
            <p:cNvPr descr="alarm_clock_ringing" id="3737" name="Google Shape;3737;p57"/>
            <p:cNvPicPr preferRelativeResize="0"/>
            <p:nvPr/>
          </p:nvPicPr>
          <p:blipFill rotWithShape="1">
            <a:blip r:embed="rId3">
              <a:alphaModFix/>
            </a:blip>
            <a:srcRect b="0" l="0" r="0" t="0"/>
            <a:stretch/>
          </p:blipFill>
          <p:spPr>
            <a:xfrm>
              <a:off x="2846" y="2348"/>
              <a:ext cx="275" cy="303"/>
            </a:xfrm>
            <a:prstGeom prst="rect">
              <a:avLst/>
            </a:prstGeom>
            <a:noFill/>
            <a:ln>
              <a:noFill/>
            </a:ln>
          </p:spPr>
        </p:pic>
        <p:sp>
          <p:nvSpPr>
            <p:cNvPr id="3738" name="Google Shape;3738;p57"/>
            <p:cNvSpPr txBox="1"/>
            <p:nvPr/>
          </p:nvSpPr>
          <p:spPr>
            <a:xfrm>
              <a:off x="2802" y="2491"/>
              <a:ext cx="868" cy="318"/>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timeout</a:t>
              </a:r>
              <a:endParaRPr/>
            </a:p>
            <a:p>
              <a:pPr indent="0" lvl="0" marL="0" marR="0" rtl="0" algn="r">
                <a:lnSpc>
                  <a:spcPct val="75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resend pkt1</a:t>
              </a:r>
              <a:endParaRPr/>
            </a:p>
          </p:txBody>
        </p:sp>
      </p:grpSp>
      <p:sp>
        <p:nvSpPr>
          <p:cNvPr id="3739" name="Google Shape;3739;p5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6"/>
                                        </p:tgtEl>
                                        <p:attrNameLst>
                                          <p:attrName>style.visibility</p:attrName>
                                        </p:attrNameLst>
                                      </p:cBhvr>
                                      <p:to>
                                        <p:strVal val="visible"/>
                                      </p:to>
                                    </p:set>
                                    <p:animEffect filter="fade" transition="in">
                                      <p:cBhvr>
                                        <p:cTn dur="500"/>
                                        <p:tgtEl>
                                          <p:spTgt spid="367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675">
                                            <p:txEl>
                                              <p:pRg end="0" st="0"/>
                                            </p:txEl>
                                          </p:spTgt>
                                        </p:tgtEl>
                                        <p:attrNameLst>
                                          <p:attrName>style.visibility</p:attrName>
                                        </p:attrNameLst>
                                      </p:cBhvr>
                                      <p:to>
                                        <p:strVal val="visible"/>
                                      </p:to>
                                    </p:set>
                                    <p:animEffect filter="fade" transition="in">
                                      <p:cBhvr>
                                        <p:cTn dur="500"/>
                                        <p:tgtEl>
                                          <p:spTgt spid="367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7"/>
                                        </p:tgtEl>
                                        <p:attrNameLst>
                                          <p:attrName>style.visibility</p:attrName>
                                        </p:attrNameLst>
                                      </p:cBhvr>
                                      <p:to>
                                        <p:strVal val="visible"/>
                                      </p:to>
                                    </p:set>
                                    <p:animEffect filter="fade" transition="in">
                                      <p:cBhvr>
                                        <p:cTn dur="500"/>
                                        <p:tgtEl>
                                          <p:spTgt spid="366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688"/>
                                        </p:tgtEl>
                                        <p:attrNameLst>
                                          <p:attrName>style.visibility</p:attrName>
                                        </p:attrNameLst>
                                      </p:cBhvr>
                                      <p:to>
                                        <p:strVal val="visible"/>
                                      </p:to>
                                    </p:set>
                                    <p:animEffect filter="fade" transition="in">
                                      <p:cBhvr>
                                        <p:cTn dur="500"/>
                                        <p:tgtEl>
                                          <p:spTgt spid="368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670"/>
                                        </p:tgtEl>
                                        <p:attrNameLst>
                                          <p:attrName>style.visibility</p:attrName>
                                        </p:attrNameLst>
                                      </p:cBhvr>
                                      <p:to>
                                        <p:strVal val="visible"/>
                                      </p:to>
                                    </p:set>
                                    <p:animEffect filter="fade" transition="in">
                                      <p:cBhvr>
                                        <p:cTn dur="500"/>
                                        <p:tgtEl>
                                          <p:spTgt spid="36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2"/>
                                        </p:tgtEl>
                                        <p:attrNameLst>
                                          <p:attrName>style.visibility</p:attrName>
                                        </p:attrNameLst>
                                      </p:cBhvr>
                                      <p:to>
                                        <p:strVal val="visible"/>
                                      </p:to>
                                    </p:set>
                                    <p:animEffect filter="fade" transition="in">
                                      <p:cBhvr>
                                        <p:cTn dur="500"/>
                                        <p:tgtEl>
                                          <p:spTgt spid="367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682"/>
                                        </p:tgtEl>
                                        <p:attrNameLst>
                                          <p:attrName>style.visibility</p:attrName>
                                        </p:attrNameLst>
                                      </p:cBhvr>
                                      <p:to>
                                        <p:strVal val="visible"/>
                                      </p:to>
                                    </p:set>
                                    <p:animEffect filter="fade" transition="in">
                                      <p:cBhvr>
                                        <p:cTn dur="500"/>
                                        <p:tgtEl>
                                          <p:spTgt spid="368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665">
                                            <p:txEl>
                                              <p:pRg end="0" st="0"/>
                                            </p:txEl>
                                          </p:spTgt>
                                        </p:tgtEl>
                                        <p:attrNameLst>
                                          <p:attrName>style.visibility</p:attrName>
                                        </p:attrNameLst>
                                      </p:cBhvr>
                                      <p:to>
                                        <p:strVal val="visible"/>
                                      </p:to>
                                    </p:set>
                                    <p:animEffect filter="fade" transition="in">
                                      <p:cBhvr>
                                        <p:cTn dur="500"/>
                                        <p:tgtEl>
                                          <p:spTgt spid="3665">
                                            <p:txEl>
                                              <p:pRg end="0" st="0"/>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668"/>
                                        </p:tgtEl>
                                        <p:attrNameLst>
                                          <p:attrName>style.visibility</p:attrName>
                                        </p:attrNameLst>
                                      </p:cBhvr>
                                      <p:to>
                                        <p:strVal val="visible"/>
                                      </p:to>
                                    </p:set>
                                    <p:animEffect filter="fade" transition="in">
                                      <p:cBhvr>
                                        <p:cTn dur="500"/>
                                        <p:tgtEl>
                                          <p:spTgt spid="366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685"/>
                                        </p:tgtEl>
                                        <p:attrNameLst>
                                          <p:attrName>style.visibility</p:attrName>
                                        </p:attrNameLst>
                                      </p:cBhvr>
                                      <p:to>
                                        <p:strVal val="visible"/>
                                      </p:to>
                                    </p:set>
                                    <p:animEffect filter="fade" transition="in">
                                      <p:cBhvr>
                                        <p:cTn dur="500"/>
                                        <p:tgtEl>
                                          <p:spTgt spid="3685"/>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673"/>
                                        </p:tgtEl>
                                        <p:attrNameLst>
                                          <p:attrName>style.visibility</p:attrName>
                                        </p:attrNameLst>
                                      </p:cBhvr>
                                      <p:to>
                                        <p:strVal val="visible"/>
                                      </p:to>
                                    </p:set>
                                    <p:animEffect filter="fade" transition="in">
                                      <p:cBhvr>
                                        <p:cTn dur="500"/>
                                        <p:tgtEl>
                                          <p:spTgt spid="367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671"/>
                                        </p:tgtEl>
                                        <p:attrNameLst>
                                          <p:attrName>style.visibility</p:attrName>
                                        </p:attrNameLst>
                                      </p:cBhvr>
                                      <p:to>
                                        <p:strVal val="visible"/>
                                      </p:to>
                                    </p:set>
                                    <p:animEffect filter="fade" transition="in">
                                      <p:cBhvr>
                                        <p:cTn dur="500"/>
                                        <p:tgtEl>
                                          <p:spTgt spid="3671"/>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679"/>
                                        </p:tgtEl>
                                        <p:attrNameLst>
                                          <p:attrName>style.visibility</p:attrName>
                                        </p:attrNameLst>
                                      </p:cBhvr>
                                      <p:to>
                                        <p:strVal val="visible"/>
                                      </p:to>
                                    </p:set>
                                    <p:animEffect filter="fade" transition="in">
                                      <p:cBhvr>
                                        <p:cTn dur="500"/>
                                        <p:tgtEl>
                                          <p:spTgt spid="3679"/>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666"/>
                                        </p:tgtEl>
                                        <p:attrNameLst>
                                          <p:attrName>style.visibility</p:attrName>
                                        </p:attrNameLst>
                                      </p:cBhvr>
                                      <p:to>
                                        <p:strVal val="visible"/>
                                      </p:to>
                                    </p:set>
                                    <p:animEffect filter="fade" transition="in">
                                      <p:cBhvr>
                                        <p:cTn dur="500"/>
                                        <p:tgtEl>
                                          <p:spTgt spid="3666"/>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3669">
                                            <p:txEl>
                                              <p:pRg end="0" st="0"/>
                                            </p:txEl>
                                          </p:spTgt>
                                        </p:tgtEl>
                                        <p:attrNameLst>
                                          <p:attrName>style.visibility</p:attrName>
                                        </p:attrNameLst>
                                      </p:cBhvr>
                                      <p:to>
                                        <p:strVal val="visible"/>
                                      </p:to>
                                    </p:set>
                                    <p:animEffect filter="fade" transition="in">
                                      <p:cBhvr>
                                        <p:cTn dur="500"/>
                                        <p:tgtEl>
                                          <p:spTgt spid="3669">
                                            <p:txEl>
                                              <p:pRg end="0" st="0"/>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3691"/>
                                        </p:tgtEl>
                                        <p:attrNameLst>
                                          <p:attrName>style.visibility</p:attrName>
                                        </p:attrNameLst>
                                      </p:cBhvr>
                                      <p:to>
                                        <p:strVal val="visible"/>
                                      </p:to>
                                    </p:set>
                                    <p:animEffect filter="fade" transition="in">
                                      <p:cBhvr>
                                        <p:cTn dur="500"/>
                                        <p:tgtEl>
                                          <p:spTgt spid="36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8"/>
                                        </p:tgtEl>
                                        <p:attrNameLst>
                                          <p:attrName>style.visibility</p:attrName>
                                        </p:attrNameLst>
                                      </p:cBhvr>
                                      <p:to>
                                        <p:strVal val="visible"/>
                                      </p:to>
                                    </p:set>
                                    <p:animEffect filter="fade" transition="in">
                                      <p:cBhvr>
                                        <p:cTn dur="500"/>
                                        <p:tgtEl>
                                          <p:spTgt spid="370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707">
                                            <p:txEl>
                                              <p:pRg end="0" st="0"/>
                                            </p:txEl>
                                          </p:spTgt>
                                        </p:tgtEl>
                                        <p:attrNameLst>
                                          <p:attrName>style.visibility</p:attrName>
                                        </p:attrNameLst>
                                      </p:cBhvr>
                                      <p:to>
                                        <p:strVal val="visible"/>
                                      </p:to>
                                    </p:set>
                                    <p:animEffect filter="fade" transition="in">
                                      <p:cBhvr>
                                        <p:cTn dur="500"/>
                                        <p:tgtEl>
                                          <p:spTgt spid="3707">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699"/>
                                        </p:tgtEl>
                                        <p:attrNameLst>
                                          <p:attrName>style.visibility</p:attrName>
                                        </p:attrNameLst>
                                      </p:cBhvr>
                                      <p:to>
                                        <p:strVal val="visible"/>
                                      </p:to>
                                    </p:set>
                                    <p:animEffect filter="fade" transition="in">
                                      <p:cBhvr>
                                        <p:cTn dur="500"/>
                                        <p:tgtEl>
                                          <p:spTgt spid="369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717"/>
                                        </p:tgtEl>
                                        <p:attrNameLst>
                                          <p:attrName>style.visibility</p:attrName>
                                        </p:attrNameLst>
                                      </p:cBhvr>
                                      <p:to>
                                        <p:strVal val="visible"/>
                                      </p:to>
                                    </p:set>
                                    <p:animEffect filter="fade" transition="in">
                                      <p:cBhvr>
                                        <p:cTn dur="500"/>
                                        <p:tgtEl>
                                          <p:spTgt spid="371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702"/>
                                        </p:tgtEl>
                                        <p:attrNameLst>
                                          <p:attrName>style.visibility</p:attrName>
                                        </p:attrNameLst>
                                      </p:cBhvr>
                                      <p:to>
                                        <p:strVal val="visible"/>
                                      </p:to>
                                    </p:set>
                                    <p:animEffect filter="fade" transition="in">
                                      <p:cBhvr>
                                        <p:cTn dur="500"/>
                                        <p:tgtEl>
                                          <p:spTgt spid="3702"/>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704"/>
                                        </p:tgtEl>
                                        <p:attrNameLst>
                                          <p:attrName>style.visibility</p:attrName>
                                        </p:attrNameLst>
                                      </p:cBhvr>
                                      <p:to>
                                        <p:strVal val="visible"/>
                                      </p:to>
                                    </p:set>
                                    <p:animEffect filter="fade" transition="in">
                                      <p:cBhvr>
                                        <p:cTn dur="500"/>
                                        <p:tgtEl>
                                          <p:spTgt spid="3704"/>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724"/>
                                        </p:tgtEl>
                                        <p:attrNameLst>
                                          <p:attrName>style.visibility</p:attrName>
                                        </p:attrNameLst>
                                      </p:cBhvr>
                                      <p:to>
                                        <p:strVal val="visible"/>
                                      </p:to>
                                    </p:set>
                                    <p:animEffect filter="fade" transition="in">
                                      <p:cBhvr>
                                        <p:cTn dur="500"/>
                                        <p:tgtEl>
                                          <p:spTgt spid="37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9"/>
                                        </p:tgtEl>
                                        <p:attrNameLst>
                                          <p:attrName>style.visibility</p:attrName>
                                        </p:attrNameLst>
                                      </p:cBhvr>
                                      <p:to>
                                        <p:strVal val="visible"/>
                                      </p:to>
                                    </p:set>
                                    <p:animEffect filter="fade" transition="in">
                                      <p:cBhvr>
                                        <p:cTn dur="1000"/>
                                        <p:tgtEl>
                                          <p:spTgt spid="372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736"/>
                                        </p:tgtEl>
                                        <p:attrNameLst>
                                          <p:attrName>style.visibility</p:attrName>
                                        </p:attrNameLst>
                                      </p:cBhvr>
                                      <p:to>
                                        <p:strVal val="visible"/>
                                      </p:to>
                                    </p:set>
                                    <p:animEffect filter="fade" transition="in">
                                      <p:cBhvr>
                                        <p:cTn dur="500"/>
                                        <p:tgtEl>
                                          <p:spTgt spid="37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3"/>
                                        </p:tgtEl>
                                        <p:attrNameLst>
                                          <p:attrName>style.visibility</p:attrName>
                                        </p:attrNameLst>
                                      </p:cBhvr>
                                      <p:to>
                                        <p:strVal val="visible"/>
                                      </p:to>
                                    </p:set>
                                    <p:animEffect filter="fade" transition="in">
                                      <p:cBhvr>
                                        <p:cTn dur="500"/>
                                        <p:tgtEl>
                                          <p:spTgt spid="373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697">
                                            <p:txEl>
                                              <p:pRg end="0" st="0"/>
                                            </p:txEl>
                                          </p:spTgt>
                                        </p:tgtEl>
                                        <p:attrNameLst>
                                          <p:attrName>style.visibility</p:attrName>
                                        </p:attrNameLst>
                                      </p:cBhvr>
                                      <p:to>
                                        <p:strVal val="visible"/>
                                      </p:to>
                                    </p:set>
                                    <p:animEffect filter="fade" transition="in">
                                      <p:cBhvr>
                                        <p:cTn dur="500"/>
                                        <p:tgtEl>
                                          <p:spTgt spid="3697">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700"/>
                                        </p:tgtEl>
                                        <p:attrNameLst>
                                          <p:attrName>style.visibility</p:attrName>
                                        </p:attrNameLst>
                                      </p:cBhvr>
                                      <p:to>
                                        <p:strVal val="visible"/>
                                      </p:to>
                                    </p:set>
                                    <p:animEffect filter="fade" transition="in">
                                      <p:cBhvr>
                                        <p:cTn dur="500"/>
                                        <p:tgtEl>
                                          <p:spTgt spid="3700"/>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714"/>
                                        </p:tgtEl>
                                        <p:attrNameLst>
                                          <p:attrName>style.visibility</p:attrName>
                                        </p:attrNameLst>
                                      </p:cBhvr>
                                      <p:to>
                                        <p:strVal val="visible"/>
                                      </p:to>
                                    </p:set>
                                    <p:animEffect filter="fade" transition="in">
                                      <p:cBhvr>
                                        <p:cTn dur="500"/>
                                        <p:tgtEl>
                                          <p:spTgt spid="371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705"/>
                                        </p:tgtEl>
                                        <p:attrNameLst>
                                          <p:attrName>style.visibility</p:attrName>
                                        </p:attrNameLst>
                                      </p:cBhvr>
                                      <p:to>
                                        <p:strVal val="visible"/>
                                      </p:to>
                                    </p:set>
                                    <p:animEffect filter="fade" transition="in">
                                      <p:cBhvr>
                                        <p:cTn dur="500"/>
                                        <p:tgtEl>
                                          <p:spTgt spid="3705"/>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703"/>
                                        </p:tgtEl>
                                        <p:attrNameLst>
                                          <p:attrName>style.visibility</p:attrName>
                                        </p:attrNameLst>
                                      </p:cBhvr>
                                      <p:to>
                                        <p:strVal val="visible"/>
                                      </p:to>
                                    </p:set>
                                    <p:animEffect filter="fade" transition="in">
                                      <p:cBhvr>
                                        <p:cTn dur="500"/>
                                        <p:tgtEl>
                                          <p:spTgt spid="370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711"/>
                                        </p:tgtEl>
                                        <p:attrNameLst>
                                          <p:attrName>style.visibility</p:attrName>
                                        </p:attrNameLst>
                                      </p:cBhvr>
                                      <p:to>
                                        <p:strVal val="visible"/>
                                      </p:to>
                                    </p:set>
                                    <p:animEffect filter="fade" transition="in">
                                      <p:cBhvr>
                                        <p:cTn dur="500"/>
                                        <p:tgtEl>
                                          <p:spTgt spid="3711"/>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698"/>
                                        </p:tgtEl>
                                        <p:attrNameLst>
                                          <p:attrName>style.visibility</p:attrName>
                                        </p:attrNameLst>
                                      </p:cBhvr>
                                      <p:to>
                                        <p:strVal val="visible"/>
                                      </p:to>
                                    </p:set>
                                    <p:animEffect filter="fade" transition="in">
                                      <p:cBhvr>
                                        <p:cTn dur="500"/>
                                        <p:tgtEl>
                                          <p:spTgt spid="3698"/>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701">
                                            <p:txEl>
                                              <p:pRg end="0" st="0"/>
                                            </p:txEl>
                                          </p:spTgt>
                                        </p:tgtEl>
                                        <p:attrNameLst>
                                          <p:attrName>style.visibility</p:attrName>
                                        </p:attrNameLst>
                                      </p:cBhvr>
                                      <p:to>
                                        <p:strVal val="visible"/>
                                      </p:to>
                                    </p:set>
                                    <p:animEffect filter="fade" transition="in">
                                      <p:cBhvr>
                                        <p:cTn dur="500"/>
                                        <p:tgtEl>
                                          <p:spTgt spid="3701">
                                            <p:txEl>
                                              <p:pRg end="0" st="0"/>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3720"/>
                                        </p:tgtEl>
                                        <p:attrNameLst>
                                          <p:attrName>style.visibility</p:attrName>
                                        </p:attrNameLst>
                                      </p:cBhvr>
                                      <p:to>
                                        <p:strVal val="visible"/>
                                      </p:to>
                                    </p:set>
                                    <p:animEffect filter="fade" transition="in">
                                      <p:cBhvr>
                                        <p:cTn dur="500"/>
                                        <p:tgtEl>
                                          <p:spTgt spid="37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4" name="Shape 3744"/>
        <p:cNvGrpSpPr/>
        <p:nvPr/>
      </p:nvGrpSpPr>
      <p:grpSpPr>
        <a:xfrm>
          <a:off x="0" y="0"/>
          <a:ext cx="0" cy="0"/>
          <a:chOff x="0" y="0"/>
          <a:chExt cx="0" cy="0"/>
        </a:xfrm>
      </p:grpSpPr>
      <p:sp>
        <p:nvSpPr>
          <p:cNvPr id="3745" name="Google Shape;3745;p58"/>
          <p:cNvSpPr txBox="1"/>
          <p:nvPr>
            <p:ph type="title"/>
          </p:nvPr>
        </p:nvSpPr>
        <p:spPr>
          <a:xfrm>
            <a:off x="791814" y="336294"/>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in action (stop and wait)</a:t>
            </a:r>
            <a:endParaRPr sz="4400"/>
          </a:p>
        </p:txBody>
      </p:sp>
      <p:sp>
        <p:nvSpPr>
          <p:cNvPr id="3746" name="Google Shape;3746;p58"/>
          <p:cNvSpPr txBox="1"/>
          <p:nvPr/>
        </p:nvSpPr>
        <p:spPr>
          <a:xfrm>
            <a:off x="3808470" y="3116226"/>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3747" name="Google Shape;3747;p58"/>
          <p:cNvSpPr txBox="1"/>
          <p:nvPr/>
        </p:nvSpPr>
        <p:spPr>
          <a:xfrm>
            <a:off x="3808470" y="3341651"/>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3748" name="Google Shape;3748;p58"/>
          <p:cNvSpPr txBox="1"/>
          <p:nvPr/>
        </p:nvSpPr>
        <p:spPr>
          <a:xfrm>
            <a:off x="3789420" y="4532276"/>
            <a:ext cx="15684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(detect duplicate)</a:t>
            </a:r>
            <a:endParaRPr/>
          </a:p>
        </p:txBody>
      </p:sp>
      <p:grpSp>
        <p:nvGrpSpPr>
          <p:cNvPr id="3749" name="Google Shape;3749;p58"/>
          <p:cNvGrpSpPr/>
          <p:nvPr/>
        </p:nvGrpSpPr>
        <p:grpSpPr>
          <a:xfrm>
            <a:off x="2340033" y="2889213"/>
            <a:ext cx="1471612" cy="504825"/>
            <a:chOff x="855" y="1710"/>
            <a:chExt cx="927" cy="318"/>
          </a:xfrm>
        </p:grpSpPr>
        <p:cxnSp>
          <p:nvCxnSpPr>
            <p:cNvPr id="3750" name="Google Shape;3750;p58"/>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3751" name="Google Shape;3751;p58"/>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sp>
        <p:nvSpPr>
          <p:cNvPr id="3752" name="Google Shape;3752;p58"/>
          <p:cNvSpPr txBox="1"/>
          <p:nvPr/>
        </p:nvSpPr>
        <p:spPr>
          <a:xfrm>
            <a:off x="1352608" y="1508088"/>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3753" name="Google Shape;3753;p58"/>
          <p:cNvSpPr txBox="1"/>
          <p:nvPr/>
        </p:nvSpPr>
        <p:spPr>
          <a:xfrm>
            <a:off x="3792595" y="1503326"/>
            <a:ext cx="107156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3754" name="Google Shape;3754;p58"/>
          <p:cNvSpPr txBox="1"/>
          <p:nvPr/>
        </p:nvSpPr>
        <p:spPr>
          <a:xfrm>
            <a:off x="3805295" y="4263988"/>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3755" name="Google Shape;3755;p58"/>
          <p:cNvSpPr txBox="1"/>
          <p:nvPr/>
        </p:nvSpPr>
        <p:spPr>
          <a:xfrm>
            <a:off x="3802120" y="5260938"/>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3756" name="Google Shape;3756;p58"/>
          <p:cNvSpPr txBox="1"/>
          <p:nvPr/>
        </p:nvSpPr>
        <p:spPr>
          <a:xfrm>
            <a:off x="3798945" y="2441538"/>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3757" name="Google Shape;3757;p58"/>
          <p:cNvSpPr txBox="1"/>
          <p:nvPr/>
        </p:nvSpPr>
        <p:spPr>
          <a:xfrm>
            <a:off x="3817995" y="4686263"/>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3758" name="Google Shape;3758;p58"/>
          <p:cNvSpPr txBox="1"/>
          <p:nvPr/>
        </p:nvSpPr>
        <p:spPr>
          <a:xfrm>
            <a:off x="3795770" y="5456201"/>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3759" name="Google Shape;3759;p58"/>
          <p:cNvSpPr txBox="1"/>
          <p:nvPr/>
        </p:nvSpPr>
        <p:spPr>
          <a:xfrm>
            <a:off x="1281170" y="2690776"/>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3760" name="Google Shape;3760;p58"/>
          <p:cNvSpPr txBox="1"/>
          <p:nvPr/>
        </p:nvSpPr>
        <p:spPr>
          <a:xfrm>
            <a:off x="1125595" y="5062501"/>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761" name="Google Shape;3761;p58"/>
          <p:cNvSpPr txBox="1"/>
          <p:nvPr/>
        </p:nvSpPr>
        <p:spPr>
          <a:xfrm>
            <a:off x="1125595" y="2909851"/>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3762" name="Google Shape;3762;p58"/>
          <p:cNvSpPr txBox="1"/>
          <p:nvPr/>
        </p:nvSpPr>
        <p:spPr>
          <a:xfrm>
            <a:off x="1270058" y="4822788"/>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sp>
        <p:nvSpPr>
          <p:cNvPr id="3763" name="Google Shape;3763;p58"/>
          <p:cNvSpPr txBox="1"/>
          <p:nvPr/>
        </p:nvSpPr>
        <p:spPr>
          <a:xfrm>
            <a:off x="1114483" y="1947826"/>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764" name="Google Shape;3764;p58"/>
          <p:cNvSpPr txBox="1"/>
          <p:nvPr/>
        </p:nvSpPr>
        <p:spPr>
          <a:xfrm>
            <a:off x="3791008" y="2230401"/>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3765" name="Google Shape;3765;p58"/>
          <p:cNvGrpSpPr/>
          <p:nvPr/>
        </p:nvGrpSpPr>
        <p:grpSpPr>
          <a:xfrm>
            <a:off x="2330508" y="2017676"/>
            <a:ext cx="1471612" cy="512762"/>
            <a:chOff x="850" y="1159"/>
            <a:chExt cx="927" cy="323"/>
          </a:xfrm>
        </p:grpSpPr>
        <p:cxnSp>
          <p:nvCxnSpPr>
            <p:cNvPr id="3766" name="Google Shape;3766;p58"/>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3767" name="Google Shape;3767;p58"/>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768" name="Google Shape;3768;p58"/>
          <p:cNvGrpSpPr/>
          <p:nvPr/>
        </p:nvGrpSpPr>
        <p:grpSpPr>
          <a:xfrm>
            <a:off x="2324158" y="5032338"/>
            <a:ext cx="1471612" cy="487363"/>
            <a:chOff x="846" y="2253"/>
            <a:chExt cx="927" cy="307"/>
          </a:xfrm>
        </p:grpSpPr>
        <p:cxnSp>
          <p:nvCxnSpPr>
            <p:cNvPr id="3769" name="Google Shape;3769;p58"/>
            <p:cNvCxnSpPr/>
            <p:nvPr/>
          </p:nvCxnSpPr>
          <p:spPr>
            <a:xfrm>
              <a:off x="846" y="2335"/>
              <a:ext cx="927" cy="225"/>
            </a:xfrm>
            <a:prstGeom prst="straightConnector1">
              <a:avLst/>
            </a:prstGeom>
            <a:noFill/>
            <a:ln cap="flat" cmpd="sng" w="28575">
              <a:solidFill>
                <a:srgbClr val="000099"/>
              </a:solidFill>
              <a:prstDash val="solid"/>
              <a:round/>
              <a:headEnd len="med" w="med" type="none"/>
              <a:tailEnd len="med" w="med" type="triangle"/>
            </a:ln>
          </p:spPr>
        </p:cxnSp>
        <p:sp>
          <p:nvSpPr>
            <p:cNvPr id="3770" name="Google Shape;3770;p58"/>
            <p:cNvSpPr txBox="1"/>
            <p:nvPr/>
          </p:nvSpPr>
          <p:spPr>
            <a:xfrm>
              <a:off x="1097" y="225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771" name="Google Shape;3771;p58"/>
          <p:cNvGrpSpPr/>
          <p:nvPr/>
        </p:nvGrpSpPr>
        <p:grpSpPr>
          <a:xfrm>
            <a:off x="2324158" y="4635463"/>
            <a:ext cx="1471612" cy="471488"/>
            <a:chOff x="846" y="2003"/>
            <a:chExt cx="927" cy="297"/>
          </a:xfrm>
        </p:grpSpPr>
        <p:cxnSp>
          <p:nvCxnSpPr>
            <p:cNvPr id="3772" name="Google Shape;3772;p58"/>
            <p:cNvCxnSpPr/>
            <p:nvPr/>
          </p:nvCxnSpPr>
          <p:spPr>
            <a:xfrm flipH="1">
              <a:off x="846" y="2075"/>
              <a:ext cx="927" cy="225"/>
            </a:xfrm>
            <a:prstGeom prst="straightConnector1">
              <a:avLst/>
            </a:prstGeom>
            <a:noFill/>
            <a:ln cap="flat" cmpd="sng" w="28575">
              <a:solidFill>
                <a:srgbClr val="008000"/>
              </a:solidFill>
              <a:prstDash val="solid"/>
              <a:round/>
              <a:headEnd len="med" w="med" type="none"/>
              <a:tailEnd len="med" w="med" type="triangle"/>
            </a:ln>
          </p:spPr>
        </p:cxnSp>
        <p:sp>
          <p:nvSpPr>
            <p:cNvPr id="3773" name="Google Shape;3773;p58"/>
            <p:cNvSpPr txBox="1"/>
            <p:nvPr/>
          </p:nvSpPr>
          <p:spPr>
            <a:xfrm>
              <a:off x="1092" y="2003"/>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grpSp>
        <p:nvGrpSpPr>
          <p:cNvPr id="3774" name="Google Shape;3774;p58"/>
          <p:cNvGrpSpPr/>
          <p:nvPr/>
        </p:nvGrpSpPr>
        <p:grpSpPr>
          <a:xfrm>
            <a:off x="2316220" y="2517738"/>
            <a:ext cx="1471613" cy="455613"/>
            <a:chOff x="841" y="1474"/>
            <a:chExt cx="927" cy="287"/>
          </a:xfrm>
        </p:grpSpPr>
        <p:cxnSp>
          <p:nvCxnSpPr>
            <p:cNvPr id="3775" name="Google Shape;3775;p58"/>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3776" name="Google Shape;3776;p58"/>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3777" name="Google Shape;3777;p58"/>
          <p:cNvGrpSpPr/>
          <p:nvPr/>
        </p:nvGrpSpPr>
        <p:grpSpPr>
          <a:xfrm>
            <a:off x="2309870" y="5487951"/>
            <a:ext cx="1471613" cy="461962"/>
            <a:chOff x="837" y="2540"/>
            <a:chExt cx="927" cy="291"/>
          </a:xfrm>
        </p:grpSpPr>
        <p:cxnSp>
          <p:nvCxnSpPr>
            <p:cNvPr id="3778" name="Google Shape;3778;p58"/>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3779" name="Google Shape;3779;p58"/>
            <p:cNvSpPr txBox="1"/>
            <p:nvPr/>
          </p:nvSpPr>
          <p:spPr>
            <a:xfrm>
              <a:off x="1086" y="2540"/>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3780" name="Google Shape;3780;p58"/>
          <p:cNvSpPr txBox="1"/>
          <p:nvPr/>
        </p:nvSpPr>
        <p:spPr>
          <a:xfrm>
            <a:off x="2108258" y="6200738"/>
            <a:ext cx="13938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(c) ACK loss</a:t>
            </a:r>
            <a:endParaRPr/>
          </a:p>
        </p:txBody>
      </p:sp>
      <p:grpSp>
        <p:nvGrpSpPr>
          <p:cNvPr id="3781" name="Google Shape;3781;p58"/>
          <p:cNvGrpSpPr/>
          <p:nvPr/>
        </p:nvGrpSpPr>
        <p:grpSpPr>
          <a:xfrm>
            <a:off x="2595620" y="3289263"/>
            <a:ext cx="1212850" cy="719138"/>
            <a:chOff x="1324" y="1931"/>
            <a:chExt cx="764" cy="453"/>
          </a:xfrm>
        </p:grpSpPr>
        <p:cxnSp>
          <p:nvCxnSpPr>
            <p:cNvPr id="3782" name="Google Shape;3782;p58"/>
            <p:cNvCxnSpPr/>
            <p:nvPr/>
          </p:nvCxnSpPr>
          <p:spPr>
            <a:xfrm flipH="1">
              <a:off x="1514" y="2031"/>
              <a:ext cx="574" cy="132"/>
            </a:xfrm>
            <a:prstGeom prst="straightConnector1">
              <a:avLst/>
            </a:prstGeom>
            <a:noFill/>
            <a:ln cap="flat" cmpd="sng" w="28575">
              <a:solidFill>
                <a:srgbClr val="008000"/>
              </a:solidFill>
              <a:prstDash val="solid"/>
              <a:round/>
              <a:headEnd len="med" w="med" type="none"/>
              <a:tailEnd len="med" w="med" type="triangle"/>
            </a:ln>
          </p:spPr>
        </p:cxnSp>
        <p:sp>
          <p:nvSpPr>
            <p:cNvPr id="3783" name="Google Shape;3783;p58"/>
            <p:cNvSpPr txBox="1"/>
            <p:nvPr/>
          </p:nvSpPr>
          <p:spPr>
            <a:xfrm>
              <a:off x="1456" y="1931"/>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sp>
          <p:nvSpPr>
            <p:cNvPr id="3784" name="Google Shape;3784;p58"/>
            <p:cNvSpPr txBox="1"/>
            <p:nvPr/>
          </p:nvSpPr>
          <p:spPr>
            <a:xfrm>
              <a:off x="1383" y="2040"/>
              <a:ext cx="21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3785" name="Google Shape;3785;p58"/>
            <p:cNvSpPr txBox="1"/>
            <p:nvPr/>
          </p:nvSpPr>
          <p:spPr>
            <a:xfrm>
              <a:off x="1324" y="2172"/>
              <a:ext cx="32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grpSp>
        <p:nvGrpSpPr>
          <p:cNvPr id="3786" name="Google Shape;3786;p58"/>
          <p:cNvGrpSpPr/>
          <p:nvPr/>
        </p:nvGrpSpPr>
        <p:grpSpPr>
          <a:xfrm>
            <a:off x="2219383" y="3195601"/>
            <a:ext cx="122237" cy="1033462"/>
            <a:chOff x="3651" y="1878"/>
            <a:chExt cx="78" cy="963"/>
          </a:xfrm>
        </p:grpSpPr>
        <p:cxnSp>
          <p:nvCxnSpPr>
            <p:cNvPr id="3787" name="Google Shape;3787;p58"/>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3788" name="Google Shape;3788;p58"/>
            <p:cNvCxnSpPr/>
            <p:nvPr/>
          </p:nvCxnSpPr>
          <p:spPr>
            <a:xfrm rot="10800000">
              <a:off x="3651" y="1878"/>
              <a:ext cx="75" cy="0"/>
            </a:xfrm>
            <a:prstGeom prst="straightConnector1">
              <a:avLst/>
            </a:prstGeom>
            <a:noFill/>
            <a:ln cap="flat" cmpd="sng" w="28575">
              <a:solidFill>
                <a:srgbClr val="000000"/>
              </a:solidFill>
              <a:prstDash val="solid"/>
              <a:round/>
              <a:headEnd len="med" w="med" type="none"/>
              <a:tailEnd len="med" w="med" type="none"/>
            </a:ln>
          </p:spPr>
        </p:cxnSp>
        <p:cxnSp>
          <p:nvCxnSpPr>
            <p:cNvPr id="3789" name="Google Shape;3789;p58"/>
            <p:cNvCxnSpPr/>
            <p:nvPr/>
          </p:nvCxnSpPr>
          <p:spPr>
            <a:xfrm rot="10800000">
              <a:off x="3651" y="2841"/>
              <a:ext cx="75" cy="0"/>
            </a:xfrm>
            <a:prstGeom prst="straightConnector1">
              <a:avLst/>
            </a:prstGeom>
            <a:noFill/>
            <a:ln cap="flat" cmpd="sng" w="28575">
              <a:solidFill>
                <a:srgbClr val="000000"/>
              </a:solidFill>
              <a:prstDash val="solid"/>
              <a:round/>
              <a:headEnd len="med" w="med" type="none"/>
              <a:tailEnd len="med" w="med" type="none"/>
            </a:ln>
          </p:spPr>
        </p:cxnSp>
      </p:grpSp>
      <p:grpSp>
        <p:nvGrpSpPr>
          <p:cNvPr id="3790" name="Google Shape;3790;p58"/>
          <p:cNvGrpSpPr/>
          <p:nvPr/>
        </p:nvGrpSpPr>
        <p:grpSpPr>
          <a:xfrm>
            <a:off x="2347970" y="4184613"/>
            <a:ext cx="1471613" cy="504825"/>
            <a:chOff x="855" y="1710"/>
            <a:chExt cx="927" cy="318"/>
          </a:xfrm>
        </p:grpSpPr>
        <p:cxnSp>
          <p:nvCxnSpPr>
            <p:cNvPr id="3791" name="Google Shape;3791;p58"/>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3792" name="Google Shape;3792;p58"/>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3793" name="Google Shape;3793;p58"/>
          <p:cNvGrpSpPr/>
          <p:nvPr/>
        </p:nvGrpSpPr>
        <p:grpSpPr>
          <a:xfrm>
            <a:off x="916045" y="3808376"/>
            <a:ext cx="1377950" cy="731837"/>
            <a:chOff x="2802" y="2348"/>
            <a:chExt cx="868" cy="461"/>
          </a:xfrm>
        </p:grpSpPr>
        <p:pic>
          <p:nvPicPr>
            <p:cNvPr descr="alarm_clock_ringing" id="3794" name="Google Shape;3794;p58"/>
            <p:cNvPicPr preferRelativeResize="0"/>
            <p:nvPr/>
          </p:nvPicPr>
          <p:blipFill rotWithShape="1">
            <a:blip r:embed="rId3">
              <a:alphaModFix/>
            </a:blip>
            <a:srcRect b="0" l="0" r="0" t="0"/>
            <a:stretch/>
          </p:blipFill>
          <p:spPr>
            <a:xfrm>
              <a:off x="2846" y="2348"/>
              <a:ext cx="275" cy="303"/>
            </a:xfrm>
            <a:prstGeom prst="rect">
              <a:avLst/>
            </a:prstGeom>
            <a:noFill/>
            <a:ln>
              <a:noFill/>
            </a:ln>
          </p:spPr>
        </p:pic>
        <p:sp>
          <p:nvSpPr>
            <p:cNvPr id="3795" name="Google Shape;3795;p58"/>
            <p:cNvSpPr txBox="1"/>
            <p:nvPr/>
          </p:nvSpPr>
          <p:spPr>
            <a:xfrm>
              <a:off x="2802" y="2491"/>
              <a:ext cx="868" cy="318"/>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timeout</a:t>
              </a:r>
              <a:endParaRPr/>
            </a:p>
            <a:p>
              <a:pPr indent="0" lvl="0" marL="0" marR="0" rtl="0" algn="r">
                <a:lnSpc>
                  <a:spcPct val="75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resend pkt1</a:t>
              </a:r>
              <a:endParaRPr/>
            </a:p>
          </p:txBody>
        </p:sp>
      </p:grpSp>
      <p:sp>
        <p:nvSpPr>
          <p:cNvPr id="3796" name="Google Shape;3796;p58"/>
          <p:cNvSpPr txBox="1"/>
          <p:nvPr/>
        </p:nvSpPr>
        <p:spPr>
          <a:xfrm>
            <a:off x="9492400" y="2644738"/>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3797" name="Google Shape;3797;p58"/>
          <p:cNvSpPr txBox="1"/>
          <p:nvPr/>
        </p:nvSpPr>
        <p:spPr>
          <a:xfrm>
            <a:off x="9492400" y="2870163"/>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3798" name="Google Shape;3798;p58"/>
          <p:cNvSpPr txBox="1"/>
          <p:nvPr/>
        </p:nvSpPr>
        <p:spPr>
          <a:xfrm>
            <a:off x="9432963" y="4166394"/>
            <a:ext cx="15684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(detect duplicate)</a:t>
            </a:r>
            <a:endParaRPr/>
          </a:p>
        </p:txBody>
      </p:sp>
      <p:grpSp>
        <p:nvGrpSpPr>
          <p:cNvPr id="3799" name="Google Shape;3799;p58"/>
          <p:cNvGrpSpPr/>
          <p:nvPr/>
        </p:nvGrpSpPr>
        <p:grpSpPr>
          <a:xfrm>
            <a:off x="8023963" y="2517742"/>
            <a:ext cx="1471612" cy="404813"/>
            <a:chOff x="855" y="1773"/>
            <a:chExt cx="927" cy="255"/>
          </a:xfrm>
        </p:grpSpPr>
        <p:cxnSp>
          <p:nvCxnSpPr>
            <p:cNvPr id="3800" name="Google Shape;3800;p58"/>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3801" name="Google Shape;3801;p58"/>
            <p:cNvSpPr txBox="1"/>
            <p:nvPr/>
          </p:nvSpPr>
          <p:spPr>
            <a:xfrm>
              <a:off x="1094" y="1773"/>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sp>
        <p:nvSpPr>
          <p:cNvPr id="3802" name="Google Shape;3802;p58"/>
          <p:cNvSpPr txBox="1"/>
          <p:nvPr/>
        </p:nvSpPr>
        <p:spPr>
          <a:xfrm>
            <a:off x="7036538" y="1036601"/>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3803" name="Google Shape;3803;p58"/>
          <p:cNvSpPr txBox="1"/>
          <p:nvPr/>
        </p:nvSpPr>
        <p:spPr>
          <a:xfrm>
            <a:off x="9476525" y="1031838"/>
            <a:ext cx="107156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3804" name="Google Shape;3804;p58"/>
          <p:cNvSpPr txBox="1"/>
          <p:nvPr/>
        </p:nvSpPr>
        <p:spPr>
          <a:xfrm>
            <a:off x="9500155" y="3886501"/>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3805" name="Google Shape;3805;p58"/>
          <p:cNvSpPr txBox="1"/>
          <p:nvPr/>
        </p:nvSpPr>
        <p:spPr>
          <a:xfrm>
            <a:off x="9482875" y="1970051"/>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3806" name="Google Shape;3806;p58"/>
          <p:cNvSpPr txBox="1"/>
          <p:nvPr/>
        </p:nvSpPr>
        <p:spPr>
          <a:xfrm>
            <a:off x="6965100" y="2219288"/>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3807" name="Google Shape;3807;p58"/>
          <p:cNvSpPr txBox="1"/>
          <p:nvPr/>
        </p:nvSpPr>
        <p:spPr>
          <a:xfrm>
            <a:off x="6809525" y="2438363"/>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3808" name="Google Shape;3808;p58"/>
          <p:cNvSpPr txBox="1"/>
          <p:nvPr/>
        </p:nvSpPr>
        <p:spPr>
          <a:xfrm>
            <a:off x="6798413" y="1476338"/>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809" name="Google Shape;3809;p58"/>
          <p:cNvSpPr txBox="1"/>
          <p:nvPr/>
        </p:nvSpPr>
        <p:spPr>
          <a:xfrm>
            <a:off x="9474938" y="1758913"/>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3810" name="Google Shape;3810;p58"/>
          <p:cNvGrpSpPr/>
          <p:nvPr/>
        </p:nvGrpSpPr>
        <p:grpSpPr>
          <a:xfrm>
            <a:off x="8014438" y="1658899"/>
            <a:ext cx="1471612" cy="400050"/>
            <a:chOff x="850" y="1230"/>
            <a:chExt cx="927" cy="252"/>
          </a:xfrm>
        </p:grpSpPr>
        <p:cxnSp>
          <p:nvCxnSpPr>
            <p:cNvPr id="3811" name="Google Shape;3811;p58"/>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3812" name="Google Shape;3812;p58"/>
            <p:cNvSpPr txBox="1"/>
            <p:nvPr/>
          </p:nvSpPr>
          <p:spPr>
            <a:xfrm>
              <a:off x="1082" y="1230"/>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813" name="Google Shape;3813;p58"/>
          <p:cNvGrpSpPr/>
          <p:nvPr/>
        </p:nvGrpSpPr>
        <p:grpSpPr>
          <a:xfrm>
            <a:off x="8000150" y="2131982"/>
            <a:ext cx="1471613" cy="369888"/>
            <a:chOff x="841" y="1528"/>
            <a:chExt cx="927" cy="233"/>
          </a:xfrm>
        </p:grpSpPr>
        <p:cxnSp>
          <p:nvCxnSpPr>
            <p:cNvPr id="3814" name="Google Shape;3814;p58"/>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3815" name="Google Shape;3815;p58"/>
            <p:cNvSpPr txBox="1"/>
            <p:nvPr/>
          </p:nvSpPr>
          <p:spPr>
            <a:xfrm>
              <a:off x="1089" y="1528"/>
              <a:ext cx="386"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3816" name="Google Shape;3816;p58"/>
          <p:cNvSpPr txBox="1"/>
          <p:nvPr/>
        </p:nvSpPr>
        <p:spPr>
          <a:xfrm>
            <a:off x="6965100" y="6200644"/>
            <a:ext cx="38671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(d) premature timeout/ delayed ACK</a:t>
            </a:r>
            <a:endParaRPr/>
          </a:p>
        </p:txBody>
      </p:sp>
      <p:grpSp>
        <p:nvGrpSpPr>
          <p:cNvPr id="3817" name="Google Shape;3817;p58"/>
          <p:cNvGrpSpPr/>
          <p:nvPr/>
        </p:nvGrpSpPr>
        <p:grpSpPr>
          <a:xfrm>
            <a:off x="7903313" y="2724113"/>
            <a:ext cx="122237" cy="1033463"/>
            <a:chOff x="3651" y="1878"/>
            <a:chExt cx="78" cy="963"/>
          </a:xfrm>
        </p:grpSpPr>
        <p:cxnSp>
          <p:nvCxnSpPr>
            <p:cNvPr id="3818" name="Google Shape;3818;p58"/>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3819" name="Google Shape;3819;p58"/>
            <p:cNvCxnSpPr/>
            <p:nvPr/>
          </p:nvCxnSpPr>
          <p:spPr>
            <a:xfrm rot="10800000">
              <a:off x="3651" y="1878"/>
              <a:ext cx="75" cy="0"/>
            </a:xfrm>
            <a:prstGeom prst="straightConnector1">
              <a:avLst/>
            </a:prstGeom>
            <a:noFill/>
            <a:ln cap="flat" cmpd="sng" w="28575">
              <a:solidFill>
                <a:srgbClr val="000000"/>
              </a:solidFill>
              <a:prstDash val="solid"/>
              <a:round/>
              <a:headEnd len="med" w="med" type="none"/>
              <a:tailEnd len="med" w="med" type="none"/>
            </a:ln>
          </p:spPr>
        </p:cxnSp>
        <p:cxnSp>
          <p:nvCxnSpPr>
            <p:cNvPr id="3820" name="Google Shape;3820;p58"/>
            <p:cNvCxnSpPr/>
            <p:nvPr/>
          </p:nvCxnSpPr>
          <p:spPr>
            <a:xfrm rot="10800000">
              <a:off x="3651" y="2841"/>
              <a:ext cx="75" cy="0"/>
            </a:xfrm>
            <a:prstGeom prst="straightConnector1">
              <a:avLst/>
            </a:prstGeom>
            <a:noFill/>
            <a:ln cap="flat" cmpd="sng" w="28575">
              <a:solidFill>
                <a:srgbClr val="000000"/>
              </a:solidFill>
              <a:prstDash val="solid"/>
              <a:round/>
              <a:headEnd len="med" w="med" type="none"/>
              <a:tailEnd len="med" w="med" type="none"/>
            </a:ln>
          </p:spPr>
        </p:cxnSp>
      </p:grpSp>
      <p:grpSp>
        <p:nvGrpSpPr>
          <p:cNvPr id="3821" name="Google Shape;3821;p58"/>
          <p:cNvGrpSpPr/>
          <p:nvPr/>
        </p:nvGrpSpPr>
        <p:grpSpPr>
          <a:xfrm>
            <a:off x="8031900" y="3854417"/>
            <a:ext cx="1471613" cy="363538"/>
            <a:chOff x="855" y="1799"/>
            <a:chExt cx="927" cy="229"/>
          </a:xfrm>
        </p:grpSpPr>
        <p:cxnSp>
          <p:nvCxnSpPr>
            <p:cNvPr id="3822" name="Google Shape;3822;p58"/>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3823" name="Google Shape;3823;p58"/>
            <p:cNvSpPr txBox="1"/>
            <p:nvPr/>
          </p:nvSpPr>
          <p:spPr>
            <a:xfrm>
              <a:off x="1121" y="1799"/>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3824" name="Google Shape;3824;p58"/>
          <p:cNvGrpSpPr/>
          <p:nvPr/>
        </p:nvGrpSpPr>
        <p:grpSpPr>
          <a:xfrm>
            <a:off x="6599975" y="3336888"/>
            <a:ext cx="1377950" cy="731838"/>
            <a:chOff x="2802" y="2348"/>
            <a:chExt cx="868" cy="461"/>
          </a:xfrm>
        </p:grpSpPr>
        <p:pic>
          <p:nvPicPr>
            <p:cNvPr descr="alarm_clock_ringing" id="3825" name="Google Shape;3825;p58"/>
            <p:cNvPicPr preferRelativeResize="0"/>
            <p:nvPr/>
          </p:nvPicPr>
          <p:blipFill rotWithShape="1">
            <a:blip r:embed="rId3">
              <a:alphaModFix/>
            </a:blip>
            <a:srcRect b="0" l="0" r="0" t="0"/>
            <a:stretch/>
          </p:blipFill>
          <p:spPr>
            <a:xfrm>
              <a:off x="2846" y="2348"/>
              <a:ext cx="275" cy="303"/>
            </a:xfrm>
            <a:prstGeom prst="rect">
              <a:avLst/>
            </a:prstGeom>
            <a:noFill/>
            <a:ln>
              <a:noFill/>
            </a:ln>
          </p:spPr>
        </p:pic>
        <p:sp>
          <p:nvSpPr>
            <p:cNvPr id="3826" name="Google Shape;3826;p58"/>
            <p:cNvSpPr txBox="1"/>
            <p:nvPr/>
          </p:nvSpPr>
          <p:spPr>
            <a:xfrm>
              <a:off x="2802" y="2491"/>
              <a:ext cx="868" cy="318"/>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timeout</a:t>
              </a:r>
              <a:endParaRPr/>
            </a:p>
            <a:p>
              <a:pPr indent="0" lvl="0" marL="0" marR="0" rtl="0" algn="r">
                <a:lnSpc>
                  <a:spcPct val="75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resend pkt1</a:t>
              </a:r>
              <a:endParaRPr/>
            </a:p>
          </p:txBody>
        </p:sp>
      </p:grpSp>
      <p:grpSp>
        <p:nvGrpSpPr>
          <p:cNvPr id="3827" name="Google Shape;3827;p58"/>
          <p:cNvGrpSpPr/>
          <p:nvPr/>
        </p:nvGrpSpPr>
        <p:grpSpPr>
          <a:xfrm>
            <a:off x="8580889" y="2976526"/>
            <a:ext cx="911514" cy="752475"/>
            <a:chOff x="4186" y="1705"/>
            <a:chExt cx="598" cy="453"/>
          </a:xfrm>
        </p:grpSpPr>
        <p:cxnSp>
          <p:nvCxnSpPr>
            <p:cNvPr id="3828" name="Google Shape;3828;p58"/>
            <p:cNvCxnSpPr/>
            <p:nvPr/>
          </p:nvCxnSpPr>
          <p:spPr>
            <a:xfrm flipH="1">
              <a:off x="4343" y="1705"/>
              <a:ext cx="441" cy="329"/>
            </a:xfrm>
            <a:prstGeom prst="straightConnector1">
              <a:avLst/>
            </a:prstGeom>
            <a:noFill/>
            <a:ln cap="flat" cmpd="sng" w="28575">
              <a:solidFill>
                <a:srgbClr val="008000"/>
              </a:solidFill>
              <a:prstDash val="solid"/>
              <a:round/>
              <a:headEnd len="med" w="med" type="none"/>
              <a:tailEnd len="med" w="med" type="none"/>
            </a:ln>
          </p:spPr>
        </p:cxnSp>
        <p:cxnSp>
          <p:nvCxnSpPr>
            <p:cNvPr id="3829" name="Google Shape;3829;p58"/>
            <p:cNvCxnSpPr/>
            <p:nvPr/>
          </p:nvCxnSpPr>
          <p:spPr>
            <a:xfrm flipH="1">
              <a:off x="4186" y="2047"/>
              <a:ext cx="146" cy="111"/>
            </a:xfrm>
            <a:prstGeom prst="straightConnector1">
              <a:avLst/>
            </a:prstGeom>
            <a:noFill/>
            <a:ln cap="flat" cmpd="sng" w="28575">
              <a:solidFill>
                <a:srgbClr val="008000"/>
              </a:solidFill>
              <a:prstDash val="dot"/>
              <a:round/>
              <a:headEnd len="med" w="med" type="none"/>
              <a:tailEnd len="med" w="med" type="none"/>
            </a:ln>
          </p:spPr>
        </p:cxnSp>
        <p:sp>
          <p:nvSpPr>
            <p:cNvPr id="3830" name="Google Shape;3830;p58"/>
            <p:cNvSpPr txBox="1"/>
            <p:nvPr/>
          </p:nvSpPr>
          <p:spPr>
            <a:xfrm>
              <a:off x="4223" y="1846"/>
              <a:ext cx="460" cy="204"/>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cxnSp>
        <p:nvCxnSpPr>
          <p:cNvPr id="3831" name="Google Shape;3831;p58"/>
          <p:cNvCxnSpPr/>
          <p:nvPr/>
        </p:nvCxnSpPr>
        <p:spPr>
          <a:xfrm flipH="1">
            <a:off x="7922363" y="3521038"/>
            <a:ext cx="909637" cy="739775"/>
          </a:xfrm>
          <a:prstGeom prst="straightConnector1">
            <a:avLst/>
          </a:prstGeom>
          <a:noFill/>
          <a:ln cap="flat" cmpd="sng" w="28575">
            <a:solidFill>
              <a:srgbClr val="008000"/>
            </a:solidFill>
            <a:prstDash val="solid"/>
            <a:round/>
            <a:headEnd len="med" w="med" type="none"/>
            <a:tailEnd len="med" w="med" type="triangle"/>
          </a:ln>
        </p:spPr>
      </p:cxnSp>
      <p:grpSp>
        <p:nvGrpSpPr>
          <p:cNvPr id="3832" name="Google Shape;3832;p58"/>
          <p:cNvGrpSpPr/>
          <p:nvPr/>
        </p:nvGrpSpPr>
        <p:grpSpPr>
          <a:xfrm>
            <a:off x="8012670" y="4309460"/>
            <a:ext cx="2667702" cy="714018"/>
            <a:chOff x="8162097" y="4679496"/>
            <a:chExt cx="2667702" cy="714018"/>
          </a:xfrm>
        </p:grpSpPr>
        <p:grpSp>
          <p:nvGrpSpPr>
            <p:cNvPr id="3833" name="Google Shape;3833;p58"/>
            <p:cNvGrpSpPr/>
            <p:nvPr/>
          </p:nvGrpSpPr>
          <p:grpSpPr>
            <a:xfrm>
              <a:off x="8162097" y="4974413"/>
              <a:ext cx="1471613" cy="419101"/>
              <a:chOff x="2229" y="3467"/>
              <a:chExt cx="927" cy="264"/>
            </a:xfrm>
          </p:grpSpPr>
          <p:cxnSp>
            <p:nvCxnSpPr>
              <p:cNvPr id="3834" name="Google Shape;3834;p58"/>
              <p:cNvCxnSpPr/>
              <p:nvPr/>
            </p:nvCxnSpPr>
            <p:spPr>
              <a:xfrm flipH="1">
                <a:off x="2229" y="3467"/>
                <a:ext cx="927" cy="225"/>
              </a:xfrm>
              <a:prstGeom prst="straightConnector1">
                <a:avLst/>
              </a:prstGeom>
              <a:noFill/>
              <a:ln cap="flat" cmpd="sng" w="28575">
                <a:solidFill>
                  <a:srgbClr val="008000"/>
                </a:solidFill>
                <a:prstDash val="solid"/>
                <a:round/>
                <a:headEnd len="med" w="med" type="none"/>
                <a:tailEnd len="med" w="med" type="triangle"/>
              </a:ln>
            </p:spPr>
          </p:cxnSp>
          <p:sp>
            <p:nvSpPr>
              <p:cNvPr id="3835" name="Google Shape;3835;p58"/>
              <p:cNvSpPr txBox="1"/>
              <p:nvPr/>
            </p:nvSpPr>
            <p:spPr>
              <a:xfrm>
                <a:off x="2336" y="3519"/>
                <a:ext cx="386"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sp>
          <p:nvSpPr>
            <p:cNvPr id="3836" name="Google Shape;3836;p58"/>
            <p:cNvSpPr txBox="1"/>
            <p:nvPr/>
          </p:nvSpPr>
          <p:spPr>
            <a:xfrm>
              <a:off x="9632824" y="4679496"/>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grpSp>
      <p:grpSp>
        <p:nvGrpSpPr>
          <p:cNvPr id="3837" name="Google Shape;3837;p58"/>
          <p:cNvGrpSpPr/>
          <p:nvPr/>
        </p:nvGrpSpPr>
        <p:grpSpPr>
          <a:xfrm>
            <a:off x="6804583" y="4153524"/>
            <a:ext cx="3833816" cy="1104906"/>
            <a:chOff x="6954010" y="4523560"/>
            <a:chExt cx="3833816" cy="1104906"/>
          </a:xfrm>
        </p:grpSpPr>
        <p:grpSp>
          <p:nvGrpSpPr>
            <p:cNvPr id="3838" name="Google Shape;3838;p58"/>
            <p:cNvGrpSpPr/>
            <p:nvPr/>
          </p:nvGrpSpPr>
          <p:grpSpPr>
            <a:xfrm>
              <a:off x="6954010" y="4523560"/>
              <a:ext cx="1174750" cy="609601"/>
              <a:chOff x="2830" y="3285"/>
              <a:chExt cx="740" cy="384"/>
            </a:xfrm>
          </p:grpSpPr>
          <p:sp>
            <p:nvSpPr>
              <p:cNvPr id="3839" name="Google Shape;3839;p58"/>
              <p:cNvSpPr txBox="1"/>
              <p:nvPr/>
            </p:nvSpPr>
            <p:spPr>
              <a:xfrm>
                <a:off x="2830" y="3438"/>
                <a:ext cx="740"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3840" name="Google Shape;3840;p58"/>
              <p:cNvSpPr txBox="1"/>
              <p:nvPr/>
            </p:nvSpPr>
            <p:spPr>
              <a:xfrm>
                <a:off x="2916" y="3285"/>
                <a:ext cx="644"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grpSp>
        <p:grpSp>
          <p:nvGrpSpPr>
            <p:cNvPr id="3841" name="Google Shape;3841;p58"/>
            <p:cNvGrpSpPr/>
            <p:nvPr/>
          </p:nvGrpSpPr>
          <p:grpSpPr>
            <a:xfrm>
              <a:off x="8073197" y="4747083"/>
              <a:ext cx="1547813" cy="446403"/>
              <a:chOff x="850" y="1229"/>
              <a:chExt cx="927" cy="253"/>
            </a:xfrm>
          </p:grpSpPr>
          <p:cxnSp>
            <p:nvCxnSpPr>
              <p:cNvPr id="3842" name="Google Shape;3842;p58"/>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3843" name="Google Shape;3843;p58"/>
              <p:cNvSpPr txBox="1"/>
              <p:nvPr/>
            </p:nvSpPr>
            <p:spPr>
              <a:xfrm>
                <a:off x="1014" y="1229"/>
                <a:ext cx="340" cy="19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3844" name="Google Shape;3844;p58"/>
            <p:cNvGrpSpPr/>
            <p:nvPr/>
          </p:nvGrpSpPr>
          <p:grpSpPr>
            <a:xfrm>
              <a:off x="9582913" y="5037915"/>
              <a:ext cx="1204913" cy="590551"/>
              <a:chOff x="4762" y="2985"/>
              <a:chExt cx="759" cy="372"/>
            </a:xfrm>
          </p:grpSpPr>
          <p:sp>
            <p:nvSpPr>
              <p:cNvPr id="3845" name="Google Shape;3845;p58"/>
              <p:cNvSpPr txBox="1"/>
              <p:nvPr/>
            </p:nvSpPr>
            <p:spPr>
              <a:xfrm>
                <a:off x="4762" y="2985"/>
                <a:ext cx="630"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3846" name="Google Shape;3846;p58"/>
              <p:cNvSpPr txBox="1"/>
              <p:nvPr/>
            </p:nvSpPr>
            <p:spPr>
              <a:xfrm>
                <a:off x="4767" y="3126"/>
                <a:ext cx="754"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grpSp>
      </p:grpSp>
      <p:grpSp>
        <p:nvGrpSpPr>
          <p:cNvPr id="3847" name="Google Shape;3847;p58"/>
          <p:cNvGrpSpPr/>
          <p:nvPr/>
        </p:nvGrpSpPr>
        <p:grpSpPr>
          <a:xfrm>
            <a:off x="8034892" y="4967903"/>
            <a:ext cx="1457325" cy="488950"/>
            <a:chOff x="3839" y="2850"/>
            <a:chExt cx="918" cy="308"/>
          </a:xfrm>
        </p:grpSpPr>
        <p:cxnSp>
          <p:nvCxnSpPr>
            <p:cNvPr id="3848" name="Google Shape;3848;p58"/>
            <p:cNvCxnSpPr/>
            <p:nvPr/>
          </p:nvCxnSpPr>
          <p:spPr>
            <a:xfrm flipH="1">
              <a:off x="3839" y="2850"/>
              <a:ext cx="918" cy="308"/>
            </a:xfrm>
            <a:prstGeom prst="straightConnector1">
              <a:avLst/>
            </a:prstGeom>
            <a:noFill/>
            <a:ln cap="flat" cmpd="sng" w="28575">
              <a:solidFill>
                <a:srgbClr val="008000"/>
              </a:solidFill>
              <a:prstDash val="solid"/>
              <a:round/>
              <a:headEnd len="med" w="med" type="none"/>
              <a:tailEnd len="med" w="med" type="triangle"/>
            </a:ln>
          </p:spPr>
        </p:cxnSp>
        <p:sp>
          <p:nvSpPr>
            <p:cNvPr id="3849" name="Google Shape;3849;p58"/>
            <p:cNvSpPr txBox="1"/>
            <p:nvPr/>
          </p:nvSpPr>
          <p:spPr>
            <a:xfrm>
              <a:off x="4104" y="2873"/>
              <a:ext cx="386"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3850" name="Google Shape;3850;p58"/>
          <p:cNvGrpSpPr/>
          <p:nvPr/>
        </p:nvGrpSpPr>
        <p:grpSpPr>
          <a:xfrm>
            <a:off x="8026461" y="5469606"/>
            <a:ext cx="1471612" cy="363538"/>
            <a:chOff x="855" y="1799"/>
            <a:chExt cx="927" cy="229"/>
          </a:xfrm>
        </p:grpSpPr>
        <p:cxnSp>
          <p:nvCxnSpPr>
            <p:cNvPr id="3851" name="Google Shape;3851;p58"/>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3852" name="Google Shape;3852;p58"/>
            <p:cNvSpPr txBox="1"/>
            <p:nvPr/>
          </p:nvSpPr>
          <p:spPr>
            <a:xfrm>
              <a:off x="1129" y="1799"/>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3853" name="Google Shape;3853;p58"/>
          <p:cNvGrpSpPr/>
          <p:nvPr/>
        </p:nvGrpSpPr>
        <p:grpSpPr>
          <a:xfrm>
            <a:off x="6993934" y="4806637"/>
            <a:ext cx="1022350" cy="553607"/>
            <a:chOff x="6289259" y="5452590"/>
            <a:chExt cx="1022350" cy="553607"/>
          </a:xfrm>
        </p:grpSpPr>
        <p:sp>
          <p:nvSpPr>
            <p:cNvPr id="3854" name="Google Shape;3854;p58"/>
            <p:cNvSpPr txBox="1"/>
            <p:nvPr/>
          </p:nvSpPr>
          <p:spPr>
            <a:xfrm>
              <a:off x="6339123" y="5698420"/>
              <a:ext cx="819455"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(ignore)</a:t>
              </a:r>
              <a:endParaRPr/>
            </a:p>
          </p:txBody>
        </p:sp>
        <p:sp>
          <p:nvSpPr>
            <p:cNvPr id="3855" name="Google Shape;3855;p58"/>
            <p:cNvSpPr txBox="1"/>
            <p:nvPr/>
          </p:nvSpPr>
          <p:spPr>
            <a:xfrm>
              <a:off x="6289259" y="5452590"/>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grpSp>
      <p:sp>
        <p:nvSpPr>
          <p:cNvPr id="3856" name="Google Shape;3856;p5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5"/>
                                        </p:tgtEl>
                                        <p:attrNameLst>
                                          <p:attrName>style.visibility</p:attrName>
                                        </p:attrNameLst>
                                      </p:cBhvr>
                                      <p:to>
                                        <p:strVal val="visible"/>
                                      </p:to>
                                    </p:set>
                                    <p:animEffect filter="fade" transition="in">
                                      <p:cBhvr>
                                        <p:cTn dur="500"/>
                                        <p:tgtEl>
                                          <p:spTgt spid="376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764">
                                            <p:txEl>
                                              <p:pRg end="0" st="0"/>
                                            </p:txEl>
                                          </p:spTgt>
                                        </p:tgtEl>
                                        <p:attrNameLst>
                                          <p:attrName>style.visibility</p:attrName>
                                        </p:attrNameLst>
                                      </p:cBhvr>
                                      <p:to>
                                        <p:strVal val="visible"/>
                                      </p:to>
                                    </p:set>
                                    <p:animEffect filter="fade" transition="in">
                                      <p:cBhvr>
                                        <p:cTn dur="500"/>
                                        <p:tgtEl>
                                          <p:spTgt spid="3764">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756"/>
                                        </p:tgtEl>
                                        <p:attrNameLst>
                                          <p:attrName>style.visibility</p:attrName>
                                        </p:attrNameLst>
                                      </p:cBhvr>
                                      <p:to>
                                        <p:strVal val="visible"/>
                                      </p:to>
                                    </p:set>
                                    <p:animEffect filter="fade" transition="in">
                                      <p:cBhvr>
                                        <p:cTn dur="500"/>
                                        <p:tgtEl>
                                          <p:spTgt spid="375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774"/>
                                        </p:tgtEl>
                                        <p:attrNameLst>
                                          <p:attrName>style.visibility</p:attrName>
                                        </p:attrNameLst>
                                      </p:cBhvr>
                                      <p:to>
                                        <p:strVal val="visible"/>
                                      </p:to>
                                    </p:set>
                                    <p:animEffect filter="fade" transition="in">
                                      <p:cBhvr>
                                        <p:cTn dur="500"/>
                                        <p:tgtEl>
                                          <p:spTgt spid="377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759"/>
                                        </p:tgtEl>
                                        <p:attrNameLst>
                                          <p:attrName>style.visibility</p:attrName>
                                        </p:attrNameLst>
                                      </p:cBhvr>
                                      <p:to>
                                        <p:strVal val="visible"/>
                                      </p:to>
                                    </p:set>
                                    <p:animEffect filter="fade" transition="in">
                                      <p:cBhvr>
                                        <p:cTn dur="500"/>
                                        <p:tgtEl>
                                          <p:spTgt spid="3759"/>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761"/>
                                        </p:tgtEl>
                                        <p:attrNameLst>
                                          <p:attrName>style.visibility</p:attrName>
                                        </p:attrNameLst>
                                      </p:cBhvr>
                                      <p:to>
                                        <p:strVal val="visible"/>
                                      </p:to>
                                    </p:set>
                                    <p:animEffect filter="fade" transition="in">
                                      <p:cBhvr>
                                        <p:cTn dur="500"/>
                                        <p:tgtEl>
                                          <p:spTgt spid="3761"/>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749"/>
                                        </p:tgtEl>
                                        <p:attrNameLst>
                                          <p:attrName>style.visibility</p:attrName>
                                        </p:attrNameLst>
                                      </p:cBhvr>
                                      <p:to>
                                        <p:strVal val="visible"/>
                                      </p:to>
                                    </p:set>
                                    <p:animEffect filter="fade" transition="in">
                                      <p:cBhvr>
                                        <p:cTn dur="500"/>
                                        <p:tgtEl>
                                          <p:spTgt spid="3749"/>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746">
                                            <p:txEl>
                                              <p:pRg end="0" st="0"/>
                                            </p:txEl>
                                          </p:spTgt>
                                        </p:tgtEl>
                                        <p:attrNameLst>
                                          <p:attrName>style.visibility</p:attrName>
                                        </p:attrNameLst>
                                      </p:cBhvr>
                                      <p:to>
                                        <p:strVal val="visible"/>
                                      </p:to>
                                    </p:set>
                                    <p:animEffect filter="fade" transition="in">
                                      <p:cBhvr>
                                        <p:cTn dur="500"/>
                                        <p:tgtEl>
                                          <p:spTgt spid="3746">
                                            <p:txEl>
                                              <p:pRg end="0" st="0"/>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747"/>
                                        </p:tgtEl>
                                        <p:attrNameLst>
                                          <p:attrName>style.visibility</p:attrName>
                                        </p:attrNameLst>
                                      </p:cBhvr>
                                      <p:to>
                                        <p:strVal val="visible"/>
                                      </p:to>
                                    </p:set>
                                    <p:animEffect filter="fade" transition="in">
                                      <p:cBhvr>
                                        <p:cTn dur="500"/>
                                        <p:tgtEl>
                                          <p:spTgt spid="3747"/>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3781"/>
                                        </p:tgtEl>
                                        <p:attrNameLst>
                                          <p:attrName>style.visibility</p:attrName>
                                        </p:attrNameLst>
                                      </p:cBhvr>
                                      <p:to>
                                        <p:strVal val="visible"/>
                                      </p:to>
                                    </p:set>
                                    <p:animEffect filter="fade" transition="in">
                                      <p:cBhvr>
                                        <p:cTn dur="500"/>
                                        <p:tgtEl>
                                          <p:spTgt spid="37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86"/>
                                        </p:tgtEl>
                                        <p:attrNameLst>
                                          <p:attrName>style.visibility</p:attrName>
                                        </p:attrNameLst>
                                      </p:cBhvr>
                                      <p:to>
                                        <p:strVal val="visible"/>
                                      </p:to>
                                    </p:set>
                                    <p:animEffect filter="fade" transition="in">
                                      <p:cBhvr>
                                        <p:cTn dur="1000"/>
                                        <p:tgtEl>
                                          <p:spTgt spid="378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793"/>
                                        </p:tgtEl>
                                        <p:attrNameLst>
                                          <p:attrName>style.visibility</p:attrName>
                                        </p:attrNameLst>
                                      </p:cBhvr>
                                      <p:to>
                                        <p:strVal val="visible"/>
                                      </p:to>
                                    </p:set>
                                    <p:animEffect filter="fade" transition="in">
                                      <p:cBhvr>
                                        <p:cTn dur="500"/>
                                        <p:tgtEl>
                                          <p:spTgt spid="37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0"/>
                                        </p:tgtEl>
                                        <p:attrNameLst>
                                          <p:attrName>style.visibility</p:attrName>
                                        </p:attrNameLst>
                                      </p:cBhvr>
                                      <p:to>
                                        <p:strVal val="visible"/>
                                      </p:to>
                                    </p:set>
                                    <p:animEffect filter="fade" transition="in">
                                      <p:cBhvr>
                                        <p:cTn dur="500"/>
                                        <p:tgtEl>
                                          <p:spTgt spid="379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754">
                                            <p:txEl>
                                              <p:pRg end="0" st="0"/>
                                            </p:txEl>
                                          </p:spTgt>
                                        </p:tgtEl>
                                        <p:attrNameLst>
                                          <p:attrName>style.visibility</p:attrName>
                                        </p:attrNameLst>
                                      </p:cBhvr>
                                      <p:to>
                                        <p:strVal val="visible"/>
                                      </p:to>
                                    </p:set>
                                    <p:animEffect filter="fade" transition="in">
                                      <p:cBhvr>
                                        <p:cTn dur="500"/>
                                        <p:tgtEl>
                                          <p:spTgt spid="375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3748"/>
                                        </p:tgtEl>
                                        <p:attrNameLst>
                                          <p:attrName>style.visibility</p:attrName>
                                        </p:attrNameLst>
                                      </p:cBhvr>
                                      <p:to>
                                        <p:strVal val="visible"/>
                                      </p:to>
                                    </p:set>
                                    <p:animEffect filter="fade" transition="in">
                                      <p:cBhvr>
                                        <p:cTn dur="500"/>
                                        <p:tgtEl>
                                          <p:spTgt spid="374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757"/>
                                        </p:tgtEl>
                                        <p:attrNameLst>
                                          <p:attrName>style.visibility</p:attrName>
                                        </p:attrNameLst>
                                      </p:cBhvr>
                                      <p:to>
                                        <p:strVal val="visible"/>
                                      </p:to>
                                    </p:set>
                                    <p:animEffect filter="fade" transition="in">
                                      <p:cBhvr>
                                        <p:cTn dur="500"/>
                                        <p:tgtEl>
                                          <p:spTgt spid="375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771"/>
                                        </p:tgtEl>
                                        <p:attrNameLst>
                                          <p:attrName>style.visibility</p:attrName>
                                        </p:attrNameLst>
                                      </p:cBhvr>
                                      <p:to>
                                        <p:strVal val="visible"/>
                                      </p:to>
                                    </p:set>
                                    <p:animEffect filter="fade" transition="in">
                                      <p:cBhvr>
                                        <p:cTn dur="500"/>
                                        <p:tgtEl>
                                          <p:spTgt spid="377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762"/>
                                        </p:tgtEl>
                                        <p:attrNameLst>
                                          <p:attrName>style.visibility</p:attrName>
                                        </p:attrNameLst>
                                      </p:cBhvr>
                                      <p:to>
                                        <p:strVal val="visible"/>
                                      </p:to>
                                    </p:set>
                                    <p:animEffect filter="fade" transition="in">
                                      <p:cBhvr>
                                        <p:cTn dur="500"/>
                                        <p:tgtEl>
                                          <p:spTgt spid="3762"/>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760"/>
                                        </p:tgtEl>
                                        <p:attrNameLst>
                                          <p:attrName>style.visibility</p:attrName>
                                        </p:attrNameLst>
                                      </p:cBhvr>
                                      <p:to>
                                        <p:strVal val="visible"/>
                                      </p:to>
                                    </p:set>
                                    <p:animEffect filter="fade" transition="in">
                                      <p:cBhvr>
                                        <p:cTn dur="500"/>
                                        <p:tgtEl>
                                          <p:spTgt spid="3760"/>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768"/>
                                        </p:tgtEl>
                                        <p:attrNameLst>
                                          <p:attrName>style.visibility</p:attrName>
                                        </p:attrNameLst>
                                      </p:cBhvr>
                                      <p:to>
                                        <p:strVal val="visible"/>
                                      </p:to>
                                    </p:set>
                                    <p:animEffect filter="fade" transition="in">
                                      <p:cBhvr>
                                        <p:cTn dur="500"/>
                                        <p:tgtEl>
                                          <p:spTgt spid="3768"/>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755"/>
                                        </p:tgtEl>
                                        <p:attrNameLst>
                                          <p:attrName>style.visibility</p:attrName>
                                        </p:attrNameLst>
                                      </p:cBhvr>
                                      <p:to>
                                        <p:strVal val="visible"/>
                                      </p:to>
                                    </p:set>
                                    <p:animEffect filter="fade" transition="in">
                                      <p:cBhvr>
                                        <p:cTn dur="500"/>
                                        <p:tgtEl>
                                          <p:spTgt spid="3755"/>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758">
                                            <p:txEl>
                                              <p:pRg end="0" st="0"/>
                                            </p:txEl>
                                          </p:spTgt>
                                        </p:tgtEl>
                                        <p:attrNameLst>
                                          <p:attrName>style.visibility</p:attrName>
                                        </p:attrNameLst>
                                      </p:cBhvr>
                                      <p:to>
                                        <p:strVal val="visible"/>
                                      </p:to>
                                    </p:set>
                                    <p:animEffect filter="fade" transition="in">
                                      <p:cBhvr>
                                        <p:cTn dur="500"/>
                                        <p:tgtEl>
                                          <p:spTgt spid="3758">
                                            <p:txEl>
                                              <p:pRg end="0" st="0"/>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3777"/>
                                        </p:tgtEl>
                                        <p:attrNameLst>
                                          <p:attrName>style.visibility</p:attrName>
                                        </p:attrNameLst>
                                      </p:cBhvr>
                                      <p:to>
                                        <p:strVal val="visible"/>
                                      </p:to>
                                    </p:set>
                                    <p:animEffect filter="fade" transition="in">
                                      <p:cBhvr>
                                        <p:cTn dur="500"/>
                                        <p:tgtEl>
                                          <p:spTgt spid="37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0"/>
                                        </p:tgtEl>
                                        <p:attrNameLst>
                                          <p:attrName>style.visibility</p:attrName>
                                        </p:attrNameLst>
                                      </p:cBhvr>
                                      <p:to>
                                        <p:strVal val="visible"/>
                                      </p:to>
                                    </p:set>
                                    <p:animEffect filter="fade" transition="in">
                                      <p:cBhvr>
                                        <p:cTn dur="500"/>
                                        <p:tgtEl>
                                          <p:spTgt spid="381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09">
                                            <p:txEl>
                                              <p:pRg end="0" st="0"/>
                                            </p:txEl>
                                          </p:spTgt>
                                        </p:tgtEl>
                                        <p:attrNameLst>
                                          <p:attrName>style.visibility</p:attrName>
                                        </p:attrNameLst>
                                      </p:cBhvr>
                                      <p:to>
                                        <p:strVal val="visible"/>
                                      </p:to>
                                    </p:set>
                                    <p:animEffect filter="fade" transition="in">
                                      <p:cBhvr>
                                        <p:cTn dur="500"/>
                                        <p:tgtEl>
                                          <p:spTgt spid="3809">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805"/>
                                        </p:tgtEl>
                                        <p:attrNameLst>
                                          <p:attrName>style.visibility</p:attrName>
                                        </p:attrNameLst>
                                      </p:cBhvr>
                                      <p:to>
                                        <p:strVal val="visible"/>
                                      </p:to>
                                    </p:set>
                                    <p:animEffect filter="fade" transition="in">
                                      <p:cBhvr>
                                        <p:cTn dur="500"/>
                                        <p:tgtEl>
                                          <p:spTgt spid="380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813"/>
                                        </p:tgtEl>
                                        <p:attrNameLst>
                                          <p:attrName>style.visibility</p:attrName>
                                        </p:attrNameLst>
                                      </p:cBhvr>
                                      <p:to>
                                        <p:strVal val="visible"/>
                                      </p:to>
                                    </p:set>
                                    <p:animEffect filter="fade" transition="in">
                                      <p:cBhvr>
                                        <p:cTn dur="500"/>
                                        <p:tgtEl>
                                          <p:spTgt spid="381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806"/>
                                        </p:tgtEl>
                                        <p:attrNameLst>
                                          <p:attrName>style.visibility</p:attrName>
                                        </p:attrNameLst>
                                      </p:cBhvr>
                                      <p:to>
                                        <p:strVal val="visible"/>
                                      </p:to>
                                    </p:set>
                                    <p:animEffect filter="fade" transition="in">
                                      <p:cBhvr>
                                        <p:cTn dur="500"/>
                                        <p:tgtEl>
                                          <p:spTgt spid="3806"/>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807"/>
                                        </p:tgtEl>
                                        <p:attrNameLst>
                                          <p:attrName>style.visibility</p:attrName>
                                        </p:attrNameLst>
                                      </p:cBhvr>
                                      <p:to>
                                        <p:strVal val="visible"/>
                                      </p:to>
                                    </p:set>
                                    <p:animEffect filter="fade" transition="in">
                                      <p:cBhvr>
                                        <p:cTn dur="500"/>
                                        <p:tgtEl>
                                          <p:spTgt spid="3807"/>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799"/>
                                        </p:tgtEl>
                                        <p:attrNameLst>
                                          <p:attrName>style.visibility</p:attrName>
                                        </p:attrNameLst>
                                      </p:cBhvr>
                                      <p:to>
                                        <p:strVal val="visible"/>
                                      </p:to>
                                    </p:set>
                                    <p:animEffect filter="fade" transition="in">
                                      <p:cBhvr>
                                        <p:cTn dur="500"/>
                                        <p:tgtEl>
                                          <p:spTgt spid="3799"/>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796">
                                            <p:txEl>
                                              <p:pRg end="0" st="0"/>
                                            </p:txEl>
                                          </p:spTgt>
                                        </p:tgtEl>
                                        <p:attrNameLst>
                                          <p:attrName>style.visibility</p:attrName>
                                        </p:attrNameLst>
                                      </p:cBhvr>
                                      <p:to>
                                        <p:strVal val="visible"/>
                                      </p:to>
                                    </p:set>
                                    <p:animEffect filter="fade" transition="in">
                                      <p:cBhvr>
                                        <p:cTn dur="500"/>
                                        <p:tgtEl>
                                          <p:spTgt spid="3796">
                                            <p:txEl>
                                              <p:pRg end="0" st="0"/>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797"/>
                                        </p:tgtEl>
                                        <p:attrNameLst>
                                          <p:attrName>style.visibility</p:attrName>
                                        </p:attrNameLst>
                                      </p:cBhvr>
                                      <p:to>
                                        <p:strVal val="visible"/>
                                      </p:to>
                                    </p:set>
                                    <p:animEffect filter="fade" transition="in">
                                      <p:cBhvr>
                                        <p:cTn dur="500"/>
                                        <p:tgtEl>
                                          <p:spTgt spid="3797"/>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3817"/>
                                        </p:tgtEl>
                                        <p:attrNameLst>
                                          <p:attrName>style.visibility</p:attrName>
                                        </p:attrNameLst>
                                      </p:cBhvr>
                                      <p:to>
                                        <p:strVal val="visible"/>
                                      </p:to>
                                    </p:set>
                                    <p:animEffect filter="fade" transition="in">
                                      <p:cBhvr>
                                        <p:cTn dur="1000"/>
                                        <p:tgtEl>
                                          <p:spTgt spid="3817"/>
                                        </p:tgtEl>
                                      </p:cBhvr>
                                    </p:animEffect>
                                  </p:childTnLst>
                                </p:cTn>
                              </p:par>
                              <p:par>
                                <p:cTn fill="hold" nodeType="withEffect" presetClass="entr" presetID="10" presetSubtype="0">
                                  <p:stCondLst>
                                    <p:cond delay="0"/>
                                  </p:stCondLst>
                                  <p:childTnLst>
                                    <p:set>
                                      <p:cBhvr>
                                        <p:cTn dur="1" fill="hold">
                                          <p:stCondLst>
                                            <p:cond delay="0"/>
                                          </p:stCondLst>
                                        </p:cTn>
                                        <p:tgtEl>
                                          <p:spTgt spid="3827"/>
                                        </p:tgtEl>
                                        <p:attrNameLst>
                                          <p:attrName>style.visibility</p:attrName>
                                        </p:attrNameLst>
                                      </p:cBhvr>
                                      <p:to>
                                        <p:strVal val="visible"/>
                                      </p:to>
                                    </p:set>
                                    <p:animEffect filter="fade" transition="in">
                                      <p:cBhvr>
                                        <p:cTn dur="500"/>
                                        <p:tgtEl>
                                          <p:spTgt spid="3827"/>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3824"/>
                                        </p:tgtEl>
                                        <p:attrNameLst>
                                          <p:attrName>style.visibility</p:attrName>
                                        </p:attrNameLst>
                                      </p:cBhvr>
                                      <p:to>
                                        <p:strVal val="visible"/>
                                      </p:to>
                                    </p:set>
                                    <p:animEffect filter="fade" transition="in">
                                      <p:cBhvr>
                                        <p:cTn dur="500"/>
                                        <p:tgtEl>
                                          <p:spTgt spid="38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1"/>
                                        </p:tgtEl>
                                        <p:attrNameLst>
                                          <p:attrName>style.visibility</p:attrName>
                                        </p:attrNameLst>
                                      </p:cBhvr>
                                      <p:to>
                                        <p:strVal val="visible"/>
                                      </p:to>
                                    </p:set>
                                    <p:animEffect filter="fade" transition="in">
                                      <p:cBhvr>
                                        <p:cTn dur="500"/>
                                        <p:tgtEl>
                                          <p:spTgt spid="3821"/>
                                        </p:tgtEl>
                                      </p:cBhvr>
                                    </p:animEffect>
                                  </p:childTnLst>
                                </p:cTn>
                              </p:par>
                              <p:par>
                                <p:cTn fill="hold" nodeType="withEffect" presetClass="entr" presetID="10" presetSubtype="0">
                                  <p:stCondLst>
                                    <p:cond delay="0"/>
                                  </p:stCondLst>
                                  <p:childTnLst>
                                    <p:set>
                                      <p:cBhvr>
                                        <p:cTn dur="1" fill="hold">
                                          <p:stCondLst>
                                            <p:cond delay="0"/>
                                          </p:stCondLst>
                                        </p:cTn>
                                        <p:tgtEl>
                                          <p:spTgt spid="3831"/>
                                        </p:tgtEl>
                                        <p:attrNameLst>
                                          <p:attrName>style.visibility</p:attrName>
                                        </p:attrNameLst>
                                      </p:cBhvr>
                                      <p:to>
                                        <p:strVal val="visible"/>
                                      </p:to>
                                    </p:set>
                                    <p:animEffect filter="fade" transition="in">
                                      <p:cBhvr>
                                        <p:cTn dur="500"/>
                                        <p:tgtEl>
                                          <p:spTgt spid="383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04">
                                            <p:txEl>
                                              <p:pRg end="0" st="0"/>
                                            </p:txEl>
                                          </p:spTgt>
                                        </p:tgtEl>
                                        <p:attrNameLst>
                                          <p:attrName>style.visibility</p:attrName>
                                        </p:attrNameLst>
                                      </p:cBhvr>
                                      <p:to>
                                        <p:strVal val="visible"/>
                                      </p:to>
                                    </p:set>
                                    <p:animEffect filter="fade" transition="in">
                                      <p:cBhvr>
                                        <p:cTn dur="500"/>
                                        <p:tgtEl>
                                          <p:spTgt spid="380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3798"/>
                                        </p:tgtEl>
                                        <p:attrNameLst>
                                          <p:attrName>style.visibility</p:attrName>
                                        </p:attrNameLst>
                                      </p:cBhvr>
                                      <p:to>
                                        <p:strVal val="visible"/>
                                      </p:to>
                                    </p:set>
                                    <p:animEffect filter="fade" transition="in">
                                      <p:cBhvr>
                                        <p:cTn dur="500"/>
                                        <p:tgtEl>
                                          <p:spTgt spid="37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2"/>
                                        </p:tgtEl>
                                        <p:attrNameLst>
                                          <p:attrName>style.visibility</p:attrName>
                                        </p:attrNameLst>
                                      </p:cBhvr>
                                      <p:to>
                                        <p:strVal val="visible"/>
                                      </p:to>
                                    </p:set>
                                    <p:animEffect filter="fade" transition="in">
                                      <p:cBhvr>
                                        <p:cTn dur="500"/>
                                        <p:tgtEl>
                                          <p:spTgt spid="38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7"/>
                                        </p:tgtEl>
                                        <p:attrNameLst>
                                          <p:attrName>style.visibility</p:attrName>
                                        </p:attrNameLst>
                                      </p:cBhvr>
                                      <p:to>
                                        <p:strVal val="visible"/>
                                      </p:to>
                                    </p:set>
                                    <p:animEffect filter="fade" transition="in">
                                      <p:cBhvr>
                                        <p:cTn dur="500"/>
                                        <p:tgtEl>
                                          <p:spTgt spid="38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7"/>
                                        </p:tgtEl>
                                        <p:attrNameLst>
                                          <p:attrName>style.visibility</p:attrName>
                                        </p:attrNameLst>
                                      </p:cBhvr>
                                      <p:to>
                                        <p:strVal val="visible"/>
                                      </p:to>
                                    </p:set>
                                    <p:animEffect filter="fade" transition="in">
                                      <p:cBhvr>
                                        <p:cTn dur="500"/>
                                        <p:tgtEl>
                                          <p:spTgt spid="384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50"/>
                                        </p:tgtEl>
                                        <p:attrNameLst>
                                          <p:attrName>style.visibility</p:attrName>
                                        </p:attrNameLst>
                                      </p:cBhvr>
                                      <p:to>
                                        <p:strVal val="visible"/>
                                      </p:to>
                                    </p:set>
                                    <p:animEffect filter="fade" transition="in">
                                      <p:cBhvr>
                                        <p:cTn dur="500"/>
                                        <p:tgtEl>
                                          <p:spTgt spid="38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53"/>
                                        </p:tgtEl>
                                        <p:attrNameLst>
                                          <p:attrName>style.visibility</p:attrName>
                                        </p:attrNameLst>
                                      </p:cBhvr>
                                      <p:to>
                                        <p:strVal val="visible"/>
                                      </p:to>
                                    </p:set>
                                    <p:animEffect filter="fade" transition="in">
                                      <p:cBhvr>
                                        <p:cTn dur="500"/>
                                        <p:tgtEl>
                                          <p:spTgt spid="38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1" name="Shape 3861"/>
        <p:cNvGrpSpPr/>
        <p:nvPr/>
      </p:nvGrpSpPr>
      <p:grpSpPr>
        <a:xfrm>
          <a:off x="0" y="0"/>
          <a:ext cx="0" cy="0"/>
          <a:chOff x="0" y="0"/>
          <a:chExt cx="0" cy="0"/>
        </a:xfrm>
      </p:grpSpPr>
      <p:sp>
        <p:nvSpPr>
          <p:cNvPr id="3862" name="Google Shape;3862;p59"/>
          <p:cNvSpPr/>
          <p:nvPr/>
        </p:nvSpPr>
        <p:spPr>
          <a:xfrm flipH="1" rot="10800000">
            <a:off x="6959600" y="6273800"/>
            <a:ext cx="1798638" cy="469900"/>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grpSp>
        <p:nvGrpSpPr>
          <p:cNvPr id="3863" name="Google Shape;3863;p59"/>
          <p:cNvGrpSpPr/>
          <p:nvPr/>
        </p:nvGrpSpPr>
        <p:grpSpPr>
          <a:xfrm>
            <a:off x="8220481" y="-249778"/>
            <a:ext cx="2461403" cy="1558421"/>
            <a:chOff x="6697235" y="-249764"/>
            <a:chExt cx="2460203" cy="1558188"/>
          </a:xfrm>
        </p:grpSpPr>
        <p:sp>
          <p:nvSpPr>
            <p:cNvPr id="3864" name="Google Shape;3864;p59"/>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b="0" i="0" sz="2400" u="none" cap="none" strike="noStrike">
                <a:solidFill>
                  <a:schemeClr val="dk1"/>
                </a:solidFill>
                <a:latin typeface="Comic Sans MS"/>
                <a:ea typeface="Comic Sans MS"/>
                <a:cs typeface="Comic Sans MS"/>
                <a:sym typeface="Comic Sans MS"/>
              </a:endParaRPr>
            </a:p>
          </p:txBody>
        </p:sp>
        <p:sp>
          <p:nvSpPr>
            <p:cNvPr id="3865" name="Google Shape;3865;p59"/>
            <p:cNvSpPr txBox="1"/>
            <p:nvPr/>
          </p:nvSpPr>
          <p:spPr>
            <a:xfrm>
              <a:off x="7216423" y="342294"/>
              <a:ext cx="126028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Noto Sans Symbols"/>
                <a:buNone/>
              </a:pPr>
              <a:r>
                <a:rPr b="1" i="0" lang="en-US" sz="1600" u="none" cap="none" strike="noStrike">
                  <a:solidFill>
                    <a:srgbClr val="FF0000"/>
                  </a:solidFill>
                  <a:latin typeface="Tahoma"/>
                  <a:ea typeface="Tahoma"/>
                  <a:cs typeface="Tahoma"/>
                  <a:sym typeface="Tahoma"/>
                </a:rPr>
                <a:t>Self-Study</a:t>
              </a:r>
              <a:endParaRPr/>
            </a:p>
          </p:txBody>
        </p:sp>
      </p:grpSp>
      <p:sp>
        <p:nvSpPr>
          <p:cNvPr id="3866" name="Google Shape;3866;p59"/>
          <p:cNvSpPr txBox="1"/>
          <p:nvPr/>
        </p:nvSpPr>
        <p:spPr>
          <a:xfrm>
            <a:off x="1838326" y="1046164"/>
            <a:ext cx="3298825" cy="52419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1" i="0" lang="en-US" sz="2200" u="sng" cap="none" strike="noStrike">
                <a:solidFill>
                  <a:schemeClr val="dk1"/>
                </a:solidFill>
                <a:latin typeface="Arial"/>
                <a:ea typeface="Arial"/>
                <a:cs typeface="Arial"/>
                <a:sym typeface="Arial"/>
              </a:rPr>
              <a:t>Question:</a:t>
            </a:r>
            <a:endParaRPr/>
          </a:p>
          <a:p>
            <a:pPr indent="0" lvl="0" marL="0" marR="0" rtl="0" algn="l">
              <a:lnSpc>
                <a:spcPct val="100000"/>
              </a:lnSpc>
              <a:spcBef>
                <a:spcPts val="440"/>
              </a:spcBef>
              <a:spcAft>
                <a:spcPts val="0"/>
              </a:spcAft>
              <a:buClr>
                <a:srgbClr val="000099"/>
              </a:buClr>
              <a:buSzPts val="1430"/>
              <a:buFont typeface="Noto Sans Symbols"/>
              <a:buNone/>
            </a:pPr>
            <a:r>
              <a:rPr b="0" i="0" lang="en-US" sz="2200" u="none" cap="none" strike="noStrike">
                <a:solidFill>
                  <a:schemeClr val="dk1"/>
                </a:solidFill>
                <a:latin typeface="Arial"/>
                <a:ea typeface="Arial"/>
                <a:cs typeface="Arial"/>
                <a:sym typeface="Arial"/>
              </a:rPr>
              <a:t>Supposed a sender has 3 packets to be sent to a receiver.</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dk1"/>
                </a:solidFill>
                <a:latin typeface="Arial"/>
                <a:ea typeface="Arial"/>
                <a:cs typeface="Arial"/>
                <a:sym typeface="Arial"/>
              </a:rPr>
              <a:t>Complete the following figure by writing down the best answer for all S# and R#. Assume that no error after S1.</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dk1"/>
                </a:solidFill>
                <a:latin typeface="Arial"/>
                <a:ea typeface="Arial"/>
                <a:cs typeface="Arial"/>
                <a:sym typeface="Arial"/>
              </a:rPr>
              <a:t>What are X and Y?</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dk1"/>
                </a:solidFill>
                <a:latin typeface="Arial"/>
                <a:ea typeface="Arial"/>
                <a:cs typeface="Arial"/>
                <a:sym typeface="Arial"/>
              </a:rPr>
              <a:t>What is the problem between S1 and S2?</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dk1"/>
                </a:solidFill>
                <a:latin typeface="Arial"/>
                <a:ea typeface="Arial"/>
                <a:cs typeface="Arial"/>
                <a:sym typeface="Arial"/>
              </a:rPr>
              <a:t>Is the any discard packet at receiver? Why?</a:t>
            </a:r>
            <a:endParaRPr/>
          </a:p>
        </p:txBody>
      </p:sp>
      <p:sp>
        <p:nvSpPr>
          <p:cNvPr id="3867" name="Google Shape;3867;p59"/>
          <p:cNvSpPr/>
          <p:nvPr/>
        </p:nvSpPr>
        <p:spPr>
          <a:xfrm>
            <a:off x="6988175" y="1406525"/>
            <a:ext cx="1798638" cy="1208088"/>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3868" name="Google Shape;3868;p59"/>
          <p:cNvCxnSpPr/>
          <p:nvPr/>
        </p:nvCxnSpPr>
        <p:spPr>
          <a:xfrm>
            <a:off x="8797925" y="1225550"/>
            <a:ext cx="0" cy="5518150"/>
          </a:xfrm>
          <a:prstGeom prst="straightConnector1">
            <a:avLst/>
          </a:prstGeom>
          <a:noFill/>
          <a:ln cap="flat" cmpd="sng" w="9525">
            <a:solidFill>
              <a:schemeClr val="dk1"/>
            </a:solidFill>
            <a:prstDash val="dash"/>
            <a:round/>
            <a:headEnd len="med" w="med" type="none"/>
            <a:tailEnd len="med" w="med" type="none"/>
          </a:ln>
        </p:spPr>
      </p:cxnSp>
      <p:cxnSp>
        <p:nvCxnSpPr>
          <p:cNvPr id="3869" name="Google Shape;3869;p59"/>
          <p:cNvCxnSpPr>
            <a:endCxn id="3867" idx="3"/>
          </p:cNvCxnSpPr>
          <p:nvPr/>
        </p:nvCxnSpPr>
        <p:spPr>
          <a:xfrm>
            <a:off x="6980213" y="1405769"/>
            <a:ext cx="1806600" cy="604800"/>
          </a:xfrm>
          <a:prstGeom prst="straightConnector1">
            <a:avLst/>
          </a:prstGeom>
          <a:noFill/>
          <a:ln cap="flat" cmpd="sng" w="28575">
            <a:solidFill>
              <a:schemeClr val="dk1"/>
            </a:solidFill>
            <a:prstDash val="solid"/>
            <a:round/>
            <a:headEnd len="med" w="med" type="none"/>
            <a:tailEnd len="lg" w="lg" type="stealth"/>
          </a:ln>
        </p:spPr>
      </p:cxnSp>
      <p:sp>
        <p:nvSpPr>
          <p:cNvPr id="3870" name="Google Shape;3870;p59"/>
          <p:cNvSpPr txBox="1"/>
          <p:nvPr/>
        </p:nvSpPr>
        <p:spPr>
          <a:xfrm>
            <a:off x="6556375" y="796926"/>
            <a:ext cx="795338"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Sender</a:t>
            </a:r>
            <a:endParaRPr/>
          </a:p>
        </p:txBody>
      </p:sp>
      <p:sp>
        <p:nvSpPr>
          <p:cNvPr id="3871" name="Google Shape;3871;p59"/>
          <p:cNvSpPr txBox="1"/>
          <p:nvPr/>
        </p:nvSpPr>
        <p:spPr>
          <a:xfrm>
            <a:off x="8297864" y="798514"/>
            <a:ext cx="94297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Receiver</a:t>
            </a:r>
            <a:endParaRPr/>
          </a:p>
        </p:txBody>
      </p:sp>
      <p:sp>
        <p:nvSpPr>
          <p:cNvPr id="3872" name="Google Shape;3872;p59"/>
          <p:cNvSpPr txBox="1"/>
          <p:nvPr/>
        </p:nvSpPr>
        <p:spPr>
          <a:xfrm>
            <a:off x="5870576" y="1150939"/>
            <a:ext cx="1019175"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Send </a:t>
            </a:r>
            <a:r>
              <a:rPr b="0" i="0" lang="en-US" sz="1400" u="none" cap="none" strike="noStrike">
                <a:solidFill>
                  <a:schemeClr val="dk1"/>
                </a:solidFill>
                <a:latin typeface="Courier New"/>
                <a:ea typeface="Courier New"/>
                <a:cs typeface="Courier New"/>
                <a:sym typeface="Courier New"/>
              </a:rPr>
              <a:t>pkt0</a:t>
            </a:r>
            <a:endParaRPr/>
          </a:p>
        </p:txBody>
      </p:sp>
      <p:sp>
        <p:nvSpPr>
          <p:cNvPr id="3873" name="Google Shape;3873;p59"/>
          <p:cNvSpPr/>
          <p:nvPr/>
        </p:nvSpPr>
        <p:spPr>
          <a:xfrm>
            <a:off x="5599114" y="2384425"/>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3874" name="Google Shape;3874;p59"/>
          <p:cNvSpPr txBox="1"/>
          <p:nvPr/>
        </p:nvSpPr>
        <p:spPr>
          <a:xfrm>
            <a:off x="6048376" y="2257426"/>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(S1)</a:t>
            </a:r>
            <a:endParaRPr/>
          </a:p>
        </p:txBody>
      </p:sp>
      <p:sp>
        <p:nvSpPr>
          <p:cNvPr id="3875" name="Google Shape;3875;p59"/>
          <p:cNvSpPr txBox="1"/>
          <p:nvPr/>
        </p:nvSpPr>
        <p:spPr>
          <a:xfrm>
            <a:off x="8832850" y="1808164"/>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rcv </a:t>
            </a:r>
            <a:r>
              <a:rPr b="0" i="0" lang="en-US" sz="1400" u="none" cap="none" strike="noStrike">
                <a:solidFill>
                  <a:schemeClr val="dk1"/>
                </a:solidFill>
                <a:latin typeface="Courier New"/>
                <a:ea typeface="Courier New"/>
                <a:cs typeface="Courier New"/>
                <a:sym typeface="Courier New"/>
              </a:rPr>
              <a:t>pkt0</a:t>
            </a:r>
            <a:r>
              <a:rPr b="0" i="0" lang="en-US" sz="1400" u="none" cap="none" strike="noStrike">
                <a:solidFill>
                  <a:schemeClr val="dk1"/>
                </a:solidFill>
                <a:latin typeface="Times New Roman"/>
                <a:ea typeface="Times New Roman"/>
                <a:cs typeface="Times New Roman"/>
                <a:sym typeface="Times New Roman"/>
              </a:rPr>
              <a:t>, send </a:t>
            </a:r>
            <a:r>
              <a:rPr b="0" i="0" lang="en-US" sz="1400" u="none" cap="none" strike="noStrike">
                <a:solidFill>
                  <a:schemeClr val="dk1"/>
                </a:solidFill>
                <a:latin typeface="Courier New"/>
                <a:ea typeface="Courier New"/>
                <a:cs typeface="Courier New"/>
                <a:sym typeface="Courier New"/>
              </a:rPr>
              <a:t>NAK0</a:t>
            </a:r>
            <a:endParaRPr/>
          </a:p>
        </p:txBody>
      </p:sp>
      <p:sp>
        <p:nvSpPr>
          <p:cNvPr id="3876" name="Google Shape;3876;p59"/>
          <p:cNvSpPr/>
          <p:nvPr/>
        </p:nvSpPr>
        <p:spPr>
          <a:xfrm>
            <a:off x="6980239" y="3851276"/>
            <a:ext cx="1798637" cy="1209675"/>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3877" name="Google Shape;3877;p59"/>
          <p:cNvCxnSpPr/>
          <p:nvPr/>
        </p:nvCxnSpPr>
        <p:spPr>
          <a:xfrm>
            <a:off x="6972301" y="2643189"/>
            <a:ext cx="1806575" cy="604837"/>
          </a:xfrm>
          <a:prstGeom prst="straightConnector1">
            <a:avLst/>
          </a:prstGeom>
          <a:noFill/>
          <a:ln cap="flat" cmpd="sng" w="28575">
            <a:solidFill>
              <a:schemeClr val="dk1"/>
            </a:solidFill>
            <a:prstDash val="solid"/>
            <a:round/>
            <a:headEnd len="med" w="med" type="none"/>
            <a:tailEnd len="lg" w="lg" type="stealth"/>
          </a:ln>
        </p:spPr>
      </p:cxnSp>
      <p:sp>
        <p:nvSpPr>
          <p:cNvPr id="3878" name="Google Shape;3878;p59"/>
          <p:cNvSpPr/>
          <p:nvPr/>
        </p:nvSpPr>
        <p:spPr>
          <a:xfrm>
            <a:off x="5591175" y="2981325"/>
            <a:ext cx="1373188"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3879" name="Google Shape;3879;p59"/>
          <p:cNvSpPr txBox="1"/>
          <p:nvPr/>
        </p:nvSpPr>
        <p:spPr>
          <a:xfrm>
            <a:off x="6040438" y="2854326"/>
            <a:ext cx="493712"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(S2)</a:t>
            </a:r>
            <a:endParaRPr/>
          </a:p>
        </p:txBody>
      </p:sp>
      <p:sp>
        <p:nvSpPr>
          <p:cNvPr id="3880" name="Google Shape;3880;p59"/>
          <p:cNvSpPr/>
          <p:nvPr/>
        </p:nvSpPr>
        <p:spPr>
          <a:xfrm>
            <a:off x="8888413" y="2987676"/>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3881" name="Google Shape;3881;p59"/>
          <p:cNvSpPr txBox="1"/>
          <p:nvPr/>
        </p:nvSpPr>
        <p:spPr>
          <a:xfrm>
            <a:off x="9190038" y="2857500"/>
            <a:ext cx="514350"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(R1)</a:t>
            </a:r>
            <a:endParaRPr/>
          </a:p>
        </p:txBody>
      </p:sp>
      <p:cxnSp>
        <p:nvCxnSpPr>
          <p:cNvPr id="3882" name="Google Shape;3882;p59"/>
          <p:cNvCxnSpPr/>
          <p:nvPr/>
        </p:nvCxnSpPr>
        <p:spPr>
          <a:xfrm>
            <a:off x="6967538" y="1223963"/>
            <a:ext cx="0" cy="5518150"/>
          </a:xfrm>
          <a:prstGeom prst="straightConnector1">
            <a:avLst/>
          </a:prstGeom>
          <a:noFill/>
          <a:ln cap="flat" cmpd="sng" w="9525">
            <a:solidFill>
              <a:schemeClr val="dk1"/>
            </a:solidFill>
            <a:prstDash val="dash"/>
            <a:round/>
            <a:headEnd len="med" w="med" type="none"/>
            <a:tailEnd len="med" w="med" type="none"/>
          </a:ln>
        </p:spPr>
      </p:cxnSp>
      <p:sp>
        <p:nvSpPr>
          <p:cNvPr id="3883" name="Google Shape;3883;p59"/>
          <p:cNvSpPr txBox="1"/>
          <p:nvPr/>
        </p:nvSpPr>
        <p:spPr>
          <a:xfrm rot="-5400000">
            <a:off x="4751388" y="4349751"/>
            <a:ext cx="9207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2</a:t>
            </a:r>
            <a:endParaRPr/>
          </a:p>
        </p:txBody>
      </p:sp>
      <p:grpSp>
        <p:nvGrpSpPr>
          <p:cNvPr id="3884" name="Google Shape;3884;p59"/>
          <p:cNvGrpSpPr/>
          <p:nvPr/>
        </p:nvGrpSpPr>
        <p:grpSpPr>
          <a:xfrm>
            <a:off x="5383213" y="3860801"/>
            <a:ext cx="207962" cy="1255713"/>
            <a:chOff x="2524123" y="2565535"/>
            <a:chExt cx="208492" cy="1256451"/>
          </a:xfrm>
        </p:grpSpPr>
        <p:cxnSp>
          <p:nvCxnSpPr>
            <p:cNvPr id="3885" name="Google Shape;3885;p59"/>
            <p:cNvCxnSpPr/>
            <p:nvPr/>
          </p:nvCxnSpPr>
          <p:spPr>
            <a:xfrm flipH="1">
              <a:off x="2524123" y="2565535"/>
              <a:ext cx="3228" cy="1256451"/>
            </a:xfrm>
            <a:prstGeom prst="straightConnector1">
              <a:avLst/>
            </a:prstGeom>
            <a:noFill/>
            <a:ln cap="flat" cmpd="sng" w="9525">
              <a:solidFill>
                <a:schemeClr val="dk1"/>
              </a:solidFill>
              <a:prstDash val="solid"/>
              <a:round/>
              <a:headEnd len="med" w="med" type="none"/>
              <a:tailEnd len="med" w="med" type="none"/>
            </a:ln>
          </p:spPr>
        </p:cxnSp>
        <p:cxnSp>
          <p:nvCxnSpPr>
            <p:cNvPr id="3886" name="Google Shape;3886;p59"/>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3887" name="Google Shape;3887;p59"/>
            <p:cNvCxnSpPr/>
            <p:nvPr/>
          </p:nvCxnSpPr>
          <p:spPr>
            <a:xfrm>
              <a:off x="2525301" y="3819674"/>
              <a:ext cx="205267" cy="0"/>
            </a:xfrm>
            <a:prstGeom prst="straightConnector1">
              <a:avLst/>
            </a:prstGeom>
            <a:noFill/>
            <a:ln cap="flat" cmpd="sng" w="9525">
              <a:solidFill>
                <a:schemeClr val="dk1"/>
              </a:solidFill>
              <a:prstDash val="solid"/>
              <a:round/>
              <a:headEnd len="med" w="med" type="none"/>
              <a:tailEnd len="med" w="med" type="none"/>
            </a:ln>
          </p:spPr>
        </p:cxnSp>
      </p:grpSp>
      <p:sp>
        <p:nvSpPr>
          <p:cNvPr id="3888" name="Google Shape;3888;p59"/>
          <p:cNvSpPr/>
          <p:nvPr/>
        </p:nvSpPr>
        <p:spPr>
          <a:xfrm>
            <a:off x="8891589" y="3608389"/>
            <a:ext cx="1512887"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3889" name="Google Shape;3889;p59"/>
          <p:cNvSpPr txBox="1"/>
          <p:nvPr/>
        </p:nvSpPr>
        <p:spPr>
          <a:xfrm>
            <a:off x="9194801" y="3478214"/>
            <a:ext cx="51276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(R2)</a:t>
            </a:r>
            <a:endParaRPr/>
          </a:p>
        </p:txBody>
      </p:sp>
      <p:cxnSp>
        <p:nvCxnSpPr>
          <p:cNvPr id="3890" name="Google Shape;3890;p59"/>
          <p:cNvCxnSpPr/>
          <p:nvPr/>
        </p:nvCxnSpPr>
        <p:spPr>
          <a:xfrm>
            <a:off x="6988175" y="3881439"/>
            <a:ext cx="1403350" cy="593725"/>
          </a:xfrm>
          <a:prstGeom prst="straightConnector1">
            <a:avLst/>
          </a:prstGeom>
          <a:noFill/>
          <a:ln cap="flat" cmpd="sng" w="28575">
            <a:solidFill>
              <a:schemeClr val="dk1"/>
            </a:solidFill>
            <a:prstDash val="solid"/>
            <a:round/>
            <a:headEnd len="med" w="med" type="none"/>
            <a:tailEnd len="lg" w="lg" type="stealth"/>
          </a:ln>
        </p:spPr>
      </p:cxnSp>
      <p:cxnSp>
        <p:nvCxnSpPr>
          <p:cNvPr id="3891" name="Google Shape;3891;p59"/>
          <p:cNvCxnSpPr/>
          <p:nvPr/>
        </p:nvCxnSpPr>
        <p:spPr>
          <a:xfrm flipH="1">
            <a:off x="6961188" y="5716589"/>
            <a:ext cx="1797050" cy="509587"/>
          </a:xfrm>
          <a:prstGeom prst="straightConnector1">
            <a:avLst/>
          </a:prstGeom>
          <a:noFill/>
          <a:ln cap="flat" cmpd="sng" w="28575">
            <a:solidFill>
              <a:schemeClr val="dk1"/>
            </a:solidFill>
            <a:prstDash val="solid"/>
            <a:round/>
            <a:headEnd len="med" w="med" type="none"/>
            <a:tailEnd len="lg" w="lg" type="stealth"/>
          </a:ln>
        </p:spPr>
      </p:cxnSp>
      <p:sp>
        <p:nvSpPr>
          <p:cNvPr id="3892" name="Google Shape;3892;p59"/>
          <p:cNvSpPr txBox="1"/>
          <p:nvPr/>
        </p:nvSpPr>
        <p:spPr>
          <a:xfrm>
            <a:off x="8177213" y="4505326"/>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Y</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grpSp>
        <p:nvGrpSpPr>
          <p:cNvPr id="3893" name="Google Shape;3893;p59"/>
          <p:cNvGrpSpPr/>
          <p:nvPr/>
        </p:nvGrpSpPr>
        <p:grpSpPr>
          <a:xfrm>
            <a:off x="5400676" y="2613026"/>
            <a:ext cx="207963" cy="619125"/>
            <a:chOff x="2525301" y="2572305"/>
            <a:chExt cx="207314" cy="618591"/>
          </a:xfrm>
        </p:grpSpPr>
        <p:cxnSp>
          <p:nvCxnSpPr>
            <p:cNvPr id="3894" name="Google Shape;3894;p59"/>
            <p:cNvCxnSpPr/>
            <p:nvPr/>
          </p:nvCxnSpPr>
          <p:spPr>
            <a:xfrm>
              <a:off x="2532013" y="2572305"/>
              <a:ext cx="0" cy="616450"/>
            </a:xfrm>
            <a:prstGeom prst="straightConnector1">
              <a:avLst/>
            </a:prstGeom>
            <a:noFill/>
            <a:ln cap="flat" cmpd="sng" w="9525">
              <a:solidFill>
                <a:schemeClr val="dk1"/>
              </a:solidFill>
              <a:prstDash val="solid"/>
              <a:round/>
              <a:headEnd len="med" w="med" type="none"/>
              <a:tailEnd len="med" w="med" type="none"/>
            </a:ln>
          </p:spPr>
        </p:cxnSp>
        <p:cxnSp>
          <p:nvCxnSpPr>
            <p:cNvPr id="3895" name="Google Shape;3895;p59"/>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3896" name="Google Shape;3896;p59"/>
            <p:cNvCxnSpPr/>
            <p:nvPr/>
          </p:nvCxnSpPr>
          <p:spPr>
            <a:xfrm>
              <a:off x="2525301" y="3190896"/>
              <a:ext cx="205267" cy="0"/>
            </a:xfrm>
            <a:prstGeom prst="straightConnector1">
              <a:avLst/>
            </a:prstGeom>
            <a:noFill/>
            <a:ln cap="flat" cmpd="sng" w="9525">
              <a:solidFill>
                <a:schemeClr val="dk1"/>
              </a:solidFill>
              <a:prstDash val="solid"/>
              <a:round/>
              <a:headEnd len="med" w="med" type="none"/>
              <a:tailEnd len="med" w="med" type="none"/>
            </a:ln>
          </p:spPr>
        </p:cxnSp>
      </p:grpSp>
      <p:cxnSp>
        <p:nvCxnSpPr>
          <p:cNvPr id="3897" name="Google Shape;3897;p59"/>
          <p:cNvCxnSpPr/>
          <p:nvPr/>
        </p:nvCxnSpPr>
        <p:spPr>
          <a:xfrm>
            <a:off x="6969125" y="5081589"/>
            <a:ext cx="1804988" cy="604837"/>
          </a:xfrm>
          <a:prstGeom prst="straightConnector1">
            <a:avLst/>
          </a:prstGeom>
          <a:noFill/>
          <a:ln cap="flat" cmpd="sng" w="28575">
            <a:solidFill>
              <a:schemeClr val="dk1"/>
            </a:solidFill>
            <a:prstDash val="solid"/>
            <a:round/>
            <a:headEnd len="med" w="med" type="none"/>
            <a:tailEnd len="lg" w="lg" type="stealth"/>
          </a:ln>
        </p:spPr>
      </p:cxnSp>
      <p:sp>
        <p:nvSpPr>
          <p:cNvPr id="3898" name="Google Shape;3898;p59"/>
          <p:cNvSpPr/>
          <p:nvPr/>
        </p:nvSpPr>
        <p:spPr>
          <a:xfrm>
            <a:off x="5545139" y="4872039"/>
            <a:ext cx="1374775"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3899" name="Google Shape;3899;p59"/>
          <p:cNvSpPr txBox="1"/>
          <p:nvPr/>
        </p:nvSpPr>
        <p:spPr>
          <a:xfrm>
            <a:off x="6045201" y="4745039"/>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(S4)</a:t>
            </a:r>
            <a:endParaRPr/>
          </a:p>
        </p:txBody>
      </p:sp>
      <p:sp>
        <p:nvSpPr>
          <p:cNvPr id="3900" name="Google Shape;3900;p59"/>
          <p:cNvSpPr txBox="1"/>
          <p:nvPr/>
        </p:nvSpPr>
        <p:spPr>
          <a:xfrm rot="-5400000">
            <a:off x="4804569" y="2777331"/>
            <a:ext cx="920750" cy="3063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1</a:t>
            </a:r>
            <a:endParaRPr/>
          </a:p>
        </p:txBody>
      </p:sp>
      <p:cxnSp>
        <p:nvCxnSpPr>
          <p:cNvPr id="3901" name="Google Shape;3901;p59"/>
          <p:cNvCxnSpPr/>
          <p:nvPr/>
        </p:nvCxnSpPr>
        <p:spPr>
          <a:xfrm flipH="1">
            <a:off x="7405689" y="3887788"/>
            <a:ext cx="1323975" cy="563562"/>
          </a:xfrm>
          <a:prstGeom prst="straightConnector1">
            <a:avLst/>
          </a:prstGeom>
          <a:noFill/>
          <a:ln cap="flat" cmpd="sng" w="28575">
            <a:solidFill>
              <a:schemeClr val="dk1"/>
            </a:solidFill>
            <a:prstDash val="solid"/>
            <a:round/>
            <a:headEnd len="med" w="med" type="none"/>
            <a:tailEnd len="lg" w="lg" type="stealth"/>
          </a:ln>
        </p:spPr>
      </p:cxnSp>
      <p:sp>
        <p:nvSpPr>
          <p:cNvPr id="3902" name="Google Shape;3902;p59"/>
          <p:cNvSpPr txBox="1"/>
          <p:nvPr/>
        </p:nvSpPr>
        <p:spPr>
          <a:xfrm>
            <a:off x="6977063" y="4513264"/>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X</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cxnSp>
        <p:nvCxnSpPr>
          <p:cNvPr id="3903" name="Google Shape;3903;p59"/>
          <p:cNvCxnSpPr/>
          <p:nvPr/>
        </p:nvCxnSpPr>
        <p:spPr>
          <a:xfrm flipH="1">
            <a:off x="7019926" y="2052638"/>
            <a:ext cx="1636713" cy="546100"/>
          </a:xfrm>
          <a:prstGeom prst="straightConnector1">
            <a:avLst/>
          </a:prstGeom>
          <a:noFill/>
          <a:ln cap="flat" cmpd="sng" w="28575">
            <a:solidFill>
              <a:schemeClr val="dk1"/>
            </a:solidFill>
            <a:prstDash val="solid"/>
            <a:round/>
            <a:headEnd len="med" w="med" type="none"/>
            <a:tailEnd len="lg" w="lg" type="stealth"/>
          </a:ln>
        </p:spPr>
      </p:cxnSp>
      <p:cxnSp>
        <p:nvCxnSpPr>
          <p:cNvPr id="3904" name="Google Shape;3904;p59"/>
          <p:cNvCxnSpPr/>
          <p:nvPr/>
        </p:nvCxnSpPr>
        <p:spPr>
          <a:xfrm>
            <a:off x="6980239" y="3194050"/>
            <a:ext cx="1806575" cy="604838"/>
          </a:xfrm>
          <a:prstGeom prst="straightConnector1">
            <a:avLst/>
          </a:prstGeom>
          <a:noFill/>
          <a:ln cap="flat" cmpd="sng" w="28575">
            <a:solidFill>
              <a:schemeClr val="dk1"/>
            </a:solidFill>
            <a:prstDash val="solid"/>
            <a:round/>
            <a:headEnd len="med" w="med" type="none"/>
            <a:tailEnd len="lg" w="lg" type="stealth"/>
          </a:ln>
        </p:spPr>
      </p:cxnSp>
      <p:sp>
        <p:nvSpPr>
          <p:cNvPr id="3905" name="Google Shape;3905;p59"/>
          <p:cNvSpPr/>
          <p:nvPr/>
        </p:nvSpPr>
        <p:spPr>
          <a:xfrm>
            <a:off x="8958263" y="54371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3906" name="Google Shape;3906;p59"/>
          <p:cNvSpPr txBox="1"/>
          <p:nvPr/>
        </p:nvSpPr>
        <p:spPr>
          <a:xfrm>
            <a:off x="9259888" y="53070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(R3)</a:t>
            </a:r>
            <a:endParaRPr/>
          </a:p>
        </p:txBody>
      </p:sp>
      <p:sp>
        <p:nvSpPr>
          <p:cNvPr id="3907" name="Google Shape;3907;p59"/>
          <p:cNvSpPr/>
          <p:nvPr/>
        </p:nvSpPr>
        <p:spPr>
          <a:xfrm>
            <a:off x="5595939" y="3613150"/>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3908" name="Google Shape;3908;p59"/>
          <p:cNvSpPr txBox="1"/>
          <p:nvPr/>
        </p:nvSpPr>
        <p:spPr>
          <a:xfrm>
            <a:off x="6045201" y="3487739"/>
            <a:ext cx="493713"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(S3)</a:t>
            </a:r>
            <a:endParaRPr/>
          </a:p>
        </p:txBody>
      </p:sp>
      <p:cxnSp>
        <p:nvCxnSpPr>
          <p:cNvPr id="3909" name="Google Shape;3909;p59"/>
          <p:cNvCxnSpPr/>
          <p:nvPr/>
        </p:nvCxnSpPr>
        <p:spPr>
          <a:xfrm flipH="1">
            <a:off x="7015163" y="3317875"/>
            <a:ext cx="1636712" cy="546100"/>
          </a:xfrm>
          <a:prstGeom prst="straightConnector1">
            <a:avLst/>
          </a:prstGeom>
          <a:noFill/>
          <a:ln cap="flat" cmpd="sng" w="28575">
            <a:solidFill>
              <a:schemeClr val="dk1"/>
            </a:solidFill>
            <a:prstDash val="solid"/>
            <a:round/>
            <a:headEnd len="med" w="med" type="none"/>
            <a:tailEnd len="lg" w="lg" type="stealth"/>
          </a:ln>
        </p:spPr>
      </p:cxnSp>
      <p:sp>
        <p:nvSpPr>
          <p:cNvPr id="3910" name="Google Shape;3910;p59"/>
          <p:cNvSpPr/>
          <p:nvPr/>
        </p:nvSpPr>
        <p:spPr>
          <a:xfrm>
            <a:off x="5575300" y="6034089"/>
            <a:ext cx="1373188"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3911" name="Google Shape;3911;p59"/>
          <p:cNvSpPr txBox="1"/>
          <p:nvPr/>
        </p:nvSpPr>
        <p:spPr>
          <a:xfrm>
            <a:off x="6073776" y="5908675"/>
            <a:ext cx="493713"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(S5)</a:t>
            </a:r>
            <a:endParaRPr/>
          </a:p>
        </p:txBody>
      </p:sp>
      <p:cxnSp>
        <p:nvCxnSpPr>
          <p:cNvPr id="3912" name="Google Shape;3912;p59"/>
          <p:cNvCxnSpPr/>
          <p:nvPr/>
        </p:nvCxnSpPr>
        <p:spPr>
          <a:xfrm>
            <a:off x="6972301" y="6253164"/>
            <a:ext cx="1776413" cy="428625"/>
          </a:xfrm>
          <a:prstGeom prst="straightConnector1">
            <a:avLst/>
          </a:prstGeom>
          <a:noFill/>
          <a:ln cap="flat" cmpd="sng" w="28575">
            <a:solidFill>
              <a:schemeClr val="dk1"/>
            </a:solidFill>
            <a:prstDash val="solid"/>
            <a:round/>
            <a:headEnd len="med" w="med" type="none"/>
            <a:tailEnd len="lg" w="lg" type="stealth"/>
          </a:ln>
        </p:spPr>
      </p:cxnSp>
      <p:sp>
        <p:nvSpPr>
          <p:cNvPr id="3913" name="Google Shape;3913;p59"/>
          <p:cNvSpPr/>
          <p:nvPr/>
        </p:nvSpPr>
        <p:spPr>
          <a:xfrm>
            <a:off x="8913813" y="64404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3914" name="Google Shape;3914;p59"/>
          <p:cNvSpPr txBox="1"/>
          <p:nvPr/>
        </p:nvSpPr>
        <p:spPr>
          <a:xfrm>
            <a:off x="9215438" y="63103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(R4)</a:t>
            </a:r>
            <a:endParaRPr/>
          </a:p>
        </p:txBody>
      </p:sp>
      <p:sp>
        <p:nvSpPr>
          <p:cNvPr id="3915" name="Google Shape;3915;p5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9" name="Shape 3919"/>
        <p:cNvGrpSpPr/>
        <p:nvPr/>
      </p:nvGrpSpPr>
      <p:grpSpPr>
        <a:xfrm>
          <a:off x="0" y="0"/>
          <a:ext cx="0" cy="0"/>
          <a:chOff x="0" y="0"/>
          <a:chExt cx="0" cy="0"/>
        </a:xfrm>
      </p:grpSpPr>
      <p:sp>
        <p:nvSpPr>
          <p:cNvPr id="3920" name="Google Shape;3920;p60"/>
          <p:cNvSpPr/>
          <p:nvPr/>
        </p:nvSpPr>
        <p:spPr>
          <a:xfrm flipH="1" rot="10800000">
            <a:off x="6959600" y="6273800"/>
            <a:ext cx="1798638" cy="469900"/>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sp>
        <p:nvSpPr>
          <p:cNvPr id="3921" name="Google Shape;3921;p60"/>
          <p:cNvSpPr txBox="1"/>
          <p:nvPr/>
        </p:nvSpPr>
        <p:spPr>
          <a:xfrm>
            <a:off x="1838326" y="1046164"/>
            <a:ext cx="3298825" cy="52419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1" i="0" lang="en-US" sz="2200" u="sng" cap="none" strike="noStrike">
                <a:solidFill>
                  <a:schemeClr val="dk1"/>
                </a:solidFill>
                <a:latin typeface="Arial"/>
                <a:ea typeface="Arial"/>
                <a:cs typeface="Arial"/>
                <a:sym typeface="Arial"/>
              </a:rPr>
              <a:t>Question:</a:t>
            </a:r>
            <a:endParaRPr/>
          </a:p>
          <a:p>
            <a:pPr indent="0" lvl="0" marL="0" marR="0" rtl="0" algn="l">
              <a:lnSpc>
                <a:spcPct val="100000"/>
              </a:lnSpc>
              <a:spcBef>
                <a:spcPts val="440"/>
              </a:spcBef>
              <a:spcAft>
                <a:spcPts val="0"/>
              </a:spcAft>
              <a:buClr>
                <a:srgbClr val="000099"/>
              </a:buClr>
              <a:buSzPts val="1430"/>
              <a:buFont typeface="Noto Sans Symbols"/>
              <a:buNone/>
            </a:pPr>
            <a:r>
              <a:rPr b="0" i="0" lang="en-US" sz="2200" u="none" cap="none" strike="noStrike">
                <a:solidFill>
                  <a:schemeClr val="dk1"/>
                </a:solidFill>
                <a:latin typeface="Arial"/>
                <a:ea typeface="Arial"/>
                <a:cs typeface="Arial"/>
                <a:sym typeface="Arial"/>
              </a:rPr>
              <a:t>Supposed a sender has 3 packets to be sent to a receiver.</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dk1"/>
                </a:solidFill>
                <a:latin typeface="Arial"/>
                <a:ea typeface="Arial"/>
                <a:cs typeface="Arial"/>
                <a:sym typeface="Arial"/>
              </a:rPr>
              <a:t>Complete the following figure by writing down the best answer for all S# and R#. Assume that no error after S1.</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D8D8D8"/>
                </a:solidFill>
                <a:latin typeface="Arial"/>
                <a:ea typeface="Arial"/>
                <a:cs typeface="Arial"/>
                <a:sym typeface="Arial"/>
              </a:rPr>
              <a:t>What are X and Y?</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D8D8D8"/>
                </a:solidFill>
                <a:latin typeface="Arial"/>
                <a:ea typeface="Arial"/>
                <a:cs typeface="Arial"/>
                <a:sym typeface="Arial"/>
              </a:rPr>
              <a:t>What is the problem between S1 and S2?</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D8D8D8"/>
                </a:solidFill>
                <a:latin typeface="Arial"/>
                <a:ea typeface="Arial"/>
                <a:cs typeface="Arial"/>
                <a:sym typeface="Arial"/>
              </a:rPr>
              <a:t>Is the any discard packet at receiver? Why?</a:t>
            </a:r>
            <a:endParaRPr/>
          </a:p>
        </p:txBody>
      </p:sp>
      <p:sp>
        <p:nvSpPr>
          <p:cNvPr id="3922" name="Google Shape;3922;p60"/>
          <p:cNvSpPr/>
          <p:nvPr/>
        </p:nvSpPr>
        <p:spPr>
          <a:xfrm>
            <a:off x="6988175" y="1406525"/>
            <a:ext cx="1798638" cy="1208088"/>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3923" name="Google Shape;3923;p60"/>
          <p:cNvCxnSpPr/>
          <p:nvPr/>
        </p:nvCxnSpPr>
        <p:spPr>
          <a:xfrm>
            <a:off x="8797925" y="1225550"/>
            <a:ext cx="0" cy="5518150"/>
          </a:xfrm>
          <a:prstGeom prst="straightConnector1">
            <a:avLst/>
          </a:prstGeom>
          <a:noFill/>
          <a:ln cap="flat" cmpd="sng" w="9525">
            <a:solidFill>
              <a:schemeClr val="dk1"/>
            </a:solidFill>
            <a:prstDash val="dash"/>
            <a:round/>
            <a:headEnd len="med" w="med" type="none"/>
            <a:tailEnd len="med" w="med" type="none"/>
          </a:ln>
        </p:spPr>
      </p:cxnSp>
      <p:cxnSp>
        <p:nvCxnSpPr>
          <p:cNvPr id="3924" name="Google Shape;3924;p60"/>
          <p:cNvCxnSpPr>
            <a:endCxn id="3922" idx="3"/>
          </p:cNvCxnSpPr>
          <p:nvPr/>
        </p:nvCxnSpPr>
        <p:spPr>
          <a:xfrm>
            <a:off x="6980213" y="1405769"/>
            <a:ext cx="1806600" cy="604800"/>
          </a:xfrm>
          <a:prstGeom prst="straightConnector1">
            <a:avLst/>
          </a:prstGeom>
          <a:noFill/>
          <a:ln cap="flat" cmpd="sng" w="28575">
            <a:solidFill>
              <a:schemeClr val="dk1"/>
            </a:solidFill>
            <a:prstDash val="solid"/>
            <a:round/>
            <a:headEnd len="med" w="med" type="none"/>
            <a:tailEnd len="lg" w="lg" type="stealth"/>
          </a:ln>
        </p:spPr>
      </p:cxnSp>
      <p:sp>
        <p:nvSpPr>
          <p:cNvPr id="3925" name="Google Shape;3925;p60"/>
          <p:cNvSpPr txBox="1"/>
          <p:nvPr/>
        </p:nvSpPr>
        <p:spPr>
          <a:xfrm>
            <a:off x="6556375" y="796926"/>
            <a:ext cx="795338"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Sender</a:t>
            </a:r>
            <a:endParaRPr/>
          </a:p>
        </p:txBody>
      </p:sp>
      <p:sp>
        <p:nvSpPr>
          <p:cNvPr id="3926" name="Google Shape;3926;p60"/>
          <p:cNvSpPr txBox="1"/>
          <p:nvPr/>
        </p:nvSpPr>
        <p:spPr>
          <a:xfrm>
            <a:off x="8297864" y="798514"/>
            <a:ext cx="94297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Receiver</a:t>
            </a:r>
            <a:endParaRPr/>
          </a:p>
        </p:txBody>
      </p:sp>
      <p:sp>
        <p:nvSpPr>
          <p:cNvPr id="3927" name="Google Shape;3927;p60"/>
          <p:cNvSpPr txBox="1"/>
          <p:nvPr/>
        </p:nvSpPr>
        <p:spPr>
          <a:xfrm>
            <a:off x="5870576" y="1150939"/>
            <a:ext cx="1019175"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Send </a:t>
            </a:r>
            <a:r>
              <a:rPr b="0" i="0" lang="en-US" sz="1400" u="none" cap="none" strike="noStrike">
                <a:solidFill>
                  <a:schemeClr val="dk1"/>
                </a:solidFill>
                <a:latin typeface="Courier New"/>
                <a:ea typeface="Courier New"/>
                <a:cs typeface="Courier New"/>
                <a:sym typeface="Courier New"/>
              </a:rPr>
              <a:t>pkt0</a:t>
            </a:r>
            <a:endParaRPr/>
          </a:p>
        </p:txBody>
      </p:sp>
      <p:sp>
        <p:nvSpPr>
          <p:cNvPr id="3928" name="Google Shape;3928;p60"/>
          <p:cNvSpPr/>
          <p:nvPr/>
        </p:nvSpPr>
        <p:spPr>
          <a:xfrm>
            <a:off x="5599114" y="2384425"/>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3929" name="Google Shape;3929;p60"/>
          <p:cNvSpPr txBox="1"/>
          <p:nvPr/>
        </p:nvSpPr>
        <p:spPr>
          <a:xfrm>
            <a:off x="6048376" y="2257426"/>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(S1)</a:t>
            </a:r>
            <a:endParaRPr/>
          </a:p>
        </p:txBody>
      </p:sp>
      <p:sp>
        <p:nvSpPr>
          <p:cNvPr id="3930" name="Google Shape;3930;p60"/>
          <p:cNvSpPr txBox="1"/>
          <p:nvPr/>
        </p:nvSpPr>
        <p:spPr>
          <a:xfrm>
            <a:off x="8832850" y="1808164"/>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rcv </a:t>
            </a:r>
            <a:r>
              <a:rPr b="0" i="0" lang="en-US" sz="1400" u="none" cap="none" strike="noStrike">
                <a:solidFill>
                  <a:schemeClr val="dk1"/>
                </a:solidFill>
                <a:latin typeface="Courier New"/>
                <a:ea typeface="Courier New"/>
                <a:cs typeface="Courier New"/>
                <a:sym typeface="Courier New"/>
              </a:rPr>
              <a:t>pkt0</a:t>
            </a:r>
            <a:r>
              <a:rPr b="0" i="0" lang="en-US" sz="1400" u="none" cap="none" strike="noStrike">
                <a:solidFill>
                  <a:schemeClr val="dk1"/>
                </a:solidFill>
                <a:latin typeface="Times New Roman"/>
                <a:ea typeface="Times New Roman"/>
                <a:cs typeface="Times New Roman"/>
                <a:sym typeface="Times New Roman"/>
              </a:rPr>
              <a:t>, send </a:t>
            </a:r>
            <a:r>
              <a:rPr b="0" i="0" lang="en-US" sz="1400" u="none" cap="none" strike="noStrike">
                <a:solidFill>
                  <a:schemeClr val="dk1"/>
                </a:solidFill>
                <a:latin typeface="Courier New"/>
                <a:ea typeface="Courier New"/>
                <a:cs typeface="Courier New"/>
                <a:sym typeface="Courier New"/>
              </a:rPr>
              <a:t>NAK0</a:t>
            </a:r>
            <a:endParaRPr/>
          </a:p>
        </p:txBody>
      </p:sp>
      <p:sp>
        <p:nvSpPr>
          <p:cNvPr id="3931" name="Google Shape;3931;p60"/>
          <p:cNvSpPr/>
          <p:nvPr/>
        </p:nvSpPr>
        <p:spPr>
          <a:xfrm>
            <a:off x="6980239" y="3851276"/>
            <a:ext cx="1798637" cy="1209675"/>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3932" name="Google Shape;3932;p60"/>
          <p:cNvCxnSpPr/>
          <p:nvPr/>
        </p:nvCxnSpPr>
        <p:spPr>
          <a:xfrm>
            <a:off x="6972301" y="2643189"/>
            <a:ext cx="1806575" cy="604837"/>
          </a:xfrm>
          <a:prstGeom prst="straightConnector1">
            <a:avLst/>
          </a:prstGeom>
          <a:noFill/>
          <a:ln cap="flat" cmpd="sng" w="28575">
            <a:solidFill>
              <a:schemeClr val="dk1"/>
            </a:solidFill>
            <a:prstDash val="solid"/>
            <a:round/>
            <a:headEnd len="med" w="med" type="none"/>
            <a:tailEnd len="lg" w="lg" type="stealth"/>
          </a:ln>
        </p:spPr>
      </p:cxnSp>
      <p:sp>
        <p:nvSpPr>
          <p:cNvPr id="3933" name="Google Shape;3933;p60"/>
          <p:cNvSpPr/>
          <p:nvPr/>
        </p:nvSpPr>
        <p:spPr>
          <a:xfrm>
            <a:off x="5591175" y="2981325"/>
            <a:ext cx="1373188"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3934" name="Google Shape;3934;p60"/>
          <p:cNvSpPr txBox="1"/>
          <p:nvPr/>
        </p:nvSpPr>
        <p:spPr>
          <a:xfrm>
            <a:off x="6040438" y="2854326"/>
            <a:ext cx="493712"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(S2)</a:t>
            </a:r>
            <a:endParaRPr/>
          </a:p>
        </p:txBody>
      </p:sp>
      <p:sp>
        <p:nvSpPr>
          <p:cNvPr id="3935" name="Google Shape;3935;p60"/>
          <p:cNvSpPr/>
          <p:nvPr/>
        </p:nvSpPr>
        <p:spPr>
          <a:xfrm>
            <a:off x="8888413" y="2987676"/>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3936" name="Google Shape;3936;p60"/>
          <p:cNvSpPr txBox="1"/>
          <p:nvPr/>
        </p:nvSpPr>
        <p:spPr>
          <a:xfrm>
            <a:off x="9190038" y="2857500"/>
            <a:ext cx="514350"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(R1)</a:t>
            </a:r>
            <a:endParaRPr/>
          </a:p>
        </p:txBody>
      </p:sp>
      <p:cxnSp>
        <p:nvCxnSpPr>
          <p:cNvPr id="3937" name="Google Shape;3937;p60"/>
          <p:cNvCxnSpPr/>
          <p:nvPr/>
        </p:nvCxnSpPr>
        <p:spPr>
          <a:xfrm>
            <a:off x="6967538" y="1223963"/>
            <a:ext cx="0" cy="5518150"/>
          </a:xfrm>
          <a:prstGeom prst="straightConnector1">
            <a:avLst/>
          </a:prstGeom>
          <a:noFill/>
          <a:ln cap="flat" cmpd="sng" w="9525">
            <a:solidFill>
              <a:schemeClr val="dk1"/>
            </a:solidFill>
            <a:prstDash val="dash"/>
            <a:round/>
            <a:headEnd len="med" w="med" type="none"/>
            <a:tailEnd len="med" w="med" type="none"/>
          </a:ln>
        </p:spPr>
      </p:cxnSp>
      <p:sp>
        <p:nvSpPr>
          <p:cNvPr id="3938" name="Google Shape;3938;p60"/>
          <p:cNvSpPr txBox="1"/>
          <p:nvPr/>
        </p:nvSpPr>
        <p:spPr>
          <a:xfrm rot="-5400000">
            <a:off x="4751388" y="4349751"/>
            <a:ext cx="9207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2</a:t>
            </a:r>
            <a:endParaRPr/>
          </a:p>
        </p:txBody>
      </p:sp>
      <p:grpSp>
        <p:nvGrpSpPr>
          <p:cNvPr id="3939" name="Google Shape;3939;p60"/>
          <p:cNvGrpSpPr/>
          <p:nvPr/>
        </p:nvGrpSpPr>
        <p:grpSpPr>
          <a:xfrm>
            <a:off x="5383213" y="3860801"/>
            <a:ext cx="207962" cy="1255713"/>
            <a:chOff x="2524123" y="2565535"/>
            <a:chExt cx="208492" cy="1256451"/>
          </a:xfrm>
        </p:grpSpPr>
        <p:cxnSp>
          <p:nvCxnSpPr>
            <p:cNvPr id="3940" name="Google Shape;3940;p60"/>
            <p:cNvCxnSpPr/>
            <p:nvPr/>
          </p:nvCxnSpPr>
          <p:spPr>
            <a:xfrm flipH="1">
              <a:off x="2524123" y="2565535"/>
              <a:ext cx="3228" cy="1256451"/>
            </a:xfrm>
            <a:prstGeom prst="straightConnector1">
              <a:avLst/>
            </a:prstGeom>
            <a:noFill/>
            <a:ln cap="flat" cmpd="sng" w="9525">
              <a:solidFill>
                <a:schemeClr val="dk1"/>
              </a:solidFill>
              <a:prstDash val="solid"/>
              <a:round/>
              <a:headEnd len="med" w="med" type="none"/>
              <a:tailEnd len="med" w="med" type="none"/>
            </a:ln>
          </p:spPr>
        </p:cxnSp>
        <p:cxnSp>
          <p:nvCxnSpPr>
            <p:cNvPr id="3941" name="Google Shape;3941;p60"/>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3942" name="Google Shape;3942;p60"/>
            <p:cNvCxnSpPr/>
            <p:nvPr/>
          </p:nvCxnSpPr>
          <p:spPr>
            <a:xfrm>
              <a:off x="2525301" y="3819674"/>
              <a:ext cx="205267" cy="0"/>
            </a:xfrm>
            <a:prstGeom prst="straightConnector1">
              <a:avLst/>
            </a:prstGeom>
            <a:noFill/>
            <a:ln cap="flat" cmpd="sng" w="9525">
              <a:solidFill>
                <a:schemeClr val="dk1"/>
              </a:solidFill>
              <a:prstDash val="solid"/>
              <a:round/>
              <a:headEnd len="med" w="med" type="none"/>
              <a:tailEnd len="med" w="med" type="none"/>
            </a:ln>
          </p:spPr>
        </p:cxnSp>
      </p:grpSp>
      <p:sp>
        <p:nvSpPr>
          <p:cNvPr id="3943" name="Google Shape;3943;p60"/>
          <p:cNvSpPr/>
          <p:nvPr/>
        </p:nvSpPr>
        <p:spPr>
          <a:xfrm>
            <a:off x="8891589" y="3608389"/>
            <a:ext cx="1512887"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3944" name="Google Shape;3944;p60"/>
          <p:cNvSpPr txBox="1"/>
          <p:nvPr/>
        </p:nvSpPr>
        <p:spPr>
          <a:xfrm>
            <a:off x="9194801" y="3478214"/>
            <a:ext cx="51276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(R2)</a:t>
            </a:r>
            <a:endParaRPr/>
          </a:p>
        </p:txBody>
      </p:sp>
      <p:cxnSp>
        <p:nvCxnSpPr>
          <p:cNvPr id="3945" name="Google Shape;3945;p60"/>
          <p:cNvCxnSpPr/>
          <p:nvPr/>
        </p:nvCxnSpPr>
        <p:spPr>
          <a:xfrm>
            <a:off x="6988175" y="3881439"/>
            <a:ext cx="1403350" cy="593725"/>
          </a:xfrm>
          <a:prstGeom prst="straightConnector1">
            <a:avLst/>
          </a:prstGeom>
          <a:noFill/>
          <a:ln cap="flat" cmpd="sng" w="28575">
            <a:solidFill>
              <a:schemeClr val="dk1"/>
            </a:solidFill>
            <a:prstDash val="solid"/>
            <a:round/>
            <a:headEnd len="med" w="med" type="none"/>
            <a:tailEnd len="lg" w="lg" type="stealth"/>
          </a:ln>
        </p:spPr>
      </p:cxnSp>
      <p:cxnSp>
        <p:nvCxnSpPr>
          <p:cNvPr id="3946" name="Google Shape;3946;p60"/>
          <p:cNvCxnSpPr/>
          <p:nvPr/>
        </p:nvCxnSpPr>
        <p:spPr>
          <a:xfrm flipH="1">
            <a:off x="6961188" y="5716589"/>
            <a:ext cx="1797050" cy="509587"/>
          </a:xfrm>
          <a:prstGeom prst="straightConnector1">
            <a:avLst/>
          </a:prstGeom>
          <a:noFill/>
          <a:ln cap="flat" cmpd="sng" w="28575">
            <a:solidFill>
              <a:schemeClr val="dk1"/>
            </a:solidFill>
            <a:prstDash val="solid"/>
            <a:round/>
            <a:headEnd len="med" w="med" type="none"/>
            <a:tailEnd len="lg" w="lg" type="stealth"/>
          </a:ln>
        </p:spPr>
      </p:cxnSp>
      <p:sp>
        <p:nvSpPr>
          <p:cNvPr id="3947" name="Google Shape;3947;p60"/>
          <p:cNvSpPr txBox="1"/>
          <p:nvPr/>
        </p:nvSpPr>
        <p:spPr>
          <a:xfrm>
            <a:off x="8177213" y="4505326"/>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Y</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grpSp>
        <p:nvGrpSpPr>
          <p:cNvPr id="3948" name="Google Shape;3948;p60"/>
          <p:cNvGrpSpPr/>
          <p:nvPr/>
        </p:nvGrpSpPr>
        <p:grpSpPr>
          <a:xfrm>
            <a:off x="5400676" y="2613026"/>
            <a:ext cx="207963" cy="619125"/>
            <a:chOff x="2525301" y="2572305"/>
            <a:chExt cx="207314" cy="618591"/>
          </a:xfrm>
        </p:grpSpPr>
        <p:cxnSp>
          <p:nvCxnSpPr>
            <p:cNvPr id="3949" name="Google Shape;3949;p60"/>
            <p:cNvCxnSpPr/>
            <p:nvPr/>
          </p:nvCxnSpPr>
          <p:spPr>
            <a:xfrm>
              <a:off x="2532013" y="2572305"/>
              <a:ext cx="0" cy="616450"/>
            </a:xfrm>
            <a:prstGeom prst="straightConnector1">
              <a:avLst/>
            </a:prstGeom>
            <a:noFill/>
            <a:ln cap="flat" cmpd="sng" w="9525">
              <a:solidFill>
                <a:schemeClr val="dk1"/>
              </a:solidFill>
              <a:prstDash val="solid"/>
              <a:round/>
              <a:headEnd len="med" w="med" type="none"/>
              <a:tailEnd len="med" w="med" type="none"/>
            </a:ln>
          </p:spPr>
        </p:cxnSp>
        <p:cxnSp>
          <p:nvCxnSpPr>
            <p:cNvPr id="3950" name="Google Shape;3950;p60"/>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3951" name="Google Shape;3951;p60"/>
            <p:cNvCxnSpPr/>
            <p:nvPr/>
          </p:nvCxnSpPr>
          <p:spPr>
            <a:xfrm>
              <a:off x="2525301" y="3190896"/>
              <a:ext cx="205267" cy="0"/>
            </a:xfrm>
            <a:prstGeom prst="straightConnector1">
              <a:avLst/>
            </a:prstGeom>
            <a:noFill/>
            <a:ln cap="flat" cmpd="sng" w="9525">
              <a:solidFill>
                <a:schemeClr val="dk1"/>
              </a:solidFill>
              <a:prstDash val="solid"/>
              <a:round/>
              <a:headEnd len="med" w="med" type="none"/>
              <a:tailEnd len="med" w="med" type="none"/>
            </a:ln>
          </p:spPr>
        </p:cxnSp>
      </p:grpSp>
      <p:cxnSp>
        <p:nvCxnSpPr>
          <p:cNvPr id="3952" name="Google Shape;3952;p60"/>
          <p:cNvCxnSpPr/>
          <p:nvPr/>
        </p:nvCxnSpPr>
        <p:spPr>
          <a:xfrm>
            <a:off x="6969125" y="5081589"/>
            <a:ext cx="1804988" cy="604837"/>
          </a:xfrm>
          <a:prstGeom prst="straightConnector1">
            <a:avLst/>
          </a:prstGeom>
          <a:noFill/>
          <a:ln cap="flat" cmpd="sng" w="28575">
            <a:solidFill>
              <a:schemeClr val="dk1"/>
            </a:solidFill>
            <a:prstDash val="solid"/>
            <a:round/>
            <a:headEnd len="med" w="med" type="none"/>
            <a:tailEnd len="lg" w="lg" type="stealth"/>
          </a:ln>
        </p:spPr>
      </p:cxnSp>
      <p:sp>
        <p:nvSpPr>
          <p:cNvPr id="3953" name="Google Shape;3953;p60"/>
          <p:cNvSpPr/>
          <p:nvPr/>
        </p:nvSpPr>
        <p:spPr>
          <a:xfrm>
            <a:off x="5545139" y="4872039"/>
            <a:ext cx="1374775"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3954" name="Google Shape;3954;p60"/>
          <p:cNvSpPr txBox="1"/>
          <p:nvPr/>
        </p:nvSpPr>
        <p:spPr>
          <a:xfrm>
            <a:off x="6045201" y="4745039"/>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(S4)</a:t>
            </a:r>
            <a:endParaRPr/>
          </a:p>
        </p:txBody>
      </p:sp>
      <p:sp>
        <p:nvSpPr>
          <p:cNvPr id="3955" name="Google Shape;3955;p60"/>
          <p:cNvSpPr txBox="1"/>
          <p:nvPr/>
        </p:nvSpPr>
        <p:spPr>
          <a:xfrm rot="-5400000">
            <a:off x="4804569" y="2777331"/>
            <a:ext cx="920750" cy="3063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1</a:t>
            </a:r>
            <a:endParaRPr/>
          </a:p>
        </p:txBody>
      </p:sp>
      <p:cxnSp>
        <p:nvCxnSpPr>
          <p:cNvPr id="3956" name="Google Shape;3956;p60"/>
          <p:cNvCxnSpPr/>
          <p:nvPr/>
        </p:nvCxnSpPr>
        <p:spPr>
          <a:xfrm flipH="1">
            <a:off x="7405689" y="3887788"/>
            <a:ext cx="1323975" cy="563562"/>
          </a:xfrm>
          <a:prstGeom prst="straightConnector1">
            <a:avLst/>
          </a:prstGeom>
          <a:noFill/>
          <a:ln cap="flat" cmpd="sng" w="28575">
            <a:solidFill>
              <a:schemeClr val="dk1"/>
            </a:solidFill>
            <a:prstDash val="solid"/>
            <a:round/>
            <a:headEnd len="med" w="med" type="none"/>
            <a:tailEnd len="lg" w="lg" type="stealth"/>
          </a:ln>
        </p:spPr>
      </p:cxnSp>
      <p:sp>
        <p:nvSpPr>
          <p:cNvPr id="3957" name="Google Shape;3957;p60"/>
          <p:cNvSpPr txBox="1"/>
          <p:nvPr/>
        </p:nvSpPr>
        <p:spPr>
          <a:xfrm>
            <a:off x="6977063" y="4513264"/>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X</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cxnSp>
        <p:nvCxnSpPr>
          <p:cNvPr id="3958" name="Google Shape;3958;p60"/>
          <p:cNvCxnSpPr/>
          <p:nvPr/>
        </p:nvCxnSpPr>
        <p:spPr>
          <a:xfrm flipH="1">
            <a:off x="7019926" y="2052638"/>
            <a:ext cx="1636713" cy="546100"/>
          </a:xfrm>
          <a:prstGeom prst="straightConnector1">
            <a:avLst/>
          </a:prstGeom>
          <a:noFill/>
          <a:ln cap="flat" cmpd="sng" w="28575">
            <a:solidFill>
              <a:schemeClr val="dk1"/>
            </a:solidFill>
            <a:prstDash val="solid"/>
            <a:round/>
            <a:headEnd len="med" w="med" type="none"/>
            <a:tailEnd len="lg" w="lg" type="stealth"/>
          </a:ln>
        </p:spPr>
      </p:cxnSp>
      <p:cxnSp>
        <p:nvCxnSpPr>
          <p:cNvPr id="3959" name="Google Shape;3959;p60"/>
          <p:cNvCxnSpPr/>
          <p:nvPr/>
        </p:nvCxnSpPr>
        <p:spPr>
          <a:xfrm>
            <a:off x="6980239" y="3194050"/>
            <a:ext cx="1806575" cy="604838"/>
          </a:xfrm>
          <a:prstGeom prst="straightConnector1">
            <a:avLst/>
          </a:prstGeom>
          <a:noFill/>
          <a:ln cap="flat" cmpd="sng" w="28575">
            <a:solidFill>
              <a:schemeClr val="dk1"/>
            </a:solidFill>
            <a:prstDash val="solid"/>
            <a:round/>
            <a:headEnd len="med" w="med" type="none"/>
            <a:tailEnd len="lg" w="lg" type="stealth"/>
          </a:ln>
        </p:spPr>
      </p:cxnSp>
      <p:sp>
        <p:nvSpPr>
          <p:cNvPr id="3960" name="Google Shape;3960;p60"/>
          <p:cNvSpPr/>
          <p:nvPr/>
        </p:nvSpPr>
        <p:spPr>
          <a:xfrm>
            <a:off x="8958263" y="54371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3961" name="Google Shape;3961;p60"/>
          <p:cNvSpPr txBox="1"/>
          <p:nvPr/>
        </p:nvSpPr>
        <p:spPr>
          <a:xfrm>
            <a:off x="9259888" y="53070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(R3)</a:t>
            </a:r>
            <a:endParaRPr/>
          </a:p>
        </p:txBody>
      </p:sp>
      <p:sp>
        <p:nvSpPr>
          <p:cNvPr id="3962" name="Google Shape;3962;p60"/>
          <p:cNvSpPr/>
          <p:nvPr/>
        </p:nvSpPr>
        <p:spPr>
          <a:xfrm>
            <a:off x="5595939" y="3613150"/>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3963" name="Google Shape;3963;p60"/>
          <p:cNvSpPr txBox="1"/>
          <p:nvPr/>
        </p:nvSpPr>
        <p:spPr>
          <a:xfrm>
            <a:off x="6045201" y="3487739"/>
            <a:ext cx="493713"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(S3)</a:t>
            </a:r>
            <a:endParaRPr/>
          </a:p>
        </p:txBody>
      </p:sp>
      <p:cxnSp>
        <p:nvCxnSpPr>
          <p:cNvPr id="3964" name="Google Shape;3964;p60"/>
          <p:cNvCxnSpPr/>
          <p:nvPr/>
        </p:nvCxnSpPr>
        <p:spPr>
          <a:xfrm flipH="1">
            <a:off x="7015163" y="3317875"/>
            <a:ext cx="1636712" cy="546100"/>
          </a:xfrm>
          <a:prstGeom prst="straightConnector1">
            <a:avLst/>
          </a:prstGeom>
          <a:noFill/>
          <a:ln cap="flat" cmpd="sng" w="28575">
            <a:solidFill>
              <a:schemeClr val="dk1"/>
            </a:solidFill>
            <a:prstDash val="solid"/>
            <a:round/>
            <a:headEnd len="med" w="med" type="none"/>
            <a:tailEnd len="lg" w="lg" type="stealth"/>
          </a:ln>
        </p:spPr>
      </p:cxnSp>
      <p:sp>
        <p:nvSpPr>
          <p:cNvPr id="3965" name="Google Shape;3965;p60"/>
          <p:cNvSpPr/>
          <p:nvPr/>
        </p:nvSpPr>
        <p:spPr>
          <a:xfrm>
            <a:off x="5575300" y="6034089"/>
            <a:ext cx="1373188"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3966" name="Google Shape;3966;p60"/>
          <p:cNvSpPr txBox="1"/>
          <p:nvPr/>
        </p:nvSpPr>
        <p:spPr>
          <a:xfrm>
            <a:off x="6073776" y="5908675"/>
            <a:ext cx="493713"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(S5)</a:t>
            </a:r>
            <a:endParaRPr/>
          </a:p>
        </p:txBody>
      </p:sp>
      <p:cxnSp>
        <p:nvCxnSpPr>
          <p:cNvPr id="3967" name="Google Shape;3967;p60"/>
          <p:cNvCxnSpPr/>
          <p:nvPr/>
        </p:nvCxnSpPr>
        <p:spPr>
          <a:xfrm>
            <a:off x="6972301" y="6253164"/>
            <a:ext cx="1776413" cy="428625"/>
          </a:xfrm>
          <a:prstGeom prst="straightConnector1">
            <a:avLst/>
          </a:prstGeom>
          <a:noFill/>
          <a:ln cap="flat" cmpd="sng" w="28575">
            <a:solidFill>
              <a:schemeClr val="dk1"/>
            </a:solidFill>
            <a:prstDash val="solid"/>
            <a:round/>
            <a:headEnd len="med" w="med" type="none"/>
            <a:tailEnd len="lg" w="lg" type="stealth"/>
          </a:ln>
        </p:spPr>
      </p:cxnSp>
      <p:sp>
        <p:nvSpPr>
          <p:cNvPr id="3968" name="Google Shape;3968;p60"/>
          <p:cNvSpPr/>
          <p:nvPr/>
        </p:nvSpPr>
        <p:spPr>
          <a:xfrm>
            <a:off x="8913813" y="64404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3969" name="Google Shape;3969;p60"/>
          <p:cNvSpPr txBox="1"/>
          <p:nvPr/>
        </p:nvSpPr>
        <p:spPr>
          <a:xfrm>
            <a:off x="9215438" y="63103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(R4)</a:t>
            </a:r>
            <a:endParaRPr/>
          </a:p>
        </p:txBody>
      </p:sp>
      <p:grpSp>
        <p:nvGrpSpPr>
          <p:cNvPr id="3970" name="Google Shape;3970;p60"/>
          <p:cNvGrpSpPr/>
          <p:nvPr/>
        </p:nvGrpSpPr>
        <p:grpSpPr>
          <a:xfrm>
            <a:off x="8220481" y="-249778"/>
            <a:ext cx="2461403" cy="1558421"/>
            <a:chOff x="6697235" y="-249764"/>
            <a:chExt cx="2460203" cy="1558188"/>
          </a:xfrm>
        </p:grpSpPr>
        <p:sp>
          <p:nvSpPr>
            <p:cNvPr id="3971" name="Google Shape;3971;p60"/>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b="0" i="0" sz="2400" u="none" cap="none" strike="noStrike">
                <a:solidFill>
                  <a:schemeClr val="dk1"/>
                </a:solidFill>
                <a:latin typeface="Comic Sans MS"/>
                <a:ea typeface="Comic Sans MS"/>
                <a:cs typeface="Comic Sans MS"/>
                <a:sym typeface="Comic Sans MS"/>
              </a:endParaRPr>
            </a:p>
          </p:txBody>
        </p:sp>
        <p:sp>
          <p:nvSpPr>
            <p:cNvPr id="3972" name="Google Shape;3972;p60"/>
            <p:cNvSpPr txBox="1"/>
            <p:nvPr/>
          </p:nvSpPr>
          <p:spPr>
            <a:xfrm>
              <a:off x="7216423" y="342294"/>
              <a:ext cx="126028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Noto Sans Symbols"/>
                <a:buNone/>
              </a:pPr>
              <a:r>
                <a:rPr b="1" i="0" lang="en-US" sz="1600" u="none" cap="none" strike="noStrike">
                  <a:solidFill>
                    <a:srgbClr val="FF0000"/>
                  </a:solidFill>
                  <a:latin typeface="Tahoma"/>
                  <a:ea typeface="Tahoma"/>
                  <a:cs typeface="Tahoma"/>
                  <a:sym typeface="Tahoma"/>
                </a:rPr>
                <a:t>Self-Study</a:t>
              </a:r>
              <a:endParaRPr/>
            </a:p>
          </p:txBody>
        </p:sp>
      </p:grpSp>
      <p:sp>
        <p:nvSpPr>
          <p:cNvPr id="3973" name="Google Shape;3973;p6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7" name="Shape 3977"/>
        <p:cNvGrpSpPr/>
        <p:nvPr/>
      </p:nvGrpSpPr>
      <p:grpSpPr>
        <a:xfrm>
          <a:off x="0" y="0"/>
          <a:ext cx="0" cy="0"/>
          <a:chOff x="0" y="0"/>
          <a:chExt cx="0" cy="0"/>
        </a:xfrm>
      </p:grpSpPr>
      <p:sp>
        <p:nvSpPr>
          <p:cNvPr id="3978" name="Google Shape;3978;p61"/>
          <p:cNvSpPr txBox="1"/>
          <p:nvPr/>
        </p:nvSpPr>
        <p:spPr>
          <a:xfrm>
            <a:off x="1849439" y="1441450"/>
            <a:ext cx="3163887" cy="52403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1" i="0" lang="en-US" sz="2200" u="sng" cap="none" strike="noStrike">
                <a:solidFill>
                  <a:srgbClr val="FF0000"/>
                </a:solidFill>
                <a:latin typeface="Arial"/>
                <a:ea typeface="Arial"/>
                <a:cs typeface="Arial"/>
                <a:sym typeface="Arial"/>
              </a:rPr>
              <a:t>Solutions:</a:t>
            </a:r>
            <a:endParaRPr/>
          </a:p>
          <a:p>
            <a:pPr indent="0" lvl="0" marL="0" marR="0" rtl="0" algn="l">
              <a:lnSpc>
                <a:spcPct val="100000"/>
              </a:lnSpc>
              <a:spcBef>
                <a:spcPts val="440"/>
              </a:spcBef>
              <a:spcAft>
                <a:spcPts val="0"/>
              </a:spcAft>
              <a:buClr>
                <a:srgbClr val="000099"/>
              </a:buClr>
              <a:buSzPts val="1430"/>
              <a:buFont typeface="Noto Sans Symbols"/>
              <a:buNone/>
            </a:pPr>
            <a:r>
              <a:t/>
            </a:r>
            <a:endParaRPr b="1" i="0" sz="2200" u="sng" cap="none" strike="noStrike">
              <a:solidFill>
                <a:srgbClr val="FF0000"/>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dk1"/>
                </a:solidFill>
                <a:latin typeface="Arial"/>
                <a:ea typeface="Arial"/>
                <a:cs typeface="Arial"/>
                <a:sym typeface="Arial"/>
              </a:rPr>
              <a:t>(as in figure)</a:t>
            </a:r>
            <a:endParaRPr/>
          </a:p>
          <a:p>
            <a:pPr indent="-317500" lvl="0" marL="457200" marR="0" rtl="0" algn="l">
              <a:lnSpc>
                <a:spcPct val="100000"/>
              </a:lnSpc>
              <a:spcBef>
                <a:spcPts val="440"/>
              </a:spcBef>
              <a:spcAft>
                <a:spcPts val="0"/>
              </a:spcAft>
              <a:buClr>
                <a:schemeClr val="dk1"/>
              </a:buClr>
              <a:buSzPts val="2200"/>
              <a:buFont typeface="Noto Sans Symbols"/>
              <a:buNone/>
            </a:pPr>
            <a:r>
              <a:t/>
            </a:r>
            <a:endParaRPr b="0" i="0" sz="2200" u="none" cap="none" strike="noStrike">
              <a:solidFill>
                <a:schemeClr val="dk1"/>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lt1"/>
                </a:solidFill>
                <a:latin typeface="Arial"/>
                <a:ea typeface="Arial"/>
                <a:cs typeface="Arial"/>
                <a:sym typeface="Arial"/>
              </a:rPr>
              <a:t>X – </a:t>
            </a:r>
            <a:r>
              <a:rPr b="0" i="0" lang="en-US" sz="2200" u="none" cap="none" strike="noStrike">
                <a:solidFill>
                  <a:schemeClr val="lt1"/>
                </a:solidFill>
                <a:latin typeface="Courier New"/>
                <a:ea typeface="Courier New"/>
                <a:cs typeface="Courier New"/>
                <a:sym typeface="Courier New"/>
              </a:rPr>
              <a:t>ACK</a:t>
            </a:r>
            <a:r>
              <a:rPr b="0" i="0" lang="en-US" sz="2200" u="none" cap="none" strike="noStrike">
                <a:solidFill>
                  <a:schemeClr val="lt1"/>
                </a:solidFill>
                <a:latin typeface="Arial"/>
                <a:ea typeface="Arial"/>
                <a:cs typeface="Arial"/>
                <a:sym typeface="Arial"/>
              </a:rPr>
              <a:t> loss,         Y – packet loss</a:t>
            </a:r>
            <a:endParaRPr/>
          </a:p>
          <a:p>
            <a:pPr indent="-317500" lvl="0" marL="457200" marR="0" rtl="0" algn="l">
              <a:lnSpc>
                <a:spcPct val="100000"/>
              </a:lnSpc>
              <a:spcBef>
                <a:spcPts val="440"/>
              </a:spcBef>
              <a:spcAft>
                <a:spcPts val="0"/>
              </a:spcAft>
              <a:buClr>
                <a:schemeClr val="dk1"/>
              </a:buClr>
              <a:buSzPts val="2200"/>
              <a:buFont typeface="Noto Sans Symbols"/>
              <a:buNone/>
            </a:pPr>
            <a:r>
              <a:t/>
            </a:r>
            <a:endParaRPr b="0" i="0" sz="2200" u="none" cap="none" strike="noStrike">
              <a:solidFill>
                <a:schemeClr val="lt1"/>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lt1"/>
                </a:solidFill>
                <a:latin typeface="Arial"/>
                <a:ea typeface="Arial"/>
                <a:cs typeface="Arial"/>
                <a:sym typeface="Arial"/>
              </a:rPr>
              <a:t>Premature timeout</a:t>
            </a:r>
            <a:endParaRPr/>
          </a:p>
          <a:p>
            <a:pPr indent="-317500" lvl="0" marL="457200" marR="0" rtl="0" algn="l">
              <a:lnSpc>
                <a:spcPct val="100000"/>
              </a:lnSpc>
              <a:spcBef>
                <a:spcPts val="440"/>
              </a:spcBef>
              <a:spcAft>
                <a:spcPts val="0"/>
              </a:spcAft>
              <a:buClr>
                <a:schemeClr val="dk1"/>
              </a:buClr>
              <a:buSzPts val="2200"/>
              <a:buFont typeface="Noto Sans Symbols"/>
              <a:buNone/>
            </a:pPr>
            <a:r>
              <a:t/>
            </a:r>
            <a:endParaRPr b="0" i="0" sz="2200" u="none" cap="none" strike="noStrike">
              <a:solidFill>
                <a:schemeClr val="lt1"/>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lt1"/>
                </a:solidFill>
                <a:latin typeface="Arial"/>
                <a:ea typeface="Arial"/>
                <a:cs typeface="Arial"/>
                <a:sym typeface="Arial"/>
              </a:rPr>
              <a:t>Yes. Duplicate packet 0 detected  at R2.</a:t>
            </a:r>
            <a:endParaRPr/>
          </a:p>
        </p:txBody>
      </p:sp>
      <p:sp>
        <p:nvSpPr>
          <p:cNvPr id="3979" name="Google Shape;3979;p61"/>
          <p:cNvSpPr/>
          <p:nvPr/>
        </p:nvSpPr>
        <p:spPr>
          <a:xfrm flipH="1" rot="10800000">
            <a:off x="6959600" y="6273800"/>
            <a:ext cx="1798638" cy="469900"/>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sp>
        <p:nvSpPr>
          <p:cNvPr id="3980" name="Google Shape;3980;p61"/>
          <p:cNvSpPr/>
          <p:nvPr/>
        </p:nvSpPr>
        <p:spPr>
          <a:xfrm>
            <a:off x="6988175" y="1406525"/>
            <a:ext cx="1798638" cy="1208088"/>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3981" name="Google Shape;3981;p61"/>
          <p:cNvCxnSpPr/>
          <p:nvPr/>
        </p:nvCxnSpPr>
        <p:spPr>
          <a:xfrm>
            <a:off x="8797925" y="1225550"/>
            <a:ext cx="0" cy="5518150"/>
          </a:xfrm>
          <a:prstGeom prst="straightConnector1">
            <a:avLst/>
          </a:prstGeom>
          <a:noFill/>
          <a:ln cap="flat" cmpd="sng" w="9525">
            <a:solidFill>
              <a:schemeClr val="dk1"/>
            </a:solidFill>
            <a:prstDash val="dash"/>
            <a:round/>
            <a:headEnd len="med" w="med" type="none"/>
            <a:tailEnd len="med" w="med" type="none"/>
          </a:ln>
        </p:spPr>
      </p:cxnSp>
      <p:cxnSp>
        <p:nvCxnSpPr>
          <p:cNvPr id="3982" name="Google Shape;3982;p61"/>
          <p:cNvCxnSpPr>
            <a:endCxn id="3980" idx="3"/>
          </p:cNvCxnSpPr>
          <p:nvPr/>
        </p:nvCxnSpPr>
        <p:spPr>
          <a:xfrm>
            <a:off x="6980213" y="1405769"/>
            <a:ext cx="1806600" cy="604800"/>
          </a:xfrm>
          <a:prstGeom prst="straightConnector1">
            <a:avLst/>
          </a:prstGeom>
          <a:noFill/>
          <a:ln cap="flat" cmpd="sng" w="28575">
            <a:solidFill>
              <a:schemeClr val="dk1"/>
            </a:solidFill>
            <a:prstDash val="solid"/>
            <a:round/>
            <a:headEnd len="med" w="med" type="none"/>
            <a:tailEnd len="lg" w="lg" type="stealth"/>
          </a:ln>
        </p:spPr>
      </p:cxnSp>
      <p:sp>
        <p:nvSpPr>
          <p:cNvPr id="3983" name="Google Shape;3983;p61"/>
          <p:cNvSpPr txBox="1"/>
          <p:nvPr/>
        </p:nvSpPr>
        <p:spPr>
          <a:xfrm>
            <a:off x="6556375" y="796926"/>
            <a:ext cx="795338"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Sender</a:t>
            </a:r>
            <a:endParaRPr/>
          </a:p>
        </p:txBody>
      </p:sp>
      <p:sp>
        <p:nvSpPr>
          <p:cNvPr id="3984" name="Google Shape;3984;p61"/>
          <p:cNvSpPr txBox="1"/>
          <p:nvPr/>
        </p:nvSpPr>
        <p:spPr>
          <a:xfrm>
            <a:off x="8297864" y="798514"/>
            <a:ext cx="94297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Receiver</a:t>
            </a:r>
            <a:endParaRPr/>
          </a:p>
        </p:txBody>
      </p:sp>
      <p:sp>
        <p:nvSpPr>
          <p:cNvPr id="3985" name="Google Shape;3985;p61"/>
          <p:cNvSpPr txBox="1"/>
          <p:nvPr/>
        </p:nvSpPr>
        <p:spPr>
          <a:xfrm>
            <a:off x="5870576" y="1150939"/>
            <a:ext cx="1019175"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Send </a:t>
            </a:r>
            <a:r>
              <a:rPr b="0" i="0" lang="en-US" sz="1400" u="none" cap="none" strike="noStrike">
                <a:solidFill>
                  <a:schemeClr val="dk1"/>
                </a:solidFill>
                <a:latin typeface="Courier New"/>
                <a:ea typeface="Courier New"/>
                <a:cs typeface="Courier New"/>
                <a:sym typeface="Courier New"/>
              </a:rPr>
              <a:t>pkt0</a:t>
            </a:r>
            <a:endParaRPr/>
          </a:p>
        </p:txBody>
      </p:sp>
      <p:sp>
        <p:nvSpPr>
          <p:cNvPr id="3986" name="Google Shape;3986;p61"/>
          <p:cNvSpPr/>
          <p:nvPr/>
        </p:nvSpPr>
        <p:spPr>
          <a:xfrm>
            <a:off x="5599114" y="2384425"/>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3987" name="Google Shape;3987;p61"/>
          <p:cNvSpPr txBox="1"/>
          <p:nvPr/>
        </p:nvSpPr>
        <p:spPr>
          <a:xfrm>
            <a:off x="6048376" y="2257426"/>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(S1)</a:t>
            </a:r>
            <a:endParaRPr/>
          </a:p>
        </p:txBody>
      </p:sp>
      <p:sp>
        <p:nvSpPr>
          <p:cNvPr id="3988" name="Google Shape;3988;p61"/>
          <p:cNvSpPr txBox="1"/>
          <p:nvPr/>
        </p:nvSpPr>
        <p:spPr>
          <a:xfrm>
            <a:off x="8832850" y="1808164"/>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rcv </a:t>
            </a:r>
            <a:r>
              <a:rPr b="0" i="0" lang="en-US" sz="1400" u="none" cap="none" strike="noStrike">
                <a:solidFill>
                  <a:schemeClr val="dk1"/>
                </a:solidFill>
                <a:latin typeface="Courier New"/>
                <a:ea typeface="Courier New"/>
                <a:cs typeface="Courier New"/>
                <a:sym typeface="Courier New"/>
              </a:rPr>
              <a:t>pkt0</a:t>
            </a:r>
            <a:r>
              <a:rPr b="0" i="0" lang="en-US" sz="1400" u="none" cap="none" strike="noStrike">
                <a:solidFill>
                  <a:schemeClr val="dk1"/>
                </a:solidFill>
                <a:latin typeface="Times New Roman"/>
                <a:ea typeface="Times New Roman"/>
                <a:cs typeface="Times New Roman"/>
                <a:sym typeface="Times New Roman"/>
              </a:rPr>
              <a:t>, send </a:t>
            </a:r>
            <a:r>
              <a:rPr b="0" i="0" lang="en-US" sz="1400" u="none" cap="none" strike="noStrike">
                <a:solidFill>
                  <a:schemeClr val="dk1"/>
                </a:solidFill>
                <a:latin typeface="Courier New"/>
                <a:ea typeface="Courier New"/>
                <a:cs typeface="Courier New"/>
                <a:sym typeface="Courier New"/>
              </a:rPr>
              <a:t>NAK0</a:t>
            </a:r>
            <a:endParaRPr/>
          </a:p>
        </p:txBody>
      </p:sp>
      <p:sp>
        <p:nvSpPr>
          <p:cNvPr id="3989" name="Google Shape;3989;p61"/>
          <p:cNvSpPr/>
          <p:nvPr/>
        </p:nvSpPr>
        <p:spPr>
          <a:xfrm>
            <a:off x="6980239" y="3851276"/>
            <a:ext cx="1798637" cy="1209675"/>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3990" name="Google Shape;3990;p61"/>
          <p:cNvCxnSpPr/>
          <p:nvPr/>
        </p:nvCxnSpPr>
        <p:spPr>
          <a:xfrm>
            <a:off x="6972301" y="2643189"/>
            <a:ext cx="1806575" cy="604837"/>
          </a:xfrm>
          <a:prstGeom prst="straightConnector1">
            <a:avLst/>
          </a:prstGeom>
          <a:noFill/>
          <a:ln cap="flat" cmpd="sng" w="28575">
            <a:solidFill>
              <a:schemeClr val="dk1"/>
            </a:solidFill>
            <a:prstDash val="solid"/>
            <a:round/>
            <a:headEnd len="med" w="med" type="none"/>
            <a:tailEnd len="lg" w="lg" type="stealth"/>
          </a:ln>
        </p:spPr>
      </p:cxnSp>
      <p:sp>
        <p:nvSpPr>
          <p:cNvPr id="3991" name="Google Shape;3991;p61"/>
          <p:cNvSpPr/>
          <p:nvPr/>
        </p:nvSpPr>
        <p:spPr>
          <a:xfrm>
            <a:off x="5591175" y="2981325"/>
            <a:ext cx="1373188"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3992" name="Google Shape;3992;p61"/>
          <p:cNvSpPr txBox="1"/>
          <p:nvPr/>
        </p:nvSpPr>
        <p:spPr>
          <a:xfrm>
            <a:off x="6040438" y="2854326"/>
            <a:ext cx="493712"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(S2)</a:t>
            </a:r>
            <a:endParaRPr/>
          </a:p>
        </p:txBody>
      </p:sp>
      <p:sp>
        <p:nvSpPr>
          <p:cNvPr id="3993" name="Google Shape;3993;p61"/>
          <p:cNvSpPr/>
          <p:nvPr/>
        </p:nvSpPr>
        <p:spPr>
          <a:xfrm>
            <a:off x="8888413" y="2987676"/>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3994" name="Google Shape;3994;p61"/>
          <p:cNvSpPr txBox="1"/>
          <p:nvPr/>
        </p:nvSpPr>
        <p:spPr>
          <a:xfrm>
            <a:off x="9190038" y="2857500"/>
            <a:ext cx="514350"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(R1)</a:t>
            </a:r>
            <a:endParaRPr/>
          </a:p>
        </p:txBody>
      </p:sp>
      <p:cxnSp>
        <p:nvCxnSpPr>
          <p:cNvPr id="3995" name="Google Shape;3995;p61"/>
          <p:cNvCxnSpPr/>
          <p:nvPr/>
        </p:nvCxnSpPr>
        <p:spPr>
          <a:xfrm>
            <a:off x="6967538" y="1223963"/>
            <a:ext cx="0" cy="5518150"/>
          </a:xfrm>
          <a:prstGeom prst="straightConnector1">
            <a:avLst/>
          </a:prstGeom>
          <a:noFill/>
          <a:ln cap="flat" cmpd="sng" w="9525">
            <a:solidFill>
              <a:schemeClr val="dk1"/>
            </a:solidFill>
            <a:prstDash val="dash"/>
            <a:round/>
            <a:headEnd len="med" w="med" type="none"/>
            <a:tailEnd len="med" w="med" type="none"/>
          </a:ln>
        </p:spPr>
      </p:cxnSp>
      <p:sp>
        <p:nvSpPr>
          <p:cNvPr id="3996" name="Google Shape;3996;p61"/>
          <p:cNvSpPr txBox="1"/>
          <p:nvPr/>
        </p:nvSpPr>
        <p:spPr>
          <a:xfrm rot="-5400000">
            <a:off x="4751388" y="4349751"/>
            <a:ext cx="9207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2</a:t>
            </a:r>
            <a:endParaRPr/>
          </a:p>
        </p:txBody>
      </p:sp>
      <p:grpSp>
        <p:nvGrpSpPr>
          <p:cNvPr id="3997" name="Google Shape;3997;p61"/>
          <p:cNvGrpSpPr/>
          <p:nvPr/>
        </p:nvGrpSpPr>
        <p:grpSpPr>
          <a:xfrm>
            <a:off x="5383213" y="3860801"/>
            <a:ext cx="207962" cy="1255713"/>
            <a:chOff x="2524123" y="2565535"/>
            <a:chExt cx="208492" cy="1256451"/>
          </a:xfrm>
        </p:grpSpPr>
        <p:cxnSp>
          <p:nvCxnSpPr>
            <p:cNvPr id="3998" name="Google Shape;3998;p61"/>
            <p:cNvCxnSpPr/>
            <p:nvPr/>
          </p:nvCxnSpPr>
          <p:spPr>
            <a:xfrm flipH="1">
              <a:off x="2524123" y="2565535"/>
              <a:ext cx="3228" cy="1256451"/>
            </a:xfrm>
            <a:prstGeom prst="straightConnector1">
              <a:avLst/>
            </a:prstGeom>
            <a:noFill/>
            <a:ln cap="flat" cmpd="sng" w="9525">
              <a:solidFill>
                <a:schemeClr val="dk1"/>
              </a:solidFill>
              <a:prstDash val="solid"/>
              <a:round/>
              <a:headEnd len="med" w="med" type="none"/>
              <a:tailEnd len="med" w="med" type="none"/>
            </a:ln>
          </p:spPr>
        </p:cxnSp>
        <p:cxnSp>
          <p:nvCxnSpPr>
            <p:cNvPr id="3999" name="Google Shape;3999;p61"/>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000" name="Google Shape;4000;p61"/>
            <p:cNvCxnSpPr/>
            <p:nvPr/>
          </p:nvCxnSpPr>
          <p:spPr>
            <a:xfrm>
              <a:off x="2525301" y="3819674"/>
              <a:ext cx="205267" cy="0"/>
            </a:xfrm>
            <a:prstGeom prst="straightConnector1">
              <a:avLst/>
            </a:prstGeom>
            <a:noFill/>
            <a:ln cap="flat" cmpd="sng" w="9525">
              <a:solidFill>
                <a:schemeClr val="dk1"/>
              </a:solidFill>
              <a:prstDash val="solid"/>
              <a:round/>
              <a:headEnd len="med" w="med" type="none"/>
              <a:tailEnd len="med" w="med" type="none"/>
            </a:ln>
          </p:spPr>
        </p:cxnSp>
      </p:grpSp>
      <p:sp>
        <p:nvSpPr>
          <p:cNvPr id="4001" name="Google Shape;4001;p61"/>
          <p:cNvSpPr/>
          <p:nvPr/>
        </p:nvSpPr>
        <p:spPr>
          <a:xfrm>
            <a:off x="8891589" y="3608389"/>
            <a:ext cx="1512887"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002" name="Google Shape;4002;p61"/>
          <p:cNvSpPr txBox="1"/>
          <p:nvPr/>
        </p:nvSpPr>
        <p:spPr>
          <a:xfrm>
            <a:off x="9194801" y="3478214"/>
            <a:ext cx="51276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(R2)</a:t>
            </a:r>
            <a:endParaRPr/>
          </a:p>
        </p:txBody>
      </p:sp>
      <p:cxnSp>
        <p:nvCxnSpPr>
          <p:cNvPr id="4003" name="Google Shape;4003;p61"/>
          <p:cNvCxnSpPr/>
          <p:nvPr/>
        </p:nvCxnSpPr>
        <p:spPr>
          <a:xfrm>
            <a:off x="6988175" y="3881439"/>
            <a:ext cx="1403350" cy="593725"/>
          </a:xfrm>
          <a:prstGeom prst="straightConnector1">
            <a:avLst/>
          </a:prstGeom>
          <a:noFill/>
          <a:ln cap="flat" cmpd="sng" w="28575">
            <a:solidFill>
              <a:schemeClr val="dk1"/>
            </a:solidFill>
            <a:prstDash val="solid"/>
            <a:round/>
            <a:headEnd len="med" w="med" type="none"/>
            <a:tailEnd len="lg" w="lg" type="stealth"/>
          </a:ln>
        </p:spPr>
      </p:cxnSp>
      <p:cxnSp>
        <p:nvCxnSpPr>
          <p:cNvPr id="4004" name="Google Shape;4004;p61"/>
          <p:cNvCxnSpPr/>
          <p:nvPr/>
        </p:nvCxnSpPr>
        <p:spPr>
          <a:xfrm flipH="1">
            <a:off x="6961188" y="5716589"/>
            <a:ext cx="1797050" cy="509587"/>
          </a:xfrm>
          <a:prstGeom prst="straightConnector1">
            <a:avLst/>
          </a:prstGeom>
          <a:noFill/>
          <a:ln cap="flat" cmpd="sng" w="28575">
            <a:solidFill>
              <a:schemeClr val="dk1"/>
            </a:solidFill>
            <a:prstDash val="solid"/>
            <a:round/>
            <a:headEnd len="med" w="med" type="none"/>
            <a:tailEnd len="lg" w="lg" type="stealth"/>
          </a:ln>
        </p:spPr>
      </p:cxnSp>
      <p:sp>
        <p:nvSpPr>
          <p:cNvPr id="4005" name="Google Shape;4005;p61"/>
          <p:cNvSpPr txBox="1"/>
          <p:nvPr/>
        </p:nvSpPr>
        <p:spPr>
          <a:xfrm>
            <a:off x="8177213" y="4505326"/>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Y</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grpSp>
        <p:nvGrpSpPr>
          <p:cNvPr id="4006" name="Google Shape;4006;p61"/>
          <p:cNvGrpSpPr/>
          <p:nvPr/>
        </p:nvGrpSpPr>
        <p:grpSpPr>
          <a:xfrm>
            <a:off x="5400676" y="2613026"/>
            <a:ext cx="207963" cy="619125"/>
            <a:chOff x="2525301" y="2572305"/>
            <a:chExt cx="207314" cy="618591"/>
          </a:xfrm>
        </p:grpSpPr>
        <p:cxnSp>
          <p:nvCxnSpPr>
            <p:cNvPr id="4007" name="Google Shape;4007;p61"/>
            <p:cNvCxnSpPr/>
            <p:nvPr/>
          </p:nvCxnSpPr>
          <p:spPr>
            <a:xfrm>
              <a:off x="2532013" y="2572305"/>
              <a:ext cx="0" cy="616450"/>
            </a:xfrm>
            <a:prstGeom prst="straightConnector1">
              <a:avLst/>
            </a:prstGeom>
            <a:noFill/>
            <a:ln cap="flat" cmpd="sng" w="9525">
              <a:solidFill>
                <a:schemeClr val="dk1"/>
              </a:solidFill>
              <a:prstDash val="solid"/>
              <a:round/>
              <a:headEnd len="med" w="med" type="none"/>
              <a:tailEnd len="med" w="med" type="none"/>
            </a:ln>
          </p:spPr>
        </p:cxnSp>
        <p:cxnSp>
          <p:nvCxnSpPr>
            <p:cNvPr id="4008" name="Google Shape;4008;p61"/>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009" name="Google Shape;4009;p61"/>
            <p:cNvCxnSpPr/>
            <p:nvPr/>
          </p:nvCxnSpPr>
          <p:spPr>
            <a:xfrm>
              <a:off x="2525301" y="3190896"/>
              <a:ext cx="205267" cy="0"/>
            </a:xfrm>
            <a:prstGeom prst="straightConnector1">
              <a:avLst/>
            </a:prstGeom>
            <a:noFill/>
            <a:ln cap="flat" cmpd="sng" w="9525">
              <a:solidFill>
                <a:schemeClr val="dk1"/>
              </a:solidFill>
              <a:prstDash val="solid"/>
              <a:round/>
              <a:headEnd len="med" w="med" type="none"/>
              <a:tailEnd len="med" w="med" type="none"/>
            </a:ln>
          </p:spPr>
        </p:cxnSp>
      </p:grpSp>
      <p:cxnSp>
        <p:nvCxnSpPr>
          <p:cNvPr id="4010" name="Google Shape;4010;p61"/>
          <p:cNvCxnSpPr/>
          <p:nvPr/>
        </p:nvCxnSpPr>
        <p:spPr>
          <a:xfrm>
            <a:off x="6969125" y="5081589"/>
            <a:ext cx="1804988" cy="604837"/>
          </a:xfrm>
          <a:prstGeom prst="straightConnector1">
            <a:avLst/>
          </a:prstGeom>
          <a:noFill/>
          <a:ln cap="flat" cmpd="sng" w="28575">
            <a:solidFill>
              <a:schemeClr val="dk1"/>
            </a:solidFill>
            <a:prstDash val="solid"/>
            <a:round/>
            <a:headEnd len="med" w="med" type="none"/>
            <a:tailEnd len="lg" w="lg" type="stealth"/>
          </a:ln>
        </p:spPr>
      </p:cxnSp>
      <p:sp>
        <p:nvSpPr>
          <p:cNvPr id="4011" name="Google Shape;4011;p61"/>
          <p:cNvSpPr/>
          <p:nvPr/>
        </p:nvSpPr>
        <p:spPr>
          <a:xfrm>
            <a:off x="5545139" y="4872039"/>
            <a:ext cx="1374775"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012" name="Google Shape;4012;p61"/>
          <p:cNvSpPr txBox="1"/>
          <p:nvPr/>
        </p:nvSpPr>
        <p:spPr>
          <a:xfrm>
            <a:off x="6045201" y="4745039"/>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(S4)</a:t>
            </a:r>
            <a:endParaRPr/>
          </a:p>
        </p:txBody>
      </p:sp>
      <p:sp>
        <p:nvSpPr>
          <p:cNvPr id="4013" name="Google Shape;4013;p61"/>
          <p:cNvSpPr txBox="1"/>
          <p:nvPr/>
        </p:nvSpPr>
        <p:spPr>
          <a:xfrm rot="-5400000">
            <a:off x="4804569" y="2777331"/>
            <a:ext cx="920750" cy="3063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1</a:t>
            </a:r>
            <a:endParaRPr/>
          </a:p>
        </p:txBody>
      </p:sp>
      <p:cxnSp>
        <p:nvCxnSpPr>
          <p:cNvPr id="4014" name="Google Shape;4014;p61"/>
          <p:cNvCxnSpPr/>
          <p:nvPr/>
        </p:nvCxnSpPr>
        <p:spPr>
          <a:xfrm flipH="1">
            <a:off x="7405689" y="3887788"/>
            <a:ext cx="1323975" cy="563562"/>
          </a:xfrm>
          <a:prstGeom prst="straightConnector1">
            <a:avLst/>
          </a:prstGeom>
          <a:noFill/>
          <a:ln cap="flat" cmpd="sng" w="28575">
            <a:solidFill>
              <a:schemeClr val="dk1"/>
            </a:solidFill>
            <a:prstDash val="solid"/>
            <a:round/>
            <a:headEnd len="med" w="med" type="none"/>
            <a:tailEnd len="lg" w="lg" type="stealth"/>
          </a:ln>
        </p:spPr>
      </p:cxnSp>
      <p:sp>
        <p:nvSpPr>
          <p:cNvPr id="4015" name="Google Shape;4015;p61"/>
          <p:cNvSpPr txBox="1"/>
          <p:nvPr/>
        </p:nvSpPr>
        <p:spPr>
          <a:xfrm>
            <a:off x="6977063" y="4513264"/>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X</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cxnSp>
        <p:nvCxnSpPr>
          <p:cNvPr id="4016" name="Google Shape;4016;p61"/>
          <p:cNvCxnSpPr/>
          <p:nvPr/>
        </p:nvCxnSpPr>
        <p:spPr>
          <a:xfrm flipH="1">
            <a:off x="7019926" y="2052638"/>
            <a:ext cx="1636713" cy="546100"/>
          </a:xfrm>
          <a:prstGeom prst="straightConnector1">
            <a:avLst/>
          </a:prstGeom>
          <a:noFill/>
          <a:ln cap="flat" cmpd="sng" w="28575">
            <a:solidFill>
              <a:schemeClr val="dk1"/>
            </a:solidFill>
            <a:prstDash val="solid"/>
            <a:round/>
            <a:headEnd len="med" w="med" type="none"/>
            <a:tailEnd len="lg" w="lg" type="stealth"/>
          </a:ln>
        </p:spPr>
      </p:cxnSp>
      <p:cxnSp>
        <p:nvCxnSpPr>
          <p:cNvPr id="4017" name="Google Shape;4017;p61"/>
          <p:cNvCxnSpPr/>
          <p:nvPr/>
        </p:nvCxnSpPr>
        <p:spPr>
          <a:xfrm>
            <a:off x="6980239" y="3194050"/>
            <a:ext cx="1806575" cy="604838"/>
          </a:xfrm>
          <a:prstGeom prst="straightConnector1">
            <a:avLst/>
          </a:prstGeom>
          <a:noFill/>
          <a:ln cap="flat" cmpd="sng" w="28575">
            <a:solidFill>
              <a:schemeClr val="dk1"/>
            </a:solidFill>
            <a:prstDash val="solid"/>
            <a:round/>
            <a:headEnd len="med" w="med" type="none"/>
            <a:tailEnd len="lg" w="lg" type="stealth"/>
          </a:ln>
        </p:spPr>
      </p:cxnSp>
      <p:sp>
        <p:nvSpPr>
          <p:cNvPr id="4018" name="Google Shape;4018;p61"/>
          <p:cNvSpPr/>
          <p:nvPr/>
        </p:nvSpPr>
        <p:spPr>
          <a:xfrm>
            <a:off x="8958263" y="54371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019" name="Google Shape;4019;p61"/>
          <p:cNvSpPr txBox="1"/>
          <p:nvPr/>
        </p:nvSpPr>
        <p:spPr>
          <a:xfrm>
            <a:off x="9259888" y="53070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(R3)</a:t>
            </a:r>
            <a:endParaRPr/>
          </a:p>
        </p:txBody>
      </p:sp>
      <p:sp>
        <p:nvSpPr>
          <p:cNvPr id="4020" name="Google Shape;4020;p61"/>
          <p:cNvSpPr/>
          <p:nvPr/>
        </p:nvSpPr>
        <p:spPr>
          <a:xfrm>
            <a:off x="5595939" y="3613150"/>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021" name="Google Shape;4021;p61"/>
          <p:cNvSpPr txBox="1"/>
          <p:nvPr/>
        </p:nvSpPr>
        <p:spPr>
          <a:xfrm>
            <a:off x="6045201" y="3487739"/>
            <a:ext cx="493713"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(S3)</a:t>
            </a:r>
            <a:endParaRPr/>
          </a:p>
        </p:txBody>
      </p:sp>
      <p:cxnSp>
        <p:nvCxnSpPr>
          <p:cNvPr id="4022" name="Google Shape;4022;p61"/>
          <p:cNvCxnSpPr/>
          <p:nvPr/>
        </p:nvCxnSpPr>
        <p:spPr>
          <a:xfrm flipH="1">
            <a:off x="7015163" y="3317875"/>
            <a:ext cx="1636712" cy="546100"/>
          </a:xfrm>
          <a:prstGeom prst="straightConnector1">
            <a:avLst/>
          </a:prstGeom>
          <a:noFill/>
          <a:ln cap="flat" cmpd="sng" w="28575">
            <a:solidFill>
              <a:schemeClr val="dk1"/>
            </a:solidFill>
            <a:prstDash val="solid"/>
            <a:round/>
            <a:headEnd len="med" w="med" type="none"/>
            <a:tailEnd len="lg" w="lg" type="stealth"/>
          </a:ln>
        </p:spPr>
      </p:cxnSp>
      <p:sp>
        <p:nvSpPr>
          <p:cNvPr id="4023" name="Google Shape;4023;p61"/>
          <p:cNvSpPr/>
          <p:nvPr/>
        </p:nvSpPr>
        <p:spPr>
          <a:xfrm>
            <a:off x="5575300" y="6034089"/>
            <a:ext cx="1373188"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024" name="Google Shape;4024;p61"/>
          <p:cNvSpPr txBox="1"/>
          <p:nvPr/>
        </p:nvSpPr>
        <p:spPr>
          <a:xfrm>
            <a:off x="6073776" y="5908675"/>
            <a:ext cx="493713"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(S5)</a:t>
            </a:r>
            <a:endParaRPr/>
          </a:p>
        </p:txBody>
      </p:sp>
      <p:cxnSp>
        <p:nvCxnSpPr>
          <p:cNvPr id="4025" name="Google Shape;4025;p61"/>
          <p:cNvCxnSpPr/>
          <p:nvPr/>
        </p:nvCxnSpPr>
        <p:spPr>
          <a:xfrm>
            <a:off x="6972301" y="6253164"/>
            <a:ext cx="1776413" cy="428625"/>
          </a:xfrm>
          <a:prstGeom prst="straightConnector1">
            <a:avLst/>
          </a:prstGeom>
          <a:noFill/>
          <a:ln cap="flat" cmpd="sng" w="28575">
            <a:solidFill>
              <a:schemeClr val="dk1"/>
            </a:solidFill>
            <a:prstDash val="solid"/>
            <a:round/>
            <a:headEnd len="med" w="med" type="none"/>
            <a:tailEnd len="lg" w="lg" type="stealth"/>
          </a:ln>
        </p:spPr>
      </p:cxnSp>
      <p:sp>
        <p:nvSpPr>
          <p:cNvPr id="4026" name="Google Shape;4026;p61"/>
          <p:cNvSpPr/>
          <p:nvPr/>
        </p:nvSpPr>
        <p:spPr>
          <a:xfrm>
            <a:off x="8913813" y="64404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027" name="Google Shape;4027;p61"/>
          <p:cNvSpPr txBox="1"/>
          <p:nvPr/>
        </p:nvSpPr>
        <p:spPr>
          <a:xfrm>
            <a:off x="9215438" y="63103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(R4)</a:t>
            </a:r>
            <a:endParaRPr/>
          </a:p>
        </p:txBody>
      </p:sp>
      <p:sp>
        <p:nvSpPr>
          <p:cNvPr id="4028" name="Google Shape;4028;p61"/>
          <p:cNvSpPr txBox="1"/>
          <p:nvPr/>
        </p:nvSpPr>
        <p:spPr>
          <a:xfrm>
            <a:off x="5694363" y="2065339"/>
            <a:ext cx="989012" cy="5222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NAK0</a:t>
            </a:r>
            <a:r>
              <a:rPr b="0" i="0" lang="en-US" sz="1400" u="none" cap="none" strike="noStrike">
                <a:solidFill>
                  <a:srgbClr val="FF0000"/>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pkt0</a:t>
            </a:r>
            <a:endParaRPr/>
          </a:p>
        </p:txBody>
      </p:sp>
      <p:sp>
        <p:nvSpPr>
          <p:cNvPr id="4029" name="Google Shape;4029;p61"/>
          <p:cNvSpPr txBox="1"/>
          <p:nvPr/>
        </p:nvSpPr>
        <p:spPr>
          <a:xfrm>
            <a:off x="5735638" y="2859089"/>
            <a:ext cx="989012"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pkt0</a:t>
            </a:r>
            <a:endParaRPr/>
          </a:p>
        </p:txBody>
      </p:sp>
      <p:sp>
        <p:nvSpPr>
          <p:cNvPr id="4030" name="Google Shape;4030;p61"/>
          <p:cNvSpPr txBox="1"/>
          <p:nvPr/>
        </p:nvSpPr>
        <p:spPr>
          <a:xfrm>
            <a:off x="8809038" y="2895601"/>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pkt0</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ACK0</a:t>
            </a:r>
            <a:endParaRPr/>
          </a:p>
        </p:txBody>
      </p:sp>
      <p:sp>
        <p:nvSpPr>
          <p:cNvPr id="4031" name="Google Shape;4031;p61"/>
          <p:cNvSpPr txBox="1"/>
          <p:nvPr/>
        </p:nvSpPr>
        <p:spPr>
          <a:xfrm>
            <a:off x="5727701" y="3306764"/>
            <a:ext cx="989013" cy="5222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ACK0</a:t>
            </a:r>
            <a:r>
              <a:rPr b="0" i="0" lang="en-US" sz="1400" u="none" cap="none" strike="noStrike">
                <a:solidFill>
                  <a:srgbClr val="FF0000"/>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pkt1</a:t>
            </a:r>
            <a:endParaRPr/>
          </a:p>
        </p:txBody>
      </p:sp>
      <p:sp>
        <p:nvSpPr>
          <p:cNvPr id="4032" name="Google Shape;4032;p61"/>
          <p:cNvSpPr txBox="1"/>
          <p:nvPr/>
        </p:nvSpPr>
        <p:spPr>
          <a:xfrm>
            <a:off x="8809038" y="3490914"/>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pkt0</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ACK0</a:t>
            </a:r>
            <a:endParaRPr/>
          </a:p>
        </p:txBody>
      </p:sp>
      <p:sp>
        <p:nvSpPr>
          <p:cNvPr id="4033" name="Google Shape;4033;p61"/>
          <p:cNvSpPr txBox="1"/>
          <p:nvPr/>
        </p:nvSpPr>
        <p:spPr>
          <a:xfrm>
            <a:off x="5694363" y="4778376"/>
            <a:ext cx="99060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pkt1</a:t>
            </a:r>
            <a:endParaRPr/>
          </a:p>
        </p:txBody>
      </p:sp>
      <p:sp>
        <p:nvSpPr>
          <p:cNvPr id="4034" name="Google Shape;4034;p61"/>
          <p:cNvSpPr txBox="1"/>
          <p:nvPr/>
        </p:nvSpPr>
        <p:spPr>
          <a:xfrm>
            <a:off x="8883650" y="5283201"/>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pkt1</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ACK1</a:t>
            </a:r>
            <a:endParaRPr/>
          </a:p>
        </p:txBody>
      </p:sp>
      <p:sp>
        <p:nvSpPr>
          <p:cNvPr id="4035" name="Google Shape;4035;p61"/>
          <p:cNvSpPr txBox="1"/>
          <p:nvPr/>
        </p:nvSpPr>
        <p:spPr>
          <a:xfrm>
            <a:off x="5724526" y="5694364"/>
            <a:ext cx="989013" cy="523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ACK1</a:t>
            </a:r>
            <a:r>
              <a:rPr b="0" i="0" lang="en-US" sz="1400" u="none" cap="none" strike="noStrike">
                <a:solidFill>
                  <a:srgbClr val="FF0000"/>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pkt2</a:t>
            </a:r>
            <a:endParaRPr/>
          </a:p>
        </p:txBody>
      </p:sp>
      <p:sp>
        <p:nvSpPr>
          <p:cNvPr id="4036" name="Google Shape;4036;p61"/>
          <p:cNvSpPr txBox="1"/>
          <p:nvPr/>
        </p:nvSpPr>
        <p:spPr>
          <a:xfrm>
            <a:off x="8813800" y="6286501"/>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pkt2</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ACK2</a:t>
            </a:r>
            <a:endParaRPr/>
          </a:p>
        </p:txBody>
      </p:sp>
      <p:grpSp>
        <p:nvGrpSpPr>
          <p:cNvPr id="4037" name="Google Shape;4037;p61"/>
          <p:cNvGrpSpPr/>
          <p:nvPr/>
        </p:nvGrpSpPr>
        <p:grpSpPr>
          <a:xfrm>
            <a:off x="8220481" y="-249778"/>
            <a:ext cx="2461403" cy="1558421"/>
            <a:chOff x="6697235" y="-249764"/>
            <a:chExt cx="2460203" cy="1558188"/>
          </a:xfrm>
        </p:grpSpPr>
        <p:sp>
          <p:nvSpPr>
            <p:cNvPr id="4038" name="Google Shape;4038;p61"/>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b="0" i="0" sz="2400" u="none" cap="none" strike="noStrike">
                <a:solidFill>
                  <a:schemeClr val="dk1"/>
                </a:solidFill>
                <a:latin typeface="Comic Sans MS"/>
                <a:ea typeface="Comic Sans MS"/>
                <a:cs typeface="Comic Sans MS"/>
                <a:sym typeface="Comic Sans MS"/>
              </a:endParaRPr>
            </a:p>
          </p:txBody>
        </p:sp>
        <p:sp>
          <p:nvSpPr>
            <p:cNvPr id="4039" name="Google Shape;4039;p61"/>
            <p:cNvSpPr txBox="1"/>
            <p:nvPr/>
          </p:nvSpPr>
          <p:spPr>
            <a:xfrm>
              <a:off x="7216423" y="342294"/>
              <a:ext cx="126028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Noto Sans Symbols"/>
                <a:buNone/>
              </a:pPr>
              <a:r>
                <a:rPr b="1" i="0" lang="en-US" sz="1600" u="none" cap="none" strike="noStrike">
                  <a:solidFill>
                    <a:srgbClr val="FF0000"/>
                  </a:solidFill>
                  <a:latin typeface="Tahoma"/>
                  <a:ea typeface="Tahoma"/>
                  <a:cs typeface="Tahoma"/>
                  <a:sym typeface="Tahoma"/>
                </a:rPr>
                <a:t>Self-Study</a:t>
              </a:r>
              <a:endParaRPr/>
            </a:p>
          </p:txBody>
        </p:sp>
      </p:grpSp>
      <p:sp>
        <p:nvSpPr>
          <p:cNvPr id="4040" name="Google Shape;4040;p6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4" name="Shape 4044"/>
        <p:cNvGrpSpPr/>
        <p:nvPr/>
      </p:nvGrpSpPr>
      <p:grpSpPr>
        <a:xfrm>
          <a:off x="0" y="0"/>
          <a:ext cx="0" cy="0"/>
          <a:chOff x="0" y="0"/>
          <a:chExt cx="0" cy="0"/>
        </a:xfrm>
      </p:grpSpPr>
      <p:sp>
        <p:nvSpPr>
          <p:cNvPr id="4045" name="Google Shape;4045;p62"/>
          <p:cNvSpPr/>
          <p:nvPr/>
        </p:nvSpPr>
        <p:spPr>
          <a:xfrm flipH="1" rot="10800000">
            <a:off x="6959600" y="6273800"/>
            <a:ext cx="1798638" cy="469900"/>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sp>
        <p:nvSpPr>
          <p:cNvPr id="4046" name="Google Shape;4046;p62"/>
          <p:cNvSpPr txBox="1"/>
          <p:nvPr/>
        </p:nvSpPr>
        <p:spPr>
          <a:xfrm>
            <a:off x="1838326" y="1046164"/>
            <a:ext cx="3298825" cy="52419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1" i="0" lang="en-US" sz="2200" u="sng" cap="none" strike="noStrike">
                <a:solidFill>
                  <a:schemeClr val="dk1"/>
                </a:solidFill>
                <a:latin typeface="Arial"/>
                <a:ea typeface="Arial"/>
                <a:cs typeface="Arial"/>
                <a:sym typeface="Arial"/>
              </a:rPr>
              <a:t>Question:</a:t>
            </a:r>
            <a:endParaRPr/>
          </a:p>
          <a:p>
            <a:pPr indent="0" lvl="0" marL="0" marR="0" rtl="0" algn="l">
              <a:lnSpc>
                <a:spcPct val="100000"/>
              </a:lnSpc>
              <a:spcBef>
                <a:spcPts val="440"/>
              </a:spcBef>
              <a:spcAft>
                <a:spcPts val="0"/>
              </a:spcAft>
              <a:buClr>
                <a:srgbClr val="000099"/>
              </a:buClr>
              <a:buSzPts val="1430"/>
              <a:buFont typeface="Noto Sans Symbols"/>
              <a:buNone/>
            </a:pPr>
            <a:r>
              <a:rPr b="0" i="0" lang="en-US" sz="2200" u="none" cap="none" strike="noStrike">
                <a:solidFill>
                  <a:schemeClr val="dk1"/>
                </a:solidFill>
                <a:latin typeface="Arial"/>
                <a:ea typeface="Arial"/>
                <a:cs typeface="Arial"/>
                <a:sym typeface="Arial"/>
              </a:rPr>
              <a:t>Supposed a sender has 3 packets to be sent to a receiver.</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D8D8D8"/>
                </a:solidFill>
                <a:latin typeface="Arial"/>
                <a:ea typeface="Arial"/>
                <a:cs typeface="Arial"/>
                <a:sym typeface="Arial"/>
              </a:rPr>
              <a:t>Complete the following figure by writing down the best answer for all S# and R#. Assume that no error after S1.</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dk1"/>
                </a:solidFill>
                <a:latin typeface="Arial"/>
                <a:ea typeface="Arial"/>
                <a:cs typeface="Arial"/>
                <a:sym typeface="Arial"/>
              </a:rPr>
              <a:t>What are X and Y?</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D8D8D8"/>
                </a:solidFill>
                <a:latin typeface="Arial"/>
                <a:ea typeface="Arial"/>
                <a:cs typeface="Arial"/>
                <a:sym typeface="Arial"/>
              </a:rPr>
              <a:t>What is the problem between S1 and S2?</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D8D8D8"/>
                </a:solidFill>
                <a:latin typeface="Arial"/>
                <a:ea typeface="Arial"/>
                <a:cs typeface="Arial"/>
                <a:sym typeface="Arial"/>
              </a:rPr>
              <a:t>Is the any discard packet at receiver? Why?</a:t>
            </a:r>
            <a:endParaRPr/>
          </a:p>
        </p:txBody>
      </p:sp>
      <p:sp>
        <p:nvSpPr>
          <p:cNvPr id="4047" name="Google Shape;4047;p62"/>
          <p:cNvSpPr/>
          <p:nvPr/>
        </p:nvSpPr>
        <p:spPr>
          <a:xfrm>
            <a:off x="6988175" y="1406525"/>
            <a:ext cx="1798638" cy="1208088"/>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4048" name="Google Shape;4048;p62"/>
          <p:cNvCxnSpPr/>
          <p:nvPr/>
        </p:nvCxnSpPr>
        <p:spPr>
          <a:xfrm>
            <a:off x="8797925" y="1225550"/>
            <a:ext cx="0" cy="5518150"/>
          </a:xfrm>
          <a:prstGeom prst="straightConnector1">
            <a:avLst/>
          </a:prstGeom>
          <a:noFill/>
          <a:ln cap="flat" cmpd="sng" w="9525">
            <a:solidFill>
              <a:schemeClr val="dk1"/>
            </a:solidFill>
            <a:prstDash val="dash"/>
            <a:round/>
            <a:headEnd len="med" w="med" type="none"/>
            <a:tailEnd len="med" w="med" type="none"/>
          </a:ln>
        </p:spPr>
      </p:cxnSp>
      <p:cxnSp>
        <p:nvCxnSpPr>
          <p:cNvPr id="4049" name="Google Shape;4049;p62"/>
          <p:cNvCxnSpPr>
            <a:endCxn id="4047" idx="3"/>
          </p:cNvCxnSpPr>
          <p:nvPr/>
        </p:nvCxnSpPr>
        <p:spPr>
          <a:xfrm>
            <a:off x="6980213" y="1405769"/>
            <a:ext cx="1806600" cy="604800"/>
          </a:xfrm>
          <a:prstGeom prst="straightConnector1">
            <a:avLst/>
          </a:prstGeom>
          <a:noFill/>
          <a:ln cap="flat" cmpd="sng" w="28575">
            <a:solidFill>
              <a:schemeClr val="dk1"/>
            </a:solidFill>
            <a:prstDash val="solid"/>
            <a:round/>
            <a:headEnd len="med" w="med" type="none"/>
            <a:tailEnd len="lg" w="lg" type="stealth"/>
          </a:ln>
        </p:spPr>
      </p:cxnSp>
      <p:sp>
        <p:nvSpPr>
          <p:cNvPr id="4050" name="Google Shape;4050;p62"/>
          <p:cNvSpPr txBox="1"/>
          <p:nvPr/>
        </p:nvSpPr>
        <p:spPr>
          <a:xfrm>
            <a:off x="6556375" y="796926"/>
            <a:ext cx="795338"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Sender</a:t>
            </a:r>
            <a:endParaRPr/>
          </a:p>
        </p:txBody>
      </p:sp>
      <p:sp>
        <p:nvSpPr>
          <p:cNvPr id="4051" name="Google Shape;4051;p62"/>
          <p:cNvSpPr txBox="1"/>
          <p:nvPr/>
        </p:nvSpPr>
        <p:spPr>
          <a:xfrm>
            <a:off x="8297864" y="798514"/>
            <a:ext cx="94297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Receiver</a:t>
            </a:r>
            <a:endParaRPr/>
          </a:p>
        </p:txBody>
      </p:sp>
      <p:sp>
        <p:nvSpPr>
          <p:cNvPr id="4052" name="Google Shape;4052;p62"/>
          <p:cNvSpPr txBox="1"/>
          <p:nvPr/>
        </p:nvSpPr>
        <p:spPr>
          <a:xfrm>
            <a:off x="5870576" y="1150939"/>
            <a:ext cx="1019175"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Send </a:t>
            </a:r>
            <a:r>
              <a:rPr b="0" i="0" lang="en-US" sz="1400" u="none" cap="none" strike="noStrike">
                <a:solidFill>
                  <a:schemeClr val="dk1"/>
                </a:solidFill>
                <a:latin typeface="Courier New"/>
                <a:ea typeface="Courier New"/>
                <a:cs typeface="Courier New"/>
                <a:sym typeface="Courier New"/>
              </a:rPr>
              <a:t>pkt0</a:t>
            </a:r>
            <a:endParaRPr/>
          </a:p>
        </p:txBody>
      </p:sp>
      <p:sp>
        <p:nvSpPr>
          <p:cNvPr id="4053" name="Google Shape;4053;p62"/>
          <p:cNvSpPr/>
          <p:nvPr/>
        </p:nvSpPr>
        <p:spPr>
          <a:xfrm>
            <a:off x="5599114" y="2384425"/>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054" name="Google Shape;4054;p62"/>
          <p:cNvSpPr txBox="1"/>
          <p:nvPr/>
        </p:nvSpPr>
        <p:spPr>
          <a:xfrm>
            <a:off x="6048376" y="2257426"/>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(S1)</a:t>
            </a:r>
            <a:endParaRPr/>
          </a:p>
        </p:txBody>
      </p:sp>
      <p:sp>
        <p:nvSpPr>
          <p:cNvPr id="4055" name="Google Shape;4055;p62"/>
          <p:cNvSpPr txBox="1"/>
          <p:nvPr/>
        </p:nvSpPr>
        <p:spPr>
          <a:xfrm>
            <a:off x="8832850" y="1808164"/>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rcv </a:t>
            </a:r>
            <a:r>
              <a:rPr b="0" i="0" lang="en-US" sz="1400" u="none" cap="none" strike="noStrike">
                <a:solidFill>
                  <a:schemeClr val="dk1"/>
                </a:solidFill>
                <a:latin typeface="Courier New"/>
                <a:ea typeface="Courier New"/>
                <a:cs typeface="Courier New"/>
                <a:sym typeface="Courier New"/>
              </a:rPr>
              <a:t>pkt0</a:t>
            </a:r>
            <a:r>
              <a:rPr b="0" i="0" lang="en-US" sz="1400" u="none" cap="none" strike="noStrike">
                <a:solidFill>
                  <a:schemeClr val="dk1"/>
                </a:solidFill>
                <a:latin typeface="Times New Roman"/>
                <a:ea typeface="Times New Roman"/>
                <a:cs typeface="Times New Roman"/>
                <a:sym typeface="Times New Roman"/>
              </a:rPr>
              <a:t>, send </a:t>
            </a:r>
            <a:r>
              <a:rPr b="0" i="0" lang="en-US" sz="1400" u="none" cap="none" strike="noStrike">
                <a:solidFill>
                  <a:schemeClr val="dk1"/>
                </a:solidFill>
                <a:latin typeface="Courier New"/>
                <a:ea typeface="Courier New"/>
                <a:cs typeface="Courier New"/>
                <a:sym typeface="Courier New"/>
              </a:rPr>
              <a:t>NAK0</a:t>
            </a:r>
            <a:endParaRPr/>
          </a:p>
        </p:txBody>
      </p:sp>
      <p:sp>
        <p:nvSpPr>
          <p:cNvPr id="4056" name="Google Shape;4056;p62"/>
          <p:cNvSpPr/>
          <p:nvPr/>
        </p:nvSpPr>
        <p:spPr>
          <a:xfrm>
            <a:off x="6980239" y="3851276"/>
            <a:ext cx="1798637" cy="1209675"/>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4057" name="Google Shape;4057;p62"/>
          <p:cNvCxnSpPr/>
          <p:nvPr/>
        </p:nvCxnSpPr>
        <p:spPr>
          <a:xfrm>
            <a:off x="6972301" y="2643189"/>
            <a:ext cx="1806575" cy="604837"/>
          </a:xfrm>
          <a:prstGeom prst="straightConnector1">
            <a:avLst/>
          </a:prstGeom>
          <a:noFill/>
          <a:ln cap="flat" cmpd="sng" w="28575">
            <a:solidFill>
              <a:schemeClr val="dk1"/>
            </a:solidFill>
            <a:prstDash val="solid"/>
            <a:round/>
            <a:headEnd len="med" w="med" type="none"/>
            <a:tailEnd len="lg" w="lg" type="stealth"/>
          </a:ln>
        </p:spPr>
      </p:cxnSp>
      <p:sp>
        <p:nvSpPr>
          <p:cNvPr id="4058" name="Google Shape;4058;p62"/>
          <p:cNvSpPr/>
          <p:nvPr/>
        </p:nvSpPr>
        <p:spPr>
          <a:xfrm>
            <a:off x="5591175" y="2981325"/>
            <a:ext cx="1373188"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059" name="Google Shape;4059;p62"/>
          <p:cNvSpPr txBox="1"/>
          <p:nvPr/>
        </p:nvSpPr>
        <p:spPr>
          <a:xfrm>
            <a:off x="6040438" y="2854326"/>
            <a:ext cx="493712"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(S2)</a:t>
            </a:r>
            <a:endParaRPr/>
          </a:p>
        </p:txBody>
      </p:sp>
      <p:sp>
        <p:nvSpPr>
          <p:cNvPr id="4060" name="Google Shape;4060;p62"/>
          <p:cNvSpPr/>
          <p:nvPr/>
        </p:nvSpPr>
        <p:spPr>
          <a:xfrm>
            <a:off x="8888413" y="2987676"/>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061" name="Google Shape;4061;p62"/>
          <p:cNvSpPr txBox="1"/>
          <p:nvPr/>
        </p:nvSpPr>
        <p:spPr>
          <a:xfrm>
            <a:off x="9190038" y="2857500"/>
            <a:ext cx="514350"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(R1)</a:t>
            </a:r>
            <a:endParaRPr/>
          </a:p>
        </p:txBody>
      </p:sp>
      <p:cxnSp>
        <p:nvCxnSpPr>
          <p:cNvPr id="4062" name="Google Shape;4062;p62"/>
          <p:cNvCxnSpPr/>
          <p:nvPr/>
        </p:nvCxnSpPr>
        <p:spPr>
          <a:xfrm>
            <a:off x="6967538" y="1223963"/>
            <a:ext cx="0" cy="5518150"/>
          </a:xfrm>
          <a:prstGeom prst="straightConnector1">
            <a:avLst/>
          </a:prstGeom>
          <a:noFill/>
          <a:ln cap="flat" cmpd="sng" w="9525">
            <a:solidFill>
              <a:schemeClr val="dk1"/>
            </a:solidFill>
            <a:prstDash val="dash"/>
            <a:round/>
            <a:headEnd len="med" w="med" type="none"/>
            <a:tailEnd len="med" w="med" type="none"/>
          </a:ln>
        </p:spPr>
      </p:cxnSp>
      <p:sp>
        <p:nvSpPr>
          <p:cNvPr id="4063" name="Google Shape;4063;p62"/>
          <p:cNvSpPr txBox="1"/>
          <p:nvPr/>
        </p:nvSpPr>
        <p:spPr>
          <a:xfrm rot="-5400000">
            <a:off x="4751388" y="4349751"/>
            <a:ext cx="9207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2</a:t>
            </a:r>
            <a:endParaRPr/>
          </a:p>
        </p:txBody>
      </p:sp>
      <p:grpSp>
        <p:nvGrpSpPr>
          <p:cNvPr id="4064" name="Google Shape;4064;p62"/>
          <p:cNvGrpSpPr/>
          <p:nvPr/>
        </p:nvGrpSpPr>
        <p:grpSpPr>
          <a:xfrm>
            <a:off x="5383213" y="3860801"/>
            <a:ext cx="207962" cy="1255713"/>
            <a:chOff x="2524123" y="2565535"/>
            <a:chExt cx="208492" cy="1256451"/>
          </a:xfrm>
        </p:grpSpPr>
        <p:cxnSp>
          <p:nvCxnSpPr>
            <p:cNvPr id="4065" name="Google Shape;4065;p62"/>
            <p:cNvCxnSpPr/>
            <p:nvPr/>
          </p:nvCxnSpPr>
          <p:spPr>
            <a:xfrm flipH="1">
              <a:off x="2524123" y="2565535"/>
              <a:ext cx="3228" cy="1256451"/>
            </a:xfrm>
            <a:prstGeom prst="straightConnector1">
              <a:avLst/>
            </a:prstGeom>
            <a:noFill/>
            <a:ln cap="flat" cmpd="sng" w="9525">
              <a:solidFill>
                <a:schemeClr val="dk1"/>
              </a:solidFill>
              <a:prstDash val="solid"/>
              <a:round/>
              <a:headEnd len="med" w="med" type="none"/>
              <a:tailEnd len="med" w="med" type="none"/>
            </a:ln>
          </p:spPr>
        </p:cxnSp>
        <p:cxnSp>
          <p:nvCxnSpPr>
            <p:cNvPr id="4066" name="Google Shape;4066;p62"/>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067" name="Google Shape;4067;p62"/>
            <p:cNvCxnSpPr/>
            <p:nvPr/>
          </p:nvCxnSpPr>
          <p:spPr>
            <a:xfrm>
              <a:off x="2525301" y="3819674"/>
              <a:ext cx="205267" cy="0"/>
            </a:xfrm>
            <a:prstGeom prst="straightConnector1">
              <a:avLst/>
            </a:prstGeom>
            <a:noFill/>
            <a:ln cap="flat" cmpd="sng" w="9525">
              <a:solidFill>
                <a:schemeClr val="dk1"/>
              </a:solidFill>
              <a:prstDash val="solid"/>
              <a:round/>
              <a:headEnd len="med" w="med" type="none"/>
              <a:tailEnd len="med" w="med" type="none"/>
            </a:ln>
          </p:spPr>
        </p:cxnSp>
      </p:grpSp>
      <p:sp>
        <p:nvSpPr>
          <p:cNvPr id="4068" name="Google Shape;4068;p62"/>
          <p:cNvSpPr/>
          <p:nvPr/>
        </p:nvSpPr>
        <p:spPr>
          <a:xfrm>
            <a:off x="8891589" y="3608389"/>
            <a:ext cx="1512887"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069" name="Google Shape;4069;p62"/>
          <p:cNvSpPr txBox="1"/>
          <p:nvPr/>
        </p:nvSpPr>
        <p:spPr>
          <a:xfrm>
            <a:off x="9194801" y="3478214"/>
            <a:ext cx="51276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(R2)</a:t>
            </a:r>
            <a:endParaRPr/>
          </a:p>
        </p:txBody>
      </p:sp>
      <p:cxnSp>
        <p:nvCxnSpPr>
          <p:cNvPr id="4070" name="Google Shape;4070;p62"/>
          <p:cNvCxnSpPr/>
          <p:nvPr/>
        </p:nvCxnSpPr>
        <p:spPr>
          <a:xfrm>
            <a:off x="6988175" y="3881439"/>
            <a:ext cx="1403350" cy="593725"/>
          </a:xfrm>
          <a:prstGeom prst="straightConnector1">
            <a:avLst/>
          </a:prstGeom>
          <a:noFill/>
          <a:ln cap="flat" cmpd="sng" w="28575">
            <a:solidFill>
              <a:schemeClr val="dk1"/>
            </a:solidFill>
            <a:prstDash val="solid"/>
            <a:round/>
            <a:headEnd len="med" w="med" type="none"/>
            <a:tailEnd len="lg" w="lg" type="stealth"/>
          </a:ln>
        </p:spPr>
      </p:cxnSp>
      <p:cxnSp>
        <p:nvCxnSpPr>
          <p:cNvPr id="4071" name="Google Shape;4071;p62"/>
          <p:cNvCxnSpPr/>
          <p:nvPr/>
        </p:nvCxnSpPr>
        <p:spPr>
          <a:xfrm flipH="1">
            <a:off x="6961188" y="5716589"/>
            <a:ext cx="1797050" cy="509587"/>
          </a:xfrm>
          <a:prstGeom prst="straightConnector1">
            <a:avLst/>
          </a:prstGeom>
          <a:noFill/>
          <a:ln cap="flat" cmpd="sng" w="28575">
            <a:solidFill>
              <a:schemeClr val="dk1"/>
            </a:solidFill>
            <a:prstDash val="solid"/>
            <a:round/>
            <a:headEnd len="med" w="med" type="none"/>
            <a:tailEnd len="lg" w="lg" type="stealth"/>
          </a:ln>
        </p:spPr>
      </p:cxnSp>
      <p:sp>
        <p:nvSpPr>
          <p:cNvPr id="4072" name="Google Shape;4072;p62"/>
          <p:cNvSpPr txBox="1"/>
          <p:nvPr/>
        </p:nvSpPr>
        <p:spPr>
          <a:xfrm>
            <a:off x="8177213" y="4505326"/>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Y</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grpSp>
        <p:nvGrpSpPr>
          <p:cNvPr id="4073" name="Google Shape;4073;p62"/>
          <p:cNvGrpSpPr/>
          <p:nvPr/>
        </p:nvGrpSpPr>
        <p:grpSpPr>
          <a:xfrm>
            <a:off x="5400676" y="2613026"/>
            <a:ext cx="207963" cy="619125"/>
            <a:chOff x="2525301" y="2572305"/>
            <a:chExt cx="207314" cy="618591"/>
          </a:xfrm>
        </p:grpSpPr>
        <p:cxnSp>
          <p:nvCxnSpPr>
            <p:cNvPr id="4074" name="Google Shape;4074;p62"/>
            <p:cNvCxnSpPr/>
            <p:nvPr/>
          </p:nvCxnSpPr>
          <p:spPr>
            <a:xfrm>
              <a:off x="2532013" y="2572305"/>
              <a:ext cx="0" cy="616450"/>
            </a:xfrm>
            <a:prstGeom prst="straightConnector1">
              <a:avLst/>
            </a:prstGeom>
            <a:noFill/>
            <a:ln cap="flat" cmpd="sng" w="9525">
              <a:solidFill>
                <a:schemeClr val="dk1"/>
              </a:solidFill>
              <a:prstDash val="solid"/>
              <a:round/>
              <a:headEnd len="med" w="med" type="none"/>
              <a:tailEnd len="med" w="med" type="none"/>
            </a:ln>
          </p:spPr>
        </p:cxnSp>
        <p:cxnSp>
          <p:nvCxnSpPr>
            <p:cNvPr id="4075" name="Google Shape;4075;p62"/>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076" name="Google Shape;4076;p62"/>
            <p:cNvCxnSpPr/>
            <p:nvPr/>
          </p:nvCxnSpPr>
          <p:spPr>
            <a:xfrm>
              <a:off x="2525301" y="3190896"/>
              <a:ext cx="205267" cy="0"/>
            </a:xfrm>
            <a:prstGeom prst="straightConnector1">
              <a:avLst/>
            </a:prstGeom>
            <a:noFill/>
            <a:ln cap="flat" cmpd="sng" w="9525">
              <a:solidFill>
                <a:schemeClr val="dk1"/>
              </a:solidFill>
              <a:prstDash val="solid"/>
              <a:round/>
              <a:headEnd len="med" w="med" type="none"/>
              <a:tailEnd len="med" w="med" type="none"/>
            </a:ln>
          </p:spPr>
        </p:cxnSp>
      </p:grpSp>
      <p:cxnSp>
        <p:nvCxnSpPr>
          <p:cNvPr id="4077" name="Google Shape;4077;p62"/>
          <p:cNvCxnSpPr/>
          <p:nvPr/>
        </p:nvCxnSpPr>
        <p:spPr>
          <a:xfrm>
            <a:off x="6969125" y="5081589"/>
            <a:ext cx="1804988" cy="604837"/>
          </a:xfrm>
          <a:prstGeom prst="straightConnector1">
            <a:avLst/>
          </a:prstGeom>
          <a:noFill/>
          <a:ln cap="flat" cmpd="sng" w="28575">
            <a:solidFill>
              <a:schemeClr val="dk1"/>
            </a:solidFill>
            <a:prstDash val="solid"/>
            <a:round/>
            <a:headEnd len="med" w="med" type="none"/>
            <a:tailEnd len="lg" w="lg" type="stealth"/>
          </a:ln>
        </p:spPr>
      </p:cxnSp>
      <p:sp>
        <p:nvSpPr>
          <p:cNvPr id="4078" name="Google Shape;4078;p62"/>
          <p:cNvSpPr/>
          <p:nvPr/>
        </p:nvSpPr>
        <p:spPr>
          <a:xfrm>
            <a:off x="5545139" y="4872039"/>
            <a:ext cx="1374775"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079" name="Google Shape;4079;p62"/>
          <p:cNvSpPr txBox="1"/>
          <p:nvPr/>
        </p:nvSpPr>
        <p:spPr>
          <a:xfrm>
            <a:off x="6045201" y="4745039"/>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(S4)</a:t>
            </a:r>
            <a:endParaRPr/>
          </a:p>
        </p:txBody>
      </p:sp>
      <p:sp>
        <p:nvSpPr>
          <p:cNvPr id="4080" name="Google Shape;4080;p62"/>
          <p:cNvSpPr txBox="1"/>
          <p:nvPr/>
        </p:nvSpPr>
        <p:spPr>
          <a:xfrm rot="-5400000">
            <a:off x="4804569" y="2777331"/>
            <a:ext cx="920750" cy="3063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1</a:t>
            </a:r>
            <a:endParaRPr/>
          </a:p>
        </p:txBody>
      </p:sp>
      <p:cxnSp>
        <p:nvCxnSpPr>
          <p:cNvPr id="4081" name="Google Shape;4081;p62"/>
          <p:cNvCxnSpPr/>
          <p:nvPr/>
        </p:nvCxnSpPr>
        <p:spPr>
          <a:xfrm flipH="1">
            <a:off x="7405689" y="3887788"/>
            <a:ext cx="1323975" cy="563562"/>
          </a:xfrm>
          <a:prstGeom prst="straightConnector1">
            <a:avLst/>
          </a:prstGeom>
          <a:noFill/>
          <a:ln cap="flat" cmpd="sng" w="28575">
            <a:solidFill>
              <a:schemeClr val="dk1"/>
            </a:solidFill>
            <a:prstDash val="solid"/>
            <a:round/>
            <a:headEnd len="med" w="med" type="none"/>
            <a:tailEnd len="lg" w="lg" type="stealth"/>
          </a:ln>
        </p:spPr>
      </p:cxnSp>
      <p:sp>
        <p:nvSpPr>
          <p:cNvPr id="4082" name="Google Shape;4082;p62"/>
          <p:cNvSpPr txBox="1"/>
          <p:nvPr/>
        </p:nvSpPr>
        <p:spPr>
          <a:xfrm>
            <a:off x="6977063" y="4513264"/>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X</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cxnSp>
        <p:nvCxnSpPr>
          <p:cNvPr id="4083" name="Google Shape;4083;p62"/>
          <p:cNvCxnSpPr/>
          <p:nvPr/>
        </p:nvCxnSpPr>
        <p:spPr>
          <a:xfrm flipH="1">
            <a:off x="7019926" y="2052638"/>
            <a:ext cx="1636713" cy="546100"/>
          </a:xfrm>
          <a:prstGeom prst="straightConnector1">
            <a:avLst/>
          </a:prstGeom>
          <a:noFill/>
          <a:ln cap="flat" cmpd="sng" w="28575">
            <a:solidFill>
              <a:schemeClr val="dk1"/>
            </a:solidFill>
            <a:prstDash val="solid"/>
            <a:round/>
            <a:headEnd len="med" w="med" type="none"/>
            <a:tailEnd len="lg" w="lg" type="stealth"/>
          </a:ln>
        </p:spPr>
      </p:cxnSp>
      <p:cxnSp>
        <p:nvCxnSpPr>
          <p:cNvPr id="4084" name="Google Shape;4084;p62"/>
          <p:cNvCxnSpPr/>
          <p:nvPr/>
        </p:nvCxnSpPr>
        <p:spPr>
          <a:xfrm>
            <a:off x="6980239" y="3194050"/>
            <a:ext cx="1806575" cy="604838"/>
          </a:xfrm>
          <a:prstGeom prst="straightConnector1">
            <a:avLst/>
          </a:prstGeom>
          <a:noFill/>
          <a:ln cap="flat" cmpd="sng" w="28575">
            <a:solidFill>
              <a:schemeClr val="dk1"/>
            </a:solidFill>
            <a:prstDash val="solid"/>
            <a:round/>
            <a:headEnd len="med" w="med" type="none"/>
            <a:tailEnd len="lg" w="lg" type="stealth"/>
          </a:ln>
        </p:spPr>
      </p:cxnSp>
      <p:sp>
        <p:nvSpPr>
          <p:cNvPr id="4085" name="Google Shape;4085;p62"/>
          <p:cNvSpPr/>
          <p:nvPr/>
        </p:nvSpPr>
        <p:spPr>
          <a:xfrm>
            <a:off x="8958263" y="54371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086" name="Google Shape;4086;p62"/>
          <p:cNvSpPr txBox="1"/>
          <p:nvPr/>
        </p:nvSpPr>
        <p:spPr>
          <a:xfrm>
            <a:off x="9259888" y="53070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(R3)</a:t>
            </a:r>
            <a:endParaRPr/>
          </a:p>
        </p:txBody>
      </p:sp>
      <p:sp>
        <p:nvSpPr>
          <p:cNvPr id="4087" name="Google Shape;4087;p62"/>
          <p:cNvSpPr/>
          <p:nvPr/>
        </p:nvSpPr>
        <p:spPr>
          <a:xfrm>
            <a:off x="5595939" y="3613150"/>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088" name="Google Shape;4088;p62"/>
          <p:cNvSpPr txBox="1"/>
          <p:nvPr/>
        </p:nvSpPr>
        <p:spPr>
          <a:xfrm>
            <a:off x="6045201" y="3487739"/>
            <a:ext cx="493713"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(S3)</a:t>
            </a:r>
            <a:endParaRPr/>
          </a:p>
        </p:txBody>
      </p:sp>
      <p:cxnSp>
        <p:nvCxnSpPr>
          <p:cNvPr id="4089" name="Google Shape;4089;p62"/>
          <p:cNvCxnSpPr/>
          <p:nvPr/>
        </p:nvCxnSpPr>
        <p:spPr>
          <a:xfrm flipH="1">
            <a:off x="7015163" y="3317875"/>
            <a:ext cx="1636712" cy="546100"/>
          </a:xfrm>
          <a:prstGeom prst="straightConnector1">
            <a:avLst/>
          </a:prstGeom>
          <a:noFill/>
          <a:ln cap="flat" cmpd="sng" w="28575">
            <a:solidFill>
              <a:schemeClr val="dk1"/>
            </a:solidFill>
            <a:prstDash val="solid"/>
            <a:round/>
            <a:headEnd len="med" w="med" type="none"/>
            <a:tailEnd len="lg" w="lg" type="stealth"/>
          </a:ln>
        </p:spPr>
      </p:cxnSp>
      <p:sp>
        <p:nvSpPr>
          <p:cNvPr id="4090" name="Google Shape;4090;p62"/>
          <p:cNvSpPr/>
          <p:nvPr/>
        </p:nvSpPr>
        <p:spPr>
          <a:xfrm>
            <a:off x="5575300" y="6034089"/>
            <a:ext cx="1373188"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091" name="Google Shape;4091;p62"/>
          <p:cNvSpPr txBox="1"/>
          <p:nvPr/>
        </p:nvSpPr>
        <p:spPr>
          <a:xfrm>
            <a:off x="6073776" y="5908675"/>
            <a:ext cx="493713"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(S5)</a:t>
            </a:r>
            <a:endParaRPr/>
          </a:p>
        </p:txBody>
      </p:sp>
      <p:cxnSp>
        <p:nvCxnSpPr>
          <p:cNvPr id="4092" name="Google Shape;4092;p62"/>
          <p:cNvCxnSpPr/>
          <p:nvPr/>
        </p:nvCxnSpPr>
        <p:spPr>
          <a:xfrm>
            <a:off x="6972301" y="6253164"/>
            <a:ext cx="1776413" cy="428625"/>
          </a:xfrm>
          <a:prstGeom prst="straightConnector1">
            <a:avLst/>
          </a:prstGeom>
          <a:noFill/>
          <a:ln cap="flat" cmpd="sng" w="28575">
            <a:solidFill>
              <a:schemeClr val="dk1"/>
            </a:solidFill>
            <a:prstDash val="solid"/>
            <a:round/>
            <a:headEnd len="med" w="med" type="none"/>
            <a:tailEnd len="lg" w="lg" type="stealth"/>
          </a:ln>
        </p:spPr>
      </p:cxnSp>
      <p:sp>
        <p:nvSpPr>
          <p:cNvPr id="4093" name="Google Shape;4093;p62"/>
          <p:cNvSpPr/>
          <p:nvPr/>
        </p:nvSpPr>
        <p:spPr>
          <a:xfrm>
            <a:off x="8913813" y="64404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094" name="Google Shape;4094;p62"/>
          <p:cNvSpPr txBox="1"/>
          <p:nvPr/>
        </p:nvSpPr>
        <p:spPr>
          <a:xfrm>
            <a:off x="9215438" y="63103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(R4)</a:t>
            </a:r>
            <a:endParaRPr/>
          </a:p>
        </p:txBody>
      </p:sp>
      <p:sp>
        <p:nvSpPr>
          <p:cNvPr id="4095" name="Google Shape;4095;p62"/>
          <p:cNvSpPr txBox="1"/>
          <p:nvPr/>
        </p:nvSpPr>
        <p:spPr>
          <a:xfrm>
            <a:off x="8821738" y="342900"/>
            <a:ext cx="1098550" cy="3381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ahoma"/>
                <a:ea typeface="Tahoma"/>
                <a:cs typeface="Tahoma"/>
                <a:sym typeface="Tahoma"/>
              </a:rPr>
              <a:t>Self-Study</a:t>
            </a:r>
            <a:endParaRPr/>
          </a:p>
        </p:txBody>
      </p:sp>
      <p:grpSp>
        <p:nvGrpSpPr>
          <p:cNvPr id="4096" name="Google Shape;4096;p62"/>
          <p:cNvGrpSpPr/>
          <p:nvPr/>
        </p:nvGrpSpPr>
        <p:grpSpPr>
          <a:xfrm>
            <a:off x="8220481" y="-249778"/>
            <a:ext cx="2461403" cy="1558421"/>
            <a:chOff x="6697235" y="-249764"/>
            <a:chExt cx="2460203" cy="1558188"/>
          </a:xfrm>
        </p:grpSpPr>
        <p:sp>
          <p:nvSpPr>
            <p:cNvPr id="4097" name="Google Shape;4097;p62"/>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b="0" i="0" sz="2400" u="none" cap="none" strike="noStrike">
                <a:solidFill>
                  <a:schemeClr val="dk1"/>
                </a:solidFill>
                <a:latin typeface="Comic Sans MS"/>
                <a:ea typeface="Comic Sans MS"/>
                <a:cs typeface="Comic Sans MS"/>
                <a:sym typeface="Comic Sans MS"/>
              </a:endParaRPr>
            </a:p>
          </p:txBody>
        </p:sp>
        <p:sp>
          <p:nvSpPr>
            <p:cNvPr id="4098" name="Google Shape;4098;p62"/>
            <p:cNvSpPr txBox="1"/>
            <p:nvPr/>
          </p:nvSpPr>
          <p:spPr>
            <a:xfrm>
              <a:off x="7216423" y="342294"/>
              <a:ext cx="126028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Noto Sans Symbols"/>
                <a:buNone/>
              </a:pPr>
              <a:r>
                <a:rPr b="1" i="0" lang="en-US" sz="1600" u="none" cap="none" strike="noStrike">
                  <a:solidFill>
                    <a:srgbClr val="FF0000"/>
                  </a:solidFill>
                  <a:latin typeface="Tahoma"/>
                  <a:ea typeface="Tahoma"/>
                  <a:cs typeface="Tahoma"/>
                  <a:sym typeface="Tahoma"/>
                </a:rPr>
                <a:t>Self-Study</a:t>
              </a:r>
              <a:endParaRPr/>
            </a:p>
          </p:txBody>
        </p:sp>
      </p:grpSp>
      <p:sp>
        <p:nvSpPr>
          <p:cNvPr id="4099" name="Google Shape;4099;p6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3" name="Shape 4103"/>
        <p:cNvGrpSpPr/>
        <p:nvPr/>
      </p:nvGrpSpPr>
      <p:grpSpPr>
        <a:xfrm>
          <a:off x="0" y="0"/>
          <a:ext cx="0" cy="0"/>
          <a:chOff x="0" y="0"/>
          <a:chExt cx="0" cy="0"/>
        </a:xfrm>
      </p:grpSpPr>
      <p:sp>
        <p:nvSpPr>
          <p:cNvPr id="4104" name="Google Shape;4104;p63"/>
          <p:cNvSpPr txBox="1"/>
          <p:nvPr/>
        </p:nvSpPr>
        <p:spPr>
          <a:xfrm>
            <a:off x="1849439" y="1441450"/>
            <a:ext cx="3163887" cy="52403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1" i="0" lang="en-US" sz="2200" u="sng" cap="none" strike="noStrike">
                <a:solidFill>
                  <a:srgbClr val="FF0000"/>
                </a:solidFill>
                <a:latin typeface="Arial"/>
                <a:ea typeface="Arial"/>
                <a:cs typeface="Arial"/>
                <a:sym typeface="Arial"/>
              </a:rPr>
              <a:t>Solutions:</a:t>
            </a:r>
            <a:endParaRPr/>
          </a:p>
          <a:p>
            <a:pPr indent="0" lvl="0" marL="0" marR="0" rtl="0" algn="l">
              <a:lnSpc>
                <a:spcPct val="100000"/>
              </a:lnSpc>
              <a:spcBef>
                <a:spcPts val="440"/>
              </a:spcBef>
              <a:spcAft>
                <a:spcPts val="0"/>
              </a:spcAft>
              <a:buClr>
                <a:srgbClr val="000099"/>
              </a:buClr>
              <a:buSzPts val="1430"/>
              <a:buFont typeface="Noto Sans Symbols"/>
              <a:buNone/>
            </a:pPr>
            <a:r>
              <a:t/>
            </a:r>
            <a:endParaRPr b="1" i="0" sz="2200" u="sng" cap="none" strike="noStrike">
              <a:solidFill>
                <a:srgbClr val="FF0000"/>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D8D8D8"/>
                </a:solidFill>
                <a:latin typeface="Arial"/>
                <a:ea typeface="Arial"/>
                <a:cs typeface="Arial"/>
                <a:sym typeface="Arial"/>
              </a:rPr>
              <a:t>(in figure)</a:t>
            </a:r>
            <a:endParaRPr/>
          </a:p>
          <a:p>
            <a:pPr indent="-317500" lvl="0" marL="457200" marR="0" rtl="0" algn="l">
              <a:lnSpc>
                <a:spcPct val="100000"/>
              </a:lnSpc>
              <a:spcBef>
                <a:spcPts val="440"/>
              </a:spcBef>
              <a:spcAft>
                <a:spcPts val="0"/>
              </a:spcAft>
              <a:buClr>
                <a:schemeClr val="dk1"/>
              </a:buClr>
              <a:buSzPts val="2200"/>
              <a:buFont typeface="Noto Sans Symbols"/>
              <a:buNone/>
            </a:pPr>
            <a:r>
              <a:t/>
            </a:r>
            <a:endParaRPr b="0" i="0" sz="2200" u="none" cap="none" strike="noStrike">
              <a:solidFill>
                <a:schemeClr val="dk1"/>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0070C0"/>
                </a:solidFill>
                <a:latin typeface="Arial"/>
                <a:ea typeface="Arial"/>
                <a:cs typeface="Arial"/>
                <a:sym typeface="Arial"/>
              </a:rPr>
              <a:t>X – </a:t>
            </a:r>
            <a:r>
              <a:rPr b="0" i="0" lang="en-US" sz="2200" u="none" cap="none" strike="noStrike">
                <a:solidFill>
                  <a:srgbClr val="0070C0"/>
                </a:solidFill>
                <a:latin typeface="Courier New"/>
                <a:ea typeface="Courier New"/>
                <a:cs typeface="Courier New"/>
                <a:sym typeface="Courier New"/>
              </a:rPr>
              <a:t>ACK</a:t>
            </a:r>
            <a:r>
              <a:rPr b="0" i="0" lang="en-US" sz="2200" u="none" cap="none" strike="noStrike">
                <a:solidFill>
                  <a:srgbClr val="0070C0"/>
                </a:solidFill>
                <a:latin typeface="Arial"/>
                <a:ea typeface="Arial"/>
                <a:cs typeface="Arial"/>
                <a:sym typeface="Arial"/>
              </a:rPr>
              <a:t> loss,         Y – packet loss</a:t>
            </a:r>
            <a:endParaRPr/>
          </a:p>
          <a:p>
            <a:pPr indent="-317500" lvl="0" marL="457200" marR="0" rtl="0" algn="l">
              <a:lnSpc>
                <a:spcPct val="100000"/>
              </a:lnSpc>
              <a:spcBef>
                <a:spcPts val="440"/>
              </a:spcBef>
              <a:spcAft>
                <a:spcPts val="0"/>
              </a:spcAft>
              <a:buClr>
                <a:schemeClr val="dk1"/>
              </a:buClr>
              <a:buSzPts val="2200"/>
              <a:buFont typeface="Noto Sans Symbols"/>
              <a:buNone/>
            </a:pPr>
            <a:r>
              <a:t/>
            </a:r>
            <a:endParaRPr b="0" i="0" sz="2200" u="none" cap="none" strike="noStrike">
              <a:solidFill>
                <a:schemeClr val="dk1"/>
              </a:solidFill>
              <a:latin typeface="Arial"/>
              <a:ea typeface="Arial"/>
              <a:cs typeface="Arial"/>
              <a:sym typeface="Arial"/>
            </a:endParaRPr>
          </a:p>
          <a:p>
            <a:pPr indent="-317500" lvl="0" marL="457200" marR="0" rtl="0" algn="l">
              <a:lnSpc>
                <a:spcPct val="100000"/>
              </a:lnSpc>
              <a:spcBef>
                <a:spcPts val="440"/>
              </a:spcBef>
              <a:spcAft>
                <a:spcPts val="0"/>
              </a:spcAft>
              <a:buClr>
                <a:schemeClr val="dk1"/>
              </a:buClr>
              <a:buSzPts val="2200"/>
              <a:buFont typeface="Noto Sans Symbols"/>
              <a:buNone/>
            </a:pPr>
            <a:r>
              <a:t/>
            </a:r>
            <a:endParaRPr b="0" i="0" sz="2200" u="none" cap="none" strike="noStrike">
              <a:solidFill>
                <a:schemeClr val="dk1"/>
              </a:solidFill>
              <a:latin typeface="Arial"/>
              <a:ea typeface="Arial"/>
              <a:cs typeface="Arial"/>
              <a:sym typeface="Arial"/>
            </a:endParaRPr>
          </a:p>
        </p:txBody>
      </p:sp>
      <p:sp>
        <p:nvSpPr>
          <p:cNvPr id="4105" name="Google Shape;4105;p63"/>
          <p:cNvSpPr/>
          <p:nvPr/>
        </p:nvSpPr>
        <p:spPr>
          <a:xfrm flipH="1" rot="10800000">
            <a:off x="6959600" y="6273800"/>
            <a:ext cx="1798638" cy="469900"/>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sp>
        <p:nvSpPr>
          <p:cNvPr id="4106" name="Google Shape;4106;p63"/>
          <p:cNvSpPr/>
          <p:nvPr/>
        </p:nvSpPr>
        <p:spPr>
          <a:xfrm>
            <a:off x="6988175" y="1406525"/>
            <a:ext cx="1798638" cy="1208088"/>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4107" name="Google Shape;4107;p63"/>
          <p:cNvCxnSpPr/>
          <p:nvPr/>
        </p:nvCxnSpPr>
        <p:spPr>
          <a:xfrm>
            <a:off x="8797925" y="1225550"/>
            <a:ext cx="0" cy="5518150"/>
          </a:xfrm>
          <a:prstGeom prst="straightConnector1">
            <a:avLst/>
          </a:prstGeom>
          <a:noFill/>
          <a:ln cap="flat" cmpd="sng" w="9525">
            <a:solidFill>
              <a:schemeClr val="dk1"/>
            </a:solidFill>
            <a:prstDash val="dash"/>
            <a:round/>
            <a:headEnd len="med" w="med" type="none"/>
            <a:tailEnd len="med" w="med" type="none"/>
          </a:ln>
        </p:spPr>
      </p:cxnSp>
      <p:cxnSp>
        <p:nvCxnSpPr>
          <p:cNvPr id="4108" name="Google Shape;4108;p63"/>
          <p:cNvCxnSpPr>
            <a:endCxn id="4106" idx="3"/>
          </p:cNvCxnSpPr>
          <p:nvPr/>
        </p:nvCxnSpPr>
        <p:spPr>
          <a:xfrm>
            <a:off x="6980213" y="1405769"/>
            <a:ext cx="1806600" cy="604800"/>
          </a:xfrm>
          <a:prstGeom prst="straightConnector1">
            <a:avLst/>
          </a:prstGeom>
          <a:noFill/>
          <a:ln cap="flat" cmpd="sng" w="28575">
            <a:solidFill>
              <a:schemeClr val="dk1"/>
            </a:solidFill>
            <a:prstDash val="solid"/>
            <a:round/>
            <a:headEnd len="med" w="med" type="none"/>
            <a:tailEnd len="lg" w="lg" type="stealth"/>
          </a:ln>
        </p:spPr>
      </p:cxnSp>
      <p:sp>
        <p:nvSpPr>
          <p:cNvPr id="4109" name="Google Shape;4109;p63"/>
          <p:cNvSpPr txBox="1"/>
          <p:nvPr/>
        </p:nvSpPr>
        <p:spPr>
          <a:xfrm>
            <a:off x="6556375" y="796926"/>
            <a:ext cx="795338"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Sender</a:t>
            </a:r>
            <a:endParaRPr/>
          </a:p>
        </p:txBody>
      </p:sp>
      <p:sp>
        <p:nvSpPr>
          <p:cNvPr id="4110" name="Google Shape;4110;p63"/>
          <p:cNvSpPr txBox="1"/>
          <p:nvPr/>
        </p:nvSpPr>
        <p:spPr>
          <a:xfrm>
            <a:off x="8297864" y="798514"/>
            <a:ext cx="94297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Receiver</a:t>
            </a:r>
            <a:endParaRPr/>
          </a:p>
        </p:txBody>
      </p:sp>
      <p:sp>
        <p:nvSpPr>
          <p:cNvPr id="4111" name="Google Shape;4111;p63"/>
          <p:cNvSpPr txBox="1"/>
          <p:nvPr/>
        </p:nvSpPr>
        <p:spPr>
          <a:xfrm>
            <a:off x="5870576" y="1150939"/>
            <a:ext cx="1019175"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Send </a:t>
            </a:r>
            <a:r>
              <a:rPr b="0" i="0" lang="en-US" sz="1400" u="none" cap="none" strike="noStrike">
                <a:solidFill>
                  <a:schemeClr val="dk1"/>
                </a:solidFill>
                <a:latin typeface="Courier New"/>
                <a:ea typeface="Courier New"/>
                <a:cs typeface="Courier New"/>
                <a:sym typeface="Courier New"/>
              </a:rPr>
              <a:t>pkt0</a:t>
            </a:r>
            <a:endParaRPr/>
          </a:p>
        </p:txBody>
      </p:sp>
      <p:sp>
        <p:nvSpPr>
          <p:cNvPr id="4112" name="Google Shape;4112;p63"/>
          <p:cNvSpPr/>
          <p:nvPr/>
        </p:nvSpPr>
        <p:spPr>
          <a:xfrm>
            <a:off x="5599114" y="2384425"/>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113" name="Google Shape;4113;p63"/>
          <p:cNvSpPr txBox="1"/>
          <p:nvPr/>
        </p:nvSpPr>
        <p:spPr>
          <a:xfrm>
            <a:off x="6048376" y="2257426"/>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(S1)</a:t>
            </a:r>
            <a:endParaRPr/>
          </a:p>
        </p:txBody>
      </p:sp>
      <p:sp>
        <p:nvSpPr>
          <p:cNvPr id="4114" name="Google Shape;4114;p63"/>
          <p:cNvSpPr txBox="1"/>
          <p:nvPr/>
        </p:nvSpPr>
        <p:spPr>
          <a:xfrm>
            <a:off x="8832850" y="1808164"/>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rcv </a:t>
            </a:r>
            <a:r>
              <a:rPr b="0" i="0" lang="en-US" sz="1400" u="none" cap="none" strike="noStrike">
                <a:solidFill>
                  <a:schemeClr val="dk1"/>
                </a:solidFill>
                <a:latin typeface="Courier New"/>
                <a:ea typeface="Courier New"/>
                <a:cs typeface="Courier New"/>
                <a:sym typeface="Courier New"/>
              </a:rPr>
              <a:t>pkt0</a:t>
            </a:r>
            <a:r>
              <a:rPr b="0" i="0" lang="en-US" sz="1400" u="none" cap="none" strike="noStrike">
                <a:solidFill>
                  <a:schemeClr val="dk1"/>
                </a:solidFill>
                <a:latin typeface="Times New Roman"/>
                <a:ea typeface="Times New Roman"/>
                <a:cs typeface="Times New Roman"/>
                <a:sym typeface="Times New Roman"/>
              </a:rPr>
              <a:t>, send </a:t>
            </a:r>
            <a:r>
              <a:rPr b="0" i="0" lang="en-US" sz="1400" u="none" cap="none" strike="noStrike">
                <a:solidFill>
                  <a:schemeClr val="dk1"/>
                </a:solidFill>
                <a:latin typeface="Courier New"/>
                <a:ea typeface="Courier New"/>
                <a:cs typeface="Courier New"/>
                <a:sym typeface="Courier New"/>
              </a:rPr>
              <a:t>NAK0</a:t>
            </a:r>
            <a:endParaRPr/>
          </a:p>
        </p:txBody>
      </p:sp>
      <p:sp>
        <p:nvSpPr>
          <p:cNvPr id="4115" name="Google Shape;4115;p63"/>
          <p:cNvSpPr/>
          <p:nvPr/>
        </p:nvSpPr>
        <p:spPr>
          <a:xfrm>
            <a:off x="6980239" y="3851276"/>
            <a:ext cx="1798637" cy="1209675"/>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4116" name="Google Shape;4116;p63"/>
          <p:cNvCxnSpPr/>
          <p:nvPr/>
        </p:nvCxnSpPr>
        <p:spPr>
          <a:xfrm>
            <a:off x="6972301" y="2643189"/>
            <a:ext cx="1806575" cy="604837"/>
          </a:xfrm>
          <a:prstGeom prst="straightConnector1">
            <a:avLst/>
          </a:prstGeom>
          <a:noFill/>
          <a:ln cap="flat" cmpd="sng" w="28575">
            <a:solidFill>
              <a:schemeClr val="dk1"/>
            </a:solidFill>
            <a:prstDash val="solid"/>
            <a:round/>
            <a:headEnd len="med" w="med" type="none"/>
            <a:tailEnd len="lg" w="lg" type="stealth"/>
          </a:ln>
        </p:spPr>
      </p:cxnSp>
      <p:sp>
        <p:nvSpPr>
          <p:cNvPr id="4117" name="Google Shape;4117;p63"/>
          <p:cNvSpPr/>
          <p:nvPr/>
        </p:nvSpPr>
        <p:spPr>
          <a:xfrm>
            <a:off x="5591175" y="2981325"/>
            <a:ext cx="1373188"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118" name="Google Shape;4118;p63"/>
          <p:cNvSpPr txBox="1"/>
          <p:nvPr/>
        </p:nvSpPr>
        <p:spPr>
          <a:xfrm>
            <a:off x="6040438" y="2854326"/>
            <a:ext cx="493712"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(S2)</a:t>
            </a:r>
            <a:endParaRPr/>
          </a:p>
        </p:txBody>
      </p:sp>
      <p:sp>
        <p:nvSpPr>
          <p:cNvPr id="4119" name="Google Shape;4119;p63"/>
          <p:cNvSpPr/>
          <p:nvPr/>
        </p:nvSpPr>
        <p:spPr>
          <a:xfrm>
            <a:off x="8888413" y="2987676"/>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120" name="Google Shape;4120;p63"/>
          <p:cNvSpPr txBox="1"/>
          <p:nvPr/>
        </p:nvSpPr>
        <p:spPr>
          <a:xfrm>
            <a:off x="9190038" y="2857500"/>
            <a:ext cx="514350"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(R1)</a:t>
            </a:r>
            <a:endParaRPr/>
          </a:p>
        </p:txBody>
      </p:sp>
      <p:cxnSp>
        <p:nvCxnSpPr>
          <p:cNvPr id="4121" name="Google Shape;4121;p63"/>
          <p:cNvCxnSpPr/>
          <p:nvPr/>
        </p:nvCxnSpPr>
        <p:spPr>
          <a:xfrm>
            <a:off x="6967538" y="1223963"/>
            <a:ext cx="0" cy="5518150"/>
          </a:xfrm>
          <a:prstGeom prst="straightConnector1">
            <a:avLst/>
          </a:prstGeom>
          <a:noFill/>
          <a:ln cap="flat" cmpd="sng" w="9525">
            <a:solidFill>
              <a:schemeClr val="dk1"/>
            </a:solidFill>
            <a:prstDash val="dash"/>
            <a:round/>
            <a:headEnd len="med" w="med" type="none"/>
            <a:tailEnd len="med" w="med" type="none"/>
          </a:ln>
        </p:spPr>
      </p:cxnSp>
      <p:sp>
        <p:nvSpPr>
          <p:cNvPr id="4122" name="Google Shape;4122;p63"/>
          <p:cNvSpPr txBox="1"/>
          <p:nvPr/>
        </p:nvSpPr>
        <p:spPr>
          <a:xfrm rot="-5400000">
            <a:off x="4751388" y="4349751"/>
            <a:ext cx="9207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2</a:t>
            </a:r>
            <a:endParaRPr/>
          </a:p>
        </p:txBody>
      </p:sp>
      <p:grpSp>
        <p:nvGrpSpPr>
          <p:cNvPr id="4123" name="Google Shape;4123;p63"/>
          <p:cNvGrpSpPr/>
          <p:nvPr/>
        </p:nvGrpSpPr>
        <p:grpSpPr>
          <a:xfrm>
            <a:off x="5383213" y="3860801"/>
            <a:ext cx="207962" cy="1255713"/>
            <a:chOff x="2524123" y="2565535"/>
            <a:chExt cx="208492" cy="1256451"/>
          </a:xfrm>
        </p:grpSpPr>
        <p:cxnSp>
          <p:nvCxnSpPr>
            <p:cNvPr id="4124" name="Google Shape;4124;p63"/>
            <p:cNvCxnSpPr/>
            <p:nvPr/>
          </p:nvCxnSpPr>
          <p:spPr>
            <a:xfrm flipH="1">
              <a:off x="2524123" y="2565535"/>
              <a:ext cx="3228" cy="1256451"/>
            </a:xfrm>
            <a:prstGeom prst="straightConnector1">
              <a:avLst/>
            </a:prstGeom>
            <a:noFill/>
            <a:ln cap="flat" cmpd="sng" w="9525">
              <a:solidFill>
                <a:schemeClr val="dk1"/>
              </a:solidFill>
              <a:prstDash val="solid"/>
              <a:round/>
              <a:headEnd len="med" w="med" type="none"/>
              <a:tailEnd len="med" w="med" type="none"/>
            </a:ln>
          </p:spPr>
        </p:cxnSp>
        <p:cxnSp>
          <p:nvCxnSpPr>
            <p:cNvPr id="4125" name="Google Shape;4125;p63"/>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126" name="Google Shape;4126;p63"/>
            <p:cNvCxnSpPr/>
            <p:nvPr/>
          </p:nvCxnSpPr>
          <p:spPr>
            <a:xfrm>
              <a:off x="2525301" y="3819674"/>
              <a:ext cx="205267" cy="0"/>
            </a:xfrm>
            <a:prstGeom prst="straightConnector1">
              <a:avLst/>
            </a:prstGeom>
            <a:noFill/>
            <a:ln cap="flat" cmpd="sng" w="9525">
              <a:solidFill>
                <a:schemeClr val="dk1"/>
              </a:solidFill>
              <a:prstDash val="solid"/>
              <a:round/>
              <a:headEnd len="med" w="med" type="none"/>
              <a:tailEnd len="med" w="med" type="none"/>
            </a:ln>
          </p:spPr>
        </p:cxnSp>
      </p:grpSp>
      <p:sp>
        <p:nvSpPr>
          <p:cNvPr id="4127" name="Google Shape;4127;p63"/>
          <p:cNvSpPr/>
          <p:nvPr/>
        </p:nvSpPr>
        <p:spPr>
          <a:xfrm>
            <a:off x="8891589" y="3608389"/>
            <a:ext cx="1512887"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128" name="Google Shape;4128;p63"/>
          <p:cNvSpPr txBox="1"/>
          <p:nvPr/>
        </p:nvSpPr>
        <p:spPr>
          <a:xfrm>
            <a:off x="9194801" y="3478214"/>
            <a:ext cx="51276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(R2)</a:t>
            </a:r>
            <a:endParaRPr/>
          </a:p>
        </p:txBody>
      </p:sp>
      <p:cxnSp>
        <p:nvCxnSpPr>
          <p:cNvPr id="4129" name="Google Shape;4129;p63"/>
          <p:cNvCxnSpPr/>
          <p:nvPr/>
        </p:nvCxnSpPr>
        <p:spPr>
          <a:xfrm>
            <a:off x="6988175" y="3881439"/>
            <a:ext cx="1403350" cy="593725"/>
          </a:xfrm>
          <a:prstGeom prst="straightConnector1">
            <a:avLst/>
          </a:prstGeom>
          <a:noFill/>
          <a:ln cap="flat" cmpd="sng" w="28575">
            <a:solidFill>
              <a:schemeClr val="dk1"/>
            </a:solidFill>
            <a:prstDash val="solid"/>
            <a:round/>
            <a:headEnd len="med" w="med" type="none"/>
            <a:tailEnd len="lg" w="lg" type="stealth"/>
          </a:ln>
        </p:spPr>
      </p:cxnSp>
      <p:cxnSp>
        <p:nvCxnSpPr>
          <p:cNvPr id="4130" name="Google Shape;4130;p63"/>
          <p:cNvCxnSpPr/>
          <p:nvPr/>
        </p:nvCxnSpPr>
        <p:spPr>
          <a:xfrm flipH="1">
            <a:off x="6961188" y="5716589"/>
            <a:ext cx="1797050" cy="509587"/>
          </a:xfrm>
          <a:prstGeom prst="straightConnector1">
            <a:avLst/>
          </a:prstGeom>
          <a:noFill/>
          <a:ln cap="flat" cmpd="sng" w="28575">
            <a:solidFill>
              <a:schemeClr val="dk1"/>
            </a:solidFill>
            <a:prstDash val="solid"/>
            <a:round/>
            <a:headEnd len="med" w="med" type="none"/>
            <a:tailEnd len="lg" w="lg" type="stealth"/>
          </a:ln>
        </p:spPr>
      </p:cxnSp>
      <p:sp>
        <p:nvSpPr>
          <p:cNvPr id="4131" name="Google Shape;4131;p63"/>
          <p:cNvSpPr txBox="1"/>
          <p:nvPr/>
        </p:nvSpPr>
        <p:spPr>
          <a:xfrm>
            <a:off x="8177213" y="4505326"/>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1400"/>
              <a:buFont typeface="Noto Sans Symbols"/>
              <a:buNone/>
            </a:pPr>
            <a:r>
              <a:rPr b="1" i="0" lang="en-US" sz="1400" u="none" cap="none" strike="noStrike">
                <a:solidFill>
                  <a:srgbClr val="0070C0"/>
                </a:solidFill>
                <a:latin typeface="Times New Roman"/>
                <a:ea typeface="Times New Roman"/>
                <a:cs typeface="Times New Roman"/>
                <a:sym typeface="Times New Roman"/>
              </a:rPr>
              <a:t>Y</a:t>
            </a:r>
            <a:endParaRPr/>
          </a:p>
          <a:p>
            <a:pPr indent="0" lvl="0" marL="0" marR="0" rtl="0" algn="l">
              <a:lnSpc>
                <a:spcPct val="100000"/>
              </a:lnSpc>
              <a:spcBef>
                <a:spcPts val="0"/>
              </a:spcBef>
              <a:spcAft>
                <a:spcPts val="0"/>
              </a:spcAft>
              <a:buClr>
                <a:srgbClr val="0070C0"/>
              </a:buClr>
              <a:buSzPts val="1400"/>
              <a:buFont typeface="Noto Sans Symbols"/>
              <a:buNone/>
            </a:pPr>
            <a:r>
              <a:rPr b="1" i="0" lang="en-US" sz="1400" u="none" cap="none" strike="noStrike">
                <a:solidFill>
                  <a:srgbClr val="0070C0"/>
                </a:solidFill>
                <a:latin typeface="Times New Roman"/>
                <a:ea typeface="Times New Roman"/>
                <a:cs typeface="Times New Roman"/>
                <a:sym typeface="Times New Roman"/>
              </a:rPr>
              <a:t>(loss)</a:t>
            </a:r>
            <a:endParaRPr/>
          </a:p>
        </p:txBody>
      </p:sp>
      <p:grpSp>
        <p:nvGrpSpPr>
          <p:cNvPr id="4132" name="Google Shape;4132;p63"/>
          <p:cNvGrpSpPr/>
          <p:nvPr/>
        </p:nvGrpSpPr>
        <p:grpSpPr>
          <a:xfrm>
            <a:off x="5400676" y="2613026"/>
            <a:ext cx="207963" cy="619125"/>
            <a:chOff x="2525301" y="2572305"/>
            <a:chExt cx="207314" cy="618591"/>
          </a:xfrm>
        </p:grpSpPr>
        <p:cxnSp>
          <p:nvCxnSpPr>
            <p:cNvPr id="4133" name="Google Shape;4133;p63"/>
            <p:cNvCxnSpPr/>
            <p:nvPr/>
          </p:nvCxnSpPr>
          <p:spPr>
            <a:xfrm>
              <a:off x="2532013" y="2572305"/>
              <a:ext cx="0" cy="616450"/>
            </a:xfrm>
            <a:prstGeom prst="straightConnector1">
              <a:avLst/>
            </a:prstGeom>
            <a:noFill/>
            <a:ln cap="flat" cmpd="sng" w="9525">
              <a:solidFill>
                <a:schemeClr val="dk1"/>
              </a:solidFill>
              <a:prstDash val="solid"/>
              <a:round/>
              <a:headEnd len="med" w="med" type="none"/>
              <a:tailEnd len="med" w="med" type="none"/>
            </a:ln>
          </p:spPr>
        </p:cxnSp>
        <p:cxnSp>
          <p:nvCxnSpPr>
            <p:cNvPr id="4134" name="Google Shape;4134;p63"/>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135" name="Google Shape;4135;p63"/>
            <p:cNvCxnSpPr/>
            <p:nvPr/>
          </p:nvCxnSpPr>
          <p:spPr>
            <a:xfrm>
              <a:off x="2525301" y="3190896"/>
              <a:ext cx="205267" cy="0"/>
            </a:xfrm>
            <a:prstGeom prst="straightConnector1">
              <a:avLst/>
            </a:prstGeom>
            <a:noFill/>
            <a:ln cap="flat" cmpd="sng" w="9525">
              <a:solidFill>
                <a:schemeClr val="dk1"/>
              </a:solidFill>
              <a:prstDash val="solid"/>
              <a:round/>
              <a:headEnd len="med" w="med" type="none"/>
              <a:tailEnd len="med" w="med" type="none"/>
            </a:ln>
          </p:spPr>
        </p:cxnSp>
      </p:grpSp>
      <p:cxnSp>
        <p:nvCxnSpPr>
          <p:cNvPr id="4136" name="Google Shape;4136;p63"/>
          <p:cNvCxnSpPr/>
          <p:nvPr/>
        </p:nvCxnSpPr>
        <p:spPr>
          <a:xfrm>
            <a:off x="6969125" y="5081589"/>
            <a:ext cx="1804988" cy="604837"/>
          </a:xfrm>
          <a:prstGeom prst="straightConnector1">
            <a:avLst/>
          </a:prstGeom>
          <a:noFill/>
          <a:ln cap="flat" cmpd="sng" w="28575">
            <a:solidFill>
              <a:schemeClr val="dk1"/>
            </a:solidFill>
            <a:prstDash val="solid"/>
            <a:round/>
            <a:headEnd len="med" w="med" type="none"/>
            <a:tailEnd len="lg" w="lg" type="stealth"/>
          </a:ln>
        </p:spPr>
      </p:cxnSp>
      <p:sp>
        <p:nvSpPr>
          <p:cNvPr id="4137" name="Google Shape;4137;p63"/>
          <p:cNvSpPr/>
          <p:nvPr/>
        </p:nvSpPr>
        <p:spPr>
          <a:xfrm>
            <a:off x="5545139" y="4872039"/>
            <a:ext cx="1374775"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138" name="Google Shape;4138;p63"/>
          <p:cNvSpPr txBox="1"/>
          <p:nvPr/>
        </p:nvSpPr>
        <p:spPr>
          <a:xfrm>
            <a:off x="6045201" y="4745039"/>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(S4)</a:t>
            </a:r>
            <a:endParaRPr/>
          </a:p>
        </p:txBody>
      </p:sp>
      <p:sp>
        <p:nvSpPr>
          <p:cNvPr id="4139" name="Google Shape;4139;p63"/>
          <p:cNvSpPr txBox="1"/>
          <p:nvPr/>
        </p:nvSpPr>
        <p:spPr>
          <a:xfrm rot="-5400000">
            <a:off x="4804569" y="2777331"/>
            <a:ext cx="920750" cy="3063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1</a:t>
            </a:r>
            <a:endParaRPr/>
          </a:p>
        </p:txBody>
      </p:sp>
      <p:cxnSp>
        <p:nvCxnSpPr>
          <p:cNvPr id="4140" name="Google Shape;4140;p63"/>
          <p:cNvCxnSpPr/>
          <p:nvPr/>
        </p:nvCxnSpPr>
        <p:spPr>
          <a:xfrm flipH="1">
            <a:off x="7405689" y="3887788"/>
            <a:ext cx="1323975" cy="563562"/>
          </a:xfrm>
          <a:prstGeom prst="straightConnector1">
            <a:avLst/>
          </a:prstGeom>
          <a:noFill/>
          <a:ln cap="flat" cmpd="sng" w="28575">
            <a:solidFill>
              <a:schemeClr val="dk1"/>
            </a:solidFill>
            <a:prstDash val="solid"/>
            <a:round/>
            <a:headEnd len="med" w="med" type="none"/>
            <a:tailEnd len="lg" w="lg" type="stealth"/>
          </a:ln>
        </p:spPr>
      </p:cxnSp>
      <p:sp>
        <p:nvSpPr>
          <p:cNvPr id="4141" name="Google Shape;4141;p63"/>
          <p:cNvSpPr txBox="1"/>
          <p:nvPr/>
        </p:nvSpPr>
        <p:spPr>
          <a:xfrm>
            <a:off x="6977063" y="4513264"/>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1400"/>
              <a:buFont typeface="Noto Sans Symbols"/>
              <a:buNone/>
            </a:pPr>
            <a:r>
              <a:rPr b="1" i="0" lang="en-US" sz="1400" u="none" cap="none" strike="noStrike">
                <a:solidFill>
                  <a:srgbClr val="0070C0"/>
                </a:solidFill>
                <a:latin typeface="Times New Roman"/>
                <a:ea typeface="Times New Roman"/>
                <a:cs typeface="Times New Roman"/>
                <a:sym typeface="Times New Roman"/>
              </a:rPr>
              <a:t>X</a:t>
            </a:r>
            <a:endParaRPr/>
          </a:p>
          <a:p>
            <a:pPr indent="0" lvl="0" marL="0" marR="0" rtl="0" algn="l">
              <a:lnSpc>
                <a:spcPct val="100000"/>
              </a:lnSpc>
              <a:spcBef>
                <a:spcPts val="0"/>
              </a:spcBef>
              <a:spcAft>
                <a:spcPts val="0"/>
              </a:spcAft>
              <a:buClr>
                <a:srgbClr val="0070C0"/>
              </a:buClr>
              <a:buSzPts val="1400"/>
              <a:buFont typeface="Noto Sans Symbols"/>
              <a:buNone/>
            </a:pPr>
            <a:r>
              <a:rPr b="1" i="0" lang="en-US" sz="1400" u="none" cap="none" strike="noStrike">
                <a:solidFill>
                  <a:srgbClr val="0070C0"/>
                </a:solidFill>
                <a:latin typeface="Times New Roman"/>
                <a:ea typeface="Times New Roman"/>
                <a:cs typeface="Times New Roman"/>
                <a:sym typeface="Times New Roman"/>
              </a:rPr>
              <a:t>(loss)</a:t>
            </a:r>
            <a:endParaRPr/>
          </a:p>
        </p:txBody>
      </p:sp>
      <p:cxnSp>
        <p:nvCxnSpPr>
          <p:cNvPr id="4142" name="Google Shape;4142;p63"/>
          <p:cNvCxnSpPr/>
          <p:nvPr/>
        </p:nvCxnSpPr>
        <p:spPr>
          <a:xfrm flipH="1">
            <a:off x="7019926" y="2052638"/>
            <a:ext cx="1636713" cy="546100"/>
          </a:xfrm>
          <a:prstGeom prst="straightConnector1">
            <a:avLst/>
          </a:prstGeom>
          <a:noFill/>
          <a:ln cap="flat" cmpd="sng" w="28575">
            <a:solidFill>
              <a:schemeClr val="dk1"/>
            </a:solidFill>
            <a:prstDash val="solid"/>
            <a:round/>
            <a:headEnd len="med" w="med" type="none"/>
            <a:tailEnd len="lg" w="lg" type="stealth"/>
          </a:ln>
        </p:spPr>
      </p:cxnSp>
      <p:cxnSp>
        <p:nvCxnSpPr>
          <p:cNvPr id="4143" name="Google Shape;4143;p63"/>
          <p:cNvCxnSpPr/>
          <p:nvPr/>
        </p:nvCxnSpPr>
        <p:spPr>
          <a:xfrm>
            <a:off x="6980239" y="3194050"/>
            <a:ext cx="1806575" cy="604838"/>
          </a:xfrm>
          <a:prstGeom prst="straightConnector1">
            <a:avLst/>
          </a:prstGeom>
          <a:noFill/>
          <a:ln cap="flat" cmpd="sng" w="28575">
            <a:solidFill>
              <a:schemeClr val="dk1"/>
            </a:solidFill>
            <a:prstDash val="solid"/>
            <a:round/>
            <a:headEnd len="med" w="med" type="none"/>
            <a:tailEnd len="lg" w="lg" type="stealth"/>
          </a:ln>
        </p:spPr>
      </p:cxnSp>
      <p:sp>
        <p:nvSpPr>
          <p:cNvPr id="4144" name="Google Shape;4144;p63"/>
          <p:cNvSpPr/>
          <p:nvPr/>
        </p:nvSpPr>
        <p:spPr>
          <a:xfrm>
            <a:off x="8958263" y="54371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145" name="Google Shape;4145;p63"/>
          <p:cNvSpPr txBox="1"/>
          <p:nvPr/>
        </p:nvSpPr>
        <p:spPr>
          <a:xfrm>
            <a:off x="9259888" y="53070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(R3)</a:t>
            </a:r>
            <a:endParaRPr/>
          </a:p>
        </p:txBody>
      </p:sp>
      <p:sp>
        <p:nvSpPr>
          <p:cNvPr id="4146" name="Google Shape;4146;p63"/>
          <p:cNvSpPr/>
          <p:nvPr/>
        </p:nvSpPr>
        <p:spPr>
          <a:xfrm>
            <a:off x="5595939" y="3613150"/>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147" name="Google Shape;4147;p63"/>
          <p:cNvSpPr txBox="1"/>
          <p:nvPr/>
        </p:nvSpPr>
        <p:spPr>
          <a:xfrm>
            <a:off x="6045201" y="3487739"/>
            <a:ext cx="493713"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(S3)</a:t>
            </a:r>
            <a:endParaRPr/>
          </a:p>
        </p:txBody>
      </p:sp>
      <p:cxnSp>
        <p:nvCxnSpPr>
          <p:cNvPr id="4148" name="Google Shape;4148;p63"/>
          <p:cNvCxnSpPr/>
          <p:nvPr/>
        </p:nvCxnSpPr>
        <p:spPr>
          <a:xfrm flipH="1">
            <a:off x="7015163" y="3317875"/>
            <a:ext cx="1636712" cy="546100"/>
          </a:xfrm>
          <a:prstGeom prst="straightConnector1">
            <a:avLst/>
          </a:prstGeom>
          <a:noFill/>
          <a:ln cap="flat" cmpd="sng" w="28575">
            <a:solidFill>
              <a:schemeClr val="dk1"/>
            </a:solidFill>
            <a:prstDash val="solid"/>
            <a:round/>
            <a:headEnd len="med" w="med" type="none"/>
            <a:tailEnd len="lg" w="lg" type="stealth"/>
          </a:ln>
        </p:spPr>
      </p:cxnSp>
      <p:sp>
        <p:nvSpPr>
          <p:cNvPr id="4149" name="Google Shape;4149;p63"/>
          <p:cNvSpPr/>
          <p:nvPr/>
        </p:nvSpPr>
        <p:spPr>
          <a:xfrm>
            <a:off x="5575300" y="6034089"/>
            <a:ext cx="1373188"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150" name="Google Shape;4150;p63"/>
          <p:cNvSpPr txBox="1"/>
          <p:nvPr/>
        </p:nvSpPr>
        <p:spPr>
          <a:xfrm>
            <a:off x="6073776" y="5908675"/>
            <a:ext cx="493713"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(S5)</a:t>
            </a:r>
            <a:endParaRPr/>
          </a:p>
        </p:txBody>
      </p:sp>
      <p:cxnSp>
        <p:nvCxnSpPr>
          <p:cNvPr id="4151" name="Google Shape;4151;p63"/>
          <p:cNvCxnSpPr/>
          <p:nvPr/>
        </p:nvCxnSpPr>
        <p:spPr>
          <a:xfrm>
            <a:off x="6972301" y="6253164"/>
            <a:ext cx="1776413" cy="428625"/>
          </a:xfrm>
          <a:prstGeom prst="straightConnector1">
            <a:avLst/>
          </a:prstGeom>
          <a:noFill/>
          <a:ln cap="flat" cmpd="sng" w="28575">
            <a:solidFill>
              <a:schemeClr val="dk1"/>
            </a:solidFill>
            <a:prstDash val="solid"/>
            <a:round/>
            <a:headEnd len="med" w="med" type="none"/>
            <a:tailEnd len="lg" w="lg" type="stealth"/>
          </a:ln>
        </p:spPr>
      </p:cxnSp>
      <p:sp>
        <p:nvSpPr>
          <p:cNvPr id="4152" name="Google Shape;4152;p63"/>
          <p:cNvSpPr/>
          <p:nvPr/>
        </p:nvSpPr>
        <p:spPr>
          <a:xfrm>
            <a:off x="8913813" y="64404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153" name="Google Shape;4153;p63"/>
          <p:cNvSpPr txBox="1"/>
          <p:nvPr/>
        </p:nvSpPr>
        <p:spPr>
          <a:xfrm>
            <a:off x="9215438" y="63103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(R4)</a:t>
            </a:r>
            <a:endParaRPr/>
          </a:p>
        </p:txBody>
      </p:sp>
      <p:sp>
        <p:nvSpPr>
          <p:cNvPr id="4154" name="Google Shape;4154;p63"/>
          <p:cNvSpPr txBox="1"/>
          <p:nvPr/>
        </p:nvSpPr>
        <p:spPr>
          <a:xfrm>
            <a:off x="5694363" y="2065339"/>
            <a:ext cx="989012" cy="5222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NAK0</a:t>
            </a:r>
            <a:r>
              <a:rPr b="0" i="0" lang="en-US" sz="1400" u="none" cap="none" strike="noStrike">
                <a:solidFill>
                  <a:srgbClr val="FF0000"/>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pkt0</a:t>
            </a:r>
            <a:endParaRPr/>
          </a:p>
        </p:txBody>
      </p:sp>
      <p:sp>
        <p:nvSpPr>
          <p:cNvPr id="4155" name="Google Shape;4155;p63"/>
          <p:cNvSpPr txBox="1"/>
          <p:nvPr/>
        </p:nvSpPr>
        <p:spPr>
          <a:xfrm>
            <a:off x="5735638" y="2859089"/>
            <a:ext cx="989012"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pkt0</a:t>
            </a:r>
            <a:endParaRPr/>
          </a:p>
        </p:txBody>
      </p:sp>
      <p:sp>
        <p:nvSpPr>
          <p:cNvPr id="4156" name="Google Shape;4156;p63"/>
          <p:cNvSpPr txBox="1"/>
          <p:nvPr/>
        </p:nvSpPr>
        <p:spPr>
          <a:xfrm>
            <a:off x="8809038" y="2895601"/>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pkt0</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ACK0</a:t>
            </a:r>
            <a:endParaRPr/>
          </a:p>
        </p:txBody>
      </p:sp>
      <p:sp>
        <p:nvSpPr>
          <p:cNvPr id="4157" name="Google Shape;4157;p63"/>
          <p:cNvSpPr txBox="1"/>
          <p:nvPr/>
        </p:nvSpPr>
        <p:spPr>
          <a:xfrm>
            <a:off x="5727701" y="3306764"/>
            <a:ext cx="989013" cy="5222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ACK0</a:t>
            </a:r>
            <a:r>
              <a:rPr b="0" i="0" lang="en-US" sz="1400" u="none" cap="none" strike="noStrike">
                <a:solidFill>
                  <a:srgbClr val="FF0000"/>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pkt1</a:t>
            </a:r>
            <a:endParaRPr/>
          </a:p>
        </p:txBody>
      </p:sp>
      <p:sp>
        <p:nvSpPr>
          <p:cNvPr id="4158" name="Google Shape;4158;p63"/>
          <p:cNvSpPr txBox="1"/>
          <p:nvPr/>
        </p:nvSpPr>
        <p:spPr>
          <a:xfrm>
            <a:off x="8809038" y="3490914"/>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pkt0</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ACK0</a:t>
            </a:r>
            <a:endParaRPr/>
          </a:p>
        </p:txBody>
      </p:sp>
      <p:sp>
        <p:nvSpPr>
          <p:cNvPr id="4159" name="Google Shape;4159;p63"/>
          <p:cNvSpPr txBox="1"/>
          <p:nvPr/>
        </p:nvSpPr>
        <p:spPr>
          <a:xfrm>
            <a:off x="5694363" y="4778376"/>
            <a:ext cx="99060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pkt1</a:t>
            </a:r>
            <a:endParaRPr/>
          </a:p>
        </p:txBody>
      </p:sp>
      <p:sp>
        <p:nvSpPr>
          <p:cNvPr id="4160" name="Google Shape;4160;p63"/>
          <p:cNvSpPr txBox="1"/>
          <p:nvPr/>
        </p:nvSpPr>
        <p:spPr>
          <a:xfrm>
            <a:off x="8883650" y="5283201"/>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pkt1</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ACK1</a:t>
            </a:r>
            <a:endParaRPr/>
          </a:p>
        </p:txBody>
      </p:sp>
      <p:sp>
        <p:nvSpPr>
          <p:cNvPr id="4161" name="Google Shape;4161;p63"/>
          <p:cNvSpPr txBox="1"/>
          <p:nvPr/>
        </p:nvSpPr>
        <p:spPr>
          <a:xfrm>
            <a:off x="5724526" y="5694364"/>
            <a:ext cx="989013" cy="523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ACK1</a:t>
            </a:r>
            <a:r>
              <a:rPr b="0" i="0" lang="en-US" sz="1400" u="none" cap="none" strike="noStrike">
                <a:solidFill>
                  <a:srgbClr val="FF0000"/>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pkt0</a:t>
            </a:r>
            <a:endParaRPr/>
          </a:p>
        </p:txBody>
      </p:sp>
      <p:sp>
        <p:nvSpPr>
          <p:cNvPr id="4162" name="Google Shape;4162;p63"/>
          <p:cNvSpPr txBox="1"/>
          <p:nvPr/>
        </p:nvSpPr>
        <p:spPr>
          <a:xfrm>
            <a:off x="8813800" y="6286501"/>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pkt0</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ACK0</a:t>
            </a:r>
            <a:endParaRPr/>
          </a:p>
        </p:txBody>
      </p:sp>
      <p:sp>
        <p:nvSpPr>
          <p:cNvPr id="4163" name="Google Shape;4163;p63"/>
          <p:cNvSpPr txBox="1"/>
          <p:nvPr/>
        </p:nvSpPr>
        <p:spPr>
          <a:xfrm>
            <a:off x="8821738" y="342900"/>
            <a:ext cx="1098550" cy="3381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ahoma"/>
                <a:ea typeface="Tahoma"/>
                <a:cs typeface="Tahoma"/>
                <a:sym typeface="Tahoma"/>
              </a:rPr>
              <a:t>Self-Study</a:t>
            </a:r>
            <a:endParaRPr/>
          </a:p>
        </p:txBody>
      </p:sp>
      <p:grpSp>
        <p:nvGrpSpPr>
          <p:cNvPr id="4164" name="Google Shape;4164;p63"/>
          <p:cNvGrpSpPr/>
          <p:nvPr/>
        </p:nvGrpSpPr>
        <p:grpSpPr>
          <a:xfrm>
            <a:off x="8220481" y="-249778"/>
            <a:ext cx="2461403" cy="1558421"/>
            <a:chOff x="6697235" y="-249764"/>
            <a:chExt cx="2460203" cy="1558188"/>
          </a:xfrm>
        </p:grpSpPr>
        <p:sp>
          <p:nvSpPr>
            <p:cNvPr id="4165" name="Google Shape;4165;p63"/>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b="0" i="0" sz="2400" u="none" cap="none" strike="noStrike">
                <a:solidFill>
                  <a:schemeClr val="dk1"/>
                </a:solidFill>
                <a:latin typeface="Comic Sans MS"/>
                <a:ea typeface="Comic Sans MS"/>
                <a:cs typeface="Comic Sans MS"/>
                <a:sym typeface="Comic Sans MS"/>
              </a:endParaRPr>
            </a:p>
          </p:txBody>
        </p:sp>
        <p:sp>
          <p:nvSpPr>
            <p:cNvPr id="4166" name="Google Shape;4166;p63"/>
            <p:cNvSpPr txBox="1"/>
            <p:nvPr/>
          </p:nvSpPr>
          <p:spPr>
            <a:xfrm>
              <a:off x="7216423" y="342294"/>
              <a:ext cx="126028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Noto Sans Symbols"/>
                <a:buNone/>
              </a:pPr>
              <a:r>
                <a:rPr b="1" i="0" lang="en-US" sz="1600" u="none" cap="none" strike="noStrike">
                  <a:solidFill>
                    <a:srgbClr val="FF0000"/>
                  </a:solidFill>
                  <a:latin typeface="Tahoma"/>
                  <a:ea typeface="Tahoma"/>
                  <a:cs typeface="Tahoma"/>
                  <a:sym typeface="Tahoma"/>
                </a:rPr>
                <a:t>Self-Study</a:t>
              </a:r>
              <a:endParaRPr/>
            </a:p>
          </p:txBody>
        </p:sp>
      </p:grpSp>
      <p:sp>
        <p:nvSpPr>
          <p:cNvPr id="4167" name="Google Shape;4167;p6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1" name="Shape 4171"/>
        <p:cNvGrpSpPr/>
        <p:nvPr/>
      </p:nvGrpSpPr>
      <p:grpSpPr>
        <a:xfrm>
          <a:off x="0" y="0"/>
          <a:ext cx="0" cy="0"/>
          <a:chOff x="0" y="0"/>
          <a:chExt cx="0" cy="0"/>
        </a:xfrm>
      </p:grpSpPr>
      <p:sp>
        <p:nvSpPr>
          <p:cNvPr id="4172" name="Google Shape;4172;p64"/>
          <p:cNvSpPr/>
          <p:nvPr/>
        </p:nvSpPr>
        <p:spPr>
          <a:xfrm flipH="1" rot="10800000">
            <a:off x="6959600" y="6273800"/>
            <a:ext cx="1798638" cy="469900"/>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sp>
        <p:nvSpPr>
          <p:cNvPr id="4173" name="Google Shape;4173;p64"/>
          <p:cNvSpPr txBox="1"/>
          <p:nvPr/>
        </p:nvSpPr>
        <p:spPr>
          <a:xfrm>
            <a:off x="1838326" y="1046164"/>
            <a:ext cx="3298825" cy="52419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1" i="0" lang="en-US" sz="2200" u="sng" cap="none" strike="noStrike">
                <a:solidFill>
                  <a:schemeClr val="dk1"/>
                </a:solidFill>
                <a:latin typeface="Arial"/>
                <a:ea typeface="Arial"/>
                <a:cs typeface="Arial"/>
                <a:sym typeface="Arial"/>
              </a:rPr>
              <a:t>Question:</a:t>
            </a:r>
            <a:endParaRPr/>
          </a:p>
          <a:p>
            <a:pPr indent="0" lvl="0" marL="0" marR="0" rtl="0" algn="l">
              <a:lnSpc>
                <a:spcPct val="100000"/>
              </a:lnSpc>
              <a:spcBef>
                <a:spcPts val="440"/>
              </a:spcBef>
              <a:spcAft>
                <a:spcPts val="0"/>
              </a:spcAft>
              <a:buClr>
                <a:srgbClr val="000099"/>
              </a:buClr>
              <a:buSzPts val="1430"/>
              <a:buFont typeface="Noto Sans Symbols"/>
              <a:buNone/>
            </a:pPr>
            <a:r>
              <a:rPr b="0" i="0" lang="en-US" sz="2200" u="none" cap="none" strike="noStrike">
                <a:solidFill>
                  <a:schemeClr val="dk1"/>
                </a:solidFill>
                <a:latin typeface="Arial"/>
                <a:ea typeface="Arial"/>
                <a:cs typeface="Arial"/>
                <a:sym typeface="Arial"/>
              </a:rPr>
              <a:t>Supposed a sender has 3 packets to be sent to a receiver.</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D8D8D8"/>
                </a:solidFill>
                <a:latin typeface="Arial"/>
                <a:ea typeface="Arial"/>
                <a:cs typeface="Arial"/>
                <a:sym typeface="Arial"/>
              </a:rPr>
              <a:t>Complete the following figure by writing down the best answer for all S# and R#. Assume that no error after S1.</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D8D8D8"/>
                </a:solidFill>
                <a:latin typeface="Arial"/>
                <a:ea typeface="Arial"/>
                <a:cs typeface="Arial"/>
                <a:sym typeface="Arial"/>
              </a:rPr>
              <a:t>What are X and Y?</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dk1"/>
                </a:solidFill>
                <a:latin typeface="Arial"/>
                <a:ea typeface="Arial"/>
                <a:cs typeface="Arial"/>
                <a:sym typeface="Arial"/>
              </a:rPr>
              <a:t>What is the problem between S1 and S2?</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D8D8D8"/>
                </a:solidFill>
                <a:latin typeface="Arial"/>
                <a:ea typeface="Arial"/>
                <a:cs typeface="Arial"/>
                <a:sym typeface="Arial"/>
              </a:rPr>
              <a:t>Is the any discard packet at receiver? Why?</a:t>
            </a:r>
            <a:endParaRPr/>
          </a:p>
        </p:txBody>
      </p:sp>
      <p:sp>
        <p:nvSpPr>
          <p:cNvPr id="4174" name="Google Shape;4174;p64"/>
          <p:cNvSpPr/>
          <p:nvPr/>
        </p:nvSpPr>
        <p:spPr>
          <a:xfrm>
            <a:off x="6988175" y="1406525"/>
            <a:ext cx="1798638" cy="1208088"/>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4175" name="Google Shape;4175;p64"/>
          <p:cNvCxnSpPr/>
          <p:nvPr/>
        </p:nvCxnSpPr>
        <p:spPr>
          <a:xfrm>
            <a:off x="8797925" y="1225550"/>
            <a:ext cx="0" cy="5518150"/>
          </a:xfrm>
          <a:prstGeom prst="straightConnector1">
            <a:avLst/>
          </a:prstGeom>
          <a:noFill/>
          <a:ln cap="flat" cmpd="sng" w="9525">
            <a:solidFill>
              <a:schemeClr val="dk1"/>
            </a:solidFill>
            <a:prstDash val="dash"/>
            <a:round/>
            <a:headEnd len="med" w="med" type="none"/>
            <a:tailEnd len="med" w="med" type="none"/>
          </a:ln>
        </p:spPr>
      </p:cxnSp>
      <p:cxnSp>
        <p:nvCxnSpPr>
          <p:cNvPr id="4176" name="Google Shape;4176;p64"/>
          <p:cNvCxnSpPr>
            <a:endCxn id="4174" idx="3"/>
          </p:cNvCxnSpPr>
          <p:nvPr/>
        </p:nvCxnSpPr>
        <p:spPr>
          <a:xfrm>
            <a:off x="6980213" y="1405769"/>
            <a:ext cx="1806600" cy="604800"/>
          </a:xfrm>
          <a:prstGeom prst="straightConnector1">
            <a:avLst/>
          </a:prstGeom>
          <a:noFill/>
          <a:ln cap="flat" cmpd="sng" w="28575">
            <a:solidFill>
              <a:schemeClr val="dk1"/>
            </a:solidFill>
            <a:prstDash val="solid"/>
            <a:round/>
            <a:headEnd len="med" w="med" type="none"/>
            <a:tailEnd len="lg" w="lg" type="stealth"/>
          </a:ln>
        </p:spPr>
      </p:cxnSp>
      <p:sp>
        <p:nvSpPr>
          <p:cNvPr id="4177" name="Google Shape;4177;p64"/>
          <p:cNvSpPr txBox="1"/>
          <p:nvPr/>
        </p:nvSpPr>
        <p:spPr>
          <a:xfrm>
            <a:off x="6556375" y="796926"/>
            <a:ext cx="795338"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Sender</a:t>
            </a:r>
            <a:endParaRPr/>
          </a:p>
        </p:txBody>
      </p:sp>
      <p:sp>
        <p:nvSpPr>
          <p:cNvPr id="4178" name="Google Shape;4178;p64"/>
          <p:cNvSpPr txBox="1"/>
          <p:nvPr/>
        </p:nvSpPr>
        <p:spPr>
          <a:xfrm>
            <a:off x="8297864" y="798514"/>
            <a:ext cx="94297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Receiver</a:t>
            </a:r>
            <a:endParaRPr/>
          </a:p>
        </p:txBody>
      </p:sp>
      <p:sp>
        <p:nvSpPr>
          <p:cNvPr id="4179" name="Google Shape;4179;p64"/>
          <p:cNvSpPr txBox="1"/>
          <p:nvPr/>
        </p:nvSpPr>
        <p:spPr>
          <a:xfrm>
            <a:off x="5870576" y="1150939"/>
            <a:ext cx="1019175"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Send </a:t>
            </a:r>
            <a:r>
              <a:rPr b="0" i="0" lang="en-US" sz="1400" u="none" cap="none" strike="noStrike">
                <a:solidFill>
                  <a:schemeClr val="dk1"/>
                </a:solidFill>
                <a:latin typeface="Courier New"/>
                <a:ea typeface="Courier New"/>
                <a:cs typeface="Courier New"/>
                <a:sym typeface="Courier New"/>
              </a:rPr>
              <a:t>pkt0</a:t>
            </a:r>
            <a:endParaRPr/>
          </a:p>
        </p:txBody>
      </p:sp>
      <p:sp>
        <p:nvSpPr>
          <p:cNvPr id="4180" name="Google Shape;4180;p64"/>
          <p:cNvSpPr/>
          <p:nvPr/>
        </p:nvSpPr>
        <p:spPr>
          <a:xfrm>
            <a:off x="5599114" y="2384425"/>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181" name="Google Shape;4181;p64"/>
          <p:cNvSpPr txBox="1"/>
          <p:nvPr/>
        </p:nvSpPr>
        <p:spPr>
          <a:xfrm>
            <a:off x="6048376" y="2257426"/>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(S1)</a:t>
            </a:r>
            <a:endParaRPr/>
          </a:p>
        </p:txBody>
      </p:sp>
      <p:sp>
        <p:nvSpPr>
          <p:cNvPr id="4182" name="Google Shape;4182;p64"/>
          <p:cNvSpPr txBox="1"/>
          <p:nvPr/>
        </p:nvSpPr>
        <p:spPr>
          <a:xfrm>
            <a:off x="8832850" y="1808164"/>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rcv </a:t>
            </a:r>
            <a:r>
              <a:rPr b="0" i="0" lang="en-US" sz="1400" u="none" cap="none" strike="noStrike">
                <a:solidFill>
                  <a:schemeClr val="dk1"/>
                </a:solidFill>
                <a:latin typeface="Courier New"/>
                <a:ea typeface="Courier New"/>
                <a:cs typeface="Courier New"/>
                <a:sym typeface="Courier New"/>
              </a:rPr>
              <a:t>pkt0</a:t>
            </a:r>
            <a:r>
              <a:rPr b="0" i="0" lang="en-US" sz="1400" u="none" cap="none" strike="noStrike">
                <a:solidFill>
                  <a:schemeClr val="dk1"/>
                </a:solidFill>
                <a:latin typeface="Times New Roman"/>
                <a:ea typeface="Times New Roman"/>
                <a:cs typeface="Times New Roman"/>
                <a:sym typeface="Times New Roman"/>
              </a:rPr>
              <a:t>, send </a:t>
            </a:r>
            <a:r>
              <a:rPr b="0" i="0" lang="en-US" sz="1400" u="none" cap="none" strike="noStrike">
                <a:solidFill>
                  <a:schemeClr val="dk1"/>
                </a:solidFill>
                <a:latin typeface="Courier New"/>
                <a:ea typeface="Courier New"/>
                <a:cs typeface="Courier New"/>
                <a:sym typeface="Courier New"/>
              </a:rPr>
              <a:t>NAK0</a:t>
            </a:r>
            <a:endParaRPr/>
          </a:p>
        </p:txBody>
      </p:sp>
      <p:sp>
        <p:nvSpPr>
          <p:cNvPr id="4183" name="Google Shape;4183;p64"/>
          <p:cNvSpPr/>
          <p:nvPr/>
        </p:nvSpPr>
        <p:spPr>
          <a:xfrm>
            <a:off x="6980239" y="3851276"/>
            <a:ext cx="1798637" cy="1209675"/>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4184" name="Google Shape;4184;p64"/>
          <p:cNvCxnSpPr/>
          <p:nvPr/>
        </p:nvCxnSpPr>
        <p:spPr>
          <a:xfrm>
            <a:off x="6972301" y="2643189"/>
            <a:ext cx="1806575" cy="604837"/>
          </a:xfrm>
          <a:prstGeom prst="straightConnector1">
            <a:avLst/>
          </a:prstGeom>
          <a:noFill/>
          <a:ln cap="flat" cmpd="sng" w="28575">
            <a:solidFill>
              <a:schemeClr val="dk1"/>
            </a:solidFill>
            <a:prstDash val="solid"/>
            <a:round/>
            <a:headEnd len="med" w="med" type="none"/>
            <a:tailEnd len="lg" w="lg" type="stealth"/>
          </a:ln>
        </p:spPr>
      </p:cxnSp>
      <p:sp>
        <p:nvSpPr>
          <p:cNvPr id="4185" name="Google Shape;4185;p64"/>
          <p:cNvSpPr/>
          <p:nvPr/>
        </p:nvSpPr>
        <p:spPr>
          <a:xfrm>
            <a:off x="5591175" y="2981325"/>
            <a:ext cx="1373188"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186" name="Google Shape;4186;p64"/>
          <p:cNvSpPr txBox="1"/>
          <p:nvPr/>
        </p:nvSpPr>
        <p:spPr>
          <a:xfrm>
            <a:off x="6040438" y="2854326"/>
            <a:ext cx="493712"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(S2)</a:t>
            </a:r>
            <a:endParaRPr/>
          </a:p>
        </p:txBody>
      </p:sp>
      <p:sp>
        <p:nvSpPr>
          <p:cNvPr id="4187" name="Google Shape;4187;p64"/>
          <p:cNvSpPr/>
          <p:nvPr/>
        </p:nvSpPr>
        <p:spPr>
          <a:xfrm>
            <a:off x="8888413" y="2987676"/>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188" name="Google Shape;4188;p64"/>
          <p:cNvSpPr txBox="1"/>
          <p:nvPr/>
        </p:nvSpPr>
        <p:spPr>
          <a:xfrm>
            <a:off x="9190038" y="2857500"/>
            <a:ext cx="514350"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(R1)</a:t>
            </a:r>
            <a:endParaRPr/>
          </a:p>
        </p:txBody>
      </p:sp>
      <p:cxnSp>
        <p:nvCxnSpPr>
          <p:cNvPr id="4189" name="Google Shape;4189;p64"/>
          <p:cNvCxnSpPr/>
          <p:nvPr/>
        </p:nvCxnSpPr>
        <p:spPr>
          <a:xfrm>
            <a:off x="6967538" y="1223963"/>
            <a:ext cx="0" cy="5518150"/>
          </a:xfrm>
          <a:prstGeom prst="straightConnector1">
            <a:avLst/>
          </a:prstGeom>
          <a:noFill/>
          <a:ln cap="flat" cmpd="sng" w="9525">
            <a:solidFill>
              <a:schemeClr val="dk1"/>
            </a:solidFill>
            <a:prstDash val="dash"/>
            <a:round/>
            <a:headEnd len="med" w="med" type="none"/>
            <a:tailEnd len="med" w="med" type="none"/>
          </a:ln>
        </p:spPr>
      </p:cxnSp>
      <p:sp>
        <p:nvSpPr>
          <p:cNvPr id="4190" name="Google Shape;4190;p64"/>
          <p:cNvSpPr txBox="1"/>
          <p:nvPr/>
        </p:nvSpPr>
        <p:spPr>
          <a:xfrm rot="-5400000">
            <a:off x="4751388" y="4349751"/>
            <a:ext cx="9207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2</a:t>
            </a:r>
            <a:endParaRPr/>
          </a:p>
        </p:txBody>
      </p:sp>
      <p:grpSp>
        <p:nvGrpSpPr>
          <p:cNvPr id="4191" name="Google Shape;4191;p64"/>
          <p:cNvGrpSpPr/>
          <p:nvPr/>
        </p:nvGrpSpPr>
        <p:grpSpPr>
          <a:xfrm>
            <a:off x="5383213" y="3860801"/>
            <a:ext cx="207962" cy="1255713"/>
            <a:chOff x="2524123" y="2565535"/>
            <a:chExt cx="208492" cy="1256451"/>
          </a:xfrm>
        </p:grpSpPr>
        <p:cxnSp>
          <p:nvCxnSpPr>
            <p:cNvPr id="4192" name="Google Shape;4192;p64"/>
            <p:cNvCxnSpPr/>
            <p:nvPr/>
          </p:nvCxnSpPr>
          <p:spPr>
            <a:xfrm flipH="1">
              <a:off x="2524123" y="2565535"/>
              <a:ext cx="3228" cy="1256451"/>
            </a:xfrm>
            <a:prstGeom prst="straightConnector1">
              <a:avLst/>
            </a:prstGeom>
            <a:noFill/>
            <a:ln cap="flat" cmpd="sng" w="9525">
              <a:solidFill>
                <a:schemeClr val="dk1"/>
              </a:solidFill>
              <a:prstDash val="solid"/>
              <a:round/>
              <a:headEnd len="med" w="med" type="none"/>
              <a:tailEnd len="med" w="med" type="none"/>
            </a:ln>
          </p:spPr>
        </p:cxnSp>
        <p:cxnSp>
          <p:nvCxnSpPr>
            <p:cNvPr id="4193" name="Google Shape;4193;p64"/>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194" name="Google Shape;4194;p64"/>
            <p:cNvCxnSpPr/>
            <p:nvPr/>
          </p:nvCxnSpPr>
          <p:spPr>
            <a:xfrm>
              <a:off x="2525301" y="3819674"/>
              <a:ext cx="205267" cy="0"/>
            </a:xfrm>
            <a:prstGeom prst="straightConnector1">
              <a:avLst/>
            </a:prstGeom>
            <a:noFill/>
            <a:ln cap="flat" cmpd="sng" w="9525">
              <a:solidFill>
                <a:schemeClr val="dk1"/>
              </a:solidFill>
              <a:prstDash val="solid"/>
              <a:round/>
              <a:headEnd len="med" w="med" type="none"/>
              <a:tailEnd len="med" w="med" type="none"/>
            </a:ln>
          </p:spPr>
        </p:cxnSp>
      </p:grpSp>
      <p:sp>
        <p:nvSpPr>
          <p:cNvPr id="4195" name="Google Shape;4195;p64"/>
          <p:cNvSpPr/>
          <p:nvPr/>
        </p:nvSpPr>
        <p:spPr>
          <a:xfrm>
            <a:off x="8891589" y="3608389"/>
            <a:ext cx="1512887"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196" name="Google Shape;4196;p64"/>
          <p:cNvSpPr txBox="1"/>
          <p:nvPr/>
        </p:nvSpPr>
        <p:spPr>
          <a:xfrm>
            <a:off x="9194801" y="3478214"/>
            <a:ext cx="51276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(R2)</a:t>
            </a:r>
            <a:endParaRPr/>
          </a:p>
        </p:txBody>
      </p:sp>
      <p:cxnSp>
        <p:nvCxnSpPr>
          <p:cNvPr id="4197" name="Google Shape;4197;p64"/>
          <p:cNvCxnSpPr/>
          <p:nvPr/>
        </p:nvCxnSpPr>
        <p:spPr>
          <a:xfrm>
            <a:off x="6988175" y="3881439"/>
            <a:ext cx="1403350" cy="593725"/>
          </a:xfrm>
          <a:prstGeom prst="straightConnector1">
            <a:avLst/>
          </a:prstGeom>
          <a:noFill/>
          <a:ln cap="flat" cmpd="sng" w="28575">
            <a:solidFill>
              <a:schemeClr val="dk1"/>
            </a:solidFill>
            <a:prstDash val="solid"/>
            <a:round/>
            <a:headEnd len="med" w="med" type="none"/>
            <a:tailEnd len="lg" w="lg" type="stealth"/>
          </a:ln>
        </p:spPr>
      </p:cxnSp>
      <p:cxnSp>
        <p:nvCxnSpPr>
          <p:cNvPr id="4198" name="Google Shape;4198;p64"/>
          <p:cNvCxnSpPr/>
          <p:nvPr/>
        </p:nvCxnSpPr>
        <p:spPr>
          <a:xfrm flipH="1">
            <a:off x="6961188" y="5716589"/>
            <a:ext cx="1797050" cy="509587"/>
          </a:xfrm>
          <a:prstGeom prst="straightConnector1">
            <a:avLst/>
          </a:prstGeom>
          <a:noFill/>
          <a:ln cap="flat" cmpd="sng" w="28575">
            <a:solidFill>
              <a:schemeClr val="dk1"/>
            </a:solidFill>
            <a:prstDash val="solid"/>
            <a:round/>
            <a:headEnd len="med" w="med" type="none"/>
            <a:tailEnd len="lg" w="lg" type="stealth"/>
          </a:ln>
        </p:spPr>
      </p:cxnSp>
      <p:sp>
        <p:nvSpPr>
          <p:cNvPr id="4199" name="Google Shape;4199;p64"/>
          <p:cNvSpPr txBox="1"/>
          <p:nvPr/>
        </p:nvSpPr>
        <p:spPr>
          <a:xfrm>
            <a:off x="8177213" y="4505326"/>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Y</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grpSp>
        <p:nvGrpSpPr>
          <p:cNvPr id="4200" name="Google Shape;4200;p64"/>
          <p:cNvGrpSpPr/>
          <p:nvPr/>
        </p:nvGrpSpPr>
        <p:grpSpPr>
          <a:xfrm>
            <a:off x="5400676" y="2613026"/>
            <a:ext cx="207963" cy="619125"/>
            <a:chOff x="2525301" y="2572305"/>
            <a:chExt cx="207314" cy="618591"/>
          </a:xfrm>
        </p:grpSpPr>
        <p:cxnSp>
          <p:nvCxnSpPr>
            <p:cNvPr id="4201" name="Google Shape;4201;p64"/>
            <p:cNvCxnSpPr/>
            <p:nvPr/>
          </p:nvCxnSpPr>
          <p:spPr>
            <a:xfrm>
              <a:off x="2532013" y="2572305"/>
              <a:ext cx="0" cy="616450"/>
            </a:xfrm>
            <a:prstGeom prst="straightConnector1">
              <a:avLst/>
            </a:prstGeom>
            <a:noFill/>
            <a:ln cap="flat" cmpd="sng" w="9525">
              <a:solidFill>
                <a:schemeClr val="dk1"/>
              </a:solidFill>
              <a:prstDash val="solid"/>
              <a:round/>
              <a:headEnd len="med" w="med" type="none"/>
              <a:tailEnd len="med" w="med" type="none"/>
            </a:ln>
          </p:spPr>
        </p:cxnSp>
        <p:cxnSp>
          <p:nvCxnSpPr>
            <p:cNvPr id="4202" name="Google Shape;4202;p64"/>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203" name="Google Shape;4203;p64"/>
            <p:cNvCxnSpPr/>
            <p:nvPr/>
          </p:nvCxnSpPr>
          <p:spPr>
            <a:xfrm>
              <a:off x="2525301" y="3190896"/>
              <a:ext cx="205267" cy="0"/>
            </a:xfrm>
            <a:prstGeom prst="straightConnector1">
              <a:avLst/>
            </a:prstGeom>
            <a:noFill/>
            <a:ln cap="flat" cmpd="sng" w="9525">
              <a:solidFill>
                <a:schemeClr val="dk1"/>
              </a:solidFill>
              <a:prstDash val="solid"/>
              <a:round/>
              <a:headEnd len="med" w="med" type="none"/>
              <a:tailEnd len="med" w="med" type="none"/>
            </a:ln>
          </p:spPr>
        </p:cxnSp>
      </p:grpSp>
      <p:cxnSp>
        <p:nvCxnSpPr>
          <p:cNvPr id="4204" name="Google Shape;4204;p64"/>
          <p:cNvCxnSpPr/>
          <p:nvPr/>
        </p:nvCxnSpPr>
        <p:spPr>
          <a:xfrm>
            <a:off x="6969125" y="5081589"/>
            <a:ext cx="1804988" cy="604837"/>
          </a:xfrm>
          <a:prstGeom prst="straightConnector1">
            <a:avLst/>
          </a:prstGeom>
          <a:noFill/>
          <a:ln cap="flat" cmpd="sng" w="28575">
            <a:solidFill>
              <a:schemeClr val="dk1"/>
            </a:solidFill>
            <a:prstDash val="solid"/>
            <a:round/>
            <a:headEnd len="med" w="med" type="none"/>
            <a:tailEnd len="lg" w="lg" type="stealth"/>
          </a:ln>
        </p:spPr>
      </p:cxnSp>
      <p:sp>
        <p:nvSpPr>
          <p:cNvPr id="4205" name="Google Shape;4205;p64"/>
          <p:cNvSpPr/>
          <p:nvPr/>
        </p:nvSpPr>
        <p:spPr>
          <a:xfrm>
            <a:off x="5545139" y="4872039"/>
            <a:ext cx="1374775"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206" name="Google Shape;4206;p64"/>
          <p:cNvSpPr txBox="1"/>
          <p:nvPr/>
        </p:nvSpPr>
        <p:spPr>
          <a:xfrm>
            <a:off x="6045201" y="4745039"/>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(S4)</a:t>
            </a:r>
            <a:endParaRPr/>
          </a:p>
        </p:txBody>
      </p:sp>
      <p:sp>
        <p:nvSpPr>
          <p:cNvPr id="4207" name="Google Shape;4207;p64"/>
          <p:cNvSpPr txBox="1"/>
          <p:nvPr/>
        </p:nvSpPr>
        <p:spPr>
          <a:xfrm rot="-5400000">
            <a:off x="4804569" y="2777331"/>
            <a:ext cx="920750" cy="3063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1</a:t>
            </a:r>
            <a:endParaRPr/>
          </a:p>
        </p:txBody>
      </p:sp>
      <p:cxnSp>
        <p:nvCxnSpPr>
          <p:cNvPr id="4208" name="Google Shape;4208;p64"/>
          <p:cNvCxnSpPr/>
          <p:nvPr/>
        </p:nvCxnSpPr>
        <p:spPr>
          <a:xfrm flipH="1">
            <a:off x="7405689" y="3887788"/>
            <a:ext cx="1323975" cy="563562"/>
          </a:xfrm>
          <a:prstGeom prst="straightConnector1">
            <a:avLst/>
          </a:prstGeom>
          <a:noFill/>
          <a:ln cap="flat" cmpd="sng" w="28575">
            <a:solidFill>
              <a:schemeClr val="dk1"/>
            </a:solidFill>
            <a:prstDash val="solid"/>
            <a:round/>
            <a:headEnd len="med" w="med" type="none"/>
            <a:tailEnd len="lg" w="lg" type="stealth"/>
          </a:ln>
        </p:spPr>
      </p:cxnSp>
      <p:sp>
        <p:nvSpPr>
          <p:cNvPr id="4209" name="Google Shape;4209;p64"/>
          <p:cNvSpPr txBox="1"/>
          <p:nvPr/>
        </p:nvSpPr>
        <p:spPr>
          <a:xfrm>
            <a:off x="6977063" y="4513264"/>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X</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cxnSp>
        <p:nvCxnSpPr>
          <p:cNvPr id="4210" name="Google Shape;4210;p64"/>
          <p:cNvCxnSpPr/>
          <p:nvPr/>
        </p:nvCxnSpPr>
        <p:spPr>
          <a:xfrm flipH="1">
            <a:off x="7019926" y="2052638"/>
            <a:ext cx="1636713" cy="546100"/>
          </a:xfrm>
          <a:prstGeom prst="straightConnector1">
            <a:avLst/>
          </a:prstGeom>
          <a:noFill/>
          <a:ln cap="flat" cmpd="sng" w="28575">
            <a:solidFill>
              <a:schemeClr val="dk1"/>
            </a:solidFill>
            <a:prstDash val="solid"/>
            <a:round/>
            <a:headEnd len="med" w="med" type="none"/>
            <a:tailEnd len="lg" w="lg" type="stealth"/>
          </a:ln>
        </p:spPr>
      </p:cxnSp>
      <p:cxnSp>
        <p:nvCxnSpPr>
          <p:cNvPr id="4211" name="Google Shape;4211;p64"/>
          <p:cNvCxnSpPr/>
          <p:nvPr/>
        </p:nvCxnSpPr>
        <p:spPr>
          <a:xfrm>
            <a:off x="6980239" y="3194050"/>
            <a:ext cx="1806575" cy="604838"/>
          </a:xfrm>
          <a:prstGeom prst="straightConnector1">
            <a:avLst/>
          </a:prstGeom>
          <a:noFill/>
          <a:ln cap="flat" cmpd="sng" w="28575">
            <a:solidFill>
              <a:schemeClr val="dk1"/>
            </a:solidFill>
            <a:prstDash val="solid"/>
            <a:round/>
            <a:headEnd len="med" w="med" type="none"/>
            <a:tailEnd len="lg" w="lg" type="stealth"/>
          </a:ln>
        </p:spPr>
      </p:cxnSp>
      <p:sp>
        <p:nvSpPr>
          <p:cNvPr id="4212" name="Google Shape;4212;p64"/>
          <p:cNvSpPr/>
          <p:nvPr/>
        </p:nvSpPr>
        <p:spPr>
          <a:xfrm>
            <a:off x="8958263" y="54371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213" name="Google Shape;4213;p64"/>
          <p:cNvSpPr txBox="1"/>
          <p:nvPr/>
        </p:nvSpPr>
        <p:spPr>
          <a:xfrm>
            <a:off x="9259888" y="53070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(R3)</a:t>
            </a:r>
            <a:endParaRPr/>
          </a:p>
        </p:txBody>
      </p:sp>
      <p:sp>
        <p:nvSpPr>
          <p:cNvPr id="4214" name="Google Shape;4214;p64"/>
          <p:cNvSpPr/>
          <p:nvPr/>
        </p:nvSpPr>
        <p:spPr>
          <a:xfrm>
            <a:off x="5595939" y="3613150"/>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215" name="Google Shape;4215;p64"/>
          <p:cNvSpPr txBox="1"/>
          <p:nvPr/>
        </p:nvSpPr>
        <p:spPr>
          <a:xfrm>
            <a:off x="6045201" y="3487739"/>
            <a:ext cx="493713"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(S3)</a:t>
            </a:r>
            <a:endParaRPr/>
          </a:p>
        </p:txBody>
      </p:sp>
      <p:cxnSp>
        <p:nvCxnSpPr>
          <p:cNvPr id="4216" name="Google Shape;4216;p64"/>
          <p:cNvCxnSpPr/>
          <p:nvPr/>
        </p:nvCxnSpPr>
        <p:spPr>
          <a:xfrm flipH="1">
            <a:off x="7015163" y="3317875"/>
            <a:ext cx="1636712" cy="546100"/>
          </a:xfrm>
          <a:prstGeom prst="straightConnector1">
            <a:avLst/>
          </a:prstGeom>
          <a:noFill/>
          <a:ln cap="flat" cmpd="sng" w="28575">
            <a:solidFill>
              <a:schemeClr val="dk1"/>
            </a:solidFill>
            <a:prstDash val="solid"/>
            <a:round/>
            <a:headEnd len="med" w="med" type="none"/>
            <a:tailEnd len="lg" w="lg" type="stealth"/>
          </a:ln>
        </p:spPr>
      </p:cxnSp>
      <p:sp>
        <p:nvSpPr>
          <p:cNvPr id="4217" name="Google Shape;4217;p64"/>
          <p:cNvSpPr/>
          <p:nvPr/>
        </p:nvSpPr>
        <p:spPr>
          <a:xfrm>
            <a:off x="5575300" y="6034089"/>
            <a:ext cx="1373188"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218" name="Google Shape;4218;p64"/>
          <p:cNvSpPr txBox="1"/>
          <p:nvPr/>
        </p:nvSpPr>
        <p:spPr>
          <a:xfrm>
            <a:off x="6073776" y="5908675"/>
            <a:ext cx="493713"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(S5)</a:t>
            </a:r>
            <a:endParaRPr/>
          </a:p>
        </p:txBody>
      </p:sp>
      <p:cxnSp>
        <p:nvCxnSpPr>
          <p:cNvPr id="4219" name="Google Shape;4219;p64"/>
          <p:cNvCxnSpPr/>
          <p:nvPr/>
        </p:nvCxnSpPr>
        <p:spPr>
          <a:xfrm>
            <a:off x="6972301" y="6253164"/>
            <a:ext cx="1776413" cy="428625"/>
          </a:xfrm>
          <a:prstGeom prst="straightConnector1">
            <a:avLst/>
          </a:prstGeom>
          <a:noFill/>
          <a:ln cap="flat" cmpd="sng" w="28575">
            <a:solidFill>
              <a:schemeClr val="dk1"/>
            </a:solidFill>
            <a:prstDash val="solid"/>
            <a:round/>
            <a:headEnd len="med" w="med" type="none"/>
            <a:tailEnd len="lg" w="lg" type="stealth"/>
          </a:ln>
        </p:spPr>
      </p:cxnSp>
      <p:sp>
        <p:nvSpPr>
          <p:cNvPr id="4220" name="Google Shape;4220;p64"/>
          <p:cNvSpPr/>
          <p:nvPr/>
        </p:nvSpPr>
        <p:spPr>
          <a:xfrm>
            <a:off x="8913813" y="64404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221" name="Google Shape;4221;p64"/>
          <p:cNvSpPr txBox="1"/>
          <p:nvPr/>
        </p:nvSpPr>
        <p:spPr>
          <a:xfrm>
            <a:off x="9215438" y="63103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(R4)</a:t>
            </a:r>
            <a:endParaRPr/>
          </a:p>
        </p:txBody>
      </p:sp>
      <p:grpSp>
        <p:nvGrpSpPr>
          <p:cNvPr id="4222" name="Google Shape;4222;p64"/>
          <p:cNvGrpSpPr/>
          <p:nvPr/>
        </p:nvGrpSpPr>
        <p:grpSpPr>
          <a:xfrm>
            <a:off x="8220481" y="-249778"/>
            <a:ext cx="2461403" cy="1558421"/>
            <a:chOff x="6697235" y="-249764"/>
            <a:chExt cx="2460203" cy="1558188"/>
          </a:xfrm>
        </p:grpSpPr>
        <p:sp>
          <p:nvSpPr>
            <p:cNvPr id="4223" name="Google Shape;4223;p64"/>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b="0" i="0" sz="2400" u="none" cap="none" strike="noStrike">
                <a:solidFill>
                  <a:schemeClr val="dk1"/>
                </a:solidFill>
                <a:latin typeface="Comic Sans MS"/>
                <a:ea typeface="Comic Sans MS"/>
                <a:cs typeface="Comic Sans MS"/>
                <a:sym typeface="Comic Sans MS"/>
              </a:endParaRPr>
            </a:p>
          </p:txBody>
        </p:sp>
        <p:sp>
          <p:nvSpPr>
            <p:cNvPr id="4224" name="Google Shape;4224;p64"/>
            <p:cNvSpPr txBox="1"/>
            <p:nvPr/>
          </p:nvSpPr>
          <p:spPr>
            <a:xfrm>
              <a:off x="7216423" y="342294"/>
              <a:ext cx="126028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Noto Sans Symbols"/>
                <a:buNone/>
              </a:pPr>
              <a:r>
                <a:rPr b="1" i="0" lang="en-US" sz="1600" u="none" cap="none" strike="noStrike">
                  <a:solidFill>
                    <a:srgbClr val="FF0000"/>
                  </a:solidFill>
                  <a:latin typeface="Tahoma"/>
                  <a:ea typeface="Tahoma"/>
                  <a:cs typeface="Tahoma"/>
                  <a:sym typeface="Tahoma"/>
                </a:rPr>
                <a:t>Self-Study</a:t>
              </a:r>
              <a:endParaRPr/>
            </a:p>
          </p:txBody>
        </p:sp>
      </p:grpSp>
      <p:sp>
        <p:nvSpPr>
          <p:cNvPr id="4225" name="Google Shape;4225;p6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9" name="Shape 4229"/>
        <p:cNvGrpSpPr/>
        <p:nvPr/>
      </p:nvGrpSpPr>
      <p:grpSpPr>
        <a:xfrm>
          <a:off x="0" y="0"/>
          <a:ext cx="0" cy="0"/>
          <a:chOff x="0" y="0"/>
          <a:chExt cx="0" cy="0"/>
        </a:xfrm>
      </p:grpSpPr>
      <p:grpSp>
        <p:nvGrpSpPr>
          <p:cNvPr id="4230" name="Google Shape;4230;p65"/>
          <p:cNvGrpSpPr/>
          <p:nvPr/>
        </p:nvGrpSpPr>
        <p:grpSpPr>
          <a:xfrm>
            <a:off x="8220481" y="-249778"/>
            <a:ext cx="2461403" cy="1558421"/>
            <a:chOff x="6697235" y="-249764"/>
            <a:chExt cx="2460203" cy="1558188"/>
          </a:xfrm>
        </p:grpSpPr>
        <p:sp>
          <p:nvSpPr>
            <p:cNvPr id="4231" name="Google Shape;4231;p65"/>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b="0" i="0" sz="2400" u="none" cap="none" strike="noStrike">
                <a:solidFill>
                  <a:schemeClr val="dk1"/>
                </a:solidFill>
                <a:latin typeface="Comic Sans MS"/>
                <a:ea typeface="Comic Sans MS"/>
                <a:cs typeface="Comic Sans MS"/>
                <a:sym typeface="Comic Sans MS"/>
              </a:endParaRPr>
            </a:p>
          </p:txBody>
        </p:sp>
        <p:sp>
          <p:nvSpPr>
            <p:cNvPr id="4232" name="Google Shape;4232;p65"/>
            <p:cNvSpPr txBox="1"/>
            <p:nvPr/>
          </p:nvSpPr>
          <p:spPr>
            <a:xfrm>
              <a:off x="7294969" y="342294"/>
              <a:ext cx="110318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Noto Sans Symbols"/>
                <a:buNone/>
              </a:pPr>
              <a:r>
                <a:rPr b="1" i="0" lang="en-US" sz="1600" u="none" cap="none" strike="noStrike">
                  <a:solidFill>
                    <a:srgbClr val="FF0000"/>
                  </a:solidFill>
                  <a:latin typeface="Tahoma"/>
                  <a:ea typeface="Tahoma"/>
                  <a:cs typeface="Tahoma"/>
                  <a:sym typeface="Tahoma"/>
                </a:rPr>
                <a:t>Self-Test</a:t>
              </a:r>
              <a:endParaRPr/>
            </a:p>
          </p:txBody>
        </p:sp>
      </p:grpSp>
      <p:sp>
        <p:nvSpPr>
          <p:cNvPr id="4233" name="Google Shape;4233;p65"/>
          <p:cNvSpPr txBox="1"/>
          <p:nvPr/>
        </p:nvSpPr>
        <p:spPr>
          <a:xfrm>
            <a:off x="1849439" y="1441450"/>
            <a:ext cx="3163887" cy="52403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1" i="0" lang="en-US" sz="2200" u="sng" cap="none" strike="noStrike">
                <a:solidFill>
                  <a:srgbClr val="FF0000"/>
                </a:solidFill>
                <a:latin typeface="Arial"/>
                <a:ea typeface="Arial"/>
                <a:cs typeface="Arial"/>
                <a:sym typeface="Arial"/>
              </a:rPr>
              <a:t>Solutions:</a:t>
            </a:r>
            <a:endParaRPr/>
          </a:p>
          <a:p>
            <a:pPr indent="0" lvl="0" marL="0" marR="0" rtl="0" algn="l">
              <a:lnSpc>
                <a:spcPct val="100000"/>
              </a:lnSpc>
              <a:spcBef>
                <a:spcPts val="440"/>
              </a:spcBef>
              <a:spcAft>
                <a:spcPts val="0"/>
              </a:spcAft>
              <a:buClr>
                <a:srgbClr val="000099"/>
              </a:buClr>
              <a:buSzPts val="1430"/>
              <a:buFont typeface="Noto Sans Symbols"/>
              <a:buNone/>
            </a:pPr>
            <a:r>
              <a:t/>
            </a:r>
            <a:endParaRPr b="1" i="0" sz="2200" u="sng" cap="none" strike="noStrike">
              <a:solidFill>
                <a:srgbClr val="FF0000"/>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BFBFBF"/>
                </a:solidFill>
                <a:latin typeface="Arial"/>
                <a:ea typeface="Arial"/>
                <a:cs typeface="Arial"/>
                <a:sym typeface="Arial"/>
              </a:rPr>
              <a:t>(in figure)</a:t>
            </a:r>
            <a:endParaRPr/>
          </a:p>
          <a:p>
            <a:pPr indent="-317500" lvl="0" marL="457200" marR="0" rtl="0" algn="l">
              <a:lnSpc>
                <a:spcPct val="100000"/>
              </a:lnSpc>
              <a:spcBef>
                <a:spcPts val="440"/>
              </a:spcBef>
              <a:spcAft>
                <a:spcPts val="0"/>
              </a:spcAft>
              <a:buClr>
                <a:schemeClr val="dk1"/>
              </a:buClr>
              <a:buSzPts val="2200"/>
              <a:buFont typeface="Noto Sans Symbols"/>
              <a:buNone/>
            </a:pPr>
            <a:r>
              <a:t/>
            </a:r>
            <a:endParaRPr b="0" i="0" sz="2200" u="none" cap="none" strike="noStrike">
              <a:solidFill>
                <a:srgbClr val="BFBFBF"/>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BFBFBF"/>
                </a:solidFill>
                <a:latin typeface="Arial"/>
                <a:ea typeface="Arial"/>
                <a:cs typeface="Arial"/>
                <a:sym typeface="Arial"/>
              </a:rPr>
              <a:t>X – </a:t>
            </a:r>
            <a:r>
              <a:rPr b="0" i="0" lang="en-US" sz="2200" u="none" cap="none" strike="noStrike">
                <a:solidFill>
                  <a:srgbClr val="BFBFBF"/>
                </a:solidFill>
                <a:latin typeface="Courier New"/>
                <a:ea typeface="Courier New"/>
                <a:cs typeface="Courier New"/>
                <a:sym typeface="Courier New"/>
              </a:rPr>
              <a:t>ACK</a:t>
            </a:r>
            <a:r>
              <a:rPr b="0" i="0" lang="en-US" sz="2200" u="none" cap="none" strike="noStrike">
                <a:solidFill>
                  <a:srgbClr val="BFBFBF"/>
                </a:solidFill>
                <a:latin typeface="Arial"/>
                <a:ea typeface="Arial"/>
                <a:cs typeface="Arial"/>
                <a:sym typeface="Arial"/>
              </a:rPr>
              <a:t> loss,         Y – packet loss</a:t>
            </a:r>
            <a:endParaRPr/>
          </a:p>
          <a:p>
            <a:pPr indent="-317500" lvl="0" marL="457200" marR="0" rtl="0" algn="l">
              <a:lnSpc>
                <a:spcPct val="100000"/>
              </a:lnSpc>
              <a:spcBef>
                <a:spcPts val="440"/>
              </a:spcBef>
              <a:spcAft>
                <a:spcPts val="0"/>
              </a:spcAft>
              <a:buClr>
                <a:schemeClr val="dk1"/>
              </a:buClr>
              <a:buSzPts val="2200"/>
              <a:buFont typeface="Noto Sans Symbols"/>
              <a:buNone/>
            </a:pPr>
            <a:r>
              <a:t/>
            </a:r>
            <a:endParaRPr b="0" i="0" sz="2200" u="none" cap="none" strike="noStrike">
              <a:solidFill>
                <a:schemeClr val="dk1"/>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dk1"/>
                </a:solidFill>
                <a:latin typeface="Arial"/>
                <a:ea typeface="Arial"/>
                <a:cs typeface="Arial"/>
                <a:sym typeface="Arial"/>
              </a:rPr>
              <a:t>Premature timeout</a:t>
            </a:r>
            <a:endParaRPr/>
          </a:p>
          <a:p>
            <a:pPr indent="-317500" lvl="0" marL="457200" marR="0" rtl="0" algn="l">
              <a:lnSpc>
                <a:spcPct val="100000"/>
              </a:lnSpc>
              <a:spcBef>
                <a:spcPts val="440"/>
              </a:spcBef>
              <a:spcAft>
                <a:spcPts val="0"/>
              </a:spcAft>
              <a:buClr>
                <a:schemeClr val="dk1"/>
              </a:buClr>
              <a:buSzPts val="2200"/>
              <a:buFont typeface="Noto Sans Symbols"/>
              <a:buNone/>
            </a:pPr>
            <a:r>
              <a:t/>
            </a:r>
            <a:endParaRPr b="0" i="0" sz="2200" u="none" cap="none" strike="noStrike">
              <a:solidFill>
                <a:schemeClr val="dk1"/>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lt1"/>
                </a:solidFill>
                <a:latin typeface="Arial"/>
                <a:ea typeface="Arial"/>
                <a:cs typeface="Arial"/>
                <a:sym typeface="Arial"/>
              </a:rPr>
              <a:t>Yes. Duplicate packet 0 detected  at R2.</a:t>
            </a:r>
            <a:endParaRPr/>
          </a:p>
        </p:txBody>
      </p:sp>
      <p:sp>
        <p:nvSpPr>
          <p:cNvPr id="4234" name="Google Shape;4234;p65"/>
          <p:cNvSpPr/>
          <p:nvPr/>
        </p:nvSpPr>
        <p:spPr>
          <a:xfrm flipH="1" rot="10800000">
            <a:off x="6959600" y="6273800"/>
            <a:ext cx="1798638" cy="469900"/>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sp>
        <p:nvSpPr>
          <p:cNvPr id="4235" name="Google Shape;4235;p65"/>
          <p:cNvSpPr/>
          <p:nvPr/>
        </p:nvSpPr>
        <p:spPr>
          <a:xfrm>
            <a:off x="6988175" y="1406525"/>
            <a:ext cx="1798638" cy="1208088"/>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4236" name="Google Shape;4236;p65"/>
          <p:cNvCxnSpPr/>
          <p:nvPr/>
        </p:nvCxnSpPr>
        <p:spPr>
          <a:xfrm>
            <a:off x="8797925" y="1225550"/>
            <a:ext cx="0" cy="5518150"/>
          </a:xfrm>
          <a:prstGeom prst="straightConnector1">
            <a:avLst/>
          </a:prstGeom>
          <a:noFill/>
          <a:ln cap="flat" cmpd="sng" w="9525">
            <a:solidFill>
              <a:schemeClr val="dk1"/>
            </a:solidFill>
            <a:prstDash val="dash"/>
            <a:round/>
            <a:headEnd len="med" w="med" type="none"/>
            <a:tailEnd len="med" w="med" type="none"/>
          </a:ln>
        </p:spPr>
      </p:cxnSp>
      <p:cxnSp>
        <p:nvCxnSpPr>
          <p:cNvPr id="4237" name="Google Shape;4237;p65"/>
          <p:cNvCxnSpPr>
            <a:endCxn id="4235" idx="3"/>
          </p:cNvCxnSpPr>
          <p:nvPr/>
        </p:nvCxnSpPr>
        <p:spPr>
          <a:xfrm>
            <a:off x="6980213" y="1405769"/>
            <a:ext cx="1806600" cy="604800"/>
          </a:xfrm>
          <a:prstGeom prst="straightConnector1">
            <a:avLst/>
          </a:prstGeom>
          <a:noFill/>
          <a:ln cap="flat" cmpd="sng" w="28575">
            <a:solidFill>
              <a:schemeClr val="dk1"/>
            </a:solidFill>
            <a:prstDash val="solid"/>
            <a:round/>
            <a:headEnd len="med" w="med" type="none"/>
            <a:tailEnd len="lg" w="lg" type="stealth"/>
          </a:ln>
        </p:spPr>
      </p:cxnSp>
      <p:sp>
        <p:nvSpPr>
          <p:cNvPr id="4238" name="Google Shape;4238;p65"/>
          <p:cNvSpPr txBox="1"/>
          <p:nvPr/>
        </p:nvSpPr>
        <p:spPr>
          <a:xfrm>
            <a:off x="6556375" y="796926"/>
            <a:ext cx="795338"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Sender</a:t>
            </a:r>
            <a:endParaRPr/>
          </a:p>
        </p:txBody>
      </p:sp>
      <p:sp>
        <p:nvSpPr>
          <p:cNvPr id="4239" name="Google Shape;4239;p65"/>
          <p:cNvSpPr txBox="1"/>
          <p:nvPr/>
        </p:nvSpPr>
        <p:spPr>
          <a:xfrm>
            <a:off x="8297864" y="798514"/>
            <a:ext cx="94297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Receiver</a:t>
            </a:r>
            <a:endParaRPr/>
          </a:p>
        </p:txBody>
      </p:sp>
      <p:sp>
        <p:nvSpPr>
          <p:cNvPr id="4240" name="Google Shape;4240;p65"/>
          <p:cNvSpPr txBox="1"/>
          <p:nvPr/>
        </p:nvSpPr>
        <p:spPr>
          <a:xfrm>
            <a:off x="5870576" y="1150939"/>
            <a:ext cx="1019175"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Send </a:t>
            </a:r>
            <a:r>
              <a:rPr b="0" i="0" lang="en-US" sz="1400" u="none" cap="none" strike="noStrike">
                <a:solidFill>
                  <a:schemeClr val="dk1"/>
                </a:solidFill>
                <a:latin typeface="Courier New"/>
                <a:ea typeface="Courier New"/>
                <a:cs typeface="Courier New"/>
                <a:sym typeface="Courier New"/>
              </a:rPr>
              <a:t>pkt0</a:t>
            </a:r>
            <a:endParaRPr/>
          </a:p>
        </p:txBody>
      </p:sp>
      <p:sp>
        <p:nvSpPr>
          <p:cNvPr id="4241" name="Google Shape;4241;p65"/>
          <p:cNvSpPr/>
          <p:nvPr/>
        </p:nvSpPr>
        <p:spPr>
          <a:xfrm>
            <a:off x="5599114" y="2384425"/>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242" name="Google Shape;4242;p65"/>
          <p:cNvSpPr txBox="1"/>
          <p:nvPr/>
        </p:nvSpPr>
        <p:spPr>
          <a:xfrm>
            <a:off x="6048376" y="2257426"/>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(S1)</a:t>
            </a:r>
            <a:endParaRPr/>
          </a:p>
        </p:txBody>
      </p:sp>
      <p:sp>
        <p:nvSpPr>
          <p:cNvPr id="4243" name="Google Shape;4243;p65"/>
          <p:cNvSpPr txBox="1"/>
          <p:nvPr/>
        </p:nvSpPr>
        <p:spPr>
          <a:xfrm>
            <a:off x="8832850" y="1808164"/>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rcv </a:t>
            </a:r>
            <a:r>
              <a:rPr b="0" i="0" lang="en-US" sz="1400" u="none" cap="none" strike="noStrike">
                <a:solidFill>
                  <a:schemeClr val="dk1"/>
                </a:solidFill>
                <a:latin typeface="Courier New"/>
                <a:ea typeface="Courier New"/>
                <a:cs typeface="Courier New"/>
                <a:sym typeface="Courier New"/>
              </a:rPr>
              <a:t>pkt0</a:t>
            </a:r>
            <a:r>
              <a:rPr b="0" i="0" lang="en-US" sz="1400" u="none" cap="none" strike="noStrike">
                <a:solidFill>
                  <a:schemeClr val="dk1"/>
                </a:solidFill>
                <a:latin typeface="Times New Roman"/>
                <a:ea typeface="Times New Roman"/>
                <a:cs typeface="Times New Roman"/>
                <a:sym typeface="Times New Roman"/>
              </a:rPr>
              <a:t>, send </a:t>
            </a:r>
            <a:r>
              <a:rPr b="0" i="0" lang="en-US" sz="1400" u="none" cap="none" strike="noStrike">
                <a:solidFill>
                  <a:schemeClr val="dk1"/>
                </a:solidFill>
                <a:latin typeface="Courier New"/>
                <a:ea typeface="Courier New"/>
                <a:cs typeface="Courier New"/>
                <a:sym typeface="Courier New"/>
              </a:rPr>
              <a:t>NAK0</a:t>
            </a:r>
            <a:endParaRPr/>
          </a:p>
        </p:txBody>
      </p:sp>
      <p:sp>
        <p:nvSpPr>
          <p:cNvPr id="4244" name="Google Shape;4244;p65"/>
          <p:cNvSpPr/>
          <p:nvPr/>
        </p:nvSpPr>
        <p:spPr>
          <a:xfrm>
            <a:off x="6980239" y="3851276"/>
            <a:ext cx="1798637" cy="1209675"/>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4245" name="Google Shape;4245;p65"/>
          <p:cNvCxnSpPr/>
          <p:nvPr/>
        </p:nvCxnSpPr>
        <p:spPr>
          <a:xfrm>
            <a:off x="6972301" y="2643189"/>
            <a:ext cx="1806575" cy="604837"/>
          </a:xfrm>
          <a:prstGeom prst="straightConnector1">
            <a:avLst/>
          </a:prstGeom>
          <a:noFill/>
          <a:ln cap="flat" cmpd="sng" w="28575">
            <a:solidFill>
              <a:schemeClr val="dk1"/>
            </a:solidFill>
            <a:prstDash val="solid"/>
            <a:round/>
            <a:headEnd len="med" w="med" type="none"/>
            <a:tailEnd len="lg" w="lg" type="stealth"/>
          </a:ln>
        </p:spPr>
      </p:cxnSp>
      <p:sp>
        <p:nvSpPr>
          <p:cNvPr id="4246" name="Google Shape;4246;p65"/>
          <p:cNvSpPr/>
          <p:nvPr/>
        </p:nvSpPr>
        <p:spPr>
          <a:xfrm>
            <a:off x="5591175" y="2981325"/>
            <a:ext cx="1373188"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247" name="Google Shape;4247;p65"/>
          <p:cNvSpPr txBox="1"/>
          <p:nvPr/>
        </p:nvSpPr>
        <p:spPr>
          <a:xfrm>
            <a:off x="6040438" y="2854326"/>
            <a:ext cx="493712"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(S2)</a:t>
            </a:r>
            <a:endParaRPr/>
          </a:p>
        </p:txBody>
      </p:sp>
      <p:sp>
        <p:nvSpPr>
          <p:cNvPr id="4248" name="Google Shape;4248;p65"/>
          <p:cNvSpPr/>
          <p:nvPr/>
        </p:nvSpPr>
        <p:spPr>
          <a:xfrm>
            <a:off x="8888413" y="2987676"/>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249" name="Google Shape;4249;p65"/>
          <p:cNvSpPr txBox="1"/>
          <p:nvPr/>
        </p:nvSpPr>
        <p:spPr>
          <a:xfrm>
            <a:off x="9190038" y="2857500"/>
            <a:ext cx="514350"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(R1)</a:t>
            </a:r>
            <a:endParaRPr/>
          </a:p>
        </p:txBody>
      </p:sp>
      <p:cxnSp>
        <p:nvCxnSpPr>
          <p:cNvPr id="4250" name="Google Shape;4250;p65"/>
          <p:cNvCxnSpPr/>
          <p:nvPr/>
        </p:nvCxnSpPr>
        <p:spPr>
          <a:xfrm>
            <a:off x="6967538" y="1223963"/>
            <a:ext cx="0" cy="5518150"/>
          </a:xfrm>
          <a:prstGeom prst="straightConnector1">
            <a:avLst/>
          </a:prstGeom>
          <a:noFill/>
          <a:ln cap="flat" cmpd="sng" w="9525">
            <a:solidFill>
              <a:schemeClr val="dk1"/>
            </a:solidFill>
            <a:prstDash val="dash"/>
            <a:round/>
            <a:headEnd len="med" w="med" type="none"/>
            <a:tailEnd len="med" w="med" type="none"/>
          </a:ln>
        </p:spPr>
      </p:cxnSp>
      <p:sp>
        <p:nvSpPr>
          <p:cNvPr id="4251" name="Google Shape;4251;p65"/>
          <p:cNvSpPr txBox="1"/>
          <p:nvPr/>
        </p:nvSpPr>
        <p:spPr>
          <a:xfrm rot="-5400000">
            <a:off x="4751388" y="4349751"/>
            <a:ext cx="9207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2</a:t>
            </a:r>
            <a:endParaRPr/>
          </a:p>
        </p:txBody>
      </p:sp>
      <p:grpSp>
        <p:nvGrpSpPr>
          <p:cNvPr id="4252" name="Google Shape;4252;p65"/>
          <p:cNvGrpSpPr/>
          <p:nvPr/>
        </p:nvGrpSpPr>
        <p:grpSpPr>
          <a:xfrm>
            <a:off x="5383213" y="3860801"/>
            <a:ext cx="207962" cy="1255713"/>
            <a:chOff x="2524123" y="2565535"/>
            <a:chExt cx="208492" cy="1256451"/>
          </a:xfrm>
        </p:grpSpPr>
        <p:cxnSp>
          <p:nvCxnSpPr>
            <p:cNvPr id="4253" name="Google Shape;4253;p65"/>
            <p:cNvCxnSpPr/>
            <p:nvPr/>
          </p:nvCxnSpPr>
          <p:spPr>
            <a:xfrm flipH="1">
              <a:off x="2524123" y="2565535"/>
              <a:ext cx="3228" cy="1256451"/>
            </a:xfrm>
            <a:prstGeom prst="straightConnector1">
              <a:avLst/>
            </a:prstGeom>
            <a:noFill/>
            <a:ln cap="flat" cmpd="sng" w="9525">
              <a:solidFill>
                <a:schemeClr val="dk1"/>
              </a:solidFill>
              <a:prstDash val="solid"/>
              <a:round/>
              <a:headEnd len="med" w="med" type="none"/>
              <a:tailEnd len="med" w="med" type="none"/>
            </a:ln>
          </p:spPr>
        </p:cxnSp>
        <p:cxnSp>
          <p:nvCxnSpPr>
            <p:cNvPr id="4254" name="Google Shape;4254;p65"/>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255" name="Google Shape;4255;p65"/>
            <p:cNvCxnSpPr/>
            <p:nvPr/>
          </p:nvCxnSpPr>
          <p:spPr>
            <a:xfrm>
              <a:off x="2525301" y="3819674"/>
              <a:ext cx="205267" cy="0"/>
            </a:xfrm>
            <a:prstGeom prst="straightConnector1">
              <a:avLst/>
            </a:prstGeom>
            <a:noFill/>
            <a:ln cap="flat" cmpd="sng" w="9525">
              <a:solidFill>
                <a:schemeClr val="dk1"/>
              </a:solidFill>
              <a:prstDash val="solid"/>
              <a:round/>
              <a:headEnd len="med" w="med" type="none"/>
              <a:tailEnd len="med" w="med" type="none"/>
            </a:ln>
          </p:spPr>
        </p:cxnSp>
      </p:grpSp>
      <p:sp>
        <p:nvSpPr>
          <p:cNvPr id="4256" name="Google Shape;4256;p65"/>
          <p:cNvSpPr/>
          <p:nvPr/>
        </p:nvSpPr>
        <p:spPr>
          <a:xfrm>
            <a:off x="8891589" y="3608389"/>
            <a:ext cx="1512887"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257" name="Google Shape;4257;p65"/>
          <p:cNvSpPr txBox="1"/>
          <p:nvPr/>
        </p:nvSpPr>
        <p:spPr>
          <a:xfrm>
            <a:off x="9194801" y="3478214"/>
            <a:ext cx="51276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(R2)</a:t>
            </a:r>
            <a:endParaRPr/>
          </a:p>
        </p:txBody>
      </p:sp>
      <p:cxnSp>
        <p:nvCxnSpPr>
          <p:cNvPr id="4258" name="Google Shape;4258;p65"/>
          <p:cNvCxnSpPr/>
          <p:nvPr/>
        </p:nvCxnSpPr>
        <p:spPr>
          <a:xfrm>
            <a:off x="6988175" y="3881439"/>
            <a:ext cx="1403350" cy="593725"/>
          </a:xfrm>
          <a:prstGeom prst="straightConnector1">
            <a:avLst/>
          </a:prstGeom>
          <a:noFill/>
          <a:ln cap="flat" cmpd="sng" w="28575">
            <a:solidFill>
              <a:schemeClr val="dk1"/>
            </a:solidFill>
            <a:prstDash val="solid"/>
            <a:round/>
            <a:headEnd len="med" w="med" type="none"/>
            <a:tailEnd len="lg" w="lg" type="stealth"/>
          </a:ln>
        </p:spPr>
      </p:cxnSp>
      <p:cxnSp>
        <p:nvCxnSpPr>
          <p:cNvPr id="4259" name="Google Shape;4259;p65"/>
          <p:cNvCxnSpPr/>
          <p:nvPr/>
        </p:nvCxnSpPr>
        <p:spPr>
          <a:xfrm flipH="1">
            <a:off x="6961188" y="5716589"/>
            <a:ext cx="1797050" cy="509587"/>
          </a:xfrm>
          <a:prstGeom prst="straightConnector1">
            <a:avLst/>
          </a:prstGeom>
          <a:noFill/>
          <a:ln cap="flat" cmpd="sng" w="28575">
            <a:solidFill>
              <a:schemeClr val="dk1"/>
            </a:solidFill>
            <a:prstDash val="solid"/>
            <a:round/>
            <a:headEnd len="med" w="med" type="none"/>
            <a:tailEnd len="lg" w="lg" type="stealth"/>
          </a:ln>
        </p:spPr>
      </p:cxnSp>
      <p:sp>
        <p:nvSpPr>
          <p:cNvPr id="4260" name="Google Shape;4260;p65"/>
          <p:cNvSpPr txBox="1"/>
          <p:nvPr/>
        </p:nvSpPr>
        <p:spPr>
          <a:xfrm>
            <a:off x="8177213" y="4505326"/>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Y</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grpSp>
        <p:nvGrpSpPr>
          <p:cNvPr id="4261" name="Google Shape;4261;p65"/>
          <p:cNvGrpSpPr/>
          <p:nvPr/>
        </p:nvGrpSpPr>
        <p:grpSpPr>
          <a:xfrm>
            <a:off x="5400676" y="2613026"/>
            <a:ext cx="207963" cy="619125"/>
            <a:chOff x="2525301" y="2572305"/>
            <a:chExt cx="207314" cy="618591"/>
          </a:xfrm>
        </p:grpSpPr>
        <p:cxnSp>
          <p:nvCxnSpPr>
            <p:cNvPr id="4262" name="Google Shape;4262;p65"/>
            <p:cNvCxnSpPr/>
            <p:nvPr/>
          </p:nvCxnSpPr>
          <p:spPr>
            <a:xfrm>
              <a:off x="2532013" y="2572305"/>
              <a:ext cx="0" cy="616450"/>
            </a:xfrm>
            <a:prstGeom prst="straightConnector1">
              <a:avLst/>
            </a:prstGeom>
            <a:noFill/>
            <a:ln cap="flat" cmpd="sng" w="9525">
              <a:solidFill>
                <a:schemeClr val="dk1"/>
              </a:solidFill>
              <a:prstDash val="solid"/>
              <a:round/>
              <a:headEnd len="med" w="med" type="none"/>
              <a:tailEnd len="med" w="med" type="none"/>
            </a:ln>
          </p:spPr>
        </p:cxnSp>
        <p:cxnSp>
          <p:nvCxnSpPr>
            <p:cNvPr id="4263" name="Google Shape;4263;p65"/>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264" name="Google Shape;4264;p65"/>
            <p:cNvCxnSpPr/>
            <p:nvPr/>
          </p:nvCxnSpPr>
          <p:spPr>
            <a:xfrm>
              <a:off x="2525301" y="3190896"/>
              <a:ext cx="205267" cy="0"/>
            </a:xfrm>
            <a:prstGeom prst="straightConnector1">
              <a:avLst/>
            </a:prstGeom>
            <a:noFill/>
            <a:ln cap="flat" cmpd="sng" w="9525">
              <a:solidFill>
                <a:schemeClr val="dk1"/>
              </a:solidFill>
              <a:prstDash val="solid"/>
              <a:round/>
              <a:headEnd len="med" w="med" type="none"/>
              <a:tailEnd len="med" w="med" type="none"/>
            </a:ln>
          </p:spPr>
        </p:cxnSp>
      </p:grpSp>
      <p:cxnSp>
        <p:nvCxnSpPr>
          <p:cNvPr id="4265" name="Google Shape;4265;p65"/>
          <p:cNvCxnSpPr/>
          <p:nvPr/>
        </p:nvCxnSpPr>
        <p:spPr>
          <a:xfrm>
            <a:off x="6969125" y="5081589"/>
            <a:ext cx="1804988" cy="604837"/>
          </a:xfrm>
          <a:prstGeom prst="straightConnector1">
            <a:avLst/>
          </a:prstGeom>
          <a:noFill/>
          <a:ln cap="flat" cmpd="sng" w="28575">
            <a:solidFill>
              <a:schemeClr val="dk1"/>
            </a:solidFill>
            <a:prstDash val="solid"/>
            <a:round/>
            <a:headEnd len="med" w="med" type="none"/>
            <a:tailEnd len="lg" w="lg" type="stealth"/>
          </a:ln>
        </p:spPr>
      </p:cxnSp>
      <p:sp>
        <p:nvSpPr>
          <p:cNvPr id="4266" name="Google Shape;4266;p65"/>
          <p:cNvSpPr/>
          <p:nvPr/>
        </p:nvSpPr>
        <p:spPr>
          <a:xfrm>
            <a:off x="5545139" y="4872039"/>
            <a:ext cx="1374775"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267" name="Google Shape;4267;p65"/>
          <p:cNvSpPr txBox="1"/>
          <p:nvPr/>
        </p:nvSpPr>
        <p:spPr>
          <a:xfrm>
            <a:off x="6045201" y="4745039"/>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(S4)</a:t>
            </a:r>
            <a:endParaRPr/>
          </a:p>
        </p:txBody>
      </p:sp>
      <p:sp>
        <p:nvSpPr>
          <p:cNvPr id="4268" name="Google Shape;4268;p65"/>
          <p:cNvSpPr txBox="1"/>
          <p:nvPr/>
        </p:nvSpPr>
        <p:spPr>
          <a:xfrm rot="-5400000">
            <a:off x="4804569" y="2777331"/>
            <a:ext cx="920750" cy="3063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1</a:t>
            </a:r>
            <a:endParaRPr/>
          </a:p>
        </p:txBody>
      </p:sp>
      <p:cxnSp>
        <p:nvCxnSpPr>
          <p:cNvPr id="4269" name="Google Shape;4269;p65"/>
          <p:cNvCxnSpPr/>
          <p:nvPr/>
        </p:nvCxnSpPr>
        <p:spPr>
          <a:xfrm flipH="1">
            <a:off x="7405689" y="3887788"/>
            <a:ext cx="1323975" cy="563562"/>
          </a:xfrm>
          <a:prstGeom prst="straightConnector1">
            <a:avLst/>
          </a:prstGeom>
          <a:noFill/>
          <a:ln cap="flat" cmpd="sng" w="28575">
            <a:solidFill>
              <a:schemeClr val="dk1"/>
            </a:solidFill>
            <a:prstDash val="solid"/>
            <a:round/>
            <a:headEnd len="med" w="med" type="none"/>
            <a:tailEnd len="lg" w="lg" type="stealth"/>
          </a:ln>
        </p:spPr>
      </p:cxnSp>
      <p:sp>
        <p:nvSpPr>
          <p:cNvPr id="4270" name="Google Shape;4270;p65"/>
          <p:cNvSpPr txBox="1"/>
          <p:nvPr/>
        </p:nvSpPr>
        <p:spPr>
          <a:xfrm>
            <a:off x="6977063" y="4513264"/>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X</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cxnSp>
        <p:nvCxnSpPr>
          <p:cNvPr id="4271" name="Google Shape;4271;p65"/>
          <p:cNvCxnSpPr/>
          <p:nvPr/>
        </p:nvCxnSpPr>
        <p:spPr>
          <a:xfrm flipH="1">
            <a:off x="7019926" y="2052638"/>
            <a:ext cx="1636713" cy="546100"/>
          </a:xfrm>
          <a:prstGeom prst="straightConnector1">
            <a:avLst/>
          </a:prstGeom>
          <a:noFill/>
          <a:ln cap="flat" cmpd="sng" w="28575">
            <a:solidFill>
              <a:schemeClr val="dk1"/>
            </a:solidFill>
            <a:prstDash val="solid"/>
            <a:round/>
            <a:headEnd len="med" w="med" type="none"/>
            <a:tailEnd len="lg" w="lg" type="stealth"/>
          </a:ln>
        </p:spPr>
      </p:cxnSp>
      <p:cxnSp>
        <p:nvCxnSpPr>
          <p:cNvPr id="4272" name="Google Shape;4272;p65"/>
          <p:cNvCxnSpPr/>
          <p:nvPr/>
        </p:nvCxnSpPr>
        <p:spPr>
          <a:xfrm>
            <a:off x="6980239" y="3194050"/>
            <a:ext cx="1806575" cy="604838"/>
          </a:xfrm>
          <a:prstGeom prst="straightConnector1">
            <a:avLst/>
          </a:prstGeom>
          <a:noFill/>
          <a:ln cap="flat" cmpd="sng" w="28575">
            <a:solidFill>
              <a:schemeClr val="dk1"/>
            </a:solidFill>
            <a:prstDash val="solid"/>
            <a:round/>
            <a:headEnd len="med" w="med" type="none"/>
            <a:tailEnd len="lg" w="lg" type="stealth"/>
          </a:ln>
        </p:spPr>
      </p:cxnSp>
      <p:sp>
        <p:nvSpPr>
          <p:cNvPr id="4273" name="Google Shape;4273;p65"/>
          <p:cNvSpPr/>
          <p:nvPr/>
        </p:nvSpPr>
        <p:spPr>
          <a:xfrm>
            <a:off x="8958263" y="54371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274" name="Google Shape;4274;p65"/>
          <p:cNvSpPr txBox="1"/>
          <p:nvPr/>
        </p:nvSpPr>
        <p:spPr>
          <a:xfrm>
            <a:off x="9259888" y="53070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(R3)</a:t>
            </a:r>
            <a:endParaRPr/>
          </a:p>
        </p:txBody>
      </p:sp>
      <p:sp>
        <p:nvSpPr>
          <p:cNvPr id="4275" name="Google Shape;4275;p65"/>
          <p:cNvSpPr/>
          <p:nvPr/>
        </p:nvSpPr>
        <p:spPr>
          <a:xfrm>
            <a:off x="5595939" y="3613150"/>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276" name="Google Shape;4276;p65"/>
          <p:cNvSpPr txBox="1"/>
          <p:nvPr/>
        </p:nvSpPr>
        <p:spPr>
          <a:xfrm>
            <a:off x="6045201" y="3487739"/>
            <a:ext cx="493713"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(S3)</a:t>
            </a:r>
            <a:endParaRPr/>
          </a:p>
        </p:txBody>
      </p:sp>
      <p:cxnSp>
        <p:nvCxnSpPr>
          <p:cNvPr id="4277" name="Google Shape;4277;p65"/>
          <p:cNvCxnSpPr/>
          <p:nvPr/>
        </p:nvCxnSpPr>
        <p:spPr>
          <a:xfrm flipH="1">
            <a:off x="7015163" y="3317875"/>
            <a:ext cx="1636712" cy="546100"/>
          </a:xfrm>
          <a:prstGeom prst="straightConnector1">
            <a:avLst/>
          </a:prstGeom>
          <a:noFill/>
          <a:ln cap="flat" cmpd="sng" w="28575">
            <a:solidFill>
              <a:schemeClr val="dk1"/>
            </a:solidFill>
            <a:prstDash val="solid"/>
            <a:round/>
            <a:headEnd len="med" w="med" type="none"/>
            <a:tailEnd len="lg" w="lg" type="stealth"/>
          </a:ln>
        </p:spPr>
      </p:cxnSp>
      <p:sp>
        <p:nvSpPr>
          <p:cNvPr id="4278" name="Google Shape;4278;p65"/>
          <p:cNvSpPr/>
          <p:nvPr/>
        </p:nvSpPr>
        <p:spPr>
          <a:xfrm>
            <a:off x="5575300" y="6034089"/>
            <a:ext cx="1373188"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279" name="Google Shape;4279;p65"/>
          <p:cNvSpPr txBox="1"/>
          <p:nvPr/>
        </p:nvSpPr>
        <p:spPr>
          <a:xfrm>
            <a:off x="6073776" y="5908675"/>
            <a:ext cx="493713"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(S5)</a:t>
            </a:r>
            <a:endParaRPr/>
          </a:p>
        </p:txBody>
      </p:sp>
      <p:cxnSp>
        <p:nvCxnSpPr>
          <p:cNvPr id="4280" name="Google Shape;4280;p65"/>
          <p:cNvCxnSpPr/>
          <p:nvPr/>
        </p:nvCxnSpPr>
        <p:spPr>
          <a:xfrm>
            <a:off x="6972301" y="6253164"/>
            <a:ext cx="1776413" cy="428625"/>
          </a:xfrm>
          <a:prstGeom prst="straightConnector1">
            <a:avLst/>
          </a:prstGeom>
          <a:noFill/>
          <a:ln cap="flat" cmpd="sng" w="28575">
            <a:solidFill>
              <a:schemeClr val="dk1"/>
            </a:solidFill>
            <a:prstDash val="solid"/>
            <a:round/>
            <a:headEnd len="med" w="med" type="none"/>
            <a:tailEnd len="lg" w="lg" type="stealth"/>
          </a:ln>
        </p:spPr>
      </p:cxnSp>
      <p:sp>
        <p:nvSpPr>
          <p:cNvPr id="4281" name="Google Shape;4281;p65"/>
          <p:cNvSpPr/>
          <p:nvPr/>
        </p:nvSpPr>
        <p:spPr>
          <a:xfrm>
            <a:off x="8913813" y="64404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282" name="Google Shape;4282;p65"/>
          <p:cNvSpPr txBox="1"/>
          <p:nvPr/>
        </p:nvSpPr>
        <p:spPr>
          <a:xfrm>
            <a:off x="9215438" y="63103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(R4)</a:t>
            </a:r>
            <a:endParaRPr/>
          </a:p>
        </p:txBody>
      </p:sp>
      <p:sp>
        <p:nvSpPr>
          <p:cNvPr id="4283" name="Google Shape;4283;p65"/>
          <p:cNvSpPr txBox="1"/>
          <p:nvPr/>
        </p:nvSpPr>
        <p:spPr>
          <a:xfrm>
            <a:off x="5694363" y="2065339"/>
            <a:ext cx="989012" cy="5222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NAK0</a:t>
            </a:r>
            <a:r>
              <a:rPr b="0" i="0" lang="en-US" sz="1400" u="none" cap="none" strike="noStrike">
                <a:solidFill>
                  <a:srgbClr val="FF0000"/>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pkt0</a:t>
            </a:r>
            <a:endParaRPr/>
          </a:p>
        </p:txBody>
      </p:sp>
      <p:sp>
        <p:nvSpPr>
          <p:cNvPr id="4284" name="Google Shape;4284;p65"/>
          <p:cNvSpPr txBox="1"/>
          <p:nvPr/>
        </p:nvSpPr>
        <p:spPr>
          <a:xfrm>
            <a:off x="5735638" y="2859089"/>
            <a:ext cx="989012"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pkt0</a:t>
            </a:r>
            <a:endParaRPr/>
          </a:p>
        </p:txBody>
      </p:sp>
      <p:sp>
        <p:nvSpPr>
          <p:cNvPr id="4285" name="Google Shape;4285;p65"/>
          <p:cNvSpPr txBox="1"/>
          <p:nvPr/>
        </p:nvSpPr>
        <p:spPr>
          <a:xfrm>
            <a:off x="8809038" y="2895601"/>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pkt0</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ACK0</a:t>
            </a:r>
            <a:endParaRPr/>
          </a:p>
        </p:txBody>
      </p:sp>
      <p:sp>
        <p:nvSpPr>
          <p:cNvPr id="4286" name="Google Shape;4286;p65"/>
          <p:cNvSpPr txBox="1"/>
          <p:nvPr/>
        </p:nvSpPr>
        <p:spPr>
          <a:xfrm>
            <a:off x="5727701" y="3306764"/>
            <a:ext cx="989013" cy="5222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ACK0</a:t>
            </a:r>
            <a:r>
              <a:rPr b="0" i="0" lang="en-US" sz="1400" u="none" cap="none" strike="noStrike">
                <a:solidFill>
                  <a:srgbClr val="FF0000"/>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pkt1</a:t>
            </a:r>
            <a:endParaRPr/>
          </a:p>
        </p:txBody>
      </p:sp>
      <p:sp>
        <p:nvSpPr>
          <p:cNvPr id="4287" name="Google Shape;4287;p65"/>
          <p:cNvSpPr txBox="1"/>
          <p:nvPr/>
        </p:nvSpPr>
        <p:spPr>
          <a:xfrm>
            <a:off x="8791576" y="3490914"/>
            <a:ext cx="182086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pkt0</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ACK0</a:t>
            </a:r>
            <a:endParaRPr/>
          </a:p>
        </p:txBody>
      </p:sp>
      <p:sp>
        <p:nvSpPr>
          <p:cNvPr id="4288" name="Google Shape;4288;p65"/>
          <p:cNvSpPr txBox="1"/>
          <p:nvPr/>
        </p:nvSpPr>
        <p:spPr>
          <a:xfrm>
            <a:off x="5694363" y="4778376"/>
            <a:ext cx="99060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pkt1</a:t>
            </a:r>
            <a:endParaRPr/>
          </a:p>
        </p:txBody>
      </p:sp>
      <p:sp>
        <p:nvSpPr>
          <p:cNvPr id="4289" name="Google Shape;4289;p65"/>
          <p:cNvSpPr txBox="1"/>
          <p:nvPr/>
        </p:nvSpPr>
        <p:spPr>
          <a:xfrm>
            <a:off x="8883650" y="5283201"/>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pkt1</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ACK1</a:t>
            </a:r>
            <a:endParaRPr/>
          </a:p>
        </p:txBody>
      </p:sp>
      <p:sp>
        <p:nvSpPr>
          <p:cNvPr id="4290" name="Google Shape;4290;p65"/>
          <p:cNvSpPr txBox="1"/>
          <p:nvPr/>
        </p:nvSpPr>
        <p:spPr>
          <a:xfrm>
            <a:off x="5724526" y="5694364"/>
            <a:ext cx="989013" cy="523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ACK1</a:t>
            </a:r>
            <a:r>
              <a:rPr b="0" i="0" lang="en-US" sz="1400" u="none" cap="none" strike="noStrike">
                <a:solidFill>
                  <a:srgbClr val="FF0000"/>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pkt0</a:t>
            </a:r>
            <a:endParaRPr/>
          </a:p>
        </p:txBody>
      </p:sp>
      <p:sp>
        <p:nvSpPr>
          <p:cNvPr id="4291" name="Google Shape;4291;p65"/>
          <p:cNvSpPr txBox="1"/>
          <p:nvPr/>
        </p:nvSpPr>
        <p:spPr>
          <a:xfrm>
            <a:off x="8813800" y="6286501"/>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pkt0</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ACK0</a:t>
            </a:r>
            <a:endParaRPr/>
          </a:p>
        </p:txBody>
      </p:sp>
      <p:cxnSp>
        <p:nvCxnSpPr>
          <p:cNvPr id="4292" name="Google Shape;4292;p65"/>
          <p:cNvCxnSpPr>
            <a:endCxn id="4268" idx="0"/>
          </p:cNvCxnSpPr>
          <p:nvPr/>
        </p:nvCxnSpPr>
        <p:spPr>
          <a:xfrm flipH="1" rot="10800000">
            <a:off x="4200650" y="2930525"/>
            <a:ext cx="911100" cy="1103400"/>
          </a:xfrm>
          <a:prstGeom prst="straightConnector1">
            <a:avLst/>
          </a:prstGeom>
          <a:noFill/>
          <a:ln cap="flat" cmpd="sng" w="38100">
            <a:solidFill>
              <a:srgbClr val="FF0000"/>
            </a:solidFill>
            <a:prstDash val="solid"/>
            <a:round/>
            <a:headEnd len="med" w="med" type="none"/>
            <a:tailEnd len="med" w="med" type="triangle"/>
          </a:ln>
        </p:spPr>
      </p:cxnSp>
      <p:sp>
        <p:nvSpPr>
          <p:cNvPr id="4293" name="Google Shape;4293;p6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7" name="Shape 4297"/>
        <p:cNvGrpSpPr/>
        <p:nvPr/>
      </p:nvGrpSpPr>
      <p:grpSpPr>
        <a:xfrm>
          <a:off x="0" y="0"/>
          <a:ext cx="0" cy="0"/>
          <a:chOff x="0" y="0"/>
          <a:chExt cx="0" cy="0"/>
        </a:xfrm>
      </p:grpSpPr>
      <p:sp>
        <p:nvSpPr>
          <p:cNvPr id="4298" name="Google Shape;4298;p66"/>
          <p:cNvSpPr/>
          <p:nvPr/>
        </p:nvSpPr>
        <p:spPr>
          <a:xfrm flipH="1" rot="10800000">
            <a:off x="6959600" y="6273800"/>
            <a:ext cx="1798638" cy="469900"/>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sp>
        <p:nvSpPr>
          <p:cNvPr id="4299" name="Google Shape;4299;p66"/>
          <p:cNvSpPr txBox="1"/>
          <p:nvPr/>
        </p:nvSpPr>
        <p:spPr>
          <a:xfrm>
            <a:off x="1838326" y="1046164"/>
            <a:ext cx="3298825" cy="52419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1" i="0" lang="en-US" sz="2200" u="sng" cap="none" strike="noStrike">
                <a:solidFill>
                  <a:schemeClr val="dk1"/>
                </a:solidFill>
                <a:latin typeface="Arial"/>
                <a:ea typeface="Arial"/>
                <a:cs typeface="Arial"/>
                <a:sym typeface="Arial"/>
              </a:rPr>
              <a:t>Question:</a:t>
            </a:r>
            <a:endParaRPr/>
          </a:p>
          <a:p>
            <a:pPr indent="0" lvl="0" marL="0" marR="0" rtl="0" algn="l">
              <a:lnSpc>
                <a:spcPct val="100000"/>
              </a:lnSpc>
              <a:spcBef>
                <a:spcPts val="440"/>
              </a:spcBef>
              <a:spcAft>
                <a:spcPts val="0"/>
              </a:spcAft>
              <a:buClr>
                <a:srgbClr val="000099"/>
              </a:buClr>
              <a:buSzPts val="1430"/>
              <a:buFont typeface="Noto Sans Symbols"/>
              <a:buNone/>
            </a:pPr>
            <a:r>
              <a:rPr b="0" i="0" lang="en-US" sz="2200" u="none" cap="none" strike="noStrike">
                <a:solidFill>
                  <a:schemeClr val="dk1"/>
                </a:solidFill>
                <a:latin typeface="Arial"/>
                <a:ea typeface="Arial"/>
                <a:cs typeface="Arial"/>
                <a:sym typeface="Arial"/>
              </a:rPr>
              <a:t>Supposed a sender has 3 packets to be sent to a receiver.</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D8D8D8"/>
                </a:solidFill>
                <a:latin typeface="Arial"/>
                <a:ea typeface="Arial"/>
                <a:cs typeface="Arial"/>
                <a:sym typeface="Arial"/>
              </a:rPr>
              <a:t>Complete the following figure by writing down the best answer for all S# and R#. Assume that no error after S1.</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D8D8D8"/>
                </a:solidFill>
                <a:latin typeface="Arial"/>
                <a:ea typeface="Arial"/>
                <a:cs typeface="Arial"/>
                <a:sym typeface="Arial"/>
              </a:rPr>
              <a:t>What are X and Y?</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D8D8D8"/>
                </a:solidFill>
                <a:latin typeface="Arial"/>
                <a:ea typeface="Arial"/>
                <a:cs typeface="Arial"/>
                <a:sym typeface="Arial"/>
              </a:rPr>
              <a:t>What is the problem between S1 and S2?</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dk1"/>
                </a:solidFill>
                <a:latin typeface="Arial"/>
                <a:ea typeface="Arial"/>
                <a:cs typeface="Arial"/>
                <a:sym typeface="Arial"/>
              </a:rPr>
              <a:t>Is the any discard packet at receiver? Why?</a:t>
            </a:r>
            <a:endParaRPr/>
          </a:p>
        </p:txBody>
      </p:sp>
      <p:sp>
        <p:nvSpPr>
          <p:cNvPr id="4300" name="Google Shape;4300;p66"/>
          <p:cNvSpPr/>
          <p:nvPr/>
        </p:nvSpPr>
        <p:spPr>
          <a:xfrm>
            <a:off x="6988175" y="1406525"/>
            <a:ext cx="1798638" cy="1208088"/>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4301" name="Google Shape;4301;p66"/>
          <p:cNvCxnSpPr/>
          <p:nvPr/>
        </p:nvCxnSpPr>
        <p:spPr>
          <a:xfrm>
            <a:off x="8797925" y="1225550"/>
            <a:ext cx="0" cy="5518150"/>
          </a:xfrm>
          <a:prstGeom prst="straightConnector1">
            <a:avLst/>
          </a:prstGeom>
          <a:noFill/>
          <a:ln cap="flat" cmpd="sng" w="9525">
            <a:solidFill>
              <a:schemeClr val="dk1"/>
            </a:solidFill>
            <a:prstDash val="dash"/>
            <a:round/>
            <a:headEnd len="med" w="med" type="none"/>
            <a:tailEnd len="med" w="med" type="none"/>
          </a:ln>
        </p:spPr>
      </p:cxnSp>
      <p:cxnSp>
        <p:nvCxnSpPr>
          <p:cNvPr id="4302" name="Google Shape;4302;p66"/>
          <p:cNvCxnSpPr>
            <a:endCxn id="4300" idx="3"/>
          </p:cNvCxnSpPr>
          <p:nvPr/>
        </p:nvCxnSpPr>
        <p:spPr>
          <a:xfrm>
            <a:off x="6980213" y="1405769"/>
            <a:ext cx="1806600" cy="604800"/>
          </a:xfrm>
          <a:prstGeom prst="straightConnector1">
            <a:avLst/>
          </a:prstGeom>
          <a:noFill/>
          <a:ln cap="flat" cmpd="sng" w="28575">
            <a:solidFill>
              <a:schemeClr val="dk1"/>
            </a:solidFill>
            <a:prstDash val="solid"/>
            <a:round/>
            <a:headEnd len="med" w="med" type="none"/>
            <a:tailEnd len="lg" w="lg" type="stealth"/>
          </a:ln>
        </p:spPr>
      </p:cxnSp>
      <p:sp>
        <p:nvSpPr>
          <p:cNvPr id="4303" name="Google Shape;4303;p66"/>
          <p:cNvSpPr txBox="1"/>
          <p:nvPr/>
        </p:nvSpPr>
        <p:spPr>
          <a:xfrm>
            <a:off x="6556375" y="796926"/>
            <a:ext cx="795338"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Sender</a:t>
            </a:r>
            <a:endParaRPr/>
          </a:p>
        </p:txBody>
      </p:sp>
      <p:sp>
        <p:nvSpPr>
          <p:cNvPr id="4304" name="Google Shape;4304;p66"/>
          <p:cNvSpPr txBox="1"/>
          <p:nvPr/>
        </p:nvSpPr>
        <p:spPr>
          <a:xfrm>
            <a:off x="8297864" y="798514"/>
            <a:ext cx="94297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Receiver</a:t>
            </a:r>
            <a:endParaRPr/>
          </a:p>
        </p:txBody>
      </p:sp>
      <p:sp>
        <p:nvSpPr>
          <p:cNvPr id="4305" name="Google Shape;4305;p66"/>
          <p:cNvSpPr txBox="1"/>
          <p:nvPr/>
        </p:nvSpPr>
        <p:spPr>
          <a:xfrm>
            <a:off x="5870576" y="1150939"/>
            <a:ext cx="1019175"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Send </a:t>
            </a:r>
            <a:r>
              <a:rPr b="0" i="0" lang="en-US" sz="1400" u="none" cap="none" strike="noStrike">
                <a:solidFill>
                  <a:schemeClr val="dk1"/>
                </a:solidFill>
                <a:latin typeface="Courier New"/>
                <a:ea typeface="Courier New"/>
                <a:cs typeface="Courier New"/>
                <a:sym typeface="Courier New"/>
              </a:rPr>
              <a:t>pkt0</a:t>
            </a:r>
            <a:endParaRPr/>
          </a:p>
        </p:txBody>
      </p:sp>
      <p:sp>
        <p:nvSpPr>
          <p:cNvPr id="4306" name="Google Shape;4306;p66"/>
          <p:cNvSpPr/>
          <p:nvPr/>
        </p:nvSpPr>
        <p:spPr>
          <a:xfrm>
            <a:off x="5599114" y="2384425"/>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307" name="Google Shape;4307;p66"/>
          <p:cNvSpPr txBox="1"/>
          <p:nvPr/>
        </p:nvSpPr>
        <p:spPr>
          <a:xfrm>
            <a:off x="6048376" y="2257426"/>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(S1)</a:t>
            </a:r>
            <a:endParaRPr/>
          </a:p>
        </p:txBody>
      </p:sp>
      <p:sp>
        <p:nvSpPr>
          <p:cNvPr id="4308" name="Google Shape;4308;p66"/>
          <p:cNvSpPr txBox="1"/>
          <p:nvPr/>
        </p:nvSpPr>
        <p:spPr>
          <a:xfrm>
            <a:off x="8832850" y="1808164"/>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rcv </a:t>
            </a:r>
            <a:r>
              <a:rPr b="0" i="0" lang="en-US" sz="1400" u="none" cap="none" strike="noStrike">
                <a:solidFill>
                  <a:schemeClr val="dk1"/>
                </a:solidFill>
                <a:latin typeface="Courier New"/>
                <a:ea typeface="Courier New"/>
                <a:cs typeface="Courier New"/>
                <a:sym typeface="Courier New"/>
              </a:rPr>
              <a:t>pkt0</a:t>
            </a:r>
            <a:r>
              <a:rPr b="0" i="0" lang="en-US" sz="1400" u="none" cap="none" strike="noStrike">
                <a:solidFill>
                  <a:schemeClr val="dk1"/>
                </a:solidFill>
                <a:latin typeface="Times New Roman"/>
                <a:ea typeface="Times New Roman"/>
                <a:cs typeface="Times New Roman"/>
                <a:sym typeface="Times New Roman"/>
              </a:rPr>
              <a:t>, send </a:t>
            </a:r>
            <a:r>
              <a:rPr b="0" i="0" lang="en-US" sz="1400" u="none" cap="none" strike="noStrike">
                <a:solidFill>
                  <a:schemeClr val="dk1"/>
                </a:solidFill>
                <a:latin typeface="Courier New"/>
                <a:ea typeface="Courier New"/>
                <a:cs typeface="Courier New"/>
                <a:sym typeface="Courier New"/>
              </a:rPr>
              <a:t>NAK0</a:t>
            </a:r>
            <a:endParaRPr/>
          </a:p>
        </p:txBody>
      </p:sp>
      <p:sp>
        <p:nvSpPr>
          <p:cNvPr id="4309" name="Google Shape;4309;p66"/>
          <p:cNvSpPr/>
          <p:nvPr/>
        </p:nvSpPr>
        <p:spPr>
          <a:xfrm>
            <a:off x="6980239" y="3851276"/>
            <a:ext cx="1798637" cy="1209675"/>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4310" name="Google Shape;4310;p66"/>
          <p:cNvCxnSpPr/>
          <p:nvPr/>
        </p:nvCxnSpPr>
        <p:spPr>
          <a:xfrm>
            <a:off x="6972301" y="2643189"/>
            <a:ext cx="1806575" cy="604837"/>
          </a:xfrm>
          <a:prstGeom prst="straightConnector1">
            <a:avLst/>
          </a:prstGeom>
          <a:noFill/>
          <a:ln cap="flat" cmpd="sng" w="28575">
            <a:solidFill>
              <a:schemeClr val="dk1"/>
            </a:solidFill>
            <a:prstDash val="solid"/>
            <a:round/>
            <a:headEnd len="med" w="med" type="none"/>
            <a:tailEnd len="lg" w="lg" type="stealth"/>
          </a:ln>
        </p:spPr>
      </p:cxnSp>
      <p:sp>
        <p:nvSpPr>
          <p:cNvPr id="4311" name="Google Shape;4311;p66"/>
          <p:cNvSpPr/>
          <p:nvPr/>
        </p:nvSpPr>
        <p:spPr>
          <a:xfrm>
            <a:off x="5591175" y="2981325"/>
            <a:ext cx="1373188"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312" name="Google Shape;4312;p66"/>
          <p:cNvSpPr txBox="1"/>
          <p:nvPr/>
        </p:nvSpPr>
        <p:spPr>
          <a:xfrm>
            <a:off x="6040438" y="2854326"/>
            <a:ext cx="493712"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(S2)</a:t>
            </a:r>
            <a:endParaRPr/>
          </a:p>
        </p:txBody>
      </p:sp>
      <p:sp>
        <p:nvSpPr>
          <p:cNvPr id="4313" name="Google Shape;4313;p66"/>
          <p:cNvSpPr/>
          <p:nvPr/>
        </p:nvSpPr>
        <p:spPr>
          <a:xfrm>
            <a:off x="8888413" y="2987676"/>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314" name="Google Shape;4314;p66"/>
          <p:cNvSpPr txBox="1"/>
          <p:nvPr/>
        </p:nvSpPr>
        <p:spPr>
          <a:xfrm>
            <a:off x="9190038" y="2857500"/>
            <a:ext cx="514350"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(R1)</a:t>
            </a:r>
            <a:endParaRPr/>
          </a:p>
        </p:txBody>
      </p:sp>
      <p:cxnSp>
        <p:nvCxnSpPr>
          <p:cNvPr id="4315" name="Google Shape;4315;p66"/>
          <p:cNvCxnSpPr/>
          <p:nvPr/>
        </p:nvCxnSpPr>
        <p:spPr>
          <a:xfrm>
            <a:off x="6967538" y="1223963"/>
            <a:ext cx="0" cy="5518150"/>
          </a:xfrm>
          <a:prstGeom prst="straightConnector1">
            <a:avLst/>
          </a:prstGeom>
          <a:noFill/>
          <a:ln cap="flat" cmpd="sng" w="9525">
            <a:solidFill>
              <a:schemeClr val="dk1"/>
            </a:solidFill>
            <a:prstDash val="dash"/>
            <a:round/>
            <a:headEnd len="med" w="med" type="none"/>
            <a:tailEnd len="med" w="med" type="none"/>
          </a:ln>
        </p:spPr>
      </p:cxnSp>
      <p:sp>
        <p:nvSpPr>
          <p:cNvPr id="4316" name="Google Shape;4316;p66"/>
          <p:cNvSpPr txBox="1"/>
          <p:nvPr/>
        </p:nvSpPr>
        <p:spPr>
          <a:xfrm rot="-5400000">
            <a:off x="4751388" y="4349751"/>
            <a:ext cx="9207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2</a:t>
            </a:r>
            <a:endParaRPr/>
          </a:p>
        </p:txBody>
      </p:sp>
      <p:grpSp>
        <p:nvGrpSpPr>
          <p:cNvPr id="4317" name="Google Shape;4317;p66"/>
          <p:cNvGrpSpPr/>
          <p:nvPr/>
        </p:nvGrpSpPr>
        <p:grpSpPr>
          <a:xfrm>
            <a:off x="5383213" y="3860801"/>
            <a:ext cx="207962" cy="1255713"/>
            <a:chOff x="2524123" y="2565535"/>
            <a:chExt cx="208492" cy="1256451"/>
          </a:xfrm>
        </p:grpSpPr>
        <p:cxnSp>
          <p:nvCxnSpPr>
            <p:cNvPr id="4318" name="Google Shape;4318;p66"/>
            <p:cNvCxnSpPr/>
            <p:nvPr/>
          </p:nvCxnSpPr>
          <p:spPr>
            <a:xfrm flipH="1">
              <a:off x="2524123" y="2565535"/>
              <a:ext cx="3228" cy="1256451"/>
            </a:xfrm>
            <a:prstGeom prst="straightConnector1">
              <a:avLst/>
            </a:prstGeom>
            <a:noFill/>
            <a:ln cap="flat" cmpd="sng" w="9525">
              <a:solidFill>
                <a:schemeClr val="dk1"/>
              </a:solidFill>
              <a:prstDash val="solid"/>
              <a:round/>
              <a:headEnd len="med" w="med" type="none"/>
              <a:tailEnd len="med" w="med" type="none"/>
            </a:ln>
          </p:spPr>
        </p:cxnSp>
        <p:cxnSp>
          <p:nvCxnSpPr>
            <p:cNvPr id="4319" name="Google Shape;4319;p66"/>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320" name="Google Shape;4320;p66"/>
            <p:cNvCxnSpPr/>
            <p:nvPr/>
          </p:nvCxnSpPr>
          <p:spPr>
            <a:xfrm>
              <a:off x="2525301" y="3819674"/>
              <a:ext cx="205267" cy="0"/>
            </a:xfrm>
            <a:prstGeom prst="straightConnector1">
              <a:avLst/>
            </a:prstGeom>
            <a:noFill/>
            <a:ln cap="flat" cmpd="sng" w="9525">
              <a:solidFill>
                <a:schemeClr val="dk1"/>
              </a:solidFill>
              <a:prstDash val="solid"/>
              <a:round/>
              <a:headEnd len="med" w="med" type="none"/>
              <a:tailEnd len="med" w="med" type="none"/>
            </a:ln>
          </p:spPr>
        </p:cxnSp>
      </p:grpSp>
      <p:sp>
        <p:nvSpPr>
          <p:cNvPr id="4321" name="Google Shape;4321;p66"/>
          <p:cNvSpPr/>
          <p:nvPr/>
        </p:nvSpPr>
        <p:spPr>
          <a:xfrm>
            <a:off x="8891589" y="3608389"/>
            <a:ext cx="1512887"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322" name="Google Shape;4322;p66"/>
          <p:cNvSpPr txBox="1"/>
          <p:nvPr/>
        </p:nvSpPr>
        <p:spPr>
          <a:xfrm>
            <a:off x="9194801" y="3478214"/>
            <a:ext cx="51276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(R2)</a:t>
            </a:r>
            <a:endParaRPr/>
          </a:p>
        </p:txBody>
      </p:sp>
      <p:cxnSp>
        <p:nvCxnSpPr>
          <p:cNvPr id="4323" name="Google Shape;4323;p66"/>
          <p:cNvCxnSpPr/>
          <p:nvPr/>
        </p:nvCxnSpPr>
        <p:spPr>
          <a:xfrm>
            <a:off x="6988175" y="3881439"/>
            <a:ext cx="1403350" cy="593725"/>
          </a:xfrm>
          <a:prstGeom prst="straightConnector1">
            <a:avLst/>
          </a:prstGeom>
          <a:noFill/>
          <a:ln cap="flat" cmpd="sng" w="28575">
            <a:solidFill>
              <a:schemeClr val="dk1"/>
            </a:solidFill>
            <a:prstDash val="solid"/>
            <a:round/>
            <a:headEnd len="med" w="med" type="none"/>
            <a:tailEnd len="lg" w="lg" type="stealth"/>
          </a:ln>
        </p:spPr>
      </p:cxnSp>
      <p:cxnSp>
        <p:nvCxnSpPr>
          <p:cNvPr id="4324" name="Google Shape;4324;p66"/>
          <p:cNvCxnSpPr/>
          <p:nvPr/>
        </p:nvCxnSpPr>
        <p:spPr>
          <a:xfrm flipH="1">
            <a:off x="6961188" y="5716589"/>
            <a:ext cx="1797050" cy="509587"/>
          </a:xfrm>
          <a:prstGeom prst="straightConnector1">
            <a:avLst/>
          </a:prstGeom>
          <a:noFill/>
          <a:ln cap="flat" cmpd="sng" w="28575">
            <a:solidFill>
              <a:schemeClr val="dk1"/>
            </a:solidFill>
            <a:prstDash val="solid"/>
            <a:round/>
            <a:headEnd len="med" w="med" type="none"/>
            <a:tailEnd len="lg" w="lg" type="stealth"/>
          </a:ln>
        </p:spPr>
      </p:cxnSp>
      <p:sp>
        <p:nvSpPr>
          <p:cNvPr id="4325" name="Google Shape;4325;p66"/>
          <p:cNvSpPr txBox="1"/>
          <p:nvPr/>
        </p:nvSpPr>
        <p:spPr>
          <a:xfrm>
            <a:off x="8177213" y="4505326"/>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Y</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grpSp>
        <p:nvGrpSpPr>
          <p:cNvPr id="4326" name="Google Shape;4326;p66"/>
          <p:cNvGrpSpPr/>
          <p:nvPr/>
        </p:nvGrpSpPr>
        <p:grpSpPr>
          <a:xfrm>
            <a:off x="5400676" y="2613026"/>
            <a:ext cx="207963" cy="619125"/>
            <a:chOff x="2525301" y="2572305"/>
            <a:chExt cx="207314" cy="618591"/>
          </a:xfrm>
        </p:grpSpPr>
        <p:cxnSp>
          <p:nvCxnSpPr>
            <p:cNvPr id="4327" name="Google Shape;4327;p66"/>
            <p:cNvCxnSpPr/>
            <p:nvPr/>
          </p:nvCxnSpPr>
          <p:spPr>
            <a:xfrm>
              <a:off x="2532013" y="2572305"/>
              <a:ext cx="0" cy="616450"/>
            </a:xfrm>
            <a:prstGeom prst="straightConnector1">
              <a:avLst/>
            </a:prstGeom>
            <a:noFill/>
            <a:ln cap="flat" cmpd="sng" w="9525">
              <a:solidFill>
                <a:schemeClr val="dk1"/>
              </a:solidFill>
              <a:prstDash val="solid"/>
              <a:round/>
              <a:headEnd len="med" w="med" type="none"/>
              <a:tailEnd len="med" w="med" type="none"/>
            </a:ln>
          </p:spPr>
        </p:cxnSp>
        <p:cxnSp>
          <p:nvCxnSpPr>
            <p:cNvPr id="4328" name="Google Shape;4328;p66"/>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329" name="Google Shape;4329;p66"/>
            <p:cNvCxnSpPr/>
            <p:nvPr/>
          </p:nvCxnSpPr>
          <p:spPr>
            <a:xfrm>
              <a:off x="2525301" y="3190896"/>
              <a:ext cx="205267" cy="0"/>
            </a:xfrm>
            <a:prstGeom prst="straightConnector1">
              <a:avLst/>
            </a:prstGeom>
            <a:noFill/>
            <a:ln cap="flat" cmpd="sng" w="9525">
              <a:solidFill>
                <a:schemeClr val="dk1"/>
              </a:solidFill>
              <a:prstDash val="solid"/>
              <a:round/>
              <a:headEnd len="med" w="med" type="none"/>
              <a:tailEnd len="med" w="med" type="none"/>
            </a:ln>
          </p:spPr>
        </p:cxnSp>
      </p:grpSp>
      <p:cxnSp>
        <p:nvCxnSpPr>
          <p:cNvPr id="4330" name="Google Shape;4330;p66"/>
          <p:cNvCxnSpPr/>
          <p:nvPr/>
        </p:nvCxnSpPr>
        <p:spPr>
          <a:xfrm>
            <a:off x="6969125" y="5081589"/>
            <a:ext cx="1804988" cy="604837"/>
          </a:xfrm>
          <a:prstGeom prst="straightConnector1">
            <a:avLst/>
          </a:prstGeom>
          <a:noFill/>
          <a:ln cap="flat" cmpd="sng" w="28575">
            <a:solidFill>
              <a:schemeClr val="dk1"/>
            </a:solidFill>
            <a:prstDash val="solid"/>
            <a:round/>
            <a:headEnd len="med" w="med" type="none"/>
            <a:tailEnd len="lg" w="lg" type="stealth"/>
          </a:ln>
        </p:spPr>
      </p:cxnSp>
      <p:sp>
        <p:nvSpPr>
          <p:cNvPr id="4331" name="Google Shape;4331;p66"/>
          <p:cNvSpPr/>
          <p:nvPr/>
        </p:nvSpPr>
        <p:spPr>
          <a:xfrm>
            <a:off x="5545139" y="4872039"/>
            <a:ext cx="1374775"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332" name="Google Shape;4332;p66"/>
          <p:cNvSpPr txBox="1"/>
          <p:nvPr/>
        </p:nvSpPr>
        <p:spPr>
          <a:xfrm>
            <a:off x="6045201" y="4745039"/>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(S4)</a:t>
            </a:r>
            <a:endParaRPr/>
          </a:p>
        </p:txBody>
      </p:sp>
      <p:sp>
        <p:nvSpPr>
          <p:cNvPr id="4333" name="Google Shape;4333;p66"/>
          <p:cNvSpPr txBox="1"/>
          <p:nvPr/>
        </p:nvSpPr>
        <p:spPr>
          <a:xfrm rot="-5400000">
            <a:off x="4804569" y="2777331"/>
            <a:ext cx="920750" cy="3063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1</a:t>
            </a:r>
            <a:endParaRPr/>
          </a:p>
        </p:txBody>
      </p:sp>
      <p:cxnSp>
        <p:nvCxnSpPr>
          <p:cNvPr id="4334" name="Google Shape;4334;p66"/>
          <p:cNvCxnSpPr/>
          <p:nvPr/>
        </p:nvCxnSpPr>
        <p:spPr>
          <a:xfrm flipH="1">
            <a:off x="7405689" y="3887788"/>
            <a:ext cx="1323975" cy="563562"/>
          </a:xfrm>
          <a:prstGeom prst="straightConnector1">
            <a:avLst/>
          </a:prstGeom>
          <a:noFill/>
          <a:ln cap="flat" cmpd="sng" w="28575">
            <a:solidFill>
              <a:schemeClr val="dk1"/>
            </a:solidFill>
            <a:prstDash val="solid"/>
            <a:round/>
            <a:headEnd len="med" w="med" type="none"/>
            <a:tailEnd len="lg" w="lg" type="stealth"/>
          </a:ln>
        </p:spPr>
      </p:cxnSp>
      <p:sp>
        <p:nvSpPr>
          <p:cNvPr id="4335" name="Google Shape;4335;p66"/>
          <p:cNvSpPr txBox="1"/>
          <p:nvPr/>
        </p:nvSpPr>
        <p:spPr>
          <a:xfrm>
            <a:off x="6977063" y="4513264"/>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X</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cxnSp>
        <p:nvCxnSpPr>
          <p:cNvPr id="4336" name="Google Shape;4336;p66"/>
          <p:cNvCxnSpPr/>
          <p:nvPr/>
        </p:nvCxnSpPr>
        <p:spPr>
          <a:xfrm flipH="1">
            <a:off x="7019926" y="2052638"/>
            <a:ext cx="1636713" cy="546100"/>
          </a:xfrm>
          <a:prstGeom prst="straightConnector1">
            <a:avLst/>
          </a:prstGeom>
          <a:noFill/>
          <a:ln cap="flat" cmpd="sng" w="28575">
            <a:solidFill>
              <a:schemeClr val="dk1"/>
            </a:solidFill>
            <a:prstDash val="solid"/>
            <a:round/>
            <a:headEnd len="med" w="med" type="none"/>
            <a:tailEnd len="lg" w="lg" type="stealth"/>
          </a:ln>
        </p:spPr>
      </p:cxnSp>
      <p:cxnSp>
        <p:nvCxnSpPr>
          <p:cNvPr id="4337" name="Google Shape;4337;p66"/>
          <p:cNvCxnSpPr/>
          <p:nvPr/>
        </p:nvCxnSpPr>
        <p:spPr>
          <a:xfrm>
            <a:off x="6980239" y="3194050"/>
            <a:ext cx="1806575" cy="604838"/>
          </a:xfrm>
          <a:prstGeom prst="straightConnector1">
            <a:avLst/>
          </a:prstGeom>
          <a:noFill/>
          <a:ln cap="flat" cmpd="sng" w="28575">
            <a:solidFill>
              <a:schemeClr val="dk1"/>
            </a:solidFill>
            <a:prstDash val="solid"/>
            <a:round/>
            <a:headEnd len="med" w="med" type="none"/>
            <a:tailEnd len="lg" w="lg" type="stealth"/>
          </a:ln>
        </p:spPr>
      </p:cxnSp>
      <p:sp>
        <p:nvSpPr>
          <p:cNvPr id="4338" name="Google Shape;4338;p66"/>
          <p:cNvSpPr/>
          <p:nvPr/>
        </p:nvSpPr>
        <p:spPr>
          <a:xfrm>
            <a:off x="8958263" y="54371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339" name="Google Shape;4339;p66"/>
          <p:cNvSpPr txBox="1"/>
          <p:nvPr/>
        </p:nvSpPr>
        <p:spPr>
          <a:xfrm>
            <a:off x="9259888" y="53070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(R3)</a:t>
            </a:r>
            <a:endParaRPr/>
          </a:p>
        </p:txBody>
      </p:sp>
      <p:sp>
        <p:nvSpPr>
          <p:cNvPr id="4340" name="Google Shape;4340;p66"/>
          <p:cNvSpPr/>
          <p:nvPr/>
        </p:nvSpPr>
        <p:spPr>
          <a:xfrm>
            <a:off x="5595939" y="3613150"/>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341" name="Google Shape;4341;p66"/>
          <p:cNvSpPr txBox="1"/>
          <p:nvPr/>
        </p:nvSpPr>
        <p:spPr>
          <a:xfrm>
            <a:off x="6045201" y="3487739"/>
            <a:ext cx="493713"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(S3)</a:t>
            </a:r>
            <a:endParaRPr/>
          </a:p>
        </p:txBody>
      </p:sp>
      <p:cxnSp>
        <p:nvCxnSpPr>
          <p:cNvPr id="4342" name="Google Shape;4342;p66"/>
          <p:cNvCxnSpPr/>
          <p:nvPr/>
        </p:nvCxnSpPr>
        <p:spPr>
          <a:xfrm flipH="1">
            <a:off x="7015163" y="3317875"/>
            <a:ext cx="1636712" cy="546100"/>
          </a:xfrm>
          <a:prstGeom prst="straightConnector1">
            <a:avLst/>
          </a:prstGeom>
          <a:noFill/>
          <a:ln cap="flat" cmpd="sng" w="28575">
            <a:solidFill>
              <a:schemeClr val="dk1"/>
            </a:solidFill>
            <a:prstDash val="solid"/>
            <a:round/>
            <a:headEnd len="med" w="med" type="none"/>
            <a:tailEnd len="lg" w="lg" type="stealth"/>
          </a:ln>
        </p:spPr>
      </p:cxnSp>
      <p:sp>
        <p:nvSpPr>
          <p:cNvPr id="4343" name="Google Shape;4343;p66"/>
          <p:cNvSpPr/>
          <p:nvPr/>
        </p:nvSpPr>
        <p:spPr>
          <a:xfrm>
            <a:off x="5575300" y="6034089"/>
            <a:ext cx="1373188"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344" name="Google Shape;4344;p66"/>
          <p:cNvSpPr txBox="1"/>
          <p:nvPr/>
        </p:nvSpPr>
        <p:spPr>
          <a:xfrm>
            <a:off x="6073776" y="5908675"/>
            <a:ext cx="493713"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(S5)</a:t>
            </a:r>
            <a:endParaRPr/>
          </a:p>
        </p:txBody>
      </p:sp>
      <p:cxnSp>
        <p:nvCxnSpPr>
          <p:cNvPr id="4345" name="Google Shape;4345;p66"/>
          <p:cNvCxnSpPr/>
          <p:nvPr/>
        </p:nvCxnSpPr>
        <p:spPr>
          <a:xfrm>
            <a:off x="6972301" y="6253164"/>
            <a:ext cx="1776413" cy="428625"/>
          </a:xfrm>
          <a:prstGeom prst="straightConnector1">
            <a:avLst/>
          </a:prstGeom>
          <a:noFill/>
          <a:ln cap="flat" cmpd="sng" w="28575">
            <a:solidFill>
              <a:schemeClr val="dk1"/>
            </a:solidFill>
            <a:prstDash val="solid"/>
            <a:round/>
            <a:headEnd len="med" w="med" type="none"/>
            <a:tailEnd len="lg" w="lg" type="stealth"/>
          </a:ln>
        </p:spPr>
      </p:cxnSp>
      <p:sp>
        <p:nvSpPr>
          <p:cNvPr id="4346" name="Google Shape;4346;p66"/>
          <p:cNvSpPr/>
          <p:nvPr/>
        </p:nvSpPr>
        <p:spPr>
          <a:xfrm>
            <a:off x="8913813" y="64404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347" name="Google Shape;4347;p66"/>
          <p:cNvSpPr txBox="1"/>
          <p:nvPr/>
        </p:nvSpPr>
        <p:spPr>
          <a:xfrm>
            <a:off x="9215438" y="63103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(R4)</a:t>
            </a:r>
            <a:endParaRPr/>
          </a:p>
        </p:txBody>
      </p:sp>
      <p:grpSp>
        <p:nvGrpSpPr>
          <p:cNvPr id="4348" name="Google Shape;4348;p66"/>
          <p:cNvGrpSpPr/>
          <p:nvPr/>
        </p:nvGrpSpPr>
        <p:grpSpPr>
          <a:xfrm>
            <a:off x="8220481" y="-249778"/>
            <a:ext cx="2461403" cy="1558421"/>
            <a:chOff x="6697235" y="-249764"/>
            <a:chExt cx="2460203" cy="1558188"/>
          </a:xfrm>
        </p:grpSpPr>
        <p:sp>
          <p:nvSpPr>
            <p:cNvPr id="4349" name="Google Shape;4349;p66"/>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b="0" i="0" sz="2400" u="none" cap="none" strike="noStrike">
                <a:solidFill>
                  <a:schemeClr val="dk1"/>
                </a:solidFill>
                <a:latin typeface="Comic Sans MS"/>
                <a:ea typeface="Comic Sans MS"/>
                <a:cs typeface="Comic Sans MS"/>
                <a:sym typeface="Comic Sans MS"/>
              </a:endParaRPr>
            </a:p>
          </p:txBody>
        </p:sp>
        <p:sp>
          <p:nvSpPr>
            <p:cNvPr id="4350" name="Google Shape;4350;p66"/>
            <p:cNvSpPr txBox="1"/>
            <p:nvPr/>
          </p:nvSpPr>
          <p:spPr>
            <a:xfrm>
              <a:off x="7216423" y="342294"/>
              <a:ext cx="126028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Noto Sans Symbols"/>
                <a:buNone/>
              </a:pPr>
              <a:r>
                <a:rPr b="1" i="0" lang="en-US" sz="1600" u="none" cap="none" strike="noStrike">
                  <a:solidFill>
                    <a:srgbClr val="FF0000"/>
                  </a:solidFill>
                  <a:latin typeface="Tahoma"/>
                  <a:ea typeface="Tahoma"/>
                  <a:cs typeface="Tahoma"/>
                  <a:sym typeface="Tahoma"/>
                </a:rPr>
                <a:t>Self-Study</a:t>
              </a:r>
              <a:endParaRPr/>
            </a:p>
          </p:txBody>
        </p:sp>
      </p:grpSp>
      <p:sp>
        <p:nvSpPr>
          <p:cNvPr id="4351" name="Google Shape;4351;p6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5" name="Shape 4355"/>
        <p:cNvGrpSpPr/>
        <p:nvPr/>
      </p:nvGrpSpPr>
      <p:grpSpPr>
        <a:xfrm>
          <a:off x="0" y="0"/>
          <a:ext cx="0" cy="0"/>
          <a:chOff x="0" y="0"/>
          <a:chExt cx="0" cy="0"/>
        </a:xfrm>
      </p:grpSpPr>
      <p:sp>
        <p:nvSpPr>
          <p:cNvPr id="4356" name="Google Shape;4356;p67"/>
          <p:cNvSpPr txBox="1"/>
          <p:nvPr/>
        </p:nvSpPr>
        <p:spPr>
          <a:xfrm>
            <a:off x="1849439" y="1441450"/>
            <a:ext cx="3163887" cy="52403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1" i="0" lang="en-US" sz="2200" u="sng" cap="none" strike="noStrike">
                <a:solidFill>
                  <a:srgbClr val="FF0000"/>
                </a:solidFill>
                <a:latin typeface="Arial"/>
                <a:ea typeface="Arial"/>
                <a:cs typeface="Arial"/>
                <a:sym typeface="Arial"/>
              </a:rPr>
              <a:t>Solutions:</a:t>
            </a:r>
            <a:endParaRPr/>
          </a:p>
          <a:p>
            <a:pPr indent="0" lvl="0" marL="0" marR="0" rtl="0" algn="l">
              <a:lnSpc>
                <a:spcPct val="100000"/>
              </a:lnSpc>
              <a:spcBef>
                <a:spcPts val="440"/>
              </a:spcBef>
              <a:spcAft>
                <a:spcPts val="0"/>
              </a:spcAft>
              <a:buClr>
                <a:srgbClr val="000099"/>
              </a:buClr>
              <a:buSzPts val="1430"/>
              <a:buFont typeface="Noto Sans Symbols"/>
              <a:buNone/>
            </a:pPr>
            <a:r>
              <a:t/>
            </a:r>
            <a:endParaRPr b="1" i="0" sz="2200" u="sng" cap="none" strike="noStrike">
              <a:solidFill>
                <a:srgbClr val="FF0000"/>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A5A5A5"/>
                </a:solidFill>
                <a:latin typeface="Arial"/>
                <a:ea typeface="Arial"/>
                <a:cs typeface="Arial"/>
                <a:sym typeface="Arial"/>
              </a:rPr>
              <a:t>(in figure)</a:t>
            </a:r>
            <a:endParaRPr/>
          </a:p>
          <a:p>
            <a:pPr indent="-317500" lvl="0" marL="457200" marR="0" rtl="0" algn="l">
              <a:lnSpc>
                <a:spcPct val="100000"/>
              </a:lnSpc>
              <a:spcBef>
                <a:spcPts val="440"/>
              </a:spcBef>
              <a:spcAft>
                <a:spcPts val="0"/>
              </a:spcAft>
              <a:buClr>
                <a:schemeClr val="dk1"/>
              </a:buClr>
              <a:buSzPts val="2200"/>
              <a:buFont typeface="Noto Sans Symbols"/>
              <a:buNone/>
            </a:pPr>
            <a:r>
              <a:t/>
            </a:r>
            <a:endParaRPr b="0" i="0" sz="2200" u="none" cap="none" strike="noStrike">
              <a:solidFill>
                <a:srgbClr val="A5A5A5"/>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A5A5A5"/>
                </a:solidFill>
                <a:latin typeface="Arial"/>
                <a:ea typeface="Arial"/>
                <a:cs typeface="Arial"/>
                <a:sym typeface="Arial"/>
              </a:rPr>
              <a:t>X – </a:t>
            </a:r>
            <a:r>
              <a:rPr b="0" i="0" lang="en-US" sz="2200" u="none" cap="none" strike="noStrike">
                <a:solidFill>
                  <a:srgbClr val="A5A5A5"/>
                </a:solidFill>
                <a:latin typeface="Courier New"/>
                <a:ea typeface="Courier New"/>
                <a:cs typeface="Courier New"/>
                <a:sym typeface="Courier New"/>
              </a:rPr>
              <a:t>ACK</a:t>
            </a:r>
            <a:r>
              <a:rPr b="0" i="0" lang="en-US" sz="2200" u="none" cap="none" strike="noStrike">
                <a:solidFill>
                  <a:srgbClr val="A5A5A5"/>
                </a:solidFill>
                <a:latin typeface="Arial"/>
                <a:ea typeface="Arial"/>
                <a:cs typeface="Arial"/>
                <a:sym typeface="Arial"/>
              </a:rPr>
              <a:t> loss,         Y – packet loss</a:t>
            </a:r>
            <a:endParaRPr/>
          </a:p>
          <a:p>
            <a:pPr indent="-317500" lvl="0" marL="457200" marR="0" rtl="0" algn="l">
              <a:lnSpc>
                <a:spcPct val="100000"/>
              </a:lnSpc>
              <a:spcBef>
                <a:spcPts val="440"/>
              </a:spcBef>
              <a:spcAft>
                <a:spcPts val="0"/>
              </a:spcAft>
              <a:buClr>
                <a:schemeClr val="dk1"/>
              </a:buClr>
              <a:buSzPts val="2200"/>
              <a:buFont typeface="Noto Sans Symbols"/>
              <a:buNone/>
            </a:pPr>
            <a:r>
              <a:t/>
            </a:r>
            <a:endParaRPr b="0" i="0" sz="2200" u="none" cap="none" strike="noStrike">
              <a:solidFill>
                <a:srgbClr val="A5A5A5"/>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rgbClr val="A5A5A5"/>
                </a:solidFill>
                <a:latin typeface="Arial"/>
                <a:ea typeface="Arial"/>
                <a:cs typeface="Arial"/>
                <a:sym typeface="Arial"/>
              </a:rPr>
              <a:t>Premature timeout</a:t>
            </a:r>
            <a:endParaRPr/>
          </a:p>
          <a:p>
            <a:pPr indent="-317500" lvl="0" marL="457200" marR="0" rtl="0" algn="l">
              <a:lnSpc>
                <a:spcPct val="100000"/>
              </a:lnSpc>
              <a:spcBef>
                <a:spcPts val="440"/>
              </a:spcBef>
              <a:spcAft>
                <a:spcPts val="0"/>
              </a:spcAft>
              <a:buClr>
                <a:schemeClr val="dk1"/>
              </a:buClr>
              <a:buSzPts val="2200"/>
              <a:buFont typeface="Noto Sans Symbols"/>
              <a:buNone/>
            </a:pPr>
            <a:r>
              <a:t/>
            </a:r>
            <a:endParaRPr b="0" i="0" sz="2200" u="none" cap="none" strike="noStrike">
              <a:solidFill>
                <a:schemeClr val="dk1"/>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b="0" i="0" lang="en-US" sz="2200" u="none" cap="none" strike="noStrike">
                <a:solidFill>
                  <a:schemeClr val="dk1"/>
                </a:solidFill>
                <a:latin typeface="Arial"/>
                <a:ea typeface="Arial"/>
                <a:cs typeface="Arial"/>
                <a:sym typeface="Arial"/>
              </a:rPr>
              <a:t>Yes. Duplicate packet 0 detected  at </a:t>
            </a:r>
            <a:r>
              <a:rPr b="1" i="0" lang="en-US" sz="2200" u="none" cap="none" strike="noStrike">
                <a:solidFill>
                  <a:srgbClr val="0070C0"/>
                </a:solidFill>
                <a:latin typeface="Arial"/>
                <a:ea typeface="Arial"/>
                <a:cs typeface="Arial"/>
                <a:sym typeface="Arial"/>
              </a:rPr>
              <a:t>R2</a:t>
            </a:r>
            <a:r>
              <a:rPr b="0" i="0" lang="en-US" sz="2200" u="none" cap="none" strike="noStrike">
                <a:solidFill>
                  <a:schemeClr val="dk1"/>
                </a:solidFill>
                <a:latin typeface="Arial"/>
                <a:ea typeface="Arial"/>
                <a:cs typeface="Arial"/>
                <a:sym typeface="Arial"/>
              </a:rPr>
              <a:t>.</a:t>
            </a:r>
            <a:endParaRPr/>
          </a:p>
        </p:txBody>
      </p:sp>
      <p:sp>
        <p:nvSpPr>
          <p:cNvPr id="4357" name="Google Shape;4357;p67"/>
          <p:cNvSpPr/>
          <p:nvPr/>
        </p:nvSpPr>
        <p:spPr>
          <a:xfrm flipH="1" rot="10800000">
            <a:off x="6959600" y="6273800"/>
            <a:ext cx="1798638" cy="469900"/>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sp>
        <p:nvSpPr>
          <p:cNvPr id="4358" name="Google Shape;4358;p67"/>
          <p:cNvSpPr/>
          <p:nvPr/>
        </p:nvSpPr>
        <p:spPr>
          <a:xfrm>
            <a:off x="6988175" y="1406525"/>
            <a:ext cx="1798638" cy="1208088"/>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4359" name="Google Shape;4359;p67"/>
          <p:cNvCxnSpPr/>
          <p:nvPr/>
        </p:nvCxnSpPr>
        <p:spPr>
          <a:xfrm>
            <a:off x="8797925" y="1225550"/>
            <a:ext cx="0" cy="5518150"/>
          </a:xfrm>
          <a:prstGeom prst="straightConnector1">
            <a:avLst/>
          </a:prstGeom>
          <a:noFill/>
          <a:ln cap="flat" cmpd="sng" w="9525">
            <a:solidFill>
              <a:schemeClr val="dk1"/>
            </a:solidFill>
            <a:prstDash val="dash"/>
            <a:round/>
            <a:headEnd len="med" w="med" type="none"/>
            <a:tailEnd len="med" w="med" type="none"/>
          </a:ln>
        </p:spPr>
      </p:cxnSp>
      <p:cxnSp>
        <p:nvCxnSpPr>
          <p:cNvPr id="4360" name="Google Shape;4360;p67"/>
          <p:cNvCxnSpPr>
            <a:endCxn id="4358" idx="3"/>
          </p:cNvCxnSpPr>
          <p:nvPr/>
        </p:nvCxnSpPr>
        <p:spPr>
          <a:xfrm>
            <a:off x="6980213" y="1405769"/>
            <a:ext cx="1806600" cy="604800"/>
          </a:xfrm>
          <a:prstGeom prst="straightConnector1">
            <a:avLst/>
          </a:prstGeom>
          <a:noFill/>
          <a:ln cap="flat" cmpd="sng" w="28575">
            <a:solidFill>
              <a:schemeClr val="dk1"/>
            </a:solidFill>
            <a:prstDash val="solid"/>
            <a:round/>
            <a:headEnd len="med" w="med" type="none"/>
            <a:tailEnd len="lg" w="lg" type="stealth"/>
          </a:ln>
        </p:spPr>
      </p:cxnSp>
      <p:sp>
        <p:nvSpPr>
          <p:cNvPr id="4361" name="Google Shape;4361;p67"/>
          <p:cNvSpPr txBox="1"/>
          <p:nvPr/>
        </p:nvSpPr>
        <p:spPr>
          <a:xfrm>
            <a:off x="6556375" y="796926"/>
            <a:ext cx="795338"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Sender</a:t>
            </a:r>
            <a:endParaRPr/>
          </a:p>
        </p:txBody>
      </p:sp>
      <p:sp>
        <p:nvSpPr>
          <p:cNvPr id="4362" name="Google Shape;4362;p67"/>
          <p:cNvSpPr txBox="1"/>
          <p:nvPr/>
        </p:nvSpPr>
        <p:spPr>
          <a:xfrm>
            <a:off x="8297864" y="798514"/>
            <a:ext cx="94297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1" i="0" lang="en-US" sz="1600" u="sng" cap="none" strike="noStrike">
                <a:solidFill>
                  <a:schemeClr val="dk1"/>
                </a:solidFill>
                <a:latin typeface="Times New Roman"/>
                <a:ea typeface="Times New Roman"/>
                <a:cs typeface="Times New Roman"/>
                <a:sym typeface="Times New Roman"/>
              </a:rPr>
              <a:t>Receiver</a:t>
            </a:r>
            <a:endParaRPr/>
          </a:p>
        </p:txBody>
      </p:sp>
      <p:sp>
        <p:nvSpPr>
          <p:cNvPr id="4363" name="Google Shape;4363;p67"/>
          <p:cNvSpPr txBox="1"/>
          <p:nvPr/>
        </p:nvSpPr>
        <p:spPr>
          <a:xfrm>
            <a:off x="5870576" y="1150939"/>
            <a:ext cx="1019175"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Send </a:t>
            </a:r>
            <a:r>
              <a:rPr b="0" i="0" lang="en-US" sz="1400" u="none" cap="none" strike="noStrike">
                <a:solidFill>
                  <a:schemeClr val="dk1"/>
                </a:solidFill>
                <a:latin typeface="Courier New"/>
                <a:ea typeface="Courier New"/>
                <a:cs typeface="Courier New"/>
                <a:sym typeface="Courier New"/>
              </a:rPr>
              <a:t>pkt0</a:t>
            </a:r>
            <a:endParaRPr/>
          </a:p>
        </p:txBody>
      </p:sp>
      <p:sp>
        <p:nvSpPr>
          <p:cNvPr id="4364" name="Google Shape;4364;p67"/>
          <p:cNvSpPr/>
          <p:nvPr/>
        </p:nvSpPr>
        <p:spPr>
          <a:xfrm>
            <a:off x="5599114" y="2384425"/>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365" name="Google Shape;4365;p67"/>
          <p:cNvSpPr txBox="1"/>
          <p:nvPr/>
        </p:nvSpPr>
        <p:spPr>
          <a:xfrm>
            <a:off x="6048376" y="2257426"/>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(S1)</a:t>
            </a:r>
            <a:endParaRPr/>
          </a:p>
        </p:txBody>
      </p:sp>
      <p:sp>
        <p:nvSpPr>
          <p:cNvPr id="4366" name="Google Shape;4366;p67"/>
          <p:cNvSpPr txBox="1"/>
          <p:nvPr/>
        </p:nvSpPr>
        <p:spPr>
          <a:xfrm>
            <a:off x="8832850" y="1808164"/>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rcv </a:t>
            </a:r>
            <a:r>
              <a:rPr b="0" i="0" lang="en-US" sz="1400" u="none" cap="none" strike="noStrike">
                <a:solidFill>
                  <a:schemeClr val="dk1"/>
                </a:solidFill>
                <a:latin typeface="Courier New"/>
                <a:ea typeface="Courier New"/>
                <a:cs typeface="Courier New"/>
                <a:sym typeface="Courier New"/>
              </a:rPr>
              <a:t>pkt0</a:t>
            </a:r>
            <a:r>
              <a:rPr b="0" i="0" lang="en-US" sz="1400" u="none" cap="none" strike="noStrike">
                <a:solidFill>
                  <a:schemeClr val="dk1"/>
                </a:solidFill>
                <a:latin typeface="Times New Roman"/>
                <a:ea typeface="Times New Roman"/>
                <a:cs typeface="Times New Roman"/>
                <a:sym typeface="Times New Roman"/>
              </a:rPr>
              <a:t>, send </a:t>
            </a:r>
            <a:r>
              <a:rPr b="0" i="0" lang="en-US" sz="1400" u="none" cap="none" strike="noStrike">
                <a:solidFill>
                  <a:schemeClr val="dk1"/>
                </a:solidFill>
                <a:latin typeface="Courier New"/>
                <a:ea typeface="Courier New"/>
                <a:cs typeface="Courier New"/>
                <a:sym typeface="Courier New"/>
              </a:rPr>
              <a:t>NAK0</a:t>
            </a:r>
            <a:endParaRPr/>
          </a:p>
        </p:txBody>
      </p:sp>
      <p:sp>
        <p:nvSpPr>
          <p:cNvPr id="4367" name="Google Shape;4367;p67"/>
          <p:cNvSpPr/>
          <p:nvPr/>
        </p:nvSpPr>
        <p:spPr>
          <a:xfrm>
            <a:off x="6980239" y="3851276"/>
            <a:ext cx="1798637" cy="1209675"/>
          </a:xfrm>
          <a:prstGeom prst="rect">
            <a:avLst/>
          </a:prstGeom>
          <a:solidFill>
            <a:srgbClr val="008000">
              <a:alpha val="29803"/>
            </a:srgbClr>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ahoma"/>
              <a:ea typeface="Tahoma"/>
              <a:cs typeface="Tahoma"/>
              <a:sym typeface="Tahoma"/>
            </a:endParaRPr>
          </a:p>
        </p:txBody>
      </p:sp>
      <p:cxnSp>
        <p:nvCxnSpPr>
          <p:cNvPr id="4368" name="Google Shape;4368;p67"/>
          <p:cNvCxnSpPr/>
          <p:nvPr/>
        </p:nvCxnSpPr>
        <p:spPr>
          <a:xfrm>
            <a:off x="6972301" y="2643189"/>
            <a:ext cx="1806575" cy="604837"/>
          </a:xfrm>
          <a:prstGeom prst="straightConnector1">
            <a:avLst/>
          </a:prstGeom>
          <a:noFill/>
          <a:ln cap="flat" cmpd="sng" w="28575">
            <a:solidFill>
              <a:schemeClr val="dk1"/>
            </a:solidFill>
            <a:prstDash val="solid"/>
            <a:round/>
            <a:headEnd len="med" w="med" type="none"/>
            <a:tailEnd len="lg" w="lg" type="stealth"/>
          </a:ln>
        </p:spPr>
      </p:cxnSp>
      <p:sp>
        <p:nvSpPr>
          <p:cNvPr id="4369" name="Google Shape;4369;p67"/>
          <p:cNvSpPr/>
          <p:nvPr/>
        </p:nvSpPr>
        <p:spPr>
          <a:xfrm>
            <a:off x="5591175" y="2981325"/>
            <a:ext cx="1373188"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370" name="Google Shape;4370;p67"/>
          <p:cNvSpPr txBox="1"/>
          <p:nvPr/>
        </p:nvSpPr>
        <p:spPr>
          <a:xfrm>
            <a:off x="6040438" y="2854326"/>
            <a:ext cx="493712"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(S2)</a:t>
            </a:r>
            <a:endParaRPr/>
          </a:p>
        </p:txBody>
      </p:sp>
      <p:sp>
        <p:nvSpPr>
          <p:cNvPr id="4371" name="Google Shape;4371;p67"/>
          <p:cNvSpPr/>
          <p:nvPr/>
        </p:nvSpPr>
        <p:spPr>
          <a:xfrm>
            <a:off x="8888413" y="2987676"/>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372" name="Google Shape;4372;p67"/>
          <p:cNvSpPr txBox="1"/>
          <p:nvPr/>
        </p:nvSpPr>
        <p:spPr>
          <a:xfrm>
            <a:off x="9190038" y="2857500"/>
            <a:ext cx="514350"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(R1)</a:t>
            </a:r>
            <a:endParaRPr/>
          </a:p>
        </p:txBody>
      </p:sp>
      <p:cxnSp>
        <p:nvCxnSpPr>
          <p:cNvPr id="4373" name="Google Shape;4373;p67"/>
          <p:cNvCxnSpPr/>
          <p:nvPr/>
        </p:nvCxnSpPr>
        <p:spPr>
          <a:xfrm>
            <a:off x="6967538" y="1223963"/>
            <a:ext cx="0" cy="5518150"/>
          </a:xfrm>
          <a:prstGeom prst="straightConnector1">
            <a:avLst/>
          </a:prstGeom>
          <a:noFill/>
          <a:ln cap="flat" cmpd="sng" w="9525">
            <a:solidFill>
              <a:schemeClr val="dk1"/>
            </a:solidFill>
            <a:prstDash val="dash"/>
            <a:round/>
            <a:headEnd len="med" w="med" type="none"/>
            <a:tailEnd len="med" w="med" type="none"/>
          </a:ln>
        </p:spPr>
      </p:cxnSp>
      <p:sp>
        <p:nvSpPr>
          <p:cNvPr id="4374" name="Google Shape;4374;p67"/>
          <p:cNvSpPr txBox="1"/>
          <p:nvPr/>
        </p:nvSpPr>
        <p:spPr>
          <a:xfrm rot="-5400000">
            <a:off x="4751388" y="4349751"/>
            <a:ext cx="9207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2</a:t>
            </a:r>
            <a:endParaRPr/>
          </a:p>
        </p:txBody>
      </p:sp>
      <p:grpSp>
        <p:nvGrpSpPr>
          <p:cNvPr id="4375" name="Google Shape;4375;p67"/>
          <p:cNvGrpSpPr/>
          <p:nvPr/>
        </p:nvGrpSpPr>
        <p:grpSpPr>
          <a:xfrm>
            <a:off x="5383213" y="3860801"/>
            <a:ext cx="207962" cy="1255713"/>
            <a:chOff x="2524123" y="2565535"/>
            <a:chExt cx="208492" cy="1256451"/>
          </a:xfrm>
        </p:grpSpPr>
        <p:cxnSp>
          <p:nvCxnSpPr>
            <p:cNvPr id="4376" name="Google Shape;4376;p67"/>
            <p:cNvCxnSpPr/>
            <p:nvPr/>
          </p:nvCxnSpPr>
          <p:spPr>
            <a:xfrm flipH="1">
              <a:off x="2524123" y="2565535"/>
              <a:ext cx="3228" cy="1256451"/>
            </a:xfrm>
            <a:prstGeom prst="straightConnector1">
              <a:avLst/>
            </a:prstGeom>
            <a:noFill/>
            <a:ln cap="flat" cmpd="sng" w="9525">
              <a:solidFill>
                <a:schemeClr val="dk1"/>
              </a:solidFill>
              <a:prstDash val="solid"/>
              <a:round/>
              <a:headEnd len="med" w="med" type="none"/>
              <a:tailEnd len="med" w="med" type="none"/>
            </a:ln>
          </p:spPr>
        </p:cxnSp>
        <p:cxnSp>
          <p:nvCxnSpPr>
            <p:cNvPr id="4377" name="Google Shape;4377;p67"/>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378" name="Google Shape;4378;p67"/>
            <p:cNvCxnSpPr/>
            <p:nvPr/>
          </p:nvCxnSpPr>
          <p:spPr>
            <a:xfrm>
              <a:off x="2525301" y="3819674"/>
              <a:ext cx="205267" cy="0"/>
            </a:xfrm>
            <a:prstGeom prst="straightConnector1">
              <a:avLst/>
            </a:prstGeom>
            <a:noFill/>
            <a:ln cap="flat" cmpd="sng" w="9525">
              <a:solidFill>
                <a:schemeClr val="dk1"/>
              </a:solidFill>
              <a:prstDash val="solid"/>
              <a:round/>
              <a:headEnd len="med" w="med" type="none"/>
              <a:tailEnd len="med" w="med" type="none"/>
            </a:ln>
          </p:spPr>
        </p:cxnSp>
      </p:grpSp>
      <p:sp>
        <p:nvSpPr>
          <p:cNvPr id="4379" name="Google Shape;4379;p67"/>
          <p:cNvSpPr/>
          <p:nvPr/>
        </p:nvSpPr>
        <p:spPr>
          <a:xfrm>
            <a:off x="8891589" y="3608389"/>
            <a:ext cx="1512887"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380" name="Google Shape;4380;p67"/>
          <p:cNvSpPr txBox="1"/>
          <p:nvPr/>
        </p:nvSpPr>
        <p:spPr>
          <a:xfrm>
            <a:off x="9194801" y="3478214"/>
            <a:ext cx="51276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(R2)</a:t>
            </a:r>
            <a:endParaRPr/>
          </a:p>
        </p:txBody>
      </p:sp>
      <p:cxnSp>
        <p:nvCxnSpPr>
          <p:cNvPr id="4381" name="Google Shape;4381;p67"/>
          <p:cNvCxnSpPr/>
          <p:nvPr/>
        </p:nvCxnSpPr>
        <p:spPr>
          <a:xfrm>
            <a:off x="6988175" y="3881439"/>
            <a:ext cx="1403350" cy="593725"/>
          </a:xfrm>
          <a:prstGeom prst="straightConnector1">
            <a:avLst/>
          </a:prstGeom>
          <a:noFill/>
          <a:ln cap="flat" cmpd="sng" w="28575">
            <a:solidFill>
              <a:schemeClr val="dk1"/>
            </a:solidFill>
            <a:prstDash val="solid"/>
            <a:round/>
            <a:headEnd len="med" w="med" type="none"/>
            <a:tailEnd len="lg" w="lg" type="stealth"/>
          </a:ln>
        </p:spPr>
      </p:cxnSp>
      <p:cxnSp>
        <p:nvCxnSpPr>
          <p:cNvPr id="4382" name="Google Shape;4382;p67"/>
          <p:cNvCxnSpPr/>
          <p:nvPr/>
        </p:nvCxnSpPr>
        <p:spPr>
          <a:xfrm flipH="1">
            <a:off x="6961188" y="5716589"/>
            <a:ext cx="1797050" cy="509587"/>
          </a:xfrm>
          <a:prstGeom prst="straightConnector1">
            <a:avLst/>
          </a:prstGeom>
          <a:noFill/>
          <a:ln cap="flat" cmpd="sng" w="28575">
            <a:solidFill>
              <a:schemeClr val="dk1"/>
            </a:solidFill>
            <a:prstDash val="solid"/>
            <a:round/>
            <a:headEnd len="med" w="med" type="none"/>
            <a:tailEnd len="lg" w="lg" type="stealth"/>
          </a:ln>
        </p:spPr>
      </p:cxnSp>
      <p:sp>
        <p:nvSpPr>
          <p:cNvPr id="4383" name="Google Shape;4383;p67"/>
          <p:cNvSpPr txBox="1"/>
          <p:nvPr/>
        </p:nvSpPr>
        <p:spPr>
          <a:xfrm>
            <a:off x="8177213" y="4505326"/>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Y</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grpSp>
        <p:nvGrpSpPr>
          <p:cNvPr id="4384" name="Google Shape;4384;p67"/>
          <p:cNvGrpSpPr/>
          <p:nvPr/>
        </p:nvGrpSpPr>
        <p:grpSpPr>
          <a:xfrm>
            <a:off x="5400676" y="2613026"/>
            <a:ext cx="207963" cy="619125"/>
            <a:chOff x="2525301" y="2572305"/>
            <a:chExt cx="207314" cy="618591"/>
          </a:xfrm>
        </p:grpSpPr>
        <p:cxnSp>
          <p:nvCxnSpPr>
            <p:cNvPr id="4385" name="Google Shape;4385;p67"/>
            <p:cNvCxnSpPr/>
            <p:nvPr/>
          </p:nvCxnSpPr>
          <p:spPr>
            <a:xfrm>
              <a:off x="2532013" y="2572305"/>
              <a:ext cx="0" cy="616450"/>
            </a:xfrm>
            <a:prstGeom prst="straightConnector1">
              <a:avLst/>
            </a:prstGeom>
            <a:noFill/>
            <a:ln cap="flat" cmpd="sng" w="9525">
              <a:solidFill>
                <a:schemeClr val="dk1"/>
              </a:solidFill>
              <a:prstDash val="solid"/>
              <a:round/>
              <a:headEnd len="med" w="med" type="none"/>
              <a:tailEnd len="med" w="med" type="none"/>
            </a:ln>
          </p:spPr>
        </p:cxnSp>
        <p:cxnSp>
          <p:nvCxnSpPr>
            <p:cNvPr id="4386" name="Google Shape;4386;p67"/>
            <p:cNvCxnSpPr/>
            <p:nvPr/>
          </p:nvCxnSpPr>
          <p:spPr>
            <a:xfrm>
              <a:off x="2527348" y="2578364"/>
              <a:ext cx="205267" cy="0"/>
            </a:xfrm>
            <a:prstGeom prst="straightConnector1">
              <a:avLst/>
            </a:prstGeom>
            <a:noFill/>
            <a:ln cap="flat" cmpd="sng" w="9525">
              <a:solidFill>
                <a:schemeClr val="dk1"/>
              </a:solidFill>
              <a:prstDash val="solid"/>
              <a:round/>
              <a:headEnd len="med" w="med" type="none"/>
              <a:tailEnd len="med" w="med" type="none"/>
            </a:ln>
          </p:spPr>
        </p:cxnSp>
        <p:cxnSp>
          <p:nvCxnSpPr>
            <p:cNvPr id="4387" name="Google Shape;4387;p67"/>
            <p:cNvCxnSpPr/>
            <p:nvPr/>
          </p:nvCxnSpPr>
          <p:spPr>
            <a:xfrm>
              <a:off x="2525301" y="3190896"/>
              <a:ext cx="205267" cy="0"/>
            </a:xfrm>
            <a:prstGeom prst="straightConnector1">
              <a:avLst/>
            </a:prstGeom>
            <a:noFill/>
            <a:ln cap="flat" cmpd="sng" w="9525">
              <a:solidFill>
                <a:schemeClr val="dk1"/>
              </a:solidFill>
              <a:prstDash val="solid"/>
              <a:round/>
              <a:headEnd len="med" w="med" type="none"/>
              <a:tailEnd len="med" w="med" type="none"/>
            </a:ln>
          </p:spPr>
        </p:cxnSp>
      </p:grpSp>
      <p:cxnSp>
        <p:nvCxnSpPr>
          <p:cNvPr id="4388" name="Google Shape;4388;p67"/>
          <p:cNvCxnSpPr/>
          <p:nvPr/>
        </p:nvCxnSpPr>
        <p:spPr>
          <a:xfrm>
            <a:off x="6969125" y="5081589"/>
            <a:ext cx="1804988" cy="604837"/>
          </a:xfrm>
          <a:prstGeom prst="straightConnector1">
            <a:avLst/>
          </a:prstGeom>
          <a:noFill/>
          <a:ln cap="flat" cmpd="sng" w="28575">
            <a:solidFill>
              <a:schemeClr val="dk1"/>
            </a:solidFill>
            <a:prstDash val="solid"/>
            <a:round/>
            <a:headEnd len="med" w="med" type="none"/>
            <a:tailEnd len="lg" w="lg" type="stealth"/>
          </a:ln>
        </p:spPr>
      </p:cxnSp>
      <p:sp>
        <p:nvSpPr>
          <p:cNvPr id="4389" name="Google Shape;4389;p67"/>
          <p:cNvSpPr/>
          <p:nvPr/>
        </p:nvSpPr>
        <p:spPr>
          <a:xfrm>
            <a:off x="5545139" y="4872039"/>
            <a:ext cx="1374775"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390" name="Google Shape;4390;p67"/>
          <p:cNvSpPr txBox="1"/>
          <p:nvPr/>
        </p:nvSpPr>
        <p:spPr>
          <a:xfrm>
            <a:off x="6045201" y="4745039"/>
            <a:ext cx="49371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(S4)</a:t>
            </a:r>
            <a:endParaRPr/>
          </a:p>
        </p:txBody>
      </p:sp>
      <p:sp>
        <p:nvSpPr>
          <p:cNvPr id="4391" name="Google Shape;4391;p67"/>
          <p:cNvSpPr txBox="1"/>
          <p:nvPr/>
        </p:nvSpPr>
        <p:spPr>
          <a:xfrm rot="-5400000">
            <a:off x="4804569" y="2777331"/>
            <a:ext cx="920750" cy="3063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Timeout 1</a:t>
            </a:r>
            <a:endParaRPr/>
          </a:p>
        </p:txBody>
      </p:sp>
      <p:cxnSp>
        <p:nvCxnSpPr>
          <p:cNvPr id="4392" name="Google Shape;4392;p67"/>
          <p:cNvCxnSpPr/>
          <p:nvPr/>
        </p:nvCxnSpPr>
        <p:spPr>
          <a:xfrm flipH="1">
            <a:off x="7405689" y="3887788"/>
            <a:ext cx="1323975" cy="563562"/>
          </a:xfrm>
          <a:prstGeom prst="straightConnector1">
            <a:avLst/>
          </a:prstGeom>
          <a:noFill/>
          <a:ln cap="flat" cmpd="sng" w="28575">
            <a:solidFill>
              <a:schemeClr val="dk1"/>
            </a:solidFill>
            <a:prstDash val="solid"/>
            <a:round/>
            <a:headEnd len="med" w="med" type="none"/>
            <a:tailEnd len="lg" w="lg" type="stealth"/>
          </a:ln>
        </p:spPr>
      </p:cxnSp>
      <p:sp>
        <p:nvSpPr>
          <p:cNvPr id="4393" name="Google Shape;4393;p67"/>
          <p:cNvSpPr txBox="1"/>
          <p:nvPr/>
        </p:nvSpPr>
        <p:spPr>
          <a:xfrm>
            <a:off x="6977063" y="4513264"/>
            <a:ext cx="5842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X</a:t>
            </a:r>
            <a:endParaRPr/>
          </a:p>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(loss)</a:t>
            </a:r>
            <a:endParaRPr/>
          </a:p>
        </p:txBody>
      </p:sp>
      <p:cxnSp>
        <p:nvCxnSpPr>
          <p:cNvPr id="4394" name="Google Shape;4394;p67"/>
          <p:cNvCxnSpPr/>
          <p:nvPr/>
        </p:nvCxnSpPr>
        <p:spPr>
          <a:xfrm flipH="1">
            <a:off x="7019926" y="2052638"/>
            <a:ext cx="1636713" cy="546100"/>
          </a:xfrm>
          <a:prstGeom prst="straightConnector1">
            <a:avLst/>
          </a:prstGeom>
          <a:noFill/>
          <a:ln cap="flat" cmpd="sng" w="28575">
            <a:solidFill>
              <a:schemeClr val="dk1"/>
            </a:solidFill>
            <a:prstDash val="solid"/>
            <a:round/>
            <a:headEnd len="med" w="med" type="none"/>
            <a:tailEnd len="lg" w="lg" type="stealth"/>
          </a:ln>
        </p:spPr>
      </p:cxnSp>
      <p:cxnSp>
        <p:nvCxnSpPr>
          <p:cNvPr id="4395" name="Google Shape;4395;p67"/>
          <p:cNvCxnSpPr/>
          <p:nvPr/>
        </p:nvCxnSpPr>
        <p:spPr>
          <a:xfrm>
            <a:off x="6980239" y="3194050"/>
            <a:ext cx="1806575" cy="604838"/>
          </a:xfrm>
          <a:prstGeom prst="straightConnector1">
            <a:avLst/>
          </a:prstGeom>
          <a:noFill/>
          <a:ln cap="flat" cmpd="sng" w="28575">
            <a:solidFill>
              <a:schemeClr val="dk1"/>
            </a:solidFill>
            <a:prstDash val="solid"/>
            <a:round/>
            <a:headEnd len="med" w="med" type="none"/>
            <a:tailEnd len="lg" w="lg" type="stealth"/>
          </a:ln>
        </p:spPr>
      </p:cxnSp>
      <p:sp>
        <p:nvSpPr>
          <p:cNvPr id="4396" name="Google Shape;4396;p67"/>
          <p:cNvSpPr/>
          <p:nvPr/>
        </p:nvSpPr>
        <p:spPr>
          <a:xfrm>
            <a:off x="8958263" y="54371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397" name="Google Shape;4397;p67"/>
          <p:cNvSpPr txBox="1"/>
          <p:nvPr/>
        </p:nvSpPr>
        <p:spPr>
          <a:xfrm>
            <a:off x="9259888" y="53070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(R3)</a:t>
            </a:r>
            <a:endParaRPr/>
          </a:p>
        </p:txBody>
      </p:sp>
      <p:sp>
        <p:nvSpPr>
          <p:cNvPr id="4398" name="Google Shape;4398;p67"/>
          <p:cNvSpPr/>
          <p:nvPr/>
        </p:nvSpPr>
        <p:spPr>
          <a:xfrm>
            <a:off x="5595939" y="3613150"/>
            <a:ext cx="1373187" cy="4524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399" name="Google Shape;4399;p67"/>
          <p:cNvSpPr txBox="1"/>
          <p:nvPr/>
        </p:nvSpPr>
        <p:spPr>
          <a:xfrm>
            <a:off x="6045201" y="3487739"/>
            <a:ext cx="493713"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(S3)</a:t>
            </a:r>
            <a:endParaRPr/>
          </a:p>
        </p:txBody>
      </p:sp>
      <p:cxnSp>
        <p:nvCxnSpPr>
          <p:cNvPr id="4400" name="Google Shape;4400;p67"/>
          <p:cNvCxnSpPr/>
          <p:nvPr/>
        </p:nvCxnSpPr>
        <p:spPr>
          <a:xfrm flipH="1">
            <a:off x="7015163" y="3317875"/>
            <a:ext cx="1636712" cy="546100"/>
          </a:xfrm>
          <a:prstGeom prst="straightConnector1">
            <a:avLst/>
          </a:prstGeom>
          <a:noFill/>
          <a:ln cap="flat" cmpd="sng" w="28575">
            <a:solidFill>
              <a:schemeClr val="dk1"/>
            </a:solidFill>
            <a:prstDash val="solid"/>
            <a:round/>
            <a:headEnd len="med" w="med" type="none"/>
            <a:tailEnd len="lg" w="lg" type="stealth"/>
          </a:ln>
        </p:spPr>
      </p:cxnSp>
      <p:sp>
        <p:nvSpPr>
          <p:cNvPr id="4401" name="Google Shape;4401;p67"/>
          <p:cNvSpPr/>
          <p:nvPr/>
        </p:nvSpPr>
        <p:spPr>
          <a:xfrm>
            <a:off x="5575300" y="6034089"/>
            <a:ext cx="1373188" cy="452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chemeClr val="dk1"/>
              </a:solidFill>
              <a:latin typeface="Times New Roman"/>
              <a:ea typeface="Times New Roman"/>
              <a:cs typeface="Times New Roman"/>
              <a:sym typeface="Times New Roman"/>
            </a:endParaRPr>
          </a:p>
        </p:txBody>
      </p:sp>
      <p:sp>
        <p:nvSpPr>
          <p:cNvPr id="4402" name="Google Shape;4402;p67"/>
          <p:cNvSpPr txBox="1"/>
          <p:nvPr/>
        </p:nvSpPr>
        <p:spPr>
          <a:xfrm>
            <a:off x="6073776" y="5908675"/>
            <a:ext cx="493713" cy="3063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(S5)</a:t>
            </a:r>
            <a:endParaRPr/>
          </a:p>
        </p:txBody>
      </p:sp>
      <p:cxnSp>
        <p:nvCxnSpPr>
          <p:cNvPr id="4403" name="Google Shape;4403;p67"/>
          <p:cNvCxnSpPr/>
          <p:nvPr/>
        </p:nvCxnSpPr>
        <p:spPr>
          <a:xfrm>
            <a:off x="6972301" y="6253164"/>
            <a:ext cx="1776413" cy="428625"/>
          </a:xfrm>
          <a:prstGeom prst="straightConnector1">
            <a:avLst/>
          </a:prstGeom>
          <a:noFill/>
          <a:ln cap="flat" cmpd="sng" w="28575">
            <a:solidFill>
              <a:schemeClr val="dk1"/>
            </a:solidFill>
            <a:prstDash val="solid"/>
            <a:round/>
            <a:headEnd len="med" w="med" type="none"/>
            <a:tailEnd len="lg" w="lg" type="stealth"/>
          </a:ln>
        </p:spPr>
      </p:cxnSp>
      <p:sp>
        <p:nvSpPr>
          <p:cNvPr id="4404" name="Google Shape;4404;p67"/>
          <p:cNvSpPr/>
          <p:nvPr/>
        </p:nvSpPr>
        <p:spPr>
          <a:xfrm>
            <a:off x="8913813" y="6440489"/>
            <a:ext cx="1511300" cy="377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imes New Roman"/>
                <a:ea typeface="Times New Roman"/>
                <a:cs typeface="Times New Roman"/>
                <a:sym typeface="Times New Roman"/>
              </a:rPr>
              <a:t>……………</a:t>
            </a:r>
            <a:endParaRPr/>
          </a:p>
        </p:txBody>
      </p:sp>
      <p:sp>
        <p:nvSpPr>
          <p:cNvPr id="4405" name="Google Shape;4405;p67"/>
          <p:cNvSpPr txBox="1"/>
          <p:nvPr/>
        </p:nvSpPr>
        <p:spPr>
          <a:xfrm>
            <a:off x="9215438" y="6310314"/>
            <a:ext cx="51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i="0" lang="en-US" sz="1400" u="none" cap="none" strike="noStrike">
                <a:solidFill>
                  <a:schemeClr val="dk1"/>
                </a:solidFill>
                <a:latin typeface="Times New Roman"/>
                <a:ea typeface="Times New Roman"/>
                <a:cs typeface="Times New Roman"/>
                <a:sym typeface="Times New Roman"/>
              </a:rPr>
              <a:t>(R4)</a:t>
            </a:r>
            <a:endParaRPr/>
          </a:p>
        </p:txBody>
      </p:sp>
      <p:sp>
        <p:nvSpPr>
          <p:cNvPr id="4406" name="Google Shape;4406;p67"/>
          <p:cNvSpPr txBox="1"/>
          <p:nvPr/>
        </p:nvSpPr>
        <p:spPr>
          <a:xfrm>
            <a:off x="5694363" y="2065339"/>
            <a:ext cx="989012" cy="5222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NAK0</a:t>
            </a:r>
            <a:r>
              <a:rPr b="0" i="0" lang="en-US" sz="1400" u="none" cap="none" strike="noStrike">
                <a:solidFill>
                  <a:srgbClr val="FF0000"/>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pkt0</a:t>
            </a:r>
            <a:endParaRPr/>
          </a:p>
        </p:txBody>
      </p:sp>
      <p:sp>
        <p:nvSpPr>
          <p:cNvPr id="4407" name="Google Shape;4407;p67"/>
          <p:cNvSpPr txBox="1"/>
          <p:nvPr/>
        </p:nvSpPr>
        <p:spPr>
          <a:xfrm>
            <a:off x="5735638" y="2859089"/>
            <a:ext cx="989012" cy="3063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pkt0</a:t>
            </a:r>
            <a:endParaRPr/>
          </a:p>
        </p:txBody>
      </p:sp>
      <p:sp>
        <p:nvSpPr>
          <p:cNvPr id="4408" name="Google Shape;4408;p67"/>
          <p:cNvSpPr txBox="1"/>
          <p:nvPr/>
        </p:nvSpPr>
        <p:spPr>
          <a:xfrm>
            <a:off x="8809038" y="2895601"/>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pkt0</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ACK0</a:t>
            </a:r>
            <a:endParaRPr/>
          </a:p>
        </p:txBody>
      </p:sp>
      <p:sp>
        <p:nvSpPr>
          <p:cNvPr id="4409" name="Google Shape;4409;p67"/>
          <p:cNvSpPr txBox="1"/>
          <p:nvPr/>
        </p:nvSpPr>
        <p:spPr>
          <a:xfrm>
            <a:off x="5727701" y="3306764"/>
            <a:ext cx="989013" cy="5222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ACK0</a:t>
            </a:r>
            <a:r>
              <a:rPr b="0" i="0" lang="en-US" sz="1400" u="none" cap="none" strike="noStrike">
                <a:solidFill>
                  <a:srgbClr val="FF0000"/>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pkt1</a:t>
            </a:r>
            <a:endParaRPr/>
          </a:p>
        </p:txBody>
      </p:sp>
      <p:sp>
        <p:nvSpPr>
          <p:cNvPr id="4410" name="Google Shape;4410;p67"/>
          <p:cNvSpPr txBox="1"/>
          <p:nvPr/>
        </p:nvSpPr>
        <p:spPr>
          <a:xfrm>
            <a:off x="8791576" y="3490914"/>
            <a:ext cx="1820863"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1400"/>
              <a:buFont typeface="Noto Sans Symbols"/>
              <a:buNone/>
            </a:pPr>
            <a:r>
              <a:rPr b="1" i="0" lang="en-US" sz="1400" u="none" cap="none" strike="noStrike">
                <a:solidFill>
                  <a:srgbClr val="0070C0"/>
                </a:solidFill>
                <a:latin typeface="Times New Roman"/>
                <a:ea typeface="Times New Roman"/>
                <a:cs typeface="Times New Roman"/>
                <a:sym typeface="Times New Roman"/>
              </a:rPr>
              <a:t>rcv </a:t>
            </a:r>
            <a:r>
              <a:rPr b="1" i="0" lang="en-US" sz="1400" u="none" cap="none" strike="noStrike">
                <a:solidFill>
                  <a:srgbClr val="0070C0"/>
                </a:solidFill>
                <a:latin typeface="Courier New"/>
                <a:ea typeface="Courier New"/>
                <a:cs typeface="Courier New"/>
                <a:sym typeface="Courier New"/>
              </a:rPr>
              <a:t>pkt0</a:t>
            </a:r>
            <a:r>
              <a:rPr b="1" i="0" lang="en-US" sz="1400" u="none" cap="none" strike="noStrike">
                <a:solidFill>
                  <a:srgbClr val="0070C0"/>
                </a:solidFill>
                <a:latin typeface="Times New Roman"/>
                <a:ea typeface="Times New Roman"/>
                <a:cs typeface="Times New Roman"/>
                <a:sym typeface="Times New Roman"/>
              </a:rPr>
              <a:t>, send </a:t>
            </a:r>
            <a:r>
              <a:rPr b="1" i="0" lang="en-US" sz="1400" u="none" cap="none" strike="noStrike">
                <a:solidFill>
                  <a:srgbClr val="0070C0"/>
                </a:solidFill>
                <a:latin typeface="Courier New"/>
                <a:ea typeface="Courier New"/>
                <a:cs typeface="Courier New"/>
                <a:sym typeface="Courier New"/>
              </a:rPr>
              <a:t>ACK0</a:t>
            </a:r>
            <a:endParaRPr/>
          </a:p>
        </p:txBody>
      </p:sp>
      <p:sp>
        <p:nvSpPr>
          <p:cNvPr id="4411" name="Google Shape;4411;p67"/>
          <p:cNvSpPr txBox="1"/>
          <p:nvPr/>
        </p:nvSpPr>
        <p:spPr>
          <a:xfrm>
            <a:off x="5694363" y="4778376"/>
            <a:ext cx="99060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pkt1</a:t>
            </a:r>
            <a:endParaRPr/>
          </a:p>
        </p:txBody>
      </p:sp>
      <p:sp>
        <p:nvSpPr>
          <p:cNvPr id="4412" name="Google Shape;4412;p67"/>
          <p:cNvSpPr txBox="1"/>
          <p:nvPr/>
        </p:nvSpPr>
        <p:spPr>
          <a:xfrm>
            <a:off x="8883650" y="5283201"/>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pkt1</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ACK1</a:t>
            </a:r>
            <a:endParaRPr/>
          </a:p>
        </p:txBody>
      </p:sp>
      <p:sp>
        <p:nvSpPr>
          <p:cNvPr id="4413" name="Google Shape;4413;p67"/>
          <p:cNvSpPr txBox="1"/>
          <p:nvPr/>
        </p:nvSpPr>
        <p:spPr>
          <a:xfrm>
            <a:off x="5724526" y="5694364"/>
            <a:ext cx="989013" cy="523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ACK1</a:t>
            </a:r>
            <a:r>
              <a:rPr b="0" i="0" lang="en-US" sz="1400" u="none" cap="none" strike="noStrike">
                <a:solidFill>
                  <a:srgbClr val="FF0000"/>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send </a:t>
            </a:r>
            <a:r>
              <a:rPr b="0" i="0" lang="en-US" sz="1400" u="none" cap="none" strike="noStrike">
                <a:solidFill>
                  <a:srgbClr val="FF0000"/>
                </a:solidFill>
                <a:latin typeface="Courier New"/>
                <a:ea typeface="Courier New"/>
                <a:cs typeface="Courier New"/>
                <a:sym typeface="Courier New"/>
              </a:rPr>
              <a:t>pkt0</a:t>
            </a:r>
            <a:endParaRPr/>
          </a:p>
        </p:txBody>
      </p:sp>
      <p:sp>
        <p:nvSpPr>
          <p:cNvPr id="4414" name="Google Shape;4414;p67"/>
          <p:cNvSpPr txBox="1"/>
          <p:nvPr/>
        </p:nvSpPr>
        <p:spPr>
          <a:xfrm>
            <a:off x="8813800" y="6286501"/>
            <a:ext cx="178435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0" i="0" lang="en-US" sz="1400" u="none" cap="none" strike="noStrike">
                <a:solidFill>
                  <a:srgbClr val="FF0000"/>
                </a:solidFill>
                <a:latin typeface="Times New Roman"/>
                <a:ea typeface="Times New Roman"/>
                <a:cs typeface="Times New Roman"/>
                <a:sym typeface="Times New Roman"/>
              </a:rPr>
              <a:t>rcv </a:t>
            </a:r>
            <a:r>
              <a:rPr b="0" i="0" lang="en-US" sz="1400" u="none" cap="none" strike="noStrike">
                <a:solidFill>
                  <a:srgbClr val="FF0000"/>
                </a:solidFill>
                <a:latin typeface="Courier New"/>
                <a:ea typeface="Courier New"/>
                <a:cs typeface="Courier New"/>
                <a:sym typeface="Courier New"/>
              </a:rPr>
              <a:t>pkt0</a:t>
            </a:r>
            <a:r>
              <a:rPr b="0" i="0" lang="en-US" sz="1400" u="none" cap="none" strike="noStrike">
                <a:solidFill>
                  <a:srgbClr val="FF0000"/>
                </a:solidFill>
                <a:latin typeface="Times New Roman"/>
                <a:ea typeface="Times New Roman"/>
                <a:cs typeface="Times New Roman"/>
                <a:sym typeface="Times New Roman"/>
              </a:rPr>
              <a:t>, send </a:t>
            </a:r>
            <a:r>
              <a:rPr b="0" i="0" lang="en-US" sz="1400" u="none" cap="none" strike="noStrike">
                <a:solidFill>
                  <a:srgbClr val="FF0000"/>
                </a:solidFill>
                <a:latin typeface="Courier New"/>
                <a:ea typeface="Courier New"/>
                <a:cs typeface="Courier New"/>
                <a:sym typeface="Courier New"/>
              </a:rPr>
              <a:t>ACK0</a:t>
            </a:r>
            <a:endParaRPr/>
          </a:p>
        </p:txBody>
      </p:sp>
      <p:sp>
        <p:nvSpPr>
          <p:cNvPr id="4415" name="Google Shape;4415;p67"/>
          <p:cNvSpPr txBox="1"/>
          <p:nvPr/>
        </p:nvSpPr>
        <p:spPr>
          <a:xfrm>
            <a:off x="9217026" y="3924300"/>
            <a:ext cx="773113" cy="3381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1600"/>
              <a:buFont typeface="Noto Sans Symbols"/>
              <a:buNone/>
            </a:pPr>
            <a:r>
              <a:rPr b="1" i="0" lang="en-US" sz="1600" u="none" cap="none" strike="noStrike">
                <a:solidFill>
                  <a:srgbClr val="0070C0"/>
                </a:solidFill>
                <a:latin typeface="Tahoma"/>
                <a:ea typeface="Tahoma"/>
                <a:cs typeface="Tahoma"/>
                <a:sym typeface="Tahoma"/>
              </a:rPr>
              <a:t>( R2 )</a:t>
            </a:r>
            <a:endParaRPr/>
          </a:p>
        </p:txBody>
      </p:sp>
      <p:cxnSp>
        <p:nvCxnSpPr>
          <p:cNvPr id="4416" name="Google Shape;4416;p67"/>
          <p:cNvCxnSpPr/>
          <p:nvPr/>
        </p:nvCxnSpPr>
        <p:spPr>
          <a:xfrm flipH="1" rot="10800000">
            <a:off x="4495800" y="4211638"/>
            <a:ext cx="4692650" cy="1490662"/>
          </a:xfrm>
          <a:prstGeom prst="straightConnector1">
            <a:avLst/>
          </a:prstGeom>
          <a:noFill/>
          <a:ln cap="flat" cmpd="sng" w="38100">
            <a:solidFill>
              <a:srgbClr val="0070C0"/>
            </a:solidFill>
            <a:prstDash val="solid"/>
            <a:round/>
            <a:headEnd len="med" w="med" type="none"/>
            <a:tailEnd len="med" w="med" type="triangle"/>
          </a:ln>
        </p:spPr>
      </p:cxnSp>
      <p:grpSp>
        <p:nvGrpSpPr>
          <p:cNvPr id="4417" name="Google Shape;4417;p67"/>
          <p:cNvGrpSpPr/>
          <p:nvPr/>
        </p:nvGrpSpPr>
        <p:grpSpPr>
          <a:xfrm>
            <a:off x="8220481" y="-249778"/>
            <a:ext cx="2461403" cy="1558421"/>
            <a:chOff x="6697235" y="-249764"/>
            <a:chExt cx="2460203" cy="1558188"/>
          </a:xfrm>
        </p:grpSpPr>
        <p:sp>
          <p:nvSpPr>
            <p:cNvPr id="4418" name="Google Shape;4418;p67"/>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b="0" i="0" sz="2400" u="none" cap="none" strike="noStrike">
                <a:solidFill>
                  <a:schemeClr val="dk1"/>
                </a:solidFill>
                <a:latin typeface="Comic Sans MS"/>
                <a:ea typeface="Comic Sans MS"/>
                <a:cs typeface="Comic Sans MS"/>
                <a:sym typeface="Comic Sans MS"/>
              </a:endParaRPr>
            </a:p>
          </p:txBody>
        </p:sp>
        <p:sp>
          <p:nvSpPr>
            <p:cNvPr id="4419" name="Google Shape;4419;p67"/>
            <p:cNvSpPr txBox="1"/>
            <p:nvPr/>
          </p:nvSpPr>
          <p:spPr>
            <a:xfrm>
              <a:off x="7216423" y="342294"/>
              <a:ext cx="126028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Noto Sans Symbols"/>
                <a:buNone/>
              </a:pPr>
              <a:r>
                <a:rPr b="1" i="0" lang="en-US" sz="1600" u="none" cap="none" strike="noStrike">
                  <a:solidFill>
                    <a:srgbClr val="FF0000"/>
                  </a:solidFill>
                  <a:latin typeface="Tahoma"/>
                  <a:ea typeface="Tahoma"/>
                  <a:cs typeface="Tahoma"/>
                  <a:sym typeface="Tahoma"/>
                </a:rPr>
                <a:t>Self-Study</a:t>
              </a:r>
              <a:endParaRPr/>
            </a:p>
          </p:txBody>
        </p:sp>
      </p:grpSp>
      <p:sp>
        <p:nvSpPr>
          <p:cNvPr id="4420" name="Google Shape;4420;p6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5" name="Shape 4425"/>
        <p:cNvGrpSpPr/>
        <p:nvPr/>
      </p:nvGrpSpPr>
      <p:grpSpPr>
        <a:xfrm>
          <a:off x="0" y="0"/>
          <a:ext cx="0" cy="0"/>
          <a:chOff x="0" y="0"/>
          <a:chExt cx="0" cy="0"/>
        </a:xfrm>
      </p:grpSpPr>
      <p:sp>
        <p:nvSpPr>
          <p:cNvPr id="4426" name="Google Shape;4426;p6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Performance of rdt3.0 </a:t>
            </a:r>
            <a:r>
              <a:rPr lang="en-US" sz="3200"/>
              <a:t>(stop-and-wait)</a:t>
            </a:r>
            <a:endParaRPr sz="4400"/>
          </a:p>
        </p:txBody>
      </p:sp>
      <p:sp>
        <p:nvSpPr>
          <p:cNvPr id="4427" name="Google Shape;4427;p69"/>
          <p:cNvSpPr txBox="1"/>
          <p:nvPr/>
        </p:nvSpPr>
        <p:spPr>
          <a:xfrm>
            <a:off x="871198" y="3069005"/>
            <a:ext cx="10532792" cy="1044522"/>
          </a:xfrm>
          <a:prstGeom prst="rect">
            <a:avLst/>
          </a:prstGeom>
          <a:noFill/>
          <a:ln>
            <a:noFill/>
          </a:ln>
        </p:spPr>
        <p:txBody>
          <a:bodyPr anchorCtr="0" anchor="t" bIns="45700" lIns="91425" spcFirstLastPara="1" rIns="91425" wrap="square" tIns="45700">
            <a:normAutofit/>
          </a:bodyPr>
          <a:lstStyle/>
          <a:p>
            <a:pPr indent="-279400" lvl="0" marL="40957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example: 1 Gbps link, 15 ms prop. delay, 8000 bit packet</a:t>
            </a:r>
            <a:endParaRPr b="0" i="0" sz="2800" u="none" cap="none" strike="noStrike">
              <a:solidFill>
                <a:srgbClr val="000000"/>
              </a:solidFill>
              <a:latin typeface="Calibri"/>
              <a:ea typeface="Calibri"/>
              <a:cs typeface="Calibri"/>
              <a:sym typeface="Calibri"/>
            </a:endParaRPr>
          </a:p>
        </p:txBody>
      </p:sp>
      <p:sp>
        <p:nvSpPr>
          <p:cNvPr id="4428" name="Google Shape;4428;p69"/>
          <p:cNvSpPr/>
          <p:nvPr/>
        </p:nvSpPr>
        <p:spPr>
          <a:xfrm>
            <a:off x="536827" y="1472895"/>
            <a:ext cx="10752586" cy="476250"/>
          </a:xfrm>
          <a:prstGeom prst="rect">
            <a:avLst/>
          </a:prstGeom>
          <a:noFill/>
          <a:ln>
            <a:noFill/>
          </a:ln>
        </p:spPr>
        <p:txBody>
          <a:bodyPr anchorCtr="0" anchor="t" bIns="45700" lIns="91425" spcFirstLastPara="1" rIns="91425" wrap="square" tIns="45700">
            <a:noAutofit/>
          </a:bodyPr>
          <a:lstStyle/>
          <a:p>
            <a:pPr indent="-231775" lvl="1" marL="688975" marR="0" rtl="0" algn="l">
              <a:lnSpc>
                <a:spcPct val="85000"/>
              </a:lnSpc>
              <a:spcBef>
                <a:spcPts val="0"/>
              </a:spcBef>
              <a:spcAft>
                <a:spcPts val="0"/>
              </a:spcAft>
              <a:buClr>
                <a:srgbClr val="000099"/>
              </a:buClr>
              <a:buSzPts val="3200"/>
              <a:buFont typeface="Noto Sans Symbols"/>
              <a:buChar char="▪"/>
            </a:pPr>
            <a:r>
              <a:rPr b="0" i="0" lang="en-US" sz="3200" u="none" cap="none" strike="noStrike">
                <a:solidFill>
                  <a:schemeClr val="dk1"/>
                </a:solidFill>
                <a:latin typeface="Tahoma"/>
                <a:ea typeface="Tahoma"/>
                <a:cs typeface="Tahoma"/>
                <a:sym typeface="Tahoma"/>
              </a:rPr>
              <a:t>rdt3.0 is functionally correct, but performance stinks (low)</a:t>
            </a:r>
            <a:endParaRPr/>
          </a:p>
          <a:p>
            <a:pPr indent="-231775" lvl="1" marL="688975" marR="0" rtl="0" algn="l">
              <a:lnSpc>
                <a:spcPct val="85000"/>
              </a:lnSpc>
              <a:spcBef>
                <a:spcPts val="640"/>
              </a:spcBef>
              <a:spcAft>
                <a:spcPts val="0"/>
              </a:spcAft>
              <a:buClr>
                <a:srgbClr val="000099"/>
              </a:buClr>
              <a:buSzPts val="3200"/>
              <a:buFont typeface="Noto Sans Symbols"/>
              <a:buChar char="▪"/>
            </a:pPr>
            <a:r>
              <a:rPr b="0" i="1" lang="en-US" sz="3200" u="none" cap="none" strike="noStrike">
                <a:solidFill>
                  <a:srgbClr val="000000"/>
                </a:solidFill>
                <a:latin typeface="Calibri"/>
                <a:ea typeface="Calibri"/>
                <a:cs typeface="Calibri"/>
                <a:sym typeface="Calibri"/>
              </a:rPr>
              <a:t>U </a:t>
            </a:r>
            <a:r>
              <a:rPr b="0" baseline="-25000" i="1" lang="en-US" sz="3200" u="none" cap="none" strike="noStrike">
                <a:solidFill>
                  <a:srgbClr val="000000"/>
                </a:solidFill>
                <a:latin typeface="Calibri"/>
                <a:ea typeface="Calibri"/>
                <a:cs typeface="Calibri"/>
                <a:sym typeface="Calibri"/>
              </a:rPr>
              <a:t>sender</a:t>
            </a:r>
            <a:r>
              <a:rPr b="0" i="0" lang="en-US" sz="3200" u="none" cap="none" strike="noStrike">
                <a:solidFill>
                  <a:srgbClr val="000000"/>
                </a:solidFill>
                <a:latin typeface="Calibri"/>
                <a:ea typeface="Calibri"/>
                <a:cs typeface="Calibri"/>
                <a:sym typeface="Calibri"/>
              </a:rPr>
              <a:t>: </a:t>
            </a:r>
            <a:r>
              <a:rPr b="0" i="1" lang="en-US" sz="3200" u="none" cap="none" strike="noStrike">
                <a:solidFill>
                  <a:srgbClr val="CC0000"/>
                </a:solidFill>
                <a:latin typeface="Calibri"/>
                <a:ea typeface="Calibri"/>
                <a:cs typeface="Calibri"/>
                <a:sym typeface="Calibri"/>
              </a:rPr>
              <a:t>utilization</a:t>
            </a:r>
            <a:r>
              <a:rPr b="0" i="0" lang="en-US" sz="3200" u="none" cap="none" strike="noStrike">
                <a:solidFill>
                  <a:srgbClr val="000000"/>
                </a:solidFill>
                <a:latin typeface="Calibri"/>
                <a:ea typeface="Calibri"/>
                <a:cs typeface="Calibri"/>
                <a:sym typeface="Calibri"/>
              </a:rPr>
              <a:t> – fraction of time sender busy sending</a:t>
            </a:r>
            <a:endParaRPr/>
          </a:p>
        </p:txBody>
      </p:sp>
      <p:grpSp>
        <p:nvGrpSpPr>
          <p:cNvPr id="4429" name="Google Shape;4429;p69"/>
          <p:cNvGrpSpPr/>
          <p:nvPr/>
        </p:nvGrpSpPr>
        <p:grpSpPr>
          <a:xfrm>
            <a:off x="1783562" y="4144161"/>
            <a:ext cx="7239000" cy="812800"/>
            <a:chOff x="137" y="1675"/>
            <a:chExt cx="4560" cy="512"/>
          </a:xfrm>
        </p:grpSpPr>
        <p:sp>
          <p:nvSpPr>
            <p:cNvPr id="4430" name="Google Shape;4430;p69"/>
            <p:cNvSpPr txBox="1"/>
            <p:nvPr/>
          </p:nvSpPr>
          <p:spPr>
            <a:xfrm>
              <a:off x="137" y="1795"/>
              <a:ext cx="647"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D</a:t>
              </a:r>
              <a:r>
                <a:rPr b="0" baseline="-25000" i="1" lang="en-US" sz="2400" u="none" cap="none" strike="noStrike">
                  <a:solidFill>
                    <a:srgbClr val="000000"/>
                  </a:solidFill>
                  <a:latin typeface="Calibri"/>
                  <a:ea typeface="Calibri"/>
                  <a:cs typeface="Calibri"/>
                  <a:sym typeface="Calibri"/>
                </a:rPr>
                <a:t>trans</a:t>
              </a:r>
              <a:r>
                <a:rPr b="0" i="1" lang="en-US" sz="2400" u="none" cap="none" strike="noStrike">
                  <a:solidFill>
                    <a:srgbClr val="000000"/>
                  </a:solidFill>
                  <a:latin typeface="Calibri"/>
                  <a:ea typeface="Calibri"/>
                  <a:cs typeface="Calibri"/>
                  <a:sym typeface="Calibri"/>
                </a:rPr>
                <a:t> =</a:t>
              </a:r>
              <a:endParaRPr/>
            </a:p>
          </p:txBody>
        </p:sp>
        <p:grpSp>
          <p:nvGrpSpPr>
            <p:cNvPr id="4431" name="Google Shape;4431;p69"/>
            <p:cNvGrpSpPr/>
            <p:nvPr/>
          </p:nvGrpSpPr>
          <p:grpSpPr>
            <a:xfrm>
              <a:off x="827" y="1677"/>
              <a:ext cx="235" cy="499"/>
              <a:chOff x="155" y="2937"/>
              <a:chExt cx="235" cy="499"/>
            </a:xfrm>
          </p:grpSpPr>
          <p:sp>
            <p:nvSpPr>
              <p:cNvPr id="4432" name="Google Shape;4432;p69"/>
              <p:cNvSpPr txBox="1"/>
              <p:nvPr/>
            </p:nvSpPr>
            <p:spPr>
              <a:xfrm>
                <a:off x="176" y="2937"/>
                <a:ext cx="198"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L</a:t>
                </a:r>
                <a:endParaRPr/>
              </a:p>
            </p:txBody>
          </p:sp>
          <p:sp>
            <p:nvSpPr>
              <p:cNvPr id="4433" name="Google Shape;4433;p69"/>
              <p:cNvSpPr txBox="1"/>
              <p:nvPr/>
            </p:nvSpPr>
            <p:spPr>
              <a:xfrm>
                <a:off x="155" y="3145"/>
                <a:ext cx="221"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R</a:t>
                </a:r>
                <a:endParaRPr/>
              </a:p>
            </p:txBody>
          </p:sp>
          <p:cxnSp>
            <p:nvCxnSpPr>
              <p:cNvPr id="4434" name="Google Shape;4434;p69"/>
              <p:cNvCxnSpPr/>
              <p:nvPr/>
            </p:nvCxnSpPr>
            <p:spPr>
              <a:xfrm>
                <a:off x="204" y="3192"/>
                <a:ext cx="186" cy="0"/>
              </a:xfrm>
              <a:prstGeom prst="straightConnector1">
                <a:avLst/>
              </a:prstGeom>
              <a:noFill/>
              <a:ln cap="flat" cmpd="sng" w="19050">
                <a:solidFill>
                  <a:schemeClr val="dk1"/>
                </a:solidFill>
                <a:prstDash val="solid"/>
                <a:round/>
                <a:headEnd len="med" w="med" type="none"/>
                <a:tailEnd len="med" w="med" type="none"/>
              </a:ln>
            </p:spPr>
          </p:cxnSp>
        </p:grpSp>
        <p:grpSp>
          <p:nvGrpSpPr>
            <p:cNvPr id="4435" name="Google Shape;4435;p69"/>
            <p:cNvGrpSpPr/>
            <p:nvPr/>
          </p:nvGrpSpPr>
          <p:grpSpPr>
            <a:xfrm>
              <a:off x="1233" y="1675"/>
              <a:ext cx="1225" cy="512"/>
              <a:chOff x="1401" y="1693"/>
              <a:chExt cx="1225" cy="512"/>
            </a:xfrm>
          </p:grpSpPr>
          <p:sp>
            <p:nvSpPr>
              <p:cNvPr id="4436" name="Google Shape;4436;p69"/>
              <p:cNvSpPr txBox="1"/>
              <p:nvPr/>
            </p:nvSpPr>
            <p:spPr>
              <a:xfrm>
                <a:off x="2085" y="1748"/>
                <a:ext cx="153"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a:t>
                </a:r>
                <a:endParaRPr b="0" i="0" sz="2400" u="none" cap="none" strike="noStrike">
                  <a:solidFill>
                    <a:srgbClr val="000000"/>
                  </a:solidFill>
                  <a:latin typeface="Calibri"/>
                  <a:ea typeface="Calibri"/>
                  <a:cs typeface="Calibri"/>
                  <a:sym typeface="Calibri"/>
                </a:endParaRPr>
              </a:p>
            </p:txBody>
          </p:sp>
          <p:sp>
            <p:nvSpPr>
              <p:cNvPr id="4437" name="Google Shape;4437;p69"/>
              <p:cNvSpPr txBox="1"/>
              <p:nvPr/>
            </p:nvSpPr>
            <p:spPr>
              <a:xfrm>
                <a:off x="1563" y="1693"/>
                <a:ext cx="836"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8000 bits</a:t>
                </a:r>
                <a:endParaRPr/>
              </a:p>
            </p:txBody>
          </p:sp>
          <p:sp>
            <p:nvSpPr>
              <p:cNvPr id="4438" name="Google Shape;4438;p69"/>
              <p:cNvSpPr txBox="1"/>
              <p:nvPr/>
            </p:nvSpPr>
            <p:spPr>
              <a:xfrm>
                <a:off x="1401" y="1917"/>
                <a:ext cx="1225"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10</a:t>
                </a:r>
                <a:r>
                  <a:rPr b="0" baseline="30000" i="1" lang="en-US" sz="2400" u="none" cap="none" strike="noStrike">
                    <a:solidFill>
                      <a:srgbClr val="000000"/>
                    </a:solidFill>
                    <a:latin typeface="Calibri"/>
                    <a:ea typeface="Calibri"/>
                    <a:cs typeface="Calibri"/>
                    <a:sym typeface="Calibri"/>
                  </a:rPr>
                  <a:t>9 </a:t>
                </a:r>
                <a:r>
                  <a:rPr b="0" i="1" lang="en-US" sz="2400" u="none" cap="none" strike="noStrike">
                    <a:solidFill>
                      <a:srgbClr val="000000"/>
                    </a:solidFill>
                    <a:latin typeface="Calibri"/>
                    <a:ea typeface="Calibri"/>
                    <a:cs typeface="Calibri"/>
                    <a:sym typeface="Calibri"/>
                  </a:rPr>
                  <a:t>bits/sec</a:t>
                </a:r>
                <a:endParaRPr/>
              </a:p>
            </p:txBody>
          </p:sp>
          <p:cxnSp>
            <p:nvCxnSpPr>
              <p:cNvPr id="4439" name="Google Shape;4439;p69"/>
              <p:cNvCxnSpPr/>
              <p:nvPr/>
            </p:nvCxnSpPr>
            <p:spPr>
              <a:xfrm>
                <a:off x="1604" y="1950"/>
                <a:ext cx="970" cy="0"/>
              </a:xfrm>
              <a:prstGeom prst="straightConnector1">
                <a:avLst/>
              </a:prstGeom>
              <a:noFill/>
              <a:ln cap="flat" cmpd="sng" w="19050">
                <a:solidFill>
                  <a:schemeClr val="dk1"/>
                </a:solidFill>
                <a:prstDash val="solid"/>
                <a:round/>
                <a:headEnd len="med" w="med" type="none"/>
                <a:tailEnd len="med" w="med" type="none"/>
              </a:ln>
            </p:spPr>
          </p:cxnSp>
        </p:grpSp>
        <p:sp>
          <p:nvSpPr>
            <p:cNvPr id="4440" name="Google Shape;4440;p69"/>
            <p:cNvSpPr txBox="1"/>
            <p:nvPr/>
          </p:nvSpPr>
          <p:spPr>
            <a:xfrm>
              <a:off x="1093" y="1789"/>
              <a:ext cx="213"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a:p>
          </p:txBody>
        </p:sp>
        <p:sp>
          <p:nvSpPr>
            <p:cNvPr id="4441" name="Google Shape;4441;p69"/>
            <p:cNvSpPr txBox="1"/>
            <p:nvPr/>
          </p:nvSpPr>
          <p:spPr>
            <a:xfrm>
              <a:off x="2509" y="1789"/>
              <a:ext cx="213"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a:p>
          </p:txBody>
        </p:sp>
        <p:sp>
          <p:nvSpPr>
            <p:cNvPr id="4442" name="Google Shape;4442;p69"/>
            <p:cNvSpPr txBox="1"/>
            <p:nvPr/>
          </p:nvSpPr>
          <p:spPr>
            <a:xfrm>
              <a:off x="2715" y="1777"/>
              <a:ext cx="1982"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8 microsecs </a:t>
              </a:r>
              <a:r>
                <a:rPr b="0" i="1" lang="en-US" sz="2400" u="none" cap="none" strike="noStrike">
                  <a:solidFill>
                    <a:schemeClr val="dk1"/>
                  </a:solidFill>
                  <a:latin typeface="Arial"/>
                  <a:ea typeface="Arial"/>
                  <a:cs typeface="Arial"/>
                  <a:sym typeface="Arial"/>
                </a:rPr>
                <a:t>= </a:t>
              </a:r>
              <a:r>
                <a:rPr b="0" i="0" lang="en-US" sz="2400" u="none" cap="none" strike="noStrike">
                  <a:solidFill>
                    <a:schemeClr val="dk1"/>
                  </a:solidFill>
                  <a:latin typeface="Arial"/>
                  <a:ea typeface="Arial"/>
                  <a:cs typeface="Arial"/>
                  <a:sym typeface="Arial"/>
                </a:rPr>
                <a:t>0.008ms</a:t>
              </a:r>
              <a:endParaRPr b="0" i="1" sz="2400" u="none" cap="none" strike="noStrike">
                <a:solidFill>
                  <a:srgbClr val="000000"/>
                </a:solidFill>
                <a:latin typeface="Calibri"/>
                <a:ea typeface="Calibri"/>
                <a:cs typeface="Calibri"/>
                <a:sym typeface="Calibri"/>
              </a:endParaRPr>
            </a:p>
          </p:txBody>
        </p:sp>
      </p:grpSp>
      <p:sp>
        <p:nvSpPr>
          <p:cNvPr id="4443" name="Google Shape;4443;p69"/>
          <p:cNvSpPr txBox="1"/>
          <p:nvPr/>
        </p:nvSpPr>
        <p:spPr>
          <a:xfrm>
            <a:off x="829960" y="3780803"/>
            <a:ext cx="9723349" cy="1044522"/>
          </a:xfrm>
          <a:prstGeom prst="rect">
            <a:avLst/>
          </a:prstGeom>
          <a:noFill/>
          <a:ln>
            <a:noFill/>
          </a:ln>
        </p:spPr>
        <p:txBody>
          <a:bodyPr anchorCtr="0" anchor="t" bIns="45700" lIns="91425" spcFirstLastPara="1" rIns="91425" wrap="square" tIns="45700">
            <a:normAutofit/>
          </a:bodyPr>
          <a:lstStyle/>
          <a:p>
            <a:pPr indent="-457200" lvl="1" marL="930275" marR="0" rtl="0" algn="l">
              <a:lnSpc>
                <a:spcPct val="90000"/>
              </a:lnSpc>
              <a:spcBef>
                <a:spcPts val="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time to transmit packet into channel:</a:t>
            </a:r>
            <a:endParaRPr/>
          </a:p>
        </p:txBody>
      </p:sp>
      <p:sp>
        <p:nvSpPr>
          <p:cNvPr id="4444" name="Google Shape;4444;p6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28"/>
                                        </p:tgtEl>
                                        <p:attrNameLst>
                                          <p:attrName>style.visibility</p:attrName>
                                        </p:attrNameLst>
                                      </p:cBhvr>
                                      <p:to>
                                        <p:strVal val="visible"/>
                                      </p:to>
                                    </p:set>
                                    <p:animEffect filter="fade" transition="in">
                                      <p:cBhvr>
                                        <p:cTn dur="500"/>
                                        <p:tgtEl>
                                          <p:spTgt spid="44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27">
                                            <p:txEl>
                                              <p:pRg end="0" st="0"/>
                                            </p:txEl>
                                          </p:spTgt>
                                        </p:tgtEl>
                                        <p:attrNameLst>
                                          <p:attrName>style.visibility</p:attrName>
                                        </p:attrNameLst>
                                      </p:cBhvr>
                                      <p:to>
                                        <p:strVal val="visible"/>
                                      </p:to>
                                    </p:set>
                                    <p:animEffect filter="fade" transition="in">
                                      <p:cBhvr>
                                        <p:cTn dur="500"/>
                                        <p:tgtEl>
                                          <p:spTgt spid="44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29"/>
                                        </p:tgtEl>
                                        <p:attrNameLst>
                                          <p:attrName>style.visibility</p:attrName>
                                        </p:attrNameLst>
                                      </p:cBhvr>
                                      <p:to>
                                        <p:strVal val="visible"/>
                                      </p:to>
                                    </p:set>
                                    <p:animEffect filter="fade" transition="in">
                                      <p:cBhvr>
                                        <p:cTn dur="500"/>
                                        <p:tgtEl>
                                          <p:spTgt spid="4429"/>
                                        </p:tgtEl>
                                      </p:cBhvr>
                                    </p:animEffect>
                                  </p:childTnLst>
                                </p:cTn>
                              </p:par>
                              <p:par>
                                <p:cTn fill="hold" nodeType="withEffect" presetClass="entr" presetID="10" presetSubtype="0">
                                  <p:stCondLst>
                                    <p:cond delay="0"/>
                                  </p:stCondLst>
                                  <p:childTnLst>
                                    <p:set>
                                      <p:cBhvr>
                                        <p:cTn dur="1" fill="hold">
                                          <p:stCondLst>
                                            <p:cond delay="0"/>
                                          </p:stCondLst>
                                        </p:cTn>
                                        <p:tgtEl>
                                          <p:spTgt spid="4443">
                                            <p:txEl>
                                              <p:pRg end="0" st="0"/>
                                            </p:txEl>
                                          </p:spTgt>
                                        </p:tgtEl>
                                        <p:attrNameLst>
                                          <p:attrName>style.visibility</p:attrName>
                                        </p:attrNameLst>
                                      </p:cBhvr>
                                      <p:to>
                                        <p:strVal val="visible"/>
                                      </p:to>
                                    </p:set>
                                    <p:animEffect filter="fade" transition="in">
                                      <p:cBhvr>
                                        <p:cTn dur="500"/>
                                        <p:tgtEl>
                                          <p:spTgt spid="444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9" name="Shape 4449"/>
        <p:cNvGrpSpPr/>
        <p:nvPr/>
      </p:nvGrpSpPr>
      <p:grpSpPr>
        <a:xfrm>
          <a:off x="0" y="0"/>
          <a:ext cx="0" cy="0"/>
          <a:chOff x="0" y="0"/>
          <a:chExt cx="0" cy="0"/>
        </a:xfrm>
      </p:grpSpPr>
      <p:pic>
        <p:nvPicPr>
          <p:cNvPr descr="underline_base" id="4450" name="Google Shape;4450;p70"/>
          <p:cNvPicPr preferRelativeResize="0"/>
          <p:nvPr/>
        </p:nvPicPr>
        <p:blipFill rotWithShape="1">
          <a:blip r:embed="rId4">
            <a:alphaModFix/>
          </a:blip>
          <a:srcRect b="0" l="0" r="0" t="0"/>
          <a:stretch/>
        </p:blipFill>
        <p:spPr>
          <a:xfrm>
            <a:off x="2139951" y="960439"/>
            <a:ext cx="6672263" cy="173037"/>
          </a:xfrm>
          <a:prstGeom prst="rect">
            <a:avLst/>
          </a:prstGeom>
          <a:noFill/>
          <a:ln>
            <a:noFill/>
          </a:ln>
        </p:spPr>
      </p:pic>
      <p:cxnSp>
        <p:nvCxnSpPr>
          <p:cNvPr id="4451" name="Google Shape;4451;p70"/>
          <p:cNvCxnSpPr/>
          <p:nvPr/>
        </p:nvCxnSpPr>
        <p:spPr>
          <a:xfrm>
            <a:off x="5081588" y="2001839"/>
            <a:ext cx="2227262" cy="922337"/>
          </a:xfrm>
          <a:prstGeom prst="straightConnector1">
            <a:avLst/>
          </a:prstGeom>
          <a:noFill/>
          <a:ln cap="flat" cmpd="sng" w="9525">
            <a:solidFill>
              <a:srgbClr val="000000"/>
            </a:solidFill>
            <a:prstDash val="solid"/>
            <a:round/>
            <a:headEnd len="med" w="med" type="none"/>
            <a:tailEnd len="med" w="med" type="none"/>
          </a:ln>
        </p:spPr>
      </p:cxnSp>
      <p:sp>
        <p:nvSpPr>
          <p:cNvPr id="4452" name="Google Shape;4452;p70"/>
          <p:cNvSpPr txBox="1"/>
          <p:nvPr/>
        </p:nvSpPr>
        <p:spPr>
          <a:xfrm>
            <a:off x="1757363" y="1797051"/>
            <a:ext cx="3232150" cy="35242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Arial"/>
                <a:ea typeface="Arial"/>
                <a:cs typeface="Arial"/>
                <a:sym typeface="Arial"/>
              </a:rPr>
              <a:t>first packet bit transmitted, t = 0</a:t>
            </a:r>
            <a:endParaRPr/>
          </a:p>
        </p:txBody>
      </p:sp>
      <p:cxnSp>
        <p:nvCxnSpPr>
          <p:cNvPr id="4453" name="Google Shape;4453;p70"/>
          <p:cNvCxnSpPr/>
          <p:nvPr/>
        </p:nvCxnSpPr>
        <p:spPr>
          <a:xfrm>
            <a:off x="5070476" y="1782763"/>
            <a:ext cx="23813" cy="2913062"/>
          </a:xfrm>
          <a:prstGeom prst="straightConnector1">
            <a:avLst/>
          </a:prstGeom>
          <a:noFill/>
          <a:ln cap="flat" cmpd="sng" w="9525">
            <a:solidFill>
              <a:srgbClr val="000000"/>
            </a:solidFill>
            <a:prstDash val="solid"/>
            <a:round/>
            <a:headEnd len="med" w="med" type="none"/>
            <a:tailEnd len="med" w="med" type="triangle"/>
          </a:ln>
        </p:spPr>
      </p:cxnSp>
      <p:cxnSp>
        <p:nvCxnSpPr>
          <p:cNvPr id="4454" name="Google Shape;4454;p70"/>
          <p:cNvCxnSpPr/>
          <p:nvPr/>
        </p:nvCxnSpPr>
        <p:spPr>
          <a:xfrm>
            <a:off x="7297739" y="1795464"/>
            <a:ext cx="22225" cy="2890837"/>
          </a:xfrm>
          <a:prstGeom prst="straightConnector1">
            <a:avLst/>
          </a:prstGeom>
          <a:noFill/>
          <a:ln cap="flat" cmpd="sng" w="9525">
            <a:solidFill>
              <a:srgbClr val="000000"/>
            </a:solidFill>
            <a:prstDash val="solid"/>
            <a:round/>
            <a:headEnd len="med" w="med" type="none"/>
            <a:tailEnd len="med" w="med" type="triangle"/>
          </a:ln>
        </p:spPr>
      </p:cxnSp>
      <p:sp>
        <p:nvSpPr>
          <p:cNvPr id="4455" name="Google Shape;4455;p70"/>
          <p:cNvSpPr txBox="1"/>
          <p:nvPr/>
        </p:nvSpPr>
        <p:spPr>
          <a:xfrm>
            <a:off x="4541839" y="1446214"/>
            <a:ext cx="885825"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Arial"/>
                <a:ea typeface="Arial"/>
                <a:cs typeface="Arial"/>
                <a:sym typeface="Arial"/>
              </a:rPr>
              <a:t>sender</a:t>
            </a:r>
            <a:endParaRPr b="0" i="0" sz="1600" u="none" cap="none" strike="noStrike">
              <a:solidFill>
                <a:schemeClr val="dk1"/>
              </a:solidFill>
              <a:latin typeface="Times New Roman"/>
              <a:ea typeface="Times New Roman"/>
              <a:cs typeface="Times New Roman"/>
              <a:sym typeface="Times New Roman"/>
            </a:endParaRPr>
          </a:p>
        </p:txBody>
      </p:sp>
      <p:sp>
        <p:nvSpPr>
          <p:cNvPr id="4456" name="Google Shape;4456;p70"/>
          <p:cNvSpPr txBox="1"/>
          <p:nvPr/>
        </p:nvSpPr>
        <p:spPr>
          <a:xfrm>
            <a:off x="6719888" y="1446214"/>
            <a:ext cx="946150"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Arial"/>
                <a:ea typeface="Arial"/>
                <a:cs typeface="Arial"/>
                <a:sym typeface="Arial"/>
              </a:rPr>
              <a:t>receiver</a:t>
            </a:r>
            <a:endParaRPr b="0" i="0" sz="1600" u="none" cap="none" strike="noStrike">
              <a:solidFill>
                <a:schemeClr val="dk1"/>
              </a:solidFill>
              <a:latin typeface="Times New Roman"/>
              <a:ea typeface="Times New Roman"/>
              <a:cs typeface="Times New Roman"/>
              <a:sym typeface="Times New Roman"/>
            </a:endParaRPr>
          </a:p>
        </p:txBody>
      </p:sp>
      <p:cxnSp>
        <p:nvCxnSpPr>
          <p:cNvPr id="4457" name="Google Shape;4457;p70"/>
          <p:cNvCxnSpPr/>
          <p:nvPr/>
        </p:nvCxnSpPr>
        <p:spPr>
          <a:xfrm>
            <a:off x="5094288" y="1997076"/>
            <a:ext cx="2190750" cy="3175"/>
          </a:xfrm>
          <a:prstGeom prst="straightConnector1">
            <a:avLst/>
          </a:prstGeom>
          <a:noFill/>
          <a:ln cap="flat" cmpd="sng" w="9525">
            <a:solidFill>
              <a:srgbClr val="000000"/>
            </a:solidFill>
            <a:prstDash val="dash"/>
            <a:round/>
            <a:headEnd len="med" w="med" type="none"/>
            <a:tailEnd len="med" w="med" type="none"/>
          </a:ln>
        </p:spPr>
      </p:cxnSp>
      <p:cxnSp>
        <p:nvCxnSpPr>
          <p:cNvPr id="4458" name="Google Shape;4458;p70"/>
          <p:cNvCxnSpPr/>
          <p:nvPr/>
        </p:nvCxnSpPr>
        <p:spPr>
          <a:xfrm>
            <a:off x="5099050" y="4108450"/>
            <a:ext cx="2192338" cy="0"/>
          </a:xfrm>
          <a:prstGeom prst="straightConnector1">
            <a:avLst/>
          </a:prstGeom>
          <a:noFill/>
          <a:ln cap="flat" cmpd="sng" w="9525">
            <a:solidFill>
              <a:srgbClr val="000000"/>
            </a:solidFill>
            <a:prstDash val="dash"/>
            <a:round/>
            <a:headEnd len="med" w="med" type="none"/>
            <a:tailEnd len="med" w="med" type="none"/>
          </a:ln>
        </p:spPr>
      </p:cxnSp>
      <p:cxnSp>
        <p:nvCxnSpPr>
          <p:cNvPr id="4459" name="Google Shape;4459;p70"/>
          <p:cNvCxnSpPr/>
          <p:nvPr/>
        </p:nvCxnSpPr>
        <p:spPr>
          <a:xfrm flipH="1" rot="10800000">
            <a:off x="5099050" y="3165475"/>
            <a:ext cx="2209800" cy="922338"/>
          </a:xfrm>
          <a:prstGeom prst="straightConnector1">
            <a:avLst/>
          </a:prstGeom>
          <a:noFill/>
          <a:ln cap="flat" cmpd="sng" w="9525">
            <a:solidFill>
              <a:srgbClr val="000000"/>
            </a:solidFill>
            <a:prstDash val="solid"/>
            <a:round/>
            <a:headEnd len="med" w="med" type="none"/>
            <a:tailEnd len="med" w="med" type="none"/>
          </a:ln>
        </p:spPr>
      </p:cxnSp>
      <p:sp>
        <p:nvSpPr>
          <p:cNvPr id="4460" name="Google Shape;4460;p70"/>
          <p:cNvSpPr/>
          <p:nvPr/>
        </p:nvSpPr>
        <p:spPr>
          <a:xfrm>
            <a:off x="5076826" y="1995488"/>
            <a:ext cx="2232025" cy="1155700"/>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4461" name="Google Shape;4461;p70"/>
          <p:cNvCxnSpPr/>
          <p:nvPr/>
        </p:nvCxnSpPr>
        <p:spPr>
          <a:xfrm rot="10800000">
            <a:off x="4932363" y="1995488"/>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4462" name="Google Shape;4462;p70"/>
          <p:cNvCxnSpPr/>
          <p:nvPr/>
        </p:nvCxnSpPr>
        <p:spPr>
          <a:xfrm rot="10800000">
            <a:off x="4932363" y="2236788"/>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4463" name="Google Shape;4463;p70"/>
          <p:cNvCxnSpPr/>
          <p:nvPr/>
        </p:nvCxnSpPr>
        <p:spPr>
          <a:xfrm rot="10800000">
            <a:off x="4943475" y="4095750"/>
            <a:ext cx="133350" cy="0"/>
          </a:xfrm>
          <a:prstGeom prst="straightConnector1">
            <a:avLst/>
          </a:prstGeom>
          <a:noFill/>
          <a:ln cap="flat" cmpd="sng" w="9525">
            <a:solidFill>
              <a:srgbClr val="000000"/>
            </a:solidFill>
            <a:prstDash val="solid"/>
            <a:round/>
            <a:headEnd len="med" w="med" type="none"/>
            <a:tailEnd len="med" w="med" type="none"/>
          </a:ln>
        </p:spPr>
      </p:cxnSp>
      <p:sp>
        <p:nvSpPr>
          <p:cNvPr id="4464" name="Google Shape;4464;p70"/>
          <p:cNvSpPr txBox="1"/>
          <p:nvPr/>
        </p:nvSpPr>
        <p:spPr>
          <a:xfrm>
            <a:off x="4279901" y="2968625"/>
            <a:ext cx="847725" cy="3365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0000"/>
              </a:buClr>
              <a:buSzPts val="1600"/>
              <a:buFont typeface="Noto Sans Symbols"/>
              <a:buNone/>
            </a:pPr>
            <a:r>
              <a:rPr b="0" lang="en-US" sz="1600" u="none">
                <a:solidFill>
                  <a:srgbClr val="CC0000"/>
                </a:solidFill>
                <a:latin typeface="Arial"/>
                <a:ea typeface="Arial"/>
                <a:cs typeface="Arial"/>
                <a:sym typeface="Arial"/>
              </a:rPr>
              <a:t>RTT</a:t>
            </a:r>
            <a:r>
              <a:rPr b="0" lang="en-US" sz="1000" u="none">
                <a:solidFill>
                  <a:schemeClr val="dk1"/>
                </a:solidFill>
                <a:latin typeface="Arial"/>
                <a:ea typeface="Arial"/>
                <a:cs typeface="Arial"/>
                <a:sym typeface="Arial"/>
              </a:rPr>
              <a:t> </a:t>
            </a:r>
            <a:endParaRPr b="0" sz="2400" u="none">
              <a:solidFill>
                <a:schemeClr val="dk1"/>
              </a:solidFill>
              <a:latin typeface="Times New Roman"/>
              <a:ea typeface="Times New Roman"/>
              <a:cs typeface="Times New Roman"/>
              <a:sym typeface="Times New Roman"/>
            </a:endParaRPr>
          </a:p>
        </p:txBody>
      </p:sp>
      <p:cxnSp>
        <p:nvCxnSpPr>
          <p:cNvPr id="4465" name="Google Shape;4465;p70"/>
          <p:cNvCxnSpPr/>
          <p:nvPr/>
        </p:nvCxnSpPr>
        <p:spPr>
          <a:xfrm>
            <a:off x="4967288" y="3276601"/>
            <a:ext cx="11112" cy="811213"/>
          </a:xfrm>
          <a:prstGeom prst="straightConnector1">
            <a:avLst/>
          </a:prstGeom>
          <a:noFill/>
          <a:ln cap="flat" cmpd="sng" w="9525">
            <a:solidFill>
              <a:srgbClr val="000000"/>
            </a:solidFill>
            <a:prstDash val="solid"/>
            <a:round/>
            <a:headEnd len="med" w="med" type="none"/>
            <a:tailEnd len="med" w="med" type="triangle"/>
          </a:ln>
        </p:spPr>
      </p:cxnSp>
      <p:cxnSp>
        <p:nvCxnSpPr>
          <p:cNvPr id="4466" name="Google Shape;4466;p70"/>
          <p:cNvCxnSpPr/>
          <p:nvPr/>
        </p:nvCxnSpPr>
        <p:spPr>
          <a:xfrm flipH="1" rot="10800000">
            <a:off x="4972051" y="2259013"/>
            <a:ext cx="3175" cy="768350"/>
          </a:xfrm>
          <a:prstGeom prst="straightConnector1">
            <a:avLst/>
          </a:prstGeom>
          <a:noFill/>
          <a:ln cap="flat" cmpd="sng" w="9525">
            <a:solidFill>
              <a:srgbClr val="000000"/>
            </a:solidFill>
            <a:prstDash val="solid"/>
            <a:round/>
            <a:headEnd len="med" w="med" type="none"/>
            <a:tailEnd len="med" w="med" type="triangle"/>
          </a:ln>
        </p:spPr>
      </p:cxnSp>
      <p:sp>
        <p:nvSpPr>
          <p:cNvPr id="4467" name="Google Shape;4467;p70"/>
          <p:cNvSpPr txBox="1"/>
          <p:nvPr/>
        </p:nvSpPr>
        <p:spPr>
          <a:xfrm>
            <a:off x="1524001" y="2074864"/>
            <a:ext cx="3465513" cy="35242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600"/>
              <a:buFont typeface="Noto Sans Symbols"/>
              <a:buNone/>
            </a:pPr>
            <a:r>
              <a:rPr b="0" lang="en-US" sz="1600" u="none">
                <a:solidFill>
                  <a:schemeClr val="dk1"/>
                </a:solidFill>
                <a:latin typeface="Arial"/>
                <a:ea typeface="Arial"/>
                <a:cs typeface="Arial"/>
                <a:sym typeface="Arial"/>
              </a:rPr>
              <a:t>last packet bit transmitted, </a:t>
            </a:r>
            <a:r>
              <a:rPr b="0" lang="en-US" sz="1600" u="none">
                <a:solidFill>
                  <a:srgbClr val="CC0000"/>
                </a:solidFill>
                <a:latin typeface="Arial"/>
                <a:ea typeface="Arial"/>
                <a:cs typeface="Arial"/>
                <a:sym typeface="Arial"/>
              </a:rPr>
              <a:t>t = L / R</a:t>
            </a:r>
            <a:endParaRPr b="0" sz="1600" u="none">
              <a:solidFill>
                <a:srgbClr val="CC0000"/>
              </a:solidFill>
              <a:latin typeface="Times New Roman"/>
              <a:ea typeface="Times New Roman"/>
              <a:cs typeface="Times New Roman"/>
              <a:sym typeface="Times New Roman"/>
            </a:endParaRPr>
          </a:p>
        </p:txBody>
      </p:sp>
      <p:cxnSp>
        <p:nvCxnSpPr>
          <p:cNvPr id="4468" name="Google Shape;4468;p70"/>
          <p:cNvCxnSpPr/>
          <p:nvPr/>
        </p:nvCxnSpPr>
        <p:spPr>
          <a:xfrm rot="10800000">
            <a:off x="7285038" y="2909888"/>
            <a:ext cx="133350" cy="0"/>
          </a:xfrm>
          <a:prstGeom prst="straightConnector1">
            <a:avLst/>
          </a:prstGeom>
          <a:noFill/>
          <a:ln cap="flat" cmpd="sng" w="9525">
            <a:solidFill>
              <a:srgbClr val="000000"/>
            </a:solidFill>
            <a:prstDash val="solid"/>
            <a:round/>
            <a:headEnd len="med" w="med" type="none"/>
            <a:tailEnd len="med" w="med" type="none"/>
          </a:ln>
        </p:spPr>
      </p:cxnSp>
      <p:sp>
        <p:nvSpPr>
          <p:cNvPr id="4469" name="Google Shape;4469;p70"/>
          <p:cNvSpPr txBox="1"/>
          <p:nvPr/>
        </p:nvSpPr>
        <p:spPr>
          <a:xfrm>
            <a:off x="7366000" y="2733676"/>
            <a:ext cx="242570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lang="en-US" sz="1600" u="none">
                <a:solidFill>
                  <a:schemeClr val="dk1"/>
                </a:solidFill>
                <a:latin typeface="Arial"/>
                <a:ea typeface="Arial"/>
                <a:cs typeface="Arial"/>
                <a:sym typeface="Arial"/>
              </a:rPr>
              <a:t>first packet bit arrives</a:t>
            </a:r>
            <a:endParaRPr b="0" sz="1600" u="none">
              <a:solidFill>
                <a:schemeClr val="dk1"/>
              </a:solidFill>
              <a:latin typeface="Times New Roman"/>
              <a:ea typeface="Times New Roman"/>
              <a:cs typeface="Times New Roman"/>
              <a:sym typeface="Times New Roman"/>
            </a:endParaRPr>
          </a:p>
        </p:txBody>
      </p:sp>
      <p:cxnSp>
        <p:nvCxnSpPr>
          <p:cNvPr id="4470" name="Google Shape;4470;p70"/>
          <p:cNvCxnSpPr/>
          <p:nvPr/>
        </p:nvCxnSpPr>
        <p:spPr>
          <a:xfrm>
            <a:off x="7308850" y="3159125"/>
            <a:ext cx="127000" cy="0"/>
          </a:xfrm>
          <a:prstGeom prst="straightConnector1">
            <a:avLst/>
          </a:prstGeom>
          <a:noFill/>
          <a:ln cap="flat" cmpd="sng" w="9525">
            <a:solidFill>
              <a:srgbClr val="000000"/>
            </a:solidFill>
            <a:prstDash val="solid"/>
            <a:round/>
            <a:headEnd len="med" w="med" type="none"/>
            <a:tailEnd len="med" w="med" type="none"/>
          </a:ln>
        </p:spPr>
      </p:cxnSp>
      <p:sp>
        <p:nvSpPr>
          <p:cNvPr id="4471" name="Google Shape;4471;p70"/>
          <p:cNvSpPr txBox="1"/>
          <p:nvPr/>
        </p:nvSpPr>
        <p:spPr>
          <a:xfrm>
            <a:off x="7372351" y="2986088"/>
            <a:ext cx="3114675" cy="5699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Noto Sans Symbols"/>
              <a:buNone/>
            </a:pPr>
            <a:r>
              <a:rPr b="0" lang="en-US" sz="1600" u="none">
                <a:solidFill>
                  <a:schemeClr val="dk1"/>
                </a:solidFill>
                <a:latin typeface="Arial"/>
                <a:ea typeface="Arial"/>
                <a:cs typeface="Arial"/>
                <a:sym typeface="Arial"/>
              </a:rPr>
              <a:t>last packet bit arrives, send ACK</a:t>
            </a:r>
            <a:endParaRPr b="0" sz="1600" u="none">
              <a:solidFill>
                <a:schemeClr val="dk1"/>
              </a:solidFill>
              <a:latin typeface="Times New Roman"/>
              <a:ea typeface="Times New Roman"/>
              <a:cs typeface="Times New Roman"/>
              <a:sym typeface="Times New Roman"/>
            </a:endParaRPr>
          </a:p>
        </p:txBody>
      </p:sp>
      <p:sp>
        <p:nvSpPr>
          <p:cNvPr id="4472" name="Google Shape;4472;p70"/>
          <p:cNvSpPr txBox="1"/>
          <p:nvPr/>
        </p:nvSpPr>
        <p:spPr>
          <a:xfrm>
            <a:off x="2349500" y="3768725"/>
            <a:ext cx="2686050" cy="635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600"/>
              <a:buFont typeface="Noto Sans Symbols"/>
              <a:buNone/>
            </a:pPr>
            <a:r>
              <a:rPr b="0" lang="en-US" sz="1600" u="none">
                <a:solidFill>
                  <a:schemeClr val="dk1"/>
                </a:solidFill>
                <a:latin typeface="Arial"/>
                <a:ea typeface="Arial"/>
                <a:cs typeface="Arial"/>
                <a:sym typeface="Arial"/>
              </a:rPr>
              <a:t>ACK arrives, send next </a:t>
            </a:r>
            <a:endParaRPr/>
          </a:p>
          <a:p>
            <a:pPr indent="0" lvl="0" marL="0" marR="0" rtl="0" algn="r">
              <a:lnSpc>
                <a:spcPct val="100000"/>
              </a:lnSpc>
              <a:spcBef>
                <a:spcPts val="0"/>
              </a:spcBef>
              <a:spcAft>
                <a:spcPts val="0"/>
              </a:spcAft>
              <a:buClr>
                <a:schemeClr val="dk1"/>
              </a:buClr>
              <a:buSzPts val="1600"/>
              <a:buFont typeface="Noto Sans Symbols"/>
              <a:buNone/>
            </a:pPr>
            <a:r>
              <a:rPr b="0" lang="en-US" sz="1600" u="none">
                <a:solidFill>
                  <a:schemeClr val="dk1"/>
                </a:solidFill>
                <a:latin typeface="Arial"/>
                <a:ea typeface="Arial"/>
                <a:cs typeface="Arial"/>
                <a:sym typeface="Arial"/>
              </a:rPr>
              <a:t>packet, </a:t>
            </a:r>
            <a:r>
              <a:rPr b="0" lang="en-US" sz="1600" u="none">
                <a:solidFill>
                  <a:srgbClr val="CC0000"/>
                </a:solidFill>
                <a:latin typeface="Arial"/>
                <a:ea typeface="Arial"/>
                <a:cs typeface="Arial"/>
                <a:sym typeface="Arial"/>
              </a:rPr>
              <a:t>t = RTT + L / R</a:t>
            </a:r>
            <a:endParaRPr b="0" sz="1600" u="none">
              <a:solidFill>
                <a:srgbClr val="CC0000"/>
              </a:solidFill>
              <a:latin typeface="Times New Roman"/>
              <a:ea typeface="Times New Roman"/>
              <a:cs typeface="Times New Roman"/>
              <a:sym typeface="Times New Roman"/>
            </a:endParaRPr>
          </a:p>
        </p:txBody>
      </p:sp>
      <p:sp>
        <p:nvSpPr>
          <p:cNvPr id="4473" name="Google Shape;4473;p70"/>
          <p:cNvSpPr/>
          <p:nvPr/>
        </p:nvSpPr>
        <p:spPr>
          <a:xfrm>
            <a:off x="5094289" y="4103688"/>
            <a:ext cx="1419225" cy="577850"/>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474" name="Google Shape;4474;p70"/>
          <p:cNvGrpSpPr/>
          <p:nvPr/>
        </p:nvGrpSpPr>
        <p:grpSpPr>
          <a:xfrm>
            <a:off x="5087938" y="4095750"/>
            <a:ext cx="1281112" cy="534988"/>
            <a:chOff x="12315" y="13225"/>
            <a:chExt cx="2775" cy="913"/>
          </a:xfrm>
        </p:grpSpPr>
        <p:cxnSp>
          <p:nvCxnSpPr>
            <p:cNvPr id="4475" name="Google Shape;4475;p70"/>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4476" name="Google Shape;4476;p70"/>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4477" name="Google Shape;4477;p70"/>
          <p:cNvCxnSpPr/>
          <p:nvPr/>
        </p:nvCxnSpPr>
        <p:spPr>
          <a:xfrm>
            <a:off x="5087938" y="4337051"/>
            <a:ext cx="317500" cy="123825"/>
          </a:xfrm>
          <a:prstGeom prst="straightConnector1">
            <a:avLst/>
          </a:prstGeom>
          <a:noFill/>
          <a:ln cap="flat" cmpd="sng" w="9525">
            <a:solidFill>
              <a:srgbClr val="000000"/>
            </a:solidFill>
            <a:prstDash val="solid"/>
            <a:round/>
            <a:headEnd len="med" w="med" type="none"/>
            <a:tailEnd len="med" w="med" type="none"/>
          </a:ln>
        </p:spPr>
      </p:cxnSp>
      <p:cxnSp>
        <p:nvCxnSpPr>
          <p:cNvPr id="4478" name="Google Shape;4478;p70"/>
          <p:cNvCxnSpPr/>
          <p:nvPr/>
        </p:nvCxnSpPr>
        <p:spPr>
          <a:xfrm>
            <a:off x="5411789" y="4460875"/>
            <a:ext cx="541337" cy="234950"/>
          </a:xfrm>
          <a:prstGeom prst="straightConnector1">
            <a:avLst/>
          </a:prstGeom>
          <a:noFill/>
          <a:ln cap="flat" cmpd="sng" w="9525">
            <a:solidFill>
              <a:srgbClr val="000000"/>
            </a:solidFill>
            <a:prstDash val="dot"/>
            <a:round/>
            <a:headEnd len="med" w="med" type="none"/>
            <a:tailEnd len="med" w="med" type="none"/>
          </a:ln>
        </p:spPr>
      </p:cxnSp>
      <p:graphicFrame>
        <p:nvGraphicFramePr>
          <p:cNvPr id="4479" name="Google Shape;4479;p70"/>
          <p:cNvGraphicFramePr/>
          <p:nvPr/>
        </p:nvGraphicFramePr>
        <p:xfrm>
          <a:off x="2779713" y="4862513"/>
          <a:ext cx="6748462" cy="933450"/>
        </p:xfrm>
        <a:graphic>
          <a:graphicData uri="http://schemas.openxmlformats.org/presentationml/2006/ole">
            <mc:AlternateContent>
              <mc:Choice Requires="v">
                <p:oleObj r:id="rId5" imgH="933450" imgW="6748462" progId="Word.Picture.8" spid="_x0000_s1">
                  <p:embed/>
                </p:oleObj>
              </mc:Choice>
              <mc:Fallback>
                <p:oleObj r:id="rId6" imgH="933450" imgW="6748462" progId="Word.Picture.8">
                  <p:embed/>
                  <p:pic>
                    <p:nvPicPr>
                      <p:cNvPr id="4479" name="Google Shape;4479;p70"/>
                      <p:cNvPicPr preferRelativeResize="0"/>
                      <p:nvPr/>
                    </p:nvPicPr>
                    <p:blipFill rotWithShape="1">
                      <a:blip r:embed="rId7">
                        <a:alphaModFix/>
                      </a:blip>
                      <a:srcRect b="0" l="0" r="0" t="0"/>
                      <a:stretch/>
                    </p:blipFill>
                    <p:spPr>
                      <a:xfrm>
                        <a:off x="2779713" y="4862513"/>
                        <a:ext cx="6748462" cy="933450"/>
                      </a:xfrm>
                      <a:prstGeom prst="rect">
                        <a:avLst/>
                      </a:prstGeom>
                      <a:noFill/>
                      <a:ln>
                        <a:noFill/>
                      </a:ln>
                    </p:spPr>
                  </p:pic>
                </p:oleObj>
              </mc:Fallback>
            </mc:AlternateContent>
          </a:graphicData>
        </a:graphic>
      </p:graphicFrame>
      <p:sp>
        <p:nvSpPr>
          <p:cNvPr id="4480" name="Google Shape;4480;p70"/>
          <p:cNvSpPr txBox="1"/>
          <p:nvPr/>
        </p:nvSpPr>
        <p:spPr>
          <a:xfrm>
            <a:off x="8558213" y="5089526"/>
            <a:ext cx="1109662"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0" lang="en-US" sz="1600" u="none">
                <a:solidFill>
                  <a:schemeClr val="dk1"/>
                </a:solidFill>
                <a:latin typeface="Tahoma"/>
                <a:ea typeface="Tahoma"/>
                <a:cs typeface="Tahoma"/>
                <a:sym typeface="Tahoma"/>
              </a:rPr>
              <a:t>= 0.027%</a:t>
            </a:r>
            <a:endParaRPr/>
          </a:p>
        </p:txBody>
      </p:sp>
      <p:sp>
        <p:nvSpPr>
          <p:cNvPr id="4481" name="Google Shape;4481;p70"/>
          <p:cNvSpPr/>
          <p:nvPr/>
        </p:nvSpPr>
        <p:spPr>
          <a:xfrm>
            <a:off x="2264465" y="6208713"/>
            <a:ext cx="7663070" cy="615553"/>
          </a:xfrm>
          <a:prstGeom prst="rect">
            <a:avLst/>
          </a:prstGeom>
          <a:noFill/>
          <a:ln>
            <a:noFill/>
          </a:ln>
        </p:spPr>
        <p:txBody>
          <a:bodyPr anchorCtr="0" anchor="t" bIns="45700" lIns="91425" spcFirstLastPara="1" rIns="91425" wrap="square" tIns="45700">
            <a:spAutoFit/>
          </a:bodyPr>
          <a:lstStyle/>
          <a:p>
            <a:pPr indent="-127000" lvl="0" marL="0" marR="0" rtl="0" algn="l">
              <a:lnSpc>
                <a:spcPct val="85000"/>
              </a:lnSpc>
              <a:spcBef>
                <a:spcPts val="0"/>
              </a:spcBef>
              <a:spcAft>
                <a:spcPts val="0"/>
              </a:spcAft>
              <a:buClr>
                <a:srgbClr val="000099"/>
              </a:buClr>
              <a:buSzPts val="2000"/>
              <a:buFont typeface="Noto Sans Symbols"/>
              <a:buChar char="▪"/>
            </a:pPr>
            <a:r>
              <a:rPr b="0" lang="en-US" sz="2000" u="none">
                <a:solidFill>
                  <a:schemeClr val="dk1"/>
                </a:solidFill>
                <a:latin typeface="Gill Sans"/>
                <a:ea typeface="Gill Sans"/>
                <a:cs typeface="Gill Sans"/>
                <a:sym typeface="Gill Sans"/>
              </a:rPr>
              <a:t>Problem: network protocol limits use of physical resources/underlying infrastructure (channel)!</a:t>
            </a:r>
            <a:endParaRPr/>
          </a:p>
        </p:txBody>
      </p:sp>
      <p:sp>
        <p:nvSpPr>
          <p:cNvPr id="4482" name="Google Shape;4482;p70"/>
          <p:cNvSpPr/>
          <p:nvPr/>
        </p:nvSpPr>
        <p:spPr>
          <a:xfrm>
            <a:off x="2551114" y="5676900"/>
            <a:ext cx="13954125" cy="458788"/>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99"/>
              </a:buClr>
              <a:buSzPts val="2800"/>
              <a:buFont typeface="Noto Sans Symbols"/>
              <a:buNone/>
            </a:pPr>
            <a:r>
              <a:rPr b="0" lang="en-US" sz="2800" u="none">
                <a:solidFill>
                  <a:schemeClr val="dk1"/>
                </a:solidFill>
                <a:latin typeface="Gill Sans"/>
                <a:ea typeface="Gill Sans"/>
                <a:cs typeface="Gill Sans"/>
                <a:sym typeface="Gill Sans"/>
              </a:rPr>
              <a:t>Throughtput =1Gbps x 0.027% = 270 Kbps</a:t>
            </a:r>
            <a:endParaRPr/>
          </a:p>
        </p:txBody>
      </p:sp>
      <p:sp>
        <p:nvSpPr>
          <p:cNvPr id="4483" name="Google Shape;4483;p70"/>
          <p:cNvSpPr txBox="1"/>
          <p:nvPr/>
        </p:nvSpPr>
        <p:spPr>
          <a:xfrm>
            <a:off x="2867026" y="4681539"/>
            <a:ext cx="137980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RTT= </a:t>
            </a:r>
            <a:r>
              <a:rPr lang="en-US" sz="2400">
                <a:solidFill>
                  <a:schemeClr val="dk1"/>
                </a:solidFill>
                <a:latin typeface="Calibri"/>
                <a:ea typeface="Calibri"/>
                <a:cs typeface="Calibri"/>
                <a:sym typeface="Calibri"/>
              </a:rPr>
              <a:t>30ms</a:t>
            </a:r>
            <a:endParaRPr/>
          </a:p>
        </p:txBody>
      </p:sp>
      <p:sp>
        <p:nvSpPr>
          <p:cNvPr id="4484" name="Google Shape;4484;p70"/>
          <p:cNvSpPr txBox="1"/>
          <p:nvPr/>
        </p:nvSpPr>
        <p:spPr>
          <a:xfrm>
            <a:off x="2003426" y="-19843"/>
            <a:ext cx="8372475"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en-US" sz="4000" u="none">
                <a:solidFill>
                  <a:srgbClr val="000099"/>
                </a:solidFill>
                <a:latin typeface="Calibri"/>
                <a:ea typeface="Calibri"/>
                <a:cs typeface="Calibri"/>
                <a:sym typeface="Calibri"/>
              </a:rPr>
              <a:t>Performance of rdt3.0 (stop-and-wait)</a:t>
            </a:r>
            <a:endParaRPr b="0" sz="4400" u="none">
              <a:solidFill>
                <a:srgbClr val="000099"/>
              </a:solidFill>
              <a:latin typeface="Calibri"/>
              <a:ea typeface="Calibri"/>
              <a:cs typeface="Calibri"/>
              <a:sym typeface="Calibri"/>
            </a:endParaRPr>
          </a:p>
        </p:txBody>
      </p:sp>
      <p:sp>
        <p:nvSpPr>
          <p:cNvPr id="4485" name="Google Shape;4485;p7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0" name="Shape 4490"/>
        <p:cNvGrpSpPr/>
        <p:nvPr/>
      </p:nvGrpSpPr>
      <p:grpSpPr>
        <a:xfrm>
          <a:off x="0" y="0"/>
          <a:ext cx="0" cy="0"/>
          <a:chOff x="0" y="0"/>
          <a:chExt cx="0" cy="0"/>
        </a:xfrm>
      </p:grpSpPr>
      <p:sp>
        <p:nvSpPr>
          <p:cNvPr id="4491" name="Google Shape;4491;p7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pipelined protocols operation</a:t>
            </a:r>
            <a:endParaRPr sz="4400"/>
          </a:p>
        </p:txBody>
      </p:sp>
      <p:sp>
        <p:nvSpPr>
          <p:cNvPr id="4492" name="Google Shape;4492;p71"/>
          <p:cNvSpPr txBox="1"/>
          <p:nvPr/>
        </p:nvSpPr>
        <p:spPr>
          <a:xfrm>
            <a:off x="722556" y="1312877"/>
            <a:ext cx="10988826" cy="203318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pipelining:</a:t>
            </a:r>
            <a:r>
              <a:rPr b="0" i="0" lang="en-US" sz="2800" u="none" cap="none" strike="noStrike">
                <a:solidFill>
                  <a:srgbClr val="000000"/>
                </a:solidFill>
                <a:latin typeface="Calibri"/>
                <a:ea typeface="Calibri"/>
                <a:cs typeface="Calibri"/>
                <a:sym typeface="Calibri"/>
              </a:rPr>
              <a:t> sender allows multiple, “in-flight”, yet-to-be-acknowledged packets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range of sequence numbers must be increased</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buffering at sender and/or receiver</a:t>
            </a:r>
            <a:endParaRPr/>
          </a:p>
        </p:txBody>
      </p:sp>
      <p:grpSp>
        <p:nvGrpSpPr>
          <p:cNvPr id="4493" name="Google Shape;4493;p71"/>
          <p:cNvGrpSpPr/>
          <p:nvPr/>
        </p:nvGrpSpPr>
        <p:grpSpPr>
          <a:xfrm>
            <a:off x="2916237" y="2993267"/>
            <a:ext cx="6359525" cy="2370138"/>
            <a:chOff x="1673403" y="3019025"/>
            <a:chExt cx="6359525" cy="2370138"/>
          </a:xfrm>
        </p:grpSpPr>
        <p:pic>
          <p:nvPicPr>
            <p:cNvPr descr="rdt_pipelined1" id="4494" name="Google Shape;4494;p71"/>
            <p:cNvPicPr preferRelativeResize="0"/>
            <p:nvPr/>
          </p:nvPicPr>
          <p:blipFill rotWithShape="1">
            <a:blip r:embed="rId3">
              <a:alphaModFix/>
            </a:blip>
            <a:srcRect b="0" l="0" r="0" t="0"/>
            <a:stretch/>
          </p:blipFill>
          <p:spPr>
            <a:xfrm>
              <a:off x="1927403" y="3019025"/>
              <a:ext cx="6105525" cy="2370138"/>
            </a:xfrm>
            <a:prstGeom prst="rect">
              <a:avLst/>
            </a:prstGeom>
            <a:noFill/>
            <a:ln>
              <a:noFill/>
            </a:ln>
          </p:spPr>
        </p:pic>
        <p:grpSp>
          <p:nvGrpSpPr>
            <p:cNvPr id="4495" name="Google Shape;4495;p71"/>
            <p:cNvGrpSpPr/>
            <p:nvPr/>
          </p:nvGrpSpPr>
          <p:grpSpPr>
            <a:xfrm>
              <a:off x="1673403" y="3696888"/>
              <a:ext cx="469900" cy="465137"/>
              <a:chOff x="881" y="2283"/>
              <a:chExt cx="296" cy="293"/>
            </a:xfrm>
          </p:grpSpPr>
          <p:sp>
            <p:nvSpPr>
              <p:cNvPr id="4496" name="Google Shape;4496;p71"/>
              <p:cNvSpPr/>
              <p:nvPr/>
            </p:nvSpPr>
            <p:spPr>
              <a:xfrm>
                <a:off x="1026" y="2283"/>
                <a:ext cx="122" cy="2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497" name="Google Shape;4497;p71"/>
              <p:cNvGrpSpPr/>
              <p:nvPr/>
            </p:nvGrpSpPr>
            <p:grpSpPr>
              <a:xfrm flipH="1">
                <a:off x="881" y="2283"/>
                <a:ext cx="296" cy="293"/>
                <a:chOff x="2839" y="3501"/>
                <a:chExt cx="755" cy="803"/>
              </a:xfrm>
            </p:grpSpPr>
            <p:pic>
              <p:nvPicPr>
                <p:cNvPr descr="desktop_computer_stylized_medium" id="4498" name="Google Shape;4498;p71"/>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4499" name="Google Shape;4499;p71"/>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sp>
          <p:nvSpPr>
            <p:cNvPr id="4500" name="Google Shape;4500;p71"/>
            <p:cNvSpPr/>
            <p:nvPr/>
          </p:nvSpPr>
          <p:spPr>
            <a:xfrm>
              <a:off x="7613828" y="3709588"/>
              <a:ext cx="185737" cy="431800"/>
            </a:xfrm>
            <a:custGeom>
              <a:rect b="b" l="l" r="r" t="t"/>
              <a:pathLst>
                <a:path extrusionOk="0" h="272" w="117">
                  <a:moveTo>
                    <a:pt x="6" y="6"/>
                  </a:moveTo>
                  <a:lnTo>
                    <a:pt x="3" y="77"/>
                  </a:lnTo>
                  <a:lnTo>
                    <a:pt x="59" y="120"/>
                  </a:lnTo>
                  <a:lnTo>
                    <a:pt x="0" y="146"/>
                  </a:lnTo>
                  <a:lnTo>
                    <a:pt x="3" y="270"/>
                  </a:lnTo>
                  <a:lnTo>
                    <a:pt x="117" y="272"/>
                  </a:lnTo>
                  <a:lnTo>
                    <a:pt x="114" y="0"/>
                  </a:lnTo>
                  <a:lnTo>
                    <a:pt x="6" y="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501" name="Google Shape;4501;p71"/>
            <p:cNvGrpSpPr/>
            <p:nvPr/>
          </p:nvGrpSpPr>
          <p:grpSpPr>
            <a:xfrm>
              <a:off x="4784903" y="3714350"/>
              <a:ext cx="469900" cy="465138"/>
              <a:chOff x="881" y="2283"/>
              <a:chExt cx="296" cy="293"/>
            </a:xfrm>
          </p:grpSpPr>
          <p:sp>
            <p:nvSpPr>
              <p:cNvPr id="4502" name="Google Shape;4502;p71"/>
              <p:cNvSpPr/>
              <p:nvPr/>
            </p:nvSpPr>
            <p:spPr>
              <a:xfrm>
                <a:off x="1026" y="2283"/>
                <a:ext cx="122" cy="2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503" name="Google Shape;4503;p71"/>
              <p:cNvGrpSpPr/>
              <p:nvPr/>
            </p:nvGrpSpPr>
            <p:grpSpPr>
              <a:xfrm flipH="1">
                <a:off x="881" y="2283"/>
                <a:ext cx="296" cy="293"/>
                <a:chOff x="2839" y="3501"/>
                <a:chExt cx="755" cy="803"/>
              </a:xfrm>
            </p:grpSpPr>
            <p:pic>
              <p:nvPicPr>
                <p:cNvPr descr="desktop_computer_stylized_medium" id="4504" name="Google Shape;4504;p71"/>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4505" name="Google Shape;4505;p71"/>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grpSp>
          <p:nvGrpSpPr>
            <p:cNvPr id="4506" name="Google Shape;4506;p71"/>
            <p:cNvGrpSpPr/>
            <p:nvPr/>
          </p:nvGrpSpPr>
          <p:grpSpPr>
            <a:xfrm>
              <a:off x="4493546" y="3633388"/>
              <a:ext cx="223838" cy="501650"/>
              <a:chOff x="4140" y="429"/>
              <a:chExt cx="1425" cy="2396"/>
            </a:xfrm>
          </p:grpSpPr>
          <p:sp>
            <p:nvSpPr>
              <p:cNvPr id="4507" name="Google Shape;4507;p7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08" name="Google Shape;4508;p71"/>
              <p:cNvSpPr/>
              <p:nvPr/>
            </p:nvSpPr>
            <p:spPr>
              <a:xfrm>
                <a:off x="4211" y="429"/>
                <a:ext cx="1041" cy="2282"/>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09" name="Google Shape;4509;p7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10" name="Google Shape;4510;p7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11" name="Google Shape;4511;p71"/>
              <p:cNvSpPr/>
              <p:nvPr/>
            </p:nvSpPr>
            <p:spPr>
              <a:xfrm>
                <a:off x="4211" y="694"/>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512" name="Google Shape;4512;p71"/>
              <p:cNvGrpSpPr/>
              <p:nvPr/>
            </p:nvGrpSpPr>
            <p:grpSpPr>
              <a:xfrm>
                <a:off x="4747" y="671"/>
                <a:ext cx="586" cy="144"/>
                <a:chOff x="611" y="2571"/>
                <a:chExt cx="731" cy="138"/>
              </a:xfrm>
            </p:grpSpPr>
            <p:sp>
              <p:nvSpPr>
                <p:cNvPr id="4513" name="Google Shape;4513;p71"/>
                <p:cNvSpPr/>
                <p:nvPr/>
              </p:nvSpPr>
              <p:spPr>
                <a:xfrm>
                  <a:off x="611" y="2571"/>
                  <a:ext cx="73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14" name="Google Shape;4514;p71"/>
                <p:cNvSpPr/>
                <p:nvPr/>
              </p:nvSpPr>
              <p:spPr>
                <a:xfrm>
                  <a:off x="623" y="2586"/>
                  <a:ext cx="706"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515" name="Google Shape;4515;p71"/>
              <p:cNvSpPr/>
              <p:nvPr/>
            </p:nvSpPr>
            <p:spPr>
              <a:xfrm>
                <a:off x="4221" y="1020"/>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516" name="Google Shape;4516;p71"/>
              <p:cNvGrpSpPr/>
              <p:nvPr/>
            </p:nvGrpSpPr>
            <p:grpSpPr>
              <a:xfrm>
                <a:off x="4746" y="998"/>
                <a:ext cx="586" cy="129"/>
                <a:chOff x="613" y="2572"/>
                <a:chExt cx="731" cy="134"/>
              </a:xfrm>
            </p:grpSpPr>
            <p:sp>
              <p:nvSpPr>
                <p:cNvPr id="4517" name="Google Shape;4517;p71"/>
                <p:cNvSpPr/>
                <p:nvPr/>
              </p:nvSpPr>
              <p:spPr>
                <a:xfrm>
                  <a:off x="613" y="2572"/>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18" name="Google Shape;4518;p71"/>
                <p:cNvSpPr/>
                <p:nvPr/>
              </p:nvSpPr>
              <p:spPr>
                <a:xfrm>
                  <a:off x="626" y="2588"/>
                  <a:ext cx="706"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519" name="Google Shape;4519;p71"/>
              <p:cNvSpPr/>
              <p:nvPr/>
            </p:nvSpPr>
            <p:spPr>
              <a:xfrm>
                <a:off x="4221" y="1362"/>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20" name="Google Shape;4520;p71"/>
              <p:cNvSpPr/>
              <p:nvPr/>
            </p:nvSpPr>
            <p:spPr>
              <a:xfrm>
                <a:off x="4231" y="1657"/>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521" name="Google Shape;4521;p71"/>
              <p:cNvGrpSpPr/>
              <p:nvPr/>
            </p:nvGrpSpPr>
            <p:grpSpPr>
              <a:xfrm>
                <a:off x="4737" y="1627"/>
                <a:ext cx="576" cy="152"/>
                <a:chOff x="616" y="2568"/>
                <a:chExt cx="718" cy="140"/>
              </a:xfrm>
            </p:grpSpPr>
            <p:sp>
              <p:nvSpPr>
                <p:cNvPr id="4522" name="Google Shape;4522;p71"/>
                <p:cNvSpPr/>
                <p:nvPr/>
              </p:nvSpPr>
              <p:spPr>
                <a:xfrm>
                  <a:off x="616" y="2568"/>
                  <a:ext cx="718"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23" name="Google Shape;4523;p71"/>
                <p:cNvSpPr/>
                <p:nvPr/>
              </p:nvSpPr>
              <p:spPr>
                <a:xfrm>
                  <a:off x="628" y="2582"/>
                  <a:ext cx="692" cy="11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524" name="Google Shape;4524;p7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525" name="Google Shape;4525;p71"/>
              <p:cNvGrpSpPr/>
              <p:nvPr/>
            </p:nvGrpSpPr>
            <p:grpSpPr>
              <a:xfrm>
                <a:off x="4737" y="1324"/>
                <a:ext cx="586" cy="144"/>
                <a:chOff x="611" y="2565"/>
                <a:chExt cx="730" cy="144"/>
              </a:xfrm>
            </p:grpSpPr>
            <p:sp>
              <p:nvSpPr>
                <p:cNvPr id="4526" name="Google Shape;4526;p71"/>
                <p:cNvSpPr/>
                <p:nvPr/>
              </p:nvSpPr>
              <p:spPr>
                <a:xfrm>
                  <a:off x="611" y="2565"/>
                  <a:ext cx="730"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27" name="Google Shape;4527;p71"/>
                <p:cNvSpPr/>
                <p:nvPr/>
              </p:nvSpPr>
              <p:spPr>
                <a:xfrm>
                  <a:off x="623" y="2580"/>
                  <a:ext cx="705"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528" name="Google Shape;4528;p71"/>
              <p:cNvSpPr/>
              <p:nvPr/>
            </p:nvSpPr>
            <p:spPr>
              <a:xfrm>
                <a:off x="5252"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29" name="Google Shape;4529;p7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30" name="Google Shape;4530;p7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31" name="Google Shape;4531;p71"/>
              <p:cNvSpPr/>
              <p:nvPr/>
            </p:nvSpPr>
            <p:spPr>
              <a:xfrm>
                <a:off x="5514" y="2613"/>
                <a:ext cx="51" cy="9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32" name="Google Shape;4532;p7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33" name="Google Shape;4533;p71"/>
              <p:cNvSpPr/>
              <p:nvPr/>
            </p:nvSpPr>
            <p:spPr>
              <a:xfrm>
                <a:off x="4140" y="2681"/>
                <a:ext cx="1203"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34" name="Google Shape;4534;p71"/>
              <p:cNvSpPr/>
              <p:nvPr/>
            </p:nvSpPr>
            <p:spPr>
              <a:xfrm>
                <a:off x="4211" y="2711"/>
                <a:ext cx="1061"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35" name="Google Shape;4535;p71"/>
              <p:cNvSpPr/>
              <p:nvPr/>
            </p:nvSpPr>
            <p:spPr>
              <a:xfrm>
                <a:off x="4312" y="2385"/>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36" name="Google Shape;4536;p71"/>
              <p:cNvSpPr/>
              <p:nvPr/>
            </p:nvSpPr>
            <p:spPr>
              <a:xfrm>
                <a:off x="4484" y="2385"/>
                <a:ext cx="162"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4537" name="Google Shape;4537;p71"/>
              <p:cNvSpPr/>
              <p:nvPr/>
            </p:nvSpPr>
            <p:spPr>
              <a:xfrm>
                <a:off x="4666" y="2378"/>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38" name="Google Shape;4538;p71"/>
              <p:cNvSpPr/>
              <p:nvPr/>
            </p:nvSpPr>
            <p:spPr>
              <a:xfrm>
                <a:off x="5060" y="1832"/>
                <a:ext cx="91" cy="766"/>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nvGrpSpPr>
            <p:cNvPr id="4539" name="Google Shape;4539;p71"/>
            <p:cNvGrpSpPr/>
            <p:nvPr/>
          </p:nvGrpSpPr>
          <p:grpSpPr>
            <a:xfrm>
              <a:off x="7659865" y="3576238"/>
              <a:ext cx="223838" cy="501650"/>
              <a:chOff x="4140" y="429"/>
              <a:chExt cx="1425" cy="2396"/>
            </a:xfrm>
          </p:grpSpPr>
          <p:sp>
            <p:nvSpPr>
              <p:cNvPr id="4540" name="Google Shape;4540;p7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41" name="Google Shape;4541;p71"/>
              <p:cNvSpPr/>
              <p:nvPr/>
            </p:nvSpPr>
            <p:spPr>
              <a:xfrm>
                <a:off x="4211" y="429"/>
                <a:ext cx="1041" cy="2282"/>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42" name="Google Shape;4542;p7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43" name="Google Shape;4543;p7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44" name="Google Shape;4544;p71"/>
              <p:cNvSpPr/>
              <p:nvPr/>
            </p:nvSpPr>
            <p:spPr>
              <a:xfrm>
                <a:off x="4211" y="694"/>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545" name="Google Shape;4545;p71"/>
              <p:cNvGrpSpPr/>
              <p:nvPr/>
            </p:nvGrpSpPr>
            <p:grpSpPr>
              <a:xfrm>
                <a:off x="4747" y="671"/>
                <a:ext cx="586" cy="144"/>
                <a:chOff x="611" y="2571"/>
                <a:chExt cx="731" cy="138"/>
              </a:xfrm>
            </p:grpSpPr>
            <p:sp>
              <p:nvSpPr>
                <p:cNvPr id="4546" name="Google Shape;4546;p71"/>
                <p:cNvSpPr/>
                <p:nvPr/>
              </p:nvSpPr>
              <p:spPr>
                <a:xfrm>
                  <a:off x="611" y="2571"/>
                  <a:ext cx="73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47" name="Google Shape;4547;p71"/>
                <p:cNvSpPr/>
                <p:nvPr/>
              </p:nvSpPr>
              <p:spPr>
                <a:xfrm>
                  <a:off x="623" y="2586"/>
                  <a:ext cx="706"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548" name="Google Shape;4548;p71"/>
              <p:cNvSpPr/>
              <p:nvPr/>
            </p:nvSpPr>
            <p:spPr>
              <a:xfrm>
                <a:off x="4221" y="1020"/>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549" name="Google Shape;4549;p71"/>
              <p:cNvGrpSpPr/>
              <p:nvPr/>
            </p:nvGrpSpPr>
            <p:grpSpPr>
              <a:xfrm>
                <a:off x="4746" y="998"/>
                <a:ext cx="586" cy="129"/>
                <a:chOff x="613" y="2572"/>
                <a:chExt cx="731" cy="134"/>
              </a:xfrm>
            </p:grpSpPr>
            <p:sp>
              <p:nvSpPr>
                <p:cNvPr id="4550" name="Google Shape;4550;p71"/>
                <p:cNvSpPr/>
                <p:nvPr/>
              </p:nvSpPr>
              <p:spPr>
                <a:xfrm>
                  <a:off x="613" y="2572"/>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51" name="Google Shape;4551;p71"/>
                <p:cNvSpPr/>
                <p:nvPr/>
              </p:nvSpPr>
              <p:spPr>
                <a:xfrm>
                  <a:off x="626" y="2588"/>
                  <a:ext cx="706"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552" name="Google Shape;4552;p71"/>
              <p:cNvSpPr/>
              <p:nvPr/>
            </p:nvSpPr>
            <p:spPr>
              <a:xfrm>
                <a:off x="4221" y="1362"/>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53" name="Google Shape;4553;p71"/>
              <p:cNvSpPr/>
              <p:nvPr/>
            </p:nvSpPr>
            <p:spPr>
              <a:xfrm>
                <a:off x="4231" y="1657"/>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554" name="Google Shape;4554;p71"/>
              <p:cNvGrpSpPr/>
              <p:nvPr/>
            </p:nvGrpSpPr>
            <p:grpSpPr>
              <a:xfrm>
                <a:off x="4737" y="1627"/>
                <a:ext cx="576" cy="152"/>
                <a:chOff x="616" y="2568"/>
                <a:chExt cx="718" cy="140"/>
              </a:xfrm>
            </p:grpSpPr>
            <p:sp>
              <p:nvSpPr>
                <p:cNvPr id="4555" name="Google Shape;4555;p71"/>
                <p:cNvSpPr/>
                <p:nvPr/>
              </p:nvSpPr>
              <p:spPr>
                <a:xfrm>
                  <a:off x="616" y="2568"/>
                  <a:ext cx="718"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56" name="Google Shape;4556;p71"/>
                <p:cNvSpPr/>
                <p:nvPr/>
              </p:nvSpPr>
              <p:spPr>
                <a:xfrm>
                  <a:off x="628" y="2582"/>
                  <a:ext cx="692" cy="11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557" name="Google Shape;4557;p7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558" name="Google Shape;4558;p71"/>
              <p:cNvGrpSpPr/>
              <p:nvPr/>
            </p:nvGrpSpPr>
            <p:grpSpPr>
              <a:xfrm>
                <a:off x="4737" y="1324"/>
                <a:ext cx="586" cy="144"/>
                <a:chOff x="611" y="2565"/>
                <a:chExt cx="730" cy="144"/>
              </a:xfrm>
            </p:grpSpPr>
            <p:sp>
              <p:nvSpPr>
                <p:cNvPr id="4559" name="Google Shape;4559;p71"/>
                <p:cNvSpPr/>
                <p:nvPr/>
              </p:nvSpPr>
              <p:spPr>
                <a:xfrm>
                  <a:off x="611" y="2565"/>
                  <a:ext cx="730"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60" name="Google Shape;4560;p71"/>
                <p:cNvSpPr/>
                <p:nvPr/>
              </p:nvSpPr>
              <p:spPr>
                <a:xfrm>
                  <a:off x="623" y="2580"/>
                  <a:ext cx="705"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4561" name="Google Shape;4561;p71"/>
              <p:cNvSpPr/>
              <p:nvPr/>
            </p:nvSpPr>
            <p:spPr>
              <a:xfrm>
                <a:off x="5252"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62" name="Google Shape;4562;p7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63" name="Google Shape;4563;p7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64" name="Google Shape;4564;p71"/>
              <p:cNvSpPr/>
              <p:nvPr/>
            </p:nvSpPr>
            <p:spPr>
              <a:xfrm>
                <a:off x="5514" y="2613"/>
                <a:ext cx="51" cy="9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65" name="Google Shape;4565;p7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66" name="Google Shape;4566;p71"/>
              <p:cNvSpPr/>
              <p:nvPr/>
            </p:nvSpPr>
            <p:spPr>
              <a:xfrm>
                <a:off x="4140" y="2681"/>
                <a:ext cx="1203"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67" name="Google Shape;4567;p71"/>
              <p:cNvSpPr/>
              <p:nvPr/>
            </p:nvSpPr>
            <p:spPr>
              <a:xfrm>
                <a:off x="4211" y="2711"/>
                <a:ext cx="1061"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68" name="Google Shape;4568;p71"/>
              <p:cNvSpPr/>
              <p:nvPr/>
            </p:nvSpPr>
            <p:spPr>
              <a:xfrm>
                <a:off x="4312" y="2385"/>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69" name="Google Shape;4569;p71"/>
              <p:cNvSpPr/>
              <p:nvPr/>
            </p:nvSpPr>
            <p:spPr>
              <a:xfrm>
                <a:off x="4484" y="2385"/>
                <a:ext cx="162"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4570" name="Google Shape;4570;p71"/>
              <p:cNvSpPr/>
              <p:nvPr/>
            </p:nvSpPr>
            <p:spPr>
              <a:xfrm>
                <a:off x="4666" y="2378"/>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571" name="Google Shape;4571;p71"/>
              <p:cNvSpPr/>
              <p:nvPr/>
            </p:nvSpPr>
            <p:spPr>
              <a:xfrm>
                <a:off x="5060" y="1832"/>
                <a:ext cx="91" cy="766"/>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sp>
        <p:nvSpPr>
          <p:cNvPr id="4572" name="Google Shape;4572;p7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
        <p:nvSpPr>
          <p:cNvPr id="4573" name="Google Shape;4573;p71"/>
          <p:cNvSpPr txBox="1"/>
          <p:nvPr/>
        </p:nvSpPr>
        <p:spPr>
          <a:xfrm>
            <a:off x="1952625" y="5587640"/>
            <a:ext cx="8286750" cy="107632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two generic forms of pipelined protocols: </a:t>
            </a:r>
            <a:r>
              <a:rPr i="1" lang="en-US" sz="2800">
                <a:solidFill>
                  <a:srgbClr val="CC0000"/>
                </a:solidFill>
                <a:latin typeface="Calibri"/>
                <a:ea typeface="Calibri"/>
                <a:cs typeface="Calibri"/>
                <a:sym typeface="Calibri"/>
              </a:rPr>
              <a:t>go-Back-N, selective repeat</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8" name="Shape 4578"/>
        <p:cNvGrpSpPr/>
        <p:nvPr/>
      </p:nvGrpSpPr>
      <p:grpSpPr>
        <a:xfrm>
          <a:off x="0" y="0"/>
          <a:ext cx="0" cy="0"/>
          <a:chOff x="0" y="0"/>
          <a:chExt cx="0" cy="0"/>
        </a:xfrm>
      </p:grpSpPr>
      <p:sp>
        <p:nvSpPr>
          <p:cNvPr id="4579" name="Google Shape;4579;p7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Pipelining: increased utilization</a:t>
            </a:r>
            <a:endParaRPr sz="4400"/>
          </a:p>
        </p:txBody>
      </p:sp>
      <p:grpSp>
        <p:nvGrpSpPr>
          <p:cNvPr id="4580" name="Google Shape;4580;p72"/>
          <p:cNvGrpSpPr/>
          <p:nvPr/>
        </p:nvGrpSpPr>
        <p:grpSpPr>
          <a:xfrm>
            <a:off x="1436915" y="1417186"/>
            <a:ext cx="9144000" cy="3759200"/>
            <a:chOff x="1436915" y="1417186"/>
            <a:chExt cx="9144000" cy="3759200"/>
          </a:xfrm>
        </p:grpSpPr>
        <p:grpSp>
          <p:nvGrpSpPr>
            <p:cNvPr id="4581" name="Google Shape;4581;p72"/>
            <p:cNvGrpSpPr/>
            <p:nvPr/>
          </p:nvGrpSpPr>
          <p:grpSpPr>
            <a:xfrm>
              <a:off x="1436915" y="1744211"/>
              <a:ext cx="5265738" cy="3432175"/>
              <a:chOff x="1436915" y="1744211"/>
              <a:chExt cx="5265738" cy="3432175"/>
            </a:xfrm>
          </p:grpSpPr>
          <p:sp>
            <p:nvSpPr>
              <p:cNvPr id="4582" name="Google Shape;4582;p72"/>
              <p:cNvSpPr txBox="1"/>
              <p:nvPr/>
            </p:nvSpPr>
            <p:spPr>
              <a:xfrm>
                <a:off x="1436915" y="1760086"/>
                <a:ext cx="3086100" cy="354013"/>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transmitted, t = 0</a:t>
                </a:r>
                <a:endParaRPr b="0" i="0" sz="1600" u="none" cap="none" strike="noStrike">
                  <a:solidFill>
                    <a:srgbClr val="000000"/>
                  </a:solidFill>
                  <a:latin typeface="Times New Roman"/>
                  <a:ea typeface="Times New Roman"/>
                  <a:cs typeface="Times New Roman"/>
                  <a:sym typeface="Times New Roman"/>
                </a:endParaRPr>
              </a:p>
            </p:txBody>
          </p:sp>
          <p:cxnSp>
            <p:nvCxnSpPr>
              <p:cNvPr id="4583" name="Google Shape;4583;p72"/>
              <p:cNvCxnSpPr/>
              <p:nvPr/>
            </p:nvCxnSpPr>
            <p:spPr>
              <a:xfrm>
                <a:off x="4599215" y="1744211"/>
                <a:ext cx="20638" cy="3284538"/>
              </a:xfrm>
              <a:prstGeom prst="straightConnector1">
                <a:avLst/>
              </a:prstGeom>
              <a:noFill/>
              <a:ln cap="flat" cmpd="sng" w="9525">
                <a:solidFill>
                  <a:srgbClr val="000000"/>
                </a:solidFill>
                <a:prstDash val="solid"/>
                <a:round/>
                <a:headEnd len="med" w="med" type="none"/>
                <a:tailEnd len="med" w="med" type="triangle"/>
              </a:ln>
            </p:spPr>
          </p:cxnSp>
          <p:cxnSp>
            <p:nvCxnSpPr>
              <p:cNvPr id="4584" name="Google Shape;4584;p72"/>
              <p:cNvCxnSpPr/>
              <p:nvPr/>
            </p:nvCxnSpPr>
            <p:spPr>
              <a:xfrm>
                <a:off x="6680428" y="1756911"/>
                <a:ext cx="22225" cy="3351213"/>
              </a:xfrm>
              <a:prstGeom prst="straightConnector1">
                <a:avLst/>
              </a:prstGeom>
              <a:noFill/>
              <a:ln cap="flat" cmpd="sng" w="9525">
                <a:solidFill>
                  <a:srgbClr val="000000"/>
                </a:solidFill>
                <a:prstDash val="solid"/>
                <a:round/>
                <a:headEnd len="med" w="med" type="none"/>
                <a:tailEnd len="med" w="med" type="triangle"/>
              </a:ln>
            </p:spPr>
          </p:cxnSp>
          <p:grpSp>
            <p:nvGrpSpPr>
              <p:cNvPr id="4585" name="Google Shape;4585;p72"/>
              <p:cNvGrpSpPr/>
              <p:nvPr/>
            </p:nvGrpSpPr>
            <p:grpSpPr>
              <a:xfrm>
                <a:off x="4480153" y="4081011"/>
                <a:ext cx="1466850" cy="608013"/>
                <a:chOff x="12502" y="21425"/>
                <a:chExt cx="3400" cy="1025"/>
              </a:xfrm>
            </p:grpSpPr>
            <p:cxnSp>
              <p:nvCxnSpPr>
                <p:cNvPr id="4586" name="Google Shape;4586;p72"/>
                <p:cNvCxnSpPr/>
                <p:nvPr/>
              </p:nvCxnSpPr>
              <p:spPr>
                <a:xfrm flipH="1">
                  <a:off x="12502" y="21425"/>
                  <a:ext cx="288" cy="2"/>
                </a:xfrm>
                <a:prstGeom prst="straightConnector1">
                  <a:avLst/>
                </a:prstGeom>
                <a:noFill/>
                <a:ln cap="flat" cmpd="sng" w="9525">
                  <a:solidFill>
                    <a:srgbClr val="000000"/>
                  </a:solidFill>
                  <a:prstDash val="solid"/>
                  <a:round/>
                  <a:headEnd len="med" w="med" type="none"/>
                  <a:tailEnd len="med" w="med" type="none"/>
                </a:ln>
              </p:spPr>
            </p:cxnSp>
            <p:sp>
              <p:nvSpPr>
                <p:cNvPr id="4587" name="Google Shape;4587;p72"/>
                <p:cNvSpPr/>
                <p:nvPr/>
              </p:nvSpPr>
              <p:spPr>
                <a:xfrm>
                  <a:off x="12827" y="21438"/>
                  <a:ext cx="3075" cy="987"/>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588" name="Google Shape;4588;p72"/>
                <p:cNvGrpSpPr/>
                <p:nvPr/>
              </p:nvGrpSpPr>
              <p:grpSpPr>
                <a:xfrm>
                  <a:off x="12815" y="21425"/>
                  <a:ext cx="2776" cy="913"/>
                  <a:chOff x="12315" y="13225"/>
                  <a:chExt cx="2775" cy="913"/>
                </a:xfrm>
              </p:grpSpPr>
              <p:cxnSp>
                <p:nvCxnSpPr>
                  <p:cNvPr id="4589" name="Google Shape;4589;p72"/>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4590" name="Google Shape;4590;p72"/>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4591" name="Google Shape;4591;p72"/>
                <p:cNvCxnSpPr/>
                <p:nvPr/>
              </p:nvCxnSpPr>
              <p:spPr>
                <a:xfrm>
                  <a:off x="12815" y="21837"/>
                  <a:ext cx="687" cy="213"/>
                </a:xfrm>
                <a:prstGeom prst="straightConnector1">
                  <a:avLst/>
                </a:prstGeom>
                <a:noFill/>
                <a:ln cap="flat" cmpd="sng" w="9525">
                  <a:solidFill>
                    <a:srgbClr val="000000"/>
                  </a:solidFill>
                  <a:prstDash val="solid"/>
                  <a:round/>
                  <a:headEnd len="med" w="med" type="none"/>
                  <a:tailEnd len="med" w="med" type="none"/>
                </a:ln>
              </p:spPr>
            </p:cxnSp>
            <p:cxnSp>
              <p:nvCxnSpPr>
                <p:cNvPr id="4592" name="Google Shape;4592;p72"/>
                <p:cNvCxnSpPr/>
                <p:nvPr/>
              </p:nvCxnSpPr>
              <p:spPr>
                <a:xfrm>
                  <a:off x="13515" y="22048"/>
                  <a:ext cx="1175" cy="402"/>
                </a:xfrm>
                <a:prstGeom prst="straightConnector1">
                  <a:avLst/>
                </a:prstGeom>
                <a:noFill/>
                <a:ln cap="flat" cmpd="sng" w="9525">
                  <a:solidFill>
                    <a:srgbClr val="000000"/>
                  </a:solidFill>
                  <a:prstDash val="dot"/>
                  <a:round/>
                  <a:headEnd len="med" w="med" type="none"/>
                  <a:tailEnd len="med" w="med" type="none"/>
                </a:ln>
              </p:spPr>
            </p:cxnSp>
          </p:grpSp>
          <p:grpSp>
            <p:nvGrpSpPr>
              <p:cNvPr id="4593" name="Google Shape;4593;p72"/>
              <p:cNvGrpSpPr/>
              <p:nvPr/>
            </p:nvGrpSpPr>
            <p:grpSpPr>
              <a:xfrm>
                <a:off x="4469040" y="4319136"/>
                <a:ext cx="1466850" cy="606425"/>
                <a:chOff x="12502" y="21425"/>
                <a:chExt cx="3400" cy="1025"/>
              </a:xfrm>
            </p:grpSpPr>
            <p:cxnSp>
              <p:nvCxnSpPr>
                <p:cNvPr id="4594" name="Google Shape;4594;p72"/>
                <p:cNvCxnSpPr/>
                <p:nvPr/>
              </p:nvCxnSpPr>
              <p:spPr>
                <a:xfrm flipH="1">
                  <a:off x="12502" y="21425"/>
                  <a:ext cx="288" cy="2"/>
                </a:xfrm>
                <a:prstGeom prst="straightConnector1">
                  <a:avLst/>
                </a:prstGeom>
                <a:noFill/>
                <a:ln cap="flat" cmpd="sng" w="9525">
                  <a:solidFill>
                    <a:srgbClr val="000000"/>
                  </a:solidFill>
                  <a:prstDash val="solid"/>
                  <a:round/>
                  <a:headEnd len="med" w="med" type="none"/>
                  <a:tailEnd len="med" w="med" type="none"/>
                </a:ln>
              </p:spPr>
            </p:cxnSp>
            <p:sp>
              <p:nvSpPr>
                <p:cNvPr id="4595" name="Google Shape;4595;p72"/>
                <p:cNvSpPr/>
                <p:nvPr/>
              </p:nvSpPr>
              <p:spPr>
                <a:xfrm>
                  <a:off x="12827" y="21438"/>
                  <a:ext cx="3075" cy="987"/>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596" name="Google Shape;4596;p72"/>
                <p:cNvGrpSpPr/>
                <p:nvPr/>
              </p:nvGrpSpPr>
              <p:grpSpPr>
                <a:xfrm>
                  <a:off x="12815" y="21425"/>
                  <a:ext cx="2776" cy="913"/>
                  <a:chOff x="12315" y="13225"/>
                  <a:chExt cx="2775" cy="913"/>
                </a:xfrm>
              </p:grpSpPr>
              <p:cxnSp>
                <p:nvCxnSpPr>
                  <p:cNvPr id="4597" name="Google Shape;4597;p72"/>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4598" name="Google Shape;4598;p72"/>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4599" name="Google Shape;4599;p72"/>
                <p:cNvCxnSpPr/>
                <p:nvPr/>
              </p:nvCxnSpPr>
              <p:spPr>
                <a:xfrm>
                  <a:off x="12815" y="21837"/>
                  <a:ext cx="687" cy="213"/>
                </a:xfrm>
                <a:prstGeom prst="straightConnector1">
                  <a:avLst/>
                </a:prstGeom>
                <a:noFill/>
                <a:ln cap="flat" cmpd="sng" w="9525">
                  <a:solidFill>
                    <a:srgbClr val="000000"/>
                  </a:solidFill>
                  <a:prstDash val="solid"/>
                  <a:round/>
                  <a:headEnd len="med" w="med" type="none"/>
                  <a:tailEnd len="med" w="med" type="none"/>
                </a:ln>
              </p:spPr>
            </p:cxnSp>
            <p:cxnSp>
              <p:nvCxnSpPr>
                <p:cNvPr id="4600" name="Google Shape;4600;p72"/>
                <p:cNvCxnSpPr/>
                <p:nvPr/>
              </p:nvCxnSpPr>
              <p:spPr>
                <a:xfrm>
                  <a:off x="13515" y="22048"/>
                  <a:ext cx="1175" cy="402"/>
                </a:xfrm>
                <a:prstGeom prst="straightConnector1">
                  <a:avLst/>
                </a:prstGeom>
                <a:noFill/>
                <a:ln cap="flat" cmpd="sng" w="9525">
                  <a:solidFill>
                    <a:srgbClr val="000000"/>
                  </a:solidFill>
                  <a:prstDash val="dot"/>
                  <a:round/>
                  <a:headEnd len="med" w="med" type="none"/>
                  <a:tailEnd len="med" w="med" type="none"/>
                </a:ln>
              </p:spPr>
            </p:cxnSp>
          </p:grpSp>
          <p:grpSp>
            <p:nvGrpSpPr>
              <p:cNvPr id="4601" name="Google Shape;4601;p72"/>
              <p:cNvGrpSpPr/>
              <p:nvPr/>
            </p:nvGrpSpPr>
            <p:grpSpPr>
              <a:xfrm>
                <a:off x="4480153" y="4569961"/>
                <a:ext cx="1466850" cy="606425"/>
                <a:chOff x="12502" y="21425"/>
                <a:chExt cx="3400" cy="1025"/>
              </a:xfrm>
            </p:grpSpPr>
            <p:cxnSp>
              <p:nvCxnSpPr>
                <p:cNvPr id="4602" name="Google Shape;4602;p72"/>
                <p:cNvCxnSpPr/>
                <p:nvPr/>
              </p:nvCxnSpPr>
              <p:spPr>
                <a:xfrm flipH="1">
                  <a:off x="12502" y="21425"/>
                  <a:ext cx="288" cy="2"/>
                </a:xfrm>
                <a:prstGeom prst="straightConnector1">
                  <a:avLst/>
                </a:prstGeom>
                <a:noFill/>
                <a:ln cap="flat" cmpd="sng" w="9525">
                  <a:solidFill>
                    <a:srgbClr val="000000"/>
                  </a:solidFill>
                  <a:prstDash val="solid"/>
                  <a:round/>
                  <a:headEnd len="med" w="med" type="none"/>
                  <a:tailEnd len="med" w="med" type="none"/>
                </a:ln>
              </p:spPr>
            </p:cxnSp>
            <p:sp>
              <p:nvSpPr>
                <p:cNvPr id="4603" name="Google Shape;4603;p72"/>
                <p:cNvSpPr/>
                <p:nvPr/>
              </p:nvSpPr>
              <p:spPr>
                <a:xfrm>
                  <a:off x="12827" y="21438"/>
                  <a:ext cx="3075" cy="987"/>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604" name="Google Shape;4604;p72"/>
                <p:cNvGrpSpPr/>
                <p:nvPr/>
              </p:nvGrpSpPr>
              <p:grpSpPr>
                <a:xfrm>
                  <a:off x="12815" y="21425"/>
                  <a:ext cx="2776" cy="913"/>
                  <a:chOff x="12315" y="13225"/>
                  <a:chExt cx="2775" cy="913"/>
                </a:xfrm>
              </p:grpSpPr>
              <p:cxnSp>
                <p:nvCxnSpPr>
                  <p:cNvPr id="4605" name="Google Shape;4605;p72"/>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4606" name="Google Shape;4606;p72"/>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4607" name="Google Shape;4607;p72"/>
                <p:cNvCxnSpPr/>
                <p:nvPr/>
              </p:nvCxnSpPr>
              <p:spPr>
                <a:xfrm>
                  <a:off x="12815" y="21837"/>
                  <a:ext cx="687" cy="213"/>
                </a:xfrm>
                <a:prstGeom prst="straightConnector1">
                  <a:avLst/>
                </a:prstGeom>
                <a:noFill/>
                <a:ln cap="flat" cmpd="sng" w="9525">
                  <a:solidFill>
                    <a:srgbClr val="000000"/>
                  </a:solidFill>
                  <a:prstDash val="solid"/>
                  <a:round/>
                  <a:headEnd len="med" w="med" type="none"/>
                  <a:tailEnd len="med" w="med" type="none"/>
                </a:ln>
              </p:spPr>
            </p:cxnSp>
            <p:cxnSp>
              <p:nvCxnSpPr>
                <p:cNvPr id="4608" name="Google Shape;4608;p72"/>
                <p:cNvCxnSpPr/>
                <p:nvPr/>
              </p:nvCxnSpPr>
              <p:spPr>
                <a:xfrm>
                  <a:off x="13515" y="22048"/>
                  <a:ext cx="1175" cy="402"/>
                </a:xfrm>
                <a:prstGeom prst="straightConnector1">
                  <a:avLst/>
                </a:prstGeom>
                <a:noFill/>
                <a:ln cap="flat" cmpd="sng" w="9525">
                  <a:solidFill>
                    <a:srgbClr val="000000"/>
                  </a:solidFill>
                  <a:prstDash val="dot"/>
                  <a:round/>
                  <a:headEnd len="med" w="med" type="none"/>
                  <a:tailEnd len="med" w="med" type="none"/>
                </a:ln>
              </p:spPr>
            </p:cxnSp>
          </p:grpSp>
          <p:cxnSp>
            <p:nvCxnSpPr>
              <p:cNvPr id="4609" name="Google Shape;4609;p72"/>
              <p:cNvCxnSpPr/>
              <p:nvPr/>
            </p:nvCxnSpPr>
            <p:spPr>
              <a:xfrm flipH="1" rot="10800000">
                <a:off x="4630965" y="3646036"/>
                <a:ext cx="2065338" cy="931863"/>
              </a:xfrm>
              <a:prstGeom prst="straightConnector1">
                <a:avLst/>
              </a:prstGeom>
              <a:noFill/>
              <a:ln cap="flat" cmpd="sng" w="9525">
                <a:solidFill>
                  <a:srgbClr val="000000"/>
                </a:solidFill>
                <a:prstDash val="solid"/>
                <a:round/>
                <a:headEnd len="med" w="med" type="none"/>
                <a:tailEnd len="med" w="med" type="none"/>
              </a:ln>
            </p:spPr>
          </p:cxnSp>
        </p:grpSp>
        <p:grpSp>
          <p:nvGrpSpPr>
            <p:cNvPr id="4610" name="Google Shape;4610;p72"/>
            <p:cNvGrpSpPr/>
            <p:nvPr/>
          </p:nvGrpSpPr>
          <p:grpSpPr>
            <a:xfrm>
              <a:off x="1782990" y="1417186"/>
              <a:ext cx="8797925" cy="2974975"/>
              <a:chOff x="1782990" y="1417186"/>
              <a:chExt cx="8797925" cy="2974975"/>
            </a:xfrm>
          </p:grpSpPr>
          <p:cxnSp>
            <p:nvCxnSpPr>
              <p:cNvPr id="4611" name="Google Shape;4611;p72"/>
              <p:cNvCxnSpPr/>
              <p:nvPr/>
            </p:nvCxnSpPr>
            <p:spPr>
              <a:xfrm>
                <a:off x="4608740" y="1966461"/>
                <a:ext cx="2082800" cy="931863"/>
              </a:xfrm>
              <a:prstGeom prst="straightConnector1">
                <a:avLst/>
              </a:prstGeom>
              <a:noFill/>
              <a:ln cap="flat" cmpd="sng" w="9525">
                <a:solidFill>
                  <a:srgbClr val="000000"/>
                </a:solidFill>
                <a:prstDash val="solid"/>
                <a:round/>
                <a:headEnd len="med" w="med" type="none"/>
                <a:tailEnd len="med" w="med" type="none"/>
              </a:ln>
            </p:spPr>
          </p:cxnSp>
          <p:sp>
            <p:nvSpPr>
              <p:cNvPr id="4612" name="Google Shape;4612;p72"/>
              <p:cNvSpPr txBox="1"/>
              <p:nvPr/>
            </p:nvSpPr>
            <p:spPr>
              <a:xfrm>
                <a:off x="4138840" y="1417186"/>
                <a:ext cx="1042988" cy="3556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sender</a:t>
                </a:r>
                <a:endParaRPr b="0" i="0" sz="1600" u="none" cap="none" strike="noStrike">
                  <a:solidFill>
                    <a:srgbClr val="000000"/>
                  </a:solidFill>
                  <a:latin typeface="Times New Roman"/>
                  <a:ea typeface="Times New Roman"/>
                  <a:cs typeface="Times New Roman"/>
                  <a:sym typeface="Times New Roman"/>
                </a:endParaRPr>
              </a:p>
            </p:txBody>
          </p:sp>
          <p:sp>
            <p:nvSpPr>
              <p:cNvPr id="4613" name="Google Shape;4613;p72"/>
              <p:cNvSpPr txBox="1"/>
              <p:nvPr/>
            </p:nvSpPr>
            <p:spPr>
              <a:xfrm>
                <a:off x="6167665" y="1417186"/>
                <a:ext cx="1108075" cy="3556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receiver</a:t>
                </a:r>
                <a:endParaRPr b="0" i="0" sz="1600" u="none" cap="none" strike="noStrike">
                  <a:solidFill>
                    <a:srgbClr val="000000"/>
                  </a:solidFill>
                  <a:latin typeface="Times New Roman"/>
                  <a:ea typeface="Times New Roman"/>
                  <a:cs typeface="Times New Roman"/>
                  <a:sym typeface="Times New Roman"/>
                </a:endParaRPr>
              </a:p>
            </p:txBody>
          </p:sp>
          <p:cxnSp>
            <p:nvCxnSpPr>
              <p:cNvPr id="4614" name="Google Shape;4614;p72"/>
              <p:cNvCxnSpPr/>
              <p:nvPr/>
            </p:nvCxnSpPr>
            <p:spPr>
              <a:xfrm>
                <a:off x="4619853" y="1961699"/>
                <a:ext cx="2049462" cy="3175"/>
              </a:xfrm>
              <a:prstGeom prst="straightConnector1">
                <a:avLst/>
              </a:prstGeom>
              <a:noFill/>
              <a:ln cap="flat" cmpd="sng" w="9525">
                <a:solidFill>
                  <a:srgbClr val="000000"/>
                </a:solidFill>
                <a:prstDash val="dash"/>
                <a:round/>
                <a:headEnd len="med" w="med" type="none"/>
                <a:tailEnd len="med" w="med" type="none"/>
              </a:ln>
            </p:spPr>
          </p:cxnSp>
          <p:cxnSp>
            <p:nvCxnSpPr>
              <p:cNvPr id="4615" name="Google Shape;4615;p72"/>
              <p:cNvCxnSpPr/>
              <p:nvPr/>
            </p:nvCxnSpPr>
            <p:spPr>
              <a:xfrm>
                <a:off x="4626203" y="4093711"/>
                <a:ext cx="2049462" cy="0"/>
              </a:xfrm>
              <a:prstGeom prst="straightConnector1">
                <a:avLst/>
              </a:prstGeom>
              <a:noFill/>
              <a:ln cap="flat" cmpd="sng" w="9525">
                <a:solidFill>
                  <a:srgbClr val="000000"/>
                </a:solidFill>
                <a:prstDash val="dash"/>
                <a:round/>
                <a:headEnd len="med" w="med" type="none"/>
                <a:tailEnd len="med" w="med" type="none"/>
              </a:ln>
            </p:spPr>
          </p:cxnSp>
          <p:sp>
            <p:nvSpPr>
              <p:cNvPr id="4616" name="Google Shape;4616;p72"/>
              <p:cNvSpPr/>
              <p:nvPr/>
            </p:nvSpPr>
            <p:spPr>
              <a:xfrm>
                <a:off x="4603978" y="1958524"/>
                <a:ext cx="2087562" cy="1169987"/>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4617" name="Google Shape;4617;p72"/>
              <p:cNvCxnSpPr/>
              <p:nvPr/>
            </p:nvCxnSpPr>
            <p:spPr>
              <a:xfrm flipH="1">
                <a:off x="4469040" y="1958524"/>
                <a:ext cx="123825" cy="3175"/>
              </a:xfrm>
              <a:prstGeom prst="straightConnector1">
                <a:avLst/>
              </a:prstGeom>
              <a:noFill/>
              <a:ln cap="flat" cmpd="sng" w="9525">
                <a:solidFill>
                  <a:srgbClr val="000000"/>
                </a:solidFill>
                <a:prstDash val="solid"/>
                <a:round/>
                <a:headEnd len="med" w="med" type="none"/>
                <a:tailEnd len="med" w="med" type="none"/>
              </a:ln>
            </p:spPr>
          </p:cxnSp>
          <p:cxnSp>
            <p:nvCxnSpPr>
              <p:cNvPr id="4618" name="Google Shape;4618;p72"/>
              <p:cNvCxnSpPr/>
              <p:nvPr/>
            </p:nvCxnSpPr>
            <p:spPr>
              <a:xfrm rot="10800000">
                <a:off x="4469040" y="2202999"/>
                <a:ext cx="123825" cy="0"/>
              </a:xfrm>
              <a:prstGeom prst="straightConnector1">
                <a:avLst/>
              </a:prstGeom>
              <a:noFill/>
              <a:ln cap="flat" cmpd="sng" w="9525">
                <a:solidFill>
                  <a:srgbClr val="000000"/>
                </a:solidFill>
                <a:prstDash val="solid"/>
                <a:round/>
                <a:headEnd len="med" w="med" type="none"/>
                <a:tailEnd len="med" w="med" type="none"/>
              </a:ln>
            </p:spPr>
          </p:cxnSp>
          <p:sp>
            <p:nvSpPr>
              <p:cNvPr id="4619" name="Google Shape;4619;p72"/>
              <p:cNvSpPr txBox="1"/>
              <p:nvPr/>
            </p:nvSpPr>
            <p:spPr>
              <a:xfrm>
                <a:off x="3687990" y="2942774"/>
                <a:ext cx="965200" cy="33972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RTT </a:t>
                </a:r>
                <a:endParaRPr b="0" i="0" sz="1600" u="none" cap="none" strike="noStrike">
                  <a:solidFill>
                    <a:srgbClr val="000000"/>
                  </a:solidFill>
                  <a:latin typeface="Times New Roman"/>
                  <a:ea typeface="Times New Roman"/>
                  <a:cs typeface="Times New Roman"/>
                  <a:sym typeface="Times New Roman"/>
                </a:endParaRPr>
              </a:p>
            </p:txBody>
          </p:sp>
          <p:cxnSp>
            <p:nvCxnSpPr>
              <p:cNvPr id="4620" name="Google Shape;4620;p72"/>
              <p:cNvCxnSpPr/>
              <p:nvPr/>
            </p:nvCxnSpPr>
            <p:spPr>
              <a:xfrm>
                <a:off x="4502378" y="3253924"/>
                <a:ext cx="9525" cy="820737"/>
              </a:xfrm>
              <a:prstGeom prst="straightConnector1">
                <a:avLst/>
              </a:prstGeom>
              <a:noFill/>
              <a:ln cap="flat" cmpd="sng" w="9525">
                <a:solidFill>
                  <a:srgbClr val="000000"/>
                </a:solidFill>
                <a:prstDash val="solid"/>
                <a:round/>
                <a:headEnd len="med" w="med" type="none"/>
                <a:tailEnd len="med" w="med" type="triangle"/>
              </a:ln>
            </p:spPr>
          </p:cxnSp>
          <p:cxnSp>
            <p:nvCxnSpPr>
              <p:cNvPr id="4621" name="Google Shape;4621;p72"/>
              <p:cNvCxnSpPr/>
              <p:nvPr/>
            </p:nvCxnSpPr>
            <p:spPr>
              <a:xfrm flipH="1" rot="10800000">
                <a:off x="4507140" y="2225224"/>
                <a:ext cx="1588" cy="776287"/>
              </a:xfrm>
              <a:prstGeom prst="straightConnector1">
                <a:avLst/>
              </a:prstGeom>
              <a:noFill/>
              <a:ln cap="flat" cmpd="sng" w="9525">
                <a:solidFill>
                  <a:srgbClr val="000000"/>
                </a:solidFill>
                <a:prstDash val="solid"/>
                <a:round/>
                <a:headEnd len="med" w="med" type="none"/>
                <a:tailEnd len="med" w="med" type="triangle"/>
              </a:ln>
            </p:spPr>
          </p:cxnSp>
          <p:sp>
            <p:nvSpPr>
              <p:cNvPr id="4622" name="Google Shape;4622;p72"/>
              <p:cNvSpPr txBox="1"/>
              <p:nvPr/>
            </p:nvSpPr>
            <p:spPr>
              <a:xfrm>
                <a:off x="1782990" y="2041074"/>
                <a:ext cx="2740025" cy="35401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bit transmitted, t = L / R</a:t>
                </a:r>
                <a:endParaRPr b="0" i="0" sz="1600" u="none" cap="none" strike="noStrike">
                  <a:solidFill>
                    <a:srgbClr val="000000"/>
                  </a:solidFill>
                  <a:latin typeface="Times New Roman"/>
                  <a:ea typeface="Times New Roman"/>
                  <a:cs typeface="Times New Roman"/>
                  <a:sym typeface="Times New Roman"/>
                </a:endParaRPr>
              </a:p>
            </p:txBody>
          </p:sp>
          <p:cxnSp>
            <p:nvCxnSpPr>
              <p:cNvPr id="4623" name="Google Shape;4623;p72"/>
              <p:cNvCxnSpPr/>
              <p:nvPr/>
            </p:nvCxnSpPr>
            <p:spPr>
              <a:xfrm rot="10800000">
                <a:off x="6669315" y="2884036"/>
                <a:ext cx="125413" cy="0"/>
              </a:xfrm>
              <a:prstGeom prst="straightConnector1">
                <a:avLst/>
              </a:prstGeom>
              <a:noFill/>
              <a:ln cap="flat" cmpd="sng" w="9525">
                <a:solidFill>
                  <a:srgbClr val="000000"/>
                </a:solidFill>
                <a:prstDash val="solid"/>
                <a:round/>
                <a:headEnd len="med" w="med" type="none"/>
                <a:tailEnd len="med" w="med" type="none"/>
              </a:ln>
            </p:spPr>
          </p:cxnSp>
          <p:sp>
            <p:nvSpPr>
              <p:cNvPr id="4624" name="Google Shape;4624;p72"/>
              <p:cNvSpPr txBox="1"/>
              <p:nvPr/>
            </p:nvSpPr>
            <p:spPr>
              <a:xfrm>
                <a:off x="6745515" y="2706236"/>
                <a:ext cx="2641600" cy="355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arrives</a:t>
                </a:r>
                <a:endParaRPr b="0" i="0" sz="1600" u="none" cap="none" strike="noStrike">
                  <a:solidFill>
                    <a:srgbClr val="000000"/>
                  </a:solidFill>
                  <a:latin typeface="Times New Roman"/>
                  <a:ea typeface="Times New Roman"/>
                  <a:cs typeface="Times New Roman"/>
                  <a:sym typeface="Times New Roman"/>
                </a:endParaRPr>
              </a:p>
            </p:txBody>
          </p:sp>
          <p:cxnSp>
            <p:nvCxnSpPr>
              <p:cNvPr id="4625" name="Google Shape;4625;p72"/>
              <p:cNvCxnSpPr/>
              <p:nvPr/>
            </p:nvCxnSpPr>
            <p:spPr>
              <a:xfrm>
                <a:off x="6691540" y="3134861"/>
                <a:ext cx="119063" cy="0"/>
              </a:xfrm>
              <a:prstGeom prst="straightConnector1">
                <a:avLst/>
              </a:prstGeom>
              <a:noFill/>
              <a:ln cap="flat" cmpd="sng" w="9525">
                <a:solidFill>
                  <a:srgbClr val="000000"/>
                </a:solidFill>
                <a:prstDash val="solid"/>
                <a:round/>
                <a:headEnd len="med" w="med" type="none"/>
                <a:tailEnd len="med" w="med" type="none"/>
              </a:ln>
            </p:spPr>
          </p:cxnSp>
          <p:sp>
            <p:nvSpPr>
              <p:cNvPr id="4626" name="Google Shape;4626;p72"/>
              <p:cNvSpPr txBox="1"/>
              <p:nvPr/>
            </p:nvSpPr>
            <p:spPr>
              <a:xfrm>
                <a:off x="6750278" y="2958649"/>
                <a:ext cx="3581400" cy="3841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packet bit arrives, send ACK</a:t>
                </a:r>
                <a:endParaRPr b="0" i="0" sz="1600" u="none" cap="none" strike="noStrike">
                  <a:solidFill>
                    <a:srgbClr val="000000"/>
                  </a:solidFill>
                  <a:latin typeface="Times New Roman"/>
                  <a:ea typeface="Times New Roman"/>
                  <a:cs typeface="Times New Roman"/>
                  <a:sym typeface="Times New Roman"/>
                </a:endParaRPr>
              </a:p>
            </p:txBody>
          </p:sp>
          <p:sp>
            <p:nvSpPr>
              <p:cNvPr id="4627" name="Google Shape;4627;p72"/>
              <p:cNvSpPr txBox="1"/>
              <p:nvPr/>
            </p:nvSpPr>
            <p:spPr>
              <a:xfrm>
                <a:off x="1930628" y="3750811"/>
                <a:ext cx="2635250" cy="6413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ACK arrives, send next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packet, t = RTT + L / R</a:t>
                </a:r>
                <a:endParaRPr b="0" i="0" sz="1600" u="none" cap="none" strike="noStrike">
                  <a:solidFill>
                    <a:srgbClr val="000000"/>
                  </a:solidFill>
                  <a:latin typeface="Times New Roman"/>
                  <a:ea typeface="Times New Roman"/>
                  <a:cs typeface="Times New Roman"/>
                  <a:sym typeface="Times New Roman"/>
                </a:endParaRPr>
              </a:p>
            </p:txBody>
          </p:sp>
          <p:sp>
            <p:nvSpPr>
              <p:cNvPr id="4628" name="Google Shape;4628;p72"/>
              <p:cNvSpPr/>
              <p:nvPr/>
            </p:nvSpPr>
            <p:spPr>
              <a:xfrm>
                <a:off x="4608740" y="2210936"/>
                <a:ext cx="2087563" cy="1168400"/>
              </a:xfrm>
              <a:custGeom>
                <a:rect b="b" l="l" r="r" t="t"/>
                <a:pathLst>
                  <a:path extrusionOk="0" h="1185" w="2902">
                    <a:moveTo>
                      <a:pt x="0" y="0"/>
                    </a:moveTo>
                    <a:lnTo>
                      <a:pt x="2895" y="937"/>
                    </a:lnTo>
                    <a:lnTo>
                      <a:pt x="2902" y="1185"/>
                    </a:lnTo>
                    <a:lnTo>
                      <a:pt x="0" y="247"/>
                    </a:lnTo>
                    <a:lnTo>
                      <a:pt x="0" y="0"/>
                    </a:lnTo>
                    <a:close/>
                  </a:path>
                </a:pathLst>
              </a:custGeom>
              <a:solidFill>
                <a:srgbClr val="00CC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29" name="Google Shape;4629;p72"/>
              <p:cNvSpPr/>
              <p:nvPr/>
            </p:nvSpPr>
            <p:spPr>
              <a:xfrm>
                <a:off x="4608740" y="2461761"/>
                <a:ext cx="2087563" cy="1168400"/>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4630" name="Google Shape;4630;p72"/>
              <p:cNvCxnSpPr/>
              <p:nvPr/>
            </p:nvCxnSpPr>
            <p:spPr>
              <a:xfrm flipH="1" rot="10800000">
                <a:off x="4626203" y="3142799"/>
                <a:ext cx="2065337" cy="931862"/>
              </a:xfrm>
              <a:prstGeom prst="straightConnector1">
                <a:avLst/>
              </a:prstGeom>
              <a:noFill/>
              <a:ln cap="flat" cmpd="sng" w="9525">
                <a:solidFill>
                  <a:srgbClr val="000000"/>
                </a:solidFill>
                <a:prstDash val="solid"/>
                <a:round/>
                <a:headEnd len="med" w="med" type="none"/>
                <a:tailEnd len="med" w="med" type="none"/>
              </a:ln>
            </p:spPr>
          </p:cxnSp>
          <p:cxnSp>
            <p:nvCxnSpPr>
              <p:cNvPr id="4631" name="Google Shape;4631;p72"/>
              <p:cNvCxnSpPr/>
              <p:nvPr/>
            </p:nvCxnSpPr>
            <p:spPr>
              <a:xfrm flipH="1" rot="10800000">
                <a:off x="4626203" y="3393624"/>
                <a:ext cx="2065337" cy="931862"/>
              </a:xfrm>
              <a:prstGeom prst="straightConnector1">
                <a:avLst/>
              </a:prstGeom>
              <a:noFill/>
              <a:ln cap="flat" cmpd="sng" w="9525">
                <a:solidFill>
                  <a:srgbClr val="000000"/>
                </a:solidFill>
                <a:prstDash val="solid"/>
                <a:round/>
                <a:headEnd len="med" w="med" type="none"/>
                <a:tailEnd len="med" w="med" type="none"/>
              </a:ln>
            </p:spPr>
          </p:cxnSp>
          <p:sp>
            <p:nvSpPr>
              <p:cNvPr id="4632" name="Google Shape;4632;p72"/>
              <p:cNvSpPr txBox="1"/>
              <p:nvPr/>
            </p:nvSpPr>
            <p:spPr>
              <a:xfrm>
                <a:off x="6747103" y="3212649"/>
                <a:ext cx="3833812" cy="3841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bit of 2</a:t>
                </a:r>
                <a:r>
                  <a:rPr b="0" baseline="30000" i="0" lang="en-US" sz="1600" u="none" cap="none" strike="noStrike">
                    <a:solidFill>
                      <a:srgbClr val="000000"/>
                    </a:solidFill>
                    <a:latin typeface="Arial"/>
                    <a:ea typeface="Arial"/>
                    <a:cs typeface="Arial"/>
                    <a:sym typeface="Arial"/>
                  </a:rPr>
                  <a:t>nd</a:t>
                </a:r>
                <a:r>
                  <a:rPr b="0" i="0" lang="en-US" sz="1600" u="none" cap="none" strike="noStrike">
                    <a:solidFill>
                      <a:srgbClr val="000000"/>
                    </a:solidFill>
                    <a:latin typeface="Arial"/>
                    <a:ea typeface="Arial"/>
                    <a:cs typeface="Arial"/>
                    <a:sym typeface="Arial"/>
                  </a:rPr>
                  <a:t> packet arrives, send ACK</a:t>
                </a:r>
                <a:endParaRPr b="0" i="0" sz="1600" u="none" cap="none" strike="noStrike">
                  <a:solidFill>
                    <a:srgbClr val="000000"/>
                  </a:solidFill>
                  <a:latin typeface="Times New Roman"/>
                  <a:ea typeface="Times New Roman"/>
                  <a:cs typeface="Times New Roman"/>
                  <a:sym typeface="Times New Roman"/>
                </a:endParaRPr>
              </a:p>
            </p:txBody>
          </p:sp>
          <p:cxnSp>
            <p:nvCxnSpPr>
              <p:cNvPr id="4633" name="Google Shape;4633;p72"/>
              <p:cNvCxnSpPr/>
              <p:nvPr/>
            </p:nvCxnSpPr>
            <p:spPr>
              <a:xfrm>
                <a:off x="6691540" y="3371399"/>
                <a:ext cx="112713" cy="0"/>
              </a:xfrm>
              <a:prstGeom prst="straightConnector1">
                <a:avLst/>
              </a:prstGeom>
              <a:noFill/>
              <a:ln cap="flat" cmpd="sng" w="9525">
                <a:solidFill>
                  <a:srgbClr val="000000"/>
                </a:solidFill>
                <a:prstDash val="solid"/>
                <a:round/>
                <a:headEnd len="med" w="med" type="none"/>
                <a:tailEnd len="med" w="med" type="none"/>
              </a:ln>
            </p:spPr>
          </p:cxnSp>
          <p:cxnSp>
            <p:nvCxnSpPr>
              <p:cNvPr id="4634" name="Google Shape;4634;p72"/>
              <p:cNvCxnSpPr/>
              <p:nvPr/>
            </p:nvCxnSpPr>
            <p:spPr>
              <a:xfrm>
                <a:off x="6702653" y="3623811"/>
                <a:ext cx="112712" cy="0"/>
              </a:xfrm>
              <a:prstGeom prst="straightConnector1">
                <a:avLst/>
              </a:prstGeom>
              <a:noFill/>
              <a:ln cap="flat" cmpd="sng" w="9525">
                <a:solidFill>
                  <a:srgbClr val="000000"/>
                </a:solidFill>
                <a:prstDash val="solid"/>
                <a:round/>
                <a:headEnd len="med" w="med" type="none"/>
                <a:tailEnd len="med" w="med" type="none"/>
              </a:ln>
            </p:spPr>
          </p:cxnSp>
          <p:sp>
            <p:nvSpPr>
              <p:cNvPr id="4635" name="Google Shape;4635;p72"/>
              <p:cNvSpPr txBox="1"/>
              <p:nvPr/>
            </p:nvSpPr>
            <p:spPr>
              <a:xfrm>
                <a:off x="6742340" y="3446011"/>
                <a:ext cx="3838575" cy="3841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bit of 3</a:t>
                </a:r>
                <a:r>
                  <a:rPr b="0" baseline="30000" i="0" lang="en-US" sz="1600" u="none" cap="none" strike="noStrike">
                    <a:solidFill>
                      <a:srgbClr val="000000"/>
                    </a:solidFill>
                    <a:latin typeface="Arial"/>
                    <a:ea typeface="Arial"/>
                    <a:cs typeface="Arial"/>
                    <a:sym typeface="Arial"/>
                  </a:rPr>
                  <a:t>rd</a:t>
                </a:r>
                <a:r>
                  <a:rPr b="0" i="0" lang="en-US" sz="1600" u="none" cap="none" strike="noStrike">
                    <a:solidFill>
                      <a:srgbClr val="000000"/>
                    </a:solidFill>
                    <a:latin typeface="Arial"/>
                    <a:ea typeface="Arial"/>
                    <a:cs typeface="Arial"/>
                    <a:sym typeface="Arial"/>
                  </a:rPr>
                  <a:t> packet arrives, send ACK</a:t>
                </a:r>
                <a:endParaRPr b="0" i="0" sz="1600" u="none" cap="none" strike="noStrike">
                  <a:solidFill>
                    <a:srgbClr val="000000"/>
                  </a:solidFill>
                  <a:latin typeface="Times New Roman"/>
                  <a:ea typeface="Times New Roman"/>
                  <a:cs typeface="Times New Roman"/>
                  <a:sym typeface="Times New Roman"/>
                </a:endParaRPr>
              </a:p>
            </p:txBody>
          </p:sp>
        </p:grpSp>
      </p:grpSp>
      <p:grpSp>
        <p:nvGrpSpPr>
          <p:cNvPr id="4636" name="Google Shape;4636;p72"/>
          <p:cNvGrpSpPr/>
          <p:nvPr/>
        </p:nvGrpSpPr>
        <p:grpSpPr>
          <a:xfrm>
            <a:off x="6955065" y="4341361"/>
            <a:ext cx="3460750" cy="1145039"/>
            <a:chOff x="6955065" y="4341361"/>
            <a:chExt cx="3460750" cy="1145039"/>
          </a:xfrm>
        </p:grpSpPr>
        <p:sp>
          <p:nvSpPr>
            <p:cNvPr id="4637" name="Google Shape;4637;p72"/>
            <p:cNvSpPr txBox="1"/>
            <p:nvPr/>
          </p:nvSpPr>
          <p:spPr>
            <a:xfrm>
              <a:off x="6955065" y="4341361"/>
              <a:ext cx="3460750"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Arial"/>
                <a:buNone/>
              </a:pPr>
              <a:r>
                <a:rPr b="0" i="0" lang="en-US" sz="2000" u="none" cap="none" strike="noStrike">
                  <a:solidFill>
                    <a:srgbClr val="CC0000"/>
                  </a:solidFill>
                  <a:latin typeface="Arial"/>
                  <a:ea typeface="Arial"/>
                  <a:cs typeface="Arial"/>
                  <a:sym typeface="Arial"/>
                </a:rPr>
                <a:t>3-packet pipelining increases</a:t>
              </a:r>
              <a:endParaRPr/>
            </a:p>
            <a:p>
              <a:pPr indent="0" lvl="0" marL="0" marR="0" rtl="0" algn="ctr">
                <a:lnSpc>
                  <a:spcPct val="100000"/>
                </a:lnSpc>
                <a:spcBef>
                  <a:spcPts val="0"/>
                </a:spcBef>
                <a:spcAft>
                  <a:spcPts val="0"/>
                </a:spcAft>
                <a:buClr>
                  <a:srgbClr val="CC0000"/>
                </a:buClr>
                <a:buSzPts val="2000"/>
                <a:buFont typeface="Arial"/>
                <a:buNone/>
              </a:pPr>
              <a:r>
                <a:rPr b="0" i="0" lang="en-US" sz="2000" u="none" cap="none" strike="noStrike">
                  <a:solidFill>
                    <a:srgbClr val="CC0000"/>
                  </a:solidFill>
                  <a:latin typeface="Arial"/>
                  <a:ea typeface="Arial"/>
                  <a:cs typeface="Arial"/>
                  <a:sym typeface="Arial"/>
                </a:rPr>
                <a:t> utilization by a factor of 3!</a:t>
              </a:r>
              <a:endParaRPr/>
            </a:p>
          </p:txBody>
        </p:sp>
        <p:cxnSp>
          <p:nvCxnSpPr>
            <p:cNvPr id="4638" name="Google Shape;4638;p72"/>
            <p:cNvCxnSpPr/>
            <p:nvPr/>
          </p:nvCxnSpPr>
          <p:spPr>
            <a:xfrm>
              <a:off x="7948840" y="5009699"/>
              <a:ext cx="1360" cy="476701"/>
            </a:xfrm>
            <a:prstGeom prst="straightConnector1">
              <a:avLst/>
            </a:prstGeom>
            <a:noFill/>
            <a:ln cap="flat" cmpd="sng" w="9525">
              <a:solidFill>
                <a:srgbClr val="CC0000"/>
              </a:solidFill>
              <a:prstDash val="solid"/>
              <a:round/>
              <a:headEnd len="med" w="med" type="none"/>
              <a:tailEnd len="med" w="med" type="triangle"/>
            </a:ln>
          </p:spPr>
        </p:cxnSp>
      </p:grpSp>
      <p:graphicFrame>
        <p:nvGraphicFramePr>
          <p:cNvPr id="4639" name="Google Shape;4639;p72"/>
          <p:cNvGraphicFramePr/>
          <p:nvPr/>
        </p:nvGraphicFramePr>
        <p:xfrm>
          <a:off x="738608" y="5142133"/>
          <a:ext cx="9371012" cy="1300162"/>
        </p:xfrm>
        <a:graphic>
          <a:graphicData uri="http://schemas.openxmlformats.org/presentationml/2006/ole">
            <mc:AlternateContent>
              <mc:Choice Requires="v">
                <p:oleObj r:id="rId4" imgH="1300162" imgW="9371012" progId="Word.Picture.8" spid="_x0000_s1">
                  <p:embed/>
                </p:oleObj>
              </mc:Choice>
              <mc:Fallback>
                <p:oleObj r:id="rId5" imgH="1300162" imgW="9371012" progId="Word.Picture.8">
                  <p:embed/>
                  <p:pic>
                    <p:nvPicPr>
                      <p:cNvPr id="4639" name="Google Shape;4639;p72"/>
                      <p:cNvPicPr preferRelativeResize="0"/>
                      <p:nvPr/>
                    </p:nvPicPr>
                    <p:blipFill rotWithShape="1">
                      <a:blip r:embed="rId6">
                        <a:alphaModFix/>
                      </a:blip>
                      <a:srcRect b="0" l="0" r="0" t="0"/>
                      <a:stretch/>
                    </p:blipFill>
                    <p:spPr>
                      <a:xfrm>
                        <a:off x="738608" y="5142133"/>
                        <a:ext cx="9371012" cy="1300162"/>
                      </a:xfrm>
                      <a:prstGeom prst="rect">
                        <a:avLst/>
                      </a:prstGeom>
                      <a:noFill/>
                      <a:ln>
                        <a:noFill/>
                      </a:ln>
                    </p:spPr>
                  </p:pic>
                </p:oleObj>
              </mc:Fallback>
            </mc:AlternateContent>
          </a:graphicData>
        </a:graphic>
      </p:graphicFrame>
      <p:sp>
        <p:nvSpPr>
          <p:cNvPr id="4640" name="Google Shape;4640;p7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
        <p:nvSpPr>
          <p:cNvPr id="4641" name="Google Shape;4641;p72"/>
          <p:cNvSpPr txBox="1"/>
          <p:nvPr/>
        </p:nvSpPr>
        <p:spPr>
          <a:xfrm>
            <a:off x="8832877" y="5426327"/>
            <a:ext cx="180049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Noto Sans Symbols"/>
              <a:buNone/>
            </a:pPr>
            <a:r>
              <a:rPr lang="en-US" sz="2800">
                <a:solidFill>
                  <a:schemeClr val="dk1"/>
                </a:solidFill>
                <a:latin typeface="Tahoma"/>
                <a:ea typeface="Tahoma"/>
                <a:cs typeface="Tahoma"/>
                <a:sym typeface="Tahoma"/>
              </a:rPr>
              <a:t>= 0.080%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80"/>
                                        </p:tgtEl>
                                        <p:attrNameLst>
                                          <p:attrName>style.visibility</p:attrName>
                                        </p:attrNameLst>
                                      </p:cBhvr>
                                      <p:to>
                                        <p:strVal val="visible"/>
                                      </p:to>
                                    </p:set>
                                    <p:animEffect filter="fade" transition="in">
                                      <p:cBhvr>
                                        <p:cTn dur="2000"/>
                                        <p:tgtEl>
                                          <p:spTgt spid="45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36"/>
                                        </p:tgtEl>
                                        <p:attrNameLst>
                                          <p:attrName>style.visibility</p:attrName>
                                        </p:attrNameLst>
                                      </p:cBhvr>
                                      <p:to>
                                        <p:strVal val="visible"/>
                                      </p:to>
                                    </p:set>
                                    <p:animEffect filter="fade" transition="in">
                                      <p:cBhvr>
                                        <p:cTn dur="500"/>
                                        <p:tgtEl>
                                          <p:spTgt spid="46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5" name="Shape 4645"/>
        <p:cNvGrpSpPr/>
        <p:nvPr/>
      </p:nvGrpSpPr>
      <p:grpSpPr>
        <a:xfrm>
          <a:off x="0" y="0"/>
          <a:ext cx="0" cy="0"/>
          <a:chOff x="0" y="0"/>
          <a:chExt cx="0" cy="0"/>
        </a:xfrm>
      </p:grpSpPr>
      <p:sp>
        <p:nvSpPr>
          <p:cNvPr id="4646" name="Google Shape;4646;p73"/>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3-</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id="4647" name="Google Shape;4647;p73"/>
          <p:cNvPicPr preferRelativeResize="0"/>
          <p:nvPr/>
        </p:nvPicPr>
        <p:blipFill rotWithShape="1">
          <a:blip r:embed="rId3">
            <a:alphaModFix/>
          </a:blip>
          <a:srcRect b="0" l="0" r="0" t="0"/>
          <a:stretch/>
        </p:blipFill>
        <p:spPr>
          <a:xfrm>
            <a:off x="2959100" y="1409700"/>
            <a:ext cx="6108700" cy="2311400"/>
          </a:xfrm>
          <a:prstGeom prst="rect">
            <a:avLst/>
          </a:prstGeom>
          <a:noFill/>
          <a:ln>
            <a:noFill/>
          </a:ln>
        </p:spPr>
      </p:pic>
      <p:sp>
        <p:nvSpPr>
          <p:cNvPr id="4648" name="Google Shape;4648;p73"/>
          <p:cNvSpPr txBox="1"/>
          <p:nvPr/>
        </p:nvSpPr>
        <p:spPr>
          <a:xfrm>
            <a:off x="1858963" y="3871914"/>
            <a:ext cx="8655050" cy="414337"/>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85000"/>
              </a:lnSpc>
              <a:spcBef>
                <a:spcPts val="0"/>
              </a:spcBef>
              <a:spcAft>
                <a:spcPts val="0"/>
              </a:spcAft>
              <a:buClr>
                <a:srgbClr val="000099"/>
              </a:buClr>
              <a:buSzPts val="1170"/>
              <a:buFont typeface="Noto Sans Symbols"/>
              <a:buNone/>
            </a:pPr>
            <a:r>
              <a:rPr b="1" lang="en-US" sz="1800">
                <a:solidFill>
                  <a:srgbClr val="0099CC"/>
                </a:solidFill>
                <a:latin typeface="Arial"/>
                <a:ea typeface="Arial"/>
                <a:cs typeface="Arial"/>
                <a:sym typeface="Arial"/>
              </a:rPr>
              <a:t>Figure</a:t>
            </a:r>
            <a:r>
              <a:rPr lang="en-US" sz="1800">
                <a:solidFill>
                  <a:schemeClr val="dk1"/>
                </a:solidFill>
                <a:latin typeface="Arial"/>
                <a:ea typeface="Arial"/>
                <a:cs typeface="Arial"/>
                <a:sym typeface="Arial"/>
              </a:rPr>
              <a:t>: Two basic approaches of pipelined toward error recovery </a:t>
            </a:r>
            <a:endParaRPr/>
          </a:p>
          <a:p>
            <a:pPr indent="-342900" lvl="0" marL="342900" marR="0" rtl="0" algn="ctr">
              <a:lnSpc>
                <a:spcPct val="85000"/>
              </a:lnSpc>
              <a:spcBef>
                <a:spcPts val="360"/>
              </a:spcBef>
              <a:spcAft>
                <a:spcPts val="0"/>
              </a:spcAft>
              <a:buClr>
                <a:srgbClr val="000099"/>
              </a:buClr>
              <a:buSzPts val="1170"/>
              <a:buFont typeface="Noto Sans Symbols"/>
              <a:buNone/>
            </a:pPr>
            <a:r>
              <a:t/>
            </a:r>
            <a:endParaRPr sz="1800">
              <a:solidFill>
                <a:schemeClr val="dk1"/>
              </a:solidFill>
              <a:latin typeface="Arial"/>
              <a:ea typeface="Arial"/>
              <a:cs typeface="Arial"/>
              <a:sym typeface="Arial"/>
            </a:endParaRPr>
          </a:p>
          <a:p>
            <a:pPr indent="-342900" lvl="0" marL="342900" marR="0" rtl="0" algn="ctr">
              <a:lnSpc>
                <a:spcPct val="85000"/>
              </a:lnSpc>
              <a:spcBef>
                <a:spcPts val="360"/>
              </a:spcBef>
              <a:spcAft>
                <a:spcPts val="0"/>
              </a:spcAft>
              <a:buClr>
                <a:srgbClr val="000099"/>
              </a:buClr>
              <a:buSzPts val="1170"/>
              <a:buFont typeface="Noto Sans Symbols"/>
              <a:buNone/>
            </a:pPr>
            <a:r>
              <a:rPr lang="en-US" sz="1800">
                <a:solidFill>
                  <a:schemeClr val="dk1"/>
                </a:solidFill>
                <a:latin typeface="Arial"/>
                <a:ea typeface="Arial"/>
                <a:cs typeface="Arial"/>
                <a:sym typeface="Arial"/>
              </a:rPr>
              <a:t> </a:t>
            </a:r>
            <a:endParaRPr/>
          </a:p>
        </p:txBody>
      </p:sp>
      <p:sp>
        <p:nvSpPr>
          <p:cNvPr id="4649" name="Google Shape;4649;p73"/>
          <p:cNvSpPr txBox="1"/>
          <p:nvPr/>
        </p:nvSpPr>
        <p:spPr>
          <a:xfrm>
            <a:off x="2346326" y="4502151"/>
            <a:ext cx="7788275" cy="17748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99"/>
              </a:buClr>
              <a:buSzPts val="1430"/>
              <a:buFont typeface="Noto Sans Symbols"/>
              <a:buChar char="❖"/>
            </a:pPr>
            <a:r>
              <a:rPr lang="en-US" sz="2200">
                <a:solidFill>
                  <a:schemeClr val="dk1"/>
                </a:solidFill>
                <a:latin typeface="Arial"/>
                <a:ea typeface="Arial"/>
                <a:cs typeface="Arial"/>
                <a:sym typeface="Arial"/>
              </a:rPr>
              <a:t>The range of </a:t>
            </a:r>
            <a:r>
              <a:rPr i="1" lang="en-US" sz="2200" u="sng">
                <a:solidFill>
                  <a:schemeClr val="dk1"/>
                </a:solidFill>
                <a:latin typeface="Arial"/>
                <a:ea typeface="Arial"/>
                <a:cs typeface="Arial"/>
                <a:sym typeface="Arial"/>
              </a:rPr>
              <a:t>sequence #</a:t>
            </a:r>
            <a:r>
              <a:rPr lang="en-US" sz="2200">
                <a:solidFill>
                  <a:schemeClr val="dk1"/>
                </a:solidFill>
                <a:latin typeface="Arial"/>
                <a:ea typeface="Arial"/>
                <a:cs typeface="Arial"/>
                <a:sym typeface="Arial"/>
              </a:rPr>
              <a:t> needed and the </a:t>
            </a:r>
            <a:r>
              <a:rPr i="1" lang="en-US" sz="2200" u="sng">
                <a:solidFill>
                  <a:schemeClr val="dk1"/>
                </a:solidFill>
                <a:latin typeface="Arial"/>
                <a:ea typeface="Arial"/>
                <a:cs typeface="Arial"/>
                <a:sym typeface="Arial"/>
              </a:rPr>
              <a:t>buffering</a:t>
            </a:r>
            <a:r>
              <a:rPr lang="en-US" sz="2200">
                <a:solidFill>
                  <a:schemeClr val="dk1"/>
                </a:solidFill>
                <a:latin typeface="Arial"/>
                <a:ea typeface="Arial"/>
                <a:cs typeface="Arial"/>
                <a:sym typeface="Arial"/>
              </a:rPr>
              <a:t> requirements depend on the manner in which a data transfer protocol responds to:</a:t>
            </a:r>
            <a:endParaRPr/>
          </a:p>
          <a:p>
            <a:pPr indent="-231775" lvl="1" marL="688975" marR="0" rtl="0" algn="l">
              <a:lnSpc>
                <a:spcPct val="100000"/>
              </a:lnSpc>
              <a:spcBef>
                <a:spcPts val="440"/>
              </a:spcBef>
              <a:spcAft>
                <a:spcPts val="0"/>
              </a:spcAft>
              <a:buClr>
                <a:srgbClr val="000099"/>
              </a:buClr>
              <a:buSzPts val="2200"/>
              <a:buFont typeface="Noto Sans Symbols"/>
              <a:buChar char="▪"/>
            </a:pPr>
            <a:r>
              <a:rPr b="0" i="0" lang="en-US" sz="2200" u="none" cap="none" strike="noStrike">
                <a:solidFill>
                  <a:srgbClr val="CC0000"/>
                </a:solidFill>
                <a:latin typeface="Arial"/>
                <a:ea typeface="Arial"/>
                <a:cs typeface="Arial"/>
                <a:sym typeface="Arial"/>
              </a:rPr>
              <a:t>lost</a:t>
            </a:r>
            <a:r>
              <a:rPr b="0" i="0" lang="en-US" sz="2200" u="none" cap="none" strike="noStrike">
                <a:solidFill>
                  <a:schemeClr val="dk1"/>
                </a:solidFill>
                <a:latin typeface="Arial"/>
                <a:ea typeface="Arial"/>
                <a:cs typeface="Arial"/>
                <a:sym typeface="Arial"/>
              </a:rPr>
              <a:t>, </a:t>
            </a:r>
            <a:r>
              <a:rPr b="0" i="0" lang="en-US" sz="2200" u="none" cap="none" strike="noStrike">
                <a:solidFill>
                  <a:srgbClr val="CC0000"/>
                </a:solidFill>
                <a:latin typeface="Arial"/>
                <a:ea typeface="Arial"/>
                <a:cs typeface="Arial"/>
                <a:sym typeface="Arial"/>
              </a:rPr>
              <a:t>corrupted</a:t>
            </a:r>
            <a:r>
              <a:rPr b="0" i="0" lang="en-US" sz="2200" u="none" cap="none" strike="noStrike">
                <a:solidFill>
                  <a:schemeClr val="dk1"/>
                </a:solidFill>
                <a:latin typeface="Arial"/>
                <a:ea typeface="Arial"/>
                <a:cs typeface="Arial"/>
                <a:sym typeface="Arial"/>
              </a:rPr>
              <a:t>, and overly </a:t>
            </a:r>
            <a:r>
              <a:rPr b="0" i="0" lang="en-US" sz="2200" u="none" cap="none" strike="noStrike">
                <a:solidFill>
                  <a:srgbClr val="CC0000"/>
                </a:solidFill>
                <a:latin typeface="Arial"/>
                <a:ea typeface="Arial"/>
                <a:cs typeface="Arial"/>
                <a:sym typeface="Arial"/>
              </a:rPr>
              <a:t>delayed</a:t>
            </a:r>
            <a:r>
              <a:rPr b="0" i="0" lang="en-US" sz="2200" u="none" cap="none" strike="noStrike">
                <a:solidFill>
                  <a:schemeClr val="dk1"/>
                </a:solidFill>
                <a:latin typeface="Arial"/>
                <a:ea typeface="Arial"/>
                <a:cs typeface="Arial"/>
                <a:sym typeface="Arial"/>
              </a:rPr>
              <a:t> packets.</a:t>
            </a:r>
            <a:endParaRPr b="0" i="0" sz="2200" u="none" cap="none" strike="noStrike">
              <a:solidFill>
                <a:schemeClr val="dk1"/>
              </a:solidFill>
              <a:latin typeface="Arial"/>
              <a:ea typeface="Arial"/>
              <a:cs typeface="Arial"/>
              <a:sym typeface="Arial"/>
            </a:endParaRPr>
          </a:p>
        </p:txBody>
      </p:sp>
      <p:sp>
        <p:nvSpPr>
          <p:cNvPr id="4650" name="Google Shape;4650;p73"/>
          <p:cNvSpPr txBox="1"/>
          <p:nvPr>
            <p:ph type="title"/>
          </p:nvPr>
        </p:nvSpPr>
        <p:spPr>
          <a:xfrm>
            <a:off x="2057400" y="207964"/>
            <a:ext cx="7772400" cy="9302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Pipelined protocols: overview</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5" name="Shape 4655"/>
        <p:cNvGrpSpPr/>
        <p:nvPr/>
      </p:nvGrpSpPr>
      <p:grpSpPr>
        <a:xfrm>
          <a:off x="0" y="0"/>
          <a:ext cx="0" cy="0"/>
          <a:chOff x="0" y="0"/>
          <a:chExt cx="0" cy="0"/>
        </a:xfrm>
      </p:grpSpPr>
      <p:sp>
        <p:nvSpPr>
          <p:cNvPr id="4656" name="Google Shape;4656;p74"/>
          <p:cNvSpPr txBox="1"/>
          <p:nvPr>
            <p:ph type="title"/>
          </p:nvPr>
        </p:nvSpPr>
        <p:spPr>
          <a:xfrm>
            <a:off x="1447216" y="147638"/>
            <a:ext cx="7772400" cy="9302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Pipelined protocols: overview</a:t>
            </a:r>
            <a:endParaRPr/>
          </a:p>
        </p:txBody>
      </p:sp>
      <p:sp>
        <p:nvSpPr>
          <p:cNvPr id="4657" name="Google Shape;4657;p74"/>
          <p:cNvSpPr txBox="1"/>
          <p:nvPr>
            <p:ph idx="1" type="body"/>
          </p:nvPr>
        </p:nvSpPr>
        <p:spPr>
          <a:xfrm>
            <a:off x="2057401" y="1455739"/>
            <a:ext cx="3954463" cy="4848225"/>
          </a:xfrm>
          <a:prstGeom prst="rect">
            <a:avLst/>
          </a:prstGeom>
          <a:noFill/>
          <a:ln>
            <a:noFill/>
          </a:ln>
        </p:spPr>
        <p:txBody>
          <a:bodyPr anchorCtr="0" anchor="t" bIns="45700" lIns="91425" spcFirstLastPara="1" rIns="91425" wrap="square" tIns="45700">
            <a:normAutofit/>
          </a:bodyPr>
          <a:lstStyle/>
          <a:p>
            <a:pPr indent="-222250" lvl="0" marL="352425" rtl="0" algn="l">
              <a:lnSpc>
                <a:spcPct val="70000"/>
              </a:lnSpc>
              <a:spcBef>
                <a:spcPts val="0"/>
              </a:spcBef>
              <a:spcAft>
                <a:spcPts val="0"/>
              </a:spcAft>
              <a:buSzPts val="2800"/>
              <a:buFont typeface="Noto Sans Symbols"/>
              <a:buNone/>
            </a:pPr>
            <a:r>
              <a:rPr lang="en-US" u="sng">
                <a:solidFill>
                  <a:srgbClr val="CC0000"/>
                </a:solidFill>
              </a:rPr>
              <a:t>Go-back-N:</a:t>
            </a:r>
            <a:endParaRPr/>
          </a:p>
          <a:p>
            <a:pPr indent="-222250" lvl="0" marL="352425" rtl="0" algn="l">
              <a:lnSpc>
                <a:spcPct val="75000"/>
              </a:lnSpc>
              <a:spcBef>
                <a:spcPts val="1000"/>
              </a:spcBef>
              <a:spcAft>
                <a:spcPts val="0"/>
              </a:spcAft>
              <a:buSzPts val="2800"/>
              <a:buChar char="▪"/>
            </a:pPr>
            <a:r>
              <a:rPr lang="en-US"/>
              <a:t>sender can have up to N unacked packets in pipeline</a:t>
            </a:r>
            <a:endParaRPr/>
          </a:p>
          <a:p>
            <a:pPr indent="-222250" lvl="0" marL="352425" rtl="0" algn="l">
              <a:lnSpc>
                <a:spcPct val="75000"/>
              </a:lnSpc>
              <a:spcBef>
                <a:spcPts val="1000"/>
              </a:spcBef>
              <a:spcAft>
                <a:spcPts val="0"/>
              </a:spcAft>
              <a:buSzPts val="2800"/>
              <a:buChar char="▪"/>
            </a:pPr>
            <a:r>
              <a:rPr lang="en-US"/>
              <a:t>receiver only sends </a:t>
            </a:r>
            <a:r>
              <a:rPr i="1" lang="en-US">
                <a:solidFill>
                  <a:srgbClr val="CC0000"/>
                </a:solidFill>
              </a:rPr>
              <a:t>cumulative ack</a:t>
            </a:r>
            <a:endParaRPr i="1">
              <a:solidFill>
                <a:srgbClr val="CC0000"/>
              </a:solidFill>
            </a:endParaRPr>
          </a:p>
          <a:p>
            <a:pPr indent="-231775" lvl="1" marL="695325" rtl="0" algn="l">
              <a:lnSpc>
                <a:spcPct val="90000"/>
              </a:lnSpc>
              <a:spcBef>
                <a:spcPts val="500"/>
              </a:spcBef>
              <a:spcAft>
                <a:spcPts val="0"/>
              </a:spcAft>
              <a:buSzPts val="2400"/>
              <a:buChar char="•"/>
            </a:pPr>
            <a:r>
              <a:rPr lang="en-US"/>
              <a:t>doesn't ack packet if there’s a gap</a:t>
            </a:r>
            <a:endParaRPr/>
          </a:p>
          <a:p>
            <a:pPr indent="-222250" lvl="0" marL="352425" rtl="0" algn="l">
              <a:lnSpc>
                <a:spcPct val="75000"/>
              </a:lnSpc>
              <a:spcBef>
                <a:spcPts val="1000"/>
              </a:spcBef>
              <a:spcAft>
                <a:spcPts val="0"/>
              </a:spcAft>
              <a:buSzPts val="2800"/>
              <a:buChar char="▪"/>
            </a:pPr>
            <a:r>
              <a:rPr lang="en-US"/>
              <a:t>sender has timer for oldest unacked packet</a:t>
            </a:r>
            <a:endParaRPr/>
          </a:p>
          <a:p>
            <a:pPr indent="-231775" lvl="1" marL="695325" rtl="0" algn="l">
              <a:lnSpc>
                <a:spcPct val="90000"/>
              </a:lnSpc>
              <a:spcBef>
                <a:spcPts val="500"/>
              </a:spcBef>
              <a:spcAft>
                <a:spcPts val="0"/>
              </a:spcAft>
              <a:buSzPts val="2400"/>
              <a:buChar char="•"/>
            </a:pPr>
            <a:r>
              <a:rPr lang="en-US"/>
              <a:t>when timer expires, retransmit </a:t>
            </a:r>
            <a:r>
              <a:rPr i="1" lang="en-US"/>
              <a:t>all</a:t>
            </a:r>
            <a:r>
              <a:rPr lang="en-US"/>
              <a:t> unacked packets</a:t>
            </a:r>
            <a:endParaRPr/>
          </a:p>
        </p:txBody>
      </p:sp>
      <p:sp>
        <p:nvSpPr>
          <p:cNvPr id="4658" name="Google Shape;4658;p74"/>
          <p:cNvSpPr txBox="1"/>
          <p:nvPr>
            <p:ph idx="2" type="body"/>
          </p:nvPr>
        </p:nvSpPr>
        <p:spPr>
          <a:xfrm>
            <a:off x="6197601" y="1455738"/>
            <a:ext cx="4289425" cy="4648200"/>
          </a:xfrm>
          <a:prstGeom prst="rect">
            <a:avLst/>
          </a:prstGeom>
          <a:noFill/>
          <a:ln>
            <a:noFill/>
          </a:ln>
        </p:spPr>
        <p:txBody>
          <a:bodyPr anchorCtr="0" anchor="t" bIns="45700" lIns="91425" spcFirstLastPara="1" rIns="91425" wrap="square" tIns="45700">
            <a:normAutofit/>
          </a:bodyPr>
          <a:lstStyle/>
          <a:p>
            <a:pPr indent="-222250" lvl="0" marL="352425" rtl="0" algn="l">
              <a:lnSpc>
                <a:spcPct val="70000"/>
              </a:lnSpc>
              <a:spcBef>
                <a:spcPts val="0"/>
              </a:spcBef>
              <a:spcAft>
                <a:spcPts val="0"/>
              </a:spcAft>
              <a:buSzPts val="2800"/>
              <a:buFont typeface="Noto Sans Symbols"/>
              <a:buNone/>
            </a:pPr>
            <a:r>
              <a:rPr lang="en-US" u="sng">
                <a:solidFill>
                  <a:srgbClr val="CC0000"/>
                </a:solidFill>
              </a:rPr>
              <a:t>Selective Repeat:</a:t>
            </a:r>
            <a:endParaRPr/>
          </a:p>
          <a:p>
            <a:pPr indent="-222250" lvl="0" marL="352425" rtl="0" algn="l">
              <a:lnSpc>
                <a:spcPct val="75000"/>
              </a:lnSpc>
              <a:spcBef>
                <a:spcPts val="1000"/>
              </a:spcBef>
              <a:spcAft>
                <a:spcPts val="0"/>
              </a:spcAft>
              <a:buSzPts val="2800"/>
              <a:buChar char="▪"/>
            </a:pPr>
            <a:r>
              <a:rPr lang="en-US"/>
              <a:t>sender can have up to N unack’ed packets in pipeline</a:t>
            </a:r>
            <a:endParaRPr/>
          </a:p>
          <a:p>
            <a:pPr indent="-222250" lvl="0" marL="352425" rtl="0" algn="l">
              <a:lnSpc>
                <a:spcPct val="75000"/>
              </a:lnSpc>
              <a:spcBef>
                <a:spcPts val="1000"/>
              </a:spcBef>
              <a:spcAft>
                <a:spcPts val="0"/>
              </a:spcAft>
              <a:buSzPts val="2800"/>
              <a:buChar char="▪"/>
            </a:pPr>
            <a:r>
              <a:rPr lang="en-US"/>
              <a:t>rcvr sends </a:t>
            </a:r>
            <a:r>
              <a:rPr i="1" lang="en-US">
                <a:solidFill>
                  <a:srgbClr val="CC0000"/>
                </a:solidFill>
              </a:rPr>
              <a:t>individual ack</a:t>
            </a:r>
            <a:r>
              <a:rPr lang="en-US"/>
              <a:t> for each packet</a:t>
            </a:r>
            <a:endParaRPr/>
          </a:p>
          <a:p>
            <a:pPr indent="-222250" lvl="0" marL="352425" rtl="0" algn="l">
              <a:lnSpc>
                <a:spcPct val="75000"/>
              </a:lnSpc>
              <a:spcBef>
                <a:spcPts val="0"/>
              </a:spcBef>
              <a:spcAft>
                <a:spcPts val="0"/>
              </a:spcAft>
              <a:buSzPts val="2800"/>
              <a:buChar char="▪"/>
            </a:pPr>
            <a:r>
              <a:rPr lang="en-US"/>
              <a:t>sender maintains timer for each unacked packet</a:t>
            </a:r>
            <a:endParaRPr/>
          </a:p>
          <a:p>
            <a:pPr indent="-231775" lvl="1" marL="695325" rtl="0" algn="l">
              <a:lnSpc>
                <a:spcPct val="80000"/>
              </a:lnSpc>
              <a:spcBef>
                <a:spcPts val="500"/>
              </a:spcBef>
              <a:spcAft>
                <a:spcPts val="0"/>
              </a:spcAft>
              <a:buSzPts val="2400"/>
              <a:buChar char="•"/>
            </a:pPr>
            <a:r>
              <a:rPr lang="en-US"/>
              <a:t>when timer expires, retransmit only that unacked packet</a:t>
            </a:r>
            <a:endParaRPr/>
          </a:p>
          <a:p>
            <a:pPr indent="-44450" lvl="0" marL="352425" rtl="0" algn="l">
              <a:lnSpc>
                <a:spcPct val="70000"/>
              </a:lnSpc>
              <a:spcBef>
                <a:spcPts val="1000"/>
              </a:spcBef>
              <a:spcAft>
                <a:spcPts val="0"/>
              </a:spcAft>
              <a:buSzPts val="2800"/>
              <a:buNone/>
            </a:pPr>
            <a:r>
              <a:t/>
            </a:r>
            <a:endParaRPr/>
          </a:p>
        </p:txBody>
      </p:sp>
      <p:sp>
        <p:nvSpPr>
          <p:cNvPr id="4659" name="Google Shape;4659;p7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4" name="Shape 4664"/>
        <p:cNvGrpSpPr/>
        <p:nvPr/>
      </p:nvGrpSpPr>
      <p:grpSpPr>
        <a:xfrm>
          <a:off x="0" y="0"/>
          <a:ext cx="0" cy="0"/>
          <a:chOff x="0" y="0"/>
          <a:chExt cx="0" cy="0"/>
        </a:xfrm>
      </p:grpSpPr>
      <p:sp>
        <p:nvSpPr>
          <p:cNvPr id="4665" name="Google Shape;4665;p75"/>
          <p:cNvSpPr/>
          <p:nvPr/>
        </p:nvSpPr>
        <p:spPr>
          <a:xfrm>
            <a:off x="2766060" y="3200400"/>
            <a:ext cx="2480310" cy="67437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66" name="Google Shape;4666;p7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(GBN): sender</a:t>
            </a:r>
            <a:endParaRPr sz="4400"/>
          </a:p>
        </p:txBody>
      </p:sp>
      <p:sp>
        <p:nvSpPr>
          <p:cNvPr id="4667" name="Google Shape;4667;p75"/>
          <p:cNvSpPr txBox="1"/>
          <p:nvPr/>
        </p:nvSpPr>
        <p:spPr>
          <a:xfrm>
            <a:off x="938540" y="1295239"/>
            <a:ext cx="11077752" cy="1396094"/>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“window” of up to N, consecutive transmitted but unACKed pkts </a:t>
            </a:r>
            <a:endParaRPr/>
          </a:p>
          <a:p>
            <a:pPr indent="-342900" lvl="1" marL="815975" marR="0" rtl="0" algn="l">
              <a:lnSpc>
                <a:spcPct val="90000"/>
              </a:lnSpc>
              <a:spcBef>
                <a:spcPts val="1000"/>
              </a:spcBef>
              <a:spcAft>
                <a:spcPts val="0"/>
              </a:spcAft>
              <a:buClr>
                <a:srgbClr val="0000A3"/>
              </a:buClr>
              <a:buSzPts val="2400"/>
              <a:buFont typeface="Arial"/>
              <a:buChar char="•"/>
            </a:pPr>
            <a:r>
              <a:rPr b="0" i="0" lang="en-US" sz="2400" u="none" cap="none" strike="noStrike">
                <a:solidFill>
                  <a:srgbClr val="000000"/>
                </a:solidFill>
                <a:latin typeface="Calibri"/>
                <a:ea typeface="Calibri"/>
                <a:cs typeface="Calibri"/>
                <a:sym typeface="Calibri"/>
              </a:rPr>
              <a:t>k-bit seq # in pkt header</a:t>
            </a:r>
            <a:endParaRPr/>
          </a:p>
          <a:p>
            <a:pPr indent="-69850" lvl="1" marL="6953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pic>
        <p:nvPicPr>
          <p:cNvPr descr="gbn_seqnum" id="4668" name="Google Shape;4668;p75"/>
          <p:cNvPicPr preferRelativeResize="0"/>
          <p:nvPr/>
        </p:nvPicPr>
        <p:blipFill rotWithShape="1">
          <a:blip r:embed="rId3">
            <a:alphaModFix amt="83000"/>
          </a:blip>
          <a:srcRect b="0" l="0" r="0" t="0"/>
          <a:stretch/>
        </p:blipFill>
        <p:spPr>
          <a:xfrm>
            <a:off x="1743751" y="2576024"/>
            <a:ext cx="9167471" cy="1845354"/>
          </a:xfrm>
          <a:prstGeom prst="rect">
            <a:avLst/>
          </a:prstGeom>
          <a:noFill/>
          <a:ln>
            <a:noFill/>
          </a:ln>
        </p:spPr>
      </p:pic>
      <p:sp>
        <p:nvSpPr>
          <p:cNvPr id="4669" name="Google Shape;4669;p75"/>
          <p:cNvSpPr/>
          <p:nvPr/>
        </p:nvSpPr>
        <p:spPr>
          <a:xfrm>
            <a:off x="1057835" y="4782281"/>
            <a:ext cx="11309804" cy="1985049"/>
          </a:xfrm>
          <a:prstGeom prst="rect">
            <a:avLst/>
          </a:prstGeom>
          <a:noFill/>
          <a:ln>
            <a:noFill/>
          </a:ln>
        </p:spPr>
        <p:txBody>
          <a:bodyPr anchorCtr="0" anchor="t" bIns="45700" lIns="91425" spcFirstLastPara="1" rIns="91425" wrap="square" tIns="45700">
            <a:noAutofit/>
          </a:bodyPr>
          <a:lstStyle/>
          <a:p>
            <a:pPr indent="-339725" lvl="0" marL="350838" marR="0" rtl="0" algn="l">
              <a:lnSpc>
                <a:spcPct val="85000"/>
              </a:lnSpc>
              <a:spcBef>
                <a:spcPts val="0"/>
              </a:spcBef>
              <a:spcAft>
                <a:spcPts val="0"/>
              </a:spcAft>
              <a:buClr>
                <a:srgbClr val="000099"/>
              </a:buClr>
              <a:buSzPts val="2800"/>
              <a:buFont typeface="Noto Sans Symbols"/>
              <a:buChar char="▪"/>
            </a:pPr>
            <a:r>
              <a:rPr b="0" i="1" lang="en-US" sz="2800" u="none" cap="none" strike="noStrike">
                <a:solidFill>
                  <a:srgbClr val="C00000"/>
                </a:solidFill>
                <a:latin typeface="Calibri"/>
                <a:ea typeface="Calibri"/>
                <a:cs typeface="Calibri"/>
                <a:sym typeface="Calibri"/>
              </a:rPr>
              <a:t>cumulative ACK: </a:t>
            </a:r>
            <a:r>
              <a:rPr b="0" i="0" lang="en-US" sz="2800" u="none" cap="none" strike="noStrike">
                <a:solidFill>
                  <a:srgbClr val="000000"/>
                </a:solidFill>
                <a:latin typeface="Calibri"/>
                <a:ea typeface="Calibri"/>
                <a:cs typeface="Calibri"/>
                <a:sym typeface="Calibri"/>
              </a:rPr>
              <a:t>ACK(</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ACKs all packets up to, including seq # </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a:t>
            </a:r>
            <a:endParaRPr/>
          </a:p>
          <a:p>
            <a:pPr indent="-457200" lvl="1" marL="862013"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on receiving ACK(</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move window forward to begin at </a:t>
            </a:r>
            <a:r>
              <a:rPr b="0" i="1" lang="en-US" sz="2800" u="none" cap="none" strike="noStrike">
                <a:solidFill>
                  <a:srgbClr val="000000"/>
                </a:solidFill>
                <a:latin typeface="Calibri"/>
                <a:ea typeface="Calibri"/>
                <a:cs typeface="Calibri"/>
                <a:sym typeface="Calibri"/>
              </a:rPr>
              <a:t>n+1</a:t>
            </a:r>
            <a:endParaRPr/>
          </a:p>
          <a:p>
            <a:pPr indent="-339725" lvl="0" marL="350838"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timer for oldest in-flight packet</a:t>
            </a:r>
            <a:endParaRPr/>
          </a:p>
          <a:p>
            <a:pPr indent="-339725" lvl="0" marL="350838" marR="0" rtl="0" algn="l">
              <a:lnSpc>
                <a:spcPct val="85000"/>
              </a:lnSpc>
              <a:spcBef>
                <a:spcPts val="560"/>
              </a:spcBef>
              <a:spcAft>
                <a:spcPts val="0"/>
              </a:spcAft>
              <a:buClr>
                <a:srgbClr val="000099"/>
              </a:buClr>
              <a:buSzPts val="2800"/>
              <a:buFont typeface="Noto Sans Symbols"/>
              <a:buChar char="▪"/>
            </a:pPr>
            <a:r>
              <a:rPr b="0" i="1" lang="en-US" sz="2800" u="none" cap="none" strike="noStrike">
                <a:solidFill>
                  <a:srgbClr val="000000"/>
                </a:solidFill>
                <a:latin typeface="Calibri"/>
                <a:ea typeface="Calibri"/>
                <a:cs typeface="Calibri"/>
                <a:sym typeface="Calibri"/>
              </a:rPr>
              <a:t>timeout(n):</a:t>
            </a:r>
            <a:r>
              <a:rPr b="0" i="0" lang="en-US" sz="2800" u="none" cap="none" strike="noStrike">
                <a:solidFill>
                  <a:srgbClr val="000000"/>
                </a:solidFill>
                <a:latin typeface="Calibri"/>
                <a:ea typeface="Calibri"/>
                <a:cs typeface="Calibri"/>
                <a:sym typeface="Calibri"/>
              </a:rPr>
              <a:t> retransmit packet n and all higher seq # packets in window</a:t>
            </a:r>
            <a:endParaRPr b="0" i="0" sz="3200" u="none" cap="none" strike="noStrike">
              <a:solidFill>
                <a:srgbClr val="000000"/>
              </a:solidFill>
              <a:latin typeface="Calibri"/>
              <a:ea typeface="Calibri"/>
              <a:cs typeface="Calibri"/>
              <a:sym typeface="Calibri"/>
            </a:endParaRPr>
          </a:p>
          <a:p>
            <a:pPr indent="-176530" lvl="0" marL="2921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4670" name="Google Shape;4670;p7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8"/>
                                        </p:tgtEl>
                                        <p:attrNameLst>
                                          <p:attrName>style.visibility</p:attrName>
                                        </p:attrNameLst>
                                      </p:cBhvr>
                                      <p:to>
                                        <p:strVal val="visible"/>
                                      </p:to>
                                    </p:set>
                                    <p:animEffect filter="fade" transition="in">
                                      <p:cBhvr>
                                        <p:cTn dur="500"/>
                                        <p:tgtEl>
                                          <p:spTgt spid="46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5"/>
                                        </p:tgtEl>
                                        <p:attrNameLst>
                                          <p:attrName>style.visibility</p:attrName>
                                        </p:attrNameLst>
                                      </p:cBhvr>
                                      <p:to>
                                        <p:strVal val="visible"/>
                                      </p:to>
                                    </p:set>
                                    <p:animEffect filter="fade" transition="in">
                                      <p:cBhvr>
                                        <p:cTn dur="500"/>
                                        <p:tgtEl>
                                          <p:spTgt spid="46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9"/>
                                        </p:tgtEl>
                                        <p:attrNameLst>
                                          <p:attrName>style.visibility</p:attrName>
                                        </p:attrNameLst>
                                      </p:cBhvr>
                                      <p:to>
                                        <p:strVal val="visible"/>
                                      </p:to>
                                    </p:set>
                                    <p:animEffect filter="fade" transition="in">
                                      <p:cBhvr>
                                        <p:cTn dur="500"/>
                                        <p:tgtEl>
                                          <p:spTgt spid="46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5" name="Shape 4675"/>
        <p:cNvGrpSpPr/>
        <p:nvPr/>
      </p:nvGrpSpPr>
      <p:grpSpPr>
        <a:xfrm>
          <a:off x="0" y="0"/>
          <a:ext cx="0" cy="0"/>
          <a:chOff x="0" y="0"/>
          <a:chExt cx="0" cy="0"/>
        </a:xfrm>
      </p:grpSpPr>
      <p:sp>
        <p:nvSpPr>
          <p:cNvPr id="4676" name="Google Shape;4676;p7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receiver</a:t>
            </a:r>
            <a:endParaRPr sz="4400"/>
          </a:p>
        </p:txBody>
      </p:sp>
      <p:sp>
        <p:nvSpPr>
          <p:cNvPr id="4677" name="Google Shape;4677;p76"/>
          <p:cNvSpPr txBox="1"/>
          <p:nvPr/>
        </p:nvSpPr>
        <p:spPr>
          <a:xfrm>
            <a:off x="803389" y="1374775"/>
            <a:ext cx="10318069" cy="2854325"/>
          </a:xfrm>
          <a:prstGeom prst="rect">
            <a:avLst/>
          </a:prstGeom>
          <a:noFill/>
          <a:ln>
            <a:noFill/>
          </a:ln>
        </p:spPr>
        <p:txBody>
          <a:bodyPr anchorCtr="0" anchor="t" bIns="45700" lIns="91425" spcFirstLastPara="1" rIns="91425" wrap="square" tIns="45700">
            <a:normAutofit lnSpcReduction="10000"/>
          </a:bodyPr>
          <a:lstStyle/>
          <a:p>
            <a:pPr indent="-277813" lvl="0" marL="2889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ACK-only: always send ACK for correctly-received packet so far, with highest </a:t>
            </a:r>
            <a:r>
              <a:rPr b="0" i="1" lang="en-US" sz="2800" u="none" cap="none" strike="noStrike">
                <a:solidFill>
                  <a:srgbClr val="CC0000"/>
                </a:solidFill>
                <a:latin typeface="Calibri"/>
                <a:ea typeface="Calibri"/>
                <a:cs typeface="Calibri"/>
                <a:sym typeface="Calibri"/>
              </a:rPr>
              <a:t>in-order</a:t>
            </a:r>
            <a:r>
              <a:rPr b="0" i="0" lang="en-US" sz="2800" u="none" cap="none" strike="noStrike">
                <a:solidFill>
                  <a:srgbClr val="000000"/>
                </a:solidFill>
                <a:latin typeface="Calibri"/>
                <a:ea typeface="Calibri"/>
                <a:cs typeface="Calibri"/>
                <a:sym typeface="Calibri"/>
              </a:rPr>
              <a:t> seq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may generate duplicate ACKs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need only remember </a:t>
            </a:r>
            <a:r>
              <a:rPr b="0" i="0" lang="en-US" sz="2400" u="none" cap="none" strike="noStrike">
                <a:solidFill>
                  <a:srgbClr val="0013A3"/>
                </a:solidFill>
                <a:latin typeface="Courier New"/>
                <a:ea typeface="Courier New"/>
                <a:cs typeface="Courier New"/>
                <a:sym typeface="Courier New"/>
              </a:rPr>
              <a:t>rcv_base</a:t>
            </a:r>
            <a:endParaRPr b="0" i="0" sz="2400" u="none" cap="none" strike="noStrike">
              <a:solidFill>
                <a:srgbClr val="0013A3"/>
              </a:solidFill>
              <a:latin typeface="Courier New"/>
              <a:ea typeface="Courier New"/>
              <a:cs typeface="Courier New"/>
              <a:sym typeface="Courier New"/>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on receipt of out-of-order packet: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can discard (don’t buffer) or buffer: an implementation decision</a:t>
            </a:r>
            <a:endParaRPr b="0" i="1" sz="2400" u="none" cap="none" strike="noStrike">
              <a:solidFill>
                <a:srgbClr val="CC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re-ACK pkt with highest in-order seq #</a:t>
            </a:r>
            <a:endParaRPr/>
          </a:p>
        </p:txBody>
      </p:sp>
      <p:grpSp>
        <p:nvGrpSpPr>
          <p:cNvPr id="4678" name="Google Shape;4678;p76"/>
          <p:cNvGrpSpPr/>
          <p:nvPr/>
        </p:nvGrpSpPr>
        <p:grpSpPr>
          <a:xfrm>
            <a:off x="965200" y="4368800"/>
            <a:ext cx="10131689" cy="2135212"/>
            <a:chOff x="965200" y="4368800"/>
            <a:chExt cx="10131689" cy="2135212"/>
          </a:xfrm>
        </p:grpSpPr>
        <p:sp>
          <p:nvSpPr>
            <p:cNvPr id="4679" name="Google Shape;4679;p76"/>
            <p:cNvSpPr/>
            <p:nvPr/>
          </p:nvSpPr>
          <p:spPr>
            <a:xfrm>
              <a:off x="2412281" y="4877998"/>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0" name="Google Shape;4680;p76"/>
            <p:cNvSpPr/>
            <p:nvPr/>
          </p:nvSpPr>
          <p:spPr>
            <a:xfrm>
              <a:off x="2603500" y="4878537"/>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1" name="Google Shape;4681;p76"/>
            <p:cNvSpPr/>
            <p:nvPr/>
          </p:nvSpPr>
          <p:spPr>
            <a:xfrm>
              <a:off x="2777467" y="4879975"/>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2" name="Google Shape;4682;p76"/>
            <p:cNvSpPr/>
            <p:nvPr/>
          </p:nvSpPr>
          <p:spPr>
            <a:xfrm>
              <a:off x="2951434" y="4878238"/>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3" name="Google Shape;4683;p76"/>
            <p:cNvSpPr/>
            <p:nvPr/>
          </p:nvSpPr>
          <p:spPr>
            <a:xfrm>
              <a:off x="3125401" y="4879676"/>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84" name="Google Shape;4684;p76"/>
            <p:cNvSpPr/>
            <p:nvPr/>
          </p:nvSpPr>
          <p:spPr>
            <a:xfrm>
              <a:off x="3312307" y="4876800"/>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85" name="Google Shape;4685;p76"/>
            <p:cNvSpPr/>
            <p:nvPr/>
          </p:nvSpPr>
          <p:spPr>
            <a:xfrm>
              <a:off x="4042679" y="4877097"/>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86" name="Google Shape;4686;p76"/>
            <p:cNvSpPr/>
            <p:nvPr/>
          </p:nvSpPr>
          <p:spPr>
            <a:xfrm>
              <a:off x="4216646" y="4877396"/>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87" name="Google Shape;4687;p76"/>
            <p:cNvSpPr/>
            <p:nvPr/>
          </p:nvSpPr>
          <p:spPr>
            <a:xfrm>
              <a:off x="4394926" y="4877695"/>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88" name="Google Shape;4688;p76"/>
            <p:cNvSpPr/>
            <p:nvPr/>
          </p:nvSpPr>
          <p:spPr>
            <a:xfrm>
              <a:off x="4573204" y="4877096"/>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89" name="Google Shape;4689;p76"/>
            <p:cNvSpPr/>
            <p:nvPr/>
          </p:nvSpPr>
          <p:spPr>
            <a:xfrm>
              <a:off x="4738544" y="4882607"/>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90" name="Google Shape;4690;p76"/>
            <p:cNvSpPr txBox="1"/>
            <p:nvPr/>
          </p:nvSpPr>
          <p:spPr>
            <a:xfrm>
              <a:off x="3200400" y="5878722"/>
              <a:ext cx="12875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13A3"/>
                </a:buClr>
                <a:buSzPts val="1800"/>
                <a:buFont typeface="Courier New"/>
                <a:buNone/>
              </a:pPr>
              <a:r>
                <a:rPr b="0" i="0" lang="en-US" sz="1800" u="none" cap="none" strike="noStrike">
                  <a:solidFill>
                    <a:srgbClr val="0013A3"/>
                  </a:solidFill>
                  <a:latin typeface="Courier New"/>
                  <a:ea typeface="Courier New"/>
                  <a:cs typeface="Courier New"/>
                  <a:sym typeface="Courier New"/>
                </a:rPr>
                <a:t>rcv_base</a:t>
              </a:r>
              <a:endParaRPr b="0" i="0" sz="1800" u="none" cap="none" strike="noStrike">
                <a:solidFill>
                  <a:srgbClr val="0013A3"/>
                </a:solidFill>
                <a:latin typeface="Calibri"/>
                <a:ea typeface="Calibri"/>
                <a:cs typeface="Calibri"/>
                <a:sym typeface="Calibri"/>
              </a:endParaRPr>
            </a:p>
          </p:txBody>
        </p:sp>
        <p:cxnSp>
          <p:nvCxnSpPr>
            <p:cNvPr id="4691" name="Google Shape;4691;p76"/>
            <p:cNvCxnSpPr/>
            <p:nvPr/>
          </p:nvCxnSpPr>
          <p:spPr>
            <a:xfrm rot="10800000">
              <a:off x="3340100" y="5523122"/>
              <a:ext cx="0" cy="469900"/>
            </a:xfrm>
            <a:prstGeom prst="straightConnector1">
              <a:avLst/>
            </a:prstGeom>
            <a:noFill/>
            <a:ln cap="flat" cmpd="sng" w="22225">
              <a:solidFill>
                <a:schemeClr val="accent1"/>
              </a:solidFill>
              <a:prstDash val="solid"/>
              <a:miter lim="800000"/>
              <a:headEnd len="sm" w="sm" type="none"/>
              <a:tailEnd len="med" w="med" type="triangle"/>
            </a:ln>
          </p:spPr>
        </p:cxnSp>
        <p:grpSp>
          <p:nvGrpSpPr>
            <p:cNvPr id="4692" name="Google Shape;4692;p76"/>
            <p:cNvGrpSpPr/>
            <p:nvPr/>
          </p:nvGrpSpPr>
          <p:grpSpPr>
            <a:xfrm>
              <a:off x="7035081" y="4522877"/>
              <a:ext cx="4061808" cy="1981135"/>
              <a:chOff x="7797081" y="4179977"/>
              <a:chExt cx="4061808" cy="1981135"/>
            </a:xfrm>
          </p:grpSpPr>
          <p:sp>
            <p:nvSpPr>
              <p:cNvPr id="4693" name="Google Shape;4693;p76"/>
              <p:cNvSpPr/>
              <p:nvPr/>
            </p:nvSpPr>
            <p:spPr>
              <a:xfrm>
                <a:off x="7797081" y="4179977"/>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94" name="Google Shape;4694;p76"/>
              <p:cNvSpPr/>
              <p:nvPr/>
            </p:nvSpPr>
            <p:spPr>
              <a:xfrm>
                <a:off x="7797081" y="5565889"/>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95" name="Google Shape;4695;p76"/>
              <p:cNvSpPr txBox="1"/>
              <p:nvPr/>
            </p:nvSpPr>
            <p:spPr>
              <a:xfrm>
                <a:off x="8089900" y="4279900"/>
                <a:ext cx="209454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received and ACKed</a:t>
                </a:r>
                <a:endParaRPr b="0" i="0" sz="1800" u="none" cap="none" strike="noStrike">
                  <a:solidFill>
                    <a:srgbClr val="000000"/>
                  </a:solidFill>
                  <a:latin typeface="Calibri"/>
                  <a:ea typeface="Calibri"/>
                  <a:cs typeface="Calibri"/>
                  <a:sym typeface="Calibri"/>
                </a:endParaRPr>
              </a:p>
            </p:txBody>
          </p:sp>
          <p:sp>
            <p:nvSpPr>
              <p:cNvPr id="4696" name="Google Shape;4696;p76"/>
              <p:cNvSpPr txBox="1"/>
              <p:nvPr/>
            </p:nvSpPr>
            <p:spPr>
              <a:xfrm>
                <a:off x="8115300" y="4965700"/>
                <a:ext cx="374358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Out-of-order: received but not  ACKed</a:t>
                </a:r>
                <a:endParaRPr b="0" i="0" sz="1800" u="none" cap="none" strike="noStrike">
                  <a:solidFill>
                    <a:srgbClr val="000000"/>
                  </a:solidFill>
                  <a:latin typeface="Calibri"/>
                  <a:ea typeface="Calibri"/>
                  <a:cs typeface="Calibri"/>
                  <a:sym typeface="Calibri"/>
                </a:endParaRPr>
              </a:p>
            </p:txBody>
          </p:sp>
          <p:sp>
            <p:nvSpPr>
              <p:cNvPr id="4697" name="Google Shape;4697;p76"/>
              <p:cNvSpPr txBox="1"/>
              <p:nvPr/>
            </p:nvSpPr>
            <p:spPr>
              <a:xfrm>
                <a:off x="8089900" y="5664200"/>
                <a:ext cx="138326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Not received</a:t>
                </a:r>
                <a:endParaRPr/>
              </a:p>
            </p:txBody>
          </p:sp>
        </p:grpSp>
        <p:sp>
          <p:nvSpPr>
            <p:cNvPr id="4698" name="Google Shape;4698;p76"/>
            <p:cNvSpPr txBox="1"/>
            <p:nvPr/>
          </p:nvSpPr>
          <p:spPr>
            <a:xfrm>
              <a:off x="965200" y="4368800"/>
              <a:ext cx="541981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Receiver view of sequence number space:</a:t>
              </a:r>
              <a:endParaRPr/>
            </a:p>
          </p:txBody>
        </p:sp>
        <p:sp>
          <p:nvSpPr>
            <p:cNvPr id="4699" name="Google Shape;4699;p76"/>
            <p:cNvSpPr/>
            <p:nvPr/>
          </p:nvSpPr>
          <p:spPr>
            <a:xfrm>
              <a:off x="7043594" y="5225507"/>
              <a:ext cx="81951" cy="595223"/>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00" name="Google Shape;4700;p76"/>
            <p:cNvSpPr/>
            <p:nvPr/>
          </p:nvSpPr>
          <p:spPr>
            <a:xfrm>
              <a:off x="3855894" y="4876800"/>
              <a:ext cx="81951" cy="595223"/>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01" name="Google Shape;4701;p76"/>
            <p:cNvSpPr/>
            <p:nvPr/>
          </p:nvSpPr>
          <p:spPr>
            <a:xfrm>
              <a:off x="3500294" y="4876800"/>
              <a:ext cx="81951" cy="595223"/>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02" name="Google Shape;4702;p76"/>
            <p:cNvSpPr/>
            <p:nvPr/>
          </p:nvSpPr>
          <p:spPr>
            <a:xfrm>
              <a:off x="3684444" y="4876800"/>
              <a:ext cx="81951" cy="595223"/>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03" name="Google Shape;4703;p76"/>
            <p:cNvSpPr txBox="1"/>
            <p:nvPr/>
          </p:nvSpPr>
          <p:spPr>
            <a:xfrm>
              <a:off x="1892300" y="5105400"/>
              <a:ext cx="4331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1800" u="none" cap="none" strike="noStrike">
                <a:solidFill>
                  <a:srgbClr val="000000"/>
                </a:solidFill>
                <a:latin typeface="Calibri"/>
                <a:ea typeface="Calibri"/>
                <a:cs typeface="Calibri"/>
                <a:sym typeface="Calibri"/>
              </a:endParaRPr>
            </a:p>
          </p:txBody>
        </p:sp>
        <p:sp>
          <p:nvSpPr>
            <p:cNvPr id="4704" name="Google Shape;4704;p76"/>
            <p:cNvSpPr txBox="1"/>
            <p:nvPr/>
          </p:nvSpPr>
          <p:spPr>
            <a:xfrm>
              <a:off x="4876800" y="5105400"/>
              <a:ext cx="4331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1800" u="none" cap="none" strike="noStrike">
                <a:solidFill>
                  <a:srgbClr val="000000"/>
                </a:solidFill>
                <a:latin typeface="Calibri"/>
                <a:ea typeface="Calibri"/>
                <a:cs typeface="Calibri"/>
                <a:sym typeface="Calibri"/>
              </a:endParaRPr>
            </a:p>
          </p:txBody>
        </p:sp>
      </p:grpSp>
      <p:sp>
        <p:nvSpPr>
          <p:cNvPr id="4705" name="Google Shape;4705;p7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8"/>
                                        </p:tgtEl>
                                        <p:attrNameLst>
                                          <p:attrName>style.visibility</p:attrName>
                                        </p:attrNameLst>
                                      </p:cBhvr>
                                      <p:to>
                                        <p:strVal val="visible"/>
                                      </p:to>
                                    </p:set>
                                    <p:animEffect filter="fade" transition="in">
                                      <p:cBhvr>
                                        <p:cTn dur="500"/>
                                        <p:tgtEl>
                                          <p:spTgt spid="46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0" name="Shape 4710"/>
        <p:cNvGrpSpPr/>
        <p:nvPr/>
      </p:nvGrpSpPr>
      <p:grpSpPr>
        <a:xfrm>
          <a:off x="0" y="0"/>
          <a:ext cx="0" cy="0"/>
          <a:chOff x="0" y="0"/>
          <a:chExt cx="0" cy="0"/>
        </a:xfrm>
      </p:grpSpPr>
      <p:sp>
        <p:nvSpPr>
          <p:cNvPr id="4711" name="Google Shape;4711;p7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in action</a:t>
            </a:r>
            <a:endParaRPr sz="4400"/>
          </a:p>
        </p:txBody>
      </p:sp>
      <p:sp>
        <p:nvSpPr>
          <p:cNvPr id="4712" name="Google Shape;4712;p77"/>
          <p:cNvSpPr txBox="1"/>
          <p:nvPr/>
        </p:nvSpPr>
        <p:spPr>
          <a:xfrm>
            <a:off x="4770437" y="1531937"/>
            <a:ext cx="1246188" cy="146526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pkt3</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(wait)</a:t>
            </a:r>
            <a:endParaRPr/>
          </a:p>
        </p:txBody>
      </p:sp>
      <p:sp>
        <p:nvSpPr>
          <p:cNvPr id="4713" name="Google Shape;4713;p77"/>
          <p:cNvSpPr txBox="1"/>
          <p:nvPr/>
        </p:nvSpPr>
        <p:spPr>
          <a:xfrm>
            <a:off x="5091112" y="1160462"/>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4714" name="Google Shape;4714;p77"/>
          <p:cNvSpPr txBox="1"/>
          <p:nvPr/>
        </p:nvSpPr>
        <p:spPr>
          <a:xfrm>
            <a:off x="8121650" y="1179512"/>
            <a:ext cx="10715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cxnSp>
        <p:nvCxnSpPr>
          <p:cNvPr id="4715" name="Google Shape;4715;p77"/>
          <p:cNvCxnSpPr/>
          <p:nvPr/>
        </p:nvCxnSpPr>
        <p:spPr>
          <a:xfrm>
            <a:off x="8196262" y="1778000"/>
            <a:ext cx="11113" cy="4538662"/>
          </a:xfrm>
          <a:prstGeom prst="straightConnector1">
            <a:avLst/>
          </a:prstGeom>
          <a:noFill/>
          <a:ln cap="flat" cmpd="sng" w="9525">
            <a:solidFill>
              <a:srgbClr val="000000"/>
            </a:solidFill>
            <a:prstDash val="solid"/>
            <a:round/>
            <a:headEnd len="med" w="med" type="none"/>
            <a:tailEnd len="med" w="med" type="none"/>
          </a:ln>
        </p:spPr>
      </p:cxnSp>
      <p:sp>
        <p:nvSpPr>
          <p:cNvPr id="4716" name="Google Shape;4716;p77"/>
          <p:cNvSpPr txBox="1"/>
          <p:nvPr/>
        </p:nvSpPr>
        <p:spPr>
          <a:xfrm>
            <a:off x="8139112" y="1973262"/>
            <a:ext cx="2568575" cy="1465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pkt0, send ack0</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pkt1, send ack1</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pkt3, discard,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(re)send ack1</a:t>
            </a:r>
            <a:endParaRPr/>
          </a:p>
        </p:txBody>
      </p:sp>
      <p:sp>
        <p:nvSpPr>
          <p:cNvPr id="4717" name="Google Shape;4717;p77"/>
          <p:cNvSpPr txBox="1"/>
          <p:nvPr/>
        </p:nvSpPr>
        <p:spPr>
          <a:xfrm>
            <a:off x="4775200" y="4713287"/>
            <a:ext cx="1246187" cy="1082675"/>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pkt3</a:t>
            </a:r>
            <a:endParaRPr/>
          </a:p>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pkt4</a:t>
            </a:r>
            <a:endParaRPr/>
          </a:p>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pkt5</a:t>
            </a:r>
            <a:endParaRPr/>
          </a:p>
        </p:txBody>
      </p:sp>
      <p:cxnSp>
        <p:nvCxnSpPr>
          <p:cNvPr id="4718" name="Google Shape;4718;p77"/>
          <p:cNvCxnSpPr/>
          <p:nvPr/>
        </p:nvCxnSpPr>
        <p:spPr>
          <a:xfrm flipH="1">
            <a:off x="6067425" y="2249487"/>
            <a:ext cx="2014537" cy="1066800"/>
          </a:xfrm>
          <a:prstGeom prst="straightConnector1">
            <a:avLst/>
          </a:prstGeom>
          <a:noFill/>
          <a:ln cap="flat" cmpd="sng" w="28575">
            <a:solidFill>
              <a:srgbClr val="008000"/>
            </a:solidFill>
            <a:prstDash val="solid"/>
            <a:round/>
            <a:headEnd len="med" w="med" type="none"/>
            <a:tailEnd len="med" w="med" type="triangle"/>
          </a:ln>
        </p:spPr>
      </p:cxnSp>
      <p:grpSp>
        <p:nvGrpSpPr>
          <p:cNvPr id="4719" name="Google Shape;4719;p77"/>
          <p:cNvGrpSpPr/>
          <p:nvPr/>
        </p:nvGrpSpPr>
        <p:grpSpPr>
          <a:xfrm>
            <a:off x="6059487" y="1725612"/>
            <a:ext cx="2122488" cy="1292225"/>
            <a:chOff x="6059487" y="1725612"/>
            <a:chExt cx="2122488" cy="1292225"/>
          </a:xfrm>
        </p:grpSpPr>
        <p:cxnSp>
          <p:nvCxnSpPr>
            <p:cNvPr id="4720" name="Google Shape;4720;p77"/>
            <p:cNvCxnSpPr/>
            <p:nvPr/>
          </p:nvCxnSpPr>
          <p:spPr>
            <a:xfrm>
              <a:off x="6061075" y="1725612"/>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4721" name="Google Shape;4721;p77"/>
            <p:cNvCxnSpPr/>
            <p:nvPr/>
          </p:nvCxnSpPr>
          <p:spPr>
            <a:xfrm>
              <a:off x="6059487" y="2000250"/>
              <a:ext cx="2100263" cy="468312"/>
            </a:xfrm>
            <a:prstGeom prst="straightConnector1">
              <a:avLst/>
            </a:prstGeom>
            <a:noFill/>
            <a:ln cap="flat" cmpd="sng" w="28575">
              <a:solidFill>
                <a:srgbClr val="000099"/>
              </a:solidFill>
              <a:prstDash val="solid"/>
              <a:round/>
              <a:headEnd len="med" w="med" type="none"/>
              <a:tailEnd len="med" w="med" type="triangle"/>
            </a:ln>
          </p:spPr>
        </p:cxnSp>
        <p:cxnSp>
          <p:nvCxnSpPr>
            <p:cNvPr id="4722" name="Google Shape;4722;p77"/>
            <p:cNvCxnSpPr/>
            <p:nvPr/>
          </p:nvCxnSpPr>
          <p:spPr>
            <a:xfrm>
              <a:off x="6075362" y="2263775"/>
              <a:ext cx="876300" cy="200025"/>
            </a:xfrm>
            <a:prstGeom prst="straightConnector1">
              <a:avLst/>
            </a:prstGeom>
            <a:noFill/>
            <a:ln cap="flat" cmpd="sng" w="28575">
              <a:solidFill>
                <a:srgbClr val="000099"/>
              </a:solidFill>
              <a:prstDash val="solid"/>
              <a:round/>
              <a:headEnd len="med" w="med" type="none"/>
              <a:tailEnd len="med" w="med" type="triangle"/>
            </a:ln>
          </p:spPr>
        </p:cxnSp>
        <p:cxnSp>
          <p:nvCxnSpPr>
            <p:cNvPr id="4723" name="Google Shape;4723;p77"/>
            <p:cNvCxnSpPr/>
            <p:nvPr/>
          </p:nvCxnSpPr>
          <p:spPr>
            <a:xfrm>
              <a:off x="6081712" y="2549525"/>
              <a:ext cx="2100263" cy="468312"/>
            </a:xfrm>
            <a:prstGeom prst="straightConnector1">
              <a:avLst/>
            </a:prstGeom>
            <a:noFill/>
            <a:ln cap="flat" cmpd="sng" w="28575">
              <a:solidFill>
                <a:srgbClr val="000099"/>
              </a:solidFill>
              <a:prstDash val="solid"/>
              <a:round/>
              <a:headEnd len="med" w="med" type="none"/>
              <a:tailEnd len="med" w="med" type="triangle"/>
            </a:ln>
          </p:spPr>
        </p:cxnSp>
        <p:sp>
          <p:nvSpPr>
            <p:cNvPr id="4724" name="Google Shape;4724;p77"/>
            <p:cNvSpPr txBox="1"/>
            <p:nvPr/>
          </p:nvSpPr>
          <p:spPr>
            <a:xfrm>
              <a:off x="6837362" y="2298700"/>
              <a:ext cx="341313"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4725" name="Google Shape;4725;p77"/>
            <p:cNvSpPr txBox="1"/>
            <p:nvPr/>
          </p:nvSpPr>
          <p:spPr>
            <a:xfrm>
              <a:off x="6996112" y="2319337"/>
              <a:ext cx="522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cxnSp>
        <p:nvCxnSpPr>
          <p:cNvPr id="4726" name="Google Shape;4726;p77"/>
          <p:cNvCxnSpPr/>
          <p:nvPr/>
        </p:nvCxnSpPr>
        <p:spPr>
          <a:xfrm flipH="1">
            <a:off x="6064250" y="2535237"/>
            <a:ext cx="2014537" cy="1100138"/>
          </a:xfrm>
          <a:prstGeom prst="straightConnector1">
            <a:avLst/>
          </a:prstGeom>
          <a:noFill/>
          <a:ln cap="flat" cmpd="sng" w="28575">
            <a:solidFill>
              <a:srgbClr val="008000"/>
            </a:solidFill>
            <a:prstDash val="solid"/>
            <a:round/>
            <a:headEnd len="med" w="med" type="none"/>
            <a:tailEnd len="med" w="med" type="triangle"/>
          </a:ln>
        </p:spPr>
      </p:cxnSp>
      <p:cxnSp>
        <p:nvCxnSpPr>
          <p:cNvPr id="4727" name="Google Shape;4727;p77"/>
          <p:cNvCxnSpPr/>
          <p:nvPr/>
        </p:nvCxnSpPr>
        <p:spPr>
          <a:xfrm>
            <a:off x="6067425" y="3371850"/>
            <a:ext cx="2100262" cy="468312"/>
          </a:xfrm>
          <a:prstGeom prst="straightConnector1">
            <a:avLst/>
          </a:prstGeom>
          <a:noFill/>
          <a:ln cap="flat" cmpd="sng" w="28575">
            <a:solidFill>
              <a:srgbClr val="000099"/>
            </a:solidFill>
            <a:prstDash val="solid"/>
            <a:round/>
            <a:headEnd len="med" w="med" type="none"/>
            <a:tailEnd len="med" w="med" type="triangle"/>
          </a:ln>
        </p:spPr>
      </p:cxnSp>
      <p:cxnSp>
        <p:nvCxnSpPr>
          <p:cNvPr id="4728" name="Google Shape;4728;p77"/>
          <p:cNvCxnSpPr/>
          <p:nvPr/>
        </p:nvCxnSpPr>
        <p:spPr>
          <a:xfrm>
            <a:off x="6099175" y="3690937"/>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4729" name="Google Shape;4729;p77"/>
          <p:cNvCxnSpPr/>
          <p:nvPr/>
        </p:nvCxnSpPr>
        <p:spPr>
          <a:xfrm flipH="1">
            <a:off x="6096000" y="3065462"/>
            <a:ext cx="2014537" cy="1100138"/>
          </a:xfrm>
          <a:prstGeom prst="straightConnector1">
            <a:avLst/>
          </a:prstGeom>
          <a:noFill/>
          <a:ln cap="flat" cmpd="sng" w="28575">
            <a:solidFill>
              <a:srgbClr val="008000"/>
            </a:solidFill>
            <a:prstDash val="solid"/>
            <a:round/>
            <a:headEnd len="med" w="med" type="none"/>
            <a:tailEnd len="med" w="med" type="triangle"/>
          </a:ln>
        </p:spPr>
      </p:cxnSp>
      <p:grpSp>
        <p:nvGrpSpPr>
          <p:cNvPr id="4730" name="Google Shape;4730;p77"/>
          <p:cNvGrpSpPr/>
          <p:nvPr/>
        </p:nvGrpSpPr>
        <p:grpSpPr>
          <a:xfrm>
            <a:off x="4081462" y="2254250"/>
            <a:ext cx="1978025" cy="2543175"/>
            <a:chOff x="4081462" y="2254250"/>
            <a:chExt cx="1978025" cy="2543175"/>
          </a:xfrm>
        </p:grpSpPr>
        <p:pic>
          <p:nvPicPr>
            <p:cNvPr descr="alarm_clock_ringing" id="4731" name="Google Shape;4731;p77"/>
            <p:cNvPicPr preferRelativeResize="0"/>
            <p:nvPr/>
          </p:nvPicPr>
          <p:blipFill rotWithShape="1">
            <a:blip r:embed="rId3">
              <a:alphaModFix/>
            </a:blip>
            <a:srcRect b="0" l="0" r="0" t="0"/>
            <a:stretch/>
          </p:blipFill>
          <p:spPr>
            <a:xfrm>
              <a:off x="4081462" y="4283075"/>
              <a:ext cx="436563" cy="481012"/>
            </a:xfrm>
            <a:prstGeom prst="rect">
              <a:avLst/>
            </a:prstGeom>
            <a:noFill/>
            <a:ln>
              <a:noFill/>
            </a:ln>
          </p:spPr>
        </p:pic>
        <p:sp>
          <p:nvSpPr>
            <p:cNvPr id="4732" name="Google Shape;4732;p77"/>
            <p:cNvSpPr txBox="1"/>
            <p:nvPr/>
          </p:nvSpPr>
          <p:spPr>
            <a:xfrm>
              <a:off x="4449762" y="4498975"/>
              <a:ext cx="1538288" cy="298450"/>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pkt 2 timeout</a:t>
              </a:r>
              <a:endParaRPr/>
            </a:p>
          </p:txBody>
        </p:sp>
        <p:grpSp>
          <p:nvGrpSpPr>
            <p:cNvPr id="4733" name="Google Shape;4733;p77"/>
            <p:cNvGrpSpPr/>
            <p:nvPr/>
          </p:nvGrpSpPr>
          <p:grpSpPr>
            <a:xfrm>
              <a:off x="5956300" y="2254250"/>
              <a:ext cx="103187" cy="2462212"/>
              <a:chOff x="3651" y="1878"/>
              <a:chExt cx="78" cy="963"/>
            </a:xfrm>
          </p:grpSpPr>
          <p:cxnSp>
            <p:nvCxnSpPr>
              <p:cNvPr id="4734" name="Google Shape;4734;p77"/>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4735" name="Google Shape;4735;p77"/>
              <p:cNvCxnSpPr/>
              <p:nvPr/>
            </p:nvCxnSpPr>
            <p:spPr>
              <a:xfrm rot="10800000">
                <a:off x="3651" y="1878"/>
                <a:ext cx="76" cy="0"/>
              </a:xfrm>
              <a:prstGeom prst="straightConnector1">
                <a:avLst/>
              </a:prstGeom>
              <a:noFill/>
              <a:ln cap="flat" cmpd="sng" w="28575">
                <a:solidFill>
                  <a:srgbClr val="000000"/>
                </a:solidFill>
                <a:prstDash val="solid"/>
                <a:round/>
                <a:headEnd len="med" w="med" type="none"/>
                <a:tailEnd len="med" w="med" type="none"/>
              </a:ln>
            </p:spPr>
          </p:cxnSp>
          <p:cxnSp>
            <p:nvCxnSpPr>
              <p:cNvPr id="4736" name="Google Shape;4736;p77"/>
              <p:cNvCxnSpPr/>
              <p:nvPr/>
            </p:nvCxnSpPr>
            <p:spPr>
              <a:xfrm rot="10800000">
                <a:off x="3651" y="2841"/>
                <a:ext cx="76" cy="0"/>
              </a:xfrm>
              <a:prstGeom prst="straightConnector1">
                <a:avLst/>
              </a:prstGeom>
              <a:noFill/>
              <a:ln cap="flat" cmpd="sng" w="28575">
                <a:solidFill>
                  <a:srgbClr val="000000"/>
                </a:solidFill>
                <a:prstDash val="solid"/>
                <a:round/>
                <a:headEnd len="med" w="med" type="none"/>
                <a:tailEnd len="med" w="med" type="none"/>
              </a:ln>
            </p:spPr>
          </p:cxnSp>
        </p:grpSp>
      </p:grpSp>
      <p:grpSp>
        <p:nvGrpSpPr>
          <p:cNvPr id="4737" name="Google Shape;4737;p77"/>
          <p:cNvGrpSpPr/>
          <p:nvPr/>
        </p:nvGrpSpPr>
        <p:grpSpPr>
          <a:xfrm>
            <a:off x="6061075" y="4884737"/>
            <a:ext cx="2114550" cy="1179513"/>
            <a:chOff x="6061075" y="4884737"/>
            <a:chExt cx="2114550" cy="1179513"/>
          </a:xfrm>
        </p:grpSpPr>
        <p:cxnSp>
          <p:nvCxnSpPr>
            <p:cNvPr id="4738" name="Google Shape;4738;p77"/>
            <p:cNvCxnSpPr/>
            <p:nvPr/>
          </p:nvCxnSpPr>
          <p:spPr>
            <a:xfrm>
              <a:off x="6075362" y="4884737"/>
              <a:ext cx="2100263" cy="468313"/>
            </a:xfrm>
            <a:prstGeom prst="straightConnector1">
              <a:avLst/>
            </a:prstGeom>
            <a:noFill/>
            <a:ln cap="flat" cmpd="sng" w="28575">
              <a:solidFill>
                <a:srgbClr val="000099"/>
              </a:solidFill>
              <a:prstDash val="solid"/>
              <a:round/>
              <a:headEnd len="med" w="med" type="none"/>
              <a:tailEnd len="med" w="med" type="triangle"/>
            </a:ln>
          </p:spPr>
        </p:cxnSp>
        <p:cxnSp>
          <p:nvCxnSpPr>
            <p:cNvPr id="4739" name="Google Shape;4739;p77"/>
            <p:cNvCxnSpPr/>
            <p:nvPr/>
          </p:nvCxnSpPr>
          <p:spPr>
            <a:xfrm>
              <a:off x="6067425" y="5129212"/>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4740" name="Google Shape;4740;p77"/>
            <p:cNvCxnSpPr/>
            <p:nvPr/>
          </p:nvCxnSpPr>
          <p:spPr>
            <a:xfrm>
              <a:off x="6061075" y="5362575"/>
              <a:ext cx="2101850" cy="468312"/>
            </a:xfrm>
            <a:prstGeom prst="straightConnector1">
              <a:avLst/>
            </a:prstGeom>
            <a:noFill/>
            <a:ln cap="flat" cmpd="sng" w="28575">
              <a:solidFill>
                <a:srgbClr val="000099"/>
              </a:solidFill>
              <a:prstDash val="solid"/>
              <a:round/>
              <a:headEnd len="med" w="med" type="none"/>
              <a:tailEnd len="med" w="med" type="triangle"/>
            </a:ln>
          </p:spPr>
        </p:cxnSp>
        <p:cxnSp>
          <p:nvCxnSpPr>
            <p:cNvPr id="4741" name="Google Shape;4741;p77"/>
            <p:cNvCxnSpPr/>
            <p:nvPr/>
          </p:nvCxnSpPr>
          <p:spPr>
            <a:xfrm>
              <a:off x="6064250" y="5595937"/>
              <a:ext cx="2100262" cy="468313"/>
            </a:xfrm>
            <a:prstGeom prst="straightConnector1">
              <a:avLst/>
            </a:prstGeom>
            <a:noFill/>
            <a:ln cap="flat" cmpd="sng" w="28575">
              <a:solidFill>
                <a:srgbClr val="000099"/>
              </a:solidFill>
              <a:prstDash val="solid"/>
              <a:round/>
              <a:headEnd len="med" w="med" type="none"/>
              <a:tailEnd len="med" w="med" type="triangle"/>
            </a:ln>
          </p:spPr>
        </p:cxnSp>
      </p:grpSp>
      <p:sp>
        <p:nvSpPr>
          <p:cNvPr id="4742" name="Google Shape;4742;p77"/>
          <p:cNvSpPr txBox="1"/>
          <p:nvPr/>
        </p:nvSpPr>
        <p:spPr>
          <a:xfrm>
            <a:off x="8135937" y="3497262"/>
            <a:ext cx="241300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pkt4, discard,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(re)send ack1</a:t>
            </a:r>
            <a:endParaRPr/>
          </a:p>
        </p:txBody>
      </p:sp>
      <p:sp>
        <p:nvSpPr>
          <p:cNvPr id="4743" name="Google Shape;4743;p77"/>
          <p:cNvSpPr txBox="1"/>
          <p:nvPr/>
        </p:nvSpPr>
        <p:spPr>
          <a:xfrm>
            <a:off x="8154987" y="4017962"/>
            <a:ext cx="241300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pkt5, discard,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(re)send ack1</a:t>
            </a:r>
            <a:endParaRPr/>
          </a:p>
        </p:txBody>
      </p:sp>
      <p:sp>
        <p:nvSpPr>
          <p:cNvPr id="4744" name="Google Shape;4744;p77"/>
          <p:cNvSpPr txBox="1"/>
          <p:nvPr/>
        </p:nvSpPr>
        <p:spPr>
          <a:xfrm>
            <a:off x="8166100" y="5172075"/>
            <a:ext cx="2965450" cy="1082675"/>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pkt2, deliver, send ack2</a:t>
            </a:r>
            <a:endParaRPr/>
          </a:p>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pkt3, deliver, send ack3</a:t>
            </a:r>
            <a:endParaRPr/>
          </a:p>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pkt4, deliver, send ack4</a:t>
            </a:r>
            <a:endParaRPr/>
          </a:p>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pkt5, deliver, send ack5</a:t>
            </a:r>
            <a:endParaRPr/>
          </a:p>
        </p:txBody>
      </p:sp>
      <p:sp>
        <p:nvSpPr>
          <p:cNvPr id="4745" name="Google Shape;4745;p77"/>
          <p:cNvSpPr txBox="1"/>
          <p:nvPr/>
        </p:nvSpPr>
        <p:spPr>
          <a:xfrm>
            <a:off x="4217987" y="4000500"/>
            <a:ext cx="1811338"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ignore duplicate ACK</a:t>
            </a:r>
            <a:endParaRPr/>
          </a:p>
        </p:txBody>
      </p:sp>
      <p:sp>
        <p:nvSpPr>
          <p:cNvPr id="4746" name="Google Shape;4746;p77"/>
          <p:cNvSpPr txBox="1"/>
          <p:nvPr/>
        </p:nvSpPr>
        <p:spPr>
          <a:xfrm>
            <a:off x="2278062" y="1223962"/>
            <a:ext cx="21463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Tahoma"/>
              <a:buNone/>
            </a:pPr>
            <a:r>
              <a:rPr b="0" i="1" lang="en-US" sz="1600" u="sng" cap="none" strike="noStrike">
                <a:solidFill>
                  <a:srgbClr val="000099"/>
                </a:solidFill>
                <a:latin typeface="Tahoma"/>
                <a:ea typeface="Tahoma"/>
                <a:cs typeface="Tahoma"/>
                <a:sym typeface="Tahoma"/>
              </a:rPr>
              <a:t>sender window (N=4)</a:t>
            </a:r>
            <a:endParaRPr/>
          </a:p>
        </p:txBody>
      </p:sp>
      <p:grpSp>
        <p:nvGrpSpPr>
          <p:cNvPr id="4747" name="Google Shape;4747;p77"/>
          <p:cNvGrpSpPr/>
          <p:nvPr/>
        </p:nvGrpSpPr>
        <p:grpSpPr>
          <a:xfrm>
            <a:off x="2317750" y="1570037"/>
            <a:ext cx="1520825" cy="1150938"/>
            <a:chOff x="2317750" y="1570037"/>
            <a:chExt cx="1520825" cy="1150938"/>
          </a:xfrm>
        </p:grpSpPr>
        <p:grpSp>
          <p:nvGrpSpPr>
            <p:cNvPr id="4748" name="Google Shape;4748;p77"/>
            <p:cNvGrpSpPr/>
            <p:nvPr/>
          </p:nvGrpSpPr>
          <p:grpSpPr>
            <a:xfrm>
              <a:off x="2320925" y="1570037"/>
              <a:ext cx="1512887" cy="304800"/>
              <a:chOff x="115" y="914"/>
              <a:chExt cx="953" cy="192"/>
            </a:xfrm>
          </p:grpSpPr>
          <p:sp>
            <p:nvSpPr>
              <p:cNvPr id="4749" name="Google Shape;4749;p77"/>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750" name="Google Shape;4750;p77"/>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751" name="Google Shape;4751;p77"/>
            <p:cNvGrpSpPr/>
            <p:nvPr/>
          </p:nvGrpSpPr>
          <p:grpSpPr>
            <a:xfrm>
              <a:off x="2317750" y="1855787"/>
              <a:ext cx="1512887" cy="304800"/>
              <a:chOff x="115" y="914"/>
              <a:chExt cx="953" cy="192"/>
            </a:xfrm>
          </p:grpSpPr>
          <p:sp>
            <p:nvSpPr>
              <p:cNvPr id="4752" name="Google Shape;4752;p77"/>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753" name="Google Shape;4753;p77"/>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754" name="Google Shape;4754;p77"/>
            <p:cNvGrpSpPr/>
            <p:nvPr/>
          </p:nvGrpSpPr>
          <p:grpSpPr>
            <a:xfrm>
              <a:off x="2325687" y="2141537"/>
              <a:ext cx="1512888" cy="304800"/>
              <a:chOff x="115" y="914"/>
              <a:chExt cx="953" cy="192"/>
            </a:xfrm>
          </p:grpSpPr>
          <p:sp>
            <p:nvSpPr>
              <p:cNvPr id="4755" name="Google Shape;4755;p77"/>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756" name="Google Shape;4756;p77"/>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757" name="Google Shape;4757;p77"/>
            <p:cNvGrpSpPr/>
            <p:nvPr/>
          </p:nvGrpSpPr>
          <p:grpSpPr>
            <a:xfrm>
              <a:off x="2322512" y="2416175"/>
              <a:ext cx="1512888" cy="304800"/>
              <a:chOff x="115" y="914"/>
              <a:chExt cx="953" cy="192"/>
            </a:xfrm>
          </p:grpSpPr>
          <p:sp>
            <p:nvSpPr>
              <p:cNvPr id="4758" name="Google Shape;4758;p77"/>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759" name="Google Shape;4759;p77"/>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grpSp>
        <p:nvGrpSpPr>
          <p:cNvPr id="4760" name="Google Shape;4760;p77"/>
          <p:cNvGrpSpPr/>
          <p:nvPr/>
        </p:nvGrpSpPr>
        <p:grpSpPr>
          <a:xfrm>
            <a:off x="2319337" y="3135312"/>
            <a:ext cx="3749675" cy="369332"/>
            <a:chOff x="2319337" y="3135312"/>
            <a:chExt cx="3749675" cy="369332"/>
          </a:xfrm>
        </p:grpSpPr>
        <p:sp>
          <p:nvSpPr>
            <p:cNvPr id="4761" name="Google Shape;4761;p77"/>
            <p:cNvSpPr/>
            <p:nvPr/>
          </p:nvSpPr>
          <p:spPr>
            <a:xfrm>
              <a:off x="2533650" y="3221037"/>
              <a:ext cx="628650" cy="2286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762" name="Google Shape;4762;p77"/>
            <p:cNvGrpSpPr/>
            <p:nvPr/>
          </p:nvGrpSpPr>
          <p:grpSpPr>
            <a:xfrm>
              <a:off x="2319337" y="3135312"/>
              <a:ext cx="3749675" cy="369332"/>
              <a:chOff x="2319337" y="3135312"/>
              <a:chExt cx="3749675" cy="369332"/>
            </a:xfrm>
          </p:grpSpPr>
          <p:sp>
            <p:nvSpPr>
              <p:cNvPr id="4763" name="Google Shape;4763;p77"/>
              <p:cNvSpPr txBox="1"/>
              <p:nvPr/>
            </p:nvSpPr>
            <p:spPr>
              <a:xfrm>
                <a:off x="3894955" y="3135312"/>
                <a:ext cx="2174057"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 send pkt4</a:t>
                </a:r>
                <a:endParaRPr/>
              </a:p>
            </p:txBody>
          </p:sp>
          <p:sp>
            <p:nvSpPr>
              <p:cNvPr id="4764" name="Google Shape;4764;p77"/>
              <p:cNvSpPr txBox="1"/>
              <p:nvPr/>
            </p:nvSpPr>
            <p:spPr>
              <a:xfrm>
                <a:off x="2319337" y="3186112"/>
                <a:ext cx="1512888"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a:t>
                </a:r>
                <a:r>
                  <a:rPr b="0" i="0" lang="en-US" sz="1400" u="none" cap="none" strike="noStrike">
                    <a:solidFill>
                      <a:srgbClr val="FFFFFF"/>
                    </a:solidFill>
                    <a:latin typeface="Arial"/>
                    <a:ea typeface="Arial"/>
                    <a:cs typeface="Arial"/>
                    <a:sym typeface="Arial"/>
                  </a:rPr>
                  <a:t>1 2 3 4</a:t>
                </a:r>
                <a:r>
                  <a:rPr b="0" i="0" lang="en-US" sz="1400" u="none" cap="none" strike="noStrike">
                    <a:solidFill>
                      <a:srgbClr val="000000"/>
                    </a:solidFill>
                    <a:latin typeface="Arial"/>
                    <a:ea typeface="Arial"/>
                    <a:cs typeface="Arial"/>
                    <a:sym typeface="Arial"/>
                  </a:rPr>
                  <a:t> 5 6 7 8 </a:t>
                </a:r>
                <a:endParaRPr/>
              </a:p>
            </p:txBody>
          </p:sp>
        </p:grpSp>
      </p:grpSp>
      <p:grpSp>
        <p:nvGrpSpPr>
          <p:cNvPr id="4765" name="Google Shape;4765;p77"/>
          <p:cNvGrpSpPr/>
          <p:nvPr/>
        </p:nvGrpSpPr>
        <p:grpSpPr>
          <a:xfrm>
            <a:off x="2305050" y="4754562"/>
            <a:ext cx="1520825" cy="1050925"/>
            <a:chOff x="2305050" y="4754562"/>
            <a:chExt cx="1520825" cy="1050925"/>
          </a:xfrm>
        </p:grpSpPr>
        <p:grpSp>
          <p:nvGrpSpPr>
            <p:cNvPr id="4766" name="Google Shape;4766;p77"/>
            <p:cNvGrpSpPr/>
            <p:nvPr/>
          </p:nvGrpSpPr>
          <p:grpSpPr>
            <a:xfrm>
              <a:off x="2305050" y="4754562"/>
              <a:ext cx="1512887" cy="304800"/>
              <a:chOff x="112" y="2105"/>
              <a:chExt cx="953" cy="192"/>
            </a:xfrm>
          </p:grpSpPr>
          <p:sp>
            <p:nvSpPr>
              <p:cNvPr id="4767" name="Google Shape;4767;p77"/>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768" name="Google Shape;4768;p77"/>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769" name="Google Shape;4769;p77"/>
            <p:cNvGrpSpPr/>
            <p:nvPr/>
          </p:nvGrpSpPr>
          <p:grpSpPr>
            <a:xfrm>
              <a:off x="2312987" y="4995862"/>
              <a:ext cx="1512888" cy="304800"/>
              <a:chOff x="112" y="2105"/>
              <a:chExt cx="953" cy="192"/>
            </a:xfrm>
          </p:grpSpPr>
          <p:sp>
            <p:nvSpPr>
              <p:cNvPr id="4770" name="Google Shape;4770;p77"/>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771" name="Google Shape;4771;p77"/>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772" name="Google Shape;4772;p77"/>
            <p:cNvGrpSpPr/>
            <p:nvPr/>
          </p:nvGrpSpPr>
          <p:grpSpPr>
            <a:xfrm>
              <a:off x="2309812" y="5259387"/>
              <a:ext cx="1512888" cy="304800"/>
              <a:chOff x="112" y="2105"/>
              <a:chExt cx="953" cy="192"/>
            </a:xfrm>
          </p:grpSpPr>
          <p:sp>
            <p:nvSpPr>
              <p:cNvPr id="4773" name="Google Shape;4773;p77"/>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774" name="Google Shape;4774;p77"/>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775" name="Google Shape;4775;p77"/>
            <p:cNvGrpSpPr/>
            <p:nvPr/>
          </p:nvGrpSpPr>
          <p:grpSpPr>
            <a:xfrm>
              <a:off x="2306637" y="5500687"/>
              <a:ext cx="1512888" cy="304800"/>
              <a:chOff x="112" y="2105"/>
              <a:chExt cx="953" cy="192"/>
            </a:xfrm>
          </p:grpSpPr>
          <p:sp>
            <p:nvSpPr>
              <p:cNvPr id="4776" name="Google Shape;4776;p77"/>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777" name="Google Shape;4777;p77"/>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grpSp>
        <p:nvGrpSpPr>
          <p:cNvPr id="4778" name="Google Shape;4778;p77"/>
          <p:cNvGrpSpPr/>
          <p:nvPr/>
        </p:nvGrpSpPr>
        <p:grpSpPr>
          <a:xfrm>
            <a:off x="7129462" y="3876675"/>
            <a:ext cx="1039813" cy="873125"/>
            <a:chOff x="7129462" y="3876675"/>
            <a:chExt cx="1039813" cy="873125"/>
          </a:xfrm>
        </p:grpSpPr>
        <p:cxnSp>
          <p:nvCxnSpPr>
            <p:cNvPr id="4779" name="Google Shape;4779;p77"/>
            <p:cNvCxnSpPr/>
            <p:nvPr/>
          </p:nvCxnSpPr>
          <p:spPr>
            <a:xfrm flipH="1">
              <a:off x="7129462" y="3876675"/>
              <a:ext cx="1033463" cy="563562"/>
            </a:xfrm>
            <a:prstGeom prst="straightConnector1">
              <a:avLst/>
            </a:prstGeom>
            <a:noFill/>
            <a:ln cap="flat" cmpd="sng" w="28575">
              <a:solidFill>
                <a:srgbClr val="008000"/>
              </a:solidFill>
              <a:prstDash val="solid"/>
              <a:round/>
              <a:headEnd len="med" w="med" type="none"/>
              <a:tailEnd len="med" w="med" type="triangle"/>
            </a:ln>
          </p:spPr>
        </p:cxnSp>
        <p:cxnSp>
          <p:nvCxnSpPr>
            <p:cNvPr id="4780" name="Google Shape;4780;p77"/>
            <p:cNvCxnSpPr/>
            <p:nvPr/>
          </p:nvCxnSpPr>
          <p:spPr>
            <a:xfrm flipH="1">
              <a:off x="7135812" y="4186237"/>
              <a:ext cx="1033463" cy="563563"/>
            </a:xfrm>
            <a:prstGeom prst="straightConnector1">
              <a:avLst/>
            </a:prstGeom>
            <a:noFill/>
            <a:ln cap="flat" cmpd="sng" w="28575">
              <a:solidFill>
                <a:srgbClr val="008000"/>
              </a:solidFill>
              <a:prstDash val="solid"/>
              <a:round/>
              <a:headEnd len="med" w="med" type="none"/>
              <a:tailEnd len="med" w="med" type="triangle"/>
            </a:ln>
          </p:spPr>
        </p:cxnSp>
      </p:grpSp>
      <p:grpSp>
        <p:nvGrpSpPr>
          <p:cNvPr id="4781" name="Google Shape;4781;p77"/>
          <p:cNvGrpSpPr/>
          <p:nvPr/>
        </p:nvGrpSpPr>
        <p:grpSpPr>
          <a:xfrm>
            <a:off x="7108825" y="5376862"/>
            <a:ext cx="1081087" cy="1303338"/>
            <a:chOff x="7083425" y="5376862"/>
            <a:chExt cx="1081087" cy="1303338"/>
          </a:xfrm>
        </p:grpSpPr>
        <p:cxnSp>
          <p:nvCxnSpPr>
            <p:cNvPr id="4782" name="Google Shape;4782;p77"/>
            <p:cNvCxnSpPr/>
            <p:nvPr/>
          </p:nvCxnSpPr>
          <p:spPr>
            <a:xfrm flipH="1">
              <a:off x="7131050" y="5376862"/>
              <a:ext cx="1033462" cy="563563"/>
            </a:xfrm>
            <a:prstGeom prst="straightConnector1">
              <a:avLst/>
            </a:prstGeom>
            <a:noFill/>
            <a:ln cap="flat" cmpd="sng" w="28575">
              <a:solidFill>
                <a:srgbClr val="008000"/>
              </a:solidFill>
              <a:prstDash val="solid"/>
              <a:round/>
              <a:headEnd len="med" w="med" type="none"/>
              <a:tailEnd len="med" w="med" type="triangle"/>
            </a:ln>
          </p:spPr>
        </p:cxnSp>
        <p:cxnSp>
          <p:nvCxnSpPr>
            <p:cNvPr id="4783" name="Google Shape;4783;p77"/>
            <p:cNvCxnSpPr/>
            <p:nvPr/>
          </p:nvCxnSpPr>
          <p:spPr>
            <a:xfrm flipH="1">
              <a:off x="7115175" y="5630862"/>
              <a:ext cx="1033462" cy="563563"/>
            </a:xfrm>
            <a:prstGeom prst="straightConnector1">
              <a:avLst/>
            </a:prstGeom>
            <a:noFill/>
            <a:ln cap="flat" cmpd="sng" w="28575">
              <a:solidFill>
                <a:srgbClr val="008000"/>
              </a:solidFill>
              <a:prstDash val="solid"/>
              <a:round/>
              <a:headEnd len="med" w="med" type="none"/>
              <a:tailEnd len="med" w="med" type="triangle"/>
            </a:ln>
          </p:spPr>
        </p:cxnSp>
        <p:cxnSp>
          <p:nvCxnSpPr>
            <p:cNvPr id="4784" name="Google Shape;4784;p77"/>
            <p:cNvCxnSpPr/>
            <p:nvPr/>
          </p:nvCxnSpPr>
          <p:spPr>
            <a:xfrm flipH="1">
              <a:off x="7099300" y="5873750"/>
              <a:ext cx="1033462" cy="563562"/>
            </a:xfrm>
            <a:prstGeom prst="straightConnector1">
              <a:avLst/>
            </a:prstGeom>
            <a:noFill/>
            <a:ln cap="flat" cmpd="sng" w="28575">
              <a:solidFill>
                <a:srgbClr val="008000"/>
              </a:solidFill>
              <a:prstDash val="solid"/>
              <a:round/>
              <a:headEnd len="med" w="med" type="none"/>
              <a:tailEnd len="med" w="med" type="triangle"/>
            </a:ln>
          </p:spPr>
        </p:cxnSp>
        <p:cxnSp>
          <p:nvCxnSpPr>
            <p:cNvPr id="4785" name="Google Shape;4785;p77"/>
            <p:cNvCxnSpPr/>
            <p:nvPr/>
          </p:nvCxnSpPr>
          <p:spPr>
            <a:xfrm flipH="1">
              <a:off x="7083425" y="6116637"/>
              <a:ext cx="1033462" cy="563563"/>
            </a:xfrm>
            <a:prstGeom prst="straightConnector1">
              <a:avLst/>
            </a:prstGeom>
            <a:noFill/>
            <a:ln cap="flat" cmpd="sng" w="28575">
              <a:solidFill>
                <a:srgbClr val="008000"/>
              </a:solidFill>
              <a:prstDash val="solid"/>
              <a:round/>
              <a:headEnd len="med" w="med" type="none"/>
              <a:tailEnd len="med" w="med" type="triangle"/>
            </a:ln>
          </p:spPr>
        </p:cxnSp>
      </p:grpSp>
      <p:grpSp>
        <p:nvGrpSpPr>
          <p:cNvPr id="4786" name="Google Shape;4786;p77"/>
          <p:cNvGrpSpPr/>
          <p:nvPr/>
        </p:nvGrpSpPr>
        <p:grpSpPr>
          <a:xfrm>
            <a:off x="2316162" y="3452813"/>
            <a:ext cx="3752850" cy="369332"/>
            <a:chOff x="2316162" y="3452813"/>
            <a:chExt cx="3752850" cy="369332"/>
          </a:xfrm>
        </p:grpSpPr>
        <p:grpSp>
          <p:nvGrpSpPr>
            <p:cNvPr id="4787" name="Google Shape;4787;p77"/>
            <p:cNvGrpSpPr/>
            <p:nvPr/>
          </p:nvGrpSpPr>
          <p:grpSpPr>
            <a:xfrm>
              <a:off x="2316162" y="3460750"/>
              <a:ext cx="1512888" cy="304800"/>
              <a:chOff x="112" y="2105"/>
              <a:chExt cx="953" cy="192"/>
            </a:xfrm>
          </p:grpSpPr>
          <p:sp>
            <p:nvSpPr>
              <p:cNvPr id="4788" name="Google Shape;4788;p77"/>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789" name="Google Shape;4789;p77"/>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sp>
          <p:nvSpPr>
            <p:cNvPr id="4790" name="Google Shape;4790;p77"/>
            <p:cNvSpPr txBox="1"/>
            <p:nvPr/>
          </p:nvSpPr>
          <p:spPr>
            <a:xfrm>
              <a:off x="3860800" y="3452813"/>
              <a:ext cx="2208212"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 send pkt5</a:t>
              </a:r>
              <a:endParaRPr/>
            </a:p>
          </p:txBody>
        </p:sp>
      </p:grpSp>
      <p:cxnSp>
        <p:nvCxnSpPr>
          <p:cNvPr id="4791" name="Google Shape;4791;p77"/>
          <p:cNvCxnSpPr/>
          <p:nvPr/>
        </p:nvCxnSpPr>
        <p:spPr>
          <a:xfrm>
            <a:off x="6037262" y="1612900"/>
            <a:ext cx="11113" cy="4538662"/>
          </a:xfrm>
          <a:prstGeom prst="straightConnector1">
            <a:avLst/>
          </a:prstGeom>
          <a:noFill/>
          <a:ln cap="flat" cmpd="sng" w="9525">
            <a:solidFill>
              <a:srgbClr val="000000"/>
            </a:solidFill>
            <a:prstDash val="solid"/>
            <a:round/>
            <a:headEnd len="med" w="med" type="none"/>
            <a:tailEnd len="med" w="med" type="none"/>
          </a:ln>
        </p:spPr>
      </p:cxnSp>
      <p:sp>
        <p:nvSpPr>
          <p:cNvPr id="4792" name="Google Shape;4792;p7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47"/>
                                        </p:tgtEl>
                                        <p:attrNameLst>
                                          <p:attrName>style.visibility</p:attrName>
                                        </p:attrNameLst>
                                      </p:cBhvr>
                                      <p:to>
                                        <p:strVal val="visible"/>
                                      </p:to>
                                    </p:set>
                                    <p:animEffect filter="fade" transition="in">
                                      <p:cBhvr>
                                        <p:cTn dur="500"/>
                                        <p:tgtEl>
                                          <p:spTgt spid="474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712"/>
                                        </p:tgtEl>
                                        <p:attrNameLst>
                                          <p:attrName>style.visibility</p:attrName>
                                        </p:attrNameLst>
                                      </p:cBhvr>
                                      <p:to>
                                        <p:strVal val="visible"/>
                                      </p:to>
                                    </p:set>
                                    <p:animEffect filter="fade" transition="in">
                                      <p:cBhvr>
                                        <p:cTn dur="500"/>
                                        <p:tgtEl>
                                          <p:spTgt spid="471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719"/>
                                        </p:tgtEl>
                                        <p:attrNameLst>
                                          <p:attrName>style.visibility</p:attrName>
                                        </p:attrNameLst>
                                      </p:cBhvr>
                                      <p:to>
                                        <p:strVal val="visible"/>
                                      </p:to>
                                    </p:set>
                                    <p:animEffect filter="fade" transition="in">
                                      <p:cBhvr>
                                        <p:cTn dur="500"/>
                                        <p:tgtEl>
                                          <p:spTgt spid="471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716"/>
                                        </p:tgtEl>
                                        <p:attrNameLst>
                                          <p:attrName>style.visibility</p:attrName>
                                        </p:attrNameLst>
                                      </p:cBhvr>
                                      <p:to>
                                        <p:strVal val="visible"/>
                                      </p:to>
                                    </p:set>
                                    <p:animEffect filter="fade" transition="in">
                                      <p:cBhvr>
                                        <p:cTn dur="500"/>
                                        <p:tgtEl>
                                          <p:spTgt spid="47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18"/>
                                        </p:tgtEl>
                                        <p:attrNameLst>
                                          <p:attrName>style.visibility</p:attrName>
                                        </p:attrNameLst>
                                      </p:cBhvr>
                                      <p:to>
                                        <p:strVal val="visible"/>
                                      </p:to>
                                    </p:set>
                                    <p:animEffect filter="fade" transition="in">
                                      <p:cBhvr>
                                        <p:cTn dur="500"/>
                                        <p:tgtEl>
                                          <p:spTgt spid="4718"/>
                                        </p:tgtEl>
                                      </p:cBhvr>
                                    </p:animEffect>
                                  </p:childTnLst>
                                </p:cTn>
                              </p:par>
                              <p:par>
                                <p:cTn fill="hold" nodeType="withEffect" presetClass="entr" presetID="10" presetSubtype="0">
                                  <p:stCondLst>
                                    <p:cond delay="0"/>
                                  </p:stCondLst>
                                  <p:childTnLst>
                                    <p:set>
                                      <p:cBhvr>
                                        <p:cTn dur="1" fill="hold">
                                          <p:stCondLst>
                                            <p:cond delay="0"/>
                                          </p:stCondLst>
                                        </p:cTn>
                                        <p:tgtEl>
                                          <p:spTgt spid="4726"/>
                                        </p:tgtEl>
                                        <p:attrNameLst>
                                          <p:attrName>style.visibility</p:attrName>
                                        </p:attrNameLst>
                                      </p:cBhvr>
                                      <p:to>
                                        <p:strVal val="visible"/>
                                      </p:to>
                                    </p:set>
                                    <p:animEffect filter="fade" transition="in">
                                      <p:cBhvr>
                                        <p:cTn dur="500"/>
                                        <p:tgtEl>
                                          <p:spTgt spid="4726"/>
                                        </p:tgtEl>
                                      </p:cBhvr>
                                    </p:animEffect>
                                  </p:childTnLst>
                                </p:cTn>
                              </p:par>
                              <p:par>
                                <p:cTn fill="hold" nodeType="withEffect" presetClass="entr" presetID="10" presetSubtype="0">
                                  <p:stCondLst>
                                    <p:cond delay="0"/>
                                  </p:stCondLst>
                                  <p:childTnLst>
                                    <p:set>
                                      <p:cBhvr>
                                        <p:cTn dur="1" fill="hold">
                                          <p:stCondLst>
                                            <p:cond delay="0"/>
                                          </p:stCondLst>
                                        </p:cTn>
                                        <p:tgtEl>
                                          <p:spTgt spid="4729"/>
                                        </p:tgtEl>
                                        <p:attrNameLst>
                                          <p:attrName>style.visibility</p:attrName>
                                        </p:attrNameLst>
                                      </p:cBhvr>
                                      <p:to>
                                        <p:strVal val="visible"/>
                                      </p:to>
                                    </p:set>
                                    <p:animEffect filter="fade" transition="in">
                                      <p:cBhvr>
                                        <p:cTn dur="500"/>
                                        <p:tgtEl>
                                          <p:spTgt spid="47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0"/>
                                        </p:tgtEl>
                                        <p:attrNameLst>
                                          <p:attrName>style.visibility</p:attrName>
                                        </p:attrNameLst>
                                      </p:cBhvr>
                                      <p:to>
                                        <p:strVal val="visible"/>
                                      </p:to>
                                    </p:set>
                                    <p:animEffect filter="fade" transition="in">
                                      <p:cBhvr>
                                        <p:cTn dur="500"/>
                                        <p:tgtEl>
                                          <p:spTgt spid="476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727"/>
                                        </p:tgtEl>
                                        <p:attrNameLst>
                                          <p:attrName>style.visibility</p:attrName>
                                        </p:attrNameLst>
                                      </p:cBhvr>
                                      <p:to>
                                        <p:strVal val="visible"/>
                                      </p:to>
                                    </p:set>
                                    <p:animEffect filter="fade" transition="in">
                                      <p:cBhvr>
                                        <p:cTn dur="500"/>
                                        <p:tgtEl>
                                          <p:spTgt spid="472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742"/>
                                        </p:tgtEl>
                                        <p:attrNameLst>
                                          <p:attrName>style.visibility</p:attrName>
                                        </p:attrNameLst>
                                      </p:cBhvr>
                                      <p:to>
                                        <p:strVal val="visible"/>
                                      </p:to>
                                    </p:set>
                                    <p:animEffect filter="fade" transition="in">
                                      <p:cBhvr>
                                        <p:cTn dur="500"/>
                                        <p:tgtEl>
                                          <p:spTgt spid="47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86"/>
                                        </p:tgtEl>
                                        <p:attrNameLst>
                                          <p:attrName>style.visibility</p:attrName>
                                        </p:attrNameLst>
                                      </p:cBhvr>
                                      <p:to>
                                        <p:strVal val="visible"/>
                                      </p:to>
                                    </p:set>
                                    <p:animEffect filter="fade" transition="in">
                                      <p:cBhvr>
                                        <p:cTn dur="500"/>
                                        <p:tgtEl>
                                          <p:spTgt spid="478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728"/>
                                        </p:tgtEl>
                                        <p:attrNameLst>
                                          <p:attrName>style.visibility</p:attrName>
                                        </p:attrNameLst>
                                      </p:cBhvr>
                                      <p:to>
                                        <p:strVal val="visible"/>
                                      </p:to>
                                    </p:set>
                                    <p:animEffect filter="fade" transition="in">
                                      <p:cBhvr>
                                        <p:cTn dur="500"/>
                                        <p:tgtEl>
                                          <p:spTgt spid="472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743"/>
                                        </p:tgtEl>
                                        <p:attrNameLst>
                                          <p:attrName>style.visibility</p:attrName>
                                        </p:attrNameLst>
                                      </p:cBhvr>
                                      <p:to>
                                        <p:strVal val="visible"/>
                                      </p:to>
                                    </p:set>
                                    <p:animEffect filter="fade" transition="in">
                                      <p:cBhvr>
                                        <p:cTn dur="500"/>
                                        <p:tgtEl>
                                          <p:spTgt spid="47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45"/>
                                        </p:tgtEl>
                                        <p:attrNameLst>
                                          <p:attrName>style.visibility</p:attrName>
                                        </p:attrNameLst>
                                      </p:cBhvr>
                                      <p:to>
                                        <p:strVal val="visible"/>
                                      </p:to>
                                    </p:set>
                                    <p:animEffect filter="fade" transition="in">
                                      <p:cBhvr>
                                        <p:cTn dur="500"/>
                                        <p:tgtEl>
                                          <p:spTgt spid="47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8"/>
                                        </p:tgtEl>
                                        <p:attrNameLst>
                                          <p:attrName>style.visibility</p:attrName>
                                        </p:attrNameLst>
                                      </p:cBhvr>
                                      <p:to>
                                        <p:strVal val="visible"/>
                                      </p:to>
                                    </p:set>
                                    <p:animEffect filter="fade" transition="in">
                                      <p:cBhvr>
                                        <p:cTn dur="500"/>
                                        <p:tgtEl>
                                          <p:spTgt spid="47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0"/>
                                        </p:tgtEl>
                                        <p:attrNameLst>
                                          <p:attrName>style.visibility</p:attrName>
                                        </p:attrNameLst>
                                      </p:cBhvr>
                                      <p:to>
                                        <p:strVal val="visible"/>
                                      </p:to>
                                    </p:set>
                                    <p:animEffect filter="fade" transition="in">
                                      <p:cBhvr>
                                        <p:cTn dur="500"/>
                                        <p:tgtEl>
                                          <p:spTgt spid="47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5"/>
                                        </p:tgtEl>
                                        <p:attrNameLst>
                                          <p:attrName>style.visibility</p:attrName>
                                        </p:attrNameLst>
                                      </p:cBhvr>
                                      <p:to>
                                        <p:strVal val="visible"/>
                                      </p:to>
                                    </p:set>
                                    <p:animEffect filter="fade" transition="in">
                                      <p:cBhvr>
                                        <p:cTn dur="500"/>
                                        <p:tgtEl>
                                          <p:spTgt spid="476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717"/>
                                        </p:tgtEl>
                                        <p:attrNameLst>
                                          <p:attrName>style.visibility</p:attrName>
                                        </p:attrNameLst>
                                      </p:cBhvr>
                                      <p:to>
                                        <p:strVal val="visible"/>
                                      </p:to>
                                    </p:set>
                                    <p:animEffect filter="fade" transition="in">
                                      <p:cBhvr>
                                        <p:cTn dur="500"/>
                                        <p:tgtEl>
                                          <p:spTgt spid="471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737"/>
                                        </p:tgtEl>
                                        <p:attrNameLst>
                                          <p:attrName>style.visibility</p:attrName>
                                        </p:attrNameLst>
                                      </p:cBhvr>
                                      <p:to>
                                        <p:strVal val="visible"/>
                                      </p:to>
                                    </p:set>
                                    <p:animEffect filter="fade" transition="in">
                                      <p:cBhvr>
                                        <p:cTn dur="500"/>
                                        <p:tgtEl>
                                          <p:spTgt spid="473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744"/>
                                        </p:tgtEl>
                                        <p:attrNameLst>
                                          <p:attrName>style.visibility</p:attrName>
                                        </p:attrNameLst>
                                      </p:cBhvr>
                                      <p:to>
                                        <p:strVal val="visible"/>
                                      </p:to>
                                    </p:set>
                                    <p:animEffect filter="fade" transition="in">
                                      <p:cBhvr>
                                        <p:cTn dur="500"/>
                                        <p:tgtEl>
                                          <p:spTgt spid="474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781"/>
                                        </p:tgtEl>
                                        <p:attrNameLst>
                                          <p:attrName>style.visibility</p:attrName>
                                        </p:attrNameLst>
                                      </p:cBhvr>
                                      <p:to>
                                        <p:strVal val="visible"/>
                                      </p:to>
                                    </p:set>
                                    <p:animEffect filter="fade" transition="in">
                                      <p:cBhvr>
                                        <p:cTn dur="500"/>
                                        <p:tgtEl>
                                          <p:spTgt spid="47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7" name="Shape 4797"/>
        <p:cNvGrpSpPr/>
        <p:nvPr/>
      </p:nvGrpSpPr>
      <p:grpSpPr>
        <a:xfrm>
          <a:off x="0" y="0"/>
          <a:ext cx="0" cy="0"/>
          <a:chOff x="0" y="0"/>
          <a:chExt cx="0" cy="0"/>
        </a:xfrm>
      </p:grpSpPr>
      <p:sp>
        <p:nvSpPr>
          <p:cNvPr id="4798" name="Google Shape;4798;p80"/>
          <p:cNvSpPr txBox="1"/>
          <p:nvPr>
            <p:ph idx="1" type="body"/>
          </p:nvPr>
        </p:nvSpPr>
        <p:spPr>
          <a:xfrm>
            <a:off x="2057400" y="1460501"/>
            <a:ext cx="8324850" cy="4849813"/>
          </a:xfrm>
          <a:prstGeom prst="rect">
            <a:avLst/>
          </a:prstGeom>
          <a:noFill/>
          <a:ln>
            <a:noFill/>
          </a:ln>
        </p:spPr>
        <p:txBody>
          <a:bodyPr anchorCtr="0" anchor="t" bIns="45700" lIns="91425" spcFirstLastPara="1" rIns="91425" wrap="square" tIns="45700">
            <a:normAutofit/>
          </a:bodyPr>
          <a:lstStyle/>
          <a:p>
            <a:pPr indent="-222250" lvl="0" marL="352425" rtl="0" algn="l">
              <a:lnSpc>
                <a:spcPct val="100000"/>
              </a:lnSpc>
              <a:spcBef>
                <a:spcPts val="0"/>
              </a:spcBef>
              <a:spcAft>
                <a:spcPts val="0"/>
              </a:spcAft>
              <a:buSzPts val="2200"/>
              <a:buChar char="▪"/>
            </a:pPr>
            <a:r>
              <a:rPr lang="en-US" sz="2200">
                <a:latin typeface="Arial"/>
                <a:ea typeface="Arial"/>
                <a:cs typeface="Arial"/>
                <a:sym typeface="Arial"/>
              </a:rPr>
              <a:t>The GBN protocol allows the sender to potentially “fill the pipeline” with packets</a:t>
            </a:r>
            <a:endParaRPr/>
          </a:p>
          <a:p>
            <a:pPr indent="-222250" lvl="0" marL="352425" rtl="0" algn="l">
              <a:lnSpc>
                <a:spcPct val="100000"/>
              </a:lnSpc>
              <a:spcBef>
                <a:spcPts val="1000"/>
              </a:spcBef>
              <a:spcAft>
                <a:spcPts val="0"/>
              </a:spcAft>
              <a:buSzPts val="2200"/>
              <a:buChar char="▪"/>
            </a:pPr>
            <a:r>
              <a:rPr lang="en-US" sz="2200">
                <a:latin typeface="Arial"/>
                <a:ea typeface="Arial"/>
                <a:cs typeface="Arial"/>
                <a:sym typeface="Arial"/>
              </a:rPr>
              <a:t>thus avoiding the channel utilization problems we noted with stop- and-wait protocols. </a:t>
            </a:r>
            <a:endParaRPr/>
          </a:p>
          <a:p>
            <a:pPr indent="-117475" lvl="1" marL="695325" rtl="0" algn="l">
              <a:lnSpc>
                <a:spcPct val="100000"/>
              </a:lnSpc>
              <a:spcBef>
                <a:spcPts val="500"/>
              </a:spcBef>
              <a:spcAft>
                <a:spcPts val="0"/>
              </a:spcAft>
              <a:buSzPts val="1800"/>
              <a:buNone/>
            </a:pPr>
            <a:r>
              <a:t/>
            </a:r>
            <a:endParaRPr sz="1800">
              <a:latin typeface="Arial"/>
              <a:ea typeface="Arial"/>
              <a:cs typeface="Arial"/>
              <a:sym typeface="Arial"/>
            </a:endParaRPr>
          </a:p>
          <a:p>
            <a:pPr indent="-104775" lvl="1" marL="695325" rtl="0" algn="l">
              <a:lnSpc>
                <a:spcPct val="100000"/>
              </a:lnSpc>
              <a:spcBef>
                <a:spcPts val="500"/>
              </a:spcBef>
              <a:spcAft>
                <a:spcPts val="0"/>
              </a:spcAft>
              <a:buSzPts val="2000"/>
              <a:buNone/>
            </a:pPr>
            <a:r>
              <a:t/>
            </a:r>
            <a:endParaRPr sz="2000">
              <a:latin typeface="Arial"/>
              <a:ea typeface="Arial"/>
              <a:cs typeface="Arial"/>
              <a:sym typeface="Arial"/>
            </a:endParaRPr>
          </a:p>
          <a:p>
            <a:pPr indent="-104775" lvl="1" marL="695325" rtl="0" algn="l">
              <a:lnSpc>
                <a:spcPct val="100000"/>
              </a:lnSpc>
              <a:spcBef>
                <a:spcPts val="500"/>
              </a:spcBef>
              <a:spcAft>
                <a:spcPts val="0"/>
              </a:spcAft>
              <a:buSzPts val="2000"/>
              <a:buNone/>
            </a:pPr>
            <a:r>
              <a:t/>
            </a:r>
            <a:endParaRPr sz="2000">
              <a:latin typeface="Arial"/>
              <a:ea typeface="Arial"/>
              <a:cs typeface="Arial"/>
              <a:sym typeface="Arial"/>
            </a:endParaRPr>
          </a:p>
          <a:p>
            <a:pPr indent="-104775" lvl="1" marL="695325" rtl="0" algn="l">
              <a:lnSpc>
                <a:spcPct val="100000"/>
              </a:lnSpc>
              <a:spcBef>
                <a:spcPts val="500"/>
              </a:spcBef>
              <a:spcAft>
                <a:spcPts val="0"/>
              </a:spcAft>
              <a:buSzPts val="2000"/>
              <a:buNone/>
            </a:pPr>
            <a:r>
              <a:t/>
            </a:r>
            <a:endParaRPr sz="2000">
              <a:latin typeface="Arial"/>
              <a:ea typeface="Arial"/>
              <a:cs typeface="Arial"/>
              <a:sym typeface="Arial"/>
            </a:endParaRPr>
          </a:p>
          <a:p>
            <a:pPr indent="-104775" lvl="1" marL="695325" rtl="0" algn="l">
              <a:lnSpc>
                <a:spcPct val="100000"/>
              </a:lnSpc>
              <a:spcBef>
                <a:spcPts val="500"/>
              </a:spcBef>
              <a:spcAft>
                <a:spcPts val="0"/>
              </a:spcAft>
              <a:buSzPts val="2000"/>
              <a:buNone/>
            </a:pPr>
            <a:r>
              <a:t/>
            </a:r>
            <a:endParaRPr sz="2000">
              <a:latin typeface="Arial"/>
              <a:ea typeface="Arial"/>
              <a:cs typeface="Arial"/>
              <a:sym typeface="Arial"/>
            </a:endParaRPr>
          </a:p>
          <a:p>
            <a:pPr indent="-222250" lvl="0" marL="352425" rtl="0" algn="l">
              <a:lnSpc>
                <a:spcPct val="100000"/>
              </a:lnSpc>
              <a:spcBef>
                <a:spcPts val="1000"/>
              </a:spcBef>
              <a:spcAft>
                <a:spcPts val="0"/>
              </a:spcAft>
              <a:buSzPts val="2200"/>
              <a:buChar char="▪"/>
            </a:pPr>
            <a:r>
              <a:rPr lang="en-US" sz="2200">
                <a:latin typeface="Arial"/>
                <a:ea typeface="Arial"/>
                <a:cs typeface="Arial"/>
                <a:sym typeface="Arial"/>
              </a:rPr>
              <a:t> </a:t>
            </a:r>
            <a:endParaRPr/>
          </a:p>
          <a:p>
            <a:pPr indent="-117475" lvl="1" marL="695325" rtl="0" algn="l">
              <a:lnSpc>
                <a:spcPct val="100000"/>
              </a:lnSpc>
              <a:spcBef>
                <a:spcPts val="500"/>
              </a:spcBef>
              <a:spcAft>
                <a:spcPts val="0"/>
              </a:spcAft>
              <a:buSzPts val="1800"/>
              <a:buNone/>
            </a:pPr>
            <a:r>
              <a:t/>
            </a:r>
            <a:endParaRPr sz="1800">
              <a:latin typeface="Arial"/>
              <a:ea typeface="Arial"/>
              <a:cs typeface="Arial"/>
              <a:sym typeface="Arial"/>
            </a:endParaRPr>
          </a:p>
        </p:txBody>
      </p:sp>
      <p:sp>
        <p:nvSpPr>
          <p:cNvPr id="4799" name="Google Shape;4799;p80"/>
          <p:cNvSpPr txBox="1"/>
          <p:nvPr/>
        </p:nvSpPr>
        <p:spPr>
          <a:xfrm>
            <a:off x="1117600" y="430213"/>
            <a:ext cx="7043739" cy="469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A3"/>
              </a:buClr>
              <a:buSzPts val="3200"/>
              <a:buFont typeface="Noto Sans Symbols"/>
              <a:buNone/>
            </a:pPr>
            <a:r>
              <a:rPr b="1" lang="en-US" sz="3200">
                <a:solidFill>
                  <a:srgbClr val="0000A3"/>
                </a:solidFill>
                <a:latin typeface="Calibri"/>
                <a:ea typeface="Calibri"/>
                <a:cs typeface="Calibri"/>
                <a:sym typeface="Calibri"/>
              </a:rPr>
              <a:t>Go-Back-N (GBN): Weakness</a:t>
            </a:r>
            <a:endParaRPr/>
          </a:p>
        </p:txBody>
      </p:sp>
      <p:pic>
        <p:nvPicPr>
          <p:cNvPr descr="Screen Shot 2016-03-16 at 4.31.49 PM.png" id="4800" name="Google Shape;4800;p80"/>
          <p:cNvPicPr preferRelativeResize="0"/>
          <p:nvPr/>
        </p:nvPicPr>
        <p:blipFill rotWithShape="1">
          <a:blip r:embed="rId3">
            <a:alphaModFix/>
          </a:blip>
          <a:srcRect b="0" l="52142" r="0" t="0"/>
          <a:stretch/>
        </p:blipFill>
        <p:spPr>
          <a:xfrm>
            <a:off x="6592888" y="3049588"/>
            <a:ext cx="3136900" cy="2292350"/>
          </a:xfrm>
          <a:prstGeom prst="rect">
            <a:avLst/>
          </a:prstGeom>
          <a:noFill/>
          <a:ln>
            <a:noFill/>
          </a:ln>
        </p:spPr>
      </p:pic>
      <p:pic>
        <p:nvPicPr>
          <p:cNvPr descr="Screen Shot 2016-03-16 at 4.31.49 PM.png" id="4801" name="Google Shape;4801;p80"/>
          <p:cNvPicPr preferRelativeResize="0"/>
          <p:nvPr/>
        </p:nvPicPr>
        <p:blipFill rotWithShape="1">
          <a:blip r:embed="rId3">
            <a:alphaModFix/>
          </a:blip>
          <a:srcRect b="0" l="0" r="51073" t="0"/>
          <a:stretch/>
        </p:blipFill>
        <p:spPr>
          <a:xfrm>
            <a:off x="2743200" y="3051176"/>
            <a:ext cx="3232150" cy="2309813"/>
          </a:xfrm>
          <a:prstGeom prst="rect">
            <a:avLst/>
          </a:prstGeom>
          <a:noFill/>
          <a:ln>
            <a:noFill/>
          </a:ln>
        </p:spPr>
      </p:pic>
      <p:sp>
        <p:nvSpPr>
          <p:cNvPr id="4802" name="Google Shape;4802;p8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6" name="Shape 4806"/>
        <p:cNvGrpSpPr/>
        <p:nvPr/>
      </p:nvGrpSpPr>
      <p:grpSpPr>
        <a:xfrm>
          <a:off x="0" y="0"/>
          <a:ext cx="0" cy="0"/>
          <a:chOff x="0" y="0"/>
          <a:chExt cx="0" cy="0"/>
        </a:xfrm>
      </p:grpSpPr>
      <p:sp>
        <p:nvSpPr>
          <p:cNvPr id="4807" name="Google Shape;4807;p81"/>
          <p:cNvSpPr txBox="1"/>
          <p:nvPr>
            <p:ph idx="1" type="body"/>
          </p:nvPr>
        </p:nvSpPr>
        <p:spPr>
          <a:xfrm>
            <a:off x="2057400" y="1460501"/>
            <a:ext cx="8324850" cy="4849813"/>
          </a:xfrm>
          <a:prstGeom prst="rect">
            <a:avLst/>
          </a:prstGeom>
          <a:noFill/>
          <a:ln>
            <a:noFill/>
          </a:ln>
        </p:spPr>
        <p:txBody>
          <a:bodyPr anchorCtr="0" anchor="t" bIns="45700" lIns="91425" spcFirstLastPara="1" rIns="91425" wrap="square" tIns="45700">
            <a:normAutofit/>
          </a:bodyPr>
          <a:lstStyle/>
          <a:p>
            <a:pPr indent="-222250" lvl="0" marL="352425" rtl="0" algn="l">
              <a:lnSpc>
                <a:spcPct val="100000"/>
              </a:lnSpc>
              <a:spcBef>
                <a:spcPts val="0"/>
              </a:spcBef>
              <a:spcAft>
                <a:spcPts val="0"/>
              </a:spcAft>
              <a:buSzPts val="2200"/>
              <a:buChar char="▪"/>
            </a:pPr>
            <a:r>
              <a:rPr lang="en-US" sz="2200">
                <a:latin typeface="Arial"/>
                <a:ea typeface="Arial"/>
                <a:cs typeface="Arial"/>
                <a:sym typeface="Arial"/>
              </a:rPr>
              <a:t>BUT … GBN itself can suffers from performance problems;</a:t>
            </a:r>
            <a:endParaRPr/>
          </a:p>
          <a:p>
            <a:pPr indent="-222250" lvl="0" marL="352425" rtl="0" algn="l">
              <a:lnSpc>
                <a:spcPct val="100000"/>
              </a:lnSpc>
              <a:spcBef>
                <a:spcPts val="1000"/>
              </a:spcBef>
              <a:spcAft>
                <a:spcPts val="0"/>
              </a:spcAft>
              <a:buSzPts val="2200"/>
              <a:buChar char="▪"/>
            </a:pPr>
            <a:r>
              <a:rPr lang="en-US" sz="2200">
                <a:latin typeface="Arial"/>
                <a:ea typeface="Arial"/>
                <a:cs typeface="Arial"/>
                <a:sym typeface="Arial"/>
              </a:rPr>
              <a:t>When the </a:t>
            </a:r>
            <a:r>
              <a:rPr i="1" lang="en-US" sz="2200" u="sng">
                <a:solidFill>
                  <a:srgbClr val="FF0000"/>
                </a:solidFill>
                <a:latin typeface="Arial"/>
                <a:ea typeface="Arial"/>
                <a:cs typeface="Arial"/>
                <a:sym typeface="Arial"/>
              </a:rPr>
              <a:t>window size</a:t>
            </a:r>
            <a:r>
              <a:rPr lang="en-US" sz="2200">
                <a:latin typeface="Arial"/>
                <a:ea typeface="Arial"/>
                <a:cs typeface="Arial"/>
                <a:sym typeface="Arial"/>
              </a:rPr>
              <a:t> and </a:t>
            </a:r>
            <a:r>
              <a:rPr i="1" lang="en-US" sz="2200" u="sng">
                <a:solidFill>
                  <a:srgbClr val="FF0000"/>
                </a:solidFill>
                <a:latin typeface="Arial"/>
                <a:ea typeface="Arial"/>
                <a:cs typeface="Arial"/>
                <a:sym typeface="Arial"/>
              </a:rPr>
              <a:t>bandwidth-delay</a:t>
            </a:r>
            <a:r>
              <a:rPr lang="en-US" sz="2200">
                <a:latin typeface="Arial"/>
                <a:ea typeface="Arial"/>
                <a:cs typeface="Arial"/>
                <a:sym typeface="Arial"/>
              </a:rPr>
              <a:t> are </a:t>
            </a:r>
            <a:r>
              <a:rPr i="1" lang="en-US" sz="2200" u="sng">
                <a:solidFill>
                  <a:srgbClr val="FF0000"/>
                </a:solidFill>
                <a:latin typeface="Arial"/>
                <a:ea typeface="Arial"/>
                <a:cs typeface="Arial"/>
                <a:sym typeface="Arial"/>
              </a:rPr>
              <a:t>both large</a:t>
            </a:r>
            <a:r>
              <a:rPr lang="en-US" sz="2200">
                <a:latin typeface="Arial"/>
                <a:ea typeface="Arial"/>
                <a:cs typeface="Arial"/>
                <a:sym typeface="Arial"/>
              </a:rPr>
              <a:t>, many packets can be in the pipeline.</a:t>
            </a:r>
            <a:endParaRPr/>
          </a:p>
          <a:p>
            <a:pPr indent="-231775" lvl="1" marL="695325" rtl="0" algn="l">
              <a:lnSpc>
                <a:spcPct val="100000"/>
              </a:lnSpc>
              <a:spcBef>
                <a:spcPts val="500"/>
              </a:spcBef>
              <a:spcAft>
                <a:spcPts val="0"/>
              </a:spcAft>
              <a:buSzPts val="2000"/>
              <a:buChar char="•"/>
            </a:pPr>
            <a:r>
              <a:rPr lang="en-US" sz="2000">
                <a:latin typeface="Arial"/>
                <a:ea typeface="Arial"/>
                <a:cs typeface="Arial"/>
                <a:sym typeface="Arial"/>
              </a:rPr>
              <a:t>A single packet error can thus cause GBN to </a:t>
            </a:r>
            <a:r>
              <a:rPr i="1" lang="en-US" sz="2000" u="sng">
                <a:solidFill>
                  <a:srgbClr val="FF0000"/>
                </a:solidFill>
                <a:latin typeface="Arial"/>
                <a:ea typeface="Arial"/>
                <a:cs typeface="Arial"/>
                <a:sym typeface="Arial"/>
              </a:rPr>
              <a:t>retransmit a large number of packets</a:t>
            </a:r>
            <a:r>
              <a:rPr lang="en-US" sz="2000">
                <a:latin typeface="Arial"/>
                <a:ea typeface="Arial"/>
                <a:cs typeface="Arial"/>
                <a:sym typeface="Arial"/>
              </a:rPr>
              <a:t>, </a:t>
            </a:r>
            <a:r>
              <a:rPr i="1" lang="en-US" sz="2000">
                <a:latin typeface="Arial"/>
                <a:ea typeface="Arial"/>
                <a:cs typeface="Arial"/>
                <a:sym typeface="Arial"/>
              </a:rPr>
              <a:t>many unnecessarily</a:t>
            </a:r>
            <a:r>
              <a:rPr lang="en-US" sz="2000">
                <a:latin typeface="Arial"/>
                <a:ea typeface="Arial"/>
                <a:cs typeface="Arial"/>
                <a:sym typeface="Arial"/>
              </a:rPr>
              <a:t>. </a:t>
            </a:r>
            <a:endParaRPr/>
          </a:p>
          <a:p>
            <a:pPr indent="-231775" lvl="1" marL="695325" rtl="0" algn="l">
              <a:lnSpc>
                <a:spcPct val="100000"/>
              </a:lnSpc>
              <a:spcBef>
                <a:spcPts val="500"/>
              </a:spcBef>
              <a:spcAft>
                <a:spcPts val="0"/>
              </a:spcAft>
              <a:buSzPts val="2000"/>
              <a:buChar char="•"/>
            </a:pPr>
            <a:r>
              <a:rPr lang="en-US" sz="2000">
                <a:latin typeface="Arial"/>
                <a:ea typeface="Arial"/>
                <a:cs typeface="Arial"/>
                <a:sym typeface="Arial"/>
              </a:rPr>
              <a:t>As the probability of </a:t>
            </a:r>
            <a:r>
              <a:rPr i="1" lang="en-US" sz="2000" u="sng">
                <a:solidFill>
                  <a:srgbClr val="FF0000"/>
                </a:solidFill>
                <a:latin typeface="Arial"/>
                <a:ea typeface="Arial"/>
                <a:cs typeface="Arial"/>
                <a:sym typeface="Arial"/>
              </a:rPr>
              <a:t>channel errors increases</a:t>
            </a:r>
            <a:r>
              <a:rPr lang="en-US" sz="2000">
                <a:latin typeface="Arial"/>
                <a:ea typeface="Arial"/>
                <a:cs typeface="Arial"/>
                <a:sym typeface="Arial"/>
              </a:rPr>
              <a:t>, the </a:t>
            </a:r>
            <a:r>
              <a:rPr i="1" lang="en-US" sz="2000" u="sng">
                <a:solidFill>
                  <a:srgbClr val="FF0000"/>
                </a:solidFill>
                <a:latin typeface="Arial"/>
                <a:ea typeface="Arial"/>
                <a:cs typeface="Arial"/>
                <a:sym typeface="Arial"/>
              </a:rPr>
              <a:t>pipeline</a:t>
            </a:r>
            <a:r>
              <a:rPr lang="en-US" sz="2000">
                <a:solidFill>
                  <a:srgbClr val="FF0000"/>
                </a:solidFill>
                <a:latin typeface="Arial"/>
                <a:ea typeface="Arial"/>
                <a:cs typeface="Arial"/>
                <a:sym typeface="Arial"/>
              </a:rPr>
              <a:t> </a:t>
            </a:r>
            <a:r>
              <a:rPr lang="en-US" sz="2000">
                <a:latin typeface="Arial"/>
                <a:ea typeface="Arial"/>
                <a:cs typeface="Arial"/>
                <a:sym typeface="Arial"/>
              </a:rPr>
              <a:t>can be </a:t>
            </a:r>
            <a:r>
              <a:rPr i="1" lang="en-US" sz="2000" u="sng">
                <a:solidFill>
                  <a:srgbClr val="FF0000"/>
                </a:solidFill>
                <a:latin typeface="Arial"/>
                <a:ea typeface="Arial"/>
                <a:cs typeface="Arial"/>
                <a:sym typeface="Arial"/>
              </a:rPr>
              <a:t>filled with</a:t>
            </a:r>
            <a:r>
              <a:rPr lang="en-US" sz="2000">
                <a:latin typeface="Arial"/>
                <a:ea typeface="Arial"/>
                <a:cs typeface="Arial"/>
                <a:sym typeface="Arial"/>
              </a:rPr>
              <a:t> these </a:t>
            </a:r>
            <a:r>
              <a:rPr i="1" lang="en-US" sz="2000" u="sng">
                <a:solidFill>
                  <a:srgbClr val="FF0000"/>
                </a:solidFill>
                <a:latin typeface="Arial"/>
                <a:ea typeface="Arial"/>
                <a:cs typeface="Arial"/>
                <a:sym typeface="Arial"/>
              </a:rPr>
              <a:t>unnecessary retransmissions</a:t>
            </a:r>
            <a:r>
              <a:rPr lang="en-US" sz="2000">
                <a:latin typeface="Arial"/>
                <a:ea typeface="Arial"/>
                <a:cs typeface="Arial"/>
                <a:sym typeface="Arial"/>
              </a:rPr>
              <a:t>. </a:t>
            </a:r>
            <a:endParaRPr/>
          </a:p>
          <a:p>
            <a:pPr indent="-104775" lvl="1" marL="695325" rtl="0" algn="l">
              <a:lnSpc>
                <a:spcPct val="100000"/>
              </a:lnSpc>
              <a:spcBef>
                <a:spcPts val="500"/>
              </a:spcBef>
              <a:spcAft>
                <a:spcPts val="0"/>
              </a:spcAft>
              <a:buSzPts val="2000"/>
              <a:buNone/>
            </a:pPr>
            <a:r>
              <a:t/>
            </a:r>
            <a:endParaRPr sz="2000">
              <a:latin typeface="Arial"/>
              <a:ea typeface="Arial"/>
              <a:cs typeface="Arial"/>
              <a:sym typeface="Arial"/>
            </a:endParaRPr>
          </a:p>
          <a:p>
            <a:pPr indent="-222250" lvl="0" marL="352425" rtl="0" algn="l">
              <a:lnSpc>
                <a:spcPct val="100000"/>
              </a:lnSpc>
              <a:spcBef>
                <a:spcPts val="1000"/>
              </a:spcBef>
              <a:spcAft>
                <a:spcPts val="0"/>
              </a:spcAft>
              <a:buSzPts val="2200"/>
              <a:buChar char="▪"/>
            </a:pPr>
            <a:r>
              <a:rPr lang="en-US" sz="2200">
                <a:latin typeface="Arial"/>
                <a:ea typeface="Arial"/>
                <a:cs typeface="Arial"/>
                <a:sym typeface="Arial"/>
              </a:rPr>
              <a:t>Thus, “</a:t>
            </a:r>
            <a:r>
              <a:rPr b="1" lang="en-US" sz="2200">
                <a:solidFill>
                  <a:srgbClr val="00B050"/>
                </a:solidFill>
                <a:latin typeface="Arial"/>
                <a:ea typeface="Arial"/>
                <a:cs typeface="Arial"/>
                <a:sym typeface="Arial"/>
              </a:rPr>
              <a:t>selective-repeat</a:t>
            </a:r>
            <a:r>
              <a:rPr lang="en-US" sz="2200">
                <a:latin typeface="Arial"/>
                <a:ea typeface="Arial"/>
                <a:cs typeface="Arial"/>
                <a:sym typeface="Arial"/>
              </a:rPr>
              <a:t>” protocols </a:t>
            </a:r>
            <a:r>
              <a:rPr i="1" lang="en-US" sz="2200" u="sng">
                <a:solidFill>
                  <a:srgbClr val="FF0000"/>
                </a:solidFill>
                <a:latin typeface="Arial"/>
                <a:ea typeface="Arial"/>
                <a:cs typeface="Arial"/>
                <a:sym typeface="Arial"/>
              </a:rPr>
              <a:t>avoid unnecessary retransmissions</a:t>
            </a:r>
            <a:r>
              <a:rPr lang="en-US" sz="2200">
                <a:latin typeface="Arial"/>
                <a:ea typeface="Arial"/>
                <a:cs typeface="Arial"/>
                <a:sym typeface="Arial"/>
              </a:rPr>
              <a:t> by having the sender retransmit only those packets that it suspects were received in error </a:t>
            </a:r>
            <a:endParaRPr/>
          </a:p>
          <a:p>
            <a:pPr indent="-231775" lvl="1" marL="695325" rtl="0" algn="l">
              <a:lnSpc>
                <a:spcPct val="100000"/>
              </a:lnSpc>
              <a:spcBef>
                <a:spcPts val="500"/>
              </a:spcBef>
              <a:spcAft>
                <a:spcPts val="0"/>
              </a:spcAft>
              <a:buSzPts val="2000"/>
              <a:buChar char="•"/>
            </a:pPr>
            <a:r>
              <a:rPr lang="en-US" sz="2000">
                <a:latin typeface="Arial"/>
                <a:ea typeface="Arial"/>
                <a:cs typeface="Arial"/>
                <a:sym typeface="Arial"/>
              </a:rPr>
              <a:t>(that is, were lost or corrupted) at the receiver. </a:t>
            </a:r>
            <a:endParaRPr/>
          </a:p>
          <a:p>
            <a:pPr indent="-142875" lvl="1" marL="695325" rtl="0" algn="l">
              <a:lnSpc>
                <a:spcPct val="100000"/>
              </a:lnSpc>
              <a:spcBef>
                <a:spcPts val="500"/>
              </a:spcBef>
              <a:spcAft>
                <a:spcPts val="0"/>
              </a:spcAft>
              <a:buSzPts val="1400"/>
              <a:buNone/>
            </a:pPr>
            <a:r>
              <a:t/>
            </a:r>
            <a:endParaRPr sz="1400">
              <a:latin typeface="Arial"/>
              <a:ea typeface="Arial"/>
              <a:cs typeface="Arial"/>
              <a:sym typeface="Arial"/>
            </a:endParaRPr>
          </a:p>
        </p:txBody>
      </p:sp>
      <p:sp>
        <p:nvSpPr>
          <p:cNvPr id="4808" name="Google Shape;4808;p81"/>
          <p:cNvSpPr txBox="1"/>
          <p:nvPr/>
        </p:nvSpPr>
        <p:spPr>
          <a:xfrm>
            <a:off x="1079500" y="648703"/>
            <a:ext cx="6692901" cy="47148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A3"/>
              </a:buClr>
              <a:buSzPts val="3200"/>
              <a:buFont typeface="Calibri"/>
              <a:buNone/>
            </a:pPr>
            <a:r>
              <a:rPr b="1" lang="en-US" sz="3200">
                <a:solidFill>
                  <a:srgbClr val="0000A3"/>
                </a:solidFill>
                <a:latin typeface="Calibri"/>
                <a:ea typeface="Calibri"/>
                <a:cs typeface="Calibri"/>
                <a:sym typeface="Calibri"/>
              </a:rPr>
              <a:t>Go-Back-N (GBN): Weakness</a:t>
            </a:r>
            <a:endParaRPr/>
          </a:p>
        </p:txBody>
      </p:sp>
      <p:sp>
        <p:nvSpPr>
          <p:cNvPr id="4809" name="Google Shape;4809;p8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4" name="Shape 4814"/>
        <p:cNvGrpSpPr/>
        <p:nvPr/>
      </p:nvGrpSpPr>
      <p:grpSpPr>
        <a:xfrm>
          <a:off x="0" y="0"/>
          <a:ext cx="0" cy="0"/>
          <a:chOff x="0" y="0"/>
          <a:chExt cx="0" cy="0"/>
        </a:xfrm>
      </p:grpSpPr>
      <p:sp>
        <p:nvSpPr>
          <p:cNvPr id="4815" name="Google Shape;4815;p8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(SR)</a:t>
            </a:r>
            <a:endParaRPr sz="4400"/>
          </a:p>
        </p:txBody>
      </p:sp>
      <p:sp>
        <p:nvSpPr>
          <p:cNvPr id="4816" name="Google Shape;4816;p82"/>
          <p:cNvSpPr txBox="1"/>
          <p:nvPr/>
        </p:nvSpPr>
        <p:spPr>
          <a:xfrm>
            <a:off x="733374" y="1489418"/>
            <a:ext cx="11100624"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receiver </a:t>
            </a:r>
            <a:r>
              <a:rPr b="0" i="1" lang="en-US" sz="3200" u="none" cap="none" strike="noStrike">
                <a:solidFill>
                  <a:srgbClr val="C00000"/>
                </a:solidFill>
                <a:latin typeface="Calibri"/>
                <a:ea typeface="Calibri"/>
                <a:cs typeface="Calibri"/>
                <a:sym typeface="Calibri"/>
              </a:rPr>
              <a:t>individually</a:t>
            </a:r>
            <a:r>
              <a:rPr b="0" i="0" lang="en-US" sz="3200" u="none" cap="none" strike="noStrike">
                <a:solidFill>
                  <a:srgbClr val="000000"/>
                </a:solidFill>
                <a:latin typeface="Calibri"/>
                <a:ea typeface="Calibri"/>
                <a:cs typeface="Calibri"/>
                <a:sym typeface="Calibri"/>
              </a:rPr>
              <a:t> acknowledges all correctly received packets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buffers packets, as needed, for eventual in-order delivery to upper layer</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sender times-out/retransmits individually for unACKed packets</a:t>
            </a:r>
            <a:endParaRPr/>
          </a:p>
          <a:p>
            <a:pPr indent="-227012" lvl="1" marL="747713"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sender maintains timer for each unACKed pkt</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sender window</a:t>
            </a:r>
            <a:endParaRPr/>
          </a:p>
          <a:p>
            <a:pPr indent="-231775" lvl="1" marL="695325" marR="0" rtl="0" algn="l">
              <a:lnSpc>
                <a:spcPct val="90000"/>
              </a:lnSpc>
              <a:spcBef>
                <a:spcPts val="500"/>
              </a:spcBef>
              <a:spcAft>
                <a:spcPts val="0"/>
              </a:spcAft>
              <a:buClr>
                <a:srgbClr val="0000A8"/>
              </a:buClr>
              <a:buSzPts val="2800"/>
              <a:buFont typeface="Arial"/>
              <a:buChar char="•"/>
            </a:pP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consecutive seq #s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limits seq #s of sent, unACKed packets</a:t>
            </a:r>
            <a:endParaRPr/>
          </a:p>
        </p:txBody>
      </p:sp>
      <p:sp>
        <p:nvSpPr>
          <p:cNvPr id="4817" name="Google Shape;4817;p8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6">
                                            <p:txEl>
                                              <p:pRg end="0" st="0"/>
                                            </p:txEl>
                                          </p:spTgt>
                                        </p:tgtEl>
                                        <p:attrNameLst>
                                          <p:attrName>style.visibility</p:attrName>
                                        </p:attrNameLst>
                                      </p:cBhvr>
                                      <p:to>
                                        <p:strVal val="visible"/>
                                      </p:to>
                                    </p:set>
                                    <p:animEffect filter="fade" transition="in">
                                      <p:cBhvr>
                                        <p:cTn dur="500"/>
                                        <p:tgtEl>
                                          <p:spTgt spid="48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6">
                                            <p:txEl>
                                              <p:pRg end="1" st="1"/>
                                            </p:txEl>
                                          </p:spTgt>
                                        </p:tgtEl>
                                        <p:attrNameLst>
                                          <p:attrName>style.visibility</p:attrName>
                                        </p:attrNameLst>
                                      </p:cBhvr>
                                      <p:to>
                                        <p:strVal val="visible"/>
                                      </p:to>
                                    </p:set>
                                    <p:animEffect filter="fade" transition="in">
                                      <p:cBhvr>
                                        <p:cTn dur="500"/>
                                        <p:tgtEl>
                                          <p:spTgt spid="481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6">
                                            <p:txEl>
                                              <p:pRg end="2" st="2"/>
                                            </p:txEl>
                                          </p:spTgt>
                                        </p:tgtEl>
                                        <p:attrNameLst>
                                          <p:attrName>style.visibility</p:attrName>
                                        </p:attrNameLst>
                                      </p:cBhvr>
                                      <p:to>
                                        <p:strVal val="visible"/>
                                      </p:to>
                                    </p:set>
                                    <p:animEffect filter="fade" transition="in">
                                      <p:cBhvr>
                                        <p:cTn dur="500"/>
                                        <p:tgtEl>
                                          <p:spTgt spid="481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6">
                                            <p:txEl>
                                              <p:pRg end="3" st="3"/>
                                            </p:txEl>
                                          </p:spTgt>
                                        </p:tgtEl>
                                        <p:attrNameLst>
                                          <p:attrName>style.visibility</p:attrName>
                                        </p:attrNameLst>
                                      </p:cBhvr>
                                      <p:to>
                                        <p:strVal val="visible"/>
                                      </p:to>
                                    </p:set>
                                    <p:animEffect filter="fade" transition="in">
                                      <p:cBhvr>
                                        <p:cTn dur="500"/>
                                        <p:tgtEl>
                                          <p:spTgt spid="481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6">
                                            <p:txEl>
                                              <p:pRg end="4" st="4"/>
                                            </p:txEl>
                                          </p:spTgt>
                                        </p:tgtEl>
                                        <p:attrNameLst>
                                          <p:attrName>style.visibility</p:attrName>
                                        </p:attrNameLst>
                                      </p:cBhvr>
                                      <p:to>
                                        <p:strVal val="visible"/>
                                      </p:to>
                                    </p:set>
                                    <p:animEffect filter="fade" transition="in">
                                      <p:cBhvr>
                                        <p:cTn dur="500"/>
                                        <p:tgtEl>
                                          <p:spTgt spid="481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6">
                                            <p:txEl>
                                              <p:pRg end="5" st="5"/>
                                            </p:txEl>
                                          </p:spTgt>
                                        </p:tgtEl>
                                        <p:attrNameLst>
                                          <p:attrName>style.visibility</p:attrName>
                                        </p:attrNameLst>
                                      </p:cBhvr>
                                      <p:to>
                                        <p:strVal val="visible"/>
                                      </p:to>
                                    </p:set>
                                    <p:animEffect filter="fade" transition="in">
                                      <p:cBhvr>
                                        <p:cTn dur="500"/>
                                        <p:tgtEl>
                                          <p:spTgt spid="481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6">
                                            <p:txEl>
                                              <p:pRg end="6" st="6"/>
                                            </p:txEl>
                                          </p:spTgt>
                                        </p:tgtEl>
                                        <p:attrNameLst>
                                          <p:attrName>style.visibility</p:attrName>
                                        </p:attrNameLst>
                                      </p:cBhvr>
                                      <p:to>
                                        <p:strVal val="visible"/>
                                      </p:to>
                                    </p:set>
                                    <p:animEffect filter="fade" transition="in">
                                      <p:cBhvr>
                                        <p:cTn dur="500"/>
                                        <p:tgtEl>
                                          <p:spTgt spid="4816">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2" name="Shape 4822"/>
        <p:cNvGrpSpPr/>
        <p:nvPr/>
      </p:nvGrpSpPr>
      <p:grpSpPr>
        <a:xfrm>
          <a:off x="0" y="0"/>
          <a:ext cx="0" cy="0"/>
          <a:chOff x="0" y="0"/>
          <a:chExt cx="0" cy="0"/>
        </a:xfrm>
      </p:grpSpPr>
      <p:sp>
        <p:nvSpPr>
          <p:cNvPr id="4823" name="Google Shape;4823;p8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4800"/>
              <a:t>Selective repeat (SR): sender, receiver windows</a:t>
            </a:r>
            <a:endParaRPr sz="4400"/>
          </a:p>
        </p:txBody>
      </p:sp>
      <p:pic>
        <p:nvPicPr>
          <p:cNvPr descr="sr_seqnum" id="4824" name="Google Shape;4824;p83"/>
          <p:cNvPicPr preferRelativeResize="0"/>
          <p:nvPr/>
        </p:nvPicPr>
        <p:blipFill rotWithShape="1">
          <a:blip r:embed="rId3">
            <a:alphaModFix/>
          </a:blip>
          <a:srcRect b="0" l="0" r="0" t="0"/>
          <a:stretch/>
        </p:blipFill>
        <p:spPr>
          <a:xfrm>
            <a:off x="1978025" y="1526602"/>
            <a:ext cx="8235950" cy="4916487"/>
          </a:xfrm>
          <a:prstGeom prst="rect">
            <a:avLst/>
          </a:prstGeom>
          <a:noFill/>
          <a:ln>
            <a:noFill/>
          </a:ln>
        </p:spPr>
      </p:pic>
      <p:sp>
        <p:nvSpPr>
          <p:cNvPr id="4825" name="Google Shape;4825;p83"/>
          <p:cNvSpPr/>
          <p:nvPr/>
        </p:nvSpPr>
        <p:spPr>
          <a:xfrm>
            <a:off x="2150592" y="4671612"/>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26" name="Google Shape;4826;p83"/>
          <p:cNvSpPr/>
          <p:nvPr/>
        </p:nvSpPr>
        <p:spPr>
          <a:xfrm>
            <a:off x="2299806" y="4667895"/>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27" name="Google Shape;4827;p83"/>
          <p:cNvSpPr/>
          <p:nvPr/>
        </p:nvSpPr>
        <p:spPr>
          <a:xfrm>
            <a:off x="2452206" y="4667364"/>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28" name="Google Shape;4828;p83"/>
          <p:cNvSpPr/>
          <p:nvPr/>
        </p:nvSpPr>
        <p:spPr>
          <a:xfrm>
            <a:off x="2604606" y="4666833"/>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29" name="Google Shape;4829;p83"/>
          <p:cNvSpPr/>
          <p:nvPr/>
        </p:nvSpPr>
        <p:spPr>
          <a:xfrm>
            <a:off x="2760192" y="4663116"/>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30" name="Google Shape;4830;p83"/>
          <p:cNvSpPr/>
          <p:nvPr/>
        </p:nvSpPr>
        <p:spPr>
          <a:xfrm>
            <a:off x="2915778" y="4665771"/>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31" name="Google Shape;4831;p83"/>
          <p:cNvSpPr/>
          <p:nvPr/>
        </p:nvSpPr>
        <p:spPr>
          <a:xfrm>
            <a:off x="3064992" y="4662054"/>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32" name="Google Shape;4832;p83"/>
          <p:cNvSpPr/>
          <p:nvPr/>
        </p:nvSpPr>
        <p:spPr>
          <a:xfrm>
            <a:off x="3220578" y="4661523"/>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33" name="Google Shape;4833;p83"/>
          <p:cNvSpPr/>
          <p:nvPr/>
        </p:nvSpPr>
        <p:spPr>
          <a:xfrm>
            <a:off x="3369792" y="4664178"/>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34" name="Google Shape;4834;p8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9" name="Shape 4839"/>
        <p:cNvGrpSpPr/>
        <p:nvPr/>
      </p:nvGrpSpPr>
      <p:grpSpPr>
        <a:xfrm>
          <a:off x="0" y="0"/>
          <a:ext cx="0" cy="0"/>
          <a:chOff x="0" y="0"/>
          <a:chExt cx="0" cy="0"/>
        </a:xfrm>
      </p:grpSpPr>
      <p:sp>
        <p:nvSpPr>
          <p:cNvPr id="4840" name="Google Shape;4840;p8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(SR): sender and receiver</a:t>
            </a:r>
            <a:endParaRPr sz="4400"/>
          </a:p>
        </p:txBody>
      </p:sp>
      <p:sp>
        <p:nvSpPr>
          <p:cNvPr id="4841" name="Google Shape;4841;p84"/>
          <p:cNvSpPr txBox="1"/>
          <p:nvPr/>
        </p:nvSpPr>
        <p:spPr>
          <a:xfrm>
            <a:off x="946165" y="1698978"/>
            <a:ext cx="4651241"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data from above:</a:t>
            </a:r>
            <a:endParaRPr/>
          </a:p>
          <a:p>
            <a:pPr indent="-228600" lvl="0" marL="520700"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if next available seq # in window, send packet</a:t>
            </a:r>
            <a:endParaRPr/>
          </a:p>
          <a:p>
            <a:pPr indent="-222250" lvl="0" marL="352425" marR="0" rtl="0" algn="l">
              <a:lnSpc>
                <a:spcPct val="90000"/>
              </a:lnSpc>
              <a:spcBef>
                <a:spcPts val="100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timeout(</a:t>
            </a:r>
            <a:r>
              <a:rPr b="0" i="1" lang="en-US" sz="2800" u="none" cap="none" strike="noStrike">
                <a:solidFill>
                  <a:srgbClr val="CC0000"/>
                </a:solidFill>
                <a:latin typeface="Calibri"/>
                <a:ea typeface="Calibri"/>
                <a:cs typeface="Calibri"/>
                <a:sym typeface="Calibri"/>
              </a:rPr>
              <a:t>n</a:t>
            </a:r>
            <a:r>
              <a:rPr b="0" i="0" lang="en-US" sz="2800" u="none" cap="none" strike="noStrike">
                <a:solidFill>
                  <a:srgbClr val="CC0000"/>
                </a:solidFill>
                <a:latin typeface="Calibri"/>
                <a:ea typeface="Calibri"/>
                <a:cs typeface="Calibri"/>
                <a:sym typeface="Calibri"/>
              </a:rPr>
              <a:t>):</a:t>
            </a:r>
            <a:endParaRPr/>
          </a:p>
          <a:p>
            <a:pPr indent="-228599" lvl="0" marL="471488"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resend packet </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 restart timer</a:t>
            </a:r>
            <a:endParaRPr/>
          </a:p>
          <a:p>
            <a:pPr indent="-222250" lvl="0" marL="352425" marR="0" rtl="0" algn="l">
              <a:lnSpc>
                <a:spcPct val="90000"/>
              </a:lnSpc>
              <a:spcBef>
                <a:spcPts val="1000"/>
              </a:spcBef>
              <a:spcAft>
                <a:spcPts val="0"/>
              </a:spcAft>
              <a:buClr>
                <a:srgbClr val="0000A3"/>
              </a:buClr>
              <a:buSzPts val="2400"/>
              <a:buFont typeface="Noto Sans Symbols"/>
              <a:buNone/>
            </a:pPr>
            <a:r>
              <a:rPr b="0" i="0" lang="en-US" sz="2400" u="none" cap="none" strike="noStrike">
                <a:solidFill>
                  <a:srgbClr val="CC0000"/>
                </a:solidFill>
                <a:latin typeface="Calibri"/>
                <a:ea typeface="Calibri"/>
                <a:cs typeface="Calibri"/>
                <a:sym typeface="Calibri"/>
              </a:rPr>
              <a:t>ACK(</a:t>
            </a:r>
            <a:r>
              <a:rPr b="0" i="1" lang="en-US" sz="2400" u="none" cap="none" strike="noStrike">
                <a:solidFill>
                  <a:srgbClr val="CC0000"/>
                </a:solidFill>
                <a:latin typeface="Calibri"/>
                <a:ea typeface="Calibri"/>
                <a:cs typeface="Calibri"/>
                <a:sym typeface="Calibri"/>
              </a:rPr>
              <a:t>n</a:t>
            </a:r>
            <a:r>
              <a:rPr b="0" i="0" lang="en-US" sz="2400" u="none" cap="none" strike="noStrike">
                <a:solidFill>
                  <a:srgbClr val="CC0000"/>
                </a:solidFill>
                <a:latin typeface="Calibri"/>
                <a:ea typeface="Calibri"/>
                <a:cs typeface="Calibri"/>
                <a:sym typeface="Calibri"/>
              </a:rPr>
              <a:t>)</a:t>
            </a:r>
            <a:r>
              <a:rPr b="0" i="0" lang="en-US" sz="2800" u="none" cap="none" strike="noStrike">
                <a:solidFill>
                  <a:srgbClr val="FF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in [sendbase,sendbase+N]</a:t>
            </a:r>
            <a:r>
              <a:rPr b="0" i="0" lang="en-US" sz="20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a:p>
            <a:pPr indent="-228600" lvl="0" marL="520700"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mark packet </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 as received</a:t>
            </a:r>
            <a:endParaRPr/>
          </a:p>
          <a:p>
            <a:pPr indent="-228600" lvl="0" marL="520700"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if n smallest unACKed packet, advance window base to next unACKed seq # </a:t>
            </a:r>
            <a:endParaRPr b="0" i="0" sz="28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4842" name="Google Shape;4842;p84"/>
          <p:cNvSpPr/>
          <p:nvPr/>
        </p:nvSpPr>
        <p:spPr>
          <a:xfrm>
            <a:off x="876300" y="1485900"/>
            <a:ext cx="4721106" cy="4610100"/>
          </a:xfrm>
          <a:prstGeom prst="rect">
            <a:avLst/>
          </a:prstGeom>
          <a:noFill/>
          <a:ln cap="flat" cmpd="sng" w="28575">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4843" name="Google Shape;4843;p84"/>
          <p:cNvGrpSpPr/>
          <p:nvPr/>
        </p:nvGrpSpPr>
        <p:grpSpPr>
          <a:xfrm>
            <a:off x="1079500" y="1184280"/>
            <a:ext cx="1327103" cy="584201"/>
            <a:chOff x="1100" y="3896"/>
            <a:chExt cx="752" cy="368"/>
          </a:xfrm>
        </p:grpSpPr>
        <p:sp>
          <p:nvSpPr>
            <p:cNvPr id="4844" name="Google Shape;4844;p84"/>
            <p:cNvSpPr/>
            <p:nvPr/>
          </p:nvSpPr>
          <p:spPr>
            <a:xfrm>
              <a:off x="1146" y="3984"/>
              <a:ext cx="612" cy="1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4845" name="Google Shape;4845;p84"/>
            <p:cNvSpPr txBox="1"/>
            <p:nvPr/>
          </p:nvSpPr>
          <p:spPr>
            <a:xfrm>
              <a:off x="1100" y="3896"/>
              <a:ext cx="752" cy="36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alibri"/>
                <a:buNone/>
              </a:pPr>
              <a:r>
                <a:rPr b="0" i="0" lang="en-US" sz="3200" u="none" cap="none" strike="noStrike">
                  <a:solidFill>
                    <a:srgbClr val="000099"/>
                  </a:solidFill>
                  <a:latin typeface="Calibri"/>
                  <a:ea typeface="Calibri"/>
                  <a:cs typeface="Calibri"/>
                  <a:sym typeface="Calibri"/>
                </a:rPr>
                <a:t>sender</a:t>
              </a:r>
              <a:endParaRPr b="0" i="0" sz="2800" u="none" cap="none" strike="noStrike">
                <a:solidFill>
                  <a:srgbClr val="000099"/>
                </a:solidFill>
                <a:latin typeface="Calibri"/>
                <a:ea typeface="Calibri"/>
                <a:cs typeface="Calibri"/>
                <a:sym typeface="Calibri"/>
              </a:endParaRPr>
            </a:p>
          </p:txBody>
        </p:sp>
      </p:grpSp>
      <p:grpSp>
        <p:nvGrpSpPr>
          <p:cNvPr id="4846" name="Google Shape;4846;p84"/>
          <p:cNvGrpSpPr/>
          <p:nvPr/>
        </p:nvGrpSpPr>
        <p:grpSpPr>
          <a:xfrm>
            <a:off x="6447754" y="1183947"/>
            <a:ext cx="5269467" cy="5221186"/>
            <a:chOff x="6447754" y="1183947"/>
            <a:chExt cx="5269467" cy="5221186"/>
          </a:xfrm>
        </p:grpSpPr>
        <p:sp>
          <p:nvSpPr>
            <p:cNvPr id="4847" name="Google Shape;4847;p84"/>
            <p:cNvSpPr/>
            <p:nvPr/>
          </p:nvSpPr>
          <p:spPr>
            <a:xfrm>
              <a:off x="6855858" y="1756933"/>
              <a:ext cx="4861363" cy="4648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packet </a:t>
              </a:r>
              <a:r>
                <a:rPr b="0" i="1" lang="en-US" sz="2800" u="none" cap="none" strike="noStrike">
                  <a:solidFill>
                    <a:srgbClr val="CC0000"/>
                  </a:solidFill>
                  <a:latin typeface="Calibri"/>
                  <a:ea typeface="Calibri"/>
                  <a:cs typeface="Calibri"/>
                  <a:sym typeface="Calibri"/>
                </a:rPr>
                <a:t>n</a:t>
              </a:r>
              <a:r>
                <a:rPr b="0" i="0" lang="en-US" sz="2800" u="none" cap="none" strike="noStrike">
                  <a:solidFill>
                    <a:srgbClr val="CC0000"/>
                  </a:solidFill>
                  <a:latin typeface="Calibri"/>
                  <a:ea typeface="Calibri"/>
                  <a:cs typeface="Calibri"/>
                  <a:sym typeface="Calibri"/>
                </a:rPr>
                <a:t> in </a:t>
              </a:r>
              <a:r>
                <a:rPr b="0" i="0" lang="en-US" sz="1800" u="none" cap="none" strike="noStrike">
                  <a:solidFill>
                    <a:srgbClr val="CC0000"/>
                  </a:solidFill>
                  <a:latin typeface="Calibri"/>
                  <a:ea typeface="Calibri"/>
                  <a:cs typeface="Calibri"/>
                  <a:sym typeface="Calibri"/>
                </a:rPr>
                <a:t>[</a:t>
              </a:r>
              <a:r>
                <a:rPr b="0" i="0" lang="en-US" sz="2400" u="none" cap="none" strike="noStrike">
                  <a:solidFill>
                    <a:srgbClr val="CC0000"/>
                  </a:solidFill>
                  <a:latin typeface="Calibri"/>
                  <a:ea typeface="Calibri"/>
                  <a:cs typeface="Calibri"/>
                  <a:sym typeface="Calibri"/>
                </a:rPr>
                <a:t>rcvbase, rcvbase+N-1]</a:t>
              </a:r>
              <a:endParaRPr b="0" i="0" sz="2800" u="none" cap="none" strike="noStrike">
                <a:solidFill>
                  <a:srgbClr val="CC0000"/>
                </a:solidFill>
                <a:latin typeface="Calibri"/>
                <a:ea typeface="Calibri"/>
                <a:cs typeface="Calibri"/>
                <a:sym typeface="Calibri"/>
              </a:endParaRPr>
            </a:p>
            <a:p>
              <a:pPr indent="-276225" lvl="0" marL="4064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send ACK(</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a:t>
              </a:r>
              <a:endParaRPr/>
            </a:p>
            <a:p>
              <a:pPr indent="-276225" lvl="0" marL="4064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out-of-order: buffer</a:t>
              </a:r>
              <a:endParaRPr/>
            </a:p>
            <a:p>
              <a:pPr indent="-276225" lvl="0" marL="4064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in-order: deliver (also deliver buffered, in-order packets), advance window to next not-yet-received packet</a:t>
              </a:r>
              <a:endParaRPr/>
            </a:p>
            <a:p>
              <a:pPr indent="-342900" lvl="0" marL="342900" marR="0" rtl="0" algn="l">
                <a:lnSpc>
                  <a:spcPct val="85000"/>
                </a:lnSpc>
                <a:spcBef>
                  <a:spcPts val="56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packet</a:t>
              </a:r>
              <a:r>
                <a:rPr b="0" i="1" lang="en-US" sz="2800" u="none" cap="none" strike="noStrike">
                  <a:solidFill>
                    <a:srgbClr val="CC0000"/>
                  </a:solidFill>
                  <a:latin typeface="Calibri"/>
                  <a:ea typeface="Calibri"/>
                  <a:cs typeface="Calibri"/>
                  <a:sym typeface="Calibri"/>
                </a:rPr>
                <a:t> n </a:t>
              </a:r>
              <a:r>
                <a:rPr b="0" i="0" lang="en-US" sz="2800" u="none" cap="none" strike="noStrike">
                  <a:solidFill>
                    <a:srgbClr val="CC0000"/>
                  </a:solidFill>
                  <a:latin typeface="Calibri"/>
                  <a:ea typeface="Calibri"/>
                  <a:cs typeface="Calibri"/>
                  <a:sym typeface="Calibri"/>
                </a:rPr>
                <a:t>in </a:t>
              </a:r>
              <a:r>
                <a:rPr b="0" i="0" lang="en-US" sz="2400" u="none" cap="none" strike="noStrike">
                  <a:solidFill>
                    <a:srgbClr val="CC0000"/>
                  </a:solidFill>
                  <a:latin typeface="Calibri"/>
                  <a:ea typeface="Calibri"/>
                  <a:cs typeface="Calibri"/>
                  <a:sym typeface="Calibri"/>
                </a:rPr>
                <a:t>[rcvbase-N,rcvbase-1]</a:t>
              </a:r>
              <a:endParaRPr b="0" i="0" sz="3600" u="none" cap="none" strike="noStrike">
                <a:solidFill>
                  <a:srgbClr val="CC0000"/>
                </a:solidFill>
                <a:latin typeface="Calibri"/>
                <a:ea typeface="Calibri"/>
                <a:cs typeface="Calibri"/>
                <a:sym typeface="Calibri"/>
              </a:endParaRPr>
            </a:p>
            <a:p>
              <a:pPr indent="-276225" lvl="0" marL="4064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ACK(</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a:t>
              </a:r>
              <a:endParaRPr/>
            </a:p>
            <a:p>
              <a:pPr indent="-342900" lvl="0" marL="342900" marR="0" rtl="0" algn="l">
                <a:lnSpc>
                  <a:spcPct val="85000"/>
                </a:lnSpc>
                <a:spcBef>
                  <a:spcPts val="56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otherwise:</a:t>
              </a:r>
              <a:r>
                <a:rPr b="0" i="0" lang="en-US" sz="2400" u="none" cap="none" strike="noStrike">
                  <a:solidFill>
                    <a:srgbClr val="FF0000"/>
                  </a:solidFill>
                  <a:latin typeface="Calibri"/>
                  <a:ea typeface="Calibri"/>
                  <a:cs typeface="Calibri"/>
                  <a:sym typeface="Calibri"/>
                </a:rPr>
                <a:t> </a:t>
              </a:r>
              <a:endParaRPr/>
            </a:p>
            <a:p>
              <a:pPr indent="-276225" lvl="0" marL="4064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ignore </a:t>
              </a:r>
              <a:endParaRPr b="0" i="0" sz="2800" u="none" cap="none" strike="noStrike">
                <a:solidFill>
                  <a:srgbClr val="000000"/>
                </a:solidFill>
                <a:latin typeface="Calibri"/>
                <a:ea typeface="Calibri"/>
                <a:cs typeface="Calibri"/>
                <a:sym typeface="Calibri"/>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4848" name="Google Shape;4848;p84"/>
            <p:cNvSpPr/>
            <p:nvPr/>
          </p:nvSpPr>
          <p:spPr>
            <a:xfrm>
              <a:off x="6447754" y="1495097"/>
              <a:ext cx="5129210" cy="4610100"/>
            </a:xfrm>
            <a:prstGeom prst="rect">
              <a:avLst/>
            </a:prstGeom>
            <a:noFill/>
            <a:ln cap="flat" cmpd="sng" w="28575">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849" name="Google Shape;4849;p84"/>
            <p:cNvGrpSpPr/>
            <p:nvPr/>
          </p:nvGrpSpPr>
          <p:grpSpPr>
            <a:xfrm>
              <a:off x="6643024" y="1183947"/>
              <a:ext cx="1531938" cy="584201"/>
              <a:chOff x="3339" y="158"/>
              <a:chExt cx="965" cy="368"/>
            </a:xfrm>
          </p:grpSpPr>
          <p:sp>
            <p:nvSpPr>
              <p:cNvPr id="4850" name="Google Shape;4850;p84"/>
              <p:cNvSpPr/>
              <p:nvPr/>
            </p:nvSpPr>
            <p:spPr>
              <a:xfrm>
                <a:off x="3360" y="264"/>
                <a:ext cx="822" cy="1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51" name="Google Shape;4851;p84"/>
              <p:cNvSpPr txBox="1"/>
              <p:nvPr/>
            </p:nvSpPr>
            <p:spPr>
              <a:xfrm>
                <a:off x="3339" y="158"/>
                <a:ext cx="965" cy="3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alibri"/>
                  <a:buNone/>
                </a:pPr>
                <a:r>
                  <a:rPr b="0" i="0" lang="en-US" sz="3200" u="none" cap="none" strike="noStrike">
                    <a:solidFill>
                      <a:srgbClr val="000099"/>
                    </a:solidFill>
                    <a:latin typeface="Calibri"/>
                    <a:ea typeface="Calibri"/>
                    <a:cs typeface="Calibri"/>
                    <a:sym typeface="Calibri"/>
                  </a:rPr>
                  <a:t>receiver</a:t>
                </a:r>
                <a:endParaRPr b="0" i="0" sz="2800" u="none" cap="none" strike="noStrike">
                  <a:solidFill>
                    <a:srgbClr val="000099"/>
                  </a:solidFill>
                  <a:latin typeface="Calibri"/>
                  <a:ea typeface="Calibri"/>
                  <a:cs typeface="Calibri"/>
                  <a:sym typeface="Calibri"/>
                </a:endParaRPr>
              </a:p>
            </p:txBody>
          </p:sp>
        </p:grpSp>
      </p:grpSp>
      <p:sp>
        <p:nvSpPr>
          <p:cNvPr id="4852" name="Google Shape;4852;p8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46"/>
                                        </p:tgtEl>
                                        <p:attrNameLst>
                                          <p:attrName>style.visibility</p:attrName>
                                        </p:attrNameLst>
                                      </p:cBhvr>
                                      <p:to>
                                        <p:strVal val="visible"/>
                                      </p:to>
                                    </p:set>
                                    <p:animEffect filter="fade" transition="in">
                                      <p:cBhvr>
                                        <p:cTn dur="500"/>
                                        <p:tgtEl>
                                          <p:spTgt spid="48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7" name="Shape 4857"/>
        <p:cNvGrpSpPr/>
        <p:nvPr/>
      </p:nvGrpSpPr>
      <p:grpSpPr>
        <a:xfrm>
          <a:off x="0" y="0"/>
          <a:ext cx="0" cy="0"/>
          <a:chOff x="0" y="0"/>
          <a:chExt cx="0" cy="0"/>
        </a:xfrm>
      </p:grpSpPr>
      <p:sp>
        <p:nvSpPr>
          <p:cNvPr id="4858" name="Google Shape;4858;p8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(SR) in action</a:t>
            </a:r>
            <a:endParaRPr sz="4400"/>
          </a:p>
        </p:txBody>
      </p:sp>
      <p:sp>
        <p:nvSpPr>
          <p:cNvPr id="4859" name="Google Shape;4859;p85"/>
          <p:cNvSpPr txBox="1"/>
          <p:nvPr/>
        </p:nvSpPr>
        <p:spPr>
          <a:xfrm>
            <a:off x="4770437" y="1531937"/>
            <a:ext cx="1246188" cy="146526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pkt3</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(wait)</a:t>
            </a:r>
            <a:endParaRPr/>
          </a:p>
        </p:txBody>
      </p:sp>
      <p:sp>
        <p:nvSpPr>
          <p:cNvPr id="4860" name="Google Shape;4860;p85"/>
          <p:cNvSpPr txBox="1"/>
          <p:nvPr/>
        </p:nvSpPr>
        <p:spPr>
          <a:xfrm>
            <a:off x="5091112" y="1160462"/>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4861" name="Google Shape;4861;p85"/>
          <p:cNvSpPr txBox="1"/>
          <p:nvPr/>
        </p:nvSpPr>
        <p:spPr>
          <a:xfrm>
            <a:off x="8121650" y="1179512"/>
            <a:ext cx="10715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cxnSp>
        <p:nvCxnSpPr>
          <p:cNvPr id="4862" name="Google Shape;4862;p85"/>
          <p:cNvCxnSpPr/>
          <p:nvPr/>
        </p:nvCxnSpPr>
        <p:spPr>
          <a:xfrm>
            <a:off x="8196262" y="1778000"/>
            <a:ext cx="11113" cy="4538662"/>
          </a:xfrm>
          <a:prstGeom prst="straightConnector1">
            <a:avLst/>
          </a:prstGeom>
          <a:noFill/>
          <a:ln cap="flat" cmpd="sng" w="9525">
            <a:solidFill>
              <a:srgbClr val="000000"/>
            </a:solidFill>
            <a:prstDash val="solid"/>
            <a:round/>
            <a:headEnd len="med" w="med" type="none"/>
            <a:tailEnd len="med" w="med" type="none"/>
          </a:ln>
        </p:spPr>
      </p:cxnSp>
      <p:sp>
        <p:nvSpPr>
          <p:cNvPr id="4863" name="Google Shape;4863;p85"/>
          <p:cNvSpPr txBox="1"/>
          <p:nvPr/>
        </p:nvSpPr>
        <p:spPr>
          <a:xfrm>
            <a:off x="4498213" y="4713287"/>
            <a:ext cx="1523174" cy="56323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90000"/>
              </a:lnSpc>
              <a:spcBef>
                <a:spcPts val="0"/>
              </a:spcBef>
              <a:spcAft>
                <a:spcPts val="0"/>
              </a:spcAft>
              <a:buClr>
                <a:srgbClr val="C00000"/>
              </a:buClr>
              <a:buSzPts val="1600"/>
              <a:buFont typeface="Tahoma"/>
              <a:buNone/>
            </a:pPr>
            <a:r>
              <a:rPr b="0" i="0" lang="en-US" sz="1600" u="none" cap="none" strike="noStrike">
                <a:solidFill>
                  <a:srgbClr val="C00000"/>
                </a:solidFill>
                <a:latin typeface="Tahoma"/>
                <a:ea typeface="Tahoma"/>
                <a:cs typeface="Tahoma"/>
                <a:sym typeface="Tahoma"/>
              </a:rPr>
              <a:t>(but not 3,4,5)</a:t>
            </a:r>
            <a:endParaRPr/>
          </a:p>
        </p:txBody>
      </p:sp>
      <p:cxnSp>
        <p:nvCxnSpPr>
          <p:cNvPr id="4864" name="Google Shape;4864;p85"/>
          <p:cNvCxnSpPr/>
          <p:nvPr/>
        </p:nvCxnSpPr>
        <p:spPr>
          <a:xfrm flipH="1">
            <a:off x="6067425" y="2249487"/>
            <a:ext cx="2014537" cy="1066800"/>
          </a:xfrm>
          <a:prstGeom prst="straightConnector1">
            <a:avLst/>
          </a:prstGeom>
          <a:noFill/>
          <a:ln cap="flat" cmpd="sng" w="28575">
            <a:solidFill>
              <a:srgbClr val="008000"/>
            </a:solidFill>
            <a:prstDash val="solid"/>
            <a:round/>
            <a:headEnd len="med" w="med" type="none"/>
            <a:tailEnd len="med" w="med" type="triangle"/>
          </a:ln>
        </p:spPr>
      </p:cxnSp>
      <p:grpSp>
        <p:nvGrpSpPr>
          <p:cNvPr id="4865" name="Google Shape;4865;p85"/>
          <p:cNvGrpSpPr/>
          <p:nvPr/>
        </p:nvGrpSpPr>
        <p:grpSpPr>
          <a:xfrm>
            <a:off x="6059487" y="1725612"/>
            <a:ext cx="2122488" cy="1292225"/>
            <a:chOff x="6059487" y="1725612"/>
            <a:chExt cx="2122488" cy="1292225"/>
          </a:xfrm>
        </p:grpSpPr>
        <p:cxnSp>
          <p:nvCxnSpPr>
            <p:cNvPr id="4866" name="Google Shape;4866;p85"/>
            <p:cNvCxnSpPr/>
            <p:nvPr/>
          </p:nvCxnSpPr>
          <p:spPr>
            <a:xfrm>
              <a:off x="6061075" y="1725612"/>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4867" name="Google Shape;4867;p85"/>
            <p:cNvCxnSpPr/>
            <p:nvPr/>
          </p:nvCxnSpPr>
          <p:spPr>
            <a:xfrm>
              <a:off x="6059487" y="2000250"/>
              <a:ext cx="2100263" cy="468312"/>
            </a:xfrm>
            <a:prstGeom prst="straightConnector1">
              <a:avLst/>
            </a:prstGeom>
            <a:noFill/>
            <a:ln cap="flat" cmpd="sng" w="28575">
              <a:solidFill>
                <a:srgbClr val="000099"/>
              </a:solidFill>
              <a:prstDash val="solid"/>
              <a:round/>
              <a:headEnd len="med" w="med" type="none"/>
              <a:tailEnd len="med" w="med" type="triangle"/>
            </a:ln>
          </p:spPr>
        </p:cxnSp>
        <p:cxnSp>
          <p:nvCxnSpPr>
            <p:cNvPr id="4868" name="Google Shape;4868;p85"/>
            <p:cNvCxnSpPr/>
            <p:nvPr/>
          </p:nvCxnSpPr>
          <p:spPr>
            <a:xfrm>
              <a:off x="6075362" y="2263775"/>
              <a:ext cx="876300" cy="200025"/>
            </a:xfrm>
            <a:prstGeom prst="straightConnector1">
              <a:avLst/>
            </a:prstGeom>
            <a:noFill/>
            <a:ln cap="flat" cmpd="sng" w="28575">
              <a:solidFill>
                <a:srgbClr val="000099"/>
              </a:solidFill>
              <a:prstDash val="solid"/>
              <a:round/>
              <a:headEnd len="med" w="med" type="none"/>
              <a:tailEnd len="med" w="med" type="triangle"/>
            </a:ln>
          </p:spPr>
        </p:cxnSp>
        <p:cxnSp>
          <p:nvCxnSpPr>
            <p:cNvPr id="4869" name="Google Shape;4869;p85"/>
            <p:cNvCxnSpPr/>
            <p:nvPr/>
          </p:nvCxnSpPr>
          <p:spPr>
            <a:xfrm>
              <a:off x="6081712" y="2549525"/>
              <a:ext cx="2100263" cy="468312"/>
            </a:xfrm>
            <a:prstGeom prst="straightConnector1">
              <a:avLst/>
            </a:prstGeom>
            <a:noFill/>
            <a:ln cap="flat" cmpd="sng" w="28575">
              <a:solidFill>
                <a:srgbClr val="000099"/>
              </a:solidFill>
              <a:prstDash val="solid"/>
              <a:round/>
              <a:headEnd len="med" w="med" type="none"/>
              <a:tailEnd len="med" w="med" type="triangle"/>
            </a:ln>
          </p:spPr>
        </p:cxnSp>
        <p:sp>
          <p:nvSpPr>
            <p:cNvPr id="4870" name="Google Shape;4870;p85"/>
            <p:cNvSpPr txBox="1"/>
            <p:nvPr/>
          </p:nvSpPr>
          <p:spPr>
            <a:xfrm>
              <a:off x="6837362" y="2298700"/>
              <a:ext cx="341313"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4871" name="Google Shape;4871;p85"/>
            <p:cNvSpPr txBox="1"/>
            <p:nvPr/>
          </p:nvSpPr>
          <p:spPr>
            <a:xfrm>
              <a:off x="6996112" y="2319337"/>
              <a:ext cx="522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cxnSp>
        <p:nvCxnSpPr>
          <p:cNvPr id="4872" name="Google Shape;4872;p85"/>
          <p:cNvCxnSpPr/>
          <p:nvPr/>
        </p:nvCxnSpPr>
        <p:spPr>
          <a:xfrm flipH="1">
            <a:off x="6064250" y="2535237"/>
            <a:ext cx="2014537" cy="1100138"/>
          </a:xfrm>
          <a:prstGeom prst="straightConnector1">
            <a:avLst/>
          </a:prstGeom>
          <a:noFill/>
          <a:ln cap="flat" cmpd="sng" w="28575">
            <a:solidFill>
              <a:srgbClr val="008000"/>
            </a:solidFill>
            <a:prstDash val="solid"/>
            <a:round/>
            <a:headEnd len="med" w="med" type="none"/>
            <a:tailEnd len="med" w="med" type="triangle"/>
          </a:ln>
        </p:spPr>
      </p:cxnSp>
      <p:cxnSp>
        <p:nvCxnSpPr>
          <p:cNvPr id="4873" name="Google Shape;4873;p85"/>
          <p:cNvCxnSpPr/>
          <p:nvPr/>
        </p:nvCxnSpPr>
        <p:spPr>
          <a:xfrm>
            <a:off x="6067425" y="3371850"/>
            <a:ext cx="2100262" cy="468312"/>
          </a:xfrm>
          <a:prstGeom prst="straightConnector1">
            <a:avLst/>
          </a:prstGeom>
          <a:noFill/>
          <a:ln cap="flat" cmpd="sng" w="28575">
            <a:solidFill>
              <a:srgbClr val="000099"/>
            </a:solidFill>
            <a:prstDash val="solid"/>
            <a:round/>
            <a:headEnd len="med" w="med" type="none"/>
            <a:tailEnd len="med" w="med" type="triangle"/>
          </a:ln>
        </p:spPr>
      </p:cxnSp>
      <p:cxnSp>
        <p:nvCxnSpPr>
          <p:cNvPr id="4874" name="Google Shape;4874;p85"/>
          <p:cNvCxnSpPr/>
          <p:nvPr/>
        </p:nvCxnSpPr>
        <p:spPr>
          <a:xfrm>
            <a:off x="6099175" y="3690937"/>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4875" name="Google Shape;4875;p85"/>
          <p:cNvCxnSpPr/>
          <p:nvPr/>
        </p:nvCxnSpPr>
        <p:spPr>
          <a:xfrm flipH="1">
            <a:off x="6096000" y="3065462"/>
            <a:ext cx="2014537" cy="1100138"/>
          </a:xfrm>
          <a:prstGeom prst="straightConnector1">
            <a:avLst/>
          </a:prstGeom>
          <a:noFill/>
          <a:ln cap="flat" cmpd="sng" w="28575">
            <a:solidFill>
              <a:srgbClr val="008000"/>
            </a:solidFill>
            <a:prstDash val="solid"/>
            <a:round/>
            <a:headEnd len="med" w="med" type="none"/>
            <a:tailEnd len="med" w="med" type="triangle"/>
          </a:ln>
        </p:spPr>
      </p:cxnSp>
      <p:grpSp>
        <p:nvGrpSpPr>
          <p:cNvPr id="4876" name="Google Shape;4876;p85"/>
          <p:cNvGrpSpPr/>
          <p:nvPr/>
        </p:nvGrpSpPr>
        <p:grpSpPr>
          <a:xfrm>
            <a:off x="4081462" y="2254250"/>
            <a:ext cx="1978025" cy="2543175"/>
            <a:chOff x="4081462" y="2254250"/>
            <a:chExt cx="1978025" cy="2543175"/>
          </a:xfrm>
        </p:grpSpPr>
        <p:pic>
          <p:nvPicPr>
            <p:cNvPr descr="alarm_clock_ringing" id="4877" name="Google Shape;4877;p85"/>
            <p:cNvPicPr preferRelativeResize="0"/>
            <p:nvPr/>
          </p:nvPicPr>
          <p:blipFill rotWithShape="1">
            <a:blip r:embed="rId3">
              <a:alphaModFix/>
            </a:blip>
            <a:srcRect b="0" l="0" r="0" t="0"/>
            <a:stretch/>
          </p:blipFill>
          <p:spPr>
            <a:xfrm>
              <a:off x="4081462" y="4283075"/>
              <a:ext cx="436563" cy="481012"/>
            </a:xfrm>
            <a:prstGeom prst="rect">
              <a:avLst/>
            </a:prstGeom>
            <a:noFill/>
            <a:ln>
              <a:noFill/>
            </a:ln>
          </p:spPr>
        </p:pic>
        <p:sp>
          <p:nvSpPr>
            <p:cNvPr id="4878" name="Google Shape;4878;p85"/>
            <p:cNvSpPr txBox="1"/>
            <p:nvPr/>
          </p:nvSpPr>
          <p:spPr>
            <a:xfrm>
              <a:off x="4449762" y="4498975"/>
              <a:ext cx="1538288" cy="298450"/>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pkt 2 timeout</a:t>
              </a:r>
              <a:endParaRPr/>
            </a:p>
          </p:txBody>
        </p:sp>
        <p:grpSp>
          <p:nvGrpSpPr>
            <p:cNvPr id="4879" name="Google Shape;4879;p85"/>
            <p:cNvGrpSpPr/>
            <p:nvPr/>
          </p:nvGrpSpPr>
          <p:grpSpPr>
            <a:xfrm>
              <a:off x="5956300" y="2254250"/>
              <a:ext cx="103187" cy="2462212"/>
              <a:chOff x="3651" y="1878"/>
              <a:chExt cx="78" cy="963"/>
            </a:xfrm>
          </p:grpSpPr>
          <p:cxnSp>
            <p:nvCxnSpPr>
              <p:cNvPr id="4880" name="Google Shape;4880;p85"/>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4881" name="Google Shape;4881;p85"/>
              <p:cNvCxnSpPr/>
              <p:nvPr/>
            </p:nvCxnSpPr>
            <p:spPr>
              <a:xfrm rot="10800000">
                <a:off x="3651" y="1878"/>
                <a:ext cx="76" cy="0"/>
              </a:xfrm>
              <a:prstGeom prst="straightConnector1">
                <a:avLst/>
              </a:prstGeom>
              <a:noFill/>
              <a:ln cap="flat" cmpd="sng" w="28575">
                <a:solidFill>
                  <a:srgbClr val="000000"/>
                </a:solidFill>
                <a:prstDash val="solid"/>
                <a:round/>
                <a:headEnd len="med" w="med" type="none"/>
                <a:tailEnd len="med" w="med" type="none"/>
              </a:ln>
            </p:spPr>
          </p:cxnSp>
          <p:cxnSp>
            <p:nvCxnSpPr>
              <p:cNvPr id="4882" name="Google Shape;4882;p85"/>
              <p:cNvCxnSpPr/>
              <p:nvPr/>
            </p:nvCxnSpPr>
            <p:spPr>
              <a:xfrm rot="10800000">
                <a:off x="3651" y="2841"/>
                <a:ext cx="76" cy="0"/>
              </a:xfrm>
              <a:prstGeom prst="straightConnector1">
                <a:avLst/>
              </a:prstGeom>
              <a:noFill/>
              <a:ln cap="flat" cmpd="sng" w="28575">
                <a:solidFill>
                  <a:srgbClr val="000000"/>
                </a:solidFill>
                <a:prstDash val="solid"/>
                <a:round/>
                <a:headEnd len="med" w="med" type="none"/>
                <a:tailEnd len="med" w="med" type="none"/>
              </a:ln>
            </p:spPr>
          </p:cxnSp>
        </p:grpSp>
      </p:grpSp>
      <p:cxnSp>
        <p:nvCxnSpPr>
          <p:cNvPr id="4883" name="Google Shape;4883;p85"/>
          <p:cNvCxnSpPr/>
          <p:nvPr/>
        </p:nvCxnSpPr>
        <p:spPr>
          <a:xfrm>
            <a:off x="6075362" y="4884737"/>
            <a:ext cx="2100263" cy="468313"/>
          </a:xfrm>
          <a:prstGeom prst="straightConnector1">
            <a:avLst/>
          </a:prstGeom>
          <a:noFill/>
          <a:ln cap="flat" cmpd="sng" w="28575">
            <a:solidFill>
              <a:srgbClr val="000099"/>
            </a:solidFill>
            <a:prstDash val="solid"/>
            <a:round/>
            <a:headEnd len="med" w="med" type="none"/>
            <a:tailEnd len="med" w="med" type="triangle"/>
          </a:ln>
        </p:spPr>
      </p:cxnSp>
      <p:sp>
        <p:nvSpPr>
          <p:cNvPr id="4884" name="Google Shape;4884;p85"/>
          <p:cNvSpPr txBox="1"/>
          <p:nvPr/>
        </p:nvSpPr>
        <p:spPr>
          <a:xfrm>
            <a:off x="2278062" y="1223962"/>
            <a:ext cx="21463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Tahoma"/>
              <a:buNone/>
            </a:pPr>
            <a:r>
              <a:rPr b="0" i="1" lang="en-US" sz="1600" u="sng" cap="none" strike="noStrike">
                <a:solidFill>
                  <a:srgbClr val="000099"/>
                </a:solidFill>
                <a:latin typeface="Tahoma"/>
                <a:ea typeface="Tahoma"/>
                <a:cs typeface="Tahoma"/>
                <a:sym typeface="Tahoma"/>
              </a:rPr>
              <a:t>sender window (N=4)</a:t>
            </a:r>
            <a:endParaRPr/>
          </a:p>
        </p:txBody>
      </p:sp>
      <p:grpSp>
        <p:nvGrpSpPr>
          <p:cNvPr id="4885" name="Google Shape;4885;p85"/>
          <p:cNvGrpSpPr/>
          <p:nvPr/>
        </p:nvGrpSpPr>
        <p:grpSpPr>
          <a:xfrm>
            <a:off x="2317750" y="1570037"/>
            <a:ext cx="1520825" cy="1150938"/>
            <a:chOff x="2317750" y="1570037"/>
            <a:chExt cx="1520825" cy="1150938"/>
          </a:xfrm>
        </p:grpSpPr>
        <p:grpSp>
          <p:nvGrpSpPr>
            <p:cNvPr id="4886" name="Google Shape;4886;p85"/>
            <p:cNvGrpSpPr/>
            <p:nvPr/>
          </p:nvGrpSpPr>
          <p:grpSpPr>
            <a:xfrm>
              <a:off x="2320925" y="1570037"/>
              <a:ext cx="1512887" cy="304800"/>
              <a:chOff x="115" y="914"/>
              <a:chExt cx="953" cy="192"/>
            </a:xfrm>
          </p:grpSpPr>
          <p:sp>
            <p:nvSpPr>
              <p:cNvPr id="4887" name="Google Shape;4887;p85"/>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888" name="Google Shape;4888;p85"/>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889" name="Google Shape;4889;p85"/>
            <p:cNvGrpSpPr/>
            <p:nvPr/>
          </p:nvGrpSpPr>
          <p:grpSpPr>
            <a:xfrm>
              <a:off x="2317750" y="1855787"/>
              <a:ext cx="1512887" cy="304800"/>
              <a:chOff x="115" y="914"/>
              <a:chExt cx="953" cy="192"/>
            </a:xfrm>
          </p:grpSpPr>
          <p:sp>
            <p:nvSpPr>
              <p:cNvPr id="4890" name="Google Shape;4890;p85"/>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891" name="Google Shape;4891;p85"/>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892" name="Google Shape;4892;p85"/>
            <p:cNvGrpSpPr/>
            <p:nvPr/>
          </p:nvGrpSpPr>
          <p:grpSpPr>
            <a:xfrm>
              <a:off x="2325687" y="2141537"/>
              <a:ext cx="1512888" cy="304800"/>
              <a:chOff x="115" y="914"/>
              <a:chExt cx="953" cy="192"/>
            </a:xfrm>
          </p:grpSpPr>
          <p:sp>
            <p:nvSpPr>
              <p:cNvPr id="4893" name="Google Shape;4893;p85"/>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894" name="Google Shape;4894;p85"/>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4895" name="Google Shape;4895;p85"/>
            <p:cNvGrpSpPr/>
            <p:nvPr/>
          </p:nvGrpSpPr>
          <p:grpSpPr>
            <a:xfrm>
              <a:off x="2322512" y="2416175"/>
              <a:ext cx="1512888" cy="304800"/>
              <a:chOff x="115" y="914"/>
              <a:chExt cx="953" cy="192"/>
            </a:xfrm>
          </p:grpSpPr>
          <p:sp>
            <p:nvSpPr>
              <p:cNvPr id="4896" name="Google Shape;4896;p85"/>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897" name="Google Shape;4897;p85"/>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grpSp>
        <p:nvGrpSpPr>
          <p:cNvPr id="4898" name="Google Shape;4898;p85"/>
          <p:cNvGrpSpPr/>
          <p:nvPr/>
        </p:nvGrpSpPr>
        <p:grpSpPr>
          <a:xfrm>
            <a:off x="2319337" y="3135312"/>
            <a:ext cx="3749675" cy="369332"/>
            <a:chOff x="2319337" y="3135312"/>
            <a:chExt cx="3749675" cy="369332"/>
          </a:xfrm>
        </p:grpSpPr>
        <p:sp>
          <p:nvSpPr>
            <p:cNvPr id="4899" name="Google Shape;4899;p85"/>
            <p:cNvSpPr/>
            <p:nvPr/>
          </p:nvSpPr>
          <p:spPr>
            <a:xfrm>
              <a:off x="2533650" y="3221037"/>
              <a:ext cx="628650" cy="2286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900" name="Google Shape;4900;p85"/>
            <p:cNvGrpSpPr/>
            <p:nvPr/>
          </p:nvGrpSpPr>
          <p:grpSpPr>
            <a:xfrm>
              <a:off x="2319337" y="3135312"/>
              <a:ext cx="3749675" cy="369332"/>
              <a:chOff x="2319337" y="3135312"/>
              <a:chExt cx="3749675" cy="369332"/>
            </a:xfrm>
          </p:grpSpPr>
          <p:sp>
            <p:nvSpPr>
              <p:cNvPr id="4901" name="Google Shape;4901;p85"/>
              <p:cNvSpPr txBox="1"/>
              <p:nvPr/>
            </p:nvSpPr>
            <p:spPr>
              <a:xfrm>
                <a:off x="3894955" y="3135312"/>
                <a:ext cx="2174057"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 send pkt4</a:t>
                </a:r>
                <a:endParaRPr/>
              </a:p>
            </p:txBody>
          </p:sp>
          <p:sp>
            <p:nvSpPr>
              <p:cNvPr id="4902" name="Google Shape;4902;p85"/>
              <p:cNvSpPr txBox="1"/>
              <p:nvPr/>
            </p:nvSpPr>
            <p:spPr>
              <a:xfrm>
                <a:off x="2319337" y="3186112"/>
                <a:ext cx="1512888"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a:t>
                </a:r>
                <a:r>
                  <a:rPr b="0" i="0" lang="en-US" sz="1400" u="none" cap="none" strike="noStrike">
                    <a:solidFill>
                      <a:srgbClr val="FFFFFF"/>
                    </a:solidFill>
                    <a:latin typeface="Arial"/>
                    <a:ea typeface="Arial"/>
                    <a:cs typeface="Arial"/>
                    <a:sym typeface="Arial"/>
                  </a:rPr>
                  <a:t>1 2 3 4</a:t>
                </a:r>
                <a:r>
                  <a:rPr b="0" i="0" lang="en-US" sz="1400" u="none" cap="none" strike="noStrike">
                    <a:solidFill>
                      <a:srgbClr val="000000"/>
                    </a:solidFill>
                    <a:latin typeface="Arial"/>
                    <a:ea typeface="Arial"/>
                    <a:cs typeface="Arial"/>
                    <a:sym typeface="Arial"/>
                  </a:rPr>
                  <a:t> 5 6 7 8 </a:t>
                </a:r>
                <a:endParaRPr/>
              </a:p>
            </p:txBody>
          </p:sp>
        </p:grpSp>
      </p:grpSp>
      <p:grpSp>
        <p:nvGrpSpPr>
          <p:cNvPr id="4903" name="Google Shape;4903;p85"/>
          <p:cNvGrpSpPr/>
          <p:nvPr/>
        </p:nvGrpSpPr>
        <p:grpSpPr>
          <a:xfrm>
            <a:off x="2305050" y="4754562"/>
            <a:ext cx="1520825" cy="1050925"/>
            <a:chOff x="2305050" y="4754562"/>
            <a:chExt cx="1520825" cy="1050925"/>
          </a:xfrm>
        </p:grpSpPr>
        <p:grpSp>
          <p:nvGrpSpPr>
            <p:cNvPr id="4904" name="Google Shape;4904;p85"/>
            <p:cNvGrpSpPr/>
            <p:nvPr/>
          </p:nvGrpSpPr>
          <p:grpSpPr>
            <a:xfrm>
              <a:off x="2305050" y="4754562"/>
              <a:ext cx="1512887" cy="304800"/>
              <a:chOff x="112" y="2105"/>
              <a:chExt cx="953" cy="192"/>
            </a:xfrm>
          </p:grpSpPr>
          <p:sp>
            <p:nvSpPr>
              <p:cNvPr id="4905" name="Google Shape;4905;p85"/>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06" name="Google Shape;4906;p85"/>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907" name="Google Shape;4907;p85"/>
            <p:cNvGrpSpPr/>
            <p:nvPr/>
          </p:nvGrpSpPr>
          <p:grpSpPr>
            <a:xfrm>
              <a:off x="2312987" y="4995862"/>
              <a:ext cx="1512888" cy="304800"/>
              <a:chOff x="112" y="2105"/>
              <a:chExt cx="953" cy="192"/>
            </a:xfrm>
          </p:grpSpPr>
          <p:sp>
            <p:nvSpPr>
              <p:cNvPr id="4908" name="Google Shape;4908;p85"/>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09" name="Google Shape;4909;p85"/>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910" name="Google Shape;4910;p85"/>
            <p:cNvGrpSpPr/>
            <p:nvPr/>
          </p:nvGrpSpPr>
          <p:grpSpPr>
            <a:xfrm>
              <a:off x="2309812" y="5259387"/>
              <a:ext cx="1512888" cy="304800"/>
              <a:chOff x="112" y="2105"/>
              <a:chExt cx="953" cy="192"/>
            </a:xfrm>
          </p:grpSpPr>
          <p:sp>
            <p:nvSpPr>
              <p:cNvPr id="4911" name="Google Shape;4911;p85"/>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12" name="Google Shape;4912;p85"/>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4913" name="Google Shape;4913;p85"/>
            <p:cNvGrpSpPr/>
            <p:nvPr/>
          </p:nvGrpSpPr>
          <p:grpSpPr>
            <a:xfrm>
              <a:off x="2306637" y="5500687"/>
              <a:ext cx="1512888" cy="304800"/>
              <a:chOff x="112" y="2105"/>
              <a:chExt cx="953" cy="192"/>
            </a:xfrm>
          </p:grpSpPr>
          <p:sp>
            <p:nvSpPr>
              <p:cNvPr id="4914" name="Google Shape;4914;p85"/>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15" name="Google Shape;4915;p85"/>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grpSp>
        <p:nvGrpSpPr>
          <p:cNvPr id="4916" name="Google Shape;4916;p85"/>
          <p:cNvGrpSpPr/>
          <p:nvPr/>
        </p:nvGrpSpPr>
        <p:grpSpPr>
          <a:xfrm>
            <a:off x="7129462" y="3876675"/>
            <a:ext cx="1039813" cy="873125"/>
            <a:chOff x="7129462" y="3876675"/>
            <a:chExt cx="1039813" cy="873125"/>
          </a:xfrm>
        </p:grpSpPr>
        <p:cxnSp>
          <p:nvCxnSpPr>
            <p:cNvPr id="4917" name="Google Shape;4917;p85"/>
            <p:cNvCxnSpPr/>
            <p:nvPr/>
          </p:nvCxnSpPr>
          <p:spPr>
            <a:xfrm flipH="1">
              <a:off x="7129462" y="3876675"/>
              <a:ext cx="1033463" cy="563562"/>
            </a:xfrm>
            <a:prstGeom prst="straightConnector1">
              <a:avLst/>
            </a:prstGeom>
            <a:noFill/>
            <a:ln cap="flat" cmpd="sng" w="28575">
              <a:solidFill>
                <a:srgbClr val="008000"/>
              </a:solidFill>
              <a:prstDash val="solid"/>
              <a:round/>
              <a:headEnd len="med" w="med" type="none"/>
              <a:tailEnd len="med" w="med" type="triangle"/>
            </a:ln>
          </p:spPr>
        </p:cxnSp>
        <p:cxnSp>
          <p:nvCxnSpPr>
            <p:cNvPr id="4918" name="Google Shape;4918;p85"/>
            <p:cNvCxnSpPr/>
            <p:nvPr/>
          </p:nvCxnSpPr>
          <p:spPr>
            <a:xfrm flipH="1">
              <a:off x="7135812" y="4186237"/>
              <a:ext cx="1033463" cy="563563"/>
            </a:xfrm>
            <a:prstGeom prst="straightConnector1">
              <a:avLst/>
            </a:prstGeom>
            <a:noFill/>
            <a:ln cap="flat" cmpd="sng" w="28575">
              <a:solidFill>
                <a:srgbClr val="008000"/>
              </a:solidFill>
              <a:prstDash val="solid"/>
              <a:round/>
              <a:headEnd len="med" w="med" type="none"/>
              <a:tailEnd len="med" w="med" type="triangle"/>
            </a:ln>
          </p:spPr>
        </p:cxnSp>
      </p:grpSp>
      <p:cxnSp>
        <p:nvCxnSpPr>
          <p:cNvPr id="4919" name="Google Shape;4919;p85"/>
          <p:cNvCxnSpPr/>
          <p:nvPr/>
        </p:nvCxnSpPr>
        <p:spPr>
          <a:xfrm flipH="1">
            <a:off x="7156450" y="5376862"/>
            <a:ext cx="1033462" cy="563563"/>
          </a:xfrm>
          <a:prstGeom prst="straightConnector1">
            <a:avLst/>
          </a:prstGeom>
          <a:noFill/>
          <a:ln cap="flat" cmpd="sng" w="28575">
            <a:solidFill>
              <a:srgbClr val="008000"/>
            </a:solidFill>
            <a:prstDash val="solid"/>
            <a:round/>
            <a:headEnd len="med" w="med" type="none"/>
            <a:tailEnd len="med" w="med" type="triangle"/>
          </a:ln>
        </p:spPr>
      </p:cxnSp>
      <p:grpSp>
        <p:nvGrpSpPr>
          <p:cNvPr id="4920" name="Google Shape;4920;p85"/>
          <p:cNvGrpSpPr/>
          <p:nvPr/>
        </p:nvGrpSpPr>
        <p:grpSpPr>
          <a:xfrm>
            <a:off x="2316162" y="3452813"/>
            <a:ext cx="3752850" cy="369332"/>
            <a:chOff x="2316162" y="3452813"/>
            <a:chExt cx="3752850" cy="369332"/>
          </a:xfrm>
        </p:grpSpPr>
        <p:grpSp>
          <p:nvGrpSpPr>
            <p:cNvPr id="4921" name="Google Shape;4921;p85"/>
            <p:cNvGrpSpPr/>
            <p:nvPr/>
          </p:nvGrpSpPr>
          <p:grpSpPr>
            <a:xfrm>
              <a:off x="2316162" y="3460750"/>
              <a:ext cx="1512888" cy="304800"/>
              <a:chOff x="112" y="2105"/>
              <a:chExt cx="953" cy="192"/>
            </a:xfrm>
          </p:grpSpPr>
          <p:sp>
            <p:nvSpPr>
              <p:cNvPr id="4922" name="Google Shape;4922;p85"/>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23" name="Google Shape;4923;p85"/>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sp>
          <p:nvSpPr>
            <p:cNvPr id="4924" name="Google Shape;4924;p85"/>
            <p:cNvSpPr txBox="1"/>
            <p:nvPr/>
          </p:nvSpPr>
          <p:spPr>
            <a:xfrm>
              <a:off x="3860800" y="3452813"/>
              <a:ext cx="2208212"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 send pkt5</a:t>
              </a:r>
              <a:endParaRPr/>
            </a:p>
          </p:txBody>
        </p:sp>
      </p:grpSp>
      <p:cxnSp>
        <p:nvCxnSpPr>
          <p:cNvPr id="4925" name="Google Shape;4925;p85"/>
          <p:cNvCxnSpPr/>
          <p:nvPr/>
        </p:nvCxnSpPr>
        <p:spPr>
          <a:xfrm>
            <a:off x="6037263" y="1612900"/>
            <a:ext cx="7938" cy="4292600"/>
          </a:xfrm>
          <a:prstGeom prst="straightConnector1">
            <a:avLst/>
          </a:prstGeom>
          <a:noFill/>
          <a:ln cap="flat" cmpd="sng" w="9525">
            <a:solidFill>
              <a:srgbClr val="000000"/>
            </a:solidFill>
            <a:prstDash val="solid"/>
            <a:round/>
            <a:headEnd len="med" w="med" type="none"/>
            <a:tailEnd len="med" w="med" type="none"/>
          </a:ln>
        </p:spPr>
      </p:cxnSp>
      <p:sp>
        <p:nvSpPr>
          <p:cNvPr id="4926" name="Google Shape;4926;p85"/>
          <p:cNvSpPr txBox="1"/>
          <p:nvPr/>
        </p:nvSpPr>
        <p:spPr>
          <a:xfrm>
            <a:off x="8122331" y="2003425"/>
            <a:ext cx="2568575" cy="1465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pkt0, send ack0</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pkt1, send ack1</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pkt3, </a:t>
            </a:r>
            <a:r>
              <a:rPr b="0" i="0" lang="en-US" sz="1800" u="none" cap="none" strike="noStrike">
                <a:solidFill>
                  <a:srgbClr val="C00000"/>
                </a:solidFill>
                <a:latin typeface="Tahoma"/>
                <a:ea typeface="Tahoma"/>
                <a:cs typeface="Tahoma"/>
                <a:sym typeface="Tahoma"/>
              </a:rPr>
              <a:t>buffer</a:t>
            </a:r>
            <a:r>
              <a:rPr b="0" i="0" lang="en-US" sz="1800" u="none" cap="none" strike="noStrike">
                <a:solidFill>
                  <a:srgbClr val="000000"/>
                </a:solidFill>
                <a:latin typeface="Tahoma"/>
                <a:ea typeface="Tahoma"/>
                <a:cs typeface="Tahoma"/>
                <a:sym typeface="Tahoma"/>
              </a:rPr>
              <a:t>,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a:t>
            </a:r>
            <a:r>
              <a:rPr b="0" i="0" lang="en-US" sz="1800" u="none" cap="none" strike="noStrike">
                <a:solidFill>
                  <a:srgbClr val="C00000"/>
                </a:solidFill>
                <a:latin typeface="Tahoma"/>
                <a:ea typeface="Tahoma"/>
                <a:cs typeface="Tahoma"/>
                <a:sym typeface="Tahoma"/>
              </a:rPr>
              <a:t>send ack3</a:t>
            </a:r>
            <a:endParaRPr/>
          </a:p>
        </p:txBody>
      </p:sp>
      <p:sp>
        <p:nvSpPr>
          <p:cNvPr id="4927" name="Google Shape;4927;p85"/>
          <p:cNvSpPr txBox="1"/>
          <p:nvPr/>
        </p:nvSpPr>
        <p:spPr>
          <a:xfrm>
            <a:off x="4390118" y="3967162"/>
            <a:ext cx="16986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1400"/>
              <a:buFont typeface="Tahoma"/>
              <a:buNone/>
            </a:pPr>
            <a:r>
              <a:rPr b="0" i="0" lang="en-US" sz="1400" u="none" cap="none" strike="noStrike">
                <a:solidFill>
                  <a:srgbClr val="C00000"/>
                </a:solidFill>
                <a:latin typeface="Tahoma"/>
                <a:ea typeface="Tahoma"/>
                <a:cs typeface="Tahoma"/>
                <a:sym typeface="Tahoma"/>
              </a:rPr>
              <a:t>record ack3 arrived</a:t>
            </a:r>
            <a:endParaRPr/>
          </a:p>
        </p:txBody>
      </p:sp>
      <p:sp>
        <p:nvSpPr>
          <p:cNvPr id="4928" name="Google Shape;4928;p85"/>
          <p:cNvSpPr txBox="1"/>
          <p:nvPr/>
        </p:nvSpPr>
        <p:spPr>
          <a:xfrm>
            <a:off x="8169956" y="3603625"/>
            <a:ext cx="2300287"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pkt4, </a:t>
            </a:r>
            <a:r>
              <a:rPr b="0" i="0" lang="en-US" sz="1800" u="none" cap="none" strike="noStrike">
                <a:solidFill>
                  <a:srgbClr val="C00000"/>
                </a:solidFill>
                <a:latin typeface="Tahoma"/>
                <a:ea typeface="Tahoma"/>
                <a:cs typeface="Tahoma"/>
                <a:sym typeface="Tahoma"/>
              </a:rPr>
              <a:t>buffer, </a:t>
            </a:r>
            <a:endParaRPr/>
          </a:p>
          <a:p>
            <a:pPr indent="0" lvl="0" marL="0" marR="0" rtl="0" algn="l">
              <a:lnSpc>
                <a:spcPct val="100000"/>
              </a:lnSpc>
              <a:spcBef>
                <a:spcPts val="0"/>
              </a:spcBef>
              <a:spcAft>
                <a:spcPts val="0"/>
              </a:spcAft>
              <a:buClr>
                <a:srgbClr val="C00000"/>
              </a:buClr>
              <a:buSzPts val="1800"/>
              <a:buFont typeface="Tahoma"/>
              <a:buNone/>
            </a:pPr>
            <a:r>
              <a:rPr b="0" i="0" lang="en-US" sz="1800" u="none" cap="none" strike="noStrike">
                <a:solidFill>
                  <a:srgbClr val="C00000"/>
                </a:solidFill>
                <a:latin typeface="Tahoma"/>
                <a:ea typeface="Tahoma"/>
                <a:cs typeface="Tahoma"/>
                <a:sym typeface="Tahoma"/>
              </a:rPr>
              <a:t>           send ack4</a:t>
            </a:r>
            <a:endParaRPr/>
          </a:p>
        </p:txBody>
      </p:sp>
      <p:sp>
        <p:nvSpPr>
          <p:cNvPr id="4929" name="Google Shape;4929;p85"/>
          <p:cNvSpPr txBox="1"/>
          <p:nvPr/>
        </p:nvSpPr>
        <p:spPr>
          <a:xfrm>
            <a:off x="8189006" y="4124325"/>
            <a:ext cx="2300287"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pkt5, </a:t>
            </a:r>
            <a:r>
              <a:rPr b="0" i="0" lang="en-US" sz="1800" u="none" cap="none" strike="noStrike">
                <a:solidFill>
                  <a:srgbClr val="C00000"/>
                </a:solidFill>
                <a:latin typeface="Tahoma"/>
                <a:ea typeface="Tahoma"/>
                <a:cs typeface="Tahoma"/>
                <a:sym typeface="Tahoma"/>
              </a:rPr>
              <a:t>buffer, </a:t>
            </a:r>
            <a:endParaRPr/>
          </a:p>
          <a:p>
            <a:pPr indent="0" lvl="0" marL="0" marR="0" rtl="0" algn="l">
              <a:lnSpc>
                <a:spcPct val="100000"/>
              </a:lnSpc>
              <a:spcBef>
                <a:spcPts val="0"/>
              </a:spcBef>
              <a:spcAft>
                <a:spcPts val="0"/>
              </a:spcAft>
              <a:buClr>
                <a:srgbClr val="C00000"/>
              </a:buClr>
              <a:buSzPts val="1800"/>
              <a:buFont typeface="Tahoma"/>
              <a:buNone/>
            </a:pPr>
            <a:r>
              <a:rPr b="0" i="0" lang="en-US" sz="1800" u="none" cap="none" strike="noStrike">
                <a:solidFill>
                  <a:srgbClr val="C00000"/>
                </a:solidFill>
                <a:latin typeface="Tahoma"/>
                <a:ea typeface="Tahoma"/>
                <a:cs typeface="Tahoma"/>
                <a:sym typeface="Tahoma"/>
              </a:rPr>
              <a:t>           send ack5</a:t>
            </a:r>
            <a:endParaRPr/>
          </a:p>
        </p:txBody>
      </p:sp>
      <p:sp>
        <p:nvSpPr>
          <p:cNvPr id="4930" name="Google Shape;4930;p85"/>
          <p:cNvSpPr txBox="1"/>
          <p:nvPr/>
        </p:nvSpPr>
        <p:spPr>
          <a:xfrm>
            <a:off x="8162018" y="5189537"/>
            <a:ext cx="2960688" cy="587375"/>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pkt2; </a:t>
            </a:r>
            <a:r>
              <a:rPr b="0" i="0" lang="en-US" sz="1800" u="none" cap="none" strike="noStrike">
                <a:solidFill>
                  <a:srgbClr val="C00000"/>
                </a:solidFill>
                <a:latin typeface="Tahoma"/>
                <a:ea typeface="Tahoma"/>
                <a:cs typeface="Tahoma"/>
                <a:sym typeface="Tahoma"/>
              </a:rPr>
              <a:t>deliver pkt2,</a:t>
            </a:r>
            <a:endParaRPr/>
          </a:p>
          <a:p>
            <a:pPr indent="0" lvl="0" marL="0" marR="0" rtl="0" algn="l">
              <a:lnSpc>
                <a:spcPct val="90000"/>
              </a:lnSpc>
              <a:spcBef>
                <a:spcPts val="0"/>
              </a:spcBef>
              <a:spcAft>
                <a:spcPts val="0"/>
              </a:spcAft>
              <a:buClr>
                <a:srgbClr val="C00000"/>
              </a:buClr>
              <a:buSzPts val="1800"/>
              <a:buFont typeface="Tahoma"/>
              <a:buNone/>
            </a:pPr>
            <a:r>
              <a:rPr b="0" i="0" lang="en-US" sz="1800" u="none" cap="none" strike="noStrike">
                <a:solidFill>
                  <a:srgbClr val="C00000"/>
                </a:solidFill>
                <a:latin typeface="Tahoma"/>
                <a:ea typeface="Tahoma"/>
                <a:cs typeface="Tahoma"/>
                <a:sym typeface="Tahoma"/>
              </a:rPr>
              <a:t>pkt3, pkt4, pkt5; send ack2</a:t>
            </a:r>
            <a:endParaRPr/>
          </a:p>
        </p:txBody>
      </p:sp>
      <p:sp>
        <p:nvSpPr>
          <p:cNvPr id="4931" name="Google Shape;4931;p85"/>
          <p:cNvSpPr txBox="1"/>
          <p:nvPr/>
        </p:nvSpPr>
        <p:spPr>
          <a:xfrm>
            <a:off x="4472668" y="5919787"/>
            <a:ext cx="3498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1" lang="en-US" sz="1600" u="none" cap="none" strike="noStrike">
                <a:solidFill>
                  <a:srgbClr val="000000"/>
                </a:solidFill>
                <a:latin typeface="Tahoma"/>
                <a:ea typeface="Tahoma"/>
                <a:cs typeface="Tahoma"/>
                <a:sym typeface="Tahoma"/>
              </a:rPr>
              <a:t>Q: what happens when ack2 arrives?</a:t>
            </a:r>
            <a:endParaRPr/>
          </a:p>
        </p:txBody>
      </p:sp>
      <p:sp>
        <p:nvSpPr>
          <p:cNvPr id="4932" name="Google Shape;4932;p8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5"/>
                                        </p:tgtEl>
                                        <p:attrNameLst>
                                          <p:attrName>style.visibility</p:attrName>
                                        </p:attrNameLst>
                                      </p:cBhvr>
                                      <p:to>
                                        <p:strVal val="visible"/>
                                      </p:to>
                                    </p:set>
                                    <p:animEffect filter="fade" transition="in">
                                      <p:cBhvr>
                                        <p:cTn dur="500"/>
                                        <p:tgtEl>
                                          <p:spTgt spid="488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859"/>
                                        </p:tgtEl>
                                        <p:attrNameLst>
                                          <p:attrName>style.visibility</p:attrName>
                                        </p:attrNameLst>
                                      </p:cBhvr>
                                      <p:to>
                                        <p:strVal val="visible"/>
                                      </p:to>
                                    </p:set>
                                    <p:animEffect filter="fade" transition="in">
                                      <p:cBhvr>
                                        <p:cTn dur="500"/>
                                        <p:tgtEl>
                                          <p:spTgt spid="485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865"/>
                                        </p:tgtEl>
                                        <p:attrNameLst>
                                          <p:attrName>style.visibility</p:attrName>
                                        </p:attrNameLst>
                                      </p:cBhvr>
                                      <p:to>
                                        <p:strVal val="visible"/>
                                      </p:to>
                                    </p:set>
                                    <p:animEffect filter="fade" transition="in">
                                      <p:cBhvr>
                                        <p:cTn dur="500"/>
                                        <p:tgtEl>
                                          <p:spTgt spid="486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926"/>
                                        </p:tgtEl>
                                        <p:attrNameLst>
                                          <p:attrName>style.visibility</p:attrName>
                                        </p:attrNameLst>
                                      </p:cBhvr>
                                      <p:to>
                                        <p:strVal val="visible"/>
                                      </p:to>
                                    </p:set>
                                    <p:animEffect filter="fade" transition="in">
                                      <p:cBhvr>
                                        <p:cTn dur="500"/>
                                        <p:tgtEl>
                                          <p:spTgt spid="49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64"/>
                                        </p:tgtEl>
                                        <p:attrNameLst>
                                          <p:attrName>style.visibility</p:attrName>
                                        </p:attrNameLst>
                                      </p:cBhvr>
                                      <p:to>
                                        <p:strVal val="visible"/>
                                      </p:to>
                                    </p:set>
                                    <p:animEffect filter="fade" transition="in">
                                      <p:cBhvr>
                                        <p:cTn dur="500"/>
                                        <p:tgtEl>
                                          <p:spTgt spid="4864"/>
                                        </p:tgtEl>
                                      </p:cBhvr>
                                    </p:animEffect>
                                  </p:childTnLst>
                                </p:cTn>
                              </p:par>
                              <p:par>
                                <p:cTn fill="hold" nodeType="withEffect" presetClass="entr" presetID="10" presetSubtype="0">
                                  <p:stCondLst>
                                    <p:cond delay="0"/>
                                  </p:stCondLst>
                                  <p:childTnLst>
                                    <p:set>
                                      <p:cBhvr>
                                        <p:cTn dur="1" fill="hold">
                                          <p:stCondLst>
                                            <p:cond delay="0"/>
                                          </p:stCondLst>
                                        </p:cTn>
                                        <p:tgtEl>
                                          <p:spTgt spid="4872"/>
                                        </p:tgtEl>
                                        <p:attrNameLst>
                                          <p:attrName>style.visibility</p:attrName>
                                        </p:attrNameLst>
                                      </p:cBhvr>
                                      <p:to>
                                        <p:strVal val="visible"/>
                                      </p:to>
                                    </p:set>
                                    <p:animEffect filter="fade" transition="in">
                                      <p:cBhvr>
                                        <p:cTn dur="500"/>
                                        <p:tgtEl>
                                          <p:spTgt spid="4872"/>
                                        </p:tgtEl>
                                      </p:cBhvr>
                                    </p:animEffect>
                                  </p:childTnLst>
                                </p:cTn>
                              </p:par>
                              <p:par>
                                <p:cTn fill="hold" nodeType="withEffect" presetClass="entr" presetID="10" presetSubtype="0">
                                  <p:stCondLst>
                                    <p:cond delay="0"/>
                                  </p:stCondLst>
                                  <p:childTnLst>
                                    <p:set>
                                      <p:cBhvr>
                                        <p:cTn dur="1" fill="hold">
                                          <p:stCondLst>
                                            <p:cond delay="0"/>
                                          </p:stCondLst>
                                        </p:cTn>
                                        <p:tgtEl>
                                          <p:spTgt spid="4875"/>
                                        </p:tgtEl>
                                        <p:attrNameLst>
                                          <p:attrName>style.visibility</p:attrName>
                                        </p:attrNameLst>
                                      </p:cBhvr>
                                      <p:to>
                                        <p:strVal val="visible"/>
                                      </p:to>
                                    </p:set>
                                    <p:animEffect filter="fade" transition="in">
                                      <p:cBhvr>
                                        <p:cTn dur="500"/>
                                        <p:tgtEl>
                                          <p:spTgt spid="48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8"/>
                                        </p:tgtEl>
                                        <p:attrNameLst>
                                          <p:attrName>style.visibility</p:attrName>
                                        </p:attrNameLst>
                                      </p:cBhvr>
                                      <p:to>
                                        <p:strVal val="visible"/>
                                      </p:to>
                                    </p:set>
                                    <p:animEffect filter="fade" transition="in">
                                      <p:cBhvr>
                                        <p:cTn dur="500"/>
                                        <p:tgtEl>
                                          <p:spTgt spid="489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873"/>
                                        </p:tgtEl>
                                        <p:attrNameLst>
                                          <p:attrName>style.visibility</p:attrName>
                                        </p:attrNameLst>
                                      </p:cBhvr>
                                      <p:to>
                                        <p:strVal val="visible"/>
                                      </p:to>
                                    </p:set>
                                    <p:animEffect filter="fade" transition="in">
                                      <p:cBhvr>
                                        <p:cTn dur="500"/>
                                        <p:tgtEl>
                                          <p:spTgt spid="487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928"/>
                                        </p:tgtEl>
                                        <p:attrNameLst>
                                          <p:attrName>style.visibility</p:attrName>
                                        </p:attrNameLst>
                                      </p:cBhvr>
                                      <p:to>
                                        <p:strVal val="visible"/>
                                      </p:to>
                                    </p:set>
                                    <p:animEffect filter="fade" transition="in">
                                      <p:cBhvr>
                                        <p:cTn dur="500"/>
                                        <p:tgtEl>
                                          <p:spTgt spid="49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0"/>
                                        </p:tgtEl>
                                        <p:attrNameLst>
                                          <p:attrName>style.visibility</p:attrName>
                                        </p:attrNameLst>
                                      </p:cBhvr>
                                      <p:to>
                                        <p:strVal val="visible"/>
                                      </p:to>
                                    </p:set>
                                    <p:animEffect filter="fade" transition="in">
                                      <p:cBhvr>
                                        <p:cTn dur="500"/>
                                        <p:tgtEl>
                                          <p:spTgt spid="492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874"/>
                                        </p:tgtEl>
                                        <p:attrNameLst>
                                          <p:attrName>style.visibility</p:attrName>
                                        </p:attrNameLst>
                                      </p:cBhvr>
                                      <p:to>
                                        <p:strVal val="visible"/>
                                      </p:to>
                                    </p:set>
                                    <p:animEffect filter="fade" transition="in">
                                      <p:cBhvr>
                                        <p:cTn dur="500"/>
                                        <p:tgtEl>
                                          <p:spTgt spid="487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929"/>
                                        </p:tgtEl>
                                        <p:attrNameLst>
                                          <p:attrName>style.visibility</p:attrName>
                                        </p:attrNameLst>
                                      </p:cBhvr>
                                      <p:to>
                                        <p:strVal val="visible"/>
                                      </p:to>
                                    </p:set>
                                    <p:animEffect filter="fade" transition="in">
                                      <p:cBhvr>
                                        <p:cTn dur="500"/>
                                        <p:tgtEl>
                                          <p:spTgt spid="49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16"/>
                                        </p:tgtEl>
                                        <p:attrNameLst>
                                          <p:attrName>style.visibility</p:attrName>
                                        </p:attrNameLst>
                                      </p:cBhvr>
                                      <p:to>
                                        <p:strVal val="visible"/>
                                      </p:to>
                                    </p:set>
                                    <p:animEffect filter="fade" transition="in">
                                      <p:cBhvr>
                                        <p:cTn dur="500"/>
                                        <p:tgtEl>
                                          <p:spTgt spid="491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927"/>
                                        </p:tgtEl>
                                        <p:attrNameLst>
                                          <p:attrName>style.visibility</p:attrName>
                                        </p:attrNameLst>
                                      </p:cBhvr>
                                      <p:to>
                                        <p:strVal val="visible"/>
                                      </p:to>
                                    </p:set>
                                    <p:animEffect filter="fade" transition="in">
                                      <p:cBhvr>
                                        <p:cTn dur="500"/>
                                        <p:tgtEl>
                                          <p:spTgt spid="49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6"/>
                                        </p:tgtEl>
                                        <p:attrNameLst>
                                          <p:attrName>style.visibility</p:attrName>
                                        </p:attrNameLst>
                                      </p:cBhvr>
                                      <p:to>
                                        <p:strVal val="visible"/>
                                      </p:to>
                                    </p:set>
                                    <p:animEffect filter="fade" transition="in">
                                      <p:cBhvr>
                                        <p:cTn dur="500"/>
                                        <p:tgtEl>
                                          <p:spTgt spid="48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03"/>
                                        </p:tgtEl>
                                        <p:attrNameLst>
                                          <p:attrName>style.visibility</p:attrName>
                                        </p:attrNameLst>
                                      </p:cBhvr>
                                      <p:to>
                                        <p:strVal val="visible"/>
                                      </p:to>
                                    </p:set>
                                    <p:animEffect filter="fade" transition="in">
                                      <p:cBhvr>
                                        <p:cTn dur="500"/>
                                        <p:tgtEl>
                                          <p:spTgt spid="490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863"/>
                                        </p:tgtEl>
                                        <p:attrNameLst>
                                          <p:attrName>style.visibility</p:attrName>
                                        </p:attrNameLst>
                                      </p:cBhvr>
                                      <p:to>
                                        <p:strVal val="visible"/>
                                      </p:to>
                                    </p:set>
                                    <p:animEffect filter="fade" transition="in">
                                      <p:cBhvr>
                                        <p:cTn dur="500"/>
                                        <p:tgtEl>
                                          <p:spTgt spid="486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883"/>
                                        </p:tgtEl>
                                        <p:attrNameLst>
                                          <p:attrName>style.visibility</p:attrName>
                                        </p:attrNameLst>
                                      </p:cBhvr>
                                      <p:to>
                                        <p:strVal val="visible"/>
                                      </p:to>
                                    </p:set>
                                    <p:animEffect filter="fade" transition="in">
                                      <p:cBhvr>
                                        <p:cTn dur="500"/>
                                        <p:tgtEl>
                                          <p:spTgt spid="488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930"/>
                                        </p:tgtEl>
                                        <p:attrNameLst>
                                          <p:attrName>style.visibility</p:attrName>
                                        </p:attrNameLst>
                                      </p:cBhvr>
                                      <p:to>
                                        <p:strVal val="visible"/>
                                      </p:to>
                                    </p:set>
                                    <p:animEffect filter="fade" transition="in">
                                      <p:cBhvr>
                                        <p:cTn dur="500"/>
                                        <p:tgtEl>
                                          <p:spTgt spid="493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919"/>
                                        </p:tgtEl>
                                        <p:attrNameLst>
                                          <p:attrName>style.visibility</p:attrName>
                                        </p:attrNameLst>
                                      </p:cBhvr>
                                      <p:to>
                                        <p:strVal val="visible"/>
                                      </p:to>
                                    </p:set>
                                    <p:animEffect filter="fade" transition="in">
                                      <p:cBhvr>
                                        <p:cTn dur="500"/>
                                        <p:tgtEl>
                                          <p:spTgt spid="49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1"/>
                                        </p:tgtEl>
                                        <p:attrNameLst>
                                          <p:attrName>style.visibility</p:attrName>
                                        </p:attrNameLst>
                                      </p:cBhvr>
                                      <p:to>
                                        <p:strVal val="visible"/>
                                      </p:to>
                                    </p:set>
                                    <p:animEffect filter="fade" transition="in">
                                      <p:cBhvr>
                                        <p:cTn dur="500"/>
                                        <p:tgtEl>
                                          <p:spTgt spid="49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6" name="Shape 4936"/>
        <p:cNvGrpSpPr/>
        <p:nvPr/>
      </p:nvGrpSpPr>
      <p:grpSpPr>
        <a:xfrm>
          <a:off x="0" y="0"/>
          <a:ext cx="0" cy="0"/>
          <a:chOff x="0" y="0"/>
          <a:chExt cx="0" cy="0"/>
        </a:xfrm>
      </p:grpSpPr>
      <p:sp>
        <p:nvSpPr>
          <p:cNvPr id="4937" name="Google Shape;4937;p86"/>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3-</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938" name="Google Shape;4938;p86"/>
          <p:cNvSpPr txBox="1"/>
          <p:nvPr/>
        </p:nvSpPr>
        <p:spPr>
          <a:xfrm>
            <a:off x="41275" y="250408"/>
            <a:ext cx="7772400" cy="469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B9FA"/>
              </a:buClr>
              <a:buSzPts val="2400"/>
              <a:buFont typeface="Noto Sans Symbols"/>
              <a:buNone/>
            </a:pPr>
            <a:r>
              <a:rPr lang="en-US" sz="2400">
                <a:solidFill>
                  <a:srgbClr val="00B9FA"/>
                </a:solidFill>
                <a:latin typeface="Arial"/>
                <a:ea typeface="Arial"/>
                <a:cs typeface="Arial"/>
                <a:sym typeface="Arial"/>
              </a:rPr>
              <a:t>Selective Repeat (SR): Operation</a:t>
            </a:r>
            <a:endParaRPr/>
          </a:p>
        </p:txBody>
      </p:sp>
      <p:pic>
        <p:nvPicPr>
          <p:cNvPr descr="Screen Shot 2015-03-26 at 12.18.10 PM.png" id="4939" name="Google Shape;4939;p86"/>
          <p:cNvPicPr preferRelativeResize="0"/>
          <p:nvPr/>
        </p:nvPicPr>
        <p:blipFill rotWithShape="1">
          <a:blip r:embed="rId3">
            <a:alphaModFix/>
          </a:blip>
          <a:srcRect b="0" l="0" r="0" t="0"/>
          <a:stretch/>
        </p:blipFill>
        <p:spPr>
          <a:xfrm>
            <a:off x="1851026" y="946151"/>
            <a:ext cx="6323013" cy="5883275"/>
          </a:xfrm>
          <a:prstGeom prst="rect">
            <a:avLst/>
          </a:prstGeom>
          <a:noFill/>
          <a:ln>
            <a:noFill/>
          </a:ln>
        </p:spPr>
      </p:pic>
      <p:grpSp>
        <p:nvGrpSpPr>
          <p:cNvPr id="4940" name="Google Shape;4940;p86"/>
          <p:cNvGrpSpPr/>
          <p:nvPr/>
        </p:nvGrpSpPr>
        <p:grpSpPr>
          <a:xfrm>
            <a:off x="4016375" y="2406651"/>
            <a:ext cx="793750" cy="461963"/>
            <a:chOff x="3743851" y="2520959"/>
            <a:chExt cx="793447" cy="461665"/>
          </a:xfrm>
        </p:grpSpPr>
        <p:sp>
          <p:nvSpPr>
            <p:cNvPr id="4941" name="Google Shape;4941;p86"/>
            <p:cNvSpPr txBox="1"/>
            <p:nvPr/>
          </p:nvSpPr>
          <p:spPr>
            <a:xfrm>
              <a:off x="3798544" y="2520959"/>
              <a:ext cx="738754"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FF0000"/>
                  </a:solidFill>
                  <a:latin typeface="Courier New"/>
                  <a:ea typeface="Courier New"/>
                  <a:cs typeface="Courier New"/>
                  <a:sym typeface="Courier New"/>
                </a:rPr>
                <a:t>   X</a:t>
              </a:r>
              <a:endParaRPr/>
            </a:p>
            <a:p>
              <a:pPr indent="0" lvl="0" marL="0" marR="0" rtl="0" algn="l">
                <a:spcBef>
                  <a:spcPts val="0"/>
                </a:spcBef>
                <a:spcAft>
                  <a:spcPts val="0"/>
                </a:spcAft>
                <a:buNone/>
              </a:pPr>
              <a:r>
                <a:rPr b="1" lang="en-US" sz="1200">
                  <a:solidFill>
                    <a:srgbClr val="FF0000"/>
                  </a:solidFill>
                  <a:latin typeface="Courier New"/>
                  <a:ea typeface="Courier New"/>
                  <a:cs typeface="Courier New"/>
                  <a:sym typeface="Courier New"/>
                </a:rPr>
                <a:t>(loss)</a:t>
              </a:r>
              <a:endParaRPr/>
            </a:p>
          </p:txBody>
        </p:sp>
        <p:cxnSp>
          <p:nvCxnSpPr>
            <p:cNvPr id="4942" name="Google Shape;4942;p86"/>
            <p:cNvCxnSpPr/>
            <p:nvPr/>
          </p:nvCxnSpPr>
          <p:spPr>
            <a:xfrm>
              <a:off x="3743851" y="2615731"/>
              <a:ext cx="435992" cy="104250"/>
            </a:xfrm>
            <a:prstGeom prst="straightConnector1">
              <a:avLst/>
            </a:prstGeom>
            <a:noFill/>
            <a:ln cap="flat" cmpd="sng" w="38100">
              <a:solidFill>
                <a:srgbClr val="FF0000"/>
              </a:solidFill>
              <a:prstDash val="solid"/>
              <a:round/>
              <a:headEnd len="med" w="med" type="none"/>
              <a:tailEnd len="med" w="med" type="none"/>
            </a:ln>
          </p:spPr>
        </p:cxnSp>
      </p:grpSp>
      <p:sp>
        <p:nvSpPr>
          <p:cNvPr id="4943" name="Google Shape;4943;p86"/>
          <p:cNvSpPr txBox="1"/>
          <p:nvPr/>
        </p:nvSpPr>
        <p:spPr>
          <a:xfrm>
            <a:off x="2054226" y="4995863"/>
            <a:ext cx="1204913" cy="2603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FF0000"/>
                </a:solidFill>
                <a:latin typeface="Courier New"/>
                <a:ea typeface="Courier New"/>
                <a:cs typeface="Courier New"/>
                <a:sym typeface="Courier New"/>
              </a:rPr>
              <a:t>pkt2 timeout    </a:t>
            </a:r>
            <a:endParaRPr/>
          </a:p>
        </p:txBody>
      </p:sp>
      <p:sp>
        <p:nvSpPr>
          <p:cNvPr id="4944" name="Google Shape;4944;p86"/>
          <p:cNvSpPr/>
          <p:nvPr/>
        </p:nvSpPr>
        <p:spPr>
          <a:xfrm>
            <a:off x="1784351" y="4978400"/>
            <a:ext cx="2143125" cy="18796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Tahoma"/>
              <a:ea typeface="Tahoma"/>
              <a:cs typeface="Tahoma"/>
              <a:sym typeface="Tahoma"/>
            </a:endParaRPr>
          </a:p>
        </p:txBody>
      </p:sp>
      <p:sp>
        <p:nvSpPr>
          <p:cNvPr id="4945" name="Google Shape;4945;p86"/>
          <p:cNvSpPr/>
          <p:nvPr/>
        </p:nvSpPr>
        <p:spPr>
          <a:xfrm>
            <a:off x="5770564" y="5329239"/>
            <a:ext cx="2511425" cy="138588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Tahoma"/>
              <a:ea typeface="Tahoma"/>
              <a:cs typeface="Tahoma"/>
              <a:sym typeface="Tahoma"/>
            </a:endParaRPr>
          </a:p>
        </p:txBody>
      </p:sp>
      <p:sp>
        <p:nvSpPr>
          <p:cNvPr id="4946" name="Google Shape;4946;p86"/>
          <p:cNvSpPr/>
          <p:nvPr/>
        </p:nvSpPr>
        <p:spPr>
          <a:xfrm>
            <a:off x="3987800" y="4956176"/>
            <a:ext cx="1695450" cy="19018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Tahoma"/>
              <a:ea typeface="Tahoma"/>
              <a:cs typeface="Tahoma"/>
              <a:sym typeface="Tahoma"/>
            </a:endParaRPr>
          </a:p>
        </p:txBody>
      </p:sp>
      <p:sp>
        <p:nvSpPr>
          <p:cNvPr id="4947" name="Google Shape;4947;p86"/>
          <p:cNvSpPr/>
          <p:nvPr/>
        </p:nvSpPr>
        <p:spPr>
          <a:xfrm>
            <a:off x="1524001" y="2301876"/>
            <a:ext cx="601663" cy="31273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Tahoma"/>
              <a:ea typeface="Tahoma"/>
              <a:cs typeface="Tahoma"/>
              <a:sym typeface="Tahoma"/>
            </a:endParaRPr>
          </a:p>
        </p:txBody>
      </p:sp>
      <p:grpSp>
        <p:nvGrpSpPr>
          <p:cNvPr id="4948" name="Google Shape;4948;p86"/>
          <p:cNvGrpSpPr/>
          <p:nvPr/>
        </p:nvGrpSpPr>
        <p:grpSpPr>
          <a:xfrm>
            <a:off x="3995739" y="3832226"/>
            <a:ext cx="3367333" cy="641396"/>
            <a:chOff x="2472041" y="3832995"/>
            <a:chExt cx="3367435" cy="641115"/>
          </a:xfrm>
        </p:grpSpPr>
        <p:cxnSp>
          <p:nvCxnSpPr>
            <p:cNvPr id="4949" name="Google Shape;4949;p86"/>
            <p:cNvCxnSpPr/>
            <p:nvPr/>
          </p:nvCxnSpPr>
          <p:spPr>
            <a:xfrm>
              <a:off x="2472041" y="3832995"/>
              <a:ext cx="1712285" cy="510310"/>
            </a:xfrm>
            <a:prstGeom prst="straightConnector1">
              <a:avLst/>
            </a:prstGeom>
            <a:noFill/>
            <a:ln cap="flat" cmpd="sng" w="38100">
              <a:solidFill>
                <a:srgbClr val="FF66FF"/>
              </a:solidFill>
              <a:prstDash val="solid"/>
              <a:round/>
              <a:headEnd len="med" w="med" type="none"/>
              <a:tailEnd len="med" w="med" type="triangle"/>
            </a:ln>
          </p:spPr>
        </p:cxnSp>
        <p:sp>
          <p:nvSpPr>
            <p:cNvPr id="4950" name="Google Shape;4950;p86"/>
            <p:cNvSpPr txBox="1"/>
            <p:nvPr/>
          </p:nvSpPr>
          <p:spPr>
            <a:xfrm>
              <a:off x="4982617" y="4212500"/>
              <a:ext cx="856859" cy="26161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FF66FF"/>
                  </a:solidFill>
                  <a:latin typeface="Courier New"/>
                  <a:ea typeface="Courier New"/>
                  <a:cs typeface="Courier New"/>
                  <a:sym typeface="Courier New"/>
                </a:rPr>
                <a:t>buffered</a:t>
              </a:r>
              <a:endParaRPr/>
            </a:p>
          </p:txBody>
        </p:sp>
      </p:grpSp>
      <p:cxnSp>
        <p:nvCxnSpPr>
          <p:cNvPr id="4951" name="Google Shape;4951;p86"/>
          <p:cNvCxnSpPr/>
          <p:nvPr/>
        </p:nvCxnSpPr>
        <p:spPr>
          <a:xfrm>
            <a:off x="4000501" y="3055939"/>
            <a:ext cx="1712913" cy="509587"/>
          </a:xfrm>
          <a:prstGeom prst="straightConnector1">
            <a:avLst/>
          </a:prstGeom>
          <a:noFill/>
          <a:ln cap="flat" cmpd="sng" w="38100">
            <a:solidFill>
              <a:srgbClr val="FF66FF"/>
            </a:solidFill>
            <a:prstDash val="solid"/>
            <a:round/>
            <a:headEnd len="med" w="med" type="none"/>
            <a:tailEnd len="med" w="med" type="triangle"/>
          </a:ln>
        </p:spPr>
      </p:cxnSp>
      <p:sp>
        <p:nvSpPr>
          <p:cNvPr id="4952" name="Google Shape;4952;p86"/>
          <p:cNvSpPr txBox="1"/>
          <p:nvPr/>
        </p:nvSpPr>
        <p:spPr>
          <a:xfrm>
            <a:off x="6512516" y="3454536"/>
            <a:ext cx="862418" cy="26193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FF66FF"/>
                </a:solidFill>
                <a:latin typeface="Courier New"/>
                <a:ea typeface="Courier New"/>
                <a:cs typeface="Courier New"/>
                <a:sym typeface="Courier New"/>
              </a:rPr>
              <a:t>buffered</a:t>
            </a:r>
            <a:endParaRPr/>
          </a:p>
        </p:txBody>
      </p:sp>
      <p:grpSp>
        <p:nvGrpSpPr>
          <p:cNvPr id="4953" name="Google Shape;4953;p86"/>
          <p:cNvGrpSpPr/>
          <p:nvPr/>
        </p:nvGrpSpPr>
        <p:grpSpPr>
          <a:xfrm>
            <a:off x="3989388" y="4416423"/>
            <a:ext cx="3387630" cy="615666"/>
            <a:chOff x="2465681" y="4416315"/>
            <a:chExt cx="3387732" cy="616342"/>
          </a:xfrm>
        </p:grpSpPr>
        <p:cxnSp>
          <p:nvCxnSpPr>
            <p:cNvPr id="4954" name="Google Shape;4954;p86"/>
            <p:cNvCxnSpPr/>
            <p:nvPr/>
          </p:nvCxnSpPr>
          <p:spPr>
            <a:xfrm>
              <a:off x="2465681" y="4416315"/>
              <a:ext cx="1712285" cy="510310"/>
            </a:xfrm>
            <a:prstGeom prst="straightConnector1">
              <a:avLst/>
            </a:prstGeom>
            <a:noFill/>
            <a:ln cap="flat" cmpd="sng" w="38100">
              <a:solidFill>
                <a:srgbClr val="FF66FF"/>
              </a:solidFill>
              <a:prstDash val="solid"/>
              <a:round/>
              <a:headEnd len="med" w="med" type="none"/>
              <a:tailEnd len="med" w="med" type="triangle"/>
            </a:ln>
          </p:spPr>
        </p:cxnSp>
        <p:sp>
          <p:nvSpPr>
            <p:cNvPr id="4955" name="Google Shape;4955;p86"/>
            <p:cNvSpPr txBox="1"/>
            <p:nvPr/>
          </p:nvSpPr>
          <p:spPr>
            <a:xfrm>
              <a:off x="4996554" y="4771047"/>
              <a:ext cx="856859" cy="26161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FF66FF"/>
                  </a:solidFill>
                  <a:latin typeface="Courier New"/>
                  <a:ea typeface="Courier New"/>
                  <a:cs typeface="Courier New"/>
                  <a:sym typeface="Courier New"/>
                </a:rPr>
                <a:t>buffered</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9" name="Shape 4959"/>
        <p:cNvGrpSpPr/>
        <p:nvPr/>
      </p:nvGrpSpPr>
      <p:grpSpPr>
        <a:xfrm>
          <a:off x="0" y="0"/>
          <a:ext cx="0" cy="0"/>
          <a:chOff x="0" y="0"/>
          <a:chExt cx="0" cy="0"/>
        </a:xfrm>
      </p:grpSpPr>
      <p:sp>
        <p:nvSpPr>
          <p:cNvPr id="4960" name="Google Shape;4960;p87"/>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3-</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961" name="Google Shape;4961;p87"/>
          <p:cNvSpPr txBox="1"/>
          <p:nvPr/>
        </p:nvSpPr>
        <p:spPr>
          <a:xfrm>
            <a:off x="2081518" y="264696"/>
            <a:ext cx="6553401" cy="469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B9FA"/>
              </a:buClr>
              <a:buSzPts val="2400"/>
              <a:buFont typeface="Noto Sans Symbols"/>
              <a:buNone/>
            </a:pPr>
            <a:r>
              <a:rPr lang="en-US" sz="2400">
                <a:solidFill>
                  <a:srgbClr val="00B9FA"/>
                </a:solidFill>
                <a:latin typeface="Arial"/>
                <a:ea typeface="Arial"/>
                <a:cs typeface="Arial"/>
                <a:sym typeface="Arial"/>
              </a:rPr>
              <a:t>Selective Repeat (SR): Operation</a:t>
            </a:r>
            <a:endParaRPr/>
          </a:p>
        </p:txBody>
      </p:sp>
      <p:pic>
        <p:nvPicPr>
          <p:cNvPr descr="Screen Shot 2015-03-26 at 12.18.10 PM.png" id="4962" name="Google Shape;4962;p87"/>
          <p:cNvPicPr preferRelativeResize="0"/>
          <p:nvPr/>
        </p:nvPicPr>
        <p:blipFill rotWithShape="1">
          <a:blip r:embed="rId3">
            <a:alphaModFix/>
          </a:blip>
          <a:srcRect b="0" l="0" r="0" t="0"/>
          <a:stretch/>
        </p:blipFill>
        <p:spPr>
          <a:xfrm>
            <a:off x="1874838" y="946151"/>
            <a:ext cx="6323012" cy="5883275"/>
          </a:xfrm>
          <a:prstGeom prst="rect">
            <a:avLst/>
          </a:prstGeom>
          <a:noFill/>
          <a:ln>
            <a:noFill/>
          </a:ln>
        </p:spPr>
      </p:pic>
      <p:grpSp>
        <p:nvGrpSpPr>
          <p:cNvPr id="4963" name="Google Shape;4963;p87"/>
          <p:cNvGrpSpPr/>
          <p:nvPr/>
        </p:nvGrpSpPr>
        <p:grpSpPr>
          <a:xfrm>
            <a:off x="4016375" y="2406651"/>
            <a:ext cx="793750" cy="461963"/>
            <a:chOff x="3743851" y="2520959"/>
            <a:chExt cx="793447" cy="461665"/>
          </a:xfrm>
        </p:grpSpPr>
        <p:sp>
          <p:nvSpPr>
            <p:cNvPr id="4964" name="Google Shape;4964;p87"/>
            <p:cNvSpPr txBox="1"/>
            <p:nvPr/>
          </p:nvSpPr>
          <p:spPr>
            <a:xfrm>
              <a:off x="3798544" y="2520959"/>
              <a:ext cx="738754"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FF0000"/>
                  </a:solidFill>
                  <a:latin typeface="Courier New"/>
                  <a:ea typeface="Courier New"/>
                  <a:cs typeface="Courier New"/>
                  <a:sym typeface="Courier New"/>
                </a:rPr>
                <a:t>   X</a:t>
              </a:r>
              <a:endParaRPr/>
            </a:p>
            <a:p>
              <a:pPr indent="0" lvl="0" marL="0" marR="0" rtl="0" algn="l">
                <a:spcBef>
                  <a:spcPts val="0"/>
                </a:spcBef>
                <a:spcAft>
                  <a:spcPts val="0"/>
                </a:spcAft>
                <a:buNone/>
              </a:pPr>
              <a:r>
                <a:rPr b="1" lang="en-US" sz="1200">
                  <a:solidFill>
                    <a:srgbClr val="FF0000"/>
                  </a:solidFill>
                  <a:latin typeface="Courier New"/>
                  <a:ea typeface="Courier New"/>
                  <a:cs typeface="Courier New"/>
                  <a:sym typeface="Courier New"/>
                </a:rPr>
                <a:t>(loss)</a:t>
              </a:r>
              <a:endParaRPr/>
            </a:p>
          </p:txBody>
        </p:sp>
        <p:cxnSp>
          <p:nvCxnSpPr>
            <p:cNvPr id="4965" name="Google Shape;4965;p87"/>
            <p:cNvCxnSpPr/>
            <p:nvPr/>
          </p:nvCxnSpPr>
          <p:spPr>
            <a:xfrm>
              <a:off x="3743851" y="2615731"/>
              <a:ext cx="435992" cy="104250"/>
            </a:xfrm>
            <a:prstGeom prst="straightConnector1">
              <a:avLst/>
            </a:prstGeom>
            <a:noFill/>
            <a:ln cap="flat" cmpd="sng" w="38100">
              <a:solidFill>
                <a:srgbClr val="FF0000"/>
              </a:solidFill>
              <a:prstDash val="solid"/>
              <a:round/>
              <a:headEnd len="med" w="med" type="none"/>
              <a:tailEnd len="med" w="med" type="none"/>
            </a:ln>
          </p:spPr>
        </p:cxnSp>
      </p:grpSp>
      <p:cxnSp>
        <p:nvCxnSpPr>
          <p:cNvPr id="4966" name="Google Shape;4966;p87"/>
          <p:cNvCxnSpPr/>
          <p:nvPr/>
        </p:nvCxnSpPr>
        <p:spPr>
          <a:xfrm>
            <a:off x="3989388" y="5119689"/>
            <a:ext cx="1712912" cy="509587"/>
          </a:xfrm>
          <a:prstGeom prst="straightConnector1">
            <a:avLst/>
          </a:prstGeom>
          <a:noFill/>
          <a:ln cap="flat" cmpd="sng" w="38100">
            <a:solidFill>
              <a:srgbClr val="FF66FF"/>
            </a:solidFill>
            <a:prstDash val="solid"/>
            <a:round/>
            <a:headEnd len="med" w="med" type="none"/>
            <a:tailEnd len="med" w="med" type="triangle"/>
          </a:ln>
        </p:spPr>
      </p:cxnSp>
      <p:grpSp>
        <p:nvGrpSpPr>
          <p:cNvPr id="4967" name="Google Shape;4967;p87"/>
          <p:cNvGrpSpPr/>
          <p:nvPr/>
        </p:nvGrpSpPr>
        <p:grpSpPr>
          <a:xfrm>
            <a:off x="1644650" y="4479925"/>
            <a:ext cx="1614488" cy="776288"/>
            <a:chOff x="121134" y="4480339"/>
            <a:chExt cx="1613356" cy="776567"/>
          </a:xfrm>
        </p:grpSpPr>
        <p:sp>
          <p:nvSpPr>
            <p:cNvPr id="4968" name="Google Shape;4968;p87"/>
            <p:cNvSpPr txBox="1"/>
            <p:nvPr/>
          </p:nvSpPr>
          <p:spPr>
            <a:xfrm>
              <a:off x="530771" y="4995296"/>
              <a:ext cx="1203719" cy="26161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FF0000"/>
                  </a:solidFill>
                  <a:latin typeface="Courier New"/>
                  <a:ea typeface="Courier New"/>
                  <a:cs typeface="Courier New"/>
                  <a:sym typeface="Courier New"/>
                </a:rPr>
                <a:t>pkt2 timeout    </a:t>
              </a:r>
              <a:endParaRPr/>
            </a:p>
          </p:txBody>
        </p:sp>
        <p:pic>
          <p:nvPicPr>
            <p:cNvPr descr="alarm_clock_ringing" id="4969" name="Google Shape;4969;p87"/>
            <p:cNvPicPr preferRelativeResize="0"/>
            <p:nvPr/>
          </p:nvPicPr>
          <p:blipFill rotWithShape="1">
            <a:blip r:embed="rId4">
              <a:alphaModFix/>
            </a:blip>
            <a:srcRect b="0" l="0" r="0" t="0"/>
            <a:stretch/>
          </p:blipFill>
          <p:spPr>
            <a:xfrm>
              <a:off x="121134" y="4480339"/>
              <a:ext cx="436562" cy="481013"/>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3" name="Shape 4973"/>
        <p:cNvGrpSpPr/>
        <p:nvPr/>
      </p:nvGrpSpPr>
      <p:grpSpPr>
        <a:xfrm>
          <a:off x="0" y="0"/>
          <a:ext cx="0" cy="0"/>
          <a:chOff x="0" y="0"/>
          <a:chExt cx="0" cy="0"/>
        </a:xfrm>
      </p:grpSpPr>
      <p:sp>
        <p:nvSpPr>
          <p:cNvPr id="4974" name="Google Shape;4974;p88"/>
          <p:cNvSpPr txBox="1"/>
          <p:nvPr>
            <p:ph idx="11" type="ftr"/>
          </p:nvPr>
        </p:nvSpPr>
        <p:spPr>
          <a:xfrm>
            <a:off x="5576888" y="6445250"/>
            <a:ext cx="28956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Transport</a:t>
            </a:r>
            <a:r>
              <a:rPr lang="en-US" sz="1400">
                <a:solidFill>
                  <a:schemeClr val="dk1"/>
                </a:solidFill>
                <a:latin typeface="Tahoma"/>
                <a:ea typeface="Tahoma"/>
                <a:cs typeface="Tahoma"/>
                <a:sym typeface="Tahoma"/>
              </a:rPr>
              <a:t> </a:t>
            </a:r>
            <a:r>
              <a:rPr lang="en-US" sz="1200">
                <a:solidFill>
                  <a:schemeClr val="dk1"/>
                </a:solidFill>
                <a:latin typeface="Tahoma"/>
                <a:ea typeface="Tahoma"/>
                <a:cs typeface="Tahoma"/>
                <a:sym typeface="Tahoma"/>
              </a:rPr>
              <a:t>Layer</a:t>
            </a:r>
            <a:endParaRPr sz="1200">
              <a:solidFill>
                <a:schemeClr val="dk1"/>
              </a:solidFill>
              <a:latin typeface="Tahoma"/>
              <a:ea typeface="Tahoma"/>
              <a:cs typeface="Tahoma"/>
              <a:sym typeface="Tahoma"/>
            </a:endParaRPr>
          </a:p>
        </p:txBody>
      </p:sp>
      <p:sp>
        <p:nvSpPr>
          <p:cNvPr id="4975" name="Google Shape;4975;p88"/>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3-</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976" name="Google Shape;4976;p88"/>
          <p:cNvSpPr txBox="1"/>
          <p:nvPr>
            <p:ph type="title"/>
          </p:nvPr>
        </p:nvSpPr>
        <p:spPr>
          <a:xfrm>
            <a:off x="2046288" y="217488"/>
            <a:ext cx="7772400" cy="11430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000A3"/>
              </a:buClr>
              <a:buSzPts val="3600"/>
              <a:buFont typeface="Calibri"/>
              <a:buNone/>
            </a:pPr>
            <a:r>
              <a:rPr lang="en-US" sz="3600"/>
              <a:t>Selective repeat (SR):</a:t>
            </a:r>
            <a:br>
              <a:rPr lang="en-US" sz="3600"/>
            </a:br>
            <a:r>
              <a:rPr lang="en-US" sz="3600"/>
              <a:t>dilemma</a:t>
            </a:r>
            <a:endParaRPr/>
          </a:p>
        </p:txBody>
      </p:sp>
      <p:sp>
        <p:nvSpPr>
          <p:cNvPr id="4977" name="Google Shape;4977;p88"/>
          <p:cNvSpPr txBox="1"/>
          <p:nvPr>
            <p:ph idx="1" type="body"/>
          </p:nvPr>
        </p:nvSpPr>
        <p:spPr>
          <a:xfrm>
            <a:off x="2066925" y="1524000"/>
            <a:ext cx="3276600" cy="3530600"/>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Font typeface="Noto Sans Symbols"/>
              <a:buNone/>
            </a:pPr>
            <a:r>
              <a:rPr lang="en-US"/>
              <a:t>example: </a:t>
            </a:r>
            <a:endParaRPr/>
          </a:p>
          <a:p>
            <a:pPr indent="-222250" lvl="0" marL="352425" rtl="0" algn="l">
              <a:lnSpc>
                <a:spcPct val="80000"/>
              </a:lnSpc>
              <a:spcBef>
                <a:spcPts val="1000"/>
              </a:spcBef>
              <a:spcAft>
                <a:spcPts val="0"/>
              </a:spcAft>
              <a:buSzPts val="2400"/>
              <a:buChar char="▪"/>
            </a:pPr>
            <a:r>
              <a:rPr lang="en-US" sz="2400"/>
              <a:t>seq #’s: 0, 1, 2, 3</a:t>
            </a:r>
            <a:endParaRPr/>
          </a:p>
          <a:p>
            <a:pPr indent="-222250" lvl="0" marL="352425" rtl="0" algn="l">
              <a:lnSpc>
                <a:spcPct val="80000"/>
              </a:lnSpc>
              <a:spcBef>
                <a:spcPts val="1000"/>
              </a:spcBef>
              <a:spcAft>
                <a:spcPts val="0"/>
              </a:spcAft>
              <a:buSzPts val="2400"/>
              <a:buChar char="▪"/>
            </a:pPr>
            <a:r>
              <a:rPr lang="en-US" sz="2400"/>
              <a:t>window size=3</a:t>
            </a:r>
            <a:endParaRPr/>
          </a:p>
        </p:txBody>
      </p:sp>
      <p:sp>
        <p:nvSpPr>
          <p:cNvPr id="4978" name="Google Shape;4978;p88"/>
          <p:cNvSpPr txBox="1"/>
          <p:nvPr/>
        </p:nvSpPr>
        <p:spPr>
          <a:xfrm>
            <a:off x="8618539" y="195263"/>
            <a:ext cx="146956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receiver window</a:t>
            </a:r>
            <a:endParaRPr/>
          </a:p>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(after receipt)</a:t>
            </a:r>
            <a:endParaRPr/>
          </a:p>
        </p:txBody>
      </p:sp>
      <p:sp>
        <p:nvSpPr>
          <p:cNvPr id="4979" name="Google Shape;4979;p88"/>
          <p:cNvSpPr txBox="1"/>
          <p:nvPr/>
        </p:nvSpPr>
        <p:spPr>
          <a:xfrm>
            <a:off x="5857875" y="198438"/>
            <a:ext cx="13773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sender window</a:t>
            </a:r>
            <a:endParaRPr/>
          </a:p>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(after receipt)</a:t>
            </a:r>
            <a:endParaRPr/>
          </a:p>
        </p:txBody>
      </p:sp>
      <p:cxnSp>
        <p:nvCxnSpPr>
          <p:cNvPr id="4980" name="Google Shape;4980;p88"/>
          <p:cNvCxnSpPr/>
          <p:nvPr/>
        </p:nvCxnSpPr>
        <p:spPr>
          <a:xfrm>
            <a:off x="5943601" y="688975"/>
            <a:ext cx="1109663" cy="0"/>
          </a:xfrm>
          <a:prstGeom prst="straightConnector1">
            <a:avLst/>
          </a:prstGeom>
          <a:noFill/>
          <a:ln cap="flat" cmpd="sng" w="19050">
            <a:solidFill>
              <a:srgbClr val="000099"/>
            </a:solidFill>
            <a:prstDash val="solid"/>
            <a:round/>
            <a:headEnd len="med" w="med" type="none"/>
            <a:tailEnd len="med" w="med" type="none"/>
          </a:ln>
        </p:spPr>
      </p:cxnSp>
      <p:cxnSp>
        <p:nvCxnSpPr>
          <p:cNvPr id="4981" name="Google Shape;4981;p88"/>
          <p:cNvCxnSpPr/>
          <p:nvPr/>
        </p:nvCxnSpPr>
        <p:spPr>
          <a:xfrm>
            <a:off x="8724901" y="688975"/>
            <a:ext cx="1109663" cy="0"/>
          </a:xfrm>
          <a:prstGeom prst="straightConnector1">
            <a:avLst/>
          </a:prstGeom>
          <a:noFill/>
          <a:ln cap="flat" cmpd="sng" w="19050">
            <a:solidFill>
              <a:srgbClr val="008000"/>
            </a:solidFill>
            <a:prstDash val="solid"/>
            <a:round/>
            <a:headEnd len="med" w="med" type="none"/>
            <a:tailEnd len="med" w="med" type="none"/>
          </a:ln>
        </p:spPr>
      </p:cxnSp>
      <p:grpSp>
        <p:nvGrpSpPr>
          <p:cNvPr id="4982" name="Google Shape;4982;p88"/>
          <p:cNvGrpSpPr/>
          <p:nvPr/>
        </p:nvGrpSpPr>
        <p:grpSpPr>
          <a:xfrm>
            <a:off x="5962651" y="4025900"/>
            <a:ext cx="4276725" cy="2363788"/>
            <a:chOff x="2796" y="2536"/>
            <a:chExt cx="2694" cy="1489"/>
          </a:xfrm>
        </p:grpSpPr>
        <p:grpSp>
          <p:nvGrpSpPr>
            <p:cNvPr id="4983" name="Google Shape;4983;p88"/>
            <p:cNvGrpSpPr/>
            <p:nvPr/>
          </p:nvGrpSpPr>
          <p:grpSpPr>
            <a:xfrm>
              <a:off x="2808" y="2584"/>
              <a:ext cx="649" cy="173"/>
              <a:chOff x="1895" y="3931"/>
              <a:chExt cx="649" cy="173"/>
            </a:xfrm>
          </p:grpSpPr>
          <p:sp>
            <p:nvSpPr>
              <p:cNvPr id="4984" name="Google Shape;4984;p88"/>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4985" name="Google Shape;4985;p88"/>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200"/>
                  <a:buFont typeface="Noto Sans Symbols"/>
                  <a:buNone/>
                </a:pPr>
                <a:r>
                  <a:rPr lang="en-US" sz="1200">
                    <a:solidFill>
                      <a:schemeClr val="lt1"/>
                    </a:solidFill>
                    <a:latin typeface="Arial"/>
                    <a:ea typeface="Arial"/>
                    <a:cs typeface="Arial"/>
                    <a:sym typeface="Arial"/>
                  </a:rPr>
                  <a:t>0 1 2</a:t>
                </a:r>
                <a:r>
                  <a:rPr lang="en-US" sz="1200">
                    <a:solidFill>
                      <a:schemeClr val="dk1"/>
                    </a:solidFill>
                    <a:latin typeface="Arial"/>
                    <a:ea typeface="Arial"/>
                    <a:cs typeface="Arial"/>
                    <a:sym typeface="Arial"/>
                  </a:rPr>
                  <a:t> 3 0 1 2</a:t>
                </a:r>
                <a:endParaRPr/>
              </a:p>
            </p:txBody>
          </p:sp>
        </p:grpSp>
        <p:grpSp>
          <p:nvGrpSpPr>
            <p:cNvPr id="4986" name="Google Shape;4986;p88"/>
            <p:cNvGrpSpPr/>
            <p:nvPr/>
          </p:nvGrpSpPr>
          <p:grpSpPr>
            <a:xfrm>
              <a:off x="2820" y="2757"/>
              <a:ext cx="649" cy="173"/>
              <a:chOff x="1895" y="3931"/>
              <a:chExt cx="649" cy="173"/>
            </a:xfrm>
          </p:grpSpPr>
          <p:sp>
            <p:nvSpPr>
              <p:cNvPr id="4987" name="Google Shape;4987;p88"/>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4988" name="Google Shape;4988;p88"/>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200"/>
                  <a:buFont typeface="Noto Sans Symbols"/>
                  <a:buNone/>
                </a:pPr>
                <a:r>
                  <a:rPr lang="en-US" sz="1200">
                    <a:solidFill>
                      <a:schemeClr val="lt1"/>
                    </a:solidFill>
                    <a:latin typeface="Arial"/>
                    <a:ea typeface="Arial"/>
                    <a:cs typeface="Arial"/>
                    <a:sym typeface="Arial"/>
                  </a:rPr>
                  <a:t>0 1 2</a:t>
                </a:r>
                <a:r>
                  <a:rPr lang="en-US" sz="1200">
                    <a:solidFill>
                      <a:schemeClr val="dk1"/>
                    </a:solidFill>
                    <a:latin typeface="Arial"/>
                    <a:ea typeface="Arial"/>
                    <a:cs typeface="Arial"/>
                    <a:sym typeface="Arial"/>
                  </a:rPr>
                  <a:t> 3 0 1 2</a:t>
                </a:r>
                <a:endParaRPr/>
              </a:p>
            </p:txBody>
          </p:sp>
        </p:grpSp>
        <p:grpSp>
          <p:nvGrpSpPr>
            <p:cNvPr id="4989" name="Google Shape;4989;p88"/>
            <p:cNvGrpSpPr/>
            <p:nvPr/>
          </p:nvGrpSpPr>
          <p:grpSpPr>
            <a:xfrm>
              <a:off x="2825" y="2923"/>
              <a:ext cx="649" cy="173"/>
              <a:chOff x="1895" y="3931"/>
              <a:chExt cx="649" cy="173"/>
            </a:xfrm>
          </p:grpSpPr>
          <p:sp>
            <p:nvSpPr>
              <p:cNvPr id="4990" name="Google Shape;4990;p88"/>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4991" name="Google Shape;4991;p88"/>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200"/>
                  <a:buFont typeface="Noto Sans Symbols"/>
                  <a:buNone/>
                </a:pPr>
                <a:r>
                  <a:rPr lang="en-US" sz="1200">
                    <a:solidFill>
                      <a:schemeClr val="lt1"/>
                    </a:solidFill>
                    <a:latin typeface="Arial"/>
                    <a:ea typeface="Arial"/>
                    <a:cs typeface="Arial"/>
                    <a:sym typeface="Arial"/>
                  </a:rPr>
                  <a:t>0 1 2</a:t>
                </a:r>
                <a:r>
                  <a:rPr lang="en-US" sz="1200">
                    <a:solidFill>
                      <a:schemeClr val="dk1"/>
                    </a:solidFill>
                    <a:latin typeface="Arial"/>
                    <a:ea typeface="Arial"/>
                    <a:cs typeface="Arial"/>
                    <a:sym typeface="Arial"/>
                  </a:rPr>
                  <a:t> 3 0 1 2</a:t>
                </a:r>
                <a:endParaRPr/>
              </a:p>
            </p:txBody>
          </p:sp>
        </p:grpSp>
        <p:cxnSp>
          <p:nvCxnSpPr>
            <p:cNvPr id="4992" name="Google Shape;4992;p88"/>
            <p:cNvCxnSpPr/>
            <p:nvPr/>
          </p:nvCxnSpPr>
          <p:spPr>
            <a:xfrm>
              <a:off x="3449" y="2671"/>
              <a:ext cx="1151" cy="150"/>
            </a:xfrm>
            <a:prstGeom prst="straightConnector1">
              <a:avLst/>
            </a:prstGeom>
            <a:noFill/>
            <a:ln cap="flat" cmpd="sng" w="19050">
              <a:solidFill>
                <a:srgbClr val="000099"/>
              </a:solidFill>
              <a:prstDash val="solid"/>
              <a:round/>
              <a:headEnd len="med" w="med" type="none"/>
              <a:tailEnd len="med" w="med" type="triangle"/>
            </a:ln>
          </p:spPr>
        </p:cxnSp>
        <p:cxnSp>
          <p:nvCxnSpPr>
            <p:cNvPr id="4993" name="Google Shape;4993;p88"/>
            <p:cNvCxnSpPr/>
            <p:nvPr/>
          </p:nvCxnSpPr>
          <p:spPr>
            <a:xfrm>
              <a:off x="3468" y="2851"/>
              <a:ext cx="1139" cy="144"/>
            </a:xfrm>
            <a:prstGeom prst="straightConnector1">
              <a:avLst/>
            </a:prstGeom>
            <a:noFill/>
            <a:ln cap="flat" cmpd="sng" w="19050">
              <a:solidFill>
                <a:srgbClr val="000099"/>
              </a:solidFill>
              <a:prstDash val="solid"/>
              <a:round/>
              <a:headEnd len="med" w="med" type="none"/>
              <a:tailEnd len="med" w="med" type="triangle"/>
            </a:ln>
          </p:spPr>
        </p:cxnSp>
        <p:cxnSp>
          <p:nvCxnSpPr>
            <p:cNvPr id="4994" name="Google Shape;4994;p88"/>
            <p:cNvCxnSpPr/>
            <p:nvPr/>
          </p:nvCxnSpPr>
          <p:spPr>
            <a:xfrm>
              <a:off x="3487" y="3031"/>
              <a:ext cx="1124" cy="132"/>
            </a:xfrm>
            <a:prstGeom prst="straightConnector1">
              <a:avLst/>
            </a:prstGeom>
            <a:noFill/>
            <a:ln cap="flat" cmpd="sng" w="19050">
              <a:solidFill>
                <a:srgbClr val="000099"/>
              </a:solidFill>
              <a:prstDash val="solid"/>
              <a:round/>
              <a:headEnd len="med" w="med" type="none"/>
              <a:tailEnd len="med" w="med" type="triangle"/>
            </a:ln>
          </p:spPr>
        </p:cxnSp>
        <p:sp>
          <p:nvSpPr>
            <p:cNvPr id="4995" name="Google Shape;4995;p88"/>
            <p:cNvSpPr txBox="1"/>
            <p:nvPr/>
          </p:nvSpPr>
          <p:spPr>
            <a:xfrm>
              <a:off x="3520" y="2536"/>
              <a:ext cx="332"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pkt0</a:t>
              </a:r>
              <a:endParaRPr/>
            </a:p>
          </p:txBody>
        </p:sp>
        <p:sp>
          <p:nvSpPr>
            <p:cNvPr id="4996" name="Google Shape;4996;p88"/>
            <p:cNvSpPr txBox="1"/>
            <p:nvPr/>
          </p:nvSpPr>
          <p:spPr>
            <a:xfrm>
              <a:off x="3518" y="2716"/>
              <a:ext cx="332"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pkt1</a:t>
              </a:r>
              <a:endParaRPr/>
            </a:p>
          </p:txBody>
        </p:sp>
        <p:sp>
          <p:nvSpPr>
            <p:cNvPr id="4997" name="Google Shape;4997;p88"/>
            <p:cNvSpPr txBox="1"/>
            <p:nvPr/>
          </p:nvSpPr>
          <p:spPr>
            <a:xfrm>
              <a:off x="3516" y="2896"/>
              <a:ext cx="332"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pkt2</a:t>
              </a:r>
              <a:endParaRPr/>
            </a:p>
          </p:txBody>
        </p:sp>
        <p:grpSp>
          <p:nvGrpSpPr>
            <p:cNvPr id="4998" name="Google Shape;4998;p88"/>
            <p:cNvGrpSpPr/>
            <p:nvPr/>
          </p:nvGrpSpPr>
          <p:grpSpPr>
            <a:xfrm>
              <a:off x="2827" y="3573"/>
              <a:ext cx="649" cy="173"/>
              <a:chOff x="1895" y="3931"/>
              <a:chExt cx="649" cy="173"/>
            </a:xfrm>
          </p:grpSpPr>
          <p:sp>
            <p:nvSpPr>
              <p:cNvPr id="4999" name="Google Shape;4999;p88"/>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00" name="Google Shape;5000;p88"/>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200"/>
                  <a:buFont typeface="Noto Sans Symbols"/>
                  <a:buNone/>
                </a:pPr>
                <a:r>
                  <a:rPr lang="en-US" sz="1200">
                    <a:solidFill>
                      <a:schemeClr val="lt1"/>
                    </a:solidFill>
                    <a:latin typeface="Arial"/>
                    <a:ea typeface="Arial"/>
                    <a:cs typeface="Arial"/>
                    <a:sym typeface="Arial"/>
                  </a:rPr>
                  <a:t>0 1 2</a:t>
                </a:r>
                <a:r>
                  <a:rPr lang="en-US" sz="1200">
                    <a:solidFill>
                      <a:schemeClr val="dk1"/>
                    </a:solidFill>
                    <a:latin typeface="Arial"/>
                    <a:ea typeface="Arial"/>
                    <a:cs typeface="Arial"/>
                    <a:sym typeface="Arial"/>
                  </a:rPr>
                  <a:t> 3 0 1 2</a:t>
                </a:r>
                <a:endParaRPr/>
              </a:p>
            </p:txBody>
          </p:sp>
        </p:grpSp>
        <p:cxnSp>
          <p:nvCxnSpPr>
            <p:cNvPr id="5001" name="Google Shape;5001;p88"/>
            <p:cNvCxnSpPr/>
            <p:nvPr/>
          </p:nvCxnSpPr>
          <p:spPr>
            <a:xfrm>
              <a:off x="3489" y="3657"/>
              <a:ext cx="1124" cy="141"/>
            </a:xfrm>
            <a:prstGeom prst="straightConnector1">
              <a:avLst/>
            </a:prstGeom>
            <a:noFill/>
            <a:ln cap="flat" cmpd="sng" w="19050">
              <a:solidFill>
                <a:srgbClr val="000099"/>
              </a:solidFill>
              <a:prstDash val="solid"/>
              <a:round/>
              <a:headEnd len="med" w="med" type="none"/>
              <a:tailEnd len="med" w="med" type="triangle"/>
            </a:ln>
          </p:spPr>
        </p:cxnSp>
        <p:sp>
          <p:nvSpPr>
            <p:cNvPr id="5002" name="Google Shape;5002;p88"/>
            <p:cNvSpPr txBox="1"/>
            <p:nvPr/>
          </p:nvSpPr>
          <p:spPr>
            <a:xfrm>
              <a:off x="3542" y="3522"/>
              <a:ext cx="332"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pkt0</a:t>
              </a:r>
              <a:endParaRPr/>
            </a:p>
          </p:txBody>
        </p:sp>
        <p:sp>
          <p:nvSpPr>
            <p:cNvPr id="5003" name="Google Shape;5003;p88"/>
            <p:cNvSpPr txBox="1"/>
            <p:nvPr/>
          </p:nvSpPr>
          <p:spPr>
            <a:xfrm>
              <a:off x="2817" y="3322"/>
              <a:ext cx="871" cy="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timeout</a:t>
              </a:r>
              <a:endParaRPr/>
            </a:p>
            <a:p>
              <a:pPr indent="0" lvl="0" marL="0" marR="0" rtl="0" algn="l">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retransmit pkt0</a:t>
              </a:r>
              <a:endParaRPr/>
            </a:p>
          </p:txBody>
        </p:sp>
        <p:sp>
          <p:nvSpPr>
            <p:cNvPr id="5004" name="Google Shape;5004;p88"/>
            <p:cNvSpPr/>
            <p:nvPr/>
          </p:nvSpPr>
          <p:spPr>
            <a:xfrm>
              <a:off x="4729" y="2774"/>
              <a:ext cx="253" cy="119"/>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05" name="Google Shape;5005;p88"/>
            <p:cNvSpPr txBox="1"/>
            <p:nvPr/>
          </p:nvSpPr>
          <p:spPr>
            <a:xfrm>
              <a:off x="4610" y="2743"/>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0</a:t>
              </a:r>
              <a:r>
                <a:rPr lang="en-US" sz="1200">
                  <a:solidFill>
                    <a:schemeClr val="lt1"/>
                  </a:solidFill>
                  <a:latin typeface="Arial"/>
                  <a:ea typeface="Arial"/>
                  <a:cs typeface="Arial"/>
                  <a:sym typeface="Arial"/>
                </a:rPr>
                <a:t> 1 2 3</a:t>
              </a:r>
              <a:r>
                <a:rPr lang="en-US" sz="1200">
                  <a:solidFill>
                    <a:schemeClr val="dk1"/>
                  </a:solidFill>
                  <a:latin typeface="Arial"/>
                  <a:ea typeface="Arial"/>
                  <a:cs typeface="Arial"/>
                  <a:sym typeface="Arial"/>
                </a:rPr>
                <a:t> 0 1 2</a:t>
              </a:r>
              <a:endParaRPr/>
            </a:p>
          </p:txBody>
        </p:sp>
        <p:sp>
          <p:nvSpPr>
            <p:cNvPr id="5006" name="Google Shape;5006;p88"/>
            <p:cNvSpPr/>
            <p:nvPr/>
          </p:nvSpPr>
          <p:spPr>
            <a:xfrm>
              <a:off x="4805" y="2945"/>
              <a:ext cx="253" cy="119"/>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07" name="Google Shape;5007;p88"/>
            <p:cNvSpPr txBox="1"/>
            <p:nvPr/>
          </p:nvSpPr>
          <p:spPr>
            <a:xfrm>
              <a:off x="4608" y="2916"/>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0 1</a:t>
              </a:r>
              <a:r>
                <a:rPr lang="en-US" sz="1200">
                  <a:solidFill>
                    <a:schemeClr val="lt1"/>
                  </a:solidFill>
                  <a:latin typeface="Arial"/>
                  <a:ea typeface="Arial"/>
                  <a:cs typeface="Arial"/>
                  <a:sym typeface="Arial"/>
                </a:rPr>
                <a:t> 2 3 0</a:t>
              </a:r>
              <a:r>
                <a:rPr lang="en-US" sz="1200">
                  <a:solidFill>
                    <a:schemeClr val="dk1"/>
                  </a:solidFill>
                  <a:latin typeface="Arial"/>
                  <a:ea typeface="Arial"/>
                  <a:cs typeface="Arial"/>
                  <a:sym typeface="Arial"/>
                </a:rPr>
                <a:t> 1 2</a:t>
              </a:r>
              <a:endParaRPr/>
            </a:p>
          </p:txBody>
        </p:sp>
        <p:sp>
          <p:nvSpPr>
            <p:cNvPr id="5008" name="Google Shape;5008;p88"/>
            <p:cNvSpPr/>
            <p:nvPr/>
          </p:nvSpPr>
          <p:spPr>
            <a:xfrm>
              <a:off x="4887" y="3111"/>
              <a:ext cx="253" cy="119"/>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09" name="Google Shape;5009;p88"/>
            <p:cNvSpPr txBox="1"/>
            <p:nvPr/>
          </p:nvSpPr>
          <p:spPr>
            <a:xfrm>
              <a:off x="4610" y="3082"/>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0 1 2 </a:t>
              </a:r>
              <a:r>
                <a:rPr lang="en-US" sz="1200">
                  <a:solidFill>
                    <a:schemeClr val="lt1"/>
                  </a:solidFill>
                  <a:latin typeface="Arial"/>
                  <a:ea typeface="Arial"/>
                  <a:cs typeface="Arial"/>
                  <a:sym typeface="Arial"/>
                </a:rPr>
                <a:t>3 0 1</a:t>
              </a:r>
              <a:r>
                <a:rPr lang="en-US" sz="1200">
                  <a:solidFill>
                    <a:schemeClr val="dk1"/>
                  </a:solidFill>
                  <a:latin typeface="Arial"/>
                  <a:ea typeface="Arial"/>
                  <a:cs typeface="Arial"/>
                  <a:sym typeface="Arial"/>
                </a:rPr>
                <a:t> 2</a:t>
              </a:r>
              <a:endParaRPr/>
            </a:p>
          </p:txBody>
        </p:sp>
        <p:cxnSp>
          <p:nvCxnSpPr>
            <p:cNvPr id="5010" name="Google Shape;5010;p88"/>
            <p:cNvCxnSpPr/>
            <p:nvPr/>
          </p:nvCxnSpPr>
          <p:spPr>
            <a:xfrm flipH="1">
              <a:off x="3744" y="2826"/>
              <a:ext cx="822" cy="344"/>
            </a:xfrm>
            <a:prstGeom prst="straightConnector1">
              <a:avLst/>
            </a:prstGeom>
            <a:noFill/>
            <a:ln cap="flat" cmpd="sng" w="19050">
              <a:solidFill>
                <a:srgbClr val="008000"/>
              </a:solidFill>
              <a:prstDash val="solid"/>
              <a:round/>
              <a:headEnd len="med" w="med" type="none"/>
              <a:tailEnd len="med" w="med" type="triangle"/>
            </a:ln>
          </p:spPr>
        </p:cxnSp>
        <p:cxnSp>
          <p:nvCxnSpPr>
            <p:cNvPr id="5011" name="Google Shape;5011;p88"/>
            <p:cNvCxnSpPr/>
            <p:nvPr/>
          </p:nvCxnSpPr>
          <p:spPr>
            <a:xfrm flipH="1">
              <a:off x="3763" y="2992"/>
              <a:ext cx="822" cy="344"/>
            </a:xfrm>
            <a:prstGeom prst="straightConnector1">
              <a:avLst/>
            </a:prstGeom>
            <a:noFill/>
            <a:ln cap="flat" cmpd="sng" w="19050">
              <a:solidFill>
                <a:srgbClr val="008000"/>
              </a:solidFill>
              <a:prstDash val="solid"/>
              <a:round/>
              <a:headEnd len="med" w="med" type="none"/>
              <a:tailEnd len="med" w="med" type="triangle"/>
            </a:ln>
          </p:spPr>
        </p:cxnSp>
        <p:cxnSp>
          <p:nvCxnSpPr>
            <p:cNvPr id="5012" name="Google Shape;5012;p88"/>
            <p:cNvCxnSpPr/>
            <p:nvPr/>
          </p:nvCxnSpPr>
          <p:spPr>
            <a:xfrm flipH="1">
              <a:off x="3782" y="3158"/>
              <a:ext cx="822" cy="344"/>
            </a:xfrm>
            <a:prstGeom prst="straightConnector1">
              <a:avLst/>
            </a:prstGeom>
            <a:noFill/>
            <a:ln cap="flat" cmpd="sng" w="19050">
              <a:solidFill>
                <a:srgbClr val="008000"/>
              </a:solidFill>
              <a:prstDash val="solid"/>
              <a:round/>
              <a:headEnd len="med" w="med" type="none"/>
              <a:tailEnd len="med" w="med" type="triangle"/>
            </a:ln>
          </p:spPr>
        </p:cxnSp>
        <p:sp>
          <p:nvSpPr>
            <p:cNvPr id="5013" name="Google Shape;5013;p88"/>
            <p:cNvSpPr txBox="1"/>
            <p:nvPr/>
          </p:nvSpPr>
          <p:spPr>
            <a:xfrm>
              <a:off x="3628" y="3048"/>
              <a:ext cx="204"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Noto Sans Symbols"/>
                <a:buNone/>
              </a:pPr>
              <a:r>
                <a:rPr b="1" lang="en-US" sz="1600">
                  <a:solidFill>
                    <a:srgbClr val="FF0000"/>
                  </a:solidFill>
                  <a:latin typeface="Tahoma"/>
                  <a:ea typeface="Tahoma"/>
                  <a:cs typeface="Tahoma"/>
                  <a:sym typeface="Tahoma"/>
                </a:rPr>
                <a:t>X</a:t>
              </a:r>
              <a:endParaRPr/>
            </a:p>
          </p:txBody>
        </p:sp>
        <p:sp>
          <p:nvSpPr>
            <p:cNvPr id="5014" name="Google Shape;5014;p88"/>
            <p:cNvSpPr txBox="1"/>
            <p:nvPr/>
          </p:nvSpPr>
          <p:spPr>
            <a:xfrm>
              <a:off x="3640" y="3228"/>
              <a:ext cx="204"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Noto Sans Symbols"/>
                <a:buNone/>
              </a:pPr>
              <a:r>
                <a:rPr b="1" lang="en-US" sz="1600">
                  <a:solidFill>
                    <a:srgbClr val="FF0000"/>
                  </a:solidFill>
                  <a:latin typeface="Tahoma"/>
                  <a:ea typeface="Tahoma"/>
                  <a:cs typeface="Tahoma"/>
                  <a:sym typeface="Tahoma"/>
                </a:rPr>
                <a:t>X</a:t>
              </a:r>
              <a:endParaRPr/>
            </a:p>
          </p:txBody>
        </p:sp>
        <p:sp>
          <p:nvSpPr>
            <p:cNvPr id="5015" name="Google Shape;5015;p88"/>
            <p:cNvSpPr txBox="1"/>
            <p:nvPr/>
          </p:nvSpPr>
          <p:spPr>
            <a:xfrm>
              <a:off x="3659" y="3387"/>
              <a:ext cx="204"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Noto Sans Symbols"/>
                <a:buNone/>
              </a:pPr>
              <a:r>
                <a:rPr b="1" lang="en-US" sz="1600">
                  <a:solidFill>
                    <a:srgbClr val="FF0000"/>
                  </a:solidFill>
                  <a:latin typeface="Tahoma"/>
                  <a:ea typeface="Tahoma"/>
                  <a:cs typeface="Tahoma"/>
                  <a:sym typeface="Tahoma"/>
                </a:rPr>
                <a:t>X</a:t>
              </a:r>
              <a:endParaRPr/>
            </a:p>
          </p:txBody>
        </p:sp>
        <p:sp>
          <p:nvSpPr>
            <p:cNvPr id="5016" name="Google Shape;5016;p88"/>
            <p:cNvSpPr txBox="1"/>
            <p:nvPr/>
          </p:nvSpPr>
          <p:spPr>
            <a:xfrm>
              <a:off x="4578" y="3650"/>
              <a:ext cx="912"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Noto Sans Symbols"/>
                <a:buNone/>
              </a:pPr>
              <a:r>
                <a:rPr i="1" lang="en-US" sz="1200">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Noto Sans Symbols"/>
                <a:buNone/>
              </a:pPr>
              <a:r>
                <a:rPr i="1" lang="en-US" sz="1200">
                  <a:solidFill>
                    <a:srgbClr val="CC0000"/>
                  </a:solidFill>
                  <a:latin typeface="Tahoma"/>
                  <a:ea typeface="Tahoma"/>
                  <a:cs typeface="Tahoma"/>
                  <a:sym typeface="Tahoma"/>
                </a:rPr>
                <a:t>with seq number 0</a:t>
              </a:r>
              <a:endParaRPr/>
            </a:p>
          </p:txBody>
        </p:sp>
        <p:cxnSp>
          <p:nvCxnSpPr>
            <p:cNvPr id="5017" name="Google Shape;5017;p88"/>
            <p:cNvCxnSpPr/>
            <p:nvPr/>
          </p:nvCxnSpPr>
          <p:spPr>
            <a:xfrm rot="10800000">
              <a:off x="5022" y="3269"/>
              <a:ext cx="0" cy="400"/>
            </a:xfrm>
            <a:prstGeom prst="straightConnector1">
              <a:avLst/>
            </a:prstGeom>
            <a:noFill/>
            <a:ln cap="flat" cmpd="sng" w="9525">
              <a:solidFill>
                <a:srgbClr val="CC0000"/>
              </a:solidFill>
              <a:prstDash val="solid"/>
              <a:round/>
              <a:headEnd len="med" w="med" type="none"/>
              <a:tailEnd len="med" w="med" type="triangle"/>
            </a:ln>
          </p:spPr>
        </p:cxnSp>
        <p:sp>
          <p:nvSpPr>
            <p:cNvPr id="5018" name="Google Shape;5018;p88"/>
            <p:cNvSpPr txBox="1"/>
            <p:nvPr/>
          </p:nvSpPr>
          <p:spPr>
            <a:xfrm>
              <a:off x="2796" y="3813"/>
              <a:ext cx="63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(b) oops!</a:t>
              </a:r>
              <a:endParaRPr/>
            </a:p>
          </p:txBody>
        </p:sp>
      </p:grpSp>
      <p:grpSp>
        <p:nvGrpSpPr>
          <p:cNvPr id="5019" name="Google Shape;5019;p88"/>
          <p:cNvGrpSpPr/>
          <p:nvPr/>
        </p:nvGrpSpPr>
        <p:grpSpPr>
          <a:xfrm>
            <a:off x="5973764" y="825501"/>
            <a:ext cx="4294187" cy="2138363"/>
            <a:chOff x="2803" y="520"/>
            <a:chExt cx="2705" cy="1347"/>
          </a:xfrm>
        </p:grpSpPr>
        <p:grpSp>
          <p:nvGrpSpPr>
            <p:cNvPr id="5020" name="Google Shape;5020;p88"/>
            <p:cNvGrpSpPr/>
            <p:nvPr/>
          </p:nvGrpSpPr>
          <p:grpSpPr>
            <a:xfrm>
              <a:off x="2819" y="568"/>
              <a:ext cx="649" cy="173"/>
              <a:chOff x="1895" y="3931"/>
              <a:chExt cx="649" cy="173"/>
            </a:xfrm>
          </p:grpSpPr>
          <p:sp>
            <p:nvSpPr>
              <p:cNvPr id="5021" name="Google Shape;5021;p88"/>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22" name="Google Shape;5022;p88"/>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200"/>
                  <a:buFont typeface="Noto Sans Symbols"/>
                  <a:buNone/>
                </a:pPr>
                <a:r>
                  <a:rPr lang="en-US" sz="1200">
                    <a:solidFill>
                      <a:schemeClr val="lt1"/>
                    </a:solidFill>
                    <a:latin typeface="Arial"/>
                    <a:ea typeface="Arial"/>
                    <a:cs typeface="Arial"/>
                    <a:sym typeface="Arial"/>
                  </a:rPr>
                  <a:t>0 1 2</a:t>
                </a:r>
                <a:r>
                  <a:rPr lang="en-US" sz="1200">
                    <a:solidFill>
                      <a:schemeClr val="dk1"/>
                    </a:solidFill>
                    <a:latin typeface="Arial"/>
                    <a:ea typeface="Arial"/>
                    <a:cs typeface="Arial"/>
                    <a:sym typeface="Arial"/>
                  </a:rPr>
                  <a:t> 3 0 1 2</a:t>
                </a:r>
                <a:endParaRPr/>
              </a:p>
            </p:txBody>
          </p:sp>
        </p:grpSp>
        <p:grpSp>
          <p:nvGrpSpPr>
            <p:cNvPr id="5023" name="Google Shape;5023;p88"/>
            <p:cNvGrpSpPr/>
            <p:nvPr/>
          </p:nvGrpSpPr>
          <p:grpSpPr>
            <a:xfrm>
              <a:off x="2831" y="741"/>
              <a:ext cx="649" cy="173"/>
              <a:chOff x="1895" y="3931"/>
              <a:chExt cx="649" cy="173"/>
            </a:xfrm>
          </p:grpSpPr>
          <p:sp>
            <p:nvSpPr>
              <p:cNvPr id="5024" name="Google Shape;5024;p88"/>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25" name="Google Shape;5025;p88"/>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200"/>
                  <a:buFont typeface="Noto Sans Symbols"/>
                  <a:buNone/>
                </a:pPr>
                <a:r>
                  <a:rPr lang="en-US" sz="1200">
                    <a:solidFill>
                      <a:schemeClr val="lt1"/>
                    </a:solidFill>
                    <a:latin typeface="Arial"/>
                    <a:ea typeface="Arial"/>
                    <a:cs typeface="Arial"/>
                    <a:sym typeface="Arial"/>
                  </a:rPr>
                  <a:t>0 1 2</a:t>
                </a:r>
                <a:r>
                  <a:rPr lang="en-US" sz="1200">
                    <a:solidFill>
                      <a:schemeClr val="dk1"/>
                    </a:solidFill>
                    <a:latin typeface="Arial"/>
                    <a:ea typeface="Arial"/>
                    <a:cs typeface="Arial"/>
                    <a:sym typeface="Arial"/>
                  </a:rPr>
                  <a:t> 3 0 1 2</a:t>
                </a:r>
                <a:endParaRPr/>
              </a:p>
            </p:txBody>
          </p:sp>
        </p:grpSp>
        <p:grpSp>
          <p:nvGrpSpPr>
            <p:cNvPr id="5026" name="Google Shape;5026;p88"/>
            <p:cNvGrpSpPr/>
            <p:nvPr/>
          </p:nvGrpSpPr>
          <p:grpSpPr>
            <a:xfrm>
              <a:off x="2836" y="907"/>
              <a:ext cx="649" cy="173"/>
              <a:chOff x="1895" y="3931"/>
              <a:chExt cx="649" cy="173"/>
            </a:xfrm>
          </p:grpSpPr>
          <p:sp>
            <p:nvSpPr>
              <p:cNvPr id="5027" name="Google Shape;5027;p88"/>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28" name="Google Shape;5028;p88"/>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200"/>
                  <a:buFont typeface="Noto Sans Symbols"/>
                  <a:buNone/>
                </a:pPr>
                <a:r>
                  <a:rPr lang="en-US" sz="1200">
                    <a:solidFill>
                      <a:schemeClr val="lt1"/>
                    </a:solidFill>
                    <a:latin typeface="Arial"/>
                    <a:ea typeface="Arial"/>
                    <a:cs typeface="Arial"/>
                    <a:sym typeface="Arial"/>
                  </a:rPr>
                  <a:t>0 1 2</a:t>
                </a:r>
                <a:r>
                  <a:rPr lang="en-US" sz="1200">
                    <a:solidFill>
                      <a:schemeClr val="dk1"/>
                    </a:solidFill>
                    <a:latin typeface="Arial"/>
                    <a:ea typeface="Arial"/>
                    <a:cs typeface="Arial"/>
                    <a:sym typeface="Arial"/>
                  </a:rPr>
                  <a:t> 3 0 1 2</a:t>
                </a:r>
                <a:endParaRPr/>
              </a:p>
            </p:txBody>
          </p:sp>
        </p:grpSp>
        <p:cxnSp>
          <p:nvCxnSpPr>
            <p:cNvPr id="5029" name="Google Shape;5029;p88"/>
            <p:cNvCxnSpPr/>
            <p:nvPr/>
          </p:nvCxnSpPr>
          <p:spPr>
            <a:xfrm>
              <a:off x="3460" y="655"/>
              <a:ext cx="1151" cy="150"/>
            </a:xfrm>
            <a:prstGeom prst="straightConnector1">
              <a:avLst/>
            </a:prstGeom>
            <a:noFill/>
            <a:ln cap="flat" cmpd="sng" w="19050">
              <a:solidFill>
                <a:srgbClr val="000099"/>
              </a:solidFill>
              <a:prstDash val="solid"/>
              <a:round/>
              <a:headEnd len="med" w="med" type="none"/>
              <a:tailEnd len="med" w="med" type="triangle"/>
            </a:ln>
          </p:spPr>
        </p:cxnSp>
        <p:cxnSp>
          <p:nvCxnSpPr>
            <p:cNvPr id="5030" name="Google Shape;5030;p88"/>
            <p:cNvCxnSpPr/>
            <p:nvPr/>
          </p:nvCxnSpPr>
          <p:spPr>
            <a:xfrm>
              <a:off x="3479" y="835"/>
              <a:ext cx="1139" cy="144"/>
            </a:xfrm>
            <a:prstGeom prst="straightConnector1">
              <a:avLst/>
            </a:prstGeom>
            <a:noFill/>
            <a:ln cap="flat" cmpd="sng" w="19050">
              <a:solidFill>
                <a:srgbClr val="000099"/>
              </a:solidFill>
              <a:prstDash val="solid"/>
              <a:round/>
              <a:headEnd len="med" w="med" type="none"/>
              <a:tailEnd len="med" w="med" type="triangle"/>
            </a:ln>
          </p:spPr>
        </p:cxnSp>
        <p:cxnSp>
          <p:nvCxnSpPr>
            <p:cNvPr id="5031" name="Google Shape;5031;p88"/>
            <p:cNvCxnSpPr/>
            <p:nvPr/>
          </p:nvCxnSpPr>
          <p:spPr>
            <a:xfrm>
              <a:off x="3498" y="1015"/>
              <a:ext cx="1124" cy="132"/>
            </a:xfrm>
            <a:prstGeom prst="straightConnector1">
              <a:avLst/>
            </a:prstGeom>
            <a:noFill/>
            <a:ln cap="flat" cmpd="sng" w="19050">
              <a:solidFill>
                <a:srgbClr val="000099"/>
              </a:solidFill>
              <a:prstDash val="solid"/>
              <a:round/>
              <a:headEnd len="med" w="med" type="none"/>
              <a:tailEnd len="med" w="med" type="triangle"/>
            </a:ln>
          </p:spPr>
        </p:cxnSp>
        <p:sp>
          <p:nvSpPr>
            <p:cNvPr id="5032" name="Google Shape;5032;p88"/>
            <p:cNvSpPr txBox="1"/>
            <p:nvPr/>
          </p:nvSpPr>
          <p:spPr>
            <a:xfrm>
              <a:off x="3489" y="520"/>
              <a:ext cx="332"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pkt0</a:t>
              </a:r>
              <a:endParaRPr/>
            </a:p>
          </p:txBody>
        </p:sp>
        <p:sp>
          <p:nvSpPr>
            <p:cNvPr id="5033" name="Google Shape;5033;p88"/>
            <p:cNvSpPr txBox="1"/>
            <p:nvPr/>
          </p:nvSpPr>
          <p:spPr>
            <a:xfrm>
              <a:off x="3529" y="700"/>
              <a:ext cx="332"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pkt1</a:t>
              </a:r>
              <a:endParaRPr/>
            </a:p>
          </p:txBody>
        </p:sp>
        <p:sp>
          <p:nvSpPr>
            <p:cNvPr id="5034" name="Google Shape;5034;p88"/>
            <p:cNvSpPr txBox="1"/>
            <p:nvPr/>
          </p:nvSpPr>
          <p:spPr>
            <a:xfrm>
              <a:off x="3527" y="880"/>
              <a:ext cx="332"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pkt2</a:t>
              </a:r>
              <a:endParaRPr/>
            </a:p>
          </p:txBody>
        </p:sp>
        <p:sp>
          <p:nvSpPr>
            <p:cNvPr id="5035" name="Google Shape;5035;p88"/>
            <p:cNvSpPr/>
            <p:nvPr/>
          </p:nvSpPr>
          <p:spPr>
            <a:xfrm>
              <a:off x="3035" y="1394"/>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36" name="Google Shape;5036;p88"/>
            <p:cNvSpPr txBox="1"/>
            <p:nvPr/>
          </p:nvSpPr>
          <p:spPr>
            <a:xfrm>
              <a:off x="2838" y="1365"/>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0 1</a:t>
              </a:r>
              <a:r>
                <a:rPr lang="en-US" sz="1200">
                  <a:solidFill>
                    <a:schemeClr val="lt1"/>
                  </a:solidFill>
                  <a:latin typeface="Arial"/>
                  <a:ea typeface="Arial"/>
                  <a:cs typeface="Arial"/>
                  <a:sym typeface="Arial"/>
                </a:rPr>
                <a:t> 2</a:t>
              </a:r>
              <a:r>
                <a:rPr lang="en-US" sz="1200">
                  <a:solidFill>
                    <a:schemeClr val="dk1"/>
                  </a:solidFill>
                  <a:latin typeface="Arial"/>
                  <a:ea typeface="Arial"/>
                  <a:cs typeface="Arial"/>
                  <a:sym typeface="Arial"/>
                </a:rPr>
                <a:t> </a:t>
              </a:r>
              <a:r>
                <a:rPr lang="en-US" sz="1200">
                  <a:solidFill>
                    <a:schemeClr val="lt1"/>
                  </a:solidFill>
                  <a:latin typeface="Arial"/>
                  <a:ea typeface="Arial"/>
                  <a:cs typeface="Arial"/>
                  <a:sym typeface="Arial"/>
                </a:rPr>
                <a:t>3 0</a:t>
              </a:r>
              <a:r>
                <a:rPr lang="en-US" sz="1200">
                  <a:solidFill>
                    <a:schemeClr val="dk1"/>
                  </a:solidFill>
                  <a:latin typeface="Arial"/>
                  <a:ea typeface="Arial"/>
                  <a:cs typeface="Arial"/>
                  <a:sym typeface="Arial"/>
                </a:rPr>
                <a:t> 1 2</a:t>
              </a:r>
              <a:endParaRPr/>
            </a:p>
          </p:txBody>
        </p:sp>
        <p:cxnSp>
          <p:nvCxnSpPr>
            <p:cNvPr id="5037" name="Google Shape;5037;p88"/>
            <p:cNvCxnSpPr/>
            <p:nvPr/>
          </p:nvCxnSpPr>
          <p:spPr>
            <a:xfrm>
              <a:off x="3480" y="1473"/>
              <a:ext cx="1124" cy="141"/>
            </a:xfrm>
            <a:prstGeom prst="straightConnector1">
              <a:avLst/>
            </a:prstGeom>
            <a:noFill/>
            <a:ln cap="flat" cmpd="sng" w="19050">
              <a:solidFill>
                <a:srgbClr val="000099"/>
              </a:solidFill>
              <a:prstDash val="solid"/>
              <a:round/>
              <a:headEnd len="med" w="med" type="none"/>
              <a:tailEnd len="med" w="med" type="triangle"/>
            </a:ln>
          </p:spPr>
        </p:cxnSp>
        <p:sp>
          <p:nvSpPr>
            <p:cNvPr id="5038" name="Google Shape;5038;p88"/>
            <p:cNvSpPr txBox="1"/>
            <p:nvPr/>
          </p:nvSpPr>
          <p:spPr>
            <a:xfrm>
              <a:off x="3545" y="1478"/>
              <a:ext cx="332"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pkt0</a:t>
              </a:r>
              <a:endParaRPr/>
            </a:p>
          </p:txBody>
        </p:sp>
        <p:sp>
          <p:nvSpPr>
            <p:cNvPr id="5039" name="Google Shape;5039;p88"/>
            <p:cNvSpPr/>
            <p:nvPr/>
          </p:nvSpPr>
          <p:spPr>
            <a:xfrm>
              <a:off x="4740" y="758"/>
              <a:ext cx="253" cy="119"/>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40" name="Google Shape;5040;p88"/>
            <p:cNvSpPr txBox="1"/>
            <p:nvPr/>
          </p:nvSpPr>
          <p:spPr>
            <a:xfrm>
              <a:off x="4621" y="727"/>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0</a:t>
              </a:r>
              <a:r>
                <a:rPr lang="en-US" sz="1200">
                  <a:solidFill>
                    <a:schemeClr val="lt1"/>
                  </a:solidFill>
                  <a:latin typeface="Arial"/>
                  <a:ea typeface="Arial"/>
                  <a:cs typeface="Arial"/>
                  <a:sym typeface="Arial"/>
                </a:rPr>
                <a:t> 1 2 3</a:t>
              </a:r>
              <a:r>
                <a:rPr lang="en-US" sz="1200">
                  <a:solidFill>
                    <a:schemeClr val="dk1"/>
                  </a:solidFill>
                  <a:latin typeface="Arial"/>
                  <a:ea typeface="Arial"/>
                  <a:cs typeface="Arial"/>
                  <a:sym typeface="Arial"/>
                </a:rPr>
                <a:t> 0 1 2</a:t>
              </a:r>
              <a:endParaRPr/>
            </a:p>
          </p:txBody>
        </p:sp>
        <p:sp>
          <p:nvSpPr>
            <p:cNvPr id="5041" name="Google Shape;5041;p88"/>
            <p:cNvSpPr/>
            <p:nvPr/>
          </p:nvSpPr>
          <p:spPr>
            <a:xfrm>
              <a:off x="4816" y="929"/>
              <a:ext cx="253" cy="119"/>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42" name="Google Shape;5042;p88"/>
            <p:cNvSpPr txBox="1"/>
            <p:nvPr/>
          </p:nvSpPr>
          <p:spPr>
            <a:xfrm>
              <a:off x="4619" y="900"/>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0 1</a:t>
              </a:r>
              <a:r>
                <a:rPr lang="en-US" sz="1200">
                  <a:solidFill>
                    <a:schemeClr val="lt1"/>
                  </a:solidFill>
                  <a:latin typeface="Arial"/>
                  <a:ea typeface="Arial"/>
                  <a:cs typeface="Arial"/>
                  <a:sym typeface="Arial"/>
                </a:rPr>
                <a:t> 2 3 0</a:t>
              </a:r>
              <a:r>
                <a:rPr lang="en-US" sz="1200">
                  <a:solidFill>
                    <a:schemeClr val="dk1"/>
                  </a:solidFill>
                  <a:latin typeface="Arial"/>
                  <a:ea typeface="Arial"/>
                  <a:cs typeface="Arial"/>
                  <a:sym typeface="Arial"/>
                </a:rPr>
                <a:t> 1 2</a:t>
              </a:r>
              <a:endParaRPr/>
            </a:p>
          </p:txBody>
        </p:sp>
        <p:sp>
          <p:nvSpPr>
            <p:cNvPr id="5043" name="Google Shape;5043;p88"/>
            <p:cNvSpPr/>
            <p:nvPr/>
          </p:nvSpPr>
          <p:spPr>
            <a:xfrm>
              <a:off x="4898" y="1095"/>
              <a:ext cx="253" cy="119"/>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44" name="Google Shape;5044;p88"/>
            <p:cNvSpPr txBox="1"/>
            <p:nvPr/>
          </p:nvSpPr>
          <p:spPr>
            <a:xfrm>
              <a:off x="4621" y="1066"/>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0 1 2 </a:t>
              </a:r>
              <a:r>
                <a:rPr lang="en-US" sz="1200">
                  <a:solidFill>
                    <a:schemeClr val="lt1"/>
                  </a:solidFill>
                  <a:latin typeface="Arial"/>
                  <a:ea typeface="Arial"/>
                  <a:cs typeface="Arial"/>
                  <a:sym typeface="Arial"/>
                </a:rPr>
                <a:t>3 0 1</a:t>
              </a:r>
              <a:r>
                <a:rPr lang="en-US" sz="1200">
                  <a:solidFill>
                    <a:schemeClr val="dk1"/>
                  </a:solidFill>
                  <a:latin typeface="Arial"/>
                  <a:ea typeface="Arial"/>
                  <a:cs typeface="Arial"/>
                  <a:sym typeface="Arial"/>
                </a:rPr>
                <a:t> 2</a:t>
              </a:r>
              <a:endParaRPr/>
            </a:p>
          </p:txBody>
        </p:sp>
        <p:cxnSp>
          <p:nvCxnSpPr>
            <p:cNvPr id="5045" name="Google Shape;5045;p88"/>
            <p:cNvCxnSpPr/>
            <p:nvPr/>
          </p:nvCxnSpPr>
          <p:spPr>
            <a:xfrm flipH="1">
              <a:off x="3453" y="810"/>
              <a:ext cx="1124" cy="463"/>
            </a:xfrm>
            <a:prstGeom prst="straightConnector1">
              <a:avLst/>
            </a:prstGeom>
            <a:noFill/>
            <a:ln cap="flat" cmpd="sng" w="19050">
              <a:solidFill>
                <a:srgbClr val="008000"/>
              </a:solidFill>
              <a:prstDash val="solid"/>
              <a:round/>
              <a:headEnd len="med" w="med" type="none"/>
              <a:tailEnd len="med" w="med" type="triangle"/>
            </a:ln>
          </p:spPr>
        </p:cxnSp>
        <p:cxnSp>
          <p:nvCxnSpPr>
            <p:cNvPr id="5046" name="Google Shape;5046;p88"/>
            <p:cNvCxnSpPr/>
            <p:nvPr/>
          </p:nvCxnSpPr>
          <p:spPr>
            <a:xfrm flipH="1">
              <a:off x="3465" y="976"/>
              <a:ext cx="1131" cy="478"/>
            </a:xfrm>
            <a:prstGeom prst="straightConnector1">
              <a:avLst/>
            </a:prstGeom>
            <a:noFill/>
            <a:ln cap="flat" cmpd="sng" w="19050">
              <a:solidFill>
                <a:srgbClr val="008000"/>
              </a:solidFill>
              <a:prstDash val="solid"/>
              <a:round/>
              <a:headEnd len="med" w="med" type="none"/>
              <a:tailEnd len="med" w="med" type="triangle"/>
            </a:ln>
          </p:spPr>
        </p:cxnSp>
        <p:sp>
          <p:nvSpPr>
            <p:cNvPr id="5047" name="Google Shape;5047;p88"/>
            <p:cNvSpPr txBox="1"/>
            <p:nvPr/>
          </p:nvSpPr>
          <p:spPr>
            <a:xfrm>
              <a:off x="3780" y="1245"/>
              <a:ext cx="204"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Noto Sans Symbols"/>
                <a:buNone/>
              </a:pPr>
              <a:r>
                <a:rPr b="1" lang="en-US" sz="1600">
                  <a:solidFill>
                    <a:srgbClr val="FF0000"/>
                  </a:solidFill>
                  <a:latin typeface="Tahoma"/>
                  <a:ea typeface="Tahoma"/>
                  <a:cs typeface="Tahoma"/>
                  <a:sym typeface="Tahoma"/>
                </a:rPr>
                <a:t>X</a:t>
              </a:r>
              <a:endParaRPr/>
            </a:p>
          </p:txBody>
        </p:sp>
        <p:sp>
          <p:nvSpPr>
            <p:cNvPr id="5048" name="Google Shape;5048;p88"/>
            <p:cNvSpPr txBox="1"/>
            <p:nvPr/>
          </p:nvSpPr>
          <p:spPr>
            <a:xfrm>
              <a:off x="4596" y="1501"/>
              <a:ext cx="912"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Noto Sans Symbols"/>
                <a:buNone/>
              </a:pPr>
              <a:r>
                <a:rPr i="1" lang="en-US" sz="1200">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Noto Sans Symbols"/>
                <a:buNone/>
              </a:pPr>
              <a:r>
                <a:rPr i="1" lang="en-US" sz="1200">
                  <a:solidFill>
                    <a:srgbClr val="CC0000"/>
                  </a:solidFill>
                  <a:latin typeface="Tahoma"/>
                  <a:ea typeface="Tahoma"/>
                  <a:cs typeface="Tahoma"/>
                  <a:sym typeface="Tahoma"/>
                </a:rPr>
                <a:t>with seq number 0</a:t>
              </a:r>
              <a:endParaRPr/>
            </a:p>
          </p:txBody>
        </p:sp>
        <p:cxnSp>
          <p:nvCxnSpPr>
            <p:cNvPr id="5049" name="Google Shape;5049;p88"/>
            <p:cNvCxnSpPr/>
            <p:nvPr/>
          </p:nvCxnSpPr>
          <p:spPr>
            <a:xfrm rot="10800000">
              <a:off x="5033" y="1253"/>
              <a:ext cx="0" cy="281"/>
            </a:xfrm>
            <a:prstGeom prst="straightConnector1">
              <a:avLst/>
            </a:prstGeom>
            <a:noFill/>
            <a:ln cap="flat" cmpd="sng" w="9525">
              <a:solidFill>
                <a:srgbClr val="CC0000"/>
              </a:solidFill>
              <a:prstDash val="solid"/>
              <a:round/>
              <a:headEnd len="med" w="med" type="none"/>
              <a:tailEnd len="med" w="med" type="triangle"/>
            </a:ln>
          </p:spPr>
        </p:cxnSp>
        <p:cxnSp>
          <p:nvCxnSpPr>
            <p:cNvPr id="5050" name="Google Shape;5050;p88"/>
            <p:cNvCxnSpPr/>
            <p:nvPr/>
          </p:nvCxnSpPr>
          <p:spPr>
            <a:xfrm>
              <a:off x="3475" y="1290"/>
              <a:ext cx="372" cy="46"/>
            </a:xfrm>
            <a:prstGeom prst="straightConnector1">
              <a:avLst/>
            </a:prstGeom>
            <a:noFill/>
            <a:ln cap="flat" cmpd="sng" w="19050">
              <a:solidFill>
                <a:srgbClr val="000099"/>
              </a:solidFill>
              <a:prstDash val="solid"/>
              <a:round/>
              <a:headEnd len="med" w="med" type="none"/>
              <a:tailEnd len="med" w="med" type="triangle"/>
            </a:ln>
          </p:spPr>
        </p:cxnSp>
        <p:grpSp>
          <p:nvGrpSpPr>
            <p:cNvPr id="5051" name="Google Shape;5051;p88"/>
            <p:cNvGrpSpPr/>
            <p:nvPr/>
          </p:nvGrpSpPr>
          <p:grpSpPr>
            <a:xfrm>
              <a:off x="2838" y="1185"/>
              <a:ext cx="649" cy="173"/>
              <a:chOff x="2667" y="3750"/>
              <a:chExt cx="649" cy="173"/>
            </a:xfrm>
          </p:grpSpPr>
          <p:sp>
            <p:nvSpPr>
              <p:cNvPr id="5052" name="Google Shape;5052;p88"/>
              <p:cNvSpPr/>
              <p:nvPr/>
            </p:nvSpPr>
            <p:spPr>
              <a:xfrm>
                <a:off x="2786" y="3779"/>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53" name="Google Shape;5053;p88"/>
              <p:cNvSpPr txBox="1"/>
              <p:nvPr/>
            </p:nvSpPr>
            <p:spPr>
              <a:xfrm>
                <a:off x="2667" y="3750"/>
                <a:ext cx="649"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0 </a:t>
                </a:r>
                <a:r>
                  <a:rPr lang="en-US" sz="1200">
                    <a:solidFill>
                      <a:schemeClr val="lt1"/>
                    </a:solidFill>
                    <a:latin typeface="Arial"/>
                    <a:ea typeface="Arial"/>
                    <a:cs typeface="Arial"/>
                    <a:sym typeface="Arial"/>
                  </a:rPr>
                  <a:t>1 2</a:t>
                </a:r>
                <a:r>
                  <a:rPr lang="en-US" sz="1200">
                    <a:solidFill>
                      <a:schemeClr val="dk1"/>
                    </a:solidFill>
                    <a:latin typeface="Arial"/>
                    <a:ea typeface="Arial"/>
                    <a:cs typeface="Arial"/>
                    <a:sym typeface="Arial"/>
                  </a:rPr>
                  <a:t> </a:t>
                </a:r>
                <a:r>
                  <a:rPr lang="en-US" sz="1200">
                    <a:solidFill>
                      <a:schemeClr val="lt1"/>
                    </a:solidFill>
                    <a:latin typeface="Arial"/>
                    <a:ea typeface="Arial"/>
                    <a:cs typeface="Arial"/>
                    <a:sym typeface="Arial"/>
                  </a:rPr>
                  <a:t>3 </a:t>
                </a:r>
                <a:r>
                  <a:rPr lang="en-US" sz="1200">
                    <a:solidFill>
                      <a:schemeClr val="dk1"/>
                    </a:solidFill>
                    <a:latin typeface="Arial"/>
                    <a:ea typeface="Arial"/>
                    <a:cs typeface="Arial"/>
                    <a:sym typeface="Arial"/>
                  </a:rPr>
                  <a:t>0 1 2</a:t>
                </a:r>
                <a:endParaRPr/>
              </a:p>
            </p:txBody>
          </p:sp>
        </p:grpSp>
        <p:sp>
          <p:nvSpPr>
            <p:cNvPr id="5054" name="Google Shape;5054;p88"/>
            <p:cNvSpPr txBox="1"/>
            <p:nvPr/>
          </p:nvSpPr>
          <p:spPr>
            <a:xfrm>
              <a:off x="3547" y="1154"/>
              <a:ext cx="332"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pkt3</a:t>
              </a:r>
              <a:endParaRPr/>
            </a:p>
          </p:txBody>
        </p:sp>
        <p:sp>
          <p:nvSpPr>
            <p:cNvPr id="5055" name="Google Shape;5055;p88"/>
            <p:cNvSpPr txBox="1"/>
            <p:nvPr/>
          </p:nvSpPr>
          <p:spPr>
            <a:xfrm>
              <a:off x="2803" y="1655"/>
              <a:ext cx="964"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(a) no problem</a:t>
              </a:r>
              <a:endParaRPr/>
            </a:p>
          </p:txBody>
        </p:sp>
      </p:grpSp>
      <p:grpSp>
        <p:nvGrpSpPr>
          <p:cNvPr id="5056" name="Google Shape;5056;p88"/>
          <p:cNvGrpSpPr/>
          <p:nvPr/>
        </p:nvGrpSpPr>
        <p:grpSpPr>
          <a:xfrm>
            <a:off x="7958139" y="890589"/>
            <a:ext cx="517525" cy="5278437"/>
            <a:chOff x="3821" y="550"/>
            <a:chExt cx="326" cy="3325"/>
          </a:xfrm>
        </p:grpSpPr>
        <p:pic>
          <p:nvPicPr>
            <p:cNvPr descr="curtain" id="5057" name="Google Shape;5057;p88"/>
            <p:cNvPicPr preferRelativeResize="0"/>
            <p:nvPr/>
          </p:nvPicPr>
          <p:blipFill rotWithShape="1">
            <a:blip r:embed="rId3">
              <a:alphaModFix/>
            </a:blip>
            <a:srcRect b="0" l="0" r="0" t="0"/>
            <a:stretch/>
          </p:blipFill>
          <p:spPr>
            <a:xfrm>
              <a:off x="3823" y="550"/>
              <a:ext cx="284" cy="1366"/>
            </a:xfrm>
            <a:prstGeom prst="rect">
              <a:avLst/>
            </a:prstGeom>
            <a:noFill/>
            <a:ln>
              <a:noFill/>
            </a:ln>
          </p:spPr>
        </p:pic>
        <p:pic>
          <p:nvPicPr>
            <p:cNvPr descr="curtain" id="5058" name="Google Shape;5058;p88"/>
            <p:cNvPicPr preferRelativeResize="0"/>
            <p:nvPr/>
          </p:nvPicPr>
          <p:blipFill rotWithShape="1">
            <a:blip r:embed="rId3">
              <a:alphaModFix/>
            </a:blip>
            <a:srcRect b="0" l="0" r="0" t="0"/>
            <a:stretch/>
          </p:blipFill>
          <p:spPr>
            <a:xfrm>
              <a:off x="3821" y="2564"/>
              <a:ext cx="326" cy="1311"/>
            </a:xfrm>
            <a:prstGeom prst="rect">
              <a:avLst/>
            </a:prstGeom>
            <a:noFill/>
            <a:ln>
              <a:noFill/>
            </a:ln>
          </p:spPr>
        </p:pic>
      </p:grpSp>
      <p:sp>
        <p:nvSpPr>
          <p:cNvPr id="5059" name="Google Shape;5059;p88"/>
          <p:cNvSpPr txBox="1"/>
          <p:nvPr/>
        </p:nvSpPr>
        <p:spPr>
          <a:xfrm>
            <a:off x="6219825" y="3049588"/>
            <a:ext cx="3835400" cy="82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i="1" lang="en-US" sz="1600">
                <a:solidFill>
                  <a:schemeClr val="dk1"/>
                </a:solidFill>
                <a:latin typeface="Tahoma"/>
                <a:ea typeface="Tahoma"/>
                <a:cs typeface="Tahoma"/>
                <a:sym typeface="Tahoma"/>
              </a:rPr>
              <a:t>receiver can’t see sender side.</a:t>
            </a:r>
            <a:endParaRPr/>
          </a:p>
          <a:p>
            <a:pPr indent="0" lvl="0" marL="0" marR="0" rtl="0" algn="ctr">
              <a:lnSpc>
                <a:spcPct val="100000"/>
              </a:lnSpc>
              <a:spcBef>
                <a:spcPts val="0"/>
              </a:spcBef>
              <a:spcAft>
                <a:spcPts val="0"/>
              </a:spcAft>
              <a:buClr>
                <a:schemeClr val="dk1"/>
              </a:buClr>
              <a:buSzPts val="1600"/>
              <a:buFont typeface="Noto Sans Symbols"/>
              <a:buNone/>
            </a:pPr>
            <a:r>
              <a:rPr i="1" lang="en-US" sz="1600">
                <a:solidFill>
                  <a:schemeClr val="dk1"/>
                </a:solidFill>
                <a:latin typeface="Tahoma"/>
                <a:ea typeface="Tahoma"/>
                <a:cs typeface="Tahoma"/>
                <a:sym typeface="Tahoma"/>
              </a:rPr>
              <a:t>receiver behavior identical in both cases!</a:t>
            </a:r>
            <a:endParaRPr/>
          </a:p>
          <a:p>
            <a:pPr indent="0" lvl="0" marL="0" marR="0" rtl="0" algn="ctr">
              <a:lnSpc>
                <a:spcPct val="100000"/>
              </a:lnSpc>
              <a:spcBef>
                <a:spcPts val="0"/>
              </a:spcBef>
              <a:spcAft>
                <a:spcPts val="0"/>
              </a:spcAft>
              <a:buClr>
                <a:srgbClr val="CC0000"/>
              </a:buClr>
              <a:buSzPts val="1600"/>
              <a:buFont typeface="Noto Sans Symbols"/>
              <a:buNone/>
            </a:pPr>
            <a:r>
              <a:rPr i="1" lang="en-US" sz="1600">
                <a:solidFill>
                  <a:srgbClr val="CC0000"/>
                </a:solidFill>
                <a:latin typeface="Tahoma"/>
                <a:ea typeface="Tahoma"/>
                <a:cs typeface="Tahoma"/>
                <a:sym typeface="Tahoma"/>
              </a:rPr>
              <a:t>something’s (very) wrong!</a:t>
            </a:r>
            <a:endParaRPr i="1" sz="1600">
              <a:solidFill>
                <a:srgbClr val="CC0000"/>
              </a:solidFill>
              <a:latin typeface="Tahoma"/>
              <a:ea typeface="Tahoma"/>
              <a:cs typeface="Tahoma"/>
              <a:sym typeface="Tahoma"/>
            </a:endParaRPr>
          </a:p>
        </p:txBody>
      </p:sp>
      <p:pic>
        <p:nvPicPr>
          <p:cNvPr descr="underline_base" id="5060" name="Google Shape;5060;p88"/>
          <p:cNvPicPr preferRelativeResize="0"/>
          <p:nvPr/>
        </p:nvPicPr>
        <p:blipFill rotWithShape="1">
          <a:blip r:embed="rId4">
            <a:alphaModFix/>
          </a:blip>
          <a:srcRect b="0" l="0" r="0" t="0"/>
          <a:stretch/>
        </p:blipFill>
        <p:spPr>
          <a:xfrm>
            <a:off x="2155826" y="1157288"/>
            <a:ext cx="3076575" cy="150812"/>
          </a:xfrm>
          <a:prstGeom prst="rect">
            <a:avLst/>
          </a:prstGeom>
          <a:noFill/>
          <a:ln>
            <a:noFill/>
          </a:ln>
        </p:spPr>
      </p:pic>
      <p:sp>
        <p:nvSpPr>
          <p:cNvPr id="5061" name="Google Shape;5061;p88"/>
          <p:cNvSpPr/>
          <p:nvPr/>
        </p:nvSpPr>
        <p:spPr>
          <a:xfrm>
            <a:off x="2070100" y="2732088"/>
            <a:ext cx="3276600" cy="1554162"/>
          </a:xfrm>
          <a:prstGeom prst="rect">
            <a:avLst/>
          </a:prstGeom>
          <a:noFill/>
          <a:ln>
            <a:noFill/>
          </a:ln>
        </p:spPr>
        <p:txBody>
          <a:bodyPr anchorCtr="0" anchor="t" bIns="45700" lIns="91425" spcFirstLastPara="1" rIns="91425" wrap="square" tIns="45700">
            <a:noAutofit/>
          </a:bodyPr>
          <a:lstStyle/>
          <a:p>
            <a:pPr indent="-292100" lvl="0" marL="292100" marR="0" rtl="0" algn="l">
              <a:lnSpc>
                <a:spcPct val="80000"/>
              </a:lnSpc>
              <a:spcBef>
                <a:spcPts val="0"/>
              </a:spcBef>
              <a:spcAft>
                <a:spcPts val="0"/>
              </a:spcAft>
              <a:buClr>
                <a:srgbClr val="000099"/>
              </a:buClr>
              <a:buSzPts val="2400"/>
              <a:buFont typeface="Noto Sans Symbols"/>
              <a:buChar char="▪"/>
            </a:pPr>
            <a:r>
              <a:rPr lang="en-US" sz="2400">
                <a:solidFill>
                  <a:schemeClr val="dk1"/>
                </a:solidFill>
                <a:latin typeface="Gill Sans"/>
                <a:ea typeface="Gill Sans"/>
                <a:cs typeface="Gill Sans"/>
                <a:sym typeface="Gill Sans"/>
              </a:rPr>
              <a:t>receiver sees no difference in two scenarios!</a:t>
            </a:r>
            <a:endParaRPr/>
          </a:p>
          <a:p>
            <a:pPr indent="-292100" lvl="0" marL="292100" marR="0" rtl="0" algn="l">
              <a:lnSpc>
                <a:spcPct val="80000"/>
              </a:lnSpc>
              <a:spcBef>
                <a:spcPts val="480"/>
              </a:spcBef>
              <a:spcAft>
                <a:spcPts val="0"/>
              </a:spcAft>
              <a:buClr>
                <a:srgbClr val="000099"/>
              </a:buClr>
              <a:buSzPts val="2400"/>
              <a:buFont typeface="Noto Sans Symbols"/>
              <a:buChar char="▪"/>
            </a:pPr>
            <a:r>
              <a:rPr lang="en-US" sz="2400">
                <a:solidFill>
                  <a:schemeClr val="dk1"/>
                </a:solidFill>
                <a:latin typeface="Gill Sans"/>
                <a:ea typeface="Gill Sans"/>
                <a:cs typeface="Gill Sans"/>
                <a:sym typeface="Gill Sans"/>
              </a:rPr>
              <a:t>duplicate data accepted as new in (b)</a:t>
            </a:r>
            <a:endParaRPr/>
          </a:p>
          <a:p>
            <a:pPr indent="-342900" lvl="0" marL="342900" marR="0" rtl="0" algn="l">
              <a:lnSpc>
                <a:spcPct val="80000"/>
              </a:lnSpc>
              <a:spcBef>
                <a:spcPts val="480"/>
              </a:spcBef>
              <a:spcAft>
                <a:spcPts val="0"/>
              </a:spcAft>
              <a:buNone/>
            </a:pPr>
            <a:r>
              <a:t/>
            </a:r>
            <a:endParaRPr sz="2400">
              <a:solidFill>
                <a:schemeClr val="dk1"/>
              </a:solidFill>
              <a:latin typeface="Gill Sans"/>
              <a:ea typeface="Gill Sans"/>
              <a:cs typeface="Gill Sans"/>
              <a:sym typeface="Gill Sans"/>
            </a:endParaRPr>
          </a:p>
          <a:p>
            <a:pPr indent="-342900" lvl="0" marL="342900" marR="0" rtl="0" algn="l">
              <a:lnSpc>
                <a:spcPct val="80000"/>
              </a:lnSpc>
              <a:spcBef>
                <a:spcPts val="480"/>
              </a:spcBef>
              <a:spcAft>
                <a:spcPts val="0"/>
              </a:spcAft>
              <a:buNone/>
            </a:pPr>
            <a:r>
              <a:rPr lang="en-US" sz="2400">
                <a:solidFill>
                  <a:srgbClr val="CC0000"/>
                </a:solidFill>
                <a:latin typeface="Gill Sans"/>
                <a:ea typeface="Gill Sans"/>
                <a:cs typeface="Gill Sans"/>
                <a:sym typeface="Gill Sans"/>
              </a:rPr>
              <a:t>Q:</a:t>
            </a:r>
            <a:r>
              <a:rPr lang="en-US" sz="2400">
                <a:solidFill>
                  <a:schemeClr val="dk1"/>
                </a:solidFill>
                <a:latin typeface="Gill Sans"/>
                <a:ea typeface="Gill Sans"/>
                <a:cs typeface="Gill Sans"/>
                <a:sym typeface="Gill Sans"/>
              </a:rPr>
              <a:t> what relationship between seq # size and window size to avoid problem in (b)?</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56"/>
                                        </p:tgtEl>
                                        <p:attrNameLst>
                                          <p:attrName>style.visibility</p:attrName>
                                        </p:attrNameLst>
                                      </p:cBhvr>
                                      <p:to>
                                        <p:strVal val="visible"/>
                                      </p:to>
                                    </p:set>
                                    <p:animEffect filter="fade" transition="in">
                                      <p:cBhvr>
                                        <p:cTn dur="500"/>
                                        <p:tgtEl>
                                          <p:spTgt spid="5056"/>
                                        </p:tgtEl>
                                      </p:cBhvr>
                                    </p:animEffect>
                                  </p:childTnLst>
                                </p:cTn>
                              </p:par>
                              <p:par>
                                <p:cTn fill="hold" nodeType="withEffect" presetClass="entr" presetID="10" presetSubtype="0">
                                  <p:stCondLst>
                                    <p:cond delay="0"/>
                                  </p:stCondLst>
                                  <p:childTnLst>
                                    <p:set>
                                      <p:cBhvr>
                                        <p:cTn dur="1" fill="hold">
                                          <p:stCondLst>
                                            <p:cond delay="0"/>
                                          </p:stCondLst>
                                        </p:cTn>
                                        <p:tgtEl>
                                          <p:spTgt spid="5059"/>
                                        </p:tgtEl>
                                        <p:attrNameLst>
                                          <p:attrName>style.visibility</p:attrName>
                                        </p:attrNameLst>
                                      </p:cBhvr>
                                      <p:to>
                                        <p:strVal val="visible"/>
                                      </p:to>
                                    </p:set>
                                    <p:animEffect filter="fade" transition="in">
                                      <p:cBhvr>
                                        <p:cTn dur="500"/>
                                        <p:tgtEl>
                                          <p:spTgt spid="50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6" name="Shape 5066"/>
        <p:cNvGrpSpPr/>
        <p:nvPr/>
      </p:nvGrpSpPr>
      <p:grpSpPr>
        <a:xfrm>
          <a:off x="0" y="0"/>
          <a:ext cx="0" cy="0"/>
          <a:chOff x="0" y="0"/>
          <a:chExt cx="0" cy="0"/>
        </a:xfrm>
      </p:grpSpPr>
      <p:sp>
        <p:nvSpPr>
          <p:cNvPr id="5067" name="Google Shape;5067;p89"/>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5068" name="Google Shape;5068;p89"/>
          <p:cNvSpPr txBox="1"/>
          <p:nvPr>
            <p:ph idx="2" type="body"/>
          </p:nvPr>
        </p:nvSpPr>
        <p:spPr>
          <a:xfrm>
            <a:off x="798690" y="1183946"/>
            <a:ext cx="6618109" cy="5624267"/>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SzPts val="3200"/>
              <a:buChar char="▪"/>
            </a:pPr>
            <a:r>
              <a:rPr lang="en-US" sz="3200">
                <a:solidFill>
                  <a:srgbClr val="C00000"/>
                </a:solidFill>
              </a:rPr>
              <a:t>Connection-oriented transport: TCP</a:t>
            </a:r>
            <a:endParaRPr/>
          </a:p>
          <a:p>
            <a:pPr indent="-288925" lvl="1" marL="746125" rtl="0" algn="l">
              <a:lnSpc>
                <a:spcPct val="90000"/>
              </a:lnSpc>
              <a:spcBef>
                <a:spcPts val="500"/>
              </a:spcBef>
              <a:spcAft>
                <a:spcPts val="0"/>
              </a:spcAft>
              <a:buSzPts val="2400"/>
              <a:buFont typeface="Arial"/>
              <a:buChar char="•"/>
            </a:pPr>
            <a:r>
              <a:rPr lang="en-US">
                <a:solidFill>
                  <a:srgbClr val="C00000"/>
                </a:solidFill>
              </a:rPr>
              <a:t>segment structure</a:t>
            </a:r>
            <a:endParaRPr/>
          </a:p>
          <a:p>
            <a:pPr indent="-288925" lvl="1" marL="746125" rtl="0" algn="l">
              <a:lnSpc>
                <a:spcPct val="90000"/>
              </a:lnSpc>
              <a:spcBef>
                <a:spcPts val="500"/>
              </a:spcBef>
              <a:spcAft>
                <a:spcPts val="0"/>
              </a:spcAft>
              <a:buSzPts val="2400"/>
              <a:buFont typeface="Arial"/>
              <a:buChar char="•"/>
            </a:pPr>
            <a:r>
              <a:rPr lang="en-US">
                <a:solidFill>
                  <a:srgbClr val="C00000"/>
                </a:solidFill>
              </a:rPr>
              <a:t>reliable data transfer</a:t>
            </a:r>
            <a:endParaRPr/>
          </a:p>
          <a:p>
            <a:pPr indent="-288925" lvl="1" marL="746125" rtl="0" algn="l">
              <a:lnSpc>
                <a:spcPct val="90000"/>
              </a:lnSpc>
              <a:spcBef>
                <a:spcPts val="500"/>
              </a:spcBef>
              <a:spcAft>
                <a:spcPts val="0"/>
              </a:spcAft>
              <a:buSzPts val="2400"/>
              <a:buFont typeface="Arial"/>
              <a:buChar char="•"/>
            </a:pPr>
            <a:r>
              <a:rPr lang="en-US"/>
              <a:t>flow control</a:t>
            </a:r>
            <a:endParaRPr/>
          </a:p>
          <a:p>
            <a:pPr indent="-288925" lvl="1" marL="746125" rtl="0" algn="l">
              <a:lnSpc>
                <a:spcPct val="90000"/>
              </a:lnSpc>
              <a:spcBef>
                <a:spcPts val="500"/>
              </a:spcBef>
              <a:spcAft>
                <a:spcPts val="0"/>
              </a:spcAft>
              <a:buSzPts val="2400"/>
              <a:buFont typeface="Arial"/>
              <a:buChar char="•"/>
            </a:pPr>
            <a:r>
              <a:rPr lang="en-US"/>
              <a:t>connection management</a:t>
            </a:r>
            <a:endParaRPr sz="3200"/>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5069" name="Google Shape;5069;p8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5070" name="Google Shape;5070;p89"/>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5" name="Shape 5075"/>
        <p:cNvGrpSpPr/>
        <p:nvPr/>
      </p:nvGrpSpPr>
      <p:grpSpPr>
        <a:xfrm>
          <a:off x="0" y="0"/>
          <a:ext cx="0" cy="0"/>
          <a:chOff x="0" y="0"/>
          <a:chExt cx="0" cy="0"/>
        </a:xfrm>
      </p:grpSpPr>
      <p:sp>
        <p:nvSpPr>
          <p:cNvPr id="5076" name="Google Shape;5076;p90"/>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3-</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5077" name="Google Shape;5077;p90"/>
          <p:cNvSpPr txBox="1"/>
          <p:nvPr>
            <p:ph type="title"/>
          </p:nvPr>
        </p:nvSpPr>
        <p:spPr>
          <a:xfrm>
            <a:off x="2895600" y="-123825"/>
            <a:ext cx="7772400" cy="11430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2800"/>
              <a:buFont typeface="Arial"/>
              <a:buNone/>
            </a:pPr>
            <a:r>
              <a:rPr lang="en-US" sz="2800">
                <a:solidFill>
                  <a:schemeClr val="lt1"/>
                </a:solidFill>
                <a:latin typeface="Arial"/>
                <a:ea typeface="Arial"/>
                <a:cs typeface="Arial"/>
                <a:sym typeface="Arial"/>
              </a:rPr>
              <a:t>(3.5) Connection-Oriented Transport: </a:t>
            </a:r>
            <a:br>
              <a:rPr lang="en-US" sz="2800">
                <a:solidFill>
                  <a:schemeClr val="lt1"/>
                </a:solidFill>
                <a:latin typeface="Arial"/>
                <a:ea typeface="Arial"/>
                <a:cs typeface="Arial"/>
                <a:sym typeface="Arial"/>
              </a:rPr>
            </a:br>
            <a:r>
              <a:rPr lang="en-US" sz="2800">
                <a:solidFill>
                  <a:schemeClr val="lt1"/>
                </a:solidFill>
                <a:latin typeface="Arial"/>
                <a:ea typeface="Arial"/>
                <a:cs typeface="Arial"/>
                <a:sym typeface="Arial"/>
              </a:rPr>
              <a:t>P - Overview</a:t>
            </a:r>
            <a:endParaRPr sz="2800">
              <a:solidFill>
                <a:schemeClr val="lt1"/>
              </a:solidFill>
            </a:endParaRPr>
          </a:p>
        </p:txBody>
      </p:sp>
      <p:sp>
        <p:nvSpPr>
          <p:cNvPr id="5078" name="Google Shape;5078;p90"/>
          <p:cNvSpPr txBox="1"/>
          <p:nvPr>
            <p:ph idx="1" type="body"/>
          </p:nvPr>
        </p:nvSpPr>
        <p:spPr>
          <a:xfrm>
            <a:off x="1944689" y="1214439"/>
            <a:ext cx="8283575" cy="4833937"/>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TCP = Transmission Control Protocol</a:t>
            </a:r>
            <a:endParaRPr/>
          </a:p>
          <a:p>
            <a:pPr indent="-222250" lvl="0" marL="352425" rtl="0" algn="l">
              <a:lnSpc>
                <a:spcPct val="90000"/>
              </a:lnSpc>
              <a:spcBef>
                <a:spcPts val="1000"/>
              </a:spcBef>
              <a:spcAft>
                <a:spcPts val="0"/>
              </a:spcAft>
              <a:buSzPts val="2800"/>
              <a:buChar char="▪"/>
            </a:pPr>
            <a:r>
              <a:rPr lang="en-US"/>
              <a:t>Connection-oriented protocol</a:t>
            </a:r>
            <a:endParaRPr/>
          </a:p>
          <a:p>
            <a:pPr indent="-222250" lvl="0" marL="352425" rtl="0" algn="l">
              <a:lnSpc>
                <a:spcPct val="90000"/>
              </a:lnSpc>
              <a:spcBef>
                <a:spcPts val="1000"/>
              </a:spcBef>
              <a:spcAft>
                <a:spcPts val="0"/>
              </a:spcAft>
              <a:buSzPts val="2800"/>
              <a:buChar char="▪"/>
            </a:pPr>
            <a:r>
              <a:rPr lang="en-US"/>
              <a:t>Provides a reliable unicast end-to-end byte stream over an unreliable internetwork (i.e. IP internetwork) </a:t>
            </a:r>
            <a:endParaRPr/>
          </a:p>
        </p:txBody>
      </p:sp>
      <p:sp>
        <p:nvSpPr>
          <p:cNvPr id="5079" name="Google Shape;5079;p90"/>
          <p:cNvSpPr/>
          <p:nvPr/>
        </p:nvSpPr>
        <p:spPr>
          <a:xfrm>
            <a:off x="7154864" y="4259263"/>
            <a:ext cx="1216025" cy="512762"/>
          </a:xfrm>
          <a:prstGeom prst="cube">
            <a:avLst>
              <a:gd fmla="val 25000" name="adj"/>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TCP</a:t>
            </a:r>
            <a:endParaRPr/>
          </a:p>
        </p:txBody>
      </p:sp>
      <p:sp>
        <p:nvSpPr>
          <p:cNvPr id="5080" name="Google Shape;5080;p90"/>
          <p:cNvSpPr/>
          <p:nvPr/>
        </p:nvSpPr>
        <p:spPr>
          <a:xfrm>
            <a:off x="3375951" y="3009420"/>
            <a:ext cx="486136" cy="1162531"/>
          </a:xfrm>
          <a:prstGeom prst="downArrow">
            <a:avLst>
              <a:gd fmla="val 49956" name="adj1"/>
              <a:gd fmla="val 42835" name="adj2"/>
            </a:avLst>
          </a:prstGeom>
          <a:solidFill>
            <a:srgbClr val="FFC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Byte stream</a:t>
            </a:r>
            <a:endParaRPr/>
          </a:p>
        </p:txBody>
      </p:sp>
      <p:sp>
        <p:nvSpPr>
          <p:cNvPr id="5081" name="Google Shape;5081;p90"/>
          <p:cNvSpPr/>
          <p:nvPr/>
        </p:nvSpPr>
        <p:spPr>
          <a:xfrm rot="10800000">
            <a:off x="7533191" y="2999773"/>
            <a:ext cx="486136" cy="1157891"/>
          </a:xfrm>
          <a:prstGeom prst="downArrow">
            <a:avLst>
              <a:gd fmla="val 49956" name="adj1"/>
              <a:gd fmla="val 42835" name="adj2"/>
            </a:avLst>
          </a:prstGeom>
          <a:solidFill>
            <a:srgbClr val="FFC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Byte stream</a:t>
            </a:r>
            <a:endParaRPr/>
          </a:p>
        </p:txBody>
      </p:sp>
      <p:sp>
        <p:nvSpPr>
          <p:cNvPr id="5082" name="Google Shape;5082;p90"/>
          <p:cNvSpPr/>
          <p:nvPr/>
        </p:nvSpPr>
        <p:spPr>
          <a:xfrm>
            <a:off x="3009901" y="4252913"/>
            <a:ext cx="1216025" cy="533400"/>
          </a:xfrm>
          <a:prstGeom prst="cube">
            <a:avLst>
              <a:gd fmla="val 25000" name="adj"/>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TCP</a:t>
            </a:r>
            <a:endParaRPr/>
          </a:p>
        </p:txBody>
      </p:sp>
      <p:grpSp>
        <p:nvGrpSpPr>
          <p:cNvPr id="5083" name="Google Shape;5083;p90"/>
          <p:cNvGrpSpPr/>
          <p:nvPr/>
        </p:nvGrpSpPr>
        <p:grpSpPr>
          <a:xfrm>
            <a:off x="3367088" y="4872039"/>
            <a:ext cx="323850" cy="1076325"/>
            <a:chOff x="1843088" y="4872038"/>
            <a:chExt cx="323850" cy="1076330"/>
          </a:xfrm>
        </p:grpSpPr>
        <p:sp>
          <p:nvSpPr>
            <p:cNvPr id="5084" name="Google Shape;5084;p90"/>
            <p:cNvSpPr/>
            <p:nvPr/>
          </p:nvSpPr>
          <p:spPr>
            <a:xfrm>
              <a:off x="1843088" y="4872038"/>
              <a:ext cx="314325" cy="271463"/>
            </a:xfrm>
            <a:prstGeom prst="rect">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85" name="Google Shape;5085;p90"/>
            <p:cNvSpPr/>
            <p:nvPr/>
          </p:nvSpPr>
          <p:spPr>
            <a:xfrm>
              <a:off x="1852613" y="5267326"/>
              <a:ext cx="314325" cy="271463"/>
            </a:xfrm>
            <a:prstGeom prst="rect">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86" name="Google Shape;5086;p90"/>
            <p:cNvSpPr/>
            <p:nvPr/>
          </p:nvSpPr>
          <p:spPr>
            <a:xfrm>
              <a:off x="1847843" y="5676905"/>
              <a:ext cx="314325" cy="271463"/>
            </a:xfrm>
            <a:prstGeom prst="rect">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grpSp>
        <p:nvGrpSpPr>
          <p:cNvPr id="5087" name="Google Shape;5087;p90"/>
          <p:cNvGrpSpPr/>
          <p:nvPr/>
        </p:nvGrpSpPr>
        <p:grpSpPr>
          <a:xfrm>
            <a:off x="7562850" y="4824414"/>
            <a:ext cx="323850" cy="1076325"/>
            <a:chOff x="1843088" y="4872038"/>
            <a:chExt cx="323850" cy="1076330"/>
          </a:xfrm>
        </p:grpSpPr>
        <p:sp>
          <p:nvSpPr>
            <p:cNvPr id="5088" name="Google Shape;5088;p90"/>
            <p:cNvSpPr/>
            <p:nvPr/>
          </p:nvSpPr>
          <p:spPr>
            <a:xfrm>
              <a:off x="1843088" y="4872038"/>
              <a:ext cx="314325" cy="271463"/>
            </a:xfrm>
            <a:prstGeom prst="rect">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89" name="Google Shape;5089;p90"/>
            <p:cNvSpPr/>
            <p:nvPr/>
          </p:nvSpPr>
          <p:spPr>
            <a:xfrm>
              <a:off x="1852613" y="5267326"/>
              <a:ext cx="314325" cy="271463"/>
            </a:xfrm>
            <a:prstGeom prst="rect">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090" name="Google Shape;5090;p90"/>
            <p:cNvSpPr/>
            <p:nvPr/>
          </p:nvSpPr>
          <p:spPr>
            <a:xfrm>
              <a:off x="1847843" y="5676905"/>
              <a:ext cx="314325" cy="271463"/>
            </a:xfrm>
            <a:prstGeom prst="rect">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sp>
        <p:nvSpPr>
          <p:cNvPr id="5091" name="Google Shape;5091;p90"/>
          <p:cNvSpPr/>
          <p:nvPr/>
        </p:nvSpPr>
        <p:spPr>
          <a:xfrm>
            <a:off x="3067051" y="5929313"/>
            <a:ext cx="5243513" cy="755650"/>
          </a:xfrm>
          <a:prstGeom prst="cloudCallout">
            <a:avLst>
              <a:gd fmla="val -13204" name="adj1"/>
              <a:gd fmla="val 43843" name="adj2"/>
            </a:avLst>
          </a:prstGeom>
          <a:solidFill>
            <a:srgbClr val="BFBFB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rgbClr val="FF0000"/>
                </a:solidFill>
                <a:latin typeface="Calibri"/>
                <a:ea typeface="Calibri"/>
                <a:cs typeface="Calibri"/>
                <a:sym typeface="Calibri"/>
              </a:rPr>
              <a:t>IP internetwork</a:t>
            </a:r>
            <a:endParaRPr/>
          </a:p>
        </p:txBody>
      </p:sp>
      <p:sp>
        <p:nvSpPr>
          <p:cNvPr id="5092" name="Google Shape;5092;p90"/>
          <p:cNvSpPr txBox="1"/>
          <p:nvPr/>
        </p:nvSpPr>
        <p:spPr>
          <a:xfrm>
            <a:off x="279133" y="252414"/>
            <a:ext cx="11588816" cy="8858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4800">
                <a:solidFill>
                  <a:srgbClr val="0000A3"/>
                </a:solidFill>
                <a:latin typeface="Calibri"/>
                <a:ea typeface="Calibri"/>
                <a:cs typeface="Calibri"/>
                <a:sym typeface="Calibri"/>
              </a:rPr>
              <a:t>TCP: Overview  RFCs: </a:t>
            </a:r>
            <a:r>
              <a:rPr b="1" lang="en-US" sz="3200">
                <a:solidFill>
                  <a:srgbClr val="0000A3"/>
                </a:solidFill>
                <a:latin typeface="Calibri"/>
                <a:ea typeface="Calibri"/>
                <a:cs typeface="Calibri"/>
                <a:sym typeface="Calibri"/>
              </a:rPr>
              <a:t>793,1122, 2018, 5681, 7323</a:t>
            </a:r>
            <a:endParaRPr b="1" sz="4800">
              <a:solidFill>
                <a:srgbClr val="0000A3"/>
              </a:solidFill>
              <a:latin typeface="Calibri"/>
              <a:ea typeface="Calibri"/>
              <a:cs typeface="Calibri"/>
              <a:sym typeface="Calibri"/>
            </a:endParaRPr>
          </a:p>
        </p:txBody>
      </p:sp>
      <p:sp>
        <p:nvSpPr>
          <p:cNvPr id="5093" name="Google Shape;5093;p9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8" name="Shape 5098"/>
        <p:cNvGrpSpPr/>
        <p:nvPr/>
      </p:nvGrpSpPr>
      <p:grpSpPr>
        <a:xfrm>
          <a:off x="0" y="0"/>
          <a:ext cx="0" cy="0"/>
          <a:chOff x="0" y="0"/>
          <a:chExt cx="0" cy="0"/>
        </a:xfrm>
      </p:grpSpPr>
      <p:sp>
        <p:nvSpPr>
          <p:cNvPr id="5099" name="Google Shape;5099;p91"/>
          <p:cNvSpPr txBox="1"/>
          <p:nvPr>
            <p:ph type="title"/>
          </p:nvPr>
        </p:nvSpPr>
        <p:spPr>
          <a:xfrm>
            <a:off x="243305" y="203994"/>
            <a:ext cx="8324850" cy="8858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Overview</a:t>
            </a:r>
            <a:r>
              <a:rPr lang="en-US"/>
              <a:t>  </a:t>
            </a:r>
            <a:r>
              <a:rPr lang="en-US" sz="2400"/>
              <a:t>RFCs: 793,1122, 2018, 5681, 7323</a:t>
            </a:r>
            <a:endParaRPr/>
          </a:p>
        </p:txBody>
      </p:sp>
      <p:sp>
        <p:nvSpPr>
          <p:cNvPr id="5100" name="Google Shape;5100;p91"/>
          <p:cNvSpPr txBox="1"/>
          <p:nvPr>
            <p:ph idx="1" type="body"/>
          </p:nvPr>
        </p:nvSpPr>
        <p:spPr>
          <a:xfrm>
            <a:off x="6144639" y="1552575"/>
            <a:ext cx="4380487" cy="4648200"/>
          </a:xfrm>
          <a:prstGeom prst="rect">
            <a:avLst/>
          </a:prstGeom>
          <a:noFill/>
          <a:ln>
            <a:noFill/>
          </a:ln>
        </p:spPr>
        <p:txBody>
          <a:bodyPr anchorCtr="0" anchor="t" bIns="45700" lIns="91425" spcFirstLastPara="1" rIns="91425" wrap="square" tIns="45700">
            <a:normAutofit lnSpcReduction="10000"/>
          </a:bodyPr>
          <a:lstStyle/>
          <a:p>
            <a:pPr indent="-222250" lvl="0" marL="352425" rtl="0" algn="l">
              <a:lnSpc>
                <a:spcPct val="90000"/>
              </a:lnSpc>
              <a:spcBef>
                <a:spcPts val="0"/>
              </a:spcBef>
              <a:spcAft>
                <a:spcPts val="0"/>
              </a:spcAft>
              <a:buSzPts val="2800"/>
              <a:buFont typeface="Noto Sans Symbols"/>
              <a:buChar char="▪"/>
            </a:pPr>
            <a:r>
              <a:rPr lang="en-US">
                <a:solidFill>
                  <a:srgbClr val="CC0000"/>
                </a:solidFill>
              </a:rPr>
              <a:t>full duplex data:</a:t>
            </a:r>
            <a:endParaRPr/>
          </a:p>
          <a:p>
            <a:pPr indent="-231775" lvl="1" marL="695325" rtl="0" algn="l">
              <a:lnSpc>
                <a:spcPct val="90000"/>
              </a:lnSpc>
              <a:spcBef>
                <a:spcPts val="500"/>
              </a:spcBef>
              <a:spcAft>
                <a:spcPts val="0"/>
              </a:spcAft>
              <a:buSzPts val="2400"/>
              <a:buFont typeface="Arial"/>
              <a:buChar char="•"/>
            </a:pPr>
            <a:r>
              <a:rPr lang="en-US"/>
              <a:t>bi-directional data flow in same connection</a:t>
            </a:r>
            <a:endParaRPr/>
          </a:p>
          <a:p>
            <a:pPr indent="-231775" lvl="1" marL="695325" rtl="0" algn="l">
              <a:lnSpc>
                <a:spcPct val="90000"/>
              </a:lnSpc>
              <a:spcBef>
                <a:spcPts val="500"/>
              </a:spcBef>
              <a:spcAft>
                <a:spcPts val="0"/>
              </a:spcAft>
              <a:buSzPts val="2400"/>
              <a:buFont typeface="Arial"/>
              <a:buChar char="•"/>
            </a:pPr>
            <a:r>
              <a:rPr lang="en-US"/>
              <a:t>MSS: maximum segment size</a:t>
            </a:r>
            <a:endParaRPr/>
          </a:p>
          <a:p>
            <a:pPr indent="-222250" lvl="0" marL="352425" rtl="0" algn="l">
              <a:lnSpc>
                <a:spcPct val="90000"/>
              </a:lnSpc>
              <a:spcBef>
                <a:spcPts val="1000"/>
              </a:spcBef>
              <a:spcAft>
                <a:spcPts val="0"/>
              </a:spcAft>
              <a:buSzPts val="2800"/>
              <a:buFont typeface="Noto Sans Symbols"/>
              <a:buChar char="▪"/>
            </a:pPr>
            <a:r>
              <a:rPr lang="en-US">
                <a:solidFill>
                  <a:srgbClr val="CC0000"/>
                </a:solidFill>
              </a:rPr>
              <a:t>connection-oriented:</a:t>
            </a:r>
            <a:r>
              <a:rPr lang="en-US"/>
              <a:t> </a:t>
            </a:r>
            <a:endParaRPr/>
          </a:p>
          <a:p>
            <a:pPr indent="-231775" lvl="1" marL="695325" rtl="0" algn="l">
              <a:lnSpc>
                <a:spcPct val="90000"/>
              </a:lnSpc>
              <a:spcBef>
                <a:spcPts val="500"/>
              </a:spcBef>
              <a:spcAft>
                <a:spcPts val="0"/>
              </a:spcAft>
              <a:buSzPts val="2400"/>
              <a:buFont typeface="Arial"/>
              <a:buChar char="•"/>
            </a:pPr>
            <a:r>
              <a:rPr lang="en-US"/>
              <a:t>handshaking (exchange of control messages) initializers sender, receiver state before data exchange</a:t>
            </a:r>
            <a:endParaRPr/>
          </a:p>
          <a:p>
            <a:pPr indent="-222250" lvl="0" marL="352425" rtl="0" algn="l">
              <a:lnSpc>
                <a:spcPct val="90000"/>
              </a:lnSpc>
              <a:spcBef>
                <a:spcPts val="1000"/>
              </a:spcBef>
              <a:spcAft>
                <a:spcPts val="0"/>
              </a:spcAft>
              <a:buSzPts val="2800"/>
              <a:buFont typeface="Noto Sans Symbols"/>
              <a:buChar char="▪"/>
            </a:pPr>
            <a:r>
              <a:rPr lang="en-US">
                <a:solidFill>
                  <a:srgbClr val="CC0000"/>
                </a:solidFill>
              </a:rPr>
              <a:t>flow controlled:</a:t>
            </a:r>
            <a:endParaRPr/>
          </a:p>
          <a:p>
            <a:pPr indent="-231775" lvl="1" marL="695325" rtl="0" algn="l">
              <a:lnSpc>
                <a:spcPct val="90000"/>
              </a:lnSpc>
              <a:spcBef>
                <a:spcPts val="500"/>
              </a:spcBef>
              <a:spcAft>
                <a:spcPts val="0"/>
              </a:spcAft>
              <a:buSzPts val="2400"/>
              <a:buFont typeface="Arial"/>
              <a:buChar char="•"/>
            </a:pPr>
            <a:r>
              <a:rPr lang="en-US"/>
              <a:t>sender will not overwhelm receiver</a:t>
            </a:r>
            <a:endParaRPr/>
          </a:p>
        </p:txBody>
      </p:sp>
      <p:sp>
        <p:nvSpPr>
          <p:cNvPr id="5101" name="Google Shape;5101;p91"/>
          <p:cNvSpPr txBox="1"/>
          <p:nvPr>
            <p:ph idx="2" type="body"/>
          </p:nvPr>
        </p:nvSpPr>
        <p:spPr>
          <a:xfrm>
            <a:off x="597267" y="1483356"/>
            <a:ext cx="4552950" cy="5042572"/>
          </a:xfrm>
          <a:prstGeom prst="rect">
            <a:avLst/>
          </a:prstGeom>
          <a:noFill/>
          <a:ln>
            <a:noFill/>
          </a:ln>
        </p:spPr>
        <p:txBody>
          <a:bodyPr anchorCtr="0" anchor="t" bIns="45700" lIns="91425" spcFirstLastPara="1" rIns="91425" wrap="square" tIns="45700">
            <a:normAutofit fontScale="92500" lnSpcReduction="10000"/>
          </a:bodyPr>
          <a:lstStyle/>
          <a:p>
            <a:pPr indent="-222250" lvl="0" marL="352425" rtl="0" algn="l">
              <a:lnSpc>
                <a:spcPct val="90000"/>
              </a:lnSpc>
              <a:spcBef>
                <a:spcPts val="0"/>
              </a:spcBef>
              <a:spcAft>
                <a:spcPts val="0"/>
              </a:spcAft>
              <a:buSzPct val="100000"/>
              <a:buChar char="▪"/>
            </a:pPr>
            <a:r>
              <a:rPr lang="en-US">
                <a:solidFill>
                  <a:srgbClr val="CC0000"/>
                </a:solidFill>
              </a:rPr>
              <a:t>point-to-point:</a:t>
            </a:r>
            <a:endParaRPr/>
          </a:p>
          <a:p>
            <a:pPr indent="-231775" lvl="1" marL="695325" rtl="0" algn="l">
              <a:lnSpc>
                <a:spcPct val="90000"/>
              </a:lnSpc>
              <a:spcBef>
                <a:spcPts val="500"/>
              </a:spcBef>
              <a:spcAft>
                <a:spcPts val="0"/>
              </a:spcAft>
              <a:buSzPct val="100000"/>
              <a:buChar char="•"/>
            </a:pPr>
            <a:r>
              <a:rPr lang="en-US"/>
              <a:t>one sender, one receiver</a:t>
            </a:r>
            <a:endParaRPr/>
          </a:p>
          <a:p>
            <a:pPr indent="-90805" lvl="1" marL="695325" rtl="0" algn="l">
              <a:lnSpc>
                <a:spcPct val="90000"/>
              </a:lnSpc>
              <a:spcBef>
                <a:spcPts val="500"/>
              </a:spcBef>
              <a:spcAft>
                <a:spcPts val="0"/>
              </a:spcAft>
              <a:buSzPct val="100000"/>
              <a:buNone/>
            </a:pPr>
            <a:r>
              <a:t/>
            </a:r>
            <a:endParaRPr/>
          </a:p>
          <a:p>
            <a:pPr indent="-90805" lvl="1" marL="695325" rtl="0" algn="l">
              <a:lnSpc>
                <a:spcPct val="90000"/>
              </a:lnSpc>
              <a:spcBef>
                <a:spcPts val="500"/>
              </a:spcBef>
              <a:spcAft>
                <a:spcPts val="0"/>
              </a:spcAft>
              <a:buSzPct val="100000"/>
              <a:buNone/>
            </a:pPr>
            <a:r>
              <a:t/>
            </a:r>
            <a:endParaRPr/>
          </a:p>
          <a:p>
            <a:pPr indent="-90805" lvl="1" marL="695325" rtl="0" algn="l">
              <a:lnSpc>
                <a:spcPct val="90000"/>
              </a:lnSpc>
              <a:spcBef>
                <a:spcPts val="500"/>
              </a:spcBef>
              <a:spcAft>
                <a:spcPts val="0"/>
              </a:spcAft>
              <a:buSzPct val="100000"/>
              <a:buNone/>
            </a:pPr>
            <a:r>
              <a:t/>
            </a:r>
            <a:endParaRPr/>
          </a:p>
          <a:p>
            <a:pPr indent="0" lvl="1" marL="457200" rtl="0" algn="l">
              <a:lnSpc>
                <a:spcPct val="90000"/>
              </a:lnSpc>
              <a:spcBef>
                <a:spcPts val="500"/>
              </a:spcBef>
              <a:spcAft>
                <a:spcPts val="0"/>
              </a:spcAft>
              <a:buSzPct val="100000"/>
              <a:buNone/>
            </a:pPr>
            <a:r>
              <a:rPr lang="en-US">
                <a:solidFill>
                  <a:srgbClr val="FF0000"/>
                </a:solidFill>
              </a:rPr>
              <a:t> </a:t>
            </a:r>
            <a:endParaRPr/>
          </a:p>
          <a:p>
            <a:pPr indent="0" lvl="1" marL="457200" rtl="0" algn="l">
              <a:lnSpc>
                <a:spcPct val="90000"/>
              </a:lnSpc>
              <a:spcBef>
                <a:spcPts val="500"/>
              </a:spcBef>
              <a:spcAft>
                <a:spcPts val="0"/>
              </a:spcAft>
              <a:buSzPct val="100000"/>
              <a:buNone/>
            </a:pPr>
            <a:r>
              <a:t/>
            </a:r>
            <a:endParaRPr>
              <a:solidFill>
                <a:srgbClr val="FF0000"/>
              </a:solidFill>
            </a:endParaRPr>
          </a:p>
          <a:p>
            <a:pPr indent="-222250" lvl="0" marL="352425" rtl="0" algn="l">
              <a:lnSpc>
                <a:spcPct val="90000"/>
              </a:lnSpc>
              <a:spcBef>
                <a:spcPts val="1000"/>
              </a:spcBef>
              <a:spcAft>
                <a:spcPts val="0"/>
              </a:spcAft>
              <a:buSzPct val="100000"/>
              <a:buChar char="▪"/>
            </a:pPr>
            <a:r>
              <a:rPr lang="en-US">
                <a:solidFill>
                  <a:srgbClr val="CC0000"/>
                </a:solidFill>
              </a:rPr>
              <a:t>reliable, in-order </a:t>
            </a:r>
            <a:r>
              <a:rPr i="1" lang="en-US">
                <a:solidFill>
                  <a:srgbClr val="CC0000"/>
                </a:solidFill>
              </a:rPr>
              <a:t>byte steam:</a:t>
            </a:r>
            <a:endParaRPr/>
          </a:p>
          <a:p>
            <a:pPr indent="-231775" lvl="1" marL="695325" rtl="0" algn="l">
              <a:lnSpc>
                <a:spcPct val="90000"/>
              </a:lnSpc>
              <a:spcBef>
                <a:spcPts val="500"/>
              </a:spcBef>
              <a:spcAft>
                <a:spcPts val="0"/>
              </a:spcAft>
              <a:buSzPct val="100000"/>
              <a:buChar char="•"/>
            </a:pPr>
            <a:r>
              <a:rPr lang="en-US"/>
              <a:t>no “message boundaries”</a:t>
            </a:r>
            <a:endParaRPr/>
          </a:p>
          <a:p>
            <a:pPr indent="-222250" lvl="0" marL="352425" rtl="0" algn="l">
              <a:lnSpc>
                <a:spcPct val="90000"/>
              </a:lnSpc>
              <a:spcBef>
                <a:spcPts val="1000"/>
              </a:spcBef>
              <a:spcAft>
                <a:spcPts val="0"/>
              </a:spcAft>
              <a:buSzPct val="100000"/>
              <a:buChar char="▪"/>
            </a:pPr>
            <a:r>
              <a:rPr lang="en-US">
                <a:solidFill>
                  <a:srgbClr val="CC0000"/>
                </a:solidFill>
              </a:rPr>
              <a:t>cumulative ACKs</a:t>
            </a:r>
            <a:endParaRPr/>
          </a:p>
          <a:p>
            <a:pPr indent="-222250" lvl="0" marL="352425" rtl="0" algn="l">
              <a:lnSpc>
                <a:spcPct val="90000"/>
              </a:lnSpc>
              <a:spcBef>
                <a:spcPts val="1000"/>
              </a:spcBef>
              <a:spcAft>
                <a:spcPts val="0"/>
              </a:spcAft>
              <a:buSzPct val="100000"/>
              <a:buChar char="▪"/>
            </a:pPr>
            <a:r>
              <a:rPr lang="en-US">
                <a:solidFill>
                  <a:srgbClr val="CC0000"/>
                </a:solidFill>
              </a:rPr>
              <a:t>pipelining:</a:t>
            </a:r>
            <a:endParaRPr/>
          </a:p>
          <a:p>
            <a:pPr indent="-231775" lvl="1" marL="695325" rtl="0" algn="l">
              <a:lnSpc>
                <a:spcPct val="90000"/>
              </a:lnSpc>
              <a:spcBef>
                <a:spcPts val="500"/>
              </a:spcBef>
              <a:spcAft>
                <a:spcPts val="0"/>
              </a:spcAft>
              <a:buSzPct val="100000"/>
              <a:buChar char="•"/>
            </a:pPr>
            <a:r>
              <a:rPr lang="en-US"/>
              <a:t>TCP congestion and flow control set window size</a:t>
            </a:r>
            <a:endParaRPr i="1"/>
          </a:p>
          <a:p>
            <a:pPr indent="-57784" lvl="0" marL="352425" rtl="0" algn="l">
              <a:lnSpc>
                <a:spcPct val="90000"/>
              </a:lnSpc>
              <a:spcBef>
                <a:spcPts val="1000"/>
              </a:spcBef>
              <a:spcAft>
                <a:spcPts val="0"/>
              </a:spcAft>
              <a:buSzPct val="100000"/>
              <a:buNone/>
            </a:pPr>
            <a:r>
              <a:t/>
            </a:r>
            <a:endParaRPr/>
          </a:p>
        </p:txBody>
      </p:sp>
      <p:pic>
        <p:nvPicPr>
          <p:cNvPr id="5102" name="Google Shape;5102;p91"/>
          <p:cNvPicPr preferRelativeResize="0"/>
          <p:nvPr/>
        </p:nvPicPr>
        <p:blipFill rotWithShape="1">
          <a:blip r:embed="rId3">
            <a:alphaModFix/>
          </a:blip>
          <a:srcRect b="37949" l="23395" r="35738" t="28719"/>
          <a:stretch/>
        </p:blipFill>
        <p:spPr>
          <a:xfrm>
            <a:off x="1020713" y="2223435"/>
            <a:ext cx="3936999" cy="2044397"/>
          </a:xfrm>
          <a:prstGeom prst="rect">
            <a:avLst/>
          </a:prstGeom>
          <a:noFill/>
          <a:ln>
            <a:noFill/>
          </a:ln>
        </p:spPr>
      </p:pic>
      <p:sp>
        <p:nvSpPr>
          <p:cNvPr id="5103" name="Google Shape;5103;p9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7" name="Shape 5107"/>
        <p:cNvGrpSpPr/>
        <p:nvPr/>
      </p:nvGrpSpPr>
      <p:grpSpPr>
        <a:xfrm>
          <a:off x="0" y="0"/>
          <a:ext cx="0" cy="0"/>
          <a:chOff x="0" y="0"/>
          <a:chExt cx="0" cy="0"/>
        </a:xfrm>
      </p:grpSpPr>
      <p:sp>
        <p:nvSpPr>
          <p:cNvPr id="5108" name="Google Shape;5108;p92"/>
          <p:cNvSpPr txBox="1"/>
          <p:nvPr>
            <p:ph type="title"/>
          </p:nvPr>
        </p:nvSpPr>
        <p:spPr>
          <a:xfrm>
            <a:off x="2895600" y="-123825"/>
            <a:ext cx="7772400" cy="11430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2800"/>
              <a:buFont typeface="Arial"/>
              <a:buNone/>
            </a:pPr>
            <a:r>
              <a:rPr lang="en-US" sz="2800">
                <a:solidFill>
                  <a:schemeClr val="lt1"/>
                </a:solidFill>
                <a:latin typeface="Arial"/>
                <a:ea typeface="Arial"/>
                <a:cs typeface="Arial"/>
                <a:sym typeface="Arial"/>
              </a:rPr>
              <a:t>(3.5) Connection-Oriented Transport: </a:t>
            </a:r>
            <a:br>
              <a:rPr lang="en-US" sz="2800">
                <a:solidFill>
                  <a:schemeClr val="lt1"/>
                </a:solidFill>
                <a:latin typeface="Arial"/>
                <a:ea typeface="Arial"/>
                <a:cs typeface="Arial"/>
                <a:sym typeface="Arial"/>
              </a:rPr>
            </a:br>
            <a:r>
              <a:rPr lang="en-US" sz="2800">
                <a:solidFill>
                  <a:schemeClr val="lt1"/>
                </a:solidFill>
                <a:latin typeface="Arial"/>
                <a:ea typeface="Arial"/>
                <a:cs typeface="Arial"/>
                <a:sym typeface="Arial"/>
              </a:rPr>
              <a:t>P - Overview</a:t>
            </a:r>
            <a:endParaRPr sz="2800">
              <a:solidFill>
                <a:schemeClr val="lt1"/>
              </a:solidFill>
            </a:endParaRPr>
          </a:p>
        </p:txBody>
      </p:sp>
      <p:sp>
        <p:nvSpPr>
          <p:cNvPr id="5109" name="Google Shape;5109;p92"/>
          <p:cNvSpPr txBox="1"/>
          <p:nvPr/>
        </p:nvSpPr>
        <p:spPr>
          <a:xfrm>
            <a:off x="1879600" y="252414"/>
            <a:ext cx="8243888" cy="8858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4400">
                <a:solidFill>
                  <a:srgbClr val="000099"/>
                </a:solidFill>
                <a:latin typeface="Calibri"/>
                <a:ea typeface="Calibri"/>
                <a:cs typeface="Calibri"/>
                <a:sym typeface="Calibri"/>
              </a:rPr>
              <a:t>TCP: Overview</a:t>
            </a:r>
            <a:endParaRPr/>
          </a:p>
        </p:txBody>
      </p:sp>
      <p:sp>
        <p:nvSpPr>
          <p:cNvPr id="5110" name="Google Shape;5110;p92"/>
          <p:cNvSpPr txBox="1"/>
          <p:nvPr>
            <p:ph idx="1" type="body"/>
          </p:nvPr>
        </p:nvSpPr>
        <p:spPr>
          <a:xfrm>
            <a:off x="1858964" y="1174751"/>
            <a:ext cx="8809037" cy="4835525"/>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Connection oriented</a:t>
            </a:r>
            <a:endParaRPr/>
          </a:p>
          <a:p>
            <a:pPr indent="-231775" lvl="1" marL="695325" rtl="0" algn="l">
              <a:lnSpc>
                <a:spcPct val="90000"/>
              </a:lnSpc>
              <a:spcBef>
                <a:spcPts val="500"/>
              </a:spcBef>
              <a:spcAft>
                <a:spcPts val="0"/>
              </a:spcAft>
              <a:buSzPts val="2400"/>
              <a:buChar char="•"/>
            </a:pPr>
            <a:r>
              <a:rPr lang="en-US"/>
              <a:t>Before any data transfer, TCP establishes a connection:</a:t>
            </a:r>
            <a:endParaRPr/>
          </a:p>
          <a:p>
            <a:pPr indent="-228600" lvl="2" marL="1143000" rtl="0" algn="l">
              <a:lnSpc>
                <a:spcPct val="90000"/>
              </a:lnSpc>
              <a:spcBef>
                <a:spcPts val="500"/>
              </a:spcBef>
              <a:spcAft>
                <a:spcPts val="0"/>
              </a:spcAft>
              <a:buClr>
                <a:schemeClr val="dk1"/>
              </a:buClr>
              <a:buSzPts val="2600"/>
              <a:buChar char="•"/>
            </a:pPr>
            <a:r>
              <a:rPr lang="en-US" sz="2600"/>
              <a:t>One TCP entity is waiting for a connection ( “</a:t>
            </a:r>
            <a:r>
              <a:rPr i="1" lang="en-US" sz="2600"/>
              <a:t>server” </a:t>
            </a:r>
            <a:r>
              <a:rPr lang="en-US" sz="2600"/>
              <a:t>)</a:t>
            </a:r>
            <a:endParaRPr/>
          </a:p>
          <a:p>
            <a:pPr indent="-228600" lvl="2" marL="1143000" rtl="0" algn="l">
              <a:lnSpc>
                <a:spcPct val="90000"/>
              </a:lnSpc>
              <a:spcBef>
                <a:spcPts val="500"/>
              </a:spcBef>
              <a:spcAft>
                <a:spcPts val="0"/>
              </a:spcAft>
              <a:buClr>
                <a:schemeClr val="dk1"/>
              </a:buClr>
              <a:buSzPts val="2600"/>
              <a:buChar char="•"/>
            </a:pPr>
            <a:r>
              <a:rPr lang="en-US" sz="2600"/>
              <a:t>The other TCP entity ( “</a:t>
            </a:r>
            <a:r>
              <a:rPr i="1" lang="en-US" sz="2600"/>
              <a:t>client” </a:t>
            </a:r>
            <a:r>
              <a:rPr lang="en-US" sz="2600"/>
              <a:t>) contacts the server</a:t>
            </a:r>
            <a:endParaRPr/>
          </a:p>
          <a:p>
            <a:pPr indent="-79375" lvl="1" marL="695325" rtl="0" algn="l">
              <a:lnSpc>
                <a:spcPct val="90000"/>
              </a:lnSpc>
              <a:spcBef>
                <a:spcPts val="500"/>
              </a:spcBef>
              <a:spcAft>
                <a:spcPts val="0"/>
              </a:spcAft>
              <a:buSzPts val="2400"/>
              <a:buNone/>
            </a:pPr>
            <a:r>
              <a:t/>
            </a:r>
            <a:endParaRPr/>
          </a:p>
        </p:txBody>
      </p:sp>
      <p:sp>
        <p:nvSpPr>
          <p:cNvPr id="5111" name="Google Shape;5111;p92"/>
          <p:cNvSpPr txBox="1"/>
          <p:nvPr/>
        </p:nvSpPr>
        <p:spPr>
          <a:xfrm>
            <a:off x="2481264" y="3686175"/>
            <a:ext cx="942975" cy="3381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1600"/>
              <a:buFont typeface="Noto Sans Symbols"/>
              <a:buNone/>
            </a:pPr>
            <a:r>
              <a:rPr b="1" lang="en-US" sz="1600">
                <a:solidFill>
                  <a:srgbClr val="0070C0"/>
                </a:solidFill>
                <a:latin typeface="Arial Rounded"/>
                <a:ea typeface="Arial Rounded"/>
                <a:cs typeface="Arial Rounded"/>
                <a:sym typeface="Arial Rounded"/>
              </a:rPr>
              <a:t>CLIENT</a:t>
            </a:r>
            <a:endParaRPr/>
          </a:p>
        </p:txBody>
      </p:sp>
      <p:sp>
        <p:nvSpPr>
          <p:cNvPr id="5112" name="Google Shape;5112;p92"/>
          <p:cNvSpPr txBox="1"/>
          <p:nvPr/>
        </p:nvSpPr>
        <p:spPr>
          <a:xfrm>
            <a:off x="6850064" y="3695700"/>
            <a:ext cx="1025525" cy="3381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600"/>
              <a:buFont typeface="Noto Sans Symbols"/>
              <a:buNone/>
            </a:pPr>
            <a:r>
              <a:rPr b="1" lang="en-US" sz="1600">
                <a:solidFill>
                  <a:srgbClr val="00B050"/>
                </a:solidFill>
                <a:latin typeface="Arial Rounded"/>
                <a:ea typeface="Arial Rounded"/>
                <a:cs typeface="Arial Rounded"/>
                <a:sym typeface="Arial Rounded"/>
              </a:rPr>
              <a:t>SERVER</a:t>
            </a:r>
            <a:endParaRPr/>
          </a:p>
        </p:txBody>
      </p:sp>
      <p:sp>
        <p:nvSpPr>
          <p:cNvPr id="5113" name="Google Shape;5113;p92"/>
          <p:cNvSpPr/>
          <p:nvPr/>
        </p:nvSpPr>
        <p:spPr>
          <a:xfrm rot="435193">
            <a:off x="3452814" y="3986214"/>
            <a:ext cx="3271837" cy="484187"/>
          </a:xfrm>
          <a:prstGeom prst="rightArrow">
            <a:avLst>
              <a:gd fmla="val 50000" name="adj1"/>
              <a:gd fmla="val 50055" name="adj2"/>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Request connection</a:t>
            </a:r>
            <a:endParaRPr/>
          </a:p>
        </p:txBody>
      </p:sp>
      <p:sp>
        <p:nvSpPr>
          <p:cNvPr id="5114" name="Google Shape;5114;p92"/>
          <p:cNvSpPr/>
          <p:nvPr/>
        </p:nvSpPr>
        <p:spPr>
          <a:xfrm rot="-809567">
            <a:off x="3424239" y="4986339"/>
            <a:ext cx="3214687" cy="484187"/>
          </a:xfrm>
          <a:prstGeom prst="leftArrow">
            <a:avLst>
              <a:gd fmla="val 50000" name="adj1"/>
              <a:gd fmla="val 50041" name="adj2"/>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Acknowledge request</a:t>
            </a:r>
            <a:endParaRPr/>
          </a:p>
        </p:txBody>
      </p:sp>
      <p:sp>
        <p:nvSpPr>
          <p:cNvPr id="5115" name="Google Shape;5115;p92"/>
          <p:cNvSpPr/>
          <p:nvPr/>
        </p:nvSpPr>
        <p:spPr>
          <a:xfrm rot="435193">
            <a:off x="3490914" y="5953125"/>
            <a:ext cx="3271837" cy="484188"/>
          </a:xfrm>
          <a:prstGeom prst="rightArrow">
            <a:avLst>
              <a:gd fmla="val 50000" name="adj1"/>
              <a:gd fmla="val 50055" name="adj2"/>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Data transfer</a:t>
            </a:r>
            <a:endParaRPr/>
          </a:p>
        </p:txBody>
      </p:sp>
      <p:sp>
        <p:nvSpPr>
          <p:cNvPr id="5116" name="Google Shape;5116;p92"/>
          <p:cNvSpPr/>
          <p:nvPr/>
        </p:nvSpPr>
        <p:spPr>
          <a:xfrm>
            <a:off x="6710364" y="4100514"/>
            <a:ext cx="1457325" cy="1100137"/>
          </a:xfrm>
          <a:prstGeom prst="ellipse">
            <a:avLst/>
          </a:prstGeom>
          <a:solidFill>
            <a:srgbClr val="BFBFB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Waiting for </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connection </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request</a:t>
            </a:r>
            <a:endParaRPr/>
          </a:p>
        </p:txBody>
      </p:sp>
      <p:sp>
        <p:nvSpPr>
          <p:cNvPr id="5117" name="Google Shape;5117;p9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1" name="Shape 5121"/>
        <p:cNvGrpSpPr/>
        <p:nvPr/>
      </p:nvGrpSpPr>
      <p:grpSpPr>
        <a:xfrm>
          <a:off x="0" y="0"/>
          <a:ext cx="0" cy="0"/>
          <a:chOff x="0" y="0"/>
          <a:chExt cx="0" cy="0"/>
        </a:xfrm>
      </p:grpSpPr>
      <p:sp>
        <p:nvSpPr>
          <p:cNvPr id="5122" name="Google Shape;5122;p93"/>
          <p:cNvSpPr txBox="1"/>
          <p:nvPr>
            <p:ph type="title"/>
          </p:nvPr>
        </p:nvSpPr>
        <p:spPr>
          <a:xfrm>
            <a:off x="2895600" y="-123825"/>
            <a:ext cx="7772400" cy="11430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2800"/>
              <a:buFont typeface="Arial"/>
              <a:buNone/>
            </a:pPr>
            <a:r>
              <a:rPr lang="en-US" sz="2800">
                <a:solidFill>
                  <a:schemeClr val="lt1"/>
                </a:solidFill>
                <a:latin typeface="Arial"/>
                <a:ea typeface="Arial"/>
                <a:cs typeface="Arial"/>
                <a:sym typeface="Arial"/>
              </a:rPr>
              <a:t>(3.5) Connection-Oriented Transport: </a:t>
            </a:r>
            <a:br>
              <a:rPr lang="en-US" sz="2800">
                <a:solidFill>
                  <a:schemeClr val="lt1"/>
                </a:solidFill>
                <a:latin typeface="Arial"/>
                <a:ea typeface="Arial"/>
                <a:cs typeface="Arial"/>
                <a:sym typeface="Arial"/>
              </a:rPr>
            </a:br>
            <a:r>
              <a:rPr lang="en-US" sz="2800">
                <a:solidFill>
                  <a:schemeClr val="lt1"/>
                </a:solidFill>
                <a:latin typeface="Arial"/>
                <a:ea typeface="Arial"/>
                <a:cs typeface="Arial"/>
                <a:sym typeface="Arial"/>
              </a:rPr>
              <a:t>P - Overview</a:t>
            </a:r>
            <a:endParaRPr sz="2800">
              <a:solidFill>
                <a:schemeClr val="lt1"/>
              </a:solidFill>
            </a:endParaRPr>
          </a:p>
        </p:txBody>
      </p:sp>
      <p:sp>
        <p:nvSpPr>
          <p:cNvPr id="5123" name="Google Shape;5123;p93"/>
          <p:cNvSpPr txBox="1"/>
          <p:nvPr/>
        </p:nvSpPr>
        <p:spPr>
          <a:xfrm>
            <a:off x="1119204" y="108775"/>
            <a:ext cx="8243888" cy="8858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4400">
                <a:solidFill>
                  <a:srgbClr val="000099"/>
                </a:solidFill>
                <a:latin typeface="Calibri"/>
                <a:ea typeface="Calibri"/>
                <a:cs typeface="Calibri"/>
                <a:sym typeface="Calibri"/>
              </a:rPr>
              <a:t>TCP: Overview</a:t>
            </a:r>
            <a:endParaRPr/>
          </a:p>
        </p:txBody>
      </p:sp>
      <p:sp>
        <p:nvSpPr>
          <p:cNvPr id="5124" name="Google Shape;5124;p93"/>
          <p:cNvSpPr txBox="1"/>
          <p:nvPr>
            <p:ph idx="1" type="body"/>
          </p:nvPr>
        </p:nvSpPr>
        <p:spPr>
          <a:xfrm>
            <a:off x="1119206" y="1091171"/>
            <a:ext cx="10251438" cy="2273992"/>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Reliable</a:t>
            </a:r>
            <a:endParaRPr/>
          </a:p>
          <a:p>
            <a:pPr indent="-231775" lvl="1" marL="695325" rtl="0" algn="l">
              <a:lnSpc>
                <a:spcPct val="90000"/>
              </a:lnSpc>
              <a:spcBef>
                <a:spcPts val="500"/>
              </a:spcBef>
              <a:spcAft>
                <a:spcPts val="0"/>
              </a:spcAft>
              <a:buSzPts val="2400"/>
              <a:buChar char="•"/>
            </a:pPr>
            <a:r>
              <a:rPr lang="en-US"/>
              <a:t>Byte stream is broken up into chunks which are called </a:t>
            </a:r>
            <a:r>
              <a:rPr i="1" lang="en-US"/>
              <a:t>segments</a:t>
            </a:r>
            <a:endParaRPr/>
          </a:p>
          <a:p>
            <a:pPr indent="-228600" lvl="2" marL="1143000" rtl="0" algn="l">
              <a:lnSpc>
                <a:spcPct val="90000"/>
              </a:lnSpc>
              <a:spcBef>
                <a:spcPts val="500"/>
              </a:spcBef>
              <a:spcAft>
                <a:spcPts val="0"/>
              </a:spcAft>
              <a:buClr>
                <a:schemeClr val="dk1"/>
              </a:buClr>
              <a:buSzPts val="2600"/>
              <a:buChar char="•"/>
            </a:pPr>
            <a:r>
              <a:rPr lang="en-US" sz="2600"/>
              <a:t>Receiver sends acknowledgements (ACKs) for segments</a:t>
            </a:r>
            <a:endParaRPr/>
          </a:p>
          <a:p>
            <a:pPr indent="-228600" lvl="2" marL="1143000" rtl="0" algn="l">
              <a:lnSpc>
                <a:spcPct val="90000"/>
              </a:lnSpc>
              <a:spcBef>
                <a:spcPts val="500"/>
              </a:spcBef>
              <a:spcAft>
                <a:spcPts val="0"/>
              </a:spcAft>
              <a:buClr>
                <a:schemeClr val="dk1"/>
              </a:buClr>
              <a:buSzPts val="2600"/>
              <a:buChar char="•"/>
            </a:pPr>
            <a:r>
              <a:rPr lang="en-US" sz="2600"/>
              <a:t>TCP maintains a </a:t>
            </a:r>
            <a:r>
              <a:rPr i="1" lang="en-US" sz="2600"/>
              <a:t>timer</a:t>
            </a:r>
            <a:r>
              <a:rPr lang="en-US" sz="2600"/>
              <a:t>. If an ACK is not received in time, the segment is retransmitted</a:t>
            </a:r>
            <a:endParaRPr/>
          </a:p>
        </p:txBody>
      </p:sp>
      <p:sp>
        <p:nvSpPr>
          <p:cNvPr id="5125" name="Google Shape;5125;p93"/>
          <p:cNvSpPr txBox="1"/>
          <p:nvPr/>
        </p:nvSpPr>
        <p:spPr>
          <a:xfrm>
            <a:off x="1119206" y="3492838"/>
            <a:ext cx="10249474" cy="245412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Char char="▪"/>
            </a:pPr>
            <a:r>
              <a:rPr lang="en-US" sz="3200">
                <a:solidFill>
                  <a:schemeClr val="dk1"/>
                </a:solidFill>
                <a:latin typeface="Calibri"/>
                <a:ea typeface="Calibri"/>
                <a:cs typeface="Calibri"/>
                <a:sym typeface="Calibri"/>
              </a:rPr>
              <a:t>Detecting errors</a:t>
            </a:r>
            <a:endParaRPr/>
          </a:p>
          <a:p>
            <a:pPr indent="-230187" lvl="1" marL="687388" marR="0" rtl="0" algn="l">
              <a:lnSpc>
                <a:spcPct val="85000"/>
              </a:lnSpc>
              <a:spcBef>
                <a:spcPts val="1200"/>
              </a:spcBef>
              <a:spcAft>
                <a:spcPts val="0"/>
              </a:spcAft>
              <a:buClr>
                <a:srgbClr val="000099"/>
              </a:buClr>
              <a:buSzPts val="2800"/>
              <a:buFont typeface="Arial"/>
              <a:buChar char="•"/>
            </a:pPr>
            <a:r>
              <a:rPr b="0" i="0" lang="en-US" sz="2800" u="none" cap="none" strike="noStrike">
                <a:solidFill>
                  <a:schemeClr val="dk1"/>
                </a:solidFill>
                <a:latin typeface="Calibri"/>
                <a:ea typeface="Calibri"/>
                <a:cs typeface="Calibri"/>
                <a:sym typeface="Calibri"/>
              </a:rPr>
              <a:t>TCP has checksums for header and data. </a:t>
            </a:r>
            <a:endParaRPr/>
          </a:p>
          <a:p>
            <a:pPr indent="-228600" lvl="2" marL="1143000" marR="0" rtl="0" algn="l">
              <a:spcBef>
                <a:spcPts val="1200"/>
              </a:spcBef>
              <a:spcAft>
                <a:spcPts val="0"/>
              </a:spcAft>
              <a:buClr>
                <a:schemeClr val="dk1"/>
              </a:buClr>
              <a:buSzPts val="2600"/>
              <a:buFont typeface="Calibri"/>
              <a:buChar char="•"/>
            </a:pPr>
            <a:r>
              <a:rPr b="0" i="0" lang="en-US" sz="2600" u="none" cap="none" strike="noStrike">
                <a:solidFill>
                  <a:schemeClr val="dk1"/>
                </a:solidFill>
                <a:latin typeface="Calibri"/>
                <a:ea typeface="Calibri"/>
                <a:cs typeface="Calibri"/>
                <a:sym typeface="Calibri"/>
              </a:rPr>
              <a:t>Segments with invalid checksums are discarded</a:t>
            </a:r>
            <a:endParaRPr/>
          </a:p>
          <a:p>
            <a:pPr indent="-230187" lvl="1" marL="687388" marR="0" rtl="0" algn="l">
              <a:lnSpc>
                <a:spcPct val="85000"/>
              </a:lnSpc>
              <a:spcBef>
                <a:spcPts val="1200"/>
              </a:spcBef>
              <a:spcAft>
                <a:spcPts val="0"/>
              </a:spcAft>
              <a:buClr>
                <a:srgbClr val="000099"/>
              </a:buClr>
              <a:buSzPts val="2600"/>
              <a:buFont typeface="Arial"/>
              <a:buChar char="•"/>
            </a:pPr>
            <a:r>
              <a:rPr b="0" i="0" lang="en-US" sz="2600" u="none" cap="none" strike="noStrike">
                <a:solidFill>
                  <a:schemeClr val="dk1"/>
                </a:solidFill>
                <a:latin typeface="Calibri"/>
                <a:ea typeface="Calibri"/>
                <a:cs typeface="Calibri"/>
                <a:sym typeface="Calibri"/>
              </a:rPr>
              <a:t>Each byte that is transmitted has a sequence number </a:t>
            </a:r>
            <a:endParaRPr/>
          </a:p>
          <a:p>
            <a:pPr indent="-228600" lvl="2" marL="1143000" marR="0" rtl="0" algn="l">
              <a:spcBef>
                <a:spcPts val="1200"/>
              </a:spcBef>
              <a:spcAft>
                <a:spcPts val="0"/>
              </a:spcAft>
              <a:buClr>
                <a:schemeClr val="dk1"/>
              </a:buClr>
              <a:buSzPts val="2600"/>
              <a:buFont typeface="Calibri"/>
              <a:buChar char="•"/>
            </a:pPr>
            <a:r>
              <a:rPr b="0" i="0" lang="en-US" sz="2600" u="none" cap="none" strike="noStrike">
                <a:solidFill>
                  <a:schemeClr val="dk1"/>
                </a:solidFill>
                <a:latin typeface="Calibri"/>
                <a:ea typeface="Calibri"/>
                <a:cs typeface="Calibri"/>
                <a:sym typeface="Calibri"/>
              </a:rPr>
              <a:t>If some intermediate sequence number is missing the receiver knows that something has been lost.</a:t>
            </a:r>
            <a:endParaRPr/>
          </a:p>
          <a:p>
            <a:pPr indent="-52387" lvl="1" marL="687388" marR="0" rtl="0" algn="l">
              <a:lnSpc>
                <a:spcPct val="85000"/>
              </a:lnSpc>
              <a:spcBef>
                <a:spcPts val="1200"/>
              </a:spcBef>
              <a:spcAft>
                <a:spcPts val="0"/>
              </a:spcAft>
              <a:buClr>
                <a:srgbClr val="000099"/>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5126" name="Google Shape;5126;p9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0" name="Shape 5130"/>
        <p:cNvGrpSpPr/>
        <p:nvPr/>
      </p:nvGrpSpPr>
      <p:grpSpPr>
        <a:xfrm>
          <a:off x="0" y="0"/>
          <a:ext cx="0" cy="0"/>
          <a:chOff x="0" y="0"/>
          <a:chExt cx="0" cy="0"/>
        </a:xfrm>
      </p:grpSpPr>
      <p:sp>
        <p:nvSpPr>
          <p:cNvPr id="5131" name="Google Shape;5131;p94"/>
          <p:cNvSpPr txBox="1"/>
          <p:nvPr>
            <p:ph type="title"/>
          </p:nvPr>
        </p:nvSpPr>
        <p:spPr>
          <a:xfrm>
            <a:off x="2895600" y="-123825"/>
            <a:ext cx="7772400" cy="11430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2800"/>
              <a:buFont typeface="Arial"/>
              <a:buNone/>
            </a:pPr>
            <a:r>
              <a:rPr lang="en-US" sz="2800">
                <a:solidFill>
                  <a:schemeClr val="lt1"/>
                </a:solidFill>
                <a:latin typeface="Arial"/>
                <a:ea typeface="Arial"/>
                <a:cs typeface="Arial"/>
                <a:sym typeface="Arial"/>
              </a:rPr>
              <a:t>(3.5) Connection-Oriented Transport: </a:t>
            </a:r>
            <a:br>
              <a:rPr lang="en-US" sz="2800">
                <a:solidFill>
                  <a:schemeClr val="lt1"/>
                </a:solidFill>
                <a:latin typeface="Arial"/>
                <a:ea typeface="Arial"/>
                <a:cs typeface="Arial"/>
                <a:sym typeface="Arial"/>
              </a:rPr>
            </a:br>
            <a:r>
              <a:rPr lang="en-US" sz="2800">
                <a:solidFill>
                  <a:schemeClr val="lt1"/>
                </a:solidFill>
                <a:latin typeface="Arial"/>
                <a:ea typeface="Arial"/>
                <a:cs typeface="Arial"/>
                <a:sym typeface="Arial"/>
              </a:rPr>
              <a:t>P - Overview</a:t>
            </a:r>
            <a:endParaRPr sz="2800">
              <a:solidFill>
                <a:schemeClr val="lt1"/>
              </a:solidFill>
            </a:endParaRPr>
          </a:p>
        </p:txBody>
      </p:sp>
      <p:sp>
        <p:nvSpPr>
          <p:cNvPr id="5132" name="Google Shape;5132;p94"/>
          <p:cNvSpPr txBox="1"/>
          <p:nvPr/>
        </p:nvSpPr>
        <p:spPr>
          <a:xfrm>
            <a:off x="655394" y="195814"/>
            <a:ext cx="8243888" cy="8858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4400">
                <a:solidFill>
                  <a:srgbClr val="000099"/>
                </a:solidFill>
                <a:latin typeface="Calibri"/>
                <a:ea typeface="Calibri"/>
                <a:cs typeface="Calibri"/>
                <a:sym typeface="Calibri"/>
              </a:rPr>
              <a:t>TCP: Overview</a:t>
            </a:r>
            <a:endParaRPr/>
          </a:p>
        </p:txBody>
      </p:sp>
      <p:sp>
        <p:nvSpPr>
          <p:cNvPr id="5133" name="Google Shape;5133;p94"/>
          <p:cNvSpPr txBox="1"/>
          <p:nvPr>
            <p:ph idx="1" type="body"/>
          </p:nvPr>
        </p:nvSpPr>
        <p:spPr>
          <a:xfrm>
            <a:off x="720483" y="1443589"/>
            <a:ext cx="10751033" cy="4835525"/>
          </a:xfrm>
          <a:prstGeom prst="rect">
            <a:avLst/>
          </a:prstGeom>
          <a:noFill/>
          <a:ln>
            <a:noFill/>
          </a:ln>
        </p:spPr>
        <p:txBody>
          <a:bodyPr anchorCtr="0" anchor="t" bIns="45700" lIns="91425" spcFirstLastPara="1" rIns="91425" wrap="square" tIns="45700">
            <a:normAutofit/>
          </a:bodyPr>
          <a:lstStyle/>
          <a:p>
            <a:pPr indent="-228600" lvl="0" marL="352425" rtl="0" algn="l">
              <a:lnSpc>
                <a:spcPct val="90000"/>
              </a:lnSpc>
              <a:spcBef>
                <a:spcPts val="0"/>
              </a:spcBef>
              <a:spcAft>
                <a:spcPts val="0"/>
              </a:spcAft>
              <a:buSzPts val="3600"/>
              <a:buChar char="▪"/>
            </a:pPr>
            <a:r>
              <a:rPr lang="en-US" sz="3600"/>
              <a:t>Byte stream service</a:t>
            </a:r>
            <a:endParaRPr/>
          </a:p>
          <a:p>
            <a:pPr indent="-231775" lvl="1" marL="695325" rtl="0" algn="l">
              <a:lnSpc>
                <a:spcPct val="90000"/>
              </a:lnSpc>
              <a:spcBef>
                <a:spcPts val="1200"/>
              </a:spcBef>
              <a:spcAft>
                <a:spcPts val="0"/>
              </a:spcAft>
              <a:buSzPts val="3200"/>
              <a:buChar char="•"/>
            </a:pPr>
            <a:r>
              <a:rPr lang="en-US" sz="3200"/>
              <a:t>To the lower layers TCP handles data in blocks (i.e. the segments)</a:t>
            </a:r>
            <a:endParaRPr/>
          </a:p>
          <a:p>
            <a:pPr indent="-231775" lvl="1" marL="695325" rtl="0" algn="l">
              <a:lnSpc>
                <a:spcPct val="90000"/>
              </a:lnSpc>
              <a:spcBef>
                <a:spcPts val="1200"/>
              </a:spcBef>
              <a:spcAft>
                <a:spcPts val="0"/>
              </a:spcAft>
              <a:buSzPts val="3200"/>
              <a:buChar char="•"/>
            </a:pPr>
            <a:r>
              <a:rPr lang="en-US" sz="3200"/>
              <a:t>To the higher layers, TCP handles data as a sequence of bytes and does not identify boundaries between bytes</a:t>
            </a:r>
            <a:endParaRPr/>
          </a:p>
          <a:p>
            <a:pPr indent="-231775" lvl="1" marL="695325" rtl="0" algn="l">
              <a:lnSpc>
                <a:spcPct val="90000"/>
              </a:lnSpc>
              <a:spcBef>
                <a:spcPts val="1200"/>
              </a:spcBef>
              <a:spcAft>
                <a:spcPts val="0"/>
              </a:spcAft>
              <a:buSzPts val="3200"/>
              <a:buChar char="•"/>
            </a:pPr>
            <a:r>
              <a:rPr lang="en-US" sz="3200"/>
              <a:t>So; higher layers do not know about the beginning </a:t>
            </a:r>
            <a:r>
              <a:rPr lang="en-US" sz="3600"/>
              <a:t>and</a:t>
            </a:r>
            <a:r>
              <a:rPr lang="en-US" sz="3200"/>
              <a:t> end of segments </a:t>
            </a:r>
            <a:endParaRPr/>
          </a:p>
          <a:p>
            <a:pPr indent="-28575" lvl="1" marL="695325" rtl="0" algn="l">
              <a:lnSpc>
                <a:spcPct val="90000"/>
              </a:lnSpc>
              <a:spcBef>
                <a:spcPts val="1200"/>
              </a:spcBef>
              <a:spcAft>
                <a:spcPts val="0"/>
              </a:spcAft>
              <a:buSzPts val="3200"/>
              <a:buNone/>
            </a:pPr>
            <a:r>
              <a:t/>
            </a:r>
            <a:endParaRPr sz="3200"/>
          </a:p>
        </p:txBody>
      </p:sp>
      <p:sp>
        <p:nvSpPr>
          <p:cNvPr id="5134" name="Google Shape;5134;p9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9" name="Shape 5139"/>
        <p:cNvGrpSpPr/>
        <p:nvPr/>
      </p:nvGrpSpPr>
      <p:grpSpPr>
        <a:xfrm>
          <a:off x="0" y="0"/>
          <a:ext cx="0" cy="0"/>
          <a:chOff x="0" y="0"/>
          <a:chExt cx="0" cy="0"/>
        </a:xfrm>
      </p:grpSpPr>
      <p:sp>
        <p:nvSpPr>
          <p:cNvPr id="5140" name="Google Shape;5140;p95"/>
          <p:cNvSpPr txBox="1"/>
          <p:nvPr>
            <p:ph type="title"/>
          </p:nvPr>
        </p:nvSpPr>
        <p:spPr>
          <a:xfrm>
            <a:off x="2895600" y="-123825"/>
            <a:ext cx="7772400" cy="11430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2800"/>
              <a:buFont typeface="Arial"/>
              <a:buNone/>
            </a:pPr>
            <a:r>
              <a:rPr lang="en-US" sz="2800">
                <a:solidFill>
                  <a:schemeClr val="lt1"/>
                </a:solidFill>
                <a:latin typeface="Arial"/>
                <a:ea typeface="Arial"/>
                <a:cs typeface="Arial"/>
                <a:sym typeface="Arial"/>
              </a:rPr>
              <a:t>(3.5) Connection-Oriented Transport: </a:t>
            </a:r>
            <a:br>
              <a:rPr lang="en-US" sz="2800">
                <a:solidFill>
                  <a:schemeClr val="lt1"/>
                </a:solidFill>
                <a:latin typeface="Arial"/>
                <a:ea typeface="Arial"/>
                <a:cs typeface="Arial"/>
                <a:sym typeface="Arial"/>
              </a:rPr>
            </a:br>
            <a:r>
              <a:rPr lang="en-US" sz="2800">
                <a:solidFill>
                  <a:schemeClr val="lt1"/>
                </a:solidFill>
                <a:latin typeface="Arial"/>
                <a:ea typeface="Arial"/>
                <a:cs typeface="Arial"/>
                <a:sym typeface="Arial"/>
              </a:rPr>
              <a:t>P - Overview</a:t>
            </a:r>
            <a:endParaRPr sz="2800">
              <a:solidFill>
                <a:schemeClr val="lt1"/>
              </a:solidFill>
            </a:endParaRPr>
          </a:p>
        </p:txBody>
      </p:sp>
      <p:sp>
        <p:nvSpPr>
          <p:cNvPr id="5141" name="Google Shape;5141;p95"/>
          <p:cNvSpPr txBox="1"/>
          <p:nvPr/>
        </p:nvSpPr>
        <p:spPr>
          <a:xfrm>
            <a:off x="944671" y="159545"/>
            <a:ext cx="9950233" cy="8858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4800">
                <a:solidFill>
                  <a:srgbClr val="0000A3"/>
                </a:solidFill>
                <a:latin typeface="Calibri"/>
                <a:ea typeface="Calibri"/>
                <a:cs typeface="Calibri"/>
                <a:sym typeface="Calibri"/>
              </a:rPr>
              <a:t>TCP: Overview</a:t>
            </a:r>
            <a:endParaRPr/>
          </a:p>
        </p:txBody>
      </p:sp>
      <p:sp>
        <p:nvSpPr>
          <p:cNvPr id="5142" name="Google Shape;5142;p95"/>
          <p:cNvSpPr/>
          <p:nvPr/>
        </p:nvSpPr>
        <p:spPr>
          <a:xfrm>
            <a:off x="2209800" y="1800226"/>
            <a:ext cx="2757488" cy="1216025"/>
          </a:xfrm>
          <a:prstGeom prst="cube">
            <a:avLst>
              <a:gd fmla="val 25000" name="adj"/>
            </a:avLst>
          </a:prstGeom>
          <a:solidFill>
            <a:srgbClr val="D8D8D8"/>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Calibri"/>
                <a:ea typeface="Calibri"/>
                <a:cs typeface="Calibri"/>
                <a:sym typeface="Calibri"/>
              </a:rPr>
              <a:t>Application</a:t>
            </a:r>
            <a:endParaRPr/>
          </a:p>
          <a:p>
            <a:pPr indent="-342900" lvl="0" marL="342900" marR="0" rtl="0" algn="ctr">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write 100 bytes</a:t>
            </a:r>
            <a:endParaRPr/>
          </a:p>
          <a:p>
            <a:pPr indent="-342900" lvl="0" marL="342900" marR="0" rtl="0" algn="ctr">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write 20 bytes  </a:t>
            </a:r>
            <a:endParaRPr/>
          </a:p>
        </p:txBody>
      </p:sp>
      <p:sp>
        <p:nvSpPr>
          <p:cNvPr id="5143" name="Google Shape;5143;p95"/>
          <p:cNvSpPr/>
          <p:nvPr/>
        </p:nvSpPr>
        <p:spPr>
          <a:xfrm>
            <a:off x="7405689" y="1709739"/>
            <a:ext cx="2757487" cy="1462087"/>
          </a:xfrm>
          <a:prstGeom prst="cube">
            <a:avLst>
              <a:gd fmla="val 25000" name="adj"/>
            </a:avLst>
          </a:prstGeom>
          <a:solidFill>
            <a:srgbClr val="D8D8D8"/>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u="sng">
                <a:solidFill>
                  <a:schemeClr val="dk1"/>
                </a:solidFill>
                <a:latin typeface="Calibri"/>
                <a:ea typeface="Calibri"/>
                <a:cs typeface="Calibri"/>
                <a:sym typeface="Calibri"/>
              </a:rPr>
              <a:t>Application</a:t>
            </a:r>
            <a:endParaRPr/>
          </a:p>
          <a:p>
            <a:pPr indent="-342900" lvl="0" marL="342900" marR="0" rtl="0" algn="ctr">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read 40 bytes</a:t>
            </a:r>
            <a:endParaRPr/>
          </a:p>
          <a:p>
            <a:pPr indent="-342900" lvl="0" marL="342900" marR="0" rtl="0" algn="ctr">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read 40 bytes</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read 40 bytes</a:t>
            </a:r>
            <a:endParaRPr/>
          </a:p>
        </p:txBody>
      </p:sp>
      <p:grpSp>
        <p:nvGrpSpPr>
          <p:cNvPr id="5144" name="Google Shape;5144;p95"/>
          <p:cNvGrpSpPr/>
          <p:nvPr/>
        </p:nvGrpSpPr>
        <p:grpSpPr>
          <a:xfrm>
            <a:off x="7067550" y="4500564"/>
            <a:ext cx="3086100" cy="1271587"/>
            <a:chOff x="628650" y="4400550"/>
            <a:chExt cx="3086099" cy="1271588"/>
          </a:xfrm>
        </p:grpSpPr>
        <p:sp>
          <p:nvSpPr>
            <p:cNvPr id="5145" name="Google Shape;5145;p95"/>
            <p:cNvSpPr/>
            <p:nvPr/>
          </p:nvSpPr>
          <p:spPr>
            <a:xfrm>
              <a:off x="628650" y="4400550"/>
              <a:ext cx="3086099" cy="1271588"/>
            </a:xfrm>
            <a:prstGeom prst="flowChartTerminator">
              <a:avLst/>
            </a:prstGeom>
            <a:solidFill>
              <a:srgbClr val="D8D8D8"/>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                         sequences of</a:t>
              </a:r>
              <a:endParaRPr/>
            </a:p>
            <a:p>
              <a:pPr indent="0" lvl="0" marL="0" marR="0" rtl="0" algn="ctr">
                <a:spcBef>
                  <a:spcPts val="0"/>
                </a:spcBef>
                <a:spcAft>
                  <a:spcPts val="0"/>
                </a:spcAft>
                <a:buNone/>
              </a:pPr>
              <a:r>
                <a:rPr b="1" lang="en-US" sz="1800">
                  <a:solidFill>
                    <a:schemeClr val="dk1"/>
                  </a:solidFill>
                  <a:latin typeface="Calibri"/>
                  <a:ea typeface="Calibri"/>
                  <a:cs typeface="Calibri"/>
                  <a:sym typeface="Calibri"/>
                </a:rPr>
                <a:t>TCP</a:t>
              </a:r>
              <a:r>
                <a:rPr lang="en-US" sz="1800">
                  <a:solidFill>
                    <a:schemeClr val="dk1"/>
                  </a:solidFill>
                  <a:latin typeface="Calibri"/>
                  <a:ea typeface="Calibri"/>
                  <a:cs typeface="Calibri"/>
                  <a:sym typeface="Calibri"/>
                </a:rPr>
                <a:t>                  bytes that</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                         have been </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                                  received          </a:t>
              </a:r>
              <a:endParaRPr/>
            </a:p>
          </p:txBody>
        </p:sp>
        <p:sp>
          <p:nvSpPr>
            <p:cNvPr id="5146" name="Google Shape;5146;p95"/>
            <p:cNvSpPr/>
            <p:nvPr/>
          </p:nvSpPr>
          <p:spPr>
            <a:xfrm>
              <a:off x="1428749" y="4543425"/>
              <a:ext cx="800102" cy="657226"/>
            </a:xfrm>
            <a:prstGeom prst="flowChartMultidocument">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grpSp>
        <p:nvGrpSpPr>
          <p:cNvPr id="5147" name="Google Shape;5147;p95"/>
          <p:cNvGrpSpPr/>
          <p:nvPr/>
        </p:nvGrpSpPr>
        <p:grpSpPr>
          <a:xfrm>
            <a:off x="1905000" y="4524375"/>
            <a:ext cx="3086100" cy="1271588"/>
            <a:chOff x="628650" y="4400550"/>
            <a:chExt cx="3086099" cy="1271588"/>
          </a:xfrm>
        </p:grpSpPr>
        <p:sp>
          <p:nvSpPr>
            <p:cNvPr id="5148" name="Google Shape;5148;p95"/>
            <p:cNvSpPr/>
            <p:nvPr/>
          </p:nvSpPr>
          <p:spPr>
            <a:xfrm>
              <a:off x="628650" y="4400550"/>
              <a:ext cx="3086099" cy="1271588"/>
            </a:xfrm>
            <a:prstGeom prst="flowChartTerminator">
              <a:avLst/>
            </a:prstGeom>
            <a:solidFill>
              <a:srgbClr val="D8D8D8"/>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                         sequences of</a:t>
              </a:r>
              <a:endParaRPr/>
            </a:p>
            <a:p>
              <a:pPr indent="0" lvl="0" marL="0" marR="0" rtl="0" algn="ctr">
                <a:spcBef>
                  <a:spcPts val="0"/>
                </a:spcBef>
                <a:spcAft>
                  <a:spcPts val="0"/>
                </a:spcAft>
                <a:buNone/>
              </a:pPr>
              <a:r>
                <a:rPr b="1" lang="en-US" sz="1800">
                  <a:solidFill>
                    <a:schemeClr val="dk1"/>
                  </a:solidFill>
                  <a:latin typeface="Calibri"/>
                  <a:ea typeface="Calibri"/>
                  <a:cs typeface="Calibri"/>
                  <a:sym typeface="Calibri"/>
                </a:rPr>
                <a:t>TCP </a:t>
              </a:r>
              <a:r>
                <a:rPr lang="en-US" sz="1800">
                  <a:solidFill>
                    <a:schemeClr val="dk1"/>
                  </a:solidFill>
                  <a:latin typeface="Calibri"/>
                  <a:ea typeface="Calibri"/>
                  <a:cs typeface="Calibri"/>
                  <a:sym typeface="Calibri"/>
                </a:rPr>
                <a:t>                  bytes to be </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                                  transmitted          </a:t>
              </a:r>
              <a:endParaRPr/>
            </a:p>
          </p:txBody>
        </p:sp>
        <p:sp>
          <p:nvSpPr>
            <p:cNvPr id="5149" name="Google Shape;5149;p95"/>
            <p:cNvSpPr/>
            <p:nvPr/>
          </p:nvSpPr>
          <p:spPr>
            <a:xfrm>
              <a:off x="1428749" y="4543425"/>
              <a:ext cx="800102" cy="657226"/>
            </a:xfrm>
            <a:prstGeom prst="flowChartMultidocument">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grpSp>
        <p:nvGrpSpPr>
          <p:cNvPr id="5150" name="Google Shape;5150;p95"/>
          <p:cNvGrpSpPr/>
          <p:nvPr/>
        </p:nvGrpSpPr>
        <p:grpSpPr>
          <a:xfrm>
            <a:off x="5910263" y="5200654"/>
            <a:ext cx="323850" cy="1076330"/>
            <a:chOff x="1843088" y="4872038"/>
            <a:chExt cx="323850" cy="1076330"/>
          </a:xfrm>
        </p:grpSpPr>
        <p:sp>
          <p:nvSpPr>
            <p:cNvPr id="5151" name="Google Shape;5151;p95"/>
            <p:cNvSpPr/>
            <p:nvPr/>
          </p:nvSpPr>
          <p:spPr>
            <a:xfrm>
              <a:off x="1843088" y="4872038"/>
              <a:ext cx="314325" cy="271463"/>
            </a:xfrm>
            <a:prstGeom prst="rect">
              <a:avLst/>
            </a:prstGeom>
            <a:solidFill>
              <a:srgbClr val="FFC0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52" name="Google Shape;5152;p95"/>
            <p:cNvSpPr/>
            <p:nvPr/>
          </p:nvSpPr>
          <p:spPr>
            <a:xfrm>
              <a:off x="1852613" y="5267326"/>
              <a:ext cx="314325" cy="271463"/>
            </a:xfrm>
            <a:prstGeom prst="rect">
              <a:avLst/>
            </a:prstGeom>
            <a:solidFill>
              <a:srgbClr val="FFC0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53" name="Google Shape;5153;p95"/>
            <p:cNvSpPr/>
            <p:nvPr/>
          </p:nvSpPr>
          <p:spPr>
            <a:xfrm>
              <a:off x="1847843" y="5676905"/>
              <a:ext cx="314325" cy="271463"/>
            </a:xfrm>
            <a:prstGeom prst="rect">
              <a:avLst/>
            </a:prstGeom>
            <a:solidFill>
              <a:srgbClr val="FFC0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5154" name="Google Shape;5154;p95"/>
          <p:cNvCxnSpPr>
            <a:stCxn id="5149" idx="2"/>
            <a:endCxn id="5146" idx="2"/>
          </p:cNvCxnSpPr>
          <p:nvPr/>
        </p:nvCxnSpPr>
        <p:spPr>
          <a:xfrm rot="-5400000">
            <a:off x="5619014" y="2706387"/>
            <a:ext cx="23700" cy="5162700"/>
          </a:xfrm>
          <a:prstGeom prst="bentConnector3">
            <a:avLst>
              <a:gd fmla="val -3056683" name="adj1"/>
            </a:avLst>
          </a:prstGeom>
          <a:noFill/>
          <a:ln cap="flat" cmpd="sng" w="38100">
            <a:solidFill>
              <a:srgbClr val="0070C0"/>
            </a:solidFill>
            <a:prstDash val="dash"/>
            <a:round/>
            <a:headEnd len="med" w="med" type="none"/>
            <a:tailEnd len="med" w="med" type="triangle"/>
          </a:ln>
        </p:spPr>
      </p:cxnSp>
      <p:cxnSp>
        <p:nvCxnSpPr>
          <p:cNvPr id="5155" name="Google Shape;5155;p95"/>
          <p:cNvCxnSpPr>
            <a:stCxn id="5142" idx="3"/>
            <a:endCxn id="5148" idx="0"/>
          </p:cNvCxnSpPr>
          <p:nvPr/>
        </p:nvCxnSpPr>
        <p:spPr>
          <a:xfrm>
            <a:off x="3436541" y="3016251"/>
            <a:ext cx="11400" cy="1508100"/>
          </a:xfrm>
          <a:prstGeom prst="straightConnector1">
            <a:avLst/>
          </a:prstGeom>
          <a:noFill/>
          <a:ln cap="flat" cmpd="sng" w="34925">
            <a:solidFill>
              <a:srgbClr val="000099"/>
            </a:solidFill>
            <a:prstDash val="dash"/>
            <a:round/>
            <a:headEnd len="med" w="med" type="none"/>
            <a:tailEnd len="med" w="med" type="triangle"/>
          </a:ln>
        </p:spPr>
      </p:cxnSp>
      <p:cxnSp>
        <p:nvCxnSpPr>
          <p:cNvPr id="5156" name="Google Shape;5156;p95"/>
          <p:cNvCxnSpPr>
            <a:stCxn id="5145" idx="0"/>
            <a:endCxn id="5143" idx="3"/>
          </p:cNvCxnSpPr>
          <p:nvPr/>
        </p:nvCxnSpPr>
        <p:spPr>
          <a:xfrm rot="10800000">
            <a:off x="8601600" y="3171864"/>
            <a:ext cx="9000" cy="1328700"/>
          </a:xfrm>
          <a:prstGeom prst="straightConnector1">
            <a:avLst/>
          </a:prstGeom>
          <a:noFill/>
          <a:ln cap="flat" cmpd="sng" w="34925">
            <a:solidFill>
              <a:srgbClr val="000099"/>
            </a:solidFill>
            <a:prstDash val="dash"/>
            <a:round/>
            <a:headEnd len="med" w="med" type="none"/>
            <a:tailEnd len="med" w="med" type="triangle"/>
          </a:ln>
        </p:spPr>
      </p:cxnSp>
      <p:sp>
        <p:nvSpPr>
          <p:cNvPr id="5157" name="Google Shape;5157;p95"/>
          <p:cNvSpPr txBox="1"/>
          <p:nvPr>
            <p:ph idx="1" type="body"/>
          </p:nvPr>
        </p:nvSpPr>
        <p:spPr>
          <a:xfrm>
            <a:off x="1944689" y="1031875"/>
            <a:ext cx="8283575" cy="539750"/>
          </a:xfrm>
          <a:prstGeom prst="rect">
            <a:avLst/>
          </a:prstGeom>
          <a:noFill/>
          <a:ln>
            <a:noFill/>
          </a:ln>
        </p:spPr>
        <p:txBody>
          <a:bodyPr anchorCtr="0" anchor="t" bIns="45700" lIns="91425" spcFirstLastPara="1" rIns="91425" wrap="square" tIns="45700">
            <a:normAutofit lnSpcReduction="10000"/>
          </a:bodyPr>
          <a:lstStyle/>
          <a:p>
            <a:pPr indent="-222250" lvl="0" marL="352425" rtl="0" algn="l">
              <a:lnSpc>
                <a:spcPct val="90000"/>
              </a:lnSpc>
              <a:spcBef>
                <a:spcPts val="0"/>
              </a:spcBef>
              <a:spcAft>
                <a:spcPts val="0"/>
              </a:spcAft>
              <a:buSzPts val="2800"/>
              <a:buChar char="▪"/>
            </a:pPr>
            <a:r>
              <a:rPr lang="en-US"/>
              <a:t>Byte stream service</a:t>
            </a:r>
            <a:endParaRPr/>
          </a:p>
          <a:p>
            <a:pPr indent="-66675" lvl="1" marL="695325" rtl="0" algn="l">
              <a:lnSpc>
                <a:spcPct val="90000"/>
              </a:lnSpc>
              <a:spcBef>
                <a:spcPts val="1200"/>
              </a:spcBef>
              <a:spcAft>
                <a:spcPts val="0"/>
              </a:spcAft>
              <a:buSzPts val="2600"/>
              <a:buNone/>
            </a:pPr>
            <a:r>
              <a:t/>
            </a:r>
            <a:endParaRPr sz="2600"/>
          </a:p>
          <a:p>
            <a:pPr indent="-79375" lvl="1" marL="695325" rtl="0" algn="l">
              <a:lnSpc>
                <a:spcPct val="90000"/>
              </a:lnSpc>
              <a:spcBef>
                <a:spcPts val="1200"/>
              </a:spcBef>
              <a:spcAft>
                <a:spcPts val="0"/>
              </a:spcAft>
              <a:buSzPts val="2400"/>
              <a:buNone/>
            </a:pPr>
            <a:r>
              <a:t/>
            </a:r>
            <a:endParaRPr/>
          </a:p>
        </p:txBody>
      </p:sp>
      <p:sp>
        <p:nvSpPr>
          <p:cNvPr id="5158" name="Google Shape;5158;p9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2" name="Shape 5162"/>
        <p:cNvGrpSpPr/>
        <p:nvPr/>
      </p:nvGrpSpPr>
      <p:grpSpPr>
        <a:xfrm>
          <a:off x="0" y="0"/>
          <a:ext cx="0" cy="0"/>
          <a:chOff x="0" y="0"/>
          <a:chExt cx="0" cy="0"/>
        </a:xfrm>
      </p:grpSpPr>
      <p:sp>
        <p:nvSpPr>
          <p:cNvPr id="5163" name="Google Shape;5163;p96"/>
          <p:cNvSpPr txBox="1"/>
          <p:nvPr>
            <p:ph type="title"/>
          </p:nvPr>
        </p:nvSpPr>
        <p:spPr>
          <a:xfrm>
            <a:off x="2895600" y="-123825"/>
            <a:ext cx="7772400" cy="11430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2800"/>
              <a:buFont typeface="Arial"/>
              <a:buNone/>
            </a:pPr>
            <a:r>
              <a:rPr lang="en-US" sz="2800">
                <a:solidFill>
                  <a:schemeClr val="lt1"/>
                </a:solidFill>
                <a:latin typeface="Arial"/>
                <a:ea typeface="Arial"/>
                <a:cs typeface="Arial"/>
                <a:sym typeface="Arial"/>
              </a:rPr>
              <a:t>(3.5) Connection-Oriented Transport: </a:t>
            </a:r>
            <a:br>
              <a:rPr lang="en-US" sz="2800">
                <a:solidFill>
                  <a:schemeClr val="lt1"/>
                </a:solidFill>
                <a:latin typeface="Arial"/>
                <a:ea typeface="Arial"/>
                <a:cs typeface="Arial"/>
                <a:sym typeface="Arial"/>
              </a:rPr>
            </a:br>
            <a:r>
              <a:rPr lang="en-US" sz="2800">
                <a:solidFill>
                  <a:schemeClr val="lt1"/>
                </a:solidFill>
                <a:latin typeface="Arial"/>
                <a:ea typeface="Arial"/>
                <a:cs typeface="Arial"/>
                <a:sym typeface="Arial"/>
              </a:rPr>
              <a:t>P - Overview</a:t>
            </a:r>
            <a:endParaRPr sz="2800">
              <a:solidFill>
                <a:schemeClr val="lt1"/>
              </a:solidFill>
            </a:endParaRPr>
          </a:p>
        </p:txBody>
      </p:sp>
      <p:sp>
        <p:nvSpPr>
          <p:cNvPr id="5164" name="Google Shape;5164;p96"/>
          <p:cNvSpPr txBox="1"/>
          <p:nvPr/>
        </p:nvSpPr>
        <p:spPr>
          <a:xfrm>
            <a:off x="873492" y="268906"/>
            <a:ext cx="7772400" cy="7810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4800">
                <a:solidFill>
                  <a:srgbClr val="0000A3"/>
                </a:solidFill>
                <a:latin typeface="Calibri"/>
                <a:ea typeface="Calibri"/>
                <a:cs typeface="Calibri"/>
                <a:sym typeface="Calibri"/>
              </a:rPr>
              <a:t>TCP segment structure</a:t>
            </a:r>
            <a:endParaRPr/>
          </a:p>
        </p:txBody>
      </p:sp>
      <p:sp>
        <p:nvSpPr>
          <p:cNvPr id="5165" name="Google Shape;5165;p96"/>
          <p:cNvSpPr txBox="1"/>
          <p:nvPr>
            <p:ph idx="1" type="body"/>
          </p:nvPr>
        </p:nvSpPr>
        <p:spPr>
          <a:xfrm>
            <a:off x="873492" y="1411906"/>
            <a:ext cx="9794508" cy="4835525"/>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Char char="▪"/>
            </a:pPr>
            <a:r>
              <a:rPr lang="en-US" sz="3200"/>
              <a:t>The unit of data transfer between devices using TCP is a </a:t>
            </a:r>
            <a:r>
              <a:rPr i="1" lang="en-US" sz="3200"/>
              <a:t>segment</a:t>
            </a:r>
            <a:endParaRPr sz="3200"/>
          </a:p>
          <a:p>
            <a:pPr indent="-222250" lvl="0" marL="352425" rtl="0" algn="l">
              <a:lnSpc>
                <a:spcPct val="90000"/>
              </a:lnSpc>
              <a:spcBef>
                <a:spcPts val="1200"/>
              </a:spcBef>
              <a:spcAft>
                <a:spcPts val="0"/>
              </a:spcAft>
              <a:buSzPts val="3200"/>
              <a:buChar char="▪"/>
            </a:pPr>
            <a:r>
              <a:rPr lang="en-US" sz="3200"/>
              <a:t>20 to 60 byte of </a:t>
            </a:r>
            <a:r>
              <a:rPr i="1" lang="en-US" sz="3200"/>
              <a:t>header</a:t>
            </a:r>
            <a:r>
              <a:rPr lang="en-US" sz="3200"/>
              <a:t>, followed by </a:t>
            </a:r>
            <a:r>
              <a:rPr i="1" lang="en-US" sz="3200"/>
              <a:t>data</a:t>
            </a:r>
            <a:endParaRPr/>
          </a:p>
          <a:p>
            <a:pPr indent="-231775" lvl="1" marL="695325" rtl="0" algn="l">
              <a:lnSpc>
                <a:spcPct val="90000"/>
              </a:lnSpc>
              <a:spcBef>
                <a:spcPts val="1200"/>
              </a:spcBef>
              <a:spcAft>
                <a:spcPts val="0"/>
              </a:spcAft>
              <a:buSzPts val="2800"/>
              <a:buChar char="•"/>
            </a:pPr>
            <a:r>
              <a:rPr lang="en-US" sz="2800"/>
              <a:t>20 byte header if there are no options</a:t>
            </a:r>
            <a:endParaRPr/>
          </a:p>
          <a:p>
            <a:pPr indent="-231775" lvl="1" marL="695325" rtl="0" algn="l">
              <a:lnSpc>
                <a:spcPct val="90000"/>
              </a:lnSpc>
              <a:spcBef>
                <a:spcPts val="1200"/>
              </a:spcBef>
              <a:spcAft>
                <a:spcPts val="0"/>
              </a:spcAft>
              <a:buSzPts val="2800"/>
              <a:buChar char="•"/>
            </a:pPr>
            <a:r>
              <a:rPr lang="en-US" sz="2800"/>
              <a:t>and up to 60 bytes if contains some options</a:t>
            </a:r>
            <a:endParaRPr/>
          </a:p>
          <a:p>
            <a:pPr indent="-3175" lvl="1" marL="695325" rtl="0" algn="l">
              <a:lnSpc>
                <a:spcPct val="90000"/>
              </a:lnSpc>
              <a:spcBef>
                <a:spcPts val="1200"/>
              </a:spcBef>
              <a:spcAft>
                <a:spcPts val="0"/>
              </a:spcAft>
              <a:buSzPts val="3600"/>
              <a:buNone/>
            </a:pPr>
            <a:r>
              <a:t/>
            </a:r>
            <a:endParaRPr sz="3600"/>
          </a:p>
        </p:txBody>
      </p:sp>
      <p:sp>
        <p:nvSpPr>
          <p:cNvPr id="5166" name="Google Shape;5166;p9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1" name="Shape 5171"/>
        <p:cNvGrpSpPr/>
        <p:nvPr/>
      </p:nvGrpSpPr>
      <p:grpSpPr>
        <a:xfrm>
          <a:off x="0" y="0"/>
          <a:ext cx="0" cy="0"/>
          <a:chOff x="0" y="0"/>
          <a:chExt cx="0" cy="0"/>
        </a:xfrm>
      </p:grpSpPr>
      <p:sp>
        <p:nvSpPr>
          <p:cNvPr id="5172" name="Google Shape;5172;p97"/>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segment structure</a:t>
            </a:r>
            <a:endParaRPr b="0" sz="4400"/>
          </a:p>
        </p:txBody>
      </p:sp>
      <p:sp>
        <p:nvSpPr>
          <p:cNvPr id="5173" name="Google Shape;5173;p97"/>
          <p:cNvSpPr/>
          <p:nvPr/>
        </p:nvSpPr>
        <p:spPr>
          <a:xfrm>
            <a:off x="4432073" y="1560062"/>
            <a:ext cx="3951287" cy="4824412"/>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174" name="Google Shape;5174;p97"/>
          <p:cNvSpPr/>
          <p:nvPr/>
        </p:nvSpPr>
        <p:spPr>
          <a:xfrm>
            <a:off x="4346348" y="1675949"/>
            <a:ext cx="3951287" cy="4805363"/>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nvGrpSpPr>
          <p:cNvPr id="5175" name="Google Shape;5175;p97"/>
          <p:cNvGrpSpPr/>
          <p:nvPr/>
        </p:nvGrpSpPr>
        <p:grpSpPr>
          <a:xfrm>
            <a:off x="4495573" y="1661303"/>
            <a:ext cx="3450544" cy="401997"/>
            <a:chOff x="4495573" y="1661303"/>
            <a:chExt cx="3450544" cy="401997"/>
          </a:xfrm>
        </p:grpSpPr>
        <p:sp>
          <p:nvSpPr>
            <p:cNvPr id="5176" name="Google Shape;5176;p97"/>
            <p:cNvSpPr txBox="1"/>
            <p:nvPr/>
          </p:nvSpPr>
          <p:spPr>
            <a:xfrm>
              <a:off x="4495573" y="1661303"/>
              <a:ext cx="16637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source port #</a:t>
              </a:r>
              <a:endParaRPr b="0" i="0" sz="2400" u="none" cap="none" strike="noStrike">
                <a:solidFill>
                  <a:srgbClr val="000000"/>
                </a:solidFill>
                <a:latin typeface="Arial"/>
                <a:ea typeface="Arial"/>
                <a:cs typeface="Arial"/>
                <a:sym typeface="Arial"/>
              </a:endParaRPr>
            </a:p>
          </p:txBody>
        </p:sp>
        <p:sp>
          <p:nvSpPr>
            <p:cNvPr id="5177" name="Google Shape;5177;p97"/>
            <p:cNvSpPr txBox="1"/>
            <p:nvPr/>
          </p:nvSpPr>
          <p:spPr>
            <a:xfrm>
              <a:off x="6564992" y="1666425"/>
              <a:ext cx="13811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dest port #</a:t>
              </a:r>
              <a:endParaRPr b="0" i="0" sz="1800" u="none" cap="none" strike="noStrike">
                <a:solidFill>
                  <a:srgbClr val="000000"/>
                </a:solidFill>
                <a:latin typeface="Arial"/>
                <a:ea typeface="Arial"/>
                <a:cs typeface="Arial"/>
                <a:sym typeface="Arial"/>
              </a:endParaRPr>
            </a:p>
          </p:txBody>
        </p:sp>
      </p:grpSp>
      <p:cxnSp>
        <p:nvCxnSpPr>
          <p:cNvPr id="5178" name="Google Shape;5178;p97"/>
          <p:cNvCxnSpPr/>
          <p:nvPr/>
        </p:nvCxnSpPr>
        <p:spPr>
          <a:xfrm>
            <a:off x="4349523" y="2050599"/>
            <a:ext cx="3946525" cy="4763"/>
          </a:xfrm>
          <a:prstGeom prst="straightConnector1">
            <a:avLst/>
          </a:prstGeom>
          <a:noFill/>
          <a:ln cap="flat" cmpd="sng" w="19050">
            <a:solidFill>
              <a:srgbClr val="000000"/>
            </a:solidFill>
            <a:prstDash val="solid"/>
            <a:round/>
            <a:headEnd len="med" w="med" type="none"/>
            <a:tailEnd len="med" w="med" type="none"/>
          </a:ln>
        </p:spPr>
      </p:cxnSp>
      <p:cxnSp>
        <p:nvCxnSpPr>
          <p:cNvPr id="5179" name="Google Shape;5179;p97"/>
          <p:cNvCxnSpPr/>
          <p:nvPr/>
        </p:nvCxnSpPr>
        <p:spPr>
          <a:xfrm>
            <a:off x="4343173" y="2430012"/>
            <a:ext cx="3951287" cy="0"/>
          </a:xfrm>
          <a:prstGeom prst="straightConnector1">
            <a:avLst/>
          </a:prstGeom>
          <a:noFill/>
          <a:ln cap="flat" cmpd="sng" w="19050">
            <a:solidFill>
              <a:srgbClr val="000000"/>
            </a:solidFill>
            <a:prstDash val="solid"/>
            <a:round/>
            <a:headEnd len="med" w="med" type="none"/>
            <a:tailEnd len="med" w="med" type="none"/>
          </a:ln>
        </p:spPr>
      </p:cxnSp>
      <p:grpSp>
        <p:nvGrpSpPr>
          <p:cNvPr id="5180" name="Google Shape;5180;p97"/>
          <p:cNvGrpSpPr/>
          <p:nvPr/>
        </p:nvGrpSpPr>
        <p:grpSpPr>
          <a:xfrm>
            <a:off x="4324123" y="1145724"/>
            <a:ext cx="3935412" cy="366713"/>
            <a:chOff x="4324123" y="1145724"/>
            <a:chExt cx="3935412" cy="366713"/>
          </a:xfrm>
        </p:grpSpPr>
        <p:sp>
          <p:nvSpPr>
            <p:cNvPr id="5181" name="Google Shape;5181;p97"/>
            <p:cNvSpPr txBox="1"/>
            <p:nvPr/>
          </p:nvSpPr>
          <p:spPr>
            <a:xfrm>
              <a:off x="5832248" y="1145724"/>
              <a:ext cx="8572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32 bits</a:t>
              </a:r>
              <a:endParaRPr b="0" i="0" sz="2400" u="none" cap="none" strike="noStrike">
                <a:solidFill>
                  <a:srgbClr val="000000"/>
                </a:solidFill>
                <a:latin typeface="Arial"/>
                <a:ea typeface="Arial"/>
                <a:cs typeface="Arial"/>
                <a:sym typeface="Arial"/>
              </a:endParaRPr>
            </a:p>
          </p:txBody>
        </p:sp>
        <p:cxnSp>
          <p:nvCxnSpPr>
            <p:cNvPr id="5182" name="Google Shape;5182;p97"/>
            <p:cNvCxnSpPr/>
            <p:nvPr/>
          </p:nvCxnSpPr>
          <p:spPr>
            <a:xfrm>
              <a:off x="6832373" y="1391787"/>
              <a:ext cx="1427162" cy="4762"/>
            </a:xfrm>
            <a:prstGeom prst="straightConnector1">
              <a:avLst/>
            </a:prstGeom>
            <a:noFill/>
            <a:ln cap="flat" cmpd="sng" w="19050">
              <a:solidFill>
                <a:srgbClr val="000000"/>
              </a:solidFill>
              <a:prstDash val="solid"/>
              <a:round/>
              <a:headEnd len="med" w="med" type="none"/>
              <a:tailEnd len="med" w="med" type="triangle"/>
            </a:ln>
          </p:spPr>
        </p:cxnSp>
        <p:cxnSp>
          <p:nvCxnSpPr>
            <p:cNvPr id="5183" name="Google Shape;5183;p97"/>
            <p:cNvCxnSpPr/>
            <p:nvPr/>
          </p:nvCxnSpPr>
          <p:spPr>
            <a:xfrm rot="10800000">
              <a:off x="4324123" y="1402899"/>
              <a:ext cx="1341437" cy="0"/>
            </a:xfrm>
            <a:prstGeom prst="straightConnector1">
              <a:avLst/>
            </a:prstGeom>
            <a:noFill/>
            <a:ln cap="flat" cmpd="sng" w="19050">
              <a:solidFill>
                <a:srgbClr val="000000"/>
              </a:solidFill>
              <a:prstDash val="solid"/>
              <a:round/>
              <a:headEnd len="med" w="med" type="none"/>
              <a:tailEnd len="med" w="med" type="triangle"/>
            </a:ln>
          </p:spPr>
        </p:cxnSp>
      </p:grpSp>
      <p:cxnSp>
        <p:nvCxnSpPr>
          <p:cNvPr id="5184" name="Google Shape;5184;p97"/>
          <p:cNvCxnSpPr/>
          <p:nvPr/>
        </p:nvCxnSpPr>
        <p:spPr>
          <a:xfrm>
            <a:off x="4352698" y="2811012"/>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5185" name="Google Shape;5185;p97"/>
          <p:cNvCxnSpPr/>
          <p:nvPr/>
        </p:nvCxnSpPr>
        <p:spPr>
          <a:xfrm>
            <a:off x="4347935" y="3206299"/>
            <a:ext cx="3951288" cy="0"/>
          </a:xfrm>
          <a:prstGeom prst="straightConnector1">
            <a:avLst/>
          </a:prstGeom>
          <a:noFill/>
          <a:ln cap="flat" cmpd="sng" w="19050">
            <a:solidFill>
              <a:srgbClr val="000000"/>
            </a:solidFill>
            <a:prstDash val="solid"/>
            <a:round/>
            <a:headEnd len="med" w="med" type="none"/>
            <a:tailEnd len="med" w="med" type="none"/>
          </a:ln>
        </p:spPr>
      </p:cxnSp>
      <p:cxnSp>
        <p:nvCxnSpPr>
          <p:cNvPr id="5186" name="Google Shape;5186;p97"/>
          <p:cNvCxnSpPr/>
          <p:nvPr/>
        </p:nvCxnSpPr>
        <p:spPr>
          <a:xfrm>
            <a:off x="4343173" y="3596824"/>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5187" name="Google Shape;5187;p97"/>
          <p:cNvCxnSpPr/>
          <p:nvPr/>
        </p:nvCxnSpPr>
        <p:spPr>
          <a:xfrm>
            <a:off x="4343173" y="4158799"/>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5188" name="Google Shape;5188;p97"/>
          <p:cNvCxnSpPr/>
          <p:nvPr/>
        </p:nvCxnSpPr>
        <p:spPr>
          <a:xfrm rot="10800000">
            <a:off x="6303735" y="2814187"/>
            <a:ext cx="4763" cy="777875"/>
          </a:xfrm>
          <a:prstGeom prst="straightConnector1">
            <a:avLst/>
          </a:prstGeom>
          <a:noFill/>
          <a:ln cap="flat" cmpd="sng" w="19050">
            <a:solidFill>
              <a:srgbClr val="000000"/>
            </a:solidFill>
            <a:prstDash val="solid"/>
            <a:round/>
            <a:headEnd len="med" w="med" type="none"/>
            <a:tailEnd len="med" w="med" type="none"/>
          </a:ln>
        </p:spPr>
      </p:cxnSp>
      <p:cxnSp>
        <p:nvCxnSpPr>
          <p:cNvPr id="5189" name="Google Shape;5189;p97"/>
          <p:cNvCxnSpPr/>
          <p:nvPr/>
        </p:nvCxnSpPr>
        <p:spPr>
          <a:xfrm rot="10800000">
            <a:off x="5668735" y="2814187"/>
            <a:ext cx="0" cy="392112"/>
          </a:xfrm>
          <a:prstGeom prst="straightConnector1">
            <a:avLst/>
          </a:prstGeom>
          <a:noFill/>
          <a:ln cap="flat" cmpd="sng" w="12700">
            <a:solidFill>
              <a:srgbClr val="000000"/>
            </a:solidFill>
            <a:prstDash val="solid"/>
            <a:round/>
            <a:headEnd len="med" w="med" type="none"/>
            <a:tailEnd len="med" w="med" type="none"/>
          </a:ln>
        </p:spPr>
      </p:cxnSp>
      <p:cxnSp>
        <p:nvCxnSpPr>
          <p:cNvPr id="5190" name="Google Shape;5190;p97"/>
          <p:cNvCxnSpPr/>
          <p:nvPr/>
        </p:nvCxnSpPr>
        <p:spPr>
          <a:xfrm rot="10800000">
            <a:off x="5514748" y="2809424"/>
            <a:ext cx="0" cy="392113"/>
          </a:xfrm>
          <a:prstGeom prst="straightConnector1">
            <a:avLst/>
          </a:prstGeom>
          <a:noFill/>
          <a:ln cap="flat" cmpd="sng" w="12700">
            <a:solidFill>
              <a:srgbClr val="000000"/>
            </a:solidFill>
            <a:prstDash val="solid"/>
            <a:round/>
            <a:headEnd len="med" w="med" type="none"/>
            <a:tailEnd len="med" w="med" type="none"/>
          </a:ln>
        </p:spPr>
      </p:cxnSp>
      <p:cxnSp>
        <p:nvCxnSpPr>
          <p:cNvPr id="5191" name="Google Shape;5191;p97"/>
          <p:cNvCxnSpPr/>
          <p:nvPr/>
        </p:nvCxnSpPr>
        <p:spPr>
          <a:xfrm rot="10800000">
            <a:off x="5355998" y="2818949"/>
            <a:ext cx="0" cy="392113"/>
          </a:xfrm>
          <a:prstGeom prst="straightConnector1">
            <a:avLst/>
          </a:prstGeom>
          <a:noFill/>
          <a:ln cap="flat" cmpd="sng" w="12700">
            <a:solidFill>
              <a:srgbClr val="000000"/>
            </a:solidFill>
            <a:prstDash val="solid"/>
            <a:round/>
            <a:headEnd len="med" w="med" type="none"/>
            <a:tailEnd len="med" w="med" type="none"/>
          </a:ln>
        </p:spPr>
      </p:cxnSp>
      <p:sp>
        <p:nvSpPr>
          <p:cNvPr id="5192" name="Google Shape;5192;p97"/>
          <p:cNvSpPr txBox="1"/>
          <p:nvPr/>
        </p:nvSpPr>
        <p:spPr>
          <a:xfrm>
            <a:off x="4636966" y="2822952"/>
            <a:ext cx="482824" cy="407676"/>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not</a:t>
            </a:r>
            <a:endParaRPr/>
          </a:p>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used</a:t>
            </a:r>
            <a:endParaRPr b="0" i="0" sz="1600" u="none" cap="none" strike="noStrike">
              <a:solidFill>
                <a:srgbClr val="000000"/>
              </a:solidFill>
              <a:latin typeface="Calibri"/>
              <a:ea typeface="Calibri"/>
              <a:cs typeface="Calibri"/>
              <a:sym typeface="Calibri"/>
            </a:endParaRPr>
          </a:p>
        </p:txBody>
      </p:sp>
      <p:cxnSp>
        <p:nvCxnSpPr>
          <p:cNvPr id="5193" name="Google Shape;5193;p97"/>
          <p:cNvCxnSpPr/>
          <p:nvPr/>
        </p:nvCxnSpPr>
        <p:spPr>
          <a:xfrm rot="10800000">
            <a:off x="4713766" y="2809424"/>
            <a:ext cx="0" cy="392113"/>
          </a:xfrm>
          <a:prstGeom prst="straightConnector1">
            <a:avLst/>
          </a:prstGeom>
          <a:noFill/>
          <a:ln cap="flat" cmpd="sng" w="12700">
            <a:solidFill>
              <a:srgbClr val="000000"/>
            </a:solidFill>
            <a:prstDash val="solid"/>
            <a:round/>
            <a:headEnd len="med" w="med" type="none"/>
            <a:tailEnd len="med" w="med" type="none"/>
          </a:ln>
        </p:spPr>
      </p:cxnSp>
      <p:grpSp>
        <p:nvGrpSpPr>
          <p:cNvPr id="5194" name="Google Shape;5194;p97"/>
          <p:cNvGrpSpPr/>
          <p:nvPr/>
        </p:nvGrpSpPr>
        <p:grpSpPr>
          <a:xfrm>
            <a:off x="6405335" y="2817362"/>
            <a:ext cx="5252586" cy="731484"/>
            <a:chOff x="6405335" y="2817362"/>
            <a:chExt cx="5252586" cy="731484"/>
          </a:xfrm>
        </p:grpSpPr>
        <p:sp>
          <p:nvSpPr>
            <p:cNvPr id="5195" name="Google Shape;5195;p97"/>
            <p:cNvSpPr txBox="1"/>
            <p:nvPr/>
          </p:nvSpPr>
          <p:spPr>
            <a:xfrm>
              <a:off x="6405335" y="2817362"/>
              <a:ext cx="17462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receive window</a:t>
              </a:r>
              <a:endParaRPr/>
            </a:p>
          </p:txBody>
        </p:sp>
        <p:sp>
          <p:nvSpPr>
            <p:cNvPr id="5196" name="Google Shape;5196;p97"/>
            <p:cNvSpPr txBox="1"/>
            <p:nvPr/>
          </p:nvSpPr>
          <p:spPr>
            <a:xfrm>
              <a:off x="8724900" y="2847115"/>
              <a:ext cx="2933021" cy="7017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flow control: </a:t>
              </a:r>
              <a:r>
                <a:rPr b="0" i="0" lang="en-US" sz="2000" u="none" cap="none" strike="noStrike">
                  <a:solidFill>
                    <a:srgbClr val="000000"/>
                  </a:solidFill>
                  <a:latin typeface="Calibri"/>
                  <a:ea typeface="Calibri"/>
                  <a:cs typeface="Calibri"/>
                  <a:sym typeface="Calibri"/>
                </a:rPr>
                <a:t># bytes receiver willing to accept</a:t>
              </a:r>
              <a:endParaRPr b="0" i="0" sz="2400" u="none" cap="none" strike="noStrike">
                <a:solidFill>
                  <a:srgbClr val="000000"/>
                </a:solidFill>
                <a:latin typeface="Calibri"/>
                <a:ea typeface="Calibri"/>
                <a:cs typeface="Calibri"/>
                <a:sym typeface="Calibri"/>
              </a:endParaRPr>
            </a:p>
          </p:txBody>
        </p:sp>
        <p:cxnSp>
          <p:nvCxnSpPr>
            <p:cNvPr id="5197" name="Google Shape;5197;p97"/>
            <p:cNvCxnSpPr/>
            <p:nvPr/>
          </p:nvCxnSpPr>
          <p:spPr>
            <a:xfrm rot="10800000">
              <a:off x="8142852" y="3044701"/>
              <a:ext cx="582048" cy="0"/>
            </a:xfrm>
            <a:prstGeom prst="straightConnector1">
              <a:avLst/>
            </a:prstGeom>
            <a:noFill/>
            <a:ln cap="flat" cmpd="sng" w="19050">
              <a:solidFill>
                <a:srgbClr val="C00000"/>
              </a:solidFill>
              <a:prstDash val="solid"/>
              <a:round/>
              <a:headEnd len="med" w="med" type="none"/>
              <a:tailEnd len="med" w="med" type="none"/>
            </a:ln>
          </p:spPr>
        </p:cxnSp>
      </p:grpSp>
      <p:grpSp>
        <p:nvGrpSpPr>
          <p:cNvPr id="5198" name="Google Shape;5198;p97"/>
          <p:cNvGrpSpPr/>
          <p:nvPr/>
        </p:nvGrpSpPr>
        <p:grpSpPr>
          <a:xfrm>
            <a:off x="4979760" y="1674436"/>
            <a:ext cx="7040433" cy="1034129"/>
            <a:chOff x="4979760" y="1674436"/>
            <a:chExt cx="7040433" cy="1034129"/>
          </a:xfrm>
        </p:grpSpPr>
        <p:sp>
          <p:nvSpPr>
            <p:cNvPr id="5199" name="Google Shape;5199;p97"/>
            <p:cNvSpPr txBox="1"/>
            <p:nvPr/>
          </p:nvSpPr>
          <p:spPr>
            <a:xfrm>
              <a:off x="4979760" y="2029962"/>
              <a:ext cx="24860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sequence number</a:t>
              </a:r>
              <a:endParaRPr b="0" i="0" sz="2400" u="none" cap="none" strike="noStrike">
                <a:solidFill>
                  <a:srgbClr val="000000"/>
                </a:solidFill>
                <a:latin typeface="Arial"/>
                <a:ea typeface="Arial"/>
                <a:cs typeface="Arial"/>
                <a:sym typeface="Arial"/>
              </a:endParaRPr>
            </a:p>
          </p:txBody>
        </p:sp>
        <p:sp>
          <p:nvSpPr>
            <p:cNvPr id="5200" name="Google Shape;5200;p97"/>
            <p:cNvSpPr txBox="1"/>
            <p:nvPr/>
          </p:nvSpPr>
          <p:spPr>
            <a:xfrm>
              <a:off x="8724900" y="1674436"/>
              <a:ext cx="3295293" cy="10341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segment seq  #: </a:t>
              </a:r>
              <a:r>
                <a:rPr b="0" i="0" lang="en-US" sz="2000" u="none" cap="none" strike="noStrike">
                  <a:solidFill>
                    <a:srgbClr val="000000"/>
                  </a:solidFill>
                  <a:latin typeface="Calibri"/>
                  <a:ea typeface="Calibri"/>
                  <a:cs typeface="Calibri"/>
                  <a:sym typeface="Calibri"/>
                </a:rPr>
                <a:t>counting bytes of data</a:t>
              </a:r>
              <a:r>
                <a:rPr b="0" i="0" lang="en-US" sz="2400" u="none" cap="none" strike="noStrike">
                  <a:solidFill>
                    <a:srgbClr val="000000"/>
                  </a:solidFill>
                  <a:latin typeface="Calibri"/>
                  <a:ea typeface="Calibri"/>
                  <a:cs typeface="Calibri"/>
                  <a:sym typeface="Calibri"/>
                </a:rPr>
                <a:t> </a:t>
              </a:r>
              <a:r>
                <a:rPr b="0" i="0" lang="en-US" sz="2000" u="none" cap="none" strike="noStrike">
                  <a:solidFill>
                    <a:srgbClr val="000000"/>
                  </a:solidFill>
                  <a:latin typeface="Calibri"/>
                  <a:ea typeface="Calibri"/>
                  <a:cs typeface="Calibri"/>
                  <a:sym typeface="Calibri"/>
                </a:rPr>
                <a:t>into bytestream</a:t>
              </a:r>
              <a:r>
                <a:rPr b="0" i="0" lang="en-US" sz="2400" u="none" cap="none" strike="noStrike">
                  <a:solidFill>
                    <a:srgbClr val="000000"/>
                  </a:solidFill>
                  <a:latin typeface="Calibri"/>
                  <a:ea typeface="Calibri"/>
                  <a:cs typeface="Calibri"/>
                  <a:sym typeface="Calibri"/>
                </a:rPr>
                <a:t> </a:t>
              </a:r>
              <a:r>
                <a:rPr b="0" i="0" lang="en-US" sz="2000" u="none" cap="none" strike="noStrike">
                  <a:solidFill>
                    <a:srgbClr val="000000"/>
                  </a:solidFill>
                  <a:latin typeface="Calibri"/>
                  <a:ea typeface="Calibri"/>
                  <a:cs typeface="Calibri"/>
                  <a:sym typeface="Calibri"/>
                </a:rPr>
                <a:t>(not segments!)</a:t>
              </a:r>
              <a:endParaRPr b="0" i="0" sz="2400" u="none" cap="none" strike="noStrike">
                <a:solidFill>
                  <a:srgbClr val="000000"/>
                </a:solidFill>
                <a:latin typeface="Calibri"/>
                <a:ea typeface="Calibri"/>
                <a:cs typeface="Calibri"/>
                <a:sym typeface="Calibri"/>
              </a:endParaRPr>
            </a:p>
          </p:txBody>
        </p:sp>
        <p:cxnSp>
          <p:nvCxnSpPr>
            <p:cNvPr id="5201" name="Google Shape;5201;p97"/>
            <p:cNvCxnSpPr/>
            <p:nvPr/>
          </p:nvCxnSpPr>
          <p:spPr>
            <a:xfrm rot="10800000">
              <a:off x="7924797" y="2244436"/>
              <a:ext cx="800102" cy="0"/>
            </a:xfrm>
            <a:prstGeom prst="straightConnector1">
              <a:avLst/>
            </a:prstGeom>
            <a:noFill/>
            <a:ln cap="flat" cmpd="sng" w="19050">
              <a:solidFill>
                <a:srgbClr val="C00000"/>
              </a:solidFill>
              <a:prstDash val="solid"/>
              <a:round/>
              <a:headEnd len="med" w="med" type="none"/>
              <a:tailEnd len="med" w="med" type="none"/>
            </a:ln>
          </p:spPr>
        </p:cxnSp>
      </p:grpSp>
      <p:grpSp>
        <p:nvGrpSpPr>
          <p:cNvPr id="5202" name="Google Shape;5202;p97"/>
          <p:cNvGrpSpPr/>
          <p:nvPr/>
        </p:nvGrpSpPr>
        <p:grpSpPr>
          <a:xfrm>
            <a:off x="5398860" y="4614412"/>
            <a:ext cx="5770816" cy="1113459"/>
            <a:chOff x="5398860" y="4614412"/>
            <a:chExt cx="5770816" cy="1113459"/>
          </a:xfrm>
        </p:grpSpPr>
        <p:sp>
          <p:nvSpPr>
            <p:cNvPr id="5203" name="Google Shape;5203;p97"/>
            <p:cNvSpPr txBox="1"/>
            <p:nvPr/>
          </p:nvSpPr>
          <p:spPr>
            <a:xfrm>
              <a:off x="5398860" y="4614412"/>
              <a:ext cx="2005013" cy="1006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data </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(variable length)</a:t>
              </a:r>
              <a:endParaRPr b="0" i="0" sz="2400" u="none" cap="none" strike="noStrike">
                <a:solidFill>
                  <a:srgbClr val="000000"/>
                </a:solidFill>
                <a:latin typeface="Arial"/>
                <a:ea typeface="Arial"/>
                <a:cs typeface="Arial"/>
                <a:sym typeface="Arial"/>
              </a:endParaRPr>
            </a:p>
          </p:txBody>
        </p:sp>
        <p:sp>
          <p:nvSpPr>
            <p:cNvPr id="5204" name="Google Shape;5204;p97"/>
            <p:cNvSpPr txBox="1"/>
            <p:nvPr/>
          </p:nvSpPr>
          <p:spPr>
            <a:xfrm>
              <a:off x="8980285" y="4638342"/>
              <a:ext cx="2189391" cy="10895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data sent by application into TCP socket</a:t>
              </a:r>
              <a:endParaRPr/>
            </a:p>
          </p:txBody>
        </p:sp>
        <p:cxnSp>
          <p:nvCxnSpPr>
            <p:cNvPr id="5205" name="Google Shape;5205;p97"/>
            <p:cNvCxnSpPr/>
            <p:nvPr/>
          </p:nvCxnSpPr>
          <p:spPr>
            <a:xfrm>
              <a:off x="6727821" y="5150307"/>
              <a:ext cx="2149479" cy="0"/>
            </a:xfrm>
            <a:prstGeom prst="straightConnector1">
              <a:avLst/>
            </a:prstGeom>
            <a:noFill/>
            <a:ln cap="flat" cmpd="sng" w="25400">
              <a:solidFill>
                <a:srgbClr val="C00000"/>
              </a:solidFill>
              <a:prstDash val="solid"/>
              <a:miter lim="800000"/>
              <a:headEnd len="sm" w="sm" type="none"/>
              <a:tailEnd len="sm" w="sm" type="none"/>
            </a:ln>
          </p:spPr>
        </p:cxnSp>
      </p:grpSp>
      <p:grpSp>
        <p:nvGrpSpPr>
          <p:cNvPr id="5206" name="Google Shape;5206;p97"/>
          <p:cNvGrpSpPr/>
          <p:nvPr/>
        </p:nvGrpSpPr>
        <p:grpSpPr>
          <a:xfrm>
            <a:off x="230393" y="1952743"/>
            <a:ext cx="7771793" cy="1241280"/>
            <a:chOff x="230393" y="1952743"/>
            <a:chExt cx="7771793" cy="1241280"/>
          </a:xfrm>
        </p:grpSpPr>
        <p:sp>
          <p:nvSpPr>
            <p:cNvPr id="5207" name="Google Shape;5207;p97"/>
            <p:cNvSpPr txBox="1"/>
            <p:nvPr/>
          </p:nvSpPr>
          <p:spPr>
            <a:xfrm>
              <a:off x="5447297" y="2855469"/>
              <a:ext cx="303288"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a:t>
              </a:r>
              <a:endParaRPr b="0" i="0" sz="2400" u="none" cap="none" strike="noStrike">
                <a:solidFill>
                  <a:srgbClr val="000000"/>
                </a:solidFill>
                <a:latin typeface="Calibri"/>
                <a:ea typeface="Calibri"/>
                <a:cs typeface="Calibri"/>
                <a:sym typeface="Calibri"/>
              </a:endParaRPr>
            </a:p>
          </p:txBody>
        </p:sp>
        <p:grpSp>
          <p:nvGrpSpPr>
            <p:cNvPr id="5208" name="Google Shape;5208;p97"/>
            <p:cNvGrpSpPr/>
            <p:nvPr/>
          </p:nvGrpSpPr>
          <p:grpSpPr>
            <a:xfrm>
              <a:off x="230393" y="1952743"/>
              <a:ext cx="7771793" cy="971860"/>
              <a:chOff x="217867" y="1965269"/>
              <a:chExt cx="7771793" cy="971860"/>
            </a:xfrm>
          </p:grpSpPr>
          <p:sp>
            <p:nvSpPr>
              <p:cNvPr id="5209" name="Google Shape;5209;p97"/>
              <p:cNvSpPr txBox="1"/>
              <p:nvPr/>
            </p:nvSpPr>
            <p:spPr>
              <a:xfrm>
                <a:off x="4579710" y="2430012"/>
                <a:ext cx="340995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acknowledgement number</a:t>
                </a:r>
                <a:endParaRPr/>
              </a:p>
            </p:txBody>
          </p:sp>
          <p:sp>
            <p:nvSpPr>
              <p:cNvPr id="5210" name="Google Shape;5210;p97"/>
              <p:cNvSpPr txBox="1"/>
              <p:nvPr/>
            </p:nvSpPr>
            <p:spPr>
              <a:xfrm>
                <a:off x="217867" y="1965269"/>
                <a:ext cx="3287333" cy="70173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ACK: </a:t>
                </a:r>
                <a:r>
                  <a:rPr b="0" i="0" lang="en-US" sz="2000" u="none" cap="none" strike="noStrike">
                    <a:solidFill>
                      <a:srgbClr val="000000"/>
                    </a:solidFill>
                    <a:latin typeface="Calibri"/>
                    <a:ea typeface="Calibri"/>
                    <a:cs typeface="Calibri"/>
                    <a:sym typeface="Calibri"/>
                  </a:rPr>
                  <a:t>seq # of next expected byte; A bit: this is an ACK</a:t>
                </a:r>
                <a:endParaRPr b="0" i="0" sz="1100" u="none" cap="none" strike="noStrike">
                  <a:solidFill>
                    <a:srgbClr val="000000"/>
                  </a:solidFill>
                  <a:latin typeface="Calibri"/>
                  <a:ea typeface="Calibri"/>
                  <a:cs typeface="Calibri"/>
                  <a:sym typeface="Calibri"/>
                </a:endParaRPr>
              </a:p>
            </p:txBody>
          </p:sp>
          <p:sp>
            <p:nvSpPr>
              <p:cNvPr id="5211" name="Google Shape;5211;p97"/>
              <p:cNvSpPr/>
              <p:nvPr/>
            </p:nvSpPr>
            <p:spPr>
              <a:xfrm>
                <a:off x="3505200" y="2417523"/>
                <a:ext cx="2076276" cy="519606"/>
              </a:xfrm>
              <a:custGeom>
                <a:rect b="b" l="l" r="r" t="t"/>
                <a:pathLst>
                  <a:path extrusionOk="0" h="519606" w="2076276">
                    <a:moveTo>
                      <a:pt x="0" y="0"/>
                    </a:moveTo>
                    <a:cubicBezTo>
                      <a:pt x="694209" y="186960"/>
                      <a:pt x="1382067" y="332646"/>
                      <a:pt x="2076276" y="519606"/>
                    </a:cubicBezTo>
                  </a:path>
                </a:pathLst>
              </a:custGeom>
              <a:noFill/>
              <a:ln cap="flat" cmpd="sng" w="190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212" name="Google Shape;5212;p97"/>
              <p:cNvCxnSpPr/>
              <p:nvPr/>
            </p:nvCxnSpPr>
            <p:spPr>
              <a:xfrm>
                <a:off x="3505200" y="2404996"/>
                <a:ext cx="1263476" cy="215853"/>
              </a:xfrm>
              <a:prstGeom prst="straightConnector1">
                <a:avLst/>
              </a:prstGeom>
              <a:noFill/>
              <a:ln cap="flat" cmpd="sng" w="19050">
                <a:solidFill>
                  <a:srgbClr val="C00000"/>
                </a:solidFill>
                <a:prstDash val="solid"/>
                <a:round/>
                <a:headEnd len="med" w="med" type="none"/>
                <a:tailEnd len="med" w="med" type="none"/>
              </a:ln>
            </p:spPr>
          </p:cxnSp>
        </p:grpSp>
      </p:grpSp>
      <p:grpSp>
        <p:nvGrpSpPr>
          <p:cNvPr id="5213" name="Google Shape;5213;p97"/>
          <p:cNvGrpSpPr/>
          <p:nvPr/>
        </p:nvGrpSpPr>
        <p:grpSpPr>
          <a:xfrm>
            <a:off x="1895418" y="3659802"/>
            <a:ext cx="5828956" cy="1090980"/>
            <a:chOff x="1895418" y="3659802"/>
            <a:chExt cx="5828956" cy="1090980"/>
          </a:xfrm>
        </p:grpSpPr>
        <p:sp>
          <p:nvSpPr>
            <p:cNvPr id="5214" name="Google Shape;5214;p97"/>
            <p:cNvSpPr txBox="1"/>
            <p:nvPr/>
          </p:nvSpPr>
          <p:spPr>
            <a:xfrm>
              <a:off x="4830361" y="3659802"/>
              <a:ext cx="289401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options (variable length)</a:t>
              </a:r>
              <a:endParaRPr b="0" i="0" sz="2400" u="none" cap="none" strike="noStrike">
                <a:solidFill>
                  <a:srgbClr val="000000"/>
                </a:solidFill>
                <a:latin typeface="Arial"/>
                <a:ea typeface="Arial"/>
                <a:cs typeface="Arial"/>
                <a:sym typeface="Arial"/>
              </a:endParaRPr>
            </a:p>
          </p:txBody>
        </p:sp>
        <p:sp>
          <p:nvSpPr>
            <p:cNvPr id="5215" name="Google Shape;5215;p97"/>
            <p:cNvSpPr txBox="1"/>
            <p:nvPr/>
          </p:nvSpPr>
          <p:spPr>
            <a:xfrm>
              <a:off x="1895418" y="4326050"/>
              <a:ext cx="1688926"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TCP</a:t>
              </a:r>
              <a:r>
                <a:rPr b="0" i="0" lang="en-US" sz="2400" u="none" cap="none" strike="noStrike">
                  <a:solidFill>
                    <a:srgbClr val="000000"/>
                  </a:solidFill>
                  <a:latin typeface="Calibri"/>
                  <a:ea typeface="Calibri"/>
                  <a:cs typeface="Calibri"/>
                  <a:sym typeface="Calibri"/>
                </a:rPr>
                <a:t> options</a:t>
              </a:r>
              <a:endParaRPr b="0" i="0" sz="2000" u="none" cap="none" strike="noStrike">
                <a:solidFill>
                  <a:srgbClr val="000000"/>
                </a:solidFill>
                <a:latin typeface="Calibri"/>
                <a:ea typeface="Calibri"/>
                <a:cs typeface="Calibri"/>
                <a:sym typeface="Calibri"/>
              </a:endParaRPr>
            </a:p>
          </p:txBody>
        </p:sp>
        <p:cxnSp>
          <p:nvCxnSpPr>
            <p:cNvPr id="5216" name="Google Shape;5216;p97"/>
            <p:cNvCxnSpPr>
              <a:stCxn id="5215" idx="3"/>
              <a:endCxn id="5214" idx="1"/>
            </p:cNvCxnSpPr>
            <p:nvPr/>
          </p:nvCxnSpPr>
          <p:spPr>
            <a:xfrm flipH="1" rot="10800000">
              <a:off x="3584344" y="3859816"/>
              <a:ext cx="1245900" cy="678600"/>
            </a:xfrm>
            <a:prstGeom prst="straightConnector1">
              <a:avLst/>
            </a:prstGeom>
            <a:noFill/>
            <a:ln cap="flat" cmpd="sng" w="19050">
              <a:solidFill>
                <a:srgbClr val="C00000"/>
              </a:solidFill>
              <a:prstDash val="solid"/>
              <a:miter lim="800000"/>
              <a:headEnd len="sm" w="sm" type="none"/>
              <a:tailEnd len="sm" w="sm" type="none"/>
            </a:ln>
          </p:spPr>
        </p:cxnSp>
      </p:grpSp>
      <p:grpSp>
        <p:nvGrpSpPr>
          <p:cNvPr id="5217" name="Google Shape;5217;p97"/>
          <p:cNvGrpSpPr/>
          <p:nvPr/>
        </p:nvGrpSpPr>
        <p:grpSpPr>
          <a:xfrm>
            <a:off x="318075" y="2819126"/>
            <a:ext cx="4456458" cy="424732"/>
            <a:chOff x="318075" y="2819126"/>
            <a:chExt cx="4456458" cy="424732"/>
          </a:xfrm>
        </p:grpSpPr>
        <p:sp>
          <p:nvSpPr>
            <p:cNvPr id="5218" name="Google Shape;5218;p97"/>
            <p:cNvSpPr txBox="1"/>
            <p:nvPr/>
          </p:nvSpPr>
          <p:spPr>
            <a:xfrm>
              <a:off x="4278884" y="2826980"/>
              <a:ext cx="495649" cy="407676"/>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head</a:t>
              </a:r>
              <a:endParaRPr/>
            </a:p>
            <a:p>
              <a:pPr indent="0" lvl="0" marL="0" marR="0" rtl="0" algn="ctr">
                <a:lnSpc>
                  <a:spcPct val="85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len</a:t>
              </a:r>
              <a:endParaRPr b="0" i="0" sz="1600" u="none" cap="none" strike="noStrike">
                <a:solidFill>
                  <a:srgbClr val="000000"/>
                </a:solidFill>
                <a:latin typeface="Calibri"/>
                <a:ea typeface="Calibri"/>
                <a:cs typeface="Calibri"/>
                <a:sym typeface="Calibri"/>
              </a:endParaRPr>
            </a:p>
          </p:txBody>
        </p:sp>
        <p:sp>
          <p:nvSpPr>
            <p:cNvPr id="5219" name="Google Shape;5219;p97"/>
            <p:cNvSpPr txBox="1"/>
            <p:nvPr/>
          </p:nvSpPr>
          <p:spPr>
            <a:xfrm>
              <a:off x="318075" y="2819126"/>
              <a:ext cx="3287333"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length </a:t>
              </a:r>
              <a:r>
                <a:rPr b="0" i="0" lang="en-US" sz="2000" u="none" cap="none" strike="noStrike">
                  <a:solidFill>
                    <a:srgbClr val="000000"/>
                  </a:solidFill>
                  <a:latin typeface="Calibri"/>
                  <a:ea typeface="Calibri"/>
                  <a:cs typeface="Calibri"/>
                  <a:sym typeface="Calibri"/>
                </a:rPr>
                <a:t>(of TCP header)</a:t>
              </a:r>
              <a:endParaRPr/>
            </a:p>
          </p:txBody>
        </p:sp>
        <p:cxnSp>
          <p:nvCxnSpPr>
            <p:cNvPr id="5220" name="Google Shape;5220;p97"/>
            <p:cNvCxnSpPr/>
            <p:nvPr/>
          </p:nvCxnSpPr>
          <p:spPr>
            <a:xfrm>
              <a:off x="3544867" y="3031480"/>
              <a:ext cx="783888" cy="0"/>
            </a:xfrm>
            <a:prstGeom prst="straightConnector1">
              <a:avLst/>
            </a:prstGeom>
            <a:noFill/>
            <a:ln cap="flat" cmpd="sng" w="19050">
              <a:solidFill>
                <a:srgbClr val="C00000"/>
              </a:solidFill>
              <a:prstDash val="solid"/>
              <a:miter lim="800000"/>
              <a:headEnd len="sm" w="sm" type="none"/>
              <a:tailEnd len="sm" w="sm" type="none"/>
            </a:ln>
          </p:spPr>
        </p:cxnSp>
      </p:grpSp>
      <p:grpSp>
        <p:nvGrpSpPr>
          <p:cNvPr id="5221" name="Google Shape;5221;p97"/>
          <p:cNvGrpSpPr/>
          <p:nvPr/>
        </p:nvGrpSpPr>
        <p:grpSpPr>
          <a:xfrm>
            <a:off x="-24878" y="3174115"/>
            <a:ext cx="6031751" cy="424732"/>
            <a:chOff x="-24878" y="3174115"/>
            <a:chExt cx="6031751" cy="424732"/>
          </a:xfrm>
        </p:grpSpPr>
        <p:sp>
          <p:nvSpPr>
            <p:cNvPr id="5222" name="Google Shape;5222;p97"/>
            <p:cNvSpPr txBox="1"/>
            <p:nvPr/>
          </p:nvSpPr>
          <p:spPr>
            <a:xfrm>
              <a:off x="4794023" y="3203124"/>
              <a:ext cx="12128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checksum</a:t>
              </a:r>
              <a:endParaRPr/>
            </a:p>
          </p:txBody>
        </p:sp>
        <p:sp>
          <p:nvSpPr>
            <p:cNvPr id="5223" name="Google Shape;5223;p97"/>
            <p:cNvSpPr txBox="1"/>
            <p:nvPr/>
          </p:nvSpPr>
          <p:spPr>
            <a:xfrm>
              <a:off x="-24878" y="3174115"/>
              <a:ext cx="3595495"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Internet</a:t>
              </a:r>
              <a:r>
                <a:rPr b="0" i="0" lang="en-US" sz="2400" u="none" cap="none" strike="noStrike">
                  <a:solidFill>
                    <a:srgbClr val="000000"/>
                  </a:solidFill>
                  <a:latin typeface="Calibri"/>
                  <a:ea typeface="Calibri"/>
                  <a:cs typeface="Calibri"/>
                  <a:sym typeface="Calibri"/>
                </a:rPr>
                <a:t> checksum</a:t>
              </a:r>
              <a:endParaRPr/>
            </a:p>
          </p:txBody>
        </p:sp>
        <p:cxnSp>
          <p:nvCxnSpPr>
            <p:cNvPr id="5224" name="Google Shape;5224;p97"/>
            <p:cNvCxnSpPr>
              <a:stCxn id="5223" idx="3"/>
              <a:endCxn id="5222" idx="1"/>
            </p:cNvCxnSpPr>
            <p:nvPr/>
          </p:nvCxnSpPr>
          <p:spPr>
            <a:xfrm>
              <a:off x="3570617" y="3386481"/>
              <a:ext cx="1223400" cy="0"/>
            </a:xfrm>
            <a:prstGeom prst="straightConnector1">
              <a:avLst/>
            </a:prstGeom>
            <a:noFill/>
            <a:ln cap="flat" cmpd="sng" w="19050">
              <a:solidFill>
                <a:srgbClr val="C00000"/>
              </a:solidFill>
              <a:prstDash val="solid"/>
              <a:miter lim="800000"/>
              <a:headEnd len="sm" w="sm" type="none"/>
              <a:tailEnd len="sm" w="sm" type="none"/>
            </a:ln>
          </p:spPr>
        </p:cxnSp>
      </p:grpSp>
      <p:cxnSp>
        <p:nvCxnSpPr>
          <p:cNvPr id="5225" name="Google Shape;5225;p97"/>
          <p:cNvCxnSpPr/>
          <p:nvPr/>
        </p:nvCxnSpPr>
        <p:spPr>
          <a:xfrm rot="10800000">
            <a:off x="6289447" y="1679374"/>
            <a:ext cx="1761" cy="365184"/>
          </a:xfrm>
          <a:prstGeom prst="straightConnector1">
            <a:avLst/>
          </a:prstGeom>
          <a:noFill/>
          <a:ln cap="flat" cmpd="sng" w="19050">
            <a:solidFill>
              <a:srgbClr val="000000"/>
            </a:solidFill>
            <a:prstDash val="solid"/>
            <a:round/>
            <a:headEnd len="med" w="med" type="none"/>
            <a:tailEnd len="med" w="med" type="none"/>
          </a:ln>
        </p:spPr>
      </p:cxnSp>
      <p:cxnSp>
        <p:nvCxnSpPr>
          <p:cNvPr id="5226" name="Google Shape;5226;p97"/>
          <p:cNvCxnSpPr/>
          <p:nvPr/>
        </p:nvCxnSpPr>
        <p:spPr>
          <a:xfrm rot="10800000">
            <a:off x="6150711" y="2804662"/>
            <a:ext cx="0" cy="392112"/>
          </a:xfrm>
          <a:prstGeom prst="straightConnector1">
            <a:avLst/>
          </a:prstGeom>
          <a:noFill/>
          <a:ln cap="flat" cmpd="sng" w="12700">
            <a:solidFill>
              <a:srgbClr val="000000"/>
            </a:solidFill>
            <a:prstDash val="solid"/>
            <a:round/>
            <a:headEnd len="med" w="med" type="none"/>
            <a:tailEnd len="med" w="med" type="none"/>
          </a:ln>
        </p:spPr>
      </p:cxnSp>
      <p:cxnSp>
        <p:nvCxnSpPr>
          <p:cNvPr id="5227" name="Google Shape;5227;p97"/>
          <p:cNvCxnSpPr/>
          <p:nvPr/>
        </p:nvCxnSpPr>
        <p:spPr>
          <a:xfrm rot="10800000">
            <a:off x="5992924" y="2809424"/>
            <a:ext cx="0" cy="392113"/>
          </a:xfrm>
          <a:prstGeom prst="straightConnector1">
            <a:avLst/>
          </a:prstGeom>
          <a:noFill/>
          <a:ln cap="flat" cmpd="sng" w="12700">
            <a:solidFill>
              <a:srgbClr val="000000"/>
            </a:solidFill>
            <a:prstDash val="solid"/>
            <a:round/>
            <a:headEnd len="med" w="med" type="none"/>
            <a:tailEnd len="med" w="med" type="none"/>
          </a:ln>
        </p:spPr>
      </p:cxnSp>
      <p:cxnSp>
        <p:nvCxnSpPr>
          <p:cNvPr id="5228" name="Google Shape;5228;p97"/>
          <p:cNvCxnSpPr/>
          <p:nvPr/>
        </p:nvCxnSpPr>
        <p:spPr>
          <a:xfrm rot="10800000">
            <a:off x="5830374" y="2809424"/>
            <a:ext cx="0" cy="392113"/>
          </a:xfrm>
          <a:prstGeom prst="straightConnector1">
            <a:avLst/>
          </a:prstGeom>
          <a:noFill/>
          <a:ln cap="flat" cmpd="sng" w="12700">
            <a:solidFill>
              <a:srgbClr val="000000"/>
            </a:solidFill>
            <a:prstDash val="solid"/>
            <a:round/>
            <a:headEnd len="med" w="med" type="none"/>
            <a:tailEnd len="med" w="med" type="none"/>
          </a:ln>
        </p:spPr>
      </p:cxnSp>
      <p:grpSp>
        <p:nvGrpSpPr>
          <p:cNvPr id="5229" name="Google Shape;5229;p97"/>
          <p:cNvGrpSpPr/>
          <p:nvPr/>
        </p:nvGrpSpPr>
        <p:grpSpPr>
          <a:xfrm>
            <a:off x="172543" y="2863949"/>
            <a:ext cx="6190466" cy="2660551"/>
            <a:chOff x="172543" y="2863949"/>
            <a:chExt cx="6190466" cy="2660551"/>
          </a:xfrm>
        </p:grpSpPr>
        <p:sp>
          <p:nvSpPr>
            <p:cNvPr id="5230" name="Google Shape;5230;p97"/>
            <p:cNvSpPr txBox="1"/>
            <p:nvPr/>
          </p:nvSpPr>
          <p:spPr>
            <a:xfrm>
              <a:off x="172543" y="4822769"/>
              <a:ext cx="3419248" cy="70173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RST, SYN, FIN: </a:t>
              </a:r>
              <a:r>
                <a:rPr b="0" i="0" lang="en-US" sz="2000" u="none" cap="none" strike="noStrike">
                  <a:solidFill>
                    <a:srgbClr val="000000"/>
                  </a:solidFill>
                  <a:latin typeface="Calibri"/>
                  <a:ea typeface="Calibri"/>
                  <a:cs typeface="Calibri"/>
                  <a:sym typeface="Calibri"/>
                </a:rPr>
                <a:t>connection management</a:t>
              </a:r>
              <a:endParaRPr b="0" i="0" sz="2400" u="none" cap="none" strike="noStrike">
                <a:solidFill>
                  <a:srgbClr val="000000"/>
                </a:solidFill>
                <a:latin typeface="Calibri"/>
                <a:ea typeface="Calibri"/>
                <a:cs typeface="Calibri"/>
                <a:sym typeface="Calibri"/>
              </a:endParaRPr>
            </a:p>
          </p:txBody>
        </p:sp>
        <p:sp>
          <p:nvSpPr>
            <p:cNvPr id="5231" name="Google Shape;5231;p97"/>
            <p:cNvSpPr/>
            <p:nvPr/>
          </p:nvSpPr>
          <p:spPr>
            <a:xfrm>
              <a:off x="3558336" y="3152325"/>
              <a:ext cx="2678659" cy="2026938"/>
            </a:xfrm>
            <a:custGeom>
              <a:rect b="b" l="l" r="r" t="t"/>
              <a:pathLst>
                <a:path extrusionOk="0" h="28757" w="11573">
                  <a:moveTo>
                    <a:pt x="0" y="28757"/>
                  </a:moveTo>
                  <a:lnTo>
                    <a:pt x="10147" y="0"/>
                  </a:lnTo>
                  <a:lnTo>
                    <a:pt x="11573" y="0"/>
                  </a:lnTo>
                </a:path>
              </a:pathLst>
            </a:custGeom>
            <a:noFill/>
            <a:ln cap="flat" cmpd="sng" w="190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232" name="Google Shape;5232;p97"/>
            <p:cNvGrpSpPr/>
            <p:nvPr/>
          </p:nvGrpSpPr>
          <p:grpSpPr>
            <a:xfrm>
              <a:off x="5775299" y="2863949"/>
              <a:ext cx="587710" cy="339181"/>
              <a:chOff x="5775299" y="2863949"/>
              <a:chExt cx="587710" cy="339181"/>
            </a:xfrm>
          </p:grpSpPr>
          <p:sp>
            <p:nvSpPr>
              <p:cNvPr id="5233" name="Google Shape;5233;p97"/>
              <p:cNvSpPr txBox="1"/>
              <p:nvPr/>
            </p:nvSpPr>
            <p:spPr>
              <a:xfrm>
                <a:off x="6083766" y="2864576"/>
                <a:ext cx="279243"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F</a:t>
                </a:r>
                <a:endParaRPr b="0" i="0" sz="2400" u="none" cap="none" strike="noStrike">
                  <a:solidFill>
                    <a:srgbClr val="000000"/>
                  </a:solidFill>
                  <a:latin typeface="Calibri"/>
                  <a:ea typeface="Calibri"/>
                  <a:cs typeface="Calibri"/>
                  <a:sym typeface="Calibri"/>
                </a:endParaRPr>
              </a:p>
            </p:txBody>
          </p:sp>
          <p:sp>
            <p:nvSpPr>
              <p:cNvPr id="5234" name="Google Shape;5234;p97"/>
              <p:cNvSpPr txBox="1"/>
              <p:nvPr/>
            </p:nvSpPr>
            <p:spPr>
              <a:xfrm>
                <a:off x="5939184" y="2863949"/>
                <a:ext cx="279243"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a:t>
                </a:r>
                <a:endParaRPr b="0" i="0" sz="2400" u="none" cap="none" strike="noStrike">
                  <a:solidFill>
                    <a:srgbClr val="000000"/>
                  </a:solidFill>
                  <a:latin typeface="Calibri"/>
                  <a:ea typeface="Calibri"/>
                  <a:cs typeface="Calibri"/>
                  <a:sym typeface="Calibri"/>
                </a:endParaRPr>
              </a:p>
            </p:txBody>
          </p:sp>
          <p:sp>
            <p:nvSpPr>
              <p:cNvPr id="5235" name="Google Shape;5235;p97"/>
              <p:cNvSpPr txBox="1"/>
              <p:nvPr/>
            </p:nvSpPr>
            <p:spPr>
              <a:xfrm>
                <a:off x="5775299" y="2863950"/>
                <a:ext cx="29687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R</a:t>
                </a:r>
                <a:endParaRPr b="0" i="0" sz="2400" u="none" cap="none" strike="noStrike">
                  <a:solidFill>
                    <a:srgbClr val="000000"/>
                  </a:solidFill>
                  <a:latin typeface="Calibri"/>
                  <a:ea typeface="Calibri"/>
                  <a:cs typeface="Calibri"/>
                  <a:sym typeface="Calibri"/>
                </a:endParaRPr>
              </a:p>
            </p:txBody>
          </p:sp>
        </p:grpSp>
      </p:grpSp>
      <p:grpSp>
        <p:nvGrpSpPr>
          <p:cNvPr id="5236" name="Google Shape;5236;p97"/>
          <p:cNvGrpSpPr/>
          <p:nvPr/>
        </p:nvGrpSpPr>
        <p:grpSpPr>
          <a:xfrm>
            <a:off x="5277007" y="2859957"/>
            <a:ext cx="2976178" cy="719405"/>
            <a:chOff x="5277007" y="2859957"/>
            <a:chExt cx="2976178" cy="719405"/>
          </a:xfrm>
        </p:grpSpPr>
        <p:sp>
          <p:nvSpPr>
            <p:cNvPr id="5237" name="Google Shape;5237;p97"/>
            <p:cNvSpPr txBox="1"/>
            <p:nvPr/>
          </p:nvSpPr>
          <p:spPr>
            <a:xfrm>
              <a:off x="6430735" y="3212649"/>
              <a:ext cx="18224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BFBFBF"/>
                </a:buClr>
                <a:buSzPts val="1800"/>
                <a:buFont typeface="Arial"/>
                <a:buNone/>
              </a:pPr>
              <a:r>
                <a:rPr b="0" i="0" lang="en-US" sz="1800" u="none" cap="none" strike="noStrike">
                  <a:solidFill>
                    <a:srgbClr val="BFBFBF"/>
                  </a:solidFill>
                  <a:latin typeface="Arial"/>
                  <a:ea typeface="Arial"/>
                  <a:cs typeface="Arial"/>
                  <a:sym typeface="Arial"/>
                </a:rPr>
                <a:t>Urg data pointer</a:t>
              </a:r>
              <a:endParaRPr/>
            </a:p>
          </p:txBody>
        </p:sp>
        <p:grpSp>
          <p:nvGrpSpPr>
            <p:cNvPr id="5238" name="Google Shape;5238;p97"/>
            <p:cNvGrpSpPr/>
            <p:nvPr/>
          </p:nvGrpSpPr>
          <p:grpSpPr>
            <a:xfrm>
              <a:off x="5277007" y="2859957"/>
              <a:ext cx="627836" cy="345695"/>
              <a:chOff x="5527528" y="3067992"/>
              <a:chExt cx="627836" cy="345695"/>
            </a:xfrm>
          </p:grpSpPr>
          <p:sp>
            <p:nvSpPr>
              <p:cNvPr id="5239" name="Google Shape;5239;p97"/>
              <p:cNvSpPr txBox="1"/>
              <p:nvPr/>
            </p:nvSpPr>
            <p:spPr>
              <a:xfrm>
                <a:off x="5864900" y="3067992"/>
                <a:ext cx="290464"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A5A5A5"/>
                  </a:buClr>
                  <a:buSzPts val="1600"/>
                  <a:buFont typeface="Calibri"/>
                  <a:buNone/>
                </a:pPr>
                <a:r>
                  <a:rPr b="0" i="0" lang="en-US" sz="1600" u="none" cap="none" strike="noStrike">
                    <a:solidFill>
                      <a:srgbClr val="A5A5A5"/>
                    </a:solidFill>
                    <a:latin typeface="Calibri"/>
                    <a:ea typeface="Calibri"/>
                    <a:cs typeface="Calibri"/>
                    <a:sym typeface="Calibri"/>
                  </a:rPr>
                  <a:t>P</a:t>
                </a:r>
                <a:endParaRPr b="0" i="0" sz="2400" u="none" cap="none" strike="noStrike">
                  <a:solidFill>
                    <a:srgbClr val="A5A5A5"/>
                  </a:solidFill>
                  <a:latin typeface="Calibri"/>
                  <a:ea typeface="Calibri"/>
                  <a:cs typeface="Calibri"/>
                  <a:sym typeface="Calibri"/>
                </a:endParaRPr>
              </a:p>
            </p:txBody>
          </p:sp>
          <p:sp>
            <p:nvSpPr>
              <p:cNvPr id="5240" name="Google Shape;5240;p97"/>
              <p:cNvSpPr txBox="1"/>
              <p:nvPr/>
            </p:nvSpPr>
            <p:spPr>
              <a:xfrm>
                <a:off x="5527528" y="3075133"/>
                <a:ext cx="316112"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A5A5A5"/>
                  </a:buClr>
                  <a:buSzPts val="1600"/>
                  <a:buFont typeface="Calibri"/>
                  <a:buNone/>
                </a:pPr>
                <a:r>
                  <a:rPr b="0" i="0" lang="en-US" sz="1600" u="none" cap="none" strike="noStrike">
                    <a:solidFill>
                      <a:srgbClr val="A5A5A5"/>
                    </a:solidFill>
                    <a:latin typeface="Calibri"/>
                    <a:ea typeface="Calibri"/>
                    <a:cs typeface="Calibri"/>
                    <a:sym typeface="Calibri"/>
                  </a:rPr>
                  <a:t>U</a:t>
                </a:r>
                <a:endParaRPr b="0" i="0" sz="2400" u="none" cap="none" strike="noStrike">
                  <a:solidFill>
                    <a:srgbClr val="A5A5A5"/>
                  </a:solidFill>
                  <a:latin typeface="Calibri"/>
                  <a:ea typeface="Calibri"/>
                  <a:cs typeface="Calibri"/>
                  <a:sym typeface="Calibri"/>
                </a:endParaRPr>
              </a:p>
            </p:txBody>
          </p:sp>
        </p:grpSp>
      </p:grpSp>
      <p:cxnSp>
        <p:nvCxnSpPr>
          <p:cNvPr id="5241" name="Google Shape;5241;p97"/>
          <p:cNvCxnSpPr/>
          <p:nvPr/>
        </p:nvCxnSpPr>
        <p:spPr>
          <a:xfrm rot="10800000">
            <a:off x="5038305" y="2821148"/>
            <a:ext cx="0" cy="392113"/>
          </a:xfrm>
          <a:prstGeom prst="straightConnector1">
            <a:avLst/>
          </a:prstGeom>
          <a:noFill/>
          <a:ln cap="flat" cmpd="sng" w="12700">
            <a:solidFill>
              <a:srgbClr val="000000"/>
            </a:solidFill>
            <a:prstDash val="solid"/>
            <a:round/>
            <a:headEnd len="med" w="med" type="none"/>
            <a:tailEnd len="med" w="med" type="none"/>
          </a:ln>
        </p:spPr>
      </p:cxnSp>
      <p:cxnSp>
        <p:nvCxnSpPr>
          <p:cNvPr id="5242" name="Google Shape;5242;p97"/>
          <p:cNvCxnSpPr/>
          <p:nvPr/>
        </p:nvCxnSpPr>
        <p:spPr>
          <a:xfrm rot="10800000">
            <a:off x="5198693" y="2812182"/>
            <a:ext cx="0" cy="392113"/>
          </a:xfrm>
          <a:prstGeom prst="straightConnector1">
            <a:avLst/>
          </a:prstGeom>
          <a:noFill/>
          <a:ln cap="flat" cmpd="sng" w="12700">
            <a:solidFill>
              <a:srgbClr val="000000"/>
            </a:solidFill>
            <a:prstDash val="solid"/>
            <a:round/>
            <a:headEnd len="med" w="med" type="none"/>
            <a:tailEnd len="med" w="med" type="none"/>
          </a:ln>
        </p:spPr>
      </p:cxnSp>
      <p:grpSp>
        <p:nvGrpSpPr>
          <p:cNvPr id="5243" name="Google Shape;5243;p97"/>
          <p:cNvGrpSpPr/>
          <p:nvPr/>
        </p:nvGrpSpPr>
        <p:grpSpPr>
          <a:xfrm>
            <a:off x="182880" y="2863950"/>
            <a:ext cx="5235245" cy="1390074"/>
            <a:chOff x="182880" y="2863950"/>
            <a:chExt cx="5235245" cy="1390074"/>
          </a:xfrm>
        </p:grpSpPr>
        <p:grpSp>
          <p:nvGrpSpPr>
            <p:cNvPr id="5244" name="Google Shape;5244;p97"/>
            <p:cNvGrpSpPr/>
            <p:nvPr/>
          </p:nvGrpSpPr>
          <p:grpSpPr>
            <a:xfrm>
              <a:off x="4962499" y="2863950"/>
              <a:ext cx="455626" cy="338554"/>
              <a:chOff x="4962499" y="2863950"/>
              <a:chExt cx="455626" cy="338554"/>
            </a:xfrm>
          </p:grpSpPr>
          <p:sp>
            <p:nvSpPr>
              <p:cNvPr id="5245" name="Google Shape;5245;p97"/>
              <p:cNvSpPr txBox="1"/>
              <p:nvPr/>
            </p:nvSpPr>
            <p:spPr>
              <a:xfrm>
                <a:off x="4962499" y="2863950"/>
                <a:ext cx="29687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a:t>
                </a:r>
                <a:endParaRPr b="0" i="0" sz="2400" u="none" cap="none" strike="noStrike">
                  <a:solidFill>
                    <a:srgbClr val="000000"/>
                  </a:solidFill>
                  <a:latin typeface="Calibri"/>
                  <a:ea typeface="Calibri"/>
                  <a:cs typeface="Calibri"/>
                  <a:sym typeface="Calibri"/>
                </a:endParaRPr>
              </a:p>
            </p:txBody>
          </p:sp>
          <p:sp>
            <p:nvSpPr>
              <p:cNvPr id="5246" name="Google Shape;5246;p97"/>
              <p:cNvSpPr txBox="1"/>
              <p:nvPr/>
            </p:nvSpPr>
            <p:spPr>
              <a:xfrm>
                <a:off x="5121249" y="2863950"/>
                <a:ext cx="296876"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E</a:t>
                </a:r>
                <a:endParaRPr b="0" i="0" sz="2400" u="none" cap="none" strike="noStrike">
                  <a:solidFill>
                    <a:srgbClr val="000000"/>
                  </a:solidFill>
                  <a:latin typeface="Calibri"/>
                  <a:ea typeface="Calibri"/>
                  <a:cs typeface="Calibri"/>
                  <a:sym typeface="Calibri"/>
                </a:endParaRPr>
              </a:p>
            </p:txBody>
          </p:sp>
        </p:grpSp>
        <p:sp>
          <p:nvSpPr>
            <p:cNvPr id="5247" name="Google Shape;5247;p97"/>
            <p:cNvSpPr txBox="1"/>
            <p:nvPr/>
          </p:nvSpPr>
          <p:spPr>
            <a:xfrm>
              <a:off x="182880" y="3829292"/>
              <a:ext cx="3384479"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 E: </a:t>
              </a:r>
              <a:r>
                <a:rPr b="0" i="0" lang="en-US" sz="2000" u="none" cap="none" strike="noStrike">
                  <a:solidFill>
                    <a:srgbClr val="000000"/>
                  </a:solidFill>
                  <a:latin typeface="Calibri"/>
                  <a:ea typeface="Calibri"/>
                  <a:cs typeface="Calibri"/>
                  <a:sym typeface="Calibri"/>
                </a:rPr>
                <a:t>congestion notification</a:t>
              </a:r>
              <a:endParaRPr b="0" i="0" sz="2400" u="none" cap="none" strike="noStrike">
                <a:solidFill>
                  <a:srgbClr val="000000"/>
                </a:solidFill>
                <a:latin typeface="Calibri"/>
                <a:ea typeface="Calibri"/>
                <a:cs typeface="Calibri"/>
                <a:sym typeface="Calibri"/>
              </a:endParaRPr>
            </a:p>
          </p:txBody>
        </p:sp>
        <p:sp>
          <p:nvSpPr>
            <p:cNvPr id="5248" name="Google Shape;5248;p97"/>
            <p:cNvSpPr/>
            <p:nvPr/>
          </p:nvSpPr>
          <p:spPr>
            <a:xfrm>
              <a:off x="3573195" y="3136684"/>
              <a:ext cx="1749482" cy="914811"/>
            </a:xfrm>
            <a:custGeom>
              <a:rect b="b" l="l" r="r" t="t"/>
              <a:pathLst>
                <a:path extrusionOk="0" h="10017" w="10062">
                  <a:moveTo>
                    <a:pt x="0" y="10017"/>
                  </a:moveTo>
                  <a:lnTo>
                    <a:pt x="8853" y="17"/>
                  </a:lnTo>
                  <a:lnTo>
                    <a:pt x="10062" y="0"/>
                  </a:lnTo>
                </a:path>
              </a:pathLst>
            </a:custGeom>
            <a:noFill/>
            <a:ln cap="flat" cmpd="sng" w="190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249" name="Google Shape;5249;p9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5"/>
                                        </p:tgtEl>
                                        <p:attrNameLst>
                                          <p:attrName>style.visibility</p:attrName>
                                        </p:attrNameLst>
                                      </p:cBhvr>
                                      <p:to>
                                        <p:strVal val="visible"/>
                                      </p:to>
                                    </p:set>
                                    <p:animEffect filter="fade" transition="in">
                                      <p:cBhvr>
                                        <p:cTn dur="500"/>
                                        <p:tgtEl>
                                          <p:spTgt spid="51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8"/>
                                        </p:tgtEl>
                                        <p:attrNameLst>
                                          <p:attrName>style.visibility</p:attrName>
                                        </p:attrNameLst>
                                      </p:cBhvr>
                                      <p:to>
                                        <p:strVal val="visible"/>
                                      </p:to>
                                    </p:set>
                                    <p:animEffect filter="fade" transition="in">
                                      <p:cBhvr>
                                        <p:cTn dur="500"/>
                                        <p:tgtEl>
                                          <p:spTgt spid="5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06"/>
                                        </p:tgtEl>
                                        <p:attrNameLst>
                                          <p:attrName>style.visibility</p:attrName>
                                        </p:attrNameLst>
                                      </p:cBhvr>
                                      <p:to>
                                        <p:strVal val="visible"/>
                                      </p:to>
                                    </p:set>
                                    <p:animEffect filter="fade" transition="in">
                                      <p:cBhvr>
                                        <p:cTn dur="500"/>
                                        <p:tgtEl>
                                          <p:spTgt spid="52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02"/>
                                        </p:tgtEl>
                                        <p:attrNameLst>
                                          <p:attrName>style.visibility</p:attrName>
                                        </p:attrNameLst>
                                      </p:cBhvr>
                                      <p:to>
                                        <p:strVal val="visible"/>
                                      </p:to>
                                    </p:set>
                                    <p:animEffect filter="fade" transition="in">
                                      <p:cBhvr>
                                        <p:cTn dur="500"/>
                                        <p:tgtEl>
                                          <p:spTgt spid="52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1"/>
                                        </p:tgtEl>
                                        <p:attrNameLst>
                                          <p:attrName>style.visibility</p:attrName>
                                        </p:attrNameLst>
                                      </p:cBhvr>
                                      <p:to>
                                        <p:strVal val="visible"/>
                                      </p:to>
                                    </p:set>
                                    <p:animEffect filter="fade" transition="in">
                                      <p:cBhvr>
                                        <p:cTn dur="500"/>
                                        <p:tgtEl>
                                          <p:spTgt spid="52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3"/>
                                        </p:tgtEl>
                                        <p:attrNameLst>
                                          <p:attrName>style.visibility</p:attrName>
                                        </p:attrNameLst>
                                      </p:cBhvr>
                                      <p:to>
                                        <p:strVal val="visible"/>
                                      </p:to>
                                    </p:set>
                                    <p:animEffect filter="fade" transition="in">
                                      <p:cBhvr>
                                        <p:cTn dur="500"/>
                                        <p:tgtEl>
                                          <p:spTgt spid="52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7"/>
                                        </p:tgtEl>
                                        <p:attrNameLst>
                                          <p:attrName>style.visibility</p:attrName>
                                        </p:attrNameLst>
                                      </p:cBhvr>
                                      <p:to>
                                        <p:strVal val="visible"/>
                                      </p:to>
                                    </p:set>
                                    <p:animEffect filter="fade" transition="in">
                                      <p:cBhvr>
                                        <p:cTn dur="500"/>
                                        <p:tgtEl>
                                          <p:spTgt spid="52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9"/>
                                        </p:tgtEl>
                                        <p:attrNameLst>
                                          <p:attrName>style.visibility</p:attrName>
                                        </p:attrNameLst>
                                      </p:cBhvr>
                                      <p:to>
                                        <p:strVal val="visible"/>
                                      </p:to>
                                    </p:set>
                                    <p:animEffect filter="fade" transition="in">
                                      <p:cBhvr>
                                        <p:cTn dur="500"/>
                                        <p:tgtEl>
                                          <p:spTgt spid="52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4"/>
                                        </p:tgtEl>
                                        <p:attrNameLst>
                                          <p:attrName>style.visibility</p:attrName>
                                        </p:attrNameLst>
                                      </p:cBhvr>
                                      <p:to>
                                        <p:strVal val="visible"/>
                                      </p:to>
                                    </p:set>
                                    <p:animEffect filter="fade" transition="in">
                                      <p:cBhvr>
                                        <p:cTn dur="500"/>
                                        <p:tgtEl>
                                          <p:spTgt spid="51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43"/>
                                        </p:tgtEl>
                                        <p:attrNameLst>
                                          <p:attrName>style.visibility</p:attrName>
                                        </p:attrNameLst>
                                      </p:cBhvr>
                                      <p:to>
                                        <p:strVal val="visible"/>
                                      </p:to>
                                    </p:set>
                                    <p:animEffect filter="fade" transition="in">
                                      <p:cBhvr>
                                        <p:cTn dur="500"/>
                                        <p:tgtEl>
                                          <p:spTgt spid="52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6"/>
                                        </p:tgtEl>
                                        <p:attrNameLst>
                                          <p:attrName>style.visibility</p:attrName>
                                        </p:attrNameLst>
                                      </p:cBhvr>
                                      <p:to>
                                        <p:strVal val="visible"/>
                                      </p:to>
                                    </p:set>
                                    <p:animEffect filter="fade" transition="in">
                                      <p:cBhvr>
                                        <p:cTn dur="500"/>
                                        <p:tgtEl>
                                          <p:spTgt spid="52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254" name="Shape 5254"/>
        <p:cNvGrpSpPr/>
        <p:nvPr/>
      </p:nvGrpSpPr>
      <p:grpSpPr>
        <a:xfrm>
          <a:off x="0" y="0"/>
          <a:ext cx="0" cy="0"/>
          <a:chOff x="0" y="0"/>
          <a:chExt cx="0" cy="0"/>
        </a:xfrm>
      </p:grpSpPr>
      <p:sp>
        <p:nvSpPr>
          <p:cNvPr id="5255" name="Google Shape;5255;p98"/>
          <p:cNvSpPr txBox="1"/>
          <p:nvPr>
            <p:ph type="title"/>
          </p:nvPr>
        </p:nvSpPr>
        <p:spPr>
          <a:xfrm>
            <a:off x="924024" y="190500"/>
            <a:ext cx="8905775" cy="7810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segment structure</a:t>
            </a:r>
            <a:endParaRPr/>
          </a:p>
        </p:txBody>
      </p:sp>
      <p:sp>
        <p:nvSpPr>
          <p:cNvPr id="5256" name="Google Shape;5256;p98"/>
          <p:cNvSpPr/>
          <p:nvPr/>
        </p:nvSpPr>
        <p:spPr>
          <a:xfrm>
            <a:off x="4421189" y="1512888"/>
            <a:ext cx="3951287" cy="4824412"/>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257" name="Google Shape;5257;p98"/>
          <p:cNvSpPr/>
          <p:nvPr/>
        </p:nvSpPr>
        <p:spPr>
          <a:xfrm>
            <a:off x="4335464" y="1628776"/>
            <a:ext cx="3951287" cy="4805363"/>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258" name="Google Shape;5258;p98"/>
          <p:cNvSpPr txBox="1"/>
          <p:nvPr/>
        </p:nvSpPr>
        <p:spPr>
          <a:xfrm>
            <a:off x="4479925" y="1587501"/>
            <a:ext cx="16637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source port #</a:t>
            </a:r>
            <a:endParaRPr sz="2400">
              <a:solidFill>
                <a:schemeClr val="dk1"/>
              </a:solidFill>
              <a:latin typeface="Arial"/>
              <a:ea typeface="Arial"/>
              <a:cs typeface="Arial"/>
              <a:sym typeface="Arial"/>
            </a:endParaRPr>
          </a:p>
        </p:txBody>
      </p:sp>
      <p:sp>
        <p:nvSpPr>
          <p:cNvPr id="5259" name="Google Shape;5259;p98"/>
          <p:cNvSpPr txBox="1"/>
          <p:nvPr/>
        </p:nvSpPr>
        <p:spPr>
          <a:xfrm>
            <a:off x="6580189" y="1592264"/>
            <a:ext cx="13811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dest port #</a:t>
            </a:r>
            <a:endParaRPr sz="1800">
              <a:solidFill>
                <a:schemeClr val="dk1"/>
              </a:solidFill>
              <a:latin typeface="Arial"/>
              <a:ea typeface="Arial"/>
              <a:cs typeface="Arial"/>
              <a:sym typeface="Arial"/>
            </a:endParaRPr>
          </a:p>
        </p:txBody>
      </p:sp>
      <p:cxnSp>
        <p:nvCxnSpPr>
          <p:cNvPr id="5260" name="Google Shape;5260;p98"/>
          <p:cNvCxnSpPr/>
          <p:nvPr/>
        </p:nvCxnSpPr>
        <p:spPr>
          <a:xfrm>
            <a:off x="4338639" y="2003426"/>
            <a:ext cx="3946525" cy="4763"/>
          </a:xfrm>
          <a:prstGeom prst="straightConnector1">
            <a:avLst/>
          </a:prstGeom>
          <a:noFill/>
          <a:ln cap="flat" cmpd="sng" w="19050">
            <a:solidFill>
              <a:schemeClr val="dk1"/>
            </a:solidFill>
            <a:prstDash val="solid"/>
            <a:round/>
            <a:headEnd len="med" w="med" type="none"/>
            <a:tailEnd len="med" w="med" type="none"/>
          </a:ln>
        </p:spPr>
      </p:cxnSp>
      <p:cxnSp>
        <p:nvCxnSpPr>
          <p:cNvPr id="5261" name="Google Shape;5261;p98"/>
          <p:cNvCxnSpPr/>
          <p:nvPr/>
        </p:nvCxnSpPr>
        <p:spPr>
          <a:xfrm>
            <a:off x="4332289" y="2382838"/>
            <a:ext cx="3951287" cy="0"/>
          </a:xfrm>
          <a:prstGeom prst="straightConnector1">
            <a:avLst/>
          </a:prstGeom>
          <a:noFill/>
          <a:ln cap="flat" cmpd="sng" w="19050">
            <a:solidFill>
              <a:schemeClr val="dk1"/>
            </a:solidFill>
            <a:prstDash val="solid"/>
            <a:round/>
            <a:headEnd len="med" w="med" type="none"/>
            <a:tailEnd len="med" w="med" type="none"/>
          </a:ln>
        </p:spPr>
      </p:cxnSp>
      <p:cxnSp>
        <p:nvCxnSpPr>
          <p:cNvPr id="5262" name="Google Shape;5262;p98"/>
          <p:cNvCxnSpPr/>
          <p:nvPr/>
        </p:nvCxnSpPr>
        <p:spPr>
          <a:xfrm rot="10800000">
            <a:off x="6278563" y="1628776"/>
            <a:ext cx="0" cy="392113"/>
          </a:xfrm>
          <a:prstGeom prst="straightConnector1">
            <a:avLst/>
          </a:prstGeom>
          <a:noFill/>
          <a:ln cap="flat" cmpd="sng" w="19050">
            <a:solidFill>
              <a:schemeClr val="dk1"/>
            </a:solidFill>
            <a:prstDash val="solid"/>
            <a:round/>
            <a:headEnd len="med" w="med" type="none"/>
            <a:tailEnd len="med" w="med" type="none"/>
          </a:ln>
        </p:spPr>
      </p:cxnSp>
      <p:sp>
        <p:nvSpPr>
          <p:cNvPr id="5263" name="Google Shape;5263;p98"/>
          <p:cNvSpPr txBox="1"/>
          <p:nvPr/>
        </p:nvSpPr>
        <p:spPr>
          <a:xfrm>
            <a:off x="5821363" y="1098551"/>
            <a:ext cx="8572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32 bits</a:t>
            </a:r>
            <a:endParaRPr sz="2400">
              <a:solidFill>
                <a:schemeClr val="dk1"/>
              </a:solidFill>
              <a:latin typeface="Arial"/>
              <a:ea typeface="Arial"/>
              <a:cs typeface="Arial"/>
              <a:sym typeface="Arial"/>
            </a:endParaRPr>
          </a:p>
        </p:txBody>
      </p:sp>
      <p:cxnSp>
        <p:nvCxnSpPr>
          <p:cNvPr id="5264" name="Google Shape;5264;p98"/>
          <p:cNvCxnSpPr/>
          <p:nvPr/>
        </p:nvCxnSpPr>
        <p:spPr>
          <a:xfrm>
            <a:off x="6821488" y="1344613"/>
            <a:ext cx="1427162" cy="4762"/>
          </a:xfrm>
          <a:prstGeom prst="straightConnector1">
            <a:avLst/>
          </a:prstGeom>
          <a:noFill/>
          <a:ln cap="flat" cmpd="sng" w="19050">
            <a:solidFill>
              <a:schemeClr val="dk1"/>
            </a:solidFill>
            <a:prstDash val="solid"/>
            <a:round/>
            <a:headEnd len="med" w="med" type="none"/>
            <a:tailEnd len="med" w="med" type="triangle"/>
          </a:ln>
        </p:spPr>
      </p:cxnSp>
      <p:cxnSp>
        <p:nvCxnSpPr>
          <p:cNvPr id="5265" name="Google Shape;5265;p98"/>
          <p:cNvCxnSpPr/>
          <p:nvPr/>
        </p:nvCxnSpPr>
        <p:spPr>
          <a:xfrm rot="10800000">
            <a:off x="4313239" y="1355725"/>
            <a:ext cx="1341437" cy="0"/>
          </a:xfrm>
          <a:prstGeom prst="straightConnector1">
            <a:avLst/>
          </a:prstGeom>
          <a:noFill/>
          <a:ln cap="flat" cmpd="sng" w="19050">
            <a:solidFill>
              <a:schemeClr val="dk1"/>
            </a:solidFill>
            <a:prstDash val="solid"/>
            <a:round/>
            <a:headEnd len="med" w="med" type="none"/>
            <a:tailEnd len="med" w="med" type="triangle"/>
          </a:ln>
        </p:spPr>
      </p:cxnSp>
      <p:sp>
        <p:nvSpPr>
          <p:cNvPr id="5266" name="Google Shape;5266;p98"/>
          <p:cNvSpPr txBox="1"/>
          <p:nvPr/>
        </p:nvSpPr>
        <p:spPr>
          <a:xfrm>
            <a:off x="5387976" y="4567239"/>
            <a:ext cx="2005013" cy="1006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application</a:t>
            </a:r>
            <a:endParaRPr/>
          </a:p>
          <a:p>
            <a:pPr indent="0" lvl="0" marL="0" marR="0" rtl="0" algn="ctr">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data </a:t>
            </a:r>
            <a:endParaRPr/>
          </a:p>
          <a:p>
            <a:pPr indent="0" lvl="0" marL="0" marR="0" rtl="0" algn="ctr">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(variable length)</a:t>
            </a:r>
            <a:endParaRPr sz="2400">
              <a:solidFill>
                <a:schemeClr val="dk1"/>
              </a:solidFill>
              <a:latin typeface="Arial"/>
              <a:ea typeface="Arial"/>
              <a:cs typeface="Arial"/>
              <a:sym typeface="Arial"/>
            </a:endParaRPr>
          </a:p>
        </p:txBody>
      </p:sp>
      <p:sp>
        <p:nvSpPr>
          <p:cNvPr id="5267" name="Google Shape;5267;p98"/>
          <p:cNvSpPr txBox="1"/>
          <p:nvPr/>
        </p:nvSpPr>
        <p:spPr>
          <a:xfrm>
            <a:off x="4968876" y="1982789"/>
            <a:ext cx="24860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sequence number</a:t>
            </a:r>
            <a:endParaRPr sz="2400">
              <a:solidFill>
                <a:schemeClr val="dk1"/>
              </a:solidFill>
              <a:latin typeface="Arial"/>
              <a:ea typeface="Arial"/>
              <a:cs typeface="Arial"/>
              <a:sym typeface="Arial"/>
            </a:endParaRPr>
          </a:p>
        </p:txBody>
      </p:sp>
      <p:cxnSp>
        <p:nvCxnSpPr>
          <p:cNvPr id="5268" name="Google Shape;5268;p98"/>
          <p:cNvCxnSpPr/>
          <p:nvPr/>
        </p:nvCxnSpPr>
        <p:spPr>
          <a:xfrm>
            <a:off x="4341814" y="2763838"/>
            <a:ext cx="3951287" cy="0"/>
          </a:xfrm>
          <a:prstGeom prst="straightConnector1">
            <a:avLst/>
          </a:prstGeom>
          <a:noFill/>
          <a:ln cap="flat" cmpd="sng" w="19050">
            <a:solidFill>
              <a:schemeClr val="dk1"/>
            </a:solidFill>
            <a:prstDash val="solid"/>
            <a:round/>
            <a:headEnd len="med" w="med" type="none"/>
            <a:tailEnd len="med" w="med" type="none"/>
          </a:ln>
        </p:spPr>
      </p:cxnSp>
      <p:sp>
        <p:nvSpPr>
          <p:cNvPr id="5269" name="Google Shape;5269;p98"/>
          <p:cNvSpPr txBox="1"/>
          <p:nvPr/>
        </p:nvSpPr>
        <p:spPr>
          <a:xfrm>
            <a:off x="4568825" y="2382839"/>
            <a:ext cx="340995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acknowledgement number</a:t>
            </a:r>
            <a:endParaRPr/>
          </a:p>
        </p:txBody>
      </p:sp>
      <p:cxnSp>
        <p:nvCxnSpPr>
          <p:cNvPr id="5270" name="Google Shape;5270;p98"/>
          <p:cNvCxnSpPr/>
          <p:nvPr/>
        </p:nvCxnSpPr>
        <p:spPr>
          <a:xfrm>
            <a:off x="4337050" y="3159125"/>
            <a:ext cx="3951288" cy="0"/>
          </a:xfrm>
          <a:prstGeom prst="straightConnector1">
            <a:avLst/>
          </a:prstGeom>
          <a:noFill/>
          <a:ln cap="flat" cmpd="sng" w="19050">
            <a:solidFill>
              <a:schemeClr val="dk1"/>
            </a:solidFill>
            <a:prstDash val="solid"/>
            <a:round/>
            <a:headEnd len="med" w="med" type="none"/>
            <a:tailEnd len="med" w="med" type="none"/>
          </a:ln>
        </p:spPr>
      </p:cxnSp>
      <p:cxnSp>
        <p:nvCxnSpPr>
          <p:cNvPr id="5271" name="Google Shape;5271;p98"/>
          <p:cNvCxnSpPr/>
          <p:nvPr/>
        </p:nvCxnSpPr>
        <p:spPr>
          <a:xfrm>
            <a:off x="4332289" y="3549650"/>
            <a:ext cx="3951287" cy="0"/>
          </a:xfrm>
          <a:prstGeom prst="straightConnector1">
            <a:avLst/>
          </a:prstGeom>
          <a:noFill/>
          <a:ln cap="flat" cmpd="sng" w="19050">
            <a:solidFill>
              <a:schemeClr val="dk1"/>
            </a:solidFill>
            <a:prstDash val="solid"/>
            <a:round/>
            <a:headEnd len="med" w="med" type="none"/>
            <a:tailEnd len="med" w="med" type="none"/>
          </a:ln>
        </p:spPr>
      </p:cxnSp>
      <p:cxnSp>
        <p:nvCxnSpPr>
          <p:cNvPr id="5272" name="Google Shape;5272;p98"/>
          <p:cNvCxnSpPr/>
          <p:nvPr/>
        </p:nvCxnSpPr>
        <p:spPr>
          <a:xfrm>
            <a:off x="4332289" y="4111625"/>
            <a:ext cx="3951287" cy="0"/>
          </a:xfrm>
          <a:prstGeom prst="straightConnector1">
            <a:avLst/>
          </a:prstGeom>
          <a:noFill/>
          <a:ln cap="flat" cmpd="sng" w="19050">
            <a:solidFill>
              <a:schemeClr val="dk1"/>
            </a:solidFill>
            <a:prstDash val="solid"/>
            <a:round/>
            <a:headEnd len="med" w="med" type="none"/>
            <a:tailEnd len="med" w="med" type="none"/>
          </a:ln>
        </p:spPr>
      </p:cxnSp>
      <p:cxnSp>
        <p:nvCxnSpPr>
          <p:cNvPr id="5273" name="Google Shape;5273;p98"/>
          <p:cNvCxnSpPr/>
          <p:nvPr/>
        </p:nvCxnSpPr>
        <p:spPr>
          <a:xfrm rot="10800000">
            <a:off x="6292851" y="2767014"/>
            <a:ext cx="4763" cy="777875"/>
          </a:xfrm>
          <a:prstGeom prst="straightConnector1">
            <a:avLst/>
          </a:prstGeom>
          <a:noFill/>
          <a:ln cap="flat" cmpd="sng" w="19050">
            <a:solidFill>
              <a:schemeClr val="dk1"/>
            </a:solidFill>
            <a:prstDash val="solid"/>
            <a:round/>
            <a:headEnd len="med" w="med" type="none"/>
            <a:tailEnd len="med" w="med" type="none"/>
          </a:ln>
        </p:spPr>
      </p:cxnSp>
      <p:sp>
        <p:nvSpPr>
          <p:cNvPr id="5274" name="Google Shape;5274;p98"/>
          <p:cNvSpPr txBox="1"/>
          <p:nvPr/>
        </p:nvSpPr>
        <p:spPr>
          <a:xfrm>
            <a:off x="6394450" y="2770188"/>
            <a:ext cx="17462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receive window</a:t>
            </a:r>
            <a:endParaRPr/>
          </a:p>
        </p:txBody>
      </p:sp>
      <p:sp>
        <p:nvSpPr>
          <p:cNvPr id="5275" name="Google Shape;5275;p98"/>
          <p:cNvSpPr txBox="1"/>
          <p:nvPr/>
        </p:nvSpPr>
        <p:spPr>
          <a:xfrm>
            <a:off x="6419850" y="3165476"/>
            <a:ext cx="18224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Urg data pointer</a:t>
            </a:r>
            <a:endParaRPr/>
          </a:p>
        </p:txBody>
      </p:sp>
      <p:sp>
        <p:nvSpPr>
          <p:cNvPr id="5276" name="Google Shape;5276;p98"/>
          <p:cNvSpPr txBox="1"/>
          <p:nvPr/>
        </p:nvSpPr>
        <p:spPr>
          <a:xfrm>
            <a:off x="4703763" y="3146426"/>
            <a:ext cx="12128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checksum</a:t>
            </a:r>
            <a:endParaRPr/>
          </a:p>
        </p:txBody>
      </p:sp>
      <p:sp>
        <p:nvSpPr>
          <p:cNvPr id="5277" name="Google Shape;5277;p98"/>
          <p:cNvSpPr txBox="1"/>
          <p:nvPr/>
        </p:nvSpPr>
        <p:spPr>
          <a:xfrm>
            <a:off x="6056314" y="2798763"/>
            <a:ext cx="3079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F</a:t>
            </a:r>
            <a:endParaRPr sz="2400">
              <a:solidFill>
                <a:schemeClr val="dk1"/>
              </a:solidFill>
              <a:latin typeface="Arial"/>
              <a:ea typeface="Arial"/>
              <a:cs typeface="Arial"/>
              <a:sym typeface="Arial"/>
            </a:endParaRPr>
          </a:p>
        </p:txBody>
      </p:sp>
      <p:cxnSp>
        <p:nvCxnSpPr>
          <p:cNvPr id="5278" name="Google Shape;5278;p98"/>
          <p:cNvCxnSpPr/>
          <p:nvPr/>
        </p:nvCxnSpPr>
        <p:spPr>
          <a:xfrm rot="10800000">
            <a:off x="6135688" y="2757488"/>
            <a:ext cx="0" cy="392112"/>
          </a:xfrm>
          <a:prstGeom prst="straightConnector1">
            <a:avLst/>
          </a:prstGeom>
          <a:noFill/>
          <a:ln cap="flat" cmpd="sng" w="19050">
            <a:solidFill>
              <a:schemeClr val="dk1"/>
            </a:solidFill>
            <a:prstDash val="solid"/>
            <a:round/>
            <a:headEnd len="med" w="med" type="none"/>
            <a:tailEnd len="med" w="med" type="none"/>
          </a:ln>
        </p:spPr>
      </p:cxnSp>
      <p:cxnSp>
        <p:nvCxnSpPr>
          <p:cNvPr id="5279" name="Google Shape;5279;p98"/>
          <p:cNvCxnSpPr/>
          <p:nvPr/>
        </p:nvCxnSpPr>
        <p:spPr>
          <a:xfrm rot="10800000">
            <a:off x="5973763" y="2762251"/>
            <a:ext cx="0" cy="392113"/>
          </a:xfrm>
          <a:prstGeom prst="straightConnector1">
            <a:avLst/>
          </a:prstGeom>
          <a:noFill/>
          <a:ln cap="flat" cmpd="sng" w="19050">
            <a:solidFill>
              <a:schemeClr val="dk1"/>
            </a:solidFill>
            <a:prstDash val="solid"/>
            <a:round/>
            <a:headEnd len="med" w="med" type="none"/>
            <a:tailEnd len="med" w="med" type="none"/>
          </a:ln>
        </p:spPr>
      </p:cxnSp>
      <p:cxnSp>
        <p:nvCxnSpPr>
          <p:cNvPr id="5280" name="Google Shape;5280;p98"/>
          <p:cNvCxnSpPr/>
          <p:nvPr/>
        </p:nvCxnSpPr>
        <p:spPr>
          <a:xfrm rot="10800000">
            <a:off x="5807075" y="2762251"/>
            <a:ext cx="0" cy="392113"/>
          </a:xfrm>
          <a:prstGeom prst="straightConnector1">
            <a:avLst/>
          </a:prstGeom>
          <a:noFill/>
          <a:ln cap="flat" cmpd="sng" w="19050">
            <a:solidFill>
              <a:schemeClr val="dk1"/>
            </a:solidFill>
            <a:prstDash val="solid"/>
            <a:round/>
            <a:headEnd len="med" w="med" type="none"/>
            <a:tailEnd len="med" w="med" type="none"/>
          </a:ln>
        </p:spPr>
      </p:cxnSp>
      <p:cxnSp>
        <p:nvCxnSpPr>
          <p:cNvPr id="5281" name="Google Shape;5281;p98"/>
          <p:cNvCxnSpPr/>
          <p:nvPr/>
        </p:nvCxnSpPr>
        <p:spPr>
          <a:xfrm rot="10800000">
            <a:off x="5645150" y="2767013"/>
            <a:ext cx="0" cy="392112"/>
          </a:xfrm>
          <a:prstGeom prst="straightConnector1">
            <a:avLst/>
          </a:prstGeom>
          <a:noFill/>
          <a:ln cap="flat" cmpd="sng" w="19050">
            <a:solidFill>
              <a:schemeClr val="dk1"/>
            </a:solidFill>
            <a:prstDash val="solid"/>
            <a:round/>
            <a:headEnd len="med" w="med" type="none"/>
            <a:tailEnd len="med" w="med" type="none"/>
          </a:ln>
        </p:spPr>
      </p:cxnSp>
      <p:cxnSp>
        <p:nvCxnSpPr>
          <p:cNvPr id="5282" name="Google Shape;5282;p98"/>
          <p:cNvCxnSpPr/>
          <p:nvPr/>
        </p:nvCxnSpPr>
        <p:spPr>
          <a:xfrm rot="10800000">
            <a:off x="5487988" y="2762251"/>
            <a:ext cx="0" cy="392113"/>
          </a:xfrm>
          <a:prstGeom prst="straightConnector1">
            <a:avLst/>
          </a:prstGeom>
          <a:noFill/>
          <a:ln cap="flat" cmpd="sng" w="19050">
            <a:solidFill>
              <a:schemeClr val="dk1"/>
            </a:solidFill>
            <a:prstDash val="solid"/>
            <a:round/>
            <a:headEnd len="med" w="med" type="none"/>
            <a:tailEnd len="med" w="med" type="none"/>
          </a:ln>
        </p:spPr>
      </p:cxnSp>
      <p:cxnSp>
        <p:nvCxnSpPr>
          <p:cNvPr id="5283" name="Google Shape;5283;p98"/>
          <p:cNvCxnSpPr/>
          <p:nvPr/>
        </p:nvCxnSpPr>
        <p:spPr>
          <a:xfrm rot="10800000">
            <a:off x="5316538" y="2771776"/>
            <a:ext cx="0" cy="392113"/>
          </a:xfrm>
          <a:prstGeom prst="straightConnector1">
            <a:avLst/>
          </a:prstGeom>
          <a:noFill/>
          <a:ln cap="flat" cmpd="sng" w="19050">
            <a:solidFill>
              <a:schemeClr val="dk1"/>
            </a:solidFill>
            <a:prstDash val="solid"/>
            <a:round/>
            <a:headEnd len="med" w="med" type="none"/>
            <a:tailEnd len="med" w="med" type="none"/>
          </a:ln>
        </p:spPr>
      </p:cxnSp>
      <p:sp>
        <p:nvSpPr>
          <p:cNvPr id="5284" name="Google Shape;5284;p98"/>
          <p:cNvSpPr txBox="1"/>
          <p:nvPr/>
        </p:nvSpPr>
        <p:spPr>
          <a:xfrm>
            <a:off x="5889625" y="2794000"/>
            <a:ext cx="3190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S</a:t>
            </a:r>
            <a:endParaRPr sz="2400">
              <a:solidFill>
                <a:schemeClr val="dk1"/>
              </a:solidFill>
              <a:latin typeface="Arial"/>
              <a:ea typeface="Arial"/>
              <a:cs typeface="Arial"/>
              <a:sym typeface="Arial"/>
            </a:endParaRPr>
          </a:p>
        </p:txBody>
      </p:sp>
      <p:sp>
        <p:nvSpPr>
          <p:cNvPr id="5285" name="Google Shape;5285;p98"/>
          <p:cNvSpPr txBox="1"/>
          <p:nvPr/>
        </p:nvSpPr>
        <p:spPr>
          <a:xfrm>
            <a:off x="5716588" y="2794000"/>
            <a:ext cx="3302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R</a:t>
            </a:r>
            <a:endParaRPr sz="2400">
              <a:solidFill>
                <a:schemeClr val="dk1"/>
              </a:solidFill>
              <a:latin typeface="Arial"/>
              <a:ea typeface="Arial"/>
              <a:cs typeface="Arial"/>
              <a:sym typeface="Arial"/>
            </a:endParaRPr>
          </a:p>
        </p:txBody>
      </p:sp>
      <p:sp>
        <p:nvSpPr>
          <p:cNvPr id="5286" name="Google Shape;5286;p98"/>
          <p:cNvSpPr txBox="1"/>
          <p:nvPr/>
        </p:nvSpPr>
        <p:spPr>
          <a:xfrm>
            <a:off x="5554664" y="2789238"/>
            <a:ext cx="319087"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P</a:t>
            </a:r>
            <a:endParaRPr sz="2400">
              <a:solidFill>
                <a:schemeClr val="dk1"/>
              </a:solidFill>
              <a:latin typeface="Arial"/>
              <a:ea typeface="Arial"/>
              <a:cs typeface="Arial"/>
              <a:sym typeface="Arial"/>
            </a:endParaRPr>
          </a:p>
        </p:txBody>
      </p:sp>
      <p:sp>
        <p:nvSpPr>
          <p:cNvPr id="5287" name="Google Shape;5287;p98"/>
          <p:cNvSpPr txBox="1"/>
          <p:nvPr/>
        </p:nvSpPr>
        <p:spPr>
          <a:xfrm>
            <a:off x="5402264" y="2789238"/>
            <a:ext cx="319087"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A</a:t>
            </a:r>
            <a:endParaRPr sz="2400">
              <a:solidFill>
                <a:schemeClr val="dk1"/>
              </a:solidFill>
              <a:latin typeface="Arial"/>
              <a:ea typeface="Arial"/>
              <a:cs typeface="Arial"/>
              <a:sym typeface="Arial"/>
            </a:endParaRPr>
          </a:p>
        </p:txBody>
      </p:sp>
      <p:sp>
        <p:nvSpPr>
          <p:cNvPr id="5288" name="Google Shape;5288;p98"/>
          <p:cNvSpPr txBox="1"/>
          <p:nvPr/>
        </p:nvSpPr>
        <p:spPr>
          <a:xfrm>
            <a:off x="5235575" y="2789238"/>
            <a:ext cx="3302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U</a:t>
            </a:r>
            <a:endParaRPr sz="2400">
              <a:solidFill>
                <a:schemeClr val="dk1"/>
              </a:solidFill>
              <a:latin typeface="Arial"/>
              <a:ea typeface="Arial"/>
              <a:cs typeface="Arial"/>
              <a:sym typeface="Arial"/>
            </a:endParaRPr>
          </a:p>
        </p:txBody>
      </p:sp>
      <p:sp>
        <p:nvSpPr>
          <p:cNvPr id="5289" name="Google Shape;5289;p98"/>
          <p:cNvSpPr txBox="1"/>
          <p:nvPr/>
        </p:nvSpPr>
        <p:spPr>
          <a:xfrm>
            <a:off x="4280896" y="2697163"/>
            <a:ext cx="582211"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head</a:t>
            </a:r>
            <a:endParaRPr/>
          </a:p>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len</a:t>
            </a:r>
            <a:endParaRPr sz="1800">
              <a:solidFill>
                <a:schemeClr val="dk1"/>
              </a:solidFill>
              <a:latin typeface="Arial"/>
              <a:ea typeface="Arial"/>
              <a:cs typeface="Arial"/>
              <a:sym typeface="Arial"/>
            </a:endParaRPr>
          </a:p>
        </p:txBody>
      </p:sp>
      <p:sp>
        <p:nvSpPr>
          <p:cNvPr id="5290" name="Google Shape;5290;p98"/>
          <p:cNvSpPr txBox="1"/>
          <p:nvPr/>
        </p:nvSpPr>
        <p:spPr>
          <a:xfrm>
            <a:off x="4760367" y="2697163"/>
            <a:ext cx="572593"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not</a:t>
            </a:r>
            <a:endParaRPr/>
          </a:p>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used</a:t>
            </a:r>
            <a:endParaRPr sz="1800">
              <a:solidFill>
                <a:schemeClr val="dk1"/>
              </a:solidFill>
              <a:latin typeface="Arial"/>
              <a:ea typeface="Arial"/>
              <a:cs typeface="Arial"/>
              <a:sym typeface="Arial"/>
            </a:endParaRPr>
          </a:p>
        </p:txBody>
      </p:sp>
      <p:cxnSp>
        <p:nvCxnSpPr>
          <p:cNvPr id="5291" name="Google Shape;5291;p98"/>
          <p:cNvCxnSpPr/>
          <p:nvPr/>
        </p:nvCxnSpPr>
        <p:spPr>
          <a:xfrm rot="10800000">
            <a:off x="4811713" y="2762251"/>
            <a:ext cx="0" cy="392113"/>
          </a:xfrm>
          <a:prstGeom prst="straightConnector1">
            <a:avLst/>
          </a:prstGeom>
          <a:noFill/>
          <a:ln cap="flat" cmpd="sng" w="19050">
            <a:solidFill>
              <a:schemeClr val="dk1"/>
            </a:solidFill>
            <a:prstDash val="solid"/>
            <a:round/>
            <a:headEnd len="med" w="med" type="none"/>
            <a:tailEnd len="med" w="med" type="none"/>
          </a:ln>
        </p:spPr>
      </p:cxnSp>
      <p:sp>
        <p:nvSpPr>
          <p:cNvPr id="5292" name="Google Shape;5292;p98"/>
          <p:cNvSpPr txBox="1"/>
          <p:nvPr/>
        </p:nvSpPr>
        <p:spPr>
          <a:xfrm>
            <a:off x="4841876" y="3648076"/>
            <a:ext cx="289401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options (variable length)</a:t>
            </a:r>
            <a:endParaRPr sz="2400">
              <a:solidFill>
                <a:schemeClr val="dk1"/>
              </a:solidFill>
              <a:latin typeface="Arial"/>
              <a:ea typeface="Arial"/>
              <a:cs typeface="Arial"/>
              <a:sym typeface="Arial"/>
            </a:endParaRPr>
          </a:p>
        </p:txBody>
      </p:sp>
      <p:sp>
        <p:nvSpPr>
          <p:cNvPr id="5293" name="Google Shape;5293;p98"/>
          <p:cNvSpPr txBox="1"/>
          <p:nvPr/>
        </p:nvSpPr>
        <p:spPr>
          <a:xfrm>
            <a:off x="1785938" y="1427163"/>
            <a:ext cx="2203450" cy="6413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URG: urgent data </a:t>
            </a:r>
            <a:endParaRPr/>
          </a:p>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(generally not used)</a:t>
            </a:r>
            <a:endParaRPr sz="1000">
              <a:solidFill>
                <a:schemeClr val="dk1"/>
              </a:solidFill>
              <a:latin typeface="Arial"/>
              <a:ea typeface="Arial"/>
              <a:cs typeface="Arial"/>
              <a:sym typeface="Arial"/>
            </a:endParaRPr>
          </a:p>
        </p:txBody>
      </p:sp>
      <p:sp>
        <p:nvSpPr>
          <p:cNvPr id="5294" name="Google Shape;5294;p98"/>
          <p:cNvSpPr txBox="1"/>
          <p:nvPr/>
        </p:nvSpPr>
        <p:spPr>
          <a:xfrm>
            <a:off x="2500313" y="2151063"/>
            <a:ext cx="1441450" cy="6413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ACK: ACK #</a:t>
            </a:r>
            <a:endParaRPr/>
          </a:p>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valid</a:t>
            </a:r>
            <a:endParaRPr sz="1000">
              <a:solidFill>
                <a:schemeClr val="dk1"/>
              </a:solidFill>
              <a:latin typeface="Arial"/>
              <a:ea typeface="Arial"/>
              <a:cs typeface="Arial"/>
              <a:sym typeface="Arial"/>
            </a:endParaRPr>
          </a:p>
        </p:txBody>
      </p:sp>
      <p:sp>
        <p:nvSpPr>
          <p:cNvPr id="5295" name="Google Shape;5295;p98"/>
          <p:cNvSpPr txBox="1"/>
          <p:nvPr/>
        </p:nvSpPr>
        <p:spPr>
          <a:xfrm>
            <a:off x="1693863" y="2827338"/>
            <a:ext cx="2266950" cy="6413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PSH: push data now</a:t>
            </a:r>
            <a:endParaRPr/>
          </a:p>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(generally not used)</a:t>
            </a:r>
            <a:endParaRPr/>
          </a:p>
        </p:txBody>
      </p:sp>
      <p:sp>
        <p:nvSpPr>
          <p:cNvPr id="5296" name="Google Shape;5296;p98"/>
          <p:cNvSpPr txBox="1"/>
          <p:nvPr/>
        </p:nvSpPr>
        <p:spPr>
          <a:xfrm>
            <a:off x="2068513" y="3627439"/>
            <a:ext cx="1911350" cy="119062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RST, SYN, FIN:</a:t>
            </a:r>
            <a:endParaRPr/>
          </a:p>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connection estab</a:t>
            </a:r>
            <a:endParaRPr/>
          </a:p>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(setup, teardown</a:t>
            </a:r>
            <a:endParaRPr/>
          </a:p>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commands)</a:t>
            </a:r>
            <a:endParaRPr/>
          </a:p>
        </p:txBody>
      </p:sp>
      <p:cxnSp>
        <p:nvCxnSpPr>
          <p:cNvPr id="5297" name="Google Shape;5297;p98"/>
          <p:cNvCxnSpPr/>
          <p:nvPr/>
        </p:nvCxnSpPr>
        <p:spPr>
          <a:xfrm>
            <a:off x="3895726" y="1800225"/>
            <a:ext cx="1495425" cy="1028700"/>
          </a:xfrm>
          <a:prstGeom prst="straightConnector1">
            <a:avLst/>
          </a:prstGeom>
          <a:noFill/>
          <a:ln cap="flat" cmpd="sng" w="19050">
            <a:solidFill>
              <a:srgbClr val="FF0000"/>
            </a:solidFill>
            <a:prstDash val="solid"/>
            <a:round/>
            <a:headEnd len="med" w="med" type="none"/>
            <a:tailEnd len="med" w="med" type="none"/>
          </a:ln>
        </p:spPr>
      </p:cxnSp>
      <p:cxnSp>
        <p:nvCxnSpPr>
          <p:cNvPr id="5298" name="Google Shape;5298;p98"/>
          <p:cNvCxnSpPr/>
          <p:nvPr/>
        </p:nvCxnSpPr>
        <p:spPr>
          <a:xfrm>
            <a:off x="3900489" y="2487614"/>
            <a:ext cx="1658937" cy="441325"/>
          </a:xfrm>
          <a:prstGeom prst="straightConnector1">
            <a:avLst/>
          </a:prstGeom>
          <a:noFill/>
          <a:ln cap="flat" cmpd="sng" w="19050">
            <a:solidFill>
              <a:srgbClr val="FF0000"/>
            </a:solidFill>
            <a:prstDash val="solid"/>
            <a:round/>
            <a:headEnd len="med" w="med" type="none"/>
            <a:tailEnd len="med" w="med" type="none"/>
          </a:ln>
        </p:spPr>
      </p:cxnSp>
      <p:cxnSp>
        <p:nvCxnSpPr>
          <p:cNvPr id="5299" name="Google Shape;5299;p98"/>
          <p:cNvCxnSpPr/>
          <p:nvPr/>
        </p:nvCxnSpPr>
        <p:spPr>
          <a:xfrm flipH="1" rot="10800000">
            <a:off x="3921126" y="3041651"/>
            <a:ext cx="1827213" cy="244475"/>
          </a:xfrm>
          <a:prstGeom prst="straightConnector1">
            <a:avLst/>
          </a:prstGeom>
          <a:noFill/>
          <a:ln cap="flat" cmpd="sng" w="19050">
            <a:solidFill>
              <a:srgbClr val="FF0000"/>
            </a:solidFill>
            <a:prstDash val="solid"/>
            <a:round/>
            <a:headEnd len="med" w="med" type="none"/>
            <a:tailEnd len="med" w="med" type="none"/>
          </a:ln>
        </p:spPr>
      </p:cxnSp>
      <p:sp>
        <p:nvSpPr>
          <p:cNvPr id="5300" name="Google Shape;5300;p98"/>
          <p:cNvSpPr/>
          <p:nvPr/>
        </p:nvSpPr>
        <p:spPr>
          <a:xfrm>
            <a:off x="3914776" y="3105150"/>
            <a:ext cx="2314575" cy="704850"/>
          </a:xfrm>
          <a:custGeom>
            <a:rect b="b" l="l" r="r" t="t"/>
            <a:pathLst>
              <a:path extrusionOk="0" h="444" w="1458">
                <a:moveTo>
                  <a:pt x="0" y="444"/>
                </a:moveTo>
                <a:lnTo>
                  <a:pt x="1248" y="0"/>
                </a:lnTo>
                <a:lnTo>
                  <a:pt x="1458" y="6"/>
                </a:lnTo>
              </a:path>
            </a:pathLst>
          </a:cu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01" name="Google Shape;5301;p98"/>
          <p:cNvSpPr txBox="1"/>
          <p:nvPr/>
        </p:nvSpPr>
        <p:spPr>
          <a:xfrm>
            <a:off x="8963025" y="3008314"/>
            <a:ext cx="1250950" cy="915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 bytes </a:t>
            </a:r>
            <a:endParaRPr/>
          </a:p>
          <a:p>
            <a:pPr indent="0" lvl="0" marL="0" marR="0" rtl="0" algn="l">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rcvr willing</a:t>
            </a:r>
            <a:endParaRPr/>
          </a:p>
          <a:p>
            <a:pPr indent="0" lvl="0" marL="0" marR="0" rtl="0" algn="l">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to accept</a:t>
            </a:r>
            <a:endParaRPr/>
          </a:p>
        </p:txBody>
      </p:sp>
      <p:sp>
        <p:nvSpPr>
          <p:cNvPr id="5302" name="Google Shape;5302;p98"/>
          <p:cNvSpPr txBox="1"/>
          <p:nvPr/>
        </p:nvSpPr>
        <p:spPr>
          <a:xfrm>
            <a:off x="8656638" y="1522414"/>
            <a:ext cx="1771650" cy="11906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counting</a:t>
            </a:r>
            <a:endParaRPr/>
          </a:p>
          <a:p>
            <a:pPr indent="0" lvl="0" marL="0" marR="0" rtl="0" algn="l">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by bytes </a:t>
            </a:r>
            <a:endParaRPr/>
          </a:p>
          <a:p>
            <a:pPr indent="0" lvl="0" marL="0" marR="0" rtl="0" algn="l">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of data</a:t>
            </a:r>
            <a:endParaRPr/>
          </a:p>
          <a:p>
            <a:pPr indent="0" lvl="0" marL="0" marR="0" rtl="0" algn="l">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(not segments!)</a:t>
            </a:r>
            <a:endParaRPr/>
          </a:p>
        </p:txBody>
      </p:sp>
      <p:sp>
        <p:nvSpPr>
          <p:cNvPr id="5303" name="Google Shape;5303;p98"/>
          <p:cNvSpPr txBox="1"/>
          <p:nvPr/>
        </p:nvSpPr>
        <p:spPr>
          <a:xfrm>
            <a:off x="2506663" y="4960939"/>
            <a:ext cx="1365250" cy="91598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Internet</a:t>
            </a:r>
            <a:endParaRPr/>
          </a:p>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checksum</a:t>
            </a:r>
            <a:endParaRPr/>
          </a:p>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(as in UDP)</a:t>
            </a:r>
            <a:endParaRPr/>
          </a:p>
        </p:txBody>
      </p:sp>
      <p:cxnSp>
        <p:nvCxnSpPr>
          <p:cNvPr id="5304" name="Google Shape;5304;p98"/>
          <p:cNvCxnSpPr/>
          <p:nvPr/>
        </p:nvCxnSpPr>
        <p:spPr>
          <a:xfrm flipH="1" rot="10800000">
            <a:off x="3790951" y="3429000"/>
            <a:ext cx="2105025" cy="1981200"/>
          </a:xfrm>
          <a:prstGeom prst="straightConnector1">
            <a:avLst/>
          </a:prstGeom>
          <a:noFill/>
          <a:ln cap="flat" cmpd="sng" w="19050">
            <a:solidFill>
              <a:srgbClr val="FF0000"/>
            </a:solidFill>
            <a:prstDash val="solid"/>
            <a:round/>
            <a:headEnd len="med" w="med" type="none"/>
            <a:tailEnd len="med" w="med" type="none"/>
          </a:ln>
        </p:spPr>
      </p:cxnSp>
      <p:cxnSp>
        <p:nvCxnSpPr>
          <p:cNvPr id="5305" name="Google Shape;5305;p98"/>
          <p:cNvCxnSpPr/>
          <p:nvPr/>
        </p:nvCxnSpPr>
        <p:spPr>
          <a:xfrm rot="10800000">
            <a:off x="8210551" y="3019426"/>
            <a:ext cx="809625" cy="466725"/>
          </a:xfrm>
          <a:prstGeom prst="straightConnector1">
            <a:avLst/>
          </a:prstGeom>
          <a:noFill/>
          <a:ln cap="flat" cmpd="sng" w="19050">
            <a:solidFill>
              <a:srgbClr val="FF0000"/>
            </a:solidFill>
            <a:prstDash val="solid"/>
            <a:round/>
            <a:headEnd len="med" w="med" type="none"/>
            <a:tailEnd len="med" w="med" type="none"/>
          </a:ln>
        </p:spPr>
      </p:cxnSp>
      <p:cxnSp>
        <p:nvCxnSpPr>
          <p:cNvPr id="5306" name="Google Shape;5306;p98"/>
          <p:cNvCxnSpPr/>
          <p:nvPr/>
        </p:nvCxnSpPr>
        <p:spPr>
          <a:xfrm flipH="1">
            <a:off x="8143875" y="1724026"/>
            <a:ext cx="552450" cy="885825"/>
          </a:xfrm>
          <a:prstGeom prst="straightConnector1">
            <a:avLst/>
          </a:prstGeom>
          <a:noFill/>
          <a:ln cap="flat" cmpd="sng" w="19050">
            <a:solidFill>
              <a:srgbClr val="FF0000"/>
            </a:solidFill>
            <a:prstDash val="solid"/>
            <a:round/>
            <a:headEnd len="med" w="med" type="none"/>
            <a:tailEnd len="med" w="med" type="none"/>
          </a:ln>
        </p:spPr>
      </p:cxnSp>
      <p:cxnSp>
        <p:nvCxnSpPr>
          <p:cNvPr id="5307" name="Google Shape;5307;p98"/>
          <p:cNvCxnSpPr/>
          <p:nvPr/>
        </p:nvCxnSpPr>
        <p:spPr>
          <a:xfrm flipH="1">
            <a:off x="8105775" y="1714501"/>
            <a:ext cx="571500" cy="523875"/>
          </a:xfrm>
          <a:prstGeom prst="straightConnector1">
            <a:avLst/>
          </a:prstGeom>
          <a:noFill/>
          <a:ln cap="flat" cmpd="sng" w="19050">
            <a:solidFill>
              <a:srgbClr val="FF0000"/>
            </a:solidFill>
            <a:prstDash val="solid"/>
            <a:round/>
            <a:headEnd len="med" w="med" type="none"/>
            <a:tailEnd len="med" w="med" type="none"/>
          </a:ln>
        </p:spPr>
      </p:cxnSp>
      <p:sp>
        <p:nvSpPr>
          <p:cNvPr id="5308" name="Google Shape;5308;p9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3" name="Shape 5313"/>
        <p:cNvGrpSpPr/>
        <p:nvPr/>
      </p:nvGrpSpPr>
      <p:grpSpPr>
        <a:xfrm>
          <a:off x="0" y="0"/>
          <a:ext cx="0" cy="0"/>
          <a:chOff x="0" y="0"/>
          <a:chExt cx="0" cy="0"/>
        </a:xfrm>
      </p:grpSpPr>
      <p:sp>
        <p:nvSpPr>
          <p:cNvPr id="5314" name="Google Shape;5314;p99"/>
          <p:cNvSpPr txBox="1"/>
          <p:nvPr/>
        </p:nvSpPr>
        <p:spPr>
          <a:xfrm>
            <a:off x="2092326" y="1354139"/>
            <a:ext cx="8283575" cy="197802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Char char="▪"/>
            </a:pPr>
            <a:r>
              <a:rPr lang="en-US" sz="3200">
                <a:solidFill>
                  <a:srgbClr val="000000"/>
                </a:solidFill>
                <a:latin typeface="Gill Sans"/>
                <a:ea typeface="Gill Sans"/>
                <a:cs typeface="Gill Sans"/>
                <a:sym typeface="Gill Sans"/>
              </a:rPr>
              <a:t>Source port address</a:t>
            </a:r>
            <a:endParaRPr/>
          </a:p>
          <a:p>
            <a:pPr indent="-230187" lvl="1" marL="687388" marR="0" rtl="0" algn="l">
              <a:lnSpc>
                <a:spcPct val="85000"/>
              </a:lnSpc>
              <a:spcBef>
                <a:spcPts val="1200"/>
              </a:spcBef>
              <a:spcAft>
                <a:spcPts val="0"/>
              </a:spcAft>
              <a:buClr>
                <a:srgbClr val="000099"/>
              </a:buClr>
              <a:buSzPts val="2800"/>
              <a:buFont typeface="Arial"/>
              <a:buChar char="•"/>
            </a:pPr>
            <a:r>
              <a:rPr b="0" i="0" lang="en-US" sz="2800" u="none" cap="none" strike="noStrike">
                <a:solidFill>
                  <a:srgbClr val="000000"/>
                </a:solidFill>
                <a:latin typeface="Gill Sans"/>
                <a:ea typeface="Gill Sans"/>
                <a:cs typeface="Gill Sans"/>
                <a:sym typeface="Gill Sans"/>
              </a:rPr>
              <a:t>16 bit</a:t>
            </a:r>
            <a:endParaRPr/>
          </a:p>
          <a:p>
            <a:pPr indent="-230187" lvl="1" marL="687388" marR="0" rtl="0" algn="l">
              <a:lnSpc>
                <a:spcPct val="85000"/>
              </a:lnSpc>
              <a:spcBef>
                <a:spcPts val="1200"/>
              </a:spcBef>
              <a:spcAft>
                <a:spcPts val="0"/>
              </a:spcAft>
              <a:buClr>
                <a:srgbClr val="000099"/>
              </a:buClr>
              <a:buSzPts val="2600"/>
              <a:buFont typeface="Arial"/>
              <a:buChar char="•"/>
            </a:pPr>
            <a:r>
              <a:rPr b="0" i="0" lang="en-US" sz="2600" u="none" cap="none" strike="noStrike">
                <a:solidFill>
                  <a:srgbClr val="000000"/>
                </a:solidFill>
                <a:latin typeface="Gill Sans"/>
                <a:ea typeface="Gill Sans"/>
                <a:cs typeface="Gill Sans"/>
                <a:sym typeface="Gill Sans"/>
              </a:rPr>
              <a:t>Defines the port number of the application program on the host that is sending the segment</a:t>
            </a:r>
            <a:endParaRPr/>
          </a:p>
          <a:p>
            <a:pPr indent="-52387" lvl="1" marL="687388" marR="0" rtl="0" algn="l">
              <a:lnSpc>
                <a:spcPct val="85000"/>
              </a:lnSpc>
              <a:spcBef>
                <a:spcPts val="1200"/>
              </a:spcBef>
              <a:spcAft>
                <a:spcPts val="0"/>
              </a:spcAft>
              <a:buClr>
                <a:srgbClr val="000099"/>
              </a:buClr>
              <a:buSzPts val="2800"/>
              <a:buFont typeface="Arial"/>
              <a:buNone/>
            </a:pPr>
            <a:r>
              <a:t/>
            </a:r>
            <a:endParaRPr b="0" i="0" sz="2800" u="none" cap="none" strike="noStrike">
              <a:solidFill>
                <a:srgbClr val="000000"/>
              </a:solidFill>
              <a:latin typeface="Gill Sans"/>
              <a:ea typeface="Gill Sans"/>
              <a:cs typeface="Gill Sans"/>
              <a:sym typeface="Gill Sans"/>
            </a:endParaRPr>
          </a:p>
        </p:txBody>
      </p:sp>
      <p:sp>
        <p:nvSpPr>
          <p:cNvPr id="5315" name="Google Shape;5315;p99"/>
          <p:cNvSpPr txBox="1"/>
          <p:nvPr/>
        </p:nvSpPr>
        <p:spPr>
          <a:xfrm>
            <a:off x="2092326" y="4111626"/>
            <a:ext cx="8283575" cy="219392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Char char="▪"/>
            </a:pPr>
            <a:r>
              <a:rPr lang="en-US" sz="3200">
                <a:solidFill>
                  <a:srgbClr val="000000"/>
                </a:solidFill>
                <a:latin typeface="Gill Sans"/>
                <a:ea typeface="Gill Sans"/>
                <a:cs typeface="Gill Sans"/>
                <a:sym typeface="Gill Sans"/>
              </a:rPr>
              <a:t>Destination port address</a:t>
            </a:r>
            <a:endParaRPr/>
          </a:p>
          <a:p>
            <a:pPr indent="-230187" lvl="1" marL="687388" marR="0" rtl="0" algn="l">
              <a:lnSpc>
                <a:spcPct val="85000"/>
              </a:lnSpc>
              <a:spcBef>
                <a:spcPts val="1200"/>
              </a:spcBef>
              <a:spcAft>
                <a:spcPts val="0"/>
              </a:spcAft>
              <a:buClr>
                <a:srgbClr val="000099"/>
              </a:buClr>
              <a:buSzPts val="2800"/>
              <a:buFont typeface="Arial"/>
              <a:buChar char="•"/>
            </a:pPr>
            <a:r>
              <a:rPr b="0" i="0" lang="en-US" sz="2800" u="none" cap="none" strike="noStrike">
                <a:solidFill>
                  <a:srgbClr val="000000"/>
                </a:solidFill>
                <a:latin typeface="Gill Sans"/>
                <a:ea typeface="Gill Sans"/>
                <a:cs typeface="Gill Sans"/>
                <a:sym typeface="Gill Sans"/>
              </a:rPr>
              <a:t>16 bit</a:t>
            </a:r>
            <a:endParaRPr/>
          </a:p>
          <a:p>
            <a:pPr indent="-230187" lvl="1" marL="687388" marR="0" rtl="0" algn="l">
              <a:lnSpc>
                <a:spcPct val="85000"/>
              </a:lnSpc>
              <a:spcBef>
                <a:spcPts val="1200"/>
              </a:spcBef>
              <a:spcAft>
                <a:spcPts val="0"/>
              </a:spcAft>
              <a:buClr>
                <a:srgbClr val="000099"/>
              </a:buClr>
              <a:buSzPts val="2600"/>
              <a:buFont typeface="Arial"/>
              <a:buChar char="•"/>
            </a:pPr>
            <a:r>
              <a:rPr b="0" i="0" lang="en-US" sz="2600" u="none" cap="none" strike="noStrike">
                <a:solidFill>
                  <a:srgbClr val="000000"/>
                </a:solidFill>
                <a:latin typeface="Gill Sans"/>
                <a:ea typeface="Gill Sans"/>
                <a:cs typeface="Gill Sans"/>
                <a:sym typeface="Gill Sans"/>
              </a:rPr>
              <a:t>Defines the port number of the application program on the host that is receiving the segment</a:t>
            </a:r>
            <a:endParaRPr/>
          </a:p>
          <a:p>
            <a:pPr indent="-52387" lvl="1" marL="687388" marR="0" rtl="0" algn="l">
              <a:lnSpc>
                <a:spcPct val="85000"/>
              </a:lnSpc>
              <a:spcBef>
                <a:spcPts val="1200"/>
              </a:spcBef>
              <a:spcAft>
                <a:spcPts val="0"/>
              </a:spcAft>
              <a:buClr>
                <a:srgbClr val="000099"/>
              </a:buClr>
              <a:buSzPts val="2800"/>
              <a:buFont typeface="Arial"/>
              <a:buNone/>
            </a:pPr>
            <a:r>
              <a:t/>
            </a:r>
            <a:endParaRPr b="0" i="0" sz="2800" u="none" cap="none" strike="noStrike">
              <a:solidFill>
                <a:srgbClr val="000000"/>
              </a:solidFill>
              <a:latin typeface="Gill Sans"/>
              <a:ea typeface="Gill Sans"/>
              <a:cs typeface="Gill Sans"/>
              <a:sym typeface="Gill Sans"/>
            </a:endParaRPr>
          </a:p>
        </p:txBody>
      </p:sp>
      <p:sp>
        <p:nvSpPr>
          <p:cNvPr id="5316" name="Google Shape;5316;p99"/>
          <p:cNvSpPr txBox="1"/>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1100">
                <a:solidFill>
                  <a:srgbClr val="7F7F7F"/>
                </a:solidFill>
                <a:latin typeface="Calibri"/>
                <a:ea typeface="Calibri"/>
                <a:cs typeface="Calibri"/>
                <a:sym typeface="Calibri"/>
              </a:rPr>
              <a:t>Transport Layer: 3-</a:t>
            </a:r>
            <a:fld id="{00000000-1234-1234-1234-123412341234}" type="slidenum">
              <a:rPr lang="en-US" sz="1100">
                <a:solidFill>
                  <a:srgbClr val="7F7F7F"/>
                </a:solidFill>
                <a:latin typeface="Calibri"/>
                <a:ea typeface="Calibri"/>
                <a:cs typeface="Calibri"/>
                <a:sym typeface="Calibri"/>
              </a:rPr>
              <a:t>‹#›</a:t>
            </a:fld>
            <a:endParaRPr sz="1100">
              <a:solidFill>
                <a:srgbClr val="7F7F7F"/>
              </a:solidFill>
              <a:latin typeface="Calibri"/>
              <a:ea typeface="Calibri"/>
              <a:cs typeface="Calibri"/>
              <a:sym typeface="Calibri"/>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0" name="Shape 5320"/>
        <p:cNvGrpSpPr/>
        <p:nvPr/>
      </p:nvGrpSpPr>
      <p:grpSpPr>
        <a:xfrm>
          <a:off x="0" y="0"/>
          <a:ext cx="0" cy="0"/>
          <a:chOff x="0" y="0"/>
          <a:chExt cx="0" cy="0"/>
        </a:xfrm>
      </p:grpSpPr>
      <p:sp>
        <p:nvSpPr>
          <p:cNvPr id="5321" name="Google Shape;5321;p100"/>
          <p:cNvSpPr txBox="1"/>
          <p:nvPr/>
        </p:nvSpPr>
        <p:spPr>
          <a:xfrm>
            <a:off x="2384426" y="4105276"/>
            <a:ext cx="8283575" cy="2005013"/>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Char char="▪"/>
            </a:pPr>
            <a:r>
              <a:rPr lang="en-US" sz="3200">
                <a:solidFill>
                  <a:srgbClr val="000000"/>
                </a:solidFill>
                <a:latin typeface="Gill Sans"/>
                <a:ea typeface="Gill Sans"/>
                <a:cs typeface="Gill Sans"/>
                <a:sym typeface="Gill Sans"/>
              </a:rPr>
              <a:t>Acknowledgement number</a:t>
            </a:r>
            <a:endParaRPr/>
          </a:p>
          <a:p>
            <a:pPr indent="-230187" lvl="1" marL="687388" marR="0" rtl="0" algn="l">
              <a:lnSpc>
                <a:spcPct val="85000"/>
              </a:lnSpc>
              <a:spcBef>
                <a:spcPts val="1200"/>
              </a:spcBef>
              <a:spcAft>
                <a:spcPts val="0"/>
              </a:spcAft>
              <a:buClr>
                <a:srgbClr val="000099"/>
              </a:buClr>
              <a:buSzPts val="2800"/>
              <a:buFont typeface="Arial"/>
              <a:buChar char="•"/>
            </a:pPr>
            <a:r>
              <a:rPr b="0" i="0" lang="en-US" sz="2800" u="none" cap="none" strike="noStrike">
                <a:solidFill>
                  <a:srgbClr val="000000"/>
                </a:solidFill>
                <a:latin typeface="Gill Sans"/>
                <a:ea typeface="Gill Sans"/>
                <a:cs typeface="Gill Sans"/>
                <a:sym typeface="Gill Sans"/>
              </a:rPr>
              <a:t>32 bit</a:t>
            </a:r>
            <a:endParaRPr/>
          </a:p>
          <a:p>
            <a:pPr indent="-230187" lvl="1" marL="687388" marR="0" rtl="0" algn="l">
              <a:lnSpc>
                <a:spcPct val="85000"/>
              </a:lnSpc>
              <a:spcBef>
                <a:spcPts val="1200"/>
              </a:spcBef>
              <a:spcAft>
                <a:spcPts val="0"/>
              </a:spcAft>
              <a:buClr>
                <a:srgbClr val="000099"/>
              </a:buClr>
              <a:buSzPts val="2600"/>
              <a:buFont typeface="Arial"/>
              <a:buChar char="•"/>
            </a:pPr>
            <a:r>
              <a:rPr b="0" i="0" lang="en-US" sz="2600" u="none" cap="none" strike="noStrike">
                <a:solidFill>
                  <a:srgbClr val="000000"/>
                </a:solidFill>
                <a:latin typeface="Gill Sans"/>
                <a:ea typeface="Gill Sans"/>
                <a:cs typeface="Gill Sans"/>
                <a:sym typeface="Gill Sans"/>
              </a:rPr>
              <a:t>Defines the byte number that the receiver of the segment is expecting to receive from the other party</a:t>
            </a:r>
            <a:endParaRPr/>
          </a:p>
          <a:p>
            <a:pPr indent="-65087" lvl="1" marL="687388" marR="0" rtl="0" algn="l">
              <a:lnSpc>
                <a:spcPct val="85000"/>
              </a:lnSpc>
              <a:spcBef>
                <a:spcPts val="1200"/>
              </a:spcBef>
              <a:spcAft>
                <a:spcPts val="0"/>
              </a:spcAft>
              <a:buClr>
                <a:srgbClr val="000099"/>
              </a:buClr>
              <a:buSzPts val="2600"/>
              <a:buFont typeface="Arial"/>
              <a:buNone/>
            </a:pPr>
            <a:r>
              <a:t/>
            </a:r>
            <a:endParaRPr b="0" i="0" sz="2600" u="none" cap="none" strike="noStrike">
              <a:solidFill>
                <a:srgbClr val="000000"/>
              </a:solidFill>
              <a:latin typeface="Gill Sans"/>
              <a:ea typeface="Gill Sans"/>
              <a:cs typeface="Gill Sans"/>
              <a:sym typeface="Gill Sans"/>
            </a:endParaRPr>
          </a:p>
          <a:p>
            <a:pPr indent="-52387" lvl="1" marL="687388" marR="0" rtl="0" algn="l">
              <a:lnSpc>
                <a:spcPct val="85000"/>
              </a:lnSpc>
              <a:spcBef>
                <a:spcPts val="1200"/>
              </a:spcBef>
              <a:spcAft>
                <a:spcPts val="0"/>
              </a:spcAft>
              <a:buClr>
                <a:srgbClr val="000099"/>
              </a:buClr>
              <a:buSzPts val="2800"/>
              <a:buFont typeface="Arial"/>
              <a:buNone/>
            </a:pPr>
            <a:r>
              <a:t/>
            </a:r>
            <a:endParaRPr b="0" i="0" sz="2800" u="none" cap="none" strike="noStrike">
              <a:solidFill>
                <a:srgbClr val="000000"/>
              </a:solidFill>
              <a:latin typeface="Gill Sans"/>
              <a:ea typeface="Gill Sans"/>
              <a:cs typeface="Gill Sans"/>
              <a:sym typeface="Gill Sans"/>
            </a:endParaRPr>
          </a:p>
        </p:txBody>
      </p:sp>
      <p:sp>
        <p:nvSpPr>
          <p:cNvPr id="5322" name="Google Shape;5322;p100"/>
          <p:cNvSpPr txBox="1"/>
          <p:nvPr/>
        </p:nvSpPr>
        <p:spPr>
          <a:xfrm>
            <a:off x="2384426" y="773114"/>
            <a:ext cx="8283575" cy="4833937"/>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Char char="▪"/>
            </a:pPr>
            <a:r>
              <a:rPr lang="en-US" sz="3200">
                <a:solidFill>
                  <a:srgbClr val="000000"/>
                </a:solidFill>
                <a:latin typeface="Gill Sans"/>
                <a:ea typeface="Gill Sans"/>
                <a:cs typeface="Gill Sans"/>
                <a:sym typeface="Gill Sans"/>
              </a:rPr>
              <a:t>Sequence number</a:t>
            </a:r>
            <a:endParaRPr/>
          </a:p>
          <a:p>
            <a:pPr indent="-230187" lvl="1" marL="687388" marR="0" rtl="0" algn="l">
              <a:lnSpc>
                <a:spcPct val="85000"/>
              </a:lnSpc>
              <a:spcBef>
                <a:spcPts val="1200"/>
              </a:spcBef>
              <a:spcAft>
                <a:spcPts val="0"/>
              </a:spcAft>
              <a:buClr>
                <a:srgbClr val="000099"/>
              </a:buClr>
              <a:buSzPts val="2800"/>
              <a:buFont typeface="Arial"/>
              <a:buChar char="•"/>
            </a:pPr>
            <a:r>
              <a:rPr b="0" i="0" lang="en-US" sz="2800" u="none" cap="none" strike="noStrike">
                <a:solidFill>
                  <a:srgbClr val="000000"/>
                </a:solidFill>
                <a:latin typeface="Gill Sans"/>
                <a:ea typeface="Gill Sans"/>
                <a:cs typeface="Gill Sans"/>
                <a:sym typeface="Gill Sans"/>
              </a:rPr>
              <a:t>32 bit</a:t>
            </a:r>
            <a:endParaRPr/>
          </a:p>
          <a:p>
            <a:pPr indent="-230187" lvl="1" marL="687388" marR="0" rtl="0" algn="l">
              <a:lnSpc>
                <a:spcPct val="85000"/>
              </a:lnSpc>
              <a:spcBef>
                <a:spcPts val="1200"/>
              </a:spcBef>
              <a:spcAft>
                <a:spcPts val="0"/>
              </a:spcAft>
              <a:buClr>
                <a:srgbClr val="000099"/>
              </a:buClr>
              <a:buSzPts val="2600"/>
              <a:buFont typeface="Arial"/>
              <a:buChar char="•"/>
            </a:pPr>
            <a:r>
              <a:rPr b="0" i="0" lang="en-US" sz="2600" u="none" cap="none" strike="noStrike">
                <a:solidFill>
                  <a:srgbClr val="000000"/>
                </a:solidFill>
                <a:latin typeface="Gill Sans"/>
                <a:ea typeface="Gill Sans"/>
                <a:cs typeface="Gill Sans"/>
                <a:sym typeface="Gill Sans"/>
              </a:rPr>
              <a:t>Defines the number assigned to the first byte of data contained in the segment</a:t>
            </a:r>
            <a:endParaRPr/>
          </a:p>
          <a:p>
            <a:pPr indent="-230187" lvl="1" marL="687388" marR="0" rtl="0" algn="l">
              <a:lnSpc>
                <a:spcPct val="85000"/>
              </a:lnSpc>
              <a:spcBef>
                <a:spcPts val="1200"/>
              </a:spcBef>
              <a:spcAft>
                <a:spcPts val="0"/>
              </a:spcAft>
              <a:buClr>
                <a:srgbClr val="000099"/>
              </a:buClr>
              <a:buSzPts val="2600"/>
              <a:buFont typeface="Arial"/>
              <a:buChar char="•"/>
            </a:pPr>
            <a:r>
              <a:rPr b="0" i="0" lang="en-US" sz="2600" u="none" cap="none" strike="noStrike">
                <a:solidFill>
                  <a:srgbClr val="000000"/>
                </a:solidFill>
                <a:latin typeface="Gill Sans"/>
                <a:ea typeface="Gill Sans"/>
                <a:cs typeface="Gill Sans"/>
                <a:sym typeface="Gill Sans"/>
              </a:rPr>
              <a:t>During connection establishment, a random number generator is used to create an </a:t>
            </a:r>
            <a:r>
              <a:rPr b="0" i="1" lang="en-US" sz="2600" u="none" cap="none" strike="noStrike">
                <a:solidFill>
                  <a:srgbClr val="000000"/>
                </a:solidFill>
                <a:latin typeface="Gill Sans"/>
                <a:ea typeface="Gill Sans"/>
                <a:cs typeface="Gill Sans"/>
                <a:sym typeface="Gill Sans"/>
              </a:rPr>
              <a:t>initial sequence number </a:t>
            </a:r>
            <a:r>
              <a:rPr b="0" i="0" lang="en-US" sz="2600" u="none" cap="none" strike="noStrike">
                <a:solidFill>
                  <a:srgbClr val="000000"/>
                </a:solidFill>
                <a:latin typeface="Gill Sans"/>
                <a:ea typeface="Gill Sans"/>
                <a:cs typeface="Gill Sans"/>
                <a:sym typeface="Gill Sans"/>
              </a:rPr>
              <a:t>(ISN)</a:t>
            </a:r>
            <a:endParaRPr/>
          </a:p>
          <a:p>
            <a:pPr indent="-52387" lvl="1" marL="687388" marR="0" rtl="0" algn="l">
              <a:lnSpc>
                <a:spcPct val="85000"/>
              </a:lnSpc>
              <a:spcBef>
                <a:spcPts val="1200"/>
              </a:spcBef>
              <a:spcAft>
                <a:spcPts val="0"/>
              </a:spcAft>
              <a:buClr>
                <a:srgbClr val="000099"/>
              </a:buClr>
              <a:buSzPts val="2800"/>
              <a:buFont typeface="Arial"/>
              <a:buNone/>
            </a:pPr>
            <a:r>
              <a:t/>
            </a:r>
            <a:endParaRPr b="0" i="0" sz="2800" u="none" cap="none" strike="noStrike">
              <a:solidFill>
                <a:srgbClr val="000000"/>
              </a:solidFill>
              <a:latin typeface="Gill Sans"/>
              <a:ea typeface="Gill Sans"/>
              <a:cs typeface="Gill Sans"/>
              <a:sym typeface="Gill Sans"/>
            </a:endParaRPr>
          </a:p>
        </p:txBody>
      </p:sp>
      <p:sp>
        <p:nvSpPr>
          <p:cNvPr id="5323" name="Google Shape;5323;p100"/>
          <p:cNvSpPr txBox="1"/>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1100">
                <a:solidFill>
                  <a:srgbClr val="7F7F7F"/>
                </a:solidFill>
                <a:latin typeface="Calibri"/>
                <a:ea typeface="Calibri"/>
                <a:cs typeface="Calibri"/>
                <a:sym typeface="Calibri"/>
              </a:rPr>
              <a:t>Transport Layer: 3-</a:t>
            </a:r>
            <a:fld id="{00000000-1234-1234-1234-123412341234}" type="slidenum">
              <a:rPr lang="en-US" sz="1100">
                <a:solidFill>
                  <a:srgbClr val="7F7F7F"/>
                </a:solidFill>
                <a:latin typeface="Calibri"/>
                <a:ea typeface="Calibri"/>
                <a:cs typeface="Calibri"/>
                <a:sym typeface="Calibri"/>
              </a:rPr>
              <a:t>‹#›</a:t>
            </a:fld>
            <a:endParaRPr sz="1100">
              <a:solidFill>
                <a:srgbClr val="7F7F7F"/>
              </a:solidFill>
              <a:latin typeface="Calibri"/>
              <a:ea typeface="Calibri"/>
              <a:cs typeface="Calibri"/>
              <a:sym typeface="Calibri"/>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8" name="Shape 5328"/>
        <p:cNvGrpSpPr/>
        <p:nvPr/>
      </p:nvGrpSpPr>
      <p:grpSpPr>
        <a:xfrm>
          <a:off x="0" y="0"/>
          <a:ext cx="0" cy="0"/>
          <a:chOff x="0" y="0"/>
          <a:chExt cx="0" cy="0"/>
        </a:xfrm>
      </p:grpSpPr>
      <p:sp>
        <p:nvSpPr>
          <p:cNvPr id="5329" name="Google Shape;5329;p101"/>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sequence numbers, ACKs</a:t>
            </a:r>
            <a:endParaRPr b="0" sz="4400"/>
          </a:p>
        </p:txBody>
      </p:sp>
      <p:sp>
        <p:nvSpPr>
          <p:cNvPr id="5330" name="Google Shape;5330;p101"/>
          <p:cNvSpPr txBox="1"/>
          <p:nvPr/>
        </p:nvSpPr>
        <p:spPr>
          <a:xfrm>
            <a:off x="715171" y="1355712"/>
            <a:ext cx="5096669" cy="1311288"/>
          </a:xfrm>
          <a:prstGeom prst="rect">
            <a:avLst/>
          </a:prstGeom>
          <a:noFill/>
          <a:ln>
            <a:noFill/>
          </a:ln>
        </p:spPr>
        <p:txBody>
          <a:bodyPr anchorCtr="0" anchor="t" bIns="45700" lIns="91425" spcFirstLastPara="1" rIns="91425" wrap="square" tIns="45700">
            <a:noAutofit/>
          </a:bodyPr>
          <a:lstStyle/>
          <a:p>
            <a:pPr indent="-123825" lvl="0" marL="234950" marR="0" rtl="0" algn="l">
              <a:lnSpc>
                <a:spcPct val="85000"/>
              </a:lnSpc>
              <a:spcBef>
                <a:spcPts val="0"/>
              </a:spcBef>
              <a:spcAft>
                <a:spcPts val="0"/>
              </a:spcAft>
              <a:buClr>
                <a:srgbClr val="000099"/>
              </a:buClr>
              <a:buSzPts val="2800"/>
              <a:buFont typeface="Noto Sans Symbols"/>
              <a:buNone/>
            </a:pPr>
            <a:r>
              <a:rPr b="0" i="1" lang="en-US" sz="2800" u="none" cap="none" strike="noStrike">
                <a:solidFill>
                  <a:srgbClr val="CC0000"/>
                </a:solidFill>
                <a:latin typeface="Calibri"/>
                <a:ea typeface="Calibri"/>
                <a:cs typeface="Calibri"/>
                <a:sym typeface="Calibri"/>
              </a:rPr>
              <a:t>Sequence numbers:</a:t>
            </a:r>
            <a:endParaRPr/>
          </a:p>
          <a:p>
            <a:pPr indent="-277813" lvl="1" marL="6350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byte stream “number” of first byte in segment’s data</a:t>
            </a:r>
            <a:endParaRPr b="0" i="0" sz="2400" u="none" cap="none" strike="noStrike">
              <a:solidFill>
                <a:srgbClr val="000000"/>
              </a:solidFill>
              <a:latin typeface="Calibri"/>
              <a:ea typeface="Calibri"/>
              <a:cs typeface="Calibri"/>
              <a:sym typeface="Calibri"/>
            </a:endParaRPr>
          </a:p>
        </p:txBody>
      </p:sp>
      <p:grpSp>
        <p:nvGrpSpPr>
          <p:cNvPr id="5331" name="Google Shape;5331;p101"/>
          <p:cNvGrpSpPr/>
          <p:nvPr/>
        </p:nvGrpSpPr>
        <p:grpSpPr>
          <a:xfrm>
            <a:off x="7783528" y="3989281"/>
            <a:ext cx="3086106" cy="2541588"/>
            <a:chOff x="3520" y="2404"/>
            <a:chExt cx="1944" cy="1601"/>
          </a:xfrm>
        </p:grpSpPr>
        <p:sp>
          <p:nvSpPr>
            <p:cNvPr id="5332" name="Google Shape;5332;p101"/>
            <p:cNvSpPr/>
            <p:nvPr/>
          </p:nvSpPr>
          <p:spPr>
            <a:xfrm>
              <a:off x="3755" y="3589"/>
              <a:ext cx="1202" cy="13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333" name="Google Shape;5333;p101"/>
            <p:cNvGrpSpPr/>
            <p:nvPr/>
          </p:nvGrpSpPr>
          <p:grpSpPr>
            <a:xfrm>
              <a:off x="3731" y="3291"/>
              <a:ext cx="1252" cy="714"/>
              <a:chOff x="1974" y="2984"/>
              <a:chExt cx="1252" cy="714"/>
            </a:xfrm>
          </p:grpSpPr>
          <p:sp>
            <p:nvSpPr>
              <p:cNvPr id="5334" name="Google Shape;5334;p101"/>
              <p:cNvSpPr/>
              <p:nvPr/>
            </p:nvSpPr>
            <p:spPr>
              <a:xfrm>
                <a:off x="1994" y="2995"/>
                <a:ext cx="1210" cy="70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35" name="Google Shape;5335;p101"/>
              <p:cNvSpPr txBox="1"/>
              <p:nvPr/>
            </p:nvSpPr>
            <p:spPr>
              <a:xfrm>
                <a:off x="2001" y="2984"/>
                <a:ext cx="58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source port #</a:t>
                </a:r>
                <a:endParaRPr/>
              </a:p>
            </p:txBody>
          </p:sp>
          <p:sp>
            <p:nvSpPr>
              <p:cNvPr id="5336" name="Google Shape;5336;p101"/>
              <p:cNvSpPr txBox="1"/>
              <p:nvPr/>
            </p:nvSpPr>
            <p:spPr>
              <a:xfrm>
                <a:off x="2648" y="2987"/>
                <a:ext cx="491"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dest port #</a:t>
                </a:r>
                <a:endParaRPr/>
              </a:p>
            </p:txBody>
          </p:sp>
          <p:sp>
            <p:nvSpPr>
              <p:cNvPr id="5337" name="Google Shape;5337;p101"/>
              <p:cNvSpPr txBox="1"/>
              <p:nvPr/>
            </p:nvSpPr>
            <p:spPr>
              <a:xfrm>
                <a:off x="2154" y="3117"/>
                <a:ext cx="91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sequence number</a:t>
                </a:r>
                <a:endParaRPr/>
              </a:p>
            </p:txBody>
          </p:sp>
          <p:sp>
            <p:nvSpPr>
              <p:cNvPr id="5338" name="Google Shape;5338;p101"/>
              <p:cNvSpPr txBox="1"/>
              <p:nvPr/>
            </p:nvSpPr>
            <p:spPr>
              <a:xfrm>
                <a:off x="1974" y="3257"/>
                <a:ext cx="125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acknowledgement number</a:t>
                </a:r>
                <a:endParaRPr/>
              </a:p>
            </p:txBody>
          </p:sp>
          <p:sp>
            <p:nvSpPr>
              <p:cNvPr id="5339" name="Google Shape;5339;p101"/>
              <p:cNvSpPr txBox="1"/>
              <p:nvPr/>
            </p:nvSpPr>
            <p:spPr>
              <a:xfrm>
                <a:off x="2053" y="3544"/>
                <a:ext cx="475"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checksum</a:t>
                </a:r>
                <a:endParaRPr/>
              </a:p>
            </p:txBody>
          </p:sp>
          <p:cxnSp>
            <p:nvCxnSpPr>
              <p:cNvPr id="5340" name="Google Shape;5340;p101"/>
              <p:cNvCxnSpPr/>
              <p:nvPr/>
            </p:nvCxnSpPr>
            <p:spPr>
              <a:xfrm>
                <a:off x="1994" y="3138"/>
                <a:ext cx="1212" cy="0"/>
              </a:xfrm>
              <a:prstGeom prst="straightConnector1">
                <a:avLst/>
              </a:prstGeom>
              <a:noFill/>
              <a:ln cap="flat" cmpd="sng" w="9525">
                <a:solidFill>
                  <a:srgbClr val="000000"/>
                </a:solidFill>
                <a:prstDash val="solid"/>
                <a:round/>
                <a:headEnd len="med" w="med" type="none"/>
                <a:tailEnd len="med" w="med" type="none"/>
              </a:ln>
            </p:spPr>
          </p:cxnSp>
          <p:cxnSp>
            <p:nvCxnSpPr>
              <p:cNvPr id="5341" name="Google Shape;5341;p101"/>
              <p:cNvCxnSpPr/>
              <p:nvPr/>
            </p:nvCxnSpPr>
            <p:spPr>
              <a:xfrm>
                <a:off x="1994" y="3274"/>
                <a:ext cx="1212" cy="0"/>
              </a:xfrm>
              <a:prstGeom prst="straightConnector1">
                <a:avLst/>
              </a:prstGeom>
              <a:noFill/>
              <a:ln cap="flat" cmpd="sng" w="9525">
                <a:solidFill>
                  <a:srgbClr val="000000"/>
                </a:solidFill>
                <a:prstDash val="solid"/>
                <a:round/>
                <a:headEnd len="med" w="med" type="none"/>
                <a:tailEnd len="med" w="med" type="none"/>
              </a:ln>
            </p:spPr>
          </p:cxnSp>
          <p:cxnSp>
            <p:nvCxnSpPr>
              <p:cNvPr id="5342" name="Google Shape;5342;p101"/>
              <p:cNvCxnSpPr/>
              <p:nvPr/>
            </p:nvCxnSpPr>
            <p:spPr>
              <a:xfrm>
                <a:off x="1992" y="3414"/>
                <a:ext cx="1212" cy="0"/>
              </a:xfrm>
              <a:prstGeom prst="straightConnector1">
                <a:avLst/>
              </a:prstGeom>
              <a:noFill/>
              <a:ln cap="flat" cmpd="sng" w="9525">
                <a:solidFill>
                  <a:srgbClr val="000000"/>
                </a:solidFill>
                <a:prstDash val="solid"/>
                <a:round/>
                <a:headEnd len="med" w="med" type="none"/>
                <a:tailEnd len="med" w="med" type="none"/>
              </a:ln>
            </p:spPr>
          </p:cxnSp>
          <p:cxnSp>
            <p:nvCxnSpPr>
              <p:cNvPr id="5343" name="Google Shape;5343;p101"/>
              <p:cNvCxnSpPr/>
              <p:nvPr/>
            </p:nvCxnSpPr>
            <p:spPr>
              <a:xfrm>
                <a:off x="2588" y="2994"/>
                <a:ext cx="0" cy="142"/>
              </a:xfrm>
              <a:prstGeom prst="straightConnector1">
                <a:avLst/>
              </a:prstGeom>
              <a:noFill/>
              <a:ln cap="flat" cmpd="sng" w="9525">
                <a:solidFill>
                  <a:srgbClr val="000000"/>
                </a:solidFill>
                <a:prstDash val="solid"/>
                <a:round/>
                <a:headEnd len="med" w="med" type="none"/>
                <a:tailEnd len="med" w="med" type="none"/>
              </a:ln>
            </p:spPr>
          </p:cxnSp>
          <p:cxnSp>
            <p:nvCxnSpPr>
              <p:cNvPr id="5344" name="Google Shape;5344;p101"/>
              <p:cNvCxnSpPr/>
              <p:nvPr/>
            </p:nvCxnSpPr>
            <p:spPr>
              <a:xfrm>
                <a:off x="2588" y="3416"/>
                <a:ext cx="0" cy="280"/>
              </a:xfrm>
              <a:prstGeom prst="straightConnector1">
                <a:avLst/>
              </a:prstGeom>
              <a:noFill/>
              <a:ln cap="flat" cmpd="sng" w="9525">
                <a:solidFill>
                  <a:srgbClr val="000000"/>
                </a:solidFill>
                <a:prstDash val="solid"/>
                <a:round/>
                <a:headEnd len="med" w="med" type="none"/>
                <a:tailEnd len="med" w="med" type="none"/>
              </a:ln>
            </p:spPr>
          </p:cxnSp>
          <p:cxnSp>
            <p:nvCxnSpPr>
              <p:cNvPr id="5345" name="Google Shape;5345;p101"/>
              <p:cNvCxnSpPr/>
              <p:nvPr/>
            </p:nvCxnSpPr>
            <p:spPr>
              <a:xfrm>
                <a:off x="1994" y="3548"/>
                <a:ext cx="1212" cy="0"/>
              </a:xfrm>
              <a:prstGeom prst="straightConnector1">
                <a:avLst/>
              </a:prstGeom>
              <a:noFill/>
              <a:ln cap="flat" cmpd="sng" w="9525">
                <a:solidFill>
                  <a:srgbClr val="000000"/>
                </a:solidFill>
                <a:prstDash val="solid"/>
                <a:round/>
                <a:headEnd len="med" w="med" type="none"/>
                <a:tailEnd len="med" w="med" type="none"/>
              </a:ln>
            </p:spPr>
          </p:cxnSp>
          <p:sp>
            <p:nvSpPr>
              <p:cNvPr id="5346" name="Google Shape;5346;p101"/>
              <p:cNvSpPr txBox="1"/>
              <p:nvPr/>
            </p:nvSpPr>
            <p:spPr>
              <a:xfrm>
                <a:off x="2708" y="3390"/>
                <a:ext cx="323"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rwnd</a:t>
                </a:r>
                <a:endParaRPr/>
              </a:p>
            </p:txBody>
          </p:sp>
          <p:sp>
            <p:nvSpPr>
              <p:cNvPr id="5347" name="Google Shape;5347;p101"/>
              <p:cNvSpPr txBox="1"/>
              <p:nvPr/>
            </p:nvSpPr>
            <p:spPr>
              <a:xfrm>
                <a:off x="2651" y="3544"/>
                <a:ext cx="496"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urg pointer</a:t>
                </a:r>
                <a:endParaRPr/>
              </a:p>
            </p:txBody>
          </p:sp>
          <p:cxnSp>
            <p:nvCxnSpPr>
              <p:cNvPr id="5348" name="Google Shape;5348;p101"/>
              <p:cNvCxnSpPr/>
              <p:nvPr/>
            </p:nvCxnSpPr>
            <p:spPr>
              <a:xfrm>
                <a:off x="2398" y="3413"/>
                <a:ext cx="0" cy="134"/>
              </a:xfrm>
              <a:prstGeom prst="straightConnector1">
                <a:avLst/>
              </a:prstGeom>
              <a:noFill/>
              <a:ln cap="flat" cmpd="sng" w="9525">
                <a:solidFill>
                  <a:srgbClr val="000000"/>
                </a:solidFill>
                <a:prstDash val="solid"/>
                <a:round/>
                <a:headEnd len="med" w="med" type="none"/>
                <a:tailEnd len="med" w="med" type="none"/>
              </a:ln>
            </p:spPr>
          </p:cxnSp>
          <p:cxnSp>
            <p:nvCxnSpPr>
              <p:cNvPr id="5349" name="Google Shape;5349;p101"/>
              <p:cNvCxnSpPr/>
              <p:nvPr/>
            </p:nvCxnSpPr>
            <p:spPr>
              <a:xfrm>
                <a:off x="2143" y="3412"/>
                <a:ext cx="0" cy="134"/>
              </a:xfrm>
              <a:prstGeom prst="straightConnector1">
                <a:avLst/>
              </a:prstGeom>
              <a:noFill/>
              <a:ln cap="flat" cmpd="sng" w="9525">
                <a:solidFill>
                  <a:srgbClr val="000000"/>
                </a:solidFill>
                <a:prstDash val="solid"/>
                <a:round/>
                <a:headEnd len="med" w="med" type="none"/>
                <a:tailEnd len="med" w="med" type="none"/>
              </a:ln>
            </p:spPr>
          </p:cxnSp>
        </p:grpSp>
        <p:sp>
          <p:nvSpPr>
            <p:cNvPr id="5350" name="Google Shape;5350;p101"/>
            <p:cNvSpPr txBox="1"/>
            <p:nvPr/>
          </p:nvSpPr>
          <p:spPr>
            <a:xfrm>
              <a:off x="3520" y="3092"/>
              <a:ext cx="1944" cy="2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outgoing segment from receiver</a:t>
              </a:r>
              <a:endParaRPr/>
            </a:p>
          </p:txBody>
        </p:sp>
        <p:sp>
          <p:nvSpPr>
            <p:cNvPr id="5351" name="Google Shape;5351;p101"/>
            <p:cNvSpPr/>
            <p:nvPr/>
          </p:nvSpPr>
          <p:spPr>
            <a:xfrm rot="10800000">
              <a:off x="3599" y="2404"/>
              <a:ext cx="107" cy="1194"/>
            </a:xfrm>
            <a:custGeom>
              <a:rect b="b" l="l" r="r" t="t"/>
              <a:pathLst>
                <a:path extrusionOk="0" h="910" w="107">
                  <a:moveTo>
                    <a:pt x="0" y="0"/>
                  </a:moveTo>
                  <a:lnTo>
                    <a:pt x="107" y="0"/>
                  </a:lnTo>
                  <a:lnTo>
                    <a:pt x="107" y="910"/>
                  </a:lnTo>
                </a:path>
              </a:pathLst>
            </a:custGeom>
            <a:noFill/>
            <a:ln cap="flat" cmpd="sng" w="952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352" name="Google Shape;5352;p101"/>
          <p:cNvGrpSpPr/>
          <p:nvPr/>
        </p:nvGrpSpPr>
        <p:grpSpPr>
          <a:xfrm>
            <a:off x="8685214" y="6022869"/>
            <a:ext cx="358775" cy="304800"/>
            <a:chOff x="5144" y="3677"/>
            <a:chExt cx="226" cy="192"/>
          </a:xfrm>
        </p:grpSpPr>
        <p:sp>
          <p:nvSpPr>
            <p:cNvPr id="5353" name="Google Shape;5353;p101"/>
            <p:cNvSpPr/>
            <p:nvPr/>
          </p:nvSpPr>
          <p:spPr>
            <a:xfrm>
              <a:off x="5212" y="3716"/>
              <a:ext cx="88" cy="13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54" name="Google Shape;5354;p101"/>
            <p:cNvSpPr txBox="1"/>
            <p:nvPr/>
          </p:nvSpPr>
          <p:spPr>
            <a:xfrm>
              <a:off x="5144" y="3677"/>
              <a:ext cx="226"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Narrow"/>
                <a:buNone/>
              </a:pPr>
              <a:r>
                <a:rPr b="0" i="0" lang="en-US" sz="1400" u="none" cap="none" strike="noStrike">
                  <a:solidFill>
                    <a:srgbClr val="FFFFFF"/>
                  </a:solidFill>
                  <a:latin typeface="Arial Narrow"/>
                  <a:ea typeface="Arial Narrow"/>
                  <a:cs typeface="Arial Narrow"/>
                  <a:sym typeface="Arial Narrow"/>
                </a:rPr>
                <a:t>A</a:t>
              </a:r>
              <a:endParaRPr/>
            </a:p>
          </p:txBody>
        </p:sp>
      </p:grpSp>
      <p:sp>
        <p:nvSpPr>
          <p:cNvPr id="5355" name="Google Shape;5355;p101"/>
          <p:cNvSpPr/>
          <p:nvPr/>
        </p:nvSpPr>
        <p:spPr>
          <a:xfrm>
            <a:off x="6835777" y="3123626"/>
            <a:ext cx="65087" cy="622300"/>
          </a:xfrm>
          <a:prstGeom prst="rect">
            <a:avLst/>
          </a:prstGeom>
          <a:gradFill>
            <a:gsLst>
              <a:gs pos="0">
                <a:srgbClr val="FFFFFF"/>
              </a:gs>
              <a:gs pos="100000">
                <a:srgbClr val="33CC33"/>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56" name="Google Shape;5356;p101"/>
          <p:cNvSpPr/>
          <p:nvPr/>
        </p:nvSpPr>
        <p:spPr>
          <a:xfrm>
            <a:off x="6932614" y="3125214"/>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57" name="Google Shape;5357;p101"/>
          <p:cNvSpPr/>
          <p:nvPr/>
        </p:nvSpPr>
        <p:spPr>
          <a:xfrm>
            <a:off x="703103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58" name="Google Shape;5358;p101"/>
          <p:cNvSpPr/>
          <p:nvPr/>
        </p:nvSpPr>
        <p:spPr>
          <a:xfrm>
            <a:off x="7127877" y="3123626"/>
            <a:ext cx="65087"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59" name="Google Shape;5359;p101"/>
          <p:cNvSpPr/>
          <p:nvPr/>
        </p:nvSpPr>
        <p:spPr>
          <a:xfrm>
            <a:off x="7223127" y="3123626"/>
            <a:ext cx="65087"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60" name="Google Shape;5360;p101"/>
          <p:cNvSpPr/>
          <p:nvPr/>
        </p:nvSpPr>
        <p:spPr>
          <a:xfrm>
            <a:off x="7319964"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61" name="Google Shape;5361;p101"/>
          <p:cNvSpPr/>
          <p:nvPr/>
        </p:nvSpPr>
        <p:spPr>
          <a:xfrm>
            <a:off x="741203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62" name="Google Shape;5362;p101"/>
          <p:cNvSpPr/>
          <p:nvPr/>
        </p:nvSpPr>
        <p:spPr>
          <a:xfrm>
            <a:off x="750728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63" name="Google Shape;5363;p101"/>
          <p:cNvSpPr/>
          <p:nvPr/>
        </p:nvSpPr>
        <p:spPr>
          <a:xfrm>
            <a:off x="7602539" y="3123626"/>
            <a:ext cx="65088"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64" name="Google Shape;5364;p101"/>
          <p:cNvSpPr/>
          <p:nvPr/>
        </p:nvSpPr>
        <p:spPr>
          <a:xfrm>
            <a:off x="7708902" y="3123626"/>
            <a:ext cx="65087" cy="622300"/>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65" name="Google Shape;5365;p101"/>
          <p:cNvSpPr/>
          <p:nvPr/>
        </p:nvSpPr>
        <p:spPr>
          <a:xfrm>
            <a:off x="7807327" y="3125214"/>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66" name="Google Shape;5366;p101"/>
          <p:cNvSpPr/>
          <p:nvPr/>
        </p:nvSpPr>
        <p:spPr>
          <a:xfrm>
            <a:off x="7904164"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67" name="Google Shape;5367;p101"/>
          <p:cNvSpPr/>
          <p:nvPr/>
        </p:nvSpPr>
        <p:spPr>
          <a:xfrm>
            <a:off x="800100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68" name="Google Shape;5368;p101"/>
          <p:cNvSpPr/>
          <p:nvPr/>
        </p:nvSpPr>
        <p:spPr>
          <a:xfrm>
            <a:off x="8097839"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69" name="Google Shape;5369;p101"/>
          <p:cNvSpPr/>
          <p:nvPr/>
        </p:nvSpPr>
        <p:spPr>
          <a:xfrm>
            <a:off x="8193089"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70" name="Google Shape;5370;p101"/>
          <p:cNvSpPr/>
          <p:nvPr/>
        </p:nvSpPr>
        <p:spPr>
          <a:xfrm>
            <a:off x="8285164"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71" name="Google Shape;5371;p101"/>
          <p:cNvSpPr/>
          <p:nvPr/>
        </p:nvSpPr>
        <p:spPr>
          <a:xfrm>
            <a:off x="8380414" y="3123626"/>
            <a:ext cx="65088"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72" name="Google Shape;5372;p101"/>
          <p:cNvSpPr/>
          <p:nvPr/>
        </p:nvSpPr>
        <p:spPr>
          <a:xfrm>
            <a:off x="847725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73" name="Google Shape;5373;p101"/>
          <p:cNvSpPr/>
          <p:nvPr/>
        </p:nvSpPr>
        <p:spPr>
          <a:xfrm>
            <a:off x="856615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74" name="Google Shape;5374;p101"/>
          <p:cNvSpPr/>
          <p:nvPr/>
        </p:nvSpPr>
        <p:spPr>
          <a:xfrm>
            <a:off x="8661402" y="3123626"/>
            <a:ext cx="65087" cy="622300"/>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75" name="Google Shape;5375;p101"/>
          <p:cNvSpPr/>
          <p:nvPr/>
        </p:nvSpPr>
        <p:spPr>
          <a:xfrm>
            <a:off x="8755064" y="3122039"/>
            <a:ext cx="65088"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76" name="Google Shape;5376;p101"/>
          <p:cNvSpPr/>
          <p:nvPr/>
        </p:nvSpPr>
        <p:spPr>
          <a:xfrm>
            <a:off x="8847139" y="3122039"/>
            <a:ext cx="65088"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77" name="Google Shape;5377;p101"/>
          <p:cNvSpPr/>
          <p:nvPr/>
        </p:nvSpPr>
        <p:spPr>
          <a:xfrm>
            <a:off x="894397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78" name="Google Shape;5378;p101"/>
          <p:cNvSpPr/>
          <p:nvPr/>
        </p:nvSpPr>
        <p:spPr>
          <a:xfrm>
            <a:off x="903922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79" name="Google Shape;5379;p101"/>
          <p:cNvSpPr/>
          <p:nvPr/>
        </p:nvSpPr>
        <p:spPr>
          <a:xfrm>
            <a:off x="912812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0" name="Google Shape;5380;p101"/>
          <p:cNvSpPr/>
          <p:nvPr/>
        </p:nvSpPr>
        <p:spPr>
          <a:xfrm>
            <a:off x="9223377" y="3122039"/>
            <a:ext cx="65087" cy="6223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1" name="Google Shape;5381;p101"/>
          <p:cNvSpPr/>
          <p:nvPr/>
        </p:nvSpPr>
        <p:spPr>
          <a:xfrm>
            <a:off x="932021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2" name="Google Shape;5382;p101"/>
          <p:cNvSpPr/>
          <p:nvPr/>
        </p:nvSpPr>
        <p:spPr>
          <a:xfrm>
            <a:off x="9417052" y="3125214"/>
            <a:ext cx="65087"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3" name="Google Shape;5383;p101"/>
          <p:cNvSpPr/>
          <p:nvPr/>
        </p:nvSpPr>
        <p:spPr>
          <a:xfrm>
            <a:off x="9513889"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4" name="Google Shape;5384;p101"/>
          <p:cNvSpPr/>
          <p:nvPr/>
        </p:nvSpPr>
        <p:spPr>
          <a:xfrm>
            <a:off x="961231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5" name="Google Shape;5385;p101"/>
          <p:cNvSpPr/>
          <p:nvPr/>
        </p:nvSpPr>
        <p:spPr>
          <a:xfrm>
            <a:off x="970756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6" name="Google Shape;5386;p101"/>
          <p:cNvSpPr/>
          <p:nvPr/>
        </p:nvSpPr>
        <p:spPr>
          <a:xfrm>
            <a:off x="9802814"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7" name="Google Shape;5387;p101"/>
          <p:cNvSpPr/>
          <p:nvPr/>
        </p:nvSpPr>
        <p:spPr>
          <a:xfrm>
            <a:off x="9894889" y="3123626"/>
            <a:ext cx="65088"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8" name="Google Shape;5388;p101"/>
          <p:cNvSpPr/>
          <p:nvPr/>
        </p:nvSpPr>
        <p:spPr>
          <a:xfrm>
            <a:off x="9991727" y="3123626"/>
            <a:ext cx="65087" cy="622300"/>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89" name="Google Shape;5389;p101"/>
          <p:cNvSpPr/>
          <p:nvPr/>
        </p:nvSpPr>
        <p:spPr>
          <a:xfrm>
            <a:off x="10086977" y="3123626"/>
            <a:ext cx="65087" cy="622300"/>
          </a:xfrm>
          <a:prstGeom prst="rect">
            <a:avLst/>
          </a:prstGeom>
          <a:gradFill>
            <a:gsLst>
              <a:gs pos="0">
                <a:srgbClr val="B2B2B2"/>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90" name="Google Shape;5390;p101"/>
          <p:cNvSpPr/>
          <p:nvPr/>
        </p:nvSpPr>
        <p:spPr>
          <a:xfrm>
            <a:off x="6792914" y="3861814"/>
            <a:ext cx="3408363" cy="889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391" name="Google Shape;5391;p101"/>
          <p:cNvSpPr/>
          <p:nvPr/>
        </p:nvSpPr>
        <p:spPr>
          <a:xfrm>
            <a:off x="6878639" y="3014089"/>
            <a:ext cx="3408363" cy="889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392" name="Google Shape;5392;p101"/>
          <p:cNvCxnSpPr/>
          <p:nvPr/>
        </p:nvCxnSpPr>
        <p:spPr>
          <a:xfrm>
            <a:off x="6900864" y="3976114"/>
            <a:ext cx="868363" cy="0"/>
          </a:xfrm>
          <a:prstGeom prst="straightConnector1">
            <a:avLst/>
          </a:prstGeom>
          <a:noFill/>
          <a:ln cap="flat" cmpd="sng" w="28575">
            <a:solidFill>
              <a:srgbClr val="CC0000"/>
            </a:solidFill>
            <a:prstDash val="solid"/>
            <a:round/>
            <a:headEnd len="med" w="med" type="none"/>
            <a:tailEnd len="med" w="med" type="none"/>
          </a:ln>
        </p:spPr>
      </p:cxnSp>
      <p:cxnSp>
        <p:nvCxnSpPr>
          <p:cNvPr id="5393" name="Google Shape;5393;p101"/>
          <p:cNvCxnSpPr/>
          <p:nvPr/>
        </p:nvCxnSpPr>
        <p:spPr>
          <a:xfrm>
            <a:off x="7835902" y="3977701"/>
            <a:ext cx="868362" cy="0"/>
          </a:xfrm>
          <a:prstGeom prst="straightConnector1">
            <a:avLst/>
          </a:prstGeom>
          <a:noFill/>
          <a:ln cap="flat" cmpd="sng" w="28575">
            <a:solidFill>
              <a:srgbClr val="CC0000"/>
            </a:solidFill>
            <a:prstDash val="solid"/>
            <a:round/>
            <a:headEnd len="med" w="med" type="none"/>
            <a:tailEnd len="med" w="med" type="none"/>
          </a:ln>
        </p:spPr>
      </p:cxnSp>
      <p:cxnSp>
        <p:nvCxnSpPr>
          <p:cNvPr id="5394" name="Google Shape;5394;p101"/>
          <p:cNvCxnSpPr/>
          <p:nvPr/>
        </p:nvCxnSpPr>
        <p:spPr>
          <a:xfrm>
            <a:off x="9329739" y="3976114"/>
            <a:ext cx="801688" cy="0"/>
          </a:xfrm>
          <a:prstGeom prst="straightConnector1">
            <a:avLst/>
          </a:prstGeom>
          <a:noFill/>
          <a:ln cap="flat" cmpd="sng" w="28575">
            <a:solidFill>
              <a:srgbClr val="CC0000"/>
            </a:solidFill>
            <a:prstDash val="solid"/>
            <a:round/>
            <a:headEnd len="med" w="med" type="none"/>
            <a:tailEnd len="med" w="med" type="none"/>
          </a:ln>
        </p:spPr>
      </p:cxnSp>
      <p:cxnSp>
        <p:nvCxnSpPr>
          <p:cNvPr id="5395" name="Google Shape;5395;p101"/>
          <p:cNvCxnSpPr/>
          <p:nvPr/>
        </p:nvCxnSpPr>
        <p:spPr>
          <a:xfrm>
            <a:off x="8759827" y="3977701"/>
            <a:ext cx="528637" cy="0"/>
          </a:xfrm>
          <a:prstGeom prst="straightConnector1">
            <a:avLst/>
          </a:prstGeom>
          <a:noFill/>
          <a:ln cap="flat" cmpd="sng" w="28575">
            <a:solidFill>
              <a:srgbClr val="CC0000"/>
            </a:solidFill>
            <a:prstDash val="solid"/>
            <a:round/>
            <a:headEnd len="med" w="med" type="none"/>
            <a:tailEnd len="med" w="med" type="none"/>
          </a:ln>
        </p:spPr>
      </p:cxnSp>
      <p:cxnSp>
        <p:nvCxnSpPr>
          <p:cNvPr id="5396" name="Google Shape;5396;p101"/>
          <p:cNvCxnSpPr/>
          <p:nvPr/>
        </p:nvCxnSpPr>
        <p:spPr>
          <a:xfrm>
            <a:off x="6992939" y="3999926"/>
            <a:ext cx="0" cy="233363"/>
          </a:xfrm>
          <a:prstGeom prst="straightConnector1">
            <a:avLst/>
          </a:prstGeom>
          <a:noFill/>
          <a:ln cap="flat" cmpd="sng" w="9525">
            <a:solidFill>
              <a:srgbClr val="CC0000"/>
            </a:solidFill>
            <a:prstDash val="solid"/>
            <a:round/>
            <a:headEnd len="med" w="med" type="none"/>
            <a:tailEnd len="med" w="med" type="none"/>
          </a:ln>
        </p:spPr>
      </p:cxnSp>
      <p:cxnSp>
        <p:nvCxnSpPr>
          <p:cNvPr id="5397" name="Google Shape;5397;p101"/>
          <p:cNvCxnSpPr/>
          <p:nvPr/>
        </p:nvCxnSpPr>
        <p:spPr>
          <a:xfrm>
            <a:off x="8221664" y="3995164"/>
            <a:ext cx="0" cy="233362"/>
          </a:xfrm>
          <a:prstGeom prst="straightConnector1">
            <a:avLst/>
          </a:prstGeom>
          <a:noFill/>
          <a:ln cap="flat" cmpd="sng" w="9525">
            <a:solidFill>
              <a:srgbClr val="CC0000"/>
            </a:solidFill>
            <a:prstDash val="solid"/>
            <a:round/>
            <a:headEnd len="med" w="med" type="none"/>
            <a:tailEnd len="med" w="med" type="none"/>
          </a:ln>
        </p:spPr>
      </p:cxnSp>
      <p:cxnSp>
        <p:nvCxnSpPr>
          <p:cNvPr id="5398" name="Google Shape;5398;p101"/>
          <p:cNvCxnSpPr/>
          <p:nvPr/>
        </p:nvCxnSpPr>
        <p:spPr>
          <a:xfrm>
            <a:off x="9040814" y="3995164"/>
            <a:ext cx="0" cy="233362"/>
          </a:xfrm>
          <a:prstGeom prst="straightConnector1">
            <a:avLst/>
          </a:prstGeom>
          <a:noFill/>
          <a:ln cap="flat" cmpd="sng" w="9525">
            <a:solidFill>
              <a:srgbClr val="CC0000"/>
            </a:solidFill>
            <a:prstDash val="solid"/>
            <a:round/>
            <a:headEnd len="med" w="med" type="none"/>
            <a:tailEnd len="med" w="med" type="none"/>
          </a:ln>
        </p:spPr>
      </p:cxnSp>
      <p:cxnSp>
        <p:nvCxnSpPr>
          <p:cNvPr id="5399" name="Google Shape;5399;p101"/>
          <p:cNvCxnSpPr/>
          <p:nvPr/>
        </p:nvCxnSpPr>
        <p:spPr>
          <a:xfrm>
            <a:off x="9698039" y="3995164"/>
            <a:ext cx="0" cy="233362"/>
          </a:xfrm>
          <a:prstGeom prst="straightConnector1">
            <a:avLst/>
          </a:prstGeom>
          <a:noFill/>
          <a:ln cap="flat" cmpd="sng" w="9525">
            <a:solidFill>
              <a:srgbClr val="CC0000"/>
            </a:solidFill>
            <a:prstDash val="solid"/>
            <a:round/>
            <a:headEnd len="med" w="med" type="none"/>
            <a:tailEnd len="med" w="med" type="none"/>
          </a:ln>
        </p:spPr>
      </p:cxnSp>
      <p:sp>
        <p:nvSpPr>
          <p:cNvPr id="5400" name="Google Shape;5400;p101"/>
          <p:cNvSpPr txBox="1"/>
          <p:nvPr/>
        </p:nvSpPr>
        <p:spPr>
          <a:xfrm>
            <a:off x="6869114" y="4223764"/>
            <a:ext cx="693738"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sent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ACKed</a:t>
            </a:r>
            <a:endParaRPr/>
          </a:p>
        </p:txBody>
      </p:sp>
      <p:sp>
        <p:nvSpPr>
          <p:cNvPr id="5401" name="Google Shape;5401;p101"/>
          <p:cNvSpPr txBox="1"/>
          <p:nvPr/>
        </p:nvSpPr>
        <p:spPr>
          <a:xfrm>
            <a:off x="7850188" y="4230114"/>
            <a:ext cx="1139821" cy="68480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sent, not-yet ACKed</a:t>
            </a:r>
            <a:endParaRPr b="0" i="0" sz="1400" u="none" cap="none" strike="noStrike">
              <a:solidFill>
                <a:srgbClr val="000000"/>
              </a:solidFill>
              <a:latin typeface="Tahoma"/>
              <a:ea typeface="Tahoma"/>
              <a:cs typeface="Tahoma"/>
              <a:sym typeface="Tahoma"/>
            </a:endParaRPr>
          </a:p>
          <a:p>
            <a:pPr indent="0" lvl="0" marL="0" marR="0" rtl="0" algn="l">
              <a:lnSpc>
                <a:spcPct val="90000"/>
              </a:lnSpc>
              <a:spcBef>
                <a:spcPts val="300"/>
              </a:spcBef>
              <a:spcAft>
                <a:spcPts val="0"/>
              </a:spcAft>
              <a:buClr>
                <a:srgbClr val="000000"/>
              </a:buClr>
              <a:buSzPts val="1200"/>
              <a:buFont typeface="Tahoma"/>
              <a:buNone/>
            </a:pPr>
            <a:r>
              <a:rPr b="0" i="0" lang="en-US" sz="1200" u="none" cap="none" strike="noStrike">
                <a:solidFill>
                  <a:srgbClr val="000000"/>
                </a:solidFill>
                <a:latin typeface="Tahoma"/>
                <a:ea typeface="Tahoma"/>
                <a:cs typeface="Tahoma"/>
                <a:sym typeface="Tahoma"/>
              </a:rPr>
              <a:t>(“in-flight”)</a:t>
            </a:r>
            <a:endParaRPr b="0" i="0" sz="1200" u="none" cap="none" strike="noStrike">
              <a:solidFill>
                <a:srgbClr val="000000"/>
              </a:solidFill>
              <a:latin typeface="Tahoma"/>
              <a:ea typeface="Tahoma"/>
              <a:cs typeface="Tahoma"/>
              <a:sym typeface="Tahoma"/>
            </a:endParaRPr>
          </a:p>
        </p:txBody>
      </p:sp>
      <p:sp>
        <p:nvSpPr>
          <p:cNvPr id="5402" name="Google Shape;5402;p101"/>
          <p:cNvSpPr txBox="1"/>
          <p:nvPr/>
        </p:nvSpPr>
        <p:spPr>
          <a:xfrm>
            <a:off x="8829677" y="4225351"/>
            <a:ext cx="1066800" cy="66833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usable</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but not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yet sent</a:t>
            </a:r>
            <a:endParaRPr/>
          </a:p>
        </p:txBody>
      </p:sp>
      <p:sp>
        <p:nvSpPr>
          <p:cNvPr id="5403" name="Google Shape;5403;p101"/>
          <p:cNvSpPr txBox="1"/>
          <p:nvPr/>
        </p:nvSpPr>
        <p:spPr>
          <a:xfrm>
            <a:off x="9586914" y="4230114"/>
            <a:ext cx="819150"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not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usable</a:t>
            </a:r>
            <a:endParaRPr/>
          </a:p>
        </p:txBody>
      </p:sp>
      <p:sp>
        <p:nvSpPr>
          <p:cNvPr id="5404" name="Google Shape;5404;p101"/>
          <p:cNvSpPr txBox="1"/>
          <p:nvPr/>
        </p:nvSpPr>
        <p:spPr>
          <a:xfrm>
            <a:off x="7929564" y="2658489"/>
            <a:ext cx="1131888" cy="47625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window size</a:t>
            </a:r>
            <a:endParaRPr/>
          </a:p>
          <a:p>
            <a:pPr indent="0" lvl="0" marL="0" marR="0" rtl="0" algn="ctr">
              <a:lnSpc>
                <a:spcPct val="90000"/>
              </a:lnSpc>
              <a:spcBef>
                <a:spcPts val="0"/>
              </a:spcBef>
              <a:spcAft>
                <a:spcPts val="0"/>
              </a:spcAft>
              <a:buClr>
                <a:srgbClr val="000000"/>
              </a:buClr>
              <a:buSzPts val="1400"/>
              <a:buFont typeface="Tahoma"/>
              <a:buNone/>
            </a:pPr>
            <a:r>
              <a:rPr b="0" i="1" lang="en-US" sz="1400" u="none" cap="none" strike="noStrike">
                <a:solidFill>
                  <a:srgbClr val="000000"/>
                </a:solidFill>
                <a:latin typeface="Tahoma"/>
                <a:ea typeface="Tahoma"/>
                <a:cs typeface="Tahoma"/>
                <a:sym typeface="Tahoma"/>
              </a:rPr>
              <a:t> N</a:t>
            </a:r>
            <a:endParaRPr/>
          </a:p>
        </p:txBody>
      </p:sp>
      <p:grpSp>
        <p:nvGrpSpPr>
          <p:cNvPr id="5405" name="Google Shape;5405;p101"/>
          <p:cNvGrpSpPr/>
          <p:nvPr/>
        </p:nvGrpSpPr>
        <p:grpSpPr>
          <a:xfrm>
            <a:off x="8696327" y="2882326"/>
            <a:ext cx="593725" cy="136525"/>
            <a:chOff x="4250" y="1692"/>
            <a:chExt cx="374" cy="86"/>
          </a:xfrm>
        </p:grpSpPr>
        <p:cxnSp>
          <p:nvCxnSpPr>
            <p:cNvPr id="5406" name="Google Shape;5406;p101"/>
            <p:cNvCxnSpPr/>
            <p:nvPr/>
          </p:nvCxnSpPr>
          <p:spPr>
            <a:xfrm>
              <a:off x="4250" y="1738"/>
              <a:ext cx="374" cy="0"/>
            </a:xfrm>
            <a:prstGeom prst="straightConnector1">
              <a:avLst/>
            </a:prstGeom>
            <a:noFill/>
            <a:ln cap="flat" cmpd="sng" w="28575">
              <a:solidFill>
                <a:srgbClr val="CC0000"/>
              </a:solidFill>
              <a:prstDash val="solid"/>
              <a:round/>
              <a:headEnd len="med" w="med" type="none"/>
              <a:tailEnd len="med" w="med" type="triangle"/>
            </a:ln>
          </p:spPr>
        </p:cxnSp>
        <p:cxnSp>
          <p:nvCxnSpPr>
            <p:cNvPr id="5407" name="Google Shape;5407;p101"/>
            <p:cNvCxnSpPr/>
            <p:nvPr/>
          </p:nvCxnSpPr>
          <p:spPr>
            <a:xfrm>
              <a:off x="4622" y="1692"/>
              <a:ext cx="0" cy="86"/>
            </a:xfrm>
            <a:prstGeom prst="straightConnector1">
              <a:avLst/>
            </a:prstGeom>
            <a:noFill/>
            <a:ln cap="flat" cmpd="sng" w="9525">
              <a:solidFill>
                <a:srgbClr val="CC0000"/>
              </a:solidFill>
              <a:prstDash val="solid"/>
              <a:round/>
              <a:headEnd len="med" w="med" type="none"/>
              <a:tailEnd len="med" w="med" type="none"/>
            </a:ln>
          </p:spPr>
        </p:cxnSp>
      </p:grpSp>
      <p:grpSp>
        <p:nvGrpSpPr>
          <p:cNvPr id="5408" name="Google Shape;5408;p101"/>
          <p:cNvGrpSpPr/>
          <p:nvPr/>
        </p:nvGrpSpPr>
        <p:grpSpPr>
          <a:xfrm rot="10800000">
            <a:off x="7793040" y="2896614"/>
            <a:ext cx="593725" cy="136525"/>
            <a:chOff x="4257" y="1699"/>
            <a:chExt cx="374" cy="86"/>
          </a:xfrm>
        </p:grpSpPr>
        <p:cxnSp>
          <p:nvCxnSpPr>
            <p:cNvPr id="5409" name="Google Shape;5409;p101"/>
            <p:cNvCxnSpPr/>
            <p:nvPr/>
          </p:nvCxnSpPr>
          <p:spPr>
            <a:xfrm>
              <a:off x="4257" y="1745"/>
              <a:ext cx="374" cy="0"/>
            </a:xfrm>
            <a:prstGeom prst="straightConnector1">
              <a:avLst/>
            </a:prstGeom>
            <a:noFill/>
            <a:ln cap="flat" cmpd="sng" w="28575">
              <a:solidFill>
                <a:srgbClr val="CC0000"/>
              </a:solidFill>
              <a:prstDash val="solid"/>
              <a:round/>
              <a:headEnd len="med" w="med" type="none"/>
              <a:tailEnd len="med" w="med" type="triangle"/>
            </a:ln>
          </p:spPr>
        </p:cxnSp>
        <p:cxnSp>
          <p:nvCxnSpPr>
            <p:cNvPr id="5410" name="Google Shape;5410;p101"/>
            <p:cNvCxnSpPr/>
            <p:nvPr/>
          </p:nvCxnSpPr>
          <p:spPr>
            <a:xfrm>
              <a:off x="4629" y="1699"/>
              <a:ext cx="0" cy="86"/>
            </a:xfrm>
            <a:prstGeom prst="straightConnector1">
              <a:avLst/>
            </a:prstGeom>
            <a:noFill/>
            <a:ln cap="flat" cmpd="sng" w="9525">
              <a:solidFill>
                <a:srgbClr val="CC0000"/>
              </a:solidFill>
              <a:prstDash val="solid"/>
              <a:round/>
              <a:headEnd len="med" w="med" type="none"/>
              <a:tailEnd len="med" w="med" type="none"/>
            </a:ln>
          </p:spPr>
        </p:cxnSp>
      </p:grpSp>
      <p:sp>
        <p:nvSpPr>
          <p:cNvPr id="5411" name="Google Shape;5411;p101"/>
          <p:cNvSpPr txBox="1"/>
          <p:nvPr/>
        </p:nvSpPr>
        <p:spPr>
          <a:xfrm>
            <a:off x="7085014" y="3677664"/>
            <a:ext cx="3178175" cy="304800"/>
          </a:xfrm>
          <a:prstGeom prst="rect">
            <a:avLst/>
          </a:prstGeom>
          <a:noFill/>
          <a:ln>
            <a:noFill/>
          </a:ln>
        </p:spPr>
        <p:txBody>
          <a:bodyPr anchorCtr="0" anchor="t" bIns="45700" lIns="91425" spcFirstLastPara="1" rIns="91425" wrap="square" tIns="45700">
            <a:spAutoFit/>
          </a:bodyPr>
          <a:lstStyle/>
          <a:p>
            <a:pPr indent="0" lvl="1" marL="0" marR="0" rtl="0" algn="ctr">
              <a:lnSpc>
                <a:spcPct val="100000"/>
              </a:lnSpc>
              <a:spcBef>
                <a:spcPts val="0"/>
              </a:spcBef>
              <a:spcAft>
                <a:spcPts val="0"/>
              </a:spcAft>
              <a:buClr>
                <a:srgbClr val="000000"/>
              </a:buClr>
              <a:buSzPts val="1400"/>
              <a:buFont typeface="Tahoma"/>
              <a:buNone/>
            </a:pPr>
            <a:r>
              <a:rPr b="0" i="1" lang="en-US" sz="1400" u="none" cap="none" strike="noStrike">
                <a:solidFill>
                  <a:srgbClr val="000000"/>
                </a:solidFill>
                <a:latin typeface="Tahoma"/>
                <a:ea typeface="Tahoma"/>
                <a:cs typeface="Tahoma"/>
                <a:sym typeface="Tahoma"/>
              </a:rPr>
              <a:t>sender sequence number space </a:t>
            </a:r>
            <a:endParaRPr/>
          </a:p>
        </p:txBody>
      </p:sp>
      <p:grpSp>
        <p:nvGrpSpPr>
          <p:cNvPr id="5412" name="Google Shape;5412;p101"/>
          <p:cNvGrpSpPr/>
          <p:nvPr/>
        </p:nvGrpSpPr>
        <p:grpSpPr>
          <a:xfrm>
            <a:off x="6321427" y="1140839"/>
            <a:ext cx="2952750" cy="1966912"/>
            <a:chOff x="2600" y="665"/>
            <a:chExt cx="1860" cy="1239"/>
          </a:xfrm>
        </p:grpSpPr>
        <p:sp>
          <p:nvSpPr>
            <p:cNvPr id="5413" name="Google Shape;5413;p101"/>
            <p:cNvSpPr/>
            <p:nvPr/>
          </p:nvSpPr>
          <p:spPr>
            <a:xfrm>
              <a:off x="2840" y="1028"/>
              <a:ext cx="1202" cy="130"/>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414" name="Google Shape;5414;p101"/>
            <p:cNvGrpSpPr/>
            <p:nvPr/>
          </p:nvGrpSpPr>
          <p:grpSpPr>
            <a:xfrm>
              <a:off x="2820" y="872"/>
              <a:ext cx="1252" cy="714"/>
              <a:chOff x="1976" y="2984"/>
              <a:chExt cx="1252" cy="714"/>
            </a:xfrm>
          </p:grpSpPr>
          <p:sp>
            <p:nvSpPr>
              <p:cNvPr id="5415" name="Google Shape;5415;p101"/>
              <p:cNvSpPr/>
              <p:nvPr/>
            </p:nvSpPr>
            <p:spPr>
              <a:xfrm>
                <a:off x="1994" y="2995"/>
                <a:ext cx="1210" cy="70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416" name="Google Shape;5416;p101"/>
              <p:cNvSpPr txBox="1"/>
              <p:nvPr/>
            </p:nvSpPr>
            <p:spPr>
              <a:xfrm>
                <a:off x="2001" y="2984"/>
                <a:ext cx="58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source port #</a:t>
                </a:r>
                <a:endParaRPr/>
              </a:p>
            </p:txBody>
          </p:sp>
          <p:sp>
            <p:nvSpPr>
              <p:cNvPr id="5417" name="Google Shape;5417;p101"/>
              <p:cNvSpPr txBox="1"/>
              <p:nvPr/>
            </p:nvSpPr>
            <p:spPr>
              <a:xfrm>
                <a:off x="2648" y="2987"/>
                <a:ext cx="491"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dest port #</a:t>
                </a:r>
                <a:endParaRPr/>
              </a:p>
            </p:txBody>
          </p:sp>
          <p:sp>
            <p:nvSpPr>
              <p:cNvPr id="5418" name="Google Shape;5418;p101"/>
              <p:cNvSpPr txBox="1"/>
              <p:nvPr/>
            </p:nvSpPr>
            <p:spPr>
              <a:xfrm>
                <a:off x="2154" y="3117"/>
                <a:ext cx="91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sequence number</a:t>
                </a:r>
                <a:endParaRPr/>
              </a:p>
            </p:txBody>
          </p:sp>
          <p:sp>
            <p:nvSpPr>
              <p:cNvPr id="5419" name="Google Shape;5419;p101"/>
              <p:cNvSpPr txBox="1"/>
              <p:nvPr/>
            </p:nvSpPr>
            <p:spPr>
              <a:xfrm>
                <a:off x="1976" y="3257"/>
                <a:ext cx="1252"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acknowledgement number</a:t>
                </a:r>
                <a:endParaRPr/>
              </a:p>
            </p:txBody>
          </p:sp>
          <p:sp>
            <p:nvSpPr>
              <p:cNvPr id="5420" name="Google Shape;5420;p101"/>
              <p:cNvSpPr txBox="1"/>
              <p:nvPr/>
            </p:nvSpPr>
            <p:spPr>
              <a:xfrm>
                <a:off x="2053" y="3544"/>
                <a:ext cx="475"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checksum</a:t>
                </a:r>
                <a:endParaRPr/>
              </a:p>
            </p:txBody>
          </p:sp>
          <p:cxnSp>
            <p:nvCxnSpPr>
              <p:cNvPr id="5421" name="Google Shape;5421;p101"/>
              <p:cNvCxnSpPr/>
              <p:nvPr/>
            </p:nvCxnSpPr>
            <p:spPr>
              <a:xfrm>
                <a:off x="1994" y="3138"/>
                <a:ext cx="1212" cy="0"/>
              </a:xfrm>
              <a:prstGeom prst="straightConnector1">
                <a:avLst/>
              </a:prstGeom>
              <a:noFill/>
              <a:ln cap="flat" cmpd="sng" w="9525">
                <a:solidFill>
                  <a:srgbClr val="000000"/>
                </a:solidFill>
                <a:prstDash val="solid"/>
                <a:round/>
                <a:headEnd len="med" w="med" type="none"/>
                <a:tailEnd len="med" w="med" type="none"/>
              </a:ln>
            </p:spPr>
          </p:cxnSp>
          <p:cxnSp>
            <p:nvCxnSpPr>
              <p:cNvPr id="5422" name="Google Shape;5422;p101"/>
              <p:cNvCxnSpPr/>
              <p:nvPr/>
            </p:nvCxnSpPr>
            <p:spPr>
              <a:xfrm>
                <a:off x="1994" y="3274"/>
                <a:ext cx="1212" cy="0"/>
              </a:xfrm>
              <a:prstGeom prst="straightConnector1">
                <a:avLst/>
              </a:prstGeom>
              <a:noFill/>
              <a:ln cap="flat" cmpd="sng" w="9525">
                <a:solidFill>
                  <a:srgbClr val="000000"/>
                </a:solidFill>
                <a:prstDash val="solid"/>
                <a:round/>
                <a:headEnd len="med" w="med" type="none"/>
                <a:tailEnd len="med" w="med" type="none"/>
              </a:ln>
            </p:spPr>
          </p:cxnSp>
          <p:cxnSp>
            <p:nvCxnSpPr>
              <p:cNvPr id="5423" name="Google Shape;5423;p101"/>
              <p:cNvCxnSpPr/>
              <p:nvPr/>
            </p:nvCxnSpPr>
            <p:spPr>
              <a:xfrm>
                <a:off x="1992" y="3414"/>
                <a:ext cx="1212" cy="0"/>
              </a:xfrm>
              <a:prstGeom prst="straightConnector1">
                <a:avLst/>
              </a:prstGeom>
              <a:noFill/>
              <a:ln cap="flat" cmpd="sng" w="9525">
                <a:solidFill>
                  <a:srgbClr val="000000"/>
                </a:solidFill>
                <a:prstDash val="solid"/>
                <a:round/>
                <a:headEnd len="med" w="med" type="none"/>
                <a:tailEnd len="med" w="med" type="none"/>
              </a:ln>
            </p:spPr>
          </p:cxnSp>
          <p:cxnSp>
            <p:nvCxnSpPr>
              <p:cNvPr id="5424" name="Google Shape;5424;p101"/>
              <p:cNvCxnSpPr/>
              <p:nvPr/>
            </p:nvCxnSpPr>
            <p:spPr>
              <a:xfrm>
                <a:off x="2588" y="2994"/>
                <a:ext cx="0" cy="142"/>
              </a:xfrm>
              <a:prstGeom prst="straightConnector1">
                <a:avLst/>
              </a:prstGeom>
              <a:noFill/>
              <a:ln cap="flat" cmpd="sng" w="9525">
                <a:solidFill>
                  <a:srgbClr val="000000"/>
                </a:solidFill>
                <a:prstDash val="solid"/>
                <a:round/>
                <a:headEnd len="med" w="med" type="none"/>
                <a:tailEnd len="med" w="med" type="none"/>
              </a:ln>
            </p:spPr>
          </p:cxnSp>
          <p:cxnSp>
            <p:nvCxnSpPr>
              <p:cNvPr id="5425" name="Google Shape;5425;p101"/>
              <p:cNvCxnSpPr/>
              <p:nvPr/>
            </p:nvCxnSpPr>
            <p:spPr>
              <a:xfrm>
                <a:off x="2588" y="3416"/>
                <a:ext cx="0" cy="280"/>
              </a:xfrm>
              <a:prstGeom prst="straightConnector1">
                <a:avLst/>
              </a:prstGeom>
              <a:noFill/>
              <a:ln cap="flat" cmpd="sng" w="9525">
                <a:solidFill>
                  <a:srgbClr val="000000"/>
                </a:solidFill>
                <a:prstDash val="solid"/>
                <a:round/>
                <a:headEnd len="med" w="med" type="none"/>
                <a:tailEnd len="med" w="med" type="none"/>
              </a:ln>
            </p:spPr>
          </p:cxnSp>
          <p:cxnSp>
            <p:nvCxnSpPr>
              <p:cNvPr id="5426" name="Google Shape;5426;p101"/>
              <p:cNvCxnSpPr/>
              <p:nvPr/>
            </p:nvCxnSpPr>
            <p:spPr>
              <a:xfrm>
                <a:off x="1994" y="3548"/>
                <a:ext cx="1212" cy="0"/>
              </a:xfrm>
              <a:prstGeom prst="straightConnector1">
                <a:avLst/>
              </a:prstGeom>
              <a:noFill/>
              <a:ln cap="flat" cmpd="sng" w="9525">
                <a:solidFill>
                  <a:srgbClr val="000000"/>
                </a:solidFill>
                <a:prstDash val="solid"/>
                <a:round/>
                <a:headEnd len="med" w="med" type="none"/>
                <a:tailEnd len="med" w="med" type="none"/>
              </a:ln>
            </p:spPr>
          </p:cxnSp>
          <p:sp>
            <p:nvSpPr>
              <p:cNvPr id="5427" name="Google Shape;5427;p101"/>
              <p:cNvSpPr txBox="1"/>
              <p:nvPr/>
            </p:nvSpPr>
            <p:spPr>
              <a:xfrm>
                <a:off x="2708" y="3390"/>
                <a:ext cx="323" cy="17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rwnd</a:t>
                </a:r>
                <a:endParaRPr/>
              </a:p>
            </p:txBody>
          </p:sp>
          <p:sp>
            <p:nvSpPr>
              <p:cNvPr id="5428" name="Google Shape;5428;p101"/>
              <p:cNvSpPr txBox="1"/>
              <p:nvPr/>
            </p:nvSpPr>
            <p:spPr>
              <a:xfrm>
                <a:off x="2651" y="3544"/>
                <a:ext cx="496"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urg pointer</a:t>
                </a:r>
                <a:endParaRPr/>
              </a:p>
            </p:txBody>
          </p:sp>
          <p:cxnSp>
            <p:nvCxnSpPr>
              <p:cNvPr id="5429" name="Google Shape;5429;p101"/>
              <p:cNvCxnSpPr/>
              <p:nvPr/>
            </p:nvCxnSpPr>
            <p:spPr>
              <a:xfrm>
                <a:off x="2398" y="3413"/>
                <a:ext cx="0" cy="134"/>
              </a:xfrm>
              <a:prstGeom prst="straightConnector1">
                <a:avLst/>
              </a:prstGeom>
              <a:noFill/>
              <a:ln cap="flat" cmpd="sng" w="9525">
                <a:solidFill>
                  <a:srgbClr val="000000"/>
                </a:solidFill>
                <a:prstDash val="solid"/>
                <a:round/>
                <a:headEnd len="med" w="med" type="none"/>
                <a:tailEnd len="med" w="med" type="none"/>
              </a:ln>
            </p:spPr>
          </p:cxnSp>
          <p:cxnSp>
            <p:nvCxnSpPr>
              <p:cNvPr id="5430" name="Google Shape;5430;p101"/>
              <p:cNvCxnSpPr/>
              <p:nvPr/>
            </p:nvCxnSpPr>
            <p:spPr>
              <a:xfrm>
                <a:off x="2143" y="3412"/>
                <a:ext cx="0" cy="134"/>
              </a:xfrm>
              <a:prstGeom prst="straightConnector1">
                <a:avLst/>
              </a:prstGeom>
              <a:noFill/>
              <a:ln cap="flat" cmpd="sng" w="9525">
                <a:solidFill>
                  <a:srgbClr val="000000"/>
                </a:solidFill>
                <a:prstDash val="solid"/>
                <a:round/>
                <a:headEnd len="med" w="med" type="none"/>
                <a:tailEnd len="med" w="med" type="none"/>
              </a:ln>
            </p:spPr>
          </p:cxnSp>
        </p:grpSp>
        <p:sp>
          <p:nvSpPr>
            <p:cNvPr id="5431" name="Google Shape;5431;p101"/>
            <p:cNvSpPr txBox="1"/>
            <p:nvPr/>
          </p:nvSpPr>
          <p:spPr>
            <a:xfrm>
              <a:off x="2600" y="665"/>
              <a:ext cx="1860"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outgoing segment from sender</a:t>
              </a:r>
              <a:endParaRPr/>
            </a:p>
          </p:txBody>
        </p:sp>
        <p:sp>
          <p:nvSpPr>
            <p:cNvPr id="5432" name="Google Shape;5432;p101"/>
            <p:cNvSpPr/>
            <p:nvPr/>
          </p:nvSpPr>
          <p:spPr>
            <a:xfrm>
              <a:off x="4050" y="1080"/>
              <a:ext cx="107" cy="824"/>
            </a:xfrm>
            <a:custGeom>
              <a:rect b="b" l="l" r="r" t="t"/>
              <a:pathLst>
                <a:path extrusionOk="0" h="910" w="107">
                  <a:moveTo>
                    <a:pt x="0" y="0"/>
                  </a:moveTo>
                  <a:lnTo>
                    <a:pt x="107" y="0"/>
                  </a:lnTo>
                  <a:lnTo>
                    <a:pt x="107" y="910"/>
                  </a:lnTo>
                </a:path>
              </a:pathLst>
            </a:custGeom>
            <a:noFill/>
            <a:ln cap="flat" cmpd="sng" w="952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433" name="Google Shape;5433;p101"/>
          <p:cNvSpPr txBox="1"/>
          <p:nvPr/>
        </p:nvSpPr>
        <p:spPr>
          <a:xfrm>
            <a:off x="740571" y="2803512"/>
            <a:ext cx="5096669" cy="1768488"/>
          </a:xfrm>
          <a:prstGeom prst="rect">
            <a:avLst/>
          </a:prstGeom>
          <a:noFill/>
          <a:ln>
            <a:noFill/>
          </a:ln>
        </p:spPr>
        <p:txBody>
          <a:bodyPr anchorCtr="0" anchor="t" bIns="45700" lIns="91425" spcFirstLastPara="1" rIns="91425" wrap="square" tIns="45700">
            <a:noAutofit/>
          </a:bodyPr>
          <a:lstStyle/>
          <a:p>
            <a:pPr indent="-123825" lvl="0" marL="234950" marR="0" rtl="0" algn="l">
              <a:lnSpc>
                <a:spcPct val="85000"/>
              </a:lnSpc>
              <a:spcBef>
                <a:spcPts val="0"/>
              </a:spcBef>
              <a:spcAft>
                <a:spcPts val="0"/>
              </a:spcAft>
              <a:buClr>
                <a:srgbClr val="000099"/>
              </a:buClr>
              <a:buSzPts val="2800"/>
              <a:buFont typeface="Noto Sans Symbols"/>
              <a:buNone/>
            </a:pPr>
            <a:r>
              <a:rPr b="0" i="1" lang="en-US" sz="2800" u="none" cap="none" strike="noStrike">
                <a:solidFill>
                  <a:srgbClr val="CC0000"/>
                </a:solidFill>
                <a:latin typeface="Calibri"/>
                <a:ea typeface="Calibri"/>
                <a:cs typeface="Calibri"/>
                <a:sym typeface="Calibri"/>
              </a:rPr>
              <a:t>Acknowledgements</a:t>
            </a:r>
            <a:r>
              <a:rPr b="0" i="0" lang="en-US" sz="2800" u="sng" cap="none" strike="noStrike">
                <a:solidFill>
                  <a:srgbClr val="CC0000"/>
                </a:solidFill>
                <a:latin typeface="Calibri"/>
                <a:ea typeface="Calibri"/>
                <a:cs typeface="Calibri"/>
                <a:sym typeface="Calibri"/>
              </a:rPr>
              <a:t>:</a:t>
            </a:r>
            <a:endParaRPr b="0" i="0" sz="2800" u="none" cap="none" strike="noStrike">
              <a:solidFill>
                <a:srgbClr val="CC0000"/>
              </a:solidFill>
              <a:latin typeface="Calibri"/>
              <a:ea typeface="Calibri"/>
              <a:cs typeface="Calibri"/>
              <a:sym typeface="Calibri"/>
            </a:endParaRPr>
          </a:p>
          <a:p>
            <a:pPr indent="-285750" lvl="1" marL="6350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seq # of next byte expected from other side</a:t>
            </a:r>
            <a:endParaRPr/>
          </a:p>
          <a:p>
            <a:pPr indent="-285750" lvl="1" marL="635000"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cumulative ACK</a:t>
            </a:r>
            <a:endParaRPr/>
          </a:p>
        </p:txBody>
      </p:sp>
      <p:sp>
        <p:nvSpPr>
          <p:cNvPr id="5434" name="Google Shape;5434;p101"/>
          <p:cNvSpPr txBox="1"/>
          <p:nvPr/>
        </p:nvSpPr>
        <p:spPr>
          <a:xfrm>
            <a:off x="651671" y="4633906"/>
            <a:ext cx="5096669" cy="1730388"/>
          </a:xfrm>
          <a:prstGeom prst="rect">
            <a:avLst/>
          </a:prstGeom>
          <a:noFill/>
          <a:ln>
            <a:noFill/>
          </a:ln>
        </p:spPr>
        <p:txBody>
          <a:bodyPr anchorCtr="0" anchor="t" bIns="45700" lIns="91425" spcFirstLastPara="1" rIns="91425" wrap="square" tIns="45700">
            <a:noAutofit/>
          </a:bodyPr>
          <a:lstStyle/>
          <a:p>
            <a:pPr indent="-123825" lvl="0" marL="234950" marR="0" rtl="0" algn="l">
              <a:lnSpc>
                <a:spcPct val="85000"/>
              </a:lnSpc>
              <a:spcBef>
                <a:spcPts val="0"/>
              </a:spcBef>
              <a:spcAft>
                <a:spcPts val="0"/>
              </a:spcAft>
              <a:buClr>
                <a:srgbClr val="000099"/>
              </a:buClr>
              <a:buSzPts val="2800"/>
              <a:buFont typeface="Noto Sans Symbols"/>
              <a:buNone/>
            </a:pPr>
            <a:r>
              <a:rPr b="0" i="1" lang="en-US" sz="2800" u="sng" cap="none" strike="noStrike">
                <a:solidFill>
                  <a:srgbClr val="CC0000"/>
                </a:solidFill>
                <a:latin typeface="Calibri"/>
                <a:ea typeface="Calibri"/>
                <a:cs typeface="Calibri"/>
                <a:sym typeface="Calibri"/>
              </a:rPr>
              <a:t>Q</a:t>
            </a:r>
            <a:r>
              <a:rPr b="0" i="0" lang="en-US" sz="2800" u="none" cap="none" strike="noStrike">
                <a:solidFill>
                  <a:srgbClr val="CC0000"/>
                </a:solidFill>
                <a:latin typeface="Calibri"/>
                <a:ea typeface="Calibri"/>
                <a:cs typeface="Calibri"/>
                <a:sym typeface="Calibri"/>
              </a:rPr>
              <a:t>:</a:t>
            </a:r>
            <a:r>
              <a:rPr b="0" i="0" lang="en-US" sz="2800" u="none" cap="none" strike="noStrike">
                <a:solidFill>
                  <a:srgbClr val="000000"/>
                </a:solidFill>
                <a:latin typeface="Calibri"/>
                <a:ea typeface="Calibri"/>
                <a:cs typeface="Calibri"/>
                <a:sym typeface="Calibri"/>
              </a:rPr>
              <a:t> how receiver handles out-of-order segments</a:t>
            </a:r>
            <a:endParaRPr/>
          </a:p>
          <a:p>
            <a:pPr indent="-285750" lvl="1" marL="635000" marR="0" rtl="0" algn="l">
              <a:lnSpc>
                <a:spcPct val="85000"/>
              </a:lnSpc>
              <a:spcBef>
                <a:spcPts val="560"/>
              </a:spcBef>
              <a:spcAft>
                <a:spcPts val="0"/>
              </a:spcAft>
              <a:buClr>
                <a:srgbClr val="000099"/>
              </a:buClr>
              <a:buSzPts val="2800"/>
              <a:buFont typeface="Arial"/>
              <a:buChar char="•"/>
            </a:pPr>
            <a:r>
              <a:rPr b="0" i="1" lang="en-US" sz="2800" u="sng" cap="none" strike="noStrike">
                <a:solidFill>
                  <a:srgbClr val="C00000"/>
                </a:solidFill>
                <a:latin typeface="Calibri"/>
                <a:ea typeface="Calibri"/>
                <a:cs typeface="Calibri"/>
                <a:sym typeface="Calibri"/>
              </a:rPr>
              <a:t>A: </a:t>
            </a:r>
            <a:r>
              <a:rPr b="0" i="0" lang="en-US" sz="2800" u="none" cap="none" strike="noStrike">
                <a:solidFill>
                  <a:srgbClr val="000000"/>
                </a:solidFill>
                <a:latin typeface="Calibri"/>
                <a:ea typeface="Calibri"/>
                <a:cs typeface="Calibri"/>
                <a:sym typeface="Calibri"/>
              </a:rPr>
              <a:t>TCP spec doesn’t say, - up to implementor</a:t>
            </a:r>
            <a:endParaRPr b="0" i="0" sz="2800" u="none" cap="none" strike="noStrike">
              <a:solidFill>
                <a:srgbClr val="000000"/>
              </a:solidFill>
              <a:latin typeface="Calibri"/>
              <a:ea typeface="Calibri"/>
              <a:cs typeface="Calibri"/>
              <a:sym typeface="Calibri"/>
            </a:endParaRPr>
          </a:p>
        </p:txBody>
      </p:sp>
      <p:sp>
        <p:nvSpPr>
          <p:cNvPr id="5435" name="Google Shape;5435;p10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2"/>
                                        </p:tgtEl>
                                        <p:attrNameLst>
                                          <p:attrName>style.visibility</p:attrName>
                                        </p:attrNameLst>
                                      </p:cBhvr>
                                      <p:to>
                                        <p:strVal val="visible"/>
                                      </p:to>
                                    </p:set>
                                    <p:animEffect filter="fade" transition="in">
                                      <p:cBhvr>
                                        <p:cTn dur="500"/>
                                        <p:tgtEl>
                                          <p:spTgt spid="54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1"/>
                                        </p:tgtEl>
                                        <p:attrNameLst>
                                          <p:attrName>style.visibility</p:attrName>
                                        </p:attrNameLst>
                                      </p:cBhvr>
                                      <p:to>
                                        <p:strVal val="visible"/>
                                      </p:to>
                                    </p:set>
                                    <p:animEffect filter="fade" transition="in">
                                      <p:cBhvr>
                                        <p:cTn dur="500"/>
                                        <p:tgtEl>
                                          <p:spTgt spid="5331"/>
                                        </p:tgtEl>
                                      </p:cBhvr>
                                    </p:animEffect>
                                  </p:childTnLst>
                                </p:cTn>
                              </p:par>
                              <p:par>
                                <p:cTn fill="hold" nodeType="withEffect" presetClass="entr" presetID="10" presetSubtype="0">
                                  <p:stCondLst>
                                    <p:cond delay="0"/>
                                  </p:stCondLst>
                                  <p:childTnLst>
                                    <p:set>
                                      <p:cBhvr>
                                        <p:cTn dur="1" fill="hold">
                                          <p:stCondLst>
                                            <p:cond delay="0"/>
                                          </p:stCondLst>
                                        </p:cTn>
                                        <p:tgtEl>
                                          <p:spTgt spid="5352"/>
                                        </p:tgtEl>
                                        <p:attrNameLst>
                                          <p:attrName>style.visibility</p:attrName>
                                        </p:attrNameLst>
                                      </p:cBhvr>
                                      <p:to>
                                        <p:strVal val="visible"/>
                                      </p:to>
                                    </p:set>
                                    <p:animEffect filter="fade" transition="in">
                                      <p:cBhvr>
                                        <p:cTn dur="500"/>
                                        <p:tgtEl>
                                          <p:spTgt spid="5352"/>
                                        </p:tgtEl>
                                      </p:cBhvr>
                                    </p:animEffect>
                                  </p:childTnLst>
                                </p:cTn>
                              </p:par>
                              <p:par>
                                <p:cTn fill="hold" nodeType="withEffect" presetClass="entr" presetID="10" presetSubtype="0">
                                  <p:stCondLst>
                                    <p:cond delay="0"/>
                                  </p:stCondLst>
                                  <p:childTnLst>
                                    <p:set>
                                      <p:cBhvr>
                                        <p:cTn dur="1" fill="hold">
                                          <p:stCondLst>
                                            <p:cond delay="0"/>
                                          </p:stCondLst>
                                        </p:cTn>
                                        <p:tgtEl>
                                          <p:spTgt spid="5433"/>
                                        </p:tgtEl>
                                        <p:attrNameLst>
                                          <p:attrName>style.visibility</p:attrName>
                                        </p:attrNameLst>
                                      </p:cBhvr>
                                      <p:to>
                                        <p:strVal val="visible"/>
                                      </p:to>
                                    </p:set>
                                    <p:animEffect filter="fade" transition="in">
                                      <p:cBhvr>
                                        <p:cTn dur="500"/>
                                        <p:tgtEl>
                                          <p:spTgt spid="54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4"/>
                                        </p:tgtEl>
                                        <p:attrNameLst>
                                          <p:attrName>style.visibility</p:attrName>
                                        </p:attrNameLst>
                                      </p:cBhvr>
                                      <p:to>
                                        <p:strVal val="visible"/>
                                      </p:to>
                                    </p:set>
                                    <p:animEffect filter="fade" transition="in">
                                      <p:cBhvr>
                                        <p:cTn dur="500"/>
                                        <p:tgtEl>
                                          <p:spTgt spid="54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0" name="Shape 5440"/>
        <p:cNvGrpSpPr/>
        <p:nvPr/>
      </p:nvGrpSpPr>
      <p:grpSpPr>
        <a:xfrm>
          <a:off x="0" y="0"/>
          <a:ext cx="0" cy="0"/>
          <a:chOff x="0" y="0"/>
          <a:chExt cx="0" cy="0"/>
        </a:xfrm>
      </p:grpSpPr>
      <p:sp>
        <p:nvSpPr>
          <p:cNvPr id="5441" name="Google Shape;5441;p102"/>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sequence numbers, ACKs</a:t>
            </a:r>
            <a:endParaRPr b="0" sz="4400"/>
          </a:p>
        </p:txBody>
      </p:sp>
      <p:sp>
        <p:nvSpPr>
          <p:cNvPr id="5442" name="Google Shape;5442;p102"/>
          <p:cNvSpPr txBox="1"/>
          <p:nvPr/>
        </p:nvSpPr>
        <p:spPr>
          <a:xfrm>
            <a:off x="1661117" y="4011734"/>
            <a:ext cx="2519185" cy="7571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ACKs receipt of echoed ‘C’</a:t>
            </a:r>
            <a:endParaRPr b="0" i="0" sz="1200" u="none" cap="none" strike="noStrike">
              <a:solidFill>
                <a:srgbClr val="000000"/>
              </a:solidFill>
              <a:latin typeface="Calibri"/>
              <a:ea typeface="Calibri"/>
              <a:cs typeface="Calibri"/>
              <a:sym typeface="Calibri"/>
            </a:endParaRPr>
          </a:p>
        </p:txBody>
      </p:sp>
      <p:sp>
        <p:nvSpPr>
          <p:cNvPr id="5443" name="Google Shape;5443;p102"/>
          <p:cNvSpPr txBox="1"/>
          <p:nvPr/>
        </p:nvSpPr>
        <p:spPr>
          <a:xfrm>
            <a:off x="7229477" y="3001865"/>
            <a:ext cx="3187212"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ACKs receipt of‘C’, echoes back ‘C’</a:t>
            </a:r>
            <a:endParaRPr b="0" i="0" sz="2400" u="none" cap="none" strike="noStrike">
              <a:solidFill>
                <a:srgbClr val="000000"/>
              </a:solidFill>
              <a:latin typeface="Calibri"/>
              <a:ea typeface="Calibri"/>
              <a:cs typeface="Calibri"/>
              <a:sym typeface="Calibri"/>
            </a:endParaRPr>
          </a:p>
        </p:txBody>
      </p:sp>
      <p:sp>
        <p:nvSpPr>
          <p:cNvPr id="5444" name="Google Shape;5444;p102"/>
          <p:cNvSpPr txBox="1"/>
          <p:nvPr/>
        </p:nvSpPr>
        <p:spPr>
          <a:xfrm>
            <a:off x="3961011" y="5644479"/>
            <a:ext cx="3401893"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simple telnet scenario</a:t>
            </a:r>
            <a:endParaRPr b="0" i="0" sz="1200" u="none" cap="none" strike="noStrike">
              <a:solidFill>
                <a:srgbClr val="000099"/>
              </a:solidFill>
              <a:latin typeface="Calibri"/>
              <a:ea typeface="Calibri"/>
              <a:cs typeface="Calibri"/>
              <a:sym typeface="Calibri"/>
            </a:endParaRPr>
          </a:p>
        </p:txBody>
      </p:sp>
      <p:sp>
        <p:nvSpPr>
          <p:cNvPr id="5445" name="Google Shape;5445;p102"/>
          <p:cNvSpPr txBox="1"/>
          <p:nvPr/>
        </p:nvSpPr>
        <p:spPr>
          <a:xfrm>
            <a:off x="7129672" y="1492971"/>
            <a:ext cx="99738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B</a:t>
            </a:r>
            <a:endParaRPr/>
          </a:p>
        </p:txBody>
      </p:sp>
      <p:sp>
        <p:nvSpPr>
          <p:cNvPr id="5446" name="Google Shape;5446;p102"/>
          <p:cNvSpPr txBox="1"/>
          <p:nvPr/>
        </p:nvSpPr>
        <p:spPr>
          <a:xfrm>
            <a:off x="3204390" y="1459336"/>
            <a:ext cx="1008610"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Host A</a:t>
            </a:r>
            <a:endParaRPr/>
          </a:p>
        </p:txBody>
      </p:sp>
      <p:grpSp>
        <p:nvGrpSpPr>
          <p:cNvPr id="5447" name="Google Shape;5447;p102"/>
          <p:cNvGrpSpPr/>
          <p:nvPr/>
        </p:nvGrpSpPr>
        <p:grpSpPr>
          <a:xfrm>
            <a:off x="1499000" y="2541021"/>
            <a:ext cx="5581275" cy="780392"/>
            <a:chOff x="1499000" y="2541021"/>
            <a:chExt cx="5581275" cy="780392"/>
          </a:xfrm>
        </p:grpSpPr>
        <p:cxnSp>
          <p:nvCxnSpPr>
            <p:cNvPr id="5448" name="Google Shape;5448;p102"/>
            <p:cNvCxnSpPr/>
            <p:nvPr/>
          </p:nvCxnSpPr>
          <p:spPr>
            <a:xfrm>
              <a:off x="4354237" y="2749913"/>
              <a:ext cx="2586037" cy="571500"/>
            </a:xfrm>
            <a:prstGeom prst="straightConnector1">
              <a:avLst/>
            </a:prstGeom>
            <a:noFill/>
            <a:ln cap="flat" cmpd="sng" w="28575">
              <a:solidFill>
                <a:srgbClr val="3333CC"/>
              </a:solidFill>
              <a:prstDash val="solid"/>
              <a:round/>
              <a:headEnd len="med" w="med" type="none"/>
              <a:tailEnd len="med" w="med" type="triangle"/>
            </a:ln>
          </p:spPr>
        </p:cxnSp>
        <p:sp>
          <p:nvSpPr>
            <p:cNvPr id="5449" name="Google Shape;5449;p102"/>
            <p:cNvSpPr txBox="1"/>
            <p:nvPr/>
          </p:nvSpPr>
          <p:spPr>
            <a:xfrm>
              <a:off x="1499000" y="2541021"/>
              <a:ext cx="2725007" cy="424732"/>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User types‘C’</a:t>
              </a:r>
              <a:endParaRPr b="0" i="0" sz="1200" u="none" cap="none" strike="noStrike">
                <a:solidFill>
                  <a:srgbClr val="000000"/>
                </a:solidFill>
                <a:latin typeface="Calibri"/>
                <a:ea typeface="Calibri"/>
                <a:cs typeface="Calibri"/>
                <a:sym typeface="Calibri"/>
              </a:endParaRPr>
            </a:p>
          </p:txBody>
        </p:sp>
        <p:sp>
          <p:nvSpPr>
            <p:cNvPr id="5450" name="Google Shape;5450;p102"/>
            <p:cNvSpPr/>
            <p:nvPr/>
          </p:nvSpPr>
          <p:spPr>
            <a:xfrm>
              <a:off x="5167037" y="2841988"/>
              <a:ext cx="814387" cy="37941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451" name="Google Shape;5451;p102"/>
            <p:cNvSpPr txBox="1"/>
            <p:nvPr/>
          </p:nvSpPr>
          <p:spPr>
            <a:xfrm>
              <a:off x="4260272" y="2854620"/>
              <a:ext cx="2820003"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Seq=42, ACK=79, data = ‘C’</a:t>
              </a:r>
              <a:endParaRPr b="0" i="0" sz="1800" u="none" cap="none" strike="noStrike">
                <a:solidFill>
                  <a:srgbClr val="000000"/>
                </a:solidFill>
                <a:latin typeface="Calibri"/>
                <a:ea typeface="Calibri"/>
                <a:cs typeface="Calibri"/>
                <a:sym typeface="Calibri"/>
              </a:endParaRPr>
            </a:p>
          </p:txBody>
        </p:sp>
      </p:grpSp>
      <p:grpSp>
        <p:nvGrpSpPr>
          <p:cNvPr id="5452" name="Google Shape;5452;p102"/>
          <p:cNvGrpSpPr/>
          <p:nvPr/>
        </p:nvGrpSpPr>
        <p:grpSpPr>
          <a:xfrm>
            <a:off x="4264368" y="3523026"/>
            <a:ext cx="2813399" cy="800100"/>
            <a:chOff x="4264368" y="3523026"/>
            <a:chExt cx="2813399" cy="800100"/>
          </a:xfrm>
        </p:grpSpPr>
        <p:cxnSp>
          <p:nvCxnSpPr>
            <p:cNvPr id="5453" name="Google Shape;5453;p102"/>
            <p:cNvCxnSpPr/>
            <p:nvPr/>
          </p:nvCxnSpPr>
          <p:spPr>
            <a:xfrm flipH="1">
              <a:off x="4344712" y="3523026"/>
              <a:ext cx="2554287" cy="800100"/>
            </a:xfrm>
            <a:prstGeom prst="straightConnector1">
              <a:avLst/>
            </a:prstGeom>
            <a:noFill/>
            <a:ln cap="flat" cmpd="sng" w="28575">
              <a:solidFill>
                <a:srgbClr val="3333CC"/>
              </a:solidFill>
              <a:prstDash val="solid"/>
              <a:round/>
              <a:headEnd len="med" w="med" type="none"/>
              <a:tailEnd len="med" w="med" type="triangle"/>
            </a:ln>
          </p:spPr>
        </p:cxnSp>
        <p:sp>
          <p:nvSpPr>
            <p:cNvPr id="5454" name="Google Shape;5454;p102"/>
            <p:cNvSpPr/>
            <p:nvPr/>
          </p:nvSpPr>
          <p:spPr>
            <a:xfrm>
              <a:off x="5201962" y="3800838"/>
              <a:ext cx="823912" cy="24606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455" name="Google Shape;5455;p102"/>
            <p:cNvSpPr txBox="1"/>
            <p:nvPr/>
          </p:nvSpPr>
          <p:spPr>
            <a:xfrm>
              <a:off x="4264368" y="3736718"/>
              <a:ext cx="2813399"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Seq=79, ACK=43, data = ‘C’</a:t>
              </a:r>
              <a:endParaRPr b="0" i="0" sz="1100" u="none" cap="none" strike="noStrike">
                <a:solidFill>
                  <a:srgbClr val="000000"/>
                </a:solidFill>
                <a:latin typeface="Calibri"/>
                <a:ea typeface="Calibri"/>
                <a:cs typeface="Calibri"/>
                <a:sym typeface="Calibri"/>
              </a:endParaRPr>
            </a:p>
          </p:txBody>
        </p:sp>
      </p:grpSp>
      <p:grpSp>
        <p:nvGrpSpPr>
          <p:cNvPr id="5456" name="Google Shape;5456;p102"/>
          <p:cNvGrpSpPr/>
          <p:nvPr/>
        </p:nvGrpSpPr>
        <p:grpSpPr>
          <a:xfrm>
            <a:off x="4339949" y="4518388"/>
            <a:ext cx="2590800" cy="506413"/>
            <a:chOff x="4339949" y="4518388"/>
            <a:chExt cx="2590800" cy="506413"/>
          </a:xfrm>
        </p:grpSpPr>
        <p:cxnSp>
          <p:nvCxnSpPr>
            <p:cNvPr id="5457" name="Google Shape;5457;p102"/>
            <p:cNvCxnSpPr/>
            <p:nvPr/>
          </p:nvCxnSpPr>
          <p:spPr>
            <a:xfrm>
              <a:off x="4339949" y="4518388"/>
              <a:ext cx="2590800" cy="506413"/>
            </a:xfrm>
            <a:prstGeom prst="straightConnector1">
              <a:avLst/>
            </a:prstGeom>
            <a:noFill/>
            <a:ln cap="flat" cmpd="sng" w="28575">
              <a:solidFill>
                <a:srgbClr val="3333CC"/>
              </a:solidFill>
              <a:prstDash val="solid"/>
              <a:round/>
              <a:headEnd len="med" w="med" type="none"/>
              <a:tailEnd len="med" w="med" type="triangle"/>
            </a:ln>
          </p:spPr>
        </p:cxnSp>
        <p:sp>
          <p:nvSpPr>
            <p:cNvPr id="5458" name="Google Shape;5458;p102"/>
            <p:cNvSpPr/>
            <p:nvPr/>
          </p:nvSpPr>
          <p:spPr>
            <a:xfrm>
              <a:off x="5268637" y="4648563"/>
              <a:ext cx="958850" cy="35718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5459" name="Google Shape;5459;p102"/>
            <p:cNvSpPr txBox="1"/>
            <p:nvPr/>
          </p:nvSpPr>
          <p:spPr>
            <a:xfrm>
              <a:off x="4934710" y="4609843"/>
              <a:ext cx="171226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Seq=43, ACK=80</a:t>
              </a:r>
              <a:endParaRPr b="0" i="0" sz="1100" u="none" cap="none" strike="noStrike">
                <a:solidFill>
                  <a:srgbClr val="000000"/>
                </a:solidFill>
                <a:latin typeface="Calibri"/>
                <a:ea typeface="Calibri"/>
                <a:cs typeface="Calibri"/>
                <a:sym typeface="Calibri"/>
              </a:endParaRPr>
            </a:p>
          </p:txBody>
        </p:sp>
      </p:grpSp>
      <p:cxnSp>
        <p:nvCxnSpPr>
          <p:cNvPr id="5460" name="Google Shape;5460;p102"/>
          <p:cNvCxnSpPr/>
          <p:nvPr/>
        </p:nvCxnSpPr>
        <p:spPr>
          <a:xfrm>
            <a:off x="4332012" y="2508613"/>
            <a:ext cx="0" cy="2587625"/>
          </a:xfrm>
          <a:prstGeom prst="straightConnector1">
            <a:avLst/>
          </a:prstGeom>
          <a:noFill/>
          <a:ln cap="flat" cmpd="sng" w="9525">
            <a:solidFill>
              <a:srgbClr val="808080"/>
            </a:solidFill>
            <a:prstDash val="solid"/>
            <a:round/>
            <a:headEnd len="med" w="med" type="none"/>
            <a:tailEnd len="med" w="med" type="none"/>
          </a:ln>
        </p:spPr>
      </p:cxnSp>
      <p:cxnSp>
        <p:nvCxnSpPr>
          <p:cNvPr id="5461" name="Google Shape;5461;p102"/>
          <p:cNvCxnSpPr/>
          <p:nvPr/>
        </p:nvCxnSpPr>
        <p:spPr>
          <a:xfrm>
            <a:off x="6994249" y="2561001"/>
            <a:ext cx="0" cy="2587625"/>
          </a:xfrm>
          <a:prstGeom prst="straightConnector1">
            <a:avLst/>
          </a:prstGeom>
          <a:noFill/>
          <a:ln cap="flat" cmpd="sng" w="9525">
            <a:solidFill>
              <a:srgbClr val="808080"/>
            </a:solidFill>
            <a:prstDash val="solid"/>
            <a:round/>
            <a:headEnd len="med" w="med" type="none"/>
            <a:tailEnd len="med" w="med" type="none"/>
          </a:ln>
        </p:spPr>
      </p:cxnSp>
      <p:grpSp>
        <p:nvGrpSpPr>
          <p:cNvPr id="5462" name="Google Shape;5462;p102"/>
          <p:cNvGrpSpPr/>
          <p:nvPr/>
        </p:nvGrpSpPr>
        <p:grpSpPr>
          <a:xfrm>
            <a:off x="3824012" y="1687876"/>
            <a:ext cx="755650" cy="782637"/>
            <a:chOff x="-44" y="1473"/>
            <a:chExt cx="981" cy="1105"/>
          </a:xfrm>
        </p:grpSpPr>
        <p:pic>
          <p:nvPicPr>
            <p:cNvPr descr="desktop_computer_stylized_medium" id="5463" name="Google Shape;5463;p10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464" name="Google Shape;5464;p10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grpSp>
        <p:nvGrpSpPr>
          <p:cNvPr id="5465" name="Google Shape;5465;p102"/>
          <p:cNvGrpSpPr/>
          <p:nvPr/>
        </p:nvGrpSpPr>
        <p:grpSpPr>
          <a:xfrm flipH="1">
            <a:off x="6686274" y="1727563"/>
            <a:ext cx="788988" cy="862013"/>
            <a:chOff x="-44" y="1473"/>
            <a:chExt cx="981" cy="1105"/>
          </a:xfrm>
        </p:grpSpPr>
        <p:pic>
          <p:nvPicPr>
            <p:cNvPr descr="desktop_computer_stylized_medium" id="5466" name="Google Shape;5466;p10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467" name="Google Shape;5467;p10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grpSp>
        <p:nvGrpSpPr>
          <p:cNvPr id="5468" name="Google Shape;5468;p102"/>
          <p:cNvGrpSpPr/>
          <p:nvPr/>
        </p:nvGrpSpPr>
        <p:grpSpPr>
          <a:xfrm>
            <a:off x="4692316" y="2815389"/>
            <a:ext cx="1388485" cy="1371600"/>
            <a:chOff x="4692316" y="2815389"/>
            <a:chExt cx="1388485" cy="1371600"/>
          </a:xfrm>
        </p:grpSpPr>
        <p:sp>
          <p:nvSpPr>
            <p:cNvPr id="5469" name="Google Shape;5469;p102"/>
            <p:cNvSpPr/>
            <p:nvPr/>
          </p:nvSpPr>
          <p:spPr>
            <a:xfrm>
              <a:off x="5566610" y="3721768"/>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70" name="Google Shape;5470;p102"/>
            <p:cNvSpPr/>
            <p:nvPr/>
          </p:nvSpPr>
          <p:spPr>
            <a:xfrm>
              <a:off x="4692316" y="2815389"/>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471" name="Google Shape;5471;p102"/>
            <p:cNvCxnSpPr/>
            <p:nvPr/>
          </p:nvCxnSpPr>
          <p:spPr>
            <a:xfrm rot="10800000">
              <a:off x="5117431" y="3224463"/>
              <a:ext cx="513348" cy="513348"/>
            </a:xfrm>
            <a:prstGeom prst="straightConnector1">
              <a:avLst/>
            </a:prstGeom>
            <a:noFill/>
            <a:ln cap="flat" cmpd="sng" w="22225">
              <a:solidFill>
                <a:srgbClr val="C00000"/>
              </a:solidFill>
              <a:prstDash val="solid"/>
              <a:miter lim="800000"/>
              <a:headEnd len="sm" w="sm" type="none"/>
              <a:tailEnd len="med" w="med" type="triangle"/>
            </a:ln>
          </p:spPr>
        </p:cxnSp>
      </p:grpSp>
      <p:grpSp>
        <p:nvGrpSpPr>
          <p:cNvPr id="5472" name="Google Shape;5472;p102"/>
          <p:cNvGrpSpPr/>
          <p:nvPr/>
        </p:nvGrpSpPr>
        <p:grpSpPr>
          <a:xfrm>
            <a:off x="4684295" y="3737810"/>
            <a:ext cx="1982043" cy="1307432"/>
            <a:chOff x="4692316" y="2815389"/>
            <a:chExt cx="1982043" cy="1307432"/>
          </a:xfrm>
        </p:grpSpPr>
        <p:sp>
          <p:nvSpPr>
            <p:cNvPr id="5473" name="Google Shape;5473;p102"/>
            <p:cNvSpPr/>
            <p:nvPr/>
          </p:nvSpPr>
          <p:spPr>
            <a:xfrm>
              <a:off x="6160168" y="3657600"/>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74" name="Google Shape;5474;p102"/>
            <p:cNvSpPr/>
            <p:nvPr/>
          </p:nvSpPr>
          <p:spPr>
            <a:xfrm>
              <a:off x="4692316" y="2815389"/>
              <a:ext cx="514191" cy="465221"/>
            </a:xfrm>
            <a:prstGeom prst="ellipse">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475" name="Google Shape;5475;p102"/>
            <p:cNvCxnSpPr/>
            <p:nvPr/>
          </p:nvCxnSpPr>
          <p:spPr>
            <a:xfrm rot="10800000">
              <a:off x="5165557" y="3224463"/>
              <a:ext cx="970548" cy="521369"/>
            </a:xfrm>
            <a:prstGeom prst="straightConnector1">
              <a:avLst/>
            </a:prstGeom>
            <a:noFill/>
            <a:ln cap="flat" cmpd="sng" w="22225">
              <a:solidFill>
                <a:srgbClr val="C00000"/>
              </a:solidFill>
              <a:prstDash val="solid"/>
              <a:miter lim="800000"/>
              <a:headEnd len="sm" w="sm" type="none"/>
              <a:tailEnd len="med" w="med" type="triangle"/>
            </a:ln>
          </p:spPr>
        </p:cxnSp>
      </p:grpSp>
      <p:sp>
        <p:nvSpPr>
          <p:cNvPr id="5476" name="Google Shape;5476;p10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47"/>
                                        </p:tgtEl>
                                        <p:attrNameLst>
                                          <p:attrName>style.visibility</p:attrName>
                                        </p:attrNameLst>
                                      </p:cBhvr>
                                      <p:to>
                                        <p:strVal val="visible"/>
                                      </p:to>
                                    </p:set>
                                    <p:animEffect filter="fade" transition="in">
                                      <p:cBhvr>
                                        <p:cTn dur="500"/>
                                        <p:tgtEl>
                                          <p:spTgt spid="544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443"/>
                                        </p:tgtEl>
                                        <p:attrNameLst>
                                          <p:attrName>style.visibility</p:attrName>
                                        </p:attrNameLst>
                                      </p:cBhvr>
                                      <p:to>
                                        <p:strVal val="visible"/>
                                      </p:to>
                                    </p:set>
                                    <p:animEffect filter="fade" transition="in">
                                      <p:cBhvr>
                                        <p:cTn dur="500"/>
                                        <p:tgtEl>
                                          <p:spTgt spid="544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452"/>
                                        </p:tgtEl>
                                        <p:attrNameLst>
                                          <p:attrName>style.visibility</p:attrName>
                                        </p:attrNameLst>
                                      </p:cBhvr>
                                      <p:to>
                                        <p:strVal val="visible"/>
                                      </p:to>
                                    </p:set>
                                    <p:animEffect filter="fade" transition="in">
                                      <p:cBhvr>
                                        <p:cTn dur="500"/>
                                        <p:tgtEl>
                                          <p:spTgt spid="545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442"/>
                                        </p:tgtEl>
                                        <p:attrNameLst>
                                          <p:attrName>style.visibility</p:attrName>
                                        </p:attrNameLst>
                                      </p:cBhvr>
                                      <p:to>
                                        <p:strVal val="visible"/>
                                      </p:to>
                                    </p:set>
                                    <p:animEffect filter="fade" transition="in">
                                      <p:cBhvr>
                                        <p:cTn dur="500"/>
                                        <p:tgtEl>
                                          <p:spTgt spid="544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456"/>
                                        </p:tgtEl>
                                        <p:attrNameLst>
                                          <p:attrName>style.visibility</p:attrName>
                                        </p:attrNameLst>
                                      </p:cBhvr>
                                      <p:to>
                                        <p:strVal val="visible"/>
                                      </p:to>
                                    </p:set>
                                    <p:animEffect filter="fade" transition="in">
                                      <p:cBhvr>
                                        <p:cTn dur="500"/>
                                        <p:tgtEl>
                                          <p:spTgt spid="54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68"/>
                                        </p:tgtEl>
                                        <p:attrNameLst>
                                          <p:attrName>style.visibility</p:attrName>
                                        </p:attrNameLst>
                                      </p:cBhvr>
                                      <p:to>
                                        <p:strVal val="visible"/>
                                      </p:to>
                                    </p:set>
                                    <p:animEffect filter="fade" transition="in">
                                      <p:cBhvr>
                                        <p:cTn dur="500"/>
                                        <p:tgtEl>
                                          <p:spTgt spid="54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468"/>
                                        </p:tgtEl>
                                      </p:cBhvr>
                                    </p:animEffect>
                                    <p:set>
                                      <p:cBhvr>
                                        <p:cTn dur="1" fill="hold">
                                          <p:stCondLst>
                                            <p:cond delay="500"/>
                                          </p:stCondLst>
                                        </p:cTn>
                                        <p:tgtEl>
                                          <p:spTgt spid="546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5472"/>
                                        </p:tgtEl>
                                        <p:attrNameLst>
                                          <p:attrName>style.visibility</p:attrName>
                                        </p:attrNameLst>
                                      </p:cBhvr>
                                      <p:to>
                                        <p:strVal val="visible"/>
                                      </p:to>
                                    </p:set>
                                    <p:animEffect filter="fade" transition="in">
                                      <p:cBhvr>
                                        <p:cTn dur="500"/>
                                        <p:tgtEl>
                                          <p:spTgt spid="54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1" name="Shape 5481"/>
        <p:cNvGrpSpPr/>
        <p:nvPr/>
      </p:nvGrpSpPr>
      <p:grpSpPr>
        <a:xfrm>
          <a:off x="0" y="0"/>
          <a:ext cx="0" cy="0"/>
          <a:chOff x="0" y="0"/>
          <a:chExt cx="0" cy="0"/>
        </a:xfrm>
      </p:grpSpPr>
      <p:sp>
        <p:nvSpPr>
          <p:cNvPr id="5482" name="Google Shape;5482;p103"/>
          <p:cNvSpPr txBox="1"/>
          <p:nvPr>
            <p:ph idx="1" type="body"/>
          </p:nvPr>
        </p:nvSpPr>
        <p:spPr>
          <a:xfrm>
            <a:off x="1944689" y="1317626"/>
            <a:ext cx="8283575" cy="1539875"/>
          </a:xfrm>
          <a:prstGeom prst="rect">
            <a:avLst/>
          </a:prstGeom>
          <a:noFill/>
          <a:ln>
            <a:noFill/>
          </a:ln>
        </p:spPr>
        <p:txBody>
          <a:bodyPr anchorCtr="0" anchor="t" bIns="45700" lIns="91425" spcFirstLastPara="1" rIns="91425" wrap="square" tIns="45700">
            <a:normAutofit lnSpcReduction="10000"/>
          </a:bodyPr>
          <a:lstStyle/>
          <a:p>
            <a:pPr indent="-222250" lvl="0" marL="352425" rtl="0" algn="l">
              <a:lnSpc>
                <a:spcPct val="90000"/>
              </a:lnSpc>
              <a:spcBef>
                <a:spcPts val="0"/>
              </a:spcBef>
              <a:spcAft>
                <a:spcPts val="0"/>
              </a:spcAft>
              <a:buSzPts val="2800"/>
              <a:buChar char="▪"/>
            </a:pPr>
            <a:r>
              <a:rPr lang="en-US"/>
              <a:t>Control</a:t>
            </a:r>
            <a:endParaRPr/>
          </a:p>
          <a:p>
            <a:pPr indent="-231775" lvl="1" marL="695325" rtl="0" algn="l">
              <a:lnSpc>
                <a:spcPct val="90000"/>
              </a:lnSpc>
              <a:spcBef>
                <a:spcPts val="1200"/>
              </a:spcBef>
              <a:spcAft>
                <a:spcPts val="0"/>
              </a:spcAft>
              <a:buSzPts val="2400"/>
              <a:buChar char="•"/>
            </a:pPr>
            <a:r>
              <a:rPr lang="en-US"/>
              <a:t>6 bit</a:t>
            </a:r>
            <a:endParaRPr/>
          </a:p>
          <a:p>
            <a:pPr indent="-231775" lvl="1" marL="695325" rtl="0" algn="l">
              <a:lnSpc>
                <a:spcPct val="90000"/>
              </a:lnSpc>
              <a:spcBef>
                <a:spcPts val="1200"/>
              </a:spcBef>
              <a:spcAft>
                <a:spcPts val="0"/>
              </a:spcAft>
              <a:buSzPts val="2600"/>
              <a:buChar char="•"/>
            </a:pPr>
            <a:r>
              <a:rPr lang="en-US" sz="2600"/>
              <a:t>Defines 6 control flags</a:t>
            </a:r>
            <a:endParaRPr/>
          </a:p>
          <a:p>
            <a:pPr indent="-57150" lvl="0" marL="352425" rtl="0" algn="l">
              <a:lnSpc>
                <a:spcPct val="90000"/>
              </a:lnSpc>
              <a:spcBef>
                <a:spcPts val="1200"/>
              </a:spcBef>
              <a:spcAft>
                <a:spcPts val="0"/>
              </a:spcAft>
              <a:buSzPts val="2600"/>
              <a:buNone/>
            </a:pPr>
            <a:r>
              <a:t/>
            </a:r>
            <a:endParaRPr sz="2600"/>
          </a:p>
          <a:p>
            <a:pPr indent="-66675" lvl="1" marL="695325" rtl="0" algn="l">
              <a:lnSpc>
                <a:spcPct val="90000"/>
              </a:lnSpc>
              <a:spcBef>
                <a:spcPts val="1200"/>
              </a:spcBef>
              <a:spcAft>
                <a:spcPts val="0"/>
              </a:spcAft>
              <a:buSzPts val="2600"/>
              <a:buNone/>
            </a:pPr>
            <a:r>
              <a:t/>
            </a:r>
            <a:endParaRPr sz="2600"/>
          </a:p>
          <a:p>
            <a:pPr indent="-79375" lvl="1" marL="695325" rtl="0" algn="l">
              <a:lnSpc>
                <a:spcPct val="90000"/>
              </a:lnSpc>
              <a:spcBef>
                <a:spcPts val="1200"/>
              </a:spcBef>
              <a:spcAft>
                <a:spcPts val="0"/>
              </a:spcAft>
              <a:buSzPts val="2400"/>
              <a:buNone/>
            </a:pPr>
            <a:r>
              <a:t/>
            </a:r>
            <a:endParaRPr/>
          </a:p>
        </p:txBody>
      </p:sp>
      <p:graphicFrame>
        <p:nvGraphicFramePr>
          <p:cNvPr id="5483" name="Google Shape;5483;p103"/>
          <p:cNvGraphicFramePr/>
          <p:nvPr/>
        </p:nvGraphicFramePr>
        <p:xfrm>
          <a:off x="2190750" y="3225800"/>
          <a:ext cx="3000000" cy="3000000"/>
        </p:xfrm>
        <a:graphic>
          <a:graphicData uri="http://schemas.openxmlformats.org/drawingml/2006/table">
            <a:tbl>
              <a:tblPr bandRow="1" firstRow="1">
                <a:noFill/>
                <a:tableStyleId>{6A801659-9FE2-4FBA-BB42-B8B3FDABCD59}</a:tableStyleId>
              </a:tblPr>
              <a:tblGrid>
                <a:gridCol w="1320000"/>
                <a:gridCol w="1320000"/>
                <a:gridCol w="1320000"/>
                <a:gridCol w="1320000"/>
                <a:gridCol w="1320000"/>
                <a:gridCol w="1320000"/>
              </a:tblGrid>
              <a:tr h="1920175">
                <a:tc gridSpan="3">
                  <a:txBody>
                    <a:bodyPr/>
                    <a:lstStyle/>
                    <a:p>
                      <a:pPr indent="0" lvl="0" marL="0" marR="0" rtl="0" algn="l">
                        <a:spcBef>
                          <a:spcPts val="0"/>
                        </a:spcBef>
                        <a:spcAft>
                          <a:spcPts val="0"/>
                        </a:spcAft>
                        <a:buNone/>
                      </a:pPr>
                      <a:r>
                        <a:rPr b="0" lang="en-US" sz="2000" u="none" cap="none" strike="noStrike">
                          <a:solidFill>
                            <a:schemeClr val="dk1"/>
                          </a:solidFill>
                        </a:rPr>
                        <a:t>URG: Urgent pointer is valid</a:t>
                      </a:r>
                      <a:endParaRPr/>
                    </a:p>
                    <a:p>
                      <a:pPr indent="0" lvl="0" marL="0" marR="0" rtl="0" algn="l">
                        <a:spcBef>
                          <a:spcPts val="0"/>
                        </a:spcBef>
                        <a:spcAft>
                          <a:spcPts val="0"/>
                        </a:spcAft>
                        <a:buNone/>
                      </a:pPr>
                      <a:r>
                        <a:rPr b="0" lang="en-US" sz="2000">
                          <a:solidFill>
                            <a:schemeClr val="dk1"/>
                          </a:solidFill>
                        </a:rPr>
                        <a:t>          ( </a:t>
                      </a:r>
                      <a:r>
                        <a:rPr b="0" i="1" lang="en-US" sz="2000">
                          <a:solidFill>
                            <a:schemeClr val="dk1"/>
                          </a:solidFill>
                        </a:rPr>
                        <a:t>generally not used</a:t>
                      </a:r>
                      <a:r>
                        <a:rPr b="0" lang="en-US" sz="2000">
                          <a:solidFill>
                            <a:schemeClr val="dk1"/>
                          </a:solidFill>
                        </a:rPr>
                        <a:t> )</a:t>
                      </a:r>
                      <a:endParaRPr b="0" sz="2000">
                        <a:solidFill>
                          <a:schemeClr val="dk1"/>
                        </a:solidFill>
                      </a:endParaRPr>
                    </a:p>
                    <a:p>
                      <a:pPr indent="0" lvl="0" marL="0" marR="0" rtl="0" algn="l">
                        <a:spcBef>
                          <a:spcPts val="0"/>
                        </a:spcBef>
                        <a:spcAft>
                          <a:spcPts val="0"/>
                        </a:spcAft>
                        <a:buNone/>
                      </a:pPr>
                      <a:r>
                        <a:rPr b="0" lang="en-US" sz="2000">
                          <a:solidFill>
                            <a:schemeClr val="dk1"/>
                          </a:solidFill>
                        </a:rPr>
                        <a:t>ACK: Acknowledgement is valid</a:t>
                      </a:r>
                      <a:endParaRPr/>
                    </a:p>
                    <a:p>
                      <a:pPr indent="0" lvl="0" marL="0" marR="0" rtl="0" algn="l">
                        <a:spcBef>
                          <a:spcPts val="0"/>
                        </a:spcBef>
                        <a:spcAft>
                          <a:spcPts val="0"/>
                        </a:spcAft>
                        <a:buNone/>
                      </a:pPr>
                      <a:r>
                        <a:rPr b="0" lang="en-US" sz="2000">
                          <a:solidFill>
                            <a:schemeClr val="dk1"/>
                          </a:solidFill>
                        </a:rPr>
                        <a:t>PSH: Request for push</a:t>
                      </a:r>
                      <a:endParaRPr/>
                    </a:p>
                    <a:p>
                      <a:pPr indent="0" lvl="1" marL="457200" marR="0" rtl="0" algn="l">
                        <a:spcBef>
                          <a:spcPts val="0"/>
                        </a:spcBef>
                        <a:spcAft>
                          <a:spcPts val="0"/>
                        </a:spcAft>
                        <a:buNone/>
                      </a:pPr>
                      <a:r>
                        <a:rPr b="0" lang="en-US" sz="2000" u="none" cap="none" strike="noStrike">
                          <a:solidFill>
                            <a:schemeClr val="dk1"/>
                          </a:solidFill>
                        </a:rPr>
                        <a:t>   ( </a:t>
                      </a:r>
                      <a:r>
                        <a:rPr b="0" i="1" lang="en-US" sz="2000" u="none" cap="none" strike="noStrike">
                          <a:solidFill>
                            <a:schemeClr val="dk1"/>
                          </a:solidFill>
                        </a:rPr>
                        <a:t>generally not used</a:t>
                      </a:r>
                      <a:r>
                        <a:rPr b="0" lang="en-US" sz="2000" u="none" cap="none" strike="noStrike">
                          <a:solidFill>
                            <a:schemeClr val="dk1"/>
                          </a:solidFill>
                        </a:rPr>
                        <a:t> )</a:t>
                      </a:r>
                      <a:endParaRPr sz="2000" u="none" cap="none" strike="noStrike"/>
                    </a:p>
                    <a:p>
                      <a:pPr indent="0" lvl="0" marL="0" marR="0" rtl="0" algn="l">
                        <a:spcBef>
                          <a:spcPts val="0"/>
                        </a:spcBef>
                        <a:spcAft>
                          <a:spcPts val="0"/>
                        </a:spcAft>
                        <a:buNone/>
                      </a:pPr>
                      <a:r>
                        <a:t/>
                      </a:r>
                      <a:endParaRPr sz="2000"/>
                    </a:p>
                  </a:txBody>
                  <a:tcPr marT="45700" marB="457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hMerge="1"/>
                <a:tc hMerge="1"/>
                <a:tc gridSpan="3">
                  <a:txBody>
                    <a:bodyPr/>
                    <a:lstStyle/>
                    <a:p>
                      <a:pPr indent="0" lvl="0" marL="0" marR="0" rtl="0" algn="l">
                        <a:spcBef>
                          <a:spcPts val="0"/>
                        </a:spcBef>
                        <a:spcAft>
                          <a:spcPts val="0"/>
                        </a:spcAft>
                        <a:buNone/>
                      </a:pPr>
                      <a:r>
                        <a:rPr b="0" lang="en-US" sz="2000">
                          <a:solidFill>
                            <a:schemeClr val="dk1"/>
                          </a:solidFill>
                        </a:rPr>
                        <a:t>RST:</a:t>
                      </a:r>
                      <a:r>
                        <a:rPr b="0" lang="en-US" sz="2000">
                          <a:solidFill>
                            <a:schemeClr val="dk1"/>
                          </a:solidFill>
                        </a:rPr>
                        <a:t> Reset the connection</a:t>
                      </a:r>
                      <a:endParaRPr/>
                    </a:p>
                    <a:p>
                      <a:pPr indent="0" lvl="0" marL="0" marR="0" rtl="0" algn="l">
                        <a:spcBef>
                          <a:spcPts val="0"/>
                        </a:spcBef>
                        <a:spcAft>
                          <a:spcPts val="0"/>
                        </a:spcAft>
                        <a:buNone/>
                      </a:pPr>
                      <a:r>
                        <a:rPr b="0" lang="en-US" sz="2000">
                          <a:solidFill>
                            <a:schemeClr val="dk1"/>
                          </a:solidFill>
                        </a:rPr>
                        <a:t>SYN: Synchronize sequence number</a:t>
                      </a:r>
                      <a:endParaRPr/>
                    </a:p>
                    <a:p>
                      <a:pPr indent="0" lvl="0" marL="0" marR="0" rtl="0" algn="l">
                        <a:spcBef>
                          <a:spcPts val="0"/>
                        </a:spcBef>
                        <a:spcAft>
                          <a:spcPts val="0"/>
                        </a:spcAft>
                        <a:buNone/>
                      </a:pPr>
                      <a:r>
                        <a:rPr b="0" lang="en-US" sz="2000">
                          <a:solidFill>
                            <a:schemeClr val="dk1"/>
                          </a:solidFill>
                        </a:rPr>
                        <a:t>FIN: Terminate the connection</a:t>
                      </a:r>
                      <a:endParaRPr sz="2000"/>
                    </a:p>
                  </a:txBody>
                  <a:tcPr marT="45700" marB="457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hMerge="1"/>
                <a:tc hMerge="1"/>
              </a:tr>
              <a:tr h="411850">
                <a:tc>
                  <a:txBody>
                    <a:bodyPr/>
                    <a:lstStyle/>
                    <a:p>
                      <a:pPr indent="0" lvl="0" marL="0" marR="0" rtl="0" algn="ctr">
                        <a:spcBef>
                          <a:spcPts val="0"/>
                        </a:spcBef>
                        <a:spcAft>
                          <a:spcPts val="0"/>
                        </a:spcAft>
                        <a:buNone/>
                      </a:pPr>
                      <a:r>
                        <a:rPr lang="en-US" sz="2000">
                          <a:solidFill>
                            <a:srgbClr val="FF0000"/>
                          </a:solidFill>
                        </a:rPr>
                        <a:t>URG</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000"/>
                        <a:t>ACK</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00"/>
                    </a:solidFill>
                  </a:tcPr>
                </a:tc>
                <a:tc>
                  <a:txBody>
                    <a:bodyPr/>
                    <a:lstStyle/>
                    <a:p>
                      <a:pPr indent="0" lvl="0" marL="0" marR="0" rtl="0" algn="ctr">
                        <a:spcBef>
                          <a:spcPts val="0"/>
                        </a:spcBef>
                        <a:spcAft>
                          <a:spcPts val="0"/>
                        </a:spcAft>
                        <a:buNone/>
                      </a:pPr>
                      <a:r>
                        <a:rPr lang="en-US" sz="2000">
                          <a:solidFill>
                            <a:srgbClr val="FF0000"/>
                          </a:solidFill>
                        </a:rPr>
                        <a:t>PSH</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000"/>
                        <a:t>RST</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2000"/>
                        <a:t>SYN</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00"/>
                    </a:solidFill>
                  </a:tcPr>
                </a:tc>
                <a:tc>
                  <a:txBody>
                    <a:bodyPr/>
                    <a:lstStyle/>
                    <a:p>
                      <a:pPr indent="0" lvl="0" marL="0" marR="0" rtl="0" algn="ctr">
                        <a:spcBef>
                          <a:spcPts val="0"/>
                        </a:spcBef>
                        <a:spcAft>
                          <a:spcPts val="0"/>
                        </a:spcAft>
                        <a:buNone/>
                      </a:pPr>
                      <a:r>
                        <a:rPr lang="en-US" sz="2000"/>
                        <a:t>FIN</a:t>
                      </a:r>
                      <a:endParaRPr/>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F00"/>
                    </a:solidFill>
                  </a:tcPr>
                </a:tc>
              </a:tr>
            </a:tbl>
          </a:graphicData>
        </a:graphic>
      </p:graphicFrame>
      <p:sp>
        <p:nvSpPr>
          <p:cNvPr id="5484" name="Google Shape;5484;p10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8" name="Shape 5488"/>
        <p:cNvGrpSpPr/>
        <p:nvPr/>
      </p:nvGrpSpPr>
      <p:grpSpPr>
        <a:xfrm>
          <a:off x="0" y="0"/>
          <a:ext cx="0" cy="0"/>
          <a:chOff x="0" y="0"/>
          <a:chExt cx="0" cy="0"/>
        </a:xfrm>
      </p:grpSpPr>
      <p:sp>
        <p:nvSpPr>
          <p:cNvPr id="5489" name="Google Shape;5489;p104"/>
          <p:cNvSpPr txBox="1"/>
          <p:nvPr>
            <p:ph idx="1" type="body"/>
          </p:nvPr>
        </p:nvSpPr>
        <p:spPr>
          <a:xfrm>
            <a:off x="1944689" y="1182872"/>
            <a:ext cx="8283575" cy="4835525"/>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Header length</a:t>
            </a:r>
            <a:endParaRPr/>
          </a:p>
          <a:p>
            <a:pPr indent="-231775" lvl="1" marL="695325" rtl="0" algn="l">
              <a:lnSpc>
                <a:spcPct val="90000"/>
              </a:lnSpc>
              <a:spcBef>
                <a:spcPts val="1200"/>
              </a:spcBef>
              <a:spcAft>
                <a:spcPts val="0"/>
              </a:spcAft>
              <a:buSzPts val="2400"/>
              <a:buChar char="•"/>
            </a:pPr>
            <a:r>
              <a:rPr lang="en-US"/>
              <a:t>4 bit</a:t>
            </a:r>
            <a:endParaRPr/>
          </a:p>
          <a:p>
            <a:pPr indent="-231775" lvl="1" marL="695325" rtl="0" algn="l">
              <a:lnSpc>
                <a:spcPct val="90000"/>
              </a:lnSpc>
              <a:spcBef>
                <a:spcPts val="1200"/>
              </a:spcBef>
              <a:spcAft>
                <a:spcPts val="0"/>
              </a:spcAft>
              <a:buSzPts val="2600"/>
              <a:buChar char="•"/>
            </a:pPr>
            <a:r>
              <a:rPr lang="en-US" sz="2600"/>
              <a:t>Indicates the length of this TCP header</a:t>
            </a:r>
            <a:endParaRPr/>
          </a:p>
          <a:p>
            <a:pPr indent="-222250" lvl="0" marL="352425" rtl="0" algn="l">
              <a:lnSpc>
                <a:spcPct val="90000"/>
              </a:lnSpc>
              <a:spcBef>
                <a:spcPts val="1200"/>
              </a:spcBef>
              <a:spcAft>
                <a:spcPts val="0"/>
              </a:spcAft>
              <a:buSzPts val="3000"/>
              <a:buChar char="▪"/>
            </a:pPr>
            <a:r>
              <a:rPr lang="en-US" sz="3000"/>
              <a:t>Reserved</a:t>
            </a:r>
            <a:endParaRPr/>
          </a:p>
          <a:p>
            <a:pPr indent="-231775" lvl="1" marL="695325" rtl="0" algn="l">
              <a:lnSpc>
                <a:spcPct val="90000"/>
              </a:lnSpc>
              <a:spcBef>
                <a:spcPts val="1200"/>
              </a:spcBef>
              <a:spcAft>
                <a:spcPts val="0"/>
              </a:spcAft>
              <a:buSzPts val="2600"/>
              <a:buChar char="•"/>
            </a:pPr>
            <a:r>
              <a:rPr lang="en-US" sz="2600"/>
              <a:t>6 bit</a:t>
            </a:r>
            <a:endParaRPr/>
          </a:p>
          <a:p>
            <a:pPr indent="-231775" lvl="1" marL="695325" rtl="0" algn="l">
              <a:lnSpc>
                <a:spcPct val="90000"/>
              </a:lnSpc>
              <a:spcBef>
                <a:spcPts val="1200"/>
              </a:spcBef>
              <a:spcAft>
                <a:spcPts val="0"/>
              </a:spcAft>
              <a:buSzPts val="2600"/>
              <a:buChar char="•"/>
            </a:pPr>
            <a:r>
              <a:rPr lang="en-US" sz="2600"/>
              <a:t>Reserved for future use</a:t>
            </a:r>
            <a:endParaRPr/>
          </a:p>
          <a:p>
            <a:pPr indent="-66675" lvl="1" marL="695325" rtl="0" algn="l">
              <a:lnSpc>
                <a:spcPct val="90000"/>
              </a:lnSpc>
              <a:spcBef>
                <a:spcPts val="1200"/>
              </a:spcBef>
              <a:spcAft>
                <a:spcPts val="0"/>
              </a:spcAft>
              <a:buSzPts val="2600"/>
              <a:buNone/>
            </a:pPr>
            <a:r>
              <a:t/>
            </a:r>
            <a:endParaRPr sz="2600"/>
          </a:p>
          <a:p>
            <a:pPr indent="-79375" lvl="1" marL="695325" rtl="0" algn="l">
              <a:lnSpc>
                <a:spcPct val="90000"/>
              </a:lnSpc>
              <a:spcBef>
                <a:spcPts val="1200"/>
              </a:spcBef>
              <a:spcAft>
                <a:spcPts val="0"/>
              </a:spcAft>
              <a:buSzPts val="2400"/>
              <a:buNone/>
            </a:pPr>
            <a:r>
              <a:t/>
            </a:r>
            <a:endParaRPr/>
          </a:p>
        </p:txBody>
      </p:sp>
      <p:sp>
        <p:nvSpPr>
          <p:cNvPr id="5490" name="Google Shape;5490;p10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4" name="Shape 5494"/>
        <p:cNvGrpSpPr/>
        <p:nvPr/>
      </p:nvGrpSpPr>
      <p:grpSpPr>
        <a:xfrm>
          <a:off x="0" y="0"/>
          <a:ext cx="0" cy="0"/>
          <a:chOff x="0" y="0"/>
          <a:chExt cx="0" cy="0"/>
        </a:xfrm>
      </p:grpSpPr>
      <p:sp>
        <p:nvSpPr>
          <p:cNvPr id="5495" name="Google Shape;5495;p105"/>
          <p:cNvSpPr txBox="1"/>
          <p:nvPr>
            <p:ph idx="1" type="body"/>
          </p:nvPr>
        </p:nvSpPr>
        <p:spPr>
          <a:xfrm>
            <a:off x="1954212" y="1011237"/>
            <a:ext cx="8283575" cy="4835525"/>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Window size</a:t>
            </a:r>
            <a:endParaRPr/>
          </a:p>
          <a:p>
            <a:pPr indent="-231775" lvl="1" marL="695325" rtl="0" algn="l">
              <a:lnSpc>
                <a:spcPct val="90000"/>
              </a:lnSpc>
              <a:spcBef>
                <a:spcPts val="1200"/>
              </a:spcBef>
              <a:spcAft>
                <a:spcPts val="0"/>
              </a:spcAft>
              <a:buSzPts val="2400"/>
              <a:buChar char="•"/>
            </a:pPr>
            <a:r>
              <a:rPr lang="en-US"/>
              <a:t>16 bit</a:t>
            </a:r>
            <a:endParaRPr/>
          </a:p>
          <a:p>
            <a:pPr indent="-231775" lvl="1" marL="695325" rtl="0" algn="l">
              <a:lnSpc>
                <a:spcPct val="90000"/>
              </a:lnSpc>
              <a:spcBef>
                <a:spcPts val="1200"/>
              </a:spcBef>
              <a:spcAft>
                <a:spcPts val="0"/>
              </a:spcAft>
              <a:buSzPts val="2600"/>
              <a:buChar char="•"/>
            </a:pPr>
            <a:r>
              <a:rPr lang="en-US" sz="2600"/>
              <a:t>Defines the size of the sliding window, in bytes, that the other party must maintain </a:t>
            </a:r>
            <a:endParaRPr/>
          </a:p>
          <a:p>
            <a:pPr indent="-222250" lvl="0" marL="352425" rtl="0" algn="l">
              <a:lnSpc>
                <a:spcPct val="90000"/>
              </a:lnSpc>
              <a:spcBef>
                <a:spcPts val="1200"/>
              </a:spcBef>
              <a:spcAft>
                <a:spcPts val="0"/>
              </a:spcAft>
              <a:buSzPts val="3000"/>
              <a:buChar char="▪"/>
            </a:pPr>
            <a:r>
              <a:rPr lang="en-US" sz="3000"/>
              <a:t>Checksum</a:t>
            </a:r>
            <a:endParaRPr/>
          </a:p>
          <a:p>
            <a:pPr indent="-231775" lvl="1" marL="695325" rtl="0" algn="l">
              <a:lnSpc>
                <a:spcPct val="90000"/>
              </a:lnSpc>
              <a:spcBef>
                <a:spcPts val="1200"/>
              </a:spcBef>
              <a:spcAft>
                <a:spcPts val="0"/>
              </a:spcAft>
              <a:buSzPts val="2600"/>
              <a:buChar char="•"/>
            </a:pPr>
            <a:r>
              <a:rPr lang="en-US" sz="2600"/>
              <a:t>16 bit</a:t>
            </a:r>
            <a:endParaRPr/>
          </a:p>
          <a:p>
            <a:pPr indent="-231775" lvl="1" marL="695325" rtl="0" algn="l">
              <a:lnSpc>
                <a:spcPct val="90000"/>
              </a:lnSpc>
              <a:spcBef>
                <a:spcPts val="1200"/>
              </a:spcBef>
              <a:spcAft>
                <a:spcPts val="0"/>
              </a:spcAft>
              <a:buSzPts val="2600"/>
              <a:buChar char="•"/>
            </a:pPr>
            <a:r>
              <a:rPr lang="en-US" sz="2600"/>
              <a:t>Contains checksum value for error checking</a:t>
            </a:r>
            <a:endParaRPr/>
          </a:p>
          <a:p>
            <a:pPr indent="-231775" lvl="1" marL="695325" rtl="0" algn="l">
              <a:lnSpc>
                <a:spcPct val="90000"/>
              </a:lnSpc>
              <a:spcBef>
                <a:spcPts val="1200"/>
              </a:spcBef>
              <a:spcAft>
                <a:spcPts val="0"/>
              </a:spcAft>
              <a:buSzPts val="2600"/>
              <a:buChar char="•"/>
            </a:pPr>
            <a:r>
              <a:rPr lang="en-US" sz="2600"/>
              <a:t>Same calculation as UDP</a:t>
            </a:r>
            <a:endParaRPr/>
          </a:p>
          <a:p>
            <a:pPr indent="-231775" lvl="1" marL="695325" rtl="0" algn="l">
              <a:lnSpc>
                <a:spcPct val="90000"/>
              </a:lnSpc>
              <a:spcBef>
                <a:spcPts val="1200"/>
              </a:spcBef>
              <a:spcAft>
                <a:spcPts val="0"/>
              </a:spcAft>
              <a:buSzPts val="2600"/>
              <a:buChar char="•"/>
            </a:pPr>
            <a:r>
              <a:rPr lang="en-US" sz="2600"/>
              <a:t>Inclusion is mandatory for TCP</a:t>
            </a:r>
            <a:endParaRPr/>
          </a:p>
        </p:txBody>
      </p:sp>
      <p:sp>
        <p:nvSpPr>
          <p:cNvPr id="5496" name="Google Shape;5496;p10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1" name="Shape 5501"/>
        <p:cNvGrpSpPr/>
        <p:nvPr/>
      </p:nvGrpSpPr>
      <p:grpSpPr>
        <a:xfrm>
          <a:off x="0" y="0"/>
          <a:ext cx="0" cy="0"/>
          <a:chOff x="0" y="0"/>
          <a:chExt cx="0" cy="0"/>
        </a:xfrm>
      </p:grpSpPr>
      <p:sp>
        <p:nvSpPr>
          <p:cNvPr id="5502" name="Google Shape;5502;p106"/>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5503" name="Google Shape;5503;p106"/>
          <p:cNvSpPr txBox="1"/>
          <p:nvPr>
            <p:ph idx="2" type="body"/>
          </p:nvPr>
        </p:nvSpPr>
        <p:spPr>
          <a:xfrm>
            <a:off x="798690" y="1183946"/>
            <a:ext cx="6618109" cy="5624267"/>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SzPts val="3200"/>
              <a:buChar char="▪"/>
            </a:pPr>
            <a:r>
              <a:rPr lang="en-US" sz="3200">
                <a:solidFill>
                  <a:srgbClr val="C00000"/>
                </a:solidFill>
              </a:rPr>
              <a:t>Connection-oriented transport: TCP</a:t>
            </a:r>
            <a:endParaRPr/>
          </a:p>
          <a:p>
            <a:pPr indent="-288925" lvl="1" marL="746125" rtl="0" algn="l">
              <a:lnSpc>
                <a:spcPct val="90000"/>
              </a:lnSpc>
              <a:spcBef>
                <a:spcPts val="500"/>
              </a:spcBef>
              <a:spcAft>
                <a:spcPts val="0"/>
              </a:spcAft>
              <a:buSzPts val="2400"/>
              <a:buFont typeface="Arial"/>
              <a:buChar char="•"/>
            </a:pPr>
            <a:r>
              <a:rPr lang="en-US">
                <a:solidFill>
                  <a:srgbClr val="C00000"/>
                </a:solidFill>
              </a:rPr>
              <a:t>segment structure</a:t>
            </a:r>
            <a:endParaRPr/>
          </a:p>
          <a:p>
            <a:pPr indent="-288925" lvl="1" marL="746125" rtl="0" algn="l">
              <a:lnSpc>
                <a:spcPct val="90000"/>
              </a:lnSpc>
              <a:spcBef>
                <a:spcPts val="500"/>
              </a:spcBef>
              <a:spcAft>
                <a:spcPts val="0"/>
              </a:spcAft>
              <a:buSzPts val="2400"/>
              <a:buFont typeface="Arial"/>
              <a:buChar char="•"/>
            </a:pPr>
            <a:r>
              <a:rPr lang="en-US">
                <a:solidFill>
                  <a:srgbClr val="C00000"/>
                </a:solidFill>
              </a:rPr>
              <a:t>reliable data transfer</a:t>
            </a:r>
            <a:endParaRPr/>
          </a:p>
          <a:p>
            <a:pPr indent="-288925" lvl="1" marL="746125" rtl="0" algn="l">
              <a:lnSpc>
                <a:spcPct val="90000"/>
              </a:lnSpc>
              <a:spcBef>
                <a:spcPts val="500"/>
              </a:spcBef>
              <a:spcAft>
                <a:spcPts val="0"/>
              </a:spcAft>
              <a:buSzPts val="2400"/>
              <a:buFont typeface="Arial"/>
              <a:buChar char="•"/>
            </a:pPr>
            <a:r>
              <a:rPr lang="en-US"/>
              <a:t>flow control</a:t>
            </a:r>
            <a:endParaRPr/>
          </a:p>
          <a:p>
            <a:pPr indent="-288925" lvl="1" marL="746125" rtl="0" algn="l">
              <a:lnSpc>
                <a:spcPct val="90000"/>
              </a:lnSpc>
              <a:spcBef>
                <a:spcPts val="500"/>
              </a:spcBef>
              <a:spcAft>
                <a:spcPts val="0"/>
              </a:spcAft>
              <a:buSzPts val="2400"/>
              <a:buFont typeface="Arial"/>
              <a:buChar char="•"/>
            </a:pPr>
            <a:r>
              <a:rPr lang="en-US"/>
              <a:t>connection management</a:t>
            </a:r>
            <a:endParaRPr sz="3200"/>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5504" name="Google Shape;5504;p10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5505" name="Google Shape;5505;p106"/>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9" name="Shape 5509"/>
        <p:cNvGrpSpPr/>
        <p:nvPr/>
      </p:nvGrpSpPr>
      <p:grpSpPr>
        <a:xfrm>
          <a:off x="0" y="0"/>
          <a:ext cx="0" cy="0"/>
          <a:chOff x="0" y="0"/>
          <a:chExt cx="0" cy="0"/>
        </a:xfrm>
      </p:grpSpPr>
      <p:sp>
        <p:nvSpPr>
          <p:cNvPr id="5510" name="Google Shape;5510;p107"/>
          <p:cNvSpPr txBox="1"/>
          <p:nvPr>
            <p:ph type="title"/>
          </p:nvPr>
        </p:nvSpPr>
        <p:spPr>
          <a:xfrm>
            <a:off x="2057400" y="173038"/>
            <a:ext cx="77724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TCP reliable data transfer</a:t>
            </a:r>
            <a:endParaRPr/>
          </a:p>
        </p:txBody>
      </p:sp>
      <p:sp>
        <p:nvSpPr>
          <p:cNvPr id="5511" name="Google Shape;5511;p107"/>
          <p:cNvSpPr txBox="1"/>
          <p:nvPr>
            <p:ph idx="1" type="body"/>
          </p:nvPr>
        </p:nvSpPr>
        <p:spPr>
          <a:xfrm>
            <a:off x="2057400" y="1500188"/>
            <a:ext cx="4070350" cy="4648200"/>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TCP creates rdt service on top of IP’s unreliable service</a:t>
            </a:r>
            <a:endParaRPr/>
          </a:p>
          <a:p>
            <a:pPr indent="-231775" lvl="1" marL="695325" rtl="0" algn="l">
              <a:lnSpc>
                <a:spcPct val="90000"/>
              </a:lnSpc>
              <a:spcBef>
                <a:spcPts val="500"/>
              </a:spcBef>
              <a:spcAft>
                <a:spcPts val="0"/>
              </a:spcAft>
              <a:buSzPts val="2400"/>
              <a:buChar char="•"/>
            </a:pPr>
            <a:r>
              <a:rPr lang="en-US"/>
              <a:t>pipelined segments</a:t>
            </a:r>
            <a:endParaRPr/>
          </a:p>
          <a:p>
            <a:pPr indent="-231775" lvl="1" marL="695325" rtl="0" algn="l">
              <a:lnSpc>
                <a:spcPct val="90000"/>
              </a:lnSpc>
              <a:spcBef>
                <a:spcPts val="500"/>
              </a:spcBef>
              <a:spcAft>
                <a:spcPts val="0"/>
              </a:spcAft>
              <a:buSzPts val="2400"/>
              <a:buChar char="•"/>
            </a:pPr>
            <a:r>
              <a:rPr lang="en-US"/>
              <a:t>cumulative acks</a:t>
            </a:r>
            <a:endParaRPr/>
          </a:p>
          <a:p>
            <a:pPr indent="-231775" lvl="1" marL="695325" rtl="0" algn="l">
              <a:lnSpc>
                <a:spcPct val="90000"/>
              </a:lnSpc>
              <a:spcBef>
                <a:spcPts val="500"/>
              </a:spcBef>
              <a:spcAft>
                <a:spcPts val="0"/>
              </a:spcAft>
              <a:buSzPts val="2400"/>
              <a:buChar char="•"/>
            </a:pPr>
            <a:r>
              <a:rPr lang="en-US"/>
              <a:t>single retransmission timer</a:t>
            </a:r>
            <a:endParaRPr/>
          </a:p>
          <a:p>
            <a:pPr indent="-222250" lvl="0" marL="352425" rtl="0" algn="l">
              <a:lnSpc>
                <a:spcPct val="90000"/>
              </a:lnSpc>
              <a:spcBef>
                <a:spcPts val="1000"/>
              </a:spcBef>
              <a:spcAft>
                <a:spcPts val="0"/>
              </a:spcAft>
              <a:buSzPts val="2800"/>
              <a:buChar char="▪"/>
            </a:pPr>
            <a:r>
              <a:rPr lang="en-US"/>
              <a:t>retransmissions  triggered by:</a:t>
            </a:r>
            <a:endParaRPr/>
          </a:p>
          <a:p>
            <a:pPr indent="-231775" lvl="1" marL="695325" rtl="0" algn="l">
              <a:lnSpc>
                <a:spcPct val="90000"/>
              </a:lnSpc>
              <a:spcBef>
                <a:spcPts val="500"/>
              </a:spcBef>
              <a:spcAft>
                <a:spcPts val="0"/>
              </a:spcAft>
              <a:buSzPts val="2400"/>
              <a:buChar char="•"/>
            </a:pPr>
            <a:r>
              <a:rPr lang="en-US"/>
              <a:t>timeout events</a:t>
            </a:r>
            <a:endParaRPr/>
          </a:p>
          <a:p>
            <a:pPr indent="-231775" lvl="1" marL="695325" rtl="0" algn="l">
              <a:lnSpc>
                <a:spcPct val="90000"/>
              </a:lnSpc>
              <a:spcBef>
                <a:spcPts val="500"/>
              </a:spcBef>
              <a:spcAft>
                <a:spcPts val="0"/>
              </a:spcAft>
              <a:buSzPts val="2400"/>
              <a:buChar char="•"/>
            </a:pPr>
            <a:r>
              <a:rPr lang="en-US"/>
              <a:t>duplicate acks</a:t>
            </a:r>
            <a:endParaRPr/>
          </a:p>
          <a:p>
            <a:pPr indent="-44450" lvl="0" marL="352425" rtl="0" algn="l">
              <a:lnSpc>
                <a:spcPct val="90000"/>
              </a:lnSpc>
              <a:spcBef>
                <a:spcPts val="1000"/>
              </a:spcBef>
              <a:spcAft>
                <a:spcPts val="0"/>
              </a:spcAft>
              <a:buSzPts val="2800"/>
              <a:buNone/>
            </a:pPr>
            <a:r>
              <a:t/>
            </a:r>
            <a:endParaRPr/>
          </a:p>
          <a:p>
            <a:pPr indent="-44450" lvl="0" marL="352425" rtl="0" algn="l">
              <a:lnSpc>
                <a:spcPct val="90000"/>
              </a:lnSpc>
              <a:spcBef>
                <a:spcPts val="1000"/>
              </a:spcBef>
              <a:spcAft>
                <a:spcPts val="0"/>
              </a:spcAft>
              <a:buSzPts val="2800"/>
              <a:buNone/>
            </a:pPr>
            <a:r>
              <a:t/>
            </a:r>
            <a:endParaRPr/>
          </a:p>
        </p:txBody>
      </p:sp>
      <p:sp>
        <p:nvSpPr>
          <p:cNvPr id="5512" name="Google Shape;5512;p107"/>
          <p:cNvSpPr txBox="1"/>
          <p:nvPr>
            <p:ph idx="2" type="body"/>
          </p:nvPr>
        </p:nvSpPr>
        <p:spPr>
          <a:xfrm>
            <a:off x="6178551" y="2911476"/>
            <a:ext cx="3933825" cy="2119313"/>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Font typeface="Noto Sans Symbols"/>
              <a:buNone/>
            </a:pPr>
            <a:r>
              <a:rPr lang="en-US"/>
              <a:t>let’s initially consider simplified TCP sender:</a:t>
            </a:r>
            <a:endParaRPr/>
          </a:p>
          <a:p>
            <a:pPr indent="-231775" lvl="1" marL="695325" rtl="0" algn="l">
              <a:lnSpc>
                <a:spcPct val="90000"/>
              </a:lnSpc>
              <a:spcBef>
                <a:spcPts val="500"/>
              </a:spcBef>
              <a:spcAft>
                <a:spcPts val="0"/>
              </a:spcAft>
              <a:buSzPts val="2400"/>
              <a:buChar char="•"/>
            </a:pPr>
            <a:r>
              <a:rPr lang="en-US"/>
              <a:t>ignore duplicate acks</a:t>
            </a:r>
            <a:endParaRPr/>
          </a:p>
          <a:p>
            <a:pPr indent="-231775" lvl="1" marL="695325" rtl="0" algn="l">
              <a:lnSpc>
                <a:spcPct val="90000"/>
              </a:lnSpc>
              <a:spcBef>
                <a:spcPts val="500"/>
              </a:spcBef>
              <a:spcAft>
                <a:spcPts val="0"/>
              </a:spcAft>
              <a:buSzPts val="2400"/>
              <a:buChar char="•"/>
            </a:pPr>
            <a:r>
              <a:rPr lang="en-US"/>
              <a:t>ignore flow control, congestion control</a:t>
            </a:r>
            <a:endParaRPr/>
          </a:p>
        </p:txBody>
      </p:sp>
      <p:pic>
        <p:nvPicPr>
          <p:cNvPr descr="underline_base" id="5513" name="Google Shape;5513;p107"/>
          <p:cNvPicPr preferRelativeResize="0"/>
          <p:nvPr/>
        </p:nvPicPr>
        <p:blipFill rotWithShape="1">
          <a:blip r:embed="rId3">
            <a:alphaModFix/>
          </a:blip>
          <a:srcRect b="0" l="0" r="0" t="0"/>
          <a:stretch/>
        </p:blipFill>
        <p:spPr>
          <a:xfrm>
            <a:off x="2220913" y="996950"/>
            <a:ext cx="5942012" cy="173038"/>
          </a:xfrm>
          <a:prstGeom prst="rect">
            <a:avLst/>
          </a:prstGeom>
          <a:noFill/>
          <a:ln>
            <a:noFill/>
          </a:ln>
        </p:spPr>
      </p:pic>
      <p:sp>
        <p:nvSpPr>
          <p:cNvPr id="5514" name="Google Shape;5514;p107"/>
          <p:cNvSpPr/>
          <p:nvPr/>
        </p:nvSpPr>
        <p:spPr>
          <a:xfrm>
            <a:off x="5380038" y="5197476"/>
            <a:ext cx="4572000" cy="10779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Noto Sans Symbols"/>
              <a:buNone/>
            </a:pPr>
            <a:r>
              <a:rPr i="1" lang="en-US" sz="1600">
                <a:solidFill>
                  <a:srgbClr val="CC0000"/>
                </a:solidFill>
                <a:latin typeface="Arial"/>
                <a:ea typeface="Arial"/>
                <a:cs typeface="Arial"/>
                <a:sym typeface="Arial"/>
              </a:rPr>
              <a:t>duplicate ACK</a:t>
            </a:r>
            <a:r>
              <a:rPr lang="en-US" sz="1600">
                <a:solidFill>
                  <a:srgbClr val="CC0000"/>
                </a:solidFill>
                <a:latin typeface="Arial"/>
                <a:ea typeface="Arial"/>
                <a:cs typeface="Arial"/>
                <a:sym typeface="Arial"/>
              </a:rPr>
              <a:t>,</a:t>
            </a:r>
            <a:r>
              <a:rPr lang="en-US" sz="1600">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indicating seq. # of next expected byte</a:t>
            </a:r>
            <a:endParaRPr/>
          </a:p>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Due to some reason expected seq. # is not received at receiver)</a:t>
            </a:r>
            <a:endParaRPr/>
          </a:p>
        </p:txBody>
      </p:sp>
      <p:cxnSp>
        <p:nvCxnSpPr>
          <p:cNvPr id="5515" name="Google Shape;5515;p107"/>
          <p:cNvCxnSpPr/>
          <p:nvPr/>
        </p:nvCxnSpPr>
        <p:spPr>
          <a:xfrm flipH="1">
            <a:off x="4586288" y="5403850"/>
            <a:ext cx="785812" cy="141288"/>
          </a:xfrm>
          <a:prstGeom prst="straightConnector1">
            <a:avLst/>
          </a:prstGeom>
          <a:noFill/>
          <a:ln cap="flat" cmpd="sng" w="9525">
            <a:solidFill>
              <a:schemeClr val="dk1"/>
            </a:solidFill>
            <a:prstDash val="solid"/>
            <a:round/>
            <a:headEnd len="med" w="med" type="none"/>
            <a:tailEnd len="med" w="med" type="stealth"/>
          </a:ln>
        </p:spPr>
      </p:cxnSp>
      <p:sp>
        <p:nvSpPr>
          <p:cNvPr id="5516" name="Google Shape;5516;p10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1" name="Shape 5521"/>
        <p:cNvGrpSpPr/>
        <p:nvPr/>
      </p:nvGrpSpPr>
      <p:grpSpPr>
        <a:xfrm>
          <a:off x="0" y="0"/>
          <a:ext cx="0" cy="0"/>
          <a:chOff x="0" y="0"/>
          <a:chExt cx="0" cy="0"/>
        </a:xfrm>
      </p:grpSpPr>
      <p:sp>
        <p:nvSpPr>
          <p:cNvPr id="5522" name="Google Shape;5522;p108"/>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round trip time, timeout</a:t>
            </a:r>
            <a:endParaRPr b="0" sz="4400"/>
          </a:p>
        </p:txBody>
      </p:sp>
      <p:sp>
        <p:nvSpPr>
          <p:cNvPr id="5523" name="Google Shape;5523;p108"/>
          <p:cNvSpPr txBox="1"/>
          <p:nvPr/>
        </p:nvSpPr>
        <p:spPr>
          <a:xfrm>
            <a:off x="673789" y="1393136"/>
            <a:ext cx="5213444"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sng" cap="none" strike="noStrike">
                <a:solidFill>
                  <a:srgbClr val="C00000"/>
                </a:solidFill>
                <a:latin typeface="Calibri"/>
                <a:ea typeface="Calibri"/>
                <a:cs typeface="Calibri"/>
                <a:sym typeface="Calibri"/>
              </a:rPr>
              <a:t>Q:</a:t>
            </a:r>
            <a:r>
              <a:rPr b="0" i="1" lang="en-US" sz="3200" u="none" cap="none" strike="noStrike">
                <a:solidFill>
                  <a:srgbClr val="C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how to set TCP timeout value?</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longer than RTT, but RTT varies!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1" lang="en-US" sz="2800" u="none" cap="none" strike="noStrike">
                <a:solidFill>
                  <a:srgbClr val="C00000"/>
                </a:solidFill>
                <a:latin typeface="Calibri"/>
                <a:ea typeface="Calibri"/>
                <a:cs typeface="Calibri"/>
                <a:sym typeface="Calibri"/>
              </a:rPr>
              <a:t>too short:</a:t>
            </a:r>
            <a:r>
              <a:rPr b="0" i="0" lang="en-US" sz="2800" u="none" cap="none" strike="noStrike">
                <a:solidFill>
                  <a:srgbClr val="C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premature timeout, unnecessary retransmissions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1" lang="en-US" sz="2800" u="none" cap="none" strike="noStrike">
                <a:solidFill>
                  <a:srgbClr val="C00000"/>
                </a:solidFill>
                <a:latin typeface="Calibri"/>
                <a:ea typeface="Calibri"/>
                <a:cs typeface="Calibri"/>
                <a:sym typeface="Calibri"/>
              </a:rPr>
              <a:t>too long:</a:t>
            </a:r>
            <a:r>
              <a:rPr b="0" i="0" lang="en-US" sz="2800" u="none" cap="none" strike="noStrike">
                <a:solidFill>
                  <a:srgbClr val="C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slow reaction to segment loss</a:t>
            </a:r>
            <a:endParaRPr/>
          </a:p>
        </p:txBody>
      </p:sp>
      <p:sp>
        <p:nvSpPr>
          <p:cNvPr id="5524" name="Google Shape;5524;p108"/>
          <p:cNvSpPr txBox="1"/>
          <p:nvPr/>
        </p:nvSpPr>
        <p:spPr>
          <a:xfrm>
            <a:off x="6258838" y="1393136"/>
            <a:ext cx="5565913"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sng" cap="none" strike="noStrike">
                <a:solidFill>
                  <a:srgbClr val="C00000"/>
                </a:solidFill>
                <a:latin typeface="Calibri"/>
                <a:ea typeface="Calibri"/>
                <a:cs typeface="Calibri"/>
                <a:sym typeface="Calibri"/>
              </a:rPr>
              <a:t>Q</a:t>
            </a:r>
            <a:r>
              <a:rPr b="0" i="0" lang="en-US" sz="3200" u="sng" cap="none" strike="noStrike">
                <a:solidFill>
                  <a:srgbClr val="C00000"/>
                </a:solidFill>
                <a:latin typeface="Calibri"/>
                <a:ea typeface="Calibri"/>
                <a:cs typeface="Calibri"/>
                <a:sym typeface="Calibri"/>
              </a:rPr>
              <a:t>:</a:t>
            </a:r>
            <a:r>
              <a:rPr b="0" i="0" lang="en-US" sz="3200" u="none" cap="none" strike="noStrike">
                <a:solidFill>
                  <a:srgbClr val="C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how to estimate RTT?</a:t>
            </a:r>
            <a:endParaRPr/>
          </a:p>
          <a:p>
            <a:pPr indent="-222250" lvl="0" marL="352425" marR="0" rtl="0" algn="l">
              <a:lnSpc>
                <a:spcPct val="90000"/>
              </a:lnSpc>
              <a:spcBef>
                <a:spcPts val="600"/>
              </a:spcBef>
              <a:spcAft>
                <a:spcPts val="0"/>
              </a:spcAft>
              <a:buClr>
                <a:srgbClr val="0000A3"/>
              </a:buClr>
              <a:buSzPts val="2800"/>
              <a:buFont typeface="Noto Sans Symbols"/>
              <a:buChar char="▪"/>
            </a:pPr>
            <a:r>
              <a:rPr b="0" i="0" lang="en-US" sz="2800" u="none" cap="none" strike="noStrike">
                <a:solidFill>
                  <a:srgbClr val="000099"/>
                </a:solidFill>
                <a:latin typeface="Courier New"/>
                <a:ea typeface="Courier New"/>
                <a:cs typeface="Courier New"/>
                <a:sym typeface="Courier New"/>
              </a:rPr>
              <a:t>SampleRTT:</a:t>
            </a:r>
            <a:r>
              <a:rPr b="0" i="0" lang="en-US" sz="2800" u="none" cap="none" strike="noStrike">
                <a:solidFill>
                  <a:srgbClr val="000000"/>
                </a:solidFill>
                <a:latin typeface="Calibri"/>
                <a:ea typeface="Calibri"/>
                <a:cs typeface="Calibri"/>
                <a:sym typeface="Calibri"/>
              </a:rPr>
              <a:t>measured time from segment transmission until ACK receipt</a:t>
            </a:r>
            <a:endParaRPr/>
          </a:p>
          <a:p>
            <a:pPr indent="-231775" lvl="1" marL="695325" marR="0" rtl="0" algn="l">
              <a:lnSpc>
                <a:spcPct val="90000"/>
              </a:lnSpc>
              <a:spcBef>
                <a:spcPts val="6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ignore retransmissions</a:t>
            </a:r>
            <a:endParaRPr/>
          </a:p>
          <a:p>
            <a:pPr indent="-222250" lvl="0" marL="352425" marR="0" rtl="0" algn="l">
              <a:lnSpc>
                <a:spcPct val="90000"/>
              </a:lnSpc>
              <a:spcBef>
                <a:spcPts val="600"/>
              </a:spcBef>
              <a:spcAft>
                <a:spcPts val="0"/>
              </a:spcAft>
              <a:buClr>
                <a:srgbClr val="0000A3"/>
              </a:buClr>
              <a:buSzPts val="2800"/>
              <a:buFont typeface="Noto Sans Symbols"/>
              <a:buChar char="▪"/>
            </a:pPr>
            <a:r>
              <a:rPr b="0" i="0" lang="en-US" sz="2800" u="none" cap="none" strike="noStrike">
                <a:solidFill>
                  <a:srgbClr val="0000A3"/>
                </a:solidFill>
                <a:latin typeface="Courier New"/>
                <a:ea typeface="Courier New"/>
                <a:cs typeface="Courier New"/>
                <a:sym typeface="Courier New"/>
              </a:rPr>
              <a:t>SampleRTT</a:t>
            </a:r>
            <a:r>
              <a:rPr b="0" i="0" lang="en-US" sz="2800" u="none" cap="none" strike="noStrike">
                <a:solidFill>
                  <a:srgbClr val="0000A8"/>
                </a:solidFill>
                <a:latin typeface="Courier New"/>
                <a:ea typeface="Courier New"/>
                <a:cs typeface="Courier New"/>
                <a:sym typeface="Courier New"/>
              </a:rPr>
              <a:t> </a:t>
            </a:r>
            <a:r>
              <a:rPr b="0" i="0" lang="en-US" sz="2800" u="none" cap="none" strike="noStrike">
                <a:solidFill>
                  <a:srgbClr val="000000"/>
                </a:solidFill>
                <a:latin typeface="Calibri"/>
                <a:ea typeface="Calibri"/>
                <a:cs typeface="Calibri"/>
                <a:sym typeface="Calibri"/>
              </a:rPr>
              <a:t>will vary, want estimated RTT “smoother</a:t>
            </a:r>
            <a:r>
              <a:rPr b="0" i="0" lang="en-US" sz="24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a:p>
            <a:pPr indent="-231775" lvl="1" marL="695325" marR="0" rtl="0" algn="l">
              <a:lnSpc>
                <a:spcPct val="90000"/>
              </a:lnSpc>
              <a:spcBef>
                <a:spcPts val="6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average several </a:t>
            </a:r>
            <a:r>
              <a:rPr b="0" i="1" lang="en-US" sz="2400" u="none" cap="none" strike="noStrike">
                <a:solidFill>
                  <a:srgbClr val="000000"/>
                </a:solidFill>
                <a:latin typeface="Calibri"/>
                <a:ea typeface="Calibri"/>
                <a:cs typeface="Calibri"/>
                <a:sym typeface="Calibri"/>
              </a:rPr>
              <a:t>recent</a:t>
            </a:r>
            <a:r>
              <a:rPr b="0" i="0" lang="en-US" sz="2400" u="none" cap="none" strike="noStrike">
                <a:solidFill>
                  <a:srgbClr val="000000"/>
                </a:solidFill>
                <a:latin typeface="Calibri"/>
                <a:ea typeface="Calibri"/>
                <a:cs typeface="Calibri"/>
                <a:sym typeface="Calibri"/>
              </a:rPr>
              <a:t> measurements, not just current </a:t>
            </a:r>
            <a:r>
              <a:rPr b="0" i="0" lang="en-US" sz="2400" u="none" cap="none" strike="noStrike">
                <a:solidFill>
                  <a:srgbClr val="0000A3"/>
                </a:solidFill>
                <a:latin typeface="Courier New"/>
                <a:ea typeface="Courier New"/>
                <a:cs typeface="Courier New"/>
                <a:sym typeface="Courier New"/>
              </a:rPr>
              <a:t>SampleRTT</a:t>
            </a:r>
            <a:endParaRPr b="0" i="0" sz="2400" u="none" cap="none" strike="noStrike">
              <a:solidFill>
                <a:srgbClr val="0000A3"/>
              </a:solidFill>
              <a:latin typeface="Courier New"/>
              <a:ea typeface="Courier New"/>
              <a:cs typeface="Courier New"/>
              <a:sym typeface="Courier New"/>
            </a:endParaRPr>
          </a:p>
        </p:txBody>
      </p:sp>
      <p:sp>
        <p:nvSpPr>
          <p:cNvPr id="5525" name="Google Shape;5525;p10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24"/>
                                        </p:tgtEl>
                                        <p:attrNameLst>
                                          <p:attrName>style.visibility</p:attrName>
                                        </p:attrNameLst>
                                      </p:cBhvr>
                                      <p:to>
                                        <p:strVal val="visible"/>
                                      </p:to>
                                    </p:set>
                                    <p:animEffect filter="fade" transition="in">
                                      <p:cBhvr>
                                        <p:cTn dur="500"/>
                                        <p:tgtEl>
                                          <p:spTgt spid="55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0" name="Shape 5530"/>
        <p:cNvGrpSpPr/>
        <p:nvPr/>
      </p:nvGrpSpPr>
      <p:grpSpPr>
        <a:xfrm>
          <a:off x="0" y="0"/>
          <a:ext cx="0" cy="0"/>
          <a:chOff x="0" y="0"/>
          <a:chExt cx="0" cy="0"/>
        </a:xfrm>
      </p:grpSpPr>
      <p:sp>
        <p:nvSpPr>
          <p:cNvPr id="5531" name="Google Shape;5531;p109"/>
          <p:cNvSpPr/>
          <p:nvPr/>
        </p:nvSpPr>
        <p:spPr>
          <a:xfrm>
            <a:off x="876300" y="1261543"/>
            <a:ext cx="8974869" cy="461665"/>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532" name="Google Shape;5532;p109"/>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round trip time, timeout</a:t>
            </a:r>
            <a:endParaRPr b="0" sz="4400"/>
          </a:p>
        </p:txBody>
      </p:sp>
      <p:sp>
        <p:nvSpPr>
          <p:cNvPr id="5533" name="Google Shape;5533;p109"/>
          <p:cNvSpPr txBox="1"/>
          <p:nvPr/>
        </p:nvSpPr>
        <p:spPr>
          <a:xfrm>
            <a:off x="876300" y="1246817"/>
            <a:ext cx="905247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ourier New"/>
              <a:buNone/>
            </a:pPr>
            <a:r>
              <a:rPr b="1" i="0" lang="en-US" sz="2400" u="none" cap="none" strike="noStrike">
                <a:solidFill>
                  <a:srgbClr val="000000"/>
                </a:solidFill>
                <a:latin typeface="Courier New"/>
                <a:ea typeface="Courier New"/>
                <a:cs typeface="Courier New"/>
                <a:sym typeface="Courier New"/>
              </a:rPr>
              <a:t>EstimatedRTT = (1- α)*EstimatedRTT + α*SampleRTT</a:t>
            </a:r>
            <a:endParaRPr b="1" i="0" sz="2400" u="none" cap="none" strike="noStrike">
              <a:solidFill>
                <a:srgbClr val="000000"/>
              </a:solidFill>
              <a:latin typeface="Courier New"/>
              <a:ea typeface="Courier New"/>
              <a:cs typeface="Courier New"/>
              <a:sym typeface="Courier New"/>
            </a:endParaRPr>
          </a:p>
        </p:txBody>
      </p:sp>
      <p:sp>
        <p:nvSpPr>
          <p:cNvPr id="5534" name="Google Shape;5534;p109"/>
          <p:cNvSpPr/>
          <p:nvPr/>
        </p:nvSpPr>
        <p:spPr>
          <a:xfrm>
            <a:off x="951602" y="1857328"/>
            <a:ext cx="7067550" cy="1424491"/>
          </a:xfrm>
          <a:prstGeom prst="rect">
            <a:avLst/>
          </a:prstGeom>
          <a:noFill/>
          <a:ln>
            <a:noFill/>
          </a:ln>
        </p:spPr>
        <p:txBody>
          <a:bodyPr anchorCtr="0" anchor="t" bIns="45700" lIns="91425" spcFirstLastPara="1" rIns="91425" wrap="square" tIns="45700">
            <a:noAutofit/>
          </a:bodyPr>
          <a:lstStyle/>
          <a:p>
            <a:pPr indent="-292100" lvl="0" marL="292100" marR="0" rtl="0" algn="l">
              <a:lnSpc>
                <a:spcPct val="85000"/>
              </a:lnSpc>
              <a:spcBef>
                <a:spcPts val="0"/>
              </a:spcBef>
              <a:spcAft>
                <a:spcPts val="0"/>
              </a:spcAft>
              <a:buClr>
                <a:srgbClr val="000099"/>
              </a:buClr>
              <a:buSzPts val="2400"/>
              <a:buFont typeface="Noto Sans Symbols"/>
              <a:buChar char="▪"/>
            </a:pPr>
            <a:r>
              <a:rPr b="0" i="0" lang="en-US" sz="2400" u="sng" cap="none" strike="noStrike">
                <a:solidFill>
                  <a:srgbClr val="000000"/>
                </a:solidFill>
                <a:latin typeface="Calibri"/>
                <a:ea typeface="Calibri"/>
                <a:cs typeface="Calibri"/>
                <a:sym typeface="Calibri"/>
              </a:rPr>
              <a:t>e</a:t>
            </a:r>
            <a:r>
              <a:rPr b="0" i="0" lang="en-US" sz="2400" u="none" cap="none" strike="noStrike">
                <a:solidFill>
                  <a:srgbClr val="000000"/>
                </a:solidFill>
                <a:latin typeface="Calibri"/>
                <a:ea typeface="Calibri"/>
                <a:cs typeface="Calibri"/>
                <a:sym typeface="Calibri"/>
              </a:rPr>
              <a:t>xponential </a:t>
            </a:r>
            <a:r>
              <a:rPr b="0" i="0" lang="en-US" sz="2400" u="sng" cap="none" strike="noStrike">
                <a:solidFill>
                  <a:srgbClr val="000000"/>
                </a:solidFill>
                <a:latin typeface="Calibri"/>
                <a:ea typeface="Calibri"/>
                <a:cs typeface="Calibri"/>
                <a:sym typeface="Calibri"/>
              </a:rPr>
              <a:t>w</a:t>
            </a:r>
            <a:r>
              <a:rPr b="0" i="0" lang="en-US" sz="2400" u="none" cap="none" strike="noStrike">
                <a:solidFill>
                  <a:srgbClr val="000000"/>
                </a:solidFill>
                <a:latin typeface="Calibri"/>
                <a:ea typeface="Calibri"/>
                <a:cs typeface="Calibri"/>
                <a:sym typeface="Calibri"/>
              </a:rPr>
              <a:t>eighted </a:t>
            </a:r>
            <a:r>
              <a:rPr b="0" i="0" lang="en-US" sz="2400" u="sng" cap="none" strike="noStrike">
                <a:solidFill>
                  <a:srgbClr val="000000"/>
                </a:solidFill>
                <a:latin typeface="Calibri"/>
                <a:ea typeface="Calibri"/>
                <a:cs typeface="Calibri"/>
                <a:sym typeface="Calibri"/>
              </a:rPr>
              <a:t>m</a:t>
            </a:r>
            <a:r>
              <a:rPr b="0" i="0" lang="en-US" sz="2400" u="none" cap="none" strike="noStrike">
                <a:solidFill>
                  <a:srgbClr val="000000"/>
                </a:solidFill>
                <a:latin typeface="Calibri"/>
                <a:ea typeface="Calibri"/>
                <a:cs typeface="Calibri"/>
                <a:sym typeface="Calibri"/>
              </a:rPr>
              <a:t>oving </a:t>
            </a:r>
            <a:r>
              <a:rPr b="0" i="0" lang="en-US" sz="2400" u="sng" cap="none" strike="noStrike">
                <a:solidFill>
                  <a:srgbClr val="000000"/>
                </a:solidFill>
                <a:latin typeface="Calibri"/>
                <a:ea typeface="Calibri"/>
                <a:cs typeface="Calibri"/>
                <a:sym typeface="Calibri"/>
              </a:rPr>
              <a:t>a</a:t>
            </a:r>
            <a:r>
              <a:rPr b="0" i="0" lang="en-US" sz="2400" u="none" cap="none" strike="noStrike">
                <a:solidFill>
                  <a:srgbClr val="000000"/>
                </a:solidFill>
                <a:latin typeface="Calibri"/>
                <a:ea typeface="Calibri"/>
                <a:cs typeface="Calibri"/>
                <a:sym typeface="Calibri"/>
              </a:rPr>
              <a:t>verage (EWMA)</a:t>
            </a:r>
            <a:endParaRPr/>
          </a:p>
          <a:p>
            <a:pPr indent="-292100" lvl="0" marL="2921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influence of past sample decreases exponentially fast</a:t>
            </a:r>
            <a:endParaRPr/>
          </a:p>
          <a:p>
            <a:pPr indent="-292100" lvl="0" marL="2921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typical value: α </a:t>
            </a:r>
            <a:r>
              <a:rPr b="1" i="0" lang="en-US" sz="2400" u="none" cap="none" strike="noStrike">
                <a:solidFill>
                  <a:srgbClr val="000000"/>
                </a:solidFill>
                <a:latin typeface="Calibri"/>
                <a:ea typeface="Calibri"/>
                <a:cs typeface="Calibri"/>
                <a:sym typeface="Calibri"/>
              </a:rPr>
              <a:t>=</a:t>
            </a:r>
            <a:r>
              <a:rPr b="0" i="0" lang="en-US" sz="2400" u="none" cap="none" strike="noStrike">
                <a:solidFill>
                  <a:srgbClr val="000000"/>
                </a:solidFill>
                <a:latin typeface="Calibri"/>
                <a:ea typeface="Calibri"/>
                <a:cs typeface="Calibri"/>
                <a:sym typeface="Calibri"/>
              </a:rPr>
              <a:t> 0.125</a:t>
            </a:r>
            <a:endParaRPr/>
          </a:p>
        </p:txBody>
      </p:sp>
      <p:grpSp>
        <p:nvGrpSpPr>
          <p:cNvPr id="5535" name="Google Shape;5535;p109"/>
          <p:cNvGrpSpPr/>
          <p:nvPr/>
        </p:nvGrpSpPr>
        <p:grpSpPr>
          <a:xfrm>
            <a:off x="4673229" y="2443135"/>
            <a:ext cx="6448425" cy="4292600"/>
            <a:chOff x="1531938" y="2565400"/>
            <a:chExt cx="6448425" cy="4292600"/>
          </a:xfrm>
        </p:grpSpPr>
        <p:grpSp>
          <p:nvGrpSpPr>
            <p:cNvPr id="5536" name="Google Shape;5536;p109"/>
            <p:cNvGrpSpPr/>
            <p:nvPr/>
          </p:nvGrpSpPr>
          <p:grpSpPr>
            <a:xfrm>
              <a:off x="1708150" y="2565400"/>
              <a:ext cx="6272213" cy="4292600"/>
              <a:chOff x="782" y="1865"/>
              <a:chExt cx="3951" cy="2704"/>
            </a:xfrm>
          </p:grpSpPr>
          <p:pic>
            <p:nvPicPr>
              <p:cNvPr id="5537" name="Google Shape;5537;p109"/>
              <p:cNvPicPr preferRelativeResize="0"/>
              <p:nvPr/>
            </p:nvPicPr>
            <p:blipFill rotWithShape="1">
              <a:blip r:embed="rId3">
                <a:alphaModFix/>
              </a:blip>
              <a:srcRect b="0" l="0" r="0" t="0"/>
              <a:stretch/>
            </p:blipFill>
            <p:spPr>
              <a:xfrm>
                <a:off x="782" y="1865"/>
                <a:ext cx="3951" cy="2704"/>
              </a:xfrm>
              <a:prstGeom prst="rect">
                <a:avLst/>
              </a:prstGeom>
              <a:noFill/>
              <a:ln>
                <a:noFill/>
              </a:ln>
            </p:spPr>
          </p:pic>
          <p:sp>
            <p:nvSpPr>
              <p:cNvPr id="5538" name="Google Shape;5538;p109"/>
              <p:cNvSpPr/>
              <p:nvPr/>
            </p:nvSpPr>
            <p:spPr>
              <a:xfrm>
                <a:off x="2070" y="1926"/>
                <a:ext cx="1404" cy="16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539" name="Google Shape;5539;p109"/>
            <p:cNvSpPr txBox="1"/>
            <p:nvPr/>
          </p:nvSpPr>
          <p:spPr>
            <a:xfrm rot="-5400000">
              <a:off x="872332" y="4194969"/>
              <a:ext cx="1747837" cy="428625"/>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RTT (milliseconds)</a:t>
              </a:r>
              <a:endParaRPr/>
            </a:p>
          </p:txBody>
        </p:sp>
        <p:sp>
          <p:nvSpPr>
            <p:cNvPr id="5540" name="Google Shape;5540;p109"/>
            <p:cNvSpPr txBox="1"/>
            <p:nvPr/>
          </p:nvSpPr>
          <p:spPr>
            <a:xfrm>
              <a:off x="2265363" y="3168650"/>
              <a:ext cx="38671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RTT:</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gaia.cs.umass.edu</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to</a:t>
              </a:r>
              <a:r>
                <a:rPr b="0" i="0" lang="en-US" sz="1400" u="none" cap="none" strike="noStrike">
                  <a:solidFill>
                    <a:srgbClr val="FFFFFF"/>
                  </a:solidFill>
                  <a:latin typeface="Arial"/>
                  <a:ea typeface="Arial"/>
                  <a:cs typeface="Arial"/>
                  <a:sym typeface="Arial"/>
                </a:rPr>
                <a:t> </a:t>
              </a:r>
              <a:r>
                <a:rPr b="0" i="0" lang="en-US" sz="1400" u="none" cap="none" strike="noStrike">
                  <a:solidFill>
                    <a:srgbClr val="000000"/>
                  </a:solidFill>
                  <a:latin typeface="Arial"/>
                  <a:ea typeface="Arial"/>
                  <a:cs typeface="Arial"/>
                  <a:sym typeface="Arial"/>
                </a:rPr>
                <a:t>fantasia.eurecom.fr</a:t>
              </a:r>
              <a:endParaRPr/>
            </a:p>
          </p:txBody>
        </p:sp>
        <p:sp>
          <p:nvSpPr>
            <p:cNvPr id="5541" name="Google Shape;5541;p109"/>
            <p:cNvSpPr txBox="1"/>
            <p:nvPr/>
          </p:nvSpPr>
          <p:spPr>
            <a:xfrm>
              <a:off x="6221413" y="5230813"/>
              <a:ext cx="11811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sampleRTT</a:t>
              </a:r>
              <a:endParaRPr/>
            </a:p>
          </p:txBody>
        </p:sp>
        <p:sp>
          <p:nvSpPr>
            <p:cNvPr id="5542" name="Google Shape;5542;p109"/>
            <p:cNvSpPr txBox="1"/>
            <p:nvPr/>
          </p:nvSpPr>
          <p:spPr>
            <a:xfrm>
              <a:off x="6215063" y="5548313"/>
              <a:ext cx="14319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EstimatedRTT</a:t>
              </a:r>
              <a:endParaRPr/>
            </a:p>
          </p:txBody>
        </p:sp>
        <p:sp>
          <p:nvSpPr>
            <p:cNvPr id="5543" name="Google Shape;5543;p109"/>
            <p:cNvSpPr/>
            <p:nvPr/>
          </p:nvSpPr>
          <p:spPr>
            <a:xfrm>
              <a:off x="6005513" y="5343525"/>
              <a:ext cx="147637" cy="142875"/>
            </a:xfrm>
            <a:prstGeom prst="diamond">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44" name="Google Shape;5544;p109"/>
            <p:cNvSpPr/>
            <p:nvPr/>
          </p:nvSpPr>
          <p:spPr>
            <a:xfrm rot="2776382">
              <a:off x="6011069" y="5633244"/>
              <a:ext cx="147637" cy="142875"/>
            </a:xfrm>
            <a:prstGeom prst="diamond">
              <a:avLst/>
            </a:prstGeom>
            <a:solidFill>
              <a:srgbClr val="FF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45" name="Google Shape;5545;p109"/>
            <p:cNvSpPr/>
            <p:nvPr/>
          </p:nvSpPr>
          <p:spPr>
            <a:xfrm>
              <a:off x="4108450" y="6389688"/>
              <a:ext cx="1863725" cy="4683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546" name="Google Shape;5546;p109"/>
            <p:cNvGrpSpPr/>
            <p:nvPr/>
          </p:nvGrpSpPr>
          <p:grpSpPr>
            <a:xfrm>
              <a:off x="4041775" y="6386513"/>
              <a:ext cx="1512888" cy="336550"/>
              <a:chOff x="2343" y="3645"/>
              <a:chExt cx="953" cy="212"/>
            </a:xfrm>
          </p:grpSpPr>
          <p:sp>
            <p:nvSpPr>
              <p:cNvPr id="5547" name="Google Shape;5547;p109"/>
              <p:cNvSpPr/>
              <p:nvPr/>
            </p:nvSpPr>
            <p:spPr>
              <a:xfrm>
                <a:off x="2592" y="3695"/>
                <a:ext cx="527" cy="9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548" name="Google Shape;5548;p109"/>
              <p:cNvSpPr txBox="1"/>
              <p:nvPr/>
            </p:nvSpPr>
            <p:spPr>
              <a:xfrm>
                <a:off x="2343" y="3645"/>
                <a:ext cx="95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time (seconds)</a:t>
                </a:r>
                <a:endParaRPr/>
              </a:p>
            </p:txBody>
          </p:sp>
        </p:grpSp>
      </p:grpSp>
      <p:sp>
        <p:nvSpPr>
          <p:cNvPr id="5549" name="Google Shape;5549;p10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35"/>
                                        </p:tgtEl>
                                        <p:attrNameLst>
                                          <p:attrName>style.visibility</p:attrName>
                                        </p:attrNameLst>
                                      </p:cBhvr>
                                      <p:to>
                                        <p:strVal val="visible"/>
                                      </p:to>
                                    </p:set>
                                    <p:animEffect filter="fade" transition="in">
                                      <p:cBhvr>
                                        <p:cTn dur="500"/>
                                        <p:tgtEl>
                                          <p:spTgt spid="55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4" name="Shape 5554"/>
        <p:cNvGrpSpPr/>
        <p:nvPr/>
      </p:nvGrpSpPr>
      <p:grpSpPr>
        <a:xfrm>
          <a:off x="0" y="0"/>
          <a:ext cx="0" cy="0"/>
          <a:chOff x="0" y="0"/>
          <a:chExt cx="0" cy="0"/>
        </a:xfrm>
      </p:grpSpPr>
      <p:sp>
        <p:nvSpPr>
          <p:cNvPr id="5555" name="Google Shape;5555;p110"/>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round trip time, timeout</a:t>
            </a:r>
            <a:endParaRPr b="0" sz="4400"/>
          </a:p>
        </p:txBody>
      </p:sp>
      <p:sp>
        <p:nvSpPr>
          <p:cNvPr id="5556" name="Google Shape;5556;p110"/>
          <p:cNvSpPr txBox="1"/>
          <p:nvPr/>
        </p:nvSpPr>
        <p:spPr>
          <a:xfrm>
            <a:off x="635138" y="1537841"/>
            <a:ext cx="11327678" cy="112916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timeout interval:</a:t>
            </a:r>
            <a:r>
              <a:rPr b="1" i="0" lang="en-US" sz="2800" u="none" cap="none" strike="noStrike">
                <a:solidFill>
                  <a:srgbClr val="000000"/>
                </a:solidFill>
                <a:latin typeface="Calibri"/>
                <a:ea typeface="Calibri"/>
                <a:cs typeface="Calibri"/>
                <a:sym typeface="Calibri"/>
              </a:rPr>
              <a:t> </a:t>
            </a:r>
            <a:r>
              <a:rPr b="1" i="0" lang="en-US" sz="2800" u="none" cap="none" strike="noStrike">
                <a:solidFill>
                  <a:srgbClr val="000000"/>
                </a:solidFill>
                <a:latin typeface="Courier"/>
                <a:ea typeface="Courier"/>
                <a:cs typeface="Courier"/>
                <a:sym typeface="Courier"/>
              </a:rPr>
              <a:t>EstimatedRTT</a:t>
            </a:r>
            <a:r>
              <a:rPr b="0" i="0" lang="en-US" sz="2800" u="none" cap="none" strike="noStrike">
                <a:solidFill>
                  <a:srgbClr val="000000"/>
                </a:solidFill>
                <a:latin typeface="Calibri"/>
                <a:ea typeface="Calibri"/>
                <a:cs typeface="Calibri"/>
                <a:sym typeface="Calibri"/>
              </a:rPr>
              <a:t> plus “safety margin”</a:t>
            </a:r>
            <a:endParaRPr/>
          </a:p>
          <a:p>
            <a:pPr indent="-231775" lvl="1" marL="695325" marR="0" rtl="0" algn="l">
              <a:lnSpc>
                <a:spcPct val="90000"/>
              </a:lnSpc>
              <a:spcBef>
                <a:spcPts val="10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large variation in  </a:t>
            </a:r>
            <a:r>
              <a:rPr b="1" i="0" lang="en-US" sz="2800" u="none" cap="none" strike="noStrike">
                <a:solidFill>
                  <a:srgbClr val="000000"/>
                </a:solidFill>
                <a:latin typeface="Courier"/>
                <a:ea typeface="Courier"/>
                <a:cs typeface="Courier"/>
                <a:sym typeface="Courier"/>
              </a:rPr>
              <a:t>EstimatedRTT: </a:t>
            </a:r>
            <a:r>
              <a:rPr b="0" i="0" lang="en-US" sz="2800" u="none" cap="none" strike="noStrike">
                <a:solidFill>
                  <a:srgbClr val="000000"/>
                </a:solidFill>
                <a:latin typeface="Calibri"/>
                <a:ea typeface="Calibri"/>
                <a:cs typeface="Calibri"/>
                <a:sym typeface="Calibri"/>
              </a:rPr>
              <a:t>want a larger safety margin</a:t>
            </a:r>
            <a:endParaRPr/>
          </a:p>
        </p:txBody>
      </p:sp>
      <p:grpSp>
        <p:nvGrpSpPr>
          <p:cNvPr id="5557" name="Google Shape;5557;p110"/>
          <p:cNvGrpSpPr/>
          <p:nvPr/>
        </p:nvGrpSpPr>
        <p:grpSpPr>
          <a:xfrm>
            <a:off x="1061454" y="2679700"/>
            <a:ext cx="9532485" cy="1193800"/>
            <a:chOff x="858254" y="2667000"/>
            <a:chExt cx="9532485" cy="1193800"/>
          </a:xfrm>
        </p:grpSpPr>
        <p:sp>
          <p:nvSpPr>
            <p:cNvPr id="5558" name="Google Shape;5558;p110"/>
            <p:cNvSpPr/>
            <p:nvPr/>
          </p:nvSpPr>
          <p:spPr>
            <a:xfrm>
              <a:off x="858254" y="2667000"/>
              <a:ext cx="9532485" cy="461665"/>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559" name="Google Shape;5559;p110"/>
            <p:cNvSpPr/>
            <p:nvPr/>
          </p:nvSpPr>
          <p:spPr>
            <a:xfrm>
              <a:off x="859979" y="2701243"/>
              <a:ext cx="7918450" cy="6921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2400"/>
                <a:buFont typeface="Courier New"/>
                <a:buNone/>
              </a:pPr>
              <a:r>
                <a:rPr b="1" i="0" lang="en-US" sz="2400" u="none" cap="none" strike="noStrike">
                  <a:solidFill>
                    <a:srgbClr val="000000"/>
                  </a:solidFill>
                  <a:latin typeface="Courier New"/>
                  <a:ea typeface="Courier New"/>
                  <a:cs typeface="Courier New"/>
                  <a:sym typeface="Courier New"/>
                </a:rPr>
                <a:t>TimeoutInterval = EstimatedRTT + 4*DevRTT</a:t>
              </a:r>
              <a:endParaRPr b="1" i="0" sz="2400" u="none" cap="none" strike="noStrike">
                <a:solidFill>
                  <a:srgbClr val="000000"/>
                </a:solidFill>
                <a:latin typeface="Courier New"/>
                <a:ea typeface="Courier New"/>
                <a:cs typeface="Courier New"/>
                <a:sym typeface="Courier New"/>
              </a:endParaRPr>
            </a:p>
          </p:txBody>
        </p:sp>
        <p:sp>
          <p:nvSpPr>
            <p:cNvPr id="5560" name="Google Shape;5560;p110"/>
            <p:cNvSpPr txBox="1"/>
            <p:nvPr/>
          </p:nvSpPr>
          <p:spPr>
            <a:xfrm>
              <a:off x="4304854" y="3442606"/>
              <a:ext cx="1811338"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estimated RTT</a:t>
              </a:r>
              <a:endParaRPr/>
            </a:p>
          </p:txBody>
        </p:sp>
        <p:sp>
          <p:nvSpPr>
            <p:cNvPr id="5561" name="Google Shape;5561;p110"/>
            <p:cNvSpPr txBox="1"/>
            <p:nvPr/>
          </p:nvSpPr>
          <p:spPr>
            <a:xfrm>
              <a:off x="6736904" y="3461656"/>
              <a:ext cx="19177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“safety margin”</a:t>
              </a:r>
              <a:endParaRPr b="0" i="0" sz="2000" u="none" cap="none" strike="noStrike">
                <a:solidFill>
                  <a:srgbClr val="000099"/>
                </a:solidFill>
                <a:latin typeface="Tahoma"/>
                <a:ea typeface="Tahoma"/>
                <a:cs typeface="Tahoma"/>
                <a:sym typeface="Tahoma"/>
              </a:endParaRPr>
            </a:p>
          </p:txBody>
        </p:sp>
        <p:cxnSp>
          <p:nvCxnSpPr>
            <p:cNvPr id="5562" name="Google Shape;5562;p110"/>
            <p:cNvCxnSpPr/>
            <p:nvPr/>
          </p:nvCxnSpPr>
          <p:spPr>
            <a:xfrm rot="10800000">
              <a:off x="5101779" y="3082243"/>
              <a:ext cx="0" cy="446088"/>
            </a:xfrm>
            <a:prstGeom prst="straightConnector1">
              <a:avLst/>
            </a:prstGeom>
            <a:noFill/>
            <a:ln cap="flat" cmpd="sng" w="19050">
              <a:solidFill>
                <a:srgbClr val="000099"/>
              </a:solidFill>
              <a:prstDash val="solid"/>
              <a:round/>
              <a:headEnd len="med" w="med" type="none"/>
              <a:tailEnd len="med" w="med" type="triangle"/>
            </a:ln>
          </p:spPr>
        </p:cxnSp>
        <p:cxnSp>
          <p:nvCxnSpPr>
            <p:cNvPr id="5563" name="Google Shape;5563;p110"/>
            <p:cNvCxnSpPr/>
            <p:nvPr/>
          </p:nvCxnSpPr>
          <p:spPr>
            <a:xfrm rot="10800000">
              <a:off x="7673529" y="3088593"/>
              <a:ext cx="0" cy="446088"/>
            </a:xfrm>
            <a:prstGeom prst="straightConnector1">
              <a:avLst/>
            </a:prstGeom>
            <a:noFill/>
            <a:ln cap="flat" cmpd="sng" w="19050">
              <a:solidFill>
                <a:srgbClr val="000099"/>
              </a:solidFill>
              <a:prstDash val="solid"/>
              <a:round/>
              <a:headEnd len="med" w="med" type="none"/>
              <a:tailEnd len="med" w="med" type="triangle"/>
            </a:ln>
          </p:spPr>
        </p:cxnSp>
        <p:pic>
          <p:nvPicPr>
            <p:cNvPr descr="alarm_clock_ringing" id="5564" name="Google Shape;5564;p110"/>
            <p:cNvPicPr preferRelativeResize="0"/>
            <p:nvPr/>
          </p:nvPicPr>
          <p:blipFill rotWithShape="1">
            <a:blip r:embed="rId3">
              <a:alphaModFix/>
            </a:blip>
            <a:srcRect b="0" l="0" r="0" t="0"/>
            <a:stretch/>
          </p:blipFill>
          <p:spPr>
            <a:xfrm>
              <a:off x="1995043" y="3238052"/>
              <a:ext cx="646558" cy="622748"/>
            </a:xfrm>
            <a:prstGeom prst="rect">
              <a:avLst/>
            </a:prstGeom>
            <a:noFill/>
            <a:ln>
              <a:noFill/>
            </a:ln>
          </p:spPr>
        </p:pic>
      </p:grpSp>
      <p:sp>
        <p:nvSpPr>
          <p:cNvPr id="5565" name="Google Shape;5565;p110"/>
          <p:cNvSpPr txBox="1"/>
          <p:nvPr/>
        </p:nvSpPr>
        <p:spPr>
          <a:xfrm>
            <a:off x="876300" y="6343507"/>
            <a:ext cx="1001864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Check out the online interactive exercises for more examples: h</a:t>
            </a:r>
            <a:r>
              <a:rPr b="0" i="0" lang="en-US" sz="1200" u="none" cap="none" strike="noStrike">
                <a:solidFill>
                  <a:srgbClr val="000000"/>
                </a:solidFill>
                <a:latin typeface="Arial"/>
                <a:ea typeface="Arial"/>
                <a:cs typeface="Arial"/>
                <a:sym typeface="Arial"/>
              </a:rPr>
              <a:t>ttp://gaia.cs.umass.edu/kurose_ross/interactive/</a:t>
            </a:r>
            <a:endParaRPr/>
          </a:p>
        </p:txBody>
      </p:sp>
      <p:grpSp>
        <p:nvGrpSpPr>
          <p:cNvPr id="5566" name="Google Shape;5566;p110"/>
          <p:cNvGrpSpPr/>
          <p:nvPr/>
        </p:nvGrpSpPr>
        <p:grpSpPr>
          <a:xfrm>
            <a:off x="1304479" y="4827690"/>
            <a:ext cx="10446405" cy="940044"/>
            <a:chOff x="1837879" y="3151290"/>
            <a:chExt cx="10446405" cy="940044"/>
          </a:xfrm>
        </p:grpSpPr>
        <p:sp>
          <p:nvSpPr>
            <p:cNvPr id="5567" name="Google Shape;5567;p110"/>
            <p:cNvSpPr/>
            <p:nvPr/>
          </p:nvSpPr>
          <p:spPr>
            <a:xfrm>
              <a:off x="1837879" y="3151290"/>
              <a:ext cx="9532486" cy="522287"/>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568" name="Google Shape;5568;p110"/>
            <p:cNvSpPr txBox="1"/>
            <p:nvPr/>
          </p:nvSpPr>
          <p:spPr>
            <a:xfrm>
              <a:off x="1837879" y="3151831"/>
              <a:ext cx="1001864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ourier"/>
                <a:buNone/>
              </a:pPr>
              <a:r>
                <a:rPr b="1" i="0" lang="en-US" sz="2400" u="none" cap="none" strike="noStrike">
                  <a:solidFill>
                    <a:srgbClr val="000000"/>
                  </a:solidFill>
                  <a:latin typeface="Courier"/>
                  <a:ea typeface="Courier"/>
                  <a:cs typeface="Courier"/>
                  <a:sym typeface="Courier"/>
                </a:rPr>
                <a:t>DevRTT = </a:t>
              </a:r>
              <a:r>
                <a:rPr b="1" i="0" lang="en-US" sz="2400" u="none" cap="none" strike="noStrike">
                  <a:solidFill>
                    <a:srgbClr val="000000"/>
                  </a:solidFill>
                  <a:latin typeface="Courier New"/>
                  <a:ea typeface="Courier New"/>
                  <a:cs typeface="Courier New"/>
                  <a:sym typeface="Courier New"/>
                </a:rPr>
                <a:t>(1-β)*DevRTT + β*|SampleRTT-EstimatedRTT|</a:t>
              </a:r>
              <a:endParaRPr/>
            </a:p>
          </p:txBody>
        </p:sp>
        <p:sp>
          <p:nvSpPr>
            <p:cNvPr id="5569" name="Google Shape;5569;p110"/>
            <p:cNvSpPr txBox="1"/>
            <p:nvPr/>
          </p:nvSpPr>
          <p:spPr>
            <a:xfrm>
              <a:off x="8898147" y="3694459"/>
              <a:ext cx="338613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(typically, </a:t>
              </a:r>
              <a:r>
                <a:rPr b="0" i="0" lang="en-US" sz="2000" u="none" cap="none" strike="noStrike">
                  <a:solidFill>
                    <a:srgbClr val="000000"/>
                  </a:solidFill>
                  <a:latin typeface="Courier New"/>
                  <a:ea typeface="Courier New"/>
                  <a:cs typeface="Courier New"/>
                  <a:sym typeface="Courier New"/>
                </a:rPr>
                <a:t>β</a:t>
              </a:r>
              <a:r>
                <a:rPr b="1" i="0" lang="en-US" sz="2000" u="none" cap="none" strike="noStrike">
                  <a:solidFill>
                    <a:srgbClr val="000000"/>
                  </a:solidFill>
                  <a:latin typeface="Courier New"/>
                  <a:ea typeface="Courier New"/>
                  <a:cs typeface="Courier New"/>
                  <a:sym typeface="Courier New"/>
                </a:rPr>
                <a:t> </a:t>
              </a:r>
              <a:r>
                <a:rPr b="0" i="0" lang="en-US" sz="2000" u="none" cap="none" strike="noStrike">
                  <a:solidFill>
                    <a:srgbClr val="000000"/>
                  </a:solidFill>
                  <a:latin typeface="Calibri"/>
                  <a:ea typeface="Calibri"/>
                  <a:cs typeface="Calibri"/>
                  <a:sym typeface="Calibri"/>
                </a:rPr>
                <a:t>= 0.25)</a:t>
              </a:r>
              <a:endParaRPr/>
            </a:p>
          </p:txBody>
        </p:sp>
      </p:grpSp>
      <p:sp>
        <p:nvSpPr>
          <p:cNvPr id="5570" name="Google Shape;5570;p110"/>
          <p:cNvSpPr txBox="1"/>
          <p:nvPr/>
        </p:nvSpPr>
        <p:spPr>
          <a:xfrm>
            <a:off x="660538" y="4192141"/>
            <a:ext cx="11327678" cy="54496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1" i="0" lang="en-US" sz="2800" u="none" cap="none" strike="noStrike">
                <a:solidFill>
                  <a:srgbClr val="000000"/>
                </a:solidFill>
                <a:latin typeface="Courier New"/>
                <a:ea typeface="Courier New"/>
                <a:cs typeface="Courier New"/>
                <a:sym typeface="Courier New"/>
              </a:rPr>
              <a:t>DevRTT</a:t>
            </a:r>
            <a:r>
              <a:rPr b="0" i="0" lang="en-US" sz="2800" u="none" cap="none" strike="noStrike">
                <a:solidFill>
                  <a:srgbClr val="000000"/>
                </a:solidFill>
                <a:latin typeface="Calibri"/>
                <a:ea typeface="Calibri"/>
                <a:cs typeface="Calibri"/>
                <a:sym typeface="Calibri"/>
              </a:rPr>
              <a:t>: EWMA of </a:t>
            </a:r>
            <a:r>
              <a:rPr b="1" i="0" lang="en-US" sz="2800" u="none" cap="none" strike="noStrike">
                <a:solidFill>
                  <a:srgbClr val="000000"/>
                </a:solidFill>
                <a:latin typeface="Courier"/>
                <a:ea typeface="Courier"/>
                <a:cs typeface="Courier"/>
                <a:sym typeface="Courier"/>
              </a:rPr>
              <a:t>SampleRTT </a:t>
            </a:r>
            <a:r>
              <a:rPr b="0" i="0" lang="en-US" sz="2800" u="none" cap="none" strike="noStrike">
                <a:solidFill>
                  <a:srgbClr val="000000"/>
                </a:solidFill>
                <a:latin typeface="Calibri"/>
                <a:ea typeface="Calibri"/>
                <a:cs typeface="Calibri"/>
                <a:sym typeface="Calibri"/>
              </a:rPr>
              <a:t>deviation from </a:t>
            </a:r>
            <a:r>
              <a:rPr b="1" i="0" lang="en-US" sz="2800" u="none" cap="none" strike="noStrike">
                <a:solidFill>
                  <a:srgbClr val="000000"/>
                </a:solidFill>
                <a:latin typeface="Courier"/>
                <a:ea typeface="Courier"/>
                <a:cs typeface="Courier"/>
                <a:sym typeface="Courier"/>
              </a:rPr>
              <a:t>EstimatedRTT</a:t>
            </a:r>
            <a:r>
              <a:rPr b="0" i="0" lang="en-US" sz="2800" u="none" cap="none" strike="noStrike">
                <a:solidFill>
                  <a:srgbClr val="000000"/>
                </a:solidFill>
                <a:latin typeface="Calibri"/>
                <a:ea typeface="Calibri"/>
                <a:cs typeface="Calibri"/>
                <a:sym typeface="Calibri"/>
              </a:rPr>
              <a:t>: </a:t>
            </a:r>
            <a:endParaRPr/>
          </a:p>
        </p:txBody>
      </p:sp>
      <p:sp>
        <p:nvSpPr>
          <p:cNvPr id="5571" name="Google Shape;5571;p11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57"/>
                                        </p:tgtEl>
                                        <p:attrNameLst>
                                          <p:attrName>style.visibility</p:attrName>
                                        </p:attrNameLst>
                                      </p:cBhvr>
                                      <p:to>
                                        <p:strVal val="visible"/>
                                      </p:to>
                                    </p:set>
                                    <p:animEffect filter="fade" transition="in">
                                      <p:cBhvr>
                                        <p:cTn dur="500"/>
                                        <p:tgtEl>
                                          <p:spTgt spid="55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0"/>
                                        </p:tgtEl>
                                        <p:attrNameLst>
                                          <p:attrName>style.visibility</p:attrName>
                                        </p:attrNameLst>
                                      </p:cBhvr>
                                      <p:to>
                                        <p:strVal val="visible"/>
                                      </p:to>
                                    </p:set>
                                    <p:animEffect filter="fade" transition="in">
                                      <p:cBhvr>
                                        <p:cTn dur="500"/>
                                        <p:tgtEl>
                                          <p:spTgt spid="55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66"/>
                                        </p:tgtEl>
                                        <p:attrNameLst>
                                          <p:attrName>style.visibility</p:attrName>
                                        </p:attrNameLst>
                                      </p:cBhvr>
                                      <p:to>
                                        <p:strVal val="visible"/>
                                      </p:to>
                                    </p:set>
                                    <p:animEffect filter="fade" transition="in">
                                      <p:cBhvr>
                                        <p:cTn dur="500"/>
                                        <p:tgtEl>
                                          <p:spTgt spid="55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6" name="Shape 5576"/>
        <p:cNvGrpSpPr/>
        <p:nvPr/>
      </p:nvGrpSpPr>
      <p:grpSpPr>
        <a:xfrm>
          <a:off x="0" y="0"/>
          <a:ext cx="0" cy="0"/>
          <a:chOff x="0" y="0"/>
          <a:chExt cx="0" cy="0"/>
        </a:xfrm>
      </p:grpSpPr>
      <p:sp>
        <p:nvSpPr>
          <p:cNvPr id="5577" name="Google Shape;5577;p111"/>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Sender </a:t>
            </a:r>
            <a:r>
              <a:rPr lang="en-US" sz="3600"/>
              <a:t>(simplified)</a:t>
            </a:r>
            <a:endParaRPr b="0" sz="4400"/>
          </a:p>
        </p:txBody>
      </p:sp>
      <p:sp>
        <p:nvSpPr>
          <p:cNvPr id="5578" name="Google Shape;5578;p111"/>
          <p:cNvSpPr txBox="1"/>
          <p:nvPr/>
        </p:nvSpPr>
        <p:spPr>
          <a:xfrm>
            <a:off x="798690" y="1384386"/>
            <a:ext cx="4953000" cy="4648200"/>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event: data received from application</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create segment with seq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seq # is byte-stream number of first data byte in  segment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start timer if not already running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think of timer as for oldest unACKed segment</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expiration interval: </a:t>
            </a:r>
            <a:r>
              <a:rPr b="1" i="0" lang="en-US" sz="2400" u="none" cap="none" strike="noStrike">
                <a:solidFill>
                  <a:srgbClr val="000000"/>
                </a:solidFill>
                <a:latin typeface="Courier New"/>
                <a:ea typeface="Courier New"/>
                <a:cs typeface="Courier New"/>
                <a:sym typeface="Courier New"/>
              </a:rPr>
              <a:t>TimeOutInterval</a:t>
            </a:r>
            <a:r>
              <a:rPr b="0" i="0" lang="en-US" sz="2400" u="none" cap="none" strike="noStrike">
                <a:solidFill>
                  <a:srgbClr val="000000"/>
                </a:solidFill>
                <a:latin typeface="Courier New"/>
                <a:ea typeface="Courier New"/>
                <a:cs typeface="Courier New"/>
                <a:sym typeface="Courier New"/>
              </a:rPr>
              <a:t> </a:t>
            </a:r>
            <a:endParaRPr b="0" i="0" sz="2400" u="none" cap="none" strike="noStrike">
              <a:solidFill>
                <a:srgbClr val="000000"/>
              </a:solidFill>
              <a:latin typeface="Calibri"/>
              <a:ea typeface="Calibri"/>
              <a:cs typeface="Calibri"/>
              <a:sym typeface="Calibri"/>
            </a:endParaRPr>
          </a:p>
        </p:txBody>
      </p:sp>
      <p:sp>
        <p:nvSpPr>
          <p:cNvPr id="5579" name="Google Shape;5579;p111"/>
          <p:cNvSpPr txBox="1"/>
          <p:nvPr/>
        </p:nvSpPr>
        <p:spPr>
          <a:xfrm>
            <a:off x="6728208" y="1446144"/>
            <a:ext cx="3810000" cy="1943100"/>
          </a:xfrm>
          <a:prstGeom prst="rect">
            <a:avLst/>
          </a:prstGeom>
          <a:noFill/>
          <a:ln>
            <a:noFill/>
          </a:ln>
        </p:spPr>
        <p:txBody>
          <a:bodyPr anchorCtr="0" anchor="t" bIns="45700" lIns="91425" spcFirstLastPara="1" rIns="91425" wrap="square" tIns="45700">
            <a:normAutofit fontScale="92500" lnSpcReduction="20000"/>
          </a:bodyPr>
          <a:lstStyle/>
          <a:p>
            <a:pPr indent="0" lvl="0" marL="12700" marR="0" rtl="0" algn="l">
              <a:lnSpc>
                <a:spcPct val="90000"/>
              </a:lnSpc>
              <a:spcBef>
                <a:spcPts val="0"/>
              </a:spcBef>
              <a:spcAft>
                <a:spcPts val="0"/>
              </a:spcAft>
              <a:buClr>
                <a:srgbClr val="0000A3"/>
              </a:buClr>
              <a:buSzPct val="100000"/>
              <a:buFont typeface="Noto Sans Symbols"/>
              <a:buNone/>
            </a:pPr>
            <a:r>
              <a:rPr b="0" i="1" lang="en-US" sz="3000" u="none" cap="none" strike="noStrike">
                <a:solidFill>
                  <a:srgbClr val="CC0000"/>
                </a:solidFill>
                <a:latin typeface="Calibri"/>
                <a:ea typeface="Calibri"/>
                <a:cs typeface="Calibri"/>
                <a:sym typeface="Calibri"/>
              </a:rPr>
              <a:t>event: timeout</a:t>
            </a:r>
            <a:endParaRPr/>
          </a:p>
          <a:p>
            <a:pPr indent="-222250" lvl="0" marL="352425" marR="0" rtl="0" algn="l">
              <a:lnSpc>
                <a:spcPct val="90000"/>
              </a:lnSpc>
              <a:spcBef>
                <a:spcPts val="10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retransmit segment that caused timeout</a:t>
            </a:r>
            <a:endParaRPr/>
          </a:p>
          <a:p>
            <a:pPr indent="-222250" lvl="0" marL="352425" marR="0" rtl="0" algn="l">
              <a:lnSpc>
                <a:spcPct val="90000"/>
              </a:lnSpc>
              <a:spcBef>
                <a:spcPts val="10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restart timer</a:t>
            </a:r>
            <a:endParaRPr/>
          </a:p>
          <a:p>
            <a:pPr indent="-222250" lvl="0" marL="352425" marR="0" rtl="0" algn="l">
              <a:lnSpc>
                <a:spcPct val="90000"/>
              </a:lnSpc>
              <a:spcBef>
                <a:spcPts val="1000"/>
              </a:spcBef>
              <a:spcAft>
                <a:spcPts val="0"/>
              </a:spcAft>
              <a:buClr>
                <a:srgbClr val="0000A3"/>
              </a:buClr>
              <a:buSzPct val="100000"/>
              <a:buFont typeface="Noto Sans Symbols"/>
              <a:buNone/>
            </a:pPr>
            <a:r>
              <a:rPr b="0" i="0" lang="en-US" sz="2800" u="none" cap="none" strike="noStrike">
                <a:solidFill>
                  <a:srgbClr val="000000"/>
                </a:solidFill>
                <a:latin typeface="Calibri"/>
                <a:ea typeface="Calibri"/>
                <a:cs typeface="Calibri"/>
                <a:sym typeface="Calibri"/>
              </a:rPr>
              <a:t> </a:t>
            </a:r>
            <a:endParaRPr/>
          </a:p>
        </p:txBody>
      </p:sp>
      <p:sp>
        <p:nvSpPr>
          <p:cNvPr id="5580" name="Google Shape;5580;p111"/>
          <p:cNvSpPr txBox="1"/>
          <p:nvPr/>
        </p:nvSpPr>
        <p:spPr>
          <a:xfrm>
            <a:off x="6728208" y="3392552"/>
            <a:ext cx="4920453" cy="3193774"/>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2800"/>
              <a:buFont typeface="Noto Sans Symbols"/>
              <a:buNone/>
            </a:pPr>
            <a:r>
              <a:rPr b="0" i="1" lang="en-US" sz="2800" u="none" cap="none" strike="noStrike">
                <a:solidFill>
                  <a:srgbClr val="CC0000"/>
                </a:solidFill>
                <a:latin typeface="Calibri"/>
                <a:ea typeface="Calibri"/>
                <a:cs typeface="Calibri"/>
                <a:sym typeface="Calibri"/>
              </a:rPr>
              <a:t>event: ACK received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if ACK acknowledges previously unACKed segments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update what is known to be ACKed</a:t>
            </a:r>
            <a:endParaRPr b="0" i="0" sz="2400" u="none" cap="none" strike="noStrike">
              <a:solidFill>
                <a:srgbClr val="00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start timer if there are  still unACKed segments</a:t>
            </a:r>
            <a:endParaRPr/>
          </a:p>
          <a:p>
            <a:pPr indent="-231775" lvl="1" marL="695325" marR="0" rtl="0" algn="l">
              <a:lnSpc>
                <a:spcPct val="90000"/>
              </a:lnSpc>
              <a:spcBef>
                <a:spcPts val="500"/>
              </a:spcBef>
              <a:spcAft>
                <a:spcPts val="0"/>
              </a:spcAft>
              <a:buClr>
                <a:srgbClr val="0000A8"/>
              </a:buClr>
              <a:buSzPts val="2400"/>
              <a:buFont typeface="Noto Sans Symbols"/>
              <a:buNone/>
            </a:pPr>
            <a:r>
              <a:t/>
            </a:r>
            <a:endParaRPr b="0" i="0" sz="2400" u="none" cap="none" strike="noStrike">
              <a:solidFill>
                <a:srgbClr val="000000"/>
              </a:solidFill>
              <a:latin typeface="Calibri"/>
              <a:ea typeface="Calibri"/>
              <a:cs typeface="Calibri"/>
              <a:sym typeface="Calibri"/>
            </a:endParaRPr>
          </a:p>
        </p:txBody>
      </p:sp>
      <p:sp>
        <p:nvSpPr>
          <p:cNvPr id="5581" name="Google Shape;5581;p11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9"/>
                                        </p:tgtEl>
                                        <p:attrNameLst>
                                          <p:attrName>style.visibility</p:attrName>
                                        </p:attrNameLst>
                                      </p:cBhvr>
                                      <p:to>
                                        <p:strVal val="visible"/>
                                      </p:to>
                                    </p:set>
                                    <p:animEffect filter="fade" transition="in">
                                      <p:cBhvr>
                                        <p:cTn dur="500"/>
                                        <p:tgtEl>
                                          <p:spTgt spid="55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0"/>
                                        </p:tgtEl>
                                        <p:attrNameLst>
                                          <p:attrName>style.visibility</p:attrName>
                                        </p:attrNameLst>
                                      </p:cBhvr>
                                      <p:to>
                                        <p:strVal val="visible"/>
                                      </p:to>
                                    </p:set>
                                    <p:animEffect filter="fade" transition="in">
                                      <p:cBhvr>
                                        <p:cTn dur="500"/>
                                        <p:tgtEl>
                                          <p:spTgt spid="55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6" name="Shape 5586"/>
        <p:cNvGrpSpPr/>
        <p:nvPr/>
      </p:nvGrpSpPr>
      <p:grpSpPr>
        <a:xfrm>
          <a:off x="0" y="0"/>
          <a:ext cx="0" cy="0"/>
          <a:chOff x="0" y="0"/>
          <a:chExt cx="0" cy="0"/>
        </a:xfrm>
      </p:grpSpPr>
      <p:sp>
        <p:nvSpPr>
          <p:cNvPr id="5587" name="Google Shape;5587;p112"/>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Receiver: ACK generation </a:t>
            </a:r>
            <a:r>
              <a:rPr b="0" lang="en-US" sz="2400"/>
              <a:t>[RFC 5681]</a:t>
            </a:r>
            <a:endParaRPr b="0" sz="4400"/>
          </a:p>
        </p:txBody>
      </p:sp>
      <p:sp>
        <p:nvSpPr>
          <p:cNvPr id="5588" name="Google Shape;5588;p112"/>
          <p:cNvSpPr txBox="1"/>
          <p:nvPr/>
        </p:nvSpPr>
        <p:spPr>
          <a:xfrm>
            <a:off x="2143953" y="1439289"/>
            <a:ext cx="3496406" cy="506446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Event at receiver</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in-order segment with</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expected seq #. All data up to</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expected seq # already ACKed</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in-order segment with</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expected seq #. One other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segment has ACK pending</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out-of-order segment</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higher-than-expect seq. #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Gap detected</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 of segment that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partially or completely fills gap</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050"/>
              <a:buFont typeface="Tahoma"/>
              <a:buNone/>
            </a:pPr>
            <a:r>
              <a:t/>
            </a:r>
            <a:endParaRPr b="0" i="0" sz="1050" u="none" cap="none" strike="noStrike">
              <a:solidFill>
                <a:srgbClr val="000000"/>
              </a:solidFill>
              <a:latin typeface="Calibri"/>
              <a:ea typeface="Calibri"/>
              <a:cs typeface="Calibri"/>
              <a:sym typeface="Calibri"/>
            </a:endParaRPr>
          </a:p>
        </p:txBody>
      </p:sp>
      <p:sp>
        <p:nvSpPr>
          <p:cNvPr id="5589" name="Google Shape;5589;p112"/>
          <p:cNvSpPr txBox="1"/>
          <p:nvPr/>
        </p:nvSpPr>
        <p:spPr>
          <a:xfrm>
            <a:off x="5906328" y="1429764"/>
            <a:ext cx="4189545" cy="506446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TCP receiver action</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1" sz="2000" u="none" cap="none" strike="noStrike">
              <a:solidFill>
                <a:srgbClr val="CC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delayed ACK. Wait up to 500ms</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for next segment. If no next segment,</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send ACK</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immediately send single cumulative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ACK, ACKing both in-order segments </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immediately send </a:t>
            </a:r>
            <a:r>
              <a:rPr b="0" i="1" lang="en-US" sz="2000" u="none" cap="none" strike="noStrike">
                <a:solidFill>
                  <a:srgbClr val="CC0000"/>
                </a:solidFill>
                <a:latin typeface="Calibri"/>
                <a:ea typeface="Calibri"/>
                <a:cs typeface="Calibri"/>
                <a:sym typeface="Calibri"/>
              </a:rPr>
              <a:t>duplicate ACK</a:t>
            </a:r>
            <a:r>
              <a:rPr b="0" i="0" lang="en-US" sz="2000" u="none" cap="none" strike="noStrike">
                <a:solidFill>
                  <a:srgbClr val="CC0000"/>
                </a:solidFill>
                <a:latin typeface="Calibri"/>
                <a:ea typeface="Calibri"/>
                <a:cs typeface="Calibri"/>
                <a:sym typeface="Calibri"/>
              </a:rPr>
              <a:t>,</a:t>
            </a:r>
            <a:r>
              <a:rPr b="0" i="0" lang="en-US" sz="2000" u="none" cap="none" strike="noStrike">
                <a:solidFill>
                  <a:srgbClr val="000000"/>
                </a:solidFill>
                <a:latin typeface="Calibri"/>
                <a:ea typeface="Calibri"/>
                <a:cs typeface="Calibri"/>
                <a:sym typeface="Calibri"/>
              </a:rPr>
              <a:t> </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indicating seq. # of next expected byte</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immediate send ACK, provided that</a:t>
            </a:r>
            <a:endParaRPr/>
          </a:p>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segment starts at lower end of gap</a:t>
            </a:r>
            <a:endParaRPr/>
          </a:p>
          <a:p>
            <a:pPr indent="0" lvl="0" marL="0" marR="0" rtl="0" algn="l">
              <a:lnSpc>
                <a:spcPct val="9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050"/>
              <a:buFont typeface="Tahoma"/>
              <a:buNone/>
            </a:pPr>
            <a:r>
              <a:t/>
            </a:r>
            <a:endParaRPr b="0" i="0" sz="1050" u="none" cap="none" strike="noStrike">
              <a:solidFill>
                <a:srgbClr val="000000"/>
              </a:solidFill>
              <a:latin typeface="Calibri"/>
              <a:ea typeface="Calibri"/>
              <a:cs typeface="Calibri"/>
              <a:sym typeface="Calibri"/>
            </a:endParaRPr>
          </a:p>
        </p:txBody>
      </p:sp>
      <p:cxnSp>
        <p:nvCxnSpPr>
          <p:cNvPr id="5590" name="Google Shape;5590;p112"/>
          <p:cNvCxnSpPr/>
          <p:nvPr/>
        </p:nvCxnSpPr>
        <p:spPr>
          <a:xfrm>
            <a:off x="5715828" y="1590101"/>
            <a:ext cx="0" cy="4352925"/>
          </a:xfrm>
          <a:prstGeom prst="straightConnector1">
            <a:avLst/>
          </a:prstGeom>
          <a:noFill/>
          <a:ln cap="flat" cmpd="sng" w="28575">
            <a:solidFill>
              <a:srgbClr val="000099"/>
            </a:solidFill>
            <a:prstDash val="solid"/>
            <a:round/>
            <a:headEnd len="med" w="med" type="none"/>
            <a:tailEnd len="med" w="med" type="none"/>
          </a:ln>
        </p:spPr>
      </p:cxnSp>
      <p:cxnSp>
        <p:nvCxnSpPr>
          <p:cNvPr id="5591" name="Google Shape;5591;p112"/>
          <p:cNvCxnSpPr/>
          <p:nvPr/>
        </p:nvCxnSpPr>
        <p:spPr>
          <a:xfrm>
            <a:off x="2159828" y="2029839"/>
            <a:ext cx="7494588" cy="0"/>
          </a:xfrm>
          <a:prstGeom prst="straightConnector1">
            <a:avLst/>
          </a:prstGeom>
          <a:noFill/>
          <a:ln cap="flat" cmpd="sng" w="28575">
            <a:solidFill>
              <a:srgbClr val="000099"/>
            </a:solidFill>
            <a:prstDash val="solid"/>
            <a:round/>
            <a:headEnd len="med" w="med" type="none"/>
            <a:tailEnd len="med" w="med" type="none"/>
          </a:ln>
        </p:spPr>
      </p:cxnSp>
      <p:cxnSp>
        <p:nvCxnSpPr>
          <p:cNvPr id="5592" name="Google Shape;5592;p112"/>
          <p:cNvCxnSpPr/>
          <p:nvPr/>
        </p:nvCxnSpPr>
        <p:spPr>
          <a:xfrm>
            <a:off x="2143953" y="3083939"/>
            <a:ext cx="7494588" cy="0"/>
          </a:xfrm>
          <a:prstGeom prst="straightConnector1">
            <a:avLst/>
          </a:prstGeom>
          <a:noFill/>
          <a:ln cap="flat" cmpd="sng" w="28575">
            <a:solidFill>
              <a:srgbClr val="000099"/>
            </a:solidFill>
            <a:prstDash val="solid"/>
            <a:round/>
            <a:headEnd len="med" w="med" type="none"/>
            <a:tailEnd len="med" w="med" type="none"/>
          </a:ln>
        </p:spPr>
      </p:cxnSp>
      <p:cxnSp>
        <p:nvCxnSpPr>
          <p:cNvPr id="5593" name="Google Shape;5593;p112"/>
          <p:cNvCxnSpPr/>
          <p:nvPr/>
        </p:nvCxnSpPr>
        <p:spPr>
          <a:xfrm>
            <a:off x="2161416" y="4182489"/>
            <a:ext cx="7494587" cy="0"/>
          </a:xfrm>
          <a:prstGeom prst="straightConnector1">
            <a:avLst/>
          </a:prstGeom>
          <a:noFill/>
          <a:ln cap="flat" cmpd="sng" w="28575">
            <a:solidFill>
              <a:srgbClr val="000099"/>
            </a:solidFill>
            <a:prstDash val="solid"/>
            <a:round/>
            <a:headEnd len="med" w="med" type="none"/>
            <a:tailEnd len="med" w="med" type="none"/>
          </a:ln>
        </p:spPr>
      </p:cxnSp>
      <p:cxnSp>
        <p:nvCxnSpPr>
          <p:cNvPr id="5594" name="Google Shape;5594;p112"/>
          <p:cNvCxnSpPr/>
          <p:nvPr/>
        </p:nvCxnSpPr>
        <p:spPr>
          <a:xfrm>
            <a:off x="2155066" y="5271514"/>
            <a:ext cx="7494587" cy="0"/>
          </a:xfrm>
          <a:prstGeom prst="straightConnector1">
            <a:avLst/>
          </a:prstGeom>
          <a:noFill/>
          <a:ln cap="flat" cmpd="sng" w="28575">
            <a:solidFill>
              <a:srgbClr val="000099"/>
            </a:solidFill>
            <a:prstDash val="solid"/>
            <a:round/>
            <a:headEnd len="med" w="med" type="none"/>
            <a:tailEnd len="med" w="med" type="none"/>
          </a:ln>
        </p:spPr>
      </p:cxnSp>
      <p:sp>
        <p:nvSpPr>
          <p:cNvPr id="5595" name="Google Shape;5595;p11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0" name="Shape 5600"/>
        <p:cNvGrpSpPr/>
        <p:nvPr/>
      </p:nvGrpSpPr>
      <p:grpSpPr>
        <a:xfrm>
          <a:off x="0" y="0"/>
          <a:ext cx="0" cy="0"/>
          <a:chOff x="0" y="0"/>
          <a:chExt cx="0" cy="0"/>
        </a:xfrm>
      </p:grpSpPr>
      <p:sp>
        <p:nvSpPr>
          <p:cNvPr id="5601" name="Google Shape;5601;p113"/>
          <p:cNvSpPr txBox="1"/>
          <p:nvPr>
            <p:ph idx="11" type="ftr"/>
          </p:nvPr>
        </p:nvSpPr>
        <p:spPr>
          <a:xfrm>
            <a:off x="5576888" y="6445250"/>
            <a:ext cx="28956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Transport</a:t>
            </a:r>
            <a:r>
              <a:rPr lang="en-US" sz="1400">
                <a:solidFill>
                  <a:schemeClr val="dk1"/>
                </a:solidFill>
                <a:latin typeface="Tahoma"/>
                <a:ea typeface="Tahoma"/>
                <a:cs typeface="Tahoma"/>
                <a:sym typeface="Tahoma"/>
              </a:rPr>
              <a:t> </a:t>
            </a:r>
            <a:r>
              <a:rPr lang="en-US" sz="1200">
                <a:solidFill>
                  <a:schemeClr val="dk1"/>
                </a:solidFill>
                <a:latin typeface="Tahoma"/>
                <a:ea typeface="Tahoma"/>
                <a:cs typeface="Tahoma"/>
                <a:sym typeface="Tahoma"/>
              </a:rPr>
              <a:t>Layer</a:t>
            </a:r>
            <a:endParaRPr sz="1200">
              <a:solidFill>
                <a:schemeClr val="dk1"/>
              </a:solidFill>
              <a:latin typeface="Tahoma"/>
              <a:ea typeface="Tahoma"/>
              <a:cs typeface="Tahoma"/>
              <a:sym typeface="Tahoma"/>
            </a:endParaRPr>
          </a:p>
        </p:txBody>
      </p:sp>
      <p:sp>
        <p:nvSpPr>
          <p:cNvPr id="5602" name="Google Shape;5602;p113"/>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3-</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5603" name="Google Shape;5603;p113"/>
          <p:cNvSpPr txBox="1"/>
          <p:nvPr>
            <p:ph type="title"/>
          </p:nvPr>
        </p:nvSpPr>
        <p:spPr>
          <a:xfrm>
            <a:off x="2000250" y="238126"/>
            <a:ext cx="7772400" cy="9048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000"/>
              <a:buFont typeface="Calibri"/>
              <a:buNone/>
            </a:pPr>
            <a:r>
              <a:rPr lang="en-US" sz="4000"/>
              <a:t>TCP: retransmission scenarios</a:t>
            </a:r>
            <a:endParaRPr/>
          </a:p>
        </p:txBody>
      </p:sp>
      <p:sp>
        <p:nvSpPr>
          <p:cNvPr id="5604" name="Google Shape;5604;p113"/>
          <p:cNvSpPr txBox="1"/>
          <p:nvPr/>
        </p:nvSpPr>
        <p:spPr>
          <a:xfrm>
            <a:off x="2665414" y="5946775"/>
            <a:ext cx="2205037" cy="3698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Tahoma"/>
                <a:ea typeface="Tahoma"/>
                <a:cs typeface="Tahoma"/>
                <a:sym typeface="Tahoma"/>
              </a:rPr>
              <a:t>a. lost ACK scenario</a:t>
            </a:r>
            <a:endParaRPr sz="1000">
              <a:solidFill>
                <a:schemeClr val="dk1"/>
              </a:solidFill>
              <a:latin typeface="Tahoma"/>
              <a:ea typeface="Tahoma"/>
              <a:cs typeface="Tahoma"/>
              <a:sym typeface="Tahoma"/>
            </a:endParaRPr>
          </a:p>
        </p:txBody>
      </p:sp>
      <p:cxnSp>
        <p:nvCxnSpPr>
          <p:cNvPr id="5605" name="Google Shape;5605;p113"/>
          <p:cNvCxnSpPr/>
          <p:nvPr/>
        </p:nvCxnSpPr>
        <p:spPr>
          <a:xfrm>
            <a:off x="2589214" y="4184651"/>
            <a:ext cx="2351087" cy="506413"/>
          </a:xfrm>
          <a:prstGeom prst="straightConnector1">
            <a:avLst/>
          </a:prstGeom>
          <a:noFill/>
          <a:ln cap="flat" cmpd="sng" w="28575">
            <a:solidFill>
              <a:schemeClr val="accent2"/>
            </a:solidFill>
            <a:prstDash val="solid"/>
            <a:round/>
            <a:headEnd len="med" w="med" type="none"/>
            <a:tailEnd len="med" w="med" type="triangle"/>
          </a:ln>
        </p:spPr>
      </p:cxnSp>
      <p:cxnSp>
        <p:nvCxnSpPr>
          <p:cNvPr id="5606" name="Google Shape;5606;p113"/>
          <p:cNvCxnSpPr/>
          <p:nvPr/>
        </p:nvCxnSpPr>
        <p:spPr>
          <a:xfrm>
            <a:off x="2601914" y="2416175"/>
            <a:ext cx="2346325" cy="571500"/>
          </a:xfrm>
          <a:prstGeom prst="straightConnector1">
            <a:avLst/>
          </a:prstGeom>
          <a:noFill/>
          <a:ln cap="flat" cmpd="sng" w="28575">
            <a:solidFill>
              <a:schemeClr val="accent2"/>
            </a:solidFill>
            <a:prstDash val="solid"/>
            <a:round/>
            <a:headEnd len="med" w="med" type="none"/>
            <a:tailEnd len="med" w="med" type="triangle"/>
          </a:ln>
        </p:spPr>
      </p:cxnSp>
      <p:cxnSp>
        <p:nvCxnSpPr>
          <p:cNvPr id="5607" name="Google Shape;5607;p113"/>
          <p:cNvCxnSpPr/>
          <p:nvPr/>
        </p:nvCxnSpPr>
        <p:spPr>
          <a:xfrm flipH="1">
            <a:off x="3638551" y="3078164"/>
            <a:ext cx="1273175" cy="427037"/>
          </a:xfrm>
          <a:prstGeom prst="straightConnector1">
            <a:avLst/>
          </a:prstGeom>
          <a:noFill/>
          <a:ln cap="flat" cmpd="sng" w="28575">
            <a:solidFill>
              <a:schemeClr val="accent2"/>
            </a:solidFill>
            <a:prstDash val="solid"/>
            <a:round/>
            <a:headEnd len="med" w="med" type="none"/>
            <a:tailEnd len="med" w="med" type="triangle"/>
          </a:ln>
        </p:spPr>
      </p:cxnSp>
      <p:sp>
        <p:nvSpPr>
          <p:cNvPr id="5608" name="Google Shape;5608;p113"/>
          <p:cNvSpPr txBox="1"/>
          <p:nvPr/>
        </p:nvSpPr>
        <p:spPr>
          <a:xfrm>
            <a:off x="4540251" y="1257300"/>
            <a:ext cx="7731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Host B</a:t>
            </a:r>
            <a:endParaRPr/>
          </a:p>
        </p:txBody>
      </p:sp>
      <p:sp>
        <p:nvSpPr>
          <p:cNvPr id="5609" name="Google Shape;5609;p113"/>
          <p:cNvSpPr txBox="1"/>
          <p:nvPr/>
        </p:nvSpPr>
        <p:spPr>
          <a:xfrm>
            <a:off x="2206625" y="1274763"/>
            <a:ext cx="776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Host A</a:t>
            </a:r>
            <a:endParaRPr/>
          </a:p>
        </p:txBody>
      </p:sp>
      <p:sp>
        <p:nvSpPr>
          <p:cNvPr id="5610" name="Google Shape;5610;p113"/>
          <p:cNvSpPr/>
          <p:nvPr/>
        </p:nvSpPr>
        <p:spPr>
          <a:xfrm>
            <a:off x="3305175" y="2497139"/>
            <a:ext cx="869950" cy="40163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611" name="Google Shape;5611;p113"/>
          <p:cNvSpPr txBox="1"/>
          <p:nvPr/>
        </p:nvSpPr>
        <p:spPr>
          <a:xfrm>
            <a:off x="2736030" y="2549526"/>
            <a:ext cx="2106667"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Seq=92, 8 bytes of data</a:t>
            </a:r>
            <a:endParaRPr/>
          </a:p>
        </p:txBody>
      </p:sp>
      <p:sp>
        <p:nvSpPr>
          <p:cNvPr id="5612" name="Google Shape;5612;p113"/>
          <p:cNvSpPr/>
          <p:nvPr/>
        </p:nvSpPr>
        <p:spPr>
          <a:xfrm>
            <a:off x="3873501" y="3163888"/>
            <a:ext cx="747713" cy="24606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613" name="Google Shape;5613;p113"/>
          <p:cNvSpPr txBox="1"/>
          <p:nvPr/>
        </p:nvSpPr>
        <p:spPr>
          <a:xfrm>
            <a:off x="3794126" y="3119438"/>
            <a:ext cx="9493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ACK=100</a:t>
            </a:r>
            <a:endParaRPr sz="1000">
              <a:solidFill>
                <a:schemeClr val="dk1"/>
              </a:solidFill>
              <a:latin typeface="Times New Roman"/>
              <a:ea typeface="Times New Roman"/>
              <a:cs typeface="Times New Roman"/>
              <a:sym typeface="Times New Roman"/>
            </a:endParaRPr>
          </a:p>
        </p:txBody>
      </p:sp>
      <p:cxnSp>
        <p:nvCxnSpPr>
          <p:cNvPr id="5614" name="Google Shape;5614;p113"/>
          <p:cNvCxnSpPr/>
          <p:nvPr/>
        </p:nvCxnSpPr>
        <p:spPr>
          <a:xfrm>
            <a:off x="2581275" y="2174875"/>
            <a:ext cx="0" cy="3525838"/>
          </a:xfrm>
          <a:prstGeom prst="straightConnector1">
            <a:avLst/>
          </a:prstGeom>
          <a:noFill/>
          <a:ln cap="flat" cmpd="sng" w="9525">
            <a:solidFill>
              <a:schemeClr val="lt2"/>
            </a:solidFill>
            <a:prstDash val="solid"/>
            <a:round/>
            <a:headEnd len="med" w="med" type="none"/>
            <a:tailEnd len="med" w="med" type="none"/>
          </a:ln>
        </p:spPr>
      </p:cxnSp>
      <p:cxnSp>
        <p:nvCxnSpPr>
          <p:cNvPr id="5615" name="Google Shape;5615;p113"/>
          <p:cNvCxnSpPr/>
          <p:nvPr/>
        </p:nvCxnSpPr>
        <p:spPr>
          <a:xfrm>
            <a:off x="5008563" y="2170114"/>
            <a:ext cx="0" cy="3538537"/>
          </a:xfrm>
          <a:prstGeom prst="straightConnector1">
            <a:avLst/>
          </a:prstGeom>
          <a:noFill/>
          <a:ln cap="flat" cmpd="sng" w="9525">
            <a:solidFill>
              <a:schemeClr val="lt2"/>
            </a:solidFill>
            <a:prstDash val="solid"/>
            <a:round/>
            <a:headEnd len="med" w="med" type="none"/>
            <a:tailEnd len="med" w="med" type="none"/>
          </a:ln>
        </p:spPr>
      </p:cxnSp>
      <p:sp>
        <p:nvSpPr>
          <p:cNvPr id="5616" name="Google Shape;5616;p113"/>
          <p:cNvSpPr/>
          <p:nvPr/>
        </p:nvSpPr>
        <p:spPr>
          <a:xfrm>
            <a:off x="3198813" y="4178301"/>
            <a:ext cx="989012" cy="43021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617" name="Google Shape;5617;p113"/>
          <p:cNvSpPr txBox="1"/>
          <p:nvPr/>
        </p:nvSpPr>
        <p:spPr>
          <a:xfrm>
            <a:off x="2724918" y="4259264"/>
            <a:ext cx="2106667"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Seq=92, 8 bytes of data</a:t>
            </a:r>
            <a:endParaRPr/>
          </a:p>
        </p:txBody>
      </p:sp>
      <p:sp>
        <p:nvSpPr>
          <p:cNvPr id="5618" name="Google Shape;5618;p113"/>
          <p:cNvSpPr txBox="1"/>
          <p:nvPr/>
        </p:nvSpPr>
        <p:spPr>
          <a:xfrm>
            <a:off x="3427414" y="3309939"/>
            <a:ext cx="3587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000"/>
              <a:buFont typeface="Noto Sans Symbols"/>
              <a:buNone/>
            </a:pPr>
            <a:r>
              <a:rPr b="1" lang="en-US" sz="2000">
                <a:solidFill>
                  <a:srgbClr val="FF0000"/>
                </a:solidFill>
                <a:latin typeface="Tahoma"/>
                <a:ea typeface="Tahoma"/>
                <a:cs typeface="Tahoma"/>
                <a:sym typeface="Tahoma"/>
              </a:rPr>
              <a:t>X</a:t>
            </a:r>
            <a:endParaRPr/>
          </a:p>
        </p:txBody>
      </p:sp>
      <p:sp>
        <p:nvSpPr>
          <p:cNvPr id="5619" name="Google Shape;5619;p113"/>
          <p:cNvSpPr txBox="1"/>
          <p:nvPr/>
        </p:nvSpPr>
        <p:spPr>
          <a:xfrm rot="-5400000">
            <a:off x="2059120" y="3108296"/>
            <a:ext cx="695062"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timeout</a:t>
            </a:r>
            <a:endParaRPr/>
          </a:p>
        </p:txBody>
      </p:sp>
      <p:cxnSp>
        <p:nvCxnSpPr>
          <p:cNvPr id="5620" name="Google Shape;5620;p113"/>
          <p:cNvCxnSpPr/>
          <p:nvPr/>
        </p:nvCxnSpPr>
        <p:spPr>
          <a:xfrm flipH="1">
            <a:off x="2578100" y="4776789"/>
            <a:ext cx="2338388" cy="782637"/>
          </a:xfrm>
          <a:prstGeom prst="straightConnector1">
            <a:avLst/>
          </a:prstGeom>
          <a:noFill/>
          <a:ln cap="flat" cmpd="sng" w="28575">
            <a:solidFill>
              <a:schemeClr val="accent2"/>
            </a:solidFill>
            <a:prstDash val="solid"/>
            <a:round/>
            <a:headEnd len="med" w="med" type="none"/>
            <a:tailEnd len="med" w="med" type="triangle"/>
          </a:ln>
        </p:spPr>
      </p:cxnSp>
      <p:sp>
        <p:nvSpPr>
          <p:cNvPr id="5621" name="Google Shape;5621;p113"/>
          <p:cNvSpPr/>
          <p:nvPr/>
        </p:nvSpPr>
        <p:spPr>
          <a:xfrm>
            <a:off x="3411538" y="5033963"/>
            <a:ext cx="747712" cy="24606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622" name="Google Shape;5622;p113"/>
          <p:cNvSpPr txBox="1"/>
          <p:nvPr/>
        </p:nvSpPr>
        <p:spPr>
          <a:xfrm>
            <a:off x="3332164" y="4989513"/>
            <a:ext cx="9493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ACK=100</a:t>
            </a:r>
            <a:endParaRPr sz="1000">
              <a:solidFill>
                <a:schemeClr val="dk1"/>
              </a:solidFill>
              <a:latin typeface="Times New Roman"/>
              <a:ea typeface="Times New Roman"/>
              <a:cs typeface="Times New Roman"/>
              <a:sym typeface="Times New Roman"/>
            </a:endParaRPr>
          </a:p>
        </p:txBody>
      </p:sp>
      <p:grpSp>
        <p:nvGrpSpPr>
          <p:cNvPr id="5623" name="Google Shape;5623;p113"/>
          <p:cNvGrpSpPr/>
          <p:nvPr/>
        </p:nvGrpSpPr>
        <p:grpSpPr>
          <a:xfrm>
            <a:off x="2349501" y="2420938"/>
            <a:ext cx="104775" cy="508000"/>
            <a:chOff x="3099" y="1749"/>
            <a:chExt cx="66" cy="320"/>
          </a:xfrm>
        </p:grpSpPr>
        <p:cxnSp>
          <p:nvCxnSpPr>
            <p:cNvPr id="5624" name="Google Shape;5624;p113"/>
            <p:cNvCxnSpPr/>
            <p:nvPr/>
          </p:nvCxnSpPr>
          <p:spPr>
            <a:xfrm rot="10800000">
              <a:off x="3129" y="1749"/>
              <a:ext cx="0" cy="320"/>
            </a:xfrm>
            <a:prstGeom prst="straightConnector1">
              <a:avLst/>
            </a:prstGeom>
            <a:noFill/>
            <a:ln cap="flat" cmpd="sng" w="9525">
              <a:solidFill>
                <a:schemeClr val="dk1"/>
              </a:solidFill>
              <a:prstDash val="solid"/>
              <a:round/>
              <a:headEnd len="med" w="med" type="none"/>
              <a:tailEnd len="med" w="med" type="triangle"/>
            </a:ln>
          </p:spPr>
        </p:cxnSp>
        <p:cxnSp>
          <p:nvCxnSpPr>
            <p:cNvPr id="5625" name="Google Shape;5625;p113"/>
            <p:cNvCxnSpPr/>
            <p:nvPr/>
          </p:nvCxnSpPr>
          <p:spPr>
            <a:xfrm>
              <a:off x="3099" y="1752"/>
              <a:ext cx="66" cy="0"/>
            </a:xfrm>
            <a:prstGeom prst="straightConnector1">
              <a:avLst/>
            </a:prstGeom>
            <a:noFill/>
            <a:ln cap="flat" cmpd="sng" w="9525">
              <a:solidFill>
                <a:schemeClr val="dk1"/>
              </a:solidFill>
              <a:prstDash val="solid"/>
              <a:round/>
              <a:headEnd len="med" w="med" type="none"/>
              <a:tailEnd len="med" w="med" type="none"/>
            </a:ln>
          </p:spPr>
        </p:cxnSp>
      </p:grpSp>
      <p:grpSp>
        <p:nvGrpSpPr>
          <p:cNvPr id="5626" name="Google Shape;5626;p113"/>
          <p:cNvGrpSpPr/>
          <p:nvPr/>
        </p:nvGrpSpPr>
        <p:grpSpPr>
          <a:xfrm rot="10800000">
            <a:off x="2333627" y="3652838"/>
            <a:ext cx="104775" cy="508000"/>
            <a:chOff x="3106" y="1756"/>
            <a:chExt cx="66" cy="320"/>
          </a:xfrm>
        </p:grpSpPr>
        <p:cxnSp>
          <p:nvCxnSpPr>
            <p:cNvPr id="5627" name="Google Shape;5627;p113"/>
            <p:cNvCxnSpPr/>
            <p:nvPr/>
          </p:nvCxnSpPr>
          <p:spPr>
            <a:xfrm rot="10800000">
              <a:off x="3136" y="1756"/>
              <a:ext cx="0" cy="320"/>
            </a:xfrm>
            <a:prstGeom prst="straightConnector1">
              <a:avLst/>
            </a:prstGeom>
            <a:noFill/>
            <a:ln cap="flat" cmpd="sng" w="9525">
              <a:solidFill>
                <a:schemeClr val="dk1"/>
              </a:solidFill>
              <a:prstDash val="solid"/>
              <a:round/>
              <a:headEnd len="med" w="med" type="none"/>
              <a:tailEnd len="med" w="med" type="triangle"/>
            </a:ln>
          </p:spPr>
        </p:cxnSp>
        <p:cxnSp>
          <p:nvCxnSpPr>
            <p:cNvPr id="5628" name="Google Shape;5628;p113"/>
            <p:cNvCxnSpPr/>
            <p:nvPr/>
          </p:nvCxnSpPr>
          <p:spPr>
            <a:xfrm>
              <a:off x="3106" y="1759"/>
              <a:ext cx="66" cy="0"/>
            </a:xfrm>
            <a:prstGeom prst="straightConnector1">
              <a:avLst/>
            </a:prstGeom>
            <a:noFill/>
            <a:ln cap="flat" cmpd="sng" w="9525">
              <a:solidFill>
                <a:schemeClr val="dk1"/>
              </a:solidFill>
              <a:prstDash val="solid"/>
              <a:round/>
              <a:headEnd len="med" w="med" type="none"/>
              <a:tailEnd len="med" w="med" type="none"/>
            </a:ln>
          </p:spPr>
        </p:cxnSp>
      </p:grpSp>
      <p:pic>
        <p:nvPicPr>
          <p:cNvPr descr="underline_base" id="5629" name="Google Shape;5629;p113"/>
          <p:cNvPicPr preferRelativeResize="0"/>
          <p:nvPr/>
        </p:nvPicPr>
        <p:blipFill rotWithShape="1">
          <a:blip r:embed="rId3">
            <a:alphaModFix/>
          </a:blip>
          <a:srcRect b="0" l="0" r="0" t="0"/>
          <a:stretch/>
        </p:blipFill>
        <p:spPr>
          <a:xfrm>
            <a:off x="2128838" y="912814"/>
            <a:ext cx="6399212" cy="173037"/>
          </a:xfrm>
          <a:prstGeom prst="rect">
            <a:avLst/>
          </a:prstGeom>
          <a:noFill/>
          <a:ln>
            <a:noFill/>
          </a:ln>
        </p:spPr>
      </p:pic>
      <p:grpSp>
        <p:nvGrpSpPr>
          <p:cNvPr id="5630" name="Google Shape;5630;p113"/>
          <p:cNvGrpSpPr/>
          <p:nvPr/>
        </p:nvGrpSpPr>
        <p:grpSpPr>
          <a:xfrm>
            <a:off x="2171700" y="1547813"/>
            <a:ext cx="630238" cy="533400"/>
            <a:chOff x="-44" y="1473"/>
            <a:chExt cx="981" cy="1105"/>
          </a:xfrm>
        </p:grpSpPr>
        <p:pic>
          <p:nvPicPr>
            <p:cNvPr descr="desktop_computer_stylized_medium" id="5631" name="Google Shape;5631;p113"/>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632" name="Google Shape;5632;p11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633" name="Google Shape;5633;p113"/>
          <p:cNvGrpSpPr/>
          <p:nvPr/>
        </p:nvGrpSpPr>
        <p:grpSpPr>
          <a:xfrm flipH="1">
            <a:off x="4749801" y="1531939"/>
            <a:ext cx="709613" cy="600075"/>
            <a:chOff x="-44" y="1473"/>
            <a:chExt cx="981" cy="1105"/>
          </a:xfrm>
        </p:grpSpPr>
        <p:pic>
          <p:nvPicPr>
            <p:cNvPr descr="desktop_computer_stylized_medium" id="5634" name="Google Shape;5634;p113"/>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635" name="Google Shape;5635;p11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36" name="Google Shape;5636;p113"/>
          <p:cNvSpPr txBox="1"/>
          <p:nvPr/>
        </p:nvSpPr>
        <p:spPr>
          <a:xfrm>
            <a:off x="6199188" y="1185864"/>
            <a:ext cx="4165600" cy="4364037"/>
          </a:xfrm>
          <a:prstGeom prst="rect">
            <a:avLst/>
          </a:prstGeom>
          <a:noFill/>
          <a:ln>
            <a:noFill/>
          </a:ln>
        </p:spPr>
        <p:txBody>
          <a:bodyPr anchorCtr="0" anchor="t" bIns="45700" lIns="91425" spcFirstLastPara="1" rIns="91425" wrap="square" tIns="45700">
            <a:spAutoFit/>
          </a:bodyPr>
          <a:lstStyle/>
          <a:p>
            <a:pPr indent="-285750" lvl="0" marL="285750" marR="0" rtl="0" algn="l">
              <a:lnSpc>
                <a:spcPct val="85000"/>
              </a:lnSpc>
              <a:spcBef>
                <a:spcPts val="0"/>
              </a:spcBef>
              <a:spcAft>
                <a:spcPts val="0"/>
              </a:spcAft>
              <a:buClr>
                <a:srgbClr val="000099"/>
              </a:buClr>
              <a:buSzPts val="1170"/>
              <a:buFont typeface="Noto Sans Symbols"/>
              <a:buChar char="❖"/>
            </a:pPr>
            <a:r>
              <a:rPr lang="en-US" sz="1800">
                <a:solidFill>
                  <a:schemeClr val="dk1"/>
                </a:solidFill>
                <a:latin typeface="Gill Sans"/>
                <a:ea typeface="Gill Sans"/>
                <a:cs typeface="Gill Sans"/>
                <a:sym typeface="Gill Sans"/>
              </a:rPr>
              <a:t>Host A sends a segment to Host B</a:t>
            </a:r>
            <a:endParaRPr/>
          </a:p>
          <a:p>
            <a:pPr indent="-285749" lvl="1" marL="582613" marR="0" rtl="0" algn="l">
              <a:lnSpc>
                <a:spcPct val="85000"/>
              </a:lnSpc>
              <a:spcBef>
                <a:spcPts val="1200"/>
              </a:spcBef>
              <a:spcAft>
                <a:spcPts val="0"/>
              </a:spcAft>
              <a:buClr>
                <a:srgbClr val="000099"/>
              </a:buClr>
              <a:buSzPts val="1600"/>
              <a:buFont typeface="Noto Sans Symbols"/>
              <a:buChar char="▪"/>
            </a:pPr>
            <a:r>
              <a:rPr b="0" i="0" lang="en-US" sz="1600" u="none" cap="none" strike="noStrike">
                <a:solidFill>
                  <a:schemeClr val="dk1"/>
                </a:solidFill>
                <a:latin typeface="Gill Sans"/>
                <a:ea typeface="Gill Sans"/>
                <a:cs typeface="Gill Sans"/>
                <a:sym typeface="Gill Sans"/>
              </a:rPr>
              <a:t>segment has sequence number 92 and contains 8 bytes of data. </a:t>
            </a:r>
            <a:endParaRPr/>
          </a:p>
          <a:p>
            <a:pPr indent="-285750" lvl="0" marL="285750" marR="0" rtl="0" algn="l">
              <a:lnSpc>
                <a:spcPct val="85000"/>
              </a:lnSpc>
              <a:spcBef>
                <a:spcPts val="1200"/>
              </a:spcBef>
              <a:spcAft>
                <a:spcPts val="0"/>
              </a:spcAft>
              <a:buClr>
                <a:srgbClr val="000099"/>
              </a:buClr>
              <a:buSzPts val="1170"/>
              <a:buFont typeface="Noto Sans Symbols"/>
              <a:buChar char="❖"/>
            </a:pPr>
            <a:r>
              <a:rPr lang="en-US" sz="1800">
                <a:solidFill>
                  <a:schemeClr val="dk1"/>
                </a:solidFill>
                <a:latin typeface="Gill Sans"/>
                <a:ea typeface="Gill Sans"/>
                <a:cs typeface="Gill Sans"/>
                <a:sym typeface="Gill Sans"/>
              </a:rPr>
              <a:t>After sending this segment, Host A waits for a segment from B with acknowledgment number 100. </a:t>
            </a:r>
            <a:endParaRPr/>
          </a:p>
          <a:p>
            <a:pPr indent="-342900" lvl="0" marL="342900" marR="0" rtl="0" algn="l">
              <a:lnSpc>
                <a:spcPct val="85000"/>
              </a:lnSpc>
              <a:spcBef>
                <a:spcPts val="1200"/>
              </a:spcBef>
              <a:spcAft>
                <a:spcPts val="0"/>
              </a:spcAft>
              <a:buClr>
                <a:srgbClr val="000099"/>
              </a:buClr>
              <a:buSzPts val="1170"/>
              <a:buFont typeface="Noto Sans Symbols"/>
              <a:buChar char="❖"/>
            </a:pPr>
            <a:r>
              <a:rPr lang="en-US" sz="1800">
                <a:solidFill>
                  <a:schemeClr val="dk1"/>
                </a:solidFill>
                <a:latin typeface="Gill Sans"/>
                <a:ea typeface="Gill Sans"/>
                <a:cs typeface="Gill Sans"/>
                <a:sym typeface="Gill Sans"/>
              </a:rPr>
              <a:t>BUT, the acknowledgment from B to A gets lost. </a:t>
            </a:r>
            <a:endParaRPr/>
          </a:p>
          <a:p>
            <a:pPr indent="-342900" lvl="1" marL="628650" marR="0" rtl="0" algn="l">
              <a:lnSpc>
                <a:spcPct val="85000"/>
              </a:lnSpc>
              <a:spcBef>
                <a:spcPts val="1200"/>
              </a:spcBef>
              <a:spcAft>
                <a:spcPts val="0"/>
              </a:spcAft>
              <a:buClr>
                <a:srgbClr val="000099"/>
              </a:buClr>
              <a:buSzPts val="1600"/>
              <a:buFont typeface="Noto Sans Symbols"/>
              <a:buChar char="▪"/>
            </a:pPr>
            <a:r>
              <a:rPr b="0" i="0" lang="en-US" sz="1600" u="none" cap="none" strike="noStrike">
                <a:solidFill>
                  <a:schemeClr val="dk1"/>
                </a:solidFill>
                <a:latin typeface="Gill Sans"/>
                <a:ea typeface="Gill Sans"/>
                <a:cs typeface="Gill Sans"/>
                <a:sym typeface="Gill Sans"/>
              </a:rPr>
              <a:t>… the timeout event occurs, and Host A retransmits the same segment. </a:t>
            </a:r>
            <a:endParaRPr b="0" i="0" sz="1800" u="none" cap="none" strike="noStrike">
              <a:solidFill>
                <a:schemeClr val="dk1"/>
              </a:solidFill>
              <a:latin typeface="Gill Sans"/>
              <a:ea typeface="Gill Sans"/>
              <a:cs typeface="Gill Sans"/>
              <a:sym typeface="Gill Sans"/>
            </a:endParaRPr>
          </a:p>
          <a:p>
            <a:pPr indent="-342900" lvl="0" marL="342900" marR="0" rtl="0" algn="l">
              <a:lnSpc>
                <a:spcPct val="85000"/>
              </a:lnSpc>
              <a:spcBef>
                <a:spcPts val="1200"/>
              </a:spcBef>
              <a:spcAft>
                <a:spcPts val="0"/>
              </a:spcAft>
              <a:buClr>
                <a:srgbClr val="000099"/>
              </a:buClr>
              <a:buSzPts val="1170"/>
              <a:buFont typeface="Noto Sans Symbols"/>
              <a:buChar char="❖"/>
            </a:pPr>
            <a:r>
              <a:rPr lang="en-US" sz="1800">
                <a:solidFill>
                  <a:schemeClr val="dk1"/>
                </a:solidFill>
                <a:latin typeface="Gill Sans"/>
                <a:ea typeface="Gill Sans"/>
                <a:cs typeface="Gill Sans"/>
                <a:sym typeface="Gill Sans"/>
              </a:rPr>
              <a:t>Host B will discard the bytes in the retransmitted segment. </a:t>
            </a:r>
            <a:endParaRPr/>
          </a:p>
          <a:p>
            <a:pPr indent="-342900" lvl="1" marL="628650" marR="0" rtl="0" algn="l">
              <a:lnSpc>
                <a:spcPct val="85000"/>
              </a:lnSpc>
              <a:spcBef>
                <a:spcPts val="1200"/>
              </a:spcBef>
              <a:spcAft>
                <a:spcPts val="0"/>
              </a:spcAft>
              <a:buClr>
                <a:srgbClr val="000099"/>
              </a:buClr>
              <a:buSzPts val="1600"/>
              <a:buFont typeface="Noto Sans Symbols"/>
              <a:buChar char="▪"/>
            </a:pPr>
            <a:r>
              <a:rPr b="0" i="0" lang="en-US" sz="1600" u="none" cap="none" strike="noStrike">
                <a:solidFill>
                  <a:schemeClr val="dk1"/>
                </a:solidFill>
                <a:latin typeface="Gill Sans"/>
                <a:ea typeface="Gill Sans"/>
                <a:cs typeface="Gill Sans"/>
                <a:sym typeface="Gill Sans"/>
              </a:rPr>
              <a:t>it observes from the sequence number that the segment contains data that has already been received.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6">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1" name="Shape 5641"/>
        <p:cNvGrpSpPr/>
        <p:nvPr/>
      </p:nvGrpSpPr>
      <p:grpSpPr>
        <a:xfrm>
          <a:off x="0" y="0"/>
          <a:ext cx="0" cy="0"/>
          <a:chOff x="0" y="0"/>
          <a:chExt cx="0" cy="0"/>
        </a:xfrm>
      </p:grpSpPr>
      <p:sp>
        <p:nvSpPr>
          <p:cNvPr id="5642" name="Google Shape;5642;p114"/>
          <p:cNvSpPr txBox="1"/>
          <p:nvPr>
            <p:ph idx="11" type="ftr"/>
          </p:nvPr>
        </p:nvSpPr>
        <p:spPr>
          <a:xfrm>
            <a:off x="5576888" y="6445250"/>
            <a:ext cx="2895600" cy="28733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Transport</a:t>
            </a:r>
            <a:r>
              <a:rPr lang="en-US" sz="1400">
                <a:solidFill>
                  <a:schemeClr val="dk1"/>
                </a:solidFill>
                <a:latin typeface="Tahoma"/>
                <a:ea typeface="Tahoma"/>
                <a:cs typeface="Tahoma"/>
                <a:sym typeface="Tahoma"/>
              </a:rPr>
              <a:t> </a:t>
            </a:r>
            <a:r>
              <a:rPr lang="en-US" sz="1200">
                <a:solidFill>
                  <a:schemeClr val="dk1"/>
                </a:solidFill>
                <a:latin typeface="Tahoma"/>
                <a:ea typeface="Tahoma"/>
                <a:cs typeface="Tahoma"/>
                <a:sym typeface="Tahoma"/>
              </a:rPr>
              <a:t>Layer</a:t>
            </a:r>
            <a:endParaRPr sz="1200">
              <a:solidFill>
                <a:schemeClr val="dk1"/>
              </a:solidFill>
              <a:latin typeface="Tahoma"/>
              <a:ea typeface="Tahoma"/>
              <a:cs typeface="Tahoma"/>
              <a:sym typeface="Tahoma"/>
            </a:endParaRPr>
          </a:p>
        </p:txBody>
      </p:sp>
      <p:sp>
        <p:nvSpPr>
          <p:cNvPr id="5643" name="Google Shape;5643;p114"/>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3-</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5644" name="Google Shape;5644;p114"/>
          <p:cNvSpPr txBox="1"/>
          <p:nvPr>
            <p:ph type="title"/>
          </p:nvPr>
        </p:nvSpPr>
        <p:spPr>
          <a:xfrm>
            <a:off x="2000250" y="238126"/>
            <a:ext cx="7772400" cy="9048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000"/>
              <a:buFont typeface="Calibri"/>
              <a:buNone/>
            </a:pPr>
            <a:r>
              <a:rPr lang="en-US" sz="4000"/>
              <a:t>TCP: retransmission scenarios</a:t>
            </a:r>
            <a:endParaRPr/>
          </a:p>
        </p:txBody>
      </p:sp>
      <p:sp>
        <p:nvSpPr>
          <p:cNvPr id="5645" name="Google Shape;5645;p114"/>
          <p:cNvSpPr txBox="1"/>
          <p:nvPr/>
        </p:nvSpPr>
        <p:spPr>
          <a:xfrm>
            <a:off x="7326314" y="5953125"/>
            <a:ext cx="2359025" cy="3698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Tahoma"/>
                <a:ea typeface="Tahoma"/>
                <a:cs typeface="Tahoma"/>
                <a:sym typeface="Tahoma"/>
              </a:rPr>
              <a:t>b. premature timeout</a:t>
            </a:r>
            <a:endParaRPr sz="1000">
              <a:solidFill>
                <a:schemeClr val="dk1"/>
              </a:solidFill>
              <a:latin typeface="Tahoma"/>
              <a:ea typeface="Tahoma"/>
              <a:cs typeface="Tahoma"/>
              <a:sym typeface="Tahoma"/>
            </a:endParaRPr>
          </a:p>
        </p:txBody>
      </p:sp>
      <p:cxnSp>
        <p:nvCxnSpPr>
          <p:cNvPr id="5646" name="Google Shape;5646;p114"/>
          <p:cNvCxnSpPr/>
          <p:nvPr/>
        </p:nvCxnSpPr>
        <p:spPr>
          <a:xfrm>
            <a:off x="7305676" y="4191001"/>
            <a:ext cx="2441575" cy="665163"/>
          </a:xfrm>
          <a:prstGeom prst="straightConnector1">
            <a:avLst/>
          </a:prstGeom>
          <a:noFill/>
          <a:ln cap="flat" cmpd="sng" w="28575">
            <a:solidFill>
              <a:schemeClr val="accent2"/>
            </a:solidFill>
            <a:prstDash val="solid"/>
            <a:round/>
            <a:headEnd len="med" w="med" type="none"/>
            <a:tailEnd len="med" w="med" type="triangle"/>
          </a:ln>
        </p:spPr>
      </p:cxnSp>
      <p:cxnSp>
        <p:nvCxnSpPr>
          <p:cNvPr id="5647" name="Google Shape;5647;p114"/>
          <p:cNvCxnSpPr/>
          <p:nvPr/>
        </p:nvCxnSpPr>
        <p:spPr>
          <a:xfrm>
            <a:off x="7339014" y="2422525"/>
            <a:ext cx="2346325" cy="571500"/>
          </a:xfrm>
          <a:prstGeom prst="straightConnector1">
            <a:avLst/>
          </a:prstGeom>
          <a:noFill/>
          <a:ln cap="flat" cmpd="sng" w="28575">
            <a:solidFill>
              <a:schemeClr val="accent2"/>
            </a:solidFill>
            <a:prstDash val="solid"/>
            <a:round/>
            <a:headEnd len="med" w="med" type="none"/>
            <a:tailEnd len="med" w="med" type="triangle"/>
          </a:ln>
        </p:spPr>
      </p:cxnSp>
      <p:cxnSp>
        <p:nvCxnSpPr>
          <p:cNvPr id="5648" name="Google Shape;5648;p114"/>
          <p:cNvCxnSpPr/>
          <p:nvPr/>
        </p:nvCxnSpPr>
        <p:spPr>
          <a:xfrm flipH="1">
            <a:off x="7313613" y="3084514"/>
            <a:ext cx="2335212" cy="1589087"/>
          </a:xfrm>
          <a:prstGeom prst="straightConnector1">
            <a:avLst/>
          </a:prstGeom>
          <a:noFill/>
          <a:ln cap="flat" cmpd="sng" w="28575">
            <a:solidFill>
              <a:schemeClr val="accent2"/>
            </a:solidFill>
            <a:prstDash val="solid"/>
            <a:round/>
            <a:headEnd len="med" w="med" type="none"/>
            <a:tailEnd len="med" w="med" type="triangle"/>
          </a:ln>
        </p:spPr>
      </p:cxnSp>
      <p:sp>
        <p:nvSpPr>
          <p:cNvPr id="5649" name="Google Shape;5649;p114"/>
          <p:cNvSpPr txBox="1"/>
          <p:nvPr/>
        </p:nvSpPr>
        <p:spPr>
          <a:xfrm>
            <a:off x="9277351" y="1263650"/>
            <a:ext cx="7731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Host B</a:t>
            </a:r>
            <a:endParaRPr/>
          </a:p>
        </p:txBody>
      </p:sp>
      <p:sp>
        <p:nvSpPr>
          <p:cNvPr id="5650" name="Google Shape;5650;p114"/>
          <p:cNvSpPr txBox="1"/>
          <p:nvPr/>
        </p:nvSpPr>
        <p:spPr>
          <a:xfrm>
            <a:off x="6943725" y="1281113"/>
            <a:ext cx="776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Host A</a:t>
            </a:r>
            <a:endParaRPr/>
          </a:p>
        </p:txBody>
      </p:sp>
      <p:sp>
        <p:nvSpPr>
          <p:cNvPr id="5651" name="Google Shape;5651;p114"/>
          <p:cNvSpPr/>
          <p:nvPr/>
        </p:nvSpPr>
        <p:spPr>
          <a:xfrm>
            <a:off x="8042275" y="2503489"/>
            <a:ext cx="869950" cy="40163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652" name="Google Shape;5652;p114"/>
          <p:cNvSpPr txBox="1"/>
          <p:nvPr/>
        </p:nvSpPr>
        <p:spPr>
          <a:xfrm>
            <a:off x="7473130" y="2555876"/>
            <a:ext cx="2106667"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Seq=92, 8 bytes of data</a:t>
            </a:r>
            <a:endParaRPr/>
          </a:p>
        </p:txBody>
      </p:sp>
      <p:grpSp>
        <p:nvGrpSpPr>
          <p:cNvPr id="5653" name="Google Shape;5653;p114"/>
          <p:cNvGrpSpPr/>
          <p:nvPr/>
        </p:nvGrpSpPr>
        <p:grpSpPr>
          <a:xfrm>
            <a:off x="8215314" y="3576638"/>
            <a:ext cx="949325" cy="304800"/>
            <a:chOff x="4215" y="2253"/>
            <a:chExt cx="598" cy="192"/>
          </a:xfrm>
        </p:grpSpPr>
        <p:sp>
          <p:nvSpPr>
            <p:cNvPr id="5654" name="Google Shape;5654;p114"/>
            <p:cNvSpPr/>
            <p:nvPr/>
          </p:nvSpPr>
          <p:spPr>
            <a:xfrm>
              <a:off x="4265" y="2274"/>
              <a:ext cx="471" cy="15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655" name="Google Shape;5655;p114"/>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ACK=100</a:t>
              </a:r>
              <a:endParaRPr sz="1000">
                <a:solidFill>
                  <a:schemeClr val="dk1"/>
                </a:solidFill>
                <a:latin typeface="Times New Roman"/>
                <a:ea typeface="Times New Roman"/>
                <a:cs typeface="Times New Roman"/>
                <a:sym typeface="Times New Roman"/>
              </a:endParaRPr>
            </a:p>
          </p:txBody>
        </p:sp>
      </p:grpSp>
      <p:cxnSp>
        <p:nvCxnSpPr>
          <p:cNvPr id="5656" name="Google Shape;5656;p114"/>
          <p:cNvCxnSpPr/>
          <p:nvPr/>
        </p:nvCxnSpPr>
        <p:spPr>
          <a:xfrm>
            <a:off x="7318375" y="2181225"/>
            <a:ext cx="0" cy="3525838"/>
          </a:xfrm>
          <a:prstGeom prst="straightConnector1">
            <a:avLst/>
          </a:prstGeom>
          <a:noFill/>
          <a:ln cap="flat" cmpd="sng" w="9525">
            <a:solidFill>
              <a:schemeClr val="lt2"/>
            </a:solidFill>
            <a:prstDash val="solid"/>
            <a:round/>
            <a:headEnd len="med" w="med" type="none"/>
            <a:tailEnd len="med" w="med" type="none"/>
          </a:ln>
        </p:spPr>
      </p:cxnSp>
      <p:cxnSp>
        <p:nvCxnSpPr>
          <p:cNvPr id="5657" name="Google Shape;5657;p114"/>
          <p:cNvCxnSpPr/>
          <p:nvPr/>
        </p:nvCxnSpPr>
        <p:spPr>
          <a:xfrm>
            <a:off x="9723438" y="2176464"/>
            <a:ext cx="0" cy="3538537"/>
          </a:xfrm>
          <a:prstGeom prst="straightConnector1">
            <a:avLst/>
          </a:prstGeom>
          <a:noFill/>
          <a:ln cap="flat" cmpd="sng" w="9525">
            <a:solidFill>
              <a:schemeClr val="lt2"/>
            </a:solidFill>
            <a:prstDash val="solid"/>
            <a:round/>
            <a:headEnd len="med" w="med" type="none"/>
            <a:tailEnd len="med" w="med" type="none"/>
          </a:ln>
        </p:spPr>
      </p:cxnSp>
      <p:sp>
        <p:nvSpPr>
          <p:cNvPr id="5658" name="Google Shape;5658;p114"/>
          <p:cNvSpPr/>
          <p:nvPr/>
        </p:nvSpPr>
        <p:spPr>
          <a:xfrm>
            <a:off x="8331201" y="4308475"/>
            <a:ext cx="1057275" cy="50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659" name="Google Shape;5659;p114"/>
          <p:cNvSpPr txBox="1"/>
          <p:nvPr/>
        </p:nvSpPr>
        <p:spPr>
          <a:xfrm>
            <a:off x="8251825" y="4341813"/>
            <a:ext cx="122309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Seq=92,  8</a:t>
            </a:r>
            <a:endParaRPr/>
          </a:p>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bytes of data</a:t>
            </a:r>
            <a:endParaRPr/>
          </a:p>
        </p:txBody>
      </p:sp>
      <p:sp>
        <p:nvSpPr>
          <p:cNvPr id="5660" name="Google Shape;5660;p114"/>
          <p:cNvSpPr txBox="1"/>
          <p:nvPr/>
        </p:nvSpPr>
        <p:spPr>
          <a:xfrm rot="-5400000">
            <a:off x="6796220" y="3114646"/>
            <a:ext cx="695062"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timeout</a:t>
            </a:r>
            <a:endParaRPr/>
          </a:p>
        </p:txBody>
      </p:sp>
      <p:cxnSp>
        <p:nvCxnSpPr>
          <p:cNvPr id="5661" name="Google Shape;5661;p114"/>
          <p:cNvCxnSpPr/>
          <p:nvPr/>
        </p:nvCxnSpPr>
        <p:spPr>
          <a:xfrm flipH="1">
            <a:off x="7337425" y="4894264"/>
            <a:ext cx="2338388" cy="782637"/>
          </a:xfrm>
          <a:prstGeom prst="straightConnector1">
            <a:avLst/>
          </a:prstGeom>
          <a:noFill/>
          <a:ln cap="flat" cmpd="sng" w="28575">
            <a:solidFill>
              <a:schemeClr val="accent2"/>
            </a:solidFill>
            <a:prstDash val="solid"/>
            <a:round/>
            <a:headEnd len="med" w="med" type="none"/>
            <a:tailEnd len="med" w="med" type="triangle"/>
          </a:ln>
        </p:spPr>
      </p:cxnSp>
      <p:sp>
        <p:nvSpPr>
          <p:cNvPr id="5662" name="Google Shape;5662;p114"/>
          <p:cNvSpPr/>
          <p:nvPr/>
        </p:nvSpPr>
        <p:spPr>
          <a:xfrm>
            <a:off x="8170863" y="5151438"/>
            <a:ext cx="747712" cy="24606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663" name="Google Shape;5663;p114"/>
          <p:cNvSpPr txBox="1"/>
          <p:nvPr/>
        </p:nvSpPr>
        <p:spPr>
          <a:xfrm>
            <a:off x="8091489" y="5106988"/>
            <a:ext cx="9493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ACK=120</a:t>
            </a:r>
            <a:endParaRPr sz="1000">
              <a:solidFill>
                <a:schemeClr val="dk1"/>
              </a:solidFill>
              <a:latin typeface="Times New Roman"/>
              <a:ea typeface="Times New Roman"/>
              <a:cs typeface="Times New Roman"/>
              <a:sym typeface="Times New Roman"/>
            </a:endParaRPr>
          </a:p>
        </p:txBody>
      </p:sp>
      <p:grpSp>
        <p:nvGrpSpPr>
          <p:cNvPr id="5664" name="Google Shape;5664;p114"/>
          <p:cNvGrpSpPr/>
          <p:nvPr/>
        </p:nvGrpSpPr>
        <p:grpSpPr>
          <a:xfrm>
            <a:off x="7086601" y="2427288"/>
            <a:ext cx="104775" cy="508000"/>
            <a:chOff x="3099" y="1749"/>
            <a:chExt cx="66" cy="320"/>
          </a:xfrm>
        </p:grpSpPr>
        <p:cxnSp>
          <p:nvCxnSpPr>
            <p:cNvPr id="5665" name="Google Shape;5665;p114"/>
            <p:cNvCxnSpPr/>
            <p:nvPr/>
          </p:nvCxnSpPr>
          <p:spPr>
            <a:xfrm rot="10800000">
              <a:off x="3129" y="1749"/>
              <a:ext cx="0" cy="320"/>
            </a:xfrm>
            <a:prstGeom prst="straightConnector1">
              <a:avLst/>
            </a:prstGeom>
            <a:noFill/>
            <a:ln cap="flat" cmpd="sng" w="9525">
              <a:solidFill>
                <a:schemeClr val="dk1"/>
              </a:solidFill>
              <a:prstDash val="solid"/>
              <a:round/>
              <a:headEnd len="med" w="med" type="none"/>
              <a:tailEnd len="med" w="med" type="triangle"/>
            </a:ln>
          </p:spPr>
        </p:cxnSp>
        <p:cxnSp>
          <p:nvCxnSpPr>
            <p:cNvPr id="5666" name="Google Shape;5666;p114"/>
            <p:cNvCxnSpPr/>
            <p:nvPr/>
          </p:nvCxnSpPr>
          <p:spPr>
            <a:xfrm>
              <a:off x="3099" y="1752"/>
              <a:ext cx="66" cy="0"/>
            </a:xfrm>
            <a:prstGeom prst="straightConnector1">
              <a:avLst/>
            </a:prstGeom>
            <a:noFill/>
            <a:ln cap="flat" cmpd="sng" w="9525">
              <a:solidFill>
                <a:schemeClr val="dk1"/>
              </a:solidFill>
              <a:prstDash val="solid"/>
              <a:round/>
              <a:headEnd len="med" w="med" type="none"/>
              <a:tailEnd len="med" w="med" type="none"/>
            </a:ln>
          </p:spPr>
        </p:cxnSp>
      </p:grpSp>
      <p:grpSp>
        <p:nvGrpSpPr>
          <p:cNvPr id="5667" name="Google Shape;5667;p114"/>
          <p:cNvGrpSpPr/>
          <p:nvPr/>
        </p:nvGrpSpPr>
        <p:grpSpPr>
          <a:xfrm rot="10800000">
            <a:off x="7069139" y="3659188"/>
            <a:ext cx="104775" cy="508000"/>
            <a:chOff x="3107" y="1756"/>
            <a:chExt cx="66" cy="320"/>
          </a:xfrm>
        </p:grpSpPr>
        <p:cxnSp>
          <p:nvCxnSpPr>
            <p:cNvPr id="5668" name="Google Shape;5668;p114"/>
            <p:cNvCxnSpPr/>
            <p:nvPr/>
          </p:nvCxnSpPr>
          <p:spPr>
            <a:xfrm rot="10800000">
              <a:off x="3137" y="1756"/>
              <a:ext cx="0" cy="320"/>
            </a:xfrm>
            <a:prstGeom prst="straightConnector1">
              <a:avLst/>
            </a:prstGeom>
            <a:noFill/>
            <a:ln cap="flat" cmpd="sng" w="9525">
              <a:solidFill>
                <a:schemeClr val="dk1"/>
              </a:solidFill>
              <a:prstDash val="solid"/>
              <a:round/>
              <a:headEnd len="med" w="med" type="none"/>
              <a:tailEnd len="med" w="med" type="triangle"/>
            </a:ln>
          </p:spPr>
        </p:cxnSp>
        <p:cxnSp>
          <p:nvCxnSpPr>
            <p:cNvPr id="5669" name="Google Shape;5669;p114"/>
            <p:cNvCxnSpPr/>
            <p:nvPr/>
          </p:nvCxnSpPr>
          <p:spPr>
            <a:xfrm>
              <a:off x="3107" y="1759"/>
              <a:ext cx="66" cy="0"/>
            </a:xfrm>
            <a:prstGeom prst="straightConnector1">
              <a:avLst/>
            </a:prstGeom>
            <a:noFill/>
            <a:ln cap="flat" cmpd="sng" w="9525">
              <a:solidFill>
                <a:schemeClr val="dk1"/>
              </a:solidFill>
              <a:prstDash val="solid"/>
              <a:round/>
              <a:headEnd len="med" w="med" type="none"/>
              <a:tailEnd len="med" w="med" type="none"/>
            </a:ln>
          </p:spPr>
        </p:cxnSp>
      </p:grpSp>
      <p:grpSp>
        <p:nvGrpSpPr>
          <p:cNvPr id="5670" name="Google Shape;5670;p114"/>
          <p:cNvGrpSpPr/>
          <p:nvPr/>
        </p:nvGrpSpPr>
        <p:grpSpPr>
          <a:xfrm>
            <a:off x="7324726" y="2808288"/>
            <a:ext cx="2346325" cy="571500"/>
            <a:chOff x="3759" y="1622"/>
            <a:chExt cx="1478" cy="360"/>
          </a:xfrm>
        </p:grpSpPr>
        <p:cxnSp>
          <p:nvCxnSpPr>
            <p:cNvPr id="5671" name="Google Shape;5671;p114"/>
            <p:cNvCxnSpPr/>
            <p:nvPr/>
          </p:nvCxnSpPr>
          <p:spPr>
            <a:xfrm>
              <a:off x="3759" y="1622"/>
              <a:ext cx="1478" cy="360"/>
            </a:xfrm>
            <a:prstGeom prst="straightConnector1">
              <a:avLst/>
            </a:prstGeom>
            <a:noFill/>
            <a:ln cap="flat" cmpd="sng" w="28575">
              <a:solidFill>
                <a:schemeClr val="accent2"/>
              </a:solidFill>
              <a:prstDash val="solid"/>
              <a:round/>
              <a:headEnd len="med" w="med" type="none"/>
              <a:tailEnd len="med" w="med" type="triangle"/>
            </a:ln>
          </p:spPr>
        </p:cxnSp>
        <p:sp>
          <p:nvSpPr>
            <p:cNvPr id="5672" name="Google Shape;5672;p114"/>
            <p:cNvSpPr/>
            <p:nvPr/>
          </p:nvSpPr>
          <p:spPr>
            <a:xfrm>
              <a:off x="4202" y="1673"/>
              <a:ext cx="548" cy="25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673" name="Google Shape;5673;p114"/>
            <p:cNvSpPr txBox="1"/>
            <p:nvPr/>
          </p:nvSpPr>
          <p:spPr>
            <a:xfrm>
              <a:off x="3790" y="1706"/>
              <a:ext cx="1437"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Seq=100, 20 bytes of data</a:t>
              </a:r>
              <a:endParaRPr/>
            </a:p>
          </p:txBody>
        </p:sp>
      </p:grpSp>
      <p:cxnSp>
        <p:nvCxnSpPr>
          <p:cNvPr id="5674" name="Google Shape;5674;p114"/>
          <p:cNvCxnSpPr/>
          <p:nvPr/>
        </p:nvCxnSpPr>
        <p:spPr>
          <a:xfrm flipH="1">
            <a:off x="7318376" y="3440114"/>
            <a:ext cx="2335213" cy="1589087"/>
          </a:xfrm>
          <a:prstGeom prst="straightConnector1">
            <a:avLst/>
          </a:prstGeom>
          <a:noFill/>
          <a:ln cap="flat" cmpd="sng" w="28575">
            <a:solidFill>
              <a:schemeClr val="accent2"/>
            </a:solidFill>
            <a:prstDash val="solid"/>
            <a:round/>
            <a:headEnd len="med" w="med" type="none"/>
            <a:tailEnd len="med" w="med" type="triangle"/>
          </a:ln>
        </p:spPr>
      </p:cxnSp>
      <p:grpSp>
        <p:nvGrpSpPr>
          <p:cNvPr id="5675" name="Google Shape;5675;p114"/>
          <p:cNvGrpSpPr/>
          <p:nvPr/>
        </p:nvGrpSpPr>
        <p:grpSpPr>
          <a:xfrm>
            <a:off x="8455026" y="3852863"/>
            <a:ext cx="949325" cy="304800"/>
            <a:chOff x="4215" y="2253"/>
            <a:chExt cx="598" cy="192"/>
          </a:xfrm>
        </p:grpSpPr>
        <p:sp>
          <p:nvSpPr>
            <p:cNvPr id="5676" name="Google Shape;5676;p114"/>
            <p:cNvSpPr/>
            <p:nvPr/>
          </p:nvSpPr>
          <p:spPr>
            <a:xfrm>
              <a:off x="4265" y="2274"/>
              <a:ext cx="471" cy="15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677" name="Google Shape;5677;p114"/>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ACK=120</a:t>
              </a:r>
              <a:endParaRPr sz="1000">
                <a:solidFill>
                  <a:schemeClr val="dk1"/>
                </a:solidFill>
                <a:latin typeface="Times New Roman"/>
                <a:ea typeface="Times New Roman"/>
                <a:cs typeface="Times New Roman"/>
                <a:sym typeface="Times New Roman"/>
              </a:endParaRPr>
            </a:p>
          </p:txBody>
        </p:sp>
      </p:grpSp>
      <p:sp>
        <p:nvSpPr>
          <p:cNvPr id="5678" name="Google Shape;5678;p114"/>
          <p:cNvSpPr txBox="1"/>
          <p:nvPr/>
        </p:nvSpPr>
        <p:spPr>
          <a:xfrm>
            <a:off x="5951538" y="4495800"/>
            <a:ext cx="1363662"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SendBase=100</a:t>
            </a:r>
            <a:endParaRPr/>
          </a:p>
        </p:txBody>
      </p:sp>
      <p:sp>
        <p:nvSpPr>
          <p:cNvPr id="5679" name="Google Shape;5679;p114"/>
          <p:cNvSpPr txBox="1"/>
          <p:nvPr/>
        </p:nvSpPr>
        <p:spPr>
          <a:xfrm>
            <a:off x="5970588" y="4837113"/>
            <a:ext cx="1363662"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SendBase=120</a:t>
            </a:r>
            <a:endParaRPr/>
          </a:p>
        </p:txBody>
      </p:sp>
      <p:sp>
        <p:nvSpPr>
          <p:cNvPr id="5680" name="Google Shape;5680;p114"/>
          <p:cNvSpPr txBox="1"/>
          <p:nvPr/>
        </p:nvSpPr>
        <p:spPr>
          <a:xfrm>
            <a:off x="5989638" y="5511800"/>
            <a:ext cx="1363662"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SendBase=120</a:t>
            </a:r>
            <a:endParaRPr/>
          </a:p>
        </p:txBody>
      </p:sp>
      <p:sp>
        <p:nvSpPr>
          <p:cNvPr id="5681" name="Google Shape;5681;p114"/>
          <p:cNvSpPr txBox="1"/>
          <p:nvPr/>
        </p:nvSpPr>
        <p:spPr>
          <a:xfrm>
            <a:off x="6016626" y="2266950"/>
            <a:ext cx="1266825" cy="3048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SendBase=92</a:t>
            </a:r>
            <a:endParaRPr/>
          </a:p>
        </p:txBody>
      </p:sp>
      <p:pic>
        <p:nvPicPr>
          <p:cNvPr descr="underline_base" id="5682" name="Google Shape;5682;p114"/>
          <p:cNvPicPr preferRelativeResize="0"/>
          <p:nvPr/>
        </p:nvPicPr>
        <p:blipFill rotWithShape="1">
          <a:blip r:embed="rId3">
            <a:alphaModFix/>
          </a:blip>
          <a:srcRect b="0" l="0" r="0" t="0"/>
          <a:stretch/>
        </p:blipFill>
        <p:spPr>
          <a:xfrm>
            <a:off x="2128838" y="912814"/>
            <a:ext cx="6399212" cy="173037"/>
          </a:xfrm>
          <a:prstGeom prst="rect">
            <a:avLst/>
          </a:prstGeom>
          <a:noFill/>
          <a:ln>
            <a:noFill/>
          </a:ln>
        </p:spPr>
      </p:pic>
      <p:grpSp>
        <p:nvGrpSpPr>
          <p:cNvPr id="5683" name="Google Shape;5683;p114"/>
          <p:cNvGrpSpPr/>
          <p:nvPr/>
        </p:nvGrpSpPr>
        <p:grpSpPr>
          <a:xfrm>
            <a:off x="6896100" y="1543050"/>
            <a:ext cx="630238" cy="533400"/>
            <a:chOff x="-44" y="1473"/>
            <a:chExt cx="981" cy="1105"/>
          </a:xfrm>
        </p:grpSpPr>
        <p:pic>
          <p:nvPicPr>
            <p:cNvPr descr="desktop_computer_stylized_medium" id="5684" name="Google Shape;5684;p114"/>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685" name="Google Shape;5685;p1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686" name="Google Shape;5686;p114"/>
          <p:cNvGrpSpPr/>
          <p:nvPr/>
        </p:nvGrpSpPr>
        <p:grpSpPr>
          <a:xfrm flipH="1">
            <a:off x="9463089" y="1549400"/>
            <a:ext cx="631825" cy="622300"/>
            <a:chOff x="-44" y="1473"/>
            <a:chExt cx="981" cy="1105"/>
          </a:xfrm>
        </p:grpSpPr>
        <p:pic>
          <p:nvPicPr>
            <p:cNvPr descr="desktop_computer_stylized_medium" id="5687" name="Google Shape;5687;p114"/>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688" name="Google Shape;5688;p1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89" name="Google Shape;5689;p114"/>
          <p:cNvSpPr txBox="1"/>
          <p:nvPr/>
        </p:nvSpPr>
        <p:spPr>
          <a:xfrm>
            <a:off x="1651001" y="1050926"/>
            <a:ext cx="4371975" cy="5908675"/>
          </a:xfrm>
          <a:prstGeom prst="rect">
            <a:avLst/>
          </a:prstGeom>
          <a:noFill/>
          <a:ln>
            <a:noFill/>
          </a:ln>
        </p:spPr>
        <p:txBody>
          <a:bodyPr anchorCtr="0" anchor="t" bIns="45700" lIns="91425" spcFirstLastPara="1" rIns="91425" wrap="square" tIns="45700">
            <a:spAutoFit/>
          </a:bodyPr>
          <a:lstStyle/>
          <a:p>
            <a:pPr indent="-342900" lvl="0" marL="342900" marR="0" rtl="0" algn="l">
              <a:lnSpc>
                <a:spcPct val="85000"/>
              </a:lnSpc>
              <a:spcBef>
                <a:spcPts val="0"/>
              </a:spcBef>
              <a:spcAft>
                <a:spcPts val="0"/>
              </a:spcAft>
              <a:buClr>
                <a:srgbClr val="000099"/>
              </a:buClr>
              <a:buSzPts val="1170"/>
              <a:buFont typeface="Noto Sans Symbols"/>
              <a:buChar char="❖"/>
            </a:pPr>
            <a:r>
              <a:rPr lang="en-US" sz="1800">
                <a:solidFill>
                  <a:schemeClr val="dk1"/>
                </a:solidFill>
                <a:latin typeface="Gill Sans"/>
                <a:ea typeface="Gill Sans"/>
                <a:cs typeface="Gill Sans"/>
                <a:sym typeface="Gill Sans"/>
              </a:rPr>
              <a:t>Host A sends two segments back to back. </a:t>
            </a:r>
            <a:endParaRPr/>
          </a:p>
          <a:p>
            <a:pPr indent="-334963" lvl="1" marL="668338" marR="0" rtl="0" algn="l">
              <a:lnSpc>
                <a:spcPct val="85000"/>
              </a:lnSpc>
              <a:spcBef>
                <a:spcPts val="1200"/>
              </a:spcBef>
              <a:spcAft>
                <a:spcPts val="0"/>
              </a:spcAft>
              <a:buClr>
                <a:srgbClr val="000099"/>
              </a:buClr>
              <a:buSzPts val="1600"/>
              <a:buFont typeface="Noto Sans Symbols"/>
              <a:buChar char="▪"/>
            </a:pPr>
            <a:r>
              <a:rPr b="0" i="0" lang="en-US" sz="1600" u="none" cap="none" strike="noStrike">
                <a:solidFill>
                  <a:schemeClr val="dk1"/>
                </a:solidFill>
                <a:latin typeface="Gill Sans"/>
                <a:ea typeface="Gill Sans"/>
                <a:cs typeface="Gill Sans"/>
                <a:sym typeface="Gill Sans"/>
              </a:rPr>
              <a:t>The first segment has sequence number 92 and 8 bytes of data, and the second segment has sequence number 100 and 20 bytes of data. </a:t>
            </a:r>
            <a:endParaRPr b="0" i="0" sz="1400" u="none" cap="none" strike="noStrike">
              <a:solidFill>
                <a:schemeClr val="dk1"/>
              </a:solidFill>
              <a:latin typeface="Gill Sans"/>
              <a:ea typeface="Gill Sans"/>
              <a:cs typeface="Gill Sans"/>
              <a:sym typeface="Gill Sans"/>
            </a:endParaRPr>
          </a:p>
          <a:p>
            <a:pPr indent="-342900" lvl="0" marL="342900" marR="0" rtl="0" algn="l">
              <a:lnSpc>
                <a:spcPct val="85000"/>
              </a:lnSpc>
              <a:spcBef>
                <a:spcPts val="1200"/>
              </a:spcBef>
              <a:spcAft>
                <a:spcPts val="0"/>
              </a:spcAft>
              <a:buClr>
                <a:srgbClr val="000099"/>
              </a:buClr>
              <a:buSzPts val="1170"/>
              <a:buFont typeface="Noto Sans Symbols"/>
              <a:buChar char="❖"/>
            </a:pPr>
            <a:r>
              <a:rPr lang="en-US" sz="1800">
                <a:solidFill>
                  <a:schemeClr val="dk1"/>
                </a:solidFill>
                <a:latin typeface="Gill Sans"/>
                <a:ea typeface="Gill Sans"/>
                <a:cs typeface="Gill Sans"/>
                <a:sym typeface="Gill Sans"/>
              </a:rPr>
              <a:t>Suppose that both segments arrive intact at B, and B sends two separate acknowledgments for each of these segments. </a:t>
            </a:r>
            <a:endParaRPr/>
          </a:p>
          <a:p>
            <a:pPr indent="-334963" lvl="1" marL="711200" marR="0" rtl="0" algn="l">
              <a:lnSpc>
                <a:spcPct val="85000"/>
              </a:lnSpc>
              <a:spcBef>
                <a:spcPts val="1200"/>
              </a:spcBef>
              <a:spcAft>
                <a:spcPts val="0"/>
              </a:spcAft>
              <a:buClr>
                <a:srgbClr val="000099"/>
              </a:buClr>
              <a:buSzPts val="1600"/>
              <a:buFont typeface="Noto Sans Symbols"/>
              <a:buChar char="▪"/>
            </a:pPr>
            <a:r>
              <a:rPr b="0" i="0" lang="en-US" sz="1600" u="none" cap="none" strike="noStrike">
                <a:solidFill>
                  <a:schemeClr val="dk1"/>
                </a:solidFill>
                <a:latin typeface="Gill Sans"/>
                <a:ea typeface="Gill Sans"/>
                <a:cs typeface="Gill Sans"/>
                <a:sym typeface="Gill Sans"/>
              </a:rPr>
              <a:t>The first of these acknowledgments has acknowledgment number 100; the second has acknowledgment number 120. </a:t>
            </a:r>
            <a:endParaRPr b="0" i="0" sz="1400" u="none" cap="none" strike="noStrike">
              <a:solidFill>
                <a:schemeClr val="dk1"/>
              </a:solidFill>
              <a:latin typeface="Gill Sans"/>
              <a:ea typeface="Gill Sans"/>
              <a:cs typeface="Gill Sans"/>
              <a:sym typeface="Gill Sans"/>
            </a:endParaRPr>
          </a:p>
          <a:p>
            <a:pPr indent="-342900" lvl="0" marL="342900" marR="0" rtl="0" algn="l">
              <a:lnSpc>
                <a:spcPct val="85000"/>
              </a:lnSpc>
              <a:spcBef>
                <a:spcPts val="1200"/>
              </a:spcBef>
              <a:spcAft>
                <a:spcPts val="0"/>
              </a:spcAft>
              <a:buClr>
                <a:srgbClr val="000099"/>
              </a:buClr>
              <a:buSzPts val="1170"/>
              <a:buFont typeface="Noto Sans Symbols"/>
              <a:buChar char="❖"/>
            </a:pPr>
            <a:r>
              <a:rPr lang="en-US" sz="1800">
                <a:solidFill>
                  <a:schemeClr val="dk1"/>
                </a:solidFill>
                <a:latin typeface="Gill Sans"/>
                <a:ea typeface="Gill Sans"/>
                <a:cs typeface="Gill Sans"/>
                <a:sym typeface="Gill Sans"/>
              </a:rPr>
              <a:t>Suppose now that neither of the acknowledgments arrives at Host A before the timeout. </a:t>
            </a:r>
            <a:endParaRPr/>
          </a:p>
          <a:p>
            <a:pPr indent="-342900" lvl="0" marL="342900" marR="0" rtl="0" algn="l">
              <a:lnSpc>
                <a:spcPct val="85000"/>
              </a:lnSpc>
              <a:spcBef>
                <a:spcPts val="1200"/>
              </a:spcBef>
              <a:spcAft>
                <a:spcPts val="0"/>
              </a:spcAft>
              <a:buClr>
                <a:srgbClr val="000099"/>
              </a:buClr>
              <a:buSzPts val="1170"/>
              <a:buFont typeface="Noto Sans Symbols"/>
              <a:buChar char="❖"/>
            </a:pPr>
            <a:r>
              <a:rPr lang="en-US" sz="1800">
                <a:solidFill>
                  <a:schemeClr val="dk1"/>
                </a:solidFill>
                <a:latin typeface="Gill Sans"/>
                <a:ea typeface="Gill Sans"/>
                <a:cs typeface="Gill Sans"/>
                <a:sym typeface="Gill Sans"/>
              </a:rPr>
              <a:t>When the timeout event occurs, Host A resends the first segment with sequence number 92 and restarts the timer. </a:t>
            </a:r>
            <a:endParaRPr/>
          </a:p>
          <a:p>
            <a:pPr indent="-334963" lvl="1" marL="711200" marR="0" rtl="0" algn="l">
              <a:lnSpc>
                <a:spcPct val="85000"/>
              </a:lnSpc>
              <a:spcBef>
                <a:spcPts val="1200"/>
              </a:spcBef>
              <a:spcAft>
                <a:spcPts val="0"/>
              </a:spcAft>
              <a:buClr>
                <a:srgbClr val="000099"/>
              </a:buClr>
              <a:buSzPts val="1600"/>
              <a:buFont typeface="Noto Sans Symbols"/>
              <a:buChar char="▪"/>
            </a:pPr>
            <a:r>
              <a:rPr b="0" i="0" lang="en-US" sz="1600" u="none" cap="none" strike="noStrike">
                <a:solidFill>
                  <a:schemeClr val="dk1"/>
                </a:solidFill>
                <a:latin typeface="Gill Sans"/>
                <a:ea typeface="Gill Sans"/>
                <a:cs typeface="Gill Sans"/>
                <a:sym typeface="Gill Sans"/>
              </a:rPr>
              <a:t>As long as the ACK for the second segment arrives before the new timeout, the second segment will not be retransmitted. </a:t>
            </a:r>
            <a:endParaRPr b="0" i="0" sz="1400" u="none" cap="none" strike="noStrike">
              <a:solidFill>
                <a:schemeClr val="dk1"/>
              </a:solidFill>
              <a:latin typeface="Gill Sans"/>
              <a:ea typeface="Gill Sans"/>
              <a:cs typeface="Gill Sans"/>
              <a:sym typeface="Gill Sans"/>
            </a:endParaRPr>
          </a:p>
        </p:txBody>
      </p:sp>
      <p:sp>
        <p:nvSpPr>
          <p:cNvPr id="5690" name="Google Shape;5690;p114"/>
          <p:cNvSpPr txBox="1"/>
          <p:nvPr/>
        </p:nvSpPr>
        <p:spPr>
          <a:xfrm>
            <a:off x="9375776" y="4956496"/>
            <a:ext cx="1241425" cy="4254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200">
                <a:solidFill>
                  <a:srgbClr val="C00000"/>
                </a:solidFill>
                <a:latin typeface="Calibri"/>
                <a:ea typeface="Calibri"/>
                <a:cs typeface="Calibri"/>
                <a:sym typeface="Calibri"/>
              </a:rPr>
              <a:t>send cumulative </a:t>
            </a:r>
            <a:endParaRPr/>
          </a:p>
          <a:p>
            <a:pPr indent="0" lvl="0" marL="0" marR="0" rtl="0" algn="l">
              <a:lnSpc>
                <a:spcPct val="90000"/>
              </a:lnSpc>
              <a:spcBef>
                <a:spcPts val="0"/>
              </a:spcBef>
              <a:spcAft>
                <a:spcPts val="0"/>
              </a:spcAft>
              <a:buNone/>
            </a:pPr>
            <a:r>
              <a:rPr lang="en-US" sz="1200">
                <a:solidFill>
                  <a:srgbClr val="C00000"/>
                </a:solidFill>
                <a:latin typeface="Calibri"/>
                <a:ea typeface="Calibri"/>
                <a:cs typeface="Calibri"/>
                <a:sym typeface="Calibri"/>
              </a:rPr>
              <a:t>ACK for 120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8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8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8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8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90"/>
                                        </p:tgtEl>
                                        <p:attrNameLst>
                                          <p:attrName>style.visibility</p:attrName>
                                        </p:attrNameLst>
                                      </p:cBhvr>
                                      <p:to>
                                        <p:strVal val="visible"/>
                                      </p:to>
                                    </p:set>
                                    <p:animEffect filter="fade" transition="in">
                                      <p:cBhvr>
                                        <p:cTn dur="500"/>
                                        <p:tgtEl>
                                          <p:spTgt spid="56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5" name="Shape 5695"/>
        <p:cNvGrpSpPr/>
        <p:nvPr/>
      </p:nvGrpSpPr>
      <p:grpSpPr>
        <a:xfrm>
          <a:off x="0" y="0"/>
          <a:ext cx="0" cy="0"/>
          <a:chOff x="0" y="0"/>
          <a:chExt cx="0" cy="0"/>
        </a:xfrm>
      </p:grpSpPr>
      <p:sp>
        <p:nvSpPr>
          <p:cNvPr id="5696" name="Google Shape;5696;p115"/>
          <p:cNvSpPr txBox="1"/>
          <p:nvPr>
            <p:ph type="title"/>
          </p:nvPr>
        </p:nvSpPr>
        <p:spPr>
          <a:xfrm>
            <a:off x="2000250" y="238126"/>
            <a:ext cx="7772400" cy="9048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000"/>
              <a:buFont typeface="Calibri"/>
              <a:buNone/>
            </a:pPr>
            <a:r>
              <a:rPr lang="en-US" sz="4000"/>
              <a:t>TCP: retransmission scenarios</a:t>
            </a:r>
            <a:endParaRPr/>
          </a:p>
        </p:txBody>
      </p:sp>
      <p:sp>
        <p:nvSpPr>
          <p:cNvPr id="5697" name="Google Shape;5697;p115"/>
          <p:cNvSpPr txBox="1"/>
          <p:nvPr/>
        </p:nvSpPr>
        <p:spPr>
          <a:xfrm>
            <a:off x="3482976" y="3468689"/>
            <a:ext cx="3587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000"/>
              <a:buFont typeface="Noto Sans Symbols"/>
              <a:buNone/>
            </a:pPr>
            <a:r>
              <a:rPr b="1" lang="en-US" sz="2000">
                <a:solidFill>
                  <a:srgbClr val="FF0000"/>
                </a:solidFill>
                <a:latin typeface="Tahoma"/>
                <a:ea typeface="Tahoma"/>
                <a:cs typeface="Tahoma"/>
                <a:sym typeface="Tahoma"/>
              </a:rPr>
              <a:t>X</a:t>
            </a:r>
            <a:endParaRPr/>
          </a:p>
        </p:txBody>
      </p:sp>
      <p:sp>
        <p:nvSpPr>
          <p:cNvPr id="5698" name="Google Shape;5698;p115"/>
          <p:cNvSpPr txBox="1"/>
          <p:nvPr/>
        </p:nvSpPr>
        <p:spPr>
          <a:xfrm>
            <a:off x="2687804" y="5735639"/>
            <a:ext cx="2736519"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Tahoma"/>
                <a:ea typeface="Tahoma"/>
                <a:cs typeface="Tahoma"/>
                <a:sym typeface="Tahoma"/>
              </a:rPr>
              <a:t>c. cumulative ACK covers</a:t>
            </a:r>
            <a:endParaRPr/>
          </a:p>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Tahoma"/>
                <a:ea typeface="Tahoma"/>
                <a:cs typeface="Tahoma"/>
                <a:sym typeface="Tahoma"/>
              </a:rPr>
              <a:t>for earlier lost ACK</a:t>
            </a:r>
            <a:endParaRPr sz="1000">
              <a:solidFill>
                <a:schemeClr val="dk1"/>
              </a:solidFill>
              <a:latin typeface="Tahoma"/>
              <a:ea typeface="Tahoma"/>
              <a:cs typeface="Tahoma"/>
              <a:sym typeface="Tahoma"/>
            </a:endParaRPr>
          </a:p>
        </p:txBody>
      </p:sp>
      <p:cxnSp>
        <p:nvCxnSpPr>
          <p:cNvPr id="5699" name="Google Shape;5699;p115"/>
          <p:cNvCxnSpPr/>
          <p:nvPr/>
        </p:nvCxnSpPr>
        <p:spPr>
          <a:xfrm>
            <a:off x="2892426" y="4540251"/>
            <a:ext cx="2441575" cy="665163"/>
          </a:xfrm>
          <a:prstGeom prst="straightConnector1">
            <a:avLst/>
          </a:prstGeom>
          <a:noFill/>
          <a:ln cap="flat" cmpd="sng" w="28575">
            <a:solidFill>
              <a:schemeClr val="accent2"/>
            </a:solidFill>
            <a:prstDash val="solid"/>
            <a:round/>
            <a:headEnd len="med" w="med" type="none"/>
            <a:tailEnd len="med" w="med" type="triangle"/>
          </a:ln>
        </p:spPr>
      </p:cxnSp>
      <p:cxnSp>
        <p:nvCxnSpPr>
          <p:cNvPr id="5700" name="Google Shape;5700;p115"/>
          <p:cNvCxnSpPr/>
          <p:nvPr/>
        </p:nvCxnSpPr>
        <p:spPr>
          <a:xfrm>
            <a:off x="2868614" y="2444750"/>
            <a:ext cx="2346325" cy="571500"/>
          </a:xfrm>
          <a:prstGeom prst="straightConnector1">
            <a:avLst/>
          </a:prstGeom>
          <a:noFill/>
          <a:ln cap="flat" cmpd="sng" w="28575">
            <a:solidFill>
              <a:schemeClr val="accent2"/>
            </a:solidFill>
            <a:prstDash val="solid"/>
            <a:round/>
            <a:headEnd len="med" w="med" type="none"/>
            <a:tailEnd len="med" w="med" type="triangle"/>
          </a:ln>
        </p:spPr>
      </p:cxnSp>
      <p:cxnSp>
        <p:nvCxnSpPr>
          <p:cNvPr id="5701" name="Google Shape;5701;p115"/>
          <p:cNvCxnSpPr/>
          <p:nvPr/>
        </p:nvCxnSpPr>
        <p:spPr>
          <a:xfrm flipH="1">
            <a:off x="3746501" y="3106739"/>
            <a:ext cx="1431925" cy="573087"/>
          </a:xfrm>
          <a:prstGeom prst="straightConnector1">
            <a:avLst/>
          </a:prstGeom>
          <a:noFill/>
          <a:ln cap="flat" cmpd="sng" w="28575">
            <a:solidFill>
              <a:schemeClr val="accent2"/>
            </a:solidFill>
            <a:prstDash val="solid"/>
            <a:round/>
            <a:headEnd len="med" w="med" type="none"/>
            <a:tailEnd len="med" w="med" type="triangle"/>
          </a:ln>
        </p:spPr>
      </p:cxnSp>
      <p:sp>
        <p:nvSpPr>
          <p:cNvPr id="5702" name="Google Shape;5702;p115"/>
          <p:cNvSpPr txBox="1"/>
          <p:nvPr/>
        </p:nvSpPr>
        <p:spPr>
          <a:xfrm>
            <a:off x="4794251" y="1273175"/>
            <a:ext cx="7731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Host B</a:t>
            </a:r>
            <a:endParaRPr/>
          </a:p>
        </p:txBody>
      </p:sp>
      <p:sp>
        <p:nvSpPr>
          <p:cNvPr id="5703" name="Google Shape;5703;p115"/>
          <p:cNvSpPr txBox="1"/>
          <p:nvPr/>
        </p:nvSpPr>
        <p:spPr>
          <a:xfrm>
            <a:off x="2473325" y="1303338"/>
            <a:ext cx="776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Host A</a:t>
            </a:r>
            <a:endParaRPr/>
          </a:p>
        </p:txBody>
      </p:sp>
      <p:sp>
        <p:nvSpPr>
          <p:cNvPr id="5704" name="Google Shape;5704;p115"/>
          <p:cNvSpPr/>
          <p:nvPr/>
        </p:nvSpPr>
        <p:spPr>
          <a:xfrm>
            <a:off x="3571875" y="2525714"/>
            <a:ext cx="869950" cy="40163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705" name="Google Shape;5705;p115"/>
          <p:cNvSpPr txBox="1"/>
          <p:nvPr/>
        </p:nvSpPr>
        <p:spPr>
          <a:xfrm>
            <a:off x="3002730" y="2578101"/>
            <a:ext cx="2106667"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Seq=92, 8 bytes of data</a:t>
            </a:r>
            <a:endParaRPr/>
          </a:p>
        </p:txBody>
      </p:sp>
      <p:grpSp>
        <p:nvGrpSpPr>
          <p:cNvPr id="5706" name="Google Shape;5706;p115"/>
          <p:cNvGrpSpPr/>
          <p:nvPr/>
        </p:nvGrpSpPr>
        <p:grpSpPr>
          <a:xfrm>
            <a:off x="3768726" y="3306763"/>
            <a:ext cx="949325" cy="304800"/>
            <a:chOff x="4215" y="2253"/>
            <a:chExt cx="598" cy="192"/>
          </a:xfrm>
        </p:grpSpPr>
        <p:sp>
          <p:nvSpPr>
            <p:cNvPr id="5707" name="Google Shape;5707;p115"/>
            <p:cNvSpPr/>
            <p:nvPr/>
          </p:nvSpPr>
          <p:spPr>
            <a:xfrm>
              <a:off x="4265" y="2274"/>
              <a:ext cx="471" cy="15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708" name="Google Shape;5708;p115"/>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ACK=100</a:t>
              </a:r>
              <a:endParaRPr sz="1000">
                <a:solidFill>
                  <a:schemeClr val="dk1"/>
                </a:solidFill>
                <a:latin typeface="Times New Roman"/>
                <a:ea typeface="Times New Roman"/>
                <a:cs typeface="Times New Roman"/>
                <a:sym typeface="Times New Roman"/>
              </a:endParaRPr>
            </a:p>
          </p:txBody>
        </p:sp>
      </p:grpSp>
      <p:cxnSp>
        <p:nvCxnSpPr>
          <p:cNvPr id="5709" name="Google Shape;5709;p115"/>
          <p:cNvCxnSpPr/>
          <p:nvPr/>
        </p:nvCxnSpPr>
        <p:spPr>
          <a:xfrm>
            <a:off x="2847975" y="2203450"/>
            <a:ext cx="0" cy="3525838"/>
          </a:xfrm>
          <a:prstGeom prst="straightConnector1">
            <a:avLst/>
          </a:prstGeom>
          <a:noFill/>
          <a:ln cap="flat" cmpd="sng" w="9525">
            <a:solidFill>
              <a:schemeClr val="lt2"/>
            </a:solidFill>
            <a:prstDash val="solid"/>
            <a:round/>
            <a:headEnd len="med" w="med" type="none"/>
            <a:tailEnd len="med" w="med" type="none"/>
          </a:ln>
        </p:spPr>
      </p:cxnSp>
      <p:cxnSp>
        <p:nvCxnSpPr>
          <p:cNvPr id="5710" name="Google Shape;5710;p115"/>
          <p:cNvCxnSpPr/>
          <p:nvPr/>
        </p:nvCxnSpPr>
        <p:spPr>
          <a:xfrm>
            <a:off x="5253038" y="2198689"/>
            <a:ext cx="0" cy="3538537"/>
          </a:xfrm>
          <a:prstGeom prst="straightConnector1">
            <a:avLst/>
          </a:prstGeom>
          <a:noFill/>
          <a:ln cap="flat" cmpd="sng" w="9525">
            <a:solidFill>
              <a:schemeClr val="lt2"/>
            </a:solidFill>
            <a:prstDash val="solid"/>
            <a:round/>
            <a:headEnd len="med" w="med" type="none"/>
            <a:tailEnd len="med" w="med" type="none"/>
          </a:ln>
        </p:spPr>
      </p:cxnSp>
      <p:sp>
        <p:nvSpPr>
          <p:cNvPr id="5711" name="Google Shape;5711;p115"/>
          <p:cNvSpPr/>
          <p:nvPr/>
        </p:nvSpPr>
        <p:spPr>
          <a:xfrm>
            <a:off x="3589338" y="4613275"/>
            <a:ext cx="933450" cy="50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712" name="Google Shape;5712;p115"/>
          <p:cNvSpPr txBox="1"/>
          <p:nvPr/>
        </p:nvSpPr>
        <p:spPr>
          <a:xfrm>
            <a:off x="2863851" y="4700588"/>
            <a:ext cx="2652713"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Seq=120,  15 bytes of data</a:t>
            </a:r>
            <a:endParaRPr/>
          </a:p>
        </p:txBody>
      </p:sp>
      <p:sp>
        <p:nvSpPr>
          <p:cNvPr id="5713" name="Google Shape;5713;p115"/>
          <p:cNvSpPr/>
          <p:nvPr/>
        </p:nvSpPr>
        <p:spPr>
          <a:xfrm>
            <a:off x="3700463" y="5173663"/>
            <a:ext cx="747712" cy="24606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nvGrpSpPr>
          <p:cNvPr id="5714" name="Google Shape;5714;p115"/>
          <p:cNvGrpSpPr/>
          <p:nvPr/>
        </p:nvGrpSpPr>
        <p:grpSpPr>
          <a:xfrm>
            <a:off x="2471738" y="2449513"/>
            <a:ext cx="400050" cy="2404468"/>
            <a:chOff x="3413" y="1529"/>
            <a:chExt cx="252" cy="1102"/>
          </a:xfrm>
        </p:grpSpPr>
        <p:sp>
          <p:nvSpPr>
            <p:cNvPr id="5715" name="Google Shape;5715;p115"/>
            <p:cNvSpPr txBox="1"/>
            <p:nvPr/>
          </p:nvSpPr>
          <p:spPr>
            <a:xfrm rot="-5400000">
              <a:off x="3380" y="1964"/>
              <a:ext cx="319" cy="25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timeout</a:t>
              </a:r>
              <a:endParaRPr/>
            </a:p>
          </p:txBody>
        </p:sp>
        <p:grpSp>
          <p:nvGrpSpPr>
            <p:cNvPr id="5716" name="Google Shape;5716;p115"/>
            <p:cNvGrpSpPr/>
            <p:nvPr/>
          </p:nvGrpSpPr>
          <p:grpSpPr>
            <a:xfrm>
              <a:off x="3504" y="1529"/>
              <a:ext cx="66" cy="320"/>
              <a:chOff x="3099" y="1749"/>
              <a:chExt cx="66" cy="320"/>
            </a:xfrm>
          </p:grpSpPr>
          <p:cxnSp>
            <p:nvCxnSpPr>
              <p:cNvPr id="5717" name="Google Shape;5717;p115"/>
              <p:cNvCxnSpPr/>
              <p:nvPr/>
            </p:nvCxnSpPr>
            <p:spPr>
              <a:xfrm rot="10800000">
                <a:off x="3129" y="1749"/>
                <a:ext cx="0" cy="320"/>
              </a:xfrm>
              <a:prstGeom prst="straightConnector1">
                <a:avLst/>
              </a:prstGeom>
              <a:noFill/>
              <a:ln cap="flat" cmpd="sng" w="9525">
                <a:solidFill>
                  <a:schemeClr val="dk1"/>
                </a:solidFill>
                <a:prstDash val="solid"/>
                <a:round/>
                <a:headEnd len="med" w="med" type="none"/>
                <a:tailEnd len="med" w="med" type="triangle"/>
              </a:ln>
            </p:spPr>
          </p:cxnSp>
          <p:cxnSp>
            <p:nvCxnSpPr>
              <p:cNvPr id="5718" name="Google Shape;5718;p115"/>
              <p:cNvCxnSpPr/>
              <p:nvPr/>
            </p:nvCxnSpPr>
            <p:spPr>
              <a:xfrm>
                <a:off x="3099" y="1752"/>
                <a:ext cx="66" cy="0"/>
              </a:xfrm>
              <a:prstGeom prst="straightConnector1">
                <a:avLst/>
              </a:prstGeom>
              <a:noFill/>
              <a:ln cap="flat" cmpd="sng" w="9525">
                <a:solidFill>
                  <a:schemeClr val="dk1"/>
                </a:solidFill>
                <a:prstDash val="solid"/>
                <a:round/>
                <a:headEnd len="med" w="med" type="none"/>
                <a:tailEnd len="med" w="med" type="none"/>
              </a:ln>
            </p:spPr>
          </p:cxnSp>
        </p:grpSp>
        <p:grpSp>
          <p:nvGrpSpPr>
            <p:cNvPr id="5719" name="Google Shape;5719;p115"/>
            <p:cNvGrpSpPr/>
            <p:nvPr/>
          </p:nvGrpSpPr>
          <p:grpSpPr>
            <a:xfrm rot="10800000">
              <a:off x="3494" y="2311"/>
              <a:ext cx="66" cy="320"/>
              <a:chOff x="3106" y="1750"/>
              <a:chExt cx="66" cy="320"/>
            </a:xfrm>
          </p:grpSpPr>
          <p:cxnSp>
            <p:nvCxnSpPr>
              <p:cNvPr id="5720" name="Google Shape;5720;p115"/>
              <p:cNvCxnSpPr/>
              <p:nvPr/>
            </p:nvCxnSpPr>
            <p:spPr>
              <a:xfrm rot="10800000">
                <a:off x="3136" y="1750"/>
                <a:ext cx="0" cy="320"/>
              </a:xfrm>
              <a:prstGeom prst="straightConnector1">
                <a:avLst/>
              </a:prstGeom>
              <a:noFill/>
              <a:ln cap="flat" cmpd="sng" w="9525">
                <a:solidFill>
                  <a:schemeClr val="dk1"/>
                </a:solidFill>
                <a:prstDash val="solid"/>
                <a:round/>
                <a:headEnd len="med" w="med" type="none"/>
                <a:tailEnd len="med" w="med" type="triangle"/>
              </a:ln>
            </p:spPr>
          </p:cxnSp>
          <p:cxnSp>
            <p:nvCxnSpPr>
              <p:cNvPr id="5721" name="Google Shape;5721;p115"/>
              <p:cNvCxnSpPr/>
              <p:nvPr/>
            </p:nvCxnSpPr>
            <p:spPr>
              <a:xfrm>
                <a:off x="3106" y="1758"/>
                <a:ext cx="66" cy="0"/>
              </a:xfrm>
              <a:prstGeom prst="straightConnector1">
                <a:avLst/>
              </a:prstGeom>
              <a:noFill/>
              <a:ln cap="flat" cmpd="sng" w="9525">
                <a:solidFill>
                  <a:schemeClr val="dk1"/>
                </a:solidFill>
                <a:prstDash val="solid"/>
                <a:round/>
                <a:headEnd len="med" w="med" type="none"/>
                <a:tailEnd len="med" w="med" type="none"/>
              </a:ln>
            </p:spPr>
          </p:cxnSp>
        </p:grpSp>
      </p:grpSp>
      <p:grpSp>
        <p:nvGrpSpPr>
          <p:cNvPr id="5722" name="Google Shape;5722;p115"/>
          <p:cNvGrpSpPr/>
          <p:nvPr/>
        </p:nvGrpSpPr>
        <p:grpSpPr>
          <a:xfrm>
            <a:off x="2854326" y="2830513"/>
            <a:ext cx="2346325" cy="571500"/>
            <a:chOff x="3759" y="1622"/>
            <a:chExt cx="1478" cy="360"/>
          </a:xfrm>
        </p:grpSpPr>
        <p:cxnSp>
          <p:nvCxnSpPr>
            <p:cNvPr id="5723" name="Google Shape;5723;p115"/>
            <p:cNvCxnSpPr/>
            <p:nvPr/>
          </p:nvCxnSpPr>
          <p:spPr>
            <a:xfrm>
              <a:off x="3759" y="1622"/>
              <a:ext cx="1478" cy="360"/>
            </a:xfrm>
            <a:prstGeom prst="straightConnector1">
              <a:avLst/>
            </a:prstGeom>
            <a:noFill/>
            <a:ln cap="flat" cmpd="sng" w="28575">
              <a:solidFill>
                <a:schemeClr val="accent2"/>
              </a:solidFill>
              <a:prstDash val="solid"/>
              <a:round/>
              <a:headEnd len="med" w="med" type="none"/>
              <a:tailEnd len="med" w="med" type="triangle"/>
            </a:ln>
          </p:spPr>
        </p:cxnSp>
        <p:sp>
          <p:nvSpPr>
            <p:cNvPr id="5724" name="Google Shape;5724;p115"/>
            <p:cNvSpPr/>
            <p:nvPr/>
          </p:nvSpPr>
          <p:spPr>
            <a:xfrm>
              <a:off x="4202" y="1673"/>
              <a:ext cx="548" cy="25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725" name="Google Shape;5725;p115"/>
            <p:cNvSpPr txBox="1"/>
            <p:nvPr/>
          </p:nvSpPr>
          <p:spPr>
            <a:xfrm>
              <a:off x="3790" y="1706"/>
              <a:ext cx="1437"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Seq=100, 20 bytes of data</a:t>
              </a:r>
              <a:endParaRPr/>
            </a:p>
          </p:txBody>
        </p:sp>
      </p:grpSp>
      <p:cxnSp>
        <p:nvCxnSpPr>
          <p:cNvPr id="5726" name="Google Shape;5726;p115"/>
          <p:cNvCxnSpPr/>
          <p:nvPr/>
        </p:nvCxnSpPr>
        <p:spPr>
          <a:xfrm flipH="1">
            <a:off x="2859088" y="3462339"/>
            <a:ext cx="2324100" cy="1025525"/>
          </a:xfrm>
          <a:prstGeom prst="straightConnector1">
            <a:avLst/>
          </a:prstGeom>
          <a:noFill/>
          <a:ln cap="flat" cmpd="sng" w="28575">
            <a:solidFill>
              <a:schemeClr val="accent2"/>
            </a:solidFill>
            <a:prstDash val="solid"/>
            <a:round/>
            <a:headEnd len="med" w="med" type="none"/>
            <a:tailEnd len="med" w="med" type="triangle"/>
          </a:ln>
        </p:spPr>
      </p:cxnSp>
      <p:grpSp>
        <p:nvGrpSpPr>
          <p:cNvPr id="5727" name="Google Shape;5727;p115"/>
          <p:cNvGrpSpPr/>
          <p:nvPr/>
        </p:nvGrpSpPr>
        <p:grpSpPr>
          <a:xfrm>
            <a:off x="3502026" y="3863975"/>
            <a:ext cx="949325" cy="304800"/>
            <a:chOff x="4215" y="2253"/>
            <a:chExt cx="598" cy="192"/>
          </a:xfrm>
        </p:grpSpPr>
        <p:sp>
          <p:nvSpPr>
            <p:cNvPr id="5728" name="Google Shape;5728;p115"/>
            <p:cNvSpPr/>
            <p:nvPr/>
          </p:nvSpPr>
          <p:spPr>
            <a:xfrm>
              <a:off x="4265" y="2274"/>
              <a:ext cx="471" cy="15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729" name="Google Shape;5729;p115"/>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ACK=120</a:t>
              </a:r>
              <a:endParaRPr sz="1000">
                <a:solidFill>
                  <a:schemeClr val="dk1"/>
                </a:solidFill>
                <a:latin typeface="Times New Roman"/>
                <a:ea typeface="Times New Roman"/>
                <a:cs typeface="Times New Roman"/>
                <a:sym typeface="Times New Roman"/>
              </a:endParaRPr>
            </a:p>
          </p:txBody>
        </p:sp>
      </p:grpSp>
      <p:pic>
        <p:nvPicPr>
          <p:cNvPr descr="underline_base" id="5730" name="Google Shape;5730;p115"/>
          <p:cNvPicPr preferRelativeResize="0"/>
          <p:nvPr/>
        </p:nvPicPr>
        <p:blipFill rotWithShape="1">
          <a:blip r:embed="rId3">
            <a:alphaModFix/>
          </a:blip>
          <a:srcRect b="0" l="0" r="0" t="0"/>
          <a:stretch/>
        </p:blipFill>
        <p:spPr>
          <a:xfrm>
            <a:off x="2128838" y="912814"/>
            <a:ext cx="6399212" cy="173037"/>
          </a:xfrm>
          <a:prstGeom prst="rect">
            <a:avLst/>
          </a:prstGeom>
          <a:noFill/>
          <a:ln>
            <a:noFill/>
          </a:ln>
        </p:spPr>
      </p:pic>
      <p:grpSp>
        <p:nvGrpSpPr>
          <p:cNvPr id="5731" name="Google Shape;5731;p115"/>
          <p:cNvGrpSpPr/>
          <p:nvPr/>
        </p:nvGrpSpPr>
        <p:grpSpPr>
          <a:xfrm>
            <a:off x="2427289" y="1565275"/>
            <a:ext cx="630237" cy="533400"/>
            <a:chOff x="-44" y="1473"/>
            <a:chExt cx="981" cy="1105"/>
          </a:xfrm>
        </p:grpSpPr>
        <p:pic>
          <p:nvPicPr>
            <p:cNvPr descr="desktop_computer_stylized_medium" id="5732" name="Google Shape;5732;p115"/>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733" name="Google Shape;5733;p11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734" name="Google Shape;5734;p115"/>
          <p:cNvGrpSpPr/>
          <p:nvPr/>
        </p:nvGrpSpPr>
        <p:grpSpPr>
          <a:xfrm flipH="1">
            <a:off x="5005389" y="1560513"/>
            <a:ext cx="674687" cy="590550"/>
            <a:chOff x="-44" y="1473"/>
            <a:chExt cx="981" cy="1105"/>
          </a:xfrm>
        </p:grpSpPr>
        <p:pic>
          <p:nvPicPr>
            <p:cNvPr descr="desktop_computer_stylized_medium" id="5735" name="Google Shape;5735;p115"/>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736" name="Google Shape;5736;p11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737" name="Google Shape;5737;p115"/>
          <p:cNvSpPr txBox="1"/>
          <p:nvPr/>
        </p:nvSpPr>
        <p:spPr>
          <a:xfrm>
            <a:off x="6053138" y="1771651"/>
            <a:ext cx="4165600" cy="3878263"/>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99"/>
              </a:buClr>
              <a:buSzPts val="1170"/>
              <a:buFont typeface="Noto Sans Symbols"/>
              <a:buChar char="❖"/>
            </a:pPr>
            <a:r>
              <a:rPr lang="en-US" sz="1800">
                <a:solidFill>
                  <a:schemeClr val="dk1"/>
                </a:solidFill>
                <a:latin typeface="Gill Sans"/>
                <a:ea typeface="Gill Sans"/>
                <a:cs typeface="Gill Sans"/>
                <a:sym typeface="Gill Sans"/>
              </a:rPr>
              <a:t>suppose Host A sends the two segments, exactly as in the second example. </a:t>
            </a:r>
            <a:endParaRPr/>
          </a:p>
          <a:p>
            <a:pPr indent="-342900" lvl="0" marL="342900" marR="0" rtl="0" algn="l">
              <a:lnSpc>
                <a:spcPct val="100000"/>
              </a:lnSpc>
              <a:spcBef>
                <a:spcPts val="1200"/>
              </a:spcBef>
              <a:spcAft>
                <a:spcPts val="0"/>
              </a:spcAft>
              <a:buClr>
                <a:srgbClr val="000099"/>
              </a:buClr>
              <a:buSzPts val="1170"/>
              <a:buFont typeface="Noto Sans Symbols"/>
              <a:buChar char="❖"/>
            </a:pPr>
            <a:r>
              <a:rPr lang="en-US" sz="1800">
                <a:solidFill>
                  <a:schemeClr val="dk1"/>
                </a:solidFill>
                <a:latin typeface="Gill Sans"/>
                <a:ea typeface="Gill Sans"/>
                <a:cs typeface="Gill Sans"/>
                <a:sym typeface="Gill Sans"/>
              </a:rPr>
              <a:t>The acknowledgment of the first segment is lost in the network, but just before the timeout event, </a:t>
            </a:r>
            <a:endParaRPr/>
          </a:p>
          <a:p>
            <a:pPr indent="-342900" lvl="0" marL="342900" marR="0" rtl="0" algn="l">
              <a:lnSpc>
                <a:spcPct val="100000"/>
              </a:lnSpc>
              <a:spcBef>
                <a:spcPts val="1200"/>
              </a:spcBef>
              <a:spcAft>
                <a:spcPts val="0"/>
              </a:spcAft>
              <a:buClr>
                <a:srgbClr val="000099"/>
              </a:buClr>
              <a:buSzPts val="1170"/>
              <a:buFont typeface="Noto Sans Symbols"/>
              <a:buChar char="❖"/>
            </a:pPr>
            <a:r>
              <a:rPr lang="en-US" sz="1800">
                <a:solidFill>
                  <a:schemeClr val="dk1"/>
                </a:solidFill>
                <a:latin typeface="Gill Sans"/>
                <a:ea typeface="Gill Sans"/>
                <a:cs typeface="Gill Sans"/>
                <a:sym typeface="Gill Sans"/>
              </a:rPr>
              <a:t>Host A receives an acknowledgment with acknowledgment number 120. </a:t>
            </a:r>
            <a:endParaRPr/>
          </a:p>
          <a:p>
            <a:pPr indent="-342900" lvl="0" marL="342900" marR="0" rtl="0" algn="l">
              <a:lnSpc>
                <a:spcPct val="100000"/>
              </a:lnSpc>
              <a:spcBef>
                <a:spcPts val="1200"/>
              </a:spcBef>
              <a:spcAft>
                <a:spcPts val="0"/>
              </a:spcAft>
              <a:buClr>
                <a:srgbClr val="000099"/>
              </a:buClr>
              <a:buSzPts val="1170"/>
              <a:buFont typeface="Noto Sans Symbols"/>
              <a:buChar char="❖"/>
            </a:pPr>
            <a:r>
              <a:rPr lang="en-US" sz="1800">
                <a:solidFill>
                  <a:schemeClr val="dk1"/>
                </a:solidFill>
                <a:latin typeface="Gill Sans"/>
                <a:ea typeface="Gill Sans"/>
                <a:cs typeface="Gill Sans"/>
                <a:sym typeface="Gill Sans"/>
              </a:rPr>
              <a:t>Host A therefore knows that Host B has received </a:t>
            </a:r>
            <a:r>
              <a:rPr i="1" lang="en-US" sz="1800">
                <a:solidFill>
                  <a:schemeClr val="dk1"/>
                </a:solidFill>
                <a:latin typeface="Gill Sans"/>
                <a:ea typeface="Gill Sans"/>
                <a:cs typeface="Gill Sans"/>
                <a:sym typeface="Gill Sans"/>
              </a:rPr>
              <a:t>everything </a:t>
            </a:r>
            <a:r>
              <a:rPr lang="en-US" sz="1800">
                <a:solidFill>
                  <a:schemeClr val="dk1"/>
                </a:solidFill>
                <a:latin typeface="Gill Sans"/>
                <a:ea typeface="Gill Sans"/>
                <a:cs typeface="Gill Sans"/>
                <a:sym typeface="Gill Sans"/>
              </a:rPr>
              <a:t>up through byte 119; so Host A does not resend both of the two segments. </a:t>
            </a:r>
            <a:endParaRPr/>
          </a:p>
        </p:txBody>
      </p:sp>
      <p:sp>
        <p:nvSpPr>
          <p:cNvPr id="5738" name="Google Shape;5738;p11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3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3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3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37">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2" name="Shape 5742"/>
        <p:cNvGrpSpPr/>
        <p:nvPr/>
      </p:nvGrpSpPr>
      <p:grpSpPr>
        <a:xfrm>
          <a:off x="0" y="0"/>
          <a:ext cx="0" cy="0"/>
          <a:chOff x="0" y="0"/>
          <a:chExt cx="0" cy="0"/>
        </a:xfrm>
      </p:grpSpPr>
      <p:sp>
        <p:nvSpPr>
          <p:cNvPr id="5743" name="Google Shape;5743;p116"/>
          <p:cNvSpPr txBox="1"/>
          <p:nvPr>
            <p:ph type="title"/>
          </p:nvPr>
        </p:nvSpPr>
        <p:spPr>
          <a:xfrm>
            <a:off x="1235075" y="229570"/>
            <a:ext cx="5040313" cy="9064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TCP fast retransmit</a:t>
            </a:r>
            <a:endParaRPr/>
          </a:p>
        </p:txBody>
      </p:sp>
      <p:sp>
        <p:nvSpPr>
          <p:cNvPr id="5744" name="Google Shape;5744;p116"/>
          <p:cNvSpPr txBox="1"/>
          <p:nvPr>
            <p:ph idx="1" type="body"/>
          </p:nvPr>
        </p:nvSpPr>
        <p:spPr>
          <a:xfrm>
            <a:off x="1235075" y="1397000"/>
            <a:ext cx="10007232" cy="4648200"/>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Font typeface="Noto Sans Symbols"/>
              <a:buChar char="▪"/>
            </a:pPr>
            <a:r>
              <a:rPr lang="en-US" sz="3200"/>
              <a:t>time-out period  often relatively long:</a:t>
            </a:r>
            <a:endParaRPr/>
          </a:p>
          <a:p>
            <a:pPr indent="-231775" lvl="1" marL="695325" rtl="0" algn="l">
              <a:lnSpc>
                <a:spcPct val="90000"/>
              </a:lnSpc>
              <a:spcBef>
                <a:spcPts val="500"/>
              </a:spcBef>
              <a:spcAft>
                <a:spcPts val="0"/>
              </a:spcAft>
              <a:buSzPts val="2800"/>
              <a:buFont typeface="Arial"/>
              <a:buChar char="•"/>
            </a:pPr>
            <a:r>
              <a:rPr lang="en-US" sz="2800"/>
              <a:t>long delay before resending lost packet</a:t>
            </a:r>
            <a:endParaRPr/>
          </a:p>
          <a:p>
            <a:pPr indent="-222250" lvl="0" marL="352425" rtl="0" algn="l">
              <a:lnSpc>
                <a:spcPct val="90000"/>
              </a:lnSpc>
              <a:spcBef>
                <a:spcPts val="1000"/>
              </a:spcBef>
              <a:spcAft>
                <a:spcPts val="0"/>
              </a:spcAft>
              <a:buSzPts val="3200"/>
              <a:buFont typeface="Noto Sans Symbols"/>
              <a:buChar char="▪"/>
            </a:pPr>
            <a:r>
              <a:rPr lang="en-US" sz="3200"/>
              <a:t>detect lost segments via duplicate ACKs.</a:t>
            </a:r>
            <a:endParaRPr/>
          </a:p>
          <a:p>
            <a:pPr indent="-231775" lvl="1" marL="695325" rtl="0" algn="l">
              <a:lnSpc>
                <a:spcPct val="90000"/>
              </a:lnSpc>
              <a:spcBef>
                <a:spcPts val="500"/>
              </a:spcBef>
              <a:spcAft>
                <a:spcPts val="0"/>
              </a:spcAft>
              <a:buSzPts val="2800"/>
              <a:buFont typeface="Arial"/>
              <a:buChar char="•"/>
            </a:pPr>
            <a:r>
              <a:rPr lang="en-US" sz="2800"/>
              <a:t>sender often sends many segments back-to-back</a:t>
            </a:r>
            <a:endParaRPr/>
          </a:p>
          <a:p>
            <a:pPr indent="-231775" lvl="1" marL="695325" rtl="0" algn="l">
              <a:lnSpc>
                <a:spcPct val="90000"/>
              </a:lnSpc>
              <a:spcBef>
                <a:spcPts val="500"/>
              </a:spcBef>
              <a:spcAft>
                <a:spcPts val="0"/>
              </a:spcAft>
              <a:buSzPts val="2800"/>
              <a:buFont typeface="Arial"/>
              <a:buChar char="•"/>
            </a:pPr>
            <a:r>
              <a:rPr lang="en-US" sz="2800"/>
              <a:t>if segment is lost, there will likely be many duplicate ACKs.</a:t>
            </a:r>
            <a:endParaRPr/>
          </a:p>
          <a:p>
            <a:pPr indent="-53975" lvl="1" marL="695325" rtl="0" algn="l">
              <a:lnSpc>
                <a:spcPct val="90000"/>
              </a:lnSpc>
              <a:spcBef>
                <a:spcPts val="500"/>
              </a:spcBef>
              <a:spcAft>
                <a:spcPts val="0"/>
              </a:spcAft>
              <a:buSzPts val="2800"/>
              <a:buFont typeface="Arial"/>
              <a:buNone/>
            </a:pPr>
            <a:r>
              <a:t/>
            </a:r>
            <a:endParaRPr sz="2800"/>
          </a:p>
          <a:p>
            <a:pPr indent="-53975" lvl="1" marL="695325" rtl="0" algn="l">
              <a:lnSpc>
                <a:spcPct val="90000"/>
              </a:lnSpc>
              <a:spcBef>
                <a:spcPts val="500"/>
              </a:spcBef>
              <a:spcAft>
                <a:spcPts val="0"/>
              </a:spcAft>
              <a:buSzPts val="2800"/>
              <a:buFont typeface="Arial"/>
              <a:buNone/>
            </a:pPr>
            <a:r>
              <a:t/>
            </a:r>
            <a:endParaRPr sz="2800"/>
          </a:p>
        </p:txBody>
      </p:sp>
      <p:sp>
        <p:nvSpPr>
          <p:cNvPr id="5745" name="Google Shape;5745;p11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0" name="Shape 5750"/>
        <p:cNvGrpSpPr/>
        <p:nvPr/>
      </p:nvGrpSpPr>
      <p:grpSpPr>
        <a:xfrm>
          <a:off x="0" y="0"/>
          <a:ext cx="0" cy="0"/>
          <a:chOff x="0" y="0"/>
          <a:chExt cx="0" cy="0"/>
        </a:xfrm>
      </p:grpSpPr>
      <p:sp>
        <p:nvSpPr>
          <p:cNvPr id="5751" name="Google Shape;5751;p117"/>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fast retransmit</a:t>
            </a:r>
            <a:endParaRPr b="0" sz="4400"/>
          </a:p>
        </p:txBody>
      </p:sp>
      <p:cxnSp>
        <p:nvCxnSpPr>
          <p:cNvPr id="5752" name="Google Shape;5752;p117"/>
          <p:cNvCxnSpPr/>
          <p:nvPr/>
        </p:nvCxnSpPr>
        <p:spPr>
          <a:xfrm>
            <a:off x="7137251" y="1928015"/>
            <a:ext cx="0" cy="4413474"/>
          </a:xfrm>
          <a:prstGeom prst="straightConnector1">
            <a:avLst/>
          </a:prstGeom>
          <a:noFill/>
          <a:ln cap="flat" cmpd="sng" w="9525">
            <a:solidFill>
              <a:srgbClr val="000000"/>
            </a:solidFill>
            <a:prstDash val="solid"/>
            <a:round/>
            <a:headEnd len="med" w="med" type="none"/>
            <a:tailEnd len="med" w="med" type="triangle"/>
          </a:ln>
        </p:spPr>
      </p:cxnSp>
      <p:cxnSp>
        <p:nvCxnSpPr>
          <p:cNvPr id="5753" name="Google Shape;5753;p117"/>
          <p:cNvCxnSpPr/>
          <p:nvPr/>
        </p:nvCxnSpPr>
        <p:spPr>
          <a:xfrm>
            <a:off x="10614518" y="2016469"/>
            <a:ext cx="14666" cy="4325020"/>
          </a:xfrm>
          <a:prstGeom prst="straightConnector1">
            <a:avLst/>
          </a:prstGeom>
          <a:noFill/>
          <a:ln cap="flat" cmpd="sng" w="9525">
            <a:solidFill>
              <a:srgbClr val="000000"/>
            </a:solidFill>
            <a:prstDash val="solid"/>
            <a:round/>
            <a:headEnd len="med" w="med" type="none"/>
            <a:tailEnd len="med" w="med" type="triangle"/>
          </a:ln>
        </p:spPr>
      </p:cxnSp>
      <p:sp>
        <p:nvSpPr>
          <p:cNvPr id="5754" name="Google Shape;5754;p117"/>
          <p:cNvSpPr txBox="1"/>
          <p:nvPr/>
        </p:nvSpPr>
        <p:spPr>
          <a:xfrm>
            <a:off x="9960336" y="1045159"/>
            <a:ext cx="1069083" cy="39067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B</a:t>
            </a:r>
            <a:endParaRPr/>
          </a:p>
        </p:txBody>
      </p:sp>
      <p:sp>
        <p:nvSpPr>
          <p:cNvPr id="5755" name="Google Shape;5755;p117"/>
          <p:cNvSpPr txBox="1"/>
          <p:nvPr/>
        </p:nvSpPr>
        <p:spPr>
          <a:xfrm>
            <a:off x="6733327" y="1065430"/>
            <a:ext cx="1073474" cy="39067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Host A</a:t>
            </a:r>
            <a:endParaRPr/>
          </a:p>
        </p:txBody>
      </p:sp>
      <p:grpSp>
        <p:nvGrpSpPr>
          <p:cNvPr id="5756" name="Google Shape;5756;p117"/>
          <p:cNvGrpSpPr/>
          <p:nvPr/>
        </p:nvGrpSpPr>
        <p:grpSpPr>
          <a:xfrm>
            <a:off x="6606003" y="2250502"/>
            <a:ext cx="548811" cy="4090987"/>
            <a:chOff x="397" y="868"/>
            <a:chExt cx="250" cy="2220"/>
          </a:xfrm>
        </p:grpSpPr>
        <p:sp>
          <p:nvSpPr>
            <p:cNvPr id="5757" name="Google Shape;5757;p117"/>
            <p:cNvSpPr txBox="1"/>
            <p:nvPr/>
          </p:nvSpPr>
          <p:spPr>
            <a:xfrm rot="-5400000">
              <a:off x="305" y="1870"/>
              <a:ext cx="434"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p:txBody>
        </p:sp>
        <p:grpSp>
          <p:nvGrpSpPr>
            <p:cNvPr id="5758" name="Google Shape;5758;p117"/>
            <p:cNvGrpSpPr/>
            <p:nvPr/>
          </p:nvGrpSpPr>
          <p:grpSpPr>
            <a:xfrm>
              <a:off x="488" y="868"/>
              <a:ext cx="66" cy="893"/>
              <a:chOff x="3099" y="1749"/>
              <a:chExt cx="66" cy="320"/>
            </a:xfrm>
          </p:grpSpPr>
          <p:cxnSp>
            <p:nvCxnSpPr>
              <p:cNvPr id="5759" name="Google Shape;5759;p117"/>
              <p:cNvCxnSpPr/>
              <p:nvPr/>
            </p:nvCxnSpPr>
            <p:spPr>
              <a:xfrm rot="10800000">
                <a:off x="3129" y="1749"/>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5760" name="Google Shape;5760;p117"/>
              <p:cNvCxnSpPr/>
              <p:nvPr/>
            </p:nvCxnSpPr>
            <p:spPr>
              <a:xfrm>
                <a:off x="3099" y="1752"/>
                <a:ext cx="66" cy="0"/>
              </a:xfrm>
              <a:prstGeom prst="straightConnector1">
                <a:avLst/>
              </a:prstGeom>
              <a:noFill/>
              <a:ln cap="flat" cmpd="sng" w="9525">
                <a:solidFill>
                  <a:srgbClr val="000000"/>
                </a:solidFill>
                <a:prstDash val="solid"/>
                <a:round/>
                <a:headEnd len="med" w="med" type="none"/>
                <a:tailEnd len="med" w="med" type="none"/>
              </a:ln>
            </p:spPr>
          </p:cxnSp>
        </p:grpSp>
        <p:grpSp>
          <p:nvGrpSpPr>
            <p:cNvPr id="5761" name="Google Shape;5761;p117"/>
            <p:cNvGrpSpPr/>
            <p:nvPr/>
          </p:nvGrpSpPr>
          <p:grpSpPr>
            <a:xfrm rot="10800000">
              <a:off x="478" y="2224"/>
              <a:ext cx="66" cy="864"/>
              <a:chOff x="3106" y="1749"/>
              <a:chExt cx="66" cy="320"/>
            </a:xfrm>
          </p:grpSpPr>
          <p:cxnSp>
            <p:nvCxnSpPr>
              <p:cNvPr id="5762" name="Google Shape;5762;p117"/>
              <p:cNvCxnSpPr/>
              <p:nvPr/>
            </p:nvCxnSpPr>
            <p:spPr>
              <a:xfrm rot="10800000">
                <a:off x="3132" y="1749"/>
                <a:ext cx="0" cy="320"/>
              </a:xfrm>
              <a:prstGeom prst="straightConnector1">
                <a:avLst/>
              </a:prstGeom>
              <a:noFill/>
              <a:ln cap="flat" cmpd="sng" w="9525">
                <a:solidFill>
                  <a:srgbClr val="000000"/>
                </a:solidFill>
                <a:prstDash val="solid"/>
                <a:round/>
                <a:headEnd len="med" w="med" type="none"/>
                <a:tailEnd len="med" w="med" type="triangle"/>
              </a:ln>
            </p:spPr>
          </p:cxnSp>
          <p:cxnSp>
            <p:nvCxnSpPr>
              <p:cNvPr id="5763" name="Google Shape;5763;p117"/>
              <p:cNvCxnSpPr/>
              <p:nvPr/>
            </p:nvCxnSpPr>
            <p:spPr>
              <a:xfrm>
                <a:off x="3106" y="1752"/>
                <a:ext cx="66"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5764" name="Google Shape;5764;p117"/>
          <p:cNvGrpSpPr/>
          <p:nvPr/>
        </p:nvGrpSpPr>
        <p:grpSpPr>
          <a:xfrm>
            <a:off x="6989928" y="3003106"/>
            <a:ext cx="3635826" cy="2213976"/>
            <a:chOff x="6989928" y="3003106"/>
            <a:chExt cx="3635826" cy="2213976"/>
          </a:xfrm>
        </p:grpSpPr>
        <p:cxnSp>
          <p:nvCxnSpPr>
            <p:cNvPr id="5765" name="Google Shape;5765;p117"/>
            <p:cNvCxnSpPr/>
            <p:nvPr/>
          </p:nvCxnSpPr>
          <p:spPr>
            <a:xfrm flipH="1">
              <a:off x="7124339" y="3003106"/>
              <a:ext cx="3483853" cy="939821"/>
            </a:xfrm>
            <a:prstGeom prst="straightConnector1">
              <a:avLst/>
            </a:prstGeom>
            <a:noFill/>
            <a:ln cap="flat" cmpd="sng" w="28575">
              <a:solidFill>
                <a:srgbClr val="3333CC"/>
              </a:solidFill>
              <a:prstDash val="solid"/>
              <a:round/>
              <a:headEnd len="med" w="med" type="none"/>
              <a:tailEnd len="med" w="med" type="triangle"/>
            </a:ln>
          </p:spPr>
        </p:cxnSp>
        <p:cxnSp>
          <p:nvCxnSpPr>
            <p:cNvPr id="5766" name="Google Shape;5766;p117"/>
            <p:cNvCxnSpPr/>
            <p:nvPr/>
          </p:nvCxnSpPr>
          <p:spPr>
            <a:xfrm flipH="1">
              <a:off x="7126535" y="3495131"/>
              <a:ext cx="3499219" cy="963777"/>
            </a:xfrm>
            <a:prstGeom prst="straightConnector1">
              <a:avLst/>
            </a:prstGeom>
            <a:noFill/>
            <a:ln cap="flat" cmpd="sng" w="28575">
              <a:solidFill>
                <a:srgbClr val="3333CC"/>
              </a:solidFill>
              <a:prstDash val="solid"/>
              <a:round/>
              <a:headEnd len="med" w="med" type="none"/>
              <a:tailEnd len="med" w="med" type="triangle"/>
            </a:ln>
          </p:spPr>
        </p:cxnSp>
        <p:cxnSp>
          <p:nvCxnSpPr>
            <p:cNvPr id="5767" name="Google Shape;5767;p117"/>
            <p:cNvCxnSpPr/>
            <p:nvPr/>
          </p:nvCxnSpPr>
          <p:spPr>
            <a:xfrm flipH="1">
              <a:off x="7137252" y="3785544"/>
              <a:ext cx="3466289" cy="1030117"/>
            </a:xfrm>
            <a:prstGeom prst="straightConnector1">
              <a:avLst/>
            </a:prstGeom>
            <a:noFill/>
            <a:ln cap="flat" cmpd="sng" w="28575">
              <a:solidFill>
                <a:srgbClr val="3333CC"/>
              </a:solidFill>
              <a:prstDash val="solid"/>
              <a:round/>
              <a:headEnd len="med" w="med" type="none"/>
              <a:tailEnd len="med" w="med" type="triangle"/>
            </a:ln>
          </p:spPr>
        </p:cxnSp>
        <p:cxnSp>
          <p:nvCxnSpPr>
            <p:cNvPr id="5768" name="Google Shape;5768;p117"/>
            <p:cNvCxnSpPr/>
            <p:nvPr/>
          </p:nvCxnSpPr>
          <p:spPr>
            <a:xfrm flipH="1">
              <a:off x="7137252" y="4050906"/>
              <a:ext cx="3450923" cy="1044860"/>
            </a:xfrm>
            <a:prstGeom prst="straightConnector1">
              <a:avLst/>
            </a:prstGeom>
            <a:noFill/>
            <a:ln cap="flat" cmpd="sng" w="28575">
              <a:solidFill>
                <a:srgbClr val="3333CC"/>
              </a:solidFill>
              <a:prstDash val="solid"/>
              <a:round/>
              <a:headEnd len="med" w="med" type="none"/>
              <a:tailEnd len="med" w="med" type="triangle"/>
            </a:ln>
          </p:spPr>
        </p:cxnSp>
        <p:sp>
          <p:nvSpPr>
            <p:cNvPr id="5769" name="Google Shape;5769;p117"/>
            <p:cNvSpPr txBox="1"/>
            <p:nvPr/>
          </p:nvSpPr>
          <p:spPr>
            <a:xfrm rot="-863019">
              <a:off x="7013299" y="3540991"/>
              <a:ext cx="1312756"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sp>
          <p:nvSpPr>
            <p:cNvPr id="5770" name="Google Shape;5770;p117"/>
            <p:cNvSpPr txBox="1"/>
            <p:nvPr/>
          </p:nvSpPr>
          <p:spPr>
            <a:xfrm rot="-964894">
              <a:off x="7025762" y="4030047"/>
              <a:ext cx="1312756"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sp>
          <p:nvSpPr>
            <p:cNvPr id="5771" name="Google Shape;5771;p117"/>
            <p:cNvSpPr txBox="1"/>
            <p:nvPr/>
          </p:nvSpPr>
          <p:spPr>
            <a:xfrm rot="-942892">
              <a:off x="7017491" y="4400415"/>
              <a:ext cx="1312756"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sp>
          <p:nvSpPr>
            <p:cNvPr id="5772" name="Google Shape;5772;p117"/>
            <p:cNvSpPr txBox="1"/>
            <p:nvPr/>
          </p:nvSpPr>
          <p:spPr>
            <a:xfrm rot="-971646">
              <a:off x="7020313" y="4687228"/>
              <a:ext cx="1312756"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ACK=100</a:t>
              </a:r>
              <a:endParaRPr b="0" i="0" sz="1000" u="none" cap="none" strike="noStrike">
                <a:solidFill>
                  <a:srgbClr val="000000"/>
                </a:solidFill>
                <a:latin typeface="Times New Roman"/>
                <a:ea typeface="Times New Roman"/>
                <a:cs typeface="Times New Roman"/>
                <a:sym typeface="Times New Roman"/>
              </a:endParaRPr>
            </a:p>
          </p:txBody>
        </p:sp>
      </p:grpSp>
      <p:sp>
        <p:nvSpPr>
          <p:cNvPr id="5773" name="Google Shape;5773;p117"/>
          <p:cNvSpPr/>
          <p:nvPr/>
        </p:nvSpPr>
        <p:spPr>
          <a:xfrm>
            <a:off x="7435805" y="2563776"/>
            <a:ext cx="1047131" cy="26167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774" name="Google Shape;5774;p117"/>
          <p:cNvGrpSpPr/>
          <p:nvPr/>
        </p:nvGrpSpPr>
        <p:grpSpPr>
          <a:xfrm>
            <a:off x="7137252" y="2041682"/>
            <a:ext cx="3503609" cy="1987110"/>
            <a:chOff x="7137252" y="2041682"/>
            <a:chExt cx="3503609" cy="1987110"/>
          </a:xfrm>
        </p:grpSpPr>
        <p:cxnSp>
          <p:nvCxnSpPr>
            <p:cNvPr id="5775" name="Google Shape;5775;p117"/>
            <p:cNvCxnSpPr/>
            <p:nvPr/>
          </p:nvCxnSpPr>
          <p:spPr>
            <a:xfrm>
              <a:off x="7137252" y="2281830"/>
              <a:ext cx="3503609" cy="685517"/>
            </a:xfrm>
            <a:prstGeom prst="straightConnector1">
              <a:avLst/>
            </a:prstGeom>
            <a:noFill/>
            <a:ln cap="flat" cmpd="sng" w="28575">
              <a:solidFill>
                <a:srgbClr val="3333CC"/>
              </a:solidFill>
              <a:prstDash val="solid"/>
              <a:round/>
              <a:headEnd len="med" w="med" type="none"/>
              <a:tailEnd len="med" w="med" type="triangle"/>
            </a:ln>
          </p:spPr>
        </p:cxnSp>
        <p:cxnSp>
          <p:nvCxnSpPr>
            <p:cNvPr id="5776" name="Google Shape;5776;p117"/>
            <p:cNvCxnSpPr/>
            <p:nvPr/>
          </p:nvCxnSpPr>
          <p:spPr>
            <a:xfrm>
              <a:off x="7137252" y="2547191"/>
              <a:ext cx="2430134" cy="480967"/>
            </a:xfrm>
            <a:prstGeom prst="straightConnector1">
              <a:avLst/>
            </a:prstGeom>
            <a:noFill/>
            <a:ln cap="flat" cmpd="sng" w="28575">
              <a:solidFill>
                <a:srgbClr val="3333CC"/>
              </a:solidFill>
              <a:prstDash val="solid"/>
              <a:round/>
              <a:headEnd len="med" w="med" type="none"/>
              <a:tailEnd len="med" w="med" type="triangle"/>
            </a:ln>
          </p:spPr>
        </p:cxnSp>
        <p:cxnSp>
          <p:nvCxnSpPr>
            <p:cNvPr id="5777" name="Google Shape;5777;p117"/>
            <p:cNvCxnSpPr/>
            <p:nvPr/>
          </p:nvCxnSpPr>
          <p:spPr>
            <a:xfrm>
              <a:off x="7137252" y="2812553"/>
              <a:ext cx="3503609" cy="685517"/>
            </a:xfrm>
            <a:prstGeom prst="straightConnector1">
              <a:avLst/>
            </a:prstGeom>
            <a:noFill/>
            <a:ln cap="flat" cmpd="sng" w="28575">
              <a:solidFill>
                <a:srgbClr val="3333CC"/>
              </a:solidFill>
              <a:prstDash val="solid"/>
              <a:round/>
              <a:headEnd len="med" w="med" type="none"/>
              <a:tailEnd len="med" w="med" type="triangle"/>
            </a:ln>
          </p:spPr>
        </p:cxnSp>
        <p:cxnSp>
          <p:nvCxnSpPr>
            <p:cNvPr id="5778" name="Google Shape;5778;p117"/>
            <p:cNvCxnSpPr/>
            <p:nvPr/>
          </p:nvCxnSpPr>
          <p:spPr>
            <a:xfrm>
              <a:off x="7137252" y="3343275"/>
              <a:ext cx="3503609" cy="685517"/>
            </a:xfrm>
            <a:prstGeom prst="straightConnector1">
              <a:avLst/>
            </a:prstGeom>
            <a:noFill/>
            <a:ln cap="flat" cmpd="sng" w="28575">
              <a:solidFill>
                <a:srgbClr val="3333CC"/>
              </a:solidFill>
              <a:prstDash val="solid"/>
              <a:round/>
              <a:headEnd len="med" w="med" type="none"/>
              <a:tailEnd len="med" w="med" type="triangle"/>
            </a:ln>
          </p:spPr>
        </p:cxnSp>
        <p:cxnSp>
          <p:nvCxnSpPr>
            <p:cNvPr id="5779" name="Google Shape;5779;p117"/>
            <p:cNvCxnSpPr/>
            <p:nvPr/>
          </p:nvCxnSpPr>
          <p:spPr>
            <a:xfrm>
              <a:off x="7137252" y="3077914"/>
              <a:ext cx="3503609" cy="685517"/>
            </a:xfrm>
            <a:prstGeom prst="straightConnector1">
              <a:avLst/>
            </a:prstGeom>
            <a:noFill/>
            <a:ln cap="flat" cmpd="sng" w="28575">
              <a:solidFill>
                <a:srgbClr val="3333CC"/>
              </a:solidFill>
              <a:prstDash val="solid"/>
              <a:round/>
              <a:headEnd len="med" w="med" type="none"/>
              <a:tailEnd len="med" w="med" type="triangle"/>
            </a:ln>
          </p:spPr>
        </p:cxnSp>
        <p:sp>
          <p:nvSpPr>
            <p:cNvPr id="5780" name="Google Shape;5780;p117"/>
            <p:cNvSpPr txBox="1"/>
            <p:nvPr/>
          </p:nvSpPr>
          <p:spPr>
            <a:xfrm>
              <a:off x="9451039" y="2740684"/>
              <a:ext cx="390753" cy="53072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400"/>
                <a:buFont typeface="Arial"/>
                <a:buNone/>
              </a:pPr>
              <a:r>
                <a:rPr b="0" i="0" lang="en-US" sz="2400" u="none" cap="none" strike="noStrike">
                  <a:solidFill>
                    <a:srgbClr val="FF0000"/>
                  </a:solidFill>
                  <a:latin typeface="Arial"/>
                  <a:ea typeface="Arial"/>
                  <a:cs typeface="Arial"/>
                  <a:sym typeface="Arial"/>
                </a:rPr>
                <a:t>X</a:t>
              </a:r>
              <a:endParaRPr b="0" i="0" sz="1000" u="none" cap="none" strike="noStrike">
                <a:solidFill>
                  <a:srgbClr val="000000"/>
                </a:solidFill>
                <a:latin typeface="Times New Roman"/>
                <a:ea typeface="Times New Roman"/>
                <a:cs typeface="Times New Roman"/>
                <a:sym typeface="Times New Roman"/>
              </a:endParaRPr>
            </a:p>
          </p:txBody>
        </p:sp>
        <p:sp>
          <p:nvSpPr>
            <p:cNvPr id="5781" name="Google Shape;5781;p117"/>
            <p:cNvSpPr txBox="1"/>
            <p:nvPr/>
          </p:nvSpPr>
          <p:spPr>
            <a:xfrm rot="584648">
              <a:off x="7273253" y="2219051"/>
              <a:ext cx="2122193"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Seq=92, 8 bytes of data</a:t>
              </a:r>
              <a:endParaRPr/>
            </a:p>
          </p:txBody>
        </p:sp>
        <p:sp>
          <p:nvSpPr>
            <p:cNvPr id="5782" name="Google Shape;5782;p117"/>
            <p:cNvSpPr txBox="1"/>
            <p:nvPr/>
          </p:nvSpPr>
          <p:spPr>
            <a:xfrm rot="665764">
              <a:off x="7287508" y="2545419"/>
              <a:ext cx="2313691"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Seq=100, 20 bytes of data</a:t>
              </a:r>
              <a:endParaRPr/>
            </a:p>
          </p:txBody>
        </p:sp>
      </p:grpSp>
      <p:grpSp>
        <p:nvGrpSpPr>
          <p:cNvPr id="5783" name="Google Shape;5783;p117"/>
          <p:cNvGrpSpPr/>
          <p:nvPr/>
        </p:nvGrpSpPr>
        <p:grpSpPr>
          <a:xfrm>
            <a:off x="6842436" y="5132585"/>
            <a:ext cx="3833549" cy="696610"/>
            <a:chOff x="6842436" y="5132585"/>
            <a:chExt cx="3833549" cy="696610"/>
          </a:xfrm>
        </p:grpSpPr>
        <p:cxnSp>
          <p:nvCxnSpPr>
            <p:cNvPr id="5784" name="Google Shape;5784;p117"/>
            <p:cNvCxnSpPr/>
            <p:nvPr/>
          </p:nvCxnSpPr>
          <p:spPr>
            <a:xfrm>
              <a:off x="7172376" y="5143678"/>
              <a:ext cx="3503609" cy="685517"/>
            </a:xfrm>
            <a:prstGeom prst="straightConnector1">
              <a:avLst/>
            </a:prstGeom>
            <a:noFill/>
            <a:ln cap="flat" cmpd="sng" w="28575">
              <a:solidFill>
                <a:srgbClr val="3333CC"/>
              </a:solidFill>
              <a:prstDash val="solid"/>
              <a:round/>
              <a:headEnd len="med" w="med" type="none"/>
              <a:tailEnd len="med" w="med" type="triangle"/>
            </a:ln>
          </p:spPr>
        </p:cxnSp>
        <p:sp>
          <p:nvSpPr>
            <p:cNvPr id="5785" name="Google Shape;5785;p117"/>
            <p:cNvSpPr/>
            <p:nvPr/>
          </p:nvSpPr>
          <p:spPr>
            <a:xfrm>
              <a:off x="7408171" y="5224724"/>
              <a:ext cx="1047131" cy="26167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86" name="Google Shape;5786;p117"/>
            <p:cNvSpPr txBox="1"/>
            <p:nvPr/>
          </p:nvSpPr>
          <p:spPr>
            <a:xfrm>
              <a:off x="6842436" y="5132585"/>
              <a:ext cx="3154565" cy="35381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Seq=100, 20 bytes of data</a:t>
              </a:r>
              <a:endParaRPr/>
            </a:p>
          </p:txBody>
        </p:sp>
      </p:grpSp>
      <p:grpSp>
        <p:nvGrpSpPr>
          <p:cNvPr id="5787" name="Google Shape;5787;p117"/>
          <p:cNvGrpSpPr/>
          <p:nvPr/>
        </p:nvGrpSpPr>
        <p:grpSpPr>
          <a:xfrm>
            <a:off x="6608198" y="1343690"/>
            <a:ext cx="810044" cy="619176"/>
            <a:chOff x="-44" y="1473"/>
            <a:chExt cx="981" cy="1105"/>
          </a:xfrm>
        </p:grpSpPr>
        <p:pic>
          <p:nvPicPr>
            <p:cNvPr descr="desktop_computer_stylized_medium" id="5788" name="Google Shape;5788;p11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789" name="Google Shape;5789;p11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790" name="Google Shape;5790;p117"/>
          <p:cNvGrpSpPr/>
          <p:nvPr/>
        </p:nvGrpSpPr>
        <p:grpSpPr>
          <a:xfrm flipH="1">
            <a:off x="10328620" y="1375018"/>
            <a:ext cx="749093" cy="672617"/>
            <a:chOff x="-44" y="1473"/>
            <a:chExt cx="981" cy="1105"/>
          </a:xfrm>
        </p:grpSpPr>
        <p:pic>
          <p:nvPicPr>
            <p:cNvPr descr="desktop_computer_stylized_medium" id="5791" name="Google Shape;5791;p11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792" name="Google Shape;5792;p11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793" name="Google Shape;5793;p117"/>
          <p:cNvGrpSpPr/>
          <p:nvPr/>
        </p:nvGrpSpPr>
        <p:grpSpPr>
          <a:xfrm>
            <a:off x="1803400" y="4591050"/>
            <a:ext cx="5319534" cy="1606314"/>
            <a:chOff x="1803400" y="4591050"/>
            <a:chExt cx="5319534" cy="1606314"/>
          </a:xfrm>
        </p:grpSpPr>
        <p:pic>
          <p:nvPicPr>
            <p:cNvPr descr="Image result for light bulb icon" id="5794" name="Google Shape;5794;p117"/>
            <p:cNvPicPr preferRelativeResize="0"/>
            <p:nvPr/>
          </p:nvPicPr>
          <p:blipFill rotWithShape="1">
            <a:blip r:embed="rId4">
              <a:alphaModFix/>
            </a:blip>
            <a:srcRect b="0" l="0" r="0" t="0"/>
            <a:stretch/>
          </p:blipFill>
          <p:spPr>
            <a:xfrm>
              <a:off x="1803400" y="4591050"/>
              <a:ext cx="819150" cy="819150"/>
            </a:xfrm>
            <a:prstGeom prst="rect">
              <a:avLst/>
            </a:prstGeom>
            <a:noFill/>
            <a:ln>
              <a:noFill/>
            </a:ln>
          </p:spPr>
        </p:pic>
        <p:sp>
          <p:nvSpPr>
            <p:cNvPr id="5795" name="Google Shape;5795;p117"/>
            <p:cNvSpPr txBox="1"/>
            <p:nvPr/>
          </p:nvSpPr>
          <p:spPr>
            <a:xfrm>
              <a:off x="2235200" y="4775436"/>
              <a:ext cx="4145527" cy="1421928"/>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Receipt of three duplicate ACKs indicates 3 segments received after a missing segment – lost segment is likely. So retransmit!</a:t>
              </a:r>
              <a:endParaRPr b="0" i="0" sz="1100" u="none" cap="none" strike="noStrike">
                <a:solidFill>
                  <a:srgbClr val="000000"/>
                </a:solidFill>
                <a:latin typeface="Calibri"/>
                <a:ea typeface="Calibri"/>
                <a:cs typeface="Calibri"/>
                <a:sym typeface="Calibri"/>
              </a:endParaRPr>
            </a:p>
          </p:txBody>
        </p:sp>
        <p:cxnSp>
          <p:nvCxnSpPr>
            <p:cNvPr id="5796" name="Google Shape;5796;p117"/>
            <p:cNvCxnSpPr/>
            <p:nvPr/>
          </p:nvCxnSpPr>
          <p:spPr>
            <a:xfrm>
              <a:off x="6359939" y="5143678"/>
              <a:ext cx="762995" cy="0"/>
            </a:xfrm>
            <a:prstGeom prst="straightConnector1">
              <a:avLst/>
            </a:prstGeom>
            <a:noFill/>
            <a:ln cap="flat" cmpd="sng" w="22225">
              <a:solidFill>
                <a:srgbClr val="C00000"/>
              </a:solidFill>
              <a:prstDash val="solid"/>
              <a:miter lim="800000"/>
              <a:headEnd len="sm" w="sm" type="none"/>
              <a:tailEnd len="sm" w="sm" type="none"/>
            </a:ln>
          </p:spPr>
        </p:cxnSp>
      </p:grpSp>
      <p:grpSp>
        <p:nvGrpSpPr>
          <p:cNvPr id="5797" name="Google Shape;5797;p117"/>
          <p:cNvGrpSpPr/>
          <p:nvPr/>
        </p:nvGrpSpPr>
        <p:grpSpPr>
          <a:xfrm>
            <a:off x="790711" y="1227535"/>
            <a:ext cx="5214977" cy="2878929"/>
            <a:chOff x="7089911" y="1681505"/>
            <a:chExt cx="5214977" cy="2878929"/>
          </a:xfrm>
        </p:grpSpPr>
        <p:sp>
          <p:nvSpPr>
            <p:cNvPr id="5798" name="Google Shape;5798;p117"/>
            <p:cNvSpPr/>
            <p:nvPr/>
          </p:nvSpPr>
          <p:spPr>
            <a:xfrm>
              <a:off x="7360355" y="2207758"/>
              <a:ext cx="4809067" cy="22637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1820"/>
                <a:buFont typeface="Noto Sans Symbols"/>
                <a:buNone/>
              </a:pPr>
              <a:r>
                <a:rPr b="0" i="0" lang="en-US" sz="2800" u="none" cap="none" strike="noStrike">
                  <a:solidFill>
                    <a:srgbClr val="000000"/>
                  </a:solidFill>
                  <a:latin typeface="Calibri"/>
                  <a:ea typeface="Calibri"/>
                  <a:cs typeface="Calibri"/>
                  <a:sym typeface="Calibri"/>
                </a:rPr>
                <a:t>if sender receives 3 additional ACKs for same data </a:t>
              </a:r>
              <a:r>
                <a:rPr b="0" i="0" lang="en-US" sz="2400" u="none" cap="none" strike="noStrike">
                  <a:solidFill>
                    <a:srgbClr val="000000"/>
                  </a:solidFill>
                  <a:latin typeface="Calibri"/>
                  <a:ea typeface="Calibri"/>
                  <a:cs typeface="Calibri"/>
                  <a:sym typeface="Calibri"/>
                </a:rPr>
                <a:t>(“triple duplicate ACKs”),</a:t>
              </a:r>
              <a:r>
                <a:rPr b="0" i="0" lang="en-US" sz="2800" u="none" cap="none" strike="noStrike">
                  <a:solidFill>
                    <a:srgbClr val="000000"/>
                  </a:solidFill>
                  <a:latin typeface="Calibri"/>
                  <a:ea typeface="Calibri"/>
                  <a:cs typeface="Calibri"/>
                  <a:sym typeface="Calibri"/>
                </a:rPr>
                <a:t> resend unACKed segment with smallest seq #</a:t>
              </a:r>
              <a:endParaRPr/>
            </a:p>
            <a:p>
              <a:pPr indent="-238125" lvl="1" marL="46355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likely that unACKed segment lost, so don’t wait for timeout</a:t>
              </a:r>
              <a:endParaRPr b="0" i="0" sz="2400" u="none" cap="none" strike="noStrike">
                <a:solidFill>
                  <a:srgbClr val="000000"/>
                </a:solidFill>
                <a:latin typeface="Calibri"/>
                <a:ea typeface="Calibri"/>
                <a:cs typeface="Calibri"/>
                <a:sym typeface="Calibri"/>
              </a:endParaRPr>
            </a:p>
          </p:txBody>
        </p:sp>
        <p:sp>
          <p:nvSpPr>
            <p:cNvPr id="5799" name="Google Shape;5799;p117"/>
            <p:cNvSpPr/>
            <p:nvPr/>
          </p:nvSpPr>
          <p:spPr>
            <a:xfrm>
              <a:off x="7089911" y="1910106"/>
              <a:ext cx="5214977" cy="2650328"/>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5800" name="Google Shape;5800;p117"/>
            <p:cNvSpPr txBox="1"/>
            <p:nvPr/>
          </p:nvSpPr>
          <p:spPr>
            <a:xfrm>
              <a:off x="7348953" y="1681505"/>
              <a:ext cx="2773363" cy="4572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Tahoma"/>
                <a:buNone/>
              </a:pPr>
              <a:r>
                <a:rPr b="0" i="1" lang="en-US" sz="2400" u="none" cap="none" strike="noStrike">
                  <a:solidFill>
                    <a:srgbClr val="CC0000"/>
                  </a:solidFill>
                  <a:latin typeface="Tahoma"/>
                  <a:ea typeface="Tahoma"/>
                  <a:cs typeface="Tahoma"/>
                  <a:sym typeface="Tahoma"/>
                </a:rPr>
                <a:t>TCP fast retransmit</a:t>
              </a:r>
              <a:endParaRPr/>
            </a:p>
          </p:txBody>
        </p:sp>
      </p:grpSp>
      <p:sp>
        <p:nvSpPr>
          <p:cNvPr id="5801" name="Google Shape;5801;p11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4"/>
                                        </p:tgtEl>
                                        <p:attrNameLst>
                                          <p:attrName>style.visibility</p:attrName>
                                        </p:attrNameLst>
                                      </p:cBhvr>
                                      <p:to>
                                        <p:strVal val="visible"/>
                                      </p:to>
                                    </p:set>
                                    <p:animEffect filter="fade" transition="in">
                                      <p:cBhvr>
                                        <p:cTn dur="500"/>
                                        <p:tgtEl>
                                          <p:spTgt spid="57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4"/>
                                        </p:tgtEl>
                                        <p:attrNameLst>
                                          <p:attrName>style.visibility</p:attrName>
                                        </p:attrNameLst>
                                      </p:cBhvr>
                                      <p:to>
                                        <p:strVal val="visible"/>
                                      </p:to>
                                    </p:set>
                                    <p:animEffect filter="fade" transition="in">
                                      <p:cBhvr>
                                        <p:cTn dur="500"/>
                                        <p:tgtEl>
                                          <p:spTgt spid="57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93"/>
                                        </p:tgtEl>
                                        <p:attrNameLst>
                                          <p:attrName>style.visibility</p:attrName>
                                        </p:attrNameLst>
                                      </p:cBhvr>
                                      <p:to>
                                        <p:strVal val="visible"/>
                                      </p:to>
                                    </p:set>
                                    <p:animEffect filter="fade" transition="in">
                                      <p:cBhvr>
                                        <p:cTn dur="500"/>
                                        <p:tgtEl>
                                          <p:spTgt spid="57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83"/>
                                        </p:tgtEl>
                                        <p:attrNameLst>
                                          <p:attrName>style.visibility</p:attrName>
                                        </p:attrNameLst>
                                      </p:cBhvr>
                                      <p:to>
                                        <p:strVal val="visible"/>
                                      </p:to>
                                    </p:set>
                                    <p:animEffect filter="fade" transition="in">
                                      <p:cBhvr>
                                        <p:cTn dur="500"/>
                                        <p:tgtEl>
                                          <p:spTgt spid="57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97"/>
                                        </p:tgtEl>
                                        <p:attrNameLst>
                                          <p:attrName>style.visibility</p:attrName>
                                        </p:attrNameLst>
                                      </p:cBhvr>
                                      <p:to>
                                        <p:strVal val="visible"/>
                                      </p:to>
                                    </p:set>
                                    <p:animEffect filter="fade" transition="in">
                                      <p:cBhvr>
                                        <p:cTn dur="500"/>
                                        <p:tgtEl>
                                          <p:spTgt spid="57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5" name="Shape 5805"/>
        <p:cNvGrpSpPr/>
        <p:nvPr/>
      </p:nvGrpSpPr>
      <p:grpSpPr>
        <a:xfrm>
          <a:off x="0" y="0"/>
          <a:ext cx="0" cy="0"/>
          <a:chOff x="0" y="0"/>
          <a:chExt cx="0" cy="0"/>
        </a:xfrm>
      </p:grpSpPr>
      <p:sp>
        <p:nvSpPr>
          <p:cNvPr id="5806" name="Google Shape;5806;p11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cxnSp>
        <p:nvCxnSpPr>
          <p:cNvPr id="5807" name="Google Shape;5807;p118"/>
          <p:cNvCxnSpPr/>
          <p:nvPr/>
        </p:nvCxnSpPr>
        <p:spPr>
          <a:xfrm>
            <a:off x="1041400" y="2306638"/>
            <a:ext cx="2533650" cy="590550"/>
          </a:xfrm>
          <a:prstGeom prst="straightConnector1">
            <a:avLst/>
          </a:prstGeom>
          <a:noFill/>
          <a:ln cap="flat" cmpd="sng" w="28575">
            <a:solidFill>
              <a:schemeClr val="accent2"/>
            </a:solidFill>
            <a:prstDash val="solid"/>
            <a:round/>
            <a:headEnd len="med" w="med" type="none"/>
            <a:tailEnd len="med" w="med" type="triangle"/>
          </a:ln>
        </p:spPr>
      </p:cxnSp>
      <p:cxnSp>
        <p:nvCxnSpPr>
          <p:cNvPr id="5808" name="Google Shape;5808;p118"/>
          <p:cNvCxnSpPr/>
          <p:nvPr/>
        </p:nvCxnSpPr>
        <p:spPr>
          <a:xfrm>
            <a:off x="1041400" y="2535238"/>
            <a:ext cx="1757363" cy="414337"/>
          </a:xfrm>
          <a:prstGeom prst="straightConnector1">
            <a:avLst/>
          </a:prstGeom>
          <a:noFill/>
          <a:ln cap="flat" cmpd="sng" w="28575">
            <a:solidFill>
              <a:schemeClr val="accent2"/>
            </a:solidFill>
            <a:prstDash val="solid"/>
            <a:round/>
            <a:headEnd len="med" w="med" type="none"/>
            <a:tailEnd len="med" w="med" type="triangle"/>
          </a:ln>
        </p:spPr>
      </p:cxnSp>
      <p:cxnSp>
        <p:nvCxnSpPr>
          <p:cNvPr id="5809" name="Google Shape;5809;p118"/>
          <p:cNvCxnSpPr/>
          <p:nvPr/>
        </p:nvCxnSpPr>
        <p:spPr>
          <a:xfrm flipH="1">
            <a:off x="1038225" y="2001838"/>
            <a:ext cx="3175" cy="3994150"/>
          </a:xfrm>
          <a:prstGeom prst="straightConnector1">
            <a:avLst/>
          </a:prstGeom>
          <a:noFill/>
          <a:ln cap="flat" cmpd="sng" w="9525">
            <a:solidFill>
              <a:schemeClr val="dk1"/>
            </a:solidFill>
            <a:prstDash val="solid"/>
            <a:round/>
            <a:headEnd len="med" w="med" type="none"/>
            <a:tailEnd len="med" w="med" type="triangle"/>
          </a:ln>
        </p:spPr>
      </p:cxnSp>
      <p:cxnSp>
        <p:nvCxnSpPr>
          <p:cNvPr id="5810" name="Google Shape;5810;p118"/>
          <p:cNvCxnSpPr/>
          <p:nvPr/>
        </p:nvCxnSpPr>
        <p:spPr>
          <a:xfrm>
            <a:off x="3556000" y="2078038"/>
            <a:ext cx="11113" cy="3903662"/>
          </a:xfrm>
          <a:prstGeom prst="straightConnector1">
            <a:avLst/>
          </a:prstGeom>
          <a:noFill/>
          <a:ln cap="flat" cmpd="sng" w="9525">
            <a:solidFill>
              <a:schemeClr val="dk1"/>
            </a:solidFill>
            <a:prstDash val="solid"/>
            <a:round/>
            <a:headEnd len="med" w="med" type="none"/>
            <a:tailEnd len="med" w="med" type="triangle"/>
          </a:ln>
        </p:spPr>
      </p:cxnSp>
      <p:cxnSp>
        <p:nvCxnSpPr>
          <p:cNvPr id="5811" name="Google Shape;5811;p118"/>
          <p:cNvCxnSpPr/>
          <p:nvPr/>
        </p:nvCxnSpPr>
        <p:spPr>
          <a:xfrm flipH="1">
            <a:off x="1004888" y="2949575"/>
            <a:ext cx="2519362" cy="809625"/>
          </a:xfrm>
          <a:prstGeom prst="straightConnector1">
            <a:avLst/>
          </a:prstGeom>
          <a:noFill/>
          <a:ln cap="flat" cmpd="sng" w="28575">
            <a:solidFill>
              <a:schemeClr val="accent2"/>
            </a:solidFill>
            <a:prstDash val="solid"/>
            <a:round/>
            <a:headEnd len="med" w="med" type="none"/>
            <a:tailEnd len="med" w="med" type="triangle"/>
          </a:ln>
        </p:spPr>
      </p:cxnSp>
      <p:cxnSp>
        <p:nvCxnSpPr>
          <p:cNvPr id="5812" name="Google Shape;5812;p118"/>
          <p:cNvCxnSpPr/>
          <p:nvPr/>
        </p:nvCxnSpPr>
        <p:spPr>
          <a:xfrm>
            <a:off x="1041400" y="2763838"/>
            <a:ext cx="2533650" cy="590550"/>
          </a:xfrm>
          <a:prstGeom prst="straightConnector1">
            <a:avLst/>
          </a:prstGeom>
          <a:noFill/>
          <a:ln cap="flat" cmpd="sng" w="28575">
            <a:solidFill>
              <a:schemeClr val="accent2"/>
            </a:solidFill>
            <a:prstDash val="solid"/>
            <a:round/>
            <a:headEnd len="med" w="med" type="none"/>
            <a:tailEnd len="med" w="med" type="triangle"/>
          </a:ln>
        </p:spPr>
      </p:cxnSp>
      <p:cxnSp>
        <p:nvCxnSpPr>
          <p:cNvPr id="5813" name="Google Shape;5813;p118"/>
          <p:cNvCxnSpPr/>
          <p:nvPr/>
        </p:nvCxnSpPr>
        <p:spPr>
          <a:xfrm>
            <a:off x="1041400" y="3221038"/>
            <a:ext cx="2533650" cy="590550"/>
          </a:xfrm>
          <a:prstGeom prst="straightConnector1">
            <a:avLst/>
          </a:prstGeom>
          <a:noFill/>
          <a:ln cap="flat" cmpd="sng" w="28575">
            <a:solidFill>
              <a:schemeClr val="accent2"/>
            </a:solidFill>
            <a:prstDash val="solid"/>
            <a:round/>
            <a:headEnd len="med" w="med" type="none"/>
            <a:tailEnd len="med" w="med" type="triangle"/>
          </a:ln>
        </p:spPr>
      </p:cxnSp>
      <p:cxnSp>
        <p:nvCxnSpPr>
          <p:cNvPr id="5814" name="Google Shape;5814;p118"/>
          <p:cNvCxnSpPr/>
          <p:nvPr/>
        </p:nvCxnSpPr>
        <p:spPr>
          <a:xfrm>
            <a:off x="1041400" y="2992438"/>
            <a:ext cx="2533650" cy="590550"/>
          </a:xfrm>
          <a:prstGeom prst="straightConnector1">
            <a:avLst/>
          </a:prstGeom>
          <a:noFill/>
          <a:ln cap="flat" cmpd="sng" w="28575">
            <a:solidFill>
              <a:schemeClr val="accent2"/>
            </a:solidFill>
            <a:prstDash val="solid"/>
            <a:round/>
            <a:headEnd len="med" w="med" type="none"/>
            <a:tailEnd len="med" w="med" type="triangle"/>
          </a:ln>
        </p:spPr>
      </p:cxnSp>
      <p:cxnSp>
        <p:nvCxnSpPr>
          <p:cNvPr id="5815" name="Google Shape;5815;p118"/>
          <p:cNvCxnSpPr/>
          <p:nvPr/>
        </p:nvCxnSpPr>
        <p:spPr>
          <a:xfrm flipH="1">
            <a:off x="1006475" y="3373438"/>
            <a:ext cx="2530475" cy="830262"/>
          </a:xfrm>
          <a:prstGeom prst="straightConnector1">
            <a:avLst/>
          </a:prstGeom>
          <a:noFill/>
          <a:ln cap="flat" cmpd="sng" w="28575">
            <a:solidFill>
              <a:schemeClr val="accent2"/>
            </a:solidFill>
            <a:prstDash val="solid"/>
            <a:round/>
            <a:headEnd len="med" w="med" type="none"/>
            <a:tailEnd len="med" w="med" type="triangle"/>
          </a:ln>
        </p:spPr>
      </p:cxnSp>
      <p:cxnSp>
        <p:nvCxnSpPr>
          <p:cNvPr id="5816" name="Google Shape;5816;p118"/>
          <p:cNvCxnSpPr/>
          <p:nvPr/>
        </p:nvCxnSpPr>
        <p:spPr>
          <a:xfrm flipH="1">
            <a:off x="1041400" y="3602038"/>
            <a:ext cx="2506663" cy="887412"/>
          </a:xfrm>
          <a:prstGeom prst="straightConnector1">
            <a:avLst/>
          </a:prstGeom>
          <a:noFill/>
          <a:ln cap="flat" cmpd="sng" w="28575">
            <a:solidFill>
              <a:schemeClr val="accent2"/>
            </a:solidFill>
            <a:prstDash val="solid"/>
            <a:round/>
            <a:headEnd len="med" w="med" type="none"/>
            <a:tailEnd len="med" w="med" type="triangle"/>
          </a:ln>
        </p:spPr>
      </p:cxnSp>
      <p:cxnSp>
        <p:nvCxnSpPr>
          <p:cNvPr id="5817" name="Google Shape;5817;p118"/>
          <p:cNvCxnSpPr/>
          <p:nvPr/>
        </p:nvCxnSpPr>
        <p:spPr>
          <a:xfrm flipH="1">
            <a:off x="1041400" y="3830638"/>
            <a:ext cx="2495550" cy="900112"/>
          </a:xfrm>
          <a:prstGeom prst="straightConnector1">
            <a:avLst/>
          </a:prstGeom>
          <a:noFill/>
          <a:ln cap="flat" cmpd="sng" w="28575">
            <a:solidFill>
              <a:schemeClr val="accent2"/>
            </a:solidFill>
            <a:prstDash val="solid"/>
            <a:round/>
            <a:headEnd len="med" w="med" type="none"/>
            <a:tailEnd len="med" w="med" type="triangle"/>
          </a:ln>
        </p:spPr>
      </p:cxnSp>
      <p:sp>
        <p:nvSpPr>
          <p:cNvPr id="5818" name="Google Shape;5818;p118"/>
          <p:cNvSpPr txBox="1"/>
          <p:nvPr/>
        </p:nvSpPr>
        <p:spPr>
          <a:xfrm>
            <a:off x="2714625" y="2701925"/>
            <a:ext cx="2825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400"/>
              <a:buFont typeface="Noto Sans Symbols"/>
              <a:buNone/>
            </a:pPr>
            <a:r>
              <a:rPr lang="en-US" sz="2400">
                <a:solidFill>
                  <a:srgbClr val="FF0000"/>
                </a:solidFill>
                <a:latin typeface="Arial"/>
                <a:ea typeface="Arial"/>
                <a:cs typeface="Arial"/>
                <a:sym typeface="Arial"/>
              </a:rPr>
              <a:t>X</a:t>
            </a:r>
            <a:endParaRPr sz="1000">
              <a:solidFill>
                <a:schemeClr val="dk1"/>
              </a:solidFill>
              <a:latin typeface="Times New Roman"/>
              <a:ea typeface="Times New Roman"/>
              <a:cs typeface="Times New Roman"/>
              <a:sym typeface="Times New Roman"/>
            </a:endParaRPr>
          </a:p>
        </p:txBody>
      </p:sp>
      <p:cxnSp>
        <p:nvCxnSpPr>
          <p:cNvPr id="5819" name="Google Shape;5819;p118"/>
          <p:cNvCxnSpPr/>
          <p:nvPr/>
        </p:nvCxnSpPr>
        <p:spPr>
          <a:xfrm>
            <a:off x="1066800" y="4772025"/>
            <a:ext cx="2533650" cy="590550"/>
          </a:xfrm>
          <a:prstGeom prst="straightConnector1">
            <a:avLst/>
          </a:prstGeom>
          <a:noFill/>
          <a:ln cap="flat" cmpd="sng" w="28575">
            <a:solidFill>
              <a:schemeClr val="accent2"/>
            </a:solidFill>
            <a:prstDash val="solid"/>
            <a:round/>
            <a:headEnd len="med" w="med" type="none"/>
            <a:tailEnd len="med" w="med" type="triangle"/>
          </a:ln>
        </p:spPr>
      </p:cxnSp>
      <p:sp>
        <p:nvSpPr>
          <p:cNvPr id="5820" name="Google Shape;5820;p118"/>
          <p:cNvSpPr txBox="1"/>
          <p:nvPr/>
        </p:nvSpPr>
        <p:spPr>
          <a:xfrm>
            <a:off x="311286" y="5973763"/>
            <a:ext cx="4367078"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Receipt of three duplicate ACKs indicates 3 segments received after a missing segment – lost segment is likely. So retransmit!</a:t>
            </a:r>
            <a:endParaRPr/>
          </a:p>
        </p:txBody>
      </p:sp>
      <p:sp>
        <p:nvSpPr>
          <p:cNvPr id="5821" name="Google Shape;5821;p118"/>
          <p:cNvSpPr txBox="1"/>
          <p:nvPr/>
        </p:nvSpPr>
        <p:spPr>
          <a:xfrm>
            <a:off x="3082925" y="1127125"/>
            <a:ext cx="773113"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Host B</a:t>
            </a:r>
            <a:endParaRPr/>
          </a:p>
        </p:txBody>
      </p:sp>
      <p:sp>
        <p:nvSpPr>
          <p:cNvPr id="5822" name="Google Shape;5822;p118"/>
          <p:cNvSpPr txBox="1"/>
          <p:nvPr/>
        </p:nvSpPr>
        <p:spPr>
          <a:xfrm>
            <a:off x="749300" y="1144588"/>
            <a:ext cx="776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Host A</a:t>
            </a:r>
            <a:endParaRPr/>
          </a:p>
        </p:txBody>
      </p:sp>
      <p:sp>
        <p:nvSpPr>
          <p:cNvPr id="5823" name="Google Shape;5823;p118"/>
          <p:cNvSpPr txBox="1"/>
          <p:nvPr/>
        </p:nvSpPr>
        <p:spPr>
          <a:xfrm>
            <a:off x="1189038" y="2227263"/>
            <a:ext cx="2085975" cy="3048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Seq=92, 8 bytes of data</a:t>
            </a:r>
            <a:endParaRPr/>
          </a:p>
        </p:txBody>
      </p:sp>
      <p:grpSp>
        <p:nvGrpSpPr>
          <p:cNvPr id="5824" name="Google Shape;5824;p118"/>
          <p:cNvGrpSpPr/>
          <p:nvPr/>
        </p:nvGrpSpPr>
        <p:grpSpPr>
          <a:xfrm>
            <a:off x="1143000" y="3476625"/>
            <a:ext cx="949325" cy="304800"/>
            <a:chOff x="4215" y="2253"/>
            <a:chExt cx="598" cy="192"/>
          </a:xfrm>
        </p:grpSpPr>
        <p:sp>
          <p:nvSpPr>
            <p:cNvPr id="5825" name="Google Shape;5825;p118"/>
            <p:cNvSpPr/>
            <p:nvPr/>
          </p:nvSpPr>
          <p:spPr>
            <a:xfrm>
              <a:off x="4265" y="2274"/>
              <a:ext cx="471" cy="15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826" name="Google Shape;5826;p118"/>
            <p:cNvSpPr txBox="1"/>
            <p:nvPr/>
          </p:nvSpPr>
          <p:spPr>
            <a:xfrm>
              <a:off x="4215" y="2253"/>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ACK=100</a:t>
              </a:r>
              <a:endParaRPr sz="1000">
                <a:solidFill>
                  <a:schemeClr val="dk1"/>
                </a:solidFill>
                <a:latin typeface="Times New Roman"/>
                <a:ea typeface="Times New Roman"/>
                <a:cs typeface="Times New Roman"/>
                <a:sym typeface="Times New Roman"/>
              </a:endParaRPr>
            </a:p>
          </p:txBody>
        </p:sp>
      </p:grpSp>
      <p:grpSp>
        <p:nvGrpSpPr>
          <p:cNvPr id="5827" name="Google Shape;5827;p118"/>
          <p:cNvGrpSpPr/>
          <p:nvPr/>
        </p:nvGrpSpPr>
        <p:grpSpPr>
          <a:xfrm>
            <a:off x="657225" y="2279650"/>
            <a:ext cx="396875" cy="3524250"/>
            <a:chOff x="397" y="868"/>
            <a:chExt cx="250" cy="2220"/>
          </a:xfrm>
        </p:grpSpPr>
        <p:sp>
          <p:nvSpPr>
            <p:cNvPr id="5828" name="Google Shape;5828;p118"/>
            <p:cNvSpPr txBox="1"/>
            <p:nvPr/>
          </p:nvSpPr>
          <p:spPr>
            <a:xfrm rot="-5400000">
              <a:off x="305" y="1870"/>
              <a:ext cx="434"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timeout</a:t>
              </a:r>
              <a:endParaRPr/>
            </a:p>
          </p:txBody>
        </p:sp>
        <p:grpSp>
          <p:nvGrpSpPr>
            <p:cNvPr id="5829" name="Google Shape;5829;p118"/>
            <p:cNvGrpSpPr/>
            <p:nvPr/>
          </p:nvGrpSpPr>
          <p:grpSpPr>
            <a:xfrm>
              <a:off x="488" y="868"/>
              <a:ext cx="66" cy="893"/>
              <a:chOff x="3099" y="1749"/>
              <a:chExt cx="66" cy="320"/>
            </a:xfrm>
          </p:grpSpPr>
          <p:cxnSp>
            <p:nvCxnSpPr>
              <p:cNvPr id="5830" name="Google Shape;5830;p118"/>
              <p:cNvCxnSpPr/>
              <p:nvPr/>
            </p:nvCxnSpPr>
            <p:spPr>
              <a:xfrm rot="10800000">
                <a:off x="3129" y="1749"/>
                <a:ext cx="0" cy="320"/>
              </a:xfrm>
              <a:prstGeom prst="straightConnector1">
                <a:avLst/>
              </a:prstGeom>
              <a:noFill/>
              <a:ln cap="flat" cmpd="sng" w="9525">
                <a:solidFill>
                  <a:schemeClr val="dk1"/>
                </a:solidFill>
                <a:prstDash val="solid"/>
                <a:round/>
                <a:headEnd len="med" w="med" type="none"/>
                <a:tailEnd len="med" w="med" type="triangle"/>
              </a:ln>
            </p:spPr>
          </p:cxnSp>
          <p:cxnSp>
            <p:nvCxnSpPr>
              <p:cNvPr id="5831" name="Google Shape;5831;p118"/>
              <p:cNvCxnSpPr/>
              <p:nvPr/>
            </p:nvCxnSpPr>
            <p:spPr>
              <a:xfrm>
                <a:off x="3099" y="1752"/>
                <a:ext cx="66" cy="0"/>
              </a:xfrm>
              <a:prstGeom prst="straightConnector1">
                <a:avLst/>
              </a:prstGeom>
              <a:noFill/>
              <a:ln cap="flat" cmpd="sng" w="9525">
                <a:solidFill>
                  <a:schemeClr val="dk1"/>
                </a:solidFill>
                <a:prstDash val="solid"/>
                <a:round/>
                <a:headEnd len="med" w="med" type="none"/>
                <a:tailEnd len="med" w="med" type="none"/>
              </a:ln>
            </p:spPr>
          </p:cxnSp>
        </p:grpSp>
        <p:grpSp>
          <p:nvGrpSpPr>
            <p:cNvPr id="5832" name="Google Shape;5832;p118"/>
            <p:cNvGrpSpPr/>
            <p:nvPr/>
          </p:nvGrpSpPr>
          <p:grpSpPr>
            <a:xfrm rot="10800000">
              <a:off x="478" y="2224"/>
              <a:ext cx="66" cy="864"/>
              <a:chOff x="3106" y="1749"/>
              <a:chExt cx="66" cy="320"/>
            </a:xfrm>
          </p:grpSpPr>
          <p:cxnSp>
            <p:nvCxnSpPr>
              <p:cNvPr id="5833" name="Google Shape;5833;p118"/>
              <p:cNvCxnSpPr/>
              <p:nvPr/>
            </p:nvCxnSpPr>
            <p:spPr>
              <a:xfrm rot="10800000">
                <a:off x="3132" y="1749"/>
                <a:ext cx="0" cy="320"/>
              </a:xfrm>
              <a:prstGeom prst="straightConnector1">
                <a:avLst/>
              </a:prstGeom>
              <a:noFill/>
              <a:ln cap="flat" cmpd="sng" w="9525">
                <a:solidFill>
                  <a:schemeClr val="dk1"/>
                </a:solidFill>
                <a:prstDash val="solid"/>
                <a:round/>
                <a:headEnd len="med" w="med" type="none"/>
                <a:tailEnd len="med" w="med" type="triangle"/>
              </a:ln>
            </p:spPr>
          </p:cxnSp>
          <p:cxnSp>
            <p:nvCxnSpPr>
              <p:cNvPr id="5834" name="Google Shape;5834;p118"/>
              <p:cNvCxnSpPr/>
              <p:nvPr/>
            </p:nvCxnSpPr>
            <p:spPr>
              <a:xfrm>
                <a:off x="3106" y="1752"/>
                <a:ext cx="66" cy="0"/>
              </a:xfrm>
              <a:prstGeom prst="straightConnector1">
                <a:avLst/>
              </a:prstGeom>
              <a:noFill/>
              <a:ln cap="flat" cmpd="sng" w="9525">
                <a:solidFill>
                  <a:schemeClr val="dk1"/>
                </a:solidFill>
                <a:prstDash val="solid"/>
                <a:round/>
                <a:headEnd len="med" w="med" type="none"/>
                <a:tailEnd len="med" w="med" type="none"/>
              </a:ln>
            </p:spPr>
          </p:cxnSp>
        </p:grpSp>
      </p:grpSp>
      <p:grpSp>
        <p:nvGrpSpPr>
          <p:cNvPr id="5835" name="Google Shape;5835;p118"/>
          <p:cNvGrpSpPr/>
          <p:nvPr/>
        </p:nvGrpSpPr>
        <p:grpSpPr>
          <a:xfrm>
            <a:off x="1154113" y="3787775"/>
            <a:ext cx="949325" cy="304800"/>
            <a:chOff x="35" y="1825"/>
            <a:chExt cx="598" cy="192"/>
          </a:xfrm>
        </p:grpSpPr>
        <p:sp>
          <p:nvSpPr>
            <p:cNvPr id="5836" name="Google Shape;5836;p118"/>
            <p:cNvSpPr/>
            <p:nvPr/>
          </p:nvSpPr>
          <p:spPr>
            <a:xfrm>
              <a:off x="101" y="1859"/>
              <a:ext cx="471" cy="12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837" name="Google Shape;5837;p118"/>
            <p:cNvSpPr txBox="1"/>
            <p:nvPr/>
          </p:nvSpPr>
          <p:spPr>
            <a:xfrm>
              <a:off x="35" y="1825"/>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ACK=100</a:t>
              </a:r>
              <a:endParaRPr sz="1000">
                <a:solidFill>
                  <a:schemeClr val="dk1"/>
                </a:solidFill>
                <a:latin typeface="Times New Roman"/>
                <a:ea typeface="Times New Roman"/>
                <a:cs typeface="Times New Roman"/>
                <a:sym typeface="Times New Roman"/>
              </a:endParaRPr>
            </a:p>
          </p:txBody>
        </p:sp>
      </p:grpSp>
      <p:grpSp>
        <p:nvGrpSpPr>
          <p:cNvPr id="5838" name="Google Shape;5838;p118"/>
          <p:cNvGrpSpPr/>
          <p:nvPr/>
        </p:nvGrpSpPr>
        <p:grpSpPr>
          <a:xfrm>
            <a:off x="1139825" y="4117975"/>
            <a:ext cx="949325" cy="304800"/>
            <a:chOff x="35" y="1825"/>
            <a:chExt cx="598" cy="192"/>
          </a:xfrm>
        </p:grpSpPr>
        <p:sp>
          <p:nvSpPr>
            <p:cNvPr id="5839" name="Google Shape;5839;p118"/>
            <p:cNvSpPr/>
            <p:nvPr/>
          </p:nvSpPr>
          <p:spPr>
            <a:xfrm>
              <a:off x="101" y="1859"/>
              <a:ext cx="471" cy="12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840" name="Google Shape;5840;p118"/>
            <p:cNvSpPr txBox="1"/>
            <p:nvPr/>
          </p:nvSpPr>
          <p:spPr>
            <a:xfrm>
              <a:off x="35" y="1825"/>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ACK=100</a:t>
              </a:r>
              <a:endParaRPr sz="1000">
                <a:solidFill>
                  <a:schemeClr val="dk1"/>
                </a:solidFill>
                <a:latin typeface="Times New Roman"/>
                <a:ea typeface="Times New Roman"/>
                <a:cs typeface="Times New Roman"/>
                <a:sym typeface="Times New Roman"/>
              </a:endParaRPr>
            </a:p>
          </p:txBody>
        </p:sp>
      </p:grpSp>
      <p:grpSp>
        <p:nvGrpSpPr>
          <p:cNvPr id="5841" name="Google Shape;5841;p118"/>
          <p:cNvGrpSpPr/>
          <p:nvPr/>
        </p:nvGrpSpPr>
        <p:grpSpPr>
          <a:xfrm>
            <a:off x="1147763" y="4414838"/>
            <a:ext cx="949325" cy="304800"/>
            <a:chOff x="35" y="1825"/>
            <a:chExt cx="598" cy="192"/>
          </a:xfrm>
        </p:grpSpPr>
        <p:sp>
          <p:nvSpPr>
            <p:cNvPr id="5842" name="Google Shape;5842;p118"/>
            <p:cNvSpPr/>
            <p:nvPr/>
          </p:nvSpPr>
          <p:spPr>
            <a:xfrm>
              <a:off x="101" y="1859"/>
              <a:ext cx="471" cy="12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843" name="Google Shape;5843;p118"/>
            <p:cNvSpPr txBox="1"/>
            <p:nvPr/>
          </p:nvSpPr>
          <p:spPr>
            <a:xfrm>
              <a:off x="35" y="1825"/>
              <a:ext cx="598"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ACK=100</a:t>
              </a:r>
              <a:endParaRPr sz="1000">
                <a:solidFill>
                  <a:schemeClr val="dk1"/>
                </a:solidFill>
                <a:latin typeface="Times New Roman"/>
                <a:ea typeface="Times New Roman"/>
                <a:cs typeface="Times New Roman"/>
                <a:sym typeface="Times New Roman"/>
              </a:endParaRPr>
            </a:p>
          </p:txBody>
        </p:sp>
      </p:grpSp>
      <p:sp>
        <p:nvSpPr>
          <p:cNvPr id="5844" name="Google Shape;5844;p118"/>
          <p:cNvSpPr txBox="1"/>
          <p:nvPr>
            <p:ph type="title"/>
          </p:nvPr>
        </p:nvSpPr>
        <p:spPr>
          <a:xfrm>
            <a:off x="533400" y="220663"/>
            <a:ext cx="5040313" cy="9064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TCP fast retransmit</a:t>
            </a:r>
            <a:endParaRPr/>
          </a:p>
        </p:txBody>
      </p:sp>
      <p:pic>
        <p:nvPicPr>
          <p:cNvPr descr="underline_base" id="5845" name="Google Shape;5845;p118"/>
          <p:cNvPicPr preferRelativeResize="0"/>
          <p:nvPr/>
        </p:nvPicPr>
        <p:blipFill rotWithShape="1">
          <a:blip r:embed="rId3">
            <a:alphaModFix/>
          </a:blip>
          <a:srcRect b="0" l="0" r="0" t="0"/>
          <a:stretch/>
        </p:blipFill>
        <p:spPr>
          <a:xfrm>
            <a:off x="657225" y="903288"/>
            <a:ext cx="4570413" cy="173037"/>
          </a:xfrm>
          <a:prstGeom prst="rect">
            <a:avLst/>
          </a:prstGeom>
          <a:noFill/>
          <a:ln>
            <a:noFill/>
          </a:ln>
        </p:spPr>
      </p:pic>
      <p:sp>
        <p:nvSpPr>
          <p:cNvPr id="5846" name="Google Shape;5846;p118"/>
          <p:cNvSpPr/>
          <p:nvPr/>
        </p:nvSpPr>
        <p:spPr>
          <a:xfrm>
            <a:off x="1257300" y="2549525"/>
            <a:ext cx="757238" cy="22542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847" name="Google Shape;5847;p118"/>
          <p:cNvSpPr txBox="1"/>
          <p:nvPr/>
        </p:nvSpPr>
        <p:spPr>
          <a:xfrm>
            <a:off x="1165225" y="2493963"/>
            <a:ext cx="2281238"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Seq=100, 20 bytes of data</a:t>
            </a:r>
            <a:endParaRPr/>
          </a:p>
        </p:txBody>
      </p:sp>
      <p:sp>
        <p:nvSpPr>
          <p:cNvPr id="5848" name="Google Shape;5848;p118"/>
          <p:cNvSpPr/>
          <p:nvPr/>
        </p:nvSpPr>
        <p:spPr>
          <a:xfrm>
            <a:off x="1219200" y="4757738"/>
            <a:ext cx="757238" cy="22542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5849" name="Google Shape;5849;p118"/>
          <p:cNvSpPr txBox="1"/>
          <p:nvPr/>
        </p:nvSpPr>
        <p:spPr>
          <a:xfrm>
            <a:off x="1127125" y="4702175"/>
            <a:ext cx="2281238"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Seq=100, 20 bytes of data</a:t>
            </a:r>
            <a:endParaRPr/>
          </a:p>
        </p:txBody>
      </p:sp>
      <p:grpSp>
        <p:nvGrpSpPr>
          <p:cNvPr id="5850" name="Google Shape;5850;p118"/>
          <p:cNvGrpSpPr/>
          <p:nvPr/>
        </p:nvGrpSpPr>
        <p:grpSpPr>
          <a:xfrm>
            <a:off x="658813" y="1384300"/>
            <a:ext cx="630237" cy="533400"/>
            <a:chOff x="-44" y="1473"/>
            <a:chExt cx="981" cy="1105"/>
          </a:xfrm>
        </p:grpSpPr>
        <p:pic>
          <p:nvPicPr>
            <p:cNvPr descr="desktop_computer_stylized_medium" id="5851" name="Google Shape;5851;p118"/>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852" name="Google Shape;5852;p1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853" name="Google Shape;5853;p118"/>
          <p:cNvGrpSpPr/>
          <p:nvPr/>
        </p:nvGrpSpPr>
        <p:grpSpPr>
          <a:xfrm flipH="1">
            <a:off x="3236913" y="1411288"/>
            <a:ext cx="654050" cy="579437"/>
            <a:chOff x="-44" y="1473"/>
            <a:chExt cx="981" cy="1105"/>
          </a:xfrm>
        </p:grpSpPr>
        <p:pic>
          <p:nvPicPr>
            <p:cNvPr descr="desktop_computer_stylized_medium" id="5854" name="Google Shape;5854;p118"/>
            <p:cNvPicPr preferRelativeResize="0"/>
            <p:nvPr/>
          </p:nvPicPr>
          <p:blipFill rotWithShape="1">
            <a:blip r:embed="rId4">
              <a:alphaModFix/>
            </a:blip>
            <a:srcRect b="0" l="0" r="0" t="0"/>
            <a:stretch/>
          </p:blipFill>
          <p:spPr>
            <a:xfrm flipH="1">
              <a:off x="-44" y="1473"/>
              <a:ext cx="981" cy="1105"/>
            </a:xfrm>
            <a:prstGeom prst="rect">
              <a:avLst/>
            </a:prstGeom>
            <a:noFill/>
            <a:ln>
              <a:noFill/>
            </a:ln>
          </p:spPr>
        </p:pic>
        <p:sp>
          <p:nvSpPr>
            <p:cNvPr id="5855" name="Google Shape;5855;p1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856" name="Google Shape;5856;p118"/>
          <p:cNvGrpSpPr/>
          <p:nvPr/>
        </p:nvGrpSpPr>
        <p:grpSpPr>
          <a:xfrm>
            <a:off x="5207000" y="1079500"/>
            <a:ext cx="3937000" cy="2041525"/>
            <a:chOff x="5159537" y="1587630"/>
            <a:chExt cx="3936351" cy="2041241"/>
          </a:xfrm>
        </p:grpSpPr>
        <p:sp>
          <p:nvSpPr>
            <p:cNvPr id="5857" name="Google Shape;5857;p118"/>
            <p:cNvSpPr/>
            <p:nvPr/>
          </p:nvSpPr>
          <p:spPr>
            <a:xfrm>
              <a:off x="5159537" y="1587630"/>
              <a:ext cx="3888734" cy="2041241"/>
            </a:xfrm>
            <a:prstGeom prst="rect">
              <a:avLst/>
            </a:prstGeom>
            <a:solidFill>
              <a:srgbClr val="BFBFBF">
                <a:alpha val="49803"/>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58" name="Google Shape;5858;p118"/>
            <p:cNvSpPr/>
            <p:nvPr/>
          </p:nvSpPr>
          <p:spPr>
            <a:xfrm>
              <a:off x="5227789" y="1654296"/>
              <a:ext cx="3868099" cy="1661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200"/>
                <a:buFont typeface="Noto Sans Symbols"/>
                <a:buNone/>
              </a:pPr>
              <a:r>
                <a:rPr b="1" lang="en-US" sz="2200" u="sng">
                  <a:solidFill>
                    <a:schemeClr val="dk1"/>
                  </a:solidFill>
                  <a:latin typeface="Arial"/>
                  <a:ea typeface="Arial"/>
                  <a:cs typeface="Arial"/>
                  <a:sym typeface="Arial"/>
                </a:rPr>
                <a:t>Event @receiver</a:t>
              </a:r>
              <a:r>
                <a:rPr lang="en-US" sz="2200">
                  <a:solidFill>
                    <a:schemeClr val="dk1"/>
                  </a:solidFill>
                  <a:latin typeface="Arial"/>
                  <a:ea typeface="Arial"/>
                  <a:cs typeface="Arial"/>
                  <a:sym typeface="Arial"/>
                </a:rPr>
                <a:t>: </a:t>
              </a:r>
              <a:endParaRPr/>
            </a:p>
            <a:p>
              <a:pPr indent="-342900" lvl="0" marL="342900" marR="0" rtl="0" algn="l">
                <a:lnSpc>
                  <a:spcPct val="10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Arrival of out-of-order segment</a:t>
              </a:r>
              <a:endParaRPr/>
            </a:p>
            <a:p>
              <a:pPr indent="-342900" lvl="0" marL="342900" marR="0" rtl="0" algn="l">
                <a:lnSpc>
                  <a:spcPct val="10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a:t>
              </a:r>
              <a:r>
                <a:rPr lang="en-US" sz="2000">
                  <a:solidFill>
                    <a:srgbClr val="FF0000"/>
                  </a:solidFill>
                  <a:latin typeface="Arial"/>
                  <a:ea typeface="Arial"/>
                  <a:cs typeface="Arial"/>
                  <a:sym typeface="Arial"/>
                </a:rPr>
                <a:t>higher-than-expected </a:t>
              </a:r>
              <a:r>
                <a:rPr lang="en-US" sz="2000">
                  <a:solidFill>
                    <a:srgbClr val="FF0000"/>
                  </a:solidFill>
                  <a:latin typeface="Courier New"/>
                  <a:ea typeface="Courier New"/>
                  <a:cs typeface="Courier New"/>
                  <a:sym typeface="Courier New"/>
                </a:rPr>
                <a:t>seq#</a:t>
              </a:r>
              <a:r>
                <a:rPr lang="en-US" sz="2000">
                  <a:solidFill>
                    <a:schemeClr val="dk1"/>
                  </a:solidFill>
                  <a:latin typeface="Arial"/>
                  <a:ea typeface="Arial"/>
                  <a:cs typeface="Arial"/>
                  <a:sym typeface="Arial"/>
                </a:rPr>
                <a:t>.</a:t>
              </a:r>
              <a:endParaRPr/>
            </a:p>
            <a:p>
              <a:pPr indent="-342900" lvl="0" marL="342900" marR="0" rtl="0" algn="l">
                <a:lnSpc>
                  <a:spcPct val="10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Gap is detected</a:t>
              </a:r>
              <a:endParaRPr/>
            </a:p>
          </p:txBody>
        </p:sp>
      </p:grpSp>
      <p:grpSp>
        <p:nvGrpSpPr>
          <p:cNvPr id="5859" name="Google Shape;5859;p118"/>
          <p:cNvGrpSpPr/>
          <p:nvPr/>
        </p:nvGrpSpPr>
        <p:grpSpPr>
          <a:xfrm>
            <a:off x="5164138" y="3306763"/>
            <a:ext cx="3889375" cy="2041525"/>
            <a:chOff x="5164522" y="3815293"/>
            <a:chExt cx="3889494" cy="2041241"/>
          </a:xfrm>
        </p:grpSpPr>
        <p:sp>
          <p:nvSpPr>
            <p:cNvPr id="5860" name="Google Shape;5860;p118"/>
            <p:cNvSpPr/>
            <p:nvPr/>
          </p:nvSpPr>
          <p:spPr>
            <a:xfrm>
              <a:off x="5164522" y="3815293"/>
              <a:ext cx="3889494" cy="2041241"/>
            </a:xfrm>
            <a:prstGeom prst="rect">
              <a:avLst/>
            </a:prstGeom>
            <a:solidFill>
              <a:srgbClr val="BFBFBF">
                <a:alpha val="49803"/>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61" name="Google Shape;5861;p118"/>
            <p:cNvSpPr/>
            <p:nvPr/>
          </p:nvSpPr>
          <p:spPr>
            <a:xfrm>
              <a:off x="5239136" y="3888308"/>
              <a:ext cx="3471969" cy="178568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200"/>
                <a:buFont typeface="Noto Sans Symbols"/>
                <a:buNone/>
              </a:pPr>
              <a:r>
                <a:rPr b="1" lang="en-US" sz="2200" u="sng">
                  <a:solidFill>
                    <a:schemeClr val="dk1"/>
                  </a:solidFill>
                  <a:latin typeface="Arial"/>
                  <a:ea typeface="Arial"/>
                  <a:cs typeface="Arial"/>
                  <a:sym typeface="Arial"/>
                </a:rPr>
                <a:t>Action</a:t>
              </a:r>
              <a:r>
                <a:rPr lang="en-US" sz="2200">
                  <a:solidFill>
                    <a:schemeClr val="dk1"/>
                  </a:solidFill>
                  <a:latin typeface="Arial"/>
                  <a:ea typeface="Arial"/>
                  <a:cs typeface="Arial"/>
                  <a:sym typeface="Arial"/>
                </a:rPr>
                <a:t>:</a:t>
              </a:r>
              <a:endParaRPr/>
            </a:p>
            <a:p>
              <a:pPr indent="-342900" lvl="0" marL="342900" marR="0" rtl="0" algn="l">
                <a:lnSpc>
                  <a:spcPct val="100000"/>
                </a:lnSpc>
                <a:spcBef>
                  <a:spcPts val="0"/>
                </a:spcBef>
                <a:spcAft>
                  <a:spcPts val="0"/>
                </a:spcAft>
                <a:buClr>
                  <a:schemeClr val="dk1"/>
                </a:buClr>
                <a:buSzPts val="2200"/>
                <a:buFont typeface="Arial"/>
                <a:buChar char="•"/>
              </a:pPr>
              <a:r>
                <a:rPr lang="en-US" sz="2200">
                  <a:solidFill>
                    <a:schemeClr val="dk1"/>
                  </a:solidFill>
                  <a:latin typeface="Arial"/>
                  <a:ea typeface="Arial"/>
                  <a:cs typeface="Arial"/>
                  <a:sym typeface="Arial"/>
                </a:rPr>
                <a:t>Immediately send </a:t>
              </a:r>
              <a:r>
                <a:rPr i="1" lang="en-US" sz="2200">
                  <a:solidFill>
                    <a:srgbClr val="CC0000"/>
                  </a:solidFill>
                  <a:latin typeface="Arial"/>
                  <a:ea typeface="Arial"/>
                  <a:cs typeface="Arial"/>
                  <a:sym typeface="Arial"/>
                </a:rPr>
                <a:t>triple duplicate </a:t>
              </a:r>
              <a:r>
                <a:rPr i="1" lang="en-US" sz="2200">
                  <a:solidFill>
                    <a:srgbClr val="CC0000"/>
                  </a:solidFill>
                  <a:latin typeface="Courier New"/>
                  <a:ea typeface="Courier New"/>
                  <a:cs typeface="Courier New"/>
                  <a:sym typeface="Courier New"/>
                </a:rPr>
                <a:t>ACK</a:t>
              </a:r>
              <a:r>
                <a:rPr lang="en-US" sz="2200">
                  <a:solidFill>
                    <a:srgbClr val="CC0000"/>
                  </a:solidFill>
                  <a:latin typeface="Arial"/>
                  <a:ea typeface="Arial"/>
                  <a:cs typeface="Arial"/>
                  <a:sym typeface="Arial"/>
                </a:rPr>
                <a:t>,</a:t>
              </a:r>
              <a:r>
                <a:rPr lang="en-US" sz="2200">
                  <a:solidFill>
                    <a:schemeClr val="dk1"/>
                  </a:solidFill>
                  <a:latin typeface="Arial"/>
                  <a:ea typeface="Arial"/>
                  <a:cs typeface="Arial"/>
                  <a:sym typeface="Arial"/>
                </a:rPr>
                <a:t> </a:t>
              </a:r>
              <a:endParaRPr/>
            </a:p>
            <a:p>
              <a:pPr indent="-342900" lvl="0" marL="342900" marR="0" rtl="0" algn="l">
                <a:lnSpc>
                  <a:spcPct val="100000"/>
                </a:lnSpc>
                <a:spcBef>
                  <a:spcPts val="0"/>
                </a:spcBef>
                <a:spcAft>
                  <a:spcPts val="0"/>
                </a:spcAft>
                <a:buClr>
                  <a:schemeClr val="dk1"/>
                </a:buClr>
                <a:buSzPts val="2200"/>
                <a:buFont typeface="Arial"/>
                <a:buChar char="•"/>
              </a:pPr>
              <a:r>
                <a:rPr lang="en-US" sz="2200">
                  <a:solidFill>
                    <a:schemeClr val="dk1"/>
                  </a:solidFill>
                  <a:latin typeface="Arial"/>
                  <a:ea typeface="Arial"/>
                  <a:cs typeface="Arial"/>
                  <a:sym typeface="Arial"/>
                </a:rPr>
                <a:t>Indicating </a:t>
              </a:r>
              <a:r>
                <a:rPr lang="en-US" sz="2200">
                  <a:solidFill>
                    <a:schemeClr val="dk1"/>
                  </a:solidFill>
                  <a:latin typeface="Courier New"/>
                  <a:ea typeface="Courier New"/>
                  <a:cs typeface="Courier New"/>
                  <a:sym typeface="Courier New"/>
                </a:rPr>
                <a:t>seq#</a:t>
              </a:r>
              <a:r>
                <a:rPr lang="en-US" sz="2200">
                  <a:solidFill>
                    <a:schemeClr val="dk1"/>
                  </a:solidFill>
                  <a:latin typeface="Arial"/>
                  <a:ea typeface="Arial"/>
                  <a:cs typeface="Arial"/>
                  <a:sym typeface="Arial"/>
                </a:rPr>
                <a:t> of next expected byte</a:t>
              </a:r>
              <a:endParaRPr/>
            </a:p>
          </p:txBody>
        </p:sp>
      </p:grpSp>
      <p:grpSp>
        <p:nvGrpSpPr>
          <p:cNvPr id="5862" name="Google Shape;5862;p118"/>
          <p:cNvGrpSpPr/>
          <p:nvPr/>
        </p:nvGrpSpPr>
        <p:grpSpPr>
          <a:xfrm>
            <a:off x="5129797" y="5397104"/>
            <a:ext cx="3978216" cy="1439862"/>
            <a:chOff x="8737172" y="432120"/>
            <a:chExt cx="3977560" cy="1440615"/>
          </a:xfrm>
        </p:grpSpPr>
        <p:sp>
          <p:nvSpPr>
            <p:cNvPr id="5863" name="Google Shape;5863;p118"/>
            <p:cNvSpPr/>
            <p:nvPr/>
          </p:nvSpPr>
          <p:spPr>
            <a:xfrm>
              <a:off x="8737172" y="432120"/>
              <a:ext cx="3888734" cy="1440615"/>
            </a:xfrm>
            <a:prstGeom prst="rect">
              <a:avLst/>
            </a:prstGeom>
            <a:solidFill>
              <a:srgbClr val="BFBFBF">
                <a:alpha val="49803"/>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64" name="Google Shape;5864;p118"/>
            <p:cNvSpPr/>
            <p:nvPr/>
          </p:nvSpPr>
          <p:spPr>
            <a:xfrm>
              <a:off x="8846633" y="456342"/>
              <a:ext cx="3868099" cy="13548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200"/>
                <a:buFont typeface="Noto Sans Symbols"/>
                <a:buNone/>
              </a:pPr>
              <a:r>
                <a:rPr b="1" lang="en-US" sz="2200" u="sng">
                  <a:solidFill>
                    <a:schemeClr val="dk1"/>
                  </a:solidFill>
                  <a:latin typeface="Arial"/>
                  <a:ea typeface="Arial"/>
                  <a:cs typeface="Arial"/>
                  <a:sym typeface="Arial"/>
                </a:rPr>
                <a:t>Sender</a:t>
              </a:r>
              <a:r>
                <a:rPr lang="en-US" sz="2200">
                  <a:solidFill>
                    <a:schemeClr val="dk1"/>
                  </a:solidFill>
                  <a:latin typeface="Arial"/>
                  <a:ea typeface="Arial"/>
                  <a:cs typeface="Arial"/>
                  <a:sym typeface="Arial"/>
                </a:rPr>
                <a:t>: </a:t>
              </a:r>
              <a:endParaRPr sz="2000">
                <a:solidFill>
                  <a:schemeClr val="dk1"/>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detect triple duplicate ACKs</a:t>
              </a:r>
              <a:endParaRPr/>
            </a:p>
            <a:p>
              <a:pPr indent="-342900" lvl="0" marL="342900" marR="0" rtl="0" algn="l">
                <a:lnSpc>
                  <a:spcPct val="10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without waiting for timeout, resend the lost segment</a:t>
              </a:r>
              <a:endParaRPr/>
            </a:p>
          </p:txBody>
        </p:sp>
      </p:grpSp>
      <p:sp>
        <p:nvSpPr>
          <p:cNvPr id="5865" name="Google Shape;5865;p118"/>
          <p:cNvSpPr/>
          <p:nvPr/>
        </p:nvSpPr>
        <p:spPr>
          <a:xfrm flipH="1" rot="-2429234">
            <a:off x="3031289" y="2327173"/>
            <a:ext cx="2481040" cy="246524"/>
          </a:xfrm>
          <a:prstGeom prst="stripedRightArrow">
            <a:avLst>
              <a:gd fmla="val 50000" name="adj1"/>
              <a:gd fmla="val 50000" name="adj2"/>
            </a:avLst>
          </a:prstGeom>
          <a:solidFill>
            <a:srgbClr val="FFFF00">
              <a:alpha val="40000"/>
            </a:srgbClr>
          </a:solidFill>
          <a:ln cap="flat" cmpd="sng" w="9525">
            <a:solidFill>
              <a:srgbClr val="FF0000">
                <a:alpha val="6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66" name="Google Shape;5866;p118"/>
          <p:cNvSpPr/>
          <p:nvPr/>
        </p:nvSpPr>
        <p:spPr>
          <a:xfrm rot="-10150619">
            <a:off x="3638550" y="3687763"/>
            <a:ext cx="1465263" cy="438150"/>
          </a:xfrm>
          <a:prstGeom prst="stripedRightArrow">
            <a:avLst>
              <a:gd fmla="val 50000" name="adj1"/>
              <a:gd fmla="val 50000" name="adj2"/>
            </a:avLst>
          </a:prstGeom>
          <a:solidFill>
            <a:srgbClr val="37CBCC">
              <a:alpha val="40000"/>
            </a:srgbClr>
          </a:solidFill>
          <a:ln cap="flat" cmpd="sng" w="9525">
            <a:solidFill>
              <a:srgbClr val="0070C0">
                <a:alpha val="6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67" name="Google Shape;5867;p118"/>
          <p:cNvSpPr/>
          <p:nvPr/>
        </p:nvSpPr>
        <p:spPr>
          <a:xfrm rot="-10150619">
            <a:off x="3627438" y="5295900"/>
            <a:ext cx="1465262" cy="438150"/>
          </a:xfrm>
          <a:prstGeom prst="stripedRightArrow">
            <a:avLst>
              <a:gd fmla="val 50000" name="adj1"/>
              <a:gd fmla="val 50000" name="adj2"/>
            </a:avLst>
          </a:prstGeom>
          <a:solidFill>
            <a:srgbClr val="37CBCC">
              <a:alpha val="40000"/>
            </a:srgbClr>
          </a:solidFill>
          <a:ln cap="flat" cmpd="sng" w="9525">
            <a:solidFill>
              <a:srgbClr val="0070C0">
                <a:alpha val="6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56"/>
                                        </p:tgtEl>
                                        <p:attrNameLst>
                                          <p:attrName>style.visibility</p:attrName>
                                        </p:attrNameLst>
                                      </p:cBhvr>
                                      <p:to>
                                        <p:strVal val="visible"/>
                                      </p:to>
                                    </p:set>
                                    <p:animEffect filter="fade" transition="in">
                                      <p:cBhvr>
                                        <p:cTn dur="500"/>
                                        <p:tgtEl>
                                          <p:spTgt spid="58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59"/>
                                        </p:tgtEl>
                                        <p:attrNameLst>
                                          <p:attrName>style.visibility</p:attrName>
                                        </p:attrNameLst>
                                      </p:cBhvr>
                                      <p:to>
                                        <p:strVal val="visible"/>
                                      </p:to>
                                    </p:set>
                                    <p:animEffect filter="fade" transition="in">
                                      <p:cBhvr>
                                        <p:cTn dur="500"/>
                                        <p:tgtEl>
                                          <p:spTgt spid="58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62"/>
                                        </p:tgtEl>
                                        <p:attrNameLst>
                                          <p:attrName>style.visibility</p:attrName>
                                        </p:attrNameLst>
                                      </p:cBhvr>
                                      <p:to>
                                        <p:strVal val="visible"/>
                                      </p:to>
                                    </p:set>
                                    <p:animEffect filter="fade" transition="in">
                                      <p:cBhvr>
                                        <p:cTn dur="500"/>
                                        <p:tgtEl>
                                          <p:spTgt spid="58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65"/>
                                        </p:tgtEl>
                                        <p:attrNameLst>
                                          <p:attrName>style.visibility</p:attrName>
                                        </p:attrNameLst>
                                      </p:cBhvr>
                                      <p:to>
                                        <p:strVal val="visible"/>
                                      </p:to>
                                    </p:set>
                                    <p:animEffect filter="fade" transition="in">
                                      <p:cBhvr>
                                        <p:cTn dur="500"/>
                                        <p:tgtEl>
                                          <p:spTgt spid="58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66"/>
                                        </p:tgtEl>
                                        <p:attrNameLst>
                                          <p:attrName>style.visibility</p:attrName>
                                        </p:attrNameLst>
                                      </p:cBhvr>
                                      <p:to>
                                        <p:strVal val="visible"/>
                                      </p:to>
                                    </p:set>
                                    <p:animEffect filter="fade" transition="in">
                                      <p:cBhvr>
                                        <p:cTn dur="500"/>
                                        <p:tgtEl>
                                          <p:spTgt spid="58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67"/>
                                        </p:tgtEl>
                                        <p:attrNameLst>
                                          <p:attrName>style.visibility</p:attrName>
                                        </p:attrNameLst>
                                      </p:cBhvr>
                                      <p:to>
                                        <p:strVal val="visible"/>
                                      </p:to>
                                    </p:set>
                                    <p:animEffect filter="fade" transition="in">
                                      <p:cBhvr>
                                        <p:cTn dur="500"/>
                                        <p:tgtEl>
                                          <p:spTgt spid="58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2" name="Shape 5872"/>
        <p:cNvGrpSpPr/>
        <p:nvPr/>
      </p:nvGrpSpPr>
      <p:grpSpPr>
        <a:xfrm>
          <a:off x="0" y="0"/>
          <a:ext cx="0" cy="0"/>
          <a:chOff x="0" y="0"/>
          <a:chExt cx="0" cy="0"/>
        </a:xfrm>
      </p:grpSpPr>
      <p:sp>
        <p:nvSpPr>
          <p:cNvPr id="5873" name="Google Shape;5873;p119"/>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5874" name="Google Shape;5874;p119"/>
          <p:cNvSpPr txBox="1"/>
          <p:nvPr>
            <p:ph idx="2" type="body"/>
          </p:nvPr>
        </p:nvSpPr>
        <p:spPr>
          <a:xfrm>
            <a:off x="798690" y="1183946"/>
            <a:ext cx="6618109" cy="5624267"/>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SzPts val="3200"/>
              <a:buChar char="▪"/>
            </a:pPr>
            <a:r>
              <a:rPr lang="en-US" sz="3200"/>
              <a:t>Connection-oriented transport: TCP</a:t>
            </a:r>
            <a:endParaRPr/>
          </a:p>
          <a:p>
            <a:pPr indent="-288925" lvl="1" marL="746125" rtl="0" algn="l">
              <a:lnSpc>
                <a:spcPct val="90000"/>
              </a:lnSpc>
              <a:spcBef>
                <a:spcPts val="500"/>
              </a:spcBef>
              <a:spcAft>
                <a:spcPts val="0"/>
              </a:spcAft>
              <a:buClr>
                <a:srgbClr val="BFBFBF"/>
              </a:buClr>
              <a:buSzPts val="2400"/>
              <a:buFont typeface="Arial"/>
              <a:buChar char="•"/>
            </a:pPr>
            <a:r>
              <a:rPr lang="en-US">
                <a:solidFill>
                  <a:srgbClr val="BFBFBF"/>
                </a:solidFill>
              </a:rPr>
              <a:t>segment structure</a:t>
            </a:r>
            <a:endParaRPr/>
          </a:p>
          <a:p>
            <a:pPr indent="-288925" lvl="1" marL="746125" rtl="0" algn="l">
              <a:lnSpc>
                <a:spcPct val="90000"/>
              </a:lnSpc>
              <a:spcBef>
                <a:spcPts val="500"/>
              </a:spcBef>
              <a:spcAft>
                <a:spcPts val="0"/>
              </a:spcAft>
              <a:buClr>
                <a:srgbClr val="BFBFBF"/>
              </a:buClr>
              <a:buSzPts val="2400"/>
              <a:buFont typeface="Arial"/>
              <a:buChar char="•"/>
            </a:pPr>
            <a:r>
              <a:rPr lang="en-US">
                <a:solidFill>
                  <a:srgbClr val="BFBFBF"/>
                </a:solidFill>
              </a:rPr>
              <a:t>reliable data transfer</a:t>
            </a:r>
            <a:endParaRPr/>
          </a:p>
          <a:p>
            <a:pPr indent="-288925" lvl="1" marL="746125" rtl="0" algn="l">
              <a:lnSpc>
                <a:spcPct val="90000"/>
              </a:lnSpc>
              <a:spcBef>
                <a:spcPts val="500"/>
              </a:spcBef>
              <a:spcAft>
                <a:spcPts val="0"/>
              </a:spcAft>
              <a:buSzPts val="2400"/>
              <a:buFont typeface="Arial"/>
              <a:buChar char="•"/>
            </a:pPr>
            <a:r>
              <a:rPr lang="en-US">
                <a:solidFill>
                  <a:srgbClr val="C00000"/>
                </a:solidFill>
              </a:rPr>
              <a:t>flow control</a:t>
            </a:r>
            <a:endParaRPr/>
          </a:p>
          <a:p>
            <a:pPr indent="-288925" lvl="1" marL="746125" rtl="0" algn="l">
              <a:lnSpc>
                <a:spcPct val="90000"/>
              </a:lnSpc>
              <a:spcBef>
                <a:spcPts val="500"/>
              </a:spcBef>
              <a:spcAft>
                <a:spcPts val="0"/>
              </a:spcAft>
              <a:buSzPts val="2400"/>
              <a:buFont typeface="Arial"/>
              <a:buChar char="•"/>
            </a:pPr>
            <a:r>
              <a:rPr lang="en-US">
                <a:solidFill>
                  <a:srgbClr val="C00000"/>
                </a:solidFill>
              </a:rPr>
              <a:t>connection management</a:t>
            </a:r>
            <a:endParaRPr sz="3200">
              <a:solidFill>
                <a:srgbClr val="C00000"/>
              </a:solidFill>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5875" name="Google Shape;5875;p11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5876" name="Google Shape;5876;p119"/>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1" name="Shape 5881"/>
        <p:cNvGrpSpPr/>
        <p:nvPr/>
      </p:nvGrpSpPr>
      <p:grpSpPr>
        <a:xfrm>
          <a:off x="0" y="0"/>
          <a:ext cx="0" cy="0"/>
          <a:chOff x="0" y="0"/>
          <a:chExt cx="0" cy="0"/>
        </a:xfrm>
      </p:grpSpPr>
      <p:sp>
        <p:nvSpPr>
          <p:cNvPr id="5882" name="Google Shape;5882;p120"/>
          <p:cNvSpPr txBox="1"/>
          <p:nvPr>
            <p:ph type="title"/>
          </p:nvPr>
        </p:nvSpPr>
        <p:spPr>
          <a:xfrm>
            <a:off x="1299411" y="171451"/>
            <a:ext cx="8338302" cy="9747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TCP flow control</a:t>
            </a:r>
            <a:endParaRPr/>
          </a:p>
        </p:txBody>
      </p:sp>
      <p:sp>
        <p:nvSpPr>
          <p:cNvPr id="5883" name="Google Shape;5883;p120"/>
          <p:cNvSpPr txBox="1"/>
          <p:nvPr/>
        </p:nvSpPr>
        <p:spPr>
          <a:xfrm>
            <a:off x="1424539" y="1087438"/>
            <a:ext cx="8860875" cy="5391150"/>
          </a:xfrm>
          <a:prstGeom prst="rect">
            <a:avLst/>
          </a:prstGeom>
          <a:noFill/>
          <a:ln>
            <a:noFill/>
          </a:ln>
        </p:spPr>
        <p:txBody>
          <a:bodyPr anchorCtr="0" anchor="t" bIns="45700" lIns="91425" spcFirstLastPara="1" rIns="91425" wrap="square" tIns="45700">
            <a:noAutofit/>
          </a:bodyPr>
          <a:lstStyle/>
          <a:p>
            <a:pPr indent="-284163" lvl="0" marL="284163" marR="0" rtl="0" algn="l">
              <a:lnSpc>
                <a:spcPct val="100000"/>
              </a:lnSpc>
              <a:spcBef>
                <a:spcPts val="0"/>
              </a:spcBef>
              <a:spcAft>
                <a:spcPts val="0"/>
              </a:spcAft>
              <a:buClr>
                <a:srgbClr val="000099"/>
              </a:buClr>
              <a:buSzPts val="2800"/>
              <a:buFont typeface="Noto Sans Symbols"/>
              <a:buChar char="▪"/>
            </a:pPr>
            <a:r>
              <a:rPr lang="en-US" sz="2800">
                <a:solidFill>
                  <a:schemeClr val="dk1"/>
                </a:solidFill>
                <a:latin typeface="Arial"/>
                <a:ea typeface="Arial"/>
                <a:cs typeface="Arial"/>
                <a:sym typeface="Arial"/>
              </a:rPr>
              <a:t>When the TCP connection </a:t>
            </a:r>
            <a:r>
              <a:rPr lang="en-US" sz="2800">
                <a:solidFill>
                  <a:srgbClr val="FF0000"/>
                </a:solidFill>
                <a:latin typeface="Arial"/>
                <a:ea typeface="Arial"/>
                <a:cs typeface="Arial"/>
                <a:sym typeface="Arial"/>
              </a:rPr>
              <a:t>receives bytes</a:t>
            </a:r>
            <a:r>
              <a:rPr lang="en-US" sz="2800">
                <a:solidFill>
                  <a:schemeClr val="dk1"/>
                </a:solidFill>
                <a:latin typeface="Arial"/>
                <a:ea typeface="Arial"/>
                <a:cs typeface="Arial"/>
                <a:sym typeface="Arial"/>
              </a:rPr>
              <a:t> that are </a:t>
            </a:r>
            <a:r>
              <a:rPr lang="en-US" sz="2800">
                <a:solidFill>
                  <a:srgbClr val="FF0000"/>
                </a:solidFill>
                <a:latin typeface="Arial"/>
                <a:ea typeface="Arial"/>
                <a:cs typeface="Arial"/>
                <a:sym typeface="Arial"/>
              </a:rPr>
              <a:t>correct and in sequence</a:t>
            </a:r>
            <a:r>
              <a:rPr lang="en-US" sz="2800">
                <a:solidFill>
                  <a:schemeClr val="dk1"/>
                </a:solidFill>
                <a:latin typeface="Arial"/>
                <a:ea typeface="Arial"/>
                <a:cs typeface="Arial"/>
                <a:sym typeface="Arial"/>
              </a:rPr>
              <a:t>, it places the data in the </a:t>
            </a:r>
            <a:r>
              <a:rPr lang="en-US" sz="2800">
                <a:solidFill>
                  <a:srgbClr val="FF0000"/>
                </a:solidFill>
                <a:latin typeface="Arial"/>
                <a:ea typeface="Arial"/>
                <a:cs typeface="Arial"/>
                <a:sym typeface="Arial"/>
              </a:rPr>
              <a:t>receive buffer</a:t>
            </a:r>
            <a:r>
              <a:rPr lang="en-US" sz="2800">
                <a:solidFill>
                  <a:schemeClr val="dk1"/>
                </a:solidFill>
                <a:latin typeface="Arial"/>
                <a:ea typeface="Arial"/>
                <a:cs typeface="Arial"/>
                <a:sym typeface="Arial"/>
              </a:rPr>
              <a:t>. </a:t>
            </a:r>
            <a:endParaRPr/>
          </a:p>
          <a:p>
            <a:pPr indent="-284163" lvl="0" marL="284163" marR="0" rtl="0" algn="l">
              <a:lnSpc>
                <a:spcPct val="100000"/>
              </a:lnSpc>
              <a:spcBef>
                <a:spcPts val="560"/>
              </a:spcBef>
              <a:spcAft>
                <a:spcPts val="0"/>
              </a:spcAft>
              <a:buClr>
                <a:srgbClr val="000099"/>
              </a:buClr>
              <a:buSzPts val="2800"/>
              <a:buFont typeface="Noto Sans Symbols"/>
              <a:buChar char="▪"/>
            </a:pPr>
            <a:r>
              <a:rPr lang="en-US" sz="2800">
                <a:solidFill>
                  <a:schemeClr val="dk1"/>
                </a:solidFill>
                <a:latin typeface="Arial"/>
                <a:ea typeface="Arial"/>
                <a:cs typeface="Arial"/>
                <a:sym typeface="Arial"/>
              </a:rPr>
              <a:t>The associated </a:t>
            </a:r>
            <a:r>
              <a:rPr i="1" lang="en-US" sz="2800">
                <a:solidFill>
                  <a:srgbClr val="FF0000"/>
                </a:solidFill>
                <a:latin typeface="Arial"/>
                <a:ea typeface="Arial"/>
                <a:cs typeface="Arial"/>
                <a:sym typeface="Arial"/>
              </a:rPr>
              <a:t>application</a:t>
            </a:r>
            <a:r>
              <a:rPr lang="en-US" sz="2800">
                <a:solidFill>
                  <a:srgbClr val="FF0000"/>
                </a:solidFill>
                <a:latin typeface="Arial"/>
                <a:ea typeface="Arial"/>
                <a:cs typeface="Arial"/>
                <a:sym typeface="Arial"/>
              </a:rPr>
              <a:t> </a:t>
            </a:r>
            <a:r>
              <a:rPr lang="en-US" sz="2800">
                <a:solidFill>
                  <a:schemeClr val="dk1"/>
                </a:solidFill>
                <a:latin typeface="Arial"/>
                <a:ea typeface="Arial"/>
                <a:cs typeface="Arial"/>
                <a:sym typeface="Arial"/>
              </a:rPr>
              <a:t>process </a:t>
            </a:r>
            <a:r>
              <a:rPr i="1" lang="en-US" sz="2800">
                <a:solidFill>
                  <a:srgbClr val="FF0000"/>
                </a:solidFill>
                <a:latin typeface="Arial"/>
                <a:ea typeface="Arial"/>
                <a:cs typeface="Arial"/>
                <a:sym typeface="Arial"/>
              </a:rPr>
              <a:t>will read data </a:t>
            </a:r>
            <a:r>
              <a:rPr lang="en-US" sz="2800">
                <a:solidFill>
                  <a:schemeClr val="dk1"/>
                </a:solidFill>
                <a:latin typeface="Arial"/>
                <a:ea typeface="Arial"/>
                <a:cs typeface="Arial"/>
                <a:sym typeface="Arial"/>
              </a:rPr>
              <a:t>from this buffer, but </a:t>
            </a:r>
            <a:r>
              <a:rPr lang="en-US" sz="2800">
                <a:solidFill>
                  <a:srgbClr val="FF0000"/>
                </a:solidFill>
                <a:latin typeface="Arial"/>
                <a:ea typeface="Arial"/>
                <a:cs typeface="Arial"/>
                <a:sym typeface="Arial"/>
              </a:rPr>
              <a:t>NOT</a:t>
            </a:r>
            <a:r>
              <a:rPr lang="en-US" sz="2800">
                <a:solidFill>
                  <a:schemeClr val="dk1"/>
                </a:solidFill>
                <a:latin typeface="Arial"/>
                <a:ea typeface="Arial"/>
                <a:cs typeface="Arial"/>
                <a:sym typeface="Arial"/>
              </a:rPr>
              <a:t> necessarily </a:t>
            </a:r>
            <a:r>
              <a:rPr lang="en-US" sz="2800">
                <a:solidFill>
                  <a:srgbClr val="FF0000"/>
                </a:solidFill>
                <a:latin typeface="Arial"/>
                <a:ea typeface="Arial"/>
                <a:cs typeface="Arial"/>
                <a:sym typeface="Arial"/>
              </a:rPr>
              <a:t>at the instant</a:t>
            </a:r>
            <a:r>
              <a:rPr lang="en-US" sz="2800">
                <a:solidFill>
                  <a:schemeClr val="dk1"/>
                </a:solidFill>
                <a:latin typeface="Arial"/>
                <a:ea typeface="Arial"/>
                <a:cs typeface="Arial"/>
                <a:sym typeface="Arial"/>
              </a:rPr>
              <a:t> the data arrives. </a:t>
            </a:r>
            <a:endParaRPr/>
          </a:p>
          <a:p>
            <a:pPr indent="-284163" lvl="0" marL="284163" marR="0" rtl="0" algn="l">
              <a:lnSpc>
                <a:spcPct val="100000"/>
              </a:lnSpc>
              <a:spcBef>
                <a:spcPts val="560"/>
              </a:spcBef>
              <a:spcAft>
                <a:spcPts val="0"/>
              </a:spcAft>
              <a:buClr>
                <a:srgbClr val="000099"/>
              </a:buClr>
              <a:buSzPts val="2800"/>
              <a:buFont typeface="Noto Sans Symbols"/>
              <a:buChar char="▪"/>
            </a:pPr>
            <a:r>
              <a:rPr lang="en-US" sz="2800">
                <a:solidFill>
                  <a:schemeClr val="dk1"/>
                </a:solidFill>
                <a:latin typeface="Arial"/>
                <a:ea typeface="Arial"/>
                <a:cs typeface="Arial"/>
                <a:sym typeface="Arial"/>
              </a:rPr>
              <a:t>Indeed, the </a:t>
            </a:r>
            <a:r>
              <a:rPr i="1" lang="en-US" sz="2800">
                <a:solidFill>
                  <a:srgbClr val="FF0000"/>
                </a:solidFill>
                <a:latin typeface="Arial"/>
                <a:ea typeface="Arial"/>
                <a:cs typeface="Arial"/>
                <a:sym typeface="Arial"/>
              </a:rPr>
              <a:t>receiving application may be busy with some other task</a:t>
            </a:r>
            <a:r>
              <a:rPr lang="en-US" sz="2800">
                <a:solidFill>
                  <a:schemeClr val="dk1"/>
                </a:solidFill>
                <a:latin typeface="Arial"/>
                <a:ea typeface="Arial"/>
                <a:cs typeface="Arial"/>
                <a:sym typeface="Arial"/>
              </a:rPr>
              <a:t> and may not even attempt to read the data until long after it has arrived. </a:t>
            </a:r>
            <a:endParaRPr/>
          </a:p>
        </p:txBody>
      </p:sp>
      <p:sp>
        <p:nvSpPr>
          <p:cNvPr id="5884" name="Google Shape;5884;p12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8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83">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8" name="Shape 5888"/>
        <p:cNvGrpSpPr/>
        <p:nvPr/>
      </p:nvGrpSpPr>
      <p:grpSpPr>
        <a:xfrm>
          <a:off x="0" y="0"/>
          <a:ext cx="0" cy="0"/>
          <a:chOff x="0" y="0"/>
          <a:chExt cx="0" cy="0"/>
        </a:xfrm>
      </p:grpSpPr>
      <p:sp>
        <p:nvSpPr>
          <p:cNvPr id="5889" name="Google Shape;5889;p121"/>
          <p:cNvSpPr txBox="1"/>
          <p:nvPr/>
        </p:nvSpPr>
        <p:spPr>
          <a:xfrm>
            <a:off x="1684339" y="1087438"/>
            <a:ext cx="8601075" cy="5391150"/>
          </a:xfrm>
          <a:prstGeom prst="rect">
            <a:avLst/>
          </a:prstGeom>
          <a:noFill/>
          <a:ln>
            <a:noFill/>
          </a:ln>
        </p:spPr>
        <p:txBody>
          <a:bodyPr anchorCtr="0" anchor="t" bIns="45700" lIns="91425" spcFirstLastPara="1" rIns="91425" wrap="square" tIns="45700">
            <a:noAutofit/>
          </a:bodyPr>
          <a:lstStyle/>
          <a:p>
            <a:pPr indent="-284163" lvl="0" marL="284163" marR="0" rtl="0" algn="l">
              <a:lnSpc>
                <a:spcPct val="100000"/>
              </a:lnSpc>
              <a:spcBef>
                <a:spcPts val="0"/>
              </a:spcBef>
              <a:spcAft>
                <a:spcPts val="0"/>
              </a:spcAft>
              <a:buClr>
                <a:srgbClr val="000099"/>
              </a:buClr>
              <a:buSzPts val="2800"/>
              <a:buFont typeface="Noto Sans Symbols"/>
              <a:buChar char="▪"/>
            </a:pPr>
            <a:r>
              <a:rPr lang="en-US" sz="2800">
                <a:solidFill>
                  <a:schemeClr val="dk1"/>
                </a:solidFill>
                <a:latin typeface="Arial"/>
                <a:ea typeface="Arial"/>
                <a:cs typeface="Arial"/>
                <a:sym typeface="Arial"/>
              </a:rPr>
              <a:t>If the </a:t>
            </a:r>
            <a:r>
              <a:rPr lang="en-US" sz="2800">
                <a:solidFill>
                  <a:srgbClr val="FF0000"/>
                </a:solidFill>
                <a:latin typeface="Arial"/>
                <a:ea typeface="Arial"/>
                <a:cs typeface="Arial"/>
                <a:sym typeface="Arial"/>
              </a:rPr>
              <a:t>application</a:t>
            </a:r>
            <a:r>
              <a:rPr lang="en-US" sz="2800">
                <a:solidFill>
                  <a:schemeClr val="dk1"/>
                </a:solidFill>
                <a:latin typeface="Arial"/>
                <a:ea typeface="Arial"/>
                <a:cs typeface="Arial"/>
                <a:sym typeface="Arial"/>
              </a:rPr>
              <a:t> is relatively </a:t>
            </a:r>
            <a:r>
              <a:rPr lang="en-US" sz="2800">
                <a:solidFill>
                  <a:srgbClr val="FF0000"/>
                </a:solidFill>
                <a:latin typeface="Arial"/>
                <a:ea typeface="Arial"/>
                <a:cs typeface="Arial"/>
                <a:sym typeface="Arial"/>
              </a:rPr>
              <a:t>slow at reading</a:t>
            </a:r>
            <a:r>
              <a:rPr lang="en-US" sz="2800">
                <a:solidFill>
                  <a:schemeClr val="dk1"/>
                </a:solidFill>
                <a:latin typeface="Arial"/>
                <a:ea typeface="Arial"/>
                <a:cs typeface="Arial"/>
                <a:sym typeface="Arial"/>
              </a:rPr>
              <a:t> the data, </a:t>
            </a:r>
            <a:endParaRPr/>
          </a:p>
          <a:p>
            <a:pPr indent="-230187" lvl="1" marL="687388" marR="0" rtl="0" algn="l">
              <a:lnSpc>
                <a:spcPct val="100000"/>
              </a:lnSpc>
              <a:spcBef>
                <a:spcPts val="520"/>
              </a:spcBef>
              <a:spcAft>
                <a:spcPts val="0"/>
              </a:spcAft>
              <a:buClr>
                <a:srgbClr val="000099"/>
              </a:buClr>
              <a:buSzPts val="2600"/>
              <a:buFont typeface="Arial"/>
              <a:buChar char="•"/>
            </a:pPr>
            <a:r>
              <a:rPr b="0" i="0" lang="en-US" sz="2600" u="none" cap="none" strike="noStrike">
                <a:solidFill>
                  <a:schemeClr val="dk1"/>
                </a:solidFill>
                <a:latin typeface="Arial"/>
                <a:ea typeface="Arial"/>
                <a:cs typeface="Arial"/>
                <a:sym typeface="Arial"/>
              </a:rPr>
              <a:t>the </a:t>
            </a:r>
            <a:r>
              <a:rPr b="0" i="0" lang="en-US" sz="2600" u="none" cap="none" strike="noStrike">
                <a:solidFill>
                  <a:srgbClr val="FF0000"/>
                </a:solidFill>
                <a:latin typeface="Arial"/>
                <a:ea typeface="Arial"/>
                <a:cs typeface="Arial"/>
                <a:sym typeface="Arial"/>
              </a:rPr>
              <a:t>sender</a:t>
            </a:r>
            <a:r>
              <a:rPr b="0" i="0" lang="en-US" sz="2600" u="none" cap="none" strike="noStrike">
                <a:solidFill>
                  <a:schemeClr val="dk1"/>
                </a:solidFill>
                <a:latin typeface="Arial"/>
                <a:ea typeface="Arial"/>
                <a:cs typeface="Arial"/>
                <a:sym typeface="Arial"/>
              </a:rPr>
              <a:t> can very easily </a:t>
            </a:r>
            <a:r>
              <a:rPr b="0" i="1" lang="en-US" sz="2600" u="none" cap="none" strike="noStrike">
                <a:solidFill>
                  <a:srgbClr val="FF0000"/>
                </a:solidFill>
                <a:latin typeface="Arial"/>
                <a:ea typeface="Arial"/>
                <a:cs typeface="Arial"/>
                <a:sym typeface="Arial"/>
              </a:rPr>
              <a:t>overflow the receiver buffer</a:t>
            </a:r>
            <a:r>
              <a:rPr b="0" i="0" lang="en-US" sz="2600" u="none" cap="none" strike="noStrike">
                <a:solidFill>
                  <a:schemeClr val="dk1"/>
                </a:solidFill>
                <a:latin typeface="Arial"/>
                <a:ea typeface="Arial"/>
                <a:cs typeface="Arial"/>
                <a:sym typeface="Arial"/>
              </a:rPr>
              <a:t> by sending too much data too quickly.</a:t>
            </a:r>
            <a:endParaRPr/>
          </a:p>
          <a:p>
            <a:pPr indent="-284163" lvl="0" marL="284163" marR="0" rtl="0" algn="l">
              <a:lnSpc>
                <a:spcPct val="100000"/>
              </a:lnSpc>
              <a:spcBef>
                <a:spcPts val="560"/>
              </a:spcBef>
              <a:spcAft>
                <a:spcPts val="0"/>
              </a:spcAft>
              <a:buClr>
                <a:srgbClr val="000099"/>
              </a:buClr>
              <a:buSzPts val="2800"/>
              <a:buFont typeface="Noto Sans Symbols"/>
              <a:buChar char="▪"/>
            </a:pPr>
            <a:r>
              <a:rPr lang="en-US" sz="2800">
                <a:solidFill>
                  <a:schemeClr val="dk1"/>
                </a:solidFill>
                <a:latin typeface="Arial"/>
                <a:ea typeface="Arial"/>
                <a:cs typeface="Arial"/>
                <a:sym typeface="Arial"/>
              </a:rPr>
              <a:t>TCP provides a </a:t>
            </a:r>
            <a:r>
              <a:rPr b="1" lang="en-US" sz="2800" u="sng">
                <a:solidFill>
                  <a:srgbClr val="0070C0"/>
                </a:solidFill>
                <a:latin typeface="Arial"/>
                <a:ea typeface="Arial"/>
                <a:cs typeface="Arial"/>
                <a:sym typeface="Arial"/>
              </a:rPr>
              <a:t>flow-control service</a:t>
            </a:r>
            <a:r>
              <a:rPr lang="en-US" sz="2800">
                <a:solidFill>
                  <a:schemeClr val="dk1"/>
                </a:solidFill>
                <a:latin typeface="Arial"/>
                <a:ea typeface="Arial"/>
                <a:cs typeface="Arial"/>
                <a:sym typeface="Arial"/>
              </a:rPr>
              <a:t> </a:t>
            </a:r>
            <a:endParaRPr/>
          </a:p>
          <a:p>
            <a:pPr indent="-230187" lvl="1" marL="687388" marR="0" rtl="0" algn="l">
              <a:lnSpc>
                <a:spcPct val="100000"/>
              </a:lnSpc>
              <a:spcBef>
                <a:spcPts val="520"/>
              </a:spcBef>
              <a:spcAft>
                <a:spcPts val="0"/>
              </a:spcAft>
              <a:buClr>
                <a:srgbClr val="000099"/>
              </a:buClr>
              <a:buSzPts val="2600"/>
              <a:buFont typeface="Arial"/>
              <a:buChar char="•"/>
            </a:pPr>
            <a:r>
              <a:rPr b="0" i="0" lang="en-US" sz="2600" u="none" cap="none" strike="noStrike">
                <a:solidFill>
                  <a:schemeClr val="dk1"/>
                </a:solidFill>
                <a:latin typeface="Arial"/>
                <a:ea typeface="Arial"/>
                <a:cs typeface="Arial"/>
                <a:sym typeface="Arial"/>
              </a:rPr>
              <a:t>to </a:t>
            </a:r>
            <a:r>
              <a:rPr b="0" i="1" lang="en-US" sz="2600" u="none" cap="none" strike="noStrike">
                <a:solidFill>
                  <a:srgbClr val="0070C0"/>
                </a:solidFill>
                <a:latin typeface="Arial"/>
                <a:ea typeface="Arial"/>
                <a:cs typeface="Arial"/>
                <a:sym typeface="Arial"/>
              </a:rPr>
              <a:t>eliminate</a:t>
            </a:r>
            <a:r>
              <a:rPr b="0" i="0" lang="en-US" sz="2600" u="none" cap="none" strike="noStrike">
                <a:solidFill>
                  <a:schemeClr val="dk1"/>
                </a:solidFill>
                <a:latin typeface="Arial"/>
                <a:ea typeface="Arial"/>
                <a:cs typeface="Arial"/>
                <a:sym typeface="Arial"/>
              </a:rPr>
              <a:t> the possibility of the </a:t>
            </a:r>
            <a:r>
              <a:rPr b="0" i="1" lang="en-US" sz="2600" u="none" cap="none" strike="noStrike">
                <a:solidFill>
                  <a:srgbClr val="0070C0"/>
                </a:solidFill>
                <a:latin typeface="Arial"/>
                <a:ea typeface="Arial"/>
                <a:cs typeface="Arial"/>
                <a:sym typeface="Arial"/>
              </a:rPr>
              <a:t>sender overflowing</a:t>
            </a:r>
            <a:r>
              <a:rPr b="0" i="0" lang="en-US" sz="2600" u="none" cap="none" strike="noStrike">
                <a:solidFill>
                  <a:schemeClr val="dk1"/>
                </a:solidFill>
                <a:latin typeface="Arial"/>
                <a:ea typeface="Arial"/>
                <a:cs typeface="Arial"/>
                <a:sym typeface="Arial"/>
              </a:rPr>
              <a:t> the </a:t>
            </a:r>
            <a:r>
              <a:rPr b="0" i="1" lang="en-US" sz="2600" u="none" cap="none" strike="noStrike">
                <a:solidFill>
                  <a:srgbClr val="0070C0"/>
                </a:solidFill>
                <a:latin typeface="Arial"/>
                <a:ea typeface="Arial"/>
                <a:cs typeface="Arial"/>
                <a:sym typeface="Arial"/>
              </a:rPr>
              <a:t>receiver’s buffer</a:t>
            </a:r>
            <a:r>
              <a:rPr b="0" i="0" lang="en-US" sz="2600" u="none" cap="none" strike="noStrike">
                <a:solidFill>
                  <a:schemeClr val="dk1"/>
                </a:solidFill>
                <a:latin typeface="Arial"/>
                <a:ea typeface="Arial"/>
                <a:cs typeface="Arial"/>
                <a:sym typeface="Arial"/>
              </a:rPr>
              <a:t>. </a:t>
            </a:r>
            <a:endParaRPr/>
          </a:p>
          <a:p>
            <a:pPr indent="-284163" lvl="0" marL="284163" marR="0" rtl="0" algn="l">
              <a:lnSpc>
                <a:spcPct val="100000"/>
              </a:lnSpc>
              <a:spcBef>
                <a:spcPts val="560"/>
              </a:spcBef>
              <a:spcAft>
                <a:spcPts val="0"/>
              </a:spcAft>
              <a:buClr>
                <a:srgbClr val="000099"/>
              </a:buClr>
              <a:buSzPts val="2800"/>
              <a:buFont typeface="Noto Sans Symbols"/>
              <a:buChar char="▪"/>
            </a:pPr>
            <a:r>
              <a:rPr lang="en-US" sz="2800">
                <a:solidFill>
                  <a:schemeClr val="dk1"/>
                </a:solidFill>
                <a:latin typeface="Arial"/>
                <a:ea typeface="Arial"/>
                <a:cs typeface="Arial"/>
                <a:sym typeface="Arial"/>
              </a:rPr>
              <a:t>Flow control is thus </a:t>
            </a:r>
            <a:r>
              <a:rPr i="1" lang="en-US" sz="2800">
                <a:solidFill>
                  <a:srgbClr val="0070C0"/>
                </a:solidFill>
                <a:latin typeface="Arial"/>
                <a:ea typeface="Arial"/>
                <a:cs typeface="Arial"/>
                <a:sym typeface="Arial"/>
              </a:rPr>
              <a:t>a speed-matching service</a:t>
            </a:r>
            <a:endParaRPr/>
          </a:p>
          <a:p>
            <a:pPr indent="-230187" lvl="1" marL="687388" marR="0" rtl="0" algn="l">
              <a:lnSpc>
                <a:spcPct val="100000"/>
              </a:lnSpc>
              <a:spcBef>
                <a:spcPts val="520"/>
              </a:spcBef>
              <a:spcAft>
                <a:spcPts val="0"/>
              </a:spcAft>
              <a:buClr>
                <a:srgbClr val="000099"/>
              </a:buClr>
              <a:buSzPts val="2600"/>
              <a:buFont typeface="Arial"/>
              <a:buChar char="•"/>
            </a:pPr>
            <a:r>
              <a:rPr b="0" i="0" lang="en-US" sz="2600" u="none" cap="none" strike="noStrike">
                <a:solidFill>
                  <a:schemeClr val="dk1"/>
                </a:solidFill>
                <a:latin typeface="Arial"/>
                <a:ea typeface="Arial"/>
                <a:cs typeface="Arial"/>
                <a:sym typeface="Arial"/>
              </a:rPr>
              <a:t>matching the rate at which the sender is sending against the rate at which the receiving application is reading. </a:t>
            </a:r>
            <a:endParaRPr b="0" i="0" sz="2600" u="none" cap="none" strike="noStrike">
              <a:solidFill>
                <a:schemeClr val="dk1"/>
              </a:solidFill>
              <a:latin typeface="Arial"/>
              <a:ea typeface="Arial"/>
              <a:cs typeface="Arial"/>
              <a:sym typeface="Arial"/>
            </a:endParaRPr>
          </a:p>
        </p:txBody>
      </p:sp>
      <p:sp>
        <p:nvSpPr>
          <p:cNvPr id="5890" name="Google Shape;5890;p121"/>
          <p:cNvSpPr txBox="1"/>
          <p:nvPr>
            <p:ph type="title"/>
          </p:nvPr>
        </p:nvSpPr>
        <p:spPr>
          <a:xfrm>
            <a:off x="1865313" y="171451"/>
            <a:ext cx="7772400" cy="9747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TCP flow control</a:t>
            </a:r>
            <a:endParaRPr/>
          </a:p>
        </p:txBody>
      </p:sp>
      <p:sp>
        <p:nvSpPr>
          <p:cNvPr id="5891" name="Google Shape;5891;p12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8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8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89">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6" name="Shape 5896"/>
        <p:cNvGrpSpPr/>
        <p:nvPr/>
      </p:nvGrpSpPr>
      <p:grpSpPr>
        <a:xfrm>
          <a:off x="0" y="0"/>
          <a:ext cx="0" cy="0"/>
          <a:chOff x="0" y="0"/>
          <a:chExt cx="0" cy="0"/>
        </a:xfrm>
      </p:grpSpPr>
      <p:sp>
        <p:nvSpPr>
          <p:cNvPr id="5897" name="Google Shape;5897;p122"/>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5898" name="Google Shape;5898;p122"/>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99" name="Google Shape;5899;p122"/>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00" name="Google Shape;5900;p122"/>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01" name="Google Shape;5901;p122"/>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5902" name="Google Shape;5902;p122"/>
          <p:cNvGrpSpPr/>
          <p:nvPr/>
        </p:nvGrpSpPr>
        <p:grpSpPr>
          <a:xfrm>
            <a:off x="8070672" y="2312058"/>
            <a:ext cx="1795463" cy="688975"/>
            <a:chOff x="1173" y="2345"/>
            <a:chExt cx="1131" cy="434"/>
          </a:xfrm>
        </p:grpSpPr>
        <p:sp>
          <p:nvSpPr>
            <p:cNvPr id="5903" name="Google Shape;5903;p122"/>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04" name="Google Shape;5904;p122"/>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5905" name="Google Shape;5905;p122"/>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906" name="Google Shape;5906;p122"/>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5907" name="Google Shape;5907;p122"/>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908" name="Google Shape;5908;p122"/>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5909" name="Google Shape;5909;p122"/>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5910" name="Google Shape;5910;p122"/>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5911" name="Google Shape;5911;p122"/>
          <p:cNvGrpSpPr/>
          <p:nvPr/>
        </p:nvGrpSpPr>
        <p:grpSpPr>
          <a:xfrm>
            <a:off x="8745360" y="2104096"/>
            <a:ext cx="533400" cy="206375"/>
            <a:chOff x="2003" y="1816"/>
            <a:chExt cx="336" cy="130"/>
          </a:xfrm>
        </p:grpSpPr>
        <p:sp>
          <p:nvSpPr>
            <p:cNvPr id="5912" name="Google Shape;5912;p122"/>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13" name="Google Shape;5913;p122"/>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14" name="Google Shape;5914;p122"/>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15" name="Google Shape;5915;p122"/>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916" name="Google Shape;5916;p122"/>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5917" name="Google Shape;5917;p122"/>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5918" name="Google Shape;5918;p122"/>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5919" name="Google Shape;5919;p122"/>
          <p:cNvGrpSpPr/>
          <p:nvPr/>
        </p:nvGrpSpPr>
        <p:grpSpPr>
          <a:xfrm flipH="1">
            <a:off x="10523360" y="4590121"/>
            <a:ext cx="869950" cy="906462"/>
            <a:chOff x="-44" y="1473"/>
            <a:chExt cx="981" cy="1105"/>
          </a:xfrm>
        </p:grpSpPr>
        <p:pic>
          <p:nvPicPr>
            <p:cNvPr descr="desktop_computer_stylized_medium" id="5920" name="Google Shape;5920;p12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921" name="Google Shape;5921;p12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922" name="Google Shape;5922;p122"/>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cxnSp>
        <p:nvCxnSpPr>
          <p:cNvPr id="5923" name="Google Shape;5923;p122"/>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grpSp>
        <p:nvGrpSpPr>
          <p:cNvPr id="5924" name="Google Shape;5924;p122"/>
          <p:cNvGrpSpPr/>
          <p:nvPr/>
        </p:nvGrpSpPr>
        <p:grpSpPr>
          <a:xfrm>
            <a:off x="5189688" y="2806352"/>
            <a:ext cx="4533734" cy="2971623"/>
            <a:chOff x="5189688" y="2806352"/>
            <a:chExt cx="4533734" cy="2971623"/>
          </a:xfrm>
        </p:grpSpPr>
        <p:grpSp>
          <p:nvGrpSpPr>
            <p:cNvPr id="5925" name="Google Shape;5925;p122"/>
            <p:cNvGrpSpPr/>
            <p:nvPr/>
          </p:nvGrpSpPr>
          <p:grpSpPr>
            <a:xfrm>
              <a:off x="5189688" y="3080408"/>
              <a:ext cx="3750934" cy="2697567"/>
              <a:chOff x="4633274" y="3577949"/>
              <a:chExt cx="3750934" cy="2697567"/>
            </a:xfrm>
          </p:grpSpPr>
          <p:sp>
            <p:nvSpPr>
              <p:cNvPr id="5926" name="Google Shape;5926;p122"/>
              <p:cNvSpPr/>
              <p:nvPr/>
            </p:nvSpPr>
            <p:spPr>
              <a:xfrm>
                <a:off x="7655546" y="46193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927" name="Google Shape;5927;p122"/>
              <p:cNvGrpSpPr/>
              <p:nvPr/>
            </p:nvGrpSpPr>
            <p:grpSpPr>
              <a:xfrm>
                <a:off x="7344839" y="5551212"/>
                <a:ext cx="1039369" cy="214398"/>
                <a:chOff x="7344839" y="5551212"/>
                <a:chExt cx="1039369" cy="214398"/>
              </a:xfrm>
            </p:grpSpPr>
            <p:sp>
              <p:nvSpPr>
                <p:cNvPr id="5928" name="Google Shape;5928;p122"/>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29" name="Google Shape;5929;p122"/>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930" name="Google Shape;5930;p122"/>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5931" name="Google Shape;5931;p122"/>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5932" name="Google Shape;5932;p122"/>
              <p:cNvSpPr/>
              <p:nvPr/>
            </p:nvSpPr>
            <p:spPr>
              <a:xfrm>
                <a:off x="7647608" y="35779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33" name="Google Shape;5933;p122"/>
              <p:cNvSpPr txBox="1"/>
              <p:nvPr/>
            </p:nvSpPr>
            <p:spPr>
              <a:xfrm>
                <a:off x="4633274" y="4192806"/>
                <a:ext cx="2332549" cy="1089529"/>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Network layer delivering IP datagram payload into TCP socket buffers</a:t>
                </a:r>
                <a:endParaRPr/>
              </a:p>
            </p:txBody>
          </p:sp>
          <p:cxnSp>
            <p:nvCxnSpPr>
              <p:cNvPr id="5934" name="Google Shape;5934;p122"/>
              <p:cNvCxnSpPr/>
              <p:nvPr/>
            </p:nvCxnSpPr>
            <p:spPr>
              <a:xfrm>
                <a:off x="6906339" y="4724124"/>
                <a:ext cx="522908" cy="0"/>
              </a:xfrm>
              <a:prstGeom prst="straightConnector1">
                <a:avLst/>
              </a:prstGeom>
              <a:noFill/>
              <a:ln cap="flat" cmpd="sng" w="19050">
                <a:solidFill>
                  <a:srgbClr val="CC0000"/>
                </a:solidFill>
                <a:prstDash val="solid"/>
                <a:round/>
                <a:headEnd len="med" w="med" type="none"/>
                <a:tailEnd len="med" w="med" type="none"/>
              </a:ln>
            </p:spPr>
          </p:cxnSp>
          <p:sp>
            <p:nvSpPr>
              <p:cNvPr id="5935" name="Google Shape;5935;p122"/>
              <p:cNvSpPr txBox="1"/>
              <p:nvPr/>
            </p:nvSpPr>
            <p:spPr>
              <a:xfrm>
                <a:off x="7074521" y="5970716"/>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grpSp>
        <p:sp>
          <p:nvSpPr>
            <p:cNvPr id="5936" name="Google Shape;5936;p122"/>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937" name="Google Shape;5937;p122"/>
          <p:cNvGrpSpPr/>
          <p:nvPr/>
        </p:nvGrpSpPr>
        <p:grpSpPr>
          <a:xfrm>
            <a:off x="4989152" y="1607125"/>
            <a:ext cx="4984933" cy="885919"/>
            <a:chOff x="4989152" y="1607125"/>
            <a:chExt cx="4984933" cy="885919"/>
          </a:xfrm>
        </p:grpSpPr>
        <p:grpSp>
          <p:nvGrpSpPr>
            <p:cNvPr id="5938" name="Google Shape;5938;p122"/>
            <p:cNvGrpSpPr/>
            <p:nvPr/>
          </p:nvGrpSpPr>
          <p:grpSpPr>
            <a:xfrm>
              <a:off x="4989152" y="1652814"/>
              <a:ext cx="4984933" cy="840230"/>
              <a:chOff x="4432738" y="2150355"/>
              <a:chExt cx="4984933" cy="840230"/>
            </a:xfrm>
          </p:grpSpPr>
          <p:cxnSp>
            <p:nvCxnSpPr>
              <p:cNvPr id="5939" name="Google Shape;5939;p122"/>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5940" name="Google Shape;5940;p122"/>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5941" name="Google Shape;5941;p122"/>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942" name="Google Shape;5942;p122"/>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943" name="Google Shape;5943;p12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4"/>
                                        </p:tgtEl>
                                        <p:attrNameLst>
                                          <p:attrName>style.visibility</p:attrName>
                                        </p:attrNameLst>
                                      </p:cBhvr>
                                      <p:to>
                                        <p:strVal val="visible"/>
                                      </p:to>
                                    </p:set>
                                    <p:animEffect filter="fade" transition="in">
                                      <p:cBhvr>
                                        <p:cTn dur="500"/>
                                        <p:tgtEl>
                                          <p:spTgt spid="59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37"/>
                                        </p:tgtEl>
                                        <p:attrNameLst>
                                          <p:attrName>style.visibility</p:attrName>
                                        </p:attrNameLst>
                                      </p:cBhvr>
                                      <p:to>
                                        <p:strVal val="visible"/>
                                      </p:to>
                                    </p:set>
                                    <p:animEffect filter="fade" transition="in">
                                      <p:cBhvr>
                                        <p:cTn dur="500"/>
                                        <p:tgtEl>
                                          <p:spTgt spid="59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gtEl>
                                        <p:attrNameLst>
                                          <p:attrName>style.visibility</p:attrName>
                                        </p:attrNameLst>
                                      </p:cBhvr>
                                      <p:to>
                                        <p:strVal val="visible"/>
                                      </p:to>
                                    </p:set>
                                    <p:animEffect filter="fade" transition="in">
                                      <p:cBhvr>
                                        <p:cTn dur="500"/>
                                        <p:tgtEl>
                                          <p:spTgt spid="59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8" name="Shape 5948"/>
        <p:cNvGrpSpPr/>
        <p:nvPr/>
      </p:nvGrpSpPr>
      <p:grpSpPr>
        <a:xfrm>
          <a:off x="0" y="0"/>
          <a:ext cx="0" cy="0"/>
          <a:chOff x="0" y="0"/>
          <a:chExt cx="0" cy="0"/>
        </a:xfrm>
      </p:grpSpPr>
      <p:sp>
        <p:nvSpPr>
          <p:cNvPr id="5949" name="Google Shape;5949;p123"/>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5950" name="Google Shape;5950;p123"/>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1" name="Google Shape;5951;p123"/>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2" name="Google Shape;5952;p123"/>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3" name="Google Shape;5953;p123"/>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5954" name="Google Shape;5954;p123"/>
          <p:cNvGrpSpPr/>
          <p:nvPr/>
        </p:nvGrpSpPr>
        <p:grpSpPr>
          <a:xfrm>
            <a:off x="8070672" y="2312058"/>
            <a:ext cx="1795463" cy="688975"/>
            <a:chOff x="1173" y="2345"/>
            <a:chExt cx="1131" cy="434"/>
          </a:xfrm>
        </p:grpSpPr>
        <p:sp>
          <p:nvSpPr>
            <p:cNvPr id="5955" name="Google Shape;5955;p123"/>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56" name="Google Shape;5956;p123"/>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5957" name="Google Shape;5957;p123"/>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958" name="Google Shape;5958;p123"/>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5959" name="Google Shape;5959;p123"/>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5960" name="Google Shape;5960;p123"/>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5961" name="Google Shape;5961;p123"/>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5962" name="Google Shape;5962;p123"/>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5963" name="Google Shape;5963;p123"/>
          <p:cNvGrpSpPr/>
          <p:nvPr/>
        </p:nvGrpSpPr>
        <p:grpSpPr>
          <a:xfrm>
            <a:off x="8745360" y="2104096"/>
            <a:ext cx="533400" cy="206375"/>
            <a:chOff x="2003" y="1816"/>
            <a:chExt cx="336" cy="130"/>
          </a:xfrm>
        </p:grpSpPr>
        <p:sp>
          <p:nvSpPr>
            <p:cNvPr id="5964" name="Google Shape;5964;p123"/>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65" name="Google Shape;5965;p123"/>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66" name="Google Shape;5966;p123"/>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67" name="Google Shape;5967;p123"/>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968" name="Google Shape;5968;p123"/>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5969" name="Google Shape;5969;p123"/>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5970" name="Google Shape;5970;p123"/>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5971" name="Google Shape;5971;p123"/>
          <p:cNvGrpSpPr/>
          <p:nvPr/>
        </p:nvGrpSpPr>
        <p:grpSpPr>
          <a:xfrm flipH="1">
            <a:off x="10523360" y="4590121"/>
            <a:ext cx="869950" cy="906462"/>
            <a:chOff x="-44" y="1473"/>
            <a:chExt cx="981" cy="1105"/>
          </a:xfrm>
        </p:grpSpPr>
        <p:pic>
          <p:nvPicPr>
            <p:cNvPr descr="desktop_computer_stylized_medium" id="5972" name="Google Shape;5972;p12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973" name="Google Shape;5973;p12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974" name="Google Shape;5974;p123"/>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cxnSp>
        <p:nvCxnSpPr>
          <p:cNvPr id="5975" name="Google Shape;5975;p123"/>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grpSp>
        <p:nvGrpSpPr>
          <p:cNvPr id="5976" name="Google Shape;5976;p123"/>
          <p:cNvGrpSpPr/>
          <p:nvPr/>
        </p:nvGrpSpPr>
        <p:grpSpPr>
          <a:xfrm>
            <a:off x="5189688" y="2806352"/>
            <a:ext cx="4533734" cy="2971623"/>
            <a:chOff x="5189688" y="2806352"/>
            <a:chExt cx="4533734" cy="2971623"/>
          </a:xfrm>
        </p:grpSpPr>
        <p:grpSp>
          <p:nvGrpSpPr>
            <p:cNvPr id="5977" name="Google Shape;5977;p123"/>
            <p:cNvGrpSpPr/>
            <p:nvPr/>
          </p:nvGrpSpPr>
          <p:grpSpPr>
            <a:xfrm>
              <a:off x="5189688" y="3080408"/>
              <a:ext cx="3750934" cy="2697567"/>
              <a:chOff x="4633274" y="3577949"/>
              <a:chExt cx="3750934" cy="2697567"/>
            </a:xfrm>
          </p:grpSpPr>
          <p:sp>
            <p:nvSpPr>
              <p:cNvPr id="5978" name="Google Shape;5978;p123"/>
              <p:cNvSpPr/>
              <p:nvPr/>
            </p:nvSpPr>
            <p:spPr>
              <a:xfrm>
                <a:off x="7655546" y="46193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5979" name="Google Shape;5979;p123"/>
              <p:cNvGrpSpPr/>
              <p:nvPr/>
            </p:nvGrpSpPr>
            <p:grpSpPr>
              <a:xfrm>
                <a:off x="7344839" y="5551212"/>
                <a:ext cx="1039369" cy="214398"/>
                <a:chOff x="7344839" y="5551212"/>
                <a:chExt cx="1039369" cy="214398"/>
              </a:xfrm>
            </p:grpSpPr>
            <p:sp>
              <p:nvSpPr>
                <p:cNvPr id="5980" name="Google Shape;5980;p123"/>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81" name="Google Shape;5981;p123"/>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982" name="Google Shape;5982;p123"/>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5983" name="Google Shape;5983;p123"/>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5984" name="Google Shape;5984;p123"/>
              <p:cNvSpPr/>
              <p:nvPr/>
            </p:nvSpPr>
            <p:spPr>
              <a:xfrm>
                <a:off x="7647608" y="35779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985" name="Google Shape;5985;p123"/>
              <p:cNvSpPr txBox="1"/>
              <p:nvPr/>
            </p:nvSpPr>
            <p:spPr>
              <a:xfrm>
                <a:off x="4633274" y="4192806"/>
                <a:ext cx="2332549" cy="1089529"/>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Network layer delivering IP datagram payload into TCP socket buffers</a:t>
                </a:r>
                <a:endParaRPr/>
              </a:p>
            </p:txBody>
          </p:sp>
          <p:cxnSp>
            <p:nvCxnSpPr>
              <p:cNvPr id="5986" name="Google Shape;5986;p123"/>
              <p:cNvCxnSpPr/>
              <p:nvPr/>
            </p:nvCxnSpPr>
            <p:spPr>
              <a:xfrm>
                <a:off x="6906339" y="4724124"/>
                <a:ext cx="522908" cy="0"/>
              </a:xfrm>
              <a:prstGeom prst="straightConnector1">
                <a:avLst/>
              </a:prstGeom>
              <a:noFill/>
              <a:ln cap="flat" cmpd="sng" w="19050">
                <a:solidFill>
                  <a:srgbClr val="CC0000"/>
                </a:solidFill>
                <a:prstDash val="solid"/>
                <a:round/>
                <a:headEnd len="med" w="med" type="none"/>
                <a:tailEnd len="med" w="med" type="none"/>
              </a:ln>
            </p:spPr>
          </p:cxnSp>
          <p:sp>
            <p:nvSpPr>
              <p:cNvPr id="5987" name="Google Shape;5987;p123"/>
              <p:cNvSpPr txBox="1"/>
              <p:nvPr/>
            </p:nvSpPr>
            <p:spPr>
              <a:xfrm>
                <a:off x="7074521" y="5970716"/>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grpSp>
        <p:sp>
          <p:nvSpPr>
            <p:cNvPr id="5988" name="Google Shape;5988;p123"/>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989" name="Google Shape;5989;p123"/>
          <p:cNvGrpSpPr/>
          <p:nvPr/>
        </p:nvGrpSpPr>
        <p:grpSpPr>
          <a:xfrm>
            <a:off x="4989152" y="1607125"/>
            <a:ext cx="4984933" cy="885919"/>
            <a:chOff x="4989152" y="1607125"/>
            <a:chExt cx="4984933" cy="885919"/>
          </a:xfrm>
        </p:grpSpPr>
        <p:grpSp>
          <p:nvGrpSpPr>
            <p:cNvPr id="5990" name="Google Shape;5990;p123"/>
            <p:cNvGrpSpPr/>
            <p:nvPr/>
          </p:nvGrpSpPr>
          <p:grpSpPr>
            <a:xfrm>
              <a:off x="4989152" y="1652814"/>
              <a:ext cx="4984933" cy="840230"/>
              <a:chOff x="4432738" y="2150355"/>
              <a:chExt cx="4984933" cy="840230"/>
            </a:xfrm>
          </p:grpSpPr>
          <p:cxnSp>
            <p:nvCxnSpPr>
              <p:cNvPr id="5991" name="Google Shape;5991;p123"/>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5992" name="Google Shape;5992;p123"/>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5993" name="Google Shape;5993;p123"/>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5994" name="Google Shape;5994;p123"/>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rinking from the Firehose: How VividCortex Compresses its Metrics" id="5995" name="Google Shape;5995;p123"/>
          <p:cNvPicPr preferRelativeResize="0"/>
          <p:nvPr/>
        </p:nvPicPr>
        <p:blipFill rotWithShape="1">
          <a:blip r:embed="rId4">
            <a:alphaModFix/>
          </a:blip>
          <a:srcRect b="0" l="0" r="0" t="0"/>
          <a:stretch/>
        </p:blipFill>
        <p:spPr>
          <a:xfrm>
            <a:off x="1957754" y="4484079"/>
            <a:ext cx="3018692" cy="1811215"/>
          </a:xfrm>
          <a:prstGeom prst="rect">
            <a:avLst/>
          </a:prstGeom>
          <a:noFill/>
          <a:ln>
            <a:noFill/>
          </a:ln>
        </p:spPr>
      </p:pic>
      <p:pic>
        <p:nvPicPr>
          <p:cNvPr descr="Drinking From the Information Firehose" id="5996" name="Google Shape;5996;p123"/>
          <p:cNvPicPr preferRelativeResize="0"/>
          <p:nvPr/>
        </p:nvPicPr>
        <p:blipFill rotWithShape="1">
          <a:blip r:embed="rId5">
            <a:alphaModFix/>
          </a:blip>
          <a:srcRect b="0" l="0" r="0" t="0"/>
          <a:stretch/>
        </p:blipFill>
        <p:spPr>
          <a:xfrm>
            <a:off x="583223" y="3300222"/>
            <a:ext cx="2699594" cy="1781732"/>
          </a:xfrm>
          <a:prstGeom prst="rect">
            <a:avLst/>
          </a:prstGeom>
          <a:noFill/>
          <a:ln>
            <a:noFill/>
          </a:ln>
        </p:spPr>
      </p:pic>
      <p:sp>
        <p:nvSpPr>
          <p:cNvPr id="5997" name="Google Shape;5997;p12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
        <p:nvSpPr>
          <p:cNvPr id="5998" name="Google Shape;5998;p123"/>
          <p:cNvSpPr txBox="1"/>
          <p:nvPr/>
        </p:nvSpPr>
        <p:spPr>
          <a:xfrm>
            <a:off x="5379066" y="2749985"/>
            <a:ext cx="2081213" cy="8255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 slower than TCP </a:t>
            </a:r>
            <a:endParaRPr/>
          </a:p>
          <a:p>
            <a:pPr indent="0" lvl="0" marL="0" marR="0" rtl="0" algn="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receiver is delivering</a:t>
            </a:r>
            <a:endParaRPr/>
          </a:p>
          <a:p>
            <a:pPr indent="0" lvl="0" marL="0" marR="0" rtl="0" algn="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(sender is sending)</a:t>
            </a:r>
            <a:endParaRPr/>
          </a:p>
        </p:txBody>
      </p:sp>
      <p:cxnSp>
        <p:nvCxnSpPr>
          <p:cNvPr id="5999" name="Google Shape;5999;p123"/>
          <p:cNvCxnSpPr/>
          <p:nvPr/>
        </p:nvCxnSpPr>
        <p:spPr>
          <a:xfrm>
            <a:off x="7425353" y="3159560"/>
            <a:ext cx="772319" cy="0"/>
          </a:xfrm>
          <a:prstGeom prst="straightConnector1">
            <a:avLst/>
          </a:prstGeom>
          <a:noFill/>
          <a:ln cap="flat" cmpd="sng" w="19050">
            <a:solidFill>
              <a:srgbClr val="CC0000"/>
            </a:solidFill>
            <a:prstDash val="solid"/>
            <a:round/>
            <a:headEnd len="med" w="med" type="none"/>
            <a:tailEnd len="med" w="med" type="none"/>
          </a:ln>
        </p:spPr>
      </p:cxnSp>
    </p:spTree>
  </p:cSld>
  <p:clrMapOvr>
    <a:masterClrMapping/>
  </p:clrMapOvr>
  <p:transition spd="med">
    <p:fade/>
  </p:transition>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4" name="Shape 6004"/>
        <p:cNvGrpSpPr/>
        <p:nvPr/>
      </p:nvGrpSpPr>
      <p:grpSpPr>
        <a:xfrm>
          <a:off x="0" y="0"/>
          <a:ext cx="0" cy="0"/>
          <a:chOff x="0" y="0"/>
          <a:chExt cx="0" cy="0"/>
        </a:xfrm>
      </p:grpSpPr>
      <p:sp>
        <p:nvSpPr>
          <p:cNvPr id="6005" name="Google Shape;6005;p124"/>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6006" name="Google Shape;6006;p124"/>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07" name="Google Shape;6007;p124"/>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08" name="Google Shape;6008;p124"/>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09" name="Google Shape;6009;p124"/>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6010" name="Google Shape;6010;p124"/>
          <p:cNvGrpSpPr/>
          <p:nvPr/>
        </p:nvGrpSpPr>
        <p:grpSpPr>
          <a:xfrm>
            <a:off x="8070672" y="2312058"/>
            <a:ext cx="1795463" cy="688975"/>
            <a:chOff x="1173" y="2345"/>
            <a:chExt cx="1131" cy="434"/>
          </a:xfrm>
        </p:grpSpPr>
        <p:sp>
          <p:nvSpPr>
            <p:cNvPr id="6011" name="Google Shape;6011;p124"/>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12" name="Google Shape;6012;p124"/>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6013" name="Google Shape;6013;p124"/>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6014" name="Google Shape;6014;p124"/>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6015" name="Google Shape;6015;p124"/>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6016" name="Google Shape;6016;p124"/>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6017" name="Google Shape;6017;p124"/>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6018" name="Google Shape;6018;p124"/>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6019" name="Google Shape;6019;p124"/>
          <p:cNvGrpSpPr/>
          <p:nvPr/>
        </p:nvGrpSpPr>
        <p:grpSpPr>
          <a:xfrm>
            <a:off x="8745360" y="2104096"/>
            <a:ext cx="533400" cy="206375"/>
            <a:chOff x="2003" y="1816"/>
            <a:chExt cx="336" cy="130"/>
          </a:xfrm>
        </p:grpSpPr>
        <p:sp>
          <p:nvSpPr>
            <p:cNvPr id="6020" name="Google Shape;6020;p124"/>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21" name="Google Shape;6021;p124"/>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22" name="Google Shape;6022;p124"/>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23" name="Google Shape;6023;p124"/>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024" name="Google Shape;6024;p124"/>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6025" name="Google Shape;6025;p124"/>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6026" name="Google Shape;6026;p124"/>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6027" name="Google Shape;6027;p124"/>
          <p:cNvGrpSpPr/>
          <p:nvPr/>
        </p:nvGrpSpPr>
        <p:grpSpPr>
          <a:xfrm flipH="1">
            <a:off x="10523360" y="4590121"/>
            <a:ext cx="869950" cy="906462"/>
            <a:chOff x="-44" y="1473"/>
            <a:chExt cx="981" cy="1105"/>
          </a:xfrm>
        </p:grpSpPr>
        <p:pic>
          <p:nvPicPr>
            <p:cNvPr descr="desktop_computer_stylized_medium" id="6028" name="Google Shape;6028;p12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029" name="Google Shape;6029;p12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030" name="Google Shape;6030;p124"/>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cxnSp>
        <p:nvCxnSpPr>
          <p:cNvPr id="6031" name="Google Shape;6031;p124"/>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sp>
        <p:nvSpPr>
          <p:cNvPr id="6032" name="Google Shape;6032;p124"/>
          <p:cNvSpPr/>
          <p:nvPr/>
        </p:nvSpPr>
        <p:spPr>
          <a:xfrm>
            <a:off x="8211960" y="4121808"/>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033" name="Google Shape;6033;p124"/>
          <p:cNvGrpSpPr/>
          <p:nvPr/>
        </p:nvGrpSpPr>
        <p:grpSpPr>
          <a:xfrm>
            <a:off x="7901253" y="5053671"/>
            <a:ext cx="1039369" cy="214398"/>
            <a:chOff x="7344839" y="5551212"/>
            <a:chExt cx="1039369" cy="214398"/>
          </a:xfrm>
        </p:grpSpPr>
        <p:sp>
          <p:nvSpPr>
            <p:cNvPr id="6034" name="Google Shape;6034;p124"/>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5" name="Google Shape;6035;p124"/>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036" name="Google Shape;6036;p124"/>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6037" name="Google Shape;6037;p124"/>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6038" name="Google Shape;6038;p124"/>
          <p:cNvSpPr/>
          <p:nvPr/>
        </p:nvSpPr>
        <p:spPr>
          <a:xfrm>
            <a:off x="8204022" y="3080408"/>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39" name="Google Shape;6039;p124"/>
          <p:cNvSpPr txBox="1"/>
          <p:nvPr/>
        </p:nvSpPr>
        <p:spPr>
          <a:xfrm>
            <a:off x="7630935" y="5473175"/>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sp>
        <p:nvSpPr>
          <p:cNvPr id="6040" name="Google Shape;6040;p124"/>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041" name="Google Shape;6041;p124"/>
          <p:cNvGrpSpPr/>
          <p:nvPr/>
        </p:nvGrpSpPr>
        <p:grpSpPr>
          <a:xfrm>
            <a:off x="4989152" y="1607125"/>
            <a:ext cx="4984933" cy="885919"/>
            <a:chOff x="4989152" y="1607125"/>
            <a:chExt cx="4984933" cy="885919"/>
          </a:xfrm>
        </p:grpSpPr>
        <p:grpSp>
          <p:nvGrpSpPr>
            <p:cNvPr id="6042" name="Google Shape;6042;p124"/>
            <p:cNvGrpSpPr/>
            <p:nvPr/>
          </p:nvGrpSpPr>
          <p:grpSpPr>
            <a:xfrm>
              <a:off x="4989152" y="1652814"/>
              <a:ext cx="4984933" cy="840230"/>
              <a:chOff x="4432738" y="2150355"/>
              <a:chExt cx="4984933" cy="840230"/>
            </a:xfrm>
          </p:grpSpPr>
          <p:cxnSp>
            <p:nvCxnSpPr>
              <p:cNvPr id="6043" name="Google Shape;6043;p124"/>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6044" name="Google Shape;6044;p124"/>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6045" name="Google Shape;6045;p124"/>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046" name="Google Shape;6046;p124"/>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047" name="Google Shape;6047;p124"/>
          <p:cNvGrpSpPr/>
          <p:nvPr/>
        </p:nvGrpSpPr>
        <p:grpSpPr>
          <a:xfrm>
            <a:off x="1111171" y="3426107"/>
            <a:ext cx="5034986" cy="2800562"/>
            <a:chOff x="4343173" y="1560062"/>
            <a:chExt cx="9034622" cy="4921250"/>
          </a:xfrm>
        </p:grpSpPr>
        <p:sp>
          <p:nvSpPr>
            <p:cNvPr id="6048" name="Google Shape;6048;p124"/>
            <p:cNvSpPr/>
            <p:nvPr/>
          </p:nvSpPr>
          <p:spPr>
            <a:xfrm>
              <a:off x="4432073" y="1560062"/>
              <a:ext cx="3951287" cy="4824412"/>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50"/>
                <a:buFont typeface="Calibri"/>
                <a:buNone/>
              </a:pPr>
              <a:r>
                <a:t/>
              </a:r>
              <a:endParaRPr b="0" i="0" sz="1050" u="none" cap="none" strike="noStrike">
                <a:solidFill>
                  <a:srgbClr val="000000"/>
                </a:solidFill>
                <a:latin typeface="Tahoma"/>
                <a:ea typeface="Tahoma"/>
                <a:cs typeface="Tahoma"/>
                <a:sym typeface="Tahoma"/>
              </a:endParaRPr>
            </a:p>
          </p:txBody>
        </p:sp>
        <p:sp>
          <p:nvSpPr>
            <p:cNvPr id="6049" name="Google Shape;6049;p124"/>
            <p:cNvSpPr/>
            <p:nvPr/>
          </p:nvSpPr>
          <p:spPr>
            <a:xfrm>
              <a:off x="4346348" y="1675949"/>
              <a:ext cx="3951287" cy="4805363"/>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cxnSp>
          <p:nvCxnSpPr>
            <p:cNvPr id="6050" name="Google Shape;6050;p124"/>
            <p:cNvCxnSpPr/>
            <p:nvPr/>
          </p:nvCxnSpPr>
          <p:spPr>
            <a:xfrm>
              <a:off x="4349523" y="2050599"/>
              <a:ext cx="3946525" cy="4763"/>
            </a:xfrm>
            <a:prstGeom prst="straightConnector1">
              <a:avLst/>
            </a:prstGeom>
            <a:noFill/>
            <a:ln cap="flat" cmpd="sng" w="19050">
              <a:solidFill>
                <a:srgbClr val="000000"/>
              </a:solidFill>
              <a:prstDash val="solid"/>
              <a:round/>
              <a:headEnd len="med" w="med" type="none"/>
              <a:tailEnd len="med" w="med" type="none"/>
            </a:ln>
          </p:spPr>
        </p:cxnSp>
        <p:cxnSp>
          <p:nvCxnSpPr>
            <p:cNvPr id="6051" name="Google Shape;6051;p124"/>
            <p:cNvCxnSpPr/>
            <p:nvPr/>
          </p:nvCxnSpPr>
          <p:spPr>
            <a:xfrm>
              <a:off x="4343173" y="2430012"/>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6052" name="Google Shape;6052;p124"/>
            <p:cNvCxnSpPr/>
            <p:nvPr/>
          </p:nvCxnSpPr>
          <p:spPr>
            <a:xfrm>
              <a:off x="4352698" y="2811012"/>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6053" name="Google Shape;6053;p124"/>
            <p:cNvCxnSpPr/>
            <p:nvPr/>
          </p:nvCxnSpPr>
          <p:spPr>
            <a:xfrm>
              <a:off x="4347935" y="3206299"/>
              <a:ext cx="3951288" cy="0"/>
            </a:xfrm>
            <a:prstGeom prst="straightConnector1">
              <a:avLst/>
            </a:prstGeom>
            <a:noFill/>
            <a:ln cap="flat" cmpd="sng" w="19050">
              <a:solidFill>
                <a:srgbClr val="000000"/>
              </a:solidFill>
              <a:prstDash val="solid"/>
              <a:round/>
              <a:headEnd len="med" w="med" type="none"/>
              <a:tailEnd len="med" w="med" type="none"/>
            </a:ln>
          </p:spPr>
        </p:cxnSp>
        <p:cxnSp>
          <p:nvCxnSpPr>
            <p:cNvPr id="6054" name="Google Shape;6054;p124"/>
            <p:cNvCxnSpPr/>
            <p:nvPr/>
          </p:nvCxnSpPr>
          <p:spPr>
            <a:xfrm>
              <a:off x="4343173" y="3596824"/>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6055" name="Google Shape;6055;p124"/>
            <p:cNvCxnSpPr/>
            <p:nvPr/>
          </p:nvCxnSpPr>
          <p:spPr>
            <a:xfrm>
              <a:off x="4343173" y="4158799"/>
              <a:ext cx="3951287" cy="0"/>
            </a:xfrm>
            <a:prstGeom prst="straightConnector1">
              <a:avLst/>
            </a:prstGeom>
            <a:noFill/>
            <a:ln cap="flat" cmpd="sng" w="19050">
              <a:solidFill>
                <a:srgbClr val="000000"/>
              </a:solidFill>
              <a:prstDash val="solid"/>
              <a:round/>
              <a:headEnd len="med" w="med" type="none"/>
              <a:tailEnd len="med" w="med" type="none"/>
            </a:ln>
          </p:spPr>
        </p:cxnSp>
        <p:cxnSp>
          <p:nvCxnSpPr>
            <p:cNvPr id="6056" name="Google Shape;6056;p124"/>
            <p:cNvCxnSpPr/>
            <p:nvPr/>
          </p:nvCxnSpPr>
          <p:spPr>
            <a:xfrm rot="10800000">
              <a:off x="6303735" y="2814187"/>
              <a:ext cx="4763" cy="777875"/>
            </a:xfrm>
            <a:prstGeom prst="straightConnector1">
              <a:avLst/>
            </a:prstGeom>
            <a:noFill/>
            <a:ln cap="flat" cmpd="sng" w="19050">
              <a:solidFill>
                <a:srgbClr val="000000"/>
              </a:solidFill>
              <a:prstDash val="solid"/>
              <a:round/>
              <a:headEnd len="med" w="med" type="none"/>
              <a:tailEnd len="med" w="med" type="none"/>
            </a:ln>
          </p:spPr>
        </p:cxnSp>
        <p:grpSp>
          <p:nvGrpSpPr>
            <p:cNvPr id="6057" name="Google Shape;6057;p124"/>
            <p:cNvGrpSpPr/>
            <p:nvPr/>
          </p:nvGrpSpPr>
          <p:grpSpPr>
            <a:xfrm>
              <a:off x="6113100" y="2788385"/>
              <a:ext cx="7264695" cy="1048460"/>
              <a:chOff x="6113100" y="2788385"/>
              <a:chExt cx="7264695" cy="1048460"/>
            </a:xfrm>
          </p:grpSpPr>
          <p:sp>
            <p:nvSpPr>
              <p:cNvPr id="6058" name="Google Shape;6058;p124"/>
              <p:cNvSpPr txBox="1"/>
              <p:nvPr/>
            </p:nvSpPr>
            <p:spPr>
              <a:xfrm>
                <a:off x="6113100" y="2788385"/>
                <a:ext cx="2293763" cy="52477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receive window</a:t>
                </a:r>
                <a:endParaRPr/>
              </a:p>
            </p:txBody>
          </p:sp>
          <p:sp>
            <p:nvSpPr>
              <p:cNvPr id="6059" name="Google Shape;6059;p124"/>
              <p:cNvSpPr txBox="1"/>
              <p:nvPr/>
            </p:nvSpPr>
            <p:spPr>
              <a:xfrm>
                <a:off x="8724899" y="2847114"/>
                <a:ext cx="4652896" cy="9897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flow control: </a:t>
                </a:r>
                <a:r>
                  <a:rPr b="0" i="0" lang="en-US" sz="1600" u="none" cap="none" strike="noStrike">
                    <a:solidFill>
                      <a:srgbClr val="000000"/>
                    </a:solidFill>
                    <a:latin typeface="Calibri"/>
                    <a:ea typeface="Calibri"/>
                    <a:cs typeface="Calibri"/>
                    <a:sym typeface="Calibri"/>
                  </a:rPr>
                  <a:t># bytes receiver willing to accept</a:t>
                </a:r>
                <a:endParaRPr b="0" i="0" sz="1800" u="none" cap="none" strike="noStrike">
                  <a:solidFill>
                    <a:srgbClr val="000000"/>
                  </a:solidFill>
                  <a:latin typeface="Calibri"/>
                  <a:ea typeface="Calibri"/>
                  <a:cs typeface="Calibri"/>
                  <a:sym typeface="Calibri"/>
                </a:endParaRPr>
              </a:p>
            </p:txBody>
          </p:sp>
          <p:cxnSp>
            <p:nvCxnSpPr>
              <p:cNvPr id="6060" name="Google Shape;6060;p124"/>
              <p:cNvCxnSpPr/>
              <p:nvPr/>
            </p:nvCxnSpPr>
            <p:spPr>
              <a:xfrm rot="10800000">
                <a:off x="8142852" y="3044701"/>
                <a:ext cx="582048" cy="0"/>
              </a:xfrm>
              <a:prstGeom prst="straightConnector1">
                <a:avLst/>
              </a:prstGeom>
              <a:noFill/>
              <a:ln cap="flat" cmpd="sng" w="19050">
                <a:solidFill>
                  <a:srgbClr val="C00000"/>
                </a:solidFill>
                <a:prstDash val="solid"/>
                <a:round/>
                <a:headEnd len="med" w="med" type="none"/>
                <a:tailEnd len="med" w="med" type="none"/>
              </a:ln>
            </p:spPr>
          </p:cxnSp>
        </p:grpSp>
        <p:cxnSp>
          <p:nvCxnSpPr>
            <p:cNvPr id="6061" name="Google Shape;6061;p124"/>
            <p:cNvCxnSpPr/>
            <p:nvPr/>
          </p:nvCxnSpPr>
          <p:spPr>
            <a:xfrm rot="10800000">
              <a:off x="6289447" y="1679374"/>
              <a:ext cx="1761" cy="365184"/>
            </a:xfrm>
            <a:prstGeom prst="straightConnector1">
              <a:avLst/>
            </a:prstGeom>
            <a:noFill/>
            <a:ln cap="flat" cmpd="sng" w="19050">
              <a:solidFill>
                <a:srgbClr val="000000"/>
              </a:solidFill>
              <a:prstDash val="solid"/>
              <a:round/>
              <a:headEnd len="med" w="med" type="none"/>
              <a:tailEnd len="med" w="med" type="none"/>
            </a:ln>
          </p:spPr>
        </p:cxnSp>
      </p:grpSp>
      <p:sp>
        <p:nvSpPr>
          <p:cNvPr id="6062" name="Google Shape;6062;p12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7" name="Shape 6067"/>
        <p:cNvGrpSpPr/>
        <p:nvPr/>
      </p:nvGrpSpPr>
      <p:grpSpPr>
        <a:xfrm>
          <a:off x="0" y="0"/>
          <a:ext cx="0" cy="0"/>
          <a:chOff x="0" y="0"/>
          <a:chExt cx="0" cy="0"/>
        </a:xfrm>
      </p:grpSpPr>
      <p:sp>
        <p:nvSpPr>
          <p:cNvPr id="6068" name="Google Shape;6068;p125"/>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6069" name="Google Shape;6069;p125"/>
          <p:cNvSpPr/>
          <p:nvPr/>
        </p:nvSpPr>
        <p:spPr>
          <a:xfrm>
            <a:off x="7848422" y="1084921"/>
            <a:ext cx="2524125" cy="3854450"/>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70" name="Google Shape;6070;p125"/>
          <p:cNvSpPr/>
          <p:nvPr/>
        </p:nvSpPr>
        <p:spPr>
          <a:xfrm>
            <a:off x="10289997" y="1078571"/>
            <a:ext cx="581025" cy="4206875"/>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71" name="Google Shape;6071;p125"/>
          <p:cNvSpPr/>
          <p:nvPr/>
        </p:nvSpPr>
        <p:spPr>
          <a:xfrm>
            <a:off x="7762697" y="1186521"/>
            <a:ext cx="2533650" cy="3814762"/>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72" name="Google Shape;6072;p125"/>
          <p:cNvSpPr/>
          <p:nvPr/>
        </p:nvSpPr>
        <p:spPr>
          <a:xfrm>
            <a:off x="8302447" y="1243671"/>
            <a:ext cx="137795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application</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grpSp>
        <p:nvGrpSpPr>
          <p:cNvPr id="6073" name="Google Shape;6073;p125"/>
          <p:cNvGrpSpPr/>
          <p:nvPr/>
        </p:nvGrpSpPr>
        <p:grpSpPr>
          <a:xfrm>
            <a:off x="8070672" y="2312058"/>
            <a:ext cx="1795463" cy="688975"/>
            <a:chOff x="1173" y="2345"/>
            <a:chExt cx="1131" cy="434"/>
          </a:xfrm>
        </p:grpSpPr>
        <p:sp>
          <p:nvSpPr>
            <p:cNvPr id="6074" name="Google Shape;6074;p125"/>
            <p:cNvSpPr/>
            <p:nvPr/>
          </p:nvSpPr>
          <p:spPr>
            <a:xfrm>
              <a:off x="1173" y="2345"/>
              <a:ext cx="1131" cy="434"/>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75" name="Google Shape;6075;p125"/>
            <p:cNvSpPr txBox="1"/>
            <p:nvPr/>
          </p:nvSpPr>
          <p:spPr>
            <a:xfrm>
              <a:off x="1235" y="2368"/>
              <a:ext cx="995"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TCP socket</a:t>
              </a:r>
              <a:endParaRPr/>
            </a:p>
            <a:p>
              <a:pPr indent="0" lvl="0" marL="0" marR="0" rtl="0" algn="ctr">
                <a:lnSpc>
                  <a:spcPct val="100000"/>
                </a:lnSpc>
                <a:spcBef>
                  <a:spcPts val="0"/>
                </a:spcBef>
                <a:spcAft>
                  <a:spcPts val="0"/>
                </a:spcAft>
                <a:buClr>
                  <a:srgbClr val="F2F2F2"/>
                </a:buClr>
                <a:buSzPts val="1600"/>
                <a:buFont typeface="Tahoma"/>
                <a:buNone/>
              </a:pPr>
              <a:r>
                <a:rPr b="0" i="0" lang="en-US" sz="1600" u="none" cap="none" strike="noStrike">
                  <a:solidFill>
                    <a:srgbClr val="F2F2F2"/>
                  </a:solidFill>
                  <a:latin typeface="Tahoma"/>
                  <a:ea typeface="Tahoma"/>
                  <a:cs typeface="Tahoma"/>
                  <a:sym typeface="Tahoma"/>
                </a:rPr>
                <a:t>receiver buffers</a:t>
              </a:r>
              <a:endParaRPr/>
            </a:p>
          </p:txBody>
        </p:sp>
      </p:grpSp>
      <p:sp>
        <p:nvSpPr>
          <p:cNvPr id="6076" name="Google Shape;6076;p125"/>
          <p:cNvSpPr/>
          <p:nvPr/>
        </p:nvSpPr>
        <p:spPr>
          <a:xfrm>
            <a:off x="8238947" y="3335996"/>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6077" name="Google Shape;6077;p125"/>
          <p:cNvSpPr txBox="1"/>
          <p:nvPr/>
        </p:nvSpPr>
        <p:spPr>
          <a:xfrm>
            <a:off x="8745360" y="336483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sp>
        <p:nvSpPr>
          <p:cNvPr id="6078" name="Google Shape;6078;p125"/>
          <p:cNvSpPr/>
          <p:nvPr/>
        </p:nvSpPr>
        <p:spPr>
          <a:xfrm>
            <a:off x="8246885" y="4321833"/>
            <a:ext cx="1562100" cy="5969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Arial"/>
              <a:ea typeface="Arial"/>
              <a:cs typeface="Arial"/>
              <a:sym typeface="Arial"/>
            </a:endParaRPr>
          </a:p>
        </p:txBody>
      </p:sp>
      <p:sp>
        <p:nvSpPr>
          <p:cNvPr id="6079" name="Google Shape;6079;p125"/>
          <p:cNvSpPr txBox="1"/>
          <p:nvPr/>
        </p:nvSpPr>
        <p:spPr>
          <a:xfrm>
            <a:off x="8731699" y="4354979"/>
            <a:ext cx="559769"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code</a:t>
            </a:r>
            <a:endParaRPr/>
          </a:p>
        </p:txBody>
      </p:sp>
      <p:cxnSp>
        <p:nvCxnSpPr>
          <p:cNvPr id="6080" name="Google Shape;6080;p125"/>
          <p:cNvCxnSpPr/>
          <p:nvPr/>
        </p:nvCxnSpPr>
        <p:spPr>
          <a:xfrm>
            <a:off x="7756347" y="4071008"/>
            <a:ext cx="2546350" cy="0"/>
          </a:xfrm>
          <a:prstGeom prst="straightConnector1">
            <a:avLst/>
          </a:prstGeom>
          <a:noFill/>
          <a:ln cap="flat" cmpd="sng" w="19050">
            <a:solidFill>
              <a:srgbClr val="000000"/>
            </a:solidFill>
            <a:prstDash val="solid"/>
            <a:round/>
            <a:headEnd len="med" w="med" type="none"/>
            <a:tailEnd len="med" w="med" type="none"/>
          </a:ln>
        </p:spPr>
      </p:cxnSp>
      <p:cxnSp>
        <p:nvCxnSpPr>
          <p:cNvPr id="6081" name="Google Shape;6081;p125"/>
          <p:cNvCxnSpPr/>
          <p:nvPr/>
        </p:nvCxnSpPr>
        <p:spPr>
          <a:xfrm>
            <a:off x="7769047" y="2219983"/>
            <a:ext cx="2546350" cy="0"/>
          </a:xfrm>
          <a:prstGeom prst="straightConnector1">
            <a:avLst/>
          </a:prstGeom>
          <a:noFill/>
          <a:ln cap="flat" cmpd="sng" w="19050">
            <a:solidFill>
              <a:srgbClr val="000000"/>
            </a:solidFill>
            <a:prstDash val="solid"/>
            <a:round/>
            <a:headEnd len="med" w="med" type="none"/>
            <a:tailEnd len="med" w="med" type="none"/>
          </a:ln>
        </p:spPr>
      </p:cxnSp>
      <p:grpSp>
        <p:nvGrpSpPr>
          <p:cNvPr id="6082" name="Google Shape;6082;p125"/>
          <p:cNvGrpSpPr/>
          <p:nvPr/>
        </p:nvGrpSpPr>
        <p:grpSpPr>
          <a:xfrm>
            <a:off x="8745360" y="2104096"/>
            <a:ext cx="533400" cy="206375"/>
            <a:chOff x="2003" y="1816"/>
            <a:chExt cx="336" cy="130"/>
          </a:xfrm>
        </p:grpSpPr>
        <p:sp>
          <p:nvSpPr>
            <p:cNvPr id="6083" name="Google Shape;6083;p125"/>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84" name="Google Shape;6084;p125"/>
            <p:cNvSpPr/>
            <p:nvPr/>
          </p:nvSpPr>
          <p:spPr>
            <a:xfrm>
              <a:off x="2105" y="1833"/>
              <a:ext cx="110"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85" name="Google Shape;6085;p125"/>
            <p:cNvSpPr/>
            <p:nvPr/>
          </p:nvSpPr>
          <p:spPr>
            <a:xfrm>
              <a:off x="2229" y="189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86" name="Google Shape;6086;p125"/>
            <p:cNvSpPr/>
            <p:nvPr/>
          </p:nvSpPr>
          <p:spPr>
            <a:xfrm>
              <a:off x="2058"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087" name="Google Shape;6087;p125"/>
          <p:cNvSpPr txBox="1"/>
          <p:nvPr/>
        </p:nvSpPr>
        <p:spPr>
          <a:xfrm>
            <a:off x="7549972" y="5823520"/>
            <a:ext cx="2714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receiver protocol stack</a:t>
            </a:r>
            <a:endParaRPr/>
          </a:p>
        </p:txBody>
      </p:sp>
      <p:cxnSp>
        <p:nvCxnSpPr>
          <p:cNvPr id="6088" name="Google Shape;6088;p125"/>
          <p:cNvCxnSpPr/>
          <p:nvPr/>
        </p:nvCxnSpPr>
        <p:spPr>
          <a:xfrm>
            <a:off x="8790777" y="5419835"/>
            <a:ext cx="0" cy="349250"/>
          </a:xfrm>
          <a:prstGeom prst="straightConnector1">
            <a:avLst/>
          </a:prstGeom>
          <a:noFill/>
          <a:ln cap="flat" cmpd="sng" w="28575">
            <a:solidFill>
              <a:srgbClr val="CC0000"/>
            </a:solidFill>
            <a:prstDash val="dash"/>
            <a:round/>
            <a:headEnd len="med" w="med" type="none"/>
            <a:tailEnd len="med" w="med" type="none"/>
          </a:ln>
        </p:spPr>
      </p:cxnSp>
      <p:cxnSp>
        <p:nvCxnSpPr>
          <p:cNvPr id="6089" name="Google Shape;6089;p125"/>
          <p:cNvCxnSpPr/>
          <p:nvPr/>
        </p:nvCxnSpPr>
        <p:spPr>
          <a:xfrm>
            <a:off x="10285235" y="4996521"/>
            <a:ext cx="0" cy="463550"/>
          </a:xfrm>
          <a:prstGeom prst="straightConnector1">
            <a:avLst/>
          </a:prstGeom>
          <a:noFill/>
          <a:ln cap="flat" cmpd="sng" w="19050">
            <a:solidFill>
              <a:srgbClr val="000000"/>
            </a:solidFill>
            <a:prstDash val="dash"/>
            <a:round/>
            <a:headEnd len="med" w="med" type="none"/>
            <a:tailEnd len="med" w="med" type="none"/>
          </a:ln>
        </p:spPr>
      </p:cxnSp>
      <p:grpSp>
        <p:nvGrpSpPr>
          <p:cNvPr id="6090" name="Google Shape;6090;p125"/>
          <p:cNvGrpSpPr/>
          <p:nvPr/>
        </p:nvGrpSpPr>
        <p:grpSpPr>
          <a:xfrm flipH="1">
            <a:off x="10523360" y="4590121"/>
            <a:ext cx="869950" cy="906462"/>
            <a:chOff x="-44" y="1473"/>
            <a:chExt cx="981" cy="1105"/>
          </a:xfrm>
        </p:grpSpPr>
        <p:pic>
          <p:nvPicPr>
            <p:cNvPr descr="desktop_computer_stylized_medium" id="6091" name="Google Shape;6091;p12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092" name="Google Shape;6092;p12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093" name="Google Shape;6093;p125"/>
          <p:cNvSpPr txBox="1"/>
          <p:nvPr/>
        </p:nvSpPr>
        <p:spPr>
          <a:xfrm>
            <a:off x="712555" y="1437021"/>
            <a:ext cx="385082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1" lang="en-US" sz="2400" u="sng" cap="none" strike="noStrike">
                <a:solidFill>
                  <a:srgbClr val="C00000"/>
                </a:solidFill>
                <a:latin typeface="Calibri"/>
                <a:ea typeface="Calibri"/>
                <a:cs typeface="Calibri"/>
                <a:sym typeface="Calibri"/>
              </a:rPr>
              <a:t>Q: </a:t>
            </a:r>
            <a:r>
              <a:rPr b="0" i="0" lang="en-US" sz="2400" u="none" cap="none" strike="noStrike">
                <a:solidFill>
                  <a:srgbClr val="000000"/>
                </a:solidFill>
                <a:latin typeface="Calibri"/>
                <a:ea typeface="Calibri"/>
                <a:cs typeface="Calibri"/>
                <a:sym typeface="Calibri"/>
              </a:rPr>
              <a:t>What happens if network layer delivers data faster than application layer removes data from socket buffers?</a:t>
            </a:r>
            <a:endParaRPr/>
          </a:p>
        </p:txBody>
      </p:sp>
      <p:grpSp>
        <p:nvGrpSpPr>
          <p:cNvPr id="6094" name="Google Shape;6094;p125"/>
          <p:cNvGrpSpPr/>
          <p:nvPr/>
        </p:nvGrpSpPr>
        <p:grpSpPr>
          <a:xfrm>
            <a:off x="756989" y="3535828"/>
            <a:ext cx="4164772" cy="1950572"/>
            <a:chOff x="363537" y="4127499"/>
            <a:chExt cx="4164772" cy="1950572"/>
          </a:xfrm>
        </p:grpSpPr>
        <p:sp>
          <p:nvSpPr>
            <p:cNvPr id="6095" name="Google Shape;6095;p125"/>
            <p:cNvSpPr/>
            <p:nvPr/>
          </p:nvSpPr>
          <p:spPr>
            <a:xfrm>
              <a:off x="363537" y="4397375"/>
              <a:ext cx="4134671" cy="1680696"/>
            </a:xfrm>
            <a:prstGeom prst="rect">
              <a:avLst/>
            </a:prstGeom>
            <a:solidFill>
              <a:srgbClr val="FFFFFF"/>
            </a:solidFill>
            <a:ln cap="flat" cmpd="sng" w="2857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96" name="Google Shape;6096;p125"/>
            <p:cNvSpPr txBox="1"/>
            <p:nvPr/>
          </p:nvSpPr>
          <p:spPr>
            <a:xfrm>
              <a:off x="455613" y="4549775"/>
              <a:ext cx="4072696" cy="142192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receiver controls sender, so sender won’t overflow receiver’s buffer by transmitting too much, too fast</a:t>
              </a:r>
              <a:endParaRPr b="0" i="0" sz="1050" u="none" cap="none" strike="noStrike">
                <a:solidFill>
                  <a:srgbClr val="000000"/>
                </a:solidFill>
                <a:latin typeface="Calibri"/>
                <a:ea typeface="Calibri"/>
                <a:cs typeface="Calibri"/>
                <a:sym typeface="Calibri"/>
              </a:endParaRPr>
            </a:p>
          </p:txBody>
        </p:sp>
        <p:grpSp>
          <p:nvGrpSpPr>
            <p:cNvPr id="6097" name="Google Shape;6097;p125"/>
            <p:cNvGrpSpPr/>
            <p:nvPr/>
          </p:nvGrpSpPr>
          <p:grpSpPr>
            <a:xfrm>
              <a:off x="551438" y="4127499"/>
              <a:ext cx="2003542" cy="523875"/>
              <a:chOff x="3327" y="230"/>
              <a:chExt cx="1176" cy="330"/>
            </a:xfrm>
          </p:grpSpPr>
          <p:sp>
            <p:nvSpPr>
              <p:cNvPr id="6098" name="Google Shape;6098;p125"/>
              <p:cNvSpPr/>
              <p:nvPr/>
            </p:nvSpPr>
            <p:spPr>
              <a:xfrm>
                <a:off x="3369" y="323"/>
                <a:ext cx="1134" cy="2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099" name="Google Shape;6099;p125"/>
              <p:cNvSpPr txBox="1"/>
              <p:nvPr/>
            </p:nvSpPr>
            <p:spPr>
              <a:xfrm>
                <a:off x="3327" y="230"/>
                <a:ext cx="1136" cy="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800"/>
                  <a:buFont typeface="Calibri"/>
                  <a:buNone/>
                </a:pPr>
                <a:r>
                  <a:rPr b="0" i="0" lang="en-US" sz="2800" u="none" cap="none" strike="noStrike">
                    <a:solidFill>
                      <a:srgbClr val="CC0000"/>
                    </a:solidFill>
                    <a:latin typeface="Calibri"/>
                    <a:ea typeface="Calibri"/>
                    <a:cs typeface="Calibri"/>
                    <a:sym typeface="Calibri"/>
                  </a:rPr>
                  <a:t>flow control</a:t>
                </a:r>
                <a:endParaRPr/>
              </a:p>
            </p:txBody>
          </p:sp>
        </p:grpSp>
      </p:grpSp>
      <p:cxnSp>
        <p:nvCxnSpPr>
          <p:cNvPr id="6100" name="Google Shape;6100;p125"/>
          <p:cNvCxnSpPr/>
          <p:nvPr/>
        </p:nvCxnSpPr>
        <p:spPr>
          <a:xfrm>
            <a:off x="7764475" y="5006696"/>
            <a:ext cx="0" cy="463550"/>
          </a:xfrm>
          <a:prstGeom prst="straightConnector1">
            <a:avLst/>
          </a:prstGeom>
          <a:noFill/>
          <a:ln cap="flat" cmpd="sng" w="19050">
            <a:solidFill>
              <a:schemeClr val="dk1"/>
            </a:solidFill>
            <a:prstDash val="dash"/>
            <a:round/>
            <a:headEnd len="med" w="med" type="none"/>
            <a:tailEnd len="med" w="med" type="none"/>
          </a:ln>
        </p:spPr>
      </p:cxnSp>
      <p:grpSp>
        <p:nvGrpSpPr>
          <p:cNvPr id="6101" name="Google Shape;6101;p125"/>
          <p:cNvGrpSpPr/>
          <p:nvPr/>
        </p:nvGrpSpPr>
        <p:grpSpPr>
          <a:xfrm>
            <a:off x="7630935" y="2806352"/>
            <a:ext cx="2092487" cy="2971623"/>
            <a:chOff x="7630935" y="2806352"/>
            <a:chExt cx="2092487" cy="2971623"/>
          </a:xfrm>
        </p:grpSpPr>
        <p:grpSp>
          <p:nvGrpSpPr>
            <p:cNvPr id="6102" name="Google Shape;6102;p125"/>
            <p:cNvGrpSpPr/>
            <p:nvPr/>
          </p:nvGrpSpPr>
          <p:grpSpPr>
            <a:xfrm>
              <a:off x="7630935" y="3080408"/>
              <a:ext cx="1309687" cy="2697567"/>
              <a:chOff x="7074521" y="3577949"/>
              <a:chExt cx="1309687" cy="2697567"/>
            </a:xfrm>
          </p:grpSpPr>
          <p:sp>
            <p:nvSpPr>
              <p:cNvPr id="6103" name="Google Shape;6103;p125"/>
              <p:cNvSpPr/>
              <p:nvPr/>
            </p:nvSpPr>
            <p:spPr>
              <a:xfrm>
                <a:off x="7655546" y="46193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104" name="Google Shape;6104;p125"/>
              <p:cNvGrpSpPr/>
              <p:nvPr/>
            </p:nvGrpSpPr>
            <p:grpSpPr>
              <a:xfrm>
                <a:off x="7344839" y="5551212"/>
                <a:ext cx="1039369" cy="214398"/>
                <a:chOff x="7344839" y="5551212"/>
                <a:chExt cx="1039369" cy="214398"/>
              </a:xfrm>
            </p:grpSpPr>
            <p:sp>
              <p:nvSpPr>
                <p:cNvPr id="6105" name="Google Shape;6105;p125"/>
                <p:cNvSpPr/>
                <p:nvPr/>
              </p:nvSpPr>
              <p:spPr>
                <a:xfrm>
                  <a:off x="7344839" y="5556060"/>
                  <a:ext cx="1006475" cy="20955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06" name="Google Shape;6106;p125"/>
                <p:cNvSpPr/>
                <p:nvPr/>
              </p:nvSpPr>
              <p:spPr>
                <a:xfrm>
                  <a:off x="7650783" y="5551212"/>
                  <a:ext cx="733425" cy="212725"/>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107" name="Google Shape;6107;p125"/>
                <p:cNvCxnSpPr/>
                <p:nvPr/>
              </p:nvCxnSpPr>
              <p:spPr>
                <a:xfrm>
                  <a:off x="7488859" y="5555058"/>
                  <a:ext cx="0" cy="206375"/>
                </a:xfrm>
                <a:prstGeom prst="straightConnector1">
                  <a:avLst/>
                </a:prstGeom>
                <a:noFill/>
                <a:ln cap="flat" cmpd="sng" w="28575">
                  <a:solidFill>
                    <a:srgbClr val="FFFFFF"/>
                  </a:solidFill>
                  <a:prstDash val="solid"/>
                  <a:round/>
                  <a:headEnd len="med" w="med" type="none"/>
                  <a:tailEnd len="med" w="med" type="none"/>
                </a:ln>
              </p:spPr>
            </p:cxnSp>
            <p:cxnSp>
              <p:nvCxnSpPr>
                <p:cNvPr id="6108" name="Google Shape;6108;p125"/>
                <p:cNvCxnSpPr/>
                <p:nvPr/>
              </p:nvCxnSpPr>
              <p:spPr>
                <a:xfrm>
                  <a:off x="7641259" y="5555058"/>
                  <a:ext cx="0" cy="206375"/>
                </a:xfrm>
                <a:prstGeom prst="straightConnector1">
                  <a:avLst/>
                </a:prstGeom>
                <a:noFill/>
                <a:ln cap="flat" cmpd="sng" w="28575">
                  <a:solidFill>
                    <a:srgbClr val="FFFFFF"/>
                  </a:solidFill>
                  <a:prstDash val="solid"/>
                  <a:round/>
                  <a:headEnd len="med" w="med" type="none"/>
                  <a:tailEnd len="med" w="med" type="none"/>
                </a:ln>
              </p:spPr>
            </p:cxnSp>
          </p:grpSp>
          <p:sp>
            <p:nvSpPr>
              <p:cNvPr id="6109" name="Google Shape;6109;p125"/>
              <p:cNvSpPr/>
              <p:nvPr/>
            </p:nvSpPr>
            <p:spPr>
              <a:xfrm>
                <a:off x="7647608" y="3577949"/>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10" name="Google Shape;6110;p125"/>
              <p:cNvSpPr txBox="1"/>
              <p:nvPr/>
            </p:nvSpPr>
            <p:spPr>
              <a:xfrm>
                <a:off x="7074521" y="5970716"/>
                <a:ext cx="113347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from sender</a:t>
                </a:r>
                <a:endParaRPr/>
              </a:p>
            </p:txBody>
          </p:sp>
        </p:grpSp>
        <p:sp>
          <p:nvSpPr>
            <p:cNvPr id="6111" name="Google Shape;6111;p125"/>
            <p:cNvSpPr/>
            <p:nvPr/>
          </p:nvSpPr>
          <p:spPr>
            <a:xfrm>
              <a:off x="8312727" y="2806352"/>
              <a:ext cx="1410695" cy="271814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112" name="Google Shape;6112;p125"/>
          <p:cNvGrpSpPr/>
          <p:nvPr/>
        </p:nvGrpSpPr>
        <p:grpSpPr>
          <a:xfrm>
            <a:off x="4989152" y="1607125"/>
            <a:ext cx="4984933" cy="885919"/>
            <a:chOff x="4989152" y="1607125"/>
            <a:chExt cx="4984933" cy="885919"/>
          </a:xfrm>
        </p:grpSpPr>
        <p:grpSp>
          <p:nvGrpSpPr>
            <p:cNvPr id="6113" name="Google Shape;6113;p125"/>
            <p:cNvGrpSpPr/>
            <p:nvPr/>
          </p:nvGrpSpPr>
          <p:grpSpPr>
            <a:xfrm>
              <a:off x="4989152" y="1652814"/>
              <a:ext cx="4984933" cy="840230"/>
              <a:chOff x="4432738" y="2150355"/>
              <a:chExt cx="4984933" cy="840230"/>
            </a:xfrm>
          </p:grpSpPr>
          <p:cxnSp>
            <p:nvCxnSpPr>
              <p:cNvPr id="6114" name="Google Shape;6114;p125"/>
              <p:cNvCxnSpPr/>
              <p:nvPr/>
            </p:nvCxnSpPr>
            <p:spPr>
              <a:xfrm>
                <a:off x="6976294" y="2457174"/>
                <a:ext cx="1102102" cy="0"/>
              </a:xfrm>
              <a:prstGeom prst="straightConnector1">
                <a:avLst/>
              </a:prstGeom>
              <a:noFill/>
              <a:ln cap="flat" cmpd="sng" w="19050">
                <a:solidFill>
                  <a:srgbClr val="CC0000"/>
                </a:solidFill>
                <a:prstDash val="solid"/>
                <a:round/>
                <a:headEnd len="med" w="med" type="none"/>
                <a:tailEnd len="med" w="med" type="none"/>
              </a:ln>
            </p:spPr>
          </p:cxnSp>
          <p:sp>
            <p:nvSpPr>
              <p:cNvPr id="6115" name="Google Shape;6115;p125"/>
              <p:cNvSpPr txBox="1"/>
              <p:nvPr/>
            </p:nvSpPr>
            <p:spPr>
              <a:xfrm>
                <a:off x="4432738" y="2150355"/>
                <a:ext cx="2533651" cy="8402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 removing data from TCP socket buffers</a:t>
                </a:r>
                <a:endParaRPr/>
              </a:p>
            </p:txBody>
          </p:sp>
          <p:sp>
            <p:nvSpPr>
              <p:cNvPr id="6116" name="Google Shape;6116;p125"/>
              <p:cNvSpPr/>
              <p:nvPr/>
            </p:nvSpPr>
            <p:spPr>
              <a:xfrm>
                <a:off x="8696946" y="2344462"/>
                <a:ext cx="720725" cy="209550"/>
              </a:xfrm>
              <a:prstGeom prst="rect">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117" name="Google Shape;6117;p125"/>
            <p:cNvSpPr/>
            <p:nvPr/>
          </p:nvSpPr>
          <p:spPr>
            <a:xfrm flipH="1" rot="10800000">
              <a:off x="8517082" y="1607125"/>
              <a:ext cx="1000991" cy="872838"/>
            </a:xfrm>
            <a:prstGeom prst="curvedDownArrow">
              <a:avLst>
                <a:gd fmla="val 13767" name="adj1"/>
                <a:gd fmla="val 28170" name="adj2"/>
                <a:gd fmla="val 25000" name="adj3"/>
              </a:avLst>
            </a:prstGeom>
            <a:solidFill>
              <a:srgbClr val="C00000">
                <a:alpha val="5372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118" name="Google Shape;6118;p12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3" name="Shape 6123"/>
        <p:cNvGrpSpPr/>
        <p:nvPr/>
      </p:nvGrpSpPr>
      <p:grpSpPr>
        <a:xfrm>
          <a:off x="0" y="0"/>
          <a:ext cx="0" cy="0"/>
          <a:chOff x="0" y="0"/>
          <a:chExt cx="0" cy="0"/>
        </a:xfrm>
      </p:grpSpPr>
      <p:sp>
        <p:nvSpPr>
          <p:cNvPr id="6124" name="Google Shape;6124;p126"/>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6125" name="Google Shape;6125;p126"/>
          <p:cNvSpPr txBox="1"/>
          <p:nvPr/>
        </p:nvSpPr>
        <p:spPr>
          <a:xfrm>
            <a:off x="668940" y="1485900"/>
            <a:ext cx="5826405" cy="490696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receiver “advertises” free buffer space in </a:t>
            </a:r>
            <a:r>
              <a:rPr b="1" i="0" lang="en-US" sz="2800" u="none" cap="none" strike="noStrike">
                <a:solidFill>
                  <a:srgbClr val="000000"/>
                </a:solidFill>
                <a:latin typeface="Courier New"/>
                <a:ea typeface="Courier New"/>
                <a:cs typeface="Courier New"/>
                <a:sym typeface="Courier New"/>
              </a:rPr>
              <a:t>rwnd</a:t>
            </a:r>
            <a:r>
              <a:rPr b="0" i="0" lang="en-US" sz="2800" u="none" cap="none" strike="noStrike">
                <a:solidFill>
                  <a:srgbClr val="000000"/>
                </a:solidFill>
                <a:latin typeface="Calibri"/>
                <a:ea typeface="Calibri"/>
                <a:cs typeface="Calibri"/>
                <a:sym typeface="Calibri"/>
              </a:rPr>
              <a:t> field in TCP header</a:t>
            </a:r>
            <a:endParaRPr/>
          </a:p>
          <a:p>
            <a:pPr indent="-231775" lvl="1" marL="695325" marR="0" rtl="0" algn="l">
              <a:lnSpc>
                <a:spcPct val="100000"/>
              </a:lnSpc>
              <a:spcBef>
                <a:spcPts val="500"/>
              </a:spcBef>
              <a:spcAft>
                <a:spcPts val="0"/>
              </a:spcAft>
              <a:buClr>
                <a:srgbClr val="0000A8"/>
              </a:buClr>
              <a:buSzPts val="2400"/>
              <a:buFont typeface="Arial"/>
              <a:buChar char="•"/>
            </a:pPr>
            <a:r>
              <a:rPr b="1" i="0" lang="en-US" sz="2400" u="none" cap="none" strike="noStrike">
                <a:solidFill>
                  <a:srgbClr val="000000"/>
                </a:solidFill>
                <a:latin typeface="Courier New"/>
                <a:ea typeface="Courier New"/>
                <a:cs typeface="Courier New"/>
                <a:sym typeface="Courier New"/>
              </a:rPr>
              <a:t>RcvBuffer </a:t>
            </a:r>
            <a:r>
              <a:rPr b="0" i="0" lang="en-US" sz="2400" u="none" cap="none" strike="noStrike">
                <a:solidFill>
                  <a:srgbClr val="000000"/>
                </a:solidFill>
                <a:latin typeface="Calibri"/>
                <a:ea typeface="Calibri"/>
                <a:cs typeface="Calibri"/>
                <a:sym typeface="Calibri"/>
              </a:rPr>
              <a:t>size set via socket options (typical default is 4096 bytes)</a:t>
            </a:r>
            <a:endParaRPr/>
          </a:p>
          <a:p>
            <a:pPr indent="-231775" lvl="1" marL="695325" marR="0" rtl="0" algn="l">
              <a:lnSpc>
                <a:spcPct val="10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many operating systems autoadjust </a:t>
            </a:r>
            <a:r>
              <a:rPr b="1" i="0" lang="en-US" sz="2400" u="none" cap="none" strike="noStrike">
                <a:solidFill>
                  <a:srgbClr val="000000"/>
                </a:solidFill>
                <a:latin typeface="Courier New"/>
                <a:ea typeface="Courier New"/>
                <a:cs typeface="Courier New"/>
                <a:sym typeface="Courier New"/>
              </a:rPr>
              <a:t>RcvBuffer</a:t>
            </a:r>
            <a:endParaRPr b="0" i="0" sz="2400" u="none" cap="none" strike="noStrike">
              <a:solidFill>
                <a:srgbClr val="000000"/>
              </a:solidFill>
              <a:latin typeface="Calibri"/>
              <a:ea typeface="Calibri"/>
              <a:cs typeface="Calibri"/>
              <a:sym typeface="Calibri"/>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limits amount of unACKed (“in-flight”) data to received </a:t>
            </a:r>
            <a:r>
              <a:rPr b="1" i="0" lang="en-US" sz="2800" u="none" cap="none" strike="noStrike">
                <a:solidFill>
                  <a:srgbClr val="000000"/>
                </a:solidFill>
                <a:latin typeface="Courier New"/>
                <a:ea typeface="Courier New"/>
                <a:cs typeface="Courier New"/>
                <a:sym typeface="Courier New"/>
              </a:rPr>
              <a:t>rwnd</a:t>
            </a:r>
            <a:endParaRPr b="1" i="0" sz="2800" u="none" cap="none" strike="noStrike">
              <a:solidFill>
                <a:srgbClr val="000000"/>
              </a:solidFill>
              <a:latin typeface="Courier New"/>
              <a:ea typeface="Courier New"/>
              <a:cs typeface="Courier New"/>
              <a:sym typeface="Courier New"/>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guarantees receive buffer will not overflow</a:t>
            </a:r>
            <a:endParaRPr/>
          </a:p>
        </p:txBody>
      </p:sp>
      <p:grpSp>
        <p:nvGrpSpPr>
          <p:cNvPr id="6126" name="Google Shape;6126;p126"/>
          <p:cNvGrpSpPr/>
          <p:nvPr/>
        </p:nvGrpSpPr>
        <p:grpSpPr>
          <a:xfrm>
            <a:off x="8147517" y="2351087"/>
            <a:ext cx="2578100" cy="2155825"/>
            <a:chOff x="512" y="1294"/>
            <a:chExt cx="1888" cy="1358"/>
          </a:xfrm>
        </p:grpSpPr>
        <p:grpSp>
          <p:nvGrpSpPr>
            <p:cNvPr id="6127" name="Google Shape;6127;p126"/>
            <p:cNvGrpSpPr/>
            <p:nvPr/>
          </p:nvGrpSpPr>
          <p:grpSpPr>
            <a:xfrm>
              <a:off x="1232" y="1410"/>
              <a:ext cx="336" cy="130"/>
              <a:chOff x="2003" y="1816"/>
              <a:chExt cx="336" cy="130"/>
            </a:xfrm>
          </p:grpSpPr>
          <p:sp>
            <p:nvSpPr>
              <p:cNvPr id="6128" name="Google Shape;6128;p126"/>
              <p:cNvSpPr/>
              <p:nvPr/>
            </p:nvSpPr>
            <p:spPr>
              <a:xfrm>
                <a:off x="2003" y="181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29" name="Google Shape;6129;p126"/>
              <p:cNvSpPr/>
              <p:nvPr/>
            </p:nvSpPr>
            <p:spPr>
              <a:xfrm>
                <a:off x="2105" y="1833"/>
                <a:ext cx="108"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30" name="Google Shape;6130;p126"/>
              <p:cNvSpPr/>
              <p:nvPr/>
            </p:nvSpPr>
            <p:spPr>
              <a:xfrm>
                <a:off x="2228" y="1891"/>
                <a:ext cx="28"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31" name="Google Shape;6131;p126"/>
              <p:cNvSpPr/>
              <p:nvPr/>
            </p:nvSpPr>
            <p:spPr>
              <a:xfrm>
                <a:off x="2056" y="189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132" name="Google Shape;6132;p126"/>
            <p:cNvSpPr/>
            <p:nvPr/>
          </p:nvSpPr>
          <p:spPr>
            <a:xfrm>
              <a:off x="526" y="1522"/>
              <a:ext cx="1871" cy="896"/>
            </a:xfrm>
            <a:prstGeom prst="rect">
              <a:avLst/>
            </a:prstGeom>
            <a:solidFill>
              <a:srgbClr val="0000A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133" name="Google Shape;6133;p126"/>
            <p:cNvCxnSpPr/>
            <p:nvPr/>
          </p:nvCxnSpPr>
          <p:spPr>
            <a:xfrm>
              <a:off x="512" y="1863"/>
              <a:ext cx="1885" cy="0"/>
            </a:xfrm>
            <a:prstGeom prst="straightConnector1">
              <a:avLst/>
            </a:prstGeom>
            <a:noFill/>
            <a:ln cap="flat" cmpd="sng" w="9525">
              <a:solidFill>
                <a:srgbClr val="000000"/>
              </a:solidFill>
              <a:prstDash val="solid"/>
              <a:round/>
              <a:headEnd len="med" w="med" type="none"/>
              <a:tailEnd len="med" w="med" type="none"/>
            </a:ln>
          </p:spPr>
        </p:cxnSp>
        <p:sp>
          <p:nvSpPr>
            <p:cNvPr id="6134" name="Google Shape;6134;p126"/>
            <p:cNvSpPr/>
            <p:nvPr/>
          </p:nvSpPr>
          <p:spPr>
            <a:xfrm>
              <a:off x="1310" y="1294"/>
              <a:ext cx="157" cy="288"/>
            </a:xfrm>
            <a:prstGeom prst="upArrow">
              <a:avLst>
                <a:gd fmla="val 50000" name="adj1"/>
                <a:gd fmla="val 45860" name="adj2"/>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descr="Dark upward diagonal" id="6135" name="Google Shape;6135;p126"/>
            <p:cNvSpPr/>
            <p:nvPr/>
          </p:nvSpPr>
          <p:spPr>
            <a:xfrm>
              <a:off x="534" y="1856"/>
              <a:ext cx="1848" cy="55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36" name="Google Shape;6136;p126"/>
            <p:cNvSpPr/>
            <p:nvPr/>
          </p:nvSpPr>
          <p:spPr>
            <a:xfrm>
              <a:off x="1312" y="2364"/>
              <a:ext cx="157" cy="288"/>
            </a:xfrm>
            <a:prstGeom prst="upArrow">
              <a:avLst>
                <a:gd fmla="val 50000" name="adj1"/>
                <a:gd fmla="val 45860" name="adj2"/>
              </a:avLst>
            </a:prstGeom>
            <a:solidFill>
              <a:srgbClr val="CC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137" name="Google Shape;6137;p126"/>
            <p:cNvSpPr txBox="1"/>
            <p:nvPr/>
          </p:nvSpPr>
          <p:spPr>
            <a:xfrm>
              <a:off x="814" y="1568"/>
              <a:ext cx="1243"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2000"/>
                <a:buFont typeface="Tahoma"/>
                <a:buNone/>
              </a:pPr>
              <a:r>
                <a:rPr b="0" i="0" lang="en-US" sz="2000" u="none" cap="none" strike="noStrike">
                  <a:solidFill>
                    <a:srgbClr val="FFFFFF"/>
                  </a:solidFill>
                  <a:latin typeface="Tahoma"/>
                  <a:ea typeface="Tahoma"/>
                  <a:cs typeface="Tahoma"/>
                  <a:sym typeface="Tahoma"/>
                </a:rPr>
                <a:t>buffered data</a:t>
              </a:r>
              <a:endParaRPr/>
            </a:p>
          </p:txBody>
        </p:sp>
        <p:cxnSp>
          <p:nvCxnSpPr>
            <p:cNvPr id="6138" name="Google Shape;6138;p126"/>
            <p:cNvCxnSpPr/>
            <p:nvPr/>
          </p:nvCxnSpPr>
          <p:spPr>
            <a:xfrm>
              <a:off x="522" y="1857"/>
              <a:ext cx="1878" cy="7"/>
            </a:xfrm>
            <a:prstGeom prst="straightConnector1">
              <a:avLst/>
            </a:prstGeom>
            <a:noFill/>
            <a:ln cap="flat" cmpd="sng" w="28575">
              <a:solidFill>
                <a:srgbClr val="000000"/>
              </a:solidFill>
              <a:prstDash val="solid"/>
              <a:round/>
              <a:headEnd len="med" w="med" type="none"/>
              <a:tailEnd len="med" w="med" type="none"/>
            </a:ln>
          </p:spPr>
        </p:cxnSp>
        <p:sp>
          <p:nvSpPr>
            <p:cNvPr id="6139" name="Google Shape;6139;p126"/>
            <p:cNvSpPr txBox="1"/>
            <p:nvPr/>
          </p:nvSpPr>
          <p:spPr>
            <a:xfrm>
              <a:off x="653" y="2020"/>
              <a:ext cx="1529"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free buffer space</a:t>
              </a:r>
              <a:endParaRPr/>
            </a:p>
          </p:txBody>
        </p:sp>
      </p:grpSp>
      <p:sp>
        <p:nvSpPr>
          <p:cNvPr id="6140" name="Google Shape;6140;p126"/>
          <p:cNvSpPr txBox="1"/>
          <p:nvPr/>
        </p:nvSpPr>
        <p:spPr>
          <a:xfrm>
            <a:off x="7260104" y="3495674"/>
            <a:ext cx="6731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ourier New"/>
              <a:buNone/>
            </a:pPr>
            <a:r>
              <a:rPr b="1" i="0" lang="en-US" sz="1600" u="none" cap="none" strike="noStrike">
                <a:solidFill>
                  <a:srgbClr val="000000"/>
                </a:solidFill>
                <a:latin typeface="Courier New"/>
                <a:ea typeface="Courier New"/>
                <a:cs typeface="Courier New"/>
                <a:sym typeface="Courier New"/>
              </a:rPr>
              <a:t>rwnd</a:t>
            </a:r>
            <a:endParaRPr/>
          </a:p>
        </p:txBody>
      </p:sp>
      <p:cxnSp>
        <p:nvCxnSpPr>
          <p:cNvPr id="6141" name="Google Shape;6141;p126"/>
          <p:cNvCxnSpPr/>
          <p:nvPr/>
        </p:nvCxnSpPr>
        <p:spPr>
          <a:xfrm>
            <a:off x="7771279" y="3228974"/>
            <a:ext cx="0" cy="322263"/>
          </a:xfrm>
          <a:prstGeom prst="straightConnector1">
            <a:avLst/>
          </a:prstGeom>
          <a:noFill/>
          <a:ln cap="flat" cmpd="sng" w="9525">
            <a:solidFill>
              <a:srgbClr val="000000"/>
            </a:solidFill>
            <a:prstDash val="solid"/>
            <a:round/>
            <a:headEnd len="med" w="med" type="triangle"/>
            <a:tailEnd len="med" w="med" type="none"/>
          </a:ln>
        </p:spPr>
      </p:cxnSp>
      <p:cxnSp>
        <p:nvCxnSpPr>
          <p:cNvPr id="6142" name="Google Shape;6142;p126"/>
          <p:cNvCxnSpPr/>
          <p:nvPr/>
        </p:nvCxnSpPr>
        <p:spPr>
          <a:xfrm rot="10800000">
            <a:off x="7771279" y="3754437"/>
            <a:ext cx="0" cy="322262"/>
          </a:xfrm>
          <a:prstGeom prst="straightConnector1">
            <a:avLst/>
          </a:prstGeom>
          <a:noFill/>
          <a:ln cap="flat" cmpd="sng" w="9525">
            <a:solidFill>
              <a:srgbClr val="000000"/>
            </a:solidFill>
            <a:prstDash val="solid"/>
            <a:round/>
            <a:headEnd len="med" w="med" type="triangle"/>
            <a:tailEnd len="med" w="med" type="none"/>
          </a:ln>
        </p:spPr>
      </p:cxnSp>
      <p:cxnSp>
        <p:nvCxnSpPr>
          <p:cNvPr id="6143" name="Google Shape;6143;p126"/>
          <p:cNvCxnSpPr/>
          <p:nvPr/>
        </p:nvCxnSpPr>
        <p:spPr>
          <a:xfrm>
            <a:off x="7617292" y="4086224"/>
            <a:ext cx="476250" cy="0"/>
          </a:xfrm>
          <a:prstGeom prst="straightConnector1">
            <a:avLst/>
          </a:prstGeom>
          <a:noFill/>
          <a:ln cap="flat" cmpd="sng" w="19050">
            <a:solidFill>
              <a:srgbClr val="000000"/>
            </a:solidFill>
            <a:prstDash val="solid"/>
            <a:round/>
            <a:headEnd len="med" w="med" type="none"/>
            <a:tailEnd len="med" w="med" type="none"/>
          </a:ln>
        </p:spPr>
      </p:cxnSp>
      <p:cxnSp>
        <p:nvCxnSpPr>
          <p:cNvPr id="6144" name="Google Shape;6144;p126"/>
          <p:cNvCxnSpPr/>
          <p:nvPr/>
        </p:nvCxnSpPr>
        <p:spPr>
          <a:xfrm>
            <a:off x="7666504" y="3217862"/>
            <a:ext cx="196850" cy="0"/>
          </a:xfrm>
          <a:prstGeom prst="straightConnector1">
            <a:avLst/>
          </a:prstGeom>
          <a:noFill/>
          <a:ln cap="flat" cmpd="sng" w="19050">
            <a:solidFill>
              <a:srgbClr val="000000"/>
            </a:solidFill>
            <a:prstDash val="solid"/>
            <a:round/>
            <a:headEnd len="med" w="med" type="none"/>
            <a:tailEnd len="med" w="med" type="none"/>
          </a:ln>
        </p:spPr>
      </p:cxnSp>
      <p:cxnSp>
        <p:nvCxnSpPr>
          <p:cNvPr id="6145" name="Google Shape;6145;p126"/>
          <p:cNvCxnSpPr/>
          <p:nvPr/>
        </p:nvCxnSpPr>
        <p:spPr>
          <a:xfrm>
            <a:off x="7639517" y="2692399"/>
            <a:ext cx="476250" cy="0"/>
          </a:xfrm>
          <a:prstGeom prst="straightConnector1">
            <a:avLst/>
          </a:prstGeom>
          <a:noFill/>
          <a:ln cap="flat" cmpd="sng" w="19050">
            <a:solidFill>
              <a:srgbClr val="000000"/>
            </a:solidFill>
            <a:prstDash val="solid"/>
            <a:round/>
            <a:headEnd len="med" w="med" type="none"/>
            <a:tailEnd len="med" w="med" type="none"/>
          </a:ln>
        </p:spPr>
      </p:cxnSp>
      <p:cxnSp>
        <p:nvCxnSpPr>
          <p:cNvPr id="6146" name="Google Shape;6146;p126"/>
          <p:cNvCxnSpPr/>
          <p:nvPr/>
        </p:nvCxnSpPr>
        <p:spPr>
          <a:xfrm>
            <a:off x="8028454" y="2697162"/>
            <a:ext cx="0" cy="177800"/>
          </a:xfrm>
          <a:prstGeom prst="straightConnector1">
            <a:avLst/>
          </a:prstGeom>
          <a:noFill/>
          <a:ln cap="flat" cmpd="sng" w="9525">
            <a:solidFill>
              <a:srgbClr val="000000"/>
            </a:solidFill>
            <a:prstDash val="solid"/>
            <a:round/>
            <a:headEnd len="med" w="med" type="triangle"/>
            <a:tailEnd len="med" w="med" type="none"/>
          </a:ln>
        </p:spPr>
      </p:cxnSp>
      <p:cxnSp>
        <p:nvCxnSpPr>
          <p:cNvPr id="6147" name="Google Shape;6147;p126"/>
          <p:cNvCxnSpPr/>
          <p:nvPr/>
        </p:nvCxnSpPr>
        <p:spPr>
          <a:xfrm>
            <a:off x="8026867" y="3121024"/>
            <a:ext cx="0" cy="954088"/>
          </a:xfrm>
          <a:prstGeom prst="straightConnector1">
            <a:avLst/>
          </a:prstGeom>
          <a:noFill/>
          <a:ln cap="flat" cmpd="sng" w="9525">
            <a:solidFill>
              <a:srgbClr val="000000"/>
            </a:solidFill>
            <a:prstDash val="solid"/>
            <a:round/>
            <a:headEnd len="med" w="med" type="none"/>
            <a:tailEnd len="med" w="med" type="triangle"/>
          </a:ln>
        </p:spPr>
      </p:cxnSp>
      <p:sp>
        <p:nvSpPr>
          <p:cNvPr id="6148" name="Google Shape;6148;p126"/>
          <p:cNvSpPr txBox="1"/>
          <p:nvPr/>
        </p:nvSpPr>
        <p:spPr>
          <a:xfrm>
            <a:off x="6874342" y="2857499"/>
            <a:ext cx="1284287" cy="3365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Courier New"/>
              <a:buNone/>
            </a:pPr>
            <a:r>
              <a:rPr b="1" i="0" lang="en-US" sz="1600" u="none" cap="none" strike="noStrike">
                <a:solidFill>
                  <a:srgbClr val="000000"/>
                </a:solidFill>
                <a:latin typeface="Courier New"/>
                <a:ea typeface="Courier New"/>
                <a:cs typeface="Courier New"/>
                <a:sym typeface="Courier New"/>
              </a:rPr>
              <a:t>RcvBuffer</a:t>
            </a:r>
            <a:endParaRPr/>
          </a:p>
        </p:txBody>
      </p:sp>
      <p:sp>
        <p:nvSpPr>
          <p:cNvPr id="6149" name="Google Shape;6149;p126"/>
          <p:cNvSpPr txBox="1"/>
          <p:nvPr/>
        </p:nvSpPr>
        <p:spPr>
          <a:xfrm>
            <a:off x="8152610" y="4486274"/>
            <a:ext cx="252505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TCP segment payloads</a:t>
            </a:r>
            <a:endParaRPr/>
          </a:p>
        </p:txBody>
      </p:sp>
      <p:sp>
        <p:nvSpPr>
          <p:cNvPr id="6150" name="Google Shape;6150;p126"/>
          <p:cNvSpPr txBox="1"/>
          <p:nvPr/>
        </p:nvSpPr>
        <p:spPr>
          <a:xfrm>
            <a:off x="8203635" y="1985962"/>
            <a:ext cx="2478564"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to application process</a:t>
            </a:r>
            <a:endParaRPr/>
          </a:p>
        </p:txBody>
      </p:sp>
      <p:sp>
        <p:nvSpPr>
          <p:cNvPr id="6151" name="Google Shape;6151;p126"/>
          <p:cNvSpPr txBox="1"/>
          <p:nvPr/>
        </p:nvSpPr>
        <p:spPr>
          <a:xfrm>
            <a:off x="7554658" y="5138737"/>
            <a:ext cx="3563796"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receiver-side buffering</a:t>
            </a:r>
            <a:endParaRPr/>
          </a:p>
        </p:txBody>
      </p:sp>
      <p:sp>
        <p:nvSpPr>
          <p:cNvPr id="6152" name="Google Shape;6152;p12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
        <p:nvSpPr>
          <p:cNvPr id="6153" name="Google Shape;6153;p126"/>
          <p:cNvSpPr txBox="1"/>
          <p:nvPr/>
        </p:nvSpPr>
        <p:spPr>
          <a:xfrm>
            <a:off x="7459918" y="5737223"/>
            <a:ext cx="3897312" cy="36988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Courier New"/>
                <a:ea typeface="Courier New"/>
                <a:cs typeface="Courier New"/>
                <a:sym typeface="Courier New"/>
              </a:rPr>
              <a:t>RcvBuffer </a:t>
            </a:r>
            <a:r>
              <a:rPr lang="en-US" sz="1800">
                <a:solidFill>
                  <a:schemeClr val="dk1"/>
                </a:solidFill>
                <a:latin typeface="Arial"/>
                <a:ea typeface="Arial"/>
                <a:cs typeface="Arial"/>
                <a:sym typeface="Arial"/>
              </a:rPr>
              <a:t>🡪 received buffer data</a:t>
            </a:r>
            <a:endParaRPr/>
          </a:p>
        </p:txBody>
      </p:sp>
      <p:sp>
        <p:nvSpPr>
          <p:cNvPr id="6154" name="Google Shape;6154;p126"/>
          <p:cNvSpPr txBox="1"/>
          <p:nvPr/>
        </p:nvSpPr>
        <p:spPr>
          <a:xfrm>
            <a:off x="7498044" y="6116695"/>
            <a:ext cx="377190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lang="en-US" sz="1800">
                <a:solidFill>
                  <a:schemeClr val="dk1"/>
                </a:solidFill>
                <a:latin typeface="Courier New"/>
                <a:ea typeface="Courier New"/>
                <a:cs typeface="Courier New"/>
                <a:sym typeface="Courier New"/>
              </a:rPr>
              <a:t>rwnd </a:t>
            </a:r>
            <a:r>
              <a:rPr lang="en-US" sz="1800">
                <a:solidFill>
                  <a:schemeClr val="dk1"/>
                </a:solidFill>
                <a:latin typeface="Arial"/>
                <a:ea typeface="Arial"/>
                <a:cs typeface="Arial"/>
                <a:sym typeface="Arial"/>
              </a:rPr>
              <a:t>🡪 received window size</a:t>
            </a:r>
            <a:endParaRPr/>
          </a:p>
        </p:txBody>
      </p:sp>
    </p:spTree>
  </p:cSld>
  <p:clrMapOvr>
    <a:masterClrMapping/>
  </p:clrMapOvr>
  <p:transition spd="med">
    <p:fade/>
  </p:transition>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9" name="Shape 6159"/>
        <p:cNvGrpSpPr/>
        <p:nvPr/>
      </p:nvGrpSpPr>
      <p:grpSpPr>
        <a:xfrm>
          <a:off x="0" y="0"/>
          <a:ext cx="0" cy="0"/>
          <a:chOff x="0" y="0"/>
          <a:chExt cx="0" cy="0"/>
        </a:xfrm>
      </p:grpSpPr>
      <p:sp>
        <p:nvSpPr>
          <p:cNvPr id="6160" name="Google Shape;6160;p127"/>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flow control</a:t>
            </a:r>
            <a:endParaRPr b="0" sz="4400"/>
          </a:p>
        </p:txBody>
      </p:sp>
      <p:sp>
        <p:nvSpPr>
          <p:cNvPr id="6161" name="Google Shape;6161;p127"/>
          <p:cNvSpPr txBox="1"/>
          <p:nvPr/>
        </p:nvSpPr>
        <p:spPr>
          <a:xfrm>
            <a:off x="668940" y="1485900"/>
            <a:ext cx="5826405" cy="490696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receiver “advertises” free buffer space in </a:t>
            </a:r>
            <a:r>
              <a:rPr b="1" i="0" lang="en-US" sz="2800" u="none" cap="none" strike="noStrike">
                <a:solidFill>
                  <a:srgbClr val="000000"/>
                </a:solidFill>
                <a:latin typeface="Courier New"/>
                <a:ea typeface="Courier New"/>
                <a:cs typeface="Courier New"/>
                <a:sym typeface="Courier New"/>
              </a:rPr>
              <a:t>rwnd</a:t>
            </a:r>
            <a:r>
              <a:rPr b="0" i="0" lang="en-US" sz="2800" u="none" cap="none" strike="noStrike">
                <a:solidFill>
                  <a:srgbClr val="000000"/>
                </a:solidFill>
                <a:latin typeface="Calibri"/>
                <a:ea typeface="Calibri"/>
                <a:cs typeface="Calibri"/>
                <a:sym typeface="Calibri"/>
              </a:rPr>
              <a:t> field in TCP header</a:t>
            </a:r>
            <a:endParaRPr/>
          </a:p>
          <a:p>
            <a:pPr indent="-231775" lvl="1" marL="695325" marR="0" rtl="0" algn="l">
              <a:lnSpc>
                <a:spcPct val="100000"/>
              </a:lnSpc>
              <a:spcBef>
                <a:spcPts val="500"/>
              </a:spcBef>
              <a:spcAft>
                <a:spcPts val="0"/>
              </a:spcAft>
              <a:buClr>
                <a:srgbClr val="0000A8"/>
              </a:buClr>
              <a:buSzPts val="2400"/>
              <a:buFont typeface="Arial"/>
              <a:buChar char="•"/>
            </a:pPr>
            <a:r>
              <a:rPr b="1" i="0" lang="en-US" sz="2400" u="none" cap="none" strike="noStrike">
                <a:solidFill>
                  <a:srgbClr val="000000"/>
                </a:solidFill>
                <a:latin typeface="Courier New"/>
                <a:ea typeface="Courier New"/>
                <a:cs typeface="Courier New"/>
                <a:sym typeface="Courier New"/>
              </a:rPr>
              <a:t>RcvBuffer </a:t>
            </a:r>
            <a:r>
              <a:rPr b="0" i="0" lang="en-US" sz="2400" u="none" cap="none" strike="noStrike">
                <a:solidFill>
                  <a:srgbClr val="000000"/>
                </a:solidFill>
                <a:latin typeface="Calibri"/>
                <a:ea typeface="Calibri"/>
                <a:cs typeface="Calibri"/>
                <a:sym typeface="Calibri"/>
              </a:rPr>
              <a:t>size set via socket options (typical default is 4096 bytes)</a:t>
            </a:r>
            <a:endParaRPr/>
          </a:p>
          <a:p>
            <a:pPr indent="-231775" lvl="1" marL="695325" marR="0" rtl="0" algn="l">
              <a:lnSpc>
                <a:spcPct val="10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many operating systems autoadjust </a:t>
            </a:r>
            <a:r>
              <a:rPr b="1" i="0" lang="en-US" sz="2400" u="none" cap="none" strike="noStrike">
                <a:solidFill>
                  <a:srgbClr val="000000"/>
                </a:solidFill>
                <a:latin typeface="Courier New"/>
                <a:ea typeface="Courier New"/>
                <a:cs typeface="Courier New"/>
                <a:sym typeface="Courier New"/>
              </a:rPr>
              <a:t>RcvBuffer</a:t>
            </a:r>
            <a:endParaRPr b="0" i="0" sz="2400" u="none" cap="none" strike="noStrike">
              <a:solidFill>
                <a:srgbClr val="000000"/>
              </a:solidFill>
              <a:latin typeface="Calibri"/>
              <a:ea typeface="Calibri"/>
              <a:cs typeface="Calibri"/>
              <a:sym typeface="Calibri"/>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limits amount of unACKed (“in-flight”) data to received </a:t>
            </a:r>
            <a:r>
              <a:rPr b="1" i="0" lang="en-US" sz="2800" u="none" cap="none" strike="noStrike">
                <a:solidFill>
                  <a:srgbClr val="000000"/>
                </a:solidFill>
                <a:latin typeface="Courier New"/>
                <a:ea typeface="Courier New"/>
                <a:cs typeface="Courier New"/>
                <a:sym typeface="Courier New"/>
              </a:rPr>
              <a:t>rwnd</a:t>
            </a:r>
            <a:endParaRPr b="1" i="0" sz="2800" u="none" cap="none" strike="noStrike">
              <a:solidFill>
                <a:srgbClr val="000000"/>
              </a:solidFill>
              <a:latin typeface="Courier New"/>
              <a:ea typeface="Courier New"/>
              <a:cs typeface="Courier New"/>
              <a:sym typeface="Courier New"/>
            </a:endParaRPr>
          </a:p>
          <a:p>
            <a:pPr indent="-222250" lvl="0" marL="352425" marR="0" rtl="0" algn="l">
              <a:lnSpc>
                <a:spcPct val="10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guarantees receive buffer will not overflow</a:t>
            </a:r>
            <a:endParaRPr/>
          </a:p>
        </p:txBody>
      </p:sp>
      <p:grpSp>
        <p:nvGrpSpPr>
          <p:cNvPr id="6162" name="Google Shape;6162;p127"/>
          <p:cNvGrpSpPr/>
          <p:nvPr/>
        </p:nvGrpSpPr>
        <p:grpSpPr>
          <a:xfrm>
            <a:off x="7363745" y="1068614"/>
            <a:ext cx="4349284" cy="5165818"/>
            <a:chOff x="7334716" y="821871"/>
            <a:chExt cx="4349284" cy="5165818"/>
          </a:xfrm>
        </p:grpSpPr>
        <p:sp>
          <p:nvSpPr>
            <p:cNvPr id="6163" name="Google Shape;6163;p127"/>
            <p:cNvSpPr txBox="1"/>
            <p:nvPr/>
          </p:nvSpPr>
          <p:spPr>
            <a:xfrm>
              <a:off x="7334716" y="821871"/>
              <a:ext cx="4349284" cy="3416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flow control: </a:t>
              </a:r>
              <a:r>
                <a:rPr b="0" i="0" lang="en-US" sz="1600" u="none" cap="none" strike="noStrike">
                  <a:solidFill>
                    <a:srgbClr val="000000"/>
                  </a:solidFill>
                  <a:latin typeface="Calibri"/>
                  <a:ea typeface="Calibri"/>
                  <a:cs typeface="Calibri"/>
                  <a:sym typeface="Calibri"/>
                </a:rPr>
                <a:t># bytes receiver willing to accept</a:t>
              </a:r>
              <a:endParaRPr b="0" i="0" sz="1800" u="none" cap="none" strike="noStrike">
                <a:solidFill>
                  <a:srgbClr val="000000"/>
                </a:solidFill>
                <a:latin typeface="Calibri"/>
                <a:ea typeface="Calibri"/>
                <a:cs typeface="Calibri"/>
                <a:sym typeface="Calibri"/>
              </a:endParaRPr>
            </a:p>
          </p:txBody>
        </p:sp>
        <p:grpSp>
          <p:nvGrpSpPr>
            <p:cNvPr id="6164" name="Google Shape;6164;p127"/>
            <p:cNvGrpSpPr/>
            <p:nvPr/>
          </p:nvGrpSpPr>
          <p:grpSpPr>
            <a:xfrm>
              <a:off x="7490842" y="1445945"/>
              <a:ext cx="3173211" cy="4078555"/>
              <a:chOff x="7157014" y="1873079"/>
              <a:chExt cx="2251592" cy="2800562"/>
            </a:xfrm>
          </p:grpSpPr>
          <p:sp>
            <p:nvSpPr>
              <p:cNvPr id="6165" name="Google Shape;6165;p127"/>
              <p:cNvSpPr/>
              <p:nvPr/>
            </p:nvSpPr>
            <p:spPr>
              <a:xfrm>
                <a:off x="7206558" y="1873079"/>
                <a:ext cx="2202048" cy="274545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50"/>
                  <a:buFont typeface="Calibri"/>
                  <a:buNone/>
                </a:pPr>
                <a:r>
                  <a:t/>
                </a:r>
                <a:endParaRPr b="0" i="0" sz="1050" u="none" cap="none" strike="noStrike">
                  <a:solidFill>
                    <a:srgbClr val="000000"/>
                  </a:solidFill>
                  <a:latin typeface="Tahoma"/>
                  <a:ea typeface="Tahoma"/>
                  <a:cs typeface="Tahoma"/>
                  <a:sym typeface="Tahoma"/>
                </a:endParaRPr>
              </a:p>
            </p:txBody>
          </p:sp>
          <p:sp>
            <p:nvSpPr>
              <p:cNvPr id="6166" name="Google Shape;6166;p127"/>
              <p:cNvSpPr/>
              <p:nvPr/>
            </p:nvSpPr>
            <p:spPr>
              <a:xfrm>
                <a:off x="7158783" y="1939027"/>
                <a:ext cx="2202048" cy="2734614"/>
              </a:xfrm>
              <a:prstGeom prst="rect">
                <a:avLst/>
              </a:prstGeom>
              <a:solidFill>
                <a:srgbClr val="FFFFFF"/>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cxnSp>
            <p:nvCxnSpPr>
              <p:cNvPr id="6167" name="Google Shape;6167;p127"/>
              <p:cNvCxnSpPr/>
              <p:nvPr/>
            </p:nvCxnSpPr>
            <p:spPr>
              <a:xfrm>
                <a:off x="7160553" y="2152232"/>
                <a:ext cx="2199395" cy="2711"/>
              </a:xfrm>
              <a:prstGeom prst="straightConnector1">
                <a:avLst/>
              </a:prstGeom>
              <a:noFill/>
              <a:ln cap="flat" cmpd="sng" w="19050">
                <a:solidFill>
                  <a:srgbClr val="000000"/>
                </a:solidFill>
                <a:prstDash val="solid"/>
                <a:round/>
                <a:headEnd len="med" w="med" type="none"/>
                <a:tailEnd len="med" w="med" type="none"/>
              </a:ln>
            </p:spPr>
          </p:cxnSp>
          <p:cxnSp>
            <p:nvCxnSpPr>
              <p:cNvPr id="6168" name="Google Shape;6168;p127"/>
              <p:cNvCxnSpPr/>
              <p:nvPr/>
            </p:nvCxnSpPr>
            <p:spPr>
              <a:xfrm>
                <a:off x="7157014" y="2368146"/>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6169" name="Google Shape;6169;p127"/>
              <p:cNvCxnSpPr/>
              <p:nvPr/>
            </p:nvCxnSpPr>
            <p:spPr>
              <a:xfrm>
                <a:off x="7162322" y="2584964"/>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6170" name="Google Shape;6170;p127"/>
              <p:cNvCxnSpPr/>
              <p:nvPr/>
            </p:nvCxnSpPr>
            <p:spPr>
              <a:xfrm>
                <a:off x="7159668" y="2809912"/>
                <a:ext cx="2202049" cy="0"/>
              </a:xfrm>
              <a:prstGeom prst="straightConnector1">
                <a:avLst/>
              </a:prstGeom>
              <a:noFill/>
              <a:ln cap="flat" cmpd="sng" w="19050">
                <a:solidFill>
                  <a:srgbClr val="000000"/>
                </a:solidFill>
                <a:prstDash val="solid"/>
                <a:round/>
                <a:headEnd len="med" w="med" type="none"/>
                <a:tailEnd len="med" w="med" type="none"/>
              </a:ln>
            </p:spPr>
          </p:cxnSp>
          <p:cxnSp>
            <p:nvCxnSpPr>
              <p:cNvPr id="6171" name="Google Shape;6171;p127"/>
              <p:cNvCxnSpPr/>
              <p:nvPr/>
            </p:nvCxnSpPr>
            <p:spPr>
              <a:xfrm>
                <a:off x="7157014" y="3032150"/>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6172" name="Google Shape;6172;p127"/>
              <p:cNvCxnSpPr/>
              <p:nvPr/>
            </p:nvCxnSpPr>
            <p:spPr>
              <a:xfrm>
                <a:off x="7157014" y="3351956"/>
                <a:ext cx="2202048" cy="0"/>
              </a:xfrm>
              <a:prstGeom prst="straightConnector1">
                <a:avLst/>
              </a:prstGeom>
              <a:noFill/>
              <a:ln cap="flat" cmpd="sng" w="19050">
                <a:solidFill>
                  <a:srgbClr val="000000"/>
                </a:solidFill>
                <a:prstDash val="solid"/>
                <a:round/>
                <a:headEnd len="med" w="med" type="none"/>
                <a:tailEnd len="med" w="med" type="none"/>
              </a:ln>
            </p:spPr>
          </p:cxnSp>
          <p:cxnSp>
            <p:nvCxnSpPr>
              <p:cNvPr id="6173" name="Google Shape;6173;p127"/>
              <p:cNvCxnSpPr/>
              <p:nvPr/>
            </p:nvCxnSpPr>
            <p:spPr>
              <a:xfrm rot="10800000">
                <a:off x="8249633" y="2586771"/>
                <a:ext cx="2654" cy="442669"/>
              </a:xfrm>
              <a:prstGeom prst="straightConnector1">
                <a:avLst/>
              </a:prstGeom>
              <a:noFill/>
              <a:ln cap="flat" cmpd="sng" w="19050">
                <a:solidFill>
                  <a:srgbClr val="000000"/>
                </a:solidFill>
                <a:prstDash val="solid"/>
                <a:round/>
                <a:headEnd len="med" w="med" type="none"/>
                <a:tailEnd len="med" w="med" type="none"/>
              </a:ln>
            </p:spPr>
          </p:cxnSp>
          <p:sp>
            <p:nvSpPr>
              <p:cNvPr id="6174" name="Google Shape;6174;p127"/>
              <p:cNvSpPr txBox="1"/>
              <p:nvPr/>
            </p:nvSpPr>
            <p:spPr>
              <a:xfrm>
                <a:off x="8220544" y="2572087"/>
                <a:ext cx="1124010" cy="23247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 window</a:t>
                </a:r>
                <a:endParaRPr/>
              </a:p>
            </p:txBody>
          </p:sp>
          <p:cxnSp>
            <p:nvCxnSpPr>
              <p:cNvPr id="6175" name="Google Shape;6175;p127"/>
              <p:cNvCxnSpPr/>
              <p:nvPr/>
            </p:nvCxnSpPr>
            <p:spPr>
              <a:xfrm rot="10800000">
                <a:off x="8241671" y="1940977"/>
                <a:ext cx="981" cy="207817"/>
              </a:xfrm>
              <a:prstGeom prst="straightConnector1">
                <a:avLst/>
              </a:prstGeom>
              <a:noFill/>
              <a:ln cap="flat" cmpd="sng" w="19050">
                <a:solidFill>
                  <a:srgbClr val="000000"/>
                </a:solidFill>
                <a:prstDash val="solid"/>
                <a:round/>
                <a:headEnd len="med" w="med" type="none"/>
                <a:tailEnd len="med" w="med" type="none"/>
              </a:ln>
            </p:spPr>
          </p:cxnSp>
        </p:grpSp>
        <p:cxnSp>
          <p:nvCxnSpPr>
            <p:cNvPr id="6176" name="Google Shape;6176;p127"/>
            <p:cNvCxnSpPr/>
            <p:nvPr/>
          </p:nvCxnSpPr>
          <p:spPr>
            <a:xfrm rot="10800000">
              <a:off x="7968285" y="1150408"/>
              <a:ext cx="1233771" cy="1404106"/>
            </a:xfrm>
            <a:prstGeom prst="straightConnector1">
              <a:avLst/>
            </a:prstGeom>
            <a:noFill/>
            <a:ln cap="flat" cmpd="sng" w="19050">
              <a:solidFill>
                <a:srgbClr val="C00000"/>
              </a:solidFill>
              <a:prstDash val="solid"/>
              <a:round/>
              <a:headEnd len="med" w="med" type="none"/>
              <a:tailEnd len="med" w="med" type="none"/>
            </a:ln>
          </p:spPr>
        </p:cxnSp>
        <p:sp>
          <p:nvSpPr>
            <p:cNvPr id="6177" name="Google Shape;6177;p127"/>
            <p:cNvSpPr txBox="1"/>
            <p:nvPr/>
          </p:nvSpPr>
          <p:spPr>
            <a:xfrm>
              <a:off x="8125744" y="5646057"/>
              <a:ext cx="2310027" cy="3416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TCP segment format</a:t>
              </a:r>
              <a:endParaRPr/>
            </a:p>
          </p:txBody>
        </p:sp>
      </p:grpSp>
      <p:sp>
        <p:nvSpPr>
          <p:cNvPr id="6178" name="Google Shape;6178;p1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2" name="Shape 6182"/>
        <p:cNvGrpSpPr/>
        <p:nvPr/>
      </p:nvGrpSpPr>
      <p:grpSpPr>
        <a:xfrm>
          <a:off x="0" y="0"/>
          <a:ext cx="0" cy="0"/>
          <a:chOff x="0" y="0"/>
          <a:chExt cx="0" cy="0"/>
        </a:xfrm>
      </p:grpSpPr>
      <p:sp>
        <p:nvSpPr>
          <p:cNvPr id="6183" name="Google Shape;6183;p128"/>
          <p:cNvSpPr txBox="1"/>
          <p:nvPr>
            <p:ph type="title"/>
          </p:nvPr>
        </p:nvSpPr>
        <p:spPr>
          <a:xfrm>
            <a:off x="1865313" y="171451"/>
            <a:ext cx="7772400" cy="9747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Example: TCP flow control</a:t>
            </a:r>
            <a:endParaRPr/>
          </a:p>
        </p:txBody>
      </p:sp>
      <p:sp>
        <p:nvSpPr>
          <p:cNvPr id="6184" name="Google Shape;6184;p128"/>
          <p:cNvSpPr txBox="1"/>
          <p:nvPr/>
        </p:nvSpPr>
        <p:spPr>
          <a:xfrm>
            <a:off x="2166939" y="1031876"/>
            <a:ext cx="8231187" cy="5389563"/>
          </a:xfrm>
          <a:prstGeom prst="rect">
            <a:avLst/>
          </a:prstGeom>
          <a:noFill/>
          <a:ln>
            <a:noFill/>
          </a:ln>
        </p:spPr>
        <p:txBody>
          <a:bodyPr anchorCtr="0" anchor="t" bIns="45700" lIns="91425" spcFirstLastPara="1" rIns="91425" wrap="square" tIns="45700">
            <a:noAutofit/>
          </a:bodyPr>
          <a:lstStyle/>
          <a:p>
            <a:pPr indent="-284163" lvl="0" marL="284163" marR="0" rtl="0" algn="l">
              <a:lnSpc>
                <a:spcPct val="100000"/>
              </a:lnSpc>
              <a:spcBef>
                <a:spcPts val="0"/>
              </a:spcBef>
              <a:spcAft>
                <a:spcPts val="0"/>
              </a:spcAft>
              <a:buClr>
                <a:srgbClr val="000099"/>
              </a:buClr>
              <a:buSzPts val="2400"/>
              <a:buFont typeface="Noto Sans Symbols"/>
              <a:buChar char="▪"/>
            </a:pPr>
            <a:r>
              <a:rPr lang="en-US" sz="2400">
                <a:solidFill>
                  <a:schemeClr val="dk1"/>
                </a:solidFill>
                <a:latin typeface="Calibri"/>
                <a:ea typeface="Calibri"/>
                <a:cs typeface="Calibri"/>
                <a:sym typeface="Calibri"/>
              </a:rPr>
              <a:t>Initially, the send and receive buffer are empty.</a:t>
            </a:r>
            <a:endParaRPr/>
          </a:p>
          <a:p>
            <a:pPr indent="-284163" lvl="0" marL="284163" marR="0" rtl="0" algn="l">
              <a:lnSpc>
                <a:spcPct val="100000"/>
              </a:lnSpc>
              <a:spcBef>
                <a:spcPts val="480"/>
              </a:spcBef>
              <a:spcAft>
                <a:spcPts val="0"/>
              </a:spcAft>
              <a:buClr>
                <a:srgbClr val="000099"/>
              </a:buClr>
              <a:buSzPts val="2400"/>
              <a:buFont typeface="Noto Sans Symbols"/>
              <a:buChar char="▪"/>
            </a:pPr>
            <a:r>
              <a:rPr lang="en-US" sz="2400">
                <a:solidFill>
                  <a:schemeClr val="dk1"/>
                </a:solidFill>
                <a:latin typeface="Calibri"/>
                <a:ea typeface="Calibri"/>
                <a:cs typeface="Calibri"/>
                <a:sym typeface="Calibri"/>
              </a:rPr>
              <a:t>Receiver advertises a window of </a:t>
            </a:r>
            <a:r>
              <a:rPr b="1" lang="en-US" sz="2400">
                <a:solidFill>
                  <a:srgbClr val="FF0000"/>
                </a:solidFill>
                <a:latin typeface="Calibri"/>
                <a:ea typeface="Calibri"/>
                <a:cs typeface="Calibri"/>
                <a:sym typeface="Calibri"/>
              </a:rPr>
              <a:t>100 K bytes</a:t>
            </a:r>
            <a:r>
              <a:rPr lang="en-US" sz="2400">
                <a:solidFill>
                  <a:schemeClr val="dk1"/>
                </a:solidFill>
                <a:latin typeface="Calibri"/>
                <a:ea typeface="Calibri"/>
                <a:cs typeface="Calibri"/>
                <a:sym typeface="Calibri"/>
              </a:rPr>
              <a:t>.</a:t>
            </a:r>
            <a:endParaRPr/>
          </a:p>
          <a:p>
            <a:pPr indent="-119063" lvl="0" marL="284163" marR="0" rtl="0" algn="l">
              <a:lnSpc>
                <a:spcPct val="100000"/>
              </a:lnSpc>
              <a:spcBef>
                <a:spcPts val="520"/>
              </a:spcBef>
              <a:spcAft>
                <a:spcPts val="0"/>
              </a:spcAft>
              <a:buClr>
                <a:srgbClr val="000099"/>
              </a:buClr>
              <a:buSzPts val="2600"/>
              <a:buFont typeface="Noto Sans Symbols"/>
              <a:buNone/>
            </a:pPr>
            <a:r>
              <a:t/>
            </a:r>
            <a:endParaRPr sz="2600">
              <a:solidFill>
                <a:schemeClr val="dk1"/>
              </a:solidFill>
              <a:latin typeface="Arial"/>
              <a:ea typeface="Arial"/>
              <a:cs typeface="Arial"/>
              <a:sym typeface="Arial"/>
            </a:endParaRPr>
          </a:p>
        </p:txBody>
      </p:sp>
      <p:pic>
        <p:nvPicPr>
          <p:cNvPr id="6185" name="Google Shape;6185;p128"/>
          <p:cNvPicPr preferRelativeResize="0"/>
          <p:nvPr/>
        </p:nvPicPr>
        <p:blipFill rotWithShape="1">
          <a:blip r:embed="rId3">
            <a:alphaModFix/>
          </a:blip>
          <a:srcRect b="0" l="0" r="0" t="0"/>
          <a:stretch/>
        </p:blipFill>
        <p:spPr>
          <a:xfrm>
            <a:off x="1974850" y="2062163"/>
            <a:ext cx="8242300" cy="3327400"/>
          </a:xfrm>
          <a:prstGeom prst="rect">
            <a:avLst/>
          </a:prstGeom>
          <a:noFill/>
          <a:ln>
            <a:noFill/>
          </a:ln>
        </p:spPr>
      </p:pic>
      <p:sp>
        <p:nvSpPr>
          <p:cNvPr id="6186" name="Google Shape;6186;p128"/>
          <p:cNvSpPr/>
          <p:nvPr/>
        </p:nvSpPr>
        <p:spPr>
          <a:xfrm>
            <a:off x="1614488" y="1049338"/>
            <a:ext cx="552450" cy="531812"/>
          </a:xfrm>
          <a:prstGeom prst="octagon">
            <a:avLst>
              <a:gd fmla="val 29287" name="adj"/>
            </a:avLst>
          </a:prstGeom>
          <a:solidFill>
            <a:srgbClr val="FFC000"/>
          </a:solidFill>
          <a:ln cap="flat" cmpd="sng" w="9525">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70C0"/>
              </a:buClr>
              <a:buSzPts val="2000"/>
              <a:buFont typeface="Noto Sans Symbols"/>
              <a:buNone/>
            </a:pPr>
            <a:r>
              <a:rPr lang="en-US" sz="2000">
                <a:solidFill>
                  <a:srgbClr val="0070C0"/>
                </a:solidFill>
                <a:latin typeface="Tahoma"/>
                <a:ea typeface="Tahoma"/>
                <a:cs typeface="Tahoma"/>
                <a:sym typeface="Tahoma"/>
              </a:rPr>
              <a:t>1</a:t>
            </a:r>
            <a:endParaRPr/>
          </a:p>
        </p:txBody>
      </p:sp>
      <p:sp>
        <p:nvSpPr>
          <p:cNvPr id="6187" name="Google Shape;6187;p128"/>
          <p:cNvSpPr/>
          <p:nvPr/>
        </p:nvSpPr>
        <p:spPr>
          <a:xfrm>
            <a:off x="5638800" y="4483100"/>
            <a:ext cx="4368800" cy="10795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188" name="Google Shape;6188;p128"/>
          <p:cNvSpPr/>
          <p:nvPr/>
        </p:nvSpPr>
        <p:spPr>
          <a:xfrm>
            <a:off x="8458200" y="3810000"/>
            <a:ext cx="292100" cy="7112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nvGrpSpPr>
          <p:cNvPr id="6189" name="Google Shape;6189;p128"/>
          <p:cNvGrpSpPr/>
          <p:nvPr/>
        </p:nvGrpSpPr>
        <p:grpSpPr>
          <a:xfrm>
            <a:off x="4216400" y="3937000"/>
            <a:ext cx="4876800" cy="1892300"/>
            <a:chOff x="2590800" y="3962400"/>
            <a:chExt cx="4876800" cy="1892300"/>
          </a:xfrm>
        </p:grpSpPr>
        <p:sp>
          <p:nvSpPr>
            <p:cNvPr id="6190" name="Google Shape;6190;p128"/>
            <p:cNvSpPr/>
            <p:nvPr/>
          </p:nvSpPr>
          <p:spPr>
            <a:xfrm>
              <a:off x="4025900" y="5321300"/>
              <a:ext cx="3441700" cy="533400"/>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000"/>
                <a:buFont typeface="Noto Sans Symbols"/>
                <a:buNone/>
              </a:pPr>
              <a:r>
                <a:rPr lang="en-US" sz="2000">
                  <a:solidFill>
                    <a:srgbClr val="FF0000"/>
                  </a:solidFill>
                  <a:latin typeface="Tahoma"/>
                  <a:ea typeface="Tahoma"/>
                  <a:cs typeface="Tahoma"/>
                  <a:sym typeface="Tahoma"/>
                </a:rPr>
                <a:t>ACK, Adv Win = 100 K bytes</a:t>
              </a:r>
              <a:endParaRPr/>
            </a:p>
          </p:txBody>
        </p:sp>
        <p:cxnSp>
          <p:nvCxnSpPr>
            <p:cNvPr id="6191" name="Google Shape;6191;p128"/>
            <p:cNvCxnSpPr/>
            <p:nvPr/>
          </p:nvCxnSpPr>
          <p:spPr>
            <a:xfrm>
              <a:off x="6934200" y="3962400"/>
              <a:ext cx="0" cy="1282700"/>
            </a:xfrm>
            <a:prstGeom prst="straightConnector1">
              <a:avLst/>
            </a:prstGeom>
            <a:noFill/>
            <a:ln cap="flat" cmpd="sng" w="38100">
              <a:solidFill>
                <a:srgbClr val="0070C0"/>
              </a:solidFill>
              <a:prstDash val="solid"/>
              <a:round/>
              <a:headEnd len="med" w="med" type="none"/>
              <a:tailEnd len="med" w="med" type="triangle"/>
            </a:ln>
          </p:spPr>
        </p:cxnSp>
        <p:cxnSp>
          <p:nvCxnSpPr>
            <p:cNvPr id="6192" name="Google Shape;6192;p128"/>
            <p:cNvCxnSpPr/>
            <p:nvPr/>
          </p:nvCxnSpPr>
          <p:spPr>
            <a:xfrm rot="10800000">
              <a:off x="2590800" y="5588000"/>
              <a:ext cx="1295400" cy="0"/>
            </a:xfrm>
            <a:prstGeom prst="straightConnector1">
              <a:avLst/>
            </a:prstGeom>
            <a:noFill/>
            <a:ln cap="flat" cmpd="sng" w="38100">
              <a:solidFill>
                <a:srgbClr val="0070C0"/>
              </a:solidFill>
              <a:prstDash val="solid"/>
              <a:round/>
              <a:headEnd len="med" w="med" type="none"/>
              <a:tailEnd len="med" w="med" type="triangle"/>
            </a:ln>
          </p:spPr>
        </p:cxnSp>
      </p:grpSp>
      <p:sp>
        <p:nvSpPr>
          <p:cNvPr id="6193" name="Google Shape;6193;p1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7" name="Shape 6197"/>
        <p:cNvGrpSpPr/>
        <p:nvPr/>
      </p:nvGrpSpPr>
      <p:grpSpPr>
        <a:xfrm>
          <a:off x="0" y="0"/>
          <a:ext cx="0" cy="0"/>
          <a:chOff x="0" y="0"/>
          <a:chExt cx="0" cy="0"/>
        </a:xfrm>
      </p:grpSpPr>
      <p:sp>
        <p:nvSpPr>
          <p:cNvPr id="6198" name="Google Shape;6198;p129"/>
          <p:cNvSpPr txBox="1"/>
          <p:nvPr>
            <p:ph type="title"/>
          </p:nvPr>
        </p:nvSpPr>
        <p:spPr>
          <a:xfrm>
            <a:off x="1865313" y="171451"/>
            <a:ext cx="7772400" cy="9747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Example: TCP flow control</a:t>
            </a:r>
            <a:endParaRPr/>
          </a:p>
        </p:txBody>
      </p:sp>
      <p:sp>
        <p:nvSpPr>
          <p:cNvPr id="6199" name="Google Shape;6199;p129"/>
          <p:cNvSpPr txBox="1"/>
          <p:nvPr/>
        </p:nvSpPr>
        <p:spPr>
          <a:xfrm>
            <a:off x="2166939" y="895350"/>
            <a:ext cx="8231187" cy="5391150"/>
          </a:xfrm>
          <a:prstGeom prst="rect">
            <a:avLst/>
          </a:prstGeom>
          <a:noFill/>
          <a:ln>
            <a:noFill/>
          </a:ln>
        </p:spPr>
        <p:txBody>
          <a:bodyPr anchorCtr="0" anchor="t" bIns="45700" lIns="91425" spcFirstLastPara="1" rIns="91425" wrap="square" tIns="45700">
            <a:noAutofit/>
          </a:bodyPr>
          <a:lstStyle/>
          <a:p>
            <a:pPr indent="-284163" lvl="0" marL="284163" marR="0" rtl="0" algn="l">
              <a:lnSpc>
                <a:spcPct val="100000"/>
              </a:lnSpc>
              <a:spcBef>
                <a:spcPts val="0"/>
              </a:spcBef>
              <a:spcAft>
                <a:spcPts val="0"/>
              </a:spcAft>
              <a:buClr>
                <a:srgbClr val="000099"/>
              </a:buClr>
              <a:buSzPts val="2100"/>
              <a:buFont typeface="Noto Sans Symbols"/>
              <a:buChar char="▪"/>
            </a:pPr>
            <a:r>
              <a:rPr lang="en-US" sz="2100">
                <a:solidFill>
                  <a:schemeClr val="dk1"/>
                </a:solidFill>
                <a:latin typeface="Calibri"/>
                <a:ea typeface="Calibri"/>
                <a:cs typeface="Calibri"/>
                <a:sym typeface="Calibri"/>
              </a:rPr>
              <a:t>Sender sends many packets quickly, faster than the receiver can process...</a:t>
            </a:r>
            <a:endParaRPr/>
          </a:p>
          <a:p>
            <a:pPr indent="-284163" lvl="0" marL="284163" marR="0" rtl="0" algn="l">
              <a:lnSpc>
                <a:spcPct val="100000"/>
              </a:lnSpc>
              <a:spcBef>
                <a:spcPts val="420"/>
              </a:spcBef>
              <a:spcAft>
                <a:spcPts val="0"/>
              </a:spcAft>
              <a:buClr>
                <a:srgbClr val="000099"/>
              </a:buClr>
              <a:buSzPts val="2100"/>
              <a:buFont typeface="Noto Sans Symbols"/>
              <a:buChar char="▪"/>
            </a:pPr>
            <a:r>
              <a:rPr lang="en-US" sz="2100">
                <a:solidFill>
                  <a:schemeClr val="dk1"/>
                </a:solidFill>
                <a:latin typeface="Calibri"/>
                <a:ea typeface="Calibri"/>
                <a:cs typeface="Calibri"/>
                <a:sym typeface="Calibri"/>
              </a:rPr>
              <a:t>the receive buffer starts to fill and soon the advertised window drops to </a:t>
            </a:r>
            <a:r>
              <a:rPr lang="en-US" sz="2100">
                <a:solidFill>
                  <a:srgbClr val="FF0000"/>
                </a:solidFill>
                <a:latin typeface="Calibri"/>
                <a:ea typeface="Calibri"/>
                <a:cs typeface="Calibri"/>
                <a:sym typeface="Calibri"/>
              </a:rPr>
              <a:t>50 K bytes</a:t>
            </a:r>
            <a:r>
              <a:rPr lang="en-US" sz="2100">
                <a:solidFill>
                  <a:schemeClr val="dk1"/>
                </a:solidFill>
                <a:latin typeface="Calibri"/>
                <a:ea typeface="Calibri"/>
                <a:cs typeface="Calibri"/>
                <a:sym typeface="Calibri"/>
              </a:rPr>
              <a:t>:</a:t>
            </a:r>
            <a:endParaRPr/>
          </a:p>
          <a:p>
            <a:pPr indent="-150813" lvl="0" marL="284163" marR="0" rtl="0" algn="l">
              <a:lnSpc>
                <a:spcPct val="100000"/>
              </a:lnSpc>
              <a:spcBef>
                <a:spcPts val="420"/>
              </a:spcBef>
              <a:spcAft>
                <a:spcPts val="0"/>
              </a:spcAft>
              <a:buClr>
                <a:srgbClr val="000099"/>
              </a:buClr>
              <a:buSzPts val="2100"/>
              <a:buFont typeface="Noto Sans Symbols"/>
              <a:buNone/>
            </a:pPr>
            <a:r>
              <a:t/>
            </a:r>
            <a:endParaRPr sz="2100">
              <a:solidFill>
                <a:schemeClr val="dk1"/>
              </a:solidFill>
              <a:latin typeface="Arial"/>
              <a:ea typeface="Arial"/>
              <a:cs typeface="Arial"/>
              <a:sym typeface="Arial"/>
            </a:endParaRPr>
          </a:p>
        </p:txBody>
      </p:sp>
      <p:sp>
        <p:nvSpPr>
          <p:cNvPr id="6200" name="Google Shape;6200;p129"/>
          <p:cNvSpPr/>
          <p:nvPr/>
        </p:nvSpPr>
        <p:spPr>
          <a:xfrm>
            <a:off x="1614488" y="1049338"/>
            <a:ext cx="552450" cy="531812"/>
          </a:xfrm>
          <a:prstGeom prst="octagon">
            <a:avLst>
              <a:gd fmla="val 29287" name="adj"/>
            </a:avLst>
          </a:prstGeom>
          <a:solidFill>
            <a:srgbClr val="FFC000"/>
          </a:solidFill>
          <a:ln cap="flat" cmpd="sng" w="9525">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70C0"/>
              </a:buClr>
              <a:buSzPts val="2000"/>
              <a:buFont typeface="Noto Sans Symbols"/>
              <a:buNone/>
            </a:pPr>
            <a:r>
              <a:rPr lang="en-US" sz="2000">
                <a:solidFill>
                  <a:srgbClr val="0070C0"/>
                </a:solidFill>
                <a:latin typeface="Tahoma"/>
                <a:ea typeface="Tahoma"/>
                <a:cs typeface="Tahoma"/>
                <a:sym typeface="Tahoma"/>
              </a:rPr>
              <a:t>2</a:t>
            </a:r>
            <a:endParaRPr/>
          </a:p>
        </p:txBody>
      </p:sp>
      <p:pic>
        <p:nvPicPr>
          <p:cNvPr id="6201" name="Google Shape;6201;p129"/>
          <p:cNvPicPr preferRelativeResize="0"/>
          <p:nvPr/>
        </p:nvPicPr>
        <p:blipFill rotWithShape="1">
          <a:blip r:embed="rId3">
            <a:alphaModFix/>
          </a:blip>
          <a:srcRect b="0" l="0" r="0" t="0"/>
          <a:stretch/>
        </p:blipFill>
        <p:spPr>
          <a:xfrm>
            <a:off x="2166938" y="2476500"/>
            <a:ext cx="8064500" cy="3314700"/>
          </a:xfrm>
          <a:prstGeom prst="rect">
            <a:avLst/>
          </a:prstGeom>
          <a:noFill/>
          <a:ln>
            <a:noFill/>
          </a:ln>
        </p:spPr>
      </p:pic>
      <p:sp>
        <p:nvSpPr>
          <p:cNvPr id="6202" name="Google Shape;6202;p129"/>
          <p:cNvSpPr/>
          <p:nvPr/>
        </p:nvSpPr>
        <p:spPr>
          <a:xfrm>
            <a:off x="5676900" y="4927600"/>
            <a:ext cx="4292600" cy="11430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203" name="Google Shape;6203;p129"/>
          <p:cNvSpPr/>
          <p:nvPr/>
        </p:nvSpPr>
        <p:spPr>
          <a:xfrm>
            <a:off x="8547100" y="4203700"/>
            <a:ext cx="304800" cy="7620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nvGrpSpPr>
          <p:cNvPr id="6204" name="Google Shape;6204;p129"/>
          <p:cNvGrpSpPr/>
          <p:nvPr/>
        </p:nvGrpSpPr>
        <p:grpSpPr>
          <a:xfrm>
            <a:off x="4749800" y="4254500"/>
            <a:ext cx="4622800" cy="1765300"/>
            <a:chOff x="3035300" y="4089400"/>
            <a:chExt cx="4622800" cy="1765300"/>
          </a:xfrm>
        </p:grpSpPr>
        <p:sp>
          <p:nvSpPr>
            <p:cNvPr id="6205" name="Google Shape;6205;p129"/>
            <p:cNvSpPr/>
            <p:nvPr/>
          </p:nvSpPr>
          <p:spPr>
            <a:xfrm>
              <a:off x="4445000" y="5321300"/>
              <a:ext cx="3213100" cy="533400"/>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000"/>
                <a:buFont typeface="Noto Sans Symbols"/>
                <a:buNone/>
              </a:pPr>
              <a:r>
                <a:rPr lang="en-US" sz="2000">
                  <a:solidFill>
                    <a:srgbClr val="FF0000"/>
                  </a:solidFill>
                  <a:latin typeface="Tahoma"/>
                  <a:ea typeface="Tahoma"/>
                  <a:cs typeface="Tahoma"/>
                  <a:sym typeface="Tahoma"/>
                </a:rPr>
                <a:t>ACK, Adv Win = 50 K bytes</a:t>
              </a:r>
              <a:endParaRPr/>
            </a:p>
          </p:txBody>
        </p:sp>
        <p:cxnSp>
          <p:nvCxnSpPr>
            <p:cNvPr id="6206" name="Google Shape;6206;p129"/>
            <p:cNvCxnSpPr/>
            <p:nvPr/>
          </p:nvCxnSpPr>
          <p:spPr>
            <a:xfrm>
              <a:off x="6934200" y="4089400"/>
              <a:ext cx="0" cy="1155700"/>
            </a:xfrm>
            <a:prstGeom prst="straightConnector1">
              <a:avLst/>
            </a:prstGeom>
            <a:noFill/>
            <a:ln cap="flat" cmpd="sng" w="38100">
              <a:solidFill>
                <a:srgbClr val="0070C0"/>
              </a:solidFill>
              <a:prstDash val="solid"/>
              <a:round/>
              <a:headEnd len="med" w="med" type="none"/>
              <a:tailEnd len="med" w="med" type="triangle"/>
            </a:ln>
          </p:spPr>
        </p:cxnSp>
        <p:cxnSp>
          <p:nvCxnSpPr>
            <p:cNvPr id="6207" name="Google Shape;6207;p129"/>
            <p:cNvCxnSpPr/>
            <p:nvPr/>
          </p:nvCxnSpPr>
          <p:spPr>
            <a:xfrm rot="10800000">
              <a:off x="3035300" y="5588000"/>
              <a:ext cx="1295400" cy="0"/>
            </a:xfrm>
            <a:prstGeom prst="straightConnector1">
              <a:avLst/>
            </a:prstGeom>
            <a:noFill/>
            <a:ln cap="flat" cmpd="sng" w="38100">
              <a:solidFill>
                <a:srgbClr val="0070C0"/>
              </a:solidFill>
              <a:prstDash val="solid"/>
              <a:round/>
              <a:headEnd len="med" w="med" type="none"/>
              <a:tailEnd len="med" w="med" type="triangle"/>
            </a:ln>
          </p:spPr>
        </p:cxnSp>
      </p:grpSp>
      <p:sp>
        <p:nvSpPr>
          <p:cNvPr id="6208" name="Google Shape;6208;p1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9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2" name="Shape 6212"/>
        <p:cNvGrpSpPr/>
        <p:nvPr/>
      </p:nvGrpSpPr>
      <p:grpSpPr>
        <a:xfrm>
          <a:off x="0" y="0"/>
          <a:ext cx="0" cy="0"/>
          <a:chOff x="0" y="0"/>
          <a:chExt cx="0" cy="0"/>
        </a:xfrm>
      </p:grpSpPr>
      <p:sp>
        <p:nvSpPr>
          <p:cNvPr id="6213" name="Google Shape;6213;p130"/>
          <p:cNvSpPr txBox="1"/>
          <p:nvPr>
            <p:ph type="title"/>
          </p:nvPr>
        </p:nvSpPr>
        <p:spPr>
          <a:xfrm>
            <a:off x="1865313" y="171451"/>
            <a:ext cx="7772400" cy="9747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Example: TCP flow control</a:t>
            </a:r>
            <a:endParaRPr/>
          </a:p>
        </p:txBody>
      </p:sp>
      <p:sp>
        <p:nvSpPr>
          <p:cNvPr id="6214" name="Google Shape;6214;p130"/>
          <p:cNvSpPr txBox="1"/>
          <p:nvPr/>
        </p:nvSpPr>
        <p:spPr>
          <a:xfrm>
            <a:off x="2166939" y="895350"/>
            <a:ext cx="8231187" cy="5391150"/>
          </a:xfrm>
          <a:prstGeom prst="rect">
            <a:avLst/>
          </a:prstGeom>
          <a:noFill/>
          <a:ln>
            <a:noFill/>
          </a:ln>
        </p:spPr>
        <p:txBody>
          <a:bodyPr anchorCtr="0" anchor="t" bIns="45700" lIns="91425" spcFirstLastPara="1" rIns="91425" wrap="square" tIns="45700">
            <a:noAutofit/>
          </a:bodyPr>
          <a:lstStyle/>
          <a:p>
            <a:pPr indent="-284163" lvl="0" marL="284163" marR="0" rtl="0" algn="l">
              <a:lnSpc>
                <a:spcPct val="100000"/>
              </a:lnSpc>
              <a:spcBef>
                <a:spcPts val="0"/>
              </a:spcBef>
              <a:spcAft>
                <a:spcPts val="0"/>
              </a:spcAft>
              <a:buClr>
                <a:srgbClr val="000099"/>
              </a:buClr>
              <a:buSzPts val="2100"/>
              <a:buFont typeface="Noto Sans Symbols"/>
              <a:buChar char="▪"/>
            </a:pPr>
            <a:r>
              <a:rPr lang="en-US" sz="2100">
                <a:solidFill>
                  <a:schemeClr val="dk1"/>
                </a:solidFill>
                <a:latin typeface="Calibri"/>
                <a:ea typeface="Calibri"/>
                <a:cs typeface="Calibri"/>
                <a:sym typeface="Calibri"/>
              </a:rPr>
              <a:t>The situation continues and the receive buffer fills further</a:t>
            </a:r>
            <a:endParaRPr/>
          </a:p>
          <a:p>
            <a:pPr indent="-284163" lvl="0" marL="284163" marR="0" rtl="0" algn="l">
              <a:lnSpc>
                <a:spcPct val="100000"/>
              </a:lnSpc>
              <a:spcBef>
                <a:spcPts val="420"/>
              </a:spcBef>
              <a:spcAft>
                <a:spcPts val="0"/>
              </a:spcAft>
              <a:buClr>
                <a:srgbClr val="000099"/>
              </a:buClr>
              <a:buSzPts val="2100"/>
              <a:buFont typeface="Noto Sans Symbols"/>
              <a:buChar char="▪"/>
            </a:pPr>
            <a:r>
              <a:rPr lang="en-US" sz="2100">
                <a:solidFill>
                  <a:schemeClr val="dk1"/>
                </a:solidFill>
                <a:latin typeface="Calibri"/>
                <a:ea typeface="Calibri"/>
                <a:cs typeface="Calibri"/>
                <a:sym typeface="Calibri"/>
              </a:rPr>
              <a:t>The ACK packets from the receiver will now have a </a:t>
            </a:r>
            <a:r>
              <a:rPr lang="en-US" sz="2100">
                <a:solidFill>
                  <a:srgbClr val="FF0000"/>
                </a:solidFill>
                <a:latin typeface="Calibri"/>
                <a:ea typeface="Calibri"/>
                <a:cs typeface="Calibri"/>
                <a:sym typeface="Calibri"/>
              </a:rPr>
              <a:t>lower advertised window</a:t>
            </a:r>
            <a:r>
              <a:rPr lang="en-US" sz="2100">
                <a:solidFill>
                  <a:schemeClr val="dk1"/>
                </a:solidFill>
                <a:latin typeface="Calibri"/>
                <a:ea typeface="Calibri"/>
                <a:cs typeface="Calibri"/>
                <a:sym typeface="Calibri"/>
              </a:rPr>
              <a:t>, e.g., </a:t>
            </a:r>
            <a:r>
              <a:rPr lang="en-US" sz="2100">
                <a:solidFill>
                  <a:srgbClr val="00B050"/>
                </a:solidFill>
                <a:latin typeface="Calibri"/>
                <a:ea typeface="Calibri"/>
                <a:cs typeface="Calibri"/>
                <a:sym typeface="Calibri"/>
              </a:rPr>
              <a:t>1 K bytes</a:t>
            </a:r>
            <a:r>
              <a:rPr lang="en-US" sz="2100">
                <a:solidFill>
                  <a:schemeClr val="dk1"/>
                </a:solidFill>
                <a:latin typeface="Calibri"/>
                <a:ea typeface="Calibri"/>
                <a:cs typeface="Calibri"/>
                <a:sym typeface="Calibri"/>
              </a:rPr>
              <a:t>:</a:t>
            </a:r>
            <a:endParaRPr/>
          </a:p>
          <a:p>
            <a:pPr indent="-150813" lvl="0" marL="284163" marR="0" rtl="0" algn="l">
              <a:lnSpc>
                <a:spcPct val="100000"/>
              </a:lnSpc>
              <a:spcBef>
                <a:spcPts val="420"/>
              </a:spcBef>
              <a:spcAft>
                <a:spcPts val="0"/>
              </a:spcAft>
              <a:buClr>
                <a:srgbClr val="000099"/>
              </a:buClr>
              <a:buSzPts val="2100"/>
              <a:buFont typeface="Noto Sans Symbols"/>
              <a:buNone/>
            </a:pPr>
            <a:r>
              <a:t/>
            </a:r>
            <a:endParaRPr sz="2100">
              <a:solidFill>
                <a:schemeClr val="dk1"/>
              </a:solidFill>
              <a:latin typeface="Arial"/>
              <a:ea typeface="Arial"/>
              <a:cs typeface="Arial"/>
              <a:sym typeface="Arial"/>
            </a:endParaRPr>
          </a:p>
        </p:txBody>
      </p:sp>
      <p:sp>
        <p:nvSpPr>
          <p:cNvPr id="6215" name="Google Shape;6215;p130"/>
          <p:cNvSpPr/>
          <p:nvPr/>
        </p:nvSpPr>
        <p:spPr>
          <a:xfrm>
            <a:off x="1614488" y="1049338"/>
            <a:ext cx="552450" cy="531812"/>
          </a:xfrm>
          <a:prstGeom prst="octagon">
            <a:avLst>
              <a:gd fmla="val 29287" name="adj"/>
            </a:avLst>
          </a:prstGeom>
          <a:solidFill>
            <a:srgbClr val="FFC000"/>
          </a:solidFill>
          <a:ln cap="flat" cmpd="sng" w="9525">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70C0"/>
              </a:buClr>
              <a:buSzPts val="2000"/>
              <a:buFont typeface="Noto Sans Symbols"/>
              <a:buNone/>
            </a:pPr>
            <a:r>
              <a:rPr lang="en-US" sz="2000">
                <a:solidFill>
                  <a:srgbClr val="0070C0"/>
                </a:solidFill>
                <a:latin typeface="Tahoma"/>
                <a:ea typeface="Tahoma"/>
                <a:cs typeface="Tahoma"/>
                <a:sym typeface="Tahoma"/>
              </a:rPr>
              <a:t>3</a:t>
            </a:r>
            <a:endParaRPr/>
          </a:p>
        </p:txBody>
      </p:sp>
      <p:pic>
        <p:nvPicPr>
          <p:cNvPr id="6216" name="Google Shape;6216;p130"/>
          <p:cNvPicPr preferRelativeResize="0"/>
          <p:nvPr/>
        </p:nvPicPr>
        <p:blipFill rotWithShape="1">
          <a:blip r:embed="rId3">
            <a:alphaModFix/>
          </a:blip>
          <a:srcRect b="0" l="0" r="0" t="0"/>
          <a:stretch/>
        </p:blipFill>
        <p:spPr>
          <a:xfrm>
            <a:off x="2166938" y="2393950"/>
            <a:ext cx="8115300" cy="3365500"/>
          </a:xfrm>
          <a:prstGeom prst="rect">
            <a:avLst/>
          </a:prstGeom>
          <a:noFill/>
          <a:ln>
            <a:noFill/>
          </a:ln>
        </p:spPr>
      </p:pic>
      <p:sp>
        <p:nvSpPr>
          <p:cNvPr id="6217" name="Google Shape;6217;p130"/>
          <p:cNvSpPr/>
          <p:nvPr/>
        </p:nvSpPr>
        <p:spPr>
          <a:xfrm>
            <a:off x="8496300" y="4140200"/>
            <a:ext cx="927100" cy="10033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218" name="Google Shape;6218;p130"/>
          <p:cNvSpPr/>
          <p:nvPr/>
        </p:nvSpPr>
        <p:spPr>
          <a:xfrm>
            <a:off x="5842000" y="5041900"/>
            <a:ext cx="4178300" cy="8001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nvGrpSpPr>
          <p:cNvPr id="6219" name="Google Shape;6219;p130"/>
          <p:cNvGrpSpPr/>
          <p:nvPr/>
        </p:nvGrpSpPr>
        <p:grpSpPr>
          <a:xfrm>
            <a:off x="4775200" y="4165600"/>
            <a:ext cx="4546600" cy="1765300"/>
            <a:chOff x="3035300" y="4089400"/>
            <a:chExt cx="4546600" cy="1765300"/>
          </a:xfrm>
        </p:grpSpPr>
        <p:sp>
          <p:nvSpPr>
            <p:cNvPr id="6220" name="Google Shape;6220;p130"/>
            <p:cNvSpPr/>
            <p:nvPr/>
          </p:nvSpPr>
          <p:spPr>
            <a:xfrm>
              <a:off x="4445000" y="5321300"/>
              <a:ext cx="3136900" cy="533400"/>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000"/>
                <a:buFont typeface="Noto Sans Symbols"/>
                <a:buNone/>
              </a:pPr>
              <a:r>
                <a:rPr lang="en-US" sz="2000">
                  <a:solidFill>
                    <a:srgbClr val="FF0000"/>
                  </a:solidFill>
                  <a:latin typeface="Tahoma"/>
                  <a:ea typeface="Tahoma"/>
                  <a:cs typeface="Tahoma"/>
                  <a:sym typeface="Tahoma"/>
                </a:rPr>
                <a:t>ACK, Adv Win = 1 K bytes</a:t>
              </a:r>
              <a:endParaRPr/>
            </a:p>
          </p:txBody>
        </p:sp>
        <p:cxnSp>
          <p:nvCxnSpPr>
            <p:cNvPr id="6221" name="Google Shape;6221;p130"/>
            <p:cNvCxnSpPr/>
            <p:nvPr/>
          </p:nvCxnSpPr>
          <p:spPr>
            <a:xfrm>
              <a:off x="6934200" y="4089400"/>
              <a:ext cx="0" cy="1155700"/>
            </a:xfrm>
            <a:prstGeom prst="straightConnector1">
              <a:avLst/>
            </a:prstGeom>
            <a:noFill/>
            <a:ln cap="flat" cmpd="sng" w="38100">
              <a:solidFill>
                <a:srgbClr val="0070C0"/>
              </a:solidFill>
              <a:prstDash val="solid"/>
              <a:round/>
              <a:headEnd len="med" w="med" type="none"/>
              <a:tailEnd len="med" w="med" type="triangle"/>
            </a:ln>
          </p:spPr>
        </p:cxnSp>
        <p:cxnSp>
          <p:nvCxnSpPr>
            <p:cNvPr id="6222" name="Google Shape;6222;p130"/>
            <p:cNvCxnSpPr/>
            <p:nvPr/>
          </p:nvCxnSpPr>
          <p:spPr>
            <a:xfrm rot="10800000">
              <a:off x="3035300" y="5588000"/>
              <a:ext cx="1295400" cy="0"/>
            </a:xfrm>
            <a:prstGeom prst="straightConnector1">
              <a:avLst/>
            </a:prstGeom>
            <a:noFill/>
            <a:ln cap="flat" cmpd="sng" w="38100">
              <a:solidFill>
                <a:srgbClr val="0070C0"/>
              </a:solidFill>
              <a:prstDash val="solid"/>
              <a:round/>
              <a:headEnd len="med" w="med" type="none"/>
              <a:tailEnd len="med" w="med" type="triangle"/>
            </a:ln>
          </p:spPr>
        </p:cxnSp>
      </p:grpSp>
      <p:sp>
        <p:nvSpPr>
          <p:cNvPr id="6223" name="Google Shape;6223;p13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7" name="Shape 6227"/>
        <p:cNvGrpSpPr/>
        <p:nvPr/>
      </p:nvGrpSpPr>
      <p:grpSpPr>
        <a:xfrm>
          <a:off x="0" y="0"/>
          <a:ext cx="0" cy="0"/>
          <a:chOff x="0" y="0"/>
          <a:chExt cx="0" cy="0"/>
        </a:xfrm>
      </p:grpSpPr>
      <p:sp>
        <p:nvSpPr>
          <p:cNvPr id="6228" name="Google Shape;6228;p131"/>
          <p:cNvSpPr txBox="1"/>
          <p:nvPr>
            <p:ph type="title"/>
          </p:nvPr>
        </p:nvSpPr>
        <p:spPr>
          <a:xfrm>
            <a:off x="1865313" y="171451"/>
            <a:ext cx="7772400" cy="9747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Example: TCP flow control</a:t>
            </a:r>
            <a:endParaRPr/>
          </a:p>
        </p:txBody>
      </p:sp>
      <p:sp>
        <p:nvSpPr>
          <p:cNvPr id="6229" name="Google Shape;6229;p131"/>
          <p:cNvSpPr txBox="1"/>
          <p:nvPr/>
        </p:nvSpPr>
        <p:spPr>
          <a:xfrm>
            <a:off x="2166939" y="895350"/>
            <a:ext cx="8231187" cy="1238250"/>
          </a:xfrm>
          <a:prstGeom prst="rect">
            <a:avLst/>
          </a:prstGeom>
          <a:noFill/>
          <a:ln>
            <a:noFill/>
          </a:ln>
        </p:spPr>
        <p:txBody>
          <a:bodyPr anchorCtr="0" anchor="t" bIns="45700" lIns="91425" spcFirstLastPara="1" rIns="91425" wrap="square" tIns="45700">
            <a:noAutofit/>
          </a:bodyPr>
          <a:lstStyle/>
          <a:p>
            <a:pPr indent="-284163" lvl="0" marL="284163" marR="0" rtl="0" algn="l">
              <a:lnSpc>
                <a:spcPct val="100000"/>
              </a:lnSpc>
              <a:spcBef>
                <a:spcPts val="0"/>
              </a:spcBef>
              <a:spcAft>
                <a:spcPts val="0"/>
              </a:spcAft>
              <a:buClr>
                <a:srgbClr val="000099"/>
              </a:buClr>
              <a:buSzPts val="2100"/>
              <a:buFont typeface="Noto Sans Symbols"/>
              <a:buChar char="▪"/>
            </a:pPr>
            <a:r>
              <a:rPr lang="en-US" sz="2100">
                <a:solidFill>
                  <a:schemeClr val="dk1"/>
                </a:solidFill>
                <a:latin typeface="Calibri"/>
                <a:ea typeface="Calibri"/>
                <a:cs typeface="Calibri"/>
                <a:sym typeface="Calibri"/>
              </a:rPr>
              <a:t>Sooner or later, the </a:t>
            </a:r>
            <a:r>
              <a:rPr lang="en-US" sz="2100">
                <a:solidFill>
                  <a:srgbClr val="FF0000"/>
                </a:solidFill>
                <a:latin typeface="Calibri"/>
                <a:ea typeface="Calibri"/>
                <a:cs typeface="Calibri"/>
                <a:sym typeface="Calibri"/>
              </a:rPr>
              <a:t>receive buffer fills up</a:t>
            </a:r>
            <a:endParaRPr/>
          </a:p>
          <a:p>
            <a:pPr indent="-284163" lvl="0" marL="284163" marR="0" rtl="0" algn="l">
              <a:lnSpc>
                <a:spcPct val="100000"/>
              </a:lnSpc>
              <a:spcBef>
                <a:spcPts val="420"/>
              </a:spcBef>
              <a:spcAft>
                <a:spcPts val="0"/>
              </a:spcAft>
              <a:buClr>
                <a:srgbClr val="000099"/>
              </a:buClr>
              <a:buSzPts val="2100"/>
              <a:buFont typeface="Noto Sans Symbols"/>
              <a:buChar char="▪"/>
            </a:pPr>
            <a:r>
              <a:rPr lang="en-US" sz="2100">
                <a:solidFill>
                  <a:schemeClr val="dk1"/>
                </a:solidFill>
                <a:latin typeface="Calibri"/>
                <a:ea typeface="Calibri"/>
                <a:cs typeface="Calibri"/>
                <a:sym typeface="Calibri"/>
              </a:rPr>
              <a:t>The receiver returns an ACK packets with the</a:t>
            </a:r>
            <a:r>
              <a:rPr lang="en-US" sz="2100">
                <a:solidFill>
                  <a:srgbClr val="FF0000"/>
                </a:solidFill>
                <a:latin typeface="Calibri"/>
                <a:ea typeface="Calibri"/>
                <a:cs typeface="Calibri"/>
                <a:sym typeface="Calibri"/>
              </a:rPr>
              <a:t> advertised window = 0 bytes !!!</a:t>
            </a:r>
            <a:endParaRPr/>
          </a:p>
          <a:p>
            <a:pPr indent="-150813" lvl="0" marL="284163" marR="0" rtl="0" algn="l">
              <a:lnSpc>
                <a:spcPct val="100000"/>
              </a:lnSpc>
              <a:spcBef>
                <a:spcPts val="420"/>
              </a:spcBef>
              <a:spcAft>
                <a:spcPts val="0"/>
              </a:spcAft>
              <a:buClr>
                <a:srgbClr val="000099"/>
              </a:buClr>
              <a:buSzPts val="2100"/>
              <a:buFont typeface="Noto Sans Symbols"/>
              <a:buNone/>
            </a:pPr>
            <a:r>
              <a:t/>
            </a:r>
            <a:endParaRPr sz="2100">
              <a:solidFill>
                <a:schemeClr val="dk1"/>
              </a:solidFill>
              <a:latin typeface="Arial"/>
              <a:ea typeface="Arial"/>
              <a:cs typeface="Arial"/>
              <a:sym typeface="Arial"/>
            </a:endParaRPr>
          </a:p>
        </p:txBody>
      </p:sp>
      <p:sp>
        <p:nvSpPr>
          <p:cNvPr id="6230" name="Google Shape;6230;p131"/>
          <p:cNvSpPr/>
          <p:nvPr/>
        </p:nvSpPr>
        <p:spPr>
          <a:xfrm>
            <a:off x="1614488" y="1049338"/>
            <a:ext cx="552450" cy="531812"/>
          </a:xfrm>
          <a:prstGeom prst="octagon">
            <a:avLst>
              <a:gd fmla="val 29287" name="adj"/>
            </a:avLst>
          </a:prstGeom>
          <a:solidFill>
            <a:srgbClr val="FFC000"/>
          </a:solidFill>
          <a:ln cap="flat" cmpd="sng" w="9525">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70C0"/>
              </a:buClr>
              <a:buSzPts val="2000"/>
              <a:buFont typeface="Noto Sans Symbols"/>
              <a:buNone/>
            </a:pPr>
            <a:r>
              <a:rPr lang="en-US" sz="2000">
                <a:solidFill>
                  <a:srgbClr val="0070C0"/>
                </a:solidFill>
                <a:latin typeface="Tahoma"/>
                <a:ea typeface="Tahoma"/>
                <a:cs typeface="Tahoma"/>
                <a:sym typeface="Tahoma"/>
              </a:rPr>
              <a:t>4</a:t>
            </a:r>
            <a:endParaRPr/>
          </a:p>
        </p:txBody>
      </p:sp>
      <p:pic>
        <p:nvPicPr>
          <p:cNvPr id="6231" name="Google Shape;6231;p131"/>
          <p:cNvPicPr preferRelativeResize="0"/>
          <p:nvPr/>
        </p:nvPicPr>
        <p:blipFill rotWithShape="1">
          <a:blip r:embed="rId3">
            <a:alphaModFix/>
          </a:blip>
          <a:srcRect b="0" l="0" r="0" t="0"/>
          <a:stretch/>
        </p:blipFill>
        <p:spPr>
          <a:xfrm>
            <a:off x="1614488" y="1984375"/>
            <a:ext cx="8801100" cy="3213100"/>
          </a:xfrm>
          <a:prstGeom prst="rect">
            <a:avLst/>
          </a:prstGeom>
          <a:noFill/>
          <a:ln>
            <a:noFill/>
          </a:ln>
        </p:spPr>
      </p:pic>
      <p:grpSp>
        <p:nvGrpSpPr>
          <p:cNvPr id="6232" name="Google Shape;6232;p131"/>
          <p:cNvGrpSpPr/>
          <p:nvPr/>
        </p:nvGrpSpPr>
        <p:grpSpPr>
          <a:xfrm>
            <a:off x="4559300" y="4089400"/>
            <a:ext cx="4432300" cy="1765300"/>
            <a:chOff x="3035300" y="4089400"/>
            <a:chExt cx="4432300" cy="1765300"/>
          </a:xfrm>
        </p:grpSpPr>
        <p:sp>
          <p:nvSpPr>
            <p:cNvPr id="6233" name="Google Shape;6233;p131"/>
            <p:cNvSpPr/>
            <p:nvPr/>
          </p:nvSpPr>
          <p:spPr>
            <a:xfrm>
              <a:off x="4445000" y="5321300"/>
              <a:ext cx="3022600" cy="533400"/>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000"/>
                <a:buFont typeface="Noto Sans Symbols"/>
                <a:buNone/>
              </a:pPr>
              <a:r>
                <a:rPr lang="en-US" sz="2000">
                  <a:solidFill>
                    <a:srgbClr val="FF0000"/>
                  </a:solidFill>
                  <a:latin typeface="Tahoma"/>
                  <a:ea typeface="Tahoma"/>
                  <a:cs typeface="Tahoma"/>
                  <a:sym typeface="Tahoma"/>
                </a:rPr>
                <a:t>ACK, Adv Win = 0</a:t>
              </a:r>
              <a:endParaRPr/>
            </a:p>
          </p:txBody>
        </p:sp>
        <p:cxnSp>
          <p:nvCxnSpPr>
            <p:cNvPr id="6234" name="Google Shape;6234;p131"/>
            <p:cNvCxnSpPr/>
            <p:nvPr/>
          </p:nvCxnSpPr>
          <p:spPr>
            <a:xfrm>
              <a:off x="6934200" y="4089400"/>
              <a:ext cx="0" cy="1155700"/>
            </a:xfrm>
            <a:prstGeom prst="straightConnector1">
              <a:avLst/>
            </a:prstGeom>
            <a:noFill/>
            <a:ln cap="flat" cmpd="sng" w="38100">
              <a:solidFill>
                <a:srgbClr val="0070C0"/>
              </a:solidFill>
              <a:prstDash val="solid"/>
              <a:round/>
              <a:headEnd len="med" w="med" type="none"/>
              <a:tailEnd len="med" w="med" type="triangle"/>
            </a:ln>
          </p:spPr>
        </p:cxnSp>
        <p:cxnSp>
          <p:nvCxnSpPr>
            <p:cNvPr id="6235" name="Google Shape;6235;p131"/>
            <p:cNvCxnSpPr/>
            <p:nvPr/>
          </p:nvCxnSpPr>
          <p:spPr>
            <a:xfrm rot="10800000">
              <a:off x="3035300" y="5588000"/>
              <a:ext cx="1295400" cy="0"/>
            </a:xfrm>
            <a:prstGeom prst="straightConnector1">
              <a:avLst/>
            </a:prstGeom>
            <a:noFill/>
            <a:ln cap="flat" cmpd="sng" w="38100">
              <a:solidFill>
                <a:srgbClr val="0070C0"/>
              </a:solidFill>
              <a:prstDash val="solid"/>
              <a:round/>
              <a:headEnd len="med" w="med" type="none"/>
              <a:tailEnd len="med" w="med" type="triangle"/>
            </a:ln>
          </p:spPr>
        </p:cxnSp>
      </p:grpSp>
      <p:sp>
        <p:nvSpPr>
          <p:cNvPr id="6236" name="Google Shape;6236;p131"/>
          <p:cNvSpPr/>
          <p:nvPr/>
        </p:nvSpPr>
        <p:spPr>
          <a:xfrm>
            <a:off x="3162300" y="4025900"/>
            <a:ext cx="5181600" cy="11049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237" name="Google Shape;6237;p13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2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1" name="Shape 6241"/>
        <p:cNvGrpSpPr/>
        <p:nvPr/>
      </p:nvGrpSpPr>
      <p:grpSpPr>
        <a:xfrm>
          <a:off x="0" y="0"/>
          <a:ext cx="0" cy="0"/>
          <a:chOff x="0" y="0"/>
          <a:chExt cx="0" cy="0"/>
        </a:xfrm>
      </p:grpSpPr>
      <p:sp>
        <p:nvSpPr>
          <p:cNvPr id="6242" name="Google Shape;6242;p132"/>
          <p:cNvSpPr txBox="1"/>
          <p:nvPr>
            <p:ph type="title"/>
          </p:nvPr>
        </p:nvSpPr>
        <p:spPr>
          <a:xfrm>
            <a:off x="1865313" y="171451"/>
            <a:ext cx="7772400" cy="9747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Example: TCP flow control</a:t>
            </a:r>
            <a:endParaRPr/>
          </a:p>
        </p:txBody>
      </p:sp>
      <p:pic>
        <p:nvPicPr>
          <p:cNvPr id="6243" name="Google Shape;6243;p132"/>
          <p:cNvPicPr preferRelativeResize="0"/>
          <p:nvPr/>
        </p:nvPicPr>
        <p:blipFill rotWithShape="1">
          <a:blip r:embed="rId3">
            <a:alphaModFix/>
          </a:blip>
          <a:srcRect b="0" l="0" r="0" t="0"/>
          <a:stretch/>
        </p:blipFill>
        <p:spPr>
          <a:xfrm>
            <a:off x="1614488" y="2057400"/>
            <a:ext cx="8801100" cy="3213100"/>
          </a:xfrm>
          <a:prstGeom prst="rect">
            <a:avLst/>
          </a:prstGeom>
          <a:noFill/>
          <a:ln>
            <a:noFill/>
          </a:ln>
        </p:spPr>
      </p:pic>
      <p:sp>
        <p:nvSpPr>
          <p:cNvPr id="6244" name="Google Shape;6244;p132"/>
          <p:cNvSpPr txBox="1"/>
          <p:nvPr/>
        </p:nvSpPr>
        <p:spPr>
          <a:xfrm>
            <a:off x="2166939" y="895350"/>
            <a:ext cx="8231187" cy="1238250"/>
          </a:xfrm>
          <a:prstGeom prst="rect">
            <a:avLst/>
          </a:prstGeom>
          <a:noFill/>
          <a:ln>
            <a:noFill/>
          </a:ln>
        </p:spPr>
        <p:txBody>
          <a:bodyPr anchorCtr="0" anchor="t" bIns="45700" lIns="91425" spcFirstLastPara="1" rIns="91425" wrap="square" tIns="45700">
            <a:noAutofit/>
          </a:bodyPr>
          <a:lstStyle/>
          <a:p>
            <a:pPr indent="-284163" lvl="0" marL="284163" marR="0" rtl="0" algn="l">
              <a:lnSpc>
                <a:spcPct val="100000"/>
              </a:lnSpc>
              <a:spcBef>
                <a:spcPts val="0"/>
              </a:spcBef>
              <a:spcAft>
                <a:spcPts val="0"/>
              </a:spcAft>
              <a:buClr>
                <a:srgbClr val="000099"/>
              </a:buClr>
              <a:buSzPts val="2100"/>
              <a:buFont typeface="Noto Sans Symbols"/>
              <a:buChar char="▪"/>
            </a:pPr>
            <a:r>
              <a:rPr lang="en-US" sz="2100">
                <a:solidFill>
                  <a:schemeClr val="dk1"/>
                </a:solidFill>
                <a:latin typeface="Calibri"/>
                <a:ea typeface="Calibri"/>
                <a:cs typeface="Calibri"/>
                <a:sym typeface="Calibri"/>
              </a:rPr>
              <a:t>… cont.; This causes the </a:t>
            </a:r>
            <a:r>
              <a:rPr lang="en-US" sz="2100">
                <a:solidFill>
                  <a:srgbClr val="FF0000"/>
                </a:solidFill>
                <a:latin typeface="Calibri"/>
                <a:ea typeface="Calibri"/>
                <a:cs typeface="Calibri"/>
                <a:sym typeface="Calibri"/>
              </a:rPr>
              <a:t>sending TCP</a:t>
            </a:r>
            <a:r>
              <a:rPr lang="en-US" sz="2100">
                <a:solidFill>
                  <a:schemeClr val="dk1"/>
                </a:solidFill>
                <a:latin typeface="Calibri"/>
                <a:ea typeface="Calibri"/>
                <a:cs typeface="Calibri"/>
                <a:sym typeface="Calibri"/>
              </a:rPr>
              <a:t> to </a:t>
            </a:r>
            <a:r>
              <a:rPr lang="en-US" sz="2100">
                <a:solidFill>
                  <a:srgbClr val="FF0000"/>
                </a:solidFill>
                <a:latin typeface="Calibri"/>
                <a:ea typeface="Calibri"/>
                <a:cs typeface="Calibri"/>
                <a:sym typeface="Calibri"/>
              </a:rPr>
              <a:t>stop transmitting</a:t>
            </a:r>
            <a:r>
              <a:rPr lang="en-US" sz="2100">
                <a:solidFill>
                  <a:schemeClr val="dk1"/>
                </a:solidFill>
                <a:latin typeface="Calibri"/>
                <a:ea typeface="Calibri"/>
                <a:cs typeface="Calibri"/>
                <a:sym typeface="Calibri"/>
              </a:rPr>
              <a:t> more data..... </a:t>
            </a:r>
            <a:endParaRPr/>
          </a:p>
          <a:p>
            <a:pPr indent="-284163" lvl="0" marL="284163" marR="0" rtl="0" algn="l">
              <a:lnSpc>
                <a:spcPct val="100000"/>
              </a:lnSpc>
              <a:spcBef>
                <a:spcPts val="420"/>
              </a:spcBef>
              <a:spcAft>
                <a:spcPts val="0"/>
              </a:spcAft>
              <a:buClr>
                <a:srgbClr val="000099"/>
              </a:buClr>
              <a:buSzPts val="2100"/>
              <a:buFont typeface="Noto Sans Symbols"/>
              <a:buChar char="▪"/>
            </a:pPr>
            <a:r>
              <a:rPr lang="en-US" sz="2100">
                <a:solidFill>
                  <a:schemeClr val="dk1"/>
                </a:solidFill>
                <a:latin typeface="Calibri"/>
                <a:ea typeface="Calibri"/>
                <a:cs typeface="Calibri"/>
                <a:sym typeface="Calibri"/>
              </a:rPr>
              <a:t>and </a:t>
            </a:r>
            <a:r>
              <a:rPr lang="en-US" sz="2100">
                <a:solidFill>
                  <a:srgbClr val="FF0000"/>
                </a:solidFill>
                <a:latin typeface="Calibri"/>
                <a:ea typeface="Calibri"/>
                <a:cs typeface="Calibri"/>
                <a:sym typeface="Calibri"/>
              </a:rPr>
              <a:t>prevent</a:t>
            </a:r>
            <a:r>
              <a:rPr lang="en-US" sz="2100">
                <a:solidFill>
                  <a:schemeClr val="dk1"/>
                </a:solidFill>
                <a:latin typeface="Calibri"/>
                <a:ea typeface="Calibri"/>
                <a:cs typeface="Calibri"/>
                <a:sym typeface="Calibri"/>
              </a:rPr>
              <a:t> the sending TCP to </a:t>
            </a:r>
            <a:r>
              <a:rPr lang="en-US" sz="2100">
                <a:solidFill>
                  <a:srgbClr val="FF0000"/>
                </a:solidFill>
                <a:latin typeface="Calibri"/>
                <a:ea typeface="Calibri"/>
                <a:cs typeface="Calibri"/>
                <a:sym typeface="Calibri"/>
              </a:rPr>
              <a:t>overflow the receive buffer</a:t>
            </a:r>
            <a:r>
              <a:rPr lang="en-US" sz="2100">
                <a:solidFill>
                  <a:schemeClr val="dk1"/>
                </a:solidFill>
                <a:latin typeface="Calibri"/>
                <a:ea typeface="Calibri"/>
                <a:cs typeface="Calibri"/>
                <a:sym typeface="Calibri"/>
              </a:rPr>
              <a:t> of the receiving TCP.</a:t>
            </a:r>
            <a:endParaRPr sz="2100">
              <a:solidFill>
                <a:srgbClr val="FF0000"/>
              </a:solidFill>
              <a:latin typeface="Calibri"/>
              <a:ea typeface="Calibri"/>
              <a:cs typeface="Calibri"/>
              <a:sym typeface="Calibri"/>
            </a:endParaRPr>
          </a:p>
          <a:p>
            <a:pPr indent="-150813" lvl="0" marL="284163" marR="0" rtl="0" algn="l">
              <a:lnSpc>
                <a:spcPct val="100000"/>
              </a:lnSpc>
              <a:spcBef>
                <a:spcPts val="420"/>
              </a:spcBef>
              <a:spcAft>
                <a:spcPts val="0"/>
              </a:spcAft>
              <a:buClr>
                <a:srgbClr val="000099"/>
              </a:buClr>
              <a:buSzPts val="2100"/>
              <a:buFont typeface="Noto Sans Symbols"/>
              <a:buNone/>
            </a:pPr>
            <a:r>
              <a:t/>
            </a:r>
            <a:endParaRPr sz="2100">
              <a:solidFill>
                <a:schemeClr val="dk1"/>
              </a:solidFill>
              <a:latin typeface="Arial"/>
              <a:ea typeface="Arial"/>
              <a:cs typeface="Arial"/>
              <a:sym typeface="Arial"/>
            </a:endParaRPr>
          </a:p>
        </p:txBody>
      </p:sp>
      <p:sp>
        <p:nvSpPr>
          <p:cNvPr id="6245" name="Google Shape;6245;p132"/>
          <p:cNvSpPr/>
          <p:nvPr/>
        </p:nvSpPr>
        <p:spPr>
          <a:xfrm>
            <a:off x="1614488" y="1049338"/>
            <a:ext cx="552450" cy="531812"/>
          </a:xfrm>
          <a:prstGeom prst="octagon">
            <a:avLst>
              <a:gd fmla="val 29287" name="adj"/>
            </a:avLst>
          </a:prstGeom>
          <a:solidFill>
            <a:srgbClr val="FFC000"/>
          </a:solidFill>
          <a:ln cap="flat" cmpd="sng" w="9525">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70C0"/>
              </a:buClr>
              <a:buSzPts val="2000"/>
              <a:buFont typeface="Noto Sans Symbols"/>
              <a:buNone/>
            </a:pPr>
            <a:r>
              <a:rPr lang="en-US" sz="2000">
                <a:solidFill>
                  <a:srgbClr val="0070C0"/>
                </a:solidFill>
                <a:latin typeface="Tahoma"/>
                <a:ea typeface="Tahoma"/>
                <a:cs typeface="Tahoma"/>
                <a:sym typeface="Tahoma"/>
              </a:rPr>
              <a:t>4</a:t>
            </a:r>
            <a:endParaRPr/>
          </a:p>
        </p:txBody>
      </p:sp>
      <p:pic>
        <p:nvPicPr>
          <p:cNvPr id="6246" name="Google Shape;6246;p132"/>
          <p:cNvPicPr preferRelativeResize="0"/>
          <p:nvPr/>
        </p:nvPicPr>
        <p:blipFill rotWithShape="1">
          <a:blip r:embed="rId4">
            <a:alphaModFix/>
          </a:blip>
          <a:srcRect b="0" l="0" r="0" t="0"/>
          <a:stretch/>
        </p:blipFill>
        <p:spPr>
          <a:xfrm>
            <a:off x="2541588" y="4343400"/>
            <a:ext cx="6946900" cy="1092200"/>
          </a:xfrm>
          <a:prstGeom prst="rect">
            <a:avLst/>
          </a:prstGeom>
          <a:noFill/>
          <a:ln cap="flat" cmpd="sng" w="19050">
            <a:solidFill>
              <a:srgbClr val="FF0000"/>
            </a:solidFill>
            <a:prstDash val="solid"/>
            <a:miter lim="800000"/>
            <a:headEnd len="sm" w="sm" type="none"/>
            <a:tailEnd len="sm" w="sm" type="none"/>
          </a:ln>
        </p:spPr>
      </p:pic>
      <p:sp>
        <p:nvSpPr>
          <p:cNvPr id="6247" name="Google Shape;6247;p13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4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46"/>
                                        </p:tgtEl>
                                        <p:attrNameLst>
                                          <p:attrName>style.visibility</p:attrName>
                                        </p:attrNameLst>
                                      </p:cBhvr>
                                      <p:to>
                                        <p:strVal val="visible"/>
                                      </p:to>
                                    </p:set>
                                    <p:animEffect filter="fade" transition="in">
                                      <p:cBhvr>
                                        <p:cTn dur="500"/>
                                        <p:tgtEl>
                                          <p:spTgt spid="62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2" name="Shape 6252"/>
        <p:cNvGrpSpPr/>
        <p:nvPr/>
      </p:nvGrpSpPr>
      <p:grpSpPr>
        <a:xfrm>
          <a:off x="0" y="0"/>
          <a:ext cx="0" cy="0"/>
          <a:chOff x="0" y="0"/>
          <a:chExt cx="0" cy="0"/>
        </a:xfrm>
      </p:grpSpPr>
      <p:sp>
        <p:nvSpPr>
          <p:cNvPr id="6253" name="Google Shape;6253;p133"/>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connection management</a:t>
            </a:r>
            <a:endParaRPr b="0" sz="4400"/>
          </a:p>
        </p:txBody>
      </p:sp>
      <p:sp>
        <p:nvSpPr>
          <p:cNvPr id="6254" name="Google Shape;6254;p133"/>
          <p:cNvSpPr txBox="1"/>
          <p:nvPr/>
        </p:nvSpPr>
        <p:spPr>
          <a:xfrm>
            <a:off x="785243" y="1329399"/>
            <a:ext cx="11329310" cy="2187575"/>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before exchanging data, sender/receiver “handshake”:</a:t>
            </a:r>
            <a:endParaRPr/>
          </a:p>
          <a:p>
            <a:pPr indent="-222250" lvl="0" marL="352425"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agree to establish connection (each knowing the other willing to establish connection)</a:t>
            </a:r>
            <a:endParaRPr/>
          </a:p>
          <a:p>
            <a:pPr indent="-222250" lvl="0" marL="352425"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agree on connection parameters (e.g., starting seq #s)</a:t>
            </a:r>
            <a:endParaRPr/>
          </a:p>
        </p:txBody>
      </p:sp>
      <p:sp>
        <p:nvSpPr>
          <p:cNvPr id="6255" name="Google Shape;6255;p133"/>
          <p:cNvSpPr/>
          <p:nvPr/>
        </p:nvSpPr>
        <p:spPr>
          <a:xfrm>
            <a:off x="3138677" y="2935290"/>
            <a:ext cx="2279650" cy="2414588"/>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56" name="Google Shape;6256;p133"/>
          <p:cNvSpPr/>
          <p:nvPr/>
        </p:nvSpPr>
        <p:spPr>
          <a:xfrm>
            <a:off x="3098989" y="2989265"/>
            <a:ext cx="2270125" cy="24717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257" name="Google Shape;6257;p133"/>
          <p:cNvCxnSpPr/>
          <p:nvPr/>
        </p:nvCxnSpPr>
        <p:spPr>
          <a:xfrm>
            <a:off x="3098989" y="3430590"/>
            <a:ext cx="2270125" cy="0"/>
          </a:xfrm>
          <a:prstGeom prst="straightConnector1">
            <a:avLst/>
          </a:prstGeom>
          <a:noFill/>
          <a:ln cap="flat" cmpd="sng" w="9525">
            <a:solidFill>
              <a:srgbClr val="000000"/>
            </a:solidFill>
            <a:prstDash val="solid"/>
            <a:round/>
            <a:headEnd len="med" w="med" type="none"/>
            <a:tailEnd len="med" w="med" type="none"/>
          </a:ln>
        </p:spPr>
      </p:cxnSp>
      <p:sp>
        <p:nvSpPr>
          <p:cNvPr id="6258" name="Google Shape;6258;p133"/>
          <p:cNvSpPr txBox="1"/>
          <p:nvPr/>
        </p:nvSpPr>
        <p:spPr>
          <a:xfrm>
            <a:off x="3113277" y="3543303"/>
            <a:ext cx="2335212" cy="158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state: ESTAB</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variables:</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 # client-to-server</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server-to-client</a:t>
            </a:r>
            <a:endParaRPr/>
          </a:p>
          <a:p>
            <a:pPr indent="0" lvl="1" marL="230188" marR="0" rtl="0" algn="l">
              <a:lnSpc>
                <a:spcPct val="100000"/>
              </a:lnSpc>
              <a:spcBef>
                <a:spcPts val="0"/>
              </a:spcBef>
              <a:spcAft>
                <a:spcPts val="0"/>
              </a:spcAft>
              <a:buClr>
                <a:srgbClr val="000000"/>
              </a:buClr>
              <a:buSzPts val="1400"/>
              <a:buFont typeface="Courier New"/>
              <a:buNone/>
            </a:pPr>
            <a:r>
              <a:rPr b="1" i="0" lang="en-US" sz="1400" u="none" cap="none" strike="noStrike">
                <a:solidFill>
                  <a:srgbClr val="000000"/>
                </a:solidFill>
                <a:latin typeface="Courier New"/>
                <a:ea typeface="Courier New"/>
                <a:cs typeface="Courier New"/>
                <a:sym typeface="Courier New"/>
              </a:rPr>
              <a:t>rcvBuffer</a:t>
            </a:r>
            <a:r>
              <a:rPr b="0" i="0" lang="en-US" sz="1400" u="none" cap="none" strike="noStrike">
                <a:solidFill>
                  <a:srgbClr val="000000"/>
                </a:solidFill>
                <a:latin typeface="Tahoma"/>
                <a:ea typeface="Tahoma"/>
                <a:cs typeface="Tahoma"/>
                <a:sym typeface="Tahoma"/>
              </a:rPr>
              <a:t> size</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at server,client </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a:t>
            </a:r>
            <a:endParaRPr/>
          </a:p>
        </p:txBody>
      </p:sp>
      <p:grpSp>
        <p:nvGrpSpPr>
          <p:cNvPr id="6259" name="Google Shape;6259;p133"/>
          <p:cNvGrpSpPr/>
          <p:nvPr/>
        </p:nvGrpSpPr>
        <p:grpSpPr>
          <a:xfrm>
            <a:off x="3979492" y="3344865"/>
            <a:ext cx="438150" cy="206375"/>
            <a:chOff x="344" y="1846"/>
            <a:chExt cx="336" cy="130"/>
          </a:xfrm>
        </p:grpSpPr>
        <p:sp>
          <p:nvSpPr>
            <p:cNvPr id="6260" name="Google Shape;6260;p133"/>
            <p:cNvSpPr/>
            <p:nvPr/>
          </p:nvSpPr>
          <p:spPr>
            <a:xfrm>
              <a:off x="344" y="184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61" name="Google Shape;6261;p133"/>
            <p:cNvSpPr/>
            <p:nvPr/>
          </p:nvSpPr>
          <p:spPr>
            <a:xfrm>
              <a:off x="454" y="1863"/>
              <a:ext cx="112"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62" name="Google Shape;6262;p133"/>
            <p:cNvSpPr/>
            <p:nvPr/>
          </p:nvSpPr>
          <p:spPr>
            <a:xfrm>
              <a:off x="578" y="192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63" name="Google Shape;6263;p133"/>
            <p:cNvSpPr/>
            <p:nvPr/>
          </p:nvSpPr>
          <p:spPr>
            <a:xfrm>
              <a:off x="407" y="192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64" name="Google Shape;6264;p133"/>
          <p:cNvSpPr txBox="1"/>
          <p:nvPr/>
        </p:nvSpPr>
        <p:spPr>
          <a:xfrm>
            <a:off x="3617081" y="3006443"/>
            <a:ext cx="1146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application</a:t>
            </a:r>
            <a:endParaRPr/>
          </a:p>
        </p:txBody>
      </p:sp>
      <p:cxnSp>
        <p:nvCxnSpPr>
          <p:cNvPr id="6265" name="Google Shape;6265;p133"/>
          <p:cNvCxnSpPr/>
          <p:nvPr/>
        </p:nvCxnSpPr>
        <p:spPr>
          <a:xfrm>
            <a:off x="3105339" y="4926015"/>
            <a:ext cx="2268538" cy="0"/>
          </a:xfrm>
          <a:prstGeom prst="straightConnector1">
            <a:avLst/>
          </a:prstGeom>
          <a:noFill/>
          <a:ln cap="flat" cmpd="sng" w="9525">
            <a:solidFill>
              <a:srgbClr val="000000"/>
            </a:solidFill>
            <a:prstDash val="solid"/>
            <a:round/>
            <a:headEnd len="med" w="med" type="none"/>
            <a:tailEnd len="med" w="med" type="none"/>
          </a:ln>
        </p:spPr>
      </p:cxnSp>
      <p:sp>
        <p:nvSpPr>
          <p:cNvPr id="6266" name="Google Shape;6266;p133"/>
          <p:cNvSpPr txBox="1"/>
          <p:nvPr/>
        </p:nvSpPr>
        <p:spPr>
          <a:xfrm>
            <a:off x="3623658" y="5021176"/>
            <a:ext cx="9080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network</a:t>
            </a:r>
            <a:endParaRPr/>
          </a:p>
        </p:txBody>
      </p:sp>
      <p:sp>
        <p:nvSpPr>
          <p:cNvPr id="6267" name="Google Shape;6267;p133"/>
          <p:cNvSpPr/>
          <p:nvPr/>
        </p:nvSpPr>
        <p:spPr>
          <a:xfrm>
            <a:off x="3070414" y="5348290"/>
            <a:ext cx="2335213" cy="1809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268" name="Google Shape;6268;p133"/>
          <p:cNvCxnSpPr/>
          <p:nvPr/>
        </p:nvCxnSpPr>
        <p:spPr>
          <a:xfrm>
            <a:off x="3098989" y="5337178"/>
            <a:ext cx="0" cy="236537"/>
          </a:xfrm>
          <a:prstGeom prst="straightConnector1">
            <a:avLst/>
          </a:prstGeom>
          <a:noFill/>
          <a:ln cap="flat" cmpd="sng" w="9525">
            <a:solidFill>
              <a:srgbClr val="000000"/>
            </a:solidFill>
            <a:prstDash val="dash"/>
            <a:round/>
            <a:headEnd len="med" w="med" type="none"/>
            <a:tailEnd len="med" w="med" type="none"/>
          </a:ln>
        </p:spPr>
      </p:cxnSp>
      <p:cxnSp>
        <p:nvCxnSpPr>
          <p:cNvPr id="6269" name="Google Shape;6269;p133"/>
          <p:cNvCxnSpPr/>
          <p:nvPr/>
        </p:nvCxnSpPr>
        <p:spPr>
          <a:xfrm>
            <a:off x="5362764" y="5308603"/>
            <a:ext cx="0" cy="236537"/>
          </a:xfrm>
          <a:prstGeom prst="straightConnector1">
            <a:avLst/>
          </a:prstGeom>
          <a:noFill/>
          <a:ln cap="flat" cmpd="sng" w="9525">
            <a:solidFill>
              <a:srgbClr val="000000"/>
            </a:solidFill>
            <a:prstDash val="dash"/>
            <a:round/>
            <a:headEnd len="med" w="med" type="none"/>
            <a:tailEnd len="med" w="med" type="none"/>
          </a:ln>
        </p:spPr>
      </p:cxnSp>
      <p:sp>
        <p:nvSpPr>
          <p:cNvPr id="6270" name="Google Shape;6270;p133"/>
          <p:cNvSpPr/>
          <p:nvPr/>
        </p:nvSpPr>
        <p:spPr>
          <a:xfrm flipH="1">
            <a:off x="2625914" y="2992440"/>
            <a:ext cx="468313" cy="249078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1" name="Google Shape;6271;p133"/>
          <p:cNvSpPr/>
          <p:nvPr/>
        </p:nvSpPr>
        <p:spPr>
          <a:xfrm>
            <a:off x="7440802" y="2941640"/>
            <a:ext cx="2279650" cy="2414588"/>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2" name="Google Shape;6272;p133"/>
          <p:cNvSpPr/>
          <p:nvPr/>
        </p:nvSpPr>
        <p:spPr>
          <a:xfrm>
            <a:off x="7401114" y="2995615"/>
            <a:ext cx="2270125" cy="24717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273" name="Google Shape;6273;p133"/>
          <p:cNvCxnSpPr/>
          <p:nvPr/>
        </p:nvCxnSpPr>
        <p:spPr>
          <a:xfrm>
            <a:off x="7401114" y="3436940"/>
            <a:ext cx="2270125" cy="0"/>
          </a:xfrm>
          <a:prstGeom prst="straightConnector1">
            <a:avLst/>
          </a:prstGeom>
          <a:noFill/>
          <a:ln cap="flat" cmpd="sng" w="9525">
            <a:solidFill>
              <a:srgbClr val="000000"/>
            </a:solidFill>
            <a:prstDash val="solid"/>
            <a:round/>
            <a:headEnd len="med" w="med" type="none"/>
            <a:tailEnd len="med" w="med" type="none"/>
          </a:ln>
        </p:spPr>
      </p:cxnSp>
      <p:sp>
        <p:nvSpPr>
          <p:cNvPr id="6274" name="Google Shape;6274;p133"/>
          <p:cNvSpPr txBox="1"/>
          <p:nvPr/>
        </p:nvSpPr>
        <p:spPr>
          <a:xfrm>
            <a:off x="7415402" y="3549653"/>
            <a:ext cx="2335212" cy="1581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state: ESTAB</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Variables:</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seq # client-to-server</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server-to-client</a:t>
            </a:r>
            <a:endParaRPr/>
          </a:p>
          <a:p>
            <a:pPr indent="0" lvl="1" marL="230188" marR="0" rtl="0" algn="l">
              <a:lnSpc>
                <a:spcPct val="100000"/>
              </a:lnSpc>
              <a:spcBef>
                <a:spcPts val="0"/>
              </a:spcBef>
              <a:spcAft>
                <a:spcPts val="0"/>
              </a:spcAft>
              <a:buClr>
                <a:srgbClr val="000000"/>
              </a:buClr>
              <a:buSzPts val="1400"/>
              <a:buFont typeface="Courier New"/>
              <a:buNone/>
            </a:pPr>
            <a:r>
              <a:rPr b="1" i="0" lang="en-US" sz="1400" u="none" cap="none" strike="noStrike">
                <a:solidFill>
                  <a:srgbClr val="000000"/>
                </a:solidFill>
                <a:latin typeface="Courier New"/>
                <a:ea typeface="Courier New"/>
                <a:cs typeface="Courier New"/>
                <a:sym typeface="Courier New"/>
              </a:rPr>
              <a:t>rcvBuffer</a:t>
            </a:r>
            <a:r>
              <a:rPr b="0" i="0" lang="en-US" sz="1400" u="none" cap="none" strike="noStrike">
                <a:solidFill>
                  <a:srgbClr val="000000"/>
                </a:solidFill>
                <a:latin typeface="Tahoma"/>
                <a:ea typeface="Tahoma"/>
                <a:cs typeface="Tahoma"/>
                <a:sym typeface="Tahoma"/>
              </a:rPr>
              <a:t> size</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at server,client </a:t>
            </a:r>
            <a:endParaRPr/>
          </a:p>
          <a:p>
            <a:pPr indent="0" lvl="1" marL="230188"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           </a:t>
            </a:r>
            <a:endParaRPr/>
          </a:p>
        </p:txBody>
      </p:sp>
      <p:grpSp>
        <p:nvGrpSpPr>
          <p:cNvPr id="6275" name="Google Shape;6275;p133"/>
          <p:cNvGrpSpPr/>
          <p:nvPr/>
        </p:nvGrpSpPr>
        <p:grpSpPr>
          <a:xfrm>
            <a:off x="8308511" y="3351215"/>
            <a:ext cx="438150" cy="206375"/>
            <a:chOff x="344" y="1846"/>
            <a:chExt cx="336" cy="130"/>
          </a:xfrm>
        </p:grpSpPr>
        <p:sp>
          <p:nvSpPr>
            <p:cNvPr id="6276" name="Google Shape;6276;p133"/>
            <p:cNvSpPr/>
            <p:nvPr/>
          </p:nvSpPr>
          <p:spPr>
            <a:xfrm>
              <a:off x="344" y="1846"/>
              <a:ext cx="336" cy="130"/>
            </a:xfrm>
            <a:prstGeom prst="rect">
              <a:avLst/>
            </a:prstGeom>
            <a:solidFill>
              <a:srgbClr val="FFFF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7" name="Google Shape;6277;p133"/>
            <p:cNvSpPr/>
            <p:nvPr/>
          </p:nvSpPr>
          <p:spPr>
            <a:xfrm>
              <a:off x="454" y="1863"/>
              <a:ext cx="112" cy="99"/>
            </a:xfrm>
            <a:prstGeom prst="rect">
              <a:avLst/>
            </a:prstGeom>
            <a:solidFill>
              <a:srgbClr val="FFFFFF"/>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8" name="Google Shape;6278;p133"/>
            <p:cNvSpPr/>
            <p:nvPr/>
          </p:nvSpPr>
          <p:spPr>
            <a:xfrm>
              <a:off x="578" y="1921"/>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79" name="Google Shape;6279;p133"/>
            <p:cNvSpPr/>
            <p:nvPr/>
          </p:nvSpPr>
          <p:spPr>
            <a:xfrm>
              <a:off x="407" y="1922"/>
              <a:ext cx="29" cy="35"/>
            </a:xfrm>
            <a:prstGeom prst="rect">
              <a:avLst/>
            </a:prstGeom>
            <a:solidFill>
              <a:srgbClr val="CC9900"/>
            </a:solidFill>
            <a:ln cap="flat" cmpd="sng" w="9525">
              <a:solidFill>
                <a:srgbClr val="CC99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280" name="Google Shape;6280;p133"/>
          <p:cNvSpPr txBox="1"/>
          <p:nvPr/>
        </p:nvSpPr>
        <p:spPr>
          <a:xfrm>
            <a:off x="7943246" y="3024051"/>
            <a:ext cx="1146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application</a:t>
            </a:r>
            <a:endParaRPr/>
          </a:p>
        </p:txBody>
      </p:sp>
      <p:cxnSp>
        <p:nvCxnSpPr>
          <p:cNvPr id="6281" name="Google Shape;6281;p133"/>
          <p:cNvCxnSpPr/>
          <p:nvPr/>
        </p:nvCxnSpPr>
        <p:spPr>
          <a:xfrm>
            <a:off x="7407464" y="4932365"/>
            <a:ext cx="2268538" cy="0"/>
          </a:xfrm>
          <a:prstGeom prst="straightConnector1">
            <a:avLst/>
          </a:prstGeom>
          <a:noFill/>
          <a:ln cap="flat" cmpd="sng" w="9525">
            <a:solidFill>
              <a:srgbClr val="000000"/>
            </a:solidFill>
            <a:prstDash val="solid"/>
            <a:round/>
            <a:headEnd len="med" w="med" type="none"/>
            <a:tailEnd len="med" w="med" type="none"/>
          </a:ln>
        </p:spPr>
      </p:cxnSp>
      <p:sp>
        <p:nvSpPr>
          <p:cNvPr id="6282" name="Google Shape;6282;p133"/>
          <p:cNvSpPr txBox="1"/>
          <p:nvPr/>
        </p:nvSpPr>
        <p:spPr>
          <a:xfrm>
            <a:off x="8070953" y="5013813"/>
            <a:ext cx="9080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network</a:t>
            </a:r>
            <a:endParaRPr/>
          </a:p>
        </p:txBody>
      </p:sp>
      <p:sp>
        <p:nvSpPr>
          <p:cNvPr id="6283" name="Google Shape;6283;p133"/>
          <p:cNvSpPr/>
          <p:nvPr/>
        </p:nvSpPr>
        <p:spPr>
          <a:xfrm>
            <a:off x="7372539" y="5354640"/>
            <a:ext cx="2335213" cy="1809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6284" name="Google Shape;6284;p133"/>
          <p:cNvCxnSpPr/>
          <p:nvPr/>
        </p:nvCxnSpPr>
        <p:spPr>
          <a:xfrm>
            <a:off x="7401114" y="5343528"/>
            <a:ext cx="0" cy="236537"/>
          </a:xfrm>
          <a:prstGeom prst="straightConnector1">
            <a:avLst/>
          </a:prstGeom>
          <a:noFill/>
          <a:ln cap="flat" cmpd="sng" w="9525">
            <a:solidFill>
              <a:srgbClr val="000000"/>
            </a:solidFill>
            <a:prstDash val="dash"/>
            <a:round/>
            <a:headEnd len="med" w="med" type="none"/>
            <a:tailEnd len="med" w="med" type="none"/>
          </a:ln>
        </p:spPr>
      </p:cxnSp>
      <p:cxnSp>
        <p:nvCxnSpPr>
          <p:cNvPr id="6285" name="Google Shape;6285;p133"/>
          <p:cNvCxnSpPr/>
          <p:nvPr/>
        </p:nvCxnSpPr>
        <p:spPr>
          <a:xfrm>
            <a:off x="9664889" y="5314953"/>
            <a:ext cx="0" cy="236537"/>
          </a:xfrm>
          <a:prstGeom prst="straightConnector1">
            <a:avLst/>
          </a:prstGeom>
          <a:noFill/>
          <a:ln cap="flat" cmpd="sng" w="9525">
            <a:solidFill>
              <a:srgbClr val="000000"/>
            </a:solidFill>
            <a:prstDash val="dash"/>
            <a:round/>
            <a:headEnd len="med" w="med" type="none"/>
            <a:tailEnd len="med" w="med" type="none"/>
          </a:ln>
        </p:spPr>
      </p:cxnSp>
      <p:sp>
        <p:nvSpPr>
          <p:cNvPr id="6286" name="Google Shape;6286;p133"/>
          <p:cNvSpPr/>
          <p:nvPr/>
        </p:nvSpPr>
        <p:spPr>
          <a:xfrm>
            <a:off x="9682352" y="2932115"/>
            <a:ext cx="468312" cy="249078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87" name="Google Shape;6287;p133"/>
          <p:cNvSpPr txBox="1"/>
          <p:nvPr/>
        </p:nvSpPr>
        <p:spPr>
          <a:xfrm>
            <a:off x="996046" y="5759648"/>
            <a:ext cx="5633357" cy="646331"/>
          </a:xfrm>
          <a:prstGeom prst="rect">
            <a:avLst/>
          </a:prstGeom>
          <a:noFill/>
          <a:ln>
            <a:noFill/>
          </a:ln>
        </p:spPr>
        <p:txBody>
          <a:bodyPr anchorCtr="0" anchor="t" bIns="45700" lIns="91425" spcFirstLastPara="1" rIns="91425" wrap="square" tIns="45700">
            <a:spAutoFit/>
          </a:bodyPr>
          <a:lstStyle/>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Socket clientSocket =   </a:t>
            </a:r>
            <a:endParaRPr/>
          </a:p>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  newSocket("hostname","port number");</a:t>
            </a:r>
            <a:endParaRPr/>
          </a:p>
        </p:txBody>
      </p:sp>
      <p:sp>
        <p:nvSpPr>
          <p:cNvPr id="6288" name="Google Shape;6288;p133"/>
          <p:cNvSpPr txBox="1"/>
          <p:nvPr/>
        </p:nvSpPr>
        <p:spPr>
          <a:xfrm>
            <a:off x="7021795" y="5773144"/>
            <a:ext cx="4159599" cy="646331"/>
          </a:xfrm>
          <a:prstGeom prst="rect">
            <a:avLst/>
          </a:prstGeom>
          <a:noFill/>
          <a:ln>
            <a:noFill/>
          </a:ln>
        </p:spPr>
        <p:txBody>
          <a:bodyPr anchorCtr="0" anchor="t" bIns="45700" lIns="91425" spcFirstLastPara="1" rIns="91425" wrap="square" tIns="45700">
            <a:spAutoFit/>
          </a:bodyPr>
          <a:lstStyle/>
          <a:p>
            <a:pPr indent="-231775" lvl="0" marL="231775" marR="0" rtl="0" algn="l">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Socket connectionSocket = welcomeSocket.accept();</a:t>
            </a:r>
            <a:endParaRPr/>
          </a:p>
        </p:txBody>
      </p:sp>
      <p:grpSp>
        <p:nvGrpSpPr>
          <p:cNvPr id="6289" name="Google Shape;6289;p133"/>
          <p:cNvGrpSpPr/>
          <p:nvPr/>
        </p:nvGrpSpPr>
        <p:grpSpPr>
          <a:xfrm>
            <a:off x="2149664" y="5024440"/>
            <a:ext cx="698500" cy="612775"/>
            <a:chOff x="-44" y="1473"/>
            <a:chExt cx="981" cy="1105"/>
          </a:xfrm>
        </p:grpSpPr>
        <p:pic>
          <p:nvPicPr>
            <p:cNvPr descr="desktop_computer_stylized_medium" id="6290" name="Google Shape;6290;p13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291" name="Google Shape;6291;p13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292" name="Google Shape;6292;p133"/>
          <p:cNvGrpSpPr/>
          <p:nvPr/>
        </p:nvGrpSpPr>
        <p:grpSpPr>
          <a:xfrm>
            <a:off x="9964927" y="4922840"/>
            <a:ext cx="415925" cy="627063"/>
            <a:chOff x="4140" y="429"/>
            <a:chExt cx="1425" cy="2396"/>
          </a:xfrm>
        </p:grpSpPr>
        <p:sp>
          <p:nvSpPr>
            <p:cNvPr id="6293" name="Google Shape;6293;p13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94" name="Google Shape;6294;p133"/>
            <p:cNvSpPr/>
            <p:nvPr/>
          </p:nvSpPr>
          <p:spPr>
            <a:xfrm>
              <a:off x="4205" y="429"/>
              <a:ext cx="1050" cy="2287"/>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95" name="Google Shape;6295;p13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96" name="Google Shape;6296;p13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297" name="Google Shape;6297;p133"/>
            <p:cNvSpPr/>
            <p:nvPr/>
          </p:nvSpPr>
          <p:spPr>
            <a:xfrm>
              <a:off x="4211" y="696"/>
              <a:ext cx="598"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298" name="Google Shape;6298;p133"/>
            <p:cNvGrpSpPr/>
            <p:nvPr/>
          </p:nvGrpSpPr>
          <p:grpSpPr>
            <a:xfrm>
              <a:off x="4749" y="666"/>
              <a:ext cx="582" cy="146"/>
              <a:chOff x="614" y="2566"/>
              <a:chExt cx="726" cy="140"/>
            </a:xfrm>
          </p:grpSpPr>
          <p:sp>
            <p:nvSpPr>
              <p:cNvPr id="6299" name="Google Shape;6299;p133"/>
              <p:cNvSpPr/>
              <p:nvPr/>
            </p:nvSpPr>
            <p:spPr>
              <a:xfrm>
                <a:off x="614" y="2566"/>
                <a:ext cx="726"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00" name="Google Shape;6300;p133"/>
              <p:cNvSpPr/>
              <p:nvPr/>
            </p:nvSpPr>
            <p:spPr>
              <a:xfrm>
                <a:off x="628" y="2583"/>
                <a:ext cx="692"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301" name="Google Shape;6301;p133"/>
            <p:cNvSpPr/>
            <p:nvPr/>
          </p:nvSpPr>
          <p:spPr>
            <a:xfrm>
              <a:off x="4222" y="1017"/>
              <a:ext cx="598"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302" name="Google Shape;6302;p133"/>
            <p:cNvGrpSpPr/>
            <p:nvPr/>
          </p:nvGrpSpPr>
          <p:grpSpPr>
            <a:xfrm>
              <a:off x="4749" y="993"/>
              <a:ext cx="576" cy="133"/>
              <a:chOff x="617" y="2567"/>
              <a:chExt cx="719" cy="138"/>
            </a:xfrm>
          </p:grpSpPr>
          <p:sp>
            <p:nvSpPr>
              <p:cNvPr id="6303" name="Google Shape;6303;p133"/>
              <p:cNvSpPr/>
              <p:nvPr/>
            </p:nvSpPr>
            <p:spPr>
              <a:xfrm>
                <a:off x="617" y="2567"/>
                <a:ext cx="719"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04" name="Google Shape;6304;p133"/>
              <p:cNvSpPr/>
              <p:nvPr/>
            </p:nvSpPr>
            <p:spPr>
              <a:xfrm>
                <a:off x="630" y="2586"/>
                <a:ext cx="679"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305" name="Google Shape;6305;p133"/>
            <p:cNvSpPr/>
            <p:nvPr/>
          </p:nvSpPr>
          <p:spPr>
            <a:xfrm>
              <a:off x="4216" y="1357"/>
              <a:ext cx="598"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06" name="Google Shape;6306;p133"/>
            <p:cNvSpPr/>
            <p:nvPr/>
          </p:nvSpPr>
          <p:spPr>
            <a:xfrm>
              <a:off x="4227" y="1654"/>
              <a:ext cx="598"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307" name="Google Shape;6307;p133"/>
            <p:cNvGrpSpPr/>
            <p:nvPr/>
          </p:nvGrpSpPr>
          <p:grpSpPr>
            <a:xfrm>
              <a:off x="4733" y="1636"/>
              <a:ext cx="582" cy="134"/>
              <a:chOff x="611" y="2576"/>
              <a:chExt cx="725" cy="123"/>
            </a:xfrm>
          </p:grpSpPr>
          <p:sp>
            <p:nvSpPr>
              <p:cNvPr id="6308" name="Google Shape;6308;p133"/>
              <p:cNvSpPr/>
              <p:nvPr/>
            </p:nvSpPr>
            <p:spPr>
              <a:xfrm>
                <a:off x="611" y="2576"/>
                <a:ext cx="725" cy="123"/>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09" name="Google Shape;6309;p133"/>
              <p:cNvSpPr/>
              <p:nvPr/>
            </p:nvSpPr>
            <p:spPr>
              <a:xfrm>
                <a:off x="625" y="2588"/>
                <a:ext cx="691"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310" name="Google Shape;6310;p13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311" name="Google Shape;6311;p133"/>
            <p:cNvGrpSpPr/>
            <p:nvPr/>
          </p:nvGrpSpPr>
          <p:grpSpPr>
            <a:xfrm>
              <a:off x="4738" y="1327"/>
              <a:ext cx="582" cy="140"/>
              <a:chOff x="613" y="2568"/>
              <a:chExt cx="725" cy="140"/>
            </a:xfrm>
          </p:grpSpPr>
          <p:sp>
            <p:nvSpPr>
              <p:cNvPr id="6312" name="Google Shape;6312;p133"/>
              <p:cNvSpPr/>
              <p:nvPr/>
            </p:nvSpPr>
            <p:spPr>
              <a:xfrm>
                <a:off x="613" y="2568"/>
                <a:ext cx="725"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3" name="Google Shape;6313;p133"/>
              <p:cNvSpPr/>
              <p:nvPr/>
            </p:nvSpPr>
            <p:spPr>
              <a:xfrm>
                <a:off x="627" y="2586"/>
                <a:ext cx="691"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314" name="Google Shape;6314;p133"/>
            <p:cNvSpPr/>
            <p:nvPr/>
          </p:nvSpPr>
          <p:spPr>
            <a:xfrm>
              <a:off x="5250" y="429"/>
              <a:ext cx="71" cy="2287"/>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5" name="Google Shape;6315;p13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6" name="Google Shape;6316;p13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7" name="Google Shape;6317;p133"/>
            <p:cNvSpPr/>
            <p:nvPr/>
          </p:nvSpPr>
          <p:spPr>
            <a:xfrm>
              <a:off x="5516" y="2613"/>
              <a:ext cx="49"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8" name="Google Shape;6318;p13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19" name="Google Shape;6319;p133"/>
            <p:cNvSpPr/>
            <p:nvPr/>
          </p:nvSpPr>
          <p:spPr>
            <a:xfrm>
              <a:off x="4140" y="2679"/>
              <a:ext cx="1197"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20" name="Google Shape;6320;p133"/>
            <p:cNvSpPr/>
            <p:nvPr/>
          </p:nvSpPr>
          <p:spPr>
            <a:xfrm>
              <a:off x="4205" y="2710"/>
              <a:ext cx="1071" cy="85"/>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21" name="Google Shape;6321;p133"/>
            <p:cNvSpPr/>
            <p:nvPr/>
          </p:nvSpPr>
          <p:spPr>
            <a:xfrm>
              <a:off x="4309"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22" name="Google Shape;6322;p133"/>
            <p:cNvSpPr/>
            <p:nvPr/>
          </p:nvSpPr>
          <p:spPr>
            <a:xfrm>
              <a:off x="4488"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323" name="Google Shape;6323;p133"/>
            <p:cNvSpPr/>
            <p:nvPr/>
          </p:nvSpPr>
          <p:spPr>
            <a:xfrm>
              <a:off x="4662"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324" name="Google Shape;6324;p133"/>
            <p:cNvSpPr/>
            <p:nvPr/>
          </p:nvSpPr>
          <p:spPr>
            <a:xfrm>
              <a:off x="5065" y="1836"/>
              <a:ext cx="82"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325" name="Google Shape;6325;p13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0" name="Shape 6330"/>
        <p:cNvGrpSpPr/>
        <p:nvPr/>
      </p:nvGrpSpPr>
      <p:grpSpPr>
        <a:xfrm>
          <a:off x="0" y="0"/>
          <a:ext cx="0" cy="0"/>
          <a:chOff x="0" y="0"/>
          <a:chExt cx="0" cy="0"/>
        </a:xfrm>
      </p:grpSpPr>
      <p:sp>
        <p:nvSpPr>
          <p:cNvPr id="6331" name="Google Shape;6331;p134"/>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Agreeing to establish a connection</a:t>
            </a:r>
            <a:endParaRPr b="0" sz="4400"/>
          </a:p>
        </p:txBody>
      </p:sp>
      <p:sp>
        <p:nvSpPr>
          <p:cNvPr id="6332" name="Google Shape;6332;p134"/>
          <p:cNvSpPr txBox="1"/>
          <p:nvPr/>
        </p:nvSpPr>
        <p:spPr>
          <a:xfrm>
            <a:off x="5960737" y="2295084"/>
            <a:ext cx="5523920" cy="357686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None/>
            </a:pPr>
            <a:r>
              <a:rPr b="0" i="1" lang="en-US" sz="3200" u="sng" cap="none" strike="noStrike">
                <a:solidFill>
                  <a:srgbClr val="CC0000"/>
                </a:solidFill>
                <a:latin typeface="Calibri"/>
                <a:ea typeface="Calibri"/>
                <a:cs typeface="Calibri"/>
                <a:sym typeface="Calibri"/>
              </a:rPr>
              <a:t>Q:</a:t>
            </a:r>
            <a:r>
              <a:rPr b="0" i="0" lang="en-US" sz="3200" u="none" cap="none" strike="noStrike">
                <a:solidFill>
                  <a:srgbClr val="000000"/>
                </a:solidFill>
                <a:latin typeface="Calibri"/>
                <a:ea typeface="Calibri"/>
                <a:cs typeface="Calibri"/>
                <a:sym typeface="Calibri"/>
              </a:rPr>
              <a:t> will 2-way handshake always work in network?</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variable delays</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retransmitted messages (e.g. req_conn(x)) due to message loss</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message reordering</a:t>
            </a:r>
            <a:endParaRPr/>
          </a:p>
          <a:p>
            <a:pPr indent="-279400" lvl="0" marL="346075"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can’t “see” other side</a:t>
            </a:r>
            <a:endParaRPr b="0" i="0" sz="2800" u="none" cap="none" strike="noStrike">
              <a:solidFill>
                <a:srgbClr val="000000"/>
              </a:solidFill>
              <a:latin typeface="Calibri"/>
              <a:ea typeface="Calibri"/>
              <a:cs typeface="Calibri"/>
              <a:sym typeface="Calibri"/>
            </a:endParaRPr>
          </a:p>
        </p:txBody>
      </p:sp>
      <p:pic>
        <p:nvPicPr>
          <p:cNvPr descr="Alice" id="6333" name="Google Shape;6333;p134"/>
          <p:cNvPicPr preferRelativeResize="0"/>
          <p:nvPr/>
        </p:nvPicPr>
        <p:blipFill rotWithShape="1">
          <a:blip r:embed="rId3">
            <a:alphaModFix/>
          </a:blip>
          <a:srcRect b="0" l="0" r="0" t="0"/>
          <a:stretch/>
        </p:blipFill>
        <p:spPr>
          <a:xfrm>
            <a:off x="1792408" y="2031271"/>
            <a:ext cx="685440" cy="681828"/>
          </a:xfrm>
          <a:prstGeom prst="rect">
            <a:avLst/>
          </a:prstGeom>
          <a:noFill/>
          <a:ln>
            <a:noFill/>
          </a:ln>
        </p:spPr>
      </p:pic>
      <p:pic>
        <p:nvPicPr>
          <p:cNvPr descr="Bob" id="6334" name="Google Shape;6334;p134"/>
          <p:cNvPicPr preferRelativeResize="0"/>
          <p:nvPr/>
        </p:nvPicPr>
        <p:blipFill rotWithShape="1">
          <a:blip r:embed="rId4">
            <a:alphaModFix/>
          </a:blip>
          <a:srcRect b="0" l="0" r="0" t="0"/>
          <a:stretch/>
        </p:blipFill>
        <p:spPr>
          <a:xfrm>
            <a:off x="3842300" y="2069246"/>
            <a:ext cx="839663" cy="690459"/>
          </a:xfrm>
          <a:prstGeom prst="rect">
            <a:avLst/>
          </a:prstGeom>
          <a:noFill/>
          <a:ln>
            <a:noFill/>
          </a:ln>
        </p:spPr>
      </p:pic>
      <p:sp>
        <p:nvSpPr>
          <p:cNvPr id="6335" name="Google Shape;6335;p134"/>
          <p:cNvSpPr txBox="1"/>
          <p:nvPr/>
        </p:nvSpPr>
        <p:spPr>
          <a:xfrm>
            <a:off x="979913" y="1354621"/>
            <a:ext cx="3207929"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2-way handshake:</a:t>
            </a:r>
            <a:endParaRPr/>
          </a:p>
        </p:txBody>
      </p:sp>
      <p:cxnSp>
        <p:nvCxnSpPr>
          <p:cNvPr id="6336" name="Google Shape;6336;p134"/>
          <p:cNvCxnSpPr/>
          <p:nvPr/>
        </p:nvCxnSpPr>
        <p:spPr>
          <a:xfrm>
            <a:off x="2210097" y="2827024"/>
            <a:ext cx="1996343" cy="343504"/>
          </a:xfrm>
          <a:prstGeom prst="straightConnector1">
            <a:avLst/>
          </a:prstGeom>
          <a:noFill/>
          <a:ln cap="flat" cmpd="sng" w="28575">
            <a:solidFill>
              <a:srgbClr val="000099"/>
            </a:solidFill>
            <a:prstDash val="solid"/>
            <a:round/>
            <a:headEnd len="med" w="med" type="none"/>
            <a:tailEnd len="med" w="med" type="triangle"/>
          </a:ln>
        </p:spPr>
      </p:cxnSp>
      <p:cxnSp>
        <p:nvCxnSpPr>
          <p:cNvPr id="6337" name="Google Shape;6337;p134"/>
          <p:cNvCxnSpPr/>
          <p:nvPr/>
        </p:nvCxnSpPr>
        <p:spPr>
          <a:xfrm>
            <a:off x="2150121" y="2737265"/>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6338" name="Google Shape;6338;p134"/>
          <p:cNvCxnSpPr/>
          <p:nvPr/>
        </p:nvCxnSpPr>
        <p:spPr>
          <a:xfrm>
            <a:off x="4215008" y="2766610"/>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6339" name="Google Shape;6339;p134"/>
          <p:cNvCxnSpPr/>
          <p:nvPr/>
        </p:nvCxnSpPr>
        <p:spPr>
          <a:xfrm flipH="1">
            <a:off x="2145837" y="3258561"/>
            <a:ext cx="1996343" cy="343504"/>
          </a:xfrm>
          <a:prstGeom prst="straightConnector1">
            <a:avLst/>
          </a:prstGeom>
          <a:noFill/>
          <a:ln cap="flat" cmpd="sng" w="28575">
            <a:solidFill>
              <a:srgbClr val="000099"/>
            </a:solidFill>
            <a:prstDash val="solid"/>
            <a:round/>
            <a:headEnd len="med" w="med" type="none"/>
            <a:tailEnd len="med" w="med" type="triangle"/>
          </a:ln>
        </p:spPr>
      </p:cxnSp>
      <p:sp>
        <p:nvSpPr>
          <p:cNvPr id="6340" name="Google Shape;6340;p134"/>
          <p:cNvSpPr/>
          <p:nvPr/>
        </p:nvSpPr>
        <p:spPr>
          <a:xfrm>
            <a:off x="2531397" y="2811490"/>
            <a:ext cx="1201662"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41" name="Google Shape;6341;p134"/>
          <p:cNvSpPr txBox="1"/>
          <p:nvPr/>
        </p:nvSpPr>
        <p:spPr>
          <a:xfrm>
            <a:off x="2589217" y="2787324"/>
            <a:ext cx="1116010" cy="40011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Let’s talk</a:t>
            </a:r>
            <a:endParaRPr b="0" i="0" sz="2000" u="none" cap="none" strike="noStrike">
              <a:solidFill>
                <a:srgbClr val="000000"/>
              </a:solidFill>
              <a:latin typeface="Calibri"/>
              <a:ea typeface="Calibri"/>
              <a:cs typeface="Calibri"/>
              <a:sym typeface="Calibri"/>
            </a:endParaRPr>
          </a:p>
        </p:txBody>
      </p:sp>
      <p:sp>
        <p:nvSpPr>
          <p:cNvPr id="6342" name="Google Shape;6342;p134"/>
          <p:cNvSpPr/>
          <p:nvPr/>
        </p:nvSpPr>
        <p:spPr>
          <a:xfrm>
            <a:off x="2878401" y="3272370"/>
            <a:ext cx="593334"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43" name="Google Shape;6343;p134"/>
          <p:cNvSpPr txBox="1"/>
          <p:nvPr/>
        </p:nvSpPr>
        <p:spPr>
          <a:xfrm>
            <a:off x="2915186" y="3248204"/>
            <a:ext cx="487634" cy="40011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OK</a:t>
            </a:r>
            <a:endParaRPr/>
          </a:p>
        </p:txBody>
      </p:sp>
      <p:sp>
        <p:nvSpPr>
          <p:cNvPr id="6344" name="Google Shape;6344;p134"/>
          <p:cNvSpPr txBox="1"/>
          <p:nvPr/>
        </p:nvSpPr>
        <p:spPr>
          <a:xfrm>
            <a:off x="4320992" y="3066959"/>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6345" name="Google Shape;6345;p134"/>
          <p:cNvSpPr txBox="1"/>
          <p:nvPr/>
        </p:nvSpPr>
        <p:spPr>
          <a:xfrm>
            <a:off x="1092998" y="3429450"/>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6346" name="Google Shape;6346;p134"/>
          <p:cNvSpPr/>
          <p:nvPr/>
        </p:nvSpPr>
        <p:spPr>
          <a:xfrm>
            <a:off x="2088004" y="3557185"/>
            <a:ext cx="122093"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6347" name="Google Shape;6347;p134"/>
          <p:cNvSpPr/>
          <p:nvPr/>
        </p:nvSpPr>
        <p:spPr>
          <a:xfrm>
            <a:off x="4150748" y="3184337"/>
            <a:ext cx="122095"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6348" name="Google Shape;6348;p134"/>
          <p:cNvSpPr txBox="1"/>
          <p:nvPr/>
        </p:nvSpPr>
        <p:spPr>
          <a:xfrm>
            <a:off x="973490" y="4953638"/>
            <a:ext cx="1095235" cy="70788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choose x</a:t>
            </a:r>
            <a:endParaRPr/>
          </a:p>
          <a:p>
            <a:pPr indent="0" lvl="0" marL="0" marR="0" rtl="0" algn="r">
              <a:lnSpc>
                <a:spcPct val="100000"/>
              </a:lnSpc>
              <a:spcBef>
                <a:spcPts val="0"/>
              </a:spcBef>
              <a:spcAft>
                <a:spcPts val="0"/>
              </a:spcAft>
              <a:buClr>
                <a:schemeClr val="dk1"/>
              </a:buClr>
              <a:buSzPts val="2000"/>
              <a:buFont typeface="Tahoma"/>
              <a:buNone/>
            </a:pPr>
            <a:r>
              <a:t/>
            </a:r>
            <a:endParaRPr b="0" i="0" sz="2000" u="none" cap="none" strike="noStrike">
              <a:solidFill>
                <a:srgbClr val="000000"/>
              </a:solidFill>
              <a:latin typeface="Calibri"/>
              <a:ea typeface="Calibri"/>
              <a:cs typeface="Calibri"/>
              <a:sym typeface="Calibri"/>
            </a:endParaRPr>
          </a:p>
        </p:txBody>
      </p:sp>
      <p:cxnSp>
        <p:nvCxnSpPr>
          <p:cNvPr id="6349" name="Google Shape;6349;p134"/>
          <p:cNvCxnSpPr/>
          <p:nvPr/>
        </p:nvCxnSpPr>
        <p:spPr>
          <a:xfrm>
            <a:off x="2248653" y="5141789"/>
            <a:ext cx="1996343" cy="343503"/>
          </a:xfrm>
          <a:prstGeom prst="straightConnector1">
            <a:avLst/>
          </a:prstGeom>
          <a:noFill/>
          <a:ln cap="flat" cmpd="sng" w="28575">
            <a:solidFill>
              <a:srgbClr val="000099"/>
            </a:solidFill>
            <a:prstDash val="solid"/>
            <a:round/>
            <a:headEnd len="med" w="med" type="none"/>
            <a:tailEnd len="med" w="med" type="triangle"/>
          </a:ln>
        </p:spPr>
      </p:cxnSp>
      <p:cxnSp>
        <p:nvCxnSpPr>
          <p:cNvPr id="6350" name="Google Shape;6350;p134"/>
          <p:cNvCxnSpPr/>
          <p:nvPr/>
        </p:nvCxnSpPr>
        <p:spPr>
          <a:xfrm>
            <a:off x="2188677" y="5052029"/>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6351" name="Google Shape;6351;p134"/>
          <p:cNvCxnSpPr/>
          <p:nvPr/>
        </p:nvCxnSpPr>
        <p:spPr>
          <a:xfrm>
            <a:off x="4253564" y="5081373"/>
            <a:ext cx="0" cy="1191042"/>
          </a:xfrm>
          <a:prstGeom prst="straightConnector1">
            <a:avLst/>
          </a:prstGeom>
          <a:noFill/>
          <a:ln cap="flat" cmpd="sng" w="9525">
            <a:solidFill>
              <a:srgbClr val="777777"/>
            </a:solidFill>
            <a:prstDash val="solid"/>
            <a:round/>
            <a:headEnd len="med" w="med" type="none"/>
            <a:tailEnd len="med" w="med" type="none"/>
          </a:ln>
        </p:spPr>
      </p:cxnSp>
      <p:cxnSp>
        <p:nvCxnSpPr>
          <p:cNvPr id="6352" name="Google Shape;6352;p134"/>
          <p:cNvCxnSpPr/>
          <p:nvPr/>
        </p:nvCxnSpPr>
        <p:spPr>
          <a:xfrm flipH="1">
            <a:off x="2184393" y="5573326"/>
            <a:ext cx="1996343" cy="343503"/>
          </a:xfrm>
          <a:prstGeom prst="straightConnector1">
            <a:avLst/>
          </a:prstGeom>
          <a:noFill/>
          <a:ln cap="flat" cmpd="sng" w="28575">
            <a:solidFill>
              <a:srgbClr val="000099"/>
            </a:solidFill>
            <a:prstDash val="solid"/>
            <a:round/>
            <a:headEnd len="med" w="med" type="none"/>
            <a:tailEnd len="med" w="med" type="triangle"/>
          </a:ln>
        </p:spPr>
      </p:cxnSp>
      <p:sp>
        <p:nvSpPr>
          <p:cNvPr id="6353" name="Google Shape;6353;p134"/>
          <p:cNvSpPr/>
          <p:nvPr/>
        </p:nvSpPr>
        <p:spPr>
          <a:xfrm>
            <a:off x="2677053" y="5126253"/>
            <a:ext cx="1049579"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54" name="Google Shape;6354;p134"/>
          <p:cNvSpPr txBox="1"/>
          <p:nvPr/>
        </p:nvSpPr>
        <p:spPr>
          <a:xfrm>
            <a:off x="2502290" y="5090004"/>
            <a:ext cx="1446230"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req_conn(x)</a:t>
            </a:r>
            <a:endParaRPr/>
          </a:p>
        </p:txBody>
      </p:sp>
      <p:sp>
        <p:nvSpPr>
          <p:cNvPr id="6355" name="Google Shape;6355;p134"/>
          <p:cNvSpPr/>
          <p:nvPr/>
        </p:nvSpPr>
        <p:spPr>
          <a:xfrm>
            <a:off x="2916957" y="5587135"/>
            <a:ext cx="593334" cy="35558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56" name="Google Shape;6356;p134"/>
          <p:cNvSpPr txBox="1"/>
          <p:nvPr/>
        </p:nvSpPr>
        <p:spPr>
          <a:xfrm>
            <a:off x="4359546" y="5381723"/>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6357" name="Google Shape;6357;p134"/>
          <p:cNvSpPr txBox="1"/>
          <p:nvPr/>
        </p:nvSpPr>
        <p:spPr>
          <a:xfrm>
            <a:off x="1131555" y="5744214"/>
            <a:ext cx="84189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Calibri"/>
              <a:buNone/>
            </a:pPr>
            <a:r>
              <a:rPr b="0" i="0" lang="en-US" sz="2000" u="none" cap="none" strike="noStrike">
                <a:solidFill>
                  <a:srgbClr val="CC0000"/>
                </a:solidFill>
                <a:latin typeface="Calibri"/>
                <a:ea typeface="Calibri"/>
                <a:cs typeface="Calibri"/>
                <a:sym typeface="Calibri"/>
              </a:rPr>
              <a:t>ESTAB</a:t>
            </a:r>
            <a:endParaRPr/>
          </a:p>
        </p:txBody>
      </p:sp>
      <p:sp>
        <p:nvSpPr>
          <p:cNvPr id="6358" name="Google Shape;6358;p134"/>
          <p:cNvSpPr/>
          <p:nvPr/>
        </p:nvSpPr>
        <p:spPr>
          <a:xfrm>
            <a:off x="2126560" y="5871949"/>
            <a:ext cx="122093"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6359" name="Google Shape;6359;p134"/>
          <p:cNvSpPr/>
          <p:nvPr/>
        </p:nvSpPr>
        <p:spPr>
          <a:xfrm>
            <a:off x="4189304" y="5499101"/>
            <a:ext cx="122095" cy="96664"/>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CC0000"/>
              </a:solidFill>
              <a:latin typeface="Calibri"/>
              <a:ea typeface="Calibri"/>
              <a:cs typeface="Calibri"/>
              <a:sym typeface="Calibri"/>
            </a:endParaRPr>
          </a:p>
        </p:txBody>
      </p:sp>
      <p:sp>
        <p:nvSpPr>
          <p:cNvPr id="6360" name="Google Shape;6360;p134"/>
          <p:cNvSpPr/>
          <p:nvPr/>
        </p:nvSpPr>
        <p:spPr>
          <a:xfrm>
            <a:off x="2514261" y="5594040"/>
            <a:ext cx="1445850" cy="28308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61" name="Google Shape;6361;p134"/>
          <p:cNvSpPr txBox="1"/>
          <p:nvPr/>
        </p:nvSpPr>
        <p:spPr>
          <a:xfrm>
            <a:off x="2500404" y="5552612"/>
            <a:ext cx="1435008"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acc_conn(x)</a:t>
            </a:r>
            <a:endParaRPr/>
          </a:p>
        </p:txBody>
      </p:sp>
      <p:grpSp>
        <p:nvGrpSpPr>
          <p:cNvPr id="6362" name="Google Shape;6362;p134"/>
          <p:cNvGrpSpPr/>
          <p:nvPr/>
        </p:nvGrpSpPr>
        <p:grpSpPr>
          <a:xfrm>
            <a:off x="1696017" y="4472044"/>
            <a:ext cx="775403" cy="566176"/>
            <a:chOff x="-44" y="1473"/>
            <a:chExt cx="981" cy="1105"/>
          </a:xfrm>
        </p:grpSpPr>
        <p:pic>
          <p:nvPicPr>
            <p:cNvPr descr="desktop_computer_stylized_medium" id="6363" name="Google Shape;6363;p134"/>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6364" name="Google Shape;6364;p13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grpSp>
        <p:nvGrpSpPr>
          <p:cNvPr id="6365" name="Google Shape;6365;p134"/>
          <p:cNvGrpSpPr/>
          <p:nvPr/>
        </p:nvGrpSpPr>
        <p:grpSpPr>
          <a:xfrm>
            <a:off x="4073636" y="4451330"/>
            <a:ext cx="318750" cy="557545"/>
            <a:chOff x="4140" y="429"/>
            <a:chExt cx="1425" cy="2396"/>
          </a:xfrm>
        </p:grpSpPr>
        <p:sp>
          <p:nvSpPr>
            <p:cNvPr id="6366" name="Google Shape;6366;p13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67" name="Google Shape;6367;p134"/>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68" name="Google Shape;6368;p13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69" name="Google Shape;6369;p13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70" name="Google Shape;6370;p134"/>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6371" name="Google Shape;6371;p134"/>
            <p:cNvGrpSpPr/>
            <p:nvPr/>
          </p:nvGrpSpPr>
          <p:grpSpPr>
            <a:xfrm>
              <a:off x="4751" y="666"/>
              <a:ext cx="578" cy="148"/>
              <a:chOff x="617" y="2566"/>
              <a:chExt cx="721" cy="142"/>
            </a:xfrm>
          </p:grpSpPr>
          <p:sp>
            <p:nvSpPr>
              <p:cNvPr id="6372" name="Google Shape;6372;p134"/>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73" name="Google Shape;6373;p134"/>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6374" name="Google Shape;6374;p134"/>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6375" name="Google Shape;6375;p134"/>
            <p:cNvGrpSpPr/>
            <p:nvPr/>
          </p:nvGrpSpPr>
          <p:grpSpPr>
            <a:xfrm>
              <a:off x="4745" y="993"/>
              <a:ext cx="585" cy="134"/>
              <a:chOff x="611" y="2567"/>
              <a:chExt cx="730" cy="139"/>
            </a:xfrm>
          </p:grpSpPr>
          <p:sp>
            <p:nvSpPr>
              <p:cNvPr id="6376" name="Google Shape;6376;p134"/>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77" name="Google Shape;6377;p134"/>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6378" name="Google Shape;6378;p134"/>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79" name="Google Shape;6379;p134"/>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6380" name="Google Shape;6380;p134"/>
            <p:cNvGrpSpPr/>
            <p:nvPr/>
          </p:nvGrpSpPr>
          <p:grpSpPr>
            <a:xfrm>
              <a:off x="4738" y="1630"/>
              <a:ext cx="578" cy="149"/>
              <a:chOff x="618" y="2571"/>
              <a:chExt cx="720" cy="137"/>
            </a:xfrm>
          </p:grpSpPr>
          <p:sp>
            <p:nvSpPr>
              <p:cNvPr id="6381" name="Google Shape;6381;p134"/>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82" name="Google Shape;6382;p134"/>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6383" name="Google Shape;6383;p13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nvGrpSpPr>
            <p:cNvPr id="6384" name="Google Shape;6384;p134"/>
            <p:cNvGrpSpPr/>
            <p:nvPr/>
          </p:nvGrpSpPr>
          <p:grpSpPr>
            <a:xfrm>
              <a:off x="4738" y="1327"/>
              <a:ext cx="584" cy="141"/>
              <a:chOff x="613" y="2568"/>
              <a:chExt cx="728" cy="141"/>
            </a:xfrm>
          </p:grpSpPr>
          <p:sp>
            <p:nvSpPr>
              <p:cNvPr id="6385" name="Google Shape;6385;p134"/>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86" name="Google Shape;6386;p134"/>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6387" name="Google Shape;6387;p134"/>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88" name="Google Shape;6388;p13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89" name="Google Shape;6389;p13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90" name="Google Shape;6390;p134"/>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91" name="Google Shape;6391;p13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92" name="Google Shape;6392;p134"/>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93" name="Google Shape;6393;p134"/>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94" name="Google Shape;6394;p134"/>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95" name="Google Shape;6395;p134"/>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FF0000"/>
                </a:solidFill>
                <a:latin typeface="Calibri"/>
                <a:ea typeface="Calibri"/>
                <a:cs typeface="Calibri"/>
                <a:sym typeface="Calibri"/>
              </a:endParaRPr>
            </a:p>
          </p:txBody>
        </p:sp>
        <p:sp>
          <p:nvSpPr>
            <p:cNvPr id="6396" name="Google Shape;6396;p134"/>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sp>
          <p:nvSpPr>
            <p:cNvPr id="6397" name="Google Shape;6397;p134"/>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Calibri"/>
                <a:ea typeface="Calibri"/>
                <a:cs typeface="Calibri"/>
                <a:sym typeface="Calibri"/>
              </a:endParaRPr>
            </a:p>
          </p:txBody>
        </p:sp>
      </p:grpSp>
      <p:sp>
        <p:nvSpPr>
          <p:cNvPr id="6398" name="Google Shape;6398;p13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32"/>
                                        </p:tgtEl>
                                        <p:attrNameLst>
                                          <p:attrName>style.visibility</p:attrName>
                                        </p:attrNameLst>
                                      </p:cBhvr>
                                      <p:to>
                                        <p:strVal val="visible"/>
                                      </p:to>
                                    </p:set>
                                    <p:animEffect filter="fade" transition="in">
                                      <p:cBhvr>
                                        <p:cTn dur="500"/>
                                        <p:tgtEl>
                                          <p:spTgt spid="63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3" name="Shape 6403"/>
        <p:cNvGrpSpPr/>
        <p:nvPr/>
      </p:nvGrpSpPr>
      <p:grpSpPr>
        <a:xfrm>
          <a:off x="0" y="0"/>
          <a:ext cx="0" cy="0"/>
          <a:chOff x="0" y="0"/>
          <a:chExt cx="0" cy="0"/>
        </a:xfrm>
      </p:grpSpPr>
      <p:sp>
        <p:nvSpPr>
          <p:cNvPr id="6404" name="Google Shape;6404;p135"/>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2-way handshake scenarios</a:t>
            </a:r>
            <a:endParaRPr/>
          </a:p>
        </p:txBody>
      </p:sp>
      <p:grpSp>
        <p:nvGrpSpPr>
          <p:cNvPr id="6405" name="Google Shape;6405;p135"/>
          <p:cNvGrpSpPr/>
          <p:nvPr/>
        </p:nvGrpSpPr>
        <p:grpSpPr>
          <a:xfrm>
            <a:off x="435655" y="1435139"/>
            <a:ext cx="3855401" cy="3186116"/>
            <a:chOff x="435655" y="1990325"/>
            <a:chExt cx="3855401" cy="3186116"/>
          </a:xfrm>
        </p:grpSpPr>
        <p:cxnSp>
          <p:nvCxnSpPr>
            <p:cNvPr id="6406" name="Google Shape;6406;p135"/>
            <p:cNvCxnSpPr/>
            <p:nvPr/>
          </p:nvCxnSpPr>
          <p:spPr>
            <a:xfrm flipH="1">
              <a:off x="1461180" y="2545950"/>
              <a:ext cx="1588" cy="2470150"/>
            </a:xfrm>
            <a:prstGeom prst="straightConnector1">
              <a:avLst/>
            </a:prstGeom>
            <a:noFill/>
            <a:ln cap="flat" cmpd="sng" w="9525">
              <a:solidFill>
                <a:srgbClr val="777777"/>
              </a:solidFill>
              <a:prstDash val="solid"/>
              <a:round/>
              <a:headEnd len="med" w="med" type="none"/>
              <a:tailEnd len="med" w="med" type="none"/>
            </a:ln>
          </p:spPr>
        </p:cxnSp>
        <p:cxnSp>
          <p:nvCxnSpPr>
            <p:cNvPr id="6407" name="Google Shape;6407;p135"/>
            <p:cNvCxnSpPr/>
            <p:nvPr/>
          </p:nvCxnSpPr>
          <p:spPr>
            <a:xfrm>
              <a:off x="2991529" y="2618975"/>
              <a:ext cx="0" cy="2524525"/>
            </a:xfrm>
            <a:prstGeom prst="straightConnector1">
              <a:avLst/>
            </a:prstGeom>
            <a:noFill/>
            <a:ln cap="flat" cmpd="sng" w="9525">
              <a:solidFill>
                <a:srgbClr val="777777"/>
              </a:solidFill>
              <a:prstDash val="solid"/>
              <a:round/>
              <a:headEnd len="med" w="med" type="none"/>
              <a:tailEnd len="med" w="med" type="none"/>
            </a:ln>
          </p:spPr>
        </p:cxnSp>
        <p:grpSp>
          <p:nvGrpSpPr>
            <p:cNvPr id="6408" name="Google Shape;6408;p135"/>
            <p:cNvGrpSpPr/>
            <p:nvPr/>
          </p:nvGrpSpPr>
          <p:grpSpPr>
            <a:xfrm>
              <a:off x="1386567" y="4700191"/>
              <a:ext cx="2405063" cy="476250"/>
              <a:chOff x="1097" y="2807"/>
              <a:chExt cx="1515" cy="300"/>
            </a:xfrm>
          </p:grpSpPr>
          <p:cxnSp>
            <p:nvCxnSpPr>
              <p:cNvPr id="6409" name="Google Shape;6409;p135"/>
              <p:cNvCxnSpPr/>
              <p:nvPr/>
            </p:nvCxnSpPr>
            <p:spPr>
              <a:xfrm>
                <a:off x="1097" y="2964"/>
                <a:ext cx="1515" cy="0"/>
              </a:xfrm>
              <a:prstGeom prst="straightConnector1">
                <a:avLst/>
              </a:prstGeom>
              <a:noFill/>
              <a:ln cap="flat" cmpd="sng" w="28575">
                <a:solidFill>
                  <a:srgbClr val="CC0000"/>
                </a:solidFill>
                <a:prstDash val="dash"/>
                <a:round/>
                <a:headEnd len="med" w="med" type="none"/>
                <a:tailEnd len="med" w="med" type="none"/>
              </a:ln>
            </p:spPr>
          </p:cxnSp>
          <p:sp>
            <p:nvSpPr>
              <p:cNvPr id="6410" name="Google Shape;6410;p135"/>
              <p:cNvSpPr txBox="1"/>
              <p:nvPr/>
            </p:nvSpPr>
            <p:spPr>
              <a:xfrm>
                <a:off x="1269" y="2807"/>
                <a:ext cx="706" cy="3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a:t>
                </a:r>
                <a:endParaRPr/>
              </a:p>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x completes</a:t>
                </a:r>
                <a:endParaRPr/>
              </a:p>
            </p:txBody>
          </p:sp>
        </p:grpSp>
        <p:grpSp>
          <p:nvGrpSpPr>
            <p:cNvPr id="6411" name="Google Shape;6411;p135"/>
            <p:cNvGrpSpPr/>
            <p:nvPr/>
          </p:nvGrpSpPr>
          <p:grpSpPr>
            <a:xfrm>
              <a:off x="435655" y="1990325"/>
              <a:ext cx="3389313" cy="2136775"/>
              <a:chOff x="484" y="1100"/>
              <a:chExt cx="2135" cy="1346"/>
            </a:xfrm>
          </p:grpSpPr>
          <p:sp>
            <p:nvSpPr>
              <p:cNvPr id="6412" name="Google Shape;6412;p135"/>
              <p:cNvSpPr txBox="1"/>
              <p:nvPr/>
            </p:nvSpPr>
            <p:spPr>
              <a:xfrm>
                <a:off x="484" y="1393"/>
                <a:ext cx="613" cy="3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choose 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6413" name="Google Shape;6413;p135"/>
              <p:cNvCxnSpPr/>
              <p:nvPr/>
            </p:nvCxnSpPr>
            <p:spPr>
              <a:xfrm>
                <a:off x="1159" y="1516"/>
                <a:ext cx="932" cy="199"/>
              </a:xfrm>
              <a:prstGeom prst="straightConnector1">
                <a:avLst/>
              </a:prstGeom>
              <a:noFill/>
              <a:ln cap="flat" cmpd="sng" w="28575">
                <a:solidFill>
                  <a:srgbClr val="000099"/>
                </a:solidFill>
                <a:prstDash val="solid"/>
                <a:round/>
                <a:headEnd len="med" w="med" type="none"/>
                <a:tailEnd len="med" w="med" type="triangle"/>
              </a:ln>
            </p:spPr>
          </p:cxnSp>
          <p:cxnSp>
            <p:nvCxnSpPr>
              <p:cNvPr id="6414" name="Google Shape;6414;p135"/>
              <p:cNvCxnSpPr/>
              <p:nvPr/>
            </p:nvCxnSpPr>
            <p:spPr>
              <a:xfrm flipH="1">
                <a:off x="1121" y="1739"/>
                <a:ext cx="990" cy="602"/>
              </a:xfrm>
              <a:prstGeom prst="straightConnector1">
                <a:avLst/>
              </a:prstGeom>
              <a:noFill/>
              <a:ln cap="flat" cmpd="sng" w="28575">
                <a:solidFill>
                  <a:srgbClr val="000099"/>
                </a:solidFill>
                <a:prstDash val="solid"/>
                <a:round/>
                <a:headEnd len="med" w="med" type="none"/>
                <a:tailEnd len="med" w="med" type="triangle"/>
              </a:ln>
            </p:spPr>
          </p:cxnSp>
          <p:sp>
            <p:nvSpPr>
              <p:cNvPr id="6415" name="Google Shape;6415;p135"/>
              <p:cNvSpPr/>
              <p:nvPr/>
            </p:nvSpPr>
            <p:spPr>
              <a:xfrm>
                <a:off x="1359" y="1507"/>
                <a:ext cx="490"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16" name="Google Shape;6416;p135"/>
              <p:cNvSpPr txBox="1"/>
              <p:nvPr/>
            </p:nvSpPr>
            <p:spPr>
              <a:xfrm>
                <a:off x="1214" y="1486"/>
                <a:ext cx="8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sp>
            <p:nvSpPr>
              <p:cNvPr id="6417" name="Google Shape;6417;p135"/>
              <p:cNvSpPr/>
              <p:nvPr/>
            </p:nvSpPr>
            <p:spPr>
              <a:xfrm>
                <a:off x="1471" y="1774"/>
                <a:ext cx="277"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18" name="Google Shape;6418;p135"/>
              <p:cNvSpPr txBox="1"/>
              <p:nvPr/>
            </p:nvSpPr>
            <p:spPr>
              <a:xfrm>
                <a:off x="2133" y="1649"/>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6419" name="Google Shape;6419;p135"/>
              <p:cNvSpPr txBox="1"/>
              <p:nvPr/>
            </p:nvSpPr>
            <p:spPr>
              <a:xfrm>
                <a:off x="583" y="2234"/>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6420" name="Google Shape;6420;p135"/>
              <p:cNvSpPr/>
              <p:nvPr/>
            </p:nvSpPr>
            <p:spPr>
              <a:xfrm>
                <a:off x="1095" y="2298"/>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6421" name="Google Shape;6421;p135"/>
              <p:cNvSpPr/>
              <p:nvPr/>
            </p:nvSpPr>
            <p:spPr>
              <a:xfrm>
                <a:off x="2065" y="1723"/>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nvGrpSpPr>
              <p:cNvPr id="6422" name="Google Shape;6422;p135"/>
              <p:cNvGrpSpPr/>
              <p:nvPr/>
            </p:nvGrpSpPr>
            <p:grpSpPr>
              <a:xfrm>
                <a:off x="1277" y="1861"/>
                <a:ext cx="803" cy="212"/>
                <a:chOff x="1065" y="2085"/>
                <a:chExt cx="803" cy="212"/>
              </a:xfrm>
            </p:grpSpPr>
            <p:sp>
              <p:nvSpPr>
                <p:cNvPr id="6423" name="Google Shape;6423;p135"/>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24" name="Google Shape;6424;p135"/>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grpSp>
            <p:nvGrpSpPr>
              <p:cNvPr id="6425" name="Google Shape;6425;p135"/>
              <p:cNvGrpSpPr/>
              <p:nvPr/>
            </p:nvGrpSpPr>
            <p:grpSpPr>
              <a:xfrm>
                <a:off x="834" y="1112"/>
                <a:ext cx="391" cy="307"/>
                <a:chOff x="-44" y="1473"/>
                <a:chExt cx="981" cy="1105"/>
              </a:xfrm>
            </p:grpSpPr>
            <p:pic>
              <p:nvPicPr>
                <p:cNvPr descr="desktop_computer_stylized_medium" id="6426" name="Google Shape;6426;p13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427" name="Google Shape;6427;p13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428" name="Google Shape;6428;p135"/>
              <p:cNvGrpSpPr/>
              <p:nvPr/>
            </p:nvGrpSpPr>
            <p:grpSpPr>
              <a:xfrm>
                <a:off x="1973" y="1100"/>
                <a:ext cx="212" cy="323"/>
                <a:chOff x="4140" y="429"/>
                <a:chExt cx="1425" cy="2396"/>
              </a:xfrm>
            </p:grpSpPr>
            <p:sp>
              <p:nvSpPr>
                <p:cNvPr id="6429" name="Google Shape;6429;p13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30" name="Google Shape;6430;p135"/>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31" name="Google Shape;6431;p13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32" name="Google Shape;6432;p13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33" name="Google Shape;6433;p135"/>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34" name="Google Shape;6434;p135"/>
                <p:cNvGrpSpPr/>
                <p:nvPr/>
              </p:nvGrpSpPr>
              <p:grpSpPr>
                <a:xfrm>
                  <a:off x="4751" y="666"/>
                  <a:ext cx="578" cy="148"/>
                  <a:chOff x="617" y="2566"/>
                  <a:chExt cx="721" cy="142"/>
                </a:xfrm>
              </p:grpSpPr>
              <p:sp>
                <p:nvSpPr>
                  <p:cNvPr id="6435" name="Google Shape;6435;p135"/>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36" name="Google Shape;6436;p135"/>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37" name="Google Shape;6437;p135"/>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38" name="Google Shape;6438;p135"/>
                <p:cNvGrpSpPr/>
                <p:nvPr/>
              </p:nvGrpSpPr>
              <p:grpSpPr>
                <a:xfrm>
                  <a:off x="4745" y="993"/>
                  <a:ext cx="585" cy="134"/>
                  <a:chOff x="611" y="2567"/>
                  <a:chExt cx="730" cy="139"/>
                </a:xfrm>
              </p:grpSpPr>
              <p:sp>
                <p:nvSpPr>
                  <p:cNvPr id="6439" name="Google Shape;6439;p135"/>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40" name="Google Shape;6440;p135"/>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41" name="Google Shape;6441;p135"/>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42" name="Google Shape;6442;p135"/>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43" name="Google Shape;6443;p135"/>
                <p:cNvGrpSpPr/>
                <p:nvPr/>
              </p:nvGrpSpPr>
              <p:grpSpPr>
                <a:xfrm>
                  <a:off x="4738" y="1630"/>
                  <a:ext cx="578" cy="149"/>
                  <a:chOff x="618" y="2571"/>
                  <a:chExt cx="720" cy="137"/>
                </a:xfrm>
              </p:grpSpPr>
              <p:sp>
                <p:nvSpPr>
                  <p:cNvPr id="6444" name="Google Shape;6444;p135"/>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45" name="Google Shape;6445;p135"/>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46" name="Google Shape;6446;p13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47" name="Google Shape;6447;p135"/>
                <p:cNvGrpSpPr/>
                <p:nvPr/>
              </p:nvGrpSpPr>
              <p:grpSpPr>
                <a:xfrm>
                  <a:off x="4738" y="1327"/>
                  <a:ext cx="584" cy="141"/>
                  <a:chOff x="613" y="2568"/>
                  <a:chExt cx="728" cy="141"/>
                </a:xfrm>
              </p:grpSpPr>
              <p:sp>
                <p:nvSpPr>
                  <p:cNvPr id="6448" name="Google Shape;6448;p135"/>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49" name="Google Shape;6449;p135"/>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450" name="Google Shape;6450;p135"/>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51" name="Google Shape;6451;p13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52" name="Google Shape;6452;p13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53" name="Google Shape;6453;p135"/>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54" name="Google Shape;6454;p13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55" name="Google Shape;6455;p135"/>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56" name="Google Shape;6456;p135"/>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57" name="Google Shape;6457;p135"/>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58" name="Google Shape;6458;p135"/>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459" name="Google Shape;6459;p135"/>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60" name="Google Shape;6460;p135"/>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sp>
          <p:nvSpPr>
            <p:cNvPr id="6461" name="Google Shape;6461;p135"/>
            <p:cNvSpPr/>
            <p:nvPr/>
          </p:nvSpPr>
          <p:spPr>
            <a:xfrm>
              <a:off x="1416094" y="3893738"/>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cxnSp>
          <p:nvCxnSpPr>
            <p:cNvPr id="6462" name="Google Shape;6462;p135"/>
            <p:cNvCxnSpPr/>
            <p:nvPr/>
          </p:nvCxnSpPr>
          <p:spPr>
            <a:xfrm>
              <a:off x="1511344" y="3966763"/>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6463" name="Google Shape;6463;p135"/>
            <p:cNvSpPr/>
            <p:nvPr/>
          </p:nvSpPr>
          <p:spPr>
            <a:xfrm>
              <a:off x="1828844" y="3952476"/>
              <a:ext cx="777875" cy="3270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64" name="Google Shape;6464;p135"/>
            <p:cNvSpPr txBox="1"/>
            <p:nvPr/>
          </p:nvSpPr>
          <p:spPr>
            <a:xfrm>
              <a:off x="1689144" y="3919138"/>
              <a:ext cx="10922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sp>
          <p:nvSpPr>
            <p:cNvPr id="6465" name="Google Shape;6465;p135"/>
            <p:cNvSpPr/>
            <p:nvPr/>
          </p:nvSpPr>
          <p:spPr>
            <a:xfrm>
              <a:off x="2960731" y="4250926"/>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6466" name="Google Shape;6466;p135"/>
            <p:cNvSpPr txBox="1"/>
            <p:nvPr/>
          </p:nvSpPr>
          <p:spPr>
            <a:xfrm>
              <a:off x="3119481" y="4011213"/>
              <a:ext cx="1171575" cy="50800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accept</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grpSp>
          <p:nvGrpSpPr>
            <p:cNvPr id="6467" name="Google Shape;6467;p135"/>
            <p:cNvGrpSpPr/>
            <p:nvPr/>
          </p:nvGrpSpPr>
          <p:grpSpPr>
            <a:xfrm flipH="1">
              <a:off x="1449388" y="4279047"/>
              <a:ext cx="1539875" cy="390924"/>
              <a:chOff x="796245" y="5993547"/>
              <a:chExt cx="1539875" cy="390924"/>
            </a:xfrm>
          </p:grpSpPr>
          <p:cxnSp>
            <p:nvCxnSpPr>
              <p:cNvPr id="6468" name="Google Shape;6468;p135"/>
              <p:cNvCxnSpPr/>
              <p:nvPr/>
            </p:nvCxnSpPr>
            <p:spPr>
              <a:xfrm>
                <a:off x="796245" y="6007834"/>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6469" name="Google Shape;6469;p135"/>
              <p:cNvSpPr/>
              <p:nvPr/>
            </p:nvSpPr>
            <p:spPr>
              <a:xfrm>
                <a:off x="1113745" y="5993547"/>
                <a:ext cx="859292" cy="39092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70" name="Google Shape;6470;p135"/>
              <p:cNvSpPr/>
              <p:nvPr/>
            </p:nvSpPr>
            <p:spPr>
              <a:xfrm>
                <a:off x="2245632" y="6291997"/>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sp>
          <p:nvSpPr>
            <p:cNvPr id="6471" name="Google Shape;6471;p135"/>
            <p:cNvSpPr txBox="1"/>
            <p:nvPr/>
          </p:nvSpPr>
          <p:spPr>
            <a:xfrm>
              <a:off x="1735694" y="4283529"/>
              <a:ext cx="1071127"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ACK(x+1)</a:t>
              </a:r>
              <a:endParaRPr/>
            </a:p>
          </p:txBody>
        </p:sp>
      </p:grpSp>
      <p:grpSp>
        <p:nvGrpSpPr>
          <p:cNvPr id="6472" name="Google Shape;6472;p135"/>
          <p:cNvGrpSpPr/>
          <p:nvPr/>
        </p:nvGrpSpPr>
        <p:grpSpPr>
          <a:xfrm>
            <a:off x="1273629" y="5146706"/>
            <a:ext cx="1773114" cy="1003723"/>
            <a:chOff x="1273629" y="5146706"/>
            <a:chExt cx="1773114" cy="1003723"/>
          </a:xfrm>
        </p:grpSpPr>
        <p:sp>
          <p:nvSpPr>
            <p:cNvPr id="6473" name="Google Shape;6473;p135"/>
            <p:cNvSpPr txBox="1"/>
            <p:nvPr/>
          </p:nvSpPr>
          <p:spPr>
            <a:xfrm>
              <a:off x="1273629" y="5146706"/>
              <a:ext cx="17731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No problem!</a:t>
              </a:r>
              <a:endParaRPr/>
            </a:p>
          </p:txBody>
        </p:sp>
        <p:pic>
          <p:nvPicPr>
            <p:cNvPr descr="A picture containing drawing&#10;&#10;Description automatically generated" id="6474" name="Google Shape;6474;p135"/>
            <p:cNvPicPr preferRelativeResize="0"/>
            <p:nvPr/>
          </p:nvPicPr>
          <p:blipFill rotWithShape="1">
            <a:blip r:embed="rId4">
              <a:alphaModFix/>
            </a:blip>
            <a:srcRect b="0" l="0" r="0" t="0"/>
            <a:stretch/>
          </p:blipFill>
          <p:spPr>
            <a:xfrm>
              <a:off x="1812470" y="5524500"/>
              <a:ext cx="625929" cy="625929"/>
            </a:xfrm>
            <a:prstGeom prst="rect">
              <a:avLst/>
            </a:prstGeom>
            <a:noFill/>
            <a:ln>
              <a:noFill/>
            </a:ln>
          </p:spPr>
        </p:pic>
      </p:grpSp>
      <p:sp>
        <p:nvSpPr>
          <p:cNvPr id="6475" name="Google Shape;6475;p13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72"/>
                                        </p:tgtEl>
                                        <p:attrNameLst>
                                          <p:attrName>style.visibility</p:attrName>
                                        </p:attrNameLst>
                                      </p:cBhvr>
                                      <p:to>
                                        <p:strVal val="visible"/>
                                      </p:to>
                                    </p:set>
                                    <p:animEffect filter="fade" transition="in">
                                      <p:cBhvr>
                                        <p:cTn dur="500"/>
                                        <p:tgtEl>
                                          <p:spTgt spid="6472"/>
                                        </p:tgtEl>
                                      </p:cBhvr>
                                    </p:animEffect>
                                  </p:childTnLst>
                                </p:cTn>
                              </p:par>
                              <p:par>
                                <p:cTn fill="hold" nodeType="withEffect" presetClass="exit" presetID="10" presetSubtype="0">
                                  <p:stCondLst>
                                    <p:cond delay="0"/>
                                  </p:stCondLst>
                                  <p:childTnLst>
                                    <p:animEffect filter="fade" transition="out">
                                      <p:cBhvr>
                                        <p:cTn dur="500"/>
                                        <p:tgtEl>
                                          <p:spTgt spid="6405"/>
                                        </p:tgtEl>
                                      </p:cBhvr>
                                    </p:animEffect>
                                    <p:set>
                                      <p:cBhvr>
                                        <p:cTn dur="1" fill="hold">
                                          <p:stCondLst>
                                            <p:cond delay="500"/>
                                          </p:stCondLst>
                                        </p:cTn>
                                        <p:tgtEl>
                                          <p:spTgt spid="640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6472"/>
                                        </p:tgtEl>
                                      </p:cBhvr>
                                    </p:animEffect>
                                    <p:set>
                                      <p:cBhvr>
                                        <p:cTn dur="1" fill="hold">
                                          <p:stCondLst>
                                            <p:cond delay="500"/>
                                          </p:stCondLst>
                                        </p:cTn>
                                        <p:tgtEl>
                                          <p:spTgt spid="647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0" name="Shape 6480"/>
        <p:cNvGrpSpPr/>
        <p:nvPr/>
      </p:nvGrpSpPr>
      <p:grpSpPr>
        <a:xfrm>
          <a:off x="0" y="0"/>
          <a:ext cx="0" cy="0"/>
          <a:chOff x="0" y="0"/>
          <a:chExt cx="0" cy="0"/>
        </a:xfrm>
      </p:grpSpPr>
      <p:sp>
        <p:nvSpPr>
          <p:cNvPr id="6481" name="Google Shape;6481;p136"/>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2-way handshake scenarios</a:t>
            </a:r>
            <a:endParaRPr/>
          </a:p>
        </p:txBody>
      </p:sp>
      <p:grpSp>
        <p:nvGrpSpPr>
          <p:cNvPr id="6482" name="Google Shape;6482;p136"/>
          <p:cNvGrpSpPr/>
          <p:nvPr/>
        </p:nvGrpSpPr>
        <p:grpSpPr>
          <a:xfrm>
            <a:off x="5262108" y="1983508"/>
            <a:ext cx="1530350" cy="4033838"/>
            <a:chOff x="5276623" y="2475192"/>
            <a:chExt cx="1530350" cy="4033838"/>
          </a:xfrm>
        </p:grpSpPr>
        <p:cxnSp>
          <p:nvCxnSpPr>
            <p:cNvPr id="6483" name="Google Shape;6483;p136"/>
            <p:cNvCxnSpPr/>
            <p:nvPr/>
          </p:nvCxnSpPr>
          <p:spPr>
            <a:xfrm flipH="1">
              <a:off x="5276623" y="2475192"/>
              <a:ext cx="1588" cy="2470150"/>
            </a:xfrm>
            <a:prstGeom prst="straightConnector1">
              <a:avLst/>
            </a:prstGeom>
            <a:noFill/>
            <a:ln cap="flat" cmpd="sng" w="9525">
              <a:solidFill>
                <a:srgbClr val="777777"/>
              </a:solidFill>
              <a:prstDash val="solid"/>
              <a:round/>
              <a:headEnd len="med" w="med" type="none"/>
              <a:tailEnd len="med" w="med" type="none"/>
            </a:ln>
          </p:spPr>
        </p:cxnSp>
        <p:cxnSp>
          <p:nvCxnSpPr>
            <p:cNvPr id="6484" name="Google Shape;6484;p136"/>
            <p:cNvCxnSpPr/>
            <p:nvPr/>
          </p:nvCxnSpPr>
          <p:spPr>
            <a:xfrm flipH="1">
              <a:off x="6805386" y="2548217"/>
              <a:ext cx="1587" cy="3960813"/>
            </a:xfrm>
            <a:prstGeom prst="straightConnector1">
              <a:avLst/>
            </a:prstGeom>
            <a:noFill/>
            <a:ln cap="flat" cmpd="sng" w="9525">
              <a:solidFill>
                <a:srgbClr val="777777"/>
              </a:solidFill>
              <a:prstDash val="solid"/>
              <a:round/>
              <a:headEnd len="med" w="med" type="none"/>
              <a:tailEnd len="med" w="med" type="none"/>
            </a:ln>
          </p:spPr>
        </p:cxnSp>
      </p:grpSp>
      <p:grpSp>
        <p:nvGrpSpPr>
          <p:cNvPr id="6485" name="Google Shape;6485;p136"/>
          <p:cNvGrpSpPr/>
          <p:nvPr/>
        </p:nvGrpSpPr>
        <p:grpSpPr>
          <a:xfrm>
            <a:off x="6768421" y="5356225"/>
            <a:ext cx="847724" cy="336550"/>
            <a:chOff x="11151735" y="5148718"/>
            <a:chExt cx="847724" cy="336550"/>
          </a:xfrm>
        </p:grpSpPr>
        <p:sp>
          <p:nvSpPr>
            <p:cNvPr id="6486" name="Google Shape;6486;p136"/>
            <p:cNvSpPr txBox="1"/>
            <p:nvPr/>
          </p:nvSpPr>
          <p:spPr>
            <a:xfrm>
              <a:off x="11227935" y="5148718"/>
              <a:ext cx="771524"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6487" name="Google Shape;6487;p136"/>
            <p:cNvSpPr/>
            <p:nvPr/>
          </p:nvSpPr>
          <p:spPr>
            <a:xfrm>
              <a:off x="11151735" y="5275718"/>
              <a:ext cx="90487"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grpSp>
        <p:nvGrpSpPr>
          <p:cNvPr id="6488" name="Google Shape;6488;p136"/>
          <p:cNvGrpSpPr/>
          <p:nvPr/>
        </p:nvGrpSpPr>
        <p:grpSpPr>
          <a:xfrm>
            <a:off x="3998688" y="2674935"/>
            <a:ext cx="2841623" cy="2849565"/>
            <a:chOff x="8352974" y="2492829"/>
            <a:chExt cx="2841623" cy="2849565"/>
          </a:xfrm>
        </p:grpSpPr>
        <p:sp>
          <p:nvSpPr>
            <p:cNvPr id="6489" name="Google Shape;6489;p136"/>
            <p:cNvSpPr txBox="1"/>
            <p:nvPr/>
          </p:nvSpPr>
          <p:spPr>
            <a:xfrm>
              <a:off x="8352974" y="2492829"/>
              <a:ext cx="1273174" cy="75247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a:t>
              </a:r>
              <a:endParaRPr/>
            </a:p>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490" name="Google Shape;6490;p136"/>
            <p:cNvSpPr/>
            <p:nvPr/>
          </p:nvSpPr>
          <p:spPr>
            <a:xfrm>
              <a:off x="9667423" y="2783342"/>
              <a:ext cx="1527174" cy="2559052"/>
            </a:xfrm>
            <a:custGeom>
              <a:rect b="b" l="l" r="r" t="t"/>
              <a:pathLst>
                <a:path extrusionOk="0" h="1612" w="962">
                  <a:moveTo>
                    <a:pt x="0" y="0"/>
                  </a:moveTo>
                  <a:cubicBezTo>
                    <a:pt x="50" y="40"/>
                    <a:pt x="228" y="10"/>
                    <a:pt x="306" y="234"/>
                  </a:cubicBezTo>
                  <a:cubicBezTo>
                    <a:pt x="384" y="458"/>
                    <a:pt x="358" y="1112"/>
                    <a:pt x="467" y="1342"/>
                  </a:cubicBezTo>
                  <a:cubicBezTo>
                    <a:pt x="576" y="1572"/>
                    <a:pt x="779" y="1601"/>
                    <a:pt x="962" y="1612"/>
                  </a:cubicBezTo>
                </a:path>
              </a:pathLst>
            </a:custGeom>
            <a:noFill/>
            <a:ln cap="flat" cmpd="sng" w="28575">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491" name="Google Shape;6491;p136"/>
            <p:cNvGrpSpPr/>
            <p:nvPr/>
          </p:nvGrpSpPr>
          <p:grpSpPr>
            <a:xfrm>
              <a:off x="9764261" y="3386592"/>
              <a:ext cx="1273174" cy="336550"/>
              <a:chOff x="1065" y="2085"/>
              <a:chExt cx="802" cy="212"/>
            </a:xfrm>
          </p:grpSpPr>
          <p:sp>
            <p:nvSpPr>
              <p:cNvPr id="6492" name="Google Shape;6492;p136"/>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493" name="Google Shape;6493;p136"/>
              <p:cNvSpPr txBox="1"/>
              <p:nvPr/>
            </p:nvSpPr>
            <p:spPr>
              <a:xfrm>
                <a:off x="1065" y="2085"/>
                <a:ext cx="8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grpSp>
      </p:grpSp>
      <p:grpSp>
        <p:nvGrpSpPr>
          <p:cNvPr id="6494" name="Google Shape;6494;p136"/>
          <p:cNvGrpSpPr/>
          <p:nvPr/>
        </p:nvGrpSpPr>
        <p:grpSpPr>
          <a:xfrm>
            <a:off x="4105048" y="4123231"/>
            <a:ext cx="3830638" cy="715962"/>
            <a:chOff x="406" y="2807"/>
            <a:chExt cx="2413" cy="451"/>
          </a:xfrm>
        </p:grpSpPr>
        <p:cxnSp>
          <p:nvCxnSpPr>
            <p:cNvPr id="6495" name="Google Shape;6495;p136"/>
            <p:cNvCxnSpPr/>
            <p:nvPr/>
          </p:nvCxnSpPr>
          <p:spPr>
            <a:xfrm>
              <a:off x="1097" y="2964"/>
              <a:ext cx="1515" cy="0"/>
            </a:xfrm>
            <a:prstGeom prst="straightConnector1">
              <a:avLst/>
            </a:prstGeom>
            <a:noFill/>
            <a:ln cap="flat" cmpd="sng" w="28575">
              <a:solidFill>
                <a:srgbClr val="CC0000"/>
              </a:solidFill>
              <a:prstDash val="dash"/>
              <a:round/>
              <a:headEnd len="med" w="med" type="none"/>
              <a:tailEnd len="med" w="med" type="none"/>
            </a:ln>
          </p:spPr>
        </p:cxnSp>
        <p:sp>
          <p:nvSpPr>
            <p:cNvPr id="6496" name="Google Shape;6496;p136"/>
            <p:cNvSpPr txBox="1"/>
            <p:nvPr/>
          </p:nvSpPr>
          <p:spPr>
            <a:xfrm>
              <a:off x="406" y="2937"/>
              <a:ext cx="738" cy="320"/>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client terminates</a:t>
              </a:r>
              <a:endParaRPr/>
            </a:p>
          </p:txBody>
        </p:sp>
        <p:sp>
          <p:nvSpPr>
            <p:cNvPr id="6497" name="Google Shape;6497;p136"/>
            <p:cNvSpPr txBox="1"/>
            <p:nvPr/>
          </p:nvSpPr>
          <p:spPr>
            <a:xfrm>
              <a:off x="2081" y="2938"/>
              <a:ext cx="738" cy="32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server</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forgets x</a:t>
              </a:r>
              <a:endParaRPr/>
            </a:p>
          </p:txBody>
        </p:sp>
        <p:sp>
          <p:nvSpPr>
            <p:cNvPr id="6498" name="Google Shape;6498;p136"/>
            <p:cNvSpPr txBox="1"/>
            <p:nvPr/>
          </p:nvSpPr>
          <p:spPr>
            <a:xfrm>
              <a:off x="1269" y="2807"/>
              <a:ext cx="706" cy="3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a:t>
              </a:r>
              <a:endParaRPr/>
            </a:p>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x completes</a:t>
              </a:r>
              <a:endParaRPr/>
            </a:p>
          </p:txBody>
        </p:sp>
      </p:grpSp>
      <p:grpSp>
        <p:nvGrpSpPr>
          <p:cNvPr id="6499" name="Google Shape;6499;p136"/>
          <p:cNvGrpSpPr/>
          <p:nvPr/>
        </p:nvGrpSpPr>
        <p:grpSpPr>
          <a:xfrm>
            <a:off x="4222070" y="1980106"/>
            <a:ext cx="3389313" cy="1671637"/>
            <a:chOff x="7865155" y="1602735"/>
            <a:chExt cx="3389313" cy="1671637"/>
          </a:xfrm>
        </p:grpSpPr>
        <p:sp>
          <p:nvSpPr>
            <p:cNvPr id="6500" name="Google Shape;6500;p136"/>
            <p:cNvSpPr txBox="1"/>
            <p:nvPr/>
          </p:nvSpPr>
          <p:spPr>
            <a:xfrm>
              <a:off x="7865155" y="1602735"/>
              <a:ext cx="973138" cy="58102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choose 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6501" name="Google Shape;6501;p136"/>
            <p:cNvCxnSpPr/>
            <p:nvPr/>
          </p:nvCxnSpPr>
          <p:spPr>
            <a:xfrm>
              <a:off x="8936718" y="1797997"/>
              <a:ext cx="1479550" cy="315913"/>
            </a:xfrm>
            <a:prstGeom prst="straightConnector1">
              <a:avLst/>
            </a:prstGeom>
            <a:noFill/>
            <a:ln cap="flat" cmpd="sng" w="28575">
              <a:solidFill>
                <a:srgbClr val="000099"/>
              </a:solidFill>
              <a:prstDash val="solid"/>
              <a:round/>
              <a:headEnd len="med" w="med" type="none"/>
              <a:tailEnd len="med" w="med" type="triangle"/>
            </a:ln>
          </p:spPr>
        </p:cxnSp>
        <p:cxnSp>
          <p:nvCxnSpPr>
            <p:cNvPr id="6502" name="Google Shape;6502;p136"/>
            <p:cNvCxnSpPr/>
            <p:nvPr/>
          </p:nvCxnSpPr>
          <p:spPr>
            <a:xfrm flipH="1">
              <a:off x="8876393" y="2152010"/>
              <a:ext cx="1571625" cy="955675"/>
            </a:xfrm>
            <a:prstGeom prst="straightConnector1">
              <a:avLst/>
            </a:prstGeom>
            <a:noFill/>
            <a:ln cap="flat" cmpd="sng" w="28575">
              <a:solidFill>
                <a:srgbClr val="000099"/>
              </a:solidFill>
              <a:prstDash val="solid"/>
              <a:round/>
              <a:headEnd len="med" w="med" type="none"/>
              <a:tailEnd len="med" w="med" type="triangle"/>
            </a:ln>
          </p:spPr>
        </p:cxnSp>
        <p:sp>
          <p:nvSpPr>
            <p:cNvPr id="6503" name="Google Shape;6503;p136"/>
            <p:cNvSpPr/>
            <p:nvPr/>
          </p:nvSpPr>
          <p:spPr>
            <a:xfrm>
              <a:off x="9254218" y="1783710"/>
              <a:ext cx="777875" cy="3270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4" name="Google Shape;6504;p136"/>
            <p:cNvSpPr txBox="1"/>
            <p:nvPr/>
          </p:nvSpPr>
          <p:spPr>
            <a:xfrm>
              <a:off x="9024030" y="1750372"/>
              <a:ext cx="1273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sp>
          <p:nvSpPr>
            <p:cNvPr id="6505" name="Google Shape;6505;p136"/>
            <p:cNvSpPr/>
            <p:nvPr/>
          </p:nvSpPr>
          <p:spPr>
            <a:xfrm>
              <a:off x="9432018" y="2207572"/>
              <a:ext cx="439738" cy="3270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06" name="Google Shape;6506;p136"/>
            <p:cNvSpPr txBox="1"/>
            <p:nvPr/>
          </p:nvSpPr>
          <p:spPr>
            <a:xfrm>
              <a:off x="10482943" y="2009135"/>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6507" name="Google Shape;6507;p136"/>
            <p:cNvSpPr txBox="1"/>
            <p:nvPr/>
          </p:nvSpPr>
          <p:spPr>
            <a:xfrm>
              <a:off x="8022318" y="2937822"/>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6508" name="Google Shape;6508;p136"/>
            <p:cNvSpPr/>
            <p:nvPr/>
          </p:nvSpPr>
          <p:spPr>
            <a:xfrm>
              <a:off x="8835118" y="3039422"/>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6509" name="Google Shape;6509;p136"/>
            <p:cNvSpPr/>
            <p:nvPr/>
          </p:nvSpPr>
          <p:spPr>
            <a:xfrm>
              <a:off x="10374993" y="2126610"/>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nvGrpSpPr>
            <p:cNvPr id="6510" name="Google Shape;6510;p136"/>
            <p:cNvGrpSpPr/>
            <p:nvPr/>
          </p:nvGrpSpPr>
          <p:grpSpPr>
            <a:xfrm>
              <a:off x="9124043" y="2345685"/>
              <a:ext cx="1274763" cy="336550"/>
              <a:chOff x="1065" y="2085"/>
              <a:chExt cx="803" cy="212"/>
            </a:xfrm>
          </p:grpSpPr>
          <p:sp>
            <p:nvSpPr>
              <p:cNvPr id="6511" name="Google Shape;6511;p136"/>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12" name="Google Shape;6512;p136"/>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grpSp>
      <p:grpSp>
        <p:nvGrpSpPr>
          <p:cNvPr id="6513" name="Google Shape;6513;p136"/>
          <p:cNvGrpSpPr/>
          <p:nvPr/>
        </p:nvGrpSpPr>
        <p:grpSpPr>
          <a:xfrm>
            <a:off x="4879295" y="1432418"/>
            <a:ext cx="620713" cy="487363"/>
            <a:chOff x="-44" y="1473"/>
            <a:chExt cx="981" cy="1105"/>
          </a:xfrm>
        </p:grpSpPr>
        <p:pic>
          <p:nvPicPr>
            <p:cNvPr descr="desktop_computer_stylized_medium" id="6514" name="Google Shape;6514;p13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515" name="Google Shape;6515;p13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516" name="Google Shape;6516;p136"/>
          <p:cNvGrpSpPr/>
          <p:nvPr/>
        </p:nvGrpSpPr>
        <p:grpSpPr>
          <a:xfrm>
            <a:off x="6687458" y="1413368"/>
            <a:ext cx="336550" cy="512763"/>
            <a:chOff x="4140" y="429"/>
            <a:chExt cx="1425" cy="2396"/>
          </a:xfrm>
        </p:grpSpPr>
        <p:sp>
          <p:nvSpPr>
            <p:cNvPr id="6517" name="Google Shape;6517;p13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18" name="Google Shape;6518;p136"/>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19" name="Google Shape;6519;p13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20" name="Google Shape;6520;p13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21" name="Google Shape;6521;p136"/>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522" name="Google Shape;6522;p136"/>
            <p:cNvGrpSpPr/>
            <p:nvPr/>
          </p:nvGrpSpPr>
          <p:grpSpPr>
            <a:xfrm>
              <a:off x="4751" y="666"/>
              <a:ext cx="578" cy="148"/>
              <a:chOff x="617" y="2566"/>
              <a:chExt cx="721" cy="142"/>
            </a:xfrm>
          </p:grpSpPr>
          <p:sp>
            <p:nvSpPr>
              <p:cNvPr id="6523" name="Google Shape;6523;p136"/>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24" name="Google Shape;6524;p136"/>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525" name="Google Shape;6525;p136"/>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526" name="Google Shape;6526;p136"/>
            <p:cNvGrpSpPr/>
            <p:nvPr/>
          </p:nvGrpSpPr>
          <p:grpSpPr>
            <a:xfrm>
              <a:off x="4745" y="993"/>
              <a:ext cx="585" cy="134"/>
              <a:chOff x="611" y="2567"/>
              <a:chExt cx="730" cy="139"/>
            </a:xfrm>
          </p:grpSpPr>
          <p:sp>
            <p:nvSpPr>
              <p:cNvPr id="6527" name="Google Shape;6527;p136"/>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28" name="Google Shape;6528;p136"/>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529" name="Google Shape;6529;p136"/>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30" name="Google Shape;6530;p136"/>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531" name="Google Shape;6531;p136"/>
            <p:cNvGrpSpPr/>
            <p:nvPr/>
          </p:nvGrpSpPr>
          <p:grpSpPr>
            <a:xfrm>
              <a:off x="4738" y="1630"/>
              <a:ext cx="578" cy="149"/>
              <a:chOff x="618" y="2571"/>
              <a:chExt cx="720" cy="137"/>
            </a:xfrm>
          </p:grpSpPr>
          <p:sp>
            <p:nvSpPr>
              <p:cNvPr id="6532" name="Google Shape;6532;p136"/>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33" name="Google Shape;6533;p136"/>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534" name="Google Shape;6534;p13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535" name="Google Shape;6535;p136"/>
            <p:cNvGrpSpPr/>
            <p:nvPr/>
          </p:nvGrpSpPr>
          <p:grpSpPr>
            <a:xfrm>
              <a:off x="4738" y="1327"/>
              <a:ext cx="584" cy="141"/>
              <a:chOff x="613" y="2568"/>
              <a:chExt cx="728" cy="141"/>
            </a:xfrm>
          </p:grpSpPr>
          <p:sp>
            <p:nvSpPr>
              <p:cNvPr id="6536" name="Google Shape;6536;p136"/>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37" name="Google Shape;6537;p136"/>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538" name="Google Shape;6538;p136"/>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39" name="Google Shape;6539;p13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40" name="Google Shape;6540;p13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41" name="Google Shape;6541;p136"/>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42" name="Google Shape;6542;p13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43" name="Google Shape;6543;p136"/>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44" name="Google Shape;6544;p136"/>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45" name="Google Shape;6545;p136"/>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46" name="Google Shape;6546;p136"/>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547" name="Google Shape;6547;p136"/>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48" name="Google Shape;6548;p136"/>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549" name="Google Shape;6549;p136"/>
          <p:cNvGrpSpPr/>
          <p:nvPr/>
        </p:nvGrpSpPr>
        <p:grpSpPr>
          <a:xfrm>
            <a:off x="4917394" y="5539014"/>
            <a:ext cx="1889805" cy="662028"/>
            <a:chOff x="9620023" y="2667000"/>
            <a:chExt cx="1889805" cy="662028"/>
          </a:xfrm>
        </p:grpSpPr>
        <p:cxnSp>
          <p:nvCxnSpPr>
            <p:cNvPr id="6550" name="Google Shape;6550;p136"/>
            <p:cNvCxnSpPr/>
            <p:nvPr/>
          </p:nvCxnSpPr>
          <p:spPr>
            <a:xfrm flipH="1">
              <a:off x="9620023" y="2667000"/>
              <a:ext cx="1889805" cy="662028"/>
            </a:xfrm>
            <a:prstGeom prst="straightConnector1">
              <a:avLst/>
            </a:prstGeom>
            <a:noFill/>
            <a:ln cap="flat" cmpd="sng" w="28575">
              <a:solidFill>
                <a:srgbClr val="000099"/>
              </a:solidFill>
              <a:prstDash val="solid"/>
              <a:round/>
              <a:headEnd len="med" w="med" type="none"/>
              <a:tailEnd len="med" w="med" type="triangle"/>
            </a:ln>
          </p:spPr>
        </p:cxnSp>
        <p:sp>
          <p:nvSpPr>
            <p:cNvPr id="6551" name="Google Shape;6551;p136"/>
            <p:cNvSpPr/>
            <p:nvPr/>
          </p:nvSpPr>
          <p:spPr>
            <a:xfrm>
              <a:off x="10132106" y="2824428"/>
              <a:ext cx="855208" cy="397743"/>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552" name="Google Shape;6552;p136"/>
            <p:cNvGrpSpPr/>
            <p:nvPr/>
          </p:nvGrpSpPr>
          <p:grpSpPr>
            <a:xfrm>
              <a:off x="9998301" y="2802885"/>
              <a:ext cx="1274763" cy="336550"/>
              <a:chOff x="1065" y="2085"/>
              <a:chExt cx="803" cy="212"/>
            </a:xfrm>
          </p:grpSpPr>
          <p:sp>
            <p:nvSpPr>
              <p:cNvPr id="6553" name="Google Shape;6553;p136"/>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54" name="Google Shape;6554;p136"/>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grpSp>
      <p:grpSp>
        <p:nvGrpSpPr>
          <p:cNvPr id="6555" name="Google Shape;6555;p136"/>
          <p:cNvGrpSpPr/>
          <p:nvPr/>
        </p:nvGrpSpPr>
        <p:grpSpPr>
          <a:xfrm>
            <a:off x="4080329" y="5732236"/>
            <a:ext cx="4134756" cy="1082222"/>
            <a:chOff x="3673928" y="5775778"/>
            <a:chExt cx="4134756" cy="1082222"/>
          </a:xfrm>
        </p:grpSpPr>
        <p:sp>
          <p:nvSpPr>
            <p:cNvPr id="6556" name="Google Shape;6556;p136"/>
            <p:cNvSpPr/>
            <p:nvPr/>
          </p:nvSpPr>
          <p:spPr>
            <a:xfrm>
              <a:off x="4020455" y="5775778"/>
              <a:ext cx="3788229" cy="10822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557" name="Google Shape;6557;p136"/>
            <p:cNvGrpSpPr/>
            <p:nvPr/>
          </p:nvGrpSpPr>
          <p:grpSpPr>
            <a:xfrm>
              <a:off x="3673928" y="5804239"/>
              <a:ext cx="3829958" cy="830263"/>
              <a:chOff x="4588327" y="5819777"/>
              <a:chExt cx="3829958" cy="830263"/>
            </a:xfrm>
          </p:grpSpPr>
          <p:sp>
            <p:nvSpPr>
              <p:cNvPr id="6558" name="Google Shape;6558;p136"/>
              <p:cNvSpPr txBox="1"/>
              <p:nvPr/>
            </p:nvSpPr>
            <p:spPr>
              <a:xfrm>
                <a:off x="5202012" y="5819777"/>
                <a:ext cx="3216273" cy="830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Problem: half open connection! (no client)</a:t>
                </a:r>
                <a:endParaRPr/>
              </a:p>
            </p:txBody>
          </p:sp>
          <p:pic>
            <p:nvPicPr>
              <p:cNvPr descr="A picture containing drawing&#10;&#10;Description automatically generated" id="6559" name="Google Shape;6559;p136"/>
              <p:cNvPicPr preferRelativeResize="0"/>
              <p:nvPr/>
            </p:nvPicPr>
            <p:blipFill rotWithShape="1">
              <a:blip r:embed="rId4">
                <a:alphaModFix/>
              </a:blip>
              <a:srcRect b="0" l="0" r="0" t="0"/>
              <a:stretch/>
            </p:blipFill>
            <p:spPr>
              <a:xfrm>
                <a:off x="4588327" y="5916386"/>
                <a:ext cx="636815" cy="636815"/>
              </a:xfrm>
              <a:prstGeom prst="rect">
                <a:avLst/>
              </a:prstGeom>
              <a:noFill/>
              <a:ln>
                <a:noFill/>
              </a:ln>
            </p:spPr>
          </p:pic>
        </p:grpSp>
      </p:grpSp>
      <p:sp>
        <p:nvSpPr>
          <p:cNvPr id="6560" name="Google Shape;6560;p13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99"/>
                                        </p:tgtEl>
                                        <p:attrNameLst>
                                          <p:attrName>style.visibility</p:attrName>
                                        </p:attrNameLst>
                                      </p:cBhvr>
                                      <p:to>
                                        <p:strVal val="visible"/>
                                      </p:to>
                                    </p:set>
                                    <p:animEffect filter="fade" transition="in">
                                      <p:cBhvr>
                                        <p:cTn dur="2000"/>
                                        <p:tgtEl>
                                          <p:spTgt spid="64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94"/>
                                        </p:tgtEl>
                                        <p:attrNameLst>
                                          <p:attrName>style.visibility</p:attrName>
                                        </p:attrNameLst>
                                      </p:cBhvr>
                                      <p:to>
                                        <p:strVal val="visible"/>
                                      </p:to>
                                    </p:set>
                                    <p:animEffect filter="fade" transition="in">
                                      <p:cBhvr>
                                        <p:cTn dur="500"/>
                                        <p:tgtEl>
                                          <p:spTgt spid="64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88"/>
                                        </p:tgtEl>
                                        <p:attrNameLst>
                                          <p:attrName>style.visibility</p:attrName>
                                        </p:attrNameLst>
                                      </p:cBhvr>
                                      <p:to>
                                        <p:strVal val="visible"/>
                                      </p:to>
                                    </p:set>
                                    <p:animEffect filter="fade" transition="in">
                                      <p:cBhvr>
                                        <p:cTn dur="500"/>
                                        <p:tgtEl>
                                          <p:spTgt spid="64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85"/>
                                        </p:tgtEl>
                                        <p:attrNameLst>
                                          <p:attrName>style.visibility</p:attrName>
                                        </p:attrNameLst>
                                      </p:cBhvr>
                                      <p:to>
                                        <p:strVal val="visible"/>
                                      </p:to>
                                    </p:set>
                                    <p:animEffect filter="fade" transition="in">
                                      <p:cBhvr>
                                        <p:cTn dur="500"/>
                                        <p:tgtEl>
                                          <p:spTgt spid="64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49"/>
                                        </p:tgtEl>
                                        <p:attrNameLst>
                                          <p:attrName>style.visibility</p:attrName>
                                        </p:attrNameLst>
                                      </p:cBhvr>
                                      <p:to>
                                        <p:strVal val="visible"/>
                                      </p:to>
                                    </p:set>
                                    <p:animEffect filter="fade" transition="in">
                                      <p:cBhvr>
                                        <p:cTn dur="500"/>
                                        <p:tgtEl>
                                          <p:spTgt spid="65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55"/>
                                        </p:tgtEl>
                                        <p:attrNameLst>
                                          <p:attrName>style.visibility</p:attrName>
                                        </p:attrNameLst>
                                      </p:cBhvr>
                                      <p:to>
                                        <p:strVal val="visible"/>
                                      </p:to>
                                    </p:set>
                                    <p:animEffect filter="fade" transition="in">
                                      <p:cBhvr>
                                        <p:cTn dur="500"/>
                                        <p:tgtEl>
                                          <p:spTgt spid="65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5" name="Shape 6565"/>
        <p:cNvGrpSpPr/>
        <p:nvPr/>
      </p:nvGrpSpPr>
      <p:grpSpPr>
        <a:xfrm>
          <a:off x="0" y="0"/>
          <a:ext cx="0" cy="0"/>
          <a:chOff x="0" y="0"/>
          <a:chExt cx="0" cy="0"/>
        </a:xfrm>
      </p:grpSpPr>
      <p:sp>
        <p:nvSpPr>
          <p:cNvPr id="6566" name="Google Shape;6566;p137"/>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2-way handshake scenarios</a:t>
            </a:r>
            <a:endParaRPr/>
          </a:p>
        </p:txBody>
      </p:sp>
      <p:grpSp>
        <p:nvGrpSpPr>
          <p:cNvPr id="6567" name="Google Shape;6567;p137"/>
          <p:cNvGrpSpPr/>
          <p:nvPr/>
        </p:nvGrpSpPr>
        <p:grpSpPr>
          <a:xfrm>
            <a:off x="8173174" y="1342839"/>
            <a:ext cx="3933825" cy="4568825"/>
            <a:chOff x="3150" y="1107"/>
            <a:chExt cx="2478" cy="2878"/>
          </a:xfrm>
        </p:grpSpPr>
        <p:cxnSp>
          <p:nvCxnSpPr>
            <p:cNvPr id="6568" name="Google Shape;6568;p137"/>
            <p:cNvCxnSpPr/>
            <p:nvPr/>
          </p:nvCxnSpPr>
          <p:spPr>
            <a:xfrm flipH="1">
              <a:off x="4822" y="1490"/>
              <a:ext cx="1" cy="2495"/>
            </a:xfrm>
            <a:prstGeom prst="straightConnector1">
              <a:avLst/>
            </a:prstGeom>
            <a:noFill/>
            <a:ln cap="flat" cmpd="sng" w="9525">
              <a:solidFill>
                <a:srgbClr val="777777"/>
              </a:solidFill>
              <a:prstDash val="solid"/>
              <a:round/>
              <a:headEnd len="med" w="med" type="none"/>
              <a:tailEnd len="med" w="med" type="none"/>
            </a:ln>
          </p:spPr>
        </p:cxnSp>
        <p:sp>
          <p:nvSpPr>
            <p:cNvPr id="6569" name="Google Shape;6569;p137"/>
            <p:cNvSpPr txBox="1"/>
            <p:nvPr/>
          </p:nvSpPr>
          <p:spPr>
            <a:xfrm>
              <a:off x="3150" y="2983"/>
              <a:ext cx="738" cy="320"/>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client terminates</a:t>
              </a:r>
              <a:endParaRPr/>
            </a:p>
          </p:txBody>
        </p:sp>
        <p:cxnSp>
          <p:nvCxnSpPr>
            <p:cNvPr id="6570" name="Google Shape;6570;p137"/>
            <p:cNvCxnSpPr/>
            <p:nvPr/>
          </p:nvCxnSpPr>
          <p:spPr>
            <a:xfrm flipH="1">
              <a:off x="3845" y="1451"/>
              <a:ext cx="15" cy="1549"/>
            </a:xfrm>
            <a:prstGeom prst="straightConnector1">
              <a:avLst/>
            </a:prstGeom>
            <a:noFill/>
            <a:ln cap="flat" cmpd="sng" w="9525">
              <a:solidFill>
                <a:srgbClr val="777777"/>
              </a:solidFill>
              <a:prstDash val="solid"/>
              <a:round/>
              <a:headEnd len="med" w="med" type="none"/>
              <a:tailEnd len="med" w="med" type="none"/>
            </a:ln>
          </p:spPr>
        </p:cxnSp>
        <p:cxnSp>
          <p:nvCxnSpPr>
            <p:cNvPr id="6571" name="Google Shape;6571;p137"/>
            <p:cNvCxnSpPr/>
            <p:nvPr/>
          </p:nvCxnSpPr>
          <p:spPr>
            <a:xfrm flipH="1">
              <a:off x="3850" y="1726"/>
              <a:ext cx="990" cy="602"/>
            </a:xfrm>
            <a:prstGeom prst="straightConnector1">
              <a:avLst/>
            </a:prstGeom>
            <a:noFill/>
            <a:ln cap="flat" cmpd="sng" w="28575">
              <a:solidFill>
                <a:srgbClr val="000099"/>
              </a:solidFill>
              <a:prstDash val="solid"/>
              <a:round/>
              <a:headEnd len="med" w="med" type="none"/>
              <a:tailEnd len="med" w="med" type="triangle"/>
            </a:ln>
          </p:spPr>
        </p:cxnSp>
        <p:sp>
          <p:nvSpPr>
            <p:cNvPr id="6572" name="Google Shape;6572;p137"/>
            <p:cNvSpPr/>
            <p:nvPr/>
          </p:nvSpPr>
          <p:spPr>
            <a:xfrm>
              <a:off x="4200" y="1761"/>
              <a:ext cx="277"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73" name="Google Shape;6573;p137"/>
            <p:cNvSpPr txBox="1"/>
            <p:nvPr/>
          </p:nvSpPr>
          <p:spPr>
            <a:xfrm>
              <a:off x="3312" y="2221"/>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6574" name="Google Shape;6574;p137"/>
            <p:cNvSpPr/>
            <p:nvPr/>
          </p:nvSpPr>
          <p:spPr>
            <a:xfrm>
              <a:off x="3817" y="2299"/>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6575" name="Google Shape;6575;p137"/>
            <p:cNvSpPr txBox="1"/>
            <p:nvPr/>
          </p:nvSpPr>
          <p:spPr>
            <a:xfrm>
              <a:off x="3213" y="1380"/>
              <a:ext cx="613" cy="3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choose 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6576" name="Google Shape;6576;p137"/>
            <p:cNvCxnSpPr/>
            <p:nvPr/>
          </p:nvCxnSpPr>
          <p:spPr>
            <a:xfrm>
              <a:off x="3888" y="1503"/>
              <a:ext cx="932" cy="199"/>
            </a:xfrm>
            <a:prstGeom prst="straightConnector1">
              <a:avLst/>
            </a:prstGeom>
            <a:noFill/>
            <a:ln cap="flat" cmpd="sng" w="28575">
              <a:solidFill>
                <a:srgbClr val="000099"/>
              </a:solidFill>
              <a:prstDash val="solid"/>
              <a:round/>
              <a:headEnd len="med" w="med" type="none"/>
              <a:tailEnd len="med" w="med" type="triangle"/>
            </a:ln>
          </p:spPr>
        </p:cxnSp>
        <p:sp>
          <p:nvSpPr>
            <p:cNvPr id="6577" name="Google Shape;6577;p137"/>
            <p:cNvSpPr/>
            <p:nvPr/>
          </p:nvSpPr>
          <p:spPr>
            <a:xfrm>
              <a:off x="4088" y="1494"/>
              <a:ext cx="490"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78" name="Google Shape;6578;p137"/>
            <p:cNvSpPr txBox="1"/>
            <p:nvPr/>
          </p:nvSpPr>
          <p:spPr>
            <a:xfrm>
              <a:off x="3943" y="1473"/>
              <a:ext cx="8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sp>
          <p:nvSpPr>
            <p:cNvPr id="6579" name="Google Shape;6579;p137"/>
            <p:cNvSpPr txBox="1"/>
            <p:nvPr/>
          </p:nvSpPr>
          <p:spPr>
            <a:xfrm>
              <a:off x="4862" y="1636"/>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sp>
          <p:nvSpPr>
            <p:cNvPr id="6580" name="Google Shape;6580;p137"/>
            <p:cNvSpPr/>
            <p:nvPr/>
          </p:nvSpPr>
          <p:spPr>
            <a:xfrm>
              <a:off x="4794" y="1710"/>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nvGrpSpPr>
            <p:cNvPr id="6581" name="Google Shape;6581;p137"/>
            <p:cNvGrpSpPr/>
            <p:nvPr/>
          </p:nvGrpSpPr>
          <p:grpSpPr>
            <a:xfrm>
              <a:off x="4006" y="1848"/>
              <a:ext cx="803" cy="212"/>
              <a:chOff x="1065" y="2085"/>
              <a:chExt cx="803" cy="212"/>
            </a:xfrm>
          </p:grpSpPr>
          <p:sp>
            <p:nvSpPr>
              <p:cNvPr id="6582" name="Google Shape;6582;p137"/>
              <p:cNvSpPr/>
              <p:nvPr/>
            </p:nvSpPr>
            <p:spPr>
              <a:xfrm>
                <a:off x="1137" y="2123"/>
                <a:ext cx="675" cy="16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83" name="Google Shape;6583;p137"/>
              <p:cNvSpPr txBox="1"/>
              <p:nvPr/>
            </p:nvSpPr>
            <p:spPr>
              <a:xfrm>
                <a:off x="1065" y="2085"/>
                <a:ext cx="803"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acc_conn(x)</a:t>
                </a:r>
                <a:endParaRPr/>
              </a:p>
            </p:txBody>
          </p:sp>
        </p:grpSp>
        <p:cxnSp>
          <p:nvCxnSpPr>
            <p:cNvPr id="6584" name="Google Shape;6584;p137"/>
            <p:cNvCxnSpPr/>
            <p:nvPr/>
          </p:nvCxnSpPr>
          <p:spPr>
            <a:xfrm>
              <a:off x="3877" y="2345"/>
              <a:ext cx="932" cy="199"/>
            </a:xfrm>
            <a:prstGeom prst="straightConnector1">
              <a:avLst/>
            </a:prstGeom>
            <a:noFill/>
            <a:ln cap="flat" cmpd="sng" w="28575">
              <a:solidFill>
                <a:srgbClr val="000099"/>
              </a:solidFill>
              <a:prstDash val="solid"/>
              <a:round/>
              <a:headEnd len="med" w="med" type="none"/>
              <a:tailEnd len="med" w="med" type="triangle"/>
            </a:ln>
          </p:spPr>
        </p:cxnSp>
        <p:sp>
          <p:nvSpPr>
            <p:cNvPr id="6585" name="Google Shape;6585;p137"/>
            <p:cNvSpPr/>
            <p:nvPr/>
          </p:nvSpPr>
          <p:spPr>
            <a:xfrm>
              <a:off x="4077" y="2336"/>
              <a:ext cx="490" cy="20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86" name="Google Shape;6586;p137"/>
            <p:cNvSpPr txBox="1"/>
            <p:nvPr/>
          </p:nvSpPr>
          <p:spPr>
            <a:xfrm>
              <a:off x="3989" y="2315"/>
              <a:ext cx="68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sp>
          <p:nvSpPr>
            <p:cNvPr id="6587" name="Google Shape;6587;p137"/>
            <p:cNvSpPr/>
            <p:nvPr/>
          </p:nvSpPr>
          <p:spPr>
            <a:xfrm>
              <a:off x="4790" y="2524"/>
              <a:ext cx="57" cy="56"/>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sp>
          <p:nvSpPr>
            <p:cNvPr id="6588" name="Google Shape;6588;p137"/>
            <p:cNvSpPr txBox="1"/>
            <p:nvPr/>
          </p:nvSpPr>
          <p:spPr>
            <a:xfrm>
              <a:off x="4890" y="2373"/>
              <a:ext cx="738" cy="32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accept</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grpSp>
          <p:nvGrpSpPr>
            <p:cNvPr id="6589" name="Google Shape;6589;p137"/>
            <p:cNvGrpSpPr/>
            <p:nvPr/>
          </p:nvGrpSpPr>
          <p:grpSpPr>
            <a:xfrm>
              <a:off x="3826" y="2803"/>
              <a:ext cx="1515" cy="300"/>
              <a:chOff x="3818" y="2796"/>
              <a:chExt cx="1515" cy="300"/>
            </a:xfrm>
          </p:grpSpPr>
          <p:cxnSp>
            <p:nvCxnSpPr>
              <p:cNvPr id="6590" name="Google Shape;6590;p137"/>
              <p:cNvCxnSpPr/>
              <p:nvPr/>
            </p:nvCxnSpPr>
            <p:spPr>
              <a:xfrm>
                <a:off x="3818" y="2951"/>
                <a:ext cx="1515" cy="0"/>
              </a:xfrm>
              <a:prstGeom prst="straightConnector1">
                <a:avLst/>
              </a:prstGeom>
              <a:noFill/>
              <a:ln cap="flat" cmpd="sng" w="28575">
                <a:solidFill>
                  <a:srgbClr val="CC0000"/>
                </a:solidFill>
                <a:prstDash val="dash"/>
                <a:round/>
                <a:headEnd len="med" w="med" type="none"/>
                <a:tailEnd len="med" w="med" type="none"/>
              </a:ln>
            </p:spPr>
          </p:cxnSp>
          <p:sp>
            <p:nvSpPr>
              <p:cNvPr id="6591" name="Google Shape;6591;p137"/>
              <p:cNvSpPr txBox="1"/>
              <p:nvPr/>
            </p:nvSpPr>
            <p:spPr>
              <a:xfrm>
                <a:off x="3989" y="2796"/>
                <a:ext cx="706" cy="30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connection </a:t>
                </a:r>
                <a:endParaRPr/>
              </a:p>
              <a:p>
                <a:pPr indent="0" lvl="0" marL="0" marR="0" rtl="0" algn="ct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x completes</a:t>
                </a:r>
                <a:endParaRPr/>
              </a:p>
            </p:txBody>
          </p:sp>
        </p:grpSp>
        <p:sp>
          <p:nvSpPr>
            <p:cNvPr id="6592" name="Google Shape;6592;p137"/>
            <p:cNvSpPr txBox="1"/>
            <p:nvPr/>
          </p:nvSpPr>
          <p:spPr>
            <a:xfrm>
              <a:off x="4830" y="2962"/>
              <a:ext cx="738" cy="32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server</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forgets x</a:t>
              </a:r>
              <a:endParaRPr/>
            </a:p>
          </p:txBody>
        </p:sp>
        <p:grpSp>
          <p:nvGrpSpPr>
            <p:cNvPr id="6593" name="Google Shape;6593;p137"/>
            <p:cNvGrpSpPr/>
            <p:nvPr/>
          </p:nvGrpSpPr>
          <p:grpSpPr>
            <a:xfrm>
              <a:off x="3570" y="1119"/>
              <a:ext cx="391" cy="307"/>
              <a:chOff x="-44" y="1473"/>
              <a:chExt cx="981" cy="1105"/>
            </a:xfrm>
          </p:grpSpPr>
          <p:pic>
            <p:nvPicPr>
              <p:cNvPr descr="desktop_computer_stylized_medium" id="6594" name="Google Shape;6594;p13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595" name="Google Shape;6595;p13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596" name="Google Shape;6596;p137"/>
            <p:cNvGrpSpPr/>
            <p:nvPr/>
          </p:nvGrpSpPr>
          <p:grpSpPr>
            <a:xfrm>
              <a:off x="4709" y="1107"/>
              <a:ext cx="212" cy="323"/>
              <a:chOff x="4140" y="429"/>
              <a:chExt cx="1425" cy="2396"/>
            </a:xfrm>
          </p:grpSpPr>
          <p:sp>
            <p:nvSpPr>
              <p:cNvPr id="6597" name="Google Shape;6597;p13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98" name="Google Shape;6598;p137"/>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599" name="Google Shape;6599;p13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00" name="Google Shape;6600;p13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01" name="Google Shape;6601;p137"/>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02" name="Google Shape;6602;p137"/>
              <p:cNvGrpSpPr/>
              <p:nvPr/>
            </p:nvGrpSpPr>
            <p:grpSpPr>
              <a:xfrm>
                <a:off x="4751" y="666"/>
                <a:ext cx="578" cy="148"/>
                <a:chOff x="617" y="2566"/>
                <a:chExt cx="721" cy="142"/>
              </a:xfrm>
            </p:grpSpPr>
            <p:sp>
              <p:nvSpPr>
                <p:cNvPr id="6603" name="Google Shape;6603;p137"/>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04" name="Google Shape;6604;p137"/>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05" name="Google Shape;6605;p137"/>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06" name="Google Shape;6606;p137"/>
              <p:cNvGrpSpPr/>
              <p:nvPr/>
            </p:nvGrpSpPr>
            <p:grpSpPr>
              <a:xfrm>
                <a:off x="4745" y="993"/>
                <a:ext cx="585" cy="134"/>
                <a:chOff x="611" y="2567"/>
                <a:chExt cx="730" cy="139"/>
              </a:xfrm>
            </p:grpSpPr>
            <p:sp>
              <p:nvSpPr>
                <p:cNvPr id="6607" name="Google Shape;6607;p137"/>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08" name="Google Shape;6608;p137"/>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09" name="Google Shape;6609;p137"/>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10" name="Google Shape;6610;p137"/>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11" name="Google Shape;6611;p137"/>
              <p:cNvGrpSpPr/>
              <p:nvPr/>
            </p:nvGrpSpPr>
            <p:grpSpPr>
              <a:xfrm>
                <a:off x="4738" y="1630"/>
                <a:ext cx="578" cy="149"/>
                <a:chOff x="618" y="2571"/>
                <a:chExt cx="720" cy="137"/>
              </a:xfrm>
            </p:grpSpPr>
            <p:sp>
              <p:nvSpPr>
                <p:cNvPr id="6612" name="Google Shape;6612;p137"/>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13" name="Google Shape;6613;p137"/>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14" name="Google Shape;6614;p13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615" name="Google Shape;6615;p137"/>
              <p:cNvGrpSpPr/>
              <p:nvPr/>
            </p:nvGrpSpPr>
            <p:grpSpPr>
              <a:xfrm>
                <a:off x="4738" y="1327"/>
                <a:ext cx="584" cy="141"/>
                <a:chOff x="613" y="2568"/>
                <a:chExt cx="728" cy="141"/>
              </a:xfrm>
            </p:grpSpPr>
            <p:sp>
              <p:nvSpPr>
                <p:cNvPr id="6616" name="Google Shape;6616;p137"/>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17" name="Google Shape;6617;p137"/>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618" name="Google Shape;6618;p137"/>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19" name="Google Shape;6619;p13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0" name="Google Shape;6620;p13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1" name="Google Shape;6621;p137"/>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2" name="Google Shape;6622;p13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3" name="Google Shape;6623;p137"/>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4" name="Google Shape;6624;p137"/>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5" name="Google Shape;6625;p137"/>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6" name="Google Shape;6626;p137"/>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627" name="Google Shape;6627;p137"/>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28" name="Google Shape;6628;p137"/>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grpSp>
        <p:nvGrpSpPr>
          <p:cNvPr id="6629" name="Google Shape;6629;p137"/>
          <p:cNvGrpSpPr/>
          <p:nvPr/>
        </p:nvGrpSpPr>
        <p:grpSpPr>
          <a:xfrm>
            <a:off x="9120415" y="5983461"/>
            <a:ext cx="3548742" cy="830997"/>
            <a:chOff x="8757558" y="5903267"/>
            <a:chExt cx="3548742" cy="830997"/>
          </a:xfrm>
        </p:grpSpPr>
        <p:sp>
          <p:nvSpPr>
            <p:cNvPr id="6630" name="Google Shape;6630;p137"/>
            <p:cNvSpPr txBox="1"/>
            <p:nvPr/>
          </p:nvSpPr>
          <p:spPr>
            <a:xfrm>
              <a:off x="9372601" y="5903267"/>
              <a:ext cx="2933699"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Problem: dup data</a:t>
              </a:r>
              <a:endParaRPr/>
            </a:p>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accepted!</a:t>
              </a:r>
              <a:endParaRPr/>
            </a:p>
          </p:txBody>
        </p:sp>
        <p:pic>
          <p:nvPicPr>
            <p:cNvPr descr="A picture containing drawing&#10;&#10;Description automatically generated" id="6631" name="Google Shape;6631;p137"/>
            <p:cNvPicPr preferRelativeResize="0"/>
            <p:nvPr/>
          </p:nvPicPr>
          <p:blipFill rotWithShape="1">
            <a:blip r:embed="rId4">
              <a:alphaModFix/>
            </a:blip>
            <a:srcRect b="0" l="0" r="0" t="0"/>
            <a:stretch/>
          </p:blipFill>
          <p:spPr>
            <a:xfrm>
              <a:off x="8757558" y="6003472"/>
              <a:ext cx="636815" cy="636815"/>
            </a:xfrm>
            <a:prstGeom prst="rect">
              <a:avLst/>
            </a:prstGeom>
            <a:noFill/>
            <a:ln>
              <a:noFill/>
            </a:ln>
          </p:spPr>
        </p:pic>
      </p:grpSp>
      <p:grpSp>
        <p:nvGrpSpPr>
          <p:cNvPr id="6632" name="Google Shape;6632;p137"/>
          <p:cNvGrpSpPr/>
          <p:nvPr/>
        </p:nvGrpSpPr>
        <p:grpSpPr>
          <a:xfrm>
            <a:off x="8091532" y="3683267"/>
            <a:ext cx="3997325" cy="2365375"/>
            <a:chOff x="3185703" y="3422010"/>
            <a:chExt cx="3997325" cy="2365375"/>
          </a:xfrm>
        </p:grpSpPr>
        <p:sp>
          <p:nvSpPr>
            <p:cNvPr id="6633" name="Google Shape;6633;p137"/>
            <p:cNvSpPr/>
            <p:nvPr/>
          </p:nvSpPr>
          <p:spPr>
            <a:xfrm>
              <a:off x="4431891" y="3661722"/>
              <a:ext cx="1501775" cy="1897063"/>
            </a:xfrm>
            <a:custGeom>
              <a:rect b="b" l="l" r="r" t="t"/>
              <a:pathLst>
                <a:path extrusionOk="0" h="1195" w="946">
                  <a:moveTo>
                    <a:pt x="0" y="15"/>
                  </a:moveTo>
                  <a:cubicBezTo>
                    <a:pt x="32" y="40"/>
                    <a:pt x="114" y="0"/>
                    <a:pt x="199" y="164"/>
                  </a:cubicBezTo>
                  <a:cubicBezTo>
                    <a:pt x="284" y="328"/>
                    <a:pt x="195" y="798"/>
                    <a:pt x="320" y="960"/>
                  </a:cubicBezTo>
                  <a:cubicBezTo>
                    <a:pt x="477" y="1195"/>
                    <a:pt x="816" y="1101"/>
                    <a:pt x="946" y="1138"/>
                  </a:cubicBezTo>
                </a:path>
              </a:pathLst>
            </a:custGeom>
            <a:noFill/>
            <a:ln cap="flat" cmpd="sng" w="28575">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34" name="Google Shape;6634;p137"/>
            <p:cNvSpPr/>
            <p:nvPr/>
          </p:nvSpPr>
          <p:spPr>
            <a:xfrm>
              <a:off x="4782728" y="5196835"/>
              <a:ext cx="711200" cy="2825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35" name="Google Shape;6635;p137"/>
            <p:cNvSpPr txBox="1"/>
            <p:nvPr/>
          </p:nvSpPr>
          <p:spPr>
            <a:xfrm>
              <a:off x="4468403" y="5152385"/>
              <a:ext cx="10922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sp>
          <p:nvSpPr>
            <p:cNvPr id="6636" name="Google Shape;6636;p137"/>
            <p:cNvSpPr txBox="1"/>
            <p:nvPr/>
          </p:nvSpPr>
          <p:spPr>
            <a:xfrm>
              <a:off x="3185703" y="3422010"/>
              <a:ext cx="1273175" cy="75247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a:t>
              </a:r>
              <a:endParaRPr/>
            </a:p>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637" name="Google Shape;6637;p137"/>
            <p:cNvSpPr txBox="1"/>
            <p:nvPr/>
          </p:nvSpPr>
          <p:spPr>
            <a:xfrm>
              <a:off x="6011453" y="5279385"/>
              <a:ext cx="1171575" cy="50800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accept</a:t>
              </a:r>
              <a:endParaRPr/>
            </a:p>
            <a:p>
              <a:pPr indent="0" lvl="0" marL="0" marR="0" rtl="0" algn="l">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data(x+1)</a:t>
              </a:r>
              <a:endParaRPr/>
            </a:p>
          </p:txBody>
        </p:sp>
      </p:grpSp>
      <p:grpSp>
        <p:nvGrpSpPr>
          <p:cNvPr id="6638" name="Google Shape;6638;p137"/>
          <p:cNvGrpSpPr/>
          <p:nvPr/>
        </p:nvGrpSpPr>
        <p:grpSpPr>
          <a:xfrm>
            <a:off x="7997186" y="2493962"/>
            <a:ext cx="3646488" cy="2992438"/>
            <a:chOff x="3134903" y="2369497"/>
            <a:chExt cx="3646488" cy="2992438"/>
          </a:xfrm>
        </p:grpSpPr>
        <p:grpSp>
          <p:nvGrpSpPr>
            <p:cNvPr id="6639" name="Google Shape;6639;p137"/>
            <p:cNvGrpSpPr/>
            <p:nvPr/>
          </p:nvGrpSpPr>
          <p:grpSpPr>
            <a:xfrm>
              <a:off x="3134903" y="2369497"/>
              <a:ext cx="3646488" cy="2992438"/>
              <a:chOff x="3134903" y="2369497"/>
              <a:chExt cx="3646488" cy="2992438"/>
            </a:xfrm>
          </p:grpSpPr>
          <p:grpSp>
            <p:nvGrpSpPr>
              <p:cNvPr id="6640" name="Google Shape;6640;p137"/>
              <p:cNvGrpSpPr/>
              <p:nvPr/>
            </p:nvGrpSpPr>
            <p:grpSpPr>
              <a:xfrm>
                <a:off x="3134903" y="2369497"/>
                <a:ext cx="3646488" cy="2992438"/>
                <a:chOff x="3134903" y="2369497"/>
                <a:chExt cx="3646488" cy="2992438"/>
              </a:xfrm>
            </p:grpSpPr>
            <p:sp>
              <p:nvSpPr>
                <p:cNvPr id="6641" name="Google Shape;6641;p137"/>
                <p:cNvSpPr txBox="1"/>
                <p:nvPr/>
              </p:nvSpPr>
              <p:spPr>
                <a:xfrm>
                  <a:off x="3134903" y="2369497"/>
                  <a:ext cx="1273175" cy="75247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retransmit</a:t>
                  </a:r>
                  <a:endParaRPr/>
                </a:p>
                <a:p>
                  <a:pPr indent="0" lvl="0" marL="0" marR="0" rtl="0" algn="r">
                    <a:lnSpc>
                      <a:spcPct val="85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a:p>
                  <a:pPr indent="0" lvl="0" marL="0" marR="0" rtl="0" algn="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642" name="Google Shape;6642;p137"/>
                <p:cNvSpPr/>
                <p:nvPr/>
              </p:nvSpPr>
              <p:spPr>
                <a:xfrm>
                  <a:off x="4449353" y="2671122"/>
                  <a:ext cx="1527175" cy="2559050"/>
                </a:xfrm>
                <a:custGeom>
                  <a:rect b="b" l="l" r="r" t="t"/>
                  <a:pathLst>
                    <a:path extrusionOk="0" h="1612" w="962">
                      <a:moveTo>
                        <a:pt x="0" y="0"/>
                      </a:moveTo>
                      <a:cubicBezTo>
                        <a:pt x="50" y="40"/>
                        <a:pt x="228" y="10"/>
                        <a:pt x="306" y="234"/>
                      </a:cubicBezTo>
                      <a:cubicBezTo>
                        <a:pt x="384" y="458"/>
                        <a:pt x="358" y="1112"/>
                        <a:pt x="467" y="1342"/>
                      </a:cubicBezTo>
                      <a:cubicBezTo>
                        <a:pt x="576" y="1572"/>
                        <a:pt x="779" y="1601"/>
                        <a:pt x="962" y="1612"/>
                      </a:cubicBezTo>
                    </a:path>
                  </a:pathLst>
                </a:custGeom>
                <a:noFill/>
                <a:ln cap="flat" cmpd="sng" w="28575">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43" name="Google Shape;6643;p137"/>
                <p:cNvSpPr txBox="1"/>
                <p:nvPr/>
              </p:nvSpPr>
              <p:spPr>
                <a:xfrm>
                  <a:off x="6009866" y="5025385"/>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grpSp>
          <p:sp>
            <p:nvSpPr>
              <p:cNvPr id="6644" name="Google Shape;6644;p137"/>
              <p:cNvSpPr/>
              <p:nvPr/>
            </p:nvSpPr>
            <p:spPr>
              <a:xfrm>
                <a:off x="5933666" y="5152385"/>
                <a:ext cx="90488" cy="88900"/>
              </a:xfrm>
              <a:prstGeom prst="ellipse">
                <a:avLst/>
              </a:prstGeom>
              <a:solidFill>
                <a:srgbClr val="CC0000"/>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CC0000"/>
                  </a:solidFill>
                  <a:latin typeface="Tahoma"/>
                  <a:ea typeface="Tahoma"/>
                  <a:cs typeface="Tahoma"/>
                  <a:sym typeface="Tahoma"/>
                </a:endParaRPr>
              </a:p>
            </p:txBody>
          </p:sp>
        </p:grpSp>
        <p:sp>
          <p:nvSpPr>
            <p:cNvPr id="6645" name="Google Shape;6645;p137"/>
            <p:cNvSpPr/>
            <p:nvPr/>
          </p:nvSpPr>
          <p:spPr>
            <a:xfrm>
              <a:off x="4660491" y="4725570"/>
              <a:ext cx="1071563" cy="2603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46" name="Google Shape;6646;p137"/>
            <p:cNvSpPr txBox="1"/>
            <p:nvPr/>
          </p:nvSpPr>
          <p:spPr>
            <a:xfrm>
              <a:off x="4768441" y="4650731"/>
              <a:ext cx="12731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req_conn(x)</a:t>
              </a:r>
              <a:endParaRPr/>
            </a:p>
          </p:txBody>
        </p:sp>
      </p:grpSp>
      <p:sp>
        <p:nvSpPr>
          <p:cNvPr id="6647" name="Google Shape;6647;p137"/>
          <p:cNvSpPr txBox="1"/>
          <p:nvPr>
            <p:ph idx="12" type="sldNum"/>
          </p:nvPr>
        </p:nvSpPr>
        <p:spPr>
          <a:xfrm>
            <a:off x="328386" y="6386112"/>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65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38"/>
                                        </p:tgtEl>
                                        <p:attrNameLst>
                                          <p:attrName>style.visibility</p:attrName>
                                        </p:attrNameLst>
                                      </p:cBhvr>
                                      <p:to>
                                        <p:strVal val="visible"/>
                                      </p:to>
                                    </p:set>
                                    <p:animEffect filter="fade" transition="in">
                                      <p:cBhvr>
                                        <p:cTn dur="500"/>
                                        <p:tgtEl>
                                          <p:spTgt spid="66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32"/>
                                        </p:tgtEl>
                                        <p:attrNameLst>
                                          <p:attrName>style.visibility</p:attrName>
                                        </p:attrNameLst>
                                      </p:cBhvr>
                                      <p:to>
                                        <p:strVal val="visible"/>
                                      </p:to>
                                    </p:set>
                                    <p:animEffect filter="fade" transition="in">
                                      <p:cBhvr>
                                        <p:cTn dur="500"/>
                                        <p:tgtEl>
                                          <p:spTgt spid="66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29"/>
                                        </p:tgtEl>
                                        <p:attrNameLst>
                                          <p:attrName>style.visibility</p:attrName>
                                        </p:attrNameLst>
                                      </p:cBhvr>
                                      <p:to>
                                        <p:strVal val="visible"/>
                                      </p:to>
                                    </p:set>
                                    <p:animEffect filter="fade" transition="in">
                                      <p:cBhvr>
                                        <p:cTn dur="500"/>
                                        <p:tgtEl>
                                          <p:spTgt spid="66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2" name="Shape 6652"/>
        <p:cNvGrpSpPr/>
        <p:nvPr/>
      </p:nvGrpSpPr>
      <p:grpSpPr>
        <a:xfrm>
          <a:off x="0" y="0"/>
          <a:ext cx="0" cy="0"/>
          <a:chOff x="0" y="0"/>
          <a:chExt cx="0" cy="0"/>
        </a:xfrm>
      </p:grpSpPr>
      <p:sp>
        <p:nvSpPr>
          <p:cNvPr id="6653" name="Google Shape;6653;p138"/>
          <p:cNvSpPr txBox="1"/>
          <p:nvPr>
            <p:ph type="title"/>
          </p:nvPr>
        </p:nvSpPr>
        <p:spPr>
          <a:xfrm>
            <a:off x="1260910" y="166688"/>
            <a:ext cx="6119380" cy="84931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3-way handshake</a:t>
            </a:r>
            <a:endParaRPr/>
          </a:p>
        </p:txBody>
      </p:sp>
      <p:sp>
        <p:nvSpPr>
          <p:cNvPr id="6654" name="Google Shape;6654;p138"/>
          <p:cNvSpPr txBox="1"/>
          <p:nvPr>
            <p:ph idx="1" type="body"/>
          </p:nvPr>
        </p:nvSpPr>
        <p:spPr>
          <a:xfrm>
            <a:off x="1472665" y="1317626"/>
            <a:ext cx="9673390" cy="4835525"/>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solidFill>
                  <a:srgbClr val="A5A5A5"/>
                </a:solidFill>
              </a:rPr>
              <a:t>Four actions are required before sending data</a:t>
            </a:r>
            <a:endParaRPr/>
          </a:p>
          <a:p>
            <a:pPr indent="-231775" lvl="1" marL="695325" rtl="0" algn="l">
              <a:lnSpc>
                <a:spcPct val="90000"/>
              </a:lnSpc>
              <a:spcBef>
                <a:spcPts val="1200"/>
              </a:spcBef>
              <a:spcAft>
                <a:spcPts val="0"/>
              </a:spcAft>
              <a:buSzPts val="2600"/>
              <a:buChar char="•"/>
            </a:pPr>
            <a:r>
              <a:rPr lang="en-US" sz="2600">
                <a:solidFill>
                  <a:srgbClr val="A5A5A5"/>
                </a:solidFill>
              </a:rPr>
              <a:t>Host A sends a segment to announce its wish for connection and includes its initialization information</a:t>
            </a:r>
            <a:endParaRPr/>
          </a:p>
          <a:p>
            <a:pPr indent="-231775" lvl="1" marL="695325" rtl="0" algn="l">
              <a:lnSpc>
                <a:spcPct val="90000"/>
              </a:lnSpc>
              <a:spcBef>
                <a:spcPts val="1200"/>
              </a:spcBef>
              <a:spcAft>
                <a:spcPts val="0"/>
              </a:spcAft>
              <a:buSzPts val="2600"/>
              <a:buChar char="•"/>
            </a:pPr>
            <a:r>
              <a:rPr lang="en-US" sz="2600">
                <a:solidFill>
                  <a:srgbClr val="0070C0"/>
                </a:solidFill>
              </a:rPr>
              <a:t>Host B sends a segment to acknowledge the request of A</a:t>
            </a:r>
            <a:endParaRPr/>
          </a:p>
          <a:p>
            <a:pPr indent="-231775" lvl="1" marL="695325" rtl="0" algn="l">
              <a:lnSpc>
                <a:spcPct val="90000"/>
              </a:lnSpc>
              <a:spcBef>
                <a:spcPts val="1200"/>
              </a:spcBef>
              <a:spcAft>
                <a:spcPts val="0"/>
              </a:spcAft>
              <a:buSzPts val="2600"/>
              <a:buChar char="•"/>
            </a:pPr>
            <a:r>
              <a:rPr lang="en-US" sz="2600">
                <a:solidFill>
                  <a:srgbClr val="0070C0"/>
                </a:solidFill>
              </a:rPr>
              <a:t>Host B sends a segment that includes initialization information</a:t>
            </a:r>
            <a:endParaRPr/>
          </a:p>
          <a:p>
            <a:pPr indent="-231775" lvl="1" marL="695325" rtl="0" algn="l">
              <a:lnSpc>
                <a:spcPct val="90000"/>
              </a:lnSpc>
              <a:spcBef>
                <a:spcPts val="1200"/>
              </a:spcBef>
              <a:spcAft>
                <a:spcPts val="0"/>
              </a:spcAft>
              <a:buSzPts val="2600"/>
              <a:buChar char="•"/>
            </a:pPr>
            <a:r>
              <a:rPr lang="en-US" sz="2600">
                <a:solidFill>
                  <a:srgbClr val="A5A5A5"/>
                </a:solidFill>
              </a:rPr>
              <a:t>Host A sends a segment to acknowledge the request from B</a:t>
            </a:r>
            <a:endParaRPr/>
          </a:p>
          <a:p>
            <a:pPr indent="-222250" lvl="0" marL="352425" rtl="0" algn="l">
              <a:lnSpc>
                <a:spcPct val="90000"/>
              </a:lnSpc>
              <a:spcBef>
                <a:spcPts val="1200"/>
              </a:spcBef>
              <a:spcAft>
                <a:spcPts val="0"/>
              </a:spcAft>
              <a:buSzPts val="3000"/>
              <a:buChar char="▪"/>
            </a:pPr>
            <a:r>
              <a:rPr lang="en-US" sz="3000">
                <a:solidFill>
                  <a:srgbClr val="0070C0"/>
                </a:solidFill>
              </a:rPr>
              <a:t>2</a:t>
            </a:r>
            <a:r>
              <a:rPr baseline="30000" lang="en-US" sz="3000">
                <a:solidFill>
                  <a:srgbClr val="0070C0"/>
                </a:solidFill>
              </a:rPr>
              <a:t>nd</a:t>
            </a:r>
            <a:r>
              <a:rPr lang="en-US" sz="3000">
                <a:solidFill>
                  <a:srgbClr val="0070C0"/>
                </a:solidFill>
              </a:rPr>
              <a:t> and 3</a:t>
            </a:r>
            <a:r>
              <a:rPr baseline="30000" lang="en-US" sz="3000">
                <a:solidFill>
                  <a:srgbClr val="0070C0"/>
                </a:solidFill>
              </a:rPr>
              <a:t>rd</a:t>
            </a:r>
            <a:r>
              <a:rPr lang="en-US" sz="3000">
                <a:solidFill>
                  <a:srgbClr val="0070C0"/>
                </a:solidFill>
              </a:rPr>
              <a:t> can be combined</a:t>
            </a:r>
            <a:endParaRPr/>
          </a:p>
          <a:p>
            <a:pPr indent="-222250" lvl="0" marL="352425" rtl="0" algn="l">
              <a:lnSpc>
                <a:spcPct val="90000"/>
              </a:lnSpc>
              <a:spcBef>
                <a:spcPts val="1200"/>
              </a:spcBef>
              <a:spcAft>
                <a:spcPts val="0"/>
              </a:spcAft>
              <a:buSzPts val="3000"/>
              <a:buChar char="▪"/>
            </a:pPr>
            <a:r>
              <a:rPr lang="en-US" sz="3000">
                <a:solidFill>
                  <a:srgbClr val="0070C0"/>
                </a:solidFill>
              </a:rPr>
              <a:t>Called </a:t>
            </a:r>
            <a:r>
              <a:rPr i="1" lang="en-US" sz="3000">
                <a:solidFill>
                  <a:srgbClr val="0070C0"/>
                </a:solidFill>
              </a:rPr>
              <a:t>Three-Way Handshaking</a:t>
            </a:r>
            <a:endParaRPr sz="3000">
              <a:solidFill>
                <a:srgbClr val="0070C0"/>
              </a:solidFill>
            </a:endParaRPr>
          </a:p>
        </p:txBody>
      </p:sp>
      <p:sp>
        <p:nvSpPr>
          <p:cNvPr id="6655" name="Google Shape;6655;p13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9" name="Shape 6659"/>
        <p:cNvGrpSpPr/>
        <p:nvPr/>
      </p:nvGrpSpPr>
      <p:grpSpPr>
        <a:xfrm>
          <a:off x="0" y="0"/>
          <a:ext cx="0" cy="0"/>
          <a:chOff x="0" y="0"/>
          <a:chExt cx="0" cy="0"/>
        </a:xfrm>
      </p:grpSpPr>
      <p:sp>
        <p:nvSpPr>
          <p:cNvPr id="6660" name="Google Shape;6660;p139"/>
          <p:cNvSpPr txBox="1"/>
          <p:nvPr>
            <p:ph idx="1" type="body"/>
          </p:nvPr>
        </p:nvSpPr>
        <p:spPr>
          <a:xfrm>
            <a:off x="1944689" y="1160463"/>
            <a:ext cx="8258175" cy="5302250"/>
          </a:xfrm>
          <a:prstGeom prst="rect">
            <a:avLst/>
          </a:prstGeom>
          <a:noFill/>
          <a:ln>
            <a:noFill/>
          </a:ln>
        </p:spPr>
        <p:txBody>
          <a:bodyPr anchorCtr="0" anchor="t" bIns="45700" lIns="91425" spcFirstLastPara="1" rIns="91425" wrap="square" tIns="45700">
            <a:normAutofit/>
          </a:bodyPr>
          <a:lstStyle/>
          <a:p>
            <a:pPr indent="-69850" lvl="0" marL="352425" rtl="0" algn="l">
              <a:lnSpc>
                <a:spcPct val="90000"/>
              </a:lnSpc>
              <a:spcBef>
                <a:spcPts val="0"/>
              </a:spcBef>
              <a:spcAft>
                <a:spcPts val="0"/>
              </a:spcAft>
              <a:buSzPts val="2400"/>
              <a:buNone/>
            </a:pPr>
            <a:r>
              <a:t/>
            </a:r>
            <a:endParaRPr b="1" sz="2400"/>
          </a:p>
          <a:p>
            <a:pPr indent="-69850" lvl="0" marL="352425" rtl="0" algn="l">
              <a:lnSpc>
                <a:spcPct val="90000"/>
              </a:lnSpc>
              <a:spcBef>
                <a:spcPts val="1200"/>
              </a:spcBef>
              <a:spcAft>
                <a:spcPts val="0"/>
              </a:spcAft>
              <a:buSzPts val="2400"/>
              <a:buNone/>
            </a:pPr>
            <a:r>
              <a:t/>
            </a:r>
            <a:endParaRPr b="1" sz="2400"/>
          </a:p>
          <a:p>
            <a:pPr indent="-69850" lvl="0" marL="352425" rtl="0" algn="l">
              <a:lnSpc>
                <a:spcPct val="90000"/>
              </a:lnSpc>
              <a:spcBef>
                <a:spcPts val="1200"/>
              </a:spcBef>
              <a:spcAft>
                <a:spcPts val="0"/>
              </a:spcAft>
              <a:buSzPts val="2400"/>
              <a:buNone/>
            </a:pPr>
            <a:r>
              <a:t/>
            </a:r>
            <a:endParaRPr b="1" sz="2400"/>
          </a:p>
          <a:p>
            <a:pPr indent="-69850" lvl="0" marL="352425" rtl="0" algn="l">
              <a:lnSpc>
                <a:spcPct val="90000"/>
              </a:lnSpc>
              <a:spcBef>
                <a:spcPts val="1200"/>
              </a:spcBef>
              <a:spcAft>
                <a:spcPts val="0"/>
              </a:spcAft>
              <a:buSzPts val="2400"/>
              <a:buNone/>
            </a:pPr>
            <a:r>
              <a:t/>
            </a:r>
            <a:endParaRPr b="1" sz="2400"/>
          </a:p>
          <a:p>
            <a:pPr indent="-69850" lvl="0" marL="352425" rtl="0" algn="l">
              <a:lnSpc>
                <a:spcPct val="90000"/>
              </a:lnSpc>
              <a:spcBef>
                <a:spcPts val="1200"/>
              </a:spcBef>
              <a:spcAft>
                <a:spcPts val="0"/>
              </a:spcAft>
              <a:buSzPts val="2400"/>
              <a:buNone/>
            </a:pPr>
            <a:r>
              <a:t/>
            </a:r>
            <a:endParaRPr b="1" sz="2400"/>
          </a:p>
          <a:p>
            <a:pPr indent="-69850" lvl="0" marL="352425" rtl="0" algn="l">
              <a:lnSpc>
                <a:spcPct val="90000"/>
              </a:lnSpc>
              <a:spcBef>
                <a:spcPts val="1200"/>
              </a:spcBef>
              <a:spcAft>
                <a:spcPts val="0"/>
              </a:spcAft>
              <a:buSzPts val="2400"/>
              <a:buNone/>
            </a:pPr>
            <a:r>
              <a:t/>
            </a:r>
            <a:endParaRPr b="1" sz="2400"/>
          </a:p>
          <a:p>
            <a:pPr indent="-69850" lvl="0" marL="352425" rtl="0" algn="l">
              <a:lnSpc>
                <a:spcPct val="90000"/>
              </a:lnSpc>
              <a:spcBef>
                <a:spcPts val="1200"/>
              </a:spcBef>
              <a:spcAft>
                <a:spcPts val="0"/>
              </a:spcAft>
              <a:buSzPts val="2400"/>
              <a:buNone/>
            </a:pPr>
            <a:r>
              <a:t/>
            </a:r>
            <a:endParaRPr b="1" sz="2400"/>
          </a:p>
          <a:p>
            <a:pPr indent="-222250" lvl="0" marL="352425" rtl="0" algn="l">
              <a:lnSpc>
                <a:spcPct val="90000"/>
              </a:lnSpc>
              <a:spcBef>
                <a:spcPts val="1200"/>
              </a:spcBef>
              <a:spcAft>
                <a:spcPts val="0"/>
              </a:spcAft>
              <a:buSzPts val="2400"/>
              <a:buChar char="▪"/>
            </a:pPr>
            <a:r>
              <a:rPr b="1" lang="en-US" sz="2400"/>
              <a:t>STEP 1:</a:t>
            </a:r>
            <a:r>
              <a:rPr lang="en-US" sz="2400"/>
              <a:t> </a:t>
            </a:r>
            <a:endParaRPr/>
          </a:p>
          <a:p>
            <a:pPr indent="-231775" lvl="1" marL="695325" rtl="0" algn="l">
              <a:lnSpc>
                <a:spcPct val="90000"/>
              </a:lnSpc>
              <a:spcBef>
                <a:spcPts val="1200"/>
              </a:spcBef>
              <a:spcAft>
                <a:spcPts val="0"/>
              </a:spcAft>
              <a:buSzPts val="2000"/>
              <a:buChar char="•"/>
            </a:pPr>
            <a:r>
              <a:rPr lang="en-US" sz="2000"/>
              <a:t>Host A sends the initial packet to Host B. This packet has the "SYN" bit enabled. </a:t>
            </a:r>
            <a:endParaRPr/>
          </a:p>
          <a:p>
            <a:pPr indent="-231775" lvl="1" marL="695325" rtl="0" algn="l">
              <a:lnSpc>
                <a:spcPct val="90000"/>
              </a:lnSpc>
              <a:spcBef>
                <a:spcPts val="1200"/>
              </a:spcBef>
              <a:spcAft>
                <a:spcPts val="0"/>
              </a:spcAft>
              <a:buSzPts val="2000"/>
              <a:buChar char="•"/>
            </a:pPr>
            <a:r>
              <a:rPr lang="en-US" sz="2000"/>
              <a:t>Host B receives the packet and sees the "SYN" bit enabled, so it knows that Host A is trying to establish a connection with it.</a:t>
            </a:r>
            <a:endParaRPr/>
          </a:p>
        </p:txBody>
      </p:sp>
      <p:pic>
        <p:nvPicPr>
          <p:cNvPr id="6661" name="Google Shape;6661;p139"/>
          <p:cNvPicPr preferRelativeResize="0"/>
          <p:nvPr/>
        </p:nvPicPr>
        <p:blipFill rotWithShape="1">
          <a:blip r:embed="rId3">
            <a:alphaModFix/>
          </a:blip>
          <a:srcRect b="0" l="0" r="0" t="0"/>
          <a:stretch/>
        </p:blipFill>
        <p:spPr>
          <a:xfrm>
            <a:off x="2792413" y="1239838"/>
            <a:ext cx="6159500" cy="2571750"/>
          </a:xfrm>
          <a:prstGeom prst="rect">
            <a:avLst/>
          </a:prstGeom>
          <a:noFill/>
          <a:ln>
            <a:noFill/>
          </a:ln>
        </p:spPr>
      </p:pic>
      <p:sp>
        <p:nvSpPr>
          <p:cNvPr id="6662" name="Google Shape;6662;p139"/>
          <p:cNvSpPr txBox="1"/>
          <p:nvPr>
            <p:ph type="title"/>
          </p:nvPr>
        </p:nvSpPr>
        <p:spPr>
          <a:xfrm>
            <a:off x="2024064" y="166688"/>
            <a:ext cx="5356225" cy="84931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600"/>
              <a:buFont typeface="Calibri"/>
              <a:buNone/>
            </a:pPr>
            <a:r>
              <a:rPr lang="en-US" sz="3600"/>
              <a:t>TCP 3-way handshake</a:t>
            </a:r>
            <a:endParaRPr/>
          </a:p>
        </p:txBody>
      </p:sp>
      <p:sp>
        <p:nvSpPr>
          <p:cNvPr id="6663" name="Google Shape;6663;p13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7" name="Shape 6667"/>
        <p:cNvGrpSpPr/>
        <p:nvPr/>
      </p:nvGrpSpPr>
      <p:grpSpPr>
        <a:xfrm>
          <a:off x="0" y="0"/>
          <a:ext cx="0" cy="0"/>
          <a:chOff x="0" y="0"/>
          <a:chExt cx="0" cy="0"/>
        </a:xfrm>
      </p:grpSpPr>
      <p:sp>
        <p:nvSpPr>
          <p:cNvPr id="6668" name="Google Shape;6668;p140"/>
          <p:cNvSpPr txBox="1"/>
          <p:nvPr>
            <p:ph idx="1" type="body"/>
          </p:nvPr>
        </p:nvSpPr>
        <p:spPr>
          <a:xfrm>
            <a:off x="1944689" y="1160463"/>
            <a:ext cx="8351837" cy="5440362"/>
          </a:xfrm>
          <a:prstGeom prst="rect">
            <a:avLst/>
          </a:prstGeom>
          <a:noFill/>
          <a:ln>
            <a:noFill/>
          </a:ln>
        </p:spPr>
        <p:txBody>
          <a:bodyPr anchorCtr="0" anchor="t" bIns="45700" lIns="91425" spcFirstLastPara="1" rIns="91425" wrap="square" tIns="45700">
            <a:normAutofit/>
          </a:bodyPr>
          <a:lstStyle/>
          <a:p>
            <a:pPr indent="-44450" lvl="0" marL="352425" rtl="0" algn="l">
              <a:lnSpc>
                <a:spcPct val="90000"/>
              </a:lnSpc>
              <a:spcBef>
                <a:spcPts val="0"/>
              </a:spcBef>
              <a:spcAft>
                <a:spcPts val="0"/>
              </a:spcAft>
              <a:buSzPts val="2800"/>
              <a:buNone/>
            </a:pPr>
            <a:r>
              <a:t/>
            </a:r>
            <a:endParaRPr/>
          </a:p>
          <a:p>
            <a:pPr indent="-44450" lvl="0" marL="352425" rtl="0" algn="l">
              <a:lnSpc>
                <a:spcPct val="90000"/>
              </a:lnSpc>
              <a:spcBef>
                <a:spcPts val="1200"/>
              </a:spcBef>
              <a:spcAft>
                <a:spcPts val="0"/>
              </a:spcAft>
              <a:buSzPts val="2800"/>
              <a:buNone/>
            </a:pPr>
            <a:r>
              <a:t/>
            </a:r>
            <a:endParaRPr/>
          </a:p>
          <a:p>
            <a:pPr indent="-44450" lvl="0" marL="352425" rtl="0" algn="l">
              <a:lnSpc>
                <a:spcPct val="90000"/>
              </a:lnSpc>
              <a:spcBef>
                <a:spcPts val="1200"/>
              </a:spcBef>
              <a:spcAft>
                <a:spcPts val="0"/>
              </a:spcAft>
              <a:buSzPts val="2800"/>
              <a:buNone/>
            </a:pPr>
            <a:r>
              <a:t/>
            </a:r>
            <a:endParaRPr/>
          </a:p>
          <a:p>
            <a:pPr indent="-44450" lvl="0" marL="352425" rtl="0" algn="l">
              <a:lnSpc>
                <a:spcPct val="90000"/>
              </a:lnSpc>
              <a:spcBef>
                <a:spcPts val="1200"/>
              </a:spcBef>
              <a:spcAft>
                <a:spcPts val="0"/>
              </a:spcAft>
              <a:buSzPts val="2800"/>
              <a:buNone/>
            </a:pPr>
            <a:r>
              <a:t/>
            </a:r>
            <a:endParaRPr/>
          </a:p>
          <a:p>
            <a:pPr indent="-44450" lvl="0" marL="352425" rtl="0" algn="l">
              <a:lnSpc>
                <a:spcPct val="90000"/>
              </a:lnSpc>
              <a:spcBef>
                <a:spcPts val="1200"/>
              </a:spcBef>
              <a:spcAft>
                <a:spcPts val="0"/>
              </a:spcAft>
              <a:buSzPts val="2800"/>
              <a:buNone/>
            </a:pPr>
            <a:r>
              <a:t/>
            </a:r>
            <a:endParaRPr/>
          </a:p>
          <a:p>
            <a:pPr indent="-44450" lvl="0" marL="352425" rtl="0" algn="l">
              <a:lnSpc>
                <a:spcPct val="90000"/>
              </a:lnSpc>
              <a:spcBef>
                <a:spcPts val="1200"/>
              </a:spcBef>
              <a:spcAft>
                <a:spcPts val="0"/>
              </a:spcAft>
              <a:buSzPts val="2800"/>
              <a:buNone/>
            </a:pPr>
            <a:r>
              <a:t/>
            </a:r>
            <a:endParaRPr/>
          </a:p>
          <a:p>
            <a:pPr indent="-222250" lvl="0" marL="352425" rtl="0" algn="l">
              <a:lnSpc>
                <a:spcPct val="90000"/>
              </a:lnSpc>
              <a:spcBef>
                <a:spcPts val="1200"/>
              </a:spcBef>
              <a:spcAft>
                <a:spcPts val="0"/>
              </a:spcAft>
              <a:buSzPts val="2400"/>
              <a:buChar char="▪"/>
            </a:pPr>
            <a:r>
              <a:rPr b="1" lang="en-US" sz="2400"/>
              <a:t>STEP 2:</a:t>
            </a:r>
            <a:r>
              <a:rPr lang="en-US" sz="2400"/>
              <a:t> </a:t>
            </a:r>
            <a:endParaRPr/>
          </a:p>
          <a:p>
            <a:pPr indent="-231775" lvl="1" marL="695325" rtl="0" algn="l">
              <a:lnSpc>
                <a:spcPct val="90000"/>
              </a:lnSpc>
              <a:spcBef>
                <a:spcPts val="1200"/>
              </a:spcBef>
              <a:spcAft>
                <a:spcPts val="0"/>
              </a:spcAft>
              <a:buSzPts val="2000"/>
              <a:buChar char="•"/>
            </a:pPr>
            <a:r>
              <a:rPr lang="en-US" sz="2000"/>
              <a:t>Assuming Host B has enough resources, it sends a packet back to Host A and with the "SYN and ACK" bits enabled (set to 1). </a:t>
            </a:r>
            <a:endParaRPr/>
          </a:p>
          <a:p>
            <a:pPr indent="-231775" lvl="1" marL="695325" rtl="0" algn="l">
              <a:lnSpc>
                <a:spcPct val="90000"/>
              </a:lnSpc>
              <a:spcBef>
                <a:spcPts val="1200"/>
              </a:spcBef>
              <a:spcAft>
                <a:spcPts val="0"/>
              </a:spcAft>
              <a:buSzPts val="2000"/>
              <a:buChar char="•"/>
            </a:pPr>
            <a:r>
              <a:rPr lang="en-US" sz="2000"/>
              <a:t>The </a:t>
            </a:r>
            <a:r>
              <a:rPr lang="en-US" sz="2000">
                <a:solidFill>
                  <a:srgbClr val="FF0000"/>
                </a:solidFill>
              </a:rPr>
              <a:t>SYN</a:t>
            </a:r>
            <a:r>
              <a:rPr lang="en-US" sz="2000"/>
              <a:t> that Host B sends, at this step, means '</a:t>
            </a:r>
            <a:r>
              <a:rPr i="1" lang="en-US" sz="2000">
                <a:solidFill>
                  <a:srgbClr val="FF0000"/>
                </a:solidFill>
              </a:rPr>
              <a:t>I want to synchronize with you</a:t>
            </a:r>
            <a:r>
              <a:rPr lang="en-US" sz="2000"/>
              <a:t>' and the </a:t>
            </a:r>
            <a:r>
              <a:rPr lang="en-US" sz="2000">
                <a:solidFill>
                  <a:srgbClr val="0070C0"/>
                </a:solidFill>
              </a:rPr>
              <a:t>ACK</a:t>
            </a:r>
            <a:r>
              <a:rPr lang="en-US" sz="2000"/>
              <a:t> means '</a:t>
            </a:r>
            <a:r>
              <a:rPr i="1" lang="en-US" sz="2000">
                <a:solidFill>
                  <a:srgbClr val="0070C0"/>
                </a:solidFill>
              </a:rPr>
              <a:t>I acknowledge your previous SYN request</a:t>
            </a:r>
            <a:r>
              <a:rPr lang="en-US" sz="2000"/>
              <a:t>'.</a:t>
            </a:r>
            <a:endParaRPr/>
          </a:p>
        </p:txBody>
      </p:sp>
      <p:pic>
        <p:nvPicPr>
          <p:cNvPr id="6669" name="Google Shape;6669;p140"/>
          <p:cNvPicPr preferRelativeResize="0"/>
          <p:nvPr/>
        </p:nvPicPr>
        <p:blipFill rotWithShape="1">
          <a:blip r:embed="rId3">
            <a:alphaModFix/>
          </a:blip>
          <a:srcRect b="0" l="0" r="0" t="0"/>
          <a:stretch/>
        </p:blipFill>
        <p:spPr>
          <a:xfrm>
            <a:off x="2863850" y="1293813"/>
            <a:ext cx="6159500" cy="2571750"/>
          </a:xfrm>
          <a:prstGeom prst="rect">
            <a:avLst/>
          </a:prstGeom>
          <a:noFill/>
          <a:ln>
            <a:noFill/>
          </a:ln>
        </p:spPr>
      </p:pic>
      <p:sp>
        <p:nvSpPr>
          <p:cNvPr id="6670" name="Google Shape;6670;p140"/>
          <p:cNvSpPr txBox="1"/>
          <p:nvPr>
            <p:ph type="title"/>
          </p:nvPr>
        </p:nvSpPr>
        <p:spPr>
          <a:xfrm>
            <a:off x="2024064" y="166688"/>
            <a:ext cx="5356225" cy="84931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600"/>
              <a:buFont typeface="Calibri"/>
              <a:buNone/>
            </a:pPr>
            <a:r>
              <a:rPr lang="en-US" sz="3600"/>
              <a:t>TCP 3-way handshake</a:t>
            </a:r>
            <a:endParaRPr/>
          </a:p>
        </p:txBody>
      </p:sp>
      <p:sp>
        <p:nvSpPr>
          <p:cNvPr id="6671" name="Google Shape;6671;p14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5" name="Shape 6675"/>
        <p:cNvGrpSpPr/>
        <p:nvPr/>
      </p:nvGrpSpPr>
      <p:grpSpPr>
        <a:xfrm>
          <a:off x="0" y="0"/>
          <a:ext cx="0" cy="0"/>
          <a:chOff x="0" y="0"/>
          <a:chExt cx="0" cy="0"/>
        </a:xfrm>
      </p:grpSpPr>
      <p:sp>
        <p:nvSpPr>
          <p:cNvPr id="6676" name="Google Shape;6676;p141"/>
          <p:cNvSpPr txBox="1"/>
          <p:nvPr>
            <p:ph idx="1" type="body"/>
          </p:nvPr>
        </p:nvSpPr>
        <p:spPr>
          <a:xfrm>
            <a:off x="1944689" y="1160463"/>
            <a:ext cx="8351837" cy="5440362"/>
          </a:xfrm>
          <a:prstGeom prst="rect">
            <a:avLst/>
          </a:prstGeom>
          <a:noFill/>
          <a:ln>
            <a:noFill/>
          </a:ln>
        </p:spPr>
        <p:txBody>
          <a:bodyPr anchorCtr="0" anchor="t" bIns="45700" lIns="91425" spcFirstLastPara="1" rIns="91425" wrap="square" tIns="45700">
            <a:normAutofit/>
          </a:bodyPr>
          <a:lstStyle/>
          <a:p>
            <a:pPr indent="-44450" lvl="0" marL="352425" rtl="0" algn="l">
              <a:lnSpc>
                <a:spcPct val="90000"/>
              </a:lnSpc>
              <a:spcBef>
                <a:spcPts val="0"/>
              </a:spcBef>
              <a:spcAft>
                <a:spcPts val="0"/>
              </a:spcAft>
              <a:buSzPts val="2800"/>
              <a:buNone/>
            </a:pPr>
            <a:r>
              <a:t/>
            </a:r>
            <a:endParaRPr/>
          </a:p>
          <a:p>
            <a:pPr indent="-44450" lvl="0" marL="352425" rtl="0" algn="l">
              <a:lnSpc>
                <a:spcPct val="90000"/>
              </a:lnSpc>
              <a:spcBef>
                <a:spcPts val="1200"/>
              </a:spcBef>
              <a:spcAft>
                <a:spcPts val="0"/>
              </a:spcAft>
              <a:buSzPts val="2800"/>
              <a:buNone/>
            </a:pPr>
            <a:r>
              <a:t/>
            </a:r>
            <a:endParaRPr/>
          </a:p>
          <a:p>
            <a:pPr indent="-44450" lvl="0" marL="352425" rtl="0" algn="l">
              <a:lnSpc>
                <a:spcPct val="90000"/>
              </a:lnSpc>
              <a:spcBef>
                <a:spcPts val="1200"/>
              </a:spcBef>
              <a:spcAft>
                <a:spcPts val="0"/>
              </a:spcAft>
              <a:buSzPts val="2800"/>
              <a:buNone/>
            </a:pPr>
            <a:r>
              <a:t/>
            </a:r>
            <a:endParaRPr/>
          </a:p>
          <a:p>
            <a:pPr indent="-44450" lvl="0" marL="352425" rtl="0" algn="l">
              <a:lnSpc>
                <a:spcPct val="90000"/>
              </a:lnSpc>
              <a:spcBef>
                <a:spcPts val="1200"/>
              </a:spcBef>
              <a:spcAft>
                <a:spcPts val="0"/>
              </a:spcAft>
              <a:buSzPts val="2800"/>
              <a:buNone/>
            </a:pPr>
            <a:r>
              <a:t/>
            </a:r>
            <a:endParaRPr/>
          </a:p>
          <a:p>
            <a:pPr indent="-44450" lvl="0" marL="352425" rtl="0" algn="l">
              <a:lnSpc>
                <a:spcPct val="90000"/>
              </a:lnSpc>
              <a:spcBef>
                <a:spcPts val="1200"/>
              </a:spcBef>
              <a:spcAft>
                <a:spcPts val="0"/>
              </a:spcAft>
              <a:buSzPts val="2800"/>
              <a:buNone/>
            </a:pPr>
            <a:r>
              <a:t/>
            </a:r>
            <a:endParaRPr/>
          </a:p>
          <a:p>
            <a:pPr indent="-44450" lvl="0" marL="352425" rtl="0" algn="l">
              <a:lnSpc>
                <a:spcPct val="90000"/>
              </a:lnSpc>
              <a:spcBef>
                <a:spcPts val="1200"/>
              </a:spcBef>
              <a:spcAft>
                <a:spcPts val="0"/>
              </a:spcAft>
              <a:buSzPts val="2800"/>
              <a:buNone/>
            </a:pPr>
            <a:r>
              <a:t/>
            </a:r>
            <a:endParaRPr/>
          </a:p>
          <a:p>
            <a:pPr indent="-222250" lvl="0" marL="352425" rtl="0" algn="l">
              <a:lnSpc>
                <a:spcPct val="90000"/>
              </a:lnSpc>
              <a:spcBef>
                <a:spcPts val="1200"/>
              </a:spcBef>
              <a:spcAft>
                <a:spcPts val="0"/>
              </a:spcAft>
              <a:buSzPts val="2400"/>
              <a:buChar char="▪"/>
            </a:pPr>
            <a:r>
              <a:rPr b="1" lang="en-US" sz="2400"/>
              <a:t>STEP 3:</a:t>
            </a:r>
            <a:r>
              <a:rPr lang="en-US" sz="2400"/>
              <a:t> </a:t>
            </a:r>
            <a:endParaRPr/>
          </a:p>
          <a:p>
            <a:pPr indent="-231775" lvl="1" marL="695325" rtl="0" algn="l">
              <a:lnSpc>
                <a:spcPct val="90000"/>
              </a:lnSpc>
              <a:spcBef>
                <a:spcPts val="1200"/>
              </a:spcBef>
              <a:spcAft>
                <a:spcPts val="0"/>
              </a:spcAft>
              <a:buSzPts val="2000"/>
              <a:buChar char="•"/>
            </a:pPr>
            <a:r>
              <a:rPr lang="en-US" sz="2000"/>
              <a:t>Host A sends another packet to Host B and with the "</a:t>
            </a:r>
            <a:r>
              <a:rPr lang="en-US" sz="2000">
                <a:solidFill>
                  <a:srgbClr val="FF0000"/>
                </a:solidFill>
              </a:rPr>
              <a:t>ACK</a:t>
            </a:r>
            <a:r>
              <a:rPr lang="en-US" sz="2000"/>
              <a:t>" bit set (1),</a:t>
            </a:r>
            <a:endParaRPr/>
          </a:p>
          <a:p>
            <a:pPr indent="-231775" lvl="1" marL="695325" rtl="0" algn="l">
              <a:lnSpc>
                <a:spcPct val="90000"/>
              </a:lnSpc>
              <a:spcBef>
                <a:spcPts val="1200"/>
              </a:spcBef>
              <a:spcAft>
                <a:spcPts val="0"/>
              </a:spcAft>
              <a:buSzPts val="2000"/>
              <a:buChar char="•"/>
            </a:pPr>
            <a:r>
              <a:rPr lang="en-US" sz="2000"/>
              <a:t>… it effectively tells Host B '</a:t>
            </a:r>
            <a:r>
              <a:rPr i="1" lang="en-US" sz="2000">
                <a:solidFill>
                  <a:srgbClr val="FF0000"/>
                </a:solidFill>
              </a:rPr>
              <a:t>Yes, I acknowledge your previous request</a:t>
            </a:r>
            <a:r>
              <a:rPr lang="en-US" sz="2000"/>
              <a:t>'.</a:t>
            </a:r>
            <a:endParaRPr/>
          </a:p>
        </p:txBody>
      </p:sp>
      <p:pic>
        <p:nvPicPr>
          <p:cNvPr id="6677" name="Google Shape;6677;p141"/>
          <p:cNvPicPr preferRelativeResize="0"/>
          <p:nvPr/>
        </p:nvPicPr>
        <p:blipFill rotWithShape="1">
          <a:blip r:embed="rId3">
            <a:alphaModFix/>
          </a:blip>
          <a:srcRect b="0" l="0" r="0" t="0"/>
          <a:stretch/>
        </p:blipFill>
        <p:spPr>
          <a:xfrm>
            <a:off x="2863850" y="1160464"/>
            <a:ext cx="6159500" cy="2573337"/>
          </a:xfrm>
          <a:prstGeom prst="rect">
            <a:avLst/>
          </a:prstGeom>
          <a:noFill/>
          <a:ln>
            <a:noFill/>
          </a:ln>
        </p:spPr>
      </p:pic>
      <p:sp>
        <p:nvSpPr>
          <p:cNvPr id="6678" name="Google Shape;6678;p141"/>
          <p:cNvSpPr txBox="1"/>
          <p:nvPr>
            <p:ph type="title"/>
          </p:nvPr>
        </p:nvSpPr>
        <p:spPr>
          <a:xfrm>
            <a:off x="2024064" y="166688"/>
            <a:ext cx="5356225" cy="84931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600"/>
              <a:buFont typeface="Calibri"/>
              <a:buNone/>
            </a:pPr>
            <a:r>
              <a:rPr lang="en-US" sz="3600"/>
              <a:t>TCP 3-way handshake</a:t>
            </a:r>
            <a:endParaRPr/>
          </a:p>
        </p:txBody>
      </p:sp>
      <p:sp>
        <p:nvSpPr>
          <p:cNvPr id="6679" name="Google Shape;6679;p14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4" name="Shape 6684"/>
        <p:cNvGrpSpPr/>
        <p:nvPr/>
      </p:nvGrpSpPr>
      <p:grpSpPr>
        <a:xfrm>
          <a:off x="0" y="0"/>
          <a:ext cx="0" cy="0"/>
          <a:chOff x="0" y="0"/>
          <a:chExt cx="0" cy="0"/>
        </a:xfrm>
      </p:grpSpPr>
      <p:sp>
        <p:nvSpPr>
          <p:cNvPr id="6685" name="Google Shape;6685;p142"/>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3-way handshake</a:t>
            </a:r>
            <a:endParaRPr b="0" sz="4400"/>
          </a:p>
        </p:txBody>
      </p:sp>
      <p:cxnSp>
        <p:nvCxnSpPr>
          <p:cNvPr id="6686" name="Google Shape;6686;p142"/>
          <p:cNvCxnSpPr/>
          <p:nvPr/>
        </p:nvCxnSpPr>
        <p:spPr>
          <a:xfrm flipH="1">
            <a:off x="4796631" y="3078661"/>
            <a:ext cx="1588" cy="2470150"/>
          </a:xfrm>
          <a:prstGeom prst="straightConnector1">
            <a:avLst/>
          </a:prstGeom>
          <a:noFill/>
          <a:ln cap="flat" cmpd="sng" w="9525">
            <a:solidFill>
              <a:srgbClr val="777777"/>
            </a:solidFill>
            <a:prstDash val="solid"/>
            <a:round/>
            <a:headEnd len="med" w="med" type="none"/>
            <a:tailEnd len="med" w="med" type="none"/>
          </a:ln>
        </p:spPr>
      </p:cxnSp>
      <p:grpSp>
        <p:nvGrpSpPr>
          <p:cNvPr id="6687" name="Google Shape;6687;p142"/>
          <p:cNvGrpSpPr/>
          <p:nvPr/>
        </p:nvGrpSpPr>
        <p:grpSpPr>
          <a:xfrm>
            <a:off x="2810669" y="3005636"/>
            <a:ext cx="4494212" cy="955675"/>
            <a:chOff x="810" y="1363"/>
            <a:chExt cx="2831" cy="602"/>
          </a:xfrm>
        </p:grpSpPr>
        <p:cxnSp>
          <p:nvCxnSpPr>
            <p:cNvPr id="6688" name="Google Shape;6688;p142"/>
            <p:cNvCxnSpPr/>
            <p:nvPr/>
          </p:nvCxnSpPr>
          <p:spPr>
            <a:xfrm>
              <a:off x="2062" y="1502"/>
              <a:ext cx="1579" cy="463"/>
            </a:xfrm>
            <a:prstGeom prst="straightConnector1">
              <a:avLst/>
            </a:prstGeom>
            <a:noFill/>
            <a:ln cap="flat" cmpd="sng" w="28575">
              <a:solidFill>
                <a:srgbClr val="000099"/>
              </a:solidFill>
              <a:prstDash val="solid"/>
              <a:round/>
              <a:headEnd len="med" w="med" type="none"/>
              <a:tailEnd len="med" w="med" type="triangle"/>
            </a:ln>
          </p:spPr>
        </p:cxnSp>
        <p:sp>
          <p:nvSpPr>
            <p:cNvPr id="6689" name="Google Shape;6689;p142"/>
            <p:cNvSpPr/>
            <p:nvPr/>
          </p:nvSpPr>
          <p:spPr>
            <a:xfrm>
              <a:off x="2518" y="1565"/>
              <a:ext cx="590" cy="27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90" name="Google Shape;6690;p142"/>
            <p:cNvSpPr txBox="1"/>
            <p:nvPr/>
          </p:nvSpPr>
          <p:spPr>
            <a:xfrm>
              <a:off x="2310" y="1624"/>
              <a:ext cx="109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SYNbit=1, Seq=x</a:t>
              </a:r>
              <a:endParaRPr/>
            </a:p>
          </p:txBody>
        </p:sp>
        <p:sp>
          <p:nvSpPr>
            <p:cNvPr id="6691" name="Google Shape;6691;p142"/>
            <p:cNvSpPr txBox="1"/>
            <p:nvPr/>
          </p:nvSpPr>
          <p:spPr>
            <a:xfrm>
              <a:off x="810" y="1363"/>
              <a:ext cx="1230" cy="30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choose init seq num, x</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TCP SYN msg</a:t>
              </a:r>
              <a:endParaRPr/>
            </a:p>
          </p:txBody>
        </p:sp>
      </p:grpSp>
      <p:cxnSp>
        <p:nvCxnSpPr>
          <p:cNvPr id="6692" name="Google Shape;6692;p142"/>
          <p:cNvCxnSpPr/>
          <p:nvPr/>
        </p:nvCxnSpPr>
        <p:spPr>
          <a:xfrm flipH="1">
            <a:off x="7385844" y="3148511"/>
            <a:ext cx="1587" cy="3417888"/>
          </a:xfrm>
          <a:prstGeom prst="straightConnector1">
            <a:avLst/>
          </a:prstGeom>
          <a:noFill/>
          <a:ln cap="flat" cmpd="sng" w="9525">
            <a:solidFill>
              <a:srgbClr val="777777"/>
            </a:solidFill>
            <a:prstDash val="solid"/>
            <a:round/>
            <a:headEnd len="med" w="med" type="none"/>
            <a:tailEnd len="med" w="med" type="none"/>
          </a:ln>
        </p:spPr>
      </p:cxnSp>
      <p:sp>
        <p:nvSpPr>
          <p:cNvPr id="6693" name="Google Shape;6693;p142"/>
          <p:cNvSpPr txBox="1"/>
          <p:nvPr/>
        </p:nvSpPr>
        <p:spPr>
          <a:xfrm>
            <a:off x="9571831" y="5986961"/>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grpSp>
        <p:nvGrpSpPr>
          <p:cNvPr id="6694" name="Google Shape;6694;p142"/>
          <p:cNvGrpSpPr/>
          <p:nvPr/>
        </p:nvGrpSpPr>
        <p:grpSpPr>
          <a:xfrm>
            <a:off x="4795044" y="3675561"/>
            <a:ext cx="4519612" cy="1425575"/>
            <a:chOff x="2060" y="1785"/>
            <a:chExt cx="2847" cy="898"/>
          </a:xfrm>
        </p:grpSpPr>
        <p:cxnSp>
          <p:nvCxnSpPr>
            <p:cNvPr id="6695" name="Google Shape;6695;p142"/>
            <p:cNvCxnSpPr/>
            <p:nvPr/>
          </p:nvCxnSpPr>
          <p:spPr>
            <a:xfrm flipH="1">
              <a:off x="2060" y="2031"/>
              <a:ext cx="1580" cy="652"/>
            </a:xfrm>
            <a:prstGeom prst="straightConnector1">
              <a:avLst/>
            </a:prstGeom>
            <a:noFill/>
            <a:ln cap="flat" cmpd="sng" w="28575">
              <a:solidFill>
                <a:srgbClr val="000099"/>
              </a:solidFill>
              <a:prstDash val="solid"/>
              <a:round/>
              <a:headEnd len="med" w="med" type="none"/>
              <a:tailEnd len="med" w="med" type="triangle"/>
            </a:ln>
          </p:spPr>
        </p:cxnSp>
        <p:sp>
          <p:nvSpPr>
            <p:cNvPr id="6696" name="Google Shape;6696;p142"/>
            <p:cNvSpPr/>
            <p:nvPr/>
          </p:nvSpPr>
          <p:spPr>
            <a:xfrm>
              <a:off x="2381" y="2206"/>
              <a:ext cx="896" cy="32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697" name="Google Shape;6697;p142"/>
            <p:cNvSpPr txBox="1"/>
            <p:nvPr/>
          </p:nvSpPr>
          <p:spPr>
            <a:xfrm>
              <a:off x="2159" y="2169"/>
              <a:ext cx="1534" cy="3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SYNbit=1, Seq=y</a:t>
              </a:r>
              <a:endParaRPr/>
            </a:p>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ACKbit=1; ACKnum=x+1</a:t>
              </a:r>
              <a:endParaRPr/>
            </a:p>
          </p:txBody>
        </p:sp>
        <p:sp>
          <p:nvSpPr>
            <p:cNvPr id="6698" name="Google Shape;6698;p142"/>
            <p:cNvSpPr txBox="1"/>
            <p:nvPr/>
          </p:nvSpPr>
          <p:spPr>
            <a:xfrm>
              <a:off x="3676" y="1785"/>
              <a:ext cx="1231" cy="42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choose init seq num, y</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TCP SYNACK</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msg, acking SYN</a:t>
              </a:r>
              <a:endParaRPr/>
            </a:p>
          </p:txBody>
        </p:sp>
      </p:grpSp>
      <p:grpSp>
        <p:nvGrpSpPr>
          <p:cNvPr id="6699" name="Google Shape;6699;p142"/>
          <p:cNvGrpSpPr/>
          <p:nvPr/>
        </p:nvGrpSpPr>
        <p:grpSpPr>
          <a:xfrm>
            <a:off x="2512219" y="4774111"/>
            <a:ext cx="6630987" cy="1373188"/>
            <a:chOff x="622" y="2477"/>
            <a:chExt cx="4177" cy="865"/>
          </a:xfrm>
        </p:grpSpPr>
        <p:cxnSp>
          <p:nvCxnSpPr>
            <p:cNvPr id="6700" name="Google Shape;6700;p142"/>
            <p:cNvCxnSpPr/>
            <p:nvPr/>
          </p:nvCxnSpPr>
          <p:spPr>
            <a:xfrm>
              <a:off x="2073" y="2728"/>
              <a:ext cx="1579" cy="463"/>
            </a:xfrm>
            <a:prstGeom prst="straightConnector1">
              <a:avLst/>
            </a:prstGeom>
            <a:noFill/>
            <a:ln cap="flat" cmpd="sng" w="28575">
              <a:solidFill>
                <a:srgbClr val="000099"/>
              </a:solidFill>
              <a:prstDash val="solid"/>
              <a:round/>
              <a:headEnd len="med" w="med" type="none"/>
              <a:tailEnd len="med" w="med" type="triangle"/>
            </a:ln>
          </p:spPr>
        </p:cxnSp>
        <p:sp>
          <p:nvSpPr>
            <p:cNvPr id="6701" name="Google Shape;6701;p142"/>
            <p:cNvSpPr/>
            <p:nvPr/>
          </p:nvSpPr>
          <p:spPr>
            <a:xfrm>
              <a:off x="2486" y="2806"/>
              <a:ext cx="775" cy="27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02" name="Google Shape;6702;p142"/>
            <p:cNvSpPr txBox="1"/>
            <p:nvPr/>
          </p:nvSpPr>
          <p:spPr>
            <a:xfrm>
              <a:off x="2092" y="2852"/>
              <a:ext cx="152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ACKbit=1, ACKnum=y+1</a:t>
              </a:r>
              <a:endParaRPr/>
            </a:p>
          </p:txBody>
        </p:sp>
        <p:sp>
          <p:nvSpPr>
            <p:cNvPr id="6703" name="Google Shape;6703;p142"/>
            <p:cNvSpPr txBox="1"/>
            <p:nvPr/>
          </p:nvSpPr>
          <p:spPr>
            <a:xfrm>
              <a:off x="622" y="2477"/>
              <a:ext cx="1422" cy="663"/>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received SYNACK(x) </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indicates server is live;</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 ACK for SYNACK;</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this segment may contain </a:t>
              </a:r>
              <a:endParaRPr/>
            </a:p>
            <a:p>
              <a:pPr indent="0" lvl="0" marL="0" marR="0" rtl="0" algn="r">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client-to-server data</a:t>
              </a:r>
              <a:endParaRPr/>
            </a:p>
          </p:txBody>
        </p:sp>
        <p:sp>
          <p:nvSpPr>
            <p:cNvPr id="6704" name="Google Shape;6704;p142"/>
            <p:cNvSpPr txBox="1"/>
            <p:nvPr/>
          </p:nvSpPr>
          <p:spPr>
            <a:xfrm>
              <a:off x="3640" y="3042"/>
              <a:ext cx="1159" cy="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received ACK(y) </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indicates client is live</a:t>
              </a:r>
              <a:endParaRPr/>
            </a:p>
          </p:txBody>
        </p:sp>
      </p:grpSp>
      <p:grpSp>
        <p:nvGrpSpPr>
          <p:cNvPr id="6705" name="Google Shape;6705;p142"/>
          <p:cNvGrpSpPr/>
          <p:nvPr/>
        </p:nvGrpSpPr>
        <p:grpSpPr>
          <a:xfrm>
            <a:off x="1813719" y="3043736"/>
            <a:ext cx="1030287" cy="700088"/>
            <a:chOff x="182" y="1387"/>
            <a:chExt cx="649" cy="441"/>
          </a:xfrm>
        </p:grpSpPr>
        <p:sp>
          <p:nvSpPr>
            <p:cNvPr id="6706" name="Google Shape;6706;p142"/>
            <p:cNvSpPr txBox="1"/>
            <p:nvPr/>
          </p:nvSpPr>
          <p:spPr>
            <a:xfrm>
              <a:off x="182" y="1616"/>
              <a:ext cx="64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SYNSENT</a:t>
              </a:r>
              <a:endParaRPr/>
            </a:p>
          </p:txBody>
        </p:sp>
        <p:cxnSp>
          <p:nvCxnSpPr>
            <p:cNvPr id="6707" name="Google Shape;6707;p142"/>
            <p:cNvCxnSpPr/>
            <p:nvPr/>
          </p:nvCxnSpPr>
          <p:spPr>
            <a:xfrm>
              <a:off x="462" y="1387"/>
              <a:ext cx="0" cy="277"/>
            </a:xfrm>
            <a:prstGeom prst="straightConnector1">
              <a:avLst/>
            </a:prstGeom>
            <a:noFill/>
            <a:ln cap="flat" cmpd="sng" w="9525">
              <a:solidFill>
                <a:srgbClr val="000000"/>
              </a:solidFill>
              <a:prstDash val="solid"/>
              <a:round/>
              <a:headEnd len="med" w="med" type="none"/>
              <a:tailEnd len="med" w="med" type="triangle"/>
            </a:ln>
          </p:spPr>
        </p:cxnSp>
      </p:grpSp>
      <p:grpSp>
        <p:nvGrpSpPr>
          <p:cNvPr id="6708" name="Google Shape;6708;p142"/>
          <p:cNvGrpSpPr/>
          <p:nvPr/>
        </p:nvGrpSpPr>
        <p:grpSpPr>
          <a:xfrm>
            <a:off x="1815306" y="3704136"/>
            <a:ext cx="771525" cy="1622425"/>
            <a:chOff x="183" y="1803"/>
            <a:chExt cx="486" cy="1022"/>
          </a:xfrm>
        </p:grpSpPr>
        <p:sp>
          <p:nvSpPr>
            <p:cNvPr id="6709" name="Google Shape;6709;p142"/>
            <p:cNvSpPr txBox="1"/>
            <p:nvPr/>
          </p:nvSpPr>
          <p:spPr>
            <a:xfrm>
              <a:off x="183" y="2613"/>
              <a:ext cx="4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ESTAB</a:t>
              </a:r>
              <a:endParaRPr/>
            </a:p>
          </p:txBody>
        </p:sp>
        <p:cxnSp>
          <p:nvCxnSpPr>
            <p:cNvPr id="6710" name="Google Shape;6710;p142"/>
            <p:cNvCxnSpPr/>
            <p:nvPr/>
          </p:nvCxnSpPr>
          <p:spPr>
            <a:xfrm>
              <a:off x="465" y="1803"/>
              <a:ext cx="0" cy="797"/>
            </a:xfrm>
            <a:prstGeom prst="straightConnector1">
              <a:avLst/>
            </a:prstGeom>
            <a:noFill/>
            <a:ln cap="flat" cmpd="sng" w="9525">
              <a:solidFill>
                <a:srgbClr val="000000"/>
              </a:solidFill>
              <a:prstDash val="solid"/>
              <a:round/>
              <a:headEnd len="med" w="med" type="none"/>
              <a:tailEnd len="med" w="med" type="triangle"/>
            </a:ln>
          </p:spPr>
        </p:cxnSp>
      </p:grpSp>
      <p:grpSp>
        <p:nvGrpSpPr>
          <p:cNvPr id="6711" name="Google Shape;6711;p142"/>
          <p:cNvGrpSpPr/>
          <p:nvPr/>
        </p:nvGrpSpPr>
        <p:grpSpPr>
          <a:xfrm>
            <a:off x="9268619" y="3099299"/>
            <a:ext cx="1119187" cy="1192212"/>
            <a:chOff x="4878" y="1422"/>
            <a:chExt cx="705" cy="751"/>
          </a:xfrm>
        </p:grpSpPr>
        <p:sp>
          <p:nvSpPr>
            <p:cNvPr id="6712" name="Google Shape;6712;p142"/>
            <p:cNvSpPr txBox="1"/>
            <p:nvPr/>
          </p:nvSpPr>
          <p:spPr>
            <a:xfrm>
              <a:off x="4878" y="1961"/>
              <a:ext cx="705"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SYN RCVD</a:t>
              </a:r>
              <a:endParaRPr/>
            </a:p>
          </p:txBody>
        </p:sp>
        <p:cxnSp>
          <p:nvCxnSpPr>
            <p:cNvPr id="6713" name="Google Shape;6713;p142"/>
            <p:cNvCxnSpPr/>
            <p:nvPr/>
          </p:nvCxnSpPr>
          <p:spPr>
            <a:xfrm>
              <a:off x="5339" y="1422"/>
              <a:ext cx="0" cy="569"/>
            </a:xfrm>
            <a:prstGeom prst="straightConnector1">
              <a:avLst/>
            </a:prstGeom>
            <a:noFill/>
            <a:ln cap="flat" cmpd="sng" w="9525">
              <a:solidFill>
                <a:srgbClr val="000000"/>
              </a:solidFill>
              <a:prstDash val="solid"/>
              <a:round/>
              <a:headEnd len="med" w="med" type="none"/>
              <a:tailEnd len="med" w="med" type="triangle"/>
            </a:ln>
          </p:spPr>
        </p:cxnSp>
      </p:grpSp>
      <p:cxnSp>
        <p:nvCxnSpPr>
          <p:cNvPr id="6714" name="Google Shape;6714;p142"/>
          <p:cNvCxnSpPr/>
          <p:nvPr/>
        </p:nvCxnSpPr>
        <p:spPr>
          <a:xfrm>
            <a:off x="9982994" y="4301036"/>
            <a:ext cx="0" cy="1704975"/>
          </a:xfrm>
          <a:prstGeom prst="straightConnector1">
            <a:avLst/>
          </a:prstGeom>
          <a:noFill/>
          <a:ln cap="flat" cmpd="sng" w="9525">
            <a:solidFill>
              <a:srgbClr val="000000"/>
            </a:solidFill>
            <a:prstDash val="solid"/>
            <a:round/>
            <a:headEnd len="med" w="med" type="none"/>
            <a:tailEnd len="med" w="med" type="triangle"/>
          </a:ln>
        </p:spPr>
      </p:cxnSp>
      <p:sp>
        <p:nvSpPr>
          <p:cNvPr id="6715" name="Google Shape;6715;p142"/>
          <p:cNvSpPr txBox="1"/>
          <p:nvPr/>
        </p:nvSpPr>
        <p:spPr>
          <a:xfrm>
            <a:off x="1395197" y="1675748"/>
            <a:ext cx="1839030" cy="76944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Client state</a:t>
            </a:r>
            <a:endParaRPr/>
          </a:p>
          <a:p>
            <a:pPr indent="0" lvl="0" marL="0" marR="0" rtl="0" algn="r">
              <a:lnSpc>
                <a:spcPct val="100000"/>
              </a:lnSpc>
              <a:spcBef>
                <a:spcPts val="0"/>
              </a:spcBef>
              <a:spcAft>
                <a:spcPts val="0"/>
              </a:spcAft>
              <a:buClr>
                <a:schemeClr val="dk1"/>
              </a:buClr>
              <a:buSzPts val="1600"/>
              <a:buFont typeface="Tahoma"/>
              <a:buNone/>
            </a:pPr>
            <a:r>
              <a:t/>
            </a:r>
            <a:endParaRPr b="0" i="1" sz="1600" u="none" cap="none" strike="noStrike">
              <a:solidFill>
                <a:srgbClr val="000099"/>
              </a:solidFill>
              <a:latin typeface="Tahoma"/>
              <a:ea typeface="Tahoma"/>
              <a:cs typeface="Tahoma"/>
              <a:sym typeface="Tahoma"/>
            </a:endParaRPr>
          </a:p>
        </p:txBody>
      </p:sp>
      <p:sp>
        <p:nvSpPr>
          <p:cNvPr id="6716" name="Google Shape;6716;p142"/>
          <p:cNvSpPr txBox="1"/>
          <p:nvPr/>
        </p:nvSpPr>
        <p:spPr>
          <a:xfrm>
            <a:off x="1807368" y="2389622"/>
            <a:ext cx="842962"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LISTEN</a:t>
            </a:r>
            <a:endParaRPr/>
          </a:p>
        </p:txBody>
      </p:sp>
      <p:sp>
        <p:nvSpPr>
          <p:cNvPr id="6717" name="Google Shape;6717;p142"/>
          <p:cNvSpPr txBox="1"/>
          <p:nvPr/>
        </p:nvSpPr>
        <p:spPr>
          <a:xfrm>
            <a:off x="8905645" y="1081958"/>
            <a:ext cx="1930400" cy="76944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Server state</a:t>
            </a:r>
            <a:endParaRPr/>
          </a:p>
          <a:p>
            <a:pPr indent="0" lvl="0" marL="0" marR="0" rtl="0" algn="r">
              <a:lnSpc>
                <a:spcPct val="100000"/>
              </a:lnSpc>
              <a:spcBef>
                <a:spcPts val="0"/>
              </a:spcBef>
              <a:spcAft>
                <a:spcPts val="0"/>
              </a:spcAft>
              <a:buClr>
                <a:schemeClr val="dk1"/>
              </a:buClr>
              <a:buSzPts val="1600"/>
              <a:buFont typeface="Tahoma"/>
              <a:buNone/>
            </a:pPr>
            <a:r>
              <a:t/>
            </a:r>
            <a:endParaRPr b="0" i="1" sz="1600" u="none" cap="none" strike="noStrike">
              <a:solidFill>
                <a:srgbClr val="000099"/>
              </a:solidFill>
              <a:latin typeface="Tahoma"/>
              <a:ea typeface="Tahoma"/>
              <a:cs typeface="Tahoma"/>
              <a:sym typeface="Tahoma"/>
            </a:endParaRPr>
          </a:p>
        </p:txBody>
      </p:sp>
      <p:sp>
        <p:nvSpPr>
          <p:cNvPr id="6718" name="Google Shape;6718;p142"/>
          <p:cNvSpPr txBox="1"/>
          <p:nvPr/>
        </p:nvSpPr>
        <p:spPr>
          <a:xfrm>
            <a:off x="9511504" y="2632510"/>
            <a:ext cx="842962"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LISTEN</a:t>
            </a:r>
            <a:endParaRPr/>
          </a:p>
        </p:txBody>
      </p:sp>
      <p:grpSp>
        <p:nvGrpSpPr>
          <p:cNvPr id="6719" name="Google Shape;6719;p142"/>
          <p:cNvGrpSpPr/>
          <p:nvPr/>
        </p:nvGrpSpPr>
        <p:grpSpPr>
          <a:xfrm>
            <a:off x="4464473" y="2492809"/>
            <a:ext cx="642937" cy="600075"/>
            <a:chOff x="-44" y="1473"/>
            <a:chExt cx="981" cy="1105"/>
          </a:xfrm>
        </p:grpSpPr>
        <p:pic>
          <p:nvPicPr>
            <p:cNvPr descr="desktop_computer_stylized_medium" id="6720" name="Google Shape;6720;p14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721" name="Google Shape;6721;p14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6722" name="Google Shape;6722;p142"/>
          <p:cNvGrpSpPr/>
          <p:nvPr/>
        </p:nvGrpSpPr>
        <p:grpSpPr>
          <a:xfrm>
            <a:off x="7221809" y="2580121"/>
            <a:ext cx="336550" cy="512763"/>
            <a:chOff x="4140" y="429"/>
            <a:chExt cx="1425" cy="2396"/>
          </a:xfrm>
        </p:grpSpPr>
        <p:sp>
          <p:nvSpPr>
            <p:cNvPr id="6723" name="Google Shape;6723;p14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24" name="Google Shape;6724;p142"/>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25" name="Google Shape;6725;p14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26" name="Google Shape;6726;p14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27" name="Google Shape;6727;p142"/>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28" name="Google Shape;6728;p142"/>
            <p:cNvGrpSpPr/>
            <p:nvPr/>
          </p:nvGrpSpPr>
          <p:grpSpPr>
            <a:xfrm>
              <a:off x="4751" y="666"/>
              <a:ext cx="578" cy="148"/>
              <a:chOff x="617" y="2566"/>
              <a:chExt cx="721" cy="142"/>
            </a:xfrm>
          </p:grpSpPr>
          <p:sp>
            <p:nvSpPr>
              <p:cNvPr id="6729" name="Google Shape;6729;p142"/>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30" name="Google Shape;6730;p142"/>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731" name="Google Shape;6731;p142"/>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32" name="Google Shape;6732;p142"/>
            <p:cNvGrpSpPr/>
            <p:nvPr/>
          </p:nvGrpSpPr>
          <p:grpSpPr>
            <a:xfrm>
              <a:off x="4745" y="993"/>
              <a:ext cx="585" cy="134"/>
              <a:chOff x="611" y="2567"/>
              <a:chExt cx="730" cy="139"/>
            </a:xfrm>
          </p:grpSpPr>
          <p:sp>
            <p:nvSpPr>
              <p:cNvPr id="6733" name="Google Shape;6733;p142"/>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34" name="Google Shape;6734;p142"/>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735" name="Google Shape;6735;p142"/>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36" name="Google Shape;6736;p142"/>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37" name="Google Shape;6737;p142"/>
            <p:cNvGrpSpPr/>
            <p:nvPr/>
          </p:nvGrpSpPr>
          <p:grpSpPr>
            <a:xfrm>
              <a:off x="4738" y="1630"/>
              <a:ext cx="578" cy="149"/>
              <a:chOff x="618" y="2571"/>
              <a:chExt cx="720" cy="137"/>
            </a:xfrm>
          </p:grpSpPr>
          <p:sp>
            <p:nvSpPr>
              <p:cNvPr id="6738" name="Google Shape;6738;p142"/>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39" name="Google Shape;6739;p142"/>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740" name="Google Shape;6740;p14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741" name="Google Shape;6741;p142"/>
            <p:cNvGrpSpPr/>
            <p:nvPr/>
          </p:nvGrpSpPr>
          <p:grpSpPr>
            <a:xfrm>
              <a:off x="4738" y="1327"/>
              <a:ext cx="584" cy="141"/>
              <a:chOff x="613" y="2568"/>
              <a:chExt cx="728" cy="141"/>
            </a:xfrm>
          </p:grpSpPr>
          <p:sp>
            <p:nvSpPr>
              <p:cNvPr id="6742" name="Google Shape;6742;p142"/>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43" name="Google Shape;6743;p142"/>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744" name="Google Shape;6744;p142"/>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45" name="Google Shape;6745;p14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46" name="Google Shape;6746;p14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47" name="Google Shape;6747;p142"/>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48" name="Google Shape;6748;p14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49" name="Google Shape;6749;p142"/>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50" name="Google Shape;6750;p142"/>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51" name="Google Shape;6751;p142"/>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52" name="Google Shape;6752;p142"/>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6753" name="Google Shape;6753;p142"/>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54" name="Google Shape;6754;p142"/>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6755" name="Google Shape;6755;p142"/>
          <p:cNvSpPr txBox="1"/>
          <p:nvPr/>
        </p:nvSpPr>
        <p:spPr>
          <a:xfrm>
            <a:off x="374662" y="2181018"/>
            <a:ext cx="4209864" cy="261557"/>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clientSocket = socket(AF_INET, SOCK_STREAM)</a:t>
            </a:r>
            <a:endParaRPr/>
          </a:p>
        </p:txBody>
      </p:sp>
      <p:sp>
        <p:nvSpPr>
          <p:cNvPr id="6756" name="Google Shape;6756;p142"/>
          <p:cNvSpPr txBox="1"/>
          <p:nvPr/>
        </p:nvSpPr>
        <p:spPr>
          <a:xfrm>
            <a:off x="7821898" y="1651172"/>
            <a:ext cx="4461478" cy="104644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serverSocket = socket(AF_INET,SOCK_STREAM)</a:t>
            </a:r>
            <a:endParaRPr/>
          </a:p>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serverSocket.bind((‘’,serverPort))</a:t>
            </a:r>
            <a:endParaRPr/>
          </a:p>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serverSocket.listen(1)</a:t>
            </a:r>
            <a:endParaRPr/>
          </a:p>
          <a:p>
            <a:pPr indent="0" lvl="0" marL="0" marR="0" rtl="0" algn="l">
              <a:lnSpc>
                <a:spcPct val="10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connectionSocket, addr = serverSocket.accept()</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7" name="Google Shape;6757;p142"/>
          <p:cNvSpPr txBox="1"/>
          <p:nvPr/>
        </p:nvSpPr>
        <p:spPr>
          <a:xfrm>
            <a:off x="276543" y="2694832"/>
            <a:ext cx="4433244" cy="263149"/>
          </a:xfrm>
          <a:prstGeom prst="rect">
            <a:avLst/>
          </a:prstGeom>
          <a:noFill/>
          <a:ln>
            <a:noFill/>
          </a:ln>
        </p:spPr>
        <p:txBody>
          <a:bodyPr anchorCtr="0" anchor="ctr" bIns="45700" lIns="91425" spcFirstLastPara="1" rIns="91425" wrap="square" tIns="45700">
            <a:spAutoFit/>
          </a:bodyPr>
          <a:lstStyle/>
          <a:p>
            <a:pPr indent="0" lvl="0" marL="0" marR="0" rtl="0" algn="l">
              <a:lnSpc>
                <a:spcPct val="90000"/>
              </a:lnSpc>
              <a:spcBef>
                <a:spcPts val="0"/>
              </a:spcBef>
              <a:spcAft>
                <a:spcPts val="0"/>
              </a:spcAft>
              <a:buClr>
                <a:srgbClr val="000000"/>
              </a:buClr>
              <a:buSzPts val="1200"/>
              <a:buFont typeface="Courier"/>
              <a:buNone/>
            </a:pPr>
            <a:r>
              <a:rPr b="0" i="0" lang="en-US" sz="1200" u="none" cap="none" strike="noStrike">
                <a:solidFill>
                  <a:srgbClr val="000000"/>
                </a:solidFill>
                <a:latin typeface="Courier"/>
                <a:ea typeface="Courier"/>
                <a:cs typeface="Courier"/>
                <a:sym typeface="Courier"/>
              </a:rPr>
              <a:t>clientSocket.connect((serverName,serverPort))</a:t>
            </a:r>
            <a:endParaRPr/>
          </a:p>
        </p:txBody>
      </p:sp>
      <p:sp>
        <p:nvSpPr>
          <p:cNvPr id="6758" name="Google Shape;6758;p14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87"/>
                                        </p:tgtEl>
                                        <p:attrNameLst>
                                          <p:attrName>style.visibility</p:attrName>
                                        </p:attrNameLst>
                                      </p:cBhvr>
                                      <p:to>
                                        <p:strVal val="visible"/>
                                      </p:to>
                                    </p:set>
                                    <p:animEffect filter="fade" transition="in">
                                      <p:cBhvr>
                                        <p:cTn dur="500"/>
                                        <p:tgtEl>
                                          <p:spTgt spid="6687"/>
                                        </p:tgtEl>
                                      </p:cBhvr>
                                    </p:animEffect>
                                  </p:childTnLst>
                                </p:cTn>
                              </p:par>
                              <p:par>
                                <p:cTn fill="hold" nodeType="withEffect" presetClass="entr" presetID="10" presetSubtype="0">
                                  <p:stCondLst>
                                    <p:cond delay="0"/>
                                  </p:stCondLst>
                                  <p:childTnLst>
                                    <p:set>
                                      <p:cBhvr>
                                        <p:cTn dur="1" fill="hold">
                                          <p:stCondLst>
                                            <p:cond delay="0"/>
                                          </p:stCondLst>
                                        </p:cTn>
                                        <p:tgtEl>
                                          <p:spTgt spid="6705"/>
                                        </p:tgtEl>
                                        <p:attrNameLst>
                                          <p:attrName>style.visibility</p:attrName>
                                        </p:attrNameLst>
                                      </p:cBhvr>
                                      <p:to>
                                        <p:strVal val="visible"/>
                                      </p:to>
                                    </p:set>
                                    <p:animEffect filter="fade" transition="in">
                                      <p:cBhvr>
                                        <p:cTn dur="500"/>
                                        <p:tgtEl>
                                          <p:spTgt spid="6705"/>
                                        </p:tgtEl>
                                      </p:cBhvr>
                                    </p:animEffect>
                                  </p:childTnLst>
                                </p:cTn>
                              </p:par>
                              <p:par>
                                <p:cTn fill="hold" nodeType="withEffect" presetClass="entr" presetID="10" presetSubtype="0">
                                  <p:stCondLst>
                                    <p:cond delay="0"/>
                                  </p:stCondLst>
                                  <p:childTnLst>
                                    <p:set>
                                      <p:cBhvr>
                                        <p:cTn dur="1" fill="hold">
                                          <p:stCondLst>
                                            <p:cond delay="0"/>
                                          </p:stCondLst>
                                        </p:cTn>
                                        <p:tgtEl>
                                          <p:spTgt spid="6757"/>
                                        </p:tgtEl>
                                        <p:attrNameLst>
                                          <p:attrName>style.visibility</p:attrName>
                                        </p:attrNameLst>
                                      </p:cBhvr>
                                      <p:to>
                                        <p:strVal val="visible"/>
                                      </p:to>
                                    </p:set>
                                    <p:animEffect filter="fade" transition="in">
                                      <p:cBhvr>
                                        <p:cTn dur="500"/>
                                        <p:tgtEl>
                                          <p:spTgt spid="67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11"/>
                                        </p:tgtEl>
                                        <p:attrNameLst>
                                          <p:attrName>style.visibility</p:attrName>
                                        </p:attrNameLst>
                                      </p:cBhvr>
                                      <p:to>
                                        <p:strVal val="visible"/>
                                      </p:to>
                                    </p:set>
                                    <p:animEffect filter="fade" transition="in">
                                      <p:cBhvr>
                                        <p:cTn dur="500"/>
                                        <p:tgtEl>
                                          <p:spTgt spid="6711"/>
                                        </p:tgtEl>
                                      </p:cBhvr>
                                    </p:animEffect>
                                  </p:childTnLst>
                                </p:cTn>
                              </p:par>
                              <p:par>
                                <p:cTn fill="hold" nodeType="withEffect" presetClass="entr" presetID="10" presetSubtype="0">
                                  <p:stCondLst>
                                    <p:cond delay="0"/>
                                  </p:stCondLst>
                                  <p:childTnLst>
                                    <p:set>
                                      <p:cBhvr>
                                        <p:cTn dur="1" fill="hold">
                                          <p:stCondLst>
                                            <p:cond delay="0"/>
                                          </p:stCondLst>
                                        </p:cTn>
                                        <p:tgtEl>
                                          <p:spTgt spid="6694"/>
                                        </p:tgtEl>
                                        <p:attrNameLst>
                                          <p:attrName>style.visibility</p:attrName>
                                        </p:attrNameLst>
                                      </p:cBhvr>
                                      <p:to>
                                        <p:strVal val="visible"/>
                                      </p:to>
                                    </p:set>
                                    <p:animEffect filter="fade" transition="in">
                                      <p:cBhvr>
                                        <p:cTn dur="500"/>
                                        <p:tgtEl>
                                          <p:spTgt spid="66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9"/>
                                        </p:tgtEl>
                                        <p:attrNameLst>
                                          <p:attrName>style.visibility</p:attrName>
                                        </p:attrNameLst>
                                      </p:cBhvr>
                                      <p:to>
                                        <p:strVal val="visible"/>
                                      </p:to>
                                    </p:set>
                                    <p:animEffect filter="fade" transition="in">
                                      <p:cBhvr>
                                        <p:cTn dur="500"/>
                                        <p:tgtEl>
                                          <p:spTgt spid="6699"/>
                                        </p:tgtEl>
                                      </p:cBhvr>
                                    </p:animEffect>
                                  </p:childTnLst>
                                </p:cTn>
                              </p:par>
                              <p:par>
                                <p:cTn fill="hold" nodeType="withEffect" presetClass="entr" presetID="10" presetSubtype="0">
                                  <p:stCondLst>
                                    <p:cond delay="0"/>
                                  </p:stCondLst>
                                  <p:childTnLst>
                                    <p:set>
                                      <p:cBhvr>
                                        <p:cTn dur="1" fill="hold">
                                          <p:stCondLst>
                                            <p:cond delay="0"/>
                                          </p:stCondLst>
                                        </p:cTn>
                                        <p:tgtEl>
                                          <p:spTgt spid="6708"/>
                                        </p:tgtEl>
                                        <p:attrNameLst>
                                          <p:attrName>style.visibility</p:attrName>
                                        </p:attrNameLst>
                                      </p:cBhvr>
                                      <p:to>
                                        <p:strVal val="visible"/>
                                      </p:to>
                                    </p:set>
                                    <p:animEffect filter="fade" transition="in">
                                      <p:cBhvr>
                                        <p:cTn dur="500"/>
                                        <p:tgtEl>
                                          <p:spTgt spid="670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693"/>
                                        </p:tgtEl>
                                        <p:attrNameLst>
                                          <p:attrName>style.visibility</p:attrName>
                                        </p:attrNameLst>
                                      </p:cBhvr>
                                      <p:to>
                                        <p:strVal val="visible"/>
                                      </p:to>
                                    </p:set>
                                    <p:animEffect filter="fade" transition="in">
                                      <p:cBhvr>
                                        <p:cTn dur="500"/>
                                        <p:tgtEl>
                                          <p:spTgt spid="6693"/>
                                        </p:tgtEl>
                                      </p:cBhvr>
                                    </p:animEffect>
                                  </p:childTnLst>
                                </p:cTn>
                              </p:par>
                              <p:par>
                                <p:cTn fill="hold" nodeType="withEffect" presetClass="entr" presetID="10" presetSubtype="0">
                                  <p:stCondLst>
                                    <p:cond delay="0"/>
                                  </p:stCondLst>
                                  <p:childTnLst>
                                    <p:set>
                                      <p:cBhvr>
                                        <p:cTn dur="1" fill="hold">
                                          <p:stCondLst>
                                            <p:cond delay="0"/>
                                          </p:stCondLst>
                                        </p:cTn>
                                        <p:tgtEl>
                                          <p:spTgt spid="6714"/>
                                        </p:tgtEl>
                                        <p:attrNameLst>
                                          <p:attrName>style.visibility</p:attrName>
                                        </p:attrNameLst>
                                      </p:cBhvr>
                                      <p:to>
                                        <p:strVal val="visible"/>
                                      </p:to>
                                    </p:set>
                                    <p:animEffect filter="fade" transition="in">
                                      <p:cBhvr>
                                        <p:cTn dur="500"/>
                                        <p:tgtEl>
                                          <p:spTgt spid="67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3" name="Shape 6763"/>
        <p:cNvGrpSpPr/>
        <p:nvPr/>
      </p:nvGrpSpPr>
      <p:grpSpPr>
        <a:xfrm>
          <a:off x="0" y="0"/>
          <a:ext cx="0" cy="0"/>
          <a:chOff x="0" y="0"/>
          <a:chExt cx="0" cy="0"/>
        </a:xfrm>
      </p:grpSpPr>
      <p:pic>
        <p:nvPicPr>
          <p:cNvPr descr="Screen Shot 2016-03-22 at 2.26.41 PM.png" id="6764" name="Google Shape;6764;p143"/>
          <p:cNvPicPr preferRelativeResize="0"/>
          <p:nvPr/>
        </p:nvPicPr>
        <p:blipFill rotWithShape="1">
          <a:blip r:embed="rId3">
            <a:alphaModFix/>
          </a:blip>
          <a:srcRect b="0" l="0" r="0" t="0"/>
          <a:stretch/>
        </p:blipFill>
        <p:spPr>
          <a:xfrm>
            <a:off x="3448050" y="1452563"/>
            <a:ext cx="5334000" cy="4743450"/>
          </a:xfrm>
          <a:prstGeom prst="rect">
            <a:avLst/>
          </a:prstGeom>
          <a:noFill/>
          <a:ln>
            <a:noFill/>
          </a:ln>
        </p:spPr>
      </p:pic>
      <p:sp>
        <p:nvSpPr>
          <p:cNvPr id="6765" name="Google Shape;6765;p143"/>
          <p:cNvSpPr txBox="1"/>
          <p:nvPr/>
        </p:nvSpPr>
        <p:spPr>
          <a:xfrm>
            <a:off x="8912225" y="1909763"/>
            <a:ext cx="1474788" cy="4801314"/>
          </a:xfrm>
          <a:prstGeom prst="rect">
            <a:avLst/>
          </a:prstGeom>
          <a:solidFill>
            <a:srgbClr val="D8D8D8"/>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dk1"/>
                </a:solidFill>
                <a:latin typeface="Arial"/>
                <a:ea typeface="Arial"/>
                <a:cs typeface="Arial"/>
                <a:sym typeface="Arial"/>
              </a:rPr>
              <a:t>TCP State:</a:t>
            </a:r>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p:txBody>
      </p:sp>
      <p:sp>
        <p:nvSpPr>
          <p:cNvPr id="6766" name="Google Shape;6766;p143"/>
          <p:cNvSpPr txBox="1"/>
          <p:nvPr/>
        </p:nvSpPr>
        <p:spPr>
          <a:xfrm>
            <a:off x="1806575" y="1911350"/>
            <a:ext cx="1474788" cy="4801314"/>
          </a:xfrm>
          <a:prstGeom prst="rect">
            <a:avLst/>
          </a:prstGeom>
          <a:solidFill>
            <a:srgbClr val="D8D8D8"/>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dk1"/>
                </a:solidFill>
                <a:latin typeface="Arial"/>
                <a:ea typeface="Arial"/>
                <a:cs typeface="Arial"/>
                <a:sym typeface="Arial"/>
              </a:rPr>
              <a:t>TCP State:</a:t>
            </a:r>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p:txBody>
      </p:sp>
      <p:sp>
        <p:nvSpPr>
          <p:cNvPr id="6767" name="Google Shape;6767;p143"/>
          <p:cNvSpPr txBox="1"/>
          <p:nvPr/>
        </p:nvSpPr>
        <p:spPr>
          <a:xfrm>
            <a:off x="2090738" y="538164"/>
            <a:ext cx="7772400" cy="471487"/>
          </a:xfrm>
          <a:prstGeom prst="rect">
            <a:avLst/>
          </a:prstGeom>
          <a:solidFill>
            <a:srgbClr val="1AB0FF"/>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2400"/>
              <a:buFont typeface="Noto Sans Symbols"/>
              <a:buNone/>
            </a:pPr>
            <a:r>
              <a:rPr lang="en-US" sz="2400">
                <a:solidFill>
                  <a:schemeClr val="lt1"/>
                </a:solidFill>
                <a:latin typeface="Arial"/>
                <a:ea typeface="Arial"/>
                <a:cs typeface="Arial"/>
                <a:sym typeface="Arial"/>
              </a:rPr>
              <a:t>EXAMPLE 1 : TCP 3-way handshake</a:t>
            </a:r>
            <a:endParaRPr/>
          </a:p>
        </p:txBody>
      </p:sp>
      <p:sp>
        <p:nvSpPr>
          <p:cNvPr id="6768" name="Google Shape;6768;p143"/>
          <p:cNvSpPr txBox="1"/>
          <p:nvPr/>
        </p:nvSpPr>
        <p:spPr>
          <a:xfrm>
            <a:off x="2705101" y="6334614"/>
            <a:ext cx="6235700" cy="414337"/>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85000"/>
              </a:lnSpc>
              <a:spcBef>
                <a:spcPts val="0"/>
              </a:spcBef>
              <a:spcAft>
                <a:spcPts val="0"/>
              </a:spcAft>
              <a:buClr>
                <a:srgbClr val="000099"/>
              </a:buClr>
              <a:buSzPts val="1170"/>
              <a:buFont typeface="Noto Sans Symbols"/>
              <a:buNone/>
            </a:pPr>
            <a:r>
              <a:rPr lang="en-US" sz="1800">
                <a:solidFill>
                  <a:schemeClr val="dk1"/>
                </a:solidFill>
                <a:latin typeface="Arial"/>
                <a:ea typeface="Arial"/>
                <a:cs typeface="Arial"/>
                <a:sym typeface="Arial"/>
              </a:rPr>
              <a:t>TCP 3-way handshake: segment exchange</a:t>
            </a:r>
            <a:endParaRPr/>
          </a:p>
          <a:p>
            <a:pPr indent="-342900" lvl="0" marL="342900" marR="0" rtl="0" algn="ctr">
              <a:lnSpc>
                <a:spcPct val="85000"/>
              </a:lnSpc>
              <a:spcBef>
                <a:spcPts val="360"/>
              </a:spcBef>
              <a:spcAft>
                <a:spcPts val="0"/>
              </a:spcAft>
              <a:buClr>
                <a:srgbClr val="000099"/>
              </a:buClr>
              <a:buSzPts val="1170"/>
              <a:buFont typeface="Noto Sans Symbols"/>
              <a:buNone/>
            </a:pPr>
            <a:r>
              <a:rPr lang="en-US" sz="1800">
                <a:solidFill>
                  <a:schemeClr val="dk1"/>
                </a:solidFill>
                <a:latin typeface="Arial"/>
                <a:ea typeface="Arial"/>
                <a:cs typeface="Arial"/>
                <a:sym typeface="Arial"/>
              </a:rPr>
              <a:t> </a:t>
            </a:r>
            <a:endParaRPr/>
          </a:p>
          <a:p>
            <a:pPr indent="-342900" lvl="0" marL="342900" marR="0" rtl="0" algn="ctr">
              <a:lnSpc>
                <a:spcPct val="85000"/>
              </a:lnSpc>
              <a:spcBef>
                <a:spcPts val="360"/>
              </a:spcBef>
              <a:spcAft>
                <a:spcPts val="0"/>
              </a:spcAft>
              <a:buClr>
                <a:srgbClr val="000099"/>
              </a:buClr>
              <a:buSzPts val="1170"/>
              <a:buFont typeface="Noto Sans Symbols"/>
              <a:buNone/>
            </a:pPr>
            <a:r>
              <a:t/>
            </a:r>
            <a:endParaRPr sz="1800">
              <a:solidFill>
                <a:schemeClr val="dk1"/>
              </a:solidFill>
              <a:latin typeface="Arial"/>
              <a:ea typeface="Arial"/>
              <a:cs typeface="Arial"/>
              <a:sym typeface="Arial"/>
            </a:endParaRPr>
          </a:p>
          <a:p>
            <a:pPr indent="-342900" lvl="0" marL="342900" marR="0" rtl="0" algn="ctr">
              <a:lnSpc>
                <a:spcPct val="85000"/>
              </a:lnSpc>
              <a:spcBef>
                <a:spcPts val="360"/>
              </a:spcBef>
              <a:spcAft>
                <a:spcPts val="0"/>
              </a:spcAft>
              <a:buClr>
                <a:srgbClr val="000099"/>
              </a:buClr>
              <a:buSzPts val="1170"/>
              <a:buFont typeface="Noto Sans Symbols"/>
              <a:buNone/>
            </a:pPr>
            <a:r>
              <a:t/>
            </a:r>
            <a:endParaRPr sz="1800">
              <a:solidFill>
                <a:schemeClr val="dk1"/>
              </a:solidFill>
              <a:latin typeface="Arial"/>
              <a:ea typeface="Arial"/>
              <a:cs typeface="Arial"/>
              <a:sym typeface="Arial"/>
            </a:endParaRPr>
          </a:p>
        </p:txBody>
      </p:sp>
      <p:sp>
        <p:nvSpPr>
          <p:cNvPr id="6769" name="Google Shape;6769;p143"/>
          <p:cNvSpPr/>
          <p:nvPr/>
        </p:nvSpPr>
        <p:spPr>
          <a:xfrm rot="672598">
            <a:off x="5018089" y="2730501"/>
            <a:ext cx="2071687" cy="3206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SYN=1,</a:t>
            </a:r>
            <a:r>
              <a:rPr lang="en-US" sz="1600">
                <a:solidFill>
                  <a:srgbClr val="FF0000"/>
                </a:solidFill>
                <a:latin typeface="Courier New"/>
                <a:ea typeface="Courier New"/>
                <a:cs typeface="Courier New"/>
                <a:sym typeface="Courier New"/>
              </a:rPr>
              <a:t>seq</a:t>
            </a:r>
            <a:r>
              <a:rPr baseline="-25000" lang="en-US" sz="1600">
                <a:solidFill>
                  <a:srgbClr val="FF0000"/>
                </a:solidFill>
                <a:latin typeface="Courier New"/>
                <a:ea typeface="Courier New"/>
                <a:cs typeface="Courier New"/>
                <a:sym typeface="Courier New"/>
              </a:rPr>
              <a:t>c</a:t>
            </a:r>
            <a:r>
              <a:rPr lang="en-US" sz="1600">
                <a:solidFill>
                  <a:srgbClr val="FF0000"/>
                </a:solidFill>
                <a:latin typeface="Courier New"/>
                <a:ea typeface="Courier New"/>
                <a:cs typeface="Courier New"/>
                <a:sym typeface="Courier New"/>
              </a:rPr>
              <a:t>=3</a:t>
            </a:r>
            <a:r>
              <a:rPr lang="en-US" sz="1600">
                <a:solidFill>
                  <a:schemeClr val="dk1"/>
                </a:solidFill>
                <a:latin typeface="Courier New"/>
                <a:ea typeface="Courier New"/>
                <a:cs typeface="Courier New"/>
                <a:sym typeface="Courier New"/>
              </a:rPr>
              <a:t>  </a:t>
            </a:r>
            <a:endParaRPr/>
          </a:p>
        </p:txBody>
      </p:sp>
      <p:sp>
        <p:nvSpPr>
          <p:cNvPr id="6770" name="Google Shape;6770;p143"/>
          <p:cNvSpPr/>
          <p:nvPr/>
        </p:nvSpPr>
        <p:spPr>
          <a:xfrm rot="-1118945">
            <a:off x="4527550" y="3636964"/>
            <a:ext cx="2482850" cy="3206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SYN=1,</a:t>
            </a:r>
            <a:r>
              <a:rPr lang="en-US" sz="1600">
                <a:solidFill>
                  <a:srgbClr val="3366FF"/>
                </a:solidFill>
                <a:latin typeface="Courier New"/>
                <a:ea typeface="Courier New"/>
                <a:cs typeface="Courier New"/>
                <a:sym typeface="Courier New"/>
              </a:rPr>
              <a:t>seq</a:t>
            </a:r>
            <a:r>
              <a:rPr baseline="-25000" lang="en-US" sz="1600">
                <a:solidFill>
                  <a:srgbClr val="3366FF"/>
                </a:solidFill>
                <a:latin typeface="Courier New"/>
                <a:ea typeface="Courier New"/>
                <a:cs typeface="Courier New"/>
                <a:sym typeface="Courier New"/>
              </a:rPr>
              <a:t>s</a:t>
            </a:r>
            <a:r>
              <a:rPr lang="en-US" sz="1600">
                <a:solidFill>
                  <a:srgbClr val="3366FF"/>
                </a:solidFill>
                <a:latin typeface="Courier New"/>
                <a:ea typeface="Courier New"/>
                <a:cs typeface="Courier New"/>
                <a:sym typeface="Courier New"/>
              </a:rPr>
              <a:t>=9</a:t>
            </a:r>
            <a:r>
              <a:rPr lang="en-US" sz="1600">
                <a:solidFill>
                  <a:schemeClr val="dk1"/>
                </a:solidFill>
                <a:latin typeface="Courier New"/>
                <a:ea typeface="Courier New"/>
                <a:cs typeface="Courier New"/>
                <a:sym typeface="Courier New"/>
              </a:rPr>
              <a:t>,</a:t>
            </a:r>
            <a:r>
              <a:rPr lang="en-US" sz="1600">
                <a:solidFill>
                  <a:srgbClr val="FF0000"/>
                </a:solidFill>
                <a:latin typeface="Courier New"/>
                <a:ea typeface="Courier New"/>
                <a:cs typeface="Courier New"/>
                <a:sym typeface="Courier New"/>
              </a:rPr>
              <a:t>ACK</a:t>
            </a:r>
            <a:r>
              <a:rPr baseline="-25000" lang="en-US" sz="1600">
                <a:solidFill>
                  <a:srgbClr val="FF0000"/>
                </a:solidFill>
                <a:latin typeface="Courier New"/>
                <a:ea typeface="Courier New"/>
                <a:cs typeface="Courier New"/>
                <a:sym typeface="Courier New"/>
              </a:rPr>
              <a:t>c</a:t>
            </a:r>
            <a:r>
              <a:rPr lang="en-US" sz="1600">
                <a:solidFill>
                  <a:srgbClr val="FF0000"/>
                </a:solidFill>
                <a:latin typeface="Courier New"/>
                <a:ea typeface="Courier New"/>
                <a:cs typeface="Courier New"/>
                <a:sym typeface="Courier New"/>
              </a:rPr>
              <a:t>=4</a:t>
            </a:r>
            <a:r>
              <a:rPr lang="en-US" sz="1600">
                <a:solidFill>
                  <a:schemeClr val="dk1"/>
                </a:solidFill>
                <a:latin typeface="Courier New"/>
                <a:ea typeface="Courier New"/>
                <a:cs typeface="Courier New"/>
                <a:sym typeface="Courier New"/>
              </a:rPr>
              <a:t>  </a:t>
            </a:r>
            <a:endParaRPr/>
          </a:p>
        </p:txBody>
      </p:sp>
      <p:sp>
        <p:nvSpPr>
          <p:cNvPr id="6771" name="Google Shape;6771;p143"/>
          <p:cNvSpPr/>
          <p:nvPr/>
        </p:nvSpPr>
        <p:spPr>
          <a:xfrm rot="1135015">
            <a:off x="5045076" y="4629151"/>
            <a:ext cx="2613025" cy="3206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SYN=0,</a:t>
            </a:r>
            <a:r>
              <a:rPr lang="en-US" sz="1600">
                <a:solidFill>
                  <a:srgbClr val="FF0000"/>
                </a:solidFill>
                <a:latin typeface="Courier New"/>
                <a:ea typeface="Courier New"/>
                <a:cs typeface="Courier New"/>
                <a:sym typeface="Courier New"/>
              </a:rPr>
              <a:t>seq</a:t>
            </a:r>
            <a:r>
              <a:rPr baseline="-25000" lang="en-US" sz="1600">
                <a:solidFill>
                  <a:srgbClr val="FF0000"/>
                </a:solidFill>
                <a:latin typeface="Courier New"/>
                <a:ea typeface="Courier New"/>
                <a:cs typeface="Courier New"/>
                <a:sym typeface="Courier New"/>
              </a:rPr>
              <a:t>c</a:t>
            </a:r>
            <a:r>
              <a:rPr lang="en-US" sz="1600">
                <a:solidFill>
                  <a:srgbClr val="FF0000"/>
                </a:solidFill>
                <a:latin typeface="Courier New"/>
                <a:ea typeface="Courier New"/>
                <a:cs typeface="Courier New"/>
                <a:sym typeface="Courier New"/>
              </a:rPr>
              <a:t>=4</a:t>
            </a:r>
            <a:r>
              <a:rPr lang="en-US" sz="1600">
                <a:solidFill>
                  <a:schemeClr val="dk1"/>
                </a:solidFill>
                <a:latin typeface="Courier New"/>
                <a:ea typeface="Courier New"/>
                <a:cs typeface="Courier New"/>
                <a:sym typeface="Courier New"/>
              </a:rPr>
              <a:t>,</a:t>
            </a:r>
            <a:r>
              <a:rPr lang="en-US" sz="1600">
                <a:solidFill>
                  <a:srgbClr val="3366FF"/>
                </a:solidFill>
                <a:latin typeface="Courier New"/>
                <a:ea typeface="Courier New"/>
                <a:cs typeface="Courier New"/>
                <a:sym typeface="Courier New"/>
              </a:rPr>
              <a:t>ACK</a:t>
            </a:r>
            <a:r>
              <a:rPr baseline="-25000" lang="en-US" sz="1600">
                <a:solidFill>
                  <a:srgbClr val="3366FF"/>
                </a:solidFill>
                <a:latin typeface="Courier New"/>
                <a:ea typeface="Courier New"/>
                <a:cs typeface="Courier New"/>
                <a:sym typeface="Courier New"/>
              </a:rPr>
              <a:t>s</a:t>
            </a:r>
            <a:r>
              <a:rPr lang="en-US" sz="1600">
                <a:solidFill>
                  <a:srgbClr val="3366FF"/>
                </a:solidFill>
                <a:latin typeface="Courier New"/>
                <a:ea typeface="Courier New"/>
                <a:cs typeface="Courier New"/>
                <a:sym typeface="Courier New"/>
              </a:rPr>
              <a:t>=10  </a:t>
            </a:r>
            <a:endParaRPr/>
          </a:p>
        </p:txBody>
      </p:sp>
      <p:sp>
        <p:nvSpPr>
          <p:cNvPr id="6772" name="Google Shape;6772;p143"/>
          <p:cNvSpPr txBox="1"/>
          <p:nvPr/>
        </p:nvSpPr>
        <p:spPr>
          <a:xfrm>
            <a:off x="3987800" y="1474789"/>
            <a:ext cx="1030288"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lang="en-US" sz="1400">
                <a:solidFill>
                  <a:srgbClr val="FF0000"/>
                </a:solidFill>
                <a:latin typeface="Arial"/>
                <a:ea typeface="Arial"/>
                <a:cs typeface="Arial"/>
                <a:sym typeface="Arial"/>
              </a:rPr>
              <a:t>Client host</a:t>
            </a:r>
            <a:endParaRPr/>
          </a:p>
        </p:txBody>
      </p:sp>
      <p:sp>
        <p:nvSpPr>
          <p:cNvPr id="6773" name="Google Shape;6773;p143"/>
          <p:cNvSpPr txBox="1"/>
          <p:nvPr/>
        </p:nvSpPr>
        <p:spPr>
          <a:xfrm>
            <a:off x="6935789" y="1485901"/>
            <a:ext cx="1108075"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366FF"/>
              </a:buClr>
              <a:buSzPts val="1400"/>
              <a:buFont typeface="Noto Sans Symbols"/>
              <a:buNone/>
            </a:pPr>
            <a:r>
              <a:rPr lang="en-US" sz="1400">
                <a:solidFill>
                  <a:srgbClr val="3366FF"/>
                </a:solidFill>
                <a:latin typeface="Arial"/>
                <a:ea typeface="Arial"/>
                <a:cs typeface="Arial"/>
                <a:sym typeface="Arial"/>
              </a:rPr>
              <a:t>Server host</a:t>
            </a:r>
            <a:endParaRPr/>
          </a:p>
        </p:txBody>
      </p:sp>
      <p:sp>
        <p:nvSpPr>
          <p:cNvPr id="6774" name="Google Shape;6774;p143"/>
          <p:cNvSpPr txBox="1"/>
          <p:nvPr/>
        </p:nvSpPr>
        <p:spPr>
          <a:xfrm>
            <a:off x="1801814" y="2552700"/>
            <a:ext cx="129554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SYN_SENT </a:t>
            </a:r>
            <a:endParaRPr/>
          </a:p>
        </p:txBody>
      </p:sp>
      <p:sp>
        <p:nvSpPr>
          <p:cNvPr id="6775" name="Google Shape;6775;p143"/>
          <p:cNvSpPr txBox="1"/>
          <p:nvPr/>
        </p:nvSpPr>
        <p:spPr>
          <a:xfrm>
            <a:off x="1743076" y="4270375"/>
            <a:ext cx="16658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ESTABLISHED </a:t>
            </a:r>
            <a:endParaRPr/>
          </a:p>
        </p:txBody>
      </p:sp>
      <p:sp>
        <p:nvSpPr>
          <p:cNvPr id="6776" name="Google Shape;6776;p143"/>
          <p:cNvSpPr txBox="1"/>
          <p:nvPr/>
        </p:nvSpPr>
        <p:spPr>
          <a:xfrm>
            <a:off x="8940801" y="2289175"/>
            <a:ext cx="104868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LISTEN </a:t>
            </a:r>
            <a:endParaRPr/>
          </a:p>
        </p:txBody>
      </p:sp>
      <p:sp>
        <p:nvSpPr>
          <p:cNvPr id="6777" name="Google Shape;6777;p143"/>
          <p:cNvSpPr txBox="1"/>
          <p:nvPr/>
        </p:nvSpPr>
        <p:spPr>
          <a:xfrm>
            <a:off x="8874126" y="5346700"/>
            <a:ext cx="16658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ESTABLISHED </a:t>
            </a:r>
            <a:endParaRPr/>
          </a:p>
        </p:txBody>
      </p:sp>
      <p:sp>
        <p:nvSpPr>
          <p:cNvPr id="6778" name="Google Shape;6778;p143"/>
          <p:cNvSpPr txBox="1"/>
          <p:nvPr/>
        </p:nvSpPr>
        <p:spPr>
          <a:xfrm>
            <a:off x="8969375" y="3344864"/>
            <a:ext cx="1169988"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SYN_RCVD</a:t>
            </a:r>
            <a:endParaRPr/>
          </a:p>
        </p:txBody>
      </p:sp>
      <p:sp>
        <p:nvSpPr>
          <p:cNvPr id="6779" name="Google Shape;6779;p14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3" name="Shape 6783"/>
        <p:cNvGrpSpPr/>
        <p:nvPr/>
      </p:nvGrpSpPr>
      <p:grpSpPr>
        <a:xfrm>
          <a:off x="0" y="0"/>
          <a:ext cx="0" cy="0"/>
          <a:chOff x="0" y="0"/>
          <a:chExt cx="0" cy="0"/>
        </a:xfrm>
      </p:grpSpPr>
      <p:pic>
        <p:nvPicPr>
          <p:cNvPr id="6784" name="Google Shape;6784;p144"/>
          <p:cNvPicPr preferRelativeResize="0"/>
          <p:nvPr/>
        </p:nvPicPr>
        <p:blipFill rotWithShape="1">
          <a:blip r:embed="rId3">
            <a:alphaModFix/>
          </a:blip>
          <a:srcRect b="0" l="0" r="0" t="7899"/>
          <a:stretch/>
        </p:blipFill>
        <p:spPr>
          <a:xfrm>
            <a:off x="2301876" y="995364"/>
            <a:ext cx="7427913" cy="5597525"/>
          </a:xfrm>
          <a:prstGeom prst="rect">
            <a:avLst/>
          </a:prstGeom>
          <a:noFill/>
          <a:ln>
            <a:noFill/>
          </a:ln>
        </p:spPr>
      </p:pic>
      <p:sp>
        <p:nvSpPr>
          <p:cNvPr id="6785" name="Google Shape;6785;p144"/>
          <p:cNvSpPr txBox="1"/>
          <p:nvPr/>
        </p:nvSpPr>
        <p:spPr>
          <a:xfrm>
            <a:off x="1957388" y="247651"/>
            <a:ext cx="7891462" cy="747713"/>
          </a:xfrm>
          <a:prstGeom prst="rect">
            <a:avLst/>
          </a:prstGeom>
          <a:solidFill>
            <a:srgbClr val="1AB0FF"/>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2400"/>
              <a:buFont typeface="Noto Sans Symbols"/>
              <a:buNone/>
            </a:pPr>
            <a:r>
              <a:rPr lang="en-US" sz="2400">
                <a:solidFill>
                  <a:schemeClr val="lt1"/>
                </a:solidFill>
                <a:latin typeface="Arial"/>
                <a:ea typeface="Arial"/>
                <a:cs typeface="Arial"/>
                <a:sym typeface="Arial"/>
              </a:rPr>
              <a:t>EXAMPLE 2 : Examining Sequence and Acknowledgement Numbers</a:t>
            </a:r>
            <a:endParaRPr/>
          </a:p>
        </p:txBody>
      </p:sp>
      <p:sp>
        <p:nvSpPr>
          <p:cNvPr id="6786" name="Google Shape;6786;p14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0" name="Shape 6790"/>
        <p:cNvGrpSpPr/>
        <p:nvPr/>
      </p:nvGrpSpPr>
      <p:grpSpPr>
        <a:xfrm>
          <a:off x="0" y="0"/>
          <a:ext cx="0" cy="0"/>
          <a:chOff x="0" y="0"/>
          <a:chExt cx="0" cy="0"/>
        </a:xfrm>
      </p:grpSpPr>
      <p:pic>
        <p:nvPicPr>
          <p:cNvPr id="6791" name="Google Shape;6791;p145"/>
          <p:cNvPicPr preferRelativeResize="0"/>
          <p:nvPr/>
        </p:nvPicPr>
        <p:blipFill rotWithShape="1">
          <a:blip r:embed="rId3">
            <a:alphaModFix/>
          </a:blip>
          <a:srcRect b="0" l="0" r="0" t="0"/>
          <a:stretch/>
        </p:blipFill>
        <p:spPr>
          <a:xfrm>
            <a:off x="2673350" y="1049338"/>
            <a:ext cx="6985000" cy="3022600"/>
          </a:xfrm>
          <a:prstGeom prst="rect">
            <a:avLst/>
          </a:prstGeom>
          <a:noFill/>
          <a:ln>
            <a:noFill/>
          </a:ln>
        </p:spPr>
      </p:pic>
      <p:sp>
        <p:nvSpPr>
          <p:cNvPr id="6792" name="Google Shape;6792;p145"/>
          <p:cNvSpPr txBox="1"/>
          <p:nvPr/>
        </p:nvSpPr>
        <p:spPr>
          <a:xfrm>
            <a:off x="1622426" y="1019175"/>
            <a:ext cx="801823" cy="369332"/>
          </a:xfrm>
          <a:prstGeom prst="rect">
            <a:avLst/>
          </a:prstGeom>
          <a:solidFill>
            <a:srgbClr val="D8D8D8"/>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Calibri"/>
                <a:ea typeface="Calibri"/>
                <a:cs typeface="Calibri"/>
                <a:sym typeface="Calibri"/>
              </a:rPr>
              <a:t>STEP 1</a:t>
            </a:r>
            <a:endParaRPr/>
          </a:p>
        </p:txBody>
      </p:sp>
      <p:sp>
        <p:nvSpPr>
          <p:cNvPr id="6793" name="Google Shape;6793;p145"/>
          <p:cNvSpPr txBox="1"/>
          <p:nvPr/>
        </p:nvSpPr>
        <p:spPr>
          <a:xfrm>
            <a:off x="1786641" y="4094161"/>
            <a:ext cx="8250237" cy="251618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1500"/>
              <a:buFont typeface="Arial"/>
              <a:buChar char="•"/>
            </a:pPr>
            <a:r>
              <a:rPr b="1" lang="en-US" sz="1500">
                <a:solidFill>
                  <a:schemeClr val="dk1"/>
                </a:solidFill>
                <a:latin typeface="Tahoma"/>
                <a:ea typeface="Tahoma"/>
                <a:cs typeface="Tahoma"/>
                <a:sym typeface="Tahoma"/>
              </a:rPr>
              <a:t>Host A</a:t>
            </a:r>
            <a:r>
              <a:rPr lang="en-US" sz="1500">
                <a:solidFill>
                  <a:schemeClr val="dk1"/>
                </a:solidFill>
                <a:latin typeface="Tahoma"/>
                <a:ea typeface="Tahoma"/>
                <a:cs typeface="Tahoma"/>
                <a:sym typeface="Tahoma"/>
              </a:rPr>
              <a:t> wishes to download a webpage from the </a:t>
            </a:r>
            <a:r>
              <a:rPr b="1" lang="en-US" sz="1500">
                <a:solidFill>
                  <a:schemeClr val="dk1"/>
                </a:solidFill>
                <a:latin typeface="Tahoma"/>
                <a:ea typeface="Tahoma"/>
                <a:cs typeface="Tahoma"/>
                <a:sym typeface="Tahoma"/>
              </a:rPr>
              <a:t>Gateway Server</a:t>
            </a:r>
            <a:r>
              <a:rPr lang="en-US" sz="1500">
                <a:solidFill>
                  <a:schemeClr val="dk1"/>
                </a:solidFill>
                <a:latin typeface="Tahoma"/>
                <a:ea typeface="Tahoma"/>
                <a:cs typeface="Tahoma"/>
                <a:sym typeface="Tahoma"/>
              </a:rPr>
              <a:t>. </a:t>
            </a:r>
            <a:endParaRPr/>
          </a:p>
          <a:p>
            <a:pPr indent="-285750" lvl="0" marL="285750" marR="0" rtl="0" algn="l">
              <a:lnSpc>
                <a:spcPct val="150000"/>
              </a:lnSpc>
              <a:spcBef>
                <a:spcPts val="0"/>
              </a:spcBef>
              <a:spcAft>
                <a:spcPts val="0"/>
              </a:spcAft>
              <a:buClr>
                <a:schemeClr val="dk1"/>
              </a:buClr>
              <a:buSzPts val="1500"/>
              <a:buFont typeface="Arial"/>
              <a:buChar char="•"/>
            </a:pPr>
            <a:r>
              <a:rPr lang="en-US" sz="1500">
                <a:solidFill>
                  <a:schemeClr val="dk1"/>
                </a:solidFill>
                <a:latin typeface="Tahoma"/>
                <a:ea typeface="Tahoma"/>
                <a:cs typeface="Tahoma"/>
                <a:sym typeface="Tahoma"/>
              </a:rPr>
              <a:t>To establish a new connection, </a:t>
            </a:r>
            <a:r>
              <a:rPr b="1" lang="en-US" sz="1500">
                <a:solidFill>
                  <a:schemeClr val="dk1"/>
                </a:solidFill>
                <a:latin typeface="Tahoma"/>
                <a:ea typeface="Tahoma"/>
                <a:cs typeface="Tahoma"/>
                <a:sym typeface="Tahoma"/>
              </a:rPr>
              <a:t>Host A</a:t>
            </a:r>
            <a:r>
              <a:rPr lang="en-US" sz="1500">
                <a:solidFill>
                  <a:schemeClr val="dk1"/>
                </a:solidFill>
                <a:latin typeface="Tahoma"/>
                <a:ea typeface="Tahoma"/>
                <a:cs typeface="Tahoma"/>
                <a:sym typeface="Tahoma"/>
              </a:rPr>
              <a:t> sends a packet to the </a:t>
            </a:r>
            <a:r>
              <a:rPr b="1" lang="en-US" sz="1500">
                <a:solidFill>
                  <a:schemeClr val="dk1"/>
                </a:solidFill>
                <a:latin typeface="Tahoma"/>
                <a:ea typeface="Tahoma"/>
                <a:cs typeface="Tahoma"/>
                <a:sym typeface="Tahoma"/>
              </a:rPr>
              <a:t>Gateway Server</a:t>
            </a:r>
            <a:r>
              <a:rPr lang="en-US" sz="1500">
                <a:solidFill>
                  <a:schemeClr val="dk1"/>
                </a:solidFill>
                <a:latin typeface="Tahoma"/>
                <a:ea typeface="Tahoma"/>
                <a:cs typeface="Tahoma"/>
                <a:sym typeface="Tahoma"/>
              </a:rPr>
              <a:t>;</a:t>
            </a:r>
            <a:endParaRPr/>
          </a:p>
          <a:p>
            <a:pPr indent="-285750" lvl="1" marL="742950" marR="0" rtl="0" algn="l">
              <a:lnSpc>
                <a:spcPct val="150000"/>
              </a:lnSpc>
              <a:spcBef>
                <a:spcPts val="0"/>
              </a:spcBef>
              <a:spcAft>
                <a:spcPts val="0"/>
              </a:spcAft>
              <a:buClr>
                <a:schemeClr val="dk1"/>
              </a:buClr>
              <a:buSzPts val="1500"/>
              <a:buFont typeface="Arial"/>
              <a:buChar char="•"/>
            </a:pPr>
            <a:r>
              <a:rPr b="0" i="0" lang="en-US" sz="1500" u="none" cap="none" strike="noStrike">
                <a:solidFill>
                  <a:schemeClr val="dk1"/>
                </a:solidFill>
                <a:latin typeface="Tahoma"/>
                <a:ea typeface="Tahoma"/>
                <a:cs typeface="Tahoma"/>
                <a:sym typeface="Tahoma"/>
              </a:rPr>
              <a:t>This packet has the </a:t>
            </a:r>
            <a:r>
              <a:rPr b="1" i="0" lang="en-US" sz="1500" u="none" cap="none" strike="noStrike">
                <a:solidFill>
                  <a:schemeClr val="dk1"/>
                </a:solidFill>
                <a:latin typeface="Tahoma"/>
                <a:ea typeface="Tahoma"/>
                <a:cs typeface="Tahoma"/>
                <a:sym typeface="Tahoma"/>
              </a:rPr>
              <a:t>SYN</a:t>
            </a:r>
            <a:r>
              <a:rPr b="0" i="0" lang="en-US" sz="1500" u="none" cap="none" strike="noStrike">
                <a:solidFill>
                  <a:schemeClr val="dk1"/>
                </a:solidFill>
                <a:latin typeface="Tahoma"/>
                <a:ea typeface="Tahoma"/>
                <a:cs typeface="Tahoma"/>
                <a:sym typeface="Tahoma"/>
              </a:rPr>
              <a:t> flag set ( i.e. SYN bit = 1 ) and </a:t>
            </a:r>
            <a:endParaRPr/>
          </a:p>
          <a:p>
            <a:pPr indent="-285750" lvl="1" marL="742950" marR="0" rtl="0" algn="l">
              <a:lnSpc>
                <a:spcPct val="150000"/>
              </a:lnSpc>
              <a:spcBef>
                <a:spcPts val="0"/>
              </a:spcBef>
              <a:spcAft>
                <a:spcPts val="0"/>
              </a:spcAft>
              <a:buClr>
                <a:schemeClr val="dk1"/>
              </a:buClr>
              <a:buSzPts val="1500"/>
              <a:buFont typeface="Arial"/>
              <a:buChar char="•"/>
            </a:pPr>
            <a:r>
              <a:rPr b="0" i="0" lang="en-US" sz="1500" u="none" cap="none" strike="noStrike">
                <a:solidFill>
                  <a:schemeClr val="dk1"/>
                </a:solidFill>
                <a:latin typeface="Tahoma"/>
                <a:ea typeface="Tahoma"/>
                <a:cs typeface="Tahoma"/>
                <a:sym typeface="Tahoma"/>
              </a:rPr>
              <a:t>also contains the ISN generated by </a:t>
            </a:r>
            <a:r>
              <a:rPr b="1" i="0" lang="en-US" sz="1500" u="none" cap="none" strike="noStrike">
                <a:solidFill>
                  <a:schemeClr val="dk1"/>
                </a:solidFill>
                <a:latin typeface="Tahoma"/>
                <a:ea typeface="Tahoma"/>
                <a:cs typeface="Tahoma"/>
                <a:sym typeface="Tahoma"/>
              </a:rPr>
              <a:t>Host A's</a:t>
            </a:r>
            <a:r>
              <a:rPr b="0" i="0" lang="en-US" sz="1500" u="none" cap="none" strike="noStrike">
                <a:solidFill>
                  <a:schemeClr val="dk1"/>
                </a:solidFill>
                <a:latin typeface="Tahoma"/>
                <a:ea typeface="Tahoma"/>
                <a:cs typeface="Tahoma"/>
                <a:sym typeface="Tahoma"/>
              </a:rPr>
              <a:t> operating system, that is </a:t>
            </a:r>
            <a:r>
              <a:rPr b="1" i="0" lang="en-US" sz="1500" u="none" cap="none" strike="noStrike">
                <a:solidFill>
                  <a:schemeClr val="dk1"/>
                </a:solidFill>
                <a:latin typeface="Tahoma"/>
                <a:ea typeface="Tahoma"/>
                <a:cs typeface="Tahoma"/>
                <a:sym typeface="Tahoma"/>
              </a:rPr>
              <a:t>1293906975</a:t>
            </a:r>
            <a:r>
              <a:rPr b="0" i="0" lang="en-US" sz="1500" u="none" cap="none" strike="noStrike">
                <a:solidFill>
                  <a:schemeClr val="dk1"/>
                </a:solidFill>
                <a:latin typeface="Tahoma"/>
                <a:ea typeface="Tahoma"/>
                <a:cs typeface="Tahoma"/>
                <a:sym typeface="Tahoma"/>
              </a:rPr>
              <a:t>. </a:t>
            </a:r>
            <a:endParaRPr/>
          </a:p>
          <a:p>
            <a:pPr indent="-285750" lvl="1" marL="742950" marR="0" rtl="0" algn="l">
              <a:lnSpc>
                <a:spcPct val="150000"/>
              </a:lnSpc>
              <a:spcBef>
                <a:spcPts val="0"/>
              </a:spcBef>
              <a:spcAft>
                <a:spcPts val="0"/>
              </a:spcAft>
              <a:buClr>
                <a:schemeClr val="dk1"/>
              </a:buClr>
              <a:buSzPts val="1500"/>
              <a:buFont typeface="Arial"/>
              <a:buChar char="•"/>
            </a:pPr>
            <a:r>
              <a:rPr b="0" i="0" lang="en-US" sz="1500" u="none" cap="none" strike="noStrike">
                <a:solidFill>
                  <a:schemeClr val="dk1"/>
                </a:solidFill>
                <a:latin typeface="Tahoma"/>
                <a:ea typeface="Tahoma"/>
                <a:cs typeface="Tahoma"/>
                <a:sym typeface="Tahoma"/>
              </a:rPr>
              <a:t>the </a:t>
            </a:r>
            <a:r>
              <a:rPr b="1" i="0" lang="en-US" sz="1500" u="none" cap="none" strike="noStrike">
                <a:solidFill>
                  <a:schemeClr val="dk1"/>
                </a:solidFill>
                <a:latin typeface="Tahoma"/>
                <a:ea typeface="Tahoma"/>
                <a:cs typeface="Tahoma"/>
                <a:sym typeface="Tahoma"/>
              </a:rPr>
              <a:t>Acknowledgment</a:t>
            </a:r>
            <a:r>
              <a:rPr b="0" i="0" lang="en-US" sz="1500" u="none" cap="none" strike="noStrike">
                <a:solidFill>
                  <a:schemeClr val="dk1"/>
                </a:solidFill>
                <a:latin typeface="Tahoma"/>
                <a:ea typeface="Tahoma"/>
                <a:cs typeface="Tahoma"/>
                <a:sym typeface="Tahoma"/>
              </a:rPr>
              <a:t> number is set to zero (0), </a:t>
            </a:r>
            <a:endParaRPr/>
          </a:p>
          <a:p>
            <a:pPr indent="-285750" lvl="2" marL="1200150" marR="0" rtl="0" algn="l">
              <a:lnSpc>
                <a:spcPct val="150000"/>
              </a:lnSpc>
              <a:spcBef>
                <a:spcPts val="0"/>
              </a:spcBef>
              <a:spcAft>
                <a:spcPts val="0"/>
              </a:spcAft>
              <a:buClr>
                <a:schemeClr val="dk1"/>
              </a:buClr>
              <a:buSzPts val="1500"/>
              <a:buFont typeface="Tahoma"/>
              <a:buChar char="•"/>
            </a:pPr>
            <a:r>
              <a:rPr b="0" i="0" lang="en-US" sz="1500" u="none" cap="none" strike="noStrike">
                <a:solidFill>
                  <a:schemeClr val="dk1"/>
                </a:solidFill>
                <a:latin typeface="Tahoma"/>
                <a:ea typeface="Tahoma"/>
                <a:cs typeface="Tahoma"/>
                <a:sym typeface="Tahoma"/>
              </a:rPr>
              <a:t>… since </a:t>
            </a:r>
            <a:r>
              <a:rPr b="1" i="0" lang="en-US" sz="1500" u="none" cap="none" strike="noStrike">
                <a:solidFill>
                  <a:schemeClr val="dk1"/>
                </a:solidFill>
                <a:latin typeface="Tahoma"/>
                <a:ea typeface="Tahoma"/>
                <a:cs typeface="Tahoma"/>
                <a:sym typeface="Tahoma"/>
              </a:rPr>
              <a:t>Host A</a:t>
            </a:r>
            <a:r>
              <a:rPr b="0" i="0" lang="en-US" sz="1500" u="none" cap="none" strike="noStrike">
                <a:solidFill>
                  <a:schemeClr val="dk1"/>
                </a:solidFill>
                <a:latin typeface="Tahoma"/>
                <a:ea typeface="Tahoma"/>
                <a:cs typeface="Tahoma"/>
                <a:sym typeface="Tahoma"/>
              </a:rPr>
              <a:t> is initiating the connection and hasn't received a reply from the </a:t>
            </a:r>
            <a:r>
              <a:rPr b="1" i="0" lang="en-US" sz="1500" u="none" cap="none" strike="noStrike">
                <a:solidFill>
                  <a:schemeClr val="dk1"/>
                </a:solidFill>
                <a:latin typeface="Tahoma"/>
                <a:ea typeface="Tahoma"/>
                <a:cs typeface="Tahoma"/>
                <a:sym typeface="Tahoma"/>
              </a:rPr>
              <a:t>Gateway Server</a:t>
            </a:r>
            <a:endParaRPr b="0" i="0" sz="1500" u="none" cap="none" strike="noStrike">
              <a:solidFill>
                <a:schemeClr val="dk1"/>
              </a:solidFill>
              <a:latin typeface="Tahoma"/>
              <a:ea typeface="Tahoma"/>
              <a:cs typeface="Tahoma"/>
              <a:sym typeface="Tahoma"/>
            </a:endParaRPr>
          </a:p>
        </p:txBody>
      </p:sp>
      <p:sp>
        <p:nvSpPr>
          <p:cNvPr id="6794" name="Google Shape;6794;p145"/>
          <p:cNvSpPr/>
          <p:nvPr/>
        </p:nvSpPr>
        <p:spPr>
          <a:xfrm>
            <a:off x="2044700" y="0"/>
            <a:ext cx="5067300" cy="1054100"/>
          </a:xfrm>
          <a:prstGeom prst="wedgeEllipseCallout">
            <a:avLst>
              <a:gd fmla="val -5921" name="adj1"/>
              <a:gd fmla="val 84185" name="adj2"/>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600"/>
              <a:buFont typeface="Noto Sans Symbols"/>
              <a:buNone/>
            </a:pPr>
            <a:r>
              <a:rPr lang="en-US" sz="1600">
                <a:solidFill>
                  <a:srgbClr val="FF0000"/>
                </a:solidFill>
                <a:latin typeface="Tahoma"/>
                <a:ea typeface="Tahoma"/>
                <a:cs typeface="Tahoma"/>
                <a:sym typeface="Tahoma"/>
              </a:rPr>
              <a:t>"I'd like to initiate a new connection with you. </a:t>
            </a:r>
            <a:endParaRPr/>
          </a:p>
          <a:p>
            <a:pPr indent="0" lvl="0" marL="0" marR="0" rtl="0" algn="ctr">
              <a:lnSpc>
                <a:spcPct val="100000"/>
              </a:lnSpc>
              <a:spcBef>
                <a:spcPts val="0"/>
              </a:spcBef>
              <a:spcAft>
                <a:spcPts val="0"/>
              </a:spcAft>
              <a:buClr>
                <a:srgbClr val="FF0000"/>
              </a:buClr>
              <a:buSzPts val="1600"/>
              <a:buFont typeface="Noto Sans Symbols"/>
              <a:buNone/>
            </a:pPr>
            <a:r>
              <a:rPr lang="en-US" sz="1600">
                <a:solidFill>
                  <a:srgbClr val="FF0000"/>
                </a:solidFill>
                <a:latin typeface="Tahoma"/>
                <a:ea typeface="Tahoma"/>
                <a:cs typeface="Tahoma"/>
                <a:sym typeface="Tahoma"/>
              </a:rPr>
              <a:t>My </a:t>
            </a:r>
            <a:r>
              <a:rPr b="1" lang="en-US" sz="1600">
                <a:solidFill>
                  <a:srgbClr val="FF0000"/>
                </a:solidFill>
                <a:latin typeface="Tahoma"/>
                <a:ea typeface="Tahoma"/>
                <a:cs typeface="Tahoma"/>
                <a:sym typeface="Tahoma"/>
              </a:rPr>
              <a:t>Sequence</a:t>
            </a:r>
            <a:r>
              <a:rPr lang="en-US" sz="1600">
                <a:solidFill>
                  <a:srgbClr val="FF0000"/>
                </a:solidFill>
                <a:latin typeface="Tahoma"/>
                <a:ea typeface="Tahoma"/>
                <a:cs typeface="Tahoma"/>
                <a:sym typeface="Tahoma"/>
              </a:rPr>
              <a:t> number is </a:t>
            </a:r>
            <a:r>
              <a:rPr b="1" lang="en-US" sz="1600">
                <a:solidFill>
                  <a:srgbClr val="FF0000"/>
                </a:solidFill>
                <a:latin typeface="Tahoma"/>
                <a:ea typeface="Tahoma"/>
                <a:cs typeface="Tahoma"/>
                <a:sym typeface="Tahoma"/>
              </a:rPr>
              <a:t>1293906975</a:t>
            </a:r>
            <a:r>
              <a:rPr lang="en-US" sz="1600">
                <a:solidFill>
                  <a:srgbClr val="FF0000"/>
                </a:solidFill>
                <a:latin typeface="Tahoma"/>
                <a:ea typeface="Tahoma"/>
                <a:cs typeface="Tahoma"/>
                <a:sym typeface="Tahoma"/>
              </a:rPr>
              <a:t>". </a:t>
            </a:r>
            <a:endParaRPr/>
          </a:p>
          <a:p>
            <a:pPr indent="0" lvl="0" marL="0" marR="0" rtl="0" algn="ctr">
              <a:lnSpc>
                <a:spcPct val="100000"/>
              </a:lnSpc>
              <a:spcBef>
                <a:spcPts val="0"/>
              </a:spcBef>
              <a:spcAft>
                <a:spcPts val="0"/>
              </a:spcAft>
              <a:buClr>
                <a:schemeClr val="dk1"/>
              </a:buClr>
              <a:buSzPts val="1600"/>
              <a:buFont typeface="Noto Sans Symbols"/>
              <a:buNone/>
            </a:pPr>
            <a:r>
              <a:t/>
            </a:r>
            <a:endParaRPr sz="1600">
              <a:solidFill>
                <a:srgbClr val="FF0000"/>
              </a:solidFill>
              <a:latin typeface="Tahoma"/>
              <a:ea typeface="Tahoma"/>
              <a:cs typeface="Tahoma"/>
              <a:sym typeface="Tahoma"/>
            </a:endParaRPr>
          </a:p>
        </p:txBody>
      </p:sp>
      <p:sp>
        <p:nvSpPr>
          <p:cNvPr id="6795" name="Google Shape;6795;p145"/>
          <p:cNvSpPr txBox="1"/>
          <p:nvPr/>
        </p:nvSpPr>
        <p:spPr>
          <a:xfrm>
            <a:off x="7242176" y="247651"/>
            <a:ext cx="2606675" cy="747713"/>
          </a:xfrm>
          <a:prstGeom prst="rect">
            <a:avLst/>
          </a:prstGeom>
          <a:solidFill>
            <a:srgbClr val="1AB0FF"/>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2400"/>
              <a:buFont typeface="Noto Sans Symbols"/>
              <a:buNone/>
            </a:pPr>
            <a:r>
              <a:rPr lang="en-US" sz="2400">
                <a:solidFill>
                  <a:schemeClr val="lt1"/>
                </a:solidFill>
                <a:latin typeface="Arial"/>
                <a:ea typeface="Arial"/>
                <a:cs typeface="Arial"/>
                <a:sym typeface="Arial"/>
              </a:rPr>
              <a:t>EXAMPLE 2 </a:t>
            </a:r>
            <a:endParaRPr/>
          </a:p>
        </p:txBody>
      </p:sp>
      <p:sp>
        <p:nvSpPr>
          <p:cNvPr id="6796" name="Google Shape;6796;p14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94"/>
                                        </p:tgtEl>
                                        <p:attrNameLst>
                                          <p:attrName>style.visibility</p:attrName>
                                        </p:attrNameLst>
                                      </p:cBhvr>
                                      <p:to>
                                        <p:strVal val="visible"/>
                                      </p:to>
                                    </p:set>
                                    <p:animEffect filter="fade" transition="in">
                                      <p:cBhvr>
                                        <p:cTn dur="500"/>
                                        <p:tgtEl>
                                          <p:spTgt spid="67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0" name="Shape 6800"/>
        <p:cNvGrpSpPr/>
        <p:nvPr/>
      </p:nvGrpSpPr>
      <p:grpSpPr>
        <a:xfrm>
          <a:off x="0" y="0"/>
          <a:ext cx="0" cy="0"/>
          <a:chOff x="0" y="0"/>
          <a:chExt cx="0" cy="0"/>
        </a:xfrm>
      </p:grpSpPr>
      <p:sp>
        <p:nvSpPr>
          <p:cNvPr id="6801" name="Google Shape;6801;p146"/>
          <p:cNvSpPr txBox="1"/>
          <p:nvPr/>
        </p:nvSpPr>
        <p:spPr>
          <a:xfrm>
            <a:off x="1622426" y="1019175"/>
            <a:ext cx="801823" cy="369332"/>
          </a:xfrm>
          <a:prstGeom prst="rect">
            <a:avLst/>
          </a:prstGeom>
          <a:solidFill>
            <a:srgbClr val="D8D8D8"/>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Calibri"/>
                <a:ea typeface="Calibri"/>
                <a:cs typeface="Calibri"/>
                <a:sym typeface="Calibri"/>
              </a:rPr>
              <a:t>STEP 2</a:t>
            </a:r>
            <a:endParaRPr/>
          </a:p>
        </p:txBody>
      </p:sp>
      <p:sp>
        <p:nvSpPr>
          <p:cNvPr id="6802" name="Google Shape;6802;p146"/>
          <p:cNvSpPr txBox="1"/>
          <p:nvPr/>
        </p:nvSpPr>
        <p:spPr>
          <a:xfrm>
            <a:off x="1719264" y="4257675"/>
            <a:ext cx="8250237" cy="200818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1400"/>
              <a:buFont typeface="Arial"/>
              <a:buChar char="•"/>
            </a:pPr>
            <a:r>
              <a:rPr lang="en-US" sz="1400">
                <a:solidFill>
                  <a:schemeClr val="dk1"/>
                </a:solidFill>
                <a:latin typeface="Tahoma"/>
                <a:ea typeface="Tahoma"/>
                <a:cs typeface="Tahoma"/>
                <a:sym typeface="Tahoma"/>
              </a:rPr>
              <a:t>The </a:t>
            </a:r>
            <a:r>
              <a:rPr b="1" lang="en-US" sz="1400">
                <a:solidFill>
                  <a:schemeClr val="dk1"/>
                </a:solidFill>
                <a:latin typeface="Tahoma"/>
                <a:ea typeface="Tahoma"/>
                <a:cs typeface="Tahoma"/>
                <a:sym typeface="Tahoma"/>
              </a:rPr>
              <a:t>Gateway Server</a:t>
            </a:r>
            <a:r>
              <a:rPr lang="en-US" sz="1400">
                <a:solidFill>
                  <a:schemeClr val="dk1"/>
                </a:solidFill>
                <a:latin typeface="Tahoma"/>
                <a:ea typeface="Tahoma"/>
                <a:cs typeface="Tahoma"/>
                <a:sym typeface="Tahoma"/>
              </a:rPr>
              <a:t> receives </a:t>
            </a:r>
            <a:r>
              <a:rPr b="1" lang="en-US" sz="1400">
                <a:solidFill>
                  <a:schemeClr val="dk1"/>
                </a:solidFill>
                <a:latin typeface="Tahoma"/>
                <a:ea typeface="Tahoma"/>
                <a:cs typeface="Tahoma"/>
                <a:sym typeface="Tahoma"/>
              </a:rPr>
              <a:t>Host A's</a:t>
            </a:r>
            <a:r>
              <a:rPr lang="en-US" sz="1400">
                <a:solidFill>
                  <a:schemeClr val="dk1"/>
                </a:solidFill>
                <a:latin typeface="Tahoma"/>
                <a:ea typeface="Tahoma"/>
                <a:cs typeface="Tahoma"/>
                <a:sym typeface="Tahoma"/>
              </a:rPr>
              <a:t> request and generates a reply containing </a:t>
            </a:r>
            <a:endParaRPr/>
          </a:p>
          <a:p>
            <a:pPr indent="-285750" lvl="1" marL="742950" marR="0" rtl="0" algn="l">
              <a:lnSpc>
                <a:spcPct val="150000"/>
              </a:lnSpc>
              <a:spcBef>
                <a:spcPts val="0"/>
              </a:spcBef>
              <a:spcAft>
                <a:spcPts val="0"/>
              </a:spcAft>
              <a:buClr>
                <a:schemeClr val="dk1"/>
              </a:buClr>
              <a:buSzPts val="1400"/>
              <a:buFont typeface="Arial"/>
              <a:buChar char="•"/>
            </a:pPr>
            <a:r>
              <a:rPr b="0" i="0" lang="en-US" sz="1400" u="none" cap="none" strike="noStrike">
                <a:solidFill>
                  <a:schemeClr val="dk1"/>
                </a:solidFill>
                <a:latin typeface="Tahoma"/>
                <a:ea typeface="Tahoma"/>
                <a:cs typeface="Tahoma"/>
                <a:sym typeface="Tahoma"/>
              </a:rPr>
              <a:t>its own generated ISN, that is </a:t>
            </a:r>
            <a:r>
              <a:rPr b="1" i="0" lang="en-US" sz="1400" u="none" cap="none" strike="noStrike">
                <a:solidFill>
                  <a:schemeClr val="dk1"/>
                </a:solidFill>
                <a:latin typeface="Tahoma"/>
                <a:ea typeface="Tahoma"/>
                <a:cs typeface="Tahoma"/>
                <a:sym typeface="Tahoma"/>
              </a:rPr>
              <a:t>3455719727</a:t>
            </a:r>
            <a:r>
              <a:rPr b="0" i="0" lang="en-US" sz="1400" u="none" cap="none" strike="noStrike">
                <a:solidFill>
                  <a:schemeClr val="dk1"/>
                </a:solidFill>
                <a:latin typeface="Tahoma"/>
                <a:ea typeface="Tahoma"/>
                <a:cs typeface="Tahoma"/>
                <a:sym typeface="Tahoma"/>
              </a:rPr>
              <a:t>, and </a:t>
            </a:r>
            <a:endParaRPr/>
          </a:p>
          <a:p>
            <a:pPr indent="-285750" lvl="1" marL="742950" marR="0" rtl="0" algn="l">
              <a:lnSpc>
                <a:spcPct val="150000"/>
              </a:lnSpc>
              <a:spcBef>
                <a:spcPts val="0"/>
              </a:spcBef>
              <a:spcAft>
                <a:spcPts val="0"/>
              </a:spcAft>
              <a:buClr>
                <a:schemeClr val="dk1"/>
              </a:buClr>
              <a:buSzPts val="1400"/>
              <a:buFont typeface="Arial"/>
              <a:buChar char="•"/>
            </a:pPr>
            <a:r>
              <a:rPr b="0" i="0" lang="en-US" sz="1400" u="none" cap="none" strike="noStrike">
                <a:solidFill>
                  <a:schemeClr val="dk1"/>
                </a:solidFill>
                <a:latin typeface="Tahoma"/>
                <a:ea typeface="Tahoma"/>
                <a:cs typeface="Tahoma"/>
                <a:sym typeface="Tahoma"/>
              </a:rPr>
              <a:t>the next </a:t>
            </a:r>
            <a:r>
              <a:rPr b="1" i="0" lang="en-US" sz="1400" u="none" cap="none" strike="noStrike">
                <a:solidFill>
                  <a:schemeClr val="dk1"/>
                </a:solidFill>
                <a:latin typeface="Tahoma"/>
                <a:ea typeface="Tahoma"/>
                <a:cs typeface="Tahoma"/>
                <a:sym typeface="Tahoma"/>
              </a:rPr>
              <a:t>Sequence</a:t>
            </a:r>
            <a:r>
              <a:rPr b="0" i="0" lang="en-US" sz="1400" u="none" cap="none" strike="noStrike">
                <a:solidFill>
                  <a:schemeClr val="dk1"/>
                </a:solidFill>
                <a:latin typeface="Tahoma"/>
                <a:ea typeface="Tahoma"/>
                <a:cs typeface="Tahoma"/>
                <a:sym typeface="Tahoma"/>
              </a:rPr>
              <a:t> number it is expecting from </a:t>
            </a:r>
            <a:r>
              <a:rPr b="1" i="0" lang="en-US" sz="1400" u="none" cap="none" strike="noStrike">
                <a:solidFill>
                  <a:schemeClr val="dk1"/>
                </a:solidFill>
                <a:latin typeface="Tahoma"/>
                <a:ea typeface="Tahoma"/>
                <a:cs typeface="Tahoma"/>
                <a:sym typeface="Tahoma"/>
              </a:rPr>
              <a:t>Host A</a:t>
            </a:r>
            <a:r>
              <a:rPr b="0" i="0" lang="en-US" sz="1400" u="none" cap="none" strike="noStrike">
                <a:solidFill>
                  <a:schemeClr val="dk1"/>
                </a:solidFill>
                <a:latin typeface="Tahoma"/>
                <a:ea typeface="Tahoma"/>
                <a:cs typeface="Tahoma"/>
                <a:sym typeface="Tahoma"/>
              </a:rPr>
              <a:t> which is </a:t>
            </a:r>
            <a:r>
              <a:rPr b="1" i="0" lang="en-US" sz="1400" u="none" cap="none" strike="noStrike">
                <a:solidFill>
                  <a:schemeClr val="dk1"/>
                </a:solidFill>
                <a:latin typeface="Tahoma"/>
                <a:ea typeface="Tahoma"/>
                <a:cs typeface="Tahoma"/>
                <a:sym typeface="Tahoma"/>
              </a:rPr>
              <a:t>1293906976</a:t>
            </a:r>
            <a:r>
              <a:rPr b="0" i="0" lang="en-US" sz="1400" u="none" cap="none" strike="noStrike">
                <a:solidFill>
                  <a:schemeClr val="dk1"/>
                </a:solidFill>
                <a:latin typeface="Tahoma"/>
                <a:ea typeface="Tahoma"/>
                <a:cs typeface="Tahoma"/>
                <a:sym typeface="Tahoma"/>
              </a:rPr>
              <a:t>. </a:t>
            </a:r>
            <a:endParaRPr/>
          </a:p>
          <a:p>
            <a:pPr indent="-285750" lvl="1" marL="742950" marR="0" rtl="0" algn="l">
              <a:lnSpc>
                <a:spcPct val="150000"/>
              </a:lnSpc>
              <a:spcBef>
                <a:spcPts val="0"/>
              </a:spcBef>
              <a:spcAft>
                <a:spcPts val="0"/>
              </a:spcAft>
              <a:buClr>
                <a:schemeClr val="dk1"/>
              </a:buClr>
              <a:buSzPts val="1400"/>
              <a:buFont typeface="Arial"/>
              <a:buChar char="•"/>
            </a:pPr>
            <a:r>
              <a:rPr b="0" i="0" lang="en-US" sz="1400" u="none" cap="none" strike="noStrike">
                <a:solidFill>
                  <a:schemeClr val="dk1"/>
                </a:solidFill>
                <a:latin typeface="Tahoma"/>
                <a:ea typeface="Tahoma"/>
                <a:cs typeface="Tahoma"/>
                <a:sym typeface="Tahoma"/>
              </a:rPr>
              <a:t>also has the </a:t>
            </a:r>
            <a:r>
              <a:rPr b="1" i="0" lang="en-US" sz="1400" u="none" cap="none" strike="noStrike">
                <a:solidFill>
                  <a:schemeClr val="dk1"/>
                </a:solidFill>
                <a:latin typeface="Tahoma"/>
                <a:ea typeface="Tahoma"/>
                <a:cs typeface="Tahoma"/>
                <a:sym typeface="Tahoma"/>
              </a:rPr>
              <a:t>SYN</a:t>
            </a:r>
            <a:r>
              <a:rPr b="0" i="0" lang="en-US" sz="1400" u="none" cap="none" strike="noStrike">
                <a:solidFill>
                  <a:schemeClr val="dk1"/>
                </a:solidFill>
                <a:latin typeface="Tahoma"/>
                <a:ea typeface="Tahoma"/>
                <a:cs typeface="Tahoma"/>
                <a:sym typeface="Tahoma"/>
              </a:rPr>
              <a:t> &amp; </a:t>
            </a:r>
            <a:r>
              <a:rPr b="1" i="0" lang="en-US" sz="1400" u="none" cap="none" strike="noStrike">
                <a:solidFill>
                  <a:schemeClr val="dk1"/>
                </a:solidFill>
                <a:latin typeface="Tahoma"/>
                <a:ea typeface="Tahoma"/>
                <a:cs typeface="Tahoma"/>
                <a:sym typeface="Tahoma"/>
              </a:rPr>
              <a:t>ACK</a:t>
            </a:r>
            <a:r>
              <a:rPr b="0" i="0" lang="en-US" sz="1400" u="none" cap="none" strike="noStrike">
                <a:solidFill>
                  <a:schemeClr val="dk1"/>
                </a:solidFill>
                <a:latin typeface="Tahoma"/>
                <a:ea typeface="Tahoma"/>
                <a:cs typeface="Tahoma"/>
                <a:sym typeface="Tahoma"/>
              </a:rPr>
              <a:t> flags set, acknowledging the previous packet it received and informing </a:t>
            </a:r>
            <a:r>
              <a:rPr b="1" i="0" lang="en-US" sz="1400" u="none" cap="none" strike="noStrike">
                <a:solidFill>
                  <a:schemeClr val="dk1"/>
                </a:solidFill>
                <a:latin typeface="Tahoma"/>
                <a:ea typeface="Tahoma"/>
                <a:cs typeface="Tahoma"/>
                <a:sym typeface="Tahoma"/>
              </a:rPr>
              <a:t>Host A</a:t>
            </a:r>
            <a:r>
              <a:rPr b="0" i="0" lang="en-US" sz="1400" u="none" cap="none" strike="noStrike">
                <a:solidFill>
                  <a:schemeClr val="dk1"/>
                </a:solidFill>
                <a:latin typeface="Tahoma"/>
                <a:ea typeface="Tahoma"/>
                <a:cs typeface="Tahoma"/>
                <a:sym typeface="Tahoma"/>
              </a:rPr>
              <a:t> of its own </a:t>
            </a:r>
            <a:r>
              <a:rPr b="1" i="0" lang="en-US" sz="1400" u="none" cap="none" strike="noStrike">
                <a:solidFill>
                  <a:schemeClr val="dk1"/>
                </a:solidFill>
                <a:latin typeface="Tahoma"/>
                <a:ea typeface="Tahoma"/>
                <a:cs typeface="Tahoma"/>
                <a:sym typeface="Tahoma"/>
              </a:rPr>
              <a:t>Sequence</a:t>
            </a:r>
            <a:r>
              <a:rPr b="0" i="0" lang="en-US" sz="1400" u="none" cap="none" strike="noStrike">
                <a:solidFill>
                  <a:schemeClr val="dk1"/>
                </a:solidFill>
                <a:latin typeface="Tahoma"/>
                <a:ea typeface="Tahoma"/>
                <a:cs typeface="Tahoma"/>
                <a:sym typeface="Tahoma"/>
              </a:rPr>
              <a:t> number. </a:t>
            </a:r>
            <a:endParaRPr/>
          </a:p>
          <a:p>
            <a:pPr indent="-190500" lvl="2" marL="1200150" marR="0" rtl="0" algn="l">
              <a:lnSpc>
                <a:spcPct val="150000"/>
              </a:lnSpc>
              <a:spcBef>
                <a:spcPts val="0"/>
              </a:spcBef>
              <a:spcAft>
                <a:spcPts val="0"/>
              </a:spcAft>
              <a:buClr>
                <a:schemeClr val="dk1"/>
              </a:buClr>
              <a:buSzPts val="1500"/>
              <a:buFont typeface="Gill Sans"/>
              <a:buNone/>
            </a:pPr>
            <a:r>
              <a:t/>
            </a:r>
            <a:endParaRPr b="0" i="0" sz="1500" u="none" cap="none" strike="noStrike">
              <a:solidFill>
                <a:schemeClr val="dk1"/>
              </a:solidFill>
              <a:latin typeface="Tahoma"/>
              <a:ea typeface="Tahoma"/>
              <a:cs typeface="Tahoma"/>
              <a:sym typeface="Tahoma"/>
            </a:endParaRPr>
          </a:p>
        </p:txBody>
      </p:sp>
      <p:pic>
        <p:nvPicPr>
          <p:cNvPr id="6803" name="Google Shape;6803;p146"/>
          <p:cNvPicPr preferRelativeResize="0"/>
          <p:nvPr/>
        </p:nvPicPr>
        <p:blipFill rotWithShape="1">
          <a:blip r:embed="rId3">
            <a:alphaModFix/>
          </a:blip>
          <a:srcRect b="0" l="0" r="0" t="0"/>
          <a:stretch/>
        </p:blipFill>
        <p:spPr>
          <a:xfrm>
            <a:off x="2667000" y="1041400"/>
            <a:ext cx="6985000" cy="3022600"/>
          </a:xfrm>
          <a:prstGeom prst="rect">
            <a:avLst/>
          </a:prstGeom>
          <a:noFill/>
          <a:ln>
            <a:noFill/>
          </a:ln>
        </p:spPr>
      </p:pic>
      <p:sp>
        <p:nvSpPr>
          <p:cNvPr id="6804" name="Google Shape;6804;p146"/>
          <p:cNvSpPr/>
          <p:nvPr/>
        </p:nvSpPr>
        <p:spPr>
          <a:xfrm>
            <a:off x="3124200" y="0"/>
            <a:ext cx="6311900" cy="1041400"/>
          </a:xfrm>
          <a:prstGeom prst="wedgeEllipseCallout">
            <a:avLst>
              <a:gd fmla="val 15806" name="adj1"/>
              <a:gd fmla="val 93944" name="adj2"/>
            </a:avLst>
          </a:prstGeom>
          <a:solidFill>
            <a:srgbClr val="FFFF0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0000"/>
              </a:buClr>
              <a:buSzPts val="1600"/>
              <a:buFont typeface="Noto Sans Symbols"/>
              <a:buNone/>
            </a:pPr>
            <a:r>
              <a:rPr lang="en-US" sz="1600">
                <a:solidFill>
                  <a:srgbClr val="FF0000"/>
                </a:solidFill>
                <a:latin typeface="Tahoma"/>
                <a:ea typeface="Tahoma"/>
                <a:cs typeface="Tahoma"/>
                <a:sym typeface="Tahoma"/>
              </a:rPr>
              <a:t>"I acknowledge your sequence number and </a:t>
            </a:r>
            <a:endParaRPr/>
          </a:p>
          <a:p>
            <a:pPr indent="0" lvl="0" marL="0" marR="0" rtl="0" algn="l">
              <a:lnSpc>
                <a:spcPct val="100000"/>
              </a:lnSpc>
              <a:spcBef>
                <a:spcPts val="0"/>
              </a:spcBef>
              <a:spcAft>
                <a:spcPts val="0"/>
              </a:spcAft>
              <a:buClr>
                <a:srgbClr val="FF0000"/>
              </a:buClr>
              <a:buSzPts val="1600"/>
              <a:buFont typeface="Noto Sans Symbols"/>
              <a:buNone/>
            </a:pPr>
            <a:r>
              <a:rPr lang="en-US" sz="1600">
                <a:solidFill>
                  <a:srgbClr val="FF0000"/>
                </a:solidFill>
                <a:latin typeface="Tahoma"/>
                <a:ea typeface="Tahoma"/>
                <a:cs typeface="Tahoma"/>
                <a:sym typeface="Tahoma"/>
              </a:rPr>
              <a:t>expecting your next packet with sequence number </a:t>
            </a:r>
            <a:r>
              <a:rPr b="1" lang="en-US" sz="1600">
                <a:solidFill>
                  <a:srgbClr val="FF0000"/>
                </a:solidFill>
                <a:latin typeface="Tahoma"/>
                <a:ea typeface="Tahoma"/>
                <a:cs typeface="Tahoma"/>
                <a:sym typeface="Tahoma"/>
              </a:rPr>
              <a:t>1293906976</a:t>
            </a:r>
            <a:r>
              <a:rPr lang="en-US" sz="1600">
                <a:solidFill>
                  <a:srgbClr val="FF0000"/>
                </a:solidFill>
                <a:latin typeface="Tahoma"/>
                <a:ea typeface="Tahoma"/>
                <a:cs typeface="Tahoma"/>
                <a:sym typeface="Tahoma"/>
              </a:rPr>
              <a:t>. </a:t>
            </a:r>
            <a:endParaRPr/>
          </a:p>
          <a:p>
            <a:pPr indent="0" lvl="0" marL="0" marR="0" rtl="0" algn="l">
              <a:lnSpc>
                <a:spcPct val="100000"/>
              </a:lnSpc>
              <a:spcBef>
                <a:spcPts val="0"/>
              </a:spcBef>
              <a:spcAft>
                <a:spcPts val="0"/>
              </a:spcAft>
              <a:buClr>
                <a:srgbClr val="FF0000"/>
              </a:buClr>
              <a:buSzPts val="1600"/>
              <a:buFont typeface="Noto Sans Symbols"/>
              <a:buNone/>
            </a:pPr>
            <a:r>
              <a:rPr lang="en-US" sz="1600">
                <a:solidFill>
                  <a:srgbClr val="FF0000"/>
                </a:solidFill>
                <a:latin typeface="Tahoma"/>
                <a:ea typeface="Tahoma"/>
                <a:cs typeface="Tahoma"/>
                <a:sym typeface="Tahoma"/>
              </a:rPr>
              <a:t>My sequence number is </a:t>
            </a:r>
            <a:r>
              <a:rPr b="1" lang="en-US" sz="1600">
                <a:solidFill>
                  <a:srgbClr val="FF0000"/>
                </a:solidFill>
                <a:latin typeface="Tahoma"/>
                <a:ea typeface="Tahoma"/>
                <a:cs typeface="Tahoma"/>
                <a:sym typeface="Tahoma"/>
              </a:rPr>
              <a:t>3455719727</a:t>
            </a:r>
            <a:r>
              <a:rPr lang="en-US" sz="1600">
                <a:solidFill>
                  <a:srgbClr val="FF0000"/>
                </a:solidFill>
                <a:latin typeface="Tahoma"/>
                <a:ea typeface="Tahoma"/>
                <a:cs typeface="Tahoma"/>
                <a:sym typeface="Tahoma"/>
              </a:rPr>
              <a:t>". </a:t>
            </a:r>
            <a:endParaRPr/>
          </a:p>
        </p:txBody>
      </p:sp>
      <p:sp>
        <p:nvSpPr>
          <p:cNvPr id="6805" name="Google Shape;6805;p146"/>
          <p:cNvSpPr txBox="1"/>
          <p:nvPr/>
        </p:nvSpPr>
        <p:spPr>
          <a:xfrm>
            <a:off x="1422400" y="123826"/>
            <a:ext cx="2205038" cy="747713"/>
          </a:xfrm>
          <a:prstGeom prst="rect">
            <a:avLst/>
          </a:prstGeom>
          <a:solidFill>
            <a:srgbClr val="1AB0FF"/>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2400"/>
              <a:buFont typeface="Noto Sans Symbols"/>
              <a:buNone/>
            </a:pPr>
            <a:r>
              <a:rPr lang="en-US" sz="2400">
                <a:solidFill>
                  <a:schemeClr val="lt1"/>
                </a:solidFill>
                <a:latin typeface="Arial"/>
                <a:ea typeface="Arial"/>
                <a:cs typeface="Arial"/>
                <a:sym typeface="Arial"/>
              </a:rPr>
              <a:t>EXAMPLE 2 </a:t>
            </a:r>
            <a:endParaRPr/>
          </a:p>
        </p:txBody>
      </p:sp>
      <p:sp>
        <p:nvSpPr>
          <p:cNvPr id="6806" name="Google Shape;6806;p14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04"/>
                                        </p:tgtEl>
                                        <p:attrNameLst>
                                          <p:attrName>style.visibility</p:attrName>
                                        </p:attrNameLst>
                                      </p:cBhvr>
                                      <p:to>
                                        <p:strVal val="visible"/>
                                      </p:to>
                                    </p:set>
                                    <p:animEffect filter="fade" transition="in">
                                      <p:cBhvr>
                                        <p:cTn dur="500"/>
                                        <p:tgtEl>
                                          <p:spTgt spid="68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0" name="Shape 6810"/>
        <p:cNvGrpSpPr/>
        <p:nvPr/>
      </p:nvGrpSpPr>
      <p:grpSpPr>
        <a:xfrm>
          <a:off x="0" y="0"/>
          <a:ext cx="0" cy="0"/>
          <a:chOff x="0" y="0"/>
          <a:chExt cx="0" cy="0"/>
        </a:xfrm>
      </p:grpSpPr>
      <p:sp>
        <p:nvSpPr>
          <p:cNvPr id="6811" name="Google Shape;6811;p147"/>
          <p:cNvSpPr txBox="1"/>
          <p:nvPr/>
        </p:nvSpPr>
        <p:spPr>
          <a:xfrm>
            <a:off x="1622426" y="1019175"/>
            <a:ext cx="801823" cy="369332"/>
          </a:xfrm>
          <a:prstGeom prst="rect">
            <a:avLst/>
          </a:prstGeom>
          <a:solidFill>
            <a:srgbClr val="D8D8D8"/>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Calibri"/>
                <a:ea typeface="Calibri"/>
                <a:cs typeface="Calibri"/>
                <a:sym typeface="Calibri"/>
              </a:rPr>
              <a:t>STEP 3</a:t>
            </a:r>
            <a:endParaRPr/>
          </a:p>
        </p:txBody>
      </p:sp>
      <p:sp>
        <p:nvSpPr>
          <p:cNvPr id="6812" name="Google Shape;6812;p147"/>
          <p:cNvSpPr txBox="1"/>
          <p:nvPr/>
        </p:nvSpPr>
        <p:spPr>
          <a:xfrm>
            <a:off x="1719264" y="4257676"/>
            <a:ext cx="8250237" cy="237807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1400"/>
              <a:buFont typeface="Arial"/>
              <a:buChar char="•"/>
            </a:pPr>
            <a:r>
              <a:rPr b="1" lang="en-US" sz="1400">
                <a:solidFill>
                  <a:schemeClr val="dk1"/>
                </a:solidFill>
                <a:latin typeface="Tahoma"/>
                <a:ea typeface="Tahoma"/>
                <a:cs typeface="Tahoma"/>
                <a:sym typeface="Tahoma"/>
              </a:rPr>
              <a:t>Host A</a:t>
            </a:r>
            <a:r>
              <a:rPr lang="en-US" sz="1400">
                <a:solidFill>
                  <a:schemeClr val="dk1"/>
                </a:solidFill>
                <a:latin typeface="Tahoma"/>
                <a:ea typeface="Tahoma"/>
                <a:cs typeface="Tahoma"/>
                <a:sym typeface="Tahoma"/>
              </a:rPr>
              <a:t> receives the reply and now knows Gateway's sequence number. </a:t>
            </a:r>
            <a:endParaRPr/>
          </a:p>
          <a:p>
            <a:pPr indent="-285750" lvl="0" marL="285750" marR="0" rtl="0" algn="l">
              <a:lnSpc>
                <a:spcPct val="150000"/>
              </a:lnSpc>
              <a:spcBef>
                <a:spcPts val="0"/>
              </a:spcBef>
              <a:spcAft>
                <a:spcPts val="0"/>
              </a:spcAft>
              <a:buClr>
                <a:schemeClr val="dk1"/>
              </a:buClr>
              <a:buSzPts val="1400"/>
              <a:buFont typeface="Arial"/>
              <a:buChar char="•"/>
            </a:pPr>
            <a:r>
              <a:rPr lang="en-US" sz="1400">
                <a:solidFill>
                  <a:schemeClr val="dk1"/>
                </a:solidFill>
                <a:latin typeface="Tahoma"/>
                <a:ea typeface="Tahoma"/>
                <a:cs typeface="Tahoma"/>
                <a:sym typeface="Tahoma"/>
              </a:rPr>
              <a:t>It generates another packet to complete the connection. </a:t>
            </a:r>
            <a:endParaRPr/>
          </a:p>
          <a:p>
            <a:pPr indent="-285750" lvl="1" marL="742950" marR="0" rtl="0" algn="l">
              <a:lnSpc>
                <a:spcPct val="150000"/>
              </a:lnSpc>
              <a:spcBef>
                <a:spcPts val="0"/>
              </a:spcBef>
              <a:spcAft>
                <a:spcPts val="0"/>
              </a:spcAft>
              <a:buClr>
                <a:schemeClr val="dk1"/>
              </a:buClr>
              <a:buSzPts val="1400"/>
              <a:buFont typeface="Arial"/>
              <a:buChar char="•"/>
            </a:pPr>
            <a:r>
              <a:rPr b="0" i="0" lang="en-US" sz="1400" u="none" cap="none" strike="noStrike">
                <a:solidFill>
                  <a:schemeClr val="dk1"/>
                </a:solidFill>
                <a:latin typeface="Tahoma"/>
                <a:ea typeface="Tahoma"/>
                <a:cs typeface="Tahoma"/>
                <a:sym typeface="Tahoma"/>
              </a:rPr>
              <a:t>This packet has the </a:t>
            </a:r>
            <a:r>
              <a:rPr b="1" i="0" lang="en-US" sz="1400" u="none" cap="none" strike="noStrike">
                <a:solidFill>
                  <a:schemeClr val="dk1"/>
                </a:solidFill>
                <a:latin typeface="Tahoma"/>
                <a:ea typeface="Tahoma"/>
                <a:cs typeface="Tahoma"/>
                <a:sym typeface="Tahoma"/>
              </a:rPr>
              <a:t>ACK</a:t>
            </a:r>
            <a:r>
              <a:rPr b="0" i="0" lang="en-US" sz="1400" u="none" cap="none" strike="noStrike">
                <a:solidFill>
                  <a:schemeClr val="dk1"/>
                </a:solidFill>
                <a:latin typeface="Tahoma"/>
                <a:ea typeface="Tahoma"/>
                <a:cs typeface="Tahoma"/>
                <a:sym typeface="Tahoma"/>
              </a:rPr>
              <a:t> flag set and also contains </a:t>
            </a:r>
            <a:endParaRPr/>
          </a:p>
          <a:p>
            <a:pPr indent="-285750" lvl="1" marL="742950" marR="0" rtl="0" algn="l">
              <a:lnSpc>
                <a:spcPct val="150000"/>
              </a:lnSpc>
              <a:spcBef>
                <a:spcPts val="0"/>
              </a:spcBef>
              <a:spcAft>
                <a:spcPts val="0"/>
              </a:spcAft>
              <a:buClr>
                <a:schemeClr val="dk1"/>
              </a:buClr>
              <a:buSzPts val="1400"/>
              <a:buFont typeface="Arial"/>
              <a:buChar char="•"/>
            </a:pPr>
            <a:r>
              <a:rPr b="0" i="0" lang="en-US" sz="1400" u="none" cap="none" strike="noStrike">
                <a:solidFill>
                  <a:schemeClr val="dk1"/>
                </a:solidFill>
                <a:latin typeface="Tahoma"/>
                <a:ea typeface="Tahoma"/>
                <a:cs typeface="Tahoma"/>
                <a:sym typeface="Tahoma"/>
              </a:rPr>
              <a:t>the sequence number that it expects the Gateway Server to use next, that is </a:t>
            </a:r>
            <a:r>
              <a:rPr b="1" i="0" lang="en-US" sz="1400" u="none" cap="none" strike="noStrike">
                <a:solidFill>
                  <a:schemeClr val="dk1"/>
                </a:solidFill>
                <a:latin typeface="Tahoma"/>
                <a:ea typeface="Tahoma"/>
                <a:cs typeface="Tahoma"/>
                <a:sym typeface="Tahoma"/>
              </a:rPr>
              <a:t>3455719728</a:t>
            </a:r>
            <a:r>
              <a:rPr b="0" i="0" lang="en-US" sz="1400" u="none" cap="none" strike="noStrike">
                <a:solidFill>
                  <a:schemeClr val="dk1"/>
                </a:solidFill>
                <a:latin typeface="Tahoma"/>
                <a:ea typeface="Tahoma"/>
                <a:cs typeface="Tahoma"/>
                <a:sym typeface="Tahoma"/>
              </a:rPr>
              <a:t>.</a:t>
            </a:r>
            <a:endParaRPr/>
          </a:p>
          <a:p>
            <a:pPr indent="-285750" lvl="0" marL="285750" marR="0" rtl="0" algn="l">
              <a:lnSpc>
                <a:spcPct val="150000"/>
              </a:lnSpc>
              <a:spcBef>
                <a:spcPts val="0"/>
              </a:spcBef>
              <a:spcAft>
                <a:spcPts val="0"/>
              </a:spcAft>
              <a:buClr>
                <a:schemeClr val="dk1"/>
              </a:buClr>
              <a:buSzPts val="1400"/>
              <a:buFont typeface="Arial"/>
              <a:buChar char="•"/>
            </a:pPr>
            <a:r>
              <a:rPr lang="en-US" sz="1400">
                <a:solidFill>
                  <a:schemeClr val="dk1"/>
                </a:solidFill>
                <a:latin typeface="Tahoma"/>
                <a:ea typeface="Tahoma"/>
                <a:cs typeface="Tahoma"/>
                <a:sym typeface="Tahoma"/>
              </a:rPr>
              <a:t>Since the 3-way TCP handshake has been completed, a virtual connection between the two now exists and the </a:t>
            </a:r>
            <a:r>
              <a:rPr b="1" lang="en-US" sz="1400">
                <a:solidFill>
                  <a:schemeClr val="dk1"/>
                </a:solidFill>
                <a:latin typeface="Tahoma"/>
                <a:ea typeface="Tahoma"/>
                <a:cs typeface="Tahoma"/>
                <a:sym typeface="Tahoma"/>
              </a:rPr>
              <a:t>Gateway Server</a:t>
            </a:r>
            <a:r>
              <a:rPr lang="en-US" sz="1400">
                <a:solidFill>
                  <a:schemeClr val="dk1"/>
                </a:solidFill>
                <a:latin typeface="Tahoma"/>
                <a:ea typeface="Tahoma"/>
                <a:cs typeface="Tahoma"/>
                <a:sym typeface="Tahoma"/>
              </a:rPr>
              <a:t> is ready to listen to </a:t>
            </a:r>
            <a:r>
              <a:rPr b="1" lang="en-US" sz="1400">
                <a:solidFill>
                  <a:schemeClr val="dk1"/>
                </a:solidFill>
                <a:latin typeface="Tahoma"/>
                <a:ea typeface="Tahoma"/>
                <a:cs typeface="Tahoma"/>
                <a:sym typeface="Tahoma"/>
              </a:rPr>
              <a:t>Host A's</a:t>
            </a:r>
            <a:r>
              <a:rPr lang="en-US" sz="1400">
                <a:solidFill>
                  <a:schemeClr val="dk1"/>
                </a:solidFill>
                <a:latin typeface="Tahoma"/>
                <a:ea typeface="Tahoma"/>
                <a:cs typeface="Tahoma"/>
                <a:sym typeface="Tahoma"/>
              </a:rPr>
              <a:t> request. </a:t>
            </a:r>
            <a:endParaRPr/>
          </a:p>
          <a:p>
            <a:pPr indent="-190500" lvl="2" marL="1200150" marR="0" rtl="0" algn="l">
              <a:lnSpc>
                <a:spcPct val="150000"/>
              </a:lnSpc>
              <a:spcBef>
                <a:spcPts val="0"/>
              </a:spcBef>
              <a:spcAft>
                <a:spcPts val="0"/>
              </a:spcAft>
              <a:buClr>
                <a:schemeClr val="dk1"/>
              </a:buClr>
              <a:buSzPts val="1500"/>
              <a:buFont typeface="Gill Sans"/>
              <a:buNone/>
            </a:pPr>
            <a:r>
              <a:t/>
            </a:r>
            <a:endParaRPr b="0" i="0" sz="1500" u="none" cap="none" strike="noStrike">
              <a:solidFill>
                <a:schemeClr val="dk1"/>
              </a:solidFill>
              <a:latin typeface="Tahoma"/>
              <a:ea typeface="Tahoma"/>
              <a:cs typeface="Tahoma"/>
              <a:sym typeface="Tahoma"/>
            </a:endParaRPr>
          </a:p>
        </p:txBody>
      </p:sp>
      <p:pic>
        <p:nvPicPr>
          <p:cNvPr id="6813" name="Google Shape;6813;p147"/>
          <p:cNvPicPr preferRelativeResize="0"/>
          <p:nvPr/>
        </p:nvPicPr>
        <p:blipFill rotWithShape="1">
          <a:blip r:embed="rId3">
            <a:alphaModFix/>
          </a:blip>
          <a:srcRect b="0" l="0" r="0" t="0"/>
          <a:stretch/>
        </p:blipFill>
        <p:spPr>
          <a:xfrm>
            <a:off x="2667000" y="1041400"/>
            <a:ext cx="6985000" cy="3022600"/>
          </a:xfrm>
          <a:prstGeom prst="rect">
            <a:avLst/>
          </a:prstGeom>
          <a:noFill/>
          <a:ln>
            <a:noFill/>
          </a:ln>
        </p:spPr>
      </p:pic>
      <p:sp>
        <p:nvSpPr>
          <p:cNvPr id="6814" name="Google Shape;6814;p147"/>
          <p:cNvSpPr/>
          <p:nvPr/>
        </p:nvSpPr>
        <p:spPr>
          <a:xfrm>
            <a:off x="4267200" y="-127000"/>
            <a:ext cx="6311900" cy="1600200"/>
          </a:xfrm>
          <a:prstGeom prst="wedgeEllipseCallout">
            <a:avLst>
              <a:gd fmla="val -44755" name="adj1"/>
              <a:gd fmla="val 59815" name="adj2"/>
            </a:avLst>
          </a:prstGeom>
          <a:solidFill>
            <a:srgbClr val="FFFF00"/>
          </a:solidFill>
          <a:ln cap="flat" cmpd="sng" w="9525">
            <a:solidFill>
              <a:schemeClr val="dk1"/>
            </a:solidFill>
            <a:prstDash val="solid"/>
            <a:round/>
            <a:headEnd len="sm" w="sm" type="none"/>
            <a:tailEnd len="sm" w="sm" type="none"/>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FF0000"/>
              </a:buClr>
              <a:buSzPts val="1600"/>
              <a:buFont typeface="Noto Sans Symbols"/>
              <a:buNone/>
            </a:pPr>
            <a:r>
              <a:rPr lang="en-US" sz="1600">
                <a:solidFill>
                  <a:srgbClr val="FF0000"/>
                </a:solidFill>
                <a:latin typeface="Tahoma"/>
                <a:ea typeface="Tahoma"/>
                <a:cs typeface="Tahoma"/>
                <a:sym typeface="Tahoma"/>
              </a:rPr>
              <a:t>"I acknowledge your last packet. </a:t>
            </a:r>
            <a:endParaRPr/>
          </a:p>
          <a:p>
            <a:pPr indent="0" lvl="0" marL="0" marR="0" rtl="0" algn="l">
              <a:lnSpc>
                <a:spcPct val="100000"/>
              </a:lnSpc>
              <a:spcBef>
                <a:spcPts val="0"/>
              </a:spcBef>
              <a:spcAft>
                <a:spcPts val="0"/>
              </a:spcAft>
              <a:buClr>
                <a:srgbClr val="FF0000"/>
              </a:buClr>
              <a:buSzPts val="1600"/>
              <a:buFont typeface="Noto Sans Symbols"/>
              <a:buNone/>
            </a:pPr>
            <a:r>
              <a:rPr lang="en-US" sz="1600">
                <a:solidFill>
                  <a:srgbClr val="FF0000"/>
                </a:solidFill>
                <a:latin typeface="Tahoma"/>
                <a:ea typeface="Tahoma"/>
                <a:cs typeface="Tahoma"/>
                <a:sym typeface="Tahoma"/>
              </a:rPr>
              <a:t>This packet's sequence number is 1293906976, </a:t>
            </a:r>
            <a:endParaRPr/>
          </a:p>
          <a:p>
            <a:pPr indent="0" lvl="0" marL="0" marR="0" rtl="0" algn="l">
              <a:lnSpc>
                <a:spcPct val="100000"/>
              </a:lnSpc>
              <a:spcBef>
                <a:spcPts val="0"/>
              </a:spcBef>
              <a:spcAft>
                <a:spcPts val="0"/>
              </a:spcAft>
              <a:buClr>
                <a:srgbClr val="FF0000"/>
              </a:buClr>
              <a:buSzPts val="1600"/>
              <a:buFont typeface="Noto Sans Symbols"/>
              <a:buNone/>
            </a:pPr>
            <a:r>
              <a:rPr lang="en-US" sz="1600">
                <a:solidFill>
                  <a:srgbClr val="FF0000"/>
                </a:solidFill>
                <a:latin typeface="Tahoma"/>
                <a:ea typeface="Tahoma"/>
                <a:cs typeface="Tahoma"/>
                <a:sym typeface="Tahoma"/>
              </a:rPr>
              <a:t>which is what you're expecting. </a:t>
            </a:r>
            <a:endParaRPr/>
          </a:p>
          <a:p>
            <a:pPr indent="0" lvl="0" marL="0" marR="0" rtl="0" algn="l">
              <a:lnSpc>
                <a:spcPct val="100000"/>
              </a:lnSpc>
              <a:spcBef>
                <a:spcPts val="0"/>
              </a:spcBef>
              <a:spcAft>
                <a:spcPts val="0"/>
              </a:spcAft>
              <a:buClr>
                <a:srgbClr val="FF0000"/>
              </a:buClr>
              <a:buSzPts val="1600"/>
              <a:buFont typeface="Noto Sans Symbols"/>
              <a:buNone/>
            </a:pPr>
            <a:r>
              <a:rPr lang="en-US" sz="1600">
                <a:solidFill>
                  <a:srgbClr val="FF0000"/>
                </a:solidFill>
                <a:latin typeface="Tahoma"/>
                <a:ea typeface="Tahoma"/>
                <a:cs typeface="Tahoma"/>
                <a:sym typeface="Tahoma"/>
              </a:rPr>
              <a:t>I'll also be expecting the next packet you send me </a:t>
            </a:r>
            <a:endParaRPr/>
          </a:p>
          <a:p>
            <a:pPr indent="0" lvl="0" marL="0" marR="0" rtl="0" algn="l">
              <a:lnSpc>
                <a:spcPct val="100000"/>
              </a:lnSpc>
              <a:spcBef>
                <a:spcPts val="0"/>
              </a:spcBef>
              <a:spcAft>
                <a:spcPts val="0"/>
              </a:spcAft>
              <a:buClr>
                <a:srgbClr val="FF0000"/>
              </a:buClr>
              <a:buSzPts val="1600"/>
              <a:buFont typeface="Noto Sans Symbols"/>
              <a:buNone/>
            </a:pPr>
            <a:r>
              <a:rPr lang="en-US" sz="1600">
                <a:solidFill>
                  <a:srgbClr val="FF0000"/>
                </a:solidFill>
                <a:latin typeface="Tahoma"/>
                <a:ea typeface="Tahoma"/>
                <a:cs typeface="Tahoma"/>
                <a:sym typeface="Tahoma"/>
              </a:rPr>
              <a:t>to have a sequence number of 3455719728"</a:t>
            </a:r>
            <a:endParaRPr/>
          </a:p>
        </p:txBody>
      </p:sp>
      <p:sp>
        <p:nvSpPr>
          <p:cNvPr id="6815" name="Google Shape;6815;p147"/>
          <p:cNvSpPr txBox="1"/>
          <p:nvPr/>
        </p:nvSpPr>
        <p:spPr>
          <a:xfrm>
            <a:off x="1622426" y="168276"/>
            <a:ext cx="2606675" cy="747713"/>
          </a:xfrm>
          <a:prstGeom prst="rect">
            <a:avLst/>
          </a:prstGeom>
          <a:solidFill>
            <a:srgbClr val="1AB0FF"/>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2400"/>
              <a:buFont typeface="Noto Sans Symbols"/>
              <a:buNone/>
            </a:pPr>
            <a:r>
              <a:rPr lang="en-US" sz="2400">
                <a:solidFill>
                  <a:schemeClr val="lt1"/>
                </a:solidFill>
                <a:latin typeface="Arial"/>
                <a:ea typeface="Arial"/>
                <a:cs typeface="Arial"/>
                <a:sym typeface="Arial"/>
              </a:rPr>
              <a:t>EXAMPLE 2 </a:t>
            </a:r>
            <a:endParaRPr/>
          </a:p>
        </p:txBody>
      </p:sp>
      <p:sp>
        <p:nvSpPr>
          <p:cNvPr id="6816" name="Google Shape;6816;p14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14"/>
                                        </p:tgtEl>
                                        <p:attrNameLst>
                                          <p:attrName>style.visibility</p:attrName>
                                        </p:attrNameLst>
                                      </p:cBhvr>
                                      <p:to>
                                        <p:strVal val="visible"/>
                                      </p:to>
                                    </p:set>
                                    <p:animEffect filter="fade" transition="in">
                                      <p:cBhvr>
                                        <p:cTn dur="500"/>
                                        <p:tgtEl>
                                          <p:spTgt spid="68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0" name="Shape 6820"/>
        <p:cNvGrpSpPr/>
        <p:nvPr/>
      </p:nvGrpSpPr>
      <p:grpSpPr>
        <a:xfrm>
          <a:off x="0" y="0"/>
          <a:ext cx="0" cy="0"/>
          <a:chOff x="0" y="0"/>
          <a:chExt cx="0" cy="0"/>
        </a:xfrm>
      </p:grpSpPr>
      <p:pic>
        <p:nvPicPr>
          <p:cNvPr id="6821" name="Google Shape;6821;p148"/>
          <p:cNvPicPr preferRelativeResize="0"/>
          <p:nvPr/>
        </p:nvPicPr>
        <p:blipFill rotWithShape="1">
          <a:blip r:embed="rId3">
            <a:alphaModFix/>
          </a:blip>
          <a:srcRect b="0" l="0" r="0" t="0"/>
          <a:stretch/>
        </p:blipFill>
        <p:spPr>
          <a:xfrm>
            <a:off x="2654300" y="1041400"/>
            <a:ext cx="6985000" cy="3022600"/>
          </a:xfrm>
          <a:prstGeom prst="rect">
            <a:avLst/>
          </a:prstGeom>
          <a:noFill/>
          <a:ln>
            <a:noFill/>
          </a:ln>
        </p:spPr>
      </p:pic>
      <p:sp>
        <p:nvSpPr>
          <p:cNvPr id="6822" name="Google Shape;6822;p148"/>
          <p:cNvSpPr txBox="1"/>
          <p:nvPr/>
        </p:nvSpPr>
        <p:spPr>
          <a:xfrm>
            <a:off x="1622426" y="1019175"/>
            <a:ext cx="801823" cy="369332"/>
          </a:xfrm>
          <a:prstGeom prst="rect">
            <a:avLst/>
          </a:prstGeom>
          <a:solidFill>
            <a:srgbClr val="D8D8D8"/>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Calibri"/>
                <a:ea typeface="Calibri"/>
                <a:cs typeface="Calibri"/>
                <a:sym typeface="Calibri"/>
              </a:rPr>
              <a:t>STEP 4</a:t>
            </a:r>
            <a:endParaRPr/>
          </a:p>
        </p:txBody>
      </p:sp>
      <p:sp>
        <p:nvSpPr>
          <p:cNvPr id="6823" name="Google Shape;6823;p148"/>
          <p:cNvSpPr txBox="1"/>
          <p:nvPr/>
        </p:nvSpPr>
        <p:spPr>
          <a:xfrm>
            <a:off x="1719264" y="4105276"/>
            <a:ext cx="8250237" cy="101790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1400"/>
              <a:buFont typeface="Arial"/>
              <a:buChar char="•"/>
            </a:pPr>
            <a:r>
              <a:rPr lang="en-US" sz="1400">
                <a:solidFill>
                  <a:schemeClr val="dk1"/>
                </a:solidFill>
                <a:latin typeface="Tahoma"/>
                <a:ea typeface="Tahoma"/>
                <a:cs typeface="Tahoma"/>
                <a:sym typeface="Tahoma"/>
              </a:rPr>
              <a:t>In this step, Host A generates a packet with some data and sends it to the Gateway Server. </a:t>
            </a:r>
            <a:endParaRPr/>
          </a:p>
          <a:p>
            <a:pPr indent="-285750" lvl="0" marL="285750" marR="0" rtl="0" algn="l">
              <a:lnSpc>
                <a:spcPct val="150000"/>
              </a:lnSpc>
              <a:spcBef>
                <a:spcPts val="0"/>
              </a:spcBef>
              <a:spcAft>
                <a:spcPts val="0"/>
              </a:spcAft>
              <a:buClr>
                <a:schemeClr val="dk1"/>
              </a:buClr>
              <a:buSzPts val="1400"/>
              <a:buFont typeface="Arial"/>
              <a:buChar char="•"/>
            </a:pPr>
            <a:r>
              <a:rPr lang="en-US" sz="1400">
                <a:solidFill>
                  <a:schemeClr val="dk1"/>
                </a:solidFill>
                <a:latin typeface="Tahoma"/>
                <a:ea typeface="Tahoma"/>
                <a:cs typeface="Tahoma"/>
                <a:sym typeface="Tahoma"/>
              </a:rPr>
              <a:t>The data tells the Gateway Server which webpage it would like sent.</a:t>
            </a:r>
            <a:endParaRPr/>
          </a:p>
          <a:p>
            <a:pPr indent="-285750" lvl="0" marL="285750" marR="0" rtl="0" algn="l">
              <a:lnSpc>
                <a:spcPct val="150000"/>
              </a:lnSpc>
              <a:spcBef>
                <a:spcPts val="0"/>
              </a:spcBef>
              <a:spcAft>
                <a:spcPts val="0"/>
              </a:spcAft>
              <a:buClr>
                <a:schemeClr val="dk1"/>
              </a:buClr>
              <a:buSzPts val="1400"/>
              <a:buFont typeface="Arial"/>
              <a:buChar char="•"/>
            </a:pPr>
            <a:r>
              <a:rPr lang="en-US" sz="1400">
                <a:solidFill>
                  <a:schemeClr val="dk1"/>
                </a:solidFill>
                <a:latin typeface="Tahoma"/>
                <a:ea typeface="Tahoma"/>
                <a:cs typeface="Tahoma"/>
                <a:sym typeface="Tahoma"/>
              </a:rPr>
              <a:t>… remember in Module 2</a:t>
            </a:r>
            <a:endParaRPr sz="1500">
              <a:solidFill>
                <a:schemeClr val="dk1"/>
              </a:solidFill>
              <a:latin typeface="Tahoma"/>
              <a:ea typeface="Tahoma"/>
              <a:cs typeface="Tahoma"/>
              <a:sym typeface="Tahoma"/>
            </a:endParaRPr>
          </a:p>
        </p:txBody>
      </p:sp>
      <p:pic>
        <p:nvPicPr>
          <p:cNvPr id="6824" name="Google Shape;6824;p148"/>
          <p:cNvPicPr preferRelativeResize="0"/>
          <p:nvPr/>
        </p:nvPicPr>
        <p:blipFill rotWithShape="1">
          <a:blip r:embed="rId4">
            <a:alphaModFix/>
          </a:blip>
          <a:srcRect b="0" l="0" r="0" t="0"/>
          <a:stretch/>
        </p:blipFill>
        <p:spPr>
          <a:xfrm>
            <a:off x="3289300" y="5168900"/>
            <a:ext cx="6680200" cy="1125538"/>
          </a:xfrm>
          <a:prstGeom prst="rect">
            <a:avLst/>
          </a:prstGeom>
          <a:noFill/>
          <a:ln cap="flat" cmpd="sng" w="22225">
            <a:solidFill>
              <a:srgbClr val="FF0000"/>
            </a:solidFill>
            <a:prstDash val="dash"/>
            <a:miter lim="800000"/>
            <a:headEnd len="sm" w="sm" type="none"/>
            <a:tailEnd len="sm" w="sm" type="none"/>
          </a:ln>
        </p:spPr>
      </p:pic>
      <p:sp>
        <p:nvSpPr>
          <p:cNvPr id="6825" name="Google Shape;6825;p148"/>
          <p:cNvSpPr txBox="1"/>
          <p:nvPr/>
        </p:nvSpPr>
        <p:spPr>
          <a:xfrm>
            <a:off x="4179889" y="250825"/>
            <a:ext cx="2606675" cy="749300"/>
          </a:xfrm>
          <a:prstGeom prst="rect">
            <a:avLst/>
          </a:prstGeom>
          <a:solidFill>
            <a:srgbClr val="1AB0FF"/>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2400"/>
              <a:buFont typeface="Noto Sans Symbols"/>
              <a:buNone/>
            </a:pPr>
            <a:r>
              <a:rPr lang="en-US" sz="2400">
                <a:solidFill>
                  <a:schemeClr val="lt1"/>
                </a:solidFill>
                <a:latin typeface="Arial"/>
                <a:ea typeface="Arial"/>
                <a:cs typeface="Arial"/>
                <a:sym typeface="Arial"/>
              </a:rPr>
              <a:t>EXAMPLE 2 </a:t>
            </a:r>
            <a:endParaRPr/>
          </a:p>
        </p:txBody>
      </p:sp>
      <p:sp>
        <p:nvSpPr>
          <p:cNvPr id="6826" name="Google Shape;6826;p14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824"/>
                                        </p:tgtEl>
                                        <p:attrNameLst>
                                          <p:attrName>style.visibility</p:attrName>
                                        </p:attrNameLst>
                                      </p:cBhvr>
                                      <p:to>
                                        <p:strVal val="visible"/>
                                      </p:to>
                                    </p:set>
                                    <p:anim calcmode="lin" valueType="num">
                                      <p:cBhvr additive="base">
                                        <p:cTn dur="500"/>
                                        <p:tgtEl>
                                          <p:spTgt spid="682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1" name="Shape 6831"/>
        <p:cNvGrpSpPr/>
        <p:nvPr/>
      </p:nvGrpSpPr>
      <p:grpSpPr>
        <a:xfrm>
          <a:off x="0" y="0"/>
          <a:ext cx="0" cy="0"/>
          <a:chOff x="0" y="0"/>
          <a:chExt cx="0" cy="0"/>
        </a:xfrm>
      </p:grpSpPr>
      <p:sp>
        <p:nvSpPr>
          <p:cNvPr id="6832" name="Google Shape;6832;p149"/>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 human 3-way handshake protocol</a:t>
            </a:r>
            <a:endParaRPr b="0" sz="4400"/>
          </a:p>
        </p:txBody>
      </p:sp>
      <p:pic>
        <p:nvPicPr>
          <p:cNvPr descr="A pile of snow&#10;&#10;Description automatically generated" id="6833" name="Google Shape;6833;p149"/>
          <p:cNvPicPr preferRelativeResize="0"/>
          <p:nvPr/>
        </p:nvPicPr>
        <p:blipFill rotWithShape="1">
          <a:blip r:embed="rId3">
            <a:alphaModFix/>
          </a:blip>
          <a:srcRect b="0" l="0" r="0" t="0"/>
          <a:stretch/>
        </p:blipFill>
        <p:spPr>
          <a:xfrm>
            <a:off x="1750251" y="1530219"/>
            <a:ext cx="8358252" cy="5472528"/>
          </a:xfrm>
          <a:prstGeom prst="rect">
            <a:avLst/>
          </a:prstGeom>
          <a:noFill/>
          <a:ln>
            <a:noFill/>
          </a:ln>
        </p:spPr>
      </p:pic>
      <p:grpSp>
        <p:nvGrpSpPr>
          <p:cNvPr id="6834" name="Google Shape;6834;p149"/>
          <p:cNvGrpSpPr/>
          <p:nvPr/>
        </p:nvGrpSpPr>
        <p:grpSpPr>
          <a:xfrm>
            <a:off x="6538586" y="2065751"/>
            <a:ext cx="1730667" cy="612648"/>
            <a:chOff x="6538586" y="2065751"/>
            <a:chExt cx="1730667" cy="612648"/>
          </a:xfrm>
        </p:grpSpPr>
        <p:sp>
          <p:nvSpPr>
            <p:cNvPr id="6835" name="Google Shape;6835;p149"/>
            <p:cNvSpPr/>
            <p:nvPr/>
          </p:nvSpPr>
          <p:spPr>
            <a:xfrm>
              <a:off x="6551111" y="2065751"/>
              <a:ext cx="1672748" cy="612648"/>
            </a:xfrm>
            <a:prstGeom prst="wedgeRoundRectCallout">
              <a:avLst>
                <a:gd fmla="val 54830" name="adj1"/>
                <a:gd fmla="val 429311" name="adj2"/>
                <a:gd fmla="val 16667" name="adj3"/>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36" name="Google Shape;6836;p149"/>
            <p:cNvSpPr txBox="1"/>
            <p:nvPr/>
          </p:nvSpPr>
          <p:spPr>
            <a:xfrm>
              <a:off x="6538586" y="2153433"/>
              <a:ext cx="173066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1. On belay?</a:t>
              </a:r>
              <a:endParaRPr/>
            </a:p>
          </p:txBody>
        </p:sp>
      </p:grpSp>
      <p:sp>
        <p:nvSpPr>
          <p:cNvPr id="6837" name="Google Shape;6837;p149"/>
          <p:cNvSpPr/>
          <p:nvPr/>
        </p:nvSpPr>
        <p:spPr>
          <a:xfrm>
            <a:off x="1640908" y="5812076"/>
            <a:ext cx="10459233" cy="127765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838" name="Google Shape;6838;p149"/>
          <p:cNvGrpSpPr/>
          <p:nvPr/>
        </p:nvGrpSpPr>
        <p:grpSpPr>
          <a:xfrm>
            <a:off x="5814165" y="3280776"/>
            <a:ext cx="1672748" cy="612648"/>
            <a:chOff x="5814165" y="3280776"/>
            <a:chExt cx="1672748" cy="612648"/>
          </a:xfrm>
        </p:grpSpPr>
        <p:sp>
          <p:nvSpPr>
            <p:cNvPr id="6839" name="Google Shape;6839;p149"/>
            <p:cNvSpPr/>
            <p:nvPr/>
          </p:nvSpPr>
          <p:spPr>
            <a:xfrm>
              <a:off x="5814165" y="3280776"/>
              <a:ext cx="1672748" cy="612648"/>
            </a:xfrm>
            <a:prstGeom prst="wedgeRoundRectCallout">
              <a:avLst>
                <a:gd fmla="val -120395" name="adj1"/>
                <a:gd fmla="val -120679" name="adj2"/>
                <a:gd fmla="val 16667" name="adj3"/>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40" name="Google Shape;6840;p149"/>
            <p:cNvSpPr txBox="1"/>
            <p:nvPr/>
          </p:nvSpPr>
          <p:spPr>
            <a:xfrm>
              <a:off x="5826690" y="3332968"/>
              <a:ext cx="162807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2. Belay on.</a:t>
              </a:r>
              <a:endParaRPr/>
            </a:p>
          </p:txBody>
        </p:sp>
      </p:grpSp>
      <p:grpSp>
        <p:nvGrpSpPr>
          <p:cNvPr id="6841" name="Google Shape;6841;p149"/>
          <p:cNvGrpSpPr/>
          <p:nvPr/>
        </p:nvGrpSpPr>
        <p:grpSpPr>
          <a:xfrm>
            <a:off x="8321457" y="3646119"/>
            <a:ext cx="1695712" cy="612648"/>
            <a:chOff x="8321457" y="3646119"/>
            <a:chExt cx="1695712" cy="612648"/>
          </a:xfrm>
        </p:grpSpPr>
        <p:sp>
          <p:nvSpPr>
            <p:cNvPr id="6842" name="Google Shape;6842;p149"/>
            <p:cNvSpPr/>
            <p:nvPr/>
          </p:nvSpPr>
          <p:spPr>
            <a:xfrm>
              <a:off x="8344421" y="3646119"/>
              <a:ext cx="1672748" cy="612648"/>
            </a:xfrm>
            <a:prstGeom prst="wedgeRoundRectCallout">
              <a:avLst>
                <a:gd fmla="val -44764" name="adj1"/>
                <a:gd fmla="val 169650" name="adj2"/>
                <a:gd fmla="val 16667" name="adj3"/>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43" name="Google Shape;6843;p149"/>
            <p:cNvSpPr txBox="1"/>
            <p:nvPr/>
          </p:nvSpPr>
          <p:spPr>
            <a:xfrm>
              <a:off x="8321457" y="3710836"/>
              <a:ext cx="16514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3. Climbing.</a:t>
              </a:r>
              <a:endParaRPr/>
            </a:p>
          </p:txBody>
        </p:sp>
      </p:grpSp>
      <p:sp>
        <p:nvSpPr>
          <p:cNvPr id="6844" name="Google Shape;6844;p14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4"/>
                                        </p:tgtEl>
                                        <p:attrNameLst>
                                          <p:attrName>style.visibility</p:attrName>
                                        </p:attrNameLst>
                                      </p:cBhvr>
                                      <p:to>
                                        <p:strVal val="visible"/>
                                      </p:to>
                                    </p:set>
                                    <p:animEffect filter="fade" transition="in">
                                      <p:cBhvr>
                                        <p:cTn dur="500"/>
                                        <p:tgtEl>
                                          <p:spTgt spid="68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8"/>
                                        </p:tgtEl>
                                        <p:attrNameLst>
                                          <p:attrName>style.visibility</p:attrName>
                                        </p:attrNameLst>
                                      </p:cBhvr>
                                      <p:to>
                                        <p:strVal val="visible"/>
                                      </p:to>
                                    </p:set>
                                    <p:animEffect filter="fade" transition="in">
                                      <p:cBhvr>
                                        <p:cTn dur="500"/>
                                        <p:tgtEl>
                                          <p:spTgt spid="68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41"/>
                                        </p:tgtEl>
                                        <p:attrNameLst>
                                          <p:attrName>style.visibility</p:attrName>
                                        </p:attrNameLst>
                                      </p:cBhvr>
                                      <p:to>
                                        <p:strVal val="visible"/>
                                      </p:to>
                                    </p:set>
                                    <p:animEffect filter="fade" transition="in">
                                      <p:cBhvr>
                                        <p:cTn dur="500"/>
                                        <p:tgtEl>
                                          <p:spTgt spid="68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9" name="Shape 6849"/>
        <p:cNvGrpSpPr/>
        <p:nvPr/>
      </p:nvGrpSpPr>
      <p:grpSpPr>
        <a:xfrm>
          <a:off x="0" y="0"/>
          <a:ext cx="0" cy="0"/>
          <a:chOff x="0" y="0"/>
          <a:chExt cx="0" cy="0"/>
        </a:xfrm>
      </p:grpSpPr>
      <p:sp>
        <p:nvSpPr>
          <p:cNvPr id="6850" name="Google Shape;6850;p150"/>
          <p:cNvSpPr txBox="1"/>
          <p:nvPr>
            <p:ph idx="1" type="body"/>
          </p:nvPr>
        </p:nvSpPr>
        <p:spPr>
          <a:xfrm>
            <a:off x="1916114" y="1146176"/>
            <a:ext cx="8283575" cy="4835525"/>
          </a:xfrm>
          <a:prstGeom prst="rect">
            <a:avLst/>
          </a:prstGeom>
          <a:noFill/>
          <a:ln>
            <a:noFill/>
          </a:ln>
        </p:spPr>
        <p:txBody>
          <a:bodyPr anchorCtr="0" anchor="t" bIns="45700" lIns="91425" spcFirstLastPara="1" rIns="91425" wrap="square" tIns="45700">
            <a:normAutofit lnSpcReduction="10000"/>
          </a:bodyPr>
          <a:lstStyle/>
          <a:p>
            <a:pPr indent="-222250" lvl="0" marL="352425" rtl="0" algn="l">
              <a:lnSpc>
                <a:spcPct val="90000"/>
              </a:lnSpc>
              <a:spcBef>
                <a:spcPts val="0"/>
              </a:spcBef>
              <a:spcAft>
                <a:spcPts val="0"/>
              </a:spcAft>
              <a:buSzPts val="2800"/>
              <a:buChar char="▪"/>
            </a:pPr>
            <a:r>
              <a:rPr lang="en-US"/>
              <a:t>Closing connection, four actions are required:</a:t>
            </a:r>
            <a:endParaRPr/>
          </a:p>
          <a:p>
            <a:pPr indent="-231775" lvl="1" marL="695325" rtl="0" algn="l">
              <a:lnSpc>
                <a:spcPct val="90000"/>
              </a:lnSpc>
              <a:spcBef>
                <a:spcPts val="1800"/>
              </a:spcBef>
              <a:spcAft>
                <a:spcPts val="0"/>
              </a:spcAft>
              <a:buSzPts val="2400"/>
              <a:buChar char="•"/>
            </a:pPr>
            <a:r>
              <a:rPr lang="en-US">
                <a:solidFill>
                  <a:srgbClr val="7F7F7F"/>
                </a:solidFill>
              </a:rPr>
              <a:t>Host A sends a segment announcing connection termination</a:t>
            </a:r>
            <a:endParaRPr/>
          </a:p>
          <a:p>
            <a:pPr indent="-231775" lvl="1" marL="695325" rtl="0" algn="l">
              <a:lnSpc>
                <a:spcPct val="90000"/>
              </a:lnSpc>
              <a:spcBef>
                <a:spcPts val="1800"/>
              </a:spcBef>
              <a:spcAft>
                <a:spcPts val="0"/>
              </a:spcAft>
              <a:buSzPts val="2400"/>
              <a:buChar char="•"/>
            </a:pPr>
            <a:r>
              <a:rPr lang="en-US">
                <a:solidFill>
                  <a:srgbClr val="7F7F7F"/>
                </a:solidFill>
              </a:rPr>
              <a:t>Host B sends a segment acknowledging the request from A. After this the connection is closed in one direction.</a:t>
            </a:r>
            <a:endParaRPr/>
          </a:p>
          <a:p>
            <a:pPr indent="-231775" lvl="1" marL="695325" rtl="0" algn="l">
              <a:lnSpc>
                <a:spcPct val="90000"/>
              </a:lnSpc>
              <a:spcBef>
                <a:spcPts val="1800"/>
              </a:spcBef>
              <a:spcAft>
                <a:spcPts val="0"/>
              </a:spcAft>
              <a:buSzPts val="2400"/>
              <a:buChar char="•"/>
            </a:pPr>
            <a:r>
              <a:rPr lang="en-US">
                <a:solidFill>
                  <a:srgbClr val="7F7F7F"/>
                </a:solidFill>
              </a:rPr>
              <a:t>When host B has finished sending data, it sends a segment indicating connection closure</a:t>
            </a:r>
            <a:endParaRPr/>
          </a:p>
          <a:p>
            <a:pPr indent="-231775" lvl="1" marL="695325" rtl="0" algn="l">
              <a:lnSpc>
                <a:spcPct val="90000"/>
              </a:lnSpc>
              <a:spcBef>
                <a:spcPts val="1800"/>
              </a:spcBef>
              <a:spcAft>
                <a:spcPts val="0"/>
              </a:spcAft>
              <a:buSzPts val="2400"/>
              <a:buChar char="•"/>
            </a:pPr>
            <a:r>
              <a:rPr lang="en-US">
                <a:solidFill>
                  <a:srgbClr val="7F7F7F"/>
                </a:solidFill>
              </a:rPr>
              <a:t>Host A acknowledge the request from B</a:t>
            </a:r>
            <a:endParaRPr/>
          </a:p>
          <a:p>
            <a:pPr indent="-222250" lvl="0" marL="352425" rtl="0" algn="l">
              <a:lnSpc>
                <a:spcPct val="90000"/>
              </a:lnSpc>
              <a:spcBef>
                <a:spcPts val="1800"/>
              </a:spcBef>
              <a:spcAft>
                <a:spcPts val="0"/>
              </a:spcAft>
              <a:buSzPts val="2800"/>
              <a:buChar char="▪"/>
            </a:pPr>
            <a:r>
              <a:rPr lang="en-US">
                <a:solidFill>
                  <a:srgbClr val="0070C0"/>
                </a:solidFill>
              </a:rPr>
              <a:t>2</a:t>
            </a:r>
            <a:r>
              <a:rPr baseline="30000" lang="en-US">
                <a:solidFill>
                  <a:srgbClr val="0070C0"/>
                </a:solidFill>
              </a:rPr>
              <a:t>nd</a:t>
            </a:r>
            <a:r>
              <a:rPr lang="en-US">
                <a:solidFill>
                  <a:srgbClr val="0070C0"/>
                </a:solidFill>
              </a:rPr>
              <a:t> and 3</a:t>
            </a:r>
            <a:r>
              <a:rPr baseline="30000" lang="en-US">
                <a:solidFill>
                  <a:srgbClr val="0070C0"/>
                </a:solidFill>
              </a:rPr>
              <a:t>rd</a:t>
            </a:r>
            <a:r>
              <a:rPr lang="en-US">
                <a:solidFill>
                  <a:srgbClr val="0070C0"/>
                </a:solidFill>
              </a:rPr>
              <a:t> cannot be combined</a:t>
            </a:r>
            <a:endParaRPr/>
          </a:p>
          <a:p>
            <a:pPr indent="-222250" lvl="0" marL="352425" rtl="0" algn="l">
              <a:lnSpc>
                <a:spcPct val="90000"/>
              </a:lnSpc>
              <a:spcBef>
                <a:spcPts val="1800"/>
              </a:spcBef>
              <a:spcAft>
                <a:spcPts val="0"/>
              </a:spcAft>
              <a:buSzPts val="2800"/>
              <a:buChar char="▪"/>
            </a:pPr>
            <a:r>
              <a:rPr lang="en-US">
                <a:solidFill>
                  <a:srgbClr val="0070C0"/>
                </a:solidFill>
              </a:rPr>
              <a:t>It is called </a:t>
            </a:r>
            <a:r>
              <a:rPr i="1" lang="en-US">
                <a:solidFill>
                  <a:srgbClr val="0070C0"/>
                </a:solidFill>
              </a:rPr>
              <a:t>Four-Way Handshaking</a:t>
            </a:r>
            <a:endParaRPr sz="2600"/>
          </a:p>
        </p:txBody>
      </p:sp>
      <p:sp>
        <p:nvSpPr>
          <p:cNvPr id="6851" name="Google Shape;6851;p150"/>
          <p:cNvSpPr txBox="1"/>
          <p:nvPr>
            <p:ph type="title"/>
          </p:nvPr>
        </p:nvSpPr>
        <p:spPr>
          <a:xfrm>
            <a:off x="109338" y="121636"/>
            <a:ext cx="7772400" cy="7270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TCP: closing a connection</a:t>
            </a:r>
            <a:endParaRPr/>
          </a:p>
        </p:txBody>
      </p:sp>
      <p:sp>
        <p:nvSpPr>
          <p:cNvPr id="6852" name="Google Shape;6852;p15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7" name="Shape 6857"/>
        <p:cNvGrpSpPr/>
        <p:nvPr/>
      </p:nvGrpSpPr>
      <p:grpSpPr>
        <a:xfrm>
          <a:off x="0" y="0"/>
          <a:ext cx="0" cy="0"/>
          <a:chOff x="0" y="0"/>
          <a:chExt cx="0" cy="0"/>
        </a:xfrm>
      </p:grpSpPr>
      <p:sp>
        <p:nvSpPr>
          <p:cNvPr id="6858" name="Google Shape;6858;p151"/>
          <p:cNvSpPr txBox="1"/>
          <p:nvPr>
            <p:ph type="title"/>
          </p:nvPr>
        </p:nvSpPr>
        <p:spPr>
          <a:xfrm>
            <a:off x="7986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Closing a TCP connection</a:t>
            </a:r>
            <a:endParaRPr b="0" sz="4400"/>
          </a:p>
        </p:txBody>
      </p:sp>
      <p:sp>
        <p:nvSpPr>
          <p:cNvPr id="6859" name="Google Shape;6859;p151"/>
          <p:cNvSpPr txBox="1"/>
          <p:nvPr/>
        </p:nvSpPr>
        <p:spPr>
          <a:xfrm>
            <a:off x="798690" y="1441263"/>
            <a:ext cx="9698318" cy="4186238"/>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client, server each close their side of connection</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send TCP segment with FIN bit = 1</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respond to received FIN with ACK</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on receiving FIN, ACK can be combined with own FIN</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simultaneous FIN exchanges can be handled</a:t>
            </a:r>
            <a:endParaRPr/>
          </a:p>
        </p:txBody>
      </p:sp>
      <p:sp>
        <p:nvSpPr>
          <p:cNvPr id="6860" name="Google Shape;6860;p15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ransition spd="med">
    <p:fade/>
  </p:transition>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5" name="Shape 6865"/>
        <p:cNvGrpSpPr/>
        <p:nvPr/>
      </p:nvGrpSpPr>
      <p:grpSpPr>
        <a:xfrm>
          <a:off x="0" y="0"/>
          <a:ext cx="0" cy="0"/>
          <a:chOff x="0" y="0"/>
          <a:chExt cx="0" cy="0"/>
        </a:xfrm>
      </p:grpSpPr>
      <p:cxnSp>
        <p:nvCxnSpPr>
          <p:cNvPr id="6866" name="Google Shape;6866;p152"/>
          <p:cNvCxnSpPr/>
          <p:nvPr/>
        </p:nvCxnSpPr>
        <p:spPr>
          <a:xfrm flipH="1">
            <a:off x="4995864" y="2081213"/>
            <a:ext cx="1587" cy="3948112"/>
          </a:xfrm>
          <a:prstGeom prst="straightConnector1">
            <a:avLst/>
          </a:prstGeom>
          <a:noFill/>
          <a:ln cap="flat" cmpd="sng" w="9525">
            <a:solidFill>
              <a:srgbClr val="777777"/>
            </a:solidFill>
            <a:prstDash val="solid"/>
            <a:round/>
            <a:headEnd len="med" w="med" type="none"/>
            <a:tailEnd len="med" w="med" type="none"/>
          </a:ln>
        </p:spPr>
      </p:cxnSp>
      <p:cxnSp>
        <p:nvCxnSpPr>
          <p:cNvPr id="6867" name="Google Shape;6867;p152"/>
          <p:cNvCxnSpPr/>
          <p:nvPr/>
        </p:nvCxnSpPr>
        <p:spPr>
          <a:xfrm flipH="1">
            <a:off x="7585075" y="2151064"/>
            <a:ext cx="1588" cy="3417887"/>
          </a:xfrm>
          <a:prstGeom prst="straightConnector1">
            <a:avLst/>
          </a:prstGeom>
          <a:noFill/>
          <a:ln cap="flat" cmpd="sng" w="9525">
            <a:solidFill>
              <a:srgbClr val="777777"/>
            </a:solidFill>
            <a:prstDash val="solid"/>
            <a:round/>
            <a:headEnd len="med" w="med" type="none"/>
            <a:tailEnd len="med" w="med" type="none"/>
          </a:ln>
        </p:spPr>
      </p:cxnSp>
      <p:grpSp>
        <p:nvGrpSpPr>
          <p:cNvPr id="6868" name="Google Shape;6868;p152"/>
          <p:cNvGrpSpPr/>
          <p:nvPr/>
        </p:nvGrpSpPr>
        <p:grpSpPr>
          <a:xfrm>
            <a:off x="2068514" y="2762251"/>
            <a:ext cx="1335087" cy="854075"/>
            <a:chOff x="343" y="1740"/>
            <a:chExt cx="841" cy="538"/>
          </a:xfrm>
        </p:grpSpPr>
        <p:sp>
          <p:nvSpPr>
            <p:cNvPr id="6869" name="Google Shape;6869;p152"/>
            <p:cNvSpPr txBox="1"/>
            <p:nvPr/>
          </p:nvSpPr>
          <p:spPr>
            <a:xfrm>
              <a:off x="343" y="2066"/>
              <a:ext cx="841"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FIN_WAIT_2</a:t>
              </a:r>
              <a:endParaRPr/>
            </a:p>
          </p:txBody>
        </p:sp>
        <p:cxnSp>
          <p:nvCxnSpPr>
            <p:cNvPr id="6870" name="Google Shape;6870;p152"/>
            <p:cNvCxnSpPr/>
            <p:nvPr/>
          </p:nvCxnSpPr>
          <p:spPr>
            <a:xfrm>
              <a:off x="634" y="1740"/>
              <a:ext cx="0" cy="356"/>
            </a:xfrm>
            <a:prstGeom prst="straightConnector1">
              <a:avLst/>
            </a:prstGeom>
            <a:noFill/>
            <a:ln cap="flat" cmpd="sng" w="9525">
              <a:solidFill>
                <a:schemeClr val="dk1"/>
              </a:solidFill>
              <a:prstDash val="solid"/>
              <a:round/>
              <a:headEnd len="med" w="med" type="none"/>
              <a:tailEnd len="med" w="med" type="triangle"/>
            </a:ln>
          </p:spPr>
        </p:cxnSp>
      </p:grpSp>
      <p:grpSp>
        <p:nvGrpSpPr>
          <p:cNvPr id="6871" name="Google Shape;6871;p152"/>
          <p:cNvGrpSpPr/>
          <p:nvPr/>
        </p:nvGrpSpPr>
        <p:grpSpPr>
          <a:xfrm>
            <a:off x="8699500" y="2101850"/>
            <a:ext cx="1390650" cy="960438"/>
            <a:chOff x="4520" y="1324"/>
            <a:chExt cx="876" cy="605"/>
          </a:xfrm>
        </p:grpSpPr>
        <p:sp>
          <p:nvSpPr>
            <p:cNvPr id="6872" name="Google Shape;6872;p152"/>
            <p:cNvSpPr txBox="1"/>
            <p:nvPr/>
          </p:nvSpPr>
          <p:spPr>
            <a:xfrm>
              <a:off x="4520" y="1717"/>
              <a:ext cx="87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CLOSE_WAIT</a:t>
              </a:r>
              <a:endParaRPr/>
            </a:p>
          </p:txBody>
        </p:sp>
        <p:cxnSp>
          <p:nvCxnSpPr>
            <p:cNvPr id="6873" name="Google Shape;6873;p152"/>
            <p:cNvCxnSpPr/>
            <p:nvPr/>
          </p:nvCxnSpPr>
          <p:spPr>
            <a:xfrm>
              <a:off x="5171" y="1324"/>
              <a:ext cx="0" cy="415"/>
            </a:xfrm>
            <a:prstGeom prst="straightConnector1">
              <a:avLst/>
            </a:prstGeom>
            <a:noFill/>
            <a:ln cap="flat" cmpd="sng" w="9525">
              <a:solidFill>
                <a:schemeClr val="dk1"/>
              </a:solidFill>
              <a:prstDash val="solid"/>
              <a:round/>
              <a:headEnd len="med" w="med" type="none"/>
              <a:tailEnd len="med" w="med" type="triangle"/>
            </a:ln>
          </p:spPr>
        </p:cxnSp>
      </p:grpSp>
      <p:grpSp>
        <p:nvGrpSpPr>
          <p:cNvPr id="6874" name="Google Shape;6874;p152"/>
          <p:cNvGrpSpPr/>
          <p:nvPr/>
        </p:nvGrpSpPr>
        <p:grpSpPr>
          <a:xfrm>
            <a:off x="5037138" y="3870325"/>
            <a:ext cx="2495550" cy="579438"/>
            <a:chOff x="2213" y="2438"/>
            <a:chExt cx="1572" cy="365"/>
          </a:xfrm>
        </p:grpSpPr>
        <p:cxnSp>
          <p:nvCxnSpPr>
            <p:cNvPr id="6875" name="Google Shape;6875;p152"/>
            <p:cNvCxnSpPr/>
            <p:nvPr/>
          </p:nvCxnSpPr>
          <p:spPr>
            <a:xfrm flipH="1">
              <a:off x="2213" y="2483"/>
              <a:ext cx="1572" cy="320"/>
            </a:xfrm>
            <a:prstGeom prst="straightConnector1">
              <a:avLst/>
            </a:prstGeom>
            <a:noFill/>
            <a:ln cap="flat" cmpd="sng" w="28575">
              <a:solidFill>
                <a:srgbClr val="000099"/>
              </a:solidFill>
              <a:prstDash val="solid"/>
              <a:round/>
              <a:headEnd len="med" w="med" type="none"/>
              <a:tailEnd len="med" w="med" type="triangle"/>
            </a:ln>
          </p:spPr>
        </p:cxnSp>
        <p:sp>
          <p:nvSpPr>
            <p:cNvPr id="6876" name="Google Shape;6876;p152"/>
            <p:cNvSpPr/>
            <p:nvPr/>
          </p:nvSpPr>
          <p:spPr>
            <a:xfrm>
              <a:off x="2669" y="2438"/>
              <a:ext cx="590" cy="36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877" name="Google Shape;6877;p152"/>
            <p:cNvSpPr txBox="1"/>
            <p:nvPr/>
          </p:nvSpPr>
          <p:spPr>
            <a:xfrm>
              <a:off x="2450" y="2562"/>
              <a:ext cx="1063" cy="2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FINbit=1, seq=y</a:t>
              </a:r>
              <a:endParaRPr/>
            </a:p>
          </p:txBody>
        </p:sp>
      </p:grpSp>
      <p:grpSp>
        <p:nvGrpSpPr>
          <p:cNvPr id="6878" name="Google Shape;6878;p152"/>
          <p:cNvGrpSpPr/>
          <p:nvPr/>
        </p:nvGrpSpPr>
        <p:grpSpPr>
          <a:xfrm>
            <a:off x="5067300" y="4578351"/>
            <a:ext cx="2508250" cy="582613"/>
            <a:chOff x="2232" y="2884"/>
            <a:chExt cx="1580" cy="367"/>
          </a:xfrm>
        </p:grpSpPr>
        <p:cxnSp>
          <p:nvCxnSpPr>
            <p:cNvPr id="6879" name="Google Shape;6879;p152"/>
            <p:cNvCxnSpPr/>
            <p:nvPr/>
          </p:nvCxnSpPr>
          <p:spPr>
            <a:xfrm>
              <a:off x="2232" y="2884"/>
              <a:ext cx="1580" cy="367"/>
            </a:xfrm>
            <a:prstGeom prst="straightConnector1">
              <a:avLst/>
            </a:prstGeom>
            <a:noFill/>
            <a:ln cap="flat" cmpd="sng" w="28575">
              <a:solidFill>
                <a:srgbClr val="000099"/>
              </a:solidFill>
              <a:prstDash val="solid"/>
              <a:round/>
              <a:headEnd len="med" w="med" type="none"/>
              <a:tailEnd len="med" w="med" type="triangle"/>
            </a:ln>
          </p:spPr>
        </p:cxnSp>
        <p:sp>
          <p:nvSpPr>
            <p:cNvPr id="6880" name="Google Shape;6880;p152"/>
            <p:cNvSpPr/>
            <p:nvPr/>
          </p:nvSpPr>
          <p:spPr>
            <a:xfrm>
              <a:off x="2553" y="2995"/>
              <a:ext cx="896" cy="20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881" name="Google Shape;6881;p152"/>
            <p:cNvSpPr txBox="1"/>
            <p:nvPr/>
          </p:nvSpPr>
          <p:spPr>
            <a:xfrm>
              <a:off x="2238" y="2958"/>
              <a:ext cx="1549" cy="2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ACKbit=1; ACKnum=y+1</a:t>
              </a:r>
              <a:endParaRPr/>
            </a:p>
          </p:txBody>
        </p:sp>
      </p:grpSp>
      <p:grpSp>
        <p:nvGrpSpPr>
          <p:cNvPr id="6882" name="Google Shape;6882;p152"/>
          <p:cNvGrpSpPr/>
          <p:nvPr/>
        </p:nvGrpSpPr>
        <p:grpSpPr>
          <a:xfrm>
            <a:off x="3614739" y="2901951"/>
            <a:ext cx="4930775" cy="854075"/>
            <a:chOff x="1317" y="1828"/>
            <a:chExt cx="3106" cy="538"/>
          </a:xfrm>
        </p:grpSpPr>
        <p:cxnSp>
          <p:nvCxnSpPr>
            <p:cNvPr id="6883" name="Google Shape;6883;p152"/>
            <p:cNvCxnSpPr/>
            <p:nvPr/>
          </p:nvCxnSpPr>
          <p:spPr>
            <a:xfrm flipH="1">
              <a:off x="2186" y="1828"/>
              <a:ext cx="1580" cy="367"/>
            </a:xfrm>
            <a:prstGeom prst="straightConnector1">
              <a:avLst/>
            </a:prstGeom>
            <a:noFill/>
            <a:ln cap="flat" cmpd="sng" w="28575">
              <a:solidFill>
                <a:srgbClr val="000099"/>
              </a:solidFill>
              <a:prstDash val="solid"/>
              <a:round/>
              <a:headEnd len="med" w="med" type="none"/>
              <a:tailEnd len="med" w="med" type="triangle"/>
            </a:ln>
          </p:spPr>
        </p:cxnSp>
        <p:sp>
          <p:nvSpPr>
            <p:cNvPr id="6884" name="Google Shape;6884;p152"/>
            <p:cNvSpPr/>
            <p:nvPr/>
          </p:nvSpPr>
          <p:spPr>
            <a:xfrm>
              <a:off x="2507" y="1912"/>
              <a:ext cx="896" cy="20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885" name="Google Shape;6885;p152"/>
            <p:cNvSpPr txBox="1"/>
            <p:nvPr/>
          </p:nvSpPr>
          <p:spPr>
            <a:xfrm>
              <a:off x="2200" y="1875"/>
              <a:ext cx="1534"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ACKbit=1; ACKnum=x+1</a:t>
              </a:r>
              <a:endParaRPr/>
            </a:p>
          </p:txBody>
        </p:sp>
        <p:sp>
          <p:nvSpPr>
            <p:cNvPr id="6886" name="Google Shape;6886;p152"/>
            <p:cNvSpPr txBox="1"/>
            <p:nvPr/>
          </p:nvSpPr>
          <p:spPr>
            <a:xfrm>
              <a:off x="1317" y="2066"/>
              <a:ext cx="867" cy="30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 wait for server</a:t>
              </a:r>
              <a:endParaRPr/>
            </a:p>
            <a:p>
              <a:pPr indent="0" lvl="0" marL="0" marR="0" rtl="0" algn="r">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close</a:t>
              </a:r>
              <a:endParaRPr/>
            </a:p>
          </p:txBody>
        </p:sp>
        <p:sp>
          <p:nvSpPr>
            <p:cNvPr id="6887" name="Google Shape;6887;p152"/>
            <p:cNvSpPr txBox="1"/>
            <p:nvPr/>
          </p:nvSpPr>
          <p:spPr>
            <a:xfrm>
              <a:off x="3822" y="1979"/>
              <a:ext cx="601" cy="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can still</a:t>
              </a:r>
              <a:endParaRPr/>
            </a:p>
            <a:p>
              <a:pPr indent="0" lvl="0" marL="0" marR="0" rtl="0" algn="l">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send data</a:t>
              </a:r>
              <a:endParaRPr/>
            </a:p>
          </p:txBody>
        </p:sp>
      </p:grpSp>
      <p:grpSp>
        <p:nvGrpSpPr>
          <p:cNvPr id="6888" name="Google Shape;6888;p152"/>
          <p:cNvGrpSpPr/>
          <p:nvPr/>
        </p:nvGrpSpPr>
        <p:grpSpPr>
          <a:xfrm>
            <a:off x="7583488" y="3032125"/>
            <a:ext cx="2501900" cy="1735138"/>
            <a:chOff x="3817" y="1910"/>
            <a:chExt cx="1576" cy="1093"/>
          </a:xfrm>
        </p:grpSpPr>
        <p:sp>
          <p:nvSpPr>
            <p:cNvPr id="6889" name="Google Shape;6889;p152"/>
            <p:cNvSpPr txBox="1"/>
            <p:nvPr/>
          </p:nvSpPr>
          <p:spPr>
            <a:xfrm>
              <a:off x="3817" y="2703"/>
              <a:ext cx="792" cy="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can no longer</a:t>
              </a:r>
              <a:endParaRPr/>
            </a:p>
            <a:p>
              <a:pPr indent="0" lvl="0" marL="0" marR="0" rtl="0" algn="l">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send data</a:t>
              </a:r>
              <a:endParaRPr/>
            </a:p>
          </p:txBody>
        </p:sp>
        <p:grpSp>
          <p:nvGrpSpPr>
            <p:cNvPr id="6890" name="Google Shape;6890;p152"/>
            <p:cNvGrpSpPr/>
            <p:nvPr/>
          </p:nvGrpSpPr>
          <p:grpSpPr>
            <a:xfrm>
              <a:off x="4691" y="1910"/>
              <a:ext cx="702" cy="723"/>
              <a:chOff x="4691" y="1910"/>
              <a:chExt cx="702" cy="723"/>
            </a:xfrm>
          </p:grpSpPr>
          <p:cxnSp>
            <p:nvCxnSpPr>
              <p:cNvPr id="6891" name="Google Shape;6891;p152"/>
              <p:cNvCxnSpPr/>
              <p:nvPr/>
            </p:nvCxnSpPr>
            <p:spPr>
              <a:xfrm>
                <a:off x="5167" y="1910"/>
                <a:ext cx="0" cy="562"/>
              </a:xfrm>
              <a:prstGeom prst="straightConnector1">
                <a:avLst/>
              </a:prstGeom>
              <a:noFill/>
              <a:ln cap="flat" cmpd="sng" w="9525">
                <a:solidFill>
                  <a:schemeClr val="dk1"/>
                </a:solidFill>
                <a:prstDash val="solid"/>
                <a:round/>
                <a:headEnd len="med" w="med" type="none"/>
                <a:tailEnd len="med" w="med" type="triangle"/>
              </a:ln>
            </p:spPr>
          </p:cxnSp>
          <p:sp>
            <p:nvSpPr>
              <p:cNvPr id="6892" name="Google Shape;6892;p152"/>
              <p:cNvSpPr txBox="1"/>
              <p:nvPr/>
            </p:nvSpPr>
            <p:spPr>
              <a:xfrm>
                <a:off x="4691" y="2421"/>
                <a:ext cx="70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LAST_ACK</a:t>
                </a:r>
                <a:endParaRPr/>
              </a:p>
            </p:txBody>
          </p:sp>
        </p:grpSp>
      </p:grpSp>
      <p:grpSp>
        <p:nvGrpSpPr>
          <p:cNvPr id="6893" name="Google Shape;6893;p152"/>
          <p:cNvGrpSpPr/>
          <p:nvPr/>
        </p:nvGrpSpPr>
        <p:grpSpPr>
          <a:xfrm>
            <a:off x="9166226" y="4213226"/>
            <a:ext cx="917575" cy="1223963"/>
            <a:chOff x="4814" y="2654"/>
            <a:chExt cx="578" cy="771"/>
          </a:xfrm>
        </p:grpSpPr>
        <p:sp>
          <p:nvSpPr>
            <p:cNvPr id="6894" name="Google Shape;6894;p152"/>
            <p:cNvSpPr txBox="1"/>
            <p:nvPr/>
          </p:nvSpPr>
          <p:spPr>
            <a:xfrm>
              <a:off x="4814" y="3213"/>
              <a:ext cx="57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CLOSED</a:t>
              </a:r>
              <a:endParaRPr/>
            </a:p>
          </p:txBody>
        </p:sp>
        <p:cxnSp>
          <p:nvCxnSpPr>
            <p:cNvPr id="6895" name="Google Shape;6895;p152"/>
            <p:cNvCxnSpPr/>
            <p:nvPr/>
          </p:nvCxnSpPr>
          <p:spPr>
            <a:xfrm>
              <a:off x="5173" y="2654"/>
              <a:ext cx="0" cy="576"/>
            </a:xfrm>
            <a:prstGeom prst="straightConnector1">
              <a:avLst/>
            </a:prstGeom>
            <a:noFill/>
            <a:ln cap="flat" cmpd="sng" w="9525">
              <a:solidFill>
                <a:schemeClr val="dk1"/>
              </a:solidFill>
              <a:prstDash val="solid"/>
              <a:round/>
              <a:headEnd len="med" w="med" type="none"/>
              <a:tailEnd len="med" w="med" type="triangle"/>
            </a:ln>
          </p:spPr>
        </p:cxnSp>
      </p:grpSp>
      <p:grpSp>
        <p:nvGrpSpPr>
          <p:cNvPr id="6896" name="Google Shape;6896;p152"/>
          <p:cNvGrpSpPr/>
          <p:nvPr/>
        </p:nvGrpSpPr>
        <p:grpSpPr>
          <a:xfrm>
            <a:off x="2109789" y="3605214"/>
            <a:ext cx="1400175" cy="1044575"/>
            <a:chOff x="369" y="2271"/>
            <a:chExt cx="882" cy="658"/>
          </a:xfrm>
        </p:grpSpPr>
        <p:sp>
          <p:nvSpPr>
            <p:cNvPr id="6897" name="Google Shape;6897;p152"/>
            <p:cNvSpPr txBox="1"/>
            <p:nvPr/>
          </p:nvSpPr>
          <p:spPr>
            <a:xfrm>
              <a:off x="369" y="2717"/>
              <a:ext cx="88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TIMED_WAIT</a:t>
              </a:r>
              <a:endParaRPr/>
            </a:p>
          </p:txBody>
        </p:sp>
        <p:cxnSp>
          <p:nvCxnSpPr>
            <p:cNvPr id="6898" name="Google Shape;6898;p152"/>
            <p:cNvCxnSpPr/>
            <p:nvPr/>
          </p:nvCxnSpPr>
          <p:spPr>
            <a:xfrm>
              <a:off x="638" y="2271"/>
              <a:ext cx="0" cy="483"/>
            </a:xfrm>
            <a:prstGeom prst="straightConnector1">
              <a:avLst/>
            </a:prstGeom>
            <a:noFill/>
            <a:ln cap="flat" cmpd="sng" w="9525">
              <a:solidFill>
                <a:schemeClr val="dk1"/>
              </a:solidFill>
              <a:prstDash val="solid"/>
              <a:round/>
              <a:headEnd len="med" w="med" type="none"/>
              <a:tailEnd len="med" w="med" type="triangle"/>
            </a:ln>
          </p:spPr>
        </p:cxnSp>
      </p:grpSp>
      <p:grpSp>
        <p:nvGrpSpPr>
          <p:cNvPr id="6899" name="Google Shape;6899;p152"/>
          <p:cNvGrpSpPr/>
          <p:nvPr/>
        </p:nvGrpSpPr>
        <p:grpSpPr>
          <a:xfrm>
            <a:off x="2198688" y="4486276"/>
            <a:ext cx="2743200" cy="1768475"/>
            <a:chOff x="425" y="2826"/>
            <a:chExt cx="1728" cy="1114"/>
          </a:xfrm>
        </p:grpSpPr>
        <p:cxnSp>
          <p:nvCxnSpPr>
            <p:cNvPr id="6900" name="Google Shape;6900;p152"/>
            <p:cNvCxnSpPr/>
            <p:nvPr/>
          </p:nvCxnSpPr>
          <p:spPr>
            <a:xfrm>
              <a:off x="1820" y="2833"/>
              <a:ext cx="7" cy="1059"/>
            </a:xfrm>
            <a:prstGeom prst="straightConnector1">
              <a:avLst/>
            </a:prstGeom>
            <a:noFill/>
            <a:ln cap="flat" cmpd="sng" w="9525">
              <a:solidFill>
                <a:schemeClr val="dk1"/>
              </a:solidFill>
              <a:prstDash val="solid"/>
              <a:round/>
              <a:headEnd len="med" w="med" type="none"/>
              <a:tailEnd len="med" w="med" type="none"/>
            </a:ln>
          </p:spPr>
        </p:cxnSp>
        <p:sp>
          <p:nvSpPr>
            <p:cNvPr id="6901" name="Google Shape;6901;p152"/>
            <p:cNvSpPr txBox="1"/>
            <p:nvPr/>
          </p:nvSpPr>
          <p:spPr>
            <a:xfrm>
              <a:off x="1216" y="3093"/>
              <a:ext cx="937" cy="42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 timed wait </a:t>
              </a:r>
              <a:endParaRPr/>
            </a:p>
            <a:p>
              <a:pPr indent="0" lvl="0" marL="0" marR="0" rtl="0" algn="r">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for 2*max </a:t>
              </a:r>
              <a:endParaRPr/>
            </a:p>
            <a:p>
              <a:pPr indent="0" lvl="0" marL="0" marR="0" rtl="0" algn="r">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segment lifetime</a:t>
              </a:r>
              <a:endParaRPr/>
            </a:p>
          </p:txBody>
        </p:sp>
        <p:cxnSp>
          <p:nvCxnSpPr>
            <p:cNvPr id="6902" name="Google Shape;6902;p152"/>
            <p:cNvCxnSpPr/>
            <p:nvPr/>
          </p:nvCxnSpPr>
          <p:spPr>
            <a:xfrm>
              <a:off x="1742" y="2826"/>
              <a:ext cx="142" cy="0"/>
            </a:xfrm>
            <a:prstGeom prst="straightConnector1">
              <a:avLst/>
            </a:prstGeom>
            <a:noFill/>
            <a:ln cap="flat" cmpd="sng" w="9525">
              <a:solidFill>
                <a:schemeClr val="dk1"/>
              </a:solidFill>
              <a:prstDash val="solid"/>
              <a:round/>
              <a:headEnd len="med" w="med" type="none"/>
              <a:tailEnd len="med" w="med" type="none"/>
            </a:ln>
          </p:spPr>
        </p:cxnSp>
        <p:cxnSp>
          <p:nvCxnSpPr>
            <p:cNvPr id="6903" name="Google Shape;6903;p152"/>
            <p:cNvCxnSpPr/>
            <p:nvPr/>
          </p:nvCxnSpPr>
          <p:spPr>
            <a:xfrm>
              <a:off x="1759" y="3889"/>
              <a:ext cx="142" cy="0"/>
            </a:xfrm>
            <a:prstGeom prst="straightConnector1">
              <a:avLst/>
            </a:prstGeom>
            <a:noFill/>
            <a:ln cap="flat" cmpd="sng" w="9525">
              <a:solidFill>
                <a:schemeClr val="dk1"/>
              </a:solidFill>
              <a:prstDash val="solid"/>
              <a:round/>
              <a:headEnd len="med" w="med" type="none"/>
              <a:tailEnd len="med" w="med" type="none"/>
            </a:ln>
          </p:spPr>
        </p:cxnSp>
        <p:sp>
          <p:nvSpPr>
            <p:cNvPr id="6904" name="Google Shape;6904;p152"/>
            <p:cNvSpPr txBox="1"/>
            <p:nvPr/>
          </p:nvSpPr>
          <p:spPr>
            <a:xfrm>
              <a:off x="425" y="3728"/>
              <a:ext cx="57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CLOSED</a:t>
              </a:r>
              <a:endParaRPr/>
            </a:p>
          </p:txBody>
        </p:sp>
        <p:cxnSp>
          <p:nvCxnSpPr>
            <p:cNvPr id="6905" name="Google Shape;6905;p152"/>
            <p:cNvCxnSpPr/>
            <p:nvPr/>
          </p:nvCxnSpPr>
          <p:spPr>
            <a:xfrm>
              <a:off x="631" y="2918"/>
              <a:ext cx="0" cy="839"/>
            </a:xfrm>
            <a:prstGeom prst="straightConnector1">
              <a:avLst/>
            </a:prstGeom>
            <a:noFill/>
            <a:ln cap="flat" cmpd="sng" w="9525">
              <a:solidFill>
                <a:schemeClr val="dk1"/>
              </a:solidFill>
              <a:prstDash val="solid"/>
              <a:round/>
              <a:headEnd len="med" w="med" type="none"/>
              <a:tailEnd len="med" w="med" type="triangle"/>
            </a:ln>
          </p:spPr>
        </p:cxnSp>
      </p:grpSp>
      <p:sp>
        <p:nvSpPr>
          <p:cNvPr id="6906" name="Google Shape;6906;p152"/>
          <p:cNvSpPr txBox="1"/>
          <p:nvPr>
            <p:ph type="title"/>
          </p:nvPr>
        </p:nvSpPr>
        <p:spPr>
          <a:xfrm>
            <a:off x="1222408" y="241301"/>
            <a:ext cx="8507380" cy="7270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TCP: closing a connection</a:t>
            </a:r>
            <a:endParaRPr/>
          </a:p>
        </p:txBody>
      </p:sp>
      <p:grpSp>
        <p:nvGrpSpPr>
          <p:cNvPr id="6907" name="Google Shape;6907;p152"/>
          <p:cNvGrpSpPr/>
          <p:nvPr/>
        </p:nvGrpSpPr>
        <p:grpSpPr>
          <a:xfrm>
            <a:off x="2074864" y="2046289"/>
            <a:ext cx="1335087" cy="700087"/>
            <a:chOff x="347" y="1289"/>
            <a:chExt cx="841" cy="441"/>
          </a:xfrm>
        </p:grpSpPr>
        <p:sp>
          <p:nvSpPr>
            <p:cNvPr id="6908" name="Google Shape;6908;p152"/>
            <p:cNvSpPr txBox="1"/>
            <p:nvPr/>
          </p:nvSpPr>
          <p:spPr>
            <a:xfrm>
              <a:off x="347" y="1518"/>
              <a:ext cx="841"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FIN_WAIT_1</a:t>
              </a:r>
              <a:endParaRPr/>
            </a:p>
          </p:txBody>
        </p:sp>
        <p:cxnSp>
          <p:nvCxnSpPr>
            <p:cNvPr id="6909" name="Google Shape;6909;p152"/>
            <p:cNvCxnSpPr/>
            <p:nvPr/>
          </p:nvCxnSpPr>
          <p:spPr>
            <a:xfrm>
              <a:off x="630" y="1289"/>
              <a:ext cx="0" cy="277"/>
            </a:xfrm>
            <a:prstGeom prst="straightConnector1">
              <a:avLst/>
            </a:prstGeom>
            <a:noFill/>
            <a:ln cap="flat" cmpd="sng" w="9525">
              <a:solidFill>
                <a:schemeClr val="dk1"/>
              </a:solidFill>
              <a:prstDash val="solid"/>
              <a:round/>
              <a:headEnd len="med" w="med" type="none"/>
              <a:tailEnd len="med" w="med" type="triangle"/>
            </a:ln>
          </p:spPr>
        </p:cxnSp>
      </p:grpSp>
      <p:grpSp>
        <p:nvGrpSpPr>
          <p:cNvPr id="6910" name="Google Shape;6910;p152"/>
          <p:cNvGrpSpPr/>
          <p:nvPr/>
        </p:nvGrpSpPr>
        <p:grpSpPr>
          <a:xfrm>
            <a:off x="2728913" y="2100263"/>
            <a:ext cx="4775200" cy="1014412"/>
            <a:chOff x="759" y="1323"/>
            <a:chExt cx="3008" cy="639"/>
          </a:xfrm>
        </p:grpSpPr>
        <p:cxnSp>
          <p:nvCxnSpPr>
            <p:cNvPr id="6911" name="Google Shape;6911;p152"/>
            <p:cNvCxnSpPr/>
            <p:nvPr/>
          </p:nvCxnSpPr>
          <p:spPr>
            <a:xfrm>
              <a:off x="2195" y="1442"/>
              <a:ext cx="1572" cy="320"/>
            </a:xfrm>
            <a:prstGeom prst="straightConnector1">
              <a:avLst/>
            </a:prstGeom>
            <a:noFill/>
            <a:ln cap="flat" cmpd="sng" w="28575">
              <a:solidFill>
                <a:srgbClr val="000099"/>
              </a:solidFill>
              <a:prstDash val="solid"/>
              <a:round/>
              <a:headEnd len="med" w="med" type="none"/>
              <a:tailEnd len="med" w="med" type="triangle"/>
            </a:ln>
          </p:spPr>
        </p:cxnSp>
        <p:sp>
          <p:nvSpPr>
            <p:cNvPr id="6912" name="Google Shape;6912;p152"/>
            <p:cNvSpPr/>
            <p:nvPr/>
          </p:nvSpPr>
          <p:spPr>
            <a:xfrm>
              <a:off x="2644" y="1369"/>
              <a:ext cx="590" cy="36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13" name="Google Shape;6913;p152"/>
            <p:cNvSpPr txBox="1"/>
            <p:nvPr/>
          </p:nvSpPr>
          <p:spPr>
            <a:xfrm>
              <a:off x="2430" y="1493"/>
              <a:ext cx="1052"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FINbit=1, seq=x</a:t>
              </a:r>
              <a:endParaRPr/>
            </a:p>
          </p:txBody>
        </p:sp>
        <p:sp>
          <p:nvSpPr>
            <p:cNvPr id="6914" name="Google Shape;6914;p152"/>
            <p:cNvSpPr txBox="1"/>
            <p:nvPr/>
          </p:nvSpPr>
          <p:spPr>
            <a:xfrm>
              <a:off x="1209" y="1541"/>
              <a:ext cx="913" cy="42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can no longer</a:t>
              </a:r>
              <a:endParaRPr/>
            </a:p>
            <a:p>
              <a:pPr indent="0" lvl="0" marL="0" marR="0" rtl="0" algn="r">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send but can</a:t>
              </a:r>
              <a:endParaRPr/>
            </a:p>
            <a:p>
              <a:pPr indent="0" lvl="0" marL="0" marR="0" rtl="0" algn="r">
                <a:lnSpc>
                  <a:spcPct val="9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 receive data</a:t>
              </a:r>
              <a:endParaRPr/>
            </a:p>
          </p:txBody>
        </p:sp>
        <p:sp>
          <p:nvSpPr>
            <p:cNvPr id="6915" name="Google Shape;6915;p152"/>
            <p:cNvSpPr txBox="1"/>
            <p:nvPr/>
          </p:nvSpPr>
          <p:spPr>
            <a:xfrm>
              <a:off x="759" y="1323"/>
              <a:ext cx="1456"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Courier New"/>
                  <a:ea typeface="Courier New"/>
                  <a:cs typeface="Courier New"/>
                  <a:sym typeface="Courier New"/>
                </a:rPr>
                <a:t>clientSocket.close()</a:t>
              </a:r>
              <a:endParaRPr/>
            </a:p>
          </p:txBody>
        </p:sp>
      </p:grpSp>
      <p:sp>
        <p:nvSpPr>
          <p:cNvPr id="6916" name="Google Shape;6916;p152"/>
          <p:cNvSpPr txBox="1"/>
          <p:nvPr/>
        </p:nvSpPr>
        <p:spPr>
          <a:xfrm>
            <a:off x="2022476" y="1368426"/>
            <a:ext cx="1160463" cy="58102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1600"/>
              <a:buFont typeface="Noto Sans Symbols"/>
              <a:buNone/>
            </a:pPr>
            <a:r>
              <a:rPr i="1" lang="en-US" sz="1600">
                <a:solidFill>
                  <a:srgbClr val="000099"/>
                </a:solidFill>
                <a:latin typeface="Tahoma"/>
                <a:ea typeface="Tahoma"/>
                <a:cs typeface="Tahoma"/>
                <a:sym typeface="Tahoma"/>
              </a:rPr>
              <a:t>client state</a:t>
            </a:r>
            <a:endParaRPr/>
          </a:p>
          <a:p>
            <a:pPr indent="0" lvl="0" marL="0" marR="0" rtl="0" algn="r">
              <a:lnSpc>
                <a:spcPct val="100000"/>
              </a:lnSpc>
              <a:spcBef>
                <a:spcPts val="0"/>
              </a:spcBef>
              <a:spcAft>
                <a:spcPts val="0"/>
              </a:spcAft>
              <a:buClr>
                <a:schemeClr val="dk1"/>
              </a:buClr>
              <a:buSzPts val="1600"/>
              <a:buFont typeface="Noto Sans Symbols"/>
              <a:buNone/>
            </a:pPr>
            <a:r>
              <a:t/>
            </a:r>
            <a:endParaRPr i="1" sz="1600">
              <a:solidFill>
                <a:srgbClr val="000099"/>
              </a:solidFill>
              <a:latin typeface="Tahoma"/>
              <a:ea typeface="Tahoma"/>
              <a:cs typeface="Tahoma"/>
              <a:sym typeface="Tahoma"/>
            </a:endParaRPr>
          </a:p>
        </p:txBody>
      </p:sp>
      <p:sp>
        <p:nvSpPr>
          <p:cNvPr id="6917" name="Google Shape;6917;p152"/>
          <p:cNvSpPr txBox="1"/>
          <p:nvPr/>
        </p:nvSpPr>
        <p:spPr>
          <a:xfrm>
            <a:off x="8877300" y="1385889"/>
            <a:ext cx="1238250" cy="58102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1600"/>
              <a:buFont typeface="Noto Sans Symbols"/>
              <a:buNone/>
            </a:pPr>
            <a:r>
              <a:rPr i="1" lang="en-US" sz="1600">
                <a:solidFill>
                  <a:srgbClr val="000099"/>
                </a:solidFill>
                <a:latin typeface="Tahoma"/>
                <a:ea typeface="Tahoma"/>
                <a:cs typeface="Tahoma"/>
                <a:sym typeface="Tahoma"/>
              </a:rPr>
              <a:t>server state</a:t>
            </a:r>
            <a:endParaRPr/>
          </a:p>
          <a:p>
            <a:pPr indent="0" lvl="0" marL="0" marR="0" rtl="0" algn="r">
              <a:lnSpc>
                <a:spcPct val="100000"/>
              </a:lnSpc>
              <a:spcBef>
                <a:spcPts val="0"/>
              </a:spcBef>
              <a:spcAft>
                <a:spcPts val="0"/>
              </a:spcAft>
              <a:buClr>
                <a:schemeClr val="dk1"/>
              </a:buClr>
              <a:buSzPts val="1600"/>
              <a:buFont typeface="Noto Sans Symbols"/>
              <a:buNone/>
            </a:pPr>
            <a:r>
              <a:t/>
            </a:r>
            <a:endParaRPr i="1" sz="1600">
              <a:solidFill>
                <a:srgbClr val="000099"/>
              </a:solidFill>
              <a:latin typeface="Tahoma"/>
              <a:ea typeface="Tahoma"/>
              <a:cs typeface="Tahoma"/>
              <a:sym typeface="Tahoma"/>
            </a:endParaRPr>
          </a:p>
        </p:txBody>
      </p:sp>
      <p:sp>
        <p:nvSpPr>
          <p:cNvPr id="6918" name="Google Shape;6918;p152"/>
          <p:cNvSpPr txBox="1"/>
          <p:nvPr/>
        </p:nvSpPr>
        <p:spPr>
          <a:xfrm>
            <a:off x="9293226" y="1768475"/>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ESTAB</a:t>
            </a:r>
            <a:endParaRPr/>
          </a:p>
        </p:txBody>
      </p:sp>
      <p:sp>
        <p:nvSpPr>
          <p:cNvPr id="6919" name="Google Shape;6919;p152"/>
          <p:cNvSpPr txBox="1"/>
          <p:nvPr/>
        </p:nvSpPr>
        <p:spPr>
          <a:xfrm>
            <a:off x="2057401" y="1751013"/>
            <a:ext cx="77152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ESTAB</a:t>
            </a:r>
            <a:endParaRPr/>
          </a:p>
        </p:txBody>
      </p:sp>
      <p:grpSp>
        <p:nvGrpSpPr>
          <p:cNvPr id="6920" name="Google Shape;6920;p152"/>
          <p:cNvGrpSpPr/>
          <p:nvPr/>
        </p:nvGrpSpPr>
        <p:grpSpPr>
          <a:xfrm>
            <a:off x="4664075" y="1443039"/>
            <a:ext cx="642938" cy="600075"/>
            <a:chOff x="-44" y="1473"/>
            <a:chExt cx="981" cy="1105"/>
          </a:xfrm>
        </p:grpSpPr>
        <p:pic>
          <p:nvPicPr>
            <p:cNvPr descr="desktop_computer_stylized_medium" id="6921" name="Google Shape;6921;p15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922" name="Google Shape;6922;p15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923" name="Google Shape;6923;p152"/>
          <p:cNvGrpSpPr/>
          <p:nvPr/>
        </p:nvGrpSpPr>
        <p:grpSpPr>
          <a:xfrm>
            <a:off x="7296150" y="1446213"/>
            <a:ext cx="336550" cy="512762"/>
            <a:chOff x="4140" y="429"/>
            <a:chExt cx="1425" cy="2396"/>
          </a:xfrm>
        </p:grpSpPr>
        <p:sp>
          <p:nvSpPr>
            <p:cNvPr id="6924" name="Google Shape;6924;p15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25" name="Google Shape;6925;p152"/>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26" name="Google Shape;6926;p15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27" name="Google Shape;6927;p15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28" name="Google Shape;6928;p152"/>
            <p:cNvSpPr/>
            <p:nvPr/>
          </p:nvSpPr>
          <p:spPr>
            <a:xfrm>
              <a:off x="4214" y="696"/>
              <a:ext cx="592"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nvGrpSpPr>
            <p:cNvPr id="6929" name="Google Shape;6929;p152"/>
            <p:cNvGrpSpPr/>
            <p:nvPr/>
          </p:nvGrpSpPr>
          <p:grpSpPr>
            <a:xfrm>
              <a:off x="4751" y="666"/>
              <a:ext cx="578" cy="148"/>
              <a:chOff x="617" y="2566"/>
              <a:chExt cx="721" cy="142"/>
            </a:xfrm>
          </p:grpSpPr>
          <p:sp>
            <p:nvSpPr>
              <p:cNvPr id="6930" name="Google Shape;6930;p152"/>
              <p:cNvSpPr/>
              <p:nvPr/>
            </p:nvSpPr>
            <p:spPr>
              <a:xfrm>
                <a:off x="617" y="2566"/>
                <a:ext cx="721" cy="142"/>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31" name="Google Shape;6931;p152"/>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sp>
          <p:nvSpPr>
            <p:cNvPr id="6932" name="Google Shape;6932;p152"/>
            <p:cNvSpPr/>
            <p:nvPr/>
          </p:nvSpPr>
          <p:spPr>
            <a:xfrm>
              <a:off x="4221" y="1022"/>
              <a:ext cx="598"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nvGrpSpPr>
            <p:cNvPr id="6933" name="Google Shape;6933;p152"/>
            <p:cNvGrpSpPr/>
            <p:nvPr/>
          </p:nvGrpSpPr>
          <p:grpSpPr>
            <a:xfrm>
              <a:off x="4745" y="993"/>
              <a:ext cx="585" cy="134"/>
              <a:chOff x="611" y="2567"/>
              <a:chExt cx="730" cy="139"/>
            </a:xfrm>
          </p:grpSpPr>
          <p:sp>
            <p:nvSpPr>
              <p:cNvPr id="6934" name="Google Shape;6934;p152"/>
              <p:cNvSpPr/>
              <p:nvPr/>
            </p:nvSpPr>
            <p:spPr>
              <a:xfrm>
                <a:off x="611" y="2567"/>
                <a:ext cx="730"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35" name="Google Shape;6935;p152"/>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sp>
          <p:nvSpPr>
            <p:cNvPr id="6936" name="Google Shape;6936;p152"/>
            <p:cNvSpPr/>
            <p:nvPr/>
          </p:nvSpPr>
          <p:spPr>
            <a:xfrm>
              <a:off x="4214" y="1356"/>
              <a:ext cx="598"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37" name="Google Shape;6937;p152"/>
            <p:cNvSpPr/>
            <p:nvPr/>
          </p:nvSpPr>
          <p:spPr>
            <a:xfrm>
              <a:off x="4227" y="1653"/>
              <a:ext cx="598" cy="52"/>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nvGrpSpPr>
            <p:cNvPr id="6938" name="Google Shape;6938;p152"/>
            <p:cNvGrpSpPr/>
            <p:nvPr/>
          </p:nvGrpSpPr>
          <p:grpSpPr>
            <a:xfrm>
              <a:off x="4738" y="1630"/>
              <a:ext cx="578" cy="149"/>
              <a:chOff x="618" y="2571"/>
              <a:chExt cx="720" cy="137"/>
            </a:xfrm>
          </p:grpSpPr>
          <p:sp>
            <p:nvSpPr>
              <p:cNvPr id="6939" name="Google Shape;6939;p152"/>
              <p:cNvSpPr/>
              <p:nvPr/>
            </p:nvSpPr>
            <p:spPr>
              <a:xfrm>
                <a:off x="618" y="2571"/>
                <a:ext cx="720"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40" name="Google Shape;6940;p152"/>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sp>
          <p:nvSpPr>
            <p:cNvPr id="6941" name="Google Shape;6941;p15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6942" name="Google Shape;6942;p152"/>
            <p:cNvGrpSpPr/>
            <p:nvPr/>
          </p:nvGrpSpPr>
          <p:grpSpPr>
            <a:xfrm>
              <a:off x="4738" y="1327"/>
              <a:ext cx="584" cy="141"/>
              <a:chOff x="613" y="2568"/>
              <a:chExt cx="728" cy="141"/>
            </a:xfrm>
          </p:grpSpPr>
          <p:sp>
            <p:nvSpPr>
              <p:cNvPr id="6943" name="Google Shape;6943;p152"/>
              <p:cNvSpPr/>
              <p:nvPr/>
            </p:nvSpPr>
            <p:spPr>
              <a:xfrm>
                <a:off x="613" y="2568"/>
                <a:ext cx="728"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44" name="Google Shape;6944;p152"/>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sp>
          <p:nvSpPr>
            <p:cNvPr id="6945" name="Google Shape;6945;p152"/>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46" name="Google Shape;6946;p15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47" name="Google Shape;6947;p15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48" name="Google Shape;6948;p152"/>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49" name="Google Shape;6949;p15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50" name="Google Shape;6950;p152"/>
            <p:cNvSpPr/>
            <p:nvPr/>
          </p:nvSpPr>
          <p:spPr>
            <a:xfrm>
              <a:off x="4140" y="2677"/>
              <a:ext cx="1196" cy="148"/>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51" name="Google Shape;6951;p152"/>
            <p:cNvSpPr/>
            <p:nvPr/>
          </p:nvSpPr>
          <p:spPr>
            <a:xfrm>
              <a:off x="4207" y="2714"/>
              <a:ext cx="1069" cy="82"/>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52" name="Google Shape;6952;p152"/>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53" name="Google Shape;6953;p152"/>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6954" name="Google Shape;6954;p152"/>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55" name="Google Shape;6955;p152"/>
            <p:cNvSpPr/>
            <p:nvPr/>
          </p:nvSpPr>
          <p:spPr>
            <a:xfrm>
              <a:off x="5061" y="1838"/>
              <a:ext cx="87" cy="757"/>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pSp>
      <p:sp>
        <p:nvSpPr>
          <p:cNvPr id="6956" name="Google Shape;6956;p15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10"/>
                                        </p:tgtEl>
                                        <p:attrNameLst>
                                          <p:attrName>style.visibility</p:attrName>
                                        </p:attrNameLst>
                                      </p:cBhvr>
                                      <p:to>
                                        <p:strVal val="visible"/>
                                      </p:to>
                                    </p:set>
                                    <p:animEffect filter="fade" transition="in">
                                      <p:cBhvr>
                                        <p:cTn dur="500"/>
                                        <p:tgtEl>
                                          <p:spTgt spid="6910"/>
                                        </p:tgtEl>
                                      </p:cBhvr>
                                    </p:animEffect>
                                  </p:childTnLst>
                                </p:cTn>
                              </p:par>
                              <p:par>
                                <p:cTn fill="hold" nodeType="withEffect" presetClass="entr" presetID="10" presetSubtype="0">
                                  <p:stCondLst>
                                    <p:cond delay="0"/>
                                  </p:stCondLst>
                                  <p:childTnLst>
                                    <p:set>
                                      <p:cBhvr>
                                        <p:cTn dur="1" fill="hold">
                                          <p:stCondLst>
                                            <p:cond delay="0"/>
                                          </p:stCondLst>
                                        </p:cTn>
                                        <p:tgtEl>
                                          <p:spTgt spid="6907"/>
                                        </p:tgtEl>
                                        <p:attrNameLst>
                                          <p:attrName>style.visibility</p:attrName>
                                        </p:attrNameLst>
                                      </p:cBhvr>
                                      <p:to>
                                        <p:strVal val="visible"/>
                                      </p:to>
                                    </p:set>
                                    <p:animEffect filter="fade" transition="in">
                                      <p:cBhvr>
                                        <p:cTn dur="500"/>
                                        <p:tgtEl>
                                          <p:spTgt spid="69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82"/>
                                        </p:tgtEl>
                                        <p:attrNameLst>
                                          <p:attrName>style.visibility</p:attrName>
                                        </p:attrNameLst>
                                      </p:cBhvr>
                                      <p:to>
                                        <p:strVal val="visible"/>
                                      </p:to>
                                    </p:set>
                                    <p:animEffect filter="fade" transition="in">
                                      <p:cBhvr>
                                        <p:cTn dur="500"/>
                                        <p:tgtEl>
                                          <p:spTgt spid="6882"/>
                                        </p:tgtEl>
                                      </p:cBhvr>
                                    </p:animEffect>
                                  </p:childTnLst>
                                </p:cTn>
                              </p:par>
                              <p:par>
                                <p:cTn fill="hold" nodeType="withEffect" presetClass="entr" presetID="10" presetSubtype="0">
                                  <p:stCondLst>
                                    <p:cond delay="0"/>
                                  </p:stCondLst>
                                  <p:childTnLst>
                                    <p:set>
                                      <p:cBhvr>
                                        <p:cTn dur="1" fill="hold">
                                          <p:stCondLst>
                                            <p:cond delay="0"/>
                                          </p:stCondLst>
                                        </p:cTn>
                                        <p:tgtEl>
                                          <p:spTgt spid="6871"/>
                                        </p:tgtEl>
                                        <p:attrNameLst>
                                          <p:attrName>style.visibility</p:attrName>
                                        </p:attrNameLst>
                                      </p:cBhvr>
                                      <p:to>
                                        <p:strVal val="visible"/>
                                      </p:to>
                                    </p:set>
                                    <p:animEffect filter="fade" transition="in">
                                      <p:cBhvr>
                                        <p:cTn dur="500"/>
                                        <p:tgtEl>
                                          <p:spTgt spid="6871"/>
                                        </p:tgtEl>
                                      </p:cBhvr>
                                    </p:animEffect>
                                  </p:childTnLst>
                                </p:cTn>
                              </p:par>
                              <p:par>
                                <p:cTn fill="hold" nodeType="withEffect" presetClass="entr" presetID="10" presetSubtype="0">
                                  <p:stCondLst>
                                    <p:cond delay="0"/>
                                  </p:stCondLst>
                                  <p:childTnLst>
                                    <p:set>
                                      <p:cBhvr>
                                        <p:cTn dur="1" fill="hold">
                                          <p:stCondLst>
                                            <p:cond delay="0"/>
                                          </p:stCondLst>
                                        </p:cTn>
                                        <p:tgtEl>
                                          <p:spTgt spid="6868"/>
                                        </p:tgtEl>
                                        <p:attrNameLst>
                                          <p:attrName>style.visibility</p:attrName>
                                        </p:attrNameLst>
                                      </p:cBhvr>
                                      <p:to>
                                        <p:strVal val="visible"/>
                                      </p:to>
                                    </p:set>
                                    <p:animEffect filter="fade" transition="in">
                                      <p:cBhvr>
                                        <p:cTn dur="500"/>
                                        <p:tgtEl>
                                          <p:spTgt spid="68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74"/>
                                        </p:tgtEl>
                                        <p:attrNameLst>
                                          <p:attrName>style.visibility</p:attrName>
                                        </p:attrNameLst>
                                      </p:cBhvr>
                                      <p:to>
                                        <p:strVal val="visible"/>
                                      </p:to>
                                    </p:set>
                                    <p:animEffect filter="fade" transition="in">
                                      <p:cBhvr>
                                        <p:cTn dur="500"/>
                                        <p:tgtEl>
                                          <p:spTgt spid="6874"/>
                                        </p:tgtEl>
                                      </p:cBhvr>
                                    </p:animEffect>
                                  </p:childTnLst>
                                </p:cTn>
                              </p:par>
                              <p:par>
                                <p:cTn fill="hold" nodeType="withEffect" presetClass="entr" presetID="10" presetSubtype="0">
                                  <p:stCondLst>
                                    <p:cond delay="0"/>
                                  </p:stCondLst>
                                  <p:childTnLst>
                                    <p:set>
                                      <p:cBhvr>
                                        <p:cTn dur="1" fill="hold">
                                          <p:stCondLst>
                                            <p:cond delay="0"/>
                                          </p:stCondLst>
                                        </p:cTn>
                                        <p:tgtEl>
                                          <p:spTgt spid="6896"/>
                                        </p:tgtEl>
                                        <p:attrNameLst>
                                          <p:attrName>style.visibility</p:attrName>
                                        </p:attrNameLst>
                                      </p:cBhvr>
                                      <p:to>
                                        <p:strVal val="visible"/>
                                      </p:to>
                                    </p:set>
                                    <p:animEffect filter="fade" transition="in">
                                      <p:cBhvr>
                                        <p:cTn dur="500"/>
                                        <p:tgtEl>
                                          <p:spTgt spid="6896"/>
                                        </p:tgtEl>
                                      </p:cBhvr>
                                    </p:animEffect>
                                  </p:childTnLst>
                                </p:cTn>
                              </p:par>
                              <p:par>
                                <p:cTn fill="hold" nodeType="withEffect" presetClass="entr" presetID="10" presetSubtype="0">
                                  <p:stCondLst>
                                    <p:cond delay="0"/>
                                  </p:stCondLst>
                                  <p:childTnLst>
                                    <p:set>
                                      <p:cBhvr>
                                        <p:cTn dur="1" fill="hold">
                                          <p:stCondLst>
                                            <p:cond delay="0"/>
                                          </p:stCondLst>
                                        </p:cTn>
                                        <p:tgtEl>
                                          <p:spTgt spid="6888"/>
                                        </p:tgtEl>
                                        <p:attrNameLst>
                                          <p:attrName>style.visibility</p:attrName>
                                        </p:attrNameLst>
                                      </p:cBhvr>
                                      <p:to>
                                        <p:strVal val="visible"/>
                                      </p:to>
                                    </p:set>
                                    <p:animEffect filter="fade" transition="in">
                                      <p:cBhvr>
                                        <p:cTn dur="500"/>
                                        <p:tgtEl>
                                          <p:spTgt spid="68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78"/>
                                        </p:tgtEl>
                                        <p:attrNameLst>
                                          <p:attrName>style.visibility</p:attrName>
                                        </p:attrNameLst>
                                      </p:cBhvr>
                                      <p:to>
                                        <p:strVal val="visible"/>
                                      </p:to>
                                    </p:set>
                                    <p:animEffect filter="fade" transition="in">
                                      <p:cBhvr>
                                        <p:cTn dur="500"/>
                                        <p:tgtEl>
                                          <p:spTgt spid="6878"/>
                                        </p:tgtEl>
                                      </p:cBhvr>
                                    </p:animEffect>
                                  </p:childTnLst>
                                </p:cTn>
                              </p:par>
                              <p:par>
                                <p:cTn fill="hold" nodeType="withEffect" presetClass="entr" presetID="10" presetSubtype="0">
                                  <p:stCondLst>
                                    <p:cond delay="0"/>
                                  </p:stCondLst>
                                  <p:childTnLst>
                                    <p:set>
                                      <p:cBhvr>
                                        <p:cTn dur="1" fill="hold">
                                          <p:stCondLst>
                                            <p:cond delay="0"/>
                                          </p:stCondLst>
                                        </p:cTn>
                                        <p:tgtEl>
                                          <p:spTgt spid="6899"/>
                                        </p:tgtEl>
                                        <p:attrNameLst>
                                          <p:attrName>style.visibility</p:attrName>
                                        </p:attrNameLst>
                                      </p:cBhvr>
                                      <p:to>
                                        <p:strVal val="visible"/>
                                      </p:to>
                                    </p:set>
                                    <p:animEffect filter="fade" transition="in">
                                      <p:cBhvr>
                                        <p:cTn dur="500"/>
                                        <p:tgtEl>
                                          <p:spTgt spid="6899"/>
                                        </p:tgtEl>
                                      </p:cBhvr>
                                    </p:animEffect>
                                  </p:childTnLst>
                                </p:cTn>
                              </p:par>
                              <p:par>
                                <p:cTn fill="hold" nodeType="withEffect" presetClass="entr" presetID="10" presetSubtype="0">
                                  <p:stCondLst>
                                    <p:cond delay="0"/>
                                  </p:stCondLst>
                                  <p:childTnLst>
                                    <p:set>
                                      <p:cBhvr>
                                        <p:cTn dur="1" fill="hold">
                                          <p:stCondLst>
                                            <p:cond delay="0"/>
                                          </p:stCondLst>
                                        </p:cTn>
                                        <p:tgtEl>
                                          <p:spTgt spid="6893"/>
                                        </p:tgtEl>
                                        <p:attrNameLst>
                                          <p:attrName>style.visibility</p:attrName>
                                        </p:attrNameLst>
                                      </p:cBhvr>
                                      <p:to>
                                        <p:strVal val="visible"/>
                                      </p:to>
                                    </p:set>
                                    <p:animEffect filter="fade" transition="in">
                                      <p:cBhvr>
                                        <p:cTn dur="500"/>
                                        <p:tgtEl>
                                          <p:spTgt spid="68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0" name="Shape 6960"/>
        <p:cNvGrpSpPr/>
        <p:nvPr/>
      </p:nvGrpSpPr>
      <p:grpSpPr>
        <a:xfrm>
          <a:off x="0" y="0"/>
          <a:ext cx="0" cy="0"/>
          <a:chOff x="0" y="0"/>
          <a:chExt cx="0" cy="0"/>
        </a:xfrm>
      </p:grpSpPr>
      <p:pic>
        <p:nvPicPr>
          <p:cNvPr descr="Screen Shot 2016-03-22 at 2.29.53 PM.png" id="6961" name="Google Shape;6961;p153"/>
          <p:cNvPicPr preferRelativeResize="0"/>
          <p:nvPr/>
        </p:nvPicPr>
        <p:blipFill rotWithShape="1">
          <a:blip r:embed="rId3">
            <a:alphaModFix/>
          </a:blip>
          <a:srcRect b="0" l="0" r="0" t="0"/>
          <a:stretch/>
        </p:blipFill>
        <p:spPr>
          <a:xfrm>
            <a:off x="3702051" y="1004888"/>
            <a:ext cx="4397375" cy="4933950"/>
          </a:xfrm>
          <a:prstGeom prst="rect">
            <a:avLst/>
          </a:prstGeom>
          <a:noFill/>
          <a:ln>
            <a:noFill/>
          </a:ln>
        </p:spPr>
      </p:pic>
      <p:sp>
        <p:nvSpPr>
          <p:cNvPr id="6962" name="Google Shape;6962;p153"/>
          <p:cNvSpPr txBox="1"/>
          <p:nvPr/>
        </p:nvSpPr>
        <p:spPr>
          <a:xfrm>
            <a:off x="8642351" y="1477963"/>
            <a:ext cx="1476375" cy="4801314"/>
          </a:xfrm>
          <a:prstGeom prst="rect">
            <a:avLst/>
          </a:prstGeom>
          <a:solidFill>
            <a:srgbClr val="D8D8D8"/>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dk1"/>
                </a:solidFill>
                <a:latin typeface="Arial"/>
                <a:ea typeface="Arial"/>
                <a:cs typeface="Arial"/>
                <a:sym typeface="Arial"/>
              </a:rPr>
              <a:t>TCP State:</a:t>
            </a:r>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p:txBody>
      </p:sp>
      <p:sp>
        <p:nvSpPr>
          <p:cNvPr id="6963" name="Google Shape;6963;p153"/>
          <p:cNvSpPr txBox="1"/>
          <p:nvPr/>
        </p:nvSpPr>
        <p:spPr>
          <a:xfrm>
            <a:off x="2063750" y="1479550"/>
            <a:ext cx="1474788" cy="4801314"/>
          </a:xfrm>
          <a:prstGeom prst="rect">
            <a:avLst/>
          </a:prstGeom>
          <a:solidFill>
            <a:srgbClr val="D8D8D8"/>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dk1"/>
                </a:solidFill>
                <a:latin typeface="Arial"/>
                <a:ea typeface="Arial"/>
                <a:cs typeface="Arial"/>
                <a:sym typeface="Arial"/>
              </a:rPr>
              <a:t>TCP State:</a:t>
            </a:r>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a:p>
            <a:pPr indent="0" lvl="0" marL="0" marR="0" rtl="0" algn="l">
              <a:spcBef>
                <a:spcPts val="0"/>
              </a:spcBef>
              <a:spcAft>
                <a:spcPts val="0"/>
              </a:spcAft>
              <a:buNone/>
            </a:pPr>
            <a:r>
              <a:t/>
            </a:r>
            <a:endParaRPr sz="1800" u="sng">
              <a:solidFill>
                <a:schemeClr val="dk1"/>
              </a:solidFill>
              <a:latin typeface="Arial"/>
              <a:ea typeface="Arial"/>
              <a:cs typeface="Arial"/>
              <a:sym typeface="Arial"/>
            </a:endParaRPr>
          </a:p>
        </p:txBody>
      </p:sp>
      <p:sp>
        <p:nvSpPr>
          <p:cNvPr id="6964" name="Google Shape;6964;p153"/>
          <p:cNvSpPr/>
          <p:nvPr/>
        </p:nvSpPr>
        <p:spPr>
          <a:xfrm rot="500203">
            <a:off x="5153025" y="2103439"/>
            <a:ext cx="2071688" cy="3206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FIN</a:t>
            </a:r>
            <a:r>
              <a:rPr baseline="-25000" lang="en-US" sz="1600">
                <a:solidFill>
                  <a:schemeClr val="dk1"/>
                </a:solidFill>
                <a:latin typeface="Courier New"/>
                <a:ea typeface="Courier New"/>
                <a:cs typeface="Courier New"/>
                <a:sym typeface="Courier New"/>
              </a:rPr>
              <a:t>bit</a:t>
            </a:r>
            <a:r>
              <a:rPr lang="en-US" sz="1600">
                <a:solidFill>
                  <a:schemeClr val="dk1"/>
                </a:solidFill>
                <a:latin typeface="Courier New"/>
                <a:ea typeface="Courier New"/>
                <a:cs typeface="Courier New"/>
                <a:sym typeface="Courier New"/>
              </a:rPr>
              <a:t>=1,</a:t>
            </a:r>
            <a:r>
              <a:rPr lang="en-US" sz="1600">
                <a:solidFill>
                  <a:srgbClr val="FF0000"/>
                </a:solidFill>
                <a:latin typeface="Courier New"/>
                <a:ea typeface="Courier New"/>
                <a:cs typeface="Courier New"/>
                <a:sym typeface="Courier New"/>
              </a:rPr>
              <a:t>seq</a:t>
            </a:r>
            <a:r>
              <a:rPr baseline="-25000" lang="en-US" sz="1600">
                <a:solidFill>
                  <a:srgbClr val="FF0000"/>
                </a:solidFill>
                <a:latin typeface="Courier New"/>
                <a:ea typeface="Courier New"/>
                <a:cs typeface="Courier New"/>
                <a:sym typeface="Courier New"/>
              </a:rPr>
              <a:t>c</a:t>
            </a:r>
            <a:r>
              <a:rPr lang="en-US" sz="1600">
                <a:solidFill>
                  <a:srgbClr val="FF0000"/>
                </a:solidFill>
                <a:latin typeface="Courier New"/>
                <a:ea typeface="Courier New"/>
                <a:cs typeface="Courier New"/>
                <a:sym typeface="Courier New"/>
              </a:rPr>
              <a:t>=3</a:t>
            </a:r>
            <a:r>
              <a:rPr lang="en-US" sz="1600">
                <a:solidFill>
                  <a:schemeClr val="dk1"/>
                </a:solidFill>
                <a:latin typeface="Courier New"/>
                <a:ea typeface="Courier New"/>
                <a:cs typeface="Courier New"/>
                <a:sym typeface="Courier New"/>
              </a:rPr>
              <a:t>  </a:t>
            </a:r>
            <a:endParaRPr/>
          </a:p>
        </p:txBody>
      </p:sp>
      <p:sp>
        <p:nvSpPr>
          <p:cNvPr id="6965" name="Google Shape;6965;p153"/>
          <p:cNvSpPr/>
          <p:nvPr/>
        </p:nvSpPr>
        <p:spPr>
          <a:xfrm rot="-469609">
            <a:off x="4959350" y="3476626"/>
            <a:ext cx="2611438" cy="3206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FIN</a:t>
            </a:r>
            <a:r>
              <a:rPr baseline="-25000" lang="en-US" sz="1600">
                <a:solidFill>
                  <a:schemeClr val="dk1"/>
                </a:solidFill>
                <a:latin typeface="Courier New"/>
                <a:ea typeface="Courier New"/>
                <a:cs typeface="Courier New"/>
                <a:sym typeface="Courier New"/>
              </a:rPr>
              <a:t>bit</a:t>
            </a:r>
            <a:r>
              <a:rPr lang="en-US" sz="1600">
                <a:solidFill>
                  <a:schemeClr val="dk1"/>
                </a:solidFill>
                <a:latin typeface="Courier New"/>
                <a:ea typeface="Courier New"/>
                <a:cs typeface="Courier New"/>
                <a:sym typeface="Courier New"/>
              </a:rPr>
              <a:t>=1,</a:t>
            </a:r>
            <a:r>
              <a:rPr lang="en-US" sz="1600">
                <a:solidFill>
                  <a:srgbClr val="3366FF"/>
                </a:solidFill>
                <a:latin typeface="Courier New"/>
                <a:ea typeface="Courier New"/>
                <a:cs typeface="Courier New"/>
                <a:sym typeface="Courier New"/>
              </a:rPr>
              <a:t>seq</a:t>
            </a:r>
            <a:r>
              <a:rPr baseline="-25000" lang="en-US" sz="1600">
                <a:solidFill>
                  <a:srgbClr val="3366FF"/>
                </a:solidFill>
                <a:latin typeface="Courier New"/>
                <a:ea typeface="Courier New"/>
                <a:cs typeface="Courier New"/>
                <a:sym typeface="Courier New"/>
              </a:rPr>
              <a:t>s</a:t>
            </a:r>
            <a:r>
              <a:rPr lang="en-US" sz="1600">
                <a:solidFill>
                  <a:srgbClr val="3366FF"/>
                </a:solidFill>
                <a:latin typeface="Courier New"/>
                <a:ea typeface="Courier New"/>
                <a:cs typeface="Courier New"/>
                <a:sym typeface="Courier New"/>
              </a:rPr>
              <a:t>=9  </a:t>
            </a:r>
            <a:endParaRPr/>
          </a:p>
        </p:txBody>
      </p:sp>
      <p:sp>
        <p:nvSpPr>
          <p:cNvPr id="6966" name="Google Shape;6966;p153"/>
          <p:cNvSpPr txBox="1"/>
          <p:nvPr/>
        </p:nvSpPr>
        <p:spPr>
          <a:xfrm>
            <a:off x="2089150" y="2030414"/>
            <a:ext cx="1416050"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FIN_WAIT_1</a:t>
            </a:r>
            <a:endParaRPr/>
          </a:p>
        </p:txBody>
      </p:sp>
      <p:sp>
        <p:nvSpPr>
          <p:cNvPr id="6967" name="Google Shape;6967;p153"/>
          <p:cNvSpPr txBox="1"/>
          <p:nvPr/>
        </p:nvSpPr>
        <p:spPr>
          <a:xfrm>
            <a:off x="8859839" y="3427413"/>
            <a:ext cx="129554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LAST_ACK </a:t>
            </a:r>
            <a:endParaRPr/>
          </a:p>
        </p:txBody>
      </p:sp>
      <p:sp>
        <p:nvSpPr>
          <p:cNvPr id="6968" name="Google Shape;6968;p153"/>
          <p:cNvSpPr txBox="1"/>
          <p:nvPr/>
        </p:nvSpPr>
        <p:spPr>
          <a:xfrm>
            <a:off x="4064001" y="979489"/>
            <a:ext cx="1108075"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b="1" lang="en-US" sz="1400">
                <a:solidFill>
                  <a:srgbClr val="FF0000"/>
                </a:solidFill>
                <a:latin typeface="Arial"/>
                <a:ea typeface="Arial"/>
                <a:cs typeface="Arial"/>
                <a:sym typeface="Arial"/>
              </a:rPr>
              <a:t>Client host</a:t>
            </a:r>
            <a:endParaRPr/>
          </a:p>
        </p:txBody>
      </p:sp>
      <p:sp>
        <p:nvSpPr>
          <p:cNvPr id="6969" name="Google Shape;6969;p153"/>
          <p:cNvSpPr txBox="1"/>
          <p:nvPr/>
        </p:nvSpPr>
        <p:spPr>
          <a:xfrm>
            <a:off x="7021514" y="990601"/>
            <a:ext cx="1169987"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366FF"/>
              </a:buClr>
              <a:buSzPts val="1400"/>
              <a:buFont typeface="Noto Sans Symbols"/>
              <a:buNone/>
            </a:pPr>
            <a:r>
              <a:rPr b="1" lang="en-US" sz="1400">
                <a:solidFill>
                  <a:srgbClr val="3366FF"/>
                </a:solidFill>
                <a:latin typeface="Arial"/>
                <a:ea typeface="Arial"/>
                <a:cs typeface="Arial"/>
                <a:sym typeface="Arial"/>
              </a:rPr>
              <a:t>Server host</a:t>
            </a:r>
            <a:endParaRPr/>
          </a:p>
        </p:txBody>
      </p:sp>
      <p:sp>
        <p:nvSpPr>
          <p:cNvPr id="6970" name="Google Shape;6970;p153"/>
          <p:cNvSpPr/>
          <p:nvPr/>
        </p:nvSpPr>
        <p:spPr>
          <a:xfrm rot="-488338">
            <a:off x="5873751" y="2736850"/>
            <a:ext cx="396875" cy="15398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6971" name="Google Shape;6971;p153"/>
          <p:cNvSpPr/>
          <p:nvPr/>
        </p:nvSpPr>
        <p:spPr>
          <a:xfrm rot="-482982">
            <a:off x="4895850" y="2619376"/>
            <a:ext cx="1608138" cy="3270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ACK</a:t>
            </a:r>
            <a:r>
              <a:rPr baseline="-25000" lang="en-US" sz="1600">
                <a:solidFill>
                  <a:schemeClr val="dk1"/>
                </a:solidFill>
                <a:latin typeface="Courier New"/>
                <a:ea typeface="Courier New"/>
                <a:cs typeface="Courier New"/>
                <a:sym typeface="Courier New"/>
              </a:rPr>
              <a:t>bit</a:t>
            </a:r>
            <a:r>
              <a:rPr lang="en-US" sz="1600">
                <a:solidFill>
                  <a:schemeClr val="dk1"/>
                </a:solidFill>
                <a:latin typeface="Courier New"/>
                <a:ea typeface="Courier New"/>
                <a:cs typeface="Courier New"/>
                <a:sym typeface="Courier New"/>
              </a:rPr>
              <a:t>=1,</a:t>
            </a:r>
            <a:r>
              <a:rPr lang="en-US" sz="1600">
                <a:solidFill>
                  <a:srgbClr val="FF0000"/>
                </a:solidFill>
                <a:latin typeface="Courier New"/>
                <a:ea typeface="Courier New"/>
                <a:cs typeface="Courier New"/>
                <a:sym typeface="Courier New"/>
              </a:rPr>
              <a:t>ACK</a:t>
            </a:r>
            <a:r>
              <a:rPr baseline="-25000" lang="en-US" sz="1600">
                <a:solidFill>
                  <a:srgbClr val="FF0000"/>
                </a:solidFill>
                <a:latin typeface="Courier New"/>
                <a:ea typeface="Courier New"/>
                <a:cs typeface="Courier New"/>
                <a:sym typeface="Courier New"/>
              </a:rPr>
              <a:t>c</a:t>
            </a:r>
            <a:r>
              <a:rPr lang="en-US" sz="1600">
                <a:solidFill>
                  <a:srgbClr val="FF0000"/>
                </a:solidFill>
                <a:latin typeface="Courier New"/>
                <a:ea typeface="Courier New"/>
                <a:cs typeface="Courier New"/>
                <a:sym typeface="Courier New"/>
              </a:rPr>
              <a:t>=4</a:t>
            </a:r>
            <a:r>
              <a:rPr lang="en-US" sz="1600">
                <a:solidFill>
                  <a:schemeClr val="dk1"/>
                </a:solidFill>
                <a:latin typeface="Courier New"/>
                <a:ea typeface="Courier New"/>
                <a:cs typeface="Courier New"/>
                <a:sym typeface="Courier New"/>
              </a:rPr>
              <a:t>  </a:t>
            </a:r>
            <a:endParaRPr/>
          </a:p>
        </p:txBody>
      </p:sp>
      <p:sp>
        <p:nvSpPr>
          <p:cNvPr id="6972" name="Google Shape;6972;p153"/>
          <p:cNvSpPr/>
          <p:nvPr/>
        </p:nvSpPr>
        <p:spPr>
          <a:xfrm rot="500203">
            <a:off x="6000751" y="4024314"/>
            <a:ext cx="1522413" cy="3206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ACK</a:t>
            </a:r>
            <a:r>
              <a:rPr baseline="-25000" lang="en-US" sz="1600">
                <a:solidFill>
                  <a:schemeClr val="dk1"/>
                </a:solidFill>
                <a:latin typeface="Courier New"/>
                <a:ea typeface="Courier New"/>
                <a:cs typeface="Courier New"/>
                <a:sym typeface="Courier New"/>
              </a:rPr>
              <a:t>bit</a:t>
            </a:r>
            <a:r>
              <a:rPr lang="en-US" sz="1600">
                <a:solidFill>
                  <a:schemeClr val="dk1"/>
                </a:solidFill>
                <a:latin typeface="Courier New"/>
                <a:ea typeface="Courier New"/>
                <a:cs typeface="Courier New"/>
                <a:sym typeface="Courier New"/>
              </a:rPr>
              <a:t>=1,</a:t>
            </a:r>
            <a:r>
              <a:rPr lang="en-US" sz="1600">
                <a:solidFill>
                  <a:srgbClr val="3366FF"/>
                </a:solidFill>
                <a:latin typeface="Courier New"/>
                <a:ea typeface="Courier New"/>
                <a:cs typeface="Courier New"/>
                <a:sym typeface="Courier New"/>
              </a:rPr>
              <a:t>ACK</a:t>
            </a:r>
            <a:r>
              <a:rPr baseline="-25000" lang="en-US" sz="1600">
                <a:solidFill>
                  <a:srgbClr val="3366FF"/>
                </a:solidFill>
                <a:latin typeface="Courier New"/>
                <a:ea typeface="Courier New"/>
                <a:cs typeface="Courier New"/>
                <a:sym typeface="Courier New"/>
              </a:rPr>
              <a:t>s</a:t>
            </a:r>
            <a:r>
              <a:rPr lang="en-US" sz="1600">
                <a:solidFill>
                  <a:srgbClr val="3366FF"/>
                </a:solidFill>
                <a:latin typeface="Courier New"/>
                <a:ea typeface="Courier New"/>
                <a:cs typeface="Courier New"/>
                <a:sym typeface="Courier New"/>
              </a:rPr>
              <a:t>=10  </a:t>
            </a:r>
            <a:endParaRPr/>
          </a:p>
        </p:txBody>
      </p:sp>
      <p:sp>
        <p:nvSpPr>
          <p:cNvPr id="6973" name="Google Shape;6973;p153"/>
          <p:cNvSpPr txBox="1"/>
          <p:nvPr/>
        </p:nvSpPr>
        <p:spPr>
          <a:xfrm>
            <a:off x="2087563" y="2889250"/>
            <a:ext cx="1416050" cy="3381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FIN_WAIT_2</a:t>
            </a:r>
            <a:endParaRPr/>
          </a:p>
        </p:txBody>
      </p:sp>
      <p:sp>
        <p:nvSpPr>
          <p:cNvPr id="6974" name="Google Shape;6974;p153"/>
          <p:cNvSpPr txBox="1"/>
          <p:nvPr/>
        </p:nvSpPr>
        <p:spPr>
          <a:xfrm>
            <a:off x="8694738" y="2478089"/>
            <a:ext cx="1416050"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CLOSE_WAIT</a:t>
            </a:r>
            <a:endParaRPr/>
          </a:p>
        </p:txBody>
      </p:sp>
      <p:sp>
        <p:nvSpPr>
          <p:cNvPr id="6975" name="Google Shape;6975;p153"/>
          <p:cNvSpPr txBox="1"/>
          <p:nvPr/>
        </p:nvSpPr>
        <p:spPr>
          <a:xfrm>
            <a:off x="2122488" y="3838575"/>
            <a:ext cx="1293812" cy="3381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TIME_WAIT</a:t>
            </a:r>
            <a:endParaRPr/>
          </a:p>
        </p:txBody>
      </p:sp>
      <p:sp>
        <p:nvSpPr>
          <p:cNvPr id="6976" name="Google Shape;6976;p153"/>
          <p:cNvSpPr txBox="1"/>
          <p:nvPr/>
        </p:nvSpPr>
        <p:spPr>
          <a:xfrm>
            <a:off x="1524000" y="6011864"/>
            <a:ext cx="9144000" cy="414337"/>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85000"/>
              </a:lnSpc>
              <a:spcBef>
                <a:spcPts val="0"/>
              </a:spcBef>
              <a:spcAft>
                <a:spcPts val="0"/>
              </a:spcAft>
              <a:buClr>
                <a:srgbClr val="000099"/>
              </a:buClr>
              <a:buSzPts val="1170"/>
              <a:buFont typeface="Noto Sans Symbols"/>
              <a:buNone/>
            </a:pPr>
            <a:r>
              <a:rPr lang="en-US" sz="1800">
                <a:solidFill>
                  <a:schemeClr val="dk1"/>
                </a:solidFill>
                <a:latin typeface="Arial"/>
                <a:ea typeface="Arial"/>
                <a:cs typeface="Arial"/>
                <a:sym typeface="Arial"/>
              </a:rPr>
              <a:t>Closing a TCP connection</a:t>
            </a:r>
            <a:endParaRPr/>
          </a:p>
          <a:p>
            <a:pPr indent="-342900" lvl="0" marL="342900" marR="0" rtl="0" algn="ctr">
              <a:lnSpc>
                <a:spcPct val="85000"/>
              </a:lnSpc>
              <a:spcBef>
                <a:spcPts val="360"/>
              </a:spcBef>
              <a:spcAft>
                <a:spcPts val="0"/>
              </a:spcAft>
              <a:buClr>
                <a:srgbClr val="000099"/>
              </a:buClr>
              <a:buSzPts val="1170"/>
              <a:buFont typeface="Noto Sans Symbols"/>
              <a:buNone/>
            </a:pPr>
            <a:r>
              <a:rPr lang="en-US" sz="1800">
                <a:solidFill>
                  <a:schemeClr val="dk1"/>
                </a:solidFill>
                <a:latin typeface="Arial"/>
                <a:ea typeface="Arial"/>
                <a:cs typeface="Arial"/>
                <a:sym typeface="Arial"/>
              </a:rPr>
              <a:t> </a:t>
            </a:r>
            <a:endParaRPr/>
          </a:p>
          <a:p>
            <a:pPr indent="-342900" lvl="0" marL="342900" marR="0" rtl="0" algn="ctr">
              <a:lnSpc>
                <a:spcPct val="85000"/>
              </a:lnSpc>
              <a:spcBef>
                <a:spcPts val="360"/>
              </a:spcBef>
              <a:spcAft>
                <a:spcPts val="0"/>
              </a:spcAft>
              <a:buClr>
                <a:srgbClr val="000099"/>
              </a:buClr>
              <a:buSzPts val="1170"/>
              <a:buFont typeface="Noto Sans Symbols"/>
              <a:buNone/>
            </a:pPr>
            <a:r>
              <a:t/>
            </a:r>
            <a:endParaRPr sz="1800">
              <a:solidFill>
                <a:schemeClr val="dk1"/>
              </a:solidFill>
              <a:latin typeface="Arial"/>
              <a:ea typeface="Arial"/>
              <a:cs typeface="Arial"/>
              <a:sym typeface="Arial"/>
            </a:endParaRPr>
          </a:p>
          <a:p>
            <a:pPr indent="-342900" lvl="0" marL="342900" marR="0" rtl="0" algn="ctr">
              <a:lnSpc>
                <a:spcPct val="85000"/>
              </a:lnSpc>
              <a:spcBef>
                <a:spcPts val="360"/>
              </a:spcBef>
              <a:spcAft>
                <a:spcPts val="0"/>
              </a:spcAft>
              <a:buClr>
                <a:srgbClr val="000099"/>
              </a:buClr>
              <a:buSzPts val="1170"/>
              <a:buFont typeface="Noto Sans Symbols"/>
              <a:buNone/>
            </a:pPr>
            <a:r>
              <a:t/>
            </a:r>
            <a:endParaRPr sz="1800">
              <a:solidFill>
                <a:schemeClr val="dk1"/>
              </a:solidFill>
              <a:latin typeface="Arial"/>
              <a:ea typeface="Arial"/>
              <a:cs typeface="Arial"/>
              <a:sym typeface="Arial"/>
            </a:endParaRPr>
          </a:p>
        </p:txBody>
      </p:sp>
      <p:sp>
        <p:nvSpPr>
          <p:cNvPr id="6977" name="Google Shape;6977;p153"/>
          <p:cNvSpPr txBox="1"/>
          <p:nvPr/>
        </p:nvSpPr>
        <p:spPr>
          <a:xfrm>
            <a:off x="3286125" y="2314575"/>
            <a:ext cx="1449388" cy="668338"/>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FF0000"/>
              </a:buClr>
              <a:buSzPts val="1400"/>
              <a:buFont typeface="Noto Sans Symbols"/>
              <a:buNone/>
            </a:pPr>
            <a:r>
              <a:rPr i="1" lang="en-US" sz="1400">
                <a:solidFill>
                  <a:srgbClr val="FF0000"/>
                </a:solidFill>
                <a:latin typeface="Tahoma"/>
                <a:ea typeface="Tahoma"/>
                <a:cs typeface="Tahoma"/>
                <a:sym typeface="Tahoma"/>
              </a:rPr>
              <a:t>can no longer</a:t>
            </a:r>
            <a:endParaRPr/>
          </a:p>
          <a:p>
            <a:pPr indent="0" lvl="0" marL="0" marR="0" rtl="0" algn="r">
              <a:lnSpc>
                <a:spcPct val="90000"/>
              </a:lnSpc>
              <a:spcBef>
                <a:spcPts val="0"/>
              </a:spcBef>
              <a:spcAft>
                <a:spcPts val="0"/>
              </a:spcAft>
              <a:buClr>
                <a:srgbClr val="FF0000"/>
              </a:buClr>
              <a:buSzPts val="1400"/>
              <a:buFont typeface="Noto Sans Symbols"/>
              <a:buNone/>
            </a:pPr>
            <a:r>
              <a:rPr i="1" lang="en-US" sz="1400">
                <a:solidFill>
                  <a:srgbClr val="FF0000"/>
                </a:solidFill>
                <a:latin typeface="Tahoma"/>
                <a:ea typeface="Tahoma"/>
                <a:cs typeface="Tahoma"/>
                <a:sym typeface="Tahoma"/>
              </a:rPr>
              <a:t>send but can</a:t>
            </a:r>
            <a:endParaRPr/>
          </a:p>
          <a:p>
            <a:pPr indent="0" lvl="0" marL="0" marR="0" rtl="0" algn="r">
              <a:lnSpc>
                <a:spcPct val="90000"/>
              </a:lnSpc>
              <a:spcBef>
                <a:spcPts val="0"/>
              </a:spcBef>
              <a:spcAft>
                <a:spcPts val="0"/>
              </a:spcAft>
              <a:buClr>
                <a:srgbClr val="FF0000"/>
              </a:buClr>
              <a:buSzPts val="1400"/>
              <a:buFont typeface="Noto Sans Symbols"/>
              <a:buNone/>
            </a:pPr>
            <a:r>
              <a:rPr i="1" lang="en-US" sz="1400">
                <a:solidFill>
                  <a:srgbClr val="FF0000"/>
                </a:solidFill>
                <a:latin typeface="Tahoma"/>
                <a:ea typeface="Tahoma"/>
                <a:cs typeface="Tahoma"/>
                <a:sym typeface="Tahoma"/>
              </a:rPr>
              <a:t> receive data</a:t>
            </a:r>
            <a:endParaRPr/>
          </a:p>
        </p:txBody>
      </p:sp>
      <p:sp>
        <p:nvSpPr>
          <p:cNvPr id="6978" name="Google Shape;6978;p153"/>
          <p:cNvSpPr txBox="1"/>
          <p:nvPr/>
        </p:nvSpPr>
        <p:spPr>
          <a:xfrm>
            <a:off x="3400426" y="3019425"/>
            <a:ext cx="1376363" cy="47625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FF0000"/>
              </a:buClr>
              <a:buSzPts val="1400"/>
              <a:buFont typeface="Noto Sans Symbols"/>
              <a:buNone/>
            </a:pPr>
            <a:r>
              <a:rPr i="1" lang="en-US" sz="1400">
                <a:solidFill>
                  <a:srgbClr val="FF0000"/>
                </a:solidFill>
                <a:latin typeface="Tahoma"/>
                <a:ea typeface="Tahoma"/>
                <a:cs typeface="Tahoma"/>
                <a:sym typeface="Tahoma"/>
              </a:rPr>
              <a:t> wait for server</a:t>
            </a:r>
            <a:endParaRPr/>
          </a:p>
          <a:p>
            <a:pPr indent="0" lvl="0" marL="0" marR="0" rtl="0" algn="r">
              <a:lnSpc>
                <a:spcPct val="90000"/>
              </a:lnSpc>
              <a:spcBef>
                <a:spcPts val="0"/>
              </a:spcBef>
              <a:spcAft>
                <a:spcPts val="0"/>
              </a:spcAft>
              <a:buClr>
                <a:srgbClr val="FF0000"/>
              </a:buClr>
              <a:buSzPts val="1400"/>
              <a:buFont typeface="Noto Sans Symbols"/>
              <a:buNone/>
            </a:pPr>
            <a:r>
              <a:rPr i="1" lang="en-US" sz="1400">
                <a:solidFill>
                  <a:srgbClr val="FF0000"/>
                </a:solidFill>
                <a:latin typeface="Tahoma"/>
                <a:ea typeface="Tahoma"/>
                <a:cs typeface="Tahoma"/>
                <a:sym typeface="Tahoma"/>
              </a:rPr>
              <a:t>close</a:t>
            </a:r>
            <a:endParaRPr/>
          </a:p>
        </p:txBody>
      </p:sp>
      <p:sp>
        <p:nvSpPr>
          <p:cNvPr id="6979" name="Google Shape;6979;p153"/>
          <p:cNvSpPr txBox="1"/>
          <p:nvPr/>
        </p:nvSpPr>
        <p:spPr>
          <a:xfrm>
            <a:off x="7591425" y="2709863"/>
            <a:ext cx="954088"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70C0"/>
              </a:buClr>
              <a:buSzPts val="1400"/>
              <a:buFont typeface="Noto Sans Symbols"/>
              <a:buNone/>
            </a:pPr>
            <a:r>
              <a:rPr i="1" lang="en-US" sz="1400">
                <a:solidFill>
                  <a:srgbClr val="0070C0"/>
                </a:solidFill>
                <a:latin typeface="Tahoma"/>
                <a:ea typeface="Tahoma"/>
                <a:cs typeface="Tahoma"/>
                <a:sym typeface="Tahoma"/>
              </a:rPr>
              <a:t>can still</a:t>
            </a:r>
            <a:endParaRPr/>
          </a:p>
          <a:p>
            <a:pPr indent="0" lvl="0" marL="0" marR="0" rtl="0" algn="l">
              <a:lnSpc>
                <a:spcPct val="90000"/>
              </a:lnSpc>
              <a:spcBef>
                <a:spcPts val="0"/>
              </a:spcBef>
              <a:spcAft>
                <a:spcPts val="0"/>
              </a:spcAft>
              <a:buClr>
                <a:srgbClr val="0070C0"/>
              </a:buClr>
              <a:buSzPts val="1400"/>
              <a:buFont typeface="Noto Sans Symbols"/>
              <a:buNone/>
            </a:pPr>
            <a:r>
              <a:rPr i="1" lang="en-US" sz="1400">
                <a:solidFill>
                  <a:srgbClr val="0070C0"/>
                </a:solidFill>
                <a:latin typeface="Tahoma"/>
                <a:ea typeface="Tahoma"/>
                <a:cs typeface="Tahoma"/>
                <a:sym typeface="Tahoma"/>
              </a:rPr>
              <a:t>send data</a:t>
            </a:r>
            <a:endParaRPr/>
          </a:p>
        </p:txBody>
      </p:sp>
      <p:sp>
        <p:nvSpPr>
          <p:cNvPr id="6980" name="Google Shape;6980;p153"/>
          <p:cNvSpPr txBox="1"/>
          <p:nvPr/>
        </p:nvSpPr>
        <p:spPr>
          <a:xfrm>
            <a:off x="7597775" y="3973513"/>
            <a:ext cx="1257300"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70C0"/>
              </a:buClr>
              <a:buSzPts val="1400"/>
              <a:buFont typeface="Noto Sans Symbols"/>
              <a:buNone/>
            </a:pPr>
            <a:r>
              <a:rPr i="1" lang="en-US" sz="1400">
                <a:solidFill>
                  <a:srgbClr val="0070C0"/>
                </a:solidFill>
                <a:latin typeface="Tahoma"/>
                <a:ea typeface="Tahoma"/>
                <a:cs typeface="Tahoma"/>
                <a:sym typeface="Tahoma"/>
              </a:rPr>
              <a:t>can no longer</a:t>
            </a:r>
            <a:endParaRPr/>
          </a:p>
          <a:p>
            <a:pPr indent="0" lvl="0" marL="0" marR="0" rtl="0" algn="l">
              <a:lnSpc>
                <a:spcPct val="90000"/>
              </a:lnSpc>
              <a:spcBef>
                <a:spcPts val="0"/>
              </a:spcBef>
              <a:spcAft>
                <a:spcPts val="0"/>
              </a:spcAft>
              <a:buClr>
                <a:srgbClr val="0070C0"/>
              </a:buClr>
              <a:buSzPts val="1400"/>
              <a:buFont typeface="Noto Sans Symbols"/>
              <a:buNone/>
            </a:pPr>
            <a:r>
              <a:rPr i="1" lang="en-US" sz="1400">
                <a:solidFill>
                  <a:srgbClr val="0070C0"/>
                </a:solidFill>
                <a:latin typeface="Tahoma"/>
                <a:ea typeface="Tahoma"/>
                <a:cs typeface="Tahoma"/>
                <a:sym typeface="Tahoma"/>
              </a:rPr>
              <a:t>send data</a:t>
            </a:r>
            <a:endParaRPr/>
          </a:p>
        </p:txBody>
      </p:sp>
      <p:sp>
        <p:nvSpPr>
          <p:cNvPr id="6981" name="Google Shape;6981;p153"/>
          <p:cNvSpPr txBox="1"/>
          <p:nvPr/>
        </p:nvSpPr>
        <p:spPr>
          <a:xfrm>
            <a:off x="2797175" y="4449763"/>
            <a:ext cx="1316038" cy="5905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0000"/>
              </a:buClr>
              <a:buSzPts val="1200"/>
              <a:buFont typeface="Noto Sans Symbols"/>
              <a:buNone/>
            </a:pPr>
            <a:r>
              <a:rPr i="1" lang="en-US" sz="1200">
                <a:solidFill>
                  <a:srgbClr val="FF0000"/>
                </a:solidFill>
                <a:latin typeface="Tahoma"/>
                <a:ea typeface="Tahoma"/>
                <a:cs typeface="Tahoma"/>
                <a:sym typeface="Tahoma"/>
              </a:rPr>
              <a:t> timed wait </a:t>
            </a:r>
            <a:endParaRPr/>
          </a:p>
          <a:p>
            <a:pPr indent="0" lvl="0" marL="0" marR="0" rtl="0" algn="l">
              <a:lnSpc>
                <a:spcPct val="90000"/>
              </a:lnSpc>
              <a:spcBef>
                <a:spcPts val="0"/>
              </a:spcBef>
              <a:spcAft>
                <a:spcPts val="0"/>
              </a:spcAft>
              <a:buClr>
                <a:srgbClr val="FF0000"/>
              </a:buClr>
              <a:buSzPts val="1200"/>
              <a:buFont typeface="Noto Sans Symbols"/>
              <a:buNone/>
            </a:pPr>
            <a:r>
              <a:rPr i="1" lang="en-US" sz="1200">
                <a:solidFill>
                  <a:srgbClr val="FF0000"/>
                </a:solidFill>
                <a:latin typeface="Tahoma"/>
                <a:ea typeface="Tahoma"/>
                <a:cs typeface="Tahoma"/>
                <a:sym typeface="Tahoma"/>
              </a:rPr>
              <a:t>for 2*max </a:t>
            </a:r>
            <a:endParaRPr/>
          </a:p>
          <a:p>
            <a:pPr indent="0" lvl="0" marL="0" marR="0" rtl="0" algn="l">
              <a:lnSpc>
                <a:spcPct val="90000"/>
              </a:lnSpc>
              <a:spcBef>
                <a:spcPts val="0"/>
              </a:spcBef>
              <a:spcAft>
                <a:spcPts val="0"/>
              </a:spcAft>
              <a:buClr>
                <a:srgbClr val="FF0000"/>
              </a:buClr>
              <a:buSzPts val="1200"/>
              <a:buFont typeface="Noto Sans Symbols"/>
              <a:buNone/>
            </a:pPr>
            <a:r>
              <a:rPr i="1" lang="en-US" sz="1200">
                <a:solidFill>
                  <a:srgbClr val="FF0000"/>
                </a:solidFill>
                <a:latin typeface="Tahoma"/>
                <a:ea typeface="Tahoma"/>
                <a:cs typeface="Tahoma"/>
                <a:sym typeface="Tahoma"/>
              </a:rPr>
              <a:t>segment lifetime</a:t>
            </a:r>
            <a:endParaRPr/>
          </a:p>
        </p:txBody>
      </p:sp>
      <p:sp>
        <p:nvSpPr>
          <p:cNvPr id="6982" name="Google Shape;6982;p153"/>
          <p:cNvSpPr txBox="1"/>
          <p:nvPr/>
        </p:nvSpPr>
        <p:spPr>
          <a:xfrm>
            <a:off x="8920163" y="4465639"/>
            <a:ext cx="925512"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CLOSED</a:t>
            </a:r>
            <a:endParaRPr/>
          </a:p>
        </p:txBody>
      </p:sp>
      <p:sp>
        <p:nvSpPr>
          <p:cNvPr id="6983" name="Google Shape;6983;p153"/>
          <p:cNvSpPr txBox="1"/>
          <p:nvPr/>
        </p:nvSpPr>
        <p:spPr>
          <a:xfrm>
            <a:off x="2343151" y="5303839"/>
            <a:ext cx="925513"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Courier New"/>
                <a:ea typeface="Courier New"/>
                <a:cs typeface="Courier New"/>
                <a:sym typeface="Courier New"/>
              </a:rPr>
              <a:t>CLOSED</a:t>
            </a:r>
            <a:endParaRPr/>
          </a:p>
        </p:txBody>
      </p:sp>
      <p:cxnSp>
        <p:nvCxnSpPr>
          <p:cNvPr id="6984" name="Google Shape;6984;p153"/>
          <p:cNvCxnSpPr/>
          <p:nvPr/>
        </p:nvCxnSpPr>
        <p:spPr>
          <a:xfrm flipH="1">
            <a:off x="2738439" y="2343151"/>
            <a:ext cx="1587" cy="568325"/>
          </a:xfrm>
          <a:prstGeom prst="straightConnector1">
            <a:avLst/>
          </a:prstGeom>
          <a:noFill/>
          <a:ln cap="flat" cmpd="sng" w="9525">
            <a:solidFill>
              <a:schemeClr val="dk1"/>
            </a:solidFill>
            <a:prstDash val="solid"/>
            <a:round/>
            <a:headEnd len="med" w="med" type="none"/>
            <a:tailEnd len="med" w="med" type="triangle"/>
          </a:ln>
        </p:spPr>
      </p:cxnSp>
      <p:cxnSp>
        <p:nvCxnSpPr>
          <p:cNvPr id="6985" name="Google Shape;6985;p153"/>
          <p:cNvCxnSpPr/>
          <p:nvPr/>
        </p:nvCxnSpPr>
        <p:spPr>
          <a:xfrm flipH="1">
            <a:off x="2705100" y="3224214"/>
            <a:ext cx="1588" cy="568325"/>
          </a:xfrm>
          <a:prstGeom prst="straightConnector1">
            <a:avLst/>
          </a:prstGeom>
          <a:noFill/>
          <a:ln cap="flat" cmpd="sng" w="9525">
            <a:solidFill>
              <a:schemeClr val="dk1"/>
            </a:solidFill>
            <a:prstDash val="solid"/>
            <a:round/>
            <a:headEnd len="med" w="med" type="none"/>
            <a:tailEnd len="med" w="med" type="triangle"/>
          </a:ln>
        </p:spPr>
      </p:cxnSp>
      <p:cxnSp>
        <p:nvCxnSpPr>
          <p:cNvPr id="6986" name="Google Shape;6986;p153"/>
          <p:cNvCxnSpPr/>
          <p:nvPr/>
        </p:nvCxnSpPr>
        <p:spPr>
          <a:xfrm>
            <a:off x="2720976" y="4224339"/>
            <a:ext cx="3175" cy="1087437"/>
          </a:xfrm>
          <a:prstGeom prst="straightConnector1">
            <a:avLst/>
          </a:prstGeom>
          <a:noFill/>
          <a:ln cap="flat" cmpd="sng" w="9525">
            <a:solidFill>
              <a:schemeClr val="dk1"/>
            </a:solidFill>
            <a:prstDash val="solid"/>
            <a:round/>
            <a:headEnd len="med" w="med" type="none"/>
            <a:tailEnd len="med" w="med" type="triangle"/>
          </a:ln>
        </p:spPr>
      </p:cxnSp>
      <p:cxnSp>
        <p:nvCxnSpPr>
          <p:cNvPr id="6987" name="Google Shape;6987;p153"/>
          <p:cNvCxnSpPr/>
          <p:nvPr/>
        </p:nvCxnSpPr>
        <p:spPr>
          <a:xfrm flipH="1">
            <a:off x="9463089" y="2867026"/>
            <a:ext cx="1587" cy="568325"/>
          </a:xfrm>
          <a:prstGeom prst="straightConnector1">
            <a:avLst/>
          </a:prstGeom>
          <a:noFill/>
          <a:ln cap="flat" cmpd="sng" w="9525">
            <a:solidFill>
              <a:schemeClr val="dk1"/>
            </a:solidFill>
            <a:prstDash val="solid"/>
            <a:round/>
            <a:headEnd len="med" w="med" type="none"/>
            <a:tailEnd len="med" w="med" type="triangle"/>
          </a:ln>
        </p:spPr>
      </p:cxnSp>
      <p:cxnSp>
        <p:nvCxnSpPr>
          <p:cNvPr id="6988" name="Google Shape;6988;p153"/>
          <p:cNvCxnSpPr/>
          <p:nvPr/>
        </p:nvCxnSpPr>
        <p:spPr>
          <a:xfrm flipH="1">
            <a:off x="9444039" y="3876676"/>
            <a:ext cx="1587" cy="568325"/>
          </a:xfrm>
          <a:prstGeom prst="straightConnector1">
            <a:avLst/>
          </a:prstGeom>
          <a:noFill/>
          <a:ln cap="flat" cmpd="sng" w="9525">
            <a:solidFill>
              <a:schemeClr val="dk1"/>
            </a:solidFill>
            <a:prstDash val="solid"/>
            <a:round/>
            <a:headEnd len="med" w="med" type="none"/>
            <a:tailEnd len="med" w="med" type="triangle"/>
          </a:ln>
        </p:spPr>
      </p:cxnSp>
      <p:sp>
        <p:nvSpPr>
          <p:cNvPr id="6989" name="Google Shape;6989;p153"/>
          <p:cNvSpPr txBox="1"/>
          <p:nvPr>
            <p:ph type="title"/>
          </p:nvPr>
        </p:nvSpPr>
        <p:spPr>
          <a:xfrm>
            <a:off x="1957389" y="241301"/>
            <a:ext cx="8434387" cy="7270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TCP: Example closing a connection</a:t>
            </a:r>
            <a:endParaRPr/>
          </a:p>
        </p:txBody>
      </p:sp>
      <p:sp>
        <p:nvSpPr>
          <p:cNvPr id="6990" name="Google Shape;6990;p15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77"/>
                                        </p:tgtEl>
                                        <p:attrNameLst>
                                          <p:attrName>style.visibility</p:attrName>
                                        </p:attrNameLst>
                                      </p:cBhvr>
                                      <p:to>
                                        <p:strVal val="visible"/>
                                      </p:to>
                                    </p:set>
                                    <p:anim calcmode="lin" valueType="num">
                                      <p:cBhvr additive="base">
                                        <p:cTn dur="500"/>
                                        <p:tgtEl>
                                          <p:spTgt spid="697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78"/>
                                        </p:tgtEl>
                                        <p:attrNameLst>
                                          <p:attrName>style.visibility</p:attrName>
                                        </p:attrNameLst>
                                      </p:cBhvr>
                                      <p:to>
                                        <p:strVal val="visible"/>
                                      </p:to>
                                    </p:set>
                                    <p:anim calcmode="lin" valueType="num">
                                      <p:cBhvr additive="base">
                                        <p:cTn dur="500"/>
                                        <p:tgtEl>
                                          <p:spTgt spid="697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79"/>
                                        </p:tgtEl>
                                        <p:attrNameLst>
                                          <p:attrName>style.visibility</p:attrName>
                                        </p:attrNameLst>
                                      </p:cBhvr>
                                      <p:to>
                                        <p:strVal val="visible"/>
                                      </p:to>
                                    </p:set>
                                    <p:anim calcmode="lin" valueType="num">
                                      <p:cBhvr additive="base">
                                        <p:cTn dur="500"/>
                                        <p:tgtEl>
                                          <p:spTgt spid="697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0"/>
                                        </p:tgtEl>
                                        <p:attrNameLst>
                                          <p:attrName>style.visibility</p:attrName>
                                        </p:attrNameLst>
                                      </p:cBhvr>
                                      <p:to>
                                        <p:strVal val="visible"/>
                                      </p:to>
                                    </p:set>
                                    <p:anim calcmode="lin" valueType="num">
                                      <p:cBhvr additive="base">
                                        <p:cTn dur="500"/>
                                        <p:tgtEl>
                                          <p:spTgt spid="698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1"/>
                                        </p:tgtEl>
                                        <p:attrNameLst>
                                          <p:attrName>style.visibility</p:attrName>
                                        </p:attrNameLst>
                                      </p:cBhvr>
                                      <p:to>
                                        <p:strVal val="visible"/>
                                      </p:to>
                                    </p:set>
                                    <p:anim calcmode="lin" valueType="num">
                                      <p:cBhvr additive="base">
                                        <p:cTn dur="500"/>
                                        <p:tgtEl>
                                          <p:spTgt spid="698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5" name="Shape 6995"/>
        <p:cNvGrpSpPr/>
        <p:nvPr/>
      </p:nvGrpSpPr>
      <p:grpSpPr>
        <a:xfrm>
          <a:off x="0" y="0"/>
          <a:ext cx="0" cy="0"/>
          <a:chOff x="0" y="0"/>
          <a:chExt cx="0" cy="0"/>
        </a:xfrm>
      </p:grpSpPr>
      <p:sp>
        <p:nvSpPr>
          <p:cNvPr id="6996" name="Google Shape;6996;p154"/>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6997" name="Google Shape;6997;p154"/>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SzPts val="3200"/>
              <a:buChar char="▪"/>
            </a:pPr>
            <a:r>
              <a:rPr lang="en-US" sz="3200">
                <a:solidFill>
                  <a:srgbClr val="C00000"/>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Evolution of transport-layer functionality</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6998" name="Google Shape;6998;p15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6999" name="Google Shape;6999;p154"/>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4" name="Shape 7004"/>
        <p:cNvGrpSpPr/>
        <p:nvPr/>
      </p:nvGrpSpPr>
      <p:grpSpPr>
        <a:xfrm>
          <a:off x="0" y="0"/>
          <a:ext cx="0" cy="0"/>
          <a:chOff x="0" y="0"/>
          <a:chExt cx="0" cy="0"/>
        </a:xfrm>
      </p:grpSpPr>
      <p:sp>
        <p:nvSpPr>
          <p:cNvPr id="7005" name="Google Shape;7005;p155"/>
          <p:cNvSpPr txBox="1"/>
          <p:nvPr/>
        </p:nvSpPr>
        <p:spPr>
          <a:xfrm>
            <a:off x="721660" y="1411941"/>
            <a:ext cx="10977282" cy="4648200"/>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Congestion:</a:t>
            </a:r>
            <a:endParaRPr b="0" i="0" sz="2800" u="none" cap="none" strike="noStrike">
              <a:solidFill>
                <a:srgbClr val="CC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informally: “too many sources sending too much data too fast for </a:t>
            </a:r>
            <a:r>
              <a:rPr b="0" i="1" lang="en-US" sz="2800" u="none" cap="none" strike="noStrike">
                <a:solidFill>
                  <a:srgbClr val="C00000"/>
                </a:solidFill>
                <a:latin typeface="Calibri"/>
                <a:ea typeface="Calibri"/>
                <a:cs typeface="Calibri"/>
                <a:sym typeface="Calibri"/>
              </a:rPr>
              <a:t>network</a:t>
            </a:r>
            <a:r>
              <a:rPr b="0" i="0" lang="en-US" sz="2800" u="none" cap="none" strike="noStrike">
                <a:solidFill>
                  <a:srgbClr val="000000"/>
                </a:solidFill>
                <a:latin typeface="Calibri"/>
                <a:ea typeface="Calibri"/>
                <a:cs typeface="Calibri"/>
                <a:sym typeface="Calibri"/>
              </a:rPr>
              <a:t> to handle”</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manifestations: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long delays (queueing in router buffers)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packet loss (buffer overflow at routers)</a:t>
            </a:r>
            <a:endParaRPr/>
          </a:p>
          <a:p>
            <a:pPr indent="-69850" lvl="0" marL="3524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p:txBody>
      </p:sp>
      <p:sp>
        <p:nvSpPr>
          <p:cNvPr id="7006" name="Google Shape;7006;p155"/>
          <p:cNvSpPr txBox="1"/>
          <p:nvPr/>
        </p:nvSpPr>
        <p:spPr>
          <a:xfrm>
            <a:off x="722672" y="3776599"/>
            <a:ext cx="10977282" cy="1016627"/>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different from flow control!</a:t>
            </a:r>
            <a:endParaRPr/>
          </a:p>
        </p:txBody>
      </p:sp>
      <p:sp>
        <p:nvSpPr>
          <p:cNvPr id="7007" name="Google Shape;7007;p155"/>
          <p:cNvSpPr txBox="1"/>
          <p:nvPr>
            <p:ph type="title"/>
          </p:nvPr>
        </p:nvSpPr>
        <p:spPr>
          <a:xfrm>
            <a:off x="773290" y="28932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Principles of congestion control</a:t>
            </a:r>
            <a:endParaRPr b="0" sz="4400"/>
          </a:p>
        </p:txBody>
      </p:sp>
      <p:grpSp>
        <p:nvGrpSpPr>
          <p:cNvPr id="7008" name="Google Shape;7008;p155"/>
          <p:cNvGrpSpPr/>
          <p:nvPr/>
        </p:nvGrpSpPr>
        <p:grpSpPr>
          <a:xfrm>
            <a:off x="8686805" y="2737463"/>
            <a:ext cx="2772697" cy="2732213"/>
            <a:chOff x="8878529" y="2737463"/>
            <a:chExt cx="2772697" cy="2732213"/>
          </a:xfrm>
        </p:grpSpPr>
        <p:pic>
          <p:nvPicPr>
            <p:cNvPr descr="Why traffic apps make congestion worse | Berkeley News" id="7009" name="Google Shape;7009;p155"/>
            <p:cNvPicPr preferRelativeResize="0"/>
            <p:nvPr/>
          </p:nvPicPr>
          <p:blipFill rotWithShape="1">
            <a:blip r:embed="rId3">
              <a:alphaModFix/>
            </a:blip>
            <a:srcRect b="0" l="0" r="0" t="0"/>
            <a:stretch/>
          </p:blipFill>
          <p:spPr>
            <a:xfrm>
              <a:off x="8878529" y="2737463"/>
              <a:ext cx="2595716" cy="1730478"/>
            </a:xfrm>
            <a:prstGeom prst="rect">
              <a:avLst/>
            </a:prstGeom>
            <a:noFill/>
            <a:ln>
              <a:noFill/>
            </a:ln>
          </p:spPr>
        </p:pic>
        <p:sp>
          <p:nvSpPr>
            <p:cNvPr id="7010" name="Google Shape;7010;p155"/>
            <p:cNvSpPr txBox="1"/>
            <p:nvPr/>
          </p:nvSpPr>
          <p:spPr>
            <a:xfrm>
              <a:off x="9085007" y="4454013"/>
              <a:ext cx="2566219" cy="101566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congestion control: </a:t>
              </a:r>
              <a:r>
                <a:rPr b="0" i="0" lang="en-US" sz="1800" u="none" cap="none" strike="noStrike">
                  <a:solidFill>
                    <a:srgbClr val="000000"/>
                  </a:solidFill>
                  <a:latin typeface="Calibri"/>
                  <a:ea typeface="Calibri"/>
                  <a:cs typeface="Calibri"/>
                  <a:sym typeface="Calibri"/>
                </a:rPr>
                <a:t>too many senders, sending too fast</a:t>
              </a:r>
              <a:endParaRPr/>
            </a:p>
          </p:txBody>
        </p:sp>
      </p:grpSp>
      <p:grpSp>
        <p:nvGrpSpPr>
          <p:cNvPr id="7011" name="Google Shape;7011;p155"/>
          <p:cNvGrpSpPr/>
          <p:nvPr/>
        </p:nvGrpSpPr>
        <p:grpSpPr>
          <a:xfrm>
            <a:off x="5737126" y="4424520"/>
            <a:ext cx="5860024" cy="1952948"/>
            <a:chOff x="5869858" y="4586748"/>
            <a:chExt cx="5860024" cy="1952948"/>
          </a:xfrm>
        </p:grpSpPr>
        <p:grpSp>
          <p:nvGrpSpPr>
            <p:cNvPr id="7012" name="Google Shape;7012;p155"/>
            <p:cNvGrpSpPr/>
            <p:nvPr/>
          </p:nvGrpSpPr>
          <p:grpSpPr>
            <a:xfrm>
              <a:off x="5869858" y="4586748"/>
              <a:ext cx="2882176" cy="1915023"/>
              <a:chOff x="6998772" y="3064248"/>
              <a:chExt cx="4393223" cy="2995072"/>
            </a:xfrm>
          </p:grpSpPr>
          <p:pic>
            <p:nvPicPr>
              <p:cNvPr descr="Drinking from the Firehose: How VividCortex Compresses its Metrics" id="7013" name="Google Shape;7013;p155"/>
              <p:cNvPicPr preferRelativeResize="0"/>
              <p:nvPr/>
            </p:nvPicPr>
            <p:blipFill rotWithShape="1">
              <a:blip r:embed="rId4">
                <a:alphaModFix/>
              </a:blip>
              <a:srcRect b="0" l="0" r="0" t="0"/>
              <a:stretch/>
            </p:blipFill>
            <p:spPr>
              <a:xfrm>
                <a:off x="8373303" y="4248105"/>
                <a:ext cx="3018692" cy="1811215"/>
              </a:xfrm>
              <a:prstGeom prst="rect">
                <a:avLst/>
              </a:prstGeom>
              <a:noFill/>
              <a:ln>
                <a:noFill/>
              </a:ln>
            </p:spPr>
          </p:pic>
          <p:pic>
            <p:nvPicPr>
              <p:cNvPr descr="Drinking From the Information Firehose" id="7014" name="Google Shape;7014;p155"/>
              <p:cNvPicPr preferRelativeResize="0"/>
              <p:nvPr/>
            </p:nvPicPr>
            <p:blipFill rotWithShape="1">
              <a:blip r:embed="rId5">
                <a:alphaModFix/>
              </a:blip>
              <a:srcRect b="0" l="0" r="0" t="0"/>
              <a:stretch/>
            </p:blipFill>
            <p:spPr>
              <a:xfrm>
                <a:off x="6998772" y="3064248"/>
                <a:ext cx="2699594" cy="1781732"/>
              </a:xfrm>
              <a:prstGeom prst="rect">
                <a:avLst/>
              </a:prstGeom>
              <a:noFill/>
              <a:ln>
                <a:noFill/>
              </a:ln>
            </p:spPr>
          </p:pic>
        </p:grpSp>
        <p:sp>
          <p:nvSpPr>
            <p:cNvPr id="7015" name="Google Shape;7015;p155"/>
            <p:cNvSpPr txBox="1"/>
            <p:nvPr/>
          </p:nvSpPr>
          <p:spPr>
            <a:xfrm>
              <a:off x="8794953" y="5801032"/>
              <a:ext cx="2934929"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flow control: </a:t>
              </a:r>
              <a:r>
                <a:rPr b="0" i="0" lang="en-US" sz="1800" u="none" cap="none" strike="noStrike">
                  <a:solidFill>
                    <a:srgbClr val="000000"/>
                  </a:solidFill>
                  <a:latin typeface="Calibri"/>
                  <a:ea typeface="Calibri"/>
                  <a:cs typeface="Calibri"/>
                  <a:sym typeface="Calibri"/>
                </a:rPr>
                <a:t>one sender too fast for one receiver</a:t>
              </a:r>
              <a:endParaRPr/>
            </a:p>
          </p:txBody>
        </p:sp>
      </p:grpSp>
      <p:sp>
        <p:nvSpPr>
          <p:cNvPr id="7016" name="Google Shape;7016;p155"/>
          <p:cNvSpPr txBox="1"/>
          <p:nvPr/>
        </p:nvSpPr>
        <p:spPr>
          <a:xfrm>
            <a:off x="727588" y="4852219"/>
            <a:ext cx="4758812" cy="580102"/>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a top-10 problem!</a:t>
            </a:r>
            <a:endParaRPr/>
          </a:p>
          <a:p>
            <a:pPr indent="-69850" lvl="0" marL="3524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p:txBody>
      </p:sp>
      <p:sp>
        <p:nvSpPr>
          <p:cNvPr id="7017" name="Google Shape;7017;p15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06"/>
                                        </p:tgtEl>
                                        <p:attrNameLst>
                                          <p:attrName>style.visibility</p:attrName>
                                        </p:attrNameLst>
                                      </p:cBhvr>
                                      <p:to>
                                        <p:strVal val="visible"/>
                                      </p:to>
                                    </p:set>
                                    <p:animEffect filter="fade" transition="in">
                                      <p:cBhvr>
                                        <p:cTn dur="500"/>
                                        <p:tgtEl>
                                          <p:spTgt spid="7006"/>
                                        </p:tgtEl>
                                      </p:cBhvr>
                                    </p:animEffect>
                                  </p:childTnLst>
                                </p:cTn>
                              </p:par>
                              <p:par>
                                <p:cTn fill="hold" nodeType="withEffect" presetClass="entr" presetID="10" presetSubtype="0">
                                  <p:stCondLst>
                                    <p:cond delay="0"/>
                                  </p:stCondLst>
                                  <p:childTnLst>
                                    <p:set>
                                      <p:cBhvr>
                                        <p:cTn dur="1" fill="hold">
                                          <p:stCondLst>
                                            <p:cond delay="0"/>
                                          </p:stCondLst>
                                        </p:cTn>
                                        <p:tgtEl>
                                          <p:spTgt spid="7011"/>
                                        </p:tgtEl>
                                        <p:attrNameLst>
                                          <p:attrName>style.visibility</p:attrName>
                                        </p:attrNameLst>
                                      </p:cBhvr>
                                      <p:to>
                                        <p:strVal val="visible"/>
                                      </p:to>
                                    </p:set>
                                    <p:animEffect filter="fade" transition="in">
                                      <p:cBhvr>
                                        <p:cTn dur="500"/>
                                        <p:tgtEl>
                                          <p:spTgt spid="7011"/>
                                        </p:tgtEl>
                                      </p:cBhvr>
                                    </p:animEffect>
                                  </p:childTnLst>
                                </p:cTn>
                              </p:par>
                              <p:par>
                                <p:cTn fill="hold" nodeType="withEffect" presetClass="entr" presetID="10" presetSubtype="0">
                                  <p:stCondLst>
                                    <p:cond delay="0"/>
                                  </p:stCondLst>
                                  <p:childTnLst>
                                    <p:set>
                                      <p:cBhvr>
                                        <p:cTn dur="1" fill="hold">
                                          <p:stCondLst>
                                            <p:cond delay="0"/>
                                          </p:stCondLst>
                                        </p:cTn>
                                        <p:tgtEl>
                                          <p:spTgt spid="7016"/>
                                        </p:tgtEl>
                                        <p:attrNameLst>
                                          <p:attrName>style.visibility</p:attrName>
                                        </p:attrNameLst>
                                      </p:cBhvr>
                                      <p:to>
                                        <p:strVal val="visible"/>
                                      </p:to>
                                    </p:set>
                                    <p:animEffect filter="fade" transition="in">
                                      <p:cBhvr>
                                        <p:cTn dur="500"/>
                                        <p:tgtEl>
                                          <p:spTgt spid="70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2" name="Shape 7022"/>
        <p:cNvGrpSpPr/>
        <p:nvPr/>
      </p:nvGrpSpPr>
      <p:grpSpPr>
        <a:xfrm>
          <a:off x="0" y="0"/>
          <a:ext cx="0" cy="0"/>
          <a:chOff x="0" y="0"/>
          <a:chExt cx="0" cy="0"/>
        </a:xfrm>
      </p:grpSpPr>
      <p:grpSp>
        <p:nvGrpSpPr>
          <p:cNvPr id="7023" name="Google Shape;7023;p156"/>
          <p:cNvGrpSpPr/>
          <p:nvPr/>
        </p:nvGrpSpPr>
        <p:grpSpPr>
          <a:xfrm>
            <a:off x="10476914" y="2368655"/>
            <a:ext cx="717868" cy="1154474"/>
            <a:chOff x="7664720" y="2795550"/>
            <a:chExt cx="717868" cy="1154474"/>
          </a:xfrm>
        </p:grpSpPr>
        <p:sp>
          <p:nvSpPr>
            <p:cNvPr id="7024" name="Google Shape;7024;p156"/>
            <p:cNvSpPr/>
            <p:nvPr/>
          </p:nvSpPr>
          <p:spPr>
            <a:xfrm>
              <a:off x="7671781" y="2795550"/>
              <a:ext cx="702570" cy="1154474"/>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rgbClr val="0000A3">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025" name="Google Shape;7025;p156"/>
            <p:cNvCxnSpPr/>
            <p:nvPr/>
          </p:nvCxnSpPr>
          <p:spPr>
            <a:xfrm>
              <a:off x="7664720" y="3029172"/>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026" name="Google Shape;7026;p156"/>
            <p:cNvCxnSpPr/>
            <p:nvPr/>
          </p:nvCxnSpPr>
          <p:spPr>
            <a:xfrm>
              <a:off x="7668839" y="3266304"/>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027" name="Google Shape;7027;p156"/>
            <p:cNvCxnSpPr/>
            <p:nvPr/>
          </p:nvCxnSpPr>
          <p:spPr>
            <a:xfrm>
              <a:off x="7680018" y="3499906"/>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028" name="Google Shape;7028;p156"/>
            <p:cNvCxnSpPr/>
            <p:nvPr/>
          </p:nvCxnSpPr>
          <p:spPr>
            <a:xfrm>
              <a:off x="7670015" y="3726448"/>
              <a:ext cx="702570" cy="0"/>
            </a:xfrm>
            <a:prstGeom prst="straightConnector1">
              <a:avLst/>
            </a:prstGeom>
            <a:noFill/>
            <a:ln cap="flat" cmpd="sng" w="19050">
              <a:solidFill>
                <a:schemeClr val="dk1"/>
              </a:solidFill>
              <a:prstDash val="solid"/>
              <a:miter lim="800000"/>
              <a:headEnd len="sm" w="sm" type="none"/>
              <a:tailEnd len="sm" w="sm" type="none"/>
            </a:ln>
          </p:spPr>
        </p:cxnSp>
      </p:grpSp>
      <p:sp>
        <p:nvSpPr>
          <p:cNvPr id="7029" name="Google Shape;7029;p156"/>
          <p:cNvSpPr/>
          <p:nvPr/>
        </p:nvSpPr>
        <p:spPr>
          <a:xfrm flipH="1">
            <a:off x="6810066" y="2305050"/>
            <a:ext cx="250825" cy="120173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030" name="Google Shape;7030;p156"/>
          <p:cNvGrpSpPr/>
          <p:nvPr/>
        </p:nvGrpSpPr>
        <p:grpSpPr>
          <a:xfrm>
            <a:off x="6405254" y="3243263"/>
            <a:ext cx="525462" cy="434975"/>
            <a:chOff x="-44" y="1473"/>
            <a:chExt cx="981" cy="1105"/>
          </a:xfrm>
        </p:grpSpPr>
        <p:pic>
          <p:nvPicPr>
            <p:cNvPr descr="desktop_computer_stylized_medium" id="7031" name="Google Shape;7031;p15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032" name="Google Shape;7032;p15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033" name="Google Shape;7033;p156"/>
          <p:cNvGrpSpPr/>
          <p:nvPr/>
        </p:nvGrpSpPr>
        <p:grpSpPr>
          <a:xfrm>
            <a:off x="7045286" y="2362077"/>
            <a:ext cx="717868" cy="1154474"/>
            <a:chOff x="7664720" y="2799688"/>
            <a:chExt cx="717868" cy="1154474"/>
          </a:xfrm>
        </p:grpSpPr>
        <p:sp>
          <p:nvSpPr>
            <p:cNvPr id="7034" name="Google Shape;7034;p156"/>
            <p:cNvSpPr/>
            <p:nvPr/>
          </p:nvSpPr>
          <p:spPr>
            <a:xfrm>
              <a:off x="7671781" y="2799688"/>
              <a:ext cx="702570" cy="1154474"/>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rgbClr val="0000A3">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035" name="Google Shape;7035;p156"/>
            <p:cNvCxnSpPr/>
            <p:nvPr/>
          </p:nvCxnSpPr>
          <p:spPr>
            <a:xfrm>
              <a:off x="7664720" y="3029172"/>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036" name="Google Shape;7036;p156"/>
            <p:cNvCxnSpPr/>
            <p:nvPr/>
          </p:nvCxnSpPr>
          <p:spPr>
            <a:xfrm>
              <a:off x="7668839" y="3266304"/>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037" name="Google Shape;7037;p156"/>
            <p:cNvCxnSpPr/>
            <p:nvPr/>
          </p:nvCxnSpPr>
          <p:spPr>
            <a:xfrm>
              <a:off x="7680018" y="3499906"/>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038" name="Google Shape;7038;p156"/>
            <p:cNvCxnSpPr/>
            <p:nvPr/>
          </p:nvCxnSpPr>
          <p:spPr>
            <a:xfrm>
              <a:off x="7670015" y="3726448"/>
              <a:ext cx="702570" cy="0"/>
            </a:xfrm>
            <a:prstGeom prst="straightConnector1">
              <a:avLst/>
            </a:prstGeom>
            <a:noFill/>
            <a:ln cap="flat" cmpd="sng" w="19050">
              <a:solidFill>
                <a:schemeClr val="dk1"/>
              </a:solidFill>
              <a:prstDash val="solid"/>
              <a:miter lim="800000"/>
              <a:headEnd len="sm" w="sm" type="none"/>
              <a:tailEnd len="sm" w="sm" type="none"/>
            </a:ln>
          </p:spPr>
        </p:cxnSp>
      </p:grpSp>
      <p:sp>
        <p:nvSpPr>
          <p:cNvPr id="7039" name="Google Shape;7039;p156"/>
          <p:cNvSpPr txBox="1"/>
          <p:nvPr>
            <p:ph idx="1" type="body"/>
          </p:nvPr>
        </p:nvSpPr>
        <p:spPr>
          <a:xfrm>
            <a:off x="884903" y="1939313"/>
            <a:ext cx="5562600" cy="2536434"/>
          </a:xfrm>
          <a:prstGeom prst="rect">
            <a:avLst/>
          </a:prstGeom>
          <a:noFill/>
          <a:ln>
            <a:noFill/>
          </a:ln>
        </p:spPr>
        <p:txBody>
          <a:bodyPr anchorCtr="0" anchor="t" bIns="45700" lIns="91425" spcFirstLastPara="1" rIns="91425" wrap="square" tIns="45700">
            <a:normAutofit lnSpcReduction="10000"/>
          </a:bodyPr>
          <a:lstStyle/>
          <a:p>
            <a:pPr indent="-222250" lvl="0" marL="352425" rtl="0" algn="l">
              <a:lnSpc>
                <a:spcPct val="90000"/>
              </a:lnSpc>
              <a:spcBef>
                <a:spcPts val="0"/>
              </a:spcBef>
              <a:spcAft>
                <a:spcPts val="0"/>
              </a:spcAft>
              <a:buSzPts val="3200"/>
              <a:buFont typeface="Noto Sans Symbols"/>
              <a:buNone/>
            </a:pPr>
            <a:r>
              <a:rPr lang="en-US" sz="3200">
                <a:solidFill>
                  <a:srgbClr val="C00000"/>
                </a:solidFill>
              </a:rPr>
              <a:t>End-end congestion control:</a:t>
            </a:r>
            <a:endParaRPr/>
          </a:p>
          <a:p>
            <a:pPr indent="-336550" lvl="0" marL="466725" rtl="0" algn="l">
              <a:lnSpc>
                <a:spcPct val="90000"/>
              </a:lnSpc>
              <a:spcBef>
                <a:spcPts val="1000"/>
              </a:spcBef>
              <a:spcAft>
                <a:spcPts val="0"/>
              </a:spcAft>
              <a:buSzPts val="3200"/>
              <a:buChar char="▪"/>
            </a:pPr>
            <a:r>
              <a:rPr lang="en-US" sz="3200"/>
              <a:t>no explicit feedback from network</a:t>
            </a:r>
            <a:endParaRPr/>
          </a:p>
          <a:p>
            <a:pPr indent="-336550" lvl="0" marL="466725" rtl="0" algn="l">
              <a:lnSpc>
                <a:spcPct val="90000"/>
              </a:lnSpc>
              <a:spcBef>
                <a:spcPts val="1000"/>
              </a:spcBef>
              <a:spcAft>
                <a:spcPts val="0"/>
              </a:spcAft>
              <a:buSzPts val="3200"/>
              <a:buChar char="▪"/>
            </a:pPr>
            <a:r>
              <a:rPr lang="en-US" sz="3200"/>
              <a:t>congestion </a:t>
            </a:r>
            <a:r>
              <a:rPr i="1" lang="en-US" sz="3200">
                <a:solidFill>
                  <a:srgbClr val="C00000"/>
                </a:solidFill>
              </a:rPr>
              <a:t>inferred</a:t>
            </a:r>
            <a:r>
              <a:rPr lang="en-US" sz="3200"/>
              <a:t> from observed loss, delay</a:t>
            </a:r>
            <a:endParaRPr/>
          </a:p>
        </p:txBody>
      </p:sp>
      <p:sp>
        <p:nvSpPr>
          <p:cNvPr id="7040" name="Google Shape;7040;p156"/>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Approaches towards congestion control</a:t>
            </a:r>
            <a:endParaRPr sz="5400"/>
          </a:p>
        </p:txBody>
      </p:sp>
      <p:sp>
        <p:nvSpPr>
          <p:cNvPr id="7041" name="Google Shape;7041;p156"/>
          <p:cNvSpPr/>
          <p:nvPr/>
        </p:nvSpPr>
        <p:spPr>
          <a:xfrm>
            <a:off x="7675918" y="3459066"/>
            <a:ext cx="2848871" cy="1480906"/>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042" name="Google Shape;7042;p156"/>
          <p:cNvSpPr/>
          <p:nvPr/>
        </p:nvSpPr>
        <p:spPr>
          <a:xfrm>
            <a:off x="8314293" y="3762231"/>
            <a:ext cx="543096" cy="295229"/>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043" name="Google Shape;7043;p156"/>
          <p:cNvSpPr/>
          <p:nvPr/>
        </p:nvSpPr>
        <p:spPr>
          <a:xfrm>
            <a:off x="9356021" y="3755882"/>
            <a:ext cx="504984" cy="307927"/>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044" name="Google Shape;7044;p156"/>
          <p:cNvSpPr/>
          <p:nvPr/>
        </p:nvSpPr>
        <p:spPr>
          <a:xfrm>
            <a:off x="8290473" y="4147933"/>
            <a:ext cx="481164" cy="238088"/>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045" name="Google Shape;7045;p156"/>
          <p:cNvSpPr/>
          <p:nvPr/>
        </p:nvSpPr>
        <p:spPr>
          <a:xfrm>
            <a:off x="9238509" y="4124124"/>
            <a:ext cx="628848" cy="247611"/>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046" name="Google Shape;7046;p156"/>
          <p:cNvSpPr/>
          <p:nvPr/>
        </p:nvSpPr>
        <p:spPr>
          <a:xfrm>
            <a:off x="9905469" y="4178091"/>
            <a:ext cx="206440" cy="507920"/>
          </a:xfrm>
          <a:custGeom>
            <a:rect b="b" l="l" r="r" t="t"/>
            <a:pathLst>
              <a:path extrusionOk="0" h="500" w="118">
                <a:moveTo>
                  <a:pt x="0" y="500"/>
                </a:moveTo>
                <a:lnTo>
                  <a:pt x="11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047" name="Google Shape;7047;p156"/>
          <p:cNvSpPr/>
          <p:nvPr/>
        </p:nvSpPr>
        <p:spPr>
          <a:xfrm>
            <a:off x="8670005" y="4711407"/>
            <a:ext cx="736832" cy="74601"/>
          </a:xfrm>
          <a:custGeom>
            <a:rect b="b" l="l" r="r" t="t"/>
            <a:pathLst>
              <a:path extrusionOk="0" h="32" w="370">
                <a:moveTo>
                  <a:pt x="370" y="32"/>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048" name="Google Shape;7048;p156"/>
          <p:cNvSpPr/>
          <p:nvPr/>
        </p:nvSpPr>
        <p:spPr>
          <a:xfrm>
            <a:off x="8133261" y="4171742"/>
            <a:ext cx="193736" cy="425383"/>
          </a:xfrm>
          <a:custGeom>
            <a:rect b="b" l="l" r="r" t="t"/>
            <a:pathLst>
              <a:path extrusionOk="0" h="412" w="176">
                <a:moveTo>
                  <a:pt x="162" y="408"/>
                </a:moveTo>
                <a:lnTo>
                  <a:pt x="176" y="412"/>
                </a:ln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nvGrpSpPr>
          <p:cNvPr id="7049" name="Google Shape;7049;p156"/>
          <p:cNvGrpSpPr/>
          <p:nvPr/>
        </p:nvGrpSpPr>
        <p:grpSpPr>
          <a:xfrm>
            <a:off x="9719734" y="3946352"/>
            <a:ext cx="578032" cy="285706"/>
            <a:chOff x="7493876" y="2774731"/>
            <a:chExt cx="1481958" cy="894622"/>
          </a:xfrm>
        </p:grpSpPr>
        <p:sp>
          <p:nvSpPr>
            <p:cNvPr id="7050" name="Google Shape;7050;p15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051" name="Google Shape;7051;p15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052" name="Google Shape;7052;p156"/>
            <p:cNvGrpSpPr/>
            <p:nvPr/>
          </p:nvGrpSpPr>
          <p:grpSpPr>
            <a:xfrm>
              <a:off x="7713663" y="2848339"/>
              <a:ext cx="1042107" cy="425543"/>
              <a:chOff x="7786941" y="2884917"/>
              <a:chExt cx="897649" cy="353919"/>
            </a:xfrm>
          </p:grpSpPr>
          <p:sp>
            <p:nvSpPr>
              <p:cNvPr id="7053" name="Google Shape;7053;p15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54" name="Google Shape;7054;p15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55" name="Google Shape;7055;p15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56" name="Google Shape;7056;p15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057" name="Google Shape;7057;p156"/>
          <p:cNvGrpSpPr/>
          <p:nvPr/>
        </p:nvGrpSpPr>
        <p:grpSpPr>
          <a:xfrm>
            <a:off x="9351606" y="4600112"/>
            <a:ext cx="578032" cy="285706"/>
            <a:chOff x="7493876" y="2774731"/>
            <a:chExt cx="1481958" cy="894622"/>
          </a:xfrm>
        </p:grpSpPr>
        <p:sp>
          <p:nvSpPr>
            <p:cNvPr id="7058" name="Google Shape;7058;p15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059" name="Google Shape;7059;p15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060" name="Google Shape;7060;p156"/>
            <p:cNvGrpSpPr/>
            <p:nvPr/>
          </p:nvGrpSpPr>
          <p:grpSpPr>
            <a:xfrm>
              <a:off x="7713663" y="2848339"/>
              <a:ext cx="1042107" cy="425543"/>
              <a:chOff x="7786941" y="2884917"/>
              <a:chExt cx="897649" cy="353919"/>
            </a:xfrm>
          </p:grpSpPr>
          <p:sp>
            <p:nvSpPr>
              <p:cNvPr id="7061" name="Google Shape;7061;p15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62" name="Google Shape;7062;p15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63" name="Google Shape;7063;p15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64" name="Google Shape;7064;p15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065" name="Google Shape;7065;p156"/>
          <p:cNvGrpSpPr/>
          <p:nvPr/>
        </p:nvGrpSpPr>
        <p:grpSpPr>
          <a:xfrm>
            <a:off x="8195132" y="4551443"/>
            <a:ext cx="578032" cy="285706"/>
            <a:chOff x="7493876" y="2774731"/>
            <a:chExt cx="1481958" cy="894622"/>
          </a:xfrm>
        </p:grpSpPr>
        <p:sp>
          <p:nvSpPr>
            <p:cNvPr id="7066" name="Google Shape;7066;p15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067" name="Google Shape;7067;p15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068" name="Google Shape;7068;p156"/>
            <p:cNvGrpSpPr/>
            <p:nvPr/>
          </p:nvGrpSpPr>
          <p:grpSpPr>
            <a:xfrm>
              <a:off x="7713663" y="2848339"/>
              <a:ext cx="1042107" cy="425543"/>
              <a:chOff x="7786941" y="2884917"/>
              <a:chExt cx="897649" cy="353919"/>
            </a:xfrm>
          </p:grpSpPr>
          <p:sp>
            <p:nvSpPr>
              <p:cNvPr id="7069" name="Google Shape;7069;p15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70" name="Google Shape;7070;p15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71" name="Google Shape;7071;p15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72" name="Google Shape;7072;p15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073" name="Google Shape;7073;p156"/>
          <p:cNvGrpSpPr/>
          <p:nvPr/>
        </p:nvGrpSpPr>
        <p:grpSpPr>
          <a:xfrm>
            <a:off x="8800632" y="3636044"/>
            <a:ext cx="578032" cy="285706"/>
            <a:chOff x="7493876" y="2774731"/>
            <a:chExt cx="1481958" cy="894622"/>
          </a:xfrm>
        </p:grpSpPr>
        <p:sp>
          <p:nvSpPr>
            <p:cNvPr id="7074" name="Google Shape;7074;p15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075" name="Google Shape;7075;p15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076" name="Google Shape;7076;p156"/>
            <p:cNvGrpSpPr/>
            <p:nvPr/>
          </p:nvGrpSpPr>
          <p:grpSpPr>
            <a:xfrm>
              <a:off x="7713663" y="2848339"/>
              <a:ext cx="1042107" cy="425543"/>
              <a:chOff x="7786941" y="2884917"/>
              <a:chExt cx="897649" cy="353919"/>
            </a:xfrm>
          </p:grpSpPr>
          <p:sp>
            <p:nvSpPr>
              <p:cNvPr id="7077" name="Google Shape;7077;p15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78" name="Google Shape;7078;p15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79" name="Google Shape;7079;p15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80" name="Google Shape;7080;p15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081" name="Google Shape;7081;p156"/>
          <p:cNvGrpSpPr/>
          <p:nvPr/>
        </p:nvGrpSpPr>
        <p:grpSpPr>
          <a:xfrm>
            <a:off x="8711293" y="4233883"/>
            <a:ext cx="578032" cy="285706"/>
            <a:chOff x="7493876" y="2774731"/>
            <a:chExt cx="1481958" cy="894622"/>
          </a:xfrm>
        </p:grpSpPr>
        <p:sp>
          <p:nvSpPr>
            <p:cNvPr id="7082" name="Google Shape;7082;p15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083" name="Google Shape;7083;p15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084" name="Google Shape;7084;p156"/>
            <p:cNvGrpSpPr/>
            <p:nvPr/>
          </p:nvGrpSpPr>
          <p:grpSpPr>
            <a:xfrm>
              <a:off x="7713663" y="2848339"/>
              <a:ext cx="1042107" cy="425543"/>
              <a:chOff x="7786941" y="2884917"/>
              <a:chExt cx="897649" cy="353919"/>
            </a:xfrm>
          </p:grpSpPr>
          <p:sp>
            <p:nvSpPr>
              <p:cNvPr id="7085" name="Google Shape;7085;p15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86" name="Google Shape;7086;p15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87" name="Google Shape;7087;p15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88" name="Google Shape;7088;p15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089" name="Google Shape;7089;p156"/>
          <p:cNvGrpSpPr/>
          <p:nvPr/>
        </p:nvGrpSpPr>
        <p:grpSpPr>
          <a:xfrm>
            <a:off x="7764614" y="3944180"/>
            <a:ext cx="578032" cy="285706"/>
            <a:chOff x="7493876" y="2774731"/>
            <a:chExt cx="1481958" cy="894622"/>
          </a:xfrm>
        </p:grpSpPr>
        <p:sp>
          <p:nvSpPr>
            <p:cNvPr id="7090" name="Google Shape;7090;p15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091" name="Google Shape;7091;p15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092" name="Google Shape;7092;p156"/>
            <p:cNvGrpSpPr/>
            <p:nvPr/>
          </p:nvGrpSpPr>
          <p:grpSpPr>
            <a:xfrm>
              <a:off x="7713663" y="2848339"/>
              <a:ext cx="1042107" cy="425543"/>
              <a:chOff x="7786941" y="2884917"/>
              <a:chExt cx="897649" cy="353919"/>
            </a:xfrm>
          </p:grpSpPr>
          <p:sp>
            <p:nvSpPr>
              <p:cNvPr id="7093" name="Google Shape;7093;p15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94" name="Google Shape;7094;p15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95" name="Google Shape;7095;p15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096" name="Google Shape;7096;p15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097" name="Google Shape;7097;p156"/>
          <p:cNvGrpSpPr/>
          <p:nvPr/>
        </p:nvGrpSpPr>
        <p:grpSpPr>
          <a:xfrm>
            <a:off x="8867832" y="4245561"/>
            <a:ext cx="456701" cy="226548"/>
            <a:chOff x="6859123" y="5156933"/>
            <a:chExt cx="456701" cy="226548"/>
          </a:xfrm>
        </p:grpSpPr>
        <p:sp>
          <p:nvSpPr>
            <p:cNvPr id="7098" name="Google Shape;7098;p156"/>
            <p:cNvSpPr/>
            <p:nvPr/>
          </p:nvSpPr>
          <p:spPr>
            <a:xfrm>
              <a:off x="6859123" y="5156933"/>
              <a:ext cx="456701" cy="226548"/>
            </a:xfrm>
            <a:prstGeom prst="rect">
              <a:avLst/>
            </a:prstGeom>
            <a:solidFill>
              <a:srgbClr val="F989B2"/>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099" name="Google Shape;7099;p156"/>
            <p:cNvCxnSpPr/>
            <p:nvPr/>
          </p:nvCxnSpPr>
          <p:spPr>
            <a:xfrm rot="10800000">
              <a:off x="7249115"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100" name="Google Shape;7100;p156"/>
            <p:cNvCxnSpPr/>
            <p:nvPr/>
          </p:nvCxnSpPr>
          <p:spPr>
            <a:xfrm rot="10800000">
              <a:off x="7197800"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101" name="Google Shape;7101;p156"/>
            <p:cNvCxnSpPr/>
            <p:nvPr/>
          </p:nvCxnSpPr>
          <p:spPr>
            <a:xfrm rot="10800000">
              <a:off x="7146485"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102" name="Google Shape;7102;p156"/>
            <p:cNvCxnSpPr/>
            <p:nvPr/>
          </p:nvCxnSpPr>
          <p:spPr>
            <a:xfrm rot="10800000">
              <a:off x="7095171"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103" name="Google Shape;7103;p156"/>
            <p:cNvCxnSpPr/>
            <p:nvPr/>
          </p:nvCxnSpPr>
          <p:spPr>
            <a:xfrm rot="10800000">
              <a:off x="7043856"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104" name="Google Shape;7104;p156"/>
            <p:cNvCxnSpPr/>
            <p:nvPr/>
          </p:nvCxnSpPr>
          <p:spPr>
            <a:xfrm rot="10800000">
              <a:off x="6992541"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105" name="Google Shape;7105;p156"/>
            <p:cNvCxnSpPr/>
            <p:nvPr/>
          </p:nvCxnSpPr>
          <p:spPr>
            <a:xfrm rot="10800000">
              <a:off x="6941227" y="5189971"/>
              <a:ext cx="0" cy="155752"/>
            </a:xfrm>
            <a:prstGeom prst="straightConnector1">
              <a:avLst/>
            </a:prstGeom>
            <a:noFill/>
            <a:ln cap="flat" cmpd="sng" w="12700">
              <a:solidFill>
                <a:srgbClr val="FF0000"/>
              </a:solidFill>
              <a:prstDash val="solid"/>
              <a:miter lim="800000"/>
              <a:headEnd len="sm" w="sm" type="none"/>
              <a:tailEnd len="sm" w="sm" type="none"/>
            </a:ln>
          </p:spPr>
        </p:cxnSp>
      </p:grpSp>
      <p:grpSp>
        <p:nvGrpSpPr>
          <p:cNvPr id="7106" name="Google Shape;7106;p156"/>
          <p:cNvGrpSpPr/>
          <p:nvPr/>
        </p:nvGrpSpPr>
        <p:grpSpPr>
          <a:xfrm>
            <a:off x="7428575" y="2677315"/>
            <a:ext cx="3355719" cy="1705017"/>
            <a:chOff x="7428575" y="2677315"/>
            <a:chExt cx="3355719" cy="1705017"/>
          </a:xfrm>
        </p:grpSpPr>
        <p:sp>
          <p:nvSpPr>
            <p:cNvPr id="7107" name="Google Shape;7107;p156"/>
            <p:cNvSpPr/>
            <p:nvPr/>
          </p:nvSpPr>
          <p:spPr>
            <a:xfrm>
              <a:off x="9335149" y="2701273"/>
              <a:ext cx="1406838" cy="1681059"/>
            </a:xfrm>
            <a:custGeom>
              <a:rect b="b" l="l" r="r" t="t"/>
              <a:pathLst>
                <a:path extrusionOk="0" h="1681059" w="1541303">
                  <a:moveTo>
                    <a:pt x="0" y="1681059"/>
                  </a:moveTo>
                  <a:lnTo>
                    <a:pt x="539056" y="1465436"/>
                  </a:lnTo>
                  <a:lnTo>
                    <a:pt x="1541303" y="1445471"/>
                  </a:lnTo>
                  <a:lnTo>
                    <a:pt x="1525331" y="0"/>
                  </a:lnTo>
                </a:path>
              </a:pathLst>
            </a:custGeom>
            <a:noFill/>
            <a:ln cap="flat" cmpd="sng" w="44450">
              <a:solidFill>
                <a:srgbClr val="2E75B5"/>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08" name="Google Shape;7108;p156"/>
            <p:cNvSpPr/>
            <p:nvPr/>
          </p:nvSpPr>
          <p:spPr>
            <a:xfrm>
              <a:off x="7473006" y="2677315"/>
              <a:ext cx="1446868" cy="1701024"/>
            </a:xfrm>
            <a:custGeom>
              <a:rect b="b" l="l" r="r" t="t"/>
              <a:pathLst>
                <a:path extrusionOk="0" h="1701024" w="1549289">
                  <a:moveTo>
                    <a:pt x="0" y="0"/>
                  </a:moveTo>
                  <a:lnTo>
                    <a:pt x="7986" y="1481408"/>
                  </a:lnTo>
                  <a:lnTo>
                    <a:pt x="1030198" y="1485401"/>
                  </a:lnTo>
                  <a:lnTo>
                    <a:pt x="1549289" y="1701024"/>
                  </a:lnTo>
                </a:path>
              </a:pathLst>
            </a:custGeom>
            <a:noFill/>
            <a:ln cap="flat" cmpd="sng" w="38100">
              <a:solidFill>
                <a:srgbClr val="2E75B5"/>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09" name="Google Shape;7109;p156"/>
            <p:cNvSpPr txBox="1"/>
            <p:nvPr/>
          </p:nvSpPr>
          <p:spPr>
            <a:xfrm>
              <a:off x="10184578" y="3556614"/>
              <a:ext cx="599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E75B5"/>
                </a:buClr>
                <a:buSzPts val="1800"/>
                <a:buFont typeface="Calibri"/>
                <a:buNone/>
              </a:pPr>
              <a:r>
                <a:rPr b="0" i="0" lang="en-US" sz="1800" u="none" cap="none" strike="noStrike">
                  <a:solidFill>
                    <a:srgbClr val="2E75B5"/>
                  </a:solidFill>
                  <a:latin typeface="Calibri"/>
                  <a:ea typeface="Calibri"/>
                  <a:cs typeface="Calibri"/>
                  <a:sym typeface="Calibri"/>
                </a:rPr>
                <a:t>data</a:t>
              </a:r>
              <a:endParaRPr/>
            </a:p>
          </p:txBody>
        </p:sp>
        <p:sp>
          <p:nvSpPr>
            <p:cNvPr id="7110" name="Google Shape;7110;p156"/>
            <p:cNvSpPr txBox="1"/>
            <p:nvPr/>
          </p:nvSpPr>
          <p:spPr>
            <a:xfrm>
              <a:off x="7428575" y="3517694"/>
              <a:ext cx="599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E75B5"/>
                </a:buClr>
                <a:buSzPts val="1800"/>
                <a:buFont typeface="Calibri"/>
                <a:buNone/>
              </a:pPr>
              <a:r>
                <a:rPr b="0" i="0" lang="en-US" sz="1800" u="none" cap="none" strike="noStrike">
                  <a:solidFill>
                    <a:srgbClr val="2E75B5"/>
                  </a:solidFill>
                  <a:latin typeface="Calibri"/>
                  <a:ea typeface="Calibri"/>
                  <a:cs typeface="Calibri"/>
                  <a:sym typeface="Calibri"/>
                </a:rPr>
                <a:t>data</a:t>
              </a:r>
              <a:endParaRPr/>
            </a:p>
          </p:txBody>
        </p:sp>
      </p:grpSp>
      <p:grpSp>
        <p:nvGrpSpPr>
          <p:cNvPr id="7111" name="Google Shape;7111;p156"/>
          <p:cNvGrpSpPr/>
          <p:nvPr/>
        </p:nvGrpSpPr>
        <p:grpSpPr>
          <a:xfrm>
            <a:off x="6799618" y="2691243"/>
            <a:ext cx="4657206" cy="1827509"/>
            <a:chOff x="6799618" y="2691243"/>
            <a:chExt cx="4657206" cy="1827509"/>
          </a:xfrm>
        </p:grpSpPr>
        <p:sp>
          <p:nvSpPr>
            <p:cNvPr id="7112" name="Google Shape;7112;p156"/>
            <p:cNvSpPr/>
            <p:nvPr/>
          </p:nvSpPr>
          <p:spPr>
            <a:xfrm>
              <a:off x="7353946" y="2691243"/>
              <a:ext cx="3498244" cy="1827509"/>
            </a:xfrm>
            <a:custGeom>
              <a:rect b="b" l="l" r="r" t="t"/>
              <a:pathLst>
                <a:path extrusionOk="0" h="1827509" w="3832605">
                  <a:moveTo>
                    <a:pt x="0" y="0"/>
                  </a:moveTo>
                  <a:lnTo>
                    <a:pt x="15169" y="1588809"/>
                  </a:lnTo>
                  <a:lnTo>
                    <a:pt x="1185946" y="1592482"/>
                  </a:lnTo>
                  <a:lnTo>
                    <a:pt x="1572183" y="1823837"/>
                  </a:lnTo>
                  <a:lnTo>
                    <a:pt x="2147513" y="1827509"/>
                  </a:lnTo>
                  <a:lnTo>
                    <a:pt x="2727724" y="1591143"/>
                  </a:lnTo>
                  <a:lnTo>
                    <a:pt x="3832605" y="1589734"/>
                  </a:lnTo>
                  <a:cubicBezTo>
                    <a:pt x="3829493" y="1109929"/>
                    <a:pt x="3833014" y="605902"/>
                    <a:pt x="3829902" y="126097"/>
                  </a:cubicBezTo>
                </a:path>
              </a:pathLst>
            </a:custGeom>
            <a:noFill/>
            <a:ln cap="flat" cmpd="sng" w="254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13" name="Google Shape;7113;p156"/>
            <p:cNvSpPr txBox="1"/>
            <p:nvPr/>
          </p:nvSpPr>
          <p:spPr>
            <a:xfrm>
              <a:off x="6799618" y="3650736"/>
              <a:ext cx="64742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Calibri"/>
                <a:buNone/>
              </a:pPr>
              <a:r>
                <a:rPr b="0" i="0" lang="en-US" sz="1800" u="none" cap="none" strike="noStrike">
                  <a:solidFill>
                    <a:srgbClr val="00B050"/>
                  </a:solidFill>
                  <a:latin typeface="Calibri"/>
                  <a:ea typeface="Calibri"/>
                  <a:cs typeface="Calibri"/>
                  <a:sym typeface="Calibri"/>
                </a:rPr>
                <a:t>ACKs</a:t>
              </a:r>
              <a:endParaRPr/>
            </a:p>
          </p:txBody>
        </p:sp>
        <p:sp>
          <p:nvSpPr>
            <p:cNvPr id="7114" name="Google Shape;7114;p156"/>
            <p:cNvSpPr txBox="1"/>
            <p:nvPr/>
          </p:nvSpPr>
          <p:spPr>
            <a:xfrm>
              <a:off x="10809403" y="3772400"/>
              <a:ext cx="64742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Calibri"/>
                <a:buNone/>
              </a:pPr>
              <a:r>
                <a:rPr b="0" i="0" lang="en-US" sz="1800" u="none" cap="none" strike="noStrike">
                  <a:solidFill>
                    <a:srgbClr val="00B050"/>
                  </a:solidFill>
                  <a:latin typeface="Calibri"/>
                  <a:ea typeface="Calibri"/>
                  <a:cs typeface="Calibri"/>
                  <a:sym typeface="Calibri"/>
                </a:rPr>
                <a:t>ACKs</a:t>
              </a:r>
              <a:endParaRPr/>
            </a:p>
          </p:txBody>
        </p:sp>
      </p:grpSp>
      <p:sp>
        <p:nvSpPr>
          <p:cNvPr id="7115" name="Google Shape;7115;p156"/>
          <p:cNvSpPr/>
          <p:nvPr/>
        </p:nvSpPr>
        <p:spPr>
          <a:xfrm>
            <a:off x="11178866" y="2363683"/>
            <a:ext cx="250825" cy="12128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16" name="Google Shape;7116;p156"/>
          <p:cNvGrpSpPr/>
          <p:nvPr/>
        </p:nvGrpSpPr>
        <p:grpSpPr>
          <a:xfrm>
            <a:off x="11355079" y="3260620"/>
            <a:ext cx="231775" cy="441325"/>
            <a:chOff x="4140" y="429"/>
            <a:chExt cx="1425" cy="2396"/>
          </a:xfrm>
        </p:grpSpPr>
        <p:sp>
          <p:nvSpPr>
            <p:cNvPr id="7117" name="Google Shape;7117;p15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18" name="Google Shape;7118;p156"/>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19" name="Google Shape;7119;p15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20" name="Google Shape;7120;p15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21" name="Google Shape;7121;p156"/>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22" name="Google Shape;7122;p156"/>
            <p:cNvGrpSpPr/>
            <p:nvPr/>
          </p:nvGrpSpPr>
          <p:grpSpPr>
            <a:xfrm>
              <a:off x="4745" y="670"/>
              <a:ext cx="586" cy="146"/>
              <a:chOff x="609" y="2570"/>
              <a:chExt cx="731" cy="140"/>
            </a:xfrm>
          </p:grpSpPr>
          <p:sp>
            <p:nvSpPr>
              <p:cNvPr id="7123" name="Google Shape;7123;p156"/>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24" name="Google Shape;7124;p156"/>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25" name="Google Shape;7125;p156"/>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26" name="Google Shape;7126;p156"/>
            <p:cNvGrpSpPr/>
            <p:nvPr/>
          </p:nvGrpSpPr>
          <p:grpSpPr>
            <a:xfrm>
              <a:off x="4745" y="998"/>
              <a:ext cx="586" cy="129"/>
              <a:chOff x="612" y="2572"/>
              <a:chExt cx="731" cy="134"/>
            </a:xfrm>
          </p:grpSpPr>
          <p:sp>
            <p:nvSpPr>
              <p:cNvPr id="7127" name="Google Shape;7127;p156"/>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28" name="Google Shape;7128;p156"/>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29" name="Google Shape;7129;p156"/>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30" name="Google Shape;7130;p156"/>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31" name="Google Shape;7131;p156"/>
            <p:cNvGrpSpPr/>
            <p:nvPr/>
          </p:nvGrpSpPr>
          <p:grpSpPr>
            <a:xfrm>
              <a:off x="4735" y="1627"/>
              <a:ext cx="586" cy="215"/>
              <a:chOff x="614" y="2568"/>
              <a:chExt cx="730" cy="198"/>
            </a:xfrm>
          </p:grpSpPr>
          <p:sp>
            <p:nvSpPr>
              <p:cNvPr id="7132" name="Google Shape;7132;p156"/>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33" name="Google Shape;7133;p156"/>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34" name="Google Shape;7134;p15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35" name="Google Shape;7135;p156"/>
            <p:cNvGrpSpPr/>
            <p:nvPr/>
          </p:nvGrpSpPr>
          <p:grpSpPr>
            <a:xfrm>
              <a:off x="4735" y="1325"/>
              <a:ext cx="586" cy="138"/>
              <a:chOff x="609" y="2566"/>
              <a:chExt cx="730" cy="138"/>
            </a:xfrm>
          </p:grpSpPr>
          <p:sp>
            <p:nvSpPr>
              <p:cNvPr id="7136" name="Google Shape;7136;p156"/>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37" name="Google Shape;7137;p156"/>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38" name="Google Shape;7138;p156"/>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39" name="Google Shape;7139;p15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0" name="Google Shape;7140;p15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1" name="Google Shape;7141;p156"/>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2" name="Google Shape;7142;p15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3" name="Google Shape;7143;p156"/>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4" name="Google Shape;7144;p156"/>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5" name="Google Shape;7145;p156"/>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6" name="Google Shape;7146;p156"/>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147" name="Google Shape;7147;p156"/>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148" name="Google Shape;7148;p156"/>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149" name="Google Shape;7149;p156"/>
          <p:cNvSpPr txBox="1"/>
          <p:nvPr/>
        </p:nvSpPr>
        <p:spPr>
          <a:xfrm>
            <a:off x="921800" y="4257398"/>
            <a:ext cx="5562600" cy="632236"/>
          </a:xfrm>
          <a:prstGeom prst="rect">
            <a:avLst/>
          </a:prstGeom>
          <a:noFill/>
          <a:ln>
            <a:noFill/>
          </a:ln>
        </p:spPr>
        <p:txBody>
          <a:bodyPr anchorCtr="0" anchor="t" bIns="45700" lIns="91425" spcFirstLastPara="1" rIns="91425" wrap="square" tIns="45700">
            <a:normAutofit/>
          </a:bodyPr>
          <a:lstStyle/>
          <a:p>
            <a:pPr indent="-336550" lvl="0" marL="4667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approach taken by TCP</a:t>
            </a:r>
            <a:endParaRPr b="0" i="0" sz="3600" u="none" cap="none" strike="noStrike">
              <a:solidFill>
                <a:srgbClr val="000000"/>
              </a:solidFill>
              <a:latin typeface="Calibri"/>
              <a:ea typeface="Calibri"/>
              <a:cs typeface="Calibri"/>
              <a:sym typeface="Calibri"/>
            </a:endParaRPr>
          </a:p>
        </p:txBody>
      </p:sp>
      <p:sp>
        <p:nvSpPr>
          <p:cNvPr id="7150" name="Google Shape;7150;p15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06"/>
                                        </p:tgtEl>
                                        <p:attrNameLst>
                                          <p:attrName>style.visibility</p:attrName>
                                        </p:attrNameLst>
                                      </p:cBhvr>
                                      <p:to>
                                        <p:strVal val="visible"/>
                                      </p:to>
                                    </p:set>
                                    <p:animEffect filter="fade" transition="in">
                                      <p:cBhvr>
                                        <p:cTn dur="1000"/>
                                        <p:tgtEl>
                                          <p:spTgt spid="710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111"/>
                                        </p:tgtEl>
                                        <p:attrNameLst>
                                          <p:attrName>style.visibility</p:attrName>
                                        </p:attrNameLst>
                                      </p:cBhvr>
                                      <p:to>
                                        <p:strVal val="visible"/>
                                      </p:to>
                                    </p:set>
                                    <p:animEffect filter="fade" transition="in">
                                      <p:cBhvr>
                                        <p:cTn dur="1000"/>
                                        <p:tgtEl>
                                          <p:spTgt spid="71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49"/>
                                        </p:tgtEl>
                                        <p:attrNameLst>
                                          <p:attrName>style.visibility</p:attrName>
                                        </p:attrNameLst>
                                      </p:cBhvr>
                                      <p:to>
                                        <p:strVal val="visible"/>
                                      </p:to>
                                    </p:set>
                                    <p:animEffect filter="fade" transition="in">
                                      <p:cBhvr>
                                        <p:cTn dur="500"/>
                                        <p:tgtEl>
                                          <p:spTgt spid="71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5" name="Shape 7155"/>
        <p:cNvGrpSpPr/>
        <p:nvPr/>
      </p:nvGrpSpPr>
      <p:grpSpPr>
        <a:xfrm>
          <a:off x="0" y="0"/>
          <a:ext cx="0" cy="0"/>
          <a:chOff x="0" y="0"/>
          <a:chExt cx="0" cy="0"/>
        </a:xfrm>
      </p:grpSpPr>
      <p:sp>
        <p:nvSpPr>
          <p:cNvPr id="7156" name="Google Shape;7156;p157"/>
          <p:cNvSpPr txBox="1"/>
          <p:nvPr>
            <p:ph idx="1" type="body"/>
          </p:nvPr>
        </p:nvSpPr>
        <p:spPr>
          <a:xfrm>
            <a:off x="718945" y="5640403"/>
            <a:ext cx="5781368" cy="736333"/>
          </a:xfrm>
          <a:prstGeom prst="rect">
            <a:avLst/>
          </a:prstGeom>
          <a:noFill/>
          <a:ln>
            <a:noFill/>
          </a:ln>
        </p:spPr>
        <p:txBody>
          <a:bodyPr anchorCtr="0" anchor="t" bIns="45700" lIns="91425" spcFirstLastPara="1" rIns="91425" wrap="square" tIns="45700">
            <a:normAutofit/>
          </a:bodyPr>
          <a:lstStyle/>
          <a:p>
            <a:pPr indent="-277813" lvl="0" marL="407988" rtl="0" algn="l">
              <a:lnSpc>
                <a:spcPct val="90000"/>
              </a:lnSpc>
              <a:spcBef>
                <a:spcPts val="0"/>
              </a:spcBef>
              <a:spcAft>
                <a:spcPts val="0"/>
              </a:spcAft>
              <a:buSzPts val="3000"/>
              <a:buChar char="▪"/>
            </a:pPr>
            <a:r>
              <a:rPr lang="en-US" sz="3000"/>
              <a:t>TCP ECN, ATM, DECbit protocols</a:t>
            </a:r>
            <a:endParaRPr sz="3500"/>
          </a:p>
        </p:txBody>
      </p:sp>
      <p:sp>
        <p:nvSpPr>
          <p:cNvPr id="7157" name="Google Shape;7157;p157"/>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Approaches towards congestion control</a:t>
            </a:r>
            <a:endParaRPr sz="5400"/>
          </a:p>
        </p:txBody>
      </p:sp>
      <p:sp>
        <p:nvSpPr>
          <p:cNvPr id="7158" name="Google Shape;7158;p157"/>
          <p:cNvSpPr/>
          <p:nvPr/>
        </p:nvSpPr>
        <p:spPr>
          <a:xfrm>
            <a:off x="7675918" y="3459066"/>
            <a:ext cx="2848871" cy="1480906"/>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159" name="Google Shape;7159;p157"/>
          <p:cNvSpPr/>
          <p:nvPr/>
        </p:nvSpPr>
        <p:spPr>
          <a:xfrm>
            <a:off x="8314293" y="3762231"/>
            <a:ext cx="543096" cy="295229"/>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160" name="Google Shape;7160;p157"/>
          <p:cNvSpPr/>
          <p:nvPr/>
        </p:nvSpPr>
        <p:spPr>
          <a:xfrm>
            <a:off x="9356021" y="3755882"/>
            <a:ext cx="504984" cy="307927"/>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161" name="Google Shape;7161;p157"/>
          <p:cNvSpPr/>
          <p:nvPr/>
        </p:nvSpPr>
        <p:spPr>
          <a:xfrm>
            <a:off x="8290473" y="4147933"/>
            <a:ext cx="481164" cy="238088"/>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162" name="Google Shape;7162;p157"/>
          <p:cNvSpPr/>
          <p:nvPr/>
        </p:nvSpPr>
        <p:spPr>
          <a:xfrm>
            <a:off x="9238509" y="4124124"/>
            <a:ext cx="628848" cy="247611"/>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163" name="Google Shape;7163;p157"/>
          <p:cNvSpPr/>
          <p:nvPr/>
        </p:nvSpPr>
        <p:spPr>
          <a:xfrm>
            <a:off x="9905469" y="4178091"/>
            <a:ext cx="206440" cy="507920"/>
          </a:xfrm>
          <a:custGeom>
            <a:rect b="b" l="l" r="r" t="t"/>
            <a:pathLst>
              <a:path extrusionOk="0" h="500" w="118">
                <a:moveTo>
                  <a:pt x="0" y="500"/>
                </a:moveTo>
                <a:lnTo>
                  <a:pt x="11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164" name="Google Shape;7164;p157"/>
          <p:cNvSpPr/>
          <p:nvPr/>
        </p:nvSpPr>
        <p:spPr>
          <a:xfrm>
            <a:off x="8670005" y="4711407"/>
            <a:ext cx="736832" cy="74601"/>
          </a:xfrm>
          <a:custGeom>
            <a:rect b="b" l="l" r="r" t="t"/>
            <a:pathLst>
              <a:path extrusionOk="0" h="32" w="370">
                <a:moveTo>
                  <a:pt x="370" y="32"/>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7165" name="Google Shape;7165;p157"/>
          <p:cNvSpPr/>
          <p:nvPr/>
        </p:nvSpPr>
        <p:spPr>
          <a:xfrm>
            <a:off x="8133261" y="4171742"/>
            <a:ext cx="193736" cy="425383"/>
          </a:xfrm>
          <a:custGeom>
            <a:rect b="b" l="l" r="r" t="t"/>
            <a:pathLst>
              <a:path extrusionOk="0" h="412" w="176">
                <a:moveTo>
                  <a:pt x="162" y="408"/>
                </a:moveTo>
                <a:lnTo>
                  <a:pt x="176" y="412"/>
                </a:ln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nvGrpSpPr>
          <p:cNvPr id="7166" name="Google Shape;7166;p157"/>
          <p:cNvGrpSpPr/>
          <p:nvPr/>
        </p:nvGrpSpPr>
        <p:grpSpPr>
          <a:xfrm>
            <a:off x="9719734" y="3946352"/>
            <a:ext cx="578032" cy="285706"/>
            <a:chOff x="7493876" y="2774731"/>
            <a:chExt cx="1481958" cy="894622"/>
          </a:xfrm>
        </p:grpSpPr>
        <p:sp>
          <p:nvSpPr>
            <p:cNvPr id="7167" name="Google Shape;7167;p1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168" name="Google Shape;7168;p15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169" name="Google Shape;7169;p157"/>
            <p:cNvGrpSpPr/>
            <p:nvPr/>
          </p:nvGrpSpPr>
          <p:grpSpPr>
            <a:xfrm>
              <a:off x="7713663" y="2848339"/>
              <a:ext cx="1042107" cy="425543"/>
              <a:chOff x="7786941" y="2884917"/>
              <a:chExt cx="897649" cy="353919"/>
            </a:xfrm>
          </p:grpSpPr>
          <p:sp>
            <p:nvSpPr>
              <p:cNvPr id="7170" name="Google Shape;7170;p1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71" name="Google Shape;7171;p1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72" name="Google Shape;7172;p1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73" name="Google Shape;7173;p1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174" name="Google Shape;7174;p157"/>
          <p:cNvGrpSpPr/>
          <p:nvPr/>
        </p:nvGrpSpPr>
        <p:grpSpPr>
          <a:xfrm>
            <a:off x="9351606" y="4600112"/>
            <a:ext cx="578032" cy="285706"/>
            <a:chOff x="7493876" y="2774731"/>
            <a:chExt cx="1481958" cy="894622"/>
          </a:xfrm>
        </p:grpSpPr>
        <p:sp>
          <p:nvSpPr>
            <p:cNvPr id="7175" name="Google Shape;7175;p1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176" name="Google Shape;7176;p15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177" name="Google Shape;7177;p157"/>
            <p:cNvGrpSpPr/>
            <p:nvPr/>
          </p:nvGrpSpPr>
          <p:grpSpPr>
            <a:xfrm>
              <a:off x="7713663" y="2848339"/>
              <a:ext cx="1042107" cy="425543"/>
              <a:chOff x="7786941" y="2884917"/>
              <a:chExt cx="897649" cy="353919"/>
            </a:xfrm>
          </p:grpSpPr>
          <p:sp>
            <p:nvSpPr>
              <p:cNvPr id="7178" name="Google Shape;7178;p1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79" name="Google Shape;7179;p1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80" name="Google Shape;7180;p1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81" name="Google Shape;7181;p1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182" name="Google Shape;7182;p157"/>
          <p:cNvGrpSpPr/>
          <p:nvPr/>
        </p:nvGrpSpPr>
        <p:grpSpPr>
          <a:xfrm>
            <a:off x="8195132" y="4551443"/>
            <a:ext cx="578032" cy="285706"/>
            <a:chOff x="7493876" y="2774731"/>
            <a:chExt cx="1481958" cy="894622"/>
          </a:xfrm>
        </p:grpSpPr>
        <p:sp>
          <p:nvSpPr>
            <p:cNvPr id="7183" name="Google Shape;7183;p1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184" name="Google Shape;7184;p15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185" name="Google Shape;7185;p157"/>
            <p:cNvGrpSpPr/>
            <p:nvPr/>
          </p:nvGrpSpPr>
          <p:grpSpPr>
            <a:xfrm>
              <a:off x="7713663" y="2848339"/>
              <a:ext cx="1042107" cy="425543"/>
              <a:chOff x="7786941" y="2884917"/>
              <a:chExt cx="897649" cy="353919"/>
            </a:xfrm>
          </p:grpSpPr>
          <p:sp>
            <p:nvSpPr>
              <p:cNvPr id="7186" name="Google Shape;7186;p1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87" name="Google Shape;7187;p1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88" name="Google Shape;7188;p1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89" name="Google Shape;7189;p1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190" name="Google Shape;7190;p157"/>
          <p:cNvGrpSpPr/>
          <p:nvPr/>
        </p:nvGrpSpPr>
        <p:grpSpPr>
          <a:xfrm>
            <a:off x="8800632" y="3636044"/>
            <a:ext cx="578032" cy="285706"/>
            <a:chOff x="7493876" y="2774731"/>
            <a:chExt cx="1481958" cy="894622"/>
          </a:xfrm>
        </p:grpSpPr>
        <p:sp>
          <p:nvSpPr>
            <p:cNvPr id="7191" name="Google Shape;7191;p1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192" name="Google Shape;7192;p15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193" name="Google Shape;7193;p157"/>
            <p:cNvGrpSpPr/>
            <p:nvPr/>
          </p:nvGrpSpPr>
          <p:grpSpPr>
            <a:xfrm>
              <a:off x="7713663" y="2848339"/>
              <a:ext cx="1042107" cy="425543"/>
              <a:chOff x="7786941" y="2884917"/>
              <a:chExt cx="897649" cy="353919"/>
            </a:xfrm>
          </p:grpSpPr>
          <p:sp>
            <p:nvSpPr>
              <p:cNvPr id="7194" name="Google Shape;7194;p1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95" name="Google Shape;7195;p1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96" name="Google Shape;7196;p1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197" name="Google Shape;7197;p1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198" name="Google Shape;7198;p157"/>
          <p:cNvGrpSpPr/>
          <p:nvPr/>
        </p:nvGrpSpPr>
        <p:grpSpPr>
          <a:xfrm>
            <a:off x="8711293" y="4233883"/>
            <a:ext cx="578032" cy="285706"/>
            <a:chOff x="7493876" y="2774731"/>
            <a:chExt cx="1481958" cy="894622"/>
          </a:xfrm>
        </p:grpSpPr>
        <p:sp>
          <p:nvSpPr>
            <p:cNvPr id="7199" name="Google Shape;7199;p1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200" name="Google Shape;7200;p15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201" name="Google Shape;7201;p157"/>
            <p:cNvGrpSpPr/>
            <p:nvPr/>
          </p:nvGrpSpPr>
          <p:grpSpPr>
            <a:xfrm>
              <a:off x="7713663" y="2848339"/>
              <a:ext cx="1042107" cy="425543"/>
              <a:chOff x="7786941" y="2884917"/>
              <a:chExt cx="897649" cy="353919"/>
            </a:xfrm>
          </p:grpSpPr>
          <p:sp>
            <p:nvSpPr>
              <p:cNvPr id="7202" name="Google Shape;7202;p1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03" name="Google Shape;7203;p1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04" name="Google Shape;7204;p1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05" name="Google Shape;7205;p1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206" name="Google Shape;7206;p157"/>
          <p:cNvGrpSpPr/>
          <p:nvPr/>
        </p:nvGrpSpPr>
        <p:grpSpPr>
          <a:xfrm>
            <a:off x="7764614" y="3944180"/>
            <a:ext cx="578032" cy="285706"/>
            <a:chOff x="7493876" y="2774731"/>
            <a:chExt cx="1481958" cy="894622"/>
          </a:xfrm>
        </p:grpSpPr>
        <p:sp>
          <p:nvSpPr>
            <p:cNvPr id="7207" name="Google Shape;7207;p15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208" name="Google Shape;7208;p15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209" name="Google Shape;7209;p157"/>
            <p:cNvGrpSpPr/>
            <p:nvPr/>
          </p:nvGrpSpPr>
          <p:grpSpPr>
            <a:xfrm>
              <a:off x="7713663" y="2848339"/>
              <a:ext cx="1042107" cy="425543"/>
              <a:chOff x="7786941" y="2884917"/>
              <a:chExt cx="897649" cy="353919"/>
            </a:xfrm>
          </p:grpSpPr>
          <p:sp>
            <p:nvSpPr>
              <p:cNvPr id="7210" name="Google Shape;7210;p15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11" name="Google Shape;7211;p15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12" name="Google Shape;7212;p15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13" name="Google Shape;7213;p15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7214" name="Google Shape;7214;p157"/>
          <p:cNvSpPr/>
          <p:nvPr/>
        </p:nvSpPr>
        <p:spPr>
          <a:xfrm>
            <a:off x="11178866" y="2363683"/>
            <a:ext cx="250825" cy="1212850"/>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215" name="Google Shape;7215;p157"/>
          <p:cNvGrpSpPr/>
          <p:nvPr/>
        </p:nvGrpSpPr>
        <p:grpSpPr>
          <a:xfrm>
            <a:off x="11355079" y="3260620"/>
            <a:ext cx="231775" cy="441325"/>
            <a:chOff x="4140" y="429"/>
            <a:chExt cx="1425" cy="2396"/>
          </a:xfrm>
        </p:grpSpPr>
        <p:sp>
          <p:nvSpPr>
            <p:cNvPr id="7216" name="Google Shape;7216;p15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17" name="Google Shape;7217;p157"/>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18" name="Google Shape;7218;p15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19" name="Google Shape;7219;p15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20" name="Google Shape;7220;p157"/>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221" name="Google Shape;7221;p157"/>
            <p:cNvGrpSpPr/>
            <p:nvPr/>
          </p:nvGrpSpPr>
          <p:grpSpPr>
            <a:xfrm>
              <a:off x="4745" y="670"/>
              <a:ext cx="586" cy="146"/>
              <a:chOff x="609" y="2570"/>
              <a:chExt cx="731" cy="140"/>
            </a:xfrm>
          </p:grpSpPr>
          <p:sp>
            <p:nvSpPr>
              <p:cNvPr id="7222" name="Google Shape;7222;p157"/>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23" name="Google Shape;7223;p157"/>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224" name="Google Shape;7224;p157"/>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225" name="Google Shape;7225;p157"/>
            <p:cNvGrpSpPr/>
            <p:nvPr/>
          </p:nvGrpSpPr>
          <p:grpSpPr>
            <a:xfrm>
              <a:off x="4745" y="998"/>
              <a:ext cx="586" cy="129"/>
              <a:chOff x="612" y="2572"/>
              <a:chExt cx="731" cy="134"/>
            </a:xfrm>
          </p:grpSpPr>
          <p:sp>
            <p:nvSpPr>
              <p:cNvPr id="7226" name="Google Shape;7226;p157"/>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27" name="Google Shape;7227;p157"/>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228" name="Google Shape;7228;p157"/>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29" name="Google Shape;7229;p157"/>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230" name="Google Shape;7230;p157"/>
            <p:cNvGrpSpPr/>
            <p:nvPr/>
          </p:nvGrpSpPr>
          <p:grpSpPr>
            <a:xfrm>
              <a:off x="4735" y="1627"/>
              <a:ext cx="586" cy="215"/>
              <a:chOff x="614" y="2568"/>
              <a:chExt cx="730" cy="198"/>
            </a:xfrm>
          </p:grpSpPr>
          <p:sp>
            <p:nvSpPr>
              <p:cNvPr id="7231" name="Google Shape;7231;p157"/>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32" name="Google Shape;7232;p157"/>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233" name="Google Shape;7233;p15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234" name="Google Shape;7234;p157"/>
            <p:cNvGrpSpPr/>
            <p:nvPr/>
          </p:nvGrpSpPr>
          <p:grpSpPr>
            <a:xfrm>
              <a:off x="4735" y="1325"/>
              <a:ext cx="586" cy="138"/>
              <a:chOff x="609" y="2566"/>
              <a:chExt cx="730" cy="138"/>
            </a:xfrm>
          </p:grpSpPr>
          <p:sp>
            <p:nvSpPr>
              <p:cNvPr id="7235" name="Google Shape;7235;p157"/>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36" name="Google Shape;7236;p157"/>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237" name="Google Shape;7237;p157"/>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38" name="Google Shape;7238;p15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39" name="Google Shape;7239;p15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40" name="Google Shape;7240;p157"/>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41" name="Google Shape;7241;p15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42" name="Google Shape;7242;p157"/>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43" name="Google Shape;7243;p157"/>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44" name="Google Shape;7244;p157"/>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45" name="Google Shape;7245;p157"/>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246" name="Google Shape;7246;p157"/>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247" name="Google Shape;7247;p157"/>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248" name="Google Shape;7248;p157"/>
          <p:cNvSpPr/>
          <p:nvPr/>
        </p:nvSpPr>
        <p:spPr>
          <a:xfrm flipH="1">
            <a:off x="6810066" y="2305050"/>
            <a:ext cx="250825" cy="1201738"/>
          </a:xfrm>
          <a:custGeom>
            <a:rect b="b" l="l" r="r" t="t"/>
            <a:pathLst>
              <a:path extrusionOk="0" h="1284" w="366">
                <a:moveTo>
                  <a:pt x="366" y="1278"/>
                </a:moveTo>
                <a:lnTo>
                  <a:pt x="12" y="0"/>
                </a:lnTo>
                <a:lnTo>
                  <a:pt x="0" y="1224"/>
                </a:lnTo>
                <a:lnTo>
                  <a:pt x="186" y="1284"/>
                </a:lnTo>
                <a:lnTo>
                  <a:pt x="366" y="1278"/>
                </a:lnTo>
                <a:close/>
              </a:path>
            </a:pathLst>
          </a:custGeom>
          <a:gradFill>
            <a:gsLst>
              <a:gs pos="0">
                <a:srgbClr val="B2B2B2"/>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249" name="Google Shape;7249;p157"/>
          <p:cNvGrpSpPr/>
          <p:nvPr/>
        </p:nvGrpSpPr>
        <p:grpSpPr>
          <a:xfrm>
            <a:off x="6405254" y="3243263"/>
            <a:ext cx="525462" cy="434975"/>
            <a:chOff x="-44" y="1473"/>
            <a:chExt cx="981" cy="1105"/>
          </a:xfrm>
        </p:grpSpPr>
        <p:pic>
          <p:nvPicPr>
            <p:cNvPr descr="desktop_computer_stylized_medium" id="7250" name="Google Shape;7250;p15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251" name="Google Shape;7251;p15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252" name="Google Shape;7252;p157"/>
          <p:cNvGrpSpPr/>
          <p:nvPr/>
        </p:nvGrpSpPr>
        <p:grpSpPr>
          <a:xfrm>
            <a:off x="7045286" y="2362077"/>
            <a:ext cx="717868" cy="1154474"/>
            <a:chOff x="7664720" y="2799688"/>
            <a:chExt cx="717868" cy="1154474"/>
          </a:xfrm>
        </p:grpSpPr>
        <p:sp>
          <p:nvSpPr>
            <p:cNvPr id="7253" name="Google Shape;7253;p157"/>
            <p:cNvSpPr/>
            <p:nvPr/>
          </p:nvSpPr>
          <p:spPr>
            <a:xfrm>
              <a:off x="7671781" y="2799688"/>
              <a:ext cx="702570" cy="1154474"/>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rgbClr val="0000A3">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254" name="Google Shape;7254;p157"/>
            <p:cNvCxnSpPr/>
            <p:nvPr/>
          </p:nvCxnSpPr>
          <p:spPr>
            <a:xfrm>
              <a:off x="7664720" y="3029172"/>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255" name="Google Shape;7255;p157"/>
            <p:cNvCxnSpPr/>
            <p:nvPr/>
          </p:nvCxnSpPr>
          <p:spPr>
            <a:xfrm>
              <a:off x="7668839" y="3266304"/>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256" name="Google Shape;7256;p157"/>
            <p:cNvCxnSpPr/>
            <p:nvPr/>
          </p:nvCxnSpPr>
          <p:spPr>
            <a:xfrm>
              <a:off x="7680018" y="3499906"/>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257" name="Google Shape;7257;p157"/>
            <p:cNvCxnSpPr/>
            <p:nvPr/>
          </p:nvCxnSpPr>
          <p:spPr>
            <a:xfrm>
              <a:off x="7670015" y="3726448"/>
              <a:ext cx="702570" cy="0"/>
            </a:xfrm>
            <a:prstGeom prst="straightConnector1">
              <a:avLst/>
            </a:prstGeom>
            <a:noFill/>
            <a:ln cap="flat" cmpd="sng" w="19050">
              <a:solidFill>
                <a:schemeClr val="dk1"/>
              </a:solidFill>
              <a:prstDash val="solid"/>
              <a:miter lim="800000"/>
              <a:headEnd len="sm" w="sm" type="none"/>
              <a:tailEnd len="sm" w="sm" type="none"/>
            </a:ln>
          </p:spPr>
        </p:cxnSp>
      </p:grpSp>
      <p:grpSp>
        <p:nvGrpSpPr>
          <p:cNvPr id="7258" name="Google Shape;7258;p157"/>
          <p:cNvGrpSpPr/>
          <p:nvPr/>
        </p:nvGrpSpPr>
        <p:grpSpPr>
          <a:xfrm>
            <a:off x="10476914" y="2368655"/>
            <a:ext cx="717868" cy="1154474"/>
            <a:chOff x="7664720" y="2795550"/>
            <a:chExt cx="717868" cy="1154474"/>
          </a:xfrm>
        </p:grpSpPr>
        <p:sp>
          <p:nvSpPr>
            <p:cNvPr id="7259" name="Google Shape;7259;p157"/>
            <p:cNvSpPr/>
            <p:nvPr/>
          </p:nvSpPr>
          <p:spPr>
            <a:xfrm>
              <a:off x="7671781" y="2795550"/>
              <a:ext cx="702570" cy="1154474"/>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tl" dir="2700000" dist="38100">
                <a:srgbClr val="0000A3">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260" name="Google Shape;7260;p157"/>
            <p:cNvCxnSpPr/>
            <p:nvPr/>
          </p:nvCxnSpPr>
          <p:spPr>
            <a:xfrm>
              <a:off x="7664720" y="3029172"/>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261" name="Google Shape;7261;p157"/>
            <p:cNvCxnSpPr/>
            <p:nvPr/>
          </p:nvCxnSpPr>
          <p:spPr>
            <a:xfrm>
              <a:off x="7668839" y="3266304"/>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262" name="Google Shape;7262;p157"/>
            <p:cNvCxnSpPr/>
            <p:nvPr/>
          </p:nvCxnSpPr>
          <p:spPr>
            <a:xfrm>
              <a:off x="7680018" y="3499906"/>
              <a:ext cx="702570" cy="0"/>
            </a:xfrm>
            <a:prstGeom prst="straightConnector1">
              <a:avLst/>
            </a:prstGeom>
            <a:noFill/>
            <a:ln cap="flat" cmpd="sng" w="19050">
              <a:solidFill>
                <a:schemeClr val="dk1"/>
              </a:solidFill>
              <a:prstDash val="solid"/>
              <a:miter lim="800000"/>
              <a:headEnd len="sm" w="sm" type="none"/>
              <a:tailEnd len="sm" w="sm" type="none"/>
            </a:ln>
          </p:spPr>
        </p:cxnSp>
        <p:cxnSp>
          <p:nvCxnSpPr>
            <p:cNvPr id="7263" name="Google Shape;7263;p157"/>
            <p:cNvCxnSpPr/>
            <p:nvPr/>
          </p:nvCxnSpPr>
          <p:spPr>
            <a:xfrm>
              <a:off x="7670015" y="3726448"/>
              <a:ext cx="702570" cy="0"/>
            </a:xfrm>
            <a:prstGeom prst="straightConnector1">
              <a:avLst/>
            </a:prstGeom>
            <a:noFill/>
            <a:ln cap="flat" cmpd="sng" w="19050">
              <a:solidFill>
                <a:schemeClr val="dk1"/>
              </a:solidFill>
              <a:prstDash val="solid"/>
              <a:miter lim="800000"/>
              <a:headEnd len="sm" w="sm" type="none"/>
              <a:tailEnd len="sm" w="sm" type="none"/>
            </a:ln>
          </p:spPr>
        </p:cxnSp>
      </p:grpSp>
      <p:grpSp>
        <p:nvGrpSpPr>
          <p:cNvPr id="7264" name="Google Shape;7264;p157"/>
          <p:cNvGrpSpPr/>
          <p:nvPr/>
        </p:nvGrpSpPr>
        <p:grpSpPr>
          <a:xfrm>
            <a:off x="8867832" y="4245561"/>
            <a:ext cx="456701" cy="226548"/>
            <a:chOff x="6859123" y="5156933"/>
            <a:chExt cx="456701" cy="226548"/>
          </a:xfrm>
        </p:grpSpPr>
        <p:sp>
          <p:nvSpPr>
            <p:cNvPr id="7265" name="Google Shape;7265;p157"/>
            <p:cNvSpPr/>
            <p:nvPr/>
          </p:nvSpPr>
          <p:spPr>
            <a:xfrm>
              <a:off x="6859123" y="5156933"/>
              <a:ext cx="456701" cy="226548"/>
            </a:xfrm>
            <a:prstGeom prst="rect">
              <a:avLst/>
            </a:prstGeom>
            <a:solidFill>
              <a:srgbClr val="F989B2"/>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266" name="Google Shape;7266;p157"/>
            <p:cNvCxnSpPr/>
            <p:nvPr/>
          </p:nvCxnSpPr>
          <p:spPr>
            <a:xfrm rot="10800000">
              <a:off x="7249115"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267" name="Google Shape;7267;p157"/>
            <p:cNvCxnSpPr/>
            <p:nvPr/>
          </p:nvCxnSpPr>
          <p:spPr>
            <a:xfrm rot="10800000">
              <a:off x="7197800"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268" name="Google Shape;7268;p157"/>
            <p:cNvCxnSpPr/>
            <p:nvPr/>
          </p:nvCxnSpPr>
          <p:spPr>
            <a:xfrm rot="10800000">
              <a:off x="7146485"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269" name="Google Shape;7269;p157"/>
            <p:cNvCxnSpPr/>
            <p:nvPr/>
          </p:nvCxnSpPr>
          <p:spPr>
            <a:xfrm rot="10800000">
              <a:off x="7095171"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270" name="Google Shape;7270;p157"/>
            <p:cNvCxnSpPr/>
            <p:nvPr/>
          </p:nvCxnSpPr>
          <p:spPr>
            <a:xfrm rot="10800000">
              <a:off x="7043856"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271" name="Google Shape;7271;p157"/>
            <p:cNvCxnSpPr/>
            <p:nvPr/>
          </p:nvCxnSpPr>
          <p:spPr>
            <a:xfrm rot="10800000">
              <a:off x="6992541" y="5189971"/>
              <a:ext cx="0" cy="155752"/>
            </a:xfrm>
            <a:prstGeom prst="straightConnector1">
              <a:avLst/>
            </a:prstGeom>
            <a:noFill/>
            <a:ln cap="flat" cmpd="sng" w="12700">
              <a:solidFill>
                <a:srgbClr val="FF0000"/>
              </a:solidFill>
              <a:prstDash val="solid"/>
              <a:miter lim="800000"/>
              <a:headEnd len="sm" w="sm" type="none"/>
              <a:tailEnd len="sm" w="sm" type="none"/>
            </a:ln>
          </p:spPr>
        </p:cxnSp>
        <p:cxnSp>
          <p:nvCxnSpPr>
            <p:cNvPr id="7272" name="Google Shape;7272;p157"/>
            <p:cNvCxnSpPr/>
            <p:nvPr/>
          </p:nvCxnSpPr>
          <p:spPr>
            <a:xfrm rot="10800000">
              <a:off x="6941227" y="5189971"/>
              <a:ext cx="0" cy="155752"/>
            </a:xfrm>
            <a:prstGeom prst="straightConnector1">
              <a:avLst/>
            </a:prstGeom>
            <a:noFill/>
            <a:ln cap="flat" cmpd="sng" w="12700">
              <a:solidFill>
                <a:srgbClr val="FF0000"/>
              </a:solidFill>
              <a:prstDash val="solid"/>
              <a:miter lim="800000"/>
              <a:headEnd len="sm" w="sm" type="none"/>
              <a:tailEnd len="sm" w="sm" type="none"/>
            </a:ln>
          </p:spPr>
        </p:cxnSp>
      </p:grpSp>
      <p:grpSp>
        <p:nvGrpSpPr>
          <p:cNvPr id="7273" name="Google Shape;7273;p157"/>
          <p:cNvGrpSpPr/>
          <p:nvPr/>
        </p:nvGrpSpPr>
        <p:grpSpPr>
          <a:xfrm>
            <a:off x="7552398" y="2762175"/>
            <a:ext cx="3061681" cy="1433307"/>
            <a:chOff x="7552398" y="2762175"/>
            <a:chExt cx="3061681" cy="1433307"/>
          </a:xfrm>
        </p:grpSpPr>
        <p:sp>
          <p:nvSpPr>
            <p:cNvPr id="7274" name="Google Shape;7274;p157"/>
            <p:cNvSpPr/>
            <p:nvPr/>
          </p:nvSpPr>
          <p:spPr>
            <a:xfrm flipH="1">
              <a:off x="9104671" y="2771139"/>
              <a:ext cx="1509408" cy="1424343"/>
            </a:xfrm>
            <a:custGeom>
              <a:rect b="b" l="l" r="r" t="t"/>
              <a:pathLst>
                <a:path extrusionOk="0" h="1378340" w="1509408">
                  <a:moveTo>
                    <a:pt x="1509408" y="1378340"/>
                  </a:moveTo>
                  <a:cubicBezTo>
                    <a:pt x="1268229" y="509348"/>
                    <a:pt x="882368" y="54174"/>
                    <a:pt x="0" y="0"/>
                  </a:cubicBezTo>
                </a:path>
              </a:pathLst>
            </a:cu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75" name="Google Shape;7275;p157"/>
            <p:cNvSpPr/>
            <p:nvPr/>
          </p:nvSpPr>
          <p:spPr>
            <a:xfrm>
              <a:off x="7552398" y="2762175"/>
              <a:ext cx="1509408" cy="1424343"/>
            </a:xfrm>
            <a:custGeom>
              <a:rect b="b" l="l" r="r" t="t"/>
              <a:pathLst>
                <a:path extrusionOk="0" h="1378340" w="1509408">
                  <a:moveTo>
                    <a:pt x="1509408" y="1378340"/>
                  </a:moveTo>
                  <a:cubicBezTo>
                    <a:pt x="1268229" y="509348"/>
                    <a:pt x="882368" y="54174"/>
                    <a:pt x="0" y="0"/>
                  </a:cubicBezTo>
                </a:path>
              </a:pathLst>
            </a:cu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7276" name="Google Shape;7276;p157"/>
          <p:cNvGrpSpPr/>
          <p:nvPr/>
        </p:nvGrpSpPr>
        <p:grpSpPr>
          <a:xfrm>
            <a:off x="7428575" y="2677315"/>
            <a:ext cx="3355719" cy="1705017"/>
            <a:chOff x="7428575" y="2677315"/>
            <a:chExt cx="3355719" cy="1705017"/>
          </a:xfrm>
        </p:grpSpPr>
        <p:sp>
          <p:nvSpPr>
            <p:cNvPr id="7277" name="Google Shape;7277;p157"/>
            <p:cNvSpPr/>
            <p:nvPr/>
          </p:nvSpPr>
          <p:spPr>
            <a:xfrm>
              <a:off x="9335149" y="2701273"/>
              <a:ext cx="1406838" cy="1681059"/>
            </a:xfrm>
            <a:custGeom>
              <a:rect b="b" l="l" r="r" t="t"/>
              <a:pathLst>
                <a:path extrusionOk="0" h="1681059" w="1541303">
                  <a:moveTo>
                    <a:pt x="0" y="1681059"/>
                  </a:moveTo>
                  <a:lnTo>
                    <a:pt x="539056" y="1465436"/>
                  </a:lnTo>
                  <a:lnTo>
                    <a:pt x="1541303" y="1445471"/>
                  </a:lnTo>
                  <a:lnTo>
                    <a:pt x="1525331" y="0"/>
                  </a:lnTo>
                </a:path>
              </a:pathLst>
            </a:custGeom>
            <a:noFill/>
            <a:ln cap="flat" cmpd="sng" w="44450">
              <a:solidFill>
                <a:srgbClr val="2E75B5"/>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78" name="Google Shape;7278;p157"/>
            <p:cNvSpPr/>
            <p:nvPr/>
          </p:nvSpPr>
          <p:spPr>
            <a:xfrm>
              <a:off x="7473006" y="2677315"/>
              <a:ext cx="1446868" cy="1701024"/>
            </a:xfrm>
            <a:custGeom>
              <a:rect b="b" l="l" r="r" t="t"/>
              <a:pathLst>
                <a:path extrusionOk="0" h="1701024" w="1549289">
                  <a:moveTo>
                    <a:pt x="0" y="0"/>
                  </a:moveTo>
                  <a:lnTo>
                    <a:pt x="7986" y="1481408"/>
                  </a:lnTo>
                  <a:lnTo>
                    <a:pt x="1030198" y="1485401"/>
                  </a:lnTo>
                  <a:lnTo>
                    <a:pt x="1549289" y="1701024"/>
                  </a:lnTo>
                </a:path>
              </a:pathLst>
            </a:custGeom>
            <a:noFill/>
            <a:ln cap="flat" cmpd="sng" w="38100">
              <a:solidFill>
                <a:srgbClr val="2E75B5"/>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79" name="Google Shape;7279;p157"/>
            <p:cNvSpPr txBox="1"/>
            <p:nvPr/>
          </p:nvSpPr>
          <p:spPr>
            <a:xfrm>
              <a:off x="10184578" y="3556614"/>
              <a:ext cx="599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E75B5"/>
                </a:buClr>
                <a:buSzPts val="1800"/>
                <a:buFont typeface="Calibri"/>
                <a:buNone/>
              </a:pPr>
              <a:r>
                <a:rPr b="0" i="0" lang="en-US" sz="1800" u="none" cap="none" strike="noStrike">
                  <a:solidFill>
                    <a:srgbClr val="2E75B5"/>
                  </a:solidFill>
                  <a:latin typeface="Calibri"/>
                  <a:ea typeface="Calibri"/>
                  <a:cs typeface="Calibri"/>
                  <a:sym typeface="Calibri"/>
                </a:rPr>
                <a:t>data</a:t>
              </a:r>
              <a:endParaRPr/>
            </a:p>
          </p:txBody>
        </p:sp>
        <p:sp>
          <p:nvSpPr>
            <p:cNvPr id="7280" name="Google Shape;7280;p157"/>
            <p:cNvSpPr txBox="1"/>
            <p:nvPr/>
          </p:nvSpPr>
          <p:spPr>
            <a:xfrm>
              <a:off x="7428575" y="3517694"/>
              <a:ext cx="599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E75B5"/>
                </a:buClr>
                <a:buSzPts val="1800"/>
                <a:buFont typeface="Calibri"/>
                <a:buNone/>
              </a:pPr>
              <a:r>
                <a:rPr b="0" i="0" lang="en-US" sz="1800" u="none" cap="none" strike="noStrike">
                  <a:solidFill>
                    <a:srgbClr val="2E75B5"/>
                  </a:solidFill>
                  <a:latin typeface="Calibri"/>
                  <a:ea typeface="Calibri"/>
                  <a:cs typeface="Calibri"/>
                  <a:sym typeface="Calibri"/>
                </a:rPr>
                <a:t>data</a:t>
              </a:r>
              <a:endParaRPr/>
            </a:p>
          </p:txBody>
        </p:sp>
      </p:grpSp>
      <p:grpSp>
        <p:nvGrpSpPr>
          <p:cNvPr id="7281" name="Google Shape;7281;p157"/>
          <p:cNvGrpSpPr/>
          <p:nvPr/>
        </p:nvGrpSpPr>
        <p:grpSpPr>
          <a:xfrm>
            <a:off x="6799618" y="2691243"/>
            <a:ext cx="4657206" cy="1827509"/>
            <a:chOff x="6799618" y="2691243"/>
            <a:chExt cx="4657206" cy="1827509"/>
          </a:xfrm>
        </p:grpSpPr>
        <p:sp>
          <p:nvSpPr>
            <p:cNvPr id="7282" name="Google Shape;7282;p157"/>
            <p:cNvSpPr/>
            <p:nvPr/>
          </p:nvSpPr>
          <p:spPr>
            <a:xfrm>
              <a:off x="7353946" y="2691243"/>
              <a:ext cx="3498244" cy="1827509"/>
            </a:xfrm>
            <a:custGeom>
              <a:rect b="b" l="l" r="r" t="t"/>
              <a:pathLst>
                <a:path extrusionOk="0" h="1827509" w="3832605">
                  <a:moveTo>
                    <a:pt x="0" y="0"/>
                  </a:moveTo>
                  <a:lnTo>
                    <a:pt x="15169" y="1588809"/>
                  </a:lnTo>
                  <a:lnTo>
                    <a:pt x="1185946" y="1592482"/>
                  </a:lnTo>
                  <a:lnTo>
                    <a:pt x="1572183" y="1823837"/>
                  </a:lnTo>
                  <a:lnTo>
                    <a:pt x="2147513" y="1827509"/>
                  </a:lnTo>
                  <a:lnTo>
                    <a:pt x="2727724" y="1591143"/>
                  </a:lnTo>
                  <a:lnTo>
                    <a:pt x="3832605" y="1589734"/>
                  </a:lnTo>
                  <a:cubicBezTo>
                    <a:pt x="3829493" y="1109929"/>
                    <a:pt x="3833014" y="605902"/>
                    <a:pt x="3829902" y="126097"/>
                  </a:cubicBezTo>
                </a:path>
              </a:pathLst>
            </a:custGeom>
            <a:noFill/>
            <a:ln cap="flat" cmpd="sng" w="254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83" name="Google Shape;7283;p157"/>
            <p:cNvSpPr txBox="1"/>
            <p:nvPr/>
          </p:nvSpPr>
          <p:spPr>
            <a:xfrm>
              <a:off x="6799618" y="3650736"/>
              <a:ext cx="64742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Calibri"/>
                <a:buNone/>
              </a:pPr>
              <a:r>
                <a:rPr b="0" i="0" lang="en-US" sz="1800" u="none" cap="none" strike="noStrike">
                  <a:solidFill>
                    <a:srgbClr val="00B050"/>
                  </a:solidFill>
                  <a:latin typeface="Calibri"/>
                  <a:ea typeface="Calibri"/>
                  <a:cs typeface="Calibri"/>
                  <a:sym typeface="Calibri"/>
                </a:rPr>
                <a:t>ACKs</a:t>
              </a:r>
              <a:endParaRPr/>
            </a:p>
          </p:txBody>
        </p:sp>
        <p:sp>
          <p:nvSpPr>
            <p:cNvPr id="7284" name="Google Shape;7284;p157"/>
            <p:cNvSpPr txBox="1"/>
            <p:nvPr/>
          </p:nvSpPr>
          <p:spPr>
            <a:xfrm>
              <a:off x="10809403" y="3772400"/>
              <a:ext cx="64742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50"/>
                </a:buClr>
                <a:buSzPts val="1800"/>
                <a:buFont typeface="Calibri"/>
                <a:buNone/>
              </a:pPr>
              <a:r>
                <a:rPr b="0" i="0" lang="en-US" sz="1800" u="none" cap="none" strike="noStrike">
                  <a:solidFill>
                    <a:srgbClr val="00B050"/>
                  </a:solidFill>
                  <a:latin typeface="Calibri"/>
                  <a:ea typeface="Calibri"/>
                  <a:cs typeface="Calibri"/>
                  <a:sym typeface="Calibri"/>
                </a:rPr>
                <a:t>ACKs</a:t>
              </a:r>
              <a:endParaRPr/>
            </a:p>
          </p:txBody>
        </p:sp>
      </p:grpSp>
      <p:sp>
        <p:nvSpPr>
          <p:cNvPr id="7285" name="Google Shape;7285;p157"/>
          <p:cNvSpPr txBox="1"/>
          <p:nvPr/>
        </p:nvSpPr>
        <p:spPr>
          <a:xfrm>
            <a:off x="8061221" y="2622756"/>
            <a:ext cx="20955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600"/>
              <a:buFont typeface="Calibri"/>
              <a:buNone/>
            </a:pPr>
            <a:r>
              <a:rPr b="0" i="0" lang="en-US" sz="1600" u="none" cap="none" strike="noStrike">
                <a:solidFill>
                  <a:srgbClr val="C00000"/>
                </a:solidFill>
                <a:latin typeface="Calibri"/>
                <a:ea typeface="Calibri"/>
                <a:cs typeface="Calibri"/>
                <a:sym typeface="Calibri"/>
              </a:rPr>
              <a:t>explicit congestion info</a:t>
            </a:r>
            <a:endParaRPr/>
          </a:p>
        </p:txBody>
      </p:sp>
      <p:sp>
        <p:nvSpPr>
          <p:cNvPr id="7286" name="Google Shape;7286;p157"/>
          <p:cNvSpPr txBox="1"/>
          <p:nvPr/>
        </p:nvSpPr>
        <p:spPr>
          <a:xfrm>
            <a:off x="698090" y="1818967"/>
            <a:ext cx="5781368" cy="3821437"/>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500"/>
              <a:buFont typeface="Noto Sans Symbols"/>
              <a:buNone/>
            </a:pPr>
            <a:r>
              <a:rPr b="0" i="0" lang="en-US" sz="3500" u="none" cap="none" strike="noStrike">
                <a:solidFill>
                  <a:srgbClr val="C00000"/>
                </a:solidFill>
                <a:latin typeface="Calibri"/>
                <a:ea typeface="Calibri"/>
                <a:cs typeface="Calibri"/>
                <a:sym typeface="Calibri"/>
              </a:rPr>
              <a:t>Network-assisted congestion control:</a:t>
            </a:r>
            <a:endParaRPr/>
          </a:p>
          <a:p>
            <a:pPr indent="-277813" lvl="0" marL="407988" marR="0" rtl="0" algn="l">
              <a:lnSpc>
                <a:spcPct val="90000"/>
              </a:lnSpc>
              <a:spcBef>
                <a:spcPts val="1000"/>
              </a:spcBef>
              <a:spcAft>
                <a:spcPts val="0"/>
              </a:spcAft>
              <a:buClr>
                <a:srgbClr val="0000A3"/>
              </a:buClr>
              <a:buSzPts val="3000"/>
              <a:buFont typeface="Noto Sans Symbols"/>
              <a:buChar char="▪"/>
            </a:pPr>
            <a:r>
              <a:rPr b="0" i="0" lang="en-US" sz="3000" u="none" cap="none" strike="noStrike">
                <a:solidFill>
                  <a:srgbClr val="000000"/>
                </a:solidFill>
                <a:latin typeface="Calibri"/>
                <a:ea typeface="Calibri"/>
                <a:cs typeface="Calibri"/>
                <a:sym typeface="Calibri"/>
              </a:rPr>
              <a:t>routers provide </a:t>
            </a:r>
            <a:r>
              <a:rPr b="0" i="1" lang="en-US" sz="3000" u="none" cap="none" strike="noStrike">
                <a:solidFill>
                  <a:srgbClr val="C00000"/>
                </a:solidFill>
                <a:latin typeface="Calibri"/>
                <a:ea typeface="Calibri"/>
                <a:cs typeface="Calibri"/>
                <a:sym typeface="Calibri"/>
              </a:rPr>
              <a:t>direct</a:t>
            </a:r>
            <a:r>
              <a:rPr b="0" i="0" lang="en-US" sz="3000" u="none" cap="none" strike="noStrike">
                <a:solidFill>
                  <a:srgbClr val="000000"/>
                </a:solidFill>
                <a:latin typeface="Calibri"/>
                <a:ea typeface="Calibri"/>
                <a:cs typeface="Calibri"/>
                <a:sym typeface="Calibri"/>
              </a:rPr>
              <a:t> feedback to sending/receiving hosts with flows passing through congested router</a:t>
            </a:r>
            <a:endParaRPr/>
          </a:p>
          <a:p>
            <a:pPr indent="-277813" lvl="0" marL="407988" marR="0" rtl="0" algn="l">
              <a:lnSpc>
                <a:spcPct val="90000"/>
              </a:lnSpc>
              <a:spcBef>
                <a:spcPts val="1000"/>
              </a:spcBef>
              <a:spcAft>
                <a:spcPts val="0"/>
              </a:spcAft>
              <a:buClr>
                <a:srgbClr val="0000A3"/>
              </a:buClr>
              <a:buSzPts val="3000"/>
              <a:buFont typeface="Noto Sans Symbols"/>
              <a:buChar char="▪"/>
            </a:pPr>
            <a:r>
              <a:rPr b="0" i="0" lang="en-US" sz="3000" u="none" cap="none" strike="noStrike">
                <a:solidFill>
                  <a:srgbClr val="000000"/>
                </a:solidFill>
                <a:latin typeface="Calibri"/>
                <a:ea typeface="Calibri"/>
                <a:cs typeface="Calibri"/>
                <a:sym typeface="Calibri"/>
              </a:rPr>
              <a:t>may indicate congestion level or explicitly set sending rate</a:t>
            </a:r>
            <a:endParaRPr/>
          </a:p>
        </p:txBody>
      </p:sp>
      <p:sp>
        <p:nvSpPr>
          <p:cNvPr id="7287" name="Google Shape;7287;p15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76"/>
                                        </p:tgtEl>
                                        <p:attrNameLst>
                                          <p:attrName>style.visibility</p:attrName>
                                        </p:attrNameLst>
                                      </p:cBhvr>
                                      <p:to>
                                        <p:strVal val="visible"/>
                                      </p:to>
                                    </p:set>
                                    <p:animEffect filter="fade" transition="in">
                                      <p:cBhvr>
                                        <p:cTn dur="1000"/>
                                        <p:tgtEl>
                                          <p:spTgt spid="727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281"/>
                                        </p:tgtEl>
                                        <p:attrNameLst>
                                          <p:attrName>style.visibility</p:attrName>
                                        </p:attrNameLst>
                                      </p:cBhvr>
                                      <p:to>
                                        <p:strVal val="visible"/>
                                      </p:to>
                                    </p:set>
                                    <p:animEffect filter="fade" transition="in">
                                      <p:cBhvr>
                                        <p:cTn dur="1000"/>
                                        <p:tgtEl>
                                          <p:spTgt spid="72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73"/>
                                        </p:tgtEl>
                                        <p:attrNameLst>
                                          <p:attrName>style.visibility</p:attrName>
                                        </p:attrNameLst>
                                      </p:cBhvr>
                                      <p:to>
                                        <p:strVal val="visible"/>
                                      </p:to>
                                    </p:set>
                                    <p:animEffect filter="fade" transition="in">
                                      <p:cBhvr>
                                        <p:cTn dur="500"/>
                                        <p:tgtEl>
                                          <p:spTgt spid="727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285"/>
                                        </p:tgtEl>
                                        <p:attrNameLst>
                                          <p:attrName>style.visibility</p:attrName>
                                        </p:attrNameLst>
                                      </p:cBhvr>
                                      <p:to>
                                        <p:strVal val="visible"/>
                                      </p:to>
                                    </p:set>
                                    <p:animEffect filter="fade" transition="in">
                                      <p:cBhvr>
                                        <p:cTn dur="500"/>
                                        <p:tgtEl>
                                          <p:spTgt spid="72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56">
                                            <p:txEl>
                                              <p:pRg end="0" st="0"/>
                                            </p:txEl>
                                          </p:spTgt>
                                        </p:tgtEl>
                                        <p:attrNameLst>
                                          <p:attrName>style.visibility</p:attrName>
                                        </p:attrNameLst>
                                      </p:cBhvr>
                                      <p:to>
                                        <p:strVal val="visible"/>
                                      </p:to>
                                    </p:set>
                                    <p:animEffect filter="fade" transition="in">
                                      <p:cBhvr>
                                        <p:cTn dur="500"/>
                                        <p:tgtEl>
                                          <p:spTgt spid="715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2" name="Shape 7292"/>
        <p:cNvGrpSpPr/>
        <p:nvPr/>
      </p:nvGrpSpPr>
      <p:grpSpPr>
        <a:xfrm>
          <a:off x="0" y="0"/>
          <a:ext cx="0" cy="0"/>
          <a:chOff x="0" y="0"/>
          <a:chExt cx="0" cy="0"/>
        </a:xfrm>
      </p:grpSpPr>
      <p:sp>
        <p:nvSpPr>
          <p:cNvPr id="7293" name="Google Shape;7293;p158"/>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3: roadmap</a:t>
            </a:r>
            <a:endParaRPr/>
          </a:p>
        </p:txBody>
      </p:sp>
      <p:sp>
        <p:nvSpPr>
          <p:cNvPr id="7294" name="Google Shape;7294;p158"/>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SzPts val="3200"/>
              <a:buChar char="▪"/>
            </a:pPr>
            <a:r>
              <a:rPr lang="en-US" sz="3200">
                <a:solidFill>
                  <a:srgbClr val="C00000"/>
                </a:solidFill>
              </a:rPr>
              <a:t>TCP congestion control</a:t>
            </a:r>
            <a:endParaRPr/>
          </a:p>
          <a:p>
            <a:pPr indent="-285750" lvl="0" marL="403225" rtl="0" algn="l">
              <a:lnSpc>
                <a:spcPct val="90000"/>
              </a:lnSpc>
              <a:spcBef>
                <a:spcPts val="800"/>
              </a:spcBef>
              <a:spcAft>
                <a:spcPts val="0"/>
              </a:spcAft>
              <a:buSzPts val="3200"/>
              <a:buChar char="▪"/>
            </a:pPr>
            <a:r>
              <a:rPr lang="en-US" sz="3200">
                <a:solidFill>
                  <a:srgbClr val="BFBFBF"/>
                </a:solidFill>
              </a:rPr>
              <a:t>Evolution of transport-layer functionality</a:t>
            </a:r>
            <a:endParaRPr sz="3200"/>
          </a:p>
          <a:p>
            <a:pPr indent="-222250" lvl="0" marL="352425" rtl="0" algn="l">
              <a:lnSpc>
                <a:spcPct val="90000"/>
              </a:lnSpc>
              <a:spcBef>
                <a:spcPts val="1000"/>
              </a:spcBef>
              <a:spcAft>
                <a:spcPts val="0"/>
              </a:spcAft>
              <a:buSzPts val="2400"/>
              <a:buFont typeface="Noto Sans Symbols"/>
              <a:buNone/>
            </a:pPr>
            <a:r>
              <a:t/>
            </a:r>
            <a:endParaRPr sz="2400"/>
          </a:p>
        </p:txBody>
      </p:sp>
      <p:sp>
        <p:nvSpPr>
          <p:cNvPr id="7295" name="Google Shape;7295;p15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7296" name="Google Shape;7296;p158"/>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1" name="Shape 7301"/>
        <p:cNvGrpSpPr/>
        <p:nvPr/>
      </p:nvGrpSpPr>
      <p:grpSpPr>
        <a:xfrm>
          <a:off x="0" y="0"/>
          <a:ext cx="0" cy="0"/>
          <a:chOff x="0" y="0"/>
          <a:chExt cx="0" cy="0"/>
        </a:xfrm>
      </p:grpSpPr>
      <p:sp>
        <p:nvSpPr>
          <p:cNvPr id="7302" name="Google Shape;7302;p159"/>
          <p:cNvSpPr txBox="1"/>
          <p:nvPr>
            <p:ph type="title"/>
          </p:nvPr>
        </p:nvSpPr>
        <p:spPr>
          <a:xfrm>
            <a:off x="192505" y="258153"/>
            <a:ext cx="12012195"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4800"/>
              <a:t>TCP congestion control: </a:t>
            </a:r>
            <a:r>
              <a:rPr b="0" i="0" lang="en-US" sz="2400" u="none" cap="none" strike="noStrike">
                <a:solidFill>
                  <a:srgbClr val="000099"/>
                </a:solidFill>
                <a:latin typeface="Gill Sans"/>
                <a:ea typeface="Gill Sans"/>
                <a:cs typeface="Gill Sans"/>
                <a:sym typeface="Gill Sans"/>
              </a:rPr>
              <a:t>Additive Increase Multiplicative Decrease </a:t>
            </a:r>
            <a:r>
              <a:rPr b="0" i="0" lang="en-US" sz="2200" u="none" cap="none" strike="noStrike">
                <a:solidFill>
                  <a:srgbClr val="000099"/>
                </a:solidFill>
                <a:latin typeface="Gill Sans"/>
                <a:ea typeface="Gill Sans"/>
                <a:cs typeface="Gill Sans"/>
                <a:sym typeface="Gill Sans"/>
              </a:rPr>
              <a:t>(</a:t>
            </a:r>
            <a:r>
              <a:rPr lang="en-US" sz="3100"/>
              <a:t>AIMD)</a:t>
            </a:r>
            <a:endParaRPr b="0" sz="4400"/>
          </a:p>
        </p:txBody>
      </p:sp>
      <p:sp>
        <p:nvSpPr>
          <p:cNvPr id="7303" name="Google Shape;7303;p159"/>
          <p:cNvSpPr/>
          <p:nvPr/>
        </p:nvSpPr>
        <p:spPr>
          <a:xfrm>
            <a:off x="901700" y="1240542"/>
            <a:ext cx="10274300" cy="1447800"/>
          </a:xfrm>
          <a:prstGeom prst="rect">
            <a:avLst/>
          </a:prstGeom>
          <a:noFill/>
          <a:ln>
            <a:noFill/>
          </a:ln>
        </p:spPr>
        <p:txBody>
          <a:bodyPr anchorCtr="0" anchor="t" bIns="45700" lIns="91425" spcFirstLastPara="1" rIns="91425" wrap="square" tIns="45700">
            <a:noAutofit/>
          </a:bodyPr>
          <a:lstStyle/>
          <a:p>
            <a:pPr indent="-292100" lvl="0" marL="292100" marR="0" rtl="0" algn="l">
              <a:lnSpc>
                <a:spcPct val="85000"/>
              </a:lnSpc>
              <a:spcBef>
                <a:spcPts val="0"/>
              </a:spcBef>
              <a:spcAft>
                <a:spcPts val="0"/>
              </a:spcAft>
              <a:buClr>
                <a:srgbClr val="000099"/>
              </a:buClr>
              <a:buSzPts val="2800"/>
              <a:buFont typeface="Noto Sans Symbols"/>
              <a:buChar char="▪"/>
            </a:pPr>
            <a:r>
              <a:rPr b="0" i="1" lang="en-US" sz="2800" u="none" cap="none" strike="noStrike">
                <a:solidFill>
                  <a:srgbClr val="C00000"/>
                </a:solidFill>
                <a:latin typeface="Calibri"/>
                <a:ea typeface="Calibri"/>
                <a:cs typeface="Calibri"/>
                <a:sym typeface="Calibri"/>
              </a:rPr>
              <a:t>approach: </a:t>
            </a:r>
            <a:r>
              <a:rPr b="0" i="0" lang="en-US" sz="2800" u="none" cap="none" strike="noStrike">
                <a:solidFill>
                  <a:srgbClr val="000000"/>
                </a:solidFill>
                <a:latin typeface="Calibri"/>
                <a:ea typeface="Calibri"/>
                <a:cs typeface="Calibri"/>
                <a:sym typeface="Calibri"/>
              </a:rPr>
              <a:t>senders can</a:t>
            </a:r>
            <a:r>
              <a:rPr b="0" i="1" lang="en-US" sz="2800" u="none" cap="none" strike="noStrike">
                <a:solidFill>
                  <a:srgbClr val="FF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increase sending rate until packet loss (congestion) occurs, then decrease sending rate on loss event</a:t>
            </a:r>
            <a:endParaRPr b="0" i="0" sz="2800" u="none" cap="none" strike="noStrike">
              <a:solidFill>
                <a:srgbClr val="000000"/>
              </a:solidFill>
              <a:latin typeface="Gill Sans"/>
              <a:ea typeface="Gill Sans"/>
              <a:cs typeface="Gill Sans"/>
              <a:sym typeface="Gill Sans"/>
            </a:endParaRPr>
          </a:p>
        </p:txBody>
      </p:sp>
      <p:sp>
        <p:nvSpPr>
          <p:cNvPr id="7304" name="Google Shape;7304;p159"/>
          <p:cNvSpPr txBox="1"/>
          <p:nvPr/>
        </p:nvSpPr>
        <p:spPr>
          <a:xfrm>
            <a:off x="362713" y="4594939"/>
            <a:ext cx="2769156" cy="150810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13A3"/>
              </a:buClr>
              <a:buSzPts val="3600"/>
              <a:buFont typeface="Calibri"/>
              <a:buNone/>
            </a:pPr>
            <a:r>
              <a:rPr b="1" i="0" lang="en-US" sz="3600" u="none" cap="none" strike="noStrike">
                <a:solidFill>
                  <a:srgbClr val="0013A3"/>
                </a:solidFill>
                <a:latin typeface="Calibri"/>
                <a:ea typeface="Calibri"/>
                <a:cs typeface="Calibri"/>
                <a:sym typeface="Calibri"/>
              </a:rPr>
              <a:t>AIMD</a:t>
            </a:r>
            <a:r>
              <a:rPr b="0" i="0" lang="en-US" sz="2800" u="none" cap="none" strike="noStrike">
                <a:solidFill>
                  <a:srgbClr val="000000"/>
                </a:solidFill>
                <a:latin typeface="Calibri"/>
                <a:ea typeface="Calibri"/>
                <a:cs typeface="Calibri"/>
                <a:sym typeface="Calibri"/>
              </a:rPr>
              <a:t> sawtooth</a:t>
            </a:r>
            <a:endParaRPr/>
          </a:p>
          <a:p>
            <a:pPr indent="0" lvl="0" marL="0" marR="0" rtl="0" algn="r">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behavior: </a:t>
            </a:r>
            <a:r>
              <a:rPr b="0" i="1" lang="en-US" sz="2800" u="none" cap="none" strike="noStrike">
                <a:solidFill>
                  <a:srgbClr val="0013A3"/>
                </a:solidFill>
                <a:latin typeface="Calibri"/>
                <a:ea typeface="Calibri"/>
                <a:cs typeface="Calibri"/>
                <a:sym typeface="Calibri"/>
              </a:rPr>
              <a:t>probing</a:t>
            </a:r>
            <a:endParaRPr/>
          </a:p>
          <a:p>
            <a:pPr indent="0" lvl="0" marL="0" marR="0" rtl="0" algn="r">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for bandwidth</a:t>
            </a:r>
            <a:endParaRPr/>
          </a:p>
        </p:txBody>
      </p:sp>
      <p:sp>
        <p:nvSpPr>
          <p:cNvPr id="7305" name="Google Shape;7305;p159"/>
          <p:cNvSpPr/>
          <p:nvPr/>
        </p:nvSpPr>
        <p:spPr>
          <a:xfrm>
            <a:off x="4717339" y="3774454"/>
            <a:ext cx="685800" cy="304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cxnSp>
        <p:nvCxnSpPr>
          <p:cNvPr id="7306" name="Google Shape;7306;p159"/>
          <p:cNvCxnSpPr/>
          <p:nvPr/>
        </p:nvCxnSpPr>
        <p:spPr>
          <a:xfrm flipH="1" rot="10800000">
            <a:off x="3898189" y="5196854"/>
            <a:ext cx="169863" cy="169862"/>
          </a:xfrm>
          <a:prstGeom prst="straightConnector1">
            <a:avLst/>
          </a:prstGeom>
          <a:noFill/>
          <a:ln cap="flat" cmpd="sng" w="38100">
            <a:solidFill>
              <a:schemeClr val="dk1"/>
            </a:solidFill>
            <a:prstDash val="solid"/>
            <a:round/>
            <a:headEnd len="med" w="med" type="none"/>
            <a:tailEnd len="med" w="med" type="none"/>
          </a:ln>
        </p:spPr>
      </p:cxnSp>
      <p:cxnSp>
        <p:nvCxnSpPr>
          <p:cNvPr id="7307" name="Google Shape;7307;p159"/>
          <p:cNvCxnSpPr/>
          <p:nvPr/>
        </p:nvCxnSpPr>
        <p:spPr>
          <a:xfrm>
            <a:off x="4079164" y="5185741"/>
            <a:ext cx="0" cy="642938"/>
          </a:xfrm>
          <a:prstGeom prst="straightConnector1">
            <a:avLst/>
          </a:prstGeom>
          <a:noFill/>
          <a:ln cap="flat" cmpd="sng" w="38100">
            <a:solidFill>
              <a:schemeClr val="dk1"/>
            </a:solidFill>
            <a:prstDash val="solid"/>
            <a:round/>
            <a:headEnd len="med" w="med" type="none"/>
            <a:tailEnd len="med" w="med" type="none"/>
          </a:ln>
        </p:spPr>
      </p:cxnSp>
      <p:cxnSp>
        <p:nvCxnSpPr>
          <p:cNvPr id="7308" name="Google Shape;7308;p159"/>
          <p:cNvCxnSpPr/>
          <p:nvPr/>
        </p:nvCxnSpPr>
        <p:spPr>
          <a:xfrm flipH="1" rot="10800000">
            <a:off x="4068052" y="4869829"/>
            <a:ext cx="982662" cy="981075"/>
          </a:xfrm>
          <a:prstGeom prst="straightConnector1">
            <a:avLst/>
          </a:prstGeom>
          <a:noFill/>
          <a:ln cap="flat" cmpd="sng" w="38100">
            <a:solidFill>
              <a:schemeClr val="dk1"/>
            </a:solidFill>
            <a:prstDash val="solid"/>
            <a:round/>
            <a:headEnd len="med" w="med" type="none"/>
            <a:tailEnd len="med" w="med" type="none"/>
          </a:ln>
        </p:spPr>
      </p:cxnSp>
      <p:cxnSp>
        <p:nvCxnSpPr>
          <p:cNvPr id="7309" name="Google Shape;7309;p159"/>
          <p:cNvCxnSpPr/>
          <p:nvPr/>
        </p:nvCxnSpPr>
        <p:spPr>
          <a:xfrm>
            <a:off x="5039602" y="4871416"/>
            <a:ext cx="0" cy="801688"/>
          </a:xfrm>
          <a:prstGeom prst="straightConnector1">
            <a:avLst/>
          </a:prstGeom>
          <a:noFill/>
          <a:ln cap="flat" cmpd="sng" w="38100">
            <a:solidFill>
              <a:schemeClr val="dk1"/>
            </a:solidFill>
            <a:prstDash val="solid"/>
            <a:round/>
            <a:headEnd len="med" w="med" type="none"/>
            <a:tailEnd len="med" w="med" type="none"/>
          </a:ln>
        </p:spPr>
      </p:cxnSp>
      <p:cxnSp>
        <p:nvCxnSpPr>
          <p:cNvPr id="7310" name="Google Shape;7310;p159"/>
          <p:cNvCxnSpPr/>
          <p:nvPr/>
        </p:nvCxnSpPr>
        <p:spPr>
          <a:xfrm flipH="1" rot="10800000">
            <a:off x="5031664" y="5168279"/>
            <a:ext cx="525463" cy="523875"/>
          </a:xfrm>
          <a:prstGeom prst="straightConnector1">
            <a:avLst/>
          </a:prstGeom>
          <a:noFill/>
          <a:ln cap="flat" cmpd="sng" w="38100">
            <a:solidFill>
              <a:schemeClr val="dk1"/>
            </a:solidFill>
            <a:prstDash val="solid"/>
            <a:round/>
            <a:headEnd len="med" w="med" type="none"/>
            <a:tailEnd len="med" w="med" type="none"/>
          </a:ln>
        </p:spPr>
      </p:cxnSp>
      <p:cxnSp>
        <p:nvCxnSpPr>
          <p:cNvPr id="7311" name="Google Shape;7311;p159"/>
          <p:cNvCxnSpPr/>
          <p:nvPr/>
        </p:nvCxnSpPr>
        <p:spPr>
          <a:xfrm>
            <a:off x="5557127" y="5163516"/>
            <a:ext cx="0" cy="688975"/>
          </a:xfrm>
          <a:prstGeom prst="straightConnector1">
            <a:avLst/>
          </a:prstGeom>
          <a:noFill/>
          <a:ln cap="flat" cmpd="sng" w="38100">
            <a:solidFill>
              <a:schemeClr val="dk1"/>
            </a:solidFill>
            <a:prstDash val="solid"/>
            <a:round/>
            <a:headEnd len="med" w="med" type="none"/>
            <a:tailEnd len="med" w="med" type="none"/>
          </a:ln>
        </p:spPr>
      </p:cxnSp>
      <p:cxnSp>
        <p:nvCxnSpPr>
          <p:cNvPr id="7312" name="Google Shape;7312;p159"/>
          <p:cNvCxnSpPr/>
          <p:nvPr/>
        </p:nvCxnSpPr>
        <p:spPr>
          <a:xfrm flipH="1" rot="10800000">
            <a:off x="5568240" y="4849191"/>
            <a:ext cx="969963" cy="981075"/>
          </a:xfrm>
          <a:prstGeom prst="straightConnector1">
            <a:avLst/>
          </a:prstGeom>
          <a:noFill/>
          <a:ln cap="flat" cmpd="sng" w="38100">
            <a:solidFill>
              <a:schemeClr val="dk1"/>
            </a:solidFill>
            <a:prstDash val="solid"/>
            <a:round/>
            <a:headEnd len="med" w="med" type="none"/>
            <a:tailEnd len="med" w="med" type="none"/>
          </a:ln>
        </p:spPr>
      </p:cxnSp>
      <p:cxnSp>
        <p:nvCxnSpPr>
          <p:cNvPr id="7313" name="Google Shape;7313;p159"/>
          <p:cNvCxnSpPr/>
          <p:nvPr/>
        </p:nvCxnSpPr>
        <p:spPr>
          <a:xfrm>
            <a:off x="6533440" y="4849191"/>
            <a:ext cx="11113" cy="835025"/>
          </a:xfrm>
          <a:prstGeom prst="straightConnector1">
            <a:avLst/>
          </a:prstGeom>
          <a:noFill/>
          <a:ln cap="flat" cmpd="sng" w="38100">
            <a:solidFill>
              <a:schemeClr val="dk1"/>
            </a:solidFill>
            <a:prstDash val="solid"/>
            <a:round/>
            <a:headEnd len="med" w="med" type="none"/>
            <a:tailEnd len="med" w="med" type="none"/>
          </a:ln>
        </p:spPr>
      </p:cxnSp>
      <p:cxnSp>
        <p:nvCxnSpPr>
          <p:cNvPr id="7314" name="Google Shape;7314;p159"/>
          <p:cNvCxnSpPr/>
          <p:nvPr/>
        </p:nvCxnSpPr>
        <p:spPr>
          <a:xfrm flipH="1" rot="10800000">
            <a:off x="6538202" y="5012704"/>
            <a:ext cx="666750" cy="666750"/>
          </a:xfrm>
          <a:prstGeom prst="straightConnector1">
            <a:avLst/>
          </a:prstGeom>
          <a:noFill/>
          <a:ln cap="flat" cmpd="sng" w="38100">
            <a:solidFill>
              <a:schemeClr val="dk1"/>
            </a:solidFill>
            <a:prstDash val="solid"/>
            <a:round/>
            <a:headEnd len="med" w="med" type="none"/>
            <a:tailEnd len="med" w="med" type="none"/>
          </a:ln>
        </p:spPr>
      </p:cxnSp>
      <p:cxnSp>
        <p:nvCxnSpPr>
          <p:cNvPr id="7315" name="Google Shape;7315;p159"/>
          <p:cNvCxnSpPr/>
          <p:nvPr/>
        </p:nvCxnSpPr>
        <p:spPr>
          <a:xfrm>
            <a:off x="7204952" y="4998416"/>
            <a:ext cx="0" cy="747712"/>
          </a:xfrm>
          <a:prstGeom prst="straightConnector1">
            <a:avLst/>
          </a:prstGeom>
          <a:noFill/>
          <a:ln cap="flat" cmpd="sng" w="38100">
            <a:solidFill>
              <a:schemeClr val="dk1"/>
            </a:solidFill>
            <a:prstDash val="solid"/>
            <a:round/>
            <a:headEnd len="med" w="med" type="none"/>
            <a:tailEnd len="med" w="med" type="none"/>
          </a:ln>
        </p:spPr>
      </p:cxnSp>
      <p:cxnSp>
        <p:nvCxnSpPr>
          <p:cNvPr id="7316" name="Google Shape;7316;p159"/>
          <p:cNvCxnSpPr/>
          <p:nvPr/>
        </p:nvCxnSpPr>
        <p:spPr>
          <a:xfrm flipH="1" rot="10800000">
            <a:off x="7195427" y="4746004"/>
            <a:ext cx="876300" cy="1014412"/>
          </a:xfrm>
          <a:prstGeom prst="straightConnector1">
            <a:avLst/>
          </a:prstGeom>
          <a:noFill/>
          <a:ln cap="flat" cmpd="sng" w="38100">
            <a:solidFill>
              <a:schemeClr val="dk1"/>
            </a:solidFill>
            <a:prstDash val="solid"/>
            <a:round/>
            <a:headEnd len="med" w="med" type="none"/>
            <a:tailEnd len="med" w="med" type="none"/>
          </a:ln>
        </p:spPr>
      </p:cxnSp>
      <p:grpSp>
        <p:nvGrpSpPr>
          <p:cNvPr id="7317" name="Google Shape;7317;p159"/>
          <p:cNvGrpSpPr/>
          <p:nvPr/>
        </p:nvGrpSpPr>
        <p:grpSpPr>
          <a:xfrm>
            <a:off x="3886200" y="4593342"/>
            <a:ext cx="4155364" cy="2299666"/>
            <a:chOff x="4546600" y="4203700"/>
            <a:chExt cx="4155364" cy="2299666"/>
          </a:xfrm>
        </p:grpSpPr>
        <p:cxnSp>
          <p:nvCxnSpPr>
            <p:cNvPr id="7318" name="Google Shape;7318;p159"/>
            <p:cNvCxnSpPr/>
            <p:nvPr/>
          </p:nvCxnSpPr>
          <p:spPr>
            <a:xfrm>
              <a:off x="4558589" y="6176341"/>
              <a:ext cx="4143375" cy="0"/>
            </a:xfrm>
            <a:prstGeom prst="straightConnector1">
              <a:avLst/>
            </a:prstGeom>
            <a:noFill/>
            <a:ln cap="flat" cmpd="sng" w="28575">
              <a:solidFill>
                <a:schemeClr val="dk1"/>
              </a:solidFill>
              <a:prstDash val="solid"/>
              <a:round/>
              <a:headEnd len="med" w="med" type="none"/>
              <a:tailEnd len="med" w="med" type="triangle"/>
            </a:ln>
          </p:spPr>
        </p:cxnSp>
        <p:cxnSp>
          <p:nvCxnSpPr>
            <p:cNvPr id="7319" name="Google Shape;7319;p159"/>
            <p:cNvCxnSpPr/>
            <p:nvPr/>
          </p:nvCxnSpPr>
          <p:spPr>
            <a:xfrm>
              <a:off x="4546600" y="4203700"/>
              <a:ext cx="877" cy="1974229"/>
            </a:xfrm>
            <a:prstGeom prst="straightConnector1">
              <a:avLst/>
            </a:prstGeom>
            <a:noFill/>
            <a:ln cap="flat" cmpd="sng" w="28575">
              <a:solidFill>
                <a:schemeClr val="dk1"/>
              </a:solidFill>
              <a:prstDash val="solid"/>
              <a:round/>
              <a:headEnd len="med" w="med" type="none"/>
              <a:tailEnd len="med" w="med" type="none"/>
            </a:ln>
          </p:spPr>
        </p:cxnSp>
        <p:sp>
          <p:nvSpPr>
            <p:cNvPr id="7320" name="Google Shape;7320;p159"/>
            <p:cNvSpPr txBox="1"/>
            <p:nvPr/>
          </p:nvSpPr>
          <p:spPr>
            <a:xfrm>
              <a:off x="6125452" y="6166816"/>
              <a:ext cx="57626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time</a:t>
              </a:r>
              <a:endParaRPr/>
            </a:p>
          </p:txBody>
        </p:sp>
      </p:grpSp>
      <p:grpSp>
        <p:nvGrpSpPr>
          <p:cNvPr id="7321" name="Google Shape;7321;p159"/>
          <p:cNvGrpSpPr/>
          <p:nvPr/>
        </p:nvGrpSpPr>
        <p:grpSpPr>
          <a:xfrm>
            <a:off x="965200" y="2218442"/>
            <a:ext cx="5054600" cy="1905000"/>
            <a:chOff x="0" y="4533900"/>
            <a:chExt cx="4762500" cy="1905000"/>
          </a:xfrm>
        </p:grpSpPr>
        <p:sp>
          <p:nvSpPr>
            <p:cNvPr id="7322" name="Google Shape;7322;p159"/>
            <p:cNvSpPr/>
            <p:nvPr/>
          </p:nvSpPr>
          <p:spPr>
            <a:xfrm>
              <a:off x="406846" y="4737100"/>
              <a:ext cx="4334880" cy="1435100"/>
            </a:xfrm>
            <a:prstGeom prst="rect">
              <a:avLst/>
            </a:prstGeom>
            <a:solidFill>
              <a:schemeClr val="lt1"/>
            </a:solidFill>
            <a:ln cap="flat" cmpd="sng" w="127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23" name="Google Shape;7323;p159"/>
            <p:cNvSpPr/>
            <p:nvPr/>
          </p:nvSpPr>
          <p:spPr>
            <a:xfrm>
              <a:off x="0" y="4991100"/>
              <a:ext cx="4762500" cy="1447800"/>
            </a:xfrm>
            <a:prstGeom prst="rect">
              <a:avLst/>
            </a:prstGeom>
            <a:noFill/>
            <a:ln>
              <a:noFill/>
            </a:ln>
          </p:spPr>
          <p:txBody>
            <a:bodyPr anchorCtr="0" anchor="t" bIns="45700" lIns="91425" spcFirstLastPara="1" rIns="91425" wrap="square" tIns="45700">
              <a:noAutofit/>
            </a:bodyPr>
            <a:lstStyle/>
            <a:p>
              <a:pPr indent="0" lvl="1" marL="457200" marR="0" rtl="0" algn="l">
                <a:lnSpc>
                  <a:spcPct val="85000"/>
                </a:lnSpc>
                <a:spcBef>
                  <a:spcPts val="0"/>
                </a:spcBef>
                <a:spcAft>
                  <a:spcPts val="0"/>
                </a:spcAft>
                <a:buClr>
                  <a:srgbClr val="000099"/>
                </a:buClr>
                <a:buSzPts val="2600"/>
                <a:buFont typeface="Calibri"/>
                <a:buNone/>
              </a:pPr>
              <a:r>
                <a:rPr b="0" i="0" lang="en-US" sz="2600" u="none" cap="none" strike="noStrike">
                  <a:solidFill>
                    <a:srgbClr val="000000"/>
                  </a:solidFill>
                  <a:latin typeface="Calibri"/>
                  <a:ea typeface="Calibri"/>
                  <a:cs typeface="Calibri"/>
                  <a:sym typeface="Calibri"/>
                </a:rPr>
                <a:t>increase cwnd sending rate </a:t>
              </a:r>
              <a:r>
                <a:rPr b="0" i="0" lang="en-US" sz="2600" u="none" cap="none" strike="noStrike">
                  <a:solidFill>
                    <a:srgbClr val="000000"/>
                  </a:solidFill>
                  <a:latin typeface="Gill Sans"/>
                  <a:ea typeface="Gill Sans"/>
                  <a:cs typeface="Gill Sans"/>
                  <a:sym typeface="Gill Sans"/>
                </a:rPr>
                <a:t>by </a:t>
              </a:r>
              <a:r>
                <a:rPr b="0" i="0" lang="en-US" sz="2600" u="none" cap="none" strike="noStrike">
                  <a:solidFill>
                    <a:srgbClr val="000000"/>
                  </a:solidFill>
                  <a:latin typeface="Calibri"/>
                  <a:ea typeface="Calibri"/>
                  <a:cs typeface="Calibri"/>
                  <a:sym typeface="Calibri"/>
                </a:rPr>
                <a:t>1 maximum segment size every RTT until loss detected</a:t>
              </a:r>
              <a:endParaRPr b="0" i="1" sz="2600" u="none" cap="none" strike="noStrike">
                <a:solidFill>
                  <a:srgbClr val="000000"/>
                </a:solidFill>
                <a:latin typeface="Calibri"/>
                <a:ea typeface="Calibri"/>
                <a:cs typeface="Calibri"/>
                <a:sym typeface="Calibri"/>
              </a:endParaRPr>
            </a:p>
          </p:txBody>
        </p:sp>
        <p:sp>
          <p:nvSpPr>
            <p:cNvPr id="7324" name="Google Shape;7324;p159"/>
            <p:cNvSpPr/>
            <p:nvPr/>
          </p:nvSpPr>
          <p:spPr>
            <a:xfrm>
              <a:off x="508000" y="4533900"/>
              <a:ext cx="2667000" cy="4445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2800"/>
                <a:buFont typeface="Calibri"/>
                <a:buNone/>
              </a:pPr>
              <a:r>
                <a:rPr b="0" i="1" lang="en-US" sz="2800" u="sng" cap="none" strike="noStrike">
                  <a:solidFill>
                    <a:srgbClr val="00B050"/>
                  </a:solidFill>
                  <a:latin typeface="Calibri"/>
                  <a:ea typeface="Calibri"/>
                  <a:cs typeface="Calibri"/>
                  <a:sym typeface="Calibri"/>
                </a:rPr>
                <a:t>A</a:t>
              </a:r>
              <a:r>
                <a:rPr b="0" i="1" lang="en-US" sz="2800" u="none" cap="none" strike="noStrike">
                  <a:solidFill>
                    <a:srgbClr val="00B050"/>
                  </a:solidFill>
                  <a:latin typeface="Calibri"/>
                  <a:ea typeface="Calibri"/>
                  <a:cs typeface="Calibri"/>
                  <a:sym typeface="Calibri"/>
                </a:rPr>
                <a:t>dditive </a:t>
              </a:r>
              <a:r>
                <a:rPr b="0" i="1" lang="en-US" sz="2800" u="sng" cap="none" strike="noStrike">
                  <a:solidFill>
                    <a:srgbClr val="00B050"/>
                  </a:solidFill>
                  <a:latin typeface="Calibri"/>
                  <a:ea typeface="Calibri"/>
                  <a:cs typeface="Calibri"/>
                  <a:sym typeface="Calibri"/>
                </a:rPr>
                <a:t>I</a:t>
              </a:r>
              <a:r>
                <a:rPr b="0" i="1" lang="en-US" sz="2800" u="none" cap="none" strike="noStrike">
                  <a:solidFill>
                    <a:srgbClr val="00B050"/>
                  </a:solidFill>
                  <a:latin typeface="Calibri"/>
                  <a:ea typeface="Calibri"/>
                  <a:cs typeface="Calibri"/>
                  <a:sym typeface="Calibri"/>
                </a:rPr>
                <a:t>ncrease</a:t>
              </a:r>
              <a:endParaRPr b="0" i="0" sz="2800" u="none" cap="none" strike="noStrike">
                <a:solidFill>
                  <a:srgbClr val="00B050"/>
                </a:solidFill>
                <a:latin typeface="Gill Sans"/>
                <a:ea typeface="Gill Sans"/>
                <a:cs typeface="Gill Sans"/>
                <a:sym typeface="Gill Sans"/>
              </a:endParaRPr>
            </a:p>
          </p:txBody>
        </p:sp>
      </p:grpSp>
      <p:grpSp>
        <p:nvGrpSpPr>
          <p:cNvPr id="7325" name="Google Shape;7325;p159"/>
          <p:cNvGrpSpPr/>
          <p:nvPr/>
        </p:nvGrpSpPr>
        <p:grpSpPr>
          <a:xfrm>
            <a:off x="6007100" y="2269242"/>
            <a:ext cx="4749800" cy="1422400"/>
            <a:chOff x="38100" y="4533900"/>
            <a:chExt cx="4749800" cy="1422400"/>
          </a:xfrm>
        </p:grpSpPr>
        <p:sp>
          <p:nvSpPr>
            <p:cNvPr id="7326" name="Google Shape;7326;p159"/>
            <p:cNvSpPr/>
            <p:nvPr/>
          </p:nvSpPr>
          <p:spPr>
            <a:xfrm>
              <a:off x="342900" y="4686300"/>
              <a:ext cx="4267200" cy="1270000"/>
            </a:xfrm>
            <a:prstGeom prst="rect">
              <a:avLst/>
            </a:prstGeom>
            <a:solidFill>
              <a:schemeClr val="lt1"/>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27" name="Google Shape;7327;p159"/>
            <p:cNvSpPr/>
            <p:nvPr/>
          </p:nvSpPr>
          <p:spPr>
            <a:xfrm>
              <a:off x="38100" y="4991100"/>
              <a:ext cx="4749800" cy="825500"/>
            </a:xfrm>
            <a:prstGeom prst="rect">
              <a:avLst/>
            </a:prstGeom>
            <a:noFill/>
            <a:ln>
              <a:noFill/>
            </a:ln>
          </p:spPr>
          <p:txBody>
            <a:bodyPr anchorCtr="0" anchor="t" bIns="45700" lIns="91425" spcFirstLastPara="1" rIns="91425" wrap="square" tIns="45700">
              <a:noAutofit/>
            </a:bodyPr>
            <a:lstStyle/>
            <a:p>
              <a:pPr indent="0" lvl="1" marL="457200" marR="0" rtl="0" algn="l">
                <a:lnSpc>
                  <a:spcPct val="85000"/>
                </a:lnSpc>
                <a:spcBef>
                  <a:spcPts val="0"/>
                </a:spcBef>
                <a:spcAft>
                  <a:spcPts val="0"/>
                </a:spcAft>
                <a:buClr>
                  <a:srgbClr val="000099"/>
                </a:buClr>
                <a:buSzPts val="2600"/>
                <a:buFont typeface="Calibri"/>
                <a:buNone/>
              </a:pPr>
              <a:r>
                <a:rPr b="0" i="0" lang="en-US" sz="2600" u="none" cap="none" strike="noStrike">
                  <a:solidFill>
                    <a:srgbClr val="000000"/>
                  </a:solidFill>
                  <a:latin typeface="Calibri"/>
                  <a:ea typeface="Calibri"/>
                  <a:cs typeface="Calibri"/>
                  <a:sym typeface="Calibri"/>
                </a:rPr>
                <a:t>cut cwnd sending rate in half at each loss event</a:t>
              </a:r>
              <a:endParaRPr b="0" i="1" sz="2600" u="none" cap="none" strike="noStrike">
                <a:solidFill>
                  <a:srgbClr val="000000"/>
                </a:solidFill>
                <a:latin typeface="Calibri"/>
                <a:ea typeface="Calibri"/>
                <a:cs typeface="Calibri"/>
                <a:sym typeface="Calibri"/>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7328" name="Google Shape;7328;p159"/>
            <p:cNvSpPr/>
            <p:nvPr/>
          </p:nvSpPr>
          <p:spPr>
            <a:xfrm>
              <a:off x="508000" y="4533900"/>
              <a:ext cx="3746500" cy="4445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2800"/>
                <a:buFont typeface="Calibri"/>
                <a:buNone/>
              </a:pPr>
              <a:r>
                <a:rPr b="0" i="1" lang="en-US" sz="2800" u="sng" cap="none" strike="noStrike">
                  <a:solidFill>
                    <a:srgbClr val="C00000"/>
                  </a:solidFill>
                  <a:latin typeface="Calibri"/>
                  <a:ea typeface="Calibri"/>
                  <a:cs typeface="Calibri"/>
                  <a:sym typeface="Calibri"/>
                </a:rPr>
                <a:t>M</a:t>
              </a:r>
              <a:r>
                <a:rPr b="0" i="1" lang="en-US" sz="2800" u="none" cap="none" strike="noStrike">
                  <a:solidFill>
                    <a:srgbClr val="C00000"/>
                  </a:solidFill>
                  <a:latin typeface="Calibri"/>
                  <a:ea typeface="Calibri"/>
                  <a:cs typeface="Calibri"/>
                  <a:sym typeface="Calibri"/>
                </a:rPr>
                <a:t>ultiplicative </a:t>
              </a:r>
              <a:r>
                <a:rPr b="0" i="1" lang="en-US" sz="2800" u="sng" cap="none" strike="noStrike">
                  <a:solidFill>
                    <a:srgbClr val="C00000"/>
                  </a:solidFill>
                  <a:latin typeface="Calibri"/>
                  <a:ea typeface="Calibri"/>
                  <a:cs typeface="Calibri"/>
                  <a:sym typeface="Calibri"/>
                </a:rPr>
                <a:t>D</a:t>
              </a:r>
              <a:r>
                <a:rPr b="0" i="1" lang="en-US" sz="2800" u="none" cap="none" strike="noStrike">
                  <a:solidFill>
                    <a:srgbClr val="C00000"/>
                  </a:solidFill>
                  <a:latin typeface="Calibri"/>
                  <a:ea typeface="Calibri"/>
                  <a:cs typeface="Calibri"/>
                  <a:sym typeface="Calibri"/>
                </a:rPr>
                <a:t>ecrease</a:t>
              </a:r>
              <a:endParaRPr b="0" i="0" sz="2800" u="none" cap="none" strike="noStrike">
                <a:solidFill>
                  <a:srgbClr val="C00000"/>
                </a:solidFill>
                <a:latin typeface="Gill Sans"/>
                <a:ea typeface="Gill Sans"/>
                <a:cs typeface="Gill Sans"/>
                <a:sym typeface="Gill Sans"/>
              </a:endParaRPr>
            </a:p>
          </p:txBody>
        </p:sp>
      </p:grpSp>
      <p:grpSp>
        <p:nvGrpSpPr>
          <p:cNvPr id="7329" name="Google Shape;7329;p159"/>
          <p:cNvGrpSpPr/>
          <p:nvPr/>
        </p:nvGrpSpPr>
        <p:grpSpPr>
          <a:xfrm>
            <a:off x="3952943" y="3784600"/>
            <a:ext cx="3599234" cy="1591283"/>
            <a:chOff x="3965643" y="3797300"/>
            <a:chExt cx="3599234" cy="1591283"/>
          </a:xfrm>
        </p:grpSpPr>
        <p:grpSp>
          <p:nvGrpSpPr>
            <p:cNvPr id="7330" name="Google Shape;7330;p159"/>
            <p:cNvGrpSpPr/>
            <p:nvPr/>
          </p:nvGrpSpPr>
          <p:grpSpPr>
            <a:xfrm>
              <a:off x="3965643" y="4159386"/>
              <a:ext cx="3599234" cy="1229197"/>
              <a:chOff x="3965643" y="4159386"/>
              <a:chExt cx="3599234" cy="1229197"/>
            </a:xfrm>
          </p:grpSpPr>
          <p:cxnSp>
            <p:nvCxnSpPr>
              <p:cNvPr id="7331" name="Google Shape;7331;p159"/>
              <p:cNvCxnSpPr/>
              <p:nvPr/>
            </p:nvCxnSpPr>
            <p:spPr>
              <a:xfrm>
                <a:off x="3972128" y="4163438"/>
                <a:ext cx="0" cy="1056262"/>
              </a:xfrm>
              <a:prstGeom prst="straightConnector1">
                <a:avLst/>
              </a:prstGeom>
              <a:noFill/>
              <a:ln cap="flat" cmpd="sng" w="12700">
                <a:solidFill>
                  <a:srgbClr val="00B050"/>
                </a:solidFill>
                <a:prstDash val="solid"/>
                <a:miter lim="800000"/>
                <a:headEnd len="sm" w="sm" type="none"/>
                <a:tailEnd len="med" w="med" type="triangle"/>
              </a:ln>
            </p:spPr>
          </p:cxnSp>
          <p:cxnSp>
            <p:nvCxnSpPr>
              <p:cNvPr id="7332" name="Google Shape;7332;p159"/>
              <p:cNvCxnSpPr/>
              <p:nvPr/>
            </p:nvCxnSpPr>
            <p:spPr>
              <a:xfrm>
                <a:off x="4480128" y="4163438"/>
                <a:ext cx="0" cy="1221362"/>
              </a:xfrm>
              <a:prstGeom prst="straightConnector1">
                <a:avLst/>
              </a:prstGeom>
              <a:noFill/>
              <a:ln cap="flat" cmpd="sng" w="12700">
                <a:solidFill>
                  <a:srgbClr val="00B050"/>
                </a:solidFill>
                <a:prstDash val="solid"/>
                <a:miter lim="800000"/>
                <a:headEnd len="sm" w="sm" type="none"/>
                <a:tailEnd len="med" w="med" type="triangle"/>
              </a:ln>
            </p:spPr>
          </p:cxnSp>
          <p:cxnSp>
            <p:nvCxnSpPr>
              <p:cNvPr id="7333" name="Google Shape;7333;p159"/>
              <p:cNvCxnSpPr/>
              <p:nvPr/>
            </p:nvCxnSpPr>
            <p:spPr>
              <a:xfrm>
                <a:off x="5295630" y="4163438"/>
                <a:ext cx="0" cy="1225145"/>
              </a:xfrm>
              <a:prstGeom prst="straightConnector1">
                <a:avLst/>
              </a:prstGeom>
              <a:noFill/>
              <a:ln cap="flat" cmpd="sng" w="12700">
                <a:solidFill>
                  <a:srgbClr val="00B050"/>
                </a:solidFill>
                <a:prstDash val="solid"/>
                <a:miter lim="800000"/>
                <a:headEnd len="sm" w="sm" type="none"/>
                <a:tailEnd len="med" w="med" type="triangle"/>
              </a:ln>
            </p:spPr>
          </p:cxnSp>
          <p:cxnSp>
            <p:nvCxnSpPr>
              <p:cNvPr id="7334" name="Google Shape;7334;p159"/>
              <p:cNvCxnSpPr/>
              <p:nvPr/>
            </p:nvCxnSpPr>
            <p:spPr>
              <a:xfrm>
                <a:off x="5964941" y="4171542"/>
                <a:ext cx="0" cy="1204339"/>
              </a:xfrm>
              <a:prstGeom prst="straightConnector1">
                <a:avLst/>
              </a:prstGeom>
              <a:noFill/>
              <a:ln cap="flat" cmpd="sng" w="12700">
                <a:solidFill>
                  <a:srgbClr val="00B050"/>
                </a:solidFill>
                <a:prstDash val="solid"/>
                <a:miter lim="800000"/>
                <a:headEnd len="sm" w="sm" type="none"/>
                <a:tailEnd len="med" w="med" type="triangle"/>
              </a:ln>
            </p:spPr>
          </p:cxnSp>
          <p:cxnSp>
            <p:nvCxnSpPr>
              <p:cNvPr id="7335" name="Google Shape;7335;p159"/>
              <p:cNvCxnSpPr/>
              <p:nvPr/>
            </p:nvCxnSpPr>
            <p:spPr>
              <a:xfrm>
                <a:off x="6794500" y="4165056"/>
                <a:ext cx="0" cy="1193800"/>
              </a:xfrm>
              <a:prstGeom prst="straightConnector1">
                <a:avLst/>
              </a:prstGeom>
              <a:noFill/>
              <a:ln cap="flat" cmpd="sng" w="12700">
                <a:solidFill>
                  <a:srgbClr val="00B050"/>
                </a:solidFill>
                <a:prstDash val="solid"/>
                <a:miter lim="800000"/>
                <a:headEnd len="sm" w="sm" type="none"/>
                <a:tailEnd len="med" w="med" type="triangle"/>
              </a:ln>
            </p:spPr>
          </p:cxnSp>
          <p:cxnSp>
            <p:nvCxnSpPr>
              <p:cNvPr id="7336" name="Google Shape;7336;p159"/>
              <p:cNvCxnSpPr/>
              <p:nvPr/>
            </p:nvCxnSpPr>
            <p:spPr>
              <a:xfrm>
                <a:off x="7559743" y="4159386"/>
                <a:ext cx="0" cy="1106520"/>
              </a:xfrm>
              <a:prstGeom prst="straightConnector1">
                <a:avLst/>
              </a:prstGeom>
              <a:noFill/>
              <a:ln cap="flat" cmpd="sng" w="12700">
                <a:solidFill>
                  <a:srgbClr val="00B050"/>
                </a:solidFill>
                <a:prstDash val="solid"/>
                <a:miter lim="800000"/>
                <a:headEnd len="sm" w="sm" type="none"/>
                <a:tailEnd len="med" w="med" type="triangle"/>
              </a:ln>
            </p:spPr>
          </p:cxnSp>
          <p:cxnSp>
            <p:nvCxnSpPr>
              <p:cNvPr id="7337" name="Google Shape;7337;p159"/>
              <p:cNvCxnSpPr/>
              <p:nvPr/>
            </p:nvCxnSpPr>
            <p:spPr>
              <a:xfrm>
                <a:off x="3965643" y="4162357"/>
                <a:ext cx="3599234" cy="0"/>
              </a:xfrm>
              <a:prstGeom prst="straightConnector1">
                <a:avLst/>
              </a:prstGeom>
              <a:noFill/>
              <a:ln cap="flat" cmpd="sng" w="12700">
                <a:solidFill>
                  <a:srgbClr val="00B050"/>
                </a:solidFill>
                <a:prstDash val="solid"/>
                <a:miter lim="800000"/>
                <a:headEnd len="sm" w="sm" type="none"/>
                <a:tailEnd len="sm" w="sm" type="none"/>
              </a:ln>
            </p:spPr>
          </p:cxnSp>
        </p:grpSp>
        <p:cxnSp>
          <p:nvCxnSpPr>
            <p:cNvPr id="7338" name="Google Shape;7338;p159"/>
            <p:cNvCxnSpPr/>
            <p:nvPr/>
          </p:nvCxnSpPr>
          <p:spPr>
            <a:xfrm>
              <a:off x="5651500" y="3797300"/>
              <a:ext cx="0" cy="381000"/>
            </a:xfrm>
            <a:prstGeom prst="straightConnector1">
              <a:avLst/>
            </a:prstGeom>
            <a:noFill/>
            <a:ln cap="flat" cmpd="sng" w="12700">
              <a:solidFill>
                <a:srgbClr val="00B050"/>
              </a:solidFill>
              <a:prstDash val="solid"/>
              <a:miter lim="800000"/>
              <a:headEnd len="sm" w="sm" type="none"/>
              <a:tailEnd len="med" w="med" type="triangle"/>
            </a:ln>
          </p:spPr>
        </p:cxnSp>
      </p:grpSp>
      <p:grpSp>
        <p:nvGrpSpPr>
          <p:cNvPr id="7339" name="Google Shape;7339;p159"/>
          <p:cNvGrpSpPr/>
          <p:nvPr/>
        </p:nvGrpSpPr>
        <p:grpSpPr>
          <a:xfrm>
            <a:off x="4108450" y="3694817"/>
            <a:ext cx="3819526" cy="1695450"/>
            <a:chOff x="4108450" y="3622675"/>
            <a:chExt cx="3819526" cy="1695450"/>
          </a:xfrm>
        </p:grpSpPr>
        <p:grpSp>
          <p:nvGrpSpPr>
            <p:cNvPr id="7340" name="Google Shape;7340;p159"/>
            <p:cNvGrpSpPr/>
            <p:nvPr/>
          </p:nvGrpSpPr>
          <p:grpSpPr>
            <a:xfrm>
              <a:off x="4108450" y="3975100"/>
              <a:ext cx="3819526" cy="1343025"/>
              <a:chOff x="4108450" y="3975100"/>
              <a:chExt cx="3819526" cy="1343025"/>
            </a:xfrm>
          </p:grpSpPr>
          <p:cxnSp>
            <p:nvCxnSpPr>
              <p:cNvPr id="7341" name="Google Shape;7341;p159"/>
              <p:cNvCxnSpPr/>
              <p:nvPr/>
            </p:nvCxnSpPr>
            <p:spPr>
              <a:xfrm flipH="1">
                <a:off x="7245350" y="3981450"/>
                <a:ext cx="679450" cy="1254125"/>
              </a:xfrm>
              <a:prstGeom prst="straightConnector1">
                <a:avLst/>
              </a:prstGeom>
              <a:noFill/>
              <a:ln cap="flat" cmpd="sng" w="12700">
                <a:solidFill>
                  <a:srgbClr val="C00000"/>
                </a:solidFill>
                <a:prstDash val="solid"/>
                <a:miter lim="800000"/>
                <a:headEnd len="sm" w="sm" type="none"/>
                <a:tailEnd len="med" w="med" type="triangle"/>
              </a:ln>
            </p:spPr>
          </p:cxnSp>
          <p:cxnSp>
            <p:nvCxnSpPr>
              <p:cNvPr id="7342" name="Google Shape;7342;p159"/>
              <p:cNvCxnSpPr/>
              <p:nvPr/>
            </p:nvCxnSpPr>
            <p:spPr>
              <a:xfrm flipH="1">
                <a:off x="4108450" y="3975100"/>
                <a:ext cx="3816350" cy="1339850"/>
              </a:xfrm>
              <a:prstGeom prst="straightConnector1">
                <a:avLst/>
              </a:prstGeom>
              <a:noFill/>
              <a:ln cap="flat" cmpd="sng" w="12700">
                <a:solidFill>
                  <a:srgbClr val="C00000"/>
                </a:solidFill>
                <a:prstDash val="solid"/>
                <a:miter lim="800000"/>
                <a:headEnd len="sm" w="sm" type="none"/>
                <a:tailEnd len="med" w="med" type="triangle"/>
              </a:ln>
            </p:spPr>
          </p:cxnSp>
          <p:cxnSp>
            <p:nvCxnSpPr>
              <p:cNvPr id="7343" name="Google Shape;7343;p159"/>
              <p:cNvCxnSpPr/>
              <p:nvPr/>
            </p:nvCxnSpPr>
            <p:spPr>
              <a:xfrm flipH="1">
                <a:off x="5070475" y="3978275"/>
                <a:ext cx="2854325" cy="1298575"/>
              </a:xfrm>
              <a:prstGeom prst="straightConnector1">
                <a:avLst/>
              </a:prstGeom>
              <a:noFill/>
              <a:ln cap="flat" cmpd="sng" w="12700">
                <a:solidFill>
                  <a:srgbClr val="C00000"/>
                </a:solidFill>
                <a:prstDash val="solid"/>
                <a:miter lim="800000"/>
                <a:headEnd len="sm" w="sm" type="none"/>
                <a:tailEnd len="med" w="med" type="triangle"/>
              </a:ln>
            </p:spPr>
          </p:cxnSp>
          <p:cxnSp>
            <p:nvCxnSpPr>
              <p:cNvPr id="7344" name="Google Shape;7344;p159"/>
              <p:cNvCxnSpPr/>
              <p:nvPr/>
            </p:nvCxnSpPr>
            <p:spPr>
              <a:xfrm flipH="1">
                <a:off x="5607050" y="3984625"/>
                <a:ext cx="2320926" cy="1333500"/>
              </a:xfrm>
              <a:prstGeom prst="straightConnector1">
                <a:avLst/>
              </a:prstGeom>
              <a:noFill/>
              <a:ln cap="flat" cmpd="sng" w="12700">
                <a:solidFill>
                  <a:srgbClr val="C00000"/>
                </a:solidFill>
                <a:prstDash val="solid"/>
                <a:miter lim="800000"/>
                <a:headEnd len="sm" w="sm" type="none"/>
                <a:tailEnd len="med" w="med" type="triangle"/>
              </a:ln>
            </p:spPr>
          </p:cxnSp>
          <p:cxnSp>
            <p:nvCxnSpPr>
              <p:cNvPr id="7345" name="Google Shape;7345;p159"/>
              <p:cNvCxnSpPr/>
              <p:nvPr/>
            </p:nvCxnSpPr>
            <p:spPr>
              <a:xfrm flipH="1">
                <a:off x="6565900" y="3984625"/>
                <a:ext cx="1358900" cy="1193800"/>
              </a:xfrm>
              <a:prstGeom prst="straightConnector1">
                <a:avLst/>
              </a:prstGeom>
              <a:noFill/>
              <a:ln cap="flat" cmpd="sng" w="12700">
                <a:solidFill>
                  <a:srgbClr val="C00000"/>
                </a:solidFill>
                <a:prstDash val="solid"/>
                <a:miter lim="800000"/>
                <a:headEnd len="sm" w="sm" type="none"/>
                <a:tailEnd len="med" w="med" type="triangle"/>
              </a:ln>
            </p:spPr>
          </p:cxnSp>
        </p:grpSp>
        <p:cxnSp>
          <p:nvCxnSpPr>
            <p:cNvPr id="7346" name="Google Shape;7346;p159"/>
            <p:cNvCxnSpPr/>
            <p:nvPr/>
          </p:nvCxnSpPr>
          <p:spPr>
            <a:xfrm rot="10800000">
              <a:off x="7921625" y="3622675"/>
              <a:ext cx="0" cy="358775"/>
            </a:xfrm>
            <a:prstGeom prst="straightConnector1">
              <a:avLst/>
            </a:prstGeom>
            <a:noFill/>
            <a:ln cap="flat" cmpd="sng" w="12700">
              <a:solidFill>
                <a:srgbClr val="C00000"/>
              </a:solidFill>
              <a:prstDash val="solid"/>
              <a:miter lim="800000"/>
              <a:headEnd len="sm" w="sm" type="none"/>
              <a:tailEnd len="sm" w="sm" type="none"/>
            </a:ln>
          </p:spPr>
        </p:cxnSp>
      </p:grpSp>
      <p:sp>
        <p:nvSpPr>
          <p:cNvPr id="7347" name="Google Shape;7347;p15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
        <p:nvSpPr>
          <p:cNvPr id="7348" name="Google Shape;7348;p159"/>
          <p:cNvSpPr txBox="1"/>
          <p:nvPr/>
        </p:nvSpPr>
        <p:spPr>
          <a:xfrm rot="-5400000">
            <a:off x="2523414" y="5342951"/>
            <a:ext cx="2047875" cy="51752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Noto Sans Symbols"/>
              <a:buNone/>
            </a:pPr>
            <a:r>
              <a:rPr b="1" lang="en-US" sz="1400">
                <a:solidFill>
                  <a:schemeClr val="dk1"/>
                </a:solidFill>
                <a:latin typeface="Courier New"/>
                <a:ea typeface="Courier New"/>
                <a:cs typeface="Courier New"/>
                <a:sym typeface="Courier New"/>
              </a:rPr>
              <a:t>cwnd:</a:t>
            </a:r>
            <a:r>
              <a:rPr lang="en-US" sz="1400">
                <a:solidFill>
                  <a:schemeClr val="dk1"/>
                </a:solidFill>
                <a:latin typeface="Arial"/>
                <a:ea typeface="Arial"/>
                <a:cs typeface="Arial"/>
                <a:sym typeface="Arial"/>
              </a:rPr>
              <a:t> TCP sender </a:t>
            </a:r>
            <a:endParaRPr/>
          </a:p>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congestion window size</a:t>
            </a:r>
            <a:endParaRPr/>
          </a:p>
        </p:txBody>
      </p:sp>
      <p:sp>
        <p:nvSpPr>
          <p:cNvPr id="7349" name="Google Shape;7349;p159"/>
          <p:cNvSpPr txBox="1"/>
          <p:nvPr/>
        </p:nvSpPr>
        <p:spPr>
          <a:xfrm>
            <a:off x="4145255" y="4134816"/>
            <a:ext cx="4222750"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additively increase window size …</a:t>
            </a:r>
            <a:endParaRPr/>
          </a:p>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 until loss occurs (then cut window in half)</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17"/>
                                        </p:tgtEl>
                                        <p:attrNameLst>
                                          <p:attrName>style.visibility</p:attrName>
                                        </p:attrNameLst>
                                      </p:cBhvr>
                                      <p:to>
                                        <p:strVal val="visible"/>
                                      </p:to>
                                    </p:set>
                                    <p:animEffect filter="fade" transition="in">
                                      <p:cBhvr>
                                        <p:cTn dur="500"/>
                                        <p:tgtEl>
                                          <p:spTgt spid="73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06"/>
                                        </p:tgtEl>
                                        <p:attrNameLst>
                                          <p:attrName>style.visibility</p:attrName>
                                        </p:attrNameLst>
                                      </p:cBhvr>
                                      <p:to>
                                        <p:strVal val="visible"/>
                                      </p:to>
                                    </p:set>
                                    <p:animEffect filter="fade" transition="in">
                                      <p:cBhvr>
                                        <p:cTn dur="500"/>
                                        <p:tgtEl>
                                          <p:spTgt spid="730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307"/>
                                        </p:tgtEl>
                                        <p:attrNameLst>
                                          <p:attrName>style.visibility</p:attrName>
                                        </p:attrNameLst>
                                      </p:cBhvr>
                                      <p:to>
                                        <p:strVal val="visible"/>
                                      </p:to>
                                    </p:set>
                                    <p:animEffect filter="fade" transition="in">
                                      <p:cBhvr>
                                        <p:cTn dur="500"/>
                                        <p:tgtEl>
                                          <p:spTgt spid="730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308"/>
                                        </p:tgtEl>
                                        <p:attrNameLst>
                                          <p:attrName>style.visibility</p:attrName>
                                        </p:attrNameLst>
                                      </p:cBhvr>
                                      <p:to>
                                        <p:strVal val="visible"/>
                                      </p:to>
                                    </p:set>
                                    <p:animEffect filter="fade" transition="in">
                                      <p:cBhvr>
                                        <p:cTn dur="500"/>
                                        <p:tgtEl>
                                          <p:spTgt spid="730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7309"/>
                                        </p:tgtEl>
                                        <p:attrNameLst>
                                          <p:attrName>style.visibility</p:attrName>
                                        </p:attrNameLst>
                                      </p:cBhvr>
                                      <p:to>
                                        <p:strVal val="visible"/>
                                      </p:to>
                                    </p:set>
                                    <p:animEffect filter="fade" transition="in">
                                      <p:cBhvr>
                                        <p:cTn dur="500"/>
                                        <p:tgtEl>
                                          <p:spTgt spid="730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7310"/>
                                        </p:tgtEl>
                                        <p:attrNameLst>
                                          <p:attrName>style.visibility</p:attrName>
                                        </p:attrNameLst>
                                      </p:cBhvr>
                                      <p:to>
                                        <p:strVal val="visible"/>
                                      </p:to>
                                    </p:set>
                                    <p:animEffect filter="fade" transition="in">
                                      <p:cBhvr>
                                        <p:cTn dur="500"/>
                                        <p:tgtEl>
                                          <p:spTgt spid="7310"/>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7311"/>
                                        </p:tgtEl>
                                        <p:attrNameLst>
                                          <p:attrName>style.visibility</p:attrName>
                                        </p:attrNameLst>
                                      </p:cBhvr>
                                      <p:to>
                                        <p:strVal val="visible"/>
                                      </p:to>
                                    </p:set>
                                    <p:animEffect filter="fade" transition="in">
                                      <p:cBhvr>
                                        <p:cTn dur="500"/>
                                        <p:tgtEl>
                                          <p:spTgt spid="7311"/>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7312"/>
                                        </p:tgtEl>
                                        <p:attrNameLst>
                                          <p:attrName>style.visibility</p:attrName>
                                        </p:attrNameLst>
                                      </p:cBhvr>
                                      <p:to>
                                        <p:strVal val="visible"/>
                                      </p:to>
                                    </p:set>
                                    <p:animEffect filter="fade" transition="in">
                                      <p:cBhvr>
                                        <p:cTn dur="500"/>
                                        <p:tgtEl>
                                          <p:spTgt spid="7312"/>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7313"/>
                                        </p:tgtEl>
                                        <p:attrNameLst>
                                          <p:attrName>style.visibility</p:attrName>
                                        </p:attrNameLst>
                                      </p:cBhvr>
                                      <p:to>
                                        <p:strVal val="visible"/>
                                      </p:to>
                                    </p:set>
                                    <p:animEffect filter="fade" transition="in">
                                      <p:cBhvr>
                                        <p:cTn dur="500"/>
                                        <p:tgtEl>
                                          <p:spTgt spid="7313"/>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7314"/>
                                        </p:tgtEl>
                                        <p:attrNameLst>
                                          <p:attrName>style.visibility</p:attrName>
                                        </p:attrNameLst>
                                      </p:cBhvr>
                                      <p:to>
                                        <p:strVal val="visible"/>
                                      </p:to>
                                    </p:set>
                                    <p:animEffect filter="fade" transition="in">
                                      <p:cBhvr>
                                        <p:cTn dur="500"/>
                                        <p:tgtEl>
                                          <p:spTgt spid="7314"/>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7315"/>
                                        </p:tgtEl>
                                        <p:attrNameLst>
                                          <p:attrName>style.visibility</p:attrName>
                                        </p:attrNameLst>
                                      </p:cBhvr>
                                      <p:to>
                                        <p:strVal val="visible"/>
                                      </p:to>
                                    </p:set>
                                    <p:animEffect filter="fade" transition="in">
                                      <p:cBhvr>
                                        <p:cTn dur="500"/>
                                        <p:tgtEl>
                                          <p:spTgt spid="7315"/>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7316"/>
                                        </p:tgtEl>
                                        <p:attrNameLst>
                                          <p:attrName>style.visibility</p:attrName>
                                        </p:attrNameLst>
                                      </p:cBhvr>
                                      <p:to>
                                        <p:strVal val="visible"/>
                                      </p:to>
                                    </p:set>
                                    <p:animEffect filter="fade" transition="in">
                                      <p:cBhvr>
                                        <p:cTn dur="500"/>
                                        <p:tgtEl>
                                          <p:spTgt spid="73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1"/>
                                        </p:tgtEl>
                                        <p:attrNameLst>
                                          <p:attrName>style.visibility</p:attrName>
                                        </p:attrNameLst>
                                      </p:cBhvr>
                                      <p:to>
                                        <p:strVal val="visible"/>
                                      </p:to>
                                    </p:set>
                                    <p:animEffect filter="fade" transition="in">
                                      <p:cBhvr>
                                        <p:cTn dur="500"/>
                                        <p:tgtEl>
                                          <p:spTgt spid="7321"/>
                                        </p:tgtEl>
                                      </p:cBhvr>
                                    </p:animEffec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7329"/>
                                        </p:tgtEl>
                                        <p:attrNameLst>
                                          <p:attrName>style.visibility</p:attrName>
                                        </p:attrNameLst>
                                      </p:cBhvr>
                                      <p:to>
                                        <p:strVal val="visible"/>
                                      </p:to>
                                    </p:set>
                                    <p:animEffect filter="fade" transition="in">
                                      <p:cBhvr>
                                        <p:cTn dur="500"/>
                                        <p:tgtEl>
                                          <p:spTgt spid="73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25"/>
                                        </p:tgtEl>
                                        <p:attrNameLst>
                                          <p:attrName>style.visibility</p:attrName>
                                        </p:attrNameLst>
                                      </p:cBhvr>
                                      <p:to>
                                        <p:strVal val="visible"/>
                                      </p:to>
                                    </p:set>
                                    <p:animEffect filter="fade" transition="in">
                                      <p:cBhvr>
                                        <p:cTn dur="500"/>
                                        <p:tgtEl>
                                          <p:spTgt spid="7325"/>
                                        </p:tgtEl>
                                      </p:cBhvr>
                                    </p:animEffect>
                                  </p:childTnLst>
                                </p:cTn>
                              </p:par>
                              <p:par>
                                <p:cTn fill="hold" nodeType="withEffect" presetClass="exit" presetID="10" presetSubtype="0">
                                  <p:stCondLst>
                                    <p:cond delay="0"/>
                                  </p:stCondLst>
                                  <p:childTnLst>
                                    <p:animEffect filter="fade" transition="out">
                                      <p:cBhvr>
                                        <p:cTn dur="500"/>
                                        <p:tgtEl>
                                          <p:spTgt spid="7329"/>
                                        </p:tgtEl>
                                      </p:cBhvr>
                                    </p:animEffect>
                                    <p:set>
                                      <p:cBhvr>
                                        <p:cTn dur="1" fill="hold">
                                          <p:stCondLst>
                                            <p:cond delay="500"/>
                                          </p:stCondLst>
                                        </p:cTn>
                                        <p:tgtEl>
                                          <p:spTgt spid="7329"/>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7339"/>
                                        </p:tgtEl>
                                        <p:attrNameLst>
                                          <p:attrName>style.visibility</p:attrName>
                                        </p:attrNameLst>
                                      </p:cBhvr>
                                      <p:to>
                                        <p:strVal val="visible"/>
                                      </p:to>
                                    </p:set>
                                    <p:animEffect filter="fade" transition="in">
                                      <p:cBhvr>
                                        <p:cTn dur="500"/>
                                        <p:tgtEl>
                                          <p:spTgt spid="73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04"/>
                                        </p:tgtEl>
                                        <p:attrNameLst>
                                          <p:attrName>style.visibility</p:attrName>
                                        </p:attrNameLst>
                                      </p:cBhvr>
                                      <p:to>
                                        <p:strVal val="visible"/>
                                      </p:to>
                                    </p:set>
                                    <p:animEffect filter="fade" transition="in">
                                      <p:cBhvr>
                                        <p:cTn dur="500"/>
                                        <p:tgtEl>
                                          <p:spTgt spid="7304"/>
                                        </p:tgtEl>
                                      </p:cBhvr>
                                    </p:animEffect>
                                  </p:childTnLst>
                                </p:cTn>
                              </p:par>
                              <p:par>
                                <p:cTn fill="hold" nodeType="withEffect" presetClass="exit" presetID="10" presetSubtype="0">
                                  <p:stCondLst>
                                    <p:cond delay="0"/>
                                  </p:stCondLst>
                                  <p:childTnLst>
                                    <p:animEffect filter="fade" transition="out">
                                      <p:cBhvr>
                                        <p:cTn dur="500"/>
                                        <p:tgtEl>
                                          <p:spTgt spid="7339"/>
                                        </p:tgtEl>
                                      </p:cBhvr>
                                    </p:animEffect>
                                    <p:set>
                                      <p:cBhvr>
                                        <p:cTn dur="1" fill="hold">
                                          <p:stCondLst>
                                            <p:cond delay="500"/>
                                          </p:stCondLst>
                                        </p:cTn>
                                        <p:tgtEl>
                                          <p:spTgt spid="733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4" name="Shape 7354"/>
        <p:cNvGrpSpPr/>
        <p:nvPr/>
      </p:nvGrpSpPr>
      <p:grpSpPr>
        <a:xfrm>
          <a:off x="0" y="0"/>
          <a:ext cx="0" cy="0"/>
          <a:chOff x="0" y="0"/>
          <a:chExt cx="0" cy="0"/>
        </a:xfrm>
      </p:grpSpPr>
      <p:sp>
        <p:nvSpPr>
          <p:cNvPr id="7355" name="Google Shape;7355;p160"/>
          <p:cNvSpPr txBox="1"/>
          <p:nvPr>
            <p:ph type="title"/>
          </p:nvPr>
        </p:nvSpPr>
        <p:spPr>
          <a:xfrm>
            <a:off x="811390" y="25815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AIMD: more</a:t>
            </a:r>
            <a:endParaRPr sz="4400"/>
          </a:p>
        </p:txBody>
      </p:sp>
      <p:sp>
        <p:nvSpPr>
          <p:cNvPr id="7356" name="Google Shape;7356;p160"/>
          <p:cNvSpPr/>
          <p:nvPr/>
        </p:nvSpPr>
        <p:spPr>
          <a:xfrm>
            <a:off x="901700" y="1361440"/>
            <a:ext cx="9847580" cy="176784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2800"/>
              <a:buFont typeface="Calibri"/>
              <a:buNone/>
            </a:pPr>
            <a:r>
              <a:rPr b="0" i="1" lang="en-US" sz="2800" u="none" cap="none" strike="noStrike">
                <a:solidFill>
                  <a:srgbClr val="C00000"/>
                </a:solidFill>
                <a:latin typeface="Calibri"/>
                <a:ea typeface="Calibri"/>
                <a:cs typeface="Calibri"/>
                <a:sym typeface="Calibri"/>
              </a:rPr>
              <a:t>Multiplicative decrease </a:t>
            </a:r>
            <a:r>
              <a:rPr b="0" i="0" lang="en-US" sz="2800" u="none" cap="none" strike="noStrike">
                <a:solidFill>
                  <a:srgbClr val="000000"/>
                </a:solidFill>
                <a:latin typeface="Calibri"/>
                <a:ea typeface="Calibri"/>
                <a:cs typeface="Calibri"/>
                <a:sym typeface="Calibri"/>
              </a:rPr>
              <a:t>detail:  sending rate is </a:t>
            </a:r>
            <a:endParaRPr/>
          </a:p>
          <a:p>
            <a:pPr indent="-304800" lvl="0" marL="4064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Cut in half on loss detected by triple duplicate ACK (TCP Reno)</a:t>
            </a:r>
            <a:endParaRPr/>
          </a:p>
          <a:p>
            <a:pPr indent="-304800" lvl="0" marL="4064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Cut to 1 MSS (maximum segment size) when loss detected by timeout (TCP Tahoe)</a:t>
            </a:r>
            <a:endParaRPr/>
          </a:p>
          <a:p>
            <a:pPr indent="-127000" lvl="0" marL="406400"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114300" lvl="0" marL="292100"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7357" name="Google Shape;7357;p160"/>
          <p:cNvSpPr/>
          <p:nvPr/>
        </p:nvSpPr>
        <p:spPr>
          <a:xfrm>
            <a:off x="861060" y="3362960"/>
            <a:ext cx="9847580" cy="176784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2800"/>
              <a:buFont typeface="Calibri"/>
              <a:buNone/>
            </a:pPr>
            <a:r>
              <a:rPr b="0" i="0" lang="en-US" sz="2800" u="none" cap="none" strike="noStrike">
                <a:solidFill>
                  <a:srgbClr val="000000"/>
                </a:solidFill>
                <a:latin typeface="Calibri"/>
                <a:ea typeface="Calibri"/>
                <a:cs typeface="Calibri"/>
                <a:sym typeface="Calibri"/>
              </a:rPr>
              <a:t>Why</a:t>
            </a:r>
            <a:r>
              <a:rPr b="0" i="1" lang="en-US" sz="2800" u="none" cap="none" strike="noStrike">
                <a:solidFill>
                  <a:srgbClr val="C00000"/>
                </a:solidFill>
                <a:latin typeface="Calibri"/>
                <a:ea typeface="Calibri"/>
                <a:cs typeface="Calibri"/>
                <a:sym typeface="Calibri"/>
              </a:rPr>
              <a:t> </a:t>
            </a:r>
            <a:r>
              <a:rPr b="0" i="0" lang="en-US" sz="2800" u="sng" cap="none" strike="noStrike">
                <a:solidFill>
                  <a:srgbClr val="C00000"/>
                </a:solidFill>
                <a:latin typeface="Calibri"/>
                <a:ea typeface="Calibri"/>
                <a:cs typeface="Calibri"/>
                <a:sym typeface="Calibri"/>
              </a:rPr>
              <a:t>A</a:t>
            </a:r>
            <a:r>
              <a:rPr b="0" i="0" lang="en-US" sz="2800" u="none" cap="none" strike="noStrike">
                <a:solidFill>
                  <a:srgbClr val="000000"/>
                </a:solidFill>
                <a:latin typeface="Calibri"/>
                <a:ea typeface="Calibri"/>
                <a:cs typeface="Calibri"/>
                <a:sym typeface="Calibri"/>
              </a:rPr>
              <a:t>I</a:t>
            </a:r>
            <a:r>
              <a:rPr b="0" i="0" lang="en-US" sz="2800" u="sng" cap="none" strike="noStrike">
                <a:solidFill>
                  <a:srgbClr val="C00000"/>
                </a:solidFill>
                <a:latin typeface="Calibri"/>
                <a:ea typeface="Calibri"/>
                <a:cs typeface="Calibri"/>
                <a:sym typeface="Calibri"/>
              </a:rPr>
              <a:t>M</a:t>
            </a:r>
            <a:r>
              <a:rPr b="0" i="0" lang="en-US" sz="2800" u="none" cap="none" strike="noStrike">
                <a:solidFill>
                  <a:srgbClr val="000000"/>
                </a:solidFill>
                <a:latin typeface="Calibri"/>
                <a:ea typeface="Calibri"/>
                <a:cs typeface="Calibri"/>
                <a:sym typeface="Calibri"/>
              </a:rPr>
              <a:t>D</a:t>
            </a:r>
            <a:r>
              <a:rPr b="0" i="0" lang="en-US" sz="2800" u="none" cap="none" strike="noStrike">
                <a:solidFill>
                  <a:srgbClr val="C00000"/>
                </a:solidFill>
                <a:latin typeface="Calibri"/>
                <a:ea typeface="Calibri"/>
                <a:cs typeface="Calibri"/>
                <a:sym typeface="Calibri"/>
              </a:rPr>
              <a:t>?</a:t>
            </a:r>
            <a:r>
              <a:rPr b="0" i="1" lang="en-US" sz="2800" u="none" cap="none" strike="noStrike">
                <a:solidFill>
                  <a:srgbClr val="C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 </a:t>
            </a:r>
            <a:endParaRPr/>
          </a:p>
          <a:p>
            <a:pPr indent="-304800" lvl="0" marL="406400"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AIMD – a distributed, asynchronous algorithm – has been shown to:</a:t>
            </a:r>
            <a:endParaRPr/>
          </a:p>
          <a:p>
            <a:pPr indent="-284163" lvl="1" marL="690563"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optimize congested flow rates network wide!</a:t>
            </a:r>
            <a:endParaRPr/>
          </a:p>
          <a:p>
            <a:pPr indent="-284163" lvl="1" marL="690563"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have desirable stability properties</a:t>
            </a:r>
            <a:endParaRPr/>
          </a:p>
          <a:p>
            <a:pPr indent="0" lvl="0" marL="101600" marR="0" rtl="0" algn="l">
              <a:lnSpc>
                <a:spcPct val="85000"/>
              </a:lnSpc>
              <a:spcBef>
                <a:spcPts val="560"/>
              </a:spcBef>
              <a:spcAft>
                <a:spcPts val="0"/>
              </a:spcAft>
              <a:buClr>
                <a:srgbClr val="000099"/>
              </a:buClr>
              <a:buSzPts val="2800"/>
              <a:buFont typeface="Calibri"/>
              <a:buNone/>
            </a:pPr>
            <a:r>
              <a:t/>
            </a:r>
            <a:endParaRPr b="0" i="0" sz="2800" u="none" cap="none" strike="noStrike">
              <a:solidFill>
                <a:srgbClr val="000000"/>
              </a:solidFill>
              <a:latin typeface="Calibri"/>
              <a:ea typeface="Calibri"/>
              <a:cs typeface="Calibri"/>
              <a:sym typeface="Calibri"/>
            </a:endParaRPr>
          </a:p>
          <a:p>
            <a:pPr indent="-114300" lvl="0" marL="292100"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Gill Sans"/>
              <a:ea typeface="Gill Sans"/>
              <a:cs typeface="Gill Sans"/>
              <a:sym typeface="Gill Sans"/>
            </a:endParaRPr>
          </a:p>
        </p:txBody>
      </p:sp>
      <p:sp>
        <p:nvSpPr>
          <p:cNvPr id="7358" name="Google Shape;7358;p16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57"/>
                                        </p:tgtEl>
                                        <p:attrNameLst>
                                          <p:attrName>style.visibility</p:attrName>
                                        </p:attrNameLst>
                                      </p:cBhvr>
                                      <p:to>
                                        <p:strVal val="visible"/>
                                      </p:to>
                                    </p:set>
                                    <p:animEffect filter="fade" transition="in">
                                      <p:cBhvr>
                                        <p:cTn dur="500"/>
                                        <p:tgtEl>
                                          <p:spTgt spid="73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3" name="Shape 7363"/>
        <p:cNvGrpSpPr/>
        <p:nvPr/>
      </p:nvGrpSpPr>
      <p:grpSpPr>
        <a:xfrm>
          <a:off x="0" y="0"/>
          <a:ext cx="0" cy="0"/>
          <a:chOff x="0" y="0"/>
          <a:chExt cx="0" cy="0"/>
        </a:xfrm>
      </p:grpSpPr>
      <p:sp>
        <p:nvSpPr>
          <p:cNvPr id="7364" name="Google Shape;7364;p161"/>
          <p:cNvSpPr txBox="1"/>
          <p:nvPr>
            <p:ph type="title"/>
          </p:nvPr>
        </p:nvSpPr>
        <p:spPr>
          <a:xfrm>
            <a:off x="812800" y="2594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congestion control: details</a:t>
            </a:r>
            <a:endParaRPr b="0" sz="4400"/>
          </a:p>
        </p:txBody>
      </p:sp>
      <p:grpSp>
        <p:nvGrpSpPr>
          <p:cNvPr id="7365" name="Google Shape;7365;p161"/>
          <p:cNvGrpSpPr/>
          <p:nvPr/>
        </p:nvGrpSpPr>
        <p:grpSpPr>
          <a:xfrm>
            <a:off x="1116489" y="4838128"/>
            <a:ext cx="10034111" cy="1695450"/>
            <a:chOff x="1116489" y="4838128"/>
            <a:chExt cx="10034111" cy="1695450"/>
          </a:xfrm>
        </p:grpSpPr>
        <p:sp>
          <p:nvSpPr>
            <p:cNvPr id="7366" name="Google Shape;7366;p161"/>
            <p:cNvSpPr/>
            <p:nvPr/>
          </p:nvSpPr>
          <p:spPr>
            <a:xfrm>
              <a:off x="5989208" y="4895568"/>
              <a:ext cx="5161392" cy="365124"/>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67" name="Google Shape;7367;p161"/>
            <p:cNvSpPr txBox="1"/>
            <p:nvPr/>
          </p:nvSpPr>
          <p:spPr>
            <a:xfrm>
              <a:off x="1116489" y="4838128"/>
              <a:ext cx="9628822" cy="1695450"/>
            </a:xfrm>
            <a:prstGeom prst="rect">
              <a:avLst/>
            </a:prstGeom>
            <a:noFill/>
            <a:ln>
              <a:noFill/>
            </a:ln>
          </p:spPr>
          <p:txBody>
            <a:bodyPr anchorCtr="0" anchor="t" bIns="45700" lIns="91425" spcFirstLastPara="1" rIns="91425" wrap="square" tIns="45700">
              <a:noAutofit/>
            </a:bodyPr>
            <a:lstStyle/>
            <a:p>
              <a:pPr indent="-284163" lvl="0" marL="284163" marR="0" rtl="0" algn="l">
                <a:lnSpc>
                  <a:spcPct val="90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TCP sender limits transmission:</a:t>
              </a:r>
              <a:endParaRPr/>
            </a:p>
            <a:p>
              <a:pPr indent="-284163" lvl="0" marL="284163" marR="0" rtl="0" algn="l">
                <a:lnSpc>
                  <a:spcPct val="90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ourier"/>
                  <a:ea typeface="Courier"/>
                  <a:cs typeface="Courier"/>
                  <a:sym typeface="Courier"/>
                </a:rPr>
                <a:t>cwnd </a:t>
              </a:r>
              <a:r>
                <a:rPr b="0" i="0" lang="en-US" sz="2800" u="none" cap="none" strike="noStrike">
                  <a:solidFill>
                    <a:srgbClr val="000000"/>
                  </a:solidFill>
                  <a:latin typeface="Calibri"/>
                  <a:ea typeface="Calibri"/>
                  <a:cs typeface="Calibri"/>
                  <a:sym typeface="Calibri"/>
                </a:rPr>
                <a:t>is dynamically adjusted in response to observed network congestion (implementing TCP congestion control)</a:t>
              </a:r>
              <a:endParaRPr/>
            </a:p>
            <a:p>
              <a:pPr indent="-106363" lvl="0" marL="284163" marR="0" rtl="0" algn="l">
                <a:lnSpc>
                  <a:spcPct val="85000"/>
                </a:lnSpc>
                <a:spcBef>
                  <a:spcPts val="560"/>
                </a:spcBef>
                <a:spcAft>
                  <a:spcPts val="0"/>
                </a:spcAft>
                <a:buClr>
                  <a:srgbClr val="000099"/>
                </a:buClr>
                <a:buSzPts val="2800"/>
                <a:buFont typeface="Noto Sans Symbols"/>
                <a:buNone/>
              </a:pPr>
              <a:r>
                <a:t/>
              </a:r>
              <a:endParaRPr b="0" i="0" sz="2800" u="none" cap="none" strike="noStrike">
                <a:solidFill>
                  <a:srgbClr val="000000"/>
                </a:solidFill>
                <a:latin typeface="Gill Sans"/>
                <a:ea typeface="Gill Sans"/>
                <a:cs typeface="Gill Sans"/>
                <a:sym typeface="Gill Sans"/>
              </a:endParaRPr>
            </a:p>
          </p:txBody>
        </p:sp>
        <p:grpSp>
          <p:nvGrpSpPr>
            <p:cNvPr id="7368" name="Google Shape;7368;p161"/>
            <p:cNvGrpSpPr/>
            <p:nvPr/>
          </p:nvGrpSpPr>
          <p:grpSpPr>
            <a:xfrm>
              <a:off x="6040008" y="4887177"/>
              <a:ext cx="4888123" cy="397144"/>
              <a:chOff x="5614194" y="4809655"/>
              <a:chExt cx="4888123" cy="397144"/>
            </a:xfrm>
          </p:grpSpPr>
          <p:sp>
            <p:nvSpPr>
              <p:cNvPr id="7369" name="Google Shape;7369;p161"/>
              <p:cNvSpPr txBox="1"/>
              <p:nvPr/>
            </p:nvSpPr>
            <p:spPr>
              <a:xfrm>
                <a:off x="5614194" y="4868630"/>
                <a:ext cx="4395788" cy="338169"/>
              </a:xfrm>
              <a:prstGeom prst="rect">
                <a:avLst/>
              </a:prstGeom>
              <a:noFill/>
              <a:ln>
                <a:noFill/>
              </a:ln>
            </p:spPr>
            <p:txBody>
              <a:bodyPr anchorCtr="0" anchor="t" bIns="45700" lIns="91425" spcFirstLastPara="1" rIns="91425" wrap="square" tIns="45700">
                <a:spAutoFit/>
              </a:bodyPr>
              <a:lstStyle/>
              <a:p>
                <a:pPr indent="-225425" lvl="0" marL="225425" marR="0" rtl="0" algn="l">
                  <a:lnSpc>
                    <a:spcPct val="85000"/>
                  </a:lnSpc>
                  <a:spcBef>
                    <a:spcPts val="0"/>
                  </a:spcBef>
                  <a:spcAft>
                    <a:spcPts val="0"/>
                  </a:spcAft>
                  <a:buClr>
                    <a:srgbClr val="000099"/>
                  </a:buClr>
                  <a:buSzPts val="1170"/>
                  <a:buFont typeface="Noto Sans Symbols"/>
                  <a:buNone/>
                </a:pPr>
                <a:r>
                  <a:rPr b="1" i="0" lang="en-US" sz="1800" u="none" cap="none" strike="noStrike">
                    <a:solidFill>
                      <a:srgbClr val="000000"/>
                    </a:solidFill>
                    <a:latin typeface="Courier New"/>
                    <a:ea typeface="Courier New"/>
                    <a:cs typeface="Courier New"/>
                    <a:sym typeface="Courier New"/>
                  </a:rPr>
                  <a:t>LastByteSent- LastByteAcked</a:t>
                </a:r>
                <a:endParaRPr b="0" i="0" sz="1800" u="none" cap="none" strike="noStrike">
                  <a:solidFill>
                    <a:srgbClr val="000000"/>
                  </a:solidFill>
                  <a:latin typeface="Courier New"/>
                  <a:ea typeface="Courier New"/>
                  <a:cs typeface="Courier New"/>
                  <a:sym typeface="Courier New"/>
                </a:endParaRPr>
              </a:p>
            </p:txBody>
          </p:sp>
          <p:grpSp>
            <p:nvGrpSpPr>
              <p:cNvPr id="7370" name="Google Shape;7370;p161"/>
              <p:cNvGrpSpPr/>
              <p:nvPr/>
            </p:nvGrpSpPr>
            <p:grpSpPr>
              <a:xfrm>
                <a:off x="9416467" y="4809655"/>
                <a:ext cx="1085850" cy="366713"/>
                <a:chOff x="7709188" y="4768381"/>
                <a:chExt cx="1085850" cy="366713"/>
              </a:xfrm>
            </p:grpSpPr>
            <p:grpSp>
              <p:nvGrpSpPr>
                <p:cNvPr id="7371" name="Google Shape;7371;p161"/>
                <p:cNvGrpSpPr/>
                <p:nvPr/>
              </p:nvGrpSpPr>
              <p:grpSpPr>
                <a:xfrm>
                  <a:off x="7709188" y="4789019"/>
                  <a:ext cx="350837" cy="336550"/>
                  <a:chOff x="2059" y="2097"/>
                  <a:chExt cx="221" cy="212"/>
                </a:xfrm>
              </p:grpSpPr>
              <p:sp>
                <p:nvSpPr>
                  <p:cNvPr id="7372" name="Google Shape;7372;p161"/>
                  <p:cNvSpPr txBox="1"/>
                  <p:nvPr/>
                </p:nvSpPr>
                <p:spPr>
                  <a:xfrm>
                    <a:off x="2059" y="2097"/>
                    <a:ext cx="221"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1" i="0" lang="en-US" sz="1600" u="none" cap="none" strike="noStrike">
                        <a:solidFill>
                          <a:srgbClr val="000000"/>
                        </a:solidFill>
                        <a:latin typeface="Tahoma"/>
                        <a:ea typeface="Tahoma"/>
                        <a:cs typeface="Tahoma"/>
                        <a:sym typeface="Tahoma"/>
                      </a:rPr>
                      <a:t>&lt;</a:t>
                    </a:r>
                    <a:endParaRPr/>
                  </a:p>
                </p:txBody>
              </p:sp>
              <p:cxnSp>
                <p:nvCxnSpPr>
                  <p:cNvPr id="7373" name="Google Shape;7373;p161"/>
                  <p:cNvCxnSpPr/>
                  <p:nvPr/>
                </p:nvCxnSpPr>
                <p:spPr>
                  <a:xfrm>
                    <a:off x="2133" y="2269"/>
                    <a:ext cx="85" cy="0"/>
                  </a:xfrm>
                  <a:prstGeom prst="straightConnector1">
                    <a:avLst/>
                  </a:prstGeom>
                  <a:noFill/>
                  <a:ln cap="flat" cmpd="sng" w="19050">
                    <a:solidFill>
                      <a:srgbClr val="000000"/>
                    </a:solidFill>
                    <a:prstDash val="solid"/>
                    <a:round/>
                    <a:headEnd len="med" w="med" type="none"/>
                    <a:tailEnd len="med" w="med" type="none"/>
                  </a:ln>
                </p:spPr>
              </p:cxnSp>
            </p:grpSp>
            <p:sp>
              <p:nvSpPr>
                <p:cNvPr id="7374" name="Google Shape;7374;p161"/>
                <p:cNvSpPr txBox="1"/>
                <p:nvPr/>
              </p:nvSpPr>
              <p:spPr>
                <a:xfrm>
                  <a:off x="8064788" y="4768381"/>
                  <a:ext cx="7302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ourier New"/>
                    <a:buNone/>
                  </a:pPr>
                  <a:r>
                    <a:rPr b="1" i="0" lang="en-US" sz="1800" u="none" cap="none" strike="noStrike">
                      <a:solidFill>
                        <a:srgbClr val="000000"/>
                      </a:solidFill>
                      <a:latin typeface="Courier New"/>
                      <a:ea typeface="Courier New"/>
                      <a:cs typeface="Courier New"/>
                      <a:sym typeface="Courier New"/>
                    </a:rPr>
                    <a:t>cwnd</a:t>
                  </a:r>
                  <a:endParaRPr b="1" i="0" sz="1800" u="none" cap="none" strike="noStrike">
                    <a:solidFill>
                      <a:srgbClr val="000000"/>
                    </a:solidFill>
                    <a:latin typeface="Courier New"/>
                    <a:ea typeface="Courier New"/>
                    <a:cs typeface="Courier New"/>
                    <a:sym typeface="Courier New"/>
                  </a:endParaRPr>
                </a:p>
              </p:txBody>
            </p:sp>
          </p:grpSp>
        </p:grpSp>
      </p:grpSp>
      <p:sp>
        <p:nvSpPr>
          <p:cNvPr id="7375" name="Google Shape;7375;p161"/>
          <p:cNvSpPr/>
          <p:nvPr/>
        </p:nvSpPr>
        <p:spPr>
          <a:xfrm>
            <a:off x="1314221" y="2927773"/>
            <a:ext cx="4503412" cy="10754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376" name="Google Shape;7376;p161"/>
          <p:cNvGrpSpPr/>
          <p:nvPr/>
        </p:nvGrpSpPr>
        <p:grpSpPr>
          <a:xfrm>
            <a:off x="1289051" y="2849038"/>
            <a:ext cx="1267801" cy="861704"/>
            <a:chOff x="1289051" y="2849038"/>
            <a:chExt cx="1267801" cy="861704"/>
          </a:xfrm>
        </p:grpSpPr>
        <p:sp>
          <p:nvSpPr>
            <p:cNvPr id="7377" name="Google Shape;7377;p161"/>
            <p:cNvSpPr/>
            <p:nvPr/>
          </p:nvSpPr>
          <p:spPr>
            <a:xfrm>
              <a:off x="2369283" y="2849038"/>
              <a:ext cx="187569" cy="464732"/>
            </a:xfrm>
            <a:custGeom>
              <a:rect b="b" l="l" r="r" t="t"/>
              <a:pathLst>
                <a:path extrusionOk="0" h="242" w="91">
                  <a:moveTo>
                    <a:pt x="91" y="0"/>
                  </a:moveTo>
                  <a:lnTo>
                    <a:pt x="88" y="242"/>
                  </a:lnTo>
                  <a:lnTo>
                    <a:pt x="0" y="242"/>
                  </a:lnTo>
                </a:path>
              </a:pathLst>
            </a:custGeom>
            <a:noFill/>
            <a:ln cap="flat" cmpd="sng" w="19050">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78" name="Google Shape;7378;p161"/>
            <p:cNvSpPr txBox="1"/>
            <p:nvPr/>
          </p:nvSpPr>
          <p:spPr>
            <a:xfrm>
              <a:off x="1289051" y="3119811"/>
              <a:ext cx="986168" cy="5909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last byte</a:t>
              </a:r>
              <a:endParaRPr/>
            </a:p>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ACKed</a:t>
              </a:r>
              <a:endParaRPr b="0" i="0" sz="1800" u="none" cap="none" strike="noStrike">
                <a:solidFill>
                  <a:srgbClr val="000000"/>
                </a:solidFill>
                <a:latin typeface="Calibri"/>
                <a:ea typeface="Calibri"/>
                <a:cs typeface="Calibri"/>
                <a:sym typeface="Calibri"/>
              </a:endParaRPr>
            </a:p>
          </p:txBody>
        </p:sp>
      </p:grpSp>
      <p:grpSp>
        <p:nvGrpSpPr>
          <p:cNvPr id="7379" name="Google Shape;7379;p161"/>
          <p:cNvGrpSpPr/>
          <p:nvPr/>
        </p:nvGrpSpPr>
        <p:grpSpPr>
          <a:xfrm>
            <a:off x="3824084" y="2948877"/>
            <a:ext cx="1759290" cy="1283237"/>
            <a:chOff x="3824084" y="2948877"/>
            <a:chExt cx="1759290" cy="1283237"/>
          </a:xfrm>
        </p:grpSpPr>
        <p:sp>
          <p:nvSpPr>
            <p:cNvPr id="7380" name="Google Shape;7380;p161"/>
            <p:cNvSpPr txBox="1"/>
            <p:nvPr/>
          </p:nvSpPr>
          <p:spPr>
            <a:xfrm>
              <a:off x="3979525" y="3890482"/>
              <a:ext cx="1603849" cy="3416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last byte sent</a:t>
              </a:r>
              <a:endParaRPr/>
            </a:p>
          </p:txBody>
        </p:sp>
        <p:sp>
          <p:nvSpPr>
            <p:cNvPr id="7381" name="Google Shape;7381;p161"/>
            <p:cNvSpPr/>
            <p:nvPr/>
          </p:nvSpPr>
          <p:spPr>
            <a:xfrm flipH="1">
              <a:off x="3824084" y="2948877"/>
              <a:ext cx="190240" cy="1102896"/>
            </a:xfrm>
            <a:custGeom>
              <a:rect b="b" l="l" r="r" t="t"/>
              <a:pathLst>
                <a:path extrusionOk="0" h="9938" w="9670">
                  <a:moveTo>
                    <a:pt x="9412" y="0"/>
                  </a:moveTo>
                  <a:lnTo>
                    <a:pt x="9670" y="9938"/>
                  </a:lnTo>
                  <a:lnTo>
                    <a:pt x="0" y="9938"/>
                  </a:lnTo>
                </a:path>
              </a:pathLst>
            </a:custGeom>
            <a:noFill/>
            <a:ln cap="flat" cmpd="sng" w="19050">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grpSp>
        <p:nvGrpSpPr>
          <p:cNvPr id="7382" name="Google Shape;7382;p161"/>
          <p:cNvGrpSpPr/>
          <p:nvPr/>
        </p:nvGrpSpPr>
        <p:grpSpPr>
          <a:xfrm>
            <a:off x="1289051" y="1292332"/>
            <a:ext cx="4641849" cy="1497173"/>
            <a:chOff x="1289051" y="1292332"/>
            <a:chExt cx="4641849" cy="1497173"/>
          </a:xfrm>
        </p:grpSpPr>
        <p:sp>
          <p:nvSpPr>
            <p:cNvPr id="7383" name="Google Shape;7383;p161"/>
            <p:cNvSpPr/>
            <p:nvPr/>
          </p:nvSpPr>
          <p:spPr>
            <a:xfrm>
              <a:off x="1370854" y="2034797"/>
              <a:ext cx="86000" cy="752789"/>
            </a:xfrm>
            <a:prstGeom prst="rect">
              <a:avLst/>
            </a:prstGeom>
            <a:gradFill>
              <a:gsLst>
                <a:gs pos="0">
                  <a:srgbClr val="FFFFFF"/>
                </a:gs>
                <a:gs pos="100000">
                  <a:srgbClr val="33CC33"/>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84" name="Google Shape;7384;p161"/>
            <p:cNvSpPr/>
            <p:nvPr/>
          </p:nvSpPr>
          <p:spPr>
            <a:xfrm>
              <a:off x="1498805" y="2036716"/>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85" name="Google Shape;7385;p161"/>
            <p:cNvSpPr/>
            <p:nvPr/>
          </p:nvSpPr>
          <p:spPr>
            <a:xfrm>
              <a:off x="1628852" y="2034797"/>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86" name="Google Shape;7386;p161"/>
            <p:cNvSpPr/>
            <p:nvPr/>
          </p:nvSpPr>
          <p:spPr>
            <a:xfrm>
              <a:off x="1756801" y="2034797"/>
              <a:ext cx="86000"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87" name="Google Shape;7387;p161"/>
            <p:cNvSpPr/>
            <p:nvPr/>
          </p:nvSpPr>
          <p:spPr>
            <a:xfrm>
              <a:off x="1882653" y="2034797"/>
              <a:ext cx="86000"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88" name="Google Shape;7388;p161"/>
            <p:cNvSpPr/>
            <p:nvPr/>
          </p:nvSpPr>
          <p:spPr>
            <a:xfrm>
              <a:off x="2010604" y="2034797"/>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89" name="Google Shape;7389;p161"/>
            <p:cNvSpPr/>
            <p:nvPr/>
          </p:nvSpPr>
          <p:spPr>
            <a:xfrm>
              <a:off x="2132261" y="2034797"/>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0" name="Google Shape;7390;p161"/>
            <p:cNvSpPr/>
            <p:nvPr/>
          </p:nvSpPr>
          <p:spPr>
            <a:xfrm>
              <a:off x="2258113" y="2034797"/>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1" name="Google Shape;7391;p161"/>
            <p:cNvSpPr/>
            <p:nvPr/>
          </p:nvSpPr>
          <p:spPr>
            <a:xfrm>
              <a:off x="2383965" y="2034797"/>
              <a:ext cx="85998"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2" name="Google Shape;7392;p161"/>
            <p:cNvSpPr/>
            <p:nvPr/>
          </p:nvSpPr>
          <p:spPr>
            <a:xfrm>
              <a:off x="2524500" y="2034797"/>
              <a:ext cx="86000" cy="752789"/>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3" name="Google Shape;7393;p161"/>
            <p:cNvSpPr/>
            <p:nvPr/>
          </p:nvSpPr>
          <p:spPr>
            <a:xfrm>
              <a:off x="2654547" y="2036716"/>
              <a:ext cx="86000"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4" name="Google Shape;7394;p161"/>
            <p:cNvSpPr/>
            <p:nvPr/>
          </p:nvSpPr>
          <p:spPr>
            <a:xfrm>
              <a:off x="2782498" y="2034797"/>
              <a:ext cx="85998"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5" name="Google Shape;7395;p161"/>
            <p:cNvSpPr/>
            <p:nvPr/>
          </p:nvSpPr>
          <p:spPr>
            <a:xfrm>
              <a:off x="2910447" y="2034797"/>
              <a:ext cx="86000"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6" name="Google Shape;7396;p161"/>
            <p:cNvSpPr/>
            <p:nvPr/>
          </p:nvSpPr>
          <p:spPr>
            <a:xfrm>
              <a:off x="3038397" y="2034797"/>
              <a:ext cx="85998"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7" name="Google Shape;7397;p161"/>
            <p:cNvSpPr/>
            <p:nvPr/>
          </p:nvSpPr>
          <p:spPr>
            <a:xfrm>
              <a:off x="3164249" y="2034797"/>
              <a:ext cx="85998"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8" name="Google Shape;7398;p161"/>
            <p:cNvSpPr/>
            <p:nvPr/>
          </p:nvSpPr>
          <p:spPr>
            <a:xfrm>
              <a:off x="3285907" y="2034797"/>
              <a:ext cx="85998"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99" name="Google Shape;7399;p161"/>
            <p:cNvSpPr/>
            <p:nvPr/>
          </p:nvSpPr>
          <p:spPr>
            <a:xfrm>
              <a:off x="3411759" y="2034797"/>
              <a:ext cx="85998"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0" name="Google Shape;7400;p161"/>
            <p:cNvSpPr/>
            <p:nvPr/>
          </p:nvSpPr>
          <p:spPr>
            <a:xfrm>
              <a:off x="3539708" y="2034797"/>
              <a:ext cx="86000"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1" name="Google Shape;7401;p161"/>
            <p:cNvSpPr/>
            <p:nvPr/>
          </p:nvSpPr>
          <p:spPr>
            <a:xfrm>
              <a:off x="3657170" y="2034797"/>
              <a:ext cx="86000"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2" name="Google Shape;7402;p161"/>
            <p:cNvSpPr/>
            <p:nvPr/>
          </p:nvSpPr>
          <p:spPr>
            <a:xfrm>
              <a:off x="3783022" y="2034797"/>
              <a:ext cx="86000" cy="752789"/>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3" name="Google Shape;7403;p161"/>
            <p:cNvSpPr/>
            <p:nvPr/>
          </p:nvSpPr>
          <p:spPr>
            <a:xfrm>
              <a:off x="3906778" y="2032876"/>
              <a:ext cx="85998"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4" name="Google Shape;7404;p161"/>
            <p:cNvSpPr/>
            <p:nvPr/>
          </p:nvSpPr>
          <p:spPr>
            <a:xfrm>
              <a:off x="4028435" y="2032876"/>
              <a:ext cx="85998"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5" name="Google Shape;7405;p161"/>
            <p:cNvSpPr/>
            <p:nvPr/>
          </p:nvSpPr>
          <p:spPr>
            <a:xfrm>
              <a:off x="4156384" y="2032876"/>
              <a:ext cx="86000"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6" name="Google Shape;7406;p161"/>
            <p:cNvSpPr/>
            <p:nvPr/>
          </p:nvSpPr>
          <p:spPr>
            <a:xfrm>
              <a:off x="4282236" y="2032876"/>
              <a:ext cx="86000"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7" name="Google Shape;7407;p161"/>
            <p:cNvSpPr/>
            <p:nvPr/>
          </p:nvSpPr>
          <p:spPr>
            <a:xfrm>
              <a:off x="4399698" y="2032876"/>
              <a:ext cx="86000"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8" name="Google Shape;7408;p161"/>
            <p:cNvSpPr/>
            <p:nvPr/>
          </p:nvSpPr>
          <p:spPr>
            <a:xfrm>
              <a:off x="4525550" y="2032876"/>
              <a:ext cx="86000" cy="75278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09" name="Google Shape;7409;p161"/>
            <p:cNvSpPr/>
            <p:nvPr/>
          </p:nvSpPr>
          <p:spPr>
            <a:xfrm>
              <a:off x="4653501"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0" name="Google Shape;7410;p161"/>
            <p:cNvSpPr/>
            <p:nvPr/>
          </p:nvSpPr>
          <p:spPr>
            <a:xfrm>
              <a:off x="4781450" y="2036716"/>
              <a:ext cx="86000"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1" name="Google Shape;7411;p161"/>
            <p:cNvSpPr/>
            <p:nvPr/>
          </p:nvSpPr>
          <p:spPr>
            <a:xfrm>
              <a:off x="4909400"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2" name="Google Shape;7412;p161"/>
            <p:cNvSpPr/>
            <p:nvPr/>
          </p:nvSpPr>
          <p:spPr>
            <a:xfrm>
              <a:off x="5039448"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3" name="Google Shape;7413;p161"/>
            <p:cNvSpPr/>
            <p:nvPr/>
          </p:nvSpPr>
          <p:spPr>
            <a:xfrm>
              <a:off x="5165300"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4" name="Google Shape;7414;p161"/>
            <p:cNvSpPr/>
            <p:nvPr/>
          </p:nvSpPr>
          <p:spPr>
            <a:xfrm>
              <a:off x="5291152"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5" name="Google Shape;7415;p161"/>
            <p:cNvSpPr/>
            <p:nvPr/>
          </p:nvSpPr>
          <p:spPr>
            <a:xfrm>
              <a:off x="5412809" y="2034797"/>
              <a:ext cx="85998"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6" name="Google Shape;7416;p161"/>
            <p:cNvSpPr/>
            <p:nvPr/>
          </p:nvSpPr>
          <p:spPr>
            <a:xfrm>
              <a:off x="5540759" y="2034797"/>
              <a:ext cx="86000" cy="752789"/>
            </a:xfrm>
            <a:prstGeom prst="rect">
              <a:avLst/>
            </a:prstGeom>
            <a:solidFill>
              <a:srgbClr val="B2B2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7" name="Google Shape;7417;p161"/>
            <p:cNvSpPr/>
            <p:nvPr/>
          </p:nvSpPr>
          <p:spPr>
            <a:xfrm>
              <a:off x="5666611" y="2034797"/>
              <a:ext cx="86000" cy="752789"/>
            </a:xfrm>
            <a:prstGeom prst="rect">
              <a:avLst/>
            </a:prstGeom>
            <a:gradFill>
              <a:gsLst>
                <a:gs pos="0">
                  <a:srgbClr val="B2B2B2"/>
                </a:gs>
                <a:gs pos="100000">
                  <a:srgbClr val="FFFF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8" name="Google Shape;7418;p161"/>
            <p:cNvSpPr/>
            <p:nvPr/>
          </p:nvSpPr>
          <p:spPr>
            <a:xfrm>
              <a:off x="1427488" y="1902290"/>
              <a:ext cx="4503412" cy="10754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19" name="Google Shape;7419;p161"/>
            <p:cNvSpPr txBox="1"/>
            <p:nvPr/>
          </p:nvSpPr>
          <p:spPr>
            <a:xfrm>
              <a:off x="3220882" y="1648799"/>
              <a:ext cx="805454" cy="34374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400"/>
                <a:buFont typeface="Courier New"/>
                <a:buNone/>
              </a:pPr>
              <a:r>
                <a:rPr b="1" i="0" lang="en-US" sz="1400" u="none" cap="none" strike="noStrike">
                  <a:solidFill>
                    <a:srgbClr val="000000"/>
                  </a:solidFill>
                  <a:latin typeface="Courier New"/>
                  <a:ea typeface="Courier New"/>
                  <a:cs typeface="Courier New"/>
                  <a:sym typeface="Courier New"/>
                </a:rPr>
                <a:t>cwnd</a:t>
              </a:r>
              <a:endParaRPr b="1" i="1" sz="1400" u="none" cap="none" strike="noStrike">
                <a:solidFill>
                  <a:srgbClr val="000000"/>
                </a:solidFill>
                <a:latin typeface="Courier New"/>
                <a:ea typeface="Courier New"/>
                <a:cs typeface="Courier New"/>
                <a:sym typeface="Courier New"/>
              </a:endParaRPr>
            </a:p>
          </p:txBody>
        </p:sp>
        <p:grpSp>
          <p:nvGrpSpPr>
            <p:cNvPr id="7420" name="Google Shape;7420;p161"/>
            <p:cNvGrpSpPr/>
            <p:nvPr/>
          </p:nvGrpSpPr>
          <p:grpSpPr>
            <a:xfrm>
              <a:off x="4022141" y="1750580"/>
              <a:ext cx="591506" cy="142108"/>
              <a:chOff x="4250" y="1692"/>
              <a:chExt cx="374" cy="86"/>
            </a:xfrm>
          </p:grpSpPr>
          <p:cxnSp>
            <p:nvCxnSpPr>
              <p:cNvPr id="7421" name="Google Shape;7421;p161"/>
              <p:cNvCxnSpPr/>
              <p:nvPr/>
            </p:nvCxnSpPr>
            <p:spPr>
              <a:xfrm>
                <a:off x="4250" y="1738"/>
                <a:ext cx="374" cy="0"/>
              </a:xfrm>
              <a:prstGeom prst="straightConnector1">
                <a:avLst/>
              </a:prstGeom>
              <a:noFill/>
              <a:ln cap="flat" cmpd="sng" w="28575">
                <a:solidFill>
                  <a:srgbClr val="CC0000"/>
                </a:solidFill>
                <a:prstDash val="solid"/>
                <a:round/>
                <a:headEnd len="med" w="med" type="none"/>
                <a:tailEnd len="med" w="med" type="triangle"/>
              </a:ln>
            </p:spPr>
          </p:cxnSp>
          <p:cxnSp>
            <p:nvCxnSpPr>
              <p:cNvPr id="7422" name="Google Shape;7422;p161"/>
              <p:cNvCxnSpPr/>
              <p:nvPr/>
            </p:nvCxnSpPr>
            <p:spPr>
              <a:xfrm>
                <a:off x="4621" y="1692"/>
                <a:ext cx="0" cy="86"/>
              </a:xfrm>
              <a:prstGeom prst="straightConnector1">
                <a:avLst/>
              </a:prstGeom>
              <a:noFill/>
              <a:ln cap="flat" cmpd="sng" w="9525">
                <a:solidFill>
                  <a:srgbClr val="CC0000"/>
                </a:solidFill>
                <a:prstDash val="solid"/>
                <a:round/>
                <a:headEnd len="med" w="med" type="none"/>
                <a:tailEnd len="med" w="med" type="none"/>
              </a:ln>
            </p:spPr>
          </p:cxnSp>
        </p:grpSp>
        <p:grpSp>
          <p:nvGrpSpPr>
            <p:cNvPr id="7423" name="Google Shape;7423;p161"/>
            <p:cNvGrpSpPr/>
            <p:nvPr/>
          </p:nvGrpSpPr>
          <p:grpSpPr>
            <a:xfrm rot="10800000">
              <a:off x="2633863" y="1759691"/>
              <a:ext cx="616676" cy="149790"/>
              <a:chOff x="4260" y="1700"/>
              <a:chExt cx="374" cy="86"/>
            </a:xfrm>
          </p:grpSpPr>
          <p:cxnSp>
            <p:nvCxnSpPr>
              <p:cNvPr id="7424" name="Google Shape;7424;p161"/>
              <p:cNvCxnSpPr/>
              <p:nvPr/>
            </p:nvCxnSpPr>
            <p:spPr>
              <a:xfrm>
                <a:off x="4260" y="1746"/>
                <a:ext cx="374" cy="0"/>
              </a:xfrm>
              <a:prstGeom prst="straightConnector1">
                <a:avLst/>
              </a:prstGeom>
              <a:noFill/>
              <a:ln cap="flat" cmpd="sng" w="28575">
                <a:solidFill>
                  <a:srgbClr val="CC0000"/>
                </a:solidFill>
                <a:prstDash val="solid"/>
                <a:round/>
                <a:headEnd len="med" w="med" type="none"/>
                <a:tailEnd len="med" w="med" type="triangle"/>
              </a:ln>
            </p:spPr>
          </p:cxnSp>
          <p:cxnSp>
            <p:nvCxnSpPr>
              <p:cNvPr id="7425" name="Google Shape;7425;p161"/>
              <p:cNvCxnSpPr/>
              <p:nvPr/>
            </p:nvCxnSpPr>
            <p:spPr>
              <a:xfrm>
                <a:off x="4632" y="1700"/>
                <a:ext cx="0" cy="86"/>
              </a:xfrm>
              <a:prstGeom prst="straightConnector1">
                <a:avLst/>
              </a:prstGeom>
              <a:noFill/>
              <a:ln cap="flat" cmpd="sng" w="9525">
                <a:solidFill>
                  <a:srgbClr val="CC0000"/>
                </a:solidFill>
                <a:prstDash val="solid"/>
                <a:round/>
                <a:headEnd len="med" w="med" type="none"/>
                <a:tailEnd len="med" w="med" type="none"/>
              </a:ln>
            </p:spPr>
          </p:cxnSp>
        </p:grpSp>
        <p:sp>
          <p:nvSpPr>
            <p:cNvPr id="7426" name="Google Shape;7426;p161"/>
            <p:cNvSpPr txBox="1"/>
            <p:nvPr/>
          </p:nvSpPr>
          <p:spPr>
            <a:xfrm>
              <a:off x="1289051" y="1292332"/>
              <a:ext cx="3220754" cy="3693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 sequence number space </a:t>
              </a:r>
              <a:endParaRPr/>
            </a:p>
          </p:txBody>
        </p:sp>
      </p:grpSp>
      <p:cxnSp>
        <p:nvCxnSpPr>
          <p:cNvPr id="7427" name="Google Shape;7427;p161"/>
          <p:cNvCxnSpPr/>
          <p:nvPr/>
        </p:nvCxnSpPr>
        <p:spPr>
          <a:xfrm>
            <a:off x="3908860" y="2875555"/>
            <a:ext cx="700041" cy="0"/>
          </a:xfrm>
          <a:prstGeom prst="straightConnector1">
            <a:avLst/>
          </a:prstGeom>
          <a:noFill/>
          <a:ln cap="flat" cmpd="sng" w="28575">
            <a:solidFill>
              <a:srgbClr val="CC0000"/>
            </a:solidFill>
            <a:prstDash val="solid"/>
            <a:round/>
            <a:headEnd len="med" w="med" type="none"/>
            <a:tailEnd len="med" w="med" type="none"/>
          </a:ln>
        </p:spPr>
      </p:cxnSp>
      <p:grpSp>
        <p:nvGrpSpPr>
          <p:cNvPr id="7428" name="Google Shape;7428;p161"/>
          <p:cNvGrpSpPr/>
          <p:nvPr/>
        </p:nvGrpSpPr>
        <p:grpSpPr>
          <a:xfrm>
            <a:off x="4204169" y="2959619"/>
            <a:ext cx="1759165" cy="950582"/>
            <a:chOff x="4204169" y="2959619"/>
            <a:chExt cx="1759165" cy="950582"/>
          </a:xfrm>
        </p:grpSpPr>
        <p:sp>
          <p:nvSpPr>
            <p:cNvPr id="7429" name="Google Shape;7429;p161"/>
            <p:cNvSpPr/>
            <p:nvPr/>
          </p:nvSpPr>
          <p:spPr>
            <a:xfrm flipH="1">
              <a:off x="4204169" y="2959619"/>
              <a:ext cx="190240" cy="549834"/>
            </a:xfrm>
            <a:custGeom>
              <a:rect b="b" l="l" r="r" t="t"/>
              <a:pathLst>
                <a:path extrusionOk="0" h="9938" w="9670">
                  <a:moveTo>
                    <a:pt x="9412" y="0"/>
                  </a:moveTo>
                  <a:lnTo>
                    <a:pt x="9670" y="9938"/>
                  </a:lnTo>
                  <a:lnTo>
                    <a:pt x="0" y="9938"/>
                  </a:lnTo>
                </a:path>
              </a:pathLst>
            </a:custGeom>
            <a:noFill/>
            <a:ln cap="flat" cmpd="sng" w="19050">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430" name="Google Shape;7430;p161"/>
            <p:cNvSpPr txBox="1"/>
            <p:nvPr/>
          </p:nvSpPr>
          <p:spPr>
            <a:xfrm>
              <a:off x="4359485" y="3319270"/>
              <a:ext cx="1603849" cy="5909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available but not used</a:t>
              </a:r>
              <a:endParaRPr/>
            </a:p>
          </p:txBody>
        </p:sp>
      </p:grpSp>
      <p:grpSp>
        <p:nvGrpSpPr>
          <p:cNvPr id="7431" name="Google Shape;7431;p161"/>
          <p:cNvGrpSpPr/>
          <p:nvPr/>
        </p:nvGrpSpPr>
        <p:grpSpPr>
          <a:xfrm>
            <a:off x="7180262" y="1455737"/>
            <a:ext cx="4592627" cy="2538364"/>
            <a:chOff x="7180262" y="1455737"/>
            <a:chExt cx="4592627" cy="2538364"/>
          </a:xfrm>
        </p:grpSpPr>
        <p:sp>
          <p:nvSpPr>
            <p:cNvPr id="7432" name="Google Shape;7432;p161"/>
            <p:cNvSpPr txBox="1"/>
            <p:nvPr/>
          </p:nvSpPr>
          <p:spPr>
            <a:xfrm>
              <a:off x="7180262" y="1455737"/>
              <a:ext cx="4592627" cy="244792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2800"/>
                <a:buFont typeface="Noto Sans Symbols"/>
                <a:buNone/>
              </a:pPr>
              <a:r>
                <a:rPr b="0" i="0" lang="en-US" sz="2800" u="none" cap="none" strike="noStrike">
                  <a:solidFill>
                    <a:srgbClr val="000000"/>
                  </a:solidFill>
                  <a:latin typeface="Calibri"/>
                  <a:ea typeface="Calibri"/>
                  <a:cs typeface="Calibri"/>
                  <a:sym typeface="Calibri"/>
                </a:rPr>
                <a:t>TCP sending behavior:</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1" lang="en-US" sz="2800" u="none" cap="none" strike="noStrike">
                  <a:solidFill>
                    <a:srgbClr val="000000"/>
                  </a:solidFill>
                  <a:latin typeface="Calibri"/>
                  <a:ea typeface="Calibri"/>
                  <a:cs typeface="Calibri"/>
                  <a:sym typeface="Calibri"/>
                </a:rPr>
                <a:t>roughly:</a:t>
              </a:r>
              <a:r>
                <a:rPr b="0" i="0" lang="en-US" sz="2800" u="none" cap="none" strike="noStrike">
                  <a:solidFill>
                    <a:srgbClr val="000000"/>
                  </a:solidFill>
                  <a:latin typeface="Calibri"/>
                  <a:ea typeface="Calibri"/>
                  <a:cs typeface="Calibri"/>
                  <a:sym typeface="Calibri"/>
                </a:rPr>
                <a:t> send </a:t>
              </a:r>
              <a:r>
                <a:rPr b="0" i="0" lang="en-US" sz="2800" u="none" cap="none" strike="noStrike">
                  <a:solidFill>
                    <a:srgbClr val="000000"/>
                  </a:solidFill>
                  <a:latin typeface="Courier"/>
                  <a:ea typeface="Courier"/>
                  <a:cs typeface="Courier"/>
                  <a:sym typeface="Courier"/>
                </a:rPr>
                <a:t>cwnd</a:t>
              </a:r>
              <a:r>
                <a:rPr b="0" i="0" lang="en-US" sz="2800" u="none" cap="none" strike="noStrike">
                  <a:solidFill>
                    <a:srgbClr val="000000"/>
                  </a:solidFill>
                  <a:latin typeface="Calibri"/>
                  <a:ea typeface="Calibri"/>
                  <a:cs typeface="Calibri"/>
                  <a:sym typeface="Calibri"/>
                </a:rPr>
                <a:t> bytes, wait RTT for ACKS, then send more bytes</a:t>
              </a:r>
              <a:endParaRPr/>
            </a:p>
          </p:txBody>
        </p:sp>
        <p:grpSp>
          <p:nvGrpSpPr>
            <p:cNvPr id="7433" name="Google Shape;7433;p161"/>
            <p:cNvGrpSpPr/>
            <p:nvPr/>
          </p:nvGrpSpPr>
          <p:grpSpPr>
            <a:xfrm>
              <a:off x="7513131" y="3110983"/>
              <a:ext cx="3751561" cy="883118"/>
              <a:chOff x="6839655" y="3035314"/>
              <a:chExt cx="3751561" cy="883118"/>
            </a:xfrm>
          </p:grpSpPr>
          <p:sp>
            <p:nvSpPr>
              <p:cNvPr id="7434" name="Google Shape;7434;p161"/>
              <p:cNvSpPr/>
              <p:nvPr/>
            </p:nvSpPr>
            <p:spPr>
              <a:xfrm>
                <a:off x="6839655" y="3035314"/>
                <a:ext cx="3751561" cy="883118"/>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435" name="Google Shape;7435;p161"/>
              <p:cNvGrpSpPr/>
              <p:nvPr/>
            </p:nvGrpSpPr>
            <p:grpSpPr>
              <a:xfrm>
                <a:off x="6869571" y="3107218"/>
                <a:ext cx="3634909" cy="811214"/>
                <a:chOff x="6694950" y="3614743"/>
                <a:chExt cx="3634909" cy="811214"/>
              </a:xfrm>
            </p:grpSpPr>
            <p:sp>
              <p:nvSpPr>
                <p:cNvPr id="7436" name="Google Shape;7436;p161"/>
                <p:cNvSpPr txBox="1"/>
                <p:nvPr/>
              </p:nvSpPr>
              <p:spPr>
                <a:xfrm>
                  <a:off x="6694950" y="3723809"/>
                  <a:ext cx="1390637"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TCP rate</a:t>
                  </a:r>
                  <a:endParaRPr b="0" i="0" sz="2400" u="none" cap="none" strike="noStrike">
                    <a:solidFill>
                      <a:srgbClr val="000000"/>
                    </a:solidFill>
                    <a:latin typeface="Calibri"/>
                    <a:ea typeface="Calibri"/>
                    <a:cs typeface="Calibri"/>
                    <a:sym typeface="Calibri"/>
                  </a:endParaRPr>
                </a:p>
              </p:txBody>
            </p:sp>
            <p:grpSp>
              <p:nvGrpSpPr>
                <p:cNvPr id="7437" name="Google Shape;7437;p161"/>
                <p:cNvGrpSpPr/>
                <p:nvPr/>
              </p:nvGrpSpPr>
              <p:grpSpPr>
                <a:xfrm>
                  <a:off x="7748588" y="3776663"/>
                  <a:ext cx="931863" cy="441325"/>
                  <a:chOff x="4214" y="2517"/>
                  <a:chExt cx="587" cy="278"/>
                </a:xfrm>
              </p:grpSpPr>
              <p:sp>
                <p:nvSpPr>
                  <p:cNvPr id="7438" name="Google Shape;7438;p161"/>
                  <p:cNvSpPr txBox="1"/>
                  <p:nvPr/>
                </p:nvSpPr>
                <p:spPr>
                  <a:xfrm>
                    <a:off x="4216" y="2517"/>
                    <a:ext cx="58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t>
                    </a:r>
                    <a:endParaRPr/>
                  </a:p>
                </p:txBody>
              </p:sp>
              <p:sp>
                <p:nvSpPr>
                  <p:cNvPr id="7439" name="Google Shape;7439;p161"/>
                  <p:cNvSpPr txBox="1"/>
                  <p:nvPr/>
                </p:nvSpPr>
                <p:spPr>
                  <a:xfrm>
                    <a:off x="4214" y="2564"/>
                    <a:ext cx="58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t>
                    </a:r>
                    <a:endParaRPr/>
                  </a:p>
                </p:txBody>
              </p:sp>
            </p:grpSp>
            <p:grpSp>
              <p:nvGrpSpPr>
                <p:cNvPr id="7440" name="Google Shape;7440;p161"/>
                <p:cNvGrpSpPr/>
                <p:nvPr/>
              </p:nvGrpSpPr>
              <p:grpSpPr>
                <a:xfrm>
                  <a:off x="8320082" y="3614743"/>
                  <a:ext cx="922336" cy="811214"/>
                  <a:chOff x="4335" y="2509"/>
                  <a:chExt cx="581" cy="511"/>
                </a:xfrm>
              </p:grpSpPr>
              <p:sp>
                <p:nvSpPr>
                  <p:cNvPr id="7441" name="Google Shape;7441;p161"/>
                  <p:cNvSpPr txBox="1"/>
                  <p:nvPr/>
                </p:nvSpPr>
                <p:spPr>
                  <a:xfrm>
                    <a:off x="4335" y="2509"/>
                    <a:ext cx="581" cy="29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ourier"/>
                      <a:buNone/>
                    </a:pPr>
                    <a:r>
                      <a:rPr b="0" i="0" lang="en-US" sz="2400" u="none" cap="none" strike="noStrike">
                        <a:solidFill>
                          <a:srgbClr val="000000"/>
                        </a:solidFill>
                        <a:latin typeface="Courier"/>
                        <a:ea typeface="Courier"/>
                        <a:cs typeface="Courier"/>
                        <a:sym typeface="Courier"/>
                      </a:rPr>
                      <a:t>cwnd</a:t>
                    </a:r>
                    <a:endParaRPr b="0" i="0" sz="2400" u="none" cap="none" strike="noStrike">
                      <a:solidFill>
                        <a:srgbClr val="000000"/>
                      </a:solidFill>
                      <a:latin typeface="Courier"/>
                      <a:ea typeface="Courier"/>
                      <a:cs typeface="Courier"/>
                      <a:sym typeface="Courier"/>
                    </a:endParaRPr>
                  </a:p>
                </p:txBody>
              </p:sp>
              <p:sp>
                <p:nvSpPr>
                  <p:cNvPr id="7442" name="Google Shape;7442;p161"/>
                  <p:cNvSpPr txBox="1"/>
                  <p:nvPr/>
                </p:nvSpPr>
                <p:spPr>
                  <a:xfrm>
                    <a:off x="4398" y="2729"/>
                    <a:ext cx="463" cy="29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Tahoma"/>
                      <a:buNone/>
                    </a:pPr>
                    <a:r>
                      <a:rPr b="0" i="0" lang="en-US" sz="2400" u="none" cap="none" strike="noStrike">
                        <a:solidFill>
                          <a:srgbClr val="000000"/>
                        </a:solidFill>
                        <a:latin typeface="Tahoma"/>
                        <a:ea typeface="Tahoma"/>
                        <a:cs typeface="Tahoma"/>
                        <a:sym typeface="Tahoma"/>
                      </a:rPr>
                      <a:t>RTT</a:t>
                    </a:r>
                    <a:endParaRPr/>
                  </a:p>
                </p:txBody>
              </p:sp>
              <p:cxnSp>
                <p:nvCxnSpPr>
                  <p:cNvPr id="7443" name="Google Shape;7443;p161"/>
                  <p:cNvCxnSpPr/>
                  <p:nvPr/>
                </p:nvCxnSpPr>
                <p:spPr>
                  <a:xfrm>
                    <a:off x="4430" y="2763"/>
                    <a:ext cx="384" cy="0"/>
                  </a:xfrm>
                  <a:prstGeom prst="straightConnector1">
                    <a:avLst/>
                  </a:prstGeom>
                  <a:noFill/>
                  <a:ln cap="flat" cmpd="sng" w="19050">
                    <a:solidFill>
                      <a:srgbClr val="000000"/>
                    </a:solidFill>
                    <a:prstDash val="solid"/>
                    <a:round/>
                    <a:headEnd len="med" w="med" type="none"/>
                    <a:tailEnd len="med" w="med" type="none"/>
                  </a:ln>
                </p:spPr>
              </p:cxnSp>
            </p:grpSp>
            <p:sp>
              <p:nvSpPr>
                <p:cNvPr id="7444" name="Google Shape;7444;p161"/>
                <p:cNvSpPr txBox="1"/>
                <p:nvPr/>
              </p:nvSpPr>
              <p:spPr>
                <a:xfrm>
                  <a:off x="9141713" y="3823464"/>
                  <a:ext cx="1188146"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bytes/sec</a:t>
                  </a:r>
                  <a:endParaRPr/>
                </a:p>
              </p:txBody>
            </p:sp>
          </p:grpSp>
        </p:grpSp>
      </p:grpSp>
      <p:grpSp>
        <p:nvGrpSpPr>
          <p:cNvPr id="7445" name="Google Shape;7445;p161"/>
          <p:cNvGrpSpPr/>
          <p:nvPr/>
        </p:nvGrpSpPr>
        <p:grpSpPr>
          <a:xfrm>
            <a:off x="2327097" y="2874002"/>
            <a:ext cx="1660913" cy="1379180"/>
            <a:chOff x="2327097" y="2874002"/>
            <a:chExt cx="1660913" cy="1379180"/>
          </a:xfrm>
        </p:grpSpPr>
        <p:sp>
          <p:nvSpPr>
            <p:cNvPr id="7446" name="Google Shape;7446;p161"/>
            <p:cNvSpPr txBox="1"/>
            <p:nvPr/>
          </p:nvSpPr>
          <p:spPr>
            <a:xfrm>
              <a:off x="2327097" y="3412952"/>
              <a:ext cx="1660913" cy="84023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sent, but not-yet ACKed </a:t>
              </a:r>
              <a:endParaRPr/>
            </a:p>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(“in-flight”)</a:t>
              </a:r>
              <a:endParaRPr b="0" i="0" sz="1600" u="none" cap="none" strike="noStrike">
                <a:solidFill>
                  <a:srgbClr val="000000"/>
                </a:solidFill>
                <a:latin typeface="Calibri"/>
                <a:ea typeface="Calibri"/>
                <a:cs typeface="Calibri"/>
                <a:sym typeface="Calibri"/>
              </a:endParaRPr>
            </a:p>
          </p:txBody>
        </p:sp>
        <p:grpSp>
          <p:nvGrpSpPr>
            <p:cNvPr id="7447" name="Google Shape;7447;p161"/>
            <p:cNvGrpSpPr/>
            <p:nvPr/>
          </p:nvGrpSpPr>
          <p:grpSpPr>
            <a:xfrm>
              <a:off x="2644060" y="2874002"/>
              <a:ext cx="1201888" cy="658131"/>
              <a:chOff x="2644060" y="2874003"/>
              <a:chExt cx="1201888" cy="635450"/>
            </a:xfrm>
          </p:grpSpPr>
          <p:cxnSp>
            <p:nvCxnSpPr>
              <p:cNvPr id="7448" name="Google Shape;7448;p161"/>
              <p:cNvCxnSpPr/>
              <p:nvPr/>
            </p:nvCxnSpPr>
            <p:spPr>
              <a:xfrm>
                <a:off x="2644060" y="2874003"/>
                <a:ext cx="1201888" cy="0"/>
              </a:xfrm>
              <a:prstGeom prst="straightConnector1">
                <a:avLst/>
              </a:prstGeom>
              <a:noFill/>
              <a:ln cap="flat" cmpd="sng" w="28575">
                <a:solidFill>
                  <a:srgbClr val="CC0000"/>
                </a:solidFill>
                <a:prstDash val="solid"/>
                <a:round/>
                <a:headEnd len="med" w="med" type="none"/>
                <a:tailEnd len="med" w="med" type="none"/>
              </a:ln>
            </p:spPr>
          </p:cxnSp>
          <p:cxnSp>
            <p:nvCxnSpPr>
              <p:cNvPr id="7449" name="Google Shape;7449;p161"/>
              <p:cNvCxnSpPr/>
              <p:nvPr/>
            </p:nvCxnSpPr>
            <p:spPr>
              <a:xfrm>
                <a:off x="2850877" y="2898008"/>
                <a:ext cx="0" cy="611445"/>
              </a:xfrm>
              <a:prstGeom prst="straightConnector1">
                <a:avLst/>
              </a:prstGeom>
              <a:noFill/>
              <a:ln cap="flat" cmpd="sng" w="19050">
                <a:solidFill>
                  <a:srgbClr val="C00000"/>
                </a:solidFill>
                <a:prstDash val="solid"/>
                <a:miter lim="800000"/>
                <a:headEnd len="sm" w="sm" type="none"/>
                <a:tailEnd len="sm" w="sm" type="none"/>
              </a:ln>
            </p:spPr>
          </p:cxnSp>
        </p:grpSp>
      </p:grpSp>
      <p:sp>
        <p:nvSpPr>
          <p:cNvPr id="7450" name="Google Shape;7450;p16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76"/>
                                        </p:tgtEl>
                                        <p:attrNameLst>
                                          <p:attrName>style.visibility</p:attrName>
                                        </p:attrNameLst>
                                      </p:cBhvr>
                                      <p:to>
                                        <p:strVal val="visible"/>
                                      </p:to>
                                    </p:set>
                                    <p:animEffect filter="fade" transition="in">
                                      <p:cBhvr>
                                        <p:cTn dur="500"/>
                                        <p:tgtEl>
                                          <p:spTgt spid="73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45"/>
                                        </p:tgtEl>
                                        <p:attrNameLst>
                                          <p:attrName>style.visibility</p:attrName>
                                        </p:attrNameLst>
                                      </p:cBhvr>
                                      <p:to>
                                        <p:strVal val="visible"/>
                                      </p:to>
                                    </p:set>
                                    <p:animEffect filter="fade" transition="in">
                                      <p:cBhvr>
                                        <p:cTn dur="500"/>
                                        <p:tgtEl>
                                          <p:spTgt spid="74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79"/>
                                        </p:tgtEl>
                                        <p:attrNameLst>
                                          <p:attrName>style.visibility</p:attrName>
                                        </p:attrNameLst>
                                      </p:cBhvr>
                                      <p:to>
                                        <p:strVal val="visible"/>
                                      </p:to>
                                    </p:set>
                                    <p:animEffect filter="fade" transition="in">
                                      <p:cBhvr>
                                        <p:cTn dur="500"/>
                                        <p:tgtEl>
                                          <p:spTgt spid="73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28"/>
                                        </p:tgtEl>
                                        <p:attrNameLst>
                                          <p:attrName>style.visibility</p:attrName>
                                        </p:attrNameLst>
                                      </p:cBhvr>
                                      <p:to>
                                        <p:strVal val="visible"/>
                                      </p:to>
                                    </p:set>
                                    <p:animEffect filter="fade" transition="in">
                                      <p:cBhvr>
                                        <p:cTn dur="500"/>
                                        <p:tgtEl>
                                          <p:spTgt spid="7428"/>
                                        </p:tgtEl>
                                      </p:cBhvr>
                                    </p:animEffect>
                                  </p:childTnLst>
                                </p:cTn>
                              </p:par>
                              <p:par>
                                <p:cTn fill="hold" nodeType="withEffect" presetClass="entr" presetID="10" presetSubtype="0">
                                  <p:stCondLst>
                                    <p:cond delay="0"/>
                                  </p:stCondLst>
                                  <p:childTnLst>
                                    <p:set>
                                      <p:cBhvr>
                                        <p:cTn dur="1" fill="hold">
                                          <p:stCondLst>
                                            <p:cond delay="0"/>
                                          </p:stCondLst>
                                        </p:cTn>
                                        <p:tgtEl>
                                          <p:spTgt spid="7427"/>
                                        </p:tgtEl>
                                        <p:attrNameLst>
                                          <p:attrName>style.visibility</p:attrName>
                                        </p:attrNameLst>
                                      </p:cBhvr>
                                      <p:to>
                                        <p:strVal val="visible"/>
                                      </p:to>
                                    </p:set>
                                    <p:animEffect filter="fade" transition="in">
                                      <p:cBhvr>
                                        <p:cTn dur="500"/>
                                        <p:tgtEl>
                                          <p:spTgt spid="74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5"/>
                                        </p:tgtEl>
                                        <p:attrNameLst>
                                          <p:attrName>style.visibility</p:attrName>
                                        </p:attrNameLst>
                                      </p:cBhvr>
                                      <p:to>
                                        <p:strVal val="visible"/>
                                      </p:to>
                                    </p:set>
                                    <p:animEffect filter="fade" transition="in">
                                      <p:cBhvr>
                                        <p:cTn dur="500"/>
                                        <p:tgtEl>
                                          <p:spTgt spid="73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31"/>
                                        </p:tgtEl>
                                        <p:attrNameLst>
                                          <p:attrName>style.visibility</p:attrName>
                                        </p:attrNameLst>
                                      </p:cBhvr>
                                      <p:to>
                                        <p:strVal val="visible"/>
                                      </p:to>
                                    </p:set>
                                    <p:animEffect filter="fade" transition="in">
                                      <p:cBhvr>
                                        <p:cTn dur="500"/>
                                        <p:tgtEl>
                                          <p:spTgt spid="74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5" name="Shape 7455"/>
        <p:cNvGrpSpPr/>
        <p:nvPr/>
      </p:nvGrpSpPr>
      <p:grpSpPr>
        <a:xfrm>
          <a:off x="0" y="0"/>
          <a:ext cx="0" cy="0"/>
          <a:chOff x="0" y="0"/>
          <a:chExt cx="0" cy="0"/>
        </a:xfrm>
      </p:grpSpPr>
      <p:sp>
        <p:nvSpPr>
          <p:cNvPr id="7456" name="Google Shape;7456;p162"/>
          <p:cNvSpPr txBox="1"/>
          <p:nvPr>
            <p:ph type="title"/>
          </p:nvPr>
        </p:nvSpPr>
        <p:spPr>
          <a:xfrm>
            <a:off x="811390" y="259719"/>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slow start </a:t>
            </a:r>
            <a:endParaRPr b="0" sz="4400"/>
          </a:p>
        </p:txBody>
      </p:sp>
      <p:sp>
        <p:nvSpPr>
          <p:cNvPr id="7457" name="Google Shape;7457;p162"/>
          <p:cNvSpPr txBox="1"/>
          <p:nvPr/>
        </p:nvSpPr>
        <p:spPr>
          <a:xfrm>
            <a:off x="1143000" y="1384299"/>
            <a:ext cx="5118100" cy="5214257"/>
          </a:xfrm>
          <a:prstGeom prst="rect">
            <a:avLst/>
          </a:prstGeom>
          <a:noFill/>
          <a:ln>
            <a:noFill/>
          </a:ln>
        </p:spPr>
        <p:txBody>
          <a:bodyPr anchorCtr="0" anchor="t" bIns="45700" lIns="91425" spcFirstLastPara="1" rIns="91425" wrap="square" tIns="45700">
            <a:normAutofit/>
          </a:bodyPr>
          <a:lstStyle/>
          <a:p>
            <a:pPr indent="-263525" lvl="0" marL="39370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when connection begins, increase rate exponentially until first loss event: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initially </a:t>
            </a:r>
            <a:r>
              <a:rPr b="1" i="0" lang="en-US" sz="2800" u="none" cap="none" strike="noStrike">
                <a:solidFill>
                  <a:srgbClr val="000000"/>
                </a:solidFill>
                <a:latin typeface="Courier New"/>
                <a:ea typeface="Courier New"/>
                <a:cs typeface="Courier New"/>
                <a:sym typeface="Courier New"/>
              </a:rPr>
              <a:t>cwnd</a:t>
            </a:r>
            <a:r>
              <a:rPr b="0" i="0" lang="en-US" sz="2800" u="none" cap="none" strike="noStrike">
                <a:solidFill>
                  <a:srgbClr val="000000"/>
                </a:solidFill>
                <a:latin typeface="Calibri"/>
                <a:ea typeface="Calibri"/>
                <a:cs typeface="Calibri"/>
                <a:sym typeface="Calibri"/>
              </a:rPr>
              <a:t> = 1 MSS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double </a:t>
            </a:r>
            <a:r>
              <a:rPr b="1" i="0" lang="en-US" sz="2800" u="none" cap="none" strike="noStrike">
                <a:solidFill>
                  <a:srgbClr val="000000"/>
                </a:solidFill>
                <a:latin typeface="Courier New"/>
                <a:ea typeface="Courier New"/>
                <a:cs typeface="Courier New"/>
                <a:sym typeface="Courier New"/>
              </a:rPr>
              <a:t>cwnd</a:t>
            </a:r>
            <a:r>
              <a:rPr b="0" i="0" lang="en-US" sz="2800" u="none" cap="none" strike="noStrike">
                <a:solidFill>
                  <a:srgbClr val="000000"/>
                </a:solidFill>
                <a:latin typeface="Calibri"/>
                <a:ea typeface="Calibri"/>
                <a:cs typeface="Calibri"/>
                <a:sym typeface="Calibri"/>
              </a:rPr>
              <a:t> every RTT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done by incrementing </a:t>
            </a:r>
            <a:r>
              <a:rPr b="1" i="0" lang="en-US" sz="2800" u="none" cap="none" strike="noStrike">
                <a:solidFill>
                  <a:srgbClr val="000000"/>
                </a:solidFill>
                <a:latin typeface="Courier New"/>
                <a:ea typeface="Courier New"/>
                <a:cs typeface="Courier New"/>
                <a:sym typeface="Courier New"/>
              </a:rPr>
              <a:t>cwnd</a:t>
            </a:r>
            <a:r>
              <a:rPr b="0" i="0" lang="en-US" sz="2800" u="none" cap="none" strike="noStrike">
                <a:solidFill>
                  <a:srgbClr val="000000"/>
                </a:solidFill>
                <a:latin typeface="Calibri"/>
                <a:ea typeface="Calibri"/>
                <a:cs typeface="Calibri"/>
                <a:sym typeface="Calibri"/>
              </a:rPr>
              <a:t> for every ACK received</a:t>
            </a:r>
            <a:endParaRPr/>
          </a:p>
        </p:txBody>
      </p:sp>
      <p:cxnSp>
        <p:nvCxnSpPr>
          <p:cNvPr id="7458" name="Google Shape;7458;p162"/>
          <p:cNvCxnSpPr/>
          <p:nvPr/>
        </p:nvCxnSpPr>
        <p:spPr>
          <a:xfrm>
            <a:off x="7585075" y="2306590"/>
            <a:ext cx="2505075" cy="352425"/>
          </a:xfrm>
          <a:prstGeom prst="straightConnector1">
            <a:avLst/>
          </a:prstGeom>
          <a:noFill/>
          <a:ln cap="flat" cmpd="sng" w="28575">
            <a:solidFill>
              <a:srgbClr val="3333CC"/>
            </a:solidFill>
            <a:prstDash val="solid"/>
            <a:round/>
            <a:headEnd len="med" w="med" type="none"/>
            <a:tailEnd len="med" w="med" type="triangle"/>
          </a:ln>
        </p:spPr>
      </p:cxnSp>
      <p:sp>
        <p:nvSpPr>
          <p:cNvPr id="7459" name="Google Shape;7459;p162"/>
          <p:cNvSpPr txBox="1"/>
          <p:nvPr/>
        </p:nvSpPr>
        <p:spPr>
          <a:xfrm>
            <a:off x="7181850" y="1168352"/>
            <a:ext cx="8699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Host A</a:t>
            </a:r>
            <a:endParaRPr/>
          </a:p>
        </p:txBody>
      </p:sp>
      <p:sp>
        <p:nvSpPr>
          <p:cNvPr id="7460" name="Google Shape;7460;p162"/>
          <p:cNvSpPr txBox="1"/>
          <p:nvPr/>
        </p:nvSpPr>
        <p:spPr>
          <a:xfrm rot="408567">
            <a:off x="8591550" y="2273252"/>
            <a:ext cx="1208088"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one segment</a:t>
            </a:r>
            <a:endParaRPr b="0" i="0" sz="1000" u="none" cap="none" strike="noStrike">
              <a:solidFill>
                <a:srgbClr val="000000"/>
              </a:solidFill>
              <a:latin typeface="Times New Roman"/>
              <a:ea typeface="Times New Roman"/>
              <a:cs typeface="Times New Roman"/>
              <a:sym typeface="Times New Roman"/>
            </a:endParaRPr>
          </a:p>
        </p:txBody>
      </p:sp>
      <p:sp>
        <p:nvSpPr>
          <p:cNvPr id="7461" name="Google Shape;7461;p162"/>
          <p:cNvSpPr txBox="1"/>
          <p:nvPr/>
        </p:nvSpPr>
        <p:spPr>
          <a:xfrm>
            <a:off x="9618663" y="1154065"/>
            <a:ext cx="8699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Host B</a:t>
            </a:r>
            <a:endParaRPr/>
          </a:p>
        </p:txBody>
      </p:sp>
      <p:cxnSp>
        <p:nvCxnSpPr>
          <p:cNvPr id="7462" name="Google Shape;7462;p162"/>
          <p:cNvCxnSpPr/>
          <p:nvPr/>
        </p:nvCxnSpPr>
        <p:spPr>
          <a:xfrm>
            <a:off x="7580313" y="2120852"/>
            <a:ext cx="0" cy="3848100"/>
          </a:xfrm>
          <a:prstGeom prst="straightConnector1">
            <a:avLst/>
          </a:prstGeom>
          <a:noFill/>
          <a:ln cap="flat" cmpd="sng" w="19050">
            <a:solidFill>
              <a:srgbClr val="777777"/>
            </a:solidFill>
            <a:prstDash val="solid"/>
            <a:round/>
            <a:headEnd len="med" w="med" type="none"/>
            <a:tailEnd len="med" w="med" type="none"/>
          </a:ln>
        </p:spPr>
      </p:cxnSp>
      <p:cxnSp>
        <p:nvCxnSpPr>
          <p:cNvPr id="7463" name="Google Shape;7463;p162"/>
          <p:cNvCxnSpPr/>
          <p:nvPr/>
        </p:nvCxnSpPr>
        <p:spPr>
          <a:xfrm>
            <a:off x="10094913" y="2158952"/>
            <a:ext cx="0" cy="3848100"/>
          </a:xfrm>
          <a:prstGeom prst="straightConnector1">
            <a:avLst/>
          </a:prstGeom>
          <a:noFill/>
          <a:ln cap="flat" cmpd="sng" w="19050">
            <a:solidFill>
              <a:srgbClr val="777777"/>
            </a:solidFill>
            <a:prstDash val="solid"/>
            <a:round/>
            <a:headEnd len="med" w="med" type="none"/>
            <a:tailEnd len="med" w="med" type="none"/>
          </a:ln>
        </p:spPr>
      </p:cxnSp>
      <p:grpSp>
        <p:nvGrpSpPr>
          <p:cNvPr id="7464" name="Google Shape;7464;p162"/>
          <p:cNvGrpSpPr/>
          <p:nvPr/>
        </p:nvGrpSpPr>
        <p:grpSpPr>
          <a:xfrm>
            <a:off x="7254874" y="2270077"/>
            <a:ext cx="304800" cy="830263"/>
            <a:chOff x="7254874" y="2270077"/>
            <a:chExt cx="304800" cy="830263"/>
          </a:xfrm>
        </p:grpSpPr>
        <p:sp>
          <p:nvSpPr>
            <p:cNvPr id="7465" name="Google Shape;7465;p162"/>
            <p:cNvSpPr txBox="1"/>
            <p:nvPr/>
          </p:nvSpPr>
          <p:spPr>
            <a:xfrm rot="-5400000">
              <a:off x="7142956" y="2510584"/>
              <a:ext cx="528637"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RTT</a:t>
              </a:r>
              <a:endParaRPr b="0" i="0" sz="1000" u="none" cap="none" strike="noStrike">
                <a:solidFill>
                  <a:srgbClr val="000000"/>
                </a:solidFill>
                <a:latin typeface="Arial"/>
                <a:ea typeface="Arial"/>
                <a:cs typeface="Arial"/>
                <a:sym typeface="Arial"/>
              </a:endParaRPr>
            </a:p>
          </p:txBody>
        </p:sp>
        <p:cxnSp>
          <p:nvCxnSpPr>
            <p:cNvPr id="7466" name="Google Shape;7466;p162"/>
            <p:cNvCxnSpPr/>
            <p:nvPr/>
          </p:nvCxnSpPr>
          <p:spPr>
            <a:xfrm rot="10800000">
              <a:off x="7399338" y="2270077"/>
              <a:ext cx="4762" cy="219075"/>
            </a:xfrm>
            <a:prstGeom prst="straightConnector1">
              <a:avLst/>
            </a:prstGeom>
            <a:noFill/>
            <a:ln cap="flat" cmpd="sng" w="19050">
              <a:solidFill>
                <a:srgbClr val="000000"/>
              </a:solidFill>
              <a:prstDash val="solid"/>
              <a:round/>
              <a:headEnd len="med" w="med" type="none"/>
              <a:tailEnd len="med" w="med" type="triangle"/>
            </a:ln>
          </p:spPr>
        </p:cxnSp>
        <p:cxnSp>
          <p:nvCxnSpPr>
            <p:cNvPr id="7467" name="Google Shape;7467;p162"/>
            <p:cNvCxnSpPr/>
            <p:nvPr/>
          </p:nvCxnSpPr>
          <p:spPr>
            <a:xfrm>
              <a:off x="7408863" y="2876502"/>
              <a:ext cx="4762" cy="223838"/>
            </a:xfrm>
            <a:prstGeom prst="straightConnector1">
              <a:avLst/>
            </a:prstGeom>
            <a:noFill/>
            <a:ln cap="flat" cmpd="sng" w="19050">
              <a:solidFill>
                <a:srgbClr val="000000"/>
              </a:solidFill>
              <a:prstDash val="solid"/>
              <a:round/>
              <a:headEnd len="med" w="med" type="none"/>
              <a:tailEnd len="med" w="med" type="triangle"/>
            </a:ln>
          </p:spPr>
        </p:cxnSp>
      </p:grpSp>
      <p:cxnSp>
        <p:nvCxnSpPr>
          <p:cNvPr id="7468" name="Google Shape;7468;p162"/>
          <p:cNvCxnSpPr/>
          <p:nvPr/>
        </p:nvCxnSpPr>
        <p:spPr>
          <a:xfrm flipH="1" rot="10800000">
            <a:off x="7561263" y="2711402"/>
            <a:ext cx="2505075" cy="352425"/>
          </a:xfrm>
          <a:prstGeom prst="straightConnector1">
            <a:avLst/>
          </a:prstGeom>
          <a:noFill/>
          <a:ln cap="flat" cmpd="sng" w="28575">
            <a:solidFill>
              <a:srgbClr val="3333CC"/>
            </a:solidFill>
            <a:prstDash val="solid"/>
            <a:round/>
            <a:headEnd len="med" w="med" type="triangle"/>
            <a:tailEnd len="med" w="med" type="none"/>
          </a:ln>
        </p:spPr>
      </p:cxnSp>
      <p:grpSp>
        <p:nvGrpSpPr>
          <p:cNvPr id="7469" name="Google Shape;7469;p162"/>
          <p:cNvGrpSpPr/>
          <p:nvPr/>
        </p:nvGrpSpPr>
        <p:grpSpPr>
          <a:xfrm>
            <a:off x="9809163" y="5453015"/>
            <a:ext cx="615950" cy="366712"/>
            <a:chOff x="3317" y="3527"/>
            <a:chExt cx="388" cy="231"/>
          </a:xfrm>
        </p:grpSpPr>
        <p:sp>
          <p:nvSpPr>
            <p:cNvPr id="7470" name="Google Shape;7470;p162"/>
            <p:cNvSpPr/>
            <p:nvPr/>
          </p:nvSpPr>
          <p:spPr>
            <a:xfrm>
              <a:off x="3342" y="3576"/>
              <a:ext cx="324" cy="15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71" name="Google Shape;7471;p162"/>
            <p:cNvSpPr txBox="1"/>
            <p:nvPr/>
          </p:nvSpPr>
          <p:spPr>
            <a:xfrm>
              <a:off x="3317" y="3527"/>
              <a:ext cx="388"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time</a:t>
              </a:r>
              <a:endParaRPr b="0" i="0" sz="1000" u="none" cap="none" strike="noStrike">
                <a:solidFill>
                  <a:srgbClr val="000000"/>
                </a:solidFill>
                <a:latin typeface="Arial"/>
                <a:ea typeface="Arial"/>
                <a:cs typeface="Arial"/>
                <a:sym typeface="Arial"/>
              </a:endParaRPr>
            </a:p>
          </p:txBody>
        </p:sp>
      </p:grpSp>
      <p:grpSp>
        <p:nvGrpSpPr>
          <p:cNvPr id="7472" name="Google Shape;7472;p162"/>
          <p:cNvGrpSpPr/>
          <p:nvPr/>
        </p:nvGrpSpPr>
        <p:grpSpPr>
          <a:xfrm>
            <a:off x="7585075" y="3087640"/>
            <a:ext cx="2509838" cy="438150"/>
            <a:chOff x="7585075" y="3087640"/>
            <a:chExt cx="2509838" cy="438150"/>
          </a:xfrm>
        </p:grpSpPr>
        <p:cxnSp>
          <p:nvCxnSpPr>
            <p:cNvPr id="7473" name="Google Shape;7473;p162"/>
            <p:cNvCxnSpPr/>
            <p:nvPr/>
          </p:nvCxnSpPr>
          <p:spPr>
            <a:xfrm>
              <a:off x="7589838" y="3087640"/>
              <a:ext cx="2505075" cy="352425"/>
            </a:xfrm>
            <a:prstGeom prst="straightConnector1">
              <a:avLst/>
            </a:prstGeom>
            <a:noFill/>
            <a:ln cap="flat" cmpd="sng" w="28575">
              <a:solidFill>
                <a:srgbClr val="3333CC"/>
              </a:solidFill>
              <a:prstDash val="solid"/>
              <a:round/>
              <a:headEnd len="med" w="med" type="none"/>
              <a:tailEnd len="med" w="med" type="triangle"/>
            </a:ln>
          </p:spPr>
        </p:cxnSp>
        <p:cxnSp>
          <p:nvCxnSpPr>
            <p:cNvPr id="7474" name="Google Shape;7474;p162"/>
            <p:cNvCxnSpPr/>
            <p:nvPr/>
          </p:nvCxnSpPr>
          <p:spPr>
            <a:xfrm>
              <a:off x="7585075" y="3173365"/>
              <a:ext cx="2505075" cy="352425"/>
            </a:xfrm>
            <a:prstGeom prst="straightConnector1">
              <a:avLst/>
            </a:prstGeom>
            <a:noFill/>
            <a:ln cap="flat" cmpd="sng" w="28575">
              <a:solidFill>
                <a:srgbClr val="3333CC"/>
              </a:solidFill>
              <a:prstDash val="solid"/>
              <a:round/>
              <a:headEnd len="med" w="med" type="none"/>
              <a:tailEnd len="med" w="med" type="triangle"/>
            </a:ln>
          </p:spPr>
        </p:cxnSp>
      </p:grpSp>
      <p:grpSp>
        <p:nvGrpSpPr>
          <p:cNvPr id="7475" name="Google Shape;7475;p162"/>
          <p:cNvGrpSpPr/>
          <p:nvPr/>
        </p:nvGrpSpPr>
        <p:grpSpPr>
          <a:xfrm>
            <a:off x="7558088" y="3697240"/>
            <a:ext cx="2555875" cy="612775"/>
            <a:chOff x="7558088" y="3697240"/>
            <a:chExt cx="2555875" cy="612775"/>
          </a:xfrm>
        </p:grpSpPr>
        <p:cxnSp>
          <p:nvCxnSpPr>
            <p:cNvPr id="7476" name="Google Shape;7476;p162"/>
            <p:cNvCxnSpPr/>
            <p:nvPr/>
          </p:nvCxnSpPr>
          <p:spPr>
            <a:xfrm flipH="1" rot="10800000">
              <a:off x="7585075" y="3697240"/>
              <a:ext cx="2528888" cy="361950"/>
            </a:xfrm>
            <a:prstGeom prst="straightConnector1">
              <a:avLst/>
            </a:prstGeom>
            <a:noFill/>
            <a:ln cap="flat" cmpd="sng" w="28575">
              <a:solidFill>
                <a:srgbClr val="3333CC"/>
              </a:solidFill>
              <a:prstDash val="solid"/>
              <a:round/>
              <a:headEnd len="med" w="med" type="triangle"/>
              <a:tailEnd len="med" w="med" type="none"/>
            </a:ln>
          </p:spPr>
        </p:cxnSp>
        <p:cxnSp>
          <p:nvCxnSpPr>
            <p:cNvPr id="7477" name="Google Shape;7477;p162"/>
            <p:cNvCxnSpPr/>
            <p:nvPr/>
          </p:nvCxnSpPr>
          <p:spPr>
            <a:xfrm flipH="1" rot="10800000">
              <a:off x="7558088" y="3957590"/>
              <a:ext cx="2505075" cy="352425"/>
            </a:xfrm>
            <a:prstGeom prst="straightConnector1">
              <a:avLst/>
            </a:prstGeom>
            <a:noFill/>
            <a:ln cap="flat" cmpd="sng" w="28575">
              <a:solidFill>
                <a:srgbClr val="3333CC"/>
              </a:solidFill>
              <a:prstDash val="solid"/>
              <a:round/>
              <a:headEnd len="med" w="med" type="triangle"/>
              <a:tailEnd len="med" w="med" type="none"/>
            </a:ln>
          </p:spPr>
        </p:cxnSp>
      </p:grpSp>
      <p:sp>
        <p:nvSpPr>
          <p:cNvPr id="7478" name="Google Shape;7478;p162"/>
          <p:cNvSpPr txBox="1"/>
          <p:nvPr/>
        </p:nvSpPr>
        <p:spPr>
          <a:xfrm rot="408567">
            <a:off x="8589963" y="3059065"/>
            <a:ext cx="1277937"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two segments</a:t>
            </a:r>
            <a:endParaRPr b="0" i="0" sz="1000" u="none" cap="none" strike="noStrike">
              <a:solidFill>
                <a:srgbClr val="000000"/>
              </a:solidFill>
              <a:latin typeface="Times New Roman"/>
              <a:ea typeface="Times New Roman"/>
              <a:cs typeface="Times New Roman"/>
              <a:sym typeface="Times New Roman"/>
            </a:endParaRPr>
          </a:p>
        </p:txBody>
      </p:sp>
      <p:sp>
        <p:nvSpPr>
          <p:cNvPr id="7479" name="Google Shape;7479;p162"/>
          <p:cNvSpPr txBox="1"/>
          <p:nvPr/>
        </p:nvSpPr>
        <p:spPr>
          <a:xfrm rot="408567">
            <a:off x="8682038" y="4073477"/>
            <a:ext cx="1306512"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four segments</a:t>
            </a:r>
            <a:endParaRPr b="0" i="0" sz="1000" u="none" cap="none" strike="noStrike">
              <a:solidFill>
                <a:srgbClr val="000000"/>
              </a:solidFill>
              <a:latin typeface="Times New Roman"/>
              <a:ea typeface="Times New Roman"/>
              <a:cs typeface="Times New Roman"/>
              <a:sym typeface="Times New Roman"/>
            </a:endParaRPr>
          </a:p>
        </p:txBody>
      </p:sp>
      <p:grpSp>
        <p:nvGrpSpPr>
          <p:cNvPr id="7480" name="Google Shape;7480;p162"/>
          <p:cNvGrpSpPr/>
          <p:nvPr/>
        </p:nvGrpSpPr>
        <p:grpSpPr>
          <a:xfrm>
            <a:off x="7580316" y="4092527"/>
            <a:ext cx="2519363" cy="652463"/>
            <a:chOff x="3954" y="2214"/>
            <a:chExt cx="1587" cy="411"/>
          </a:xfrm>
        </p:grpSpPr>
        <p:cxnSp>
          <p:nvCxnSpPr>
            <p:cNvPr id="7481" name="Google Shape;7481;p162"/>
            <p:cNvCxnSpPr/>
            <p:nvPr/>
          </p:nvCxnSpPr>
          <p:spPr>
            <a:xfrm>
              <a:off x="3963" y="2214"/>
              <a:ext cx="1578" cy="222"/>
            </a:xfrm>
            <a:prstGeom prst="straightConnector1">
              <a:avLst/>
            </a:prstGeom>
            <a:noFill/>
            <a:ln cap="flat" cmpd="sng" w="28575">
              <a:solidFill>
                <a:srgbClr val="3333CC"/>
              </a:solidFill>
              <a:prstDash val="solid"/>
              <a:round/>
              <a:headEnd len="med" w="med" type="none"/>
              <a:tailEnd len="med" w="med" type="triangle"/>
            </a:ln>
          </p:spPr>
        </p:cxnSp>
        <p:cxnSp>
          <p:nvCxnSpPr>
            <p:cNvPr id="7482" name="Google Shape;7482;p162"/>
            <p:cNvCxnSpPr/>
            <p:nvPr/>
          </p:nvCxnSpPr>
          <p:spPr>
            <a:xfrm>
              <a:off x="3954" y="2274"/>
              <a:ext cx="1578" cy="222"/>
            </a:xfrm>
            <a:prstGeom prst="straightConnector1">
              <a:avLst/>
            </a:prstGeom>
            <a:noFill/>
            <a:ln cap="flat" cmpd="sng" w="28575">
              <a:solidFill>
                <a:srgbClr val="3333CC"/>
              </a:solidFill>
              <a:prstDash val="solid"/>
              <a:round/>
              <a:headEnd len="med" w="med" type="none"/>
              <a:tailEnd len="med" w="med" type="triangle"/>
            </a:ln>
          </p:spPr>
        </p:cxnSp>
        <p:cxnSp>
          <p:nvCxnSpPr>
            <p:cNvPr id="7483" name="Google Shape;7483;p162"/>
            <p:cNvCxnSpPr/>
            <p:nvPr/>
          </p:nvCxnSpPr>
          <p:spPr>
            <a:xfrm>
              <a:off x="3963" y="2340"/>
              <a:ext cx="1578" cy="222"/>
            </a:xfrm>
            <a:prstGeom prst="straightConnector1">
              <a:avLst/>
            </a:prstGeom>
            <a:noFill/>
            <a:ln cap="flat" cmpd="sng" w="28575">
              <a:solidFill>
                <a:srgbClr val="3333CC"/>
              </a:solidFill>
              <a:prstDash val="solid"/>
              <a:round/>
              <a:headEnd len="med" w="med" type="none"/>
              <a:tailEnd len="med" w="med" type="triangle"/>
            </a:ln>
          </p:spPr>
        </p:cxnSp>
        <p:cxnSp>
          <p:nvCxnSpPr>
            <p:cNvPr id="7484" name="Google Shape;7484;p162"/>
            <p:cNvCxnSpPr/>
            <p:nvPr/>
          </p:nvCxnSpPr>
          <p:spPr>
            <a:xfrm>
              <a:off x="3957" y="2403"/>
              <a:ext cx="1578" cy="222"/>
            </a:xfrm>
            <a:prstGeom prst="straightConnector1">
              <a:avLst/>
            </a:prstGeom>
            <a:noFill/>
            <a:ln cap="flat" cmpd="sng" w="28575">
              <a:solidFill>
                <a:srgbClr val="3333CC"/>
              </a:solidFill>
              <a:prstDash val="solid"/>
              <a:round/>
              <a:headEnd len="med" w="med" type="none"/>
              <a:tailEnd len="med" w="med" type="triangle"/>
            </a:ln>
          </p:spPr>
        </p:cxnSp>
      </p:grpSp>
      <p:grpSp>
        <p:nvGrpSpPr>
          <p:cNvPr id="7485" name="Google Shape;7485;p162"/>
          <p:cNvGrpSpPr/>
          <p:nvPr/>
        </p:nvGrpSpPr>
        <p:grpSpPr>
          <a:xfrm flipH="1" rot="10800000">
            <a:off x="7866063" y="4473527"/>
            <a:ext cx="2228850" cy="604838"/>
            <a:chOff x="3954" y="2214"/>
            <a:chExt cx="1587" cy="411"/>
          </a:xfrm>
        </p:grpSpPr>
        <p:cxnSp>
          <p:nvCxnSpPr>
            <p:cNvPr id="7486" name="Google Shape;7486;p162"/>
            <p:cNvCxnSpPr/>
            <p:nvPr/>
          </p:nvCxnSpPr>
          <p:spPr>
            <a:xfrm>
              <a:off x="3963" y="2214"/>
              <a:ext cx="1578" cy="222"/>
            </a:xfrm>
            <a:prstGeom prst="straightConnector1">
              <a:avLst/>
            </a:prstGeom>
            <a:noFill/>
            <a:ln cap="flat" cmpd="sng" w="28575">
              <a:solidFill>
                <a:srgbClr val="3333CC"/>
              </a:solidFill>
              <a:prstDash val="solid"/>
              <a:round/>
              <a:headEnd len="med" w="med" type="triangle"/>
              <a:tailEnd len="med" w="med" type="none"/>
            </a:ln>
          </p:spPr>
        </p:cxnSp>
        <p:cxnSp>
          <p:nvCxnSpPr>
            <p:cNvPr id="7487" name="Google Shape;7487;p162"/>
            <p:cNvCxnSpPr/>
            <p:nvPr/>
          </p:nvCxnSpPr>
          <p:spPr>
            <a:xfrm>
              <a:off x="3954" y="2274"/>
              <a:ext cx="1578" cy="220"/>
            </a:xfrm>
            <a:prstGeom prst="straightConnector1">
              <a:avLst/>
            </a:prstGeom>
            <a:noFill/>
            <a:ln cap="flat" cmpd="sng" w="28575">
              <a:solidFill>
                <a:srgbClr val="3333CC"/>
              </a:solidFill>
              <a:prstDash val="solid"/>
              <a:round/>
              <a:headEnd len="med" w="med" type="triangle"/>
              <a:tailEnd len="med" w="med" type="none"/>
            </a:ln>
          </p:spPr>
        </p:cxnSp>
        <p:cxnSp>
          <p:nvCxnSpPr>
            <p:cNvPr id="7488" name="Google Shape;7488;p162"/>
            <p:cNvCxnSpPr/>
            <p:nvPr/>
          </p:nvCxnSpPr>
          <p:spPr>
            <a:xfrm>
              <a:off x="3963" y="2340"/>
              <a:ext cx="1578" cy="222"/>
            </a:xfrm>
            <a:prstGeom prst="straightConnector1">
              <a:avLst/>
            </a:prstGeom>
            <a:noFill/>
            <a:ln cap="flat" cmpd="sng" w="28575">
              <a:solidFill>
                <a:srgbClr val="3333CC"/>
              </a:solidFill>
              <a:prstDash val="solid"/>
              <a:round/>
              <a:headEnd len="med" w="med" type="triangle"/>
              <a:tailEnd len="med" w="med" type="none"/>
            </a:ln>
          </p:spPr>
        </p:cxnSp>
        <p:cxnSp>
          <p:nvCxnSpPr>
            <p:cNvPr id="7489" name="Google Shape;7489;p162"/>
            <p:cNvCxnSpPr/>
            <p:nvPr/>
          </p:nvCxnSpPr>
          <p:spPr>
            <a:xfrm>
              <a:off x="3957" y="2403"/>
              <a:ext cx="1578" cy="222"/>
            </a:xfrm>
            <a:prstGeom prst="straightConnector1">
              <a:avLst/>
            </a:prstGeom>
            <a:noFill/>
            <a:ln cap="flat" cmpd="sng" w="28575">
              <a:solidFill>
                <a:srgbClr val="3333CC"/>
              </a:solidFill>
              <a:prstDash val="solid"/>
              <a:round/>
              <a:headEnd len="med" w="med" type="triangle"/>
              <a:tailEnd len="med" w="med" type="none"/>
            </a:ln>
          </p:spPr>
        </p:cxnSp>
      </p:grpSp>
      <p:grpSp>
        <p:nvGrpSpPr>
          <p:cNvPr id="7490" name="Google Shape;7490;p162"/>
          <p:cNvGrpSpPr/>
          <p:nvPr/>
        </p:nvGrpSpPr>
        <p:grpSpPr>
          <a:xfrm>
            <a:off x="7142163" y="1492202"/>
            <a:ext cx="654050" cy="601663"/>
            <a:chOff x="-44" y="1473"/>
            <a:chExt cx="981" cy="1105"/>
          </a:xfrm>
        </p:grpSpPr>
        <p:pic>
          <p:nvPicPr>
            <p:cNvPr descr="desktop_computer_stylized_medium" id="7491" name="Google Shape;7491;p16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492" name="Google Shape;7492;p16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7493" name="Google Shape;7493;p162"/>
          <p:cNvGrpSpPr/>
          <p:nvPr/>
        </p:nvGrpSpPr>
        <p:grpSpPr>
          <a:xfrm>
            <a:off x="9877425" y="1506490"/>
            <a:ext cx="382588" cy="547687"/>
            <a:chOff x="4140" y="429"/>
            <a:chExt cx="1425" cy="2396"/>
          </a:xfrm>
        </p:grpSpPr>
        <p:sp>
          <p:nvSpPr>
            <p:cNvPr id="7494" name="Google Shape;7494;p16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95" name="Google Shape;7495;p162"/>
            <p:cNvSpPr/>
            <p:nvPr/>
          </p:nvSpPr>
          <p:spPr>
            <a:xfrm>
              <a:off x="4205" y="429"/>
              <a:ext cx="1047"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96" name="Google Shape;7496;p16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97" name="Google Shape;7497;p16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498" name="Google Shape;7498;p162"/>
            <p:cNvSpPr/>
            <p:nvPr/>
          </p:nvSpPr>
          <p:spPr>
            <a:xfrm>
              <a:off x="4211" y="693"/>
              <a:ext cx="597"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499" name="Google Shape;7499;p162"/>
            <p:cNvGrpSpPr/>
            <p:nvPr/>
          </p:nvGrpSpPr>
          <p:grpSpPr>
            <a:xfrm>
              <a:off x="4749" y="665"/>
              <a:ext cx="579" cy="146"/>
              <a:chOff x="614" y="2565"/>
              <a:chExt cx="723" cy="140"/>
            </a:xfrm>
          </p:grpSpPr>
          <p:sp>
            <p:nvSpPr>
              <p:cNvPr id="7500" name="Google Shape;7500;p162"/>
              <p:cNvSpPr/>
              <p:nvPr/>
            </p:nvSpPr>
            <p:spPr>
              <a:xfrm>
                <a:off x="614" y="2565"/>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01" name="Google Shape;7501;p162"/>
              <p:cNvSpPr/>
              <p:nvPr/>
            </p:nvSpPr>
            <p:spPr>
              <a:xfrm>
                <a:off x="629" y="2579"/>
                <a:ext cx="694"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502" name="Google Shape;7502;p162"/>
            <p:cNvSpPr/>
            <p:nvPr/>
          </p:nvSpPr>
          <p:spPr>
            <a:xfrm>
              <a:off x="4223" y="1019"/>
              <a:ext cx="597"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503" name="Google Shape;7503;p162"/>
            <p:cNvGrpSpPr/>
            <p:nvPr/>
          </p:nvGrpSpPr>
          <p:grpSpPr>
            <a:xfrm>
              <a:off x="4749" y="991"/>
              <a:ext cx="579" cy="139"/>
              <a:chOff x="617" y="2565"/>
              <a:chExt cx="723" cy="144"/>
            </a:xfrm>
          </p:grpSpPr>
          <p:sp>
            <p:nvSpPr>
              <p:cNvPr id="7504" name="Google Shape;7504;p162"/>
              <p:cNvSpPr/>
              <p:nvPr/>
            </p:nvSpPr>
            <p:spPr>
              <a:xfrm>
                <a:off x="617" y="2565"/>
                <a:ext cx="723" cy="14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05" name="Google Shape;7505;p162"/>
              <p:cNvSpPr/>
              <p:nvPr/>
            </p:nvSpPr>
            <p:spPr>
              <a:xfrm>
                <a:off x="631" y="2580"/>
                <a:ext cx="694" cy="11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506" name="Google Shape;7506;p162"/>
            <p:cNvSpPr/>
            <p:nvPr/>
          </p:nvSpPr>
          <p:spPr>
            <a:xfrm>
              <a:off x="4217" y="1360"/>
              <a:ext cx="597"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07" name="Google Shape;7507;p162"/>
            <p:cNvSpPr/>
            <p:nvPr/>
          </p:nvSpPr>
          <p:spPr>
            <a:xfrm>
              <a:off x="4229" y="1658"/>
              <a:ext cx="597" cy="4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508" name="Google Shape;7508;p162"/>
            <p:cNvGrpSpPr/>
            <p:nvPr/>
          </p:nvGrpSpPr>
          <p:grpSpPr>
            <a:xfrm>
              <a:off x="4737" y="1630"/>
              <a:ext cx="580" cy="146"/>
              <a:chOff x="617" y="2571"/>
              <a:chExt cx="722" cy="134"/>
            </a:xfrm>
          </p:grpSpPr>
          <p:sp>
            <p:nvSpPr>
              <p:cNvPr id="7509" name="Google Shape;7509;p162"/>
              <p:cNvSpPr/>
              <p:nvPr/>
            </p:nvSpPr>
            <p:spPr>
              <a:xfrm>
                <a:off x="617" y="2571"/>
                <a:ext cx="722"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0" name="Google Shape;7510;p162"/>
              <p:cNvSpPr/>
              <p:nvPr/>
            </p:nvSpPr>
            <p:spPr>
              <a:xfrm>
                <a:off x="631" y="2584"/>
                <a:ext cx="692"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511" name="Google Shape;7511;p16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512" name="Google Shape;7512;p162"/>
            <p:cNvGrpSpPr/>
            <p:nvPr/>
          </p:nvGrpSpPr>
          <p:grpSpPr>
            <a:xfrm>
              <a:off x="4737" y="1325"/>
              <a:ext cx="585" cy="139"/>
              <a:chOff x="612" y="2566"/>
              <a:chExt cx="729" cy="139"/>
            </a:xfrm>
          </p:grpSpPr>
          <p:sp>
            <p:nvSpPr>
              <p:cNvPr id="7513" name="Google Shape;7513;p162"/>
              <p:cNvSpPr/>
              <p:nvPr/>
            </p:nvSpPr>
            <p:spPr>
              <a:xfrm>
                <a:off x="612" y="2566"/>
                <a:ext cx="729"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4" name="Google Shape;7514;p162"/>
              <p:cNvSpPr/>
              <p:nvPr/>
            </p:nvSpPr>
            <p:spPr>
              <a:xfrm>
                <a:off x="626" y="2580"/>
                <a:ext cx="700"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515" name="Google Shape;7515;p162"/>
            <p:cNvSpPr/>
            <p:nvPr/>
          </p:nvSpPr>
          <p:spPr>
            <a:xfrm>
              <a:off x="5252" y="429"/>
              <a:ext cx="65"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6" name="Google Shape;7516;p16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7" name="Google Shape;7517;p16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8" name="Google Shape;7518;p162"/>
            <p:cNvSpPr/>
            <p:nvPr/>
          </p:nvSpPr>
          <p:spPr>
            <a:xfrm>
              <a:off x="5518" y="2610"/>
              <a:ext cx="47"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19" name="Google Shape;7519;p16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20" name="Google Shape;7520;p162"/>
            <p:cNvSpPr/>
            <p:nvPr/>
          </p:nvSpPr>
          <p:spPr>
            <a:xfrm>
              <a:off x="4140" y="2679"/>
              <a:ext cx="1200"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21" name="Google Shape;7521;p162"/>
            <p:cNvSpPr/>
            <p:nvPr/>
          </p:nvSpPr>
          <p:spPr>
            <a:xfrm>
              <a:off x="4205" y="2714"/>
              <a:ext cx="1070" cy="76"/>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22" name="Google Shape;7522;p162"/>
            <p:cNvSpPr/>
            <p:nvPr/>
          </p:nvSpPr>
          <p:spPr>
            <a:xfrm>
              <a:off x="4306" y="2381"/>
              <a:ext cx="160"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23" name="Google Shape;7523;p162"/>
            <p:cNvSpPr/>
            <p:nvPr/>
          </p:nvSpPr>
          <p:spPr>
            <a:xfrm>
              <a:off x="4489" y="2387"/>
              <a:ext cx="160" cy="139"/>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7524" name="Google Shape;7524;p162"/>
            <p:cNvSpPr/>
            <p:nvPr/>
          </p:nvSpPr>
          <p:spPr>
            <a:xfrm>
              <a:off x="4660" y="2381"/>
              <a:ext cx="160"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525" name="Google Shape;7525;p162"/>
            <p:cNvSpPr/>
            <p:nvPr/>
          </p:nvSpPr>
          <p:spPr>
            <a:xfrm>
              <a:off x="5062" y="1832"/>
              <a:ext cx="83" cy="764"/>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526" name="Google Shape;7526;p162"/>
          <p:cNvSpPr txBox="1"/>
          <p:nvPr/>
        </p:nvSpPr>
        <p:spPr>
          <a:xfrm>
            <a:off x="1168400" y="4597399"/>
            <a:ext cx="5118100" cy="1905001"/>
          </a:xfrm>
          <a:prstGeom prst="rect">
            <a:avLst/>
          </a:prstGeom>
          <a:noFill/>
          <a:ln>
            <a:noFill/>
          </a:ln>
        </p:spPr>
        <p:txBody>
          <a:bodyPr anchorCtr="0" anchor="t" bIns="45700" lIns="91425" spcFirstLastPara="1" rIns="91425" wrap="square" tIns="45700">
            <a:normAutofit/>
          </a:bodyPr>
          <a:lstStyle/>
          <a:p>
            <a:pPr indent="-263525" lvl="0" marL="393700" marR="0" rtl="0" algn="l">
              <a:lnSpc>
                <a:spcPct val="90000"/>
              </a:lnSpc>
              <a:spcBef>
                <a:spcPts val="0"/>
              </a:spcBef>
              <a:spcAft>
                <a:spcPts val="0"/>
              </a:spcAft>
              <a:buClr>
                <a:srgbClr val="0000A3"/>
              </a:buClr>
              <a:buSzPts val="3200"/>
              <a:buFont typeface="Noto Sans Symbols"/>
              <a:buChar char="▪"/>
            </a:pPr>
            <a:r>
              <a:rPr b="0" i="1" lang="en-US" sz="3200" u="none" cap="none" strike="noStrike">
                <a:solidFill>
                  <a:srgbClr val="CC0000"/>
                </a:solidFill>
                <a:latin typeface="Calibri"/>
                <a:ea typeface="Calibri"/>
                <a:cs typeface="Calibri"/>
                <a:sym typeface="Calibri"/>
              </a:rPr>
              <a:t>summary: </a:t>
            </a:r>
            <a:r>
              <a:rPr b="0" i="0" lang="en-US" sz="3200" u="none" cap="none" strike="noStrike">
                <a:solidFill>
                  <a:srgbClr val="000000"/>
                </a:solidFill>
                <a:latin typeface="Calibri"/>
                <a:ea typeface="Calibri"/>
                <a:cs typeface="Calibri"/>
                <a:sym typeface="Calibri"/>
              </a:rPr>
              <a:t>initial rate is slow, but ramps up exponentially fast</a:t>
            </a:r>
            <a:endParaRPr/>
          </a:p>
        </p:txBody>
      </p:sp>
      <p:sp>
        <p:nvSpPr>
          <p:cNvPr id="7527" name="Google Shape;7527;p16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58"/>
                                        </p:tgtEl>
                                        <p:attrNameLst>
                                          <p:attrName>style.visibility</p:attrName>
                                        </p:attrNameLst>
                                      </p:cBhvr>
                                      <p:to>
                                        <p:strVal val="visible"/>
                                      </p:to>
                                    </p:set>
                                    <p:animEffect filter="fade" transition="in">
                                      <p:cBhvr>
                                        <p:cTn dur="500"/>
                                        <p:tgtEl>
                                          <p:spTgt spid="7458"/>
                                        </p:tgtEl>
                                      </p:cBhvr>
                                    </p:animEffect>
                                  </p:childTnLst>
                                </p:cTn>
                              </p:par>
                              <p:par>
                                <p:cTn fill="hold" nodeType="withEffect" presetClass="entr" presetID="10" presetSubtype="0">
                                  <p:stCondLst>
                                    <p:cond delay="0"/>
                                  </p:stCondLst>
                                  <p:childTnLst>
                                    <p:set>
                                      <p:cBhvr>
                                        <p:cTn dur="1" fill="hold">
                                          <p:stCondLst>
                                            <p:cond delay="0"/>
                                          </p:stCondLst>
                                        </p:cTn>
                                        <p:tgtEl>
                                          <p:spTgt spid="7460"/>
                                        </p:tgtEl>
                                        <p:attrNameLst>
                                          <p:attrName>style.visibility</p:attrName>
                                        </p:attrNameLst>
                                      </p:cBhvr>
                                      <p:to>
                                        <p:strVal val="visible"/>
                                      </p:to>
                                    </p:set>
                                    <p:animEffect filter="fade" transition="in">
                                      <p:cBhvr>
                                        <p:cTn dur="500"/>
                                        <p:tgtEl>
                                          <p:spTgt spid="746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468"/>
                                        </p:tgtEl>
                                        <p:attrNameLst>
                                          <p:attrName>style.visibility</p:attrName>
                                        </p:attrNameLst>
                                      </p:cBhvr>
                                      <p:to>
                                        <p:strVal val="visible"/>
                                      </p:to>
                                    </p:set>
                                    <p:animEffect filter="fade" transition="in">
                                      <p:cBhvr>
                                        <p:cTn dur="500"/>
                                        <p:tgtEl>
                                          <p:spTgt spid="746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464"/>
                                        </p:tgtEl>
                                        <p:attrNameLst>
                                          <p:attrName>style.visibility</p:attrName>
                                        </p:attrNameLst>
                                      </p:cBhvr>
                                      <p:to>
                                        <p:strVal val="visible"/>
                                      </p:to>
                                    </p:set>
                                    <p:animEffect filter="fade" transition="in">
                                      <p:cBhvr>
                                        <p:cTn dur="500"/>
                                        <p:tgtEl>
                                          <p:spTgt spid="74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2"/>
                                        </p:tgtEl>
                                        <p:attrNameLst>
                                          <p:attrName>style.visibility</p:attrName>
                                        </p:attrNameLst>
                                      </p:cBhvr>
                                      <p:to>
                                        <p:strVal val="visible"/>
                                      </p:to>
                                    </p:set>
                                    <p:animEffect filter="fade" transition="in">
                                      <p:cBhvr>
                                        <p:cTn dur="500"/>
                                        <p:tgtEl>
                                          <p:spTgt spid="7472"/>
                                        </p:tgtEl>
                                      </p:cBhvr>
                                    </p:animEffect>
                                  </p:childTnLst>
                                </p:cTn>
                              </p:par>
                              <p:par>
                                <p:cTn fill="hold" nodeType="withEffect" presetClass="entr" presetID="10" presetSubtype="0">
                                  <p:stCondLst>
                                    <p:cond delay="0"/>
                                  </p:stCondLst>
                                  <p:childTnLst>
                                    <p:set>
                                      <p:cBhvr>
                                        <p:cTn dur="1" fill="hold">
                                          <p:stCondLst>
                                            <p:cond delay="0"/>
                                          </p:stCondLst>
                                        </p:cTn>
                                        <p:tgtEl>
                                          <p:spTgt spid="7478"/>
                                        </p:tgtEl>
                                        <p:attrNameLst>
                                          <p:attrName>style.visibility</p:attrName>
                                        </p:attrNameLst>
                                      </p:cBhvr>
                                      <p:to>
                                        <p:strVal val="visible"/>
                                      </p:to>
                                    </p:set>
                                    <p:animEffect filter="fade" transition="in">
                                      <p:cBhvr>
                                        <p:cTn dur="500"/>
                                        <p:tgtEl>
                                          <p:spTgt spid="747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475"/>
                                        </p:tgtEl>
                                        <p:attrNameLst>
                                          <p:attrName>style.visibility</p:attrName>
                                        </p:attrNameLst>
                                      </p:cBhvr>
                                      <p:to>
                                        <p:strVal val="visible"/>
                                      </p:to>
                                    </p:set>
                                    <p:animEffect filter="fade" transition="in">
                                      <p:cBhvr>
                                        <p:cTn dur="500"/>
                                        <p:tgtEl>
                                          <p:spTgt spid="747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480"/>
                                        </p:tgtEl>
                                        <p:attrNameLst>
                                          <p:attrName>style.visibility</p:attrName>
                                        </p:attrNameLst>
                                      </p:cBhvr>
                                      <p:to>
                                        <p:strVal val="visible"/>
                                      </p:to>
                                    </p:set>
                                    <p:animEffect filter="fade" transition="in">
                                      <p:cBhvr>
                                        <p:cTn dur="500"/>
                                        <p:tgtEl>
                                          <p:spTgt spid="7480"/>
                                        </p:tgtEl>
                                      </p:cBhvr>
                                    </p:animEffect>
                                  </p:childTnLst>
                                </p:cTn>
                              </p:par>
                              <p:par>
                                <p:cTn fill="hold" nodeType="withEffect" presetClass="entr" presetID="10" presetSubtype="0">
                                  <p:stCondLst>
                                    <p:cond delay="0"/>
                                  </p:stCondLst>
                                  <p:childTnLst>
                                    <p:set>
                                      <p:cBhvr>
                                        <p:cTn dur="1" fill="hold">
                                          <p:stCondLst>
                                            <p:cond delay="0"/>
                                          </p:stCondLst>
                                        </p:cTn>
                                        <p:tgtEl>
                                          <p:spTgt spid="7479"/>
                                        </p:tgtEl>
                                        <p:attrNameLst>
                                          <p:attrName>style.visibility</p:attrName>
                                        </p:attrNameLst>
                                      </p:cBhvr>
                                      <p:to>
                                        <p:strVal val="visible"/>
                                      </p:to>
                                    </p:set>
                                    <p:animEffect filter="fade" transition="in">
                                      <p:cBhvr>
                                        <p:cTn dur="500"/>
                                        <p:tgtEl>
                                          <p:spTgt spid="747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7485"/>
                                        </p:tgtEl>
                                        <p:attrNameLst>
                                          <p:attrName>style.visibility</p:attrName>
                                        </p:attrNameLst>
                                      </p:cBhvr>
                                      <p:to>
                                        <p:strVal val="visible"/>
                                      </p:to>
                                    </p:set>
                                    <p:animEffect filter="fade" transition="in">
                                      <p:cBhvr>
                                        <p:cTn dur="500"/>
                                        <p:tgtEl>
                                          <p:spTgt spid="74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26"/>
                                        </p:tgtEl>
                                        <p:attrNameLst>
                                          <p:attrName>style.visibility</p:attrName>
                                        </p:attrNameLst>
                                      </p:cBhvr>
                                      <p:to>
                                        <p:strVal val="visible"/>
                                      </p:to>
                                    </p:set>
                                    <p:animEffect filter="fade" transition="in">
                                      <p:cBhvr>
                                        <p:cTn dur="500"/>
                                        <p:tgtEl>
                                          <p:spTgt spid="75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2" name="Shape 7532"/>
        <p:cNvGrpSpPr/>
        <p:nvPr/>
      </p:nvGrpSpPr>
      <p:grpSpPr>
        <a:xfrm>
          <a:off x="0" y="0"/>
          <a:ext cx="0" cy="0"/>
          <a:chOff x="0" y="0"/>
          <a:chExt cx="0" cy="0"/>
        </a:xfrm>
      </p:grpSpPr>
      <p:sp>
        <p:nvSpPr>
          <p:cNvPr id="7533" name="Google Shape;7533;p16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TCP: detecting, reacting to loss</a:t>
            </a:r>
            <a:endParaRPr/>
          </a:p>
        </p:txBody>
      </p:sp>
      <p:sp>
        <p:nvSpPr>
          <p:cNvPr id="7534" name="Google Shape;7534;p163"/>
          <p:cNvSpPr txBox="1"/>
          <p:nvPr>
            <p:ph idx="1" type="body"/>
          </p:nvPr>
        </p:nvSpPr>
        <p:spPr>
          <a:xfrm>
            <a:off x="1905001" y="1524000"/>
            <a:ext cx="8577263" cy="3004457"/>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Font typeface="Noto Sans Symbols"/>
              <a:buChar char="▪"/>
            </a:pPr>
            <a:r>
              <a:rPr lang="en-US" sz="3200"/>
              <a:t>loss indicated by timeout:</a:t>
            </a:r>
            <a:endParaRPr/>
          </a:p>
          <a:p>
            <a:pPr indent="-231775" lvl="1" marL="695325" rtl="0" algn="l">
              <a:lnSpc>
                <a:spcPct val="90000"/>
              </a:lnSpc>
              <a:spcBef>
                <a:spcPts val="500"/>
              </a:spcBef>
              <a:spcAft>
                <a:spcPts val="0"/>
              </a:spcAft>
              <a:buSzPts val="2800"/>
              <a:buFont typeface="Arial"/>
              <a:buChar char="•"/>
            </a:pPr>
            <a:r>
              <a:rPr b="1" lang="en-US" sz="2800">
                <a:latin typeface="Courier New"/>
                <a:ea typeface="Courier New"/>
                <a:cs typeface="Courier New"/>
                <a:sym typeface="Courier New"/>
              </a:rPr>
              <a:t>cwnd</a:t>
            </a:r>
            <a:r>
              <a:rPr lang="en-US" sz="2800"/>
              <a:t> set to 1 MSS; </a:t>
            </a:r>
            <a:endParaRPr/>
          </a:p>
          <a:p>
            <a:pPr indent="-231775" lvl="1" marL="695325" rtl="0" algn="l">
              <a:lnSpc>
                <a:spcPct val="90000"/>
              </a:lnSpc>
              <a:spcBef>
                <a:spcPts val="500"/>
              </a:spcBef>
              <a:spcAft>
                <a:spcPts val="0"/>
              </a:spcAft>
              <a:buSzPts val="2800"/>
              <a:buFont typeface="Arial"/>
              <a:buChar char="•"/>
            </a:pPr>
            <a:r>
              <a:rPr lang="en-US" sz="2800"/>
              <a:t>window then grows exponentially (as in slow start) to threshold, then grows linearly</a:t>
            </a:r>
            <a:endParaRPr/>
          </a:p>
          <a:p>
            <a:pPr indent="-222250" lvl="0" marL="352425" rtl="0" algn="l">
              <a:lnSpc>
                <a:spcPct val="90000"/>
              </a:lnSpc>
              <a:spcBef>
                <a:spcPts val="1000"/>
              </a:spcBef>
              <a:spcAft>
                <a:spcPts val="0"/>
              </a:spcAft>
              <a:buSzPts val="3200"/>
              <a:buFont typeface="Noto Sans Symbols"/>
              <a:buChar char="▪"/>
            </a:pPr>
            <a:r>
              <a:rPr lang="en-US" sz="3200"/>
              <a:t>TCP Tahoe always sets </a:t>
            </a:r>
            <a:r>
              <a:rPr b="1" lang="en-US">
                <a:latin typeface="Courier New"/>
                <a:ea typeface="Courier New"/>
                <a:cs typeface="Courier New"/>
                <a:sym typeface="Courier New"/>
              </a:rPr>
              <a:t>cwnd</a:t>
            </a:r>
            <a:r>
              <a:rPr lang="en-US" sz="3200"/>
              <a:t> to 1 (timeout or 3 duplicate ACKs)</a:t>
            </a:r>
            <a:endParaRPr/>
          </a:p>
          <a:p>
            <a:pPr indent="-53975" lvl="1" marL="695325" rtl="0" algn="l">
              <a:lnSpc>
                <a:spcPct val="90000"/>
              </a:lnSpc>
              <a:spcBef>
                <a:spcPts val="500"/>
              </a:spcBef>
              <a:spcAft>
                <a:spcPts val="0"/>
              </a:spcAft>
              <a:buSzPts val="2800"/>
              <a:buFont typeface="Arial"/>
              <a:buNone/>
            </a:pPr>
            <a:r>
              <a:t/>
            </a:r>
            <a:endParaRPr sz="2800"/>
          </a:p>
        </p:txBody>
      </p:sp>
      <p:sp>
        <p:nvSpPr>
          <p:cNvPr id="7535" name="Google Shape;7535;p16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9" name="Shape 7539"/>
        <p:cNvGrpSpPr/>
        <p:nvPr/>
      </p:nvGrpSpPr>
      <p:grpSpPr>
        <a:xfrm>
          <a:off x="0" y="0"/>
          <a:ext cx="0" cy="0"/>
          <a:chOff x="0" y="0"/>
          <a:chExt cx="0" cy="0"/>
        </a:xfrm>
      </p:grpSpPr>
      <p:sp>
        <p:nvSpPr>
          <p:cNvPr id="7540" name="Google Shape;7540;p164"/>
          <p:cNvSpPr txBox="1"/>
          <p:nvPr>
            <p:ph idx="2" type="body"/>
          </p:nvPr>
        </p:nvSpPr>
        <p:spPr>
          <a:xfrm>
            <a:off x="1873250" y="3606800"/>
            <a:ext cx="4254500" cy="2838450"/>
          </a:xfrm>
          <a:prstGeom prst="rect">
            <a:avLst/>
          </a:prstGeom>
          <a:noFill/>
          <a:ln>
            <a:noFill/>
          </a:ln>
        </p:spPr>
        <p:txBody>
          <a:bodyPr anchorCtr="0" anchor="t" bIns="45700" lIns="91425" spcFirstLastPara="1" rIns="91425" wrap="square" tIns="45700">
            <a:normAutofit lnSpcReduction="10000"/>
          </a:bodyPr>
          <a:lstStyle/>
          <a:p>
            <a:pPr indent="-222250" lvl="0" marL="352425" rtl="0" algn="l">
              <a:lnSpc>
                <a:spcPct val="90000"/>
              </a:lnSpc>
              <a:spcBef>
                <a:spcPts val="0"/>
              </a:spcBef>
              <a:spcAft>
                <a:spcPts val="0"/>
              </a:spcAft>
              <a:buSzPts val="2400"/>
              <a:buFont typeface="Noto Sans Symbols"/>
              <a:buNone/>
            </a:pPr>
            <a:r>
              <a:rPr lang="en-US" sz="2400" u="sng">
                <a:solidFill>
                  <a:srgbClr val="FF0000"/>
                </a:solidFill>
              </a:rPr>
              <a:t>TCP TAHOE Implementation:</a:t>
            </a:r>
            <a:endParaRPr sz="2400"/>
          </a:p>
          <a:p>
            <a:pPr indent="-222250" lvl="0" marL="352425" rtl="0" algn="l">
              <a:lnSpc>
                <a:spcPct val="90000"/>
              </a:lnSpc>
              <a:spcBef>
                <a:spcPts val="1000"/>
              </a:spcBef>
              <a:spcAft>
                <a:spcPts val="0"/>
              </a:spcAft>
              <a:buSzPts val="2000"/>
              <a:buFont typeface="Noto Sans Symbols"/>
              <a:buChar char="❖"/>
            </a:pPr>
            <a:r>
              <a:rPr lang="en-US" sz="2000"/>
              <a:t>variable </a:t>
            </a:r>
            <a:r>
              <a:rPr b="1" lang="en-US" sz="2000">
                <a:latin typeface="Courier New"/>
                <a:ea typeface="Courier New"/>
                <a:cs typeface="Courier New"/>
                <a:sym typeface="Courier New"/>
              </a:rPr>
              <a:t>ssthresh (slow-start threshold)</a:t>
            </a:r>
            <a:endParaRPr sz="2000">
              <a:latin typeface="Courier New"/>
              <a:ea typeface="Courier New"/>
              <a:cs typeface="Courier New"/>
              <a:sym typeface="Courier New"/>
            </a:endParaRPr>
          </a:p>
          <a:p>
            <a:pPr indent="-222250" lvl="0" marL="352425" rtl="0" algn="l">
              <a:lnSpc>
                <a:spcPct val="90000"/>
              </a:lnSpc>
              <a:spcBef>
                <a:spcPts val="1000"/>
              </a:spcBef>
              <a:spcAft>
                <a:spcPts val="0"/>
              </a:spcAft>
              <a:buSzPts val="2000"/>
              <a:buFont typeface="Noto Sans Symbols"/>
              <a:buChar char="❖"/>
            </a:pPr>
            <a:r>
              <a:rPr lang="en-US" sz="2000"/>
              <a:t>on loss event:</a:t>
            </a:r>
            <a:endParaRPr/>
          </a:p>
          <a:p>
            <a:pPr indent="-231775" lvl="1" marL="695325" rtl="0" algn="l">
              <a:lnSpc>
                <a:spcPct val="90000"/>
              </a:lnSpc>
              <a:spcBef>
                <a:spcPts val="500"/>
              </a:spcBef>
              <a:spcAft>
                <a:spcPts val="0"/>
              </a:spcAft>
              <a:buSzPts val="2000"/>
              <a:buFont typeface="Noto Sans Symbols"/>
              <a:buChar char="❖"/>
            </a:pPr>
            <a:r>
              <a:rPr b="1" lang="en-US" sz="2000">
                <a:latin typeface="Courier New"/>
                <a:ea typeface="Courier New"/>
                <a:cs typeface="Courier New"/>
                <a:sym typeface="Courier New"/>
              </a:rPr>
              <a:t>ssthresh</a:t>
            </a:r>
            <a:r>
              <a:rPr lang="en-US" sz="2000"/>
              <a:t> is set to ½ (half) of </a:t>
            </a:r>
            <a:r>
              <a:rPr b="1" lang="en-US" sz="2000">
                <a:latin typeface="Courier New"/>
                <a:ea typeface="Courier New"/>
                <a:cs typeface="Courier New"/>
                <a:sym typeface="Courier New"/>
              </a:rPr>
              <a:t>cwnd (cwnd/2) </a:t>
            </a:r>
            <a:r>
              <a:rPr lang="en-US" sz="2000"/>
              <a:t>just before loss event</a:t>
            </a:r>
            <a:endParaRPr/>
          </a:p>
          <a:p>
            <a:pPr indent="-231775" lvl="1" marL="695325" rtl="0" algn="l">
              <a:lnSpc>
                <a:spcPct val="90000"/>
              </a:lnSpc>
              <a:spcBef>
                <a:spcPts val="500"/>
              </a:spcBef>
              <a:spcAft>
                <a:spcPts val="0"/>
              </a:spcAft>
              <a:buSzPts val="2000"/>
              <a:buFont typeface="Noto Sans Symbols"/>
              <a:buChar char="❖"/>
            </a:pPr>
            <a:r>
              <a:rPr lang="en-US" sz="2000"/>
              <a:t>Value of cwnd is set to 1 MSS (slow start)</a:t>
            </a:r>
            <a:endParaRPr/>
          </a:p>
        </p:txBody>
      </p:sp>
      <p:sp>
        <p:nvSpPr>
          <p:cNvPr id="7541" name="Google Shape;7541;p164"/>
          <p:cNvSpPr txBox="1"/>
          <p:nvPr>
            <p:ph type="title"/>
          </p:nvPr>
        </p:nvSpPr>
        <p:spPr>
          <a:xfrm>
            <a:off x="798897" y="174625"/>
            <a:ext cx="9596053" cy="7683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3200"/>
              <a:t>TCP:  Switching From Slow Start To Congestion Avoidance (CA)</a:t>
            </a:r>
            <a:endParaRPr/>
          </a:p>
        </p:txBody>
      </p:sp>
      <p:pic>
        <p:nvPicPr>
          <p:cNvPr id="7542" name="Google Shape;7542;p164"/>
          <p:cNvPicPr preferRelativeResize="0"/>
          <p:nvPr/>
        </p:nvPicPr>
        <p:blipFill rotWithShape="1">
          <a:blip r:embed="rId3">
            <a:alphaModFix/>
          </a:blip>
          <a:srcRect b="0" l="0" r="0" t="0"/>
          <a:stretch/>
        </p:blipFill>
        <p:spPr>
          <a:xfrm>
            <a:off x="5689600" y="1489076"/>
            <a:ext cx="4641850" cy="3243263"/>
          </a:xfrm>
          <a:prstGeom prst="rect">
            <a:avLst/>
          </a:prstGeom>
          <a:noFill/>
          <a:ln>
            <a:noFill/>
          </a:ln>
        </p:spPr>
      </p:pic>
      <p:sp>
        <p:nvSpPr>
          <p:cNvPr id="7543" name="Google Shape;7543;p16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7" name="Shape 7547"/>
        <p:cNvGrpSpPr/>
        <p:nvPr/>
      </p:nvGrpSpPr>
      <p:grpSpPr>
        <a:xfrm>
          <a:off x="0" y="0"/>
          <a:ext cx="0" cy="0"/>
          <a:chOff x="0" y="0"/>
          <a:chExt cx="0" cy="0"/>
        </a:xfrm>
      </p:grpSpPr>
      <p:sp>
        <p:nvSpPr>
          <p:cNvPr id="7548" name="Google Shape;7548;p165"/>
          <p:cNvSpPr/>
          <p:nvPr/>
        </p:nvSpPr>
        <p:spPr>
          <a:xfrm>
            <a:off x="1671638" y="4022726"/>
            <a:ext cx="4089400" cy="1973263"/>
          </a:xfrm>
          <a:prstGeom prst="rect">
            <a:avLst/>
          </a:prstGeom>
          <a:solidFill>
            <a:srgbClr val="B3C6E7"/>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549" name="Google Shape;7549;p165"/>
          <p:cNvSpPr txBox="1"/>
          <p:nvPr/>
        </p:nvSpPr>
        <p:spPr>
          <a:xfrm>
            <a:off x="7404017" y="4669592"/>
            <a:ext cx="2873375" cy="830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TR  = Transmission Round</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CW = Congestion Window</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SS  = Segment Send</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Courier New"/>
                <a:ea typeface="Courier New"/>
                <a:cs typeface="Courier New"/>
                <a:sym typeface="Courier New"/>
              </a:rPr>
              <a:t>ssthresh </a:t>
            </a:r>
            <a:r>
              <a:rPr lang="en-US" sz="1200">
                <a:solidFill>
                  <a:schemeClr val="dk1"/>
                </a:solidFill>
                <a:latin typeface="Arial"/>
                <a:ea typeface="Arial"/>
                <a:cs typeface="Arial"/>
                <a:sym typeface="Arial"/>
              </a:rPr>
              <a:t>= Slow Start Threshold</a:t>
            </a:r>
            <a:endParaRPr/>
          </a:p>
        </p:txBody>
      </p:sp>
      <p:sp>
        <p:nvSpPr>
          <p:cNvPr id="7550" name="Google Shape;7550;p165"/>
          <p:cNvSpPr txBox="1"/>
          <p:nvPr/>
        </p:nvSpPr>
        <p:spPr>
          <a:xfrm>
            <a:off x="1819276" y="4102101"/>
            <a:ext cx="4600575" cy="18145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TR 1 to 4</a:t>
            </a:r>
            <a:endParaRPr/>
          </a:p>
          <a:p>
            <a:pPr indent="-88900" lvl="0" marL="0" marR="0" rtl="0" algn="l">
              <a:lnSpc>
                <a:spcPct val="100000"/>
              </a:lnSpc>
              <a:spcBef>
                <a:spcPts val="0"/>
              </a:spcBef>
              <a:spcAft>
                <a:spcPts val="0"/>
              </a:spcAft>
              <a:buClr>
                <a:schemeClr val="dk1"/>
              </a:buClr>
              <a:buSzPts val="1400"/>
              <a:buFont typeface="Noto Sans Symbols"/>
              <a:buChar char="📫"/>
            </a:pPr>
            <a:r>
              <a:rPr lang="en-US" sz="1400">
                <a:solidFill>
                  <a:schemeClr val="dk1"/>
                </a:solidFill>
                <a:latin typeface="Tahoma"/>
                <a:ea typeface="Tahoma"/>
                <a:cs typeface="Tahoma"/>
                <a:sym typeface="Tahoma"/>
              </a:rPr>
              <a:t> Slow Start, Exponential growth, </a:t>
            </a:r>
            <a:r>
              <a:rPr lang="en-US" sz="1400">
                <a:solidFill>
                  <a:schemeClr val="dk1"/>
                </a:solidFill>
                <a:latin typeface="Courier New"/>
                <a:ea typeface="Courier New"/>
                <a:cs typeface="Courier New"/>
                <a:sym typeface="Courier New"/>
              </a:rPr>
              <a:t>ssthresh=8</a:t>
            </a:r>
            <a:endParaRPr/>
          </a:p>
          <a:p>
            <a:pPr indent="0" lvl="0" marL="0" marR="0" rtl="0" algn="l">
              <a:lnSpc>
                <a:spcPct val="100000"/>
              </a:lnSpc>
              <a:spcBef>
                <a:spcPts val="0"/>
              </a:spcBef>
              <a:spcAft>
                <a:spcPts val="0"/>
              </a:spcAft>
              <a:buClr>
                <a:schemeClr val="dk1"/>
              </a:buClr>
              <a:buSzPts val="1400"/>
              <a:buFont typeface="Noto Sans Symbols"/>
              <a:buNone/>
            </a:pPr>
            <a:r>
              <a:t/>
            </a:r>
            <a:endParaRPr sz="14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TR 4, CW = </a:t>
            </a:r>
            <a:r>
              <a:rPr lang="en-US" sz="1400">
                <a:solidFill>
                  <a:schemeClr val="dk1"/>
                </a:solidFill>
                <a:latin typeface="Courier New"/>
                <a:ea typeface="Courier New"/>
                <a:cs typeface="Courier New"/>
                <a:sym typeface="Courier New"/>
              </a:rPr>
              <a:t>ssthresh</a:t>
            </a:r>
            <a:r>
              <a:rPr lang="en-US" sz="1400">
                <a:solidFill>
                  <a:schemeClr val="dk1"/>
                </a:solidFill>
                <a:latin typeface="Tahoma"/>
                <a:ea typeface="Tahoma"/>
                <a:cs typeface="Tahoma"/>
                <a:sym typeface="Tahoma"/>
              </a:rPr>
              <a:t> is detected and         Congestion Avoidance (CA) starts</a:t>
            </a:r>
            <a:endParaRPr/>
          </a:p>
          <a:p>
            <a:pPr indent="0" lvl="0" marL="0" marR="0" rtl="0" algn="l">
              <a:lnSpc>
                <a:spcPct val="100000"/>
              </a:lnSpc>
              <a:spcBef>
                <a:spcPts val="0"/>
              </a:spcBef>
              <a:spcAft>
                <a:spcPts val="0"/>
              </a:spcAft>
              <a:buClr>
                <a:schemeClr val="dk1"/>
              </a:buClr>
              <a:buSzPts val="1400"/>
              <a:buFont typeface="Noto Sans Symbols"/>
              <a:buNone/>
            </a:pPr>
            <a:r>
              <a:t/>
            </a:r>
            <a:endParaRPr sz="14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TR 5 to 8</a:t>
            </a:r>
            <a:endParaRPr/>
          </a:p>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 Operate at CA, Linear growth</a:t>
            </a:r>
            <a:endParaRPr/>
          </a:p>
        </p:txBody>
      </p:sp>
      <p:graphicFrame>
        <p:nvGraphicFramePr>
          <p:cNvPr id="7551" name="Google Shape;7551;p165"/>
          <p:cNvGraphicFramePr/>
          <p:nvPr/>
        </p:nvGraphicFramePr>
        <p:xfrm>
          <a:off x="1671638" y="1025527"/>
          <a:ext cx="3000000" cy="3000000"/>
        </p:xfrm>
        <a:graphic>
          <a:graphicData uri="http://schemas.openxmlformats.org/drawingml/2006/table">
            <a:tbl>
              <a:tblPr bandRow="1" firstRow="1">
                <a:noFill/>
                <a:tableStyleId>{6A801659-9FE2-4FBA-BB42-B8B3FDABCD59}</a:tableStyleId>
              </a:tblPr>
              <a:tblGrid>
                <a:gridCol w="699975"/>
                <a:gridCol w="436875"/>
                <a:gridCol w="477500"/>
                <a:gridCol w="436875"/>
                <a:gridCol w="1036475"/>
              </a:tblGrid>
              <a:tr h="518325">
                <a:tc>
                  <a:txBody>
                    <a:bodyPr/>
                    <a:lstStyle/>
                    <a:p>
                      <a:pPr indent="0" lvl="0" marL="0" marR="0" rtl="0" algn="ctr">
                        <a:spcBef>
                          <a:spcPts val="0"/>
                        </a:spcBef>
                        <a:spcAft>
                          <a:spcPts val="0"/>
                        </a:spcAft>
                        <a:buNone/>
                      </a:pPr>
                      <a:r>
                        <a:rPr b="0" lang="en-US" sz="1400">
                          <a:latin typeface="Arial"/>
                          <a:ea typeface="Arial"/>
                          <a:cs typeface="Arial"/>
                          <a:sym typeface="Arial"/>
                        </a:rPr>
                        <a:t>Phase</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TR</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CW</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SS</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Courier New"/>
                          <a:ea typeface="Courier New"/>
                          <a:cs typeface="Courier New"/>
                          <a:sym typeface="Courier New"/>
                        </a:rPr>
                        <a:t>ssthresh</a:t>
                      </a:r>
                      <a:endParaRPr b="0" sz="1400">
                        <a:latin typeface="Courier New"/>
                        <a:ea typeface="Courier New"/>
                        <a:cs typeface="Courier New"/>
                        <a:sym typeface="Courier New"/>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900">
                <a:tc rowSpan="4">
                  <a:txBody>
                    <a:bodyPr/>
                    <a:lstStyle/>
                    <a:p>
                      <a:pPr indent="0" lvl="0" marL="0" marR="0" rtl="0" algn="ctr">
                        <a:spcBef>
                          <a:spcPts val="0"/>
                        </a:spcBef>
                        <a:spcAft>
                          <a:spcPts val="0"/>
                        </a:spcAft>
                        <a:buNone/>
                      </a:pPr>
                      <a:r>
                        <a:t/>
                      </a:r>
                      <a:endParaRPr sz="1400">
                        <a:latin typeface="Arial"/>
                        <a:ea typeface="Arial"/>
                        <a:cs typeface="Arial"/>
                        <a:sym typeface="Arial"/>
                      </a:endParaRPr>
                    </a:p>
                    <a:p>
                      <a:pPr indent="0" lvl="0" marL="0" marR="0" rtl="0" algn="ctr">
                        <a:spcBef>
                          <a:spcPts val="0"/>
                        </a:spcBef>
                        <a:spcAft>
                          <a:spcPts val="0"/>
                        </a:spcAft>
                        <a:buNone/>
                      </a:pPr>
                      <a:r>
                        <a:t/>
                      </a:r>
                      <a:endParaRPr sz="1400">
                        <a:latin typeface="Arial"/>
                        <a:ea typeface="Arial"/>
                        <a:cs typeface="Arial"/>
                        <a:sym typeface="Arial"/>
                      </a:endParaRPr>
                    </a:p>
                    <a:p>
                      <a:pPr indent="0" lvl="0" marL="0" marR="0" rtl="0" algn="ctr">
                        <a:spcBef>
                          <a:spcPts val="0"/>
                        </a:spcBef>
                        <a:spcAft>
                          <a:spcPts val="0"/>
                        </a:spcAft>
                        <a:buNone/>
                      </a:pPr>
                      <a:r>
                        <a:rPr lang="en-US" sz="1400">
                          <a:latin typeface="Arial"/>
                          <a:ea typeface="Arial"/>
                          <a:cs typeface="Arial"/>
                          <a:sym typeface="Arial"/>
                        </a:rPr>
                        <a:t>Slow Start</a:t>
                      </a:r>
                      <a:endParaRPr/>
                    </a:p>
                    <a:p>
                      <a:pPr indent="0" lvl="0" marL="0" marR="0" rtl="0" algn="ctr">
                        <a:spcBef>
                          <a:spcPts val="0"/>
                        </a:spcBef>
                        <a:spcAft>
                          <a:spcPts val="0"/>
                        </a:spcAft>
                        <a:buNone/>
                      </a:pPr>
                      <a:r>
                        <a:rPr lang="en-US" sz="1400">
                          <a:latin typeface="Arial"/>
                          <a:ea typeface="Arial"/>
                          <a:cs typeface="Arial"/>
                          <a:sym typeface="Arial"/>
                        </a:rPr>
                        <a:t>(1)</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900">
                <a:tc vMerge="1"/>
                <a:tc>
                  <a:txBody>
                    <a:bodyPr/>
                    <a:lstStyle/>
                    <a:p>
                      <a:pPr indent="0" lvl="0" marL="0" marR="0" rtl="0" algn="ctr">
                        <a:spcBef>
                          <a:spcPts val="0"/>
                        </a:spcBef>
                        <a:spcAft>
                          <a:spcPts val="0"/>
                        </a:spcAft>
                        <a:buNone/>
                      </a:pPr>
                      <a:r>
                        <a:rPr lang="en-US" sz="1400">
                          <a:latin typeface="Arial"/>
                          <a:ea typeface="Arial"/>
                          <a:cs typeface="Arial"/>
                          <a:sym typeface="Arial"/>
                        </a:rPr>
                        <a:t>2</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2</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3</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900">
                <a:tc vMerge="1"/>
                <a:tc>
                  <a:txBody>
                    <a:bodyPr/>
                    <a:lstStyle/>
                    <a:p>
                      <a:pPr indent="0" lvl="0" marL="0" marR="0" rtl="0" algn="ctr">
                        <a:spcBef>
                          <a:spcPts val="0"/>
                        </a:spcBef>
                        <a:spcAft>
                          <a:spcPts val="0"/>
                        </a:spcAft>
                        <a:buNone/>
                      </a:pPr>
                      <a:r>
                        <a:rPr lang="en-US" sz="1400">
                          <a:latin typeface="Arial"/>
                          <a:ea typeface="Arial"/>
                          <a:cs typeface="Arial"/>
                          <a:sym typeface="Arial"/>
                        </a:rPr>
                        <a:t>3</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4</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7</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900">
                <a:tc vMerge="1"/>
                <a:tc>
                  <a:txBody>
                    <a:bodyPr/>
                    <a:lstStyle/>
                    <a:p>
                      <a:pPr indent="0" lvl="0" marL="0" marR="0" rtl="0" algn="ctr">
                        <a:spcBef>
                          <a:spcPts val="0"/>
                        </a:spcBef>
                        <a:spcAft>
                          <a:spcPts val="0"/>
                        </a:spcAft>
                        <a:buNone/>
                      </a:pPr>
                      <a:r>
                        <a:rPr lang="en-US" sz="1400">
                          <a:latin typeface="Arial"/>
                          <a:ea typeface="Arial"/>
                          <a:cs typeface="Arial"/>
                          <a:sym typeface="Arial"/>
                        </a:rPr>
                        <a:t>4</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15</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8</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BD6EE"/>
                    </a:solidFill>
                  </a:tcPr>
                </a:tc>
              </a:tr>
              <a:tr h="304900">
                <a:tc rowSpan="4">
                  <a:txBody>
                    <a:bodyPr/>
                    <a:lstStyle/>
                    <a:p>
                      <a:pPr indent="0" lvl="0" marL="0" marR="0" rtl="0" algn="ctr">
                        <a:spcBef>
                          <a:spcPts val="0"/>
                        </a:spcBef>
                        <a:spcAft>
                          <a:spcPts val="0"/>
                        </a:spcAft>
                        <a:buNone/>
                      </a:pPr>
                      <a:r>
                        <a:rPr lang="en-US" sz="1400">
                          <a:latin typeface="Arial"/>
                          <a:ea typeface="Arial"/>
                          <a:cs typeface="Arial"/>
                          <a:sym typeface="Arial"/>
                        </a:rPr>
                        <a:t>CA </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5</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9</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24</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900">
                <a:tc vMerge="1"/>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10</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34</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900">
                <a:tc vMerge="1"/>
                <a:tc>
                  <a:txBody>
                    <a:bodyPr/>
                    <a:lstStyle/>
                    <a:p>
                      <a:pPr indent="0" lvl="0" marL="0" marR="0" rtl="0" algn="ctr">
                        <a:spcBef>
                          <a:spcPts val="0"/>
                        </a:spcBef>
                        <a:spcAft>
                          <a:spcPts val="0"/>
                        </a:spcAft>
                        <a:buNone/>
                      </a:pPr>
                      <a:r>
                        <a:rPr lang="en-US" sz="1400">
                          <a:latin typeface="Arial"/>
                          <a:ea typeface="Arial"/>
                          <a:cs typeface="Arial"/>
                          <a:sym typeface="Arial"/>
                        </a:rPr>
                        <a:t>7</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11</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45</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8</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900">
                <a:tc vMerge="1"/>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12</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57</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8</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BD6EE"/>
                    </a:solidFill>
                  </a:tcPr>
                </a:tc>
              </a:tr>
            </a:tbl>
          </a:graphicData>
        </a:graphic>
      </p:graphicFrame>
      <p:sp>
        <p:nvSpPr>
          <p:cNvPr id="7552" name="Google Shape;7552;p165"/>
          <p:cNvSpPr txBox="1"/>
          <p:nvPr>
            <p:ph type="title"/>
          </p:nvPr>
        </p:nvSpPr>
        <p:spPr>
          <a:xfrm>
            <a:off x="481263" y="-50800"/>
            <a:ext cx="11559941"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200"/>
              <a:buFont typeface="Calibri"/>
              <a:buNone/>
            </a:pPr>
            <a:r>
              <a:rPr lang="en-US" sz="3200"/>
              <a:t>TCP: Slow Start &amp; Congestion Avoidance (CA)</a:t>
            </a:r>
            <a:br>
              <a:rPr lang="en-US" sz="3200"/>
            </a:br>
            <a:r>
              <a:rPr lang="en-US" sz="3200"/>
              <a:t>(Loss Because of Timeout)</a:t>
            </a:r>
            <a:endParaRPr/>
          </a:p>
        </p:txBody>
      </p:sp>
      <p:sp>
        <p:nvSpPr>
          <p:cNvPr id="7553" name="Google Shape;7553;p16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7554" name="Google Shape;7554;p165"/>
          <p:cNvPicPr preferRelativeResize="0"/>
          <p:nvPr/>
        </p:nvPicPr>
        <p:blipFill rotWithShape="1">
          <a:blip r:embed="rId3">
            <a:alphaModFix/>
          </a:blip>
          <a:srcRect b="0" l="0" r="0" t="0"/>
          <a:stretch/>
        </p:blipFill>
        <p:spPr>
          <a:xfrm>
            <a:off x="4945041" y="628784"/>
            <a:ext cx="6646884" cy="3559675"/>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8" name="Shape 7558"/>
        <p:cNvGrpSpPr/>
        <p:nvPr/>
      </p:nvGrpSpPr>
      <p:grpSpPr>
        <a:xfrm>
          <a:off x="0" y="0"/>
          <a:ext cx="0" cy="0"/>
          <a:chOff x="0" y="0"/>
          <a:chExt cx="0" cy="0"/>
        </a:xfrm>
      </p:grpSpPr>
      <p:sp>
        <p:nvSpPr>
          <p:cNvPr id="7559" name="Google Shape;7559;p166"/>
          <p:cNvSpPr/>
          <p:nvPr/>
        </p:nvSpPr>
        <p:spPr>
          <a:xfrm>
            <a:off x="1658938" y="4098925"/>
            <a:ext cx="4089400" cy="1974850"/>
          </a:xfrm>
          <a:prstGeom prst="rect">
            <a:avLst/>
          </a:prstGeom>
          <a:solidFill>
            <a:srgbClr val="B3C6E7"/>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560" name="Google Shape;7560;p166"/>
          <p:cNvSpPr txBox="1"/>
          <p:nvPr/>
        </p:nvSpPr>
        <p:spPr>
          <a:xfrm>
            <a:off x="5900738" y="123826"/>
            <a:ext cx="4767262" cy="62706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2800"/>
              <a:buFont typeface="Noto Sans Symbols"/>
              <a:buNone/>
            </a:pPr>
            <a:r>
              <a:rPr lang="en-US" sz="2800">
                <a:solidFill>
                  <a:srgbClr val="FFFFFF"/>
                </a:solidFill>
                <a:latin typeface="Arial"/>
                <a:ea typeface="Arial"/>
                <a:cs typeface="Arial"/>
                <a:sym typeface="Arial"/>
              </a:rPr>
              <a:t>TCP Slow Start &amp; Congestion Avoidance (CA)</a:t>
            </a:r>
            <a:endParaRPr sz="2800">
              <a:solidFill>
                <a:srgbClr val="FFFFFF"/>
              </a:solidFill>
              <a:latin typeface="Arial"/>
              <a:ea typeface="Arial"/>
              <a:cs typeface="Arial"/>
              <a:sym typeface="Arial"/>
            </a:endParaRPr>
          </a:p>
        </p:txBody>
      </p:sp>
      <p:sp>
        <p:nvSpPr>
          <p:cNvPr id="7561" name="Google Shape;7561;p166"/>
          <p:cNvSpPr txBox="1"/>
          <p:nvPr/>
        </p:nvSpPr>
        <p:spPr>
          <a:xfrm>
            <a:off x="7775576" y="4780757"/>
            <a:ext cx="2873375" cy="830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TR  = Transmission Round</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CW = Congestion Window</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SS  = Segment Send</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Courier New"/>
                <a:ea typeface="Courier New"/>
                <a:cs typeface="Courier New"/>
                <a:sym typeface="Courier New"/>
              </a:rPr>
              <a:t>ssthresh </a:t>
            </a:r>
            <a:r>
              <a:rPr lang="en-US" sz="1200">
                <a:solidFill>
                  <a:schemeClr val="dk1"/>
                </a:solidFill>
                <a:latin typeface="Arial"/>
                <a:ea typeface="Arial"/>
                <a:cs typeface="Arial"/>
                <a:sym typeface="Arial"/>
              </a:rPr>
              <a:t>= Slow Start Threshold</a:t>
            </a:r>
            <a:endParaRPr/>
          </a:p>
        </p:txBody>
      </p:sp>
      <p:sp>
        <p:nvSpPr>
          <p:cNvPr id="7562" name="Google Shape;7562;p166"/>
          <p:cNvSpPr txBox="1"/>
          <p:nvPr/>
        </p:nvSpPr>
        <p:spPr>
          <a:xfrm>
            <a:off x="1649413" y="4173539"/>
            <a:ext cx="4005262" cy="1385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After TR 8</a:t>
            </a:r>
            <a:endParaRPr/>
          </a:p>
          <a:p>
            <a:pPr indent="-88900" lvl="0" marL="0" marR="0" rtl="0" algn="l">
              <a:lnSpc>
                <a:spcPct val="100000"/>
              </a:lnSpc>
              <a:spcBef>
                <a:spcPts val="0"/>
              </a:spcBef>
              <a:spcAft>
                <a:spcPts val="0"/>
              </a:spcAft>
              <a:buClr>
                <a:schemeClr val="dk1"/>
              </a:buClr>
              <a:buSzPts val="1400"/>
              <a:buFont typeface="Noto Sans Symbols"/>
              <a:buChar char="📫"/>
            </a:pPr>
            <a:r>
              <a:rPr lang="en-US" sz="1400">
                <a:solidFill>
                  <a:schemeClr val="dk1"/>
                </a:solidFill>
                <a:latin typeface="Tahoma"/>
                <a:ea typeface="Tahoma"/>
                <a:cs typeface="Tahoma"/>
                <a:sym typeface="Tahoma"/>
              </a:rPr>
              <a:t> </a:t>
            </a:r>
            <a:r>
              <a:rPr lang="en-US" sz="1400">
                <a:solidFill>
                  <a:srgbClr val="FF0000"/>
                </a:solidFill>
                <a:latin typeface="Tahoma"/>
                <a:ea typeface="Tahoma"/>
                <a:cs typeface="Tahoma"/>
                <a:sym typeface="Tahoma"/>
              </a:rPr>
              <a:t>Timeout</a:t>
            </a:r>
            <a:r>
              <a:rPr lang="en-US" sz="1400">
                <a:solidFill>
                  <a:schemeClr val="dk1"/>
                </a:solidFill>
                <a:latin typeface="Tahoma"/>
                <a:ea typeface="Tahoma"/>
                <a:cs typeface="Tahoma"/>
                <a:sym typeface="Tahoma"/>
              </a:rPr>
              <a:t> is detected</a:t>
            </a:r>
            <a:endParaRPr/>
          </a:p>
          <a:p>
            <a:pPr indent="-88900" lvl="0" marL="0" marR="0" rtl="0" algn="l">
              <a:lnSpc>
                <a:spcPct val="100000"/>
              </a:lnSpc>
              <a:spcBef>
                <a:spcPts val="0"/>
              </a:spcBef>
              <a:spcAft>
                <a:spcPts val="0"/>
              </a:spcAft>
              <a:buClr>
                <a:schemeClr val="dk1"/>
              </a:buClr>
              <a:buSzPts val="1400"/>
              <a:buFont typeface="Noto Sans Symbols"/>
              <a:buChar char="📫"/>
            </a:pPr>
            <a:r>
              <a:rPr lang="en-US" sz="1400">
                <a:solidFill>
                  <a:schemeClr val="dk1"/>
                </a:solidFill>
                <a:latin typeface="Tahoma"/>
                <a:ea typeface="Tahoma"/>
                <a:cs typeface="Tahoma"/>
                <a:sym typeface="Tahoma"/>
              </a:rPr>
              <a:t> New ssthresh value will be calculated;                                </a:t>
            </a:r>
            <a:r>
              <a:rPr lang="en-US" sz="1400">
                <a:solidFill>
                  <a:srgbClr val="B3C6E7"/>
                </a:solidFill>
                <a:latin typeface="Tahoma"/>
                <a:ea typeface="Tahoma"/>
                <a:cs typeface="Tahoma"/>
                <a:sym typeface="Tahoma"/>
              </a:rPr>
              <a:t>………..</a:t>
            </a:r>
            <a:r>
              <a:rPr lang="en-US" sz="1400">
                <a:solidFill>
                  <a:schemeClr val="dk1"/>
                </a:solidFill>
                <a:latin typeface="Tahoma"/>
                <a:ea typeface="Tahoma"/>
                <a:cs typeface="Tahoma"/>
                <a:sym typeface="Tahoma"/>
              </a:rPr>
              <a:t>= cwnd</a:t>
            </a:r>
            <a:r>
              <a:rPr baseline="-25000" lang="en-US" sz="1400">
                <a:solidFill>
                  <a:schemeClr val="dk1"/>
                </a:solidFill>
                <a:latin typeface="Tahoma"/>
                <a:ea typeface="Tahoma"/>
                <a:cs typeface="Tahoma"/>
                <a:sym typeface="Tahoma"/>
              </a:rPr>
              <a:t>timeout</a:t>
            </a:r>
            <a:r>
              <a:rPr lang="en-US" sz="1400">
                <a:solidFill>
                  <a:schemeClr val="dk1"/>
                </a:solidFill>
                <a:latin typeface="Tahoma"/>
                <a:ea typeface="Tahoma"/>
                <a:cs typeface="Tahoma"/>
                <a:sym typeface="Tahoma"/>
              </a:rPr>
              <a:t> / 2 </a:t>
            </a:r>
            <a:endParaRPr/>
          </a:p>
          <a:p>
            <a:pPr indent="0" lvl="0" marL="0" marR="0" rtl="0" algn="l">
              <a:lnSpc>
                <a:spcPct val="100000"/>
              </a:lnSpc>
              <a:spcBef>
                <a:spcPts val="0"/>
              </a:spcBef>
              <a:spcAft>
                <a:spcPts val="0"/>
              </a:spcAft>
              <a:buClr>
                <a:schemeClr val="dk1"/>
              </a:buClr>
              <a:buSzPts val="1400"/>
              <a:buFont typeface="Noto Sans Symbols"/>
              <a:buNone/>
            </a:pPr>
            <a:r>
              <a:t/>
            </a:r>
            <a:endParaRPr sz="14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rgbClr val="B3C6E7"/>
              </a:buClr>
              <a:buSzPts val="1400"/>
              <a:buFont typeface="Noto Sans Symbols"/>
              <a:buNone/>
            </a:pPr>
            <a:r>
              <a:rPr lang="en-US" sz="1400">
                <a:solidFill>
                  <a:srgbClr val="B3C6E7"/>
                </a:solidFill>
                <a:latin typeface="Tahoma"/>
                <a:ea typeface="Tahoma"/>
                <a:cs typeface="Tahoma"/>
                <a:sym typeface="Tahoma"/>
              </a:rPr>
              <a:t>………..</a:t>
            </a:r>
            <a:r>
              <a:rPr lang="en-US" sz="1400">
                <a:solidFill>
                  <a:schemeClr val="dk1"/>
                </a:solidFill>
                <a:latin typeface="Tahoma"/>
                <a:ea typeface="Tahoma"/>
                <a:cs typeface="Tahoma"/>
                <a:sym typeface="Tahoma"/>
              </a:rPr>
              <a:t>= 12 / 2 = 6</a:t>
            </a:r>
            <a:endParaRPr/>
          </a:p>
        </p:txBody>
      </p:sp>
      <p:graphicFrame>
        <p:nvGraphicFramePr>
          <p:cNvPr id="7563" name="Google Shape;7563;p166"/>
          <p:cNvGraphicFramePr/>
          <p:nvPr/>
        </p:nvGraphicFramePr>
        <p:xfrm>
          <a:off x="1747839" y="962025"/>
          <a:ext cx="3000000" cy="3000000"/>
        </p:xfrm>
        <a:graphic>
          <a:graphicData uri="http://schemas.openxmlformats.org/drawingml/2006/table">
            <a:tbl>
              <a:tblPr bandRow="1" firstRow="1">
                <a:noFill/>
                <a:tableStyleId>{6A801659-9FE2-4FBA-BB42-B8B3FDABCD59}</a:tableStyleId>
              </a:tblPr>
              <a:tblGrid>
                <a:gridCol w="699975"/>
                <a:gridCol w="436875"/>
                <a:gridCol w="477500"/>
                <a:gridCol w="436875"/>
                <a:gridCol w="1036475"/>
              </a:tblGrid>
              <a:tr h="518075">
                <a:tc>
                  <a:txBody>
                    <a:bodyPr/>
                    <a:lstStyle/>
                    <a:p>
                      <a:pPr indent="0" lvl="0" marL="0" marR="0" rtl="0" algn="ctr">
                        <a:spcBef>
                          <a:spcPts val="0"/>
                        </a:spcBef>
                        <a:spcAft>
                          <a:spcPts val="0"/>
                        </a:spcAft>
                        <a:buNone/>
                      </a:pPr>
                      <a:r>
                        <a:rPr b="0" lang="en-US" sz="1400">
                          <a:latin typeface="Arial"/>
                          <a:ea typeface="Arial"/>
                          <a:cs typeface="Arial"/>
                          <a:sym typeface="Arial"/>
                        </a:rPr>
                        <a:t>Phase</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TR</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CW</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SS</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Courier New"/>
                          <a:ea typeface="Courier New"/>
                          <a:cs typeface="Courier New"/>
                          <a:sym typeface="Courier New"/>
                        </a:rPr>
                        <a:t>ssthresh</a:t>
                      </a:r>
                      <a:endParaRPr b="0" sz="1400">
                        <a:latin typeface="Courier New"/>
                        <a:ea typeface="Courier New"/>
                        <a:cs typeface="Courier New"/>
                        <a:sym typeface="Courier New"/>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725">
                <a:tc rowSpan="4">
                  <a:txBody>
                    <a:bodyPr/>
                    <a:lstStyle/>
                    <a:p>
                      <a:pPr indent="0" lvl="0" marL="0" marR="0" rtl="0" algn="ctr">
                        <a:spcBef>
                          <a:spcPts val="0"/>
                        </a:spcBef>
                        <a:spcAft>
                          <a:spcPts val="0"/>
                        </a:spcAft>
                        <a:buNone/>
                      </a:pPr>
                      <a:r>
                        <a:t/>
                      </a:r>
                      <a:endParaRPr sz="1400">
                        <a:latin typeface="Arial"/>
                        <a:ea typeface="Arial"/>
                        <a:cs typeface="Arial"/>
                        <a:sym typeface="Arial"/>
                      </a:endParaRPr>
                    </a:p>
                    <a:p>
                      <a:pPr indent="0" lvl="0" marL="0" marR="0" rtl="0" algn="ctr">
                        <a:spcBef>
                          <a:spcPts val="0"/>
                        </a:spcBef>
                        <a:spcAft>
                          <a:spcPts val="0"/>
                        </a:spcAft>
                        <a:buNone/>
                      </a:pPr>
                      <a:r>
                        <a:t/>
                      </a:r>
                      <a:endParaRPr sz="1400">
                        <a:latin typeface="Arial"/>
                        <a:ea typeface="Arial"/>
                        <a:cs typeface="Arial"/>
                        <a:sym typeface="Arial"/>
                      </a:endParaRPr>
                    </a:p>
                    <a:p>
                      <a:pPr indent="0" lvl="0" marL="0" marR="0" rtl="0" algn="ctr">
                        <a:spcBef>
                          <a:spcPts val="0"/>
                        </a:spcBef>
                        <a:spcAft>
                          <a:spcPts val="0"/>
                        </a:spcAft>
                        <a:buNone/>
                      </a:pPr>
                      <a:r>
                        <a:rPr lang="en-US" sz="1400">
                          <a:latin typeface="Arial"/>
                          <a:ea typeface="Arial"/>
                          <a:cs typeface="Arial"/>
                          <a:sym typeface="Arial"/>
                        </a:rPr>
                        <a:t>Slow Start</a:t>
                      </a:r>
                      <a:endParaRPr/>
                    </a:p>
                    <a:p>
                      <a:pPr indent="0" lvl="0" marL="0" marR="0" rtl="0" algn="ctr">
                        <a:spcBef>
                          <a:spcPts val="0"/>
                        </a:spcBef>
                        <a:spcAft>
                          <a:spcPts val="0"/>
                        </a:spcAft>
                        <a:buNone/>
                      </a:pPr>
                      <a:r>
                        <a:rPr lang="en-US" sz="1400">
                          <a:latin typeface="Arial"/>
                          <a:ea typeface="Arial"/>
                          <a:cs typeface="Arial"/>
                          <a:sym typeface="Arial"/>
                        </a:rPr>
                        <a:t>(1)</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725">
                <a:tc vMerge="1"/>
                <a:tc>
                  <a:txBody>
                    <a:bodyPr/>
                    <a:lstStyle/>
                    <a:p>
                      <a:pPr indent="0" lvl="0" marL="0" marR="0" rtl="0" algn="ctr">
                        <a:spcBef>
                          <a:spcPts val="0"/>
                        </a:spcBef>
                        <a:spcAft>
                          <a:spcPts val="0"/>
                        </a:spcAft>
                        <a:buNone/>
                      </a:pPr>
                      <a:r>
                        <a:rPr lang="en-US" sz="1400">
                          <a:latin typeface="Arial"/>
                          <a:ea typeface="Arial"/>
                          <a:cs typeface="Arial"/>
                          <a:sym typeface="Arial"/>
                        </a:rPr>
                        <a:t>2</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2</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3</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725">
                <a:tc vMerge="1"/>
                <a:tc>
                  <a:txBody>
                    <a:bodyPr/>
                    <a:lstStyle/>
                    <a:p>
                      <a:pPr indent="0" lvl="0" marL="0" marR="0" rtl="0" algn="ctr">
                        <a:spcBef>
                          <a:spcPts val="0"/>
                        </a:spcBef>
                        <a:spcAft>
                          <a:spcPts val="0"/>
                        </a:spcAft>
                        <a:buNone/>
                      </a:pPr>
                      <a:r>
                        <a:rPr lang="en-US" sz="1400">
                          <a:latin typeface="Arial"/>
                          <a:ea typeface="Arial"/>
                          <a:cs typeface="Arial"/>
                          <a:sym typeface="Arial"/>
                        </a:rPr>
                        <a:t>3</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4</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7</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725">
                <a:tc vMerge="1"/>
                <a:tc>
                  <a:txBody>
                    <a:bodyPr/>
                    <a:lstStyle/>
                    <a:p>
                      <a:pPr indent="0" lvl="0" marL="0" marR="0" rtl="0" algn="ctr">
                        <a:spcBef>
                          <a:spcPts val="0"/>
                        </a:spcBef>
                        <a:spcAft>
                          <a:spcPts val="0"/>
                        </a:spcAft>
                        <a:buNone/>
                      </a:pPr>
                      <a:r>
                        <a:rPr lang="en-US" sz="1400">
                          <a:latin typeface="Arial"/>
                          <a:ea typeface="Arial"/>
                          <a:cs typeface="Arial"/>
                          <a:sym typeface="Arial"/>
                        </a:rPr>
                        <a:t>4</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15</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8</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BD6EE"/>
                    </a:solidFill>
                  </a:tcPr>
                </a:tc>
              </a:tr>
              <a:tr h="304725">
                <a:tc rowSpan="4">
                  <a:txBody>
                    <a:bodyPr/>
                    <a:lstStyle/>
                    <a:p>
                      <a:pPr indent="0" lvl="0" marL="0" marR="0" rtl="0" algn="ctr">
                        <a:spcBef>
                          <a:spcPts val="0"/>
                        </a:spcBef>
                        <a:spcAft>
                          <a:spcPts val="0"/>
                        </a:spcAft>
                        <a:buNone/>
                      </a:pPr>
                      <a:r>
                        <a:rPr lang="en-US" sz="1400">
                          <a:latin typeface="Arial"/>
                          <a:ea typeface="Arial"/>
                          <a:cs typeface="Arial"/>
                          <a:sym typeface="Arial"/>
                        </a:rPr>
                        <a:t>CA </a:t>
                      </a:r>
                      <a:endParaRPr/>
                    </a:p>
                  </a:txBody>
                  <a:tcPr marT="45675" marB="4567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5</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9</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24</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725">
                <a:tc vMerge="1"/>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10</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34</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725">
                <a:tc vMerge="1"/>
                <a:tc>
                  <a:txBody>
                    <a:bodyPr/>
                    <a:lstStyle/>
                    <a:p>
                      <a:pPr indent="0" lvl="0" marL="0" marR="0" rtl="0" algn="ctr">
                        <a:spcBef>
                          <a:spcPts val="0"/>
                        </a:spcBef>
                        <a:spcAft>
                          <a:spcPts val="0"/>
                        </a:spcAft>
                        <a:buNone/>
                      </a:pPr>
                      <a:r>
                        <a:rPr lang="en-US" sz="1400">
                          <a:latin typeface="Arial"/>
                          <a:ea typeface="Arial"/>
                          <a:cs typeface="Arial"/>
                          <a:sym typeface="Arial"/>
                        </a:rPr>
                        <a:t>7</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11</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45</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8</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725">
                <a:tc vMerge="1"/>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rgbClr val="FF0000"/>
                          </a:solidFill>
                          <a:latin typeface="Arial"/>
                          <a:ea typeface="Arial"/>
                          <a:cs typeface="Arial"/>
                          <a:sym typeface="Arial"/>
                        </a:rPr>
                        <a:t>12</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57</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chemeClr val="lt1"/>
                          </a:solidFill>
                          <a:latin typeface="Arial"/>
                          <a:ea typeface="Arial"/>
                          <a:cs typeface="Arial"/>
                          <a:sym typeface="Arial"/>
                        </a:rPr>
                        <a:t>12 / 2 = 6</a:t>
                      </a:r>
                      <a:endParaRPr/>
                    </a:p>
                  </a:txBody>
                  <a:tcPr marT="45675" marB="4567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00000"/>
                    </a:solidFill>
                  </a:tcPr>
                </a:tc>
              </a:tr>
            </a:tbl>
          </a:graphicData>
        </a:graphic>
      </p:graphicFrame>
      <p:sp>
        <p:nvSpPr>
          <p:cNvPr id="7564" name="Google Shape;7564;p166"/>
          <p:cNvSpPr/>
          <p:nvPr/>
        </p:nvSpPr>
        <p:spPr>
          <a:xfrm>
            <a:off x="2276476" y="3568701"/>
            <a:ext cx="2640013" cy="392113"/>
          </a:xfrm>
          <a:prstGeom prst="rect">
            <a:avLst/>
          </a:prstGeom>
          <a:solidFill>
            <a:srgbClr val="FFFF00">
              <a:alpha val="43529"/>
            </a:srgbClr>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7565" name="Google Shape;7565;p166"/>
          <p:cNvSpPr txBox="1"/>
          <p:nvPr>
            <p:ph type="title"/>
          </p:nvPr>
        </p:nvSpPr>
        <p:spPr>
          <a:xfrm>
            <a:off x="2057400" y="-50800"/>
            <a:ext cx="833755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200"/>
              <a:buFont typeface="Calibri"/>
              <a:buNone/>
            </a:pPr>
            <a:r>
              <a:rPr lang="en-US" sz="3200"/>
              <a:t>TCP: Slow Start &amp; Congestion Avoidance (CA)</a:t>
            </a:r>
            <a:br>
              <a:rPr lang="en-US" sz="3200"/>
            </a:br>
            <a:r>
              <a:rPr lang="en-US" sz="3200"/>
              <a:t>(Loss because of Timeout)</a:t>
            </a:r>
            <a:endParaRPr/>
          </a:p>
        </p:txBody>
      </p:sp>
      <p:sp>
        <p:nvSpPr>
          <p:cNvPr id="7566" name="Google Shape;7566;p16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7567" name="Google Shape;7567;p166"/>
          <p:cNvPicPr preferRelativeResize="0"/>
          <p:nvPr/>
        </p:nvPicPr>
        <p:blipFill rotWithShape="1">
          <a:blip r:embed="rId3">
            <a:alphaModFix/>
          </a:blip>
          <a:srcRect b="0" l="0" r="0" t="0"/>
          <a:stretch/>
        </p:blipFill>
        <p:spPr>
          <a:xfrm>
            <a:off x="5306068" y="884504"/>
            <a:ext cx="6424913" cy="338190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64"/>
                                        </p:tgtEl>
                                        <p:attrNameLst>
                                          <p:attrName>style.visibility</p:attrName>
                                        </p:attrNameLst>
                                      </p:cBhvr>
                                      <p:to>
                                        <p:strVal val="visible"/>
                                      </p:to>
                                    </p:set>
                                    <p:animEffect filter="fade" transition="in">
                                      <p:cBhvr>
                                        <p:cTn dur="500"/>
                                        <p:tgtEl>
                                          <p:spTgt spid="75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1" name="Shape 7571"/>
        <p:cNvGrpSpPr/>
        <p:nvPr/>
      </p:nvGrpSpPr>
      <p:grpSpPr>
        <a:xfrm>
          <a:off x="0" y="0"/>
          <a:ext cx="0" cy="0"/>
          <a:chOff x="0" y="0"/>
          <a:chExt cx="0" cy="0"/>
        </a:xfrm>
      </p:grpSpPr>
      <p:sp>
        <p:nvSpPr>
          <p:cNvPr id="7572" name="Google Shape;7572;p167"/>
          <p:cNvSpPr/>
          <p:nvPr/>
        </p:nvSpPr>
        <p:spPr>
          <a:xfrm>
            <a:off x="7372350" y="3621088"/>
            <a:ext cx="839788" cy="195262"/>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7573" name="Google Shape;7573;p167"/>
          <p:cNvSpPr/>
          <p:nvPr/>
        </p:nvSpPr>
        <p:spPr>
          <a:xfrm>
            <a:off x="1598614" y="3686176"/>
            <a:ext cx="3241675" cy="2227263"/>
          </a:xfrm>
          <a:prstGeom prst="rect">
            <a:avLst/>
          </a:prstGeom>
          <a:solidFill>
            <a:srgbClr val="B3C6E7"/>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574" name="Google Shape;7574;p167"/>
          <p:cNvSpPr txBox="1"/>
          <p:nvPr/>
        </p:nvSpPr>
        <p:spPr>
          <a:xfrm>
            <a:off x="7088188" y="4926015"/>
            <a:ext cx="2873375" cy="830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TR  = Transmission Round</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CW = Congestion Window</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SS  = Segment Send</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Courier New"/>
                <a:ea typeface="Courier New"/>
                <a:cs typeface="Courier New"/>
                <a:sym typeface="Courier New"/>
              </a:rPr>
              <a:t>ssthresh </a:t>
            </a:r>
            <a:r>
              <a:rPr lang="en-US" sz="1200">
                <a:solidFill>
                  <a:schemeClr val="dk1"/>
                </a:solidFill>
                <a:latin typeface="Arial"/>
                <a:ea typeface="Arial"/>
                <a:cs typeface="Arial"/>
                <a:sym typeface="Arial"/>
              </a:rPr>
              <a:t>= Slow Start Threshold</a:t>
            </a:r>
            <a:endParaRPr/>
          </a:p>
        </p:txBody>
      </p:sp>
      <p:sp>
        <p:nvSpPr>
          <p:cNvPr id="7575" name="Google Shape;7575;p167"/>
          <p:cNvSpPr txBox="1"/>
          <p:nvPr/>
        </p:nvSpPr>
        <p:spPr>
          <a:xfrm>
            <a:off x="1703389" y="3816350"/>
            <a:ext cx="3106737" cy="16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t/>
            </a:r>
            <a:endParaRPr sz="14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TR 9 to 12 (refer table)</a:t>
            </a:r>
            <a:endParaRPr/>
          </a:p>
          <a:p>
            <a:pPr indent="-88900" lvl="0" marL="0" marR="0" rtl="0" algn="l">
              <a:lnSpc>
                <a:spcPct val="100000"/>
              </a:lnSpc>
              <a:spcBef>
                <a:spcPts val="0"/>
              </a:spcBef>
              <a:spcAft>
                <a:spcPts val="0"/>
              </a:spcAft>
              <a:buClr>
                <a:schemeClr val="dk1"/>
              </a:buClr>
              <a:buSzPts val="1400"/>
              <a:buFont typeface="Noto Sans Symbols"/>
              <a:buChar char="📫"/>
            </a:pPr>
            <a:r>
              <a:rPr lang="en-US" sz="1400">
                <a:solidFill>
                  <a:schemeClr val="dk1"/>
                </a:solidFill>
                <a:latin typeface="Tahoma"/>
                <a:ea typeface="Tahoma"/>
                <a:cs typeface="Tahoma"/>
                <a:sym typeface="Tahoma"/>
              </a:rPr>
              <a:t> CW=1, and  </a:t>
            </a:r>
            <a:r>
              <a:rPr b="1" lang="en-US" sz="1400">
                <a:solidFill>
                  <a:srgbClr val="FF0000"/>
                </a:solidFill>
                <a:latin typeface="Courier New"/>
                <a:ea typeface="Courier New"/>
                <a:cs typeface="Courier New"/>
                <a:sym typeface="Courier New"/>
              </a:rPr>
              <a:t>ssthresh=6</a:t>
            </a:r>
            <a:r>
              <a:rPr b="1" lang="en-US" sz="1400">
                <a:solidFill>
                  <a:srgbClr val="FF0000"/>
                </a:solidFill>
                <a:latin typeface="Tahoma"/>
                <a:ea typeface="Tahoma"/>
                <a:cs typeface="Tahoma"/>
                <a:sym typeface="Tahoma"/>
              </a:rPr>
              <a:t> </a:t>
            </a:r>
            <a:endParaRPr/>
          </a:p>
          <a:p>
            <a:pPr indent="-88900" lvl="0" marL="0" marR="0" rtl="0" algn="l">
              <a:lnSpc>
                <a:spcPct val="100000"/>
              </a:lnSpc>
              <a:spcBef>
                <a:spcPts val="0"/>
              </a:spcBef>
              <a:spcAft>
                <a:spcPts val="0"/>
              </a:spcAft>
              <a:buClr>
                <a:schemeClr val="dk1"/>
              </a:buClr>
              <a:buSzPts val="1400"/>
              <a:buFont typeface="Noto Sans Symbols"/>
              <a:buChar char="📫"/>
            </a:pPr>
            <a:r>
              <a:rPr lang="en-US" sz="1400">
                <a:solidFill>
                  <a:schemeClr val="dk1"/>
                </a:solidFill>
                <a:latin typeface="Tahoma"/>
                <a:ea typeface="Tahoma"/>
                <a:cs typeface="Tahoma"/>
                <a:sym typeface="Tahoma"/>
              </a:rPr>
              <a:t> Start Slow, Exponential Growth</a:t>
            </a:r>
            <a:endParaRPr/>
          </a:p>
          <a:p>
            <a:pPr indent="0" lvl="0" marL="0" marR="0" rtl="0" algn="l">
              <a:lnSpc>
                <a:spcPct val="100000"/>
              </a:lnSpc>
              <a:spcBef>
                <a:spcPts val="0"/>
              </a:spcBef>
              <a:spcAft>
                <a:spcPts val="0"/>
              </a:spcAft>
              <a:buClr>
                <a:schemeClr val="dk1"/>
              </a:buClr>
              <a:buSzPts val="1400"/>
              <a:buFont typeface="Noto Sans Symbols"/>
              <a:buNone/>
            </a:pPr>
            <a:r>
              <a:t/>
            </a:r>
            <a:endParaRPr sz="14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TR 13 to 15</a:t>
            </a:r>
            <a:endParaRPr/>
          </a:p>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Tahoma"/>
                <a:ea typeface="Tahoma"/>
                <a:cs typeface="Tahoma"/>
                <a:sym typeface="Tahoma"/>
              </a:rPr>
              <a:t>- Operate at CA, Linear Growth</a:t>
            </a:r>
            <a:endParaRPr/>
          </a:p>
        </p:txBody>
      </p:sp>
      <p:sp>
        <p:nvSpPr>
          <p:cNvPr id="7576" name="Google Shape;7576;p167"/>
          <p:cNvSpPr/>
          <p:nvPr/>
        </p:nvSpPr>
        <p:spPr>
          <a:xfrm>
            <a:off x="6762750" y="3687764"/>
            <a:ext cx="812800" cy="18732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7577" name="Google Shape;7577;p167"/>
          <p:cNvSpPr/>
          <p:nvPr/>
        </p:nvSpPr>
        <p:spPr>
          <a:xfrm>
            <a:off x="6681788" y="3729039"/>
            <a:ext cx="812800" cy="7143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graphicFrame>
        <p:nvGraphicFramePr>
          <p:cNvPr id="7578" name="Google Shape;7578;p167"/>
          <p:cNvGraphicFramePr/>
          <p:nvPr/>
        </p:nvGraphicFramePr>
        <p:xfrm>
          <a:off x="1598613" y="1009651"/>
          <a:ext cx="3000000" cy="3000000"/>
        </p:xfrm>
        <a:graphic>
          <a:graphicData uri="http://schemas.openxmlformats.org/drawingml/2006/table">
            <a:tbl>
              <a:tblPr bandRow="1" firstRow="1">
                <a:noFill/>
                <a:tableStyleId>{6A801659-9FE2-4FBA-BB42-B8B3FDABCD59}</a:tableStyleId>
              </a:tblPr>
              <a:tblGrid>
                <a:gridCol w="714750"/>
                <a:gridCol w="497850"/>
                <a:gridCol w="479150"/>
                <a:gridCol w="518175"/>
                <a:gridCol w="1036525"/>
              </a:tblGrid>
              <a:tr h="518225">
                <a:tc>
                  <a:txBody>
                    <a:bodyPr/>
                    <a:lstStyle/>
                    <a:p>
                      <a:pPr indent="0" lvl="0" marL="0" marR="0" rtl="0" algn="ctr">
                        <a:spcBef>
                          <a:spcPts val="0"/>
                        </a:spcBef>
                        <a:spcAft>
                          <a:spcPts val="0"/>
                        </a:spcAft>
                        <a:buNone/>
                      </a:pPr>
                      <a:r>
                        <a:rPr b="0" lang="en-US" sz="1400">
                          <a:latin typeface="Arial"/>
                          <a:ea typeface="Arial"/>
                          <a:cs typeface="Arial"/>
                          <a:sym typeface="Arial"/>
                        </a:rPr>
                        <a:t>Phase</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TR</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CW</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SS</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Courier New"/>
                          <a:ea typeface="Courier New"/>
                          <a:cs typeface="Courier New"/>
                          <a:sym typeface="Courier New"/>
                        </a:rPr>
                        <a:t>ssthresh</a:t>
                      </a:r>
                      <a:endParaRPr b="0" sz="1400">
                        <a:latin typeface="Courier New"/>
                        <a:ea typeface="Courier New"/>
                        <a:cs typeface="Courier New"/>
                        <a:sym typeface="Courier New"/>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850">
                <a:tc rowSpan="4">
                  <a:txBody>
                    <a:bodyPr/>
                    <a:lstStyle/>
                    <a:p>
                      <a:pPr indent="0" lvl="0" marL="0" marR="0" rtl="0" algn="ctr">
                        <a:spcBef>
                          <a:spcPts val="0"/>
                        </a:spcBef>
                        <a:spcAft>
                          <a:spcPts val="0"/>
                        </a:spcAft>
                        <a:buNone/>
                      </a:pPr>
                      <a:r>
                        <a:t/>
                      </a:r>
                      <a:endParaRPr sz="1400">
                        <a:latin typeface="Arial"/>
                        <a:ea typeface="Arial"/>
                        <a:cs typeface="Arial"/>
                        <a:sym typeface="Arial"/>
                      </a:endParaRPr>
                    </a:p>
                    <a:p>
                      <a:pPr indent="0" lvl="0" marL="0" marR="0" rtl="0" algn="ctr">
                        <a:spcBef>
                          <a:spcPts val="0"/>
                        </a:spcBef>
                        <a:spcAft>
                          <a:spcPts val="0"/>
                        </a:spcAft>
                        <a:buNone/>
                      </a:pPr>
                      <a:r>
                        <a:rPr lang="en-US" sz="1400">
                          <a:latin typeface="Arial"/>
                          <a:ea typeface="Arial"/>
                          <a:cs typeface="Arial"/>
                          <a:sym typeface="Arial"/>
                        </a:rPr>
                        <a:t>Slow Start</a:t>
                      </a:r>
                      <a:endParaRPr/>
                    </a:p>
                    <a:p>
                      <a:pPr indent="0" lvl="0" marL="0" marR="0" rtl="0" algn="ctr">
                        <a:spcBef>
                          <a:spcPts val="0"/>
                        </a:spcBef>
                        <a:spcAft>
                          <a:spcPts val="0"/>
                        </a:spcAft>
                        <a:buNone/>
                      </a:pPr>
                      <a:r>
                        <a:rPr lang="en-US" sz="1400">
                          <a:latin typeface="Arial"/>
                          <a:ea typeface="Arial"/>
                          <a:cs typeface="Arial"/>
                          <a:sym typeface="Arial"/>
                        </a:rPr>
                        <a:t>(2)</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9</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chemeClr val="lt1"/>
                          </a:solidFill>
                          <a:latin typeface="Arial"/>
                          <a:ea typeface="Arial"/>
                          <a:cs typeface="Arial"/>
                          <a:sym typeface="Arial"/>
                        </a:rPr>
                        <a:t>1</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00000"/>
                    </a:solidFill>
                  </a:tcPr>
                </a:tc>
                <a:tc>
                  <a:txBody>
                    <a:bodyPr/>
                    <a:lstStyle/>
                    <a:p>
                      <a:pPr indent="0" lvl="0" marL="0" marR="0" rtl="0" algn="ctr">
                        <a:spcBef>
                          <a:spcPts val="0"/>
                        </a:spcBef>
                        <a:spcAft>
                          <a:spcPts val="0"/>
                        </a:spcAft>
                        <a:buNone/>
                      </a:pPr>
                      <a:r>
                        <a:rPr lang="en-US" sz="1400">
                          <a:latin typeface="Arial"/>
                          <a:ea typeface="Arial"/>
                          <a:cs typeface="Arial"/>
                          <a:sym typeface="Arial"/>
                        </a:rPr>
                        <a:t>58</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a:solidFill>
                            <a:srgbClr val="FF0000"/>
                          </a:solidFill>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850">
                <a:tc vMerge="1"/>
                <a:tc>
                  <a:txBody>
                    <a:bodyPr/>
                    <a:lstStyle/>
                    <a:p>
                      <a:pPr indent="0" lvl="0" marL="0" marR="0" rtl="0" algn="ctr">
                        <a:spcBef>
                          <a:spcPts val="0"/>
                        </a:spcBef>
                        <a:spcAft>
                          <a:spcPts val="0"/>
                        </a:spcAft>
                        <a:buNone/>
                      </a:pPr>
                      <a:r>
                        <a:rPr lang="en-US" sz="1400">
                          <a:latin typeface="Arial"/>
                          <a:ea typeface="Arial"/>
                          <a:cs typeface="Arial"/>
                          <a:sym typeface="Arial"/>
                        </a:rPr>
                        <a:t>10</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2</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60</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a:solidFill>
                            <a:srgbClr val="FF0000"/>
                          </a:solidFill>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850">
                <a:tc vMerge="1"/>
                <a:tc>
                  <a:txBody>
                    <a:bodyPr/>
                    <a:lstStyle/>
                    <a:p>
                      <a:pPr indent="0" lvl="0" marL="0" marR="0" rtl="0" algn="ctr">
                        <a:spcBef>
                          <a:spcPts val="0"/>
                        </a:spcBef>
                        <a:spcAft>
                          <a:spcPts val="0"/>
                        </a:spcAft>
                        <a:buNone/>
                      </a:pPr>
                      <a:r>
                        <a:rPr lang="en-US" sz="1400">
                          <a:latin typeface="Arial"/>
                          <a:ea typeface="Arial"/>
                          <a:cs typeface="Arial"/>
                          <a:sym typeface="Arial"/>
                        </a:rPr>
                        <a:t>11</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4</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64</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a:solidFill>
                            <a:srgbClr val="FF0000"/>
                          </a:solidFill>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18175">
                <a:tc vMerge="1"/>
                <a:tc>
                  <a:txBody>
                    <a:bodyPr/>
                    <a:lstStyle/>
                    <a:p>
                      <a:pPr indent="0" lvl="0" marL="0" marR="0" rtl="0" algn="ctr">
                        <a:spcBef>
                          <a:spcPts val="0"/>
                        </a:spcBef>
                        <a:spcAft>
                          <a:spcPts val="0"/>
                        </a:spcAft>
                        <a:buNone/>
                      </a:pPr>
                      <a:r>
                        <a:rPr lang="en-US" sz="1400">
                          <a:latin typeface="Arial"/>
                          <a:ea typeface="Arial"/>
                          <a:cs typeface="Arial"/>
                          <a:sym typeface="Arial"/>
                        </a:rPr>
                        <a:t>12</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chemeClr val="lt1"/>
                          </a:solidFill>
                          <a:latin typeface="Arial"/>
                          <a:ea typeface="Arial"/>
                          <a:cs typeface="Arial"/>
                          <a:sym typeface="Arial"/>
                        </a:rPr>
                        <a:t>6 (8)</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0000"/>
                    </a:solidFill>
                  </a:tcPr>
                </a:tc>
                <a:tc>
                  <a:txBody>
                    <a:bodyPr/>
                    <a:lstStyle/>
                    <a:p>
                      <a:pPr indent="0" lvl="0" marL="0" marR="0" rtl="0" algn="ctr">
                        <a:spcBef>
                          <a:spcPts val="0"/>
                        </a:spcBef>
                        <a:spcAft>
                          <a:spcPts val="0"/>
                        </a:spcAft>
                        <a:buNone/>
                      </a:pPr>
                      <a:r>
                        <a:rPr lang="en-US" sz="1400">
                          <a:latin typeface="Arial"/>
                          <a:ea typeface="Arial"/>
                          <a:cs typeface="Arial"/>
                          <a:sym typeface="Arial"/>
                        </a:rPr>
                        <a:t>70</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a:solidFill>
                            <a:srgbClr val="FF0000"/>
                          </a:solidFill>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850">
                <a:tc rowSpan="3">
                  <a:txBody>
                    <a:bodyPr/>
                    <a:lstStyle/>
                    <a:p>
                      <a:pPr indent="0" lvl="0" marL="0" marR="0" rtl="0" algn="ctr">
                        <a:spcBef>
                          <a:spcPts val="0"/>
                        </a:spcBef>
                        <a:spcAft>
                          <a:spcPts val="0"/>
                        </a:spcAft>
                        <a:buNone/>
                      </a:pPr>
                      <a:r>
                        <a:t/>
                      </a:r>
                      <a:endParaRPr sz="1400">
                        <a:latin typeface="Arial"/>
                        <a:ea typeface="Arial"/>
                        <a:cs typeface="Arial"/>
                        <a:sym typeface="Arial"/>
                      </a:endParaRPr>
                    </a:p>
                    <a:p>
                      <a:pPr indent="0" lvl="0" marL="0" marR="0" rtl="0" algn="ctr">
                        <a:spcBef>
                          <a:spcPts val="0"/>
                        </a:spcBef>
                        <a:spcAft>
                          <a:spcPts val="0"/>
                        </a:spcAft>
                        <a:buNone/>
                      </a:pPr>
                      <a:r>
                        <a:rPr lang="en-US" sz="1400">
                          <a:latin typeface="Arial"/>
                          <a:ea typeface="Arial"/>
                          <a:cs typeface="Arial"/>
                          <a:sym typeface="Arial"/>
                        </a:rPr>
                        <a:t>CA</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13</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7</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77</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a:solidFill>
                            <a:srgbClr val="FF0000"/>
                          </a:solidFill>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850">
                <a:tc vMerge="1"/>
                <a:tc>
                  <a:txBody>
                    <a:bodyPr/>
                    <a:lstStyle/>
                    <a:p>
                      <a:pPr indent="0" lvl="0" marL="0" marR="0" rtl="0" algn="ctr">
                        <a:spcBef>
                          <a:spcPts val="0"/>
                        </a:spcBef>
                        <a:spcAft>
                          <a:spcPts val="0"/>
                        </a:spcAft>
                        <a:buNone/>
                      </a:pPr>
                      <a:r>
                        <a:rPr lang="en-US" sz="1400">
                          <a:latin typeface="Arial"/>
                          <a:ea typeface="Arial"/>
                          <a:cs typeface="Arial"/>
                          <a:sym typeface="Arial"/>
                        </a:rPr>
                        <a:t>14</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85</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a:solidFill>
                            <a:srgbClr val="FF0000"/>
                          </a:solidFill>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850">
                <a:tc vMerge="1"/>
                <a:tc>
                  <a:txBody>
                    <a:bodyPr/>
                    <a:lstStyle/>
                    <a:p>
                      <a:pPr indent="0" lvl="0" marL="0" marR="0" rtl="0" algn="ctr">
                        <a:spcBef>
                          <a:spcPts val="0"/>
                        </a:spcBef>
                        <a:spcAft>
                          <a:spcPts val="0"/>
                        </a:spcAft>
                        <a:buNone/>
                      </a:pPr>
                      <a:r>
                        <a:rPr lang="en-US" sz="1400">
                          <a:latin typeface="Arial"/>
                          <a:ea typeface="Arial"/>
                          <a:cs typeface="Arial"/>
                          <a:sym typeface="Arial"/>
                        </a:rPr>
                        <a:t>15</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9</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94</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en-US" sz="1400">
                          <a:solidFill>
                            <a:srgbClr val="FF0000"/>
                          </a:solidFill>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7579" name="Google Shape;7579;p167"/>
          <p:cNvSpPr txBox="1"/>
          <p:nvPr>
            <p:ph type="title"/>
          </p:nvPr>
        </p:nvSpPr>
        <p:spPr>
          <a:xfrm>
            <a:off x="2057400" y="-50800"/>
            <a:ext cx="833755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200"/>
              <a:buFont typeface="Calibri"/>
              <a:buNone/>
            </a:pPr>
            <a:r>
              <a:rPr lang="en-US" sz="3200"/>
              <a:t>TCP: Slow Start &amp; Congestion Avoidance (CA)</a:t>
            </a:r>
            <a:br>
              <a:rPr lang="en-US" sz="3200"/>
            </a:br>
            <a:r>
              <a:rPr lang="en-US" sz="3200"/>
              <a:t>(Loss because of Timeout)</a:t>
            </a:r>
            <a:endParaRPr/>
          </a:p>
        </p:txBody>
      </p:sp>
      <p:sp>
        <p:nvSpPr>
          <p:cNvPr id="7580" name="Google Shape;7580;p16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7581" name="Google Shape;7581;p167"/>
          <p:cNvPicPr preferRelativeResize="0"/>
          <p:nvPr/>
        </p:nvPicPr>
        <p:blipFill rotWithShape="1">
          <a:blip r:embed="rId3">
            <a:alphaModFix/>
          </a:blip>
          <a:srcRect b="0" l="0" r="0" t="0"/>
          <a:stretch/>
        </p:blipFill>
        <p:spPr>
          <a:xfrm>
            <a:off x="5025062" y="902782"/>
            <a:ext cx="6572578" cy="3779398"/>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6" name="Shape 7586"/>
        <p:cNvGrpSpPr/>
        <p:nvPr/>
      </p:nvGrpSpPr>
      <p:grpSpPr>
        <a:xfrm>
          <a:off x="0" y="0"/>
          <a:ext cx="0" cy="0"/>
          <a:chOff x="0" y="0"/>
          <a:chExt cx="0" cy="0"/>
        </a:xfrm>
      </p:grpSpPr>
      <p:sp>
        <p:nvSpPr>
          <p:cNvPr id="7587" name="Google Shape;7587;p168"/>
          <p:cNvSpPr txBox="1"/>
          <p:nvPr>
            <p:ph idx="1" type="body"/>
          </p:nvPr>
        </p:nvSpPr>
        <p:spPr>
          <a:xfrm>
            <a:off x="1806576" y="1519238"/>
            <a:ext cx="2968625" cy="3319462"/>
          </a:xfrm>
          <a:prstGeom prst="rect">
            <a:avLst/>
          </a:prstGeom>
          <a:noFill/>
          <a:ln>
            <a:noFill/>
          </a:ln>
        </p:spPr>
        <p:txBody>
          <a:bodyPr anchorCtr="0" anchor="t" bIns="45700" lIns="91425" spcFirstLastPara="1" rIns="91425" wrap="square" tIns="45700">
            <a:normAutofit fontScale="92500" lnSpcReduction="10000"/>
          </a:bodyPr>
          <a:lstStyle/>
          <a:p>
            <a:pPr indent="-222250" lvl="0" marL="352425" rtl="0" algn="l">
              <a:lnSpc>
                <a:spcPct val="90000"/>
              </a:lnSpc>
              <a:spcBef>
                <a:spcPts val="0"/>
              </a:spcBef>
              <a:spcAft>
                <a:spcPts val="0"/>
              </a:spcAft>
              <a:buSzPct val="100000"/>
              <a:buFont typeface="Noto Sans Symbols"/>
              <a:buNone/>
            </a:pPr>
            <a:r>
              <a:rPr lang="en-US" sz="2400"/>
              <a:t>Earlier version of TCP (</a:t>
            </a:r>
            <a:r>
              <a:rPr lang="en-US" sz="2400">
                <a:solidFill>
                  <a:srgbClr val="2F5496"/>
                </a:solidFill>
              </a:rPr>
              <a:t>TCP TAHOE</a:t>
            </a:r>
            <a:r>
              <a:rPr lang="en-US" sz="2400"/>
              <a:t>) entered Slow start</a:t>
            </a:r>
            <a:endParaRPr/>
          </a:p>
          <a:p>
            <a:pPr indent="-222250" lvl="0" marL="352425" rtl="0" algn="l">
              <a:lnSpc>
                <a:spcPct val="90000"/>
              </a:lnSpc>
              <a:spcBef>
                <a:spcPts val="1000"/>
              </a:spcBef>
              <a:spcAft>
                <a:spcPts val="0"/>
              </a:spcAft>
              <a:buSzPct val="100000"/>
              <a:buFont typeface="Noto Sans Symbols"/>
              <a:buNone/>
            </a:pPr>
            <a:r>
              <a:t/>
            </a:r>
            <a:endParaRPr sz="2400">
              <a:solidFill>
                <a:srgbClr val="FF0000"/>
              </a:solidFill>
            </a:endParaRPr>
          </a:p>
          <a:p>
            <a:pPr indent="-222250" lvl="0" marL="352425" rtl="0" algn="l">
              <a:lnSpc>
                <a:spcPct val="90000"/>
              </a:lnSpc>
              <a:spcBef>
                <a:spcPts val="1000"/>
              </a:spcBef>
              <a:spcAft>
                <a:spcPts val="0"/>
              </a:spcAft>
              <a:buSzPct val="100000"/>
              <a:buFont typeface="Noto Sans Symbols"/>
              <a:buNone/>
            </a:pPr>
            <a:r>
              <a:rPr lang="en-US" sz="2400"/>
              <a:t>Newer version of TCP (</a:t>
            </a:r>
            <a:r>
              <a:rPr lang="en-US" sz="2400">
                <a:solidFill>
                  <a:srgbClr val="2F5496"/>
                </a:solidFill>
              </a:rPr>
              <a:t>TCP RENO</a:t>
            </a:r>
            <a:r>
              <a:rPr lang="en-US" sz="2400"/>
              <a:t>) incorporated fast recovery</a:t>
            </a:r>
            <a:endParaRPr/>
          </a:p>
          <a:p>
            <a:pPr indent="-222250" lvl="0" marL="352425" rtl="0" algn="l">
              <a:lnSpc>
                <a:spcPct val="90000"/>
              </a:lnSpc>
              <a:spcBef>
                <a:spcPts val="1000"/>
              </a:spcBef>
              <a:spcAft>
                <a:spcPts val="0"/>
              </a:spcAft>
              <a:buSzPct val="100000"/>
              <a:buFont typeface="Noto Sans Symbols"/>
              <a:buNone/>
            </a:pPr>
            <a:r>
              <a:t/>
            </a:r>
            <a:endParaRPr sz="2000"/>
          </a:p>
          <a:p>
            <a:pPr indent="-222250" lvl="0" marL="352425" rtl="0" algn="l">
              <a:lnSpc>
                <a:spcPct val="90000"/>
              </a:lnSpc>
              <a:spcBef>
                <a:spcPts val="1000"/>
              </a:spcBef>
              <a:spcAft>
                <a:spcPts val="0"/>
              </a:spcAft>
              <a:buSzPct val="100000"/>
              <a:buFont typeface="Noto Sans Symbols"/>
              <a:buNone/>
            </a:pPr>
            <a:r>
              <a:rPr lang="en-US" sz="2000"/>
              <a:t> </a:t>
            </a:r>
            <a:endParaRPr/>
          </a:p>
        </p:txBody>
      </p:sp>
      <p:sp>
        <p:nvSpPr>
          <p:cNvPr id="7588" name="Google Shape;7588;p168"/>
          <p:cNvSpPr txBox="1"/>
          <p:nvPr>
            <p:ph type="title"/>
          </p:nvPr>
        </p:nvSpPr>
        <p:spPr>
          <a:xfrm>
            <a:off x="1212783" y="-50800"/>
            <a:ext cx="9182167"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200"/>
              <a:buFont typeface="Calibri"/>
              <a:buNone/>
            </a:pPr>
            <a:r>
              <a:rPr lang="en-US" sz="3200"/>
              <a:t>TCP: Fast Recovery </a:t>
            </a:r>
            <a:br>
              <a:rPr lang="en-US" sz="3200"/>
            </a:br>
            <a:r>
              <a:rPr lang="en-US" sz="3200"/>
              <a:t>(Loss because of 3 Duplicate ACK)</a:t>
            </a:r>
            <a:endParaRPr/>
          </a:p>
        </p:txBody>
      </p:sp>
      <p:pic>
        <p:nvPicPr>
          <p:cNvPr id="7589" name="Google Shape;7589;p168"/>
          <p:cNvPicPr preferRelativeResize="0"/>
          <p:nvPr/>
        </p:nvPicPr>
        <p:blipFill rotWithShape="1">
          <a:blip r:embed="rId3">
            <a:alphaModFix/>
          </a:blip>
          <a:srcRect b="0" l="0" r="0" t="0"/>
          <a:stretch/>
        </p:blipFill>
        <p:spPr>
          <a:xfrm>
            <a:off x="4837114" y="1377950"/>
            <a:ext cx="5011737" cy="3308350"/>
          </a:xfrm>
          <a:prstGeom prst="rect">
            <a:avLst/>
          </a:prstGeom>
          <a:noFill/>
          <a:ln>
            <a:noFill/>
          </a:ln>
        </p:spPr>
      </p:pic>
      <p:sp>
        <p:nvSpPr>
          <p:cNvPr id="7590" name="Google Shape;7590;p168"/>
          <p:cNvSpPr/>
          <p:nvPr/>
        </p:nvSpPr>
        <p:spPr>
          <a:xfrm>
            <a:off x="7183439" y="1922464"/>
            <a:ext cx="1582737" cy="307975"/>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400"/>
              <a:buFont typeface="Noto Sans Symbols"/>
              <a:buNone/>
            </a:pPr>
            <a:r>
              <a:rPr lang="en-US" sz="1400">
                <a:solidFill>
                  <a:schemeClr val="lt1"/>
                </a:solidFill>
                <a:latin typeface="Arial"/>
                <a:ea typeface="Arial"/>
                <a:cs typeface="Arial"/>
                <a:sym typeface="Arial"/>
              </a:rPr>
              <a:t>3 Duplicate ACKs</a:t>
            </a:r>
            <a:endParaRPr/>
          </a:p>
        </p:txBody>
      </p:sp>
      <p:sp>
        <p:nvSpPr>
          <p:cNvPr id="7591" name="Google Shape;7591;p168"/>
          <p:cNvSpPr/>
          <p:nvPr/>
        </p:nvSpPr>
        <p:spPr>
          <a:xfrm>
            <a:off x="9653589" y="1736726"/>
            <a:ext cx="936625" cy="523875"/>
          </a:xfrm>
          <a:prstGeom prst="rect">
            <a:avLst/>
          </a:prstGeom>
          <a:solidFill>
            <a:srgbClr val="0070C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400"/>
              <a:buFont typeface="Noto Sans Symbols"/>
              <a:buNone/>
            </a:pPr>
            <a:r>
              <a:rPr lang="en-US" sz="1400">
                <a:solidFill>
                  <a:schemeClr val="lt1"/>
                </a:solidFill>
                <a:latin typeface="Arial"/>
                <a:ea typeface="Arial"/>
                <a:cs typeface="Arial"/>
                <a:sym typeface="Arial"/>
              </a:rPr>
              <a:t>Fast Recovery</a:t>
            </a:r>
            <a:endParaRPr/>
          </a:p>
        </p:txBody>
      </p:sp>
      <p:grpSp>
        <p:nvGrpSpPr>
          <p:cNvPr id="7592" name="Google Shape;7592;p168"/>
          <p:cNvGrpSpPr/>
          <p:nvPr/>
        </p:nvGrpSpPr>
        <p:grpSpPr>
          <a:xfrm>
            <a:off x="8766285" y="3542304"/>
            <a:ext cx="1549289" cy="501057"/>
            <a:chOff x="7107187" y="3576105"/>
            <a:chExt cx="1549903" cy="501889"/>
          </a:xfrm>
        </p:grpSpPr>
        <p:sp>
          <p:nvSpPr>
            <p:cNvPr id="7593" name="Google Shape;7593;p168"/>
            <p:cNvSpPr/>
            <p:nvPr/>
          </p:nvSpPr>
          <p:spPr>
            <a:xfrm>
              <a:off x="7651687" y="3770216"/>
              <a:ext cx="1005403" cy="307777"/>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400"/>
                <a:buFont typeface="Noto Sans Symbols"/>
                <a:buNone/>
              </a:pPr>
              <a:r>
                <a:rPr lang="en-US" sz="1400">
                  <a:solidFill>
                    <a:schemeClr val="lt1"/>
                  </a:solidFill>
                  <a:latin typeface="Arial"/>
                  <a:ea typeface="Arial"/>
                  <a:cs typeface="Arial"/>
                  <a:sym typeface="Arial"/>
                </a:rPr>
                <a:t>Slow Start</a:t>
              </a:r>
              <a:endParaRPr/>
            </a:p>
          </p:txBody>
        </p:sp>
        <p:cxnSp>
          <p:nvCxnSpPr>
            <p:cNvPr id="7594" name="Google Shape;7594;p168"/>
            <p:cNvCxnSpPr>
              <a:endCxn id="7593" idx="1"/>
            </p:cNvCxnSpPr>
            <p:nvPr/>
          </p:nvCxnSpPr>
          <p:spPr>
            <a:xfrm>
              <a:off x="7107187" y="3576105"/>
              <a:ext cx="544500" cy="348000"/>
            </a:xfrm>
            <a:prstGeom prst="straightConnector1">
              <a:avLst/>
            </a:prstGeom>
            <a:noFill/>
            <a:ln cap="flat" cmpd="sng" w="9525">
              <a:solidFill>
                <a:srgbClr val="FF0000"/>
              </a:solidFill>
              <a:prstDash val="solid"/>
              <a:round/>
              <a:headEnd len="med" w="med" type="none"/>
              <a:tailEnd len="med" w="med" type="none"/>
            </a:ln>
          </p:spPr>
        </p:cxnSp>
      </p:grpSp>
      <p:cxnSp>
        <p:nvCxnSpPr>
          <p:cNvPr id="7595" name="Google Shape;7595;p168"/>
          <p:cNvCxnSpPr>
            <a:endCxn id="7593" idx="1"/>
          </p:cNvCxnSpPr>
          <p:nvPr/>
        </p:nvCxnSpPr>
        <p:spPr>
          <a:xfrm>
            <a:off x="6642069" y="3386628"/>
            <a:ext cx="2668500" cy="503100"/>
          </a:xfrm>
          <a:prstGeom prst="straightConnector1">
            <a:avLst/>
          </a:prstGeom>
          <a:noFill/>
          <a:ln cap="flat" cmpd="sng" w="9525">
            <a:solidFill>
              <a:srgbClr val="FF0000"/>
            </a:solidFill>
            <a:prstDash val="solid"/>
            <a:round/>
            <a:headEnd len="med" w="med" type="none"/>
            <a:tailEnd len="med" w="med" type="none"/>
          </a:ln>
        </p:spPr>
      </p:cxnSp>
      <p:sp>
        <p:nvSpPr>
          <p:cNvPr id="7596" name="Google Shape;7596;p168"/>
          <p:cNvSpPr txBox="1"/>
          <p:nvPr/>
        </p:nvSpPr>
        <p:spPr>
          <a:xfrm>
            <a:off x="1806576" y="4523721"/>
            <a:ext cx="8933746"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FF0000"/>
                </a:solidFill>
                <a:latin typeface="Calibri"/>
                <a:ea typeface="Calibri"/>
                <a:cs typeface="Calibri"/>
                <a:sym typeface="Calibri"/>
              </a:rPr>
              <a:t>TCP RENO Implementation</a:t>
            </a:r>
            <a:endParaRPr/>
          </a:p>
          <a:p>
            <a:pPr indent="-127000" lvl="0" marL="0" marR="0" rtl="0" algn="l">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variable </a:t>
            </a:r>
            <a:r>
              <a:rPr b="1" lang="en-US" sz="2000">
                <a:solidFill>
                  <a:schemeClr val="dk1"/>
                </a:solidFill>
                <a:latin typeface="Courier New"/>
                <a:ea typeface="Courier New"/>
                <a:cs typeface="Courier New"/>
                <a:sym typeface="Courier New"/>
              </a:rPr>
              <a:t>ssthresh (slow-start threshold)</a:t>
            </a:r>
            <a:endParaRPr sz="2000">
              <a:solidFill>
                <a:schemeClr val="dk1"/>
              </a:solidFill>
              <a:latin typeface="Courier New"/>
              <a:ea typeface="Courier New"/>
              <a:cs typeface="Courier New"/>
              <a:sym typeface="Courier New"/>
            </a:endParaRPr>
          </a:p>
          <a:p>
            <a:pPr indent="-127000" lvl="0" marL="0" marR="0" rtl="0" algn="l">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on loss event:</a:t>
            </a:r>
            <a:endParaRPr/>
          </a:p>
          <a:p>
            <a:pPr indent="-127000" lvl="1" marL="457200" marR="0" rtl="0" algn="l">
              <a:spcBef>
                <a:spcPts val="0"/>
              </a:spcBef>
              <a:spcAft>
                <a:spcPts val="0"/>
              </a:spcAft>
              <a:buClr>
                <a:schemeClr val="dk1"/>
              </a:buClr>
              <a:buSzPts val="2000"/>
              <a:buFont typeface="Noto Sans Symbols"/>
              <a:buChar char="❖"/>
            </a:pPr>
            <a:r>
              <a:rPr b="1" i="0" lang="en-US" sz="2000" u="none" cap="none" strike="noStrike">
                <a:solidFill>
                  <a:schemeClr val="dk1"/>
                </a:solidFill>
                <a:latin typeface="Courier New"/>
                <a:ea typeface="Courier New"/>
                <a:cs typeface="Courier New"/>
                <a:sym typeface="Courier New"/>
              </a:rPr>
              <a:t>ssthresh</a:t>
            </a:r>
            <a:r>
              <a:rPr b="0" i="0" lang="en-US" sz="2000" u="none" cap="none" strike="noStrike">
                <a:solidFill>
                  <a:schemeClr val="dk1"/>
                </a:solidFill>
                <a:latin typeface="Calibri"/>
                <a:ea typeface="Calibri"/>
                <a:cs typeface="Calibri"/>
                <a:sym typeface="Calibri"/>
              </a:rPr>
              <a:t> is set to ½ (half) of </a:t>
            </a:r>
            <a:r>
              <a:rPr b="1" i="0" lang="en-US" sz="2000" u="none" cap="none" strike="noStrike">
                <a:solidFill>
                  <a:schemeClr val="dk1"/>
                </a:solidFill>
                <a:latin typeface="Courier New"/>
                <a:ea typeface="Courier New"/>
                <a:cs typeface="Courier New"/>
                <a:sym typeface="Courier New"/>
              </a:rPr>
              <a:t>cwnd(cwnd/2) </a:t>
            </a:r>
            <a:r>
              <a:rPr b="0" i="0" lang="en-US" sz="2000" u="none" cap="none" strike="noStrike">
                <a:solidFill>
                  <a:schemeClr val="dk1"/>
                </a:solidFill>
                <a:latin typeface="Calibri"/>
                <a:ea typeface="Calibri"/>
                <a:cs typeface="Calibri"/>
                <a:sym typeface="Calibri"/>
              </a:rPr>
              <a:t>just before loss event</a:t>
            </a:r>
            <a:endParaRPr/>
          </a:p>
          <a:p>
            <a:pPr indent="-127000" lvl="1" marL="457200" marR="0" rtl="0" algn="l">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Set </a:t>
            </a:r>
            <a:r>
              <a:rPr b="1" i="0" lang="en-US" sz="2000" u="none" cap="none" strike="noStrike">
                <a:solidFill>
                  <a:schemeClr val="dk1"/>
                </a:solidFill>
                <a:latin typeface="Calibri"/>
                <a:ea typeface="Calibri"/>
                <a:cs typeface="Calibri"/>
                <a:sym typeface="Calibri"/>
              </a:rPr>
              <a:t>cwnd value </a:t>
            </a:r>
            <a:r>
              <a:rPr b="0" i="0" lang="en-US" sz="2000" u="none" cap="none" strike="noStrike">
                <a:solidFill>
                  <a:schemeClr val="dk1"/>
                </a:solidFill>
                <a:latin typeface="Calibri"/>
                <a:ea typeface="Calibri"/>
                <a:cs typeface="Calibri"/>
                <a:sym typeface="Calibri"/>
              </a:rPr>
              <a:t>to ssthresh plus 3 (ssthresh+3) the segment size</a:t>
            </a:r>
            <a:endParaRPr/>
          </a:p>
          <a:p>
            <a:pPr indent="-127000" lvl="2" marL="914400" marR="0" rtl="0" algn="l">
              <a:spcBef>
                <a:spcPts val="0"/>
              </a:spcBef>
              <a:spcAft>
                <a:spcPts val="0"/>
              </a:spcAft>
              <a:buClr>
                <a:schemeClr val="dk1"/>
              </a:buClr>
              <a:buSzPts val="2000"/>
              <a:buFont typeface="Noto Sans Symbols"/>
              <a:buChar char="❖"/>
            </a:pPr>
            <a:r>
              <a:rPr b="1" i="0" lang="en-US" sz="2000" u="none" cap="none" strike="noStrike">
                <a:solidFill>
                  <a:schemeClr val="dk1"/>
                </a:solidFill>
                <a:latin typeface="Calibri"/>
                <a:ea typeface="Calibri"/>
                <a:cs typeface="Calibri"/>
                <a:sym typeface="Calibri"/>
              </a:rPr>
              <a:t>The equation 🡪 cwnd=ssthresh + 3MSS</a:t>
            </a:r>
            <a:endParaRPr b="1" i="0" sz="2000" u="none" cap="none" strike="noStrike">
              <a:solidFill>
                <a:schemeClr val="dk1"/>
              </a:solidFill>
              <a:latin typeface="Calibri"/>
              <a:ea typeface="Calibri"/>
              <a:cs typeface="Calibri"/>
              <a:sym typeface="Calibri"/>
            </a:endParaRPr>
          </a:p>
        </p:txBody>
      </p:sp>
      <p:sp>
        <p:nvSpPr>
          <p:cNvPr id="7597" name="Google Shape;7597;p16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5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1" name="Shape 7601"/>
        <p:cNvGrpSpPr/>
        <p:nvPr/>
      </p:nvGrpSpPr>
      <p:grpSpPr>
        <a:xfrm>
          <a:off x="0" y="0"/>
          <a:ext cx="0" cy="0"/>
          <a:chOff x="0" y="0"/>
          <a:chExt cx="0" cy="0"/>
        </a:xfrm>
      </p:grpSpPr>
      <p:pic>
        <p:nvPicPr>
          <p:cNvPr id="7602" name="Google Shape;7602;p169"/>
          <p:cNvPicPr preferRelativeResize="0"/>
          <p:nvPr/>
        </p:nvPicPr>
        <p:blipFill rotWithShape="1">
          <a:blip r:embed="rId3">
            <a:alphaModFix/>
          </a:blip>
          <a:srcRect b="0" l="0" r="0" t="0"/>
          <a:stretch/>
        </p:blipFill>
        <p:spPr>
          <a:xfrm>
            <a:off x="5054601" y="1222376"/>
            <a:ext cx="5451475" cy="3598863"/>
          </a:xfrm>
          <a:prstGeom prst="rect">
            <a:avLst/>
          </a:prstGeom>
          <a:noFill/>
          <a:ln>
            <a:noFill/>
          </a:ln>
        </p:spPr>
      </p:pic>
      <p:sp>
        <p:nvSpPr>
          <p:cNvPr id="7603" name="Google Shape;7603;p169"/>
          <p:cNvSpPr/>
          <p:nvPr/>
        </p:nvSpPr>
        <p:spPr>
          <a:xfrm>
            <a:off x="1930401" y="4543426"/>
            <a:ext cx="3063875" cy="2227263"/>
          </a:xfrm>
          <a:prstGeom prst="rect">
            <a:avLst/>
          </a:prstGeom>
          <a:solidFill>
            <a:srgbClr val="2E75B5"/>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604" name="Google Shape;7604;p169"/>
          <p:cNvSpPr txBox="1"/>
          <p:nvPr/>
        </p:nvSpPr>
        <p:spPr>
          <a:xfrm>
            <a:off x="5900738" y="123826"/>
            <a:ext cx="4767262" cy="62706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2800"/>
              <a:buFont typeface="Noto Sans Symbols"/>
              <a:buNone/>
            </a:pPr>
            <a:r>
              <a:rPr lang="en-US" sz="2800">
                <a:solidFill>
                  <a:srgbClr val="FFFFFF"/>
                </a:solidFill>
                <a:latin typeface="Arial"/>
                <a:ea typeface="Arial"/>
                <a:cs typeface="Arial"/>
                <a:sym typeface="Arial"/>
              </a:rPr>
              <a:t>TCP Fast Recovery</a:t>
            </a:r>
            <a:endParaRPr sz="2800">
              <a:solidFill>
                <a:srgbClr val="FFFFFF"/>
              </a:solidFill>
              <a:latin typeface="Arial"/>
              <a:ea typeface="Arial"/>
              <a:cs typeface="Arial"/>
              <a:sym typeface="Arial"/>
            </a:endParaRPr>
          </a:p>
        </p:txBody>
      </p:sp>
      <p:sp>
        <p:nvSpPr>
          <p:cNvPr id="7605" name="Google Shape;7605;p169"/>
          <p:cNvSpPr txBox="1"/>
          <p:nvPr/>
        </p:nvSpPr>
        <p:spPr>
          <a:xfrm>
            <a:off x="7239000" y="5195888"/>
            <a:ext cx="2871788" cy="830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TR  = Transmission Round</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CW = Congestion Window</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SS  = Segment Send</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Courier New"/>
                <a:ea typeface="Courier New"/>
                <a:cs typeface="Courier New"/>
                <a:sym typeface="Courier New"/>
              </a:rPr>
              <a:t>ssthreshold </a:t>
            </a:r>
            <a:r>
              <a:rPr lang="en-US" sz="1200">
                <a:solidFill>
                  <a:schemeClr val="dk1"/>
                </a:solidFill>
                <a:latin typeface="Arial"/>
                <a:ea typeface="Arial"/>
                <a:cs typeface="Arial"/>
                <a:sym typeface="Arial"/>
              </a:rPr>
              <a:t>= Slow Start Threshold</a:t>
            </a:r>
            <a:endParaRPr/>
          </a:p>
        </p:txBody>
      </p:sp>
      <p:sp>
        <p:nvSpPr>
          <p:cNvPr id="7606" name="Google Shape;7606;p169"/>
          <p:cNvSpPr txBox="1"/>
          <p:nvPr/>
        </p:nvSpPr>
        <p:spPr>
          <a:xfrm>
            <a:off x="2041525" y="4557714"/>
            <a:ext cx="2940050" cy="739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After </a:t>
            </a:r>
            <a:r>
              <a:rPr lang="en-US" sz="1400" u="sng">
                <a:solidFill>
                  <a:schemeClr val="dk1"/>
                </a:solidFill>
                <a:latin typeface="Arial"/>
                <a:ea typeface="Arial"/>
                <a:cs typeface="Arial"/>
                <a:sym typeface="Arial"/>
              </a:rPr>
              <a:t>TR 8</a:t>
            </a:r>
            <a:r>
              <a:rPr lang="en-US" sz="1400">
                <a:solidFill>
                  <a:schemeClr val="dk1"/>
                </a:solidFill>
                <a:latin typeface="Arial"/>
                <a:ea typeface="Arial"/>
                <a:cs typeface="Arial"/>
                <a:sym typeface="Arial"/>
              </a:rPr>
              <a:t>, Triple Duplicate ACKs is detected</a:t>
            </a:r>
            <a:endParaRPr/>
          </a:p>
          <a:p>
            <a:pPr indent="0" lvl="0" marL="0" marR="0" rtl="0" algn="l">
              <a:lnSpc>
                <a:spcPct val="100000"/>
              </a:lnSpc>
              <a:spcBef>
                <a:spcPts val="0"/>
              </a:spcBef>
              <a:spcAft>
                <a:spcPts val="0"/>
              </a:spcAft>
              <a:buClr>
                <a:schemeClr val="dk1"/>
              </a:buClr>
              <a:buSzPts val="1400"/>
              <a:buFont typeface="Noto Sans Symbols"/>
              <a:buNone/>
            </a:pPr>
            <a:r>
              <a:t/>
            </a:r>
            <a:endParaRPr sz="1400">
              <a:solidFill>
                <a:schemeClr val="dk1"/>
              </a:solidFill>
              <a:latin typeface="Arial"/>
              <a:ea typeface="Arial"/>
              <a:cs typeface="Arial"/>
              <a:sym typeface="Arial"/>
            </a:endParaRPr>
          </a:p>
        </p:txBody>
      </p:sp>
      <p:graphicFrame>
        <p:nvGraphicFramePr>
          <p:cNvPr id="7607" name="Google Shape;7607;p169"/>
          <p:cNvGraphicFramePr/>
          <p:nvPr/>
        </p:nvGraphicFramePr>
        <p:xfrm>
          <a:off x="1954213" y="1993900"/>
          <a:ext cx="3000000" cy="3000000"/>
        </p:xfrm>
        <a:graphic>
          <a:graphicData uri="http://schemas.openxmlformats.org/drawingml/2006/table">
            <a:tbl>
              <a:tblPr bandRow="1" firstRow="1">
                <a:noFill/>
                <a:tableStyleId>{6A801659-9FE2-4FBA-BB42-B8B3FDABCD59}</a:tableStyleId>
              </a:tblPr>
              <a:tblGrid>
                <a:gridCol w="638750"/>
                <a:gridCol w="628775"/>
                <a:gridCol w="716800"/>
                <a:gridCol w="1036675"/>
              </a:tblGrid>
              <a:tr h="287625">
                <a:tc>
                  <a:txBody>
                    <a:bodyPr/>
                    <a:lstStyle/>
                    <a:p>
                      <a:pPr indent="0" lvl="0" marL="0" marR="0" rtl="0" algn="ctr">
                        <a:spcBef>
                          <a:spcPts val="0"/>
                        </a:spcBef>
                        <a:spcAft>
                          <a:spcPts val="0"/>
                        </a:spcAft>
                        <a:buNone/>
                      </a:pPr>
                      <a:r>
                        <a:rPr b="0" lang="en-US" sz="1400">
                          <a:latin typeface="Arial"/>
                          <a:ea typeface="Arial"/>
                          <a:cs typeface="Arial"/>
                          <a:sym typeface="Arial"/>
                        </a:rPr>
                        <a:t>TR</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CW</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SS</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Courier New"/>
                          <a:ea typeface="Courier New"/>
                          <a:cs typeface="Courier New"/>
                          <a:sym typeface="Courier New"/>
                        </a:rPr>
                        <a:t>ssthresh</a:t>
                      </a:r>
                      <a:endParaRPr b="0" sz="1400">
                        <a:latin typeface="Courier New"/>
                        <a:ea typeface="Courier New"/>
                        <a:cs typeface="Courier New"/>
                        <a:sym typeface="Courier New"/>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9</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EDDE"/>
                    </a:solidFill>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EDDE"/>
                    </a:solidFill>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10</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11</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12</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13</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14</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15</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latin typeface="Arial"/>
                        <a:ea typeface="Arial"/>
                        <a:cs typeface="Arial"/>
                        <a:sym typeface="Arial"/>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7608" name="Google Shape;7608;p169"/>
          <p:cNvGraphicFramePr/>
          <p:nvPr/>
        </p:nvGraphicFramePr>
        <p:xfrm>
          <a:off x="1955801" y="1127125"/>
          <a:ext cx="3000000" cy="3000000"/>
        </p:xfrm>
        <a:graphic>
          <a:graphicData uri="http://schemas.openxmlformats.org/drawingml/2006/table">
            <a:tbl>
              <a:tblPr bandRow="1" firstRow="1">
                <a:noFill/>
                <a:tableStyleId>{6A801659-9FE2-4FBA-BB42-B8B3FDABCD59}</a:tableStyleId>
              </a:tblPr>
              <a:tblGrid>
                <a:gridCol w="638750"/>
                <a:gridCol w="628775"/>
                <a:gridCol w="716800"/>
                <a:gridCol w="1036675"/>
              </a:tblGrid>
              <a:tr h="287625">
                <a:tc>
                  <a:txBody>
                    <a:bodyPr/>
                    <a:lstStyle/>
                    <a:p>
                      <a:pPr indent="0" lvl="0" marL="0" marR="0" rtl="0" algn="ctr">
                        <a:spcBef>
                          <a:spcPts val="0"/>
                        </a:spcBef>
                        <a:spcAft>
                          <a:spcPts val="0"/>
                        </a:spcAft>
                        <a:buNone/>
                      </a:pPr>
                      <a:r>
                        <a:rPr b="0" lang="en-US" sz="1400">
                          <a:latin typeface="Arial"/>
                          <a:ea typeface="Arial"/>
                          <a:cs typeface="Arial"/>
                          <a:sym typeface="Arial"/>
                        </a:rPr>
                        <a:t>TR</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CW</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SS</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Courier New"/>
                          <a:ea typeface="Courier New"/>
                          <a:cs typeface="Courier New"/>
                          <a:sym typeface="Courier New"/>
                        </a:rPr>
                        <a:t>ssthresh</a:t>
                      </a:r>
                      <a:endParaRPr b="0" sz="1400">
                        <a:latin typeface="Courier New"/>
                        <a:ea typeface="Courier New"/>
                        <a:cs typeface="Courier New"/>
                        <a:sym typeface="Courier New"/>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rgbClr val="000000"/>
                          </a:solidFill>
                          <a:latin typeface="Arial"/>
                          <a:ea typeface="Arial"/>
                          <a:cs typeface="Arial"/>
                          <a:sym typeface="Arial"/>
                        </a:rPr>
                        <a:t>12</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rgbClr val="000000"/>
                          </a:solidFill>
                          <a:latin typeface="Arial"/>
                          <a:ea typeface="Arial"/>
                          <a:cs typeface="Arial"/>
                          <a:sym typeface="Arial"/>
                        </a:rPr>
                        <a:t>57</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rgbClr val="000000"/>
                          </a:solidFill>
                          <a:latin typeface="Arial"/>
                          <a:ea typeface="Arial"/>
                          <a:cs typeface="Arial"/>
                          <a:sym typeface="Arial"/>
                        </a:rPr>
                        <a:t>12 / 2 = 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7609" name="Google Shape;7609;p169"/>
          <p:cNvSpPr/>
          <p:nvPr/>
        </p:nvSpPr>
        <p:spPr>
          <a:xfrm>
            <a:off x="8216900" y="1914526"/>
            <a:ext cx="133350" cy="2435225"/>
          </a:xfrm>
          <a:prstGeom prst="rect">
            <a:avLst/>
          </a:prstGeom>
          <a:solidFill>
            <a:srgbClr val="FFFF00">
              <a:alpha val="31764"/>
            </a:srgbClr>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7610" name="Google Shape;7610;p169"/>
          <p:cNvSpPr txBox="1"/>
          <p:nvPr>
            <p:ph type="title"/>
          </p:nvPr>
        </p:nvSpPr>
        <p:spPr>
          <a:xfrm>
            <a:off x="2057400" y="-50800"/>
            <a:ext cx="833755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200"/>
              <a:buFont typeface="Calibri"/>
              <a:buNone/>
            </a:pPr>
            <a:r>
              <a:rPr lang="en-US" sz="3200"/>
              <a:t>TCP: Fast Recovery </a:t>
            </a:r>
            <a:br>
              <a:rPr lang="en-US" sz="3200"/>
            </a:br>
            <a:r>
              <a:rPr lang="en-US" sz="3200"/>
              <a:t>(Loss because of 3 Duplicate ACK)</a:t>
            </a:r>
            <a:endParaRPr/>
          </a:p>
        </p:txBody>
      </p:sp>
      <p:sp>
        <p:nvSpPr>
          <p:cNvPr id="7611" name="Google Shape;7611;p16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09"/>
                                        </p:tgtEl>
                                        <p:attrNameLst>
                                          <p:attrName>style.visibility</p:attrName>
                                        </p:attrNameLst>
                                      </p:cBhvr>
                                      <p:to>
                                        <p:strVal val="visible"/>
                                      </p:to>
                                    </p:set>
                                    <p:animEffect filter="fade" transition="in">
                                      <p:cBhvr>
                                        <p:cTn dur="500"/>
                                        <p:tgtEl>
                                          <p:spTgt spid="76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5" name="Shape 7615"/>
        <p:cNvGrpSpPr/>
        <p:nvPr/>
      </p:nvGrpSpPr>
      <p:grpSpPr>
        <a:xfrm>
          <a:off x="0" y="0"/>
          <a:ext cx="0" cy="0"/>
          <a:chOff x="0" y="0"/>
          <a:chExt cx="0" cy="0"/>
        </a:xfrm>
      </p:grpSpPr>
      <p:pic>
        <p:nvPicPr>
          <p:cNvPr id="7616" name="Google Shape;7616;p170"/>
          <p:cNvPicPr preferRelativeResize="0"/>
          <p:nvPr/>
        </p:nvPicPr>
        <p:blipFill rotWithShape="1">
          <a:blip r:embed="rId3">
            <a:alphaModFix/>
          </a:blip>
          <a:srcRect b="0" l="0" r="0" t="0"/>
          <a:stretch/>
        </p:blipFill>
        <p:spPr>
          <a:xfrm>
            <a:off x="5054601" y="1246188"/>
            <a:ext cx="5451475" cy="3598862"/>
          </a:xfrm>
          <a:prstGeom prst="rect">
            <a:avLst/>
          </a:prstGeom>
          <a:noFill/>
          <a:ln>
            <a:noFill/>
          </a:ln>
        </p:spPr>
      </p:pic>
      <p:sp>
        <p:nvSpPr>
          <p:cNvPr id="7617" name="Google Shape;7617;p170"/>
          <p:cNvSpPr/>
          <p:nvPr/>
        </p:nvSpPr>
        <p:spPr>
          <a:xfrm>
            <a:off x="1930401" y="4543426"/>
            <a:ext cx="3063875" cy="2227263"/>
          </a:xfrm>
          <a:prstGeom prst="rect">
            <a:avLst/>
          </a:prstGeom>
          <a:solidFill>
            <a:srgbClr val="2E75B5"/>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618" name="Google Shape;7618;p170"/>
          <p:cNvSpPr txBox="1"/>
          <p:nvPr/>
        </p:nvSpPr>
        <p:spPr>
          <a:xfrm>
            <a:off x="5900738" y="123826"/>
            <a:ext cx="4767262" cy="62706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2800"/>
              <a:buFont typeface="Noto Sans Symbols"/>
              <a:buNone/>
            </a:pPr>
            <a:r>
              <a:rPr lang="en-US" sz="2800">
                <a:solidFill>
                  <a:srgbClr val="FFFFFF"/>
                </a:solidFill>
                <a:latin typeface="Arial"/>
                <a:ea typeface="Arial"/>
                <a:cs typeface="Arial"/>
                <a:sym typeface="Arial"/>
              </a:rPr>
              <a:t>TP Fast Recovery</a:t>
            </a:r>
            <a:endParaRPr sz="2800">
              <a:solidFill>
                <a:srgbClr val="FFFFFF"/>
              </a:solidFill>
              <a:latin typeface="Arial"/>
              <a:ea typeface="Arial"/>
              <a:cs typeface="Arial"/>
              <a:sym typeface="Arial"/>
            </a:endParaRPr>
          </a:p>
        </p:txBody>
      </p:sp>
      <p:sp>
        <p:nvSpPr>
          <p:cNvPr id="7619" name="Google Shape;7619;p170"/>
          <p:cNvSpPr txBox="1"/>
          <p:nvPr/>
        </p:nvSpPr>
        <p:spPr>
          <a:xfrm>
            <a:off x="7239000" y="5195888"/>
            <a:ext cx="2871788" cy="830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TR  = Transmission Round</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CW = Congestion Window</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SS  = Segment Send</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Courier New"/>
                <a:ea typeface="Courier New"/>
                <a:cs typeface="Courier New"/>
                <a:sym typeface="Courier New"/>
              </a:rPr>
              <a:t>ssthreshold </a:t>
            </a:r>
            <a:r>
              <a:rPr lang="en-US" sz="1200">
                <a:solidFill>
                  <a:schemeClr val="dk1"/>
                </a:solidFill>
                <a:latin typeface="Arial"/>
                <a:ea typeface="Arial"/>
                <a:cs typeface="Arial"/>
                <a:sym typeface="Arial"/>
              </a:rPr>
              <a:t>= Slow Start Threshold</a:t>
            </a:r>
            <a:endParaRPr/>
          </a:p>
        </p:txBody>
      </p:sp>
      <p:pic>
        <p:nvPicPr>
          <p:cNvPr id="7620" name="Google Shape;7620;p170"/>
          <p:cNvPicPr preferRelativeResize="0"/>
          <p:nvPr/>
        </p:nvPicPr>
        <p:blipFill rotWithShape="1">
          <a:blip r:embed="rId4">
            <a:alphaModFix/>
          </a:blip>
          <a:srcRect b="0" l="0" r="0" t="0"/>
          <a:stretch/>
        </p:blipFill>
        <p:spPr>
          <a:xfrm>
            <a:off x="2019300" y="4535449"/>
            <a:ext cx="2971800" cy="2298700"/>
          </a:xfrm>
          <a:prstGeom prst="rect">
            <a:avLst/>
          </a:prstGeom>
          <a:noFill/>
          <a:ln>
            <a:noFill/>
          </a:ln>
        </p:spPr>
      </p:pic>
      <p:graphicFrame>
        <p:nvGraphicFramePr>
          <p:cNvPr id="7621" name="Google Shape;7621;p170"/>
          <p:cNvGraphicFramePr/>
          <p:nvPr/>
        </p:nvGraphicFramePr>
        <p:xfrm>
          <a:off x="1954213" y="1993900"/>
          <a:ext cx="3000000" cy="3000000"/>
        </p:xfrm>
        <a:graphic>
          <a:graphicData uri="http://schemas.openxmlformats.org/drawingml/2006/table">
            <a:tbl>
              <a:tblPr bandRow="1" firstRow="1">
                <a:noFill/>
                <a:tableStyleId>{6A801659-9FE2-4FBA-BB42-B8B3FDABCD59}</a:tableStyleId>
              </a:tblPr>
              <a:tblGrid>
                <a:gridCol w="638750"/>
                <a:gridCol w="628775"/>
                <a:gridCol w="716800"/>
                <a:gridCol w="1036675"/>
              </a:tblGrid>
              <a:tr h="287625">
                <a:tc>
                  <a:txBody>
                    <a:bodyPr/>
                    <a:lstStyle/>
                    <a:p>
                      <a:pPr indent="0" lvl="0" marL="0" marR="0" rtl="0" algn="ctr">
                        <a:spcBef>
                          <a:spcPts val="0"/>
                        </a:spcBef>
                        <a:spcAft>
                          <a:spcPts val="0"/>
                        </a:spcAft>
                        <a:buNone/>
                      </a:pPr>
                      <a:r>
                        <a:rPr b="0" lang="en-US" sz="1400">
                          <a:latin typeface="Arial"/>
                          <a:ea typeface="Arial"/>
                          <a:cs typeface="Arial"/>
                          <a:sym typeface="Arial"/>
                        </a:rPr>
                        <a:t>TR</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CW</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SS</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Courier New"/>
                          <a:ea typeface="Courier New"/>
                          <a:cs typeface="Courier New"/>
                          <a:sym typeface="Courier New"/>
                        </a:rPr>
                        <a:t>ssthresh</a:t>
                      </a:r>
                      <a:endParaRPr b="0" sz="1400">
                        <a:latin typeface="Courier New"/>
                        <a:ea typeface="Courier New"/>
                        <a:cs typeface="Courier New"/>
                        <a:sym typeface="Courier New"/>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9</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chemeClr val="lt1"/>
                          </a:solidFill>
                          <a:latin typeface="Arial"/>
                          <a:ea typeface="Arial"/>
                          <a:cs typeface="Arial"/>
                          <a:sym typeface="Arial"/>
                        </a:rPr>
                        <a:t>9</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00000"/>
                    </a:solidFill>
                  </a:tcPr>
                </a:tc>
                <a:tc>
                  <a:txBody>
                    <a:bodyPr/>
                    <a:lstStyle/>
                    <a:p>
                      <a:pPr indent="0" lvl="0" marL="0" marR="0" rtl="0" algn="ctr">
                        <a:spcBef>
                          <a:spcPts val="0"/>
                        </a:spcBef>
                        <a:spcAft>
                          <a:spcPts val="0"/>
                        </a:spcAft>
                        <a:buNone/>
                      </a:pPr>
                      <a:r>
                        <a:rPr lang="en-US" sz="1400">
                          <a:latin typeface="Arial"/>
                          <a:ea typeface="Arial"/>
                          <a:cs typeface="Arial"/>
                          <a:sym typeface="Arial"/>
                        </a:rPr>
                        <a:t>66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chemeClr val="lt1"/>
                          </a:solidFill>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0000"/>
                    </a:solidFill>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10</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10</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76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11</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11</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87</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12</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12</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99</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13</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13</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112</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14</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14</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126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15</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15</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141</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cxnSp>
        <p:nvCxnSpPr>
          <p:cNvPr id="7622" name="Google Shape;7622;p170"/>
          <p:cNvCxnSpPr/>
          <p:nvPr/>
        </p:nvCxnSpPr>
        <p:spPr>
          <a:xfrm>
            <a:off x="1738314" y="5586413"/>
            <a:ext cx="3957637" cy="0"/>
          </a:xfrm>
          <a:prstGeom prst="straightConnector1">
            <a:avLst/>
          </a:prstGeom>
          <a:noFill/>
          <a:ln cap="flat" cmpd="sng" w="28575">
            <a:solidFill>
              <a:schemeClr val="lt1"/>
            </a:solidFill>
            <a:prstDash val="solid"/>
            <a:round/>
            <a:headEnd len="med" w="med" type="none"/>
            <a:tailEnd len="med" w="med" type="none"/>
          </a:ln>
        </p:spPr>
      </p:cxnSp>
      <p:graphicFrame>
        <p:nvGraphicFramePr>
          <p:cNvPr id="7623" name="Google Shape;7623;p170"/>
          <p:cNvGraphicFramePr/>
          <p:nvPr/>
        </p:nvGraphicFramePr>
        <p:xfrm>
          <a:off x="1951831" y="1013619"/>
          <a:ext cx="3000000" cy="3000000"/>
        </p:xfrm>
        <a:graphic>
          <a:graphicData uri="http://schemas.openxmlformats.org/drawingml/2006/table">
            <a:tbl>
              <a:tblPr bandRow="1" firstRow="1">
                <a:noFill/>
                <a:tableStyleId>{6A801659-9FE2-4FBA-BB42-B8B3FDABCD59}</a:tableStyleId>
              </a:tblPr>
              <a:tblGrid>
                <a:gridCol w="638750"/>
                <a:gridCol w="628775"/>
                <a:gridCol w="716800"/>
                <a:gridCol w="1036675"/>
              </a:tblGrid>
              <a:tr h="287625">
                <a:tc>
                  <a:txBody>
                    <a:bodyPr/>
                    <a:lstStyle/>
                    <a:p>
                      <a:pPr indent="0" lvl="0" marL="0" marR="0" rtl="0" algn="ctr">
                        <a:spcBef>
                          <a:spcPts val="0"/>
                        </a:spcBef>
                        <a:spcAft>
                          <a:spcPts val="0"/>
                        </a:spcAft>
                        <a:buNone/>
                      </a:pPr>
                      <a:r>
                        <a:rPr b="0" lang="en-US" sz="1400">
                          <a:latin typeface="Arial"/>
                          <a:ea typeface="Arial"/>
                          <a:cs typeface="Arial"/>
                          <a:sym typeface="Arial"/>
                        </a:rPr>
                        <a:t>TR</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CW</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SS</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Courier New"/>
                          <a:ea typeface="Courier New"/>
                          <a:cs typeface="Courier New"/>
                          <a:sym typeface="Courier New"/>
                        </a:rPr>
                        <a:t>ssthresh</a:t>
                      </a:r>
                      <a:endParaRPr b="0" sz="1400">
                        <a:latin typeface="Courier New"/>
                        <a:ea typeface="Courier New"/>
                        <a:cs typeface="Courier New"/>
                        <a:sym typeface="Courier New"/>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rgbClr val="000000"/>
                          </a:solidFill>
                          <a:latin typeface="Arial"/>
                          <a:ea typeface="Arial"/>
                          <a:cs typeface="Arial"/>
                          <a:sym typeface="Arial"/>
                        </a:rPr>
                        <a:t>12</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rgbClr val="000000"/>
                          </a:solidFill>
                          <a:latin typeface="Arial"/>
                          <a:ea typeface="Arial"/>
                          <a:cs typeface="Arial"/>
                          <a:sym typeface="Arial"/>
                        </a:rPr>
                        <a:t>57</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rgbClr val="000000"/>
                          </a:solidFill>
                          <a:latin typeface="Arial"/>
                          <a:ea typeface="Arial"/>
                          <a:cs typeface="Arial"/>
                          <a:sym typeface="Arial"/>
                        </a:rPr>
                        <a:t>12 / 2 = 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7624" name="Google Shape;7624;p170"/>
          <p:cNvSpPr/>
          <p:nvPr/>
        </p:nvSpPr>
        <p:spPr>
          <a:xfrm>
            <a:off x="8445500" y="1968501"/>
            <a:ext cx="249238" cy="2435225"/>
          </a:xfrm>
          <a:prstGeom prst="rect">
            <a:avLst/>
          </a:prstGeom>
          <a:solidFill>
            <a:srgbClr val="FFFF00">
              <a:alpha val="31764"/>
            </a:srgbClr>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cxnSp>
        <p:nvCxnSpPr>
          <p:cNvPr id="7625" name="Google Shape;7625;p170"/>
          <p:cNvCxnSpPr/>
          <p:nvPr/>
        </p:nvCxnSpPr>
        <p:spPr>
          <a:xfrm rot="10800000">
            <a:off x="6096000" y="2760663"/>
            <a:ext cx="2374900" cy="0"/>
          </a:xfrm>
          <a:prstGeom prst="straightConnector1">
            <a:avLst/>
          </a:prstGeom>
          <a:noFill/>
          <a:ln cap="flat" cmpd="sng" w="41275">
            <a:solidFill>
              <a:srgbClr val="FF0000"/>
            </a:solidFill>
            <a:prstDash val="solid"/>
            <a:round/>
            <a:headEnd len="med" w="med" type="none"/>
            <a:tailEnd len="med" w="med" type="triangle"/>
          </a:ln>
        </p:spPr>
      </p:cxnSp>
      <p:sp>
        <p:nvSpPr>
          <p:cNvPr id="7626" name="Google Shape;7626;p170"/>
          <p:cNvSpPr/>
          <p:nvPr/>
        </p:nvSpPr>
        <p:spPr>
          <a:xfrm>
            <a:off x="8535989" y="2746023"/>
            <a:ext cx="77787" cy="92075"/>
          </a:xfrm>
          <a:prstGeom prst="ellipse">
            <a:avLst/>
          </a:prstGeom>
          <a:solidFill>
            <a:srgbClr val="FF0000"/>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7627" name="Google Shape;7627;p170"/>
          <p:cNvSpPr txBox="1"/>
          <p:nvPr/>
        </p:nvSpPr>
        <p:spPr>
          <a:xfrm>
            <a:off x="5759451" y="2624139"/>
            <a:ext cx="282575" cy="307975"/>
          </a:xfrm>
          <a:prstGeom prst="rect">
            <a:avLst/>
          </a:prstGeom>
          <a:solidFill>
            <a:srgbClr val="FFFF00">
              <a:alpha val="38431"/>
            </a:srgbClr>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Noto Sans Symbols"/>
              <a:buNone/>
            </a:pPr>
            <a:r>
              <a:rPr lang="en-US" sz="1400">
                <a:solidFill>
                  <a:srgbClr val="FF0000"/>
                </a:solidFill>
                <a:latin typeface="Tahoma"/>
                <a:ea typeface="Tahoma"/>
                <a:cs typeface="Tahoma"/>
                <a:sym typeface="Tahoma"/>
              </a:rPr>
              <a:t>9</a:t>
            </a:r>
            <a:endParaRPr/>
          </a:p>
        </p:txBody>
      </p:sp>
      <p:sp>
        <p:nvSpPr>
          <p:cNvPr id="7628" name="Google Shape;7628;p170"/>
          <p:cNvSpPr txBox="1"/>
          <p:nvPr>
            <p:ph type="title"/>
          </p:nvPr>
        </p:nvSpPr>
        <p:spPr>
          <a:xfrm>
            <a:off x="1232034" y="-50800"/>
            <a:ext cx="9162916"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200"/>
              <a:buFont typeface="Calibri"/>
              <a:buNone/>
            </a:pPr>
            <a:r>
              <a:rPr lang="en-US" sz="3200"/>
              <a:t>TCP: Fast Recovery </a:t>
            </a:r>
            <a:br>
              <a:rPr lang="en-US" sz="3200"/>
            </a:br>
            <a:r>
              <a:rPr lang="en-US" sz="3200"/>
              <a:t>(Loss because of 3 Duplicate ACK)</a:t>
            </a:r>
            <a:endParaRPr/>
          </a:p>
        </p:txBody>
      </p:sp>
      <p:sp>
        <p:nvSpPr>
          <p:cNvPr id="7629" name="Google Shape;7629;p17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24"/>
                                        </p:tgtEl>
                                        <p:attrNameLst>
                                          <p:attrName>style.visibility</p:attrName>
                                        </p:attrNameLst>
                                      </p:cBhvr>
                                      <p:to>
                                        <p:strVal val="visible"/>
                                      </p:to>
                                    </p:set>
                                    <p:animEffect filter="fade" transition="in">
                                      <p:cBhvr>
                                        <p:cTn dur="500"/>
                                        <p:tgtEl>
                                          <p:spTgt spid="76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25"/>
                                        </p:tgtEl>
                                        <p:attrNameLst>
                                          <p:attrName>style.visibility</p:attrName>
                                        </p:attrNameLst>
                                      </p:cBhvr>
                                      <p:to>
                                        <p:strVal val="visible"/>
                                      </p:to>
                                    </p:set>
                                    <p:animEffect filter="fade" transition="in">
                                      <p:cBhvr>
                                        <p:cTn dur="500"/>
                                        <p:tgtEl>
                                          <p:spTgt spid="76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3" name="Shape 7633"/>
        <p:cNvGrpSpPr/>
        <p:nvPr/>
      </p:nvGrpSpPr>
      <p:grpSpPr>
        <a:xfrm>
          <a:off x="0" y="0"/>
          <a:ext cx="0" cy="0"/>
          <a:chOff x="0" y="0"/>
          <a:chExt cx="0" cy="0"/>
        </a:xfrm>
      </p:grpSpPr>
      <p:pic>
        <p:nvPicPr>
          <p:cNvPr id="7634" name="Google Shape;7634;p171"/>
          <p:cNvPicPr preferRelativeResize="0"/>
          <p:nvPr/>
        </p:nvPicPr>
        <p:blipFill rotWithShape="1">
          <a:blip r:embed="rId3">
            <a:alphaModFix/>
          </a:blip>
          <a:srcRect b="0" l="0" r="0" t="0"/>
          <a:stretch/>
        </p:blipFill>
        <p:spPr>
          <a:xfrm>
            <a:off x="5054601" y="1217613"/>
            <a:ext cx="5451475" cy="3598862"/>
          </a:xfrm>
          <a:prstGeom prst="rect">
            <a:avLst/>
          </a:prstGeom>
          <a:noFill/>
          <a:ln>
            <a:noFill/>
          </a:ln>
        </p:spPr>
      </p:pic>
      <p:sp>
        <p:nvSpPr>
          <p:cNvPr id="7635" name="Google Shape;7635;p171"/>
          <p:cNvSpPr/>
          <p:nvPr/>
        </p:nvSpPr>
        <p:spPr>
          <a:xfrm>
            <a:off x="1930401" y="4514851"/>
            <a:ext cx="3063875" cy="2227263"/>
          </a:xfrm>
          <a:prstGeom prst="rect">
            <a:avLst/>
          </a:prstGeom>
          <a:solidFill>
            <a:srgbClr val="2E75B5"/>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636" name="Google Shape;7636;p171"/>
          <p:cNvSpPr txBox="1"/>
          <p:nvPr/>
        </p:nvSpPr>
        <p:spPr>
          <a:xfrm>
            <a:off x="5900738" y="123826"/>
            <a:ext cx="4767262" cy="62706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2800"/>
              <a:buFont typeface="Noto Sans Symbols"/>
              <a:buNone/>
            </a:pPr>
            <a:r>
              <a:rPr lang="en-US" sz="2800">
                <a:solidFill>
                  <a:srgbClr val="FFFFFF"/>
                </a:solidFill>
                <a:latin typeface="Arial"/>
                <a:ea typeface="Arial"/>
                <a:cs typeface="Arial"/>
                <a:sym typeface="Arial"/>
              </a:rPr>
              <a:t>TCP Fast Recovery</a:t>
            </a:r>
            <a:endParaRPr sz="2800">
              <a:solidFill>
                <a:srgbClr val="FFFFFF"/>
              </a:solidFill>
              <a:latin typeface="Arial"/>
              <a:ea typeface="Arial"/>
              <a:cs typeface="Arial"/>
              <a:sym typeface="Arial"/>
            </a:endParaRPr>
          </a:p>
        </p:txBody>
      </p:sp>
      <p:sp>
        <p:nvSpPr>
          <p:cNvPr id="7637" name="Google Shape;7637;p171"/>
          <p:cNvSpPr txBox="1"/>
          <p:nvPr/>
        </p:nvSpPr>
        <p:spPr>
          <a:xfrm>
            <a:off x="7239000" y="5167313"/>
            <a:ext cx="2871788" cy="8318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TR  = Transmission Round</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CW = Congestion Window</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SS  = Segment Send</a:t>
            </a:r>
            <a:endParaRPr/>
          </a:p>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Courier New"/>
                <a:ea typeface="Courier New"/>
                <a:cs typeface="Courier New"/>
                <a:sym typeface="Courier New"/>
              </a:rPr>
              <a:t>ssthreshold </a:t>
            </a:r>
            <a:r>
              <a:rPr lang="en-US" sz="1200">
                <a:solidFill>
                  <a:schemeClr val="dk1"/>
                </a:solidFill>
                <a:latin typeface="Arial"/>
                <a:ea typeface="Arial"/>
                <a:cs typeface="Arial"/>
                <a:sym typeface="Arial"/>
              </a:rPr>
              <a:t>= Slow Start Threshold</a:t>
            </a:r>
            <a:endParaRPr/>
          </a:p>
        </p:txBody>
      </p:sp>
      <p:pic>
        <p:nvPicPr>
          <p:cNvPr id="7638" name="Google Shape;7638;p171"/>
          <p:cNvPicPr preferRelativeResize="0"/>
          <p:nvPr/>
        </p:nvPicPr>
        <p:blipFill rotWithShape="1">
          <a:blip r:embed="rId4">
            <a:alphaModFix/>
          </a:blip>
          <a:srcRect b="0" l="0" r="0" t="0"/>
          <a:stretch/>
        </p:blipFill>
        <p:spPr>
          <a:xfrm>
            <a:off x="2019300" y="4508500"/>
            <a:ext cx="2971800" cy="2197100"/>
          </a:xfrm>
          <a:prstGeom prst="rect">
            <a:avLst/>
          </a:prstGeom>
          <a:noFill/>
          <a:ln>
            <a:noFill/>
          </a:ln>
        </p:spPr>
      </p:pic>
      <p:graphicFrame>
        <p:nvGraphicFramePr>
          <p:cNvPr id="7639" name="Google Shape;7639;p171"/>
          <p:cNvGraphicFramePr/>
          <p:nvPr/>
        </p:nvGraphicFramePr>
        <p:xfrm>
          <a:off x="1954213" y="1965325"/>
          <a:ext cx="3000000" cy="3000000"/>
        </p:xfrm>
        <a:graphic>
          <a:graphicData uri="http://schemas.openxmlformats.org/drawingml/2006/table">
            <a:tbl>
              <a:tblPr bandRow="1" firstRow="1">
                <a:noFill/>
                <a:tableStyleId>{6A801659-9FE2-4FBA-BB42-B8B3FDABCD59}</a:tableStyleId>
              </a:tblPr>
              <a:tblGrid>
                <a:gridCol w="638750"/>
                <a:gridCol w="628775"/>
                <a:gridCol w="716800"/>
                <a:gridCol w="1036675"/>
              </a:tblGrid>
              <a:tr h="287625">
                <a:tc>
                  <a:txBody>
                    <a:bodyPr/>
                    <a:lstStyle/>
                    <a:p>
                      <a:pPr indent="0" lvl="0" marL="0" marR="0" rtl="0" algn="ctr">
                        <a:spcBef>
                          <a:spcPts val="0"/>
                        </a:spcBef>
                        <a:spcAft>
                          <a:spcPts val="0"/>
                        </a:spcAft>
                        <a:buNone/>
                      </a:pPr>
                      <a:r>
                        <a:rPr b="0" lang="en-US" sz="1400">
                          <a:latin typeface="Arial"/>
                          <a:ea typeface="Arial"/>
                          <a:cs typeface="Arial"/>
                          <a:sym typeface="Arial"/>
                        </a:rPr>
                        <a:t>TR</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CW</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SS</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Courier New"/>
                          <a:ea typeface="Courier New"/>
                          <a:cs typeface="Courier New"/>
                          <a:sym typeface="Courier New"/>
                        </a:rPr>
                        <a:t>ssthresh</a:t>
                      </a:r>
                      <a:endParaRPr b="0" sz="1400">
                        <a:latin typeface="Courier New"/>
                        <a:ea typeface="Courier New"/>
                        <a:cs typeface="Courier New"/>
                        <a:sym typeface="Courier New"/>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9</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chemeClr val="lt1"/>
                          </a:solidFill>
                          <a:latin typeface="Arial"/>
                          <a:ea typeface="Arial"/>
                          <a:cs typeface="Arial"/>
                          <a:sym typeface="Arial"/>
                        </a:rPr>
                        <a:t>9</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00000"/>
                    </a:solidFill>
                  </a:tcPr>
                </a:tc>
                <a:tc>
                  <a:txBody>
                    <a:bodyPr/>
                    <a:lstStyle/>
                    <a:p>
                      <a:pPr indent="0" lvl="0" marL="0" marR="0" rtl="0" algn="ctr">
                        <a:spcBef>
                          <a:spcPts val="0"/>
                        </a:spcBef>
                        <a:spcAft>
                          <a:spcPts val="0"/>
                        </a:spcAft>
                        <a:buNone/>
                      </a:pPr>
                      <a:r>
                        <a:rPr lang="en-US" sz="1400">
                          <a:latin typeface="Arial"/>
                          <a:ea typeface="Arial"/>
                          <a:cs typeface="Arial"/>
                          <a:sym typeface="Arial"/>
                        </a:rPr>
                        <a:t>65</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chemeClr val="lt1"/>
                          </a:solidFill>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0000"/>
                    </a:solidFill>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10</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10</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75</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11</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11</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86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12</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12</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98</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13</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13</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111</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14</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14</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125</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15</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15</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140</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latin typeface="Arial"/>
                          <a:ea typeface="Arial"/>
                          <a:cs typeface="Arial"/>
                          <a:sym typeface="Arial"/>
                        </a:rPr>
                        <a:t>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pSp>
        <p:nvGrpSpPr>
          <p:cNvPr id="7640" name="Google Shape;7640;p171"/>
          <p:cNvGrpSpPr/>
          <p:nvPr/>
        </p:nvGrpSpPr>
        <p:grpSpPr>
          <a:xfrm>
            <a:off x="1738314" y="5557838"/>
            <a:ext cx="3957637" cy="364927"/>
            <a:chOff x="214923" y="5812692"/>
            <a:chExt cx="3956539" cy="365047"/>
          </a:xfrm>
        </p:grpSpPr>
        <p:cxnSp>
          <p:nvCxnSpPr>
            <p:cNvPr id="7641" name="Google Shape;7641;p171"/>
            <p:cNvCxnSpPr/>
            <p:nvPr/>
          </p:nvCxnSpPr>
          <p:spPr>
            <a:xfrm>
              <a:off x="214923" y="5812692"/>
              <a:ext cx="3956539" cy="0"/>
            </a:xfrm>
            <a:prstGeom prst="straightConnector1">
              <a:avLst/>
            </a:prstGeom>
            <a:noFill/>
            <a:ln cap="flat" cmpd="sng" w="28575">
              <a:solidFill>
                <a:schemeClr val="lt1"/>
              </a:solidFill>
              <a:prstDash val="solid"/>
              <a:round/>
              <a:headEnd len="med" w="med" type="none"/>
              <a:tailEnd len="med" w="med" type="none"/>
            </a:ln>
          </p:spPr>
        </p:cxnSp>
        <p:sp>
          <p:nvSpPr>
            <p:cNvPr id="7642" name="Google Shape;7642;p171"/>
            <p:cNvSpPr txBox="1"/>
            <p:nvPr/>
          </p:nvSpPr>
          <p:spPr>
            <a:xfrm>
              <a:off x="2398717" y="5869861"/>
              <a:ext cx="1109227" cy="307878"/>
            </a:xfrm>
            <a:prstGeom prst="rect">
              <a:avLst/>
            </a:prstGeom>
            <a:solidFill>
              <a:schemeClr val="lt1"/>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TCP RENO</a:t>
              </a:r>
              <a:endParaRPr/>
            </a:p>
          </p:txBody>
        </p:sp>
      </p:grpSp>
      <p:graphicFrame>
        <p:nvGraphicFramePr>
          <p:cNvPr id="7643" name="Google Shape;7643;p171"/>
          <p:cNvGraphicFramePr/>
          <p:nvPr/>
        </p:nvGraphicFramePr>
        <p:xfrm>
          <a:off x="1955801" y="1098550"/>
          <a:ext cx="3000000" cy="3000000"/>
        </p:xfrm>
        <a:graphic>
          <a:graphicData uri="http://schemas.openxmlformats.org/drawingml/2006/table">
            <a:tbl>
              <a:tblPr bandRow="1" firstRow="1">
                <a:noFill/>
                <a:tableStyleId>{6A801659-9FE2-4FBA-BB42-B8B3FDABCD59}</a:tableStyleId>
              </a:tblPr>
              <a:tblGrid>
                <a:gridCol w="638750"/>
                <a:gridCol w="628775"/>
                <a:gridCol w="716800"/>
                <a:gridCol w="1036675"/>
              </a:tblGrid>
              <a:tr h="287625">
                <a:tc>
                  <a:txBody>
                    <a:bodyPr/>
                    <a:lstStyle/>
                    <a:p>
                      <a:pPr indent="0" lvl="0" marL="0" marR="0" rtl="0" algn="ctr">
                        <a:spcBef>
                          <a:spcPts val="0"/>
                        </a:spcBef>
                        <a:spcAft>
                          <a:spcPts val="0"/>
                        </a:spcAft>
                        <a:buNone/>
                      </a:pPr>
                      <a:r>
                        <a:rPr b="0" lang="en-US" sz="1400">
                          <a:latin typeface="Arial"/>
                          <a:ea typeface="Arial"/>
                          <a:cs typeface="Arial"/>
                          <a:sym typeface="Arial"/>
                        </a:rPr>
                        <a:t>TR</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CW</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Arial"/>
                          <a:ea typeface="Arial"/>
                          <a:cs typeface="Arial"/>
                          <a:sym typeface="Arial"/>
                        </a:rPr>
                        <a:t>SS</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400">
                          <a:latin typeface="Courier New"/>
                          <a:ea typeface="Courier New"/>
                          <a:cs typeface="Courier New"/>
                          <a:sym typeface="Courier New"/>
                        </a:rPr>
                        <a:t>ssthresh</a:t>
                      </a:r>
                      <a:endParaRPr b="0" sz="1400">
                        <a:latin typeface="Courier New"/>
                        <a:ea typeface="Courier New"/>
                        <a:cs typeface="Courier New"/>
                        <a:sym typeface="Courier New"/>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7625">
                <a:tc>
                  <a:txBody>
                    <a:bodyPr/>
                    <a:lstStyle/>
                    <a:p>
                      <a:pPr indent="0" lvl="0" marL="0" marR="0" rtl="0" algn="ctr">
                        <a:spcBef>
                          <a:spcPts val="0"/>
                        </a:spcBef>
                        <a:spcAft>
                          <a:spcPts val="0"/>
                        </a:spcAft>
                        <a:buNone/>
                      </a:pPr>
                      <a:r>
                        <a:rPr lang="en-US" sz="1400">
                          <a:latin typeface="Arial"/>
                          <a:ea typeface="Arial"/>
                          <a:cs typeface="Arial"/>
                          <a:sym typeface="Arial"/>
                        </a:rPr>
                        <a:t>8</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rgbClr val="000000"/>
                          </a:solidFill>
                          <a:latin typeface="Arial"/>
                          <a:ea typeface="Arial"/>
                          <a:cs typeface="Arial"/>
                          <a:sym typeface="Arial"/>
                        </a:rPr>
                        <a:t>12</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rgbClr val="000000"/>
                          </a:solidFill>
                          <a:latin typeface="Arial"/>
                          <a:ea typeface="Arial"/>
                          <a:cs typeface="Arial"/>
                          <a:sym typeface="Arial"/>
                        </a:rPr>
                        <a:t>56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400">
                          <a:solidFill>
                            <a:srgbClr val="000000"/>
                          </a:solidFill>
                          <a:latin typeface="Arial"/>
                          <a:ea typeface="Arial"/>
                          <a:cs typeface="Arial"/>
                          <a:sym typeface="Arial"/>
                        </a:rPr>
                        <a:t>12 / 2 = 6</a:t>
                      </a:r>
                      <a:endParaRPr/>
                    </a:p>
                  </a:txBody>
                  <a:tcPr marT="45725" marB="45725" marR="91475" marL="914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7644" name="Google Shape;7644;p171"/>
          <p:cNvSpPr/>
          <p:nvPr/>
        </p:nvSpPr>
        <p:spPr>
          <a:xfrm>
            <a:off x="8469314" y="1574801"/>
            <a:ext cx="1830387" cy="1624013"/>
          </a:xfrm>
          <a:prstGeom prst="rect">
            <a:avLst/>
          </a:prstGeom>
          <a:solidFill>
            <a:srgbClr val="FFFF00">
              <a:alpha val="31764"/>
            </a:srgbClr>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7645" name="Google Shape;7645;p171"/>
          <p:cNvSpPr txBox="1"/>
          <p:nvPr>
            <p:ph type="title"/>
          </p:nvPr>
        </p:nvSpPr>
        <p:spPr>
          <a:xfrm>
            <a:off x="1270535" y="-50800"/>
            <a:ext cx="10366408"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200"/>
              <a:buFont typeface="Calibri"/>
              <a:buNone/>
            </a:pPr>
            <a:r>
              <a:rPr lang="en-US" sz="3200"/>
              <a:t>TCP: Fast Recovery </a:t>
            </a:r>
            <a:br>
              <a:rPr lang="en-US" sz="3200"/>
            </a:br>
            <a:r>
              <a:rPr lang="en-US" sz="3200"/>
              <a:t>(Loss because of 3 Duplicate ACK)</a:t>
            </a:r>
            <a:endParaRPr/>
          </a:p>
        </p:txBody>
      </p:sp>
      <p:sp>
        <p:nvSpPr>
          <p:cNvPr id="7646" name="Google Shape;7646;p17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44"/>
                                        </p:tgtEl>
                                        <p:attrNameLst>
                                          <p:attrName>style.visibility</p:attrName>
                                        </p:attrNameLst>
                                      </p:cBhvr>
                                      <p:to>
                                        <p:strVal val="visible"/>
                                      </p:to>
                                    </p:set>
                                    <p:animEffect filter="fade" transition="in">
                                      <p:cBhvr>
                                        <p:cTn dur="500"/>
                                        <p:tgtEl>
                                          <p:spTgt spid="76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0" name="Shape 7650"/>
        <p:cNvGrpSpPr/>
        <p:nvPr/>
      </p:nvGrpSpPr>
      <p:grpSpPr>
        <a:xfrm>
          <a:off x="0" y="0"/>
          <a:ext cx="0" cy="0"/>
          <a:chOff x="0" y="0"/>
          <a:chExt cx="0" cy="0"/>
        </a:xfrm>
      </p:grpSpPr>
      <p:sp>
        <p:nvSpPr>
          <p:cNvPr id="7651" name="Google Shape;7651;p172"/>
          <p:cNvSpPr/>
          <p:nvPr/>
        </p:nvSpPr>
        <p:spPr>
          <a:xfrm>
            <a:off x="6629400" y="1524000"/>
            <a:ext cx="3352800" cy="4114800"/>
          </a:xfrm>
          <a:prstGeom prst="roundRect">
            <a:avLst>
              <a:gd fmla="val 16667" name="adj"/>
            </a:avLst>
          </a:prstGeom>
          <a:solidFill>
            <a:srgbClr val="C0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7652" name="Google Shape;7652;p172"/>
          <p:cNvSpPr/>
          <p:nvPr/>
        </p:nvSpPr>
        <p:spPr>
          <a:xfrm>
            <a:off x="1828801" y="1219201"/>
            <a:ext cx="4208463" cy="5457825"/>
          </a:xfrm>
          <a:prstGeom prst="roundRect">
            <a:avLst>
              <a:gd fmla="val 16667"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53" name="Google Shape;7653;p172"/>
          <p:cNvSpPr/>
          <p:nvPr/>
        </p:nvSpPr>
        <p:spPr>
          <a:xfrm>
            <a:off x="1974851" y="1371601"/>
            <a:ext cx="3821113" cy="2246313"/>
          </a:xfrm>
          <a:prstGeom prst="rect">
            <a:avLst/>
          </a:prstGeom>
          <a:noFill/>
          <a:ln>
            <a:noFill/>
          </a:ln>
        </p:spPr>
        <p:txBody>
          <a:bodyPr anchorCtr="0" anchor="t" bIns="45700" lIns="91425" spcFirstLastPara="1" rIns="91425" wrap="square" tIns="45700">
            <a:spAutoFit/>
          </a:bodyPr>
          <a:lstStyle/>
          <a:p>
            <a:pPr indent="-152400" lvl="0" marL="0" marR="0" rtl="0" algn="l">
              <a:lnSpc>
                <a:spcPct val="100000"/>
              </a:lnSpc>
              <a:spcBef>
                <a:spcPts val="0"/>
              </a:spcBef>
              <a:spcAft>
                <a:spcPts val="0"/>
              </a:spcAft>
              <a:buClr>
                <a:schemeClr val="lt1"/>
              </a:buClr>
              <a:buSzPts val="2400"/>
              <a:buFont typeface="Noto Sans Symbols"/>
              <a:buChar char="❖"/>
            </a:pPr>
            <a:r>
              <a:rPr lang="en-US" sz="2400">
                <a:solidFill>
                  <a:schemeClr val="lt1"/>
                </a:solidFill>
                <a:latin typeface="Tahoma"/>
                <a:ea typeface="Tahoma"/>
                <a:cs typeface="Tahoma"/>
                <a:sym typeface="Tahoma"/>
              </a:rPr>
              <a:t> loss indicated by timeout: (Slow Start)</a:t>
            </a:r>
            <a:endParaRPr/>
          </a:p>
          <a:p>
            <a:pPr indent="-114300" lvl="1" marL="457200" marR="0" rtl="0" algn="l">
              <a:lnSpc>
                <a:spcPct val="100000"/>
              </a:lnSpc>
              <a:spcBef>
                <a:spcPts val="0"/>
              </a:spcBef>
              <a:spcAft>
                <a:spcPts val="0"/>
              </a:spcAft>
              <a:buClr>
                <a:schemeClr val="lt1"/>
              </a:buClr>
              <a:buSzPts val="1800"/>
              <a:buFont typeface="Noto Sans Symbols"/>
              <a:buChar char="▪"/>
            </a:pPr>
            <a:r>
              <a:rPr b="1" i="0" lang="en-US" sz="1800" u="none" cap="none" strike="noStrike">
                <a:solidFill>
                  <a:schemeClr val="lt1"/>
                </a:solidFill>
                <a:latin typeface="Courier New"/>
                <a:ea typeface="Courier New"/>
                <a:cs typeface="Courier New"/>
                <a:sym typeface="Courier New"/>
              </a:rPr>
              <a:t> </a:t>
            </a:r>
            <a:r>
              <a:rPr b="1" i="0" lang="en-US" sz="2000" u="none" cap="none" strike="noStrike">
                <a:solidFill>
                  <a:schemeClr val="lt1"/>
                </a:solidFill>
                <a:latin typeface="Courier New"/>
                <a:ea typeface="Courier New"/>
                <a:cs typeface="Courier New"/>
                <a:sym typeface="Courier New"/>
              </a:rPr>
              <a:t>cwnd</a:t>
            </a:r>
            <a:r>
              <a:rPr b="0" i="0" lang="en-US" sz="1800" u="none" cap="none" strike="noStrike">
                <a:solidFill>
                  <a:schemeClr val="lt1"/>
                </a:solidFill>
                <a:latin typeface="Tahoma"/>
                <a:ea typeface="Tahoma"/>
                <a:cs typeface="Tahoma"/>
                <a:sym typeface="Tahoma"/>
              </a:rPr>
              <a:t> set to 1 MSS; </a:t>
            </a:r>
            <a:endParaRPr/>
          </a:p>
          <a:p>
            <a:pPr indent="-114300" lvl="1" marL="457200" marR="0" rtl="0" algn="l">
              <a:lnSpc>
                <a:spcPct val="100000"/>
              </a:lnSpc>
              <a:spcBef>
                <a:spcPts val="0"/>
              </a:spcBef>
              <a:spcAft>
                <a:spcPts val="0"/>
              </a:spcAft>
              <a:buClr>
                <a:schemeClr val="lt1"/>
              </a:buClr>
              <a:buSzPts val="1800"/>
              <a:buFont typeface="Noto Sans Symbols"/>
              <a:buChar char="▪"/>
            </a:pPr>
            <a:r>
              <a:rPr b="0" i="0" lang="en-US" sz="1800" u="none" cap="none" strike="noStrike">
                <a:solidFill>
                  <a:schemeClr val="lt1"/>
                </a:solidFill>
                <a:latin typeface="Tahoma"/>
                <a:ea typeface="Tahoma"/>
                <a:cs typeface="Tahoma"/>
                <a:sym typeface="Tahoma"/>
              </a:rPr>
              <a:t>  window then grows exponentially (as in slow start) to threshold, then grows linearly</a:t>
            </a:r>
            <a:endParaRPr/>
          </a:p>
        </p:txBody>
      </p:sp>
      <p:sp>
        <p:nvSpPr>
          <p:cNvPr id="7654" name="Google Shape;7654;p172"/>
          <p:cNvSpPr/>
          <p:nvPr/>
        </p:nvSpPr>
        <p:spPr>
          <a:xfrm>
            <a:off x="1947864" y="3821114"/>
            <a:ext cx="3875087" cy="3170237"/>
          </a:xfrm>
          <a:prstGeom prst="rect">
            <a:avLst/>
          </a:prstGeom>
          <a:noFill/>
          <a:ln>
            <a:noFill/>
          </a:ln>
        </p:spPr>
        <p:txBody>
          <a:bodyPr anchorCtr="0" anchor="t" bIns="45700" lIns="91425" spcFirstLastPara="1" rIns="91425" wrap="square" tIns="45700">
            <a:spAutoFit/>
          </a:bodyPr>
          <a:lstStyle/>
          <a:p>
            <a:pPr indent="-152400" lvl="0" marL="0" marR="0" rtl="0" algn="l">
              <a:lnSpc>
                <a:spcPct val="100000"/>
              </a:lnSpc>
              <a:spcBef>
                <a:spcPts val="0"/>
              </a:spcBef>
              <a:spcAft>
                <a:spcPts val="0"/>
              </a:spcAft>
              <a:buClr>
                <a:schemeClr val="lt1"/>
              </a:buClr>
              <a:buSzPts val="2400"/>
              <a:buFont typeface="Noto Sans Symbols"/>
              <a:buChar char="❖"/>
            </a:pPr>
            <a:r>
              <a:rPr lang="en-US" sz="2400">
                <a:solidFill>
                  <a:schemeClr val="lt1"/>
                </a:solidFill>
                <a:latin typeface="Tahoma"/>
                <a:ea typeface="Tahoma"/>
                <a:cs typeface="Tahoma"/>
                <a:sym typeface="Tahoma"/>
              </a:rPr>
              <a:t> loss indicated by 3 duplicate ACKs (Fast Recovery)</a:t>
            </a:r>
            <a:endParaRPr sz="1400">
              <a:solidFill>
                <a:schemeClr val="lt1"/>
              </a:solidFill>
              <a:latin typeface="Tahoma"/>
              <a:ea typeface="Tahoma"/>
              <a:cs typeface="Tahoma"/>
              <a:sym typeface="Tahoma"/>
            </a:endParaRPr>
          </a:p>
          <a:p>
            <a:pPr indent="-114300" lvl="1" marL="457200" marR="0" rtl="0" algn="l">
              <a:lnSpc>
                <a:spcPct val="100000"/>
              </a:lnSpc>
              <a:spcBef>
                <a:spcPts val="0"/>
              </a:spcBef>
              <a:spcAft>
                <a:spcPts val="0"/>
              </a:spcAft>
              <a:buClr>
                <a:schemeClr val="lt1"/>
              </a:buClr>
              <a:buSzPts val="1800"/>
              <a:buFont typeface="Noto Sans Symbols"/>
              <a:buChar char="▪"/>
            </a:pPr>
            <a:r>
              <a:rPr b="0" i="0" lang="en-US" sz="1800" u="none" cap="none" strike="noStrike">
                <a:solidFill>
                  <a:schemeClr val="lt1"/>
                </a:solidFill>
                <a:latin typeface="Tahoma"/>
                <a:ea typeface="Tahoma"/>
                <a:cs typeface="Tahoma"/>
                <a:sym typeface="Tahoma"/>
              </a:rPr>
              <a:t>  dup ACKs indicate network capable of  delivering some segments </a:t>
            </a:r>
            <a:endParaRPr/>
          </a:p>
          <a:p>
            <a:pPr indent="-114300" lvl="1" marL="457200" marR="0" rtl="0" algn="l">
              <a:lnSpc>
                <a:spcPct val="100000"/>
              </a:lnSpc>
              <a:spcBef>
                <a:spcPts val="0"/>
              </a:spcBef>
              <a:spcAft>
                <a:spcPts val="0"/>
              </a:spcAft>
              <a:buClr>
                <a:schemeClr val="lt1"/>
              </a:buClr>
              <a:buSzPts val="1800"/>
              <a:buFont typeface="Noto Sans Symbols"/>
              <a:buChar char="▪"/>
            </a:pPr>
            <a:r>
              <a:rPr b="1" i="0" lang="en-US" sz="1800" u="none" cap="none" strike="noStrike">
                <a:solidFill>
                  <a:schemeClr val="lt1"/>
                </a:solidFill>
                <a:latin typeface="Courier New"/>
                <a:ea typeface="Courier New"/>
                <a:cs typeface="Courier New"/>
                <a:sym typeface="Courier New"/>
              </a:rPr>
              <a:t> </a:t>
            </a:r>
            <a:r>
              <a:rPr b="1" i="0" lang="en-US" sz="2000" u="none" cap="none" strike="noStrike">
                <a:solidFill>
                  <a:schemeClr val="lt1"/>
                </a:solidFill>
                <a:latin typeface="Courier New"/>
                <a:ea typeface="Courier New"/>
                <a:cs typeface="Courier New"/>
                <a:sym typeface="Courier New"/>
              </a:rPr>
              <a:t>cwnd</a:t>
            </a:r>
            <a:r>
              <a:rPr b="0" i="0" lang="en-US" sz="1800" u="none" cap="none" strike="noStrike">
                <a:solidFill>
                  <a:schemeClr val="lt1"/>
                </a:solidFill>
                <a:latin typeface="Tahoma"/>
                <a:ea typeface="Tahoma"/>
                <a:cs typeface="Tahoma"/>
                <a:sym typeface="Tahoma"/>
              </a:rPr>
              <a:t> is cut in half window plus 3 times the segment then grows linearly</a:t>
            </a:r>
            <a:endParaRPr/>
          </a:p>
          <a:p>
            <a:pPr indent="0" lvl="1" marL="4572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chemeClr val="lt1"/>
              </a:solidFill>
              <a:latin typeface="Tahoma"/>
              <a:ea typeface="Tahoma"/>
              <a:cs typeface="Tahoma"/>
              <a:sym typeface="Tahoma"/>
            </a:endParaRPr>
          </a:p>
        </p:txBody>
      </p:sp>
      <p:sp>
        <p:nvSpPr>
          <p:cNvPr id="7655" name="Google Shape;7655;p172"/>
          <p:cNvSpPr txBox="1"/>
          <p:nvPr>
            <p:ph type="title"/>
          </p:nvPr>
        </p:nvSpPr>
        <p:spPr>
          <a:xfrm>
            <a:off x="2209800" y="0"/>
            <a:ext cx="7772400" cy="64135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00A3"/>
              </a:buClr>
              <a:buSzPts val="2800"/>
              <a:buFont typeface="Calibri"/>
              <a:buNone/>
            </a:pPr>
            <a:r>
              <a:rPr lang="en-US" sz="2800"/>
              <a:t>TCP: detecting, reacting to loss</a:t>
            </a:r>
            <a:endParaRPr/>
          </a:p>
        </p:txBody>
      </p:sp>
      <p:sp>
        <p:nvSpPr>
          <p:cNvPr id="7656" name="Google Shape;7656;p172"/>
          <p:cNvSpPr/>
          <p:nvPr/>
        </p:nvSpPr>
        <p:spPr>
          <a:xfrm>
            <a:off x="6934200" y="1916114"/>
            <a:ext cx="2895600" cy="3540125"/>
          </a:xfrm>
          <a:prstGeom prst="rect">
            <a:avLst/>
          </a:prstGeom>
          <a:noFill/>
          <a:ln>
            <a:noFill/>
          </a:ln>
        </p:spPr>
        <p:txBody>
          <a:bodyPr anchorCtr="0" anchor="t" bIns="45700" lIns="91425" spcFirstLastPara="1" rIns="91425" wrap="square" tIns="45700">
            <a:spAutoFit/>
          </a:bodyPr>
          <a:lstStyle/>
          <a:p>
            <a:pPr indent="-152400" lvl="0" marL="0" marR="0" rtl="0" algn="l">
              <a:lnSpc>
                <a:spcPct val="100000"/>
              </a:lnSpc>
              <a:spcBef>
                <a:spcPts val="0"/>
              </a:spcBef>
              <a:spcAft>
                <a:spcPts val="0"/>
              </a:spcAft>
              <a:buClr>
                <a:schemeClr val="lt1"/>
              </a:buClr>
              <a:buSzPts val="2400"/>
              <a:buFont typeface="Noto Sans Symbols"/>
              <a:buChar char="❖"/>
            </a:pPr>
            <a:r>
              <a:rPr lang="en-US" sz="2400">
                <a:solidFill>
                  <a:schemeClr val="lt1"/>
                </a:solidFill>
                <a:latin typeface="Tahoma"/>
                <a:ea typeface="Tahoma"/>
                <a:cs typeface="Tahoma"/>
                <a:sym typeface="Tahoma"/>
              </a:rPr>
              <a:t> loss indicated by timeout or 3 duplicate ACKs : (Slow Start)</a:t>
            </a:r>
            <a:endParaRPr/>
          </a:p>
          <a:p>
            <a:pPr indent="-114300" lvl="1" marL="457200" marR="0" rtl="0" algn="l">
              <a:lnSpc>
                <a:spcPct val="100000"/>
              </a:lnSpc>
              <a:spcBef>
                <a:spcPts val="0"/>
              </a:spcBef>
              <a:spcAft>
                <a:spcPts val="0"/>
              </a:spcAft>
              <a:buClr>
                <a:schemeClr val="lt1"/>
              </a:buClr>
              <a:buSzPts val="1800"/>
              <a:buFont typeface="Noto Sans Symbols"/>
              <a:buChar char="▪"/>
            </a:pPr>
            <a:r>
              <a:rPr b="1" i="0" lang="en-US" sz="1800" u="none" cap="none" strike="noStrike">
                <a:solidFill>
                  <a:schemeClr val="lt1"/>
                </a:solidFill>
                <a:latin typeface="Courier New"/>
                <a:ea typeface="Courier New"/>
                <a:cs typeface="Courier New"/>
                <a:sym typeface="Courier New"/>
              </a:rPr>
              <a:t> </a:t>
            </a:r>
            <a:r>
              <a:rPr b="1" i="0" lang="en-US" sz="2000" u="none" cap="none" strike="noStrike">
                <a:solidFill>
                  <a:schemeClr val="lt1"/>
                </a:solidFill>
                <a:latin typeface="Courier New"/>
                <a:ea typeface="Courier New"/>
                <a:cs typeface="Courier New"/>
                <a:sym typeface="Courier New"/>
              </a:rPr>
              <a:t>cwnd</a:t>
            </a:r>
            <a:r>
              <a:rPr b="0" i="0" lang="en-US" sz="1800" u="none" cap="none" strike="noStrike">
                <a:solidFill>
                  <a:schemeClr val="lt1"/>
                </a:solidFill>
                <a:latin typeface="Tahoma"/>
                <a:ea typeface="Tahoma"/>
                <a:cs typeface="Tahoma"/>
                <a:sym typeface="Tahoma"/>
              </a:rPr>
              <a:t> set to 1 MSS; </a:t>
            </a:r>
            <a:endParaRPr/>
          </a:p>
          <a:p>
            <a:pPr indent="-114300" lvl="1" marL="457200" marR="0" rtl="0" algn="l">
              <a:lnSpc>
                <a:spcPct val="100000"/>
              </a:lnSpc>
              <a:spcBef>
                <a:spcPts val="0"/>
              </a:spcBef>
              <a:spcAft>
                <a:spcPts val="0"/>
              </a:spcAft>
              <a:buClr>
                <a:schemeClr val="lt1"/>
              </a:buClr>
              <a:buSzPts val="1800"/>
              <a:buFont typeface="Noto Sans Symbols"/>
              <a:buChar char="▪"/>
            </a:pPr>
            <a:r>
              <a:rPr b="0" i="0" lang="en-US" sz="1800" u="none" cap="none" strike="noStrike">
                <a:solidFill>
                  <a:schemeClr val="lt1"/>
                </a:solidFill>
                <a:latin typeface="Tahoma"/>
                <a:ea typeface="Tahoma"/>
                <a:cs typeface="Tahoma"/>
                <a:sym typeface="Tahoma"/>
              </a:rPr>
              <a:t>  window then grows exponentially (as in slow start) to threshold, then grows linearly</a:t>
            </a:r>
            <a:endParaRPr/>
          </a:p>
        </p:txBody>
      </p:sp>
      <p:sp>
        <p:nvSpPr>
          <p:cNvPr id="7657" name="Google Shape;7657;p172"/>
          <p:cNvSpPr/>
          <p:nvPr/>
        </p:nvSpPr>
        <p:spPr>
          <a:xfrm>
            <a:off x="2741389" y="762001"/>
            <a:ext cx="1595886"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Noto Sans Symbols"/>
              <a:buNone/>
            </a:pPr>
            <a:r>
              <a:rPr lang="en-US" sz="2400">
                <a:solidFill>
                  <a:schemeClr val="dk1"/>
                </a:solidFill>
                <a:latin typeface="Tahoma"/>
                <a:ea typeface="Tahoma"/>
                <a:cs typeface="Tahoma"/>
                <a:sym typeface="Tahoma"/>
              </a:rPr>
              <a:t>TCP RENO</a:t>
            </a:r>
            <a:endParaRPr/>
          </a:p>
        </p:txBody>
      </p:sp>
      <p:sp>
        <p:nvSpPr>
          <p:cNvPr id="7658" name="Google Shape;7658;p172"/>
          <p:cNvSpPr/>
          <p:nvPr/>
        </p:nvSpPr>
        <p:spPr>
          <a:xfrm>
            <a:off x="7312790" y="914401"/>
            <a:ext cx="1851084"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Noto Sans Symbols"/>
              <a:buNone/>
            </a:pPr>
            <a:r>
              <a:rPr lang="en-US" sz="2400">
                <a:solidFill>
                  <a:schemeClr val="dk1"/>
                </a:solidFill>
                <a:latin typeface="Tahoma"/>
                <a:ea typeface="Tahoma"/>
                <a:cs typeface="Tahoma"/>
                <a:sym typeface="Tahoma"/>
              </a:rPr>
              <a:t>TCP TAHOE </a:t>
            </a:r>
            <a:endParaRPr/>
          </a:p>
        </p:txBody>
      </p:sp>
      <p:pic>
        <p:nvPicPr>
          <p:cNvPr descr="underline_base" id="7659" name="Google Shape;7659;p172"/>
          <p:cNvPicPr preferRelativeResize="0"/>
          <p:nvPr/>
        </p:nvPicPr>
        <p:blipFill rotWithShape="1">
          <a:blip r:embed="rId3">
            <a:alphaModFix/>
          </a:blip>
          <a:srcRect b="0" l="0" r="0" t="0"/>
          <a:stretch/>
        </p:blipFill>
        <p:spPr>
          <a:xfrm>
            <a:off x="2193926" y="636589"/>
            <a:ext cx="7313613" cy="173037"/>
          </a:xfrm>
          <a:prstGeom prst="rect">
            <a:avLst/>
          </a:prstGeom>
          <a:noFill/>
          <a:ln>
            <a:noFill/>
          </a:ln>
        </p:spPr>
      </p:pic>
      <p:sp>
        <p:nvSpPr>
          <p:cNvPr id="7660" name="Google Shape;7660;p17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4" name="Shape 7664"/>
        <p:cNvGrpSpPr/>
        <p:nvPr/>
      </p:nvGrpSpPr>
      <p:grpSpPr>
        <a:xfrm>
          <a:off x="0" y="0"/>
          <a:ext cx="0" cy="0"/>
          <a:chOff x="0" y="0"/>
          <a:chExt cx="0" cy="0"/>
        </a:xfrm>
      </p:grpSpPr>
      <p:grpSp>
        <p:nvGrpSpPr>
          <p:cNvPr id="7665" name="Google Shape;7665;p173"/>
          <p:cNvGrpSpPr/>
          <p:nvPr/>
        </p:nvGrpSpPr>
        <p:grpSpPr>
          <a:xfrm>
            <a:off x="8220481" y="-249778"/>
            <a:ext cx="2461403" cy="1558421"/>
            <a:chOff x="6697235" y="-249764"/>
            <a:chExt cx="2460203" cy="1558188"/>
          </a:xfrm>
        </p:grpSpPr>
        <p:sp>
          <p:nvSpPr>
            <p:cNvPr id="7666" name="Google Shape;7666;p173"/>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sz="2400">
                <a:solidFill>
                  <a:schemeClr val="dk1"/>
                </a:solidFill>
                <a:latin typeface="Comic Sans MS"/>
                <a:ea typeface="Comic Sans MS"/>
                <a:cs typeface="Comic Sans MS"/>
                <a:sym typeface="Comic Sans MS"/>
              </a:endParaRPr>
            </a:p>
          </p:txBody>
        </p:sp>
        <p:sp>
          <p:nvSpPr>
            <p:cNvPr id="7667" name="Google Shape;7667;p173"/>
            <p:cNvSpPr txBox="1"/>
            <p:nvPr/>
          </p:nvSpPr>
          <p:spPr>
            <a:xfrm>
              <a:off x="7375921" y="342294"/>
              <a:ext cx="94128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Self-Test</a:t>
              </a:r>
              <a:endParaRPr/>
            </a:p>
          </p:txBody>
        </p:sp>
      </p:grpSp>
      <p:sp>
        <p:nvSpPr>
          <p:cNvPr id="7668" name="Google Shape;7668;p173"/>
          <p:cNvSpPr txBox="1"/>
          <p:nvPr/>
        </p:nvSpPr>
        <p:spPr>
          <a:xfrm>
            <a:off x="1838325" y="1320801"/>
            <a:ext cx="3282950" cy="52419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1" lang="en-US" sz="2200" u="sng">
                <a:solidFill>
                  <a:schemeClr val="dk1"/>
                </a:solidFill>
                <a:latin typeface="Arial"/>
                <a:ea typeface="Arial"/>
                <a:cs typeface="Arial"/>
                <a:sym typeface="Arial"/>
              </a:rPr>
              <a:t>Question:</a:t>
            </a:r>
            <a:endParaRPr/>
          </a:p>
          <a:p>
            <a:pPr indent="0" lvl="0" marL="0" marR="0" rtl="0" algn="l">
              <a:lnSpc>
                <a:spcPct val="100000"/>
              </a:lnSpc>
              <a:spcBef>
                <a:spcPts val="440"/>
              </a:spcBef>
              <a:spcAft>
                <a:spcPts val="0"/>
              </a:spcAft>
              <a:buClr>
                <a:srgbClr val="000099"/>
              </a:buClr>
              <a:buSzPts val="1430"/>
              <a:buFont typeface="Noto Sans Symbols"/>
              <a:buNone/>
            </a:pPr>
            <a:r>
              <a:t/>
            </a:r>
            <a:endParaRPr b="1" sz="2200" u="sng">
              <a:solidFill>
                <a:schemeClr val="dk1"/>
              </a:solidFill>
              <a:latin typeface="Arial"/>
              <a:ea typeface="Arial"/>
              <a:cs typeface="Arial"/>
              <a:sym typeface="Arial"/>
            </a:endParaRPr>
          </a:p>
          <a:p>
            <a:pPr indent="0" lvl="0" marL="0" marR="0" rtl="0" algn="l">
              <a:lnSpc>
                <a:spcPct val="100000"/>
              </a:lnSpc>
              <a:spcBef>
                <a:spcPts val="440"/>
              </a:spcBef>
              <a:spcAft>
                <a:spcPts val="0"/>
              </a:spcAft>
              <a:buClr>
                <a:srgbClr val="000099"/>
              </a:buClr>
              <a:buSzPts val="1430"/>
              <a:buFont typeface="Noto Sans Symbols"/>
              <a:buNone/>
            </a:pPr>
            <a:r>
              <a:rPr lang="en-US" sz="2200">
                <a:solidFill>
                  <a:schemeClr val="dk1"/>
                </a:solidFill>
                <a:latin typeface="Arial"/>
                <a:ea typeface="Arial"/>
                <a:cs typeface="Arial"/>
                <a:sym typeface="Arial"/>
              </a:rPr>
              <a:t>Supposed host A connected to host B for transmitting segments over TCP with congestion control.</a:t>
            </a:r>
            <a:endParaRPr/>
          </a:p>
          <a:p>
            <a:pPr indent="0" lvl="0" marL="0" marR="0" rtl="0" algn="l">
              <a:lnSpc>
                <a:spcPct val="100000"/>
              </a:lnSpc>
              <a:spcBef>
                <a:spcPts val="440"/>
              </a:spcBef>
              <a:spcAft>
                <a:spcPts val="0"/>
              </a:spcAft>
              <a:buClr>
                <a:srgbClr val="000099"/>
              </a:buClr>
              <a:buSzPts val="1430"/>
              <a:buFont typeface="Noto Sans Symbols"/>
              <a:buNone/>
            </a:pPr>
            <a:r>
              <a:rPr lang="en-US" sz="2200">
                <a:solidFill>
                  <a:schemeClr val="dk1"/>
                </a:solidFill>
                <a:latin typeface="Arial"/>
                <a:ea typeface="Arial"/>
                <a:cs typeface="Arial"/>
                <a:sym typeface="Arial"/>
              </a:rPr>
              <a:t>Assume that the initial threshold is 6 MSS.</a:t>
            </a:r>
            <a:endParaRPr/>
          </a:p>
          <a:p>
            <a:pPr indent="0" lvl="0" marL="0" marR="0" rtl="0" algn="l">
              <a:lnSpc>
                <a:spcPct val="100000"/>
              </a:lnSpc>
              <a:spcBef>
                <a:spcPts val="440"/>
              </a:spcBef>
              <a:spcAft>
                <a:spcPts val="0"/>
              </a:spcAft>
              <a:buClr>
                <a:srgbClr val="000099"/>
              </a:buClr>
              <a:buSzPts val="1430"/>
              <a:buFont typeface="Noto Sans Symbols"/>
              <a:buNone/>
            </a:pPr>
            <a:r>
              <a:t/>
            </a:r>
            <a:endParaRPr sz="2200">
              <a:solidFill>
                <a:schemeClr val="dk1"/>
              </a:solidFill>
              <a:latin typeface="Arial"/>
              <a:ea typeface="Arial"/>
              <a:cs typeface="Arial"/>
              <a:sym typeface="Arial"/>
            </a:endParaRPr>
          </a:p>
          <a:p>
            <a:pPr indent="0" lvl="0" marL="0" marR="0" rtl="0" algn="l">
              <a:lnSpc>
                <a:spcPct val="100000"/>
              </a:lnSpc>
              <a:spcBef>
                <a:spcPts val="440"/>
              </a:spcBef>
              <a:spcAft>
                <a:spcPts val="0"/>
              </a:spcAft>
              <a:buClr>
                <a:srgbClr val="000099"/>
              </a:buClr>
              <a:buSzPts val="1430"/>
              <a:buFont typeface="Noto Sans Symbols"/>
              <a:buNone/>
            </a:pPr>
            <a:r>
              <a:rPr lang="en-US" sz="2200">
                <a:solidFill>
                  <a:schemeClr val="dk1"/>
                </a:solidFill>
                <a:latin typeface="Arial"/>
                <a:ea typeface="Arial"/>
                <a:cs typeface="Arial"/>
                <a:sym typeface="Arial"/>
              </a:rPr>
              <a:t>If the timeout event occurred at transmission round (TR=8), answer the following questions:</a:t>
            </a:r>
            <a:endParaRPr/>
          </a:p>
        </p:txBody>
      </p:sp>
      <p:graphicFrame>
        <p:nvGraphicFramePr>
          <p:cNvPr id="7669" name="Google Shape;7669;p173"/>
          <p:cNvGraphicFramePr/>
          <p:nvPr/>
        </p:nvGraphicFramePr>
        <p:xfrm>
          <a:off x="6197600" y="1092200"/>
          <a:ext cx="3000000" cy="3000000"/>
        </p:xfrm>
        <a:graphic>
          <a:graphicData uri="http://schemas.openxmlformats.org/drawingml/2006/table">
            <a:tbl>
              <a:tblPr bandRow="1" firstRow="1">
                <a:noFill/>
                <a:tableStyleId>{6A801659-9FE2-4FBA-BB42-B8B3FDABCD59}</a:tableStyleId>
              </a:tblPr>
              <a:tblGrid>
                <a:gridCol w="1381650"/>
                <a:gridCol w="1381650"/>
                <a:gridCol w="1381650"/>
              </a:tblGrid>
              <a:tr h="370850">
                <a:tc>
                  <a:txBody>
                    <a:bodyPr/>
                    <a:lstStyle/>
                    <a:p>
                      <a:pPr indent="0" lvl="0" marL="0" marR="0" rtl="0" algn="ctr">
                        <a:spcBef>
                          <a:spcPts val="0"/>
                        </a:spcBef>
                        <a:spcAft>
                          <a:spcPts val="0"/>
                        </a:spcAft>
                        <a:buNone/>
                      </a:pPr>
                      <a:r>
                        <a:rPr b="0" lang="en-US" sz="1800">
                          <a:latin typeface="Arial"/>
                          <a:ea typeface="Arial"/>
                          <a:cs typeface="Arial"/>
                          <a:sym typeface="Arial"/>
                        </a:rPr>
                        <a:t>TR</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800">
                          <a:latin typeface="Arial"/>
                          <a:ea typeface="Arial"/>
                          <a:cs typeface="Arial"/>
                          <a:sym typeface="Arial"/>
                        </a:rPr>
                        <a:t>CW</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800">
                          <a:latin typeface="Arial"/>
                          <a:ea typeface="Arial"/>
                          <a:cs typeface="Arial"/>
                          <a:sym typeface="Arial"/>
                        </a:rPr>
                        <a:t>SS</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3</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5</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6</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8</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9</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10</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13</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7670" name="Google Shape;7670;p173"/>
          <p:cNvSpPr/>
          <p:nvPr/>
        </p:nvSpPr>
        <p:spPr>
          <a:xfrm>
            <a:off x="1820864" y="6581776"/>
            <a:ext cx="385603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Noto Sans Symbols"/>
              <a:buNone/>
            </a:pPr>
            <a:r>
              <a:rPr i="1" lang="en-US" sz="1200">
                <a:solidFill>
                  <a:schemeClr val="dk1"/>
                </a:solidFill>
                <a:latin typeface="Arial"/>
                <a:ea typeface="Arial"/>
                <a:cs typeface="Arial"/>
                <a:sym typeface="Arial"/>
              </a:rPr>
              <a:t>Note: CW (Congestion Window), SS (Segment Send)</a:t>
            </a:r>
            <a:endParaRPr/>
          </a:p>
        </p:txBody>
      </p:sp>
      <p:sp>
        <p:nvSpPr>
          <p:cNvPr id="7671" name="Google Shape;7671;p173"/>
          <p:cNvSpPr/>
          <p:nvPr/>
        </p:nvSpPr>
        <p:spPr>
          <a:xfrm>
            <a:off x="3719514" y="158750"/>
            <a:ext cx="2801937" cy="1066800"/>
          </a:xfrm>
          <a:prstGeom prst="cube">
            <a:avLst>
              <a:gd fmla="val 25000" name="adj"/>
            </a:avLst>
          </a:prstGeom>
          <a:solidFill>
            <a:srgbClr val="FFFF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Initial threshold = 6</a:t>
            </a:r>
            <a:endParaRPr/>
          </a:p>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Timeout @ TR 8</a:t>
            </a:r>
            <a:endParaRPr/>
          </a:p>
        </p:txBody>
      </p:sp>
      <p:sp>
        <p:nvSpPr>
          <p:cNvPr id="7672" name="Google Shape;7672;p17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671"/>
                                        </p:tgtEl>
                                        <p:attrNameLst>
                                          <p:attrName>style.visibility</p:attrName>
                                        </p:attrNameLst>
                                      </p:cBhvr>
                                      <p:to>
                                        <p:strVal val="visible"/>
                                      </p:to>
                                    </p:set>
                                    <p:anim calcmode="lin" valueType="num">
                                      <p:cBhvr additive="base">
                                        <p:cTn dur="500"/>
                                        <p:tgtEl>
                                          <p:spTgt spid="767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6" name="Shape 7676"/>
        <p:cNvGrpSpPr/>
        <p:nvPr/>
      </p:nvGrpSpPr>
      <p:grpSpPr>
        <a:xfrm>
          <a:off x="0" y="0"/>
          <a:ext cx="0" cy="0"/>
          <a:chOff x="0" y="0"/>
          <a:chExt cx="0" cy="0"/>
        </a:xfrm>
      </p:grpSpPr>
      <p:grpSp>
        <p:nvGrpSpPr>
          <p:cNvPr id="7677" name="Google Shape;7677;p174"/>
          <p:cNvGrpSpPr/>
          <p:nvPr/>
        </p:nvGrpSpPr>
        <p:grpSpPr>
          <a:xfrm>
            <a:off x="8220481" y="-249778"/>
            <a:ext cx="2461403" cy="1558421"/>
            <a:chOff x="6697235" y="-249764"/>
            <a:chExt cx="2460203" cy="1558188"/>
          </a:xfrm>
        </p:grpSpPr>
        <p:sp>
          <p:nvSpPr>
            <p:cNvPr id="7678" name="Google Shape;7678;p174"/>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sz="2400">
                <a:solidFill>
                  <a:schemeClr val="dk1"/>
                </a:solidFill>
                <a:latin typeface="Comic Sans MS"/>
                <a:ea typeface="Comic Sans MS"/>
                <a:cs typeface="Comic Sans MS"/>
                <a:sym typeface="Comic Sans MS"/>
              </a:endParaRPr>
            </a:p>
          </p:txBody>
        </p:sp>
        <p:sp>
          <p:nvSpPr>
            <p:cNvPr id="7679" name="Google Shape;7679;p174"/>
            <p:cNvSpPr txBox="1"/>
            <p:nvPr/>
          </p:nvSpPr>
          <p:spPr>
            <a:xfrm>
              <a:off x="7375921" y="342294"/>
              <a:ext cx="94128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Self-Test</a:t>
              </a:r>
              <a:endParaRPr/>
            </a:p>
          </p:txBody>
        </p:sp>
      </p:grpSp>
      <p:sp>
        <p:nvSpPr>
          <p:cNvPr id="7680" name="Google Shape;7680;p174"/>
          <p:cNvSpPr txBox="1"/>
          <p:nvPr/>
        </p:nvSpPr>
        <p:spPr>
          <a:xfrm>
            <a:off x="1838326" y="1320801"/>
            <a:ext cx="3749675" cy="52419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1" lang="en-US" sz="2200">
                <a:solidFill>
                  <a:schemeClr val="dk1"/>
                </a:solidFill>
                <a:latin typeface="Arial"/>
                <a:ea typeface="Arial"/>
                <a:cs typeface="Arial"/>
                <a:sym typeface="Arial"/>
              </a:rPr>
              <a:t>…</a:t>
            </a:r>
            <a:endParaRPr b="1" sz="2200" u="sng">
              <a:solidFill>
                <a:schemeClr val="dk1"/>
              </a:solidFill>
              <a:latin typeface="Arial"/>
              <a:ea typeface="Arial"/>
              <a:cs typeface="Arial"/>
              <a:sym typeface="Arial"/>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lang="en-US" sz="2200">
                <a:solidFill>
                  <a:schemeClr val="dk1"/>
                </a:solidFill>
                <a:latin typeface="Arial"/>
                <a:ea typeface="Arial"/>
                <a:cs typeface="Arial"/>
                <a:sym typeface="Arial"/>
              </a:rPr>
              <a:t>Complete the table.</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lang="en-US" sz="2200">
                <a:solidFill>
                  <a:schemeClr val="dk1"/>
                </a:solidFill>
                <a:latin typeface="Arial"/>
                <a:ea typeface="Arial"/>
                <a:cs typeface="Arial"/>
                <a:sym typeface="Arial"/>
              </a:rPr>
              <a:t>What is the new threshold after timeout?</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lang="en-US" sz="2200">
                <a:solidFill>
                  <a:schemeClr val="dk1"/>
                </a:solidFill>
                <a:latin typeface="Arial"/>
                <a:ea typeface="Arial"/>
                <a:cs typeface="Arial"/>
                <a:sym typeface="Arial"/>
              </a:rPr>
              <a:t>What is the range of TRs involved in the congestion avoidance.</a:t>
            </a:r>
            <a:endParaRPr/>
          </a:p>
          <a:p>
            <a:pPr indent="-457200" lvl="0" marL="457200" marR="0" rtl="0" algn="l">
              <a:lnSpc>
                <a:spcPct val="100000"/>
              </a:lnSpc>
              <a:spcBef>
                <a:spcPts val="440"/>
              </a:spcBef>
              <a:spcAft>
                <a:spcPts val="0"/>
              </a:spcAft>
              <a:buClr>
                <a:schemeClr val="dk1"/>
              </a:buClr>
              <a:buSzPts val="2200"/>
              <a:buFont typeface="Noto Sans Symbols"/>
              <a:buAutoNum type="alphaLcParenR"/>
            </a:pPr>
            <a:r>
              <a:rPr lang="en-US" sz="2200">
                <a:solidFill>
                  <a:schemeClr val="dk1"/>
                </a:solidFill>
                <a:latin typeface="Arial"/>
                <a:ea typeface="Arial"/>
                <a:cs typeface="Arial"/>
                <a:sym typeface="Arial"/>
              </a:rPr>
              <a:t>What is the range of TRs involved in the fast recovery?</a:t>
            </a:r>
            <a:endParaRPr/>
          </a:p>
          <a:p>
            <a:pPr indent="-457200" lvl="0" marL="457200" marR="0" rtl="0" algn="l">
              <a:lnSpc>
                <a:spcPct val="100000"/>
              </a:lnSpc>
              <a:spcBef>
                <a:spcPts val="440"/>
              </a:spcBef>
              <a:spcAft>
                <a:spcPts val="0"/>
              </a:spcAft>
              <a:buClr>
                <a:schemeClr val="dk1"/>
              </a:buClr>
              <a:buSzPts val="2200"/>
              <a:buFont typeface="Calibri"/>
              <a:buAutoNum type="alphaLcParenR"/>
            </a:pPr>
            <a:r>
              <a:rPr lang="en-US" sz="2200">
                <a:solidFill>
                  <a:schemeClr val="dk1"/>
                </a:solidFill>
                <a:latin typeface="Arial"/>
                <a:ea typeface="Arial"/>
                <a:cs typeface="Arial"/>
                <a:sym typeface="Arial"/>
              </a:rPr>
              <a:t>At which TR the new threshold applied and how many segments sent at that TR?</a:t>
            </a:r>
            <a:endParaRPr/>
          </a:p>
        </p:txBody>
      </p:sp>
      <p:graphicFrame>
        <p:nvGraphicFramePr>
          <p:cNvPr id="7681" name="Google Shape;7681;p174"/>
          <p:cNvGraphicFramePr/>
          <p:nvPr/>
        </p:nvGraphicFramePr>
        <p:xfrm>
          <a:off x="6197600" y="1092200"/>
          <a:ext cx="3000000" cy="3000000"/>
        </p:xfrm>
        <a:graphic>
          <a:graphicData uri="http://schemas.openxmlformats.org/drawingml/2006/table">
            <a:tbl>
              <a:tblPr bandRow="1" firstRow="1">
                <a:noFill/>
                <a:tableStyleId>{6A801659-9FE2-4FBA-BB42-B8B3FDABCD59}</a:tableStyleId>
              </a:tblPr>
              <a:tblGrid>
                <a:gridCol w="1381650"/>
                <a:gridCol w="1381650"/>
                <a:gridCol w="1381650"/>
              </a:tblGrid>
              <a:tr h="370850">
                <a:tc>
                  <a:txBody>
                    <a:bodyPr/>
                    <a:lstStyle/>
                    <a:p>
                      <a:pPr indent="0" lvl="0" marL="0" marR="0" rtl="0" algn="ctr">
                        <a:spcBef>
                          <a:spcPts val="0"/>
                        </a:spcBef>
                        <a:spcAft>
                          <a:spcPts val="0"/>
                        </a:spcAft>
                        <a:buNone/>
                      </a:pPr>
                      <a:r>
                        <a:rPr b="0" lang="en-US" sz="1800">
                          <a:latin typeface="Arial"/>
                          <a:ea typeface="Arial"/>
                          <a:cs typeface="Arial"/>
                          <a:sym typeface="Arial"/>
                        </a:rPr>
                        <a:t>TR</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800">
                          <a:latin typeface="Arial"/>
                          <a:ea typeface="Arial"/>
                          <a:cs typeface="Arial"/>
                          <a:sym typeface="Arial"/>
                        </a:rPr>
                        <a:t>CW</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800">
                          <a:latin typeface="Arial"/>
                          <a:ea typeface="Arial"/>
                          <a:cs typeface="Arial"/>
                          <a:sym typeface="Arial"/>
                        </a:rPr>
                        <a:t>SS</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3</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5</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6</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8</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9</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10</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13</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800">
                        <a:latin typeface="Arial"/>
                        <a:ea typeface="Arial"/>
                        <a:cs typeface="Arial"/>
                        <a:sym typeface="Arial"/>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7682" name="Google Shape;7682;p174"/>
          <p:cNvSpPr/>
          <p:nvPr/>
        </p:nvSpPr>
        <p:spPr>
          <a:xfrm>
            <a:off x="1820864" y="6581776"/>
            <a:ext cx="385603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Noto Sans Symbols"/>
              <a:buNone/>
            </a:pPr>
            <a:r>
              <a:rPr i="1" lang="en-US" sz="1200">
                <a:solidFill>
                  <a:schemeClr val="dk1"/>
                </a:solidFill>
                <a:latin typeface="Arial"/>
                <a:ea typeface="Arial"/>
                <a:cs typeface="Arial"/>
                <a:sym typeface="Arial"/>
              </a:rPr>
              <a:t>Note: CW (Congestion Window), SS (Segment Send)</a:t>
            </a:r>
            <a:endParaRPr/>
          </a:p>
        </p:txBody>
      </p:sp>
      <p:sp>
        <p:nvSpPr>
          <p:cNvPr id="7683" name="Google Shape;7683;p174"/>
          <p:cNvSpPr/>
          <p:nvPr/>
        </p:nvSpPr>
        <p:spPr>
          <a:xfrm>
            <a:off x="2879725" y="42863"/>
            <a:ext cx="2800350" cy="1066800"/>
          </a:xfrm>
          <a:prstGeom prst="cube">
            <a:avLst>
              <a:gd fmla="val 25000" name="adj"/>
            </a:avLst>
          </a:prstGeom>
          <a:solidFill>
            <a:srgbClr val="FFFF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Initial threshold = 6</a:t>
            </a:r>
            <a:endParaRPr/>
          </a:p>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Timeout @ TR 8</a:t>
            </a:r>
            <a:endParaRPr/>
          </a:p>
        </p:txBody>
      </p:sp>
      <p:sp>
        <p:nvSpPr>
          <p:cNvPr id="7684" name="Google Shape;7684;p17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8" name="Shape 7688"/>
        <p:cNvGrpSpPr/>
        <p:nvPr/>
      </p:nvGrpSpPr>
      <p:grpSpPr>
        <a:xfrm>
          <a:off x="0" y="0"/>
          <a:ext cx="0" cy="0"/>
          <a:chOff x="0" y="0"/>
          <a:chExt cx="0" cy="0"/>
        </a:xfrm>
      </p:grpSpPr>
      <p:grpSp>
        <p:nvGrpSpPr>
          <p:cNvPr id="7689" name="Google Shape;7689;p175"/>
          <p:cNvGrpSpPr/>
          <p:nvPr/>
        </p:nvGrpSpPr>
        <p:grpSpPr>
          <a:xfrm>
            <a:off x="8220481" y="-249778"/>
            <a:ext cx="2461403" cy="1558421"/>
            <a:chOff x="6697235" y="-249764"/>
            <a:chExt cx="2460203" cy="1558188"/>
          </a:xfrm>
        </p:grpSpPr>
        <p:sp>
          <p:nvSpPr>
            <p:cNvPr id="7690" name="Google Shape;7690;p175"/>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sz="2400">
                <a:solidFill>
                  <a:schemeClr val="dk1"/>
                </a:solidFill>
                <a:latin typeface="Comic Sans MS"/>
                <a:ea typeface="Comic Sans MS"/>
                <a:cs typeface="Comic Sans MS"/>
                <a:sym typeface="Comic Sans MS"/>
              </a:endParaRPr>
            </a:p>
          </p:txBody>
        </p:sp>
        <p:sp>
          <p:nvSpPr>
            <p:cNvPr id="7691" name="Google Shape;7691;p175"/>
            <p:cNvSpPr txBox="1"/>
            <p:nvPr/>
          </p:nvSpPr>
          <p:spPr>
            <a:xfrm>
              <a:off x="7375921" y="342294"/>
              <a:ext cx="94128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Self-Test</a:t>
              </a:r>
              <a:endParaRPr/>
            </a:p>
          </p:txBody>
        </p:sp>
      </p:grpSp>
      <p:sp>
        <p:nvSpPr>
          <p:cNvPr id="7692" name="Google Shape;7692;p175"/>
          <p:cNvSpPr txBox="1"/>
          <p:nvPr/>
        </p:nvSpPr>
        <p:spPr>
          <a:xfrm>
            <a:off x="1838325" y="1320801"/>
            <a:ext cx="3830638" cy="52419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1" lang="en-US" sz="2200" u="sng">
                <a:solidFill>
                  <a:srgbClr val="FF0000"/>
                </a:solidFill>
                <a:latin typeface="Arial"/>
                <a:ea typeface="Arial"/>
                <a:cs typeface="Arial"/>
                <a:sym typeface="Arial"/>
              </a:rPr>
              <a:t>Solution:</a:t>
            </a:r>
            <a:endParaRPr/>
          </a:p>
          <a:p>
            <a:pPr indent="0" lvl="0" marL="0" marR="0" rtl="0" algn="l">
              <a:lnSpc>
                <a:spcPct val="100000"/>
              </a:lnSpc>
              <a:spcBef>
                <a:spcPts val="440"/>
              </a:spcBef>
              <a:spcAft>
                <a:spcPts val="0"/>
              </a:spcAft>
              <a:buClr>
                <a:srgbClr val="000099"/>
              </a:buClr>
              <a:buSzPts val="1430"/>
              <a:buFont typeface="Noto Sans Symbols"/>
              <a:buNone/>
            </a:pPr>
            <a:r>
              <a:t/>
            </a:r>
            <a:endParaRPr b="1" sz="2200" u="sng">
              <a:solidFill>
                <a:schemeClr val="dk1"/>
              </a:solidFill>
              <a:latin typeface="Arial"/>
              <a:ea typeface="Arial"/>
              <a:cs typeface="Arial"/>
              <a:sym typeface="Arial"/>
            </a:endParaRPr>
          </a:p>
          <a:p>
            <a:pPr indent="-139700" lvl="0" marL="0" marR="0" rtl="0" algn="l">
              <a:lnSpc>
                <a:spcPct val="100000"/>
              </a:lnSpc>
              <a:spcBef>
                <a:spcPts val="440"/>
              </a:spcBef>
              <a:spcAft>
                <a:spcPts val="0"/>
              </a:spcAft>
              <a:buClr>
                <a:schemeClr val="dk1"/>
              </a:buClr>
              <a:buSzPts val="2200"/>
              <a:buFont typeface="Noto Sans Symbols"/>
              <a:buAutoNum type="alphaLcParenR"/>
            </a:pPr>
            <a:r>
              <a:rPr lang="en-US" sz="2200">
                <a:solidFill>
                  <a:schemeClr val="dk1"/>
                </a:solidFill>
                <a:latin typeface="Arial"/>
                <a:ea typeface="Arial"/>
                <a:cs typeface="Arial"/>
                <a:sym typeface="Arial"/>
              </a:rPr>
              <a:t>Complete the table.</a:t>
            </a:r>
            <a:endParaRPr/>
          </a:p>
          <a:p>
            <a:pPr indent="0" lvl="0" marL="0" marR="0" rtl="0" algn="l">
              <a:lnSpc>
                <a:spcPct val="100000"/>
              </a:lnSpc>
              <a:spcBef>
                <a:spcPts val="440"/>
              </a:spcBef>
              <a:spcAft>
                <a:spcPts val="0"/>
              </a:spcAft>
              <a:buClr>
                <a:schemeClr val="dk1"/>
              </a:buClr>
              <a:buSzPts val="2200"/>
              <a:buFont typeface="Noto Sans Symbols"/>
              <a:buNone/>
            </a:pPr>
            <a:r>
              <a:t/>
            </a:r>
            <a:endParaRPr sz="2200">
              <a:solidFill>
                <a:schemeClr val="dk1"/>
              </a:solidFill>
              <a:latin typeface="Arial"/>
              <a:ea typeface="Arial"/>
              <a:cs typeface="Arial"/>
              <a:sym typeface="Arial"/>
            </a:endParaRPr>
          </a:p>
          <a:p>
            <a:pPr indent="-139700" lvl="0" marL="0" marR="0" rtl="0" algn="l">
              <a:lnSpc>
                <a:spcPct val="100000"/>
              </a:lnSpc>
              <a:spcBef>
                <a:spcPts val="440"/>
              </a:spcBef>
              <a:spcAft>
                <a:spcPts val="0"/>
              </a:spcAft>
              <a:buClr>
                <a:schemeClr val="dk1"/>
              </a:buClr>
              <a:buSzPts val="2200"/>
              <a:buFont typeface="Noto Sans Symbols"/>
              <a:buAutoNum type="alphaLcParenR"/>
            </a:pPr>
            <a:r>
              <a:rPr lang="en-US" sz="2200">
                <a:solidFill>
                  <a:schemeClr val="dk1"/>
                </a:solidFill>
                <a:latin typeface="Arial"/>
                <a:ea typeface="Arial"/>
                <a:cs typeface="Arial"/>
                <a:sym typeface="Arial"/>
              </a:rPr>
              <a:t>What is the new threshold after timeout?</a:t>
            </a:r>
            <a:endParaRPr/>
          </a:p>
          <a:p>
            <a:pPr indent="0" lvl="1" marL="346075" marR="0" rtl="0" algn="l">
              <a:lnSpc>
                <a:spcPct val="100000"/>
              </a:lnSpc>
              <a:spcBef>
                <a:spcPts val="360"/>
              </a:spcBef>
              <a:spcAft>
                <a:spcPts val="0"/>
              </a:spcAft>
              <a:buClr>
                <a:srgbClr val="FF0000"/>
              </a:buClr>
              <a:buSzPts val="1800"/>
              <a:buFont typeface="Noto Sans Symbols"/>
              <a:buNone/>
            </a:pPr>
            <a:r>
              <a:rPr b="0" i="0" lang="en-US" sz="1800" u="none" cap="none" strike="noStrike">
                <a:solidFill>
                  <a:srgbClr val="FF0000"/>
                </a:solidFill>
                <a:latin typeface="Arial"/>
                <a:ea typeface="Arial"/>
                <a:cs typeface="Arial"/>
                <a:sym typeface="Arial"/>
              </a:rPr>
              <a:t>  = 10 / 2 = 5</a:t>
            </a:r>
            <a:endParaRPr/>
          </a:p>
          <a:p>
            <a:pPr indent="0" lvl="1" marL="346075" marR="0" rtl="0" algn="l">
              <a:lnSpc>
                <a:spcPct val="100000"/>
              </a:lnSpc>
              <a:spcBef>
                <a:spcPts val="36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a:p>
            <a:pPr indent="-139700" lvl="0" marL="0" marR="0" rtl="0" algn="l">
              <a:lnSpc>
                <a:spcPct val="100000"/>
              </a:lnSpc>
              <a:spcBef>
                <a:spcPts val="440"/>
              </a:spcBef>
              <a:spcAft>
                <a:spcPts val="0"/>
              </a:spcAft>
              <a:buClr>
                <a:schemeClr val="dk1"/>
              </a:buClr>
              <a:buSzPts val="2200"/>
              <a:buFont typeface="Noto Sans Symbols"/>
              <a:buAutoNum type="alphaLcParenR"/>
            </a:pPr>
            <a:r>
              <a:rPr lang="en-US" sz="2200">
                <a:solidFill>
                  <a:schemeClr val="dk1"/>
                </a:solidFill>
                <a:latin typeface="Arial"/>
                <a:ea typeface="Arial"/>
                <a:cs typeface="Arial"/>
                <a:sym typeface="Arial"/>
              </a:rPr>
              <a:t>What is the range of TRs involved in the congestion avoidance.</a:t>
            </a:r>
            <a:endParaRPr/>
          </a:p>
          <a:p>
            <a:pPr indent="0" lvl="1" marL="346075" marR="0" rtl="0" algn="l">
              <a:lnSpc>
                <a:spcPct val="100000"/>
              </a:lnSpc>
              <a:spcBef>
                <a:spcPts val="360"/>
              </a:spcBef>
              <a:spcAft>
                <a:spcPts val="0"/>
              </a:spcAft>
              <a:buClr>
                <a:srgbClr val="FF0000"/>
              </a:buClr>
              <a:buSzPts val="1800"/>
              <a:buFont typeface="Noto Sans Symbols"/>
              <a:buNone/>
            </a:pPr>
            <a:r>
              <a:rPr b="0" i="0" lang="en-US" sz="1800" u="none" cap="none" strike="noStrike">
                <a:solidFill>
                  <a:srgbClr val="FF0000"/>
                </a:solidFill>
                <a:latin typeface="Arial"/>
                <a:ea typeface="Arial"/>
                <a:cs typeface="Arial"/>
                <a:sym typeface="Arial"/>
              </a:rPr>
              <a:t>  = 5 to 8, 13 to 14</a:t>
            </a:r>
            <a:endParaRPr/>
          </a:p>
        </p:txBody>
      </p:sp>
      <p:graphicFrame>
        <p:nvGraphicFramePr>
          <p:cNvPr id="7693" name="Google Shape;7693;p175"/>
          <p:cNvGraphicFramePr/>
          <p:nvPr/>
        </p:nvGraphicFramePr>
        <p:xfrm>
          <a:off x="6197600" y="1092200"/>
          <a:ext cx="3000000" cy="3000000"/>
        </p:xfrm>
        <a:graphic>
          <a:graphicData uri="http://schemas.openxmlformats.org/drawingml/2006/table">
            <a:tbl>
              <a:tblPr bandRow="1" firstRow="1">
                <a:noFill/>
                <a:tableStyleId>{6A801659-9FE2-4FBA-BB42-B8B3FDABCD59}</a:tableStyleId>
              </a:tblPr>
              <a:tblGrid>
                <a:gridCol w="1381650"/>
                <a:gridCol w="1381650"/>
                <a:gridCol w="1381650"/>
              </a:tblGrid>
              <a:tr h="370850">
                <a:tc>
                  <a:txBody>
                    <a:bodyPr/>
                    <a:lstStyle/>
                    <a:p>
                      <a:pPr indent="0" lvl="0" marL="0" marR="0" rtl="0" algn="ctr">
                        <a:spcBef>
                          <a:spcPts val="0"/>
                        </a:spcBef>
                        <a:spcAft>
                          <a:spcPts val="0"/>
                        </a:spcAft>
                        <a:buNone/>
                      </a:pPr>
                      <a:r>
                        <a:rPr b="0" lang="en-US" sz="1800">
                          <a:latin typeface="Arial"/>
                          <a:ea typeface="Arial"/>
                          <a:cs typeface="Arial"/>
                          <a:sym typeface="Arial"/>
                        </a:rPr>
                        <a:t>TR</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800">
                          <a:latin typeface="Arial"/>
                          <a:ea typeface="Arial"/>
                          <a:cs typeface="Arial"/>
                          <a:sym typeface="Arial"/>
                        </a:rPr>
                        <a:t>CW</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800">
                          <a:latin typeface="Arial"/>
                          <a:ea typeface="Arial"/>
                          <a:cs typeface="Arial"/>
                          <a:sym typeface="Arial"/>
                        </a:rPr>
                        <a:t>SS</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3</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3</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6</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13</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5</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20</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6</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8</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28</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9</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37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8</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10</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47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9</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48</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10</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50</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54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5</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59</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13</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6</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65</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72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7694" name="Google Shape;7694;p175"/>
          <p:cNvSpPr/>
          <p:nvPr/>
        </p:nvSpPr>
        <p:spPr>
          <a:xfrm>
            <a:off x="1820864" y="6581776"/>
            <a:ext cx="385603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Noto Sans Symbols"/>
              <a:buNone/>
            </a:pPr>
            <a:r>
              <a:rPr i="1" lang="en-US" sz="1200">
                <a:solidFill>
                  <a:schemeClr val="dk1"/>
                </a:solidFill>
                <a:latin typeface="Arial"/>
                <a:ea typeface="Arial"/>
                <a:cs typeface="Arial"/>
                <a:sym typeface="Arial"/>
              </a:rPr>
              <a:t>Note: CW (Congestion Window), SS (Segment Send)</a:t>
            </a:r>
            <a:endParaRPr/>
          </a:p>
        </p:txBody>
      </p:sp>
      <p:sp>
        <p:nvSpPr>
          <p:cNvPr id="7695" name="Google Shape;7695;p175"/>
          <p:cNvSpPr txBox="1"/>
          <p:nvPr/>
        </p:nvSpPr>
        <p:spPr>
          <a:xfrm>
            <a:off x="8305801" y="2743200"/>
            <a:ext cx="663575" cy="215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800"/>
              <a:buFont typeface="Noto Sans Symbols"/>
              <a:buNone/>
            </a:pPr>
            <a:r>
              <a:rPr lang="en-US" sz="800">
                <a:solidFill>
                  <a:srgbClr val="FF0000"/>
                </a:solidFill>
                <a:latin typeface="Arial"/>
                <a:ea typeface="Arial"/>
                <a:cs typeface="Arial"/>
                <a:sym typeface="Arial"/>
              </a:rPr>
              <a:t>threshold1</a:t>
            </a:r>
            <a:endParaRPr/>
          </a:p>
        </p:txBody>
      </p:sp>
      <p:sp>
        <p:nvSpPr>
          <p:cNvPr id="7696" name="Google Shape;7696;p175"/>
          <p:cNvSpPr txBox="1"/>
          <p:nvPr/>
        </p:nvSpPr>
        <p:spPr>
          <a:xfrm>
            <a:off x="8305801" y="5699125"/>
            <a:ext cx="663575" cy="215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800"/>
              <a:buFont typeface="Noto Sans Symbols"/>
              <a:buNone/>
            </a:pPr>
            <a:r>
              <a:rPr lang="en-US" sz="800">
                <a:solidFill>
                  <a:srgbClr val="FF0000"/>
                </a:solidFill>
                <a:latin typeface="Arial"/>
                <a:ea typeface="Arial"/>
                <a:cs typeface="Arial"/>
                <a:sym typeface="Arial"/>
              </a:rPr>
              <a:t>threshold2</a:t>
            </a:r>
            <a:endParaRPr/>
          </a:p>
        </p:txBody>
      </p:sp>
      <p:sp>
        <p:nvSpPr>
          <p:cNvPr id="7697" name="Google Shape;7697;p175"/>
          <p:cNvSpPr/>
          <p:nvPr/>
        </p:nvSpPr>
        <p:spPr>
          <a:xfrm>
            <a:off x="2879725" y="42863"/>
            <a:ext cx="2800350" cy="1066800"/>
          </a:xfrm>
          <a:prstGeom prst="cube">
            <a:avLst>
              <a:gd fmla="val 25000" name="adj"/>
            </a:avLst>
          </a:prstGeom>
          <a:solidFill>
            <a:srgbClr val="FFFF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Initial threshold = 6</a:t>
            </a:r>
            <a:endParaRPr/>
          </a:p>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Timeout @ TR 8</a:t>
            </a:r>
            <a:endParaRPr/>
          </a:p>
        </p:txBody>
      </p:sp>
      <p:sp>
        <p:nvSpPr>
          <p:cNvPr id="7698" name="Google Shape;7698;p175"/>
          <p:cNvSpPr/>
          <p:nvPr/>
        </p:nvSpPr>
        <p:spPr>
          <a:xfrm>
            <a:off x="6096001" y="3962400"/>
            <a:ext cx="4246563" cy="533400"/>
          </a:xfrm>
          <a:prstGeom prst="rect">
            <a:avLst/>
          </a:prstGeom>
          <a:solidFill>
            <a:srgbClr val="FFFF00">
              <a:alpha val="31764"/>
            </a:srgbClr>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7699" name="Google Shape;7699;p175"/>
          <p:cNvSpPr/>
          <p:nvPr/>
        </p:nvSpPr>
        <p:spPr>
          <a:xfrm>
            <a:off x="5943600" y="2933700"/>
            <a:ext cx="4495800" cy="1473200"/>
          </a:xfrm>
          <a:prstGeom prst="rect">
            <a:avLst/>
          </a:prstGeom>
          <a:noFill/>
          <a:ln cap="flat" cmpd="sng" w="190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7700" name="Google Shape;7700;p175"/>
          <p:cNvSpPr/>
          <p:nvPr/>
        </p:nvSpPr>
        <p:spPr>
          <a:xfrm>
            <a:off x="5859464" y="5905500"/>
            <a:ext cx="4579937" cy="769938"/>
          </a:xfrm>
          <a:prstGeom prst="rect">
            <a:avLst/>
          </a:prstGeom>
          <a:noFill/>
          <a:ln cap="flat" cmpd="sng" w="254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pic>
        <p:nvPicPr>
          <p:cNvPr id="7701" name="Google Shape;7701;p175"/>
          <p:cNvPicPr preferRelativeResize="0"/>
          <p:nvPr/>
        </p:nvPicPr>
        <p:blipFill rotWithShape="1">
          <a:blip r:embed="rId3">
            <a:alphaModFix/>
          </a:blip>
          <a:srcRect b="0" l="0" r="0" t="0"/>
          <a:stretch/>
        </p:blipFill>
        <p:spPr>
          <a:xfrm>
            <a:off x="1458913" y="1277939"/>
            <a:ext cx="4419601" cy="2651125"/>
          </a:xfrm>
          <a:prstGeom prst="rect">
            <a:avLst/>
          </a:prstGeom>
          <a:noFill/>
          <a:ln>
            <a:noFill/>
          </a:ln>
        </p:spPr>
      </p:pic>
      <p:sp>
        <p:nvSpPr>
          <p:cNvPr id="7702" name="Google Shape;7702;p17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8"/>
                                        </p:tgtEl>
                                        <p:attrNameLst>
                                          <p:attrName>style.visibility</p:attrName>
                                        </p:attrNameLst>
                                      </p:cBhvr>
                                      <p:to>
                                        <p:strVal val="visible"/>
                                      </p:to>
                                    </p:set>
                                    <p:animEffect filter="fade" transition="in">
                                      <p:cBhvr>
                                        <p:cTn dur="500"/>
                                        <p:tgtEl>
                                          <p:spTgt spid="7698"/>
                                        </p:tgtEl>
                                      </p:cBhvr>
                                    </p:animEffect>
                                  </p:childTnLst>
                                </p:cTn>
                              </p:par>
                              <p:par>
                                <p:cTn fill="hold" nodeType="withEffect" presetClass="entr" presetID="1" presetSubtype="0">
                                  <p:stCondLst>
                                    <p:cond delay="0"/>
                                  </p:stCondLst>
                                  <p:childTnLst>
                                    <p:set>
                                      <p:cBhvr>
                                        <p:cTn dur="1" fill="hold">
                                          <p:stCondLst>
                                            <p:cond delay="0"/>
                                          </p:stCondLst>
                                        </p:cTn>
                                        <p:tgtEl>
                                          <p:spTgt spid="76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99"/>
                                        </p:tgtEl>
                                        <p:attrNameLst>
                                          <p:attrName>style.visibility</p:attrName>
                                        </p:attrNameLst>
                                      </p:cBhvr>
                                      <p:to>
                                        <p:strVal val="visible"/>
                                      </p:to>
                                    </p:set>
                                    <p:animEffect filter="fade" transition="in">
                                      <p:cBhvr>
                                        <p:cTn dur="500"/>
                                        <p:tgtEl>
                                          <p:spTgt spid="76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00"/>
                                        </p:tgtEl>
                                        <p:attrNameLst>
                                          <p:attrName>style.visibility</p:attrName>
                                        </p:attrNameLst>
                                      </p:cBhvr>
                                      <p:to>
                                        <p:strVal val="visible"/>
                                      </p:to>
                                    </p:set>
                                    <p:animEffect filter="fade" transition="in">
                                      <p:cBhvr>
                                        <p:cTn dur="500"/>
                                        <p:tgtEl>
                                          <p:spTgt spid="77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01"/>
                                        </p:tgtEl>
                                        <p:attrNameLst>
                                          <p:attrName>style.visibility</p:attrName>
                                        </p:attrNameLst>
                                      </p:cBhvr>
                                      <p:to>
                                        <p:strVal val="visible"/>
                                      </p:to>
                                    </p:set>
                                    <p:animEffect filter="fade" transition="in">
                                      <p:cBhvr>
                                        <p:cTn dur="500"/>
                                        <p:tgtEl>
                                          <p:spTgt spid="77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6" name="Shape 7706"/>
        <p:cNvGrpSpPr/>
        <p:nvPr/>
      </p:nvGrpSpPr>
      <p:grpSpPr>
        <a:xfrm>
          <a:off x="0" y="0"/>
          <a:ext cx="0" cy="0"/>
          <a:chOff x="0" y="0"/>
          <a:chExt cx="0" cy="0"/>
        </a:xfrm>
      </p:grpSpPr>
      <p:grpSp>
        <p:nvGrpSpPr>
          <p:cNvPr id="7707" name="Google Shape;7707;p176"/>
          <p:cNvGrpSpPr/>
          <p:nvPr/>
        </p:nvGrpSpPr>
        <p:grpSpPr>
          <a:xfrm>
            <a:off x="8220481" y="-249778"/>
            <a:ext cx="2461403" cy="1558421"/>
            <a:chOff x="6697235" y="-249764"/>
            <a:chExt cx="2460203" cy="1558188"/>
          </a:xfrm>
        </p:grpSpPr>
        <p:sp>
          <p:nvSpPr>
            <p:cNvPr id="7708" name="Google Shape;7708;p176"/>
            <p:cNvSpPr/>
            <p:nvPr/>
          </p:nvSpPr>
          <p:spPr>
            <a:xfrm rot="859133">
              <a:off x="6788860" y="15850"/>
              <a:ext cx="2276952" cy="1026959"/>
            </a:xfrm>
            <a:prstGeom prst="irregularSeal2">
              <a:avLst/>
            </a:prstGeom>
            <a:solidFill>
              <a:srgbClr val="FFFF00"/>
            </a:solidFill>
            <a:ln>
              <a:noFill/>
            </a:ln>
            <a:effectLst>
              <a:outerShdw blurRad="50800" rotWithShape="0" algn="tl" dir="2700000" dist="139700">
                <a:srgbClr val="000000">
                  <a:alpha val="42745"/>
                </a:srgbClr>
              </a:outerShdw>
            </a:effectLst>
          </p:spPr>
          <p:txBody>
            <a:bodyPr anchorCtr="0" anchor="t" bIns="45700" lIns="91425" spcFirstLastPara="1" rIns="91425" wrap="square" tIns="45700">
              <a:noAutofit/>
            </a:bodyPr>
            <a:lstStyle/>
            <a:p>
              <a:pPr indent="-342900" lvl="0" marL="342900" marR="0" rtl="0" algn="l">
                <a:spcBef>
                  <a:spcPts val="0"/>
                </a:spcBef>
                <a:spcAft>
                  <a:spcPts val="0"/>
                </a:spcAft>
                <a:buNone/>
              </a:pPr>
              <a:r>
                <a:t/>
              </a:r>
              <a:endParaRPr sz="2400">
                <a:solidFill>
                  <a:schemeClr val="dk1"/>
                </a:solidFill>
                <a:latin typeface="Comic Sans MS"/>
                <a:ea typeface="Comic Sans MS"/>
                <a:cs typeface="Comic Sans MS"/>
                <a:sym typeface="Comic Sans MS"/>
              </a:endParaRPr>
            </a:p>
          </p:txBody>
        </p:sp>
        <p:sp>
          <p:nvSpPr>
            <p:cNvPr id="7709" name="Google Shape;7709;p176"/>
            <p:cNvSpPr txBox="1"/>
            <p:nvPr/>
          </p:nvSpPr>
          <p:spPr>
            <a:xfrm>
              <a:off x="7375921" y="342294"/>
              <a:ext cx="94128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Self-Test</a:t>
              </a:r>
              <a:endParaRPr/>
            </a:p>
          </p:txBody>
        </p:sp>
      </p:grpSp>
      <p:sp>
        <p:nvSpPr>
          <p:cNvPr id="7710" name="Google Shape;7710;p176"/>
          <p:cNvSpPr txBox="1"/>
          <p:nvPr/>
        </p:nvSpPr>
        <p:spPr>
          <a:xfrm>
            <a:off x="1838325" y="1320801"/>
            <a:ext cx="3830638" cy="52419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99"/>
              </a:buClr>
              <a:buSzPts val="1430"/>
              <a:buFont typeface="Noto Sans Symbols"/>
              <a:buNone/>
            </a:pPr>
            <a:r>
              <a:rPr b="1" lang="en-US" sz="2200" u="sng">
                <a:solidFill>
                  <a:srgbClr val="FF0000"/>
                </a:solidFill>
                <a:latin typeface="Arial"/>
                <a:ea typeface="Arial"/>
                <a:cs typeface="Arial"/>
                <a:sym typeface="Arial"/>
              </a:rPr>
              <a:t>Solution:</a:t>
            </a:r>
            <a:endParaRPr/>
          </a:p>
          <a:p>
            <a:pPr indent="0" lvl="0" marL="0" marR="0" rtl="0" algn="l">
              <a:lnSpc>
                <a:spcPct val="100000"/>
              </a:lnSpc>
              <a:spcBef>
                <a:spcPts val="440"/>
              </a:spcBef>
              <a:spcAft>
                <a:spcPts val="0"/>
              </a:spcAft>
              <a:buClr>
                <a:srgbClr val="000099"/>
              </a:buClr>
              <a:buSzPts val="1430"/>
              <a:buFont typeface="Noto Sans Symbols"/>
              <a:buNone/>
            </a:pPr>
            <a:r>
              <a:t/>
            </a:r>
            <a:endParaRPr b="1" sz="2200" u="sng">
              <a:solidFill>
                <a:schemeClr val="dk1"/>
              </a:solidFill>
              <a:latin typeface="Arial"/>
              <a:ea typeface="Arial"/>
              <a:cs typeface="Arial"/>
              <a:sym typeface="Arial"/>
            </a:endParaRPr>
          </a:p>
          <a:p>
            <a:pPr indent="-139700" lvl="0" marL="0" marR="0" rtl="0" algn="l">
              <a:lnSpc>
                <a:spcPct val="100000"/>
              </a:lnSpc>
              <a:spcBef>
                <a:spcPts val="440"/>
              </a:spcBef>
              <a:spcAft>
                <a:spcPts val="0"/>
              </a:spcAft>
              <a:buClr>
                <a:schemeClr val="dk1"/>
              </a:buClr>
              <a:buSzPts val="2200"/>
              <a:buFont typeface="Gill Sans"/>
              <a:buAutoNum type="alphaLcParenR" startAt="4"/>
            </a:pPr>
            <a:r>
              <a:rPr lang="en-US" sz="2200">
                <a:solidFill>
                  <a:schemeClr val="dk1"/>
                </a:solidFill>
                <a:latin typeface="Arial"/>
                <a:ea typeface="Arial"/>
                <a:cs typeface="Arial"/>
                <a:sym typeface="Arial"/>
              </a:rPr>
              <a:t>What is the range of TRs involved in the fast recovery?</a:t>
            </a:r>
            <a:endParaRPr/>
          </a:p>
          <a:p>
            <a:pPr indent="0" lvl="1" marL="346075" marR="0" rtl="0" algn="l">
              <a:lnSpc>
                <a:spcPct val="100000"/>
              </a:lnSpc>
              <a:spcBef>
                <a:spcPts val="360"/>
              </a:spcBef>
              <a:spcAft>
                <a:spcPts val="0"/>
              </a:spcAft>
              <a:buClr>
                <a:schemeClr val="dk1"/>
              </a:buClr>
              <a:buSzPts val="1800"/>
              <a:buFont typeface="Noto Sans Symbols"/>
              <a:buNone/>
            </a:pPr>
            <a:r>
              <a:rPr b="0" i="0" lang="en-US" sz="1800" u="none" cap="none" strike="noStrike">
                <a:solidFill>
                  <a:schemeClr val="dk1"/>
                </a:solidFill>
                <a:latin typeface="Arial"/>
                <a:ea typeface="Arial"/>
                <a:cs typeface="Arial"/>
                <a:sym typeface="Arial"/>
              </a:rPr>
              <a:t>  </a:t>
            </a:r>
            <a:r>
              <a:rPr b="0" i="0" lang="en-US" sz="1800" u="none" cap="none" strike="noStrike">
                <a:solidFill>
                  <a:srgbClr val="FF0000"/>
                </a:solidFill>
                <a:latin typeface="Arial"/>
                <a:ea typeface="Arial"/>
                <a:cs typeface="Arial"/>
                <a:sym typeface="Arial"/>
              </a:rPr>
              <a:t>= none. Loss because of timeout only</a:t>
            </a:r>
            <a:endParaRPr/>
          </a:p>
          <a:p>
            <a:pPr indent="0" lvl="1" marL="346075" marR="0" rtl="0" algn="l">
              <a:lnSpc>
                <a:spcPct val="100000"/>
              </a:lnSpc>
              <a:spcBef>
                <a:spcPts val="360"/>
              </a:spcBef>
              <a:spcAft>
                <a:spcPts val="0"/>
              </a:spcAft>
              <a:buClr>
                <a:schemeClr val="dk1"/>
              </a:buClr>
              <a:buSzPts val="1800"/>
              <a:buFont typeface="Noto Sans Symbols"/>
              <a:buNone/>
            </a:pPr>
            <a:r>
              <a:t/>
            </a:r>
            <a:endParaRPr b="0" i="0" sz="1800" u="none" cap="none" strike="noStrike">
              <a:solidFill>
                <a:schemeClr val="dk1"/>
              </a:solidFill>
              <a:latin typeface="Arial"/>
              <a:ea typeface="Arial"/>
              <a:cs typeface="Arial"/>
              <a:sym typeface="Arial"/>
            </a:endParaRPr>
          </a:p>
          <a:p>
            <a:pPr indent="-139700" lvl="0" marL="0" marR="0" rtl="0" algn="l">
              <a:lnSpc>
                <a:spcPct val="100000"/>
              </a:lnSpc>
              <a:spcBef>
                <a:spcPts val="440"/>
              </a:spcBef>
              <a:spcAft>
                <a:spcPts val="0"/>
              </a:spcAft>
              <a:buClr>
                <a:schemeClr val="dk1"/>
              </a:buClr>
              <a:buSzPts val="2200"/>
              <a:buFont typeface="Gill Sans"/>
              <a:buAutoNum type="alphaLcParenR" startAt="4"/>
            </a:pPr>
            <a:r>
              <a:rPr lang="en-US" sz="2200">
                <a:solidFill>
                  <a:schemeClr val="dk1"/>
                </a:solidFill>
                <a:latin typeface="Arial"/>
                <a:ea typeface="Arial"/>
                <a:cs typeface="Arial"/>
                <a:sym typeface="Arial"/>
              </a:rPr>
              <a:t>At which TR the new threshold applied and how many segments sent at that TR?</a:t>
            </a:r>
            <a:endParaRPr/>
          </a:p>
          <a:p>
            <a:pPr indent="0" lvl="1" marL="346075" marR="0" rtl="0" algn="l">
              <a:lnSpc>
                <a:spcPct val="100000"/>
              </a:lnSpc>
              <a:spcBef>
                <a:spcPts val="360"/>
              </a:spcBef>
              <a:spcAft>
                <a:spcPts val="0"/>
              </a:spcAft>
              <a:buClr>
                <a:schemeClr val="dk1"/>
              </a:buClr>
              <a:buSzPts val="1800"/>
              <a:buFont typeface="Noto Sans Symbols"/>
              <a:buNone/>
            </a:pPr>
            <a:r>
              <a:rPr b="0" i="0" lang="en-US" sz="1800" u="none" cap="none" strike="noStrike">
                <a:solidFill>
                  <a:schemeClr val="dk1"/>
                </a:solidFill>
                <a:latin typeface="Arial"/>
                <a:ea typeface="Arial"/>
                <a:cs typeface="Arial"/>
                <a:sym typeface="Arial"/>
              </a:rPr>
              <a:t>  </a:t>
            </a:r>
            <a:r>
              <a:rPr b="0" i="0" lang="en-US" sz="1800" u="none" cap="none" strike="noStrike">
                <a:solidFill>
                  <a:srgbClr val="FF0000"/>
                </a:solidFill>
                <a:latin typeface="Arial"/>
                <a:ea typeface="Arial"/>
                <a:cs typeface="Arial"/>
                <a:sym typeface="Arial"/>
              </a:rPr>
              <a:t>TR = 12;</a:t>
            </a:r>
            <a:endParaRPr/>
          </a:p>
          <a:p>
            <a:pPr indent="0" lvl="1" marL="346075" marR="0" rtl="0" algn="l">
              <a:lnSpc>
                <a:spcPct val="100000"/>
              </a:lnSpc>
              <a:spcBef>
                <a:spcPts val="360"/>
              </a:spcBef>
              <a:spcAft>
                <a:spcPts val="0"/>
              </a:spcAft>
              <a:buClr>
                <a:srgbClr val="FF0000"/>
              </a:buClr>
              <a:buSzPts val="1800"/>
              <a:buFont typeface="Noto Sans Symbols"/>
              <a:buNone/>
            </a:pPr>
            <a:r>
              <a:rPr b="0" i="0" lang="en-US" sz="1800" u="none" cap="none" strike="noStrike">
                <a:solidFill>
                  <a:srgbClr val="FF0000"/>
                </a:solidFill>
                <a:latin typeface="Arial"/>
                <a:ea typeface="Arial"/>
                <a:cs typeface="Arial"/>
                <a:sym typeface="Arial"/>
              </a:rPr>
              <a:t>  Segment sent = 59</a:t>
            </a:r>
            <a:endParaRPr b="0" i="0" sz="1800" u="none" cap="none" strike="noStrike">
              <a:solidFill>
                <a:schemeClr val="dk1"/>
              </a:solidFill>
              <a:latin typeface="Arial"/>
              <a:ea typeface="Arial"/>
              <a:cs typeface="Arial"/>
              <a:sym typeface="Arial"/>
            </a:endParaRPr>
          </a:p>
        </p:txBody>
      </p:sp>
      <p:graphicFrame>
        <p:nvGraphicFramePr>
          <p:cNvPr id="7711" name="Google Shape;7711;p176"/>
          <p:cNvGraphicFramePr/>
          <p:nvPr/>
        </p:nvGraphicFramePr>
        <p:xfrm>
          <a:off x="6197600" y="1092200"/>
          <a:ext cx="3000000" cy="3000000"/>
        </p:xfrm>
        <a:graphic>
          <a:graphicData uri="http://schemas.openxmlformats.org/drawingml/2006/table">
            <a:tbl>
              <a:tblPr bandRow="1" firstRow="1">
                <a:noFill/>
                <a:tableStyleId>{6A801659-9FE2-4FBA-BB42-B8B3FDABCD59}</a:tableStyleId>
              </a:tblPr>
              <a:tblGrid>
                <a:gridCol w="1381650"/>
                <a:gridCol w="1381650"/>
                <a:gridCol w="1381650"/>
              </a:tblGrid>
              <a:tr h="370850">
                <a:tc>
                  <a:txBody>
                    <a:bodyPr/>
                    <a:lstStyle/>
                    <a:p>
                      <a:pPr indent="0" lvl="0" marL="0" marR="0" rtl="0" algn="ctr">
                        <a:spcBef>
                          <a:spcPts val="0"/>
                        </a:spcBef>
                        <a:spcAft>
                          <a:spcPts val="0"/>
                        </a:spcAft>
                        <a:buNone/>
                      </a:pPr>
                      <a:r>
                        <a:rPr b="0" lang="en-US" sz="1800">
                          <a:latin typeface="Arial"/>
                          <a:ea typeface="Arial"/>
                          <a:cs typeface="Arial"/>
                          <a:sym typeface="Arial"/>
                        </a:rPr>
                        <a:t>TR</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800">
                          <a:latin typeface="Arial"/>
                          <a:ea typeface="Arial"/>
                          <a:cs typeface="Arial"/>
                          <a:sym typeface="Arial"/>
                        </a:rPr>
                        <a:t>CW</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0" lang="en-US" sz="1800">
                          <a:latin typeface="Arial"/>
                          <a:ea typeface="Arial"/>
                          <a:cs typeface="Arial"/>
                          <a:sym typeface="Arial"/>
                        </a:rPr>
                        <a:t>SS</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3</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3</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6</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13</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5</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20</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6</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8</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28</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9</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37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8</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10</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47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9</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48</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10</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50</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11</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54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5</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59</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13</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6</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65</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US" sz="1800">
                          <a:latin typeface="Arial"/>
                          <a:ea typeface="Arial"/>
                          <a:cs typeface="Arial"/>
                          <a:sym typeface="Arial"/>
                        </a:rPr>
                        <a:t>14</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7</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72</a:t>
                      </a:r>
                      <a:endParaRPr/>
                    </a:p>
                  </a:txBody>
                  <a:tcPr marT="45725" marB="45725" marR="91425" marL="91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7712" name="Google Shape;7712;p176"/>
          <p:cNvSpPr/>
          <p:nvPr/>
        </p:nvSpPr>
        <p:spPr>
          <a:xfrm>
            <a:off x="1820864" y="6581776"/>
            <a:ext cx="385603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Noto Sans Symbols"/>
              <a:buNone/>
            </a:pPr>
            <a:r>
              <a:rPr i="1" lang="en-US" sz="1200">
                <a:solidFill>
                  <a:schemeClr val="dk1"/>
                </a:solidFill>
                <a:latin typeface="Arial"/>
                <a:ea typeface="Arial"/>
                <a:cs typeface="Arial"/>
                <a:sym typeface="Arial"/>
              </a:rPr>
              <a:t>Note: CW (Congestion Window), SS (Segment Send)</a:t>
            </a:r>
            <a:endParaRPr/>
          </a:p>
        </p:txBody>
      </p:sp>
      <p:sp>
        <p:nvSpPr>
          <p:cNvPr id="7713" name="Google Shape;7713;p176"/>
          <p:cNvSpPr txBox="1"/>
          <p:nvPr/>
        </p:nvSpPr>
        <p:spPr>
          <a:xfrm>
            <a:off x="8305801" y="2743200"/>
            <a:ext cx="663575" cy="215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800"/>
              <a:buFont typeface="Noto Sans Symbols"/>
              <a:buNone/>
            </a:pPr>
            <a:r>
              <a:rPr lang="en-US" sz="800">
                <a:solidFill>
                  <a:srgbClr val="FF0000"/>
                </a:solidFill>
                <a:latin typeface="Arial"/>
                <a:ea typeface="Arial"/>
                <a:cs typeface="Arial"/>
                <a:sym typeface="Arial"/>
              </a:rPr>
              <a:t>threshold1</a:t>
            </a:r>
            <a:endParaRPr/>
          </a:p>
        </p:txBody>
      </p:sp>
      <p:sp>
        <p:nvSpPr>
          <p:cNvPr id="7714" name="Google Shape;7714;p176"/>
          <p:cNvSpPr txBox="1"/>
          <p:nvPr/>
        </p:nvSpPr>
        <p:spPr>
          <a:xfrm>
            <a:off x="8305801" y="5699125"/>
            <a:ext cx="663575" cy="215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800"/>
              <a:buFont typeface="Noto Sans Symbols"/>
              <a:buNone/>
            </a:pPr>
            <a:r>
              <a:rPr lang="en-US" sz="800">
                <a:solidFill>
                  <a:srgbClr val="FF0000"/>
                </a:solidFill>
                <a:latin typeface="Arial"/>
                <a:ea typeface="Arial"/>
                <a:cs typeface="Arial"/>
                <a:sym typeface="Arial"/>
              </a:rPr>
              <a:t>threshold2</a:t>
            </a:r>
            <a:endParaRPr/>
          </a:p>
        </p:txBody>
      </p:sp>
      <p:sp>
        <p:nvSpPr>
          <p:cNvPr id="7715" name="Google Shape;7715;p176"/>
          <p:cNvSpPr/>
          <p:nvPr/>
        </p:nvSpPr>
        <p:spPr>
          <a:xfrm>
            <a:off x="2879725" y="42863"/>
            <a:ext cx="2800350" cy="1066800"/>
          </a:xfrm>
          <a:prstGeom prst="cube">
            <a:avLst>
              <a:gd fmla="val 25000" name="adj"/>
            </a:avLst>
          </a:prstGeom>
          <a:solidFill>
            <a:srgbClr val="FFFF00"/>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Initial threshold = 6</a:t>
            </a:r>
            <a:endParaRPr/>
          </a:p>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Timeout @ TR 8</a:t>
            </a:r>
            <a:endParaRPr/>
          </a:p>
        </p:txBody>
      </p:sp>
      <p:sp>
        <p:nvSpPr>
          <p:cNvPr id="7716" name="Google Shape;7716;p176"/>
          <p:cNvSpPr/>
          <p:nvPr/>
        </p:nvSpPr>
        <p:spPr>
          <a:xfrm>
            <a:off x="6146801" y="5432425"/>
            <a:ext cx="4246563" cy="533400"/>
          </a:xfrm>
          <a:prstGeom prst="rect">
            <a:avLst/>
          </a:prstGeom>
          <a:solidFill>
            <a:srgbClr val="FFFF00">
              <a:alpha val="31764"/>
            </a:srgbClr>
          </a:solidFill>
          <a:ln cap="flat" cmpd="sng" w="952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Noto Sans Symbols"/>
              <a:buNone/>
            </a:pPr>
            <a:r>
              <a:t/>
            </a:r>
            <a:endParaRPr sz="1600">
              <a:solidFill>
                <a:schemeClr val="dk1"/>
              </a:solidFill>
              <a:latin typeface="Tahoma"/>
              <a:ea typeface="Tahoma"/>
              <a:cs typeface="Tahoma"/>
              <a:sym typeface="Tahoma"/>
            </a:endParaRPr>
          </a:p>
        </p:txBody>
      </p:sp>
      <p:sp>
        <p:nvSpPr>
          <p:cNvPr id="7717" name="Google Shape;7717;p17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16"/>
                                        </p:tgtEl>
                                        <p:attrNameLst>
                                          <p:attrName>style.visibility</p:attrName>
                                        </p:attrNameLst>
                                      </p:cBhvr>
                                      <p:to>
                                        <p:strVal val="visible"/>
                                      </p:to>
                                    </p:set>
                                    <p:animEffect filter="fade" transition="in">
                                      <p:cBhvr>
                                        <p:cTn dur="500"/>
                                        <p:tgtEl>
                                          <p:spTgt spid="77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721" name="Shape 7721"/>
        <p:cNvGrpSpPr/>
        <p:nvPr/>
      </p:nvGrpSpPr>
      <p:grpSpPr>
        <a:xfrm>
          <a:off x="0" y="0"/>
          <a:ext cx="0" cy="0"/>
          <a:chOff x="0" y="0"/>
          <a:chExt cx="0" cy="0"/>
        </a:xfrm>
      </p:grpSpPr>
      <p:pic>
        <p:nvPicPr>
          <p:cNvPr id="7722" name="Google Shape;7722;p177"/>
          <p:cNvPicPr preferRelativeResize="0"/>
          <p:nvPr/>
        </p:nvPicPr>
        <p:blipFill rotWithShape="1">
          <a:blip r:embed="rId3">
            <a:alphaModFix/>
          </a:blip>
          <a:srcRect b="0" l="0" r="0" t="0"/>
          <a:stretch/>
        </p:blipFill>
        <p:spPr>
          <a:xfrm>
            <a:off x="1959516" y="248360"/>
            <a:ext cx="7889334" cy="4412155"/>
          </a:xfrm>
          <a:prstGeom prst="rect">
            <a:avLst/>
          </a:prstGeom>
          <a:noFill/>
          <a:ln>
            <a:noFill/>
          </a:ln>
        </p:spPr>
      </p:pic>
      <p:sp>
        <p:nvSpPr>
          <p:cNvPr id="7723" name="Google Shape;7723;p177"/>
          <p:cNvSpPr/>
          <p:nvPr/>
        </p:nvSpPr>
        <p:spPr>
          <a:xfrm>
            <a:off x="2542880" y="4298953"/>
            <a:ext cx="7376606"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 Fast Recovery,</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loss due to 3 Duplicae ACKs will set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ssthresh=1/2cwnd</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cwnd = ssthresh+3</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If received one more Duplicate ACKs, cwnd increase by 1</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until it received the New ACK (received the missing packet), the cwnd just direct set to ssthresh</a:t>
            </a:r>
            <a:endParaRPr sz="1800">
              <a:solidFill>
                <a:schemeClr val="dk1"/>
              </a:solidFill>
              <a:latin typeface="Calibri"/>
              <a:ea typeface="Calibri"/>
              <a:cs typeface="Calibri"/>
              <a:sym typeface="Calibri"/>
            </a:endParaRPr>
          </a:p>
        </p:txBody>
      </p:sp>
      <p:sp>
        <p:nvSpPr>
          <p:cNvPr id="7724" name="Google Shape;7724;p17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9" name="Shape 7729"/>
        <p:cNvGrpSpPr/>
        <p:nvPr/>
      </p:nvGrpSpPr>
      <p:grpSpPr>
        <a:xfrm>
          <a:off x="0" y="0"/>
          <a:ext cx="0" cy="0"/>
          <a:chOff x="0" y="0"/>
          <a:chExt cx="0" cy="0"/>
        </a:xfrm>
      </p:grpSpPr>
      <p:sp>
        <p:nvSpPr>
          <p:cNvPr id="7730" name="Google Shape;7730;p178"/>
          <p:cNvSpPr txBox="1"/>
          <p:nvPr>
            <p:ph type="title"/>
          </p:nvPr>
        </p:nvSpPr>
        <p:spPr>
          <a:xfrm>
            <a:off x="798690" y="27695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CUBIC</a:t>
            </a:r>
            <a:endParaRPr b="0" sz="4400"/>
          </a:p>
        </p:txBody>
      </p:sp>
      <p:sp>
        <p:nvSpPr>
          <p:cNvPr id="7731" name="Google Shape;7731;p178"/>
          <p:cNvSpPr txBox="1"/>
          <p:nvPr/>
        </p:nvSpPr>
        <p:spPr>
          <a:xfrm>
            <a:off x="798690" y="1308100"/>
            <a:ext cx="11164126" cy="4648200"/>
          </a:xfrm>
          <a:prstGeom prst="rect">
            <a:avLst/>
          </a:prstGeom>
          <a:noFill/>
          <a:ln>
            <a:noFill/>
          </a:ln>
        </p:spPr>
        <p:txBody>
          <a:bodyPr anchorCtr="0" anchor="t" bIns="45700" lIns="91425" spcFirstLastPara="1" rIns="91425" wrap="square" tIns="45700">
            <a:normAutofit/>
          </a:bodyPr>
          <a:lstStyle/>
          <a:p>
            <a:pPr indent="-330200" lvl="0" marL="4603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Is there a better way than AIMD to “probe” for usable bandwidth?</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nvGrpSpPr>
          <p:cNvPr id="7732" name="Google Shape;7732;p178"/>
          <p:cNvGrpSpPr/>
          <p:nvPr/>
        </p:nvGrpSpPr>
        <p:grpSpPr>
          <a:xfrm>
            <a:off x="1454066" y="4302985"/>
            <a:ext cx="6081713" cy="1998662"/>
            <a:chOff x="73" y="2432"/>
            <a:chExt cx="3831" cy="1259"/>
          </a:xfrm>
        </p:grpSpPr>
        <p:sp>
          <p:nvSpPr>
            <p:cNvPr id="7733" name="Google Shape;7733;p178"/>
            <p:cNvSpPr/>
            <p:nvPr/>
          </p:nvSpPr>
          <p:spPr>
            <a:xfrm>
              <a:off x="678" y="2556"/>
              <a:ext cx="3226" cy="579"/>
            </a:xfrm>
            <a:custGeom>
              <a:rect b="b" l="l" r="r" t="t"/>
              <a:pathLst>
                <a:path extrusionOk="0" h="579" w="2481">
                  <a:moveTo>
                    <a:pt x="0" y="573"/>
                  </a:moveTo>
                  <a:lnTo>
                    <a:pt x="414" y="18"/>
                  </a:lnTo>
                  <a:lnTo>
                    <a:pt x="414" y="579"/>
                  </a:lnTo>
                  <a:lnTo>
                    <a:pt x="819" y="18"/>
                  </a:lnTo>
                  <a:lnTo>
                    <a:pt x="825" y="579"/>
                  </a:lnTo>
                  <a:lnTo>
                    <a:pt x="1245" y="15"/>
                  </a:lnTo>
                  <a:lnTo>
                    <a:pt x="1245" y="576"/>
                  </a:lnTo>
                  <a:lnTo>
                    <a:pt x="1647" y="6"/>
                  </a:lnTo>
                  <a:lnTo>
                    <a:pt x="1647" y="570"/>
                  </a:lnTo>
                  <a:lnTo>
                    <a:pt x="2064" y="6"/>
                  </a:lnTo>
                  <a:lnTo>
                    <a:pt x="2064" y="564"/>
                  </a:lnTo>
                  <a:lnTo>
                    <a:pt x="2481" y="0"/>
                  </a:lnTo>
                </a:path>
              </a:pathLst>
            </a:custGeom>
            <a:noFill/>
            <a:ln cap="flat" cmpd="sng" w="2857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734" name="Google Shape;7734;p178"/>
            <p:cNvCxnSpPr/>
            <p:nvPr/>
          </p:nvCxnSpPr>
          <p:spPr>
            <a:xfrm>
              <a:off x="675" y="3685"/>
              <a:ext cx="2674" cy="0"/>
            </a:xfrm>
            <a:prstGeom prst="straightConnector1">
              <a:avLst/>
            </a:prstGeom>
            <a:noFill/>
            <a:ln cap="flat" cmpd="sng" w="19050">
              <a:solidFill>
                <a:schemeClr val="dk1"/>
              </a:solidFill>
              <a:prstDash val="solid"/>
              <a:round/>
              <a:headEnd len="med" w="med" type="none"/>
              <a:tailEnd len="med" w="med" type="none"/>
            </a:ln>
          </p:spPr>
        </p:cxnSp>
        <p:cxnSp>
          <p:nvCxnSpPr>
            <p:cNvPr id="7735" name="Google Shape;7735;p178"/>
            <p:cNvCxnSpPr/>
            <p:nvPr/>
          </p:nvCxnSpPr>
          <p:spPr>
            <a:xfrm>
              <a:off x="682" y="2432"/>
              <a:ext cx="0" cy="1259"/>
            </a:xfrm>
            <a:prstGeom prst="straightConnector1">
              <a:avLst/>
            </a:prstGeom>
            <a:noFill/>
            <a:ln cap="flat" cmpd="sng" w="19050">
              <a:solidFill>
                <a:schemeClr val="dk1"/>
              </a:solidFill>
              <a:prstDash val="solid"/>
              <a:round/>
              <a:headEnd len="med" w="med" type="none"/>
              <a:tailEnd len="med" w="med" type="none"/>
            </a:ln>
          </p:spPr>
        </p:cxnSp>
        <p:cxnSp>
          <p:nvCxnSpPr>
            <p:cNvPr id="7736" name="Google Shape;7736;p178"/>
            <p:cNvCxnSpPr/>
            <p:nvPr/>
          </p:nvCxnSpPr>
          <p:spPr>
            <a:xfrm>
              <a:off x="606" y="2571"/>
              <a:ext cx="72" cy="0"/>
            </a:xfrm>
            <a:prstGeom prst="straightConnector1">
              <a:avLst/>
            </a:prstGeom>
            <a:noFill/>
            <a:ln cap="flat" cmpd="sng" w="19050">
              <a:solidFill>
                <a:schemeClr val="dk1"/>
              </a:solidFill>
              <a:prstDash val="solid"/>
              <a:round/>
              <a:headEnd len="med" w="med" type="none"/>
              <a:tailEnd len="med" w="med" type="none"/>
            </a:ln>
          </p:spPr>
        </p:cxnSp>
        <p:cxnSp>
          <p:nvCxnSpPr>
            <p:cNvPr id="7737" name="Google Shape;7737;p178"/>
            <p:cNvCxnSpPr/>
            <p:nvPr/>
          </p:nvCxnSpPr>
          <p:spPr>
            <a:xfrm>
              <a:off x="606" y="3117"/>
              <a:ext cx="72" cy="0"/>
            </a:xfrm>
            <a:prstGeom prst="straightConnector1">
              <a:avLst/>
            </a:prstGeom>
            <a:noFill/>
            <a:ln cap="flat" cmpd="sng" w="19050">
              <a:solidFill>
                <a:schemeClr val="dk1"/>
              </a:solidFill>
              <a:prstDash val="solid"/>
              <a:round/>
              <a:headEnd len="med" w="med" type="none"/>
              <a:tailEnd len="med" w="med" type="none"/>
            </a:ln>
          </p:spPr>
        </p:cxnSp>
        <p:sp>
          <p:nvSpPr>
            <p:cNvPr id="7738" name="Google Shape;7738;p178"/>
            <p:cNvSpPr txBox="1"/>
            <p:nvPr/>
          </p:nvSpPr>
          <p:spPr>
            <a:xfrm>
              <a:off x="171" y="2437"/>
              <a:ext cx="393" cy="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W</a:t>
              </a:r>
              <a:r>
                <a:rPr b="0" baseline="-25000" i="0" lang="en-US" sz="1600" u="none" cap="none" strike="noStrike">
                  <a:solidFill>
                    <a:srgbClr val="000000"/>
                  </a:solidFill>
                  <a:latin typeface="Tahoma"/>
                  <a:ea typeface="Tahoma"/>
                  <a:cs typeface="Tahoma"/>
                  <a:sym typeface="Tahoma"/>
                </a:rPr>
                <a:t>max</a:t>
              </a:r>
              <a:endParaRPr b="0" baseline="-25000" i="0" sz="1600" u="none" cap="none" strike="noStrike">
                <a:solidFill>
                  <a:srgbClr val="000000"/>
                </a:solidFill>
                <a:latin typeface="Tahoma"/>
                <a:ea typeface="Tahoma"/>
                <a:cs typeface="Tahoma"/>
                <a:sym typeface="Tahoma"/>
              </a:endParaRPr>
            </a:p>
          </p:txBody>
        </p:sp>
        <p:sp>
          <p:nvSpPr>
            <p:cNvPr id="7739" name="Google Shape;7739;p178"/>
            <p:cNvSpPr txBox="1"/>
            <p:nvPr/>
          </p:nvSpPr>
          <p:spPr>
            <a:xfrm>
              <a:off x="73" y="2971"/>
              <a:ext cx="513" cy="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W</a:t>
              </a:r>
              <a:r>
                <a:rPr b="0" baseline="-25000" i="0" lang="en-US" sz="1600" u="none" cap="none" strike="noStrike">
                  <a:solidFill>
                    <a:srgbClr val="000000"/>
                  </a:solidFill>
                  <a:latin typeface="Tahoma"/>
                  <a:ea typeface="Tahoma"/>
                  <a:cs typeface="Tahoma"/>
                  <a:sym typeface="Tahoma"/>
                </a:rPr>
                <a:t>max</a:t>
              </a:r>
              <a:r>
                <a:rPr b="0" i="0" lang="en-US" sz="1600" u="none" cap="none" strike="noStrike">
                  <a:solidFill>
                    <a:srgbClr val="000000"/>
                  </a:solidFill>
                  <a:latin typeface="Tahoma"/>
                  <a:ea typeface="Tahoma"/>
                  <a:cs typeface="Tahoma"/>
                  <a:sym typeface="Tahoma"/>
                </a:rPr>
                <a:t>/2</a:t>
              </a:r>
              <a:endParaRPr/>
            </a:p>
          </p:txBody>
        </p:sp>
      </p:grpSp>
      <p:grpSp>
        <p:nvGrpSpPr>
          <p:cNvPr id="7740" name="Google Shape;7740;p178"/>
          <p:cNvGrpSpPr/>
          <p:nvPr/>
        </p:nvGrpSpPr>
        <p:grpSpPr>
          <a:xfrm>
            <a:off x="2427206" y="4523647"/>
            <a:ext cx="842174" cy="851974"/>
            <a:chOff x="4111628" y="4803047"/>
            <a:chExt cx="842174" cy="851974"/>
          </a:xfrm>
        </p:grpSpPr>
        <p:sp>
          <p:nvSpPr>
            <p:cNvPr id="7741" name="Google Shape;7741;p178"/>
            <p:cNvSpPr/>
            <p:nvPr/>
          </p:nvSpPr>
          <p:spPr>
            <a:xfrm>
              <a:off x="4111628" y="4803047"/>
              <a:ext cx="842174"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742" name="Google Shape;7742;p178"/>
            <p:cNvCxnSpPr/>
            <p:nvPr/>
          </p:nvCxnSpPr>
          <p:spPr>
            <a:xfrm>
              <a:off x="4953802" y="4803047"/>
              <a:ext cx="0" cy="798802"/>
            </a:xfrm>
            <a:prstGeom prst="straightConnector1">
              <a:avLst/>
            </a:prstGeom>
            <a:noFill/>
            <a:ln cap="flat" cmpd="sng" w="28575">
              <a:solidFill>
                <a:srgbClr val="0000A3"/>
              </a:solidFill>
              <a:prstDash val="dash"/>
              <a:miter lim="800000"/>
              <a:headEnd len="sm" w="sm" type="none"/>
              <a:tailEnd len="sm" w="sm" type="none"/>
            </a:ln>
          </p:spPr>
        </p:cxnSp>
      </p:grpSp>
      <p:grpSp>
        <p:nvGrpSpPr>
          <p:cNvPr id="7743" name="Google Shape;7743;p178"/>
          <p:cNvGrpSpPr/>
          <p:nvPr/>
        </p:nvGrpSpPr>
        <p:grpSpPr>
          <a:xfrm>
            <a:off x="7913115" y="4293106"/>
            <a:ext cx="3050589" cy="1377579"/>
            <a:chOff x="7913115" y="4572506"/>
            <a:chExt cx="3050589" cy="1377579"/>
          </a:xfrm>
        </p:grpSpPr>
        <p:cxnSp>
          <p:nvCxnSpPr>
            <p:cNvPr id="7744" name="Google Shape;7744;p178"/>
            <p:cNvCxnSpPr/>
            <p:nvPr/>
          </p:nvCxnSpPr>
          <p:spPr>
            <a:xfrm>
              <a:off x="7913115" y="4779235"/>
              <a:ext cx="866274" cy="0"/>
            </a:xfrm>
            <a:prstGeom prst="straightConnector1">
              <a:avLst/>
            </a:prstGeom>
            <a:noFill/>
            <a:ln cap="flat" cmpd="sng" w="38100">
              <a:solidFill>
                <a:srgbClr val="C00000"/>
              </a:solidFill>
              <a:prstDash val="solid"/>
              <a:miter lim="800000"/>
              <a:headEnd len="sm" w="sm" type="none"/>
              <a:tailEnd len="sm" w="sm" type="none"/>
            </a:ln>
          </p:spPr>
        </p:cxnSp>
        <p:cxnSp>
          <p:nvCxnSpPr>
            <p:cNvPr id="7745" name="Google Shape;7745;p178"/>
            <p:cNvCxnSpPr/>
            <p:nvPr/>
          </p:nvCxnSpPr>
          <p:spPr>
            <a:xfrm>
              <a:off x="7913115" y="5243961"/>
              <a:ext cx="866274" cy="0"/>
            </a:xfrm>
            <a:prstGeom prst="straightConnector1">
              <a:avLst/>
            </a:prstGeom>
            <a:noFill/>
            <a:ln cap="flat" cmpd="sng" w="38100">
              <a:solidFill>
                <a:srgbClr val="0000A3"/>
              </a:solidFill>
              <a:prstDash val="dash"/>
              <a:miter lim="800000"/>
              <a:headEnd len="sm" w="sm" type="none"/>
              <a:tailEnd len="sm" w="sm" type="none"/>
            </a:ln>
          </p:spPr>
        </p:cxnSp>
        <p:sp>
          <p:nvSpPr>
            <p:cNvPr id="7746" name="Google Shape;7746;p178"/>
            <p:cNvSpPr txBox="1"/>
            <p:nvPr/>
          </p:nvSpPr>
          <p:spPr>
            <a:xfrm>
              <a:off x="8779389" y="4572506"/>
              <a:ext cx="117859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classic TCP</a:t>
              </a:r>
              <a:endParaRPr/>
            </a:p>
          </p:txBody>
        </p:sp>
        <p:sp>
          <p:nvSpPr>
            <p:cNvPr id="7747" name="Google Shape;7747;p178"/>
            <p:cNvSpPr txBox="1"/>
            <p:nvPr/>
          </p:nvSpPr>
          <p:spPr>
            <a:xfrm>
              <a:off x="8779390" y="5109855"/>
              <a:ext cx="2184314" cy="84023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TCP CUBIC - higher throughput in this example</a:t>
              </a:r>
              <a:endParaRPr/>
            </a:p>
          </p:txBody>
        </p:sp>
      </p:grpSp>
      <p:sp>
        <p:nvSpPr>
          <p:cNvPr id="7748" name="Google Shape;7748;p178"/>
          <p:cNvSpPr txBox="1"/>
          <p:nvPr/>
        </p:nvSpPr>
        <p:spPr>
          <a:xfrm>
            <a:off x="798690" y="1787378"/>
            <a:ext cx="11164126" cy="4648200"/>
          </a:xfrm>
          <a:prstGeom prst="rect">
            <a:avLst/>
          </a:prstGeom>
          <a:noFill/>
          <a:ln>
            <a:noFill/>
          </a:ln>
        </p:spPr>
        <p:txBody>
          <a:bodyPr anchorCtr="0" anchor="t" bIns="45700" lIns="91425" spcFirstLastPara="1" rIns="91425" wrap="square" tIns="45700">
            <a:normAutofit/>
          </a:bodyPr>
          <a:lstStyle/>
          <a:p>
            <a:pPr indent="-330200" lvl="0" marL="4603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Insight/intuition: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W</a:t>
            </a:r>
            <a:r>
              <a:rPr b="0" baseline="-25000" i="0" lang="en-US" sz="2400" u="none" cap="none" strike="noStrike">
                <a:solidFill>
                  <a:srgbClr val="000000"/>
                </a:solidFill>
                <a:latin typeface="Calibri"/>
                <a:ea typeface="Calibri"/>
                <a:cs typeface="Calibri"/>
                <a:sym typeface="Calibri"/>
              </a:rPr>
              <a:t>max</a:t>
            </a:r>
            <a:r>
              <a:rPr b="0" i="0" lang="en-US" sz="2400" u="none" cap="none" strike="noStrike">
                <a:solidFill>
                  <a:srgbClr val="000000"/>
                </a:solidFill>
                <a:latin typeface="Calibri"/>
                <a:ea typeface="Calibri"/>
                <a:cs typeface="Calibri"/>
                <a:sym typeface="Calibri"/>
              </a:rPr>
              <a:t>: sending rate at which congestion loss was detected</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congestion state of bottleneck link probably (?) hasn’t changed much</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nvGrpSpPr>
          <p:cNvPr id="7749" name="Google Shape;7749;p178"/>
          <p:cNvGrpSpPr/>
          <p:nvPr/>
        </p:nvGrpSpPr>
        <p:grpSpPr>
          <a:xfrm>
            <a:off x="3268173" y="4514248"/>
            <a:ext cx="4263455" cy="882027"/>
            <a:chOff x="4952595" y="4780948"/>
            <a:chExt cx="4263455" cy="882027"/>
          </a:xfrm>
        </p:grpSpPr>
        <p:grpSp>
          <p:nvGrpSpPr>
            <p:cNvPr id="7750" name="Google Shape;7750;p178"/>
            <p:cNvGrpSpPr/>
            <p:nvPr/>
          </p:nvGrpSpPr>
          <p:grpSpPr>
            <a:xfrm>
              <a:off x="4952595" y="4811001"/>
              <a:ext cx="842174" cy="851974"/>
              <a:chOff x="4111628" y="4803047"/>
              <a:chExt cx="842174" cy="851974"/>
            </a:xfrm>
          </p:grpSpPr>
          <p:sp>
            <p:nvSpPr>
              <p:cNvPr id="7751" name="Google Shape;7751;p178"/>
              <p:cNvSpPr/>
              <p:nvPr/>
            </p:nvSpPr>
            <p:spPr>
              <a:xfrm>
                <a:off x="4111628" y="4803047"/>
                <a:ext cx="842174"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752" name="Google Shape;7752;p178"/>
              <p:cNvCxnSpPr/>
              <p:nvPr/>
            </p:nvCxnSpPr>
            <p:spPr>
              <a:xfrm>
                <a:off x="4953802" y="4803047"/>
                <a:ext cx="0" cy="798802"/>
              </a:xfrm>
              <a:prstGeom prst="straightConnector1">
                <a:avLst/>
              </a:prstGeom>
              <a:noFill/>
              <a:ln cap="flat" cmpd="sng" w="28575">
                <a:solidFill>
                  <a:srgbClr val="0000A3"/>
                </a:solidFill>
                <a:prstDash val="dash"/>
                <a:miter lim="800000"/>
                <a:headEnd len="sm" w="sm" type="none"/>
                <a:tailEnd len="sm" w="sm" type="none"/>
              </a:ln>
            </p:spPr>
          </p:cxnSp>
        </p:grpSp>
        <p:grpSp>
          <p:nvGrpSpPr>
            <p:cNvPr id="7753" name="Google Shape;7753;p178"/>
            <p:cNvGrpSpPr/>
            <p:nvPr/>
          </p:nvGrpSpPr>
          <p:grpSpPr>
            <a:xfrm>
              <a:off x="5815757" y="4805638"/>
              <a:ext cx="842174" cy="851974"/>
              <a:chOff x="4111628" y="4803047"/>
              <a:chExt cx="842174" cy="851974"/>
            </a:xfrm>
          </p:grpSpPr>
          <p:sp>
            <p:nvSpPr>
              <p:cNvPr id="7754" name="Google Shape;7754;p178"/>
              <p:cNvSpPr/>
              <p:nvPr/>
            </p:nvSpPr>
            <p:spPr>
              <a:xfrm>
                <a:off x="4111628" y="4803047"/>
                <a:ext cx="842174"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755" name="Google Shape;7755;p178"/>
              <p:cNvCxnSpPr/>
              <p:nvPr/>
            </p:nvCxnSpPr>
            <p:spPr>
              <a:xfrm>
                <a:off x="4953802" y="4803047"/>
                <a:ext cx="0" cy="798802"/>
              </a:xfrm>
              <a:prstGeom prst="straightConnector1">
                <a:avLst/>
              </a:prstGeom>
              <a:noFill/>
              <a:ln cap="flat" cmpd="sng" w="28575">
                <a:solidFill>
                  <a:srgbClr val="0000A3"/>
                </a:solidFill>
                <a:prstDash val="dash"/>
                <a:miter lim="800000"/>
                <a:headEnd len="sm" w="sm" type="none"/>
                <a:tailEnd len="sm" w="sm" type="none"/>
              </a:ln>
            </p:spPr>
          </p:cxnSp>
        </p:grpSp>
        <p:grpSp>
          <p:nvGrpSpPr>
            <p:cNvPr id="7756" name="Google Shape;7756;p178"/>
            <p:cNvGrpSpPr/>
            <p:nvPr/>
          </p:nvGrpSpPr>
          <p:grpSpPr>
            <a:xfrm>
              <a:off x="6678918" y="4793293"/>
              <a:ext cx="828566" cy="851974"/>
              <a:chOff x="4111628" y="4803047"/>
              <a:chExt cx="842174" cy="851974"/>
            </a:xfrm>
          </p:grpSpPr>
          <p:sp>
            <p:nvSpPr>
              <p:cNvPr id="7757" name="Google Shape;7757;p178"/>
              <p:cNvSpPr/>
              <p:nvPr/>
            </p:nvSpPr>
            <p:spPr>
              <a:xfrm>
                <a:off x="4111628" y="4803047"/>
                <a:ext cx="842174"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758" name="Google Shape;7758;p178"/>
              <p:cNvCxnSpPr/>
              <p:nvPr/>
            </p:nvCxnSpPr>
            <p:spPr>
              <a:xfrm>
                <a:off x="4953802" y="4803047"/>
                <a:ext cx="0" cy="798802"/>
              </a:xfrm>
              <a:prstGeom prst="straightConnector1">
                <a:avLst/>
              </a:prstGeom>
              <a:noFill/>
              <a:ln cap="flat" cmpd="sng" w="28575">
                <a:solidFill>
                  <a:srgbClr val="0000A3"/>
                </a:solidFill>
                <a:prstDash val="dash"/>
                <a:miter lim="800000"/>
                <a:headEnd len="sm" w="sm" type="none"/>
                <a:tailEnd len="sm" w="sm" type="none"/>
              </a:ln>
            </p:spPr>
          </p:cxnSp>
        </p:grpSp>
        <p:grpSp>
          <p:nvGrpSpPr>
            <p:cNvPr id="7759" name="Google Shape;7759;p178"/>
            <p:cNvGrpSpPr/>
            <p:nvPr/>
          </p:nvGrpSpPr>
          <p:grpSpPr>
            <a:xfrm>
              <a:off x="7533201" y="4780948"/>
              <a:ext cx="828566" cy="851974"/>
              <a:chOff x="4111628" y="4803047"/>
              <a:chExt cx="842174" cy="851974"/>
            </a:xfrm>
          </p:grpSpPr>
          <p:sp>
            <p:nvSpPr>
              <p:cNvPr id="7760" name="Google Shape;7760;p178"/>
              <p:cNvSpPr/>
              <p:nvPr/>
            </p:nvSpPr>
            <p:spPr>
              <a:xfrm>
                <a:off x="4111628" y="4803047"/>
                <a:ext cx="842174"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761" name="Google Shape;7761;p178"/>
              <p:cNvCxnSpPr/>
              <p:nvPr/>
            </p:nvCxnSpPr>
            <p:spPr>
              <a:xfrm>
                <a:off x="4953802" y="4803047"/>
                <a:ext cx="0" cy="798802"/>
              </a:xfrm>
              <a:prstGeom prst="straightConnector1">
                <a:avLst/>
              </a:prstGeom>
              <a:noFill/>
              <a:ln cap="flat" cmpd="sng" w="28575">
                <a:solidFill>
                  <a:srgbClr val="0000A3"/>
                </a:solidFill>
                <a:prstDash val="dash"/>
                <a:miter lim="800000"/>
                <a:headEnd len="sm" w="sm" type="none"/>
                <a:tailEnd len="sm" w="sm" type="none"/>
              </a:ln>
            </p:spPr>
          </p:cxnSp>
        </p:grpSp>
        <p:sp>
          <p:nvSpPr>
            <p:cNvPr id="7762" name="Google Shape;7762;p178"/>
            <p:cNvSpPr/>
            <p:nvPr/>
          </p:nvSpPr>
          <p:spPr>
            <a:xfrm>
              <a:off x="8387484" y="4790798"/>
              <a:ext cx="828566" cy="851974"/>
            </a:xfrm>
            <a:custGeom>
              <a:rect b="b" l="l" r="r" t="t"/>
              <a:pathLst>
                <a:path extrusionOk="0" h="2103931" w="1147562">
                  <a:moveTo>
                    <a:pt x="1147562" y="0"/>
                  </a:moveTo>
                  <a:cubicBezTo>
                    <a:pt x="315981" y="116560"/>
                    <a:pt x="138906" y="965397"/>
                    <a:pt x="0" y="2103931"/>
                  </a:cubicBezTo>
                </a:path>
              </a:pathLst>
            </a:custGeom>
            <a:noFill/>
            <a:ln cap="flat" cmpd="sng" w="25400">
              <a:solidFill>
                <a:srgbClr val="0000A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7763" name="Google Shape;7763;p178"/>
          <p:cNvSpPr txBox="1"/>
          <p:nvPr/>
        </p:nvSpPr>
        <p:spPr>
          <a:xfrm>
            <a:off x="785990" y="3009900"/>
            <a:ext cx="11164126" cy="898378"/>
          </a:xfrm>
          <a:prstGeom prst="rect">
            <a:avLst/>
          </a:prstGeom>
          <a:noFill/>
          <a:ln>
            <a:noFill/>
          </a:ln>
        </p:spPr>
        <p:txBody>
          <a:bodyPr anchorCtr="0" anchor="t" bIns="45700" lIns="91425" spcFirstLastPara="1" rIns="91425" wrap="square" tIns="45700">
            <a:normAutofit/>
          </a:bodyPr>
          <a:lstStyle/>
          <a:p>
            <a:pPr indent="-231775" lvl="1" marL="695325" marR="0" rtl="0" algn="l">
              <a:lnSpc>
                <a:spcPct val="90000"/>
              </a:lnSpc>
              <a:spcBef>
                <a:spcPts val="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after cutting rate/window in half on loss, initially ramp to to W</a:t>
            </a:r>
            <a:r>
              <a:rPr b="0" baseline="-25000" i="0" lang="en-US" sz="2400" u="none" cap="none" strike="noStrike">
                <a:solidFill>
                  <a:srgbClr val="000000"/>
                </a:solidFill>
                <a:latin typeface="Calibri"/>
                <a:ea typeface="Calibri"/>
                <a:cs typeface="Calibri"/>
                <a:sym typeface="Calibri"/>
              </a:rPr>
              <a:t>max</a:t>
            </a:r>
            <a:r>
              <a:rPr b="0" i="0" lang="en-US" sz="2400" u="none" cap="none" strike="noStrike">
                <a:solidFill>
                  <a:srgbClr val="000000"/>
                </a:solidFill>
                <a:latin typeface="Calibri"/>
                <a:ea typeface="Calibri"/>
                <a:cs typeface="Calibri"/>
                <a:sym typeface="Calibri"/>
              </a:rPr>
              <a:t> </a:t>
            </a:r>
            <a:r>
              <a:rPr b="0" i="1" lang="en-US" sz="2400" u="none" cap="none" strike="noStrike">
                <a:solidFill>
                  <a:srgbClr val="0013A3"/>
                </a:solidFill>
                <a:latin typeface="Calibri"/>
                <a:ea typeface="Calibri"/>
                <a:cs typeface="Calibri"/>
                <a:sym typeface="Calibri"/>
              </a:rPr>
              <a:t>faster</a:t>
            </a:r>
            <a:r>
              <a:rPr b="0" i="0" lang="en-US" sz="2400" u="none" cap="none" strike="noStrike">
                <a:solidFill>
                  <a:srgbClr val="000000"/>
                </a:solidFill>
                <a:latin typeface="Calibri"/>
                <a:ea typeface="Calibri"/>
                <a:cs typeface="Calibri"/>
                <a:sym typeface="Calibri"/>
              </a:rPr>
              <a:t>, but then approach W</a:t>
            </a:r>
            <a:r>
              <a:rPr b="0" baseline="-25000" i="0" lang="en-US" sz="2400" u="none" cap="none" strike="noStrike">
                <a:solidFill>
                  <a:srgbClr val="000000"/>
                </a:solidFill>
                <a:latin typeface="Calibri"/>
                <a:ea typeface="Calibri"/>
                <a:cs typeface="Calibri"/>
                <a:sym typeface="Calibri"/>
              </a:rPr>
              <a:t>max </a:t>
            </a:r>
            <a:r>
              <a:rPr b="0" i="0" lang="en-US" sz="2400" u="none" cap="none" strike="noStrike">
                <a:solidFill>
                  <a:srgbClr val="000000"/>
                </a:solidFill>
                <a:latin typeface="Calibri"/>
                <a:ea typeface="Calibri"/>
                <a:cs typeface="Calibri"/>
                <a:sym typeface="Calibri"/>
              </a:rPr>
              <a:t>more </a:t>
            </a:r>
            <a:r>
              <a:rPr b="0" i="1" lang="en-US" sz="2400" u="none" cap="none" strike="noStrike">
                <a:solidFill>
                  <a:srgbClr val="0013A3"/>
                </a:solidFill>
                <a:latin typeface="Calibri"/>
                <a:ea typeface="Calibri"/>
                <a:cs typeface="Calibri"/>
                <a:sym typeface="Calibri"/>
              </a:rPr>
              <a:t>slowly</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7764" name="Google Shape;7764;p17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48"/>
                                        </p:tgtEl>
                                        <p:attrNameLst>
                                          <p:attrName>style.visibility</p:attrName>
                                        </p:attrNameLst>
                                      </p:cBhvr>
                                      <p:to>
                                        <p:strVal val="visible"/>
                                      </p:to>
                                    </p:set>
                                    <p:animEffect filter="fade" transition="in">
                                      <p:cBhvr>
                                        <p:cTn dur="500"/>
                                        <p:tgtEl>
                                          <p:spTgt spid="77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63"/>
                                        </p:tgtEl>
                                        <p:attrNameLst>
                                          <p:attrName>style.visibility</p:attrName>
                                        </p:attrNameLst>
                                      </p:cBhvr>
                                      <p:to>
                                        <p:strVal val="visible"/>
                                      </p:to>
                                    </p:set>
                                    <p:animEffect filter="fade" transition="in">
                                      <p:cBhvr>
                                        <p:cTn dur="500"/>
                                        <p:tgtEl>
                                          <p:spTgt spid="77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40"/>
                                        </p:tgtEl>
                                        <p:attrNameLst>
                                          <p:attrName>style.visibility</p:attrName>
                                        </p:attrNameLst>
                                      </p:cBhvr>
                                      <p:to>
                                        <p:strVal val="visible"/>
                                      </p:to>
                                    </p:set>
                                    <p:animEffect filter="fade" transition="in">
                                      <p:cBhvr>
                                        <p:cTn dur="500"/>
                                        <p:tgtEl>
                                          <p:spTgt spid="774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743"/>
                                        </p:tgtEl>
                                        <p:attrNameLst>
                                          <p:attrName>style.visibility</p:attrName>
                                        </p:attrNameLst>
                                      </p:cBhvr>
                                      <p:to>
                                        <p:strVal val="visible"/>
                                      </p:to>
                                    </p:set>
                                    <p:animEffect filter="fade" transition="in">
                                      <p:cBhvr>
                                        <p:cTn dur="500"/>
                                        <p:tgtEl>
                                          <p:spTgt spid="77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49"/>
                                        </p:tgtEl>
                                        <p:attrNameLst>
                                          <p:attrName>style.visibility</p:attrName>
                                        </p:attrNameLst>
                                      </p:cBhvr>
                                      <p:to>
                                        <p:strVal val="visible"/>
                                      </p:to>
                                    </p:set>
                                    <p:animEffect filter="fade" transition="in">
                                      <p:cBhvr>
                                        <p:cTn dur="2000"/>
                                        <p:tgtEl>
                                          <p:spTgt spid="77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9" name="Shape 7769"/>
        <p:cNvGrpSpPr/>
        <p:nvPr/>
      </p:nvGrpSpPr>
      <p:grpSpPr>
        <a:xfrm>
          <a:off x="0" y="0"/>
          <a:ext cx="0" cy="0"/>
          <a:chOff x="0" y="0"/>
          <a:chExt cx="0" cy="0"/>
        </a:xfrm>
      </p:grpSpPr>
      <p:sp>
        <p:nvSpPr>
          <p:cNvPr id="7770" name="Google Shape;7770;p179"/>
          <p:cNvSpPr txBox="1"/>
          <p:nvPr>
            <p:ph type="title"/>
          </p:nvPr>
        </p:nvSpPr>
        <p:spPr>
          <a:xfrm>
            <a:off x="798690" y="27695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CUBIC</a:t>
            </a:r>
            <a:endParaRPr b="0" sz="4400"/>
          </a:p>
        </p:txBody>
      </p:sp>
      <p:sp>
        <p:nvSpPr>
          <p:cNvPr id="7771" name="Google Shape;7771;p179"/>
          <p:cNvSpPr txBox="1"/>
          <p:nvPr/>
        </p:nvSpPr>
        <p:spPr>
          <a:xfrm>
            <a:off x="798690" y="1308101"/>
            <a:ext cx="11164126" cy="952500"/>
          </a:xfrm>
          <a:prstGeom prst="rect">
            <a:avLst/>
          </a:prstGeom>
          <a:noFill/>
          <a:ln>
            <a:noFill/>
          </a:ln>
        </p:spPr>
        <p:txBody>
          <a:bodyPr anchorCtr="0" anchor="t" bIns="45700" lIns="91425" spcFirstLastPara="1" rIns="91425" wrap="square" tIns="45700">
            <a:normAutofit/>
          </a:bodyPr>
          <a:lstStyle/>
          <a:p>
            <a:pPr indent="-285750" lvl="0" marL="41275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K: point in time when TCP window size will reach W</a:t>
            </a:r>
            <a:r>
              <a:rPr b="0" baseline="-25000" i="0" lang="en-US" sz="2800" u="none" cap="none" strike="noStrike">
                <a:solidFill>
                  <a:srgbClr val="000000"/>
                </a:solidFill>
                <a:latin typeface="Calibri"/>
                <a:ea typeface="Calibri"/>
                <a:cs typeface="Calibri"/>
                <a:sym typeface="Calibri"/>
              </a:rPr>
              <a:t>max</a:t>
            </a:r>
            <a:endParaRPr b="0" baseline="-25000" i="0" sz="2800" u="none" cap="none" strike="noStrike">
              <a:solidFill>
                <a:srgbClr val="000000"/>
              </a:solidFill>
              <a:latin typeface="Calibri"/>
              <a:ea typeface="Calibri"/>
              <a:cs typeface="Calibri"/>
              <a:sym typeface="Calibri"/>
            </a:endParaRPr>
          </a:p>
          <a:p>
            <a:pPr indent="-295275" lvl="1" marL="80327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K itself is tuneable</a:t>
            </a:r>
            <a:endParaRPr b="0" i="0" sz="2400" u="none" cap="none" strike="noStrike">
              <a:solidFill>
                <a:srgbClr val="000000"/>
              </a:solidFill>
              <a:latin typeface="Calibri"/>
              <a:ea typeface="Calibri"/>
              <a:cs typeface="Calibri"/>
              <a:sym typeface="Calibri"/>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7772" name="Google Shape;7772;p179"/>
          <p:cNvSpPr txBox="1"/>
          <p:nvPr/>
        </p:nvSpPr>
        <p:spPr>
          <a:xfrm>
            <a:off x="952087" y="3043946"/>
            <a:ext cx="10287826" cy="995925"/>
          </a:xfrm>
          <a:prstGeom prst="rect">
            <a:avLst/>
          </a:prstGeom>
          <a:noFill/>
          <a:ln>
            <a:noFill/>
          </a:ln>
        </p:spPr>
        <p:txBody>
          <a:bodyPr anchorCtr="0" anchor="t" bIns="45700" lIns="91425" spcFirstLastPara="1" rIns="91425" wrap="square" tIns="45700">
            <a:normAutofit/>
          </a:bodyPr>
          <a:lstStyle/>
          <a:p>
            <a:pPr indent="-231775" lvl="1" marL="695325" marR="0" rtl="0" algn="l">
              <a:lnSpc>
                <a:spcPct val="90000"/>
              </a:lnSpc>
              <a:spcBef>
                <a:spcPts val="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larger increases when further away from K</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smaller increases (cautious) when nearer K</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nvGrpSpPr>
          <p:cNvPr id="7773" name="Google Shape;7773;p179"/>
          <p:cNvGrpSpPr/>
          <p:nvPr/>
        </p:nvGrpSpPr>
        <p:grpSpPr>
          <a:xfrm>
            <a:off x="5030365" y="2893914"/>
            <a:ext cx="5714572" cy="3644759"/>
            <a:chOff x="5030365" y="2893914"/>
            <a:chExt cx="5714572" cy="3644759"/>
          </a:xfrm>
        </p:grpSpPr>
        <p:sp>
          <p:nvSpPr>
            <p:cNvPr id="7774" name="Google Shape;7774;p179"/>
            <p:cNvSpPr txBox="1"/>
            <p:nvPr/>
          </p:nvSpPr>
          <p:spPr>
            <a:xfrm>
              <a:off x="5030365" y="5185258"/>
              <a:ext cx="808134" cy="887935"/>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TCP</a:t>
              </a:r>
              <a:endParaRPr/>
            </a:p>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sending </a:t>
              </a:r>
              <a:endParaRPr/>
            </a:p>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rate</a:t>
              </a:r>
              <a:endParaRPr/>
            </a:p>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cxnSp>
          <p:nvCxnSpPr>
            <p:cNvPr id="7775" name="Google Shape;7775;p179"/>
            <p:cNvCxnSpPr/>
            <p:nvPr/>
          </p:nvCxnSpPr>
          <p:spPr>
            <a:xfrm>
              <a:off x="5801903" y="6262085"/>
              <a:ext cx="4597974" cy="0"/>
            </a:xfrm>
            <a:prstGeom prst="straightConnector1">
              <a:avLst/>
            </a:prstGeom>
            <a:noFill/>
            <a:ln cap="flat" cmpd="sng" w="12700">
              <a:solidFill>
                <a:schemeClr val="dk1"/>
              </a:solidFill>
              <a:prstDash val="solid"/>
              <a:miter lim="800000"/>
              <a:headEnd len="sm" w="sm" type="none"/>
              <a:tailEnd len="med" w="med" type="triangle"/>
            </a:ln>
          </p:spPr>
        </p:cxnSp>
        <p:cxnSp>
          <p:nvCxnSpPr>
            <p:cNvPr id="7776" name="Google Shape;7776;p179"/>
            <p:cNvCxnSpPr/>
            <p:nvPr/>
          </p:nvCxnSpPr>
          <p:spPr>
            <a:xfrm rot="10800000">
              <a:off x="5801904" y="4039871"/>
              <a:ext cx="0" cy="2222517"/>
            </a:xfrm>
            <a:prstGeom prst="straightConnector1">
              <a:avLst/>
            </a:prstGeom>
            <a:noFill/>
            <a:ln cap="flat" cmpd="sng" w="12700">
              <a:solidFill>
                <a:schemeClr val="dk1"/>
              </a:solidFill>
              <a:prstDash val="solid"/>
              <a:miter lim="800000"/>
              <a:headEnd len="sm" w="sm" type="none"/>
              <a:tailEnd len="med" w="med" type="triangle"/>
            </a:ln>
          </p:spPr>
        </p:cxnSp>
        <p:sp>
          <p:nvSpPr>
            <p:cNvPr id="7777" name="Google Shape;7777;p179"/>
            <p:cNvSpPr/>
            <p:nvPr/>
          </p:nvSpPr>
          <p:spPr>
            <a:xfrm>
              <a:off x="5815989" y="4445300"/>
              <a:ext cx="480875" cy="1811260"/>
            </a:xfrm>
            <a:custGeom>
              <a:rect b="b" l="l" r="r" t="t"/>
              <a:pathLst>
                <a:path extrusionOk="0" h="3160756" w="892239">
                  <a:moveTo>
                    <a:pt x="892239" y="0"/>
                  </a:moveTo>
                  <a:cubicBezTo>
                    <a:pt x="857076" y="951096"/>
                    <a:pt x="829323" y="1859859"/>
                    <a:pt x="793426" y="2355915"/>
                  </a:cubicBezTo>
                  <a:cubicBezTo>
                    <a:pt x="757529" y="2851971"/>
                    <a:pt x="751946" y="2746980"/>
                    <a:pt x="676858" y="2976336"/>
                  </a:cubicBezTo>
                  <a:cubicBezTo>
                    <a:pt x="601770" y="3205692"/>
                    <a:pt x="160327" y="3152732"/>
                    <a:pt x="0" y="3160551"/>
                  </a:cubicBezTo>
                </a:path>
              </a:pathLst>
            </a:custGeom>
            <a:noFill/>
            <a:ln cap="flat" cmpd="sng" w="12700">
              <a:solidFill>
                <a:srgbClr val="7B7B7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778" name="Google Shape;7778;p179"/>
            <p:cNvCxnSpPr/>
            <p:nvPr/>
          </p:nvCxnSpPr>
          <p:spPr>
            <a:xfrm>
              <a:off x="6296864" y="4404648"/>
              <a:ext cx="2774587" cy="0"/>
            </a:xfrm>
            <a:prstGeom prst="straightConnector1">
              <a:avLst/>
            </a:prstGeom>
            <a:noFill/>
            <a:ln cap="flat" cmpd="sng" w="12700">
              <a:solidFill>
                <a:schemeClr val="dk1"/>
              </a:solidFill>
              <a:prstDash val="dash"/>
              <a:miter lim="800000"/>
              <a:headEnd len="sm" w="sm" type="none"/>
              <a:tailEnd len="sm" w="sm" type="none"/>
            </a:ln>
          </p:spPr>
        </p:cxnSp>
        <p:grpSp>
          <p:nvGrpSpPr>
            <p:cNvPr id="7779" name="Google Shape;7779;p179"/>
            <p:cNvGrpSpPr/>
            <p:nvPr/>
          </p:nvGrpSpPr>
          <p:grpSpPr>
            <a:xfrm>
              <a:off x="6350326" y="4445306"/>
              <a:ext cx="795772" cy="900465"/>
              <a:chOff x="1257299" y="2448186"/>
              <a:chExt cx="919846" cy="1571364"/>
            </a:xfrm>
          </p:grpSpPr>
          <p:cxnSp>
            <p:nvCxnSpPr>
              <p:cNvPr id="7780" name="Google Shape;7780;p179"/>
              <p:cNvCxnSpPr/>
              <p:nvPr/>
            </p:nvCxnSpPr>
            <p:spPr>
              <a:xfrm flipH="1">
                <a:off x="1294561" y="2448186"/>
                <a:ext cx="882584" cy="1571364"/>
              </a:xfrm>
              <a:prstGeom prst="straightConnector1">
                <a:avLst/>
              </a:prstGeom>
              <a:noFill/>
              <a:ln cap="flat" cmpd="sng" w="25400">
                <a:solidFill>
                  <a:srgbClr val="C00000"/>
                </a:solidFill>
                <a:prstDash val="solid"/>
                <a:miter lim="800000"/>
                <a:headEnd len="sm" w="sm" type="none"/>
                <a:tailEnd len="sm" w="sm" type="none"/>
              </a:ln>
            </p:spPr>
          </p:cxnSp>
          <p:sp>
            <p:nvSpPr>
              <p:cNvPr id="7781" name="Google Shape;7781;p179"/>
              <p:cNvSpPr/>
              <p:nvPr/>
            </p:nvSpPr>
            <p:spPr>
              <a:xfrm>
                <a:off x="1257299" y="2450273"/>
                <a:ext cx="854076" cy="1562928"/>
              </a:xfrm>
              <a:custGeom>
                <a:rect b="b" l="l" r="r" t="t"/>
                <a:pathLst>
                  <a:path extrusionOk="0" h="2103931" w="1147562">
                    <a:moveTo>
                      <a:pt x="1147562" y="0"/>
                    </a:moveTo>
                    <a:cubicBezTo>
                      <a:pt x="-38197" y="56892"/>
                      <a:pt x="50361" y="547727"/>
                      <a:pt x="0" y="2103931"/>
                    </a:cubicBezTo>
                  </a:path>
                </a:pathLst>
              </a:custGeom>
              <a:noFill/>
              <a:ln cap="flat" cmpd="sng" w="25400">
                <a:solidFill>
                  <a:srgbClr val="0000A3"/>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782" name="Google Shape;7782;p179"/>
            <p:cNvGrpSpPr/>
            <p:nvPr/>
          </p:nvGrpSpPr>
          <p:grpSpPr>
            <a:xfrm>
              <a:off x="7112500" y="4441667"/>
              <a:ext cx="795772" cy="900465"/>
              <a:chOff x="1257299" y="2448186"/>
              <a:chExt cx="919846" cy="1571364"/>
            </a:xfrm>
          </p:grpSpPr>
          <p:cxnSp>
            <p:nvCxnSpPr>
              <p:cNvPr id="7783" name="Google Shape;7783;p179"/>
              <p:cNvCxnSpPr/>
              <p:nvPr/>
            </p:nvCxnSpPr>
            <p:spPr>
              <a:xfrm flipH="1">
                <a:off x="1294561" y="2448186"/>
                <a:ext cx="882584" cy="1571364"/>
              </a:xfrm>
              <a:prstGeom prst="straightConnector1">
                <a:avLst/>
              </a:prstGeom>
              <a:noFill/>
              <a:ln cap="flat" cmpd="sng" w="25400">
                <a:solidFill>
                  <a:srgbClr val="C00000"/>
                </a:solidFill>
                <a:prstDash val="solid"/>
                <a:miter lim="800000"/>
                <a:headEnd len="sm" w="sm" type="none"/>
                <a:tailEnd len="sm" w="sm" type="none"/>
              </a:ln>
            </p:spPr>
          </p:cxnSp>
          <p:sp>
            <p:nvSpPr>
              <p:cNvPr id="7784" name="Google Shape;7784;p179"/>
              <p:cNvSpPr/>
              <p:nvPr/>
            </p:nvSpPr>
            <p:spPr>
              <a:xfrm>
                <a:off x="1257299" y="2450273"/>
                <a:ext cx="854076" cy="1562928"/>
              </a:xfrm>
              <a:custGeom>
                <a:rect b="b" l="l" r="r" t="t"/>
                <a:pathLst>
                  <a:path extrusionOk="0" h="2103931" w="1147562">
                    <a:moveTo>
                      <a:pt x="1147562" y="0"/>
                    </a:moveTo>
                    <a:cubicBezTo>
                      <a:pt x="-38197" y="56892"/>
                      <a:pt x="50361" y="547727"/>
                      <a:pt x="0" y="2103931"/>
                    </a:cubicBezTo>
                  </a:path>
                </a:pathLst>
              </a:custGeom>
              <a:noFill/>
              <a:ln cap="flat" cmpd="sng" w="25400">
                <a:solidFill>
                  <a:srgbClr val="0000A3"/>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785" name="Google Shape;7785;p179"/>
            <p:cNvGrpSpPr/>
            <p:nvPr/>
          </p:nvGrpSpPr>
          <p:grpSpPr>
            <a:xfrm>
              <a:off x="7915954" y="4439699"/>
              <a:ext cx="795772" cy="900465"/>
              <a:chOff x="1257299" y="2448186"/>
              <a:chExt cx="919846" cy="1571364"/>
            </a:xfrm>
          </p:grpSpPr>
          <p:cxnSp>
            <p:nvCxnSpPr>
              <p:cNvPr id="7786" name="Google Shape;7786;p179"/>
              <p:cNvCxnSpPr/>
              <p:nvPr/>
            </p:nvCxnSpPr>
            <p:spPr>
              <a:xfrm flipH="1">
                <a:off x="1294561" y="2448186"/>
                <a:ext cx="882584" cy="1571364"/>
              </a:xfrm>
              <a:prstGeom prst="straightConnector1">
                <a:avLst/>
              </a:prstGeom>
              <a:noFill/>
              <a:ln cap="flat" cmpd="sng" w="25400">
                <a:solidFill>
                  <a:srgbClr val="C00000"/>
                </a:solidFill>
                <a:prstDash val="solid"/>
                <a:miter lim="800000"/>
                <a:headEnd len="sm" w="sm" type="none"/>
                <a:tailEnd len="sm" w="sm" type="none"/>
              </a:ln>
            </p:spPr>
          </p:cxnSp>
          <p:sp>
            <p:nvSpPr>
              <p:cNvPr id="7787" name="Google Shape;7787;p179"/>
              <p:cNvSpPr/>
              <p:nvPr/>
            </p:nvSpPr>
            <p:spPr>
              <a:xfrm>
                <a:off x="1257299" y="2450273"/>
                <a:ext cx="854076" cy="1562928"/>
              </a:xfrm>
              <a:custGeom>
                <a:rect b="b" l="l" r="r" t="t"/>
                <a:pathLst>
                  <a:path extrusionOk="0" h="2103931" w="1147562">
                    <a:moveTo>
                      <a:pt x="1147562" y="0"/>
                    </a:moveTo>
                    <a:cubicBezTo>
                      <a:pt x="-38197" y="56892"/>
                      <a:pt x="50361" y="547727"/>
                      <a:pt x="0" y="2103931"/>
                    </a:cubicBezTo>
                  </a:path>
                </a:pathLst>
              </a:custGeom>
              <a:noFill/>
              <a:ln cap="flat" cmpd="sng" w="25400">
                <a:solidFill>
                  <a:srgbClr val="0000A3"/>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788" name="Google Shape;7788;p179"/>
            <p:cNvGrpSpPr/>
            <p:nvPr/>
          </p:nvGrpSpPr>
          <p:grpSpPr>
            <a:xfrm>
              <a:off x="8750371" y="4432898"/>
              <a:ext cx="795772" cy="900465"/>
              <a:chOff x="1257299" y="2448186"/>
              <a:chExt cx="919846" cy="1571364"/>
            </a:xfrm>
          </p:grpSpPr>
          <p:cxnSp>
            <p:nvCxnSpPr>
              <p:cNvPr id="7789" name="Google Shape;7789;p179"/>
              <p:cNvCxnSpPr/>
              <p:nvPr/>
            </p:nvCxnSpPr>
            <p:spPr>
              <a:xfrm flipH="1">
                <a:off x="1294561" y="2448186"/>
                <a:ext cx="882584" cy="1571364"/>
              </a:xfrm>
              <a:prstGeom prst="straightConnector1">
                <a:avLst/>
              </a:prstGeom>
              <a:noFill/>
              <a:ln cap="flat" cmpd="sng" w="25400">
                <a:solidFill>
                  <a:srgbClr val="C00000"/>
                </a:solidFill>
                <a:prstDash val="solid"/>
                <a:miter lim="800000"/>
                <a:headEnd len="sm" w="sm" type="none"/>
                <a:tailEnd len="sm" w="sm" type="none"/>
              </a:ln>
            </p:spPr>
          </p:cxnSp>
          <p:sp>
            <p:nvSpPr>
              <p:cNvPr id="7790" name="Google Shape;7790;p179"/>
              <p:cNvSpPr/>
              <p:nvPr/>
            </p:nvSpPr>
            <p:spPr>
              <a:xfrm>
                <a:off x="1257299" y="2450273"/>
                <a:ext cx="854076" cy="1562928"/>
              </a:xfrm>
              <a:custGeom>
                <a:rect b="b" l="l" r="r" t="t"/>
                <a:pathLst>
                  <a:path extrusionOk="0" h="2103931" w="1147562">
                    <a:moveTo>
                      <a:pt x="1147562" y="0"/>
                    </a:moveTo>
                    <a:cubicBezTo>
                      <a:pt x="-38197" y="56892"/>
                      <a:pt x="50361" y="547727"/>
                      <a:pt x="0" y="2103931"/>
                    </a:cubicBezTo>
                  </a:path>
                </a:pathLst>
              </a:custGeom>
              <a:noFill/>
              <a:ln cap="flat" cmpd="sng" w="25400">
                <a:solidFill>
                  <a:srgbClr val="0000A3"/>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791" name="Google Shape;7791;p179"/>
            <p:cNvGrpSpPr/>
            <p:nvPr/>
          </p:nvGrpSpPr>
          <p:grpSpPr>
            <a:xfrm rot="10800000">
              <a:off x="9544542" y="3096950"/>
              <a:ext cx="1128132" cy="1337145"/>
              <a:chOff x="873118" y="2448184"/>
              <a:chExt cx="1304027" cy="2333396"/>
            </a:xfrm>
          </p:grpSpPr>
          <p:cxnSp>
            <p:nvCxnSpPr>
              <p:cNvPr id="7792" name="Google Shape;7792;p179"/>
              <p:cNvCxnSpPr/>
              <p:nvPr/>
            </p:nvCxnSpPr>
            <p:spPr>
              <a:xfrm flipH="1">
                <a:off x="873118" y="2448184"/>
                <a:ext cx="1304027" cy="2333396"/>
              </a:xfrm>
              <a:prstGeom prst="straightConnector1">
                <a:avLst/>
              </a:prstGeom>
              <a:noFill/>
              <a:ln cap="flat" cmpd="sng" w="25400">
                <a:solidFill>
                  <a:srgbClr val="C00000"/>
                </a:solidFill>
                <a:prstDash val="solid"/>
                <a:miter lim="800000"/>
                <a:headEnd len="sm" w="sm" type="none"/>
                <a:tailEnd len="sm" w="sm" type="none"/>
              </a:ln>
            </p:spPr>
          </p:cxnSp>
          <p:sp>
            <p:nvSpPr>
              <p:cNvPr id="7793" name="Google Shape;7793;p179"/>
              <p:cNvSpPr/>
              <p:nvPr/>
            </p:nvSpPr>
            <p:spPr>
              <a:xfrm>
                <a:off x="1252647" y="2450273"/>
                <a:ext cx="858729" cy="1600620"/>
              </a:xfrm>
              <a:custGeom>
                <a:rect b="b" l="l" r="r" t="t"/>
                <a:pathLst>
                  <a:path extrusionOk="0" h="2154669" w="1153813">
                    <a:moveTo>
                      <a:pt x="1153813" y="0"/>
                    </a:moveTo>
                    <a:cubicBezTo>
                      <a:pt x="-31946" y="56892"/>
                      <a:pt x="50361" y="598465"/>
                      <a:pt x="0" y="2154669"/>
                    </a:cubicBezTo>
                  </a:path>
                </a:pathLst>
              </a:custGeom>
              <a:noFill/>
              <a:ln cap="flat" cmpd="sng" w="25400">
                <a:solidFill>
                  <a:srgbClr val="0000A3"/>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cxnSp>
          <p:nvCxnSpPr>
            <p:cNvPr id="7794" name="Google Shape;7794;p179"/>
            <p:cNvCxnSpPr/>
            <p:nvPr/>
          </p:nvCxnSpPr>
          <p:spPr>
            <a:xfrm flipH="1">
              <a:off x="10340170" y="2893914"/>
              <a:ext cx="30503" cy="717091"/>
            </a:xfrm>
            <a:prstGeom prst="straightConnector1">
              <a:avLst/>
            </a:prstGeom>
            <a:noFill/>
            <a:ln cap="flat" cmpd="sng" w="25400">
              <a:solidFill>
                <a:srgbClr val="0000A3"/>
              </a:solidFill>
              <a:prstDash val="dash"/>
              <a:miter lim="800000"/>
              <a:headEnd len="sm" w="sm" type="none"/>
              <a:tailEnd len="sm" w="sm" type="none"/>
            </a:ln>
          </p:spPr>
        </p:cxnSp>
        <p:sp>
          <p:nvSpPr>
            <p:cNvPr id="7795" name="Google Shape;7795;p179"/>
            <p:cNvSpPr txBox="1"/>
            <p:nvPr/>
          </p:nvSpPr>
          <p:spPr>
            <a:xfrm>
              <a:off x="9881790" y="5941210"/>
              <a:ext cx="51809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time</a:t>
              </a:r>
              <a:endParaRPr b="0" i="0" sz="1600" u="none" cap="none" strike="noStrike">
                <a:solidFill>
                  <a:srgbClr val="000000"/>
                </a:solidFill>
                <a:latin typeface="Calibri"/>
                <a:ea typeface="Calibri"/>
                <a:cs typeface="Calibri"/>
                <a:sym typeface="Calibri"/>
              </a:endParaRPr>
            </a:p>
          </p:txBody>
        </p:sp>
        <p:sp>
          <p:nvSpPr>
            <p:cNvPr id="7796" name="Google Shape;7796;p179"/>
            <p:cNvSpPr txBox="1"/>
            <p:nvPr/>
          </p:nvSpPr>
          <p:spPr>
            <a:xfrm>
              <a:off x="9472281" y="4611687"/>
              <a:ext cx="1272656" cy="938719"/>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00000"/>
                </a:buClr>
                <a:buSzPts val="2000"/>
                <a:buFont typeface="Calibri"/>
                <a:buNone/>
              </a:pPr>
              <a:r>
                <a:rPr b="0" i="0" lang="en-US" sz="2000" u="none" cap="none" strike="noStrike">
                  <a:solidFill>
                    <a:srgbClr val="C00000"/>
                  </a:solidFill>
                  <a:latin typeface="Calibri"/>
                  <a:ea typeface="Calibri"/>
                  <a:cs typeface="Calibri"/>
                  <a:sym typeface="Calibri"/>
                </a:rPr>
                <a:t>TCP Reno</a:t>
              </a:r>
              <a:endParaRPr b="0" i="0" sz="2000" u="none" cap="none" strike="noStrike">
                <a:solidFill>
                  <a:srgbClr val="000000"/>
                </a:solidFill>
                <a:latin typeface="Calibri"/>
                <a:ea typeface="Calibri"/>
                <a:cs typeface="Calibri"/>
                <a:sym typeface="Calibri"/>
              </a:endParaRPr>
            </a:p>
            <a:p>
              <a:pPr indent="0" lvl="0" marL="0" marR="0" rtl="0" algn="l">
                <a:lnSpc>
                  <a:spcPct val="85000"/>
                </a:lnSpc>
                <a:spcBef>
                  <a:spcPts val="60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TCP CUBIC</a:t>
              </a:r>
              <a:endParaRPr/>
            </a:p>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7797" name="Google Shape;7797;p179"/>
            <p:cNvSpPr txBox="1"/>
            <p:nvPr/>
          </p:nvSpPr>
          <p:spPr>
            <a:xfrm>
              <a:off x="5297976" y="4213131"/>
              <a:ext cx="549173"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W</a:t>
              </a:r>
              <a:r>
                <a:rPr b="0" baseline="-25000" i="0" lang="en-US" sz="1400" u="none" cap="none" strike="noStrike">
                  <a:solidFill>
                    <a:srgbClr val="000000"/>
                  </a:solidFill>
                  <a:latin typeface="Calibri"/>
                  <a:ea typeface="Calibri"/>
                  <a:cs typeface="Calibri"/>
                  <a:sym typeface="Calibri"/>
                </a:rPr>
                <a:t>max</a:t>
              </a:r>
              <a:endParaRPr b="0" baseline="-25000" i="0" sz="1600" u="none" cap="none" strike="noStrike">
                <a:solidFill>
                  <a:srgbClr val="000000"/>
                </a:solidFill>
                <a:latin typeface="Calibri"/>
                <a:ea typeface="Calibri"/>
                <a:cs typeface="Calibri"/>
                <a:sym typeface="Calibri"/>
              </a:endParaRPr>
            </a:p>
          </p:txBody>
        </p:sp>
        <p:sp>
          <p:nvSpPr>
            <p:cNvPr id="7798" name="Google Shape;7798;p179"/>
            <p:cNvSpPr txBox="1"/>
            <p:nvPr/>
          </p:nvSpPr>
          <p:spPr>
            <a:xfrm>
              <a:off x="6180953" y="6255332"/>
              <a:ext cx="312906"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a:t>
              </a:r>
              <a:r>
                <a:rPr b="0" baseline="-25000" i="0" lang="en-US" sz="1400" u="none" cap="none" strike="noStrike">
                  <a:solidFill>
                    <a:srgbClr val="000000"/>
                  </a:solidFill>
                  <a:latin typeface="Calibri"/>
                  <a:ea typeface="Calibri"/>
                  <a:cs typeface="Calibri"/>
                  <a:sym typeface="Calibri"/>
                </a:rPr>
                <a:t>0</a:t>
              </a:r>
              <a:endParaRPr b="0" baseline="-25000" i="0" sz="1600" u="none" cap="none" strike="noStrike">
                <a:solidFill>
                  <a:srgbClr val="000000"/>
                </a:solidFill>
                <a:latin typeface="Calibri"/>
                <a:ea typeface="Calibri"/>
                <a:cs typeface="Calibri"/>
                <a:sym typeface="Calibri"/>
              </a:endParaRPr>
            </a:p>
          </p:txBody>
        </p:sp>
        <p:sp>
          <p:nvSpPr>
            <p:cNvPr id="7799" name="Google Shape;7799;p179"/>
            <p:cNvSpPr txBox="1"/>
            <p:nvPr/>
          </p:nvSpPr>
          <p:spPr>
            <a:xfrm>
              <a:off x="6997088" y="6257827"/>
              <a:ext cx="305467"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a:t>
              </a:r>
              <a:r>
                <a:rPr b="0" baseline="-25000" i="0" lang="en-US" sz="1400" u="none" cap="none" strike="noStrike">
                  <a:solidFill>
                    <a:srgbClr val="000000"/>
                  </a:solidFill>
                  <a:latin typeface="Calibri"/>
                  <a:ea typeface="Calibri"/>
                  <a:cs typeface="Calibri"/>
                  <a:sym typeface="Calibri"/>
                </a:rPr>
                <a:t>1 </a:t>
              </a:r>
              <a:endParaRPr b="0" baseline="-25000" i="0" sz="1600" u="none" cap="none" strike="noStrike">
                <a:solidFill>
                  <a:srgbClr val="000000"/>
                </a:solidFill>
                <a:latin typeface="Calibri"/>
                <a:ea typeface="Calibri"/>
                <a:cs typeface="Calibri"/>
                <a:sym typeface="Calibri"/>
              </a:endParaRPr>
            </a:p>
          </p:txBody>
        </p:sp>
        <p:sp>
          <p:nvSpPr>
            <p:cNvPr id="7800" name="Google Shape;7800;p179"/>
            <p:cNvSpPr txBox="1"/>
            <p:nvPr/>
          </p:nvSpPr>
          <p:spPr>
            <a:xfrm>
              <a:off x="7796251" y="6257147"/>
              <a:ext cx="312906"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a:t>
              </a:r>
              <a:r>
                <a:rPr b="0" baseline="-25000" i="0" lang="en-US" sz="1400" u="none" cap="none" strike="noStrike">
                  <a:solidFill>
                    <a:srgbClr val="000000"/>
                  </a:solidFill>
                  <a:latin typeface="Calibri"/>
                  <a:ea typeface="Calibri"/>
                  <a:cs typeface="Calibri"/>
                  <a:sym typeface="Calibri"/>
                </a:rPr>
                <a:t>2 </a:t>
              </a:r>
              <a:endParaRPr b="0" baseline="-25000" i="0" sz="1600" u="none" cap="none" strike="noStrike">
                <a:solidFill>
                  <a:srgbClr val="000000"/>
                </a:solidFill>
                <a:latin typeface="Calibri"/>
                <a:ea typeface="Calibri"/>
                <a:cs typeface="Calibri"/>
                <a:sym typeface="Calibri"/>
              </a:endParaRPr>
            </a:p>
          </p:txBody>
        </p:sp>
        <p:sp>
          <p:nvSpPr>
            <p:cNvPr id="7801" name="Google Shape;7801;p179"/>
            <p:cNvSpPr txBox="1"/>
            <p:nvPr/>
          </p:nvSpPr>
          <p:spPr>
            <a:xfrm>
              <a:off x="8625086" y="6256467"/>
              <a:ext cx="305467"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a:t>
              </a:r>
              <a:r>
                <a:rPr b="0" baseline="-25000" i="0" lang="en-US" sz="1400" u="none" cap="none" strike="noStrike">
                  <a:solidFill>
                    <a:srgbClr val="000000"/>
                  </a:solidFill>
                  <a:latin typeface="Calibri"/>
                  <a:ea typeface="Calibri"/>
                  <a:cs typeface="Calibri"/>
                  <a:sym typeface="Calibri"/>
                </a:rPr>
                <a:t>3 </a:t>
              </a:r>
              <a:endParaRPr b="0" baseline="-25000" i="0" sz="1600" u="none" cap="none" strike="noStrike">
                <a:solidFill>
                  <a:srgbClr val="000000"/>
                </a:solidFill>
                <a:latin typeface="Calibri"/>
                <a:ea typeface="Calibri"/>
                <a:cs typeface="Calibri"/>
                <a:sym typeface="Calibri"/>
              </a:endParaRPr>
            </a:p>
          </p:txBody>
        </p:sp>
        <p:sp>
          <p:nvSpPr>
            <p:cNvPr id="7802" name="Google Shape;7802;p179"/>
            <p:cNvSpPr txBox="1"/>
            <p:nvPr/>
          </p:nvSpPr>
          <p:spPr>
            <a:xfrm>
              <a:off x="9424249" y="6256467"/>
              <a:ext cx="312906" cy="28084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a:t>
              </a:r>
              <a:r>
                <a:rPr b="0" baseline="-25000" i="0" lang="en-US" sz="1400" u="none" cap="none" strike="noStrike">
                  <a:solidFill>
                    <a:srgbClr val="000000"/>
                  </a:solidFill>
                  <a:latin typeface="Calibri"/>
                  <a:ea typeface="Calibri"/>
                  <a:cs typeface="Calibri"/>
                  <a:sym typeface="Calibri"/>
                </a:rPr>
                <a:t>4 </a:t>
              </a:r>
              <a:endParaRPr b="0" baseline="-25000" i="0" sz="1600" u="none" cap="none" strike="noStrike">
                <a:solidFill>
                  <a:srgbClr val="000000"/>
                </a:solidFill>
                <a:latin typeface="Calibri"/>
                <a:ea typeface="Calibri"/>
                <a:cs typeface="Calibri"/>
                <a:sym typeface="Calibri"/>
              </a:endParaRPr>
            </a:p>
          </p:txBody>
        </p:sp>
      </p:grpSp>
      <p:sp>
        <p:nvSpPr>
          <p:cNvPr id="7803" name="Google Shape;7803;p179"/>
          <p:cNvSpPr txBox="1"/>
          <p:nvPr/>
        </p:nvSpPr>
        <p:spPr>
          <a:xfrm>
            <a:off x="797674" y="3941197"/>
            <a:ext cx="3455844" cy="2024199"/>
          </a:xfrm>
          <a:prstGeom prst="rect">
            <a:avLst/>
          </a:prstGeom>
          <a:noFill/>
          <a:ln>
            <a:noFill/>
          </a:ln>
        </p:spPr>
        <p:txBody>
          <a:bodyPr anchorCtr="0" anchor="t" bIns="45700" lIns="91425" spcFirstLastPara="1" rIns="91425" wrap="square" tIns="45700">
            <a:normAutofit/>
          </a:bodyPr>
          <a:lstStyle/>
          <a:p>
            <a:pPr indent="-295275" lvl="0" marL="4603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CUBIC default in Linux, most popular TCP for popular Web servers</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7804" name="Google Shape;7804;p179"/>
          <p:cNvSpPr txBox="1"/>
          <p:nvPr/>
        </p:nvSpPr>
        <p:spPr>
          <a:xfrm>
            <a:off x="785990" y="2146300"/>
            <a:ext cx="11164126" cy="2024199"/>
          </a:xfrm>
          <a:prstGeom prst="rect">
            <a:avLst/>
          </a:prstGeom>
          <a:noFill/>
          <a:ln>
            <a:noFill/>
          </a:ln>
        </p:spPr>
        <p:txBody>
          <a:bodyPr anchorCtr="0" anchor="t" bIns="45700" lIns="91425" spcFirstLastPara="1" rIns="91425" wrap="square" tIns="45700">
            <a:normAutofit/>
          </a:bodyPr>
          <a:lstStyle/>
          <a:p>
            <a:pPr indent="-330200" lvl="0" marL="4603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increase W as a function of the </a:t>
            </a:r>
            <a:r>
              <a:rPr b="0" i="1" lang="en-US" sz="2800" u="none" cap="none" strike="noStrike">
                <a:solidFill>
                  <a:srgbClr val="C00000"/>
                </a:solidFill>
                <a:latin typeface="Calibri"/>
                <a:ea typeface="Calibri"/>
                <a:cs typeface="Calibri"/>
                <a:sym typeface="Calibri"/>
              </a:rPr>
              <a:t>cube</a:t>
            </a:r>
            <a:r>
              <a:rPr b="0" i="0" lang="en-US" sz="2800" u="none" cap="none" strike="noStrike">
                <a:solidFill>
                  <a:srgbClr val="000000"/>
                </a:solidFill>
                <a:latin typeface="Calibri"/>
                <a:ea typeface="Calibri"/>
                <a:cs typeface="Calibri"/>
                <a:sym typeface="Calibri"/>
              </a:rPr>
              <a:t> of the distance between current time  and K</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7805" name="Google Shape;7805;p17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4"/>
                                        </p:tgtEl>
                                        <p:attrNameLst>
                                          <p:attrName>style.visibility</p:attrName>
                                        </p:attrNameLst>
                                      </p:cBhvr>
                                      <p:to>
                                        <p:strVal val="visible"/>
                                      </p:to>
                                    </p:set>
                                    <p:animEffect filter="fade" transition="in">
                                      <p:cBhvr>
                                        <p:cTn dur="500"/>
                                        <p:tgtEl>
                                          <p:spTgt spid="78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72"/>
                                        </p:tgtEl>
                                        <p:attrNameLst>
                                          <p:attrName>style.visibility</p:attrName>
                                        </p:attrNameLst>
                                      </p:cBhvr>
                                      <p:to>
                                        <p:strVal val="visible"/>
                                      </p:to>
                                    </p:set>
                                    <p:animEffect filter="fade" transition="in">
                                      <p:cBhvr>
                                        <p:cTn dur="500"/>
                                        <p:tgtEl>
                                          <p:spTgt spid="77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73"/>
                                        </p:tgtEl>
                                        <p:attrNameLst>
                                          <p:attrName>style.visibility</p:attrName>
                                        </p:attrNameLst>
                                      </p:cBhvr>
                                      <p:to>
                                        <p:strVal val="visible"/>
                                      </p:to>
                                    </p:set>
                                    <p:animEffect filter="fade" transition="in">
                                      <p:cBhvr>
                                        <p:cTn dur="500"/>
                                        <p:tgtEl>
                                          <p:spTgt spid="77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3"/>
                                        </p:tgtEl>
                                        <p:attrNameLst>
                                          <p:attrName>style.visibility</p:attrName>
                                        </p:attrNameLst>
                                      </p:cBhvr>
                                      <p:to>
                                        <p:strVal val="visible"/>
                                      </p:to>
                                    </p:set>
                                    <p:animEffect filter="fade" transition="in">
                                      <p:cBhvr>
                                        <p:cTn dur="500"/>
                                        <p:tgtEl>
                                          <p:spTgt spid="78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0" name="Shape 7810"/>
        <p:cNvGrpSpPr/>
        <p:nvPr/>
      </p:nvGrpSpPr>
      <p:grpSpPr>
        <a:xfrm>
          <a:off x="0" y="0"/>
          <a:ext cx="0" cy="0"/>
          <a:chOff x="0" y="0"/>
          <a:chExt cx="0" cy="0"/>
        </a:xfrm>
      </p:grpSpPr>
      <p:grpSp>
        <p:nvGrpSpPr>
          <p:cNvPr id="7811" name="Google Shape;7811;p180"/>
          <p:cNvGrpSpPr/>
          <p:nvPr/>
        </p:nvGrpSpPr>
        <p:grpSpPr>
          <a:xfrm>
            <a:off x="4094463" y="4663823"/>
            <a:ext cx="2885057" cy="1508681"/>
            <a:chOff x="4094463" y="4663823"/>
            <a:chExt cx="2885057" cy="1508681"/>
          </a:xfrm>
        </p:grpSpPr>
        <p:sp>
          <p:nvSpPr>
            <p:cNvPr id="7812" name="Google Shape;7812;p180"/>
            <p:cNvSpPr/>
            <p:nvPr/>
          </p:nvSpPr>
          <p:spPr>
            <a:xfrm>
              <a:off x="4129957" y="4691367"/>
              <a:ext cx="2849563" cy="1481137"/>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813" name="Google Shape;7813;p180"/>
            <p:cNvGrpSpPr/>
            <p:nvPr/>
          </p:nvGrpSpPr>
          <p:grpSpPr>
            <a:xfrm>
              <a:off x="5035264" y="5554092"/>
              <a:ext cx="496248" cy="260542"/>
              <a:chOff x="7141236" y="6068702"/>
              <a:chExt cx="496248" cy="260542"/>
            </a:xfrm>
          </p:grpSpPr>
          <p:sp>
            <p:nvSpPr>
              <p:cNvPr id="7814" name="Google Shape;7814;p180"/>
              <p:cNvSpPr/>
              <p:nvPr/>
            </p:nvSpPr>
            <p:spPr>
              <a:xfrm>
                <a:off x="7141236" y="6158887"/>
                <a:ext cx="496248" cy="17035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E40000"/>
                  </a:gs>
                  <a:gs pos="21000">
                    <a:schemeClr val="lt1"/>
                  </a:gs>
                  <a:gs pos="51000">
                    <a:srgbClr val="ED356A"/>
                  </a:gs>
                  <a:gs pos="100000">
                    <a:srgbClr val="E4000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815" name="Google Shape;7815;p180"/>
              <p:cNvSpPr/>
              <p:nvPr/>
            </p:nvSpPr>
            <p:spPr>
              <a:xfrm>
                <a:off x="7141522" y="6068702"/>
                <a:ext cx="495647" cy="168664"/>
              </a:xfrm>
              <a:prstGeom prst="ellipse">
                <a:avLst/>
              </a:prstGeom>
              <a:solidFill>
                <a:srgbClr val="FA376E"/>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16" name="Google Shape;7816;p180"/>
              <p:cNvGrpSpPr/>
              <p:nvPr/>
            </p:nvGrpSpPr>
            <p:grpSpPr>
              <a:xfrm>
                <a:off x="7214834" y="6090139"/>
                <a:ext cx="348960" cy="123931"/>
                <a:chOff x="7786941" y="2884917"/>
                <a:chExt cx="897649" cy="353919"/>
              </a:xfrm>
            </p:grpSpPr>
            <p:sp>
              <p:nvSpPr>
                <p:cNvPr id="7817" name="Google Shape;7817;p18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18" name="Google Shape;7818;p18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19" name="Google Shape;7819;p18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20" name="Google Shape;7820;p18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821" name="Google Shape;7821;p180"/>
            <p:cNvGrpSpPr/>
            <p:nvPr/>
          </p:nvGrpSpPr>
          <p:grpSpPr>
            <a:xfrm>
              <a:off x="6131364" y="5156690"/>
              <a:ext cx="496248" cy="260542"/>
              <a:chOff x="7493876" y="2774731"/>
              <a:chExt cx="1481958" cy="894622"/>
            </a:xfrm>
          </p:grpSpPr>
          <p:sp>
            <p:nvSpPr>
              <p:cNvPr id="7822" name="Google Shape;7822;p18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823" name="Google Shape;7823;p18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24" name="Google Shape;7824;p180"/>
              <p:cNvGrpSpPr/>
              <p:nvPr/>
            </p:nvGrpSpPr>
            <p:grpSpPr>
              <a:xfrm>
                <a:off x="7713663" y="2848339"/>
                <a:ext cx="1042107" cy="425543"/>
                <a:chOff x="7786941" y="2884917"/>
                <a:chExt cx="897649" cy="353919"/>
              </a:xfrm>
            </p:grpSpPr>
            <p:sp>
              <p:nvSpPr>
                <p:cNvPr id="7825" name="Google Shape;7825;p18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26" name="Google Shape;7826;p18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27" name="Google Shape;7827;p18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28" name="Google Shape;7828;p18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829" name="Google Shape;7829;p180"/>
            <p:cNvGrpSpPr/>
            <p:nvPr/>
          </p:nvGrpSpPr>
          <p:grpSpPr>
            <a:xfrm>
              <a:off x="5122533" y="4861037"/>
              <a:ext cx="496248" cy="260542"/>
              <a:chOff x="7493876" y="2774731"/>
              <a:chExt cx="1481958" cy="894622"/>
            </a:xfrm>
          </p:grpSpPr>
          <p:sp>
            <p:nvSpPr>
              <p:cNvPr id="7830" name="Google Shape;7830;p18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831" name="Google Shape;7831;p18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32" name="Google Shape;7832;p180"/>
              <p:cNvGrpSpPr/>
              <p:nvPr/>
            </p:nvGrpSpPr>
            <p:grpSpPr>
              <a:xfrm>
                <a:off x="7713663" y="2848339"/>
                <a:ext cx="1042107" cy="425543"/>
                <a:chOff x="7786941" y="2884917"/>
                <a:chExt cx="897649" cy="353919"/>
              </a:xfrm>
            </p:grpSpPr>
            <p:sp>
              <p:nvSpPr>
                <p:cNvPr id="7833" name="Google Shape;7833;p18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34" name="Google Shape;7834;p18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35" name="Google Shape;7835;p18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36" name="Google Shape;7836;p18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837" name="Google Shape;7837;p180"/>
            <p:cNvGrpSpPr/>
            <p:nvPr/>
          </p:nvGrpSpPr>
          <p:grpSpPr>
            <a:xfrm>
              <a:off x="4450588" y="5823254"/>
              <a:ext cx="496248" cy="260542"/>
              <a:chOff x="7493876" y="2774731"/>
              <a:chExt cx="1481958" cy="894622"/>
            </a:xfrm>
          </p:grpSpPr>
          <p:sp>
            <p:nvSpPr>
              <p:cNvPr id="7838" name="Google Shape;7838;p18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839" name="Google Shape;7839;p18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40" name="Google Shape;7840;p180"/>
              <p:cNvGrpSpPr/>
              <p:nvPr/>
            </p:nvGrpSpPr>
            <p:grpSpPr>
              <a:xfrm>
                <a:off x="7713663" y="2848339"/>
                <a:ext cx="1042107" cy="425543"/>
                <a:chOff x="7786941" y="2884917"/>
                <a:chExt cx="897649" cy="353919"/>
              </a:xfrm>
            </p:grpSpPr>
            <p:sp>
              <p:nvSpPr>
                <p:cNvPr id="7841" name="Google Shape;7841;p18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42" name="Google Shape;7842;p18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43" name="Google Shape;7843;p18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44" name="Google Shape;7844;p18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845" name="Google Shape;7845;p180"/>
            <p:cNvGrpSpPr/>
            <p:nvPr/>
          </p:nvGrpSpPr>
          <p:grpSpPr>
            <a:xfrm>
              <a:off x="4094463" y="5164346"/>
              <a:ext cx="496248" cy="260542"/>
              <a:chOff x="7493876" y="2774731"/>
              <a:chExt cx="1481958" cy="894622"/>
            </a:xfrm>
          </p:grpSpPr>
          <p:sp>
            <p:nvSpPr>
              <p:cNvPr id="7846" name="Google Shape;7846;p18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847" name="Google Shape;7847;p18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48" name="Google Shape;7848;p180"/>
              <p:cNvGrpSpPr/>
              <p:nvPr/>
            </p:nvGrpSpPr>
            <p:grpSpPr>
              <a:xfrm>
                <a:off x="7713663" y="2848339"/>
                <a:ext cx="1042107" cy="425543"/>
                <a:chOff x="7786941" y="2884917"/>
                <a:chExt cx="897649" cy="353919"/>
              </a:xfrm>
            </p:grpSpPr>
            <p:sp>
              <p:nvSpPr>
                <p:cNvPr id="7849" name="Google Shape;7849;p18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50" name="Google Shape;7850;p18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51" name="Google Shape;7851;p18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52" name="Google Shape;7852;p18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7853" name="Google Shape;7853;p180"/>
            <p:cNvSpPr/>
            <p:nvPr/>
          </p:nvSpPr>
          <p:spPr>
            <a:xfrm>
              <a:off x="4581324" y="4994579"/>
              <a:ext cx="542925" cy="295275"/>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54" name="Google Shape;7854;p180"/>
            <p:cNvSpPr/>
            <p:nvPr/>
          </p:nvSpPr>
          <p:spPr>
            <a:xfrm>
              <a:off x="5622724" y="4988229"/>
              <a:ext cx="506413" cy="307975"/>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55" name="Google Shape;7855;p180"/>
            <p:cNvSpPr/>
            <p:nvPr/>
          </p:nvSpPr>
          <p:spPr>
            <a:xfrm>
              <a:off x="4557512" y="5380342"/>
              <a:ext cx="481012" cy="238125"/>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56" name="Google Shape;7856;p180"/>
            <p:cNvSpPr/>
            <p:nvPr/>
          </p:nvSpPr>
          <p:spPr>
            <a:xfrm>
              <a:off x="5505249" y="5356529"/>
              <a:ext cx="630238" cy="247650"/>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57" name="Google Shape;7857;p180"/>
            <p:cNvSpPr/>
            <p:nvPr/>
          </p:nvSpPr>
          <p:spPr>
            <a:xfrm>
              <a:off x="6173587" y="5410504"/>
              <a:ext cx="206375" cy="508000"/>
            </a:xfrm>
            <a:custGeom>
              <a:rect b="b" l="l" r="r" t="t"/>
              <a:pathLst>
                <a:path extrusionOk="0" h="500" w="118">
                  <a:moveTo>
                    <a:pt x="0" y="500"/>
                  </a:moveTo>
                  <a:lnTo>
                    <a:pt x="11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58" name="Google Shape;7858;p180"/>
            <p:cNvSpPr/>
            <p:nvPr/>
          </p:nvSpPr>
          <p:spPr>
            <a:xfrm>
              <a:off x="4936923" y="5943904"/>
              <a:ext cx="970395" cy="81756"/>
            </a:xfrm>
            <a:custGeom>
              <a:rect b="b" l="l" r="r" t="t"/>
              <a:pathLst>
                <a:path extrusionOk="0" h="32" w="370">
                  <a:moveTo>
                    <a:pt x="370" y="32"/>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59" name="Google Shape;7859;p180"/>
            <p:cNvSpPr/>
            <p:nvPr/>
          </p:nvSpPr>
          <p:spPr>
            <a:xfrm>
              <a:off x="4400349" y="5424888"/>
              <a:ext cx="193675" cy="404716"/>
            </a:xfrm>
            <a:custGeom>
              <a:rect b="b" l="l" r="r" t="t"/>
              <a:pathLst>
                <a:path extrusionOk="0" h="412" w="176">
                  <a:moveTo>
                    <a:pt x="162" y="408"/>
                  </a:moveTo>
                  <a:lnTo>
                    <a:pt x="176" y="412"/>
                  </a:ln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860" name="Google Shape;7860;p180"/>
            <p:cNvGrpSpPr/>
            <p:nvPr/>
          </p:nvGrpSpPr>
          <p:grpSpPr>
            <a:xfrm>
              <a:off x="5868328" y="5862061"/>
              <a:ext cx="496248" cy="260542"/>
              <a:chOff x="7493876" y="2774731"/>
              <a:chExt cx="1481958" cy="894622"/>
            </a:xfrm>
          </p:grpSpPr>
          <p:sp>
            <p:nvSpPr>
              <p:cNvPr id="7861" name="Google Shape;7861;p18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862" name="Google Shape;7862;p18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863" name="Google Shape;7863;p180"/>
              <p:cNvGrpSpPr/>
              <p:nvPr/>
            </p:nvGrpSpPr>
            <p:grpSpPr>
              <a:xfrm>
                <a:off x="7713663" y="2848339"/>
                <a:ext cx="1042107" cy="425543"/>
                <a:chOff x="7786941" y="2884917"/>
                <a:chExt cx="897649" cy="353919"/>
              </a:xfrm>
            </p:grpSpPr>
            <p:sp>
              <p:nvSpPr>
                <p:cNvPr id="7864" name="Google Shape;7864;p18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65" name="Google Shape;7865;p18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66" name="Google Shape;7866;p18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67" name="Google Shape;7867;p18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7868" name="Google Shape;7868;p180"/>
            <p:cNvSpPr/>
            <p:nvPr/>
          </p:nvSpPr>
          <p:spPr>
            <a:xfrm flipH="1" rot="10800000">
              <a:off x="4860724" y="5735086"/>
              <a:ext cx="178041" cy="104043"/>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69" name="Google Shape;7869;p180"/>
            <p:cNvSpPr/>
            <p:nvPr/>
          </p:nvSpPr>
          <p:spPr>
            <a:xfrm flipH="1" rot="10800000">
              <a:off x="5445456" y="4663823"/>
              <a:ext cx="45719" cy="202880"/>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70" name="Google Shape;7870;p180"/>
            <p:cNvSpPr/>
            <p:nvPr/>
          </p:nvSpPr>
          <p:spPr>
            <a:xfrm>
              <a:off x="5532311" y="5746564"/>
              <a:ext cx="336683" cy="244860"/>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871" name="Google Shape;7871;p180"/>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and the congested “bottleneck link”</a:t>
            </a:r>
            <a:endParaRPr b="0" sz="4400"/>
          </a:p>
        </p:txBody>
      </p:sp>
      <p:sp>
        <p:nvSpPr>
          <p:cNvPr id="7872" name="Google Shape;7872;p180"/>
          <p:cNvSpPr txBox="1"/>
          <p:nvPr/>
        </p:nvSpPr>
        <p:spPr>
          <a:xfrm>
            <a:off x="667043" y="1366203"/>
            <a:ext cx="11177587" cy="2190750"/>
          </a:xfrm>
          <a:prstGeom prst="rect">
            <a:avLst/>
          </a:prstGeom>
          <a:noFill/>
          <a:ln>
            <a:noFill/>
          </a:ln>
        </p:spPr>
        <p:txBody>
          <a:bodyPr anchorCtr="0" anchor="t" bIns="45700" lIns="91425" spcFirstLastPara="1" rIns="91425" wrap="square" tIns="45700">
            <a:normAutofit/>
          </a:bodyPr>
          <a:lstStyle/>
          <a:p>
            <a:pPr indent="-215900" lvl="0" marL="45720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(classic, CUBIC) increase TCP’s sending rate until packet loss occurs at some router’s output: the </a:t>
            </a:r>
            <a:r>
              <a:rPr b="0" i="1" lang="en-US" sz="2800" u="none" cap="none" strike="noStrike">
                <a:solidFill>
                  <a:srgbClr val="C00000"/>
                </a:solidFill>
                <a:latin typeface="Calibri"/>
                <a:ea typeface="Calibri"/>
                <a:cs typeface="Calibri"/>
                <a:sym typeface="Calibri"/>
              </a:rPr>
              <a:t>bottleneck link</a:t>
            </a:r>
            <a:endParaRPr b="0" i="0" sz="2800" u="none" cap="none" strike="noStrike">
              <a:solidFill>
                <a:srgbClr val="000000"/>
              </a:solidFill>
              <a:latin typeface="Calibri"/>
              <a:ea typeface="Calibri"/>
              <a:cs typeface="Calibri"/>
              <a:sym typeface="Calibri"/>
            </a:endParaRPr>
          </a:p>
        </p:txBody>
      </p:sp>
      <p:sp>
        <p:nvSpPr>
          <p:cNvPr id="7873" name="Google Shape;7873;p180"/>
          <p:cNvSpPr txBox="1"/>
          <p:nvPr/>
        </p:nvSpPr>
        <p:spPr>
          <a:xfrm>
            <a:off x="3019425" y="3594045"/>
            <a:ext cx="711200" cy="3079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source</a:t>
            </a:r>
            <a:endParaRPr b="0" i="1" sz="2000" u="none" cap="none" strike="noStrike">
              <a:solidFill>
                <a:srgbClr val="000099"/>
              </a:solidFill>
              <a:latin typeface="Arial"/>
              <a:ea typeface="Arial"/>
              <a:cs typeface="Arial"/>
              <a:sym typeface="Arial"/>
            </a:endParaRPr>
          </a:p>
        </p:txBody>
      </p:sp>
      <p:sp>
        <p:nvSpPr>
          <p:cNvPr id="7874" name="Google Shape;7874;p180"/>
          <p:cNvSpPr/>
          <p:nvPr/>
        </p:nvSpPr>
        <p:spPr>
          <a:xfrm flipH="1">
            <a:off x="2481263" y="3925832"/>
            <a:ext cx="326408" cy="1262816"/>
          </a:xfrm>
          <a:custGeom>
            <a:rect b="b" l="l" r="r" t="t"/>
            <a:pathLst>
              <a:path extrusionOk="0" h="10000" w="12213">
                <a:moveTo>
                  <a:pt x="11726" y="4661"/>
                </a:moveTo>
                <a:lnTo>
                  <a:pt x="0" y="0"/>
                </a:lnTo>
                <a:lnTo>
                  <a:pt x="0" y="10000"/>
                </a:lnTo>
                <a:lnTo>
                  <a:pt x="12213" y="6473"/>
                </a:lnTo>
                <a:lnTo>
                  <a:pt x="11726" y="4661"/>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75" name="Google Shape;7875;p180"/>
          <p:cNvSpPr/>
          <p:nvPr/>
        </p:nvSpPr>
        <p:spPr>
          <a:xfrm>
            <a:off x="2854326" y="3909956"/>
            <a:ext cx="1062368" cy="129063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876" name="Google Shape;7876;p180"/>
          <p:cNvSpPr/>
          <p:nvPr/>
        </p:nvSpPr>
        <p:spPr>
          <a:xfrm>
            <a:off x="2814638" y="3949645"/>
            <a:ext cx="1066800" cy="1231900"/>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877" name="Google Shape;7877;p180"/>
          <p:cNvCxnSpPr/>
          <p:nvPr/>
        </p:nvCxnSpPr>
        <p:spPr>
          <a:xfrm>
            <a:off x="2814638" y="4227457"/>
            <a:ext cx="1058862" cy="3175"/>
          </a:xfrm>
          <a:prstGeom prst="straightConnector1">
            <a:avLst/>
          </a:prstGeom>
          <a:noFill/>
          <a:ln cap="flat" cmpd="sng" w="19050">
            <a:solidFill>
              <a:srgbClr val="000000"/>
            </a:solidFill>
            <a:prstDash val="solid"/>
            <a:round/>
            <a:headEnd len="med" w="med" type="none"/>
            <a:tailEnd len="med" w="med" type="none"/>
          </a:ln>
        </p:spPr>
      </p:cxnSp>
      <p:sp>
        <p:nvSpPr>
          <p:cNvPr id="7878" name="Google Shape;7878;p180"/>
          <p:cNvSpPr txBox="1"/>
          <p:nvPr/>
        </p:nvSpPr>
        <p:spPr>
          <a:xfrm>
            <a:off x="2773604" y="3957054"/>
            <a:ext cx="1104900" cy="127476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7879" name="Google Shape;7879;p180"/>
          <p:cNvGrpSpPr/>
          <p:nvPr/>
        </p:nvGrpSpPr>
        <p:grpSpPr>
          <a:xfrm flipH="1">
            <a:off x="2151063" y="4424307"/>
            <a:ext cx="673100" cy="701675"/>
            <a:chOff x="-44" y="1473"/>
            <a:chExt cx="981" cy="1105"/>
          </a:xfrm>
        </p:grpSpPr>
        <p:pic>
          <p:nvPicPr>
            <p:cNvPr descr="desktop_computer_stylized_medium" id="7880" name="Google Shape;7880;p18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881" name="Google Shape;7881;p18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7882" name="Google Shape;7882;p180"/>
          <p:cNvCxnSpPr/>
          <p:nvPr/>
        </p:nvCxnSpPr>
        <p:spPr>
          <a:xfrm>
            <a:off x="2819400" y="4456057"/>
            <a:ext cx="1058863" cy="3175"/>
          </a:xfrm>
          <a:prstGeom prst="straightConnector1">
            <a:avLst/>
          </a:prstGeom>
          <a:noFill/>
          <a:ln cap="flat" cmpd="sng" w="19050">
            <a:solidFill>
              <a:srgbClr val="000000"/>
            </a:solidFill>
            <a:prstDash val="solid"/>
            <a:round/>
            <a:headEnd len="med" w="med" type="none"/>
            <a:tailEnd len="med" w="med" type="none"/>
          </a:ln>
        </p:spPr>
      </p:cxnSp>
      <p:cxnSp>
        <p:nvCxnSpPr>
          <p:cNvPr id="7883" name="Google Shape;7883;p180"/>
          <p:cNvCxnSpPr/>
          <p:nvPr/>
        </p:nvCxnSpPr>
        <p:spPr>
          <a:xfrm>
            <a:off x="2824163" y="4684657"/>
            <a:ext cx="1058862" cy="3175"/>
          </a:xfrm>
          <a:prstGeom prst="straightConnector1">
            <a:avLst/>
          </a:prstGeom>
          <a:noFill/>
          <a:ln cap="flat" cmpd="sng" w="19050">
            <a:solidFill>
              <a:srgbClr val="000000"/>
            </a:solidFill>
            <a:prstDash val="solid"/>
            <a:round/>
            <a:headEnd len="med" w="med" type="none"/>
            <a:tailEnd len="med" w="med" type="none"/>
          </a:ln>
        </p:spPr>
      </p:cxnSp>
      <p:cxnSp>
        <p:nvCxnSpPr>
          <p:cNvPr id="7884" name="Google Shape;7884;p180"/>
          <p:cNvCxnSpPr/>
          <p:nvPr/>
        </p:nvCxnSpPr>
        <p:spPr>
          <a:xfrm>
            <a:off x="2827338" y="4924370"/>
            <a:ext cx="1060450" cy="3175"/>
          </a:xfrm>
          <a:prstGeom prst="straightConnector1">
            <a:avLst/>
          </a:prstGeom>
          <a:noFill/>
          <a:ln cap="flat" cmpd="sng" w="19050">
            <a:solidFill>
              <a:srgbClr val="000000"/>
            </a:solidFill>
            <a:prstDash val="solid"/>
            <a:round/>
            <a:headEnd len="med" w="med" type="none"/>
            <a:tailEnd len="med" w="med" type="none"/>
          </a:ln>
        </p:spPr>
      </p:cxnSp>
      <p:grpSp>
        <p:nvGrpSpPr>
          <p:cNvPr id="7885" name="Google Shape;7885;p180"/>
          <p:cNvGrpSpPr/>
          <p:nvPr/>
        </p:nvGrpSpPr>
        <p:grpSpPr>
          <a:xfrm>
            <a:off x="7794625" y="3673978"/>
            <a:ext cx="2047875" cy="1620287"/>
            <a:chOff x="4882752" y="4007261"/>
            <a:chExt cx="2046816" cy="1619544"/>
          </a:xfrm>
        </p:grpSpPr>
        <p:sp>
          <p:nvSpPr>
            <p:cNvPr id="7886" name="Google Shape;7886;p180"/>
            <p:cNvSpPr txBox="1"/>
            <p:nvPr/>
          </p:nvSpPr>
          <p:spPr>
            <a:xfrm>
              <a:off x="4882752" y="4007261"/>
              <a:ext cx="1226089"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destination</a:t>
              </a:r>
              <a:endParaRPr b="0" i="1" sz="2000" u="none" cap="none" strike="noStrike">
                <a:solidFill>
                  <a:srgbClr val="000099"/>
                </a:solidFill>
                <a:latin typeface="Arial"/>
                <a:ea typeface="Arial"/>
                <a:cs typeface="Arial"/>
                <a:sym typeface="Arial"/>
              </a:endParaRPr>
            </a:p>
          </p:txBody>
        </p:sp>
        <p:grpSp>
          <p:nvGrpSpPr>
            <p:cNvPr id="7887" name="Google Shape;7887;p180"/>
            <p:cNvGrpSpPr/>
            <p:nvPr/>
          </p:nvGrpSpPr>
          <p:grpSpPr>
            <a:xfrm>
              <a:off x="4927179" y="4319856"/>
              <a:ext cx="2002389" cy="1306949"/>
              <a:chOff x="1305623" y="4714561"/>
              <a:chExt cx="2002389" cy="1306949"/>
            </a:xfrm>
          </p:grpSpPr>
          <p:sp>
            <p:nvSpPr>
              <p:cNvPr id="7888" name="Google Shape;7888;p180"/>
              <p:cNvSpPr/>
              <p:nvPr/>
            </p:nvSpPr>
            <p:spPr>
              <a:xfrm>
                <a:off x="2426569" y="4714561"/>
                <a:ext cx="288261" cy="1290044"/>
              </a:xfrm>
              <a:custGeom>
                <a:rect b="b" l="l" r="r" t="t"/>
                <a:pathLst>
                  <a:path extrusionOk="0" h="1186" w="267">
                    <a:moveTo>
                      <a:pt x="254" y="466"/>
                    </a:moveTo>
                    <a:lnTo>
                      <a:pt x="0" y="0"/>
                    </a:lnTo>
                    <a:lnTo>
                      <a:pt x="0" y="1186"/>
                    </a:lnTo>
                    <a:lnTo>
                      <a:pt x="267" y="652"/>
                    </a:lnTo>
                    <a:lnTo>
                      <a:pt x="254" y="466"/>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889" name="Google Shape;7889;p180"/>
              <p:cNvSpPr/>
              <p:nvPr/>
            </p:nvSpPr>
            <p:spPr>
              <a:xfrm>
                <a:off x="1398616" y="4722494"/>
                <a:ext cx="1045433" cy="127129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890" name="Google Shape;7890;p180"/>
              <p:cNvSpPr/>
              <p:nvPr/>
            </p:nvSpPr>
            <p:spPr>
              <a:xfrm>
                <a:off x="1341249" y="4752754"/>
                <a:ext cx="1067215" cy="1231976"/>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891" name="Google Shape;7891;p180"/>
              <p:cNvCxnSpPr/>
              <p:nvPr/>
            </p:nvCxnSpPr>
            <p:spPr>
              <a:xfrm>
                <a:off x="1341249" y="5031313"/>
                <a:ext cx="1059231" cy="2888"/>
              </a:xfrm>
              <a:prstGeom prst="straightConnector1">
                <a:avLst/>
              </a:prstGeom>
              <a:noFill/>
              <a:ln cap="flat" cmpd="sng" w="19050">
                <a:solidFill>
                  <a:srgbClr val="000000"/>
                </a:solidFill>
                <a:prstDash val="solid"/>
                <a:round/>
                <a:headEnd len="med" w="med" type="none"/>
                <a:tailEnd len="med" w="med" type="none"/>
              </a:ln>
            </p:spPr>
          </p:cxnSp>
          <p:sp>
            <p:nvSpPr>
              <p:cNvPr id="7892" name="Google Shape;7892;p180"/>
              <p:cNvSpPr txBox="1"/>
              <p:nvPr/>
            </p:nvSpPr>
            <p:spPr>
              <a:xfrm>
                <a:off x="1305623" y="4747333"/>
                <a:ext cx="1104329" cy="127417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7893" name="Google Shape;7893;p180"/>
              <p:cNvGrpSpPr/>
              <p:nvPr/>
            </p:nvGrpSpPr>
            <p:grpSpPr>
              <a:xfrm flipH="1">
                <a:off x="2634682" y="5076164"/>
                <a:ext cx="673330" cy="701684"/>
                <a:chOff x="-44" y="1473"/>
                <a:chExt cx="981" cy="1105"/>
              </a:xfrm>
            </p:grpSpPr>
            <p:pic>
              <p:nvPicPr>
                <p:cNvPr descr="desktop_computer_stylized_medium" id="7894" name="Google Shape;7894;p18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895" name="Google Shape;7895;p18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7896" name="Google Shape;7896;p180"/>
              <p:cNvCxnSpPr/>
              <p:nvPr/>
            </p:nvCxnSpPr>
            <p:spPr>
              <a:xfrm>
                <a:off x="1345720" y="52602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7897" name="Google Shape;7897;p180"/>
              <p:cNvCxnSpPr/>
              <p:nvPr/>
            </p:nvCxnSpPr>
            <p:spPr>
              <a:xfrm>
                <a:off x="1350191" y="54891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7898" name="Google Shape;7898;p180"/>
              <p:cNvCxnSpPr/>
              <p:nvPr/>
            </p:nvCxnSpPr>
            <p:spPr>
              <a:xfrm>
                <a:off x="1354662" y="5728213"/>
                <a:ext cx="1059231" cy="2888"/>
              </a:xfrm>
              <a:prstGeom prst="straightConnector1">
                <a:avLst/>
              </a:prstGeom>
              <a:noFill/>
              <a:ln cap="flat" cmpd="sng" w="19050">
                <a:solidFill>
                  <a:srgbClr val="000000"/>
                </a:solidFill>
                <a:prstDash val="solid"/>
                <a:round/>
                <a:headEnd len="med" w="med" type="none"/>
                <a:tailEnd len="med" w="med" type="none"/>
              </a:ln>
            </p:spPr>
          </p:cxnSp>
        </p:grpSp>
      </p:grpSp>
      <p:sp>
        <p:nvSpPr>
          <p:cNvPr id="7899" name="Google Shape;7899;p180"/>
          <p:cNvSpPr/>
          <p:nvPr/>
        </p:nvSpPr>
        <p:spPr>
          <a:xfrm>
            <a:off x="3329610" y="4423976"/>
            <a:ext cx="5073926" cy="1202035"/>
          </a:xfrm>
          <a:custGeom>
            <a:rect b="b" l="l" r="r" t="t"/>
            <a:pathLst>
              <a:path extrusionOk="0" h="1443677" w="5156094">
                <a:moveTo>
                  <a:pt x="0" y="0"/>
                </a:moveTo>
                <a:cubicBezTo>
                  <a:pt x="2320" y="388965"/>
                  <a:pt x="4641" y="777929"/>
                  <a:pt x="6961" y="1166894"/>
                </a:cubicBezTo>
                <a:lnTo>
                  <a:pt x="1387547" y="1150854"/>
                </a:lnTo>
                <a:lnTo>
                  <a:pt x="1832629" y="1440196"/>
                </a:lnTo>
                <a:lnTo>
                  <a:pt x="2063570" y="1443677"/>
                </a:lnTo>
                <a:lnTo>
                  <a:pt x="2809732" y="1093074"/>
                </a:lnTo>
                <a:lnTo>
                  <a:pt x="5156094" y="1198456"/>
                </a:lnTo>
                <a:lnTo>
                  <a:pt x="5126381" y="64084"/>
                </a:lnTo>
              </a:path>
            </a:pathLst>
          </a:custGeom>
          <a:noFill/>
          <a:ln cap="flat" cmpd="sng" w="22225">
            <a:solidFill>
              <a:srgbClr val="000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00" name="Google Shape;7900;p180"/>
          <p:cNvSpPr txBox="1"/>
          <p:nvPr/>
        </p:nvSpPr>
        <p:spPr>
          <a:xfrm>
            <a:off x="4692557" y="6277338"/>
            <a:ext cx="318138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600"/>
              <a:buFont typeface="Calibri"/>
              <a:buNone/>
            </a:pPr>
            <a:r>
              <a:rPr b="0" i="0" lang="en-US" sz="1600" u="none" cap="none" strike="noStrike">
                <a:solidFill>
                  <a:srgbClr val="C00000"/>
                </a:solidFill>
                <a:latin typeface="Calibri"/>
                <a:ea typeface="Calibri"/>
                <a:cs typeface="Calibri"/>
                <a:sym typeface="Calibri"/>
              </a:rPr>
              <a:t>bottleneck link (almost always busy)</a:t>
            </a:r>
            <a:endParaRPr b="0" i="0" sz="1800" u="none" cap="none" strike="noStrike">
              <a:solidFill>
                <a:srgbClr val="C00000"/>
              </a:solidFill>
              <a:latin typeface="Calibri"/>
              <a:ea typeface="Calibri"/>
              <a:cs typeface="Calibri"/>
              <a:sym typeface="Calibri"/>
            </a:endParaRPr>
          </a:p>
        </p:txBody>
      </p:sp>
      <p:cxnSp>
        <p:nvCxnSpPr>
          <p:cNvPr id="7901" name="Google Shape;7901;p180"/>
          <p:cNvCxnSpPr/>
          <p:nvPr/>
        </p:nvCxnSpPr>
        <p:spPr>
          <a:xfrm>
            <a:off x="5609507" y="5767851"/>
            <a:ext cx="0" cy="566274"/>
          </a:xfrm>
          <a:prstGeom prst="straightConnector1">
            <a:avLst/>
          </a:prstGeom>
          <a:noFill/>
          <a:ln cap="flat" cmpd="sng" w="19050">
            <a:solidFill>
              <a:srgbClr val="FF0000"/>
            </a:solidFill>
            <a:prstDash val="solid"/>
            <a:miter lim="800000"/>
            <a:headEnd len="sm" w="sm" type="none"/>
            <a:tailEnd len="sm" w="sm" type="none"/>
          </a:ln>
        </p:spPr>
      </p:cxnSp>
      <p:grpSp>
        <p:nvGrpSpPr>
          <p:cNvPr id="7902" name="Google Shape;7902;p180"/>
          <p:cNvGrpSpPr/>
          <p:nvPr/>
        </p:nvGrpSpPr>
        <p:grpSpPr>
          <a:xfrm>
            <a:off x="860107" y="5151058"/>
            <a:ext cx="4764459" cy="830997"/>
            <a:chOff x="703842" y="5262044"/>
            <a:chExt cx="4764459" cy="830997"/>
          </a:xfrm>
        </p:grpSpPr>
        <p:sp>
          <p:nvSpPr>
            <p:cNvPr id="7903" name="Google Shape;7903;p180"/>
            <p:cNvSpPr txBox="1"/>
            <p:nvPr/>
          </p:nvSpPr>
          <p:spPr>
            <a:xfrm>
              <a:off x="703842" y="5262044"/>
              <a:ext cx="2330267" cy="8309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C00000"/>
                </a:buClr>
                <a:buSzPts val="1600"/>
                <a:buFont typeface="Calibri"/>
                <a:buNone/>
              </a:pPr>
              <a:r>
                <a:rPr b="0" i="0" lang="en-US" sz="1600" u="none" cap="none" strike="noStrike">
                  <a:solidFill>
                    <a:srgbClr val="C00000"/>
                  </a:solidFill>
                  <a:latin typeface="Calibri"/>
                  <a:ea typeface="Calibri"/>
                  <a:cs typeface="Calibri"/>
                  <a:sym typeface="Calibri"/>
                </a:rPr>
                <a:t>packet queue almost never empty, sometimes overflows packet (loss)</a:t>
              </a:r>
              <a:endParaRPr b="0" i="0" sz="1800" u="none" cap="none" strike="noStrike">
                <a:solidFill>
                  <a:srgbClr val="C00000"/>
                </a:solidFill>
                <a:latin typeface="Calibri"/>
                <a:ea typeface="Calibri"/>
                <a:cs typeface="Calibri"/>
                <a:sym typeface="Calibri"/>
              </a:endParaRPr>
            </a:p>
          </p:txBody>
        </p:sp>
        <p:grpSp>
          <p:nvGrpSpPr>
            <p:cNvPr id="7904" name="Google Shape;7904;p180"/>
            <p:cNvGrpSpPr/>
            <p:nvPr/>
          </p:nvGrpSpPr>
          <p:grpSpPr>
            <a:xfrm>
              <a:off x="4921820" y="5505951"/>
              <a:ext cx="546481" cy="385934"/>
              <a:chOff x="4621648" y="3046041"/>
              <a:chExt cx="1120964" cy="768758"/>
            </a:xfrm>
          </p:grpSpPr>
          <p:grpSp>
            <p:nvGrpSpPr>
              <p:cNvPr id="7905" name="Google Shape;7905;p180"/>
              <p:cNvGrpSpPr/>
              <p:nvPr/>
            </p:nvGrpSpPr>
            <p:grpSpPr>
              <a:xfrm>
                <a:off x="5247312" y="3046041"/>
                <a:ext cx="495300" cy="760413"/>
                <a:chOff x="333961" y="4406169"/>
                <a:chExt cx="1255305" cy="2136353"/>
              </a:xfrm>
            </p:grpSpPr>
            <p:sp>
              <p:nvSpPr>
                <p:cNvPr id="7906" name="Google Shape;7906;p180"/>
                <p:cNvSpPr/>
                <p:nvPr/>
              </p:nvSpPr>
              <p:spPr>
                <a:xfrm>
                  <a:off x="333961" y="4406169"/>
                  <a:ext cx="969641" cy="2136353"/>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07" name="Google Shape;7907;p180"/>
                <p:cNvSpPr/>
                <p:nvPr/>
              </p:nvSpPr>
              <p:spPr>
                <a:xfrm>
                  <a:off x="350055" y="4410631"/>
                  <a:ext cx="1239211" cy="771583"/>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08" name="Google Shape;7908;p180"/>
                <p:cNvSpPr/>
                <p:nvPr/>
              </p:nvSpPr>
              <p:spPr>
                <a:xfrm>
                  <a:off x="1289719" y="5166823"/>
                  <a:ext cx="289686" cy="1351386"/>
                </a:xfrm>
                <a:prstGeom prst="rect">
                  <a:avLst/>
                </a:pr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nvGrpSpPr>
              <p:cNvPr id="7909" name="Google Shape;7909;p180"/>
              <p:cNvGrpSpPr/>
              <p:nvPr/>
            </p:nvGrpSpPr>
            <p:grpSpPr>
              <a:xfrm>
                <a:off x="5041006" y="3051076"/>
                <a:ext cx="495300" cy="760413"/>
                <a:chOff x="333961" y="4406169"/>
                <a:chExt cx="1255305" cy="2136353"/>
              </a:xfrm>
            </p:grpSpPr>
            <p:sp>
              <p:nvSpPr>
                <p:cNvPr id="7910" name="Google Shape;7910;p180"/>
                <p:cNvSpPr/>
                <p:nvPr/>
              </p:nvSpPr>
              <p:spPr>
                <a:xfrm>
                  <a:off x="333961" y="4406169"/>
                  <a:ext cx="969641" cy="2136353"/>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11" name="Google Shape;7911;p180"/>
                <p:cNvSpPr/>
                <p:nvPr/>
              </p:nvSpPr>
              <p:spPr>
                <a:xfrm>
                  <a:off x="350055" y="4410631"/>
                  <a:ext cx="1239211" cy="771583"/>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12" name="Google Shape;7912;p180"/>
                <p:cNvSpPr/>
                <p:nvPr/>
              </p:nvSpPr>
              <p:spPr>
                <a:xfrm>
                  <a:off x="1289719" y="5166823"/>
                  <a:ext cx="289686" cy="1351386"/>
                </a:xfrm>
                <a:prstGeom prst="rect">
                  <a:avLst/>
                </a:pr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nvGrpSpPr>
              <p:cNvPr id="7913" name="Google Shape;7913;p180"/>
              <p:cNvGrpSpPr/>
              <p:nvPr/>
            </p:nvGrpSpPr>
            <p:grpSpPr>
              <a:xfrm>
                <a:off x="4816091" y="3050224"/>
                <a:ext cx="493712" cy="760412"/>
                <a:chOff x="335231" y="4406992"/>
                <a:chExt cx="1251280" cy="2136350"/>
              </a:xfrm>
            </p:grpSpPr>
            <p:sp>
              <p:nvSpPr>
                <p:cNvPr id="7914" name="Google Shape;7914;p180"/>
                <p:cNvSpPr/>
                <p:nvPr/>
              </p:nvSpPr>
              <p:spPr>
                <a:xfrm>
                  <a:off x="335231" y="4406992"/>
                  <a:ext cx="965619" cy="2136350"/>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15" name="Google Shape;7915;p180"/>
                <p:cNvSpPr/>
                <p:nvPr/>
              </p:nvSpPr>
              <p:spPr>
                <a:xfrm>
                  <a:off x="351325" y="4411451"/>
                  <a:ext cx="1235186" cy="771586"/>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16" name="Google Shape;7916;p180"/>
                <p:cNvSpPr/>
                <p:nvPr/>
              </p:nvSpPr>
              <p:spPr>
                <a:xfrm>
                  <a:off x="1296825" y="5178575"/>
                  <a:ext cx="289686" cy="1351389"/>
                </a:xfrm>
                <a:prstGeom prst="rect">
                  <a:avLst/>
                </a:pr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nvGrpSpPr>
              <p:cNvPr id="7917" name="Google Shape;7917;p180"/>
              <p:cNvGrpSpPr/>
              <p:nvPr/>
            </p:nvGrpSpPr>
            <p:grpSpPr>
              <a:xfrm>
                <a:off x="4621648" y="3054387"/>
                <a:ext cx="493712" cy="760412"/>
                <a:chOff x="335231" y="4406992"/>
                <a:chExt cx="1251280" cy="2136350"/>
              </a:xfrm>
            </p:grpSpPr>
            <p:sp>
              <p:nvSpPr>
                <p:cNvPr id="7918" name="Google Shape;7918;p180"/>
                <p:cNvSpPr/>
                <p:nvPr/>
              </p:nvSpPr>
              <p:spPr>
                <a:xfrm>
                  <a:off x="335231" y="4406992"/>
                  <a:ext cx="965619" cy="2136350"/>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19" name="Google Shape;7919;p180"/>
                <p:cNvSpPr/>
                <p:nvPr/>
              </p:nvSpPr>
              <p:spPr>
                <a:xfrm>
                  <a:off x="351325" y="4411451"/>
                  <a:ext cx="1235186" cy="771586"/>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20" name="Google Shape;7920;p180"/>
                <p:cNvSpPr/>
                <p:nvPr/>
              </p:nvSpPr>
              <p:spPr>
                <a:xfrm>
                  <a:off x="1296825" y="5178575"/>
                  <a:ext cx="289686" cy="1351389"/>
                </a:xfrm>
                <a:prstGeom prst="rect">
                  <a:avLst/>
                </a:pr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cxnSp>
          <p:nvCxnSpPr>
            <p:cNvPr id="7921" name="Google Shape;7921;p180"/>
            <p:cNvCxnSpPr/>
            <p:nvPr/>
          </p:nvCxnSpPr>
          <p:spPr>
            <a:xfrm rot="10800000">
              <a:off x="2972773" y="5696183"/>
              <a:ext cx="1931633" cy="0"/>
            </a:xfrm>
            <a:prstGeom prst="straightConnector1">
              <a:avLst/>
            </a:prstGeom>
            <a:noFill/>
            <a:ln cap="flat" cmpd="sng" w="9525">
              <a:solidFill>
                <a:schemeClr val="dk1"/>
              </a:solidFill>
              <a:prstDash val="solid"/>
              <a:miter lim="800000"/>
              <a:headEnd len="sm" w="sm" type="none"/>
              <a:tailEnd len="sm" w="sm" type="none"/>
            </a:ln>
          </p:spPr>
        </p:cxnSp>
      </p:grpSp>
      <p:grpSp>
        <p:nvGrpSpPr>
          <p:cNvPr id="7922" name="Google Shape;7922;p180"/>
          <p:cNvGrpSpPr/>
          <p:nvPr/>
        </p:nvGrpSpPr>
        <p:grpSpPr>
          <a:xfrm>
            <a:off x="5397500" y="4063641"/>
            <a:ext cx="609600" cy="628987"/>
            <a:chOff x="5486400" y="4101741"/>
            <a:chExt cx="609600" cy="628987"/>
          </a:xfrm>
        </p:grpSpPr>
        <p:sp>
          <p:nvSpPr>
            <p:cNvPr id="7923" name="Google Shape;7923;p180"/>
            <p:cNvSpPr/>
            <p:nvPr/>
          </p:nvSpPr>
          <p:spPr>
            <a:xfrm flipH="1">
              <a:off x="5658360" y="4102100"/>
              <a:ext cx="176916" cy="454025"/>
            </a:xfrm>
            <a:custGeom>
              <a:rect b="b" l="l" r="r" t="t"/>
              <a:pathLst>
                <a:path extrusionOk="0" h="7743" w="12711">
                  <a:moveTo>
                    <a:pt x="12224" y="4661"/>
                  </a:moveTo>
                  <a:lnTo>
                    <a:pt x="498" y="0"/>
                  </a:lnTo>
                  <a:lnTo>
                    <a:pt x="0" y="7743"/>
                  </a:lnTo>
                  <a:lnTo>
                    <a:pt x="12711" y="6473"/>
                  </a:lnTo>
                  <a:lnTo>
                    <a:pt x="12224" y="4661"/>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Calibri"/>
                <a:buNone/>
              </a:pPr>
              <a:r>
                <a:t/>
              </a:r>
              <a:endParaRPr b="0" i="0" sz="400" u="none" cap="none" strike="noStrike">
                <a:solidFill>
                  <a:srgbClr val="000000"/>
                </a:solidFill>
                <a:latin typeface="Tahoma"/>
                <a:ea typeface="Tahoma"/>
                <a:cs typeface="Tahoma"/>
                <a:sym typeface="Tahoma"/>
              </a:endParaRPr>
            </a:p>
          </p:txBody>
        </p:sp>
        <p:grpSp>
          <p:nvGrpSpPr>
            <p:cNvPr id="7924" name="Google Shape;7924;p180"/>
            <p:cNvGrpSpPr/>
            <p:nvPr/>
          </p:nvGrpSpPr>
          <p:grpSpPr>
            <a:xfrm flipH="1">
              <a:off x="5486400" y="4355542"/>
              <a:ext cx="350533" cy="375186"/>
              <a:chOff x="-44" y="1473"/>
              <a:chExt cx="981" cy="1105"/>
            </a:xfrm>
          </p:grpSpPr>
          <p:pic>
            <p:nvPicPr>
              <p:cNvPr descr="desktop_computer_stylized_medium" id="7925" name="Google Shape;7925;p18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926" name="Google Shape;7926;p18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Calibri"/>
                  <a:buNone/>
                </a:pPr>
                <a:r>
                  <a:t/>
                </a:r>
                <a:endParaRPr b="0" i="0" sz="400" u="none" cap="none" strike="noStrike">
                  <a:solidFill>
                    <a:srgbClr val="000000"/>
                  </a:solidFill>
                  <a:latin typeface="Tahoma"/>
                  <a:ea typeface="Tahoma"/>
                  <a:cs typeface="Tahoma"/>
                  <a:sym typeface="Tahoma"/>
                </a:endParaRPr>
              </a:p>
            </p:txBody>
          </p:sp>
        </p:grpSp>
        <p:grpSp>
          <p:nvGrpSpPr>
            <p:cNvPr id="7927" name="Google Shape;7927;p180"/>
            <p:cNvGrpSpPr/>
            <p:nvPr/>
          </p:nvGrpSpPr>
          <p:grpSpPr>
            <a:xfrm>
              <a:off x="5831973" y="4101741"/>
              <a:ext cx="264027" cy="451210"/>
              <a:chOff x="5831973" y="4101740"/>
              <a:chExt cx="295777" cy="502587"/>
            </a:xfrm>
          </p:grpSpPr>
          <p:sp>
            <p:nvSpPr>
              <p:cNvPr id="7928" name="Google Shape;7928;p180"/>
              <p:cNvSpPr/>
              <p:nvPr/>
            </p:nvSpPr>
            <p:spPr>
              <a:xfrm>
                <a:off x="5831973" y="4101740"/>
                <a:ext cx="295777" cy="502587"/>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Tahoma"/>
                  <a:buNone/>
                </a:pPr>
                <a:r>
                  <a:t/>
                </a:r>
                <a:endParaRPr b="0" i="0" sz="400" u="none" cap="none" strike="noStrike">
                  <a:solidFill>
                    <a:srgbClr val="000000"/>
                  </a:solidFill>
                  <a:latin typeface="Tahoma"/>
                  <a:ea typeface="Tahoma"/>
                  <a:cs typeface="Tahoma"/>
                  <a:sym typeface="Tahoma"/>
                </a:endParaRPr>
              </a:p>
            </p:txBody>
          </p:sp>
          <p:grpSp>
            <p:nvGrpSpPr>
              <p:cNvPr id="7929" name="Google Shape;7929;p180"/>
              <p:cNvGrpSpPr/>
              <p:nvPr/>
            </p:nvGrpSpPr>
            <p:grpSpPr>
              <a:xfrm>
                <a:off x="5832475" y="4197350"/>
                <a:ext cx="295275" cy="307975"/>
                <a:chOff x="5832475" y="4197350"/>
                <a:chExt cx="295275" cy="307975"/>
              </a:xfrm>
            </p:grpSpPr>
            <p:cxnSp>
              <p:nvCxnSpPr>
                <p:cNvPr id="7930" name="Google Shape;7930;p180"/>
                <p:cNvCxnSpPr/>
                <p:nvPr/>
              </p:nvCxnSpPr>
              <p:spPr>
                <a:xfrm>
                  <a:off x="5835650" y="430530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7931" name="Google Shape;7931;p180"/>
                <p:cNvCxnSpPr/>
                <p:nvPr/>
              </p:nvCxnSpPr>
              <p:spPr>
                <a:xfrm>
                  <a:off x="5835650" y="419735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7932" name="Google Shape;7932;p180"/>
                <p:cNvCxnSpPr/>
                <p:nvPr/>
              </p:nvCxnSpPr>
              <p:spPr>
                <a:xfrm>
                  <a:off x="5832475" y="441325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7933" name="Google Shape;7933;p180"/>
                <p:cNvCxnSpPr/>
                <p:nvPr/>
              </p:nvCxnSpPr>
              <p:spPr>
                <a:xfrm>
                  <a:off x="5832475" y="4505325"/>
                  <a:ext cx="292100" cy="0"/>
                </a:xfrm>
                <a:prstGeom prst="straightConnector1">
                  <a:avLst/>
                </a:prstGeom>
                <a:noFill/>
                <a:ln cap="flat" cmpd="sng" w="9525">
                  <a:solidFill>
                    <a:schemeClr val="dk1"/>
                  </a:solidFill>
                  <a:prstDash val="solid"/>
                  <a:miter lim="800000"/>
                  <a:headEnd len="sm" w="sm" type="none"/>
                  <a:tailEnd len="sm" w="sm" type="none"/>
                </a:ln>
              </p:spPr>
            </p:cxnSp>
          </p:grpSp>
        </p:grpSp>
      </p:grpSp>
      <p:grpSp>
        <p:nvGrpSpPr>
          <p:cNvPr id="7934" name="Google Shape;7934;p180"/>
          <p:cNvGrpSpPr/>
          <p:nvPr/>
        </p:nvGrpSpPr>
        <p:grpSpPr>
          <a:xfrm>
            <a:off x="3630569" y="5751891"/>
            <a:ext cx="719335" cy="546078"/>
            <a:chOff x="6454273" y="3133725"/>
            <a:chExt cx="719335" cy="546078"/>
          </a:xfrm>
        </p:grpSpPr>
        <p:sp>
          <p:nvSpPr>
            <p:cNvPr id="7935" name="Google Shape;7935;p180"/>
            <p:cNvSpPr/>
            <p:nvPr/>
          </p:nvSpPr>
          <p:spPr>
            <a:xfrm>
              <a:off x="6709285" y="3133725"/>
              <a:ext cx="176916" cy="454025"/>
            </a:xfrm>
            <a:custGeom>
              <a:rect b="b" l="l" r="r" t="t"/>
              <a:pathLst>
                <a:path extrusionOk="0" h="7743" w="12711">
                  <a:moveTo>
                    <a:pt x="12224" y="4661"/>
                  </a:moveTo>
                  <a:lnTo>
                    <a:pt x="498" y="0"/>
                  </a:lnTo>
                  <a:lnTo>
                    <a:pt x="0" y="7743"/>
                  </a:lnTo>
                  <a:lnTo>
                    <a:pt x="12711" y="6473"/>
                  </a:lnTo>
                  <a:lnTo>
                    <a:pt x="12224" y="4661"/>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Calibri"/>
                <a:buNone/>
              </a:pPr>
              <a:r>
                <a:t/>
              </a:r>
              <a:endParaRPr b="0" i="0" sz="400" u="none" cap="none" strike="noStrike">
                <a:solidFill>
                  <a:srgbClr val="000000"/>
                </a:solidFill>
                <a:latin typeface="Tahoma"/>
                <a:ea typeface="Tahoma"/>
                <a:cs typeface="Tahoma"/>
                <a:sym typeface="Tahoma"/>
              </a:endParaRPr>
            </a:p>
          </p:txBody>
        </p:sp>
        <p:grpSp>
          <p:nvGrpSpPr>
            <p:cNvPr id="7936" name="Google Shape;7936;p180"/>
            <p:cNvGrpSpPr/>
            <p:nvPr/>
          </p:nvGrpSpPr>
          <p:grpSpPr>
            <a:xfrm flipH="1">
              <a:off x="6823075" y="3304617"/>
              <a:ext cx="350533" cy="375186"/>
              <a:chOff x="-44" y="1473"/>
              <a:chExt cx="981" cy="1105"/>
            </a:xfrm>
          </p:grpSpPr>
          <p:pic>
            <p:nvPicPr>
              <p:cNvPr descr="desktop_computer_stylized_medium" id="7937" name="Google Shape;7937;p18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938" name="Google Shape;7938;p18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Calibri"/>
                  <a:buNone/>
                </a:pPr>
                <a:r>
                  <a:t/>
                </a:r>
                <a:endParaRPr b="0" i="0" sz="400" u="none" cap="none" strike="noStrike">
                  <a:solidFill>
                    <a:srgbClr val="000000"/>
                  </a:solidFill>
                  <a:latin typeface="Tahoma"/>
                  <a:ea typeface="Tahoma"/>
                  <a:cs typeface="Tahoma"/>
                  <a:sym typeface="Tahoma"/>
                </a:endParaRPr>
              </a:p>
            </p:txBody>
          </p:sp>
        </p:grpSp>
        <p:grpSp>
          <p:nvGrpSpPr>
            <p:cNvPr id="7939" name="Google Shape;7939;p180"/>
            <p:cNvGrpSpPr/>
            <p:nvPr/>
          </p:nvGrpSpPr>
          <p:grpSpPr>
            <a:xfrm>
              <a:off x="6454273" y="3142891"/>
              <a:ext cx="264027" cy="451210"/>
              <a:chOff x="5831973" y="4101740"/>
              <a:chExt cx="295777" cy="502587"/>
            </a:xfrm>
          </p:grpSpPr>
          <p:sp>
            <p:nvSpPr>
              <p:cNvPr id="7940" name="Google Shape;7940;p180"/>
              <p:cNvSpPr/>
              <p:nvPr/>
            </p:nvSpPr>
            <p:spPr>
              <a:xfrm>
                <a:off x="5831973" y="4101740"/>
                <a:ext cx="295777" cy="502587"/>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
                  <a:buFont typeface="Tahoma"/>
                  <a:buNone/>
                </a:pPr>
                <a:r>
                  <a:t/>
                </a:r>
                <a:endParaRPr b="0" i="0" sz="400" u="none" cap="none" strike="noStrike">
                  <a:solidFill>
                    <a:srgbClr val="000000"/>
                  </a:solidFill>
                  <a:latin typeface="Tahoma"/>
                  <a:ea typeface="Tahoma"/>
                  <a:cs typeface="Tahoma"/>
                  <a:sym typeface="Tahoma"/>
                </a:endParaRPr>
              </a:p>
            </p:txBody>
          </p:sp>
          <p:grpSp>
            <p:nvGrpSpPr>
              <p:cNvPr id="7941" name="Google Shape;7941;p180"/>
              <p:cNvGrpSpPr/>
              <p:nvPr/>
            </p:nvGrpSpPr>
            <p:grpSpPr>
              <a:xfrm>
                <a:off x="5832475" y="4197350"/>
                <a:ext cx="295275" cy="307975"/>
                <a:chOff x="5832475" y="4197350"/>
                <a:chExt cx="295275" cy="307975"/>
              </a:xfrm>
            </p:grpSpPr>
            <p:cxnSp>
              <p:nvCxnSpPr>
                <p:cNvPr id="7942" name="Google Shape;7942;p180"/>
                <p:cNvCxnSpPr/>
                <p:nvPr/>
              </p:nvCxnSpPr>
              <p:spPr>
                <a:xfrm>
                  <a:off x="5835650" y="430530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7943" name="Google Shape;7943;p180"/>
                <p:cNvCxnSpPr/>
                <p:nvPr/>
              </p:nvCxnSpPr>
              <p:spPr>
                <a:xfrm>
                  <a:off x="5835650" y="419735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7944" name="Google Shape;7944;p180"/>
                <p:cNvCxnSpPr/>
                <p:nvPr/>
              </p:nvCxnSpPr>
              <p:spPr>
                <a:xfrm>
                  <a:off x="5832475" y="4413250"/>
                  <a:ext cx="292100" cy="0"/>
                </a:xfrm>
                <a:prstGeom prst="straightConnector1">
                  <a:avLst/>
                </a:prstGeom>
                <a:noFill/>
                <a:ln cap="flat" cmpd="sng" w="9525">
                  <a:solidFill>
                    <a:schemeClr val="dk1"/>
                  </a:solidFill>
                  <a:prstDash val="solid"/>
                  <a:miter lim="800000"/>
                  <a:headEnd len="sm" w="sm" type="none"/>
                  <a:tailEnd len="sm" w="sm" type="none"/>
                </a:ln>
              </p:spPr>
            </p:cxnSp>
            <p:cxnSp>
              <p:nvCxnSpPr>
                <p:cNvPr id="7945" name="Google Shape;7945;p180"/>
                <p:cNvCxnSpPr/>
                <p:nvPr/>
              </p:nvCxnSpPr>
              <p:spPr>
                <a:xfrm>
                  <a:off x="5832475" y="4505325"/>
                  <a:ext cx="292100" cy="0"/>
                </a:xfrm>
                <a:prstGeom prst="straightConnector1">
                  <a:avLst/>
                </a:prstGeom>
                <a:noFill/>
                <a:ln cap="flat" cmpd="sng" w="9525">
                  <a:solidFill>
                    <a:schemeClr val="dk1"/>
                  </a:solidFill>
                  <a:prstDash val="solid"/>
                  <a:miter lim="800000"/>
                  <a:headEnd len="sm" w="sm" type="none"/>
                  <a:tailEnd len="sm" w="sm" type="none"/>
                </a:ln>
              </p:spPr>
            </p:cxnSp>
          </p:grpSp>
        </p:grpSp>
      </p:grpSp>
      <p:sp>
        <p:nvSpPr>
          <p:cNvPr id="7946" name="Google Shape;7946;p180"/>
          <p:cNvSpPr/>
          <p:nvPr/>
        </p:nvSpPr>
        <p:spPr>
          <a:xfrm>
            <a:off x="4223838" y="4617911"/>
            <a:ext cx="1958882" cy="1476814"/>
          </a:xfrm>
          <a:custGeom>
            <a:rect b="b" l="l" r="r" t="t"/>
            <a:pathLst>
              <a:path extrusionOk="0" h="1476814" w="1958882">
                <a:moveTo>
                  <a:pt x="0" y="1476814"/>
                </a:moveTo>
                <a:cubicBezTo>
                  <a:pt x="192094" y="1377658"/>
                  <a:pt x="706525" y="1132479"/>
                  <a:pt x="887619" y="1048308"/>
                </a:cubicBezTo>
                <a:lnTo>
                  <a:pt x="1235779" y="1055960"/>
                </a:lnTo>
                <a:lnTo>
                  <a:pt x="1947405" y="780492"/>
                </a:lnTo>
                <a:lnTo>
                  <a:pt x="1958882" y="623629"/>
                </a:lnTo>
                <a:lnTo>
                  <a:pt x="1285517" y="218079"/>
                </a:lnTo>
                <a:lnTo>
                  <a:pt x="1327602" y="0"/>
                </a:lnTo>
              </a:path>
            </a:pathLst>
          </a:custGeom>
          <a:noFill/>
          <a:ln cap="flat" cmpd="sng" w="19050">
            <a:solidFill>
              <a:srgbClr val="75707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47" name="Google Shape;7947;p180"/>
          <p:cNvSpPr/>
          <p:nvPr/>
        </p:nvSpPr>
        <p:spPr>
          <a:xfrm>
            <a:off x="5543550" y="5391150"/>
            <a:ext cx="133350" cy="371475"/>
          </a:xfrm>
          <a:prstGeom prst="ellipse">
            <a:avLst/>
          </a:prstGeom>
          <a:noFill/>
          <a:ln cap="flat" cmpd="sng" w="222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48" name="Google Shape;7948;p18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02"/>
                                        </p:tgtEl>
                                        <p:attrNameLst>
                                          <p:attrName>style.visibility</p:attrName>
                                        </p:attrNameLst>
                                      </p:cBhvr>
                                      <p:to>
                                        <p:strVal val="visible"/>
                                      </p:to>
                                    </p:set>
                                    <p:animEffect filter="fade" transition="in">
                                      <p:cBhvr>
                                        <p:cTn dur="500"/>
                                        <p:tgtEl>
                                          <p:spTgt spid="79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3" name="Shape 7953"/>
        <p:cNvGrpSpPr/>
        <p:nvPr/>
      </p:nvGrpSpPr>
      <p:grpSpPr>
        <a:xfrm>
          <a:off x="0" y="0"/>
          <a:ext cx="0" cy="0"/>
          <a:chOff x="0" y="0"/>
          <a:chExt cx="0" cy="0"/>
        </a:xfrm>
      </p:grpSpPr>
      <p:grpSp>
        <p:nvGrpSpPr>
          <p:cNvPr id="7954" name="Google Shape;7954;p181"/>
          <p:cNvGrpSpPr/>
          <p:nvPr/>
        </p:nvGrpSpPr>
        <p:grpSpPr>
          <a:xfrm>
            <a:off x="4094463" y="4691367"/>
            <a:ext cx="2885057" cy="1481137"/>
            <a:chOff x="4094463" y="4691367"/>
            <a:chExt cx="2885057" cy="1481137"/>
          </a:xfrm>
        </p:grpSpPr>
        <p:sp>
          <p:nvSpPr>
            <p:cNvPr id="7955" name="Google Shape;7955;p181"/>
            <p:cNvSpPr/>
            <p:nvPr/>
          </p:nvSpPr>
          <p:spPr>
            <a:xfrm>
              <a:off x="4129957" y="4691367"/>
              <a:ext cx="2849563" cy="1481137"/>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956" name="Google Shape;7956;p181"/>
            <p:cNvGrpSpPr/>
            <p:nvPr/>
          </p:nvGrpSpPr>
          <p:grpSpPr>
            <a:xfrm>
              <a:off x="5035264" y="5554092"/>
              <a:ext cx="496248" cy="260542"/>
              <a:chOff x="7141236" y="6068702"/>
              <a:chExt cx="496248" cy="260542"/>
            </a:xfrm>
          </p:grpSpPr>
          <p:sp>
            <p:nvSpPr>
              <p:cNvPr id="7957" name="Google Shape;7957;p181"/>
              <p:cNvSpPr/>
              <p:nvPr/>
            </p:nvSpPr>
            <p:spPr>
              <a:xfrm>
                <a:off x="7141236" y="6158887"/>
                <a:ext cx="496248" cy="17035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E40000"/>
                  </a:gs>
                  <a:gs pos="21000">
                    <a:schemeClr val="lt1"/>
                  </a:gs>
                  <a:gs pos="51000">
                    <a:srgbClr val="ED356A"/>
                  </a:gs>
                  <a:gs pos="100000">
                    <a:srgbClr val="E4000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958" name="Google Shape;7958;p181"/>
              <p:cNvSpPr/>
              <p:nvPr/>
            </p:nvSpPr>
            <p:spPr>
              <a:xfrm>
                <a:off x="7141522" y="6068702"/>
                <a:ext cx="495647" cy="168664"/>
              </a:xfrm>
              <a:prstGeom prst="ellipse">
                <a:avLst/>
              </a:prstGeom>
              <a:solidFill>
                <a:srgbClr val="FA376E"/>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959" name="Google Shape;7959;p181"/>
              <p:cNvGrpSpPr/>
              <p:nvPr/>
            </p:nvGrpSpPr>
            <p:grpSpPr>
              <a:xfrm>
                <a:off x="7214834" y="6090139"/>
                <a:ext cx="348960" cy="123931"/>
                <a:chOff x="7786941" y="2884917"/>
                <a:chExt cx="897649" cy="353919"/>
              </a:xfrm>
            </p:grpSpPr>
            <p:sp>
              <p:nvSpPr>
                <p:cNvPr id="7960" name="Google Shape;7960;p18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61" name="Google Shape;7961;p18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62" name="Google Shape;7962;p18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63" name="Google Shape;7963;p18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64" name="Google Shape;7964;p181"/>
            <p:cNvGrpSpPr/>
            <p:nvPr/>
          </p:nvGrpSpPr>
          <p:grpSpPr>
            <a:xfrm>
              <a:off x="6131364" y="5156690"/>
              <a:ext cx="496248" cy="260542"/>
              <a:chOff x="7493876" y="2774731"/>
              <a:chExt cx="1481958" cy="894622"/>
            </a:xfrm>
          </p:grpSpPr>
          <p:sp>
            <p:nvSpPr>
              <p:cNvPr id="7965" name="Google Shape;7965;p18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966" name="Google Shape;7966;p18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967" name="Google Shape;7967;p181"/>
              <p:cNvGrpSpPr/>
              <p:nvPr/>
            </p:nvGrpSpPr>
            <p:grpSpPr>
              <a:xfrm>
                <a:off x="7713663" y="2848339"/>
                <a:ext cx="1042107" cy="425543"/>
                <a:chOff x="7786941" y="2884917"/>
                <a:chExt cx="897649" cy="353919"/>
              </a:xfrm>
            </p:grpSpPr>
            <p:sp>
              <p:nvSpPr>
                <p:cNvPr id="7968" name="Google Shape;7968;p18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69" name="Google Shape;7969;p18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70" name="Google Shape;7970;p18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71" name="Google Shape;7971;p18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72" name="Google Shape;7972;p181"/>
            <p:cNvGrpSpPr/>
            <p:nvPr/>
          </p:nvGrpSpPr>
          <p:grpSpPr>
            <a:xfrm>
              <a:off x="5122533" y="4861037"/>
              <a:ext cx="496248" cy="260542"/>
              <a:chOff x="7493876" y="2774731"/>
              <a:chExt cx="1481958" cy="894622"/>
            </a:xfrm>
          </p:grpSpPr>
          <p:sp>
            <p:nvSpPr>
              <p:cNvPr id="7973" name="Google Shape;7973;p18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974" name="Google Shape;7974;p18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975" name="Google Shape;7975;p181"/>
              <p:cNvGrpSpPr/>
              <p:nvPr/>
            </p:nvGrpSpPr>
            <p:grpSpPr>
              <a:xfrm>
                <a:off x="7713663" y="2848339"/>
                <a:ext cx="1042107" cy="425543"/>
                <a:chOff x="7786941" y="2884917"/>
                <a:chExt cx="897649" cy="353919"/>
              </a:xfrm>
            </p:grpSpPr>
            <p:sp>
              <p:nvSpPr>
                <p:cNvPr id="7976" name="Google Shape;7976;p18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77" name="Google Shape;7977;p18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78" name="Google Shape;7978;p18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79" name="Google Shape;7979;p18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80" name="Google Shape;7980;p181"/>
            <p:cNvGrpSpPr/>
            <p:nvPr/>
          </p:nvGrpSpPr>
          <p:grpSpPr>
            <a:xfrm>
              <a:off x="4450588" y="5823254"/>
              <a:ext cx="496248" cy="260542"/>
              <a:chOff x="7493876" y="2774731"/>
              <a:chExt cx="1481958" cy="894622"/>
            </a:xfrm>
          </p:grpSpPr>
          <p:sp>
            <p:nvSpPr>
              <p:cNvPr id="7981" name="Google Shape;7981;p18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982" name="Google Shape;7982;p18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983" name="Google Shape;7983;p181"/>
              <p:cNvGrpSpPr/>
              <p:nvPr/>
            </p:nvGrpSpPr>
            <p:grpSpPr>
              <a:xfrm>
                <a:off x="7713663" y="2848339"/>
                <a:ext cx="1042107" cy="425543"/>
                <a:chOff x="7786941" y="2884917"/>
                <a:chExt cx="897649" cy="353919"/>
              </a:xfrm>
            </p:grpSpPr>
            <p:sp>
              <p:nvSpPr>
                <p:cNvPr id="7984" name="Google Shape;7984;p18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85" name="Google Shape;7985;p18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86" name="Google Shape;7986;p18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87" name="Google Shape;7987;p18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988" name="Google Shape;7988;p181"/>
            <p:cNvGrpSpPr/>
            <p:nvPr/>
          </p:nvGrpSpPr>
          <p:grpSpPr>
            <a:xfrm>
              <a:off x="4094463" y="5164346"/>
              <a:ext cx="496248" cy="260542"/>
              <a:chOff x="7493876" y="2774731"/>
              <a:chExt cx="1481958" cy="894622"/>
            </a:xfrm>
          </p:grpSpPr>
          <p:sp>
            <p:nvSpPr>
              <p:cNvPr id="7989" name="Google Shape;7989;p18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990" name="Google Shape;7990;p18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991" name="Google Shape;7991;p181"/>
              <p:cNvGrpSpPr/>
              <p:nvPr/>
            </p:nvGrpSpPr>
            <p:grpSpPr>
              <a:xfrm>
                <a:off x="7713663" y="2848339"/>
                <a:ext cx="1042107" cy="425543"/>
                <a:chOff x="7786941" y="2884917"/>
                <a:chExt cx="897649" cy="353919"/>
              </a:xfrm>
            </p:grpSpPr>
            <p:sp>
              <p:nvSpPr>
                <p:cNvPr id="7992" name="Google Shape;7992;p18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93" name="Google Shape;7993;p18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94" name="Google Shape;7994;p18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95" name="Google Shape;7995;p18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7996" name="Google Shape;7996;p181"/>
            <p:cNvSpPr/>
            <p:nvPr/>
          </p:nvSpPr>
          <p:spPr>
            <a:xfrm>
              <a:off x="4581324" y="4994579"/>
              <a:ext cx="542925" cy="295275"/>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97" name="Google Shape;7997;p181"/>
            <p:cNvSpPr/>
            <p:nvPr/>
          </p:nvSpPr>
          <p:spPr>
            <a:xfrm>
              <a:off x="5622724" y="4988229"/>
              <a:ext cx="506413" cy="307975"/>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98" name="Google Shape;7998;p181"/>
            <p:cNvSpPr/>
            <p:nvPr/>
          </p:nvSpPr>
          <p:spPr>
            <a:xfrm>
              <a:off x="4557512" y="5380342"/>
              <a:ext cx="481012" cy="238125"/>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99" name="Google Shape;7999;p181"/>
            <p:cNvSpPr/>
            <p:nvPr/>
          </p:nvSpPr>
          <p:spPr>
            <a:xfrm>
              <a:off x="5505249" y="5356529"/>
              <a:ext cx="630238" cy="247650"/>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00" name="Google Shape;8000;p181"/>
            <p:cNvSpPr/>
            <p:nvPr/>
          </p:nvSpPr>
          <p:spPr>
            <a:xfrm>
              <a:off x="6173587" y="5410504"/>
              <a:ext cx="206375" cy="508000"/>
            </a:xfrm>
            <a:custGeom>
              <a:rect b="b" l="l" r="r" t="t"/>
              <a:pathLst>
                <a:path extrusionOk="0" h="500" w="118">
                  <a:moveTo>
                    <a:pt x="0" y="500"/>
                  </a:moveTo>
                  <a:lnTo>
                    <a:pt x="11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01" name="Google Shape;8001;p181"/>
            <p:cNvSpPr/>
            <p:nvPr/>
          </p:nvSpPr>
          <p:spPr>
            <a:xfrm>
              <a:off x="4936923" y="5943904"/>
              <a:ext cx="970395" cy="81756"/>
            </a:xfrm>
            <a:custGeom>
              <a:rect b="b" l="l" r="r" t="t"/>
              <a:pathLst>
                <a:path extrusionOk="0" h="32" w="370">
                  <a:moveTo>
                    <a:pt x="370" y="32"/>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02" name="Google Shape;8002;p181"/>
            <p:cNvSpPr/>
            <p:nvPr/>
          </p:nvSpPr>
          <p:spPr>
            <a:xfrm>
              <a:off x="4400349" y="5424888"/>
              <a:ext cx="193675" cy="404716"/>
            </a:xfrm>
            <a:custGeom>
              <a:rect b="b" l="l" r="r" t="t"/>
              <a:pathLst>
                <a:path extrusionOk="0" h="412" w="176">
                  <a:moveTo>
                    <a:pt x="162" y="408"/>
                  </a:moveTo>
                  <a:lnTo>
                    <a:pt x="176" y="412"/>
                  </a:ln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003" name="Google Shape;8003;p181"/>
            <p:cNvGrpSpPr/>
            <p:nvPr/>
          </p:nvGrpSpPr>
          <p:grpSpPr>
            <a:xfrm>
              <a:off x="5868328" y="5862061"/>
              <a:ext cx="496248" cy="260542"/>
              <a:chOff x="7493876" y="2774731"/>
              <a:chExt cx="1481958" cy="894622"/>
            </a:xfrm>
          </p:grpSpPr>
          <p:sp>
            <p:nvSpPr>
              <p:cNvPr id="8004" name="Google Shape;8004;p18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005" name="Google Shape;8005;p18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006" name="Google Shape;8006;p181"/>
              <p:cNvGrpSpPr/>
              <p:nvPr/>
            </p:nvGrpSpPr>
            <p:grpSpPr>
              <a:xfrm>
                <a:off x="7713663" y="2848339"/>
                <a:ext cx="1042107" cy="425543"/>
                <a:chOff x="7786941" y="2884917"/>
                <a:chExt cx="897649" cy="353919"/>
              </a:xfrm>
            </p:grpSpPr>
            <p:sp>
              <p:nvSpPr>
                <p:cNvPr id="8007" name="Google Shape;8007;p18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08" name="Google Shape;8008;p18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09" name="Google Shape;8009;p18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10" name="Google Shape;8010;p18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8011" name="Google Shape;8011;p181"/>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and the congested “bottleneck link”</a:t>
            </a:r>
            <a:endParaRPr b="0" sz="4400"/>
          </a:p>
        </p:txBody>
      </p:sp>
      <p:sp>
        <p:nvSpPr>
          <p:cNvPr id="8012" name="Google Shape;8012;p181"/>
          <p:cNvSpPr txBox="1"/>
          <p:nvPr/>
        </p:nvSpPr>
        <p:spPr>
          <a:xfrm>
            <a:off x="667043" y="1366203"/>
            <a:ext cx="11177587" cy="915177"/>
          </a:xfrm>
          <a:prstGeom prst="rect">
            <a:avLst/>
          </a:prstGeom>
          <a:noFill/>
          <a:ln>
            <a:noFill/>
          </a:ln>
        </p:spPr>
        <p:txBody>
          <a:bodyPr anchorCtr="0" anchor="t" bIns="45700" lIns="91425" spcFirstLastPara="1" rIns="91425" wrap="square" tIns="45700">
            <a:normAutofit/>
          </a:bodyPr>
          <a:lstStyle/>
          <a:p>
            <a:pPr indent="-215900" lvl="0" marL="45720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TCP (classic, CUBIC) increase TCP’s sending rate until packet loss occurs at some router’s output: the </a:t>
            </a:r>
            <a:r>
              <a:rPr b="0" i="1" lang="en-US" sz="2800" u="none" cap="none" strike="noStrike">
                <a:solidFill>
                  <a:srgbClr val="C00000"/>
                </a:solidFill>
                <a:latin typeface="Calibri"/>
                <a:ea typeface="Calibri"/>
                <a:cs typeface="Calibri"/>
                <a:sym typeface="Calibri"/>
              </a:rPr>
              <a:t>bottleneck link</a:t>
            </a:r>
            <a:endParaRPr/>
          </a:p>
        </p:txBody>
      </p:sp>
      <p:sp>
        <p:nvSpPr>
          <p:cNvPr id="8013" name="Google Shape;8013;p181"/>
          <p:cNvSpPr txBox="1"/>
          <p:nvPr/>
        </p:nvSpPr>
        <p:spPr>
          <a:xfrm>
            <a:off x="3019425" y="3594045"/>
            <a:ext cx="711200" cy="3079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source</a:t>
            </a:r>
            <a:endParaRPr b="0" i="1" sz="2000" u="none" cap="none" strike="noStrike">
              <a:solidFill>
                <a:srgbClr val="000099"/>
              </a:solidFill>
              <a:latin typeface="Arial"/>
              <a:ea typeface="Arial"/>
              <a:cs typeface="Arial"/>
              <a:sym typeface="Arial"/>
            </a:endParaRPr>
          </a:p>
        </p:txBody>
      </p:sp>
      <p:sp>
        <p:nvSpPr>
          <p:cNvPr id="8014" name="Google Shape;8014;p181"/>
          <p:cNvSpPr/>
          <p:nvPr/>
        </p:nvSpPr>
        <p:spPr>
          <a:xfrm flipH="1">
            <a:off x="2481263" y="3925832"/>
            <a:ext cx="326408" cy="1262816"/>
          </a:xfrm>
          <a:custGeom>
            <a:rect b="b" l="l" r="r" t="t"/>
            <a:pathLst>
              <a:path extrusionOk="0" h="10000" w="12213">
                <a:moveTo>
                  <a:pt x="11726" y="4661"/>
                </a:moveTo>
                <a:lnTo>
                  <a:pt x="0" y="0"/>
                </a:lnTo>
                <a:lnTo>
                  <a:pt x="0" y="10000"/>
                </a:lnTo>
                <a:lnTo>
                  <a:pt x="12213" y="6473"/>
                </a:lnTo>
                <a:lnTo>
                  <a:pt x="11726" y="4661"/>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15" name="Google Shape;8015;p181"/>
          <p:cNvSpPr/>
          <p:nvPr/>
        </p:nvSpPr>
        <p:spPr>
          <a:xfrm>
            <a:off x="2854326" y="3909956"/>
            <a:ext cx="1062368" cy="129063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016" name="Google Shape;8016;p181"/>
          <p:cNvSpPr/>
          <p:nvPr/>
        </p:nvSpPr>
        <p:spPr>
          <a:xfrm>
            <a:off x="2814638" y="3949645"/>
            <a:ext cx="1066800" cy="1231900"/>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017" name="Google Shape;8017;p181"/>
          <p:cNvCxnSpPr/>
          <p:nvPr/>
        </p:nvCxnSpPr>
        <p:spPr>
          <a:xfrm>
            <a:off x="2814638" y="4227457"/>
            <a:ext cx="1058862" cy="3175"/>
          </a:xfrm>
          <a:prstGeom prst="straightConnector1">
            <a:avLst/>
          </a:prstGeom>
          <a:noFill/>
          <a:ln cap="flat" cmpd="sng" w="19050">
            <a:solidFill>
              <a:srgbClr val="000000"/>
            </a:solidFill>
            <a:prstDash val="solid"/>
            <a:round/>
            <a:headEnd len="med" w="med" type="none"/>
            <a:tailEnd len="med" w="med" type="none"/>
          </a:ln>
        </p:spPr>
      </p:cxnSp>
      <p:sp>
        <p:nvSpPr>
          <p:cNvPr id="8018" name="Google Shape;8018;p181"/>
          <p:cNvSpPr txBox="1"/>
          <p:nvPr/>
        </p:nvSpPr>
        <p:spPr>
          <a:xfrm>
            <a:off x="2773604" y="3957054"/>
            <a:ext cx="1104900" cy="127476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8019" name="Google Shape;8019;p181"/>
          <p:cNvGrpSpPr/>
          <p:nvPr/>
        </p:nvGrpSpPr>
        <p:grpSpPr>
          <a:xfrm flipH="1">
            <a:off x="2151063" y="4424307"/>
            <a:ext cx="673100" cy="701675"/>
            <a:chOff x="-44" y="1473"/>
            <a:chExt cx="981" cy="1105"/>
          </a:xfrm>
        </p:grpSpPr>
        <p:pic>
          <p:nvPicPr>
            <p:cNvPr descr="desktop_computer_stylized_medium" id="8020" name="Google Shape;8020;p18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021" name="Google Shape;8021;p18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022" name="Google Shape;8022;p181"/>
          <p:cNvCxnSpPr/>
          <p:nvPr/>
        </p:nvCxnSpPr>
        <p:spPr>
          <a:xfrm>
            <a:off x="2819400" y="4456057"/>
            <a:ext cx="1058863" cy="3175"/>
          </a:xfrm>
          <a:prstGeom prst="straightConnector1">
            <a:avLst/>
          </a:prstGeom>
          <a:noFill/>
          <a:ln cap="flat" cmpd="sng" w="19050">
            <a:solidFill>
              <a:srgbClr val="000000"/>
            </a:solidFill>
            <a:prstDash val="solid"/>
            <a:round/>
            <a:headEnd len="med" w="med" type="none"/>
            <a:tailEnd len="med" w="med" type="none"/>
          </a:ln>
        </p:spPr>
      </p:cxnSp>
      <p:cxnSp>
        <p:nvCxnSpPr>
          <p:cNvPr id="8023" name="Google Shape;8023;p181"/>
          <p:cNvCxnSpPr/>
          <p:nvPr/>
        </p:nvCxnSpPr>
        <p:spPr>
          <a:xfrm>
            <a:off x="2824163" y="4684657"/>
            <a:ext cx="1058862" cy="3175"/>
          </a:xfrm>
          <a:prstGeom prst="straightConnector1">
            <a:avLst/>
          </a:prstGeom>
          <a:noFill/>
          <a:ln cap="flat" cmpd="sng" w="19050">
            <a:solidFill>
              <a:srgbClr val="000000"/>
            </a:solidFill>
            <a:prstDash val="solid"/>
            <a:round/>
            <a:headEnd len="med" w="med" type="none"/>
            <a:tailEnd len="med" w="med" type="none"/>
          </a:ln>
        </p:spPr>
      </p:cxnSp>
      <p:cxnSp>
        <p:nvCxnSpPr>
          <p:cNvPr id="8024" name="Google Shape;8024;p181"/>
          <p:cNvCxnSpPr/>
          <p:nvPr/>
        </p:nvCxnSpPr>
        <p:spPr>
          <a:xfrm>
            <a:off x="2827338" y="4924370"/>
            <a:ext cx="1060450" cy="3175"/>
          </a:xfrm>
          <a:prstGeom prst="straightConnector1">
            <a:avLst/>
          </a:prstGeom>
          <a:noFill/>
          <a:ln cap="flat" cmpd="sng" w="19050">
            <a:solidFill>
              <a:srgbClr val="000000"/>
            </a:solidFill>
            <a:prstDash val="solid"/>
            <a:round/>
            <a:headEnd len="med" w="med" type="none"/>
            <a:tailEnd len="med" w="med" type="none"/>
          </a:ln>
        </p:spPr>
      </p:cxnSp>
      <p:grpSp>
        <p:nvGrpSpPr>
          <p:cNvPr id="8025" name="Google Shape;8025;p181"/>
          <p:cNvGrpSpPr/>
          <p:nvPr/>
        </p:nvGrpSpPr>
        <p:grpSpPr>
          <a:xfrm>
            <a:off x="7794625" y="3673978"/>
            <a:ext cx="2047875" cy="1620287"/>
            <a:chOff x="4882752" y="4007261"/>
            <a:chExt cx="2046816" cy="1619544"/>
          </a:xfrm>
        </p:grpSpPr>
        <p:sp>
          <p:nvSpPr>
            <p:cNvPr id="8026" name="Google Shape;8026;p181"/>
            <p:cNvSpPr txBox="1"/>
            <p:nvPr/>
          </p:nvSpPr>
          <p:spPr>
            <a:xfrm>
              <a:off x="4882752" y="4007261"/>
              <a:ext cx="1226089"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destination</a:t>
              </a:r>
              <a:endParaRPr b="0" i="1" sz="2000" u="none" cap="none" strike="noStrike">
                <a:solidFill>
                  <a:srgbClr val="000099"/>
                </a:solidFill>
                <a:latin typeface="Arial"/>
                <a:ea typeface="Arial"/>
                <a:cs typeface="Arial"/>
                <a:sym typeface="Arial"/>
              </a:endParaRPr>
            </a:p>
          </p:txBody>
        </p:sp>
        <p:grpSp>
          <p:nvGrpSpPr>
            <p:cNvPr id="8027" name="Google Shape;8027;p181"/>
            <p:cNvGrpSpPr/>
            <p:nvPr/>
          </p:nvGrpSpPr>
          <p:grpSpPr>
            <a:xfrm>
              <a:off x="4927179" y="4319856"/>
              <a:ext cx="2002389" cy="1306949"/>
              <a:chOff x="1305623" y="4714561"/>
              <a:chExt cx="2002389" cy="1306949"/>
            </a:xfrm>
          </p:grpSpPr>
          <p:sp>
            <p:nvSpPr>
              <p:cNvPr id="8028" name="Google Shape;8028;p181"/>
              <p:cNvSpPr/>
              <p:nvPr/>
            </p:nvSpPr>
            <p:spPr>
              <a:xfrm>
                <a:off x="2426569" y="4714561"/>
                <a:ext cx="288261" cy="1290044"/>
              </a:xfrm>
              <a:custGeom>
                <a:rect b="b" l="l" r="r" t="t"/>
                <a:pathLst>
                  <a:path extrusionOk="0" h="1186" w="267">
                    <a:moveTo>
                      <a:pt x="254" y="466"/>
                    </a:moveTo>
                    <a:lnTo>
                      <a:pt x="0" y="0"/>
                    </a:lnTo>
                    <a:lnTo>
                      <a:pt x="0" y="1186"/>
                    </a:lnTo>
                    <a:lnTo>
                      <a:pt x="267" y="652"/>
                    </a:lnTo>
                    <a:lnTo>
                      <a:pt x="254" y="466"/>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29" name="Google Shape;8029;p181"/>
              <p:cNvSpPr/>
              <p:nvPr/>
            </p:nvSpPr>
            <p:spPr>
              <a:xfrm>
                <a:off x="1398616" y="4722494"/>
                <a:ext cx="1045433" cy="127129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030" name="Google Shape;8030;p181"/>
              <p:cNvSpPr/>
              <p:nvPr/>
            </p:nvSpPr>
            <p:spPr>
              <a:xfrm>
                <a:off x="1341249" y="4752754"/>
                <a:ext cx="1067215" cy="1231976"/>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031" name="Google Shape;8031;p181"/>
              <p:cNvCxnSpPr/>
              <p:nvPr/>
            </p:nvCxnSpPr>
            <p:spPr>
              <a:xfrm>
                <a:off x="1341249" y="5031313"/>
                <a:ext cx="1059231" cy="2888"/>
              </a:xfrm>
              <a:prstGeom prst="straightConnector1">
                <a:avLst/>
              </a:prstGeom>
              <a:noFill/>
              <a:ln cap="flat" cmpd="sng" w="19050">
                <a:solidFill>
                  <a:srgbClr val="000000"/>
                </a:solidFill>
                <a:prstDash val="solid"/>
                <a:round/>
                <a:headEnd len="med" w="med" type="none"/>
                <a:tailEnd len="med" w="med" type="none"/>
              </a:ln>
            </p:spPr>
          </p:cxnSp>
          <p:sp>
            <p:nvSpPr>
              <p:cNvPr id="8032" name="Google Shape;8032;p181"/>
              <p:cNvSpPr txBox="1"/>
              <p:nvPr/>
            </p:nvSpPr>
            <p:spPr>
              <a:xfrm>
                <a:off x="1305623" y="4747333"/>
                <a:ext cx="1104329" cy="127417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8033" name="Google Shape;8033;p181"/>
              <p:cNvGrpSpPr/>
              <p:nvPr/>
            </p:nvGrpSpPr>
            <p:grpSpPr>
              <a:xfrm flipH="1">
                <a:off x="2634682" y="5076164"/>
                <a:ext cx="673330" cy="701684"/>
                <a:chOff x="-44" y="1473"/>
                <a:chExt cx="981" cy="1105"/>
              </a:xfrm>
            </p:grpSpPr>
            <p:pic>
              <p:nvPicPr>
                <p:cNvPr descr="desktop_computer_stylized_medium" id="8034" name="Google Shape;8034;p18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035" name="Google Shape;8035;p18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036" name="Google Shape;8036;p181"/>
              <p:cNvCxnSpPr/>
              <p:nvPr/>
            </p:nvCxnSpPr>
            <p:spPr>
              <a:xfrm>
                <a:off x="1345720" y="52602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8037" name="Google Shape;8037;p181"/>
              <p:cNvCxnSpPr/>
              <p:nvPr/>
            </p:nvCxnSpPr>
            <p:spPr>
              <a:xfrm>
                <a:off x="1350191" y="54891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8038" name="Google Shape;8038;p181"/>
              <p:cNvCxnSpPr/>
              <p:nvPr/>
            </p:nvCxnSpPr>
            <p:spPr>
              <a:xfrm>
                <a:off x="1354662" y="5728213"/>
                <a:ext cx="1059231" cy="2888"/>
              </a:xfrm>
              <a:prstGeom prst="straightConnector1">
                <a:avLst/>
              </a:prstGeom>
              <a:noFill/>
              <a:ln cap="flat" cmpd="sng" w="19050">
                <a:solidFill>
                  <a:srgbClr val="000000"/>
                </a:solidFill>
                <a:prstDash val="solid"/>
                <a:round/>
                <a:headEnd len="med" w="med" type="none"/>
                <a:tailEnd len="med" w="med" type="none"/>
              </a:ln>
            </p:spPr>
          </p:cxnSp>
        </p:grpSp>
      </p:grpSp>
      <p:sp>
        <p:nvSpPr>
          <p:cNvPr id="8039" name="Google Shape;8039;p181"/>
          <p:cNvSpPr/>
          <p:nvPr/>
        </p:nvSpPr>
        <p:spPr>
          <a:xfrm>
            <a:off x="3329610" y="4423977"/>
            <a:ext cx="5073926" cy="1298611"/>
          </a:xfrm>
          <a:custGeom>
            <a:rect b="b" l="l" r="r" t="t"/>
            <a:pathLst>
              <a:path extrusionOk="0" h="1559667" w="5156094">
                <a:moveTo>
                  <a:pt x="0" y="0"/>
                </a:moveTo>
                <a:cubicBezTo>
                  <a:pt x="2320" y="388965"/>
                  <a:pt x="4641" y="777929"/>
                  <a:pt x="6961" y="1166894"/>
                </a:cubicBezTo>
                <a:lnTo>
                  <a:pt x="1130946" y="1169234"/>
                </a:lnTo>
                <a:lnTo>
                  <a:pt x="1824854" y="1559667"/>
                </a:lnTo>
                <a:lnTo>
                  <a:pt x="2145216" y="1553959"/>
                </a:lnTo>
                <a:lnTo>
                  <a:pt x="2930257" y="1152811"/>
                </a:lnTo>
                <a:lnTo>
                  <a:pt x="5156094" y="1198456"/>
                </a:lnTo>
                <a:lnTo>
                  <a:pt x="5126381" y="64084"/>
                </a:lnTo>
              </a:path>
            </a:pathLst>
          </a:custGeom>
          <a:noFill/>
          <a:ln cap="flat" cmpd="sng" w="22225">
            <a:solidFill>
              <a:srgbClr val="000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40" name="Google Shape;8040;p181"/>
          <p:cNvSpPr txBox="1"/>
          <p:nvPr/>
        </p:nvSpPr>
        <p:spPr>
          <a:xfrm>
            <a:off x="640467" y="2288196"/>
            <a:ext cx="11177587" cy="915177"/>
          </a:xfrm>
          <a:prstGeom prst="rect">
            <a:avLst/>
          </a:prstGeom>
          <a:noFill/>
          <a:ln>
            <a:noFill/>
          </a:ln>
        </p:spPr>
        <p:txBody>
          <a:bodyPr anchorCtr="0" anchor="t" bIns="45700" lIns="91425" spcFirstLastPara="1" rIns="91425" wrap="square" tIns="45700">
            <a:normAutofit/>
          </a:bodyPr>
          <a:lstStyle/>
          <a:p>
            <a:pPr indent="-215900" lvl="0" marL="45720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understanding congestion: useful to focus on congested bottleneck link</a:t>
            </a:r>
            <a:endParaRPr/>
          </a:p>
        </p:txBody>
      </p:sp>
      <p:grpSp>
        <p:nvGrpSpPr>
          <p:cNvPr id="8041" name="Google Shape;8041;p181"/>
          <p:cNvGrpSpPr/>
          <p:nvPr/>
        </p:nvGrpSpPr>
        <p:grpSpPr>
          <a:xfrm>
            <a:off x="4839045" y="5517878"/>
            <a:ext cx="876995" cy="403711"/>
            <a:chOff x="5033182" y="4091488"/>
            <a:chExt cx="876995" cy="403711"/>
          </a:xfrm>
        </p:grpSpPr>
        <p:cxnSp>
          <p:nvCxnSpPr>
            <p:cNvPr id="8042" name="Google Shape;8042;p181"/>
            <p:cNvCxnSpPr/>
            <p:nvPr/>
          </p:nvCxnSpPr>
          <p:spPr>
            <a:xfrm>
              <a:off x="5518407" y="4289261"/>
              <a:ext cx="86950" cy="0"/>
            </a:xfrm>
            <a:prstGeom prst="straightConnector1">
              <a:avLst/>
            </a:prstGeom>
            <a:noFill/>
            <a:ln cap="flat" cmpd="sng" w="19050">
              <a:solidFill>
                <a:schemeClr val="dk1"/>
              </a:solidFill>
              <a:prstDash val="solid"/>
              <a:miter lim="800000"/>
              <a:headEnd len="sm" w="sm" type="none"/>
              <a:tailEnd len="sm" w="sm" type="none"/>
            </a:ln>
          </p:spPr>
        </p:cxnSp>
        <p:sp>
          <p:nvSpPr>
            <p:cNvPr id="8043" name="Google Shape;8043;p181"/>
            <p:cNvSpPr/>
            <p:nvPr/>
          </p:nvSpPr>
          <p:spPr>
            <a:xfrm>
              <a:off x="5150875" y="4091488"/>
              <a:ext cx="382771" cy="403711"/>
            </a:xfrm>
            <a:prstGeom prst="rect">
              <a:avLst/>
            </a:prstGeom>
            <a:solidFill>
              <a:srgbClr val="E4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44" name="Google Shape;8044;p181"/>
            <p:cNvSpPr/>
            <p:nvPr/>
          </p:nvSpPr>
          <p:spPr>
            <a:xfrm>
              <a:off x="5565439" y="4115310"/>
              <a:ext cx="344738" cy="344738"/>
            </a:xfrm>
            <a:prstGeom prst="ellipse">
              <a:avLst/>
            </a:prstGeom>
            <a:solidFill>
              <a:srgbClr val="E4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045" name="Google Shape;8045;p181"/>
            <p:cNvCxnSpPr/>
            <p:nvPr/>
          </p:nvCxnSpPr>
          <p:spPr>
            <a:xfrm>
              <a:off x="5427947" y="4125482"/>
              <a:ext cx="0" cy="328557"/>
            </a:xfrm>
            <a:prstGeom prst="straightConnector1">
              <a:avLst/>
            </a:prstGeom>
            <a:noFill/>
            <a:ln cap="flat" cmpd="sng" w="15875">
              <a:solidFill>
                <a:schemeClr val="dk1"/>
              </a:solidFill>
              <a:prstDash val="solid"/>
              <a:miter lim="800000"/>
              <a:headEnd len="sm" w="sm" type="none"/>
              <a:tailEnd len="sm" w="sm" type="none"/>
            </a:ln>
          </p:spPr>
        </p:cxnSp>
        <p:cxnSp>
          <p:nvCxnSpPr>
            <p:cNvPr id="8046" name="Google Shape;8046;p181"/>
            <p:cNvCxnSpPr/>
            <p:nvPr/>
          </p:nvCxnSpPr>
          <p:spPr>
            <a:xfrm>
              <a:off x="5330094" y="4125482"/>
              <a:ext cx="0" cy="328557"/>
            </a:xfrm>
            <a:prstGeom prst="straightConnector1">
              <a:avLst/>
            </a:prstGeom>
            <a:noFill/>
            <a:ln cap="flat" cmpd="sng" w="15875">
              <a:solidFill>
                <a:schemeClr val="dk1"/>
              </a:solidFill>
              <a:prstDash val="solid"/>
              <a:miter lim="800000"/>
              <a:headEnd len="sm" w="sm" type="none"/>
              <a:tailEnd len="sm" w="sm" type="none"/>
            </a:ln>
          </p:spPr>
        </p:cxnSp>
        <p:cxnSp>
          <p:nvCxnSpPr>
            <p:cNvPr id="8047" name="Google Shape;8047;p181"/>
            <p:cNvCxnSpPr/>
            <p:nvPr/>
          </p:nvCxnSpPr>
          <p:spPr>
            <a:xfrm>
              <a:off x="5238591" y="4125482"/>
              <a:ext cx="0" cy="328557"/>
            </a:xfrm>
            <a:prstGeom prst="straightConnector1">
              <a:avLst/>
            </a:prstGeom>
            <a:noFill/>
            <a:ln cap="flat" cmpd="sng" w="15875">
              <a:solidFill>
                <a:schemeClr val="dk1"/>
              </a:solidFill>
              <a:prstDash val="solid"/>
              <a:miter lim="800000"/>
              <a:headEnd len="sm" w="sm" type="none"/>
              <a:tailEnd len="sm" w="sm" type="none"/>
            </a:ln>
          </p:spPr>
        </p:cxnSp>
        <p:sp>
          <p:nvSpPr>
            <p:cNvPr id="8048" name="Google Shape;8048;p181"/>
            <p:cNvSpPr/>
            <p:nvPr/>
          </p:nvSpPr>
          <p:spPr>
            <a:xfrm>
              <a:off x="5033182" y="4091488"/>
              <a:ext cx="112907" cy="403711"/>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8049" name="Google Shape;8049;p181"/>
          <p:cNvGrpSpPr/>
          <p:nvPr/>
        </p:nvGrpSpPr>
        <p:grpSpPr>
          <a:xfrm>
            <a:off x="3613959" y="3330565"/>
            <a:ext cx="4288552" cy="1038257"/>
            <a:chOff x="3613959" y="3330565"/>
            <a:chExt cx="4288552" cy="1038257"/>
          </a:xfrm>
        </p:grpSpPr>
        <p:sp>
          <p:nvSpPr>
            <p:cNvPr id="8050" name="Google Shape;8050;p181"/>
            <p:cNvSpPr txBox="1"/>
            <p:nvPr/>
          </p:nvSpPr>
          <p:spPr>
            <a:xfrm>
              <a:off x="3932559" y="3330565"/>
              <a:ext cx="3969952" cy="840230"/>
            </a:xfrm>
            <a:prstGeom prst="rect">
              <a:avLst/>
            </a:prstGeom>
            <a:noFill/>
            <a:ln>
              <a:noFill/>
            </a:ln>
          </p:spPr>
          <p:txBody>
            <a:bodyPr anchorCtr="0" anchor="t" bIns="45700" lIns="91425" spcFirstLastPara="1" rIns="91425" wrap="square" tIns="45700">
              <a:spAutoFit/>
            </a:bodyPr>
            <a:lstStyle/>
            <a:p>
              <a:pPr indent="-460375" lvl="0" marL="460375" marR="0" rtl="0" algn="l">
                <a:lnSpc>
                  <a:spcPct val="90000"/>
                </a:lnSpc>
                <a:spcBef>
                  <a:spcPts val="0"/>
                </a:spcBef>
                <a:spcAft>
                  <a:spcPts val="0"/>
                </a:spcAft>
                <a:buClr>
                  <a:srgbClr val="0000A3"/>
                </a:buClr>
                <a:buSzPts val="1800"/>
                <a:buFont typeface="Calibri"/>
                <a:buNone/>
              </a:pPr>
              <a:r>
                <a:rPr b="1" i="0" lang="en-US" sz="1800" u="none" cap="none" strike="noStrike">
                  <a:solidFill>
                    <a:srgbClr val="0000A3"/>
                  </a:solidFill>
                  <a:latin typeface="Calibri"/>
                  <a:ea typeface="Calibri"/>
                  <a:cs typeface="Calibri"/>
                  <a:sym typeface="Calibri"/>
                </a:rPr>
                <a:t>insight: </a:t>
              </a:r>
              <a:r>
                <a:rPr b="0" i="0" lang="en-US" sz="1800" u="none" cap="none" strike="noStrike">
                  <a:solidFill>
                    <a:srgbClr val="000000"/>
                  </a:solidFill>
                  <a:latin typeface="Calibri"/>
                  <a:ea typeface="Calibri"/>
                  <a:cs typeface="Calibri"/>
                  <a:sym typeface="Calibri"/>
                </a:rPr>
                <a:t>increasing TCP sending rate will </a:t>
              </a:r>
              <a:r>
                <a:rPr b="0" i="1" lang="en-US" sz="1800" u="none" cap="none" strike="noStrike">
                  <a:solidFill>
                    <a:srgbClr val="000000"/>
                  </a:solidFill>
                  <a:latin typeface="Calibri"/>
                  <a:ea typeface="Calibri"/>
                  <a:cs typeface="Calibri"/>
                  <a:sym typeface="Calibri"/>
                </a:rPr>
                <a:t>not</a:t>
              </a:r>
              <a:r>
                <a:rPr b="0" i="0" lang="en-US" sz="1800" u="none" cap="none" strike="noStrike">
                  <a:solidFill>
                    <a:srgbClr val="000000"/>
                  </a:solidFill>
                  <a:latin typeface="Calibri"/>
                  <a:ea typeface="Calibri"/>
                  <a:cs typeface="Calibri"/>
                  <a:sym typeface="Calibri"/>
                </a:rPr>
                <a:t> increase end-end throughout with congested bottleneck</a:t>
              </a:r>
              <a:endParaRPr/>
            </a:p>
          </p:txBody>
        </p:sp>
        <p:cxnSp>
          <p:nvCxnSpPr>
            <p:cNvPr id="8051" name="Google Shape;8051;p181"/>
            <p:cNvCxnSpPr/>
            <p:nvPr/>
          </p:nvCxnSpPr>
          <p:spPr>
            <a:xfrm flipH="1">
              <a:off x="3613959" y="3751185"/>
              <a:ext cx="738967" cy="617637"/>
            </a:xfrm>
            <a:prstGeom prst="straightConnector1">
              <a:avLst/>
            </a:prstGeom>
            <a:noFill/>
            <a:ln cap="flat" cmpd="sng" w="9525">
              <a:solidFill>
                <a:schemeClr val="dk1"/>
              </a:solidFill>
              <a:prstDash val="solid"/>
              <a:miter lim="800000"/>
              <a:headEnd len="sm" w="sm" type="none"/>
              <a:tailEnd len="sm" w="sm" type="none"/>
            </a:ln>
          </p:spPr>
        </p:cxnSp>
      </p:grpSp>
      <p:grpSp>
        <p:nvGrpSpPr>
          <p:cNvPr id="8052" name="Google Shape;8052;p181"/>
          <p:cNvGrpSpPr/>
          <p:nvPr/>
        </p:nvGrpSpPr>
        <p:grpSpPr>
          <a:xfrm>
            <a:off x="477143" y="5329279"/>
            <a:ext cx="4243986" cy="840230"/>
            <a:chOff x="477143" y="5329279"/>
            <a:chExt cx="4243986" cy="840230"/>
          </a:xfrm>
        </p:grpSpPr>
        <p:sp>
          <p:nvSpPr>
            <p:cNvPr id="8053" name="Google Shape;8053;p181"/>
            <p:cNvSpPr txBox="1"/>
            <p:nvPr/>
          </p:nvSpPr>
          <p:spPr>
            <a:xfrm>
              <a:off x="477143" y="5329279"/>
              <a:ext cx="2818708" cy="840230"/>
            </a:xfrm>
            <a:prstGeom prst="rect">
              <a:avLst/>
            </a:prstGeom>
            <a:noFill/>
            <a:ln>
              <a:noFill/>
            </a:ln>
          </p:spPr>
          <p:txBody>
            <a:bodyPr anchorCtr="0" anchor="t" bIns="45700" lIns="91425" spcFirstLastPara="1" rIns="91425" wrap="square" tIns="45700">
              <a:spAutoFit/>
            </a:bodyPr>
            <a:lstStyle/>
            <a:p>
              <a:pPr indent="-460375" lvl="0" marL="460375" marR="0" rtl="0" algn="r">
                <a:lnSpc>
                  <a:spcPct val="90000"/>
                </a:lnSpc>
                <a:spcBef>
                  <a:spcPts val="0"/>
                </a:spcBef>
                <a:spcAft>
                  <a:spcPts val="0"/>
                </a:spcAft>
                <a:buClr>
                  <a:srgbClr val="0000A3"/>
                </a:buClr>
                <a:buSzPts val="1800"/>
                <a:buFont typeface="Calibri"/>
                <a:buNone/>
              </a:pPr>
              <a:r>
                <a:rPr b="1" i="0" lang="en-US" sz="1800" u="none" cap="none" strike="noStrike">
                  <a:solidFill>
                    <a:srgbClr val="0000A3"/>
                  </a:solidFill>
                  <a:latin typeface="Calibri"/>
                  <a:ea typeface="Calibri"/>
                  <a:cs typeface="Calibri"/>
                  <a:sym typeface="Calibri"/>
                </a:rPr>
                <a:t>insight: </a:t>
              </a:r>
              <a:r>
                <a:rPr b="0" i="0" lang="en-US" sz="1800" u="none" cap="none" strike="noStrike">
                  <a:solidFill>
                    <a:srgbClr val="000000"/>
                  </a:solidFill>
                  <a:latin typeface="Calibri"/>
                  <a:ea typeface="Calibri"/>
                  <a:cs typeface="Calibri"/>
                  <a:sym typeface="Calibri"/>
                </a:rPr>
                <a:t>increasing TCP sending rate </a:t>
              </a:r>
              <a:r>
                <a:rPr b="0" i="1" lang="en-US" sz="1800" u="none" cap="none" strike="noStrike">
                  <a:solidFill>
                    <a:srgbClr val="000000"/>
                  </a:solidFill>
                  <a:latin typeface="Calibri"/>
                  <a:ea typeface="Calibri"/>
                  <a:cs typeface="Calibri"/>
                  <a:sym typeface="Calibri"/>
                </a:rPr>
                <a:t>will</a:t>
              </a:r>
              <a:r>
                <a:rPr b="0" i="0" lang="en-US" sz="1800" u="none" cap="none" strike="noStrike">
                  <a:solidFill>
                    <a:srgbClr val="000000"/>
                  </a:solidFill>
                  <a:latin typeface="Calibri"/>
                  <a:ea typeface="Calibri"/>
                  <a:cs typeface="Calibri"/>
                  <a:sym typeface="Calibri"/>
                </a:rPr>
                <a:t> increase measured RTT</a:t>
              </a:r>
              <a:endParaRPr/>
            </a:p>
          </p:txBody>
        </p:sp>
        <p:cxnSp>
          <p:nvCxnSpPr>
            <p:cNvPr id="8054" name="Google Shape;8054;p181"/>
            <p:cNvCxnSpPr/>
            <p:nvPr/>
          </p:nvCxnSpPr>
          <p:spPr>
            <a:xfrm>
              <a:off x="3375025" y="5714069"/>
              <a:ext cx="1346104" cy="0"/>
            </a:xfrm>
            <a:prstGeom prst="straightConnector1">
              <a:avLst/>
            </a:prstGeom>
            <a:noFill/>
            <a:ln cap="flat" cmpd="sng" w="9525">
              <a:solidFill>
                <a:schemeClr val="dk1"/>
              </a:solidFill>
              <a:prstDash val="solid"/>
              <a:miter lim="800000"/>
              <a:headEnd len="sm" w="sm" type="none"/>
              <a:tailEnd len="sm" w="sm" type="none"/>
            </a:ln>
          </p:spPr>
        </p:cxnSp>
      </p:grpSp>
      <p:cxnSp>
        <p:nvCxnSpPr>
          <p:cNvPr id="8055" name="Google Shape;8055;p181"/>
          <p:cNvCxnSpPr/>
          <p:nvPr/>
        </p:nvCxnSpPr>
        <p:spPr>
          <a:xfrm>
            <a:off x="3375025" y="6443089"/>
            <a:ext cx="5028511" cy="0"/>
          </a:xfrm>
          <a:prstGeom prst="straightConnector1">
            <a:avLst/>
          </a:prstGeom>
          <a:noFill/>
          <a:ln cap="flat" cmpd="sng" w="15875">
            <a:solidFill>
              <a:schemeClr val="dk1"/>
            </a:solidFill>
            <a:prstDash val="solid"/>
            <a:miter lim="800000"/>
            <a:headEnd len="med" w="med" type="triangle"/>
            <a:tailEnd len="med" w="med" type="triangle"/>
          </a:ln>
        </p:spPr>
      </p:cxnSp>
      <p:sp>
        <p:nvSpPr>
          <p:cNvPr id="8056" name="Google Shape;8056;p181"/>
          <p:cNvSpPr txBox="1"/>
          <p:nvPr/>
        </p:nvSpPr>
        <p:spPr>
          <a:xfrm>
            <a:off x="4970635" y="6269341"/>
            <a:ext cx="535018"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RTT</a:t>
            </a:r>
            <a:endParaRPr/>
          </a:p>
        </p:txBody>
      </p:sp>
      <p:sp>
        <p:nvSpPr>
          <p:cNvPr id="8057" name="Google Shape;8057;p181"/>
          <p:cNvSpPr txBox="1"/>
          <p:nvPr/>
        </p:nvSpPr>
        <p:spPr>
          <a:xfrm>
            <a:off x="5618466" y="5874964"/>
            <a:ext cx="7584409" cy="424732"/>
          </a:xfrm>
          <a:prstGeom prst="rect">
            <a:avLst/>
          </a:prstGeom>
          <a:noFill/>
          <a:ln>
            <a:noFill/>
          </a:ln>
        </p:spPr>
        <p:txBody>
          <a:bodyPr anchorCtr="0" anchor="t" bIns="45700" lIns="91425" spcFirstLastPara="1" rIns="91425" wrap="square" tIns="45700">
            <a:spAutoFit/>
          </a:bodyPr>
          <a:lstStyle/>
          <a:p>
            <a:pPr indent="-587375" lvl="0" marL="587375" marR="0" rtl="0" algn="l">
              <a:lnSpc>
                <a:spcPct val="90000"/>
              </a:lnSpc>
              <a:spcBef>
                <a:spcPts val="0"/>
              </a:spcBef>
              <a:spcAft>
                <a:spcPts val="0"/>
              </a:spcAft>
              <a:buClr>
                <a:srgbClr val="0000A3"/>
              </a:buClr>
              <a:buSzPts val="2400"/>
              <a:buFont typeface="Calibri"/>
              <a:buNone/>
            </a:pPr>
            <a:r>
              <a:rPr b="1" i="1" lang="en-US" sz="2400" u="none" cap="none" strike="noStrike">
                <a:solidFill>
                  <a:srgbClr val="0000A3"/>
                </a:solidFill>
                <a:latin typeface="Calibri"/>
                <a:ea typeface="Calibri"/>
                <a:cs typeface="Calibri"/>
                <a:sym typeface="Calibri"/>
              </a:rPr>
              <a:t>Goal: </a:t>
            </a:r>
            <a:r>
              <a:rPr b="0" i="1" lang="en-US" sz="2200" u="none" cap="none" strike="noStrike">
                <a:solidFill>
                  <a:srgbClr val="000000"/>
                </a:solidFill>
                <a:latin typeface="Calibri"/>
                <a:ea typeface="Calibri"/>
                <a:cs typeface="Calibri"/>
                <a:sym typeface="Calibri"/>
              </a:rPr>
              <a:t>“keep the end-end pipe just full, but not fuller”</a:t>
            </a:r>
            <a:endParaRPr/>
          </a:p>
        </p:txBody>
      </p:sp>
      <p:sp>
        <p:nvSpPr>
          <p:cNvPr id="8058" name="Google Shape;8058;p18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040"/>
                                        </p:tgtEl>
                                        <p:attrNameLst>
                                          <p:attrName>style.visibility</p:attrName>
                                        </p:attrNameLst>
                                      </p:cBhvr>
                                      <p:to>
                                        <p:strVal val="visible"/>
                                      </p:to>
                                    </p:set>
                                    <p:animEffect filter="fade" transition="in">
                                      <p:cBhvr>
                                        <p:cTn dur="500"/>
                                        <p:tgtEl>
                                          <p:spTgt spid="8040"/>
                                        </p:tgtEl>
                                      </p:cBhvr>
                                    </p:animEffect>
                                  </p:childTnLst>
                                </p:cTn>
                              </p:par>
                              <p:par>
                                <p:cTn fill="hold" nodeType="withEffect" presetClass="exit" presetID="10" presetSubtype="0">
                                  <p:stCondLst>
                                    <p:cond delay="0"/>
                                  </p:stCondLst>
                                  <p:childTnLst>
                                    <p:animEffect filter="fade" transition="out">
                                      <p:cBhvr>
                                        <p:cTn dur="500"/>
                                        <p:tgtEl>
                                          <p:spTgt spid="7954"/>
                                        </p:tgtEl>
                                      </p:cBhvr>
                                    </p:animEffect>
                                    <p:set>
                                      <p:cBhvr>
                                        <p:cTn dur="1" fill="hold">
                                          <p:stCondLst>
                                            <p:cond delay="500"/>
                                          </p:stCondLst>
                                        </p:cTn>
                                        <p:tgtEl>
                                          <p:spTgt spid="795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49"/>
                                        </p:tgtEl>
                                        <p:attrNameLst>
                                          <p:attrName>style.visibility</p:attrName>
                                        </p:attrNameLst>
                                      </p:cBhvr>
                                      <p:to>
                                        <p:strVal val="visible"/>
                                      </p:to>
                                    </p:set>
                                    <p:animEffect filter="fade" transition="in">
                                      <p:cBhvr>
                                        <p:cTn dur="500"/>
                                        <p:tgtEl>
                                          <p:spTgt spid="80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52"/>
                                        </p:tgtEl>
                                        <p:attrNameLst>
                                          <p:attrName>style.visibility</p:attrName>
                                        </p:attrNameLst>
                                      </p:cBhvr>
                                      <p:to>
                                        <p:strVal val="visible"/>
                                      </p:to>
                                    </p:set>
                                    <p:animEffect filter="fade" transition="in">
                                      <p:cBhvr>
                                        <p:cTn dur="500"/>
                                        <p:tgtEl>
                                          <p:spTgt spid="80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57"/>
                                        </p:tgtEl>
                                        <p:attrNameLst>
                                          <p:attrName>style.visibility</p:attrName>
                                        </p:attrNameLst>
                                      </p:cBhvr>
                                      <p:to>
                                        <p:strVal val="visible"/>
                                      </p:to>
                                    </p:set>
                                    <p:animEffect filter="fade" transition="in">
                                      <p:cBhvr>
                                        <p:cTn dur="500"/>
                                        <p:tgtEl>
                                          <p:spTgt spid="80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3" name="Shape 8063"/>
        <p:cNvGrpSpPr/>
        <p:nvPr/>
      </p:nvGrpSpPr>
      <p:grpSpPr>
        <a:xfrm>
          <a:off x="0" y="0"/>
          <a:ext cx="0" cy="0"/>
          <a:chOff x="0" y="0"/>
          <a:chExt cx="0" cy="0"/>
        </a:xfrm>
      </p:grpSpPr>
      <p:sp>
        <p:nvSpPr>
          <p:cNvPr id="8064" name="Google Shape;8064;p182"/>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Delay-based TCP </a:t>
            </a:r>
            <a:r>
              <a:rPr lang="en-US"/>
              <a:t>c</a:t>
            </a:r>
            <a:r>
              <a:rPr lang="en-US" sz="4400"/>
              <a:t>ongestion </a:t>
            </a:r>
            <a:r>
              <a:rPr lang="en-US"/>
              <a:t>c</a:t>
            </a:r>
            <a:r>
              <a:rPr lang="en-US" sz="4400"/>
              <a:t>ontrol</a:t>
            </a:r>
            <a:endParaRPr b="0" sz="4400"/>
          </a:p>
        </p:txBody>
      </p:sp>
      <p:sp>
        <p:nvSpPr>
          <p:cNvPr id="8065" name="Google Shape;8065;p182"/>
          <p:cNvSpPr txBox="1"/>
          <p:nvPr/>
        </p:nvSpPr>
        <p:spPr>
          <a:xfrm>
            <a:off x="630271" y="1334752"/>
            <a:ext cx="11639957" cy="2190750"/>
          </a:xfrm>
          <a:prstGeom prst="rect">
            <a:avLst/>
          </a:prstGeom>
          <a:noFill/>
          <a:ln>
            <a:noFill/>
          </a:ln>
        </p:spPr>
        <p:txBody>
          <a:bodyPr anchorCtr="0" anchor="t" bIns="45700" lIns="91425" spcFirstLastPara="1" rIns="91425" wrap="square" tIns="45700">
            <a:normAutofit/>
          </a:bodyPr>
          <a:lstStyle/>
          <a:p>
            <a:pPr indent="0" lvl="0" marL="241300" marR="0" rtl="0" algn="l">
              <a:lnSpc>
                <a:spcPct val="10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Keeping sender-to-receiver pipe “just full enough, but not fuller”: keep bottleneck link busy transmitting, but avoid high delays/buffering</a:t>
            </a:r>
            <a:endParaRPr/>
          </a:p>
        </p:txBody>
      </p:sp>
      <p:grpSp>
        <p:nvGrpSpPr>
          <p:cNvPr id="8066" name="Google Shape;8066;p182"/>
          <p:cNvGrpSpPr/>
          <p:nvPr/>
        </p:nvGrpSpPr>
        <p:grpSpPr>
          <a:xfrm>
            <a:off x="1216626" y="2508955"/>
            <a:ext cx="5802008" cy="918937"/>
            <a:chOff x="2365663" y="2430127"/>
            <a:chExt cx="5802008" cy="918937"/>
          </a:xfrm>
        </p:grpSpPr>
        <p:grpSp>
          <p:nvGrpSpPr>
            <p:cNvPr id="8067" name="Google Shape;8067;p182"/>
            <p:cNvGrpSpPr/>
            <p:nvPr/>
          </p:nvGrpSpPr>
          <p:grpSpPr>
            <a:xfrm flipH="1">
              <a:off x="2365663" y="2430127"/>
              <a:ext cx="673100" cy="701675"/>
              <a:chOff x="-44" y="1473"/>
              <a:chExt cx="981" cy="1105"/>
            </a:xfrm>
          </p:grpSpPr>
          <p:pic>
            <p:nvPicPr>
              <p:cNvPr descr="desktop_computer_stylized_medium" id="8068" name="Google Shape;8068;p18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069" name="Google Shape;8069;p18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070" name="Google Shape;8070;p182"/>
            <p:cNvGrpSpPr/>
            <p:nvPr/>
          </p:nvGrpSpPr>
          <p:grpSpPr>
            <a:xfrm flipH="1">
              <a:off x="7493993" y="2467744"/>
              <a:ext cx="673678" cy="702006"/>
              <a:chOff x="-44" y="1473"/>
              <a:chExt cx="981" cy="1105"/>
            </a:xfrm>
          </p:grpSpPr>
          <p:pic>
            <p:nvPicPr>
              <p:cNvPr descr="desktop_computer_stylized_medium" id="8071" name="Google Shape;8071;p18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072" name="Google Shape;8072;p18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073" name="Google Shape;8073;p182"/>
            <p:cNvGrpSpPr/>
            <p:nvPr/>
          </p:nvGrpSpPr>
          <p:grpSpPr>
            <a:xfrm>
              <a:off x="5227521" y="2574515"/>
              <a:ext cx="876995" cy="403711"/>
              <a:chOff x="5033182" y="4091488"/>
              <a:chExt cx="876995" cy="403711"/>
            </a:xfrm>
          </p:grpSpPr>
          <p:cxnSp>
            <p:nvCxnSpPr>
              <p:cNvPr id="8074" name="Google Shape;8074;p182"/>
              <p:cNvCxnSpPr/>
              <p:nvPr/>
            </p:nvCxnSpPr>
            <p:spPr>
              <a:xfrm>
                <a:off x="5518407" y="4289261"/>
                <a:ext cx="86950" cy="0"/>
              </a:xfrm>
              <a:prstGeom prst="straightConnector1">
                <a:avLst/>
              </a:prstGeom>
              <a:noFill/>
              <a:ln cap="flat" cmpd="sng" w="19050">
                <a:solidFill>
                  <a:schemeClr val="dk1"/>
                </a:solidFill>
                <a:prstDash val="solid"/>
                <a:miter lim="800000"/>
                <a:headEnd len="sm" w="sm" type="none"/>
                <a:tailEnd len="sm" w="sm" type="none"/>
              </a:ln>
            </p:spPr>
          </p:cxnSp>
          <p:sp>
            <p:nvSpPr>
              <p:cNvPr id="8075" name="Google Shape;8075;p182"/>
              <p:cNvSpPr/>
              <p:nvPr/>
            </p:nvSpPr>
            <p:spPr>
              <a:xfrm>
                <a:off x="5150875" y="4091488"/>
                <a:ext cx="382771" cy="403711"/>
              </a:xfrm>
              <a:prstGeom prst="rect">
                <a:avLst/>
              </a:prstGeom>
              <a:solidFill>
                <a:srgbClr val="E4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76" name="Google Shape;8076;p182"/>
              <p:cNvSpPr/>
              <p:nvPr/>
            </p:nvSpPr>
            <p:spPr>
              <a:xfrm>
                <a:off x="5565439" y="4115310"/>
                <a:ext cx="344738" cy="344738"/>
              </a:xfrm>
              <a:prstGeom prst="ellipse">
                <a:avLst/>
              </a:prstGeom>
              <a:solidFill>
                <a:srgbClr val="E4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077" name="Google Shape;8077;p182"/>
              <p:cNvCxnSpPr/>
              <p:nvPr/>
            </p:nvCxnSpPr>
            <p:spPr>
              <a:xfrm>
                <a:off x="5427947" y="4125482"/>
                <a:ext cx="0" cy="328557"/>
              </a:xfrm>
              <a:prstGeom prst="straightConnector1">
                <a:avLst/>
              </a:prstGeom>
              <a:noFill/>
              <a:ln cap="flat" cmpd="sng" w="15875">
                <a:solidFill>
                  <a:schemeClr val="dk1"/>
                </a:solidFill>
                <a:prstDash val="solid"/>
                <a:miter lim="800000"/>
                <a:headEnd len="sm" w="sm" type="none"/>
                <a:tailEnd len="sm" w="sm" type="none"/>
              </a:ln>
            </p:spPr>
          </p:cxnSp>
          <p:cxnSp>
            <p:nvCxnSpPr>
              <p:cNvPr id="8078" name="Google Shape;8078;p182"/>
              <p:cNvCxnSpPr/>
              <p:nvPr/>
            </p:nvCxnSpPr>
            <p:spPr>
              <a:xfrm>
                <a:off x="5330094" y="4125482"/>
                <a:ext cx="0" cy="328557"/>
              </a:xfrm>
              <a:prstGeom prst="straightConnector1">
                <a:avLst/>
              </a:prstGeom>
              <a:noFill/>
              <a:ln cap="flat" cmpd="sng" w="15875">
                <a:solidFill>
                  <a:schemeClr val="dk1"/>
                </a:solidFill>
                <a:prstDash val="solid"/>
                <a:miter lim="800000"/>
                <a:headEnd len="sm" w="sm" type="none"/>
                <a:tailEnd len="sm" w="sm" type="none"/>
              </a:ln>
            </p:spPr>
          </p:cxnSp>
          <p:cxnSp>
            <p:nvCxnSpPr>
              <p:cNvPr id="8079" name="Google Shape;8079;p182"/>
              <p:cNvCxnSpPr/>
              <p:nvPr/>
            </p:nvCxnSpPr>
            <p:spPr>
              <a:xfrm>
                <a:off x="5238591" y="4125482"/>
                <a:ext cx="0" cy="328557"/>
              </a:xfrm>
              <a:prstGeom prst="straightConnector1">
                <a:avLst/>
              </a:prstGeom>
              <a:noFill/>
              <a:ln cap="flat" cmpd="sng" w="15875">
                <a:solidFill>
                  <a:schemeClr val="dk1"/>
                </a:solidFill>
                <a:prstDash val="solid"/>
                <a:miter lim="800000"/>
                <a:headEnd len="sm" w="sm" type="none"/>
                <a:tailEnd len="sm" w="sm" type="none"/>
              </a:ln>
            </p:spPr>
          </p:cxnSp>
          <p:sp>
            <p:nvSpPr>
              <p:cNvPr id="8080" name="Google Shape;8080;p182"/>
              <p:cNvSpPr/>
              <p:nvPr/>
            </p:nvSpPr>
            <p:spPr>
              <a:xfrm>
                <a:off x="5033182" y="4091488"/>
                <a:ext cx="112907" cy="403711"/>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8081" name="Google Shape;8081;p182"/>
            <p:cNvGrpSpPr/>
            <p:nvPr/>
          </p:nvGrpSpPr>
          <p:grpSpPr>
            <a:xfrm>
              <a:off x="3067072" y="2776371"/>
              <a:ext cx="4456450" cy="344905"/>
              <a:chOff x="3391522" y="3946678"/>
              <a:chExt cx="4456450" cy="344905"/>
            </a:xfrm>
          </p:grpSpPr>
          <p:cxnSp>
            <p:nvCxnSpPr>
              <p:cNvPr id="8082" name="Google Shape;8082;p182"/>
              <p:cNvCxnSpPr/>
              <p:nvPr/>
            </p:nvCxnSpPr>
            <p:spPr>
              <a:xfrm>
                <a:off x="3391522" y="3946678"/>
                <a:ext cx="4456450" cy="0"/>
              </a:xfrm>
              <a:prstGeom prst="straightConnector1">
                <a:avLst/>
              </a:prstGeom>
              <a:noFill/>
              <a:ln cap="flat" cmpd="sng" w="15875">
                <a:solidFill>
                  <a:schemeClr val="dk1"/>
                </a:solidFill>
                <a:prstDash val="solid"/>
                <a:miter lim="800000"/>
                <a:headEnd len="sm" w="sm" type="none"/>
                <a:tailEnd len="med" w="med" type="triangle"/>
              </a:ln>
            </p:spPr>
          </p:cxnSp>
          <p:cxnSp>
            <p:nvCxnSpPr>
              <p:cNvPr id="8083" name="Google Shape;8083;p182"/>
              <p:cNvCxnSpPr/>
              <p:nvPr/>
            </p:nvCxnSpPr>
            <p:spPr>
              <a:xfrm>
                <a:off x="3391522" y="4291583"/>
                <a:ext cx="4456450" cy="0"/>
              </a:xfrm>
              <a:prstGeom prst="straightConnector1">
                <a:avLst/>
              </a:prstGeom>
              <a:noFill/>
              <a:ln cap="flat" cmpd="sng" w="15875">
                <a:solidFill>
                  <a:schemeClr val="dk1"/>
                </a:solidFill>
                <a:prstDash val="solid"/>
                <a:miter lim="800000"/>
                <a:headEnd len="med" w="med" type="triangle"/>
                <a:tailEnd len="sm" w="sm" type="none"/>
              </a:ln>
            </p:spPr>
          </p:cxnSp>
          <p:cxnSp>
            <p:nvCxnSpPr>
              <p:cNvPr id="8084" name="Google Shape;8084;p182"/>
              <p:cNvCxnSpPr/>
              <p:nvPr/>
            </p:nvCxnSpPr>
            <p:spPr>
              <a:xfrm>
                <a:off x="7847972" y="3946678"/>
                <a:ext cx="0" cy="344905"/>
              </a:xfrm>
              <a:prstGeom prst="straightConnector1">
                <a:avLst/>
              </a:prstGeom>
              <a:noFill/>
              <a:ln cap="flat" cmpd="sng" w="15875">
                <a:solidFill>
                  <a:schemeClr val="dk1"/>
                </a:solidFill>
                <a:prstDash val="solid"/>
                <a:miter lim="800000"/>
                <a:headEnd len="sm" w="sm" type="none"/>
                <a:tailEnd len="sm" w="sm" type="none"/>
              </a:ln>
            </p:spPr>
          </p:cxnSp>
        </p:grpSp>
        <p:sp>
          <p:nvSpPr>
            <p:cNvPr id="8085" name="Google Shape;8085;p182"/>
            <p:cNvSpPr txBox="1"/>
            <p:nvPr/>
          </p:nvSpPr>
          <p:spPr>
            <a:xfrm>
              <a:off x="3454066" y="2887399"/>
              <a:ext cx="1465722"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RTT</a:t>
              </a:r>
              <a:r>
                <a:rPr b="0" baseline="-25000" i="0" lang="en-US" sz="2400" u="none" cap="none" strike="noStrike">
                  <a:solidFill>
                    <a:srgbClr val="000000"/>
                  </a:solidFill>
                  <a:latin typeface="Calibri"/>
                  <a:ea typeface="Calibri"/>
                  <a:cs typeface="Calibri"/>
                  <a:sym typeface="Calibri"/>
                </a:rPr>
                <a:t>measured</a:t>
              </a:r>
              <a:endParaRPr b="0" baseline="-25000" i="0" sz="1800" u="none" cap="none" strike="noStrike">
                <a:solidFill>
                  <a:srgbClr val="000000"/>
                </a:solidFill>
                <a:latin typeface="Calibri"/>
                <a:ea typeface="Calibri"/>
                <a:cs typeface="Calibri"/>
                <a:sym typeface="Calibri"/>
              </a:endParaRPr>
            </a:p>
          </p:txBody>
        </p:sp>
      </p:grpSp>
      <p:sp>
        <p:nvSpPr>
          <p:cNvPr id="8086" name="Google Shape;8086;p182"/>
          <p:cNvSpPr txBox="1"/>
          <p:nvPr/>
        </p:nvSpPr>
        <p:spPr>
          <a:xfrm>
            <a:off x="750855" y="3728780"/>
            <a:ext cx="11639957" cy="2190750"/>
          </a:xfrm>
          <a:prstGeom prst="rect">
            <a:avLst/>
          </a:prstGeom>
          <a:noFill/>
          <a:ln>
            <a:noFill/>
          </a:ln>
        </p:spPr>
        <p:txBody>
          <a:bodyPr anchorCtr="0" anchor="t" bIns="45700" lIns="91425" spcFirstLastPara="1" rIns="91425" wrap="square" tIns="45700">
            <a:normAutofit/>
          </a:bodyPr>
          <a:lstStyle/>
          <a:p>
            <a:pPr indent="0" lvl="0" marL="5080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00000"/>
                </a:solidFill>
                <a:latin typeface="Calibri"/>
                <a:ea typeface="Calibri"/>
                <a:cs typeface="Calibri"/>
                <a:sym typeface="Calibri"/>
              </a:rPr>
              <a:t>Delay-based approach:</a:t>
            </a:r>
            <a:endParaRPr/>
          </a:p>
          <a:p>
            <a:pPr indent="-282575" lvl="0" marL="523875"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RTT</a:t>
            </a:r>
            <a:r>
              <a:rPr b="0" baseline="-25000" i="0" lang="en-US" sz="2400" u="none" cap="none" strike="noStrike">
                <a:solidFill>
                  <a:srgbClr val="000000"/>
                </a:solidFill>
                <a:latin typeface="Calibri"/>
                <a:ea typeface="Calibri"/>
                <a:cs typeface="Calibri"/>
                <a:sym typeface="Calibri"/>
              </a:rPr>
              <a:t>min</a:t>
            </a:r>
            <a:r>
              <a:rPr b="0" i="0" lang="en-US" sz="2400" u="none" cap="none" strike="noStrike">
                <a:solidFill>
                  <a:srgbClr val="000000"/>
                </a:solidFill>
                <a:latin typeface="Calibri"/>
                <a:ea typeface="Calibri"/>
                <a:cs typeface="Calibri"/>
                <a:sym typeface="Calibri"/>
              </a:rPr>
              <a:t> - minimum observed RTT (uncongested path)</a:t>
            </a:r>
            <a:endParaRPr b="0" i="0" sz="2400" u="none" cap="none" strike="noStrike">
              <a:solidFill>
                <a:srgbClr val="000000"/>
              </a:solidFill>
              <a:latin typeface="Calibri"/>
              <a:ea typeface="Calibri"/>
              <a:cs typeface="Calibri"/>
              <a:sym typeface="Calibri"/>
            </a:endParaRPr>
          </a:p>
          <a:p>
            <a:pPr indent="-282575" lvl="0" marL="523875"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uncongested throughput with congestion window </a:t>
            </a:r>
            <a:r>
              <a:rPr b="0" i="0" lang="en-US" sz="2400" u="none" cap="none" strike="noStrike">
                <a:solidFill>
                  <a:srgbClr val="000000"/>
                </a:solidFill>
                <a:latin typeface="Courier"/>
                <a:ea typeface="Courier"/>
                <a:cs typeface="Courier"/>
                <a:sym typeface="Courier"/>
              </a:rPr>
              <a:t>cwnd </a:t>
            </a:r>
            <a:r>
              <a:rPr b="0" i="0" lang="en-US" sz="2400" u="none" cap="none" strike="noStrike">
                <a:solidFill>
                  <a:srgbClr val="000000"/>
                </a:solidFill>
                <a:latin typeface="Calibri"/>
                <a:ea typeface="Calibri"/>
                <a:cs typeface="Calibri"/>
                <a:sym typeface="Calibri"/>
              </a:rPr>
              <a:t>is cwnd/RTT</a:t>
            </a:r>
            <a:r>
              <a:rPr b="0" baseline="-25000" i="0" lang="en-US" sz="2400" u="none" cap="none" strike="noStrike">
                <a:solidFill>
                  <a:srgbClr val="000000"/>
                </a:solidFill>
                <a:latin typeface="Calibri"/>
                <a:ea typeface="Calibri"/>
                <a:cs typeface="Calibri"/>
                <a:sym typeface="Calibri"/>
              </a:rPr>
              <a:t>min</a:t>
            </a:r>
            <a:endParaRPr b="0" baseline="-25000" i="0" sz="2400" u="none" cap="none" strike="noStrike">
              <a:solidFill>
                <a:srgbClr val="000000"/>
              </a:solidFill>
              <a:latin typeface="Calibri"/>
              <a:ea typeface="Calibri"/>
              <a:cs typeface="Calibri"/>
              <a:sym typeface="Calibri"/>
            </a:endParaRPr>
          </a:p>
        </p:txBody>
      </p:sp>
      <p:sp>
        <p:nvSpPr>
          <p:cNvPr id="8087" name="Google Shape;8087;p182"/>
          <p:cNvSpPr txBox="1"/>
          <p:nvPr/>
        </p:nvSpPr>
        <p:spPr>
          <a:xfrm>
            <a:off x="2305029" y="5206661"/>
            <a:ext cx="7555832"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if measured throughput “very close” to  uncongested throughput</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increase </a:t>
            </a:r>
            <a:r>
              <a:rPr b="0" i="0" lang="en-US" sz="2000" u="none" cap="none" strike="noStrike">
                <a:solidFill>
                  <a:srgbClr val="000000"/>
                </a:solidFill>
                <a:latin typeface="Courier"/>
                <a:ea typeface="Courier"/>
                <a:cs typeface="Courier"/>
                <a:sym typeface="Courier"/>
              </a:rPr>
              <a:t>cwnd</a:t>
            </a:r>
            <a:r>
              <a:rPr b="0" i="0" lang="en-US" sz="2000" u="none" cap="none" strike="noStrike">
                <a:solidFill>
                  <a:srgbClr val="000000"/>
                </a:solidFill>
                <a:latin typeface="Calibri"/>
                <a:ea typeface="Calibri"/>
                <a:cs typeface="Calibri"/>
                <a:sym typeface="Calibri"/>
              </a:rPr>
              <a:t> linearly                /* since path not congested */ </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else if measured throughput “far below” uncongested throughout</a:t>
            </a:r>
            <a:endParaRPr/>
          </a:p>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decrease </a:t>
            </a:r>
            <a:r>
              <a:rPr b="0" i="0" lang="en-US" sz="2000" u="none" cap="none" strike="noStrike">
                <a:solidFill>
                  <a:srgbClr val="000000"/>
                </a:solidFill>
                <a:latin typeface="Courier"/>
                <a:ea typeface="Courier"/>
                <a:cs typeface="Courier"/>
                <a:sym typeface="Courier"/>
              </a:rPr>
              <a:t>cwnd </a:t>
            </a:r>
            <a:r>
              <a:rPr b="0" i="0" lang="en-US" sz="2000" u="none" cap="none" strike="noStrike">
                <a:solidFill>
                  <a:srgbClr val="000000"/>
                </a:solidFill>
                <a:latin typeface="Calibri"/>
                <a:ea typeface="Calibri"/>
                <a:cs typeface="Calibri"/>
                <a:sym typeface="Calibri"/>
              </a:rPr>
              <a:t>linearly </a:t>
            </a:r>
            <a:r>
              <a:rPr b="0" i="0" lang="en-US" sz="2000" u="none" cap="none" strike="noStrike">
                <a:solidFill>
                  <a:srgbClr val="000000"/>
                </a:solidFill>
                <a:latin typeface="Courier"/>
                <a:ea typeface="Courier"/>
                <a:cs typeface="Courier"/>
                <a:sym typeface="Courier"/>
              </a:rPr>
              <a:t>     </a:t>
            </a:r>
            <a:r>
              <a:rPr b="0" i="0" lang="en-US" sz="2000" u="none" cap="none" strike="noStrike">
                <a:solidFill>
                  <a:srgbClr val="000000"/>
                </a:solidFill>
                <a:latin typeface="Calibri"/>
                <a:ea typeface="Calibri"/>
                <a:cs typeface="Calibri"/>
                <a:sym typeface="Calibri"/>
              </a:rPr>
              <a:t>/* since path is congested */</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8088" name="Google Shape;8088;p182"/>
          <p:cNvGrpSpPr/>
          <p:nvPr/>
        </p:nvGrpSpPr>
        <p:grpSpPr>
          <a:xfrm>
            <a:off x="7368304" y="2588834"/>
            <a:ext cx="3548062" cy="1114151"/>
            <a:chOff x="7481866" y="2350865"/>
            <a:chExt cx="3548062" cy="1114151"/>
          </a:xfrm>
        </p:grpSpPr>
        <p:sp>
          <p:nvSpPr>
            <p:cNvPr id="8089" name="Google Shape;8089;p182"/>
            <p:cNvSpPr txBox="1"/>
            <p:nvPr/>
          </p:nvSpPr>
          <p:spPr>
            <a:xfrm>
              <a:off x="9172199" y="2941796"/>
              <a:ext cx="1675523" cy="52322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RTT</a:t>
              </a:r>
              <a:r>
                <a:rPr b="0" baseline="-25000" i="0" lang="en-US" sz="2800" u="none" cap="none" strike="noStrike">
                  <a:solidFill>
                    <a:srgbClr val="000000"/>
                  </a:solidFill>
                  <a:latin typeface="Calibri"/>
                  <a:ea typeface="Calibri"/>
                  <a:cs typeface="Calibri"/>
                  <a:sym typeface="Calibri"/>
                </a:rPr>
                <a:t>measured</a:t>
              </a:r>
              <a:endParaRPr b="0" baseline="-25000" i="0" sz="2000" u="none" cap="none" strike="noStrike">
                <a:solidFill>
                  <a:srgbClr val="000000"/>
                </a:solidFill>
                <a:latin typeface="Calibri"/>
                <a:ea typeface="Calibri"/>
                <a:cs typeface="Calibri"/>
                <a:sym typeface="Calibri"/>
              </a:endParaRPr>
            </a:p>
          </p:txBody>
        </p:sp>
        <p:grpSp>
          <p:nvGrpSpPr>
            <p:cNvPr id="8090" name="Google Shape;8090;p182"/>
            <p:cNvGrpSpPr/>
            <p:nvPr/>
          </p:nvGrpSpPr>
          <p:grpSpPr>
            <a:xfrm>
              <a:off x="7481866" y="2350865"/>
              <a:ext cx="3548062" cy="923986"/>
              <a:chOff x="7519640" y="2453981"/>
              <a:chExt cx="3548062" cy="923986"/>
            </a:xfrm>
          </p:grpSpPr>
          <p:sp>
            <p:nvSpPr>
              <p:cNvPr id="8091" name="Google Shape;8091;p182"/>
              <p:cNvSpPr txBox="1"/>
              <p:nvPr/>
            </p:nvSpPr>
            <p:spPr>
              <a:xfrm>
                <a:off x="7519640" y="2731636"/>
                <a:ext cx="1371594" cy="64633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measured </a:t>
                </a:r>
                <a:endParaRPr/>
              </a:p>
              <a:p>
                <a:pPr indent="0" lvl="0" marL="0" marR="0" rtl="0" algn="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throughput</a:t>
                </a:r>
                <a:endParaRPr/>
              </a:p>
            </p:txBody>
          </p:sp>
          <p:cxnSp>
            <p:nvCxnSpPr>
              <p:cNvPr id="8092" name="Google Shape;8092;p182"/>
              <p:cNvCxnSpPr/>
              <p:nvPr/>
            </p:nvCxnSpPr>
            <p:spPr>
              <a:xfrm>
                <a:off x="9284574" y="3075516"/>
                <a:ext cx="914400" cy="0"/>
              </a:xfrm>
              <a:prstGeom prst="straightConnector1">
                <a:avLst/>
              </a:prstGeom>
              <a:noFill/>
              <a:ln cap="flat" cmpd="sng" w="22225">
                <a:solidFill>
                  <a:schemeClr val="dk1"/>
                </a:solidFill>
                <a:prstDash val="solid"/>
                <a:miter lim="800000"/>
                <a:headEnd len="sm" w="sm" type="none"/>
                <a:tailEnd len="sm" w="sm" type="none"/>
              </a:ln>
            </p:spPr>
          </p:cxnSp>
          <p:sp>
            <p:nvSpPr>
              <p:cNvPr id="8093" name="Google Shape;8093;p182"/>
              <p:cNvSpPr txBox="1"/>
              <p:nvPr/>
            </p:nvSpPr>
            <p:spPr>
              <a:xfrm>
                <a:off x="8852626" y="2855966"/>
                <a:ext cx="31290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t>
                </a:r>
                <a:endParaRPr/>
              </a:p>
            </p:txBody>
          </p:sp>
          <p:sp>
            <p:nvSpPr>
              <p:cNvPr id="8094" name="Google Shape;8094;p182"/>
              <p:cNvSpPr txBox="1"/>
              <p:nvPr/>
            </p:nvSpPr>
            <p:spPr>
              <a:xfrm>
                <a:off x="9209973" y="2453981"/>
                <a:ext cx="1857729" cy="6463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bytes sent in last RTT interval</a:t>
                </a:r>
                <a:endParaRPr/>
              </a:p>
            </p:txBody>
          </p:sp>
        </p:grpSp>
      </p:grpSp>
      <p:sp>
        <p:nvSpPr>
          <p:cNvPr id="8095" name="Google Shape;8095;p18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86"/>
                                        </p:tgtEl>
                                        <p:attrNameLst>
                                          <p:attrName>style.visibility</p:attrName>
                                        </p:attrNameLst>
                                      </p:cBhvr>
                                      <p:to>
                                        <p:strVal val="visible"/>
                                      </p:to>
                                    </p:set>
                                    <p:animEffect filter="fade" transition="in">
                                      <p:cBhvr>
                                        <p:cTn dur="500"/>
                                        <p:tgtEl>
                                          <p:spTgt spid="80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88"/>
                                        </p:tgtEl>
                                        <p:attrNameLst>
                                          <p:attrName>style.visibility</p:attrName>
                                        </p:attrNameLst>
                                      </p:cBhvr>
                                      <p:to>
                                        <p:strVal val="visible"/>
                                      </p:to>
                                    </p:set>
                                    <p:animEffect filter="fade" transition="in">
                                      <p:cBhvr>
                                        <p:cTn dur="500"/>
                                        <p:tgtEl>
                                          <p:spTgt spid="80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87"/>
                                        </p:tgtEl>
                                        <p:attrNameLst>
                                          <p:attrName>style.visibility</p:attrName>
                                        </p:attrNameLst>
                                      </p:cBhvr>
                                      <p:to>
                                        <p:strVal val="visible"/>
                                      </p:to>
                                    </p:set>
                                    <p:animEffect filter="fade" transition="in">
                                      <p:cBhvr>
                                        <p:cTn dur="500"/>
                                        <p:tgtEl>
                                          <p:spTgt spid="80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0" name="Shape 8100"/>
        <p:cNvGrpSpPr/>
        <p:nvPr/>
      </p:nvGrpSpPr>
      <p:grpSpPr>
        <a:xfrm>
          <a:off x="0" y="0"/>
          <a:ext cx="0" cy="0"/>
          <a:chOff x="0" y="0"/>
          <a:chExt cx="0" cy="0"/>
        </a:xfrm>
      </p:grpSpPr>
      <p:sp>
        <p:nvSpPr>
          <p:cNvPr id="8101" name="Google Shape;8101;p183"/>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Delay-based TCP </a:t>
            </a:r>
            <a:r>
              <a:rPr lang="en-US"/>
              <a:t>c</a:t>
            </a:r>
            <a:r>
              <a:rPr lang="en-US" sz="4400"/>
              <a:t>ongestion </a:t>
            </a:r>
            <a:r>
              <a:rPr lang="en-US"/>
              <a:t>c</a:t>
            </a:r>
            <a:r>
              <a:rPr lang="en-US" sz="4400"/>
              <a:t>ontrol</a:t>
            </a:r>
            <a:endParaRPr b="0" sz="4400"/>
          </a:p>
        </p:txBody>
      </p:sp>
      <p:sp>
        <p:nvSpPr>
          <p:cNvPr id="8102" name="Google Shape;8102;p183"/>
          <p:cNvSpPr txBox="1"/>
          <p:nvPr/>
        </p:nvSpPr>
        <p:spPr>
          <a:xfrm>
            <a:off x="574392" y="1614177"/>
            <a:ext cx="11388423" cy="2190750"/>
          </a:xfrm>
          <a:prstGeom prst="rect">
            <a:avLst/>
          </a:prstGeom>
          <a:noFill/>
          <a:ln>
            <a:noFill/>
          </a:ln>
        </p:spPr>
        <p:txBody>
          <a:bodyPr anchorCtr="0" anchor="t" bIns="45700" lIns="91425" spcFirstLastPara="1" rIns="91425" wrap="square" tIns="45700">
            <a:normAutofit/>
          </a:bodyPr>
          <a:lstStyle/>
          <a:p>
            <a:pPr indent="-282575" lvl="0" marL="5238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congestion control without inducing/forcing loss</a:t>
            </a:r>
            <a:endParaRPr/>
          </a:p>
          <a:p>
            <a:pPr indent="-282575" lvl="0" marL="5238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maximizing throughout (“keeping the just pipe full… ”) while keeping delay low (“…but not fuller”)</a:t>
            </a:r>
            <a:endParaRPr/>
          </a:p>
        </p:txBody>
      </p:sp>
      <p:sp>
        <p:nvSpPr>
          <p:cNvPr id="8103" name="Google Shape;8103;p183"/>
          <p:cNvSpPr txBox="1"/>
          <p:nvPr/>
        </p:nvSpPr>
        <p:spPr>
          <a:xfrm>
            <a:off x="561692" y="2960377"/>
            <a:ext cx="11388423" cy="2190750"/>
          </a:xfrm>
          <a:prstGeom prst="rect">
            <a:avLst/>
          </a:prstGeom>
          <a:noFill/>
          <a:ln>
            <a:noFill/>
          </a:ln>
        </p:spPr>
        <p:txBody>
          <a:bodyPr anchorCtr="0" anchor="t" bIns="45700" lIns="91425" spcFirstLastPara="1" rIns="91425" wrap="square" tIns="45700">
            <a:normAutofit/>
          </a:bodyPr>
          <a:lstStyle/>
          <a:p>
            <a:pPr indent="-282575" lvl="0" marL="52387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 number of deployed TCPs take a delay-based approach</a:t>
            </a:r>
            <a:endParaRPr/>
          </a:p>
          <a:p>
            <a:pPr indent="-282575" lvl="1" marL="86677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TCP BBR</a:t>
            </a:r>
            <a:r>
              <a:rPr b="0" i="0" lang="en-US" sz="2400" u="none" cap="none" strike="noStrike">
                <a:solidFill>
                  <a:srgbClr val="000000"/>
                </a:solidFill>
                <a:latin typeface="Calibri"/>
                <a:ea typeface="Calibri"/>
                <a:cs typeface="Calibri"/>
                <a:sym typeface="Calibri"/>
              </a:rPr>
              <a:t> deployed on Google’s (internal) backbone network</a:t>
            </a:r>
            <a:endParaRPr/>
          </a:p>
        </p:txBody>
      </p:sp>
      <p:sp>
        <p:nvSpPr>
          <p:cNvPr id="8104" name="Google Shape;8104;p18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03"/>
                                        </p:tgtEl>
                                        <p:attrNameLst>
                                          <p:attrName>style.visibility</p:attrName>
                                        </p:attrNameLst>
                                      </p:cBhvr>
                                      <p:to>
                                        <p:strVal val="visible"/>
                                      </p:to>
                                    </p:set>
                                    <p:animEffect filter="fade" transition="in">
                                      <p:cBhvr>
                                        <p:cTn dur="500"/>
                                        <p:tgtEl>
                                          <p:spTgt spid="81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9" name="Shape 8109"/>
        <p:cNvGrpSpPr/>
        <p:nvPr/>
      </p:nvGrpSpPr>
      <p:grpSpPr>
        <a:xfrm>
          <a:off x="0" y="0"/>
          <a:ext cx="0" cy="0"/>
          <a:chOff x="0" y="0"/>
          <a:chExt cx="0" cy="0"/>
        </a:xfrm>
      </p:grpSpPr>
      <p:grpSp>
        <p:nvGrpSpPr>
          <p:cNvPr id="8110" name="Google Shape;8110;p184"/>
          <p:cNvGrpSpPr/>
          <p:nvPr/>
        </p:nvGrpSpPr>
        <p:grpSpPr>
          <a:xfrm>
            <a:off x="2250281" y="3864630"/>
            <a:ext cx="7691437" cy="2578459"/>
            <a:chOff x="2151063" y="3594045"/>
            <a:chExt cx="7691437" cy="2578459"/>
          </a:xfrm>
        </p:grpSpPr>
        <p:sp>
          <p:nvSpPr>
            <p:cNvPr id="8111" name="Google Shape;8111;p184"/>
            <p:cNvSpPr/>
            <p:nvPr/>
          </p:nvSpPr>
          <p:spPr>
            <a:xfrm>
              <a:off x="4129957" y="4691367"/>
              <a:ext cx="2849563" cy="1481137"/>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112" name="Google Shape;8112;p184"/>
            <p:cNvGrpSpPr/>
            <p:nvPr/>
          </p:nvGrpSpPr>
          <p:grpSpPr>
            <a:xfrm>
              <a:off x="5035264" y="5554092"/>
              <a:ext cx="496248" cy="260542"/>
              <a:chOff x="7141236" y="6068702"/>
              <a:chExt cx="496248" cy="260542"/>
            </a:xfrm>
          </p:grpSpPr>
          <p:sp>
            <p:nvSpPr>
              <p:cNvPr id="8113" name="Google Shape;8113;p184"/>
              <p:cNvSpPr/>
              <p:nvPr/>
            </p:nvSpPr>
            <p:spPr>
              <a:xfrm>
                <a:off x="7141236" y="6158887"/>
                <a:ext cx="496248" cy="17035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E40000"/>
                  </a:gs>
                  <a:gs pos="21000">
                    <a:schemeClr val="lt1"/>
                  </a:gs>
                  <a:gs pos="51000">
                    <a:srgbClr val="ED356A"/>
                  </a:gs>
                  <a:gs pos="100000">
                    <a:srgbClr val="E40000"/>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114" name="Google Shape;8114;p184"/>
              <p:cNvSpPr/>
              <p:nvPr/>
            </p:nvSpPr>
            <p:spPr>
              <a:xfrm>
                <a:off x="7141522" y="6068702"/>
                <a:ext cx="495647" cy="168664"/>
              </a:xfrm>
              <a:prstGeom prst="ellipse">
                <a:avLst/>
              </a:prstGeom>
              <a:solidFill>
                <a:srgbClr val="FA376E"/>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115" name="Google Shape;8115;p184"/>
              <p:cNvGrpSpPr/>
              <p:nvPr/>
            </p:nvGrpSpPr>
            <p:grpSpPr>
              <a:xfrm>
                <a:off x="7214834" y="6090139"/>
                <a:ext cx="348960" cy="123931"/>
                <a:chOff x="7786941" y="2884917"/>
                <a:chExt cx="897649" cy="353919"/>
              </a:xfrm>
            </p:grpSpPr>
            <p:sp>
              <p:nvSpPr>
                <p:cNvPr id="8116" name="Google Shape;8116;p18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17" name="Google Shape;8117;p18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18" name="Google Shape;8118;p18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E4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19" name="Google Shape;8119;p18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120" name="Google Shape;8120;p184"/>
            <p:cNvGrpSpPr/>
            <p:nvPr/>
          </p:nvGrpSpPr>
          <p:grpSpPr>
            <a:xfrm>
              <a:off x="6131364" y="5156690"/>
              <a:ext cx="496248" cy="260542"/>
              <a:chOff x="7493876" y="2774731"/>
              <a:chExt cx="1481958" cy="894622"/>
            </a:xfrm>
          </p:grpSpPr>
          <p:sp>
            <p:nvSpPr>
              <p:cNvPr id="8121" name="Google Shape;8121;p18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122" name="Google Shape;8122;p18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123" name="Google Shape;8123;p184"/>
              <p:cNvGrpSpPr/>
              <p:nvPr/>
            </p:nvGrpSpPr>
            <p:grpSpPr>
              <a:xfrm>
                <a:off x="7713663" y="2848339"/>
                <a:ext cx="1042107" cy="425543"/>
                <a:chOff x="7786941" y="2884917"/>
                <a:chExt cx="897649" cy="353919"/>
              </a:xfrm>
            </p:grpSpPr>
            <p:sp>
              <p:nvSpPr>
                <p:cNvPr id="8124" name="Google Shape;8124;p18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25" name="Google Shape;8125;p18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26" name="Google Shape;8126;p18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27" name="Google Shape;8127;p18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128" name="Google Shape;8128;p184"/>
            <p:cNvGrpSpPr/>
            <p:nvPr/>
          </p:nvGrpSpPr>
          <p:grpSpPr>
            <a:xfrm>
              <a:off x="5122533" y="4861037"/>
              <a:ext cx="496248" cy="260542"/>
              <a:chOff x="7493876" y="2774731"/>
              <a:chExt cx="1481958" cy="894622"/>
            </a:xfrm>
          </p:grpSpPr>
          <p:sp>
            <p:nvSpPr>
              <p:cNvPr id="8129" name="Google Shape;8129;p18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130" name="Google Shape;8130;p18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131" name="Google Shape;8131;p184"/>
              <p:cNvGrpSpPr/>
              <p:nvPr/>
            </p:nvGrpSpPr>
            <p:grpSpPr>
              <a:xfrm>
                <a:off x="7713663" y="2848339"/>
                <a:ext cx="1042107" cy="425543"/>
                <a:chOff x="7786941" y="2884917"/>
                <a:chExt cx="897649" cy="353919"/>
              </a:xfrm>
            </p:grpSpPr>
            <p:sp>
              <p:nvSpPr>
                <p:cNvPr id="8132" name="Google Shape;8132;p18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33" name="Google Shape;8133;p18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34" name="Google Shape;8134;p18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35" name="Google Shape;8135;p18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136" name="Google Shape;8136;p184"/>
            <p:cNvGrpSpPr/>
            <p:nvPr/>
          </p:nvGrpSpPr>
          <p:grpSpPr>
            <a:xfrm>
              <a:off x="4450588" y="5823254"/>
              <a:ext cx="496248" cy="260542"/>
              <a:chOff x="7493876" y="2774731"/>
              <a:chExt cx="1481958" cy="894622"/>
            </a:xfrm>
          </p:grpSpPr>
          <p:sp>
            <p:nvSpPr>
              <p:cNvPr id="8137" name="Google Shape;8137;p18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138" name="Google Shape;8138;p18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139" name="Google Shape;8139;p184"/>
              <p:cNvGrpSpPr/>
              <p:nvPr/>
            </p:nvGrpSpPr>
            <p:grpSpPr>
              <a:xfrm>
                <a:off x="7713663" y="2848339"/>
                <a:ext cx="1042107" cy="425543"/>
                <a:chOff x="7786941" y="2884917"/>
                <a:chExt cx="897649" cy="353919"/>
              </a:xfrm>
            </p:grpSpPr>
            <p:sp>
              <p:nvSpPr>
                <p:cNvPr id="8140" name="Google Shape;8140;p18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41" name="Google Shape;8141;p18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42" name="Google Shape;8142;p18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43" name="Google Shape;8143;p18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144" name="Google Shape;8144;p184"/>
            <p:cNvGrpSpPr/>
            <p:nvPr/>
          </p:nvGrpSpPr>
          <p:grpSpPr>
            <a:xfrm>
              <a:off x="4094463" y="5164346"/>
              <a:ext cx="496248" cy="260542"/>
              <a:chOff x="7493876" y="2774731"/>
              <a:chExt cx="1481958" cy="894622"/>
            </a:xfrm>
          </p:grpSpPr>
          <p:sp>
            <p:nvSpPr>
              <p:cNvPr id="8145" name="Google Shape;8145;p18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146" name="Google Shape;8146;p18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147" name="Google Shape;8147;p184"/>
              <p:cNvGrpSpPr/>
              <p:nvPr/>
            </p:nvGrpSpPr>
            <p:grpSpPr>
              <a:xfrm>
                <a:off x="7713663" y="2848339"/>
                <a:ext cx="1042107" cy="425543"/>
                <a:chOff x="7786941" y="2884917"/>
                <a:chExt cx="897649" cy="353919"/>
              </a:xfrm>
            </p:grpSpPr>
            <p:sp>
              <p:nvSpPr>
                <p:cNvPr id="8148" name="Google Shape;8148;p18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49" name="Google Shape;8149;p18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50" name="Google Shape;8150;p18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51" name="Google Shape;8151;p18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152" name="Google Shape;8152;p184"/>
            <p:cNvSpPr txBox="1"/>
            <p:nvPr/>
          </p:nvSpPr>
          <p:spPr>
            <a:xfrm>
              <a:off x="3019425" y="3594045"/>
              <a:ext cx="711200" cy="3079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source</a:t>
              </a:r>
              <a:endParaRPr b="0" i="1" sz="2000" u="none" cap="none" strike="noStrike">
                <a:solidFill>
                  <a:srgbClr val="000099"/>
                </a:solidFill>
                <a:latin typeface="Arial"/>
                <a:ea typeface="Arial"/>
                <a:cs typeface="Arial"/>
                <a:sym typeface="Arial"/>
              </a:endParaRPr>
            </a:p>
          </p:txBody>
        </p:sp>
        <p:sp>
          <p:nvSpPr>
            <p:cNvPr id="8153" name="Google Shape;8153;p184"/>
            <p:cNvSpPr/>
            <p:nvPr/>
          </p:nvSpPr>
          <p:spPr>
            <a:xfrm flipH="1">
              <a:off x="2481263" y="3925832"/>
              <a:ext cx="326408" cy="1262816"/>
            </a:xfrm>
            <a:custGeom>
              <a:rect b="b" l="l" r="r" t="t"/>
              <a:pathLst>
                <a:path extrusionOk="0" h="10000" w="12213">
                  <a:moveTo>
                    <a:pt x="11726" y="4661"/>
                  </a:moveTo>
                  <a:lnTo>
                    <a:pt x="0" y="0"/>
                  </a:lnTo>
                  <a:lnTo>
                    <a:pt x="0" y="10000"/>
                  </a:lnTo>
                  <a:lnTo>
                    <a:pt x="12213" y="6473"/>
                  </a:lnTo>
                  <a:lnTo>
                    <a:pt x="11726" y="4661"/>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54" name="Google Shape;8154;p184"/>
            <p:cNvSpPr/>
            <p:nvPr/>
          </p:nvSpPr>
          <p:spPr>
            <a:xfrm>
              <a:off x="2854326" y="3909956"/>
              <a:ext cx="1062368" cy="129063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155" name="Google Shape;8155;p184"/>
            <p:cNvSpPr/>
            <p:nvPr/>
          </p:nvSpPr>
          <p:spPr>
            <a:xfrm>
              <a:off x="2814638" y="3949645"/>
              <a:ext cx="1066800" cy="1231900"/>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156" name="Google Shape;8156;p184"/>
            <p:cNvCxnSpPr/>
            <p:nvPr/>
          </p:nvCxnSpPr>
          <p:spPr>
            <a:xfrm>
              <a:off x="2814638" y="4227457"/>
              <a:ext cx="1058862" cy="3175"/>
            </a:xfrm>
            <a:prstGeom prst="straightConnector1">
              <a:avLst/>
            </a:prstGeom>
            <a:noFill/>
            <a:ln cap="flat" cmpd="sng" w="19050">
              <a:solidFill>
                <a:srgbClr val="000000"/>
              </a:solidFill>
              <a:prstDash val="solid"/>
              <a:round/>
              <a:headEnd len="med" w="med" type="none"/>
              <a:tailEnd len="med" w="med" type="none"/>
            </a:ln>
          </p:spPr>
        </p:cxnSp>
        <p:sp>
          <p:nvSpPr>
            <p:cNvPr id="8157" name="Google Shape;8157;p184"/>
            <p:cNvSpPr txBox="1"/>
            <p:nvPr/>
          </p:nvSpPr>
          <p:spPr>
            <a:xfrm>
              <a:off x="2773604" y="3957054"/>
              <a:ext cx="1104900" cy="127476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8158" name="Google Shape;8158;p184"/>
            <p:cNvGrpSpPr/>
            <p:nvPr/>
          </p:nvGrpSpPr>
          <p:grpSpPr>
            <a:xfrm flipH="1">
              <a:off x="2151063" y="4424307"/>
              <a:ext cx="673100" cy="701675"/>
              <a:chOff x="-44" y="1473"/>
              <a:chExt cx="981" cy="1105"/>
            </a:xfrm>
          </p:grpSpPr>
          <p:pic>
            <p:nvPicPr>
              <p:cNvPr descr="desktop_computer_stylized_medium" id="8159" name="Google Shape;8159;p18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160" name="Google Shape;8160;p18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161" name="Google Shape;8161;p184"/>
            <p:cNvCxnSpPr/>
            <p:nvPr/>
          </p:nvCxnSpPr>
          <p:spPr>
            <a:xfrm>
              <a:off x="2819400" y="4456057"/>
              <a:ext cx="1058863" cy="3175"/>
            </a:xfrm>
            <a:prstGeom prst="straightConnector1">
              <a:avLst/>
            </a:prstGeom>
            <a:noFill/>
            <a:ln cap="flat" cmpd="sng" w="19050">
              <a:solidFill>
                <a:srgbClr val="000000"/>
              </a:solidFill>
              <a:prstDash val="solid"/>
              <a:round/>
              <a:headEnd len="med" w="med" type="none"/>
              <a:tailEnd len="med" w="med" type="none"/>
            </a:ln>
          </p:spPr>
        </p:cxnSp>
        <p:cxnSp>
          <p:nvCxnSpPr>
            <p:cNvPr id="8162" name="Google Shape;8162;p184"/>
            <p:cNvCxnSpPr/>
            <p:nvPr/>
          </p:nvCxnSpPr>
          <p:spPr>
            <a:xfrm>
              <a:off x="2824163" y="4684657"/>
              <a:ext cx="1058862" cy="3175"/>
            </a:xfrm>
            <a:prstGeom prst="straightConnector1">
              <a:avLst/>
            </a:prstGeom>
            <a:noFill/>
            <a:ln cap="flat" cmpd="sng" w="19050">
              <a:solidFill>
                <a:srgbClr val="000000"/>
              </a:solidFill>
              <a:prstDash val="solid"/>
              <a:round/>
              <a:headEnd len="med" w="med" type="none"/>
              <a:tailEnd len="med" w="med" type="none"/>
            </a:ln>
          </p:spPr>
        </p:cxnSp>
        <p:cxnSp>
          <p:nvCxnSpPr>
            <p:cNvPr id="8163" name="Google Shape;8163;p184"/>
            <p:cNvCxnSpPr/>
            <p:nvPr/>
          </p:nvCxnSpPr>
          <p:spPr>
            <a:xfrm>
              <a:off x="2827338" y="4924370"/>
              <a:ext cx="1060450" cy="3175"/>
            </a:xfrm>
            <a:prstGeom prst="straightConnector1">
              <a:avLst/>
            </a:prstGeom>
            <a:noFill/>
            <a:ln cap="flat" cmpd="sng" w="19050">
              <a:solidFill>
                <a:srgbClr val="000000"/>
              </a:solidFill>
              <a:prstDash val="solid"/>
              <a:round/>
              <a:headEnd len="med" w="med" type="none"/>
              <a:tailEnd len="med" w="med" type="none"/>
            </a:ln>
          </p:spPr>
        </p:cxnSp>
        <p:grpSp>
          <p:nvGrpSpPr>
            <p:cNvPr id="8164" name="Google Shape;8164;p184"/>
            <p:cNvGrpSpPr/>
            <p:nvPr/>
          </p:nvGrpSpPr>
          <p:grpSpPr>
            <a:xfrm>
              <a:off x="7794625" y="3673978"/>
              <a:ext cx="2047875" cy="1620287"/>
              <a:chOff x="4882752" y="4007261"/>
              <a:chExt cx="2046816" cy="1619544"/>
            </a:xfrm>
          </p:grpSpPr>
          <p:sp>
            <p:nvSpPr>
              <p:cNvPr id="8165" name="Google Shape;8165;p184"/>
              <p:cNvSpPr txBox="1"/>
              <p:nvPr/>
            </p:nvSpPr>
            <p:spPr>
              <a:xfrm>
                <a:off x="4882752" y="4007261"/>
                <a:ext cx="1226089"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1" lang="en-US" sz="1600" u="none" cap="none" strike="noStrike">
                    <a:solidFill>
                      <a:srgbClr val="000099"/>
                    </a:solidFill>
                    <a:latin typeface="Arial"/>
                    <a:ea typeface="Arial"/>
                    <a:cs typeface="Arial"/>
                    <a:sym typeface="Arial"/>
                  </a:rPr>
                  <a:t>destination</a:t>
                </a:r>
                <a:endParaRPr b="0" i="1" sz="2000" u="none" cap="none" strike="noStrike">
                  <a:solidFill>
                    <a:srgbClr val="000099"/>
                  </a:solidFill>
                  <a:latin typeface="Arial"/>
                  <a:ea typeface="Arial"/>
                  <a:cs typeface="Arial"/>
                  <a:sym typeface="Arial"/>
                </a:endParaRPr>
              </a:p>
            </p:txBody>
          </p:sp>
          <p:grpSp>
            <p:nvGrpSpPr>
              <p:cNvPr id="8166" name="Google Shape;8166;p184"/>
              <p:cNvGrpSpPr/>
              <p:nvPr/>
            </p:nvGrpSpPr>
            <p:grpSpPr>
              <a:xfrm>
                <a:off x="4927179" y="4319856"/>
                <a:ext cx="2002389" cy="1306949"/>
                <a:chOff x="1305623" y="4714561"/>
                <a:chExt cx="2002389" cy="1306949"/>
              </a:xfrm>
            </p:grpSpPr>
            <p:sp>
              <p:nvSpPr>
                <p:cNvPr id="8167" name="Google Shape;8167;p184"/>
                <p:cNvSpPr/>
                <p:nvPr/>
              </p:nvSpPr>
              <p:spPr>
                <a:xfrm>
                  <a:off x="2426569" y="4714561"/>
                  <a:ext cx="288261" cy="1290044"/>
                </a:xfrm>
                <a:custGeom>
                  <a:rect b="b" l="l" r="r" t="t"/>
                  <a:pathLst>
                    <a:path extrusionOk="0" h="1186" w="267">
                      <a:moveTo>
                        <a:pt x="254" y="466"/>
                      </a:moveTo>
                      <a:lnTo>
                        <a:pt x="0" y="0"/>
                      </a:lnTo>
                      <a:lnTo>
                        <a:pt x="0" y="1186"/>
                      </a:lnTo>
                      <a:lnTo>
                        <a:pt x="267" y="652"/>
                      </a:lnTo>
                      <a:lnTo>
                        <a:pt x="254" y="466"/>
                      </a:lnTo>
                      <a:close/>
                    </a:path>
                  </a:pathLst>
                </a:custGeom>
                <a:gradFill>
                  <a:gsLst>
                    <a:gs pos="0">
                      <a:srgbClr val="3333CC"/>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68" name="Google Shape;8168;p184"/>
                <p:cNvSpPr/>
                <p:nvPr/>
              </p:nvSpPr>
              <p:spPr>
                <a:xfrm>
                  <a:off x="1398616" y="4722494"/>
                  <a:ext cx="1045433" cy="127129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169" name="Google Shape;8169;p184"/>
                <p:cNvSpPr/>
                <p:nvPr/>
              </p:nvSpPr>
              <p:spPr>
                <a:xfrm>
                  <a:off x="1341249" y="4752754"/>
                  <a:ext cx="1067215" cy="1231976"/>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170" name="Google Shape;8170;p184"/>
                <p:cNvCxnSpPr/>
                <p:nvPr/>
              </p:nvCxnSpPr>
              <p:spPr>
                <a:xfrm>
                  <a:off x="1341249" y="5031313"/>
                  <a:ext cx="1059231" cy="2888"/>
                </a:xfrm>
                <a:prstGeom prst="straightConnector1">
                  <a:avLst/>
                </a:prstGeom>
                <a:noFill/>
                <a:ln cap="flat" cmpd="sng" w="19050">
                  <a:solidFill>
                    <a:srgbClr val="000000"/>
                  </a:solidFill>
                  <a:prstDash val="solid"/>
                  <a:round/>
                  <a:headEnd len="med" w="med" type="none"/>
                  <a:tailEnd len="med" w="med" type="none"/>
                </a:ln>
              </p:spPr>
            </p:cxnSp>
            <p:sp>
              <p:nvSpPr>
                <p:cNvPr id="8171" name="Google Shape;8171;p184"/>
                <p:cNvSpPr txBox="1"/>
                <p:nvPr/>
              </p:nvSpPr>
              <p:spPr>
                <a:xfrm>
                  <a:off x="1305623" y="4747333"/>
                  <a:ext cx="1104329" cy="127417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application</a:t>
                  </a:r>
                  <a:endParaRPr/>
                </a:p>
                <a:p>
                  <a:pPr indent="0" lvl="0" marL="0" marR="0" rtl="0" algn="ctr">
                    <a:lnSpc>
                      <a:spcPct val="110000"/>
                    </a:lnSpc>
                    <a:spcBef>
                      <a:spcPts val="0"/>
                    </a:spcBef>
                    <a:spcAft>
                      <a:spcPts val="0"/>
                    </a:spcAft>
                    <a:buClr>
                      <a:srgbClr val="0000A3"/>
                    </a:buClr>
                    <a:buSzPts val="1400"/>
                    <a:buFont typeface="Arial"/>
                    <a:buNone/>
                  </a:pPr>
                  <a:r>
                    <a:rPr b="1" i="0" lang="en-US" sz="1400" u="none" cap="none" strike="noStrike">
                      <a:solidFill>
                        <a:srgbClr val="0000A3"/>
                      </a:solidFill>
                      <a:latin typeface="Arial"/>
                      <a:ea typeface="Arial"/>
                      <a:cs typeface="Arial"/>
                      <a:sym typeface="Arial"/>
                    </a:rPr>
                    <a:t>TCP</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network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link</a:t>
                  </a:r>
                  <a:endParaRPr/>
                </a:p>
                <a:p>
                  <a:pPr indent="0" lvl="0" marL="0" marR="0" rtl="0" algn="ctr">
                    <a:lnSpc>
                      <a:spcPct val="110000"/>
                    </a:lnSpc>
                    <a:spcBef>
                      <a:spcPts val="0"/>
                    </a:spcBef>
                    <a:spcAft>
                      <a:spcPts val="0"/>
                    </a:spcAft>
                    <a:buClr>
                      <a:srgbClr val="BFBFBF"/>
                    </a:buClr>
                    <a:buSzPts val="1400"/>
                    <a:buFont typeface="Arial"/>
                    <a:buNone/>
                  </a:pPr>
                  <a:r>
                    <a:rPr b="0" i="0" lang="en-US" sz="1400" u="none" cap="none" strike="noStrike">
                      <a:solidFill>
                        <a:srgbClr val="BFBFBF"/>
                      </a:solidFill>
                      <a:latin typeface="Arial"/>
                      <a:ea typeface="Arial"/>
                      <a:cs typeface="Arial"/>
                      <a:sym typeface="Arial"/>
                    </a:rPr>
                    <a:t>physical</a:t>
                  </a:r>
                  <a:endParaRPr/>
                </a:p>
              </p:txBody>
            </p:sp>
            <p:grpSp>
              <p:nvGrpSpPr>
                <p:cNvPr id="8172" name="Google Shape;8172;p184"/>
                <p:cNvGrpSpPr/>
                <p:nvPr/>
              </p:nvGrpSpPr>
              <p:grpSpPr>
                <a:xfrm flipH="1">
                  <a:off x="2634682" y="5076164"/>
                  <a:ext cx="673330" cy="701684"/>
                  <a:chOff x="-44" y="1473"/>
                  <a:chExt cx="981" cy="1105"/>
                </a:xfrm>
              </p:grpSpPr>
              <p:pic>
                <p:nvPicPr>
                  <p:cNvPr descr="desktop_computer_stylized_medium" id="8173" name="Google Shape;8173;p18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174" name="Google Shape;8174;p18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175" name="Google Shape;8175;p184"/>
                <p:cNvCxnSpPr/>
                <p:nvPr/>
              </p:nvCxnSpPr>
              <p:spPr>
                <a:xfrm>
                  <a:off x="1345720" y="52602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8176" name="Google Shape;8176;p184"/>
                <p:cNvCxnSpPr/>
                <p:nvPr/>
              </p:nvCxnSpPr>
              <p:spPr>
                <a:xfrm>
                  <a:off x="1350191" y="5489113"/>
                  <a:ext cx="1059231" cy="2888"/>
                </a:xfrm>
                <a:prstGeom prst="straightConnector1">
                  <a:avLst/>
                </a:prstGeom>
                <a:noFill/>
                <a:ln cap="flat" cmpd="sng" w="19050">
                  <a:solidFill>
                    <a:srgbClr val="000000"/>
                  </a:solidFill>
                  <a:prstDash val="solid"/>
                  <a:round/>
                  <a:headEnd len="med" w="med" type="none"/>
                  <a:tailEnd len="med" w="med" type="none"/>
                </a:ln>
              </p:spPr>
            </p:cxnSp>
            <p:cxnSp>
              <p:nvCxnSpPr>
                <p:cNvPr id="8177" name="Google Shape;8177;p184"/>
                <p:cNvCxnSpPr/>
                <p:nvPr/>
              </p:nvCxnSpPr>
              <p:spPr>
                <a:xfrm>
                  <a:off x="1354662" y="5728213"/>
                  <a:ext cx="1059231" cy="2888"/>
                </a:xfrm>
                <a:prstGeom prst="straightConnector1">
                  <a:avLst/>
                </a:prstGeom>
                <a:noFill/>
                <a:ln cap="flat" cmpd="sng" w="19050">
                  <a:solidFill>
                    <a:srgbClr val="000000"/>
                  </a:solidFill>
                  <a:prstDash val="solid"/>
                  <a:round/>
                  <a:headEnd len="med" w="med" type="none"/>
                  <a:tailEnd len="med" w="med" type="none"/>
                </a:ln>
              </p:spPr>
            </p:cxnSp>
          </p:grpSp>
        </p:grpSp>
        <p:sp>
          <p:nvSpPr>
            <p:cNvPr id="8178" name="Google Shape;8178;p184"/>
            <p:cNvSpPr/>
            <p:nvPr/>
          </p:nvSpPr>
          <p:spPr>
            <a:xfrm>
              <a:off x="4581324" y="4994579"/>
              <a:ext cx="542925" cy="295275"/>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79" name="Google Shape;8179;p184"/>
            <p:cNvSpPr/>
            <p:nvPr/>
          </p:nvSpPr>
          <p:spPr>
            <a:xfrm>
              <a:off x="5622724" y="4988229"/>
              <a:ext cx="506413" cy="307975"/>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80" name="Google Shape;8180;p184"/>
            <p:cNvSpPr/>
            <p:nvPr/>
          </p:nvSpPr>
          <p:spPr>
            <a:xfrm>
              <a:off x="4557512" y="5380342"/>
              <a:ext cx="481012" cy="238125"/>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81" name="Google Shape;8181;p184"/>
            <p:cNvSpPr/>
            <p:nvPr/>
          </p:nvSpPr>
          <p:spPr>
            <a:xfrm>
              <a:off x="5505249" y="5356529"/>
              <a:ext cx="630238" cy="247650"/>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82" name="Google Shape;8182;p184"/>
            <p:cNvSpPr/>
            <p:nvPr/>
          </p:nvSpPr>
          <p:spPr>
            <a:xfrm>
              <a:off x="6173587" y="5410504"/>
              <a:ext cx="206375" cy="508000"/>
            </a:xfrm>
            <a:custGeom>
              <a:rect b="b" l="l" r="r" t="t"/>
              <a:pathLst>
                <a:path extrusionOk="0" h="500" w="118">
                  <a:moveTo>
                    <a:pt x="0" y="500"/>
                  </a:moveTo>
                  <a:lnTo>
                    <a:pt x="11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83" name="Google Shape;8183;p184"/>
            <p:cNvSpPr/>
            <p:nvPr/>
          </p:nvSpPr>
          <p:spPr>
            <a:xfrm>
              <a:off x="4936923" y="5943904"/>
              <a:ext cx="970395" cy="81756"/>
            </a:xfrm>
            <a:custGeom>
              <a:rect b="b" l="l" r="r" t="t"/>
              <a:pathLst>
                <a:path extrusionOk="0" h="32" w="370">
                  <a:moveTo>
                    <a:pt x="370" y="32"/>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84" name="Google Shape;8184;p184"/>
            <p:cNvSpPr/>
            <p:nvPr/>
          </p:nvSpPr>
          <p:spPr>
            <a:xfrm>
              <a:off x="4400349" y="5424888"/>
              <a:ext cx="193675" cy="404716"/>
            </a:xfrm>
            <a:custGeom>
              <a:rect b="b" l="l" r="r" t="t"/>
              <a:pathLst>
                <a:path extrusionOk="0" h="412" w="176">
                  <a:moveTo>
                    <a:pt x="162" y="408"/>
                  </a:moveTo>
                  <a:lnTo>
                    <a:pt x="176" y="412"/>
                  </a:ln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85" name="Google Shape;8185;p184"/>
            <p:cNvSpPr/>
            <p:nvPr/>
          </p:nvSpPr>
          <p:spPr>
            <a:xfrm>
              <a:off x="3329610" y="4423977"/>
              <a:ext cx="5073926" cy="1298611"/>
            </a:xfrm>
            <a:custGeom>
              <a:rect b="b" l="l" r="r" t="t"/>
              <a:pathLst>
                <a:path extrusionOk="0" h="1559667" w="5156094">
                  <a:moveTo>
                    <a:pt x="0" y="0"/>
                  </a:moveTo>
                  <a:cubicBezTo>
                    <a:pt x="2320" y="388965"/>
                    <a:pt x="4641" y="777929"/>
                    <a:pt x="6961" y="1166894"/>
                  </a:cubicBezTo>
                  <a:lnTo>
                    <a:pt x="1130946" y="1169234"/>
                  </a:lnTo>
                  <a:lnTo>
                    <a:pt x="1824854" y="1559667"/>
                  </a:lnTo>
                  <a:lnTo>
                    <a:pt x="2145216" y="1553959"/>
                  </a:lnTo>
                  <a:lnTo>
                    <a:pt x="2930257" y="1152811"/>
                  </a:lnTo>
                  <a:lnTo>
                    <a:pt x="5156094" y="1198456"/>
                  </a:lnTo>
                  <a:lnTo>
                    <a:pt x="5126381" y="64084"/>
                  </a:lnTo>
                </a:path>
              </a:pathLst>
            </a:custGeom>
            <a:noFill/>
            <a:ln cap="flat" cmpd="sng" w="22225">
              <a:solidFill>
                <a:srgbClr val="000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186" name="Google Shape;8186;p184"/>
            <p:cNvGrpSpPr/>
            <p:nvPr/>
          </p:nvGrpSpPr>
          <p:grpSpPr>
            <a:xfrm>
              <a:off x="5868328" y="5862061"/>
              <a:ext cx="496248" cy="260542"/>
              <a:chOff x="7493876" y="2774731"/>
              <a:chExt cx="1481958" cy="894622"/>
            </a:xfrm>
          </p:grpSpPr>
          <p:sp>
            <p:nvSpPr>
              <p:cNvPr id="8187" name="Google Shape;8187;p18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188" name="Google Shape;8188;p18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189" name="Google Shape;8189;p184"/>
              <p:cNvGrpSpPr/>
              <p:nvPr/>
            </p:nvGrpSpPr>
            <p:grpSpPr>
              <a:xfrm>
                <a:off x="7713663" y="2848339"/>
                <a:ext cx="1042107" cy="425543"/>
                <a:chOff x="7786941" y="2884917"/>
                <a:chExt cx="897649" cy="353919"/>
              </a:xfrm>
            </p:grpSpPr>
            <p:sp>
              <p:nvSpPr>
                <p:cNvPr id="8190" name="Google Shape;8190;p18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91" name="Google Shape;8191;p18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92" name="Google Shape;8192;p18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193" name="Google Shape;8193;p18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8194" name="Google Shape;8194;p184"/>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Explicit congestion notification </a:t>
            </a:r>
            <a:r>
              <a:rPr lang="en-US" sz="3600"/>
              <a:t>(ECN)</a:t>
            </a:r>
            <a:endParaRPr b="0" sz="4400"/>
          </a:p>
        </p:txBody>
      </p:sp>
      <p:sp>
        <p:nvSpPr>
          <p:cNvPr id="8195" name="Google Shape;8195;p184"/>
          <p:cNvSpPr txBox="1"/>
          <p:nvPr/>
        </p:nvSpPr>
        <p:spPr>
          <a:xfrm>
            <a:off x="719638" y="1274465"/>
            <a:ext cx="11177587" cy="2620218"/>
          </a:xfrm>
          <a:prstGeom prst="rect">
            <a:avLst/>
          </a:prstGeom>
          <a:noFill/>
          <a:ln>
            <a:noFill/>
          </a:ln>
        </p:spPr>
        <p:txBody>
          <a:bodyPr anchorCtr="0" anchor="t" bIns="45700" lIns="91425" spcFirstLastPara="1" rIns="91425" wrap="square" tIns="45700">
            <a:normAutofit/>
          </a:bodyPr>
          <a:lstStyle/>
          <a:p>
            <a:pPr indent="0" lvl="0" marL="50800"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TCP deployments often implement </a:t>
            </a:r>
            <a:r>
              <a:rPr b="0" i="1" lang="en-US" sz="2800" u="none" cap="none" strike="noStrike">
                <a:solidFill>
                  <a:srgbClr val="C00000"/>
                </a:solidFill>
                <a:latin typeface="Calibri"/>
                <a:ea typeface="Calibri"/>
                <a:cs typeface="Calibri"/>
                <a:sym typeface="Calibri"/>
              </a:rPr>
              <a:t>network-assisted </a:t>
            </a:r>
            <a:r>
              <a:rPr b="0" i="0" lang="en-US" sz="2800" u="none" cap="none" strike="noStrike">
                <a:solidFill>
                  <a:srgbClr val="000000"/>
                </a:solidFill>
                <a:latin typeface="Calibri"/>
                <a:ea typeface="Calibri"/>
                <a:cs typeface="Calibri"/>
                <a:sym typeface="Calibri"/>
              </a:rPr>
              <a:t>congestion control:</a:t>
            </a:r>
            <a:endParaRPr/>
          </a:p>
          <a:p>
            <a:pPr indent="-215900" lvl="0" marL="457200"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two bits in IP header (ToS field) marked </a:t>
            </a:r>
            <a:r>
              <a:rPr b="0" i="1" lang="en-US" sz="2400" u="none" cap="none" strike="noStrike">
                <a:solidFill>
                  <a:srgbClr val="C00000"/>
                </a:solidFill>
                <a:latin typeface="Calibri"/>
                <a:ea typeface="Calibri"/>
                <a:cs typeface="Calibri"/>
                <a:sym typeface="Calibri"/>
              </a:rPr>
              <a:t>by network router</a:t>
            </a:r>
            <a:r>
              <a:rPr b="0" i="0" lang="en-US" sz="2400" u="none" cap="none" strike="noStrike">
                <a:solidFill>
                  <a:srgbClr val="C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to indicate congestion</a:t>
            </a:r>
            <a:endParaRPr/>
          </a:p>
          <a:p>
            <a:pPr indent="-215900" lvl="1" marL="800100" marR="0" rtl="0" algn="l">
              <a:lnSpc>
                <a:spcPct val="90000"/>
              </a:lnSpc>
              <a:spcBef>
                <a:spcPts val="400"/>
              </a:spcBef>
              <a:spcAft>
                <a:spcPts val="0"/>
              </a:spcAft>
              <a:buClr>
                <a:srgbClr val="0000A3"/>
              </a:buClr>
              <a:buSzPts val="2400"/>
              <a:buFont typeface="Arial"/>
              <a:buChar char="•"/>
            </a:pPr>
            <a:r>
              <a:rPr b="0" i="1" lang="en-US" sz="2400" u="none" cap="none" strike="noStrike">
                <a:solidFill>
                  <a:srgbClr val="000000"/>
                </a:solidFill>
                <a:latin typeface="Calibri"/>
                <a:ea typeface="Calibri"/>
                <a:cs typeface="Calibri"/>
                <a:sym typeface="Calibri"/>
              </a:rPr>
              <a:t>policy </a:t>
            </a:r>
            <a:r>
              <a:rPr b="0" i="0" lang="en-US" sz="2400" u="none" cap="none" strike="noStrike">
                <a:solidFill>
                  <a:srgbClr val="000000"/>
                </a:solidFill>
                <a:latin typeface="Calibri"/>
                <a:ea typeface="Calibri"/>
                <a:cs typeface="Calibri"/>
                <a:sym typeface="Calibri"/>
              </a:rPr>
              <a:t>to determine marking chosen by network operator</a:t>
            </a:r>
            <a:endParaRPr/>
          </a:p>
          <a:p>
            <a:pPr indent="-215900" lvl="0" marL="457200"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congestion indication carried to destination</a:t>
            </a:r>
            <a:endParaRPr/>
          </a:p>
          <a:p>
            <a:pPr indent="-215900" lvl="0" marL="457200"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destination sets ECE bit on ACK segment to notify sender of congestion</a:t>
            </a:r>
            <a:endParaRPr/>
          </a:p>
          <a:p>
            <a:pPr indent="-215900" lvl="0" marL="457200" marR="0" rtl="0" algn="l">
              <a:lnSpc>
                <a:spcPct val="90000"/>
              </a:lnSpc>
              <a:spcBef>
                <a:spcPts val="4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involves both IP </a:t>
            </a:r>
            <a:r>
              <a:rPr b="0" i="0" lang="en-US" sz="2000" u="none" cap="none" strike="noStrike">
                <a:solidFill>
                  <a:srgbClr val="000000"/>
                </a:solidFill>
                <a:latin typeface="Calibri"/>
                <a:ea typeface="Calibri"/>
                <a:cs typeface="Calibri"/>
                <a:sym typeface="Calibri"/>
              </a:rPr>
              <a:t>(IP header ECN bit marking) </a:t>
            </a:r>
            <a:r>
              <a:rPr b="0" i="0" lang="en-US" sz="2400" u="none" cap="none" strike="noStrike">
                <a:solidFill>
                  <a:srgbClr val="000000"/>
                </a:solidFill>
                <a:latin typeface="Calibri"/>
                <a:ea typeface="Calibri"/>
                <a:cs typeface="Calibri"/>
                <a:sym typeface="Calibri"/>
              </a:rPr>
              <a:t>and TCP </a:t>
            </a:r>
            <a:r>
              <a:rPr b="0" i="0" lang="en-US" sz="2000" u="none" cap="none" strike="noStrike">
                <a:solidFill>
                  <a:srgbClr val="000000"/>
                </a:solidFill>
                <a:latin typeface="Calibri"/>
                <a:ea typeface="Calibri"/>
                <a:cs typeface="Calibri"/>
                <a:sym typeface="Calibri"/>
              </a:rPr>
              <a:t>(TCP header C,E bit marking)</a:t>
            </a:r>
            <a:endParaRPr b="0" i="0" sz="2400" u="none" cap="none" strike="noStrike">
              <a:solidFill>
                <a:srgbClr val="000000"/>
              </a:solidFill>
              <a:latin typeface="Calibri"/>
              <a:ea typeface="Calibri"/>
              <a:cs typeface="Calibri"/>
              <a:sym typeface="Calibri"/>
            </a:endParaRPr>
          </a:p>
        </p:txBody>
      </p:sp>
      <p:grpSp>
        <p:nvGrpSpPr>
          <p:cNvPr id="8196" name="Google Shape;8196;p184"/>
          <p:cNvGrpSpPr/>
          <p:nvPr/>
        </p:nvGrpSpPr>
        <p:grpSpPr>
          <a:xfrm>
            <a:off x="3226593" y="5686054"/>
            <a:ext cx="1493838" cy="307975"/>
            <a:chOff x="1502428" y="5844331"/>
            <a:chExt cx="1493249" cy="307777"/>
          </a:xfrm>
        </p:grpSpPr>
        <p:grpSp>
          <p:nvGrpSpPr>
            <p:cNvPr id="8197" name="Google Shape;8197;p184"/>
            <p:cNvGrpSpPr/>
            <p:nvPr/>
          </p:nvGrpSpPr>
          <p:grpSpPr>
            <a:xfrm>
              <a:off x="1502428" y="5844331"/>
              <a:ext cx="1493249" cy="307777"/>
              <a:chOff x="3621632" y="5775938"/>
              <a:chExt cx="1493249" cy="307777"/>
            </a:xfrm>
          </p:grpSpPr>
          <p:grpSp>
            <p:nvGrpSpPr>
              <p:cNvPr id="8198" name="Google Shape;8198;p184"/>
              <p:cNvGrpSpPr/>
              <p:nvPr/>
            </p:nvGrpSpPr>
            <p:grpSpPr>
              <a:xfrm>
                <a:off x="3999308" y="5783870"/>
                <a:ext cx="821517" cy="260606"/>
                <a:chOff x="-2975522" y="4129762"/>
                <a:chExt cx="1281721" cy="456281"/>
              </a:xfrm>
            </p:grpSpPr>
            <p:sp>
              <p:nvSpPr>
                <p:cNvPr id="8199" name="Google Shape;8199;p184"/>
                <p:cNvSpPr/>
                <p:nvPr/>
              </p:nvSpPr>
              <p:spPr>
                <a:xfrm>
                  <a:off x="-2903722" y="4135317"/>
                  <a:ext cx="1151258" cy="341655"/>
                </a:xfrm>
                <a:prstGeom prst="rect">
                  <a:avLst/>
                </a:prstGeom>
                <a:solidFill>
                  <a:srgbClr val="008000"/>
                </a:solidFill>
                <a:ln cap="flat" cmpd="sng" w="12700">
                  <a:solidFill>
                    <a:srgbClr val="0066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00" name="Google Shape;8200;p184"/>
                <p:cNvSpPr/>
                <p:nvPr/>
              </p:nvSpPr>
              <p:spPr>
                <a:xfrm>
                  <a:off x="-2968093" y="4221426"/>
                  <a:ext cx="1148783" cy="344432"/>
                </a:xfrm>
                <a:prstGeom prst="rect">
                  <a:avLst/>
                </a:prstGeom>
                <a:solidFill>
                  <a:srgbClr val="008000"/>
                </a:solidFill>
                <a:ln cap="flat" cmpd="sng" w="12700">
                  <a:solidFill>
                    <a:srgbClr val="0066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01" name="Google Shape;8201;p184"/>
                <p:cNvSpPr/>
                <p:nvPr/>
              </p:nvSpPr>
              <p:spPr>
                <a:xfrm>
                  <a:off x="-2975522" y="4129762"/>
                  <a:ext cx="1223057" cy="94441"/>
                </a:xfrm>
                <a:custGeom>
                  <a:rect b="b" l="l" r="r" t="t"/>
                  <a:pathLst>
                    <a:path extrusionOk="0" h="93730" w="1223105">
                      <a:moveTo>
                        <a:pt x="0" y="89042"/>
                      </a:moveTo>
                      <a:lnTo>
                        <a:pt x="70293" y="0"/>
                      </a:lnTo>
                      <a:lnTo>
                        <a:pt x="1223105" y="4687"/>
                      </a:lnTo>
                      <a:lnTo>
                        <a:pt x="1143439" y="93730"/>
                      </a:lnTo>
                      <a:lnTo>
                        <a:pt x="0" y="89042"/>
                      </a:lnTo>
                      <a:close/>
                    </a:path>
                  </a:pathLst>
                </a:custGeom>
                <a:solidFill>
                  <a:srgbClr val="329369"/>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02" name="Google Shape;8202;p184"/>
                <p:cNvSpPr/>
                <p:nvPr/>
              </p:nvSpPr>
              <p:spPr>
                <a:xfrm flipH="1" rot="10411447">
                  <a:off x="-1853972" y="4146428"/>
                  <a:ext cx="136170" cy="433318"/>
                </a:xfrm>
                <a:custGeom>
                  <a:rect b="b" l="l" r="r" t="t"/>
                  <a:pathLst>
                    <a:path extrusionOk="0" h="891908" w="136342">
                      <a:moveTo>
                        <a:pt x="36019" y="731496"/>
                      </a:moveTo>
                      <a:lnTo>
                        <a:pt x="0" y="1"/>
                      </a:lnTo>
                      <a:lnTo>
                        <a:pt x="100909" y="172120"/>
                      </a:lnTo>
                      <a:lnTo>
                        <a:pt x="136342" y="891907"/>
                      </a:lnTo>
                      <a:lnTo>
                        <a:pt x="36019" y="731496"/>
                      </a:lnTo>
                      <a:close/>
                    </a:path>
                  </a:pathLst>
                </a:custGeom>
                <a:solidFill>
                  <a:srgbClr val="329369"/>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203" name="Google Shape;8203;p184"/>
              <p:cNvSpPr txBox="1"/>
              <p:nvPr/>
            </p:nvSpPr>
            <p:spPr>
              <a:xfrm>
                <a:off x="3621632" y="5775938"/>
                <a:ext cx="1493249"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Tahoma"/>
                  <a:buNone/>
                </a:pPr>
                <a:r>
                  <a:rPr b="0" i="0" lang="en-US" sz="1400" u="none" cap="none" strike="noStrike">
                    <a:solidFill>
                      <a:srgbClr val="FFFFFF"/>
                    </a:solidFill>
                    <a:latin typeface="Tahoma"/>
                    <a:ea typeface="Tahoma"/>
                    <a:cs typeface="Tahoma"/>
                    <a:sym typeface="Tahoma"/>
                  </a:rPr>
                  <a:t>ECN=10</a:t>
                </a:r>
                <a:endParaRPr/>
              </a:p>
            </p:txBody>
          </p:sp>
        </p:grpSp>
        <p:cxnSp>
          <p:nvCxnSpPr>
            <p:cNvPr id="8204" name="Google Shape;8204;p184"/>
            <p:cNvCxnSpPr/>
            <p:nvPr/>
          </p:nvCxnSpPr>
          <p:spPr>
            <a:xfrm flipH="1" rot="10800000">
              <a:off x="2150568" y="6133267"/>
              <a:ext cx="612066" cy="1"/>
            </a:xfrm>
            <a:prstGeom prst="straightConnector1">
              <a:avLst/>
            </a:prstGeom>
            <a:noFill/>
            <a:ln cap="flat" cmpd="sng" w="9525">
              <a:solidFill>
                <a:srgbClr val="008000"/>
              </a:solidFill>
              <a:prstDash val="solid"/>
              <a:round/>
              <a:headEnd len="med" w="med" type="none"/>
              <a:tailEnd len="med" w="med" type="triangle"/>
            </a:ln>
          </p:spPr>
        </p:cxnSp>
      </p:grpSp>
      <p:grpSp>
        <p:nvGrpSpPr>
          <p:cNvPr id="8205" name="Google Shape;8205;p184"/>
          <p:cNvGrpSpPr/>
          <p:nvPr/>
        </p:nvGrpSpPr>
        <p:grpSpPr>
          <a:xfrm>
            <a:off x="5345906" y="5617791"/>
            <a:ext cx="1493837" cy="358775"/>
            <a:chOff x="3621632" y="5775938"/>
            <a:chExt cx="1493249" cy="357723"/>
          </a:xfrm>
        </p:grpSpPr>
        <p:grpSp>
          <p:nvGrpSpPr>
            <p:cNvPr id="8206" name="Google Shape;8206;p184"/>
            <p:cNvGrpSpPr/>
            <p:nvPr/>
          </p:nvGrpSpPr>
          <p:grpSpPr>
            <a:xfrm>
              <a:off x="3621632" y="5775938"/>
              <a:ext cx="1493249" cy="307777"/>
              <a:chOff x="3621632" y="5775938"/>
              <a:chExt cx="1493249" cy="307777"/>
            </a:xfrm>
          </p:grpSpPr>
          <p:grpSp>
            <p:nvGrpSpPr>
              <p:cNvPr id="8207" name="Google Shape;8207;p184"/>
              <p:cNvGrpSpPr/>
              <p:nvPr/>
            </p:nvGrpSpPr>
            <p:grpSpPr>
              <a:xfrm>
                <a:off x="3999308" y="5783852"/>
                <a:ext cx="821480" cy="260019"/>
                <a:chOff x="-2975522" y="4129732"/>
                <a:chExt cx="1281665" cy="455254"/>
              </a:xfrm>
            </p:grpSpPr>
            <p:sp>
              <p:nvSpPr>
                <p:cNvPr id="8208" name="Google Shape;8208;p184"/>
                <p:cNvSpPr/>
                <p:nvPr/>
              </p:nvSpPr>
              <p:spPr>
                <a:xfrm>
                  <a:off x="-2903723" y="4135274"/>
                  <a:ext cx="1151259" cy="340871"/>
                </a:xfrm>
                <a:prstGeom prst="rect">
                  <a:avLst/>
                </a:prstGeom>
                <a:solidFill>
                  <a:srgbClr val="008000"/>
                </a:solidFill>
                <a:ln cap="flat" cmpd="sng" w="12700">
                  <a:solidFill>
                    <a:srgbClr val="0066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09" name="Google Shape;8209;p184"/>
                <p:cNvSpPr/>
                <p:nvPr/>
              </p:nvSpPr>
              <p:spPr>
                <a:xfrm>
                  <a:off x="-2968095" y="4221184"/>
                  <a:ext cx="1148783" cy="343644"/>
                </a:xfrm>
                <a:prstGeom prst="rect">
                  <a:avLst/>
                </a:prstGeom>
                <a:solidFill>
                  <a:srgbClr val="008000"/>
                </a:solidFill>
                <a:ln cap="flat" cmpd="sng" w="12700">
                  <a:solidFill>
                    <a:srgbClr val="0066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10" name="Google Shape;8210;p184"/>
                <p:cNvSpPr/>
                <p:nvPr/>
              </p:nvSpPr>
              <p:spPr>
                <a:xfrm>
                  <a:off x="-2975522" y="4129732"/>
                  <a:ext cx="1223057" cy="94225"/>
                </a:xfrm>
                <a:custGeom>
                  <a:rect b="b" l="l" r="r" t="t"/>
                  <a:pathLst>
                    <a:path extrusionOk="0" h="93730" w="1223105">
                      <a:moveTo>
                        <a:pt x="0" y="89042"/>
                      </a:moveTo>
                      <a:lnTo>
                        <a:pt x="70293" y="0"/>
                      </a:lnTo>
                      <a:lnTo>
                        <a:pt x="1223105" y="4687"/>
                      </a:lnTo>
                      <a:lnTo>
                        <a:pt x="1143439" y="93730"/>
                      </a:lnTo>
                      <a:lnTo>
                        <a:pt x="0" y="89042"/>
                      </a:lnTo>
                      <a:close/>
                    </a:path>
                  </a:pathLst>
                </a:custGeom>
                <a:solidFill>
                  <a:srgbClr val="329369"/>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11" name="Google Shape;8211;p184"/>
                <p:cNvSpPr/>
                <p:nvPr/>
              </p:nvSpPr>
              <p:spPr>
                <a:xfrm flipH="1" rot="10411447">
                  <a:off x="-1853974" y="4146360"/>
                  <a:ext cx="136171" cy="432326"/>
                </a:xfrm>
                <a:custGeom>
                  <a:rect b="b" l="l" r="r" t="t"/>
                  <a:pathLst>
                    <a:path extrusionOk="0" h="891908" w="136342">
                      <a:moveTo>
                        <a:pt x="36019" y="731496"/>
                      </a:moveTo>
                      <a:lnTo>
                        <a:pt x="0" y="1"/>
                      </a:lnTo>
                      <a:lnTo>
                        <a:pt x="100909" y="172120"/>
                      </a:lnTo>
                      <a:lnTo>
                        <a:pt x="136342" y="891907"/>
                      </a:lnTo>
                      <a:lnTo>
                        <a:pt x="36019" y="731496"/>
                      </a:lnTo>
                      <a:close/>
                    </a:path>
                  </a:pathLst>
                </a:custGeom>
                <a:solidFill>
                  <a:srgbClr val="329369"/>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212" name="Google Shape;8212;p184"/>
              <p:cNvSpPr txBox="1"/>
              <p:nvPr/>
            </p:nvSpPr>
            <p:spPr>
              <a:xfrm>
                <a:off x="3621632" y="5775938"/>
                <a:ext cx="1493249"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Tahoma"/>
                  <a:buNone/>
                </a:pPr>
                <a:r>
                  <a:rPr b="0" i="0" lang="en-US" sz="1400" u="none" cap="none" strike="noStrike">
                    <a:solidFill>
                      <a:srgbClr val="FFFFFF"/>
                    </a:solidFill>
                    <a:latin typeface="Tahoma"/>
                    <a:ea typeface="Tahoma"/>
                    <a:cs typeface="Tahoma"/>
                    <a:sym typeface="Tahoma"/>
                  </a:rPr>
                  <a:t>ECN=</a:t>
                </a:r>
                <a:r>
                  <a:rPr b="0" i="0" lang="en-US" sz="1400" u="none" cap="none" strike="noStrike">
                    <a:solidFill>
                      <a:srgbClr val="FF0000"/>
                    </a:solidFill>
                    <a:latin typeface="Tahoma"/>
                    <a:ea typeface="Tahoma"/>
                    <a:cs typeface="Tahoma"/>
                    <a:sym typeface="Tahoma"/>
                  </a:rPr>
                  <a:t>11</a:t>
                </a:r>
                <a:endParaRPr/>
              </a:p>
            </p:txBody>
          </p:sp>
        </p:grpSp>
        <p:cxnSp>
          <p:nvCxnSpPr>
            <p:cNvPr id="8213" name="Google Shape;8213;p184"/>
            <p:cNvCxnSpPr/>
            <p:nvPr/>
          </p:nvCxnSpPr>
          <p:spPr>
            <a:xfrm flipH="1" rot="10800000">
              <a:off x="4483694" y="5949896"/>
              <a:ext cx="457353" cy="183765"/>
            </a:xfrm>
            <a:prstGeom prst="straightConnector1">
              <a:avLst/>
            </a:prstGeom>
            <a:noFill/>
            <a:ln cap="flat" cmpd="sng" w="9525">
              <a:solidFill>
                <a:srgbClr val="008000"/>
              </a:solidFill>
              <a:prstDash val="solid"/>
              <a:round/>
              <a:headEnd len="med" w="med" type="none"/>
              <a:tailEnd len="med" w="med" type="triangle"/>
            </a:ln>
          </p:spPr>
        </p:cxnSp>
      </p:grpSp>
      <p:grpSp>
        <p:nvGrpSpPr>
          <p:cNvPr id="8214" name="Google Shape;8214;p184"/>
          <p:cNvGrpSpPr/>
          <p:nvPr/>
        </p:nvGrpSpPr>
        <p:grpSpPr>
          <a:xfrm>
            <a:off x="4058443" y="4376366"/>
            <a:ext cx="3983038" cy="379413"/>
            <a:chOff x="2334273" y="4534486"/>
            <a:chExt cx="3981995" cy="378689"/>
          </a:xfrm>
        </p:grpSpPr>
        <p:grpSp>
          <p:nvGrpSpPr>
            <p:cNvPr id="8215" name="Google Shape;8215;p184"/>
            <p:cNvGrpSpPr/>
            <p:nvPr/>
          </p:nvGrpSpPr>
          <p:grpSpPr>
            <a:xfrm>
              <a:off x="3508876" y="4534486"/>
              <a:ext cx="1493249" cy="307777"/>
              <a:chOff x="3508876" y="4414358"/>
              <a:chExt cx="1493249" cy="307777"/>
            </a:xfrm>
          </p:grpSpPr>
          <p:sp>
            <p:nvSpPr>
              <p:cNvPr id="8216" name="Google Shape;8216;p184"/>
              <p:cNvSpPr/>
              <p:nvPr/>
            </p:nvSpPr>
            <p:spPr>
              <a:xfrm>
                <a:off x="3907074" y="4428619"/>
                <a:ext cx="736407" cy="194890"/>
              </a:xfrm>
              <a:prstGeom prst="rect">
                <a:avLst/>
              </a:prstGeom>
              <a:solidFill>
                <a:srgbClr val="008000"/>
              </a:solidFill>
              <a:ln cap="flat" cmpd="sng" w="12700">
                <a:solidFill>
                  <a:srgbClr val="0066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17" name="Google Shape;8217;p184"/>
              <p:cNvSpPr/>
              <p:nvPr/>
            </p:nvSpPr>
            <p:spPr>
              <a:xfrm>
                <a:off x="3863891" y="4478563"/>
                <a:ext cx="737073" cy="196032"/>
              </a:xfrm>
              <a:prstGeom prst="rect">
                <a:avLst/>
              </a:prstGeom>
              <a:solidFill>
                <a:srgbClr val="0000FF"/>
              </a:solidFill>
              <a:ln cap="flat" cmpd="sng" w="12700">
                <a:solidFill>
                  <a:srgbClr val="00009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218" name="Google Shape;8218;p184"/>
              <p:cNvSpPr/>
              <p:nvPr/>
            </p:nvSpPr>
            <p:spPr>
              <a:xfrm>
                <a:off x="3859775" y="4425511"/>
                <a:ext cx="783947" cy="53534"/>
              </a:xfrm>
              <a:custGeom>
                <a:rect b="b" l="l" r="r" t="t"/>
                <a:pathLst>
                  <a:path extrusionOk="0" h="93730" w="1223105">
                    <a:moveTo>
                      <a:pt x="0" y="89042"/>
                    </a:moveTo>
                    <a:lnTo>
                      <a:pt x="70293" y="0"/>
                    </a:lnTo>
                    <a:lnTo>
                      <a:pt x="1223105" y="4687"/>
                    </a:lnTo>
                    <a:lnTo>
                      <a:pt x="1143439" y="93730"/>
                    </a:lnTo>
                    <a:lnTo>
                      <a:pt x="0" y="89042"/>
                    </a:lnTo>
                    <a:close/>
                  </a:path>
                </a:pathLst>
              </a:custGeom>
              <a:solidFill>
                <a:srgbClr val="3366FF"/>
              </a:solidFill>
              <a:ln cap="flat" cmpd="sng" w="9525">
                <a:solidFill>
                  <a:srgbClr val="000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19" name="Google Shape;8219;p184"/>
              <p:cNvSpPr/>
              <p:nvPr/>
            </p:nvSpPr>
            <p:spPr>
              <a:xfrm flipH="1" rot="10411447">
                <a:off x="4579084" y="4434448"/>
                <a:ext cx="87388" cy="248479"/>
              </a:xfrm>
              <a:custGeom>
                <a:rect b="b" l="l" r="r" t="t"/>
                <a:pathLst>
                  <a:path extrusionOk="0" h="891908" w="136342">
                    <a:moveTo>
                      <a:pt x="36019" y="731496"/>
                    </a:moveTo>
                    <a:lnTo>
                      <a:pt x="0" y="1"/>
                    </a:lnTo>
                    <a:lnTo>
                      <a:pt x="100909" y="172120"/>
                    </a:lnTo>
                    <a:lnTo>
                      <a:pt x="136342" y="891907"/>
                    </a:lnTo>
                    <a:lnTo>
                      <a:pt x="36019" y="731496"/>
                    </a:lnTo>
                    <a:close/>
                  </a:path>
                </a:pathLst>
              </a:custGeom>
              <a:solidFill>
                <a:srgbClr val="3366FF"/>
              </a:solidFill>
              <a:ln cap="flat" cmpd="sng" w="9525">
                <a:solidFill>
                  <a:srgbClr val="000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20" name="Google Shape;8220;p184"/>
              <p:cNvSpPr txBox="1"/>
              <p:nvPr/>
            </p:nvSpPr>
            <p:spPr>
              <a:xfrm>
                <a:off x="3508876" y="4414358"/>
                <a:ext cx="1493249"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Tahoma"/>
                  <a:buNone/>
                </a:pPr>
                <a:r>
                  <a:rPr b="0" i="0" lang="en-US" sz="1400" u="none" cap="none" strike="noStrike">
                    <a:solidFill>
                      <a:srgbClr val="FFFFFF"/>
                    </a:solidFill>
                    <a:latin typeface="Tahoma"/>
                    <a:ea typeface="Tahoma"/>
                    <a:cs typeface="Tahoma"/>
                    <a:sym typeface="Tahoma"/>
                  </a:rPr>
                  <a:t>ECE=</a:t>
                </a:r>
                <a:r>
                  <a:rPr b="0" i="0" lang="en-US" sz="1400" u="none" cap="none" strike="noStrike">
                    <a:solidFill>
                      <a:srgbClr val="FF0000"/>
                    </a:solidFill>
                    <a:latin typeface="Tahoma"/>
                    <a:ea typeface="Tahoma"/>
                    <a:cs typeface="Tahoma"/>
                    <a:sym typeface="Tahoma"/>
                  </a:rPr>
                  <a:t>1</a:t>
                </a:r>
                <a:endParaRPr/>
              </a:p>
            </p:txBody>
          </p:sp>
        </p:grpSp>
        <p:cxnSp>
          <p:nvCxnSpPr>
            <p:cNvPr id="8221" name="Google Shape;8221;p184"/>
            <p:cNvCxnSpPr/>
            <p:nvPr/>
          </p:nvCxnSpPr>
          <p:spPr>
            <a:xfrm rot="10800000">
              <a:off x="3801047" y="4905427"/>
              <a:ext cx="697737" cy="7748"/>
            </a:xfrm>
            <a:prstGeom prst="straightConnector1">
              <a:avLst/>
            </a:prstGeom>
            <a:noFill/>
            <a:ln cap="flat" cmpd="sng" w="9525">
              <a:solidFill>
                <a:srgbClr val="0000FF"/>
              </a:solidFill>
              <a:prstDash val="solid"/>
              <a:round/>
              <a:headEnd len="med" w="med" type="none"/>
              <a:tailEnd len="med" w="med" type="triangle"/>
            </a:ln>
          </p:spPr>
        </p:cxnSp>
        <p:cxnSp>
          <p:nvCxnSpPr>
            <p:cNvPr id="8222" name="Google Shape;8222;p184"/>
            <p:cNvCxnSpPr/>
            <p:nvPr/>
          </p:nvCxnSpPr>
          <p:spPr>
            <a:xfrm rot="10800000">
              <a:off x="2334273" y="4839428"/>
              <a:ext cx="3981995" cy="0"/>
            </a:xfrm>
            <a:prstGeom prst="straightConnector1">
              <a:avLst/>
            </a:prstGeom>
            <a:noFill/>
            <a:ln cap="flat" cmpd="sng" w="12700">
              <a:solidFill>
                <a:srgbClr val="0000FF"/>
              </a:solidFill>
              <a:prstDash val="solid"/>
              <a:round/>
              <a:headEnd len="med" w="med" type="none"/>
              <a:tailEnd len="med" w="med" type="triangle"/>
            </a:ln>
          </p:spPr>
        </p:cxnSp>
      </p:grpSp>
      <p:grpSp>
        <p:nvGrpSpPr>
          <p:cNvPr id="8223" name="Google Shape;8223;p184"/>
          <p:cNvGrpSpPr/>
          <p:nvPr/>
        </p:nvGrpSpPr>
        <p:grpSpPr>
          <a:xfrm>
            <a:off x="2626518" y="6003554"/>
            <a:ext cx="1160463" cy="461962"/>
            <a:chOff x="902416" y="6160831"/>
            <a:chExt cx="1160369" cy="462226"/>
          </a:xfrm>
        </p:grpSpPr>
        <p:sp>
          <p:nvSpPr>
            <p:cNvPr id="8224" name="Google Shape;8224;p184"/>
            <p:cNvSpPr txBox="1"/>
            <p:nvPr/>
          </p:nvSpPr>
          <p:spPr>
            <a:xfrm>
              <a:off x="902416" y="6315280"/>
              <a:ext cx="1160369"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IP datagram</a:t>
              </a:r>
              <a:endParaRPr/>
            </a:p>
          </p:txBody>
        </p:sp>
        <p:cxnSp>
          <p:nvCxnSpPr>
            <p:cNvPr id="8225" name="Google Shape;8225;p184"/>
            <p:cNvCxnSpPr/>
            <p:nvPr/>
          </p:nvCxnSpPr>
          <p:spPr>
            <a:xfrm flipH="1">
              <a:off x="1785033" y="6160831"/>
              <a:ext cx="274620" cy="240255"/>
            </a:xfrm>
            <a:prstGeom prst="straightConnector1">
              <a:avLst/>
            </a:prstGeom>
            <a:noFill/>
            <a:ln cap="flat" cmpd="sng" w="9525">
              <a:solidFill>
                <a:srgbClr val="000000"/>
              </a:solidFill>
              <a:prstDash val="solid"/>
              <a:round/>
              <a:headEnd len="med" w="med" type="none"/>
              <a:tailEnd len="med" w="med" type="none"/>
            </a:ln>
          </p:spPr>
        </p:cxnSp>
      </p:grpSp>
      <p:grpSp>
        <p:nvGrpSpPr>
          <p:cNvPr id="8226" name="Google Shape;8226;p184"/>
          <p:cNvGrpSpPr/>
          <p:nvPr/>
        </p:nvGrpSpPr>
        <p:grpSpPr>
          <a:xfrm>
            <a:off x="6257131" y="3838204"/>
            <a:ext cx="1620837" cy="515937"/>
            <a:chOff x="4531899" y="3996483"/>
            <a:chExt cx="1620957" cy="514832"/>
          </a:xfrm>
        </p:grpSpPr>
        <p:sp>
          <p:nvSpPr>
            <p:cNvPr id="8227" name="Google Shape;8227;p184"/>
            <p:cNvSpPr txBox="1"/>
            <p:nvPr/>
          </p:nvSpPr>
          <p:spPr>
            <a:xfrm>
              <a:off x="4531899" y="3996483"/>
              <a:ext cx="1620957"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TCP ACK segment</a:t>
              </a:r>
              <a:endParaRPr/>
            </a:p>
          </p:txBody>
        </p:sp>
        <p:cxnSp>
          <p:nvCxnSpPr>
            <p:cNvPr id="8228" name="Google Shape;8228;p184"/>
            <p:cNvCxnSpPr/>
            <p:nvPr/>
          </p:nvCxnSpPr>
          <p:spPr>
            <a:xfrm flipH="1">
              <a:off x="4632144" y="4271060"/>
              <a:ext cx="274620" cy="240255"/>
            </a:xfrm>
            <a:prstGeom prst="straightConnector1">
              <a:avLst/>
            </a:prstGeom>
            <a:noFill/>
            <a:ln cap="flat" cmpd="sng" w="9525">
              <a:solidFill>
                <a:srgbClr val="000000"/>
              </a:solidFill>
              <a:prstDash val="solid"/>
              <a:round/>
              <a:headEnd len="med" w="med" type="none"/>
              <a:tailEnd len="med" w="med" type="none"/>
            </a:ln>
          </p:spPr>
        </p:cxnSp>
      </p:grpSp>
      <p:sp>
        <p:nvSpPr>
          <p:cNvPr id="8229" name="Google Shape;8229;p18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96"/>
                                        </p:tgtEl>
                                        <p:attrNameLst>
                                          <p:attrName>style.visibility</p:attrName>
                                        </p:attrNameLst>
                                      </p:cBhvr>
                                      <p:to>
                                        <p:strVal val="visible"/>
                                      </p:to>
                                    </p:set>
                                    <p:animEffect filter="fade" transition="in">
                                      <p:cBhvr>
                                        <p:cTn dur="500"/>
                                        <p:tgtEl>
                                          <p:spTgt spid="819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223"/>
                                        </p:tgtEl>
                                        <p:attrNameLst>
                                          <p:attrName>style.visibility</p:attrName>
                                        </p:attrNameLst>
                                      </p:cBhvr>
                                      <p:to>
                                        <p:strVal val="visible"/>
                                      </p:to>
                                    </p:set>
                                    <p:animEffect filter="fade" transition="in">
                                      <p:cBhvr>
                                        <p:cTn dur="500"/>
                                        <p:tgtEl>
                                          <p:spTgt spid="822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205"/>
                                        </p:tgtEl>
                                        <p:attrNameLst>
                                          <p:attrName>style.visibility</p:attrName>
                                        </p:attrNameLst>
                                      </p:cBhvr>
                                      <p:to>
                                        <p:strVal val="visible"/>
                                      </p:to>
                                    </p:set>
                                    <p:animEffect filter="fade" transition="in">
                                      <p:cBhvr>
                                        <p:cTn dur="500"/>
                                        <p:tgtEl>
                                          <p:spTgt spid="820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8214"/>
                                        </p:tgtEl>
                                        <p:attrNameLst>
                                          <p:attrName>style.visibility</p:attrName>
                                        </p:attrNameLst>
                                      </p:cBhvr>
                                      <p:to>
                                        <p:strVal val="visible"/>
                                      </p:to>
                                    </p:set>
                                    <p:animEffect filter="fade" transition="in">
                                      <p:cBhvr>
                                        <p:cTn dur="500"/>
                                        <p:tgtEl>
                                          <p:spTgt spid="8214"/>
                                        </p:tgtEl>
                                      </p:cBhvr>
                                    </p:animEffect>
                                  </p:childTnLst>
                                </p:cTn>
                              </p:par>
                              <p:par>
                                <p:cTn fill="hold" nodeType="withEffect" presetClass="entr" presetID="10" presetSubtype="0">
                                  <p:stCondLst>
                                    <p:cond delay="0"/>
                                  </p:stCondLst>
                                  <p:childTnLst>
                                    <p:set>
                                      <p:cBhvr>
                                        <p:cTn dur="1" fill="hold">
                                          <p:stCondLst>
                                            <p:cond delay="0"/>
                                          </p:stCondLst>
                                        </p:cTn>
                                        <p:tgtEl>
                                          <p:spTgt spid="8226"/>
                                        </p:tgtEl>
                                        <p:attrNameLst>
                                          <p:attrName>style.visibility</p:attrName>
                                        </p:attrNameLst>
                                      </p:cBhvr>
                                      <p:to>
                                        <p:strVal val="visible"/>
                                      </p:to>
                                    </p:set>
                                    <p:animEffect filter="fade" transition="in">
                                      <p:cBhvr>
                                        <p:cTn dur="500"/>
                                        <p:tgtEl>
                                          <p:spTgt spid="82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4" name="Shape 8234"/>
        <p:cNvGrpSpPr/>
        <p:nvPr/>
      </p:nvGrpSpPr>
      <p:grpSpPr>
        <a:xfrm>
          <a:off x="0" y="0"/>
          <a:ext cx="0" cy="0"/>
          <a:chOff x="0" y="0"/>
          <a:chExt cx="0" cy="0"/>
        </a:xfrm>
      </p:grpSpPr>
      <p:grpSp>
        <p:nvGrpSpPr>
          <p:cNvPr id="8235" name="Google Shape;8235;p185"/>
          <p:cNvGrpSpPr/>
          <p:nvPr/>
        </p:nvGrpSpPr>
        <p:grpSpPr>
          <a:xfrm>
            <a:off x="7593761" y="3434252"/>
            <a:ext cx="1100814" cy="719137"/>
            <a:chOff x="7493876" y="2774731"/>
            <a:chExt cx="1481958" cy="894622"/>
          </a:xfrm>
        </p:grpSpPr>
        <p:sp>
          <p:nvSpPr>
            <p:cNvPr id="8236" name="Google Shape;8236;p18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237" name="Google Shape;8237;p18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238" name="Google Shape;8238;p185"/>
            <p:cNvGrpSpPr/>
            <p:nvPr/>
          </p:nvGrpSpPr>
          <p:grpSpPr>
            <a:xfrm>
              <a:off x="7713663" y="2848339"/>
              <a:ext cx="1042107" cy="425543"/>
              <a:chOff x="7786941" y="2884917"/>
              <a:chExt cx="897649" cy="353919"/>
            </a:xfrm>
          </p:grpSpPr>
          <p:sp>
            <p:nvSpPr>
              <p:cNvPr id="8239" name="Google Shape;8239;p18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40" name="Google Shape;8240;p18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41" name="Google Shape;8241;p18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42" name="Google Shape;8242;p18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8243" name="Google Shape;8243;p185"/>
          <p:cNvGrpSpPr/>
          <p:nvPr/>
        </p:nvGrpSpPr>
        <p:grpSpPr>
          <a:xfrm>
            <a:off x="5720127" y="3438633"/>
            <a:ext cx="1100814" cy="719137"/>
            <a:chOff x="7493876" y="2774731"/>
            <a:chExt cx="1481958" cy="894622"/>
          </a:xfrm>
        </p:grpSpPr>
        <p:sp>
          <p:nvSpPr>
            <p:cNvPr id="8244" name="Google Shape;8244;p18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8245" name="Google Shape;8245;p18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8246" name="Google Shape;8246;p185"/>
            <p:cNvGrpSpPr/>
            <p:nvPr/>
          </p:nvGrpSpPr>
          <p:grpSpPr>
            <a:xfrm>
              <a:off x="7713663" y="2848339"/>
              <a:ext cx="1042107" cy="425543"/>
              <a:chOff x="7786941" y="2884917"/>
              <a:chExt cx="897649" cy="353919"/>
            </a:xfrm>
          </p:grpSpPr>
          <p:sp>
            <p:nvSpPr>
              <p:cNvPr id="8247" name="Google Shape;8247;p18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48" name="Google Shape;8248;p18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49" name="Google Shape;8249;p18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50" name="Google Shape;8250;p18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8251" name="Google Shape;8251;p185"/>
          <p:cNvSpPr txBox="1"/>
          <p:nvPr>
            <p:ph type="title"/>
          </p:nvPr>
        </p:nvSpPr>
        <p:spPr>
          <a:xfrm>
            <a:off x="798719" y="271755"/>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fairness</a:t>
            </a:r>
            <a:endParaRPr b="0" sz="4400"/>
          </a:p>
        </p:txBody>
      </p:sp>
      <p:sp>
        <p:nvSpPr>
          <p:cNvPr id="8252" name="Google Shape;8252;p185"/>
          <p:cNvSpPr txBox="1"/>
          <p:nvPr/>
        </p:nvSpPr>
        <p:spPr>
          <a:xfrm>
            <a:off x="876300" y="1271325"/>
            <a:ext cx="10174288" cy="1089025"/>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Fairness goal:</a:t>
            </a:r>
            <a:r>
              <a:rPr b="0" i="0" lang="en-US" sz="3200" u="none" cap="none" strike="noStrike">
                <a:solidFill>
                  <a:srgbClr val="000000"/>
                </a:solidFill>
                <a:latin typeface="Calibri"/>
                <a:ea typeface="Calibri"/>
                <a:cs typeface="Calibri"/>
                <a:sym typeface="Calibri"/>
              </a:rPr>
              <a:t> if</a:t>
            </a:r>
            <a:r>
              <a:rPr b="0" i="1" lang="en-US" sz="3200" u="none" cap="none" strike="noStrike">
                <a:solidFill>
                  <a:srgbClr val="000000"/>
                </a:solidFill>
                <a:latin typeface="Calibri"/>
                <a:ea typeface="Calibri"/>
                <a:cs typeface="Calibri"/>
                <a:sym typeface="Calibri"/>
              </a:rPr>
              <a:t> K </a:t>
            </a:r>
            <a:r>
              <a:rPr b="0" i="0" lang="en-US" sz="3200" u="none" cap="none" strike="noStrike">
                <a:solidFill>
                  <a:srgbClr val="000000"/>
                </a:solidFill>
                <a:latin typeface="Calibri"/>
                <a:ea typeface="Calibri"/>
                <a:cs typeface="Calibri"/>
                <a:sym typeface="Calibri"/>
              </a:rPr>
              <a:t>TCP sessions share same bottleneck link of bandwidth </a:t>
            </a:r>
            <a:r>
              <a:rPr b="0" i="1" lang="en-US" sz="3200" u="none" cap="none" strike="noStrike">
                <a:solidFill>
                  <a:srgbClr val="000000"/>
                </a:solidFill>
                <a:latin typeface="Calibri"/>
                <a:ea typeface="Calibri"/>
                <a:cs typeface="Calibri"/>
                <a:sym typeface="Calibri"/>
              </a:rPr>
              <a:t>R</a:t>
            </a:r>
            <a:r>
              <a:rPr b="0" i="0" lang="en-US" sz="3200" u="none" cap="none" strike="noStrike">
                <a:solidFill>
                  <a:srgbClr val="000000"/>
                </a:solidFill>
                <a:latin typeface="Calibri"/>
                <a:ea typeface="Calibri"/>
                <a:cs typeface="Calibri"/>
                <a:sym typeface="Calibri"/>
              </a:rPr>
              <a:t>, each should have average rate of </a:t>
            </a:r>
            <a:r>
              <a:rPr b="0" i="1" lang="en-US" sz="3200" u="none" cap="none" strike="noStrike">
                <a:solidFill>
                  <a:srgbClr val="000000"/>
                </a:solidFill>
                <a:latin typeface="Calibri"/>
                <a:ea typeface="Calibri"/>
                <a:cs typeface="Calibri"/>
                <a:sym typeface="Calibri"/>
              </a:rPr>
              <a:t>R/K</a:t>
            </a:r>
            <a:endParaRPr/>
          </a:p>
        </p:txBody>
      </p:sp>
      <p:cxnSp>
        <p:nvCxnSpPr>
          <p:cNvPr id="8253" name="Google Shape;8253;p185"/>
          <p:cNvCxnSpPr/>
          <p:nvPr/>
        </p:nvCxnSpPr>
        <p:spPr>
          <a:xfrm flipH="1" rot="10800000">
            <a:off x="6816123" y="3752849"/>
            <a:ext cx="819151" cy="8919"/>
          </a:xfrm>
          <a:prstGeom prst="straightConnector1">
            <a:avLst/>
          </a:prstGeom>
          <a:noFill/>
          <a:ln cap="flat" cmpd="sng" w="28575">
            <a:solidFill>
              <a:srgbClr val="000000"/>
            </a:solidFill>
            <a:prstDash val="solid"/>
            <a:round/>
            <a:headEnd len="med" w="med" type="none"/>
            <a:tailEnd len="med" w="med" type="none"/>
          </a:ln>
        </p:spPr>
      </p:cxnSp>
      <p:sp>
        <p:nvSpPr>
          <p:cNvPr id="8254" name="Google Shape;8254;p185"/>
          <p:cNvSpPr/>
          <p:nvPr/>
        </p:nvSpPr>
        <p:spPr>
          <a:xfrm>
            <a:off x="6986588" y="3552825"/>
            <a:ext cx="147637" cy="200025"/>
          </a:xfrm>
          <a:prstGeom prst="rect">
            <a:avLst/>
          </a:prstGeom>
          <a:solidFill>
            <a:srgbClr val="0099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255" name="Google Shape;8255;p185"/>
          <p:cNvSpPr/>
          <p:nvPr/>
        </p:nvSpPr>
        <p:spPr>
          <a:xfrm>
            <a:off x="6296025" y="3614738"/>
            <a:ext cx="147638" cy="200025"/>
          </a:xfrm>
          <a:prstGeom prst="rect">
            <a:avLst/>
          </a:prstGeom>
          <a:solidFill>
            <a:srgbClr val="0099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256" name="Google Shape;8256;p185"/>
          <p:cNvSpPr/>
          <p:nvPr/>
        </p:nvSpPr>
        <p:spPr>
          <a:xfrm>
            <a:off x="6586538" y="3552825"/>
            <a:ext cx="147637" cy="200025"/>
          </a:xfrm>
          <a:prstGeom prst="rect">
            <a:avLst/>
          </a:prstGeom>
          <a:solidFill>
            <a:srgbClr val="0099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257" name="Google Shape;8257;p185"/>
          <p:cNvSpPr txBox="1"/>
          <p:nvPr/>
        </p:nvSpPr>
        <p:spPr>
          <a:xfrm>
            <a:off x="2370566" y="2468215"/>
            <a:ext cx="233826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connection 1</a:t>
            </a:r>
            <a:endParaRPr/>
          </a:p>
        </p:txBody>
      </p:sp>
      <p:sp>
        <p:nvSpPr>
          <p:cNvPr id="8258" name="Google Shape;8258;p185"/>
          <p:cNvSpPr txBox="1"/>
          <p:nvPr/>
        </p:nvSpPr>
        <p:spPr>
          <a:xfrm>
            <a:off x="5510979" y="4275418"/>
            <a:ext cx="1518813" cy="108952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bottleneck</a:t>
            </a:r>
            <a:endParaRPr/>
          </a:p>
          <a:p>
            <a:pPr indent="0" lvl="0" marL="0" marR="0" rtl="0" algn="ct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router</a:t>
            </a:r>
            <a:endParaRPr/>
          </a:p>
          <a:p>
            <a:pPr indent="0" lvl="0" marL="0" marR="0" rtl="0" algn="ct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capacity R</a:t>
            </a:r>
            <a:endParaRPr/>
          </a:p>
        </p:txBody>
      </p:sp>
      <p:sp>
        <p:nvSpPr>
          <p:cNvPr id="8259" name="Google Shape;8259;p185"/>
          <p:cNvSpPr/>
          <p:nvPr/>
        </p:nvSpPr>
        <p:spPr>
          <a:xfrm>
            <a:off x="4765675" y="2967952"/>
            <a:ext cx="4227323" cy="719138"/>
          </a:xfrm>
          <a:custGeom>
            <a:rect b="b" l="l" r="r" t="t"/>
            <a:pathLst>
              <a:path extrusionOk="0" h="453" w="2412">
                <a:moveTo>
                  <a:pt x="0" y="0"/>
                </a:moveTo>
                <a:cubicBezTo>
                  <a:pt x="93" y="65"/>
                  <a:pt x="156" y="318"/>
                  <a:pt x="558" y="390"/>
                </a:cubicBezTo>
                <a:cubicBezTo>
                  <a:pt x="959" y="453"/>
                  <a:pt x="2026" y="423"/>
                  <a:pt x="2412" y="432"/>
                </a:cubicBezTo>
              </a:path>
            </a:pathLst>
          </a:custGeom>
          <a:noFill/>
          <a:ln cap="flat" cmpd="sng" w="38100">
            <a:solidFill>
              <a:srgbClr val="0099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260" name="Google Shape;8260;p185"/>
          <p:cNvSpPr/>
          <p:nvPr/>
        </p:nvSpPr>
        <p:spPr>
          <a:xfrm>
            <a:off x="6457950" y="3614738"/>
            <a:ext cx="147638" cy="200025"/>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261" name="Google Shape;8261;p185"/>
          <p:cNvSpPr/>
          <p:nvPr/>
        </p:nvSpPr>
        <p:spPr>
          <a:xfrm>
            <a:off x="4724400" y="3763963"/>
            <a:ext cx="4268598" cy="719137"/>
          </a:xfrm>
          <a:custGeom>
            <a:rect b="b" l="l" r="r" t="t"/>
            <a:pathLst>
              <a:path extrusionOk="0" h="453" w="2412">
                <a:moveTo>
                  <a:pt x="0" y="453"/>
                </a:moveTo>
                <a:cubicBezTo>
                  <a:pt x="93" y="388"/>
                  <a:pt x="156" y="134"/>
                  <a:pt x="558" y="63"/>
                </a:cubicBezTo>
                <a:cubicBezTo>
                  <a:pt x="959" y="0"/>
                  <a:pt x="2026" y="36"/>
                  <a:pt x="2412" y="29"/>
                </a:cubicBezTo>
              </a:path>
            </a:pathLst>
          </a:custGeom>
          <a:noFill/>
          <a:ln cap="flat" cmpd="sng" w="38100">
            <a:solidFill>
              <a:srgbClr val="3333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262" name="Google Shape;8262;p185"/>
          <p:cNvSpPr txBox="1"/>
          <p:nvPr/>
        </p:nvSpPr>
        <p:spPr>
          <a:xfrm>
            <a:off x="2354381" y="4692948"/>
            <a:ext cx="233826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connection 2</a:t>
            </a:r>
            <a:endParaRPr/>
          </a:p>
        </p:txBody>
      </p:sp>
      <p:grpSp>
        <p:nvGrpSpPr>
          <p:cNvPr id="8263" name="Google Shape;8263;p185"/>
          <p:cNvGrpSpPr/>
          <p:nvPr/>
        </p:nvGrpSpPr>
        <p:grpSpPr>
          <a:xfrm>
            <a:off x="3975100" y="2860675"/>
            <a:ext cx="766763" cy="704850"/>
            <a:chOff x="-44" y="1473"/>
            <a:chExt cx="981" cy="1105"/>
          </a:xfrm>
        </p:grpSpPr>
        <p:pic>
          <p:nvPicPr>
            <p:cNvPr descr="desktop_computer_stylized_medium" id="8264" name="Google Shape;8264;p18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265" name="Google Shape;8265;p18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nvGrpSpPr>
          <p:cNvPr id="8266" name="Google Shape;8266;p185"/>
          <p:cNvGrpSpPr/>
          <p:nvPr/>
        </p:nvGrpSpPr>
        <p:grpSpPr>
          <a:xfrm>
            <a:off x="3978275" y="4106863"/>
            <a:ext cx="766763" cy="704850"/>
            <a:chOff x="-44" y="1473"/>
            <a:chExt cx="981" cy="1105"/>
          </a:xfrm>
        </p:grpSpPr>
        <p:pic>
          <p:nvPicPr>
            <p:cNvPr descr="desktop_computer_stylized_medium" id="8267" name="Google Shape;8267;p18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268" name="Google Shape;8268;p18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8269" name="Google Shape;8269;p18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4" name="Shape 8274"/>
        <p:cNvGrpSpPr/>
        <p:nvPr/>
      </p:nvGrpSpPr>
      <p:grpSpPr>
        <a:xfrm>
          <a:off x="0" y="0"/>
          <a:ext cx="0" cy="0"/>
          <a:chOff x="0" y="0"/>
          <a:chExt cx="0" cy="0"/>
        </a:xfrm>
      </p:grpSpPr>
      <p:sp>
        <p:nvSpPr>
          <p:cNvPr id="8275" name="Google Shape;8275;p186"/>
          <p:cNvSpPr txBox="1"/>
          <p:nvPr>
            <p:ph type="title"/>
          </p:nvPr>
        </p:nvSpPr>
        <p:spPr>
          <a:xfrm>
            <a:off x="798690" y="234526"/>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Q: is TCP Fair?</a:t>
            </a:r>
            <a:endParaRPr b="0" sz="4400"/>
          </a:p>
        </p:txBody>
      </p:sp>
      <p:sp>
        <p:nvSpPr>
          <p:cNvPr id="8276" name="Google Shape;8276;p186"/>
          <p:cNvSpPr txBox="1"/>
          <p:nvPr/>
        </p:nvSpPr>
        <p:spPr>
          <a:xfrm>
            <a:off x="1028116" y="1209675"/>
            <a:ext cx="10643184"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00"/>
                </a:solidFill>
                <a:latin typeface="Calibri"/>
                <a:ea typeface="Calibri"/>
                <a:cs typeface="Calibri"/>
                <a:sym typeface="Calibri"/>
              </a:rPr>
              <a:t>Example: two competing TCP sessions:</a:t>
            </a:r>
            <a:endParaRPr/>
          </a:p>
          <a:p>
            <a:pPr indent="-215900" lvl="0" marL="457200"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additive increase gives slope of 1, as throughout increases</a:t>
            </a:r>
            <a:endParaRPr/>
          </a:p>
          <a:p>
            <a:pPr indent="-215900" lvl="0" marL="457200"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multiplicative decrease decreases throughput proportionally </a:t>
            </a:r>
            <a:endParaRPr/>
          </a:p>
        </p:txBody>
      </p:sp>
      <p:cxnSp>
        <p:nvCxnSpPr>
          <p:cNvPr id="8277" name="Google Shape;8277;p186"/>
          <p:cNvCxnSpPr/>
          <p:nvPr/>
        </p:nvCxnSpPr>
        <p:spPr>
          <a:xfrm>
            <a:off x="1701800" y="6091237"/>
            <a:ext cx="3638550" cy="0"/>
          </a:xfrm>
          <a:prstGeom prst="straightConnector1">
            <a:avLst/>
          </a:prstGeom>
          <a:noFill/>
          <a:ln cap="flat" cmpd="sng" w="38100">
            <a:solidFill>
              <a:srgbClr val="000000"/>
            </a:solidFill>
            <a:prstDash val="solid"/>
            <a:round/>
            <a:headEnd len="med" w="med" type="none"/>
            <a:tailEnd len="med" w="med" type="none"/>
          </a:ln>
        </p:spPr>
      </p:cxnSp>
      <p:cxnSp>
        <p:nvCxnSpPr>
          <p:cNvPr id="8278" name="Google Shape;8278;p186"/>
          <p:cNvCxnSpPr/>
          <p:nvPr/>
        </p:nvCxnSpPr>
        <p:spPr>
          <a:xfrm rot="10800000">
            <a:off x="1701800" y="2995612"/>
            <a:ext cx="0" cy="3086100"/>
          </a:xfrm>
          <a:prstGeom prst="straightConnector1">
            <a:avLst/>
          </a:prstGeom>
          <a:noFill/>
          <a:ln cap="flat" cmpd="sng" w="38100">
            <a:solidFill>
              <a:srgbClr val="000000"/>
            </a:solidFill>
            <a:prstDash val="solid"/>
            <a:round/>
            <a:headEnd len="med" w="med" type="none"/>
            <a:tailEnd len="med" w="med" type="none"/>
          </a:ln>
        </p:spPr>
      </p:cxnSp>
      <p:cxnSp>
        <p:nvCxnSpPr>
          <p:cNvPr id="8279" name="Google Shape;8279;p186"/>
          <p:cNvCxnSpPr/>
          <p:nvPr/>
        </p:nvCxnSpPr>
        <p:spPr>
          <a:xfrm rot="7861895">
            <a:off x="1095375" y="4730750"/>
            <a:ext cx="3560763" cy="14287"/>
          </a:xfrm>
          <a:prstGeom prst="straightConnector1">
            <a:avLst/>
          </a:prstGeom>
          <a:noFill/>
          <a:ln cap="flat" cmpd="sng" w="19050">
            <a:solidFill>
              <a:srgbClr val="000000"/>
            </a:solidFill>
            <a:prstDash val="dash"/>
            <a:round/>
            <a:headEnd len="med" w="med" type="none"/>
            <a:tailEnd len="med" w="med" type="none"/>
          </a:ln>
        </p:spPr>
      </p:cxnSp>
      <p:cxnSp>
        <p:nvCxnSpPr>
          <p:cNvPr id="8280" name="Google Shape;8280;p186"/>
          <p:cNvCxnSpPr/>
          <p:nvPr/>
        </p:nvCxnSpPr>
        <p:spPr>
          <a:xfrm>
            <a:off x="1682750" y="3243262"/>
            <a:ext cx="2819400" cy="2809875"/>
          </a:xfrm>
          <a:prstGeom prst="straightConnector1">
            <a:avLst/>
          </a:prstGeom>
          <a:noFill/>
          <a:ln cap="flat" cmpd="sng" w="38100">
            <a:solidFill>
              <a:srgbClr val="3333CC"/>
            </a:solidFill>
            <a:prstDash val="solid"/>
            <a:round/>
            <a:headEnd len="med" w="med" type="none"/>
            <a:tailEnd len="med" w="med" type="none"/>
          </a:ln>
        </p:spPr>
      </p:cxnSp>
      <p:sp>
        <p:nvSpPr>
          <p:cNvPr id="8281" name="Google Shape;8281;p186"/>
          <p:cNvSpPr txBox="1"/>
          <p:nvPr/>
        </p:nvSpPr>
        <p:spPr>
          <a:xfrm>
            <a:off x="1331913" y="3071812"/>
            <a:ext cx="4032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R</a:t>
            </a:r>
            <a:endParaRPr b="0" i="0" sz="1000" u="none" cap="none" strike="noStrike">
              <a:solidFill>
                <a:srgbClr val="000000"/>
              </a:solidFill>
              <a:latin typeface="Arial"/>
              <a:ea typeface="Arial"/>
              <a:cs typeface="Arial"/>
              <a:sym typeface="Arial"/>
            </a:endParaRPr>
          </a:p>
        </p:txBody>
      </p:sp>
      <p:sp>
        <p:nvSpPr>
          <p:cNvPr id="8282" name="Google Shape;8282;p186"/>
          <p:cNvSpPr txBox="1"/>
          <p:nvPr/>
        </p:nvSpPr>
        <p:spPr>
          <a:xfrm>
            <a:off x="4284663" y="6119812"/>
            <a:ext cx="4032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R</a:t>
            </a:r>
            <a:endParaRPr b="0" i="0" sz="1000" u="none" cap="none" strike="noStrike">
              <a:solidFill>
                <a:srgbClr val="000000"/>
              </a:solidFill>
              <a:latin typeface="Arial"/>
              <a:ea typeface="Arial"/>
              <a:cs typeface="Arial"/>
              <a:sym typeface="Arial"/>
            </a:endParaRPr>
          </a:p>
        </p:txBody>
      </p:sp>
      <p:sp>
        <p:nvSpPr>
          <p:cNvPr id="8283" name="Google Shape;8283;p186"/>
          <p:cNvSpPr txBox="1"/>
          <p:nvPr/>
        </p:nvSpPr>
        <p:spPr>
          <a:xfrm>
            <a:off x="2560638" y="3062287"/>
            <a:ext cx="35464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equal bandwidth share</a:t>
            </a:r>
            <a:endParaRPr b="0" i="0" sz="1000" u="none" cap="none" strike="noStrike">
              <a:solidFill>
                <a:srgbClr val="000000"/>
              </a:solidFill>
              <a:latin typeface="Arial"/>
              <a:ea typeface="Arial"/>
              <a:cs typeface="Arial"/>
              <a:sym typeface="Arial"/>
            </a:endParaRPr>
          </a:p>
        </p:txBody>
      </p:sp>
      <p:sp>
        <p:nvSpPr>
          <p:cNvPr id="8284" name="Google Shape;8284;p186"/>
          <p:cNvSpPr txBox="1"/>
          <p:nvPr/>
        </p:nvSpPr>
        <p:spPr>
          <a:xfrm>
            <a:off x="1141413" y="6100762"/>
            <a:ext cx="35464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Connection 1 throughput</a:t>
            </a:r>
            <a:endParaRPr b="0" i="0" sz="1000" u="none" cap="none" strike="noStrike">
              <a:solidFill>
                <a:srgbClr val="000000"/>
              </a:solidFill>
              <a:latin typeface="Arial"/>
              <a:ea typeface="Arial"/>
              <a:cs typeface="Arial"/>
              <a:sym typeface="Arial"/>
            </a:endParaRPr>
          </a:p>
        </p:txBody>
      </p:sp>
      <p:sp>
        <p:nvSpPr>
          <p:cNvPr id="8285" name="Google Shape;8285;p186"/>
          <p:cNvSpPr txBox="1"/>
          <p:nvPr/>
        </p:nvSpPr>
        <p:spPr>
          <a:xfrm rot="-5396642">
            <a:off x="-273844" y="4639469"/>
            <a:ext cx="35464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Connection 2 throughput</a:t>
            </a:r>
            <a:endParaRPr b="0" i="0" sz="1000" u="none" cap="none" strike="noStrike">
              <a:solidFill>
                <a:srgbClr val="000000"/>
              </a:solidFill>
              <a:latin typeface="Arial"/>
              <a:ea typeface="Arial"/>
              <a:cs typeface="Arial"/>
              <a:sym typeface="Arial"/>
            </a:endParaRPr>
          </a:p>
        </p:txBody>
      </p:sp>
      <p:cxnSp>
        <p:nvCxnSpPr>
          <p:cNvPr id="8286" name="Google Shape;8286;p186"/>
          <p:cNvCxnSpPr/>
          <p:nvPr/>
        </p:nvCxnSpPr>
        <p:spPr>
          <a:xfrm rot="7861895">
            <a:off x="2805112" y="5348288"/>
            <a:ext cx="1293813" cy="4762"/>
          </a:xfrm>
          <a:prstGeom prst="straightConnector1">
            <a:avLst/>
          </a:prstGeom>
          <a:noFill/>
          <a:ln cap="flat" cmpd="sng" w="19050">
            <a:solidFill>
              <a:srgbClr val="C00000"/>
            </a:solidFill>
            <a:prstDash val="solid"/>
            <a:round/>
            <a:headEnd len="med" w="med" type="triangle"/>
            <a:tailEnd len="med" w="med" type="none"/>
          </a:ln>
        </p:spPr>
      </p:cxnSp>
      <p:sp>
        <p:nvSpPr>
          <p:cNvPr id="8287" name="Google Shape;8287;p186"/>
          <p:cNvSpPr txBox="1"/>
          <p:nvPr/>
        </p:nvSpPr>
        <p:spPr>
          <a:xfrm>
            <a:off x="3475038" y="4919662"/>
            <a:ext cx="45370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congestion avoidance: additive increase</a:t>
            </a:r>
            <a:endParaRPr b="0" i="0" sz="1000" u="none" cap="none" strike="noStrike">
              <a:solidFill>
                <a:srgbClr val="000000"/>
              </a:solidFill>
              <a:latin typeface="Arial"/>
              <a:ea typeface="Arial"/>
              <a:cs typeface="Arial"/>
              <a:sym typeface="Arial"/>
            </a:endParaRPr>
          </a:p>
        </p:txBody>
      </p:sp>
      <p:cxnSp>
        <p:nvCxnSpPr>
          <p:cNvPr id="8288" name="Google Shape;8288;p186"/>
          <p:cNvCxnSpPr/>
          <p:nvPr/>
        </p:nvCxnSpPr>
        <p:spPr>
          <a:xfrm flipH="1">
            <a:off x="2692400" y="4881562"/>
            <a:ext cx="1171575" cy="631825"/>
          </a:xfrm>
          <a:prstGeom prst="straightConnector1">
            <a:avLst/>
          </a:prstGeom>
          <a:noFill/>
          <a:ln cap="flat" cmpd="sng" w="19050">
            <a:solidFill>
              <a:srgbClr val="C00000"/>
            </a:solidFill>
            <a:prstDash val="solid"/>
            <a:round/>
            <a:headEnd len="med" w="med" type="none"/>
            <a:tailEnd len="med" w="med" type="triangle"/>
          </a:ln>
        </p:spPr>
      </p:cxnSp>
      <p:sp>
        <p:nvSpPr>
          <p:cNvPr id="8289" name="Google Shape;8289;p186"/>
          <p:cNvSpPr txBox="1"/>
          <p:nvPr/>
        </p:nvSpPr>
        <p:spPr>
          <a:xfrm>
            <a:off x="4006850" y="4675187"/>
            <a:ext cx="34607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loss: decrease window by factor of 2</a:t>
            </a:r>
            <a:endParaRPr b="0" i="0" sz="1000" u="none" cap="none" strike="noStrike">
              <a:solidFill>
                <a:srgbClr val="000000"/>
              </a:solidFill>
              <a:latin typeface="Arial"/>
              <a:ea typeface="Arial"/>
              <a:cs typeface="Arial"/>
              <a:sym typeface="Arial"/>
            </a:endParaRPr>
          </a:p>
        </p:txBody>
      </p:sp>
      <p:cxnSp>
        <p:nvCxnSpPr>
          <p:cNvPr id="8290" name="Google Shape;8290;p186"/>
          <p:cNvCxnSpPr/>
          <p:nvPr/>
        </p:nvCxnSpPr>
        <p:spPr>
          <a:xfrm rot="7861895">
            <a:off x="2484438" y="5021262"/>
            <a:ext cx="1303337" cy="23813"/>
          </a:xfrm>
          <a:prstGeom prst="straightConnector1">
            <a:avLst/>
          </a:prstGeom>
          <a:noFill/>
          <a:ln cap="flat" cmpd="sng" w="19050">
            <a:solidFill>
              <a:srgbClr val="C00000"/>
            </a:solidFill>
            <a:prstDash val="solid"/>
            <a:round/>
            <a:headEnd len="med" w="med" type="triangle"/>
            <a:tailEnd len="med" w="med" type="none"/>
          </a:ln>
        </p:spPr>
      </p:cxnSp>
      <p:sp>
        <p:nvSpPr>
          <p:cNvPr id="8291" name="Google Shape;8291;p186"/>
          <p:cNvSpPr txBox="1"/>
          <p:nvPr/>
        </p:nvSpPr>
        <p:spPr>
          <a:xfrm>
            <a:off x="3189288" y="4433887"/>
            <a:ext cx="45370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congestion avoidance: additive increase</a:t>
            </a:r>
            <a:endParaRPr b="0" i="0" sz="1000" u="none" cap="none" strike="noStrike">
              <a:solidFill>
                <a:srgbClr val="000000"/>
              </a:solidFill>
              <a:latin typeface="Arial"/>
              <a:ea typeface="Arial"/>
              <a:cs typeface="Arial"/>
              <a:sym typeface="Arial"/>
            </a:endParaRPr>
          </a:p>
        </p:txBody>
      </p:sp>
      <p:cxnSp>
        <p:nvCxnSpPr>
          <p:cNvPr id="8292" name="Google Shape;8292;p186"/>
          <p:cNvCxnSpPr/>
          <p:nvPr/>
        </p:nvCxnSpPr>
        <p:spPr>
          <a:xfrm flipH="1">
            <a:off x="2549525" y="4595812"/>
            <a:ext cx="981075" cy="765175"/>
          </a:xfrm>
          <a:prstGeom prst="straightConnector1">
            <a:avLst/>
          </a:prstGeom>
          <a:noFill/>
          <a:ln cap="flat" cmpd="sng" w="19050">
            <a:solidFill>
              <a:srgbClr val="C00000"/>
            </a:solidFill>
            <a:prstDash val="solid"/>
            <a:round/>
            <a:headEnd len="med" w="med" type="none"/>
            <a:tailEnd len="med" w="med" type="triangle"/>
          </a:ln>
        </p:spPr>
      </p:cxnSp>
      <p:sp>
        <p:nvSpPr>
          <p:cNvPr id="8293" name="Google Shape;8293;p186"/>
          <p:cNvSpPr txBox="1"/>
          <p:nvPr/>
        </p:nvSpPr>
        <p:spPr>
          <a:xfrm>
            <a:off x="3606800" y="4114284"/>
            <a:ext cx="34607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loss: decrease window by factor of 2</a:t>
            </a:r>
            <a:endParaRPr b="0" i="0" sz="1000" u="none" cap="none" strike="noStrike">
              <a:solidFill>
                <a:srgbClr val="000000"/>
              </a:solidFill>
              <a:latin typeface="Arial"/>
              <a:ea typeface="Arial"/>
              <a:cs typeface="Arial"/>
              <a:sym typeface="Arial"/>
            </a:endParaRPr>
          </a:p>
        </p:txBody>
      </p:sp>
      <p:cxnSp>
        <p:nvCxnSpPr>
          <p:cNvPr id="8294" name="Google Shape;8294;p186"/>
          <p:cNvCxnSpPr/>
          <p:nvPr/>
        </p:nvCxnSpPr>
        <p:spPr>
          <a:xfrm rot="7861895">
            <a:off x="2340769" y="4874419"/>
            <a:ext cx="1279525" cy="14287"/>
          </a:xfrm>
          <a:prstGeom prst="straightConnector1">
            <a:avLst/>
          </a:prstGeom>
          <a:noFill/>
          <a:ln cap="flat" cmpd="sng" w="19050">
            <a:solidFill>
              <a:srgbClr val="C00000"/>
            </a:solidFill>
            <a:prstDash val="solid"/>
            <a:round/>
            <a:headEnd len="med" w="med" type="triangle"/>
            <a:tailEnd len="med" w="med" type="none"/>
          </a:ln>
        </p:spPr>
      </p:cxnSp>
      <p:cxnSp>
        <p:nvCxnSpPr>
          <p:cNvPr id="8295" name="Google Shape;8295;p186"/>
          <p:cNvCxnSpPr/>
          <p:nvPr/>
        </p:nvCxnSpPr>
        <p:spPr>
          <a:xfrm flipH="1">
            <a:off x="2482850" y="4414837"/>
            <a:ext cx="911225" cy="889000"/>
          </a:xfrm>
          <a:prstGeom prst="straightConnector1">
            <a:avLst/>
          </a:prstGeom>
          <a:noFill/>
          <a:ln cap="flat" cmpd="sng" w="19050">
            <a:solidFill>
              <a:srgbClr val="C00000"/>
            </a:solidFill>
            <a:prstDash val="solid"/>
            <a:round/>
            <a:headEnd len="med" w="med" type="none"/>
            <a:tailEnd len="med" w="med" type="triangle"/>
          </a:ln>
        </p:spPr>
      </p:cxnSp>
      <p:cxnSp>
        <p:nvCxnSpPr>
          <p:cNvPr id="8296" name="Google Shape;8296;p186"/>
          <p:cNvCxnSpPr/>
          <p:nvPr/>
        </p:nvCxnSpPr>
        <p:spPr>
          <a:xfrm rot="7861895">
            <a:off x="2261394" y="4810919"/>
            <a:ext cx="1279525" cy="14287"/>
          </a:xfrm>
          <a:prstGeom prst="straightConnector1">
            <a:avLst/>
          </a:prstGeom>
          <a:noFill/>
          <a:ln cap="flat" cmpd="sng" w="19050">
            <a:solidFill>
              <a:srgbClr val="C00000"/>
            </a:solidFill>
            <a:prstDash val="solid"/>
            <a:round/>
            <a:headEnd len="med" w="med" type="triangle"/>
            <a:tailEnd len="med" w="med" type="none"/>
          </a:ln>
        </p:spPr>
      </p:cxnSp>
      <p:grpSp>
        <p:nvGrpSpPr>
          <p:cNvPr id="8297" name="Google Shape;8297;p186"/>
          <p:cNvGrpSpPr/>
          <p:nvPr/>
        </p:nvGrpSpPr>
        <p:grpSpPr>
          <a:xfrm>
            <a:off x="7983110" y="3205277"/>
            <a:ext cx="3864041" cy="2713458"/>
            <a:chOff x="7983110" y="3205277"/>
            <a:chExt cx="3864041" cy="2713458"/>
          </a:xfrm>
        </p:grpSpPr>
        <p:sp>
          <p:nvSpPr>
            <p:cNvPr id="8298" name="Google Shape;8298;p186"/>
            <p:cNvSpPr txBox="1"/>
            <p:nvPr/>
          </p:nvSpPr>
          <p:spPr>
            <a:xfrm>
              <a:off x="8130707" y="3671674"/>
              <a:ext cx="3703160" cy="2197525"/>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00000"/>
                </a:buClr>
                <a:buSzPts val="2800"/>
                <a:buFont typeface="Calibri"/>
                <a:buNone/>
              </a:pPr>
              <a:r>
                <a:rPr b="0" i="1" lang="en-US" sz="2800" u="none" cap="none" strike="noStrike">
                  <a:solidFill>
                    <a:srgbClr val="C00000"/>
                  </a:solidFill>
                  <a:latin typeface="Calibri"/>
                  <a:ea typeface="Calibri"/>
                  <a:cs typeface="Calibri"/>
                  <a:sym typeface="Calibri"/>
                </a:rPr>
                <a:t>A: </a:t>
              </a:r>
              <a:r>
                <a:rPr b="0" i="0" lang="en-US" sz="2800" u="none" cap="none" strike="noStrike">
                  <a:solidFill>
                    <a:srgbClr val="000000"/>
                  </a:solidFill>
                  <a:latin typeface="Calibri"/>
                  <a:ea typeface="Calibri"/>
                  <a:cs typeface="Calibri"/>
                  <a:sym typeface="Calibri"/>
                </a:rPr>
                <a:t>Yes, under idealized assumptions:</a:t>
              </a:r>
              <a:endParaRPr/>
            </a:p>
            <a:p>
              <a:pPr indent="-228600" lvl="0" marL="342900" marR="0" rtl="0" algn="l">
                <a:lnSpc>
                  <a:spcPct val="90000"/>
                </a:lnSpc>
                <a:spcBef>
                  <a:spcPts val="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same RTT</a:t>
              </a:r>
              <a:endParaRPr/>
            </a:p>
            <a:p>
              <a:pPr indent="-228600" lvl="0" marL="342900" marR="0" rtl="0" algn="l">
                <a:lnSpc>
                  <a:spcPct val="90000"/>
                </a:lnSpc>
                <a:spcBef>
                  <a:spcPts val="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fixed number of sessions only in congestion avoidance </a:t>
              </a:r>
              <a:endParaRPr/>
            </a:p>
          </p:txBody>
        </p:sp>
        <p:sp>
          <p:nvSpPr>
            <p:cNvPr id="8299" name="Google Shape;8299;p186"/>
            <p:cNvSpPr/>
            <p:nvPr/>
          </p:nvSpPr>
          <p:spPr>
            <a:xfrm>
              <a:off x="7983110" y="3468687"/>
              <a:ext cx="3864041" cy="2450048"/>
            </a:xfrm>
            <a:prstGeom prst="rect">
              <a:avLst/>
            </a:prstGeom>
            <a:noFill/>
            <a:ln cap="flat" cmpd="sng" w="222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00" name="Google Shape;8300;p186"/>
            <p:cNvSpPr/>
            <p:nvPr/>
          </p:nvSpPr>
          <p:spPr>
            <a:xfrm>
              <a:off x="8338252" y="3328994"/>
              <a:ext cx="1762727" cy="25558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01" name="Google Shape;8301;p186"/>
            <p:cNvSpPr txBox="1"/>
            <p:nvPr/>
          </p:nvSpPr>
          <p:spPr>
            <a:xfrm>
              <a:off x="8332482" y="3205277"/>
              <a:ext cx="176849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800"/>
                <a:buFont typeface="Calibri"/>
                <a:buNone/>
              </a:pPr>
              <a:r>
                <a:rPr b="0" i="1" lang="en-US" sz="2800" u="none" cap="none" strike="noStrike">
                  <a:solidFill>
                    <a:srgbClr val="C00000"/>
                  </a:solidFill>
                  <a:latin typeface="Calibri"/>
                  <a:ea typeface="Calibri"/>
                  <a:cs typeface="Calibri"/>
                  <a:sym typeface="Calibri"/>
                </a:rPr>
                <a:t>Is</a:t>
              </a:r>
              <a:r>
                <a:rPr b="0" i="0" lang="en-US" sz="2800" u="none" cap="none" strike="noStrike">
                  <a:solidFill>
                    <a:srgbClr val="C00000"/>
                  </a:solidFill>
                  <a:latin typeface="Calibri"/>
                  <a:ea typeface="Calibri"/>
                  <a:cs typeface="Calibri"/>
                  <a:sym typeface="Calibri"/>
                </a:rPr>
                <a:t> TCP fair?</a:t>
              </a:r>
              <a:endParaRPr/>
            </a:p>
          </p:txBody>
        </p:sp>
      </p:grpSp>
      <p:sp>
        <p:nvSpPr>
          <p:cNvPr id="8302" name="Google Shape;8302;p186"/>
          <p:cNvSpPr/>
          <p:nvPr/>
        </p:nvSpPr>
        <p:spPr>
          <a:xfrm>
            <a:off x="2998274" y="5695379"/>
            <a:ext cx="166255" cy="166255"/>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03" name="Google Shape;8303;p18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86"/>
                                        </p:tgtEl>
                                        <p:attrNameLst>
                                          <p:attrName>style.visibility</p:attrName>
                                        </p:attrNameLst>
                                      </p:cBhvr>
                                      <p:to>
                                        <p:strVal val="visible"/>
                                      </p:to>
                                    </p:set>
                                    <p:animEffect filter="fade" transition="in">
                                      <p:cBhvr>
                                        <p:cTn dur="500"/>
                                        <p:tgtEl>
                                          <p:spTgt spid="8286"/>
                                        </p:tgtEl>
                                      </p:cBhvr>
                                    </p:animEffect>
                                  </p:childTnLst>
                                </p:cTn>
                              </p:par>
                              <p:par>
                                <p:cTn fill="hold" nodeType="withEffect" presetClass="exit" presetID="10" presetSubtype="0">
                                  <p:stCondLst>
                                    <p:cond delay="0"/>
                                  </p:stCondLst>
                                  <p:childTnLst>
                                    <p:animEffect filter="fade" transition="out">
                                      <p:cBhvr>
                                        <p:cTn dur="500"/>
                                        <p:tgtEl>
                                          <p:spTgt spid="8302"/>
                                        </p:tgtEl>
                                      </p:cBhvr>
                                    </p:animEffect>
                                    <p:set>
                                      <p:cBhvr>
                                        <p:cTn dur="1" fill="hold">
                                          <p:stCondLst>
                                            <p:cond delay="500"/>
                                          </p:stCondLst>
                                        </p:cTn>
                                        <p:tgtEl>
                                          <p:spTgt spid="8302"/>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287"/>
                                        </p:tgtEl>
                                        <p:attrNameLst>
                                          <p:attrName>style.visibility</p:attrName>
                                        </p:attrNameLst>
                                      </p:cBhvr>
                                      <p:to>
                                        <p:strVal val="visible"/>
                                      </p:to>
                                    </p:set>
                                    <p:animEffect filter="fade" transition="in">
                                      <p:cBhvr>
                                        <p:cTn dur="500"/>
                                        <p:tgtEl>
                                          <p:spTgt spid="82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88"/>
                                        </p:tgtEl>
                                        <p:attrNameLst>
                                          <p:attrName>style.visibility</p:attrName>
                                        </p:attrNameLst>
                                      </p:cBhvr>
                                      <p:to>
                                        <p:strVal val="visible"/>
                                      </p:to>
                                    </p:set>
                                    <p:animEffect filter="fade" transition="in">
                                      <p:cBhvr>
                                        <p:cTn dur="500"/>
                                        <p:tgtEl>
                                          <p:spTgt spid="828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289"/>
                                        </p:tgtEl>
                                        <p:attrNameLst>
                                          <p:attrName>style.visibility</p:attrName>
                                        </p:attrNameLst>
                                      </p:cBhvr>
                                      <p:to>
                                        <p:strVal val="visible"/>
                                      </p:to>
                                    </p:set>
                                    <p:animEffect filter="fade" transition="in">
                                      <p:cBhvr>
                                        <p:cTn dur="500"/>
                                        <p:tgtEl>
                                          <p:spTgt spid="82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90"/>
                                        </p:tgtEl>
                                        <p:attrNameLst>
                                          <p:attrName>style.visibility</p:attrName>
                                        </p:attrNameLst>
                                      </p:cBhvr>
                                      <p:to>
                                        <p:strVal val="visible"/>
                                      </p:to>
                                    </p:set>
                                    <p:animEffect filter="fade" transition="in">
                                      <p:cBhvr>
                                        <p:cTn dur="500"/>
                                        <p:tgtEl>
                                          <p:spTgt spid="829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291"/>
                                        </p:tgtEl>
                                        <p:attrNameLst>
                                          <p:attrName>style.visibility</p:attrName>
                                        </p:attrNameLst>
                                      </p:cBhvr>
                                      <p:to>
                                        <p:strVal val="visible"/>
                                      </p:to>
                                    </p:set>
                                    <p:animEffect filter="fade" transition="in">
                                      <p:cBhvr>
                                        <p:cTn dur="500"/>
                                        <p:tgtEl>
                                          <p:spTgt spid="82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92"/>
                                        </p:tgtEl>
                                        <p:attrNameLst>
                                          <p:attrName>style.visibility</p:attrName>
                                        </p:attrNameLst>
                                      </p:cBhvr>
                                      <p:to>
                                        <p:strVal val="visible"/>
                                      </p:to>
                                    </p:set>
                                    <p:animEffect filter="fade" transition="in">
                                      <p:cBhvr>
                                        <p:cTn dur="500"/>
                                        <p:tgtEl>
                                          <p:spTgt spid="829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293"/>
                                        </p:tgtEl>
                                        <p:attrNameLst>
                                          <p:attrName>style.visibility</p:attrName>
                                        </p:attrNameLst>
                                      </p:cBhvr>
                                      <p:to>
                                        <p:strVal val="visible"/>
                                      </p:to>
                                    </p:set>
                                    <p:animEffect filter="fade" transition="in">
                                      <p:cBhvr>
                                        <p:cTn dur="500"/>
                                        <p:tgtEl>
                                          <p:spTgt spid="82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94"/>
                                        </p:tgtEl>
                                        <p:attrNameLst>
                                          <p:attrName>style.visibility</p:attrName>
                                        </p:attrNameLst>
                                      </p:cBhvr>
                                      <p:to>
                                        <p:strVal val="visible"/>
                                      </p:to>
                                    </p:set>
                                    <p:animEffect filter="fade" transition="in">
                                      <p:cBhvr>
                                        <p:cTn dur="500"/>
                                        <p:tgtEl>
                                          <p:spTgt spid="82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95"/>
                                        </p:tgtEl>
                                        <p:attrNameLst>
                                          <p:attrName>style.visibility</p:attrName>
                                        </p:attrNameLst>
                                      </p:cBhvr>
                                      <p:to>
                                        <p:strVal val="visible"/>
                                      </p:to>
                                    </p:set>
                                    <p:animEffect filter="fade" transition="in">
                                      <p:cBhvr>
                                        <p:cTn dur="500"/>
                                        <p:tgtEl>
                                          <p:spTgt spid="82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96"/>
                                        </p:tgtEl>
                                        <p:attrNameLst>
                                          <p:attrName>style.visibility</p:attrName>
                                        </p:attrNameLst>
                                      </p:cBhvr>
                                      <p:to>
                                        <p:strVal val="visible"/>
                                      </p:to>
                                    </p:set>
                                    <p:animEffect filter="fade" transition="in">
                                      <p:cBhvr>
                                        <p:cTn dur="500"/>
                                        <p:tgtEl>
                                          <p:spTgt spid="82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97"/>
                                        </p:tgtEl>
                                        <p:attrNameLst>
                                          <p:attrName>style.visibility</p:attrName>
                                        </p:attrNameLst>
                                      </p:cBhvr>
                                      <p:to>
                                        <p:strVal val="visible"/>
                                      </p:to>
                                    </p:set>
                                    <p:animEffect filter="fade" transition="in">
                                      <p:cBhvr>
                                        <p:cTn dur="500"/>
                                        <p:tgtEl>
                                          <p:spTgt spid="82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8" name="Shape 8308"/>
        <p:cNvGrpSpPr/>
        <p:nvPr/>
      </p:nvGrpSpPr>
      <p:grpSpPr>
        <a:xfrm>
          <a:off x="0" y="0"/>
          <a:ext cx="0" cy="0"/>
          <a:chOff x="0" y="0"/>
          <a:chExt cx="0" cy="0"/>
        </a:xfrm>
      </p:grpSpPr>
      <p:sp>
        <p:nvSpPr>
          <p:cNvPr id="8309" name="Google Shape;8309;p187"/>
          <p:cNvSpPr txBox="1"/>
          <p:nvPr>
            <p:ph type="title"/>
          </p:nvPr>
        </p:nvSpPr>
        <p:spPr>
          <a:xfrm>
            <a:off x="780345" y="261078"/>
            <a:ext cx="108345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Fairness: must all network apps be “fair”?</a:t>
            </a:r>
            <a:endParaRPr b="0" sz="4400"/>
          </a:p>
        </p:txBody>
      </p:sp>
      <p:sp>
        <p:nvSpPr>
          <p:cNvPr id="8310" name="Google Shape;8310;p187"/>
          <p:cNvSpPr txBox="1"/>
          <p:nvPr/>
        </p:nvSpPr>
        <p:spPr>
          <a:xfrm>
            <a:off x="749300" y="1219200"/>
            <a:ext cx="5207000" cy="4648200"/>
          </a:xfrm>
          <a:prstGeom prst="rect">
            <a:avLst/>
          </a:prstGeom>
          <a:noFill/>
          <a:ln>
            <a:noFill/>
          </a:ln>
        </p:spPr>
        <p:txBody>
          <a:bodyPr anchorCtr="0" anchor="t" bIns="45700" lIns="91425" spcFirstLastPara="1" rIns="91425" wrap="square" tIns="45700">
            <a:normAutofit lnSpcReduction="10000"/>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99"/>
                </a:solidFill>
                <a:latin typeface="Calibri"/>
                <a:ea typeface="Calibri"/>
                <a:cs typeface="Calibri"/>
                <a:sym typeface="Calibri"/>
              </a:rPr>
              <a:t>Fairness and UDP</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multimedia apps often do not use TCP</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do not want rate throttled by congestion control</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instead use UDP:</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send audio/video at constant rate, tolerate packet loss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there is no “Internet police” policing use of congestion control</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311" name="Google Shape;8311;p187"/>
          <p:cNvSpPr txBox="1"/>
          <p:nvPr/>
        </p:nvSpPr>
        <p:spPr>
          <a:xfrm>
            <a:off x="6210301" y="1193800"/>
            <a:ext cx="5575300" cy="50673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99"/>
                </a:solidFill>
                <a:latin typeface="Calibri"/>
                <a:ea typeface="Calibri"/>
                <a:cs typeface="Calibri"/>
                <a:sym typeface="Calibri"/>
              </a:rPr>
              <a:t>Fairness, parallel TCP connections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application can open </a:t>
            </a:r>
            <a:r>
              <a:rPr b="0" i="1" lang="en-US" sz="2800" u="none" cap="none" strike="noStrike">
                <a:solidFill>
                  <a:srgbClr val="000000"/>
                </a:solidFill>
                <a:latin typeface="Calibri"/>
                <a:ea typeface="Calibri"/>
                <a:cs typeface="Calibri"/>
                <a:sym typeface="Calibri"/>
              </a:rPr>
              <a:t>multiple</a:t>
            </a:r>
            <a:r>
              <a:rPr b="0" i="0" lang="en-US" sz="2800" u="none" cap="none" strike="noStrike">
                <a:solidFill>
                  <a:srgbClr val="000000"/>
                </a:solidFill>
                <a:latin typeface="Calibri"/>
                <a:ea typeface="Calibri"/>
                <a:cs typeface="Calibri"/>
                <a:sym typeface="Calibri"/>
              </a:rPr>
              <a:t> parallel connections between two hosts</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web browsers do this , e.g., link of rate R with 9 existing connections: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new app asks for 1 TCP, gets rate R/10</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new app asks for 11 TCPs, gets R/2 </a:t>
            </a:r>
            <a:endParaRPr/>
          </a:p>
          <a:p>
            <a:pPr indent="-69850" lvl="0" marL="3524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312" name="Google Shape;8312;p18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11"/>
                                        </p:tgtEl>
                                        <p:attrNameLst>
                                          <p:attrName>style.visibility</p:attrName>
                                        </p:attrNameLst>
                                      </p:cBhvr>
                                      <p:to>
                                        <p:strVal val="visible"/>
                                      </p:to>
                                    </p:set>
                                    <p:animEffect filter="fade" transition="in">
                                      <p:cBhvr>
                                        <p:cTn dur="500"/>
                                        <p:tgtEl>
                                          <p:spTgt spid="83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7" name="Shape 8317"/>
        <p:cNvGrpSpPr/>
        <p:nvPr/>
      </p:nvGrpSpPr>
      <p:grpSpPr>
        <a:xfrm>
          <a:off x="0" y="0"/>
          <a:ext cx="0" cy="0"/>
          <a:chOff x="0" y="0"/>
          <a:chExt cx="0" cy="0"/>
        </a:xfrm>
      </p:grpSpPr>
      <p:sp>
        <p:nvSpPr>
          <p:cNvPr id="8318" name="Google Shape;8318;p188"/>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Transport layer: roadmap</a:t>
            </a:r>
            <a:endParaRPr sz="4400"/>
          </a:p>
        </p:txBody>
      </p:sp>
      <p:sp>
        <p:nvSpPr>
          <p:cNvPr id="8319" name="Google Shape;8319;p188"/>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3200"/>
              <a:buChar char="▪"/>
            </a:pPr>
            <a:r>
              <a:rPr lang="en-US" sz="3200">
                <a:solidFill>
                  <a:srgbClr val="BFBFBF"/>
                </a:solidFill>
              </a:rPr>
              <a:t>Transport-layer services</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reliable data transfer </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Connection-oriented transport: TCP</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3200"/>
              <a:buChar char="▪"/>
            </a:pPr>
            <a:r>
              <a:rPr lang="en-US" sz="3200">
                <a:solidFill>
                  <a:srgbClr val="BFBFBF"/>
                </a:solidFill>
              </a:rPr>
              <a:t>TCP congestion control</a:t>
            </a:r>
            <a:endParaRPr/>
          </a:p>
          <a:p>
            <a:pPr indent="-285750" lvl="0" marL="403225" rtl="0" algn="l">
              <a:lnSpc>
                <a:spcPct val="90000"/>
              </a:lnSpc>
              <a:spcBef>
                <a:spcPts val="800"/>
              </a:spcBef>
              <a:spcAft>
                <a:spcPts val="0"/>
              </a:spcAft>
              <a:buSzPts val="3200"/>
              <a:buChar char="▪"/>
            </a:pPr>
            <a:r>
              <a:rPr lang="en-US" sz="3200">
                <a:solidFill>
                  <a:srgbClr val="C00000"/>
                </a:solidFill>
              </a:rPr>
              <a:t>Evolution of transport-layer functionality</a:t>
            </a:r>
            <a:endParaRPr/>
          </a:p>
          <a:p>
            <a:pPr indent="-222250" lvl="0" marL="352425" rtl="0" algn="l">
              <a:lnSpc>
                <a:spcPct val="90000"/>
              </a:lnSpc>
              <a:spcBef>
                <a:spcPts val="1000"/>
              </a:spcBef>
              <a:spcAft>
                <a:spcPts val="0"/>
              </a:spcAft>
              <a:buSzPts val="2400"/>
              <a:buFont typeface="Noto Sans Symbols"/>
              <a:buNone/>
            </a:pPr>
            <a:r>
              <a:t/>
            </a:r>
            <a:endParaRPr sz="2400"/>
          </a:p>
        </p:txBody>
      </p:sp>
      <p:sp>
        <p:nvSpPr>
          <p:cNvPr id="8320" name="Google Shape;8320;p18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pic>
        <p:nvPicPr>
          <p:cNvPr id="8321" name="Google Shape;8321;p188"/>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6" name="Shape 8326"/>
        <p:cNvGrpSpPr/>
        <p:nvPr/>
      </p:nvGrpSpPr>
      <p:grpSpPr>
        <a:xfrm>
          <a:off x="0" y="0"/>
          <a:ext cx="0" cy="0"/>
          <a:chOff x="0" y="0"/>
          <a:chExt cx="0" cy="0"/>
        </a:xfrm>
      </p:grpSpPr>
      <p:sp>
        <p:nvSpPr>
          <p:cNvPr id="8327" name="Google Shape;8327;p189"/>
          <p:cNvSpPr txBox="1"/>
          <p:nvPr>
            <p:ph idx="1" type="body"/>
          </p:nvPr>
        </p:nvSpPr>
        <p:spPr>
          <a:xfrm>
            <a:off x="825500" y="1489243"/>
            <a:ext cx="10515600" cy="987257"/>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TCP, UDP: principal transport protocols for 40 years</a:t>
            </a:r>
            <a:endParaRPr sz="2600"/>
          </a:p>
          <a:p>
            <a:pPr indent="-222250" lvl="0" marL="352425" rtl="0" algn="l">
              <a:lnSpc>
                <a:spcPct val="90000"/>
              </a:lnSpc>
              <a:spcBef>
                <a:spcPts val="600"/>
              </a:spcBef>
              <a:spcAft>
                <a:spcPts val="0"/>
              </a:spcAft>
              <a:buSzPts val="2800"/>
              <a:buChar char="▪"/>
            </a:pPr>
            <a:r>
              <a:rPr lang="en-US"/>
              <a:t>different “flavors” of TCP developed, for specific scenarios:</a:t>
            </a:r>
            <a:endParaRPr sz="2600"/>
          </a:p>
          <a:p>
            <a:pPr indent="0" lvl="1" marL="463550" rtl="0" algn="l">
              <a:lnSpc>
                <a:spcPct val="90000"/>
              </a:lnSpc>
              <a:spcBef>
                <a:spcPts val="500"/>
              </a:spcBef>
              <a:spcAft>
                <a:spcPts val="0"/>
              </a:spcAft>
              <a:buSzPts val="2400"/>
              <a:buNone/>
            </a:pPr>
            <a:r>
              <a:t/>
            </a:r>
            <a:endParaRPr/>
          </a:p>
        </p:txBody>
      </p:sp>
      <p:sp>
        <p:nvSpPr>
          <p:cNvPr id="8328" name="Google Shape;8328;p189"/>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Evolving transport-layer functionality</a:t>
            </a:r>
            <a:endParaRPr sz="4400"/>
          </a:p>
        </p:txBody>
      </p:sp>
      <p:sp>
        <p:nvSpPr>
          <p:cNvPr id="8329" name="Google Shape;8329;p189"/>
          <p:cNvSpPr txBox="1"/>
          <p:nvPr/>
        </p:nvSpPr>
        <p:spPr>
          <a:xfrm>
            <a:off x="787400" y="4953000"/>
            <a:ext cx="10515600" cy="1485900"/>
          </a:xfrm>
          <a:prstGeom prst="rect">
            <a:avLst/>
          </a:prstGeom>
          <a:noFill/>
          <a:ln>
            <a:noFill/>
          </a:ln>
        </p:spPr>
        <p:txBody>
          <a:bodyPr anchorCtr="0" anchor="t" bIns="45700" lIns="91425" spcFirstLastPara="1" rIns="91425" wrap="square" tIns="45700">
            <a:normAutofit/>
          </a:bodyPr>
          <a:lstStyle/>
          <a:p>
            <a:pPr indent="0" lvl="1" marL="463550" marR="0" rtl="0" algn="l">
              <a:lnSpc>
                <a:spcPct val="90000"/>
              </a:lnSpc>
              <a:spcBef>
                <a:spcPts val="0"/>
              </a:spcBef>
              <a:spcAft>
                <a:spcPts val="0"/>
              </a:spcAft>
              <a:buClr>
                <a:srgbClr val="0000A8"/>
              </a:buClr>
              <a:buSzPts val="2400"/>
              <a:buFont typeface="Arial"/>
              <a:buNone/>
            </a:pPr>
            <a:r>
              <a:t/>
            </a:r>
            <a:endParaRPr b="0" i="0" sz="2400" u="none" cap="none" strike="noStrike">
              <a:solidFill>
                <a:srgbClr val="00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moving transport–layer functions to application layer, on top of UDP</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HTTP/3: QUIC</a:t>
            </a:r>
            <a:endParaRPr/>
          </a:p>
        </p:txBody>
      </p:sp>
      <p:graphicFrame>
        <p:nvGraphicFramePr>
          <p:cNvPr id="8330" name="Google Shape;8330;p189"/>
          <p:cNvGraphicFramePr/>
          <p:nvPr/>
        </p:nvGraphicFramePr>
        <p:xfrm>
          <a:off x="2124074" y="2591594"/>
          <a:ext cx="3000000" cy="3000000"/>
        </p:xfrm>
        <a:graphic>
          <a:graphicData uri="http://schemas.openxmlformats.org/drawingml/2006/table">
            <a:tbl>
              <a:tblPr>
                <a:noFill/>
                <a:tableStyleId>{C3E26C75-72DA-4143-825E-67AC7ED1B077}</a:tableStyleId>
              </a:tblPr>
              <a:tblGrid>
                <a:gridCol w="3451225"/>
                <a:gridCol w="4470400"/>
              </a:tblGrid>
              <a:tr h="254000">
                <a:tc>
                  <a:txBody>
                    <a:bodyPr/>
                    <a:lstStyle/>
                    <a:p>
                      <a:pPr indent="0" lvl="0" marL="0" marR="0" rtl="0" algn="l">
                        <a:spcBef>
                          <a:spcPts val="0"/>
                        </a:spcBef>
                        <a:spcAft>
                          <a:spcPts val="0"/>
                        </a:spcAft>
                        <a:buNone/>
                      </a:pPr>
                      <a:r>
                        <a:rPr lang="en-US" sz="2000">
                          <a:solidFill>
                            <a:schemeClr val="lt1"/>
                          </a:solidFill>
                          <a:latin typeface="Calibri"/>
                          <a:ea typeface="Calibri"/>
                          <a:cs typeface="Calibri"/>
                          <a:sym typeface="Calibri"/>
                        </a:rPr>
                        <a:t>Scenario</a:t>
                      </a:r>
                      <a:endParaRPr sz="1200">
                        <a:solidFill>
                          <a:schemeClr val="lt1"/>
                        </a:solidFill>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00000"/>
                    </a:solidFill>
                  </a:tcPr>
                </a:tc>
                <a:tc>
                  <a:txBody>
                    <a:bodyPr/>
                    <a:lstStyle/>
                    <a:p>
                      <a:pPr indent="0" lvl="0" marL="0" marR="0" rtl="0" algn="l">
                        <a:spcBef>
                          <a:spcPts val="0"/>
                        </a:spcBef>
                        <a:spcAft>
                          <a:spcPts val="0"/>
                        </a:spcAft>
                        <a:buNone/>
                      </a:pPr>
                      <a:r>
                        <a:rPr lang="en-US" sz="2000">
                          <a:solidFill>
                            <a:srgbClr val="FFFFFF"/>
                          </a:solidFill>
                          <a:latin typeface="Calibri"/>
                          <a:ea typeface="Calibri"/>
                          <a:cs typeface="Calibri"/>
                          <a:sym typeface="Calibri"/>
                        </a:rPr>
                        <a:t>Challenges</a:t>
                      </a:r>
                      <a:endParaRPr sz="1200">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00000"/>
                    </a:solidFill>
                  </a:tcPr>
                </a:tc>
              </a:tr>
              <a:tr h="254000">
                <a:tc>
                  <a:txBody>
                    <a:bodyPr/>
                    <a:lstStyle/>
                    <a:p>
                      <a:pPr indent="0" lvl="0" marL="0" marR="0" rtl="0" algn="l">
                        <a:spcBef>
                          <a:spcPts val="0"/>
                        </a:spcBef>
                        <a:spcAft>
                          <a:spcPts val="0"/>
                        </a:spcAft>
                        <a:buNone/>
                      </a:pPr>
                      <a:r>
                        <a:rPr lang="en-US" sz="2000">
                          <a:latin typeface="Calibri"/>
                          <a:ea typeface="Calibri"/>
                          <a:cs typeface="Calibri"/>
                          <a:sym typeface="Calibri"/>
                        </a:rPr>
                        <a:t>Long, fat pipes (large data transfers)</a:t>
                      </a:r>
                      <a:endParaRPr sz="1200">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2000">
                          <a:latin typeface="Calibri"/>
                          <a:ea typeface="Calibri"/>
                          <a:cs typeface="Calibri"/>
                          <a:sym typeface="Calibri"/>
                        </a:rPr>
                        <a:t>Many packets “in flight”; loss shuts down pipeline</a:t>
                      </a:r>
                      <a:endParaRPr sz="1200">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4000">
                <a:tc>
                  <a:txBody>
                    <a:bodyPr/>
                    <a:lstStyle/>
                    <a:p>
                      <a:pPr indent="0" lvl="0" marL="0" marR="0" rtl="0" algn="l">
                        <a:spcBef>
                          <a:spcPts val="0"/>
                        </a:spcBef>
                        <a:spcAft>
                          <a:spcPts val="0"/>
                        </a:spcAft>
                        <a:buNone/>
                      </a:pPr>
                      <a:r>
                        <a:rPr lang="en-US" sz="2000">
                          <a:latin typeface="Calibri"/>
                          <a:ea typeface="Calibri"/>
                          <a:cs typeface="Calibri"/>
                          <a:sym typeface="Calibri"/>
                        </a:rPr>
                        <a:t>Wireless networks</a:t>
                      </a:r>
                      <a:endParaRPr sz="1200">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2000">
                          <a:latin typeface="Calibri"/>
                          <a:ea typeface="Calibri"/>
                          <a:cs typeface="Calibri"/>
                          <a:sym typeface="Calibri"/>
                        </a:rPr>
                        <a:t>Loss due to noisy wireless links, mobility; TCP treat this as congestion loss</a:t>
                      </a:r>
                      <a:endParaRPr sz="1200">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4000">
                <a:tc>
                  <a:txBody>
                    <a:bodyPr/>
                    <a:lstStyle/>
                    <a:p>
                      <a:pPr indent="0" lvl="0" marL="0" marR="0" rtl="0" algn="l">
                        <a:spcBef>
                          <a:spcPts val="0"/>
                        </a:spcBef>
                        <a:spcAft>
                          <a:spcPts val="0"/>
                        </a:spcAft>
                        <a:buNone/>
                      </a:pPr>
                      <a:r>
                        <a:rPr lang="en-US" sz="2000">
                          <a:latin typeface="Calibri"/>
                          <a:ea typeface="Calibri"/>
                          <a:cs typeface="Calibri"/>
                          <a:sym typeface="Calibri"/>
                        </a:rPr>
                        <a:t>Long-delay links</a:t>
                      </a:r>
                      <a:endParaRPr sz="1200">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2000">
                          <a:latin typeface="Calibri"/>
                          <a:ea typeface="Calibri"/>
                          <a:cs typeface="Calibri"/>
                          <a:sym typeface="Calibri"/>
                        </a:rPr>
                        <a:t>Extremely long RTTs</a:t>
                      </a:r>
                      <a:endParaRPr sz="1200">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4000">
                <a:tc>
                  <a:txBody>
                    <a:bodyPr/>
                    <a:lstStyle/>
                    <a:p>
                      <a:pPr indent="0" lvl="0" marL="0" marR="0" rtl="0" algn="l">
                        <a:spcBef>
                          <a:spcPts val="0"/>
                        </a:spcBef>
                        <a:spcAft>
                          <a:spcPts val="0"/>
                        </a:spcAft>
                        <a:buNone/>
                      </a:pPr>
                      <a:r>
                        <a:rPr lang="en-US" sz="2000">
                          <a:latin typeface="Calibri"/>
                          <a:ea typeface="Calibri"/>
                          <a:cs typeface="Calibri"/>
                          <a:sym typeface="Calibri"/>
                        </a:rPr>
                        <a:t>Data center networks</a:t>
                      </a:r>
                      <a:endParaRPr sz="1200">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2000">
                          <a:latin typeface="Calibri"/>
                          <a:ea typeface="Calibri"/>
                          <a:cs typeface="Calibri"/>
                          <a:sym typeface="Calibri"/>
                        </a:rPr>
                        <a:t>Latency sensitive</a:t>
                      </a:r>
                      <a:endParaRPr sz="1200">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4000">
                <a:tc>
                  <a:txBody>
                    <a:bodyPr/>
                    <a:lstStyle/>
                    <a:p>
                      <a:pPr indent="0" lvl="0" marL="0" marR="0" rtl="0" algn="l">
                        <a:spcBef>
                          <a:spcPts val="0"/>
                        </a:spcBef>
                        <a:spcAft>
                          <a:spcPts val="0"/>
                        </a:spcAft>
                        <a:buNone/>
                      </a:pPr>
                      <a:r>
                        <a:rPr lang="en-US" sz="2000">
                          <a:latin typeface="Calibri"/>
                          <a:ea typeface="Calibri"/>
                          <a:cs typeface="Calibri"/>
                          <a:sym typeface="Calibri"/>
                        </a:rPr>
                        <a:t>Background traffic flows</a:t>
                      </a:r>
                      <a:endParaRPr sz="1200">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2000">
                          <a:latin typeface="Calibri"/>
                          <a:ea typeface="Calibri"/>
                          <a:cs typeface="Calibri"/>
                          <a:sym typeface="Calibri"/>
                        </a:rPr>
                        <a:t>Low priority, “background” TCP flows </a:t>
                      </a:r>
                      <a:endParaRPr sz="1200">
                        <a:latin typeface="Calibri"/>
                        <a:ea typeface="Calibri"/>
                        <a:cs typeface="Calibri"/>
                        <a:sym typeface="Calibri"/>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8331" name="Google Shape;8331;p18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27">
                                            <p:txEl>
                                              <p:pRg end="0" st="0"/>
                                            </p:txEl>
                                          </p:spTgt>
                                        </p:tgtEl>
                                        <p:attrNameLst>
                                          <p:attrName>style.visibility</p:attrName>
                                        </p:attrNameLst>
                                      </p:cBhvr>
                                      <p:to>
                                        <p:strVal val="visible"/>
                                      </p:to>
                                    </p:set>
                                    <p:animEffect filter="fade" transition="in">
                                      <p:cBhvr>
                                        <p:cTn dur="500"/>
                                        <p:tgtEl>
                                          <p:spTgt spid="83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27">
                                            <p:txEl>
                                              <p:pRg end="1" st="1"/>
                                            </p:txEl>
                                          </p:spTgt>
                                        </p:tgtEl>
                                        <p:attrNameLst>
                                          <p:attrName>style.visibility</p:attrName>
                                        </p:attrNameLst>
                                      </p:cBhvr>
                                      <p:to>
                                        <p:strVal val="visible"/>
                                      </p:to>
                                    </p:set>
                                    <p:animEffect filter="fade" transition="in">
                                      <p:cBhvr>
                                        <p:cTn dur="500"/>
                                        <p:tgtEl>
                                          <p:spTgt spid="832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27">
                                            <p:txEl>
                                              <p:pRg end="2" st="2"/>
                                            </p:txEl>
                                          </p:spTgt>
                                        </p:tgtEl>
                                        <p:attrNameLst>
                                          <p:attrName>style.visibility</p:attrName>
                                        </p:attrNameLst>
                                      </p:cBhvr>
                                      <p:to>
                                        <p:strVal val="visible"/>
                                      </p:to>
                                    </p:set>
                                    <p:animEffect filter="fade" transition="in">
                                      <p:cBhvr>
                                        <p:cTn dur="500"/>
                                        <p:tgtEl>
                                          <p:spTgt spid="8327">
                                            <p:txEl>
                                              <p:pRg end="2" st="2"/>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330"/>
                                        </p:tgtEl>
                                        <p:attrNameLst>
                                          <p:attrName>style.visibility</p:attrName>
                                        </p:attrNameLst>
                                      </p:cBhvr>
                                      <p:to>
                                        <p:strVal val="visible"/>
                                      </p:to>
                                    </p:set>
                                    <p:animEffect filter="fade" transition="in">
                                      <p:cBhvr>
                                        <p:cTn dur="500"/>
                                        <p:tgtEl>
                                          <p:spTgt spid="83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29"/>
                                        </p:tgtEl>
                                        <p:attrNameLst>
                                          <p:attrName>style.visibility</p:attrName>
                                        </p:attrNameLst>
                                      </p:cBhvr>
                                      <p:to>
                                        <p:strVal val="visible"/>
                                      </p:to>
                                    </p:set>
                                    <p:animEffect filter="fade" transition="in">
                                      <p:cBhvr>
                                        <p:cTn dur="500"/>
                                        <p:tgtEl>
                                          <p:spTgt spid="83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6" name="Shape 8336"/>
        <p:cNvGrpSpPr/>
        <p:nvPr/>
      </p:nvGrpSpPr>
      <p:grpSpPr>
        <a:xfrm>
          <a:off x="0" y="0"/>
          <a:ext cx="0" cy="0"/>
          <a:chOff x="0" y="0"/>
          <a:chExt cx="0" cy="0"/>
        </a:xfrm>
      </p:grpSpPr>
      <p:sp>
        <p:nvSpPr>
          <p:cNvPr id="8337" name="Google Shape;8337;p190"/>
          <p:cNvSpPr txBox="1"/>
          <p:nvPr>
            <p:ph idx="1" type="body"/>
          </p:nvPr>
        </p:nvSpPr>
        <p:spPr>
          <a:xfrm>
            <a:off x="838200" y="1540043"/>
            <a:ext cx="10515600" cy="1419057"/>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application-layer protocol, on top of UDP</a:t>
            </a:r>
            <a:endParaRPr/>
          </a:p>
          <a:p>
            <a:pPr indent="-231775" lvl="1" marL="695325" rtl="0" algn="l">
              <a:lnSpc>
                <a:spcPct val="90000"/>
              </a:lnSpc>
              <a:spcBef>
                <a:spcPts val="500"/>
              </a:spcBef>
              <a:spcAft>
                <a:spcPts val="0"/>
              </a:spcAft>
              <a:buSzPts val="2600"/>
              <a:buChar char="•"/>
            </a:pPr>
            <a:r>
              <a:rPr lang="en-US" sz="2600"/>
              <a:t>increase performance of HTTP</a:t>
            </a:r>
            <a:endParaRPr/>
          </a:p>
          <a:p>
            <a:pPr indent="-231775" lvl="1" marL="695325" rtl="0" algn="l">
              <a:lnSpc>
                <a:spcPct val="90000"/>
              </a:lnSpc>
              <a:spcBef>
                <a:spcPts val="500"/>
              </a:spcBef>
              <a:spcAft>
                <a:spcPts val="0"/>
              </a:spcAft>
              <a:buSzPts val="2600"/>
              <a:buChar char="•"/>
            </a:pPr>
            <a:r>
              <a:rPr lang="en-US" sz="2600"/>
              <a:t>deployed on many Google servers, apps (Chrome, mobile YouTube app) </a:t>
            </a:r>
            <a:endParaRPr/>
          </a:p>
          <a:p>
            <a:pPr indent="0" lvl="0" marL="130175" rtl="0" algn="l">
              <a:lnSpc>
                <a:spcPct val="90000"/>
              </a:lnSpc>
              <a:spcBef>
                <a:spcPts val="1000"/>
              </a:spcBef>
              <a:spcAft>
                <a:spcPts val="0"/>
              </a:spcAft>
              <a:buSzPts val="2800"/>
              <a:buNone/>
            </a:pPr>
            <a:r>
              <a:t/>
            </a:r>
            <a:endParaRPr/>
          </a:p>
        </p:txBody>
      </p:sp>
      <p:sp>
        <p:nvSpPr>
          <p:cNvPr id="8338" name="Google Shape;8338;p190"/>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QUIC: Quick UDP Internet Connections</a:t>
            </a:r>
            <a:endParaRPr b="0" sz="4400"/>
          </a:p>
        </p:txBody>
      </p:sp>
      <p:grpSp>
        <p:nvGrpSpPr>
          <p:cNvPr id="8339" name="Google Shape;8339;p190"/>
          <p:cNvGrpSpPr/>
          <p:nvPr/>
        </p:nvGrpSpPr>
        <p:grpSpPr>
          <a:xfrm>
            <a:off x="2484036" y="3362958"/>
            <a:ext cx="6857901" cy="2748783"/>
            <a:chOff x="2217336" y="1877058"/>
            <a:chExt cx="6857901" cy="2748783"/>
          </a:xfrm>
        </p:grpSpPr>
        <p:sp>
          <p:nvSpPr>
            <p:cNvPr id="8340" name="Google Shape;8340;p190"/>
            <p:cNvSpPr/>
            <p:nvPr/>
          </p:nvSpPr>
          <p:spPr>
            <a:xfrm>
              <a:off x="3743058" y="3625405"/>
              <a:ext cx="1905057" cy="455280"/>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41" name="Google Shape;8341;p190"/>
            <p:cNvSpPr txBox="1"/>
            <p:nvPr/>
          </p:nvSpPr>
          <p:spPr>
            <a:xfrm>
              <a:off x="4518545" y="3668766"/>
              <a:ext cx="36420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IP</a:t>
              </a:r>
              <a:endParaRPr/>
            </a:p>
          </p:txBody>
        </p:sp>
        <p:sp>
          <p:nvSpPr>
            <p:cNvPr id="8342" name="Google Shape;8342;p190"/>
            <p:cNvSpPr/>
            <p:nvPr/>
          </p:nvSpPr>
          <p:spPr>
            <a:xfrm>
              <a:off x="3744927" y="3054009"/>
              <a:ext cx="1905057" cy="455280"/>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43" name="Google Shape;8343;p190"/>
            <p:cNvSpPr txBox="1"/>
            <p:nvPr/>
          </p:nvSpPr>
          <p:spPr>
            <a:xfrm>
              <a:off x="4434744" y="3100445"/>
              <a:ext cx="53948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TCP</a:t>
              </a:r>
              <a:endParaRPr/>
            </a:p>
          </p:txBody>
        </p:sp>
        <p:sp>
          <p:nvSpPr>
            <p:cNvPr id="8344" name="Google Shape;8344;p190"/>
            <p:cNvSpPr/>
            <p:nvPr/>
          </p:nvSpPr>
          <p:spPr>
            <a:xfrm>
              <a:off x="3745776" y="2472222"/>
              <a:ext cx="1905057" cy="455280"/>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45" name="Google Shape;8345;p190"/>
            <p:cNvSpPr txBox="1"/>
            <p:nvPr/>
          </p:nvSpPr>
          <p:spPr>
            <a:xfrm>
              <a:off x="4435593" y="2518658"/>
              <a:ext cx="50025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TLS</a:t>
              </a:r>
              <a:endParaRPr/>
            </a:p>
          </p:txBody>
        </p:sp>
        <p:grpSp>
          <p:nvGrpSpPr>
            <p:cNvPr id="8346" name="Google Shape;8346;p190"/>
            <p:cNvGrpSpPr/>
            <p:nvPr/>
          </p:nvGrpSpPr>
          <p:grpSpPr>
            <a:xfrm>
              <a:off x="3743058" y="1887725"/>
              <a:ext cx="1905057" cy="455283"/>
              <a:chOff x="975444" y="4703759"/>
              <a:chExt cx="2128813" cy="498521"/>
            </a:xfrm>
          </p:grpSpPr>
          <p:sp>
            <p:nvSpPr>
              <p:cNvPr id="8347" name="Google Shape;8347;p190"/>
              <p:cNvSpPr/>
              <p:nvPr/>
            </p:nvSpPr>
            <p:spPr>
              <a:xfrm>
                <a:off x="975444" y="4703759"/>
                <a:ext cx="2128813" cy="498521"/>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48" name="Google Shape;8348;p190"/>
              <p:cNvSpPr txBox="1"/>
              <p:nvPr/>
            </p:nvSpPr>
            <p:spPr>
              <a:xfrm>
                <a:off x="1576949" y="4754605"/>
                <a:ext cx="982079" cy="4044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HTTP/2</a:t>
                </a:r>
                <a:endParaRPr/>
              </a:p>
            </p:txBody>
          </p:sp>
        </p:grpSp>
        <p:sp>
          <p:nvSpPr>
            <p:cNvPr id="8349" name="Google Shape;8349;p190"/>
            <p:cNvSpPr/>
            <p:nvPr/>
          </p:nvSpPr>
          <p:spPr>
            <a:xfrm>
              <a:off x="6229839" y="3627880"/>
              <a:ext cx="1905057" cy="455279"/>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50" name="Google Shape;8350;p190"/>
            <p:cNvSpPr txBox="1"/>
            <p:nvPr/>
          </p:nvSpPr>
          <p:spPr>
            <a:xfrm>
              <a:off x="7005326" y="3671238"/>
              <a:ext cx="36420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IP</a:t>
              </a:r>
              <a:endParaRPr/>
            </a:p>
          </p:txBody>
        </p:sp>
        <p:sp>
          <p:nvSpPr>
            <p:cNvPr id="8351" name="Google Shape;8351;p190"/>
            <p:cNvSpPr/>
            <p:nvPr/>
          </p:nvSpPr>
          <p:spPr>
            <a:xfrm>
              <a:off x="6231708" y="3143406"/>
              <a:ext cx="1905057" cy="368352"/>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52" name="Google Shape;8352;p190"/>
            <p:cNvSpPr txBox="1"/>
            <p:nvPr/>
          </p:nvSpPr>
          <p:spPr>
            <a:xfrm>
              <a:off x="6908533" y="3132142"/>
              <a:ext cx="59503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UDP</a:t>
              </a:r>
              <a:endParaRPr/>
            </a:p>
          </p:txBody>
        </p:sp>
        <p:sp>
          <p:nvSpPr>
            <p:cNvPr id="8353" name="Google Shape;8353;p190"/>
            <p:cNvSpPr/>
            <p:nvPr/>
          </p:nvSpPr>
          <p:spPr>
            <a:xfrm>
              <a:off x="6232557" y="2348686"/>
              <a:ext cx="1905057" cy="574888"/>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54" name="Google Shape;8354;p190"/>
            <p:cNvSpPr txBox="1"/>
            <p:nvPr/>
          </p:nvSpPr>
          <p:spPr>
            <a:xfrm>
              <a:off x="6790903" y="2455138"/>
              <a:ext cx="67197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p:txBody>
        </p:sp>
        <p:sp>
          <p:nvSpPr>
            <p:cNvPr id="8355" name="Google Shape;8355;p190"/>
            <p:cNvSpPr/>
            <p:nvPr/>
          </p:nvSpPr>
          <p:spPr>
            <a:xfrm>
              <a:off x="6229839" y="1877061"/>
              <a:ext cx="1905057" cy="397789"/>
            </a:xfrm>
            <a:prstGeom prst="rect">
              <a:avLst/>
            </a:prstGeom>
            <a:solidFill>
              <a:srgbClr val="EAF1DD"/>
            </a:solidFill>
            <a:ln cap="flat" cmpd="sng" w="25400">
              <a:solidFill>
                <a:srgbClr val="7692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356" name="Google Shape;8356;p190"/>
            <p:cNvSpPr txBox="1"/>
            <p:nvPr/>
          </p:nvSpPr>
          <p:spPr>
            <a:xfrm>
              <a:off x="6351472" y="1877058"/>
              <a:ext cx="17676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HTTP/2 </a:t>
              </a:r>
              <a:r>
                <a:rPr b="0" i="0" lang="en-US" sz="1600" u="none" cap="none" strike="noStrike">
                  <a:solidFill>
                    <a:srgbClr val="000000"/>
                  </a:solidFill>
                  <a:latin typeface="Calibri"/>
                  <a:ea typeface="Calibri"/>
                  <a:cs typeface="Calibri"/>
                  <a:sym typeface="Calibri"/>
                </a:rPr>
                <a:t>(slimmed)</a:t>
              </a:r>
              <a:endParaRPr/>
            </a:p>
          </p:txBody>
        </p:sp>
        <p:cxnSp>
          <p:nvCxnSpPr>
            <p:cNvPr id="8357" name="Google Shape;8357;p190"/>
            <p:cNvCxnSpPr/>
            <p:nvPr/>
          </p:nvCxnSpPr>
          <p:spPr>
            <a:xfrm>
              <a:off x="3333329" y="3569813"/>
              <a:ext cx="5147262" cy="0"/>
            </a:xfrm>
            <a:prstGeom prst="straightConnector1">
              <a:avLst/>
            </a:prstGeom>
            <a:noFill/>
            <a:ln cap="flat" cmpd="sng" w="12700">
              <a:solidFill>
                <a:srgbClr val="000000"/>
              </a:solidFill>
              <a:prstDash val="dash"/>
              <a:round/>
              <a:headEnd len="sm" w="sm" type="none"/>
              <a:tailEnd len="sm" w="sm" type="none"/>
            </a:ln>
          </p:spPr>
        </p:cxnSp>
        <p:cxnSp>
          <p:nvCxnSpPr>
            <p:cNvPr id="8358" name="Google Shape;8358;p190"/>
            <p:cNvCxnSpPr/>
            <p:nvPr/>
          </p:nvCxnSpPr>
          <p:spPr>
            <a:xfrm>
              <a:off x="3352451" y="2994658"/>
              <a:ext cx="5147262" cy="0"/>
            </a:xfrm>
            <a:prstGeom prst="straightConnector1">
              <a:avLst/>
            </a:prstGeom>
            <a:noFill/>
            <a:ln cap="flat" cmpd="sng" w="12700">
              <a:solidFill>
                <a:srgbClr val="000000"/>
              </a:solidFill>
              <a:prstDash val="dash"/>
              <a:round/>
              <a:headEnd len="sm" w="sm" type="none"/>
              <a:tailEnd len="sm" w="sm" type="none"/>
            </a:ln>
          </p:spPr>
        </p:cxnSp>
        <p:sp>
          <p:nvSpPr>
            <p:cNvPr id="8359" name="Google Shape;8359;p190"/>
            <p:cNvSpPr txBox="1"/>
            <p:nvPr/>
          </p:nvSpPr>
          <p:spPr>
            <a:xfrm>
              <a:off x="2349067" y="3671237"/>
              <a:ext cx="1224388"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Network</a:t>
              </a:r>
              <a:endParaRPr/>
            </a:p>
          </p:txBody>
        </p:sp>
        <p:sp>
          <p:nvSpPr>
            <p:cNvPr id="8360" name="Google Shape;8360;p190"/>
            <p:cNvSpPr txBox="1"/>
            <p:nvPr/>
          </p:nvSpPr>
          <p:spPr>
            <a:xfrm>
              <a:off x="2355238" y="3077264"/>
              <a:ext cx="1224388"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Transport</a:t>
              </a:r>
              <a:endParaRPr/>
            </a:p>
          </p:txBody>
        </p:sp>
        <p:sp>
          <p:nvSpPr>
            <p:cNvPr id="8361" name="Google Shape;8361;p190"/>
            <p:cNvSpPr txBox="1"/>
            <p:nvPr/>
          </p:nvSpPr>
          <p:spPr>
            <a:xfrm>
              <a:off x="2217336" y="2204824"/>
              <a:ext cx="1379850"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Application</a:t>
              </a:r>
              <a:endParaRPr/>
            </a:p>
          </p:txBody>
        </p:sp>
        <p:sp>
          <p:nvSpPr>
            <p:cNvPr id="8362" name="Google Shape;8362;p190"/>
            <p:cNvSpPr txBox="1"/>
            <p:nvPr/>
          </p:nvSpPr>
          <p:spPr>
            <a:xfrm>
              <a:off x="3887697" y="4256509"/>
              <a:ext cx="176041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HTTP/2 over TCP</a:t>
              </a:r>
              <a:endParaRPr/>
            </a:p>
          </p:txBody>
        </p:sp>
        <p:sp>
          <p:nvSpPr>
            <p:cNvPr id="8363" name="Google Shape;8363;p190"/>
            <p:cNvSpPr/>
            <p:nvPr/>
          </p:nvSpPr>
          <p:spPr>
            <a:xfrm>
              <a:off x="8194669" y="1877058"/>
              <a:ext cx="155448" cy="1050444"/>
            </a:xfrm>
            <a:prstGeom prst="rightBrace">
              <a:avLst>
                <a:gd fmla="val 8333" name="adj1"/>
                <a:gd fmla="val 50000" name="adj2"/>
              </a:avLst>
            </a:pr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64" name="Google Shape;8364;p190"/>
            <p:cNvSpPr txBox="1"/>
            <p:nvPr/>
          </p:nvSpPr>
          <p:spPr>
            <a:xfrm>
              <a:off x="8175178" y="2220885"/>
              <a:ext cx="900059" cy="33855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HTTP/3</a:t>
              </a:r>
              <a:endParaRPr/>
            </a:p>
          </p:txBody>
        </p:sp>
        <p:sp>
          <p:nvSpPr>
            <p:cNvPr id="8365" name="Google Shape;8365;p190"/>
            <p:cNvSpPr txBox="1"/>
            <p:nvPr/>
          </p:nvSpPr>
          <p:spPr>
            <a:xfrm>
              <a:off x="6183312" y="4220148"/>
              <a:ext cx="282641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HTTP/2 over QUIC over UDP</a:t>
              </a:r>
              <a:endParaRPr/>
            </a:p>
          </p:txBody>
        </p:sp>
      </p:grpSp>
      <p:sp>
        <p:nvSpPr>
          <p:cNvPr id="8366" name="Google Shape;8366;p19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39"/>
                                        </p:tgtEl>
                                        <p:attrNameLst>
                                          <p:attrName>style.visibility</p:attrName>
                                        </p:attrNameLst>
                                      </p:cBhvr>
                                      <p:to>
                                        <p:strVal val="visible"/>
                                      </p:to>
                                    </p:set>
                                    <p:animEffect filter="fade" transition="in">
                                      <p:cBhvr>
                                        <p:cTn dur="500"/>
                                        <p:tgtEl>
                                          <p:spTgt spid="83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1" name="Shape 8371"/>
        <p:cNvGrpSpPr/>
        <p:nvPr/>
      </p:nvGrpSpPr>
      <p:grpSpPr>
        <a:xfrm>
          <a:off x="0" y="0"/>
          <a:ext cx="0" cy="0"/>
          <a:chOff x="0" y="0"/>
          <a:chExt cx="0" cy="0"/>
        </a:xfrm>
      </p:grpSpPr>
      <p:sp>
        <p:nvSpPr>
          <p:cNvPr id="8372" name="Google Shape;8372;p19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QUIC: Quick UDP Internet Connections</a:t>
            </a:r>
            <a:endParaRPr b="0" sz="4400"/>
          </a:p>
        </p:txBody>
      </p:sp>
      <p:sp>
        <p:nvSpPr>
          <p:cNvPr id="8373" name="Google Shape;8373;p191"/>
          <p:cNvSpPr txBox="1"/>
          <p:nvPr/>
        </p:nvSpPr>
        <p:spPr>
          <a:xfrm>
            <a:off x="723900" y="1498601"/>
            <a:ext cx="10515600" cy="1028699"/>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00"/>
                </a:solidFill>
                <a:latin typeface="Calibri"/>
                <a:ea typeface="Calibri"/>
                <a:cs typeface="Calibri"/>
                <a:sym typeface="Calibri"/>
              </a:rPr>
              <a:t>adopts approaches we’ve studied in this chapter for connection establishment, error control, congestion control</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374" name="Google Shape;8374;p191"/>
          <p:cNvSpPr txBox="1"/>
          <p:nvPr>
            <p:ph idx="1" type="body"/>
          </p:nvPr>
        </p:nvSpPr>
        <p:spPr>
          <a:xfrm>
            <a:off x="806805" y="4750865"/>
            <a:ext cx="10651413" cy="1675335"/>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 multiple application-level “streams” multiplexed over single QUIC connection</a:t>
            </a:r>
            <a:endParaRPr/>
          </a:p>
          <a:p>
            <a:pPr indent="-231775" lvl="1" marL="695325" rtl="0" algn="l">
              <a:lnSpc>
                <a:spcPct val="90000"/>
              </a:lnSpc>
              <a:spcBef>
                <a:spcPts val="500"/>
              </a:spcBef>
              <a:spcAft>
                <a:spcPts val="0"/>
              </a:spcAft>
              <a:buSzPts val="2400"/>
              <a:buChar char="•"/>
            </a:pPr>
            <a:r>
              <a:rPr lang="en-US"/>
              <a:t>separate reliable data transfer, security</a:t>
            </a:r>
            <a:endParaRPr/>
          </a:p>
          <a:p>
            <a:pPr indent="-231775" lvl="1" marL="695325" rtl="0" algn="l">
              <a:lnSpc>
                <a:spcPct val="90000"/>
              </a:lnSpc>
              <a:spcBef>
                <a:spcPts val="500"/>
              </a:spcBef>
              <a:spcAft>
                <a:spcPts val="0"/>
              </a:spcAft>
              <a:buSzPts val="2400"/>
              <a:buChar char="•"/>
            </a:pPr>
            <a:r>
              <a:rPr lang="en-US"/>
              <a:t>common congestion control</a:t>
            </a:r>
            <a:endParaRPr/>
          </a:p>
          <a:p>
            <a:pPr indent="-44450" lvl="0" marL="352425" rtl="0" algn="l">
              <a:lnSpc>
                <a:spcPct val="90000"/>
              </a:lnSpc>
              <a:spcBef>
                <a:spcPts val="1000"/>
              </a:spcBef>
              <a:spcAft>
                <a:spcPts val="0"/>
              </a:spcAft>
              <a:buSzPts val="2800"/>
              <a:buNone/>
            </a:pPr>
            <a:r>
              <a:t/>
            </a:r>
            <a:endParaRPr/>
          </a:p>
        </p:txBody>
      </p:sp>
      <p:sp>
        <p:nvSpPr>
          <p:cNvPr id="8375" name="Google Shape;8375;p191"/>
          <p:cNvSpPr txBox="1"/>
          <p:nvPr/>
        </p:nvSpPr>
        <p:spPr>
          <a:xfrm>
            <a:off x="673100" y="2565401"/>
            <a:ext cx="10515600" cy="2095499"/>
          </a:xfrm>
          <a:prstGeom prst="rect">
            <a:avLst/>
          </a:prstGeom>
          <a:noFill/>
          <a:ln>
            <a:noFill/>
          </a:ln>
        </p:spPr>
        <p:txBody>
          <a:bodyPr anchorCtr="0" anchor="t" bIns="45700" lIns="91425" spcFirstLastPara="1" rIns="91425" wrap="square" tIns="45700">
            <a:normAutofit/>
          </a:bodyPr>
          <a:lstStyle/>
          <a:p>
            <a:pPr indent="-231775" lvl="1" marL="695325" marR="0" rtl="0" algn="l">
              <a:lnSpc>
                <a:spcPct val="90000"/>
              </a:lnSpc>
              <a:spcBef>
                <a:spcPts val="0"/>
              </a:spcBef>
              <a:spcAft>
                <a:spcPts val="0"/>
              </a:spcAft>
              <a:buClr>
                <a:srgbClr val="0000A8"/>
              </a:buClr>
              <a:buSzPts val="2600"/>
              <a:buFont typeface="Arial"/>
              <a:buChar char="•"/>
            </a:pPr>
            <a:r>
              <a:rPr b="1" i="0" lang="en-US" sz="2600" u="none" cap="none" strike="noStrike">
                <a:solidFill>
                  <a:srgbClr val="0000A3"/>
                </a:solidFill>
                <a:latin typeface="Calibri"/>
                <a:ea typeface="Calibri"/>
                <a:cs typeface="Calibri"/>
                <a:sym typeface="Calibri"/>
              </a:rPr>
              <a:t>error and congestion control: </a:t>
            </a:r>
            <a:r>
              <a:rPr b="0" i="0" lang="en-US" sz="2600" u="none" cap="none" strike="noStrike">
                <a:solidFill>
                  <a:srgbClr val="000000"/>
                </a:solidFill>
                <a:latin typeface="Calibri"/>
                <a:ea typeface="Calibri"/>
                <a:cs typeface="Calibri"/>
                <a:sym typeface="Calibri"/>
              </a:rPr>
              <a:t>“Readers familiar with TCP’s loss detection and congestion control will find algorithms here that parallel well-known TCP ones.” </a:t>
            </a:r>
            <a:r>
              <a:rPr b="0" i="0" lang="en-US" sz="1800" u="none" cap="none" strike="noStrike">
                <a:solidFill>
                  <a:srgbClr val="000000"/>
                </a:solidFill>
                <a:latin typeface="Calibri"/>
                <a:ea typeface="Calibri"/>
                <a:cs typeface="Calibri"/>
                <a:sym typeface="Calibri"/>
              </a:rPr>
              <a:t>[from QUIC specification]</a:t>
            </a:r>
            <a:endParaRPr/>
          </a:p>
          <a:p>
            <a:pPr indent="-231775" lvl="1" marL="695325" marR="0" rtl="0" algn="l">
              <a:lnSpc>
                <a:spcPct val="90000"/>
              </a:lnSpc>
              <a:spcBef>
                <a:spcPts val="500"/>
              </a:spcBef>
              <a:spcAft>
                <a:spcPts val="0"/>
              </a:spcAft>
              <a:buClr>
                <a:srgbClr val="0000A8"/>
              </a:buClr>
              <a:buSzPts val="2600"/>
              <a:buFont typeface="Arial"/>
              <a:buChar char="•"/>
            </a:pPr>
            <a:r>
              <a:rPr b="1" i="0" lang="en-US" sz="2600" u="none" cap="none" strike="noStrike">
                <a:solidFill>
                  <a:srgbClr val="0000A3"/>
                </a:solidFill>
                <a:latin typeface="Calibri"/>
                <a:ea typeface="Calibri"/>
                <a:cs typeface="Calibri"/>
                <a:sym typeface="Calibri"/>
              </a:rPr>
              <a:t>connection establishment: </a:t>
            </a:r>
            <a:r>
              <a:rPr b="0" i="0" lang="en-US" sz="2600" u="none" cap="none" strike="noStrike">
                <a:solidFill>
                  <a:srgbClr val="000000"/>
                </a:solidFill>
                <a:latin typeface="Calibri"/>
                <a:ea typeface="Calibri"/>
                <a:cs typeface="Calibri"/>
                <a:sym typeface="Calibri"/>
              </a:rPr>
              <a:t>reliability, congestion control, authentication, encryption, state established in one RTT</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rgbClr val="000000"/>
              </a:solidFill>
              <a:latin typeface="Calibri"/>
              <a:ea typeface="Calibri"/>
              <a:cs typeface="Calibri"/>
              <a:sym typeface="Calibri"/>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376" name="Google Shape;8376;p19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75">
                                            <p:txEl>
                                              <p:pRg end="0" st="0"/>
                                            </p:txEl>
                                          </p:spTgt>
                                        </p:tgtEl>
                                        <p:attrNameLst>
                                          <p:attrName>style.visibility</p:attrName>
                                        </p:attrNameLst>
                                      </p:cBhvr>
                                      <p:to>
                                        <p:strVal val="visible"/>
                                      </p:to>
                                    </p:set>
                                    <p:animEffect filter="fade" transition="in">
                                      <p:cBhvr>
                                        <p:cTn dur="500"/>
                                        <p:tgtEl>
                                          <p:spTgt spid="837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75">
                                            <p:txEl>
                                              <p:pRg end="1" st="1"/>
                                            </p:txEl>
                                          </p:spTgt>
                                        </p:tgtEl>
                                        <p:attrNameLst>
                                          <p:attrName>style.visibility</p:attrName>
                                        </p:attrNameLst>
                                      </p:cBhvr>
                                      <p:to>
                                        <p:strVal val="visible"/>
                                      </p:to>
                                    </p:set>
                                    <p:animEffect filter="fade" transition="in">
                                      <p:cBhvr>
                                        <p:cTn dur="500"/>
                                        <p:tgtEl>
                                          <p:spTgt spid="837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75">
                                            <p:txEl>
                                              <p:pRg end="2" st="2"/>
                                            </p:txEl>
                                          </p:spTgt>
                                        </p:tgtEl>
                                        <p:attrNameLst>
                                          <p:attrName>style.visibility</p:attrName>
                                        </p:attrNameLst>
                                      </p:cBhvr>
                                      <p:to>
                                        <p:strVal val="visible"/>
                                      </p:to>
                                    </p:set>
                                    <p:animEffect filter="fade" transition="in">
                                      <p:cBhvr>
                                        <p:cTn dur="500"/>
                                        <p:tgtEl>
                                          <p:spTgt spid="837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75">
                                            <p:txEl>
                                              <p:pRg end="3" st="3"/>
                                            </p:txEl>
                                          </p:spTgt>
                                        </p:tgtEl>
                                        <p:attrNameLst>
                                          <p:attrName>style.visibility</p:attrName>
                                        </p:attrNameLst>
                                      </p:cBhvr>
                                      <p:to>
                                        <p:strVal val="visible"/>
                                      </p:to>
                                    </p:set>
                                    <p:animEffect filter="fade" transition="in">
                                      <p:cBhvr>
                                        <p:cTn dur="500"/>
                                        <p:tgtEl>
                                          <p:spTgt spid="837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74">
                                            <p:txEl>
                                              <p:pRg end="0" st="0"/>
                                            </p:txEl>
                                          </p:spTgt>
                                        </p:tgtEl>
                                        <p:attrNameLst>
                                          <p:attrName>style.visibility</p:attrName>
                                        </p:attrNameLst>
                                      </p:cBhvr>
                                      <p:to>
                                        <p:strVal val="visible"/>
                                      </p:to>
                                    </p:set>
                                    <p:animEffect filter="fade" transition="in">
                                      <p:cBhvr>
                                        <p:cTn dur="500"/>
                                        <p:tgtEl>
                                          <p:spTgt spid="83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74">
                                            <p:txEl>
                                              <p:pRg end="1" st="1"/>
                                            </p:txEl>
                                          </p:spTgt>
                                        </p:tgtEl>
                                        <p:attrNameLst>
                                          <p:attrName>style.visibility</p:attrName>
                                        </p:attrNameLst>
                                      </p:cBhvr>
                                      <p:to>
                                        <p:strVal val="visible"/>
                                      </p:to>
                                    </p:set>
                                    <p:animEffect filter="fade" transition="in">
                                      <p:cBhvr>
                                        <p:cTn dur="500"/>
                                        <p:tgtEl>
                                          <p:spTgt spid="837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74">
                                            <p:txEl>
                                              <p:pRg end="2" st="2"/>
                                            </p:txEl>
                                          </p:spTgt>
                                        </p:tgtEl>
                                        <p:attrNameLst>
                                          <p:attrName>style.visibility</p:attrName>
                                        </p:attrNameLst>
                                      </p:cBhvr>
                                      <p:to>
                                        <p:strVal val="visible"/>
                                      </p:to>
                                    </p:set>
                                    <p:animEffect filter="fade" transition="in">
                                      <p:cBhvr>
                                        <p:cTn dur="500"/>
                                        <p:tgtEl>
                                          <p:spTgt spid="837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74">
                                            <p:txEl>
                                              <p:pRg end="3" st="3"/>
                                            </p:txEl>
                                          </p:spTgt>
                                        </p:tgtEl>
                                        <p:attrNameLst>
                                          <p:attrName>style.visibility</p:attrName>
                                        </p:attrNameLst>
                                      </p:cBhvr>
                                      <p:to>
                                        <p:strVal val="visible"/>
                                      </p:to>
                                    </p:set>
                                    <p:animEffect filter="fade" transition="in">
                                      <p:cBhvr>
                                        <p:cTn dur="500"/>
                                        <p:tgtEl>
                                          <p:spTgt spid="8374">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1" name="Shape 8381"/>
        <p:cNvGrpSpPr/>
        <p:nvPr/>
      </p:nvGrpSpPr>
      <p:grpSpPr>
        <a:xfrm>
          <a:off x="0" y="0"/>
          <a:ext cx="0" cy="0"/>
          <a:chOff x="0" y="0"/>
          <a:chExt cx="0" cy="0"/>
        </a:xfrm>
      </p:grpSpPr>
      <p:sp>
        <p:nvSpPr>
          <p:cNvPr id="8382" name="Google Shape;8382;p19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QUIC: Connection establishment</a:t>
            </a:r>
            <a:endParaRPr b="0" sz="4400"/>
          </a:p>
        </p:txBody>
      </p:sp>
      <p:cxnSp>
        <p:nvCxnSpPr>
          <p:cNvPr id="8383" name="Google Shape;8383;p192"/>
          <p:cNvCxnSpPr/>
          <p:nvPr/>
        </p:nvCxnSpPr>
        <p:spPr>
          <a:xfrm>
            <a:off x="3068451" y="2380850"/>
            <a:ext cx="11746" cy="1766326"/>
          </a:xfrm>
          <a:prstGeom prst="straightConnector1">
            <a:avLst/>
          </a:prstGeom>
          <a:noFill/>
          <a:ln cap="flat" cmpd="sng" w="9525">
            <a:solidFill>
              <a:srgbClr val="777777"/>
            </a:solidFill>
            <a:prstDash val="solid"/>
            <a:round/>
            <a:headEnd len="med" w="med" type="none"/>
            <a:tailEnd len="med" w="med" type="none"/>
          </a:ln>
        </p:spPr>
      </p:cxnSp>
      <p:cxnSp>
        <p:nvCxnSpPr>
          <p:cNvPr id="8384" name="Google Shape;8384;p192"/>
          <p:cNvCxnSpPr/>
          <p:nvPr/>
        </p:nvCxnSpPr>
        <p:spPr>
          <a:xfrm flipH="1">
            <a:off x="4567707" y="2453875"/>
            <a:ext cx="29506" cy="1738377"/>
          </a:xfrm>
          <a:prstGeom prst="straightConnector1">
            <a:avLst/>
          </a:prstGeom>
          <a:noFill/>
          <a:ln cap="flat" cmpd="sng" w="9525">
            <a:solidFill>
              <a:srgbClr val="777777"/>
            </a:solidFill>
            <a:prstDash val="solid"/>
            <a:round/>
            <a:headEnd len="med" w="med" type="none"/>
            <a:tailEnd len="med" w="med" type="none"/>
          </a:ln>
        </p:spPr>
      </p:cxnSp>
      <p:cxnSp>
        <p:nvCxnSpPr>
          <p:cNvPr id="8385" name="Google Shape;8385;p192"/>
          <p:cNvCxnSpPr/>
          <p:nvPr/>
        </p:nvCxnSpPr>
        <p:spPr>
          <a:xfrm>
            <a:off x="3112900" y="2485625"/>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8386" name="Google Shape;8386;p192"/>
          <p:cNvSpPr txBox="1"/>
          <p:nvPr/>
        </p:nvSpPr>
        <p:spPr>
          <a:xfrm>
            <a:off x="1411272" y="2446164"/>
            <a:ext cx="1667444"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TCP handshake</a:t>
            </a:r>
            <a:endParaRPr/>
          </a:p>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(transport layer)</a:t>
            </a:r>
            <a:endParaRPr/>
          </a:p>
        </p:txBody>
      </p:sp>
      <p:grpSp>
        <p:nvGrpSpPr>
          <p:cNvPr id="8387" name="Google Shape;8387;p192"/>
          <p:cNvGrpSpPr/>
          <p:nvPr/>
        </p:nvGrpSpPr>
        <p:grpSpPr>
          <a:xfrm>
            <a:off x="2596963" y="1844275"/>
            <a:ext cx="620713" cy="487363"/>
            <a:chOff x="-44" y="1473"/>
            <a:chExt cx="981" cy="1105"/>
          </a:xfrm>
        </p:grpSpPr>
        <p:pic>
          <p:nvPicPr>
            <p:cNvPr descr="desktop_computer_stylized_medium" id="8388" name="Google Shape;8388;p19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389" name="Google Shape;8389;p19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390" name="Google Shape;8390;p192"/>
          <p:cNvGrpSpPr/>
          <p:nvPr/>
        </p:nvGrpSpPr>
        <p:grpSpPr>
          <a:xfrm>
            <a:off x="4405125" y="1825225"/>
            <a:ext cx="336550" cy="512763"/>
            <a:chOff x="4140" y="429"/>
            <a:chExt cx="1425" cy="2396"/>
          </a:xfrm>
        </p:grpSpPr>
        <p:sp>
          <p:nvSpPr>
            <p:cNvPr id="8391" name="Google Shape;8391;p19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392" name="Google Shape;8392;p192"/>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393" name="Google Shape;8393;p19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394" name="Google Shape;8394;p19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395" name="Google Shape;8395;p192"/>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396" name="Google Shape;8396;p192"/>
            <p:cNvGrpSpPr/>
            <p:nvPr/>
          </p:nvGrpSpPr>
          <p:grpSpPr>
            <a:xfrm>
              <a:off x="4751" y="666"/>
              <a:ext cx="578" cy="148"/>
              <a:chOff x="617" y="2566"/>
              <a:chExt cx="721" cy="142"/>
            </a:xfrm>
          </p:grpSpPr>
          <p:sp>
            <p:nvSpPr>
              <p:cNvPr id="8397" name="Google Shape;8397;p192"/>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398" name="Google Shape;8398;p192"/>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399" name="Google Shape;8399;p192"/>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400" name="Google Shape;8400;p192"/>
            <p:cNvGrpSpPr/>
            <p:nvPr/>
          </p:nvGrpSpPr>
          <p:grpSpPr>
            <a:xfrm>
              <a:off x="4745" y="993"/>
              <a:ext cx="585" cy="134"/>
              <a:chOff x="611" y="2567"/>
              <a:chExt cx="730" cy="139"/>
            </a:xfrm>
          </p:grpSpPr>
          <p:sp>
            <p:nvSpPr>
              <p:cNvPr id="8401" name="Google Shape;8401;p192"/>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02" name="Google Shape;8402;p192"/>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403" name="Google Shape;8403;p192"/>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04" name="Google Shape;8404;p192"/>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405" name="Google Shape;8405;p192"/>
            <p:cNvGrpSpPr/>
            <p:nvPr/>
          </p:nvGrpSpPr>
          <p:grpSpPr>
            <a:xfrm>
              <a:off x="4738" y="1630"/>
              <a:ext cx="578" cy="149"/>
              <a:chOff x="618" y="2571"/>
              <a:chExt cx="720" cy="137"/>
            </a:xfrm>
          </p:grpSpPr>
          <p:sp>
            <p:nvSpPr>
              <p:cNvPr id="8406" name="Google Shape;8406;p192"/>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07" name="Google Shape;8407;p192"/>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408" name="Google Shape;8408;p19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409" name="Google Shape;8409;p192"/>
            <p:cNvGrpSpPr/>
            <p:nvPr/>
          </p:nvGrpSpPr>
          <p:grpSpPr>
            <a:xfrm>
              <a:off x="4738" y="1327"/>
              <a:ext cx="584" cy="141"/>
              <a:chOff x="613" y="2568"/>
              <a:chExt cx="728" cy="141"/>
            </a:xfrm>
          </p:grpSpPr>
          <p:sp>
            <p:nvSpPr>
              <p:cNvPr id="8410" name="Google Shape;8410;p192"/>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11" name="Google Shape;8411;p192"/>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412" name="Google Shape;8412;p192"/>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13" name="Google Shape;8413;p19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14" name="Google Shape;8414;p19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15" name="Google Shape;8415;p192"/>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16" name="Google Shape;8416;p19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17" name="Google Shape;8417;p192"/>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18" name="Google Shape;8418;p192"/>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19" name="Google Shape;8419;p192"/>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20" name="Google Shape;8420;p192"/>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8421" name="Google Shape;8421;p192"/>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22" name="Google Shape;8422;p192"/>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423" name="Google Shape;8423;p192"/>
          <p:cNvCxnSpPr/>
          <p:nvPr/>
        </p:nvCxnSpPr>
        <p:spPr>
          <a:xfrm flipH="1">
            <a:off x="3079562" y="2852337"/>
            <a:ext cx="1479550" cy="315913"/>
          </a:xfrm>
          <a:prstGeom prst="straightConnector1">
            <a:avLst/>
          </a:prstGeom>
          <a:noFill/>
          <a:ln cap="flat" cmpd="sng" w="28575">
            <a:solidFill>
              <a:srgbClr val="000099"/>
            </a:solidFill>
            <a:prstDash val="solid"/>
            <a:round/>
            <a:headEnd len="med" w="med" type="none"/>
            <a:tailEnd len="med" w="med" type="triangle"/>
          </a:ln>
        </p:spPr>
      </p:cxnSp>
      <p:cxnSp>
        <p:nvCxnSpPr>
          <p:cNvPr id="8424" name="Google Shape;8424;p192"/>
          <p:cNvCxnSpPr/>
          <p:nvPr/>
        </p:nvCxnSpPr>
        <p:spPr>
          <a:xfrm>
            <a:off x="3091128" y="3182311"/>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8425" name="Google Shape;8425;p192"/>
          <p:cNvSpPr txBox="1"/>
          <p:nvPr/>
        </p:nvSpPr>
        <p:spPr>
          <a:xfrm>
            <a:off x="1457504" y="3320650"/>
            <a:ext cx="1556836"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TLS handshake</a:t>
            </a:r>
            <a:endParaRPr/>
          </a:p>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(security)</a:t>
            </a:r>
            <a:endParaRPr/>
          </a:p>
        </p:txBody>
      </p:sp>
      <p:cxnSp>
        <p:nvCxnSpPr>
          <p:cNvPr id="8426" name="Google Shape;8426;p192"/>
          <p:cNvCxnSpPr/>
          <p:nvPr/>
        </p:nvCxnSpPr>
        <p:spPr>
          <a:xfrm flipH="1">
            <a:off x="3057790" y="3549023"/>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8427" name="Google Shape;8427;p192"/>
          <p:cNvSpPr txBox="1"/>
          <p:nvPr/>
        </p:nvSpPr>
        <p:spPr>
          <a:xfrm>
            <a:off x="1198561" y="4421354"/>
            <a:ext cx="4452939" cy="2093745"/>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TCP </a:t>
            </a:r>
            <a:r>
              <a:rPr b="0" i="0" lang="en-US" sz="2000" u="none" cap="none" strike="noStrike">
                <a:solidFill>
                  <a:srgbClr val="000000"/>
                </a:solidFill>
                <a:latin typeface="Calibri"/>
                <a:ea typeface="Calibri"/>
                <a:cs typeface="Calibri"/>
                <a:sym typeface="Calibri"/>
              </a:rPr>
              <a:t>(reliability, congestion control state) </a:t>
            </a:r>
            <a:r>
              <a:rPr b="0" i="0" lang="en-US" sz="2800" u="none" cap="none" strike="noStrike">
                <a:solidFill>
                  <a:srgbClr val="000000"/>
                </a:solidFill>
                <a:latin typeface="Calibri"/>
                <a:ea typeface="Calibri"/>
                <a:cs typeface="Calibri"/>
                <a:sym typeface="Calibri"/>
              </a:rPr>
              <a:t>+ TLS </a:t>
            </a:r>
            <a:r>
              <a:rPr b="0" i="0" lang="en-US" sz="2000" u="none" cap="none" strike="noStrike">
                <a:solidFill>
                  <a:srgbClr val="000000"/>
                </a:solidFill>
                <a:latin typeface="Calibri"/>
                <a:ea typeface="Calibri"/>
                <a:cs typeface="Calibri"/>
                <a:sym typeface="Calibri"/>
              </a:rPr>
              <a:t>(authentication, crypto state)</a:t>
            </a:r>
            <a:endParaRPr/>
          </a:p>
          <a:p>
            <a:pPr indent="-215900" lvl="0" marL="508000"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2 serial handshakes</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cxnSp>
        <p:nvCxnSpPr>
          <p:cNvPr id="8428" name="Google Shape;8428;p192"/>
          <p:cNvCxnSpPr/>
          <p:nvPr/>
        </p:nvCxnSpPr>
        <p:spPr>
          <a:xfrm>
            <a:off x="3087500" y="3908025"/>
            <a:ext cx="1479550" cy="315913"/>
          </a:xfrm>
          <a:prstGeom prst="straightConnector1">
            <a:avLst/>
          </a:prstGeom>
          <a:noFill/>
          <a:ln cap="flat" cmpd="sng" w="28575">
            <a:solidFill>
              <a:schemeClr val="dk1"/>
            </a:solidFill>
            <a:prstDash val="solid"/>
            <a:round/>
            <a:headEnd len="med" w="med" type="none"/>
            <a:tailEnd len="med" w="med" type="triangle"/>
          </a:ln>
        </p:spPr>
      </p:cxnSp>
      <p:sp>
        <p:nvSpPr>
          <p:cNvPr id="8429" name="Google Shape;8429;p192"/>
          <p:cNvSpPr txBox="1"/>
          <p:nvPr/>
        </p:nvSpPr>
        <p:spPr>
          <a:xfrm>
            <a:off x="3505200" y="3860800"/>
            <a:ext cx="599716"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data</a:t>
            </a:r>
            <a:endParaRPr/>
          </a:p>
        </p:txBody>
      </p:sp>
      <p:grpSp>
        <p:nvGrpSpPr>
          <p:cNvPr id="8430" name="Google Shape;8430;p192"/>
          <p:cNvGrpSpPr/>
          <p:nvPr/>
        </p:nvGrpSpPr>
        <p:grpSpPr>
          <a:xfrm>
            <a:off x="6354761" y="1850625"/>
            <a:ext cx="5087939" cy="4753374"/>
            <a:chOff x="6354761" y="1850625"/>
            <a:chExt cx="5087939" cy="4753374"/>
          </a:xfrm>
        </p:grpSpPr>
        <p:cxnSp>
          <p:nvCxnSpPr>
            <p:cNvPr id="8431" name="Google Shape;8431;p192"/>
            <p:cNvCxnSpPr/>
            <p:nvPr/>
          </p:nvCxnSpPr>
          <p:spPr>
            <a:xfrm>
              <a:off x="8046851" y="2406250"/>
              <a:ext cx="11746" cy="1766326"/>
            </a:xfrm>
            <a:prstGeom prst="straightConnector1">
              <a:avLst/>
            </a:prstGeom>
            <a:noFill/>
            <a:ln cap="flat" cmpd="sng" w="9525">
              <a:solidFill>
                <a:srgbClr val="777777"/>
              </a:solidFill>
              <a:prstDash val="solid"/>
              <a:round/>
              <a:headEnd len="med" w="med" type="none"/>
              <a:tailEnd len="med" w="med" type="none"/>
            </a:ln>
          </p:spPr>
        </p:cxnSp>
        <p:cxnSp>
          <p:nvCxnSpPr>
            <p:cNvPr id="8432" name="Google Shape;8432;p192"/>
            <p:cNvCxnSpPr/>
            <p:nvPr/>
          </p:nvCxnSpPr>
          <p:spPr>
            <a:xfrm flipH="1">
              <a:off x="9546107" y="2479275"/>
              <a:ext cx="29506" cy="1738377"/>
            </a:xfrm>
            <a:prstGeom prst="straightConnector1">
              <a:avLst/>
            </a:prstGeom>
            <a:noFill/>
            <a:ln cap="flat" cmpd="sng" w="9525">
              <a:solidFill>
                <a:srgbClr val="777777"/>
              </a:solidFill>
              <a:prstDash val="solid"/>
              <a:round/>
              <a:headEnd len="med" w="med" type="none"/>
              <a:tailEnd len="med" w="med" type="none"/>
            </a:ln>
          </p:spPr>
        </p:cxnSp>
        <p:cxnSp>
          <p:nvCxnSpPr>
            <p:cNvPr id="8433" name="Google Shape;8433;p192"/>
            <p:cNvCxnSpPr/>
            <p:nvPr/>
          </p:nvCxnSpPr>
          <p:spPr>
            <a:xfrm>
              <a:off x="8091300" y="2511025"/>
              <a:ext cx="1479550" cy="315913"/>
            </a:xfrm>
            <a:prstGeom prst="straightConnector1">
              <a:avLst/>
            </a:prstGeom>
            <a:noFill/>
            <a:ln cap="flat" cmpd="sng" w="28575">
              <a:solidFill>
                <a:srgbClr val="000099"/>
              </a:solidFill>
              <a:prstDash val="solid"/>
              <a:round/>
              <a:headEnd len="med" w="med" type="none"/>
              <a:tailEnd len="med" w="med" type="triangle"/>
            </a:ln>
          </p:spPr>
        </p:cxnSp>
        <p:sp>
          <p:nvSpPr>
            <p:cNvPr id="8434" name="Google Shape;8434;p192"/>
            <p:cNvSpPr txBox="1"/>
            <p:nvPr/>
          </p:nvSpPr>
          <p:spPr>
            <a:xfrm>
              <a:off x="6385541" y="2649364"/>
              <a:ext cx="1701107"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600"/>
                <a:buFont typeface="Tahoma"/>
                <a:buNone/>
              </a:pPr>
              <a:r>
                <a:rPr b="0" i="0" lang="en-US" sz="1600" u="none" cap="none" strike="noStrike">
                  <a:solidFill>
                    <a:srgbClr val="CC0000"/>
                  </a:solidFill>
                  <a:latin typeface="Tahoma"/>
                  <a:ea typeface="Tahoma"/>
                  <a:cs typeface="Tahoma"/>
                  <a:sym typeface="Tahoma"/>
                </a:rPr>
                <a:t>QUIC handshake</a:t>
              </a:r>
              <a:endParaRPr/>
            </a:p>
          </p:txBody>
        </p:sp>
        <p:grpSp>
          <p:nvGrpSpPr>
            <p:cNvPr id="8435" name="Google Shape;8435;p192"/>
            <p:cNvGrpSpPr/>
            <p:nvPr/>
          </p:nvGrpSpPr>
          <p:grpSpPr>
            <a:xfrm>
              <a:off x="7575363" y="1869675"/>
              <a:ext cx="620713" cy="487363"/>
              <a:chOff x="-44" y="1473"/>
              <a:chExt cx="981" cy="1105"/>
            </a:xfrm>
          </p:grpSpPr>
          <p:pic>
            <p:nvPicPr>
              <p:cNvPr descr="desktop_computer_stylized_medium" id="8436" name="Google Shape;8436;p19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437" name="Google Shape;8437;p19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438" name="Google Shape;8438;p192"/>
            <p:cNvGrpSpPr/>
            <p:nvPr/>
          </p:nvGrpSpPr>
          <p:grpSpPr>
            <a:xfrm>
              <a:off x="9383525" y="1850625"/>
              <a:ext cx="336550" cy="512763"/>
              <a:chOff x="4140" y="429"/>
              <a:chExt cx="1425" cy="2396"/>
            </a:xfrm>
          </p:grpSpPr>
          <p:sp>
            <p:nvSpPr>
              <p:cNvPr id="8439" name="Google Shape;8439;p19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40" name="Google Shape;8440;p192"/>
              <p:cNvSpPr/>
              <p:nvPr/>
            </p:nvSpPr>
            <p:spPr>
              <a:xfrm>
                <a:off x="4207" y="429"/>
                <a:ext cx="1049"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41" name="Google Shape;8441;p19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42" name="Google Shape;8442;p19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43" name="Google Shape;8443;p192"/>
              <p:cNvSpPr/>
              <p:nvPr/>
            </p:nvSpPr>
            <p:spPr>
              <a:xfrm>
                <a:off x="4214" y="696"/>
                <a:ext cx="592"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444" name="Google Shape;8444;p192"/>
              <p:cNvGrpSpPr/>
              <p:nvPr/>
            </p:nvGrpSpPr>
            <p:grpSpPr>
              <a:xfrm>
                <a:off x="4751" y="666"/>
                <a:ext cx="578" cy="148"/>
                <a:chOff x="617" y="2566"/>
                <a:chExt cx="721" cy="142"/>
              </a:xfrm>
            </p:grpSpPr>
            <p:sp>
              <p:nvSpPr>
                <p:cNvPr id="8445" name="Google Shape;8445;p192"/>
                <p:cNvSpPr/>
                <p:nvPr/>
              </p:nvSpPr>
              <p:spPr>
                <a:xfrm>
                  <a:off x="617" y="2566"/>
                  <a:ext cx="721" cy="14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46" name="Google Shape;8446;p192"/>
                <p:cNvSpPr/>
                <p:nvPr/>
              </p:nvSpPr>
              <p:spPr>
                <a:xfrm>
                  <a:off x="634" y="2581"/>
                  <a:ext cx="688"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447" name="Google Shape;8447;p192"/>
              <p:cNvSpPr/>
              <p:nvPr/>
            </p:nvSpPr>
            <p:spPr>
              <a:xfrm>
                <a:off x="4221" y="1022"/>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448" name="Google Shape;8448;p192"/>
              <p:cNvGrpSpPr/>
              <p:nvPr/>
            </p:nvGrpSpPr>
            <p:grpSpPr>
              <a:xfrm>
                <a:off x="4745" y="993"/>
                <a:ext cx="585" cy="134"/>
                <a:chOff x="611" y="2567"/>
                <a:chExt cx="730" cy="139"/>
              </a:xfrm>
            </p:grpSpPr>
            <p:sp>
              <p:nvSpPr>
                <p:cNvPr id="8449" name="Google Shape;8449;p192"/>
                <p:cNvSpPr/>
                <p:nvPr/>
              </p:nvSpPr>
              <p:spPr>
                <a:xfrm>
                  <a:off x="611" y="2567"/>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50" name="Google Shape;8450;p192"/>
                <p:cNvSpPr/>
                <p:nvPr/>
              </p:nvSpPr>
              <p:spPr>
                <a:xfrm>
                  <a:off x="628" y="2582"/>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451" name="Google Shape;8451;p192"/>
              <p:cNvSpPr/>
              <p:nvPr/>
            </p:nvSpPr>
            <p:spPr>
              <a:xfrm>
                <a:off x="4214" y="1356"/>
                <a:ext cx="598" cy="45"/>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52" name="Google Shape;8452;p192"/>
              <p:cNvSpPr/>
              <p:nvPr/>
            </p:nvSpPr>
            <p:spPr>
              <a:xfrm>
                <a:off x="4227" y="1653"/>
                <a:ext cx="598"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453" name="Google Shape;8453;p192"/>
              <p:cNvGrpSpPr/>
              <p:nvPr/>
            </p:nvGrpSpPr>
            <p:grpSpPr>
              <a:xfrm>
                <a:off x="4738" y="1630"/>
                <a:ext cx="578" cy="149"/>
                <a:chOff x="618" y="2571"/>
                <a:chExt cx="720" cy="137"/>
              </a:xfrm>
            </p:grpSpPr>
            <p:sp>
              <p:nvSpPr>
                <p:cNvPr id="8454" name="Google Shape;8454;p192"/>
                <p:cNvSpPr/>
                <p:nvPr/>
              </p:nvSpPr>
              <p:spPr>
                <a:xfrm>
                  <a:off x="618" y="2571"/>
                  <a:ext cx="720"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55" name="Google Shape;8455;p192"/>
                <p:cNvSpPr/>
                <p:nvPr/>
              </p:nvSpPr>
              <p:spPr>
                <a:xfrm>
                  <a:off x="635" y="2585"/>
                  <a:ext cx="687"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456" name="Google Shape;8456;p19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457" name="Google Shape;8457;p192"/>
              <p:cNvGrpSpPr/>
              <p:nvPr/>
            </p:nvGrpSpPr>
            <p:grpSpPr>
              <a:xfrm>
                <a:off x="4738" y="1327"/>
                <a:ext cx="584" cy="141"/>
                <a:chOff x="613" y="2568"/>
                <a:chExt cx="728" cy="141"/>
              </a:xfrm>
            </p:grpSpPr>
            <p:sp>
              <p:nvSpPr>
                <p:cNvPr id="8458" name="Google Shape;8458;p192"/>
                <p:cNvSpPr/>
                <p:nvPr/>
              </p:nvSpPr>
              <p:spPr>
                <a:xfrm>
                  <a:off x="613" y="2568"/>
                  <a:ext cx="728"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59" name="Google Shape;8459;p192"/>
                <p:cNvSpPr/>
                <p:nvPr/>
              </p:nvSpPr>
              <p:spPr>
                <a:xfrm>
                  <a:off x="630" y="2582"/>
                  <a:ext cx="69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460" name="Google Shape;8460;p192"/>
              <p:cNvSpPr/>
              <p:nvPr/>
            </p:nvSpPr>
            <p:spPr>
              <a:xfrm>
                <a:off x="5249" y="429"/>
                <a:ext cx="67" cy="2292"/>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61" name="Google Shape;8461;p19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62" name="Google Shape;8462;p19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63" name="Google Shape;8463;p192"/>
              <p:cNvSpPr/>
              <p:nvPr/>
            </p:nvSpPr>
            <p:spPr>
              <a:xfrm>
                <a:off x="5518" y="2610"/>
                <a:ext cx="47"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64" name="Google Shape;8464;p19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65" name="Google Shape;8465;p192"/>
              <p:cNvSpPr/>
              <p:nvPr/>
            </p:nvSpPr>
            <p:spPr>
              <a:xfrm>
                <a:off x="4140" y="2677"/>
                <a:ext cx="1196"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66" name="Google Shape;8466;p192"/>
              <p:cNvSpPr/>
              <p:nvPr/>
            </p:nvSpPr>
            <p:spPr>
              <a:xfrm>
                <a:off x="4207" y="2714"/>
                <a:ext cx="1069"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67" name="Google Shape;8467;p192"/>
              <p:cNvSpPr/>
              <p:nvPr/>
            </p:nvSpPr>
            <p:spPr>
              <a:xfrm>
                <a:off x="4308" y="2380"/>
                <a:ext cx="155" cy="14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68" name="Google Shape;8468;p192"/>
              <p:cNvSpPr/>
              <p:nvPr/>
            </p:nvSpPr>
            <p:spPr>
              <a:xfrm>
                <a:off x="4483" y="2387"/>
                <a:ext cx="161"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8469" name="Google Shape;8469;p192"/>
              <p:cNvSpPr/>
              <p:nvPr/>
            </p:nvSpPr>
            <p:spPr>
              <a:xfrm>
                <a:off x="4664" y="2380"/>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470" name="Google Shape;8470;p192"/>
              <p:cNvSpPr/>
              <p:nvPr/>
            </p:nvSpPr>
            <p:spPr>
              <a:xfrm>
                <a:off x="5061" y="1838"/>
                <a:ext cx="87" cy="757"/>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8471" name="Google Shape;8471;p192"/>
            <p:cNvCxnSpPr/>
            <p:nvPr/>
          </p:nvCxnSpPr>
          <p:spPr>
            <a:xfrm flipH="1">
              <a:off x="8057962" y="2877737"/>
              <a:ext cx="1479550" cy="315913"/>
            </a:xfrm>
            <a:prstGeom prst="straightConnector1">
              <a:avLst/>
            </a:prstGeom>
            <a:noFill/>
            <a:ln cap="flat" cmpd="sng" w="28575">
              <a:solidFill>
                <a:srgbClr val="000099"/>
              </a:solidFill>
              <a:prstDash val="solid"/>
              <a:round/>
              <a:headEnd len="med" w="med" type="none"/>
              <a:tailEnd len="med" w="med" type="triangle"/>
            </a:ln>
          </p:spPr>
        </p:cxnSp>
        <p:cxnSp>
          <p:nvCxnSpPr>
            <p:cNvPr id="8472" name="Google Shape;8472;p192"/>
            <p:cNvCxnSpPr/>
            <p:nvPr/>
          </p:nvCxnSpPr>
          <p:spPr>
            <a:xfrm>
              <a:off x="8078600" y="3222225"/>
              <a:ext cx="1479550" cy="315913"/>
            </a:xfrm>
            <a:prstGeom prst="straightConnector1">
              <a:avLst/>
            </a:prstGeom>
            <a:noFill/>
            <a:ln cap="flat" cmpd="sng" w="28575">
              <a:solidFill>
                <a:schemeClr val="dk1"/>
              </a:solidFill>
              <a:prstDash val="solid"/>
              <a:round/>
              <a:headEnd len="med" w="med" type="none"/>
              <a:tailEnd len="med" w="med" type="triangle"/>
            </a:ln>
          </p:spPr>
        </p:cxnSp>
        <p:sp>
          <p:nvSpPr>
            <p:cNvPr id="8473" name="Google Shape;8473;p192"/>
            <p:cNvSpPr txBox="1"/>
            <p:nvPr/>
          </p:nvSpPr>
          <p:spPr>
            <a:xfrm>
              <a:off x="8496300" y="3175000"/>
              <a:ext cx="599716"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data</a:t>
              </a:r>
              <a:endParaRPr/>
            </a:p>
          </p:txBody>
        </p:sp>
        <p:sp>
          <p:nvSpPr>
            <p:cNvPr id="8474" name="Google Shape;8474;p192"/>
            <p:cNvSpPr txBox="1"/>
            <p:nvPr/>
          </p:nvSpPr>
          <p:spPr>
            <a:xfrm>
              <a:off x="6354761" y="4510254"/>
              <a:ext cx="5087939" cy="2093745"/>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QUIC:  </a:t>
              </a:r>
              <a:r>
                <a:rPr b="0" i="0" lang="en-US" sz="2400" u="none" cap="none" strike="noStrike">
                  <a:solidFill>
                    <a:srgbClr val="000000"/>
                  </a:solidFill>
                  <a:latin typeface="Calibri"/>
                  <a:ea typeface="Calibri"/>
                  <a:cs typeface="Calibri"/>
                  <a:sym typeface="Calibri"/>
                </a:rPr>
                <a:t>reliability, congestion control, authentication, crypto state</a:t>
              </a:r>
              <a:endParaRPr/>
            </a:p>
            <a:p>
              <a:pPr indent="-228600" lvl="0" marL="508000"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1 handshake</a:t>
              </a:r>
              <a:endParaRPr/>
            </a:p>
            <a:p>
              <a:pPr indent="0" lvl="0" marL="13017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sp>
        <p:nvSpPr>
          <p:cNvPr id="8475" name="Google Shape;8475;p19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30"/>
                                        </p:tgtEl>
                                        <p:attrNameLst>
                                          <p:attrName>style.visibility</p:attrName>
                                        </p:attrNameLst>
                                      </p:cBhvr>
                                      <p:to>
                                        <p:strVal val="visible"/>
                                      </p:to>
                                    </p:set>
                                    <p:animEffect filter="fade" transition="in">
                                      <p:cBhvr>
                                        <p:cTn dur="500"/>
                                        <p:tgtEl>
                                          <p:spTgt spid="84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0" name="Shape 8480"/>
        <p:cNvGrpSpPr/>
        <p:nvPr/>
      </p:nvGrpSpPr>
      <p:grpSpPr>
        <a:xfrm>
          <a:off x="0" y="0"/>
          <a:ext cx="0" cy="0"/>
          <a:chOff x="0" y="0"/>
          <a:chExt cx="0" cy="0"/>
        </a:xfrm>
      </p:grpSpPr>
      <p:sp>
        <p:nvSpPr>
          <p:cNvPr id="8481" name="Google Shape;8481;p19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4800"/>
              <a:t>QUIC: streams: parallelism, no HOL blocking</a:t>
            </a:r>
            <a:endParaRPr b="0" sz="4400"/>
          </a:p>
        </p:txBody>
      </p:sp>
      <p:sp>
        <p:nvSpPr>
          <p:cNvPr id="8482" name="Google Shape;8482;p193"/>
          <p:cNvSpPr txBox="1"/>
          <p:nvPr/>
        </p:nvSpPr>
        <p:spPr>
          <a:xfrm>
            <a:off x="2543977" y="6035783"/>
            <a:ext cx="144783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 HTTP 1.1</a:t>
            </a:r>
            <a:endParaRPr/>
          </a:p>
        </p:txBody>
      </p:sp>
      <p:sp>
        <p:nvSpPr>
          <p:cNvPr id="8483" name="Google Shape;8483;p193"/>
          <p:cNvSpPr/>
          <p:nvPr/>
        </p:nvSpPr>
        <p:spPr>
          <a:xfrm>
            <a:off x="1054261" y="1578653"/>
            <a:ext cx="1965566" cy="2175203"/>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484" name="Google Shape;8484;p193"/>
          <p:cNvSpPr/>
          <p:nvPr/>
        </p:nvSpPr>
        <p:spPr>
          <a:xfrm>
            <a:off x="1036173" y="4019150"/>
            <a:ext cx="1965566" cy="1278547"/>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485" name="Google Shape;8485;p193"/>
          <p:cNvSpPr/>
          <p:nvPr/>
        </p:nvSpPr>
        <p:spPr>
          <a:xfrm>
            <a:off x="1115624" y="3255550"/>
            <a:ext cx="1829965" cy="449155"/>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486" name="Google Shape;8486;p193"/>
          <p:cNvSpPr txBox="1"/>
          <p:nvPr/>
        </p:nvSpPr>
        <p:spPr>
          <a:xfrm>
            <a:off x="1249008" y="3237350"/>
            <a:ext cx="15760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TLS </a:t>
            </a:r>
            <a:r>
              <a:rPr b="0" i="0" lang="en-US" sz="1600" u="none" cap="none" strike="noStrike">
                <a:solidFill>
                  <a:srgbClr val="000000"/>
                </a:solidFill>
                <a:latin typeface="Calibri"/>
                <a:ea typeface="Calibri"/>
                <a:cs typeface="Calibri"/>
                <a:sym typeface="Calibri"/>
              </a:rPr>
              <a:t>encryption</a:t>
            </a:r>
            <a:endParaRPr b="0" i="0" sz="2400" u="none" cap="none" strike="noStrike">
              <a:solidFill>
                <a:srgbClr val="000000"/>
              </a:solidFill>
              <a:latin typeface="Calibri"/>
              <a:ea typeface="Calibri"/>
              <a:cs typeface="Calibri"/>
              <a:sym typeface="Calibri"/>
            </a:endParaRPr>
          </a:p>
        </p:txBody>
      </p:sp>
      <p:grpSp>
        <p:nvGrpSpPr>
          <p:cNvPr id="8487" name="Google Shape;8487;p193"/>
          <p:cNvGrpSpPr/>
          <p:nvPr/>
        </p:nvGrpSpPr>
        <p:grpSpPr>
          <a:xfrm>
            <a:off x="1115626" y="4169906"/>
            <a:ext cx="1829965" cy="467357"/>
            <a:chOff x="985206" y="5016160"/>
            <a:chExt cx="1509130" cy="255065"/>
          </a:xfrm>
        </p:grpSpPr>
        <p:sp>
          <p:nvSpPr>
            <p:cNvPr id="8488" name="Google Shape;8488;p193"/>
            <p:cNvSpPr/>
            <p:nvPr/>
          </p:nvSpPr>
          <p:spPr>
            <a:xfrm>
              <a:off x="985206" y="5016160"/>
              <a:ext cx="1509130" cy="245132"/>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489" name="Google Shape;8489;p193"/>
            <p:cNvSpPr txBox="1"/>
            <p:nvPr/>
          </p:nvSpPr>
          <p:spPr>
            <a:xfrm>
              <a:off x="1170162" y="5019266"/>
              <a:ext cx="1016851" cy="2519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RDT</a:t>
              </a:r>
              <a:endParaRPr/>
            </a:p>
          </p:txBody>
        </p:sp>
      </p:grpSp>
      <p:grpSp>
        <p:nvGrpSpPr>
          <p:cNvPr id="8490" name="Google Shape;8490;p193"/>
          <p:cNvGrpSpPr/>
          <p:nvPr/>
        </p:nvGrpSpPr>
        <p:grpSpPr>
          <a:xfrm>
            <a:off x="1054260" y="4684687"/>
            <a:ext cx="1925319" cy="467355"/>
            <a:chOff x="948938" y="5006227"/>
            <a:chExt cx="1587767" cy="255065"/>
          </a:xfrm>
        </p:grpSpPr>
        <p:sp>
          <p:nvSpPr>
            <p:cNvPr id="8491" name="Google Shape;8491;p193"/>
            <p:cNvSpPr/>
            <p:nvPr/>
          </p:nvSpPr>
          <p:spPr>
            <a:xfrm>
              <a:off x="985206" y="5016160"/>
              <a:ext cx="1509130" cy="245132"/>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492" name="Google Shape;8492;p193"/>
            <p:cNvSpPr txBox="1"/>
            <p:nvPr/>
          </p:nvSpPr>
          <p:spPr>
            <a:xfrm>
              <a:off x="948938" y="5006227"/>
              <a:ext cx="1587767" cy="2519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a:t>
              </a:r>
              <a:r>
                <a:rPr b="0" i="0" lang="en-US" sz="1800" u="none" cap="none" strike="noStrike">
                  <a:solidFill>
                    <a:srgbClr val="000000"/>
                  </a:solidFill>
                  <a:latin typeface="Calibri"/>
                  <a:ea typeface="Calibri"/>
                  <a:cs typeface="Calibri"/>
                  <a:sym typeface="Calibri"/>
                </a:rPr>
                <a:t>Cong. Contr.</a:t>
              </a:r>
              <a:endParaRPr b="0" i="0" sz="1600" u="none" cap="none" strike="noStrike">
                <a:solidFill>
                  <a:srgbClr val="000000"/>
                </a:solidFill>
                <a:latin typeface="Calibri"/>
                <a:ea typeface="Calibri"/>
                <a:cs typeface="Calibri"/>
                <a:sym typeface="Calibri"/>
              </a:endParaRPr>
            </a:p>
          </p:txBody>
        </p:sp>
      </p:grpSp>
      <p:sp>
        <p:nvSpPr>
          <p:cNvPr id="8493" name="Google Shape;8493;p193"/>
          <p:cNvSpPr/>
          <p:nvPr/>
        </p:nvSpPr>
        <p:spPr>
          <a:xfrm>
            <a:off x="3680782" y="1557642"/>
            <a:ext cx="1965566" cy="2175203"/>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494" name="Google Shape;8494;p193"/>
          <p:cNvSpPr txBox="1"/>
          <p:nvPr/>
        </p:nvSpPr>
        <p:spPr>
          <a:xfrm rot="-5400000">
            <a:off x="-420574" y="4419208"/>
            <a:ext cx="1533142" cy="3968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1" lang="en-US" sz="2000" u="none" cap="none" strike="noStrike">
                <a:solidFill>
                  <a:srgbClr val="000000"/>
                </a:solidFill>
                <a:latin typeface="Calibri"/>
                <a:ea typeface="Calibri"/>
                <a:cs typeface="Calibri"/>
                <a:sym typeface="Calibri"/>
              </a:rPr>
              <a:t>transport</a:t>
            </a:r>
            <a:endParaRPr/>
          </a:p>
        </p:txBody>
      </p:sp>
      <p:sp>
        <p:nvSpPr>
          <p:cNvPr id="8495" name="Google Shape;8495;p193"/>
          <p:cNvSpPr txBox="1"/>
          <p:nvPr/>
        </p:nvSpPr>
        <p:spPr>
          <a:xfrm rot="-5400000">
            <a:off x="-463312" y="2467817"/>
            <a:ext cx="1779056" cy="3968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1" lang="en-US" sz="2000" u="none" cap="none" strike="noStrike">
                <a:solidFill>
                  <a:srgbClr val="000000"/>
                </a:solidFill>
                <a:latin typeface="Calibri"/>
                <a:ea typeface="Calibri"/>
                <a:cs typeface="Calibri"/>
                <a:sym typeface="Calibri"/>
              </a:rPr>
              <a:t>application</a:t>
            </a:r>
            <a:endParaRPr/>
          </a:p>
        </p:txBody>
      </p:sp>
      <p:cxnSp>
        <p:nvCxnSpPr>
          <p:cNvPr id="8496" name="Google Shape;8496;p193"/>
          <p:cNvCxnSpPr/>
          <p:nvPr/>
        </p:nvCxnSpPr>
        <p:spPr>
          <a:xfrm>
            <a:off x="1044294" y="3866601"/>
            <a:ext cx="4501961" cy="0"/>
          </a:xfrm>
          <a:prstGeom prst="straightConnector1">
            <a:avLst/>
          </a:prstGeom>
          <a:noFill/>
          <a:ln cap="flat" cmpd="sng" w="12700">
            <a:solidFill>
              <a:srgbClr val="000000"/>
            </a:solidFill>
            <a:prstDash val="dash"/>
            <a:round/>
            <a:headEnd len="sm" w="sm" type="none"/>
            <a:tailEnd len="sm" w="sm" type="none"/>
          </a:ln>
        </p:spPr>
      </p:cxnSp>
      <p:sp>
        <p:nvSpPr>
          <p:cNvPr id="8497" name="Google Shape;8497;p193"/>
          <p:cNvSpPr txBox="1"/>
          <p:nvPr/>
        </p:nvSpPr>
        <p:spPr>
          <a:xfrm>
            <a:off x="6775422" y="6025510"/>
            <a:ext cx="424186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(b) HTTP/2 with QUIC: no HOL blocking</a:t>
            </a:r>
            <a:endParaRPr/>
          </a:p>
        </p:txBody>
      </p:sp>
      <p:grpSp>
        <p:nvGrpSpPr>
          <p:cNvPr id="8498" name="Google Shape;8498;p193"/>
          <p:cNvGrpSpPr/>
          <p:nvPr/>
        </p:nvGrpSpPr>
        <p:grpSpPr>
          <a:xfrm>
            <a:off x="3654226" y="4021737"/>
            <a:ext cx="1965566" cy="1278547"/>
            <a:chOff x="3654226" y="3933249"/>
            <a:chExt cx="1965566" cy="1278547"/>
          </a:xfrm>
        </p:grpSpPr>
        <p:sp>
          <p:nvSpPr>
            <p:cNvPr id="8499" name="Google Shape;8499;p193"/>
            <p:cNvSpPr/>
            <p:nvPr/>
          </p:nvSpPr>
          <p:spPr>
            <a:xfrm>
              <a:off x="3654226" y="3933249"/>
              <a:ext cx="1965566" cy="1278547"/>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grpSp>
          <p:nvGrpSpPr>
            <p:cNvPr id="8500" name="Google Shape;8500;p193"/>
            <p:cNvGrpSpPr/>
            <p:nvPr/>
          </p:nvGrpSpPr>
          <p:grpSpPr>
            <a:xfrm>
              <a:off x="3733679" y="4084005"/>
              <a:ext cx="1829965" cy="467357"/>
              <a:chOff x="985206" y="5016160"/>
              <a:chExt cx="1509130" cy="255065"/>
            </a:xfrm>
          </p:grpSpPr>
          <p:sp>
            <p:nvSpPr>
              <p:cNvPr id="8501" name="Google Shape;8501;p193"/>
              <p:cNvSpPr/>
              <p:nvPr/>
            </p:nvSpPr>
            <p:spPr>
              <a:xfrm>
                <a:off x="985206" y="5016160"/>
                <a:ext cx="1509130" cy="245132"/>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502" name="Google Shape;8502;p193"/>
              <p:cNvSpPr txBox="1"/>
              <p:nvPr/>
            </p:nvSpPr>
            <p:spPr>
              <a:xfrm>
                <a:off x="1170162" y="5019266"/>
                <a:ext cx="1016851" cy="2519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RDT</a:t>
                </a:r>
                <a:endParaRPr/>
              </a:p>
            </p:txBody>
          </p:sp>
        </p:grpSp>
        <p:grpSp>
          <p:nvGrpSpPr>
            <p:cNvPr id="8503" name="Google Shape;8503;p193"/>
            <p:cNvGrpSpPr/>
            <p:nvPr/>
          </p:nvGrpSpPr>
          <p:grpSpPr>
            <a:xfrm>
              <a:off x="3672313" y="4598786"/>
              <a:ext cx="1925319" cy="467355"/>
              <a:chOff x="948938" y="5006227"/>
              <a:chExt cx="1587767" cy="255065"/>
            </a:xfrm>
          </p:grpSpPr>
          <p:sp>
            <p:nvSpPr>
              <p:cNvPr id="8504" name="Google Shape;8504;p193"/>
              <p:cNvSpPr/>
              <p:nvPr/>
            </p:nvSpPr>
            <p:spPr>
              <a:xfrm>
                <a:off x="985206" y="5016160"/>
                <a:ext cx="1509130" cy="245132"/>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505" name="Google Shape;8505;p193"/>
              <p:cNvSpPr txBox="1"/>
              <p:nvPr/>
            </p:nvSpPr>
            <p:spPr>
              <a:xfrm>
                <a:off x="948938" y="5006227"/>
                <a:ext cx="1587767" cy="2519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TCP </a:t>
                </a:r>
                <a:r>
                  <a:rPr b="0" i="0" lang="en-US" sz="1800" u="none" cap="none" strike="noStrike">
                    <a:solidFill>
                      <a:srgbClr val="000000"/>
                    </a:solidFill>
                    <a:latin typeface="Calibri"/>
                    <a:ea typeface="Calibri"/>
                    <a:cs typeface="Calibri"/>
                    <a:sym typeface="Calibri"/>
                  </a:rPr>
                  <a:t>Cong. Contr.</a:t>
                </a:r>
                <a:endParaRPr b="0" i="0" sz="1600" u="none" cap="none" strike="noStrike">
                  <a:solidFill>
                    <a:srgbClr val="000000"/>
                  </a:solidFill>
                  <a:latin typeface="Calibri"/>
                  <a:ea typeface="Calibri"/>
                  <a:cs typeface="Calibri"/>
                  <a:sym typeface="Calibri"/>
                </a:endParaRPr>
              </a:p>
            </p:txBody>
          </p:sp>
        </p:grpSp>
      </p:grpSp>
      <p:sp>
        <p:nvSpPr>
          <p:cNvPr id="8506" name="Google Shape;8506;p193"/>
          <p:cNvSpPr/>
          <p:nvPr/>
        </p:nvSpPr>
        <p:spPr>
          <a:xfrm>
            <a:off x="3822817" y="3261240"/>
            <a:ext cx="1829965" cy="449155"/>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507" name="Google Shape;8507;p193"/>
          <p:cNvSpPr txBox="1"/>
          <p:nvPr/>
        </p:nvSpPr>
        <p:spPr>
          <a:xfrm>
            <a:off x="3948827" y="3243040"/>
            <a:ext cx="15760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TLS </a:t>
            </a:r>
            <a:r>
              <a:rPr b="0" i="0" lang="en-US" sz="1600" u="none" cap="none" strike="noStrike">
                <a:solidFill>
                  <a:srgbClr val="000000"/>
                </a:solidFill>
                <a:latin typeface="Calibri"/>
                <a:ea typeface="Calibri"/>
                <a:cs typeface="Calibri"/>
                <a:sym typeface="Calibri"/>
              </a:rPr>
              <a:t>encryption</a:t>
            </a:r>
            <a:endParaRPr b="0" i="0" sz="2400" u="none" cap="none" strike="noStrike">
              <a:solidFill>
                <a:srgbClr val="000000"/>
              </a:solidFill>
              <a:latin typeface="Calibri"/>
              <a:ea typeface="Calibri"/>
              <a:cs typeface="Calibri"/>
              <a:sym typeface="Calibri"/>
            </a:endParaRPr>
          </a:p>
        </p:txBody>
      </p:sp>
      <p:sp>
        <p:nvSpPr>
          <p:cNvPr id="8508" name="Google Shape;8508;p193"/>
          <p:cNvSpPr/>
          <p:nvPr/>
        </p:nvSpPr>
        <p:spPr>
          <a:xfrm>
            <a:off x="2308647" y="2654627"/>
            <a:ext cx="1710813" cy="2824317"/>
          </a:xfrm>
          <a:custGeom>
            <a:rect b="b" l="l" r="r" t="t"/>
            <a:pathLst>
              <a:path extrusionOk="0" h="2824317" w="1710813">
                <a:moveTo>
                  <a:pt x="0" y="376084"/>
                </a:moveTo>
                <a:lnTo>
                  <a:pt x="0" y="2824317"/>
                </a:lnTo>
                <a:lnTo>
                  <a:pt x="95865" y="2824317"/>
                </a:lnTo>
                <a:lnTo>
                  <a:pt x="1710813" y="2824317"/>
                </a:lnTo>
                <a:lnTo>
                  <a:pt x="1710813" y="2676833"/>
                </a:lnTo>
                <a:lnTo>
                  <a:pt x="1710813" y="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09" name="Google Shape;8509;p193"/>
          <p:cNvSpPr/>
          <p:nvPr/>
        </p:nvSpPr>
        <p:spPr>
          <a:xfrm>
            <a:off x="1947618" y="2410857"/>
            <a:ext cx="2329488" cy="3142699"/>
          </a:xfrm>
          <a:custGeom>
            <a:rect b="b" l="l" r="r" t="t"/>
            <a:pathLst>
              <a:path extrusionOk="0" h="2831690" w="2455606">
                <a:moveTo>
                  <a:pt x="0" y="0"/>
                </a:moveTo>
                <a:lnTo>
                  <a:pt x="0" y="2831690"/>
                </a:lnTo>
                <a:lnTo>
                  <a:pt x="88490" y="2831690"/>
                </a:lnTo>
                <a:lnTo>
                  <a:pt x="2455606" y="2831690"/>
                </a:lnTo>
                <a:lnTo>
                  <a:pt x="2455606" y="1755057"/>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10" name="Google Shape;8510;p193"/>
          <p:cNvSpPr/>
          <p:nvPr/>
        </p:nvSpPr>
        <p:spPr>
          <a:xfrm>
            <a:off x="2120129" y="4420139"/>
            <a:ext cx="2284794" cy="1091381"/>
          </a:xfrm>
          <a:custGeom>
            <a:rect b="b" l="l" r="r" t="t"/>
            <a:pathLst>
              <a:path extrusionOk="0" h="1091381" w="2558845">
                <a:moveTo>
                  <a:pt x="2558845" y="0"/>
                </a:moveTo>
                <a:lnTo>
                  <a:pt x="2558845" y="1091381"/>
                </a:lnTo>
                <a:lnTo>
                  <a:pt x="2485103" y="1091381"/>
                </a:lnTo>
                <a:lnTo>
                  <a:pt x="0" y="1091381"/>
                </a:lnTo>
                <a:lnTo>
                  <a:pt x="0" y="582562"/>
                </a:lnTo>
                <a:lnTo>
                  <a:pt x="0" y="14749"/>
                </a:lnTo>
              </a:path>
            </a:pathLst>
          </a:custGeom>
          <a:noFill/>
          <a:ln cap="flat" cmpd="sng" w="25400">
            <a:solidFill>
              <a:srgbClr val="31538F"/>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11" name="Google Shape;8511;p193"/>
          <p:cNvSpPr txBox="1"/>
          <p:nvPr/>
        </p:nvSpPr>
        <p:spPr>
          <a:xfrm>
            <a:off x="4018781" y="4262676"/>
            <a:ext cx="638441" cy="30777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Calibri"/>
              <a:buNone/>
            </a:pPr>
            <a:r>
              <a:rPr b="0" i="0" lang="en-US" sz="1400" u="none" cap="none" strike="noStrike">
                <a:solidFill>
                  <a:srgbClr val="FF0000"/>
                </a:solidFill>
                <a:latin typeface="Calibri"/>
                <a:ea typeface="Calibri"/>
                <a:cs typeface="Calibri"/>
                <a:sym typeface="Calibri"/>
              </a:rPr>
              <a:t>error!</a:t>
            </a:r>
            <a:endParaRPr b="0" i="0" sz="1200" u="none" cap="none" strike="noStrike">
              <a:solidFill>
                <a:srgbClr val="FF0000"/>
              </a:solidFill>
              <a:latin typeface="Calibri"/>
              <a:ea typeface="Calibri"/>
              <a:cs typeface="Calibri"/>
              <a:sym typeface="Calibri"/>
            </a:endParaRPr>
          </a:p>
        </p:txBody>
      </p:sp>
      <p:sp>
        <p:nvSpPr>
          <p:cNvPr id="8512" name="Google Shape;8512;p193"/>
          <p:cNvSpPr/>
          <p:nvPr/>
        </p:nvSpPr>
        <p:spPr>
          <a:xfrm>
            <a:off x="2162632" y="2535607"/>
            <a:ext cx="2345388" cy="3023419"/>
          </a:xfrm>
          <a:custGeom>
            <a:rect b="b" l="l" r="r" t="t"/>
            <a:pathLst>
              <a:path extrusionOk="0" h="3023419" w="2573594">
                <a:moveTo>
                  <a:pt x="0" y="1976284"/>
                </a:moveTo>
                <a:lnTo>
                  <a:pt x="0" y="3023419"/>
                </a:lnTo>
                <a:lnTo>
                  <a:pt x="2573594" y="3023419"/>
                </a:lnTo>
                <a:lnTo>
                  <a:pt x="2573594" y="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13" name="Google Shape;8513;p193"/>
          <p:cNvSpPr/>
          <p:nvPr/>
        </p:nvSpPr>
        <p:spPr>
          <a:xfrm>
            <a:off x="1714500" y="2240280"/>
            <a:ext cx="3188970" cy="3314700"/>
          </a:xfrm>
          <a:custGeom>
            <a:rect b="b" l="l" r="r" t="t"/>
            <a:pathLst>
              <a:path extrusionOk="0" h="3314700" w="3188970">
                <a:moveTo>
                  <a:pt x="0" y="0"/>
                </a:moveTo>
                <a:lnTo>
                  <a:pt x="0" y="3314700"/>
                </a:lnTo>
                <a:lnTo>
                  <a:pt x="3188970" y="3314700"/>
                </a:lnTo>
                <a:lnTo>
                  <a:pt x="3188970" y="11430"/>
                </a:lnTo>
                <a:lnTo>
                  <a:pt x="3188970" y="1143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514" name="Google Shape;8514;p193"/>
          <p:cNvGrpSpPr/>
          <p:nvPr/>
        </p:nvGrpSpPr>
        <p:grpSpPr>
          <a:xfrm>
            <a:off x="1247868" y="1815620"/>
            <a:ext cx="1028924" cy="463979"/>
            <a:chOff x="1247868" y="1815620"/>
            <a:chExt cx="1028924" cy="463979"/>
          </a:xfrm>
        </p:grpSpPr>
        <p:sp>
          <p:nvSpPr>
            <p:cNvPr id="8515" name="Google Shape;8515;p193"/>
            <p:cNvSpPr/>
            <p:nvPr/>
          </p:nvSpPr>
          <p:spPr>
            <a:xfrm>
              <a:off x="1428787" y="1815620"/>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516" name="Google Shape;8516;p193"/>
            <p:cNvSpPr txBox="1"/>
            <p:nvPr/>
          </p:nvSpPr>
          <p:spPr>
            <a:xfrm>
              <a:off x="1247868" y="1838324"/>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8517" name="Google Shape;8517;p193"/>
          <p:cNvGrpSpPr/>
          <p:nvPr/>
        </p:nvGrpSpPr>
        <p:grpSpPr>
          <a:xfrm>
            <a:off x="1510481" y="2208954"/>
            <a:ext cx="1028924" cy="463979"/>
            <a:chOff x="1549462" y="2216434"/>
            <a:chExt cx="1028924" cy="463979"/>
          </a:xfrm>
        </p:grpSpPr>
        <p:sp>
          <p:nvSpPr>
            <p:cNvPr id="8518" name="Google Shape;8518;p193"/>
            <p:cNvSpPr/>
            <p:nvPr/>
          </p:nvSpPr>
          <p:spPr>
            <a:xfrm>
              <a:off x="1709684" y="2216434"/>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519" name="Google Shape;8519;p193"/>
            <p:cNvSpPr txBox="1"/>
            <p:nvPr/>
          </p:nvSpPr>
          <p:spPr>
            <a:xfrm>
              <a:off x="1549462" y="2239138"/>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8520" name="Google Shape;8520;p193"/>
          <p:cNvGrpSpPr/>
          <p:nvPr/>
        </p:nvGrpSpPr>
        <p:grpSpPr>
          <a:xfrm>
            <a:off x="5386202" y="1360556"/>
            <a:ext cx="310294" cy="628857"/>
            <a:chOff x="4140" y="429"/>
            <a:chExt cx="1425" cy="2396"/>
          </a:xfrm>
        </p:grpSpPr>
        <p:sp>
          <p:nvSpPr>
            <p:cNvPr id="8521" name="Google Shape;8521;p19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22" name="Google Shape;8522;p193"/>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23" name="Google Shape;8523;p19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24" name="Google Shape;8524;p19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25" name="Google Shape;8525;p193"/>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526" name="Google Shape;8526;p193"/>
            <p:cNvGrpSpPr/>
            <p:nvPr/>
          </p:nvGrpSpPr>
          <p:grpSpPr>
            <a:xfrm>
              <a:off x="4745" y="670"/>
              <a:ext cx="586" cy="146"/>
              <a:chOff x="609" y="2570"/>
              <a:chExt cx="731" cy="140"/>
            </a:xfrm>
          </p:grpSpPr>
          <p:sp>
            <p:nvSpPr>
              <p:cNvPr id="8527" name="Google Shape;8527;p193"/>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28" name="Google Shape;8528;p193"/>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529" name="Google Shape;8529;p193"/>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530" name="Google Shape;8530;p193"/>
            <p:cNvGrpSpPr/>
            <p:nvPr/>
          </p:nvGrpSpPr>
          <p:grpSpPr>
            <a:xfrm>
              <a:off x="4745" y="998"/>
              <a:ext cx="586" cy="129"/>
              <a:chOff x="612" y="2572"/>
              <a:chExt cx="731" cy="134"/>
            </a:xfrm>
          </p:grpSpPr>
          <p:sp>
            <p:nvSpPr>
              <p:cNvPr id="8531" name="Google Shape;8531;p193"/>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32" name="Google Shape;8532;p193"/>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533" name="Google Shape;8533;p193"/>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34" name="Google Shape;8534;p193"/>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535" name="Google Shape;8535;p193"/>
            <p:cNvGrpSpPr/>
            <p:nvPr/>
          </p:nvGrpSpPr>
          <p:grpSpPr>
            <a:xfrm>
              <a:off x="4735" y="1627"/>
              <a:ext cx="586" cy="215"/>
              <a:chOff x="614" y="2568"/>
              <a:chExt cx="730" cy="198"/>
            </a:xfrm>
          </p:grpSpPr>
          <p:sp>
            <p:nvSpPr>
              <p:cNvPr id="8536" name="Google Shape;8536;p193"/>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37" name="Google Shape;8537;p193"/>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538" name="Google Shape;8538;p19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539" name="Google Shape;8539;p193"/>
            <p:cNvGrpSpPr/>
            <p:nvPr/>
          </p:nvGrpSpPr>
          <p:grpSpPr>
            <a:xfrm>
              <a:off x="4735" y="1325"/>
              <a:ext cx="586" cy="138"/>
              <a:chOff x="609" y="2566"/>
              <a:chExt cx="730" cy="138"/>
            </a:xfrm>
          </p:grpSpPr>
          <p:sp>
            <p:nvSpPr>
              <p:cNvPr id="8540" name="Google Shape;8540;p193"/>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41" name="Google Shape;8541;p193"/>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542" name="Google Shape;8542;p193"/>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43" name="Google Shape;8543;p19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44" name="Google Shape;8544;p19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45" name="Google Shape;8545;p193"/>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46" name="Google Shape;8546;p19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47" name="Google Shape;8547;p193"/>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48" name="Google Shape;8548;p193"/>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49" name="Google Shape;8549;p193"/>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50" name="Google Shape;8550;p193"/>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8551" name="Google Shape;8551;p193"/>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552" name="Google Shape;8552;p193"/>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553" name="Google Shape;8553;p193"/>
          <p:cNvGrpSpPr/>
          <p:nvPr/>
        </p:nvGrpSpPr>
        <p:grpSpPr>
          <a:xfrm>
            <a:off x="773442" y="1418426"/>
            <a:ext cx="525462" cy="434975"/>
            <a:chOff x="-44" y="1473"/>
            <a:chExt cx="981" cy="1105"/>
          </a:xfrm>
        </p:grpSpPr>
        <p:pic>
          <p:nvPicPr>
            <p:cNvPr descr="desktop_computer_stylized_medium" id="8554" name="Google Shape;8554;p19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555" name="Google Shape;8555;p19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556" name="Google Shape;8556;p193"/>
          <p:cNvGrpSpPr/>
          <p:nvPr/>
        </p:nvGrpSpPr>
        <p:grpSpPr>
          <a:xfrm>
            <a:off x="1830370" y="2617249"/>
            <a:ext cx="1028924" cy="463397"/>
            <a:chOff x="1830370" y="2617249"/>
            <a:chExt cx="1028924" cy="463397"/>
          </a:xfrm>
        </p:grpSpPr>
        <p:sp>
          <p:nvSpPr>
            <p:cNvPr id="8557" name="Google Shape;8557;p193"/>
            <p:cNvSpPr/>
            <p:nvPr/>
          </p:nvSpPr>
          <p:spPr>
            <a:xfrm>
              <a:off x="1990582" y="2617249"/>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558" name="Google Shape;8558;p193"/>
            <p:cNvSpPr txBox="1"/>
            <p:nvPr/>
          </p:nvSpPr>
          <p:spPr>
            <a:xfrm>
              <a:off x="1830370" y="2639371"/>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8559" name="Google Shape;8559;p193"/>
          <p:cNvGrpSpPr/>
          <p:nvPr/>
        </p:nvGrpSpPr>
        <p:grpSpPr>
          <a:xfrm>
            <a:off x="6475440" y="1528391"/>
            <a:ext cx="5173835" cy="3801217"/>
            <a:chOff x="6493941" y="1557642"/>
            <a:chExt cx="5173835" cy="3801217"/>
          </a:xfrm>
        </p:grpSpPr>
        <p:sp>
          <p:nvSpPr>
            <p:cNvPr id="8560" name="Google Shape;8560;p193"/>
            <p:cNvSpPr/>
            <p:nvPr/>
          </p:nvSpPr>
          <p:spPr>
            <a:xfrm>
              <a:off x="6573113" y="1557642"/>
              <a:ext cx="2247142" cy="2726404"/>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561" name="Google Shape;8561;p193"/>
            <p:cNvSpPr/>
            <p:nvPr/>
          </p:nvSpPr>
          <p:spPr>
            <a:xfrm>
              <a:off x="6662258" y="3758046"/>
              <a:ext cx="2070591" cy="409168"/>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562" name="Google Shape;8562;p193"/>
            <p:cNvSpPr txBox="1"/>
            <p:nvPr/>
          </p:nvSpPr>
          <p:spPr>
            <a:xfrm>
              <a:off x="6493941" y="3752006"/>
              <a:ext cx="2333805"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QUIC </a:t>
              </a:r>
              <a:r>
                <a:rPr b="0" i="0" lang="en-US" sz="2000" u="none" cap="none" strike="noStrike">
                  <a:solidFill>
                    <a:srgbClr val="000000"/>
                  </a:solidFill>
                  <a:latin typeface="Calibri"/>
                  <a:ea typeface="Calibri"/>
                  <a:cs typeface="Calibri"/>
                  <a:sym typeface="Calibri"/>
                </a:rPr>
                <a:t>Cong. Cont.</a:t>
              </a:r>
              <a:endParaRPr b="0" i="0" sz="1600" u="none" cap="none" strike="noStrike">
                <a:solidFill>
                  <a:srgbClr val="000000"/>
                </a:solidFill>
                <a:latin typeface="Calibri"/>
                <a:ea typeface="Calibri"/>
                <a:cs typeface="Calibri"/>
                <a:sym typeface="Calibri"/>
              </a:endParaRPr>
            </a:p>
          </p:txBody>
        </p:sp>
        <p:grpSp>
          <p:nvGrpSpPr>
            <p:cNvPr id="8563" name="Google Shape;8563;p193"/>
            <p:cNvGrpSpPr/>
            <p:nvPr/>
          </p:nvGrpSpPr>
          <p:grpSpPr>
            <a:xfrm>
              <a:off x="6549806" y="2804024"/>
              <a:ext cx="2147125" cy="968714"/>
              <a:chOff x="3786573" y="4781422"/>
              <a:chExt cx="1289919" cy="450478"/>
            </a:xfrm>
          </p:grpSpPr>
          <p:grpSp>
            <p:nvGrpSpPr>
              <p:cNvPr id="8564" name="Google Shape;8564;p193"/>
              <p:cNvGrpSpPr/>
              <p:nvPr/>
            </p:nvGrpSpPr>
            <p:grpSpPr>
              <a:xfrm>
                <a:off x="3786573" y="4781422"/>
                <a:ext cx="535512" cy="197065"/>
                <a:chOff x="3638004" y="4844056"/>
                <a:chExt cx="535512" cy="197065"/>
              </a:xfrm>
            </p:grpSpPr>
            <p:sp>
              <p:nvSpPr>
                <p:cNvPr id="8565" name="Google Shape;8565;p193"/>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566" name="Google Shape;8566;p193"/>
                <p:cNvSpPr txBox="1"/>
                <p:nvPr/>
              </p:nvSpPr>
              <p:spPr>
                <a:xfrm>
                  <a:off x="3638004" y="4844056"/>
                  <a:ext cx="535512" cy="197065"/>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400" u="none" cap="none" strike="noStrike">
                    <a:solidFill>
                      <a:srgbClr val="000000"/>
                    </a:solidFill>
                    <a:latin typeface="Calibri"/>
                    <a:ea typeface="Calibri"/>
                    <a:cs typeface="Calibri"/>
                    <a:sym typeface="Calibri"/>
                  </a:endParaRPr>
                </a:p>
              </p:txBody>
            </p:sp>
          </p:grpSp>
          <p:grpSp>
            <p:nvGrpSpPr>
              <p:cNvPr id="8567" name="Google Shape;8567;p193"/>
              <p:cNvGrpSpPr/>
              <p:nvPr/>
            </p:nvGrpSpPr>
            <p:grpSpPr>
              <a:xfrm>
                <a:off x="3856579" y="4996013"/>
                <a:ext cx="1219913" cy="235887"/>
                <a:chOff x="3856579" y="4996013"/>
                <a:chExt cx="1219913" cy="235887"/>
              </a:xfrm>
            </p:grpSpPr>
            <p:sp>
              <p:nvSpPr>
                <p:cNvPr id="8568" name="Google Shape;8568;p193"/>
                <p:cNvSpPr txBox="1"/>
                <p:nvPr/>
              </p:nvSpPr>
              <p:spPr>
                <a:xfrm>
                  <a:off x="3856579" y="4996392"/>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sp>
              <p:nvSpPr>
                <p:cNvPr id="8569" name="Google Shape;8569;p193"/>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570" name="Google Shape;8570;p193"/>
                <p:cNvSpPr txBox="1"/>
                <p:nvPr/>
              </p:nvSpPr>
              <p:spPr>
                <a:xfrm>
                  <a:off x="4263655" y="5002841"/>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sp>
              <p:nvSpPr>
                <p:cNvPr id="8571" name="Google Shape;8571;p193"/>
                <p:cNvSpPr txBox="1"/>
                <p:nvPr/>
              </p:nvSpPr>
              <p:spPr>
                <a:xfrm>
                  <a:off x="4674716" y="4996013"/>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grpSp>
        </p:grpSp>
        <p:grpSp>
          <p:nvGrpSpPr>
            <p:cNvPr id="8572" name="Google Shape;8572;p193"/>
            <p:cNvGrpSpPr/>
            <p:nvPr/>
          </p:nvGrpSpPr>
          <p:grpSpPr>
            <a:xfrm>
              <a:off x="7234288" y="2794928"/>
              <a:ext cx="891382" cy="875971"/>
              <a:chOff x="3774433" y="4781422"/>
              <a:chExt cx="535512" cy="407350"/>
            </a:xfrm>
          </p:grpSpPr>
          <p:grpSp>
            <p:nvGrpSpPr>
              <p:cNvPr id="8573" name="Google Shape;8573;p193"/>
              <p:cNvGrpSpPr/>
              <p:nvPr/>
            </p:nvGrpSpPr>
            <p:grpSpPr>
              <a:xfrm>
                <a:off x="3774433" y="4781422"/>
                <a:ext cx="535512" cy="207083"/>
                <a:chOff x="3625864" y="4844056"/>
                <a:chExt cx="535512" cy="207083"/>
              </a:xfrm>
            </p:grpSpPr>
            <p:sp>
              <p:nvSpPr>
                <p:cNvPr id="8574" name="Google Shape;8574;p193"/>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575" name="Google Shape;8575;p193"/>
                <p:cNvSpPr txBox="1"/>
                <p:nvPr/>
              </p:nvSpPr>
              <p:spPr>
                <a:xfrm>
                  <a:off x="3625864" y="4844056"/>
                  <a:ext cx="535512" cy="207083"/>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000" u="none" cap="none" strike="noStrike">
                    <a:solidFill>
                      <a:srgbClr val="000000"/>
                    </a:solidFill>
                    <a:latin typeface="Calibri"/>
                    <a:ea typeface="Calibri"/>
                    <a:cs typeface="Calibri"/>
                    <a:sym typeface="Calibri"/>
                  </a:endParaRPr>
                </a:p>
              </p:txBody>
            </p:sp>
          </p:grpSp>
          <p:sp>
            <p:nvSpPr>
              <p:cNvPr id="8576" name="Google Shape;8576;p193"/>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grpSp>
          <p:nvGrpSpPr>
            <p:cNvPr id="8577" name="Google Shape;8577;p193"/>
            <p:cNvGrpSpPr/>
            <p:nvPr/>
          </p:nvGrpSpPr>
          <p:grpSpPr>
            <a:xfrm>
              <a:off x="7949081" y="2785831"/>
              <a:ext cx="891382" cy="875971"/>
              <a:chOff x="3780503" y="4781422"/>
              <a:chExt cx="535512" cy="407350"/>
            </a:xfrm>
          </p:grpSpPr>
          <p:grpSp>
            <p:nvGrpSpPr>
              <p:cNvPr id="8578" name="Google Shape;8578;p193"/>
              <p:cNvGrpSpPr/>
              <p:nvPr/>
            </p:nvGrpSpPr>
            <p:grpSpPr>
              <a:xfrm>
                <a:off x="3780503" y="4781422"/>
                <a:ext cx="535512" cy="207083"/>
                <a:chOff x="3631934" y="4844056"/>
                <a:chExt cx="535512" cy="207083"/>
              </a:xfrm>
            </p:grpSpPr>
            <p:sp>
              <p:nvSpPr>
                <p:cNvPr id="8579" name="Google Shape;8579;p193"/>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580" name="Google Shape;8580;p193"/>
                <p:cNvSpPr txBox="1"/>
                <p:nvPr/>
              </p:nvSpPr>
              <p:spPr>
                <a:xfrm>
                  <a:off x="3631934" y="4844056"/>
                  <a:ext cx="535512" cy="207083"/>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000" u="none" cap="none" strike="noStrike">
                    <a:solidFill>
                      <a:srgbClr val="000000"/>
                    </a:solidFill>
                    <a:latin typeface="Calibri"/>
                    <a:ea typeface="Calibri"/>
                    <a:cs typeface="Calibri"/>
                    <a:sym typeface="Calibri"/>
                  </a:endParaRPr>
                </a:p>
              </p:txBody>
            </p:sp>
          </p:grpSp>
          <p:sp>
            <p:nvSpPr>
              <p:cNvPr id="8581" name="Google Shape;8581;p193"/>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grpSp>
          <p:nvGrpSpPr>
            <p:cNvPr id="8582" name="Google Shape;8582;p193"/>
            <p:cNvGrpSpPr/>
            <p:nvPr/>
          </p:nvGrpSpPr>
          <p:grpSpPr>
            <a:xfrm>
              <a:off x="6584985" y="4775942"/>
              <a:ext cx="2224498" cy="576373"/>
              <a:chOff x="3690830" y="5656622"/>
              <a:chExt cx="1336402" cy="268029"/>
            </a:xfrm>
          </p:grpSpPr>
          <p:sp>
            <p:nvSpPr>
              <p:cNvPr id="8583" name="Google Shape;8583;p193"/>
              <p:cNvSpPr/>
              <p:nvPr/>
            </p:nvSpPr>
            <p:spPr>
              <a:xfrm>
                <a:off x="3690830" y="5656622"/>
                <a:ext cx="1336402" cy="268029"/>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584" name="Google Shape;8584;p193"/>
              <p:cNvSpPr/>
              <p:nvPr/>
            </p:nvSpPr>
            <p:spPr>
              <a:xfrm>
                <a:off x="3728029" y="5692526"/>
                <a:ext cx="1243940" cy="190274"/>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585" name="Google Shape;8585;p193"/>
              <p:cNvSpPr txBox="1"/>
              <p:nvPr/>
            </p:nvSpPr>
            <p:spPr>
              <a:xfrm>
                <a:off x="3722590" y="5683087"/>
                <a:ext cx="1258804" cy="2146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UDP</a:t>
                </a:r>
                <a:endParaRPr b="0" i="0" sz="1600" u="none" cap="none" strike="noStrike">
                  <a:solidFill>
                    <a:srgbClr val="000000"/>
                  </a:solidFill>
                  <a:latin typeface="Calibri"/>
                  <a:ea typeface="Calibri"/>
                  <a:cs typeface="Calibri"/>
                  <a:sym typeface="Calibri"/>
                </a:endParaRPr>
              </a:p>
            </p:txBody>
          </p:sp>
        </p:grpSp>
        <p:grpSp>
          <p:nvGrpSpPr>
            <p:cNvPr id="8586" name="Google Shape;8586;p193"/>
            <p:cNvGrpSpPr/>
            <p:nvPr/>
          </p:nvGrpSpPr>
          <p:grpSpPr>
            <a:xfrm>
              <a:off x="9393371" y="4782486"/>
              <a:ext cx="2224498" cy="576373"/>
              <a:chOff x="3690830" y="5656622"/>
              <a:chExt cx="1336402" cy="268029"/>
            </a:xfrm>
          </p:grpSpPr>
          <p:sp>
            <p:nvSpPr>
              <p:cNvPr id="8587" name="Google Shape;8587;p193"/>
              <p:cNvSpPr/>
              <p:nvPr/>
            </p:nvSpPr>
            <p:spPr>
              <a:xfrm>
                <a:off x="3690830" y="5656622"/>
                <a:ext cx="1336402" cy="268029"/>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588" name="Google Shape;8588;p193"/>
              <p:cNvSpPr/>
              <p:nvPr/>
            </p:nvSpPr>
            <p:spPr>
              <a:xfrm>
                <a:off x="3728029" y="5692526"/>
                <a:ext cx="1243940" cy="190274"/>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589" name="Google Shape;8589;p193"/>
              <p:cNvSpPr txBox="1"/>
              <p:nvPr/>
            </p:nvSpPr>
            <p:spPr>
              <a:xfrm>
                <a:off x="3722590" y="5689783"/>
                <a:ext cx="1258804" cy="2146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UDP</a:t>
                </a:r>
                <a:endParaRPr b="0" i="0" sz="1600" u="none" cap="none" strike="noStrike">
                  <a:solidFill>
                    <a:srgbClr val="000000"/>
                  </a:solidFill>
                  <a:latin typeface="Calibri"/>
                  <a:ea typeface="Calibri"/>
                  <a:cs typeface="Calibri"/>
                  <a:sym typeface="Calibri"/>
                </a:endParaRPr>
              </a:p>
            </p:txBody>
          </p:sp>
        </p:grpSp>
        <p:cxnSp>
          <p:nvCxnSpPr>
            <p:cNvPr id="8590" name="Google Shape;8590;p193"/>
            <p:cNvCxnSpPr/>
            <p:nvPr/>
          </p:nvCxnSpPr>
          <p:spPr>
            <a:xfrm>
              <a:off x="6637851" y="4424382"/>
              <a:ext cx="5029925" cy="0"/>
            </a:xfrm>
            <a:prstGeom prst="straightConnector1">
              <a:avLst/>
            </a:prstGeom>
            <a:noFill/>
            <a:ln cap="flat" cmpd="sng" w="12700">
              <a:solidFill>
                <a:srgbClr val="000000"/>
              </a:solidFill>
              <a:prstDash val="dash"/>
              <a:round/>
              <a:headEnd len="sm" w="sm" type="none"/>
              <a:tailEnd len="sm" w="sm" type="none"/>
            </a:ln>
          </p:spPr>
        </p:cxnSp>
        <p:sp>
          <p:nvSpPr>
            <p:cNvPr id="8591" name="Google Shape;8591;p193"/>
            <p:cNvSpPr/>
            <p:nvPr/>
          </p:nvSpPr>
          <p:spPr>
            <a:xfrm>
              <a:off x="9372262" y="1612419"/>
              <a:ext cx="2247142" cy="2726404"/>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592" name="Google Shape;8592;p193"/>
            <p:cNvSpPr/>
            <p:nvPr/>
          </p:nvSpPr>
          <p:spPr>
            <a:xfrm>
              <a:off x="9461407" y="3812823"/>
              <a:ext cx="2070591" cy="409168"/>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593" name="Google Shape;8593;p193"/>
            <p:cNvSpPr txBox="1"/>
            <p:nvPr/>
          </p:nvSpPr>
          <p:spPr>
            <a:xfrm>
              <a:off x="9293090" y="3806783"/>
              <a:ext cx="2333805"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QUIC </a:t>
              </a:r>
              <a:r>
                <a:rPr b="0" i="0" lang="en-US" sz="2000" u="none" cap="none" strike="noStrike">
                  <a:solidFill>
                    <a:srgbClr val="000000"/>
                  </a:solidFill>
                  <a:latin typeface="Calibri"/>
                  <a:ea typeface="Calibri"/>
                  <a:cs typeface="Calibri"/>
                  <a:sym typeface="Calibri"/>
                </a:rPr>
                <a:t>Cong. Cont.</a:t>
              </a:r>
              <a:endParaRPr b="0" i="0" sz="1600" u="none" cap="none" strike="noStrike">
                <a:solidFill>
                  <a:srgbClr val="000000"/>
                </a:solidFill>
                <a:latin typeface="Calibri"/>
                <a:ea typeface="Calibri"/>
                <a:cs typeface="Calibri"/>
                <a:sym typeface="Calibri"/>
              </a:endParaRPr>
            </a:p>
          </p:txBody>
        </p:sp>
        <p:grpSp>
          <p:nvGrpSpPr>
            <p:cNvPr id="8594" name="Google Shape;8594;p193"/>
            <p:cNvGrpSpPr/>
            <p:nvPr/>
          </p:nvGrpSpPr>
          <p:grpSpPr>
            <a:xfrm>
              <a:off x="9348955" y="2858801"/>
              <a:ext cx="2147125" cy="968714"/>
              <a:chOff x="3786573" y="4781422"/>
              <a:chExt cx="1289919" cy="450478"/>
            </a:xfrm>
          </p:grpSpPr>
          <p:grpSp>
            <p:nvGrpSpPr>
              <p:cNvPr id="8595" name="Google Shape;8595;p193"/>
              <p:cNvGrpSpPr/>
              <p:nvPr/>
            </p:nvGrpSpPr>
            <p:grpSpPr>
              <a:xfrm>
                <a:off x="3786573" y="4781422"/>
                <a:ext cx="535512" cy="197065"/>
                <a:chOff x="3638004" y="4844056"/>
                <a:chExt cx="535512" cy="197065"/>
              </a:xfrm>
            </p:grpSpPr>
            <p:sp>
              <p:nvSpPr>
                <p:cNvPr id="8596" name="Google Shape;8596;p193"/>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597" name="Google Shape;8597;p193"/>
                <p:cNvSpPr txBox="1"/>
                <p:nvPr/>
              </p:nvSpPr>
              <p:spPr>
                <a:xfrm>
                  <a:off x="3638004" y="4844056"/>
                  <a:ext cx="535512" cy="197065"/>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400" u="none" cap="none" strike="noStrike">
                    <a:solidFill>
                      <a:srgbClr val="000000"/>
                    </a:solidFill>
                    <a:latin typeface="Calibri"/>
                    <a:ea typeface="Calibri"/>
                    <a:cs typeface="Calibri"/>
                    <a:sym typeface="Calibri"/>
                  </a:endParaRPr>
                </a:p>
              </p:txBody>
            </p:sp>
          </p:grpSp>
          <p:grpSp>
            <p:nvGrpSpPr>
              <p:cNvPr id="8598" name="Google Shape;8598;p193"/>
              <p:cNvGrpSpPr/>
              <p:nvPr/>
            </p:nvGrpSpPr>
            <p:grpSpPr>
              <a:xfrm>
                <a:off x="3856579" y="4996013"/>
                <a:ext cx="1219913" cy="235887"/>
                <a:chOff x="3856579" y="4996013"/>
                <a:chExt cx="1219913" cy="235887"/>
              </a:xfrm>
            </p:grpSpPr>
            <p:sp>
              <p:nvSpPr>
                <p:cNvPr id="8599" name="Google Shape;8599;p193"/>
                <p:cNvSpPr txBox="1"/>
                <p:nvPr/>
              </p:nvSpPr>
              <p:spPr>
                <a:xfrm>
                  <a:off x="3856579" y="4996392"/>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sp>
              <p:nvSpPr>
                <p:cNvPr id="8600" name="Google Shape;8600;p193"/>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601" name="Google Shape;8601;p193"/>
                <p:cNvSpPr txBox="1"/>
                <p:nvPr/>
              </p:nvSpPr>
              <p:spPr>
                <a:xfrm>
                  <a:off x="4263655" y="5002841"/>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sp>
              <p:nvSpPr>
                <p:cNvPr id="8602" name="Google Shape;8602;p193"/>
                <p:cNvSpPr txBox="1"/>
                <p:nvPr/>
              </p:nvSpPr>
              <p:spPr>
                <a:xfrm>
                  <a:off x="4674716" y="4996013"/>
                  <a:ext cx="401776" cy="22905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QUIC</a:t>
                  </a:r>
                  <a:endParaRPr/>
                </a:p>
                <a:p>
                  <a:pPr indent="0" lvl="0" marL="0" marR="0" rtl="0" algn="ctr">
                    <a:lnSpc>
                      <a:spcPct val="7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r>
                    <a:rPr b="0" i="0" lang="en-US" sz="1400" u="none" cap="none" strike="noStrike">
                      <a:solidFill>
                        <a:srgbClr val="000000"/>
                      </a:solidFill>
                      <a:latin typeface="Calibri"/>
                      <a:ea typeface="Calibri"/>
                      <a:cs typeface="Calibri"/>
                      <a:sym typeface="Calibri"/>
                    </a:rPr>
                    <a:t>RDT</a:t>
                  </a:r>
                  <a:endParaRPr b="0" i="0" sz="1800" u="none" cap="none" strike="noStrike">
                    <a:solidFill>
                      <a:srgbClr val="000000"/>
                    </a:solidFill>
                    <a:latin typeface="Calibri"/>
                    <a:ea typeface="Calibri"/>
                    <a:cs typeface="Calibri"/>
                    <a:sym typeface="Calibri"/>
                  </a:endParaRPr>
                </a:p>
              </p:txBody>
            </p:sp>
          </p:grpSp>
        </p:grpSp>
        <p:grpSp>
          <p:nvGrpSpPr>
            <p:cNvPr id="8603" name="Google Shape;8603;p193"/>
            <p:cNvGrpSpPr/>
            <p:nvPr/>
          </p:nvGrpSpPr>
          <p:grpSpPr>
            <a:xfrm>
              <a:off x="10033437" y="2849705"/>
              <a:ext cx="891382" cy="875971"/>
              <a:chOff x="3774433" y="4781422"/>
              <a:chExt cx="535512" cy="407350"/>
            </a:xfrm>
          </p:grpSpPr>
          <p:grpSp>
            <p:nvGrpSpPr>
              <p:cNvPr id="8604" name="Google Shape;8604;p193"/>
              <p:cNvGrpSpPr/>
              <p:nvPr/>
            </p:nvGrpSpPr>
            <p:grpSpPr>
              <a:xfrm>
                <a:off x="3774433" y="4781422"/>
                <a:ext cx="535512" cy="207083"/>
                <a:chOff x="3625864" y="4844056"/>
                <a:chExt cx="535512" cy="207083"/>
              </a:xfrm>
            </p:grpSpPr>
            <p:sp>
              <p:nvSpPr>
                <p:cNvPr id="8605" name="Google Shape;8605;p193"/>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606" name="Google Shape;8606;p193"/>
                <p:cNvSpPr txBox="1"/>
                <p:nvPr/>
              </p:nvSpPr>
              <p:spPr>
                <a:xfrm>
                  <a:off x="3625864" y="4844056"/>
                  <a:ext cx="535512" cy="207083"/>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000" u="none" cap="none" strike="noStrike">
                    <a:solidFill>
                      <a:srgbClr val="000000"/>
                    </a:solidFill>
                    <a:latin typeface="Calibri"/>
                    <a:ea typeface="Calibri"/>
                    <a:cs typeface="Calibri"/>
                    <a:sym typeface="Calibri"/>
                  </a:endParaRPr>
                </a:p>
              </p:txBody>
            </p:sp>
          </p:grpSp>
          <p:sp>
            <p:nvSpPr>
              <p:cNvPr id="8607" name="Google Shape;8607;p193"/>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grpSp>
          <p:nvGrpSpPr>
            <p:cNvPr id="8608" name="Google Shape;8608;p193"/>
            <p:cNvGrpSpPr/>
            <p:nvPr/>
          </p:nvGrpSpPr>
          <p:grpSpPr>
            <a:xfrm>
              <a:off x="10748230" y="2840608"/>
              <a:ext cx="891382" cy="875971"/>
              <a:chOff x="3780503" y="4781422"/>
              <a:chExt cx="535512" cy="407350"/>
            </a:xfrm>
          </p:grpSpPr>
          <p:grpSp>
            <p:nvGrpSpPr>
              <p:cNvPr id="8609" name="Google Shape;8609;p193"/>
              <p:cNvGrpSpPr/>
              <p:nvPr/>
            </p:nvGrpSpPr>
            <p:grpSpPr>
              <a:xfrm>
                <a:off x="3780503" y="4781422"/>
                <a:ext cx="535512" cy="207083"/>
                <a:chOff x="3631934" y="4844056"/>
                <a:chExt cx="535512" cy="207083"/>
              </a:xfrm>
            </p:grpSpPr>
            <p:sp>
              <p:nvSpPr>
                <p:cNvPr id="8610" name="Google Shape;8610;p193"/>
                <p:cNvSpPr/>
                <p:nvPr/>
              </p:nvSpPr>
              <p:spPr>
                <a:xfrm>
                  <a:off x="3705561" y="48460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8611" name="Google Shape;8611;p193"/>
                <p:cNvSpPr txBox="1"/>
                <p:nvPr/>
              </p:nvSpPr>
              <p:spPr>
                <a:xfrm>
                  <a:off x="3631934" y="4844056"/>
                  <a:ext cx="535512" cy="207083"/>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 </a:t>
                  </a:r>
                  <a:endParaRPr/>
                </a:p>
                <a:p>
                  <a:pPr indent="0" lvl="0" marL="0" marR="0" rtl="0" algn="ctr">
                    <a:lnSpc>
                      <a:spcPct val="7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encrypt</a:t>
                  </a:r>
                  <a:endParaRPr b="0" i="0" sz="2000" u="none" cap="none" strike="noStrike">
                    <a:solidFill>
                      <a:srgbClr val="000000"/>
                    </a:solidFill>
                    <a:latin typeface="Calibri"/>
                    <a:ea typeface="Calibri"/>
                    <a:cs typeface="Calibri"/>
                    <a:sym typeface="Calibri"/>
                  </a:endParaRPr>
                </a:p>
              </p:txBody>
            </p:sp>
          </p:grpSp>
          <p:sp>
            <p:nvSpPr>
              <p:cNvPr id="8612" name="Google Shape;8612;p193"/>
              <p:cNvSpPr/>
              <p:nvPr/>
            </p:nvSpPr>
            <p:spPr>
              <a:xfrm>
                <a:off x="3857961" y="4998499"/>
                <a:ext cx="393403" cy="190273"/>
              </a:xfrm>
              <a:prstGeom prst="rect">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grpSp>
      <p:sp>
        <p:nvSpPr>
          <p:cNvPr id="8613" name="Google Shape;8613;p193"/>
          <p:cNvSpPr/>
          <p:nvPr/>
        </p:nvSpPr>
        <p:spPr>
          <a:xfrm>
            <a:off x="8348952" y="2170481"/>
            <a:ext cx="1435304" cy="3314700"/>
          </a:xfrm>
          <a:custGeom>
            <a:rect b="b" l="l" r="r" t="t"/>
            <a:pathLst>
              <a:path extrusionOk="0" h="2824317" w="1710813">
                <a:moveTo>
                  <a:pt x="0" y="376084"/>
                </a:moveTo>
                <a:lnTo>
                  <a:pt x="0" y="2824317"/>
                </a:lnTo>
                <a:lnTo>
                  <a:pt x="95865" y="2824317"/>
                </a:lnTo>
                <a:lnTo>
                  <a:pt x="1710813" y="2824317"/>
                </a:lnTo>
                <a:lnTo>
                  <a:pt x="1710813" y="2676833"/>
                </a:lnTo>
                <a:lnTo>
                  <a:pt x="1710813" y="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14" name="Google Shape;8614;p193"/>
          <p:cNvSpPr/>
          <p:nvPr/>
        </p:nvSpPr>
        <p:spPr>
          <a:xfrm>
            <a:off x="7544680" y="2246396"/>
            <a:ext cx="2790074" cy="3142699"/>
          </a:xfrm>
          <a:custGeom>
            <a:rect b="b" l="l" r="r" t="t"/>
            <a:pathLst>
              <a:path extrusionOk="0" h="2831690" w="2460587">
                <a:moveTo>
                  <a:pt x="0" y="0"/>
                </a:moveTo>
                <a:lnTo>
                  <a:pt x="0" y="2831690"/>
                </a:lnTo>
                <a:lnTo>
                  <a:pt x="88490" y="2831690"/>
                </a:lnTo>
                <a:lnTo>
                  <a:pt x="2455606" y="2831690"/>
                </a:lnTo>
                <a:cubicBezTo>
                  <a:pt x="2457266" y="2289473"/>
                  <a:pt x="2458927" y="1747257"/>
                  <a:pt x="2460587" y="1205040"/>
                </a:cubicBezTo>
              </a:path>
            </a:pathLst>
          </a:custGeom>
          <a:noFill/>
          <a:ln cap="flat" cmpd="sng" w="254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15" name="Google Shape;8615;p193"/>
          <p:cNvSpPr/>
          <p:nvPr/>
        </p:nvSpPr>
        <p:spPr>
          <a:xfrm>
            <a:off x="7766311" y="3553748"/>
            <a:ext cx="2615553" cy="1938327"/>
          </a:xfrm>
          <a:custGeom>
            <a:rect b="b" l="l" r="r" t="t"/>
            <a:pathLst>
              <a:path extrusionOk="0" h="1091381" w="2558845">
                <a:moveTo>
                  <a:pt x="2558845" y="0"/>
                </a:moveTo>
                <a:lnTo>
                  <a:pt x="2558845" y="1091381"/>
                </a:lnTo>
                <a:lnTo>
                  <a:pt x="2485103" y="1091381"/>
                </a:lnTo>
                <a:lnTo>
                  <a:pt x="0" y="1091381"/>
                </a:lnTo>
                <a:lnTo>
                  <a:pt x="0" y="582562"/>
                </a:lnTo>
                <a:lnTo>
                  <a:pt x="0" y="14749"/>
                </a:lnTo>
              </a:path>
            </a:pathLst>
          </a:custGeom>
          <a:noFill/>
          <a:ln cap="flat" cmpd="sng" w="25400">
            <a:solidFill>
              <a:srgbClr val="31538F"/>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16" name="Google Shape;8616;p193"/>
          <p:cNvSpPr txBox="1"/>
          <p:nvPr/>
        </p:nvSpPr>
        <p:spPr>
          <a:xfrm>
            <a:off x="10145437" y="3362319"/>
            <a:ext cx="638441" cy="30777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Calibri"/>
              <a:buNone/>
            </a:pPr>
            <a:r>
              <a:rPr b="0" i="0" lang="en-US" sz="1400" u="none" cap="none" strike="noStrike">
                <a:solidFill>
                  <a:srgbClr val="FF0000"/>
                </a:solidFill>
                <a:latin typeface="Calibri"/>
                <a:ea typeface="Calibri"/>
                <a:cs typeface="Calibri"/>
                <a:sym typeface="Calibri"/>
              </a:rPr>
              <a:t>error!</a:t>
            </a:r>
            <a:endParaRPr b="0" i="0" sz="1200" u="none" cap="none" strike="noStrike">
              <a:solidFill>
                <a:srgbClr val="FF0000"/>
              </a:solidFill>
              <a:latin typeface="Calibri"/>
              <a:ea typeface="Calibri"/>
              <a:cs typeface="Calibri"/>
              <a:sym typeface="Calibri"/>
            </a:endParaRPr>
          </a:p>
        </p:txBody>
      </p:sp>
      <p:sp>
        <p:nvSpPr>
          <p:cNvPr id="8617" name="Google Shape;8617;p193"/>
          <p:cNvSpPr/>
          <p:nvPr/>
        </p:nvSpPr>
        <p:spPr>
          <a:xfrm>
            <a:off x="7650449" y="2146221"/>
            <a:ext cx="2613793" cy="3263616"/>
          </a:xfrm>
          <a:custGeom>
            <a:rect b="b" l="l" r="r" t="t"/>
            <a:pathLst>
              <a:path extrusionOk="0" h="2589048" w="2600836">
                <a:moveTo>
                  <a:pt x="23944" y="1037950"/>
                </a:moveTo>
                <a:lnTo>
                  <a:pt x="0" y="2589048"/>
                </a:lnTo>
                <a:lnTo>
                  <a:pt x="2573594" y="2589048"/>
                </a:lnTo>
                <a:lnTo>
                  <a:pt x="2600836" y="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18" name="Google Shape;8618;p193"/>
          <p:cNvSpPr/>
          <p:nvPr/>
        </p:nvSpPr>
        <p:spPr>
          <a:xfrm>
            <a:off x="6974900" y="2171905"/>
            <a:ext cx="4169952" cy="3314700"/>
          </a:xfrm>
          <a:custGeom>
            <a:rect b="b" l="l" r="r" t="t"/>
            <a:pathLst>
              <a:path extrusionOk="0" h="3314700" w="3188970">
                <a:moveTo>
                  <a:pt x="0" y="0"/>
                </a:moveTo>
                <a:lnTo>
                  <a:pt x="0" y="3314700"/>
                </a:lnTo>
                <a:lnTo>
                  <a:pt x="3188970" y="3314700"/>
                </a:lnTo>
                <a:lnTo>
                  <a:pt x="3188970" y="11430"/>
                </a:lnTo>
                <a:lnTo>
                  <a:pt x="3188970" y="11430"/>
                </a:lnTo>
              </a:path>
            </a:pathLst>
          </a:custGeom>
          <a:noFill/>
          <a:ln cap="flat" cmpd="sng" w="25400">
            <a:solidFill>
              <a:srgbClr val="0000A3"/>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619" name="Google Shape;8619;p193"/>
          <p:cNvGrpSpPr/>
          <p:nvPr/>
        </p:nvGrpSpPr>
        <p:grpSpPr>
          <a:xfrm>
            <a:off x="6503169" y="1768807"/>
            <a:ext cx="1028924" cy="463979"/>
            <a:chOff x="1247868" y="1815620"/>
            <a:chExt cx="1028924" cy="463979"/>
          </a:xfrm>
        </p:grpSpPr>
        <p:sp>
          <p:nvSpPr>
            <p:cNvPr id="8620" name="Google Shape;8620;p193"/>
            <p:cNvSpPr/>
            <p:nvPr/>
          </p:nvSpPr>
          <p:spPr>
            <a:xfrm>
              <a:off x="1428787" y="1815620"/>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621" name="Google Shape;8621;p193"/>
            <p:cNvSpPr txBox="1"/>
            <p:nvPr/>
          </p:nvSpPr>
          <p:spPr>
            <a:xfrm>
              <a:off x="1247868" y="1838324"/>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8622" name="Google Shape;8622;p193"/>
          <p:cNvGrpSpPr/>
          <p:nvPr/>
        </p:nvGrpSpPr>
        <p:grpSpPr>
          <a:xfrm>
            <a:off x="7197108" y="1926223"/>
            <a:ext cx="1028924" cy="463979"/>
            <a:chOff x="1549462" y="2216434"/>
            <a:chExt cx="1028924" cy="463979"/>
          </a:xfrm>
        </p:grpSpPr>
        <p:sp>
          <p:nvSpPr>
            <p:cNvPr id="8623" name="Google Shape;8623;p193"/>
            <p:cNvSpPr/>
            <p:nvPr/>
          </p:nvSpPr>
          <p:spPr>
            <a:xfrm>
              <a:off x="1709684" y="2216434"/>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624" name="Google Shape;8624;p193"/>
            <p:cNvSpPr txBox="1"/>
            <p:nvPr/>
          </p:nvSpPr>
          <p:spPr>
            <a:xfrm>
              <a:off x="1549462" y="2239138"/>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8625" name="Google Shape;8625;p193"/>
          <p:cNvGrpSpPr/>
          <p:nvPr/>
        </p:nvGrpSpPr>
        <p:grpSpPr>
          <a:xfrm>
            <a:off x="7867432" y="2206258"/>
            <a:ext cx="1028924" cy="463397"/>
            <a:chOff x="1830370" y="2617249"/>
            <a:chExt cx="1028924" cy="463397"/>
          </a:xfrm>
        </p:grpSpPr>
        <p:sp>
          <p:nvSpPr>
            <p:cNvPr id="8626" name="Google Shape;8626;p193"/>
            <p:cNvSpPr/>
            <p:nvPr/>
          </p:nvSpPr>
          <p:spPr>
            <a:xfrm>
              <a:off x="1990582" y="2617249"/>
              <a:ext cx="686928" cy="439996"/>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rgbClr val="FFFFFF"/>
                </a:solidFill>
                <a:latin typeface="Calibri"/>
                <a:ea typeface="Calibri"/>
                <a:cs typeface="Calibri"/>
                <a:sym typeface="Calibri"/>
              </a:endParaRPr>
            </a:p>
          </p:txBody>
        </p:sp>
        <p:sp>
          <p:nvSpPr>
            <p:cNvPr id="8627" name="Google Shape;8627;p193"/>
            <p:cNvSpPr txBox="1"/>
            <p:nvPr/>
          </p:nvSpPr>
          <p:spPr>
            <a:xfrm>
              <a:off x="1830370" y="2639371"/>
              <a:ext cx="1028924" cy="44127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HTTP </a:t>
              </a:r>
              <a:endParaRPr/>
            </a:p>
            <a:p>
              <a:pPr indent="0" lvl="0" marL="0" marR="0" rtl="0" algn="ctr">
                <a:lnSpc>
                  <a:spcPct val="8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GET </a:t>
              </a:r>
              <a:endParaRPr/>
            </a:p>
          </p:txBody>
        </p:sp>
      </p:grpSp>
      <p:grpSp>
        <p:nvGrpSpPr>
          <p:cNvPr id="8628" name="Google Shape;8628;p193"/>
          <p:cNvGrpSpPr/>
          <p:nvPr/>
        </p:nvGrpSpPr>
        <p:grpSpPr>
          <a:xfrm>
            <a:off x="11407734" y="1304127"/>
            <a:ext cx="310294" cy="628857"/>
            <a:chOff x="4140" y="429"/>
            <a:chExt cx="1425" cy="2396"/>
          </a:xfrm>
        </p:grpSpPr>
        <p:sp>
          <p:nvSpPr>
            <p:cNvPr id="8629" name="Google Shape;8629;p19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30" name="Google Shape;8630;p193"/>
            <p:cNvSpPr/>
            <p:nvPr/>
          </p:nvSpPr>
          <p:spPr>
            <a:xfrm>
              <a:off x="4208" y="429"/>
              <a:ext cx="1044"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31" name="Google Shape;8631;p19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32" name="Google Shape;8632;p19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33" name="Google Shape;8633;p193"/>
            <p:cNvSpPr/>
            <p:nvPr/>
          </p:nvSpPr>
          <p:spPr>
            <a:xfrm>
              <a:off x="4208" y="696"/>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634" name="Google Shape;8634;p193"/>
            <p:cNvGrpSpPr/>
            <p:nvPr/>
          </p:nvGrpSpPr>
          <p:grpSpPr>
            <a:xfrm>
              <a:off x="4745" y="670"/>
              <a:ext cx="586" cy="146"/>
              <a:chOff x="609" y="2570"/>
              <a:chExt cx="731" cy="140"/>
            </a:xfrm>
          </p:grpSpPr>
          <p:sp>
            <p:nvSpPr>
              <p:cNvPr id="8635" name="Google Shape;8635;p193"/>
              <p:cNvSpPr/>
              <p:nvPr/>
            </p:nvSpPr>
            <p:spPr>
              <a:xfrm>
                <a:off x="609" y="2570"/>
                <a:ext cx="73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36" name="Google Shape;8636;p193"/>
              <p:cNvSpPr/>
              <p:nvPr/>
            </p:nvSpPr>
            <p:spPr>
              <a:xfrm>
                <a:off x="621" y="2587"/>
                <a:ext cx="70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637" name="Google Shape;8637;p193"/>
            <p:cNvSpPr/>
            <p:nvPr/>
          </p:nvSpPr>
          <p:spPr>
            <a:xfrm>
              <a:off x="4228" y="1015"/>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638" name="Google Shape;8638;p193"/>
            <p:cNvGrpSpPr/>
            <p:nvPr/>
          </p:nvGrpSpPr>
          <p:grpSpPr>
            <a:xfrm>
              <a:off x="4745" y="998"/>
              <a:ext cx="586" cy="129"/>
              <a:chOff x="612" y="2572"/>
              <a:chExt cx="731" cy="134"/>
            </a:xfrm>
          </p:grpSpPr>
          <p:sp>
            <p:nvSpPr>
              <p:cNvPr id="8639" name="Google Shape;8639;p193"/>
              <p:cNvSpPr/>
              <p:nvPr/>
            </p:nvSpPr>
            <p:spPr>
              <a:xfrm>
                <a:off x="612" y="2572"/>
                <a:ext cx="731"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40" name="Google Shape;8640;p193"/>
              <p:cNvSpPr/>
              <p:nvPr/>
            </p:nvSpPr>
            <p:spPr>
              <a:xfrm>
                <a:off x="624" y="2590"/>
                <a:ext cx="706" cy="9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641" name="Google Shape;8641;p193"/>
            <p:cNvSpPr/>
            <p:nvPr/>
          </p:nvSpPr>
          <p:spPr>
            <a:xfrm>
              <a:off x="4218" y="1360"/>
              <a:ext cx="595" cy="43"/>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42" name="Google Shape;8642;p193"/>
            <p:cNvSpPr/>
            <p:nvPr/>
          </p:nvSpPr>
          <p:spPr>
            <a:xfrm>
              <a:off x="4228" y="1653"/>
              <a:ext cx="595"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643" name="Google Shape;8643;p193"/>
            <p:cNvGrpSpPr/>
            <p:nvPr/>
          </p:nvGrpSpPr>
          <p:grpSpPr>
            <a:xfrm>
              <a:off x="4735" y="1627"/>
              <a:ext cx="586" cy="215"/>
              <a:chOff x="614" y="2568"/>
              <a:chExt cx="730" cy="198"/>
            </a:xfrm>
          </p:grpSpPr>
          <p:sp>
            <p:nvSpPr>
              <p:cNvPr id="8644" name="Google Shape;8644;p193"/>
              <p:cNvSpPr/>
              <p:nvPr/>
            </p:nvSpPr>
            <p:spPr>
              <a:xfrm>
                <a:off x="614" y="2568"/>
                <a:ext cx="730" cy="19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45" name="Google Shape;8645;p193"/>
              <p:cNvSpPr/>
              <p:nvPr/>
            </p:nvSpPr>
            <p:spPr>
              <a:xfrm>
                <a:off x="627" y="2584"/>
                <a:ext cx="705"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646" name="Google Shape;8646;p19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647" name="Google Shape;8647;p193"/>
            <p:cNvGrpSpPr/>
            <p:nvPr/>
          </p:nvGrpSpPr>
          <p:grpSpPr>
            <a:xfrm>
              <a:off x="4735" y="1325"/>
              <a:ext cx="586" cy="138"/>
              <a:chOff x="609" y="2566"/>
              <a:chExt cx="730" cy="138"/>
            </a:xfrm>
          </p:grpSpPr>
          <p:sp>
            <p:nvSpPr>
              <p:cNvPr id="8648" name="Google Shape;8648;p193"/>
              <p:cNvSpPr/>
              <p:nvPr/>
            </p:nvSpPr>
            <p:spPr>
              <a:xfrm>
                <a:off x="609" y="2566"/>
                <a:ext cx="73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49" name="Google Shape;8649;p193"/>
              <p:cNvSpPr/>
              <p:nvPr/>
            </p:nvSpPr>
            <p:spPr>
              <a:xfrm>
                <a:off x="622" y="2584"/>
                <a:ext cx="705"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650" name="Google Shape;8650;p193"/>
            <p:cNvSpPr/>
            <p:nvPr/>
          </p:nvSpPr>
          <p:spPr>
            <a:xfrm>
              <a:off x="5253" y="429"/>
              <a:ext cx="68" cy="2293"/>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51" name="Google Shape;8651;p19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52" name="Google Shape;8652;p19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53" name="Google Shape;8653;p193"/>
            <p:cNvSpPr/>
            <p:nvPr/>
          </p:nvSpPr>
          <p:spPr>
            <a:xfrm>
              <a:off x="5516" y="2610"/>
              <a:ext cx="49"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54" name="Google Shape;8654;p19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55" name="Google Shape;8655;p193"/>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56" name="Google Shape;8656;p193"/>
            <p:cNvSpPr/>
            <p:nvPr/>
          </p:nvSpPr>
          <p:spPr>
            <a:xfrm>
              <a:off x="4208" y="2713"/>
              <a:ext cx="1064"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57" name="Google Shape;8657;p193"/>
            <p:cNvSpPr/>
            <p:nvPr/>
          </p:nvSpPr>
          <p:spPr>
            <a:xfrm>
              <a:off x="4306" y="2385"/>
              <a:ext cx="156"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58" name="Google Shape;8658;p193"/>
            <p:cNvSpPr/>
            <p:nvPr/>
          </p:nvSpPr>
          <p:spPr>
            <a:xfrm>
              <a:off x="4482" y="2385"/>
              <a:ext cx="166"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8659" name="Google Shape;8659;p193"/>
            <p:cNvSpPr/>
            <p:nvPr/>
          </p:nvSpPr>
          <p:spPr>
            <a:xfrm>
              <a:off x="4657" y="2377"/>
              <a:ext cx="166" cy="147"/>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60" name="Google Shape;8660;p193"/>
            <p:cNvSpPr/>
            <p:nvPr/>
          </p:nvSpPr>
          <p:spPr>
            <a:xfrm>
              <a:off x="5057" y="1834"/>
              <a:ext cx="88" cy="758"/>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8661" name="Google Shape;8661;p193"/>
          <p:cNvGrpSpPr/>
          <p:nvPr/>
        </p:nvGrpSpPr>
        <p:grpSpPr>
          <a:xfrm>
            <a:off x="6313356" y="1297050"/>
            <a:ext cx="525462" cy="434975"/>
            <a:chOff x="-44" y="1473"/>
            <a:chExt cx="981" cy="1105"/>
          </a:xfrm>
        </p:grpSpPr>
        <p:pic>
          <p:nvPicPr>
            <p:cNvPr descr="desktop_computer_stylized_medium" id="8662" name="Google Shape;8662;p19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663" name="Google Shape;8663;p19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664" name="Google Shape;8664;p19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08"/>
                                        </p:tgtEl>
                                        <p:attrNameLst>
                                          <p:attrName>style.visibility</p:attrName>
                                        </p:attrNameLst>
                                      </p:cBhvr>
                                      <p:to>
                                        <p:strVal val="visible"/>
                                      </p:to>
                                    </p:set>
                                    <p:animEffect filter="fade" transition="in">
                                      <p:cBhvr>
                                        <p:cTn dur="500"/>
                                        <p:tgtEl>
                                          <p:spTgt spid="8508"/>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8508"/>
                                        </p:tgtEl>
                                      </p:cBhvr>
                                    </p:animEffect>
                                    <p:set>
                                      <p:cBhvr>
                                        <p:cTn dur="1" fill="hold">
                                          <p:stCondLst>
                                            <p:cond delay="500"/>
                                          </p:stCondLst>
                                        </p:cTn>
                                        <p:tgtEl>
                                          <p:spTgt spid="8508"/>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8556"/>
                                        </p:tgtEl>
                                      </p:cBhvr>
                                    </p:animEffect>
                                    <p:set>
                                      <p:cBhvr>
                                        <p:cTn dur="1" fill="hold">
                                          <p:stCondLst>
                                            <p:cond delay="500"/>
                                          </p:stCondLst>
                                        </p:cTn>
                                        <p:tgtEl>
                                          <p:spTgt spid="8556"/>
                                        </p:tgtEl>
                                        <p:attrNameLst>
                                          <p:attrName>style.visibility</p:attrName>
                                        </p:attrNameLst>
                                      </p:cBhvr>
                                      <p:to>
                                        <p:strVal val="hidden"/>
                                      </p:to>
                                    </p:set>
                                  </p:childTnLst>
                                </p:cTn>
                              </p:par>
                            </p:childTnLst>
                          </p:cTn>
                        </p:par>
                        <p:par>
                          <p:cTn fill="hold">
                            <p:stCondLst>
                              <p:cond delay="1500"/>
                            </p:stCondLst>
                            <p:childTnLst>
                              <p:par>
                                <p:cTn fill="hold" nodeType="afterEffect" presetClass="entr" presetID="10" presetSubtype="0">
                                  <p:stCondLst>
                                    <p:cond delay="1000"/>
                                  </p:stCondLst>
                                  <p:childTnLst>
                                    <p:set>
                                      <p:cBhvr>
                                        <p:cTn dur="1" fill="hold">
                                          <p:stCondLst>
                                            <p:cond delay="0"/>
                                          </p:stCondLst>
                                        </p:cTn>
                                        <p:tgtEl>
                                          <p:spTgt spid="8509"/>
                                        </p:tgtEl>
                                        <p:attrNameLst>
                                          <p:attrName>style.visibility</p:attrName>
                                        </p:attrNameLst>
                                      </p:cBhvr>
                                      <p:to>
                                        <p:strVal val="visible"/>
                                      </p:to>
                                    </p:set>
                                    <p:animEffect filter="fade" transition="in">
                                      <p:cBhvr>
                                        <p:cTn dur="500"/>
                                        <p:tgtEl>
                                          <p:spTgt spid="850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511"/>
                                        </p:tgtEl>
                                        <p:attrNameLst>
                                          <p:attrName>style.visibility</p:attrName>
                                        </p:attrNameLst>
                                      </p:cBhvr>
                                      <p:to>
                                        <p:strVal val="visible"/>
                                      </p:to>
                                    </p:set>
                                    <p:animEffect filter="fade" transition="in">
                                      <p:cBhvr>
                                        <p:cTn dur="500"/>
                                        <p:tgtEl>
                                          <p:spTgt spid="8511"/>
                                        </p:tgtEl>
                                      </p:cBhvr>
                                    </p:animEffect>
                                  </p:childTnLst>
                                </p:cTn>
                              </p:par>
                            </p:childTnLst>
                          </p:cTn>
                        </p:par>
                        <p:par>
                          <p:cTn fill="hold">
                            <p:stCondLst>
                              <p:cond delay="2500"/>
                            </p:stCondLst>
                            <p:childTnLst>
                              <p:par>
                                <p:cTn fill="hold" nodeType="afterEffect" presetClass="entr" presetID="10" presetSubtype="0">
                                  <p:stCondLst>
                                    <p:cond delay="1000"/>
                                  </p:stCondLst>
                                  <p:childTnLst>
                                    <p:set>
                                      <p:cBhvr>
                                        <p:cTn dur="1" fill="hold">
                                          <p:stCondLst>
                                            <p:cond delay="0"/>
                                          </p:stCondLst>
                                        </p:cTn>
                                        <p:tgtEl>
                                          <p:spTgt spid="8510"/>
                                        </p:tgtEl>
                                        <p:attrNameLst>
                                          <p:attrName>style.visibility</p:attrName>
                                        </p:attrNameLst>
                                      </p:cBhvr>
                                      <p:to>
                                        <p:strVal val="visible"/>
                                      </p:to>
                                    </p:set>
                                    <p:animEffect filter="fade" transition="in">
                                      <p:cBhvr>
                                        <p:cTn dur="500"/>
                                        <p:tgtEl>
                                          <p:spTgt spid="8510"/>
                                        </p:tgtEl>
                                      </p:cBhvr>
                                    </p:animEffect>
                                  </p:childTnLst>
                                </p:cTn>
                              </p:par>
                            </p:childTnLst>
                          </p:cTn>
                        </p:par>
                        <p:par>
                          <p:cTn fill="hold">
                            <p:stCondLst>
                              <p:cond delay="3000"/>
                            </p:stCondLst>
                            <p:childTnLst>
                              <p:par>
                                <p:cTn fill="hold" nodeType="afterEffect" presetClass="entr" presetID="10" presetSubtype="0">
                                  <p:stCondLst>
                                    <p:cond delay="1000"/>
                                  </p:stCondLst>
                                  <p:childTnLst>
                                    <p:set>
                                      <p:cBhvr>
                                        <p:cTn dur="1" fill="hold">
                                          <p:stCondLst>
                                            <p:cond delay="0"/>
                                          </p:stCondLst>
                                        </p:cTn>
                                        <p:tgtEl>
                                          <p:spTgt spid="8512"/>
                                        </p:tgtEl>
                                        <p:attrNameLst>
                                          <p:attrName>style.visibility</p:attrName>
                                        </p:attrNameLst>
                                      </p:cBhvr>
                                      <p:to>
                                        <p:strVal val="visible"/>
                                      </p:to>
                                    </p:set>
                                    <p:animEffect filter="fade" transition="in">
                                      <p:cBhvr>
                                        <p:cTn dur="500"/>
                                        <p:tgtEl>
                                          <p:spTgt spid="8512"/>
                                        </p:tgtEl>
                                      </p:cBhvr>
                                    </p:animEffect>
                                  </p:childTnLst>
                                </p:cTn>
                              </p:par>
                            </p:childTnLst>
                          </p:cTn>
                        </p:par>
                        <p:par>
                          <p:cTn fill="hold">
                            <p:stCondLst>
                              <p:cond delay="3500"/>
                            </p:stCondLst>
                            <p:childTnLst>
                              <p:par>
                                <p:cTn fill="hold" nodeType="afterEffect" presetClass="exit" presetID="10" presetSubtype="0">
                                  <p:stCondLst>
                                    <p:cond delay="0"/>
                                  </p:stCondLst>
                                  <p:childTnLst>
                                    <p:animEffect filter="fade" transition="out">
                                      <p:cBhvr>
                                        <p:cTn dur="500"/>
                                        <p:tgtEl>
                                          <p:spTgt spid="8511"/>
                                        </p:tgtEl>
                                      </p:cBhvr>
                                    </p:animEffect>
                                    <p:set>
                                      <p:cBhvr>
                                        <p:cTn dur="1" fill="hold">
                                          <p:stCondLst>
                                            <p:cond delay="500"/>
                                          </p:stCondLst>
                                        </p:cTn>
                                        <p:tgtEl>
                                          <p:spTgt spid="8511"/>
                                        </p:tgtEl>
                                        <p:attrNameLst>
                                          <p:attrName>style.visibility</p:attrName>
                                        </p:attrNameLst>
                                      </p:cBhvr>
                                      <p:to>
                                        <p:strVal val="hidden"/>
                                      </p:to>
                                    </p:set>
                                  </p:childTnLst>
                                </p:cTn>
                              </p:par>
                            </p:childTnLst>
                          </p:cTn>
                        </p:par>
                        <p:par>
                          <p:cTn fill="hold">
                            <p:stCondLst>
                              <p:cond delay="4000"/>
                            </p:stCondLst>
                            <p:childTnLst>
                              <p:par>
                                <p:cTn fill="hold" nodeType="afterEffect" presetClass="exit" presetID="10" presetSubtype="0">
                                  <p:stCondLst>
                                    <p:cond delay="0"/>
                                  </p:stCondLst>
                                  <p:childTnLst>
                                    <p:animEffect filter="fade" transition="out">
                                      <p:cBhvr>
                                        <p:cTn dur="500"/>
                                        <p:tgtEl>
                                          <p:spTgt spid="8510"/>
                                        </p:tgtEl>
                                      </p:cBhvr>
                                    </p:animEffect>
                                    <p:set>
                                      <p:cBhvr>
                                        <p:cTn dur="1" fill="hold">
                                          <p:stCondLst>
                                            <p:cond delay="500"/>
                                          </p:stCondLst>
                                        </p:cTn>
                                        <p:tgtEl>
                                          <p:spTgt spid="851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8509"/>
                                        </p:tgtEl>
                                      </p:cBhvr>
                                    </p:animEffect>
                                    <p:set>
                                      <p:cBhvr>
                                        <p:cTn dur="1" fill="hold">
                                          <p:stCondLst>
                                            <p:cond delay="500"/>
                                          </p:stCondLst>
                                        </p:cTn>
                                        <p:tgtEl>
                                          <p:spTgt spid="850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8512"/>
                                        </p:tgtEl>
                                      </p:cBhvr>
                                    </p:animEffect>
                                    <p:set>
                                      <p:cBhvr>
                                        <p:cTn dur="1" fill="hold">
                                          <p:stCondLst>
                                            <p:cond delay="500"/>
                                          </p:stCondLst>
                                        </p:cTn>
                                        <p:tgtEl>
                                          <p:spTgt spid="8512"/>
                                        </p:tgtEl>
                                        <p:attrNameLst>
                                          <p:attrName>style.visibility</p:attrName>
                                        </p:attrNameLst>
                                      </p:cBhvr>
                                      <p:to>
                                        <p:strVal val="hidden"/>
                                      </p:to>
                                    </p:set>
                                  </p:childTnLst>
                                </p:cTn>
                              </p:par>
                            </p:childTnLst>
                          </p:cTn>
                        </p:par>
                        <p:par>
                          <p:cTn fill="hold">
                            <p:stCondLst>
                              <p:cond delay="4500"/>
                            </p:stCondLst>
                            <p:childTnLst>
                              <p:par>
                                <p:cTn fill="hold" nodeType="afterEffect" presetClass="exit" presetID="10" presetSubtype="0">
                                  <p:stCondLst>
                                    <p:cond delay="0"/>
                                  </p:stCondLst>
                                  <p:childTnLst>
                                    <p:animEffect filter="fade" transition="out">
                                      <p:cBhvr>
                                        <p:cTn dur="500"/>
                                        <p:tgtEl>
                                          <p:spTgt spid="8517"/>
                                        </p:tgtEl>
                                      </p:cBhvr>
                                    </p:animEffect>
                                    <p:set>
                                      <p:cBhvr>
                                        <p:cTn dur="1" fill="hold">
                                          <p:stCondLst>
                                            <p:cond delay="500"/>
                                          </p:stCondLst>
                                        </p:cTn>
                                        <p:tgtEl>
                                          <p:spTgt spid="8517"/>
                                        </p:tgtEl>
                                        <p:attrNameLst>
                                          <p:attrName>style.visibility</p:attrName>
                                        </p:attrNameLst>
                                      </p:cBhvr>
                                      <p:to>
                                        <p:strVal val="hidden"/>
                                      </p:to>
                                    </p:set>
                                  </p:childTnLst>
                                </p:cTn>
                              </p:par>
                            </p:childTnLst>
                          </p:cTn>
                        </p:par>
                        <p:par>
                          <p:cTn fill="hold">
                            <p:stCondLst>
                              <p:cond delay="5000"/>
                            </p:stCondLst>
                            <p:childTnLst>
                              <p:par>
                                <p:cTn fill="hold" nodeType="afterEffect" presetClass="entr" presetID="10" presetSubtype="0">
                                  <p:stCondLst>
                                    <p:cond delay="1000"/>
                                  </p:stCondLst>
                                  <p:childTnLst>
                                    <p:set>
                                      <p:cBhvr>
                                        <p:cTn dur="1" fill="hold">
                                          <p:stCondLst>
                                            <p:cond delay="0"/>
                                          </p:stCondLst>
                                        </p:cTn>
                                        <p:tgtEl>
                                          <p:spTgt spid="8513"/>
                                        </p:tgtEl>
                                        <p:attrNameLst>
                                          <p:attrName>style.visibility</p:attrName>
                                        </p:attrNameLst>
                                      </p:cBhvr>
                                      <p:to>
                                        <p:strVal val="visible"/>
                                      </p:to>
                                    </p:set>
                                    <p:animEffect filter="fade" transition="in">
                                      <p:cBhvr>
                                        <p:cTn dur="500"/>
                                        <p:tgtEl>
                                          <p:spTgt spid="8513"/>
                                        </p:tgtEl>
                                      </p:cBhvr>
                                    </p:animEffect>
                                  </p:childTnLst>
                                </p:cTn>
                              </p:par>
                            </p:childTnLst>
                          </p:cTn>
                        </p:par>
                        <p:par>
                          <p:cTn fill="hold">
                            <p:stCondLst>
                              <p:cond delay="5500"/>
                            </p:stCondLst>
                            <p:childTnLst>
                              <p:par>
                                <p:cTn fill="hold" nodeType="afterEffect" presetClass="exit" presetID="10" presetSubtype="0">
                                  <p:stCondLst>
                                    <p:cond delay="0"/>
                                  </p:stCondLst>
                                  <p:childTnLst>
                                    <p:animEffect filter="fade" transition="out">
                                      <p:cBhvr>
                                        <p:cTn dur="500"/>
                                        <p:tgtEl>
                                          <p:spTgt spid="8513"/>
                                        </p:tgtEl>
                                      </p:cBhvr>
                                    </p:animEffect>
                                    <p:set>
                                      <p:cBhvr>
                                        <p:cTn dur="1" fill="hold">
                                          <p:stCondLst>
                                            <p:cond delay="500"/>
                                          </p:stCondLst>
                                        </p:cTn>
                                        <p:tgtEl>
                                          <p:spTgt spid="8513"/>
                                        </p:tgtEl>
                                        <p:attrNameLst>
                                          <p:attrName>style.visibility</p:attrName>
                                        </p:attrNameLst>
                                      </p:cBhvr>
                                      <p:to>
                                        <p:strVal val="hidden"/>
                                      </p:to>
                                    </p:set>
                                  </p:childTnLst>
                                </p:cTn>
                              </p:par>
                            </p:childTnLst>
                          </p:cTn>
                        </p:par>
                        <p:par>
                          <p:cTn fill="hold">
                            <p:stCondLst>
                              <p:cond delay="6000"/>
                            </p:stCondLst>
                            <p:childTnLst>
                              <p:par>
                                <p:cTn fill="hold" nodeType="afterEffect" presetClass="exit" presetID="10" presetSubtype="0">
                                  <p:stCondLst>
                                    <p:cond delay="0"/>
                                  </p:stCondLst>
                                  <p:childTnLst>
                                    <p:animEffect filter="fade" transition="out">
                                      <p:cBhvr>
                                        <p:cTn dur="500"/>
                                        <p:tgtEl>
                                          <p:spTgt spid="8514"/>
                                        </p:tgtEl>
                                      </p:cBhvr>
                                    </p:animEffect>
                                    <p:set>
                                      <p:cBhvr>
                                        <p:cTn dur="1" fill="hold">
                                          <p:stCondLst>
                                            <p:cond delay="500"/>
                                          </p:stCondLst>
                                        </p:cTn>
                                        <p:tgtEl>
                                          <p:spTgt spid="8514"/>
                                        </p:tgtEl>
                                        <p:attrNameLst>
                                          <p:attrName>style.visibility</p:attrName>
                                        </p:attrNameLst>
                                      </p:cBhvr>
                                      <p:to>
                                        <p:strVal val="hidden"/>
                                      </p:to>
                                    </p:set>
                                  </p:childTnLst>
                                </p:cTn>
                              </p:par>
                            </p:childTnLst>
                          </p:cTn>
                        </p:par>
                        <p:par>
                          <p:cTn fill="hold">
                            <p:stCondLst>
                              <p:cond delay="6500"/>
                            </p:stCondLst>
                            <p:childTnLst>
                              <p:par>
                                <p:cTn fill="hold" nodeType="afterEffect" presetClass="entr" presetID="10" presetSubtype="0">
                                  <p:stCondLst>
                                    <p:cond delay="1000"/>
                                  </p:stCondLst>
                                  <p:childTnLst>
                                    <p:set>
                                      <p:cBhvr>
                                        <p:cTn dur="1" fill="hold">
                                          <p:stCondLst>
                                            <p:cond delay="0"/>
                                          </p:stCondLst>
                                        </p:cTn>
                                        <p:tgtEl>
                                          <p:spTgt spid="8613"/>
                                        </p:tgtEl>
                                        <p:attrNameLst>
                                          <p:attrName>style.visibility</p:attrName>
                                        </p:attrNameLst>
                                      </p:cBhvr>
                                      <p:to>
                                        <p:strVal val="visible"/>
                                      </p:to>
                                    </p:set>
                                    <p:animEffect filter="fade" transition="in">
                                      <p:cBhvr>
                                        <p:cTn dur="500"/>
                                        <p:tgtEl>
                                          <p:spTgt spid="8613"/>
                                        </p:tgtEl>
                                      </p:cBhvr>
                                    </p:animEffect>
                                  </p:childTnLst>
                                </p:cTn>
                              </p:par>
                            </p:childTnLst>
                          </p:cTn>
                        </p:par>
                        <p:par>
                          <p:cTn fill="hold">
                            <p:stCondLst>
                              <p:cond delay="7000"/>
                            </p:stCondLst>
                            <p:childTnLst>
                              <p:par>
                                <p:cTn fill="hold" nodeType="afterEffect" presetClass="exit" presetID="10" presetSubtype="0">
                                  <p:stCondLst>
                                    <p:cond delay="0"/>
                                  </p:stCondLst>
                                  <p:childTnLst>
                                    <p:animEffect filter="fade" transition="out">
                                      <p:cBhvr>
                                        <p:cTn dur="500"/>
                                        <p:tgtEl>
                                          <p:spTgt spid="8613"/>
                                        </p:tgtEl>
                                      </p:cBhvr>
                                    </p:animEffect>
                                    <p:set>
                                      <p:cBhvr>
                                        <p:cTn dur="1" fill="hold">
                                          <p:stCondLst>
                                            <p:cond delay="500"/>
                                          </p:stCondLst>
                                        </p:cTn>
                                        <p:tgtEl>
                                          <p:spTgt spid="8613"/>
                                        </p:tgtEl>
                                        <p:attrNameLst>
                                          <p:attrName>style.visibility</p:attrName>
                                        </p:attrNameLst>
                                      </p:cBhvr>
                                      <p:to>
                                        <p:strVal val="hidden"/>
                                      </p:to>
                                    </p:set>
                                  </p:childTnLst>
                                </p:cTn>
                              </p:par>
                            </p:childTnLst>
                          </p:cTn>
                        </p:par>
                        <p:par>
                          <p:cTn fill="hold">
                            <p:stCondLst>
                              <p:cond delay="7500"/>
                            </p:stCondLst>
                            <p:childTnLst>
                              <p:par>
                                <p:cTn fill="hold" nodeType="afterEffect" presetClass="exit" presetID="10" presetSubtype="0">
                                  <p:stCondLst>
                                    <p:cond delay="0"/>
                                  </p:stCondLst>
                                  <p:childTnLst>
                                    <p:animEffect filter="fade" transition="out">
                                      <p:cBhvr>
                                        <p:cTn dur="500"/>
                                        <p:tgtEl>
                                          <p:spTgt spid="8625"/>
                                        </p:tgtEl>
                                      </p:cBhvr>
                                    </p:animEffect>
                                    <p:set>
                                      <p:cBhvr>
                                        <p:cTn dur="1" fill="hold">
                                          <p:stCondLst>
                                            <p:cond delay="500"/>
                                          </p:stCondLst>
                                        </p:cTn>
                                        <p:tgtEl>
                                          <p:spTgt spid="8625"/>
                                        </p:tgtEl>
                                        <p:attrNameLst>
                                          <p:attrName>style.visibility</p:attrName>
                                        </p:attrNameLst>
                                      </p:cBhvr>
                                      <p:to>
                                        <p:strVal val="hidden"/>
                                      </p:to>
                                    </p:set>
                                  </p:childTnLst>
                                </p:cTn>
                              </p:par>
                            </p:childTnLst>
                          </p:cTn>
                        </p:par>
                        <p:par>
                          <p:cTn fill="hold">
                            <p:stCondLst>
                              <p:cond delay="8000"/>
                            </p:stCondLst>
                            <p:childTnLst>
                              <p:par>
                                <p:cTn fill="hold" nodeType="afterEffect" presetClass="entr" presetID="10" presetSubtype="0">
                                  <p:stCondLst>
                                    <p:cond delay="1000"/>
                                  </p:stCondLst>
                                  <p:childTnLst>
                                    <p:set>
                                      <p:cBhvr>
                                        <p:cTn dur="1" fill="hold">
                                          <p:stCondLst>
                                            <p:cond delay="0"/>
                                          </p:stCondLst>
                                        </p:cTn>
                                        <p:tgtEl>
                                          <p:spTgt spid="8614"/>
                                        </p:tgtEl>
                                        <p:attrNameLst>
                                          <p:attrName>style.visibility</p:attrName>
                                        </p:attrNameLst>
                                      </p:cBhvr>
                                      <p:to>
                                        <p:strVal val="visible"/>
                                      </p:to>
                                    </p:set>
                                    <p:animEffect filter="fade" transition="in">
                                      <p:cBhvr>
                                        <p:cTn dur="500"/>
                                        <p:tgtEl>
                                          <p:spTgt spid="8614"/>
                                        </p:tgtEl>
                                      </p:cBhvr>
                                    </p:animEffect>
                                  </p:childTnLst>
                                </p:cTn>
                              </p:par>
                            </p:childTnLst>
                          </p:cTn>
                        </p:par>
                        <p:par>
                          <p:cTn fill="hold">
                            <p:stCondLst>
                              <p:cond delay="8500"/>
                            </p:stCondLst>
                            <p:childTnLst>
                              <p:par>
                                <p:cTn fill="hold" nodeType="afterEffect" presetClass="entr" presetID="10" presetSubtype="0">
                                  <p:stCondLst>
                                    <p:cond delay="0"/>
                                  </p:stCondLst>
                                  <p:childTnLst>
                                    <p:set>
                                      <p:cBhvr>
                                        <p:cTn dur="1" fill="hold">
                                          <p:stCondLst>
                                            <p:cond delay="0"/>
                                          </p:stCondLst>
                                        </p:cTn>
                                        <p:tgtEl>
                                          <p:spTgt spid="8616"/>
                                        </p:tgtEl>
                                        <p:attrNameLst>
                                          <p:attrName>style.visibility</p:attrName>
                                        </p:attrNameLst>
                                      </p:cBhvr>
                                      <p:to>
                                        <p:strVal val="visible"/>
                                      </p:to>
                                    </p:set>
                                    <p:animEffect filter="fade" transition="in">
                                      <p:cBhvr>
                                        <p:cTn dur="500"/>
                                        <p:tgtEl>
                                          <p:spTgt spid="8616"/>
                                        </p:tgtEl>
                                      </p:cBhvr>
                                    </p:animEffect>
                                  </p:childTnLst>
                                </p:cTn>
                              </p:par>
                            </p:childTnLst>
                          </p:cTn>
                        </p:par>
                        <p:par>
                          <p:cTn fill="hold">
                            <p:stCondLst>
                              <p:cond delay="9000"/>
                            </p:stCondLst>
                            <p:childTnLst>
                              <p:par>
                                <p:cTn fill="hold" nodeType="afterEffect" presetClass="entr" presetID="10" presetSubtype="0">
                                  <p:stCondLst>
                                    <p:cond delay="1000"/>
                                  </p:stCondLst>
                                  <p:childTnLst>
                                    <p:set>
                                      <p:cBhvr>
                                        <p:cTn dur="1" fill="hold">
                                          <p:stCondLst>
                                            <p:cond delay="0"/>
                                          </p:stCondLst>
                                        </p:cTn>
                                        <p:tgtEl>
                                          <p:spTgt spid="8615"/>
                                        </p:tgtEl>
                                        <p:attrNameLst>
                                          <p:attrName>style.visibility</p:attrName>
                                        </p:attrNameLst>
                                      </p:cBhvr>
                                      <p:to>
                                        <p:strVal val="visible"/>
                                      </p:to>
                                    </p:set>
                                    <p:animEffect filter="fade" transition="in">
                                      <p:cBhvr>
                                        <p:cTn dur="500"/>
                                        <p:tgtEl>
                                          <p:spTgt spid="8615"/>
                                        </p:tgtEl>
                                      </p:cBhvr>
                                    </p:animEffect>
                                  </p:childTnLst>
                                </p:cTn>
                              </p:par>
                            </p:childTnLst>
                          </p:cTn>
                        </p:par>
                        <p:par>
                          <p:cTn fill="hold">
                            <p:stCondLst>
                              <p:cond delay="9500"/>
                            </p:stCondLst>
                            <p:childTnLst>
                              <p:par>
                                <p:cTn fill="hold" nodeType="afterEffect" presetClass="exit" presetID="10" presetSubtype="0">
                                  <p:stCondLst>
                                    <p:cond delay="1000"/>
                                  </p:stCondLst>
                                  <p:childTnLst>
                                    <p:animEffect filter="fade" transition="out">
                                      <p:cBhvr>
                                        <p:cTn dur="500"/>
                                        <p:tgtEl>
                                          <p:spTgt spid="8616"/>
                                        </p:tgtEl>
                                      </p:cBhvr>
                                    </p:animEffect>
                                    <p:set>
                                      <p:cBhvr>
                                        <p:cTn dur="1" fill="hold">
                                          <p:stCondLst>
                                            <p:cond delay="500"/>
                                          </p:stCondLst>
                                        </p:cTn>
                                        <p:tgtEl>
                                          <p:spTgt spid="8616"/>
                                        </p:tgtEl>
                                        <p:attrNameLst>
                                          <p:attrName>style.visibility</p:attrName>
                                        </p:attrNameLst>
                                      </p:cBhvr>
                                      <p:to>
                                        <p:strVal val="hidden"/>
                                      </p:to>
                                    </p:set>
                                  </p:childTnLst>
                                </p:cTn>
                              </p:par>
                            </p:childTnLst>
                          </p:cTn>
                        </p:par>
                        <p:par>
                          <p:cTn fill="hold">
                            <p:stCondLst>
                              <p:cond delay="10000"/>
                            </p:stCondLst>
                            <p:childTnLst>
                              <p:par>
                                <p:cTn fill="hold" nodeType="afterEffect" presetClass="entr" presetID="10" presetSubtype="0">
                                  <p:stCondLst>
                                    <p:cond delay="1000"/>
                                  </p:stCondLst>
                                  <p:childTnLst>
                                    <p:set>
                                      <p:cBhvr>
                                        <p:cTn dur="1" fill="hold">
                                          <p:stCondLst>
                                            <p:cond delay="0"/>
                                          </p:stCondLst>
                                        </p:cTn>
                                        <p:tgtEl>
                                          <p:spTgt spid="8618"/>
                                        </p:tgtEl>
                                        <p:attrNameLst>
                                          <p:attrName>style.visibility</p:attrName>
                                        </p:attrNameLst>
                                      </p:cBhvr>
                                      <p:to>
                                        <p:strVal val="visible"/>
                                      </p:to>
                                    </p:set>
                                    <p:animEffect filter="fade" transition="in">
                                      <p:cBhvr>
                                        <p:cTn dur="500"/>
                                        <p:tgtEl>
                                          <p:spTgt spid="8618"/>
                                        </p:tgtEl>
                                      </p:cBhvr>
                                    </p:animEffect>
                                  </p:childTnLst>
                                </p:cTn>
                              </p:par>
                            </p:childTnLst>
                          </p:cTn>
                        </p:par>
                        <p:par>
                          <p:cTn fill="hold">
                            <p:stCondLst>
                              <p:cond delay="10500"/>
                            </p:stCondLst>
                            <p:childTnLst>
                              <p:par>
                                <p:cTn fill="hold" nodeType="afterEffect" presetClass="exit" presetID="10" presetSubtype="0">
                                  <p:stCondLst>
                                    <p:cond delay="0"/>
                                  </p:stCondLst>
                                  <p:childTnLst>
                                    <p:animEffect filter="fade" transition="out">
                                      <p:cBhvr>
                                        <p:cTn dur="500"/>
                                        <p:tgtEl>
                                          <p:spTgt spid="8618"/>
                                        </p:tgtEl>
                                      </p:cBhvr>
                                    </p:animEffect>
                                    <p:set>
                                      <p:cBhvr>
                                        <p:cTn dur="1" fill="hold">
                                          <p:stCondLst>
                                            <p:cond delay="500"/>
                                          </p:stCondLst>
                                        </p:cTn>
                                        <p:tgtEl>
                                          <p:spTgt spid="8618"/>
                                        </p:tgtEl>
                                        <p:attrNameLst>
                                          <p:attrName>style.visibility</p:attrName>
                                        </p:attrNameLst>
                                      </p:cBhvr>
                                      <p:to>
                                        <p:strVal val="hidden"/>
                                      </p:to>
                                    </p:set>
                                  </p:childTnLst>
                                </p:cTn>
                              </p:par>
                            </p:childTnLst>
                          </p:cTn>
                        </p:par>
                        <p:par>
                          <p:cTn fill="hold">
                            <p:stCondLst>
                              <p:cond delay="11000"/>
                            </p:stCondLst>
                            <p:childTnLst>
                              <p:par>
                                <p:cTn fill="hold" nodeType="afterEffect" presetClass="exit" presetID="10" presetSubtype="0">
                                  <p:stCondLst>
                                    <p:cond delay="0"/>
                                  </p:stCondLst>
                                  <p:childTnLst>
                                    <p:animEffect filter="fade" transition="out">
                                      <p:cBhvr>
                                        <p:cTn dur="500"/>
                                        <p:tgtEl>
                                          <p:spTgt spid="8619"/>
                                        </p:tgtEl>
                                      </p:cBhvr>
                                    </p:animEffect>
                                    <p:set>
                                      <p:cBhvr>
                                        <p:cTn dur="1" fill="hold">
                                          <p:stCondLst>
                                            <p:cond delay="500"/>
                                          </p:stCondLst>
                                        </p:cTn>
                                        <p:tgtEl>
                                          <p:spTgt spid="8619"/>
                                        </p:tgtEl>
                                        <p:attrNameLst>
                                          <p:attrName>style.visibility</p:attrName>
                                        </p:attrNameLst>
                                      </p:cBhvr>
                                      <p:to>
                                        <p:strVal val="hidden"/>
                                      </p:to>
                                    </p:set>
                                  </p:childTnLst>
                                </p:cTn>
                              </p:par>
                            </p:childTnLst>
                          </p:cTn>
                        </p:par>
                        <p:par>
                          <p:cTn fill="hold">
                            <p:stCondLst>
                              <p:cond delay="11500"/>
                            </p:stCondLst>
                            <p:childTnLst>
                              <p:par>
                                <p:cTn fill="hold" nodeType="afterEffect" presetClass="entr" presetID="10" presetSubtype="0">
                                  <p:stCondLst>
                                    <p:cond delay="1000"/>
                                  </p:stCondLst>
                                  <p:childTnLst>
                                    <p:set>
                                      <p:cBhvr>
                                        <p:cTn dur="1" fill="hold">
                                          <p:stCondLst>
                                            <p:cond delay="0"/>
                                          </p:stCondLst>
                                        </p:cTn>
                                        <p:tgtEl>
                                          <p:spTgt spid="8617"/>
                                        </p:tgtEl>
                                        <p:attrNameLst>
                                          <p:attrName>style.visibility</p:attrName>
                                        </p:attrNameLst>
                                      </p:cBhvr>
                                      <p:to>
                                        <p:strVal val="visible"/>
                                      </p:to>
                                    </p:set>
                                    <p:animEffect filter="fade" transition="in">
                                      <p:cBhvr>
                                        <p:cTn dur="500"/>
                                        <p:tgtEl>
                                          <p:spTgt spid="8617"/>
                                        </p:tgtEl>
                                      </p:cBhvr>
                                    </p:animEffect>
                                  </p:childTnLst>
                                </p:cTn>
                              </p:par>
                            </p:childTnLst>
                          </p:cTn>
                        </p:par>
                        <p:par>
                          <p:cTn fill="hold">
                            <p:stCondLst>
                              <p:cond delay="12000"/>
                            </p:stCondLst>
                            <p:childTnLst>
                              <p:par>
                                <p:cTn fill="hold" nodeType="afterEffect" presetClass="exit" presetID="10" presetSubtype="0">
                                  <p:stCondLst>
                                    <p:cond delay="0"/>
                                  </p:stCondLst>
                                  <p:childTnLst>
                                    <p:animEffect filter="fade" transition="out">
                                      <p:cBhvr>
                                        <p:cTn dur="500"/>
                                        <p:tgtEl>
                                          <p:spTgt spid="8615"/>
                                        </p:tgtEl>
                                      </p:cBhvr>
                                    </p:animEffect>
                                    <p:set>
                                      <p:cBhvr>
                                        <p:cTn dur="1" fill="hold">
                                          <p:stCondLst>
                                            <p:cond delay="500"/>
                                          </p:stCondLst>
                                        </p:cTn>
                                        <p:tgtEl>
                                          <p:spTgt spid="861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8614"/>
                                        </p:tgtEl>
                                      </p:cBhvr>
                                    </p:animEffect>
                                    <p:set>
                                      <p:cBhvr>
                                        <p:cTn dur="1" fill="hold">
                                          <p:stCondLst>
                                            <p:cond delay="500"/>
                                          </p:stCondLst>
                                        </p:cTn>
                                        <p:tgtEl>
                                          <p:spTgt spid="861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8617"/>
                                        </p:tgtEl>
                                      </p:cBhvr>
                                    </p:animEffect>
                                    <p:set>
                                      <p:cBhvr>
                                        <p:cTn dur="1" fill="hold">
                                          <p:stCondLst>
                                            <p:cond delay="500"/>
                                          </p:stCondLst>
                                        </p:cTn>
                                        <p:tgtEl>
                                          <p:spTgt spid="8617"/>
                                        </p:tgtEl>
                                        <p:attrNameLst>
                                          <p:attrName>style.visibility</p:attrName>
                                        </p:attrNameLst>
                                      </p:cBhvr>
                                      <p:to>
                                        <p:strVal val="hidden"/>
                                      </p:to>
                                    </p:set>
                                  </p:childTnLst>
                                </p:cTn>
                              </p:par>
                            </p:childTnLst>
                          </p:cTn>
                        </p:par>
                        <p:par>
                          <p:cTn fill="hold">
                            <p:stCondLst>
                              <p:cond delay="12500"/>
                            </p:stCondLst>
                            <p:childTnLst>
                              <p:par>
                                <p:cTn fill="hold" nodeType="afterEffect" presetClass="exit" presetID="10" presetSubtype="0">
                                  <p:stCondLst>
                                    <p:cond delay="0"/>
                                  </p:stCondLst>
                                  <p:childTnLst>
                                    <p:animEffect filter="fade" transition="out">
                                      <p:cBhvr>
                                        <p:cTn dur="500"/>
                                        <p:tgtEl>
                                          <p:spTgt spid="8622"/>
                                        </p:tgtEl>
                                      </p:cBhvr>
                                    </p:animEffect>
                                    <p:set>
                                      <p:cBhvr>
                                        <p:cTn dur="1" fill="hold">
                                          <p:stCondLst>
                                            <p:cond delay="500"/>
                                          </p:stCondLst>
                                        </p:cTn>
                                        <p:tgtEl>
                                          <p:spTgt spid="862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9" name="Shape 8669"/>
        <p:cNvGrpSpPr/>
        <p:nvPr/>
      </p:nvGrpSpPr>
      <p:grpSpPr>
        <a:xfrm>
          <a:off x="0" y="0"/>
          <a:ext cx="0" cy="0"/>
          <a:chOff x="0" y="0"/>
          <a:chExt cx="0" cy="0"/>
        </a:xfrm>
      </p:grpSpPr>
      <p:sp>
        <p:nvSpPr>
          <p:cNvPr id="8670" name="Google Shape;8670;p194"/>
          <p:cNvSpPr txBox="1"/>
          <p:nvPr>
            <p:ph type="title"/>
          </p:nvPr>
        </p:nvSpPr>
        <p:spPr>
          <a:xfrm>
            <a:off x="760590" y="272143"/>
            <a:ext cx="1139331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Chapter 3: summary</a:t>
            </a:r>
            <a:endParaRPr b="0" sz="4400"/>
          </a:p>
        </p:txBody>
      </p:sp>
      <p:sp>
        <p:nvSpPr>
          <p:cNvPr id="8671" name="Google Shape;8671;p19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
        <p:nvSpPr>
          <p:cNvPr id="8672" name="Google Shape;8672;p194"/>
          <p:cNvSpPr txBox="1"/>
          <p:nvPr/>
        </p:nvSpPr>
        <p:spPr>
          <a:xfrm>
            <a:off x="876300" y="1295400"/>
            <a:ext cx="5626100" cy="5225369"/>
          </a:xfrm>
          <a:prstGeom prst="rect">
            <a:avLst/>
          </a:prstGeom>
          <a:noFill/>
          <a:ln>
            <a:noFill/>
          </a:ln>
        </p:spPr>
        <p:txBody>
          <a:bodyPr anchorCtr="0" anchor="t" bIns="45700" lIns="91425" spcFirstLastPara="1" rIns="91425" wrap="square" tIns="45700">
            <a:normAutofit/>
          </a:bodyPr>
          <a:lstStyle/>
          <a:p>
            <a:pPr indent="-263525" lvl="0" marL="393700" marR="0" rtl="0" algn="l">
              <a:lnSpc>
                <a:spcPct val="90000"/>
              </a:lnSpc>
              <a:spcBef>
                <a:spcPts val="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principles behind transport layer services: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multiplexing, demultiplexing</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reliable data transfer</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flow control</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congestion control</a:t>
            </a:r>
            <a:endParaRPr/>
          </a:p>
          <a:p>
            <a:pPr indent="-263525" lvl="0" marL="393700"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instantiation, implementation in the Internet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UDP</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TCP</a:t>
            </a:r>
            <a:endParaRPr/>
          </a:p>
        </p:txBody>
      </p:sp>
      <p:sp>
        <p:nvSpPr>
          <p:cNvPr id="8673" name="Google Shape;8673;p194"/>
          <p:cNvSpPr txBox="1"/>
          <p:nvPr/>
        </p:nvSpPr>
        <p:spPr>
          <a:xfrm>
            <a:off x="7065962" y="1270000"/>
            <a:ext cx="4732337" cy="48387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3"/>
              </a:buClr>
              <a:buSzPts val="3200"/>
              <a:buFont typeface="Noto Sans Symbols"/>
              <a:buNone/>
            </a:pPr>
            <a:r>
              <a:rPr lang="en-US" sz="3200">
                <a:solidFill>
                  <a:srgbClr val="CC0000"/>
                </a:solidFill>
                <a:latin typeface="Calibri"/>
                <a:ea typeface="Calibri"/>
                <a:cs typeface="Calibri"/>
                <a:sym typeface="Calibri"/>
              </a:rPr>
              <a:t>Up next:</a:t>
            </a:r>
            <a:endParaRPr/>
          </a:p>
          <a:p>
            <a:pPr indent="-266700" lvl="0" marL="393700"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leaving the network “edge” </a:t>
            </a:r>
            <a:r>
              <a:rPr lang="en-US" sz="2800">
                <a:solidFill>
                  <a:schemeClr val="dk1"/>
                </a:solidFill>
                <a:latin typeface="Calibri"/>
                <a:ea typeface="Calibri"/>
                <a:cs typeface="Calibri"/>
                <a:sym typeface="Calibri"/>
              </a:rPr>
              <a:t>(application, transport layers)</a:t>
            </a:r>
            <a:endParaRPr/>
          </a:p>
          <a:p>
            <a:pPr indent="-266700" lvl="0" marL="393700"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into the network “core”</a:t>
            </a:r>
            <a:endParaRPr/>
          </a:p>
          <a:p>
            <a:pPr indent="-266700" lvl="0" marL="393700"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two network-layer chapters</a:t>
            </a:r>
            <a:r>
              <a:rPr lang="en-US" sz="2800">
                <a:solidFill>
                  <a:schemeClr val="dk1"/>
                </a:solidFill>
                <a:latin typeface="Calibri"/>
                <a:ea typeface="Calibri"/>
                <a:cs typeface="Calibri"/>
                <a:sym typeface="Calibri"/>
              </a:rPr>
              <a: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data plane</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control plane</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8" name="Shape 8678"/>
        <p:cNvGrpSpPr/>
        <p:nvPr/>
      </p:nvGrpSpPr>
      <p:grpSpPr>
        <a:xfrm>
          <a:off x="0" y="0"/>
          <a:ext cx="0" cy="0"/>
          <a:chOff x="0" y="0"/>
          <a:chExt cx="0" cy="0"/>
        </a:xfrm>
      </p:grpSpPr>
      <p:sp>
        <p:nvSpPr>
          <p:cNvPr id="8679" name="Google Shape;8679;p195"/>
          <p:cNvSpPr txBox="1"/>
          <p:nvPr>
            <p:ph type="title"/>
          </p:nvPr>
        </p:nvSpPr>
        <p:spPr>
          <a:xfrm>
            <a:off x="838200" y="2981689"/>
            <a:ext cx="10515600" cy="89462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00A3"/>
              </a:buClr>
              <a:buSzPts val="4400"/>
              <a:buFont typeface="Calibri"/>
              <a:buNone/>
            </a:pPr>
            <a:r>
              <a:rPr lang="en-US" sz="4400"/>
              <a:t>Additional Chapter 3 slides</a:t>
            </a:r>
            <a:endParaRPr sz="4400"/>
          </a:p>
        </p:txBody>
      </p:sp>
      <p:sp>
        <p:nvSpPr>
          <p:cNvPr id="8680" name="Google Shape;8680;p19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4" name="Shape 8684"/>
        <p:cNvGrpSpPr/>
        <p:nvPr/>
      </p:nvGrpSpPr>
      <p:grpSpPr>
        <a:xfrm>
          <a:off x="0" y="0"/>
          <a:ext cx="0" cy="0"/>
          <a:chOff x="0" y="0"/>
          <a:chExt cx="0" cy="0"/>
        </a:xfrm>
      </p:grpSpPr>
      <p:sp>
        <p:nvSpPr>
          <p:cNvPr id="8685" name="Google Shape;8685;p196"/>
          <p:cNvSpPr txBox="1"/>
          <p:nvPr>
            <p:ph type="title"/>
          </p:nvPr>
        </p:nvSpPr>
        <p:spPr>
          <a:xfrm>
            <a:off x="1260909" y="239714"/>
            <a:ext cx="8489516" cy="92868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TCP throughput</a:t>
            </a:r>
            <a:endParaRPr/>
          </a:p>
        </p:txBody>
      </p:sp>
      <p:sp>
        <p:nvSpPr>
          <p:cNvPr id="8686" name="Google Shape;8686;p196"/>
          <p:cNvSpPr txBox="1"/>
          <p:nvPr>
            <p:ph idx="1" type="body"/>
          </p:nvPr>
        </p:nvSpPr>
        <p:spPr>
          <a:xfrm>
            <a:off x="1442244" y="1376613"/>
            <a:ext cx="8269288" cy="4648200"/>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avg. TCP thruput as function of window size, RTT?</a:t>
            </a:r>
            <a:endParaRPr/>
          </a:p>
          <a:p>
            <a:pPr indent="-231775" lvl="1" marL="695325" rtl="0" algn="l">
              <a:lnSpc>
                <a:spcPct val="90000"/>
              </a:lnSpc>
              <a:spcBef>
                <a:spcPts val="500"/>
              </a:spcBef>
              <a:spcAft>
                <a:spcPts val="0"/>
              </a:spcAft>
              <a:buSzPts val="2400"/>
              <a:buChar char="•"/>
            </a:pPr>
            <a:r>
              <a:rPr lang="en-US"/>
              <a:t>ignore slow start, assume always data to send</a:t>
            </a:r>
            <a:endParaRPr/>
          </a:p>
          <a:p>
            <a:pPr indent="-222250" lvl="0" marL="352425" rtl="0" algn="l">
              <a:lnSpc>
                <a:spcPct val="90000"/>
              </a:lnSpc>
              <a:spcBef>
                <a:spcPts val="1000"/>
              </a:spcBef>
              <a:spcAft>
                <a:spcPts val="0"/>
              </a:spcAft>
              <a:buSzPts val="2800"/>
              <a:buChar char="▪"/>
            </a:pPr>
            <a:r>
              <a:rPr lang="en-US"/>
              <a:t>W: window size </a:t>
            </a:r>
            <a:r>
              <a:rPr lang="en-US" sz="1600"/>
              <a:t>(measured in bytes)</a:t>
            </a:r>
            <a:r>
              <a:rPr lang="en-US"/>
              <a:t> where loss occurs</a:t>
            </a:r>
            <a:endParaRPr/>
          </a:p>
          <a:p>
            <a:pPr indent="-231775" lvl="1" marL="695325" rtl="0" algn="l">
              <a:lnSpc>
                <a:spcPct val="90000"/>
              </a:lnSpc>
              <a:spcBef>
                <a:spcPts val="500"/>
              </a:spcBef>
              <a:spcAft>
                <a:spcPts val="0"/>
              </a:spcAft>
              <a:buSzPts val="2400"/>
              <a:buChar char="•"/>
            </a:pPr>
            <a:r>
              <a:rPr lang="en-US"/>
              <a:t>avg. window size (# in-flight bytes) is ¾ W</a:t>
            </a:r>
            <a:endParaRPr/>
          </a:p>
          <a:p>
            <a:pPr indent="-231775" lvl="1" marL="695325" rtl="0" algn="l">
              <a:lnSpc>
                <a:spcPct val="90000"/>
              </a:lnSpc>
              <a:spcBef>
                <a:spcPts val="500"/>
              </a:spcBef>
              <a:spcAft>
                <a:spcPts val="0"/>
              </a:spcAft>
              <a:buSzPts val="2400"/>
              <a:buChar char="•"/>
            </a:pPr>
            <a:r>
              <a:rPr lang="en-US"/>
              <a:t>avg. thruput is 3/4W per RTT</a:t>
            </a:r>
            <a:endParaRPr/>
          </a:p>
        </p:txBody>
      </p:sp>
      <p:grpSp>
        <p:nvGrpSpPr>
          <p:cNvPr id="8687" name="Google Shape;8687;p196"/>
          <p:cNvGrpSpPr/>
          <p:nvPr/>
        </p:nvGrpSpPr>
        <p:grpSpPr>
          <a:xfrm>
            <a:off x="2659858" y="4315076"/>
            <a:ext cx="4873625" cy="1998662"/>
            <a:chOff x="279" y="2432"/>
            <a:chExt cx="3070" cy="1259"/>
          </a:xfrm>
        </p:grpSpPr>
        <p:sp>
          <p:nvSpPr>
            <p:cNvPr id="8688" name="Google Shape;8688;p196"/>
            <p:cNvSpPr/>
            <p:nvPr/>
          </p:nvSpPr>
          <p:spPr>
            <a:xfrm>
              <a:off x="678" y="2556"/>
              <a:ext cx="2481" cy="579"/>
            </a:xfrm>
            <a:custGeom>
              <a:rect b="b" l="l" r="r" t="t"/>
              <a:pathLst>
                <a:path extrusionOk="0" h="579" w="2481">
                  <a:moveTo>
                    <a:pt x="0" y="573"/>
                  </a:moveTo>
                  <a:lnTo>
                    <a:pt x="414" y="18"/>
                  </a:lnTo>
                  <a:lnTo>
                    <a:pt x="414" y="579"/>
                  </a:lnTo>
                  <a:lnTo>
                    <a:pt x="819" y="18"/>
                  </a:lnTo>
                  <a:lnTo>
                    <a:pt x="825" y="579"/>
                  </a:lnTo>
                  <a:lnTo>
                    <a:pt x="1245" y="15"/>
                  </a:lnTo>
                  <a:lnTo>
                    <a:pt x="1245" y="576"/>
                  </a:lnTo>
                  <a:lnTo>
                    <a:pt x="1647" y="6"/>
                  </a:lnTo>
                  <a:lnTo>
                    <a:pt x="1647" y="570"/>
                  </a:lnTo>
                  <a:lnTo>
                    <a:pt x="2064" y="6"/>
                  </a:lnTo>
                  <a:lnTo>
                    <a:pt x="2064" y="564"/>
                  </a:lnTo>
                  <a:lnTo>
                    <a:pt x="2481" y="0"/>
                  </a:lnTo>
                </a:path>
              </a:pathLst>
            </a:custGeom>
            <a:noFill/>
            <a:ln cap="flat" cmpd="sng" w="2857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8689" name="Google Shape;8689;p196"/>
            <p:cNvCxnSpPr/>
            <p:nvPr/>
          </p:nvCxnSpPr>
          <p:spPr>
            <a:xfrm>
              <a:off x="675" y="3685"/>
              <a:ext cx="2674" cy="0"/>
            </a:xfrm>
            <a:prstGeom prst="straightConnector1">
              <a:avLst/>
            </a:prstGeom>
            <a:noFill/>
            <a:ln cap="flat" cmpd="sng" w="19050">
              <a:solidFill>
                <a:schemeClr val="dk1"/>
              </a:solidFill>
              <a:prstDash val="solid"/>
              <a:round/>
              <a:headEnd len="med" w="med" type="none"/>
              <a:tailEnd len="med" w="med" type="none"/>
            </a:ln>
          </p:spPr>
        </p:cxnSp>
        <p:cxnSp>
          <p:nvCxnSpPr>
            <p:cNvPr id="8690" name="Google Shape;8690;p196"/>
            <p:cNvCxnSpPr/>
            <p:nvPr/>
          </p:nvCxnSpPr>
          <p:spPr>
            <a:xfrm>
              <a:off x="682" y="2432"/>
              <a:ext cx="0" cy="1259"/>
            </a:xfrm>
            <a:prstGeom prst="straightConnector1">
              <a:avLst/>
            </a:prstGeom>
            <a:noFill/>
            <a:ln cap="flat" cmpd="sng" w="19050">
              <a:solidFill>
                <a:schemeClr val="dk1"/>
              </a:solidFill>
              <a:prstDash val="solid"/>
              <a:round/>
              <a:headEnd len="med" w="med" type="none"/>
              <a:tailEnd len="med" w="med" type="none"/>
            </a:ln>
          </p:spPr>
        </p:cxnSp>
        <p:cxnSp>
          <p:nvCxnSpPr>
            <p:cNvPr id="8691" name="Google Shape;8691;p196"/>
            <p:cNvCxnSpPr/>
            <p:nvPr/>
          </p:nvCxnSpPr>
          <p:spPr>
            <a:xfrm>
              <a:off x="606" y="2571"/>
              <a:ext cx="72" cy="0"/>
            </a:xfrm>
            <a:prstGeom prst="straightConnector1">
              <a:avLst/>
            </a:prstGeom>
            <a:noFill/>
            <a:ln cap="flat" cmpd="sng" w="19050">
              <a:solidFill>
                <a:schemeClr val="dk1"/>
              </a:solidFill>
              <a:prstDash val="solid"/>
              <a:round/>
              <a:headEnd len="med" w="med" type="none"/>
              <a:tailEnd len="med" w="med" type="none"/>
            </a:ln>
          </p:spPr>
        </p:cxnSp>
        <p:cxnSp>
          <p:nvCxnSpPr>
            <p:cNvPr id="8692" name="Google Shape;8692;p196"/>
            <p:cNvCxnSpPr/>
            <p:nvPr/>
          </p:nvCxnSpPr>
          <p:spPr>
            <a:xfrm>
              <a:off x="606" y="3117"/>
              <a:ext cx="72" cy="0"/>
            </a:xfrm>
            <a:prstGeom prst="straightConnector1">
              <a:avLst/>
            </a:prstGeom>
            <a:noFill/>
            <a:ln cap="flat" cmpd="sng" w="19050">
              <a:solidFill>
                <a:schemeClr val="dk1"/>
              </a:solidFill>
              <a:prstDash val="solid"/>
              <a:round/>
              <a:headEnd len="med" w="med" type="none"/>
              <a:tailEnd len="med" w="med" type="none"/>
            </a:ln>
          </p:spPr>
        </p:cxnSp>
        <p:sp>
          <p:nvSpPr>
            <p:cNvPr id="8693" name="Google Shape;8693;p196"/>
            <p:cNvSpPr txBox="1"/>
            <p:nvPr/>
          </p:nvSpPr>
          <p:spPr>
            <a:xfrm>
              <a:off x="380" y="2453"/>
              <a:ext cx="231"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W</a:t>
              </a:r>
              <a:endParaRPr/>
            </a:p>
          </p:txBody>
        </p:sp>
        <p:sp>
          <p:nvSpPr>
            <p:cNvPr id="8694" name="Google Shape;8694;p196"/>
            <p:cNvSpPr txBox="1"/>
            <p:nvPr/>
          </p:nvSpPr>
          <p:spPr>
            <a:xfrm>
              <a:off x="279" y="3008"/>
              <a:ext cx="350"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W/2</a:t>
              </a:r>
              <a:endParaRPr/>
            </a:p>
          </p:txBody>
        </p:sp>
      </p:grpSp>
      <p:grpSp>
        <p:nvGrpSpPr>
          <p:cNvPr id="8695" name="Google Shape;8695;p196"/>
          <p:cNvGrpSpPr/>
          <p:nvPr/>
        </p:nvGrpSpPr>
        <p:grpSpPr>
          <a:xfrm>
            <a:off x="4257676" y="3440113"/>
            <a:ext cx="3795713" cy="620712"/>
            <a:chOff x="1722" y="2139"/>
            <a:chExt cx="2391" cy="391"/>
          </a:xfrm>
        </p:grpSpPr>
        <p:sp>
          <p:nvSpPr>
            <p:cNvPr id="8696" name="Google Shape;8696;p196"/>
            <p:cNvSpPr txBox="1"/>
            <p:nvPr/>
          </p:nvSpPr>
          <p:spPr>
            <a:xfrm>
              <a:off x="1722" y="2219"/>
              <a:ext cx="1346"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Tahoma"/>
                  <a:ea typeface="Tahoma"/>
                  <a:cs typeface="Tahoma"/>
                  <a:sym typeface="Tahoma"/>
                </a:rPr>
                <a:t>avg TCP thruput = </a:t>
              </a:r>
              <a:endParaRPr/>
            </a:p>
          </p:txBody>
        </p:sp>
        <p:grpSp>
          <p:nvGrpSpPr>
            <p:cNvPr id="8697" name="Google Shape;8697;p196"/>
            <p:cNvGrpSpPr/>
            <p:nvPr/>
          </p:nvGrpSpPr>
          <p:grpSpPr>
            <a:xfrm>
              <a:off x="2986" y="2139"/>
              <a:ext cx="1127" cy="391"/>
              <a:chOff x="3498" y="2153"/>
              <a:chExt cx="1127" cy="391"/>
            </a:xfrm>
          </p:grpSpPr>
          <p:sp>
            <p:nvSpPr>
              <p:cNvPr id="8698" name="Google Shape;8698;p196"/>
              <p:cNvSpPr txBox="1"/>
              <p:nvPr/>
            </p:nvSpPr>
            <p:spPr>
              <a:xfrm>
                <a:off x="3501" y="2153"/>
                <a:ext cx="19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Tahoma"/>
                    <a:ea typeface="Tahoma"/>
                    <a:cs typeface="Tahoma"/>
                    <a:sym typeface="Tahoma"/>
                  </a:rPr>
                  <a:t>3</a:t>
                </a:r>
                <a:endParaRPr/>
              </a:p>
            </p:txBody>
          </p:sp>
          <p:sp>
            <p:nvSpPr>
              <p:cNvPr id="8699" name="Google Shape;8699;p196"/>
              <p:cNvSpPr txBox="1"/>
              <p:nvPr/>
            </p:nvSpPr>
            <p:spPr>
              <a:xfrm>
                <a:off x="3498" y="2313"/>
                <a:ext cx="19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Tahoma"/>
                    <a:ea typeface="Tahoma"/>
                    <a:cs typeface="Tahoma"/>
                    <a:sym typeface="Tahoma"/>
                  </a:rPr>
                  <a:t>4</a:t>
                </a:r>
                <a:endParaRPr/>
              </a:p>
            </p:txBody>
          </p:sp>
          <p:cxnSp>
            <p:nvCxnSpPr>
              <p:cNvPr id="8700" name="Google Shape;8700;p196"/>
              <p:cNvCxnSpPr/>
              <p:nvPr/>
            </p:nvCxnSpPr>
            <p:spPr>
              <a:xfrm>
                <a:off x="3550" y="2352"/>
                <a:ext cx="88" cy="0"/>
              </a:xfrm>
              <a:prstGeom prst="straightConnector1">
                <a:avLst/>
              </a:prstGeom>
              <a:noFill/>
              <a:ln cap="flat" cmpd="sng" w="19050">
                <a:solidFill>
                  <a:schemeClr val="dk1"/>
                </a:solidFill>
                <a:prstDash val="solid"/>
                <a:round/>
                <a:headEnd len="med" w="med" type="none"/>
                <a:tailEnd len="med" w="med" type="none"/>
              </a:ln>
            </p:spPr>
          </p:cxnSp>
          <p:sp>
            <p:nvSpPr>
              <p:cNvPr id="8701" name="Google Shape;8701;p196"/>
              <p:cNvSpPr txBox="1"/>
              <p:nvPr/>
            </p:nvSpPr>
            <p:spPr>
              <a:xfrm>
                <a:off x="3702" y="2157"/>
                <a:ext cx="246"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Tahoma"/>
                    <a:ea typeface="Tahoma"/>
                    <a:cs typeface="Tahoma"/>
                    <a:sym typeface="Tahoma"/>
                  </a:rPr>
                  <a:t>W</a:t>
                </a:r>
                <a:endParaRPr/>
              </a:p>
            </p:txBody>
          </p:sp>
          <p:sp>
            <p:nvSpPr>
              <p:cNvPr id="8702" name="Google Shape;8702;p196"/>
              <p:cNvSpPr txBox="1"/>
              <p:nvPr/>
            </p:nvSpPr>
            <p:spPr>
              <a:xfrm>
                <a:off x="3658" y="2309"/>
                <a:ext cx="373"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Tahoma"/>
                    <a:ea typeface="Tahoma"/>
                    <a:cs typeface="Tahoma"/>
                    <a:sym typeface="Tahoma"/>
                  </a:rPr>
                  <a:t>RTT</a:t>
                </a:r>
                <a:endParaRPr/>
              </a:p>
            </p:txBody>
          </p:sp>
          <p:cxnSp>
            <p:nvCxnSpPr>
              <p:cNvPr id="8703" name="Google Shape;8703;p196"/>
              <p:cNvCxnSpPr/>
              <p:nvPr/>
            </p:nvCxnSpPr>
            <p:spPr>
              <a:xfrm>
                <a:off x="3726" y="2352"/>
                <a:ext cx="210" cy="0"/>
              </a:xfrm>
              <a:prstGeom prst="straightConnector1">
                <a:avLst/>
              </a:prstGeom>
              <a:noFill/>
              <a:ln cap="flat" cmpd="sng" w="19050">
                <a:solidFill>
                  <a:schemeClr val="dk1"/>
                </a:solidFill>
                <a:prstDash val="solid"/>
                <a:round/>
                <a:headEnd len="med" w="med" type="none"/>
                <a:tailEnd len="med" w="med" type="none"/>
              </a:ln>
            </p:spPr>
          </p:cxnSp>
          <p:sp>
            <p:nvSpPr>
              <p:cNvPr id="8704" name="Google Shape;8704;p196"/>
              <p:cNvSpPr txBox="1"/>
              <p:nvPr/>
            </p:nvSpPr>
            <p:spPr>
              <a:xfrm>
                <a:off x="3975" y="2243"/>
                <a:ext cx="650"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Tahoma"/>
                    <a:ea typeface="Tahoma"/>
                    <a:cs typeface="Tahoma"/>
                    <a:sym typeface="Tahoma"/>
                  </a:rPr>
                  <a:t>bytes/sec</a:t>
                </a:r>
                <a:endParaRPr/>
              </a:p>
            </p:txBody>
          </p:sp>
        </p:grpSp>
      </p:grpSp>
      <p:sp>
        <p:nvSpPr>
          <p:cNvPr id="8705" name="Google Shape;8705;p19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9" name="Shape 8709"/>
        <p:cNvGrpSpPr/>
        <p:nvPr/>
      </p:nvGrpSpPr>
      <p:grpSpPr>
        <a:xfrm>
          <a:off x="0" y="0"/>
          <a:ext cx="0" cy="0"/>
          <a:chOff x="0" y="0"/>
          <a:chExt cx="0" cy="0"/>
        </a:xfrm>
      </p:grpSpPr>
      <p:sp>
        <p:nvSpPr>
          <p:cNvPr id="8710" name="Google Shape;8710;p197"/>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TCP Futures: TCP over “long, fat pipes”</a:t>
            </a:r>
            <a:endParaRPr sz="4800"/>
          </a:p>
        </p:txBody>
      </p:sp>
      <p:sp>
        <p:nvSpPr>
          <p:cNvPr id="8711" name="Google Shape;8711;p197"/>
          <p:cNvSpPr txBox="1"/>
          <p:nvPr>
            <p:ph idx="1" type="body"/>
          </p:nvPr>
        </p:nvSpPr>
        <p:spPr>
          <a:xfrm>
            <a:off x="838200" y="1600200"/>
            <a:ext cx="10365606" cy="4648200"/>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example: 1500 byte segments, 100ms RTT, want 10 Gbps throughput</a:t>
            </a:r>
            <a:endParaRPr/>
          </a:p>
          <a:p>
            <a:pPr indent="-222250" lvl="0" marL="352425" rtl="0" algn="l">
              <a:lnSpc>
                <a:spcPct val="90000"/>
              </a:lnSpc>
              <a:spcBef>
                <a:spcPts val="1000"/>
              </a:spcBef>
              <a:spcAft>
                <a:spcPts val="0"/>
              </a:spcAft>
              <a:buSzPts val="2800"/>
              <a:buChar char="▪"/>
            </a:pPr>
            <a:r>
              <a:rPr lang="en-US"/>
              <a:t>requires W = 83,333 in-flight segments</a:t>
            </a:r>
            <a:endParaRPr/>
          </a:p>
          <a:p>
            <a:pPr indent="-222250" lvl="0" marL="352425" rtl="0" algn="l">
              <a:lnSpc>
                <a:spcPct val="90000"/>
              </a:lnSpc>
              <a:spcBef>
                <a:spcPts val="1000"/>
              </a:spcBef>
              <a:spcAft>
                <a:spcPts val="0"/>
              </a:spcAft>
              <a:buSzPts val="2800"/>
              <a:buChar char="▪"/>
            </a:pPr>
            <a:r>
              <a:rPr lang="en-US"/>
              <a:t>throughput in terms of segment loss probability, L </a:t>
            </a:r>
            <a:r>
              <a:rPr lang="en-US" sz="2000"/>
              <a:t>[Mathis 1997]:</a:t>
            </a:r>
            <a:br>
              <a:rPr lang="en-US"/>
            </a:br>
            <a:br>
              <a:rPr lang="en-US"/>
            </a:br>
            <a:br>
              <a:rPr lang="en-US"/>
            </a:br>
            <a:endParaRPr/>
          </a:p>
          <a:p>
            <a:pPr indent="-231775" lvl="1" marL="695325" rtl="0" algn="l">
              <a:lnSpc>
                <a:spcPct val="90000"/>
              </a:lnSpc>
              <a:spcBef>
                <a:spcPts val="500"/>
              </a:spcBef>
              <a:spcAft>
                <a:spcPts val="0"/>
              </a:spcAft>
              <a:buSzPts val="2400"/>
              <a:buFont typeface="Noto Sans Symbols"/>
              <a:buNone/>
            </a:pPr>
            <a:r>
              <a:rPr lang="en-US">
                <a:latin typeface="MS Mincho"/>
                <a:ea typeface="MS Mincho"/>
                <a:cs typeface="MS Mincho"/>
                <a:sym typeface="MS Mincho"/>
              </a:rPr>
              <a:t>➜ </a:t>
            </a:r>
            <a:r>
              <a:rPr lang="en-US"/>
              <a:t>to achieve 10 Gbps throughput, need a loss rate of L = 2·10</a:t>
            </a:r>
            <a:r>
              <a:rPr baseline="30000" lang="en-US"/>
              <a:t>-10  </a:t>
            </a:r>
            <a:r>
              <a:rPr i="1" lang="en-US">
                <a:solidFill>
                  <a:srgbClr val="FF0000"/>
                </a:solidFill>
              </a:rPr>
              <a:t> – a very small loss rate!</a:t>
            </a:r>
            <a:endParaRPr/>
          </a:p>
          <a:p>
            <a:pPr indent="-222250" lvl="0" marL="352425" rtl="0" algn="l">
              <a:lnSpc>
                <a:spcPct val="90000"/>
              </a:lnSpc>
              <a:spcBef>
                <a:spcPts val="1000"/>
              </a:spcBef>
              <a:spcAft>
                <a:spcPts val="0"/>
              </a:spcAft>
              <a:buSzPts val="2800"/>
              <a:buChar char="▪"/>
            </a:pPr>
            <a:r>
              <a:rPr lang="en-US"/>
              <a:t>new versions of TCP for high-speed</a:t>
            </a:r>
            <a:endParaRPr baseline="30000"/>
          </a:p>
          <a:p>
            <a:pPr indent="-44450" lvl="0" marL="352425" rtl="0" algn="l">
              <a:lnSpc>
                <a:spcPct val="90000"/>
              </a:lnSpc>
              <a:spcBef>
                <a:spcPts val="1000"/>
              </a:spcBef>
              <a:spcAft>
                <a:spcPts val="0"/>
              </a:spcAft>
              <a:buSzPts val="2800"/>
              <a:buNone/>
            </a:pPr>
            <a:r>
              <a:t/>
            </a:r>
            <a:endParaRPr/>
          </a:p>
        </p:txBody>
      </p:sp>
      <p:grpSp>
        <p:nvGrpSpPr>
          <p:cNvPr id="8712" name="Google Shape;8712;p197"/>
          <p:cNvGrpSpPr/>
          <p:nvPr/>
        </p:nvGrpSpPr>
        <p:grpSpPr>
          <a:xfrm>
            <a:off x="3471864" y="3462339"/>
            <a:ext cx="4160837" cy="962025"/>
            <a:chOff x="422" y="3400"/>
            <a:chExt cx="2621" cy="606"/>
          </a:xfrm>
        </p:grpSpPr>
        <p:sp>
          <p:nvSpPr>
            <p:cNvPr id="8713" name="Google Shape;8713;p197"/>
            <p:cNvSpPr txBox="1"/>
            <p:nvPr/>
          </p:nvSpPr>
          <p:spPr>
            <a:xfrm>
              <a:off x="422" y="3566"/>
              <a:ext cx="1690"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TCP throughput = </a:t>
              </a:r>
              <a:endParaRPr/>
            </a:p>
          </p:txBody>
        </p:sp>
        <p:sp>
          <p:nvSpPr>
            <p:cNvPr id="8714" name="Google Shape;8714;p197"/>
            <p:cNvSpPr txBox="1"/>
            <p:nvPr/>
          </p:nvSpPr>
          <p:spPr>
            <a:xfrm>
              <a:off x="2010" y="3470"/>
              <a:ext cx="490"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1.22</a:t>
              </a:r>
              <a:endParaRPr/>
            </a:p>
          </p:txBody>
        </p:sp>
        <p:grpSp>
          <p:nvGrpSpPr>
            <p:cNvPr id="8715" name="Google Shape;8715;p197"/>
            <p:cNvGrpSpPr/>
            <p:nvPr/>
          </p:nvGrpSpPr>
          <p:grpSpPr>
            <a:xfrm>
              <a:off x="2092" y="3400"/>
              <a:ext cx="951" cy="606"/>
              <a:chOff x="2092" y="3400"/>
              <a:chExt cx="951" cy="606"/>
            </a:xfrm>
          </p:grpSpPr>
          <p:sp>
            <p:nvSpPr>
              <p:cNvPr id="8716" name="Google Shape;8716;p197"/>
              <p:cNvSpPr txBox="1"/>
              <p:nvPr/>
            </p:nvSpPr>
            <p:spPr>
              <a:xfrm>
                <a:off x="2423" y="3400"/>
                <a:ext cx="169"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a:t>
                </a:r>
                <a:endParaRPr/>
              </a:p>
            </p:txBody>
          </p:sp>
          <p:sp>
            <p:nvSpPr>
              <p:cNvPr id="8717" name="Google Shape;8717;p197"/>
              <p:cNvSpPr txBox="1"/>
              <p:nvPr/>
            </p:nvSpPr>
            <p:spPr>
              <a:xfrm>
                <a:off x="2511" y="3472"/>
                <a:ext cx="532"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MSS</a:t>
                </a:r>
                <a:endParaRPr/>
              </a:p>
            </p:txBody>
          </p:sp>
          <p:cxnSp>
            <p:nvCxnSpPr>
              <p:cNvPr id="8718" name="Google Shape;8718;p197"/>
              <p:cNvCxnSpPr/>
              <p:nvPr/>
            </p:nvCxnSpPr>
            <p:spPr>
              <a:xfrm>
                <a:off x="2092" y="3720"/>
                <a:ext cx="873" cy="0"/>
              </a:xfrm>
              <a:prstGeom prst="straightConnector1">
                <a:avLst/>
              </a:prstGeom>
              <a:noFill/>
              <a:ln cap="flat" cmpd="sng" w="19050">
                <a:solidFill>
                  <a:schemeClr val="dk1"/>
                </a:solidFill>
                <a:prstDash val="solid"/>
                <a:round/>
                <a:headEnd len="med" w="med" type="none"/>
                <a:tailEnd len="med" w="med" type="none"/>
              </a:ln>
            </p:spPr>
          </p:cxnSp>
          <p:sp>
            <p:nvSpPr>
              <p:cNvPr id="8719" name="Google Shape;8719;p197"/>
              <p:cNvSpPr txBox="1"/>
              <p:nvPr/>
            </p:nvSpPr>
            <p:spPr>
              <a:xfrm>
                <a:off x="2133" y="3696"/>
                <a:ext cx="489"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RTT</a:t>
                </a:r>
                <a:endParaRPr/>
              </a:p>
            </p:txBody>
          </p:sp>
          <p:sp>
            <p:nvSpPr>
              <p:cNvPr id="8720" name="Google Shape;8720;p197"/>
              <p:cNvSpPr/>
              <p:nvPr/>
            </p:nvSpPr>
            <p:spPr>
              <a:xfrm>
                <a:off x="2607" y="3740"/>
                <a:ext cx="294" cy="220"/>
              </a:xfrm>
              <a:custGeom>
                <a:rect b="b" l="l" r="r" t="t"/>
                <a:pathLst>
                  <a:path extrusionOk="0" h="220" w="294">
                    <a:moveTo>
                      <a:pt x="0" y="158"/>
                    </a:moveTo>
                    <a:lnTo>
                      <a:pt x="32" y="140"/>
                    </a:lnTo>
                    <a:lnTo>
                      <a:pt x="72" y="220"/>
                    </a:lnTo>
                    <a:lnTo>
                      <a:pt x="132" y="0"/>
                    </a:lnTo>
                    <a:lnTo>
                      <a:pt x="294" y="0"/>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21" name="Google Shape;8721;p197"/>
              <p:cNvSpPr txBox="1"/>
              <p:nvPr/>
            </p:nvSpPr>
            <p:spPr>
              <a:xfrm>
                <a:off x="2704" y="3718"/>
                <a:ext cx="223" cy="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L</a:t>
                </a:r>
                <a:endParaRPr/>
              </a:p>
            </p:txBody>
          </p:sp>
        </p:grpSp>
      </p:grpSp>
      <p:sp>
        <p:nvSpPr>
          <p:cNvPr id="8722" name="Google Shape;8722;p19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2020-01-18T07:24:59Z</dcterms:created>
  <dc:creator>James Kurose</dc:creator>
</cp:coreProperties>
</file>